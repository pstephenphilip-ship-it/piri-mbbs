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7 Animal coordination, control and homeostasis (Paper 2). Higher-only statements (HT pill): 7.2, 7.3, 7.5, 7.8, 7.12B, 7.14, 7.20B. Biology-only statements (BIOLOGY ONLY pill, not in Combined Science 1SC0): 7.10B–7.12B (homeostasis importance and thermoregulation) and 7.18B–7.21B (the urinary system, nephron, ADH and kidney failure). There is no Core Practical in Topic 7. See SPEC_T7.md for sources and confidence. Spec spelling: "adrenalin".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 pill = the group contains at least one Higher-only (bold H) statement: 7.2, 7.3, 7.5, 7.8, 7.12B, 7.14, 7.20B. Statements with a B suffix are biology only (not in Combined Science 1SC0).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Biology-only statements (not in 1SC0): 7.10B, 7.11B, 7.12B, 7.18B, 7.19B, 7.20B, 7.21B. Higher-only: 7.2, 7.3, 7.5, 7.8, 7.12B, 7.14, 7.20B (7.2, 7.12B and 7.20B H markers medium confidence – check the bold H against the Pearson spec PDF; see SPEC_T7.md).
Combined Science route: skip slides on thermoregulation (18–21) and the kidney (29–37).
No Core Practical is linked to Topic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The active site changes shape (the enzyme is denatured), so the substrate no longer fits.
2. The net movement of water molecules from a dilute solution (high water potential) to a more concentrated solution, across a partially permeable membrane.
3. Active transport moves substances AGAINST a concentration gradient (low → high) and needs energy from respiration; diffusion is down the gradient and passive.
4. Neurones (nerve cells).
5. 23 (46 ÷ 2: meiosis halves the number).
6. e.g. smoking, poor diet / obesity, lack of exercise, alcohol.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adrenal gland (1); adrenalin (1). The pituitary (1) – its hormones (e.g. TSH, FSH, LH) control other glands (1).
Spec 7.1 names exactly six glands: pituitary, thyroid, pancreas, adrenal glands, ovaries and testes. ADH is listed for the pituitary because it returns in 7.20B (kidney). Edexcel spells it "adrenalin"; "adrenaline" is accepted in mark schemes.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liver cells have receptors that insulin binds to / fits (1); skin cells do not have these receptors (so they do not respond) (1).
7.1 includes "how they are transported from endocrine glands to their target organs": in the blood (plasma). Endocrine glands are ductless.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any two of: increased heart rate, increased blood pressure, increased blood flow to muscles, raised blood sugar (1 each). The liver (1).
Spec 7.2 lists exactly a–d. H marker for 7.2: medium confidence (see SPEC_T7.md). Adrenalin is a short-term response; contrast with thyroxine (long-term,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7 marks)
Q1 [2]: Secreted (directly) into the blood(stream) (1); carried in the blood plasma to the target organ (which has receptors) (1).
Q2 [2]: Thyroid (1); testes (1).
Q3 [3]: Adrenalin stimulates the liver (1); to convert glycogen into glucose / raises blood sugar (1); heart rate / blood flow to muscles increases so more glucose delivered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TSH (thyroid-stimulating hormone) (1); the thyroid gland (1); metabolic rate (1).
TRH = thyrotropin-releasing hormone (full name not needed). Spec 7.3 parts a–d are mirrored in the card. Negative feedback: a change away from the normal level causes a response that brings the level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oestrogen (1); progesterone (1); from 1.5 mm to 9 mm = 7.5 mm (1).
Lining graph drawn to scale from typical values (about 1–2 mm after a period, 9–11 mm after ovulation; UNVERIFIED, varies between people). Menstruation is about 5 of 28 days = 17.9% of the cycle. The model counts day 0/1 as the first day of bleeding. Cycle length varies (21–35 days is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FSH and LH (1); progesterone (1).
Graph check (node): smooth periodic model curves; LH peak day 13.6, oestrogen peak day 12.3 (just before LH), progesterone peak day 21. Levels are relative; each hormone is on its own scale.
7.5 requires "repair and maintenance of the uterus wall, ovulation and menstruation". The term corpus luteum is not required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7 marks)
Q1 [2]: TSH is released by the pituitary (gland) (1); it stimulates the thyroid to produce / release thyroxine (1).
Q2 [2]: Lining breaks down / is shed (menstruation, days 1–5) (1); it is repaired / builds up / thickens and is then maintained (1).
Q3 [3]: Oestrogen levels rise / peak (1); high oestrogen stimulates (the pituitary to release) LH (1); the LH surge causes ovulation / release of an egg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oestrogen (inhibits FSH) (1) – progesterone also inhibits FSH/LH; progesterone thickens the mucus at the cervix so sperm cannot pass through (1).
7.6 "how hormonal contraception influences the menstrual cycle and prevents pregnancy".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barrier: protects against STIs / no hormonal side effects (1); implant: does not rely on remembering daily / lasts years / more effective in typical use (1).
Data: CDC (Trussell) typical-use first-year failure rates: implant 0.1, copper IUD 0.8, injection 4, pill 7, male condom 13, diaphragm 17 (approximate, UNVERIFIED against the latest table). Effectiveness = 100 − failures: pill 93%, condom 87%. Condom failure is about 1.9 × the pill's. "Evaluate" needs points for AND against plus a justified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to make several eggs mature at once so more can be collected (1); any one: expensive / low success rate / multiple births (risk to mother and babies) / ovarian over-stimulation / emotional stress / ethical issues over spare embryos (1).
IVF % figures are approximate HFEA-style values (illustrative). 32/11 = 2.909090909090909. LH is also given in IVF to make the eggs mature fully before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7 marks)
Q1 [2]: Pill contains oestrogen / progesterone that inhibit FSH (and LH) (1); so no egg matures / no LH surge / no ovulation (1).
Q2 [2]: Advantage: protects against STIs / no hormonal side effects (1). Disadvantage: less effective (in typical use) / can split / must be used every time (1).
Q3 [3]: Clomifene increases release of FSH and LH (from the pituitary) (1); FSH causes eggs / follicles to mature (1); LH triggers ovulation so an egg can be fertilised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internal: exercise / respiration in muscles / fever (1); external: hot or cold weather / cold water (1).
The graph is a model: temperature fluctuates slightly (±0.3 °C) about the set point. 7.9 is in both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100% − 60% = 40 percentage points (1). Blood plasma becomes very dilute, so water enters red blood cells by osmosis (1); they swell and may burst (no cell wall) (1).
Enzyme data: model values (relative activity), copied from the OCR B5.4 deck. 7.10B is biology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sweat glands (1); blood vessels / capillaries / arterioles near the surface (1). In humid air less sweat evaporates, so less energy is transferred away (1).
Diagram: epidermis, dermis (receptor, sweat gland, hair and erector muscle, arteriole, capillary loop, shunt vessel, venule in blue) and fat layer. Shunt vessels are extension detail. 7.11B is biology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vasoconstriction – arterioles to skin narrow, less blood near the surface, less energy lost (2); shivering – rapid muscle contractions, more respiration releases heat (2). Also: less sweating; hairs raised.
7.12B: H marker medium confidence (Save My Exams: vasodilation/vasoconstriction mechanisms are Higher tier). Statement wording reconstructed – see SPEC_T7.md.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7 marks)
Q1 [1]: Keeping the internal environment / conditions inside the body constant (despite internal and external changes) (1).
Q2 [2]: Enzymes work best / at optimum near 37 °C (1); too high: enzymes denature / active site changes shape; too low: reactions too slow (1).
Q3 [3]: Arterioles / blood vessels supplying the skin (capillaries) widen (1); more blood flows near the skin surface (1); more energy / heat transferred (radiated) to the surroundings (1).
Q4 [1]: Hypothalamus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pancreas (1); glycogen (1).
7.13 is in both courses. Normal fasting blood glucose is about 4–6 mmol/dm³ (context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glucagon (1); convert glycogen into glucose and release it into the blood (1).
7.14 is Higher tier. Both hormones come from the islets of the pancreas (detail not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insulin is a protein, so it would be digested by protease enzymes in the gut (1) before it could reach the blood (1).
Graph: model curves; node values gNorm(120) = 5.46, gT1(120) = 14.9 mmol/dm³. Values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exercise – muscles respire more and take up more glucose from the blood (1); weight loss improves the response of cells to insulin / reduces insulin resistance (1).
7.16 is in both courses. Most UK cases of diabetes (about 90%) are type 2 (context;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BMI = 68 ÷ 1.70² = 68 ÷ 2.89 = 23.5 (2); healthy (1).
Node: 95/1.75² = 31.020408163265305; 102/98 = 1.0408163265306123. A woman with waist 76 cm, hips 100 cm: 0.76 (below 0.85). BMI bands: NHS adult categories. Waist:hip thresholds vary between sources (0.9 or 1.0 for men); always use the value given in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BMI does not distinguish muscle from fat – e.g. a muscular athlete has a high BMI but little fat / fat may not be stored round the abdomen (1).
Data are ILLUSTRATIVE (round numbers chosen to show the pattern); they are not from a named survey. Node: 21/3 = 7; 13 − 7 = 6 percentage points between the middle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9 marks)
Q1 [2]: Insulin causes cells / muscle and liver to take up glucose (1); liver / muscles convert glucose to glycogen (for storage) (1).
Q2 [2]: Type 1: pancreas does not produce (enough) insulin (1); type 2: body cells do not respond to insulin / insulin resistance (1).
Q3 [3]: BMI = 110 ÷ 1.80² (1) = 34.0 (1); waist:hip = 88 ÷ 104 = 0.85 (1).
Q4 [2]: Glucagon (from the pancreas) causes the liver to convert glycogen into glucose (1); glucose is released into the blood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renal artery (1); ureter (1). (Common confusion: ureter = kidney to bladder; urethra = bladder to outside.)
Diagram: front view. The aorta (red) lies to the body's left (viewer's right) of the vena cava (blue); the right renal artery passes behind the vena cava. Each kidney's hilum (vessels and ureter) faces the midline; the yellow funnel is the renal pelvis. Urea is made in the liver (from excess amino acids) – context only. 7.18B is biology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glomerulus (1); Bowman's capsule (1); the efferent arteriole (leaving the glomerulus) (1) – this keeps the pressure in the glomerulus high.
Diagram: blood enters the glomerulus by the wide afferent arteriole and leaves by the narrower efferent arteriole, which then forms the capillary network around the tubule (pink). Cortex holds the glomeruli and convoluted tubules; loops of Henle and collecting ducts run into the medulla. "Proximal/distal convoluted tubule" names are not required by Edexcel ("first/second coiled tubule" accepted). 7.19B is biology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(180 − 1.5) ÷ 180 × 100 = 99.2% (2). (Urine is only 0.83% of the filtrate.)
Table: typical textbook values (UNVERIFIED; real values vary). Glucose filtered per day ≈ 180 × 1.0 = 180 g, all reabsorbed in a healthy person; glucose in urine is a sign of diabetes. Node: 20/0.3 = 66.66666666666667.
Filtration happens because blood in the glomerulus is at high pressure; small molecules are forced out, large proteins and cells stay in the blood. Selective reabsorption of glucose is by active transport (needs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glomerulus / Bowman's capsule (filter) is damaged (1); so large protein molecules can pass into the filtrate / are no longer held back (1).
Microvilli and mitochondria link to Topic 1 (cell structure, active transport). The loop of Henle concentrates salts in the medulla so water leaves the collecting duct by osmosis – the mechanism is beyond GCSE; "helps reabsorb water"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6 (total 8 marks)
Q1 [2]: Urethra (1); bladder (1).
Q2 [2]: Protein molecules are too large (1); to pass through the (capillary / capsule) filter in the glomerulus (1).
Q3 [2]: All the glucose is (selectively) reabsorbed (1); in the (proximal / first) tubule back into the blood (by active transport) (1).
Q4 [2]: 21 ÷ 0.3 (1) = 70 (times)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pituitary gland (1); the collecting duct (1).
Mark schemes reward "increases the permeability of the collecting duct to water". ADH is made in the hypothalamus and released from the (posterior) pituitary – "released by the pituitary" is enough at GCSE. 7.20B: biology only; H marker medium confidence (Save My Exams: Higher tier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same glucose concentration → no concentration gradient, so glucose does not diffuse out of the blood (it is not lost) (1). No urea → steep concentration gradient, so urea diffuses out of the blood (1).
Extra data: if urea falls from 30 to 12 units across the dialyser, that is a 60% fall. 12 h/week ≈ 624 h a year. Haemodialysis is shown; peritoneal dialysis is not required. Blood is given an anticoagulant (heparin) – context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advantage: a long-term cure / no time on a machine / normal diet / cheaper in the long term (1). Problem: shortage of donors / long wait / rejection / lifelong immunosuppressant drugs (increase infection risk) (1).
Organ donation: in England an opt-out system has operated since 2020 (context). Living donors can give one kidney. The diagram shows the donor kidney in the right iliac fossa joined to the iliac artery and vein (branches of the aorta and vena cava). 7.21B is biology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7 (total 7 marks)
Q1 [3]: ADH (from the pituitary) makes the collecting duct (walls) more permeable to water (1); more water reabsorbed into the blood (1); so less water left in the urine / smaller volume, more concentrated (1).
Q2 [2]: Dialysis fluid contains no urea / urea concentration higher in the blood (1); urea diffuses (down its concentration gradient) through the partially permeable membrane (1).
Q3 [2]: Any two: shortage of donors; tissue type must match; risk of rejection; patient may be too ill for surgery (1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 HT terms: thyroxine loop, LH/FSH interactions, vasodilation, glucagon, ADH.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[1]: Glomerulus (1) (accept Bowman's capsule / glomerulus and Bowman's capsule).
(b) [2]: Protein molecules are too large (1); cannot pass through the filter / capillary and capsule walls (1).
(c) [2]: All glucose is (selectively) reabsorbed (1); in the (proximal) tubule into the blood, by active transport (1).
(d) [2]: 18 ÷ 0.3 (1); = 60 (times) (1).
(e) [2]: 1.2 ÷ 150 × 100 (1); = 0.8% (1).
(f) [4]: Blood becomes more concentrated / less water in blood, detected (by the brain / hypothalamus) (1); pituitary releases more ADH (1); collecting ducts become more permeable to water / more water reabsorbed into the blood (1); smaller volume of more concentrated urine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Pancreas (1).
2 [3]: BMI = 81 ÷ 1.80² = 25 (1); waist:hip = 99 ÷ 110 = 0.90 (1); above 0.85 so higher risk of type 2 diabetes / fat stored round the abdomen (1).
3 [3]: Hypothalamus releases (more) TRH (1); pituitary releases (more) TSH (1); thyroid produces / releases more thyroxine (1).
4 [2]: Sweat produced, evaporates, transferring energy away (1); more blood flows near the skin surface / vasodilation so more heat lost (1).
5 [2]: Filtrate contains glucose, urine does not (1); urine has a higher concentration of urea / less water / different ion concentration (1).
6 [6]: Levels-based mark scheme (6 marks). Answers are marked holistically; use the indicative content below.
Level 0 (0 marks): no rewardable material.
Level 1 (1–2 marks): demonstrates elements of biological understanding, some of which is inaccurate; understanding of scientific ideas lacks detail; presents an explanation with some structure and coherence.
Level 2 (3–4 marks): demonstrates biological understanding which is mostly relevant but may include some inaccuracies; understanding of scientific ideas is not fully detailed and/or developed; presents an explanation that has a structure which is mostly clear, coherent and logical.
Level 3 (5–6 marks): demonstrates accurate and relevant biological understanding throughout; understanding of the scientific ideas is detailed and fully developed; presents an explanation that has a well-developed structure which is clear, coherent and logical.
Indicative content:
 • Dialysis: blood passes over a partially permeable membrane; urea and excess ions diffuse into dialysis fluid.
 • Dialysis fluid has normal glucose / ion concentrations so useful substances are not lost.
 • Dialysis for: available without a donor; no rejection; keeps patient alive.
 • Dialysis against: several sessions (hours) every week; strict diet; not a cure; expensive over time; infection / clot risk.
 • Transplant for: long-term cure; normal life and diet; cheaper in the long term.
 • Transplant against: shortage of donors / long waiting lists; tissue match needed; rejection by immune system.
 • Must take immunosuppressant drugs for life → greater risk of infections; risks of surgery.
 • Judgement: e.g. dialysis as a short-term treatment while waiting; transplant better long term if a matching donor is found.
Level 3 answers must include a justified conclusion /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D2B"/>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2E7D4F"/>
          </a:solidFill>
          <a:ln w="12700">
            <a:solidFill>
              <a:srgbClr val="2E7D4F"/>
            </a:solidFill>
            <a:prstDash val="solid"/>
          </a:ln>
        </p:spPr>
      </p:sp>
      <p:sp>
        <p:nvSpPr>
          <p:cNvPr id="3" name="Shape 1"/>
          <p:cNvSpPr/>
          <p:nvPr/>
        </p:nvSpPr>
        <p:spPr>
          <a:xfrm>
            <a:off x="9326880" y="2377440"/>
            <a:ext cx="4937760" cy="4937760"/>
          </a:xfrm>
          <a:prstGeom prst="ellipse">
            <a:avLst/>
          </a:prstGeom>
          <a:solidFill>
            <a:srgbClr val="3FA066">
              <a:alpha val="85000"/>
            </a:srgbClr>
          </a:solidFill>
          <a:ln w="12700">
            <a:solidFill>
              <a:srgbClr val="3FA066"/>
            </a:solidFill>
            <a:prstDash val="solid"/>
          </a:ln>
        </p:spPr>
      </p:sp>
      <p:sp>
        <p:nvSpPr>
          <p:cNvPr id="4" name="Shape 2"/>
          <p:cNvSpPr/>
          <p:nvPr/>
        </p:nvSpPr>
        <p:spPr>
          <a:xfrm>
            <a:off x="0" y="0"/>
            <a:ext cx="164592" cy="6858000"/>
          </a:xfrm>
          <a:prstGeom prst="rect">
            <a:avLst/>
          </a:prstGeom>
          <a:solidFill>
            <a:srgbClr val="3FA066"/>
          </a:solidFill>
          <a:ln w="12700">
            <a:solidFill>
              <a:srgbClr val="3FA066"/>
            </a:solidFill>
            <a:prstDash val="solid"/>
          </a:ln>
        </p:spPr>
      </p:sp>
      <p:sp>
        <p:nvSpPr>
          <p:cNvPr id="5" name="Text 3"/>
          <p:cNvSpPr/>
          <p:nvPr/>
        </p:nvSpPr>
        <p:spPr>
          <a:xfrm>
            <a:off x="731520" y="822960"/>
            <a:ext cx="7315200" cy="320040"/>
          </a:xfrm>
          <a:prstGeom prst="rect">
            <a:avLst/>
          </a:prstGeom>
          <a:noFill/>
          <a:ln/>
        </p:spPr>
        <p:txBody>
          <a:bodyPr wrap="square" lIns="0" tIns="0" rIns="0" bIns="0" rtlCol="0" anchor="ctr"/>
          <a:lstStyle/>
          <a:p>
            <a:pPr indent="0" marL="0">
              <a:buNone/>
            </a:pPr>
            <a:r>
              <a:rPr lang="en-US" sz="1300" b="1" spc="400" kern="0" dirty="0">
                <a:solidFill>
                  <a:srgbClr val="A8E0BC"/>
                </a:solidFill>
                <a:latin typeface="Calibri" pitchFamily="34" charset="0"/>
                <a:ea typeface="Calibri" pitchFamily="34" charset="-122"/>
                <a:cs typeface="Calibri" pitchFamily="34" charset="-120"/>
              </a:rPr>
              <a:t>PEARSON EDEXCEL GCSE BIOLOGY (1BI0)</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Topic 7  Coordination &amp; Homeostasis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BE8D5"/>
                </a:solidFill>
                <a:latin typeface="Georgia" pitchFamily="34" charset="0"/>
                <a:ea typeface="Georgia" pitchFamily="34" charset="-122"/>
                <a:cs typeface="Georgia" pitchFamily="34" charset="-120"/>
              </a:rPr>
              <a:t>Hormones, the menstrual cycle, homeostasis, blood glucose and the kidney</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CF0E2"/>
                </a:solidFill>
                <a:latin typeface="Calibri" pitchFamily="34" charset="0"/>
                <a:ea typeface="Calibri" pitchFamily="34" charset="-122"/>
                <a:cs typeface="Calibri" pitchFamily="34" charset="-120"/>
              </a:rPr>
              <a:t>Hormones  •  Menstrual cycle  •  Homeostasis  •  Blood glucose  •  Thermoregulation  •  Kidney</a:t>
            </a:r>
            <a:endParaRPr lang="en-US" sz="1300" dirty="0"/>
          </a:p>
        </p:txBody>
      </p:sp>
      <p:sp>
        <p:nvSpPr>
          <p:cNvPr id="10" name="Shape 8"/>
          <p:cNvSpPr/>
          <p:nvPr/>
        </p:nvSpPr>
        <p:spPr>
          <a:xfrm>
            <a:off x="731520" y="3886200"/>
            <a:ext cx="457200" cy="457200"/>
          </a:xfrm>
          <a:prstGeom prst="ellipse">
            <a:avLst/>
          </a:prstGeom>
          <a:solidFill>
            <a:srgbClr val="3FA066"/>
          </a:solidFill>
          <a:ln w="12700">
            <a:solidFill>
              <a:srgbClr val="A8E0BC"/>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7.1–7.21 • no Core Practical in this topic</a:t>
            </a:r>
            <a:endParaRPr lang="en-US" sz="1400" dirty="0"/>
          </a:p>
        </p:txBody>
      </p:sp>
      <p:sp>
        <p:nvSpPr>
          <p:cNvPr id="13" name="Shape 11"/>
          <p:cNvSpPr/>
          <p:nvPr/>
        </p:nvSpPr>
        <p:spPr>
          <a:xfrm>
            <a:off x="731520" y="4507992"/>
            <a:ext cx="457200" cy="457200"/>
          </a:xfrm>
          <a:prstGeom prst="ellipse">
            <a:avLst/>
          </a:prstGeom>
          <a:solidFill>
            <a:srgbClr val="3FA066"/>
          </a:solidFill>
          <a:ln w="12700">
            <a:solidFill>
              <a:srgbClr val="A8E0BC"/>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HT and BIOLOGY ONLY slides are marked</a:t>
            </a:r>
            <a:endParaRPr lang="en-US" sz="1400" dirty="0"/>
          </a:p>
        </p:txBody>
      </p:sp>
      <p:sp>
        <p:nvSpPr>
          <p:cNvPr id="16" name="Shape 14"/>
          <p:cNvSpPr/>
          <p:nvPr/>
        </p:nvSpPr>
        <p:spPr>
          <a:xfrm>
            <a:off x="731520" y="5129784"/>
            <a:ext cx="457200" cy="457200"/>
          </a:xfrm>
          <a:prstGeom prst="ellipse">
            <a:avLst/>
          </a:prstGeom>
          <a:solidFill>
            <a:srgbClr val="3FA066"/>
          </a:solidFill>
          <a:ln w="12700">
            <a:solidFill>
              <a:srgbClr val="A8E0BC"/>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Topic 7 of 9 • Paper 2 • the kidney is statements 7.18B–7.21B</a:t>
            </a:r>
            <a:endParaRPr lang="en-US" sz="1400" dirty="0"/>
          </a:p>
        </p:txBody>
      </p:sp>
      <p:sp>
        <p:nvSpPr>
          <p:cNvPr id="19" name="Text 17"/>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A9CDB6"/>
                </a:solidFill>
                <a:latin typeface="Calibri" pitchFamily="34" charset="0"/>
                <a:ea typeface="Calibri" pitchFamily="34" charset="-122"/>
                <a:cs typeface="Calibri" pitchFamily="34" charset="-120"/>
              </a:rPr>
              <a:t>Pearson Edexcel GCSE (9–1) Biology 1BI0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7.1–7.21 • by the end of this 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2A7448"/>
          </a:solidFill>
          <a:ln w="12700">
            <a:solidFill>
              <a:srgbClr val="2A7448"/>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2A7448"/>
                </a:solidFill>
                <a:latin typeface="Calibri" pitchFamily="34" charset="0"/>
                <a:ea typeface="Calibri" pitchFamily="34" charset="-122"/>
                <a:cs typeface="Calibri" pitchFamily="34" charset="-120"/>
              </a:rPr>
              <a:t>7.1–7.3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endocrine glands</a:t>
            </a:r>
            <a:r>
              <a:rPr lang="en-US" sz="1200" dirty="0">
                <a:solidFill>
                  <a:srgbClr val="262B3A"/>
                </a:solidFill>
                <a:latin typeface="Calibri" pitchFamily="34" charset="0"/>
                <a:ea typeface="Calibri" pitchFamily="34" charset="-122"/>
                <a:cs typeface="Calibri" pitchFamily="34" charset="-120"/>
              </a:rPr>
              <a:t> and how hormones travel; explain </a:t>
            </a:r>
            <a:r>
              <a:rPr lang="en-US" sz="1200" b="1" dirty="0">
                <a:solidFill>
                  <a:srgbClr val="262B3A"/>
                </a:solidFill>
                <a:latin typeface="Calibri" pitchFamily="34" charset="0"/>
                <a:ea typeface="Calibri" pitchFamily="34" charset="-122"/>
                <a:cs typeface="Calibri" pitchFamily="34" charset="-120"/>
              </a:rPr>
              <a:t>adrenalin</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thyroxine</a:t>
            </a:r>
            <a:r>
              <a:rPr lang="en-US" sz="1200" dirty="0">
                <a:solidFill>
                  <a:srgbClr val="262B3A"/>
                </a:solidFill>
                <a:latin typeface="Calibri" pitchFamily="34" charset="0"/>
                <a:ea typeface="Calibri" pitchFamily="34" charset="-122"/>
                <a:cs typeface="Calibri" pitchFamily="34" charset="-120"/>
              </a:rPr>
              <a:t> (negative feedback).</a:t>
            </a:r>
            <a:endParaRPr lang="en-US" sz="1100" dirty="0"/>
          </a:p>
        </p:txBody>
      </p:sp>
      <p:sp>
        <p:nvSpPr>
          <p:cNvPr id="11" name="Shape 9"/>
          <p:cNvSpPr/>
          <p:nvPr/>
        </p:nvSpPr>
        <p:spPr>
          <a:xfrm>
            <a:off x="5257800" y="1764792"/>
            <a:ext cx="411480" cy="274320"/>
          </a:xfrm>
          <a:prstGeom prst="roundRect">
            <a:avLst>
              <a:gd name="adj" fmla="val 50000"/>
            </a:avLst>
          </a:prstGeom>
          <a:solidFill>
            <a:srgbClr val="C8414C"/>
          </a:solidFill>
          <a:ln w="12700">
            <a:solidFill>
              <a:srgbClr val="C8414C"/>
            </a:solidFill>
            <a:prstDash val="solid"/>
          </a:ln>
        </p:spPr>
      </p:sp>
      <p:sp>
        <p:nvSpPr>
          <p:cNvPr id="12" name="Text 10"/>
          <p:cNvSpPr/>
          <p:nvPr/>
        </p:nvSpPr>
        <p:spPr>
          <a:xfrm>
            <a:off x="5257800" y="176479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3" name="Shape 11"/>
          <p:cNvSpPr/>
          <p:nvPr/>
        </p:nvSpPr>
        <p:spPr>
          <a:xfrm>
            <a:off x="502920" y="2194560"/>
            <a:ext cx="457200" cy="457200"/>
          </a:xfrm>
          <a:prstGeom prst="ellipse">
            <a:avLst/>
          </a:prstGeom>
          <a:solidFill>
            <a:srgbClr val="2A7448"/>
          </a:solidFill>
          <a:ln w="12700">
            <a:solidFill>
              <a:srgbClr val="2A7448"/>
            </a:solidFill>
            <a:prstDash val="solid"/>
          </a:ln>
        </p:spPr>
      </p:sp>
      <p:sp>
        <p:nvSpPr>
          <p:cNvPr id="14" name="Text 12"/>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5" name="Text 13"/>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2A7448"/>
                </a:solidFill>
                <a:latin typeface="Calibri" pitchFamily="34" charset="0"/>
                <a:ea typeface="Calibri" pitchFamily="34" charset="-122"/>
                <a:cs typeface="Calibri" pitchFamily="34" charset="-120"/>
              </a:rPr>
              <a:t>7.4–7.5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menstrual cycle</a:t>
            </a:r>
            <a:r>
              <a:rPr lang="en-US" sz="1200" dirty="0">
                <a:solidFill>
                  <a:srgbClr val="262B3A"/>
                </a:solidFill>
                <a:latin typeface="Calibri" pitchFamily="34" charset="0"/>
                <a:ea typeface="Calibri" pitchFamily="34" charset="-122"/>
                <a:cs typeface="Calibri" pitchFamily="34" charset="-120"/>
              </a:rPr>
              <a:t>; explain how </a:t>
            </a:r>
            <a:r>
              <a:rPr lang="en-US" sz="1200" b="1" dirty="0">
                <a:solidFill>
                  <a:srgbClr val="262B3A"/>
                </a:solidFill>
                <a:latin typeface="Calibri" pitchFamily="34" charset="0"/>
                <a:ea typeface="Calibri" pitchFamily="34" charset="-122"/>
                <a:cs typeface="Calibri" pitchFamily="34" charset="-120"/>
              </a:rPr>
              <a:t>FSH, LH, oestrogen and progesterone</a:t>
            </a:r>
            <a:r>
              <a:rPr lang="en-US" sz="1200" dirty="0">
                <a:solidFill>
                  <a:srgbClr val="262B3A"/>
                </a:solidFill>
                <a:latin typeface="Calibri" pitchFamily="34" charset="0"/>
                <a:ea typeface="Calibri" pitchFamily="34" charset="-122"/>
                <a:cs typeface="Calibri" pitchFamily="34" charset="-120"/>
              </a:rPr>
              <a:t> interact.</a:t>
            </a:r>
            <a:endParaRPr lang="en-US" sz="1100" dirty="0"/>
          </a:p>
        </p:txBody>
      </p:sp>
      <p:sp>
        <p:nvSpPr>
          <p:cNvPr id="16" name="Shape 14"/>
          <p:cNvSpPr/>
          <p:nvPr/>
        </p:nvSpPr>
        <p:spPr>
          <a:xfrm>
            <a:off x="5257800" y="2633472"/>
            <a:ext cx="411480" cy="274320"/>
          </a:xfrm>
          <a:prstGeom prst="roundRect">
            <a:avLst>
              <a:gd name="adj" fmla="val 50000"/>
            </a:avLst>
          </a:prstGeom>
          <a:solidFill>
            <a:srgbClr val="C8414C"/>
          </a:solidFill>
          <a:ln w="12700">
            <a:solidFill>
              <a:srgbClr val="C8414C"/>
            </a:solidFill>
            <a:prstDash val="solid"/>
          </a:ln>
        </p:spPr>
      </p:sp>
      <p:sp>
        <p:nvSpPr>
          <p:cNvPr id="17" name="Text 15"/>
          <p:cNvSpPr/>
          <p:nvPr/>
        </p:nvSpPr>
        <p:spPr>
          <a:xfrm>
            <a:off x="5257800" y="263347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8" name="Shape 16"/>
          <p:cNvSpPr/>
          <p:nvPr/>
        </p:nvSpPr>
        <p:spPr>
          <a:xfrm>
            <a:off x="502920" y="3063240"/>
            <a:ext cx="457200" cy="457200"/>
          </a:xfrm>
          <a:prstGeom prst="ellipse">
            <a:avLst/>
          </a:prstGeom>
          <a:solidFill>
            <a:srgbClr val="2A7448"/>
          </a:solidFill>
          <a:ln w="12700">
            <a:solidFill>
              <a:srgbClr val="2A7448"/>
            </a:solidFill>
            <a:prstDash val="solid"/>
          </a:ln>
        </p:spPr>
      </p:sp>
      <p:sp>
        <p:nvSpPr>
          <p:cNvPr id="19" name="Text 17"/>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0" name="Text 18"/>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2A7448"/>
                </a:solidFill>
                <a:latin typeface="Calibri" pitchFamily="34" charset="0"/>
                <a:ea typeface="Calibri" pitchFamily="34" charset="-122"/>
                <a:cs typeface="Calibri" pitchFamily="34" charset="-120"/>
              </a:rPr>
              <a:t>7.6–7.8   </a:t>
            </a:r>
            <a:r>
              <a:rPr lang="en-US" sz="1200" dirty="0">
                <a:solidFill>
                  <a:srgbClr val="262B3A"/>
                </a:solidFill>
                <a:latin typeface="Calibri" pitchFamily="34" charset="0"/>
                <a:ea typeface="Calibri" pitchFamily="34" charset="-122"/>
                <a:cs typeface="Calibri" pitchFamily="34" charset="-120"/>
              </a:rPr>
              <a:t>Explain and evaluate </a:t>
            </a:r>
            <a:r>
              <a:rPr lang="en-US" sz="1200" b="1" dirty="0">
                <a:solidFill>
                  <a:srgbClr val="262B3A"/>
                </a:solidFill>
                <a:latin typeface="Calibri" pitchFamily="34" charset="0"/>
                <a:ea typeface="Calibri" pitchFamily="34" charset="-122"/>
                <a:cs typeface="Calibri" pitchFamily="34" charset="-120"/>
              </a:rPr>
              <a:t>contraception</a:t>
            </a:r>
            <a:r>
              <a:rPr lang="en-US" sz="1200" dirty="0">
                <a:solidFill>
                  <a:srgbClr val="262B3A"/>
                </a:solidFill>
                <a:latin typeface="Calibri" pitchFamily="34" charset="0"/>
                <a:ea typeface="Calibri" pitchFamily="34" charset="-122"/>
                <a:cs typeface="Calibri" pitchFamily="34" charset="-120"/>
              </a:rPr>
              <a:t>; explain hormones in </a:t>
            </a:r>
            <a:r>
              <a:rPr lang="en-US" sz="1200" b="1" dirty="0">
                <a:solidFill>
                  <a:srgbClr val="262B3A"/>
                </a:solidFill>
                <a:latin typeface="Calibri" pitchFamily="34" charset="0"/>
                <a:ea typeface="Calibri" pitchFamily="34" charset="-122"/>
                <a:cs typeface="Calibri" pitchFamily="34" charset="-120"/>
              </a:rPr>
              <a:t>IVF and clomifene therapy</a:t>
            </a:r>
            <a:r>
              <a:rPr lang="en-US" sz="1200" dirty="0">
                <a:solidFill>
                  <a:srgbClr val="262B3A"/>
                </a:solidFill>
                <a:latin typeface="Calibri" pitchFamily="34" charset="0"/>
                <a:ea typeface="Calibri" pitchFamily="34" charset="-122"/>
                <a:cs typeface="Calibri" pitchFamily="34" charset="-120"/>
              </a:rPr>
              <a:t> (ART).</a:t>
            </a:r>
            <a:endParaRPr lang="en-US" sz="1100" dirty="0"/>
          </a:p>
        </p:txBody>
      </p:sp>
      <p:sp>
        <p:nvSpPr>
          <p:cNvPr id="21" name="Shape 19"/>
          <p:cNvSpPr/>
          <p:nvPr/>
        </p:nvSpPr>
        <p:spPr>
          <a:xfrm>
            <a:off x="5257800" y="3502152"/>
            <a:ext cx="411480" cy="274320"/>
          </a:xfrm>
          <a:prstGeom prst="roundRect">
            <a:avLst>
              <a:gd name="adj" fmla="val 50000"/>
            </a:avLst>
          </a:prstGeom>
          <a:solidFill>
            <a:srgbClr val="C8414C"/>
          </a:solidFill>
          <a:ln w="12700">
            <a:solidFill>
              <a:srgbClr val="C8414C"/>
            </a:solidFill>
            <a:prstDash val="solid"/>
          </a:ln>
        </p:spPr>
      </p:sp>
      <p:sp>
        <p:nvSpPr>
          <p:cNvPr id="22" name="Text 20"/>
          <p:cNvSpPr/>
          <p:nvPr/>
        </p:nvSpPr>
        <p:spPr>
          <a:xfrm>
            <a:off x="5257800" y="3502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3" name="Shape 21"/>
          <p:cNvSpPr/>
          <p:nvPr/>
        </p:nvSpPr>
        <p:spPr>
          <a:xfrm>
            <a:off x="502920" y="3931920"/>
            <a:ext cx="457200" cy="457200"/>
          </a:xfrm>
          <a:prstGeom prst="ellipse">
            <a:avLst/>
          </a:prstGeom>
          <a:solidFill>
            <a:srgbClr val="2A7448"/>
          </a:solidFill>
          <a:ln w="12700">
            <a:solidFill>
              <a:srgbClr val="2A7448"/>
            </a:solidFill>
            <a:prstDash val="solid"/>
          </a:ln>
        </p:spPr>
      </p:sp>
      <p:sp>
        <p:nvSpPr>
          <p:cNvPr id="24" name="Text 22"/>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5" name="Text 23"/>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2A7448"/>
                </a:solidFill>
                <a:latin typeface="Calibri" pitchFamily="34" charset="0"/>
                <a:ea typeface="Calibri" pitchFamily="34" charset="-122"/>
                <a:cs typeface="Calibri" pitchFamily="34" charset="-120"/>
              </a:rPr>
              <a:t>7.9–7.12B   </a:t>
            </a:r>
            <a:r>
              <a:rPr lang="en-US" sz="1200" dirty="0">
                <a:solidFill>
                  <a:srgbClr val="262B3A"/>
                </a:solidFill>
                <a:latin typeface="Calibri" pitchFamily="34" charset="0"/>
                <a:ea typeface="Calibri" pitchFamily="34" charset="-122"/>
                <a:cs typeface="Calibri" pitchFamily="34" charset="-120"/>
              </a:rPr>
              <a:t>Explain why </a:t>
            </a:r>
            <a:r>
              <a:rPr lang="en-US" sz="1200" b="1" dirty="0">
                <a:solidFill>
                  <a:srgbClr val="262B3A"/>
                </a:solidFill>
                <a:latin typeface="Calibri" pitchFamily="34" charset="0"/>
                <a:ea typeface="Calibri" pitchFamily="34" charset="-122"/>
                <a:cs typeface="Calibri" pitchFamily="34" charset="-120"/>
              </a:rPr>
              <a:t>homeostasis</a:t>
            </a:r>
            <a:r>
              <a:rPr lang="en-US" sz="1200" dirty="0">
                <a:solidFill>
                  <a:srgbClr val="262B3A"/>
                </a:solidFill>
                <a:latin typeface="Calibri" pitchFamily="34" charset="0"/>
                <a:ea typeface="Calibri" pitchFamily="34" charset="-122"/>
                <a:cs typeface="Calibri" pitchFamily="34" charset="-120"/>
              </a:rPr>
              <a:t> matters; explain </a:t>
            </a:r>
            <a:r>
              <a:rPr lang="en-US" sz="1200" b="1" dirty="0">
                <a:solidFill>
                  <a:srgbClr val="262B3A"/>
                </a:solidFill>
                <a:latin typeface="Calibri" pitchFamily="34" charset="0"/>
                <a:ea typeface="Calibri" pitchFamily="34" charset="-122"/>
                <a:cs typeface="Calibri" pitchFamily="34" charset="-120"/>
              </a:rPr>
              <a:t>thermoregulation</a:t>
            </a:r>
            <a:r>
              <a:rPr lang="en-US" sz="1200" dirty="0">
                <a:solidFill>
                  <a:srgbClr val="262B3A"/>
                </a:solidFill>
                <a:latin typeface="Calibri" pitchFamily="34" charset="0"/>
                <a:ea typeface="Calibri" pitchFamily="34" charset="-122"/>
                <a:cs typeface="Calibri" pitchFamily="34" charset="-120"/>
              </a:rPr>
              <a:t> by the skin and hypothalamus.</a:t>
            </a:r>
            <a:endParaRPr lang="en-US" sz="1100" dirty="0"/>
          </a:p>
        </p:txBody>
      </p:sp>
      <p:sp>
        <p:nvSpPr>
          <p:cNvPr id="26" name="Shape 24"/>
          <p:cNvSpPr/>
          <p:nvPr/>
        </p:nvSpPr>
        <p:spPr>
          <a:xfrm>
            <a:off x="5257800" y="4370832"/>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5257800" y="437083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Shape 26"/>
          <p:cNvSpPr/>
          <p:nvPr/>
        </p:nvSpPr>
        <p:spPr>
          <a:xfrm>
            <a:off x="6263640" y="1325880"/>
            <a:ext cx="457200" cy="457200"/>
          </a:xfrm>
          <a:prstGeom prst="ellipse">
            <a:avLst/>
          </a:prstGeom>
          <a:solidFill>
            <a:srgbClr val="2A7448"/>
          </a:solidFill>
          <a:ln w="12700">
            <a:solidFill>
              <a:srgbClr val="2A7448"/>
            </a:solidFill>
            <a:prstDash val="solid"/>
          </a:ln>
        </p:spPr>
      </p:sp>
      <p:sp>
        <p:nvSpPr>
          <p:cNvPr id="29" name="Text 27"/>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30" name="Text 28"/>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2A7448"/>
                </a:solidFill>
                <a:latin typeface="Calibri" pitchFamily="34" charset="0"/>
                <a:ea typeface="Calibri" pitchFamily="34" charset="-122"/>
                <a:cs typeface="Calibri" pitchFamily="34" charset="-120"/>
              </a:rPr>
              <a:t>7.13–7.14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insulin</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glucagon</a:t>
            </a:r>
            <a:r>
              <a:rPr lang="en-US" sz="1200" dirty="0">
                <a:solidFill>
                  <a:srgbClr val="262B3A"/>
                </a:solidFill>
                <a:latin typeface="Calibri" pitchFamily="34" charset="0"/>
                <a:ea typeface="Calibri" pitchFamily="34" charset="-122"/>
                <a:cs typeface="Calibri" pitchFamily="34" charset="-120"/>
              </a:rPr>
              <a:t>) control blood glucose concentration.</a:t>
            </a:r>
            <a:endParaRPr lang="en-US" sz="1100" dirty="0"/>
          </a:p>
        </p:txBody>
      </p:sp>
      <p:sp>
        <p:nvSpPr>
          <p:cNvPr id="31" name="Shape 29"/>
          <p:cNvSpPr/>
          <p:nvPr/>
        </p:nvSpPr>
        <p:spPr>
          <a:xfrm>
            <a:off x="11018520" y="1764792"/>
            <a:ext cx="411480" cy="274320"/>
          </a:xfrm>
          <a:prstGeom prst="roundRect">
            <a:avLst>
              <a:gd name="adj" fmla="val 50000"/>
            </a:avLst>
          </a:prstGeom>
          <a:solidFill>
            <a:srgbClr val="C8414C"/>
          </a:solidFill>
          <a:ln w="12700">
            <a:solidFill>
              <a:srgbClr val="C8414C"/>
            </a:solidFill>
            <a:prstDash val="solid"/>
          </a:ln>
        </p:spPr>
      </p:sp>
      <p:sp>
        <p:nvSpPr>
          <p:cNvPr id="32" name="Text 30"/>
          <p:cNvSpPr/>
          <p:nvPr/>
        </p:nvSpPr>
        <p:spPr>
          <a:xfrm>
            <a:off x="11018520" y="176479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3" name="Shape 31"/>
          <p:cNvSpPr/>
          <p:nvPr/>
        </p:nvSpPr>
        <p:spPr>
          <a:xfrm>
            <a:off x="6263640" y="2194560"/>
            <a:ext cx="457200" cy="457200"/>
          </a:xfrm>
          <a:prstGeom prst="ellipse">
            <a:avLst/>
          </a:prstGeom>
          <a:solidFill>
            <a:srgbClr val="2A7448"/>
          </a:solidFill>
          <a:ln w="12700">
            <a:solidFill>
              <a:srgbClr val="2A7448"/>
            </a:solidFill>
            <a:prstDash val="solid"/>
          </a:ln>
        </p:spPr>
      </p:sp>
      <p:sp>
        <p:nvSpPr>
          <p:cNvPr id="34" name="Text 3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35" name="Text 3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2A7448"/>
                </a:solidFill>
                <a:latin typeface="Calibri" pitchFamily="34" charset="0"/>
                <a:ea typeface="Calibri" pitchFamily="34" charset="-122"/>
                <a:cs typeface="Calibri" pitchFamily="34" charset="-120"/>
              </a:rPr>
              <a:t>7.15–7.17   </a:t>
            </a:r>
            <a:r>
              <a:rPr lang="en-US" sz="1200" dirty="0">
                <a:solidFill>
                  <a:srgbClr val="262B3A"/>
                </a:solidFill>
                <a:latin typeface="Calibri" pitchFamily="34" charset="0"/>
                <a:ea typeface="Calibri" pitchFamily="34" charset="-122"/>
                <a:cs typeface="Calibri" pitchFamily="34" charset="-120"/>
              </a:rPr>
              <a:t>Explain </a:t>
            </a:r>
            <a:r>
              <a:rPr lang="en-US" sz="1200" b="1" dirty="0">
                <a:solidFill>
                  <a:srgbClr val="262B3A"/>
                </a:solidFill>
                <a:latin typeface="Calibri" pitchFamily="34" charset="0"/>
                <a:ea typeface="Calibri" pitchFamily="34" charset="-122"/>
                <a:cs typeface="Calibri" pitchFamily="34" charset="-120"/>
              </a:rPr>
              <a:t>type 1</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type 2 diabetes</a:t>
            </a:r>
            <a:r>
              <a:rPr lang="en-US" sz="1200" dirty="0">
                <a:solidFill>
                  <a:srgbClr val="262B3A"/>
                </a:solidFill>
                <a:latin typeface="Calibri" pitchFamily="34" charset="0"/>
                <a:ea typeface="Calibri" pitchFamily="34" charset="-122"/>
                <a:cs typeface="Calibri" pitchFamily="34" charset="-120"/>
              </a:rPr>
              <a:t>; use </a:t>
            </a:r>
            <a:r>
              <a:rPr lang="en-US" sz="1200" b="1" dirty="0">
                <a:solidFill>
                  <a:srgbClr val="262B3A"/>
                </a:solidFill>
                <a:latin typeface="Calibri" pitchFamily="34" charset="0"/>
                <a:ea typeface="Calibri" pitchFamily="34" charset="-122"/>
                <a:cs typeface="Calibri" pitchFamily="34" charset="-120"/>
              </a:rPr>
              <a:t>BMI</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waist:hip</a:t>
            </a:r>
            <a:r>
              <a:rPr lang="en-US" sz="1200" dirty="0">
                <a:solidFill>
                  <a:srgbClr val="262B3A"/>
                </a:solidFill>
                <a:latin typeface="Calibri" pitchFamily="34" charset="0"/>
                <a:ea typeface="Calibri" pitchFamily="34" charset="-122"/>
                <a:cs typeface="Calibri" pitchFamily="34" charset="-120"/>
              </a:rPr>
              <a:t> ratios.</a:t>
            </a:r>
            <a:endParaRPr lang="en-US" sz="1100" dirty="0"/>
          </a:p>
        </p:txBody>
      </p:sp>
      <p:sp>
        <p:nvSpPr>
          <p:cNvPr id="36" name="Shape 34"/>
          <p:cNvSpPr/>
          <p:nvPr/>
        </p:nvSpPr>
        <p:spPr>
          <a:xfrm>
            <a:off x="6263640" y="3063240"/>
            <a:ext cx="457200" cy="457200"/>
          </a:xfrm>
          <a:prstGeom prst="ellipse">
            <a:avLst/>
          </a:prstGeom>
          <a:solidFill>
            <a:srgbClr val="2A7448"/>
          </a:solidFill>
          <a:ln w="12700">
            <a:solidFill>
              <a:srgbClr val="2A7448"/>
            </a:solidFill>
            <a:prstDash val="solid"/>
          </a:ln>
        </p:spPr>
      </p:sp>
      <p:sp>
        <p:nvSpPr>
          <p:cNvPr id="37" name="Text 3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8" name="Text 3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2A7448"/>
                </a:solidFill>
                <a:latin typeface="Calibri" pitchFamily="34" charset="0"/>
                <a:ea typeface="Calibri" pitchFamily="34" charset="-122"/>
                <a:cs typeface="Calibri" pitchFamily="34" charset="-120"/>
              </a:rPr>
              <a:t>7.18B–7.19B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urinary system</a:t>
            </a:r>
            <a:r>
              <a:rPr lang="en-US" sz="1200" dirty="0">
                <a:solidFill>
                  <a:srgbClr val="262B3A"/>
                </a:solidFill>
                <a:latin typeface="Calibri" pitchFamily="34" charset="0"/>
                <a:ea typeface="Calibri" pitchFamily="34" charset="-122"/>
                <a:cs typeface="Calibri" pitchFamily="34" charset="-120"/>
              </a:rPr>
              <a:t>; explain how the </a:t>
            </a:r>
            <a:r>
              <a:rPr lang="en-US" sz="1200" b="1" dirty="0">
                <a:solidFill>
                  <a:srgbClr val="262B3A"/>
                </a:solidFill>
                <a:latin typeface="Calibri" pitchFamily="34" charset="0"/>
                <a:ea typeface="Calibri" pitchFamily="34" charset="-122"/>
                <a:cs typeface="Calibri" pitchFamily="34" charset="-120"/>
              </a:rPr>
              <a:t>nephron</a:t>
            </a:r>
            <a:r>
              <a:rPr lang="en-US" sz="1200" dirty="0">
                <a:solidFill>
                  <a:srgbClr val="262B3A"/>
                </a:solidFill>
                <a:latin typeface="Calibri" pitchFamily="34" charset="0"/>
                <a:ea typeface="Calibri" pitchFamily="34" charset="-122"/>
                <a:cs typeface="Calibri" pitchFamily="34" charset="-120"/>
              </a:rPr>
              <a:t> filters blood and forms urine.</a:t>
            </a:r>
            <a:endParaRPr lang="en-US" sz="1100" dirty="0"/>
          </a:p>
        </p:txBody>
      </p:sp>
      <p:sp>
        <p:nvSpPr>
          <p:cNvPr id="39" name="Shape 37"/>
          <p:cNvSpPr/>
          <p:nvPr/>
        </p:nvSpPr>
        <p:spPr>
          <a:xfrm>
            <a:off x="6263640" y="3931920"/>
            <a:ext cx="457200" cy="457200"/>
          </a:xfrm>
          <a:prstGeom prst="ellipse">
            <a:avLst/>
          </a:prstGeom>
          <a:solidFill>
            <a:srgbClr val="2A7448"/>
          </a:solidFill>
          <a:ln w="12700">
            <a:solidFill>
              <a:srgbClr val="2A7448"/>
            </a:solidFill>
            <a:prstDash val="solid"/>
          </a:ln>
        </p:spPr>
      </p:sp>
      <p:sp>
        <p:nvSpPr>
          <p:cNvPr id="40" name="Text 3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41" name="Text 3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2A7448"/>
                </a:solidFill>
                <a:latin typeface="Calibri" pitchFamily="34" charset="0"/>
                <a:ea typeface="Calibri" pitchFamily="34" charset="-122"/>
                <a:cs typeface="Calibri" pitchFamily="34" charset="-120"/>
              </a:rPr>
              <a:t>7.20B–7.21B   </a:t>
            </a:r>
            <a:r>
              <a:rPr lang="en-US" sz="1200" dirty="0">
                <a:solidFill>
                  <a:srgbClr val="262B3A"/>
                </a:solidFill>
                <a:latin typeface="Calibri" pitchFamily="34" charset="0"/>
                <a:ea typeface="Calibri" pitchFamily="34" charset="-122"/>
                <a:cs typeface="Calibri" pitchFamily="34" charset="-120"/>
              </a:rPr>
              <a:t>Describe the role of </a:t>
            </a:r>
            <a:r>
              <a:rPr lang="en-US" sz="1200" b="1" dirty="0">
                <a:solidFill>
                  <a:srgbClr val="262B3A"/>
                </a:solidFill>
                <a:latin typeface="Calibri" pitchFamily="34" charset="0"/>
                <a:ea typeface="Calibri" pitchFamily="34" charset="-122"/>
                <a:cs typeface="Calibri" pitchFamily="34" charset="-120"/>
              </a:rPr>
              <a:t>ADH</a:t>
            </a:r>
            <a:r>
              <a:rPr lang="en-US" sz="1200" dirty="0">
                <a:solidFill>
                  <a:srgbClr val="262B3A"/>
                </a:solidFill>
                <a:latin typeface="Calibri" pitchFamily="34" charset="0"/>
                <a:ea typeface="Calibri" pitchFamily="34" charset="-122"/>
                <a:cs typeface="Calibri" pitchFamily="34" charset="-120"/>
              </a:rPr>
              <a:t>; describe </a:t>
            </a:r>
            <a:r>
              <a:rPr lang="en-US" sz="1200" b="1" dirty="0">
                <a:solidFill>
                  <a:srgbClr val="262B3A"/>
                </a:solidFill>
                <a:latin typeface="Calibri" pitchFamily="34" charset="0"/>
                <a:ea typeface="Calibri" pitchFamily="34" charset="-122"/>
                <a:cs typeface="Calibri" pitchFamily="34" charset="-120"/>
              </a:rPr>
              <a:t>dialysis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kidney transplants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42" name="Shape 40"/>
          <p:cNvSpPr/>
          <p:nvPr/>
        </p:nvSpPr>
        <p:spPr>
          <a:xfrm>
            <a:off x="11018520" y="4370832"/>
            <a:ext cx="411480" cy="274320"/>
          </a:xfrm>
          <a:prstGeom prst="roundRect">
            <a:avLst>
              <a:gd name="adj" fmla="val 50000"/>
            </a:avLst>
          </a:prstGeom>
          <a:solidFill>
            <a:srgbClr val="C8414C"/>
          </a:solidFill>
          <a:ln w="12700">
            <a:solidFill>
              <a:srgbClr val="C8414C"/>
            </a:solidFill>
            <a:prstDash val="solid"/>
          </a:ln>
        </p:spPr>
      </p:sp>
      <p:sp>
        <p:nvSpPr>
          <p:cNvPr id="43" name="Text 41"/>
          <p:cNvSpPr/>
          <p:nvPr/>
        </p:nvSpPr>
        <p:spPr>
          <a:xfrm>
            <a:off x="11018520" y="437083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7.1–7.21 • Topic 7 is assessed on Paper 2</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188720"/>
            <a:ext cx="2103120" cy="640080"/>
          </a:xfrm>
          <a:prstGeom prst="roundRect">
            <a:avLst>
              <a:gd name="adj" fmla="val 8571"/>
            </a:avLst>
          </a:prstGeom>
          <a:solidFill>
            <a:srgbClr val="1C3A2C"/>
          </a:solidFill>
          <a:ln/>
        </p:spPr>
      </p:sp>
      <p:sp>
        <p:nvSpPr>
          <p:cNvPr id="9" name="Text 7"/>
          <p:cNvSpPr/>
          <p:nvPr/>
        </p:nvSpPr>
        <p:spPr>
          <a:xfrm>
            <a:off x="411480" y="1188720"/>
            <a:ext cx="21031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Topic 7</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Coordination &amp; homeostasis</a:t>
            </a:r>
            <a:endParaRPr lang="en-US" sz="1200" dirty="0"/>
          </a:p>
        </p:txBody>
      </p:sp>
      <p:sp>
        <p:nvSpPr>
          <p:cNvPr id="10" name="Shape 8"/>
          <p:cNvSpPr/>
          <p:nvPr/>
        </p:nvSpPr>
        <p:spPr>
          <a:xfrm>
            <a:off x="914400" y="1828800"/>
            <a:ext cx="91" cy="3785616"/>
          </a:xfrm>
          <a:prstGeom prst="line">
            <a:avLst/>
          </a:prstGeom>
          <a:noFill/>
          <a:ln w="19050">
            <a:solidFill>
              <a:srgbClr val="2A7448"/>
            </a:solidFill>
            <a:prstDash val="solid"/>
          </a:ln>
        </p:spPr>
      </p:sp>
      <p:sp>
        <p:nvSpPr>
          <p:cNvPr id="11" name="Shape 9"/>
          <p:cNvSpPr/>
          <p:nvPr/>
        </p:nvSpPr>
        <p:spPr>
          <a:xfrm>
            <a:off x="914400" y="2212848"/>
            <a:ext cx="411480" cy="91"/>
          </a:xfrm>
          <a:prstGeom prst="line">
            <a:avLst/>
          </a:prstGeom>
          <a:noFill/>
          <a:ln w="19050">
            <a:solidFill>
              <a:srgbClr val="2A7448"/>
            </a:solidFill>
            <a:prstDash val="solid"/>
          </a:ln>
        </p:spPr>
      </p:sp>
      <p:sp>
        <p:nvSpPr>
          <p:cNvPr id="12" name="Shape 10"/>
          <p:cNvSpPr/>
          <p:nvPr/>
        </p:nvSpPr>
        <p:spPr>
          <a:xfrm>
            <a:off x="1325880" y="1965960"/>
            <a:ext cx="5120640" cy="493776"/>
          </a:xfrm>
          <a:prstGeom prst="roundRect">
            <a:avLst>
              <a:gd name="adj" fmla="val 9259"/>
            </a:avLst>
          </a:prstGeom>
          <a:solidFill>
            <a:srgbClr val="F5FBF7"/>
          </a:solidFill>
          <a:ln w="12700">
            <a:solidFill>
              <a:srgbClr val="D2E5D8"/>
            </a:solidFill>
            <a:prstDash val="solid"/>
          </a:ln>
        </p:spPr>
      </p:sp>
      <p:sp>
        <p:nvSpPr>
          <p:cNvPr id="13" name="Text 11"/>
          <p:cNvSpPr/>
          <p:nvPr/>
        </p:nvSpPr>
        <p:spPr>
          <a:xfrm>
            <a:off x="1463040" y="1965960"/>
            <a:ext cx="3749040" cy="493776"/>
          </a:xfrm>
          <a:prstGeom prst="rect">
            <a:avLst/>
          </a:prstGeom>
          <a:noFill/>
          <a:ln/>
        </p:spPr>
        <p:txBody>
          <a:bodyPr wrap="square" lIns="0" tIns="0" rIns="0" bIns="0" rtlCol="0" anchor="ctr"/>
          <a:lstStyle/>
          <a:p>
            <a:pPr indent="0" marL="0">
              <a:buNone/>
            </a:pPr>
            <a:r>
              <a:rPr lang="en-US" sz="1100" b="1" dirty="0">
                <a:solidFill>
                  <a:srgbClr val="2A7448"/>
                </a:solidFill>
                <a:latin typeface="Calibri" pitchFamily="34" charset="0"/>
                <a:ea typeface="Calibri" pitchFamily="34" charset="-122"/>
                <a:cs typeface="Calibri" pitchFamily="34" charset="-120"/>
              </a:rPr>
              <a:t>7.1–7.3   </a:t>
            </a:r>
            <a:r>
              <a:rPr lang="en-US" sz="1100" dirty="0">
                <a:solidFill>
                  <a:srgbClr val="262B3A"/>
                </a:solidFill>
                <a:latin typeface="Calibri" pitchFamily="34" charset="0"/>
                <a:ea typeface="Calibri" pitchFamily="34" charset="-122"/>
                <a:cs typeface="Calibri" pitchFamily="34" charset="-120"/>
              </a:rPr>
              <a:t>Hormones, adrenalin, thyroxine</a:t>
            </a:r>
            <a:endParaRPr lang="en-US" sz="1100" dirty="0"/>
          </a:p>
        </p:txBody>
      </p:sp>
      <p:sp>
        <p:nvSpPr>
          <p:cNvPr id="14" name="Shape 12"/>
          <p:cNvSpPr/>
          <p:nvPr/>
        </p:nvSpPr>
        <p:spPr>
          <a:xfrm>
            <a:off x="5212080" y="2075688"/>
            <a:ext cx="1143000" cy="274320"/>
          </a:xfrm>
          <a:prstGeom prst="roundRect">
            <a:avLst>
              <a:gd name="adj" fmla="val 50000"/>
            </a:avLst>
          </a:prstGeom>
          <a:solidFill>
            <a:srgbClr val="6B7385"/>
          </a:solidFill>
          <a:ln w="12700">
            <a:solidFill>
              <a:srgbClr val="6B7385"/>
            </a:solidFill>
            <a:prstDash val="solid"/>
          </a:ln>
        </p:spPr>
      </p:sp>
      <p:sp>
        <p:nvSpPr>
          <p:cNvPr id="15" name="Text 13"/>
          <p:cNvSpPr/>
          <p:nvPr/>
        </p:nvSpPr>
        <p:spPr>
          <a:xfrm>
            <a:off x="5212080" y="2075688"/>
            <a:ext cx="11430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16" name="Shape 14"/>
          <p:cNvSpPr/>
          <p:nvPr/>
        </p:nvSpPr>
        <p:spPr>
          <a:xfrm>
            <a:off x="914400" y="2779776"/>
            <a:ext cx="411480" cy="91"/>
          </a:xfrm>
          <a:prstGeom prst="line">
            <a:avLst/>
          </a:prstGeom>
          <a:noFill/>
          <a:ln w="19050">
            <a:solidFill>
              <a:srgbClr val="2A7448"/>
            </a:solidFill>
            <a:prstDash val="solid"/>
          </a:ln>
        </p:spPr>
      </p:sp>
      <p:sp>
        <p:nvSpPr>
          <p:cNvPr id="17" name="Shape 15"/>
          <p:cNvSpPr/>
          <p:nvPr/>
        </p:nvSpPr>
        <p:spPr>
          <a:xfrm>
            <a:off x="1325880" y="2532888"/>
            <a:ext cx="5120640" cy="493776"/>
          </a:xfrm>
          <a:prstGeom prst="roundRect">
            <a:avLst>
              <a:gd name="adj" fmla="val 9259"/>
            </a:avLst>
          </a:prstGeom>
          <a:solidFill>
            <a:srgbClr val="F5FBF7"/>
          </a:solidFill>
          <a:ln w="12700">
            <a:solidFill>
              <a:srgbClr val="D2E5D8"/>
            </a:solidFill>
            <a:prstDash val="solid"/>
          </a:ln>
        </p:spPr>
      </p:sp>
      <p:sp>
        <p:nvSpPr>
          <p:cNvPr id="18" name="Text 16"/>
          <p:cNvSpPr/>
          <p:nvPr/>
        </p:nvSpPr>
        <p:spPr>
          <a:xfrm>
            <a:off x="1463040" y="2532888"/>
            <a:ext cx="3749040" cy="493776"/>
          </a:xfrm>
          <a:prstGeom prst="rect">
            <a:avLst/>
          </a:prstGeom>
          <a:noFill/>
          <a:ln/>
        </p:spPr>
        <p:txBody>
          <a:bodyPr wrap="square" lIns="0" tIns="0" rIns="0" bIns="0" rtlCol="0" anchor="ctr"/>
          <a:lstStyle/>
          <a:p>
            <a:pPr indent="0" marL="0">
              <a:buNone/>
            </a:pPr>
            <a:r>
              <a:rPr lang="en-US" sz="1100" b="1" dirty="0">
                <a:solidFill>
                  <a:srgbClr val="2A7448"/>
                </a:solidFill>
                <a:latin typeface="Calibri" pitchFamily="34" charset="0"/>
                <a:ea typeface="Calibri" pitchFamily="34" charset="-122"/>
                <a:cs typeface="Calibri" pitchFamily="34" charset="-120"/>
              </a:rPr>
              <a:t>7.4–7.8   </a:t>
            </a:r>
            <a:r>
              <a:rPr lang="en-US" sz="1100" dirty="0">
                <a:solidFill>
                  <a:srgbClr val="262B3A"/>
                </a:solidFill>
                <a:latin typeface="Calibri" pitchFamily="34" charset="0"/>
                <a:ea typeface="Calibri" pitchFamily="34" charset="-122"/>
                <a:cs typeface="Calibri" pitchFamily="34" charset="-120"/>
              </a:rPr>
              <a:t>Menstrual cycle, contraception, ART</a:t>
            </a:r>
            <a:endParaRPr lang="en-US" sz="1100" dirty="0"/>
          </a:p>
        </p:txBody>
      </p:sp>
      <p:sp>
        <p:nvSpPr>
          <p:cNvPr id="19" name="Shape 17"/>
          <p:cNvSpPr/>
          <p:nvPr/>
        </p:nvSpPr>
        <p:spPr>
          <a:xfrm>
            <a:off x="5212080" y="2642616"/>
            <a:ext cx="1143000" cy="274320"/>
          </a:xfrm>
          <a:prstGeom prst="roundRect">
            <a:avLst>
              <a:gd name="adj" fmla="val 50000"/>
            </a:avLst>
          </a:prstGeom>
          <a:solidFill>
            <a:srgbClr val="6B7385"/>
          </a:solidFill>
          <a:ln w="12700">
            <a:solidFill>
              <a:srgbClr val="6B7385"/>
            </a:solidFill>
            <a:prstDash val="solid"/>
          </a:ln>
        </p:spPr>
      </p:sp>
      <p:sp>
        <p:nvSpPr>
          <p:cNvPr id="20" name="Text 18"/>
          <p:cNvSpPr/>
          <p:nvPr/>
        </p:nvSpPr>
        <p:spPr>
          <a:xfrm>
            <a:off x="5212080" y="2642616"/>
            <a:ext cx="11430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21" name="Shape 19"/>
          <p:cNvSpPr/>
          <p:nvPr/>
        </p:nvSpPr>
        <p:spPr>
          <a:xfrm>
            <a:off x="914400" y="3346704"/>
            <a:ext cx="411480" cy="91"/>
          </a:xfrm>
          <a:prstGeom prst="line">
            <a:avLst/>
          </a:prstGeom>
          <a:noFill/>
          <a:ln w="19050">
            <a:solidFill>
              <a:srgbClr val="2A7448"/>
            </a:solidFill>
            <a:prstDash val="solid"/>
          </a:ln>
        </p:spPr>
      </p:sp>
      <p:sp>
        <p:nvSpPr>
          <p:cNvPr id="22" name="Shape 20"/>
          <p:cNvSpPr/>
          <p:nvPr/>
        </p:nvSpPr>
        <p:spPr>
          <a:xfrm>
            <a:off x="1325880" y="3099816"/>
            <a:ext cx="5120640" cy="493776"/>
          </a:xfrm>
          <a:prstGeom prst="roundRect">
            <a:avLst>
              <a:gd name="adj" fmla="val 9259"/>
            </a:avLst>
          </a:prstGeom>
          <a:solidFill>
            <a:srgbClr val="F5FBF7"/>
          </a:solidFill>
          <a:ln w="12700">
            <a:solidFill>
              <a:srgbClr val="D2E5D8"/>
            </a:solidFill>
            <a:prstDash val="solid"/>
          </a:ln>
        </p:spPr>
      </p:sp>
      <p:sp>
        <p:nvSpPr>
          <p:cNvPr id="23" name="Text 21"/>
          <p:cNvSpPr/>
          <p:nvPr/>
        </p:nvSpPr>
        <p:spPr>
          <a:xfrm>
            <a:off x="1463040" y="3099816"/>
            <a:ext cx="3749040" cy="493776"/>
          </a:xfrm>
          <a:prstGeom prst="rect">
            <a:avLst/>
          </a:prstGeom>
          <a:noFill/>
          <a:ln/>
        </p:spPr>
        <p:txBody>
          <a:bodyPr wrap="square" lIns="0" tIns="0" rIns="0" bIns="0" rtlCol="0" anchor="ctr"/>
          <a:lstStyle/>
          <a:p>
            <a:pPr indent="0" marL="0">
              <a:buNone/>
            </a:pPr>
            <a:r>
              <a:rPr lang="en-US" sz="1100" b="1" dirty="0">
                <a:solidFill>
                  <a:srgbClr val="2A7448"/>
                </a:solidFill>
                <a:latin typeface="Calibri" pitchFamily="34" charset="0"/>
                <a:ea typeface="Calibri" pitchFamily="34" charset="-122"/>
                <a:cs typeface="Calibri" pitchFamily="34" charset="-120"/>
              </a:rPr>
              <a:t>7.9   </a:t>
            </a:r>
            <a:r>
              <a:rPr lang="en-US" sz="1100" dirty="0">
                <a:solidFill>
                  <a:srgbClr val="262B3A"/>
                </a:solidFill>
                <a:latin typeface="Calibri" pitchFamily="34" charset="0"/>
                <a:ea typeface="Calibri" pitchFamily="34" charset="-122"/>
                <a:cs typeface="Calibri" pitchFamily="34" charset="-120"/>
              </a:rPr>
              <a:t>Homeostasis: a constant internal environment</a:t>
            </a:r>
            <a:endParaRPr lang="en-US" sz="1100" dirty="0"/>
          </a:p>
        </p:txBody>
      </p:sp>
      <p:sp>
        <p:nvSpPr>
          <p:cNvPr id="24" name="Shape 22"/>
          <p:cNvSpPr/>
          <p:nvPr/>
        </p:nvSpPr>
        <p:spPr>
          <a:xfrm>
            <a:off x="5212080" y="3209544"/>
            <a:ext cx="1143000" cy="274320"/>
          </a:xfrm>
          <a:prstGeom prst="roundRect">
            <a:avLst>
              <a:gd name="adj" fmla="val 50000"/>
            </a:avLst>
          </a:prstGeom>
          <a:solidFill>
            <a:srgbClr val="6B7385"/>
          </a:solidFill>
          <a:ln w="12700">
            <a:solidFill>
              <a:srgbClr val="6B7385"/>
            </a:solidFill>
            <a:prstDash val="solid"/>
          </a:ln>
        </p:spPr>
      </p:sp>
      <p:sp>
        <p:nvSpPr>
          <p:cNvPr id="25" name="Text 23"/>
          <p:cNvSpPr/>
          <p:nvPr/>
        </p:nvSpPr>
        <p:spPr>
          <a:xfrm>
            <a:off x="5212080" y="3209544"/>
            <a:ext cx="11430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26" name="Shape 24"/>
          <p:cNvSpPr/>
          <p:nvPr/>
        </p:nvSpPr>
        <p:spPr>
          <a:xfrm>
            <a:off x="914400" y="3913632"/>
            <a:ext cx="411480" cy="91"/>
          </a:xfrm>
          <a:prstGeom prst="line">
            <a:avLst/>
          </a:prstGeom>
          <a:noFill/>
          <a:ln w="19050">
            <a:solidFill>
              <a:srgbClr val="2A7448"/>
            </a:solidFill>
            <a:prstDash val="solid"/>
          </a:ln>
        </p:spPr>
      </p:sp>
      <p:sp>
        <p:nvSpPr>
          <p:cNvPr id="27" name="Shape 25"/>
          <p:cNvSpPr/>
          <p:nvPr/>
        </p:nvSpPr>
        <p:spPr>
          <a:xfrm>
            <a:off x="1325880" y="3666744"/>
            <a:ext cx="5120640" cy="493776"/>
          </a:xfrm>
          <a:prstGeom prst="roundRect">
            <a:avLst>
              <a:gd name="adj" fmla="val 9259"/>
            </a:avLst>
          </a:prstGeom>
          <a:solidFill>
            <a:srgbClr val="E3F2E8"/>
          </a:solidFill>
          <a:ln w="12700">
            <a:solidFill>
              <a:srgbClr val="D2E5D8"/>
            </a:solidFill>
            <a:prstDash val="solid"/>
          </a:ln>
        </p:spPr>
      </p:sp>
      <p:sp>
        <p:nvSpPr>
          <p:cNvPr id="28" name="Text 26"/>
          <p:cNvSpPr/>
          <p:nvPr/>
        </p:nvSpPr>
        <p:spPr>
          <a:xfrm>
            <a:off x="1463040" y="3666744"/>
            <a:ext cx="3749040" cy="493776"/>
          </a:xfrm>
          <a:prstGeom prst="rect">
            <a:avLst/>
          </a:prstGeom>
          <a:noFill/>
          <a:ln/>
        </p:spPr>
        <p:txBody>
          <a:bodyPr wrap="square" lIns="0" tIns="0" rIns="0" bIns="0" rtlCol="0" anchor="ctr"/>
          <a:lstStyle/>
          <a:p>
            <a:pPr indent="0" marL="0">
              <a:buNone/>
            </a:pPr>
            <a:r>
              <a:rPr lang="en-US" sz="1100" b="1" dirty="0">
                <a:solidFill>
                  <a:srgbClr val="2A7448"/>
                </a:solidFill>
                <a:latin typeface="Calibri" pitchFamily="34" charset="0"/>
                <a:ea typeface="Calibri" pitchFamily="34" charset="-122"/>
                <a:cs typeface="Calibri" pitchFamily="34" charset="-120"/>
              </a:rPr>
              <a:t>7.10B–7.12B   </a:t>
            </a:r>
            <a:r>
              <a:rPr lang="en-US" sz="1100" dirty="0">
                <a:solidFill>
                  <a:srgbClr val="262B3A"/>
                </a:solidFill>
                <a:latin typeface="Calibri" pitchFamily="34" charset="0"/>
                <a:ea typeface="Calibri" pitchFamily="34" charset="-122"/>
                <a:cs typeface="Calibri" pitchFamily="34" charset="-120"/>
              </a:rPr>
              <a:t>Why homeostasis matters; thermoregulation</a:t>
            </a:r>
            <a:endParaRPr lang="en-US" sz="1100" dirty="0"/>
          </a:p>
        </p:txBody>
      </p:sp>
      <p:sp>
        <p:nvSpPr>
          <p:cNvPr id="29" name="Shape 27"/>
          <p:cNvSpPr/>
          <p:nvPr/>
        </p:nvSpPr>
        <p:spPr>
          <a:xfrm>
            <a:off x="5212080" y="3776472"/>
            <a:ext cx="1143000" cy="274320"/>
          </a:xfrm>
          <a:prstGeom prst="roundRect">
            <a:avLst>
              <a:gd name="adj" fmla="val 50000"/>
            </a:avLst>
          </a:prstGeom>
          <a:solidFill>
            <a:srgbClr val="2A7448"/>
          </a:solidFill>
          <a:ln w="12700">
            <a:solidFill>
              <a:srgbClr val="2A7448"/>
            </a:solidFill>
            <a:prstDash val="solid"/>
          </a:ln>
        </p:spPr>
      </p:sp>
      <p:sp>
        <p:nvSpPr>
          <p:cNvPr id="30" name="Text 28"/>
          <p:cNvSpPr/>
          <p:nvPr/>
        </p:nvSpPr>
        <p:spPr>
          <a:xfrm>
            <a:off x="5212080" y="3776472"/>
            <a:ext cx="11430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BIOLOGY ONLY</a:t>
            </a:r>
            <a:endParaRPr lang="en-US" sz="1000" dirty="0"/>
          </a:p>
        </p:txBody>
      </p:sp>
      <p:sp>
        <p:nvSpPr>
          <p:cNvPr id="31" name="Shape 29"/>
          <p:cNvSpPr/>
          <p:nvPr/>
        </p:nvSpPr>
        <p:spPr>
          <a:xfrm>
            <a:off x="914400" y="4480560"/>
            <a:ext cx="411480" cy="91"/>
          </a:xfrm>
          <a:prstGeom prst="line">
            <a:avLst/>
          </a:prstGeom>
          <a:noFill/>
          <a:ln w="19050">
            <a:solidFill>
              <a:srgbClr val="2A7448"/>
            </a:solidFill>
            <a:prstDash val="solid"/>
          </a:ln>
        </p:spPr>
      </p:sp>
      <p:sp>
        <p:nvSpPr>
          <p:cNvPr id="32" name="Shape 30"/>
          <p:cNvSpPr/>
          <p:nvPr/>
        </p:nvSpPr>
        <p:spPr>
          <a:xfrm>
            <a:off x="1325880" y="4233672"/>
            <a:ext cx="5120640" cy="493776"/>
          </a:xfrm>
          <a:prstGeom prst="roundRect">
            <a:avLst>
              <a:gd name="adj" fmla="val 9259"/>
            </a:avLst>
          </a:prstGeom>
          <a:solidFill>
            <a:srgbClr val="F5FBF7"/>
          </a:solidFill>
          <a:ln w="12700">
            <a:solidFill>
              <a:srgbClr val="D2E5D8"/>
            </a:solidFill>
            <a:prstDash val="solid"/>
          </a:ln>
        </p:spPr>
      </p:sp>
      <p:sp>
        <p:nvSpPr>
          <p:cNvPr id="33" name="Text 31"/>
          <p:cNvSpPr/>
          <p:nvPr/>
        </p:nvSpPr>
        <p:spPr>
          <a:xfrm>
            <a:off x="1463040" y="4233672"/>
            <a:ext cx="3749040" cy="493776"/>
          </a:xfrm>
          <a:prstGeom prst="rect">
            <a:avLst/>
          </a:prstGeom>
          <a:noFill/>
          <a:ln/>
        </p:spPr>
        <p:txBody>
          <a:bodyPr wrap="square" lIns="0" tIns="0" rIns="0" bIns="0" rtlCol="0" anchor="ctr"/>
          <a:lstStyle/>
          <a:p>
            <a:pPr indent="0" marL="0">
              <a:buNone/>
            </a:pPr>
            <a:r>
              <a:rPr lang="en-US" sz="1100" b="1" dirty="0">
                <a:solidFill>
                  <a:srgbClr val="2A7448"/>
                </a:solidFill>
                <a:latin typeface="Calibri" pitchFamily="34" charset="0"/>
                <a:ea typeface="Calibri" pitchFamily="34" charset="-122"/>
                <a:cs typeface="Calibri" pitchFamily="34" charset="-120"/>
              </a:rPr>
              <a:t>7.13–7.17   </a:t>
            </a:r>
            <a:r>
              <a:rPr lang="en-US" sz="1100" dirty="0">
                <a:solidFill>
                  <a:srgbClr val="262B3A"/>
                </a:solidFill>
                <a:latin typeface="Calibri" pitchFamily="34" charset="0"/>
                <a:ea typeface="Calibri" pitchFamily="34" charset="-122"/>
                <a:cs typeface="Calibri" pitchFamily="34" charset="-120"/>
              </a:rPr>
              <a:t>Blood glucose, diabetes, BMI and waist:hip</a:t>
            </a:r>
            <a:endParaRPr lang="en-US" sz="1100" dirty="0"/>
          </a:p>
        </p:txBody>
      </p:sp>
      <p:sp>
        <p:nvSpPr>
          <p:cNvPr id="34" name="Shape 32"/>
          <p:cNvSpPr/>
          <p:nvPr/>
        </p:nvSpPr>
        <p:spPr>
          <a:xfrm>
            <a:off x="5212080" y="4343400"/>
            <a:ext cx="1143000" cy="274320"/>
          </a:xfrm>
          <a:prstGeom prst="roundRect">
            <a:avLst>
              <a:gd name="adj" fmla="val 50000"/>
            </a:avLst>
          </a:prstGeom>
          <a:solidFill>
            <a:srgbClr val="6B7385"/>
          </a:solidFill>
          <a:ln w="12700">
            <a:solidFill>
              <a:srgbClr val="6B7385"/>
            </a:solidFill>
            <a:prstDash val="solid"/>
          </a:ln>
        </p:spPr>
      </p:sp>
      <p:sp>
        <p:nvSpPr>
          <p:cNvPr id="35" name="Text 33"/>
          <p:cNvSpPr/>
          <p:nvPr/>
        </p:nvSpPr>
        <p:spPr>
          <a:xfrm>
            <a:off x="5212080" y="4343400"/>
            <a:ext cx="11430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36" name="Shape 34"/>
          <p:cNvSpPr/>
          <p:nvPr/>
        </p:nvSpPr>
        <p:spPr>
          <a:xfrm>
            <a:off x="914400" y="5047488"/>
            <a:ext cx="411480" cy="91"/>
          </a:xfrm>
          <a:prstGeom prst="line">
            <a:avLst/>
          </a:prstGeom>
          <a:noFill/>
          <a:ln w="19050">
            <a:solidFill>
              <a:srgbClr val="2A7448"/>
            </a:solidFill>
            <a:prstDash val="solid"/>
          </a:ln>
        </p:spPr>
      </p:sp>
      <p:sp>
        <p:nvSpPr>
          <p:cNvPr id="37" name="Shape 35"/>
          <p:cNvSpPr/>
          <p:nvPr/>
        </p:nvSpPr>
        <p:spPr>
          <a:xfrm>
            <a:off x="1325880" y="4800600"/>
            <a:ext cx="5120640" cy="493776"/>
          </a:xfrm>
          <a:prstGeom prst="roundRect">
            <a:avLst>
              <a:gd name="adj" fmla="val 9259"/>
            </a:avLst>
          </a:prstGeom>
          <a:solidFill>
            <a:srgbClr val="E3F2E8"/>
          </a:solidFill>
          <a:ln w="12700">
            <a:solidFill>
              <a:srgbClr val="D2E5D8"/>
            </a:solidFill>
            <a:prstDash val="solid"/>
          </a:ln>
        </p:spPr>
      </p:sp>
      <p:sp>
        <p:nvSpPr>
          <p:cNvPr id="38" name="Text 36"/>
          <p:cNvSpPr/>
          <p:nvPr/>
        </p:nvSpPr>
        <p:spPr>
          <a:xfrm>
            <a:off x="1463040" y="4800600"/>
            <a:ext cx="3749040" cy="493776"/>
          </a:xfrm>
          <a:prstGeom prst="rect">
            <a:avLst/>
          </a:prstGeom>
          <a:noFill/>
          <a:ln/>
        </p:spPr>
        <p:txBody>
          <a:bodyPr wrap="square" lIns="0" tIns="0" rIns="0" bIns="0" rtlCol="0" anchor="ctr"/>
          <a:lstStyle/>
          <a:p>
            <a:pPr indent="0" marL="0">
              <a:buNone/>
            </a:pPr>
            <a:r>
              <a:rPr lang="en-US" sz="1100" b="1" dirty="0">
                <a:solidFill>
                  <a:srgbClr val="2A7448"/>
                </a:solidFill>
                <a:latin typeface="Calibri" pitchFamily="34" charset="0"/>
                <a:ea typeface="Calibri" pitchFamily="34" charset="-122"/>
                <a:cs typeface="Calibri" pitchFamily="34" charset="-120"/>
              </a:rPr>
              <a:t>7.18B–7.19B   </a:t>
            </a:r>
            <a:r>
              <a:rPr lang="en-US" sz="1100" dirty="0">
                <a:solidFill>
                  <a:srgbClr val="262B3A"/>
                </a:solidFill>
                <a:latin typeface="Calibri" pitchFamily="34" charset="0"/>
                <a:ea typeface="Calibri" pitchFamily="34" charset="-122"/>
                <a:cs typeface="Calibri" pitchFamily="34" charset="-120"/>
              </a:rPr>
              <a:t>Urinary system and the nephron</a:t>
            </a:r>
            <a:endParaRPr lang="en-US" sz="1100" dirty="0"/>
          </a:p>
        </p:txBody>
      </p:sp>
      <p:sp>
        <p:nvSpPr>
          <p:cNvPr id="39" name="Shape 37"/>
          <p:cNvSpPr/>
          <p:nvPr/>
        </p:nvSpPr>
        <p:spPr>
          <a:xfrm>
            <a:off x="5212080" y="4910328"/>
            <a:ext cx="1143000" cy="274320"/>
          </a:xfrm>
          <a:prstGeom prst="roundRect">
            <a:avLst>
              <a:gd name="adj" fmla="val 50000"/>
            </a:avLst>
          </a:prstGeom>
          <a:solidFill>
            <a:srgbClr val="2A7448"/>
          </a:solidFill>
          <a:ln w="12700">
            <a:solidFill>
              <a:srgbClr val="2A7448"/>
            </a:solidFill>
            <a:prstDash val="solid"/>
          </a:ln>
        </p:spPr>
      </p:sp>
      <p:sp>
        <p:nvSpPr>
          <p:cNvPr id="40" name="Text 38"/>
          <p:cNvSpPr/>
          <p:nvPr/>
        </p:nvSpPr>
        <p:spPr>
          <a:xfrm>
            <a:off x="5212080" y="4910328"/>
            <a:ext cx="11430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BIOLOGY ONLY</a:t>
            </a:r>
            <a:endParaRPr lang="en-US" sz="1000" dirty="0"/>
          </a:p>
        </p:txBody>
      </p:sp>
      <p:sp>
        <p:nvSpPr>
          <p:cNvPr id="41" name="Shape 39"/>
          <p:cNvSpPr/>
          <p:nvPr/>
        </p:nvSpPr>
        <p:spPr>
          <a:xfrm>
            <a:off x="914400" y="5614416"/>
            <a:ext cx="411480" cy="91"/>
          </a:xfrm>
          <a:prstGeom prst="line">
            <a:avLst/>
          </a:prstGeom>
          <a:noFill/>
          <a:ln w="19050">
            <a:solidFill>
              <a:srgbClr val="2A7448"/>
            </a:solidFill>
            <a:prstDash val="solid"/>
          </a:ln>
        </p:spPr>
      </p:sp>
      <p:sp>
        <p:nvSpPr>
          <p:cNvPr id="42" name="Shape 40"/>
          <p:cNvSpPr/>
          <p:nvPr/>
        </p:nvSpPr>
        <p:spPr>
          <a:xfrm>
            <a:off x="1325880" y="5367528"/>
            <a:ext cx="5120640" cy="493776"/>
          </a:xfrm>
          <a:prstGeom prst="roundRect">
            <a:avLst>
              <a:gd name="adj" fmla="val 9259"/>
            </a:avLst>
          </a:prstGeom>
          <a:solidFill>
            <a:srgbClr val="E3F2E8"/>
          </a:solidFill>
          <a:ln w="12700">
            <a:solidFill>
              <a:srgbClr val="D2E5D8"/>
            </a:solidFill>
            <a:prstDash val="solid"/>
          </a:ln>
        </p:spPr>
      </p:sp>
      <p:sp>
        <p:nvSpPr>
          <p:cNvPr id="43" name="Text 41"/>
          <p:cNvSpPr/>
          <p:nvPr/>
        </p:nvSpPr>
        <p:spPr>
          <a:xfrm>
            <a:off x="1463040" y="5367528"/>
            <a:ext cx="3749040" cy="493776"/>
          </a:xfrm>
          <a:prstGeom prst="rect">
            <a:avLst/>
          </a:prstGeom>
          <a:noFill/>
          <a:ln/>
        </p:spPr>
        <p:txBody>
          <a:bodyPr wrap="square" lIns="0" tIns="0" rIns="0" bIns="0" rtlCol="0" anchor="ctr"/>
          <a:lstStyle/>
          <a:p>
            <a:pPr indent="0" marL="0">
              <a:buNone/>
            </a:pPr>
            <a:r>
              <a:rPr lang="en-US" sz="1100" b="1" dirty="0">
                <a:solidFill>
                  <a:srgbClr val="2A7448"/>
                </a:solidFill>
                <a:latin typeface="Calibri" pitchFamily="34" charset="0"/>
                <a:ea typeface="Calibri" pitchFamily="34" charset="-122"/>
                <a:cs typeface="Calibri" pitchFamily="34" charset="-120"/>
              </a:rPr>
              <a:t>7.20B–7.21B   </a:t>
            </a:r>
            <a:r>
              <a:rPr lang="en-US" sz="1100" dirty="0">
                <a:solidFill>
                  <a:srgbClr val="262B3A"/>
                </a:solidFill>
                <a:latin typeface="Calibri" pitchFamily="34" charset="0"/>
                <a:ea typeface="Calibri" pitchFamily="34" charset="-122"/>
                <a:cs typeface="Calibri" pitchFamily="34" charset="-120"/>
              </a:rPr>
              <a:t>ADH; dialysis and transplants</a:t>
            </a:r>
            <a:endParaRPr lang="en-US" sz="1100" dirty="0"/>
          </a:p>
        </p:txBody>
      </p:sp>
      <p:sp>
        <p:nvSpPr>
          <p:cNvPr id="44" name="Shape 42"/>
          <p:cNvSpPr/>
          <p:nvPr/>
        </p:nvSpPr>
        <p:spPr>
          <a:xfrm>
            <a:off x="5212080" y="5477256"/>
            <a:ext cx="1143000" cy="274320"/>
          </a:xfrm>
          <a:prstGeom prst="roundRect">
            <a:avLst>
              <a:gd name="adj" fmla="val 50000"/>
            </a:avLst>
          </a:prstGeom>
          <a:solidFill>
            <a:srgbClr val="2A7448"/>
          </a:solidFill>
          <a:ln w="12700">
            <a:solidFill>
              <a:srgbClr val="2A7448"/>
            </a:solidFill>
            <a:prstDash val="solid"/>
          </a:ln>
        </p:spPr>
      </p:sp>
      <p:sp>
        <p:nvSpPr>
          <p:cNvPr id="45" name="Text 43"/>
          <p:cNvSpPr/>
          <p:nvPr/>
        </p:nvSpPr>
        <p:spPr>
          <a:xfrm>
            <a:off x="5212080" y="5477256"/>
            <a:ext cx="11430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BIOLOGY ONLY</a:t>
            </a:r>
            <a:endParaRPr lang="en-US" sz="1000" dirty="0"/>
          </a:p>
        </p:txBody>
      </p:sp>
      <p:sp>
        <p:nvSpPr>
          <p:cNvPr id="46" name="Text 44"/>
          <p:cNvSpPr/>
          <p:nvPr/>
        </p:nvSpPr>
        <p:spPr>
          <a:xfrm>
            <a:off x="411480" y="6035040"/>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Topic 1 enzymes, osmosis, active transport • Topic 2 nervous system • Topic 5 non-communicable disease</a:t>
            </a:r>
            <a:endParaRPr lang="en-US" sz="1050" dirty="0"/>
          </a:p>
        </p:txBody>
      </p:sp>
      <p:sp>
        <p:nvSpPr>
          <p:cNvPr id="47" name="Shape 45"/>
          <p:cNvSpPr/>
          <p:nvPr/>
        </p:nvSpPr>
        <p:spPr>
          <a:xfrm>
            <a:off x="6720840" y="1188720"/>
            <a:ext cx="5056632" cy="2514600"/>
          </a:xfrm>
          <a:prstGeom prst="roundRect">
            <a:avLst>
              <a:gd name="adj" fmla="val 2182"/>
            </a:avLst>
          </a:prstGeom>
          <a:solidFill>
            <a:srgbClr val="143D2B"/>
          </a:solidFill>
          <a:ln/>
        </p:spPr>
      </p:sp>
      <p:sp>
        <p:nvSpPr>
          <p:cNvPr id="48" name="Text 46"/>
          <p:cNvSpPr/>
          <p:nvPr/>
        </p:nvSpPr>
        <p:spPr>
          <a:xfrm>
            <a:off x="6903720" y="128016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How this is assessed</a:t>
            </a:r>
            <a:endParaRPr lang="en-US" sz="1500" dirty="0"/>
          </a:p>
          <a:p>
            <a:pPr marL="152400" indent="-152400">
              <a:spcAft>
                <a:spcPts val="300"/>
              </a:spcAft>
              <a:buSzPct val="100000"/>
              <a:buChar char="▪"/>
            </a:pPr>
            <a:r>
              <a:rPr lang="en-US" sz="1150" dirty="0">
                <a:solidFill>
                  <a:srgbClr val="E6F4EA"/>
                </a:solidFill>
                <a:latin typeface="Calibri" pitchFamily="34" charset="0"/>
                <a:ea typeface="Calibri" pitchFamily="34" charset="-122"/>
                <a:cs typeface="Calibri" pitchFamily="34" charset="-120"/>
              </a:rPr>
              <a:t>1BI0 </a:t>
            </a:r>
            <a:r>
              <a:rPr lang="en-US" sz="1150" b="1" dirty="0">
                <a:solidFill>
                  <a:srgbClr val="E6F4EA"/>
                </a:solidFill>
                <a:latin typeface="Calibri" pitchFamily="34" charset="0"/>
                <a:ea typeface="Calibri" pitchFamily="34" charset="-122"/>
                <a:cs typeface="Calibri" pitchFamily="34" charset="-120"/>
              </a:rPr>
              <a:t>Paper 2</a:t>
            </a:r>
            <a:r>
              <a:rPr lang="en-US" sz="1150" dirty="0">
                <a:solidFill>
                  <a:srgbClr val="E6F4EA"/>
                </a:solidFill>
                <a:latin typeface="Calibri" pitchFamily="34" charset="0"/>
                <a:ea typeface="Calibri" pitchFamily="34" charset="-122"/>
                <a:cs typeface="Calibri" pitchFamily="34" charset="-120"/>
              </a:rPr>
              <a:t> (2F or 2H): 1 h 45 min, 100 marks, Topics 1 and 6–9.</a:t>
            </a:r>
            <a:endParaRPr lang="en-US" sz="1500" dirty="0"/>
          </a:p>
          <a:p>
            <a:pPr marL="152400" indent="-152400">
              <a:spcAft>
                <a:spcPts val="300"/>
              </a:spcAft>
              <a:buSzPct val="100000"/>
              <a:buChar char="▪"/>
            </a:pPr>
            <a:r>
              <a:rPr lang="en-US" sz="1150" dirty="0">
                <a:solidFill>
                  <a:srgbClr val="E6F4EA"/>
                </a:solidFill>
                <a:latin typeface="Calibri" pitchFamily="34" charset="0"/>
                <a:ea typeface="Calibri" pitchFamily="34" charset="-122"/>
                <a:cs typeface="Calibri" pitchFamily="34" charset="-120"/>
              </a:rPr>
              <a:t>Combined Science 1SC0 Paper 4 (Biology 2) tests the statements </a:t>
            </a:r>
            <a:r>
              <a:rPr lang="en-US" sz="1150" b="1" dirty="0">
                <a:solidFill>
                  <a:srgbClr val="E6F4EA"/>
                </a:solidFill>
                <a:latin typeface="Calibri" pitchFamily="34" charset="0"/>
                <a:ea typeface="Calibri" pitchFamily="34" charset="-122"/>
                <a:cs typeface="Calibri" pitchFamily="34" charset="-120"/>
              </a:rPr>
              <a:t>without</a:t>
            </a:r>
            <a:r>
              <a:rPr lang="en-US" sz="1150" dirty="0">
                <a:solidFill>
                  <a:srgbClr val="E6F4EA"/>
                </a:solidFill>
                <a:latin typeface="Calibri" pitchFamily="34" charset="0"/>
                <a:ea typeface="Calibri" pitchFamily="34" charset="-122"/>
                <a:cs typeface="Calibri" pitchFamily="34" charset="-120"/>
              </a:rPr>
              <a:t> a B.</a:t>
            </a:r>
            <a:endParaRPr lang="en-US" sz="1500" dirty="0"/>
          </a:p>
          <a:p>
            <a:pPr marL="152400" indent="-152400">
              <a:spcAft>
                <a:spcPts val="300"/>
              </a:spcAft>
              <a:buSzPct val="100000"/>
              <a:buChar char="▪"/>
            </a:pPr>
            <a:r>
              <a:rPr lang="en-US" sz="1150" dirty="0">
                <a:solidFill>
                  <a:srgbClr val="E6F4EA"/>
                </a:solidFill>
                <a:latin typeface="Calibri" pitchFamily="34" charset="0"/>
                <a:ea typeface="Calibri" pitchFamily="34" charset="-122"/>
                <a:cs typeface="Calibri" pitchFamily="34" charset="-120"/>
              </a:rPr>
              <a:t>Maths: </a:t>
            </a:r>
            <a:r>
              <a:rPr lang="en-US" sz="1150" b="1" dirty="0">
                <a:solidFill>
                  <a:srgbClr val="E6F4EA"/>
                </a:solidFill>
                <a:latin typeface="Calibri" pitchFamily="34" charset="0"/>
                <a:ea typeface="Calibri" pitchFamily="34" charset="-122"/>
                <a:cs typeface="Calibri" pitchFamily="34" charset="-120"/>
              </a:rPr>
              <a:t>BMI = mass ÷ height²</a:t>
            </a:r>
            <a:r>
              <a:rPr lang="en-US" sz="1150" dirty="0">
                <a:solidFill>
                  <a:srgbClr val="E6F4EA"/>
                </a:solidFill>
                <a:latin typeface="Calibri" pitchFamily="34" charset="0"/>
                <a:ea typeface="Calibri" pitchFamily="34" charset="-122"/>
                <a:cs typeface="Calibri" pitchFamily="34" charset="-120"/>
              </a:rPr>
              <a:t>, waist:hip ratio, percentages and reading graphs.</a:t>
            </a:r>
            <a:endParaRPr lang="en-US" sz="1500" dirty="0"/>
          </a:p>
          <a:p>
            <a:pPr marL="152400" indent="-152400">
              <a:spcAft>
                <a:spcPts val="300"/>
              </a:spcAft>
              <a:buSzPct val="100000"/>
              <a:buChar char="▪"/>
            </a:pPr>
            <a:r>
              <a:rPr lang="en-US" sz="1150" b="1" dirty="0">
                <a:solidFill>
                  <a:srgbClr val="E6F4EA"/>
                </a:solidFill>
                <a:latin typeface="Calibri" pitchFamily="34" charset="0"/>
                <a:ea typeface="Calibri" pitchFamily="34" charset="-122"/>
                <a:cs typeface="Calibri" pitchFamily="34" charset="-120"/>
              </a:rPr>
              <a:t>No Core Practical</a:t>
            </a:r>
            <a:r>
              <a:rPr lang="en-US" sz="1150" dirty="0">
                <a:solidFill>
                  <a:srgbClr val="E6F4EA"/>
                </a:solidFill>
                <a:latin typeface="Calibri" pitchFamily="34" charset="0"/>
                <a:ea typeface="Calibri" pitchFamily="34" charset="-122"/>
                <a:cs typeface="Calibri" pitchFamily="34" charset="-120"/>
              </a:rPr>
              <a:t> is linked to Topic 7.</a:t>
            </a:r>
            <a:endParaRPr lang="en-US" sz="1500" dirty="0"/>
          </a:p>
        </p:txBody>
      </p:sp>
      <p:sp>
        <p:nvSpPr>
          <p:cNvPr id="49" name="Shape 47"/>
          <p:cNvSpPr/>
          <p:nvPr/>
        </p:nvSpPr>
        <p:spPr>
          <a:xfrm>
            <a:off x="6720840" y="3840480"/>
            <a:ext cx="5056632" cy="2423160"/>
          </a:xfrm>
          <a:prstGeom prst="roundRect">
            <a:avLst>
              <a:gd name="adj" fmla="val 2264"/>
            </a:avLst>
          </a:prstGeom>
          <a:solidFill>
            <a:srgbClr val="FFF4E0"/>
          </a:solidFill>
          <a:ln w="12700">
            <a:solidFill>
              <a:srgbClr val="F1D9A8"/>
            </a:solidFill>
            <a:prstDash val="solid"/>
          </a:ln>
        </p:spPr>
      </p:sp>
      <p:sp>
        <p:nvSpPr>
          <p:cNvPr id="50" name="Text 48"/>
          <p:cNvSpPr/>
          <p:nvPr/>
        </p:nvSpPr>
        <p:spPr>
          <a:xfrm>
            <a:off x="6903720" y="3931920"/>
            <a:ext cx="4709160" cy="224028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courses and tiers</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BIOLOGY ONLY</a:t>
            </a:r>
            <a:r>
              <a:rPr lang="en-US" sz="1150" dirty="0">
                <a:solidFill>
                  <a:srgbClr val="262B3A"/>
                </a:solidFill>
                <a:latin typeface="Calibri" pitchFamily="34" charset="0"/>
                <a:ea typeface="Calibri" pitchFamily="34" charset="-122"/>
                <a:cs typeface="Calibri" pitchFamily="34" charset="-120"/>
              </a:rPr>
              <a:t> pill: thermoregulation and the </a:t>
            </a:r>
            <a:r>
              <a:rPr lang="en-US" sz="1150" b="1" dirty="0">
                <a:solidFill>
                  <a:srgbClr val="262B3A"/>
                </a:solidFill>
                <a:latin typeface="Calibri" pitchFamily="34" charset="0"/>
                <a:ea typeface="Calibri" pitchFamily="34" charset="-122"/>
                <a:cs typeface="Calibri" pitchFamily="34" charset="-120"/>
              </a:rPr>
              <a:t>whole kidney section</a:t>
            </a:r>
            <a:r>
              <a:rPr lang="en-US" sz="1150" dirty="0">
                <a:solidFill>
                  <a:srgbClr val="262B3A"/>
                </a:solidFill>
                <a:latin typeface="Calibri" pitchFamily="34" charset="0"/>
                <a:ea typeface="Calibri" pitchFamily="34" charset="-122"/>
                <a:cs typeface="Calibri" pitchFamily="34" charset="-120"/>
              </a:rPr>
              <a:t> (7.10B–7.12B, 7.18B–7.21B). Combined classes skip these.</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HT</a:t>
            </a:r>
            <a:r>
              <a:rPr lang="en-US" sz="1150" dirty="0">
                <a:solidFill>
                  <a:srgbClr val="262B3A"/>
                </a:solidFill>
                <a:latin typeface="Calibri" pitchFamily="34" charset="0"/>
                <a:ea typeface="Calibri" pitchFamily="34" charset="-122"/>
                <a:cs typeface="Calibri" pitchFamily="34" charset="-120"/>
              </a:rPr>
              <a:t> pill: Higher only – adrenalin, thyroxine, hormone interactions, ART, vasoconstriction/dilation, glucagon, ADH.</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Foundation students still meet all other content.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Recall from Topics 1, 2, 3 and 5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5FBF7"/>
          </a:solidFill>
          <a:ln w="9525">
            <a:solidFill>
              <a:srgbClr val="D2E5D8"/>
            </a:solidFill>
            <a:prstDash val="solid"/>
          </a:ln>
        </p:spPr>
      </p:sp>
      <p:sp>
        <p:nvSpPr>
          <p:cNvPr id="9" name="Shape 7"/>
          <p:cNvSpPr/>
          <p:nvPr/>
        </p:nvSpPr>
        <p:spPr>
          <a:xfrm>
            <a:off x="548640" y="1371600"/>
            <a:ext cx="438912" cy="438912"/>
          </a:xfrm>
          <a:prstGeom prst="ellipse">
            <a:avLst/>
          </a:prstGeom>
          <a:solidFill>
            <a:srgbClr val="2A7448"/>
          </a:solidFill>
          <a:ln w="12700">
            <a:solidFill>
              <a:srgbClr val="2A7448"/>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2A7448"/>
                </a:solidFill>
                <a:latin typeface="Calibri" pitchFamily="34" charset="0"/>
                <a:ea typeface="Calibri" pitchFamily="34" charset="-122"/>
                <a:cs typeface="Calibri" pitchFamily="34" charset="-120"/>
              </a:rPr>
              <a:t>Topic 1 • enzymes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an enzyme stops working at a </a:t>
            </a:r>
            <a:r>
              <a:rPr lang="en-US" sz="1250" b="1" dirty="0">
                <a:solidFill>
                  <a:srgbClr val="262B3A"/>
                </a:solidFill>
                <a:latin typeface="Calibri" pitchFamily="34" charset="0"/>
                <a:ea typeface="Calibri" pitchFamily="34" charset="-122"/>
                <a:cs typeface="Calibri" pitchFamily="34" charset="-120"/>
              </a:rPr>
              <a:t>high temperature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3" name="Shape 11"/>
          <p:cNvSpPr/>
          <p:nvPr/>
        </p:nvSpPr>
        <p:spPr>
          <a:xfrm>
            <a:off x="4251960" y="1234440"/>
            <a:ext cx="3657600" cy="2011680"/>
          </a:xfrm>
          <a:prstGeom prst="roundRect">
            <a:avLst>
              <a:gd name="adj" fmla="val 2727"/>
            </a:avLst>
          </a:prstGeom>
          <a:solidFill>
            <a:srgbClr val="F5FBF7"/>
          </a:solidFill>
          <a:ln w="9525">
            <a:solidFill>
              <a:srgbClr val="D2E5D8"/>
            </a:solidFill>
            <a:prstDash val="solid"/>
          </a:ln>
        </p:spPr>
      </p:sp>
      <p:sp>
        <p:nvSpPr>
          <p:cNvPr id="14" name="Shape 12"/>
          <p:cNvSpPr/>
          <p:nvPr/>
        </p:nvSpPr>
        <p:spPr>
          <a:xfrm>
            <a:off x="4389120" y="1371600"/>
            <a:ext cx="438912" cy="438912"/>
          </a:xfrm>
          <a:prstGeom prst="ellipse">
            <a:avLst/>
          </a:prstGeom>
          <a:solidFill>
            <a:srgbClr val="2A7448"/>
          </a:solidFill>
          <a:ln w="12700">
            <a:solidFill>
              <a:srgbClr val="2A7448"/>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2A7448"/>
                </a:solidFill>
                <a:latin typeface="Calibri" pitchFamily="34" charset="0"/>
                <a:ea typeface="Calibri" pitchFamily="34" charset="-122"/>
                <a:cs typeface="Calibri" pitchFamily="34" charset="-120"/>
              </a:rPr>
              <a:t>Topic 1 • osmosis</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Define </a:t>
            </a:r>
            <a:r>
              <a:rPr lang="en-US" sz="1250" b="1" dirty="0">
                <a:solidFill>
                  <a:srgbClr val="262B3A"/>
                </a:solidFill>
                <a:latin typeface="Calibri" pitchFamily="34" charset="0"/>
                <a:ea typeface="Calibri" pitchFamily="34" charset="-122"/>
                <a:cs typeface="Calibri" pitchFamily="34" charset="-120"/>
              </a:rPr>
              <a:t>osmosis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8" name="Shape 16"/>
          <p:cNvSpPr/>
          <p:nvPr/>
        </p:nvSpPr>
        <p:spPr>
          <a:xfrm>
            <a:off x="8092440" y="1234440"/>
            <a:ext cx="3657600" cy="2011680"/>
          </a:xfrm>
          <a:prstGeom prst="roundRect">
            <a:avLst>
              <a:gd name="adj" fmla="val 2727"/>
            </a:avLst>
          </a:prstGeom>
          <a:solidFill>
            <a:srgbClr val="F5FBF7"/>
          </a:solidFill>
          <a:ln w="9525">
            <a:solidFill>
              <a:srgbClr val="D2E5D8"/>
            </a:solidFill>
            <a:prstDash val="solid"/>
          </a:ln>
        </p:spPr>
      </p:sp>
      <p:sp>
        <p:nvSpPr>
          <p:cNvPr id="19" name="Shape 17"/>
          <p:cNvSpPr/>
          <p:nvPr/>
        </p:nvSpPr>
        <p:spPr>
          <a:xfrm>
            <a:off x="8229600" y="1371600"/>
            <a:ext cx="438912" cy="438912"/>
          </a:xfrm>
          <a:prstGeom prst="ellipse">
            <a:avLst/>
          </a:prstGeom>
          <a:solidFill>
            <a:srgbClr val="2A7448"/>
          </a:solidFill>
          <a:ln w="12700">
            <a:solidFill>
              <a:srgbClr val="2A7448"/>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2A7448"/>
                </a:solidFill>
                <a:latin typeface="Calibri" pitchFamily="34" charset="0"/>
                <a:ea typeface="Calibri" pitchFamily="34" charset="-122"/>
                <a:cs typeface="Calibri" pitchFamily="34" charset="-120"/>
              </a:rPr>
              <a:t>Topic 1 • active transport</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How is </a:t>
            </a:r>
            <a:r>
              <a:rPr lang="en-US" sz="1250" b="1" dirty="0">
                <a:solidFill>
                  <a:srgbClr val="262B3A"/>
                </a:solidFill>
                <a:latin typeface="Calibri" pitchFamily="34" charset="0"/>
                <a:ea typeface="Calibri" pitchFamily="34" charset="-122"/>
                <a:cs typeface="Calibri" pitchFamily="34" charset="-120"/>
              </a:rPr>
              <a:t>active transport</a:t>
            </a:r>
            <a:r>
              <a:rPr lang="en-US" sz="1250" dirty="0">
                <a:solidFill>
                  <a:srgbClr val="262B3A"/>
                </a:solidFill>
                <a:latin typeface="Calibri" pitchFamily="34" charset="0"/>
                <a:ea typeface="Calibri" pitchFamily="34" charset="-122"/>
                <a:cs typeface="Calibri" pitchFamily="34" charset="-120"/>
              </a:rPr>
              <a:t> different from diffusion? 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ways.</a:t>
            </a:r>
            <a:endParaRPr lang="en-US" sz="1250" dirty="0"/>
          </a:p>
        </p:txBody>
      </p:sp>
      <p:sp>
        <p:nvSpPr>
          <p:cNvPr id="23" name="Shape 21"/>
          <p:cNvSpPr/>
          <p:nvPr/>
        </p:nvSpPr>
        <p:spPr>
          <a:xfrm>
            <a:off x="411480" y="3429000"/>
            <a:ext cx="3657600" cy="2011680"/>
          </a:xfrm>
          <a:prstGeom prst="roundRect">
            <a:avLst>
              <a:gd name="adj" fmla="val 2727"/>
            </a:avLst>
          </a:prstGeom>
          <a:solidFill>
            <a:srgbClr val="F5FBF7"/>
          </a:solidFill>
          <a:ln w="9525">
            <a:solidFill>
              <a:srgbClr val="D2E5D8"/>
            </a:solidFill>
            <a:prstDash val="solid"/>
          </a:ln>
        </p:spPr>
      </p:sp>
      <p:sp>
        <p:nvSpPr>
          <p:cNvPr id="24" name="Shape 22"/>
          <p:cNvSpPr/>
          <p:nvPr/>
        </p:nvSpPr>
        <p:spPr>
          <a:xfrm>
            <a:off x="548640" y="3566160"/>
            <a:ext cx="438912" cy="438912"/>
          </a:xfrm>
          <a:prstGeom prst="ellipse">
            <a:avLst/>
          </a:prstGeom>
          <a:solidFill>
            <a:srgbClr val="2A7448"/>
          </a:solidFill>
          <a:ln w="12700">
            <a:solidFill>
              <a:srgbClr val="2A7448"/>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2A7448"/>
                </a:solidFill>
                <a:latin typeface="Calibri" pitchFamily="34" charset="0"/>
                <a:ea typeface="Calibri" pitchFamily="34" charset="-122"/>
                <a:cs typeface="Calibri" pitchFamily="34" charset="-120"/>
              </a:rPr>
              <a:t>Topic 2 • nervous system</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type of cell that carries </a:t>
            </a:r>
            <a:r>
              <a:rPr lang="en-US" sz="1250" b="1" dirty="0">
                <a:solidFill>
                  <a:srgbClr val="262B3A"/>
                </a:solidFill>
                <a:latin typeface="Calibri" pitchFamily="34" charset="0"/>
                <a:ea typeface="Calibri" pitchFamily="34" charset="-122"/>
                <a:cs typeface="Calibri" pitchFamily="34" charset="-120"/>
              </a:rPr>
              <a:t>electrical impulses</a:t>
            </a:r>
            <a:r>
              <a:rPr lang="en-US" sz="1250" dirty="0">
                <a:solidFill>
                  <a:srgbClr val="262B3A"/>
                </a:solidFill>
                <a:latin typeface="Calibri" pitchFamily="34" charset="0"/>
                <a:ea typeface="Calibri" pitchFamily="34" charset="-122"/>
                <a:cs typeface="Calibri" pitchFamily="34" charset="-120"/>
              </a:rPr>
              <a:t> around the body.</a:t>
            </a:r>
            <a:endParaRPr lang="en-US" sz="1250" dirty="0"/>
          </a:p>
        </p:txBody>
      </p:sp>
      <p:sp>
        <p:nvSpPr>
          <p:cNvPr id="28" name="Shape 26"/>
          <p:cNvSpPr/>
          <p:nvPr/>
        </p:nvSpPr>
        <p:spPr>
          <a:xfrm>
            <a:off x="4251960" y="3429000"/>
            <a:ext cx="3657600" cy="2011680"/>
          </a:xfrm>
          <a:prstGeom prst="roundRect">
            <a:avLst>
              <a:gd name="adj" fmla="val 2727"/>
            </a:avLst>
          </a:prstGeom>
          <a:solidFill>
            <a:srgbClr val="F5FBF7"/>
          </a:solidFill>
          <a:ln w="9525">
            <a:solidFill>
              <a:srgbClr val="D2E5D8"/>
            </a:solidFill>
            <a:prstDash val="solid"/>
          </a:ln>
        </p:spPr>
      </p:sp>
      <p:sp>
        <p:nvSpPr>
          <p:cNvPr id="29" name="Shape 27"/>
          <p:cNvSpPr/>
          <p:nvPr/>
        </p:nvSpPr>
        <p:spPr>
          <a:xfrm>
            <a:off x="4389120" y="3566160"/>
            <a:ext cx="438912" cy="438912"/>
          </a:xfrm>
          <a:prstGeom prst="ellipse">
            <a:avLst/>
          </a:prstGeom>
          <a:solidFill>
            <a:srgbClr val="2A7448"/>
          </a:solidFill>
          <a:ln w="12700">
            <a:solidFill>
              <a:srgbClr val="2A7448"/>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2A7448"/>
                </a:solidFill>
                <a:latin typeface="Calibri" pitchFamily="34" charset="0"/>
                <a:ea typeface="Calibri" pitchFamily="34" charset="-122"/>
                <a:cs typeface="Calibri" pitchFamily="34" charset="-120"/>
              </a:rPr>
              <a:t>Topic 3 • meiosis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human body cell has </a:t>
            </a:r>
            <a:r>
              <a:rPr lang="en-US" sz="1250" b="1" dirty="0">
                <a:solidFill>
                  <a:srgbClr val="262B3A"/>
                </a:solidFill>
                <a:latin typeface="Calibri" pitchFamily="34" charset="0"/>
                <a:ea typeface="Calibri" pitchFamily="34" charset="-122"/>
                <a:cs typeface="Calibri" pitchFamily="34" charset="-120"/>
              </a:rPr>
              <a:t>46</a:t>
            </a:r>
            <a:r>
              <a:rPr lang="en-US" sz="1250" dirty="0">
                <a:solidFill>
                  <a:srgbClr val="262B3A"/>
                </a:solidFill>
                <a:latin typeface="Calibri" pitchFamily="34" charset="0"/>
                <a:ea typeface="Calibri" pitchFamily="34" charset="-122"/>
                <a:cs typeface="Calibri" pitchFamily="34" charset="-120"/>
              </a:rPr>
              <a:t> chromosomes. How many are in an </a:t>
            </a:r>
            <a:r>
              <a:rPr lang="en-US" sz="1250" b="1" dirty="0">
                <a:solidFill>
                  <a:srgbClr val="262B3A"/>
                </a:solidFill>
                <a:latin typeface="Calibri" pitchFamily="34" charset="0"/>
                <a:ea typeface="Calibri" pitchFamily="34" charset="-122"/>
                <a:cs typeface="Calibri" pitchFamily="34" charset="-120"/>
              </a:rPr>
              <a:t>egg cell</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5FBF7"/>
          </a:solidFill>
          <a:ln w="9525">
            <a:solidFill>
              <a:srgbClr val="D2E5D8"/>
            </a:solidFill>
            <a:prstDash val="solid"/>
          </a:ln>
        </p:spPr>
      </p:sp>
      <p:sp>
        <p:nvSpPr>
          <p:cNvPr id="34" name="Shape 32"/>
          <p:cNvSpPr/>
          <p:nvPr/>
        </p:nvSpPr>
        <p:spPr>
          <a:xfrm>
            <a:off x="8229600" y="3566160"/>
            <a:ext cx="438912" cy="438912"/>
          </a:xfrm>
          <a:prstGeom prst="ellipse">
            <a:avLst/>
          </a:prstGeom>
          <a:solidFill>
            <a:srgbClr val="2A7448"/>
          </a:solidFill>
          <a:ln w="12700">
            <a:solidFill>
              <a:srgbClr val="2A7448"/>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2A7448"/>
                </a:solidFill>
                <a:latin typeface="Calibri" pitchFamily="34" charset="0"/>
                <a:ea typeface="Calibri" pitchFamily="34" charset="-122"/>
                <a:cs typeface="Calibri" pitchFamily="34" charset="-120"/>
              </a:rPr>
              <a:t>Topic 5 • health</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lifestyle factor that increases the risk of a </a:t>
            </a:r>
            <a:r>
              <a:rPr lang="en-US" sz="1250" b="1" dirty="0">
                <a:solidFill>
                  <a:srgbClr val="262B3A"/>
                </a:solidFill>
                <a:latin typeface="Calibri" pitchFamily="34" charset="0"/>
                <a:ea typeface="Calibri" pitchFamily="34" charset="-122"/>
                <a:cs typeface="Calibri" pitchFamily="34" charset="-120"/>
              </a:rPr>
              <a:t>non-communicable</a:t>
            </a:r>
            <a:r>
              <a:rPr lang="en-US" sz="1250" dirty="0">
                <a:solidFill>
                  <a:srgbClr val="262B3A"/>
                </a:solidFill>
                <a:latin typeface="Calibri" pitchFamily="34" charset="0"/>
                <a:ea typeface="Calibri" pitchFamily="34" charset="-122"/>
                <a:cs typeface="Calibri" pitchFamily="34" charset="-120"/>
              </a:rPr>
              <a:t> disease.</a:t>
            </a:r>
            <a:endParaRPr lang="en-US" sz="1250" dirty="0"/>
          </a:p>
        </p:txBody>
      </p:sp>
      <p:sp>
        <p:nvSpPr>
          <p:cNvPr id="38" name="Shape 36"/>
          <p:cNvSpPr/>
          <p:nvPr/>
        </p:nvSpPr>
        <p:spPr>
          <a:xfrm>
            <a:off x="411480" y="5715000"/>
            <a:ext cx="11368735" cy="548640"/>
          </a:xfrm>
          <a:prstGeom prst="rect">
            <a:avLst/>
          </a:prstGeom>
          <a:solidFill>
            <a:srgbClr val="EAF5EE"/>
          </a:solidFill>
          <a:ln w="12700">
            <a:solidFill>
              <a:srgbClr val="D2E5D8"/>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2A7448"/>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The endocrine glands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 • where hormones are produced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front view; the glands are drawn larger than life</a:t>
            </a:r>
            <a:endParaRPr lang="en-US" sz="1000" dirty="0"/>
          </a:p>
        </p:txBody>
      </p:sp>
      <p:sp>
        <p:nvSpPr>
          <p:cNvPr id="10" name="Shape 8"/>
          <p:cNvSpPr/>
          <p:nvPr/>
        </p:nvSpPr>
        <p:spPr>
          <a:xfrm rot="420000">
            <a:off x="2115556" y="2185416"/>
            <a:ext cx="248351" cy="1640891"/>
          </a:xfrm>
          <a:prstGeom prst="roundRect">
            <a:avLst>
              <a:gd name="adj" fmla="val 45000"/>
            </a:avLst>
          </a:prstGeom>
          <a:solidFill>
            <a:srgbClr val="F6DDC8"/>
          </a:solidFill>
          <a:ln w="31750">
            <a:solidFill>
              <a:srgbClr val="B98E6E"/>
            </a:solidFill>
            <a:prstDash val="solid"/>
          </a:ln>
        </p:spPr>
      </p:sp>
      <p:sp>
        <p:nvSpPr>
          <p:cNvPr id="11" name="Shape 9"/>
          <p:cNvSpPr/>
          <p:nvPr/>
        </p:nvSpPr>
        <p:spPr>
          <a:xfrm rot="-420000">
            <a:off x="3854013" y="2185416"/>
            <a:ext cx="248351" cy="1640891"/>
          </a:xfrm>
          <a:prstGeom prst="roundRect">
            <a:avLst>
              <a:gd name="adj" fmla="val 45000"/>
            </a:avLst>
          </a:prstGeom>
          <a:solidFill>
            <a:srgbClr val="F6DDC8"/>
          </a:solidFill>
          <a:ln w="31750">
            <a:solidFill>
              <a:srgbClr val="B98E6E"/>
            </a:solidFill>
            <a:prstDash val="solid"/>
          </a:ln>
        </p:spPr>
      </p:sp>
      <p:sp>
        <p:nvSpPr>
          <p:cNvPr id="12" name="Shape 10"/>
          <p:cNvSpPr/>
          <p:nvPr/>
        </p:nvSpPr>
        <p:spPr>
          <a:xfrm>
            <a:off x="2541300" y="3604565"/>
            <a:ext cx="478963" cy="1729588"/>
          </a:xfrm>
          <a:prstGeom prst="roundRect">
            <a:avLst>
              <a:gd name="adj" fmla="val 45000"/>
            </a:avLst>
          </a:prstGeom>
          <a:solidFill>
            <a:srgbClr val="F6DDC8"/>
          </a:solidFill>
          <a:ln w="31750">
            <a:solidFill>
              <a:srgbClr val="B98E6E"/>
            </a:solidFill>
            <a:prstDash val="solid"/>
          </a:ln>
        </p:spPr>
      </p:sp>
      <p:sp>
        <p:nvSpPr>
          <p:cNvPr id="13" name="Shape 11"/>
          <p:cNvSpPr/>
          <p:nvPr/>
        </p:nvSpPr>
        <p:spPr>
          <a:xfrm>
            <a:off x="3197657" y="3604565"/>
            <a:ext cx="478963" cy="1729588"/>
          </a:xfrm>
          <a:prstGeom prst="roundRect">
            <a:avLst>
              <a:gd name="adj" fmla="val 45000"/>
            </a:avLst>
          </a:prstGeom>
          <a:solidFill>
            <a:srgbClr val="F6DDC8"/>
          </a:solidFill>
          <a:ln w="31750">
            <a:solidFill>
              <a:srgbClr val="B98E6E"/>
            </a:solidFill>
            <a:prstDash val="solid"/>
          </a:ln>
        </p:spPr>
      </p:sp>
      <p:sp>
        <p:nvSpPr>
          <p:cNvPr id="14" name="Shape 12"/>
          <p:cNvSpPr/>
          <p:nvPr/>
        </p:nvSpPr>
        <p:spPr>
          <a:xfrm>
            <a:off x="2399386" y="2114459"/>
            <a:ext cx="1419149" cy="1773936"/>
          </a:xfrm>
          <a:prstGeom prst="roundRect">
            <a:avLst>
              <a:gd name="adj" fmla="val 45000"/>
            </a:avLst>
          </a:prstGeom>
          <a:solidFill>
            <a:srgbClr val="F6DDC8"/>
          </a:solidFill>
          <a:ln w="31750">
            <a:solidFill>
              <a:srgbClr val="B98E6E"/>
            </a:solidFill>
            <a:prstDash val="solid"/>
          </a:ln>
        </p:spPr>
      </p:sp>
      <p:sp>
        <p:nvSpPr>
          <p:cNvPr id="15" name="Shape 13"/>
          <p:cNvSpPr/>
          <p:nvPr/>
        </p:nvSpPr>
        <p:spPr>
          <a:xfrm>
            <a:off x="2993654" y="1919326"/>
            <a:ext cx="230612" cy="266090"/>
          </a:xfrm>
          <a:prstGeom prst="rect">
            <a:avLst/>
          </a:prstGeom>
          <a:solidFill>
            <a:srgbClr val="F6DDC8"/>
          </a:solidFill>
          <a:ln w="31750">
            <a:solidFill>
              <a:srgbClr val="B98E6E"/>
            </a:solidFill>
            <a:prstDash val="solid"/>
          </a:ln>
        </p:spPr>
      </p:sp>
      <p:sp>
        <p:nvSpPr>
          <p:cNvPr id="16" name="Shape 14"/>
          <p:cNvSpPr/>
          <p:nvPr/>
        </p:nvSpPr>
        <p:spPr>
          <a:xfrm>
            <a:off x="2816261" y="1298448"/>
            <a:ext cx="585399" cy="709574"/>
          </a:xfrm>
          <a:prstGeom prst="ellipse">
            <a:avLst/>
          </a:prstGeom>
          <a:solidFill>
            <a:srgbClr val="F6DDC8"/>
          </a:solidFill>
          <a:ln w="31750">
            <a:solidFill>
              <a:srgbClr val="B98E6E"/>
            </a:solidFill>
            <a:prstDash val="solid"/>
          </a:ln>
        </p:spPr>
      </p:sp>
      <p:sp>
        <p:nvSpPr>
          <p:cNvPr id="17" name="Shape 15"/>
          <p:cNvSpPr/>
          <p:nvPr/>
        </p:nvSpPr>
        <p:spPr>
          <a:xfrm rot="420000">
            <a:off x="2115556" y="2185416"/>
            <a:ext cx="248351" cy="1640891"/>
          </a:xfrm>
          <a:prstGeom prst="roundRect">
            <a:avLst>
              <a:gd name="adj" fmla="val 45000"/>
            </a:avLst>
          </a:prstGeom>
          <a:solidFill>
            <a:srgbClr val="F6DDC8"/>
          </a:solidFill>
          <a:ln/>
        </p:spPr>
      </p:sp>
      <p:sp>
        <p:nvSpPr>
          <p:cNvPr id="18" name="Shape 16"/>
          <p:cNvSpPr/>
          <p:nvPr/>
        </p:nvSpPr>
        <p:spPr>
          <a:xfrm rot="-420000">
            <a:off x="3854013" y="2185416"/>
            <a:ext cx="248351" cy="1640891"/>
          </a:xfrm>
          <a:prstGeom prst="roundRect">
            <a:avLst>
              <a:gd name="adj" fmla="val 45000"/>
            </a:avLst>
          </a:prstGeom>
          <a:solidFill>
            <a:srgbClr val="F6DDC8"/>
          </a:solidFill>
          <a:ln/>
        </p:spPr>
      </p:sp>
      <p:sp>
        <p:nvSpPr>
          <p:cNvPr id="19" name="Shape 17"/>
          <p:cNvSpPr/>
          <p:nvPr/>
        </p:nvSpPr>
        <p:spPr>
          <a:xfrm>
            <a:off x="2541300" y="3604565"/>
            <a:ext cx="478963" cy="1729588"/>
          </a:xfrm>
          <a:prstGeom prst="roundRect">
            <a:avLst>
              <a:gd name="adj" fmla="val 45000"/>
            </a:avLst>
          </a:prstGeom>
          <a:solidFill>
            <a:srgbClr val="F6DDC8"/>
          </a:solidFill>
          <a:ln/>
        </p:spPr>
      </p:sp>
      <p:sp>
        <p:nvSpPr>
          <p:cNvPr id="20" name="Shape 18"/>
          <p:cNvSpPr/>
          <p:nvPr/>
        </p:nvSpPr>
        <p:spPr>
          <a:xfrm>
            <a:off x="3197657" y="3604565"/>
            <a:ext cx="478963" cy="1729588"/>
          </a:xfrm>
          <a:prstGeom prst="roundRect">
            <a:avLst>
              <a:gd name="adj" fmla="val 45000"/>
            </a:avLst>
          </a:prstGeom>
          <a:solidFill>
            <a:srgbClr val="F6DDC8"/>
          </a:solidFill>
          <a:ln/>
        </p:spPr>
      </p:sp>
      <p:sp>
        <p:nvSpPr>
          <p:cNvPr id="21" name="Shape 19"/>
          <p:cNvSpPr/>
          <p:nvPr/>
        </p:nvSpPr>
        <p:spPr>
          <a:xfrm>
            <a:off x="2399386" y="2114459"/>
            <a:ext cx="1419149" cy="1773936"/>
          </a:xfrm>
          <a:prstGeom prst="roundRect">
            <a:avLst>
              <a:gd name="adj" fmla="val 45000"/>
            </a:avLst>
          </a:prstGeom>
          <a:solidFill>
            <a:srgbClr val="F6DDC8"/>
          </a:solidFill>
          <a:ln/>
        </p:spPr>
      </p:sp>
      <p:sp>
        <p:nvSpPr>
          <p:cNvPr id="22" name="Shape 20"/>
          <p:cNvSpPr/>
          <p:nvPr/>
        </p:nvSpPr>
        <p:spPr>
          <a:xfrm>
            <a:off x="2993654" y="1919326"/>
            <a:ext cx="230612" cy="266090"/>
          </a:xfrm>
          <a:prstGeom prst="rect">
            <a:avLst/>
          </a:prstGeom>
          <a:solidFill>
            <a:srgbClr val="F6DDC8"/>
          </a:solidFill>
          <a:ln/>
        </p:spPr>
      </p:sp>
      <p:sp>
        <p:nvSpPr>
          <p:cNvPr id="23" name="Shape 21"/>
          <p:cNvSpPr/>
          <p:nvPr/>
        </p:nvSpPr>
        <p:spPr>
          <a:xfrm>
            <a:off x="2816261" y="1298448"/>
            <a:ext cx="585399" cy="709574"/>
          </a:xfrm>
          <a:prstGeom prst="ellipse">
            <a:avLst/>
          </a:prstGeom>
          <a:solidFill>
            <a:srgbClr val="F6DDC8"/>
          </a:solidFill>
          <a:ln/>
        </p:spPr>
      </p:sp>
      <p:sp>
        <p:nvSpPr>
          <p:cNvPr id="24" name="Shape 22"/>
          <p:cNvSpPr/>
          <p:nvPr/>
        </p:nvSpPr>
        <p:spPr>
          <a:xfrm>
            <a:off x="3108960" y="3915004"/>
            <a:ext cx="91" cy="1374800"/>
          </a:xfrm>
          <a:prstGeom prst="line">
            <a:avLst/>
          </a:prstGeom>
          <a:noFill/>
          <a:ln w="15875">
            <a:solidFill>
              <a:srgbClr val="B98E6E"/>
            </a:solidFill>
            <a:prstDash val="solid"/>
          </a:ln>
        </p:spPr>
      </p:sp>
      <p:sp>
        <p:nvSpPr>
          <p:cNvPr id="25" name="Shape 23"/>
          <p:cNvSpPr/>
          <p:nvPr/>
        </p:nvSpPr>
        <p:spPr>
          <a:xfrm>
            <a:off x="2878348" y="1404884"/>
            <a:ext cx="461223" cy="319308"/>
          </a:xfrm>
          <a:prstGeom prst="ellipse">
            <a:avLst/>
          </a:prstGeom>
          <a:solidFill>
            <a:srgbClr val="F4C7D0"/>
          </a:solidFill>
          <a:ln w="9525">
            <a:solidFill>
              <a:srgbClr val="C98393"/>
            </a:solidFill>
            <a:prstDash val="solid"/>
          </a:ln>
        </p:spPr>
      </p:sp>
      <p:sp>
        <p:nvSpPr>
          <p:cNvPr id="26" name="Shape 24"/>
          <p:cNvSpPr/>
          <p:nvPr/>
        </p:nvSpPr>
        <p:spPr>
          <a:xfrm>
            <a:off x="3060177" y="1719758"/>
            <a:ext cx="97566" cy="97566"/>
          </a:xfrm>
          <a:prstGeom prst="ellipse">
            <a:avLst/>
          </a:prstGeom>
          <a:solidFill>
            <a:srgbClr val="C8414C"/>
          </a:solidFill>
          <a:ln w="12700">
            <a:solidFill>
              <a:srgbClr val="8E2A33"/>
            </a:solidFill>
            <a:prstDash val="solid"/>
          </a:ln>
        </p:spPr>
      </p:sp>
      <p:sp>
        <p:nvSpPr>
          <p:cNvPr id="27" name="Shape 25"/>
          <p:cNvSpPr/>
          <p:nvPr/>
        </p:nvSpPr>
        <p:spPr>
          <a:xfrm>
            <a:off x="2727564" y="3036905"/>
            <a:ext cx="177394" cy="283830"/>
          </a:xfrm>
          <a:prstGeom prst="ellipse">
            <a:avLst/>
          </a:prstGeom>
          <a:solidFill>
            <a:srgbClr val="E3C3BE"/>
          </a:solidFill>
          <a:ln w="9525">
            <a:solidFill>
              <a:srgbClr val="B08A84"/>
            </a:solidFill>
            <a:prstDash val="solid"/>
          </a:ln>
        </p:spPr>
      </p:sp>
      <p:sp>
        <p:nvSpPr>
          <p:cNvPr id="28" name="Shape 26"/>
          <p:cNvSpPr/>
          <p:nvPr/>
        </p:nvSpPr>
        <p:spPr>
          <a:xfrm>
            <a:off x="2727564" y="2912730"/>
            <a:ext cx="177394" cy="133045"/>
          </a:xfrm>
          <a:custGeom>
            <a:avLst/>
            <a:gdLst/>
            <a:ahLst/>
            <a:cxnLst/>
            <a:rect l="l" t="t" r="r" b="b"/>
            <a:pathLst>
              <a:path w="177394" h="133045">
                <a:moveTo>
                  <a:pt x="0" y="133045"/>
                </a:moveTo>
                <a:lnTo>
                  <a:pt x="177394" y="133045"/>
                </a:lnTo>
                <a:lnTo>
                  <a:pt x="88697" y="0"/>
                </a:lnTo>
                <a:close/>
              </a:path>
            </a:pathLst>
          </a:custGeom>
          <a:solidFill>
            <a:srgbClr val="E08A1E"/>
          </a:solidFill>
          <a:ln w="12700">
            <a:solidFill>
              <a:srgbClr val="9A5A0A"/>
            </a:solidFill>
            <a:prstDash val="solid"/>
          </a:ln>
        </p:spPr>
      </p:sp>
      <p:sp>
        <p:nvSpPr>
          <p:cNvPr id="29" name="Shape 27"/>
          <p:cNvSpPr/>
          <p:nvPr/>
        </p:nvSpPr>
        <p:spPr>
          <a:xfrm>
            <a:off x="3312963" y="3036905"/>
            <a:ext cx="177394" cy="283830"/>
          </a:xfrm>
          <a:prstGeom prst="ellipse">
            <a:avLst/>
          </a:prstGeom>
          <a:solidFill>
            <a:srgbClr val="E3C3BE"/>
          </a:solidFill>
          <a:ln w="9525">
            <a:solidFill>
              <a:srgbClr val="B08A84"/>
            </a:solidFill>
            <a:prstDash val="solid"/>
          </a:ln>
        </p:spPr>
      </p:sp>
      <p:sp>
        <p:nvSpPr>
          <p:cNvPr id="30" name="Shape 28"/>
          <p:cNvSpPr/>
          <p:nvPr/>
        </p:nvSpPr>
        <p:spPr>
          <a:xfrm>
            <a:off x="3312963" y="2912730"/>
            <a:ext cx="177394" cy="133045"/>
          </a:xfrm>
          <a:custGeom>
            <a:avLst/>
            <a:gdLst/>
            <a:ahLst/>
            <a:cxnLst/>
            <a:rect l="l" t="t" r="r" b="b"/>
            <a:pathLst>
              <a:path w="177394" h="133045">
                <a:moveTo>
                  <a:pt x="0" y="133045"/>
                </a:moveTo>
                <a:lnTo>
                  <a:pt x="177394" y="133045"/>
                </a:lnTo>
                <a:lnTo>
                  <a:pt x="88697" y="0"/>
                </a:lnTo>
                <a:close/>
              </a:path>
            </a:pathLst>
          </a:custGeom>
          <a:solidFill>
            <a:srgbClr val="E08A1E"/>
          </a:solidFill>
          <a:ln w="12700">
            <a:solidFill>
              <a:srgbClr val="9A5A0A"/>
            </a:solidFill>
            <a:prstDash val="solid"/>
          </a:ln>
        </p:spPr>
      </p:sp>
      <p:sp>
        <p:nvSpPr>
          <p:cNvPr id="31" name="Shape 29"/>
          <p:cNvSpPr/>
          <p:nvPr/>
        </p:nvSpPr>
        <p:spPr>
          <a:xfrm>
            <a:off x="2998089" y="1985848"/>
            <a:ext cx="97566" cy="150785"/>
          </a:xfrm>
          <a:prstGeom prst="ellipse">
            <a:avLst/>
          </a:prstGeom>
          <a:solidFill>
            <a:srgbClr val="8E44AD"/>
          </a:solidFill>
          <a:ln w="12700">
            <a:solidFill>
              <a:srgbClr val="5E2D73"/>
            </a:solidFill>
            <a:prstDash val="solid"/>
          </a:ln>
        </p:spPr>
      </p:sp>
      <p:sp>
        <p:nvSpPr>
          <p:cNvPr id="32" name="Shape 30"/>
          <p:cNvSpPr/>
          <p:nvPr/>
        </p:nvSpPr>
        <p:spPr>
          <a:xfrm>
            <a:off x="3122265" y="1985848"/>
            <a:ext cx="97566" cy="150785"/>
          </a:xfrm>
          <a:prstGeom prst="ellipse">
            <a:avLst/>
          </a:prstGeom>
          <a:solidFill>
            <a:srgbClr val="8E44AD"/>
          </a:solidFill>
          <a:ln w="12700">
            <a:solidFill>
              <a:srgbClr val="5E2D73"/>
            </a:solidFill>
            <a:prstDash val="solid"/>
          </a:ln>
        </p:spPr>
      </p:sp>
      <p:sp>
        <p:nvSpPr>
          <p:cNvPr id="33" name="Shape 31"/>
          <p:cNvSpPr/>
          <p:nvPr/>
        </p:nvSpPr>
        <p:spPr>
          <a:xfrm>
            <a:off x="3064612" y="2043501"/>
            <a:ext cx="88697" cy="44348"/>
          </a:xfrm>
          <a:prstGeom prst="rect">
            <a:avLst/>
          </a:prstGeom>
          <a:solidFill>
            <a:srgbClr val="8E44AD"/>
          </a:solidFill>
          <a:ln/>
        </p:spPr>
      </p:sp>
      <p:sp>
        <p:nvSpPr>
          <p:cNvPr id="34" name="Shape 32"/>
          <p:cNvSpPr/>
          <p:nvPr/>
        </p:nvSpPr>
        <p:spPr>
          <a:xfrm rot="-600000">
            <a:off x="2922697" y="2704292"/>
            <a:ext cx="638617" cy="133045"/>
          </a:xfrm>
          <a:prstGeom prst="ellipse">
            <a:avLst/>
          </a:prstGeom>
          <a:solidFill>
            <a:srgbClr val="D4A017"/>
          </a:solidFill>
          <a:ln w="12700">
            <a:solidFill>
              <a:srgbClr val="8A6A0A"/>
            </a:solidFill>
            <a:prstDash val="solid"/>
          </a:ln>
        </p:spPr>
      </p:sp>
      <p:sp>
        <p:nvSpPr>
          <p:cNvPr id="35" name="Shape 33"/>
          <p:cNvSpPr/>
          <p:nvPr/>
        </p:nvSpPr>
        <p:spPr>
          <a:xfrm>
            <a:off x="2993654" y="3515868"/>
            <a:ext cx="230612" cy="248351"/>
          </a:xfrm>
          <a:custGeom>
            <a:avLst/>
            <a:gdLst/>
            <a:ahLst/>
            <a:cxnLst/>
            <a:rect l="l" t="t" r="r" b="b"/>
            <a:pathLst>
              <a:path w="230612" h="248351">
                <a:moveTo>
                  <a:pt x="0" y="0"/>
                </a:moveTo>
                <a:lnTo>
                  <a:pt x="230612" y="0"/>
                </a:lnTo>
                <a:lnTo>
                  <a:pt x="115306" y="248351"/>
                </a:lnTo>
                <a:close/>
              </a:path>
            </a:pathLst>
          </a:custGeom>
          <a:solidFill>
            <a:srgbClr val="F2B8C6"/>
          </a:solidFill>
          <a:ln w="9525">
            <a:solidFill>
              <a:srgbClr val="B5546E"/>
            </a:solidFill>
            <a:prstDash val="solid"/>
          </a:ln>
        </p:spPr>
      </p:sp>
      <p:sp>
        <p:nvSpPr>
          <p:cNvPr id="36" name="Shape 34"/>
          <p:cNvSpPr/>
          <p:nvPr/>
        </p:nvSpPr>
        <p:spPr>
          <a:xfrm flipH="1">
            <a:off x="2851739" y="3533607"/>
            <a:ext cx="150785" cy="35479"/>
          </a:xfrm>
          <a:prstGeom prst="line">
            <a:avLst/>
          </a:prstGeom>
          <a:noFill/>
          <a:ln w="12700">
            <a:solidFill>
              <a:srgbClr val="B5546E"/>
            </a:solidFill>
            <a:prstDash val="solid"/>
          </a:ln>
        </p:spPr>
      </p:sp>
      <p:sp>
        <p:nvSpPr>
          <p:cNvPr id="37" name="Shape 35"/>
          <p:cNvSpPr/>
          <p:nvPr/>
        </p:nvSpPr>
        <p:spPr>
          <a:xfrm>
            <a:off x="2749738" y="3560216"/>
            <a:ext cx="133045" cy="88697"/>
          </a:xfrm>
          <a:prstGeom prst="ellipse">
            <a:avLst/>
          </a:prstGeom>
          <a:solidFill>
            <a:srgbClr val="D45F9E"/>
          </a:solidFill>
          <a:ln w="12700">
            <a:solidFill>
              <a:srgbClr val="8E3466"/>
            </a:solidFill>
            <a:prstDash val="solid"/>
          </a:ln>
        </p:spPr>
      </p:sp>
      <p:sp>
        <p:nvSpPr>
          <p:cNvPr id="38" name="Shape 36"/>
          <p:cNvSpPr/>
          <p:nvPr/>
        </p:nvSpPr>
        <p:spPr>
          <a:xfrm>
            <a:off x="3215396" y="3533607"/>
            <a:ext cx="150785" cy="35479"/>
          </a:xfrm>
          <a:prstGeom prst="line">
            <a:avLst/>
          </a:prstGeom>
          <a:noFill/>
          <a:ln w="12700">
            <a:solidFill>
              <a:srgbClr val="B5546E"/>
            </a:solidFill>
            <a:prstDash val="solid"/>
          </a:ln>
        </p:spPr>
      </p:sp>
      <p:sp>
        <p:nvSpPr>
          <p:cNvPr id="39" name="Shape 37"/>
          <p:cNvSpPr/>
          <p:nvPr/>
        </p:nvSpPr>
        <p:spPr>
          <a:xfrm>
            <a:off x="3335137" y="3560216"/>
            <a:ext cx="133045" cy="88697"/>
          </a:xfrm>
          <a:prstGeom prst="ellipse">
            <a:avLst/>
          </a:prstGeom>
          <a:solidFill>
            <a:srgbClr val="D45F9E"/>
          </a:solidFill>
          <a:ln w="12700">
            <a:solidFill>
              <a:srgbClr val="8E3466"/>
            </a:solidFill>
            <a:prstDash val="solid"/>
          </a:ln>
        </p:spPr>
      </p:sp>
      <p:sp>
        <p:nvSpPr>
          <p:cNvPr id="40" name="Text 38"/>
          <p:cNvSpPr/>
          <p:nvPr/>
        </p:nvSpPr>
        <p:spPr>
          <a:xfrm>
            <a:off x="4224528" y="1463040"/>
            <a:ext cx="1645920" cy="274320"/>
          </a:xfrm>
          <a:prstGeom prst="rect">
            <a:avLst/>
          </a:prstGeom>
          <a:noFill/>
          <a:ln/>
        </p:spPr>
        <p:txBody>
          <a:bodyPr wrap="square" lIns="0" tIns="0" rIns="0" bIns="0" rtlCol="0" anchor="ctr"/>
          <a:lstStyle/>
          <a:p>
            <a:pPr algn="l" indent="0" marL="0">
              <a:buNone/>
            </a:pPr>
            <a:r>
              <a:rPr lang="en-US" sz="1100" b="1" dirty="0">
                <a:solidFill>
                  <a:srgbClr val="8E2A33"/>
                </a:solidFill>
                <a:latin typeface="Calibri" pitchFamily="34" charset="0"/>
                <a:ea typeface="Calibri" pitchFamily="34" charset="-122"/>
                <a:cs typeface="Calibri" pitchFamily="34" charset="-120"/>
              </a:rPr>
              <a:t>Pituitary gland</a:t>
            </a:r>
            <a:endParaRPr lang="en-US" sz="1100" dirty="0"/>
          </a:p>
        </p:txBody>
      </p:sp>
      <p:sp>
        <p:nvSpPr>
          <p:cNvPr id="41" name="Shape 39"/>
          <p:cNvSpPr/>
          <p:nvPr/>
        </p:nvSpPr>
        <p:spPr>
          <a:xfrm flipH="1">
            <a:off x="3163824" y="1600200"/>
            <a:ext cx="1024128" cy="168341"/>
          </a:xfrm>
          <a:prstGeom prst="line">
            <a:avLst/>
          </a:prstGeom>
          <a:noFill/>
          <a:ln w="12700">
            <a:solidFill>
              <a:srgbClr val="8E2A33"/>
            </a:solidFill>
            <a:prstDash val="solid"/>
          </a:ln>
        </p:spPr>
      </p:sp>
      <p:sp>
        <p:nvSpPr>
          <p:cNvPr id="42" name="Shape 40"/>
          <p:cNvSpPr/>
          <p:nvPr/>
        </p:nvSpPr>
        <p:spPr>
          <a:xfrm>
            <a:off x="3136392" y="1741109"/>
            <a:ext cx="54864" cy="54864"/>
          </a:xfrm>
          <a:prstGeom prst="ellipse">
            <a:avLst/>
          </a:prstGeom>
          <a:solidFill>
            <a:srgbClr val="8E2A33"/>
          </a:solidFill>
          <a:ln w="9525">
            <a:solidFill>
              <a:srgbClr val="8E2A33"/>
            </a:solidFill>
            <a:prstDash val="solid"/>
          </a:ln>
        </p:spPr>
      </p:sp>
      <p:sp>
        <p:nvSpPr>
          <p:cNvPr id="43" name="Text 41"/>
          <p:cNvSpPr/>
          <p:nvPr/>
        </p:nvSpPr>
        <p:spPr>
          <a:xfrm>
            <a:off x="502920" y="1947672"/>
            <a:ext cx="1371600" cy="274320"/>
          </a:xfrm>
          <a:prstGeom prst="rect">
            <a:avLst/>
          </a:prstGeom>
          <a:noFill/>
          <a:ln/>
        </p:spPr>
        <p:txBody>
          <a:bodyPr wrap="square" lIns="0" tIns="0" rIns="0" bIns="0" rtlCol="0" anchor="ctr"/>
          <a:lstStyle/>
          <a:p>
            <a:pPr algn="r" indent="0" marL="0">
              <a:buNone/>
            </a:pPr>
            <a:r>
              <a:rPr lang="en-US" sz="1100" b="1" dirty="0">
                <a:solidFill>
                  <a:srgbClr val="5E2D73"/>
                </a:solidFill>
                <a:latin typeface="Calibri" pitchFamily="34" charset="0"/>
                <a:ea typeface="Calibri" pitchFamily="34" charset="-122"/>
                <a:cs typeface="Calibri" pitchFamily="34" charset="-120"/>
              </a:rPr>
              <a:t>Thyroid gland</a:t>
            </a:r>
            <a:endParaRPr lang="en-US" sz="1100" dirty="0"/>
          </a:p>
        </p:txBody>
      </p:sp>
      <p:sp>
        <p:nvSpPr>
          <p:cNvPr id="44" name="Shape 42"/>
          <p:cNvSpPr/>
          <p:nvPr/>
        </p:nvSpPr>
        <p:spPr>
          <a:xfrm flipV="1">
            <a:off x="1911096" y="2061240"/>
            <a:ext cx="1078992" cy="23592"/>
          </a:xfrm>
          <a:prstGeom prst="line">
            <a:avLst/>
          </a:prstGeom>
          <a:noFill/>
          <a:ln w="12700">
            <a:solidFill>
              <a:srgbClr val="5E2D73"/>
            </a:solidFill>
            <a:prstDash val="solid"/>
          </a:ln>
        </p:spPr>
      </p:sp>
      <p:sp>
        <p:nvSpPr>
          <p:cNvPr id="45" name="Shape 43"/>
          <p:cNvSpPr/>
          <p:nvPr/>
        </p:nvSpPr>
        <p:spPr>
          <a:xfrm>
            <a:off x="2962656" y="2033808"/>
            <a:ext cx="54864" cy="54864"/>
          </a:xfrm>
          <a:prstGeom prst="ellipse">
            <a:avLst/>
          </a:prstGeom>
          <a:solidFill>
            <a:srgbClr val="5E2D73"/>
          </a:solidFill>
          <a:ln w="9525">
            <a:solidFill>
              <a:srgbClr val="5E2D73"/>
            </a:solidFill>
            <a:prstDash val="solid"/>
          </a:ln>
        </p:spPr>
      </p:sp>
      <p:sp>
        <p:nvSpPr>
          <p:cNvPr id="46" name="Text 44"/>
          <p:cNvSpPr/>
          <p:nvPr/>
        </p:nvSpPr>
        <p:spPr>
          <a:xfrm>
            <a:off x="502920" y="2651760"/>
            <a:ext cx="1371600" cy="274320"/>
          </a:xfrm>
          <a:prstGeom prst="rect">
            <a:avLst/>
          </a:prstGeom>
          <a:noFill/>
          <a:ln/>
        </p:spPr>
        <p:txBody>
          <a:bodyPr wrap="square" lIns="0" tIns="0" rIns="0" bIns="0" rtlCol="0" anchor="ctr"/>
          <a:lstStyle/>
          <a:p>
            <a:pPr algn="r" indent="0" marL="0">
              <a:buNone/>
            </a:pPr>
            <a:r>
              <a:rPr lang="en-US" sz="1100" b="1" dirty="0">
                <a:solidFill>
                  <a:srgbClr val="9A5A0A"/>
                </a:solidFill>
                <a:latin typeface="Calibri" pitchFamily="34" charset="0"/>
                <a:ea typeface="Calibri" pitchFamily="34" charset="-122"/>
                <a:cs typeface="Calibri" pitchFamily="34" charset="-120"/>
              </a:rPr>
              <a:t>Adrenal glands</a:t>
            </a:r>
            <a:endParaRPr lang="en-US" sz="1100" dirty="0"/>
          </a:p>
        </p:txBody>
      </p:sp>
      <p:sp>
        <p:nvSpPr>
          <p:cNvPr id="47" name="Shape 45"/>
          <p:cNvSpPr/>
          <p:nvPr/>
        </p:nvSpPr>
        <p:spPr>
          <a:xfrm>
            <a:off x="1911096" y="2788920"/>
            <a:ext cx="859445" cy="203637"/>
          </a:xfrm>
          <a:prstGeom prst="line">
            <a:avLst/>
          </a:prstGeom>
          <a:noFill/>
          <a:ln w="12700">
            <a:solidFill>
              <a:srgbClr val="9A5A0A"/>
            </a:solidFill>
            <a:prstDash val="solid"/>
          </a:ln>
        </p:spPr>
      </p:sp>
      <p:sp>
        <p:nvSpPr>
          <p:cNvPr id="48" name="Shape 46"/>
          <p:cNvSpPr/>
          <p:nvPr/>
        </p:nvSpPr>
        <p:spPr>
          <a:xfrm>
            <a:off x="2743109" y="2965125"/>
            <a:ext cx="54864" cy="54864"/>
          </a:xfrm>
          <a:prstGeom prst="ellipse">
            <a:avLst/>
          </a:prstGeom>
          <a:solidFill>
            <a:srgbClr val="9A5A0A"/>
          </a:solidFill>
          <a:ln w="9525">
            <a:solidFill>
              <a:srgbClr val="9A5A0A"/>
            </a:solidFill>
            <a:prstDash val="solid"/>
          </a:ln>
        </p:spPr>
      </p:sp>
      <p:sp>
        <p:nvSpPr>
          <p:cNvPr id="49" name="Shape 47"/>
          <p:cNvSpPr/>
          <p:nvPr/>
        </p:nvSpPr>
        <p:spPr>
          <a:xfrm>
            <a:off x="1911096" y="2788920"/>
            <a:ext cx="1490563" cy="221925"/>
          </a:xfrm>
          <a:prstGeom prst="line">
            <a:avLst/>
          </a:prstGeom>
          <a:noFill/>
          <a:ln w="9525">
            <a:solidFill>
              <a:srgbClr val="9A5A0A"/>
            </a:solidFill>
            <a:prstDash val="dash"/>
          </a:ln>
        </p:spPr>
      </p:sp>
      <p:sp>
        <p:nvSpPr>
          <p:cNvPr id="50" name="Text 48"/>
          <p:cNvSpPr/>
          <p:nvPr/>
        </p:nvSpPr>
        <p:spPr>
          <a:xfrm>
            <a:off x="4224528" y="2514600"/>
            <a:ext cx="1645920" cy="274320"/>
          </a:xfrm>
          <a:prstGeom prst="rect">
            <a:avLst/>
          </a:prstGeom>
          <a:noFill/>
          <a:ln/>
        </p:spPr>
        <p:txBody>
          <a:bodyPr wrap="square" lIns="0" tIns="0" rIns="0" bIns="0" rtlCol="0" anchor="ctr"/>
          <a:lstStyle/>
          <a:p>
            <a:pPr algn="l" indent="0" marL="0">
              <a:buNone/>
            </a:pPr>
            <a:r>
              <a:rPr lang="en-US" sz="1100" b="1" dirty="0">
                <a:solidFill>
                  <a:srgbClr val="8A6A0A"/>
                </a:solidFill>
                <a:latin typeface="Calibri" pitchFamily="34" charset="0"/>
                <a:ea typeface="Calibri" pitchFamily="34" charset="-122"/>
                <a:cs typeface="Calibri" pitchFamily="34" charset="-120"/>
              </a:rPr>
              <a:t>Pancreas</a:t>
            </a:r>
            <a:endParaRPr lang="en-US" sz="1100" dirty="0"/>
          </a:p>
        </p:txBody>
      </p:sp>
      <p:sp>
        <p:nvSpPr>
          <p:cNvPr id="51" name="Shape 49"/>
          <p:cNvSpPr/>
          <p:nvPr/>
        </p:nvSpPr>
        <p:spPr>
          <a:xfrm flipH="1">
            <a:off x="3516325" y="2651760"/>
            <a:ext cx="671627" cy="73335"/>
          </a:xfrm>
          <a:prstGeom prst="line">
            <a:avLst/>
          </a:prstGeom>
          <a:noFill/>
          <a:ln w="12700">
            <a:solidFill>
              <a:srgbClr val="8A6A0A"/>
            </a:solidFill>
            <a:prstDash val="solid"/>
          </a:ln>
        </p:spPr>
      </p:sp>
      <p:sp>
        <p:nvSpPr>
          <p:cNvPr id="52" name="Shape 50"/>
          <p:cNvSpPr/>
          <p:nvPr/>
        </p:nvSpPr>
        <p:spPr>
          <a:xfrm>
            <a:off x="3488893" y="2697663"/>
            <a:ext cx="54864" cy="54864"/>
          </a:xfrm>
          <a:prstGeom prst="ellipse">
            <a:avLst/>
          </a:prstGeom>
          <a:solidFill>
            <a:srgbClr val="8A6A0A"/>
          </a:solidFill>
          <a:ln w="9525">
            <a:solidFill>
              <a:srgbClr val="8A6A0A"/>
            </a:solidFill>
            <a:prstDash val="solid"/>
          </a:ln>
        </p:spPr>
      </p:sp>
      <p:sp>
        <p:nvSpPr>
          <p:cNvPr id="53" name="Text 51"/>
          <p:cNvSpPr/>
          <p:nvPr/>
        </p:nvSpPr>
        <p:spPr>
          <a:xfrm>
            <a:off x="502920" y="3474720"/>
            <a:ext cx="1371600" cy="274320"/>
          </a:xfrm>
          <a:prstGeom prst="rect">
            <a:avLst/>
          </a:prstGeom>
          <a:noFill/>
          <a:ln/>
        </p:spPr>
        <p:txBody>
          <a:bodyPr wrap="square" lIns="0" tIns="0" rIns="0" bIns="0" rtlCol="0" anchor="ctr"/>
          <a:lstStyle/>
          <a:p>
            <a:pPr algn="r" indent="0" marL="0">
              <a:buNone/>
            </a:pPr>
            <a:r>
              <a:rPr lang="en-US" sz="1100" b="1" dirty="0">
                <a:solidFill>
                  <a:srgbClr val="8E3466"/>
                </a:solidFill>
                <a:latin typeface="Calibri" pitchFamily="34" charset="0"/>
                <a:ea typeface="Calibri" pitchFamily="34" charset="-122"/>
                <a:cs typeface="Calibri" pitchFamily="34" charset="-120"/>
              </a:rPr>
              <a:t>Ovaries (female)</a:t>
            </a:r>
            <a:endParaRPr lang="en-US" sz="1100" dirty="0"/>
          </a:p>
        </p:txBody>
      </p:sp>
      <p:sp>
        <p:nvSpPr>
          <p:cNvPr id="54" name="Shape 52"/>
          <p:cNvSpPr/>
          <p:nvPr/>
        </p:nvSpPr>
        <p:spPr>
          <a:xfrm flipV="1">
            <a:off x="1911096" y="3604565"/>
            <a:ext cx="832013" cy="7315"/>
          </a:xfrm>
          <a:prstGeom prst="line">
            <a:avLst/>
          </a:prstGeom>
          <a:noFill/>
          <a:ln w="12700">
            <a:solidFill>
              <a:srgbClr val="8E3466"/>
            </a:solidFill>
            <a:prstDash val="solid"/>
          </a:ln>
        </p:spPr>
      </p:sp>
      <p:sp>
        <p:nvSpPr>
          <p:cNvPr id="55" name="Shape 53"/>
          <p:cNvSpPr/>
          <p:nvPr/>
        </p:nvSpPr>
        <p:spPr>
          <a:xfrm>
            <a:off x="2715677" y="3577133"/>
            <a:ext cx="54864" cy="54864"/>
          </a:xfrm>
          <a:prstGeom prst="ellipse">
            <a:avLst/>
          </a:prstGeom>
          <a:solidFill>
            <a:srgbClr val="8E3466"/>
          </a:solidFill>
          <a:ln w="9525">
            <a:solidFill>
              <a:srgbClr val="8E3466"/>
            </a:solidFill>
            <a:prstDash val="solid"/>
          </a:ln>
        </p:spPr>
      </p:sp>
      <p:sp>
        <p:nvSpPr>
          <p:cNvPr id="56" name="Shape 54"/>
          <p:cNvSpPr/>
          <p:nvPr/>
        </p:nvSpPr>
        <p:spPr>
          <a:xfrm>
            <a:off x="1911096" y="3611880"/>
            <a:ext cx="1490563" cy="10973"/>
          </a:xfrm>
          <a:prstGeom prst="line">
            <a:avLst/>
          </a:prstGeom>
          <a:noFill/>
          <a:ln w="9525">
            <a:solidFill>
              <a:srgbClr val="8E3466"/>
            </a:solidFill>
            <a:prstDash val="dash"/>
          </a:ln>
        </p:spPr>
      </p:sp>
      <p:sp>
        <p:nvSpPr>
          <p:cNvPr id="57" name="Text 55"/>
          <p:cNvSpPr/>
          <p:nvPr/>
        </p:nvSpPr>
        <p:spPr>
          <a:xfrm>
            <a:off x="4224528" y="3017520"/>
            <a:ext cx="1645920" cy="384048"/>
          </a:xfrm>
          <a:prstGeom prst="rect">
            <a:avLst/>
          </a:prstGeom>
          <a:noFill/>
          <a:ln/>
        </p:spPr>
        <p:txBody>
          <a:bodyPr wrap="square" lIns="0" tIns="0" rIns="0" bIns="0" rtlCol="0" anchor="t"/>
          <a:lstStyle/>
          <a:p>
            <a:pPr algn="l" indent="0" marL="0">
              <a:buNone/>
            </a:pPr>
            <a:r>
              <a:rPr lang="en-US" sz="1000" i="1" dirty="0">
                <a:solidFill>
                  <a:srgbClr val="6B7385"/>
                </a:solidFill>
                <a:latin typeface="Calibri" pitchFamily="34" charset="0"/>
                <a:ea typeface="Calibri" pitchFamily="34" charset="-122"/>
                <a:cs typeface="Calibri" pitchFamily="34" charset="-120"/>
              </a:rPr>
              <a:t>kidneys (not glands) under the adrenals</a:t>
            </a:r>
            <a:endParaRPr lang="en-US" sz="1000" dirty="0"/>
          </a:p>
        </p:txBody>
      </p:sp>
      <p:sp>
        <p:nvSpPr>
          <p:cNvPr id="58" name="Shape 56"/>
          <p:cNvSpPr/>
          <p:nvPr/>
        </p:nvSpPr>
        <p:spPr>
          <a:xfrm flipH="1">
            <a:off x="3493099" y="3108960"/>
            <a:ext cx="713141" cy="69860"/>
          </a:xfrm>
          <a:prstGeom prst="line">
            <a:avLst/>
          </a:prstGeom>
          <a:noFill/>
          <a:ln w="9525">
            <a:solidFill>
              <a:srgbClr val="6B7385"/>
            </a:solidFill>
            <a:prstDash val="solid"/>
          </a:ln>
        </p:spPr>
      </p:sp>
      <p:sp>
        <p:nvSpPr>
          <p:cNvPr id="59" name="Shape 57"/>
          <p:cNvSpPr/>
          <p:nvPr/>
        </p:nvSpPr>
        <p:spPr>
          <a:xfrm>
            <a:off x="4160520" y="3840480"/>
            <a:ext cx="1691640" cy="1463040"/>
          </a:xfrm>
          <a:prstGeom prst="roundRect">
            <a:avLst>
              <a:gd name="adj" fmla="val 3125"/>
            </a:avLst>
          </a:prstGeom>
          <a:solidFill>
            <a:srgbClr val="FFFFFF"/>
          </a:solidFill>
          <a:ln w="12700">
            <a:solidFill>
              <a:srgbClr val="D2E5D8"/>
            </a:solidFill>
            <a:prstDash val="solid"/>
          </a:ln>
        </p:spPr>
      </p:sp>
      <p:sp>
        <p:nvSpPr>
          <p:cNvPr id="60" name="Text 58"/>
          <p:cNvSpPr/>
          <p:nvPr/>
        </p:nvSpPr>
        <p:spPr>
          <a:xfrm>
            <a:off x="4206240" y="3877056"/>
            <a:ext cx="1600200" cy="256032"/>
          </a:xfrm>
          <a:prstGeom prst="rect">
            <a:avLst/>
          </a:prstGeom>
          <a:noFill/>
          <a:ln/>
        </p:spPr>
        <p:txBody>
          <a:bodyPr wrap="square" lIns="0" tIns="0" rIns="0" bIns="0" rtlCol="0" anchor="ctr"/>
          <a:lstStyle/>
          <a:p>
            <a:pPr algn="ctr" indent="0" marL="0">
              <a:buNone/>
            </a:pPr>
            <a:r>
              <a:rPr lang="en-US" sz="1100" dirty="0">
                <a:solidFill>
                  <a:srgbClr val="1F4E8C"/>
                </a:solidFill>
                <a:latin typeface="Calibri" pitchFamily="34" charset="0"/>
                <a:ea typeface="Calibri" pitchFamily="34" charset="-122"/>
                <a:cs typeface="Calibri" pitchFamily="34" charset="-120"/>
              </a:rPr>
              <a:t>Male: </a:t>
            </a:r>
            <a:r>
              <a:rPr lang="en-US" sz="1100" b="1" dirty="0">
                <a:solidFill>
                  <a:srgbClr val="1F4E8C"/>
                </a:solidFill>
                <a:latin typeface="Calibri" pitchFamily="34" charset="0"/>
                <a:ea typeface="Calibri" pitchFamily="34" charset="-122"/>
                <a:cs typeface="Calibri" pitchFamily="34" charset="-120"/>
              </a:rPr>
              <a:t>testes</a:t>
            </a:r>
            <a:endParaRPr lang="en-US" sz="1100" dirty="0"/>
          </a:p>
        </p:txBody>
      </p:sp>
      <p:sp>
        <p:nvSpPr>
          <p:cNvPr id="61" name="Shape 59"/>
          <p:cNvSpPr/>
          <p:nvPr/>
        </p:nvSpPr>
        <p:spPr>
          <a:xfrm>
            <a:off x="4480560" y="4160520"/>
            <a:ext cx="1051560" cy="365760"/>
          </a:xfrm>
          <a:prstGeom prst="roundRect">
            <a:avLst>
              <a:gd name="adj" fmla="val 30000"/>
            </a:avLst>
          </a:prstGeom>
          <a:solidFill>
            <a:srgbClr val="F6DDC8"/>
          </a:solidFill>
          <a:ln w="25400">
            <a:solidFill>
              <a:srgbClr val="B98E6E"/>
            </a:solidFill>
            <a:prstDash val="solid"/>
          </a:ln>
        </p:spPr>
      </p:sp>
      <p:sp>
        <p:nvSpPr>
          <p:cNvPr id="62" name="Shape 60"/>
          <p:cNvSpPr/>
          <p:nvPr/>
        </p:nvSpPr>
        <p:spPr>
          <a:xfrm>
            <a:off x="4480560" y="4297680"/>
            <a:ext cx="329184" cy="685800"/>
          </a:xfrm>
          <a:prstGeom prst="roundRect">
            <a:avLst>
              <a:gd name="adj" fmla="val 33333"/>
            </a:avLst>
          </a:prstGeom>
          <a:solidFill>
            <a:srgbClr val="F6DDC8"/>
          </a:solidFill>
          <a:ln w="25400">
            <a:solidFill>
              <a:srgbClr val="B98E6E"/>
            </a:solidFill>
            <a:prstDash val="solid"/>
          </a:ln>
        </p:spPr>
      </p:sp>
      <p:sp>
        <p:nvSpPr>
          <p:cNvPr id="63" name="Shape 61"/>
          <p:cNvSpPr/>
          <p:nvPr/>
        </p:nvSpPr>
        <p:spPr>
          <a:xfrm>
            <a:off x="5202936" y="4297680"/>
            <a:ext cx="329184" cy="685800"/>
          </a:xfrm>
          <a:prstGeom prst="roundRect">
            <a:avLst>
              <a:gd name="adj" fmla="val 33333"/>
            </a:avLst>
          </a:prstGeom>
          <a:solidFill>
            <a:srgbClr val="F6DDC8"/>
          </a:solidFill>
          <a:ln w="25400">
            <a:solidFill>
              <a:srgbClr val="B98E6E"/>
            </a:solidFill>
            <a:prstDash val="solid"/>
          </a:ln>
        </p:spPr>
      </p:sp>
      <p:sp>
        <p:nvSpPr>
          <p:cNvPr id="64" name="Shape 62"/>
          <p:cNvSpPr/>
          <p:nvPr/>
        </p:nvSpPr>
        <p:spPr>
          <a:xfrm>
            <a:off x="4480560" y="4160520"/>
            <a:ext cx="1051560" cy="365760"/>
          </a:xfrm>
          <a:prstGeom prst="roundRect">
            <a:avLst>
              <a:gd name="adj" fmla="val 30000"/>
            </a:avLst>
          </a:prstGeom>
          <a:solidFill>
            <a:srgbClr val="F6DDC8"/>
          </a:solidFill>
          <a:ln/>
        </p:spPr>
      </p:sp>
      <p:sp>
        <p:nvSpPr>
          <p:cNvPr id="65" name="Shape 63"/>
          <p:cNvSpPr/>
          <p:nvPr/>
        </p:nvSpPr>
        <p:spPr>
          <a:xfrm>
            <a:off x="4480560" y="4297680"/>
            <a:ext cx="329184" cy="685800"/>
          </a:xfrm>
          <a:prstGeom prst="roundRect">
            <a:avLst>
              <a:gd name="adj" fmla="val 33333"/>
            </a:avLst>
          </a:prstGeom>
          <a:solidFill>
            <a:srgbClr val="F6DDC8"/>
          </a:solidFill>
          <a:ln/>
        </p:spPr>
      </p:sp>
      <p:sp>
        <p:nvSpPr>
          <p:cNvPr id="66" name="Shape 64"/>
          <p:cNvSpPr/>
          <p:nvPr/>
        </p:nvSpPr>
        <p:spPr>
          <a:xfrm>
            <a:off x="5202936" y="4297680"/>
            <a:ext cx="329184" cy="685800"/>
          </a:xfrm>
          <a:prstGeom prst="roundRect">
            <a:avLst>
              <a:gd name="adj" fmla="val 33333"/>
            </a:avLst>
          </a:prstGeom>
          <a:solidFill>
            <a:srgbClr val="F6DDC8"/>
          </a:solidFill>
          <a:ln/>
        </p:spPr>
      </p:sp>
      <p:sp>
        <p:nvSpPr>
          <p:cNvPr id="67" name="Shape 65"/>
          <p:cNvSpPr/>
          <p:nvPr/>
        </p:nvSpPr>
        <p:spPr>
          <a:xfrm>
            <a:off x="4814316" y="4517136"/>
            <a:ext cx="384048" cy="329184"/>
          </a:xfrm>
          <a:prstGeom prst="ellipse">
            <a:avLst/>
          </a:prstGeom>
          <a:solidFill>
            <a:srgbClr val="F6DDC8"/>
          </a:solidFill>
          <a:ln w="19050">
            <a:solidFill>
              <a:srgbClr val="B98E6E"/>
            </a:solidFill>
            <a:prstDash val="solid"/>
          </a:ln>
        </p:spPr>
      </p:sp>
      <p:sp>
        <p:nvSpPr>
          <p:cNvPr id="68" name="Shape 66"/>
          <p:cNvSpPr/>
          <p:nvPr/>
        </p:nvSpPr>
        <p:spPr>
          <a:xfrm>
            <a:off x="4860036" y="4590288"/>
            <a:ext cx="137160" cy="201168"/>
          </a:xfrm>
          <a:prstGeom prst="ellipse">
            <a:avLst/>
          </a:prstGeom>
          <a:solidFill>
            <a:srgbClr val="3B7DD8"/>
          </a:solidFill>
          <a:ln w="12700">
            <a:solidFill>
              <a:srgbClr val="1F4E8C"/>
            </a:solidFill>
            <a:prstDash val="solid"/>
          </a:ln>
        </p:spPr>
      </p:sp>
      <p:sp>
        <p:nvSpPr>
          <p:cNvPr id="69" name="Shape 67"/>
          <p:cNvSpPr/>
          <p:nvPr/>
        </p:nvSpPr>
        <p:spPr>
          <a:xfrm>
            <a:off x="5015484" y="4590288"/>
            <a:ext cx="137160" cy="201168"/>
          </a:xfrm>
          <a:prstGeom prst="ellipse">
            <a:avLst/>
          </a:prstGeom>
          <a:solidFill>
            <a:srgbClr val="3B7DD8"/>
          </a:solidFill>
          <a:ln w="12700">
            <a:solidFill>
              <a:srgbClr val="1F4E8C"/>
            </a:solidFill>
            <a:prstDash val="solid"/>
          </a:ln>
        </p:spPr>
      </p:sp>
      <p:sp>
        <p:nvSpPr>
          <p:cNvPr id="70" name="Text 68"/>
          <p:cNvSpPr/>
          <p:nvPr/>
        </p:nvSpPr>
        <p:spPr>
          <a:xfrm>
            <a:off x="4206240" y="5010912"/>
            <a:ext cx="160020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in the scrotum</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691640"/>
                <a:gridCol w="1783080"/>
                <a:gridCol w="2084832"/>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Gland</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1C3A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Hormone(s)</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1C3A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Main effect</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1C3A2C"/>
                    </a:solidFill>
                  </a:tcPr>
                </a:tc>
              </a:tr>
              <a:tr h="457200">
                <a:tc>
                  <a:txBody>
                    <a:bodyPr/>
                    <a:lstStyle/>
                    <a:p>
                      <a:pPr indent="0" marL="0">
                        <a:buNone/>
                      </a:pPr>
                      <a:r>
                        <a:rPr lang="en-US" sz="1050" b="1" dirty="0">
                          <a:solidFill>
                            <a:srgbClr val="8E2A33"/>
                          </a:solidFill>
                          <a:latin typeface="Calibri" pitchFamily="34" charset="0"/>
                          <a:ea typeface="Calibri" pitchFamily="34" charset="-122"/>
                          <a:cs typeface="Calibri" pitchFamily="34" charset="-120"/>
                        </a:rPr>
                        <a:t>Pituitary (base of brain)</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TSH, FSH, LH, ADH, growth hormone</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"master gland": controls other glands</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r>
              <a:tr h="457200">
                <a:tc>
                  <a:txBody>
                    <a:bodyPr/>
                    <a:lstStyle/>
                    <a:p>
                      <a:pPr indent="0" marL="0">
                        <a:buNone/>
                      </a:pPr>
                      <a:r>
                        <a:rPr lang="en-US" sz="1050" b="1" dirty="0">
                          <a:solidFill>
                            <a:srgbClr val="5E2D73"/>
                          </a:solidFill>
                          <a:latin typeface="Calibri" pitchFamily="34" charset="0"/>
                          <a:ea typeface="Calibri" pitchFamily="34" charset="-122"/>
                          <a:cs typeface="Calibri" pitchFamily="34" charset="-120"/>
                        </a:rPr>
                        <a:t>Thyroid (neck)</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thyroxine</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controls metabolic rate</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9A5A0A"/>
                          </a:solidFill>
                          <a:latin typeface="Calibri" pitchFamily="34" charset="0"/>
                          <a:ea typeface="Calibri" pitchFamily="34" charset="-122"/>
                          <a:cs typeface="Calibri" pitchFamily="34" charset="-120"/>
                        </a:rPr>
                        <a:t>Adrenal (on the kidneys)</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adrenalin</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prepares the body for "fight or flight"</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r>
              <a:tr h="457200">
                <a:tc>
                  <a:txBody>
                    <a:bodyPr/>
                    <a:lstStyle/>
                    <a:p>
                      <a:pPr indent="0" marL="0">
                        <a:buNone/>
                      </a:pPr>
                      <a:r>
                        <a:rPr lang="en-US" sz="1050" b="1" dirty="0">
                          <a:solidFill>
                            <a:srgbClr val="8A6A0A"/>
                          </a:solidFill>
                          <a:latin typeface="Calibri" pitchFamily="34" charset="0"/>
                          <a:ea typeface="Calibri" pitchFamily="34" charset="-122"/>
                          <a:cs typeface="Calibri" pitchFamily="34" charset="-120"/>
                        </a:rPr>
                        <a:t>Pancreas</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insulin, glucagon</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control blood glucose concentration</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8E3466"/>
                          </a:solidFill>
                          <a:latin typeface="Calibri" pitchFamily="34" charset="0"/>
                          <a:ea typeface="Calibri" pitchFamily="34" charset="-122"/>
                          <a:cs typeface="Calibri" pitchFamily="34" charset="-120"/>
                        </a:rPr>
                        <a:t>Ovaries</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oestrogen, progesterone</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menstrual cycle; female characteristics</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r>
              <a:tr h="457200">
                <a:tc>
                  <a:txBody>
                    <a:bodyPr/>
                    <a:lstStyle/>
                    <a:p>
                      <a:pPr indent="0" marL="0">
                        <a:buNone/>
                      </a:pPr>
                      <a:r>
                        <a:rPr lang="en-US" sz="1050" b="1" dirty="0">
                          <a:solidFill>
                            <a:srgbClr val="1F4E8C"/>
                          </a:solidFill>
                          <a:latin typeface="Calibri" pitchFamily="34" charset="0"/>
                          <a:ea typeface="Calibri" pitchFamily="34" charset="-122"/>
                          <a:cs typeface="Calibri" pitchFamily="34" charset="-120"/>
                        </a:rPr>
                        <a:t>Testes</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testosterone</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sperm production; male characteristics</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r>
            </a:tbl>
          </a:graphicData>
        </a:graphic>
      </p:graphicFrame>
      <p:sp>
        <p:nvSpPr>
          <p:cNvPr id="72" name="Shape 69"/>
          <p:cNvSpPr/>
          <p:nvPr/>
        </p:nvSpPr>
        <p:spPr>
          <a:xfrm>
            <a:off x="6217920" y="4526280"/>
            <a:ext cx="5559552" cy="1188720"/>
          </a:xfrm>
          <a:prstGeom prst="roundRect">
            <a:avLst>
              <a:gd name="adj" fmla="val 4615"/>
            </a:avLst>
          </a:prstGeom>
          <a:solidFill>
            <a:srgbClr val="F5FBF7"/>
          </a:solidFill>
          <a:ln w="9525">
            <a:solidFill>
              <a:srgbClr val="D2E5D8"/>
            </a:solidFill>
            <a:prstDash val="solid"/>
          </a:ln>
        </p:spPr>
      </p:sp>
      <p:sp>
        <p:nvSpPr>
          <p:cNvPr id="73" name="Text 70"/>
          <p:cNvSpPr/>
          <p:nvPr/>
        </p:nvSpPr>
        <p:spPr>
          <a:xfrm>
            <a:off x="6382512" y="4617720"/>
            <a:ext cx="5230368"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Learn the positions</a:t>
            </a:r>
            <a:endParaRPr lang="en-US" sz="1300" dirty="0"/>
          </a:p>
        </p:txBody>
      </p:sp>
      <p:sp>
        <p:nvSpPr>
          <p:cNvPr id="74" name="Text 71"/>
          <p:cNvSpPr/>
          <p:nvPr/>
        </p:nvSpPr>
        <p:spPr>
          <a:xfrm>
            <a:off x="6382512" y="4946904"/>
            <a:ext cx="5230368" cy="69494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Base of brain → </a:t>
            </a:r>
            <a:r>
              <a:rPr lang="en-US" sz="1100" b="1" dirty="0">
                <a:solidFill>
                  <a:srgbClr val="262B3A"/>
                </a:solidFill>
                <a:latin typeface="Calibri" pitchFamily="34" charset="0"/>
                <a:ea typeface="Calibri" pitchFamily="34" charset="-122"/>
                <a:cs typeface="Calibri" pitchFamily="34" charset="-120"/>
              </a:rPr>
              <a:t>pituitary</a:t>
            </a:r>
            <a:r>
              <a:rPr lang="en-US" sz="1100" dirty="0">
                <a:solidFill>
                  <a:srgbClr val="262B3A"/>
                </a:solidFill>
                <a:latin typeface="Calibri" pitchFamily="34" charset="0"/>
                <a:ea typeface="Calibri" pitchFamily="34" charset="-122"/>
                <a:cs typeface="Calibri" pitchFamily="34" charset="-120"/>
              </a:rPr>
              <a:t>; neck → </a:t>
            </a:r>
            <a:r>
              <a:rPr lang="en-US" sz="1100" b="1" dirty="0">
                <a:solidFill>
                  <a:srgbClr val="262B3A"/>
                </a:solidFill>
                <a:latin typeface="Calibri" pitchFamily="34" charset="0"/>
                <a:ea typeface="Calibri" pitchFamily="34" charset="-122"/>
                <a:cs typeface="Calibri" pitchFamily="34" charset="-120"/>
              </a:rPr>
              <a:t>thyroid</a:t>
            </a:r>
            <a:r>
              <a:rPr lang="en-US" sz="1100" dirty="0">
                <a:solidFill>
                  <a:srgbClr val="262B3A"/>
                </a:solidFill>
                <a:latin typeface="Calibri" pitchFamily="34" charset="0"/>
                <a:ea typeface="Calibri" pitchFamily="34" charset="-122"/>
                <a:cs typeface="Calibri" pitchFamily="34" charset="-120"/>
              </a:rPr>
              <a:t>; on top of each kidney → </a:t>
            </a:r>
            <a:r>
              <a:rPr lang="en-US" sz="1100" b="1" dirty="0">
                <a:solidFill>
                  <a:srgbClr val="262B3A"/>
                </a:solidFill>
                <a:latin typeface="Calibri" pitchFamily="34" charset="0"/>
                <a:ea typeface="Calibri" pitchFamily="34" charset="-122"/>
                <a:cs typeface="Calibri" pitchFamily="34" charset="-120"/>
              </a:rPr>
              <a:t>adrenal</a:t>
            </a:r>
            <a:r>
              <a:rPr lang="en-US" sz="1100" dirty="0">
                <a:solidFill>
                  <a:srgbClr val="262B3A"/>
                </a:solidFill>
                <a:latin typeface="Calibri" pitchFamily="34" charset="0"/>
                <a:ea typeface="Calibri" pitchFamily="34" charset="-122"/>
                <a:cs typeface="Calibri" pitchFamily="34" charset="-120"/>
              </a:rPr>
              <a:t>; behind the stomach → </a:t>
            </a:r>
            <a:r>
              <a:rPr lang="en-US" sz="1100" b="1" dirty="0">
                <a:solidFill>
                  <a:srgbClr val="262B3A"/>
                </a:solidFill>
                <a:latin typeface="Calibri" pitchFamily="34" charset="0"/>
                <a:ea typeface="Calibri" pitchFamily="34" charset="-122"/>
                <a:cs typeface="Calibri" pitchFamily="34" charset="-120"/>
              </a:rPr>
              <a:t>pancreas</a:t>
            </a:r>
            <a:r>
              <a:rPr lang="en-US" sz="1100" dirty="0">
                <a:solidFill>
                  <a:srgbClr val="262B3A"/>
                </a:solidFill>
                <a:latin typeface="Calibri" pitchFamily="34" charset="0"/>
                <a:ea typeface="Calibri" pitchFamily="34" charset="-122"/>
                <a:cs typeface="Calibri" pitchFamily="34" charset="-120"/>
              </a:rPr>
              <a:t>; pelvis → </a:t>
            </a:r>
            <a:r>
              <a:rPr lang="en-US" sz="1100" b="1" dirty="0">
                <a:solidFill>
                  <a:srgbClr val="262B3A"/>
                </a:solidFill>
                <a:latin typeface="Calibri" pitchFamily="34" charset="0"/>
                <a:ea typeface="Calibri" pitchFamily="34" charset="-122"/>
                <a:cs typeface="Calibri" pitchFamily="34" charset="-120"/>
              </a:rPr>
              <a:t>ovaries</a:t>
            </a:r>
            <a:r>
              <a:rPr lang="en-US" sz="1100" dirty="0">
                <a:solidFill>
                  <a:srgbClr val="262B3A"/>
                </a:solidFill>
                <a:latin typeface="Calibri" pitchFamily="34" charset="0"/>
                <a:ea typeface="Calibri" pitchFamily="34" charset="-122"/>
                <a:cs typeface="Calibri" pitchFamily="34" charset="-120"/>
              </a:rPr>
              <a:t>; scrotum → </a:t>
            </a:r>
            <a:r>
              <a:rPr lang="en-US" sz="1100" b="1" dirty="0">
                <a:solidFill>
                  <a:srgbClr val="262B3A"/>
                </a:solidFill>
                <a:latin typeface="Calibri" pitchFamily="34" charset="0"/>
                <a:ea typeface="Calibri" pitchFamily="34" charset="-122"/>
                <a:cs typeface="Calibri" pitchFamily="34" charset="-120"/>
              </a:rPr>
              <a:t>testes</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75" name="Shape 72"/>
          <p:cNvSpPr/>
          <p:nvPr/>
        </p:nvSpPr>
        <p:spPr>
          <a:xfrm>
            <a:off x="411480" y="5833872"/>
            <a:ext cx="11368735" cy="530352"/>
          </a:xfrm>
          <a:prstGeom prst="rect">
            <a:avLst/>
          </a:prstGeom>
          <a:solidFill>
            <a:srgbClr val="FFF4E0"/>
          </a:solidFill>
          <a:ln w="6350">
            <a:solidFill>
              <a:srgbClr val="F1D9A8"/>
            </a:solidFill>
            <a:prstDash val="solid"/>
          </a:ln>
        </p:spPr>
      </p:sp>
      <p:sp>
        <p:nvSpPr>
          <p:cNvPr id="76" name="Shape 73"/>
          <p:cNvSpPr/>
          <p:nvPr/>
        </p:nvSpPr>
        <p:spPr>
          <a:xfrm>
            <a:off x="411480" y="5833872"/>
            <a:ext cx="82296" cy="530352"/>
          </a:xfrm>
          <a:prstGeom prst="rect">
            <a:avLst/>
          </a:prstGeom>
          <a:solidFill>
            <a:srgbClr val="E39A2F"/>
          </a:solidFill>
          <a:ln w="12700">
            <a:solidFill>
              <a:srgbClr val="E39A2F"/>
            </a:solidFill>
            <a:prstDash val="solid"/>
          </a:ln>
        </p:spPr>
      </p:sp>
      <p:sp>
        <p:nvSpPr>
          <p:cNvPr id="77" name="Text 7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gland that sits on top of each </a:t>
            </a:r>
            <a:r>
              <a:rPr lang="en-US" sz="1150" b="1" dirty="0">
                <a:solidFill>
                  <a:srgbClr val="262B3A"/>
                </a:solidFill>
                <a:latin typeface="Calibri" pitchFamily="34" charset="0"/>
                <a:ea typeface="Calibri" pitchFamily="34" charset="-122"/>
                <a:cs typeface="Calibri" pitchFamily="34" charset="-120"/>
              </a:rPr>
              <a:t>kidney</a:t>
            </a:r>
            <a:r>
              <a:rPr lang="en-US" sz="1150" dirty="0">
                <a:solidFill>
                  <a:srgbClr val="262B3A"/>
                </a:solidFill>
                <a:latin typeface="Calibri" pitchFamily="34" charset="0"/>
                <a:ea typeface="Calibri" pitchFamily="34" charset="-122"/>
                <a:cs typeface="Calibri" pitchFamily="34" charset="-120"/>
              </a:rPr>
              <a:t> and the hormone it makes. Which gland is called the </a:t>
            </a:r>
            <a:r>
              <a:rPr lang="en-US" sz="1150" b="1" dirty="0">
                <a:solidFill>
                  <a:srgbClr val="262B3A"/>
                </a:solidFill>
                <a:latin typeface="Calibri" pitchFamily="34" charset="0"/>
                <a:ea typeface="Calibri" pitchFamily="34" charset="-122"/>
                <a:cs typeface="Calibri" pitchFamily="34" charset="-120"/>
              </a:rPr>
              <a:t>"master gland"</a:t>
            </a:r>
            <a:r>
              <a:rPr lang="en-US" sz="1150" dirty="0">
                <a:solidFill>
                  <a:srgbClr val="262B3A"/>
                </a:solidFill>
                <a:latin typeface="Calibri" pitchFamily="34" charset="0"/>
                <a:ea typeface="Calibri" pitchFamily="34" charset="-122"/>
                <a:cs typeface="Calibri" pitchFamily="34" charset="-120"/>
              </a:rPr>
              <a:t>? Why?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How hormones reach their target organs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 • secreted into the blood, carried in the plasma, detected by receptors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hormone affects only cells with matching receptors</a:t>
            </a:r>
            <a:endParaRPr lang="en-US" sz="1000" dirty="0"/>
          </a:p>
        </p:txBody>
      </p:sp>
      <p:sp>
        <p:nvSpPr>
          <p:cNvPr id="10" name="Shape 8"/>
          <p:cNvSpPr/>
          <p:nvPr/>
        </p:nvSpPr>
        <p:spPr>
          <a:xfrm>
            <a:off x="640080" y="1417320"/>
            <a:ext cx="1371600" cy="731520"/>
          </a:xfrm>
          <a:prstGeom prst="ellipse">
            <a:avLst/>
          </a:prstGeom>
          <a:solidFill>
            <a:srgbClr val="E08A1E"/>
          </a:solidFill>
          <a:ln w="19050">
            <a:solidFill>
              <a:srgbClr val="9A5A0A"/>
            </a:solidFill>
            <a:prstDash val="solid"/>
          </a:ln>
        </p:spPr>
      </p:sp>
      <p:sp>
        <p:nvSpPr>
          <p:cNvPr id="11" name="Text 9"/>
          <p:cNvSpPr/>
          <p:nvPr/>
        </p:nvSpPr>
        <p:spPr>
          <a:xfrm>
            <a:off x="640080" y="1600200"/>
            <a:ext cx="13716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endocrine gland</a:t>
            </a:r>
            <a:endParaRPr lang="en-US" sz="1100" dirty="0"/>
          </a:p>
        </p:txBody>
      </p:sp>
      <p:sp>
        <p:nvSpPr>
          <p:cNvPr id="12" name="Shape 10"/>
          <p:cNvSpPr/>
          <p:nvPr/>
        </p:nvSpPr>
        <p:spPr>
          <a:xfrm>
            <a:off x="1069848" y="2304288"/>
            <a:ext cx="146304" cy="131674"/>
          </a:xfrm>
          <a:prstGeom prst="triangle">
            <a:avLst/>
          </a:prstGeom>
          <a:solidFill>
            <a:srgbClr val="E08A1E"/>
          </a:solidFill>
          <a:ln w="9525">
            <a:solidFill>
              <a:srgbClr val="9A5A0A"/>
            </a:solidFill>
            <a:prstDash val="solid"/>
          </a:ln>
        </p:spPr>
      </p:sp>
      <p:sp>
        <p:nvSpPr>
          <p:cNvPr id="13" name="Shape 11"/>
          <p:cNvSpPr/>
          <p:nvPr/>
        </p:nvSpPr>
        <p:spPr>
          <a:xfrm>
            <a:off x="1389888" y="2441448"/>
            <a:ext cx="146304" cy="131674"/>
          </a:xfrm>
          <a:prstGeom prst="triangle">
            <a:avLst/>
          </a:prstGeom>
          <a:solidFill>
            <a:srgbClr val="E08A1E"/>
          </a:solidFill>
          <a:ln w="9525">
            <a:solidFill>
              <a:srgbClr val="9A5A0A"/>
            </a:solidFill>
            <a:prstDash val="solid"/>
          </a:ln>
        </p:spPr>
      </p:sp>
      <p:sp>
        <p:nvSpPr>
          <p:cNvPr id="14" name="Shape 12"/>
          <p:cNvSpPr/>
          <p:nvPr/>
        </p:nvSpPr>
        <p:spPr>
          <a:xfrm>
            <a:off x="1207008" y="2578608"/>
            <a:ext cx="146304" cy="131674"/>
          </a:xfrm>
          <a:prstGeom prst="triangle">
            <a:avLst/>
          </a:prstGeom>
          <a:solidFill>
            <a:srgbClr val="E08A1E"/>
          </a:solidFill>
          <a:ln w="9525">
            <a:solidFill>
              <a:srgbClr val="9A5A0A"/>
            </a:solidFill>
            <a:prstDash val="solid"/>
          </a:ln>
        </p:spPr>
      </p:sp>
      <p:sp>
        <p:nvSpPr>
          <p:cNvPr id="15" name="Shape 13"/>
          <p:cNvSpPr/>
          <p:nvPr/>
        </p:nvSpPr>
        <p:spPr>
          <a:xfrm>
            <a:off x="1828800" y="2240280"/>
            <a:ext cx="91" cy="548640"/>
          </a:xfrm>
          <a:prstGeom prst="line">
            <a:avLst/>
          </a:prstGeom>
          <a:noFill/>
          <a:ln w="25400">
            <a:solidFill>
              <a:srgbClr val="9A5A0A"/>
            </a:solidFill>
            <a:prstDash val="solid"/>
            <a:tailEnd type="triangle"/>
          </a:ln>
        </p:spPr>
      </p:sp>
      <p:sp>
        <p:nvSpPr>
          <p:cNvPr id="16" name="Text 14"/>
          <p:cNvSpPr/>
          <p:nvPr/>
        </p:nvSpPr>
        <p:spPr>
          <a:xfrm>
            <a:off x="1920240" y="2267712"/>
            <a:ext cx="2377440" cy="41148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secreted </a:t>
            </a:r>
            <a:r>
              <a:rPr lang="en-US" sz="1050" b="1" dirty="0">
                <a:solidFill>
                  <a:srgbClr val="262B3A"/>
                </a:solidFill>
                <a:latin typeface="Calibri" pitchFamily="34" charset="0"/>
                <a:ea typeface="Calibri" pitchFamily="34" charset="-122"/>
                <a:cs typeface="Calibri" pitchFamily="34" charset="-120"/>
              </a:rPr>
              <a:t>directly into the blood</a:t>
            </a:r>
            <a:r>
              <a:rPr lang="en-US" sz="1050" dirty="0">
                <a:solidFill>
                  <a:srgbClr val="262B3A"/>
                </a:solidFill>
                <a:latin typeface="Calibri" pitchFamily="34" charset="0"/>
                <a:ea typeface="Calibri" pitchFamily="34" charset="-122"/>
                <a:cs typeface="Calibri" pitchFamily="34" charset="-120"/>
              </a:rPr>
              <a:t> (no duct)</a:t>
            </a:r>
            <a:endParaRPr lang="en-US" sz="1050" dirty="0"/>
          </a:p>
        </p:txBody>
      </p:sp>
      <p:sp>
        <p:nvSpPr>
          <p:cNvPr id="17" name="Shape 15"/>
          <p:cNvSpPr/>
          <p:nvPr/>
        </p:nvSpPr>
        <p:spPr>
          <a:xfrm>
            <a:off x="640080" y="2834640"/>
            <a:ext cx="5120640" cy="566928"/>
          </a:xfrm>
          <a:prstGeom prst="rect">
            <a:avLst/>
          </a:prstGeom>
          <a:solidFill>
            <a:srgbClr val="F6C9CC"/>
          </a:solidFill>
          <a:ln w="19050">
            <a:solidFill>
              <a:srgbClr val="C8414C"/>
            </a:solidFill>
            <a:prstDash val="solid"/>
          </a:ln>
        </p:spPr>
      </p:sp>
      <p:sp>
        <p:nvSpPr>
          <p:cNvPr id="18" name="Text 16"/>
          <p:cNvSpPr/>
          <p:nvPr/>
        </p:nvSpPr>
        <p:spPr>
          <a:xfrm>
            <a:off x="731520" y="2834640"/>
            <a:ext cx="2194560" cy="274320"/>
          </a:xfrm>
          <a:prstGeom prst="rect">
            <a:avLst/>
          </a:prstGeom>
          <a:noFill/>
          <a:ln/>
        </p:spPr>
        <p:txBody>
          <a:bodyPr wrap="square" lIns="0" tIns="0" rIns="0" bIns="0" rtlCol="0" anchor="ctr"/>
          <a:lstStyle/>
          <a:p>
            <a:pPr algn="l" indent="0" marL="0">
              <a:buNone/>
            </a:pPr>
            <a:r>
              <a:rPr lang="en-US" sz="1050" b="1" dirty="0">
                <a:solidFill>
                  <a:srgbClr val="8E2A33"/>
                </a:solidFill>
                <a:latin typeface="Calibri" pitchFamily="34" charset="0"/>
                <a:ea typeface="Calibri" pitchFamily="34" charset="-122"/>
                <a:cs typeface="Calibri" pitchFamily="34" charset="-120"/>
              </a:rPr>
              <a:t>blood vessel</a:t>
            </a:r>
            <a:endParaRPr lang="en-US" sz="1050" dirty="0"/>
          </a:p>
        </p:txBody>
      </p:sp>
      <p:sp>
        <p:nvSpPr>
          <p:cNvPr id="19" name="Shape 17"/>
          <p:cNvSpPr/>
          <p:nvPr/>
        </p:nvSpPr>
        <p:spPr>
          <a:xfrm>
            <a:off x="1389888" y="3108960"/>
            <a:ext cx="146304" cy="131674"/>
          </a:xfrm>
          <a:prstGeom prst="triangle">
            <a:avLst/>
          </a:prstGeom>
          <a:solidFill>
            <a:srgbClr val="E08A1E"/>
          </a:solidFill>
          <a:ln w="9525">
            <a:solidFill>
              <a:srgbClr val="9A5A0A"/>
            </a:solidFill>
            <a:prstDash val="solid"/>
          </a:ln>
        </p:spPr>
      </p:sp>
      <p:sp>
        <p:nvSpPr>
          <p:cNvPr id="20" name="Shape 18"/>
          <p:cNvSpPr/>
          <p:nvPr/>
        </p:nvSpPr>
        <p:spPr>
          <a:xfrm>
            <a:off x="2121408" y="3182112"/>
            <a:ext cx="146304" cy="131674"/>
          </a:xfrm>
          <a:prstGeom prst="triangle">
            <a:avLst/>
          </a:prstGeom>
          <a:solidFill>
            <a:srgbClr val="E08A1E"/>
          </a:solidFill>
          <a:ln w="9525">
            <a:solidFill>
              <a:srgbClr val="9A5A0A"/>
            </a:solidFill>
            <a:prstDash val="solid"/>
          </a:ln>
        </p:spPr>
      </p:sp>
      <p:sp>
        <p:nvSpPr>
          <p:cNvPr id="21" name="Shape 19"/>
          <p:cNvSpPr/>
          <p:nvPr/>
        </p:nvSpPr>
        <p:spPr>
          <a:xfrm>
            <a:off x="2944368" y="3108960"/>
            <a:ext cx="146304" cy="131674"/>
          </a:xfrm>
          <a:prstGeom prst="triangle">
            <a:avLst/>
          </a:prstGeom>
          <a:solidFill>
            <a:srgbClr val="E08A1E"/>
          </a:solidFill>
          <a:ln w="9525">
            <a:solidFill>
              <a:srgbClr val="9A5A0A"/>
            </a:solidFill>
            <a:prstDash val="solid"/>
          </a:ln>
        </p:spPr>
      </p:sp>
      <p:sp>
        <p:nvSpPr>
          <p:cNvPr id="22" name="Shape 20"/>
          <p:cNvSpPr/>
          <p:nvPr/>
        </p:nvSpPr>
        <p:spPr>
          <a:xfrm>
            <a:off x="3675888" y="3182112"/>
            <a:ext cx="146304" cy="131674"/>
          </a:xfrm>
          <a:prstGeom prst="triangle">
            <a:avLst/>
          </a:prstGeom>
          <a:solidFill>
            <a:srgbClr val="E08A1E"/>
          </a:solidFill>
          <a:ln w="9525">
            <a:solidFill>
              <a:srgbClr val="9A5A0A"/>
            </a:solidFill>
            <a:prstDash val="solid"/>
          </a:ln>
        </p:spPr>
      </p:sp>
      <p:sp>
        <p:nvSpPr>
          <p:cNvPr id="23" name="Shape 21"/>
          <p:cNvSpPr/>
          <p:nvPr/>
        </p:nvSpPr>
        <p:spPr>
          <a:xfrm>
            <a:off x="4407408" y="3108960"/>
            <a:ext cx="146304" cy="131674"/>
          </a:xfrm>
          <a:prstGeom prst="triangle">
            <a:avLst/>
          </a:prstGeom>
          <a:solidFill>
            <a:srgbClr val="E08A1E"/>
          </a:solidFill>
          <a:ln w="9525">
            <a:solidFill>
              <a:srgbClr val="9A5A0A"/>
            </a:solidFill>
            <a:prstDash val="solid"/>
          </a:ln>
        </p:spPr>
      </p:sp>
      <p:sp>
        <p:nvSpPr>
          <p:cNvPr id="24" name="Shape 22"/>
          <p:cNvSpPr/>
          <p:nvPr/>
        </p:nvSpPr>
        <p:spPr>
          <a:xfrm>
            <a:off x="5047488" y="3182112"/>
            <a:ext cx="146304" cy="131674"/>
          </a:xfrm>
          <a:prstGeom prst="triangle">
            <a:avLst/>
          </a:prstGeom>
          <a:solidFill>
            <a:srgbClr val="E08A1E"/>
          </a:solidFill>
          <a:ln w="9525">
            <a:solidFill>
              <a:srgbClr val="9A5A0A"/>
            </a:solidFill>
            <a:prstDash val="solid"/>
          </a:ln>
        </p:spPr>
      </p:sp>
      <p:sp>
        <p:nvSpPr>
          <p:cNvPr id="25" name="Shape 23"/>
          <p:cNvSpPr/>
          <p:nvPr/>
        </p:nvSpPr>
        <p:spPr>
          <a:xfrm>
            <a:off x="3291840" y="2944368"/>
            <a:ext cx="2103120" cy="91"/>
          </a:xfrm>
          <a:prstGeom prst="line">
            <a:avLst/>
          </a:prstGeom>
          <a:noFill/>
          <a:ln w="25400">
            <a:solidFill>
              <a:srgbClr val="8E2A33"/>
            </a:solidFill>
            <a:prstDash val="solid"/>
            <a:tailEnd type="triangle"/>
          </a:ln>
        </p:spPr>
      </p:sp>
      <p:sp>
        <p:nvSpPr>
          <p:cNvPr id="26" name="Text 24"/>
          <p:cNvSpPr/>
          <p:nvPr/>
        </p:nvSpPr>
        <p:spPr>
          <a:xfrm>
            <a:off x="3291840" y="2606040"/>
            <a:ext cx="2468880" cy="274320"/>
          </a:xfrm>
          <a:prstGeom prst="rect">
            <a:avLst/>
          </a:prstGeom>
          <a:noFill/>
          <a:ln/>
        </p:spPr>
        <p:txBody>
          <a:bodyPr wrap="square" lIns="0" tIns="0" rIns="0" bIns="0" rtlCol="0" anchor="ctr"/>
          <a:lstStyle/>
          <a:p>
            <a:pPr algn="r" indent="0" marL="0">
              <a:buNone/>
            </a:pPr>
            <a:r>
              <a:rPr lang="en-US" sz="1050" dirty="0">
                <a:solidFill>
                  <a:srgbClr val="262B3A"/>
                </a:solidFill>
                <a:latin typeface="Calibri" pitchFamily="34" charset="0"/>
                <a:ea typeface="Calibri" pitchFamily="34" charset="-122"/>
                <a:cs typeface="Calibri" pitchFamily="34" charset="-120"/>
              </a:rPr>
              <a:t>carried in the </a:t>
            </a:r>
            <a:r>
              <a:rPr lang="en-US" sz="1050" b="1" dirty="0">
                <a:solidFill>
                  <a:srgbClr val="262B3A"/>
                </a:solidFill>
                <a:latin typeface="Calibri" pitchFamily="34" charset="0"/>
                <a:ea typeface="Calibri" pitchFamily="34" charset="-122"/>
                <a:cs typeface="Calibri" pitchFamily="34" charset="-120"/>
              </a:rPr>
              <a:t>plasma</a:t>
            </a:r>
            <a:endParaRPr lang="en-US" sz="1050" dirty="0"/>
          </a:p>
        </p:txBody>
      </p:sp>
      <p:sp>
        <p:nvSpPr>
          <p:cNvPr id="27" name="Shape 25"/>
          <p:cNvSpPr/>
          <p:nvPr/>
        </p:nvSpPr>
        <p:spPr>
          <a:xfrm>
            <a:off x="1188720" y="3954780"/>
            <a:ext cx="1828800" cy="960120"/>
          </a:xfrm>
          <a:prstGeom prst="ellipse">
            <a:avLst/>
          </a:prstGeom>
          <a:solidFill>
            <a:srgbClr val="FBF3DF"/>
          </a:solidFill>
          <a:ln w="19050">
            <a:solidFill>
              <a:srgbClr val="8A6D3B"/>
            </a:solidFill>
            <a:prstDash val="solid"/>
          </a:ln>
        </p:spPr>
      </p:sp>
      <p:sp>
        <p:nvSpPr>
          <p:cNvPr id="28" name="Shape 26"/>
          <p:cNvSpPr/>
          <p:nvPr/>
        </p:nvSpPr>
        <p:spPr>
          <a:xfrm>
            <a:off x="1947672" y="4370832"/>
            <a:ext cx="310896" cy="310896"/>
          </a:xfrm>
          <a:prstGeom prst="ellipse">
            <a:avLst/>
          </a:prstGeom>
          <a:solidFill>
            <a:srgbClr val="C9B6E4"/>
          </a:solidFill>
          <a:ln w="12700">
            <a:solidFill>
              <a:srgbClr val="6A4C93"/>
            </a:solidFill>
            <a:prstDash val="solid"/>
          </a:ln>
        </p:spPr>
      </p:sp>
      <p:sp>
        <p:nvSpPr>
          <p:cNvPr id="29" name="Shape 27"/>
          <p:cNvSpPr/>
          <p:nvPr/>
        </p:nvSpPr>
        <p:spPr>
          <a:xfrm>
            <a:off x="1490472" y="3986784"/>
            <a:ext cx="219456" cy="146304"/>
          </a:xfrm>
          <a:prstGeom prst="rect">
            <a:avLst/>
          </a:prstGeom>
          <a:solidFill>
            <a:srgbClr val="2E8B57"/>
          </a:solidFill>
          <a:ln w="9525">
            <a:solidFill>
              <a:srgbClr val="1E6B40"/>
            </a:solidFill>
            <a:prstDash val="solid"/>
          </a:ln>
        </p:spPr>
      </p:sp>
      <p:sp>
        <p:nvSpPr>
          <p:cNvPr id="30" name="Shape 28"/>
          <p:cNvSpPr/>
          <p:nvPr/>
        </p:nvSpPr>
        <p:spPr>
          <a:xfrm>
            <a:off x="1527048" y="3985870"/>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31" name="Shape 29"/>
          <p:cNvSpPr/>
          <p:nvPr/>
        </p:nvSpPr>
        <p:spPr>
          <a:xfrm rot="10800000">
            <a:off x="1527048" y="3977640"/>
            <a:ext cx="146304" cy="128016"/>
          </a:xfrm>
          <a:prstGeom prst="triangle">
            <a:avLst/>
          </a:prstGeom>
          <a:solidFill>
            <a:srgbClr val="E08A1E"/>
          </a:solidFill>
          <a:ln w="9525">
            <a:solidFill>
              <a:srgbClr val="9A5A0A"/>
            </a:solidFill>
            <a:prstDash val="solid"/>
          </a:ln>
        </p:spPr>
      </p:sp>
      <p:sp>
        <p:nvSpPr>
          <p:cNvPr id="32" name="Shape 30"/>
          <p:cNvSpPr/>
          <p:nvPr/>
        </p:nvSpPr>
        <p:spPr>
          <a:xfrm>
            <a:off x="1993392" y="3986784"/>
            <a:ext cx="219456" cy="146304"/>
          </a:xfrm>
          <a:prstGeom prst="rect">
            <a:avLst/>
          </a:prstGeom>
          <a:solidFill>
            <a:srgbClr val="2E8B57"/>
          </a:solidFill>
          <a:ln w="9525">
            <a:solidFill>
              <a:srgbClr val="1E6B40"/>
            </a:solidFill>
            <a:prstDash val="solid"/>
          </a:ln>
        </p:spPr>
      </p:sp>
      <p:sp>
        <p:nvSpPr>
          <p:cNvPr id="33" name="Shape 31"/>
          <p:cNvSpPr/>
          <p:nvPr/>
        </p:nvSpPr>
        <p:spPr>
          <a:xfrm>
            <a:off x="2029968" y="3985870"/>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34" name="Shape 32"/>
          <p:cNvSpPr/>
          <p:nvPr/>
        </p:nvSpPr>
        <p:spPr>
          <a:xfrm rot="10800000">
            <a:off x="2029968" y="3977640"/>
            <a:ext cx="146304" cy="128016"/>
          </a:xfrm>
          <a:prstGeom prst="triangle">
            <a:avLst/>
          </a:prstGeom>
          <a:solidFill>
            <a:srgbClr val="E08A1E"/>
          </a:solidFill>
          <a:ln w="9525">
            <a:solidFill>
              <a:srgbClr val="9A5A0A"/>
            </a:solidFill>
            <a:prstDash val="solid"/>
          </a:ln>
        </p:spPr>
      </p:sp>
      <p:sp>
        <p:nvSpPr>
          <p:cNvPr id="35" name="Shape 33"/>
          <p:cNvSpPr/>
          <p:nvPr/>
        </p:nvSpPr>
        <p:spPr>
          <a:xfrm>
            <a:off x="2496312" y="3986784"/>
            <a:ext cx="219456" cy="146304"/>
          </a:xfrm>
          <a:prstGeom prst="rect">
            <a:avLst/>
          </a:prstGeom>
          <a:solidFill>
            <a:srgbClr val="2E8B57"/>
          </a:solidFill>
          <a:ln w="9525">
            <a:solidFill>
              <a:srgbClr val="1E6B40"/>
            </a:solidFill>
            <a:prstDash val="solid"/>
          </a:ln>
        </p:spPr>
      </p:sp>
      <p:sp>
        <p:nvSpPr>
          <p:cNvPr id="36" name="Shape 34"/>
          <p:cNvSpPr/>
          <p:nvPr/>
        </p:nvSpPr>
        <p:spPr>
          <a:xfrm>
            <a:off x="2532888" y="3985870"/>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37" name="Shape 35"/>
          <p:cNvSpPr/>
          <p:nvPr/>
        </p:nvSpPr>
        <p:spPr>
          <a:xfrm rot="10800000">
            <a:off x="2532888" y="3977640"/>
            <a:ext cx="146304" cy="128016"/>
          </a:xfrm>
          <a:prstGeom prst="triangle">
            <a:avLst/>
          </a:prstGeom>
          <a:solidFill>
            <a:srgbClr val="E08A1E"/>
          </a:solidFill>
          <a:ln w="9525">
            <a:solidFill>
              <a:srgbClr val="9A5A0A"/>
            </a:solidFill>
            <a:prstDash val="solid"/>
          </a:ln>
        </p:spPr>
      </p:sp>
      <p:sp>
        <p:nvSpPr>
          <p:cNvPr id="38" name="Shape 36"/>
          <p:cNvSpPr/>
          <p:nvPr/>
        </p:nvSpPr>
        <p:spPr>
          <a:xfrm>
            <a:off x="2103120" y="3456432"/>
            <a:ext cx="91" cy="384048"/>
          </a:xfrm>
          <a:prstGeom prst="line">
            <a:avLst/>
          </a:prstGeom>
          <a:noFill/>
          <a:ln w="25400">
            <a:solidFill>
              <a:srgbClr val="2E8B57"/>
            </a:solidFill>
            <a:prstDash val="solid"/>
            <a:tailEnd type="triangle"/>
          </a:ln>
        </p:spPr>
      </p:sp>
      <p:sp>
        <p:nvSpPr>
          <p:cNvPr id="39" name="Text 37"/>
          <p:cNvSpPr/>
          <p:nvPr/>
        </p:nvSpPr>
        <p:spPr>
          <a:xfrm>
            <a:off x="1005840" y="4983480"/>
            <a:ext cx="2194560" cy="365760"/>
          </a:xfrm>
          <a:prstGeom prst="rect">
            <a:avLst/>
          </a:prstGeom>
          <a:noFill/>
          <a:ln/>
        </p:spPr>
        <p:txBody>
          <a:bodyPr wrap="square" lIns="0" tIns="0" rIns="0" bIns="0" rtlCol="0" anchor="ctr"/>
          <a:lstStyle/>
          <a:p>
            <a:pPr algn="ctr" indent="0" marL="0">
              <a:buNone/>
            </a:pPr>
            <a:r>
              <a:rPr lang="en-US" sz="1050" b="1" dirty="0">
                <a:solidFill>
                  <a:srgbClr val="1E6B40"/>
                </a:solidFill>
                <a:latin typeface="Calibri" pitchFamily="34" charset="0"/>
                <a:ea typeface="Calibri" pitchFamily="34" charset="-122"/>
                <a:cs typeface="Calibri" pitchFamily="34" charset="-120"/>
              </a:rPr>
              <a:t>target cell</a:t>
            </a:r>
            <a:r>
              <a:rPr lang="en-US" sz="1050" dirty="0">
                <a:solidFill>
                  <a:srgbClr val="1E6B40"/>
                </a:solidFill>
                <a:latin typeface="Calibri" pitchFamily="34" charset="0"/>
                <a:ea typeface="Calibri" pitchFamily="34" charset="-122"/>
                <a:cs typeface="Calibri" pitchFamily="34" charset="-120"/>
              </a:rPr>
              <a:t>: receptors fit → </a:t>
            </a:r>
            <a:r>
              <a:rPr lang="en-US" sz="1050" b="1" dirty="0">
                <a:solidFill>
                  <a:srgbClr val="1E6B40"/>
                </a:solidFill>
                <a:latin typeface="Calibri" pitchFamily="34" charset="0"/>
                <a:ea typeface="Calibri" pitchFamily="34" charset="-122"/>
                <a:cs typeface="Calibri" pitchFamily="34" charset="-120"/>
              </a:rPr>
              <a:t>responds</a:t>
            </a:r>
            <a:endParaRPr lang="en-US" sz="1050" dirty="0"/>
          </a:p>
        </p:txBody>
      </p:sp>
      <p:sp>
        <p:nvSpPr>
          <p:cNvPr id="40" name="Shape 38"/>
          <p:cNvSpPr/>
          <p:nvPr/>
        </p:nvSpPr>
        <p:spPr>
          <a:xfrm>
            <a:off x="3657600" y="3954780"/>
            <a:ext cx="1828800" cy="960120"/>
          </a:xfrm>
          <a:prstGeom prst="ellipse">
            <a:avLst/>
          </a:prstGeom>
          <a:solidFill>
            <a:srgbClr val="FBF3DF"/>
          </a:solidFill>
          <a:ln w="19050">
            <a:solidFill>
              <a:srgbClr val="8A6D3B"/>
            </a:solidFill>
            <a:prstDash val="solid"/>
          </a:ln>
        </p:spPr>
      </p:sp>
      <p:sp>
        <p:nvSpPr>
          <p:cNvPr id="41" name="Shape 39"/>
          <p:cNvSpPr/>
          <p:nvPr/>
        </p:nvSpPr>
        <p:spPr>
          <a:xfrm>
            <a:off x="4416552" y="4370832"/>
            <a:ext cx="310896" cy="310896"/>
          </a:xfrm>
          <a:prstGeom prst="ellipse">
            <a:avLst/>
          </a:prstGeom>
          <a:solidFill>
            <a:srgbClr val="C9B6E4"/>
          </a:solidFill>
          <a:ln w="12700">
            <a:solidFill>
              <a:srgbClr val="6A4C93"/>
            </a:solidFill>
            <a:prstDash val="solid"/>
          </a:ln>
        </p:spPr>
      </p:sp>
      <p:sp>
        <p:nvSpPr>
          <p:cNvPr id="42" name="Shape 40"/>
          <p:cNvSpPr/>
          <p:nvPr/>
        </p:nvSpPr>
        <p:spPr>
          <a:xfrm>
            <a:off x="3977640" y="3959352"/>
            <a:ext cx="182880" cy="146304"/>
          </a:xfrm>
          <a:prstGeom prst="rect">
            <a:avLst/>
          </a:prstGeom>
          <a:solidFill>
            <a:srgbClr val="7FA9E0"/>
          </a:solidFill>
          <a:ln w="9525">
            <a:solidFill>
              <a:srgbClr val="2F5F8F"/>
            </a:solidFill>
            <a:prstDash val="solid"/>
          </a:ln>
        </p:spPr>
      </p:sp>
      <p:sp>
        <p:nvSpPr>
          <p:cNvPr id="43" name="Shape 41"/>
          <p:cNvSpPr/>
          <p:nvPr/>
        </p:nvSpPr>
        <p:spPr>
          <a:xfrm>
            <a:off x="4480560" y="3959352"/>
            <a:ext cx="182880" cy="146304"/>
          </a:xfrm>
          <a:prstGeom prst="rect">
            <a:avLst/>
          </a:prstGeom>
          <a:solidFill>
            <a:srgbClr val="7FA9E0"/>
          </a:solidFill>
          <a:ln w="9525">
            <a:solidFill>
              <a:srgbClr val="2F5F8F"/>
            </a:solidFill>
            <a:prstDash val="solid"/>
          </a:ln>
        </p:spPr>
      </p:sp>
      <p:sp>
        <p:nvSpPr>
          <p:cNvPr id="44" name="Shape 42"/>
          <p:cNvSpPr/>
          <p:nvPr/>
        </p:nvSpPr>
        <p:spPr>
          <a:xfrm>
            <a:off x="4983480" y="3959352"/>
            <a:ext cx="182880" cy="146304"/>
          </a:xfrm>
          <a:prstGeom prst="rect">
            <a:avLst/>
          </a:prstGeom>
          <a:solidFill>
            <a:srgbClr val="7FA9E0"/>
          </a:solidFill>
          <a:ln w="9525">
            <a:solidFill>
              <a:srgbClr val="2F5F8F"/>
            </a:solidFill>
            <a:prstDash val="solid"/>
          </a:ln>
        </p:spPr>
      </p:sp>
      <p:sp>
        <p:nvSpPr>
          <p:cNvPr id="45" name="Shape 43"/>
          <p:cNvSpPr/>
          <p:nvPr/>
        </p:nvSpPr>
        <p:spPr>
          <a:xfrm>
            <a:off x="4727448" y="3630168"/>
            <a:ext cx="146304" cy="131674"/>
          </a:xfrm>
          <a:prstGeom prst="triangle">
            <a:avLst/>
          </a:prstGeom>
          <a:solidFill>
            <a:srgbClr val="E08A1E"/>
          </a:solidFill>
          <a:ln w="9525">
            <a:solidFill>
              <a:srgbClr val="9A5A0A"/>
            </a:solidFill>
            <a:prstDash val="solid"/>
          </a:ln>
        </p:spPr>
      </p:sp>
      <p:sp>
        <p:nvSpPr>
          <p:cNvPr id="46" name="Text 44"/>
          <p:cNvSpPr/>
          <p:nvPr/>
        </p:nvSpPr>
        <p:spPr>
          <a:xfrm>
            <a:off x="3520440" y="4983480"/>
            <a:ext cx="2194560" cy="365760"/>
          </a:xfrm>
          <a:prstGeom prst="rect">
            <a:avLst/>
          </a:prstGeom>
          <a:noFill/>
          <a:ln/>
        </p:spPr>
        <p:txBody>
          <a:bodyPr wrap="square" lIns="0" tIns="0" rIns="0" bIns="0" rtlCol="0" anchor="ctr"/>
          <a:lstStyle/>
          <a:p>
            <a:pPr algn="ctr" indent="0" marL="0">
              <a:buNone/>
            </a:pPr>
            <a:r>
              <a:rPr lang="en-US" sz="1050" b="1" dirty="0">
                <a:solidFill>
                  <a:srgbClr val="6B7385"/>
                </a:solidFill>
                <a:latin typeface="Calibri" pitchFamily="34" charset="0"/>
                <a:ea typeface="Calibri" pitchFamily="34" charset="-122"/>
                <a:cs typeface="Calibri" pitchFamily="34" charset="-120"/>
              </a:rPr>
              <a:t>non-target cell</a:t>
            </a:r>
            <a:r>
              <a:rPr lang="en-US" sz="1050" dirty="0">
                <a:solidFill>
                  <a:srgbClr val="6B7385"/>
                </a:solidFill>
                <a:latin typeface="Calibri" pitchFamily="34" charset="0"/>
                <a:ea typeface="Calibri" pitchFamily="34" charset="-122"/>
                <a:cs typeface="Calibri" pitchFamily="34" charset="-120"/>
              </a:rPr>
              <a:t>: no matching receptor → </a:t>
            </a:r>
            <a:r>
              <a:rPr lang="en-US" sz="1050" b="1" dirty="0">
                <a:solidFill>
                  <a:srgbClr val="6B7385"/>
                </a:solidFill>
                <a:latin typeface="Calibri" pitchFamily="34" charset="0"/>
                <a:ea typeface="Calibri" pitchFamily="34" charset="-122"/>
                <a:cs typeface="Calibri" pitchFamily="34" charset="-120"/>
              </a:rPr>
              <a:t>no effect</a:t>
            </a:r>
            <a:endParaRPr lang="en-US" sz="1050" dirty="0"/>
          </a:p>
        </p:txBody>
      </p:sp>
      <p:sp>
        <p:nvSpPr>
          <p:cNvPr id="47" name="Shape 45"/>
          <p:cNvSpPr/>
          <p:nvPr/>
        </p:nvSpPr>
        <p:spPr>
          <a:xfrm>
            <a:off x="6217920" y="1188720"/>
            <a:ext cx="5562295" cy="2423160"/>
          </a:xfrm>
          <a:prstGeom prst="roundRect">
            <a:avLst>
              <a:gd name="adj" fmla="val 2264"/>
            </a:avLst>
          </a:prstGeom>
          <a:solidFill>
            <a:srgbClr val="F5FBF7"/>
          </a:solidFill>
          <a:ln w="9525">
            <a:solidFill>
              <a:srgbClr val="D2E5D8"/>
            </a:solidFill>
            <a:prstDash val="solid"/>
          </a:ln>
        </p:spPr>
      </p:sp>
      <p:sp>
        <p:nvSpPr>
          <p:cNvPr id="48" name="Text 4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Hormones are chemical messengers</a:t>
            </a:r>
            <a:endParaRPr lang="en-US" sz="1300" dirty="0"/>
          </a:p>
        </p:txBody>
      </p:sp>
      <p:sp>
        <p:nvSpPr>
          <p:cNvPr id="49" name="Text 47"/>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hormone</a:t>
            </a:r>
            <a:r>
              <a:rPr lang="en-US" sz="1150" dirty="0">
                <a:solidFill>
                  <a:srgbClr val="262B3A"/>
                </a:solidFill>
                <a:latin typeface="Calibri" pitchFamily="34" charset="0"/>
                <a:ea typeface="Calibri" pitchFamily="34" charset="-122"/>
                <a:cs typeface="Calibri" pitchFamily="34" charset="-120"/>
              </a:rPr>
              <a:t> is a chemical made by an </a:t>
            </a:r>
            <a:r>
              <a:rPr lang="en-US" sz="1150" b="1" dirty="0">
                <a:solidFill>
                  <a:srgbClr val="262B3A"/>
                </a:solidFill>
                <a:latin typeface="Calibri" pitchFamily="34" charset="0"/>
                <a:ea typeface="Calibri" pitchFamily="34" charset="-122"/>
                <a:cs typeface="Calibri" pitchFamily="34" charset="-120"/>
              </a:rPr>
              <a:t>endocrine gland</a:t>
            </a:r>
            <a:r>
              <a:rPr lang="en-US" sz="1150" dirty="0">
                <a:solidFill>
                  <a:srgbClr val="262B3A"/>
                </a:solidFill>
                <a:latin typeface="Calibri" pitchFamily="34" charset="0"/>
                <a:ea typeface="Calibri" pitchFamily="34" charset="-122"/>
                <a:cs typeface="Calibri" pitchFamily="34" charset="-120"/>
              </a:rPr>
              <a:t> and secreted </a:t>
            </a:r>
            <a:r>
              <a:rPr lang="en-US" sz="1150" b="1" dirty="0">
                <a:solidFill>
                  <a:srgbClr val="262B3A"/>
                </a:solidFill>
                <a:latin typeface="Calibri" pitchFamily="34" charset="0"/>
                <a:ea typeface="Calibri" pitchFamily="34" charset="-122"/>
                <a:cs typeface="Calibri" pitchFamily="34" charset="-120"/>
              </a:rPr>
              <a:t>directly into the bloodstream</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It is carried in the </a:t>
            </a:r>
            <a:r>
              <a:rPr lang="en-US" sz="1150" b="1" dirty="0">
                <a:solidFill>
                  <a:srgbClr val="262B3A"/>
                </a:solidFill>
                <a:latin typeface="Calibri" pitchFamily="34" charset="0"/>
                <a:ea typeface="Calibri" pitchFamily="34" charset="-122"/>
                <a:cs typeface="Calibri" pitchFamily="34" charset="-120"/>
              </a:rPr>
              <a:t>blood plasma</a:t>
            </a:r>
            <a:r>
              <a:rPr lang="en-US" sz="1150" dirty="0">
                <a:solidFill>
                  <a:srgbClr val="262B3A"/>
                </a:solidFill>
                <a:latin typeface="Calibri" pitchFamily="34" charset="0"/>
                <a:ea typeface="Calibri" pitchFamily="34" charset="-122"/>
                <a:cs typeface="Calibri" pitchFamily="34" charset="-120"/>
              </a:rPr>
              <a:t> all round the body, but only </a:t>
            </a:r>
            <a:r>
              <a:rPr lang="en-US" sz="1150" b="1" dirty="0">
                <a:solidFill>
                  <a:srgbClr val="262B3A"/>
                </a:solidFill>
                <a:latin typeface="Calibri" pitchFamily="34" charset="0"/>
                <a:ea typeface="Calibri" pitchFamily="34" charset="-122"/>
                <a:cs typeface="Calibri" pitchFamily="34" charset="-120"/>
              </a:rPr>
              <a:t>target organs</a:t>
            </a:r>
            <a:r>
              <a:rPr lang="en-US" sz="1150" dirty="0">
                <a:solidFill>
                  <a:srgbClr val="262B3A"/>
                </a:solidFill>
                <a:latin typeface="Calibri" pitchFamily="34" charset="0"/>
                <a:ea typeface="Calibri" pitchFamily="34" charset="-122"/>
                <a:cs typeface="Calibri" pitchFamily="34" charset="-120"/>
              </a:rPr>
              <a:t> respond: their cells have </a:t>
            </a:r>
            <a:r>
              <a:rPr lang="en-US" sz="1150" b="1" dirty="0">
                <a:solidFill>
                  <a:srgbClr val="262B3A"/>
                </a:solidFill>
                <a:latin typeface="Calibri" pitchFamily="34" charset="0"/>
                <a:ea typeface="Calibri" pitchFamily="34" charset="-122"/>
                <a:cs typeface="Calibri" pitchFamily="34" charset="-120"/>
              </a:rPr>
              <a:t>receptors</a:t>
            </a:r>
            <a:r>
              <a:rPr lang="en-US" sz="1150" dirty="0">
                <a:solidFill>
                  <a:srgbClr val="262B3A"/>
                </a:solidFill>
                <a:latin typeface="Calibri" pitchFamily="34" charset="0"/>
                <a:ea typeface="Calibri" pitchFamily="34" charset="-122"/>
                <a:cs typeface="Calibri" pitchFamily="34" charset="-120"/>
              </a:rPr>
              <a:t> that the hormone fits.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Hormonal responses are </a:t>
            </a:r>
            <a:r>
              <a:rPr lang="en-US" sz="1150" b="1" dirty="0">
                <a:solidFill>
                  <a:srgbClr val="262B3A"/>
                </a:solidFill>
                <a:latin typeface="Calibri" pitchFamily="34" charset="0"/>
                <a:ea typeface="Calibri" pitchFamily="34" charset="-122"/>
                <a:cs typeface="Calibri" pitchFamily="34" charset="-120"/>
              </a:rPr>
              <a:t>slower</a:t>
            </a:r>
            <a:r>
              <a:rPr lang="en-US" sz="1150" dirty="0">
                <a:solidFill>
                  <a:srgbClr val="262B3A"/>
                </a:solidFill>
                <a:latin typeface="Calibri" pitchFamily="34" charset="0"/>
                <a:ea typeface="Calibri" pitchFamily="34" charset="-122"/>
                <a:cs typeface="Calibri" pitchFamily="34" charset="-120"/>
              </a:rPr>
              <a:t> to start than nervous responses but usually </a:t>
            </a:r>
            <a:r>
              <a:rPr lang="en-US" sz="1150" b="1" dirty="0">
                <a:solidFill>
                  <a:srgbClr val="262B3A"/>
                </a:solidFill>
                <a:latin typeface="Calibri" pitchFamily="34" charset="0"/>
                <a:ea typeface="Calibri" pitchFamily="34" charset="-122"/>
                <a:cs typeface="Calibri" pitchFamily="34" charset="-120"/>
              </a:rPr>
              <a:t>last longer</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50" name="Shape 48"/>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1" name="Text 49"/>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Compare: nervous vs hormonal</a:t>
            </a:r>
            <a:endParaRPr lang="en-US" sz="1300" dirty="0"/>
          </a:p>
        </p:txBody>
      </p:sp>
      <p:sp>
        <p:nvSpPr>
          <p:cNvPr id="52" name="Text 50"/>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1 Signal   </a:t>
            </a:r>
            <a:r>
              <a:rPr lang="en-US" sz="1100" dirty="0">
                <a:solidFill>
                  <a:srgbClr val="262B3A"/>
                </a:solidFill>
                <a:latin typeface="Calibri" pitchFamily="34" charset="0"/>
                <a:ea typeface="Calibri" pitchFamily="34" charset="-122"/>
                <a:cs typeface="Calibri" pitchFamily="34" charset="-120"/>
              </a:rPr>
              <a:t>electrical impulse in neurones / chemical in the blood</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2 Speed   </a:t>
            </a:r>
            <a:r>
              <a:rPr lang="en-US" sz="1100" dirty="0">
                <a:solidFill>
                  <a:srgbClr val="262B3A"/>
                </a:solidFill>
                <a:latin typeface="Calibri" pitchFamily="34" charset="0"/>
                <a:ea typeface="Calibri" pitchFamily="34" charset="-122"/>
                <a:cs typeface="Calibri" pitchFamily="34" charset="-120"/>
              </a:rPr>
              <a:t>very fast / slower</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3 Duration   </a:t>
            </a:r>
            <a:r>
              <a:rPr lang="en-US" sz="1100" dirty="0">
                <a:solidFill>
                  <a:srgbClr val="262B3A"/>
                </a:solidFill>
                <a:latin typeface="Calibri" pitchFamily="34" charset="0"/>
                <a:ea typeface="Calibri" pitchFamily="34" charset="-122"/>
                <a:cs typeface="Calibri" pitchFamily="34" charset="-120"/>
              </a:rPr>
              <a:t>short / longer lasting</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nerves: precise, rapid; hormones: widespread, long-lasting</a:t>
            </a:r>
            <a:endParaRPr lang="en-US" sz="1100" dirty="0"/>
          </a:p>
        </p:txBody>
      </p:sp>
      <p:sp>
        <p:nvSpPr>
          <p:cNvPr id="53" name="Shape 51"/>
          <p:cNvSpPr/>
          <p:nvPr/>
        </p:nvSpPr>
        <p:spPr>
          <a:xfrm>
            <a:off x="411480" y="5833872"/>
            <a:ext cx="11368735" cy="530352"/>
          </a:xfrm>
          <a:prstGeom prst="rect">
            <a:avLst/>
          </a:prstGeom>
          <a:solidFill>
            <a:srgbClr val="FFF4E0"/>
          </a:solidFill>
          <a:ln w="6350">
            <a:solidFill>
              <a:srgbClr val="F1D9A8"/>
            </a:solidFill>
            <a:prstDash val="solid"/>
          </a:ln>
        </p:spPr>
      </p:sp>
      <p:sp>
        <p:nvSpPr>
          <p:cNvPr id="54" name="Shape 52"/>
          <p:cNvSpPr/>
          <p:nvPr/>
        </p:nvSpPr>
        <p:spPr>
          <a:xfrm>
            <a:off x="411480" y="5833872"/>
            <a:ext cx="82296" cy="530352"/>
          </a:xfrm>
          <a:prstGeom prst="rect">
            <a:avLst/>
          </a:prstGeom>
          <a:solidFill>
            <a:srgbClr val="E39A2F"/>
          </a:solidFill>
          <a:ln w="12700">
            <a:solidFill>
              <a:srgbClr val="E39A2F"/>
            </a:solidFill>
            <a:prstDash val="solid"/>
          </a:ln>
        </p:spPr>
      </p:sp>
      <p:sp>
        <p:nvSpPr>
          <p:cNvPr id="55" name="Text 5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Insulin travels all round the body in the blood. Explain why it affects liver cells but not skin cells... (hint: receptors)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Adrenalin: fight or flight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7.2 • adrenal glands prepare the body for action</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7.2  |  7</a:t>
            </a:r>
            <a:endParaRPr lang="en-US" sz="1000" dirty="0"/>
          </a:p>
        </p:txBody>
      </p:sp>
      <p:sp>
        <p:nvSpPr>
          <p:cNvPr id="10" name="Shape 8"/>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adrenalin travels in the blood to several target organs</a:t>
            </a:r>
            <a:endParaRPr lang="en-US" sz="1000" dirty="0"/>
          </a:p>
        </p:txBody>
      </p:sp>
      <p:sp>
        <p:nvSpPr>
          <p:cNvPr id="12" name="Shape 10"/>
          <p:cNvSpPr/>
          <p:nvPr/>
        </p:nvSpPr>
        <p:spPr>
          <a:xfrm rot="420000">
            <a:off x="2206996" y="2185416"/>
            <a:ext cx="248351" cy="1640891"/>
          </a:xfrm>
          <a:prstGeom prst="roundRect">
            <a:avLst>
              <a:gd name="adj" fmla="val 45000"/>
            </a:avLst>
          </a:prstGeom>
          <a:solidFill>
            <a:srgbClr val="F6DDC8"/>
          </a:solidFill>
          <a:ln w="31750">
            <a:solidFill>
              <a:srgbClr val="B98E6E"/>
            </a:solidFill>
            <a:prstDash val="solid"/>
          </a:ln>
        </p:spPr>
      </p:sp>
      <p:sp>
        <p:nvSpPr>
          <p:cNvPr id="13" name="Shape 11"/>
          <p:cNvSpPr/>
          <p:nvPr/>
        </p:nvSpPr>
        <p:spPr>
          <a:xfrm rot="-420000">
            <a:off x="3945453" y="2185416"/>
            <a:ext cx="248351" cy="1640891"/>
          </a:xfrm>
          <a:prstGeom prst="roundRect">
            <a:avLst>
              <a:gd name="adj" fmla="val 45000"/>
            </a:avLst>
          </a:prstGeom>
          <a:solidFill>
            <a:srgbClr val="F6DDC8"/>
          </a:solidFill>
          <a:ln w="31750">
            <a:solidFill>
              <a:srgbClr val="B98E6E"/>
            </a:solidFill>
            <a:prstDash val="solid"/>
          </a:ln>
        </p:spPr>
      </p:sp>
      <p:sp>
        <p:nvSpPr>
          <p:cNvPr id="14" name="Shape 12"/>
          <p:cNvSpPr/>
          <p:nvPr/>
        </p:nvSpPr>
        <p:spPr>
          <a:xfrm>
            <a:off x="2632740" y="3604565"/>
            <a:ext cx="478963" cy="1729588"/>
          </a:xfrm>
          <a:prstGeom prst="roundRect">
            <a:avLst>
              <a:gd name="adj" fmla="val 45000"/>
            </a:avLst>
          </a:prstGeom>
          <a:solidFill>
            <a:srgbClr val="F6DDC8"/>
          </a:solidFill>
          <a:ln w="31750">
            <a:solidFill>
              <a:srgbClr val="B98E6E"/>
            </a:solidFill>
            <a:prstDash val="solid"/>
          </a:ln>
        </p:spPr>
      </p:sp>
      <p:sp>
        <p:nvSpPr>
          <p:cNvPr id="15" name="Shape 13"/>
          <p:cNvSpPr/>
          <p:nvPr/>
        </p:nvSpPr>
        <p:spPr>
          <a:xfrm>
            <a:off x="3289097" y="3604565"/>
            <a:ext cx="478963" cy="1729588"/>
          </a:xfrm>
          <a:prstGeom prst="roundRect">
            <a:avLst>
              <a:gd name="adj" fmla="val 45000"/>
            </a:avLst>
          </a:prstGeom>
          <a:solidFill>
            <a:srgbClr val="F6DDC8"/>
          </a:solidFill>
          <a:ln w="31750">
            <a:solidFill>
              <a:srgbClr val="B98E6E"/>
            </a:solidFill>
            <a:prstDash val="solid"/>
          </a:ln>
        </p:spPr>
      </p:sp>
      <p:sp>
        <p:nvSpPr>
          <p:cNvPr id="16" name="Shape 14"/>
          <p:cNvSpPr/>
          <p:nvPr/>
        </p:nvSpPr>
        <p:spPr>
          <a:xfrm>
            <a:off x="2490826" y="2114459"/>
            <a:ext cx="1419149" cy="1773936"/>
          </a:xfrm>
          <a:prstGeom prst="roundRect">
            <a:avLst>
              <a:gd name="adj" fmla="val 45000"/>
            </a:avLst>
          </a:prstGeom>
          <a:solidFill>
            <a:srgbClr val="F6DDC8"/>
          </a:solidFill>
          <a:ln w="31750">
            <a:solidFill>
              <a:srgbClr val="B98E6E"/>
            </a:solidFill>
            <a:prstDash val="solid"/>
          </a:ln>
        </p:spPr>
      </p:sp>
      <p:sp>
        <p:nvSpPr>
          <p:cNvPr id="17" name="Shape 15"/>
          <p:cNvSpPr/>
          <p:nvPr/>
        </p:nvSpPr>
        <p:spPr>
          <a:xfrm>
            <a:off x="3085094" y="1919326"/>
            <a:ext cx="230612" cy="266090"/>
          </a:xfrm>
          <a:prstGeom prst="rect">
            <a:avLst/>
          </a:prstGeom>
          <a:solidFill>
            <a:srgbClr val="F6DDC8"/>
          </a:solidFill>
          <a:ln w="31750">
            <a:solidFill>
              <a:srgbClr val="B98E6E"/>
            </a:solidFill>
            <a:prstDash val="solid"/>
          </a:ln>
        </p:spPr>
      </p:sp>
      <p:sp>
        <p:nvSpPr>
          <p:cNvPr id="18" name="Shape 16"/>
          <p:cNvSpPr/>
          <p:nvPr/>
        </p:nvSpPr>
        <p:spPr>
          <a:xfrm>
            <a:off x="2907701" y="1298448"/>
            <a:ext cx="585399" cy="709574"/>
          </a:xfrm>
          <a:prstGeom prst="ellipse">
            <a:avLst/>
          </a:prstGeom>
          <a:solidFill>
            <a:srgbClr val="F6DDC8"/>
          </a:solidFill>
          <a:ln w="31750">
            <a:solidFill>
              <a:srgbClr val="B98E6E"/>
            </a:solidFill>
            <a:prstDash val="solid"/>
          </a:ln>
        </p:spPr>
      </p:sp>
      <p:sp>
        <p:nvSpPr>
          <p:cNvPr id="19" name="Shape 17"/>
          <p:cNvSpPr/>
          <p:nvPr/>
        </p:nvSpPr>
        <p:spPr>
          <a:xfrm rot="420000">
            <a:off x="2206996" y="2185416"/>
            <a:ext cx="248351" cy="1640891"/>
          </a:xfrm>
          <a:prstGeom prst="roundRect">
            <a:avLst>
              <a:gd name="adj" fmla="val 45000"/>
            </a:avLst>
          </a:prstGeom>
          <a:solidFill>
            <a:srgbClr val="F6DDC8"/>
          </a:solidFill>
          <a:ln/>
        </p:spPr>
      </p:sp>
      <p:sp>
        <p:nvSpPr>
          <p:cNvPr id="20" name="Shape 18"/>
          <p:cNvSpPr/>
          <p:nvPr/>
        </p:nvSpPr>
        <p:spPr>
          <a:xfrm rot="-420000">
            <a:off x="3945453" y="2185416"/>
            <a:ext cx="248351" cy="1640891"/>
          </a:xfrm>
          <a:prstGeom prst="roundRect">
            <a:avLst>
              <a:gd name="adj" fmla="val 45000"/>
            </a:avLst>
          </a:prstGeom>
          <a:solidFill>
            <a:srgbClr val="F6DDC8"/>
          </a:solidFill>
          <a:ln/>
        </p:spPr>
      </p:sp>
      <p:sp>
        <p:nvSpPr>
          <p:cNvPr id="21" name="Shape 19"/>
          <p:cNvSpPr/>
          <p:nvPr/>
        </p:nvSpPr>
        <p:spPr>
          <a:xfrm>
            <a:off x="2632740" y="3604565"/>
            <a:ext cx="478963" cy="1729588"/>
          </a:xfrm>
          <a:prstGeom prst="roundRect">
            <a:avLst>
              <a:gd name="adj" fmla="val 45000"/>
            </a:avLst>
          </a:prstGeom>
          <a:solidFill>
            <a:srgbClr val="F6DDC8"/>
          </a:solidFill>
          <a:ln/>
        </p:spPr>
      </p:sp>
      <p:sp>
        <p:nvSpPr>
          <p:cNvPr id="22" name="Shape 20"/>
          <p:cNvSpPr/>
          <p:nvPr/>
        </p:nvSpPr>
        <p:spPr>
          <a:xfrm>
            <a:off x="3289097" y="3604565"/>
            <a:ext cx="478963" cy="1729588"/>
          </a:xfrm>
          <a:prstGeom prst="roundRect">
            <a:avLst>
              <a:gd name="adj" fmla="val 45000"/>
            </a:avLst>
          </a:prstGeom>
          <a:solidFill>
            <a:srgbClr val="F6DDC8"/>
          </a:solidFill>
          <a:ln/>
        </p:spPr>
      </p:sp>
      <p:sp>
        <p:nvSpPr>
          <p:cNvPr id="23" name="Shape 21"/>
          <p:cNvSpPr/>
          <p:nvPr/>
        </p:nvSpPr>
        <p:spPr>
          <a:xfrm>
            <a:off x="2490826" y="2114459"/>
            <a:ext cx="1419149" cy="1773936"/>
          </a:xfrm>
          <a:prstGeom prst="roundRect">
            <a:avLst>
              <a:gd name="adj" fmla="val 45000"/>
            </a:avLst>
          </a:prstGeom>
          <a:solidFill>
            <a:srgbClr val="F6DDC8"/>
          </a:solidFill>
          <a:ln/>
        </p:spPr>
      </p:sp>
      <p:sp>
        <p:nvSpPr>
          <p:cNvPr id="24" name="Shape 22"/>
          <p:cNvSpPr/>
          <p:nvPr/>
        </p:nvSpPr>
        <p:spPr>
          <a:xfrm>
            <a:off x="3085094" y="1919326"/>
            <a:ext cx="230612" cy="266090"/>
          </a:xfrm>
          <a:prstGeom prst="rect">
            <a:avLst/>
          </a:prstGeom>
          <a:solidFill>
            <a:srgbClr val="F6DDC8"/>
          </a:solidFill>
          <a:ln/>
        </p:spPr>
      </p:sp>
      <p:sp>
        <p:nvSpPr>
          <p:cNvPr id="25" name="Shape 23"/>
          <p:cNvSpPr/>
          <p:nvPr/>
        </p:nvSpPr>
        <p:spPr>
          <a:xfrm>
            <a:off x="2907701" y="1298448"/>
            <a:ext cx="585399" cy="709574"/>
          </a:xfrm>
          <a:prstGeom prst="ellipse">
            <a:avLst/>
          </a:prstGeom>
          <a:solidFill>
            <a:srgbClr val="F6DDC8"/>
          </a:solidFill>
          <a:ln/>
        </p:spPr>
      </p:sp>
      <p:sp>
        <p:nvSpPr>
          <p:cNvPr id="26" name="Shape 24"/>
          <p:cNvSpPr/>
          <p:nvPr/>
        </p:nvSpPr>
        <p:spPr>
          <a:xfrm>
            <a:off x="3200400" y="3915004"/>
            <a:ext cx="91" cy="1374800"/>
          </a:xfrm>
          <a:prstGeom prst="line">
            <a:avLst/>
          </a:prstGeom>
          <a:noFill/>
          <a:ln w="15875">
            <a:solidFill>
              <a:srgbClr val="B98E6E"/>
            </a:solidFill>
            <a:prstDash val="solid"/>
          </a:ln>
        </p:spPr>
      </p:sp>
      <p:sp>
        <p:nvSpPr>
          <p:cNvPr id="27" name="Shape 25"/>
          <p:cNvSpPr/>
          <p:nvPr/>
        </p:nvSpPr>
        <p:spPr>
          <a:xfrm>
            <a:off x="2969788" y="1404884"/>
            <a:ext cx="461223" cy="319308"/>
          </a:xfrm>
          <a:prstGeom prst="ellipse">
            <a:avLst/>
          </a:prstGeom>
          <a:solidFill>
            <a:srgbClr val="F4C7D0"/>
          </a:solidFill>
          <a:ln w="9525">
            <a:solidFill>
              <a:srgbClr val="C98393"/>
            </a:solidFill>
            <a:prstDash val="solid"/>
          </a:ln>
        </p:spPr>
      </p:sp>
      <p:sp>
        <p:nvSpPr>
          <p:cNvPr id="28" name="Shape 26"/>
          <p:cNvSpPr/>
          <p:nvPr/>
        </p:nvSpPr>
        <p:spPr>
          <a:xfrm>
            <a:off x="3151617" y="1719758"/>
            <a:ext cx="97566" cy="97566"/>
          </a:xfrm>
          <a:prstGeom prst="ellipse">
            <a:avLst/>
          </a:prstGeom>
          <a:solidFill>
            <a:srgbClr val="C8414C"/>
          </a:solidFill>
          <a:ln w="12700">
            <a:solidFill>
              <a:srgbClr val="8E2A33"/>
            </a:solidFill>
            <a:prstDash val="solid"/>
          </a:ln>
        </p:spPr>
      </p:sp>
      <p:sp>
        <p:nvSpPr>
          <p:cNvPr id="29" name="Shape 27"/>
          <p:cNvSpPr/>
          <p:nvPr/>
        </p:nvSpPr>
        <p:spPr>
          <a:xfrm>
            <a:off x="2819004" y="3036905"/>
            <a:ext cx="177394" cy="283830"/>
          </a:xfrm>
          <a:prstGeom prst="ellipse">
            <a:avLst/>
          </a:prstGeom>
          <a:solidFill>
            <a:srgbClr val="E3C3BE"/>
          </a:solidFill>
          <a:ln w="9525">
            <a:solidFill>
              <a:srgbClr val="B08A84"/>
            </a:solidFill>
            <a:prstDash val="solid"/>
          </a:ln>
        </p:spPr>
      </p:sp>
      <p:sp>
        <p:nvSpPr>
          <p:cNvPr id="30" name="Shape 28"/>
          <p:cNvSpPr/>
          <p:nvPr/>
        </p:nvSpPr>
        <p:spPr>
          <a:xfrm>
            <a:off x="2819004" y="2912730"/>
            <a:ext cx="177394" cy="133045"/>
          </a:xfrm>
          <a:custGeom>
            <a:avLst/>
            <a:gdLst/>
            <a:ahLst/>
            <a:cxnLst/>
            <a:rect l="l" t="t" r="r" b="b"/>
            <a:pathLst>
              <a:path w="177394" h="133045">
                <a:moveTo>
                  <a:pt x="0" y="133045"/>
                </a:moveTo>
                <a:lnTo>
                  <a:pt x="177394" y="133045"/>
                </a:lnTo>
                <a:lnTo>
                  <a:pt x="88697" y="0"/>
                </a:lnTo>
                <a:close/>
              </a:path>
            </a:pathLst>
          </a:custGeom>
          <a:solidFill>
            <a:srgbClr val="E08A1E"/>
          </a:solidFill>
          <a:ln w="12700">
            <a:solidFill>
              <a:srgbClr val="9A5A0A"/>
            </a:solidFill>
            <a:prstDash val="solid"/>
          </a:ln>
        </p:spPr>
      </p:sp>
      <p:sp>
        <p:nvSpPr>
          <p:cNvPr id="31" name="Shape 29"/>
          <p:cNvSpPr/>
          <p:nvPr/>
        </p:nvSpPr>
        <p:spPr>
          <a:xfrm>
            <a:off x="3404403" y="3036905"/>
            <a:ext cx="177394" cy="283830"/>
          </a:xfrm>
          <a:prstGeom prst="ellipse">
            <a:avLst/>
          </a:prstGeom>
          <a:solidFill>
            <a:srgbClr val="E3C3BE"/>
          </a:solidFill>
          <a:ln w="9525">
            <a:solidFill>
              <a:srgbClr val="B08A84"/>
            </a:solidFill>
            <a:prstDash val="solid"/>
          </a:ln>
        </p:spPr>
      </p:sp>
      <p:sp>
        <p:nvSpPr>
          <p:cNvPr id="32" name="Shape 30"/>
          <p:cNvSpPr/>
          <p:nvPr/>
        </p:nvSpPr>
        <p:spPr>
          <a:xfrm>
            <a:off x="3404403" y="2912730"/>
            <a:ext cx="177394" cy="133045"/>
          </a:xfrm>
          <a:custGeom>
            <a:avLst/>
            <a:gdLst/>
            <a:ahLst/>
            <a:cxnLst/>
            <a:rect l="l" t="t" r="r" b="b"/>
            <a:pathLst>
              <a:path w="177394" h="133045">
                <a:moveTo>
                  <a:pt x="0" y="133045"/>
                </a:moveTo>
                <a:lnTo>
                  <a:pt x="177394" y="133045"/>
                </a:lnTo>
                <a:lnTo>
                  <a:pt x="88697" y="0"/>
                </a:lnTo>
                <a:close/>
              </a:path>
            </a:pathLst>
          </a:custGeom>
          <a:solidFill>
            <a:srgbClr val="E08A1E"/>
          </a:solidFill>
          <a:ln w="12700">
            <a:solidFill>
              <a:srgbClr val="9A5A0A"/>
            </a:solidFill>
            <a:prstDash val="solid"/>
          </a:ln>
        </p:spPr>
      </p:sp>
      <p:sp>
        <p:nvSpPr>
          <p:cNvPr id="33" name="Shape 31"/>
          <p:cNvSpPr/>
          <p:nvPr/>
        </p:nvSpPr>
        <p:spPr>
          <a:xfrm>
            <a:off x="3143250" y="2349551"/>
            <a:ext cx="204826" cy="204826"/>
          </a:xfrm>
          <a:prstGeom prst="ellipse">
            <a:avLst/>
          </a:prstGeom>
          <a:solidFill>
            <a:srgbClr val="D9534F"/>
          </a:solidFill>
          <a:ln w="12700">
            <a:solidFill>
              <a:srgbClr val="8E2A33"/>
            </a:solidFill>
            <a:prstDash val="solid"/>
          </a:ln>
        </p:spPr>
      </p:sp>
      <p:sp>
        <p:nvSpPr>
          <p:cNvPr id="34" name="Shape 32"/>
          <p:cNvSpPr/>
          <p:nvPr/>
        </p:nvSpPr>
        <p:spPr>
          <a:xfrm>
            <a:off x="3318815" y="2349551"/>
            <a:ext cx="204826" cy="204826"/>
          </a:xfrm>
          <a:prstGeom prst="ellipse">
            <a:avLst/>
          </a:prstGeom>
          <a:solidFill>
            <a:srgbClr val="D9534F"/>
          </a:solidFill>
          <a:ln w="12700">
            <a:solidFill>
              <a:srgbClr val="8E2A33"/>
            </a:solidFill>
            <a:prstDash val="solid"/>
          </a:ln>
        </p:spPr>
      </p:sp>
      <p:sp>
        <p:nvSpPr>
          <p:cNvPr id="35" name="Shape 33"/>
          <p:cNvSpPr/>
          <p:nvPr/>
        </p:nvSpPr>
        <p:spPr>
          <a:xfrm rot="10800000">
            <a:off x="3146908" y="2466594"/>
            <a:ext cx="373075" cy="248717"/>
          </a:xfrm>
          <a:prstGeom prst="triangle">
            <a:avLst/>
          </a:prstGeom>
          <a:solidFill>
            <a:srgbClr val="D9534F"/>
          </a:solidFill>
          <a:ln w="6350">
            <a:solidFill>
              <a:srgbClr val="D9534F"/>
            </a:solidFill>
            <a:prstDash val="solid"/>
          </a:ln>
        </p:spPr>
      </p:sp>
      <p:sp>
        <p:nvSpPr>
          <p:cNvPr id="36" name="Shape 34"/>
          <p:cNvSpPr/>
          <p:nvPr/>
        </p:nvSpPr>
        <p:spPr>
          <a:xfrm>
            <a:off x="2561783" y="2628900"/>
            <a:ext cx="620878" cy="354787"/>
          </a:xfrm>
          <a:custGeom>
            <a:avLst/>
            <a:gdLst/>
            <a:ahLst/>
            <a:cxnLst/>
            <a:rect l="l" t="t" r="r" b="b"/>
            <a:pathLst>
              <a:path w="620878" h="354787">
                <a:moveTo>
                  <a:pt x="0" y="53218"/>
                </a:moveTo>
                <a:lnTo>
                  <a:pt x="341483" y="0"/>
                </a:lnTo>
                <a:lnTo>
                  <a:pt x="620878" y="35479"/>
                </a:lnTo>
                <a:lnTo>
                  <a:pt x="465658" y="212872"/>
                </a:lnTo>
                <a:lnTo>
                  <a:pt x="217307" y="354787"/>
                </a:lnTo>
                <a:lnTo>
                  <a:pt x="31044" y="283830"/>
                </a:lnTo>
                <a:close/>
              </a:path>
            </a:pathLst>
          </a:custGeom>
          <a:solidFill>
            <a:srgbClr val="A0522D"/>
          </a:solidFill>
          <a:ln w="15875">
            <a:solidFill>
              <a:srgbClr val="6B3318"/>
            </a:solidFill>
            <a:prstDash val="solid"/>
          </a:ln>
        </p:spPr>
      </p:sp>
      <p:sp>
        <p:nvSpPr>
          <p:cNvPr id="37" name="Shape 35"/>
          <p:cNvSpPr/>
          <p:nvPr/>
        </p:nvSpPr>
        <p:spPr>
          <a:xfrm>
            <a:off x="3288548" y="4040734"/>
            <a:ext cx="480060" cy="192024"/>
          </a:xfrm>
          <a:prstGeom prst="ellipse">
            <a:avLst/>
          </a:prstGeom>
          <a:solidFill>
            <a:srgbClr val="F4B6B9"/>
          </a:solidFill>
          <a:ln w="15875">
            <a:solidFill>
              <a:srgbClr val="A33E48"/>
            </a:solidFill>
            <a:prstDash val="solid"/>
          </a:ln>
        </p:spPr>
      </p:sp>
      <p:sp>
        <p:nvSpPr>
          <p:cNvPr id="38" name="Shape 36"/>
          <p:cNvSpPr/>
          <p:nvPr/>
        </p:nvSpPr>
        <p:spPr>
          <a:xfrm>
            <a:off x="3391418" y="4075024"/>
            <a:ext cx="91" cy="123444"/>
          </a:xfrm>
          <a:prstGeom prst="line">
            <a:avLst/>
          </a:prstGeom>
          <a:noFill/>
          <a:ln w="9525">
            <a:solidFill>
              <a:srgbClr val="C76A72"/>
            </a:solidFill>
            <a:prstDash val="solid"/>
          </a:ln>
        </p:spPr>
      </p:sp>
      <p:sp>
        <p:nvSpPr>
          <p:cNvPr id="39" name="Shape 37"/>
          <p:cNvSpPr/>
          <p:nvPr/>
        </p:nvSpPr>
        <p:spPr>
          <a:xfrm>
            <a:off x="3459998" y="4075024"/>
            <a:ext cx="91" cy="123444"/>
          </a:xfrm>
          <a:prstGeom prst="line">
            <a:avLst/>
          </a:prstGeom>
          <a:noFill/>
          <a:ln w="9525">
            <a:solidFill>
              <a:srgbClr val="C76A72"/>
            </a:solidFill>
            <a:prstDash val="solid"/>
          </a:ln>
        </p:spPr>
      </p:sp>
      <p:sp>
        <p:nvSpPr>
          <p:cNvPr id="40" name="Shape 38"/>
          <p:cNvSpPr/>
          <p:nvPr/>
        </p:nvSpPr>
        <p:spPr>
          <a:xfrm>
            <a:off x="3528578" y="4075024"/>
            <a:ext cx="91" cy="123444"/>
          </a:xfrm>
          <a:prstGeom prst="line">
            <a:avLst/>
          </a:prstGeom>
          <a:noFill/>
          <a:ln w="9525">
            <a:solidFill>
              <a:srgbClr val="C76A72"/>
            </a:solidFill>
            <a:prstDash val="solid"/>
          </a:ln>
        </p:spPr>
      </p:sp>
      <p:sp>
        <p:nvSpPr>
          <p:cNvPr id="41" name="Shape 39"/>
          <p:cNvSpPr/>
          <p:nvPr/>
        </p:nvSpPr>
        <p:spPr>
          <a:xfrm>
            <a:off x="3597158" y="4075024"/>
            <a:ext cx="91" cy="123444"/>
          </a:xfrm>
          <a:prstGeom prst="line">
            <a:avLst/>
          </a:prstGeom>
          <a:noFill/>
          <a:ln w="9525">
            <a:solidFill>
              <a:srgbClr val="C76A72"/>
            </a:solidFill>
            <a:prstDash val="solid"/>
          </a:ln>
        </p:spPr>
      </p:sp>
      <p:sp>
        <p:nvSpPr>
          <p:cNvPr id="42" name="Shape 40"/>
          <p:cNvSpPr/>
          <p:nvPr/>
        </p:nvSpPr>
        <p:spPr>
          <a:xfrm>
            <a:off x="3665738" y="4075024"/>
            <a:ext cx="91" cy="123444"/>
          </a:xfrm>
          <a:prstGeom prst="line">
            <a:avLst/>
          </a:prstGeom>
          <a:noFill/>
          <a:ln w="9525">
            <a:solidFill>
              <a:srgbClr val="C76A72"/>
            </a:solidFill>
            <a:prstDash val="solid"/>
          </a:ln>
        </p:spPr>
      </p:sp>
      <p:sp>
        <p:nvSpPr>
          <p:cNvPr id="43" name="Shape 41"/>
          <p:cNvSpPr/>
          <p:nvPr/>
        </p:nvSpPr>
        <p:spPr>
          <a:xfrm>
            <a:off x="2632192" y="4040734"/>
            <a:ext cx="480060" cy="192024"/>
          </a:xfrm>
          <a:prstGeom prst="ellipse">
            <a:avLst/>
          </a:prstGeom>
          <a:solidFill>
            <a:srgbClr val="F4B6B9"/>
          </a:solidFill>
          <a:ln w="15875">
            <a:solidFill>
              <a:srgbClr val="A33E48"/>
            </a:solidFill>
            <a:prstDash val="solid"/>
          </a:ln>
        </p:spPr>
      </p:sp>
      <p:sp>
        <p:nvSpPr>
          <p:cNvPr id="44" name="Shape 42"/>
          <p:cNvSpPr/>
          <p:nvPr/>
        </p:nvSpPr>
        <p:spPr>
          <a:xfrm>
            <a:off x="2735062" y="4075024"/>
            <a:ext cx="91" cy="123444"/>
          </a:xfrm>
          <a:prstGeom prst="line">
            <a:avLst/>
          </a:prstGeom>
          <a:noFill/>
          <a:ln w="9525">
            <a:solidFill>
              <a:srgbClr val="C76A72"/>
            </a:solidFill>
            <a:prstDash val="solid"/>
          </a:ln>
        </p:spPr>
      </p:sp>
      <p:sp>
        <p:nvSpPr>
          <p:cNvPr id="45" name="Shape 43"/>
          <p:cNvSpPr/>
          <p:nvPr/>
        </p:nvSpPr>
        <p:spPr>
          <a:xfrm>
            <a:off x="2803642" y="4075024"/>
            <a:ext cx="91" cy="123444"/>
          </a:xfrm>
          <a:prstGeom prst="line">
            <a:avLst/>
          </a:prstGeom>
          <a:noFill/>
          <a:ln w="9525">
            <a:solidFill>
              <a:srgbClr val="C76A72"/>
            </a:solidFill>
            <a:prstDash val="solid"/>
          </a:ln>
        </p:spPr>
      </p:sp>
      <p:sp>
        <p:nvSpPr>
          <p:cNvPr id="46" name="Shape 44"/>
          <p:cNvSpPr/>
          <p:nvPr/>
        </p:nvSpPr>
        <p:spPr>
          <a:xfrm>
            <a:off x="2872222" y="4075024"/>
            <a:ext cx="91" cy="123444"/>
          </a:xfrm>
          <a:prstGeom prst="line">
            <a:avLst/>
          </a:prstGeom>
          <a:noFill/>
          <a:ln w="9525">
            <a:solidFill>
              <a:srgbClr val="C76A72"/>
            </a:solidFill>
            <a:prstDash val="solid"/>
          </a:ln>
        </p:spPr>
      </p:sp>
      <p:sp>
        <p:nvSpPr>
          <p:cNvPr id="47" name="Shape 45"/>
          <p:cNvSpPr/>
          <p:nvPr/>
        </p:nvSpPr>
        <p:spPr>
          <a:xfrm>
            <a:off x="2940802" y="4075024"/>
            <a:ext cx="91" cy="123444"/>
          </a:xfrm>
          <a:prstGeom prst="line">
            <a:avLst/>
          </a:prstGeom>
          <a:noFill/>
          <a:ln w="9525">
            <a:solidFill>
              <a:srgbClr val="C76A72"/>
            </a:solidFill>
            <a:prstDash val="solid"/>
          </a:ln>
        </p:spPr>
      </p:sp>
      <p:sp>
        <p:nvSpPr>
          <p:cNvPr id="48" name="Shape 46"/>
          <p:cNvSpPr/>
          <p:nvPr/>
        </p:nvSpPr>
        <p:spPr>
          <a:xfrm>
            <a:off x="3009382" y="4075024"/>
            <a:ext cx="91" cy="123444"/>
          </a:xfrm>
          <a:prstGeom prst="line">
            <a:avLst/>
          </a:prstGeom>
          <a:noFill/>
          <a:ln w="9525">
            <a:solidFill>
              <a:srgbClr val="C76A72"/>
            </a:solidFill>
            <a:prstDash val="solid"/>
          </a:ln>
        </p:spPr>
      </p:sp>
      <p:sp>
        <p:nvSpPr>
          <p:cNvPr id="49" name="Text 47"/>
          <p:cNvSpPr/>
          <p:nvPr/>
        </p:nvSpPr>
        <p:spPr>
          <a:xfrm>
            <a:off x="502920" y="2651760"/>
            <a:ext cx="1463040" cy="457200"/>
          </a:xfrm>
          <a:prstGeom prst="rect">
            <a:avLst/>
          </a:prstGeom>
          <a:noFill/>
          <a:ln/>
        </p:spPr>
        <p:txBody>
          <a:bodyPr wrap="square" lIns="0" tIns="0" rIns="0" bIns="0" rtlCol="0" anchor="ctr"/>
          <a:lstStyle/>
          <a:p>
            <a:pPr algn="r" indent="0" marL="0">
              <a:buNone/>
            </a:pPr>
            <a:r>
              <a:rPr lang="en-US" sz="1050" b="1" dirty="0">
                <a:solidFill>
                  <a:srgbClr val="9A5A0A"/>
                </a:solidFill>
                <a:latin typeface="Calibri" pitchFamily="34" charset="0"/>
                <a:ea typeface="Calibri" pitchFamily="34" charset="-122"/>
                <a:cs typeface="Calibri" pitchFamily="34" charset="-120"/>
              </a:rPr>
              <a:t>Adrenal glands release </a:t>
            </a:r>
            <a:r>
              <a:rPr lang="en-US" sz="1050" b="1" dirty="0">
                <a:solidFill>
                  <a:srgbClr val="9A5A0A"/>
                </a:solidFill>
                <a:latin typeface="Calibri" pitchFamily="34" charset="0"/>
                <a:ea typeface="Calibri" pitchFamily="34" charset="-122"/>
                <a:cs typeface="Calibri" pitchFamily="34" charset="-120"/>
              </a:rPr>
              <a:t>adrenalin</a:t>
            </a:r>
            <a:endParaRPr lang="en-US" sz="1050" dirty="0"/>
          </a:p>
        </p:txBody>
      </p:sp>
      <p:sp>
        <p:nvSpPr>
          <p:cNvPr id="50" name="Shape 48"/>
          <p:cNvSpPr/>
          <p:nvPr/>
        </p:nvSpPr>
        <p:spPr>
          <a:xfrm>
            <a:off x="2002536" y="2880360"/>
            <a:ext cx="859445" cy="112197"/>
          </a:xfrm>
          <a:prstGeom prst="line">
            <a:avLst/>
          </a:prstGeom>
          <a:noFill/>
          <a:ln w="12700">
            <a:solidFill>
              <a:srgbClr val="9A5A0A"/>
            </a:solidFill>
            <a:prstDash val="solid"/>
          </a:ln>
        </p:spPr>
      </p:sp>
      <p:sp>
        <p:nvSpPr>
          <p:cNvPr id="51" name="Shape 49"/>
          <p:cNvSpPr/>
          <p:nvPr/>
        </p:nvSpPr>
        <p:spPr>
          <a:xfrm>
            <a:off x="2834549" y="2965125"/>
            <a:ext cx="54864" cy="54864"/>
          </a:xfrm>
          <a:prstGeom prst="ellipse">
            <a:avLst/>
          </a:prstGeom>
          <a:solidFill>
            <a:srgbClr val="9A5A0A"/>
          </a:solidFill>
          <a:ln w="9525">
            <a:solidFill>
              <a:srgbClr val="9A5A0A"/>
            </a:solidFill>
            <a:prstDash val="solid"/>
          </a:ln>
        </p:spPr>
      </p:sp>
      <p:sp>
        <p:nvSpPr>
          <p:cNvPr id="52" name="Text 50"/>
          <p:cNvSpPr/>
          <p:nvPr/>
        </p:nvSpPr>
        <p:spPr>
          <a:xfrm>
            <a:off x="4343400" y="1645920"/>
            <a:ext cx="1554480" cy="457200"/>
          </a:xfrm>
          <a:prstGeom prst="rect">
            <a:avLst/>
          </a:prstGeom>
          <a:noFill/>
          <a:ln/>
        </p:spPr>
        <p:txBody>
          <a:bodyPr wrap="square" lIns="0" tIns="0" rIns="0" bIns="0" rtlCol="0" anchor="ctr"/>
          <a:lstStyle/>
          <a:p>
            <a:pPr algn="l" indent="0" marL="0">
              <a:buNone/>
            </a:pPr>
            <a:r>
              <a:rPr lang="en-US" sz="1050" b="1" dirty="0">
                <a:solidFill>
                  <a:srgbClr val="B8323A"/>
                </a:solidFill>
                <a:latin typeface="Calibri" pitchFamily="34" charset="0"/>
                <a:ea typeface="Calibri" pitchFamily="34" charset="-122"/>
                <a:cs typeface="Calibri" pitchFamily="34" charset="-120"/>
              </a:rPr>
              <a:t>Heart rate</a:t>
            </a:r>
            <a:r>
              <a:rPr lang="en-US" sz="1050" b="1" dirty="0">
                <a:solidFill>
                  <a:srgbClr val="B8323A"/>
                </a:solidFill>
                <a:latin typeface="Calibri" pitchFamily="34" charset="0"/>
                <a:ea typeface="Calibri" pitchFamily="34" charset="-122"/>
                <a:cs typeface="Calibri" pitchFamily="34" charset="-120"/>
              </a:rPr>
              <a:t> ↑ and </a:t>
            </a:r>
            <a:r>
              <a:rPr lang="en-US" sz="1050" b="1" dirty="0">
                <a:solidFill>
                  <a:srgbClr val="B8323A"/>
                </a:solidFill>
                <a:latin typeface="Calibri" pitchFamily="34" charset="0"/>
                <a:ea typeface="Calibri" pitchFamily="34" charset="-122"/>
                <a:cs typeface="Calibri" pitchFamily="34" charset="-120"/>
              </a:rPr>
              <a:t>blood pressure</a:t>
            </a:r>
            <a:r>
              <a:rPr lang="en-US" sz="1050" b="1" dirty="0">
                <a:solidFill>
                  <a:srgbClr val="B8323A"/>
                </a:solidFill>
                <a:latin typeface="Calibri" pitchFamily="34" charset="0"/>
                <a:ea typeface="Calibri" pitchFamily="34" charset="-122"/>
                <a:cs typeface="Calibri" pitchFamily="34" charset="-120"/>
              </a:rPr>
              <a:t> ↑</a:t>
            </a:r>
            <a:endParaRPr lang="en-US" sz="1050" dirty="0"/>
          </a:p>
        </p:txBody>
      </p:sp>
      <p:sp>
        <p:nvSpPr>
          <p:cNvPr id="53" name="Shape 51"/>
          <p:cNvSpPr/>
          <p:nvPr/>
        </p:nvSpPr>
        <p:spPr>
          <a:xfrm flipH="1">
            <a:off x="3470605" y="1874520"/>
            <a:ext cx="836219" cy="621335"/>
          </a:xfrm>
          <a:prstGeom prst="line">
            <a:avLst/>
          </a:prstGeom>
          <a:noFill/>
          <a:ln w="12700">
            <a:solidFill>
              <a:srgbClr val="B8323A"/>
            </a:solidFill>
            <a:prstDash val="solid"/>
          </a:ln>
        </p:spPr>
      </p:sp>
      <p:sp>
        <p:nvSpPr>
          <p:cNvPr id="54" name="Shape 52"/>
          <p:cNvSpPr/>
          <p:nvPr/>
        </p:nvSpPr>
        <p:spPr>
          <a:xfrm>
            <a:off x="3443173" y="2468423"/>
            <a:ext cx="54864" cy="54864"/>
          </a:xfrm>
          <a:prstGeom prst="ellipse">
            <a:avLst/>
          </a:prstGeom>
          <a:solidFill>
            <a:srgbClr val="B8323A"/>
          </a:solidFill>
          <a:ln w="9525">
            <a:solidFill>
              <a:srgbClr val="B8323A"/>
            </a:solidFill>
            <a:prstDash val="solid"/>
          </a:ln>
        </p:spPr>
      </p:sp>
      <p:sp>
        <p:nvSpPr>
          <p:cNvPr id="55" name="Text 53"/>
          <p:cNvSpPr/>
          <p:nvPr/>
        </p:nvSpPr>
        <p:spPr>
          <a:xfrm>
            <a:off x="502920" y="1783080"/>
            <a:ext cx="1463040" cy="457200"/>
          </a:xfrm>
          <a:prstGeom prst="rect">
            <a:avLst/>
          </a:prstGeom>
          <a:noFill/>
          <a:ln/>
        </p:spPr>
        <p:txBody>
          <a:bodyPr wrap="square" lIns="0" tIns="0" rIns="0" bIns="0" rtlCol="0" anchor="ctr"/>
          <a:lstStyle/>
          <a:p>
            <a:pPr algn="r" indent="0" marL="0">
              <a:buNone/>
            </a:pPr>
            <a:r>
              <a:rPr lang="en-US" sz="1050" b="1" dirty="0">
                <a:solidFill>
                  <a:srgbClr val="6B3318"/>
                </a:solidFill>
                <a:latin typeface="Calibri" pitchFamily="34" charset="0"/>
                <a:ea typeface="Calibri" pitchFamily="34" charset="-122"/>
                <a:cs typeface="Calibri" pitchFamily="34" charset="-120"/>
              </a:rPr>
              <a:t>Liver</a:t>
            </a:r>
            <a:r>
              <a:rPr lang="en-US" sz="1050" b="1" dirty="0">
                <a:solidFill>
                  <a:srgbClr val="6B3318"/>
                </a:solidFill>
                <a:latin typeface="Calibri" pitchFamily="34" charset="0"/>
                <a:ea typeface="Calibri" pitchFamily="34" charset="-122"/>
                <a:cs typeface="Calibri" pitchFamily="34" charset="-120"/>
              </a:rPr>
              <a:t>: glycogen → glucose; </a:t>
            </a:r>
            <a:r>
              <a:rPr lang="en-US" sz="1050" b="1" dirty="0">
                <a:solidFill>
                  <a:srgbClr val="6B3318"/>
                </a:solidFill>
                <a:latin typeface="Calibri" pitchFamily="34" charset="0"/>
                <a:ea typeface="Calibri" pitchFamily="34" charset="-122"/>
                <a:cs typeface="Calibri" pitchFamily="34" charset="-120"/>
              </a:rPr>
              <a:t>blood sugar</a:t>
            </a:r>
            <a:r>
              <a:rPr lang="en-US" sz="1050" b="1" dirty="0">
                <a:solidFill>
                  <a:srgbClr val="6B3318"/>
                </a:solidFill>
                <a:latin typeface="Calibri" pitchFamily="34" charset="0"/>
                <a:ea typeface="Calibri" pitchFamily="34" charset="-122"/>
                <a:cs typeface="Calibri" pitchFamily="34" charset="-120"/>
              </a:rPr>
              <a:t> ↑</a:t>
            </a:r>
            <a:endParaRPr lang="en-US" sz="1050" dirty="0"/>
          </a:p>
        </p:txBody>
      </p:sp>
      <p:sp>
        <p:nvSpPr>
          <p:cNvPr id="56" name="Shape 54"/>
          <p:cNvSpPr/>
          <p:nvPr/>
        </p:nvSpPr>
        <p:spPr>
          <a:xfrm>
            <a:off x="2002536" y="2011680"/>
            <a:ext cx="740664" cy="776874"/>
          </a:xfrm>
          <a:prstGeom prst="line">
            <a:avLst/>
          </a:prstGeom>
          <a:noFill/>
          <a:ln w="12700">
            <a:solidFill>
              <a:srgbClr val="6B3318"/>
            </a:solidFill>
            <a:prstDash val="solid"/>
          </a:ln>
        </p:spPr>
      </p:sp>
      <p:sp>
        <p:nvSpPr>
          <p:cNvPr id="57" name="Shape 55"/>
          <p:cNvSpPr/>
          <p:nvPr/>
        </p:nvSpPr>
        <p:spPr>
          <a:xfrm>
            <a:off x="2715768" y="2761122"/>
            <a:ext cx="54864" cy="54864"/>
          </a:xfrm>
          <a:prstGeom prst="ellipse">
            <a:avLst/>
          </a:prstGeom>
          <a:solidFill>
            <a:srgbClr val="6B3318"/>
          </a:solidFill>
          <a:ln w="9525">
            <a:solidFill>
              <a:srgbClr val="6B3318"/>
            </a:solidFill>
            <a:prstDash val="solid"/>
          </a:ln>
        </p:spPr>
      </p:sp>
      <p:sp>
        <p:nvSpPr>
          <p:cNvPr id="58" name="Text 56"/>
          <p:cNvSpPr/>
          <p:nvPr/>
        </p:nvSpPr>
        <p:spPr>
          <a:xfrm>
            <a:off x="4343400" y="3840480"/>
            <a:ext cx="1554480" cy="457200"/>
          </a:xfrm>
          <a:prstGeom prst="rect">
            <a:avLst/>
          </a:prstGeom>
          <a:noFill/>
          <a:ln/>
        </p:spPr>
        <p:txBody>
          <a:bodyPr wrap="square" lIns="0" tIns="0" rIns="0" bIns="0" rtlCol="0" anchor="ctr"/>
          <a:lstStyle/>
          <a:p>
            <a:pPr algn="l" indent="0" marL="0">
              <a:buNone/>
            </a:pPr>
            <a:r>
              <a:rPr lang="en-US" sz="1050" b="1" dirty="0">
                <a:solidFill>
                  <a:srgbClr val="A33E48"/>
                </a:solidFill>
                <a:latin typeface="Calibri" pitchFamily="34" charset="0"/>
                <a:ea typeface="Calibri" pitchFamily="34" charset="-122"/>
                <a:cs typeface="Calibri" pitchFamily="34" charset="-120"/>
              </a:rPr>
              <a:t>Muscles</a:t>
            </a:r>
            <a:r>
              <a:rPr lang="en-US" sz="1050" b="1" dirty="0">
                <a:solidFill>
                  <a:srgbClr val="A33E48"/>
                </a:solidFill>
                <a:latin typeface="Calibri" pitchFamily="34" charset="0"/>
                <a:ea typeface="Calibri" pitchFamily="34" charset="-122"/>
                <a:cs typeface="Calibri" pitchFamily="34" charset="-120"/>
              </a:rPr>
              <a:t>: more blood flow</a:t>
            </a:r>
            <a:endParaRPr lang="en-US" sz="1050" dirty="0"/>
          </a:p>
        </p:txBody>
      </p:sp>
      <p:sp>
        <p:nvSpPr>
          <p:cNvPr id="59" name="Shape 57"/>
          <p:cNvSpPr/>
          <p:nvPr/>
        </p:nvSpPr>
        <p:spPr>
          <a:xfrm flipH="1">
            <a:off x="3711458" y="4069080"/>
            <a:ext cx="595366" cy="67666"/>
          </a:xfrm>
          <a:prstGeom prst="line">
            <a:avLst/>
          </a:prstGeom>
          <a:noFill/>
          <a:ln w="12700">
            <a:solidFill>
              <a:srgbClr val="A33E48"/>
            </a:solidFill>
            <a:prstDash val="solid"/>
          </a:ln>
        </p:spPr>
      </p:sp>
      <p:sp>
        <p:nvSpPr>
          <p:cNvPr id="60" name="Shape 58"/>
          <p:cNvSpPr/>
          <p:nvPr/>
        </p:nvSpPr>
        <p:spPr>
          <a:xfrm>
            <a:off x="3684026" y="4109314"/>
            <a:ext cx="54864" cy="54864"/>
          </a:xfrm>
          <a:prstGeom prst="ellipse">
            <a:avLst/>
          </a:prstGeom>
          <a:solidFill>
            <a:srgbClr val="A33E48"/>
          </a:solidFill>
          <a:ln w="9525">
            <a:solidFill>
              <a:srgbClr val="A33E48"/>
            </a:solidFill>
            <a:prstDash val="solid"/>
          </a:ln>
        </p:spPr>
      </p:sp>
      <p:sp>
        <p:nvSpPr>
          <p:cNvPr id="61" name="Text 59"/>
          <p:cNvSpPr/>
          <p:nvPr/>
        </p:nvSpPr>
        <p:spPr>
          <a:xfrm>
            <a:off x="502920" y="4160520"/>
            <a:ext cx="1737360" cy="457200"/>
          </a:xfrm>
          <a:prstGeom prst="rect">
            <a:avLst/>
          </a:prstGeom>
          <a:noFill/>
          <a:ln/>
        </p:spPr>
        <p:txBody>
          <a:bodyPr wrap="square" lIns="0" tIns="0" rIns="0" bIns="0" rtlCol="0" anchor="t"/>
          <a:lstStyle/>
          <a:p>
            <a:pPr algn="l" indent="0" marL="0">
              <a:buNone/>
            </a:pPr>
            <a:r>
              <a:rPr lang="en-US" sz="1050" i="1" dirty="0">
                <a:solidFill>
                  <a:srgbClr val="6B7385"/>
                </a:solidFill>
                <a:latin typeface="Calibri" pitchFamily="34" charset="0"/>
                <a:ea typeface="Calibri" pitchFamily="34" charset="-122"/>
                <a:cs typeface="Calibri" pitchFamily="34" charset="-120"/>
              </a:rPr>
              <a:t>Trigger: fear, stress, excitement</a:t>
            </a:r>
            <a:endParaRPr lang="en-US" sz="1050" dirty="0"/>
          </a:p>
        </p:txBody>
      </p:sp>
      <p:sp>
        <p:nvSpPr>
          <p:cNvPr id="62" name="Shape 60"/>
          <p:cNvSpPr/>
          <p:nvPr/>
        </p:nvSpPr>
        <p:spPr>
          <a:xfrm>
            <a:off x="6217920" y="1188720"/>
            <a:ext cx="5562295" cy="2423160"/>
          </a:xfrm>
          <a:prstGeom prst="roundRect">
            <a:avLst>
              <a:gd name="adj" fmla="val 2264"/>
            </a:avLst>
          </a:prstGeom>
          <a:solidFill>
            <a:srgbClr val="F5FBF7"/>
          </a:solidFill>
          <a:ln w="9525">
            <a:solidFill>
              <a:srgbClr val="D2E5D8"/>
            </a:solidFill>
            <a:prstDash val="solid"/>
          </a:ln>
        </p:spPr>
      </p:sp>
      <p:sp>
        <p:nvSpPr>
          <p:cNvPr id="63" name="Text 6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Effects of adrenalin</a:t>
            </a:r>
            <a:endParaRPr lang="en-US" sz="1300" dirty="0"/>
          </a:p>
        </p:txBody>
      </p:sp>
      <p:sp>
        <p:nvSpPr>
          <p:cNvPr id="64" name="Text 6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a:t>
            </a:r>
            <a:r>
              <a:rPr lang="en-US" sz="1150" dirty="0">
                <a:solidFill>
                  <a:srgbClr val="262B3A"/>
                </a:solidFill>
                <a:latin typeface="Calibri" pitchFamily="34" charset="0"/>
                <a:ea typeface="Calibri" pitchFamily="34" charset="-122"/>
                <a:cs typeface="Calibri" pitchFamily="34" charset="-120"/>
              </a:rPr>
              <a:t> increases </a:t>
            </a:r>
            <a:r>
              <a:rPr lang="en-US" sz="1150" b="1" dirty="0">
                <a:solidFill>
                  <a:srgbClr val="262B3A"/>
                </a:solidFill>
                <a:latin typeface="Calibri" pitchFamily="34" charset="0"/>
                <a:ea typeface="Calibri" pitchFamily="34" charset="-122"/>
                <a:cs typeface="Calibri" pitchFamily="34" charset="-120"/>
              </a:rPr>
              <a:t>heart rate</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b</a:t>
            </a:r>
            <a:r>
              <a:rPr lang="en-US" sz="1150" dirty="0">
                <a:solidFill>
                  <a:srgbClr val="262B3A"/>
                </a:solidFill>
                <a:latin typeface="Calibri" pitchFamily="34" charset="0"/>
                <a:ea typeface="Calibri" pitchFamily="34" charset="-122"/>
                <a:cs typeface="Calibri" pitchFamily="34" charset="-120"/>
              </a:rPr>
              <a:t> increases </a:t>
            </a:r>
            <a:r>
              <a:rPr lang="en-US" sz="1150" b="1" dirty="0">
                <a:solidFill>
                  <a:srgbClr val="262B3A"/>
                </a:solidFill>
                <a:latin typeface="Calibri" pitchFamily="34" charset="0"/>
                <a:ea typeface="Calibri" pitchFamily="34" charset="-122"/>
                <a:cs typeface="Calibri" pitchFamily="34" charset="-120"/>
              </a:rPr>
              <a:t>blood pressure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a:t>
            </a:r>
            <a:r>
              <a:rPr lang="en-US" sz="1150" dirty="0">
                <a:solidFill>
                  <a:srgbClr val="262B3A"/>
                </a:solidFill>
                <a:latin typeface="Calibri" pitchFamily="34" charset="0"/>
                <a:ea typeface="Calibri" pitchFamily="34" charset="-122"/>
                <a:cs typeface="Calibri" pitchFamily="34" charset="-120"/>
              </a:rPr>
              <a:t> increases </a:t>
            </a:r>
            <a:r>
              <a:rPr lang="en-US" sz="1150" b="1" dirty="0">
                <a:solidFill>
                  <a:srgbClr val="262B3A"/>
                </a:solidFill>
                <a:latin typeface="Calibri" pitchFamily="34" charset="0"/>
                <a:ea typeface="Calibri" pitchFamily="34" charset="-122"/>
                <a:cs typeface="Calibri" pitchFamily="34" charset="-120"/>
              </a:rPr>
              <a:t>blood flow to the muscles</a:t>
            </a:r>
            <a:r>
              <a:rPr lang="en-US" sz="1150" dirty="0">
                <a:solidFill>
                  <a:srgbClr val="262B3A"/>
                </a:solidFill>
                <a:latin typeface="Calibri" pitchFamily="34" charset="0"/>
                <a:ea typeface="Calibri" pitchFamily="34" charset="-122"/>
                <a:cs typeface="Calibri" pitchFamily="34" charset="-120"/>
              </a:rPr>
              <a:t> (vessels to muscles widen).</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d</a:t>
            </a:r>
            <a:r>
              <a:rPr lang="en-US" sz="1150" dirty="0">
                <a:solidFill>
                  <a:srgbClr val="262B3A"/>
                </a:solidFill>
                <a:latin typeface="Calibri" pitchFamily="34" charset="0"/>
                <a:ea typeface="Calibri" pitchFamily="34" charset="-122"/>
                <a:cs typeface="Calibri" pitchFamily="34" charset="-120"/>
              </a:rPr>
              <a:t> raises </a:t>
            </a:r>
            <a:r>
              <a:rPr lang="en-US" sz="1150" b="1" dirty="0">
                <a:solidFill>
                  <a:srgbClr val="262B3A"/>
                </a:solidFill>
                <a:latin typeface="Calibri" pitchFamily="34" charset="0"/>
                <a:ea typeface="Calibri" pitchFamily="34" charset="-122"/>
                <a:cs typeface="Calibri" pitchFamily="34" charset="-120"/>
              </a:rPr>
              <a:t>blood sugar</a:t>
            </a:r>
            <a:r>
              <a:rPr lang="en-US" sz="1150" dirty="0">
                <a:solidFill>
                  <a:srgbClr val="262B3A"/>
                </a:solidFill>
                <a:latin typeface="Calibri" pitchFamily="34" charset="0"/>
                <a:ea typeface="Calibri" pitchFamily="34" charset="-122"/>
                <a:cs typeface="Calibri" pitchFamily="34" charset="-120"/>
              </a:rPr>
              <a:t>: stimulates the </a:t>
            </a:r>
            <a:r>
              <a:rPr lang="en-US" sz="1150" b="1" dirty="0">
                <a:solidFill>
                  <a:srgbClr val="262B3A"/>
                </a:solidFill>
                <a:latin typeface="Calibri" pitchFamily="34" charset="0"/>
                <a:ea typeface="Calibri" pitchFamily="34" charset="-122"/>
                <a:cs typeface="Calibri" pitchFamily="34" charset="-120"/>
              </a:rPr>
              <a:t>liver</a:t>
            </a:r>
            <a:r>
              <a:rPr lang="en-US" sz="1150" dirty="0">
                <a:solidFill>
                  <a:srgbClr val="262B3A"/>
                </a:solidFill>
                <a:latin typeface="Calibri" pitchFamily="34" charset="0"/>
                <a:ea typeface="Calibri" pitchFamily="34" charset="-122"/>
                <a:cs typeface="Calibri" pitchFamily="34" charset="-120"/>
              </a:rPr>
              <a:t> to change </a:t>
            </a:r>
            <a:r>
              <a:rPr lang="en-US" sz="1150" b="1" dirty="0">
                <a:solidFill>
                  <a:srgbClr val="262B3A"/>
                </a:solidFill>
                <a:latin typeface="Calibri" pitchFamily="34" charset="0"/>
                <a:ea typeface="Calibri" pitchFamily="34" charset="-122"/>
                <a:cs typeface="Calibri" pitchFamily="34" charset="-120"/>
              </a:rPr>
              <a:t>glycogen into glucose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Result: muscle cells get more </a:t>
            </a:r>
            <a:r>
              <a:rPr lang="en-US" sz="1150" b="1" dirty="0">
                <a:solidFill>
                  <a:srgbClr val="262B3A"/>
                </a:solidFill>
                <a:latin typeface="Calibri" pitchFamily="34" charset="0"/>
                <a:ea typeface="Calibri" pitchFamily="34" charset="-122"/>
                <a:cs typeface="Calibri" pitchFamily="34" charset="-120"/>
              </a:rPr>
              <a:t>oxygen and glucose</a:t>
            </a:r>
            <a:r>
              <a:rPr lang="en-US" sz="1150" dirty="0">
                <a:solidFill>
                  <a:srgbClr val="262B3A"/>
                </a:solidFill>
                <a:latin typeface="Calibri" pitchFamily="34" charset="0"/>
                <a:ea typeface="Calibri" pitchFamily="34" charset="-122"/>
                <a:cs typeface="Calibri" pitchFamily="34" charset="-120"/>
              </a:rPr>
              <a:t> for </a:t>
            </a:r>
            <a:r>
              <a:rPr lang="en-US" sz="1150" b="1" dirty="0">
                <a:solidFill>
                  <a:srgbClr val="262B3A"/>
                </a:solidFill>
                <a:latin typeface="Calibri" pitchFamily="34" charset="0"/>
                <a:ea typeface="Calibri" pitchFamily="34" charset="-122"/>
                <a:cs typeface="Calibri" pitchFamily="34" charset="-120"/>
              </a:rPr>
              <a:t>respiration</a:t>
            </a:r>
            <a:r>
              <a:rPr lang="en-US" sz="1150" dirty="0">
                <a:solidFill>
                  <a:srgbClr val="262B3A"/>
                </a:solidFill>
                <a:latin typeface="Calibri" pitchFamily="34" charset="0"/>
                <a:ea typeface="Calibri" pitchFamily="34" charset="-122"/>
                <a:cs typeface="Calibri" pitchFamily="34" charset="-120"/>
              </a:rPr>
              <a:t>, so they can contract quickly (fight or run).</a:t>
            </a:r>
            <a:endParaRPr lang="en-US" sz="1150" dirty="0"/>
          </a:p>
        </p:txBody>
      </p:sp>
      <p:sp>
        <p:nvSpPr>
          <p:cNvPr id="65" name="Shape 6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6" name="Text 6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Exam technique: explain</a:t>
            </a:r>
            <a:endParaRPr lang="en-US" sz="1300" dirty="0"/>
          </a:p>
        </p:txBody>
      </p:sp>
      <p:sp>
        <p:nvSpPr>
          <p:cNvPr id="67" name="Text 65"/>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Explain how adrenalin helps a sprinter at the start of a race.</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1 Effect   </a:t>
            </a:r>
            <a:r>
              <a:rPr lang="en-US" sz="1100" dirty="0">
                <a:solidFill>
                  <a:srgbClr val="262B3A"/>
                </a:solidFill>
                <a:latin typeface="Calibri" pitchFamily="34" charset="0"/>
                <a:ea typeface="Calibri" pitchFamily="34" charset="-122"/>
                <a:cs typeface="Calibri" pitchFamily="34" charset="-120"/>
              </a:rPr>
              <a:t>heart rate ↑ and more blood flow to the leg muscles</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2 Link   </a:t>
            </a:r>
            <a:r>
              <a:rPr lang="en-US" sz="1100" dirty="0">
                <a:solidFill>
                  <a:srgbClr val="262B3A"/>
                </a:solidFill>
                <a:latin typeface="Calibri" pitchFamily="34" charset="0"/>
                <a:ea typeface="Calibri" pitchFamily="34" charset="-122"/>
                <a:cs typeface="Calibri" pitchFamily="34" charset="-120"/>
              </a:rPr>
              <a:t>more oxygen and glucose delivered to muscle cells</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3 Process   </a:t>
            </a:r>
            <a:r>
              <a:rPr lang="en-US" sz="1100" dirty="0">
                <a:solidFill>
                  <a:srgbClr val="262B3A"/>
                </a:solidFill>
                <a:latin typeface="Calibri" pitchFamily="34" charset="0"/>
                <a:ea typeface="Calibri" pitchFamily="34" charset="-122"/>
                <a:cs typeface="Calibri" pitchFamily="34" charset="-120"/>
              </a:rPr>
              <a:t>faster (aerobic) respiration</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more energy transferred for muscle contraction</a:t>
            </a:r>
            <a:endParaRPr lang="en-US" sz="1100" dirty="0"/>
          </a:p>
        </p:txBody>
      </p:sp>
      <p:sp>
        <p:nvSpPr>
          <p:cNvPr id="68" name="Shape 66"/>
          <p:cNvSpPr/>
          <p:nvPr/>
        </p:nvSpPr>
        <p:spPr>
          <a:xfrm>
            <a:off x="411480" y="5833872"/>
            <a:ext cx="11368735" cy="530352"/>
          </a:xfrm>
          <a:prstGeom prst="rect">
            <a:avLst/>
          </a:prstGeom>
          <a:solidFill>
            <a:srgbClr val="FFF4E0"/>
          </a:solidFill>
          <a:ln w="6350">
            <a:solidFill>
              <a:srgbClr val="F1D9A8"/>
            </a:solidFill>
            <a:prstDash val="solid"/>
          </a:ln>
        </p:spPr>
      </p:sp>
      <p:sp>
        <p:nvSpPr>
          <p:cNvPr id="69" name="Shape 67"/>
          <p:cNvSpPr/>
          <p:nvPr/>
        </p:nvSpPr>
        <p:spPr>
          <a:xfrm>
            <a:off x="411480" y="5833872"/>
            <a:ext cx="82296" cy="530352"/>
          </a:xfrm>
          <a:prstGeom prst="rect">
            <a:avLst/>
          </a:prstGeom>
          <a:solidFill>
            <a:srgbClr val="E39A2F"/>
          </a:solidFill>
          <a:ln w="12700">
            <a:solidFill>
              <a:srgbClr val="E39A2F"/>
            </a:solidFill>
            <a:prstDash val="solid"/>
          </a:ln>
        </p:spPr>
      </p:sp>
      <p:sp>
        <p:nvSpPr>
          <p:cNvPr id="70" name="Text 6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effects of adrenalin on the body. Which organ changes glycogen into glucose?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7.1–7.2 • glands, hormones and adrenalin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8</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2E5D8"/>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a hormone travels from an endocrine gland to its target organ.</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2E5D8"/>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gland that produces </a:t>
            </a:r>
            <a:r>
              <a:rPr lang="en-US" sz="1250" b="1" dirty="0">
                <a:solidFill>
                  <a:srgbClr val="262B3A"/>
                </a:solidFill>
                <a:latin typeface="Calibri" pitchFamily="34" charset="0"/>
                <a:ea typeface="Calibri" pitchFamily="34" charset="-122"/>
                <a:cs typeface="Calibri" pitchFamily="34" charset="-120"/>
              </a:rPr>
              <a:t>thyroxine</a:t>
            </a:r>
            <a:r>
              <a:rPr lang="en-US" sz="1250" dirty="0">
                <a:solidFill>
                  <a:srgbClr val="262B3A"/>
                </a:solidFill>
                <a:latin typeface="Calibri" pitchFamily="34" charset="0"/>
                <a:ea typeface="Calibri" pitchFamily="34" charset="-122"/>
                <a:cs typeface="Calibri" pitchFamily="34" charset="-120"/>
              </a:rPr>
              <a:t> and the gland that produces </a:t>
            </a:r>
            <a:r>
              <a:rPr lang="en-US" sz="1250" b="1" dirty="0">
                <a:solidFill>
                  <a:srgbClr val="262B3A"/>
                </a:solidFill>
                <a:latin typeface="Calibri" pitchFamily="34" charset="0"/>
                <a:ea typeface="Calibri" pitchFamily="34" charset="-122"/>
                <a:cs typeface="Calibri" pitchFamily="34" charset="-120"/>
              </a:rPr>
              <a:t>testosterone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2E5D8"/>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Shape 19"/>
          <p:cNvSpPr/>
          <p:nvPr/>
        </p:nvSpPr>
        <p:spPr>
          <a:xfrm>
            <a:off x="2606040" y="4696968"/>
            <a:ext cx="411480" cy="274320"/>
          </a:xfrm>
          <a:prstGeom prst="roundRect">
            <a:avLst>
              <a:gd name="adj" fmla="val 50000"/>
            </a:avLst>
          </a:prstGeom>
          <a:solidFill>
            <a:srgbClr val="C8414C"/>
          </a:solidFill>
          <a:ln w="12700">
            <a:solidFill>
              <a:srgbClr val="C8414C"/>
            </a:solidFill>
            <a:prstDash val="solid"/>
          </a:ln>
        </p:spPr>
      </p:sp>
      <p:sp>
        <p:nvSpPr>
          <p:cNvPr id="22" name="Text 20"/>
          <p:cNvSpPr/>
          <p:nvPr/>
        </p:nvSpPr>
        <p:spPr>
          <a:xfrm>
            <a:off x="2606040" y="469696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3" name="Text 21"/>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adrenalin increases the supply of glucose to muscle cells.</a:t>
            </a:r>
            <a:endParaRPr lang="en-US" sz="1250" dirty="0"/>
          </a:p>
        </p:txBody>
      </p:sp>
      <p:sp>
        <p:nvSpPr>
          <p:cNvPr id="24" name="Text 22"/>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Thyroxine and negative feedback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7.3 • thyroxine controls the metabolic rate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7.3  |  9</a:t>
            </a:r>
            <a:endParaRPr lang="en-US" sz="1000" dirty="0"/>
          </a:p>
        </p:txBody>
      </p:sp>
      <p:sp>
        <p:nvSpPr>
          <p:cNvPr id="10" name="Shape 8"/>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TRH → TSH → thyroxine; normal thyroxine levels switch the chain off</a:t>
            </a:r>
            <a:endParaRPr lang="en-US" sz="1000" dirty="0"/>
          </a:p>
        </p:txBody>
      </p:sp>
      <p:sp>
        <p:nvSpPr>
          <p:cNvPr id="12" name="Shape 10"/>
          <p:cNvSpPr/>
          <p:nvPr/>
        </p:nvSpPr>
        <p:spPr>
          <a:xfrm>
            <a:off x="1600200" y="1417320"/>
            <a:ext cx="2651760" cy="548640"/>
          </a:xfrm>
          <a:prstGeom prst="roundRect">
            <a:avLst>
              <a:gd name="adj" fmla="val 10000"/>
            </a:avLst>
          </a:prstGeom>
          <a:solidFill>
            <a:srgbClr val="F4D9E0"/>
          </a:solidFill>
          <a:ln w="15875">
            <a:solidFill>
              <a:srgbClr val="8E2A33"/>
            </a:solidFill>
            <a:prstDash val="solid"/>
          </a:ln>
        </p:spPr>
      </p:sp>
      <p:sp>
        <p:nvSpPr>
          <p:cNvPr id="13" name="Text 11"/>
          <p:cNvSpPr/>
          <p:nvPr/>
        </p:nvSpPr>
        <p:spPr>
          <a:xfrm>
            <a:off x="1655064" y="1417320"/>
            <a:ext cx="2542032" cy="548640"/>
          </a:xfrm>
          <a:prstGeom prst="rect">
            <a:avLst/>
          </a:prstGeom>
          <a:noFill/>
          <a:ln/>
        </p:spPr>
        <p:txBody>
          <a:bodyPr wrap="square" lIns="0" tIns="0" rIns="0" bIns="0" rtlCol="0" anchor="ctr"/>
          <a:lstStyle/>
          <a:p>
            <a:pPr algn="ctr" indent="0" marL="0">
              <a:buNone/>
            </a:pPr>
            <a:r>
              <a:rPr lang="en-US" sz="1150" b="1" dirty="0">
                <a:solidFill>
                  <a:srgbClr val="262B3A"/>
                </a:solidFill>
                <a:latin typeface="Calibri" pitchFamily="34" charset="0"/>
                <a:ea typeface="Calibri" pitchFamily="34" charset="-122"/>
                <a:cs typeface="Calibri" pitchFamily="34" charset="-120"/>
              </a:rPr>
              <a:t>Hypothalamus</a:t>
            </a:r>
            <a:r>
              <a:rPr lang="en-US" sz="1150" dirty="0">
                <a:solidFill>
                  <a:srgbClr val="262B3A"/>
                </a:solidFill>
                <a:latin typeface="Calibri" pitchFamily="34" charset="0"/>
                <a:ea typeface="Calibri" pitchFamily="34" charset="-122"/>
                <a:cs typeface="Calibri" pitchFamily="34" charset="-120"/>
              </a:rPr>
              <a:t> (brain)</a:t>
            </a:r>
            <a:endParaRPr lang="en-US" sz="1150" dirty="0"/>
          </a:p>
        </p:txBody>
      </p:sp>
      <p:sp>
        <p:nvSpPr>
          <p:cNvPr id="14" name="Shape 12"/>
          <p:cNvSpPr/>
          <p:nvPr/>
        </p:nvSpPr>
        <p:spPr>
          <a:xfrm>
            <a:off x="1600200" y="2377440"/>
            <a:ext cx="2651760" cy="548640"/>
          </a:xfrm>
          <a:prstGeom prst="roundRect">
            <a:avLst>
              <a:gd name="adj" fmla="val 10000"/>
            </a:avLst>
          </a:prstGeom>
          <a:solidFill>
            <a:srgbClr val="FBECEC"/>
          </a:solidFill>
          <a:ln w="15875">
            <a:solidFill>
              <a:srgbClr val="C8414C"/>
            </a:solidFill>
            <a:prstDash val="solid"/>
          </a:ln>
        </p:spPr>
      </p:sp>
      <p:sp>
        <p:nvSpPr>
          <p:cNvPr id="15" name="Text 13"/>
          <p:cNvSpPr/>
          <p:nvPr/>
        </p:nvSpPr>
        <p:spPr>
          <a:xfrm>
            <a:off x="1655064" y="2377440"/>
            <a:ext cx="2542032" cy="548640"/>
          </a:xfrm>
          <a:prstGeom prst="rect">
            <a:avLst/>
          </a:prstGeom>
          <a:noFill/>
          <a:ln/>
        </p:spPr>
        <p:txBody>
          <a:bodyPr wrap="square" lIns="0" tIns="0" rIns="0" bIns="0" rtlCol="0" anchor="ctr"/>
          <a:lstStyle/>
          <a:p>
            <a:pPr algn="ctr" indent="0" marL="0">
              <a:buNone/>
            </a:pPr>
            <a:r>
              <a:rPr lang="en-US" sz="1150" b="1" dirty="0">
                <a:solidFill>
                  <a:srgbClr val="262B3A"/>
                </a:solidFill>
                <a:latin typeface="Calibri" pitchFamily="34" charset="0"/>
                <a:ea typeface="Calibri" pitchFamily="34" charset="-122"/>
                <a:cs typeface="Calibri" pitchFamily="34" charset="-120"/>
              </a:rPr>
              <a:t>Pituitary gland</a:t>
            </a:r>
            <a:endParaRPr lang="en-US" sz="1150" dirty="0"/>
          </a:p>
        </p:txBody>
      </p:sp>
      <p:sp>
        <p:nvSpPr>
          <p:cNvPr id="16" name="Shape 14"/>
          <p:cNvSpPr/>
          <p:nvPr/>
        </p:nvSpPr>
        <p:spPr>
          <a:xfrm>
            <a:off x="1600200" y="3337560"/>
            <a:ext cx="2651760" cy="548640"/>
          </a:xfrm>
          <a:prstGeom prst="roundRect">
            <a:avLst>
              <a:gd name="adj" fmla="val 10000"/>
            </a:avLst>
          </a:prstGeom>
          <a:solidFill>
            <a:srgbClr val="EEE3F5"/>
          </a:solidFill>
          <a:ln w="15875">
            <a:solidFill>
              <a:srgbClr val="5E2D73"/>
            </a:solidFill>
            <a:prstDash val="solid"/>
          </a:ln>
        </p:spPr>
      </p:sp>
      <p:sp>
        <p:nvSpPr>
          <p:cNvPr id="17" name="Text 15"/>
          <p:cNvSpPr/>
          <p:nvPr/>
        </p:nvSpPr>
        <p:spPr>
          <a:xfrm>
            <a:off x="1655064" y="3337560"/>
            <a:ext cx="2542032" cy="548640"/>
          </a:xfrm>
          <a:prstGeom prst="rect">
            <a:avLst/>
          </a:prstGeom>
          <a:noFill/>
          <a:ln/>
        </p:spPr>
        <p:txBody>
          <a:bodyPr wrap="square" lIns="0" tIns="0" rIns="0" bIns="0" rtlCol="0" anchor="ctr"/>
          <a:lstStyle/>
          <a:p>
            <a:pPr algn="ctr" indent="0" marL="0">
              <a:buNone/>
            </a:pPr>
            <a:r>
              <a:rPr lang="en-US" sz="1150" b="1" dirty="0">
                <a:solidFill>
                  <a:srgbClr val="262B3A"/>
                </a:solidFill>
                <a:latin typeface="Calibri" pitchFamily="34" charset="0"/>
                <a:ea typeface="Calibri" pitchFamily="34" charset="-122"/>
                <a:cs typeface="Calibri" pitchFamily="34" charset="-120"/>
              </a:rPr>
              <a:t>Thyroid gland</a:t>
            </a:r>
            <a:endParaRPr lang="en-US" sz="1150" dirty="0"/>
          </a:p>
        </p:txBody>
      </p:sp>
      <p:sp>
        <p:nvSpPr>
          <p:cNvPr id="18" name="Shape 16"/>
          <p:cNvSpPr/>
          <p:nvPr/>
        </p:nvSpPr>
        <p:spPr>
          <a:xfrm>
            <a:off x="1600200" y="4297680"/>
            <a:ext cx="2651760" cy="548640"/>
          </a:xfrm>
          <a:prstGeom prst="roundRect">
            <a:avLst>
              <a:gd name="adj" fmla="val 10000"/>
            </a:avLst>
          </a:prstGeom>
          <a:solidFill>
            <a:srgbClr val="E3F2E8"/>
          </a:solidFill>
          <a:ln w="15875">
            <a:solidFill>
              <a:srgbClr val="1E6B40"/>
            </a:solidFill>
            <a:prstDash val="solid"/>
          </a:ln>
        </p:spPr>
      </p:sp>
      <p:sp>
        <p:nvSpPr>
          <p:cNvPr id="19" name="Text 17"/>
          <p:cNvSpPr/>
          <p:nvPr/>
        </p:nvSpPr>
        <p:spPr>
          <a:xfrm>
            <a:off x="1655064" y="4297680"/>
            <a:ext cx="2542032" cy="548640"/>
          </a:xfrm>
          <a:prstGeom prst="rect">
            <a:avLst/>
          </a:prstGeom>
          <a:noFill/>
          <a:ln/>
        </p:spPr>
        <p:txBody>
          <a:bodyPr wrap="square" lIns="0" tIns="0" rIns="0" bIns="0" rtlCol="0" anchor="ctr"/>
          <a:lstStyle/>
          <a:p>
            <a:pPr algn="ctr" indent="0" marL="0">
              <a:buNone/>
            </a:pPr>
            <a:r>
              <a:rPr lang="en-US" sz="1150" dirty="0">
                <a:solidFill>
                  <a:srgbClr val="262B3A"/>
                </a:solidFill>
                <a:latin typeface="Calibri" pitchFamily="34" charset="0"/>
                <a:ea typeface="Calibri" pitchFamily="34" charset="-122"/>
                <a:cs typeface="Calibri" pitchFamily="34" charset="-120"/>
              </a:rPr>
              <a:t>Body cells: </a:t>
            </a:r>
            <a:r>
              <a:rPr lang="en-US" sz="1150" b="1" dirty="0">
                <a:solidFill>
                  <a:srgbClr val="262B3A"/>
                </a:solidFill>
                <a:latin typeface="Calibri" pitchFamily="34" charset="0"/>
                <a:ea typeface="Calibri" pitchFamily="34" charset="-122"/>
                <a:cs typeface="Calibri" pitchFamily="34" charset="-120"/>
              </a:rPr>
              <a:t>metabolic rate</a:t>
            </a:r>
            <a:r>
              <a:rPr lang="en-US" sz="1150" dirty="0">
                <a:solidFill>
                  <a:srgbClr val="262B3A"/>
                </a:solidFill>
                <a:latin typeface="Calibri" pitchFamily="34" charset="0"/>
                <a:ea typeface="Calibri" pitchFamily="34" charset="-122"/>
                <a:cs typeface="Calibri" pitchFamily="34" charset="-120"/>
              </a:rPr>
              <a:t> ↑</a:t>
            </a:r>
            <a:endParaRPr lang="en-US" sz="1150" dirty="0"/>
          </a:p>
        </p:txBody>
      </p:sp>
      <p:sp>
        <p:nvSpPr>
          <p:cNvPr id="20" name="Shape 18"/>
          <p:cNvSpPr/>
          <p:nvPr/>
        </p:nvSpPr>
        <p:spPr>
          <a:xfrm>
            <a:off x="2926080" y="1965960"/>
            <a:ext cx="91" cy="411480"/>
          </a:xfrm>
          <a:prstGeom prst="line">
            <a:avLst/>
          </a:prstGeom>
          <a:noFill/>
          <a:ln w="31750">
            <a:solidFill>
              <a:srgbClr val="1C3A2C"/>
            </a:solidFill>
            <a:prstDash val="solid"/>
            <a:tailEnd type="triangle"/>
          </a:ln>
        </p:spPr>
      </p:sp>
      <p:sp>
        <p:nvSpPr>
          <p:cNvPr id="21" name="Text 19"/>
          <p:cNvSpPr/>
          <p:nvPr/>
        </p:nvSpPr>
        <p:spPr>
          <a:xfrm>
            <a:off x="3017520" y="2039112"/>
            <a:ext cx="1097280" cy="256032"/>
          </a:xfrm>
          <a:prstGeom prst="rect">
            <a:avLst/>
          </a:prstGeom>
          <a:noFill/>
          <a:ln/>
        </p:spPr>
        <p:txBody>
          <a:bodyPr wrap="square" lIns="0" tIns="0" rIns="0" bIns="0" rtlCol="0" anchor="ctr"/>
          <a:lstStyle/>
          <a:p>
            <a:pPr algn="l" indent="0" marL="0">
              <a:buNone/>
            </a:pPr>
            <a:r>
              <a:rPr lang="en-US" sz="1100" b="1" dirty="0">
                <a:solidFill>
                  <a:srgbClr val="2A7448"/>
                </a:solidFill>
                <a:latin typeface="Calibri" pitchFamily="34" charset="0"/>
                <a:ea typeface="Calibri" pitchFamily="34" charset="-122"/>
                <a:cs typeface="Calibri" pitchFamily="34" charset="-120"/>
              </a:rPr>
              <a:t>TRH</a:t>
            </a:r>
            <a:endParaRPr lang="en-US" sz="1100" dirty="0"/>
          </a:p>
        </p:txBody>
      </p:sp>
      <p:sp>
        <p:nvSpPr>
          <p:cNvPr id="22" name="Shape 20"/>
          <p:cNvSpPr/>
          <p:nvPr/>
        </p:nvSpPr>
        <p:spPr>
          <a:xfrm>
            <a:off x="2926080" y="2926080"/>
            <a:ext cx="91" cy="411480"/>
          </a:xfrm>
          <a:prstGeom prst="line">
            <a:avLst/>
          </a:prstGeom>
          <a:noFill/>
          <a:ln w="31750">
            <a:solidFill>
              <a:srgbClr val="1C3A2C"/>
            </a:solidFill>
            <a:prstDash val="solid"/>
            <a:tailEnd type="triangle"/>
          </a:ln>
        </p:spPr>
      </p:sp>
      <p:sp>
        <p:nvSpPr>
          <p:cNvPr id="23" name="Text 21"/>
          <p:cNvSpPr/>
          <p:nvPr/>
        </p:nvSpPr>
        <p:spPr>
          <a:xfrm>
            <a:off x="3017520" y="2999232"/>
            <a:ext cx="1097280" cy="256032"/>
          </a:xfrm>
          <a:prstGeom prst="rect">
            <a:avLst/>
          </a:prstGeom>
          <a:noFill/>
          <a:ln/>
        </p:spPr>
        <p:txBody>
          <a:bodyPr wrap="square" lIns="0" tIns="0" rIns="0" bIns="0" rtlCol="0" anchor="ctr"/>
          <a:lstStyle/>
          <a:p>
            <a:pPr algn="l" indent="0" marL="0">
              <a:buNone/>
            </a:pPr>
            <a:r>
              <a:rPr lang="en-US" sz="1100" b="1" dirty="0">
                <a:solidFill>
                  <a:srgbClr val="2A7448"/>
                </a:solidFill>
                <a:latin typeface="Calibri" pitchFamily="34" charset="0"/>
                <a:ea typeface="Calibri" pitchFamily="34" charset="-122"/>
                <a:cs typeface="Calibri" pitchFamily="34" charset="-120"/>
              </a:rPr>
              <a:t>TSH</a:t>
            </a:r>
            <a:endParaRPr lang="en-US" sz="1100" dirty="0"/>
          </a:p>
        </p:txBody>
      </p:sp>
      <p:sp>
        <p:nvSpPr>
          <p:cNvPr id="24" name="Shape 22"/>
          <p:cNvSpPr/>
          <p:nvPr/>
        </p:nvSpPr>
        <p:spPr>
          <a:xfrm>
            <a:off x="2926080" y="3886200"/>
            <a:ext cx="91" cy="411480"/>
          </a:xfrm>
          <a:prstGeom prst="line">
            <a:avLst/>
          </a:prstGeom>
          <a:noFill/>
          <a:ln w="31750">
            <a:solidFill>
              <a:srgbClr val="1C3A2C"/>
            </a:solidFill>
            <a:prstDash val="solid"/>
            <a:tailEnd type="triangle"/>
          </a:ln>
        </p:spPr>
      </p:sp>
      <p:sp>
        <p:nvSpPr>
          <p:cNvPr id="25" name="Text 23"/>
          <p:cNvSpPr/>
          <p:nvPr/>
        </p:nvSpPr>
        <p:spPr>
          <a:xfrm>
            <a:off x="3017520" y="3959352"/>
            <a:ext cx="1097280" cy="256032"/>
          </a:xfrm>
          <a:prstGeom prst="rect">
            <a:avLst/>
          </a:prstGeom>
          <a:noFill/>
          <a:ln/>
        </p:spPr>
        <p:txBody>
          <a:bodyPr wrap="square" lIns="0" tIns="0" rIns="0" bIns="0" rtlCol="0" anchor="ctr"/>
          <a:lstStyle/>
          <a:p>
            <a:pPr algn="l" indent="0" marL="0">
              <a:buNone/>
            </a:pPr>
            <a:r>
              <a:rPr lang="en-US" sz="1100" b="1" dirty="0">
                <a:solidFill>
                  <a:srgbClr val="2A7448"/>
                </a:solidFill>
                <a:latin typeface="Calibri" pitchFamily="34" charset="0"/>
                <a:ea typeface="Calibri" pitchFamily="34" charset="-122"/>
                <a:cs typeface="Calibri" pitchFamily="34" charset="-120"/>
              </a:rPr>
              <a:t>thyroxine</a:t>
            </a:r>
            <a:endParaRPr lang="en-US" sz="1100" dirty="0"/>
          </a:p>
        </p:txBody>
      </p:sp>
      <p:sp>
        <p:nvSpPr>
          <p:cNvPr id="26" name="Shape 24"/>
          <p:cNvSpPr/>
          <p:nvPr/>
        </p:nvSpPr>
        <p:spPr>
          <a:xfrm>
            <a:off x="4251960" y="3657600"/>
            <a:ext cx="640080" cy="91"/>
          </a:xfrm>
          <a:prstGeom prst="line">
            <a:avLst/>
          </a:prstGeom>
          <a:noFill/>
          <a:ln w="25400">
            <a:solidFill>
              <a:srgbClr val="C8414C"/>
            </a:solidFill>
            <a:prstDash val="dash"/>
          </a:ln>
        </p:spPr>
      </p:sp>
      <p:sp>
        <p:nvSpPr>
          <p:cNvPr id="27" name="Shape 25"/>
          <p:cNvSpPr/>
          <p:nvPr/>
        </p:nvSpPr>
        <p:spPr>
          <a:xfrm flipV="1">
            <a:off x="4892040" y="1691640"/>
            <a:ext cx="91" cy="1965960"/>
          </a:xfrm>
          <a:prstGeom prst="line">
            <a:avLst/>
          </a:prstGeom>
          <a:noFill/>
          <a:ln w="25400">
            <a:solidFill>
              <a:srgbClr val="C8414C"/>
            </a:solidFill>
            <a:prstDash val="dash"/>
          </a:ln>
        </p:spPr>
      </p:sp>
      <p:sp>
        <p:nvSpPr>
          <p:cNvPr id="28" name="Shape 26"/>
          <p:cNvSpPr/>
          <p:nvPr/>
        </p:nvSpPr>
        <p:spPr>
          <a:xfrm flipH="1">
            <a:off x="4270248" y="1691640"/>
            <a:ext cx="621792" cy="91"/>
          </a:xfrm>
          <a:prstGeom prst="line">
            <a:avLst/>
          </a:prstGeom>
          <a:noFill/>
          <a:ln w="25400">
            <a:solidFill>
              <a:srgbClr val="C8414C"/>
            </a:solidFill>
            <a:prstDash val="dash"/>
          </a:ln>
        </p:spPr>
      </p:sp>
      <p:sp>
        <p:nvSpPr>
          <p:cNvPr id="29" name="Shape 27"/>
          <p:cNvSpPr/>
          <p:nvPr/>
        </p:nvSpPr>
        <p:spPr>
          <a:xfrm flipV="1">
            <a:off x="4270248" y="1572768"/>
            <a:ext cx="91" cy="237744"/>
          </a:xfrm>
          <a:prstGeom prst="line">
            <a:avLst/>
          </a:prstGeom>
          <a:noFill/>
          <a:ln w="38100">
            <a:solidFill>
              <a:srgbClr val="C8414C"/>
            </a:solidFill>
            <a:prstDash val="solid"/>
          </a:ln>
        </p:spPr>
      </p:sp>
      <p:sp>
        <p:nvSpPr>
          <p:cNvPr id="30" name="Shape 28"/>
          <p:cNvSpPr/>
          <p:nvPr/>
        </p:nvSpPr>
        <p:spPr>
          <a:xfrm flipH="1">
            <a:off x="4270248" y="2651760"/>
            <a:ext cx="621792" cy="91"/>
          </a:xfrm>
          <a:prstGeom prst="line">
            <a:avLst/>
          </a:prstGeom>
          <a:noFill/>
          <a:ln w="25400">
            <a:solidFill>
              <a:srgbClr val="C8414C"/>
            </a:solidFill>
            <a:prstDash val="dash"/>
          </a:ln>
        </p:spPr>
      </p:sp>
      <p:sp>
        <p:nvSpPr>
          <p:cNvPr id="31" name="Shape 29"/>
          <p:cNvSpPr/>
          <p:nvPr/>
        </p:nvSpPr>
        <p:spPr>
          <a:xfrm flipV="1">
            <a:off x="4270248" y="2532888"/>
            <a:ext cx="91" cy="237744"/>
          </a:xfrm>
          <a:prstGeom prst="line">
            <a:avLst/>
          </a:prstGeom>
          <a:noFill/>
          <a:ln w="38100">
            <a:solidFill>
              <a:srgbClr val="C8414C"/>
            </a:solidFill>
            <a:prstDash val="solid"/>
          </a:ln>
        </p:spPr>
      </p:sp>
      <p:sp>
        <p:nvSpPr>
          <p:cNvPr id="32" name="Shape 30"/>
          <p:cNvSpPr/>
          <p:nvPr/>
        </p:nvSpPr>
        <p:spPr>
          <a:xfrm>
            <a:off x="4754880" y="3017520"/>
            <a:ext cx="274320" cy="274320"/>
          </a:xfrm>
          <a:prstGeom prst="ellipse">
            <a:avLst/>
          </a:prstGeom>
          <a:solidFill>
            <a:srgbClr val="C8414C"/>
          </a:solidFill>
          <a:ln w="12700">
            <a:solidFill>
              <a:srgbClr val="8E2A33"/>
            </a:solidFill>
            <a:prstDash val="solid"/>
          </a:ln>
        </p:spPr>
      </p:sp>
      <p:sp>
        <p:nvSpPr>
          <p:cNvPr id="33" name="Text 31"/>
          <p:cNvSpPr/>
          <p:nvPr/>
        </p:nvSpPr>
        <p:spPr>
          <a:xfrm>
            <a:off x="4754880" y="3017520"/>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4389120" y="3730752"/>
            <a:ext cx="1143000" cy="685800"/>
          </a:xfrm>
          <a:prstGeom prst="rect">
            <a:avLst/>
          </a:prstGeom>
          <a:noFill/>
          <a:ln/>
        </p:spPr>
        <p:txBody>
          <a:bodyPr wrap="square" lIns="0" tIns="0" rIns="0" bIns="0" rtlCol="0" anchor="t"/>
          <a:lstStyle/>
          <a:p>
            <a:pPr algn="ctr" indent="0" marL="0">
              <a:buNone/>
            </a:pPr>
            <a:r>
              <a:rPr lang="en-US" sz="1000" dirty="0">
                <a:solidFill>
                  <a:srgbClr val="C8414C"/>
                </a:solidFill>
                <a:latin typeface="Calibri" pitchFamily="34" charset="0"/>
                <a:ea typeface="Calibri" pitchFamily="34" charset="-122"/>
                <a:cs typeface="Calibri" pitchFamily="34" charset="-120"/>
              </a:rPr>
              <a:t>thyroxine </a:t>
            </a:r>
            <a:r>
              <a:rPr lang="en-US" sz="1000" b="1" dirty="0">
                <a:solidFill>
                  <a:srgbClr val="C8414C"/>
                </a:solidFill>
                <a:latin typeface="Calibri" pitchFamily="34" charset="0"/>
                <a:ea typeface="Calibri" pitchFamily="34" charset="-122"/>
                <a:cs typeface="Calibri" pitchFamily="34" charset="-120"/>
              </a:rPr>
              <a:t>normal or high</a:t>
            </a:r>
            <a:r>
              <a:rPr lang="en-US" sz="1000" dirty="0">
                <a:solidFill>
                  <a:srgbClr val="C8414C"/>
                </a:solidFill>
                <a:latin typeface="Calibri" pitchFamily="34" charset="0"/>
                <a:ea typeface="Calibri" pitchFamily="34" charset="-122"/>
                <a:cs typeface="Calibri" pitchFamily="34" charset="-120"/>
              </a:rPr>
              <a:t>: inhibits TRH and TSH</a:t>
            </a:r>
            <a:endParaRPr lang="en-US" sz="1000" dirty="0"/>
          </a:p>
        </p:txBody>
      </p:sp>
      <p:sp>
        <p:nvSpPr>
          <p:cNvPr id="35" name="Shape 33"/>
          <p:cNvSpPr/>
          <p:nvPr/>
        </p:nvSpPr>
        <p:spPr>
          <a:xfrm flipH="1">
            <a:off x="1097280" y="3657600"/>
            <a:ext cx="502920" cy="91"/>
          </a:xfrm>
          <a:prstGeom prst="line">
            <a:avLst/>
          </a:prstGeom>
          <a:noFill/>
          <a:ln w="25400">
            <a:solidFill>
              <a:srgbClr val="2E8B57"/>
            </a:solidFill>
            <a:prstDash val="dash"/>
          </a:ln>
        </p:spPr>
      </p:sp>
      <p:sp>
        <p:nvSpPr>
          <p:cNvPr id="36" name="Shape 34"/>
          <p:cNvSpPr/>
          <p:nvPr/>
        </p:nvSpPr>
        <p:spPr>
          <a:xfrm flipV="1">
            <a:off x="1097280" y="1691640"/>
            <a:ext cx="91" cy="1965960"/>
          </a:xfrm>
          <a:prstGeom prst="line">
            <a:avLst/>
          </a:prstGeom>
          <a:noFill/>
          <a:ln w="25400">
            <a:solidFill>
              <a:srgbClr val="2E8B57"/>
            </a:solidFill>
            <a:prstDash val="dash"/>
          </a:ln>
        </p:spPr>
      </p:sp>
      <p:sp>
        <p:nvSpPr>
          <p:cNvPr id="37" name="Shape 35"/>
          <p:cNvSpPr/>
          <p:nvPr/>
        </p:nvSpPr>
        <p:spPr>
          <a:xfrm>
            <a:off x="1097280" y="1691640"/>
            <a:ext cx="484632" cy="91"/>
          </a:xfrm>
          <a:prstGeom prst="line">
            <a:avLst/>
          </a:prstGeom>
          <a:noFill/>
          <a:ln w="25400">
            <a:solidFill>
              <a:srgbClr val="2E8B57"/>
            </a:solidFill>
            <a:prstDash val="dash"/>
            <a:tailEnd type="triangle"/>
          </a:ln>
        </p:spPr>
      </p:sp>
      <p:sp>
        <p:nvSpPr>
          <p:cNvPr id="38" name="Shape 36"/>
          <p:cNvSpPr/>
          <p:nvPr/>
        </p:nvSpPr>
        <p:spPr>
          <a:xfrm>
            <a:off x="960120" y="2514600"/>
            <a:ext cx="274320" cy="274320"/>
          </a:xfrm>
          <a:prstGeom prst="ellipse">
            <a:avLst/>
          </a:prstGeom>
          <a:solidFill>
            <a:srgbClr val="2E8B57"/>
          </a:solidFill>
          <a:ln w="12700">
            <a:solidFill>
              <a:srgbClr val="1E6B40"/>
            </a:solidFill>
            <a:prstDash val="solid"/>
          </a:ln>
        </p:spPr>
      </p:sp>
      <p:sp>
        <p:nvSpPr>
          <p:cNvPr id="39" name="Text 37"/>
          <p:cNvSpPr/>
          <p:nvPr/>
        </p:nvSpPr>
        <p:spPr>
          <a:xfrm>
            <a:off x="960120" y="2514600"/>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40" name="Text 38"/>
          <p:cNvSpPr/>
          <p:nvPr/>
        </p:nvSpPr>
        <p:spPr>
          <a:xfrm>
            <a:off x="502920" y="3730752"/>
            <a:ext cx="1188720" cy="548640"/>
          </a:xfrm>
          <a:prstGeom prst="rect">
            <a:avLst/>
          </a:prstGeom>
          <a:noFill/>
          <a:ln/>
        </p:spPr>
        <p:txBody>
          <a:bodyPr wrap="square" lIns="0" tIns="0" rIns="0" bIns="0" rtlCol="0" anchor="t"/>
          <a:lstStyle/>
          <a:p>
            <a:pPr algn="ctr" indent="0" marL="0">
              <a:buNone/>
            </a:pPr>
            <a:r>
              <a:rPr lang="en-US" sz="1000" dirty="0">
                <a:solidFill>
                  <a:srgbClr val="1E6B40"/>
                </a:solidFill>
                <a:latin typeface="Calibri" pitchFamily="34" charset="0"/>
                <a:ea typeface="Calibri" pitchFamily="34" charset="-122"/>
                <a:cs typeface="Calibri" pitchFamily="34" charset="-120"/>
              </a:rPr>
              <a:t>thyroxine </a:t>
            </a:r>
            <a:r>
              <a:rPr lang="en-US" sz="1000" b="1" dirty="0">
                <a:solidFill>
                  <a:srgbClr val="1E6B40"/>
                </a:solidFill>
                <a:latin typeface="Calibri" pitchFamily="34" charset="0"/>
                <a:ea typeface="Calibri" pitchFamily="34" charset="-122"/>
                <a:cs typeface="Calibri" pitchFamily="34" charset="-120"/>
              </a:rPr>
              <a:t>low</a:t>
            </a:r>
            <a:r>
              <a:rPr lang="en-US" sz="1000" dirty="0">
                <a:solidFill>
                  <a:srgbClr val="1E6B40"/>
                </a:solidFill>
                <a:latin typeface="Calibri" pitchFamily="34" charset="0"/>
                <a:ea typeface="Calibri" pitchFamily="34" charset="-122"/>
                <a:cs typeface="Calibri" pitchFamily="34" charset="-120"/>
              </a:rPr>
              <a:t>: stimulates TRH</a:t>
            </a:r>
            <a:endParaRPr lang="en-US" sz="1000" dirty="0"/>
          </a:p>
        </p:txBody>
      </p:sp>
      <p:sp>
        <p:nvSpPr>
          <p:cNvPr id="41" name="Text 39"/>
          <p:cNvSpPr/>
          <p:nvPr/>
        </p:nvSpPr>
        <p:spPr>
          <a:xfrm>
            <a:off x="1600200" y="4983480"/>
            <a:ext cx="2743200" cy="256032"/>
          </a:xfrm>
          <a:prstGeom prst="rect">
            <a:avLst/>
          </a:prstGeom>
          <a:noFill/>
          <a:ln/>
        </p:spPr>
        <p:txBody>
          <a:bodyPr wrap="square" lIns="0" tIns="0" rIns="0" bIns="0" rtlCol="0" anchor="ctr"/>
          <a:lstStyle/>
          <a:p>
            <a:pPr algn="ctr" indent="0" marL="0">
              <a:buNone/>
            </a:pPr>
            <a:r>
              <a:rPr lang="en-US" sz="1050" i="1" dirty="0">
                <a:solidFill>
                  <a:srgbClr val="1C3A2C"/>
                </a:solidFill>
                <a:latin typeface="Calibri" pitchFamily="34" charset="0"/>
                <a:ea typeface="Calibri" pitchFamily="34" charset="-122"/>
                <a:cs typeface="Calibri" pitchFamily="34" charset="-120"/>
              </a:rPr>
              <a:t>the result reverses the change = </a:t>
            </a:r>
            <a:r>
              <a:rPr lang="en-US" sz="1050" b="1" i="1" dirty="0">
                <a:solidFill>
                  <a:srgbClr val="1C3A2C"/>
                </a:solidFill>
                <a:latin typeface="Calibri" pitchFamily="34" charset="0"/>
                <a:ea typeface="Calibri" pitchFamily="34" charset="-122"/>
                <a:cs typeface="Calibri" pitchFamily="34" charset="-120"/>
              </a:rPr>
              <a:t>negative feedback</a:t>
            </a:r>
            <a:endParaRPr lang="en-US" sz="1050" dirty="0"/>
          </a:p>
        </p:txBody>
      </p:sp>
      <p:sp>
        <p:nvSpPr>
          <p:cNvPr id="42" name="Shape 40"/>
          <p:cNvSpPr/>
          <p:nvPr/>
        </p:nvSpPr>
        <p:spPr>
          <a:xfrm>
            <a:off x="6217920" y="1188720"/>
            <a:ext cx="5562295" cy="2423160"/>
          </a:xfrm>
          <a:prstGeom prst="roundRect">
            <a:avLst>
              <a:gd name="adj" fmla="val 2264"/>
            </a:avLst>
          </a:prstGeom>
          <a:solidFill>
            <a:srgbClr val="F5FBF7"/>
          </a:solidFill>
          <a:ln w="9525">
            <a:solidFill>
              <a:srgbClr val="D2E5D8"/>
            </a:solidFill>
            <a:prstDash val="solid"/>
          </a:ln>
        </p:spPr>
      </p:sp>
      <p:sp>
        <p:nvSpPr>
          <p:cNvPr id="43" name="Text 4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The thyroxine control loop</a:t>
            </a:r>
            <a:endParaRPr lang="en-US" sz="1300" dirty="0"/>
          </a:p>
        </p:txBody>
      </p:sp>
      <p:sp>
        <p:nvSpPr>
          <p:cNvPr id="44" name="Text 4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Thyroxine</a:t>
            </a:r>
            <a:r>
              <a:rPr lang="en-US" sz="1100" dirty="0">
                <a:solidFill>
                  <a:srgbClr val="262B3A"/>
                </a:solidFill>
                <a:latin typeface="Calibri" pitchFamily="34" charset="0"/>
                <a:ea typeface="Calibri" pitchFamily="34" charset="-122"/>
                <a:cs typeface="Calibri" pitchFamily="34" charset="-120"/>
              </a:rPr>
              <a:t> (from the thyroid) controls the </a:t>
            </a:r>
            <a:r>
              <a:rPr lang="en-US" sz="1100" b="1" dirty="0">
                <a:solidFill>
                  <a:srgbClr val="262B3A"/>
                </a:solidFill>
                <a:latin typeface="Calibri" pitchFamily="34" charset="0"/>
                <a:ea typeface="Calibri" pitchFamily="34" charset="-122"/>
                <a:cs typeface="Calibri" pitchFamily="34" charset="-120"/>
              </a:rPr>
              <a:t>metabolic rate</a:t>
            </a:r>
            <a:r>
              <a:rPr lang="en-US" sz="1100" dirty="0">
                <a:solidFill>
                  <a:srgbClr val="262B3A"/>
                </a:solidFill>
                <a:latin typeface="Calibri" pitchFamily="34" charset="0"/>
                <a:ea typeface="Calibri" pitchFamily="34" charset="-122"/>
                <a:cs typeface="Calibri" pitchFamily="34" charset="-120"/>
              </a:rPr>
              <a:t>: how fast chemical reactions happen in cells.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a</a:t>
            </a:r>
            <a:r>
              <a:rPr lang="en-US" sz="1100" dirty="0">
                <a:solidFill>
                  <a:srgbClr val="262B3A"/>
                </a:solidFill>
                <a:latin typeface="Calibri" pitchFamily="34" charset="0"/>
                <a:ea typeface="Calibri" pitchFamily="34" charset="-122"/>
                <a:cs typeface="Calibri" pitchFamily="34" charset="-120"/>
              </a:rPr>
              <a:t> Low thyroxine stimulates the </a:t>
            </a:r>
            <a:r>
              <a:rPr lang="en-US" sz="1100" b="1" dirty="0">
                <a:solidFill>
                  <a:srgbClr val="262B3A"/>
                </a:solidFill>
                <a:latin typeface="Calibri" pitchFamily="34" charset="0"/>
                <a:ea typeface="Calibri" pitchFamily="34" charset="-122"/>
                <a:cs typeface="Calibri" pitchFamily="34" charset="-120"/>
              </a:rPr>
              <a:t>hypothalamus</a:t>
            </a:r>
            <a:r>
              <a:rPr lang="en-US" sz="1100" dirty="0">
                <a:solidFill>
                  <a:srgbClr val="262B3A"/>
                </a:solidFill>
                <a:latin typeface="Calibri" pitchFamily="34" charset="0"/>
                <a:ea typeface="Calibri" pitchFamily="34" charset="-122"/>
                <a:cs typeface="Calibri" pitchFamily="34" charset="-120"/>
              </a:rPr>
              <a:t> to make </a:t>
            </a:r>
            <a:r>
              <a:rPr lang="en-US" sz="1100" b="1" dirty="0">
                <a:solidFill>
                  <a:srgbClr val="262B3A"/>
                </a:solidFill>
                <a:latin typeface="Calibri" pitchFamily="34" charset="0"/>
                <a:ea typeface="Calibri" pitchFamily="34" charset="-122"/>
                <a:cs typeface="Calibri" pitchFamily="34" charset="-120"/>
              </a:rPr>
              <a:t>TRH</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b</a:t>
            </a:r>
            <a:r>
              <a:rPr lang="en-US" sz="1100" dirty="0">
                <a:solidFill>
                  <a:srgbClr val="262B3A"/>
                </a:solidFill>
                <a:latin typeface="Calibri" pitchFamily="34" charset="0"/>
                <a:ea typeface="Calibri" pitchFamily="34" charset="-122"/>
                <a:cs typeface="Calibri" pitchFamily="34" charset="-120"/>
              </a:rPr>
              <a:t> TRH causes the </a:t>
            </a:r>
            <a:r>
              <a:rPr lang="en-US" sz="1100" b="1" dirty="0">
                <a:solidFill>
                  <a:srgbClr val="262B3A"/>
                </a:solidFill>
                <a:latin typeface="Calibri" pitchFamily="34" charset="0"/>
                <a:ea typeface="Calibri" pitchFamily="34" charset="-122"/>
                <a:cs typeface="Calibri" pitchFamily="34" charset="-120"/>
              </a:rPr>
              <a:t>pituitary</a:t>
            </a:r>
            <a:r>
              <a:rPr lang="en-US" sz="1100" dirty="0">
                <a:solidFill>
                  <a:srgbClr val="262B3A"/>
                </a:solidFill>
                <a:latin typeface="Calibri" pitchFamily="34" charset="0"/>
                <a:ea typeface="Calibri" pitchFamily="34" charset="-122"/>
                <a:cs typeface="Calibri" pitchFamily="34" charset="-120"/>
              </a:rPr>
              <a:t> to release </a:t>
            </a:r>
            <a:r>
              <a:rPr lang="en-US" sz="1100" b="1" dirty="0">
                <a:solidFill>
                  <a:srgbClr val="262B3A"/>
                </a:solidFill>
                <a:latin typeface="Calibri" pitchFamily="34" charset="0"/>
                <a:ea typeface="Calibri" pitchFamily="34" charset="-122"/>
                <a:cs typeface="Calibri" pitchFamily="34" charset="-120"/>
              </a:rPr>
              <a:t>TSH</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a:t>
            </a:r>
            <a:r>
              <a:rPr lang="en-US" sz="1100" dirty="0">
                <a:solidFill>
                  <a:srgbClr val="262B3A"/>
                </a:solidFill>
                <a:latin typeface="Calibri" pitchFamily="34" charset="0"/>
                <a:ea typeface="Calibri" pitchFamily="34" charset="-122"/>
                <a:cs typeface="Calibri" pitchFamily="34" charset="-120"/>
              </a:rPr>
              <a:t> TSH acts on the </a:t>
            </a:r>
            <a:r>
              <a:rPr lang="en-US" sz="1100" b="1" dirty="0">
                <a:solidFill>
                  <a:srgbClr val="262B3A"/>
                </a:solidFill>
                <a:latin typeface="Calibri" pitchFamily="34" charset="0"/>
                <a:ea typeface="Calibri" pitchFamily="34" charset="-122"/>
                <a:cs typeface="Calibri" pitchFamily="34" charset="-120"/>
              </a:rPr>
              <a:t>thyroid</a:t>
            </a:r>
            <a:r>
              <a:rPr lang="en-US" sz="1100" dirty="0">
                <a:solidFill>
                  <a:srgbClr val="262B3A"/>
                </a:solidFill>
                <a:latin typeface="Calibri" pitchFamily="34" charset="0"/>
                <a:ea typeface="Calibri" pitchFamily="34" charset="-122"/>
                <a:cs typeface="Calibri" pitchFamily="34" charset="-120"/>
              </a:rPr>
              <a:t> to produce </a:t>
            </a:r>
            <a:r>
              <a:rPr lang="en-US" sz="1100" b="1" dirty="0">
                <a:solidFill>
                  <a:srgbClr val="262B3A"/>
                </a:solidFill>
                <a:latin typeface="Calibri" pitchFamily="34" charset="0"/>
                <a:ea typeface="Calibri" pitchFamily="34" charset="-122"/>
                <a:cs typeface="Calibri" pitchFamily="34" charset="-120"/>
              </a:rPr>
              <a:t>thyroxine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d</a:t>
            </a:r>
            <a:r>
              <a:rPr lang="en-US" sz="1100" dirty="0">
                <a:solidFill>
                  <a:srgbClr val="262B3A"/>
                </a:solidFill>
                <a:latin typeface="Calibri" pitchFamily="34" charset="0"/>
                <a:ea typeface="Calibri" pitchFamily="34" charset="-122"/>
                <a:cs typeface="Calibri" pitchFamily="34" charset="-120"/>
              </a:rPr>
              <a:t> When thyroxine is </a:t>
            </a:r>
            <a:r>
              <a:rPr lang="en-US" sz="1100" b="1" dirty="0">
                <a:solidFill>
                  <a:srgbClr val="262B3A"/>
                </a:solidFill>
                <a:latin typeface="Calibri" pitchFamily="34" charset="0"/>
                <a:ea typeface="Calibri" pitchFamily="34" charset="-122"/>
                <a:cs typeface="Calibri" pitchFamily="34" charset="-120"/>
              </a:rPr>
              <a:t>normal</a:t>
            </a:r>
            <a:r>
              <a:rPr lang="en-US" sz="1100" dirty="0">
                <a:solidFill>
                  <a:srgbClr val="262B3A"/>
                </a:solidFill>
                <a:latin typeface="Calibri" pitchFamily="34" charset="0"/>
                <a:ea typeface="Calibri" pitchFamily="34" charset="-122"/>
                <a:cs typeface="Calibri" pitchFamily="34" charset="-120"/>
              </a:rPr>
              <a:t>, it </a:t>
            </a:r>
            <a:r>
              <a:rPr lang="en-US" sz="1100" b="1" dirty="0">
                <a:solidFill>
                  <a:srgbClr val="262B3A"/>
                </a:solidFill>
                <a:latin typeface="Calibri" pitchFamily="34" charset="0"/>
                <a:ea typeface="Calibri" pitchFamily="34" charset="-122"/>
                <a:cs typeface="Calibri" pitchFamily="34" charset="-120"/>
              </a:rPr>
              <a:t>inhibits</a:t>
            </a:r>
            <a:r>
              <a:rPr lang="en-US" sz="1100" dirty="0">
                <a:solidFill>
                  <a:srgbClr val="262B3A"/>
                </a:solidFill>
                <a:latin typeface="Calibri" pitchFamily="34" charset="0"/>
                <a:ea typeface="Calibri" pitchFamily="34" charset="-122"/>
                <a:cs typeface="Calibri" pitchFamily="34" charset="-120"/>
              </a:rPr>
              <a:t> TRH release and TSH production, so levels stay steady.</a:t>
            </a:r>
            <a:endParaRPr lang="en-US" sz="1100" dirty="0"/>
          </a:p>
        </p:txBody>
      </p:sp>
      <p:sp>
        <p:nvSpPr>
          <p:cNvPr id="45" name="Shape 4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6" name="Text 4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Why is this negative feedback?</a:t>
            </a:r>
            <a:endParaRPr lang="en-US" sz="1300" dirty="0"/>
          </a:p>
        </p:txBody>
      </p:sp>
      <p:sp>
        <p:nvSpPr>
          <p:cNvPr id="47" name="Text 45"/>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Thyroxine levels fall. Describe what happens.</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1 Detect   </a:t>
            </a:r>
            <a:r>
              <a:rPr lang="en-US" sz="1100" dirty="0">
                <a:solidFill>
                  <a:srgbClr val="262B3A"/>
                </a:solidFill>
                <a:latin typeface="Calibri" pitchFamily="34" charset="0"/>
                <a:ea typeface="Calibri" pitchFamily="34" charset="-122"/>
                <a:cs typeface="Calibri" pitchFamily="34" charset="-120"/>
              </a:rPr>
              <a:t>low thyroxine → hypothalamus releases more TRH</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2 Amplify   </a:t>
            </a:r>
            <a:r>
              <a:rPr lang="en-US" sz="1100" dirty="0">
                <a:solidFill>
                  <a:srgbClr val="262B3A"/>
                </a:solidFill>
                <a:latin typeface="Calibri" pitchFamily="34" charset="0"/>
                <a:ea typeface="Calibri" pitchFamily="34" charset="-122"/>
                <a:cs typeface="Calibri" pitchFamily="34" charset="-120"/>
              </a:rPr>
              <a:t>more TSH from the pituitary</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3 Respond   </a:t>
            </a:r>
            <a:r>
              <a:rPr lang="en-US" sz="1100" dirty="0">
                <a:solidFill>
                  <a:srgbClr val="262B3A"/>
                </a:solidFill>
                <a:latin typeface="Calibri" pitchFamily="34" charset="0"/>
                <a:ea typeface="Calibri" pitchFamily="34" charset="-122"/>
                <a:cs typeface="Calibri" pitchFamily="34" charset="-120"/>
              </a:rPr>
              <a:t>thyroid makes more thyroxine</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level rises back to normal: the change is reversed</a:t>
            </a:r>
            <a:endParaRPr lang="en-US" sz="1100" dirty="0"/>
          </a:p>
        </p:txBody>
      </p:sp>
      <p:sp>
        <p:nvSpPr>
          <p:cNvPr id="48" name="Shape 46"/>
          <p:cNvSpPr/>
          <p:nvPr/>
        </p:nvSpPr>
        <p:spPr>
          <a:xfrm>
            <a:off x="411480" y="5833872"/>
            <a:ext cx="11368735" cy="530352"/>
          </a:xfrm>
          <a:prstGeom prst="rect">
            <a:avLst/>
          </a:prstGeom>
          <a:solidFill>
            <a:srgbClr val="FFF4E0"/>
          </a:solidFill>
          <a:ln w="6350">
            <a:solidFill>
              <a:srgbClr val="F1D9A8"/>
            </a:solidFill>
            <a:prstDash val="solid"/>
          </a:ln>
        </p:spPr>
      </p:sp>
      <p:sp>
        <p:nvSpPr>
          <p:cNvPr id="49" name="Shape 47"/>
          <p:cNvSpPr/>
          <p:nvPr/>
        </p:nvSpPr>
        <p:spPr>
          <a:xfrm>
            <a:off x="411480" y="5833872"/>
            <a:ext cx="82296" cy="530352"/>
          </a:xfrm>
          <a:prstGeom prst="rect">
            <a:avLst/>
          </a:prstGeom>
          <a:solidFill>
            <a:srgbClr val="E39A2F"/>
          </a:solidFill>
          <a:ln w="12700">
            <a:solidFill>
              <a:srgbClr val="E39A2F"/>
            </a:solidFill>
            <a:prstDash val="solid"/>
          </a:ln>
        </p:spPr>
      </p:sp>
      <p:sp>
        <p:nvSpPr>
          <p:cNvPr id="50" name="Text 4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hormone released by the </a:t>
            </a:r>
            <a:r>
              <a:rPr lang="en-US" sz="1150" b="1" dirty="0">
                <a:solidFill>
                  <a:srgbClr val="262B3A"/>
                </a:solidFill>
                <a:latin typeface="Calibri" pitchFamily="34" charset="0"/>
                <a:ea typeface="Calibri" pitchFamily="34" charset="-122"/>
                <a:cs typeface="Calibri" pitchFamily="34" charset="-120"/>
              </a:rPr>
              <a:t>pituitary</a:t>
            </a:r>
            <a:r>
              <a:rPr lang="en-US" sz="1150" dirty="0">
                <a:solidFill>
                  <a:srgbClr val="262B3A"/>
                </a:solidFill>
                <a:latin typeface="Calibri" pitchFamily="34" charset="0"/>
                <a:ea typeface="Calibri" pitchFamily="34" charset="-122"/>
                <a:cs typeface="Calibri" pitchFamily="34" charset="-120"/>
              </a:rPr>
              <a:t> in this loop and its target gland. What does thyroxine control?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The menstrual cycle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7.4 • stages of the cycle and the roles of oestrogen and progesterone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7.4  |  10</a:t>
            </a:r>
            <a:endParaRPr lang="en-US" sz="1000" dirty="0"/>
          </a:p>
        </p:txBody>
      </p:sp>
      <p:sp>
        <p:nvSpPr>
          <p:cNvPr id="8" name="Shape 6"/>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female reproductive system, front view (uterus cut open)</a:t>
            </a:r>
            <a:endParaRPr lang="en-US" sz="1000" dirty="0"/>
          </a:p>
        </p:txBody>
      </p:sp>
      <p:sp>
        <p:nvSpPr>
          <p:cNvPr id="10" name="Shape 8"/>
          <p:cNvSpPr/>
          <p:nvPr/>
        </p:nvSpPr>
        <p:spPr>
          <a:xfrm flipH="1" flipV="1">
            <a:off x="1984248" y="1832092"/>
            <a:ext cx="351130" cy="245791"/>
          </a:xfrm>
          <a:prstGeom prst="line">
            <a:avLst/>
          </a:prstGeom>
          <a:noFill/>
          <a:ln w="113792">
            <a:solidFill>
              <a:srgbClr val="A33E48"/>
            </a:solidFill>
            <a:prstDash val="solid"/>
          </a:ln>
        </p:spPr>
      </p:sp>
      <p:sp>
        <p:nvSpPr>
          <p:cNvPr id="11" name="Shape 9"/>
          <p:cNvSpPr/>
          <p:nvPr/>
        </p:nvSpPr>
        <p:spPr>
          <a:xfrm flipH="1" flipV="1">
            <a:off x="1574597" y="1715049"/>
            <a:ext cx="409651" cy="117043"/>
          </a:xfrm>
          <a:prstGeom prst="line">
            <a:avLst/>
          </a:prstGeom>
          <a:noFill/>
          <a:ln w="113792">
            <a:solidFill>
              <a:srgbClr val="A33E48"/>
            </a:solidFill>
            <a:prstDash val="solid"/>
          </a:ln>
        </p:spPr>
      </p:sp>
      <p:sp>
        <p:nvSpPr>
          <p:cNvPr id="12" name="Shape 10"/>
          <p:cNvSpPr/>
          <p:nvPr/>
        </p:nvSpPr>
        <p:spPr>
          <a:xfrm flipH="1">
            <a:off x="1164946" y="1715049"/>
            <a:ext cx="409651" cy="187269"/>
          </a:xfrm>
          <a:prstGeom prst="line">
            <a:avLst/>
          </a:prstGeom>
          <a:noFill/>
          <a:ln w="113792">
            <a:solidFill>
              <a:srgbClr val="A33E48"/>
            </a:solidFill>
            <a:prstDash val="solid"/>
          </a:ln>
        </p:spPr>
      </p:sp>
      <p:sp>
        <p:nvSpPr>
          <p:cNvPr id="13" name="Shape 11"/>
          <p:cNvSpPr/>
          <p:nvPr/>
        </p:nvSpPr>
        <p:spPr>
          <a:xfrm flipH="1">
            <a:off x="954268" y="1902318"/>
            <a:ext cx="210678" cy="316017"/>
          </a:xfrm>
          <a:prstGeom prst="line">
            <a:avLst/>
          </a:prstGeom>
          <a:noFill/>
          <a:ln w="113792">
            <a:solidFill>
              <a:srgbClr val="A33E48"/>
            </a:solidFill>
            <a:prstDash val="solid"/>
          </a:ln>
        </p:spPr>
      </p:sp>
      <p:sp>
        <p:nvSpPr>
          <p:cNvPr id="14" name="Shape 12"/>
          <p:cNvSpPr/>
          <p:nvPr/>
        </p:nvSpPr>
        <p:spPr>
          <a:xfrm flipH="1" flipV="1">
            <a:off x="1984248" y="1832092"/>
            <a:ext cx="351130" cy="245791"/>
          </a:xfrm>
          <a:prstGeom prst="line">
            <a:avLst/>
          </a:prstGeom>
          <a:noFill/>
          <a:ln w="73152">
            <a:solidFill>
              <a:srgbClr val="EFB4B8"/>
            </a:solidFill>
            <a:prstDash val="solid"/>
          </a:ln>
        </p:spPr>
      </p:sp>
      <p:sp>
        <p:nvSpPr>
          <p:cNvPr id="15" name="Shape 13"/>
          <p:cNvSpPr/>
          <p:nvPr/>
        </p:nvSpPr>
        <p:spPr>
          <a:xfrm flipH="1" flipV="1">
            <a:off x="1574597" y="1715049"/>
            <a:ext cx="409651" cy="117043"/>
          </a:xfrm>
          <a:prstGeom prst="line">
            <a:avLst/>
          </a:prstGeom>
          <a:noFill/>
          <a:ln w="73152">
            <a:solidFill>
              <a:srgbClr val="EFB4B8"/>
            </a:solidFill>
            <a:prstDash val="solid"/>
          </a:ln>
        </p:spPr>
      </p:sp>
      <p:sp>
        <p:nvSpPr>
          <p:cNvPr id="16" name="Shape 14"/>
          <p:cNvSpPr/>
          <p:nvPr/>
        </p:nvSpPr>
        <p:spPr>
          <a:xfrm flipH="1">
            <a:off x="1164946" y="1715049"/>
            <a:ext cx="409651" cy="187269"/>
          </a:xfrm>
          <a:prstGeom prst="line">
            <a:avLst/>
          </a:prstGeom>
          <a:noFill/>
          <a:ln w="73152">
            <a:solidFill>
              <a:srgbClr val="EFB4B8"/>
            </a:solidFill>
            <a:prstDash val="solid"/>
          </a:ln>
        </p:spPr>
      </p:sp>
      <p:sp>
        <p:nvSpPr>
          <p:cNvPr id="17" name="Shape 15"/>
          <p:cNvSpPr/>
          <p:nvPr/>
        </p:nvSpPr>
        <p:spPr>
          <a:xfrm flipH="1">
            <a:off x="954268" y="1902318"/>
            <a:ext cx="210678" cy="316017"/>
          </a:xfrm>
          <a:prstGeom prst="line">
            <a:avLst/>
          </a:prstGeom>
          <a:noFill/>
          <a:ln w="73152">
            <a:solidFill>
              <a:srgbClr val="EFB4B8"/>
            </a:solidFill>
            <a:prstDash val="solid"/>
          </a:ln>
        </p:spPr>
      </p:sp>
      <p:sp>
        <p:nvSpPr>
          <p:cNvPr id="18" name="Shape 16"/>
          <p:cNvSpPr/>
          <p:nvPr/>
        </p:nvSpPr>
        <p:spPr>
          <a:xfrm flipH="1">
            <a:off x="788066" y="2218334"/>
            <a:ext cx="166201" cy="198973"/>
          </a:xfrm>
          <a:prstGeom prst="line">
            <a:avLst/>
          </a:prstGeom>
          <a:noFill/>
          <a:ln w="15875">
            <a:solidFill>
              <a:srgbClr val="A33E48"/>
            </a:solidFill>
            <a:prstDash val="solid"/>
          </a:ln>
        </p:spPr>
      </p:sp>
      <p:sp>
        <p:nvSpPr>
          <p:cNvPr id="19" name="Shape 17"/>
          <p:cNvSpPr/>
          <p:nvPr/>
        </p:nvSpPr>
        <p:spPr>
          <a:xfrm flipH="1">
            <a:off x="837225" y="2218334"/>
            <a:ext cx="117043" cy="198973"/>
          </a:xfrm>
          <a:prstGeom prst="line">
            <a:avLst/>
          </a:prstGeom>
          <a:noFill/>
          <a:ln w="15875">
            <a:solidFill>
              <a:srgbClr val="A33E48"/>
            </a:solidFill>
            <a:prstDash val="solid"/>
          </a:ln>
        </p:spPr>
      </p:sp>
      <p:sp>
        <p:nvSpPr>
          <p:cNvPr id="20" name="Shape 18"/>
          <p:cNvSpPr/>
          <p:nvPr/>
        </p:nvSpPr>
        <p:spPr>
          <a:xfrm flipH="1">
            <a:off x="886383" y="2218334"/>
            <a:ext cx="67885" cy="198973"/>
          </a:xfrm>
          <a:prstGeom prst="line">
            <a:avLst/>
          </a:prstGeom>
          <a:noFill/>
          <a:ln w="15875">
            <a:solidFill>
              <a:srgbClr val="A33E48"/>
            </a:solidFill>
            <a:prstDash val="solid"/>
          </a:ln>
        </p:spPr>
      </p:sp>
      <p:sp>
        <p:nvSpPr>
          <p:cNvPr id="21" name="Shape 19"/>
          <p:cNvSpPr/>
          <p:nvPr/>
        </p:nvSpPr>
        <p:spPr>
          <a:xfrm>
            <a:off x="1047902" y="2429012"/>
            <a:ext cx="702259" cy="444764"/>
          </a:xfrm>
          <a:prstGeom prst="ellipse">
            <a:avLst/>
          </a:prstGeom>
          <a:solidFill>
            <a:srgbClr val="F3D3A6"/>
          </a:solidFill>
          <a:ln w="15875">
            <a:solidFill>
              <a:srgbClr val="9A6A2A"/>
            </a:solidFill>
            <a:prstDash val="solid"/>
          </a:ln>
        </p:spPr>
      </p:sp>
      <p:sp>
        <p:nvSpPr>
          <p:cNvPr id="22" name="Shape 20"/>
          <p:cNvSpPr/>
          <p:nvPr/>
        </p:nvSpPr>
        <p:spPr>
          <a:xfrm>
            <a:off x="1138541" y="2534866"/>
            <a:ext cx="99627" cy="99627"/>
          </a:xfrm>
          <a:prstGeom prst="ellipse">
            <a:avLst/>
          </a:prstGeom>
          <a:solidFill>
            <a:srgbClr val="FFF6E8"/>
          </a:solidFill>
          <a:ln w="6350">
            <a:solidFill>
              <a:srgbClr val="9A6A2A"/>
            </a:solidFill>
            <a:prstDash val="solid"/>
          </a:ln>
        </p:spPr>
      </p:sp>
      <p:sp>
        <p:nvSpPr>
          <p:cNvPr id="23" name="Shape 21"/>
          <p:cNvSpPr/>
          <p:nvPr/>
        </p:nvSpPr>
        <p:spPr>
          <a:xfrm>
            <a:off x="1391448" y="2706545"/>
            <a:ext cx="85395" cy="85395"/>
          </a:xfrm>
          <a:prstGeom prst="ellipse">
            <a:avLst/>
          </a:prstGeom>
          <a:solidFill>
            <a:srgbClr val="FFF6E8"/>
          </a:solidFill>
          <a:ln w="6350">
            <a:solidFill>
              <a:srgbClr val="9A6A2A"/>
            </a:solidFill>
            <a:prstDash val="solid"/>
          </a:ln>
        </p:spPr>
      </p:sp>
      <p:sp>
        <p:nvSpPr>
          <p:cNvPr id="24" name="Shape 22"/>
          <p:cNvSpPr/>
          <p:nvPr/>
        </p:nvSpPr>
        <p:spPr>
          <a:xfrm>
            <a:off x="1293225" y="2669185"/>
            <a:ext cx="71162" cy="71162"/>
          </a:xfrm>
          <a:prstGeom prst="ellipse">
            <a:avLst/>
          </a:prstGeom>
          <a:solidFill>
            <a:srgbClr val="FFF6E8"/>
          </a:solidFill>
          <a:ln w="6350">
            <a:solidFill>
              <a:srgbClr val="9A6A2A"/>
            </a:solidFill>
            <a:prstDash val="solid"/>
          </a:ln>
        </p:spPr>
      </p:sp>
      <p:sp>
        <p:nvSpPr>
          <p:cNvPr id="25" name="Shape 23"/>
          <p:cNvSpPr/>
          <p:nvPr/>
        </p:nvSpPr>
        <p:spPr>
          <a:xfrm flipH="1">
            <a:off x="1750162" y="2311969"/>
            <a:ext cx="491581" cy="316017"/>
          </a:xfrm>
          <a:prstGeom prst="line">
            <a:avLst/>
          </a:prstGeom>
          <a:noFill/>
          <a:ln w="15875">
            <a:solidFill>
              <a:srgbClr val="9A6A2A"/>
            </a:solidFill>
            <a:prstDash val="solid"/>
          </a:ln>
        </p:spPr>
      </p:sp>
      <p:sp>
        <p:nvSpPr>
          <p:cNvPr id="26" name="Shape 24"/>
          <p:cNvSpPr/>
          <p:nvPr/>
        </p:nvSpPr>
        <p:spPr>
          <a:xfrm flipV="1">
            <a:off x="3973982" y="1832092"/>
            <a:ext cx="351130" cy="245791"/>
          </a:xfrm>
          <a:prstGeom prst="line">
            <a:avLst/>
          </a:prstGeom>
          <a:noFill/>
          <a:ln w="113792">
            <a:solidFill>
              <a:srgbClr val="A33E48"/>
            </a:solidFill>
            <a:prstDash val="solid"/>
          </a:ln>
        </p:spPr>
      </p:sp>
      <p:sp>
        <p:nvSpPr>
          <p:cNvPr id="27" name="Shape 25"/>
          <p:cNvSpPr/>
          <p:nvPr/>
        </p:nvSpPr>
        <p:spPr>
          <a:xfrm flipV="1">
            <a:off x="4325112" y="1715049"/>
            <a:ext cx="409651" cy="117043"/>
          </a:xfrm>
          <a:prstGeom prst="line">
            <a:avLst/>
          </a:prstGeom>
          <a:noFill/>
          <a:ln w="113792">
            <a:solidFill>
              <a:srgbClr val="A33E48"/>
            </a:solidFill>
            <a:prstDash val="solid"/>
          </a:ln>
        </p:spPr>
      </p:sp>
      <p:sp>
        <p:nvSpPr>
          <p:cNvPr id="28" name="Shape 26"/>
          <p:cNvSpPr/>
          <p:nvPr/>
        </p:nvSpPr>
        <p:spPr>
          <a:xfrm>
            <a:off x="4734763" y="1715049"/>
            <a:ext cx="409651" cy="187269"/>
          </a:xfrm>
          <a:prstGeom prst="line">
            <a:avLst/>
          </a:prstGeom>
          <a:noFill/>
          <a:ln w="113792">
            <a:solidFill>
              <a:srgbClr val="A33E48"/>
            </a:solidFill>
            <a:prstDash val="solid"/>
          </a:ln>
        </p:spPr>
      </p:sp>
      <p:sp>
        <p:nvSpPr>
          <p:cNvPr id="29" name="Shape 27"/>
          <p:cNvSpPr/>
          <p:nvPr/>
        </p:nvSpPr>
        <p:spPr>
          <a:xfrm>
            <a:off x="5144414" y="1902318"/>
            <a:ext cx="210678" cy="316017"/>
          </a:xfrm>
          <a:prstGeom prst="line">
            <a:avLst/>
          </a:prstGeom>
          <a:noFill/>
          <a:ln w="113792">
            <a:solidFill>
              <a:srgbClr val="A33E48"/>
            </a:solidFill>
            <a:prstDash val="solid"/>
          </a:ln>
        </p:spPr>
      </p:sp>
      <p:sp>
        <p:nvSpPr>
          <p:cNvPr id="30" name="Shape 28"/>
          <p:cNvSpPr/>
          <p:nvPr/>
        </p:nvSpPr>
        <p:spPr>
          <a:xfrm flipV="1">
            <a:off x="3973982" y="1832092"/>
            <a:ext cx="351130" cy="245791"/>
          </a:xfrm>
          <a:prstGeom prst="line">
            <a:avLst/>
          </a:prstGeom>
          <a:noFill/>
          <a:ln w="73152">
            <a:solidFill>
              <a:srgbClr val="EFB4B8"/>
            </a:solidFill>
            <a:prstDash val="solid"/>
          </a:ln>
        </p:spPr>
      </p:sp>
      <p:sp>
        <p:nvSpPr>
          <p:cNvPr id="31" name="Shape 29"/>
          <p:cNvSpPr/>
          <p:nvPr/>
        </p:nvSpPr>
        <p:spPr>
          <a:xfrm flipV="1">
            <a:off x="4325112" y="1715049"/>
            <a:ext cx="409651" cy="117043"/>
          </a:xfrm>
          <a:prstGeom prst="line">
            <a:avLst/>
          </a:prstGeom>
          <a:noFill/>
          <a:ln w="73152">
            <a:solidFill>
              <a:srgbClr val="EFB4B8"/>
            </a:solidFill>
            <a:prstDash val="solid"/>
          </a:ln>
        </p:spPr>
      </p:sp>
      <p:sp>
        <p:nvSpPr>
          <p:cNvPr id="32" name="Shape 30"/>
          <p:cNvSpPr/>
          <p:nvPr/>
        </p:nvSpPr>
        <p:spPr>
          <a:xfrm>
            <a:off x="4734763" y="1715049"/>
            <a:ext cx="409651" cy="187269"/>
          </a:xfrm>
          <a:prstGeom prst="line">
            <a:avLst/>
          </a:prstGeom>
          <a:noFill/>
          <a:ln w="73152">
            <a:solidFill>
              <a:srgbClr val="EFB4B8"/>
            </a:solidFill>
            <a:prstDash val="solid"/>
          </a:ln>
        </p:spPr>
      </p:sp>
      <p:sp>
        <p:nvSpPr>
          <p:cNvPr id="33" name="Shape 31"/>
          <p:cNvSpPr/>
          <p:nvPr/>
        </p:nvSpPr>
        <p:spPr>
          <a:xfrm>
            <a:off x="5144414" y="1902318"/>
            <a:ext cx="210678" cy="316017"/>
          </a:xfrm>
          <a:prstGeom prst="line">
            <a:avLst/>
          </a:prstGeom>
          <a:noFill/>
          <a:ln w="73152">
            <a:solidFill>
              <a:srgbClr val="EFB4B8"/>
            </a:solidFill>
            <a:prstDash val="solid"/>
          </a:ln>
        </p:spPr>
      </p:sp>
      <p:sp>
        <p:nvSpPr>
          <p:cNvPr id="34" name="Shape 32"/>
          <p:cNvSpPr/>
          <p:nvPr/>
        </p:nvSpPr>
        <p:spPr>
          <a:xfrm>
            <a:off x="5355092" y="2218334"/>
            <a:ext cx="67885" cy="198973"/>
          </a:xfrm>
          <a:prstGeom prst="line">
            <a:avLst/>
          </a:prstGeom>
          <a:noFill/>
          <a:ln w="15875">
            <a:solidFill>
              <a:srgbClr val="A33E48"/>
            </a:solidFill>
            <a:prstDash val="solid"/>
          </a:ln>
        </p:spPr>
      </p:sp>
      <p:sp>
        <p:nvSpPr>
          <p:cNvPr id="35" name="Shape 33"/>
          <p:cNvSpPr/>
          <p:nvPr/>
        </p:nvSpPr>
        <p:spPr>
          <a:xfrm>
            <a:off x="5355092" y="2218334"/>
            <a:ext cx="117043" cy="198973"/>
          </a:xfrm>
          <a:prstGeom prst="line">
            <a:avLst/>
          </a:prstGeom>
          <a:noFill/>
          <a:ln w="15875">
            <a:solidFill>
              <a:srgbClr val="A33E48"/>
            </a:solidFill>
            <a:prstDash val="solid"/>
          </a:ln>
        </p:spPr>
      </p:sp>
      <p:sp>
        <p:nvSpPr>
          <p:cNvPr id="36" name="Shape 34"/>
          <p:cNvSpPr/>
          <p:nvPr/>
        </p:nvSpPr>
        <p:spPr>
          <a:xfrm>
            <a:off x="5355092" y="2218334"/>
            <a:ext cx="166201" cy="198973"/>
          </a:xfrm>
          <a:prstGeom prst="line">
            <a:avLst/>
          </a:prstGeom>
          <a:noFill/>
          <a:ln w="15875">
            <a:solidFill>
              <a:srgbClr val="A33E48"/>
            </a:solidFill>
            <a:prstDash val="solid"/>
          </a:ln>
        </p:spPr>
      </p:sp>
      <p:sp>
        <p:nvSpPr>
          <p:cNvPr id="37" name="Shape 35"/>
          <p:cNvSpPr/>
          <p:nvPr/>
        </p:nvSpPr>
        <p:spPr>
          <a:xfrm>
            <a:off x="4559198" y="2429012"/>
            <a:ext cx="702259" cy="444764"/>
          </a:xfrm>
          <a:prstGeom prst="ellipse">
            <a:avLst/>
          </a:prstGeom>
          <a:solidFill>
            <a:srgbClr val="F3D3A6"/>
          </a:solidFill>
          <a:ln w="15875">
            <a:solidFill>
              <a:srgbClr val="9A6A2A"/>
            </a:solidFill>
            <a:prstDash val="solid"/>
          </a:ln>
        </p:spPr>
      </p:sp>
      <p:sp>
        <p:nvSpPr>
          <p:cNvPr id="38" name="Shape 36"/>
          <p:cNvSpPr/>
          <p:nvPr/>
        </p:nvSpPr>
        <p:spPr>
          <a:xfrm>
            <a:off x="4649837" y="2534866"/>
            <a:ext cx="99627" cy="99627"/>
          </a:xfrm>
          <a:prstGeom prst="ellipse">
            <a:avLst/>
          </a:prstGeom>
          <a:solidFill>
            <a:srgbClr val="FFF6E8"/>
          </a:solidFill>
          <a:ln w="6350">
            <a:solidFill>
              <a:srgbClr val="9A6A2A"/>
            </a:solidFill>
            <a:prstDash val="solid"/>
          </a:ln>
        </p:spPr>
      </p:sp>
      <p:sp>
        <p:nvSpPr>
          <p:cNvPr id="39" name="Shape 37"/>
          <p:cNvSpPr/>
          <p:nvPr/>
        </p:nvSpPr>
        <p:spPr>
          <a:xfrm>
            <a:off x="4902744" y="2706545"/>
            <a:ext cx="85395" cy="85395"/>
          </a:xfrm>
          <a:prstGeom prst="ellipse">
            <a:avLst/>
          </a:prstGeom>
          <a:solidFill>
            <a:srgbClr val="FFF6E8"/>
          </a:solidFill>
          <a:ln w="6350">
            <a:solidFill>
              <a:srgbClr val="9A6A2A"/>
            </a:solidFill>
            <a:prstDash val="solid"/>
          </a:ln>
        </p:spPr>
      </p:sp>
      <p:sp>
        <p:nvSpPr>
          <p:cNvPr id="40" name="Shape 38"/>
          <p:cNvSpPr/>
          <p:nvPr/>
        </p:nvSpPr>
        <p:spPr>
          <a:xfrm>
            <a:off x="4804521" y="2669185"/>
            <a:ext cx="71162" cy="71162"/>
          </a:xfrm>
          <a:prstGeom prst="ellipse">
            <a:avLst/>
          </a:prstGeom>
          <a:solidFill>
            <a:srgbClr val="FFF6E8"/>
          </a:solidFill>
          <a:ln w="6350">
            <a:solidFill>
              <a:srgbClr val="9A6A2A"/>
            </a:solidFill>
            <a:prstDash val="solid"/>
          </a:ln>
        </p:spPr>
      </p:sp>
      <p:sp>
        <p:nvSpPr>
          <p:cNvPr id="41" name="Shape 39"/>
          <p:cNvSpPr/>
          <p:nvPr/>
        </p:nvSpPr>
        <p:spPr>
          <a:xfrm>
            <a:off x="4975872" y="2526860"/>
            <a:ext cx="177906" cy="177906"/>
          </a:xfrm>
          <a:prstGeom prst="ellipse">
            <a:avLst/>
          </a:prstGeom>
          <a:solidFill>
            <a:srgbClr val="FFF6E8"/>
          </a:solidFill>
          <a:ln w="12700">
            <a:solidFill>
              <a:srgbClr val="9A6A2A"/>
            </a:solidFill>
            <a:prstDash val="solid"/>
          </a:ln>
        </p:spPr>
      </p:sp>
      <p:sp>
        <p:nvSpPr>
          <p:cNvPr id="42" name="Shape 40"/>
          <p:cNvSpPr/>
          <p:nvPr/>
        </p:nvSpPr>
        <p:spPr>
          <a:xfrm>
            <a:off x="5073252" y="2571337"/>
            <a:ext cx="53372" cy="53372"/>
          </a:xfrm>
          <a:prstGeom prst="ellipse">
            <a:avLst/>
          </a:prstGeom>
          <a:solidFill>
            <a:srgbClr val="F2B279"/>
          </a:solidFill>
          <a:ln w="9525">
            <a:solidFill>
              <a:srgbClr val="A4561C"/>
            </a:solidFill>
            <a:prstDash val="solid"/>
          </a:ln>
        </p:spPr>
      </p:sp>
      <p:sp>
        <p:nvSpPr>
          <p:cNvPr id="43" name="Shape 41"/>
          <p:cNvSpPr/>
          <p:nvPr/>
        </p:nvSpPr>
        <p:spPr>
          <a:xfrm>
            <a:off x="4067617" y="2311969"/>
            <a:ext cx="491581" cy="316017"/>
          </a:xfrm>
          <a:prstGeom prst="line">
            <a:avLst/>
          </a:prstGeom>
          <a:noFill/>
          <a:ln w="15875">
            <a:solidFill>
              <a:srgbClr val="9A6A2A"/>
            </a:solidFill>
            <a:prstDash val="solid"/>
          </a:ln>
        </p:spPr>
      </p:sp>
      <p:sp>
        <p:nvSpPr>
          <p:cNvPr id="44" name="Shape 42"/>
          <p:cNvSpPr/>
          <p:nvPr/>
        </p:nvSpPr>
        <p:spPr>
          <a:xfrm>
            <a:off x="2218334" y="1726753"/>
            <a:ext cx="1872691" cy="3125053"/>
          </a:xfrm>
          <a:custGeom>
            <a:avLst/>
            <a:gdLst/>
            <a:ahLst/>
            <a:cxnLst/>
            <a:rect l="l" t="t" r="r" b="b"/>
            <a:pathLst>
              <a:path w="1872691" h="3125053">
                <a:moveTo>
                  <a:pt x="0" y="491581"/>
                </a:moveTo>
                <a:lnTo>
                  <a:pt x="14225" y="406219"/>
                </a:lnTo>
                <a:lnTo>
                  <a:pt x="56469" y="323451"/>
                </a:lnTo>
                <a:lnTo>
                  <a:pt x="125447" y="245791"/>
                </a:lnTo>
                <a:lnTo>
                  <a:pt x="219063" y="175599"/>
                </a:lnTo>
                <a:lnTo>
                  <a:pt x="334474" y="115008"/>
                </a:lnTo>
                <a:lnTo>
                  <a:pt x="468173" y="65859"/>
                </a:lnTo>
                <a:lnTo>
                  <a:pt x="616097" y="29646"/>
                </a:lnTo>
                <a:lnTo>
                  <a:pt x="773751" y="7468"/>
                </a:lnTo>
                <a:lnTo>
                  <a:pt x="936346" y="0"/>
                </a:lnTo>
                <a:lnTo>
                  <a:pt x="1098940" y="7468"/>
                </a:lnTo>
                <a:lnTo>
                  <a:pt x="1256595" y="29646"/>
                </a:lnTo>
                <a:lnTo>
                  <a:pt x="1404518" y="65859"/>
                </a:lnTo>
                <a:lnTo>
                  <a:pt x="1538217" y="115008"/>
                </a:lnTo>
                <a:lnTo>
                  <a:pt x="1653628" y="175599"/>
                </a:lnTo>
                <a:lnTo>
                  <a:pt x="1747245" y="245791"/>
                </a:lnTo>
                <a:lnTo>
                  <a:pt x="1816223" y="323451"/>
                </a:lnTo>
                <a:lnTo>
                  <a:pt x="1858466" y="406219"/>
                </a:lnTo>
                <a:lnTo>
                  <a:pt x="1872691" y="491581"/>
                </a:lnTo>
                <a:lnTo>
                  <a:pt x="1802465" y="901233"/>
                </a:lnTo>
                <a:lnTo>
                  <a:pt x="1580083" y="1369405"/>
                </a:lnTo>
                <a:lnTo>
                  <a:pt x="1287475" y="1779057"/>
                </a:lnTo>
                <a:lnTo>
                  <a:pt x="1240658" y="2153595"/>
                </a:lnTo>
                <a:lnTo>
                  <a:pt x="1287475" y="2247229"/>
                </a:lnTo>
                <a:lnTo>
                  <a:pt x="1287475" y="3125053"/>
                </a:lnTo>
                <a:lnTo>
                  <a:pt x="585216" y="3125053"/>
                </a:lnTo>
                <a:lnTo>
                  <a:pt x="585216" y="2247229"/>
                </a:lnTo>
                <a:lnTo>
                  <a:pt x="632033" y="2153595"/>
                </a:lnTo>
                <a:lnTo>
                  <a:pt x="585216" y="1779057"/>
                </a:lnTo>
                <a:lnTo>
                  <a:pt x="292608" y="1369405"/>
                </a:lnTo>
                <a:lnTo>
                  <a:pt x="70226" y="901233"/>
                </a:lnTo>
                <a:close/>
              </a:path>
            </a:pathLst>
          </a:custGeom>
          <a:solidFill>
            <a:srgbClr val="EFB4B8"/>
          </a:solidFill>
          <a:ln w="22225">
            <a:solidFill>
              <a:srgbClr val="A33E48"/>
            </a:solidFill>
            <a:prstDash val="solid"/>
          </a:ln>
        </p:spPr>
      </p:sp>
      <p:sp>
        <p:nvSpPr>
          <p:cNvPr id="45" name="Shape 43"/>
          <p:cNvSpPr/>
          <p:nvPr/>
        </p:nvSpPr>
        <p:spPr>
          <a:xfrm>
            <a:off x="2393899" y="2007657"/>
            <a:ext cx="1521562" cy="1474744"/>
          </a:xfrm>
          <a:custGeom>
            <a:avLst/>
            <a:gdLst/>
            <a:ahLst/>
            <a:cxnLst/>
            <a:rect l="l" t="t" r="r" b="b"/>
            <a:pathLst>
              <a:path w="1521562" h="1474744">
                <a:moveTo>
                  <a:pt x="0" y="0"/>
                </a:moveTo>
                <a:lnTo>
                  <a:pt x="1521562" y="0"/>
                </a:lnTo>
                <a:lnTo>
                  <a:pt x="819302" y="1474744"/>
                </a:lnTo>
                <a:lnTo>
                  <a:pt x="702259" y="1474744"/>
                </a:lnTo>
                <a:close/>
              </a:path>
            </a:pathLst>
          </a:custGeom>
          <a:solidFill>
            <a:srgbClr val="C8414C"/>
          </a:solidFill>
          <a:ln w="9525">
            <a:solidFill>
              <a:srgbClr val="8E2A33"/>
            </a:solidFill>
            <a:prstDash val="solid"/>
          </a:ln>
        </p:spPr>
      </p:sp>
      <p:sp>
        <p:nvSpPr>
          <p:cNvPr id="46" name="Shape 44"/>
          <p:cNvSpPr/>
          <p:nvPr/>
        </p:nvSpPr>
        <p:spPr>
          <a:xfrm>
            <a:off x="2627986" y="2136404"/>
            <a:ext cx="1053389" cy="1193841"/>
          </a:xfrm>
          <a:custGeom>
            <a:avLst/>
            <a:gdLst/>
            <a:ahLst/>
            <a:cxnLst/>
            <a:rect l="l" t="t" r="r" b="b"/>
            <a:pathLst>
              <a:path w="1053389" h="1193841">
                <a:moveTo>
                  <a:pt x="0" y="0"/>
                </a:moveTo>
                <a:lnTo>
                  <a:pt x="1053389" y="0"/>
                </a:lnTo>
                <a:lnTo>
                  <a:pt x="561807" y="1193841"/>
                </a:lnTo>
                <a:lnTo>
                  <a:pt x="491581" y="1193841"/>
                </a:lnTo>
                <a:close/>
              </a:path>
            </a:pathLst>
          </a:custGeom>
          <a:solidFill>
            <a:srgbClr val="FBE3E5"/>
          </a:solidFill>
          <a:ln/>
        </p:spPr>
      </p:sp>
      <p:sp>
        <p:nvSpPr>
          <p:cNvPr id="47" name="Shape 45"/>
          <p:cNvSpPr/>
          <p:nvPr/>
        </p:nvSpPr>
        <p:spPr>
          <a:xfrm>
            <a:off x="3154680" y="3365358"/>
            <a:ext cx="91" cy="608625"/>
          </a:xfrm>
          <a:prstGeom prst="line">
            <a:avLst/>
          </a:prstGeom>
          <a:noFill/>
          <a:ln w="19050">
            <a:solidFill>
              <a:srgbClr val="8E2A33"/>
            </a:solidFill>
            <a:prstDash val="solid"/>
          </a:ln>
        </p:spPr>
      </p:sp>
      <p:sp>
        <p:nvSpPr>
          <p:cNvPr id="48" name="Shape 46"/>
          <p:cNvSpPr/>
          <p:nvPr/>
        </p:nvSpPr>
        <p:spPr>
          <a:xfrm>
            <a:off x="2955707" y="3973982"/>
            <a:ext cx="397947" cy="877824"/>
          </a:xfrm>
          <a:prstGeom prst="rect">
            <a:avLst/>
          </a:prstGeom>
          <a:solidFill>
            <a:srgbClr val="FBE3E5"/>
          </a:solidFill>
          <a:ln/>
        </p:spPr>
      </p:sp>
      <p:sp>
        <p:nvSpPr>
          <p:cNvPr id="49" name="Shape 47"/>
          <p:cNvSpPr/>
          <p:nvPr/>
        </p:nvSpPr>
        <p:spPr>
          <a:xfrm>
            <a:off x="2803550" y="3973982"/>
            <a:ext cx="702259" cy="91"/>
          </a:xfrm>
          <a:prstGeom prst="line">
            <a:avLst/>
          </a:prstGeom>
          <a:noFill/>
          <a:ln w="9525">
            <a:solidFill>
              <a:srgbClr val="A33E48"/>
            </a:solidFill>
            <a:prstDash val="dash"/>
          </a:ln>
        </p:spPr>
      </p:sp>
      <p:sp>
        <p:nvSpPr>
          <p:cNvPr id="50" name="Text 48"/>
          <p:cNvSpPr/>
          <p:nvPr/>
        </p:nvSpPr>
        <p:spPr>
          <a:xfrm>
            <a:off x="4983480" y="1344168"/>
            <a:ext cx="868680" cy="274320"/>
          </a:xfrm>
          <a:prstGeom prst="rect">
            <a:avLst/>
          </a:prstGeom>
          <a:noFill/>
          <a:ln/>
        </p:spPr>
        <p:txBody>
          <a:bodyPr wrap="square" lIns="0" tIns="0" rIns="0" bIns="0" rtlCol="0" anchor="ctr"/>
          <a:lstStyle/>
          <a:p>
            <a:pPr algn="l" indent="0" marL="0">
              <a:buNone/>
            </a:pPr>
            <a:r>
              <a:rPr lang="en-US" sz="1100" b="1" dirty="0">
                <a:solidFill>
                  <a:srgbClr val="A33E48"/>
                </a:solidFill>
                <a:latin typeface="Calibri" pitchFamily="34" charset="0"/>
                <a:ea typeface="Calibri" pitchFamily="34" charset="-122"/>
                <a:cs typeface="Calibri" pitchFamily="34" charset="-120"/>
              </a:rPr>
              <a:t>Oviduct</a:t>
            </a:r>
            <a:endParaRPr lang="en-US" sz="1100" dirty="0"/>
          </a:p>
        </p:txBody>
      </p:sp>
      <p:sp>
        <p:nvSpPr>
          <p:cNvPr id="51" name="Shape 49"/>
          <p:cNvSpPr/>
          <p:nvPr/>
        </p:nvSpPr>
        <p:spPr>
          <a:xfrm flipH="1">
            <a:off x="4780483" y="1481328"/>
            <a:ext cx="166421" cy="261153"/>
          </a:xfrm>
          <a:prstGeom prst="line">
            <a:avLst/>
          </a:prstGeom>
          <a:noFill/>
          <a:ln w="12700">
            <a:solidFill>
              <a:srgbClr val="A33E48"/>
            </a:solidFill>
            <a:prstDash val="solid"/>
          </a:ln>
        </p:spPr>
      </p:sp>
      <p:sp>
        <p:nvSpPr>
          <p:cNvPr id="52" name="Shape 50"/>
          <p:cNvSpPr/>
          <p:nvPr/>
        </p:nvSpPr>
        <p:spPr>
          <a:xfrm>
            <a:off x="4753051" y="1715049"/>
            <a:ext cx="54864" cy="54864"/>
          </a:xfrm>
          <a:prstGeom prst="ellipse">
            <a:avLst/>
          </a:prstGeom>
          <a:solidFill>
            <a:srgbClr val="A33E48"/>
          </a:solidFill>
          <a:ln w="9525">
            <a:solidFill>
              <a:srgbClr val="A33E48"/>
            </a:solidFill>
            <a:prstDash val="solid"/>
          </a:ln>
        </p:spPr>
      </p:sp>
      <p:sp>
        <p:nvSpPr>
          <p:cNvPr id="53" name="Text 51"/>
          <p:cNvSpPr/>
          <p:nvPr/>
        </p:nvSpPr>
        <p:spPr>
          <a:xfrm>
            <a:off x="4361688" y="2926080"/>
            <a:ext cx="1097280" cy="256032"/>
          </a:xfrm>
          <a:prstGeom prst="rect">
            <a:avLst/>
          </a:prstGeom>
          <a:noFill/>
          <a:ln/>
        </p:spPr>
        <p:txBody>
          <a:bodyPr wrap="square" lIns="0" tIns="0" rIns="0" bIns="0" rtlCol="0" anchor="ctr"/>
          <a:lstStyle/>
          <a:p>
            <a:pPr algn="ctr" indent="0" marL="0">
              <a:buNone/>
            </a:pPr>
            <a:r>
              <a:rPr lang="en-US" sz="1100" b="1" dirty="0">
                <a:solidFill>
                  <a:srgbClr val="9A6A2A"/>
                </a:solidFill>
                <a:latin typeface="Calibri" pitchFamily="34" charset="0"/>
                <a:ea typeface="Calibri" pitchFamily="34" charset="-122"/>
                <a:cs typeface="Calibri" pitchFamily="34" charset="-120"/>
              </a:rPr>
              <a:t>Ovary</a:t>
            </a:r>
            <a:endParaRPr lang="en-US" sz="1100" dirty="0"/>
          </a:p>
        </p:txBody>
      </p:sp>
      <p:sp>
        <p:nvSpPr>
          <p:cNvPr id="54" name="Text 52"/>
          <p:cNvSpPr/>
          <p:nvPr/>
        </p:nvSpPr>
        <p:spPr>
          <a:xfrm>
            <a:off x="4224528" y="3154680"/>
            <a:ext cx="1371600" cy="36576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(egg matures in a follicle)</a:t>
            </a:r>
            <a:endParaRPr lang="en-US" sz="1000" dirty="0"/>
          </a:p>
        </p:txBody>
      </p:sp>
      <p:sp>
        <p:nvSpPr>
          <p:cNvPr id="55" name="Text 53"/>
          <p:cNvSpPr/>
          <p:nvPr/>
        </p:nvSpPr>
        <p:spPr>
          <a:xfrm>
            <a:off x="548640" y="3063240"/>
            <a:ext cx="1234440" cy="274320"/>
          </a:xfrm>
          <a:prstGeom prst="rect">
            <a:avLst/>
          </a:prstGeom>
          <a:noFill/>
          <a:ln/>
        </p:spPr>
        <p:txBody>
          <a:bodyPr wrap="square" lIns="0" tIns="0" rIns="0" bIns="0" rtlCol="0" anchor="ctr"/>
          <a:lstStyle/>
          <a:p>
            <a:pPr algn="r" indent="0" marL="0">
              <a:buNone/>
            </a:pPr>
            <a:r>
              <a:rPr lang="en-US" sz="1100" b="1" dirty="0">
                <a:solidFill>
                  <a:srgbClr val="A33E48"/>
                </a:solidFill>
                <a:latin typeface="Calibri" pitchFamily="34" charset="0"/>
                <a:ea typeface="Calibri" pitchFamily="34" charset="-122"/>
                <a:cs typeface="Calibri" pitchFamily="34" charset="-120"/>
              </a:rPr>
              <a:t>Uterus (womb)</a:t>
            </a:r>
            <a:endParaRPr lang="en-US" sz="1100" dirty="0"/>
          </a:p>
        </p:txBody>
      </p:sp>
      <p:sp>
        <p:nvSpPr>
          <p:cNvPr id="56" name="Shape 54"/>
          <p:cNvSpPr/>
          <p:nvPr/>
        </p:nvSpPr>
        <p:spPr>
          <a:xfrm flipV="1">
            <a:off x="1819656" y="3017520"/>
            <a:ext cx="667512" cy="182880"/>
          </a:xfrm>
          <a:prstGeom prst="line">
            <a:avLst/>
          </a:prstGeom>
          <a:noFill/>
          <a:ln w="12700">
            <a:solidFill>
              <a:srgbClr val="A33E48"/>
            </a:solidFill>
            <a:prstDash val="solid"/>
          </a:ln>
        </p:spPr>
      </p:sp>
      <p:sp>
        <p:nvSpPr>
          <p:cNvPr id="57" name="Shape 55"/>
          <p:cNvSpPr/>
          <p:nvPr/>
        </p:nvSpPr>
        <p:spPr>
          <a:xfrm>
            <a:off x="2459736" y="2990088"/>
            <a:ext cx="54864" cy="54864"/>
          </a:xfrm>
          <a:prstGeom prst="ellipse">
            <a:avLst/>
          </a:prstGeom>
          <a:solidFill>
            <a:srgbClr val="A33E48"/>
          </a:solidFill>
          <a:ln w="9525">
            <a:solidFill>
              <a:srgbClr val="A33E48"/>
            </a:solidFill>
            <a:prstDash val="solid"/>
          </a:ln>
        </p:spPr>
      </p:sp>
      <p:sp>
        <p:nvSpPr>
          <p:cNvPr id="58" name="Text 56"/>
          <p:cNvSpPr/>
          <p:nvPr/>
        </p:nvSpPr>
        <p:spPr>
          <a:xfrm>
            <a:off x="548640" y="3611880"/>
            <a:ext cx="1234440" cy="274320"/>
          </a:xfrm>
          <a:prstGeom prst="rect">
            <a:avLst/>
          </a:prstGeom>
          <a:noFill/>
          <a:ln/>
        </p:spPr>
        <p:txBody>
          <a:bodyPr wrap="square" lIns="0" tIns="0" rIns="0" bIns="0" rtlCol="0" anchor="ctr"/>
          <a:lstStyle/>
          <a:p>
            <a:pPr algn="r" indent="0" marL="0">
              <a:buNone/>
            </a:pPr>
            <a:r>
              <a:rPr lang="en-US" sz="1100" b="1" dirty="0">
                <a:solidFill>
                  <a:srgbClr val="C8414C"/>
                </a:solidFill>
                <a:latin typeface="Calibri" pitchFamily="34" charset="0"/>
                <a:ea typeface="Calibri" pitchFamily="34" charset="-122"/>
                <a:cs typeface="Calibri" pitchFamily="34" charset="-120"/>
              </a:rPr>
              <a:t>Lining (wall)</a:t>
            </a:r>
            <a:endParaRPr lang="en-US" sz="1100" dirty="0"/>
          </a:p>
        </p:txBody>
      </p:sp>
      <p:sp>
        <p:nvSpPr>
          <p:cNvPr id="59" name="Shape 57"/>
          <p:cNvSpPr/>
          <p:nvPr/>
        </p:nvSpPr>
        <p:spPr>
          <a:xfrm flipV="1">
            <a:off x="1819656" y="2807208"/>
            <a:ext cx="987552" cy="941832"/>
          </a:xfrm>
          <a:prstGeom prst="line">
            <a:avLst/>
          </a:prstGeom>
          <a:noFill/>
          <a:ln w="12700">
            <a:solidFill>
              <a:srgbClr val="C8414C"/>
            </a:solidFill>
            <a:prstDash val="solid"/>
          </a:ln>
        </p:spPr>
      </p:sp>
      <p:sp>
        <p:nvSpPr>
          <p:cNvPr id="60" name="Shape 58"/>
          <p:cNvSpPr/>
          <p:nvPr/>
        </p:nvSpPr>
        <p:spPr>
          <a:xfrm>
            <a:off x="2779776" y="2779776"/>
            <a:ext cx="54864" cy="54864"/>
          </a:xfrm>
          <a:prstGeom prst="ellipse">
            <a:avLst/>
          </a:prstGeom>
          <a:solidFill>
            <a:srgbClr val="C8414C"/>
          </a:solidFill>
          <a:ln w="9525">
            <a:solidFill>
              <a:srgbClr val="C8414C"/>
            </a:solidFill>
            <a:prstDash val="solid"/>
          </a:ln>
        </p:spPr>
      </p:sp>
      <p:sp>
        <p:nvSpPr>
          <p:cNvPr id="61" name="Text 59"/>
          <p:cNvSpPr/>
          <p:nvPr/>
        </p:nvSpPr>
        <p:spPr>
          <a:xfrm>
            <a:off x="3886200" y="3840480"/>
            <a:ext cx="1188720" cy="274320"/>
          </a:xfrm>
          <a:prstGeom prst="rect">
            <a:avLst/>
          </a:prstGeom>
          <a:noFill/>
          <a:ln/>
        </p:spPr>
        <p:txBody>
          <a:bodyPr wrap="square" lIns="0" tIns="0" rIns="0" bIns="0" rtlCol="0" anchor="ctr"/>
          <a:lstStyle/>
          <a:p>
            <a:pPr algn="l" indent="0" marL="0">
              <a:buNone/>
            </a:pPr>
            <a:r>
              <a:rPr lang="en-US" sz="1100" b="1" dirty="0">
                <a:solidFill>
                  <a:srgbClr val="A33E48"/>
                </a:solidFill>
                <a:latin typeface="Calibri" pitchFamily="34" charset="0"/>
                <a:ea typeface="Calibri" pitchFamily="34" charset="-122"/>
                <a:cs typeface="Calibri" pitchFamily="34" charset="-120"/>
              </a:rPr>
              <a:t>Cervix</a:t>
            </a:r>
            <a:endParaRPr lang="en-US" sz="1100" dirty="0"/>
          </a:p>
        </p:txBody>
      </p:sp>
      <p:sp>
        <p:nvSpPr>
          <p:cNvPr id="62" name="Shape 60"/>
          <p:cNvSpPr/>
          <p:nvPr/>
        </p:nvSpPr>
        <p:spPr>
          <a:xfrm flipH="1" flipV="1">
            <a:off x="3470697" y="3798418"/>
            <a:ext cx="378927" cy="179222"/>
          </a:xfrm>
          <a:prstGeom prst="line">
            <a:avLst/>
          </a:prstGeom>
          <a:noFill/>
          <a:ln w="12700">
            <a:solidFill>
              <a:srgbClr val="A33E48"/>
            </a:solidFill>
            <a:prstDash val="solid"/>
          </a:ln>
        </p:spPr>
      </p:sp>
      <p:sp>
        <p:nvSpPr>
          <p:cNvPr id="63" name="Shape 61"/>
          <p:cNvSpPr/>
          <p:nvPr/>
        </p:nvSpPr>
        <p:spPr>
          <a:xfrm>
            <a:off x="3443265" y="3770986"/>
            <a:ext cx="54864" cy="54864"/>
          </a:xfrm>
          <a:prstGeom prst="ellipse">
            <a:avLst/>
          </a:prstGeom>
          <a:solidFill>
            <a:srgbClr val="A33E48"/>
          </a:solidFill>
          <a:ln w="9525">
            <a:solidFill>
              <a:srgbClr val="A33E48"/>
            </a:solidFill>
            <a:prstDash val="solid"/>
          </a:ln>
        </p:spPr>
      </p:sp>
      <p:sp>
        <p:nvSpPr>
          <p:cNvPr id="64" name="Text 62"/>
          <p:cNvSpPr/>
          <p:nvPr/>
        </p:nvSpPr>
        <p:spPr>
          <a:xfrm>
            <a:off x="548640" y="4389120"/>
            <a:ext cx="1234440" cy="274320"/>
          </a:xfrm>
          <a:prstGeom prst="rect">
            <a:avLst/>
          </a:prstGeom>
          <a:noFill/>
          <a:ln/>
        </p:spPr>
        <p:txBody>
          <a:bodyPr wrap="square" lIns="0" tIns="0" rIns="0" bIns="0" rtlCol="0" anchor="ctr"/>
          <a:lstStyle/>
          <a:p>
            <a:pPr algn="r" indent="0" marL="0">
              <a:buNone/>
            </a:pPr>
            <a:r>
              <a:rPr lang="en-US" sz="1100" b="1" dirty="0">
                <a:solidFill>
                  <a:srgbClr val="A33E48"/>
                </a:solidFill>
                <a:latin typeface="Calibri" pitchFamily="34" charset="0"/>
                <a:ea typeface="Calibri" pitchFamily="34" charset="-122"/>
                <a:cs typeface="Calibri" pitchFamily="34" charset="-120"/>
              </a:rPr>
              <a:t>Vagina</a:t>
            </a:r>
            <a:endParaRPr lang="en-US" sz="1100" dirty="0"/>
          </a:p>
        </p:txBody>
      </p:sp>
      <p:sp>
        <p:nvSpPr>
          <p:cNvPr id="65" name="Shape 63"/>
          <p:cNvSpPr/>
          <p:nvPr/>
        </p:nvSpPr>
        <p:spPr>
          <a:xfrm flipV="1">
            <a:off x="1819656" y="4500677"/>
            <a:ext cx="983894" cy="25603"/>
          </a:xfrm>
          <a:prstGeom prst="line">
            <a:avLst/>
          </a:prstGeom>
          <a:noFill/>
          <a:ln w="12700">
            <a:solidFill>
              <a:srgbClr val="A33E48"/>
            </a:solidFill>
            <a:prstDash val="solid"/>
          </a:ln>
        </p:spPr>
      </p:sp>
      <p:sp>
        <p:nvSpPr>
          <p:cNvPr id="66" name="Shape 64"/>
          <p:cNvSpPr/>
          <p:nvPr/>
        </p:nvSpPr>
        <p:spPr>
          <a:xfrm>
            <a:off x="2776118" y="4473245"/>
            <a:ext cx="54864" cy="54864"/>
          </a:xfrm>
          <a:prstGeom prst="ellipse">
            <a:avLst/>
          </a:prstGeom>
          <a:solidFill>
            <a:srgbClr val="A33E48"/>
          </a:solidFill>
          <a:ln w="9525">
            <a:solidFill>
              <a:srgbClr val="A33E48"/>
            </a:solidFill>
            <a:prstDash val="solid"/>
          </a:ln>
        </p:spPr>
      </p:sp>
      <p:sp>
        <p:nvSpPr>
          <p:cNvPr id="67" name="Shape 65"/>
          <p:cNvSpPr/>
          <p:nvPr/>
        </p:nvSpPr>
        <p:spPr>
          <a:xfrm>
            <a:off x="6217920" y="1188720"/>
            <a:ext cx="5559552" cy="2194560"/>
          </a:xfrm>
          <a:prstGeom prst="roundRect">
            <a:avLst>
              <a:gd name="adj" fmla="val 2500"/>
            </a:avLst>
          </a:prstGeom>
          <a:solidFill>
            <a:srgbClr val="F5FBF7"/>
          </a:solidFill>
          <a:ln w="9525">
            <a:solidFill>
              <a:srgbClr val="D2E5D8"/>
            </a:solidFill>
            <a:prstDash val="solid"/>
          </a:ln>
        </p:spPr>
      </p:sp>
      <p:sp>
        <p:nvSpPr>
          <p:cNvPr id="68" name="Text 66"/>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Four stages (day 1 = first day of a period)</a:t>
            </a:r>
            <a:endParaRPr lang="en-US" sz="1300" dirty="0"/>
          </a:p>
        </p:txBody>
      </p:sp>
      <p:sp>
        <p:nvSpPr>
          <p:cNvPr id="69" name="Text 67"/>
          <p:cNvSpPr/>
          <p:nvPr/>
        </p:nvSpPr>
        <p:spPr>
          <a:xfrm>
            <a:off x="6382512" y="1609344"/>
            <a:ext cx="5230368" cy="170078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Days 1–5 menstruation</a:t>
            </a:r>
            <a:r>
              <a:rPr lang="en-US" sz="1050" dirty="0">
                <a:solidFill>
                  <a:srgbClr val="262B3A"/>
                </a:solidFill>
                <a:latin typeface="Calibri" pitchFamily="34" charset="0"/>
                <a:ea typeface="Calibri" pitchFamily="34" charset="-122"/>
                <a:cs typeface="Calibri" pitchFamily="34" charset="-120"/>
              </a:rPr>
              <a:t>: the uterus lining breaks down and leaves the body.</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Days 5–14</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oestrogen</a:t>
            </a:r>
            <a:r>
              <a:rPr lang="en-US" sz="1050" dirty="0">
                <a:solidFill>
                  <a:srgbClr val="262B3A"/>
                </a:solidFill>
                <a:latin typeface="Calibri" pitchFamily="34" charset="0"/>
                <a:ea typeface="Calibri" pitchFamily="34" charset="-122"/>
                <a:cs typeface="Calibri" pitchFamily="34" charset="-120"/>
              </a:rPr>
              <a:t> makes the lining </a:t>
            </a:r>
            <a:r>
              <a:rPr lang="en-US" sz="1050" b="1" dirty="0">
                <a:solidFill>
                  <a:srgbClr val="262B3A"/>
                </a:solidFill>
                <a:latin typeface="Calibri" pitchFamily="34" charset="0"/>
                <a:ea typeface="Calibri" pitchFamily="34" charset="-122"/>
                <a:cs typeface="Calibri" pitchFamily="34" charset="-120"/>
              </a:rPr>
              <a:t>repair and thicken</a:t>
            </a:r>
            <a:r>
              <a:rPr lang="en-US" sz="1050" dirty="0">
                <a:solidFill>
                  <a:srgbClr val="262B3A"/>
                </a:solidFill>
                <a:latin typeface="Calibri" pitchFamily="34" charset="0"/>
                <a:ea typeface="Calibri" pitchFamily="34" charset="-122"/>
                <a:cs typeface="Calibri" pitchFamily="34" charset="-120"/>
              </a:rPr>
              <a:t>; an egg matures.</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About day 14 ovulation</a:t>
            </a:r>
            <a:r>
              <a:rPr lang="en-US" sz="1050" dirty="0">
                <a:solidFill>
                  <a:srgbClr val="262B3A"/>
                </a:solidFill>
                <a:latin typeface="Calibri" pitchFamily="34" charset="0"/>
                <a:ea typeface="Calibri" pitchFamily="34" charset="-122"/>
                <a:cs typeface="Calibri" pitchFamily="34" charset="-120"/>
              </a:rPr>
              <a:t>: an egg is </a:t>
            </a:r>
            <a:r>
              <a:rPr lang="en-US" sz="1050" b="1" dirty="0">
                <a:solidFill>
                  <a:srgbClr val="262B3A"/>
                </a:solidFill>
                <a:latin typeface="Calibri" pitchFamily="34" charset="0"/>
                <a:ea typeface="Calibri" pitchFamily="34" charset="-122"/>
                <a:cs typeface="Calibri" pitchFamily="34" charset="-120"/>
              </a:rPr>
              <a:t>released</a:t>
            </a:r>
            <a:r>
              <a:rPr lang="en-US" sz="1050" dirty="0">
                <a:solidFill>
                  <a:srgbClr val="262B3A"/>
                </a:solidFill>
                <a:latin typeface="Calibri" pitchFamily="34" charset="0"/>
                <a:ea typeface="Calibri" pitchFamily="34" charset="-122"/>
                <a:cs typeface="Calibri" pitchFamily="34" charset="-120"/>
              </a:rPr>
              <a:t> from the ovary.</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Days 14–28</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progesterone</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maintains</a:t>
            </a:r>
            <a:r>
              <a:rPr lang="en-US" sz="1050" dirty="0">
                <a:solidFill>
                  <a:srgbClr val="262B3A"/>
                </a:solidFill>
                <a:latin typeface="Calibri" pitchFamily="34" charset="0"/>
                <a:ea typeface="Calibri" pitchFamily="34" charset="-122"/>
                <a:cs typeface="Calibri" pitchFamily="34" charset="-120"/>
              </a:rPr>
              <a:t> the thick lining. No fertilisation → progesterone falls → next period.</a:t>
            </a:r>
            <a:endParaRPr lang="en-US" sz="1050" dirty="0"/>
          </a:p>
        </p:txBody>
      </p:sp>
      <p:sp>
        <p:nvSpPr>
          <p:cNvPr id="70" name="Shape 68"/>
          <p:cNvSpPr/>
          <p:nvPr/>
        </p:nvSpPr>
        <p:spPr>
          <a:xfrm>
            <a:off x="6217920" y="3493008"/>
            <a:ext cx="5559552" cy="2221992"/>
          </a:xfrm>
          <a:prstGeom prst="roundRect">
            <a:avLst>
              <a:gd name="adj" fmla="val 2058"/>
            </a:avLst>
          </a:prstGeom>
          <a:solidFill>
            <a:srgbClr val="FFFFFF"/>
          </a:solidFill>
          <a:ln w="12700">
            <a:solidFill>
              <a:srgbClr val="D2E5D8"/>
            </a:solidFill>
            <a:prstDash val="solid"/>
          </a:ln>
        </p:spPr>
      </p:sp>
      <p:sp>
        <p:nvSpPr>
          <p:cNvPr id="71" name="Shape 69"/>
          <p:cNvSpPr/>
          <p:nvPr/>
        </p:nvSpPr>
        <p:spPr>
          <a:xfrm>
            <a:off x="6903720" y="3639312"/>
            <a:ext cx="4663440" cy="1463040"/>
          </a:xfrm>
          <a:prstGeom prst="rect">
            <a:avLst/>
          </a:prstGeom>
          <a:solidFill>
            <a:srgbClr val="FFFFFF"/>
          </a:solidFill>
          <a:ln/>
        </p:spPr>
      </p:sp>
      <p:sp>
        <p:nvSpPr>
          <p:cNvPr id="72" name="Shape 70"/>
          <p:cNvSpPr/>
          <p:nvPr/>
        </p:nvSpPr>
        <p:spPr>
          <a:xfrm>
            <a:off x="6903720" y="3639312"/>
            <a:ext cx="91" cy="1463040"/>
          </a:xfrm>
          <a:prstGeom prst="line">
            <a:avLst/>
          </a:prstGeom>
          <a:noFill/>
          <a:ln w="6350">
            <a:solidFill>
              <a:srgbClr val="C8DDCF"/>
            </a:solidFill>
            <a:prstDash val="solid"/>
          </a:ln>
        </p:spPr>
      </p:sp>
      <p:sp>
        <p:nvSpPr>
          <p:cNvPr id="73" name="Shape 71"/>
          <p:cNvSpPr/>
          <p:nvPr/>
        </p:nvSpPr>
        <p:spPr>
          <a:xfrm>
            <a:off x="7070271" y="3639312"/>
            <a:ext cx="91" cy="1463040"/>
          </a:xfrm>
          <a:prstGeom prst="line">
            <a:avLst/>
          </a:prstGeom>
          <a:noFill/>
          <a:ln w="6350">
            <a:solidFill>
              <a:srgbClr val="E7F1EA"/>
            </a:solidFill>
            <a:prstDash val="solid"/>
          </a:ln>
        </p:spPr>
      </p:sp>
      <p:sp>
        <p:nvSpPr>
          <p:cNvPr id="74" name="Shape 72"/>
          <p:cNvSpPr/>
          <p:nvPr/>
        </p:nvSpPr>
        <p:spPr>
          <a:xfrm>
            <a:off x="7236823" y="3639312"/>
            <a:ext cx="91" cy="1463040"/>
          </a:xfrm>
          <a:prstGeom prst="line">
            <a:avLst/>
          </a:prstGeom>
          <a:noFill/>
          <a:ln w="6350">
            <a:solidFill>
              <a:srgbClr val="C8DDCF"/>
            </a:solidFill>
            <a:prstDash val="solid"/>
          </a:ln>
        </p:spPr>
      </p:sp>
      <p:sp>
        <p:nvSpPr>
          <p:cNvPr id="75" name="Shape 73"/>
          <p:cNvSpPr/>
          <p:nvPr/>
        </p:nvSpPr>
        <p:spPr>
          <a:xfrm>
            <a:off x="7403374" y="3639312"/>
            <a:ext cx="91" cy="1463040"/>
          </a:xfrm>
          <a:prstGeom prst="line">
            <a:avLst/>
          </a:prstGeom>
          <a:noFill/>
          <a:ln w="6350">
            <a:solidFill>
              <a:srgbClr val="E7F1EA"/>
            </a:solidFill>
            <a:prstDash val="solid"/>
          </a:ln>
        </p:spPr>
      </p:sp>
      <p:sp>
        <p:nvSpPr>
          <p:cNvPr id="76" name="Shape 74"/>
          <p:cNvSpPr/>
          <p:nvPr/>
        </p:nvSpPr>
        <p:spPr>
          <a:xfrm>
            <a:off x="7569926" y="3639312"/>
            <a:ext cx="91" cy="1463040"/>
          </a:xfrm>
          <a:prstGeom prst="line">
            <a:avLst/>
          </a:prstGeom>
          <a:noFill/>
          <a:ln w="6350">
            <a:solidFill>
              <a:srgbClr val="C8DDCF"/>
            </a:solidFill>
            <a:prstDash val="solid"/>
          </a:ln>
        </p:spPr>
      </p:sp>
      <p:sp>
        <p:nvSpPr>
          <p:cNvPr id="77" name="Shape 75"/>
          <p:cNvSpPr/>
          <p:nvPr/>
        </p:nvSpPr>
        <p:spPr>
          <a:xfrm>
            <a:off x="7736477" y="3639312"/>
            <a:ext cx="91" cy="1463040"/>
          </a:xfrm>
          <a:prstGeom prst="line">
            <a:avLst/>
          </a:prstGeom>
          <a:noFill/>
          <a:ln w="6350">
            <a:solidFill>
              <a:srgbClr val="E7F1EA"/>
            </a:solidFill>
            <a:prstDash val="solid"/>
          </a:ln>
        </p:spPr>
      </p:sp>
      <p:sp>
        <p:nvSpPr>
          <p:cNvPr id="78" name="Shape 76"/>
          <p:cNvSpPr/>
          <p:nvPr/>
        </p:nvSpPr>
        <p:spPr>
          <a:xfrm>
            <a:off x="7903029" y="3639312"/>
            <a:ext cx="91" cy="1463040"/>
          </a:xfrm>
          <a:prstGeom prst="line">
            <a:avLst/>
          </a:prstGeom>
          <a:noFill/>
          <a:ln w="6350">
            <a:solidFill>
              <a:srgbClr val="C8DDCF"/>
            </a:solidFill>
            <a:prstDash val="solid"/>
          </a:ln>
        </p:spPr>
      </p:sp>
      <p:sp>
        <p:nvSpPr>
          <p:cNvPr id="79" name="Shape 77"/>
          <p:cNvSpPr/>
          <p:nvPr/>
        </p:nvSpPr>
        <p:spPr>
          <a:xfrm>
            <a:off x="8069580" y="3639312"/>
            <a:ext cx="91" cy="1463040"/>
          </a:xfrm>
          <a:prstGeom prst="line">
            <a:avLst/>
          </a:prstGeom>
          <a:noFill/>
          <a:ln w="6350">
            <a:solidFill>
              <a:srgbClr val="E7F1EA"/>
            </a:solidFill>
            <a:prstDash val="solid"/>
          </a:ln>
        </p:spPr>
      </p:sp>
      <p:sp>
        <p:nvSpPr>
          <p:cNvPr id="80" name="Shape 78"/>
          <p:cNvSpPr/>
          <p:nvPr/>
        </p:nvSpPr>
        <p:spPr>
          <a:xfrm>
            <a:off x="8236131" y="3639312"/>
            <a:ext cx="91" cy="1463040"/>
          </a:xfrm>
          <a:prstGeom prst="line">
            <a:avLst/>
          </a:prstGeom>
          <a:noFill/>
          <a:ln w="6350">
            <a:solidFill>
              <a:srgbClr val="C8DDCF"/>
            </a:solidFill>
            <a:prstDash val="solid"/>
          </a:ln>
        </p:spPr>
      </p:sp>
      <p:sp>
        <p:nvSpPr>
          <p:cNvPr id="81" name="Shape 79"/>
          <p:cNvSpPr/>
          <p:nvPr/>
        </p:nvSpPr>
        <p:spPr>
          <a:xfrm>
            <a:off x="8402683" y="3639312"/>
            <a:ext cx="91" cy="1463040"/>
          </a:xfrm>
          <a:prstGeom prst="line">
            <a:avLst/>
          </a:prstGeom>
          <a:noFill/>
          <a:ln w="6350">
            <a:solidFill>
              <a:srgbClr val="E7F1EA"/>
            </a:solidFill>
            <a:prstDash val="solid"/>
          </a:ln>
        </p:spPr>
      </p:sp>
      <p:sp>
        <p:nvSpPr>
          <p:cNvPr id="82" name="Shape 80"/>
          <p:cNvSpPr/>
          <p:nvPr/>
        </p:nvSpPr>
        <p:spPr>
          <a:xfrm>
            <a:off x="8569234" y="3639312"/>
            <a:ext cx="91" cy="1463040"/>
          </a:xfrm>
          <a:prstGeom prst="line">
            <a:avLst/>
          </a:prstGeom>
          <a:noFill/>
          <a:ln w="6350">
            <a:solidFill>
              <a:srgbClr val="C8DDCF"/>
            </a:solidFill>
            <a:prstDash val="solid"/>
          </a:ln>
        </p:spPr>
      </p:sp>
      <p:sp>
        <p:nvSpPr>
          <p:cNvPr id="83" name="Shape 81"/>
          <p:cNvSpPr/>
          <p:nvPr/>
        </p:nvSpPr>
        <p:spPr>
          <a:xfrm>
            <a:off x="8735786" y="3639312"/>
            <a:ext cx="91" cy="1463040"/>
          </a:xfrm>
          <a:prstGeom prst="line">
            <a:avLst/>
          </a:prstGeom>
          <a:noFill/>
          <a:ln w="6350">
            <a:solidFill>
              <a:srgbClr val="E7F1EA"/>
            </a:solidFill>
            <a:prstDash val="solid"/>
          </a:ln>
        </p:spPr>
      </p:sp>
      <p:sp>
        <p:nvSpPr>
          <p:cNvPr id="84" name="Shape 82"/>
          <p:cNvSpPr/>
          <p:nvPr/>
        </p:nvSpPr>
        <p:spPr>
          <a:xfrm>
            <a:off x="8902337" y="3639312"/>
            <a:ext cx="91" cy="1463040"/>
          </a:xfrm>
          <a:prstGeom prst="line">
            <a:avLst/>
          </a:prstGeom>
          <a:noFill/>
          <a:ln w="6350">
            <a:solidFill>
              <a:srgbClr val="C8DDCF"/>
            </a:solidFill>
            <a:prstDash val="solid"/>
          </a:ln>
        </p:spPr>
      </p:sp>
      <p:sp>
        <p:nvSpPr>
          <p:cNvPr id="85" name="Shape 83"/>
          <p:cNvSpPr/>
          <p:nvPr/>
        </p:nvSpPr>
        <p:spPr>
          <a:xfrm>
            <a:off x="9068889" y="3639312"/>
            <a:ext cx="91" cy="1463040"/>
          </a:xfrm>
          <a:prstGeom prst="line">
            <a:avLst/>
          </a:prstGeom>
          <a:noFill/>
          <a:ln w="6350">
            <a:solidFill>
              <a:srgbClr val="E7F1EA"/>
            </a:solidFill>
            <a:prstDash val="solid"/>
          </a:ln>
        </p:spPr>
      </p:sp>
      <p:sp>
        <p:nvSpPr>
          <p:cNvPr id="86" name="Shape 84"/>
          <p:cNvSpPr/>
          <p:nvPr/>
        </p:nvSpPr>
        <p:spPr>
          <a:xfrm>
            <a:off x="9235440" y="3639312"/>
            <a:ext cx="91" cy="1463040"/>
          </a:xfrm>
          <a:prstGeom prst="line">
            <a:avLst/>
          </a:prstGeom>
          <a:noFill/>
          <a:ln w="6350">
            <a:solidFill>
              <a:srgbClr val="C8DDCF"/>
            </a:solidFill>
            <a:prstDash val="solid"/>
          </a:ln>
        </p:spPr>
      </p:sp>
      <p:sp>
        <p:nvSpPr>
          <p:cNvPr id="87" name="Shape 85"/>
          <p:cNvSpPr/>
          <p:nvPr/>
        </p:nvSpPr>
        <p:spPr>
          <a:xfrm>
            <a:off x="9401991" y="3639312"/>
            <a:ext cx="91" cy="1463040"/>
          </a:xfrm>
          <a:prstGeom prst="line">
            <a:avLst/>
          </a:prstGeom>
          <a:noFill/>
          <a:ln w="6350">
            <a:solidFill>
              <a:srgbClr val="E7F1EA"/>
            </a:solidFill>
            <a:prstDash val="solid"/>
          </a:ln>
        </p:spPr>
      </p:sp>
      <p:sp>
        <p:nvSpPr>
          <p:cNvPr id="88" name="Shape 86"/>
          <p:cNvSpPr/>
          <p:nvPr/>
        </p:nvSpPr>
        <p:spPr>
          <a:xfrm>
            <a:off x="9568543" y="3639312"/>
            <a:ext cx="91" cy="1463040"/>
          </a:xfrm>
          <a:prstGeom prst="line">
            <a:avLst/>
          </a:prstGeom>
          <a:noFill/>
          <a:ln w="6350">
            <a:solidFill>
              <a:srgbClr val="C8DDCF"/>
            </a:solidFill>
            <a:prstDash val="solid"/>
          </a:ln>
        </p:spPr>
      </p:sp>
      <p:sp>
        <p:nvSpPr>
          <p:cNvPr id="89" name="Shape 87"/>
          <p:cNvSpPr/>
          <p:nvPr/>
        </p:nvSpPr>
        <p:spPr>
          <a:xfrm>
            <a:off x="9735094" y="3639312"/>
            <a:ext cx="91" cy="1463040"/>
          </a:xfrm>
          <a:prstGeom prst="line">
            <a:avLst/>
          </a:prstGeom>
          <a:noFill/>
          <a:ln w="6350">
            <a:solidFill>
              <a:srgbClr val="E7F1EA"/>
            </a:solidFill>
            <a:prstDash val="solid"/>
          </a:ln>
        </p:spPr>
      </p:sp>
      <p:sp>
        <p:nvSpPr>
          <p:cNvPr id="90" name="Shape 88"/>
          <p:cNvSpPr/>
          <p:nvPr/>
        </p:nvSpPr>
        <p:spPr>
          <a:xfrm>
            <a:off x="9901646" y="3639312"/>
            <a:ext cx="91" cy="1463040"/>
          </a:xfrm>
          <a:prstGeom prst="line">
            <a:avLst/>
          </a:prstGeom>
          <a:noFill/>
          <a:ln w="6350">
            <a:solidFill>
              <a:srgbClr val="C8DDCF"/>
            </a:solidFill>
            <a:prstDash val="solid"/>
          </a:ln>
        </p:spPr>
      </p:sp>
      <p:sp>
        <p:nvSpPr>
          <p:cNvPr id="91" name="Shape 89"/>
          <p:cNvSpPr/>
          <p:nvPr/>
        </p:nvSpPr>
        <p:spPr>
          <a:xfrm>
            <a:off x="10068197" y="3639312"/>
            <a:ext cx="91" cy="1463040"/>
          </a:xfrm>
          <a:prstGeom prst="line">
            <a:avLst/>
          </a:prstGeom>
          <a:noFill/>
          <a:ln w="6350">
            <a:solidFill>
              <a:srgbClr val="E7F1EA"/>
            </a:solidFill>
            <a:prstDash val="solid"/>
          </a:ln>
        </p:spPr>
      </p:sp>
      <p:sp>
        <p:nvSpPr>
          <p:cNvPr id="92" name="Shape 90"/>
          <p:cNvSpPr/>
          <p:nvPr/>
        </p:nvSpPr>
        <p:spPr>
          <a:xfrm>
            <a:off x="10234749" y="3639312"/>
            <a:ext cx="91" cy="1463040"/>
          </a:xfrm>
          <a:prstGeom prst="line">
            <a:avLst/>
          </a:prstGeom>
          <a:noFill/>
          <a:ln w="6350">
            <a:solidFill>
              <a:srgbClr val="C8DDCF"/>
            </a:solidFill>
            <a:prstDash val="solid"/>
          </a:ln>
        </p:spPr>
      </p:sp>
      <p:sp>
        <p:nvSpPr>
          <p:cNvPr id="93" name="Shape 91"/>
          <p:cNvSpPr/>
          <p:nvPr/>
        </p:nvSpPr>
        <p:spPr>
          <a:xfrm>
            <a:off x="10401300" y="3639312"/>
            <a:ext cx="91" cy="1463040"/>
          </a:xfrm>
          <a:prstGeom prst="line">
            <a:avLst/>
          </a:prstGeom>
          <a:noFill/>
          <a:ln w="6350">
            <a:solidFill>
              <a:srgbClr val="E7F1EA"/>
            </a:solidFill>
            <a:prstDash val="solid"/>
          </a:ln>
        </p:spPr>
      </p:sp>
      <p:sp>
        <p:nvSpPr>
          <p:cNvPr id="94" name="Shape 92"/>
          <p:cNvSpPr/>
          <p:nvPr/>
        </p:nvSpPr>
        <p:spPr>
          <a:xfrm>
            <a:off x="10567851" y="3639312"/>
            <a:ext cx="91" cy="1463040"/>
          </a:xfrm>
          <a:prstGeom prst="line">
            <a:avLst/>
          </a:prstGeom>
          <a:noFill/>
          <a:ln w="6350">
            <a:solidFill>
              <a:srgbClr val="C8DDCF"/>
            </a:solidFill>
            <a:prstDash val="solid"/>
          </a:ln>
        </p:spPr>
      </p:sp>
      <p:sp>
        <p:nvSpPr>
          <p:cNvPr id="95" name="Shape 93"/>
          <p:cNvSpPr/>
          <p:nvPr/>
        </p:nvSpPr>
        <p:spPr>
          <a:xfrm>
            <a:off x="10734403" y="3639312"/>
            <a:ext cx="91" cy="1463040"/>
          </a:xfrm>
          <a:prstGeom prst="line">
            <a:avLst/>
          </a:prstGeom>
          <a:noFill/>
          <a:ln w="6350">
            <a:solidFill>
              <a:srgbClr val="E7F1EA"/>
            </a:solidFill>
            <a:prstDash val="solid"/>
          </a:ln>
        </p:spPr>
      </p:sp>
      <p:sp>
        <p:nvSpPr>
          <p:cNvPr id="96" name="Shape 94"/>
          <p:cNvSpPr/>
          <p:nvPr/>
        </p:nvSpPr>
        <p:spPr>
          <a:xfrm>
            <a:off x="10900954" y="3639312"/>
            <a:ext cx="91" cy="1463040"/>
          </a:xfrm>
          <a:prstGeom prst="line">
            <a:avLst/>
          </a:prstGeom>
          <a:noFill/>
          <a:ln w="6350">
            <a:solidFill>
              <a:srgbClr val="C8DDCF"/>
            </a:solidFill>
            <a:prstDash val="solid"/>
          </a:ln>
        </p:spPr>
      </p:sp>
      <p:sp>
        <p:nvSpPr>
          <p:cNvPr id="97" name="Shape 95"/>
          <p:cNvSpPr/>
          <p:nvPr/>
        </p:nvSpPr>
        <p:spPr>
          <a:xfrm>
            <a:off x="11067506" y="3639312"/>
            <a:ext cx="91" cy="1463040"/>
          </a:xfrm>
          <a:prstGeom prst="line">
            <a:avLst/>
          </a:prstGeom>
          <a:noFill/>
          <a:ln w="6350">
            <a:solidFill>
              <a:srgbClr val="E7F1EA"/>
            </a:solidFill>
            <a:prstDash val="solid"/>
          </a:ln>
        </p:spPr>
      </p:sp>
      <p:sp>
        <p:nvSpPr>
          <p:cNvPr id="98" name="Shape 96"/>
          <p:cNvSpPr/>
          <p:nvPr/>
        </p:nvSpPr>
        <p:spPr>
          <a:xfrm>
            <a:off x="11234057" y="3639312"/>
            <a:ext cx="91" cy="1463040"/>
          </a:xfrm>
          <a:prstGeom prst="line">
            <a:avLst/>
          </a:prstGeom>
          <a:noFill/>
          <a:ln w="6350">
            <a:solidFill>
              <a:srgbClr val="C8DDCF"/>
            </a:solidFill>
            <a:prstDash val="solid"/>
          </a:ln>
        </p:spPr>
      </p:sp>
      <p:sp>
        <p:nvSpPr>
          <p:cNvPr id="99" name="Shape 97"/>
          <p:cNvSpPr/>
          <p:nvPr/>
        </p:nvSpPr>
        <p:spPr>
          <a:xfrm>
            <a:off x="11400609" y="3639312"/>
            <a:ext cx="91" cy="1463040"/>
          </a:xfrm>
          <a:prstGeom prst="line">
            <a:avLst/>
          </a:prstGeom>
          <a:noFill/>
          <a:ln w="6350">
            <a:solidFill>
              <a:srgbClr val="E7F1EA"/>
            </a:solidFill>
            <a:prstDash val="solid"/>
          </a:ln>
        </p:spPr>
      </p:sp>
      <p:sp>
        <p:nvSpPr>
          <p:cNvPr id="100" name="Shape 98"/>
          <p:cNvSpPr/>
          <p:nvPr/>
        </p:nvSpPr>
        <p:spPr>
          <a:xfrm>
            <a:off x="11567160" y="3639312"/>
            <a:ext cx="91" cy="1463040"/>
          </a:xfrm>
          <a:prstGeom prst="line">
            <a:avLst/>
          </a:prstGeom>
          <a:noFill/>
          <a:ln w="6350">
            <a:solidFill>
              <a:srgbClr val="C8DDCF"/>
            </a:solidFill>
            <a:prstDash val="solid"/>
          </a:ln>
        </p:spPr>
      </p:sp>
      <p:sp>
        <p:nvSpPr>
          <p:cNvPr id="101" name="Shape 99"/>
          <p:cNvSpPr/>
          <p:nvPr/>
        </p:nvSpPr>
        <p:spPr>
          <a:xfrm>
            <a:off x="6903720" y="5102352"/>
            <a:ext cx="4663440" cy="91"/>
          </a:xfrm>
          <a:prstGeom prst="line">
            <a:avLst/>
          </a:prstGeom>
          <a:noFill/>
          <a:ln w="6350">
            <a:solidFill>
              <a:srgbClr val="C8DDCF"/>
            </a:solidFill>
            <a:prstDash val="solid"/>
          </a:ln>
        </p:spPr>
      </p:sp>
      <p:sp>
        <p:nvSpPr>
          <p:cNvPr id="102" name="Shape 100"/>
          <p:cNvSpPr/>
          <p:nvPr/>
        </p:nvSpPr>
        <p:spPr>
          <a:xfrm>
            <a:off x="6903720" y="4858512"/>
            <a:ext cx="4663440" cy="91"/>
          </a:xfrm>
          <a:prstGeom prst="line">
            <a:avLst/>
          </a:prstGeom>
          <a:noFill/>
          <a:ln w="6350">
            <a:solidFill>
              <a:srgbClr val="E7F1EA"/>
            </a:solidFill>
            <a:prstDash val="solid"/>
          </a:ln>
        </p:spPr>
      </p:sp>
      <p:sp>
        <p:nvSpPr>
          <p:cNvPr id="103" name="Shape 101"/>
          <p:cNvSpPr/>
          <p:nvPr/>
        </p:nvSpPr>
        <p:spPr>
          <a:xfrm>
            <a:off x="6903720" y="4614672"/>
            <a:ext cx="4663440" cy="91"/>
          </a:xfrm>
          <a:prstGeom prst="line">
            <a:avLst/>
          </a:prstGeom>
          <a:noFill/>
          <a:ln w="6350">
            <a:solidFill>
              <a:srgbClr val="C8DDCF"/>
            </a:solidFill>
            <a:prstDash val="solid"/>
          </a:ln>
        </p:spPr>
      </p:sp>
      <p:sp>
        <p:nvSpPr>
          <p:cNvPr id="104" name="Shape 102"/>
          <p:cNvSpPr/>
          <p:nvPr/>
        </p:nvSpPr>
        <p:spPr>
          <a:xfrm>
            <a:off x="6903720" y="4370832"/>
            <a:ext cx="4663440" cy="91"/>
          </a:xfrm>
          <a:prstGeom prst="line">
            <a:avLst/>
          </a:prstGeom>
          <a:noFill/>
          <a:ln w="6350">
            <a:solidFill>
              <a:srgbClr val="E7F1EA"/>
            </a:solidFill>
            <a:prstDash val="solid"/>
          </a:ln>
        </p:spPr>
      </p:sp>
      <p:sp>
        <p:nvSpPr>
          <p:cNvPr id="105" name="Shape 103"/>
          <p:cNvSpPr/>
          <p:nvPr/>
        </p:nvSpPr>
        <p:spPr>
          <a:xfrm>
            <a:off x="6903720" y="4126992"/>
            <a:ext cx="4663440" cy="91"/>
          </a:xfrm>
          <a:prstGeom prst="line">
            <a:avLst/>
          </a:prstGeom>
          <a:noFill/>
          <a:ln w="6350">
            <a:solidFill>
              <a:srgbClr val="C8DDCF"/>
            </a:solidFill>
            <a:prstDash val="solid"/>
          </a:ln>
        </p:spPr>
      </p:sp>
      <p:sp>
        <p:nvSpPr>
          <p:cNvPr id="106" name="Shape 104"/>
          <p:cNvSpPr/>
          <p:nvPr/>
        </p:nvSpPr>
        <p:spPr>
          <a:xfrm>
            <a:off x="6903720" y="3883152"/>
            <a:ext cx="4663440" cy="91"/>
          </a:xfrm>
          <a:prstGeom prst="line">
            <a:avLst/>
          </a:prstGeom>
          <a:noFill/>
          <a:ln w="6350">
            <a:solidFill>
              <a:srgbClr val="E7F1EA"/>
            </a:solidFill>
            <a:prstDash val="solid"/>
          </a:ln>
        </p:spPr>
      </p:sp>
      <p:sp>
        <p:nvSpPr>
          <p:cNvPr id="107" name="Shape 105"/>
          <p:cNvSpPr/>
          <p:nvPr/>
        </p:nvSpPr>
        <p:spPr>
          <a:xfrm>
            <a:off x="6903720" y="3639312"/>
            <a:ext cx="4663440" cy="91"/>
          </a:xfrm>
          <a:prstGeom prst="line">
            <a:avLst/>
          </a:prstGeom>
          <a:noFill/>
          <a:ln w="6350">
            <a:solidFill>
              <a:srgbClr val="C8DDCF"/>
            </a:solidFill>
            <a:prstDash val="solid"/>
          </a:ln>
        </p:spPr>
      </p:sp>
      <p:sp>
        <p:nvSpPr>
          <p:cNvPr id="108" name="Shape 106"/>
          <p:cNvSpPr/>
          <p:nvPr/>
        </p:nvSpPr>
        <p:spPr>
          <a:xfrm>
            <a:off x="6903720" y="5102352"/>
            <a:ext cx="4663440" cy="91"/>
          </a:xfrm>
          <a:prstGeom prst="line">
            <a:avLst/>
          </a:prstGeom>
          <a:noFill/>
          <a:ln w="19050">
            <a:solidFill>
              <a:srgbClr val="1C3A2C"/>
            </a:solidFill>
            <a:prstDash val="solid"/>
          </a:ln>
        </p:spPr>
      </p:sp>
      <p:sp>
        <p:nvSpPr>
          <p:cNvPr id="109" name="Shape 107"/>
          <p:cNvSpPr/>
          <p:nvPr/>
        </p:nvSpPr>
        <p:spPr>
          <a:xfrm flipV="1">
            <a:off x="6903720" y="3639312"/>
            <a:ext cx="91" cy="1463040"/>
          </a:xfrm>
          <a:prstGeom prst="line">
            <a:avLst/>
          </a:prstGeom>
          <a:noFill/>
          <a:ln w="19050">
            <a:solidFill>
              <a:srgbClr val="1C3A2C"/>
            </a:solidFill>
            <a:prstDash val="solid"/>
          </a:ln>
        </p:spPr>
      </p:sp>
      <p:sp>
        <p:nvSpPr>
          <p:cNvPr id="110" name="Shape 108"/>
          <p:cNvSpPr/>
          <p:nvPr/>
        </p:nvSpPr>
        <p:spPr>
          <a:xfrm>
            <a:off x="6903720" y="5102352"/>
            <a:ext cx="91" cy="54864"/>
          </a:xfrm>
          <a:prstGeom prst="line">
            <a:avLst/>
          </a:prstGeom>
          <a:noFill/>
          <a:ln w="12700">
            <a:solidFill>
              <a:srgbClr val="1C3A2C"/>
            </a:solidFill>
            <a:prstDash val="solid"/>
          </a:ln>
        </p:spPr>
      </p:sp>
      <p:sp>
        <p:nvSpPr>
          <p:cNvPr id="111" name="Text 109"/>
          <p:cNvSpPr/>
          <p:nvPr/>
        </p:nvSpPr>
        <p:spPr>
          <a:xfrm>
            <a:off x="6629400"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12" name="Shape 110"/>
          <p:cNvSpPr/>
          <p:nvPr/>
        </p:nvSpPr>
        <p:spPr>
          <a:xfrm>
            <a:off x="7236823" y="5102352"/>
            <a:ext cx="91" cy="54864"/>
          </a:xfrm>
          <a:prstGeom prst="line">
            <a:avLst/>
          </a:prstGeom>
          <a:noFill/>
          <a:ln w="12700">
            <a:solidFill>
              <a:srgbClr val="1C3A2C"/>
            </a:solidFill>
            <a:prstDash val="solid"/>
          </a:ln>
        </p:spPr>
      </p:sp>
      <p:sp>
        <p:nvSpPr>
          <p:cNvPr id="113" name="Text 111"/>
          <p:cNvSpPr/>
          <p:nvPr/>
        </p:nvSpPr>
        <p:spPr>
          <a:xfrm>
            <a:off x="6962503"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114" name="Shape 112"/>
          <p:cNvSpPr/>
          <p:nvPr/>
        </p:nvSpPr>
        <p:spPr>
          <a:xfrm>
            <a:off x="7569926" y="5102352"/>
            <a:ext cx="91" cy="54864"/>
          </a:xfrm>
          <a:prstGeom prst="line">
            <a:avLst/>
          </a:prstGeom>
          <a:noFill/>
          <a:ln w="12700">
            <a:solidFill>
              <a:srgbClr val="1C3A2C"/>
            </a:solidFill>
            <a:prstDash val="solid"/>
          </a:ln>
        </p:spPr>
      </p:sp>
      <p:sp>
        <p:nvSpPr>
          <p:cNvPr id="115" name="Text 113"/>
          <p:cNvSpPr/>
          <p:nvPr/>
        </p:nvSpPr>
        <p:spPr>
          <a:xfrm>
            <a:off x="7295606"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116" name="Shape 114"/>
          <p:cNvSpPr/>
          <p:nvPr/>
        </p:nvSpPr>
        <p:spPr>
          <a:xfrm>
            <a:off x="7903029" y="5102352"/>
            <a:ext cx="91" cy="54864"/>
          </a:xfrm>
          <a:prstGeom prst="line">
            <a:avLst/>
          </a:prstGeom>
          <a:noFill/>
          <a:ln w="12700">
            <a:solidFill>
              <a:srgbClr val="1C3A2C"/>
            </a:solidFill>
            <a:prstDash val="solid"/>
          </a:ln>
        </p:spPr>
      </p:sp>
      <p:sp>
        <p:nvSpPr>
          <p:cNvPr id="117" name="Text 115"/>
          <p:cNvSpPr/>
          <p:nvPr/>
        </p:nvSpPr>
        <p:spPr>
          <a:xfrm>
            <a:off x="7628709"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118" name="Shape 116"/>
          <p:cNvSpPr/>
          <p:nvPr/>
        </p:nvSpPr>
        <p:spPr>
          <a:xfrm>
            <a:off x="8236131" y="5102352"/>
            <a:ext cx="91" cy="54864"/>
          </a:xfrm>
          <a:prstGeom prst="line">
            <a:avLst/>
          </a:prstGeom>
          <a:noFill/>
          <a:ln w="12700">
            <a:solidFill>
              <a:srgbClr val="1C3A2C"/>
            </a:solidFill>
            <a:prstDash val="solid"/>
          </a:ln>
        </p:spPr>
      </p:sp>
      <p:sp>
        <p:nvSpPr>
          <p:cNvPr id="119" name="Text 117"/>
          <p:cNvSpPr/>
          <p:nvPr/>
        </p:nvSpPr>
        <p:spPr>
          <a:xfrm>
            <a:off x="7961811"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20" name="Shape 118"/>
          <p:cNvSpPr/>
          <p:nvPr/>
        </p:nvSpPr>
        <p:spPr>
          <a:xfrm>
            <a:off x="8569234" y="5102352"/>
            <a:ext cx="91" cy="54864"/>
          </a:xfrm>
          <a:prstGeom prst="line">
            <a:avLst/>
          </a:prstGeom>
          <a:noFill/>
          <a:ln w="12700">
            <a:solidFill>
              <a:srgbClr val="1C3A2C"/>
            </a:solidFill>
            <a:prstDash val="solid"/>
          </a:ln>
        </p:spPr>
      </p:sp>
      <p:sp>
        <p:nvSpPr>
          <p:cNvPr id="121" name="Text 119"/>
          <p:cNvSpPr/>
          <p:nvPr/>
        </p:nvSpPr>
        <p:spPr>
          <a:xfrm>
            <a:off x="8294914"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22" name="Shape 120"/>
          <p:cNvSpPr/>
          <p:nvPr/>
        </p:nvSpPr>
        <p:spPr>
          <a:xfrm>
            <a:off x="8902337" y="5102352"/>
            <a:ext cx="91" cy="54864"/>
          </a:xfrm>
          <a:prstGeom prst="line">
            <a:avLst/>
          </a:prstGeom>
          <a:noFill/>
          <a:ln w="12700">
            <a:solidFill>
              <a:srgbClr val="1C3A2C"/>
            </a:solidFill>
            <a:prstDash val="solid"/>
          </a:ln>
        </p:spPr>
      </p:sp>
      <p:sp>
        <p:nvSpPr>
          <p:cNvPr id="123" name="Text 121"/>
          <p:cNvSpPr/>
          <p:nvPr/>
        </p:nvSpPr>
        <p:spPr>
          <a:xfrm>
            <a:off x="8628017"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124" name="Shape 122"/>
          <p:cNvSpPr/>
          <p:nvPr/>
        </p:nvSpPr>
        <p:spPr>
          <a:xfrm>
            <a:off x="9235440" y="5102352"/>
            <a:ext cx="91" cy="54864"/>
          </a:xfrm>
          <a:prstGeom prst="line">
            <a:avLst/>
          </a:prstGeom>
          <a:noFill/>
          <a:ln w="12700">
            <a:solidFill>
              <a:srgbClr val="1C3A2C"/>
            </a:solidFill>
            <a:prstDash val="solid"/>
          </a:ln>
        </p:spPr>
      </p:sp>
      <p:sp>
        <p:nvSpPr>
          <p:cNvPr id="125" name="Text 123"/>
          <p:cNvSpPr/>
          <p:nvPr/>
        </p:nvSpPr>
        <p:spPr>
          <a:xfrm>
            <a:off x="8961120"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126" name="Shape 124"/>
          <p:cNvSpPr/>
          <p:nvPr/>
        </p:nvSpPr>
        <p:spPr>
          <a:xfrm>
            <a:off x="9568543" y="5102352"/>
            <a:ext cx="91" cy="54864"/>
          </a:xfrm>
          <a:prstGeom prst="line">
            <a:avLst/>
          </a:prstGeom>
          <a:noFill/>
          <a:ln w="12700">
            <a:solidFill>
              <a:srgbClr val="1C3A2C"/>
            </a:solidFill>
            <a:prstDash val="solid"/>
          </a:ln>
        </p:spPr>
      </p:sp>
      <p:sp>
        <p:nvSpPr>
          <p:cNvPr id="127" name="Text 125"/>
          <p:cNvSpPr/>
          <p:nvPr/>
        </p:nvSpPr>
        <p:spPr>
          <a:xfrm>
            <a:off x="9294223"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128" name="Shape 126"/>
          <p:cNvSpPr/>
          <p:nvPr/>
        </p:nvSpPr>
        <p:spPr>
          <a:xfrm>
            <a:off x="9901646" y="5102352"/>
            <a:ext cx="91" cy="54864"/>
          </a:xfrm>
          <a:prstGeom prst="line">
            <a:avLst/>
          </a:prstGeom>
          <a:noFill/>
          <a:ln w="12700">
            <a:solidFill>
              <a:srgbClr val="1C3A2C"/>
            </a:solidFill>
            <a:prstDash val="solid"/>
          </a:ln>
        </p:spPr>
      </p:sp>
      <p:sp>
        <p:nvSpPr>
          <p:cNvPr id="129" name="Text 127"/>
          <p:cNvSpPr/>
          <p:nvPr/>
        </p:nvSpPr>
        <p:spPr>
          <a:xfrm>
            <a:off x="9627326"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a:t>
            </a:r>
            <a:endParaRPr lang="en-US" sz="1000" dirty="0"/>
          </a:p>
        </p:txBody>
      </p:sp>
      <p:sp>
        <p:nvSpPr>
          <p:cNvPr id="130" name="Shape 128"/>
          <p:cNvSpPr/>
          <p:nvPr/>
        </p:nvSpPr>
        <p:spPr>
          <a:xfrm>
            <a:off x="10234749" y="5102352"/>
            <a:ext cx="91" cy="54864"/>
          </a:xfrm>
          <a:prstGeom prst="line">
            <a:avLst/>
          </a:prstGeom>
          <a:noFill/>
          <a:ln w="12700">
            <a:solidFill>
              <a:srgbClr val="1C3A2C"/>
            </a:solidFill>
            <a:prstDash val="solid"/>
          </a:ln>
        </p:spPr>
      </p:sp>
      <p:sp>
        <p:nvSpPr>
          <p:cNvPr id="131" name="Text 129"/>
          <p:cNvSpPr/>
          <p:nvPr/>
        </p:nvSpPr>
        <p:spPr>
          <a:xfrm>
            <a:off x="9960429"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132" name="Shape 130"/>
          <p:cNvSpPr/>
          <p:nvPr/>
        </p:nvSpPr>
        <p:spPr>
          <a:xfrm>
            <a:off x="10567851" y="5102352"/>
            <a:ext cx="91" cy="54864"/>
          </a:xfrm>
          <a:prstGeom prst="line">
            <a:avLst/>
          </a:prstGeom>
          <a:noFill/>
          <a:ln w="12700">
            <a:solidFill>
              <a:srgbClr val="1C3A2C"/>
            </a:solidFill>
            <a:prstDash val="solid"/>
          </a:ln>
        </p:spPr>
      </p:sp>
      <p:sp>
        <p:nvSpPr>
          <p:cNvPr id="133" name="Text 131"/>
          <p:cNvSpPr/>
          <p:nvPr/>
        </p:nvSpPr>
        <p:spPr>
          <a:xfrm>
            <a:off x="10293531"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22</a:t>
            </a:r>
            <a:endParaRPr lang="en-US" sz="1000" dirty="0"/>
          </a:p>
        </p:txBody>
      </p:sp>
      <p:sp>
        <p:nvSpPr>
          <p:cNvPr id="134" name="Shape 132"/>
          <p:cNvSpPr/>
          <p:nvPr/>
        </p:nvSpPr>
        <p:spPr>
          <a:xfrm>
            <a:off x="10900954" y="5102352"/>
            <a:ext cx="91" cy="54864"/>
          </a:xfrm>
          <a:prstGeom prst="line">
            <a:avLst/>
          </a:prstGeom>
          <a:noFill/>
          <a:ln w="12700">
            <a:solidFill>
              <a:srgbClr val="1C3A2C"/>
            </a:solidFill>
            <a:prstDash val="solid"/>
          </a:ln>
        </p:spPr>
      </p:sp>
      <p:sp>
        <p:nvSpPr>
          <p:cNvPr id="135" name="Text 133"/>
          <p:cNvSpPr/>
          <p:nvPr/>
        </p:nvSpPr>
        <p:spPr>
          <a:xfrm>
            <a:off x="10626634"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p>
        </p:txBody>
      </p:sp>
      <p:sp>
        <p:nvSpPr>
          <p:cNvPr id="136" name="Shape 134"/>
          <p:cNvSpPr/>
          <p:nvPr/>
        </p:nvSpPr>
        <p:spPr>
          <a:xfrm>
            <a:off x="11234057" y="5102352"/>
            <a:ext cx="91" cy="54864"/>
          </a:xfrm>
          <a:prstGeom prst="line">
            <a:avLst/>
          </a:prstGeom>
          <a:noFill/>
          <a:ln w="12700">
            <a:solidFill>
              <a:srgbClr val="1C3A2C"/>
            </a:solidFill>
            <a:prstDash val="solid"/>
          </a:ln>
        </p:spPr>
      </p:sp>
      <p:sp>
        <p:nvSpPr>
          <p:cNvPr id="137" name="Text 135"/>
          <p:cNvSpPr/>
          <p:nvPr/>
        </p:nvSpPr>
        <p:spPr>
          <a:xfrm>
            <a:off x="10959737"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26</a:t>
            </a:r>
            <a:endParaRPr lang="en-US" sz="1000" dirty="0"/>
          </a:p>
        </p:txBody>
      </p:sp>
      <p:sp>
        <p:nvSpPr>
          <p:cNvPr id="138" name="Shape 136"/>
          <p:cNvSpPr/>
          <p:nvPr/>
        </p:nvSpPr>
        <p:spPr>
          <a:xfrm>
            <a:off x="11567160" y="5102352"/>
            <a:ext cx="91" cy="54864"/>
          </a:xfrm>
          <a:prstGeom prst="line">
            <a:avLst/>
          </a:prstGeom>
          <a:noFill/>
          <a:ln w="12700">
            <a:solidFill>
              <a:srgbClr val="1C3A2C"/>
            </a:solidFill>
            <a:prstDash val="solid"/>
          </a:ln>
        </p:spPr>
      </p:sp>
      <p:sp>
        <p:nvSpPr>
          <p:cNvPr id="139" name="Text 137"/>
          <p:cNvSpPr/>
          <p:nvPr/>
        </p:nvSpPr>
        <p:spPr>
          <a:xfrm>
            <a:off x="11292840"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28</a:t>
            </a:r>
            <a:endParaRPr lang="en-US" sz="1000" dirty="0"/>
          </a:p>
        </p:txBody>
      </p:sp>
      <p:sp>
        <p:nvSpPr>
          <p:cNvPr id="140" name="Shape 138"/>
          <p:cNvSpPr/>
          <p:nvPr/>
        </p:nvSpPr>
        <p:spPr>
          <a:xfrm>
            <a:off x="6848856" y="5102352"/>
            <a:ext cx="54864" cy="91"/>
          </a:xfrm>
          <a:prstGeom prst="line">
            <a:avLst/>
          </a:prstGeom>
          <a:noFill/>
          <a:ln w="12700">
            <a:solidFill>
              <a:srgbClr val="1C3A2C"/>
            </a:solidFill>
            <a:prstDash val="solid"/>
          </a:ln>
        </p:spPr>
      </p:sp>
      <p:sp>
        <p:nvSpPr>
          <p:cNvPr id="141" name="Text 139"/>
          <p:cNvSpPr/>
          <p:nvPr/>
        </p:nvSpPr>
        <p:spPr>
          <a:xfrm>
            <a:off x="6464808" y="501091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42" name="Shape 140"/>
          <p:cNvSpPr/>
          <p:nvPr/>
        </p:nvSpPr>
        <p:spPr>
          <a:xfrm>
            <a:off x="6848856" y="4614672"/>
            <a:ext cx="54864" cy="91"/>
          </a:xfrm>
          <a:prstGeom prst="line">
            <a:avLst/>
          </a:prstGeom>
          <a:noFill/>
          <a:ln w="12700">
            <a:solidFill>
              <a:srgbClr val="1C3A2C"/>
            </a:solidFill>
            <a:prstDash val="solid"/>
          </a:ln>
        </p:spPr>
      </p:sp>
      <p:sp>
        <p:nvSpPr>
          <p:cNvPr id="143" name="Text 141"/>
          <p:cNvSpPr/>
          <p:nvPr/>
        </p:nvSpPr>
        <p:spPr>
          <a:xfrm>
            <a:off x="6464808" y="452323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144" name="Shape 142"/>
          <p:cNvSpPr/>
          <p:nvPr/>
        </p:nvSpPr>
        <p:spPr>
          <a:xfrm>
            <a:off x="6848856" y="4126992"/>
            <a:ext cx="54864" cy="91"/>
          </a:xfrm>
          <a:prstGeom prst="line">
            <a:avLst/>
          </a:prstGeom>
          <a:noFill/>
          <a:ln w="12700">
            <a:solidFill>
              <a:srgbClr val="1C3A2C"/>
            </a:solidFill>
            <a:prstDash val="solid"/>
          </a:ln>
        </p:spPr>
      </p:sp>
      <p:sp>
        <p:nvSpPr>
          <p:cNvPr id="145" name="Text 143"/>
          <p:cNvSpPr/>
          <p:nvPr/>
        </p:nvSpPr>
        <p:spPr>
          <a:xfrm>
            <a:off x="6464808" y="403555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46" name="Shape 144"/>
          <p:cNvSpPr/>
          <p:nvPr/>
        </p:nvSpPr>
        <p:spPr>
          <a:xfrm>
            <a:off x="6848856" y="3639312"/>
            <a:ext cx="54864" cy="91"/>
          </a:xfrm>
          <a:prstGeom prst="line">
            <a:avLst/>
          </a:prstGeom>
          <a:noFill/>
          <a:ln w="12700">
            <a:solidFill>
              <a:srgbClr val="1C3A2C"/>
            </a:solidFill>
            <a:prstDash val="solid"/>
          </a:ln>
        </p:spPr>
      </p:sp>
      <p:sp>
        <p:nvSpPr>
          <p:cNvPr id="147" name="Text 145"/>
          <p:cNvSpPr/>
          <p:nvPr/>
        </p:nvSpPr>
        <p:spPr>
          <a:xfrm>
            <a:off x="6464808" y="354787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148" name="Text 146"/>
          <p:cNvSpPr/>
          <p:nvPr/>
        </p:nvSpPr>
        <p:spPr>
          <a:xfrm>
            <a:off x="6903720" y="5349240"/>
            <a:ext cx="46634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day of cycle</a:t>
            </a:r>
            <a:endParaRPr lang="en-US" sz="1050" dirty="0"/>
          </a:p>
        </p:txBody>
      </p:sp>
      <p:sp>
        <p:nvSpPr>
          <p:cNvPr id="149" name="Text 147"/>
          <p:cNvSpPr/>
          <p:nvPr/>
        </p:nvSpPr>
        <p:spPr>
          <a:xfrm rot="16200000">
            <a:off x="5605272" y="4242816"/>
            <a:ext cx="14630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lining / mm</a:t>
            </a:r>
            <a:endParaRPr lang="en-US" sz="1050" dirty="0"/>
          </a:p>
        </p:txBody>
      </p:sp>
      <p:sp>
        <p:nvSpPr>
          <p:cNvPr id="150" name="Shape 148"/>
          <p:cNvSpPr/>
          <p:nvPr/>
        </p:nvSpPr>
        <p:spPr>
          <a:xfrm>
            <a:off x="6903720" y="3639312"/>
            <a:ext cx="832757" cy="1463040"/>
          </a:xfrm>
          <a:prstGeom prst="rect">
            <a:avLst/>
          </a:prstGeom>
          <a:solidFill>
            <a:srgbClr val="C8414C">
              <a:alpha val="15000"/>
            </a:srgbClr>
          </a:solidFill>
          <a:ln/>
        </p:spPr>
      </p:sp>
      <p:sp>
        <p:nvSpPr>
          <p:cNvPr id="151" name="Shape 149"/>
          <p:cNvSpPr/>
          <p:nvPr/>
        </p:nvSpPr>
        <p:spPr>
          <a:xfrm>
            <a:off x="6903720" y="3761232"/>
            <a:ext cx="4663440" cy="1341120"/>
          </a:xfrm>
          <a:custGeom>
            <a:avLst/>
            <a:gdLst/>
            <a:ahLst/>
            <a:cxnLst/>
            <a:rect l="l" t="t" r="r" b="b"/>
            <a:pathLst>
              <a:path w="4663440" h="1341120">
                <a:moveTo>
                  <a:pt x="0" y="1341120"/>
                </a:moveTo>
                <a:lnTo>
                  <a:pt x="0" y="121920"/>
                </a:lnTo>
                <a:lnTo>
                  <a:pt x="83276" y="225552"/>
                </a:lnTo>
                <a:lnTo>
                  <a:pt x="166551" y="329184"/>
                </a:lnTo>
                <a:lnTo>
                  <a:pt x="249827" y="432816"/>
                </a:lnTo>
                <a:lnTo>
                  <a:pt x="333103" y="536448"/>
                </a:lnTo>
                <a:lnTo>
                  <a:pt x="416379" y="640080"/>
                </a:lnTo>
                <a:lnTo>
                  <a:pt x="499654" y="743712"/>
                </a:lnTo>
                <a:lnTo>
                  <a:pt x="582930" y="847344"/>
                </a:lnTo>
                <a:lnTo>
                  <a:pt x="666206" y="950976"/>
                </a:lnTo>
                <a:lnTo>
                  <a:pt x="749481" y="1054608"/>
                </a:lnTo>
                <a:lnTo>
                  <a:pt x="832757" y="1158240"/>
                </a:lnTo>
                <a:lnTo>
                  <a:pt x="916033" y="1107440"/>
                </a:lnTo>
                <a:lnTo>
                  <a:pt x="999309" y="1056640"/>
                </a:lnTo>
                <a:lnTo>
                  <a:pt x="1082584" y="1005840"/>
                </a:lnTo>
                <a:lnTo>
                  <a:pt x="1165860" y="955040"/>
                </a:lnTo>
                <a:lnTo>
                  <a:pt x="1249136" y="904240"/>
                </a:lnTo>
                <a:lnTo>
                  <a:pt x="1332411" y="853440"/>
                </a:lnTo>
                <a:lnTo>
                  <a:pt x="1415687" y="802640"/>
                </a:lnTo>
                <a:lnTo>
                  <a:pt x="1498963" y="751840"/>
                </a:lnTo>
                <a:lnTo>
                  <a:pt x="1582239" y="701040"/>
                </a:lnTo>
                <a:lnTo>
                  <a:pt x="1665514" y="650240"/>
                </a:lnTo>
                <a:lnTo>
                  <a:pt x="1748790" y="599440"/>
                </a:lnTo>
                <a:lnTo>
                  <a:pt x="1832066" y="548640"/>
                </a:lnTo>
                <a:lnTo>
                  <a:pt x="1915341" y="497840"/>
                </a:lnTo>
                <a:lnTo>
                  <a:pt x="1998617" y="447040"/>
                </a:lnTo>
                <a:lnTo>
                  <a:pt x="2081893" y="396240"/>
                </a:lnTo>
                <a:lnTo>
                  <a:pt x="2165169" y="345440"/>
                </a:lnTo>
                <a:lnTo>
                  <a:pt x="2248444" y="294640"/>
                </a:lnTo>
                <a:lnTo>
                  <a:pt x="2331720" y="243840"/>
                </a:lnTo>
                <a:lnTo>
                  <a:pt x="2414996" y="226423"/>
                </a:lnTo>
                <a:lnTo>
                  <a:pt x="2498271" y="209006"/>
                </a:lnTo>
                <a:lnTo>
                  <a:pt x="2581547" y="191589"/>
                </a:lnTo>
                <a:lnTo>
                  <a:pt x="2664823" y="174171"/>
                </a:lnTo>
                <a:lnTo>
                  <a:pt x="2748099" y="156754"/>
                </a:lnTo>
                <a:lnTo>
                  <a:pt x="2831374" y="139337"/>
                </a:lnTo>
                <a:lnTo>
                  <a:pt x="2914650" y="121920"/>
                </a:lnTo>
                <a:lnTo>
                  <a:pt x="2997926" y="104503"/>
                </a:lnTo>
                <a:lnTo>
                  <a:pt x="3081201" y="87086"/>
                </a:lnTo>
                <a:lnTo>
                  <a:pt x="3164477" y="69669"/>
                </a:lnTo>
                <a:lnTo>
                  <a:pt x="3247753" y="52251"/>
                </a:lnTo>
                <a:lnTo>
                  <a:pt x="3331029" y="34834"/>
                </a:lnTo>
                <a:lnTo>
                  <a:pt x="3414304" y="17417"/>
                </a:lnTo>
                <a:lnTo>
                  <a:pt x="3497580" y="0"/>
                </a:lnTo>
                <a:lnTo>
                  <a:pt x="3580856" y="0"/>
                </a:lnTo>
                <a:lnTo>
                  <a:pt x="3664131" y="0"/>
                </a:lnTo>
                <a:lnTo>
                  <a:pt x="3747407" y="0"/>
                </a:lnTo>
                <a:lnTo>
                  <a:pt x="3830683" y="0"/>
                </a:lnTo>
                <a:lnTo>
                  <a:pt x="3913959" y="0"/>
                </a:lnTo>
                <a:lnTo>
                  <a:pt x="3997234" y="0"/>
                </a:lnTo>
                <a:lnTo>
                  <a:pt x="4080510" y="0"/>
                </a:lnTo>
                <a:lnTo>
                  <a:pt x="4163786" y="0"/>
                </a:lnTo>
                <a:lnTo>
                  <a:pt x="4247061" y="0"/>
                </a:lnTo>
                <a:lnTo>
                  <a:pt x="4330337" y="0"/>
                </a:lnTo>
                <a:lnTo>
                  <a:pt x="4413613" y="0"/>
                </a:lnTo>
                <a:lnTo>
                  <a:pt x="4496889" y="0"/>
                </a:lnTo>
                <a:lnTo>
                  <a:pt x="4580164" y="60960"/>
                </a:lnTo>
                <a:lnTo>
                  <a:pt x="4663440" y="121920"/>
                </a:lnTo>
                <a:lnTo>
                  <a:pt x="4663440" y="1341120"/>
                </a:lnTo>
                <a:close/>
              </a:path>
            </a:pathLst>
          </a:custGeom>
          <a:solidFill>
            <a:srgbClr val="C8414C">
              <a:alpha val="85000"/>
            </a:srgbClr>
          </a:solidFill>
          <a:ln w="9525">
            <a:solidFill>
              <a:srgbClr val="8E2A33"/>
            </a:solidFill>
            <a:prstDash val="solid"/>
          </a:ln>
        </p:spPr>
      </p:sp>
      <p:sp>
        <p:nvSpPr>
          <p:cNvPr id="152" name="Shape 150"/>
          <p:cNvSpPr/>
          <p:nvPr/>
        </p:nvSpPr>
        <p:spPr>
          <a:xfrm>
            <a:off x="9235440" y="3639312"/>
            <a:ext cx="91" cy="1463040"/>
          </a:xfrm>
          <a:prstGeom prst="line">
            <a:avLst/>
          </a:prstGeom>
          <a:noFill/>
          <a:ln w="19050">
            <a:solidFill>
              <a:srgbClr val="B8730A"/>
            </a:solidFill>
            <a:prstDash val="dash"/>
          </a:ln>
        </p:spPr>
      </p:sp>
      <p:sp>
        <p:nvSpPr>
          <p:cNvPr id="153" name="Text 151"/>
          <p:cNvSpPr/>
          <p:nvPr/>
        </p:nvSpPr>
        <p:spPr>
          <a:xfrm>
            <a:off x="7818120" y="3657600"/>
            <a:ext cx="1371600" cy="256032"/>
          </a:xfrm>
          <a:prstGeom prst="rect">
            <a:avLst/>
          </a:prstGeom>
          <a:noFill/>
          <a:ln/>
        </p:spPr>
        <p:txBody>
          <a:bodyPr wrap="square" lIns="0" tIns="0" rIns="0" bIns="0" rtlCol="0" anchor="ctr"/>
          <a:lstStyle/>
          <a:p>
            <a:pPr algn="r" indent="0" marL="0">
              <a:buNone/>
            </a:pPr>
            <a:r>
              <a:rPr lang="en-US" sz="1000" b="1" dirty="0">
                <a:solidFill>
                  <a:srgbClr val="B8730A"/>
                </a:solidFill>
                <a:latin typeface="Calibri" pitchFamily="34" charset="0"/>
                <a:ea typeface="Calibri" pitchFamily="34" charset="-122"/>
                <a:cs typeface="Calibri" pitchFamily="34" charset="-120"/>
              </a:rPr>
              <a:t>ovulation</a:t>
            </a:r>
            <a:endParaRPr lang="en-US" sz="1000" dirty="0"/>
          </a:p>
        </p:txBody>
      </p:sp>
      <p:sp>
        <p:nvSpPr>
          <p:cNvPr id="154" name="Text 152"/>
          <p:cNvSpPr/>
          <p:nvPr/>
        </p:nvSpPr>
        <p:spPr>
          <a:xfrm>
            <a:off x="6922008" y="3657600"/>
            <a:ext cx="82296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period</a:t>
            </a:r>
            <a:endParaRPr lang="en-US" sz="1000" dirty="0"/>
          </a:p>
        </p:txBody>
      </p:sp>
      <p:sp>
        <p:nvSpPr>
          <p:cNvPr id="155" name="Shape 153"/>
          <p:cNvSpPr/>
          <p:nvPr/>
        </p:nvSpPr>
        <p:spPr>
          <a:xfrm>
            <a:off x="411480" y="5833872"/>
            <a:ext cx="11368735" cy="530352"/>
          </a:xfrm>
          <a:prstGeom prst="rect">
            <a:avLst/>
          </a:prstGeom>
          <a:solidFill>
            <a:srgbClr val="FFF4E0"/>
          </a:solidFill>
          <a:ln w="6350">
            <a:solidFill>
              <a:srgbClr val="F1D9A8"/>
            </a:solidFill>
            <a:prstDash val="solid"/>
          </a:ln>
        </p:spPr>
      </p:sp>
      <p:sp>
        <p:nvSpPr>
          <p:cNvPr id="156" name="Shape 154"/>
          <p:cNvSpPr/>
          <p:nvPr/>
        </p:nvSpPr>
        <p:spPr>
          <a:xfrm>
            <a:off x="411480" y="5833872"/>
            <a:ext cx="82296" cy="530352"/>
          </a:xfrm>
          <a:prstGeom prst="rect">
            <a:avLst/>
          </a:prstGeom>
          <a:solidFill>
            <a:srgbClr val="E39A2F"/>
          </a:solidFill>
          <a:ln w="12700">
            <a:solidFill>
              <a:srgbClr val="E39A2F"/>
            </a:solidFill>
            <a:prstDash val="solid"/>
          </a:ln>
        </p:spPr>
      </p:sp>
      <p:sp>
        <p:nvSpPr>
          <p:cNvPr id="157" name="Text 15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hormone makes the lining </a:t>
            </a:r>
            <a:r>
              <a:rPr lang="en-US" sz="1150" b="1" dirty="0">
                <a:solidFill>
                  <a:srgbClr val="262B3A"/>
                </a:solidFill>
                <a:latin typeface="Calibri" pitchFamily="34" charset="0"/>
                <a:ea typeface="Calibri" pitchFamily="34" charset="-122"/>
                <a:cs typeface="Calibri" pitchFamily="34" charset="-120"/>
              </a:rPr>
              <a:t>thicken</a:t>
            </a:r>
            <a:r>
              <a:rPr lang="en-US" sz="1150" dirty="0">
                <a:solidFill>
                  <a:srgbClr val="262B3A"/>
                </a:solidFill>
                <a:latin typeface="Calibri" pitchFamily="34" charset="0"/>
                <a:ea typeface="Calibri" pitchFamily="34" charset="-122"/>
                <a:cs typeface="Calibri" pitchFamily="34" charset="-120"/>
              </a:rPr>
              <a:t> after a period, and which </a:t>
            </a:r>
            <a:r>
              <a:rPr lang="en-US" sz="1150" b="1" dirty="0">
                <a:solidFill>
                  <a:srgbClr val="262B3A"/>
                </a:solidFill>
                <a:latin typeface="Calibri" pitchFamily="34" charset="0"/>
                <a:ea typeface="Calibri" pitchFamily="34" charset="-122"/>
                <a:cs typeface="Calibri" pitchFamily="34" charset="-120"/>
              </a:rPr>
              <a:t>keeps</a:t>
            </a:r>
            <a:r>
              <a:rPr lang="en-US" sz="1150" dirty="0">
                <a:solidFill>
                  <a:srgbClr val="262B3A"/>
                </a:solidFill>
                <a:latin typeface="Calibri" pitchFamily="34" charset="0"/>
                <a:ea typeface="Calibri" pitchFamily="34" charset="-122"/>
                <a:cs typeface="Calibri" pitchFamily="34" charset="-120"/>
              </a:rPr>
              <a:t> it thick? By how many mm does it thicken from day 5 to day 14?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FSH, LH, oestrogen and progesterone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7.5 • how the four hormones interact to control the cycle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7.5  |  11</a:t>
            </a:r>
            <a:endParaRPr lang="en-US" sz="1000" dirty="0"/>
          </a:p>
        </p:txBody>
      </p:sp>
      <p:sp>
        <p:nvSpPr>
          <p:cNvPr id="10" name="Shape 8"/>
          <p:cNvSpPr/>
          <p:nvPr/>
        </p:nvSpPr>
        <p:spPr>
          <a:xfrm>
            <a:off x="411480" y="1188720"/>
            <a:ext cx="6675120" cy="4526280"/>
          </a:xfrm>
          <a:prstGeom prst="roundRect">
            <a:avLst>
              <a:gd name="adj" fmla="val 1616"/>
            </a:avLst>
          </a:prstGeom>
          <a:solidFill>
            <a:srgbClr val="EEF6F0"/>
          </a:solidFill>
          <a:ln w="9525">
            <a:solidFill>
              <a:srgbClr val="D6E8DC"/>
            </a:solidFill>
            <a:prstDash val="solid"/>
          </a:ln>
        </p:spPr>
      </p:sp>
      <p:sp>
        <p:nvSpPr>
          <p:cNvPr id="11" name="Text 9"/>
          <p:cNvSpPr/>
          <p:nvPr/>
        </p:nvSpPr>
        <p:spPr>
          <a:xfrm>
            <a:off x="548640" y="5404104"/>
            <a:ext cx="640080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model data drawn to scale; relative levels (arbitrary units)</a:t>
            </a:r>
            <a:endParaRPr lang="en-US" sz="1000" dirty="0"/>
          </a:p>
        </p:txBody>
      </p:sp>
      <p:sp>
        <p:nvSpPr>
          <p:cNvPr id="12" name="Shape 10"/>
          <p:cNvSpPr/>
          <p:nvPr/>
        </p:nvSpPr>
        <p:spPr>
          <a:xfrm>
            <a:off x="1234440" y="1371600"/>
            <a:ext cx="5577840" cy="1143000"/>
          </a:xfrm>
          <a:prstGeom prst="rect">
            <a:avLst/>
          </a:prstGeom>
          <a:solidFill>
            <a:srgbClr val="FFFFFF"/>
          </a:solidFill>
          <a:ln/>
        </p:spPr>
      </p:sp>
      <p:sp>
        <p:nvSpPr>
          <p:cNvPr id="13" name="Shape 11"/>
          <p:cNvSpPr/>
          <p:nvPr/>
        </p:nvSpPr>
        <p:spPr>
          <a:xfrm>
            <a:off x="1234440" y="1371600"/>
            <a:ext cx="91" cy="1143000"/>
          </a:xfrm>
          <a:prstGeom prst="line">
            <a:avLst/>
          </a:prstGeom>
          <a:noFill/>
          <a:ln w="6350">
            <a:solidFill>
              <a:srgbClr val="C8DDCF"/>
            </a:solidFill>
            <a:prstDash val="solid"/>
          </a:ln>
        </p:spPr>
      </p:sp>
      <p:sp>
        <p:nvSpPr>
          <p:cNvPr id="14" name="Shape 12"/>
          <p:cNvSpPr/>
          <p:nvPr/>
        </p:nvSpPr>
        <p:spPr>
          <a:xfrm>
            <a:off x="1433649" y="1371600"/>
            <a:ext cx="91" cy="1143000"/>
          </a:xfrm>
          <a:prstGeom prst="line">
            <a:avLst/>
          </a:prstGeom>
          <a:noFill/>
          <a:ln w="6350">
            <a:solidFill>
              <a:srgbClr val="E7F1EA"/>
            </a:solidFill>
            <a:prstDash val="solid"/>
          </a:ln>
        </p:spPr>
      </p:sp>
      <p:sp>
        <p:nvSpPr>
          <p:cNvPr id="15" name="Shape 13"/>
          <p:cNvSpPr/>
          <p:nvPr/>
        </p:nvSpPr>
        <p:spPr>
          <a:xfrm>
            <a:off x="1632857" y="1371600"/>
            <a:ext cx="91" cy="1143000"/>
          </a:xfrm>
          <a:prstGeom prst="line">
            <a:avLst/>
          </a:prstGeom>
          <a:noFill/>
          <a:ln w="6350">
            <a:solidFill>
              <a:srgbClr val="C8DDCF"/>
            </a:solidFill>
            <a:prstDash val="solid"/>
          </a:ln>
        </p:spPr>
      </p:sp>
      <p:sp>
        <p:nvSpPr>
          <p:cNvPr id="16" name="Shape 14"/>
          <p:cNvSpPr/>
          <p:nvPr/>
        </p:nvSpPr>
        <p:spPr>
          <a:xfrm>
            <a:off x="1832066" y="1371600"/>
            <a:ext cx="91" cy="1143000"/>
          </a:xfrm>
          <a:prstGeom prst="line">
            <a:avLst/>
          </a:prstGeom>
          <a:noFill/>
          <a:ln w="6350">
            <a:solidFill>
              <a:srgbClr val="E7F1EA"/>
            </a:solidFill>
            <a:prstDash val="solid"/>
          </a:ln>
        </p:spPr>
      </p:sp>
      <p:sp>
        <p:nvSpPr>
          <p:cNvPr id="17" name="Shape 15"/>
          <p:cNvSpPr/>
          <p:nvPr/>
        </p:nvSpPr>
        <p:spPr>
          <a:xfrm>
            <a:off x="2031274" y="1371600"/>
            <a:ext cx="91" cy="1143000"/>
          </a:xfrm>
          <a:prstGeom prst="line">
            <a:avLst/>
          </a:prstGeom>
          <a:noFill/>
          <a:ln w="6350">
            <a:solidFill>
              <a:srgbClr val="C8DDCF"/>
            </a:solidFill>
            <a:prstDash val="solid"/>
          </a:ln>
        </p:spPr>
      </p:sp>
      <p:sp>
        <p:nvSpPr>
          <p:cNvPr id="18" name="Shape 16"/>
          <p:cNvSpPr/>
          <p:nvPr/>
        </p:nvSpPr>
        <p:spPr>
          <a:xfrm>
            <a:off x="2230483" y="1371600"/>
            <a:ext cx="91" cy="1143000"/>
          </a:xfrm>
          <a:prstGeom prst="line">
            <a:avLst/>
          </a:prstGeom>
          <a:noFill/>
          <a:ln w="6350">
            <a:solidFill>
              <a:srgbClr val="E7F1EA"/>
            </a:solidFill>
            <a:prstDash val="solid"/>
          </a:ln>
        </p:spPr>
      </p:sp>
      <p:sp>
        <p:nvSpPr>
          <p:cNvPr id="19" name="Shape 17"/>
          <p:cNvSpPr/>
          <p:nvPr/>
        </p:nvSpPr>
        <p:spPr>
          <a:xfrm>
            <a:off x="2429691" y="1371600"/>
            <a:ext cx="91" cy="1143000"/>
          </a:xfrm>
          <a:prstGeom prst="line">
            <a:avLst/>
          </a:prstGeom>
          <a:noFill/>
          <a:ln w="6350">
            <a:solidFill>
              <a:srgbClr val="C8DDCF"/>
            </a:solidFill>
            <a:prstDash val="solid"/>
          </a:ln>
        </p:spPr>
      </p:sp>
      <p:sp>
        <p:nvSpPr>
          <p:cNvPr id="20" name="Shape 18"/>
          <p:cNvSpPr/>
          <p:nvPr/>
        </p:nvSpPr>
        <p:spPr>
          <a:xfrm>
            <a:off x="2628900" y="1371600"/>
            <a:ext cx="91" cy="1143000"/>
          </a:xfrm>
          <a:prstGeom prst="line">
            <a:avLst/>
          </a:prstGeom>
          <a:noFill/>
          <a:ln w="6350">
            <a:solidFill>
              <a:srgbClr val="E7F1EA"/>
            </a:solidFill>
            <a:prstDash val="solid"/>
          </a:ln>
        </p:spPr>
      </p:sp>
      <p:sp>
        <p:nvSpPr>
          <p:cNvPr id="21" name="Shape 19"/>
          <p:cNvSpPr/>
          <p:nvPr/>
        </p:nvSpPr>
        <p:spPr>
          <a:xfrm>
            <a:off x="2828109" y="1371600"/>
            <a:ext cx="91" cy="1143000"/>
          </a:xfrm>
          <a:prstGeom prst="line">
            <a:avLst/>
          </a:prstGeom>
          <a:noFill/>
          <a:ln w="6350">
            <a:solidFill>
              <a:srgbClr val="C8DDCF"/>
            </a:solidFill>
            <a:prstDash val="solid"/>
          </a:ln>
        </p:spPr>
      </p:sp>
      <p:sp>
        <p:nvSpPr>
          <p:cNvPr id="22" name="Shape 20"/>
          <p:cNvSpPr/>
          <p:nvPr/>
        </p:nvSpPr>
        <p:spPr>
          <a:xfrm>
            <a:off x="3027317" y="1371600"/>
            <a:ext cx="91" cy="1143000"/>
          </a:xfrm>
          <a:prstGeom prst="line">
            <a:avLst/>
          </a:prstGeom>
          <a:noFill/>
          <a:ln w="6350">
            <a:solidFill>
              <a:srgbClr val="E7F1EA"/>
            </a:solidFill>
            <a:prstDash val="solid"/>
          </a:ln>
        </p:spPr>
      </p:sp>
      <p:sp>
        <p:nvSpPr>
          <p:cNvPr id="23" name="Shape 21"/>
          <p:cNvSpPr/>
          <p:nvPr/>
        </p:nvSpPr>
        <p:spPr>
          <a:xfrm>
            <a:off x="3226526" y="1371600"/>
            <a:ext cx="91" cy="1143000"/>
          </a:xfrm>
          <a:prstGeom prst="line">
            <a:avLst/>
          </a:prstGeom>
          <a:noFill/>
          <a:ln w="6350">
            <a:solidFill>
              <a:srgbClr val="C8DDCF"/>
            </a:solidFill>
            <a:prstDash val="solid"/>
          </a:ln>
        </p:spPr>
      </p:sp>
      <p:sp>
        <p:nvSpPr>
          <p:cNvPr id="24" name="Shape 22"/>
          <p:cNvSpPr/>
          <p:nvPr/>
        </p:nvSpPr>
        <p:spPr>
          <a:xfrm>
            <a:off x="3425734" y="1371600"/>
            <a:ext cx="91" cy="1143000"/>
          </a:xfrm>
          <a:prstGeom prst="line">
            <a:avLst/>
          </a:prstGeom>
          <a:noFill/>
          <a:ln w="6350">
            <a:solidFill>
              <a:srgbClr val="E7F1EA"/>
            </a:solidFill>
            <a:prstDash val="solid"/>
          </a:ln>
        </p:spPr>
      </p:sp>
      <p:sp>
        <p:nvSpPr>
          <p:cNvPr id="25" name="Shape 23"/>
          <p:cNvSpPr/>
          <p:nvPr/>
        </p:nvSpPr>
        <p:spPr>
          <a:xfrm>
            <a:off x="3624943" y="1371600"/>
            <a:ext cx="91" cy="1143000"/>
          </a:xfrm>
          <a:prstGeom prst="line">
            <a:avLst/>
          </a:prstGeom>
          <a:noFill/>
          <a:ln w="6350">
            <a:solidFill>
              <a:srgbClr val="C8DDCF"/>
            </a:solidFill>
            <a:prstDash val="solid"/>
          </a:ln>
        </p:spPr>
      </p:sp>
      <p:sp>
        <p:nvSpPr>
          <p:cNvPr id="26" name="Shape 24"/>
          <p:cNvSpPr/>
          <p:nvPr/>
        </p:nvSpPr>
        <p:spPr>
          <a:xfrm>
            <a:off x="3824151" y="1371600"/>
            <a:ext cx="91" cy="1143000"/>
          </a:xfrm>
          <a:prstGeom prst="line">
            <a:avLst/>
          </a:prstGeom>
          <a:noFill/>
          <a:ln w="6350">
            <a:solidFill>
              <a:srgbClr val="E7F1EA"/>
            </a:solidFill>
            <a:prstDash val="solid"/>
          </a:ln>
        </p:spPr>
      </p:sp>
      <p:sp>
        <p:nvSpPr>
          <p:cNvPr id="27" name="Shape 25"/>
          <p:cNvSpPr/>
          <p:nvPr/>
        </p:nvSpPr>
        <p:spPr>
          <a:xfrm>
            <a:off x="4023360" y="1371600"/>
            <a:ext cx="91" cy="1143000"/>
          </a:xfrm>
          <a:prstGeom prst="line">
            <a:avLst/>
          </a:prstGeom>
          <a:noFill/>
          <a:ln w="6350">
            <a:solidFill>
              <a:srgbClr val="C8DDCF"/>
            </a:solidFill>
            <a:prstDash val="solid"/>
          </a:ln>
        </p:spPr>
      </p:sp>
      <p:sp>
        <p:nvSpPr>
          <p:cNvPr id="28" name="Shape 26"/>
          <p:cNvSpPr/>
          <p:nvPr/>
        </p:nvSpPr>
        <p:spPr>
          <a:xfrm>
            <a:off x="4222569" y="1371600"/>
            <a:ext cx="91" cy="1143000"/>
          </a:xfrm>
          <a:prstGeom prst="line">
            <a:avLst/>
          </a:prstGeom>
          <a:noFill/>
          <a:ln w="6350">
            <a:solidFill>
              <a:srgbClr val="E7F1EA"/>
            </a:solidFill>
            <a:prstDash val="solid"/>
          </a:ln>
        </p:spPr>
      </p:sp>
      <p:sp>
        <p:nvSpPr>
          <p:cNvPr id="29" name="Shape 27"/>
          <p:cNvSpPr/>
          <p:nvPr/>
        </p:nvSpPr>
        <p:spPr>
          <a:xfrm>
            <a:off x="4421777" y="1371600"/>
            <a:ext cx="91" cy="1143000"/>
          </a:xfrm>
          <a:prstGeom prst="line">
            <a:avLst/>
          </a:prstGeom>
          <a:noFill/>
          <a:ln w="6350">
            <a:solidFill>
              <a:srgbClr val="C8DDCF"/>
            </a:solidFill>
            <a:prstDash val="solid"/>
          </a:ln>
        </p:spPr>
      </p:sp>
      <p:sp>
        <p:nvSpPr>
          <p:cNvPr id="30" name="Shape 28"/>
          <p:cNvSpPr/>
          <p:nvPr/>
        </p:nvSpPr>
        <p:spPr>
          <a:xfrm>
            <a:off x="4620986" y="1371600"/>
            <a:ext cx="91" cy="1143000"/>
          </a:xfrm>
          <a:prstGeom prst="line">
            <a:avLst/>
          </a:prstGeom>
          <a:noFill/>
          <a:ln w="6350">
            <a:solidFill>
              <a:srgbClr val="E7F1EA"/>
            </a:solidFill>
            <a:prstDash val="solid"/>
          </a:ln>
        </p:spPr>
      </p:sp>
      <p:sp>
        <p:nvSpPr>
          <p:cNvPr id="31" name="Shape 29"/>
          <p:cNvSpPr/>
          <p:nvPr/>
        </p:nvSpPr>
        <p:spPr>
          <a:xfrm>
            <a:off x="4820194" y="1371600"/>
            <a:ext cx="91" cy="1143000"/>
          </a:xfrm>
          <a:prstGeom prst="line">
            <a:avLst/>
          </a:prstGeom>
          <a:noFill/>
          <a:ln w="6350">
            <a:solidFill>
              <a:srgbClr val="C8DDCF"/>
            </a:solidFill>
            <a:prstDash val="solid"/>
          </a:ln>
        </p:spPr>
      </p:sp>
      <p:sp>
        <p:nvSpPr>
          <p:cNvPr id="32" name="Shape 30"/>
          <p:cNvSpPr/>
          <p:nvPr/>
        </p:nvSpPr>
        <p:spPr>
          <a:xfrm>
            <a:off x="5019403" y="1371600"/>
            <a:ext cx="91" cy="1143000"/>
          </a:xfrm>
          <a:prstGeom prst="line">
            <a:avLst/>
          </a:prstGeom>
          <a:noFill/>
          <a:ln w="6350">
            <a:solidFill>
              <a:srgbClr val="E7F1EA"/>
            </a:solidFill>
            <a:prstDash val="solid"/>
          </a:ln>
        </p:spPr>
      </p:sp>
      <p:sp>
        <p:nvSpPr>
          <p:cNvPr id="33" name="Shape 31"/>
          <p:cNvSpPr/>
          <p:nvPr/>
        </p:nvSpPr>
        <p:spPr>
          <a:xfrm>
            <a:off x="5218611" y="1371600"/>
            <a:ext cx="91" cy="1143000"/>
          </a:xfrm>
          <a:prstGeom prst="line">
            <a:avLst/>
          </a:prstGeom>
          <a:noFill/>
          <a:ln w="6350">
            <a:solidFill>
              <a:srgbClr val="C8DDCF"/>
            </a:solidFill>
            <a:prstDash val="solid"/>
          </a:ln>
        </p:spPr>
      </p:sp>
      <p:sp>
        <p:nvSpPr>
          <p:cNvPr id="34" name="Shape 32"/>
          <p:cNvSpPr/>
          <p:nvPr/>
        </p:nvSpPr>
        <p:spPr>
          <a:xfrm>
            <a:off x="5417820" y="1371600"/>
            <a:ext cx="91" cy="1143000"/>
          </a:xfrm>
          <a:prstGeom prst="line">
            <a:avLst/>
          </a:prstGeom>
          <a:noFill/>
          <a:ln w="6350">
            <a:solidFill>
              <a:srgbClr val="E7F1EA"/>
            </a:solidFill>
            <a:prstDash val="solid"/>
          </a:ln>
        </p:spPr>
      </p:sp>
      <p:sp>
        <p:nvSpPr>
          <p:cNvPr id="35" name="Shape 33"/>
          <p:cNvSpPr/>
          <p:nvPr/>
        </p:nvSpPr>
        <p:spPr>
          <a:xfrm>
            <a:off x="5617029" y="1371600"/>
            <a:ext cx="91" cy="1143000"/>
          </a:xfrm>
          <a:prstGeom prst="line">
            <a:avLst/>
          </a:prstGeom>
          <a:noFill/>
          <a:ln w="6350">
            <a:solidFill>
              <a:srgbClr val="C8DDCF"/>
            </a:solidFill>
            <a:prstDash val="solid"/>
          </a:ln>
        </p:spPr>
      </p:sp>
      <p:sp>
        <p:nvSpPr>
          <p:cNvPr id="36" name="Shape 34"/>
          <p:cNvSpPr/>
          <p:nvPr/>
        </p:nvSpPr>
        <p:spPr>
          <a:xfrm>
            <a:off x="5816237" y="1371600"/>
            <a:ext cx="91" cy="1143000"/>
          </a:xfrm>
          <a:prstGeom prst="line">
            <a:avLst/>
          </a:prstGeom>
          <a:noFill/>
          <a:ln w="6350">
            <a:solidFill>
              <a:srgbClr val="E7F1EA"/>
            </a:solidFill>
            <a:prstDash val="solid"/>
          </a:ln>
        </p:spPr>
      </p:sp>
      <p:sp>
        <p:nvSpPr>
          <p:cNvPr id="37" name="Shape 35"/>
          <p:cNvSpPr/>
          <p:nvPr/>
        </p:nvSpPr>
        <p:spPr>
          <a:xfrm>
            <a:off x="6015446" y="1371600"/>
            <a:ext cx="91" cy="1143000"/>
          </a:xfrm>
          <a:prstGeom prst="line">
            <a:avLst/>
          </a:prstGeom>
          <a:noFill/>
          <a:ln w="6350">
            <a:solidFill>
              <a:srgbClr val="C8DDCF"/>
            </a:solidFill>
            <a:prstDash val="solid"/>
          </a:ln>
        </p:spPr>
      </p:sp>
      <p:sp>
        <p:nvSpPr>
          <p:cNvPr id="38" name="Shape 36"/>
          <p:cNvSpPr/>
          <p:nvPr/>
        </p:nvSpPr>
        <p:spPr>
          <a:xfrm>
            <a:off x="6214654" y="1371600"/>
            <a:ext cx="91" cy="1143000"/>
          </a:xfrm>
          <a:prstGeom prst="line">
            <a:avLst/>
          </a:prstGeom>
          <a:noFill/>
          <a:ln w="6350">
            <a:solidFill>
              <a:srgbClr val="E7F1EA"/>
            </a:solidFill>
            <a:prstDash val="solid"/>
          </a:ln>
        </p:spPr>
      </p:sp>
      <p:sp>
        <p:nvSpPr>
          <p:cNvPr id="39" name="Shape 37"/>
          <p:cNvSpPr/>
          <p:nvPr/>
        </p:nvSpPr>
        <p:spPr>
          <a:xfrm>
            <a:off x="6413863" y="1371600"/>
            <a:ext cx="91" cy="1143000"/>
          </a:xfrm>
          <a:prstGeom prst="line">
            <a:avLst/>
          </a:prstGeom>
          <a:noFill/>
          <a:ln w="6350">
            <a:solidFill>
              <a:srgbClr val="C8DDCF"/>
            </a:solidFill>
            <a:prstDash val="solid"/>
          </a:ln>
        </p:spPr>
      </p:sp>
      <p:sp>
        <p:nvSpPr>
          <p:cNvPr id="40" name="Shape 38"/>
          <p:cNvSpPr/>
          <p:nvPr/>
        </p:nvSpPr>
        <p:spPr>
          <a:xfrm>
            <a:off x="6613071" y="1371600"/>
            <a:ext cx="91" cy="1143000"/>
          </a:xfrm>
          <a:prstGeom prst="line">
            <a:avLst/>
          </a:prstGeom>
          <a:noFill/>
          <a:ln w="6350">
            <a:solidFill>
              <a:srgbClr val="E7F1EA"/>
            </a:solidFill>
            <a:prstDash val="solid"/>
          </a:ln>
        </p:spPr>
      </p:sp>
      <p:sp>
        <p:nvSpPr>
          <p:cNvPr id="41" name="Shape 39"/>
          <p:cNvSpPr/>
          <p:nvPr/>
        </p:nvSpPr>
        <p:spPr>
          <a:xfrm>
            <a:off x="6812280" y="1371600"/>
            <a:ext cx="91" cy="1143000"/>
          </a:xfrm>
          <a:prstGeom prst="line">
            <a:avLst/>
          </a:prstGeom>
          <a:noFill/>
          <a:ln w="6350">
            <a:solidFill>
              <a:srgbClr val="C8DDCF"/>
            </a:solidFill>
            <a:prstDash val="solid"/>
          </a:ln>
        </p:spPr>
      </p:sp>
      <p:sp>
        <p:nvSpPr>
          <p:cNvPr id="42" name="Shape 40"/>
          <p:cNvSpPr/>
          <p:nvPr/>
        </p:nvSpPr>
        <p:spPr>
          <a:xfrm>
            <a:off x="1234440" y="2514600"/>
            <a:ext cx="5577840" cy="91"/>
          </a:xfrm>
          <a:prstGeom prst="line">
            <a:avLst/>
          </a:prstGeom>
          <a:noFill/>
          <a:ln w="6350">
            <a:solidFill>
              <a:srgbClr val="C8DDCF"/>
            </a:solidFill>
            <a:prstDash val="solid"/>
          </a:ln>
        </p:spPr>
      </p:sp>
      <p:sp>
        <p:nvSpPr>
          <p:cNvPr id="43" name="Shape 41"/>
          <p:cNvSpPr/>
          <p:nvPr/>
        </p:nvSpPr>
        <p:spPr>
          <a:xfrm>
            <a:off x="1234440" y="2228850"/>
            <a:ext cx="5577840" cy="91"/>
          </a:xfrm>
          <a:prstGeom prst="line">
            <a:avLst/>
          </a:prstGeom>
          <a:noFill/>
          <a:ln w="6350">
            <a:solidFill>
              <a:srgbClr val="E7F1EA"/>
            </a:solidFill>
            <a:prstDash val="solid"/>
          </a:ln>
        </p:spPr>
      </p:sp>
      <p:sp>
        <p:nvSpPr>
          <p:cNvPr id="44" name="Shape 42"/>
          <p:cNvSpPr/>
          <p:nvPr/>
        </p:nvSpPr>
        <p:spPr>
          <a:xfrm>
            <a:off x="1234440" y="1943100"/>
            <a:ext cx="5577840" cy="91"/>
          </a:xfrm>
          <a:prstGeom prst="line">
            <a:avLst/>
          </a:prstGeom>
          <a:noFill/>
          <a:ln w="6350">
            <a:solidFill>
              <a:srgbClr val="C8DDCF"/>
            </a:solidFill>
            <a:prstDash val="solid"/>
          </a:ln>
        </p:spPr>
      </p:sp>
      <p:sp>
        <p:nvSpPr>
          <p:cNvPr id="45" name="Shape 43"/>
          <p:cNvSpPr/>
          <p:nvPr/>
        </p:nvSpPr>
        <p:spPr>
          <a:xfrm>
            <a:off x="1234440" y="1657350"/>
            <a:ext cx="5577840" cy="91"/>
          </a:xfrm>
          <a:prstGeom prst="line">
            <a:avLst/>
          </a:prstGeom>
          <a:noFill/>
          <a:ln w="6350">
            <a:solidFill>
              <a:srgbClr val="E7F1EA"/>
            </a:solidFill>
            <a:prstDash val="solid"/>
          </a:ln>
        </p:spPr>
      </p:sp>
      <p:sp>
        <p:nvSpPr>
          <p:cNvPr id="46" name="Shape 44"/>
          <p:cNvSpPr/>
          <p:nvPr/>
        </p:nvSpPr>
        <p:spPr>
          <a:xfrm>
            <a:off x="1234440" y="1371600"/>
            <a:ext cx="5577840" cy="91"/>
          </a:xfrm>
          <a:prstGeom prst="line">
            <a:avLst/>
          </a:prstGeom>
          <a:noFill/>
          <a:ln w="6350">
            <a:solidFill>
              <a:srgbClr val="C8DDCF"/>
            </a:solidFill>
            <a:prstDash val="solid"/>
          </a:ln>
        </p:spPr>
      </p:sp>
      <p:sp>
        <p:nvSpPr>
          <p:cNvPr id="47" name="Shape 45"/>
          <p:cNvSpPr/>
          <p:nvPr/>
        </p:nvSpPr>
        <p:spPr>
          <a:xfrm>
            <a:off x="1234440" y="2514600"/>
            <a:ext cx="5577840" cy="91"/>
          </a:xfrm>
          <a:prstGeom prst="line">
            <a:avLst/>
          </a:prstGeom>
          <a:noFill/>
          <a:ln w="19050">
            <a:solidFill>
              <a:srgbClr val="1C3A2C"/>
            </a:solidFill>
            <a:prstDash val="solid"/>
          </a:ln>
        </p:spPr>
      </p:sp>
      <p:sp>
        <p:nvSpPr>
          <p:cNvPr id="48" name="Shape 46"/>
          <p:cNvSpPr/>
          <p:nvPr/>
        </p:nvSpPr>
        <p:spPr>
          <a:xfrm flipV="1">
            <a:off x="1234440" y="1371600"/>
            <a:ext cx="91" cy="1143000"/>
          </a:xfrm>
          <a:prstGeom prst="line">
            <a:avLst/>
          </a:prstGeom>
          <a:noFill/>
          <a:ln w="19050">
            <a:solidFill>
              <a:srgbClr val="1C3A2C"/>
            </a:solidFill>
            <a:prstDash val="solid"/>
          </a:ln>
        </p:spPr>
      </p:sp>
      <p:sp>
        <p:nvSpPr>
          <p:cNvPr id="49" name="Shape 47"/>
          <p:cNvSpPr/>
          <p:nvPr/>
        </p:nvSpPr>
        <p:spPr>
          <a:xfrm>
            <a:off x="1234440" y="2514600"/>
            <a:ext cx="91" cy="54864"/>
          </a:xfrm>
          <a:prstGeom prst="line">
            <a:avLst/>
          </a:prstGeom>
          <a:noFill/>
          <a:ln w="12700">
            <a:solidFill>
              <a:srgbClr val="1C3A2C"/>
            </a:solidFill>
            <a:prstDash val="solid"/>
          </a:ln>
        </p:spPr>
      </p:sp>
      <p:sp>
        <p:nvSpPr>
          <p:cNvPr id="50" name="Text 48"/>
          <p:cNvSpPr/>
          <p:nvPr/>
        </p:nvSpPr>
        <p:spPr>
          <a:xfrm>
            <a:off x="960120"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1" name="Shape 49"/>
          <p:cNvSpPr/>
          <p:nvPr/>
        </p:nvSpPr>
        <p:spPr>
          <a:xfrm>
            <a:off x="1632857" y="2514600"/>
            <a:ext cx="91" cy="54864"/>
          </a:xfrm>
          <a:prstGeom prst="line">
            <a:avLst/>
          </a:prstGeom>
          <a:noFill/>
          <a:ln w="12700">
            <a:solidFill>
              <a:srgbClr val="1C3A2C"/>
            </a:solidFill>
            <a:prstDash val="solid"/>
          </a:ln>
        </p:spPr>
      </p:sp>
      <p:sp>
        <p:nvSpPr>
          <p:cNvPr id="52" name="Text 50"/>
          <p:cNvSpPr/>
          <p:nvPr/>
        </p:nvSpPr>
        <p:spPr>
          <a:xfrm>
            <a:off x="1358537"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53" name="Shape 51"/>
          <p:cNvSpPr/>
          <p:nvPr/>
        </p:nvSpPr>
        <p:spPr>
          <a:xfrm>
            <a:off x="2031274" y="2514600"/>
            <a:ext cx="91" cy="54864"/>
          </a:xfrm>
          <a:prstGeom prst="line">
            <a:avLst/>
          </a:prstGeom>
          <a:noFill/>
          <a:ln w="12700">
            <a:solidFill>
              <a:srgbClr val="1C3A2C"/>
            </a:solidFill>
            <a:prstDash val="solid"/>
          </a:ln>
        </p:spPr>
      </p:sp>
      <p:sp>
        <p:nvSpPr>
          <p:cNvPr id="54" name="Text 52"/>
          <p:cNvSpPr/>
          <p:nvPr/>
        </p:nvSpPr>
        <p:spPr>
          <a:xfrm>
            <a:off x="1756954"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5" name="Shape 53"/>
          <p:cNvSpPr/>
          <p:nvPr/>
        </p:nvSpPr>
        <p:spPr>
          <a:xfrm>
            <a:off x="2429691" y="2514600"/>
            <a:ext cx="91" cy="54864"/>
          </a:xfrm>
          <a:prstGeom prst="line">
            <a:avLst/>
          </a:prstGeom>
          <a:noFill/>
          <a:ln w="12700">
            <a:solidFill>
              <a:srgbClr val="1C3A2C"/>
            </a:solidFill>
            <a:prstDash val="solid"/>
          </a:ln>
        </p:spPr>
      </p:sp>
      <p:sp>
        <p:nvSpPr>
          <p:cNvPr id="56" name="Text 54"/>
          <p:cNvSpPr/>
          <p:nvPr/>
        </p:nvSpPr>
        <p:spPr>
          <a:xfrm>
            <a:off x="2155371"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7" name="Shape 55"/>
          <p:cNvSpPr/>
          <p:nvPr/>
        </p:nvSpPr>
        <p:spPr>
          <a:xfrm>
            <a:off x="2828109" y="2514600"/>
            <a:ext cx="91" cy="54864"/>
          </a:xfrm>
          <a:prstGeom prst="line">
            <a:avLst/>
          </a:prstGeom>
          <a:noFill/>
          <a:ln w="12700">
            <a:solidFill>
              <a:srgbClr val="1C3A2C"/>
            </a:solidFill>
            <a:prstDash val="solid"/>
          </a:ln>
        </p:spPr>
      </p:sp>
      <p:sp>
        <p:nvSpPr>
          <p:cNvPr id="58" name="Text 56"/>
          <p:cNvSpPr/>
          <p:nvPr/>
        </p:nvSpPr>
        <p:spPr>
          <a:xfrm>
            <a:off x="2553789"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59" name="Shape 57"/>
          <p:cNvSpPr/>
          <p:nvPr/>
        </p:nvSpPr>
        <p:spPr>
          <a:xfrm>
            <a:off x="3226526" y="2514600"/>
            <a:ext cx="91" cy="54864"/>
          </a:xfrm>
          <a:prstGeom prst="line">
            <a:avLst/>
          </a:prstGeom>
          <a:noFill/>
          <a:ln w="12700">
            <a:solidFill>
              <a:srgbClr val="1C3A2C"/>
            </a:solidFill>
            <a:prstDash val="solid"/>
          </a:ln>
        </p:spPr>
      </p:sp>
      <p:sp>
        <p:nvSpPr>
          <p:cNvPr id="60" name="Text 58"/>
          <p:cNvSpPr/>
          <p:nvPr/>
        </p:nvSpPr>
        <p:spPr>
          <a:xfrm>
            <a:off x="2952206"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1" name="Shape 59"/>
          <p:cNvSpPr/>
          <p:nvPr/>
        </p:nvSpPr>
        <p:spPr>
          <a:xfrm>
            <a:off x="3624943" y="2514600"/>
            <a:ext cx="91" cy="54864"/>
          </a:xfrm>
          <a:prstGeom prst="line">
            <a:avLst/>
          </a:prstGeom>
          <a:noFill/>
          <a:ln w="12700">
            <a:solidFill>
              <a:srgbClr val="1C3A2C"/>
            </a:solidFill>
            <a:prstDash val="solid"/>
          </a:ln>
        </p:spPr>
      </p:sp>
      <p:sp>
        <p:nvSpPr>
          <p:cNvPr id="62" name="Text 60"/>
          <p:cNvSpPr/>
          <p:nvPr/>
        </p:nvSpPr>
        <p:spPr>
          <a:xfrm>
            <a:off x="3350623"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63" name="Shape 61"/>
          <p:cNvSpPr/>
          <p:nvPr/>
        </p:nvSpPr>
        <p:spPr>
          <a:xfrm>
            <a:off x="4023360" y="2514600"/>
            <a:ext cx="91" cy="54864"/>
          </a:xfrm>
          <a:prstGeom prst="line">
            <a:avLst/>
          </a:prstGeom>
          <a:noFill/>
          <a:ln w="12700">
            <a:solidFill>
              <a:srgbClr val="1C3A2C"/>
            </a:solidFill>
            <a:prstDash val="solid"/>
          </a:ln>
        </p:spPr>
      </p:sp>
      <p:sp>
        <p:nvSpPr>
          <p:cNvPr id="64" name="Text 62"/>
          <p:cNvSpPr/>
          <p:nvPr/>
        </p:nvSpPr>
        <p:spPr>
          <a:xfrm>
            <a:off x="3749040"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65" name="Shape 63"/>
          <p:cNvSpPr/>
          <p:nvPr/>
        </p:nvSpPr>
        <p:spPr>
          <a:xfrm>
            <a:off x="4421777" y="2514600"/>
            <a:ext cx="91" cy="54864"/>
          </a:xfrm>
          <a:prstGeom prst="line">
            <a:avLst/>
          </a:prstGeom>
          <a:noFill/>
          <a:ln w="12700">
            <a:solidFill>
              <a:srgbClr val="1C3A2C"/>
            </a:solidFill>
            <a:prstDash val="solid"/>
          </a:ln>
        </p:spPr>
      </p:sp>
      <p:sp>
        <p:nvSpPr>
          <p:cNvPr id="66" name="Text 64"/>
          <p:cNvSpPr/>
          <p:nvPr/>
        </p:nvSpPr>
        <p:spPr>
          <a:xfrm>
            <a:off x="4147457"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67" name="Shape 65"/>
          <p:cNvSpPr/>
          <p:nvPr/>
        </p:nvSpPr>
        <p:spPr>
          <a:xfrm>
            <a:off x="4820194" y="2514600"/>
            <a:ext cx="91" cy="54864"/>
          </a:xfrm>
          <a:prstGeom prst="line">
            <a:avLst/>
          </a:prstGeom>
          <a:noFill/>
          <a:ln w="12700">
            <a:solidFill>
              <a:srgbClr val="1C3A2C"/>
            </a:solidFill>
            <a:prstDash val="solid"/>
          </a:ln>
        </p:spPr>
      </p:sp>
      <p:sp>
        <p:nvSpPr>
          <p:cNvPr id="68" name="Text 66"/>
          <p:cNvSpPr/>
          <p:nvPr/>
        </p:nvSpPr>
        <p:spPr>
          <a:xfrm>
            <a:off x="4545874"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a:t>
            </a:r>
            <a:endParaRPr lang="en-US" sz="1000" dirty="0"/>
          </a:p>
        </p:txBody>
      </p:sp>
      <p:sp>
        <p:nvSpPr>
          <p:cNvPr id="69" name="Shape 67"/>
          <p:cNvSpPr/>
          <p:nvPr/>
        </p:nvSpPr>
        <p:spPr>
          <a:xfrm>
            <a:off x="5218611" y="2514600"/>
            <a:ext cx="91" cy="54864"/>
          </a:xfrm>
          <a:prstGeom prst="line">
            <a:avLst/>
          </a:prstGeom>
          <a:noFill/>
          <a:ln w="12700">
            <a:solidFill>
              <a:srgbClr val="1C3A2C"/>
            </a:solidFill>
            <a:prstDash val="solid"/>
          </a:ln>
        </p:spPr>
      </p:sp>
      <p:sp>
        <p:nvSpPr>
          <p:cNvPr id="70" name="Text 68"/>
          <p:cNvSpPr/>
          <p:nvPr/>
        </p:nvSpPr>
        <p:spPr>
          <a:xfrm>
            <a:off x="4944291"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71" name="Shape 69"/>
          <p:cNvSpPr/>
          <p:nvPr/>
        </p:nvSpPr>
        <p:spPr>
          <a:xfrm>
            <a:off x="5617029" y="2514600"/>
            <a:ext cx="91" cy="54864"/>
          </a:xfrm>
          <a:prstGeom prst="line">
            <a:avLst/>
          </a:prstGeom>
          <a:noFill/>
          <a:ln w="12700">
            <a:solidFill>
              <a:srgbClr val="1C3A2C"/>
            </a:solidFill>
            <a:prstDash val="solid"/>
          </a:ln>
        </p:spPr>
      </p:sp>
      <p:sp>
        <p:nvSpPr>
          <p:cNvPr id="72" name="Text 70"/>
          <p:cNvSpPr/>
          <p:nvPr/>
        </p:nvSpPr>
        <p:spPr>
          <a:xfrm>
            <a:off x="5342709"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22</a:t>
            </a:r>
            <a:endParaRPr lang="en-US" sz="1000" dirty="0"/>
          </a:p>
        </p:txBody>
      </p:sp>
      <p:sp>
        <p:nvSpPr>
          <p:cNvPr id="73" name="Shape 71"/>
          <p:cNvSpPr/>
          <p:nvPr/>
        </p:nvSpPr>
        <p:spPr>
          <a:xfrm>
            <a:off x="6015446" y="2514600"/>
            <a:ext cx="91" cy="54864"/>
          </a:xfrm>
          <a:prstGeom prst="line">
            <a:avLst/>
          </a:prstGeom>
          <a:noFill/>
          <a:ln w="12700">
            <a:solidFill>
              <a:srgbClr val="1C3A2C"/>
            </a:solidFill>
            <a:prstDash val="solid"/>
          </a:ln>
        </p:spPr>
      </p:sp>
      <p:sp>
        <p:nvSpPr>
          <p:cNvPr id="74" name="Text 72"/>
          <p:cNvSpPr/>
          <p:nvPr/>
        </p:nvSpPr>
        <p:spPr>
          <a:xfrm>
            <a:off x="5741126"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p>
        </p:txBody>
      </p:sp>
      <p:sp>
        <p:nvSpPr>
          <p:cNvPr id="75" name="Shape 73"/>
          <p:cNvSpPr/>
          <p:nvPr/>
        </p:nvSpPr>
        <p:spPr>
          <a:xfrm>
            <a:off x="6413863" y="2514600"/>
            <a:ext cx="91" cy="54864"/>
          </a:xfrm>
          <a:prstGeom prst="line">
            <a:avLst/>
          </a:prstGeom>
          <a:noFill/>
          <a:ln w="12700">
            <a:solidFill>
              <a:srgbClr val="1C3A2C"/>
            </a:solidFill>
            <a:prstDash val="solid"/>
          </a:ln>
        </p:spPr>
      </p:sp>
      <p:sp>
        <p:nvSpPr>
          <p:cNvPr id="76" name="Text 74"/>
          <p:cNvSpPr/>
          <p:nvPr/>
        </p:nvSpPr>
        <p:spPr>
          <a:xfrm>
            <a:off x="6139543"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26</a:t>
            </a:r>
            <a:endParaRPr lang="en-US" sz="1000" dirty="0"/>
          </a:p>
        </p:txBody>
      </p:sp>
      <p:sp>
        <p:nvSpPr>
          <p:cNvPr id="77" name="Shape 75"/>
          <p:cNvSpPr/>
          <p:nvPr/>
        </p:nvSpPr>
        <p:spPr>
          <a:xfrm>
            <a:off x="6812280" y="2514600"/>
            <a:ext cx="91" cy="54864"/>
          </a:xfrm>
          <a:prstGeom prst="line">
            <a:avLst/>
          </a:prstGeom>
          <a:noFill/>
          <a:ln w="12700">
            <a:solidFill>
              <a:srgbClr val="1C3A2C"/>
            </a:solidFill>
            <a:prstDash val="solid"/>
          </a:ln>
        </p:spPr>
      </p:sp>
      <p:sp>
        <p:nvSpPr>
          <p:cNvPr id="78" name="Text 76"/>
          <p:cNvSpPr/>
          <p:nvPr/>
        </p:nvSpPr>
        <p:spPr>
          <a:xfrm>
            <a:off x="6537960"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28</a:t>
            </a:r>
            <a:endParaRPr lang="en-US" sz="1000" dirty="0"/>
          </a:p>
        </p:txBody>
      </p:sp>
      <p:sp>
        <p:nvSpPr>
          <p:cNvPr id="79" name="Shape 77"/>
          <p:cNvSpPr/>
          <p:nvPr/>
        </p:nvSpPr>
        <p:spPr>
          <a:xfrm>
            <a:off x="1179576" y="2514600"/>
            <a:ext cx="54864" cy="91"/>
          </a:xfrm>
          <a:prstGeom prst="line">
            <a:avLst/>
          </a:prstGeom>
          <a:noFill/>
          <a:ln w="12700">
            <a:solidFill>
              <a:srgbClr val="1C3A2C"/>
            </a:solidFill>
            <a:prstDash val="solid"/>
          </a:ln>
        </p:spPr>
      </p:sp>
      <p:sp>
        <p:nvSpPr>
          <p:cNvPr id="80" name="Text 78"/>
          <p:cNvSpPr/>
          <p:nvPr/>
        </p:nvSpPr>
        <p:spPr>
          <a:xfrm>
            <a:off x="795528" y="2423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81" name="Shape 79"/>
          <p:cNvSpPr/>
          <p:nvPr/>
        </p:nvSpPr>
        <p:spPr>
          <a:xfrm>
            <a:off x="1179576" y="1943100"/>
            <a:ext cx="54864" cy="91"/>
          </a:xfrm>
          <a:prstGeom prst="line">
            <a:avLst/>
          </a:prstGeom>
          <a:noFill/>
          <a:ln w="12700">
            <a:solidFill>
              <a:srgbClr val="1C3A2C"/>
            </a:solidFill>
            <a:prstDash val="solid"/>
          </a:ln>
        </p:spPr>
      </p:sp>
      <p:sp>
        <p:nvSpPr>
          <p:cNvPr id="82" name="Text 80"/>
          <p:cNvSpPr/>
          <p:nvPr/>
        </p:nvSpPr>
        <p:spPr>
          <a:xfrm>
            <a:off x="795528" y="18516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83" name="Shape 81"/>
          <p:cNvSpPr/>
          <p:nvPr/>
        </p:nvSpPr>
        <p:spPr>
          <a:xfrm>
            <a:off x="1179576" y="1371600"/>
            <a:ext cx="54864" cy="91"/>
          </a:xfrm>
          <a:prstGeom prst="line">
            <a:avLst/>
          </a:prstGeom>
          <a:noFill/>
          <a:ln w="12700">
            <a:solidFill>
              <a:srgbClr val="1C3A2C"/>
            </a:solidFill>
            <a:prstDash val="solid"/>
          </a:ln>
        </p:spPr>
      </p:sp>
      <p:sp>
        <p:nvSpPr>
          <p:cNvPr id="84" name="Text 82"/>
          <p:cNvSpPr/>
          <p:nvPr/>
        </p:nvSpPr>
        <p:spPr>
          <a:xfrm>
            <a:off x="795528" y="1280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85" name="Text 83"/>
          <p:cNvSpPr/>
          <p:nvPr/>
        </p:nvSpPr>
        <p:spPr>
          <a:xfrm rot="16200000">
            <a:off x="96012" y="1815084"/>
            <a:ext cx="1143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level / a.u.</a:t>
            </a:r>
            <a:endParaRPr lang="en-US" sz="1050" dirty="0"/>
          </a:p>
        </p:txBody>
      </p:sp>
      <p:sp>
        <p:nvSpPr>
          <p:cNvPr id="86" name="Shape 84"/>
          <p:cNvSpPr/>
          <p:nvPr/>
        </p:nvSpPr>
        <p:spPr>
          <a:xfrm>
            <a:off x="4023360" y="1371600"/>
            <a:ext cx="91" cy="1143000"/>
          </a:xfrm>
          <a:prstGeom prst="line">
            <a:avLst/>
          </a:prstGeom>
          <a:noFill/>
          <a:ln w="15875">
            <a:solidFill>
              <a:srgbClr val="B8730A"/>
            </a:solidFill>
            <a:prstDash val="dash"/>
          </a:ln>
        </p:spPr>
      </p:sp>
      <p:sp>
        <p:nvSpPr>
          <p:cNvPr id="87" name="Shape 85"/>
          <p:cNvSpPr/>
          <p:nvPr/>
        </p:nvSpPr>
        <p:spPr>
          <a:xfrm>
            <a:off x="1234440" y="2834640"/>
            <a:ext cx="5577840" cy="1143000"/>
          </a:xfrm>
          <a:prstGeom prst="rect">
            <a:avLst/>
          </a:prstGeom>
          <a:solidFill>
            <a:srgbClr val="FFFFFF"/>
          </a:solidFill>
          <a:ln/>
        </p:spPr>
      </p:sp>
      <p:sp>
        <p:nvSpPr>
          <p:cNvPr id="88" name="Shape 86"/>
          <p:cNvSpPr/>
          <p:nvPr/>
        </p:nvSpPr>
        <p:spPr>
          <a:xfrm>
            <a:off x="1234440" y="2834640"/>
            <a:ext cx="91" cy="1143000"/>
          </a:xfrm>
          <a:prstGeom prst="line">
            <a:avLst/>
          </a:prstGeom>
          <a:noFill/>
          <a:ln w="6350">
            <a:solidFill>
              <a:srgbClr val="C8DDCF"/>
            </a:solidFill>
            <a:prstDash val="solid"/>
          </a:ln>
        </p:spPr>
      </p:sp>
      <p:sp>
        <p:nvSpPr>
          <p:cNvPr id="89" name="Shape 87"/>
          <p:cNvSpPr/>
          <p:nvPr/>
        </p:nvSpPr>
        <p:spPr>
          <a:xfrm>
            <a:off x="1433649" y="2834640"/>
            <a:ext cx="91" cy="1143000"/>
          </a:xfrm>
          <a:prstGeom prst="line">
            <a:avLst/>
          </a:prstGeom>
          <a:noFill/>
          <a:ln w="6350">
            <a:solidFill>
              <a:srgbClr val="E7F1EA"/>
            </a:solidFill>
            <a:prstDash val="solid"/>
          </a:ln>
        </p:spPr>
      </p:sp>
      <p:sp>
        <p:nvSpPr>
          <p:cNvPr id="90" name="Shape 88"/>
          <p:cNvSpPr/>
          <p:nvPr/>
        </p:nvSpPr>
        <p:spPr>
          <a:xfrm>
            <a:off x="1632857" y="2834640"/>
            <a:ext cx="91" cy="1143000"/>
          </a:xfrm>
          <a:prstGeom prst="line">
            <a:avLst/>
          </a:prstGeom>
          <a:noFill/>
          <a:ln w="6350">
            <a:solidFill>
              <a:srgbClr val="C8DDCF"/>
            </a:solidFill>
            <a:prstDash val="solid"/>
          </a:ln>
        </p:spPr>
      </p:sp>
      <p:sp>
        <p:nvSpPr>
          <p:cNvPr id="91" name="Shape 89"/>
          <p:cNvSpPr/>
          <p:nvPr/>
        </p:nvSpPr>
        <p:spPr>
          <a:xfrm>
            <a:off x="1832066" y="2834640"/>
            <a:ext cx="91" cy="1143000"/>
          </a:xfrm>
          <a:prstGeom prst="line">
            <a:avLst/>
          </a:prstGeom>
          <a:noFill/>
          <a:ln w="6350">
            <a:solidFill>
              <a:srgbClr val="E7F1EA"/>
            </a:solidFill>
            <a:prstDash val="solid"/>
          </a:ln>
        </p:spPr>
      </p:sp>
      <p:sp>
        <p:nvSpPr>
          <p:cNvPr id="92" name="Shape 90"/>
          <p:cNvSpPr/>
          <p:nvPr/>
        </p:nvSpPr>
        <p:spPr>
          <a:xfrm>
            <a:off x="2031274" y="2834640"/>
            <a:ext cx="91" cy="1143000"/>
          </a:xfrm>
          <a:prstGeom prst="line">
            <a:avLst/>
          </a:prstGeom>
          <a:noFill/>
          <a:ln w="6350">
            <a:solidFill>
              <a:srgbClr val="C8DDCF"/>
            </a:solidFill>
            <a:prstDash val="solid"/>
          </a:ln>
        </p:spPr>
      </p:sp>
      <p:sp>
        <p:nvSpPr>
          <p:cNvPr id="93" name="Shape 91"/>
          <p:cNvSpPr/>
          <p:nvPr/>
        </p:nvSpPr>
        <p:spPr>
          <a:xfrm>
            <a:off x="2230483" y="2834640"/>
            <a:ext cx="91" cy="1143000"/>
          </a:xfrm>
          <a:prstGeom prst="line">
            <a:avLst/>
          </a:prstGeom>
          <a:noFill/>
          <a:ln w="6350">
            <a:solidFill>
              <a:srgbClr val="E7F1EA"/>
            </a:solidFill>
            <a:prstDash val="solid"/>
          </a:ln>
        </p:spPr>
      </p:sp>
      <p:sp>
        <p:nvSpPr>
          <p:cNvPr id="94" name="Shape 92"/>
          <p:cNvSpPr/>
          <p:nvPr/>
        </p:nvSpPr>
        <p:spPr>
          <a:xfrm>
            <a:off x="2429691" y="2834640"/>
            <a:ext cx="91" cy="1143000"/>
          </a:xfrm>
          <a:prstGeom prst="line">
            <a:avLst/>
          </a:prstGeom>
          <a:noFill/>
          <a:ln w="6350">
            <a:solidFill>
              <a:srgbClr val="C8DDCF"/>
            </a:solidFill>
            <a:prstDash val="solid"/>
          </a:ln>
        </p:spPr>
      </p:sp>
      <p:sp>
        <p:nvSpPr>
          <p:cNvPr id="95" name="Shape 93"/>
          <p:cNvSpPr/>
          <p:nvPr/>
        </p:nvSpPr>
        <p:spPr>
          <a:xfrm>
            <a:off x="2628900" y="2834640"/>
            <a:ext cx="91" cy="1143000"/>
          </a:xfrm>
          <a:prstGeom prst="line">
            <a:avLst/>
          </a:prstGeom>
          <a:noFill/>
          <a:ln w="6350">
            <a:solidFill>
              <a:srgbClr val="E7F1EA"/>
            </a:solidFill>
            <a:prstDash val="solid"/>
          </a:ln>
        </p:spPr>
      </p:sp>
      <p:sp>
        <p:nvSpPr>
          <p:cNvPr id="96" name="Shape 94"/>
          <p:cNvSpPr/>
          <p:nvPr/>
        </p:nvSpPr>
        <p:spPr>
          <a:xfrm>
            <a:off x="2828109" y="2834640"/>
            <a:ext cx="91" cy="1143000"/>
          </a:xfrm>
          <a:prstGeom prst="line">
            <a:avLst/>
          </a:prstGeom>
          <a:noFill/>
          <a:ln w="6350">
            <a:solidFill>
              <a:srgbClr val="C8DDCF"/>
            </a:solidFill>
            <a:prstDash val="solid"/>
          </a:ln>
        </p:spPr>
      </p:sp>
      <p:sp>
        <p:nvSpPr>
          <p:cNvPr id="97" name="Shape 95"/>
          <p:cNvSpPr/>
          <p:nvPr/>
        </p:nvSpPr>
        <p:spPr>
          <a:xfrm>
            <a:off x="3027317" y="2834640"/>
            <a:ext cx="91" cy="1143000"/>
          </a:xfrm>
          <a:prstGeom prst="line">
            <a:avLst/>
          </a:prstGeom>
          <a:noFill/>
          <a:ln w="6350">
            <a:solidFill>
              <a:srgbClr val="E7F1EA"/>
            </a:solidFill>
            <a:prstDash val="solid"/>
          </a:ln>
        </p:spPr>
      </p:sp>
      <p:sp>
        <p:nvSpPr>
          <p:cNvPr id="98" name="Shape 96"/>
          <p:cNvSpPr/>
          <p:nvPr/>
        </p:nvSpPr>
        <p:spPr>
          <a:xfrm>
            <a:off x="3226526" y="2834640"/>
            <a:ext cx="91" cy="1143000"/>
          </a:xfrm>
          <a:prstGeom prst="line">
            <a:avLst/>
          </a:prstGeom>
          <a:noFill/>
          <a:ln w="6350">
            <a:solidFill>
              <a:srgbClr val="C8DDCF"/>
            </a:solidFill>
            <a:prstDash val="solid"/>
          </a:ln>
        </p:spPr>
      </p:sp>
      <p:sp>
        <p:nvSpPr>
          <p:cNvPr id="99" name="Shape 97"/>
          <p:cNvSpPr/>
          <p:nvPr/>
        </p:nvSpPr>
        <p:spPr>
          <a:xfrm>
            <a:off x="3425734" y="2834640"/>
            <a:ext cx="91" cy="1143000"/>
          </a:xfrm>
          <a:prstGeom prst="line">
            <a:avLst/>
          </a:prstGeom>
          <a:noFill/>
          <a:ln w="6350">
            <a:solidFill>
              <a:srgbClr val="E7F1EA"/>
            </a:solidFill>
            <a:prstDash val="solid"/>
          </a:ln>
        </p:spPr>
      </p:sp>
      <p:sp>
        <p:nvSpPr>
          <p:cNvPr id="100" name="Shape 98"/>
          <p:cNvSpPr/>
          <p:nvPr/>
        </p:nvSpPr>
        <p:spPr>
          <a:xfrm>
            <a:off x="3624943" y="2834640"/>
            <a:ext cx="91" cy="1143000"/>
          </a:xfrm>
          <a:prstGeom prst="line">
            <a:avLst/>
          </a:prstGeom>
          <a:noFill/>
          <a:ln w="6350">
            <a:solidFill>
              <a:srgbClr val="C8DDCF"/>
            </a:solidFill>
            <a:prstDash val="solid"/>
          </a:ln>
        </p:spPr>
      </p:sp>
      <p:sp>
        <p:nvSpPr>
          <p:cNvPr id="101" name="Shape 99"/>
          <p:cNvSpPr/>
          <p:nvPr/>
        </p:nvSpPr>
        <p:spPr>
          <a:xfrm>
            <a:off x="3824151" y="2834640"/>
            <a:ext cx="91" cy="1143000"/>
          </a:xfrm>
          <a:prstGeom prst="line">
            <a:avLst/>
          </a:prstGeom>
          <a:noFill/>
          <a:ln w="6350">
            <a:solidFill>
              <a:srgbClr val="E7F1EA"/>
            </a:solidFill>
            <a:prstDash val="solid"/>
          </a:ln>
        </p:spPr>
      </p:sp>
      <p:sp>
        <p:nvSpPr>
          <p:cNvPr id="102" name="Shape 100"/>
          <p:cNvSpPr/>
          <p:nvPr/>
        </p:nvSpPr>
        <p:spPr>
          <a:xfrm>
            <a:off x="4023360" y="2834640"/>
            <a:ext cx="91" cy="1143000"/>
          </a:xfrm>
          <a:prstGeom prst="line">
            <a:avLst/>
          </a:prstGeom>
          <a:noFill/>
          <a:ln w="6350">
            <a:solidFill>
              <a:srgbClr val="C8DDCF"/>
            </a:solidFill>
            <a:prstDash val="solid"/>
          </a:ln>
        </p:spPr>
      </p:sp>
      <p:sp>
        <p:nvSpPr>
          <p:cNvPr id="103" name="Shape 101"/>
          <p:cNvSpPr/>
          <p:nvPr/>
        </p:nvSpPr>
        <p:spPr>
          <a:xfrm>
            <a:off x="4222569" y="2834640"/>
            <a:ext cx="91" cy="1143000"/>
          </a:xfrm>
          <a:prstGeom prst="line">
            <a:avLst/>
          </a:prstGeom>
          <a:noFill/>
          <a:ln w="6350">
            <a:solidFill>
              <a:srgbClr val="E7F1EA"/>
            </a:solidFill>
            <a:prstDash val="solid"/>
          </a:ln>
        </p:spPr>
      </p:sp>
      <p:sp>
        <p:nvSpPr>
          <p:cNvPr id="104" name="Shape 102"/>
          <p:cNvSpPr/>
          <p:nvPr/>
        </p:nvSpPr>
        <p:spPr>
          <a:xfrm>
            <a:off x="4421777" y="2834640"/>
            <a:ext cx="91" cy="1143000"/>
          </a:xfrm>
          <a:prstGeom prst="line">
            <a:avLst/>
          </a:prstGeom>
          <a:noFill/>
          <a:ln w="6350">
            <a:solidFill>
              <a:srgbClr val="C8DDCF"/>
            </a:solidFill>
            <a:prstDash val="solid"/>
          </a:ln>
        </p:spPr>
      </p:sp>
      <p:sp>
        <p:nvSpPr>
          <p:cNvPr id="105" name="Shape 103"/>
          <p:cNvSpPr/>
          <p:nvPr/>
        </p:nvSpPr>
        <p:spPr>
          <a:xfrm>
            <a:off x="4620986" y="2834640"/>
            <a:ext cx="91" cy="1143000"/>
          </a:xfrm>
          <a:prstGeom prst="line">
            <a:avLst/>
          </a:prstGeom>
          <a:noFill/>
          <a:ln w="6350">
            <a:solidFill>
              <a:srgbClr val="E7F1EA"/>
            </a:solidFill>
            <a:prstDash val="solid"/>
          </a:ln>
        </p:spPr>
      </p:sp>
      <p:sp>
        <p:nvSpPr>
          <p:cNvPr id="106" name="Shape 104"/>
          <p:cNvSpPr/>
          <p:nvPr/>
        </p:nvSpPr>
        <p:spPr>
          <a:xfrm>
            <a:off x="4820194" y="2834640"/>
            <a:ext cx="91" cy="1143000"/>
          </a:xfrm>
          <a:prstGeom prst="line">
            <a:avLst/>
          </a:prstGeom>
          <a:noFill/>
          <a:ln w="6350">
            <a:solidFill>
              <a:srgbClr val="C8DDCF"/>
            </a:solidFill>
            <a:prstDash val="solid"/>
          </a:ln>
        </p:spPr>
      </p:sp>
      <p:sp>
        <p:nvSpPr>
          <p:cNvPr id="107" name="Shape 105"/>
          <p:cNvSpPr/>
          <p:nvPr/>
        </p:nvSpPr>
        <p:spPr>
          <a:xfrm>
            <a:off x="5019403" y="2834640"/>
            <a:ext cx="91" cy="1143000"/>
          </a:xfrm>
          <a:prstGeom prst="line">
            <a:avLst/>
          </a:prstGeom>
          <a:noFill/>
          <a:ln w="6350">
            <a:solidFill>
              <a:srgbClr val="E7F1EA"/>
            </a:solidFill>
            <a:prstDash val="solid"/>
          </a:ln>
        </p:spPr>
      </p:sp>
      <p:sp>
        <p:nvSpPr>
          <p:cNvPr id="108" name="Shape 106"/>
          <p:cNvSpPr/>
          <p:nvPr/>
        </p:nvSpPr>
        <p:spPr>
          <a:xfrm>
            <a:off x="5218611" y="2834640"/>
            <a:ext cx="91" cy="1143000"/>
          </a:xfrm>
          <a:prstGeom prst="line">
            <a:avLst/>
          </a:prstGeom>
          <a:noFill/>
          <a:ln w="6350">
            <a:solidFill>
              <a:srgbClr val="C8DDCF"/>
            </a:solidFill>
            <a:prstDash val="solid"/>
          </a:ln>
        </p:spPr>
      </p:sp>
      <p:sp>
        <p:nvSpPr>
          <p:cNvPr id="109" name="Shape 107"/>
          <p:cNvSpPr/>
          <p:nvPr/>
        </p:nvSpPr>
        <p:spPr>
          <a:xfrm>
            <a:off x="5417820" y="2834640"/>
            <a:ext cx="91" cy="1143000"/>
          </a:xfrm>
          <a:prstGeom prst="line">
            <a:avLst/>
          </a:prstGeom>
          <a:noFill/>
          <a:ln w="6350">
            <a:solidFill>
              <a:srgbClr val="E7F1EA"/>
            </a:solidFill>
            <a:prstDash val="solid"/>
          </a:ln>
        </p:spPr>
      </p:sp>
      <p:sp>
        <p:nvSpPr>
          <p:cNvPr id="110" name="Shape 108"/>
          <p:cNvSpPr/>
          <p:nvPr/>
        </p:nvSpPr>
        <p:spPr>
          <a:xfrm>
            <a:off x="5617029" y="2834640"/>
            <a:ext cx="91" cy="1143000"/>
          </a:xfrm>
          <a:prstGeom prst="line">
            <a:avLst/>
          </a:prstGeom>
          <a:noFill/>
          <a:ln w="6350">
            <a:solidFill>
              <a:srgbClr val="C8DDCF"/>
            </a:solidFill>
            <a:prstDash val="solid"/>
          </a:ln>
        </p:spPr>
      </p:sp>
      <p:sp>
        <p:nvSpPr>
          <p:cNvPr id="111" name="Shape 109"/>
          <p:cNvSpPr/>
          <p:nvPr/>
        </p:nvSpPr>
        <p:spPr>
          <a:xfrm>
            <a:off x="5816237" y="2834640"/>
            <a:ext cx="91" cy="1143000"/>
          </a:xfrm>
          <a:prstGeom prst="line">
            <a:avLst/>
          </a:prstGeom>
          <a:noFill/>
          <a:ln w="6350">
            <a:solidFill>
              <a:srgbClr val="E7F1EA"/>
            </a:solidFill>
            <a:prstDash val="solid"/>
          </a:ln>
        </p:spPr>
      </p:sp>
      <p:sp>
        <p:nvSpPr>
          <p:cNvPr id="112" name="Shape 110"/>
          <p:cNvSpPr/>
          <p:nvPr/>
        </p:nvSpPr>
        <p:spPr>
          <a:xfrm>
            <a:off x="6015446" y="2834640"/>
            <a:ext cx="91" cy="1143000"/>
          </a:xfrm>
          <a:prstGeom prst="line">
            <a:avLst/>
          </a:prstGeom>
          <a:noFill/>
          <a:ln w="6350">
            <a:solidFill>
              <a:srgbClr val="C8DDCF"/>
            </a:solidFill>
            <a:prstDash val="solid"/>
          </a:ln>
        </p:spPr>
      </p:sp>
      <p:sp>
        <p:nvSpPr>
          <p:cNvPr id="113" name="Shape 111"/>
          <p:cNvSpPr/>
          <p:nvPr/>
        </p:nvSpPr>
        <p:spPr>
          <a:xfrm>
            <a:off x="6214654" y="2834640"/>
            <a:ext cx="91" cy="1143000"/>
          </a:xfrm>
          <a:prstGeom prst="line">
            <a:avLst/>
          </a:prstGeom>
          <a:noFill/>
          <a:ln w="6350">
            <a:solidFill>
              <a:srgbClr val="E7F1EA"/>
            </a:solidFill>
            <a:prstDash val="solid"/>
          </a:ln>
        </p:spPr>
      </p:sp>
      <p:sp>
        <p:nvSpPr>
          <p:cNvPr id="114" name="Shape 112"/>
          <p:cNvSpPr/>
          <p:nvPr/>
        </p:nvSpPr>
        <p:spPr>
          <a:xfrm>
            <a:off x="6413863" y="2834640"/>
            <a:ext cx="91" cy="1143000"/>
          </a:xfrm>
          <a:prstGeom prst="line">
            <a:avLst/>
          </a:prstGeom>
          <a:noFill/>
          <a:ln w="6350">
            <a:solidFill>
              <a:srgbClr val="C8DDCF"/>
            </a:solidFill>
            <a:prstDash val="solid"/>
          </a:ln>
        </p:spPr>
      </p:sp>
      <p:sp>
        <p:nvSpPr>
          <p:cNvPr id="115" name="Shape 113"/>
          <p:cNvSpPr/>
          <p:nvPr/>
        </p:nvSpPr>
        <p:spPr>
          <a:xfrm>
            <a:off x="6613071" y="2834640"/>
            <a:ext cx="91" cy="1143000"/>
          </a:xfrm>
          <a:prstGeom prst="line">
            <a:avLst/>
          </a:prstGeom>
          <a:noFill/>
          <a:ln w="6350">
            <a:solidFill>
              <a:srgbClr val="E7F1EA"/>
            </a:solidFill>
            <a:prstDash val="solid"/>
          </a:ln>
        </p:spPr>
      </p:sp>
      <p:sp>
        <p:nvSpPr>
          <p:cNvPr id="116" name="Shape 114"/>
          <p:cNvSpPr/>
          <p:nvPr/>
        </p:nvSpPr>
        <p:spPr>
          <a:xfrm>
            <a:off x="6812280" y="2834640"/>
            <a:ext cx="91" cy="1143000"/>
          </a:xfrm>
          <a:prstGeom prst="line">
            <a:avLst/>
          </a:prstGeom>
          <a:noFill/>
          <a:ln w="6350">
            <a:solidFill>
              <a:srgbClr val="C8DDCF"/>
            </a:solidFill>
            <a:prstDash val="solid"/>
          </a:ln>
        </p:spPr>
      </p:sp>
      <p:sp>
        <p:nvSpPr>
          <p:cNvPr id="117" name="Shape 115"/>
          <p:cNvSpPr/>
          <p:nvPr/>
        </p:nvSpPr>
        <p:spPr>
          <a:xfrm>
            <a:off x="1234440" y="3977640"/>
            <a:ext cx="5577840" cy="91"/>
          </a:xfrm>
          <a:prstGeom prst="line">
            <a:avLst/>
          </a:prstGeom>
          <a:noFill/>
          <a:ln w="6350">
            <a:solidFill>
              <a:srgbClr val="C8DDCF"/>
            </a:solidFill>
            <a:prstDash val="solid"/>
          </a:ln>
        </p:spPr>
      </p:sp>
      <p:sp>
        <p:nvSpPr>
          <p:cNvPr id="118" name="Shape 116"/>
          <p:cNvSpPr/>
          <p:nvPr/>
        </p:nvSpPr>
        <p:spPr>
          <a:xfrm>
            <a:off x="1234440" y="3691890"/>
            <a:ext cx="5577840" cy="91"/>
          </a:xfrm>
          <a:prstGeom prst="line">
            <a:avLst/>
          </a:prstGeom>
          <a:noFill/>
          <a:ln w="6350">
            <a:solidFill>
              <a:srgbClr val="E7F1EA"/>
            </a:solidFill>
            <a:prstDash val="solid"/>
          </a:ln>
        </p:spPr>
      </p:sp>
      <p:sp>
        <p:nvSpPr>
          <p:cNvPr id="119" name="Shape 117"/>
          <p:cNvSpPr/>
          <p:nvPr/>
        </p:nvSpPr>
        <p:spPr>
          <a:xfrm>
            <a:off x="1234440" y="3406140"/>
            <a:ext cx="5577840" cy="91"/>
          </a:xfrm>
          <a:prstGeom prst="line">
            <a:avLst/>
          </a:prstGeom>
          <a:noFill/>
          <a:ln w="6350">
            <a:solidFill>
              <a:srgbClr val="C8DDCF"/>
            </a:solidFill>
            <a:prstDash val="solid"/>
          </a:ln>
        </p:spPr>
      </p:sp>
      <p:sp>
        <p:nvSpPr>
          <p:cNvPr id="120" name="Shape 118"/>
          <p:cNvSpPr/>
          <p:nvPr/>
        </p:nvSpPr>
        <p:spPr>
          <a:xfrm>
            <a:off x="1234440" y="3120390"/>
            <a:ext cx="5577840" cy="91"/>
          </a:xfrm>
          <a:prstGeom prst="line">
            <a:avLst/>
          </a:prstGeom>
          <a:noFill/>
          <a:ln w="6350">
            <a:solidFill>
              <a:srgbClr val="E7F1EA"/>
            </a:solidFill>
            <a:prstDash val="solid"/>
          </a:ln>
        </p:spPr>
      </p:sp>
      <p:sp>
        <p:nvSpPr>
          <p:cNvPr id="121" name="Shape 119"/>
          <p:cNvSpPr/>
          <p:nvPr/>
        </p:nvSpPr>
        <p:spPr>
          <a:xfrm>
            <a:off x="1234440" y="2834640"/>
            <a:ext cx="5577840" cy="91"/>
          </a:xfrm>
          <a:prstGeom prst="line">
            <a:avLst/>
          </a:prstGeom>
          <a:noFill/>
          <a:ln w="6350">
            <a:solidFill>
              <a:srgbClr val="C8DDCF"/>
            </a:solidFill>
            <a:prstDash val="solid"/>
          </a:ln>
        </p:spPr>
      </p:sp>
      <p:sp>
        <p:nvSpPr>
          <p:cNvPr id="122" name="Shape 120"/>
          <p:cNvSpPr/>
          <p:nvPr/>
        </p:nvSpPr>
        <p:spPr>
          <a:xfrm>
            <a:off x="1234440" y="3977640"/>
            <a:ext cx="5577840" cy="91"/>
          </a:xfrm>
          <a:prstGeom prst="line">
            <a:avLst/>
          </a:prstGeom>
          <a:noFill/>
          <a:ln w="19050">
            <a:solidFill>
              <a:srgbClr val="1C3A2C"/>
            </a:solidFill>
            <a:prstDash val="solid"/>
          </a:ln>
        </p:spPr>
      </p:sp>
      <p:sp>
        <p:nvSpPr>
          <p:cNvPr id="123" name="Shape 121"/>
          <p:cNvSpPr/>
          <p:nvPr/>
        </p:nvSpPr>
        <p:spPr>
          <a:xfrm flipV="1">
            <a:off x="1234440" y="2834640"/>
            <a:ext cx="91" cy="1143000"/>
          </a:xfrm>
          <a:prstGeom prst="line">
            <a:avLst/>
          </a:prstGeom>
          <a:noFill/>
          <a:ln w="19050">
            <a:solidFill>
              <a:srgbClr val="1C3A2C"/>
            </a:solidFill>
            <a:prstDash val="solid"/>
          </a:ln>
        </p:spPr>
      </p:sp>
      <p:sp>
        <p:nvSpPr>
          <p:cNvPr id="124" name="Shape 122"/>
          <p:cNvSpPr/>
          <p:nvPr/>
        </p:nvSpPr>
        <p:spPr>
          <a:xfrm>
            <a:off x="1234440" y="3977640"/>
            <a:ext cx="91" cy="54864"/>
          </a:xfrm>
          <a:prstGeom prst="line">
            <a:avLst/>
          </a:prstGeom>
          <a:noFill/>
          <a:ln w="12700">
            <a:solidFill>
              <a:srgbClr val="1C3A2C"/>
            </a:solidFill>
            <a:prstDash val="solid"/>
          </a:ln>
        </p:spPr>
      </p:sp>
      <p:sp>
        <p:nvSpPr>
          <p:cNvPr id="125" name="Text 123"/>
          <p:cNvSpPr/>
          <p:nvPr/>
        </p:nvSpPr>
        <p:spPr>
          <a:xfrm>
            <a:off x="960120"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26" name="Shape 124"/>
          <p:cNvSpPr/>
          <p:nvPr/>
        </p:nvSpPr>
        <p:spPr>
          <a:xfrm>
            <a:off x="1632857" y="3977640"/>
            <a:ext cx="91" cy="54864"/>
          </a:xfrm>
          <a:prstGeom prst="line">
            <a:avLst/>
          </a:prstGeom>
          <a:noFill/>
          <a:ln w="12700">
            <a:solidFill>
              <a:srgbClr val="1C3A2C"/>
            </a:solidFill>
            <a:prstDash val="solid"/>
          </a:ln>
        </p:spPr>
      </p:sp>
      <p:sp>
        <p:nvSpPr>
          <p:cNvPr id="127" name="Text 125"/>
          <p:cNvSpPr/>
          <p:nvPr/>
        </p:nvSpPr>
        <p:spPr>
          <a:xfrm>
            <a:off x="1358537"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128" name="Shape 126"/>
          <p:cNvSpPr/>
          <p:nvPr/>
        </p:nvSpPr>
        <p:spPr>
          <a:xfrm>
            <a:off x="2031274" y="3977640"/>
            <a:ext cx="91" cy="54864"/>
          </a:xfrm>
          <a:prstGeom prst="line">
            <a:avLst/>
          </a:prstGeom>
          <a:noFill/>
          <a:ln w="12700">
            <a:solidFill>
              <a:srgbClr val="1C3A2C"/>
            </a:solidFill>
            <a:prstDash val="solid"/>
          </a:ln>
        </p:spPr>
      </p:sp>
      <p:sp>
        <p:nvSpPr>
          <p:cNvPr id="129" name="Text 127"/>
          <p:cNvSpPr/>
          <p:nvPr/>
        </p:nvSpPr>
        <p:spPr>
          <a:xfrm>
            <a:off x="1756954"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130" name="Shape 128"/>
          <p:cNvSpPr/>
          <p:nvPr/>
        </p:nvSpPr>
        <p:spPr>
          <a:xfrm>
            <a:off x="2429691" y="3977640"/>
            <a:ext cx="91" cy="54864"/>
          </a:xfrm>
          <a:prstGeom prst="line">
            <a:avLst/>
          </a:prstGeom>
          <a:noFill/>
          <a:ln w="12700">
            <a:solidFill>
              <a:srgbClr val="1C3A2C"/>
            </a:solidFill>
            <a:prstDash val="solid"/>
          </a:ln>
        </p:spPr>
      </p:sp>
      <p:sp>
        <p:nvSpPr>
          <p:cNvPr id="131" name="Text 129"/>
          <p:cNvSpPr/>
          <p:nvPr/>
        </p:nvSpPr>
        <p:spPr>
          <a:xfrm>
            <a:off x="2155371"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132" name="Shape 130"/>
          <p:cNvSpPr/>
          <p:nvPr/>
        </p:nvSpPr>
        <p:spPr>
          <a:xfrm>
            <a:off x="2828109" y="3977640"/>
            <a:ext cx="91" cy="54864"/>
          </a:xfrm>
          <a:prstGeom prst="line">
            <a:avLst/>
          </a:prstGeom>
          <a:noFill/>
          <a:ln w="12700">
            <a:solidFill>
              <a:srgbClr val="1C3A2C"/>
            </a:solidFill>
            <a:prstDash val="solid"/>
          </a:ln>
        </p:spPr>
      </p:sp>
      <p:sp>
        <p:nvSpPr>
          <p:cNvPr id="133" name="Text 131"/>
          <p:cNvSpPr/>
          <p:nvPr/>
        </p:nvSpPr>
        <p:spPr>
          <a:xfrm>
            <a:off x="2553789"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34" name="Shape 132"/>
          <p:cNvSpPr/>
          <p:nvPr/>
        </p:nvSpPr>
        <p:spPr>
          <a:xfrm>
            <a:off x="3226526" y="3977640"/>
            <a:ext cx="91" cy="54864"/>
          </a:xfrm>
          <a:prstGeom prst="line">
            <a:avLst/>
          </a:prstGeom>
          <a:noFill/>
          <a:ln w="12700">
            <a:solidFill>
              <a:srgbClr val="1C3A2C"/>
            </a:solidFill>
            <a:prstDash val="solid"/>
          </a:ln>
        </p:spPr>
      </p:sp>
      <p:sp>
        <p:nvSpPr>
          <p:cNvPr id="135" name="Text 133"/>
          <p:cNvSpPr/>
          <p:nvPr/>
        </p:nvSpPr>
        <p:spPr>
          <a:xfrm>
            <a:off x="2952206"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36" name="Shape 134"/>
          <p:cNvSpPr/>
          <p:nvPr/>
        </p:nvSpPr>
        <p:spPr>
          <a:xfrm>
            <a:off x="3624943" y="3977640"/>
            <a:ext cx="91" cy="54864"/>
          </a:xfrm>
          <a:prstGeom prst="line">
            <a:avLst/>
          </a:prstGeom>
          <a:noFill/>
          <a:ln w="12700">
            <a:solidFill>
              <a:srgbClr val="1C3A2C"/>
            </a:solidFill>
            <a:prstDash val="solid"/>
          </a:ln>
        </p:spPr>
      </p:sp>
      <p:sp>
        <p:nvSpPr>
          <p:cNvPr id="137" name="Text 135"/>
          <p:cNvSpPr/>
          <p:nvPr/>
        </p:nvSpPr>
        <p:spPr>
          <a:xfrm>
            <a:off x="3350623"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138" name="Shape 136"/>
          <p:cNvSpPr/>
          <p:nvPr/>
        </p:nvSpPr>
        <p:spPr>
          <a:xfrm>
            <a:off x="4023360" y="3977640"/>
            <a:ext cx="91" cy="54864"/>
          </a:xfrm>
          <a:prstGeom prst="line">
            <a:avLst/>
          </a:prstGeom>
          <a:noFill/>
          <a:ln w="12700">
            <a:solidFill>
              <a:srgbClr val="1C3A2C"/>
            </a:solidFill>
            <a:prstDash val="solid"/>
          </a:ln>
        </p:spPr>
      </p:sp>
      <p:sp>
        <p:nvSpPr>
          <p:cNvPr id="139" name="Text 137"/>
          <p:cNvSpPr/>
          <p:nvPr/>
        </p:nvSpPr>
        <p:spPr>
          <a:xfrm>
            <a:off x="3749040"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140" name="Shape 138"/>
          <p:cNvSpPr/>
          <p:nvPr/>
        </p:nvSpPr>
        <p:spPr>
          <a:xfrm>
            <a:off x="4421777" y="3977640"/>
            <a:ext cx="91" cy="54864"/>
          </a:xfrm>
          <a:prstGeom prst="line">
            <a:avLst/>
          </a:prstGeom>
          <a:noFill/>
          <a:ln w="12700">
            <a:solidFill>
              <a:srgbClr val="1C3A2C"/>
            </a:solidFill>
            <a:prstDash val="solid"/>
          </a:ln>
        </p:spPr>
      </p:sp>
      <p:sp>
        <p:nvSpPr>
          <p:cNvPr id="141" name="Text 139"/>
          <p:cNvSpPr/>
          <p:nvPr/>
        </p:nvSpPr>
        <p:spPr>
          <a:xfrm>
            <a:off x="4147457"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142" name="Shape 140"/>
          <p:cNvSpPr/>
          <p:nvPr/>
        </p:nvSpPr>
        <p:spPr>
          <a:xfrm>
            <a:off x="4820194" y="3977640"/>
            <a:ext cx="91" cy="54864"/>
          </a:xfrm>
          <a:prstGeom prst="line">
            <a:avLst/>
          </a:prstGeom>
          <a:noFill/>
          <a:ln w="12700">
            <a:solidFill>
              <a:srgbClr val="1C3A2C"/>
            </a:solidFill>
            <a:prstDash val="solid"/>
          </a:ln>
        </p:spPr>
      </p:sp>
      <p:sp>
        <p:nvSpPr>
          <p:cNvPr id="143" name="Text 141"/>
          <p:cNvSpPr/>
          <p:nvPr/>
        </p:nvSpPr>
        <p:spPr>
          <a:xfrm>
            <a:off x="4545874"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a:t>
            </a:r>
            <a:endParaRPr lang="en-US" sz="1000" dirty="0"/>
          </a:p>
        </p:txBody>
      </p:sp>
      <p:sp>
        <p:nvSpPr>
          <p:cNvPr id="144" name="Shape 142"/>
          <p:cNvSpPr/>
          <p:nvPr/>
        </p:nvSpPr>
        <p:spPr>
          <a:xfrm>
            <a:off x="5218611" y="3977640"/>
            <a:ext cx="91" cy="54864"/>
          </a:xfrm>
          <a:prstGeom prst="line">
            <a:avLst/>
          </a:prstGeom>
          <a:noFill/>
          <a:ln w="12700">
            <a:solidFill>
              <a:srgbClr val="1C3A2C"/>
            </a:solidFill>
            <a:prstDash val="solid"/>
          </a:ln>
        </p:spPr>
      </p:sp>
      <p:sp>
        <p:nvSpPr>
          <p:cNvPr id="145" name="Text 143"/>
          <p:cNvSpPr/>
          <p:nvPr/>
        </p:nvSpPr>
        <p:spPr>
          <a:xfrm>
            <a:off x="4944291"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146" name="Shape 144"/>
          <p:cNvSpPr/>
          <p:nvPr/>
        </p:nvSpPr>
        <p:spPr>
          <a:xfrm>
            <a:off x="5617029" y="3977640"/>
            <a:ext cx="91" cy="54864"/>
          </a:xfrm>
          <a:prstGeom prst="line">
            <a:avLst/>
          </a:prstGeom>
          <a:noFill/>
          <a:ln w="12700">
            <a:solidFill>
              <a:srgbClr val="1C3A2C"/>
            </a:solidFill>
            <a:prstDash val="solid"/>
          </a:ln>
        </p:spPr>
      </p:sp>
      <p:sp>
        <p:nvSpPr>
          <p:cNvPr id="147" name="Text 145"/>
          <p:cNvSpPr/>
          <p:nvPr/>
        </p:nvSpPr>
        <p:spPr>
          <a:xfrm>
            <a:off x="5342709"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22</a:t>
            </a:r>
            <a:endParaRPr lang="en-US" sz="1000" dirty="0"/>
          </a:p>
        </p:txBody>
      </p:sp>
      <p:sp>
        <p:nvSpPr>
          <p:cNvPr id="148" name="Shape 146"/>
          <p:cNvSpPr/>
          <p:nvPr/>
        </p:nvSpPr>
        <p:spPr>
          <a:xfrm>
            <a:off x="6015446" y="3977640"/>
            <a:ext cx="91" cy="54864"/>
          </a:xfrm>
          <a:prstGeom prst="line">
            <a:avLst/>
          </a:prstGeom>
          <a:noFill/>
          <a:ln w="12700">
            <a:solidFill>
              <a:srgbClr val="1C3A2C"/>
            </a:solidFill>
            <a:prstDash val="solid"/>
          </a:ln>
        </p:spPr>
      </p:sp>
      <p:sp>
        <p:nvSpPr>
          <p:cNvPr id="149" name="Text 147"/>
          <p:cNvSpPr/>
          <p:nvPr/>
        </p:nvSpPr>
        <p:spPr>
          <a:xfrm>
            <a:off x="5741126"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p>
        </p:txBody>
      </p:sp>
      <p:sp>
        <p:nvSpPr>
          <p:cNvPr id="150" name="Shape 148"/>
          <p:cNvSpPr/>
          <p:nvPr/>
        </p:nvSpPr>
        <p:spPr>
          <a:xfrm>
            <a:off x="6413863" y="3977640"/>
            <a:ext cx="91" cy="54864"/>
          </a:xfrm>
          <a:prstGeom prst="line">
            <a:avLst/>
          </a:prstGeom>
          <a:noFill/>
          <a:ln w="12700">
            <a:solidFill>
              <a:srgbClr val="1C3A2C"/>
            </a:solidFill>
            <a:prstDash val="solid"/>
          </a:ln>
        </p:spPr>
      </p:sp>
      <p:sp>
        <p:nvSpPr>
          <p:cNvPr id="151" name="Text 149"/>
          <p:cNvSpPr/>
          <p:nvPr/>
        </p:nvSpPr>
        <p:spPr>
          <a:xfrm>
            <a:off x="6139543"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26</a:t>
            </a:r>
            <a:endParaRPr lang="en-US" sz="1000" dirty="0"/>
          </a:p>
        </p:txBody>
      </p:sp>
      <p:sp>
        <p:nvSpPr>
          <p:cNvPr id="152" name="Shape 150"/>
          <p:cNvSpPr/>
          <p:nvPr/>
        </p:nvSpPr>
        <p:spPr>
          <a:xfrm>
            <a:off x="6812280" y="3977640"/>
            <a:ext cx="91" cy="54864"/>
          </a:xfrm>
          <a:prstGeom prst="line">
            <a:avLst/>
          </a:prstGeom>
          <a:noFill/>
          <a:ln w="12700">
            <a:solidFill>
              <a:srgbClr val="1C3A2C"/>
            </a:solidFill>
            <a:prstDash val="solid"/>
          </a:ln>
        </p:spPr>
      </p:sp>
      <p:sp>
        <p:nvSpPr>
          <p:cNvPr id="153" name="Text 151"/>
          <p:cNvSpPr/>
          <p:nvPr/>
        </p:nvSpPr>
        <p:spPr>
          <a:xfrm>
            <a:off x="6537960"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28</a:t>
            </a:r>
            <a:endParaRPr lang="en-US" sz="1000" dirty="0"/>
          </a:p>
        </p:txBody>
      </p:sp>
      <p:sp>
        <p:nvSpPr>
          <p:cNvPr id="154" name="Shape 152"/>
          <p:cNvSpPr/>
          <p:nvPr/>
        </p:nvSpPr>
        <p:spPr>
          <a:xfrm>
            <a:off x="1179576" y="3977640"/>
            <a:ext cx="54864" cy="91"/>
          </a:xfrm>
          <a:prstGeom prst="line">
            <a:avLst/>
          </a:prstGeom>
          <a:noFill/>
          <a:ln w="12700">
            <a:solidFill>
              <a:srgbClr val="1C3A2C"/>
            </a:solidFill>
            <a:prstDash val="solid"/>
          </a:ln>
        </p:spPr>
      </p:sp>
      <p:sp>
        <p:nvSpPr>
          <p:cNvPr id="155" name="Text 153"/>
          <p:cNvSpPr/>
          <p:nvPr/>
        </p:nvSpPr>
        <p:spPr>
          <a:xfrm>
            <a:off x="795528" y="38862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56" name="Shape 154"/>
          <p:cNvSpPr/>
          <p:nvPr/>
        </p:nvSpPr>
        <p:spPr>
          <a:xfrm>
            <a:off x="1179576" y="3406140"/>
            <a:ext cx="54864" cy="91"/>
          </a:xfrm>
          <a:prstGeom prst="line">
            <a:avLst/>
          </a:prstGeom>
          <a:noFill/>
          <a:ln w="12700">
            <a:solidFill>
              <a:srgbClr val="1C3A2C"/>
            </a:solidFill>
            <a:prstDash val="solid"/>
          </a:ln>
        </p:spPr>
      </p:sp>
      <p:sp>
        <p:nvSpPr>
          <p:cNvPr id="157" name="Text 155"/>
          <p:cNvSpPr/>
          <p:nvPr/>
        </p:nvSpPr>
        <p:spPr>
          <a:xfrm>
            <a:off x="795528" y="33147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158" name="Shape 156"/>
          <p:cNvSpPr/>
          <p:nvPr/>
        </p:nvSpPr>
        <p:spPr>
          <a:xfrm>
            <a:off x="1179576" y="2834640"/>
            <a:ext cx="54864" cy="91"/>
          </a:xfrm>
          <a:prstGeom prst="line">
            <a:avLst/>
          </a:prstGeom>
          <a:noFill/>
          <a:ln w="12700">
            <a:solidFill>
              <a:srgbClr val="1C3A2C"/>
            </a:solidFill>
            <a:prstDash val="solid"/>
          </a:ln>
        </p:spPr>
      </p:sp>
      <p:sp>
        <p:nvSpPr>
          <p:cNvPr id="159" name="Text 157"/>
          <p:cNvSpPr/>
          <p:nvPr/>
        </p:nvSpPr>
        <p:spPr>
          <a:xfrm>
            <a:off x="795528" y="27432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160" name="Text 158"/>
          <p:cNvSpPr/>
          <p:nvPr/>
        </p:nvSpPr>
        <p:spPr>
          <a:xfrm rot="16200000">
            <a:off x="96012" y="3278124"/>
            <a:ext cx="1143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level / a.u.</a:t>
            </a:r>
            <a:endParaRPr lang="en-US" sz="1050" dirty="0"/>
          </a:p>
        </p:txBody>
      </p:sp>
      <p:sp>
        <p:nvSpPr>
          <p:cNvPr id="161" name="Shape 159"/>
          <p:cNvSpPr/>
          <p:nvPr/>
        </p:nvSpPr>
        <p:spPr>
          <a:xfrm>
            <a:off x="4023360" y="2834640"/>
            <a:ext cx="91" cy="1143000"/>
          </a:xfrm>
          <a:prstGeom prst="line">
            <a:avLst/>
          </a:prstGeom>
          <a:noFill/>
          <a:ln w="15875">
            <a:solidFill>
              <a:srgbClr val="B8730A"/>
            </a:solidFill>
            <a:prstDash val="dash"/>
          </a:ln>
        </p:spPr>
      </p:sp>
      <p:sp>
        <p:nvSpPr>
          <p:cNvPr id="162" name="Shape 160"/>
          <p:cNvSpPr/>
          <p:nvPr/>
        </p:nvSpPr>
        <p:spPr>
          <a:xfrm>
            <a:off x="1234440" y="4279392"/>
            <a:ext cx="5577840" cy="731520"/>
          </a:xfrm>
          <a:prstGeom prst="rect">
            <a:avLst/>
          </a:prstGeom>
          <a:solidFill>
            <a:srgbClr val="FFFFFF"/>
          </a:solidFill>
          <a:ln/>
        </p:spPr>
      </p:sp>
      <p:sp>
        <p:nvSpPr>
          <p:cNvPr id="163" name="Shape 161"/>
          <p:cNvSpPr/>
          <p:nvPr/>
        </p:nvSpPr>
        <p:spPr>
          <a:xfrm>
            <a:off x="1234440" y="4279392"/>
            <a:ext cx="91" cy="731520"/>
          </a:xfrm>
          <a:prstGeom prst="line">
            <a:avLst/>
          </a:prstGeom>
          <a:noFill/>
          <a:ln w="6350">
            <a:solidFill>
              <a:srgbClr val="C8DDCF"/>
            </a:solidFill>
            <a:prstDash val="solid"/>
          </a:ln>
        </p:spPr>
      </p:sp>
      <p:sp>
        <p:nvSpPr>
          <p:cNvPr id="164" name="Shape 162"/>
          <p:cNvSpPr/>
          <p:nvPr/>
        </p:nvSpPr>
        <p:spPr>
          <a:xfrm>
            <a:off x="1632857" y="4279392"/>
            <a:ext cx="91" cy="731520"/>
          </a:xfrm>
          <a:prstGeom prst="line">
            <a:avLst/>
          </a:prstGeom>
          <a:noFill/>
          <a:ln w="6350">
            <a:solidFill>
              <a:srgbClr val="C8DDCF"/>
            </a:solidFill>
            <a:prstDash val="solid"/>
          </a:ln>
        </p:spPr>
      </p:sp>
      <p:sp>
        <p:nvSpPr>
          <p:cNvPr id="165" name="Shape 163"/>
          <p:cNvSpPr/>
          <p:nvPr/>
        </p:nvSpPr>
        <p:spPr>
          <a:xfrm>
            <a:off x="2031274" y="4279392"/>
            <a:ext cx="91" cy="731520"/>
          </a:xfrm>
          <a:prstGeom prst="line">
            <a:avLst/>
          </a:prstGeom>
          <a:noFill/>
          <a:ln w="6350">
            <a:solidFill>
              <a:srgbClr val="C8DDCF"/>
            </a:solidFill>
            <a:prstDash val="solid"/>
          </a:ln>
        </p:spPr>
      </p:sp>
      <p:sp>
        <p:nvSpPr>
          <p:cNvPr id="166" name="Shape 164"/>
          <p:cNvSpPr/>
          <p:nvPr/>
        </p:nvSpPr>
        <p:spPr>
          <a:xfrm>
            <a:off x="2429691" y="4279392"/>
            <a:ext cx="91" cy="731520"/>
          </a:xfrm>
          <a:prstGeom prst="line">
            <a:avLst/>
          </a:prstGeom>
          <a:noFill/>
          <a:ln w="6350">
            <a:solidFill>
              <a:srgbClr val="C8DDCF"/>
            </a:solidFill>
            <a:prstDash val="solid"/>
          </a:ln>
        </p:spPr>
      </p:sp>
      <p:sp>
        <p:nvSpPr>
          <p:cNvPr id="167" name="Shape 165"/>
          <p:cNvSpPr/>
          <p:nvPr/>
        </p:nvSpPr>
        <p:spPr>
          <a:xfrm>
            <a:off x="2828109" y="4279392"/>
            <a:ext cx="91" cy="731520"/>
          </a:xfrm>
          <a:prstGeom prst="line">
            <a:avLst/>
          </a:prstGeom>
          <a:noFill/>
          <a:ln w="6350">
            <a:solidFill>
              <a:srgbClr val="C8DDCF"/>
            </a:solidFill>
            <a:prstDash val="solid"/>
          </a:ln>
        </p:spPr>
      </p:sp>
      <p:sp>
        <p:nvSpPr>
          <p:cNvPr id="168" name="Shape 166"/>
          <p:cNvSpPr/>
          <p:nvPr/>
        </p:nvSpPr>
        <p:spPr>
          <a:xfrm>
            <a:off x="3226526" y="4279392"/>
            <a:ext cx="91" cy="731520"/>
          </a:xfrm>
          <a:prstGeom prst="line">
            <a:avLst/>
          </a:prstGeom>
          <a:noFill/>
          <a:ln w="6350">
            <a:solidFill>
              <a:srgbClr val="C8DDCF"/>
            </a:solidFill>
            <a:prstDash val="solid"/>
          </a:ln>
        </p:spPr>
      </p:sp>
      <p:sp>
        <p:nvSpPr>
          <p:cNvPr id="169" name="Shape 167"/>
          <p:cNvSpPr/>
          <p:nvPr/>
        </p:nvSpPr>
        <p:spPr>
          <a:xfrm>
            <a:off x="3624943" y="4279392"/>
            <a:ext cx="91" cy="731520"/>
          </a:xfrm>
          <a:prstGeom prst="line">
            <a:avLst/>
          </a:prstGeom>
          <a:noFill/>
          <a:ln w="6350">
            <a:solidFill>
              <a:srgbClr val="C8DDCF"/>
            </a:solidFill>
            <a:prstDash val="solid"/>
          </a:ln>
        </p:spPr>
      </p:sp>
      <p:sp>
        <p:nvSpPr>
          <p:cNvPr id="170" name="Shape 168"/>
          <p:cNvSpPr/>
          <p:nvPr/>
        </p:nvSpPr>
        <p:spPr>
          <a:xfrm>
            <a:off x="4023360" y="4279392"/>
            <a:ext cx="91" cy="731520"/>
          </a:xfrm>
          <a:prstGeom prst="line">
            <a:avLst/>
          </a:prstGeom>
          <a:noFill/>
          <a:ln w="6350">
            <a:solidFill>
              <a:srgbClr val="C8DDCF"/>
            </a:solidFill>
            <a:prstDash val="solid"/>
          </a:ln>
        </p:spPr>
      </p:sp>
      <p:sp>
        <p:nvSpPr>
          <p:cNvPr id="171" name="Shape 169"/>
          <p:cNvSpPr/>
          <p:nvPr/>
        </p:nvSpPr>
        <p:spPr>
          <a:xfrm>
            <a:off x="4421777" y="4279392"/>
            <a:ext cx="91" cy="731520"/>
          </a:xfrm>
          <a:prstGeom prst="line">
            <a:avLst/>
          </a:prstGeom>
          <a:noFill/>
          <a:ln w="6350">
            <a:solidFill>
              <a:srgbClr val="C8DDCF"/>
            </a:solidFill>
            <a:prstDash val="solid"/>
          </a:ln>
        </p:spPr>
      </p:sp>
      <p:sp>
        <p:nvSpPr>
          <p:cNvPr id="172" name="Shape 170"/>
          <p:cNvSpPr/>
          <p:nvPr/>
        </p:nvSpPr>
        <p:spPr>
          <a:xfrm>
            <a:off x="4820194" y="4279392"/>
            <a:ext cx="91" cy="731520"/>
          </a:xfrm>
          <a:prstGeom prst="line">
            <a:avLst/>
          </a:prstGeom>
          <a:noFill/>
          <a:ln w="6350">
            <a:solidFill>
              <a:srgbClr val="C8DDCF"/>
            </a:solidFill>
            <a:prstDash val="solid"/>
          </a:ln>
        </p:spPr>
      </p:sp>
      <p:sp>
        <p:nvSpPr>
          <p:cNvPr id="173" name="Shape 171"/>
          <p:cNvSpPr/>
          <p:nvPr/>
        </p:nvSpPr>
        <p:spPr>
          <a:xfrm>
            <a:off x="5218611" y="4279392"/>
            <a:ext cx="91" cy="731520"/>
          </a:xfrm>
          <a:prstGeom prst="line">
            <a:avLst/>
          </a:prstGeom>
          <a:noFill/>
          <a:ln w="6350">
            <a:solidFill>
              <a:srgbClr val="C8DDCF"/>
            </a:solidFill>
            <a:prstDash val="solid"/>
          </a:ln>
        </p:spPr>
      </p:sp>
      <p:sp>
        <p:nvSpPr>
          <p:cNvPr id="174" name="Shape 172"/>
          <p:cNvSpPr/>
          <p:nvPr/>
        </p:nvSpPr>
        <p:spPr>
          <a:xfrm>
            <a:off x="5617029" y="4279392"/>
            <a:ext cx="91" cy="731520"/>
          </a:xfrm>
          <a:prstGeom prst="line">
            <a:avLst/>
          </a:prstGeom>
          <a:noFill/>
          <a:ln w="6350">
            <a:solidFill>
              <a:srgbClr val="C8DDCF"/>
            </a:solidFill>
            <a:prstDash val="solid"/>
          </a:ln>
        </p:spPr>
      </p:sp>
      <p:sp>
        <p:nvSpPr>
          <p:cNvPr id="175" name="Shape 173"/>
          <p:cNvSpPr/>
          <p:nvPr/>
        </p:nvSpPr>
        <p:spPr>
          <a:xfrm>
            <a:off x="6015446" y="4279392"/>
            <a:ext cx="91" cy="731520"/>
          </a:xfrm>
          <a:prstGeom prst="line">
            <a:avLst/>
          </a:prstGeom>
          <a:noFill/>
          <a:ln w="6350">
            <a:solidFill>
              <a:srgbClr val="C8DDCF"/>
            </a:solidFill>
            <a:prstDash val="solid"/>
          </a:ln>
        </p:spPr>
      </p:sp>
      <p:sp>
        <p:nvSpPr>
          <p:cNvPr id="176" name="Shape 174"/>
          <p:cNvSpPr/>
          <p:nvPr/>
        </p:nvSpPr>
        <p:spPr>
          <a:xfrm>
            <a:off x="6413863" y="4279392"/>
            <a:ext cx="91" cy="731520"/>
          </a:xfrm>
          <a:prstGeom prst="line">
            <a:avLst/>
          </a:prstGeom>
          <a:noFill/>
          <a:ln w="6350">
            <a:solidFill>
              <a:srgbClr val="C8DDCF"/>
            </a:solidFill>
            <a:prstDash val="solid"/>
          </a:ln>
        </p:spPr>
      </p:sp>
      <p:sp>
        <p:nvSpPr>
          <p:cNvPr id="177" name="Shape 175"/>
          <p:cNvSpPr/>
          <p:nvPr/>
        </p:nvSpPr>
        <p:spPr>
          <a:xfrm>
            <a:off x="6812280" y="4279392"/>
            <a:ext cx="91" cy="731520"/>
          </a:xfrm>
          <a:prstGeom prst="line">
            <a:avLst/>
          </a:prstGeom>
          <a:noFill/>
          <a:ln w="6350">
            <a:solidFill>
              <a:srgbClr val="C8DDCF"/>
            </a:solidFill>
            <a:prstDash val="solid"/>
          </a:ln>
        </p:spPr>
      </p:sp>
      <p:sp>
        <p:nvSpPr>
          <p:cNvPr id="178" name="Shape 176"/>
          <p:cNvSpPr/>
          <p:nvPr/>
        </p:nvSpPr>
        <p:spPr>
          <a:xfrm>
            <a:off x="1234440" y="5010912"/>
            <a:ext cx="5577840" cy="91"/>
          </a:xfrm>
          <a:prstGeom prst="line">
            <a:avLst/>
          </a:prstGeom>
          <a:noFill/>
          <a:ln w="6350">
            <a:solidFill>
              <a:srgbClr val="C8DDCF"/>
            </a:solidFill>
            <a:prstDash val="solid"/>
          </a:ln>
        </p:spPr>
      </p:sp>
      <p:sp>
        <p:nvSpPr>
          <p:cNvPr id="179" name="Shape 177"/>
          <p:cNvSpPr/>
          <p:nvPr/>
        </p:nvSpPr>
        <p:spPr>
          <a:xfrm>
            <a:off x="1234440" y="4279392"/>
            <a:ext cx="5577840" cy="91"/>
          </a:xfrm>
          <a:prstGeom prst="line">
            <a:avLst/>
          </a:prstGeom>
          <a:noFill/>
          <a:ln w="6350">
            <a:solidFill>
              <a:srgbClr val="C8DDCF"/>
            </a:solidFill>
            <a:prstDash val="solid"/>
          </a:ln>
        </p:spPr>
      </p:sp>
      <p:sp>
        <p:nvSpPr>
          <p:cNvPr id="180" name="Shape 178"/>
          <p:cNvSpPr/>
          <p:nvPr/>
        </p:nvSpPr>
        <p:spPr>
          <a:xfrm>
            <a:off x="1234440" y="5010912"/>
            <a:ext cx="5577840" cy="91"/>
          </a:xfrm>
          <a:prstGeom prst="line">
            <a:avLst/>
          </a:prstGeom>
          <a:noFill/>
          <a:ln w="19050">
            <a:solidFill>
              <a:srgbClr val="1C3A2C"/>
            </a:solidFill>
            <a:prstDash val="solid"/>
          </a:ln>
        </p:spPr>
      </p:sp>
      <p:sp>
        <p:nvSpPr>
          <p:cNvPr id="181" name="Shape 179"/>
          <p:cNvSpPr/>
          <p:nvPr/>
        </p:nvSpPr>
        <p:spPr>
          <a:xfrm flipV="1">
            <a:off x="1234440" y="4279392"/>
            <a:ext cx="91" cy="731520"/>
          </a:xfrm>
          <a:prstGeom prst="line">
            <a:avLst/>
          </a:prstGeom>
          <a:noFill/>
          <a:ln w="19050">
            <a:solidFill>
              <a:srgbClr val="1C3A2C"/>
            </a:solidFill>
            <a:prstDash val="solid"/>
          </a:ln>
        </p:spPr>
      </p:sp>
      <p:sp>
        <p:nvSpPr>
          <p:cNvPr id="182" name="Shape 180"/>
          <p:cNvSpPr/>
          <p:nvPr/>
        </p:nvSpPr>
        <p:spPr>
          <a:xfrm>
            <a:off x="1234440" y="5010912"/>
            <a:ext cx="91" cy="54864"/>
          </a:xfrm>
          <a:prstGeom prst="line">
            <a:avLst/>
          </a:prstGeom>
          <a:noFill/>
          <a:ln w="12700">
            <a:solidFill>
              <a:srgbClr val="1C3A2C"/>
            </a:solidFill>
            <a:prstDash val="solid"/>
          </a:ln>
        </p:spPr>
      </p:sp>
      <p:sp>
        <p:nvSpPr>
          <p:cNvPr id="183" name="Text 181"/>
          <p:cNvSpPr/>
          <p:nvPr/>
        </p:nvSpPr>
        <p:spPr>
          <a:xfrm>
            <a:off x="960120"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84" name="Shape 182"/>
          <p:cNvSpPr/>
          <p:nvPr/>
        </p:nvSpPr>
        <p:spPr>
          <a:xfrm>
            <a:off x="1632857" y="5010912"/>
            <a:ext cx="91" cy="54864"/>
          </a:xfrm>
          <a:prstGeom prst="line">
            <a:avLst/>
          </a:prstGeom>
          <a:noFill/>
          <a:ln w="12700">
            <a:solidFill>
              <a:srgbClr val="1C3A2C"/>
            </a:solidFill>
            <a:prstDash val="solid"/>
          </a:ln>
        </p:spPr>
      </p:sp>
      <p:sp>
        <p:nvSpPr>
          <p:cNvPr id="185" name="Text 183"/>
          <p:cNvSpPr/>
          <p:nvPr/>
        </p:nvSpPr>
        <p:spPr>
          <a:xfrm>
            <a:off x="1358537"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186" name="Shape 184"/>
          <p:cNvSpPr/>
          <p:nvPr/>
        </p:nvSpPr>
        <p:spPr>
          <a:xfrm>
            <a:off x="2031274" y="5010912"/>
            <a:ext cx="91" cy="54864"/>
          </a:xfrm>
          <a:prstGeom prst="line">
            <a:avLst/>
          </a:prstGeom>
          <a:noFill/>
          <a:ln w="12700">
            <a:solidFill>
              <a:srgbClr val="1C3A2C"/>
            </a:solidFill>
            <a:prstDash val="solid"/>
          </a:ln>
        </p:spPr>
      </p:sp>
      <p:sp>
        <p:nvSpPr>
          <p:cNvPr id="187" name="Text 185"/>
          <p:cNvSpPr/>
          <p:nvPr/>
        </p:nvSpPr>
        <p:spPr>
          <a:xfrm>
            <a:off x="1756954"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188" name="Shape 186"/>
          <p:cNvSpPr/>
          <p:nvPr/>
        </p:nvSpPr>
        <p:spPr>
          <a:xfrm>
            <a:off x="2429691" y="5010912"/>
            <a:ext cx="91" cy="54864"/>
          </a:xfrm>
          <a:prstGeom prst="line">
            <a:avLst/>
          </a:prstGeom>
          <a:noFill/>
          <a:ln w="12700">
            <a:solidFill>
              <a:srgbClr val="1C3A2C"/>
            </a:solidFill>
            <a:prstDash val="solid"/>
          </a:ln>
        </p:spPr>
      </p:sp>
      <p:sp>
        <p:nvSpPr>
          <p:cNvPr id="189" name="Text 187"/>
          <p:cNvSpPr/>
          <p:nvPr/>
        </p:nvSpPr>
        <p:spPr>
          <a:xfrm>
            <a:off x="2155371"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190" name="Shape 188"/>
          <p:cNvSpPr/>
          <p:nvPr/>
        </p:nvSpPr>
        <p:spPr>
          <a:xfrm>
            <a:off x="2828109" y="5010912"/>
            <a:ext cx="91" cy="54864"/>
          </a:xfrm>
          <a:prstGeom prst="line">
            <a:avLst/>
          </a:prstGeom>
          <a:noFill/>
          <a:ln w="12700">
            <a:solidFill>
              <a:srgbClr val="1C3A2C"/>
            </a:solidFill>
            <a:prstDash val="solid"/>
          </a:ln>
        </p:spPr>
      </p:sp>
      <p:sp>
        <p:nvSpPr>
          <p:cNvPr id="191" name="Text 189"/>
          <p:cNvSpPr/>
          <p:nvPr/>
        </p:nvSpPr>
        <p:spPr>
          <a:xfrm>
            <a:off x="2553789"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92" name="Shape 190"/>
          <p:cNvSpPr/>
          <p:nvPr/>
        </p:nvSpPr>
        <p:spPr>
          <a:xfrm>
            <a:off x="3226526" y="5010912"/>
            <a:ext cx="91" cy="54864"/>
          </a:xfrm>
          <a:prstGeom prst="line">
            <a:avLst/>
          </a:prstGeom>
          <a:noFill/>
          <a:ln w="12700">
            <a:solidFill>
              <a:srgbClr val="1C3A2C"/>
            </a:solidFill>
            <a:prstDash val="solid"/>
          </a:ln>
        </p:spPr>
      </p:sp>
      <p:sp>
        <p:nvSpPr>
          <p:cNvPr id="193" name="Text 191"/>
          <p:cNvSpPr/>
          <p:nvPr/>
        </p:nvSpPr>
        <p:spPr>
          <a:xfrm>
            <a:off x="2952206"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94" name="Shape 192"/>
          <p:cNvSpPr/>
          <p:nvPr/>
        </p:nvSpPr>
        <p:spPr>
          <a:xfrm>
            <a:off x="3624943" y="5010912"/>
            <a:ext cx="91" cy="54864"/>
          </a:xfrm>
          <a:prstGeom prst="line">
            <a:avLst/>
          </a:prstGeom>
          <a:noFill/>
          <a:ln w="12700">
            <a:solidFill>
              <a:srgbClr val="1C3A2C"/>
            </a:solidFill>
            <a:prstDash val="solid"/>
          </a:ln>
        </p:spPr>
      </p:sp>
      <p:sp>
        <p:nvSpPr>
          <p:cNvPr id="195" name="Text 193"/>
          <p:cNvSpPr/>
          <p:nvPr/>
        </p:nvSpPr>
        <p:spPr>
          <a:xfrm>
            <a:off x="3350623"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196" name="Shape 194"/>
          <p:cNvSpPr/>
          <p:nvPr/>
        </p:nvSpPr>
        <p:spPr>
          <a:xfrm>
            <a:off x="4023360" y="5010912"/>
            <a:ext cx="91" cy="54864"/>
          </a:xfrm>
          <a:prstGeom prst="line">
            <a:avLst/>
          </a:prstGeom>
          <a:noFill/>
          <a:ln w="12700">
            <a:solidFill>
              <a:srgbClr val="1C3A2C"/>
            </a:solidFill>
            <a:prstDash val="solid"/>
          </a:ln>
        </p:spPr>
      </p:sp>
      <p:sp>
        <p:nvSpPr>
          <p:cNvPr id="197" name="Text 195"/>
          <p:cNvSpPr/>
          <p:nvPr/>
        </p:nvSpPr>
        <p:spPr>
          <a:xfrm>
            <a:off x="3749040"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198" name="Shape 196"/>
          <p:cNvSpPr/>
          <p:nvPr/>
        </p:nvSpPr>
        <p:spPr>
          <a:xfrm>
            <a:off x="4421777" y="5010912"/>
            <a:ext cx="91" cy="54864"/>
          </a:xfrm>
          <a:prstGeom prst="line">
            <a:avLst/>
          </a:prstGeom>
          <a:noFill/>
          <a:ln w="12700">
            <a:solidFill>
              <a:srgbClr val="1C3A2C"/>
            </a:solidFill>
            <a:prstDash val="solid"/>
          </a:ln>
        </p:spPr>
      </p:sp>
      <p:sp>
        <p:nvSpPr>
          <p:cNvPr id="199" name="Text 197"/>
          <p:cNvSpPr/>
          <p:nvPr/>
        </p:nvSpPr>
        <p:spPr>
          <a:xfrm>
            <a:off x="4147457"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200" name="Shape 198"/>
          <p:cNvSpPr/>
          <p:nvPr/>
        </p:nvSpPr>
        <p:spPr>
          <a:xfrm>
            <a:off x="4820194" y="5010912"/>
            <a:ext cx="91" cy="54864"/>
          </a:xfrm>
          <a:prstGeom prst="line">
            <a:avLst/>
          </a:prstGeom>
          <a:noFill/>
          <a:ln w="12700">
            <a:solidFill>
              <a:srgbClr val="1C3A2C"/>
            </a:solidFill>
            <a:prstDash val="solid"/>
          </a:ln>
        </p:spPr>
      </p:sp>
      <p:sp>
        <p:nvSpPr>
          <p:cNvPr id="201" name="Text 199"/>
          <p:cNvSpPr/>
          <p:nvPr/>
        </p:nvSpPr>
        <p:spPr>
          <a:xfrm>
            <a:off x="4545874"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a:t>
            </a:r>
            <a:endParaRPr lang="en-US" sz="1000" dirty="0"/>
          </a:p>
        </p:txBody>
      </p:sp>
      <p:sp>
        <p:nvSpPr>
          <p:cNvPr id="202" name="Shape 200"/>
          <p:cNvSpPr/>
          <p:nvPr/>
        </p:nvSpPr>
        <p:spPr>
          <a:xfrm>
            <a:off x="5218611" y="5010912"/>
            <a:ext cx="91" cy="54864"/>
          </a:xfrm>
          <a:prstGeom prst="line">
            <a:avLst/>
          </a:prstGeom>
          <a:noFill/>
          <a:ln w="12700">
            <a:solidFill>
              <a:srgbClr val="1C3A2C"/>
            </a:solidFill>
            <a:prstDash val="solid"/>
          </a:ln>
        </p:spPr>
      </p:sp>
      <p:sp>
        <p:nvSpPr>
          <p:cNvPr id="203" name="Text 201"/>
          <p:cNvSpPr/>
          <p:nvPr/>
        </p:nvSpPr>
        <p:spPr>
          <a:xfrm>
            <a:off x="4944291"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204" name="Shape 202"/>
          <p:cNvSpPr/>
          <p:nvPr/>
        </p:nvSpPr>
        <p:spPr>
          <a:xfrm>
            <a:off x="5617029" y="5010912"/>
            <a:ext cx="91" cy="54864"/>
          </a:xfrm>
          <a:prstGeom prst="line">
            <a:avLst/>
          </a:prstGeom>
          <a:noFill/>
          <a:ln w="12700">
            <a:solidFill>
              <a:srgbClr val="1C3A2C"/>
            </a:solidFill>
            <a:prstDash val="solid"/>
          </a:ln>
        </p:spPr>
      </p:sp>
      <p:sp>
        <p:nvSpPr>
          <p:cNvPr id="205" name="Text 203"/>
          <p:cNvSpPr/>
          <p:nvPr/>
        </p:nvSpPr>
        <p:spPr>
          <a:xfrm>
            <a:off x="5342709"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22</a:t>
            </a:r>
            <a:endParaRPr lang="en-US" sz="1000" dirty="0"/>
          </a:p>
        </p:txBody>
      </p:sp>
      <p:sp>
        <p:nvSpPr>
          <p:cNvPr id="206" name="Shape 204"/>
          <p:cNvSpPr/>
          <p:nvPr/>
        </p:nvSpPr>
        <p:spPr>
          <a:xfrm>
            <a:off x="6015446" y="5010912"/>
            <a:ext cx="91" cy="54864"/>
          </a:xfrm>
          <a:prstGeom prst="line">
            <a:avLst/>
          </a:prstGeom>
          <a:noFill/>
          <a:ln w="12700">
            <a:solidFill>
              <a:srgbClr val="1C3A2C"/>
            </a:solidFill>
            <a:prstDash val="solid"/>
          </a:ln>
        </p:spPr>
      </p:sp>
      <p:sp>
        <p:nvSpPr>
          <p:cNvPr id="207" name="Text 205"/>
          <p:cNvSpPr/>
          <p:nvPr/>
        </p:nvSpPr>
        <p:spPr>
          <a:xfrm>
            <a:off x="5741126"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p>
        </p:txBody>
      </p:sp>
      <p:sp>
        <p:nvSpPr>
          <p:cNvPr id="208" name="Shape 206"/>
          <p:cNvSpPr/>
          <p:nvPr/>
        </p:nvSpPr>
        <p:spPr>
          <a:xfrm>
            <a:off x="6413863" y="5010912"/>
            <a:ext cx="91" cy="54864"/>
          </a:xfrm>
          <a:prstGeom prst="line">
            <a:avLst/>
          </a:prstGeom>
          <a:noFill/>
          <a:ln w="12700">
            <a:solidFill>
              <a:srgbClr val="1C3A2C"/>
            </a:solidFill>
            <a:prstDash val="solid"/>
          </a:ln>
        </p:spPr>
      </p:sp>
      <p:sp>
        <p:nvSpPr>
          <p:cNvPr id="209" name="Text 207"/>
          <p:cNvSpPr/>
          <p:nvPr/>
        </p:nvSpPr>
        <p:spPr>
          <a:xfrm>
            <a:off x="6139543"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26</a:t>
            </a:r>
            <a:endParaRPr lang="en-US" sz="1000" dirty="0"/>
          </a:p>
        </p:txBody>
      </p:sp>
      <p:sp>
        <p:nvSpPr>
          <p:cNvPr id="210" name="Shape 208"/>
          <p:cNvSpPr/>
          <p:nvPr/>
        </p:nvSpPr>
        <p:spPr>
          <a:xfrm>
            <a:off x="6812280" y="5010912"/>
            <a:ext cx="91" cy="54864"/>
          </a:xfrm>
          <a:prstGeom prst="line">
            <a:avLst/>
          </a:prstGeom>
          <a:noFill/>
          <a:ln w="12700">
            <a:solidFill>
              <a:srgbClr val="1C3A2C"/>
            </a:solidFill>
            <a:prstDash val="solid"/>
          </a:ln>
        </p:spPr>
      </p:sp>
      <p:sp>
        <p:nvSpPr>
          <p:cNvPr id="211" name="Text 209"/>
          <p:cNvSpPr/>
          <p:nvPr/>
        </p:nvSpPr>
        <p:spPr>
          <a:xfrm>
            <a:off x="6537960"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28</a:t>
            </a:r>
            <a:endParaRPr lang="en-US" sz="1000" dirty="0"/>
          </a:p>
        </p:txBody>
      </p:sp>
      <p:sp>
        <p:nvSpPr>
          <p:cNvPr id="212" name="Shape 210"/>
          <p:cNvSpPr/>
          <p:nvPr/>
        </p:nvSpPr>
        <p:spPr>
          <a:xfrm>
            <a:off x="1179576" y="5010912"/>
            <a:ext cx="54864" cy="91"/>
          </a:xfrm>
          <a:prstGeom prst="line">
            <a:avLst/>
          </a:prstGeom>
          <a:noFill/>
          <a:ln w="12700">
            <a:solidFill>
              <a:srgbClr val="1C3A2C"/>
            </a:solidFill>
            <a:prstDash val="solid"/>
          </a:ln>
        </p:spPr>
      </p:sp>
      <p:sp>
        <p:nvSpPr>
          <p:cNvPr id="213" name="Text 211"/>
          <p:cNvSpPr/>
          <p:nvPr/>
        </p:nvSpPr>
        <p:spPr>
          <a:xfrm>
            <a:off x="795528" y="491947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214" name="Shape 212"/>
          <p:cNvSpPr/>
          <p:nvPr/>
        </p:nvSpPr>
        <p:spPr>
          <a:xfrm>
            <a:off x="1179576" y="4279392"/>
            <a:ext cx="54864" cy="91"/>
          </a:xfrm>
          <a:prstGeom prst="line">
            <a:avLst/>
          </a:prstGeom>
          <a:noFill/>
          <a:ln w="12700">
            <a:solidFill>
              <a:srgbClr val="1C3A2C"/>
            </a:solidFill>
            <a:prstDash val="solid"/>
          </a:ln>
        </p:spPr>
      </p:sp>
      <p:sp>
        <p:nvSpPr>
          <p:cNvPr id="215" name="Text 213"/>
          <p:cNvSpPr/>
          <p:nvPr/>
        </p:nvSpPr>
        <p:spPr>
          <a:xfrm>
            <a:off x="795528" y="418795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216" name="Text 214"/>
          <p:cNvSpPr/>
          <p:nvPr/>
        </p:nvSpPr>
        <p:spPr>
          <a:xfrm>
            <a:off x="1234440" y="5257800"/>
            <a:ext cx="5577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day of cycle</a:t>
            </a:r>
            <a:endParaRPr lang="en-US" sz="1050" dirty="0"/>
          </a:p>
        </p:txBody>
      </p:sp>
      <p:sp>
        <p:nvSpPr>
          <p:cNvPr id="217" name="Text 215"/>
          <p:cNvSpPr/>
          <p:nvPr/>
        </p:nvSpPr>
        <p:spPr>
          <a:xfrm rot="16200000">
            <a:off x="301752" y="4517136"/>
            <a:ext cx="731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lining / mm</a:t>
            </a:r>
            <a:endParaRPr lang="en-US" sz="1050" dirty="0"/>
          </a:p>
        </p:txBody>
      </p:sp>
      <p:sp>
        <p:nvSpPr>
          <p:cNvPr id="218" name="Shape 216"/>
          <p:cNvSpPr/>
          <p:nvPr/>
        </p:nvSpPr>
        <p:spPr>
          <a:xfrm>
            <a:off x="4023360" y="4279392"/>
            <a:ext cx="91" cy="731520"/>
          </a:xfrm>
          <a:prstGeom prst="line">
            <a:avLst/>
          </a:prstGeom>
          <a:noFill/>
          <a:ln w="15875">
            <a:solidFill>
              <a:srgbClr val="B8730A"/>
            </a:solidFill>
            <a:prstDash val="dash"/>
          </a:ln>
        </p:spPr>
      </p:sp>
      <p:sp>
        <p:nvSpPr>
          <p:cNvPr id="219" name="Shape 217"/>
          <p:cNvSpPr/>
          <p:nvPr/>
        </p:nvSpPr>
        <p:spPr>
          <a:xfrm flipV="1">
            <a:off x="1234440" y="2136325"/>
            <a:ext cx="49802" cy="12437"/>
          </a:xfrm>
          <a:prstGeom prst="line">
            <a:avLst/>
          </a:prstGeom>
          <a:noFill/>
          <a:ln w="31750">
            <a:solidFill>
              <a:srgbClr val="2F6DB5"/>
            </a:solidFill>
            <a:prstDash val="solid"/>
          </a:ln>
        </p:spPr>
      </p:sp>
      <p:sp>
        <p:nvSpPr>
          <p:cNvPr id="220" name="Shape 218"/>
          <p:cNvSpPr/>
          <p:nvPr/>
        </p:nvSpPr>
        <p:spPr>
          <a:xfrm flipV="1">
            <a:off x="1284242" y="2124314"/>
            <a:ext cx="49802" cy="12011"/>
          </a:xfrm>
          <a:prstGeom prst="line">
            <a:avLst/>
          </a:prstGeom>
          <a:noFill/>
          <a:ln w="31750">
            <a:solidFill>
              <a:srgbClr val="2F6DB5"/>
            </a:solidFill>
            <a:prstDash val="solid"/>
          </a:ln>
        </p:spPr>
      </p:sp>
      <p:sp>
        <p:nvSpPr>
          <p:cNvPr id="221" name="Shape 219"/>
          <p:cNvSpPr/>
          <p:nvPr/>
        </p:nvSpPr>
        <p:spPr>
          <a:xfrm flipV="1">
            <a:off x="1334044" y="2112878"/>
            <a:ext cx="49802" cy="11436"/>
          </a:xfrm>
          <a:prstGeom prst="line">
            <a:avLst/>
          </a:prstGeom>
          <a:noFill/>
          <a:ln w="31750">
            <a:solidFill>
              <a:srgbClr val="2F6DB5"/>
            </a:solidFill>
            <a:prstDash val="solid"/>
          </a:ln>
        </p:spPr>
      </p:sp>
      <p:sp>
        <p:nvSpPr>
          <p:cNvPr id="222" name="Shape 220"/>
          <p:cNvSpPr/>
          <p:nvPr/>
        </p:nvSpPr>
        <p:spPr>
          <a:xfrm flipV="1">
            <a:off x="1383846" y="2102165"/>
            <a:ext cx="49802" cy="10713"/>
          </a:xfrm>
          <a:prstGeom prst="line">
            <a:avLst/>
          </a:prstGeom>
          <a:noFill/>
          <a:ln w="31750">
            <a:solidFill>
              <a:srgbClr val="2F6DB5"/>
            </a:solidFill>
            <a:prstDash val="solid"/>
          </a:ln>
        </p:spPr>
      </p:sp>
      <p:sp>
        <p:nvSpPr>
          <p:cNvPr id="223" name="Shape 221"/>
          <p:cNvSpPr/>
          <p:nvPr/>
        </p:nvSpPr>
        <p:spPr>
          <a:xfrm flipV="1">
            <a:off x="1433649" y="2092320"/>
            <a:ext cx="49802" cy="9846"/>
          </a:xfrm>
          <a:prstGeom prst="line">
            <a:avLst/>
          </a:prstGeom>
          <a:noFill/>
          <a:ln w="31750">
            <a:solidFill>
              <a:srgbClr val="2F6DB5"/>
            </a:solidFill>
            <a:prstDash val="solid"/>
          </a:ln>
        </p:spPr>
      </p:sp>
      <p:sp>
        <p:nvSpPr>
          <p:cNvPr id="224" name="Shape 222"/>
          <p:cNvSpPr/>
          <p:nvPr/>
        </p:nvSpPr>
        <p:spPr>
          <a:xfrm flipV="1">
            <a:off x="1483451" y="2083476"/>
            <a:ext cx="49802" cy="8843"/>
          </a:xfrm>
          <a:prstGeom prst="line">
            <a:avLst/>
          </a:prstGeom>
          <a:noFill/>
          <a:ln w="31750">
            <a:solidFill>
              <a:srgbClr val="2F6DB5"/>
            </a:solidFill>
            <a:prstDash val="solid"/>
          </a:ln>
        </p:spPr>
      </p:sp>
      <p:sp>
        <p:nvSpPr>
          <p:cNvPr id="225" name="Shape 223"/>
          <p:cNvSpPr/>
          <p:nvPr/>
        </p:nvSpPr>
        <p:spPr>
          <a:xfrm flipV="1">
            <a:off x="1533253" y="2075761"/>
            <a:ext cx="49802" cy="7715"/>
          </a:xfrm>
          <a:prstGeom prst="line">
            <a:avLst/>
          </a:prstGeom>
          <a:noFill/>
          <a:ln w="31750">
            <a:solidFill>
              <a:srgbClr val="2F6DB5"/>
            </a:solidFill>
            <a:prstDash val="solid"/>
          </a:ln>
        </p:spPr>
      </p:sp>
      <p:sp>
        <p:nvSpPr>
          <p:cNvPr id="226" name="Shape 224"/>
          <p:cNvSpPr/>
          <p:nvPr/>
        </p:nvSpPr>
        <p:spPr>
          <a:xfrm flipV="1">
            <a:off x="1583055" y="2069286"/>
            <a:ext cx="49802" cy="6476"/>
          </a:xfrm>
          <a:prstGeom prst="line">
            <a:avLst/>
          </a:prstGeom>
          <a:noFill/>
          <a:ln w="31750">
            <a:solidFill>
              <a:srgbClr val="2F6DB5"/>
            </a:solidFill>
            <a:prstDash val="solid"/>
          </a:ln>
        </p:spPr>
      </p:sp>
      <p:sp>
        <p:nvSpPr>
          <p:cNvPr id="227" name="Shape 225"/>
          <p:cNvSpPr/>
          <p:nvPr/>
        </p:nvSpPr>
        <p:spPr>
          <a:xfrm flipV="1">
            <a:off x="1632857" y="2064145"/>
            <a:ext cx="49802" cy="5140"/>
          </a:xfrm>
          <a:prstGeom prst="line">
            <a:avLst/>
          </a:prstGeom>
          <a:noFill/>
          <a:ln w="31750">
            <a:solidFill>
              <a:srgbClr val="2F6DB5"/>
            </a:solidFill>
            <a:prstDash val="solid"/>
          </a:ln>
        </p:spPr>
      </p:sp>
      <p:sp>
        <p:nvSpPr>
          <p:cNvPr id="228" name="Shape 226"/>
          <p:cNvSpPr/>
          <p:nvPr/>
        </p:nvSpPr>
        <p:spPr>
          <a:xfrm flipV="1">
            <a:off x="1682659" y="2060417"/>
            <a:ext cx="49802" cy="3728"/>
          </a:xfrm>
          <a:prstGeom prst="line">
            <a:avLst/>
          </a:prstGeom>
          <a:noFill/>
          <a:ln w="31750">
            <a:solidFill>
              <a:srgbClr val="2F6DB5"/>
            </a:solidFill>
            <a:prstDash val="solid"/>
          </a:ln>
        </p:spPr>
      </p:sp>
      <p:sp>
        <p:nvSpPr>
          <p:cNvPr id="229" name="Shape 227"/>
          <p:cNvSpPr/>
          <p:nvPr/>
        </p:nvSpPr>
        <p:spPr>
          <a:xfrm flipV="1">
            <a:off x="1732461" y="2058157"/>
            <a:ext cx="49802" cy="2260"/>
          </a:xfrm>
          <a:prstGeom prst="line">
            <a:avLst/>
          </a:prstGeom>
          <a:noFill/>
          <a:ln w="31750">
            <a:solidFill>
              <a:srgbClr val="2F6DB5"/>
            </a:solidFill>
            <a:prstDash val="solid"/>
          </a:ln>
        </p:spPr>
      </p:sp>
      <p:sp>
        <p:nvSpPr>
          <p:cNvPr id="230" name="Shape 228"/>
          <p:cNvSpPr/>
          <p:nvPr/>
        </p:nvSpPr>
        <p:spPr>
          <a:xfrm flipV="1">
            <a:off x="1782264" y="2057400"/>
            <a:ext cx="49802" cy="757"/>
          </a:xfrm>
          <a:prstGeom prst="line">
            <a:avLst/>
          </a:prstGeom>
          <a:noFill/>
          <a:ln w="31750">
            <a:solidFill>
              <a:srgbClr val="2F6DB5"/>
            </a:solidFill>
            <a:prstDash val="solid"/>
          </a:ln>
        </p:spPr>
      </p:sp>
      <p:sp>
        <p:nvSpPr>
          <p:cNvPr id="231" name="Shape 229"/>
          <p:cNvSpPr/>
          <p:nvPr/>
        </p:nvSpPr>
        <p:spPr>
          <a:xfrm>
            <a:off x="1832066" y="2057400"/>
            <a:ext cx="49802" cy="757"/>
          </a:xfrm>
          <a:prstGeom prst="line">
            <a:avLst/>
          </a:prstGeom>
          <a:noFill/>
          <a:ln w="31750">
            <a:solidFill>
              <a:srgbClr val="2F6DB5"/>
            </a:solidFill>
            <a:prstDash val="solid"/>
          </a:ln>
        </p:spPr>
      </p:sp>
      <p:sp>
        <p:nvSpPr>
          <p:cNvPr id="232" name="Shape 230"/>
          <p:cNvSpPr/>
          <p:nvPr/>
        </p:nvSpPr>
        <p:spPr>
          <a:xfrm>
            <a:off x="1881868" y="2058157"/>
            <a:ext cx="49802" cy="2260"/>
          </a:xfrm>
          <a:prstGeom prst="line">
            <a:avLst/>
          </a:prstGeom>
          <a:noFill/>
          <a:ln w="31750">
            <a:solidFill>
              <a:srgbClr val="2F6DB5"/>
            </a:solidFill>
            <a:prstDash val="solid"/>
          </a:ln>
        </p:spPr>
      </p:sp>
      <p:sp>
        <p:nvSpPr>
          <p:cNvPr id="233" name="Shape 231"/>
          <p:cNvSpPr/>
          <p:nvPr/>
        </p:nvSpPr>
        <p:spPr>
          <a:xfrm>
            <a:off x="1931670" y="2060417"/>
            <a:ext cx="49802" cy="3728"/>
          </a:xfrm>
          <a:prstGeom prst="line">
            <a:avLst/>
          </a:prstGeom>
          <a:noFill/>
          <a:ln w="31750">
            <a:solidFill>
              <a:srgbClr val="2F6DB5"/>
            </a:solidFill>
            <a:prstDash val="solid"/>
          </a:ln>
        </p:spPr>
      </p:sp>
      <p:sp>
        <p:nvSpPr>
          <p:cNvPr id="234" name="Shape 232"/>
          <p:cNvSpPr/>
          <p:nvPr/>
        </p:nvSpPr>
        <p:spPr>
          <a:xfrm>
            <a:off x="1981472" y="2064145"/>
            <a:ext cx="49802" cy="5140"/>
          </a:xfrm>
          <a:prstGeom prst="line">
            <a:avLst/>
          </a:prstGeom>
          <a:noFill/>
          <a:ln w="31750">
            <a:solidFill>
              <a:srgbClr val="2F6DB5"/>
            </a:solidFill>
            <a:prstDash val="solid"/>
          </a:ln>
        </p:spPr>
      </p:sp>
      <p:sp>
        <p:nvSpPr>
          <p:cNvPr id="235" name="Shape 233"/>
          <p:cNvSpPr/>
          <p:nvPr/>
        </p:nvSpPr>
        <p:spPr>
          <a:xfrm>
            <a:off x="2031274" y="2069286"/>
            <a:ext cx="49802" cy="6476"/>
          </a:xfrm>
          <a:prstGeom prst="line">
            <a:avLst/>
          </a:prstGeom>
          <a:noFill/>
          <a:ln w="31750">
            <a:solidFill>
              <a:srgbClr val="2F6DB5"/>
            </a:solidFill>
            <a:prstDash val="solid"/>
          </a:ln>
        </p:spPr>
      </p:sp>
      <p:sp>
        <p:nvSpPr>
          <p:cNvPr id="236" name="Shape 234"/>
          <p:cNvSpPr/>
          <p:nvPr/>
        </p:nvSpPr>
        <p:spPr>
          <a:xfrm>
            <a:off x="2081076" y="2075761"/>
            <a:ext cx="49802" cy="7715"/>
          </a:xfrm>
          <a:prstGeom prst="line">
            <a:avLst/>
          </a:prstGeom>
          <a:noFill/>
          <a:ln w="31750">
            <a:solidFill>
              <a:srgbClr val="2F6DB5"/>
            </a:solidFill>
            <a:prstDash val="solid"/>
          </a:ln>
        </p:spPr>
      </p:sp>
      <p:sp>
        <p:nvSpPr>
          <p:cNvPr id="237" name="Shape 235"/>
          <p:cNvSpPr/>
          <p:nvPr/>
        </p:nvSpPr>
        <p:spPr>
          <a:xfrm>
            <a:off x="2130879" y="2083476"/>
            <a:ext cx="49802" cy="8843"/>
          </a:xfrm>
          <a:prstGeom prst="line">
            <a:avLst/>
          </a:prstGeom>
          <a:noFill/>
          <a:ln w="31750">
            <a:solidFill>
              <a:srgbClr val="2F6DB5"/>
            </a:solidFill>
            <a:prstDash val="solid"/>
          </a:ln>
        </p:spPr>
      </p:sp>
      <p:sp>
        <p:nvSpPr>
          <p:cNvPr id="238" name="Shape 236"/>
          <p:cNvSpPr/>
          <p:nvPr/>
        </p:nvSpPr>
        <p:spPr>
          <a:xfrm>
            <a:off x="2180681" y="2092320"/>
            <a:ext cx="49802" cy="9846"/>
          </a:xfrm>
          <a:prstGeom prst="line">
            <a:avLst/>
          </a:prstGeom>
          <a:noFill/>
          <a:ln w="31750">
            <a:solidFill>
              <a:srgbClr val="2F6DB5"/>
            </a:solidFill>
            <a:prstDash val="solid"/>
          </a:ln>
        </p:spPr>
      </p:sp>
      <p:sp>
        <p:nvSpPr>
          <p:cNvPr id="239" name="Shape 237"/>
          <p:cNvSpPr/>
          <p:nvPr/>
        </p:nvSpPr>
        <p:spPr>
          <a:xfrm>
            <a:off x="2230483" y="2102165"/>
            <a:ext cx="49802" cy="10713"/>
          </a:xfrm>
          <a:prstGeom prst="line">
            <a:avLst/>
          </a:prstGeom>
          <a:noFill/>
          <a:ln w="31750">
            <a:solidFill>
              <a:srgbClr val="2F6DB5"/>
            </a:solidFill>
            <a:prstDash val="solid"/>
          </a:ln>
        </p:spPr>
      </p:sp>
      <p:sp>
        <p:nvSpPr>
          <p:cNvPr id="240" name="Shape 238"/>
          <p:cNvSpPr/>
          <p:nvPr/>
        </p:nvSpPr>
        <p:spPr>
          <a:xfrm>
            <a:off x="2280285" y="2112878"/>
            <a:ext cx="49802" cy="11436"/>
          </a:xfrm>
          <a:prstGeom prst="line">
            <a:avLst/>
          </a:prstGeom>
          <a:noFill/>
          <a:ln w="31750">
            <a:solidFill>
              <a:srgbClr val="2F6DB5"/>
            </a:solidFill>
            <a:prstDash val="solid"/>
          </a:ln>
        </p:spPr>
      </p:sp>
      <p:sp>
        <p:nvSpPr>
          <p:cNvPr id="241" name="Shape 239"/>
          <p:cNvSpPr/>
          <p:nvPr/>
        </p:nvSpPr>
        <p:spPr>
          <a:xfrm>
            <a:off x="2330087" y="2124314"/>
            <a:ext cx="49802" cy="12011"/>
          </a:xfrm>
          <a:prstGeom prst="line">
            <a:avLst/>
          </a:prstGeom>
          <a:noFill/>
          <a:ln w="31750">
            <a:solidFill>
              <a:srgbClr val="2F6DB5"/>
            </a:solidFill>
            <a:prstDash val="solid"/>
          </a:ln>
        </p:spPr>
      </p:sp>
      <p:sp>
        <p:nvSpPr>
          <p:cNvPr id="242" name="Shape 240"/>
          <p:cNvSpPr/>
          <p:nvPr/>
        </p:nvSpPr>
        <p:spPr>
          <a:xfrm>
            <a:off x="2379889" y="2136325"/>
            <a:ext cx="49802" cy="12437"/>
          </a:xfrm>
          <a:prstGeom prst="line">
            <a:avLst/>
          </a:prstGeom>
          <a:noFill/>
          <a:ln w="31750">
            <a:solidFill>
              <a:srgbClr val="2F6DB5"/>
            </a:solidFill>
            <a:prstDash val="solid"/>
          </a:ln>
        </p:spPr>
      </p:sp>
      <p:sp>
        <p:nvSpPr>
          <p:cNvPr id="243" name="Shape 241"/>
          <p:cNvSpPr/>
          <p:nvPr/>
        </p:nvSpPr>
        <p:spPr>
          <a:xfrm>
            <a:off x="2429691" y="2148762"/>
            <a:ext cx="49802" cy="12716"/>
          </a:xfrm>
          <a:prstGeom prst="line">
            <a:avLst/>
          </a:prstGeom>
          <a:noFill/>
          <a:ln w="31750">
            <a:solidFill>
              <a:srgbClr val="2F6DB5"/>
            </a:solidFill>
            <a:prstDash val="solid"/>
          </a:ln>
        </p:spPr>
      </p:sp>
      <p:sp>
        <p:nvSpPr>
          <p:cNvPr id="244" name="Shape 242"/>
          <p:cNvSpPr/>
          <p:nvPr/>
        </p:nvSpPr>
        <p:spPr>
          <a:xfrm>
            <a:off x="2479494" y="2161479"/>
            <a:ext cx="49802" cy="12853"/>
          </a:xfrm>
          <a:prstGeom prst="line">
            <a:avLst/>
          </a:prstGeom>
          <a:noFill/>
          <a:ln w="31750">
            <a:solidFill>
              <a:srgbClr val="2F6DB5"/>
            </a:solidFill>
            <a:prstDash val="solid"/>
          </a:ln>
        </p:spPr>
      </p:sp>
      <p:sp>
        <p:nvSpPr>
          <p:cNvPr id="245" name="Shape 243"/>
          <p:cNvSpPr/>
          <p:nvPr/>
        </p:nvSpPr>
        <p:spPr>
          <a:xfrm>
            <a:off x="2529296" y="2174331"/>
            <a:ext cx="49802" cy="12853"/>
          </a:xfrm>
          <a:prstGeom prst="line">
            <a:avLst/>
          </a:prstGeom>
          <a:noFill/>
          <a:ln w="31750">
            <a:solidFill>
              <a:srgbClr val="2F6DB5"/>
            </a:solidFill>
            <a:prstDash val="solid"/>
          </a:ln>
        </p:spPr>
      </p:sp>
      <p:sp>
        <p:nvSpPr>
          <p:cNvPr id="246" name="Shape 244"/>
          <p:cNvSpPr/>
          <p:nvPr/>
        </p:nvSpPr>
        <p:spPr>
          <a:xfrm>
            <a:off x="2579098" y="2187185"/>
            <a:ext cx="49802" cy="12728"/>
          </a:xfrm>
          <a:prstGeom prst="line">
            <a:avLst/>
          </a:prstGeom>
          <a:noFill/>
          <a:ln w="31750">
            <a:solidFill>
              <a:srgbClr val="2F6DB5"/>
            </a:solidFill>
            <a:prstDash val="solid"/>
          </a:ln>
        </p:spPr>
      </p:sp>
      <p:sp>
        <p:nvSpPr>
          <p:cNvPr id="247" name="Shape 245"/>
          <p:cNvSpPr/>
          <p:nvPr/>
        </p:nvSpPr>
        <p:spPr>
          <a:xfrm>
            <a:off x="2628900" y="2199913"/>
            <a:ext cx="49802" cy="12487"/>
          </a:xfrm>
          <a:prstGeom prst="line">
            <a:avLst/>
          </a:prstGeom>
          <a:noFill/>
          <a:ln w="31750">
            <a:solidFill>
              <a:srgbClr val="2F6DB5"/>
            </a:solidFill>
            <a:prstDash val="solid"/>
          </a:ln>
        </p:spPr>
      </p:sp>
      <p:sp>
        <p:nvSpPr>
          <p:cNvPr id="248" name="Shape 246"/>
          <p:cNvSpPr/>
          <p:nvPr/>
        </p:nvSpPr>
        <p:spPr>
          <a:xfrm>
            <a:off x="2678702" y="2212400"/>
            <a:ext cx="49802" cy="12144"/>
          </a:xfrm>
          <a:prstGeom prst="line">
            <a:avLst/>
          </a:prstGeom>
          <a:noFill/>
          <a:ln w="31750">
            <a:solidFill>
              <a:srgbClr val="2F6DB5"/>
            </a:solidFill>
            <a:prstDash val="solid"/>
          </a:ln>
        </p:spPr>
      </p:sp>
      <p:sp>
        <p:nvSpPr>
          <p:cNvPr id="249" name="Shape 247"/>
          <p:cNvSpPr/>
          <p:nvPr/>
        </p:nvSpPr>
        <p:spPr>
          <a:xfrm>
            <a:off x="2728504" y="2224545"/>
            <a:ext cx="49802" cy="11712"/>
          </a:xfrm>
          <a:prstGeom prst="line">
            <a:avLst/>
          </a:prstGeom>
          <a:noFill/>
          <a:ln w="31750">
            <a:solidFill>
              <a:srgbClr val="2F6DB5"/>
            </a:solidFill>
            <a:prstDash val="solid"/>
          </a:ln>
        </p:spPr>
      </p:sp>
      <p:sp>
        <p:nvSpPr>
          <p:cNvPr id="250" name="Shape 248"/>
          <p:cNvSpPr/>
          <p:nvPr/>
        </p:nvSpPr>
        <p:spPr>
          <a:xfrm>
            <a:off x="2778306" y="2236257"/>
            <a:ext cx="49802" cy="11205"/>
          </a:xfrm>
          <a:prstGeom prst="line">
            <a:avLst/>
          </a:prstGeom>
          <a:noFill/>
          <a:ln w="31750">
            <a:solidFill>
              <a:srgbClr val="2F6DB5"/>
            </a:solidFill>
            <a:prstDash val="solid"/>
          </a:ln>
        </p:spPr>
      </p:sp>
      <p:sp>
        <p:nvSpPr>
          <p:cNvPr id="251" name="Shape 249"/>
          <p:cNvSpPr/>
          <p:nvPr/>
        </p:nvSpPr>
        <p:spPr>
          <a:xfrm>
            <a:off x="2828109" y="2247462"/>
            <a:ext cx="49802" cy="10637"/>
          </a:xfrm>
          <a:prstGeom prst="line">
            <a:avLst/>
          </a:prstGeom>
          <a:noFill/>
          <a:ln w="31750">
            <a:solidFill>
              <a:srgbClr val="2F6DB5"/>
            </a:solidFill>
            <a:prstDash val="solid"/>
          </a:ln>
        </p:spPr>
      </p:sp>
      <p:sp>
        <p:nvSpPr>
          <p:cNvPr id="252" name="Shape 250"/>
          <p:cNvSpPr/>
          <p:nvPr/>
        </p:nvSpPr>
        <p:spPr>
          <a:xfrm>
            <a:off x="2877911" y="2258100"/>
            <a:ext cx="49802" cy="10023"/>
          </a:xfrm>
          <a:prstGeom prst="line">
            <a:avLst/>
          </a:prstGeom>
          <a:noFill/>
          <a:ln w="31750">
            <a:solidFill>
              <a:srgbClr val="2F6DB5"/>
            </a:solidFill>
            <a:prstDash val="solid"/>
          </a:ln>
        </p:spPr>
      </p:sp>
      <p:sp>
        <p:nvSpPr>
          <p:cNvPr id="253" name="Shape 251"/>
          <p:cNvSpPr/>
          <p:nvPr/>
        </p:nvSpPr>
        <p:spPr>
          <a:xfrm>
            <a:off x="2927713" y="2268122"/>
            <a:ext cx="49802" cy="9374"/>
          </a:xfrm>
          <a:prstGeom prst="line">
            <a:avLst/>
          </a:prstGeom>
          <a:noFill/>
          <a:ln w="31750">
            <a:solidFill>
              <a:srgbClr val="2F6DB5"/>
            </a:solidFill>
            <a:prstDash val="solid"/>
          </a:ln>
        </p:spPr>
      </p:sp>
      <p:sp>
        <p:nvSpPr>
          <p:cNvPr id="254" name="Shape 252"/>
          <p:cNvSpPr/>
          <p:nvPr/>
        </p:nvSpPr>
        <p:spPr>
          <a:xfrm>
            <a:off x="2977515" y="2277497"/>
            <a:ext cx="49802" cy="8702"/>
          </a:xfrm>
          <a:prstGeom prst="line">
            <a:avLst/>
          </a:prstGeom>
          <a:noFill/>
          <a:ln w="31750">
            <a:solidFill>
              <a:srgbClr val="2F6DB5"/>
            </a:solidFill>
            <a:prstDash val="solid"/>
          </a:ln>
        </p:spPr>
      </p:sp>
      <p:sp>
        <p:nvSpPr>
          <p:cNvPr id="255" name="Shape 253"/>
          <p:cNvSpPr/>
          <p:nvPr/>
        </p:nvSpPr>
        <p:spPr>
          <a:xfrm>
            <a:off x="3027317" y="2286199"/>
            <a:ext cx="49802" cy="8013"/>
          </a:xfrm>
          <a:prstGeom prst="line">
            <a:avLst/>
          </a:prstGeom>
          <a:noFill/>
          <a:ln w="31750">
            <a:solidFill>
              <a:srgbClr val="2F6DB5"/>
            </a:solidFill>
            <a:prstDash val="solid"/>
          </a:ln>
        </p:spPr>
      </p:sp>
      <p:sp>
        <p:nvSpPr>
          <p:cNvPr id="256" name="Shape 254"/>
          <p:cNvSpPr/>
          <p:nvPr/>
        </p:nvSpPr>
        <p:spPr>
          <a:xfrm>
            <a:off x="3077119" y="2294212"/>
            <a:ext cx="49802" cy="7304"/>
          </a:xfrm>
          <a:prstGeom prst="line">
            <a:avLst/>
          </a:prstGeom>
          <a:noFill/>
          <a:ln w="31750">
            <a:solidFill>
              <a:srgbClr val="2F6DB5"/>
            </a:solidFill>
            <a:prstDash val="solid"/>
          </a:ln>
        </p:spPr>
      </p:sp>
      <p:sp>
        <p:nvSpPr>
          <p:cNvPr id="257" name="Shape 255"/>
          <p:cNvSpPr/>
          <p:nvPr/>
        </p:nvSpPr>
        <p:spPr>
          <a:xfrm>
            <a:off x="3126921" y="2301517"/>
            <a:ext cx="49802" cy="6552"/>
          </a:xfrm>
          <a:prstGeom prst="line">
            <a:avLst/>
          </a:prstGeom>
          <a:noFill/>
          <a:ln w="31750">
            <a:solidFill>
              <a:srgbClr val="2F6DB5"/>
            </a:solidFill>
            <a:prstDash val="solid"/>
          </a:ln>
        </p:spPr>
      </p:sp>
      <p:sp>
        <p:nvSpPr>
          <p:cNvPr id="258" name="Shape 256"/>
          <p:cNvSpPr/>
          <p:nvPr/>
        </p:nvSpPr>
        <p:spPr>
          <a:xfrm>
            <a:off x="3176724" y="2308068"/>
            <a:ext cx="49802" cy="5697"/>
          </a:xfrm>
          <a:prstGeom prst="line">
            <a:avLst/>
          </a:prstGeom>
          <a:noFill/>
          <a:ln w="31750">
            <a:solidFill>
              <a:srgbClr val="2F6DB5"/>
            </a:solidFill>
            <a:prstDash val="solid"/>
          </a:ln>
        </p:spPr>
      </p:sp>
      <p:sp>
        <p:nvSpPr>
          <p:cNvPr id="259" name="Shape 257"/>
          <p:cNvSpPr/>
          <p:nvPr/>
        </p:nvSpPr>
        <p:spPr>
          <a:xfrm>
            <a:off x="3226526" y="2313765"/>
            <a:ext cx="49802" cy="4618"/>
          </a:xfrm>
          <a:prstGeom prst="line">
            <a:avLst/>
          </a:prstGeom>
          <a:noFill/>
          <a:ln w="31750">
            <a:solidFill>
              <a:srgbClr val="2F6DB5"/>
            </a:solidFill>
            <a:prstDash val="solid"/>
          </a:ln>
        </p:spPr>
      </p:sp>
      <p:sp>
        <p:nvSpPr>
          <p:cNvPr id="260" name="Shape 258"/>
          <p:cNvSpPr/>
          <p:nvPr/>
        </p:nvSpPr>
        <p:spPr>
          <a:xfrm>
            <a:off x="3276328" y="2318383"/>
            <a:ext cx="49802" cy="3098"/>
          </a:xfrm>
          <a:prstGeom prst="line">
            <a:avLst/>
          </a:prstGeom>
          <a:noFill/>
          <a:ln w="31750">
            <a:solidFill>
              <a:srgbClr val="2F6DB5"/>
            </a:solidFill>
            <a:prstDash val="solid"/>
          </a:ln>
        </p:spPr>
      </p:sp>
      <p:sp>
        <p:nvSpPr>
          <p:cNvPr id="261" name="Shape 259"/>
          <p:cNvSpPr/>
          <p:nvPr/>
        </p:nvSpPr>
        <p:spPr>
          <a:xfrm>
            <a:off x="3326130" y="2321481"/>
            <a:ext cx="49802" cy="799"/>
          </a:xfrm>
          <a:prstGeom prst="line">
            <a:avLst/>
          </a:prstGeom>
          <a:noFill/>
          <a:ln w="31750">
            <a:solidFill>
              <a:srgbClr val="2F6DB5"/>
            </a:solidFill>
            <a:prstDash val="solid"/>
          </a:ln>
        </p:spPr>
      </p:sp>
      <p:sp>
        <p:nvSpPr>
          <p:cNvPr id="262" name="Shape 260"/>
          <p:cNvSpPr/>
          <p:nvPr/>
        </p:nvSpPr>
        <p:spPr>
          <a:xfrm flipV="1">
            <a:off x="3375932" y="2319544"/>
            <a:ext cx="49802" cy="2735"/>
          </a:xfrm>
          <a:prstGeom prst="line">
            <a:avLst/>
          </a:prstGeom>
          <a:noFill/>
          <a:ln w="31750">
            <a:solidFill>
              <a:srgbClr val="2F6DB5"/>
            </a:solidFill>
            <a:prstDash val="solid"/>
          </a:ln>
        </p:spPr>
      </p:sp>
      <p:sp>
        <p:nvSpPr>
          <p:cNvPr id="263" name="Shape 261"/>
          <p:cNvSpPr/>
          <p:nvPr/>
        </p:nvSpPr>
        <p:spPr>
          <a:xfrm flipV="1">
            <a:off x="3425734" y="2311542"/>
            <a:ext cx="49802" cy="8003"/>
          </a:xfrm>
          <a:prstGeom prst="line">
            <a:avLst/>
          </a:prstGeom>
          <a:noFill/>
          <a:ln w="31750">
            <a:solidFill>
              <a:srgbClr val="2F6DB5"/>
            </a:solidFill>
            <a:prstDash val="solid"/>
          </a:ln>
        </p:spPr>
      </p:sp>
      <p:sp>
        <p:nvSpPr>
          <p:cNvPr id="264" name="Shape 262"/>
          <p:cNvSpPr/>
          <p:nvPr/>
        </p:nvSpPr>
        <p:spPr>
          <a:xfrm flipV="1">
            <a:off x="3475536" y="2296164"/>
            <a:ext cx="49802" cy="15378"/>
          </a:xfrm>
          <a:prstGeom prst="line">
            <a:avLst/>
          </a:prstGeom>
          <a:noFill/>
          <a:ln w="31750">
            <a:solidFill>
              <a:srgbClr val="2F6DB5"/>
            </a:solidFill>
            <a:prstDash val="solid"/>
          </a:ln>
        </p:spPr>
      </p:sp>
      <p:sp>
        <p:nvSpPr>
          <p:cNvPr id="265" name="Shape 263"/>
          <p:cNvSpPr/>
          <p:nvPr/>
        </p:nvSpPr>
        <p:spPr>
          <a:xfrm flipV="1">
            <a:off x="3525339" y="2271322"/>
            <a:ext cx="49802" cy="24842"/>
          </a:xfrm>
          <a:prstGeom prst="line">
            <a:avLst/>
          </a:prstGeom>
          <a:noFill/>
          <a:ln w="31750">
            <a:solidFill>
              <a:srgbClr val="2F6DB5"/>
            </a:solidFill>
            <a:prstDash val="solid"/>
          </a:ln>
        </p:spPr>
      </p:sp>
      <p:sp>
        <p:nvSpPr>
          <p:cNvPr id="266" name="Shape 264"/>
          <p:cNvSpPr/>
          <p:nvPr/>
        </p:nvSpPr>
        <p:spPr>
          <a:xfrm flipV="1">
            <a:off x="3575141" y="2235635"/>
            <a:ext cx="49802" cy="35687"/>
          </a:xfrm>
          <a:prstGeom prst="line">
            <a:avLst/>
          </a:prstGeom>
          <a:noFill/>
          <a:ln w="31750">
            <a:solidFill>
              <a:srgbClr val="2F6DB5"/>
            </a:solidFill>
            <a:prstDash val="solid"/>
          </a:ln>
        </p:spPr>
      </p:sp>
      <p:sp>
        <p:nvSpPr>
          <p:cNvPr id="267" name="Shape 265"/>
          <p:cNvSpPr/>
          <p:nvPr/>
        </p:nvSpPr>
        <p:spPr>
          <a:xfrm flipV="1">
            <a:off x="3624943" y="2189303"/>
            <a:ext cx="49802" cy="46332"/>
          </a:xfrm>
          <a:prstGeom prst="line">
            <a:avLst/>
          </a:prstGeom>
          <a:noFill/>
          <a:ln w="31750">
            <a:solidFill>
              <a:srgbClr val="2F6DB5"/>
            </a:solidFill>
            <a:prstDash val="solid"/>
          </a:ln>
        </p:spPr>
      </p:sp>
      <p:sp>
        <p:nvSpPr>
          <p:cNvPr id="268" name="Shape 266"/>
          <p:cNvSpPr/>
          <p:nvPr/>
        </p:nvSpPr>
        <p:spPr>
          <a:xfrm flipV="1">
            <a:off x="3674745" y="2134896"/>
            <a:ext cx="49802" cy="54407"/>
          </a:xfrm>
          <a:prstGeom prst="line">
            <a:avLst/>
          </a:prstGeom>
          <a:noFill/>
          <a:ln w="31750">
            <a:solidFill>
              <a:srgbClr val="2F6DB5"/>
            </a:solidFill>
            <a:prstDash val="solid"/>
          </a:ln>
        </p:spPr>
      </p:sp>
      <p:sp>
        <p:nvSpPr>
          <p:cNvPr id="269" name="Shape 267"/>
          <p:cNvSpPr/>
          <p:nvPr/>
        </p:nvSpPr>
        <p:spPr>
          <a:xfrm flipV="1">
            <a:off x="3724547" y="2077651"/>
            <a:ext cx="49802" cy="57245"/>
          </a:xfrm>
          <a:prstGeom prst="line">
            <a:avLst/>
          </a:prstGeom>
          <a:noFill/>
          <a:ln w="31750">
            <a:solidFill>
              <a:srgbClr val="2F6DB5"/>
            </a:solidFill>
            <a:prstDash val="solid"/>
          </a:ln>
        </p:spPr>
      </p:sp>
      <p:sp>
        <p:nvSpPr>
          <p:cNvPr id="270" name="Shape 268"/>
          <p:cNvSpPr/>
          <p:nvPr/>
        </p:nvSpPr>
        <p:spPr>
          <a:xfrm flipV="1">
            <a:off x="3774349" y="2024960"/>
            <a:ext cx="49802" cy="52691"/>
          </a:xfrm>
          <a:prstGeom prst="line">
            <a:avLst/>
          </a:prstGeom>
          <a:noFill/>
          <a:ln w="31750">
            <a:solidFill>
              <a:srgbClr val="2F6DB5"/>
            </a:solidFill>
            <a:prstDash val="solid"/>
          </a:ln>
        </p:spPr>
      </p:sp>
      <p:sp>
        <p:nvSpPr>
          <p:cNvPr id="271" name="Shape 269"/>
          <p:cNvSpPr/>
          <p:nvPr/>
        </p:nvSpPr>
        <p:spPr>
          <a:xfrm flipV="1">
            <a:off x="3824151" y="1984968"/>
            <a:ext cx="49802" cy="39992"/>
          </a:xfrm>
          <a:prstGeom prst="line">
            <a:avLst/>
          </a:prstGeom>
          <a:noFill/>
          <a:ln w="31750">
            <a:solidFill>
              <a:srgbClr val="2F6DB5"/>
            </a:solidFill>
            <a:prstDash val="solid"/>
          </a:ln>
        </p:spPr>
      </p:sp>
      <p:sp>
        <p:nvSpPr>
          <p:cNvPr id="272" name="Shape 270"/>
          <p:cNvSpPr/>
          <p:nvPr/>
        </p:nvSpPr>
        <p:spPr>
          <a:xfrm flipV="1">
            <a:off x="3873954" y="1964596"/>
            <a:ext cx="49802" cy="20372"/>
          </a:xfrm>
          <a:prstGeom prst="line">
            <a:avLst/>
          </a:prstGeom>
          <a:noFill/>
          <a:ln w="31750">
            <a:solidFill>
              <a:srgbClr val="2F6DB5"/>
            </a:solidFill>
            <a:prstDash val="solid"/>
          </a:ln>
        </p:spPr>
      </p:sp>
      <p:sp>
        <p:nvSpPr>
          <p:cNvPr id="273" name="Shape 271"/>
          <p:cNvSpPr/>
          <p:nvPr/>
        </p:nvSpPr>
        <p:spPr>
          <a:xfrm>
            <a:off x="3923756" y="1964596"/>
            <a:ext cx="49802" cy="3052"/>
          </a:xfrm>
          <a:prstGeom prst="line">
            <a:avLst/>
          </a:prstGeom>
          <a:noFill/>
          <a:ln w="31750">
            <a:solidFill>
              <a:srgbClr val="2F6DB5"/>
            </a:solidFill>
            <a:prstDash val="solid"/>
          </a:ln>
        </p:spPr>
      </p:sp>
      <p:sp>
        <p:nvSpPr>
          <p:cNvPr id="274" name="Shape 272"/>
          <p:cNvSpPr/>
          <p:nvPr/>
        </p:nvSpPr>
        <p:spPr>
          <a:xfrm>
            <a:off x="3973558" y="1967648"/>
            <a:ext cx="49802" cy="26059"/>
          </a:xfrm>
          <a:prstGeom prst="line">
            <a:avLst/>
          </a:prstGeom>
          <a:noFill/>
          <a:ln w="31750">
            <a:solidFill>
              <a:srgbClr val="2F6DB5"/>
            </a:solidFill>
            <a:prstDash val="solid"/>
          </a:ln>
        </p:spPr>
      </p:sp>
      <p:sp>
        <p:nvSpPr>
          <p:cNvPr id="275" name="Shape 273"/>
          <p:cNvSpPr/>
          <p:nvPr/>
        </p:nvSpPr>
        <p:spPr>
          <a:xfrm>
            <a:off x="4023360" y="1993707"/>
            <a:ext cx="49802" cy="44557"/>
          </a:xfrm>
          <a:prstGeom prst="line">
            <a:avLst/>
          </a:prstGeom>
          <a:noFill/>
          <a:ln w="31750">
            <a:solidFill>
              <a:srgbClr val="2F6DB5"/>
            </a:solidFill>
            <a:prstDash val="solid"/>
          </a:ln>
        </p:spPr>
      </p:sp>
      <p:sp>
        <p:nvSpPr>
          <p:cNvPr id="276" name="Shape 274"/>
          <p:cNvSpPr/>
          <p:nvPr/>
        </p:nvSpPr>
        <p:spPr>
          <a:xfrm>
            <a:off x="4073162" y="2038265"/>
            <a:ext cx="49802" cy="55765"/>
          </a:xfrm>
          <a:prstGeom prst="line">
            <a:avLst/>
          </a:prstGeom>
          <a:noFill/>
          <a:ln w="31750">
            <a:solidFill>
              <a:srgbClr val="2F6DB5"/>
            </a:solidFill>
            <a:prstDash val="solid"/>
          </a:ln>
        </p:spPr>
      </p:sp>
      <p:sp>
        <p:nvSpPr>
          <p:cNvPr id="277" name="Shape 275"/>
          <p:cNvSpPr/>
          <p:nvPr/>
        </p:nvSpPr>
        <p:spPr>
          <a:xfrm>
            <a:off x="4122964" y="2094030"/>
            <a:ext cx="49802" cy="58875"/>
          </a:xfrm>
          <a:prstGeom prst="line">
            <a:avLst/>
          </a:prstGeom>
          <a:noFill/>
          <a:ln w="31750">
            <a:solidFill>
              <a:srgbClr val="2F6DB5"/>
            </a:solidFill>
            <a:prstDash val="solid"/>
          </a:ln>
        </p:spPr>
      </p:sp>
      <p:sp>
        <p:nvSpPr>
          <p:cNvPr id="278" name="Shape 276"/>
          <p:cNvSpPr/>
          <p:nvPr/>
        </p:nvSpPr>
        <p:spPr>
          <a:xfrm>
            <a:off x="4172766" y="2152905"/>
            <a:ext cx="49802" cy="54980"/>
          </a:xfrm>
          <a:prstGeom prst="line">
            <a:avLst/>
          </a:prstGeom>
          <a:noFill/>
          <a:ln w="31750">
            <a:solidFill>
              <a:srgbClr val="2F6DB5"/>
            </a:solidFill>
            <a:prstDash val="solid"/>
          </a:ln>
        </p:spPr>
      </p:sp>
      <p:sp>
        <p:nvSpPr>
          <p:cNvPr id="279" name="Shape 277"/>
          <p:cNvSpPr/>
          <p:nvPr/>
        </p:nvSpPr>
        <p:spPr>
          <a:xfrm>
            <a:off x="4222569" y="2207885"/>
            <a:ext cx="49802" cy="46414"/>
          </a:xfrm>
          <a:prstGeom prst="line">
            <a:avLst/>
          </a:prstGeom>
          <a:noFill/>
          <a:ln w="31750">
            <a:solidFill>
              <a:srgbClr val="2F6DB5"/>
            </a:solidFill>
            <a:prstDash val="solid"/>
          </a:ln>
        </p:spPr>
      </p:sp>
      <p:sp>
        <p:nvSpPr>
          <p:cNvPr id="280" name="Shape 278"/>
          <p:cNvSpPr/>
          <p:nvPr/>
        </p:nvSpPr>
        <p:spPr>
          <a:xfrm>
            <a:off x="4272371" y="2254299"/>
            <a:ext cx="49802" cy="35841"/>
          </a:xfrm>
          <a:prstGeom prst="line">
            <a:avLst/>
          </a:prstGeom>
          <a:noFill/>
          <a:ln w="31750">
            <a:solidFill>
              <a:srgbClr val="2F6DB5"/>
            </a:solidFill>
            <a:prstDash val="solid"/>
          </a:ln>
        </p:spPr>
      </p:sp>
      <p:sp>
        <p:nvSpPr>
          <p:cNvPr id="281" name="Shape 279"/>
          <p:cNvSpPr/>
          <p:nvPr/>
        </p:nvSpPr>
        <p:spPr>
          <a:xfrm>
            <a:off x="4322173" y="2290141"/>
            <a:ext cx="49802" cy="25500"/>
          </a:xfrm>
          <a:prstGeom prst="line">
            <a:avLst/>
          </a:prstGeom>
          <a:noFill/>
          <a:ln w="31750">
            <a:solidFill>
              <a:srgbClr val="2F6DB5"/>
            </a:solidFill>
            <a:prstDash val="solid"/>
          </a:ln>
        </p:spPr>
      </p:sp>
      <p:sp>
        <p:nvSpPr>
          <p:cNvPr id="282" name="Shape 280"/>
          <p:cNvSpPr/>
          <p:nvPr/>
        </p:nvSpPr>
        <p:spPr>
          <a:xfrm>
            <a:off x="4371975" y="2315641"/>
            <a:ext cx="49802" cy="16794"/>
          </a:xfrm>
          <a:prstGeom prst="line">
            <a:avLst/>
          </a:prstGeom>
          <a:noFill/>
          <a:ln w="31750">
            <a:solidFill>
              <a:srgbClr val="2F6DB5"/>
            </a:solidFill>
            <a:prstDash val="solid"/>
          </a:ln>
        </p:spPr>
      </p:sp>
      <p:sp>
        <p:nvSpPr>
          <p:cNvPr id="283" name="Shape 281"/>
          <p:cNvSpPr/>
          <p:nvPr/>
        </p:nvSpPr>
        <p:spPr>
          <a:xfrm>
            <a:off x="4421777" y="2332434"/>
            <a:ext cx="49802" cy="10271"/>
          </a:xfrm>
          <a:prstGeom prst="line">
            <a:avLst/>
          </a:prstGeom>
          <a:noFill/>
          <a:ln w="31750">
            <a:solidFill>
              <a:srgbClr val="2F6DB5"/>
            </a:solidFill>
            <a:prstDash val="solid"/>
          </a:ln>
        </p:spPr>
      </p:sp>
      <p:sp>
        <p:nvSpPr>
          <p:cNvPr id="284" name="Shape 282"/>
          <p:cNvSpPr/>
          <p:nvPr/>
        </p:nvSpPr>
        <p:spPr>
          <a:xfrm>
            <a:off x="4471579" y="2342705"/>
            <a:ext cx="49802" cy="5846"/>
          </a:xfrm>
          <a:prstGeom prst="line">
            <a:avLst/>
          </a:prstGeom>
          <a:noFill/>
          <a:ln w="31750">
            <a:solidFill>
              <a:srgbClr val="2F6DB5"/>
            </a:solidFill>
            <a:prstDash val="solid"/>
          </a:ln>
        </p:spPr>
      </p:sp>
      <p:sp>
        <p:nvSpPr>
          <p:cNvPr id="285" name="Shape 283"/>
          <p:cNvSpPr/>
          <p:nvPr/>
        </p:nvSpPr>
        <p:spPr>
          <a:xfrm>
            <a:off x="4521381" y="2348551"/>
            <a:ext cx="49802" cy="3100"/>
          </a:xfrm>
          <a:prstGeom prst="line">
            <a:avLst/>
          </a:prstGeom>
          <a:noFill/>
          <a:ln w="31750">
            <a:solidFill>
              <a:srgbClr val="2F6DB5"/>
            </a:solidFill>
            <a:prstDash val="solid"/>
          </a:ln>
        </p:spPr>
      </p:sp>
      <p:sp>
        <p:nvSpPr>
          <p:cNvPr id="286" name="Shape 284"/>
          <p:cNvSpPr/>
          <p:nvPr/>
        </p:nvSpPr>
        <p:spPr>
          <a:xfrm>
            <a:off x="4571184" y="2351651"/>
            <a:ext cx="49802" cy="1529"/>
          </a:xfrm>
          <a:prstGeom prst="line">
            <a:avLst/>
          </a:prstGeom>
          <a:noFill/>
          <a:ln w="31750">
            <a:solidFill>
              <a:srgbClr val="2F6DB5"/>
            </a:solidFill>
            <a:prstDash val="solid"/>
          </a:ln>
        </p:spPr>
      </p:sp>
      <p:sp>
        <p:nvSpPr>
          <p:cNvPr id="287" name="Shape 285"/>
          <p:cNvSpPr/>
          <p:nvPr/>
        </p:nvSpPr>
        <p:spPr>
          <a:xfrm>
            <a:off x="4620986" y="2353180"/>
            <a:ext cx="49802" cy="695"/>
          </a:xfrm>
          <a:prstGeom prst="line">
            <a:avLst/>
          </a:prstGeom>
          <a:noFill/>
          <a:ln w="31750">
            <a:solidFill>
              <a:srgbClr val="2F6DB5"/>
            </a:solidFill>
            <a:prstDash val="solid"/>
          </a:ln>
        </p:spPr>
      </p:sp>
      <p:sp>
        <p:nvSpPr>
          <p:cNvPr id="288" name="Shape 286"/>
          <p:cNvSpPr/>
          <p:nvPr/>
        </p:nvSpPr>
        <p:spPr>
          <a:xfrm>
            <a:off x="4670788" y="2353876"/>
            <a:ext cx="49802" cy="280"/>
          </a:xfrm>
          <a:prstGeom prst="line">
            <a:avLst/>
          </a:prstGeom>
          <a:noFill/>
          <a:ln w="31750">
            <a:solidFill>
              <a:srgbClr val="2F6DB5"/>
            </a:solidFill>
            <a:prstDash val="solid"/>
          </a:ln>
        </p:spPr>
      </p:sp>
      <p:sp>
        <p:nvSpPr>
          <p:cNvPr id="289" name="Shape 287"/>
          <p:cNvSpPr/>
          <p:nvPr/>
        </p:nvSpPr>
        <p:spPr>
          <a:xfrm>
            <a:off x="4720590" y="2354156"/>
            <a:ext cx="49802" cy="82"/>
          </a:xfrm>
          <a:prstGeom prst="line">
            <a:avLst/>
          </a:prstGeom>
          <a:noFill/>
          <a:ln w="31750">
            <a:solidFill>
              <a:srgbClr val="2F6DB5"/>
            </a:solidFill>
            <a:prstDash val="solid"/>
          </a:ln>
        </p:spPr>
      </p:sp>
      <p:sp>
        <p:nvSpPr>
          <p:cNvPr id="290" name="Shape 288"/>
          <p:cNvSpPr/>
          <p:nvPr/>
        </p:nvSpPr>
        <p:spPr>
          <a:xfrm flipV="1">
            <a:off x="4770392" y="2354225"/>
            <a:ext cx="49802" cy="13"/>
          </a:xfrm>
          <a:prstGeom prst="line">
            <a:avLst/>
          </a:prstGeom>
          <a:noFill/>
          <a:ln w="31750">
            <a:solidFill>
              <a:srgbClr val="2F6DB5"/>
            </a:solidFill>
            <a:prstDash val="solid"/>
          </a:ln>
        </p:spPr>
      </p:sp>
      <p:sp>
        <p:nvSpPr>
          <p:cNvPr id="291" name="Shape 289"/>
          <p:cNvSpPr/>
          <p:nvPr/>
        </p:nvSpPr>
        <p:spPr>
          <a:xfrm flipV="1">
            <a:off x="4820194" y="2354159"/>
            <a:ext cx="49802" cy="66"/>
          </a:xfrm>
          <a:prstGeom prst="line">
            <a:avLst/>
          </a:prstGeom>
          <a:noFill/>
          <a:ln w="31750">
            <a:solidFill>
              <a:srgbClr val="2F6DB5"/>
            </a:solidFill>
            <a:prstDash val="solid"/>
          </a:ln>
        </p:spPr>
      </p:sp>
      <p:sp>
        <p:nvSpPr>
          <p:cNvPr id="292" name="Shape 290"/>
          <p:cNvSpPr/>
          <p:nvPr/>
        </p:nvSpPr>
        <p:spPr>
          <a:xfrm flipV="1">
            <a:off x="4869996" y="2354056"/>
            <a:ext cx="49802" cy="103"/>
          </a:xfrm>
          <a:prstGeom prst="line">
            <a:avLst/>
          </a:prstGeom>
          <a:noFill/>
          <a:ln w="31750">
            <a:solidFill>
              <a:srgbClr val="2F6DB5"/>
            </a:solidFill>
            <a:prstDash val="solid"/>
          </a:ln>
        </p:spPr>
      </p:sp>
      <p:sp>
        <p:nvSpPr>
          <p:cNvPr id="293" name="Shape 291"/>
          <p:cNvSpPr/>
          <p:nvPr/>
        </p:nvSpPr>
        <p:spPr>
          <a:xfrm flipV="1">
            <a:off x="4919799" y="2353917"/>
            <a:ext cx="49802" cy="139"/>
          </a:xfrm>
          <a:prstGeom prst="line">
            <a:avLst/>
          </a:prstGeom>
          <a:noFill/>
          <a:ln w="31750">
            <a:solidFill>
              <a:srgbClr val="2F6DB5"/>
            </a:solidFill>
            <a:prstDash val="solid"/>
          </a:ln>
        </p:spPr>
      </p:sp>
      <p:sp>
        <p:nvSpPr>
          <p:cNvPr id="294" name="Shape 292"/>
          <p:cNvSpPr/>
          <p:nvPr/>
        </p:nvSpPr>
        <p:spPr>
          <a:xfrm flipV="1">
            <a:off x="4969601" y="2353739"/>
            <a:ext cx="49802" cy="179"/>
          </a:xfrm>
          <a:prstGeom prst="line">
            <a:avLst/>
          </a:prstGeom>
          <a:noFill/>
          <a:ln w="31750">
            <a:solidFill>
              <a:srgbClr val="2F6DB5"/>
            </a:solidFill>
            <a:prstDash val="solid"/>
          </a:ln>
        </p:spPr>
      </p:sp>
      <p:sp>
        <p:nvSpPr>
          <p:cNvPr id="295" name="Shape 293"/>
          <p:cNvSpPr/>
          <p:nvPr/>
        </p:nvSpPr>
        <p:spPr>
          <a:xfrm flipV="1">
            <a:off x="5019403" y="2353513"/>
            <a:ext cx="49802" cy="226"/>
          </a:xfrm>
          <a:prstGeom prst="line">
            <a:avLst/>
          </a:prstGeom>
          <a:noFill/>
          <a:ln w="31750">
            <a:solidFill>
              <a:srgbClr val="2F6DB5"/>
            </a:solidFill>
            <a:prstDash val="solid"/>
          </a:ln>
        </p:spPr>
      </p:sp>
      <p:sp>
        <p:nvSpPr>
          <p:cNvPr id="296" name="Shape 294"/>
          <p:cNvSpPr/>
          <p:nvPr/>
        </p:nvSpPr>
        <p:spPr>
          <a:xfrm flipV="1">
            <a:off x="5069205" y="2353231"/>
            <a:ext cx="49802" cy="282"/>
          </a:xfrm>
          <a:prstGeom prst="line">
            <a:avLst/>
          </a:prstGeom>
          <a:noFill/>
          <a:ln w="31750">
            <a:solidFill>
              <a:srgbClr val="2F6DB5"/>
            </a:solidFill>
            <a:prstDash val="solid"/>
          </a:ln>
        </p:spPr>
      </p:sp>
      <p:sp>
        <p:nvSpPr>
          <p:cNvPr id="297" name="Shape 295"/>
          <p:cNvSpPr/>
          <p:nvPr/>
        </p:nvSpPr>
        <p:spPr>
          <a:xfrm flipV="1">
            <a:off x="5119007" y="2352880"/>
            <a:ext cx="49802" cy="350"/>
          </a:xfrm>
          <a:prstGeom prst="line">
            <a:avLst/>
          </a:prstGeom>
          <a:noFill/>
          <a:ln w="31750">
            <a:solidFill>
              <a:srgbClr val="2F6DB5"/>
            </a:solidFill>
            <a:prstDash val="solid"/>
          </a:ln>
        </p:spPr>
      </p:sp>
      <p:sp>
        <p:nvSpPr>
          <p:cNvPr id="298" name="Shape 296"/>
          <p:cNvSpPr/>
          <p:nvPr/>
        </p:nvSpPr>
        <p:spPr>
          <a:xfrm flipV="1">
            <a:off x="5168809" y="2352449"/>
            <a:ext cx="49802" cy="431"/>
          </a:xfrm>
          <a:prstGeom prst="line">
            <a:avLst/>
          </a:prstGeom>
          <a:noFill/>
          <a:ln w="31750">
            <a:solidFill>
              <a:srgbClr val="2F6DB5"/>
            </a:solidFill>
            <a:prstDash val="solid"/>
          </a:ln>
        </p:spPr>
      </p:sp>
      <p:sp>
        <p:nvSpPr>
          <p:cNvPr id="299" name="Shape 297"/>
          <p:cNvSpPr/>
          <p:nvPr/>
        </p:nvSpPr>
        <p:spPr>
          <a:xfrm flipV="1">
            <a:off x="5218611" y="2351921"/>
            <a:ext cx="49802" cy="528"/>
          </a:xfrm>
          <a:prstGeom prst="line">
            <a:avLst/>
          </a:prstGeom>
          <a:noFill/>
          <a:ln w="31750">
            <a:solidFill>
              <a:srgbClr val="2F6DB5"/>
            </a:solidFill>
            <a:prstDash val="solid"/>
          </a:ln>
        </p:spPr>
      </p:sp>
      <p:sp>
        <p:nvSpPr>
          <p:cNvPr id="300" name="Shape 298"/>
          <p:cNvSpPr/>
          <p:nvPr/>
        </p:nvSpPr>
        <p:spPr>
          <a:xfrm flipV="1">
            <a:off x="5268414" y="2351278"/>
            <a:ext cx="49802" cy="643"/>
          </a:xfrm>
          <a:prstGeom prst="line">
            <a:avLst/>
          </a:prstGeom>
          <a:noFill/>
          <a:ln w="31750">
            <a:solidFill>
              <a:srgbClr val="2F6DB5"/>
            </a:solidFill>
            <a:prstDash val="solid"/>
          </a:ln>
        </p:spPr>
      </p:sp>
      <p:sp>
        <p:nvSpPr>
          <p:cNvPr id="301" name="Shape 299"/>
          <p:cNvSpPr/>
          <p:nvPr/>
        </p:nvSpPr>
        <p:spPr>
          <a:xfrm flipV="1">
            <a:off x="5318216" y="2350499"/>
            <a:ext cx="49802" cy="778"/>
          </a:xfrm>
          <a:prstGeom prst="line">
            <a:avLst/>
          </a:prstGeom>
          <a:noFill/>
          <a:ln w="31750">
            <a:solidFill>
              <a:srgbClr val="2F6DB5"/>
            </a:solidFill>
            <a:prstDash val="solid"/>
          </a:ln>
        </p:spPr>
      </p:sp>
      <p:sp>
        <p:nvSpPr>
          <p:cNvPr id="302" name="Shape 300"/>
          <p:cNvSpPr/>
          <p:nvPr/>
        </p:nvSpPr>
        <p:spPr>
          <a:xfrm flipV="1">
            <a:off x="5368018" y="2349563"/>
            <a:ext cx="49802" cy="936"/>
          </a:xfrm>
          <a:prstGeom prst="line">
            <a:avLst/>
          </a:prstGeom>
          <a:noFill/>
          <a:ln w="31750">
            <a:solidFill>
              <a:srgbClr val="2F6DB5"/>
            </a:solidFill>
            <a:prstDash val="solid"/>
          </a:ln>
        </p:spPr>
      </p:sp>
      <p:sp>
        <p:nvSpPr>
          <p:cNvPr id="303" name="Shape 301"/>
          <p:cNvSpPr/>
          <p:nvPr/>
        </p:nvSpPr>
        <p:spPr>
          <a:xfrm flipV="1">
            <a:off x="5417820" y="2348443"/>
            <a:ext cx="49802" cy="1120"/>
          </a:xfrm>
          <a:prstGeom prst="line">
            <a:avLst/>
          </a:prstGeom>
          <a:noFill/>
          <a:ln w="31750">
            <a:solidFill>
              <a:srgbClr val="2F6DB5"/>
            </a:solidFill>
            <a:prstDash val="solid"/>
          </a:ln>
        </p:spPr>
      </p:sp>
      <p:sp>
        <p:nvSpPr>
          <p:cNvPr id="304" name="Shape 302"/>
          <p:cNvSpPr/>
          <p:nvPr/>
        </p:nvSpPr>
        <p:spPr>
          <a:xfrm flipV="1">
            <a:off x="5467622" y="2347111"/>
            <a:ext cx="49802" cy="1332"/>
          </a:xfrm>
          <a:prstGeom prst="line">
            <a:avLst/>
          </a:prstGeom>
          <a:noFill/>
          <a:ln w="31750">
            <a:solidFill>
              <a:srgbClr val="2F6DB5"/>
            </a:solidFill>
            <a:prstDash val="solid"/>
          </a:ln>
        </p:spPr>
      </p:sp>
      <p:sp>
        <p:nvSpPr>
          <p:cNvPr id="305" name="Shape 303"/>
          <p:cNvSpPr/>
          <p:nvPr/>
        </p:nvSpPr>
        <p:spPr>
          <a:xfrm flipV="1">
            <a:off x="5517424" y="2345537"/>
            <a:ext cx="49802" cy="1575"/>
          </a:xfrm>
          <a:prstGeom prst="line">
            <a:avLst/>
          </a:prstGeom>
          <a:noFill/>
          <a:ln w="31750">
            <a:solidFill>
              <a:srgbClr val="2F6DB5"/>
            </a:solidFill>
            <a:prstDash val="solid"/>
          </a:ln>
        </p:spPr>
      </p:sp>
      <p:sp>
        <p:nvSpPr>
          <p:cNvPr id="306" name="Shape 304"/>
          <p:cNvSpPr/>
          <p:nvPr/>
        </p:nvSpPr>
        <p:spPr>
          <a:xfrm flipV="1">
            <a:off x="5567226" y="2343686"/>
            <a:ext cx="49802" cy="1851"/>
          </a:xfrm>
          <a:prstGeom prst="line">
            <a:avLst/>
          </a:prstGeom>
          <a:noFill/>
          <a:ln w="31750">
            <a:solidFill>
              <a:srgbClr val="2F6DB5"/>
            </a:solidFill>
            <a:prstDash val="solid"/>
          </a:ln>
        </p:spPr>
      </p:sp>
      <p:sp>
        <p:nvSpPr>
          <p:cNvPr id="307" name="Shape 305"/>
          <p:cNvSpPr/>
          <p:nvPr/>
        </p:nvSpPr>
        <p:spPr>
          <a:xfrm flipV="1">
            <a:off x="5617029" y="2341523"/>
            <a:ext cx="49802" cy="2163"/>
          </a:xfrm>
          <a:prstGeom prst="line">
            <a:avLst/>
          </a:prstGeom>
          <a:noFill/>
          <a:ln w="31750">
            <a:solidFill>
              <a:srgbClr val="2F6DB5"/>
            </a:solidFill>
            <a:prstDash val="solid"/>
          </a:ln>
        </p:spPr>
      </p:sp>
      <p:sp>
        <p:nvSpPr>
          <p:cNvPr id="308" name="Shape 306"/>
          <p:cNvSpPr/>
          <p:nvPr/>
        </p:nvSpPr>
        <p:spPr>
          <a:xfrm flipV="1">
            <a:off x="5666831" y="2339010"/>
            <a:ext cx="49802" cy="2513"/>
          </a:xfrm>
          <a:prstGeom prst="line">
            <a:avLst/>
          </a:prstGeom>
          <a:noFill/>
          <a:ln w="31750">
            <a:solidFill>
              <a:srgbClr val="2F6DB5"/>
            </a:solidFill>
            <a:prstDash val="solid"/>
          </a:ln>
        </p:spPr>
      </p:sp>
      <p:sp>
        <p:nvSpPr>
          <p:cNvPr id="309" name="Shape 307"/>
          <p:cNvSpPr/>
          <p:nvPr/>
        </p:nvSpPr>
        <p:spPr>
          <a:xfrm flipV="1">
            <a:off x="5716633" y="2336108"/>
            <a:ext cx="49802" cy="2902"/>
          </a:xfrm>
          <a:prstGeom prst="line">
            <a:avLst/>
          </a:prstGeom>
          <a:noFill/>
          <a:ln w="31750">
            <a:solidFill>
              <a:srgbClr val="2F6DB5"/>
            </a:solidFill>
            <a:prstDash val="solid"/>
          </a:ln>
        </p:spPr>
      </p:sp>
      <p:sp>
        <p:nvSpPr>
          <p:cNvPr id="310" name="Shape 308"/>
          <p:cNvSpPr/>
          <p:nvPr/>
        </p:nvSpPr>
        <p:spPr>
          <a:xfrm flipV="1">
            <a:off x="5766435" y="2332776"/>
            <a:ext cx="49802" cy="3332"/>
          </a:xfrm>
          <a:prstGeom prst="line">
            <a:avLst/>
          </a:prstGeom>
          <a:noFill/>
          <a:ln w="31750">
            <a:solidFill>
              <a:srgbClr val="2F6DB5"/>
            </a:solidFill>
            <a:prstDash val="solid"/>
          </a:ln>
        </p:spPr>
      </p:sp>
      <p:sp>
        <p:nvSpPr>
          <p:cNvPr id="311" name="Shape 309"/>
          <p:cNvSpPr/>
          <p:nvPr/>
        </p:nvSpPr>
        <p:spPr>
          <a:xfrm flipV="1">
            <a:off x="5816237" y="2328974"/>
            <a:ext cx="49802" cy="3802"/>
          </a:xfrm>
          <a:prstGeom prst="line">
            <a:avLst/>
          </a:prstGeom>
          <a:noFill/>
          <a:ln w="31750">
            <a:solidFill>
              <a:srgbClr val="2F6DB5"/>
            </a:solidFill>
            <a:prstDash val="solid"/>
          </a:ln>
        </p:spPr>
      </p:sp>
      <p:sp>
        <p:nvSpPr>
          <p:cNvPr id="312" name="Shape 310"/>
          <p:cNvSpPr/>
          <p:nvPr/>
        </p:nvSpPr>
        <p:spPr>
          <a:xfrm flipV="1">
            <a:off x="5866039" y="2324663"/>
            <a:ext cx="49802" cy="4311"/>
          </a:xfrm>
          <a:prstGeom prst="line">
            <a:avLst/>
          </a:prstGeom>
          <a:noFill/>
          <a:ln w="31750">
            <a:solidFill>
              <a:srgbClr val="2F6DB5"/>
            </a:solidFill>
            <a:prstDash val="solid"/>
          </a:ln>
        </p:spPr>
      </p:sp>
      <p:sp>
        <p:nvSpPr>
          <p:cNvPr id="313" name="Shape 311"/>
          <p:cNvSpPr/>
          <p:nvPr/>
        </p:nvSpPr>
        <p:spPr>
          <a:xfrm flipV="1">
            <a:off x="5915841" y="2319804"/>
            <a:ext cx="49802" cy="4859"/>
          </a:xfrm>
          <a:prstGeom prst="line">
            <a:avLst/>
          </a:prstGeom>
          <a:noFill/>
          <a:ln w="31750">
            <a:solidFill>
              <a:srgbClr val="2F6DB5"/>
            </a:solidFill>
            <a:prstDash val="solid"/>
          </a:ln>
        </p:spPr>
      </p:sp>
      <p:sp>
        <p:nvSpPr>
          <p:cNvPr id="314" name="Shape 312"/>
          <p:cNvSpPr/>
          <p:nvPr/>
        </p:nvSpPr>
        <p:spPr>
          <a:xfrm flipV="1">
            <a:off x="5965644" y="2314361"/>
            <a:ext cx="49802" cy="5443"/>
          </a:xfrm>
          <a:prstGeom prst="line">
            <a:avLst/>
          </a:prstGeom>
          <a:noFill/>
          <a:ln w="31750">
            <a:solidFill>
              <a:srgbClr val="2F6DB5"/>
            </a:solidFill>
            <a:prstDash val="solid"/>
          </a:ln>
        </p:spPr>
      </p:sp>
      <p:sp>
        <p:nvSpPr>
          <p:cNvPr id="315" name="Shape 313"/>
          <p:cNvSpPr/>
          <p:nvPr/>
        </p:nvSpPr>
        <p:spPr>
          <a:xfrm flipV="1">
            <a:off x="6015446" y="2308303"/>
            <a:ext cx="49802" cy="6058"/>
          </a:xfrm>
          <a:prstGeom prst="line">
            <a:avLst/>
          </a:prstGeom>
          <a:noFill/>
          <a:ln w="31750">
            <a:solidFill>
              <a:srgbClr val="2F6DB5"/>
            </a:solidFill>
            <a:prstDash val="solid"/>
          </a:ln>
        </p:spPr>
      </p:sp>
      <p:sp>
        <p:nvSpPr>
          <p:cNvPr id="316" name="Shape 314"/>
          <p:cNvSpPr/>
          <p:nvPr/>
        </p:nvSpPr>
        <p:spPr>
          <a:xfrm flipV="1">
            <a:off x="6065248" y="2301604"/>
            <a:ext cx="49802" cy="6700"/>
          </a:xfrm>
          <a:prstGeom prst="line">
            <a:avLst/>
          </a:prstGeom>
          <a:noFill/>
          <a:ln w="31750">
            <a:solidFill>
              <a:srgbClr val="2F6DB5"/>
            </a:solidFill>
            <a:prstDash val="solid"/>
          </a:ln>
        </p:spPr>
      </p:sp>
      <p:sp>
        <p:nvSpPr>
          <p:cNvPr id="317" name="Shape 315"/>
          <p:cNvSpPr/>
          <p:nvPr/>
        </p:nvSpPr>
        <p:spPr>
          <a:xfrm flipV="1">
            <a:off x="6115050" y="2294243"/>
            <a:ext cx="49802" cy="7361"/>
          </a:xfrm>
          <a:prstGeom prst="line">
            <a:avLst/>
          </a:prstGeom>
          <a:noFill/>
          <a:ln w="31750">
            <a:solidFill>
              <a:srgbClr val="2F6DB5"/>
            </a:solidFill>
            <a:prstDash val="solid"/>
          </a:ln>
        </p:spPr>
      </p:sp>
      <p:sp>
        <p:nvSpPr>
          <p:cNvPr id="318" name="Shape 316"/>
          <p:cNvSpPr/>
          <p:nvPr/>
        </p:nvSpPr>
        <p:spPr>
          <a:xfrm flipV="1">
            <a:off x="6164852" y="2286209"/>
            <a:ext cx="49802" cy="8034"/>
          </a:xfrm>
          <a:prstGeom prst="line">
            <a:avLst/>
          </a:prstGeom>
          <a:noFill/>
          <a:ln w="31750">
            <a:solidFill>
              <a:srgbClr val="2F6DB5"/>
            </a:solidFill>
            <a:prstDash val="solid"/>
          </a:ln>
        </p:spPr>
      </p:sp>
      <p:sp>
        <p:nvSpPr>
          <p:cNvPr id="319" name="Shape 317"/>
          <p:cNvSpPr/>
          <p:nvPr/>
        </p:nvSpPr>
        <p:spPr>
          <a:xfrm flipV="1">
            <a:off x="6214654" y="2277500"/>
            <a:ext cx="49802" cy="8709"/>
          </a:xfrm>
          <a:prstGeom prst="line">
            <a:avLst/>
          </a:prstGeom>
          <a:noFill/>
          <a:ln w="31750">
            <a:solidFill>
              <a:srgbClr val="2F6DB5"/>
            </a:solidFill>
            <a:prstDash val="solid"/>
          </a:ln>
        </p:spPr>
      </p:sp>
      <p:sp>
        <p:nvSpPr>
          <p:cNvPr id="320" name="Shape 318"/>
          <p:cNvSpPr/>
          <p:nvPr/>
        </p:nvSpPr>
        <p:spPr>
          <a:xfrm flipV="1">
            <a:off x="6264456" y="2268123"/>
            <a:ext cx="49802" cy="9376"/>
          </a:xfrm>
          <a:prstGeom prst="line">
            <a:avLst/>
          </a:prstGeom>
          <a:noFill/>
          <a:ln w="31750">
            <a:solidFill>
              <a:srgbClr val="2F6DB5"/>
            </a:solidFill>
            <a:prstDash val="solid"/>
          </a:ln>
        </p:spPr>
      </p:sp>
      <p:sp>
        <p:nvSpPr>
          <p:cNvPr id="321" name="Shape 319"/>
          <p:cNvSpPr/>
          <p:nvPr/>
        </p:nvSpPr>
        <p:spPr>
          <a:xfrm flipV="1">
            <a:off x="6314259" y="2258100"/>
            <a:ext cx="49802" cy="10023"/>
          </a:xfrm>
          <a:prstGeom prst="line">
            <a:avLst/>
          </a:prstGeom>
          <a:noFill/>
          <a:ln w="31750">
            <a:solidFill>
              <a:srgbClr val="2F6DB5"/>
            </a:solidFill>
            <a:prstDash val="solid"/>
          </a:ln>
        </p:spPr>
      </p:sp>
      <p:sp>
        <p:nvSpPr>
          <p:cNvPr id="322" name="Shape 320"/>
          <p:cNvSpPr/>
          <p:nvPr/>
        </p:nvSpPr>
        <p:spPr>
          <a:xfrm flipV="1">
            <a:off x="6364061" y="2247462"/>
            <a:ext cx="49802" cy="10638"/>
          </a:xfrm>
          <a:prstGeom prst="line">
            <a:avLst/>
          </a:prstGeom>
          <a:noFill/>
          <a:ln w="31750">
            <a:solidFill>
              <a:srgbClr val="2F6DB5"/>
            </a:solidFill>
            <a:prstDash val="solid"/>
          </a:ln>
        </p:spPr>
      </p:sp>
      <p:sp>
        <p:nvSpPr>
          <p:cNvPr id="323" name="Shape 321"/>
          <p:cNvSpPr/>
          <p:nvPr/>
        </p:nvSpPr>
        <p:spPr>
          <a:xfrm flipV="1">
            <a:off x="6413863" y="2236257"/>
            <a:ext cx="49802" cy="11205"/>
          </a:xfrm>
          <a:prstGeom prst="line">
            <a:avLst/>
          </a:prstGeom>
          <a:noFill/>
          <a:ln w="31750">
            <a:solidFill>
              <a:srgbClr val="2F6DB5"/>
            </a:solidFill>
            <a:prstDash val="solid"/>
          </a:ln>
        </p:spPr>
      </p:sp>
      <p:sp>
        <p:nvSpPr>
          <p:cNvPr id="324" name="Shape 322"/>
          <p:cNvSpPr/>
          <p:nvPr/>
        </p:nvSpPr>
        <p:spPr>
          <a:xfrm flipV="1">
            <a:off x="6463665" y="2224545"/>
            <a:ext cx="49802" cy="11712"/>
          </a:xfrm>
          <a:prstGeom prst="line">
            <a:avLst/>
          </a:prstGeom>
          <a:noFill/>
          <a:ln w="31750">
            <a:solidFill>
              <a:srgbClr val="2F6DB5"/>
            </a:solidFill>
            <a:prstDash val="solid"/>
          </a:ln>
        </p:spPr>
      </p:sp>
      <p:sp>
        <p:nvSpPr>
          <p:cNvPr id="325" name="Shape 323"/>
          <p:cNvSpPr/>
          <p:nvPr/>
        </p:nvSpPr>
        <p:spPr>
          <a:xfrm flipV="1">
            <a:off x="6513467" y="2212400"/>
            <a:ext cx="49802" cy="12144"/>
          </a:xfrm>
          <a:prstGeom prst="line">
            <a:avLst/>
          </a:prstGeom>
          <a:noFill/>
          <a:ln w="31750">
            <a:solidFill>
              <a:srgbClr val="2F6DB5"/>
            </a:solidFill>
            <a:prstDash val="solid"/>
          </a:ln>
        </p:spPr>
      </p:sp>
      <p:sp>
        <p:nvSpPr>
          <p:cNvPr id="326" name="Shape 324"/>
          <p:cNvSpPr/>
          <p:nvPr/>
        </p:nvSpPr>
        <p:spPr>
          <a:xfrm flipV="1">
            <a:off x="6563269" y="2199913"/>
            <a:ext cx="49802" cy="12487"/>
          </a:xfrm>
          <a:prstGeom prst="line">
            <a:avLst/>
          </a:prstGeom>
          <a:noFill/>
          <a:ln w="31750">
            <a:solidFill>
              <a:srgbClr val="2F6DB5"/>
            </a:solidFill>
            <a:prstDash val="solid"/>
          </a:ln>
        </p:spPr>
      </p:sp>
      <p:sp>
        <p:nvSpPr>
          <p:cNvPr id="327" name="Shape 325"/>
          <p:cNvSpPr/>
          <p:nvPr/>
        </p:nvSpPr>
        <p:spPr>
          <a:xfrm flipV="1">
            <a:off x="6613071" y="2187185"/>
            <a:ext cx="49802" cy="12728"/>
          </a:xfrm>
          <a:prstGeom prst="line">
            <a:avLst/>
          </a:prstGeom>
          <a:noFill/>
          <a:ln w="31750">
            <a:solidFill>
              <a:srgbClr val="2F6DB5"/>
            </a:solidFill>
            <a:prstDash val="solid"/>
          </a:ln>
        </p:spPr>
      </p:sp>
      <p:sp>
        <p:nvSpPr>
          <p:cNvPr id="328" name="Shape 326"/>
          <p:cNvSpPr/>
          <p:nvPr/>
        </p:nvSpPr>
        <p:spPr>
          <a:xfrm flipV="1">
            <a:off x="6662874" y="2174331"/>
            <a:ext cx="49802" cy="12853"/>
          </a:xfrm>
          <a:prstGeom prst="line">
            <a:avLst/>
          </a:prstGeom>
          <a:noFill/>
          <a:ln w="31750">
            <a:solidFill>
              <a:srgbClr val="2F6DB5"/>
            </a:solidFill>
            <a:prstDash val="solid"/>
          </a:ln>
        </p:spPr>
      </p:sp>
      <p:sp>
        <p:nvSpPr>
          <p:cNvPr id="329" name="Shape 327"/>
          <p:cNvSpPr/>
          <p:nvPr/>
        </p:nvSpPr>
        <p:spPr>
          <a:xfrm flipV="1">
            <a:off x="6712676" y="2161479"/>
            <a:ext cx="49802" cy="12853"/>
          </a:xfrm>
          <a:prstGeom prst="line">
            <a:avLst/>
          </a:prstGeom>
          <a:noFill/>
          <a:ln w="31750">
            <a:solidFill>
              <a:srgbClr val="2F6DB5"/>
            </a:solidFill>
            <a:prstDash val="solid"/>
          </a:ln>
        </p:spPr>
      </p:sp>
      <p:sp>
        <p:nvSpPr>
          <p:cNvPr id="330" name="Shape 328"/>
          <p:cNvSpPr/>
          <p:nvPr/>
        </p:nvSpPr>
        <p:spPr>
          <a:xfrm flipV="1">
            <a:off x="6762478" y="2148762"/>
            <a:ext cx="49802" cy="12716"/>
          </a:xfrm>
          <a:prstGeom prst="line">
            <a:avLst/>
          </a:prstGeom>
          <a:noFill/>
          <a:ln w="31750">
            <a:solidFill>
              <a:srgbClr val="2F6DB5"/>
            </a:solidFill>
            <a:prstDash val="solid"/>
          </a:ln>
        </p:spPr>
      </p:sp>
      <p:sp>
        <p:nvSpPr>
          <p:cNvPr id="331" name="Shape 329"/>
          <p:cNvSpPr/>
          <p:nvPr/>
        </p:nvSpPr>
        <p:spPr>
          <a:xfrm>
            <a:off x="1234440" y="2391018"/>
            <a:ext cx="49802" cy="1106"/>
          </a:xfrm>
          <a:prstGeom prst="line">
            <a:avLst/>
          </a:prstGeom>
          <a:noFill/>
          <a:ln w="31750">
            <a:solidFill>
              <a:srgbClr val="7B3FA0"/>
            </a:solidFill>
            <a:prstDash val="solid"/>
          </a:ln>
        </p:spPr>
      </p:sp>
      <p:sp>
        <p:nvSpPr>
          <p:cNvPr id="332" name="Shape 330"/>
          <p:cNvSpPr/>
          <p:nvPr/>
        </p:nvSpPr>
        <p:spPr>
          <a:xfrm>
            <a:off x="1284242" y="2392125"/>
            <a:ext cx="49802" cy="1003"/>
          </a:xfrm>
          <a:prstGeom prst="line">
            <a:avLst/>
          </a:prstGeom>
          <a:noFill/>
          <a:ln w="31750">
            <a:solidFill>
              <a:srgbClr val="7B3FA0"/>
            </a:solidFill>
            <a:prstDash val="solid"/>
          </a:ln>
        </p:spPr>
      </p:sp>
      <p:sp>
        <p:nvSpPr>
          <p:cNvPr id="333" name="Shape 331"/>
          <p:cNvSpPr/>
          <p:nvPr/>
        </p:nvSpPr>
        <p:spPr>
          <a:xfrm>
            <a:off x="1334044" y="2393127"/>
            <a:ext cx="49802" cy="904"/>
          </a:xfrm>
          <a:prstGeom prst="line">
            <a:avLst/>
          </a:prstGeom>
          <a:noFill/>
          <a:ln w="31750">
            <a:solidFill>
              <a:srgbClr val="7B3FA0"/>
            </a:solidFill>
            <a:prstDash val="solid"/>
          </a:ln>
        </p:spPr>
      </p:sp>
      <p:sp>
        <p:nvSpPr>
          <p:cNvPr id="334" name="Shape 332"/>
          <p:cNvSpPr/>
          <p:nvPr/>
        </p:nvSpPr>
        <p:spPr>
          <a:xfrm>
            <a:off x="1383846" y="2394032"/>
            <a:ext cx="49802" cy="811"/>
          </a:xfrm>
          <a:prstGeom prst="line">
            <a:avLst/>
          </a:prstGeom>
          <a:noFill/>
          <a:ln w="31750">
            <a:solidFill>
              <a:srgbClr val="7B3FA0"/>
            </a:solidFill>
            <a:prstDash val="solid"/>
          </a:ln>
        </p:spPr>
      </p:sp>
      <p:sp>
        <p:nvSpPr>
          <p:cNvPr id="335" name="Shape 333"/>
          <p:cNvSpPr/>
          <p:nvPr/>
        </p:nvSpPr>
        <p:spPr>
          <a:xfrm>
            <a:off x="1433649" y="2394843"/>
            <a:ext cx="49802" cy="725"/>
          </a:xfrm>
          <a:prstGeom prst="line">
            <a:avLst/>
          </a:prstGeom>
          <a:noFill/>
          <a:ln w="31750">
            <a:solidFill>
              <a:srgbClr val="7B3FA0"/>
            </a:solidFill>
            <a:prstDash val="solid"/>
          </a:ln>
        </p:spPr>
      </p:sp>
      <p:sp>
        <p:nvSpPr>
          <p:cNvPr id="336" name="Shape 334"/>
          <p:cNvSpPr/>
          <p:nvPr/>
        </p:nvSpPr>
        <p:spPr>
          <a:xfrm>
            <a:off x="1483451" y="2395568"/>
            <a:ext cx="49802" cy="644"/>
          </a:xfrm>
          <a:prstGeom prst="line">
            <a:avLst/>
          </a:prstGeom>
          <a:noFill/>
          <a:ln w="31750">
            <a:solidFill>
              <a:srgbClr val="7B3FA0"/>
            </a:solidFill>
            <a:prstDash val="solid"/>
          </a:ln>
        </p:spPr>
      </p:sp>
      <p:sp>
        <p:nvSpPr>
          <p:cNvPr id="337" name="Shape 335"/>
          <p:cNvSpPr/>
          <p:nvPr/>
        </p:nvSpPr>
        <p:spPr>
          <a:xfrm>
            <a:off x="1533253" y="2396212"/>
            <a:ext cx="49802" cy="570"/>
          </a:xfrm>
          <a:prstGeom prst="line">
            <a:avLst/>
          </a:prstGeom>
          <a:noFill/>
          <a:ln w="31750">
            <a:solidFill>
              <a:srgbClr val="7B3FA0"/>
            </a:solidFill>
            <a:prstDash val="solid"/>
          </a:ln>
        </p:spPr>
      </p:sp>
      <p:sp>
        <p:nvSpPr>
          <p:cNvPr id="338" name="Shape 336"/>
          <p:cNvSpPr/>
          <p:nvPr/>
        </p:nvSpPr>
        <p:spPr>
          <a:xfrm>
            <a:off x="1583055" y="2396782"/>
            <a:ext cx="49802" cy="502"/>
          </a:xfrm>
          <a:prstGeom prst="line">
            <a:avLst/>
          </a:prstGeom>
          <a:noFill/>
          <a:ln w="31750">
            <a:solidFill>
              <a:srgbClr val="7B3FA0"/>
            </a:solidFill>
            <a:prstDash val="solid"/>
          </a:ln>
        </p:spPr>
      </p:sp>
      <p:sp>
        <p:nvSpPr>
          <p:cNvPr id="339" name="Shape 337"/>
          <p:cNvSpPr/>
          <p:nvPr/>
        </p:nvSpPr>
        <p:spPr>
          <a:xfrm>
            <a:off x="1632857" y="2397284"/>
            <a:ext cx="49802" cy="440"/>
          </a:xfrm>
          <a:prstGeom prst="line">
            <a:avLst/>
          </a:prstGeom>
          <a:noFill/>
          <a:ln w="31750">
            <a:solidFill>
              <a:srgbClr val="7B3FA0"/>
            </a:solidFill>
            <a:prstDash val="solid"/>
          </a:ln>
        </p:spPr>
      </p:sp>
      <p:sp>
        <p:nvSpPr>
          <p:cNvPr id="340" name="Shape 338"/>
          <p:cNvSpPr/>
          <p:nvPr/>
        </p:nvSpPr>
        <p:spPr>
          <a:xfrm>
            <a:off x="1682659" y="2397724"/>
            <a:ext cx="49802" cy="384"/>
          </a:xfrm>
          <a:prstGeom prst="line">
            <a:avLst/>
          </a:prstGeom>
          <a:noFill/>
          <a:ln w="31750">
            <a:solidFill>
              <a:srgbClr val="7B3FA0"/>
            </a:solidFill>
            <a:prstDash val="solid"/>
          </a:ln>
        </p:spPr>
      </p:sp>
      <p:sp>
        <p:nvSpPr>
          <p:cNvPr id="341" name="Shape 339"/>
          <p:cNvSpPr/>
          <p:nvPr/>
        </p:nvSpPr>
        <p:spPr>
          <a:xfrm>
            <a:off x="1732461" y="2398108"/>
            <a:ext cx="49802" cy="333"/>
          </a:xfrm>
          <a:prstGeom prst="line">
            <a:avLst/>
          </a:prstGeom>
          <a:noFill/>
          <a:ln w="31750">
            <a:solidFill>
              <a:srgbClr val="7B3FA0"/>
            </a:solidFill>
            <a:prstDash val="solid"/>
          </a:ln>
        </p:spPr>
      </p:sp>
      <p:sp>
        <p:nvSpPr>
          <p:cNvPr id="342" name="Shape 340"/>
          <p:cNvSpPr/>
          <p:nvPr/>
        </p:nvSpPr>
        <p:spPr>
          <a:xfrm>
            <a:off x="1782264" y="2398441"/>
            <a:ext cx="49802" cy="288"/>
          </a:xfrm>
          <a:prstGeom prst="line">
            <a:avLst/>
          </a:prstGeom>
          <a:noFill/>
          <a:ln w="31750">
            <a:solidFill>
              <a:srgbClr val="7B3FA0"/>
            </a:solidFill>
            <a:prstDash val="solid"/>
          </a:ln>
        </p:spPr>
      </p:sp>
      <p:sp>
        <p:nvSpPr>
          <p:cNvPr id="343" name="Shape 341"/>
          <p:cNvSpPr/>
          <p:nvPr/>
        </p:nvSpPr>
        <p:spPr>
          <a:xfrm>
            <a:off x="1832066" y="2398729"/>
            <a:ext cx="49802" cy="247"/>
          </a:xfrm>
          <a:prstGeom prst="line">
            <a:avLst/>
          </a:prstGeom>
          <a:noFill/>
          <a:ln w="31750">
            <a:solidFill>
              <a:srgbClr val="7B3FA0"/>
            </a:solidFill>
            <a:prstDash val="solid"/>
          </a:ln>
        </p:spPr>
      </p:sp>
      <p:sp>
        <p:nvSpPr>
          <p:cNvPr id="344" name="Shape 342"/>
          <p:cNvSpPr/>
          <p:nvPr/>
        </p:nvSpPr>
        <p:spPr>
          <a:xfrm>
            <a:off x="1881868" y="2398976"/>
            <a:ext cx="49802" cy="211"/>
          </a:xfrm>
          <a:prstGeom prst="line">
            <a:avLst/>
          </a:prstGeom>
          <a:noFill/>
          <a:ln w="31750">
            <a:solidFill>
              <a:srgbClr val="7B3FA0"/>
            </a:solidFill>
            <a:prstDash val="solid"/>
          </a:ln>
        </p:spPr>
      </p:sp>
      <p:sp>
        <p:nvSpPr>
          <p:cNvPr id="345" name="Shape 343"/>
          <p:cNvSpPr/>
          <p:nvPr/>
        </p:nvSpPr>
        <p:spPr>
          <a:xfrm>
            <a:off x="1931670" y="2399186"/>
            <a:ext cx="49802" cy="179"/>
          </a:xfrm>
          <a:prstGeom prst="line">
            <a:avLst/>
          </a:prstGeom>
          <a:noFill/>
          <a:ln w="31750">
            <a:solidFill>
              <a:srgbClr val="7B3FA0"/>
            </a:solidFill>
            <a:prstDash val="solid"/>
          </a:ln>
        </p:spPr>
      </p:sp>
      <p:sp>
        <p:nvSpPr>
          <p:cNvPr id="346" name="Shape 344"/>
          <p:cNvSpPr/>
          <p:nvPr/>
        </p:nvSpPr>
        <p:spPr>
          <a:xfrm>
            <a:off x="1981472" y="2399365"/>
            <a:ext cx="49802" cy="150"/>
          </a:xfrm>
          <a:prstGeom prst="line">
            <a:avLst/>
          </a:prstGeom>
          <a:noFill/>
          <a:ln w="31750">
            <a:solidFill>
              <a:srgbClr val="7B3FA0"/>
            </a:solidFill>
            <a:prstDash val="solid"/>
          </a:ln>
        </p:spPr>
      </p:sp>
      <p:sp>
        <p:nvSpPr>
          <p:cNvPr id="347" name="Shape 345"/>
          <p:cNvSpPr/>
          <p:nvPr/>
        </p:nvSpPr>
        <p:spPr>
          <a:xfrm>
            <a:off x="2031274" y="2399515"/>
            <a:ext cx="49802" cy="125"/>
          </a:xfrm>
          <a:prstGeom prst="line">
            <a:avLst/>
          </a:prstGeom>
          <a:noFill/>
          <a:ln w="31750">
            <a:solidFill>
              <a:srgbClr val="7B3FA0"/>
            </a:solidFill>
            <a:prstDash val="solid"/>
          </a:ln>
        </p:spPr>
      </p:sp>
      <p:sp>
        <p:nvSpPr>
          <p:cNvPr id="348" name="Shape 346"/>
          <p:cNvSpPr/>
          <p:nvPr/>
        </p:nvSpPr>
        <p:spPr>
          <a:xfrm>
            <a:off x="2081076" y="2399640"/>
            <a:ext cx="49802" cy="103"/>
          </a:xfrm>
          <a:prstGeom prst="line">
            <a:avLst/>
          </a:prstGeom>
          <a:noFill/>
          <a:ln w="31750">
            <a:solidFill>
              <a:srgbClr val="7B3FA0"/>
            </a:solidFill>
            <a:prstDash val="solid"/>
          </a:ln>
        </p:spPr>
      </p:sp>
      <p:sp>
        <p:nvSpPr>
          <p:cNvPr id="349" name="Shape 347"/>
          <p:cNvSpPr/>
          <p:nvPr/>
        </p:nvSpPr>
        <p:spPr>
          <a:xfrm>
            <a:off x="2130879" y="2399743"/>
            <a:ext cx="49802" cy="83"/>
          </a:xfrm>
          <a:prstGeom prst="line">
            <a:avLst/>
          </a:prstGeom>
          <a:noFill/>
          <a:ln w="31750">
            <a:solidFill>
              <a:srgbClr val="7B3FA0"/>
            </a:solidFill>
            <a:prstDash val="solid"/>
          </a:ln>
        </p:spPr>
      </p:sp>
      <p:sp>
        <p:nvSpPr>
          <p:cNvPr id="350" name="Shape 348"/>
          <p:cNvSpPr/>
          <p:nvPr/>
        </p:nvSpPr>
        <p:spPr>
          <a:xfrm>
            <a:off x="2180681" y="2399826"/>
            <a:ext cx="49802" cy="65"/>
          </a:xfrm>
          <a:prstGeom prst="line">
            <a:avLst/>
          </a:prstGeom>
          <a:noFill/>
          <a:ln w="31750">
            <a:solidFill>
              <a:srgbClr val="7B3FA0"/>
            </a:solidFill>
            <a:prstDash val="solid"/>
          </a:ln>
        </p:spPr>
      </p:sp>
      <p:sp>
        <p:nvSpPr>
          <p:cNvPr id="351" name="Shape 349"/>
          <p:cNvSpPr/>
          <p:nvPr/>
        </p:nvSpPr>
        <p:spPr>
          <a:xfrm>
            <a:off x="2230483" y="2399891"/>
            <a:ext cx="49802" cy="49"/>
          </a:xfrm>
          <a:prstGeom prst="line">
            <a:avLst/>
          </a:prstGeom>
          <a:noFill/>
          <a:ln w="31750">
            <a:solidFill>
              <a:srgbClr val="7B3FA0"/>
            </a:solidFill>
            <a:prstDash val="solid"/>
          </a:ln>
        </p:spPr>
      </p:sp>
      <p:sp>
        <p:nvSpPr>
          <p:cNvPr id="352" name="Shape 350"/>
          <p:cNvSpPr/>
          <p:nvPr/>
        </p:nvSpPr>
        <p:spPr>
          <a:xfrm>
            <a:off x="2280285" y="2399939"/>
            <a:ext cx="49802" cy="34"/>
          </a:xfrm>
          <a:prstGeom prst="line">
            <a:avLst/>
          </a:prstGeom>
          <a:noFill/>
          <a:ln w="31750">
            <a:solidFill>
              <a:srgbClr val="7B3FA0"/>
            </a:solidFill>
            <a:prstDash val="solid"/>
          </a:ln>
        </p:spPr>
      </p:sp>
      <p:sp>
        <p:nvSpPr>
          <p:cNvPr id="353" name="Shape 351"/>
          <p:cNvSpPr/>
          <p:nvPr/>
        </p:nvSpPr>
        <p:spPr>
          <a:xfrm>
            <a:off x="2330087" y="2399973"/>
            <a:ext cx="49802" cy="20"/>
          </a:xfrm>
          <a:prstGeom prst="line">
            <a:avLst/>
          </a:prstGeom>
          <a:noFill/>
          <a:ln w="31750">
            <a:solidFill>
              <a:srgbClr val="7B3FA0"/>
            </a:solidFill>
            <a:prstDash val="solid"/>
          </a:ln>
        </p:spPr>
      </p:sp>
      <p:sp>
        <p:nvSpPr>
          <p:cNvPr id="354" name="Shape 352"/>
          <p:cNvSpPr/>
          <p:nvPr/>
        </p:nvSpPr>
        <p:spPr>
          <a:xfrm>
            <a:off x="2379889" y="2399993"/>
            <a:ext cx="49802" cy="7"/>
          </a:xfrm>
          <a:prstGeom prst="line">
            <a:avLst/>
          </a:prstGeom>
          <a:noFill/>
          <a:ln w="31750">
            <a:solidFill>
              <a:srgbClr val="7B3FA0"/>
            </a:solidFill>
            <a:prstDash val="solid"/>
          </a:ln>
        </p:spPr>
      </p:sp>
      <p:sp>
        <p:nvSpPr>
          <p:cNvPr id="355" name="Shape 353"/>
          <p:cNvSpPr/>
          <p:nvPr/>
        </p:nvSpPr>
        <p:spPr>
          <a:xfrm flipV="1">
            <a:off x="2429691" y="2399993"/>
            <a:ext cx="49802" cy="7"/>
          </a:xfrm>
          <a:prstGeom prst="line">
            <a:avLst/>
          </a:prstGeom>
          <a:noFill/>
          <a:ln w="31750">
            <a:solidFill>
              <a:srgbClr val="7B3FA0"/>
            </a:solidFill>
            <a:prstDash val="solid"/>
          </a:ln>
        </p:spPr>
      </p:sp>
      <p:sp>
        <p:nvSpPr>
          <p:cNvPr id="356" name="Shape 354"/>
          <p:cNvSpPr/>
          <p:nvPr/>
        </p:nvSpPr>
        <p:spPr>
          <a:xfrm flipV="1">
            <a:off x="2479494" y="2399973"/>
            <a:ext cx="49802" cy="20"/>
          </a:xfrm>
          <a:prstGeom prst="line">
            <a:avLst/>
          </a:prstGeom>
          <a:noFill/>
          <a:ln w="31750">
            <a:solidFill>
              <a:srgbClr val="7B3FA0"/>
            </a:solidFill>
            <a:prstDash val="solid"/>
          </a:ln>
        </p:spPr>
      </p:sp>
      <p:sp>
        <p:nvSpPr>
          <p:cNvPr id="357" name="Shape 355"/>
          <p:cNvSpPr/>
          <p:nvPr/>
        </p:nvSpPr>
        <p:spPr>
          <a:xfrm flipV="1">
            <a:off x="2529296" y="2399939"/>
            <a:ext cx="49802" cy="34"/>
          </a:xfrm>
          <a:prstGeom prst="line">
            <a:avLst/>
          </a:prstGeom>
          <a:noFill/>
          <a:ln w="31750">
            <a:solidFill>
              <a:srgbClr val="7B3FA0"/>
            </a:solidFill>
            <a:prstDash val="solid"/>
          </a:ln>
        </p:spPr>
      </p:sp>
      <p:sp>
        <p:nvSpPr>
          <p:cNvPr id="358" name="Shape 356"/>
          <p:cNvSpPr/>
          <p:nvPr/>
        </p:nvSpPr>
        <p:spPr>
          <a:xfrm flipV="1">
            <a:off x="2579098" y="2399891"/>
            <a:ext cx="49802" cy="49"/>
          </a:xfrm>
          <a:prstGeom prst="line">
            <a:avLst/>
          </a:prstGeom>
          <a:noFill/>
          <a:ln w="31750">
            <a:solidFill>
              <a:srgbClr val="7B3FA0"/>
            </a:solidFill>
            <a:prstDash val="solid"/>
          </a:ln>
        </p:spPr>
      </p:sp>
      <p:sp>
        <p:nvSpPr>
          <p:cNvPr id="359" name="Shape 357"/>
          <p:cNvSpPr/>
          <p:nvPr/>
        </p:nvSpPr>
        <p:spPr>
          <a:xfrm flipV="1">
            <a:off x="2628900" y="2399826"/>
            <a:ext cx="49802" cy="65"/>
          </a:xfrm>
          <a:prstGeom prst="line">
            <a:avLst/>
          </a:prstGeom>
          <a:noFill/>
          <a:ln w="31750">
            <a:solidFill>
              <a:srgbClr val="7B3FA0"/>
            </a:solidFill>
            <a:prstDash val="solid"/>
          </a:ln>
        </p:spPr>
      </p:sp>
      <p:sp>
        <p:nvSpPr>
          <p:cNvPr id="360" name="Shape 358"/>
          <p:cNvSpPr/>
          <p:nvPr/>
        </p:nvSpPr>
        <p:spPr>
          <a:xfrm flipV="1">
            <a:off x="2678702" y="2399743"/>
            <a:ext cx="49802" cy="83"/>
          </a:xfrm>
          <a:prstGeom prst="line">
            <a:avLst/>
          </a:prstGeom>
          <a:noFill/>
          <a:ln w="31750">
            <a:solidFill>
              <a:srgbClr val="7B3FA0"/>
            </a:solidFill>
            <a:prstDash val="solid"/>
          </a:ln>
        </p:spPr>
      </p:sp>
      <p:sp>
        <p:nvSpPr>
          <p:cNvPr id="361" name="Shape 359"/>
          <p:cNvSpPr/>
          <p:nvPr/>
        </p:nvSpPr>
        <p:spPr>
          <a:xfrm flipV="1">
            <a:off x="2728504" y="2399640"/>
            <a:ext cx="49802" cy="103"/>
          </a:xfrm>
          <a:prstGeom prst="line">
            <a:avLst/>
          </a:prstGeom>
          <a:noFill/>
          <a:ln w="31750">
            <a:solidFill>
              <a:srgbClr val="7B3FA0"/>
            </a:solidFill>
            <a:prstDash val="solid"/>
          </a:ln>
        </p:spPr>
      </p:sp>
      <p:sp>
        <p:nvSpPr>
          <p:cNvPr id="362" name="Shape 360"/>
          <p:cNvSpPr/>
          <p:nvPr/>
        </p:nvSpPr>
        <p:spPr>
          <a:xfrm flipV="1">
            <a:off x="2778306" y="2399515"/>
            <a:ext cx="49802" cy="125"/>
          </a:xfrm>
          <a:prstGeom prst="line">
            <a:avLst/>
          </a:prstGeom>
          <a:noFill/>
          <a:ln w="31750">
            <a:solidFill>
              <a:srgbClr val="7B3FA0"/>
            </a:solidFill>
            <a:prstDash val="solid"/>
          </a:ln>
        </p:spPr>
      </p:sp>
      <p:sp>
        <p:nvSpPr>
          <p:cNvPr id="363" name="Shape 361"/>
          <p:cNvSpPr/>
          <p:nvPr/>
        </p:nvSpPr>
        <p:spPr>
          <a:xfrm flipV="1">
            <a:off x="2828109" y="2399365"/>
            <a:ext cx="49802" cy="150"/>
          </a:xfrm>
          <a:prstGeom prst="line">
            <a:avLst/>
          </a:prstGeom>
          <a:noFill/>
          <a:ln w="31750">
            <a:solidFill>
              <a:srgbClr val="7B3FA0"/>
            </a:solidFill>
            <a:prstDash val="solid"/>
          </a:ln>
        </p:spPr>
      </p:sp>
      <p:sp>
        <p:nvSpPr>
          <p:cNvPr id="364" name="Shape 362"/>
          <p:cNvSpPr/>
          <p:nvPr/>
        </p:nvSpPr>
        <p:spPr>
          <a:xfrm flipV="1">
            <a:off x="2877911" y="2399186"/>
            <a:ext cx="49802" cy="179"/>
          </a:xfrm>
          <a:prstGeom prst="line">
            <a:avLst/>
          </a:prstGeom>
          <a:noFill/>
          <a:ln w="31750">
            <a:solidFill>
              <a:srgbClr val="7B3FA0"/>
            </a:solidFill>
            <a:prstDash val="solid"/>
          </a:ln>
        </p:spPr>
      </p:sp>
      <p:sp>
        <p:nvSpPr>
          <p:cNvPr id="365" name="Shape 363"/>
          <p:cNvSpPr/>
          <p:nvPr/>
        </p:nvSpPr>
        <p:spPr>
          <a:xfrm flipV="1">
            <a:off x="2927713" y="2398975"/>
            <a:ext cx="49802" cy="211"/>
          </a:xfrm>
          <a:prstGeom prst="line">
            <a:avLst/>
          </a:prstGeom>
          <a:noFill/>
          <a:ln w="31750">
            <a:solidFill>
              <a:srgbClr val="7B3FA0"/>
            </a:solidFill>
            <a:prstDash val="solid"/>
          </a:ln>
        </p:spPr>
      </p:sp>
      <p:sp>
        <p:nvSpPr>
          <p:cNvPr id="366" name="Shape 364"/>
          <p:cNvSpPr/>
          <p:nvPr/>
        </p:nvSpPr>
        <p:spPr>
          <a:xfrm flipV="1">
            <a:off x="2977515" y="2398726"/>
            <a:ext cx="49802" cy="249"/>
          </a:xfrm>
          <a:prstGeom prst="line">
            <a:avLst/>
          </a:prstGeom>
          <a:noFill/>
          <a:ln w="31750">
            <a:solidFill>
              <a:srgbClr val="7B3FA0"/>
            </a:solidFill>
            <a:prstDash val="solid"/>
          </a:ln>
        </p:spPr>
      </p:sp>
      <p:sp>
        <p:nvSpPr>
          <p:cNvPr id="367" name="Shape 365"/>
          <p:cNvSpPr/>
          <p:nvPr/>
        </p:nvSpPr>
        <p:spPr>
          <a:xfrm flipV="1">
            <a:off x="3027317" y="2398433"/>
            <a:ext cx="49802" cy="294"/>
          </a:xfrm>
          <a:prstGeom prst="line">
            <a:avLst/>
          </a:prstGeom>
          <a:noFill/>
          <a:ln w="31750">
            <a:solidFill>
              <a:srgbClr val="7B3FA0"/>
            </a:solidFill>
            <a:prstDash val="solid"/>
          </a:ln>
        </p:spPr>
      </p:sp>
      <p:sp>
        <p:nvSpPr>
          <p:cNvPr id="368" name="Shape 366"/>
          <p:cNvSpPr/>
          <p:nvPr/>
        </p:nvSpPr>
        <p:spPr>
          <a:xfrm flipV="1">
            <a:off x="3077119" y="2398077"/>
            <a:ext cx="49802" cy="355"/>
          </a:xfrm>
          <a:prstGeom prst="line">
            <a:avLst/>
          </a:prstGeom>
          <a:noFill/>
          <a:ln w="31750">
            <a:solidFill>
              <a:srgbClr val="7B3FA0"/>
            </a:solidFill>
            <a:prstDash val="solid"/>
          </a:ln>
        </p:spPr>
      </p:sp>
      <p:sp>
        <p:nvSpPr>
          <p:cNvPr id="369" name="Shape 367"/>
          <p:cNvSpPr/>
          <p:nvPr/>
        </p:nvSpPr>
        <p:spPr>
          <a:xfrm flipV="1">
            <a:off x="3126921" y="2397620"/>
            <a:ext cx="49802" cy="458"/>
          </a:xfrm>
          <a:prstGeom prst="line">
            <a:avLst/>
          </a:prstGeom>
          <a:noFill/>
          <a:ln w="31750">
            <a:solidFill>
              <a:srgbClr val="7B3FA0"/>
            </a:solidFill>
            <a:prstDash val="solid"/>
          </a:ln>
        </p:spPr>
      </p:sp>
      <p:sp>
        <p:nvSpPr>
          <p:cNvPr id="370" name="Shape 368"/>
          <p:cNvSpPr/>
          <p:nvPr/>
        </p:nvSpPr>
        <p:spPr>
          <a:xfrm flipV="1">
            <a:off x="3176724" y="2396954"/>
            <a:ext cx="49802" cy="665"/>
          </a:xfrm>
          <a:prstGeom prst="line">
            <a:avLst/>
          </a:prstGeom>
          <a:noFill/>
          <a:ln w="31750">
            <a:solidFill>
              <a:srgbClr val="7B3FA0"/>
            </a:solidFill>
            <a:prstDash val="solid"/>
          </a:ln>
        </p:spPr>
      </p:sp>
      <p:sp>
        <p:nvSpPr>
          <p:cNvPr id="371" name="Shape 369"/>
          <p:cNvSpPr/>
          <p:nvPr/>
        </p:nvSpPr>
        <p:spPr>
          <a:xfrm flipV="1">
            <a:off x="3226526" y="2395818"/>
            <a:ext cx="49802" cy="1136"/>
          </a:xfrm>
          <a:prstGeom prst="line">
            <a:avLst/>
          </a:prstGeom>
          <a:noFill/>
          <a:ln w="31750">
            <a:solidFill>
              <a:srgbClr val="7B3FA0"/>
            </a:solidFill>
            <a:prstDash val="solid"/>
          </a:ln>
        </p:spPr>
      </p:sp>
      <p:sp>
        <p:nvSpPr>
          <p:cNvPr id="372" name="Shape 370"/>
          <p:cNvSpPr/>
          <p:nvPr/>
        </p:nvSpPr>
        <p:spPr>
          <a:xfrm flipV="1">
            <a:off x="3276328" y="2393604"/>
            <a:ext cx="49802" cy="2214"/>
          </a:xfrm>
          <a:prstGeom prst="line">
            <a:avLst/>
          </a:prstGeom>
          <a:noFill/>
          <a:ln w="31750">
            <a:solidFill>
              <a:srgbClr val="7B3FA0"/>
            </a:solidFill>
            <a:prstDash val="solid"/>
          </a:ln>
        </p:spPr>
      </p:sp>
      <p:sp>
        <p:nvSpPr>
          <p:cNvPr id="373" name="Shape 371"/>
          <p:cNvSpPr/>
          <p:nvPr/>
        </p:nvSpPr>
        <p:spPr>
          <a:xfrm flipV="1">
            <a:off x="3326130" y="2389036"/>
            <a:ext cx="49802" cy="4568"/>
          </a:xfrm>
          <a:prstGeom prst="line">
            <a:avLst/>
          </a:prstGeom>
          <a:noFill/>
          <a:ln w="31750">
            <a:solidFill>
              <a:srgbClr val="7B3FA0"/>
            </a:solidFill>
            <a:prstDash val="solid"/>
          </a:ln>
        </p:spPr>
      </p:sp>
      <p:sp>
        <p:nvSpPr>
          <p:cNvPr id="374" name="Shape 372"/>
          <p:cNvSpPr/>
          <p:nvPr/>
        </p:nvSpPr>
        <p:spPr>
          <a:xfrm flipV="1">
            <a:off x="3375932" y="2379697"/>
            <a:ext cx="49802" cy="9339"/>
          </a:xfrm>
          <a:prstGeom prst="line">
            <a:avLst/>
          </a:prstGeom>
          <a:noFill/>
          <a:ln w="31750">
            <a:solidFill>
              <a:srgbClr val="7B3FA0"/>
            </a:solidFill>
            <a:prstDash val="solid"/>
          </a:ln>
        </p:spPr>
      </p:sp>
      <p:sp>
        <p:nvSpPr>
          <p:cNvPr id="375" name="Shape 373"/>
          <p:cNvSpPr/>
          <p:nvPr/>
        </p:nvSpPr>
        <p:spPr>
          <a:xfrm flipV="1">
            <a:off x="3425734" y="2361519"/>
            <a:ext cx="49802" cy="18178"/>
          </a:xfrm>
          <a:prstGeom prst="line">
            <a:avLst/>
          </a:prstGeom>
          <a:noFill/>
          <a:ln w="31750">
            <a:solidFill>
              <a:srgbClr val="7B3FA0"/>
            </a:solidFill>
            <a:prstDash val="solid"/>
          </a:ln>
        </p:spPr>
      </p:sp>
      <p:sp>
        <p:nvSpPr>
          <p:cNvPr id="376" name="Shape 374"/>
          <p:cNvSpPr/>
          <p:nvPr/>
        </p:nvSpPr>
        <p:spPr>
          <a:xfrm flipV="1">
            <a:off x="3475536" y="2328518"/>
            <a:ext cx="49802" cy="33001"/>
          </a:xfrm>
          <a:prstGeom prst="line">
            <a:avLst/>
          </a:prstGeom>
          <a:noFill/>
          <a:ln w="31750">
            <a:solidFill>
              <a:srgbClr val="7B3FA0"/>
            </a:solidFill>
            <a:prstDash val="solid"/>
          </a:ln>
        </p:spPr>
      </p:sp>
      <p:sp>
        <p:nvSpPr>
          <p:cNvPr id="377" name="Shape 375"/>
          <p:cNvSpPr/>
          <p:nvPr/>
        </p:nvSpPr>
        <p:spPr>
          <a:xfrm flipV="1">
            <a:off x="3525339" y="2273266"/>
            <a:ext cx="49802" cy="55251"/>
          </a:xfrm>
          <a:prstGeom prst="line">
            <a:avLst/>
          </a:prstGeom>
          <a:noFill/>
          <a:ln w="31750">
            <a:solidFill>
              <a:srgbClr val="7B3FA0"/>
            </a:solidFill>
            <a:prstDash val="solid"/>
          </a:ln>
        </p:spPr>
      </p:sp>
      <p:sp>
        <p:nvSpPr>
          <p:cNvPr id="378" name="Shape 376"/>
          <p:cNvSpPr/>
          <p:nvPr/>
        </p:nvSpPr>
        <p:spPr>
          <a:xfrm flipV="1">
            <a:off x="3575141" y="2188599"/>
            <a:ext cx="49802" cy="84667"/>
          </a:xfrm>
          <a:prstGeom prst="line">
            <a:avLst/>
          </a:prstGeom>
          <a:noFill/>
          <a:ln w="31750">
            <a:solidFill>
              <a:srgbClr val="7B3FA0"/>
            </a:solidFill>
            <a:prstDash val="solid"/>
          </a:ln>
        </p:spPr>
      </p:sp>
      <p:sp>
        <p:nvSpPr>
          <p:cNvPr id="379" name="Shape 377"/>
          <p:cNvSpPr/>
          <p:nvPr/>
        </p:nvSpPr>
        <p:spPr>
          <a:xfrm flipV="1">
            <a:off x="3624943" y="2070676"/>
            <a:ext cx="49802" cy="117923"/>
          </a:xfrm>
          <a:prstGeom prst="line">
            <a:avLst/>
          </a:prstGeom>
          <a:noFill/>
          <a:ln w="31750">
            <a:solidFill>
              <a:srgbClr val="7B3FA0"/>
            </a:solidFill>
            <a:prstDash val="solid"/>
          </a:ln>
        </p:spPr>
      </p:sp>
      <p:sp>
        <p:nvSpPr>
          <p:cNvPr id="380" name="Shape 378"/>
          <p:cNvSpPr/>
          <p:nvPr/>
        </p:nvSpPr>
        <p:spPr>
          <a:xfrm flipV="1">
            <a:off x="3674745" y="1922713"/>
            <a:ext cx="49802" cy="147963"/>
          </a:xfrm>
          <a:prstGeom prst="line">
            <a:avLst/>
          </a:prstGeom>
          <a:noFill/>
          <a:ln w="31750">
            <a:solidFill>
              <a:srgbClr val="7B3FA0"/>
            </a:solidFill>
            <a:prstDash val="solid"/>
          </a:ln>
        </p:spPr>
      </p:sp>
      <p:sp>
        <p:nvSpPr>
          <p:cNvPr id="381" name="Shape 379"/>
          <p:cNvSpPr/>
          <p:nvPr/>
        </p:nvSpPr>
        <p:spPr>
          <a:xfrm flipV="1">
            <a:off x="3724547" y="1757735"/>
            <a:ext cx="49802" cy="164978"/>
          </a:xfrm>
          <a:prstGeom prst="line">
            <a:avLst/>
          </a:prstGeom>
          <a:noFill/>
          <a:ln w="31750">
            <a:solidFill>
              <a:srgbClr val="7B3FA0"/>
            </a:solidFill>
            <a:prstDash val="solid"/>
          </a:ln>
        </p:spPr>
      </p:sp>
      <p:sp>
        <p:nvSpPr>
          <p:cNvPr id="382" name="Shape 380"/>
          <p:cNvSpPr/>
          <p:nvPr/>
        </p:nvSpPr>
        <p:spPr>
          <a:xfrm flipV="1">
            <a:off x="3774349" y="1598360"/>
            <a:ext cx="49802" cy="159376"/>
          </a:xfrm>
          <a:prstGeom prst="line">
            <a:avLst/>
          </a:prstGeom>
          <a:noFill/>
          <a:ln w="31750">
            <a:solidFill>
              <a:srgbClr val="7B3FA0"/>
            </a:solidFill>
            <a:prstDash val="solid"/>
          </a:ln>
        </p:spPr>
      </p:sp>
      <p:sp>
        <p:nvSpPr>
          <p:cNvPr id="383" name="Shape 381"/>
          <p:cNvSpPr/>
          <p:nvPr/>
        </p:nvSpPr>
        <p:spPr>
          <a:xfrm flipV="1">
            <a:off x="3824151" y="1472396"/>
            <a:ext cx="49802" cy="125964"/>
          </a:xfrm>
          <a:prstGeom prst="line">
            <a:avLst/>
          </a:prstGeom>
          <a:noFill/>
          <a:ln w="31750">
            <a:solidFill>
              <a:srgbClr val="7B3FA0"/>
            </a:solidFill>
            <a:prstDash val="solid"/>
          </a:ln>
        </p:spPr>
      </p:sp>
      <p:sp>
        <p:nvSpPr>
          <p:cNvPr id="384" name="Shape 382"/>
          <p:cNvSpPr/>
          <p:nvPr/>
        </p:nvSpPr>
        <p:spPr>
          <a:xfrm flipV="1">
            <a:off x="3873954" y="1405055"/>
            <a:ext cx="49802" cy="67341"/>
          </a:xfrm>
          <a:prstGeom prst="line">
            <a:avLst/>
          </a:prstGeom>
          <a:noFill/>
          <a:ln w="31750">
            <a:solidFill>
              <a:srgbClr val="7B3FA0"/>
            </a:solidFill>
            <a:prstDash val="solid"/>
          </a:ln>
        </p:spPr>
      </p:sp>
      <p:sp>
        <p:nvSpPr>
          <p:cNvPr id="385" name="Shape 383"/>
          <p:cNvSpPr/>
          <p:nvPr/>
        </p:nvSpPr>
        <p:spPr>
          <a:xfrm>
            <a:off x="3923756" y="1405055"/>
            <a:ext cx="49802" cy="5591"/>
          </a:xfrm>
          <a:prstGeom prst="line">
            <a:avLst/>
          </a:prstGeom>
          <a:noFill/>
          <a:ln w="31750">
            <a:solidFill>
              <a:srgbClr val="7B3FA0"/>
            </a:solidFill>
            <a:prstDash val="solid"/>
          </a:ln>
        </p:spPr>
      </p:sp>
      <p:sp>
        <p:nvSpPr>
          <p:cNvPr id="386" name="Shape 384"/>
          <p:cNvSpPr/>
          <p:nvPr/>
        </p:nvSpPr>
        <p:spPr>
          <a:xfrm>
            <a:off x="3973558" y="1410645"/>
            <a:ext cx="49802" cy="76854"/>
          </a:xfrm>
          <a:prstGeom prst="line">
            <a:avLst/>
          </a:prstGeom>
          <a:noFill/>
          <a:ln w="31750">
            <a:solidFill>
              <a:srgbClr val="7B3FA0"/>
            </a:solidFill>
            <a:prstDash val="solid"/>
          </a:ln>
        </p:spPr>
      </p:sp>
      <p:sp>
        <p:nvSpPr>
          <p:cNvPr id="387" name="Shape 385"/>
          <p:cNvSpPr/>
          <p:nvPr/>
        </p:nvSpPr>
        <p:spPr>
          <a:xfrm>
            <a:off x="4023360" y="1487499"/>
            <a:ext cx="49802" cy="131075"/>
          </a:xfrm>
          <a:prstGeom prst="line">
            <a:avLst/>
          </a:prstGeom>
          <a:noFill/>
          <a:ln w="31750">
            <a:solidFill>
              <a:srgbClr val="7B3FA0"/>
            </a:solidFill>
            <a:prstDash val="solid"/>
          </a:ln>
        </p:spPr>
      </p:sp>
      <p:sp>
        <p:nvSpPr>
          <p:cNvPr id="388" name="Shape 386"/>
          <p:cNvSpPr/>
          <p:nvPr/>
        </p:nvSpPr>
        <p:spPr>
          <a:xfrm>
            <a:off x="4073162" y="1618574"/>
            <a:ext cx="49802" cy="158871"/>
          </a:xfrm>
          <a:prstGeom prst="line">
            <a:avLst/>
          </a:prstGeom>
          <a:noFill/>
          <a:ln w="31750">
            <a:solidFill>
              <a:srgbClr val="7B3FA0"/>
            </a:solidFill>
            <a:prstDash val="solid"/>
          </a:ln>
        </p:spPr>
      </p:sp>
      <p:sp>
        <p:nvSpPr>
          <p:cNvPr id="389" name="Shape 387"/>
          <p:cNvSpPr/>
          <p:nvPr/>
        </p:nvSpPr>
        <p:spPr>
          <a:xfrm>
            <a:off x="4122964" y="1777445"/>
            <a:ext cx="49802" cy="159358"/>
          </a:xfrm>
          <a:prstGeom prst="line">
            <a:avLst/>
          </a:prstGeom>
          <a:noFill/>
          <a:ln w="31750">
            <a:solidFill>
              <a:srgbClr val="7B3FA0"/>
            </a:solidFill>
            <a:prstDash val="solid"/>
          </a:ln>
        </p:spPr>
      </p:sp>
      <p:sp>
        <p:nvSpPr>
          <p:cNvPr id="390" name="Shape 388"/>
          <p:cNvSpPr/>
          <p:nvPr/>
        </p:nvSpPr>
        <p:spPr>
          <a:xfrm>
            <a:off x="4172766" y="1936803"/>
            <a:ext cx="49802" cy="138941"/>
          </a:xfrm>
          <a:prstGeom prst="line">
            <a:avLst/>
          </a:prstGeom>
          <a:noFill/>
          <a:ln w="31750">
            <a:solidFill>
              <a:srgbClr val="7B3FA0"/>
            </a:solidFill>
            <a:prstDash val="solid"/>
          </a:ln>
        </p:spPr>
      </p:sp>
      <p:sp>
        <p:nvSpPr>
          <p:cNvPr id="391" name="Shape 389"/>
          <p:cNvSpPr/>
          <p:nvPr/>
        </p:nvSpPr>
        <p:spPr>
          <a:xfrm>
            <a:off x="4222569" y="2075744"/>
            <a:ext cx="49802" cy="107573"/>
          </a:xfrm>
          <a:prstGeom prst="line">
            <a:avLst/>
          </a:prstGeom>
          <a:noFill/>
          <a:ln w="31750">
            <a:solidFill>
              <a:srgbClr val="7B3FA0"/>
            </a:solidFill>
            <a:prstDash val="solid"/>
          </a:ln>
        </p:spPr>
      </p:sp>
      <p:sp>
        <p:nvSpPr>
          <p:cNvPr id="392" name="Shape 390"/>
          <p:cNvSpPr/>
          <p:nvPr/>
        </p:nvSpPr>
        <p:spPr>
          <a:xfrm>
            <a:off x="4272371" y="2183317"/>
            <a:ext cx="49802" cy="74693"/>
          </a:xfrm>
          <a:prstGeom prst="line">
            <a:avLst/>
          </a:prstGeom>
          <a:noFill/>
          <a:ln w="31750">
            <a:solidFill>
              <a:srgbClr val="7B3FA0"/>
            </a:solidFill>
            <a:prstDash val="solid"/>
          </a:ln>
        </p:spPr>
      </p:sp>
      <p:sp>
        <p:nvSpPr>
          <p:cNvPr id="393" name="Shape 391"/>
          <p:cNvSpPr/>
          <p:nvPr/>
        </p:nvSpPr>
        <p:spPr>
          <a:xfrm>
            <a:off x="4322173" y="2258009"/>
            <a:ext cx="49802" cy="46624"/>
          </a:xfrm>
          <a:prstGeom prst="line">
            <a:avLst/>
          </a:prstGeom>
          <a:noFill/>
          <a:ln w="31750">
            <a:solidFill>
              <a:srgbClr val="7B3FA0"/>
            </a:solidFill>
            <a:prstDash val="solid"/>
          </a:ln>
        </p:spPr>
      </p:sp>
      <p:sp>
        <p:nvSpPr>
          <p:cNvPr id="394" name="Shape 392"/>
          <p:cNvSpPr/>
          <p:nvPr/>
        </p:nvSpPr>
        <p:spPr>
          <a:xfrm>
            <a:off x="4371975" y="2304633"/>
            <a:ext cx="49802" cy="25991"/>
          </a:xfrm>
          <a:prstGeom prst="line">
            <a:avLst/>
          </a:prstGeom>
          <a:noFill/>
          <a:ln w="31750">
            <a:solidFill>
              <a:srgbClr val="7B3FA0"/>
            </a:solidFill>
            <a:prstDash val="solid"/>
          </a:ln>
        </p:spPr>
      </p:sp>
      <p:sp>
        <p:nvSpPr>
          <p:cNvPr id="395" name="Shape 393"/>
          <p:cNvSpPr/>
          <p:nvPr/>
        </p:nvSpPr>
        <p:spPr>
          <a:xfrm>
            <a:off x="4421777" y="2330625"/>
            <a:ext cx="49802" cy="12603"/>
          </a:xfrm>
          <a:prstGeom prst="line">
            <a:avLst/>
          </a:prstGeom>
          <a:noFill/>
          <a:ln w="31750">
            <a:solidFill>
              <a:srgbClr val="7B3FA0"/>
            </a:solidFill>
            <a:prstDash val="solid"/>
          </a:ln>
        </p:spPr>
      </p:sp>
      <p:sp>
        <p:nvSpPr>
          <p:cNvPr id="396" name="Shape 394"/>
          <p:cNvSpPr/>
          <p:nvPr/>
        </p:nvSpPr>
        <p:spPr>
          <a:xfrm>
            <a:off x="4471579" y="2343227"/>
            <a:ext cx="49802" cy="4835"/>
          </a:xfrm>
          <a:prstGeom prst="line">
            <a:avLst/>
          </a:prstGeom>
          <a:noFill/>
          <a:ln w="31750">
            <a:solidFill>
              <a:srgbClr val="7B3FA0"/>
            </a:solidFill>
            <a:prstDash val="solid"/>
          </a:ln>
        </p:spPr>
      </p:sp>
      <p:sp>
        <p:nvSpPr>
          <p:cNvPr id="397" name="Shape 395"/>
          <p:cNvSpPr/>
          <p:nvPr/>
        </p:nvSpPr>
        <p:spPr>
          <a:xfrm>
            <a:off x="4521381" y="2348063"/>
            <a:ext cx="49802" cy="787"/>
          </a:xfrm>
          <a:prstGeom prst="line">
            <a:avLst/>
          </a:prstGeom>
          <a:noFill/>
          <a:ln w="31750">
            <a:solidFill>
              <a:srgbClr val="7B3FA0"/>
            </a:solidFill>
            <a:prstDash val="solid"/>
          </a:ln>
        </p:spPr>
      </p:sp>
      <p:sp>
        <p:nvSpPr>
          <p:cNvPr id="398" name="Shape 396"/>
          <p:cNvSpPr/>
          <p:nvPr/>
        </p:nvSpPr>
        <p:spPr>
          <a:xfrm flipV="1">
            <a:off x="4571184" y="2347751"/>
            <a:ext cx="49802" cy="1099"/>
          </a:xfrm>
          <a:prstGeom prst="line">
            <a:avLst/>
          </a:prstGeom>
          <a:noFill/>
          <a:ln w="31750">
            <a:solidFill>
              <a:srgbClr val="7B3FA0"/>
            </a:solidFill>
            <a:prstDash val="solid"/>
          </a:ln>
        </p:spPr>
      </p:sp>
      <p:sp>
        <p:nvSpPr>
          <p:cNvPr id="399" name="Shape 397"/>
          <p:cNvSpPr/>
          <p:nvPr/>
        </p:nvSpPr>
        <p:spPr>
          <a:xfrm flipV="1">
            <a:off x="4620986" y="2345891"/>
            <a:ext cx="49802" cy="1860"/>
          </a:xfrm>
          <a:prstGeom prst="line">
            <a:avLst/>
          </a:prstGeom>
          <a:noFill/>
          <a:ln w="31750">
            <a:solidFill>
              <a:srgbClr val="7B3FA0"/>
            </a:solidFill>
            <a:prstDash val="solid"/>
          </a:ln>
        </p:spPr>
      </p:sp>
      <p:sp>
        <p:nvSpPr>
          <p:cNvPr id="400" name="Shape 398"/>
          <p:cNvSpPr/>
          <p:nvPr/>
        </p:nvSpPr>
        <p:spPr>
          <a:xfrm flipV="1">
            <a:off x="4670788" y="2343805"/>
            <a:ext cx="49802" cy="2086"/>
          </a:xfrm>
          <a:prstGeom prst="line">
            <a:avLst/>
          </a:prstGeom>
          <a:noFill/>
          <a:ln w="31750">
            <a:solidFill>
              <a:srgbClr val="7B3FA0"/>
            </a:solidFill>
            <a:prstDash val="solid"/>
          </a:ln>
        </p:spPr>
      </p:sp>
      <p:sp>
        <p:nvSpPr>
          <p:cNvPr id="401" name="Shape 399"/>
          <p:cNvSpPr/>
          <p:nvPr/>
        </p:nvSpPr>
        <p:spPr>
          <a:xfrm flipV="1">
            <a:off x="4720590" y="2341731"/>
            <a:ext cx="49802" cy="2074"/>
          </a:xfrm>
          <a:prstGeom prst="line">
            <a:avLst/>
          </a:prstGeom>
          <a:noFill/>
          <a:ln w="31750">
            <a:solidFill>
              <a:srgbClr val="7B3FA0"/>
            </a:solidFill>
            <a:prstDash val="solid"/>
          </a:ln>
        </p:spPr>
      </p:sp>
      <p:sp>
        <p:nvSpPr>
          <p:cNvPr id="402" name="Shape 400"/>
          <p:cNvSpPr/>
          <p:nvPr/>
        </p:nvSpPr>
        <p:spPr>
          <a:xfrm flipV="1">
            <a:off x="4770392" y="2339772"/>
            <a:ext cx="49802" cy="1959"/>
          </a:xfrm>
          <a:prstGeom prst="line">
            <a:avLst/>
          </a:prstGeom>
          <a:noFill/>
          <a:ln w="31750">
            <a:solidFill>
              <a:srgbClr val="7B3FA0"/>
            </a:solidFill>
            <a:prstDash val="solid"/>
          </a:ln>
        </p:spPr>
      </p:sp>
      <p:sp>
        <p:nvSpPr>
          <p:cNvPr id="403" name="Shape 401"/>
          <p:cNvSpPr/>
          <p:nvPr/>
        </p:nvSpPr>
        <p:spPr>
          <a:xfrm flipV="1">
            <a:off x="4820194" y="2337977"/>
            <a:ext cx="49802" cy="1795"/>
          </a:xfrm>
          <a:prstGeom prst="line">
            <a:avLst/>
          </a:prstGeom>
          <a:noFill/>
          <a:ln w="31750">
            <a:solidFill>
              <a:srgbClr val="7B3FA0"/>
            </a:solidFill>
            <a:prstDash val="solid"/>
          </a:ln>
        </p:spPr>
      </p:sp>
      <p:sp>
        <p:nvSpPr>
          <p:cNvPr id="404" name="Shape 402"/>
          <p:cNvSpPr/>
          <p:nvPr/>
        </p:nvSpPr>
        <p:spPr>
          <a:xfrm flipV="1">
            <a:off x="4869996" y="2336376"/>
            <a:ext cx="49802" cy="1601"/>
          </a:xfrm>
          <a:prstGeom prst="line">
            <a:avLst/>
          </a:prstGeom>
          <a:noFill/>
          <a:ln w="31750">
            <a:solidFill>
              <a:srgbClr val="7B3FA0"/>
            </a:solidFill>
            <a:prstDash val="solid"/>
          </a:ln>
        </p:spPr>
      </p:sp>
      <p:sp>
        <p:nvSpPr>
          <p:cNvPr id="405" name="Shape 403"/>
          <p:cNvSpPr/>
          <p:nvPr/>
        </p:nvSpPr>
        <p:spPr>
          <a:xfrm flipV="1">
            <a:off x="4919799" y="2334988"/>
            <a:ext cx="49802" cy="1388"/>
          </a:xfrm>
          <a:prstGeom prst="line">
            <a:avLst/>
          </a:prstGeom>
          <a:noFill/>
          <a:ln w="31750">
            <a:solidFill>
              <a:srgbClr val="7B3FA0"/>
            </a:solidFill>
            <a:prstDash val="solid"/>
          </a:ln>
        </p:spPr>
      </p:sp>
      <p:sp>
        <p:nvSpPr>
          <p:cNvPr id="406" name="Shape 404"/>
          <p:cNvSpPr/>
          <p:nvPr/>
        </p:nvSpPr>
        <p:spPr>
          <a:xfrm flipV="1">
            <a:off x="4969601" y="2333830"/>
            <a:ext cx="49802" cy="1158"/>
          </a:xfrm>
          <a:prstGeom prst="line">
            <a:avLst/>
          </a:prstGeom>
          <a:noFill/>
          <a:ln w="31750">
            <a:solidFill>
              <a:srgbClr val="7B3FA0"/>
            </a:solidFill>
            <a:prstDash val="solid"/>
          </a:ln>
        </p:spPr>
      </p:sp>
      <p:sp>
        <p:nvSpPr>
          <p:cNvPr id="407" name="Shape 405"/>
          <p:cNvSpPr/>
          <p:nvPr/>
        </p:nvSpPr>
        <p:spPr>
          <a:xfrm flipV="1">
            <a:off x="5019403" y="2332915"/>
            <a:ext cx="49802" cy="915"/>
          </a:xfrm>
          <a:prstGeom prst="line">
            <a:avLst/>
          </a:prstGeom>
          <a:noFill/>
          <a:ln w="31750">
            <a:solidFill>
              <a:srgbClr val="7B3FA0"/>
            </a:solidFill>
            <a:prstDash val="solid"/>
          </a:ln>
        </p:spPr>
      </p:sp>
      <p:sp>
        <p:nvSpPr>
          <p:cNvPr id="408" name="Shape 406"/>
          <p:cNvSpPr/>
          <p:nvPr/>
        </p:nvSpPr>
        <p:spPr>
          <a:xfrm flipV="1">
            <a:off x="5069205" y="2332254"/>
            <a:ext cx="49802" cy="661"/>
          </a:xfrm>
          <a:prstGeom prst="line">
            <a:avLst/>
          </a:prstGeom>
          <a:noFill/>
          <a:ln w="31750">
            <a:solidFill>
              <a:srgbClr val="7B3FA0"/>
            </a:solidFill>
            <a:prstDash val="solid"/>
          </a:ln>
        </p:spPr>
      </p:sp>
      <p:sp>
        <p:nvSpPr>
          <p:cNvPr id="409" name="Shape 407"/>
          <p:cNvSpPr/>
          <p:nvPr/>
        </p:nvSpPr>
        <p:spPr>
          <a:xfrm flipV="1">
            <a:off x="5119007" y="2331854"/>
            <a:ext cx="49802" cy="400"/>
          </a:xfrm>
          <a:prstGeom prst="line">
            <a:avLst/>
          </a:prstGeom>
          <a:noFill/>
          <a:ln w="31750">
            <a:solidFill>
              <a:srgbClr val="7B3FA0"/>
            </a:solidFill>
            <a:prstDash val="solid"/>
          </a:ln>
        </p:spPr>
      </p:sp>
      <p:sp>
        <p:nvSpPr>
          <p:cNvPr id="410" name="Shape 408"/>
          <p:cNvSpPr/>
          <p:nvPr/>
        </p:nvSpPr>
        <p:spPr>
          <a:xfrm flipV="1">
            <a:off x="5168809" y="2331720"/>
            <a:ext cx="49802" cy="134"/>
          </a:xfrm>
          <a:prstGeom prst="line">
            <a:avLst/>
          </a:prstGeom>
          <a:noFill/>
          <a:ln w="31750">
            <a:solidFill>
              <a:srgbClr val="7B3FA0"/>
            </a:solidFill>
            <a:prstDash val="solid"/>
          </a:ln>
        </p:spPr>
      </p:sp>
      <p:sp>
        <p:nvSpPr>
          <p:cNvPr id="411" name="Shape 409"/>
          <p:cNvSpPr/>
          <p:nvPr/>
        </p:nvSpPr>
        <p:spPr>
          <a:xfrm>
            <a:off x="5218611" y="2331720"/>
            <a:ext cx="49802" cy="134"/>
          </a:xfrm>
          <a:prstGeom prst="line">
            <a:avLst/>
          </a:prstGeom>
          <a:noFill/>
          <a:ln w="31750">
            <a:solidFill>
              <a:srgbClr val="7B3FA0"/>
            </a:solidFill>
            <a:prstDash val="solid"/>
          </a:ln>
        </p:spPr>
      </p:sp>
      <p:sp>
        <p:nvSpPr>
          <p:cNvPr id="412" name="Shape 410"/>
          <p:cNvSpPr/>
          <p:nvPr/>
        </p:nvSpPr>
        <p:spPr>
          <a:xfrm>
            <a:off x="5268414" y="2331854"/>
            <a:ext cx="49802" cy="400"/>
          </a:xfrm>
          <a:prstGeom prst="line">
            <a:avLst/>
          </a:prstGeom>
          <a:noFill/>
          <a:ln w="31750">
            <a:solidFill>
              <a:srgbClr val="7B3FA0"/>
            </a:solidFill>
            <a:prstDash val="solid"/>
          </a:ln>
        </p:spPr>
      </p:sp>
      <p:sp>
        <p:nvSpPr>
          <p:cNvPr id="413" name="Shape 411"/>
          <p:cNvSpPr/>
          <p:nvPr/>
        </p:nvSpPr>
        <p:spPr>
          <a:xfrm>
            <a:off x="5318216" y="2332254"/>
            <a:ext cx="49802" cy="661"/>
          </a:xfrm>
          <a:prstGeom prst="line">
            <a:avLst/>
          </a:prstGeom>
          <a:noFill/>
          <a:ln w="31750">
            <a:solidFill>
              <a:srgbClr val="7B3FA0"/>
            </a:solidFill>
            <a:prstDash val="solid"/>
          </a:ln>
        </p:spPr>
      </p:sp>
      <p:sp>
        <p:nvSpPr>
          <p:cNvPr id="414" name="Shape 412"/>
          <p:cNvSpPr/>
          <p:nvPr/>
        </p:nvSpPr>
        <p:spPr>
          <a:xfrm>
            <a:off x="5368018" y="2332915"/>
            <a:ext cx="49802" cy="915"/>
          </a:xfrm>
          <a:prstGeom prst="line">
            <a:avLst/>
          </a:prstGeom>
          <a:noFill/>
          <a:ln w="31750">
            <a:solidFill>
              <a:srgbClr val="7B3FA0"/>
            </a:solidFill>
            <a:prstDash val="solid"/>
          </a:ln>
        </p:spPr>
      </p:sp>
      <p:sp>
        <p:nvSpPr>
          <p:cNvPr id="415" name="Shape 413"/>
          <p:cNvSpPr/>
          <p:nvPr/>
        </p:nvSpPr>
        <p:spPr>
          <a:xfrm>
            <a:off x="5417820" y="2333830"/>
            <a:ext cx="49802" cy="1158"/>
          </a:xfrm>
          <a:prstGeom prst="line">
            <a:avLst/>
          </a:prstGeom>
          <a:noFill/>
          <a:ln w="31750">
            <a:solidFill>
              <a:srgbClr val="7B3FA0"/>
            </a:solidFill>
            <a:prstDash val="solid"/>
          </a:ln>
        </p:spPr>
      </p:sp>
      <p:sp>
        <p:nvSpPr>
          <p:cNvPr id="416" name="Shape 414"/>
          <p:cNvSpPr/>
          <p:nvPr/>
        </p:nvSpPr>
        <p:spPr>
          <a:xfrm>
            <a:off x="5467622" y="2334988"/>
            <a:ext cx="49802" cy="1388"/>
          </a:xfrm>
          <a:prstGeom prst="line">
            <a:avLst/>
          </a:prstGeom>
          <a:noFill/>
          <a:ln w="31750">
            <a:solidFill>
              <a:srgbClr val="7B3FA0"/>
            </a:solidFill>
            <a:prstDash val="solid"/>
          </a:ln>
        </p:spPr>
      </p:sp>
      <p:sp>
        <p:nvSpPr>
          <p:cNvPr id="417" name="Shape 415"/>
          <p:cNvSpPr/>
          <p:nvPr/>
        </p:nvSpPr>
        <p:spPr>
          <a:xfrm>
            <a:off x="5517424" y="2336376"/>
            <a:ext cx="49802" cy="1603"/>
          </a:xfrm>
          <a:prstGeom prst="line">
            <a:avLst/>
          </a:prstGeom>
          <a:noFill/>
          <a:ln w="31750">
            <a:solidFill>
              <a:srgbClr val="7B3FA0"/>
            </a:solidFill>
            <a:prstDash val="solid"/>
          </a:ln>
        </p:spPr>
      </p:sp>
      <p:sp>
        <p:nvSpPr>
          <p:cNvPr id="418" name="Shape 416"/>
          <p:cNvSpPr/>
          <p:nvPr/>
        </p:nvSpPr>
        <p:spPr>
          <a:xfrm>
            <a:off x="5567226" y="2337979"/>
            <a:ext cx="49802" cy="1799"/>
          </a:xfrm>
          <a:prstGeom prst="line">
            <a:avLst/>
          </a:prstGeom>
          <a:noFill/>
          <a:ln w="31750">
            <a:solidFill>
              <a:srgbClr val="7B3FA0"/>
            </a:solidFill>
            <a:prstDash val="solid"/>
          </a:ln>
        </p:spPr>
      </p:sp>
      <p:sp>
        <p:nvSpPr>
          <p:cNvPr id="419" name="Shape 417"/>
          <p:cNvSpPr/>
          <p:nvPr/>
        </p:nvSpPr>
        <p:spPr>
          <a:xfrm>
            <a:off x="5617029" y="2339778"/>
            <a:ext cx="49802" cy="1977"/>
          </a:xfrm>
          <a:prstGeom prst="line">
            <a:avLst/>
          </a:prstGeom>
          <a:noFill/>
          <a:ln w="31750">
            <a:solidFill>
              <a:srgbClr val="7B3FA0"/>
            </a:solidFill>
            <a:prstDash val="solid"/>
          </a:ln>
        </p:spPr>
      </p:sp>
      <p:sp>
        <p:nvSpPr>
          <p:cNvPr id="420" name="Shape 418"/>
          <p:cNvSpPr/>
          <p:nvPr/>
        </p:nvSpPr>
        <p:spPr>
          <a:xfrm>
            <a:off x="5666831" y="2341755"/>
            <a:ext cx="49802" cy="2133"/>
          </a:xfrm>
          <a:prstGeom prst="line">
            <a:avLst/>
          </a:prstGeom>
          <a:noFill/>
          <a:ln w="31750">
            <a:solidFill>
              <a:srgbClr val="7B3FA0"/>
            </a:solidFill>
            <a:prstDash val="solid"/>
          </a:ln>
        </p:spPr>
      </p:sp>
      <p:sp>
        <p:nvSpPr>
          <p:cNvPr id="421" name="Shape 419"/>
          <p:cNvSpPr/>
          <p:nvPr/>
        </p:nvSpPr>
        <p:spPr>
          <a:xfrm>
            <a:off x="5716633" y="2343888"/>
            <a:ext cx="49802" cy="2267"/>
          </a:xfrm>
          <a:prstGeom prst="line">
            <a:avLst/>
          </a:prstGeom>
          <a:noFill/>
          <a:ln w="31750">
            <a:solidFill>
              <a:srgbClr val="7B3FA0"/>
            </a:solidFill>
            <a:prstDash val="solid"/>
          </a:ln>
        </p:spPr>
      </p:sp>
      <p:sp>
        <p:nvSpPr>
          <p:cNvPr id="422" name="Shape 420"/>
          <p:cNvSpPr/>
          <p:nvPr/>
        </p:nvSpPr>
        <p:spPr>
          <a:xfrm>
            <a:off x="5766435" y="2346155"/>
            <a:ext cx="49802" cy="2378"/>
          </a:xfrm>
          <a:prstGeom prst="line">
            <a:avLst/>
          </a:prstGeom>
          <a:noFill/>
          <a:ln w="31750">
            <a:solidFill>
              <a:srgbClr val="7B3FA0"/>
            </a:solidFill>
            <a:prstDash val="solid"/>
          </a:ln>
        </p:spPr>
      </p:sp>
      <p:sp>
        <p:nvSpPr>
          <p:cNvPr id="423" name="Shape 421"/>
          <p:cNvSpPr/>
          <p:nvPr/>
        </p:nvSpPr>
        <p:spPr>
          <a:xfrm>
            <a:off x="5816237" y="2348533"/>
            <a:ext cx="49802" cy="2467"/>
          </a:xfrm>
          <a:prstGeom prst="line">
            <a:avLst/>
          </a:prstGeom>
          <a:noFill/>
          <a:ln w="31750">
            <a:solidFill>
              <a:srgbClr val="7B3FA0"/>
            </a:solidFill>
            <a:prstDash val="solid"/>
          </a:ln>
        </p:spPr>
      </p:sp>
      <p:sp>
        <p:nvSpPr>
          <p:cNvPr id="424" name="Shape 422"/>
          <p:cNvSpPr/>
          <p:nvPr/>
        </p:nvSpPr>
        <p:spPr>
          <a:xfrm>
            <a:off x="5866039" y="2351000"/>
            <a:ext cx="49802" cy="2532"/>
          </a:xfrm>
          <a:prstGeom prst="line">
            <a:avLst/>
          </a:prstGeom>
          <a:noFill/>
          <a:ln w="31750">
            <a:solidFill>
              <a:srgbClr val="7B3FA0"/>
            </a:solidFill>
            <a:prstDash val="solid"/>
          </a:ln>
        </p:spPr>
      </p:sp>
      <p:sp>
        <p:nvSpPr>
          <p:cNvPr id="425" name="Shape 423"/>
          <p:cNvSpPr/>
          <p:nvPr/>
        </p:nvSpPr>
        <p:spPr>
          <a:xfrm>
            <a:off x="5915841" y="2353533"/>
            <a:ext cx="49802" cy="2575"/>
          </a:xfrm>
          <a:prstGeom prst="line">
            <a:avLst/>
          </a:prstGeom>
          <a:noFill/>
          <a:ln w="31750">
            <a:solidFill>
              <a:srgbClr val="7B3FA0"/>
            </a:solidFill>
            <a:prstDash val="solid"/>
          </a:ln>
        </p:spPr>
      </p:sp>
      <p:sp>
        <p:nvSpPr>
          <p:cNvPr id="426" name="Shape 424"/>
          <p:cNvSpPr/>
          <p:nvPr/>
        </p:nvSpPr>
        <p:spPr>
          <a:xfrm>
            <a:off x="5965644" y="2356108"/>
            <a:ext cx="49802" cy="2596"/>
          </a:xfrm>
          <a:prstGeom prst="line">
            <a:avLst/>
          </a:prstGeom>
          <a:noFill/>
          <a:ln w="31750">
            <a:solidFill>
              <a:srgbClr val="7B3FA0"/>
            </a:solidFill>
            <a:prstDash val="solid"/>
          </a:ln>
        </p:spPr>
      </p:sp>
      <p:sp>
        <p:nvSpPr>
          <p:cNvPr id="427" name="Shape 425"/>
          <p:cNvSpPr/>
          <p:nvPr/>
        </p:nvSpPr>
        <p:spPr>
          <a:xfrm>
            <a:off x="6015446" y="2358704"/>
            <a:ext cx="49802" cy="2596"/>
          </a:xfrm>
          <a:prstGeom prst="line">
            <a:avLst/>
          </a:prstGeom>
          <a:noFill/>
          <a:ln w="31750">
            <a:solidFill>
              <a:srgbClr val="7B3FA0"/>
            </a:solidFill>
            <a:prstDash val="solid"/>
          </a:ln>
        </p:spPr>
      </p:sp>
      <p:sp>
        <p:nvSpPr>
          <p:cNvPr id="428" name="Shape 426"/>
          <p:cNvSpPr/>
          <p:nvPr/>
        </p:nvSpPr>
        <p:spPr>
          <a:xfrm>
            <a:off x="6065248" y="2361301"/>
            <a:ext cx="49802" cy="2577"/>
          </a:xfrm>
          <a:prstGeom prst="line">
            <a:avLst/>
          </a:prstGeom>
          <a:noFill/>
          <a:ln w="31750">
            <a:solidFill>
              <a:srgbClr val="7B3FA0"/>
            </a:solidFill>
            <a:prstDash val="solid"/>
          </a:ln>
        </p:spPr>
      </p:sp>
      <p:sp>
        <p:nvSpPr>
          <p:cNvPr id="429" name="Shape 427"/>
          <p:cNvSpPr/>
          <p:nvPr/>
        </p:nvSpPr>
        <p:spPr>
          <a:xfrm>
            <a:off x="6115050" y="2363877"/>
            <a:ext cx="49802" cy="2539"/>
          </a:xfrm>
          <a:prstGeom prst="line">
            <a:avLst/>
          </a:prstGeom>
          <a:noFill/>
          <a:ln w="31750">
            <a:solidFill>
              <a:srgbClr val="7B3FA0"/>
            </a:solidFill>
            <a:prstDash val="solid"/>
          </a:ln>
        </p:spPr>
      </p:sp>
      <p:sp>
        <p:nvSpPr>
          <p:cNvPr id="430" name="Shape 428"/>
          <p:cNvSpPr/>
          <p:nvPr/>
        </p:nvSpPr>
        <p:spPr>
          <a:xfrm>
            <a:off x="6164852" y="2366417"/>
            <a:ext cx="49802" cy="2485"/>
          </a:xfrm>
          <a:prstGeom prst="line">
            <a:avLst/>
          </a:prstGeom>
          <a:noFill/>
          <a:ln w="31750">
            <a:solidFill>
              <a:srgbClr val="7B3FA0"/>
            </a:solidFill>
            <a:prstDash val="solid"/>
          </a:ln>
        </p:spPr>
      </p:sp>
      <p:sp>
        <p:nvSpPr>
          <p:cNvPr id="431" name="Shape 429"/>
          <p:cNvSpPr/>
          <p:nvPr/>
        </p:nvSpPr>
        <p:spPr>
          <a:xfrm>
            <a:off x="6214654" y="2368902"/>
            <a:ext cx="49802" cy="2416"/>
          </a:xfrm>
          <a:prstGeom prst="line">
            <a:avLst/>
          </a:prstGeom>
          <a:noFill/>
          <a:ln w="31750">
            <a:solidFill>
              <a:srgbClr val="7B3FA0"/>
            </a:solidFill>
            <a:prstDash val="solid"/>
          </a:ln>
        </p:spPr>
      </p:sp>
      <p:sp>
        <p:nvSpPr>
          <p:cNvPr id="432" name="Shape 430"/>
          <p:cNvSpPr/>
          <p:nvPr/>
        </p:nvSpPr>
        <p:spPr>
          <a:xfrm>
            <a:off x="6264456" y="2371318"/>
            <a:ext cx="49802" cy="2335"/>
          </a:xfrm>
          <a:prstGeom prst="line">
            <a:avLst/>
          </a:prstGeom>
          <a:noFill/>
          <a:ln w="31750">
            <a:solidFill>
              <a:srgbClr val="7B3FA0"/>
            </a:solidFill>
            <a:prstDash val="solid"/>
          </a:ln>
        </p:spPr>
      </p:sp>
      <p:sp>
        <p:nvSpPr>
          <p:cNvPr id="433" name="Shape 431"/>
          <p:cNvSpPr/>
          <p:nvPr/>
        </p:nvSpPr>
        <p:spPr>
          <a:xfrm>
            <a:off x="6314259" y="2373653"/>
            <a:ext cx="49802" cy="2242"/>
          </a:xfrm>
          <a:prstGeom prst="line">
            <a:avLst/>
          </a:prstGeom>
          <a:noFill/>
          <a:ln w="31750">
            <a:solidFill>
              <a:srgbClr val="7B3FA0"/>
            </a:solidFill>
            <a:prstDash val="solid"/>
          </a:ln>
        </p:spPr>
      </p:sp>
      <p:sp>
        <p:nvSpPr>
          <p:cNvPr id="434" name="Shape 432"/>
          <p:cNvSpPr/>
          <p:nvPr/>
        </p:nvSpPr>
        <p:spPr>
          <a:xfrm>
            <a:off x="6364061" y="2375895"/>
            <a:ext cx="49802" cy="2141"/>
          </a:xfrm>
          <a:prstGeom prst="line">
            <a:avLst/>
          </a:prstGeom>
          <a:noFill/>
          <a:ln w="31750">
            <a:solidFill>
              <a:srgbClr val="7B3FA0"/>
            </a:solidFill>
            <a:prstDash val="solid"/>
          </a:ln>
        </p:spPr>
      </p:sp>
      <p:sp>
        <p:nvSpPr>
          <p:cNvPr id="435" name="Shape 433"/>
          <p:cNvSpPr/>
          <p:nvPr/>
        </p:nvSpPr>
        <p:spPr>
          <a:xfrm>
            <a:off x="6413863" y="2378035"/>
            <a:ext cx="49802" cy="2032"/>
          </a:xfrm>
          <a:prstGeom prst="line">
            <a:avLst/>
          </a:prstGeom>
          <a:noFill/>
          <a:ln w="31750">
            <a:solidFill>
              <a:srgbClr val="7B3FA0"/>
            </a:solidFill>
            <a:prstDash val="solid"/>
          </a:ln>
        </p:spPr>
      </p:sp>
      <p:sp>
        <p:nvSpPr>
          <p:cNvPr id="436" name="Shape 434"/>
          <p:cNvSpPr/>
          <p:nvPr/>
        </p:nvSpPr>
        <p:spPr>
          <a:xfrm>
            <a:off x="6463665" y="2380067"/>
            <a:ext cx="49802" cy="1918"/>
          </a:xfrm>
          <a:prstGeom prst="line">
            <a:avLst/>
          </a:prstGeom>
          <a:noFill/>
          <a:ln w="31750">
            <a:solidFill>
              <a:srgbClr val="7B3FA0"/>
            </a:solidFill>
            <a:prstDash val="solid"/>
          </a:ln>
        </p:spPr>
      </p:sp>
      <p:sp>
        <p:nvSpPr>
          <p:cNvPr id="437" name="Shape 435"/>
          <p:cNvSpPr/>
          <p:nvPr/>
        </p:nvSpPr>
        <p:spPr>
          <a:xfrm>
            <a:off x="6513467" y="2381986"/>
            <a:ext cx="49802" cy="1801"/>
          </a:xfrm>
          <a:prstGeom prst="line">
            <a:avLst/>
          </a:prstGeom>
          <a:noFill/>
          <a:ln w="31750">
            <a:solidFill>
              <a:srgbClr val="7B3FA0"/>
            </a:solidFill>
            <a:prstDash val="solid"/>
          </a:ln>
        </p:spPr>
      </p:sp>
      <p:sp>
        <p:nvSpPr>
          <p:cNvPr id="438" name="Shape 436"/>
          <p:cNvSpPr/>
          <p:nvPr/>
        </p:nvSpPr>
        <p:spPr>
          <a:xfrm>
            <a:off x="6563269" y="2383787"/>
            <a:ext cx="49802" cy="1682"/>
          </a:xfrm>
          <a:prstGeom prst="line">
            <a:avLst/>
          </a:prstGeom>
          <a:noFill/>
          <a:ln w="31750">
            <a:solidFill>
              <a:srgbClr val="7B3FA0"/>
            </a:solidFill>
            <a:prstDash val="solid"/>
          </a:ln>
        </p:spPr>
      </p:sp>
      <p:sp>
        <p:nvSpPr>
          <p:cNvPr id="439" name="Shape 437"/>
          <p:cNvSpPr/>
          <p:nvPr/>
        </p:nvSpPr>
        <p:spPr>
          <a:xfrm>
            <a:off x="6613071" y="2385468"/>
            <a:ext cx="49802" cy="1563"/>
          </a:xfrm>
          <a:prstGeom prst="line">
            <a:avLst/>
          </a:prstGeom>
          <a:noFill/>
          <a:ln w="31750">
            <a:solidFill>
              <a:srgbClr val="7B3FA0"/>
            </a:solidFill>
            <a:prstDash val="solid"/>
          </a:ln>
        </p:spPr>
      </p:sp>
      <p:sp>
        <p:nvSpPr>
          <p:cNvPr id="440" name="Shape 438"/>
          <p:cNvSpPr/>
          <p:nvPr/>
        </p:nvSpPr>
        <p:spPr>
          <a:xfrm>
            <a:off x="6662874" y="2387031"/>
            <a:ext cx="49802" cy="1444"/>
          </a:xfrm>
          <a:prstGeom prst="line">
            <a:avLst/>
          </a:prstGeom>
          <a:noFill/>
          <a:ln w="31750">
            <a:solidFill>
              <a:srgbClr val="7B3FA0"/>
            </a:solidFill>
            <a:prstDash val="solid"/>
          </a:ln>
        </p:spPr>
      </p:sp>
      <p:sp>
        <p:nvSpPr>
          <p:cNvPr id="441" name="Shape 439"/>
          <p:cNvSpPr/>
          <p:nvPr/>
        </p:nvSpPr>
        <p:spPr>
          <a:xfrm>
            <a:off x="6712676" y="2388475"/>
            <a:ext cx="49802" cy="1328"/>
          </a:xfrm>
          <a:prstGeom prst="line">
            <a:avLst/>
          </a:prstGeom>
          <a:noFill/>
          <a:ln w="31750">
            <a:solidFill>
              <a:srgbClr val="7B3FA0"/>
            </a:solidFill>
            <a:prstDash val="solid"/>
          </a:ln>
        </p:spPr>
      </p:sp>
      <p:sp>
        <p:nvSpPr>
          <p:cNvPr id="442" name="Shape 440"/>
          <p:cNvSpPr/>
          <p:nvPr/>
        </p:nvSpPr>
        <p:spPr>
          <a:xfrm>
            <a:off x="6762478" y="2389803"/>
            <a:ext cx="49802" cy="1215"/>
          </a:xfrm>
          <a:prstGeom prst="line">
            <a:avLst/>
          </a:prstGeom>
          <a:noFill/>
          <a:ln w="31750">
            <a:solidFill>
              <a:srgbClr val="7B3FA0"/>
            </a:solidFill>
            <a:prstDash val="solid"/>
          </a:ln>
        </p:spPr>
      </p:sp>
      <p:sp>
        <p:nvSpPr>
          <p:cNvPr id="443" name="Shape 441"/>
          <p:cNvSpPr/>
          <p:nvPr/>
        </p:nvSpPr>
        <p:spPr>
          <a:xfrm>
            <a:off x="1234440" y="3850050"/>
            <a:ext cx="49802" cy="5455"/>
          </a:xfrm>
          <a:prstGeom prst="line">
            <a:avLst/>
          </a:prstGeom>
          <a:noFill/>
          <a:ln w="31750">
            <a:solidFill>
              <a:srgbClr val="D4568F"/>
            </a:solidFill>
            <a:prstDash val="solid"/>
          </a:ln>
        </p:spPr>
      </p:sp>
      <p:sp>
        <p:nvSpPr>
          <p:cNvPr id="444" name="Shape 442"/>
          <p:cNvSpPr/>
          <p:nvPr/>
        </p:nvSpPr>
        <p:spPr>
          <a:xfrm>
            <a:off x="1284242" y="3855505"/>
            <a:ext cx="49802" cy="4781"/>
          </a:xfrm>
          <a:prstGeom prst="line">
            <a:avLst/>
          </a:prstGeom>
          <a:noFill/>
          <a:ln w="31750">
            <a:solidFill>
              <a:srgbClr val="D4568F"/>
            </a:solidFill>
            <a:prstDash val="solid"/>
          </a:ln>
        </p:spPr>
      </p:sp>
      <p:sp>
        <p:nvSpPr>
          <p:cNvPr id="445" name="Shape 443"/>
          <p:cNvSpPr/>
          <p:nvPr/>
        </p:nvSpPr>
        <p:spPr>
          <a:xfrm>
            <a:off x="1334044" y="3860286"/>
            <a:ext cx="49802" cy="4161"/>
          </a:xfrm>
          <a:prstGeom prst="line">
            <a:avLst/>
          </a:prstGeom>
          <a:noFill/>
          <a:ln w="31750">
            <a:solidFill>
              <a:srgbClr val="D4568F"/>
            </a:solidFill>
            <a:prstDash val="solid"/>
          </a:ln>
        </p:spPr>
      </p:sp>
      <p:sp>
        <p:nvSpPr>
          <p:cNvPr id="446" name="Shape 444"/>
          <p:cNvSpPr/>
          <p:nvPr/>
        </p:nvSpPr>
        <p:spPr>
          <a:xfrm>
            <a:off x="1383846" y="3864447"/>
            <a:ext cx="49802" cy="3598"/>
          </a:xfrm>
          <a:prstGeom prst="line">
            <a:avLst/>
          </a:prstGeom>
          <a:noFill/>
          <a:ln w="31750">
            <a:solidFill>
              <a:srgbClr val="D4568F"/>
            </a:solidFill>
            <a:prstDash val="solid"/>
          </a:ln>
        </p:spPr>
      </p:sp>
      <p:sp>
        <p:nvSpPr>
          <p:cNvPr id="447" name="Shape 445"/>
          <p:cNvSpPr/>
          <p:nvPr/>
        </p:nvSpPr>
        <p:spPr>
          <a:xfrm>
            <a:off x="1433649" y="3868045"/>
            <a:ext cx="49802" cy="3089"/>
          </a:xfrm>
          <a:prstGeom prst="line">
            <a:avLst/>
          </a:prstGeom>
          <a:noFill/>
          <a:ln w="31750">
            <a:solidFill>
              <a:srgbClr val="D4568F"/>
            </a:solidFill>
            <a:prstDash val="solid"/>
          </a:ln>
        </p:spPr>
      </p:sp>
      <p:sp>
        <p:nvSpPr>
          <p:cNvPr id="448" name="Shape 446"/>
          <p:cNvSpPr/>
          <p:nvPr/>
        </p:nvSpPr>
        <p:spPr>
          <a:xfrm>
            <a:off x="1483451" y="3871134"/>
            <a:ext cx="49802" cy="2635"/>
          </a:xfrm>
          <a:prstGeom prst="line">
            <a:avLst/>
          </a:prstGeom>
          <a:noFill/>
          <a:ln w="31750">
            <a:solidFill>
              <a:srgbClr val="D4568F"/>
            </a:solidFill>
            <a:prstDash val="solid"/>
          </a:ln>
        </p:spPr>
      </p:sp>
      <p:sp>
        <p:nvSpPr>
          <p:cNvPr id="449" name="Shape 447"/>
          <p:cNvSpPr/>
          <p:nvPr/>
        </p:nvSpPr>
        <p:spPr>
          <a:xfrm>
            <a:off x="1533253" y="3873769"/>
            <a:ext cx="49802" cy="2233"/>
          </a:xfrm>
          <a:prstGeom prst="line">
            <a:avLst/>
          </a:prstGeom>
          <a:noFill/>
          <a:ln w="31750">
            <a:solidFill>
              <a:srgbClr val="D4568F"/>
            </a:solidFill>
            <a:prstDash val="solid"/>
          </a:ln>
        </p:spPr>
      </p:sp>
      <p:sp>
        <p:nvSpPr>
          <p:cNvPr id="450" name="Shape 448"/>
          <p:cNvSpPr/>
          <p:nvPr/>
        </p:nvSpPr>
        <p:spPr>
          <a:xfrm>
            <a:off x="1583055" y="3876001"/>
            <a:ext cx="49802" cy="1879"/>
          </a:xfrm>
          <a:prstGeom prst="line">
            <a:avLst/>
          </a:prstGeom>
          <a:noFill/>
          <a:ln w="31750">
            <a:solidFill>
              <a:srgbClr val="D4568F"/>
            </a:solidFill>
            <a:prstDash val="solid"/>
          </a:ln>
        </p:spPr>
      </p:sp>
      <p:sp>
        <p:nvSpPr>
          <p:cNvPr id="451" name="Shape 449"/>
          <p:cNvSpPr/>
          <p:nvPr/>
        </p:nvSpPr>
        <p:spPr>
          <a:xfrm>
            <a:off x="1632857" y="3877881"/>
            <a:ext cx="49802" cy="1571"/>
          </a:xfrm>
          <a:prstGeom prst="line">
            <a:avLst/>
          </a:prstGeom>
          <a:noFill/>
          <a:ln w="31750">
            <a:solidFill>
              <a:srgbClr val="D4568F"/>
            </a:solidFill>
            <a:prstDash val="solid"/>
          </a:ln>
        </p:spPr>
      </p:sp>
      <p:sp>
        <p:nvSpPr>
          <p:cNvPr id="452" name="Shape 450"/>
          <p:cNvSpPr/>
          <p:nvPr/>
        </p:nvSpPr>
        <p:spPr>
          <a:xfrm>
            <a:off x="1682659" y="3879451"/>
            <a:ext cx="49802" cy="1304"/>
          </a:xfrm>
          <a:prstGeom prst="line">
            <a:avLst/>
          </a:prstGeom>
          <a:noFill/>
          <a:ln w="31750">
            <a:solidFill>
              <a:srgbClr val="D4568F"/>
            </a:solidFill>
            <a:prstDash val="solid"/>
          </a:ln>
        </p:spPr>
      </p:sp>
      <p:sp>
        <p:nvSpPr>
          <p:cNvPr id="453" name="Shape 451"/>
          <p:cNvSpPr/>
          <p:nvPr/>
        </p:nvSpPr>
        <p:spPr>
          <a:xfrm>
            <a:off x="1732461" y="3880755"/>
            <a:ext cx="49802" cy="1074"/>
          </a:xfrm>
          <a:prstGeom prst="line">
            <a:avLst/>
          </a:prstGeom>
          <a:noFill/>
          <a:ln w="31750">
            <a:solidFill>
              <a:srgbClr val="D4568F"/>
            </a:solidFill>
            <a:prstDash val="solid"/>
          </a:ln>
        </p:spPr>
      </p:sp>
      <p:sp>
        <p:nvSpPr>
          <p:cNvPr id="454" name="Shape 452"/>
          <p:cNvSpPr/>
          <p:nvPr/>
        </p:nvSpPr>
        <p:spPr>
          <a:xfrm>
            <a:off x="1782264" y="3881830"/>
            <a:ext cx="49802" cy="878"/>
          </a:xfrm>
          <a:prstGeom prst="line">
            <a:avLst/>
          </a:prstGeom>
          <a:noFill/>
          <a:ln w="31750">
            <a:solidFill>
              <a:srgbClr val="D4568F"/>
            </a:solidFill>
            <a:prstDash val="solid"/>
          </a:ln>
        </p:spPr>
      </p:sp>
      <p:sp>
        <p:nvSpPr>
          <p:cNvPr id="455" name="Shape 453"/>
          <p:cNvSpPr/>
          <p:nvPr/>
        </p:nvSpPr>
        <p:spPr>
          <a:xfrm>
            <a:off x="1832066" y="3882708"/>
            <a:ext cx="49802" cy="709"/>
          </a:xfrm>
          <a:prstGeom prst="line">
            <a:avLst/>
          </a:prstGeom>
          <a:noFill/>
          <a:ln w="31750">
            <a:solidFill>
              <a:srgbClr val="D4568F"/>
            </a:solidFill>
            <a:prstDash val="solid"/>
          </a:ln>
        </p:spPr>
      </p:sp>
      <p:sp>
        <p:nvSpPr>
          <p:cNvPr id="456" name="Shape 454"/>
          <p:cNvSpPr/>
          <p:nvPr/>
        </p:nvSpPr>
        <p:spPr>
          <a:xfrm>
            <a:off x="1881868" y="3883416"/>
            <a:ext cx="49802" cy="563"/>
          </a:xfrm>
          <a:prstGeom prst="line">
            <a:avLst/>
          </a:prstGeom>
          <a:noFill/>
          <a:ln w="31750">
            <a:solidFill>
              <a:srgbClr val="D4568F"/>
            </a:solidFill>
            <a:prstDash val="solid"/>
          </a:ln>
        </p:spPr>
      </p:sp>
      <p:sp>
        <p:nvSpPr>
          <p:cNvPr id="457" name="Shape 455"/>
          <p:cNvSpPr/>
          <p:nvPr/>
        </p:nvSpPr>
        <p:spPr>
          <a:xfrm>
            <a:off x="1931670" y="3883980"/>
            <a:ext cx="49802" cy="435"/>
          </a:xfrm>
          <a:prstGeom prst="line">
            <a:avLst/>
          </a:prstGeom>
          <a:noFill/>
          <a:ln w="31750">
            <a:solidFill>
              <a:srgbClr val="D4568F"/>
            </a:solidFill>
            <a:prstDash val="solid"/>
          </a:ln>
        </p:spPr>
      </p:sp>
      <p:sp>
        <p:nvSpPr>
          <p:cNvPr id="458" name="Shape 456"/>
          <p:cNvSpPr/>
          <p:nvPr/>
        </p:nvSpPr>
        <p:spPr>
          <a:xfrm>
            <a:off x="1981472" y="3884414"/>
            <a:ext cx="49802" cy="318"/>
          </a:xfrm>
          <a:prstGeom prst="line">
            <a:avLst/>
          </a:prstGeom>
          <a:noFill/>
          <a:ln w="31750">
            <a:solidFill>
              <a:srgbClr val="D4568F"/>
            </a:solidFill>
            <a:prstDash val="solid"/>
          </a:ln>
        </p:spPr>
      </p:sp>
      <p:sp>
        <p:nvSpPr>
          <p:cNvPr id="459" name="Shape 457"/>
          <p:cNvSpPr/>
          <p:nvPr/>
        </p:nvSpPr>
        <p:spPr>
          <a:xfrm>
            <a:off x="2031274" y="3884732"/>
            <a:ext cx="49802" cy="204"/>
          </a:xfrm>
          <a:prstGeom prst="line">
            <a:avLst/>
          </a:prstGeom>
          <a:noFill/>
          <a:ln w="31750">
            <a:solidFill>
              <a:srgbClr val="D4568F"/>
            </a:solidFill>
            <a:prstDash val="solid"/>
          </a:ln>
        </p:spPr>
      </p:sp>
      <p:sp>
        <p:nvSpPr>
          <p:cNvPr id="460" name="Shape 458"/>
          <p:cNvSpPr/>
          <p:nvPr/>
        </p:nvSpPr>
        <p:spPr>
          <a:xfrm>
            <a:off x="2081076" y="3884936"/>
            <a:ext cx="49802" cy="84"/>
          </a:xfrm>
          <a:prstGeom prst="line">
            <a:avLst/>
          </a:prstGeom>
          <a:noFill/>
          <a:ln w="31750">
            <a:solidFill>
              <a:srgbClr val="D4568F"/>
            </a:solidFill>
            <a:prstDash val="solid"/>
          </a:ln>
        </p:spPr>
      </p:sp>
      <p:sp>
        <p:nvSpPr>
          <p:cNvPr id="461" name="Shape 459"/>
          <p:cNvSpPr/>
          <p:nvPr/>
        </p:nvSpPr>
        <p:spPr>
          <a:xfrm flipV="1">
            <a:off x="2130879" y="3884967"/>
            <a:ext cx="49802" cy="54"/>
          </a:xfrm>
          <a:prstGeom prst="line">
            <a:avLst/>
          </a:prstGeom>
          <a:noFill/>
          <a:ln w="31750">
            <a:solidFill>
              <a:srgbClr val="D4568F"/>
            </a:solidFill>
            <a:prstDash val="solid"/>
          </a:ln>
        </p:spPr>
      </p:sp>
      <p:sp>
        <p:nvSpPr>
          <p:cNvPr id="462" name="Shape 460"/>
          <p:cNvSpPr/>
          <p:nvPr/>
        </p:nvSpPr>
        <p:spPr>
          <a:xfrm flipV="1">
            <a:off x="2180681" y="3884742"/>
            <a:ext cx="49802" cy="226"/>
          </a:xfrm>
          <a:prstGeom prst="line">
            <a:avLst/>
          </a:prstGeom>
          <a:noFill/>
          <a:ln w="31750">
            <a:solidFill>
              <a:srgbClr val="D4568F"/>
            </a:solidFill>
            <a:prstDash val="solid"/>
          </a:ln>
        </p:spPr>
      </p:sp>
      <p:sp>
        <p:nvSpPr>
          <p:cNvPr id="463" name="Shape 461"/>
          <p:cNvSpPr/>
          <p:nvPr/>
        </p:nvSpPr>
        <p:spPr>
          <a:xfrm flipV="1">
            <a:off x="2230483" y="3884290"/>
            <a:ext cx="49802" cy="452"/>
          </a:xfrm>
          <a:prstGeom prst="line">
            <a:avLst/>
          </a:prstGeom>
          <a:noFill/>
          <a:ln w="31750">
            <a:solidFill>
              <a:srgbClr val="D4568F"/>
            </a:solidFill>
            <a:prstDash val="solid"/>
          </a:ln>
        </p:spPr>
      </p:sp>
      <p:sp>
        <p:nvSpPr>
          <p:cNvPr id="464" name="Shape 462"/>
          <p:cNvSpPr/>
          <p:nvPr/>
        </p:nvSpPr>
        <p:spPr>
          <a:xfrm flipV="1">
            <a:off x="2280285" y="3883531"/>
            <a:ext cx="49802" cy="759"/>
          </a:xfrm>
          <a:prstGeom prst="line">
            <a:avLst/>
          </a:prstGeom>
          <a:noFill/>
          <a:ln w="31750">
            <a:solidFill>
              <a:srgbClr val="D4568F"/>
            </a:solidFill>
            <a:prstDash val="solid"/>
          </a:ln>
        </p:spPr>
      </p:sp>
      <p:sp>
        <p:nvSpPr>
          <p:cNvPr id="465" name="Shape 463"/>
          <p:cNvSpPr/>
          <p:nvPr/>
        </p:nvSpPr>
        <p:spPr>
          <a:xfrm flipV="1">
            <a:off x="2330087" y="3882352"/>
            <a:ext cx="49802" cy="1179"/>
          </a:xfrm>
          <a:prstGeom prst="line">
            <a:avLst/>
          </a:prstGeom>
          <a:noFill/>
          <a:ln w="31750">
            <a:solidFill>
              <a:srgbClr val="D4568F"/>
            </a:solidFill>
            <a:prstDash val="solid"/>
          </a:ln>
        </p:spPr>
      </p:sp>
      <p:sp>
        <p:nvSpPr>
          <p:cNvPr id="466" name="Shape 464"/>
          <p:cNvSpPr/>
          <p:nvPr/>
        </p:nvSpPr>
        <p:spPr>
          <a:xfrm flipV="1">
            <a:off x="2379889" y="3880599"/>
            <a:ext cx="49802" cy="1753"/>
          </a:xfrm>
          <a:prstGeom prst="line">
            <a:avLst/>
          </a:prstGeom>
          <a:noFill/>
          <a:ln w="31750">
            <a:solidFill>
              <a:srgbClr val="D4568F"/>
            </a:solidFill>
            <a:prstDash val="solid"/>
          </a:ln>
        </p:spPr>
      </p:sp>
      <p:sp>
        <p:nvSpPr>
          <p:cNvPr id="467" name="Shape 465"/>
          <p:cNvSpPr/>
          <p:nvPr/>
        </p:nvSpPr>
        <p:spPr>
          <a:xfrm flipV="1">
            <a:off x="2429691" y="3878068"/>
            <a:ext cx="49802" cy="2531"/>
          </a:xfrm>
          <a:prstGeom prst="line">
            <a:avLst/>
          </a:prstGeom>
          <a:noFill/>
          <a:ln w="31750">
            <a:solidFill>
              <a:srgbClr val="D4568F"/>
            </a:solidFill>
            <a:prstDash val="solid"/>
          </a:ln>
        </p:spPr>
      </p:sp>
      <p:sp>
        <p:nvSpPr>
          <p:cNvPr id="468" name="Shape 466"/>
          <p:cNvSpPr/>
          <p:nvPr/>
        </p:nvSpPr>
        <p:spPr>
          <a:xfrm flipV="1">
            <a:off x="2479494" y="3874501"/>
            <a:ext cx="49802" cy="3567"/>
          </a:xfrm>
          <a:prstGeom prst="line">
            <a:avLst/>
          </a:prstGeom>
          <a:noFill/>
          <a:ln w="31750">
            <a:solidFill>
              <a:srgbClr val="D4568F"/>
            </a:solidFill>
            <a:prstDash val="solid"/>
          </a:ln>
        </p:spPr>
      </p:sp>
      <p:sp>
        <p:nvSpPr>
          <p:cNvPr id="469" name="Shape 467"/>
          <p:cNvSpPr/>
          <p:nvPr/>
        </p:nvSpPr>
        <p:spPr>
          <a:xfrm flipV="1">
            <a:off x="2529296" y="3869577"/>
            <a:ext cx="49802" cy="4924"/>
          </a:xfrm>
          <a:prstGeom prst="line">
            <a:avLst/>
          </a:prstGeom>
          <a:noFill/>
          <a:ln w="31750">
            <a:solidFill>
              <a:srgbClr val="D4568F"/>
            </a:solidFill>
            <a:prstDash val="solid"/>
          </a:ln>
        </p:spPr>
      </p:sp>
      <p:sp>
        <p:nvSpPr>
          <p:cNvPr id="470" name="Shape 468"/>
          <p:cNvSpPr/>
          <p:nvPr/>
        </p:nvSpPr>
        <p:spPr>
          <a:xfrm flipV="1">
            <a:off x="2579098" y="3862907"/>
            <a:ext cx="49802" cy="6670"/>
          </a:xfrm>
          <a:prstGeom prst="line">
            <a:avLst/>
          </a:prstGeom>
          <a:noFill/>
          <a:ln w="31750">
            <a:solidFill>
              <a:srgbClr val="D4568F"/>
            </a:solidFill>
            <a:prstDash val="solid"/>
          </a:ln>
        </p:spPr>
      </p:sp>
      <p:sp>
        <p:nvSpPr>
          <p:cNvPr id="471" name="Shape 469"/>
          <p:cNvSpPr/>
          <p:nvPr/>
        </p:nvSpPr>
        <p:spPr>
          <a:xfrm flipV="1">
            <a:off x="2628900" y="3854041"/>
            <a:ext cx="49802" cy="8867"/>
          </a:xfrm>
          <a:prstGeom prst="line">
            <a:avLst/>
          </a:prstGeom>
          <a:noFill/>
          <a:ln w="31750">
            <a:solidFill>
              <a:srgbClr val="D4568F"/>
            </a:solidFill>
            <a:prstDash val="solid"/>
          </a:ln>
        </p:spPr>
      </p:sp>
      <p:sp>
        <p:nvSpPr>
          <p:cNvPr id="472" name="Shape 470"/>
          <p:cNvSpPr/>
          <p:nvPr/>
        </p:nvSpPr>
        <p:spPr>
          <a:xfrm flipV="1">
            <a:off x="2678702" y="3842468"/>
            <a:ext cx="49802" cy="11572"/>
          </a:xfrm>
          <a:prstGeom prst="line">
            <a:avLst/>
          </a:prstGeom>
          <a:noFill/>
          <a:ln w="31750">
            <a:solidFill>
              <a:srgbClr val="D4568F"/>
            </a:solidFill>
            <a:prstDash val="solid"/>
          </a:ln>
        </p:spPr>
      </p:sp>
      <p:sp>
        <p:nvSpPr>
          <p:cNvPr id="473" name="Shape 471"/>
          <p:cNvSpPr/>
          <p:nvPr/>
        </p:nvSpPr>
        <p:spPr>
          <a:xfrm flipV="1">
            <a:off x="2728504" y="3827640"/>
            <a:ext cx="49802" cy="14828"/>
          </a:xfrm>
          <a:prstGeom prst="line">
            <a:avLst/>
          </a:prstGeom>
          <a:noFill/>
          <a:ln w="31750">
            <a:solidFill>
              <a:srgbClr val="D4568F"/>
            </a:solidFill>
            <a:prstDash val="solid"/>
          </a:ln>
        </p:spPr>
      </p:sp>
      <p:sp>
        <p:nvSpPr>
          <p:cNvPr id="474" name="Shape 472"/>
          <p:cNvSpPr/>
          <p:nvPr/>
        </p:nvSpPr>
        <p:spPr>
          <a:xfrm flipV="1">
            <a:off x="2778306" y="3808989"/>
            <a:ext cx="49802" cy="18651"/>
          </a:xfrm>
          <a:prstGeom prst="line">
            <a:avLst/>
          </a:prstGeom>
          <a:noFill/>
          <a:ln w="31750">
            <a:solidFill>
              <a:srgbClr val="D4568F"/>
            </a:solidFill>
            <a:prstDash val="solid"/>
          </a:ln>
        </p:spPr>
      </p:sp>
      <p:sp>
        <p:nvSpPr>
          <p:cNvPr id="475" name="Shape 473"/>
          <p:cNvSpPr/>
          <p:nvPr/>
        </p:nvSpPr>
        <p:spPr>
          <a:xfrm flipV="1">
            <a:off x="2828109" y="3785969"/>
            <a:ext cx="49802" cy="23020"/>
          </a:xfrm>
          <a:prstGeom prst="line">
            <a:avLst/>
          </a:prstGeom>
          <a:noFill/>
          <a:ln w="31750">
            <a:solidFill>
              <a:srgbClr val="D4568F"/>
            </a:solidFill>
            <a:prstDash val="solid"/>
          </a:ln>
        </p:spPr>
      </p:sp>
      <p:sp>
        <p:nvSpPr>
          <p:cNvPr id="476" name="Shape 474"/>
          <p:cNvSpPr/>
          <p:nvPr/>
        </p:nvSpPr>
        <p:spPr>
          <a:xfrm flipV="1">
            <a:off x="2877911" y="3758096"/>
            <a:ext cx="49802" cy="27873"/>
          </a:xfrm>
          <a:prstGeom prst="line">
            <a:avLst/>
          </a:prstGeom>
          <a:noFill/>
          <a:ln w="31750">
            <a:solidFill>
              <a:srgbClr val="D4568F"/>
            </a:solidFill>
            <a:prstDash val="solid"/>
          </a:ln>
        </p:spPr>
      </p:sp>
      <p:sp>
        <p:nvSpPr>
          <p:cNvPr id="477" name="Shape 475"/>
          <p:cNvSpPr/>
          <p:nvPr/>
        </p:nvSpPr>
        <p:spPr>
          <a:xfrm flipV="1">
            <a:off x="2927713" y="3725003"/>
            <a:ext cx="49802" cy="33093"/>
          </a:xfrm>
          <a:prstGeom prst="line">
            <a:avLst/>
          </a:prstGeom>
          <a:noFill/>
          <a:ln w="31750">
            <a:solidFill>
              <a:srgbClr val="D4568F"/>
            </a:solidFill>
            <a:prstDash val="solid"/>
          </a:ln>
        </p:spPr>
      </p:sp>
      <p:sp>
        <p:nvSpPr>
          <p:cNvPr id="478" name="Shape 476"/>
          <p:cNvSpPr/>
          <p:nvPr/>
        </p:nvSpPr>
        <p:spPr>
          <a:xfrm flipV="1">
            <a:off x="2977515" y="3686498"/>
            <a:ext cx="49802" cy="38504"/>
          </a:xfrm>
          <a:prstGeom prst="line">
            <a:avLst/>
          </a:prstGeom>
          <a:noFill/>
          <a:ln w="31750">
            <a:solidFill>
              <a:srgbClr val="D4568F"/>
            </a:solidFill>
            <a:prstDash val="solid"/>
          </a:ln>
        </p:spPr>
      </p:sp>
      <p:sp>
        <p:nvSpPr>
          <p:cNvPr id="479" name="Shape 477"/>
          <p:cNvSpPr/>
          <p:nvPr/>
        </p:nvSpPr>
        <p:spPr>
          <a:xfrm flipV="1">
            <a:off x="3027317" y="3642623"/>
            <a:ext cx="49802" cy="43876"/>
          </a:xfrm>
          <a:prstGeom prst="line">
            <a:avLst/>
          </a:prstGeom>
          <a:noFill/>
          <a:ln w="31750">
            <a:solidFill>
              <a:srgbClr val="D4568F"/>
            </a:solidFill>
            <a:prstDash val="solid"/>
          </a:ln>
        </p:spPr>
      </p:sp>
      <p:sp>
        <p:nvSpPr>
          <p:cNvPr id="480" name="Shape 478"/>
          <p:cNvSpPr/>
          <p:nvPr/>
        </p:nvSpPr>
        <p:spPr>
          <a:xfrm flipV="1">
            <a:off x="3077119" y="3593701"/>
            <a:ext cx="49802" cy="48922"/>
          </a:xfrm>
          <a:prstGeom prst="line">
            <a:avLst/>
          </a:prstGeom>
          <a:noFill/>
          <a:ln w="31750">
            <a:solidFill>
              <a:srgbClr val="D4568F"/>
            </a:solidFill>
            <a:prstDash val="solid"/>
          </a:ln>
        </p:spPr>
      </p:sp>
      <p:sp>
        <p:nvSpPr>
          <p:cNvPr id="481" name="Shape 479"/>
          <p:cNvSpPr/>
          <p:nvPr/>
        </p:nvSpPr>
        <p:spPr>
          <a:xfrm flipV="1">
            <a:off x="3126921" y="3540382"/>
            <a:ext cx="49802" cy="53319"/>
          </a:xfrm>
          <a:prstGeom prst="line">
            <a:avLst/>
          </a:prstGeom>
          <a:noFill/>
          <a:ln w="31750">
            <a:solidFill>
              <a:srgbClr val="D4568F"/>
            </a:solidFill>
            <a:prstDash val="solid"/>
          </a:ln>
        </p:spPr>
      </p:sp>
      <p:sp>
        <p:nvSpPr>
          <p:cNvPr id="482" name="Shape 480"/>
          <p:cNvSpPr/>
          <p:nvPr/>
        </p:nvSpPr>
        <p:spPr>
          <a:xfrm flipV="1">
            <a:off x="3176724" y="3483658"/>
            <a:ext cx="49802" cy="56724"/>
          </a:xfrm>
          <a:prstGeom prst="line">
            <a:avLst/>
          </a:prstGeom>
          <a:noFill/>
          <a:ln w="31750">
            <a:solidFill>
              <a:srgbClr val="D4568F"/>
            </a:solidFill>
            <a:prstDash val="solid"/>
          </a:ln>
        </p:spPr>
      </p:sp>
      <p:sp>
        <p:nvSpPr>
          <p:cNvPr id="483" name="Shape 481"/>
          <p:cNvSpPr/>
          <p:nvPr/>
        </p:nvSpPr>
        <p:spPr>
          <a:xfrm flipV="1">
            <a:off x="3226526" y="3424861"/>
            <a:ext cx="49802" cy="58797"/>
          </a:xfrm>
          <a:prstGeom prst="line">
            <a:avLst/>
          </a:prstGeom>
          <a:noFill/>
          <a:ln w="31750">
            <a:solidFill>
              <a:srgbClr val="D4568F"/>
            </a:solidFill>
            <a:prstDash val="solid"/>
          </a:ln>
        </p:spPr>
      </p:sp>
      <p:sp>
        <p:nvSpPr>
          <p:cNvPr id="484" name="Shape 482"/>
          <p:cNvSpPr/>
          <p:nvPr/>
        </p:nvSpPr>
        <p:spPr>
          <a:xfrm flipV="1">
            <a:off x="3276328" y="3365627"/>
            <a:ext cx="49802" cy="59234"/>
          </a:xfrm>
          <a:prstGeom prst="line">
            <a:avLst/>
          </a:prstGeom>
          <a:noFill/>
          <a:ln w="31750">
            <a:solidFill>
              <a:srgbClr val="D4568F"/>
            </a:solidFill>
            <a:prstDash val="solid"/>
          </a:ln>
        </p:spPr>
      </p:sp>
      <p:sp>
        <p:nvSpPr>
          <p:cNvPr id="485" name="Shape 483"/>
          <p:cNvSpPr/>
          <p:nvPr/>
        </p:nvSpPr>
        <p:spPr>
          <a:xfrm flipV="1">
            <a:off x="3326130" y="3307831"/>
            <a:ext cx="49802" cy="57797"/>
          </a:xfrm>
          <a:prstGeom prst="line">
            <a:avLst/>
          </a:prstGeom>
          <a:noFill/>
          <a:ln w="31750">
            <a:solidFill>
              <a:srgbClr val="D4568F"/>
            </a:solidFill>
            <a:prstDash val="solid"/>
          </a:ln>
        </p:spPr>
      </p:sp>
      <p:sp>
        <p:nvSpPr>
          <p:cNvPr id="486" name="Shape 484"/>
          <p:cNvSpPr/>
          <p:nvPr/>
        </p:nvSpPr>
        <p:spPr>
          <a:xfrm flipV="1">
            <a:off x="3375932" y="3253492"/>
            <a:ext cx="49802" cy="54339"/>
          </a:xfrm>
          <a:prstGeom prst="line">
            <a:avLst/>
          </a:prstGeom>
          <a:noFill/>
          <a:ln w="31750">
            <a:solidFill>
              <a:srgbClr val="D4568F"/>
            </a:solidFill>
            <a:prstDash val="solid"/>
          </a:ln>
        </p:spPr>
      </p:sp>
      <p:sp>
        <p:nvSpPr>
          <p:cNvPr id="487" name="Shape 485"/>
          <p:cNvSpPr/>
          <p:nvPr/>
        </p:nvSpPr>
        <p:spPr>
          <a:xfrm flipV="1">
            <a:off x="3425734" y="3204659"/>
            <a:ext cx="49802" cy="48833"/>
          </a:xfrm>
          <a:prstGeom prst="line">
            <a:avLst/>
          </a:prstGeom>
          <a:noFill/>
          <a:ln w="31750">
            <a:solidFill>
              <a:srgbClr val="D4568F"/>
            </a:solidFill>
            <a:prstDash val="solid"/>
          </a:ln>
        </p:spPr>
      </p:sp>
      <p:sp>
        <p:nvSpPr>
          <p:cNvPr id="488" name="Shape 486"/>
          <p:cNvSpPr/>
          <p:nvPr/>
        </p:nvSpPr>
        <p:spPr>
          <a:xfrm flipV="1">
            <a:off x="3475536" y="3163277"/>
            <a:ext cx="49802" cy="41382"/>
          </a:xfrm>
          <a:prstGeom prst="line">
            <a:avLst/>
          </a:prstGeom>
          <a:noFill/>
          <a:ln w="31750">
            <a:solidFill>
              <a:srgbClr val="D4568F"/>
            </a:solidFill>
            <a:prstDash val="solid"/>
          </a:ln>
        </p:spPr>
      </p:sp>
      <p:sp>
        <p:nvSpPr>
          <p:cNvPr id="489" name="Shape 487"/>
          <p:cNvSpPr/>
          <p:nvPr/>
        </p:nvSpPr>
        <p:spPr>
          <a:xfrm flipV="1">
            <a:off x="3525339" y="3131055"/>
            <a:ext cx="49802" cy="32223"/>
          </a:xfrm>
          <a:prstGeom prst="line">
            <a:avLst/>
          </a:prstGeom>
          <a:noFill/>
          <a:ln w="31750">
            <a:solidFill>
              <a:srgbClr val="D4568F"/>
            </a:solidFill>
            <a:prstDash val="solid"/>
          </a:ln>
        </p:spPr>
      </p:sp>
      <p:sp>
        <p:nvSpPr>
          <p:cNvPr id="490" name="Shape 488"/>
          <p:cNvSpPr/>
          <p:nvPr/>
        </p:nvSpPr>
        <p:spPr>
          <a:xfrm flipV="1">
            <a:off x="3575141" y="3109337"/>
            <a:ext cx="49802" cy="21718"/>
          </a:xfrm>
          <a:prstGeom prst="line">
            <a:avLst/>
          </a:prstGeom>
          <a:noFill/>
          <a:ln w="31750">
            <a:solidFill>
              <a:srgbClr val="D4568F"/>
            </a:solidFill>
            <a:prstDash val="solid"/>
          </a:ln>
        </p:spPr>
      </p:sp>
      <p:sp>
        <p:nvSpPr>
          <p:cNvPr id="491" name="Shape 489"/>
          <p:cNvSpPr/>
          <p:nvPr/>
        </p:nvSpPr>
        <p:spPr>
          <a:xfrm flipV="1">
            <a:off x="3624943" y="3099005"/>
            <a:ext cx="49802" cy="10332"/>
          </a:xfrm>
          <a:prstGeom prst="line">
            <a:avLst/>
          </a:prstGeom>
          <a:noFill/>
          <a:ln w="31750">
            <a:solidFill>
              <a:srgbClr val="D4568F"/>
            </a:solidFill>
            <a:prstDash val="solid"/>
          </a:ln>
        </p:spPr>
      </p:sp>
      <p:sp>
        <p:nvSpPr>
          <p:cNvPr id="492" name="Shape 490"/>
          <p:cNvSpPr/>
          <p:nvPr/>
        </p:nvSpPr>
        <p:spPr>
          <a:xfrm>
            <a:off x="3674745" y="3099005"/>
            <a:ext cx="49802" cy="1401"/>
          </a:xfrm>
          <a:prstGeom prst="line">
            <a:avLst/>
          </a:prstGeom>
          <a:noFill/>
          <a:ln w="31750">
            <a:solidFill>
              <a:srgbClr val="D4568F"/>
            </a:solidFill>
            <a:prstDash val="solid"/>
          </a:ln>
        </p:spPr>
      </p:sp>
      <p:sp>
        <p:nvSpPr>
          <p:cNvPr id="493" name="Shape 491"/>
          <p:cNvSpPr/>
          <p:nvPr/>
        </p:nvSpPr>
        <p:spPr>
          <a:xfrm>
            <a:off x="3724547" y="3100406"/>
            <a:ext cx="49802" cy="12915"/>
          </a:xfrm>
          <a:prstGeom prst="line">
            <a:avLst/>
          </a:prstGeom>
          <a:noFill/>
          <a:ln w="31750">
            <a:solidFill>
              <a:srgbClr val="D4568F"/>
            </a:solidFill>
            <a:prstDash val="solid"/>
          </a:ln>
        </p:spPr>
      </p:sp>
      <p:sp>
        <p:nvSpPr>
          <p:cNvPr id="494" name="Shape 492"/>
          <p:cNvSpPr/>
          <p:nvPr/>
        </p:nvSpPr>
        <p:spPr>
          <a:xfrm>
            <a:off x="3774349" y="3113321"/>
            <a:ext cx="49802" cy="23661"/>
          </a:xfrm>
          <a:prstGeom prst="line">
            <a:avLst/>
          </a:prstGeom>
          <a:noFill/>
          <a:ln w="31750">
            <a:solidFill>
              <a:srgbClr val="D4568F"/>
            </a:solidFill>
            <a:prstDash val="solid"/>
          </a:ln>
        </p:spPr>
      </p:sp>
      <p:sp>
        <p:nvSpPr>
          <p:cNvPr id="495" name="Shape 493"/>
          <p:cNvSpPr/>
          <p:nvPr/>
        </p:nvSpPr>
        <p:spPr>
          <a:xfrm>
            <a:off x="3824151" y="3136982"/>
            <a:ext cx="49802" cy="33142"/>
          </a:xfrm>
          <a:prstGeom prst="line">
            <a:avLst/>
          </a:prstGeom>
          <a:noFill/>
          <a:ln w="31750">
            <a:solidFill>
              <a:srgbClr val="D4568F"/>
            </a:solidFill>
            <a:prstDash val="solid"/>
          </a:ln>
        </p:spPr>
      </p:sp>
      <p:sp>
        <p:nvSpPr>
          <p:cNvPr id="496" name="Shape 494"/>
          <p:cNvSpPr/>
          <p:nvPr/>
        </p:nvSpPr>
        <p:spPr>
          <a:xfrm>
            <a:off x="3873954" y="3170124"/>
            <a:ext cx="49802" cy="40956"/>
          </a:xfrm>
          <a:prstGeom prst="line">
            <a:avLst/>
          </a:prstGeom>
          <a:noFill/>
          <a:ln w="31750">
            <a:solidFill>
              <a:srgbClr val="D4568F"/>
            </a:solidFill>
            <a:prstDash val="solid"/>
          </a:ln>
        </p:spPr>
      </p:sp>
      <p:sp>
        <p:nvSpPr>
          <p:cNvPr id="497" name="Shape 495"/>
          <p:cNvSpPr/>
          <p:nvPr/>
        </p:nvSpPr>
        <p:spPr>
          <a:xfrm>
            <a:off x="3923756" y="3211080"/>
            <a:ext cx="49802" cy="46816"/>
          </a:xfrm>
          <a:prstGeom prst="line">
            <a:avLst/>
          </a:prstGeom>
          <a:noFill/>
          <a:ln w="31750">
            <a:solidFill>
              <a:srgbClr val="D4568F"/>
            </a:solidFill>
            <a:prstDash val="solid"/>
          </a:ln>
        </p:spPr>
      </p:sp>
      <p:sp>
        <p:nvSpPr>
          <p:cNvPr id="498" name="Shape 496"/>
          <p:cNvSpPr/>
          <p:nvPr/>
        </p:nvSpPr>
        <p:spPr>
          <a:xfrm>
            <a:off x="3973558" y="3257896"/>
            <a:ext cx="49802" cy="50570"/>
          </a:xfrm>
          <a:prstGeom prst="line">
            <a:avLst/>
          </a:prstGeom>
          <a:noFill/>
          <a:ln w="31750">
            <a:solidFill>
              <a:srgbClr val="D4568F"/>
            </a:solidFill>
            <a:prstDash val="solid"/>
          </a:ln>
        </p:spPr>
      </p:sp>
      <p:sp>
        <p:nvSpPr>
          <p:cNvPr id="499" name="Shape 497"/>
          <p:cNvSpPr/>
          <p:nvPr/>
        </p:nvSpPr>
        <p:spPr>
          <a:xfrm>
            <a:off x="4023360" y="3308466"/>
            <a:ext cx="49802" cy="52201"/>
          </a:xfrm>
          <a:prstGeom prst="line">
            <a:avLst/>
          </a:prstGeom>
          <a:noFill/>
          <a:ln w="31750">
            <a:solidFill>
              <a:srgbClr val="D4568F"/>
            </a:solidFill>
            <a:prstDash val="solid"/>
          </a:ln>
        </p:spPr>
      </p:sp>
      <p:sp>
        <p:nvSpPr>
          <p:cNvPr id="500" name="Shape 498"/>
          <p:cNvSpPr/>
          <p:nvPr/>
        </p:nvSpPr>
        <p:spPr>
          <a:xfrm>
            <a:off x="4073162" y="3360667"/>
            <a:ext cx="49802" cy="51819"/>
          </a:xfrm>
          <a:prstGeom prst="line">
            <a:avLst/>
          </a:prstGeom>
          <a:noFill/>
          <a:ln w="31750">
            <a:solidFill>
              <a:srgbClr val="D4568F"/>
            </a:solidFill>
            <a:prstDash val="solid"/>
          </a:ln>
        </p:spPr>
      </p:sp>
      <p:sp>
        <p:nvSpPr>
          <p:cNvPr id="501" name="Shape 499"/>
          <p:cNvSpPr/>
          <p:nvPr/>
        </p:nvSpPr>
        <p:spPr>
          <a:xfrm>
            <a:off x="4122964" y="3412486"/>
            <a:ext cx="49802" cy="49636"/>
          </a:xfrm>
          <a:prstGeom prst="line">
            <a:avLst/>
          </a:prstGeom>
          <a:noFill/>
          <a:ln w="31750">
            <a:solidFill>
              <a:srgbClr val="D4568F"/>
            </a:solidFill>
            <a:prstDash val="solid"/>
          </a:ln>
        </p:spPr>
      </p:sp>
      <p:sp>
        <p:nvSpPr>
          <p:cNvPr id="502" name="Shape 500"/>
          <p:cNvSpPr/>
          <p:nvPr/>
        </p:nvSpPr>
        <p:spPr>
          <a:xfrm>
            <a:off x="4172766" y="3462122"/>
            <a:ext cx="49802" cy="45947"/>
          </a:xfrm>
          <a:prstGeom prst="line">
            <a:avLst/>
          </a:prstGeom>
          <a:noFill/>
          <a:ln w="31750">
            <a:solidFill>
              <a:srgbClr val="D4568F"/>
            </a:solidFill>
            <a:prstDash val="solid"/>
          </a:ln>
        </p:spPr>
      </p:sp>
      <p:sp>
        <p:nvSpPr>
          <p:cNvPr id="503" name="Shape 501"/>
          <p:cNvSpPr/>
          <p:nvPr/>
        </p:nvSpPr>
        <p:spPr>
          <a:xfrm>
            <a:off x="4222569" y="3508069"/>
            <a:ext cx="49802" cy="41093"/>
          </a:xfrm>
          <a:prstGeom prst="line">
            <a:avLst/>
          </a:prstGeom>
          <a:noFill/>
          <a:ln w="31750">
            <a:solidFill>
              <a:srgbClr val="D4568F"/>
            </a:solidFill>
            <a:prstDash val="solid"/>
          </a:ln>
        </p:spPr>
      </p:sp>
      <p:sp>
        <p:nvSpPr>
          <p:cNvPr id="504" name="Shape 502"/>
          <p:cNvSpPr/>
          <p:nvPr/>
        </p:nvSpPr>
        <p:spPr>
          <a:xfrm>
            <a:off x="4272371" y="3549162"/>
            <a:ext cx="49802" cy="35433"/>
          </a:xfrm>
          <a:prstGeom prst="line">
            <a:avLst/>
          </a:prstGeom>
          <a:noFill/>
          <a:ln w="31750">
            <a:solidFill>
              <a:srgbClr val="D4568F"/>
            </a:solidFill>
            <a:prstDash val="solid"/>
          </a:ln>
        </p:spPr>
      </p:sp>
      <p:sp>
        <p:nvSpPr>
          <p:cNvPr id="505" name="Shape 503"/>
          <p:cNvSpPr/>
          <p:nvPr/>
        </p:nvSpPr>
        <p:spPr>
          <a:xfrm>
            <a:off x="4322173" y="3584595"/>
            <a:ext cx="49802" cy="29320"/>
          </a:xfrm>
          <a:prstGeom prst="line">
            <a:avLst/>
          </a:prstGeom>
          <a:noFill/>
          <a:ln w="31750">
            <a:solidFill>
              <a:srgbClr val="D4568F"/>
            </a:solidFill>
            <a:prstDash val="solid"/>
          </a:ln>
        </p:spPr>
      </p:sp>
      <p:sp>
        <p:nvSpPr>
          <p:cNvPr id="506" name="Shape 504"/>
          <p:cNvSpPr/>
          <p:nvPr/>
        </p:nvSpPr>
        <p:spPr>
          <a:xfrm>
            <a:off x="4371975" y="3613916"/>
            <a:ext cx="49802" cy="23074"/>
          </a:xfrm>
          <a:prstGeom prst="line">
            <a:avLst/>
          </a:prstGeom>
          <a:noFill/>
          <a:ln w="31750">
            <a:solidFill>
              <a:srgbClr val="D4568F"/>
            </a:solidFill>
            <a:prstDash val="solid"/>
          </a:ln>
        </p:spPr>
      </p:sp>
      <p:sp>
        <p:nvSpPr>
          <p:cNvPr id="507" name="Shape 505"/>
          <p:cNvSpPr/>
          <p:nvPr/>
        </p:nvSpPr>
        <p:spPr>
          <a:xfrm>
            <a:off x="4421777" y="3636990"/>
            <a:ext cx="49802" cy="16969"/>
          </a:xfrm>
          <a:prstGeom prst="line">
            <a:avLst/>
          </a:prstGeom>
          <a:noFill/>
          <a:ln w="31750">
            <a:solidFill>
              <a:srgbClr val="D4568F"/>
            </a:solidFill>
            <a:prstDash val="solid"/>
          </a:ln>
        </p:spPr>
      </p:sp>
      <p:sp>
        <p:nvSpPr>
          <p:cNvPr id="508" name="Shape 506"/>
          <p:cNvSpPr/>
          <p:nvPr/>
        </p:nvSpPr>
        <p:spPr>
          <a:xfrm>
            <a:off x="4471579" y="3653959"/>
            <a:ext cx="49802" cy="11224"/>
          </a:xfrm>
          <a:prstGeom prst="line">
            <a:avLst/>
          </a:prstGeom>
          <a:noFill/>
          <a:ln w="31750">
            <a:solidFill>
              <a:srgbClr val="D4568F"/>
            </a:solidFill>
            <a:prstDash val="solid"/>
          </a:ln>
        </p:spPr>
      </p:sp>
      <p:sp>
        <p:nvSpPr>
          <p:cNvPr id="509" name="Shape 507"/>
          <p:cNvSpPr/>
          <p:nvPr/>
        </p:nvSpPr>
        <p:spPr>
          <a:xfrm>
            <a:off x="4521381" y="3665183"/>
            <a:ext cx="49802" cy="5999"/>
          </a:xfrm>
          <a:prstGeom prst="line">
            <a:avLst/>
          </a:prstGeom>
          <a:noFill/>
          <a:ln w="31750">
            <a:solidFill>
              <a:srgbClr val="D4568F"/>
            </a:solidFill>
            <a:prstDash val="solid"/>
          </a:ln>
        </p:spPr>
      </p:sp>
      <p:sp>
        <p:nvSpPr>
          <p:cNvPr id="510" name="Shape 508"/>
          <p:cNvSpPr/>
          <p:nvPr/>
        </p:nvSpPr>
        <p:spPr>
          <a:xfrm>
            <a:off x="4571184" y="3671182"/>
            <a:ext cx="49802" cy="1401"/>
          </a:xfrm>
          <a:prstGeom prst="line">
            <a:avLst/>
          </a:prstGeom>
          <a:noFill/>
          <a:ln w="31750">
            <a:solidFill>
              <a:srgbClr val="D4568F"/>
            </a:solidFill>
            <a:prstDash val="solid"/>
          </a:ln>
        </p:spPr>
      </p:sp>
      <p:sp>
        <p:nvSpPr>
          <p:cNvPr id="511" name="Shape 509"/>
          <p:cNvSpPr/>
          <p:nvPr/>
        </p:nvSpPr>
        <p:spPr>
          <a:xfrm flipV="1">
            <a:off x="4620986" y="3670071"/>
            <a:ext cx="49802" cy="2512"/>
          </a:xfrm>
          <a:prstGeom prst="line">
            <a:avLst/>
          </a:prstGeom>
          <a:noFill/>
          <a:ln w="31750">
            <a:solidFill>
              <a:srgbClr val="D4568F"/>
            </a:solidFill>
            <a:prstDash val="solid"/>
          </a:ln>
        </p:spPr>
      </p:sp>
      <p:sp>
        <p:nvSpPr>
          <p:cNvPr id="512" name="Shape 510"/>
          <p:cNvSpPr/>
          <p:nvPr/>
        </p:nvSpPr>
        <p:spPr>
          <a:xfrm flipV="1">
            <a:off x="4670788" y="3664347"/>
            <a:ext cx="49802" cy="5724"/>
          </a:xfrm>
          <a:prstGeom prst="line">
            <a:avLst/>
          </a:prstGeom>
          <a:noFill/>
          <a:ln w="31750">
            <a:solidFill>
              <a:srgbClr val="D4568F"/>
            </a:solidFill>
            <a:prstDash val="solid"/>
          </a:ln>
        </p:spPr>
      </p:sp>
      <p:sp>
        <p:nvSpPr>
          <p:cNvPr id="513" name="Shape 511"/>
          <p:cNvSpPr/>
          <p:nvPr/>
        </p:nvSpPr>
        <p:spPr>
          <a:xfrm flipV="1">
            <a:off x="4720590" y="3656098"/>
            <a:ext cx="49802" cy="8249"/>
          </a:xfrm>
          <a:prstGeom prst="line">
            <a:avLst/>
          </a:prstGeom>
          <a:noFill/>
          <a:ln w="31750">
            <a:solidFill>
              <a:srgbClr val="D4568F"/>
            </a:solidFill>
            <a:prstDash val="solid"/>
          </a:ln>
        </p:spPr>
      </p:sp>
      <p:sp>
        <p:nvSpPr>
          <p:cNvPr id="514" name="Shape 512"/>
          <p:cNvSpPr/>
          <p:nvPr/>
        </p:nvSpPr>
        <p:spPr>
          <a:xfrm flipV="1">
            <a:off x="4770392" y="3645977"/>
            <a:ext cx="49802" cy="10121"/>
          </a:xfrm>
          <a:prstGeom prst="line">
            <a:avLst/>
          </a:prstGeom>
          <a:noFill/>
          <a:ln w="31750">
            <a:solidFill>
              <a:srgbClr val="D4568F"/>
            </a:solidFill>
            <a:prstDash val="solid"/>
          </a:ln>
        </p:spPr>
      </p:sp>
      <p:sp>
        <p:nvSpPr>
          <p:cNvPr id="515" name="Shape 513"/>
          <p:cNvSpPr/>
          <p:nvPr/>
        </p:nvSpPr>
        <p:spPr>
          <a:xfrm flipV="1">
            <a:off x="4820194" y="3634586"/>
            <a:ext cx="49802" cy="11390"/>
          </a:xfrm>
          <a:prstGeom prst="line">
            <a:avLst/>
          </a:prstGeom>
          <a:noFill/>
          <a:ln w="31750">
            <a:solidFill>
              <a:srgbClr val="D4568F"/>
            </a:solidFill>
            <a:prstDash val="solid"/>
          </a:ln>
        </p:spPr>
      </p:sp>
      <p:sp>
        <p:nvSpPr>
          <p:cNvPr id="516" name="Shape 514"/>
          <p:cNvSpPr/>
          <p:nvPr/>
        </p:nvSpPr>
        <p:spPr>
          <a:xfrm flipV="1">
            <a:off x="4869996" y="3622475"/>
            <a:ext cx="49802" cy="12112"/>
          </a:xfrm>
          <a:prstGeom prst="line">
            <a:avLst/>
          </a:prstGeom>
          <a:noFill/>
          <a:ln w="31750">
            <a:solidFill>
              <a:srgbClr val="D4568F"/>
            </a:solidFill>
            <a:prstDash val="solid"/>
          </a:ln>
        </p:spPr>
      </p:sp>
      <p:sp>
        <p:nvSpPr>
          <p:cNvPr id="517" name="Shape 515"/>
          <p:cNvSpPr/>
          <p:nvPr/>
        </p:nvSpPr>
        <p:spPr>
          <a:xfrm flipV="1">
            <a:off x="4919799" y="3610131"/>
            <a:ext cx="49802" cy="12343"/>
          </a:xfrm>
          <a:prstGeom prst="line">
            <a:avLst/>
          </a:prstGeom>
          <a:noFill/>
          <a:ln w="31750">
            <a:solidFill>
              <a:srgbClr val="D4568F"/>
            </a:solidFill>
            <a:prstDash val="solid"/>
          </a:ln>
        </p:spPr>
      </p:sp>
      <p:sp>
        <p:nvSpPr>
          <p:cNvPr id="518" name="Shape 516"/>
          <p:cNvSpPr/>
          <p:nvPr/>
        </p:nvSpPr>
        <p:spPr>
          <a:xfrm flipV="1">
            <a:off x="4969601" y="3597989"/>
            <a:ext cx="49802" cy="12143"/>
          </a:xfrm>
          <a:prstGeom prst="line">
            <a:avLst/>
          </a:prstGeom>
          <a:noFill/>
          <a:ln w="31750">
            <a:solidFill>
              <a:srgbClr val="D4568F"/>
            </a:solidFill>
            <a:prstDash val="solid"/>
          </a:ln>
        </p:spPr>
      </p:sp>
      <p:sp>
        <p:nvSpPr>
          <p:cNvPr id="519" name="Shape 517"/>
          <p:cNvSpPr/>
          <p:nvPr/>
        </p:nvSpPr>
        <p:spPr>
          <a:xfrm flipV="1">
            <a:off x="5019403" y="3586424"/>
            <a:ext cx="49802" cy="11565"/>
          </a:xfrm>
          <a:prstGeom prst="line">
            <a:avLst/>
          </a:prstGeom>
          <a:noFill/>
          <a:ln w="31750">
            <a:solidFill>
              <a:srgbClr val="D4568F"/>
            </a:solidFill>
            <a:prstDash val="solid"/>
          </a:ln>
        </p:spPr>
      </p:sp>
      <p:sp>
        <p:nvSpPr>
          <p:cNvPr id="520" name="Shape 518"/>
          <p:cNvSpPr/>
          <p:nvPr/>
        </p:nvSpPr>
        <p:spPr>
          <a:xfrm flipV="1">
            <a:off x="5069205" y="3575763"/>
            <a:ext cx="49802" cy="10661"/>
          </a:xfrm>
          <a:prstGeom prst="line">
            <a:avLst/>
          </a:prstGeom>
          <a:noFill/>
          <a:ln w="31750">
            <a:solidFill>
              <a:srgbClr val="D4568F"/>
            </a:solidFill>
            <a:prstDash val="solid"/>
          </a:ln>
        </p:spPr>
      </p:sp>
      <p:sp>
        <p:nvSpPr>
          <p:cNvPr id="521" name="Shape 519"/>
          <p:cNvSpPr/>
          <p:nvPr/>
        </p:nvSpPr>
        <p:spPr>
          <a:xfrm flipV="1">
            <a:off x="5119007" y="3566284"/>
            <a:ext cx="49802" cy="9479"/>
          </a:xfrm>
          <a:prstGeom prst="line">
            <a:avLst/>
          </a:prstGeom>
          <a:noFill/>
          <a:ln w="31750">
            <a:solidFill>
              <a:srgbClr val="D4568F"/>
            </a:solidFill>
            <a:prstDash val="solid"/>
          </a:ln>
        </p:spPr>
      </p:sp>
      <p:sp>
        <p:nvSpPr>
          <p:cNvPr id="522" name="Shape 520"/>
          <p:cNvSpPr/>
          <p:nvPr/>
        </p:nvSpPr>
        <p:spPr>
          <a:xfrm flipV="1">
            <a:off x="5168809" y="3558218"/>
            <a:ext cx="49802" cy="8066"/>
          </a:xfrm>
          <a:prstGeom prst="line">
            <a:avLst/>
          </a:prstGeom>
          <a:noFill/>
          <a:ln w="31750">
            <a:solidFill>
              <a:srgbClr val="D4568F"/>
            </a:solidFill>
            <a:prstDash val="solid"/>
          </a:ln>
        </p:spPr>
      </p:sp>
      <p:sp>
        <p:nvSpPr>
          <p:cNvPr id="523" name="Shape 521"/>
          <p:cNvSpPr/>
          <p:nvPr/>
        </p:nvSpPr>
        <p:spPr>
          <a:xfrm flipV="1">
            <a:off x="5218611" y="3551754"/>
            <a:ext cx="49802" cy="6464"/>
          </a:xfrm>
          <a:prstGeom prst="line">
            <a:avLst/>
          </a:prstGeom>
          <a:noFill/>
          <a:ln w="31750">
            <a:solidFill>
              <a:srgbClr val="D4568F"/>
            </a:solidFill>
            <a:prstDash val="solid"/>
          </a:ln>
        </p:spPr>
      </p:sp>
      <p:sp>
        <p:nvSpPr>
          <p:cNvPr id="524" name="Shape 522"/>
          <p:cNvSpPr/>
          <p:nvPr/>
        </p:nvSpPr>
        <p:spPr>
          <a:xfrm flipV="1">
            <a:off x="5268414" y="3547040"/>
            <a:ext cx="49802" cy="4715"/>
          </a:xfrm>
          <a:prstGeom prst="line">
            <a:avLst/>
          </a:prstGeom>
          <a:noFill/>
          <a:ln w="31750">
            <a:solidFill>
              <a:srgbClr val="D4568F"/>
            </a:solidFill>
            <a:prstDash val="solid"/>
          </a:ln>
        </p:spPr>
      </p:sp>
      <p:sp>
        <p:nvSpPr>
          <p:cNvPr id="525" name="Shape 523"/>
          <p:cNvSpPr/>
          <p:nvPr/>
        </p:nvSpPr>
        <p:spPr>
          <a:xfrm flipV="1">
            <a:off x="5318216" y="3544179"/>
            <a:ext cx="49802" cy="2860"/>
          </a:xfrm>
          <a:prstGeom prst="line">
            <a:avLst/>
          </a:prstGeom>
          <a:noFill/>
          <a:ln w="31750">
            <a:solidFill>
              <a:srgbClr val="D4568F"/>
            </a:solidFill>
            <a:prstDash val="solid"/>
          </a:ln>
        </p:spPr>
      </p:sp>
      <p:sp>
        <p:nvSpPr>
          <p:cNvPr id="526" name="Shape 524"/>
          <p:cNvSpPr/>
          <p:nvPr/>
        </p:nvSpPr>
        <p:spPr>
          <a:xfrm flipV="1">
            <a:off x="5368018" y="3543240"/>
            <a:ext cx="49802" cy="940"/>
          </a:xfrm>
          <a:prstGeom prst="line">
            <a:avLst/>
          </a:prstGeom>
          <a:noFill/>
          <a:ln w="31750">
            <a:solidFill>
              <a:srgbClr val="D4568F"/>
            </a:solidFill>
            <a:prstDash val="solid"/>
          </a:ln>
        </p:spPr>
      </p:sp>
      <p:sp>
        <p:nvSpPr>
          <p:cNvPr id="527" name="Shape 525"/>
          <p:cNvSpPr/>
          <p:nvPr/>
        </p:nvSpPr>
        <p:spPr>
          <a:xfrm>
            <a:off x="5417820" y="3543240"/>
            <a:ext cx="49802" cy="1008"/>
          </a:xfrm>
          <a:prstGeom prst="line">
            <a:avLst/>
          </a:prstGeom>
          <a:noFill/>
          <a:ln w="31750">
            <a:solidFill>
              <a:srgbClr val="D4568F"/>
            </a:solidFill>
            <a:prstDash val="solid"/>
          </a:ln>
        </p:spPr>
      </p:sp>
      <p:sp>
        <p:nvSpPr>
          <p:cNvPr id="528" name="Shape 526"/>
          <p:cNvSpPr/>
          <p:nvPr/>
        </p:nvSpPr>
        <p:spPr>
          <a:xfrm>
            <a:off x="5467622" y="3544248"/>
            <a:ext cx="49802" cy="2946"/>
          </a:xfrm>
          <a:prstGeom prst="line">
            <a:avLst/>
          </a:prstGeom>
          <a:noFill/>
          <a:ln w="31750">
            <a:solidFill>
              <a:srgbClr val="D4568F"/>
            </a:solidFill>
            <a:prstDash val="solid"/>
          </a:ln>
        </p:spPr>
      </p:sp>
      <p:sp>
        <p:nvSpPr>
          <p:cNvPr id="529" name="Shape 527"/>
          <p:cNvSpPr/>
          <p:nvPr/>
        </p:nvSpPr>
        <p:spPr>
          <a:xfrm>
            <a:off x="5517424" y="3547194"/>
            <a:ext cx="49802" cy="4838"/>
          </a:xfrm>
          <a:prstGeom prst="line">
            <a:avLst/>
          </a:prstGeom>
          <a:noFill/>
          <a:ln w="31750">
            <a:solidFill>
              <a:srgbClr val="D4568F"/>
            </a:solidFill>
            <a:prstDash val="solid"/>
          </a:ln>
        </p:spPr>
      </p:sp>
      <p:sp>
        <p:nvSpPr>
          <p:cNvPr id="530" name="Shape 528"/>
          <p:cNvSpPr/>
          <p:nvPr/>
        </p:nvSpPr>
        <p:spPr>
          <a:xfrm>
            <a:off x="5567226" y="3552031"/>
            <a:ext cx="49802" cy="6650"/>
          </a:xfrm>
          <a:prstGeom prst="line">
            <a:avLst/>
          </a:prstGeom>
          <a:noFill/>
          <a:ln w="31750">
            <a:solidFill>
              <a:srgbClr val="D4568F"/>
            </a:solidFill>
            <a:prstDash val="solid"/>
          </a:ln>
        </p:spPr>
      </p:sp>
      <p:sp>
        <p:nvSpPr>
          <p:cNvPr id="531" name="Shape 529"/>
          <p:cNvSpPr/>
          <p:nvPr/>
        </p:nvSpPr>
        <p:spPr>
          <a:xfrm>
            <a:off x="5617029" y="3558682"/>
            <a:ext cx="49802" cy="8353"/>
          </a:xfrm>
          <a:prstGeom prst="line">
            <a:avLst/>
          </a:prstGeom>
          <a:noFill/>
          <a:ln w="31750">
            <a:solidFill>
              <a:srgbClr val="D4568F"/>
            </a:solidFill>
            <a:prstDash val="solid"/>
          </a:ln>
        </p:spPr>
      </p:sp>
      <p:sp>
        <p:nvSpPr>
          <p:cNvPr id="532" name="Shape 530"/>
          <p:cNvSpPr/>
          <p:nvPr/>
        </p:nvSpPr>
        <p:spPr>
          <a:xfrm>
            <a:off x="5666831" y="3567035"/>
            <a:ext cx="49802" cy="9919"/>
          </a:xfrm>
          <a:prstGeom prst="line">
            <a:avLst/>
          </a:prstGeom>
          <a:noFill/>
          <a:ln w="31750">
            <a:solidFill>
              <a:srgbClr val="D4568F"/>
            </a:solidFill>
            <a:prstDash val="solid"/>
          </a:ln>
        </p:spPr>
      </p:sp>
      <p:sp>
        <p:nvSpPr>
          <p:cNvPr id="533" name="Shape 531"/>
          <p:cNvSpPr/>
          <p:nvPr/>
        </p:nvSpPr>
        <p:spPr>
          <a:xfrm>
            <a:off x="5716633" y="3576953"/>
            <a:ext cx="49802" cy="11325"/>
          </a:xfrm>
          <a:prstGeom prst="line">
            <a:avLst/>
          </a:prstGeom>
          <a:noFill/>
          <a:ln w="31750">
            <a:solidFill>
              <a:srgbClr val="D4568F"/>
            </a:solidFill>
            <a:prstDash val="solid"/>
          </a:ln>
        </p:spPr>
      </p:sp>
      <p:sp>
        <p:nvSpPr>
          <p:cNvPr id="534" name="Shape 532"/>
          <p:cNvSpPr/>
          <p:nvPr/>
        </p:nvSpPr>
        <p:spPr>
          <a:xfrm>
            <a:off x="5766435" y="3588278"/>
            <a:ext cx="49802" cy="12552"/>
          </a:xfrm>
          <a:prstGeom prst="line">
            <a:avLst/>
          </a:prstGeom>
          <a:noFill/>
          <a:ln w="31750">
            <a:solidFill>
              <a:srgbClr val="D4568F"/>
            </a:solidFill>
            <a:prstDash val="solid"/>
          </a:ln>
        </p:spPr>
      </p:sp>
      <p:sp>
        <p:nvSpPr>
          <p:cNvPr id="535" name="Shape 533"/>
          <p:cNvSpPr/>
          <p:nvPr/>
        </p:nvSpPr>
        <p:spPr>
          <a:xfrm>
            <a:off x="5816237" y="3600830"/>
            <a:ext cx="49802" cy="13587"/>
          </a:xfrm>
          <a:prstGeom prst="line">
            <a:avLst/>
          </a:prstGeom>
          <a:noFill/>
          <a:ln w="31750">
            <a:solidFill>
              <a:srgbClr val="D4568F"/>
            </a:solidFill>
            <a:prstDash val="solid"/>
          </a:ln>
        </p:spPr>
      </p:sp>
      <p:sp>
        <p:nvSpPr>
          <p:cNvPr id="536" name="Shape 534"/>
          <p:cNvSpPr/>
          <p:nvPr/>
        </p:nvSpPr>
        <p:spPr>
          <a:xfrm>
            <a:off x="5866039" y="3614418"/>
            <a:ext cx="49802" cy="14422"/>
          </a:xfrm>
          <a:prstGeom prst="line">
            <a:avLst/>
          </a:prstGeom>
          <a:noFill/>
          <a:ln w="31750">
            <a:solidFill>
              <a:srgbClr val="D4568F"/>
            </a:solidFill>
            <a:prstDash val="solid"/>
          </a:ln>
        </p:spPr>
      </p:sp>
      <p:sp>
        <p:nvSpPr>
          <p:cNvPr id="537" name="Shape 535"/>
          <p:cNvSpPr/>
          <p:nvPr/>
        </p:nvSpPr>
        <p:spPr>
          <a:xfrm>
            <a:off x="5915841" y="3628839"/>
            <a:ext cx="49802" cy="15051"/>
          </a:xfrm>
          <a:prstGeom prst="line">
            <a:avLst/>
          </a:prstGeom>
          <a:noFill/>
          <a:ln w="31750">
            <a:solidFill>
              <a:srgbClr val="D4568F"/>
            </a:solidFill>
            <a:prstDash val="solid"/>
          </a:ln>
        </p:spPr>
      </p:sp>
      <p:sp>
        <p:nvSpPr>
          <p:cNvPr id="538" name="Shape 536"/>
          <p:cNvSpPr/>
          <p:nvPr/>
        </p:nvSpPr>
        <p:spPr>
          <a:xfrm>
            <a:off x="5965644" y="3643890"/>
            <a:ext cx="49802" cy="15476"/>
          </a:xfrm>
          <a:prstGeom prst="line">
            <a:avLst/>
          </a:prstGeom>
          <a:noFill/>
          <a:ln w="31750">
            <a:solidFill>
              <a:srgbClr val="D4568F"/>
            </a:solidFill>
            <a:prstDash val="solid"/>
          </a:ln>
        </p:spPr>
      </p:sp>
      <p:sp>
        <p:nvSpPr>
          <p:cNvPr id="539" name="Shape 537"/>
          <p:cNvSpPr/>
          <p:nvPr/>
        </p:nvSpPr>
        <p:spPr>
          <a:xfrm>
            <a:off x="6015446" y="3659367"/>
            <a:ext cx="49802" cy="15703"/>
          </a:xfrm>
          <a:prstGeom prst="line">
            <a:avLst/>
          </a:prstGeom>
          <a:noFill/>
          <a:ln w="31750">
            <a:solidFill>
              <a:srgbClr val="D4568F"/>
            </a:solidFill>
            <a:prstDash val="solid"/>
          </a:ln>
        </p:spPr>
      </p:sp>
      <p:sp>
        <p:nvSpPr>
          <p:cNvPr id="540" name="Shape 538"/>
          <p:cNvSpPr/>
          <p:nvPr/>
        </p:nvSpPr>
        <p:spPr>
          <a:xfrm>
            <a:off x="6065248" y="3675070"/>
            <a:ext cx="49802" cy="15741"/>
          </a:xfrm>
          <a:prstGeom prst="line">
            <a:avLst/>
          </a:prstGeom>
          <a:noFill/>
          <a:ln w="31750">
            <a:solidFill>
              <a:srgbClr val="D4568F"/>
            </a:solidFill>
            <a:prstDash val="solid"/>
          </a:ln>
        </p:spPr>
      </p:sp>
      <p:sp>
        <p:nvSpPr>
          <p:cNvPr id="541" name="Shape 539"/>
          <p:cNvSpPr/>
          <p:nvPr/>
        </p:nvSpPr>
        <p:spPr>
          <a:xfrm>
            <a:off x="6115050" y="3690810"/>
            <a:ext cx="49802" cy="15602"/>
          </a:xfrm>
          <a:prstGeom prst="line">
            <a:avLst/>
          </a:prstGeom>
          <a:noFill/>
          <a:ln w="31750">
            <a:solidFill>
              <a:srgbClr val="D4568F"/>
            </a:solidFill>
            <a:prstDash val="solid"/>
          </a:ln>
        </p:spPr>
      </p:sp>
      <p:sp>
        <p:nvSpPr>
          <p:cNvPr id="542" name="Shape 540"/>
          <p:cNvSpPr/>
          <p:nvPr/>
        </p:nvSpPr>
        <p:spPr>
          <a:xfrm>
            <a:off x="6164852" y="3706412"/>
            <a:ext cx="49802" cy="15303"/>
          </a:xfrm>
          <a:prstGeom prst="line">
            <a:avLst/>
          </a:prstGeom>
          <a:noFill/>
          <a:ln w="31750">
            <a:solidFill>
              <a:srgbClr val="D4568F"/>
            </a:solidFill>
            <a:prstDash val="solid"/>
          </a:ln>
        </p:spPr>
      </p:sp>
      <p:sp>
        <p:nvSpPr>
          <p:cNvPr id="543" name="Shape 541"/>
          <p:cNvSpPr/>
          <p:nvPr/>
        </p:nvSpPr>
        <p:spPr>
          <a:xfrm>
            <a:off x="6214654" y="3721715"/>
            <a:ext cx="49802" cy="14861"/>
          </a:xfrm>
          <a:prstGeom prst="line">
            <a:avLst/>
          </a:prstGeom>
          <a:noFill/>
          <a:ln w="31750">
            <a:solidFill>
              <a:srgbClr val="D4568F"/>
            </a:solidFill>
            <a:prstDash val="solid"/>
          </a:ln>
        </p:spPr>
      </p:sp>
      <p:sp>
        <p:nvSpPr>
          <p:cNvPr id="544" name="Shape 542"/>
          <p:cNvSpPr/>
          <p:nvPr/>
        </p:nvSpPr>
        <p:spPr>
          <a:xfrm>
            <a:off x="6264456" y="3736576"/>
            <a:ext cx="49802" cy="14298"/>
          </a:xfrm>
          <a:prstGeom prst="line">
            <a:avLst/>
          </a:prstGeom>
          <a:noFill/>
          <a:ln w="31750">
            <a:solidFill>
              <a:srgbClr val="D4568F"/>
            </a:solidFill>
            <a:prstDash val="solid"/>
          </a:ln>
        </p:spPr>
      </p:sp>
      <p:sp>
        <p:nvSpPr>
          <p:cNvPr id="545" name="Shape 543"/>
          <p:cNvSpPr/>
          <p:nvPr/>
        </p:nvSpPr>
        <p:spPr>
          <a:xfrm>
            <a:off x="6314259" y="3750874"/>
            <a:ext cx="49802" cy="13632"/>
          </a:xfrm>
          <a:prstGeom prst="line">
            <a:avLst/>
          </a:prstGeom>
          <a:noFill/>
          <a:ln w="31750">
            <a:solidFill>
              <a:srgbClr val="D4568F"/>
            </a:solidFill>
            <a:prstDash val="solid"/>
          </a:ln>
        </p:spPr>
      </p:sp>
      <p:sp>
        <p:nvSpPr>
          <p:cNvPr id="546" name="Shape 544"/>
          <p:cNvSpPr/>
          <p:nvPr/>
        </p:nvSpPr>
        <p:spPr>
          <a:xfrm>
            <a:off x="6364061" y="3764506"/>
            <a:ext cx="49802" cy="12885"/>
          </a:xfrm>
          <a:prstGeom prst="line">
            <a:avLst/>
          </a:prstGeom>
          <a:noFill/>
          <a:ln w="31750">
            <a:solidFill>
              <a:srgbClr val="D4568F"/>
            </a:solidFill>
            <a:prstDash val="solid"/>
          </a:ln>
        </p:spPr>
      </p:sp>
      <p:sp>
        <p:nvSpPr>
          <p:cNvPr id="547" name="Shape 545"/>
          <p:cNvSpPr/>
          <p:nvPr/>
        </p:nvSpPr>
        <p:spPr>
          <a:xfrm>
            <a:off x="6413863" y="3777391"/>
            <a:ext cx="49802" cy="12077"/>
          </a:xfrm>
          <a:prstGeom prst="line">
            <a:avLst/>
          </a:prstGeom>
          <a:noFill/>
          <a:ln w="31750">
            <a:solidFill>
              <a:srgbClr val="D4568F"/>
            </a:solidFill>
            <a:prstDash val="solid"/>
          </a:ln>
        </p:spPr>
      </p:sp>
      <p:sp>
        <p:nvSpPr>
          <p:cNvPr id="548" name="Shape 546"/>
          <p:cNvSpPr/>
          <p:nvPr/>
        </p:nvSpPr>
        <p:spPr>
          <a:xfrm>
            <a:off x="6463665" y="3789468"/>
            <a:ext cx="49802" cy="11229"/>
          </a:xfrm>
          <a:prstGeom prst="line">
            <a:avLst/>
          </a:prstGeom>
          <a:noFill/>
          <a:ln w="31750">
            <a:solidFill>
              <a:srgbClr val="D4568F"/>
            </a:solidFill>
            <a:prstDash val="solid"/>
          </a:ln>
        </p:spPr>
      </p:sp>
      <p:sp>
        <p:nvSpPr>
          <p:cNvPr id="549" name="Shape 547"/>
          <p:cNvSpPr/>
          <p:nvPr/>
        </p:nvSpPr>
        <p:spPr>
          <a:xfrm>
            <a:off x="6513467" y="3800697"/>
            <a:ext cx="49802" cy="10358"/>
          </a:xfrm>
          <a:prstGeom prst="line">
            <a:avLst/>
          </a:prstGeom>
          <a:noFill/>
          <a:ln w="31750">
            <a:solidFill>
              <a:srgbClr val="D4568F"/>
            </a:solidFill>
            <a:prstDash val="solid"/>
          </a:ln>
        </p:spPr>
      </p:sp>
      <p:sp>
        <p:nvSpPr>
          <p:cNvPr id="550" name="Shape 548"/>
          <p:cNvSpPr/>
          <p:nvPr/>
        </p:nvSpPr>
        <p:spPr>
          <a:xfrm>
            <a:off x="6563269" y="3811055"/>
            <a:ext cx="49802" cy="9481"/>
          </a:xfrm>
          <a:prstGeom prst="line">
            <a:avLst/>
          </a:prstGeom>
          <a:noFill/>
          <a:ln w="31750">
            <a:solidFill>
              <a:srgbClr val="D4568F"/>
            </a:solidFill>
            <a:prstDash val="solid"/>
          </a:ln>
        </p:spPr>
      </p:sp>
      <p:sp>
        <p:nvSpPr>
          <p:cNvPr id="551" name="Shape 549"/>
          <p:cNvSpPr/>
          <p:nvPr/>
        </p:nvSpPr>
        <p:spPr>
          <a:xfrm>
            <a:off x="6613071" y="3820536"/>
            <a:ext cx="49802" cy="8613"/>
          </a:xfrm>
          <a:prstGeom prst="line">
            <a:avLst/>
          </a:prstGeom>
          <a:noFill/>
          <a:ln w="31750">
            <a:solidFill>
              <a:srgbClr val="D4568F"/>
            </a:solidFill>
            <a:prstDash val="solid"/>
          </a:ln>
        </p:spPr>
      </p:sp>
      <p:sp>
        <p:nvSpPr>
          <p:cNvPr id="552" name="Shape 550"/>
          <p:cNvSpPr/>
          <p:nvPr/>
        </p:nvSpPr>
        <p:spPr>
          <a:xfrm>
            <a:off x="6662874" y="3829150"/>
            <a:ext cx="49802" cy="7767"/>
          </a:xfrm>
          <a:prstGeom prst="line">
            <a:avLst/>
          </a:prstGeom>
          <a:noFill/>
          <a:ln w="31750">
            <a:solidFill>
              <a:srgbClr val="D4568F"/>
            </a:solidFill>
            <a:prstDash val="solid"/>
          </a:ln>
        </p:spPr>
      </p:sp>
      <p:sp>
        <p:nvSpPr>
          <p:cNvPr id="553" name="Shape 551"/>
          <p:cNvSpPr/>
          <p:nvPr/>
        </p:nvSpPr>
        <p:spPr>
          <a:xfrm>
            <a:off x="6712676" y="3836917"/>
            <a:ext cx="49802" cy="6953"/>
          </a:xfrm>
          <a:prstGeom prst="line">
            <a:avLst/>
          </a:prstGeom>
          <a:noFill/>
          <a:ln w="31750">
            <a:solidFill>
              <a:srgbClr val="D4568F"/>
            </a:solidFill>
            <a:prstDash val="solid"/>
          </a:ln>
        </p:spPr>
      </p:sp>
      <p:sp>
        <p:nvSpPr>
          <p:cNvPr id="554" name="Shape 552"/>
          <p:cNvSpPr/>
          <p:nvPr/>
        </p:nvSpPr>
        <p:spPr>
          <a:xfrm>
            <a:off x="6762478" y="3843870"/>
            <a:ext cx="49802" cy="6180"/>
          </a:xfrm>
          <a:prstGeom prst="line">
            <a:avLst/>
          </a:prstGeom>
          <a:noFill/>
          <a:ln w="31750">
            <a:solidFill>
              <a:srgbClr val="D4568F"/>
            </a:solidFill>
            <a:prstDash val="solid"/>
          </a:ln>
        </p:spPr>
      </p:sp>
      <p:sp>
        <p:nvSpPr>
          <p:cNvPr id="555" name="Shape 553"/>
          <p:cNvSpPr/>
          <p:nvPr/>
        </p:nvSpPr>
        <p:spPr>
          <a:xfrm>
            <a:off x="1234440" y="3860388"/>
            <a:ext cx="49802" cy="10792"/>
          </a:xfrm>
          <a:prstGeom prst="line">
            <a:avLst/>
          </a:prstGeom>
          <a:noFill/>
          <a:ln w="31750">
            <a:solidFill>
              <a:srgbClr val="D98A1E"/>
            </a:solidFill>
            <a:prstDash val="solid"/>
          </a:ln>
        </p:spPr>
      </p:sp>
      <p:sp>
        <p:nvSpPr>
          <p:cNvPr id="556" name="Shape 554"/>
          <p:cNvSpPr/>
          <p:nvPr/>
        </p:nvSpPr>
        <p:spPr>
          <a:xfrm>
            <a:off x="1284242" y="3871180"/>
            <a:ext cx="49802" cy="9134"/>
          </a:xfrm>
          <a:prstGeom prst="line">
            <a:avLst/>
          </a:prstGeom>
          <a:noFill/>
          <a:ln w="31750">
            <a:solidFill>
              <a:srgbClr val="D98A1E"/>
            </a:solidFill>
            <a:prstDash val="solid"/>
          </a:ln>
        </p:spPr>
      </p:sp>
      <p:sp>
        <p:nvSpPr>
          <p:cNvPr id="557" name="Shape 555"/>
          <p:cNvSpPr/>
          <p:nvPr/>
        </p:nvSpPr>
        <p:spPr>
          <a:xfrm>
            <a:off x="1334044" y="3880314"/>
            <a:ext cx="49802" cy="7669"/>
          </a:xfrm>
          <a:prstGeom prst="line">
            <a:avLst/>
          </a:prstGeom>
          <a:noFill/>
          <a:ln w="31750">
            <a:solidFill>
              <a:srgbClr val="D98A1E"/>
            </a:solidFill>
            <a:prstDash val="solid"/>
          </a:ln>
        </p:spPr>
      </p:sp>
      <p:sp>
        <p:nvSpPr>
          <p:cNvPr id="558" name="Shape 556"/>
          <p:cNvSpPr/>
          <p:nvPr/>
        </p:nvSpPr>
        <p:spPr>
          <a:xfrm>
            <a:off x="1383846" y="3887983"/>
            <a:ext cx="49802" cy="6387"/>
          </a:xfrm>
          <a:prstGeom prst="line">
            <a:avLst/>
          </a:prstGeom>
          <a:noFill/>
          <a:ln w="31750">
            <a:solidFill>
              <a:srgbClr val="D98A1E"/>
            </a:solidFill>
            <a:prstDash val="solid"/>
          </a:ln>
        </p:spPr>
      </p:sp>
      <p:sp>
        <p:nvSpPr>
          <p:cNvPr id="559" name="Shape 557"/>
          <p:cNvSpPr/>
          <p:nvPr/>
        </p:nvSpPr>
        <p:spPr>
          <a:xfrm>
            <a:off x="1433649" y="3894370"/>
            <a:ext cx="49802" cy="5277"/>
          </a:xfrm>
          <a:prstGeom prst="line">
            <a:avLst/>
          </a:prstGeom>
          <a:noFill/>
          <a:ln w="31750">
            <a:solidFill>
              <a:srgbClr val="D98A1E"/>
            </a:solidFill>
            <a:prstDash val="solid"/>
          </a:ln>
        </p:spPr>
      </p:sp>
      <p:sp>
        <p:nvSpPr>
          <p:cNvPr id="560" name="Shape 558"/>
          <p:cNvSpPr/>
          <p:nvPr/>
        </p:nvSpPr>
        <p:spPr>
          <a:xfrm>
            <a:off x="1483451" y="3899647"/>
            <a:ext cx="49802" cy="4326"/>
          </a:xfrm>
          <a:prstGeom prst="line">
            <a:avLst/>
          </a:prstGeom>
          <a:noFill/>
          <a:ln w="31750">
            <a:solidFill>
              <a:srgbClr val="D98A1E"/>
            </a:solidFill>
            <a:prstDash val="solid"/>
          </a:ln>
        </p:spPr>
      </p:sp>
      <p:sp>
        <p:nvSpPr>
          <p:cNvPr id="561" name="Shape 559"/>
          <p:cNvSpPr/>
          <p:nvPr/>
        </p:nvSpPr>
        <p:spPr>
          <a:xfrm>
            <a:off x="1533253" y="3903973"/>
            <a:ext cx="49802" cy="3519"/>
          </a:xfrm>
          <a:prstGeom prst="line">
            <a:avLst/>
          </a:prstGeom>
          <a:noFill/>
          <a:ln w="31750">
            <a:solidFill>
              <a:srgbClr val="D98A1E"/>
            </a:solidFill>
            <a:prstDash val="solid"/>
          </a:ln>
        </p:spPr>
      </p:sp>
      <p:sp>
        <p:nvSpPr>
          <p:cNvPr id="562" name="Shape 560"/>
          <p:cNvSpPr/>
          <p:nvPr/>
        </p:nvSpPr>
        <p:spPr>
          <a:xfrm>
            <a:off x="1583055" y="3907492"/>
            <a:ext cx="49802" cy="2840"/>
          </a:xfrm>
          <a:prstGeom prst="line">
            <a:avLst/>
          </a:prstGeom>
          <a:noFill/>
          <a:ln w="31750">
            <a:solidFill>
              <a:srgbClr val="D98A1E"/>
            </a:solidFill>
            <a:prstDash val="solid"/>
          </a:ln>
        </p:spPr>
      </p:sp>
      <p:sp>
        <p:nvSpPr>
          <p:cNvPr id="563" name="Shape 561"/>
          <p:cNvSpPr/>
          <p:nvPr/>
        </p:nvSpPr>
        <p:spPr>
          <a:xfrm>
            <a:off x="1632857" y="3910332"/>
            <a:ext cx="49802" cy="2274"/>
          </a:xfrm>
          <a:prstGeom prst="line">
            <a:avLst/>
          </a:prstGeom>
          <a:noFill/>
          <a:ln w="31750">
            <a:solidFill>
              <a:srgbClr val="D98A1E"/>
            </a:solidFill>
            <a:prstDash val="solid"/>
          </a:ln>
        </p:spPr>
      </p:sp>
      <p:sp>
        <p:nvSpPr>
          <p:cNvPr id="564" name="Shape 562"/>
          <p:cNvSpPr/>
          <p:nvPr/>
        </p:nvSpPr>
        <p:spPr>
          <a:xfrm>
            <a:off x="1682659" y="3912606"/>
            <a:ext cx="49802" cy="1807"/>
          </a:xfrm>
          <a:prstGeom prst="line">
            <a:avLst/>
          </a:prstGeom>
          <a:noFill/>
          <a:ln w="31750">
            <a:solidFill>
              <a:srgbClr val="D98A1E"/>
            </a:solidFill>
            <a:prstDash val="solid"/>
          </a:ln>
        </p:spPr>
      </p:sp>
      <p:sp>
        <p:nvSpPr>
          <p:cNvPr id="565" name="Shape 563"/>
          <p:cNvSpPr/>
          <p:nvPr/>
        </p:nvSpPr>
        <p:spPr>
          <a:xfrm>
            <a:off x="1732461" y="3914414"/>
            <a:ext cx="49802" cy="1425"/>
          </a:xfrm>
          <a:prstGeom prst="line">
            <a:avLst/>
          </a:prstGeom>
          <a:noFill/>
          <a:ln w="31750">
            <a:solidFill>
              <a:srgbClr val="D98A1E"/>
            </a:solidFill>
            <a:prstDash val="solid"/>
          </a:ln>
        </p:spPr>
      </p:sp>
      <p:sp>
        <p:nvSpPr>
          <p:cNvPr id="566" name="Shape 564"/>
          <p:cNvSpPr/>
          <p:nvPr/>
        </p:nvSpPr>
        <p:spPr>
          <a:xfrm>
            <a:off x="1782264" y="3915839"/>
            <a:ext cx="49802" cy="1116"/>
          </a:xfrm>
          <a:prstGeom prst="line">
            <a:avLst/>
          </a:prstGeom>
          <a:noFill/>
          <a:ln w="31750">
            <a:solidFill>
              <a:srgbClr val="D98A1E"/>
            </a:solidFill>
            <a:prstDash val="solid"/>
          </a:ln>
        </p:spPr>
      </p:sp>
      <p:sp>
        <p:nvSpPr>
          <p:cNvPr id="567" name="Shape 565"/>
          <p:cNvSpPr/>
          <p:nvPr/>
        </p:nvSpPr>
        <p:spPr>
          <a:xfrm>
            <a:off x="1832066" y="3916955"/>
            <a:ext cx="49802" cy="867"/>
          </a:xfrm>
          <a:prstGeom prst="line">
            <a:avLst/>
          </a:prstGeom>
          <a:noFill/>
          <a:ln w="31750">
            <a:solidFill>
              <a:srgbClr val="D98A1E"/>
            </a:solidFill>
            <a:prstDash val="solid"/>
          </a:ln>
        </p:spPr>
      </p:sp>
      <p:sp>
        <p:nvSpPr>
          <p:cNvPr id="568" name="Shape 566"/>
          <p:cNvSpPr/>
          <p:nvPr/>
        </p:nvSpPr>
        <p:spPr>
          <a:xfrm>
            <a:off x="1881868" y="3917822"/>
            <a:ext cx="49802" cy="668"/>
          </a:xfrm>
          <a:prstGeom prst="line">
            <a:avLst/>
          </a:prstGeom>
          <a:noFill/>
          <a:ln w="31750">
            <a:solidFill>
              <a:srgbClr val="D98A1E"/>
            </a:solidFill>
            <a:prstDash val="solid"/>
          </a:ln>
        </p:spPr>
      </p:sp>
      <p:sp>
        <p:nvSpPr>
          <p:cNvPr id="569" name="Shape 567"/>
          <p:cNvSpPr/>
          <p:nvPr/>
        </p:nvSpPr>
        <p:spPr>
          <a:xfrm>
            <a:off x="1931670" y="3918490"/>
            <a:ext cx="49802" cy="511"/>
          </a:xfrm>
          <a:prstGeom prst="line">
            <a:avLst/>
          </a:prstGeom>
          <a:noFill/>
          <a:ln w="31750">
            <a:solidFill>
              <a:srgbClr val="D98A1E"/>
            </a:solidFill>
            <a:prstDash val="solid"/>
          </a:ln>
        </p:spPr>
      </p:sp>
      <p:sp>
        <p:nvSpPr>
          <p:cNvPr id="570" name="Shape 568"/>
          <p:cNvSpPr/>
          <p:nvPr/>
        </p:nvSpPr>
        <p:spPr>
          <a:xfrm>
            <a:off x="1981472" y="3919001"/>
            <a:ext cx="49802" cy="388"/>
          </a:xfrm>
          <a:prstGeom prst="line">
            <a:avLst/>
          </a:prstGeom>
          <a:noFill/>
          <a:ln w="31750">
            <a:solidFill>
              <a:srgbClr val="D98A1E"/>
            </a:solidFill>
            <a:prstDash val="solid"/>
          </a:ln>
        </p:spPr>
      </p:sp>
      <p:sp>
        <p:nvSpPr>
          <p:cNvPr id="571" name="Shape 569"/>
          <p:cNvSpPr/>
          <p:nvPr/>
        </p:nvSpPr>
        <p:spPr>
          <a:xfrm>
            <a:off x="2031274" y="3919389"/>
            <a:ext cx="49802" cy="293"/>
          </a:xfrm>
          <a:prstGeom prst="line">
            <a:avLst/>
          </a:prstGeom>
          <a:noFill/>
          <a:ln w="31750">
            <a:solidFill>
              <a:srgbClr val="D98A1E"/>
            </a:solidFill>
            <a:prstDash val="solid"/>
          </a:ln>
        </p:spPr>
      </p:sp>
      <p:sp>
        <p:nvSpPr>
          <p:cNvPr id="572" name="Shape 570"/>
          <p:cNvSpPr/>
          <p:nvPr/>
        </p:nvSpPr>
        <p:spPr>
          <a:xfrm>
            <a:off x="2081076" y="3919682"/>
            <a:ext cx="49802" cy="219"/>
          </a:xfrm>
          <a:prstGeom prst="line">
            <a:avLst/>
          </a:prstGeom>
          <a:noFill/>
          <a:ln w="31750">
            <a:solidFill>
              <a:srgbClr val="D98A1E"/>
            </a:solidFill>
            <a:prstDash val="solid"/>
          </a:ln>
        </p:spPr>
      </p:sp>
      <p:sp>
        <p:nvSpPr>
          <p:cNvPr id="573" name="Shape 571"/>
          <p:cNvSpPr/>
          <p:nvPr/>
        </p:nvSpPr>
        <p:spPr>
          <a:xfrm>
            <a:off x="2130879" y="3919901"/>
            <a:ext cx="49802" cy="162"/>
          </a:xfrm>
          <a:prstGeom prst="line">
            <a:avLst/>
          </a:prstGeom>
          <a:noFill/>
          <a:ln w="31750">
            <a:solidFill>
              <a:srgbClr val="D98A1E"/>
            </a:solidFill>
            <a:prstDash val="solid"/>
          </a:ln>
        </p:spPr>
      </p:sp>
      <p:sp>
        <p:nvSpPr>
          <p:cNvPr id="574" name="Shape 572"/>
          <p:cNvSpPr/>
          <p:nvPr/>
        </p:nvSpPr>
        <p:spPr>
          <a:xfrm>
            <a:off x="2180681" y="3920063"/>
            <a:ext cx="49802" cy="120"/>
          </a:xfrm>
          <a:prstGeom prst="line">
            <a:avLst/>
          </a:prstGeom>
          <a:noFill/>
          <a:ln w="31750">
            <a:solidFill>
              <a:srgbClr val="D98A1E"/>
            </a:solidFill>
            <a:prstDash val="solid"/>
          </a:ln>
        </p:spPr>
      </p:sp>
      <p:sp>
        <p:nvSpPr>
          <p:cNvPr id="575" name="Shape 573"/>
          <p:cNvSpPr/>
          <p:nvPr/>
        </p:nvSpPr>
        <p:spPr>
          <a:xfrm>
            <a:off x="2230483" y="3920183"/>
            <a:ext cx="49802" cy="87"/>
          </a:xfrm>
          <a:prstGeom prst="line">
            <a:avLst/>
          </a:prstGeom>
          <a:noFill/>
          <a:ln w="31750">
            <a:solidFill>
              <a:srgbClr val="D98A1E"/>
            </a:solidFill>
            <a:prstDash val="solid"/>
          </a:ln>
        </p:spPr>
      </p:sp>
      <p:sp>
        <p:nvSpPr>
          <p:cNvPr id="576" name="Shape 574"/>
          <p:cNvSpPr/>
          <p:nvPr/>
        </p:nvSpPr>
        <p:spPr>
          <a:xfrm>
            <a:off x="2280285" y="3920270"/>
            <a:ext cx="49802" cy="63"/>
          </a:xfrm>
          <a:prstGeom prst="line">
            <a:avLst/>
          </a:prstGeom>
          <a:noFill/>
          <a:ln w="31750">
            <a:solidFill>
              <a:srgbClr val="D98A1E"/>
            </a:solidFill>
            <a:prstDash val="solid"/>
          </a:ln>
        </p:spPr>
      </p:sp>
      <p:sp>
        <p:nvSpPr>
          <p:cNvPr id="577" name="Shape 575"/>
          <p:cNvSpPr/>
          <p:nvPr/>
        </p:nvSpPr>
        <p:spPr>
          <a:xfrm>
            <a:off x="2330087" y="3920333"/>
            <a:ext cx="49802" cy="45"/>
          </a:xfrm>
          <a:prstGeom prst="line">
            <a:avLst/>
          </a:prstGeom>
          <a:noFill/>
          <a:ln w="31750">
            <a:solidFill>
              <a:srgbClr val="D98A1E"/>
            </a:solidFill>
            <a:prstDash val="solid"/>
          </a:ln>
        </p:spPr>
      </p:sp>
      <p:sp>
        <p:nvSpPr>
          <p:cNvPr id="578" name="Shape 576"/>
          <p:cNvSpPr/>
          <p:nvPr/>
        </p:nvSpPr>
        <p:spPr>
          <a:xfrm>
            <a:off x="2379889" y="3920378"/>
            <a:ext cx="49802" cy="32"/>
          </a:xfrm>
          <a:prstGeom prst="line">
            <a:avLst/>
          </a:prstGeom>
          <a:noFill/>
          <a:ln w="31750">
            <a:solidFill>
              <a:srgbClr val="D98A1E"/>
            </a:solidFill>
            <a:prstDash val="solid"/>
          </a:ln>
        </p:spPr>
      </p:sp>
      <p:sp>
        <p:nvSpPr>
          <p:cNvPr id="579" name="Shape 577"/>
          <p:cNvSpPr/>
          <p:nvPr/>
        </p:nvSpPr>
        <p:spPr>
          <a:xfrm>
            <a:off x="2429691" y="3920410"/>
            <a:ext cx="49802" cy="22"/>
          </a:xfrm>
          <a:prstGeom prst="line">
            <a:avLst/>
          </a:prstGeom>
          <a:noFill/>
          <a:ln w="31750">
            <a:solidFill>
              <a:srgbClr val="D98A1E"/>
            </a:solidFill>
            <a:prstDash val="solid"/>
          </a:ln>
        </p:spPr>
      </p:sp>
      <p:sp>
        <p:nvSpPr>
          <p:cNvPr id="580" name="Shape 578"/>
          <p:cNvSpPr/>
          <p:nvPr/>
        </p:nvSpPr>
        <p:spPr>
          <a:xfrm>
            <a:off x="2479494" y="3920432"/>
            <a:ext cx="49802" cy="14"/>
          </a:xfrm>
          <a:prstGeom prst="line">
            <a:avLst/>
          </a:prstGeom>
          <a:noFill/>
          <a:ln w="31750">
            <a:solidFill>
              <a:srgbClr val="D98A1E"/>
            </a:solidFill>
            <a:prstDash val="solid"/>
          </a:ln>
        </p:spPr>
      </p:sp>
      <p:sp>
        <p:nvSpPr>
          <p:cNvPr id="581" name="Shape 579"/>
          <p:cNvSpPr/>
          <p:nvPr/>
        </p:nvSpPr>
        <p:spPr>
          <a:xfrm>
            <a:off x="2529296" y="3920446"/>
            <a:ext cx="49802" cy="8"/>
          </a:xfrm>
          <a:prstGeom prst="line">
            <a:avLst/>
          </a:prstGeom>
          <a:noFill/>
          <a:ln w="31750">
            <a:solidFill>
              <a:srgbClr val="D98A1E"/>
            </a:solidFill>
            <a:prstDash val="solid"/>
          </a:ln>
        </p:spPr>
      </p:sp>
      <p:sp>
        <p:nvSpPr>
          <p:cNvPr id="582" name="Shape 580"/>
          <p:cNvSpPr/>
          <p:nvPr/>
        </p:nvSpPr>
        <p:spPr>
          <a:xfrm>
            <a:off x="2579098" y="3920453"/>
            <a:ext cx="49802" cy="2"/>
          </a:xfrm>
          <a:prstGeom prst="line">
            <a:avLst/>
          </a:prstGeom>
          <a:noFill/>
          <a:ln w="31750">
            <a:solidFill>
              <a:srgbClr val="D98A1E"/>
            </a:solidFill>
            <a:prstDash val="solid"/>
          </a:ln>
        </p:spPr>
      </p:sp>
      <p:sp>
        <p:nvSpPr>
          <p:cNvPr id="583" name="Shape 581"/>
          <p:cNvSpPr/>
          <p:nvPr/>
        </p:nvSpPr>
        <p:spPr>
          <a:xfrm flipV="1">
            <a:off x="2628900" y="3920453"/>
            <a:ext cx="49802" cy="2"/>
          </a:xfrm>
          <a:prstGeom prst="line">
            <a:avLst/>
          </a:prstGeom>
          <a:noFill/>
          <a:ln w="31750">
            <a:solidFill>
              <a:srgbClr val="D98A1E"/>
            </a:solidFill>
            <a:prstDash val="solid"/>
          </a:ln>
        </p:spPr>
      </p:sp>
      <p:sp>
        <p:nvSpPr>
          <p:cNvPr id="584" name="Shape 582"/>
          <p:cNvSpPr/>
          <p:nvPr/>
        </p:nvSpPr>
        <p:spPr>
          <a:xfrm flipV="1">
            <a:off x="2678702" y="3920446"/>
            <a:ext cx="49802" cy="8"/>
          </a:xfrm>
          <a:prstGeom prst="line">
            <a:avLst/>
          </a:prstGeom>
          <a:noFill/>
          <a:ln w="31750">
            <a:solidFill>
              <a:srgbClr val="D98A1E"/>
            </a:solidFill>
            <a:prstDash val="solid"/>
          </a:ln>
        </p:spPr>
      </p:sp>
      <p:sp>
        <p:nvSpPr>
          <p:cNvPr id="585" name="Shape 583"/>
          <p:cNvSpPr/>
          <p:nvPr/>
        </p:nvSpPr>
        <p:spPr>
          <a:xfrm flipV="1">
            <a:off x="2728504" y="3920432"/>
            <a:ext cx="49802" cy="14"/>
          </a:xfrm>
          <a:prstGeom prst="line">
            <a:avLst/>
          </a:prstGeom>
          <a:noFill/>
          <a:ln w="31750">
            <a:solidFill>
              <a:srgbClr val="D98A1E"/>
            </a:solidFill>
            <a:prstDash val="solid"/>
          </a:ln>
        </p:spPr>
      </p:sp>
      <p:sp>
        <p:nvSpPr>
          <p:cNvPr id="586" name="Shape 584"/>
          <p:cNvSpPr/>
          <p:nvPr/>
        </p:nvSpPr>
        <p:spPr>
          <a:xfrm flipV="1">
            <a:off x="2778306" y="3920410"/>
            <a:ext cx="49802" cy="22"/>
          </a:xfrm>
          <a:prstGeom prst="line">
            <a:avLst/>
          </a:prstGeom>
          <a:noFill/>
          <a:ln w="31750">
            <a:solidFill>
              <a:srgbClr val="D98A1E"/>
            </a:solidFill>
            <a:prstDash val="solid"/>
          </a:ln>
        </p:spPr>
      </p:sp>
      <p:sp>
        <p:nvSpPr>
          <p:cNvPr id="587" name="Shape 585"/>
          <p:cNvSpPr/>
          <p:nvPr/>
        </p:nvSpPr>
        <p:spPr>
          <a:xfrm flipV="1">
            <a:off x="2828109" y="3920378"/>
            <a:ext cx="49802" cy="32"/>
          </a:xfrm>
          <a:prstGeom prst="line">
            <a:avLst/>
          </a:prstGeom>
          <a:noFill/>
          <a:ln w="31750">
            <a:solidFill>
              <a:srgbClr val="D98A1E"/>
            </a:solidFill>
            <a:prstDash val="solid"/>
          </a:ln>
        </p:spPr>
      </p:sp>
      <p:sp>
        <p:nvSpPr>
          <p:cNvPr id="588" name="Shape 586"/>
          <p:cNvSpPr/>
          <p:nvPr/>
        </p:nvSpPr>
        <p:spPr>
          <a:xfrm flipV="1">
            <a:off x="2877911" y="3920333"/>
            <a:ext cx="49802" cy="45"/>
          </a:xfrm>
          <a:prstGeom prst="line">
            <a:avLst/>
          </a:prstGeom>
          <a:noFill/>
          <a:ln w="31750">
            <a:solidFill>
              <a:srgbClr val="D98A1E"/>
            </a:solidFill>
            <a:prstDash val="solid"/>
          </a:ln>
        </p:spPr>
      </p:sp>
      <p:sp>
        <p:nvSpPr>
          <p:cNvPr id="589" name="Shape 587"/>
          <p:cNvSpPr/>
          <p:nvPr/>
        </p:nvSpPr>
        <p:spPr>
          <a:xfrm flipV="1">
            <a:off x="2927713" y="3920270"/>
            <a:ext cx="49802" cy="63"/>
          </a:xfrm>
          <a:prstGeom prst="line">
            <a:avLst/>
          </a:prstGeom>
          <a:noFill/>
          <a:ln w="31750">
            <a:solidFill>
              <a:srgbClr val="D98A1E"/>
            </a:solidFill>
            <a:prstDash val="solid"/>
          </a:ln>
        </p:spPr>
      </p:sp>
      <p:sp>
        <p:nvSpPr>
          <p:cNvPr id="590" name="Shape 588"/>
          <p:cNvSpPr/>
          <p:nvPr/>
        </p:nvSpPr>
        <p:spPr>
          <a:xfrm flipV="1">
            <a:off x="2977515" y="3920183"/>
            <a:ext cx="49802" cy="87"/>
          </a:xfrm>
          <a:prstGeom prst="line">
            <a:avLst/>
          </a:prstGeom>
          <a:noFill/>
          <a:ln w="31750">
            <a:solidFill>
              <a:srgbClr val="D98A1E"/>
            </a:solidFill>
            <a:prstDash val="solid"/>
          </a:ln>
        </p:spPr>
      </p:sp>
      <p:sp>
        <p:nvSpPr>
          <p:cNvPr id="591" name="Shape 589"/>
          <p:cNvSpPr/>
          <p:nvPr/>
        </p:nvSpPr>
        <p:spPr>
          <a:xfrm flipV="1">
            <a:off x="3027317" y="3920063"/>
            <a:ext cx="49802" cy="120"/>
          </a:xfrm>
          <a:prstGeom prst="line">
            <a:avLst/>
          </a:prstGeom>
          <a:noFill/>
          <a:ln w="31750">
            <a:solidFill>
              <a:srgbClr val="D98A1E"/>
            </a:solidFill>
            <a:prstDash val="solid"/>
          </a:ln>
        </p:spPr>
      </p:sp>
      <p:sp>
        <p:nvSpPr>
          <p:cNvPr id="592" name="Shape 590"/>
          <p:cNvSpPr/>
          <p:nvPr/>
        </p:nvSpPr>
        <p:spPr>
          <a:xfrm flipV="1">
            <a:off x="3077119" y="3919901"/>
            <a:ext cx="49802" cy="162"/>
          </a:xfrm>
          <a:prstGeom prst="line">
            <a:avLst/>
          </a:prstGeom>
          <a:noFill/>
          <a:ln w="31750">
            <a:solidFill>
              <a:srgbClr val="D98A1E"/>
            </a:solidFill>
            <a:prstDash val="solid"/>
          </a:ln>
        </p:spPr>
      </p:sp>
      <p:sp>
        <p:nvSpPr>
          <p:cNvPr id="593" name="Shape 591"/>
          <p:cNvSpPr/>
          <p:nvPr/>
        </p:nvSpPr>
        <p:spPr>
          <a:xfrm flipV="1">
            <a:off x="3126921" y="3919682"/>
            <a:ext cx="49802" cy="219"/>
          </a:xfrm>
          <a:prstGeom prst="line">
            <a:avLst/>
          </a:prstGeom>
          <a:noFill/>
          <a:ln w="31750">
            <a:solidFill>
              <a:srgbClr val="D98A1E"/>
            </a:solidFill>
            <a:prstDash val="solid"/>
          </a:ln>
        </p:spPr>
      </p:sp>
      <p:sp>
        <p:nvSpPr>
          <p:cNvPr id="594" name="Shape 592"/>
          <p:cNvSpPr/>
          <p:nvPr/>
        </p:nvSpPr>
        <p:spPr>
          <a:xfrm flipV="1">
            <a:off x="3176724" y="3919389"/>
            <a:ext cx="49802" cy="293"/>
          </a:xfrm>
          <a:prstGeom prst="line">
            <a:avLst/>
          </a:prstGeom>
          <a:noFill/>
          <a:ln w="31750">
            <a:solidFill>
              <a:srgbClr val="D98A1E"/>
            </a:solidFill>
            <a:prstDash val="solid"/>
          </a:ln>
        </p:spPr>
      </p:sp>
      <p:sp>
        <p:nvSpPr>
          <p:cNvPr id="595" name="Shape 593"/>
          <p:cNvSpPr/>
          <p:nvPr/>
        </p:nvSpPr>
        <p:spPr>
          <a:xfrm flipV="1">
            <a:off x="3226526" y="3919001"/>
            <a:ext cx="49802" cy="388"/>
          </a:xfrm>
          <a:prstGeom prst="line">
            <a:avLst/>
          </a:prstGeom>
          <a:noFill/>
          <a:ln w="31750">
            <a:solidFill>
              <a:srgbClr val="D98A1E"/>
            </a:solidFill>
            <a:prstDash val="solid"/>
          </a:ln>
        </p:spPr>
      </p:sp>
      <p:sp>
        <p:nvSpPr>
          <p:cNvPr id="596" name="Shape 594"/>
          <p:cNvSpPr/>
          <p:nvPr/>
        </p:nvSpPr>
        <p:spPr>
          <a:xfrm flipV="1">
            <a:off x="3276328" y="3918490"/>
            <a:ext cx="49802" cy="511"/>
          </a:xfrm>
          <a:prstGeom prst="line">
            <a:avLst/>
          </a:prstGeom>
          <a:noFill/>
          <a:ln w="31750">
            <a:solidFill>
              <a:srgbClr val="D98A1E"/>
            </a:solidFill>
            <a:prstDash val="solid"/>
          </a:ln>
        </p:spPr>
      </p:sp>
      <p:sp>
        <p:nvSpPr>
          <p:cNvPr id="597" name="Shape 595"/>
          <p:cNvSpPr/>
          <p:nvPr/>
        </p:nvSpPr>
        <p:spPr>
          <a:xfrm flipV="1">
            <a:off x="3326130" y="3917822"/>
            <a:ext cx="49802" cy="668"/>
          </a:xfrm>
          <a:prstGeom prst="line">
            <a:avLst/>
          </a:prstGeom>
          <a:noFill/>
          <a:ln w="31750">
            <a:solidFill>
              <a:srgbClr val="D98A1E"/>
            </a:solidFill>
            <a:prstDash val="solid"/>
          </a:ln>
        </p:spPr>
      </p:sp>
      <p:sp>
        <p:nvSpPr>
          <p:cNvPr id="598" name="Shape 596"/>
          <p:cNvSpPr/>
          <p:nvPr/>
        </p:nvSpPr>
        <p:spPr>
          <a:xfrm flipV="1">
            <a:off x="3375932" y="3916955"/>
            <a:ext cx="49802" cy="867"/>
          </a:xfrm>
          <a:prstGeom prst="line">
            <a:avLst/>
          </a:prstGeom>
          <a:noFill/>
          <a:ln w="31750">
            <a:solidFill>
              <a:srgbClr val="D98A1E"/>
            </a:solidFill>
            <a:prstDash val="solid"/>
          </a:ln>
        </p:spPr>
      </p:sp>
      <p:sp>
        <p:nvSpPr>
          <p:cNvPr id="599" name="Shape 597"/>
          <p:cNvSpPr/>
          <p:nvPr/>
        </p:nvSpPr>
        <p:spPr>
          <a:xfrm flipV="1">
            <a:off x="3425734" y="3915839"/>
            <a:ext cx="49802" cy="1116"/>
          </a:xfrm>
          <a:prstGeom prst="line">
            <a:avLst/>
          </a:prstGeom>
          <a:noFill/>
          <a:ln w="31750">
            <a:solidFill>
              <a:srgbClr val="D98A1E"/>
            </a:solidFill>
            <a:prstDash val="solid"/>
          </a:ln>
        </p:spPr>
      </p:sp>
      <p:sp>
        <p:nvSpPr>
          <p:cNvPr id="600" name="Shape 598"/>
          <p:cNvSpPr/>
          <p:nvPr/>
        </p:nvSpPr>
        <p:spPr>
          <a:xfrm flipV="1">
            <a:off x="3475536" y="3914414"/>
            <a:ext cx="49802" cy="1425"/>
          </a:xfrm>
          <a:prstGeom prst="line">
            <a:avLst/>
          </a:prstGeom>
          <a:noFill/>
          <a:ln w="31750">
            <a:solidFill>
              <a:srgbClr val="D98A1E"/>
            </a:solidFill>
            <a:prstDash val="solid"/>
          </a:ln>
        </p:spPr>
      </p:sp>
      <p:sp>
        <p:nvSpPr>
          <p:cNvPr id="601" name="Shape 599"/>
          <p:cNvSpPr/>
          <p:nvPr/>
        </p:nvSpPr>
        <p:spPr>
          <a:xfrm flipV="1">
            <a:off x="3525339" y="3912606"/>
            <a:ext cx="49802" cy="1807"/>
          </a:xfrm>
          <a:prstGeom prst="line">
            <a:avLst/>
          </a:prstGeom>
          <a:noFill/>
          <a:ln w="31750">
            <a:solidFill>
              <a:srgbClr val="D98A1E"/>
            </a:solidFill>
            <a:prstDash val="solid"/>
          </a:ln>
        </p:spPr>
      </p:sp>
      <p:sp>
        <p:nvSpPr>
          <p:cNvPr id="602" name="Shape 600"/>
          <p:cNvSpPr/>
          <p:nvPr/>
        </p:nvSpPr>
        <p:spPr>
          <a:xfrm flipV="1">
            <a:off x="3575141" y="3910332"/>
            <a:ext cx="49802" cy="2274"/>
          </a:xfrm>
          <a:prstGeom prst="line">
            <a:avLst/>
          </a:prstGeom>
          <a:noFill/>
          <a:ln w="31750">
            <a:solidFill>
              <a:srgbClr val="D98A1E"/>
            </a:solidFill>
            <a:prstDash val="solid"/>
          </a:ln>
        </p:spPr>
      </p:sp>
      <p:sp>
        <p:nvSpPr>
          <p:cNvPr id="603" name="Shape 601"/>
          <p:cNvSpPr/>
          <p:nvPr/>
        </p:nvSpPr>
        <p:spPr>
          <a:xfrm flipV="1">
            <a:off x="3624943" y="3907492"/>
            <a:ext cx="49802" cy="2840"/>
          </a:xfrm>
          <a:prstGeom prst="line">
            <a:avLst/>
          </a:prstGeom>
          <a:noFill/>
          <a:ln w="31750">
            <a:solidFill>
              <a:srgbClr val="D98A1E"/>
            </a:solidFill>
            <a:prstDash val="solid"/>
          </a:ln>
        </p:spPr>
      </p:sp>
      <p:sp>
        <p:nvSpPr>
          <p:cNvPr id="604" name="Shape 602"/>
          <p:cNvSpPr/>
          <p:nvPr/>
        </p:nvSpPr>
        <p:spPr>
          <a:xfrm flipV="1">
            <a:off x="3674745" y="3903973"/>
            <a:ext cx="49802" cy="3519"/>
          </a:xfrm>
          <a:prstGeom prst="line">
            <a:avLst/>
          </a:prstGeom>
          <a:noFill/>
          <a:ln w="31750">
            <a:solidFill>
              <a:srgbClr val="D98A1E"/>
            </a:solidFill>
            <a:prstDash val="solid"/>
          </a:ln>
        </p:spPr>
      </p:sp>
      <p:sp>
        <p:nvSpPr>
          <p:cNvPr id="605" name="Shape 603"/>
          <p:cNvSpPr/>
          <p:nvPr/>
        </p:nvSpPr>
        <p:spPr>
          <a:xfrm flipV="1">
            <a:off x="3724547" y="3899647"/>
            <a:ext cx="49802" cy="4326"/>
          </a:xfrm>
          <a:prstGeom prst="line">
            <a:avLst/>
          </a:prstGeom>
          <a:noFill/>
          <a:ln w="31750">
            <a:solidFill>
              <a:srgbClr val="D98A1E"/>
            </a:solidFill>
            <a:prstDash val="solid"/>
          </a:ln>
        </p:spPr>
      </p:sp>
      <p:sp>
        <p:nvSpPr>
          <p:cNvPr id="606" name="Shape 604"/>
          <p:cNvSpPr/>
          <p:nvPr/>
        </p:nvSpPr>
        <p:spPr>
          <a:xfrm flipV="1">
            <a:off x="3774349" y="3894370"/>
            <a:ext cx="49802" cy="5277"/>
          </a:xfrm>
          <a:prstGeom prst="line">
            <a:avLst/>
          </a:prstGeom>
          <a:noFill/>
          <a:ln w="31750">
            <a:solidFill>
              <a:srgbClr val="D98A1E"/>
            </a:solidFill>
            <a:prstDash val="solid"/>
          </a:ln>
        </p:spPr>
      </p:sp>
      <p:sp>
        <p:nvSpPr>
          <p:cNvPr id="607" name="Shape 605"/>
          <p:cNvSpPr/>
          <p:nvPr/>
        </p:nvSpPr>
        <p:spPr>
          <a:xfrm flipV="1">
            <a:off x="3824151" y="3887983"/>
            <a:ext cx="49802" cy="6387"/>
          </a:xfrm>
          <a:prstGeom prst="line">
            <a:avLst/>
          </a:prstGeom>
          <a:noFill/>
          <a:ln w="31750">
            <a:solidFill>
              <a:srgbClr val="D98A1E"/>
            </a:solidFill>
            <a:prstDash val="solid"/>
          </a:ln>
        </p:spPr>
      </p:sp>
      <p:sp>
        <p:nvSpPr>
          <p:cNvPr id="608" name="Shape 606"/>
          <p:cNvSpPr/>
          <p:nvPr/>
        </p:nvSpPr>
        <p:spPr>
          <a:xfrm flipV="1">
            <a:off x="3873954" y="3880314"/>
            <a:ext cx="49802" cy="7669"/>
          </a:xfrm>
          <a:prstGeom prst="line">
            <a:avLst/>
          </a:prstGeom>
          <a:noFill/>
          <a:ln w="31750">
            <a:solidFill>
              <a:srgbClr val="D98A1E"/>
            </a:solidFill>
            <a:prstDash val="solid"/>
          </a:ln>
        </p:spPr>
      </p:sp>
      <p:sp>
        <p:nvSpPr>
          <p:cNvPr id="609" name="Shape 607"/>
          <p:cNvSpPr/>
          <p:nvPr/>
        </p:nvSpPr>
        <p:spPr>
          <a:xfrm flipV="1">
            <a:off x="3923756" y="3871180"/>
            <a:ext cx="49802" cy="9134"/>
          </a:xfrm>
          <a:prstGeom prst="line">
            <a:avLst/>
          </a:prstGeom>
          <a:noFill/>
          <a:ln w="31750">
            <a:solidFill>
              <a:srgbClr val="D98A1E"/>
            </a:solidFill>
            <a:prstDash val="solid"/>
          </a:ln>
        </p:spPr>
      </p:sp>
      <p:sp>
        <p:nvSpPr>
          <p:cNvPr id="610" name="Shape 608"/>
          <p:cNvSpPr/>
          <p:nvPr/>
        </p:nvSpPr>
        <p:spPr>
          <a:xfrm flipV="1">
            <a:off x="3973558" y="3860388"/>
            <a:ext cx="49802" cy="10792"/>
          </a:xfrm>
          <a:prstGeom prst="line">
            <a:avLst/>
          </a:prstGeom>
          <a:noFill/>
          <a:ln w="31750">
            <a:solidFill>
              <a:srgbClr val="D98A1E"/>
            </a:solidFill>
            <a:prstDash val="solid"/>
          </a:ln>
        </p:spPr>
      </p:sp>
      <p:sp>
        <p:nvSpPr>
          <p:cNvPr id="611" name="Shape 609"/>
          <p:cNvSpPr/>
          <p:nvPr/>
        </p:nvSpPr>
        <p:spPr>
          <a:xfrm flipV="1">
            <a:off x="4023360" y="3847741"/>
            <a:ext cx="49802" cy="12647"/>
          </a:xfrm>
          <a:prstGeom prst="line">
            <a:avLst/>
          </a:prstGeom>
          <a:noFill/>
          <a:ln w="31750">
            <a:solidFill>
              <a:srgbClr val="D98A1E"/>
            </a:solidFill>
            <a:prstDash val="solid"/>
          </a:ln>
        </p:spPr>
      </p:sp>
      <p:sp>
        <p:nvSpPr>
          <p:cNvPr id="612" name="Shape 610"/>
          <p:cNvSpPr/>
          <p:nvPr/>
        </p:nvSpPr>
        <p:spPr>
          <a:xfrm flipV="1">
            <a:off x="4073162" y="3833042"/>
            <a:ext cx="49802" cy="14699"/>
          </a:xfrm>
          <a:prstGeom prst="line">
            <a:avLst/>
          </a:prstGeom>
          <a:noFill/>
          <a:ln w="31750">
            <a:solidFill>
              <a:srgbClr val="D98A1E"/>
            </a:solidFill>
            <a:prstDash val="solid"/>
          </a:ln>
        </p:spPr>
      </p:sp>
      <p:sp>
        <p:nvSpPr>
          <p:cNvPr id="613" name="Shape 611"/>
          <p:cNvSpPr/>
          <p:nvPr/>
        </p:nvSpPr>
        <p:spPr>
          <a:xfrm flipV="1">
            <a:off x="4122964" y="3816100"/>
            <a:ext cx="49802" cy="16941"/>
          </a:xfrm>
          <a:prstGeom prst="line">
            <a:avLst/>
          </a:prstGeom>
          <a:noFill/>
          <a:ln w="31750">
            <a:solidFill>
              <a:srgbClr val="D98A1E"/>
            </a:solidFill>
            <a:prstDash val="solid"/>
          </a:ln>
        </p:spPr>
      </p:sp>
      <p:sp>
        <p:nvSpPr>
          <p:cNvPr id="614" name="Shape 612"/>
          <p:cNvSpPr/>
          <p:nvPr/>
        </p:nvSpPr>
        <p:spPr>
          <a:xfrm flipV="1">
            <a:off x="4172766" y="3796739"/>
            <a:ext cx="49802" cy="19361"/>
          </a:xfrm>
          <a:prstGeom prst="line">
            <a:avLst/>
          </a:prstGeom>
          <a:noFill/>
          <a:ln w="31750">
            <a:solidFill>
              <a:srgbClr val="D98A1E"/>
            </a:solidFill>
            <a:prstDash val="solid"/>
          </a:ln>
        </p:spPr>
      </p:sp>
      <p:sp>
        <p:nvSpPr>
          <p:cNvPr id="615" name="Shape 613"/>
          <p:cNvSpPr/>
          <p:nvPr/>
        </p:nvSpPr>
        <p:spPr>
          <a:xfrm flipV="1">
            <a:off x="4222569" y="3774803"/>
            <a:ext cx="49802" cy="21937"/>
          </a:xfrm>
          <a:prstGeom prst="line">
            <a:avLst/>
          </a:prstGeom>
          <a:noFill/>
          <a:ln w="31750">
            <a:solidFill>
              <a:srgbClr val="D98A1E"/>
            </a:solidFill>
            <a:prstDash val="solid"/>
          </a:ln>
        </p:spPr>
      </p:sp>
      <p:sp>
        <p:nvSpPr>
          <p:cNvPr id="616" name="Shape 614"/>
          <p:cNvSpPr/>
          <p:nvPr/>
        </p:nvSpPr>
        <p:spPr>
          <a:xfrm flipV="1">
            <a:off x="4272371" y="3750164"/>
            <a:ext cx="49802" cy="24638"/>
          </a:xfrm>
          <a:prstGeom prst="line">
            <a:avLst/>
          </a:prstGeom>
          <a:noFill/>
          <a:ln w="31750">
            <a:solidFill>
              <a:srgbClr val="D98A1E"/>
            </a:solidFill>
            <a:prstDash val="solid"/>
          </a:ln>
        </p:spPr>
      </p:sp>
      <p:sp>
        <p:nvSpPr>
          <p:cNvPr id="617" name="Shape 615"/>
          <p:cNvSpPr/>
          <p:nvPr/>
        </p:nvSpPr>
        <p:spPr>
          <a:xfrm flipV="1">
            <a:off x="4322173" y="3722737"/>
            <a:ext cx="49802" cy="27427"/>
          </a:xfrm>
          <a:prstGeom prst="line">
            <a:avLst/>
          </a:prstGeom>
          <a:noFill/>
          <a:ln w="31750">
            <a:solidFill>
              <a:srgbClr val="D98A1E"/>
            </a:solidFill>
            <a:prstDash val="solid"/>
          </a:ln>
        </p:spPr>
      </p:sp>
      <p:sp>
        <p:nvSpPr>
          <p:cNvPr id="618" name="Shape 616"/>
          <p:cNvSpPr/>
          <p:nvPr/>
        </p:nvSpPr>
        <p:spPr>
          <a:xfrm flipV="1">
            <a:off x="4371975" y="3692482"/>
            <a:ext cx="49802" cy="30255"/>
          </a:xfrm>
          <a:prstGeom prst="line">
            <a:avLst/>
          </a:prstGeom>
          <a:noFill/>
          <a:ln w="31750">
            <a:solidFill>
              <a:srgbClr val="D98A1E"/>
            </a:solidFill>
            <a:prstDash val="solid"/>
          </a:ln>
        </p:spPr>
      </p:sp>
      <p:sp>
        <p:nvSpPr>
          <p:cNvPr id="619" name="Shape 617"/>
          <p:cNvSpPr/>
          <p:nvPr/>
        </p:nvSpPr>
        <p:spPr>
          <a:xfrm flipV="1">
            <a:off x="4421777" y="3659418"/>
            <a:ext cx="49802" cy="33064"/>
          </a:xfrm>
          <a:prstGeom prst="line">
            <a:avLst/>
          </a:prstGeom>
          <a:noFill/>
          <a:ln w="31750">
            <a:solidFill>
              <a:srgbClr val="D98A1E"/>
            </a:solidFill>
            <a:prstDash val="solid"/>
          </a:ln>
        </p:spPr>
      </p:sp>
      <p:sp>
        <p:nvSpPr>
          <p:cNvPr id="620" name="Shape 618"/>
          <p:cNvSpPr/>
          <p:nvPr/>
        </p:nvSpPr>
        <p:spPr>
          <a:xfrm flipV="1">
            <a:off x="4471579" y="3623628"/>
            <a:ext cx="49802" cy="35790"/>
          </a:xfrm>
          <a:prstGeom prst="line">
            <a:avLst/>
          </a:prstGeom>
          <a:noFill/>
          <a:ln w="31750">
            <a:solidFill>
              <a:srgbClr val="D98A1E"/>
            </a:solidFill>
            <a:prstDash val="solid"/>
          </a:ln>
        </p:spPr>
      </p:sp>
      <p:sp>
        <p:nvSpPr>
          <p:cNvPr id="621" name="Shape 619"/>
          <p:cNvSpPr/>
          <p:nvPr/>
        </p:nvSpPr>
        <p:spPr>
          <a:xfrm flipV="1">
            <a:off x="4521381" y="3585267"/>
            <a:ext cx="49802" cy="38361"/>
          </a:xfrm>
          <a:prstGeom prst="line">
            <a:avLst/>
          </a:prstGeom>
          <a:noFill/>
          <a:ln w="31750">
            <a:solidFill>
              <a:srgbClr val="D98A1E"/>
            </a:solidFill>
            <a:prstDash val="solid"/>
          </a:ln>
        </p:spPr>
      </p:sp>
      <p:sp>
        <p:nvSpPr>
          <p:cNvPr id="622" name="Shape 620"/>
          <p:cNvSpPr/>
          <p:nvPr/>
        </p:nvSpPr>
        <p:spPr>
          <a:xfrm flipV="1">
            <a:off x="4571184" y="3544569"/>
            <a:ext cx="49802" cy="40698"/>
          </a:xfrm>
          <a:prstGeom prst="line">
            <a:avLst/>
          </a:prstGeom>
          <a:noFill/>
          <a:ln w="31750">
            <a:solidFill>
              <a:srgbClr val="D98A1E"/>
            </a:solidFill>
            <a:prstDash val="solid"/>
          </a:ln>
        </p:spPr>
      </p:sp>
      <p:sp>
        <p:nvSpPr>
          <p:cNvPr id="623" name="Shape 621"/>
          <p:cNvSpPr/>
          <p:nvPr/>
        </p:nvSpPr>
        <p:spPr>
          <a:xfrm flipV="1">
            <a:off x="4620986" y="3501847"/>
            <a:ext cx="49802" cy="42722"/>
          </a:xfrm>
          <a:prstGeom prst="line">
            <a:avLst/>
          </a:prstGeom>
          <a:noFill/>
          <a:ln w="31750">
            <a:solidFill>
              <a:srgbClr val="D98A1E"/>
            </a:solidFill>
            <a:prstDash val="solid"/>
          </a:ln>
        </p:spPr>
      </p:sp>
      <p:sp>
        <p:nvSpPr>
          <p:cNvPr id="624" name="Shape 622"/>
          <p:cNvSpPr/>
          <p:nvPr/>
        </p:nvSpPr>
        <p:spPr>
          <a:xfrm flipV="1">
            <a:off x="4670788" y="3457497"/>
            <a:ext cx="49802" cy="44350"/>
          </a:xfrm>
          <a:prstGeom prst="line">
            <a:avLst/>
          </a:prstGeom>
          <a:noFill/>
          <a:ln w="31750">
            <a:solidFill>
              <a:srgbClr val="D98A1E"/>
            </a:solidFill>
            <a:prstDash val="solid"/>
          </a:ln>
        </p:spPr>
      </p:sp>
      <p:sp>
        <p:nvSpPr>
          <p:cNvPr id="625" name="Shape 623"/>
          <p:cNvSpPr/>
          <p:nvPr/>
        </p:nvSpPr>
        <p:spPr>
          <a:xfrm flipV="1">
            <a:off x="4720590" y="3411991"/>
            <a:ext cx="49802" cy="45505"/>
          </a:xfrm>
          <a:prstGeom prst="line">
            <a:avLst/>
          </a:prstGeom>
          <a:noFill/>
          <a:ln w="31750">
            <a:solidFill>
              <a:srgbClr val="D98A1E"/>
            </a:solidFill>
            <a:prstDash val="solid"/>
          </a:ln>
        </p:spPr>
      </p:sp>
      <p:sp>
        <p:nvSpPr>
          <p:cNvPr id="626" name="Shape 624"/>
          <p:cNvSpPr/>
          <p:nvPr/>
        </p:nvSpPr>
        <p:spPr>
          <a:xfrm flipV="1">
            <a:off x="4770392" y="3365878"/>
            <a:ext cx="49802" cy="46113"/>
          </a:xfrm>
          <a:prstGeom prst="line">
            <a:avLst/>
          </a:prstGeom>
          <a:noFill/>
          <a:ln w="31750">
            <a:solidFill>
              <a:srgbClr val="D98A1E"/>
            </a:solidFill>
            <a:prstDash val="solid"/>
          </a:ln>
        </p:spPr>
      </p:sp>
      <p:sp>
        <p:nvSpPr>
          <p:cNvPr id="627" name="Shape 625"/>
          <p:cNvSpPr/>
          <p:nvPr/>
        </p:nvSpPr>
        <p:spPr>
          <a:xfrm flipV="1">
            <a:off x="4820194" y="3319770"/>
            <a:ext cx="49802" cy="46109"/>
          </a:xfrm>
          <a:prstGeom prst="line">
            <a:avLst/>
          </a:prstGeom>
          <a:noFill/>
          <a:ln w="31750">
            <a:solidFill>
              <a:srgbClr val="D98A1E"/>
            </a:solidFill>
            <a:prstDash val="solid"/>
          </a:ln>
        </p:spPr>
      </p:sp>
      <p:sp>
        <p:nvSpPr>
          <p:cNvPr id="628" name="Shape 626"/>
          <p:cNvSpPr/>
          <p:nvPr/>
        </p:nvSpPr>
        <p:spPr>
          <a:xfrm flipV="1">
            <a:off x="4869996" y="3274331"/>
            <a:ext cx="49802" cy="45439"/>
          </a:xfrm>
          <a:prstGeom prst="line">
            <a:avLst/>
          </a:prstGeom>
          <a:noFill/>
          <a:ln w="31750">
            <a:solidFill>
              <a:srgbClr val="D98A1E"/>
            </a:solidFill>
            <a:prstDash val="solid"/>
          </a:ln>
        </p:spPr>
      </p:sp>
      <p:sp>
        <p:nvSpPr>
          <p:cNvPr id="629" name="Shape 627"/>
          <p:cNvSpPr/>
          <p:nvPr/>
        </p:nvSpPr>
        <p:spPr>
          <a:xfrm flipV="1">
            <a:off x="4919799" y="3230265"/>
            <a:ext cx="49802" cy="44066"/>
          </a:xfrm>
          <a:prstGeom prst="line">
            <a:avLst/>
          </a:prstGeom>
          <a:noFill/>
          <a:ln w="31750">
            <a:solidFill>
              <a:srgbClr val="D98A1E"/>
            </a:solidFill>
            <a:prstDash val="solid"/>
          </a:ln>
        </p:spPr>
      </p:sp>
      <p:sp>
        <p:nvSpPr>
          <p:cNvPr id="630" name="Shape 628"/>
          <p:cNvSpPr/>
          <p:nvPr/>
        </p:nvSpPr>
        <p:spPr>
          <a:xfrm flipV="1">
            <a:off x="4969601" y="3188296"/>
            <a:ext cx="49802" cy="41969"/>
          </a:xfrm>
          <a:prstGeom prst="line">
            <a:avLst/>
          </a:prstGeom>
          <a:noFill/>
          <a:ln w="31750">
            <a:solidFill>
              <a:srgbClr val="D98A1E"/>
            </a:solidFill>
            <a:prstDash val="solid"/>
          </a:ln>
        </p:spPr>
      </p:sp>
      <p:sp>
        <p:nvSpPr>
          <p:cNvPr id="631" name="Shape 629"/>
          <p:cNvSpPr/>
          <p:nvPr/>
        </p:nvSpPr>
        <p:spPr>
          <a:xfrm flipV="1">
            <a:off x="5019403" y="3149150"/>
            <a:ext cx="49802" cy="39146"/>
          </a:xfrm>
          <a:prstGeom prst="line">
            <a:avLst/>
          </a:prstGeom>
          <a:noFill/>
          <a:ln w="31750">
            <a:solidFill>
              <a:srgbClr val="D98A1E"/>
            </a:solidFill>
            <a:prstDash val="solid"/>
          </a:ln>
        </p:spPr>
      </p:sp>
      <p:sp>
        <p:nvSpPr>
          <p:cNvPr id="632" name="Shape 630"/>
          <p:cNvSpPr/>
          <p:nvPr/>
        </p:nvSpPr>
        <p:spPr>
          <a:xfrm flipV="1">
            <a:off x="5069205" y="3113535"/>
            <a:ext cx="49802" cy="35615"/>
          </a:xfrm>
          <a:prstGeom prst="line">
            <a:avLst/>
          </a:prstGeom>
          <a:noFill/>
          <a:ln w="31750">
            <a:solidFill>
              <a:srgbClr val="D98A1E"/>
            </a:solidFill>
            <a:prstDash val="solid"/>
          </a:ln>
        </p:spPr>
      </p:sp>
      <p:sp>
        <p:nvSpPr>
          <p:cNvPr id="633" name="Shape 631"/>
          <p:cNvSpPr/>
          <p:nvPr/>
        </p:nvSpPr>
        <p:spPr>
          <a:xfrm flipV="1">
            <a:off x="5119007" y="3082117"/>
            <a:ext cx="49802" cy="31417"/>
          </a:xfrm>
          <a:prstGeom prst="line">
            <a:avLst/>
          </a:prstGeom>
          <a:noFill/>
          <a:ln w="31750">
            <a:solidFill>
              <a:srgbClr val="D98A1E"/>
            </a:solidFill>
            <a:prstDash val="solid"/>
          </a:ln>
        </p:spPr>
      </p:sp>
      <p:sp>
        <p:nvSpPr>
          <p:cNvPr id="634" name="Shape 632"/>
          <p:cNvSpPr/>
          <p:nvPr/>
        </p:nvSpPr>
        <p:spPr>
          <a:xfrm flipV="1">
            <a:off x="5168809" y="3055505"/>
            <a:ext cx="49802" cy="26613"/>
          </a:xfrm>
          <a:prstGeom prst="line">
            <a:avLst/>
          </a:prstGeom>
          <a:noFill/>
          <a:ln w="31750">
            <a:solidFill>
              <a:srgbClr val="D98A1E"/>
            </a:solidFill>
            <a:prstDash val="solid"/>
          </a:ln>
        </p:spPr>
      </p:sp>
      <p:sp>
        <p:nvSpPr>
          <p:cNvPr id="635" name="Shape 633"/>
          <p:cNvSpPr/>
          <p:nvPr/>
        </p:nvSpPr>
        <p:spPr>
          <a:xfrm flipV="1">
            <a:off x="5218611" y="3034223"/>
            <a:ext cx="49802" cy="21282"/>
          </a:xfrm>
          <a:prstGeom prst="line">
            <a:avLst/>
          </a:prstGeom>
          <a:noFill/>
          <a:ln w="31750">
            <a:solidFill>
              <a:srgbClr val="D98A1E"/>
            </a:solidFill>
            <a:prstDash val="solid"/>
          </a:ln>
        </p:spPr>
      </p:sp>
      <p:sp>
        <p:nvSpPr>
          <p:cNvPr id="636" name="Shape 634"/>
          <p:cNvSpPr/>
          <p:nvPr/>
        </p:nvSpPr>
        <p:spPr>
          <a:xfrm flipV="1">
            <a:off x="5268414" y="3018702"/>
            <a:ext cx="49802" cy="15521"/>
          </a:xfrm>
          <a:prstGeom prst="line">
            <a:avLst/>
          </a:prstGeom>
          <a:noFill/>
          <a:ln w="31750">
            <a:solidFill>
              <a:srgbClr val="D98A1E"/>
            </a:solidFill>
            <a:prstDash val="solid"/>
          </a:ln>
        </p:spPr>
      </p:sp>
      <p:sp>
        <p:nvSpPr>
          <p:cNvPr id="637" name="Shape 635"/>
          <p:cNvSpPr/>
          <p:nvPr/>
        </p:nvSpPr>
        <p:spPr>
          <a:xfrm flipV="1">
            <a:off x="5318216" y="3009259"/>
            <a:ext cx="49802" cy="9443"/>
          </a:xfrm>
          <a:prstGeom prst="line">
            <a:avLst/>
          </a:prstGeom>
          <a:noFill/>
          <a:ln w="31750">
            <a:solidFill>
              <a:srgbClr val="D98A1E"/>
            </a:solidFill>
            <a:prstDash val="solid"/>
          </a:ln>
        </p:spPr>
      </p:sp>
      <p:sp>
        <p:nvSpPr>
          <p:cNvPr id="638" name="Shape 636"/>
          <p:cNvSpPr/>
          <p:nvPr/>
        </p:nvSpPr>
        <p:spPr>
          <a:xfrm flipV="1">
            <a:off x="5368018" y="3006090"/>
            <a:ext cx="49802" cy="3169"/>
          </a:xfrm>
          <a:prstGeom prst="line">
            <a:avLst/>
          </a:prstGeom>
          <a:noFill/>
          <a:ln w="31750">
            <a:solidFill>
              <a:srgbClr val="D98A1E"/>
            </a:solidFill>
            <a:prstDash val="solid"/>
          </a:ln>
        </p:spPr>
      </p:sp>
      <p:sp>
        <p:nvSpPr>
          <p:cNvPr id="639" name="Shape 637"/>
          <p:cNvSpPr/>
          <p:nvPr/>
        </p:nvSpPr>
        <p:spPr>
          <a:xfrm>
            <a:off x="5417820" y="3006090"/>
            <a:ext cx="49802" cy="3169"/>
          </a:xfrm>
          <a:prstGeom prst="line">
            <a:avLst/>
          </a:prstGeom>
          <a:noFill/>
          <a:ln w="31750">
            <a:solidFill>
              <a:srgbClr val="D98A1E"/>
            </a:solidFill>
            <a:prstDash val="solid"/>
          </a:ln>
        </p:spPr>
      </p:sp>
      <p:sp>
        <p:nvSpPr>
          <p:cNvPr id="640" name="Shape 638"/>
          <p:cNvSpPr/>
          <p:nvPr/>
        </p:nvSpPr>
        <p:spPr>
          <a:xfrm>
            <a:off x="5467622" y="3009259"/>
            <a:ext cx="49802" cy="9443"/>
          </a:xfrm>
          <a:prstGeom prst="line">
            <a:avLst/>
          </a:prstGeom>
          <a:noFill/>
          <a:ln w="31750">
            <a:solidFill>
              <a:srgbClr val="D98A1E"/>
            </a:solidFill>
            <a:prstDash val="solid"/>
          </a:ln>
        </p:spPr>
      </p:sp>
      <p:sp>
        <p:nvSpPr>
          <p:cNvPr id="641" name="Shape 639"/>
          <p:cNvSpPr/>
          <p:nvPr/>
        </p:nvSpPr>
        <p:spPr>
          <a:xfrm>
            <a:off x="5517424" y="3018702"/>
            <a:ext cx="49802" cy="15521"/>
          </a:xfrm>
          <a:prstGeom prst="line">
            <a:avLst/>
          </a:prstGeom>
          <a:noFill/>
          <a:ln w="31750">
            <a:solidFill>
              <a:srgbClr val="D98A1E"/>
            </a:solidFill>
            <a:prstDash val="solid"/>
          </a:ln>
        </p:spPr>
      </p:sp>
      <p:sp>
        <p:nvSpPr>
          <p:cNvPr id="642" name="Shape 640"/>
          <p:cNvSpPr/>
          <p:nvPr/>
        </p:nvSpPr>
        <p:spPr>
          <a:xfrm>
            <a:off x="5567226" y="3034223"/>
            <a:ext cx="49802" cy="21282"/>
          </a:xfrm>
          <a:prstGeom prst="line">
            <a:avLst/>
          </a:prstGeom>
          <a:noFill/>
          <a:ln w="31750">
            <a:solidFill>
              <a:srgbClr val="D98A1E"/>
            </a:solidFill>
            <a:prstDash val="solid"/>
          </a:ln>
        </p:spPr>
      </p:sp>
      <p:sp>
        <p:nvSpPr>
          <p:cNvPr id="643" name="Shape 641"/>
          <p:cNvSpPr/>
          <p:nvPr/>
        </p:nvSpPr>
        <p:spPr>
          <a:xfrm>
            <a:off x="5617029" y="3055505"/>
            <a:ext cx="49802" cy="26613"/>
          </a:xfrm>
          <a:prstGeom prst="line">
            <a:avLst/>
          </a:prstGeom>
          <a:noFill/>
          <a:ln w="31750">
            <a:solidFill>
              <a:srgbClr val="D98A1E"/>
            </a:solidFill>
            <a:prstDash val="solid"/>
          </a:ln>
        </p:spPr>
      </p:sp>
      <p:sp>
        <p:nvSpPr>
          <p:cNvPr id="644" name="Shape 642"/>
          <p:cNvSpPr/>
          <p:nvPr/>
        </p:nvSpPr>
        <p:spPr>
          <a:xfrm>
            <a:off x="5666831" y="3082117"/>
            <a:ext cx="49802" cy="31417"/>
          </a:xfrm>
          <a:prstGeom prst="line">
            <a:avLst/>
          </a:prstGeom>
          <a:noFill/>
          <a:ln w="31750">
            <a:solidFill>
              <a:srgbClr val="D98A1E"/>
            </a:solidFill>
            <a:prstDash val="solid"/>
          </a:ln>
        </p:spPr>
      </p:sp>
      <p:sp>
        <p:nvSpPr>
          <p:cNvPr id="645" name="Shape 643"/>
          <p:cNvSpPr/>
          <p:nvPr/>
        </p:nvSpPr>
        <p:spPr>
          <a:xfrm>
            <a:off x="5716633" y="3113535"/>
            <a:ext cx="49802" cy="35615"/>
          </a:xfrm>
          <a:prstGeom prst="line">
            <a:avLst/>
          </a:prstGeom>
          <a:noFill/>
          <a:ln w="31750">
            <a:solidFill>
              <a:srgbClr val="D98A1E"/>
            </a:solidFill>
            <a:prstDash val="solid"/>
          </a:ln>
        </p:spPr>
      </p:sp>
      <p:sp>
        <p:nvSpPr>
          <p:cNvPr id="646" name="Shape 644"/>
          <p:cNvSpPr/>
          <p:nvPr/>
        </p:nvSpPr>
        <p:spPr>
          <a:xfrm>
            <a:off x="5766435" y="3149150"/>
            <a:ext cx="49802" cy="39146"/>
          </a:xfrm>
          <a:prstGeom prst="line">
            <a:avLst/>
          </a:prstGeom>
          <a:noFill/>
          <a:ln w="31750">
            <a:solidFill>
              <a:srgbClr val="D98A1E"/>
            </a:solidFill>
            <a:prstDash val="solid"/>
          </a:ln>
        </p:spPr>
      </p:sp>
      <p:sp>
        <p:nvSpPr>
          <p:cNvPr id="647" name="Shape 645"/>
          <p:cNvSpPr/>
          <p:nvPr/>
        </p:nvSpPr>
        <p:spPr>
          <a:xfrm>
            <a:off x="5816237" y="3188296"/>
            <a:ext cx="49802" cy="41969"/>
          </a:xfrm>
          <a:prstGeom prst="line">
            <a:avLst/>
          </a:prstGeom>
          <a:noFill/>
          <a:ln w="31750">
            <a:solidFill>
              <a:srgbClr val="D98A1E"/>
            </a:solidFill>
            <a:prstDash val="solid"/>
          </a:ln>
        </p:spPr>
      </p:sp>
      <p:sp>
        <p:nvSpPr>
          <p:cNvPr id="648" name="Shape 646"/>
          <p:cNvSpPr/>
          <p:nvPr/>
        </p:nvSpPr>
        <p:spPr>
          <a:xfrm>
            <a:off x="5866039" y="3230265"/>
            <a:ext cx="49802" cy="44066"/>
          </a:xfrm>
          <a:prstGeom prst="line">
            <a:avLst/>
          </a:prstGeom>
          <a:noFill/>
          <a:ln w="31750">
            <a:solidFill>
              <a:srgbClr val="D98A1E"/>
            </a:solidFill>
            <a:prstDash val="solid"/>
          </a:ln>
        </p:spPr>
      </p:sp>
      <p:sp>
        <p:nvSpPr>
          <p:cNvPr id="649" name="Shape 647"/>
          <p:cNvSpPr/>
          <p:nvPr/>
        </p:nvSpPr>
        <p:spPr>
          <a:xfrm>
            <a:off x="5915841" y="3274331"/>
            <a:ext cx="49802" cy="45439"/>
          </a:xfrm>
          <a:prstGeom prst="line">
            <a:avLst/>
          </a:prstGeom>
          <a:noFill/>
          <a:ln w="31750">
            <a:solidFill>
              <a:srgbClr val="D98A1E"/>
            </a:solidFill>
            <a:prstDash val="solid"/>
          </a:ln>
        </p:spPr>
      </p:sp>
      <p:sp>
        <p:nvSpPr>
          <p:cNvPr id="650" name="Shape 648"/>
          <p:cNvSpPr/>
          <p:nvPr/>
        </p:nvSpPr>
        <p:spPr>
          <a:xfrm>
            <a:off x="5965644" y="3319770"/>
            <a:ext cx="49802" cy="46109"/>
          </a:xfrm>
          <a:prstGeom prst="line">
            <a:avLst/>
          </a:prstGeom>
          <a:noFill/>
          <a:ln w="31750">
            <a:solidFill>
              <a:srgbClr val="D98A1E"/>
            </a:solidFill>
            <a:prstDash val="solid"/>
          </a:ln>
        </p:spPr>
      </p:sp>
      <p:sp>
        <p:nvSpPr>
          <p:cNvPr id="651" name="Shape 649"/>
          <p:cNvSpPr/>
          <p:nvPr/>
        </p:nvSpPr>
        <p:spPr>
          <a:xfrm>
            <a:off x="6015446" y="3365878"/>
            <a:ext cx="49802" cy="46113"/>
          </a:xfrm>
          <a:prstGeom prst="line">
            <a:avLst/>
          </a:prstGeom>
          <a:noFill/>
          <a:ln w="31750">
            <a:solidFill>
              <a:srgbClr val="D98A1E"/>
            </a:solidFill>
            <a:prstDash val="solid"/>
          </a:ln>
        </p:spPr>
      </p:sp>
      <p:sp>
        <p:nvSpPr>
          <p:cNvPr id="652" name="Shape 650"/>
          <p:cNvSpPr/>
          <p:nvPr/>
        </p:nvSpPr>
        <p:spPr>
          <a:xfrm>
            <a:off x="6065248" y="3411991"/>
            <a:ext cx="49802" cy="45505"/>
          </a:xfrm>
          <a:prstGeom prst="line">
            <a:avLst/>
          </a:prstGeom>
          <a:noFill/>
          <a:ln w="31750">
            <a:solidFill>
              <a:srgbClr val="D98A1E"/>
            </a:solidFill>
            <a:prstDash val="solid"/>
          </a:ln>
        </p:spPr>
      </p:sp>
      <p:sp>
        <p:nvSpPr>
          <p:cNvPr id="653" name="Shape 651"/>
          <p:cNvSpPr/>
          <p:nvPr/>
        </p:nvSpPr>
        <p:spPr>
          <a:xfrm>
            <a:off x="6115050" y="3457497"/>
            <a:ext cx="49802" cy="44350"/>
          </a:xfrm>
          <a:prstGeom prst="line">
            <a:avLst/>
          </a:prstGeom>
          <a:noFill/>
          <a:ln w="31750">
            <a:solidFill>
              <a:srgbClr val="D98A1E"/>
            </a:solidFill>
            <a:prstDash val="solid"/>
          </a:ln>
        </p:spPr>
      </p:sp>
      <p:sp>
        <p:nvSpPr>
          <p:cNvPr id="654" name="Shape 652"/>
          <p:cNvSpPr/>
          <p:nvPr/>
        </p:nvSpPr>
        <p:spPr>
          <a:xfrm>
            <a:off x="6164852" y="3501847"/>
            <a:ext cx="49802" cy="42722"/>
          </a:xfrm>
          <a:prstGeom prst="line">
            <a:avLst/>
          </a:prstGeom>
          <a:noFill/>
          <a:ln w="31750">
            <a:solidFill>
              <a:srgbClr val="D98A1E"/>
            </a:solidFill>
            <a:prstDash val="solid"/>
          </a:ln>
        </p:spPr>
      </p:sp>
      <p:sp>
        <p:nvSpPr>
          <p:cNvPr id="655" name="Shape 653"/>
          <p:cNvSpPr/>
          <p:nvPr/>
        </p:nvSpPr>
        <p:spPr>
          <a:xfrm>
            <a:off x="6214654" y="3544569"/>
            <a:ext cx="49802" cy="40698"/>
          </a:xfrm>
          <a:prstGeom prst="line">
            <a:avLst/>
          </a:prstGeom>
          <a:noFill/>
          <a:ln w="31750">
            <a:solidFill>
              <a:srgbClr val="D98A1E"/>
            </a:solidFill>
            <a:prstDash val="solid"/>
          </a:ln>
        </p:spPr>
      </p:sp>
      <p:sp>
        <p:nvSpPr>
          <p:cNvPr id="656" name="Shape 654"/>
          <p:cNvSpPr/>
          <p:nvPr/>
        </p:nvSpPr>
        <p:spPr>
          <a:xfrm>
            <a:off x="6264456" y="3585267"/>
            <a:ext cx="49802" cy="38361"/>
          </a:xfrm>
          <a:prstGeom prst="line">
            <a:avLst/>
          </a:prstGeom>
          <a:noFill/>
          <a:ln w="31750">
            <a:solidFill>
              <a:srgbClr val="D98A1E"/>
            </a:solidFill>
            <a:prstDash val="solid"/>
          </a:ln>
        </p:spPr>
      </p:sp>
      <p:sp>
        <p:nvSpPr>
          <p:cNvPr id="657" name="Shape 655"/>
          <p:cNvSpPr/>
          <p:nvPr/>
        </p:nvSpPr>
        <p:spPr>
          <a:xfrm>
            <a:off x="6314259" y="3623628"/>
            <a:ext cx="49802" cy="35790"/>
          </a:xfrm>
          <a:prstGeom prst="line">
            <a:avLst/>
          </a:prstGeom>
          <a:noFill/>
          <a:ln w="31750">
            <a:solidFill>
              <a:srgbClr val="D98A1E"/>
            </a:solidFill>
            <a:prstDash val="solid"/>
          </a:ln>
        </p:spPr>
      </p:sp>
      <p:sp>
        <p:nvSpPr>
          <p:cNvPr id="658" name="Shape 656"/>
          <p:cNvSpPr/>
          <p:nvPr/>
        </p:nvSpPr>
        <p:spPr>
          <a:xfrm>
            <a:off x="6364061" y="3659418"/>
            <a:ext cx="49802" cy="33064"/>
          </a:xfrm>
          <a:prstGeom prst="line">
            <a:avLst/>
          </a:prstGeom>
          <a:noFill/>
          <a:ln w="31750">
            <a:solidFill>
              <a:srgbClr val="D98A1E"/>
            </a:solidFill>
            <a:prstDash val="solid"/>
          </a:ln>
        </p:spPr>
      </p:sp>
      <p:sp>
        <p:nvSpPr>
          <p:cNvPr id="659" name="Shape 657"/>
          <p:cNvSpPr/>
          <p:nvPr/>
        </p:nvSpPr>
        <p:spPr>
          <a:xfrm>
            <a:off x="6413863" y="3692482"/>
            <a:ext cx="49802" cy="30255"/>
          </a:xfrm>
          <a:prstGeom prst="line">
            <a:avLst/>
          </a:prstGeom>
          <a:noFill/>
          <a:ln w="31750">
            <a:solidFill>
              <a:srgbClr val="D98A1E"/>
            </a:solidFill>
            <a:prstDash val="solid"/>
          </a:ln>
        </p:spPr>
      </p:sp>
      <p:sp>
        <p:nvSpPr>
          <p:cNvPr id="660" name="Shape 658"/>
          <p:cNvSpPr/>
          <p:nvPr/>
        </p:nvSpPr>
        <p:spPr>
          <a:xfrm>
            <a:off x="6463665" y="3722737"/>
            <a:ext cx="49802" cy="27427"/>
          </a:xfrm>
          <a:prstGeom prst="line">
            <a:avLst/>
          </a:prstGeom>
          <a:noFill/>
          <a:ln w="31750">
            <a:solidFill>
              <a:srgbClr val="D98A1E"/>
            </a:solidFill>
            <a:prstDash val="solid"/>
          </a:ln>
        </p:spPr>
      </p:sp>
      <p:sp>
        <p:nvSpPr>
          <p:cNvPr id="661" name="Shape 659"/>
          <p:cNvSpPr/>
          <p:nvPr/>
        </p:nvSpPr>
        <p:spPr>
          <a:xfrm>
            <a:off x="6513467" y="3750164"/>
            <a:ext cx="49802" cy="24638"/>
          </a:xfrm>
          <a:prstGeom prst="line">
            <a:avLst/>
          </a:prstGeom>
          <a:noFill/>
          <a:ln w="31750">
            <a:solidFill>
              <a:srgbClr val="D98A1E"/>
            </a:solidFill>
            <a:prstDash val="solid"/>
          </a:ln>
        </p:spPr>
      </p:sp>
      <p:sp>
        <p:nvSpPr>
          <p:cNvPr id="662" name="Shape 660"/>
          <p:cNvSpPr/>
          <p:nvPr/>
        </p:nvSpPr>
        <p:spPr>
          <a:xfrm>
            <a:off x="6563269" y="3774803"/>
            <a:ext cx="49802" cy="21937"/>
          </a:xfrm>
          <a:prstGeom prst="line">
            <a:avLst/>
          </a:prstGeom>
          <a:noFill/>
          <a:ln w="31750">
            <a:solidFill>
              <a:srgbClr val="D98A1E"/>
            </a:solidFill>
            <a:prstDash val="solid"/>
          </a:ln>
        </p:spPr>
      </p:sp>
      <p:sp>
        <p:nvSpPr>
          <p:cNvPr id="663" name="Shape 661"/>
          <p:cNvSpPr/>
          <p:nvPr/>
        </p:nvSpPr>
        <p:spPr>
          <a:xfrm>
            <a:off x="6613071" y="3796739"/>
            <a:ext cx="49802" cy="19361"/>
          </a:xfrm>
          <a:prstGeom prst="line">
            <a:avLst/>
          </a:prstGeom>
          <a:noFill/>
          <a:ln w="31750">
            <a:solidFill>
              <a:srgbClr val="D98A1E"/>
            </a:solidFill>
            <a:prstDash val="solid"/>
          </a:ln>
        </p:spPr>
      </p:sp>
      <p:sp>
        <p:nvSpPr>
          <p:cNvPr id="664" name="Shape 662"/>
          <p:cNvSpPr/>
          <p:nvPr/>
        </p:nvSpPr>
        <p:spPr>
          <a:xfrm>
            <a:off x="6662874" y="3816100"/>
            <a:ext cx="49802" cy="16941"/>
          </a:xfrm>
          <a:prstGeom prst="line">
            <a:avLst/>
          </a:prstGeom>
          <a:noFill/>
          <a:ln w="31750">
            <a:solidFill>
              <a:srgbClr val="D98A1E"/>
            </a:solidFill>
            <a:prstDash val="solid"/>
          </a:ln>
        </p:spPr>
      </p:sp>
      <p:sp>
        <p:nvSpPr>
          <p:cNvPr id="665" name="Shape 663"/>
          <p:cNvSpPr/>
          <p:nvPr/>
        </p:nvSpPr>
        <p:spPr>
          <a:xfrm>
            <a:off x="6712676" y="3833042"/>
            <a:ext cx="49802" cy="14699"/>
          </a:xfrm>
          <a:prstGeom prst="line">
            <a:avLst/>
          </a:prstGeom>
          <a:noFill/>
          <a:ln w="31750">
            <a:solidFill>
              <a:srgbClr val="D98A1E"/>
            </a:solidFill>
            <a:prstDash val="solid"/>
          </a:ln>
        </p:spPr>
      </p:sp>
      <p:sp>
        <p:nvSpPr>
          <p:cNvPr id="666" name="Shape 664"/>
          <p:cNvSpPr/>
          <p:nvPr/>
        </p:nvSpPr>
        <p:spPr>
          <a:xfrm>
            <a:off x="6762478" y="3847741"/>
            <a:ext cx="49802" cy="12647"/>
          </a:xfrm>
          <a:prstGeom prst="line">
            <a:avLst/>
          </a:prstGeom>
          <a:noFill/>
          <a:ln w="31750">
            <a:solidFill>
              <a:srgbClr val="D98A1E"/>
            </a:solidFill>
            <a:prstDash val="solid"/>
          </a:ln>
        </p:spPr>
      </p:sp>
      <p:sp>
        <p:nvSpPr>
          <p:cNvPr id="667" name="Shape 665"/>
          <p:cNvSpPr/>
          <p:nvPr/>
        </p:nvSpPr>
        <p:spPr>
          <a:xfrm>
            <a:off x="1234440" y="4340352"/>
            <a:ext cx="5577840" cy="670560"/>
          </a:xfrm>
          <a:custGeom>
            <a:avLst/>
            <a:gdLst/>
            <a:ahLst/>
            <a:cxnLst/>
            <a:rect l="l" t="t" r="r" b="b"/>
            <a:pathLst>
              <a:path w="5577840" h="670560">
                <a:moveTo>
                  <a:pt x="0" y="670560"/>
                </a:moveTo>
                <a:lnTo>
                  <a:pt x="0" y="60960"/>
                </a:lnTo>
                <a:lnTo>
                  <a:pt x="99604" y="112776"/>
                </a:lnTo>
                <a:lnTo>
                  <a:pt x="199209" y="164592"/>
                </a:lnTo>
                <a:lnTo>
                  <a:pt x="298813" y="216408"/>
                </a:lnTo>
                <a:lnTo>
                  <a:pt x="398417" y="268224"/>
                </a:lnTo>
                <a:lnTo>
                  <a:pt x="498021" y="320040"/>
                </a:lnTo>
                <a:lnTo>
                  <a:pt x="597626" y="371856"/>
                </a:lnTo>
                <a:lnTo>
                  <a:pt x="697230" y="423672"/>
                </a:lnTo>
                <a:lnTo>
                  <a:pt x="796834" y="475488"/>
                </a:lnTo>
                <a:lnTo>
                  <a:pt x="896439" y="527304"/>
                </a:lnTo>
                <a:lnTo>
                  <a:pt x="996043" y="579120"/>
                </a:lnTo>
                <a:lnTo>
                  <a:pt x="1095647" y="553720"/>
                </a:lnTo>
                <a:lnTo>
                  <a:pt x="1195251" y="528320"/>
                </a:lnTo>
                <a:lnTo>
                  <a:pt x="1294856" y="502920"/>
                </a:lnTo>
                <a:lnTo>
                  <a:pt x="1394460" y="477520"/>
                </a:lnTo>
                <a:lnTo>
                  <a:pt x="1494064" y="452120"/>
                </a:lnTo>
                <a:lnTo>
                  <a:pt x="1593669" y="426720"/>
                </a:lnTo>
                <a:lnTo>
                  <a:pt x="1693273" y="401320"/>
                </a:lnTo>
                <a:lnTo>
                  <a:pt x="1792877" y="375920"/>
                </a:lnTo>
                <a:lnTo>
                  <a:pt x="1892481" y="350520"/>
                </a:lnTo>
                <a:lnTo>
                  <a:pt x="1992086" y="325120"/>
                </a:lnTo>
                <a:lnTo>
                  <a:pt x="2091690" y="299720"/>
                </a:lnTo>
                <a:lnTo>
                  <a:pt x="2191294" y="274320"/>
                </a:lnTo>
                <a:lnTo>
                  <a:pt x="2290899" y="248920"/>
                </a:lnTo>
                <a:lnTo>
                  <a:pt x="2390503" y="223520"/>
                </a:lnTo>
                <a:lnTo>
                  <a:pt x="2490107" y="198120"/>
                </a:lnTo>
                <a:lnTo>
                  <a:pt x="2589711" y="172720"/>
                </a:lnTo>
                <a:lnTo>
                  <a:pt x="2689316" y="147320"/>
                </a:lnTo>
                <a:lnTo>
                  <a:pt x="2788920" y="121920"/>
                </a:lnTo>
                <a:lnTo>
                  <a:pt x="2888524" y="113211"/>
                </a:lnTo>
                <a:lnTo>
                  <a:pt x="2988129" y="104503"/>
                </a:lnTo>
                <a:lnTo>
                  <a:pt x="3087733" y="95794"/>
                </a:lnTo>
                <a:lnTo>
                  <a:pt x="3187337" y="87086"/>
                </a:lnTo>
                <a:lnTo>
                  <a:pt x="3286941" y="78377"/>
                </a:lnTo>
                <a:lnTo>
                  <a:pt x="3386546" y="69669"/>
                </a:lnTo>
                <a:lnTo>
                  <a:pt x="3486150" y="60960"/>
                </a:lnTo>
                <a:lnTo>
                  <a:pt x="3585754" y="52251"/>
                </a:lnTo>
                <a:lnTo>
                  <a:pt x="3685359" y="43543"/>
                </a:lnTo>
                <a:lnTo>
                  <a:pt x="3784963" y="34834"/>
                </a:lnTo>
                <a:lnTo>
                  <a:pt x="3884567" y="26126"/>
                </a:lnTo>
                <a:lnTo>
                  <a:pt x="3984171" y="17417"/>
                </a:lnTo>
                <a:lnTo>
                  <a:pt x="4083776" y="8709"/>
                </a:lnTo>
                <a:lnTo>
                  <a:pt x="4183380" y="0"/>
                </a:lnTo>
                <a:lnTo>
                  <a:pt x="4282984" y="0"/>
                </a:lnTo>
                <a:lnTo>
                  <a:pt x="4382589" y="0"/>
                </a:lnTo>
                <a:lnTo>
                  <a:pt x="4482193" y="0"/>
                </a:lnTo>
                <a:lnTo>
                  <a:pt x="4581797" y="0"/>
                </a:lnTo>
                <a:lnTo>
                  <a:pt x="4681401" y="0"/>
                </a:lnTo>
                <a:lnTo>
                  <a:pt x="4781006" y="0"/>
                </a:lnTo>
                <a:lnTo>
                  <a:pt x="4880610" y="0"/>
                </a:lnTo>
                <a:lnTo>
                  <a:pt x="4980214" y="0"/>
                </a:lnTo>
                <a:lnTo>
                  <a:pt x="5079819" y="0"/>
                </a:lnTo>
                <a:lnTo>
                  <a:pt x="5179423" y="0"/>
                </a:lnTo>
                <a:lnTo>
                  <a:pt x="5279027" y="0"/>
                </a:lnTo>
                <a:lnTo>
                  <a:pt x="5378631" y="0"/>
                </a:lnTo>
                <a:lnTo>
                  <a:pt x="5478236" y="30480"/>
                </a:lnTo>
                <a:lnTo>
                  <a:pt x="5577840" y="60960"/>
                </a:lnTo>
                <a:lnTo>
                  <a:pt x="5577840" y="670560"/>
                </a:lnTo>
                <a:close/>
              </a:path>
            </a:pathLst>
          </a:custGeom>
          <a:solidFill>
            <a:srgbClr val="C8414C">
              <a:alpha val="85000"/>
            </a:srgbClr>
          </a:solidFill>
          <a:ln w="9525">
            <a:solidFill>
              <a:srgbClr val="8E2A33"/>
            </a:solidFill>
            <a:prstDash val="solid"/>
          </a:ln>
        </p:spPr>
      </p:sp>
      <p:sp>
        <p:nvSpPr>
          <p:cNvPr id="668" name="Shape 666"/>
          <p:cNvSpPr/>
          <p:nvPr/>
        </p:nvSpPr>
        <p:spPr>
          <a:xfrm>
            <a:off x="4820194" y="1545336"/>
            <a:ext cx="274320" cy="91"/>
          </a:xfrm>
          <a:prstGeom prst="line">
            <a:avLst/>
          </a:prstGeom>
          <a:noFill/>
          <a:ln w="38100">
            <a:solidFill>
              <a:srgbClr val="2F6DB5"/>
            </a:solidFill>
            <a:prstDash val="solid"/>
          </a:ln>
        </p:spPr>
      </p:sp>
      <p:sp>
        <p:nvSpPr>
          <p:cNvPr id="669" name="Text 667"/>
          <p:cNvSpPr/>
          <p:nvPr/>
        </p:nvSpPr>
        <p:spPr>
          <a:xfrm>
            <a:off x="5140234" y="1417320"/>
            <a:ext cx="548640" cy="256032"/>
          </a:xfrm>
          <a:prstGeom prst="rect">
            <a:avLst/>
          </a:prstGeom>
          <a:noFill/>
          <a:ln/>
        </p:spPr>
        <p:txBody>
          <a:bodyPr wrap="square" lIns="0" tIns="0" rIns="0" bIns="0" rtlCol="0" anchor="ctr"/>
          <a:lstStyle/>
          <a:p>
            <a:pPr algn="l" indent="0" marL="0">
              <a:buNone/>
            </a:pPr>
            <a:r>
              <a:rPr lang="en-US" sz="1050" b="1" dirty="0">
                <a:solidFill>
                  <a:srgbClr val="2F6DB5"/>
                </a:solidFill>
                <a:latin typeface="Calibri" pitchFamily="34" charset="0"/>
                <a:ea typeface="Calibri" pitchFamily="34" charset="-122"/>
                <a:cs typeface="Calibri" pitchFamily="34" charset="-120"/>
              </a:rPr>
              <a:t>FSH</a:t>
            </a:r>
            <a:endParaRPr lang="en-US" sz="1050" dirty="0"/>
          </a:p>
        </p:txBody>
      </p:sp>
      <p:sp>
        <p:nvSpPr>
          <p:cNvPr id="670" name="Shape 668"/>
          <p:cNvSpPr/>
          <p:nvPr/>
        </p:nvSpPr>
        <p:spPr>
          <a:xfrm>
            <a:off x="5716633" y="1545336"/>
            <a:ext cx="274320" cy="91"/>
          </a:xfrm>
          <a:prstGeom prst="line">
            <a:avLst/>
          </a:prstGeom>
          <a:noFill/>
          <a:ln w="38100">
            <a:solidFill>
              <a:srgbClr val="7B3FA0"/>
            </a:solidFill>
            <a:prstDash val="solid"/>
          </a:ln>
        </p:spPr>
      </p:sp>
      <p:sp>
        <p:nvSpPr>
          <p:cNvPr id="671" name="Text 669"/>
          <p:cNvSpPr/>
          <p:nvPr/>
        </p:nvSpPr>
        <p:spPr>
          <a:xfrm>
            <a:off x="6036673" y="1417320"/>
            <a:ext cx="548640" cy="256032"/>
          </a:xfrm>
          <a:prstGeom prst="rect">
            <a:avLst/>
          </a:prstGeom>
          <a:noFill/>
          <a:ln/>
        </p:spPr>
        <p:txBody>
          <a:bodyPr wrap="square" lIns="0" tIns="0" rIns="0" bIns="0" rtlCol="0" anchor="ctr"/>
          <a:lstStyle/>
          <a:p>
            <a:pPr algn="l" indent="0" marL="0">
              <a:buNone/>
            </a:pPr>
            <a:r>
              <a:rPr lang="en-US" sz="1050" b="1" dirty="0">
                <a:solidFill>
                  <a:srgbClr val="7B3FA0"/>
                </a:solidFill>
                <a:latin typeface="Calibri" pitchFamily="34" charset="0"/>
                <a:ea typeface="Calibri" pitchFamily="34" charset="-122"/>
                <a:cs typeface="Calibri" pitchFamily="34" charset="-120"/>
              </a:rPr>
              <a:t>LH</a:t>
            </a:r>
            <a:endParaRPr lang="en-US" sz="1050" dirty="0"/>
          </a:p>
        </p:txBody>
      </p:sp>
      <p:sp>
        <p:nvSpPr>
          <p:cNvPr id="672" name="Shape 670"/>
          <p:cNvSpPr/>
          <p:nvPr/>
        </p:nvSpPr>
        <p:spPr>
          <a:xfrm>
            <a:off x="1433649" y="2980944"/>
            <a:ext cx="274320" cy="91"/>
          </a:xfrm>
          <a:prstGeom prst="line">
            <a:avLst/>
          </a:prstGeom>
          <a:noFill/>
          <a:ln w="38100">
            <a:solidFill>
              <a:srgbClr val="D4568F"/>
            </a:solidFill>
            <a:prstDash val="solid"/>
          </a:ln>
        </p:spPr>
      </p:sp>
      <p:sp>
        <p:nvSpPr>
          <p:cNvPr id="673" name="Text 671"/>
          <p:cNvSpPr/>
          <p:nvPr/>
        </p:nvSpPr>
        <p:spPr>
          <a:xfrm>
            <a:off x="1753689" y="2852928"/>
            <a:ext cx="914400" cy="256032"/>
          </a:xfrm>
          <a:prstGeom prst="rect">
            <a:avLst/>
          </a:prstGeom>
          <a:noFill/>
          <a:ln/>
        </p:spPr>
        <p:txBody>
          <a:bodyPr wrap="square" lIns="0" tIns="0" rIns="0" bIns="0" rtlCol="0" anchor="ctr"/>
          <a:lstStyle/>
          <a:p>
            <a:pPr algn="l" indent="0" marL="0">
              <a:buNone/>
            </a:pPr>
            <a:r>
              <a:rPr lang="en-US" sz="1050" b="1" dirty="0">
                <a:solidFill>
                  <a:srgbClr val="D4568F"/>
                </a:solidFill>
                <a:latin typeface="Calibri" pitchFamily="34" charset="0"/>
                <a:ea typeface="Calibri" pitchFamily="34" charset="-122"/>
                <a:cs typeface="Calibri" pitchFamily="34" charset="-120"/>
              </a:rPr>
              <a:t>oestrogen</a:t>
            </a:r>
            <a:endParaRPr lang="en-US" sz="1050" dirty="0"/>
          </a:p>
        </p:txBody>
      </p:sp>
      <p:sp>
        <p:nvSpPr>
          <p:cNvPr id="674" name="Shape 672"/>
          <p:cNvSpPr/>
          <p:nvPr/>
        </p:nvSpPr>
        <p:spPr>
          <a:xfrm>
            <a:off x="5816237" y="2980944"/>
            <a:ext cx="274320" cy="91"/>
          </a:xfrm>
          <a:prstGeom prst="line">
            <a:avLst/>
          </a:prstGeom>
          <a:noFill/>
          <a:ln w="38100">
            <a:solidFill>
              <a:srgbClr val="D98A1E"/>
            </a:solidFill>
            <a:prstDash val="solid"/>
          </a:ln>
        </p:spPr>
      </p:sp>
      <p:sp>
        <p:nvSpPr>
          <p:cNvPr id="675" name="Text 673"/>
          <p:cNvSpPr/>
          <p:nvPr/>
        </p:nvSpPr>
        <p:spPr>
          <a:xfrm>
            <a:off x="6136277" y="2852928"/>
            <a:ext cx="1097280" cy="256032"/>
          </a:xfrm>
          <a:prstGeom prst="rect">
            <a:avLst/>
          </a:prstGeom>
          <a:noFill/>
          <a:ln/>
        </p:spPr>
        <p:txBody>
          <a:bodyPr wrap="square" lIns="0" tIns="0" rIns="0" bIns="0" rtlCol="0" anchor="ctr"/>
          <a:lstStyle/>
          <a:p>
            <a:pPr algn="l" indent="0" marL="0">
              <a:buNone/>
            </a:pPr>
            <a:r>
              <a:rPr lang="en-US" sz="1050" b="1" dirty="0">
                <a:solidFill>
                  <a:srgbClr val="D98A1E"/>
                </a:solidFill>
                <a:latin typeface="Calibri" pitchFamily="34" charset="0"/>
                <a:ea typeface="Calibri" pitchFamily="34" charset="-122"/>
                <a:cs typeface="Calibri" pitchFamily="34" charset="-120"/>
              </a:rPr>
              <a:t>progesterone</a:t>
            </a:r>
            <a:endParaRPr lang="en-US" sz="1050" dirty="0"/>
          </a:p>
        </p:txBody>
      </p:sp>
      <p:sp>
        <p:nvSpPr>
          <p:cNvPr id="676" name="Text 674"/>
          <p:cNvSpPr/>
          <p:nvPr/>
        </p:nvSpPr>
        <p:spPr>
          <a:xfrm>
            <a:off x="3029277" y="1416540"/>
            <a:ext cx="804672" cy="256032"/>
          </a:xfrm>
          <a:prstGeom prst="rect">
            <a:avLst/>
          </a:prstGeom>
          <a:noFill/>
          <a:ln/>
        </p:spPr>
        <p:txBody>
          <a:bodyPr wrap="square" lIns="0" tIns="0" rIns="0" bIns="0" rtlCol="0" anchor="ctr"/>
          <a:lstStyle/>
          <a:p>
            <a:pPr algn="r" indent="0" marL="0">
              <a:buNone/>
            </a:pPr>
            <a:r>
              <a:rPr lang="en-US" sz="1000" b="1" dirty="0">
                <a:solidFill>
                  <a:srgbClr val="5E2D73"/>
                </a:solidFill>
                <a:latin typeface="Calibri" pitchFamily="34" charset="0"/>
                <a:ea typeface="Calibri" pitchFamily="34" charset="-122"/>
                <a:cs typeface="Calibri" pitchFamily="34" charset="-120"/>
              </a:rPr>
              <a:t>LH surge</a:t>
            </a:r>
            <a:endParaRPr lang="en-US" sz="1000" dirty="0"/>
          </a:p>
        </p:txBody>
      </p:sp>
      <p:sp>
        <p:nvSpPr>
          <p:cNvPr id="677" name="Text 675"/>
          <p:cNvSpPr/>
          <p:nvPr/>
        </p:nvSpPr>
        <p:spPr>
          <a:xfrm>
            <a:off x="4078224" y="2862072"/>
            <a:ext cx="914400" cy="256032"/>
          </a:xfrm>
          <a:prstGeom prst="rect">
            <a:avLst/>
          </a:prstGeom>
          <a:noFill/>
          <a:ln/>
        </p:spPr>
        <p:txBody>
          <a:bodyPr wrap="square" lIns="0" tIns="0" rIns="0" bIns="0" rtlCol="0" anchor="ctr"/>
          <a:lstStyle/>
          <a:p>
            <a:pPr algn="l" indent="0" marL="0">
              <a:buNone/>
            </a:pPr>
            <a:r>
              <a:rPr lang="en-US" sz="1000" b="1" dirty="0">
                <a:solidFill>
                  <a:srgbClr val="B8730A"/>
                </a:solidFill>
                <a:latin typeface="Calibri" pitchFamily="34" charset="0"/>
                <a:ea typeface="Calibri" pitchFamily="34" charset="-122"/>
                <a:cs typeface="Calibri" pitchFamily="34" charset="-120"/>
              </a:rPr>
              <a:t>ovulation</a:t>
            </a:r>
            <a:endParaRPr lang="en-US" sz="1000" dirty="0"/>
          </a:p>
        </p:txBody>
      </p:sp>
      <p:sp>
        <p:nvSpPr>
          <p:cNvPr id="678" name="Shape 676"/>
          <p:cNvSpPr/>
          <p:nvPr/>
        </p:nvSpPr>
        <p:spPr>
          <a:xfrm>
            <a:off x="7315200" y="1188720"/>
            <a:ext cx="4465015" cy="2560320"/>
          </a:xfrm>
          <a:prstGeom prst="roundRect">
            <a:avLst>
              <a:gd name="adj" fmla="val 2143"/>
            </a:avLst>
          </a:prstGeom>
          <a:solidFill>
            <a:srgbClr val="F5FBF7"/>
          </a:solidFill>
          <a:ln w="9525">
            <a:solidFill>
              <a:srgbClr val="D2E5D8"/>
            </a:solidFill>
            <a:prstDash val="solid"/>
          </a:ln>
        </p:spPr>
      </p:sp>
      <p:sp>
        <p:nvSpPr>
          <p:cNvPr id="679" name="Text 677"/>
          <p:cNvSpPr/>
          <p:nvPr/>
        </p:nvSpPr>
        <p:spPr>
          <a:xfrm>
            <a:off x="7479792" y="1280160"/>
            <a:ext cx="413583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The interactions</a:t>
            </a:r>
            <a:endParaRPr lang="en-US" sz="1300" dirty="0"/>
          </a:p>
        </p:txBody>
      </p:sp>
      <p:sp>
        <p:nvSpPr>
          <p:cNvPr id="680" name="Text 678"/>
          <p:cNvSpPr/>
          <p:nvPr/>
        </p:nvSpPr>
        <p:spPr>
          <a:xfrm>
            <a:off x="7479792" y="1609344"/>
            <a:ext cx="4135831" cy="206654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FSH</a:t>
            </a:r>
            <a:r>
              <a:rPr lang="en-US" sz="1050" dirty="0">
                <a:solidFill>
                  <a:srgbClr val="262B3A"/>
                </a:solidFill>
                <a:latin typeface="Calibri" pitchFamily="34" charset="0"/>
                <a:ea typeface="Calibri" pitchFamily="34" charset="-122"/>
                <a:cs typeface="Calibri" pitchFamily="34" charset="-120"/>
              </a:rPr>
              <a:t> (pituitary): an egg matures in a follicle; stimulates the ovary to make </a:t>
            </a:r>
            <a:r>
              <a:rPr lang="en-US" sz="1050" b="1" dirty="0">
                <a:solidFill>
                  <a:srgbClr val="262B3A"/>
                </a:solidFill>
                <a:latin typeface="Calibri" pitchFamily="34" charset="0"/>
                <a:ea typeface="Calibri" pitchFamily="34" charset="-122"/>
                <a:cs typeface="Calibri" pitchFamily="34" charset="-120"/>
              </a:rPr>
              <a:t>oestrogen</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Oestrogen</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repairs</a:t>
            </a:r>
            <a:r>
              <a:rPr lang="en-US" sz="1050" dirty="0">
                <a:solidFill>
                  <a:srgbClr val="262B3A"/>
                </a:solidFill>
                <a:latin typeface="Calibri" pitchFamily="34" charset="0"/>
                <a:ea typeface="Calibri" pitchFamily="34" charset="-122"/>
                <a:cs typeface="Calibri" pitchFamily="34" charset="-120"/>
              </a:rPr>
              <a:t> the uterus wall; </a:t>
            </a:r>
            <a:r>
              <a:rPr lang="en-US" sz="1050" b="1" dirty="0">
                <a:solidFill>
                  <a:srgbClr val="262B3A"/>
                </a:solidFill>
                <a:latin typeface="Calibri" pitchFamily="34" charset="0"/>
                <a:ea typeface="Calibri" pitchFamily="34" charset="-122"/>
                <a:cs typeface="Calibri" pitchFamily="34" charset="-120"/>
              </a:rPr>
              <a:t>inhibits FSH</a:t>
            </a:r>
            <a:r>
              <a:rPr lang="en-US" sz="1050" dirty="0">
                <a:solidFill>
                  <a:srgbClr val="262B3A"/>
                </a:solidFill>
                <a:latin typeface="Calibri" pitchFamily="34" charset="0"/>
                <a:ea typeface="Calibri" pitchFamily="34" charset="-122"/>
                <a:cs typeface="Calibri" pitchFamily="34" charset="-120"/>
              </a:rPr>
              <a:t>; high levels stimulate </a:t>
            </a:r>
            <a:r>
              <a:rPr lang="en-US" sz="1050" b="1" dirty="0">
                <a:solidFill>
                  <a:srgbClr val="262B3A"/>
                </a:solidFill>
                <a:latin typeface="Calibri" pitchFamily="34" charset="0"/>
                <a:ea typeface="Calibri" pitchFamily="34" charset="-122"/>
                <a:cs typeface="Calibri" pitchFamily="34" charset="-120"/>
              </a:rPr>
              <a:t>LH</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LH</a:t>
            </a:r>
            <a:r>
              <a:rPr lang="en-US" sz="1050" dirty="0">
                <a:solidFill>
                  <a:srgbClr val="262B3A"/>
                </a:solidFill>
                <a:latin typeface="Calibri" pitchFamily="34" charset="0"/>
                <a:ea typeface="Calibri" pitchFamily="34" charset="-122"/>
                <a:cs typeface="Calibri" pitchFamily="34" charset="-120"/>
              </a:rPr>
              <a:t> surge (pituitary) → </a:t>
            </a:r>
            <a:r>
              <a:rPr lang="en-US" sz="1050" b="1" dirty="0">
                <a:solidFill>
                  <a:srgbClr val="262B3A"/>
                </a:solidFill>
                <a:latin typeface="Calibri" pitchFamily="34" charset="0"/>
                <a:ea typeface="Calibri" pitchFamily="34" charset="-122"/>
                <a:cs typeface="Calibri" pitchFamily="34" charset="-120"/>
              </a:rPr>
              <a:t>ovulation</a:t>
            </a:r>
            <a:r>
              <a:rPr lang="en-US" sz="1050" dirty="0">
                <a:solidFill>
                  <a:srgbClr val="262B3A"/>
                </a:solidFill>
                <a:latin typeface="Calibri" pitchFamily="34" charset="0"/>
                <a:ea typeface="Calibri" pitchFamily="34" charset="-122"/>
                <a:cs typeface="Calibri" pitchFamily="34" charset="-120"/>
              </a:rPr>
              <a:t>; the empty follicle (corpus luteum) makes </a:t>
            </a:r>
            <a:r>
              <a:rPr lang="en-US" sz="1050" b="1" dirty="0">
                <a:solidFill>
                  <a:srgbClr val="262B3A"/>
                </a:solidFill>
                <a:latin typeface="Calibri" pitchFamily="34" charset="0"/>
                <a:ea typeface="Calibri" pitchFamily="34" charset="-122"/>
                <a:cs typeface="Calibri" pitchFamily="34" charset="-120"/>
              </a:rPr>
              <a:t>progesterone</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Progesterone</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maintains</a:t>
            </a:r>
            <a:r>
              <a:rPr lang="en-US" sz="1050" dirty="0">
                <a:solidFill>
                  <a:srgbClr val="262B3A"/>
                </a:solidFill>
                <a:latin typeface="Calibri" pitchFamily="34" charset="0"/>
                <a:ea typeface="Calibri" pitchFamily="34" charset="-122"/>
                <a:cs typeface="Calibri" pitchFamily="34" charset="-120"/>
              </a:rPr>
              <a:t> the uterus wall; </a:t>
            </a:r>
            <a:r>
              <a:rPr lang="en-US" sz="1050" b="1" dirty="0">
                <a:solidFill>
                  <a:srgbClr val="262B3A"/>
                </a:solidFill>
                <a:latin typeface="Calibri" pitchFamily="34" charset="0"/>
                <a:ea typeface="Calibri" pitchFamily="34" charset="-122"/>
                <a:cs typeface="Calibri" pitchFamily="34" charset="-120"/>
              </a:rPr>
              <a:t>inhibits FSH and LH</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No pregnancy → progesterone falls → </a:t>
            </a:r>
            <a:r>
              <a:rPr lang="en-US" sz="1050" b="1" dirty="0">
                <a:solidFill>
                  <a:srgbClr val="262B3A"/>
                </a:solidFill>
                <a:latin typeface="Calibri" pitchFamily="34" charset="0"/>
                <a:ea typeface="Calibri" pitchFamily="34" charset="-122"/>
                <a:cs typeface="Calibri" pitchFamily="34" charset="-120"/>
              </a:rPr>
              <a:t>menstruation</a:t>
            </a:r>
            <a:r>
              <a:rPr lang="en-US" sz="1050" dirty="0">
                <a:solidFill>
                  <a:srgbClr val="262B3A"/>
                </a:solidFill>
                <a:latin typeface="Calibri" pitchFamily="34" charset="0"/>
                <a:ea typeface="Calibri" pitchFamily="34" charset="-122"/>
                <a:cs typeface="Calibri" pitchFamily="34" charset="-120"/>
              </a:rPr>
              <a:t>, FSH rises again.</a:t>
            </a:r>
            <a:endParaRPr lang="en-US" sz="1050" dirty="0"/>
          </a:p>
        </p:txBody>
      </p:sp>
      <p:sp>
        <p:nvSpPr>
          <p:cNvPr id="681" name="Shape 679"/>
          <p:cNvSpPr/>
          <p:nvPr/>
        </p:nvSpPr>
        <p:spPr>
          <a:xfrm>
            <a:off x="7315200" y="3886200"/>
            <a:ext cx="4465015" cy="1828800"/>
          </a:xfrm>
          <a:prstGeom prst="roundRect">
            <a:avLst>
              <a:gd name="adj" fmla="val 3000"/>
            </a:avLst>
          </a:prstGeom>
          <a:solidFill>
            <a:srgbClr val="FFF4E0"/>
          </a:solidFill>
          <a:ln w="9525">
            <a:solidFill>
              <a:srgbClr val="F1D9A8"/>
            </a:solidFill>
            <a:prstDash val="solid"/>
          </a:ln>
        </p:spPr>
      </p:sp>
      <p:sp>
        <p:nvSpPr>
          <p:cNvPr id="682" name="Text 680"/>
          <p:cNvSpPr/>
          <p:nvPr/>
        </p:nvSpPr>
        <p:spPr>
          <a:xfrm>
            <a:off x="7479792" y="3959352"/>
            <a:ext cx="413583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Read the graph</a:t>
            </a:r>
            <a:endParaRPr lang="en-US" sz="1300" dirty="0"/>
          </a:p>
        </p:txBody>
      </p:sp>
      <p:sp>
        <p:nvSpPr>
          <p:cNvPr id="683" name="Text 681"/>
          <p:cNvSpPr/>
          <p:nvPr/>
        </p:nvSpPr>
        <p:spPr>
          <a:xfrm>
            <a:off x="7479792" y="4270248"/>
            <a:ext cx="4135831" cy="13716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On which day does LH peak, and what happens next?</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1 Read   </a:t>
            </a:r>
            <a:r>
              <a:rPr lang="en-US" sz="1050" dirty="0">
                <a:solidFill>
                  <a:srgbClr val="262B3A"/>
                </a:solidFill>
                <a:latin typeface="Calibri" pitchFamily="34" charset="0"/>
                <a:ea typeface="Calibri" pitchFamily="34" charset="-122"/>
                <a:cs typeface="Calibri" pitchFamily="34" charset="-120"/>
              </a:rPr>
              <a:t>LH peaks at about day 14</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2 Effect   </a:t>
            </a:r>
            <a:r>
              <a:rPr lang="en-US" sz="1050" dirty="0">
                <a:solidFill>
                  <a:srgbClr val="262B3A"/>
                </a:solidFill>
                <a:latin typeface="Calibri" pitchFamily="34" charset="0"/>
                <a:ea typeface="Calibri" pitchFamily="34" charset="-122"/>
                <a:cs typeface="Calibri" pitchFamily="34" charset="-120"/>
              </a:rPr>
              <a:t>the LH surge causes ovulation</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3 Then   </a:t>
            </a:r>
            <a:r>
              <a:rPr lang="en-US" sz="1050" dirty="0">
                <a:solidFill>
                  <a:srgbClr val="262B3A"/>
                </a:solidFill>
                <a:latin typeface="Calibri" pitchFamily="34" charset="0"/>
                <a:ea typeface="Calibri" pitchFamily="34" charset="-122"/>
                <a:cs typeface="Calibri" pitchFamily="34" charset="-120"/>
              </a:rPr>
              <a:t>progesterone rises (peak about day 21)</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lining maintained ready for an embryo</a:t>
            </a:r>
            <a:endParaRPr lang="en-US" sz="1050" dirty="0"/>
          </a:p>
        </p:txBody>
      </p:sp>
      <p:sp>
        <p:nvSpPr>
          <p:cNvPr id="684" name="Shape 682"/>
          <p:cNvSpPr/>
          <p:nvPr/>
        </p:nvSpPr>
        <p:spPr>
          <a:xfrm>
            <a:off x="411480" y="5833872"/>
            <a:ext cx="11368735" cy="530352"/>
          </a:xfrm>
          <a:prstGeom prst="rect">
            <a:avLst/>
          </a:prstGeom>
          <a:solidFill>
            <a:srgbClr val="FFF4E0"/>
          </a:solidFill>
          <a:ln w="6350">
            <a:solidFill>
              <a:srgbClr val="F1D9A8"/>
            </a:solidFill>
            <a:prstDash val="solid"/>
          </a:ln>
        </p:spPr>
      </p:sp>
      <p:sp>
        <p:nvSpPr>
          <p:cNvPr id="685" name="Shape 683"/>
          <p:cNvSpPr/>
          <p:nvPr/>
        </p:nvSpPr>
        <p:spPr>
          <a:xfrm>
            <a:off x="411480" y="5833872"/>
            <a:ext cx="82296" cy="530352"/>
          </a:xfrm>
          <a:prstGeom prst="rect">
            <a:avLst/>
          </a:prstGeom>
          <a:solidFill>
            <a:srgbClr val="E39A2F"/>
          </a:solidFill>
          <a:ln w="12700">
            <a:solidFill>
              <a:srgbClr val="E39A2F"/>
            </a:solidFill>
            <a:prstDash val="solid"/>
          </a:ln>
        </p:spPr>
      </p:sp>
      <p:sp>
        <p:nvSpPr>
          <p:cNvPr id="686" name="Text 68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hormones are made by the </a:t>
            </a:r>
            <a:r>
              <a:rPr lang="en-US" sz="1150" b="1" dirty="0">
                <a:solidFill>
                  <a:srgbClr val="262B3A"/>
                </a:solidFill>
                <a:latin typeface="Calibri" pitchFamily="34" charset="0"/>
                <a:ea typeface="Calibri" pitchFamily="34" charset="-122"/>
                <a:cs typeface="Calibri" pitchFamily="34" charset="-120"/>
              </a:rPr>
              <a:t>pituitary</a:t>
            </a:r>
            <a:r>
              <a:rPr lang="en-US" sz="1150" dirty="0">
                <a:solidFill>
                  <a:srgbClr val="262B3A"/>
                </a:solidFill>
                <a:latin typeface="Calibri" pitchFamily="34" charset="0"/>
                <a:ea typeface="Calibri" pitchFamily="34" charset="-122"/>
                <a:cs typeface="Calibri" pitchFamily="34" charset="-120"/>
              </a:rPr>
              <a:t>? Which hormone </a:t>
            </a:r>
            <a:r>
              <a:rPr lang="en-US" sz="1150" b="1" dirty="0">
                <a:solidFill>
                  <a:srgbClr val="262B3A"/>
                </a:solidFill>
                <a:latin typeface="Calibri" pitchFamily="34" charset="0"/>
                <a:ea typeface="Calibri" pitchFamily="34" charset="-122"/>
                <a:cs typeface="Calibri" pitchFamily="34" charset="-120"/>
              </a:rPr>
              <a:t>inhibits both</a:t>
            </a:r>
            <a:r>
              <a:rPr lang="en-US" sz="1150" dirty="0">
                <a:solidFill>
                  <a:srgbClr val="262B3A"/>
                </a:solidFill>
                <a:latin typeface="Calibri" pitchFamily="34" charset="0"/>
                <a:ea typeface="Calibri" pitchFamily="34" charset="-122"/>
                <a:cs typeface="Calibri" pitchFamily="34" charset="-120"/>
              </a:rPr>
              <a:t> FSH and LH?</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7.3–7.5 • thyroxine and the menstrual cycle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12</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2E5D8"/>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Shape 9"/>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2" name="Text 10"/>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3" name="Text 11"/>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role of </a:t>
            </a:r>
            <a:r>
              <a:rPr lang="en-US" sz="1250" b="1" dirty="0">
                <a:solidFill>
                  <a:srgbClr val="262B3A"/>
                </a:solidFill>
                <a:latin typeface="Calibri" pitchFamily="34" charset="0"/>
                <a:ea typeface="Calibri" pitchFamily="34" charset="-122"/>
                <a:cs typeface="Calibri" pitchFamily="34" charset="-120"/>
              </a:rPr>
              <a:t>TSH</a:t>
            </a:r>
            <a:r>
              <a:rPr lang="en-US" sz="1250" dirty="0">
                <a:solidFill>
                  <a:srgbClr val="262B3A"/>
                </a:solidFill>
                <a:latin typeface="Calibri" pitchFamily="34" charset="0"/>
                <a:ea typeface="Calibri" pitchFamily="34" charset="-122"/>
                <a:cs typeface="Calibri" pitchFamily="34" charset="-120"/>
              </a:rPr>
              <a:t> in the control of thyroxine.</a:t>
            </a:r>
            <a:endParaRPr lang="en-US" sz="1250" dirty="0"/>
          </a:p>
        </p:txBody>
      </p:sp>
      <p:sp>
        <p:nvSpPr>
          <p:cNvPr id="14" name="Text 12"/>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2947416"/>
            <a:ext cx="11368735" cy="1594104"/>
          </a:xfrm>
          <a:prstGeom prst="roundRect">
            <a:avLst>
              <a:gd name="adj" fmla="val 2868"/>
            </a:avLst>
          </a:prstGeom>
          <a:solidFill>
            <a:srgbClr val="FFFFFF"/>
          </a:solidFill>
          <a:ln w="12700">
            <a:solidFill>
              <a:srgbClr val="D2E5D8"/>
            </a:solidFill>
            <a:prstDash val="solid"/>
          </a:ln>
        </p:spPr>
      </p:sp>
      <p:sp>
        <p:nvSpPr>
          <p:cNvPr id="16" name="Shape 14"/>
          <p:cNvSpPr/>
          <p:nvPr/>
        </p:nvSpPr>
        <p:spPr>
          <a:xfrm>
            <a:off x="411480" y="2947416"/>
            <a:ext cx="2103120" cy="292608"/>
          </a:xfrm>
          <a:prstGeom prst="rect">
            <a:avLst/>
          </a:prstGeom>
          <a:solidFill>
            <a:srgbClr val="F5A742"/>
          </a:solidFill>
          <a:ln w="12700">
            <a:solidFill>
              <a:srgbClr val="F5A742"/>
            </a:solidFill>
            <a:prstDash val="solid"/>
          </a:ln>
        </p:spPr>
      </p:sp>
      <p:sp>
        <p:nvSpPr>
          <p:cNvPr id="17" name="Text 15"/>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8" name="Text 16"/>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what happens to the uterus lining during the menstrual cycle.</a:t>
            </a:r>
            <a:endParaRPr lang="en-US" sz="1250" dirty="0"/>
          </a:p>
        </p:txBody>
      </p:sp>
      <p:sp>
        <p:nvSpPr>
          <p:cNvPr id="19" name="Text 17"/>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0" name="Shape 18"/>
          <p:cNvSpPr/>
          <p:nvPr/>
        </p:nvSpPr>
        <p:spPr>
          <a:xfrm>
            <a:off x="411480" y="4687824"/>
            <a:ext cx="11368735" cy="1594104"/>
          </a:xfrm>
          <a:prstGeom prst="roundRect">
            <a:avLst>
              <a:gd name="adj" fmla="val 2868"/>
            </a:avLst>
          </a:prstGeom>
          <a:solidFill>
            <a:srgbClr val="FFFFFF"/>
          </a:solidFill>
          <a:ln w="12700">
            <a:solidFill>
              <a:srgbClr val="D2E5D8"/>
            </a:solidFill>
            <a:prstDash val="solid"/>
          </a:ln>
        </p:spPr>
      </p:sp>
      <p:sp>
        <p:nvSpPr>
          <p:cNvPr id="21" name="Shape 19"/>
          <p:cNvSpPr/>
          <p:nvPr/>
        </p:nvSpPr>
        <p:spPr>
          <a:xfrm>
            <a:off x="411480" y="4687824"/>
            <a:ext cx="2103120" cy="292608"/>
          </a:xfrm>
          <a:prstGeom prst="rect">
            <a:avLst/>
          </a:prstGeom>
          <a:solidFill>
            <a:srgbClr val="F5A742"/>
          </a:solidFill>
          <a:ln w="12700">
            <a:solidFill>
              <a:srgbClr val="F5A742"/>
            </a:solidFill>
            <a:prstDash val="solid"/>
          </a:ln>
        </p:spPr>
      </p:sp>
      <p:sp>
        <p:nvSpPr>
          <p:cNvPr id="22" name="Text 20"/>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3" name="Shape 21"/>
          <p:cNvSpPr/>
          <p:nvPr/>
        </p:nvSpPr>
        <p:spPr>
          <a:xfrm>
            <a:off x="2606040" y="4696968"/>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2606040" y="469696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a:t>
            </a:r>
            <a:r>
              <a:rPr lang="en-US" sz="1250" b="1" dirty="0">
                <a:solidFill>
                  <a:srgbClr val="262B3A"/>
                </a:solidFill>
                <a:latin typeface="Calibri" pitchFamily="34" charset="0"/>
                <a:ea typeface="Calibri" pitchFamily="34" charset="-122"/>
                <a:cs typeface="Calibri" pitchFamily="34" charset="-120"/>
              </a:rPr>
              <a:t>oestrogen</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LH</a:t>
            </a:r>
            <a:r>
              <a:rPr lang="en-US" sz="1250" dirty="0">
                <a:solidFill>
                  <a:srgbClr val="262B3A"/>
                </a:solidFill>
                <a:latin typeface="Calibri" pitchFamily="34" charset="0"/>
                <a:ea typeface="Calibri" pitchFamily="34" charset="-122"/>
                <a:cs typeface="Calibri" pitchFamily="34" charset="-120"/>
              </a:rPr>
              <a:t> cause ovulation.</a:t>
            </a:r>
            <a:endParaRPr lang="en-US" sz="1250" dirty="0"/>
          </a:p>
        </p:txBody>
      </p:sp>
      <p:sp>
        <p:nvSpPr>
          <p:cNvPr id="26" name="Text 24"/>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Hormonal contraception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7.6 • extra oestrogen and progesterone switch off FSH and LH</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7.6  |  13</a:t>
            </a:r>
            <a:endParaRPr lang="en-US" sz="1000" dirty="0"/>
          </a:p>
        </p:txBody>
      </p:sp>
      <p:sp>
        <p:nvSpPr>
          <p:cNvPr id="8" name="Shape 6"/>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how the combined pill works; other hormonal methods in the bottom row</a:t>
            </a:r>
            <a:endParaRPr lang="en-US" sz="1000" dirty="0"/>
          </a:p>
        </p:txBody>
      </p:sp>
      <p:sp>
        <p:nvSpPr>
          <p:cNvPr id="10" name="Shape 8"/>
          <p:cNvSpPr/>
          <p:nvPr/>
        </p:nvSpPr>
        <p:spPr>
          <a:xfrm>
            <a:off x="640080" y="1371600"/>
            <a:ext cx="1463040" cy="777240"/>
          </a:xfrm>
          <a:prstGeom prst="roundRect">
            <a:avLst>
              <a:gd name="adj" fmla="val 7059"/>
            </a:avLst>
          </a:prstGeom>
          <a:solidFill>
            <a:srgbClr val="E9EEF5"/>
          </a:solidFill>
          <a:ln w="15875">
            <a:solidFill>
              <a:srgbClr val="8C96A8"/>
            </a:solidFill>
            <a:prstDash val="solid"/>
          </a:ln>
        </p:spPr>
      </p:sp>
      <p:sp>
        <p:nvSpPr>
          <p:cNvPr id="11" name="Shape 9"/>
          <p:cNvSpPr/>
          <p:nvPr/>
        </p:nvSpPr>
        <p:spPr>
          <a:xfrm>
            <a:off x="727862" y="1485798"/>
            <a:ext cx="117043" cy="117043"/>
          </a:xfrm>
          <a:prstGeom prst="ellipse">
            <a:avLst/>
          </a:prstGeom>
          <a:solidFill>
            <a:srgbClr val="F7C5D6"/>
          </a:solidFill>
          <a:ln w="6350">
            <a:solidFill>
              <a:srgbClr val="B5546E"/>
            </a:solidFill>
            <a:prstDash val="solid"/>
          </a:ln>
        </p:spPr>
      </p:sp>
      <p:sp>
        <p:nvSpPr>
          <p:cNvPr id="12" name="Shape 10"/>
          <p:cNvSpPr/>
          <p:nvPr/>
        </p:nvSpPr>
        <p:spPr>
          <a:xfrm>
            <a:off x="922934" y="1485798"/>
            <a:ext cx="117043" cy="117043"/>
          </a:xfrm>
          <a:prstGeom prst="ellipse">
            <a:avLst/>
          </a:prstGeom>
          <a:solidFill>
            <a:srgbClr val="F7C5D6"/>
          </a:solidFill>
          <a:ln w="6350">
            <a:solidFill>
              <a:srgbClr val="B5546E"/>
            </a:solidFill>
            <a:prstDash val="solid"/>
          </a:ln>
        </p:spPr>
      </p:sp>
      <p:sp>
        <p:nvSpPr>
          <p:cNvPr id="13" name="Shape 11"/>
          <p:cNvSpPr/>
          <p:nvPr/>
        </p:nvSpPr>
        <p:spPr>
          <a:xfrm>
            <a:off x="1118006" y="1485798"/>
            <a:ext cx="117043" cy="117043"/>
          </a:xfrm>
          <a:prstGeom prst="ellipse">
            <a:avLst/>
          </a:prstGeom>
          <a:solidFill>
            <a:srgbClr val="F7C5D6"/>
          </a:solidFill>
          <a:ln w="6350">
            <a:solidFill>
              <a:srgbClr val="B5546E"/>
            </a:solidFill>
            <a:prstDash val="solid"/>
          </a:ln>
        </p:spPr>
      </p:sp>
      <p:sp>
        <p:nvSpPr>
          <p:cNvPr id="14" name="Shape 12"/>
          <p:cNvSpPr/>
          <p:nvPr/>
        </p:nvSpPr>
        <p:spPr>
          <a:xfrm>
            <a:off x="1313078" y="1485798"/>
            <a:ext cx="117043" cy="117043"/>
          </a:xfrm>
          <a:prstGeom prst="ellipse">
            <a:avLst/>
          </a:prstGeom>
          <a:solidFill>
            <a:srgbClr val="F7C5D6"/>
          </a:solidFill>
          <a:ln w="6350">
            <a:solidFill>
              <a:srgbClr val="B5546E"/>
            </a:solidFill>
            <a:prstDash val="solid"/>
          </a:ln>
        </p:spPr>
      </p:sp>
      <p:sp>
        <p:nvSpPr>
          <p:cNvPr id="15" name="Shape 13"/>
          <p:cNvSpPr/>
          <p:nvPr/>
        </p:nvSpPr>
        <p:spPr>
          <a:xfrm>
            <a:off x="1508150" y="1485798"/>
            <a:ext cx="117043" cy="117043"/>
          </a:xfrm>
          <a:prstGeom prst="ellipse">
            <a:avLst/>
          </a:prstGeom>
          <a:solidFill>
            <a:srgbClr val="F7C5D6"/>
          </a:solidFill>
          <a:ln w="6350">
            <a:solidFill>
              <a:srgbClr val="B5546E"/>
            </a:solidFill>
            <a:prstDash val="solid"/>
          </a:ln>
        </p:spPr>
      </p:sp>
      <p:sp>
        <p:nvSpPr>
          <p:cNvPr id="16" name="Shape 14"/>
          <p:cNvSpPr/>
          <p:nvPr/>
        </p:nvSpPr>
        <p:spPr>
          <a:xfrm>
            <a:off x="1703222" y="1485798"/>
            <a:ext cx="117043" cy="117043"/>
          </a:xfrm>
          <a:prstGeom prst="ellipse">
            <a:avLst/>
          </a:prstGeom>
          <a:solidFill>
            <a:srgbClr val="F7C5D6"/>
          </a:solidFill>
          <a:ln w="6350">
            <a:solidFill>
              <a:srgbClr val="B5546E"/>
            </a:solidFill>
            <a:prstDash val="solid"/>
          </a:ln>
        </p:spPr>
      </p:sp>
      <p:sp>
        <p:nvSpPr>
          <p:cNvPr id="17" name="Shape 15"/>
          <p:cNvSpPr/>
          <p:nvPr/>
        </p:nvSpPr>
        <p:spPr>
          <a:xfrm>
            <a:off x="1898294" y="1485798"/>
            <a:ext cx="117043" cy="117043"/>
          </a:xfrm>
          <a:prstGeom prst="ellipse">
            <a:avLst/>
          </a:prstGeom>
          <a:solidFill>
            <a:srgbClr val="F7C5D6"/>
          </a:solidFill>
          <a:ln w="6350">
            <a:solidFill>
              <a:srgbClr val="B5546E"/>
            </a:solidFill>
            <a:prstDash val="solid"/>
          </a:ln>
        </p:spPr>
      </p:sp>
      <p:sp>
        <p:nvSpPr>
          <p:cNvPr id="18" name="Shape 16"/>
          <p:cNvSpPr/>
          <p:nvPr/>
        </p:nvSpPr>
        <p:spPr>
          <a:xfrm>
            <a:off x="727862" y="1701698"/>
            <a:ext cx="117043" cy="117043"/>
          </a:xfrm>
          <a:prstGeom prst="ellipse">
            <a:avLst/>
          </a:prstGeom>
          <a:solidFill>
            <a:srgbClr val="F7C5D6"/>
          </a:solidFill>
          <a:ln w="6350">
            <a:solidFill>
              <a:srgbClr val="B5546E"/>
            </a:solidFill>
            <a:prstDash val="solid"/>
          </a:ln>
        </p:spPr>
      </p:sp>
      <p:sp>
        <p:nvSpPr>
          <p:cNvPr id="19" name="Shape 17"/>
          <p:cNvSpPr/>
          <p:nvPr/>
        </p:nvSpPr>
        <p:spPr>
          <a:xfrm>
            <a:off x="922934" y="1701698"/>
            <a:ext cx="117043" cy="117043"/>
          </a:xfrm>
          <a:prstGeom prst="ellipse">
            <a:avLst/>
          </a:prstGeom>
          <a:solidFill>
            <a:srgbClr val="F7C5D6"/>
          </a:solidFill>
          <a:ln w="6350">
            <a:solidFill>
              <a:srgbClr val="B5546E"/>
            </a:solidFill>
            <a:prstDash val="solid"/>
          </a:ln>
        </p:spPr>
      </p:sp>
      <p:sp>
        <p:nvSpPr>
          <p:cNvPr id="20" name="Shape 18"/>
          <p:cNvSpPr/>
          <p:nvPr/>
        </p:nvSpPr>
        <p:spPr>
          <a:xfrm>
            <a:off x="1118006" y="1701698"/>
            <a:ext cx="117043" cy="117043"/>
          </a:xfrm>
          <a:prstGeom prst="ellipse">
            <a:avLst/>
          </a:prstGeom>
          <a:solidFill>
            <a:srgbClr val="F7C5D6"/>
          </a:solidFill>
          <a:ln w="6350">
            <a:solidFill>
              <a:srgbClr val="B5546E"/>
            </a:solidFill>
            <a:prstDash val="solid"/>
          </a:ln>
        </p:spPr>
      </p:sp>
      <p:sp>
        <p:nvSpPr>
          <p:cNvPr id="21" name="Shape 19"/>
          <p:cNvSpPr/>
          <p:nvPr/>
        </p:nvSpPr>
        <p:spPr>
          <a:xfrm>
            <a:off x="1313078" y="1701698"/>
            <a:ext cx="117043" cy="117043"/>
          </a:xfrm>
          <a:prstGeom prst="ellipse">
            <a:avLst/>
          </a:prstGeom>
          <a:solidFill>
            <a:srgbClr val="F7C5D6"/>
          </a:solidFill>
          <a:ln w="6350">
            <a:solidFill>
              <a:srgbClr val="B5546E"/>
            </a:solidFill>
            <a:prstDash val="solid"/>
          </a:ln>
        </p:spPr>
      </p:sp>
      <p:sp>
        <p:nvSpPr>
          <p:cNvPr id="22" name="Shape 20"/>
          <p:cNvSpPr/>
          <p:nvPr/>
        </p:nvSpPr>
        <p:spPr>
          <a:xfrm>
            <a:off x="1508150" y="1701698"/>
            <a:ext cx="117043" cy="117043"/>
          </a:xfrm>
          <a:prstGeom prst="ellipse">
            <a:avLst/>
          </a:prstGeom>
          <a:solidFill>
            <a:srgbClr val="F7C5D6"/>
          </a:solidFill>
          <a:ln w="6350">
            <a:solidFill>
              <a:srgbClr val="B5546E"/>
            </a:solidFill>
            <a:prstDash val="solid"/>
          </a:ln>
        </p:spPr>
      </p:sp>
      <p:sp>
        <p:nvSpPr>
          <p:cNvPr id="23" name="Shape 21"/>
          <p:cNvSpPr/>
          <p:nvPr/>
        </p:nvSpPr>
        <p:spPr>
          <a:xfrm>
            <a:off x="1703222" y="1701698"/>
            <a:ext cx="117043" cy="117043"/>
          </a:xfrm>
          <a:prstGeom prst="ellipse">
            <a:avLst/>
          </a:prstGeom>
          <a:solidFill>
            <a:srgbClr val="F7C5D6"/>
          </a:solidFill>
          <a:ln w="6350">
            <a:solidFill>
              <a:srgbClr val="B5546E"/>
            </a:solidFill>
            <a:prstDash val="solid"/>
          </a:ln>
        </p:spPr>
      </p:sp>
      <p:sp>
        <p:nvSpPr>
          <p:cNvPr id="24" name="Shape 22"/>
          <p:cNvSpPr/>
          <p:nvPr/>
        </p:nvSpPr>
        <p:spPr>
          <a:xfrm>
            <a:off x="1898294" y="1701698"/>
            <a:ext cx="117043" cy="117043"/>
          </a:xfrm>
          <a:prstGeom prst="ellipse">
            <a:avLst/>
          </a:prstGeom>
          <a:solidFill>
            <a:srgbClr val="F7C5D6"/>
          </a:solidFill>
          <a:ln w="6350">
            <a:solidFill>
              <a:srgbClr val="B5546E"/>
            </a:solidFill>
            <a:prstDash val="solid"/>
          </a:ln>
        </p:spPr>
      </p:sp>
      <p:sp>
        <p:nvSpPr>
          <p:cNvPr id="25" name="Shape 23"/>
          <p:cNvSpPr/>
          <p:nvPr/>
        </p:nvSpPr>
        <p:spPr>
          <a:xfrm>
            <a:off x="727862" y="1917598"/>
            <a:ext cx="117043" cy="117043"/>
          </a:xfrm>
          <a:prstGeom prst="ellipse">
            <a:avLst/>
          </a:prstGeom>
          <a:solidFill>
            <a:srgbClr val="F7C5D6"/>
          </a:solidFill>
          <a:ln w="6350">
            <a:solidFill>
              <a:srgbClr val="B5546E"/>
            </a:solidFill>
            <a:prstDash val="solid"/>
          </a:ln>
        </p:spPr>
      </p:sp>
      <p:sp>
        <p:nvSpPr>
          <p:cNvPr id="26" name="Shape 24"/>
          <p:cNvSpPr/>
          <p:nvPr/>
        </p:nvSpPr>
        <p:spPr>
          <a:xfrm>
            <a:off x="922934" y="1917598"/>
            <a:ext cx="117043" cy="117043"/>
          </a:xfrm>
          <a:prstGeom prst="ellipse">
            <a:avLst/>
          </a:prstGeom>
          <a:solidFill>
            <a:srgbClr val="F7C5D6"/>
          </a:solidFill>
          <a:ln w="6350">
            <a:solidFill>
              <a:srgbClr val="B5546E"/>
            </a:solidFill>
            <a:prstDash val="solid"/>
          </a:ln>
        </p:spPr>
      </p:sp>
      <p:sp>
        <p:nvSpPr>
          <p:cNvPr id="27" name="Shape 25"/>
          <p:cNvSpPr/>
          <p:nvPr/>
        </p:nvSpPr>
        <p:spPr>
          <a:xfrm>
            <a:off x="1118006" y="1917598"/>
            <a:ext cx="117043" cy="117043"/>
          </a:xfrm>
          <a:prstGeom prst="ellipse">
            <a:avLst/>
          </a:prstGeom>
          <a:solidFill>
            <a:srgbClr val="F7C5D6"/>
          </a:solidFill>
          <a:ln w="6350">
            <a:solidFill>
              <a:srgbClr val="B5546E"/>
            </a:solidFill>
            <a:prstDash val="solid"/>
          </a:ln>
        </p:spPr>
      </p:sp>
      <p:sp>
        <p:nvSpPr>
          <p:cNvPr id="28" name="Shape 26"/>
          <p:cNvSpPr/>
          <p:nvPr/>
        </p:nvSpPr>
        <p:spPr>
          <a:xfrm>
            <a:off x="1313078" y="1917598"/>
            <a:ext cx="117043" cy="117043"/>
          </a:xfrm>
          <a:prstGeom prst="ellipse">
            <a:avLst/>
          </a:prstGeom>
          <a:solidFill>
            <a:srgbClr val="F7C5D6"/>
          </a:solidFill>
          <a:ln w="6350">
            <a:solidFill>
              <a:srgbClr val="B5546E"/>
            </a:solidFill>
            <a:prstDash val="solid"/>
          </a:ln>
        </p:spPr>
      </p:sp>
      <p:sp>
        <p:nvSpPr>
          <p:cNvPr id="29" name="Shape 27"/>
          <p:cNvSpPr/>
          <p:nvPr/>
        </p:nvSpPr>
        <p:spPr>
          <a:xfrm>
            <a:off x="1508150" y="1917598"/>
            <a:ext cx="117043" cy="117043"/>
          </a:xfrm>
          <a:prstGeom prst="ellipse">
            <a:avLst/>
          </a:prstGeom>
          <a:solidFill>
            <a:srgbClr val="F7C5D6"/>
          </a:solidFill>
          <a:ln w="6350">
            <a:solidFill>
              <a:srgbClr val="B5546E"/>
            </a:solidFill>
            <a:prstDash val="solid"/>
          </a:ln>
        </p:spPr>
      </p:sp>
      <p:sp>
        <p:nvSpPr>
          <p:cNvPr id="30" name="Shape 28"/>
          <p:cNvSpPr/>
          <p:nvPr/>
        </p:nvSpPr>
        <p:spPr>
          <a:xfrm>
            <a:off x="1703222" y="1917598"/>
            <a:ext cx="117043" cy="117043"/>
          </a:xfrm>
          <a:prstGeom prst="ellipse">
            <a:avLst/>
          </a:prstGeom>
          <a:solidFill>
            <a:srgbClr val="F7C5D6"/>
          </a:solidFill>
          <a:ln w="6350">
            <a:solidFill>
              <a:srgbClr val="B5546E"/>
            </a:solidFill>
            <a:prstDash val="solid"/>
          </a:ln>
        </p:spPr>
      </p:sp>
      <p:sp>
        <p:nvSpPr>
          <p:cNvPr id="31" name="Shape 29"/>
          <p:cNvSpPr/>
          <p:nvPr/>
        </p:nvSpPr>
        <p:spPr>
          <a:xfrm>
            <a:off x="1898294" y="1917598"/>
            <a:ext cx="117043" cy="117043"/>
          </a:xfrm>
          <a:prstGeom prst="ellipse">
            <a:avLst/>
          </a:prstGeom>
          <a:solidFill>
            <a:srgbClr val="F7C5D6"/>
          </a:solidFill>
          <a:ln w="6350">
            <a:solidFill>
              <a:srgbClr val="B5546E"/>
            </a:solidFill>
            <a:prstDash val="solid"/>
          </a:ln>
        </p:spPr>
      </p:sp>
      <p:sp>
        <p:nvSpPr>
          <p:cNvPr id="32" name="Text 30"/>
          <p:cNvSpPr/>
          <p:nvPr/>
        </p:nvSpPr>
        <p:spPr>
          <a:xfrm>
            <a:off x="594360" y="2176272"/>
            <a:ext cx="155448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pill taken daily</a:t>
            </a:r>
            <a:endParaRPr lang="en-US" sz="1000" dirty="0"/>
          </a:p>
        </p:txBody>
      </p:sp>
      <p:sp>
        <p:nvSpPr>
          <p:cNvPr id="33" name="Shape 31"/>
          <p:cNvSpPr/>
          <p:nvPr/>
        </p:nvSpPr>
        <p:spPr>
          <a:xfrm>
            <a:off x="2148840" y="1755648"/>
            <a:ext cx="594360" cy="91"/>
          </a:xfrm>
          <a:prstGeom prst="line">
            <a:avLst/>
          </a:prstGeom>
          <a:noFill/>
          <a:ln w="31750">
            <a:solidFill>
              <a:srgbClr val="D4568F"/>
            </a:solidFill>
            <a:prstDash val="solid"/>
            <a:tailEnd type="triangle"/>
          </a:ln>
        </p:spPr>
      </p:sp>
      <p:sp>
        <p:nvSpPr>
          <p:cNvPr id="34" name="Shape 32"/>
          <p:cNvSpPr/>
          <p:nvPr/>
        </p:nvSpPr>
        <p:spPr>
          <a:xfrm>
            <a:off x="2788920" y="1417320"/>
            <a:ext cx="3017520" cy="685800"/>
          </a:xfrm>
          <a:prstGeom prst="roundRect">
            <a:avLst>
              <a:gd name="adj" fmla="val 8000"/>
            </a:avLst>
          </a:prstGeom>
          <a:solidFill>
            <a:srgbClr val="FDEFF5"/>
          </a:solidFill>
          <a:ln w="15875">
            <a:solidFill>
              <a:srgbClr val="D4568F"/>
            </a:solidFill>
            <a:prstDash val="solid"/>
          </a:ln>
        </p:spPr>
      </p:sp>
      <p:sp>
        <p:nvSpPr>
          <p:cNvPr id="35" name="Text 33"/>
          <p:cNvSpPr/>
          <p:nvPr/>
        </p:nvSpPr>
        <p:spPr>
          <a:xfrm>
            <a:off x="2843784" y="1417320"/>
            <a:ext cx="2907792" cy="6858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oestrogen + progesterone</a:t>
            </a:r>
            <a:r>
              <a:rPr lang="en-US" sz="1050" dirty="0">
                <a:solidFill>
                  <a:srgbClr val="262B3A"/>
                </a:solidFill>
                <a:latin typeface="Calibri" pitchFamily="34" charset="0"/>
                <a:ea typeface="Calibri" pitchFamily="34" charset="-122"/>
                <a:cs typeface="Calibri" pitchFamily="34" charset="-120"/>
              </a:rPr>
              <a:t> in the blood stay </a:t>
            </a:r>
            <a:r>
              <a:rPr lang="en-US" sz="1050" b="1" dirty="0">
                <a:solidFill>
                  <a:srgbClr val="262B3A"/>
                </a:solidFill>
                <a:latin typeface="Calibri" pitchFamily="34" charset="0"/>
                <a:ea typeface="Calibri" pitchFamily="34" charset="-122"/>
                <a:cs typeface="Calibri" pitchFamily="34" charset="-120"/>
              </a:rPr>
              <a:t>high</a:t>
            </a:r>
            <a:endParaRPr lang="en-US" sz="1050" dirty="0"/>
          </a:p>
        </p:txBody>
      </p:sp>
      <p:sp>
        <p:nvSpPr>
          <p:cNvPr id="36" name="Shape 34"/>
          <p:cNvSpPr/>
          <p:nvPr/>
        </p:nvSpPr>
        <p:spPr>
          <a:xfrm>
            <a:off x="3108960" y="2697480"/>
            <a:ext cx="2377440" cy="548640"/>
          </a:xfrm>
          <a:prstGeom prst="roundRect">
            <a:avLst>
              <a:gd name="adj" fmla="val 10000"/>
            </a:avLst>
          </a:prstGeom>
          <a:solidFill>
            <a:srgbClr val="FBECEC"/>
          </a:solidFill>
          <a:ln w="15875">
            <a:solidFill>
              <a:srgbClr val="C8414C"/>
            </a:solidFill>
            <a:prstDash val="solid"/>
          </a:ln>
        </p:spPr>
      </p:sp>
      <p:sp>
        <p:nvSpPr>
          <p:cNvPr id="37" name="Text 35"/>
          <p:cNvSpPr/>
          <p:nvPr/>
        </p:nvSpPr>
        <p:spPr>
          <a:xfrm>
            <a:off x="3163824" y="2697480"/>
            <a:ext cx="2267712" cy="548640"/>
          </a:xfrm>
          <a:prstGeom prst="rect">
            <a:avLst/>
          </a:prstGeom>
          <a:noFill/>
          <a:ln/>
        </p:spPr>
        <p:txBody>
          <a:bodyPr wrap="square" lIns="0" tIns="0" rIns="0" bIns="0" rtlCol="0" anchor="ctr"/>
          <a:lstStyle/>
          <a:p>
            <a:pPr algn="ctr" indent="0" marL="0">
              <a:buNone/>
            </a:pPr>
            <a:r>
              <a:rPr lang="en-US" sz="1100" b="1" dirty="0">
                <a:solidFill>
                  <a:srgbClr val="8E2A33"/>
                </a:solidFill>
                <a:latin typeface="Calibri" pitchFamily="34" charset="0"/>
                <a:ea typeface="Calibri" pitchFamily="34" charset="-122"/>
                <a:cs typeface="Calibri" pitchFamily="34" charset="-120"/>
              </a:rPr>
              <a:t>Pituitary gland</a:t>
            </a:r>
            <a:endParaRPr lang="en-US" sz="1100" dirty="0"/>
          </a:p>
        </p:txBody>
      </p:sp>
      <p:sp>
        <p:nvSpPr>
          <p:cNvPr id="38" name="Shape 36"/>
          <p:cNvSpPr/>
          <p:nvPr/>
        </p:nvSpPr>
        <p:spPr>
          <a:xfrm>
            <a:off x="4297680" y="2121408"/>
            <a:ext cx="91" cy="557784"/>
          </a:xfrm>
          <a:prstGeom prst="line">
            <a:avLst/>
          </a:prstGeom>
          <a:noFill/>
          <a:ln w="31750">
            <a:solidFill>
              <a:srgbClr val="C8414C"/>
            </a:solidFill>
            <a:prstDash val="dash"/>
          </a:ln>
        </p:spPr>
      </p:sp>
      <p:sp>
        <p:nvSpPr>
          <p:cNvPr id="39" name="Shape 37"/>
          <p:cNvSpPr/>
          <p:nvPr/>
        </p:nvSpPr>
        <p:spPr>
          <a:xfrm flipH="1">
            <a:off x="4178808" y="2679192"/>
            <a:ext cx="237744" cy="91"/>
          </a:xfrm>
          <a:prstGeom prst="line">
            <a:avLst/>
          </a:prstGeom>
          <a:noFill/>
          <a:ln w="38100">
            <a:solidFill>
              <a:srgbClr val="C8414C"/>
            </a:solidFill>
            <a:prstDash val="solid"/>
          </a:ln>
        </p:spPr>
      </p:sp>
      <p:sp>
        <p:nvSpPr>
          <p:cNvPr id="40" name="Text 38"/>
          <p:cNvSpPr/>
          <p:nvPr/>
        </p:nvSpPr>
        <p:spPr>
          <a:xfrm>
            <a:off x="4389120" y="2240280"/>
            <a:ext cx="137160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 inhibits</a:t>
            </a:r>
            <a:endParaRPr lang="en-US" sz="1050" dirty="0"/>
          </a:p>
        </p:txBody>
      </p:sp>
      <p:sp>
        <p:nvSpPr>
          <p:cNvPr id="41" name="Shape 39"/>
          <p:cNvSpPr/>
          <p:nvPr/>
        </p:nvSpPr>
        <p:spPr>
          <a:xfrm>
            <a:off x="3657600" y="3264408"/>
            <a:ext cx="91" cy="612648"/>
          </a:xfrm>
          <a:prstGeom prst="line">
            <a:avLst/>
          </a:prstGeom>
          <a:noFill/>
          <a:ln w="31750">
            <a:solidFill>
              <a:srgbClr val="2F6DB5"/>
            </a:solidFill>
            <a:prstDash val="dash"/>
          </a:ln>
        </p:spPr>
      </p:sp>
      <p:sp>
        <p:nvSpPr>
          <p:cNvPr id="42" name="Shape 40"/>
          <p:cNvSpPr/>
          <p:nvPr/>
        </p:nvSpPr>
        <p:spPr>
          <a:xfrm>
            <a:off x="4937760" y="3264408"/>
            <a:ext cx="91" cy="612648"/>
          </a:xfrm>
          <a:prstGeom prst="line">
            <a:avLst/>
          </a:prstGeom>
          <a:noFill/>
          <a:ln w="31750">
            <a:solidFill>
              <a:srgbClr val="7B3FA0"/>
            </a:solidFill>
            <a:prstDash val="dash"/>
          </a:ln>
        </p:spPr>
      </p:sp>
      <p:sp>
        <p:nvSpPr>
          <p:cNvPr id="43" name="Shape 41"/>
          <p:cNvSpPr/>
          <p:nvPr/>
        </p:nvSpPr>
        <p:spPr>
          <a:xfrm>
            <a:off x="3538728" y="3474720"/>
            <a:ext cx="237744" cy="237744"/>
          </a:xfrm>
          <a:prstGeom prst="line">
            <a:avLst/>
          </a:prstGeom>
          <a:noFill/>
          <a:ln w="38100">
            <a:solidFill>
              <a:srgbClr val="C8414C"/>
            </a:solidFill>
            <a:prstDash val="solid"/>
          </a:ln>
        </p:spPr>
      </p:sp>
      <p:sp>
        <p:nvSpPr>
          <p:cNvPr id="44" name="Shape 42"/>
          <p:cNvSpPr/>
          <p:nvPr/>
        </p:nvSpPr>
        <p:spPr>
          <a:xfrm flipV="1">
            <a:off x="3538728" y="3474720"/>
            <a:ext cx="237744" cy="237744"/>
          </a:xfrm>
          <a:prstGeom prst="line">
            <a:avLst/>
          </a:prstGeom>
          <a:noFill/>
          <a:ln w="38100">
            <a:solidFill>
              <a:srgbClr val="C8414C"/>
            </a:solidFill>
            <a:prstDash val="solid"/>
          </a:ln>
        </p:spPr>
      </p:sp>
      <p:sp>
        <p:nvSpPr>
          <p:cNvPr id="45" name="Shape 43"/>
          <p:cNvSpPr/>
          <p:nvPr/>
        </p:nvSpPr>
        <p:spPr>
          <a:xfrm>
            <a:off x="4818888" y="3474720"/>
            <a:ext cx="237744" cy="237744"/>
          </a:xfrm>
          <a:prstGeom prst="line">
            <a:avLst/>
          </a:prstGeom>
          <a:noFill/>
          <a:ln w="38100">
            <a:solidFill>
              <a:srgbClr val="C8414C"/>
            </a:solidFill>
            <a:prstDash val="solid"/>
          </a:ln>
        </p:spPr>
      </p:sp>
      <p:sp>
        <p:nvSpPr>
          <p:cNvPr id="46" name="Shape 44"/>
          <p:cNvSpPr/>
          <p:nvPr/>
        </p:nvSpPr>
        <p:spPr>
          <a:xfrm flipV="1">
            <a:off x="4818888" y="3474720"/>
            <a:ext cx="237744" cy="237744"/>
          </a:xfrm>
          <a:prstGeom prst="line">
            <a:avLst/>
          </a:prstGeom>
          <a:noFill/>
          <a:ln w="38100">
            <a:solidFill>
              <a:srgbClr val="C8414C"/>
            </a:solidFill>
            <a:prstDash val="solid"/>
          </a:ln>
        </p:spPr>
      </p:sp>
      <p:sp>
        <p:nvSpPr>
          <p:cNvPr id="47" name="Text 45"/>
          <p:cNvSpPr/>
          <p:nvPr/>
        </p:nvSpPr>
        <p:spPr>
          <a:xfrm>
            <a:off x="2743200" y="3456432"/>
            <a:ext cx="777240" cy="256032"/>
          </a:xfrm>
          <a:prstGeom prst="rect">
            <a:avLst/>
          </a:prstGeom>
          <a:noFill/>
          <a:ln/>
        </p:spPr>
        <p:txBody>
          <a:bodyPr wrap="square" lIns="0" tIns="0" rIns="0" bIns="0" rtlCol="0" anchor="ctr"/>
          <a:lstStyle/>
          <a:p>
            <a:pPr algn="r" indent="0" marL="0">
              <a:buNone/>
            </a:pPr>
            <a:r>
              <a:rPr lang="en-US" sz="1050" b="1" dirty="0">
                <a:solidFill>
                  <a:srgbClr val="1F4E8C"/>
                </a:solidFill>
                <a:latin typeface="Calibri" pitchFamily="34" charset="0"/>
                <a:ea typeface="Calibri" pitchFamily="34" charset="-122"/>
                <a:cs typeface="Calibri" pitchFamily="34" charset="-120"/>
              </a:rPr>
              <a:t>no FSH</a:t>
            </a:r>
            <a:endParaRPr lang="en-US" sz="1050" dirty="0"/>
          </a:p>
        </p:txBody>
      </p:sp>
      <p:sp>
        <p:nvSpPr>
          <p:cNvPr id="48" name="Text 46"/>
          <p:cNvSpPr/>
          <p:nvPr/>
        </p:nvSpPr>
        <p:spPr>
          <a:xfrm>
            <a:off x="5074920" y="3456432"/>
            <a:ext cx="777240" cy="256032"/>
          </a:xfrm>
          <a:prstGeom prst="rect">
            <a:avLst/>
          </a:prstGeom>
          <a:noFill/>
          <a:ln/>
        </p:spPr>
        <p:txBody>
          <a:bodyPr wrap="square" lIns="0" tIns="0" rIns="0" bIns="0" rtlCol="0" anchor="ctr"/>
          <a:lstStyle/>
          <a:p>
            <a:pPr algn="l" indent="0" marL="0">
              <a:buNone/>
            </a:pPr>
            <a:r>
              <a:rPr lang="en-US" sz="1050" b="1" dirty="0">
                <a:solidFill>
                  <a:srgbClr val="5E2D73"/>
                </a:solidFill>
                <a:latin typeface="Calibri" pitchFamily="34" charset="0"/>
                <a:ea typeface="Calibri" pitchFamily="34" charset="-122"/>
                <a:cs typeface="Calibri" pitchFamily="34" charset="-120"/>
              </a:rPr>
              <a:t>no LH</a:t>
            </a:r>
            <a:endParaRPr lang="en-US" sz="1050" dirty="0"/>
          </a:p>
        </p:txBody>
      </p:sp>
      <p:sp>
        <p:nvSpPr>
          <p:cNvPr id="49" name="Shape 47"/>
          <p:cNvSpPr/>
          <p:nvPr/>
        </p:nvSpPr>
        <p:spPr>
          <a:xfrm>
            <a:off x="3703320" y="3904488"/>
            <a:ext cx="1188720" cy="640080"/>
          </a:xfrm>
          <a:prstGeom prst="ellipse">
            <a:avLst/>
          </a:prstGeom>
          <a:solidFill>
            <a:srgbClr val="F3D3A6"/>
          </a:solidFill>
          <a:ln w="15875">
            <a:solidFill>
              <a:srgbClr val="9A6A2A"/>
            </a:solidFill>
            <a:prstDash val="solid"/>
          </a:ln>
        </p:spPr>
      </p:sp>
      <p:sp>
        <p:nvSpPr>
          <p:cNvPr id="50" name="Shape 48"/>
          <p:cNvSpPr/>
          <p:nvPr/>
        </p:nvSpPr>
        <p:spPr>
          <a:xfrm>
            <a:off x="3869375" y="4056827"/>
            <a:ext cx="143378" cy="143378"/>
          </a:xfrm>
          <a:prstGeom prst="ellipse">
            <a:avLst/>
          </a:prstGeom>
          <a:solidFill>
            <a:srgbClr val="FFF6E8"/>
          </a:solidFill>
          <a:ln w="6350">
            <a:solidFill>
              <a:srgbClr val="9A6A2A"/>
            </a:solidFill>
            <a:prstDash val="solid"/>
          </a:ln>
        </p:spPr>
      </p:sp>
      <p:sp>
        <p:nvSpPr>
          <p:cNvPr id="51" name="Shape 49"/>
          <p:cNvSpPr/>
          <p:nvPr/>
        </p:nvSpPr>
        <p:spPr>
          <a:xfrm>
            <a:off x="4295668" y="4303898"/>
            <a:ext cx="122895" cy="122895"/>
          </a:xfrm>
          <a:prstGeom prst="ellipse">
            <a:avLst/>
          </a:prstGeom>
          <a:solidFill>
            <a:srgbClr val="FFF6E8"/>
          </a:solidFill>
          <a:ln w="6350">
            <a:solidFill>
              <a:srgbClr val="9A6A2A"/>
            </a:solidFill>
            <a:prstDash val="solid"/>
          </a:ln>
        </p:spPr>
      </p:sp>
      <p:sp>
        <p:nvSpPr>
          <p:cNvPr id="52" name="Shape 50"/>
          <p:cNvSpPr/>
          <p:nvPr/>
        </p:nvSpPr>
        <p:spPr>
          <a:xfrm>
            <a:off x="4127602" y="4250131"/>
            <a:ext cx="102413" cy="102413"/>
          </a:xfrm>
          <a:prstGeom prst="ellipse">
            <a:avLst/>
          </a:prstGeom>
          <a:solidFill>
            <a:srgbClr val="FFF6E8"/>
          </a:solidFill>
          <a:ln w="6350">
            <a:solidFill>
              <a:srgbClr val="9A6A2A"/>
            </a:solidFill>
            <a:prstDash val="solid"/>
          </a:ln>
        </p:spPr>
      </p:sp>
      <p:sp>
        <p:nvSpPr>
          <p:cNvPr id="53" name="Text 51"/>
          <p:cNvSpPr/>
          <p:nvPr/>
        </p:nvSpPr>
        <p:spPr>
          <a:xfrm>
            <a:off x="3017520" y="4572000"/>
            <a:ext cx="256032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no egg matures</a:t>
            </a:r>
            <a:r>
              <a:rPr lang="en-US" sz="1050" dirty="0">
                <a:solidFill>
                  <a:srgbClr val="C8414C"/>
                </a:solidFill>
                <a:latin typeface="Calibri" pitchFamily="34" charset="0"/>
                <a:ea typeface="Calibri" pitchFamily="34" charset="-122"/>
                <a:cs typeface="Calibri" pitchFamily="34" charset="-120"/>
              </a:rPr>
              <a:t>, </a:t>
            </a:r>
            <a:r>
              <a:rPr lang="en-US" sz="1050" b="1" dirty="0">
                <a:solidFill>
                  <a:srgbClr val="C8414C"/>
                </a:solidFill>
                <a:latin typeface="Calibri" pitchFamily="34" charset="0"/>
                <a:ea typeface="Calibri" pitchFamily="34" charset="-122"/>
                <a:cs typeface="Calibri" pitchFamily="34" charset="-120"/>
              </a:rPr>
              <a:t>no ovulation</a:t>
            </a:r>
            <a:endParaRPr lang="en-US" sz="1050" dirty="0"/>
          </a:p>
        </p:txBody>
      </p:sp>
      <p:sp>
        <p:nvSpPr>
          <p:cNvPr id="54" name="Shape 52"/>
          <p:cNvSpPr/>
          <p:nvPr/>
        </p:nvSpPr>
        <p:spPr>
          <a:xfrm>
            <a:off x="640080" y="2697480"/>
            <a:ext cx="2103120" cy="2148840"/>
          </a:xfrm>
          <a:prstGeom prst="roundRect">
            <a:avLst>
              <a:gd name="adj" fmla="val 2174"/>
            </a:avLst>
          </a:prstGeom>
          <a:solidFill>
            <a:srgbClr val="FFFFFF"/>
          </a:solidFill>
          <a:ln w="12700">
            <a:solidFill>
              <a:srgbClr val="D2E5D8"/>
            </a:solidFill>
            <a:prstDash val="solid"/>
          </a:ln>
        </p:spPr>
      </p:sp>
      <p:sp>
        <p:nvSpPr>
          <p:cNvPr id="55" name="Shape 53"/>
          <p:cNvSpPr/>
          <p:nvPr/>
        </p:nvSpPr>
        <p:spPr>
          <a:xfrm>
            <a:off x="1051560" y="2834640"/>
            <a:ext cx="1097280" cy="594360"/>
          </a:xfrm>
          <a:custGeom>
            <a:avLst/>
            <a:gdLst/>
            <a:ahLst/>
            <a:cxnLst/>
            <a:rect l="l" t="t" r="r" b="b"/>
            <a:pathLst>
              <a:path w="1097280" h="594360">
                <a:moveTo>
                  <a:pt x="0" y="0"/>
                </a:moveTo>
                <a:lnTo>
                  <a:pt x="1097280" y="0"/>
                </a:lnTo>
                <a:lnTo>
                  <a:pt x="822960" y="594360"/>
                </a:lnTo>
                <a:lnTo>
                  <a:pt x="274320" y="594360"/>
                </a:lnTo>
                <a:close/>
              </a:path>
            </a:pathLst>
          </a:custGeom>
          <a:solidFill>
            <a:srgbClr val="EFB4B8"/>
          </a:solidFill>
          <a:ln w="15875">
            <a:solidFill>
              <a:srgbClr val="A33E48"/>
            </a:solidFill>
            <a:prstDash val="solid"/>
          </a:ln>
        </p:spPr>
      </p:sp>
      <p:sp>
        <p:nvSpPr>
          <p:cNvPr id="56" name="Text 54"/>
          <p:cNvSpPr/>
          <p:nvPr/>
        </p:nvSpPr>
        <p:spPr>
          <a:xfrm>
            <a:off x="1051560" y="2926080"/>
            <a:ext cx="1097280" cy="256032"/>
          </a:xfrm>
          <a:prstGeom prst="rect">
            <a:avLst/>
          </a:prstGeom>
          <a:noFill/>
          <a:ln/>
        </p:spPr>
        <p:txBody>
          <a:bodyPr wrap="square" lIns="0" tIns="0" rIns="0" bIns="0" rtlCol="0" anchor="ctr"/>
          <a:lstStyle/>
          <a:p>
            <a:pPr algn="ctr" indent="0" marL="0">
              <a:buNone/>
            </a:pPr>
            <a:r>
              <a:rPr lang="en-US" sz="1000" i="1" dirty="0">
                <a:solidFill>
                  <a:srgbClr val="8E2A33"/>
                </a:solidFill>
                <a:latin typeface="Calibri" pitchFamily="34" charset="0"/>
                <a:ea typeface="Calibri" pitchFamily="34" charset="-122"/>
                <a:cs typeface="Calibri" pitchFamily="34" charset="-120"/>
              </a:rPr>
              <a:t>uterus</a:t>
            </a:r>
            <a:endParaRPr lang="en-US" sz="1000" dirty="0"/>
          </a:p>
        </p:txBody>
      </p:sp>
      <p:sp>
        <p:nvSpPr>
          <p:cNvPr id="57" name="Shape 55"/>
          <p:cNvSpPr/>
          <p:nvPr/>
        </p:nvSpPr>
        <p:spPr>
          <a:xfrm>
            <a:off x="1417320" y="3429000"/>
            <a:ext cx="365760" cy="457200"/>
          </a:xfrm>
          <a:prstGeom prst="rect">
            <a:avLst/>
          </a:prstGeom>
          <a:solidFill>
            <a:srgbClr val="EFB4B8"/>
          </a:solidFill>
          <a:ln w="15875">
            <a:solidFill>
              <a:srgbClr val="A33E48"/>
            </a:solidFill>
            <a:prstDash val="solid"/>
          </a:ln>
        </p:spPr>
      </p:sp>
      <p:sp>
        <p:nvSpPr>
          <p:cNvPr id="58" name="Shape 56"/>
          <p:cNvSpPr/>
          <p:nvPr/>
        </p:nvSpPr>
        <p:spPr>
          <a:xfrm>
            <a:off x="1517904" y="3429000"/>
            <a:ext cx="164592" cy="457200"/>
          </a:xfrm>
          <a:prstGeom prst="rect">
            <a:avLst/>
          </a:prstGeom>
          <a:solidFill>
            <a:srgbClr val="EFE3A0"/>
          </a:solidFill>
          <a:ln w="9525">
            <a:solidFill>
              <a:srgbClr val="B8A858"/>
            </a:solidFill>
            <a:prstDash val="solid"/>
          </a:ln>
        </p:spPr>
      </p:sp>
      <p:sp>
        <p:nvSpPr>
          <p:cNvPr id="59" name="Shape 57"/>
          <p:cNvSpPr/>
          <p:nvPr/>
        </p:nvSpPr>
        <p:spPr>
          <a:xfrm>
            <a:off x="1371600" y="3886200"/>
            <a:ext cx="457200" cy="384048"/>
          </a:xfrm>
          <a:prstGeom prst="rect">
            <a:avLst/>
          </a:prstGeom>
          <a:solidFill>
            <a:srgbClr val="FBE3E5"/>
          </a:solidFill>
          <a:ln w="12700">
            <a:solidFill>
              <a:srgbClr val="A33E48"/>
            </a:solidFill>
            <a:prstDash val="solid"/>
          </a:ln>
        </p:spPr>
      </p:sp>
      <p:sp>
        <p:nvSpPr>
          <p:cNvPr id="60" name="Shape 58"/>
          <p:cNvSpPr/>
          <p:nvPr/>
        </p:nvSpPr>
        <p:spPr>
          <a:xfrm>
            <a:off x="1481328" y="4018788"/>
            <a:ext cx="73152" cy="45720"/>
          </a:xfrm>
          <a:prstGeom prst="ellipse">
            <a:avLst/>
          </a:prstGeom>
          <a:solidFill>
            <a:srgbClr val="3B5B8C"/>
          </a:solidFill>
          <a:ln w="12700">
            <a:solidFill>
              <a:srgbClr val="3B5B8C"/>
            </a:solidFill>
            <a:prstDash val="solid"/>
          </a:ln>
        </p:spPr>
      </p:sp>
      <p:sp>
        <p:nvSpPr>
          <p:cNvPr id="61" name="Shape 59"/>
          <p:cNvSpPr/>
          <p:nvPr/>
        </p:nvSpPr>
        <p:spPr>
          <a:xfrm>
            <a:off x="1554480" y="4041648"/>
            <a:ext cx="82296" cy="22860"/>
          </a:xfrm>
          <a:prstGeom prst="line">
            <a:avLst/>
          </a:prstGeom>
          <a:noFill/>
          <a:ln w="9525">
            <a:solidFill>
              <a:srgbClr val="3B5B8C"/>
            </a:solidFill>
            <a:prstDash val="solid"/>
          </a:ln>
        </p:spPr>
      </p:sp>
      <p:sp>
        <p:nvSpPr>
          <p:cNvPr id="62" name="Shape 60"/>
          <p:cNvSpPr/>
          <p:nvPr/>
        </p:nvSpPr>
        <p:spPr>
          <a:xfrm flipV="1">
            <a:off x="1636776" y="4032504"/>
            <a:ext cx="82296" cy="32004"/>
          </a:xfrm>
          <a:prstGeom prst="line">
            <a:avLst/>
          </a:prstGeom>
          <a:noFill/>
          <a:ln w="9525">
            <a:solidFill>
              <a:srgbClr val="3B5B8C"/>
            </a:solidFill>
            <a:prstDash val="solid"/>
          </a:ln>
        </p:spPr>
      </p:sp>
      <p:sp>
        <p:nvSpPr>
          <p:cNvPr id="63" name="Shape 61"/>
          <p:cNvSpPr/>
          <p:nvPr/>
        </p:nvSpPr>
        <p:spPr>
          <a:xfrm>
            <a:off x="1609344" y="4137660"/>
            <a:ext cx="73152" cy="45720"/>
          </a:xfrm>
          <a:prstGeom prst="ellipse">
            <a:avLst/>
          </a:prstGeom>
          <a:solidFill>
            <a:srgbClr val="3B5B8C"/>
          </a:solidFill>
          <a:ln w="12700">
            <a:solidFill>
              <a:srgbClr val="3B5B8C"/>
            </a:solidFill>
            <a:prstDash val="solid"/>
          </a:ln>
        </p:spPr>
      </p:sp>
      <p:sp>
        <p:nvSpPr>
          <p:cNvPr id="64" name="Shape 62"/>
          <p:cNvSpPr/>
          <p:nvPr/>
        </p:nvSpPr>
        <p:spPr>
          <a:xfrm>
            <a:off x="1682496" y="4160520"/>
            <a:ext cx="82296" cy="22860"/>
          </a:xfrm>
          <a:prstGeom prst="line">
            <a:avLst/>
          </a:prstGeom>
          <a:noFill/>
          <a:ln w="9525">
            <a:solidFill>
              <a:srgbClr val="3B5B8C"/>
            </a:solidFill>
            <a:prstDash val="solid"/>
          </a:ln>
        </p:spPr>
      </p:sp>
      <p:sp>
        <p:nvSpPr>
          <p:cNvPr id="65" name="Shape 63"/>
          <p:cNvSpPr/>
          <p:nvPr/>
        </p:nvSpPr>
        <p:spPr>
          <a:xfrm flipV="1">
            <a:off x="1764792" y="4151376"/>
            <a:ext cx="82296" cy="32004"/>
          </a:xfrm>
          <a:prstGeom prst="line">
            <a:avLst/>
          </a:prstGeom>
          <a:noFill/>
          <a:ln w="9525">
            <a:solidFill>
              <a:srgbClr val="3B5B8C"/>
            </a:solidFill>
            <a:prstDash val="solid"/>
          </a:ln>
        </p:spPr>
      </p:sp>
      <p:sp>
        <p:nvSpPr>
          <p:cNvPr id="66" name="Text 64"/>
          <p:cNvSpPr/>
          <p:nvPr/>
        </p:nvSpPr>
        <p:spPr>
          <a:xfrm>
            <a:off x="1847088" y="3429000"/>
            <a:ext cx="868680" cy="411480"/>
          </a:xfrm>
          <a:prstGeom prst="rect">
            <a:avLst/>
          </a:prstGeom>
          <a:noFill/>
          <a:ln/>
        </p:spPr>
        <p:txBody>
          <a:bodyPr wrap="square" lIns="0" tIns="0" rIns="0" bIns="0" rtlCol="0" anchor="t"/>
          <a:lstStyle/>
          <a:p>
            <a:pPr algn="l" indent="0" marL="0">
              <a:buNone/>
            </a:pPr>
            <a:r>
              <a:rPr lang="en-US" sz="1000" b="1" dirty="0">
                <a:solidFill>
                  <a:srgbClr val="8A560A"/>
                </a:solidFill>
                <a:latin typeface="Calibri" pitchFamily="34" charset="0"/>
                <a:ea typeface="Calibri" pitchFamily="34" charset="-122"/>
                <a:cs typeface="Calibri" pitchFamily="34" charset="-120"/>
              </a:rPr>
              <a:t>cervix</a:t>
            </a:r>
            <a:r>
              <a:rPr lang="en-US" sz="1000" dirty="0">
                <a:solidFill>
                  <a:srgbClr val="8A560A"/>
                </a:solidFill>
                <a:latin typeface="Calibri" pitchFamily="34" charset="0"/>
                <a:ea typeface="Calibri" pitchFamily="34" charset="-122"/>
                <a:cs typeface="Calibri" pitchFamily="34" charset="-120"/>
              </a:rPr>
              <a:t>: thick mucus</a:t>
            </a:r>
            <a:endParaRPr lang="en-US" sz="1000" dirty="0"/>
          </a:p>
        </p:txBody>
      </p:sp>
      <p:sp>
        <p:nvSpPr>
          <p:cNvPr id="67" name="Text 65"/>
          <p:cNvSpPr/>
          <p:nvPr/>
        </p:nvSpPr>
        <p:spPr>
          <a:xfrm>
            <a:off x="1874520" y="3977640"/>
            <a:ext cx="822960" cy="365760"/>
          </a:xfrm>
          <a:prstGeom prst="rect">
            <a:avLst/>
          </a:prstGeom>
          <a:noFill/>
          <a:ln/>
        </p:spPr>
        <p:txBody>
          <a:bodyPr wrap="square" lIns="0" tIns="0" rIns="0" bIns="0" rtlCol="0" anchor="t"/>
          <a:lstStyle/>
          <a:p>
            <a:pPr algn="l" indent="0" marL="0">
              <a:buNone/>
            </a:pPr>
            <a:r>
              <a:rPr lang="en-US" sz="1000" i="1" dirty="0">
                <a:solidFill>
                  <a:srgbClr val="6B7385"/>
                </a:solidFill>
                <a:latin typeface="Calibri" pitchFamily="34" charset="0"/>
                <a:ea typeface="Calibri" pitchFamily="34" charset="-122"/>
                <a:cs typeface="Calibri" pitchFamily="34" charset="-120"/>
              </a:rPr>
              <a:t>sperm blocked</a:t>
            </a:r>
            <a:endParaRPr lang="en-US" sz="1000" dirty="0"/>
          </a:p>
        </p:txBody>
      </p:sp>
      <p:sp>
        <p:nvSpPr>
          <p:cNvPr id="68" name="Text 66"/>
          <p:cNvSpPr/>
          <p:nvPr/>
        </p:nvSpPr>
        <p:spPr>
          <a:xfrm>
            <a:off x="685800" y="4343400"/>
            <a:ext cx="2011680" cy="384048"/>
          </a:xfrm>
          <a:prstGeom prst="rect">
            <a:avLst/>
          </a:prstGeom>
          <a:noFill/>
          <a:ln/>
        </p:spPr>
        <p:txBody>
          <a:bodyPr wrap="square" lIns="0" tIns="0" rIns="0" bIns="0" rtlCol="0" anchor="t"/>
          <a:lstStyle/>
          <a:p>
            <a:pPr algn="ctr" indent="0" marL="0">
              <a:buNone/>
            </a:pPr>
            <a:r>
              <a:rPr lang="en-US" sz="1000" dirty="0">
                <a:solidFill>
                  <a:srgbClr val="8A560A"/>
                </a:solidFill>
                <a:latin typeface="Calibri" pitchFamily="34" charset="0"/>
                <a:ea typeface="Calibri" pitchFamily="34" charset="-122"/>
                <a:cs typeface="Calibri" pitchFamily="34" charset="-120"/>
              </a:rPr>
              <a:t>progesterone makes the </a:t>
            </a:r>
            <a:r>
              <a:rPr lang="en-US" sz="1000" b="1" dirty="0">
                <a:solidFill>
                  <a:srgbClr val="8A560A"/>
                </a:solidFill>
                <a:latin typeface="Calibri" pitchFamily="34" charset="0"/>
                <a:ea typeface="Calibri" pitchFamily="34" charset="-122"/>
                <a:cs typeface="Calibri" pitchFamily="34" charset="-120"/>
              </a:rPr>
              <a:t>mucus thick</a:t>
            </a:r>
            <a:endParaRPr lang="en-US" sz="1000" dirty="0"/>
          </a:p>
        </p:txBody>
      </p:sp>
      <p:sp>
        <p:nvSpPr>
          <p:cNvPr id="69" name="Text 67"/>
          <p:cNvSpPr/>
          <p:nvPr/>
        </p:nvSpPr>
        <p:spPr>
          <a:xfrm>
            <a:off x="640080" y="4956048"/>
            <a:ext cx="100584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Also:</a:t>
            </a:r>
            <a:endParaRPr lang="en-US" sz="1050" dirty="0"/>
          </a:p>
        </p:txBody>
      </p:sp>
      <p:sp>
        <p:nvSpPr>
          <p:cNvPr id="70" name="Shape 68"/>
          <p:cNvSpPr/>
          <p:nvPr/>
        </p:nvSpPr>
        <p:spPr>
          <a:xfrm>
            <a:off x="1234440" y="5047488"/>
            <a:ext cx="274320" cy="64008"/>
          </a:xfrm>
          <a:prstGeom prst="rect">
            <a:avLst/>
          </a:prstGeom>
          <a:solidFill>
            <a:srgbClr val="D9C6A8"/>
          </a:solidFill>
          <a:ln w="9525">
            <a:solidFill>
              <a:srgbClr val="8A6A3A"/>
            </a:solidFill>
            <a:prstDash val="solid"/>
          </a:ln>
        </p:spPr>
      </p:sp>
      <p:sp>
        <p:nvSpPr>
          <p:cNvPr id="71" name="Text 69"/>
          <p:cNvSpPr/>
          <p:nvPr/>
        </p:nvSpPr>
        <p:spPr>
          <a:xfrm>
            <a:off x="1554480" y="4956048"/>
            <a:ext cx="82296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implant</a:t>
            </a:r>
            <a:endParaRPr lang="en-US" sz="1000" dirty="0"/>
          </a:p>
        </p:txBody>
      </p:sp>
      <p:sp>
        <p:nvSpPr>
          <p:cNvPr id="72" name="Shape 70"/>
          <p:cNvSpPr/>
          <p:nvPr/>
        </p:nvSpPr>
        <p:spPr>
          <a:xfrm>
            <a:off x="2451506" y="5046574"/>
            <a:ext cx="226314" cy="65837"/>
          </a:xfrm>
          <a:prstGeom prst="rect">
            <a:avLst/>
          </a:prstGeom>
          <a:solidFill>
            <a:srgbClr val="DDE9F7"/>
          </a:solidFill>
          <a:ln w="12700">
            <a:solidFill>
              <a:srgbClr val="4A5262"/>
            </a:solidFill>
            <a:prstDash val="solid"/>
          </a:ln>
        </p:spPr>
      </p:sp>
      <p:sp>
        <p:nvSpPr>
          <p:cNvPr id="73" name="Shape 71"/>
          <p:cNvSpPr/>
          <p:nvPr/>
        </p:nvSpPr>
        <p:spPr>
          <a:xfrm>
            <a:off x="2459736" y="5054803"/>
            <a:ext cx="123444" cy="49378"/>
          </a:xfrm>
          <a:prstGeom prst="rect">
            <a:avLst/>
          </a:prstGeom>
          <a:solidFill>
            <a:srgbClr val="D98A1E">
              <a:alpha val="70000"/>
            </a:srgbClr>
          </a:solidFill>
          <a:ln/>
        </p:spPr>
      </p:sp>
      <p:sp>
        <p:nvSpPr>
          <p:cNvPr id="74" name="Shape 72"/>
          <p:cNvSpPr/>
          <p:nvPr/>
        </p:nvSpPr>
        <p:spPr>
          <a:xfrm>
            <a:off x="2377440" y="5079492"/>
            <a:ext cx="74066" cy="91"/>
          </a:xfrm>
          <a:prstGeom prst="line">
            <a:avLst/>
          </a:prstGeom>
          <a:noFill/>
          <a:ln w="31750">
            <a:solidFill>
              <a:srgbClr val="4A5262"/>
            </a:solidFill>
            <a:prstDash val="solid"/>
          </a:ln>
        </p:spPr>
      </p:sp>
      <p:sp>
        <p:nvSpPr>
          <p:cNvPr id="75" name="Shape 73"/>
          <p:cNvSpPr/>
          <p:nvPr/>
        </p:nvSpPr>
        <p:spPr>
          <a:xfrm>
            <a:off x="2677820" y="5079492"/>
            <a:ext cx="90526" cy="91"/>
          </a:xfrm>
          <a:prstGeom prst="line">
            <a:avLst/>
          </a:prstGeom>
          <a:noFill/>
          <a:ln w="25400">
            <a:solidFill>
              <a:srgbClr val="4A5262"/>
            </a:solidFill>
            <a:prstDash val="solid"/>
          </a:ln>
        </p:spPr>
      </p:sp>
      <p:sp>
        <p:nvSpPr>
          <p:cNvPr id="76" name="Shape 74"/>
          <p:cNvSpPr/>
          <p:nvPr/>
        </p:nvSpPr>
        <p:spPr>
          <a:xfrm>
            <a:off x="2768346" y="5038344"/>
            <a:ext cx="91" cy="82296"/>
          </a:xfrm>
          <a:prstGeom prst="line">
            <a:avLst/>
          </a:prstGeom>
          <a:noFill/>
          <a:ln w="31750">
            <a:solidFill>
              <a:srgbClr val="4A5262"/>
            </a:solidFill>
            <a:prstDash val="solid"/>
          </a:ln>
        </p:spPr>
      </p:sp>
      <p:sp>
        <p:nvSpPr>
          <p:cNvPr id="77" name="Shape 75"/>
          <p:cNvSpPr/>
          <p:nvPr/>
        </p:nvSpPr>
        <p:spPr>
          <a:xfrm>
            <a:off x="2303374" y="5079492"/>
            <a:ext cx="74066" cy="91"/>
          </a:xfrm>
          <a:prstGeom prst="line">
            <a:avLst/>
          </a:prstGeom>
          <a:noFill/>
          <a:ln w="12700">
            <a:solidFill>
              <a:srgbClr val="8C96A8"/>
            </a:solidFill>
            <a:prstDash val="solid"/>
          </a:ln>
        </p:spPr>
      </p:sp>
      <p:sp>
        <p:nvSpPr>
          <p:cNvPr id="78" name="Text 76"/>
          <p:cNvSpPr/>
          <p:nvPr/>
        </p:nvSpPr>
        <p:spPr>
          <a:xfrm>
            <a:off x="2834640" y="4956048"/>
            <a:ext cx="82296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injection</a:t>
            </a:r>
            <a:endParaRPr lang="en-US" sz="1000" dirty="0"/>
          </a:p>
        </p:txBody>
      </p:sp>
      <p:sp>
        <p:nvSpPr>
          <p:cNvPr id="79" name="Shape 77"/>
          <p:cNvSpPr/>
          <p:nvPr/>
        </p:nvSpPr>
        <p:spPr>
          <a:xfrm>
            <a:off x="3611880" y="4992624"/>
            <a:ext cx="182880" cy="182880"/>
          </a:xfrm>
          <a:prstGeom prst="rect">
            <a:avLst/>
          </a:prstGeom>
          <a:solidFill>
            <a:srgbClr val="F3D9B8"/>
          </a:solidFill>
          <a:ln w="9525">
            <a:solidFill>
              <a:srgbClr val="8A6A3A"/>
            </a:solidFill>
            <a:prstDash val="solid"/>
          </a:ln>
        </p:spPr>
      </p:sp>
      <p:sp>
        <p:nvSpPr>
          <p:cNvPr id="80" name="Text 78"/>
          <p:cNvSpPr/>
          <p:nvPr/>
        </p:nvSpPr>
        <p:spPr>
          <a:xfrm>
            <a:off x="3840480" y="4956048"/>
            <a:ext cx="54864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patch</a:t>
            </a:r>
            <a:endParaRPr lang="en-US" sz="1000" dirty="0"/>
          </a:p>
        </p:txBody>
      </p:sp>
      <p:sp>
        <p:nvSpPr>
          <p:cNvPr id="81" name="Shape 79"/>
          <p:cNvSpPr/>
          <p:nvPr/>
        </p:nvSpPr>
        <p:spPr>
          <a:xfrm>
            <a:off x="4434840" y="5010912"/>
            <a:ext cx="274320" cy="91"/>
          </a:xfrm>
          <a:prstGeom prst="line">
            <a:avLst/>
          </a:prstGeom>
          <a:noFill/>
          <a:ln w="31750">
            <a:solidFill>
              <a:srgbClr val="D98A1E"/>
            </a:solidFill>
            <a:prstDash val="solid"/>
          </a:ln>
        </p:spPr>
      </p:sp>
      <p:sp>
        <p:nvSpPr>
          <p:cNvPr id="82" name="Shape 80"/>
          <p:cNvSpPr/>
          <p:nvPr/>
        </p:nvSpPr>
        <p:spPr>
          <a:xfrm>
            <a:off x="4572000" y="5010912"/>
            <a:ext cx="91" cy="182880"/>
          </a:xfrm>
          <a:prstGeom prst="line">
            <a:avLst/>
          </a:prstGeom>
          <a:noFill/>
          <a:ln w="31750">
            <a:solidFill>
              <a:srgbClr val="D98A1E"/>
            </a:solidFill>
            <a:prstDash val="solid"/>
          </a:ln>
        </p:spPr>
      </p:sp>
      <p:sp>
        <p:nvSpPr>
          <p:cNvPr id="83" name="Text 81"/>
          <p:cNvSpPr/>
          <p:nvPr/>
        </p:nvSpPr>
        <p:spPr>
          <a:xfrm>
            <a:off x="4754880" y="4956048"/>
            <a:ext cx="118872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hormonal coil (IUS)</a:t>
            </a:r>
            <a:endParaRPr lang="en-US" sz="1000" dirty="0"/>
          </a:p>
        </p:txBody>
      </p:sp>
      <p:sp>
        <p:nvSpPr>
          <p:cNvPr id="84" name="Shape 82"/>
          <p:cNvSpPr/>
          <p:nvPr/>
        </p:nvSpPr>
        <p:spPr>
          <a:xfrm>
            <a:off x="6217920" y="1188720"/>
            <a:ext cx="5562295" cy="2423160"/>
          </a:xfrm>
          <a:prstGeom prst="roundRect">
            <a:avLst>
              <a:gd name="adj" fmla="val 2264"/>
            </a:avLst>
          </a:prstGeom>
          <a:solidFill>
            <a:srgbClr val="F5FBF7"/>
          </a:solidFill>
          <a:ln w="9525">
            <a:solidFill>
              <a:srgbClr val="D2E5D8"/>
            </a:solidFill>
            <a:prstDash val="solid"/>
          </a:ln>
        </p:spPr>
      </p:sp>
      <p:sp>
        <p:nvSpPr>
          <p:cNvPr id="85" name="Text 8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How hormones prevent pregnancy</a:t>
            </a:r>
            <a:endParaRPr lang="en-US" sz="1300" dirty="0"/>
          </a:p>
        </p:txBody>
      </p:sp>
      <p:sp>
        <p:nvSpPr>
          <p:cNvPr id="86" name="Text 8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Combined pill</a:t>
            </a:r>
            <a:r>
              <a:rPr lang="en-US" sz="1150" dirty="0">
                <a:solidFill>
                  <a:srgbClr val="262B3A"/>
                </a:solidFill>
                <a:latin typeface="Calibri" pitchFamily="34" charset="0"/>
                <a:ea typeface="Calibri" pitchFamily="34" charset="-122"/>
                <a:cs typeface="Calibri" pitchFamily="34" charset="-120"/>
              </a:rPr>
              <a:t>: oestrogen + progesterone. They </a:t>
            </a:r>
            <a:r>
              <a:rPr lang="en-US" sz="1150" b="1" dirty="0">
                <a:solidFill>
                  <a:srgbClr val="262B3A"/>
                </a:solidFill>
                <a:latin typeface="Calibri" pitchFamily="34" charset="0"/>
                <a:ea typeface="Calibri" pitchFamily="34" charset="-122"/>
                <a:cs typeface="Calibri" pitchFamily="34" charset="-120"/>
              </a:rPr>
              <a:t>inhibit FSH and LH</a:t>
            </a:r>
            <a:r>
              <a:rPr lang="en-US" sz="1150" dirty="0">
                <a:solidFill>
                  <a:srgbClr val="262B3A"/>
                </a:solidFill>
                <a:latin typeface="Calibri" pitchFamily="34" charset="0"/>
                <a:ea typeface="Calibri" pitchFamily="34" charset="-122"/>
                <a:cs typeface="Calibri" pitchFamily="34" charset="-120"/>
              </a:rPr>
              <a:t>, so </a:t>
            </a:r>
            <a:r>
              <a:rPr lang="en-US" sz="1150" b="1" dirty="0">
                <a:solidFill>
                  <a:srgbClr val="262B3A"/>
                </a:solidFill>
                <a:latin typeface="Calibri" pitchFamily="34" charset="0"/>
                <a:ea typeface="Calibri" pitchFamily="34" charset="-122"/>
                <a:cs typeface="Calibri" pitchFamily="34" charset="-120"/>
              </a:rPr>
              <a:t>no egg matures</a:t>
            </a:r>
            <a:r>
              <a:rPr lang="en-US" sz="1150" dirty="0">
                <a:solidFill>
                  <a:srgbClr val="262B3A"/>
                </a:solidFill>
                <a:latin typeface="Calibri" pitchFamily="34" charset="0"/>
                <a:ea typeface="Calibri" pitchFamily="34" charset="-122"/>
                <a:cs typeface="Calibri" pitchFamily="34" charset="-120"/>
              </a:rPr>
              <a:t> and there is </a:t>
            </a:r>
            <a:r>
              <a:rPr lang="en-US" sz="1150" b="1" dirty="0">
                <a:solidFill>
                  <a:srgbClr val="262B3A"/>
                </a:solidFill>
                <a:latin typeface="Calibri" pitchFamily="34" charset="0"/>
                <a:ea typeface="Calibri" pitchFamily="34" charset="-122"/>
                <a:cs typeface="Calibri" pitchFamily="34" charset="-120"/>
              </a:rPr>
              <a:t>no ovulation</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Progesterone</a:t>
            </a:r>
            <a:r>
              <a:rPr lang="en-US" sz="1150" dirty="0">
                <a:solidFill>
                  <a:srgbClr val="262B3A"/>
                </a:solidFill>
                <a:latin typeface="Calibri" pitchFamily="34" charset="0"/>
                <a:ea typeface="Calibri" pitchFamily="34" charset="-122"/>
                <a:cs typeface="Calibri" pitchFamily="34" charset="-120"/>
              </a:rPr>
              <a:t> also makes </a:t>
            </a:r>
            <a:r>
              <a:rPr lang="en-US" sz="1150" b="1" dirty="0">
                <a:solidFill>
                  <a:srgbClr val="262B3A"/>
                </a:solidFill>
                <a:latin typeface="Calibri" pitchFamily="34" charset="0"/>
                <a:ea typeface="Calibri" pitchFamily="34" charset="-122"/>
                <a:cs typeface="Calibri" pitchFamily="34" charset="-120"/>
              </a:rPr>
              <a:t>cervical mucus thick</a:t>
            </a:r>
            <a:r>
              <a:rPr lang="en-US" sz="1150" dirty="0">
                <a:solidFill>
                  <a:srgbClr val="262B3A"/>
                </a:solidFill>
                <a:latin typeface="Calibri" pitchFamily="34" charset="0"/>
                <a:ea typeface="Calibri" pitchFamily="34" charset="-122"/>
                <a:cs typeface="Calibri" pitchFamily="34" charset="-120"/>
              </a:rPr>
              <a:t>, so sperm cannot reach an egg; some progesterone-only methods also thin the lining.</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Long-acting methods (</a:t>
            </a:r>
            <a:r>
              <a:rPr lang="en-US" sz="1150" b="1" dirty="0">
                <a:solidFill>
                  <a:srgbClr val="262B3A"/>
                </a:solidFill>
                <a:latin typeface="Calibri" pitchFamily="34" charset="0"/>
                <a:ea typeface="Calibri" pitchFamily="34" charset="-122"/>
                <a:cs typeface="Calibri" pitchFamily="34" charset="-120"/>
              </a:rPr>
              <a:t>implant, injection, IUS</a:t>
            </a:r>
            <a:r>
              <a:rPr lang="en-US" sz="1150" dirty="0">
                <a:solidFill>
                  <a:srgbClr val="262B3A"/>
                </a:solidFill>
                <a:latin typeface="Calibri" pitchFamily="34" charset="0"/>
                <a:ea typeface="Calibri" pitchFamily="34" charset="-122"/>
                <a:cs typeface="Calibri" pitchFamily="34" charset="-120"/>
              </a:rPr>
              <a:t>) release progesterone for months or years.</a:t>
            </a:r>
            <a:endParaRPr lang="en-US" sz="1150" dirty="0"/>
          </a:p>
        </p:txBody>
      </p:sp>
      <p:sp>
        <p:nvSpPr>
          <p:cNvPr id="87" name="Shape 8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88" name="Text 8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Exam technique: explain</a:t>
            </a:r>
            <a:endParaRPr lang="en-US" sz="1300" dirty="0"/>
          </a:p>
        </p:txBody>
      </p:sp>
      <p:sp>
        <p:nvSpPr>
          <p:cNvPr id="89" name="Text 87"/>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Explain how the combined pill prevents pregnancy.</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1 Hormones   </a:t>
            </a:r>
            <a:r>
              <a:rPr lang="en-US" sz="1100" dirty="0">
                <a:solidFill>
                  <a:srgbClr val="262B3A"/>
                </a:solidFill>
                <a:latin typeface="Calibri" pitchFamily="34" charset="0"/>
                <a:ea typeface="Calibri" pitchFamily="34" charset="-122"/>
                <a:cs typeface="Calibri" pitchFamily="34" charset="-120"/>
              </a:rPr>
              <a:t>pill keeps oestrogen and progesterone levels high</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2 Pituitary   </a:t>
            </a:r>
            <a:r>
              <a:rPr lang="en-US" sz="1100" dirty="0">
                <a:solidFill>
                  <a:srgbClr val="262B3A"/>
                </a:solidFill>
                <a:latin typeface="Calibri" pitchFamily="34" charset="0"/>
                <a:ea typeface="Calibri" pitchFamily="34" charset="-122"/>
                <a:cs typeface="Calibri" pitchFamily="34" charset="-120"/>
              </a:rPr>
              <a:t>FSH and LH release is inhibited</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3 Ovary   </a:t>
            </a:r>
            <a:r>
              <a:rPr lang="en-US" sz="1100" dirty="0">
                <a:solidFill>
                  <a:srgbClr val="262B3A"/>
                </a:solidFill>
                <a:latin typeface="Calibri" pitchFamily="34" charset="0"/>
                <a:ea typeface="Calibri" pitchFamily="34" charset="-122"/>
                <a:cs typeface="Calibri" pitchFamily="34" charset="-120"/>
              </a:rPr>
              <a:t>no egg matures, no LH surge → no ovulation</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no egg to fertilise (and thick mucus blocks sperm)</a:t>
            </a:r>
            <a:endParaRPr lang="en-US" sz="1100" dirty="0"/>
          </a:p>
        </p:txBody>
      </p:sp>
      <p:sp>
        <p:nvSpPr>
          <p:cNvPr id="90" name="Shape 88"/>
          <p:cNvSpPr/>
          <p:nvPr/>
        </p:nvSpPr>
        <p:spPr>
          <a:xfrm>
            <a:off x="411480" y="5833872"/>
            <a:ext cx="11368735" cy="530352"/>
          </a:xfrm>
          <a:prstGeom prst="rect">
            <a:avLst/>
          </a:prstGeom>
          <a:solidFill>
            <a:srgbClr val="FFF4E0"/>
          </a:solidFill>
          <a:ln w="6350">
            <a:solidFill>
              <a:srgbClr val="F1D9A8"/>
            </a:solidFill>
            <a:prstDash val="solid"/>
          </a:ln>
        </p:spPr>
      </p:sp>
      <p:sp>
        <p:nvSpPr>
          <p:cNvPr id="91" name="Shape 89"/>
          <p:cNvSpPr/>
          <p:nvPr/>
        </p:nvSpPr>
        <p:spPr>
          <a:xfrm>
            <a:off x="411480" y="5833872"/>
            <a:ext cx="82296" cy="530352"/>
          </a:xfrm>
          <a:prstGeom prst="rect">
            <a:avLst/>
          </a:prstGeom>
          <a:solidFill>
            <a:srgbClr val="E39A2F"/>
          </a:solidFill>
          <a:ln w="12700">
            <a:solidFill>
              <a:srgbClr val="E39A2F"/>
            </a:solidFill>
            <a:prstDash val="solid"/>
          </a:ln>
        </p:spPr>
      </p:sp>
      <p:sp>
        <p:nvSpPr>
          <p:cNvPr id="92" name="Text 9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hormone in the pill stops an egg </a:t>
            </a:r>
            <a:r>
              <a:rPr lang="en-US" sz="1150" b="1" dirty="0">
                <a:solidFill>
                  <a:srgbClr val="262B3A"/>
                </a:solidFill>
                <a:latin typeface="Calibri" pitchFamily="34" charset="0"/>
                <a:ea typeface="Calibri" pitchFamily="34" charset="-122"/>
                <a:cs typeface="Calibri" pitchFamily="34" charset="-120"/>
              </a:rPr>
              <a:t>maturing</a:t>
            </a:r>
            <a:r>
              <a:rPr lang="en-US" sz="1150" dirty="0">
                <a:solidFill>
                  <a:srgbClr val="262B3A"/>
                </a:solidFill>
                <a:latin typeface="Calibri" pitchFamily="34" charset="0"/>
                <a:ea typeface="Calibri" pitchFamily="34" charset="-122"/>
                <a:cs typeface="Calibri" pitchFamily="34" charset="-120"/>
              </a:rPr>
              <a:t>, by inhibiting FSH? How does progesterone stop </a:t>
            </a:r>
            <a:r>
              <a:rPr lang="en-US" sz="1150" b="1" dirty="0">
                <a:solidFill>
                  <a:srgbClr val="262B3A"/>
                </a:solidFill>
                <a:latin typeface="Calibri" pitchFamily="34" charset="0"/>
                <a:ea typeface="Calibri" pitchFamily="34" charset="-122"/>
                <a:cs typeface="Calibri" pitchFamily="34" charset="-120"/>
              </a:rPr>
              <a:t>sperm</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Evaluating contraception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7.7 • hormonal and barrier methods compared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7.7  |  14</a:t>
            </a:r>
            <a:endParaRPr lang="en-US" sz="1000" dirty="0"/>
          </a:p>
        </p:txBody>
      </p:sp>
      <p:sp>
        <p:nvSpPr>
          <p:cNvPr id="8" name="Shape 6"/>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approximate typical-use data (CDC); green = hormonal, blue = barrier, grey = non-hormonal IUD</a:t>
            </a:r>
            <a:endParaRPr lang="en-US" sz="1000" dirty="0"/>
          </a:p>
        </p:txBody>
      </p:sp>
      <p:sp>
        <p:nvSpPr>
          <p:cNvPr id="10" name="Shape 8"/>
          <p:cNvSpPr/>
          <p:nvPr/>
        </p:nvSpPr>
        <p:spPr>
          <a:xfrm>
            <a:off x="1417320" y="1417320"/>
            <a:ext cx="4343400" cy="3154680"/>
          </a:xfrm>
          <a:prstGeom prst="rect">
            <a:avLst/>
          </a:prstGeom>
          <a:solidFill>
            <a:srgbClr val="FFFFFF"/>
          </a:solidFill>
          <a:ln/>
        </p:spPr>
      </p:sp>
      <p:sp>
        <p:nvSpPr>
          <p:cNvPr id="11" name="Shape 9"/>
          <p:cNvSpPr/>
          <p:nvPr/>
        </p:nvSpPr>
        <p:spPr>
          <a:xfrm>
            <a:off x="1417320" y="1417320"/>
            <a:ext cx="91" cy="3154680"/>
          </a:xfrm>
          <a:prstGeom prst="line">
            <a:avLst/>
          </a:prstGeom>
          <a:noFill/>
          <a:ln w="6350">
            <a:solidFill>
              <a:srgbClr val="C8DDCF"/>
            </a:solidFill>
            <a:prstDash val="solid"/>
          </a:ln>
        </p:spPr>
      </p:sp>
      <p:sp>
        <p:nvSpPr>
          <p:cNvPr id="12" name="Shape 10"/>
          <p:cNvSpPr/>
          <p:nvPr/>
        </p:nvSpPr>
        <p:spPr>
          <a:xfrm>
            <a:off x="2141220" y="1417320"/>
            <a:ext cx="91" cy="3154680"/>
          </a:xfrm>
          <a:prstGeom prst="line">
            <a:avLst/>
          </a:prstGeom>
          <a:noFill/>
          <a:ln w="6350">
            <a:solidFill>
              <a:srgbClr val="C8DDCF"/>
            </a:solidFill>
            <a:prstDash val="solid"/>
          </a:ln>
        </p:spPr>
      </p:sp>
      <p:sp>
        <p:nvSpPr>
          <p:cNvPr id="13" name="Shape 11"/>
          <p:cNvSpPr/>
          <p:nvPr/>
        </p:nvSpPr>
        <p:spPr>
          <a:xfrm>
            <a:off x="2865120" y="1417320"/>
            <a:ext cx="91" cy="3154680"/>
          </a:xfrm>
          <a:prstGeom prst="line">
            <a:avLst/>
          </a:prstGeom>
          <a:noFill/>
          <a:ln w="6350">
            <a:solidFill>
              <a:srgbClr val="C8DDCF"/>
            </a:solidFill>
            <a:prstDash val="solid"/>
          </a:ln>
        </p:spPr>
      </p:sp>
      <p:sp>
        <p:nvSpPr>
          <p:cNvPr id="14" name="Shape 12"/>
          <p:cNvSpPr/>
          <p:nvPr/>
        </p:nvSpPr>
        <p:spPr>
          <a:xfrm>
            <a:off x="3589020" y="1417320"/>
            <a:ext cx="91" cy="3154680"/>
          </a:xfrm>
          <a:prstGeom prst="line">
            <a:avLst/>
          </a:prstGeom>
          <a:noFill/>
          <a:ln w="6350">
            <a:solidFill>
              <a:srgbClr val="C8DDCF"/>
            </a:solidFill>
            <a:prstDash val="solid"/>
          </a:ln>
        </p:spPr>
      </p:sp>
      <p:sp>
        <p:nvSpPr>
          <p:cNvPr id="15" name="Shape 13"/>
          <p:cNvSpPr/>
          <p:nvPr/>
        </p:nvSpPr>
        <p:spPr>
          <a:xfrm>
            <a:off x="4312920" y="1417320"/>
            <a:ext cx="91" cy="3154680"/>
          </a:xfrm>
          <a:prstGeom prst="line">
            <a:avLst/>
          </a:prstGeom>
          <a:noFill/>
          <a:ln w="6350">
            <a:solidFill>
              <a:srgbClr val="C8DDCF"/>
            </a:solidFill>
            <a:prstDash val="solid"/>
          </a:ln>
        </p:spPr>
      </p:sp>
      <p:sp>
        <p:nvSpPr>
          <p:cNvPr id="16" name="Shape 14"/>
          <p:cNvSpPr/>
          <p:nvPr/>
        </p:nvSpPr>
        <p:spPr>
          <a:xfrm>
            <a:off x="5036820" y="1417320"/>
            <a:ext cx="91" cy="3154680"/>
          </a:xfrm>
          <a:prstGeom prst="line">
            <a:avLst/>
          </a:prstGeom>
          <a:noFill/>
          <a:ln w="6350">
            <a:solidFill>
              <a:srgbClr val="C8DDCF"/>
            </a:solidFill>
            <a:prstDash val="solid"/>
          </a:ln>
        </p:spPr>
      </p:sp>
      <p:sp>
        <p:nvSpPr>
          <p:cNvPr id="17" name="Shape 15"/>
          <p:cNvSpPr/>
          <p:nvPr/>
        </p:nvSpPr>
        <p:spPr>
          <a:xfrm>
            <a:off x="5760720" y="1417320"/>
            <a:ext cx="91" cy="3154680"/>
          </a:xfrm>
          <a:prstGeom prst="line">
            <a:avLst/>
          </a:prstGeom>
          <a:noFill/>
          <a:ln w="6350">
            <a:solidFill>
              <a:srgbClr val="C8DDCF"/>
            </a:solidFill>
            <a:prstDash val="solid"/>
          </a:ln>
        </p:spPr>
      </p:sp>
      <p:sp>
        <p:nvSpPr>
          <p:cNvPr id="18" name="Shape 16"/>
          <p:cNvSpPr/>
          <p:nvPr/>
        </p:nvSpPr>
        <p:spPr>
          <a:xfrm>
            <a:off x="1417320" y="4572000"/>
            <a:ext cx="4343400" cy="91"/>
          </a:xfrm>
          <a:prstGeom prst="line">
            <a:avLst/>
          </a:prstGeom>
          <a:noFill/>
          <a:ln w="6350">
            <a:solidFill>
              <a:srgbClr val="C8DDCF"/>
            </a:solidFill>
            <a:prstDash val="solid"/>
          </a:ln>
        </p:spPr>
      </p:sp>
      <p:sp>
        <p:nvSpPr>
          <p:cNvPr id="19" name="Shape 17"/>
          <p:cNvSpPr/>
          <p:nvPr/>
        </p:nvSpPr>
        <p:spPr>
          <a:xfrm>
            <a:off x="1417320" y="3783330"/>
            <a:ext cx="4343400" cy="91"/>
          </a:xfrm>
          <a:prstGeom prst="line">
            <a:avLst/>
          </a:prstGeom>
          <a:noFill/>
          <a:ln w="6350">
            <a:solidFill>
              <a:srgbClr val="C8DDCF"/>
            </a:solidFill>
            <a:prstDash val="solid"/>
          </a:ln>
        </p:spPr>
      </p:sp>
      <p:sp>
        <p:nvSpPr>
          <p:cNvPr id="20" name="Shape 18"/>
          <p:cNvSpPr/>
          <p:nvPr/>
        </p:nvSpPr>
        <p:spPr>
          <a:xfrm>
            <a:off x="1417320" y="2994660"/>
            <a:ext cx="4343400" cy="91"/>
          </a:xfrm>
          <a:prstGeom prst="line">
            <a:avLst/>
          </a:prstGeom>
          <a:noFill/>
          <a:ln w="6350">
            <a:solidFill>
              <a:srgbClr val="C8DDCF"/>
            </a:solidFill>
            <a:prstDash val="solid"/>
          </a:ln>
        </p:spPr>
      </p:sp>
      <p:sp>
        <p:nvSpPr>
          <p:cNvPr id="21" name="Shape 19"/>
          <p:cNvSpPr/>
          <p:nvPr/>
        </p:nvSpPr>
        <p:spPr>
          <a:xfrm>
            <a:off x="1417320" y="2205990"/>
            <a:ext cx="4343400" cy="91"/>
          </a:xfrm>
          <a:prstGeom prst="line">
            <a:avLst/>
          </a:prstGeom>
          <a:noFill/>
          <a:ln w="6350">
            <a:solidFill>
              <a:srgbClr val="C8DDCF"/>
            </a:solidFill>
            <a:prstDash val="solid"/>
          </a:ln>
        </p:spPr>
      </p:sp>
      <p:sp>
        <p:nvSpPr>
          <p:cNvPr id="22" name="Shape 20"/>
          <p:cNvSpPr/>
          <p:nvPr/>
        </p:nvSpPr>
        <p:spPr>
          <a:xfrm>
            <a:off x="1417320" y="1417320"/>
            <a:ext cx="4343400" cy="91"/>
          </a:xfrm>
          <a:prstGeom prst="line">
            <a:avLst/>
          </a:prstGeom>
          <a:noFill/>
          <a:ln w="6350">
            <a:solidFill>
              <a:srgbClr val="C8DDCF"/>
            </a:solidFill>
            <a:prstDash val="solid"/>
          </a:ln>
        </p:spPr>
      </p:sp>
      <p:sp>
        <p:nvSpPr>
          <p:cNvPr id="23" name="Shape 21"/>
          <p:cNvSpPr/>
          <p:nvPr/>
        </p:nvSpPr>
        <p:spPr>
          <a:xfrm>
            <a:off x="1417320" y="4572000"/>
            <a:ext cx="4343400" cy="91"/>
          </a:xfrm>
          <a:prstGeom prst="line">
            <a:avLst/>
          </a:prstGeom>
          <a:noFill/>
          <a:ln w="19050">
            <a:solidFill>
              <a:srgbClr val="1C3A2C"/>
            </a:solidFill>
            <a:prstDash val="solid"/>
          </a:ln>
        </p:spPr>
      </p:sp>
      <p:sp>
        <p:nvSpPr>
          <p:cNvPr id="24" name="Shape 22"/>
          <p:cNvSpPr/>
          <p:nvPr/>
        </p:nvSpPr>
        <p:spPr>
          <a:xfrm flipV="1">
            <a:off x="1417320" y="1417320"/>
            <a:ext cx="91" cy="3154680"/>
          </a:xfrm>
          <a:prstGeom prst="line">
            <a:avLst/>
          </a:prstGeom>
          <a:noFill/>
          <a:ln w="19050">
            <a:solidFill>
              <a:srgbClr val="1C3A2C"/>
            </a:solidFill>
            <a:prstDash val="solid"/>
          </a:ln>
        </p:spPr>
      </p:sp>
      <p:sp>
        <p:nvSpPr>
          <p:cNvPr id="25" name="Shape 23"/>
          <p:cNvSpPr/>
          <p:nvPr/>
        </p:nvSpPr>
        <p:spPr>
          <a:xfrm>
            <a:off x="1417320" y="4572000"/>
            <a:ext cx="91" cy="54864"/>
          </a:xfrm>
          <a:prstGeom prst="line">
            <a:avLst/>
          </a:prstGeom>
          <a:noFill/>
          <a:ln w="12700">
            <a:solidFill>
              <a:srgbClr val="1C3A2C"/>
            </a:solidFill>
            <a:prstDash val="solid"/>
          </a:ln>
        </p:spPr>
      </p:sp>
      <p:sp>
        <p:nvSpPr>
          <p:cNvPr id="26" name="Text 24"/>
          <p:cNvSpPr/>
          <p:nvPr/>
        </p:nvSpPr>
        <p:spPr>
          <a:xfrm>
            <a:off x="1143000" y="4626864"/>
            <a:ext cx="548640" cy="182880"/>
          </a:xfrm>
          <a:prstGeom prst="rect">
            <a:avLst/>
          </a:prstGeom>
          <a:noFill/>
          <a:ln/>
        </p:spPr>
        <p:txBody>
          <a:bodyPr wrap="square" lIns="0" tIns="0" rIns="0" bIns="0" rtlCol="0" anchor="ctr"/>
          <a:lstStyle/>
          <a:p>
            <a:pPr algn="ctr" indent="0" marL="0">
              <a:buNone/>
            </a:pPr>
            <a:endParaRPr lang="en-US" sz="1000" dirty="0"/>
          </a:p>
        </p:txBody>
      </p:sp>
      <p:sp>
        <p:nvSpPr>
          <p:cNvPr id="27" name="Shape 25"/>
          <p:cNvSpPr/>
          <p:nvPr/>
        </p:nvSpPr>
        <p:spPr>
          <a:xfrm>
            <a:off x="2141220" y="4572000"/>
            <a:ext cx="91" cy="54864"/>
          </a:xfrm>
          <a:prstGeom prst="line">
            <a:avLst/>
          </a:prstGeom>
          <a:noFill/>
          <a:ln w="12700">
            <a:solidFill>
              <a:srgbClr val="1C3A2C"/>
            </a:solidFill>
            <a:prstDash val="solid"/>
          </a:ln>
        </p:spPr>
      </p:sp>
      <p:sp>
        <p:nvSpPr>
          <p:cNvPr id="28" name="Text 26"/>
          <p:cNvSpPr/>
          <p:nvPr/>
        </p:nvSpPr>
        <p:spPr>
          <a:xfrm>
            <a:off x="1866900" y="4626864"/>
            <a:ext cx="548640" cy="182880"/>
          </a:xfrm>
          <a:prstGeom prst="rect">
            <a:avLst/>
          </a:prstGeom>
          <a:noFill/>
          <a:ln/>
        </p:spPr>
        <p:txBody>
          <a:bodyPr wrap="square" lIns="0" tIns="0" rIns="0" bIns="0" rtlCol="0" anchor="ctr"/>
          <a:lstStyle/>
          <a:p>
            <a:pPr algn="ctr" indent="0" marL="0">
              <a:buNone/>
            </a:pPr>
            <a:endParaRPr lang="en-US" sz="1000" dirty="0"/>
          </a:p>
        </p:txBody>
      </p:sp>
      <p:sp>
        <p:nvSpPr>
          <p:cNvPr id="29" name="Shape 27"/>
          <p:cNvSpPr/>
          <p:nvPr/>
        </p:nvSpPr>
        <p:spPr>
          <a:xfrm>
            <a:off x="2865120" y="4572000"/>
            <a:ext cx="91" cy="54864"/>
          </a:xfrm>
          <a:prstGeom prst="line">
            <a:avLst/>
          </a:prstGeom>
          <a:noFill/>
          <a:ln w="12700">
            <a:solidFill>
              <a:srgbClr val="1C3A2C"/>
            </a:solidFill>
            <a:prstDash val="solid"/>
          </a:ln>
        </p:spPr>
      </p:sp>
      <p:sp>
        <p:nvSpPr>
          <p:cNvPr id="30" name="Text 28"/>
          <p:cNvSpPr/>
          <p:nvPr/>
        </p:nvSpPr>
        <p:spPr>
          <a:xfrm>
            <a:off x="2590800" y="4626864"/>
            <a:ext cx="548640" cy="182880"/>
          </a:xfrm>
          <a:prstGeom prst="rect">
            <a:avLst/>
          </a:prstGeom>
          <a:noFill/>
          <a:ln/>
        </p:spPr>
        <p:txBody>
          <a:bodyPr wrap="square" lIns="0" tIns="0" rIns="0" bIns="0" rtlCol="0" anchor="ctr"/>
          <a:lstStyle/>
          <a:p>
            <a:pPr algn="ctr" indent="0" marL="0">
              <a:buNone/>
            </a:pPr>
            <a:endParaRPr lang="en-US" sz="1000" dirty="0"/>
          </a:p>
        </p:txBody>
      </p:sp>
      <p:sp>
        <p:nvSpPr>
          <p:cNvPr id="31" name="Shape 29"/>
          <p:cNvSpPr/>
          <p:nvPr/>
        </p:nvSpPr>
        <p:spPr>
          <a:xfrm>
            <a:off x="3589020" y="4572000"/>
            <a:ext cx="91" cy="54864"/>
          </a:xfrm>
          <a:prstGeom prst="line">
            <a:avLst/>
          </a:prstGeom>
          <a:noFill/>
          <a:ln w="12700">
            <a:solidFill>
              <a:srgbClr val="1C3A2C"/>
            </a:solidFill>
            <a:prstDash val="solid"/>
          </a:ln>
        </p:spPr>
      </p:sp>
      <p:sp>
        <p:nvSpPr>
          <p:cNvPr id="32" name="Text 30"/>
          <p:cNvSpPr/>
          <p:nvPr/>
        </p:nvSpPr>
        <p:spPr>
          <a:xfrm>
            <a:off x="3314700" y="4626864"/>
            <a:ext cx="548640" cy="182880"/>
          </a:xfrm>
          <a:prstGeom prst="rect">
            <a:avLst/>
          </a:prstGeom>
          <a:noFill/>
          <a:ln/>
        </p:spPr>
        <p:txBody>
          <a:bodyPr wrap="square" lIns="0" tIns="0" rIns="0" bIns="0" rtlCol="0" anchor="ctr"/>
          <a:lstStyle/>
          <a:p>
            <a:pPr algn="ctr" indent="0" marL="0">
              <a:buNone/>
            </a:pPr>
            <a:endParaRPr lang="en-US" sz="1000" dirty="0"/>
          </a:p>
        </p:txBody>
      </p:sp>
      <p:sp>
        <p:nvSpPr>
          <p:cNvPr id="33" name="Shape 31"/>
          <p:cNvSpPr/>
          <p:nvPr/>
        </p:nvSpPr>
        <p:spPr>
          <a:xfrm>
            <a:off x="4312920" y="4572000"/>
            <a:ext cx="91" cy="54864"/>
          </a:xfrm>
          <a:prstGeom prst="line">
            <a:avLst/>
          </a:prstGeom>
          <a:noFill/>
          <a:ln w="12700">
            <a:solidFill>
              <a:srgbClr val="1C3A2C"/>
            </a:solidFill>
            <a:prstDash val="solid"/>
          </a:ln>
        </p:spPr>
      </p:sp>
      <p:sp>
        <p:nvSpPr>
          <p:cNvPr id="34" name="Text 32"/>
          <p:cNvSpPr/>
          <p:nvPr/>
        </p:nvSpPr>
        <p:spPr>
          <a:xfrm>
            <a:off x="4038600" y="4626864"/>
            <a:ext cx="548640" cy="182880"/>
          </a:xfrm>
          <a:prstGeom prst="rect">
            <a:avLst/>
          </a:prstGeom>
          <a:noFill/>
          <a:ln/>
        </p:spPr>
        <p:txBody>
          <a:bodyPr wrap="square" lIns="0" tIns="0" rIns="0" bIns="0" rtlCol="0" anchor="ctr"/>
          <a:lstStyle/>
          <a:p>
            <a:pPr algn="ctr" indent="0" marL="0">
              <a:buNone/>
            </a:pPr>
            <a:endParaRPr lang="en-US" sz="1000" dirty="0"/>
          </a:p>
        </p:txBody>
      </p:sp>
      <p:sp>
        <p:nvSpPr>
          <p:cNvPr id="35" name="Shape 33"/>
          <p:cNvSpPr/>
          <p:nvPr/>
        </p:nvSpPr>
        <p:spPr>
          <a:xfrm>
            <a:off x="5036820" y="4572000"/>
            <a:ext cx="91" cy="54864"/>
          </a:xfrm>
          <a:prstGeom prst="line">
            <a:avLst/>
          </a:prstGeom>
          <a:noFill/>
          <a:ln w="12700">
            <a:solidFill>
              <a:srgbClr val="1C3A2C"/>
            </a:solidFill>
            <a:prstDash val="solid"/>
          </a:ln>
        </p:spPr>
      </p:sp>
      <p:sp>
        <p:nvSpPr>
          <p:cNvPr id="36" name="Text 34"/>
          <p:cNvSpPr/>
          <p:nvPr/>
        </p:nvSpPr>
        <p:spPr>
          <a:xfrm>
            <a:off x="4762500" y="4626864"/>
            <a:ext cx="548640" cy="182880"/>
          </a:xfrm>
          <a:prstGeom prst="rect">
            <a:avLst/>
          </a:prstGeom>
          <a:noFill/>
          <a:ln/>
        </p:spPr>
        <p:txBody>
          <a:bodyPr wrap="square" lIns="0" tIns="0" rIns="0" bIns="0" rtlCol="0" anchor="ctr"/>
          <a:lstStyle/>
          <a:p>
            <a:pPr algn="ctr" indent="0" marL="0">
              <a:buNone/>
            </a:pPr>
            <a:endParaRPr lang="en-US" sz="1000" dirty="0"/>
          </a:p>
        </p:txBody>
      </p:sp>
      <p:sp>
        <p:nvSpPr>
          <p:cNvPr id="37" name="Shape 35"/>
          <p:cNvSpPr/>
          <p:nvPr/>
        </p:nvSpPr>
        <p:spPr>
          <a:xfrm>
            <a:off x="5760720" y="4572000"/>
            <a:ext cx="91" cy="54864"/>
          </a:xfrm>
          <a:prstGeom prst="line">
            <a:avLst/>
          </a:prstGeom>
          <a:noFill/>
          <a:ln w="12700">
            <a:solidFill>
              <a:srgbClr val="1C3A2C"/>
            </a:solidFill>
            <a:prstDash val="solid"/>
          </a:ln>
        </p:spPr>
      </p:sp>
      <p:sp>
        <p:nvSpPr>
          <p:cNvPr id="38" name="Text 36"/>
          <p:cNvSpPr/>
          <p:nvPr/>
        </p:nvSpPr>
        <p:spPr>
          <a:xfrm>
            <a:off x="5486400" y="4626864"/>
            <a:ext cx="548640" cy="182880"/>
          </a:xfrm>
          <a:prstGeom prst="rect">
            <a:avLst/>
          </a:prstGeom>
          <a:noFill/>
          <a:ln/>
        </p:spPr>
        <p:txBody>
          <a:bodyPr wrap="square" lIns="0" tIns="0" rIns="0" bIns="0" rtlCol="0" anchor="ctr"/>
          <a:lstStyle/>
          <a:p>
            <a:pPr algn="ctr" indent="0" marL="0">
              <a:buNone/>
            </a:pPr>
            <a:endParaRPr lang="en-US" sz="1000" dirty="0"/>
          </a:p>
        </p:txBody>
      </p:sp>
      <p:sp>
        <p:nvSpPr>
          <p:cNvPr id="39" name="Shape 37"/>
          <p:cNvSpPr/>
          <p:nvPr/>
        </p:nvSpPr>
        <p:spPr>
          <a:xfrm>
            <a:off x="1362456" y="4572000"/>
            <a:ext cx="54864" cy="91"/>
          </a:xfrm>
          <a:prstGeom prst="line">
            <a:avLst/>
          </a:prstGeom>
          <a:noFill/>
          <a:ln w="12700">
            <a:solidFill>
              <a:srgbClr val="1C3A2C"/>
            </a:solidFill>
            <a:prstDash val="solid"/>
          </a:ln>
        </p:spPr>
      </p:sp>
      <p:sp>
        <p:nvSpPr>
          <p:cNvPr id="40" name="Text 38"/>
          <p:cNvSpPr/>
          <p:nvPr/>
        </p:nvSpPr>
        <p:spPr>
          <a:xfrm>
            <a:off x="978408" y="4480560"/>
            <a:ext cx="365760" cy="182880"/>
          </a:xfrm>
          <a:prstGeom prst="rect">
            <a:avLst/>
          </a:prstGeom>
          <a:noFill/>
          <a:ln/>
        </p:spPr>
        <p:txBody>
          <a:bodyPr wrap="square" lIns="0" tIns="0" rIns="0" bIns="0" rtlCol="0" anchor="ctr"/>
          <a:lstStyle/>
          <a:p>
            <a:pPr algn="r" indent="0" marL="0">
              <a:buNone/>
            </a:pPr>
            <a:endParaRPr lang="en-US" sz="1000" dirty="0"/>
          </a:p>
        </p:txBody>
      </p:sp>
      <p:sp>
        <p:nvSpPr>
          <p:cNvPr id="41" name="Shape 39"/>
          <p:cNvSpPr/>
          <p:nvPr/>
        </p:nvSpPr>
        <p:spPr>
          <a:xfrm>
            <a:off x="1362456" y="3783330"/>
            <a:ext cx="54864" cy="91"/>
          </a:xfrm>
          <a:prstGeom prst="line">
            <a:avLst/>
          </a:prstGeom>
          <a:noFill/>
          <a:ln w="12700">
            <a:solidFill>
              <a:srgbClr val="1C3A2C"/>
            </a:solidFill>
            <a:prstDash val="solid"/>
          </a:ln>
        </p:spPr>
      </p:sp>
      <p:sp>
        <p:nvSpPr>
          <p:cNvPr id="42" name="Text 40"/>
          <p:cNvSpPr/>
          <p:nvPr/>
        </p:nvSpPr>
        <p:spPr>
          <a:xfrm>
            <a:off x="978408" y="3691890"/>
            <a:ext cx="365760" cy="182880"/>
          </a:xfrm>
          <a:prstGeom prst="rect">
            <a:avLst/>
          </a:prstGeom>
          <a:noFill/>
          <a:ln/>
        </p:spPr>
        <p:txBody>
          <a:bodyPr wrap="square" lIns="0" tIns="0" rIns="0" bIns="0" rtlCol="0" anchor="ctr"/>
          <a:lstStyle/>
          <a:p>
            <a:pPr algn="r" indent="0" marL="0">
              <a:buNone/>
            </a:pPr>
            <a:endParaRPr lang="en-US" sz="1000" dirty="0"/>
          </a:p>
        </p:txBody>
      </p:sp>
      <p:sp>
        <p:nvSpPr>
          <p:cNvPr id="43" name="Shape 41"/>
          <p:cNvSpPr/>
          <p:nvPr/>
        </p:nvSpPr>
        <p:spPr>
          <a:xfrm>
            <a:off x="1362456" y="2994660"/>
            <a:ext cx="54864" cy="91"/>
          </a:xfrm>
          <a:prstGeom prst="line">
            <a:avLst/>
          </a:prstGeom>
          <a:noFill/>
          <a:ln w="12700">
            <a:solidFill>
              <a:srgbClr val="1C3A2C"/>
            </a:solidFill>
            <a:prstDash val="solid"/>
          </a:ln>
        </p:spPr>
      </p:sp>
      <p:sp>
        <p:nvSpPr>
          <p:cNvPr id="44" name="Text 42"/>
          <p:cNvSpPr/>
          <p:nvPr/>
        </p:nvSpPr>
        <p:spPr>
          <a:xfrm>
            <a:off x="978408" y="2903220"/>
            <a:ext cx="365760" cy="182880"/>
          </a:xfrm>
          <a:prstGeom prst="rect">
            <a:avLst/>
          </a:prstGeom>
          <a:noFill/>
          <a:ln/>
        </p:spPr>
        <p:txBody>
          <a:bodyPr wrap="square" lIns="0" tIns="0" rIns="0" bIns="0" rtlCol="0" anchor="ctr"/>
          <a:lstStyle/>
          <a:p>
            <a:pPr algn="r" indent="0" marL="0">
              <a:buNone/>
            </a:pPr>
            <a:endParaRPr lang="en-US" sz="1000" dirty="0"/>
          </a:p>
        </p:txBody>
      </p:sp>
      <p:sp>
        <p:nvSpPr>
          <p:cNvPr id="45" name="Shape 43"/>
          <p:cNvSpPr/>
          <p:nvPr/>
        </p:nvSpPr>
        <p:spPr>
          <a:xfrm>
            <a:off x="1362456" y="2205990"/>
            <a:ext cx="54864" cy="91"/>
          </a:xfrm>
          <a:prstGeom prst="line">
            <a:avLst/>
          </a:prstGeom>
          <a:noFill/>
          <a:ln w="12700">
            <a:solidFill>
              <a:srgbClr val="1C3A2C"/>
            </a:solidFill>
            <a:prstDash val="solid"/>
          </a:ln>
        </p:spPr>
      </p:sp>
      <p:sp>
        <p:nvSpPr>
          <p:cNvPr id="46" name="Text 44"/>
          <p:cNvSpPr/>
          <p:nvPr/>
        </p:nvSpPr>
        <p:spPr>
          <a:xfrm>
            <a:off x="978408" y="2114550"/>
            <a:ext cx="365760" cy="182880"/>
          </a:xfrm>
          <a:prstGeom prst="rect">
            <a:avLst/>
          </a:prstGeom>
          <a:noFill/>
          <a:ln/>
        </p:spPr>
        <p:txBody>
          <a:bodyPr wrap="square" lIns="0" tIns="0" rIns="0" bIns="0" rtlCol="0" anchor="ctr"/>
          <a:lstStyle/>
          <a:p>
            <a:pPr algn="r" indent="0" marL="0">
              <a:buNone/>
            </a:pPr>
            <a:endParaRPr lang="en-US" sz="1000" dirty="0"/>
          </a:p>
        </p:txBody>
      </p:sp>
      <p:sp>
        <p:nvSpPr>
          <p:cNvPr id="47" name="Shape 45"/>
          <p:cNvSpPr/>
          <p:nvPr/>
        </p:nvSpPr>
        <p:spPr>
          <a:xfrm>
            <a:off x="1362456" y="1417320"/>
            <a:ext cx="54864" cy="91"/>
          </a:xfrm>
          <a:prstGeom prst="line">
            <a:avLst/>
          </a:prstGeom>
          <a:noFill/>
          <a:ln w="12700">
            <a:solidFill>
              <a:srgbClr val="1C3A2C"/>
            </a:solidFill>
            <a:prstDash val="solid"/>
          </a:ln>
        </p:spPr>
      </p:sp>
      <p:sp>
        <p:nvSpPr>
          <p:cNvPr id="48" name="Text 46"/>
          <p:cNvSpPr/>
          <p:nvPr/>
        </p:nvSpPr>
        <p:spPr>
          <a:xfrm>
            <a:off x="978408" y="1325880"/>
            <a:ext cx="365760" cy="182880"/>
          </a:xfrm>
          <a:prstGeom prst="rect">
            <a:avLst/>
          </a:prstGeom>
          <a:noFill/>
          <a:ln/>
        </p:spPr>
        <p:txBody>
          <a:bodyPr wrap="square" lIns="0" tIns="0" rIns="0" bIns="0" rtlCol="0" anchor="ctr"/>
          <a:lstStyle/>
          <a:p>
            <a:pPr algn="r" indent="0" marL="0">
              <a:buNone/>
            </a:pPr>
            <a:endParaRPr lang="en-US" sz="1000" dirty="0"/>
          </a:p>
        </p:txBody>
      </p:sp>
      <p:sp>
        <p:nvSpPr>
          <p:cNvPr id="49" name="Text 47"/>
          <p:cNvSpPr/>
          <p:nvPr/>
        </p:nvSpPr>
        <p:spPr>
          <a:xfrm rot="16200000">
            <a:off x="-726948" y="2866644"/>
            <a:ext cx="31546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pregnancies per 100 women per year</a:t>
            </a:r>
            <a:endParaRPr lang="en-US" sz="1050" dirty="0"/>
          </a:p>
        </p:txBody>
      </p:sp>
      <p:sp>
        <p:nvSpPr>
          <p:cNvPr id="50" name="Shape 48"/>
          <p:cNvSpPr/>
          <p:nvPr/>
        </p:nvSpPr>
        <p:spPr>
          <a:xfrm>
            <a:off x="1550670" y="4556227"/>
            <a:ext cx="457200" cy="15773"/>
          </a:xfrm>
          <a:prstGeom prst="rect">
            <a:avLst/>
          </a:prstGeom>
          <a:solidFill>
            <a:srgbClr val="2E8B57"/>
          </a:solidFill>
          <a:ln w="9525">
            <a:solidFill>
              <a:srgbClr val="2E8B57"/>
            </a:solidFill>
            <a:prstDash val="solid"/>
          </a:ln>
        </p:spPr>
      </p:sp>
      <p:sp>
        <p:nvSpPr>
          <p:cNvPr id="51" name="Text 49"/>
          <p:cNvSpPr/>
          <p:nvPr/>
        </p:nvSpPr>
        <p:spPr>
          <a:xfrm>
            <a:off x="1413510" y="4327627"/>
            <a:ext cx="731520" cy="256032"/>
          </a:xfrm>
          <a:prstGeom prst="rect">
            <a:avLst/>
          </a:prstGeom>
          <a:noFill/>
          <a:ln/>
        </p:spPr>
        <p:txBody>
          <a:bodyPr wrap="square" lIns="0" tIns="0" rIns="0" bIns="0" rtlCol="0" anchor="ctr"/>
          <a:lstStyle/>
          <a:p>
            <a:pPr algn="ctr" indent="0" marL="0">
              <a:buNone/>
            </a:pPr>
            <a:r>
              <a:rPr lang="en-US" sz="1050" b="1" dirty="0">
                <a:solidFill>
                  <a:srgbClr val="2E8B57"/>
                </a:solidFill>
                <a:latin typeface="Calibri" pitchFamily="34" charset="0"/>
                <a:ea typeface="Calibri" pitchFamily="34" charset="-122"/>
                <a:cs typeface="Calibri" pitchFamily="34" charset="-120"/>
              </a:rPr>
              <a:t>0.1</a:t>
            </a:r>
            <a:endParaRPr lang="en-US" sz="1050" dirty="0"/>
          </a:p>
        </p:txBody>
      </p:sp>
      <p:sp>
        <p:nvSpPr>
          <p:cNvPr id="52" name="Text 50"/>
          <p:cNvSpPr/>
          <p:nvPr/>
        </p:nvSpPr>
        <p:spPr>
          <a:xfrm>
            <a:off x="1413510" y="4626864"/>
            <a:ext cx="73152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Implant</a:t>
            </a:r>
            <a:endParaRPr lang="en-US" sz="1000" dirty="0"/>
          </a:p>
        </p:txBody>
      </p:sp>
      <p:sp>
        <p:nvSpPr>
          <p:cNvPr id="53" name="Shape 51"/>
          <p:cNvSpPr/>
          <p:nvPr/>
        </p:nvSpPr>
        <p:spPr>
          <a:xfrm>
            <a:off x="2274570" y="4445813"/>
            <a:ext cx="457200" cy="126187"/>
          </a:xfrm>
          <a:prstGeom prst="rect">
            <a:avLst/>
          </a:prstGeom>
          <a:solidFill>
            <a:srgbClr val="6B7385"/>
          </a:solidFill>
          <a:ln w="9525">
            <a:solidFill>
              <a:srgbClr val="6B7385"/>
            </a:solidFill>
            <a:prstDash val="solid"/>
          </a:ln>
        </p:spPr>
      </p:sp>
      <p:sp>
        <p:nvSpPr>
          <p:cNvPr id="54" name="Text 52"/>
          <p:cNvSpPr/>
          <p:nvPr/>
        </p:nvSpPr>
        <p:spPr>
          <a:xfrm>
            <a:off x="2137410" y="4217213"/>
            <a:ext cx="731520" cy="256032"/>
          </a:xfrm>
          <a:prstGeom prst="rect">
            <a:avLst/>
          </a:prstGeom>
          <a:noFill/>
          <a:ln/>
        </p:spPr>
        <p:txBody>
          <a:bodyPr wrap="square" lIns="0" tIns="0" rIns="0" bIns="0" rtlCol="0" anchor="ctr"/>
          <a:lstStyle/>
          <a:p>
            <a:pPr algn="ctr" indent="0" marL="0">
              <a:buNone/>
            </a:pPr>
            <a:r>
              <a:rPr lang="en-US" sz="1050" b="1" dirty="0">
                <a:solidFill>
                  <a:srgbClr val="6B7385"/>
                </a:solidFill>
                <a:latin typeface="Calibri" pitchFamily="34" charset="0"/>
                <a:ea typeface="Calibri" pitchFamily="34" charset="-122"/>
                <a:cs typeface="Calibri" pitchFamily="34" charset="-120"/>
              </a:rPr>
              <a:t>0.8</a:t>
            </a:r>
            <a:endParaRPr lang="en-US" sz="1050" dirty="0"/>
          </a:p>
        </p:txBody>
      </p:sp>
      <p:sp>
        <p:nvSpPr>
          <p:cNvPr id="55" name="Text 53"/>
          <p:cNvSpPr/>
          <p:nvPr/>
        </p:nvSpPr>
        <p:spPr>
          <a:xfrm>
            <a:off x="2137410" y="4626864"/>
            <a:ext cx="73152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Copper IUD</a:t>
            </a:r>
            <a:endParaRPr lang="en-US" sz="1000" dirty="0"/>
          </a:p>
        </p:txBody>
      </p:sp>
      <p:sp>
        <p:nvSpPr>
          <p:cNvPr id="56" name="Shape 54"/>
          <p:cNvSpPr/>
          <p:nvPr/>
        </p:nvSpPr>
        <p:spPr>
          <a:xfrm>
            <a:off x="2998470" y="3941064"/>
            <a:ext cx="457200" cy="630936"/>
          </a:xfrm>
          <a:prstGeom prst="rect">
            <a:avLst/>
          </a:prstGeom>
          <a:solidFill>
            <a:srgbClr val="2E8B57"/>
          </a:solidFill>
          <a:ln w="9525">
            <a:solidFill>
              <a:srgbClr val="2E8B57"/>
            </a:solidFill>
            <a:prstDash val="solid"/>
          </a:ln>
        </p:spPr>
      </p:sp>
      <p:sp>
        <p:nvSpPr>
          <p:cNvPr id="57" name="Text 55"/>
          <p:cNvSpPr/>
          <p:nvPr/>
        </p:nvSpPr>
        <p:spPr>
          <a:xfrm>
            <a:off x="2861310" y="3712464"/>
            <a:ext cx="731520" cy="256032"/>
          </a:xfrm>
          <a:prstGeom prst="rect">
            <a:avLst/>
          </a:prstGeom>
          <a:noFill/>
          <a:ln/>
        </p:spPr>
        <p:txBody>
          <a:bodyPr wrap="square" lIns="0" tIns="0" rIns="0" bIns="0" rtlCol="0" anchor="ctr"/>
          <a:lstStyle/>
          <a:p>
            <a:pPr algn="ctr" indent="0" marL="0">
              <a:buNone/>
            </a:pPr>
            <a:r>
              <a:rPr lang="en-US" sz="1050" b="1" dirty="0">
                <a:solidFill>
                  <a:srgbClr val="2E8B57"/>
                </a:solidFill>
                <a:latin typeface="Calibri" pitchFamily="34" charset="0"/>
                <a:ea typeface="Calibri" pitchFamily="34" charset="-122"/>
                <a:cs typeface="Calibri" pitchFamily="34" charset="-120"/>
              </a:rPr>
              <a:t>4</a:t>
            </a:r>
            <a:endParaRPr lang="en-US" sz="1050" dirty="0"/>
          </a:p>
        </p:txBody>
      </p:sp>
      <p:sp>
        <p:nvSpPr>
          <p:cNvPr id="58" name="Text 56"/>
          <p:cNvSpPr/>
          <p:nvPr/>
        </p:nvSpPr>
        <p:spPr>
          <a:xfrm>
            <a:off x="2861310" y="4626864"/>
            <a:ext cx="73152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Injection</a:t>
            </a:r>
            <a:endParaRPr lang="en-US" sz="1000" dirty="0"/>
          </a:p>
        </p:txBody>
      </p:sp>
      <p:sp>
        <p:nvSpPr>
          <p:cNvPr id="59" name="Shape 57"/>
          <p:cNvSpPr/>
          <p:nvPr/>
        </p:nvSpPr>
        <p:spPr>
          <a:xfrm>
            <a:off x="3722370" y="3467862"/>
            <a:ext cx="457200" cy="1104138"/>
          </a:xfrm>
          <a:prstGeom prst="rect">
            <a:avLst/>
          </a:prstGeom>
          <a:solidFill>
            <a:srgbClr val="2E8B57"/>
          </a:solidFill>
          <a:ln w="9525">
            <a:solidFill>
              <a:srgbClr val="2E8B57"/>
            </a:solidFill>
            <a:prstDash val="solid"/>
          </a:ln>
        </p:spPr>
      </p:sp>
      <p:sp>
        <p:nvSpPr>
          <p:cNvPr id="60" name="Text 58"/>
          <p:cNvSpPr/>
          <p:nvPr/>
        </p:nvSpPr>
        <p:spPr>
          <a:xfrm>
            <a:off x="3585210" y="3239262"/>
            <a:ext cx="731520" cy="256032"/>
          </a:xfrm>
          <a:prstGeom prst="rect">
            <a:avLst/>
          </a:prstGeom>
          <a:noFill/>
          <a:ln/>
        </p:spPr>
        <p:txBody>
          <a:bodyPr wrap="square" lIns="0" tIns="0" rIns="0" bIns="0" rtlCol="0" anchor="ctr"/>
          <a:lstStyle/>
          <a:p>
            <a:pPr algn="ctr" indent="0" marL="0">
              <a:buNone/>
            </a:pPr>
            <a:r>
              <a:rPr lang="en-US" sz="1050" b="1" dirty="0">
                <a:solidFill>
                  <a:srgbClr val="2E8B57"/>
                </a:solidFill>
                <a:latin typeface="Calibri" pitchFamily="34" charset="0"/>
                <a:ea typeface="Calibri" pitchFamily="34" charset="-122"/>
                <a:cs typeface="Calibri" pitchFamily="34" charset="-120"/>
              </a:rPr>
              <a:t>7</a:t>
            </a:r>
            <a:endParaRPr lang="en-US" sz="1050" dirty="0"/>
          </a:p>
        </p:txBody>
      </p:sp>
      <p:sp>
        <p:nvSpPr>
          <p:cNvPr id="61" name="Text 59"/>
          <p:cNvSpPr/>
          <p:nvPr/>
        </p:nvSpPr>
        <p:spPr>
          <a:xfrm>
            <a:off x="3585210" y="4626864"/>
            <a:ext cx="73152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Pill</a:t>
            </a:r>
            <a:endParaRPr lang="en-US" sz="1000" dirty="0"/>
          </a:p>
        </p:txBody>
      </p:sp>
      <p:sp>
        <p:nvSpPr>
          <p:cNvPr id="62" name="Shape 60"/>
          <p:cNvSpPr/>
          <p:nvPr/>
        </p:nvSpPr>
        <p:spPr>
          <a:xfrm>
            <a:off x="4446270" y="2521458"/>
            <a:ext cx="457200" cy="2050542"/>
          </a:xfrm>
          <a:prstGeom prst="rect">
            <a:avLst/>
          </a:prstGeom>
          <a:solidFill>
            <a:srgbClr val="3B7DD8"/>
          </a:solidFill>
          <a:ln w="9525">
            <a:solidFill>
              <a:srgbClr val="3B7DD8"/>
            </a:solidFill>
            <a:prstDash val="solid"/>
          </a:ln>
        </p:spPr>
      </p:sp>
      <p:sp>
        <p:nvSpPr>
          <p:cNvPr id="63" name="Text 61"/>
          <p:cNvSpPr/>
          <p:nvPr/>
        </p:nvSpPr>
        <p:spPr>
          <a:xfrm>
            <a:off x="4309110" y="2292858"/>
            <a:ext cx="731520" cy="256032"/>
          </a:xfrm>
          <a:prstGeom prst="rect">
            <a:avLst/>
          </a:prstGeom>
          <a:noFill/>
          <a:ln/>
        </p:spPr>
        <p:txBody>
          <a:bodyPr wrap="square" lIns="0" tIns="0" rIns="0" bIns="0" rtlCol="0" anchor="ctr"/>
          <a:lstStyle/>
          <a:p>
            <a:pPr algn="ctr" indent="0" marL="0">
              <a:buNone/>
            </a:pPr>
            <a:r>
              <a:rPr lang="en-US" sz="1050" b="1" dirty="0">
                <a:solidFill>
                  <a:srgbClr val="3B7DD8"/>
                </a:solidFill>
                <a:latin typeface="Calibri" pitchFamily="34" charset="0"/>
                <a:ea typeface="Calibri" pitchFamily="34" charset="-122"/>
                <a:cs typeface="Calibri" pitchFamily="34" charset="-120"/>
              </a:rPr>
              <a:t>13</a:t>
            </a:r>
            <a:endParaRPr lang="en-US" sz="1050" dirty="0"/>
          </a:p>
        </p:txBody>
      </p:sp>
      <p:sp>
        <p:nvSpPr>
          <p:cNvPr id="64" name="Text 62"/>
          <p:cNvSpPr/>
          <p:nvPr/>
        </p:nvSpPr>
        <p:spPr>
          <a:xfrm>
            <a:off x="4309110" y="4626864"/>
            <a:ext cx="73152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Male condom</a:t>
            </a:r>
            <a:endParaRPr lang="en-US" sz="1000" dirty="0"/>
          </a:p>
        </p:txBody>
      </p:sp>
      <p:sp>
        <p:nvSpPr>
          <p:cNvPr id="65" name="Shape 63"/>
          <p:cNvSpPr/>
          <p:nvPr/>
        </p:nvSpPr>
        <p:spPr>
          <a:xfrm>
            <a:off x="5170170" y="1890522"/>
            <a:ext cx="457200" cy="2681478"/>
          </a:xfrm>
          <a:prstGeom prst="rect">
            <a:avLst/>
          </a:prstGeom>
          <a:solidFill>
            <a:srgbClr val="3B7DD8"/>
          </a:solidFill>
          <a:ln w="9525">
            <a:solidFill>
              <a:srgbClr val="3B7DD8"/>
            </a:solidFill>
            <a:prstDash val="solid"/>
          </a:ln>
        </p:spPr>
      </p:sp>
      <p:sp>
        <p:nvSpPr>
          <p:cNvPr id="66" name="Text 64"/>
          <p:cNvSpPr/>
          <p:nvPr/>
        </p:nvSpPr>
        <p:spPr>
          <a:xfrm>
            <a:off x="5033010" y="1661922"/>
            <a:ext cx="731520" cy="256032"/>
          </a:xfrm>
          <a:prstGeom prst="rect">
            <a:avLst/>
          </a:prstGeom>
          <a:noFill/>
          <a:ln/>
        </p:spPr>
        <p:txBody>
          <a:bodyPr wrap="square" lIns="0" tIns="0" rIns="0" bIns="0" rtlCol="0" anchor="ctr"/>
          <a:lstStyle/>
          <a:p>
            <a:pPr algn="ctr" indent="0" marL="0">
              <a:buNone/>
            </a:pPr>
            <a:r>
              <a:rPr lang="en-US" sz="1050" b="1" dirty="0">
                <a:solidFill>
                  <a:srgbClr val="3B7DD8"/>
                </a:solidFill>
                <a:latin typeface="Calibri" pitchFamily="34" charset="0"/>
                <a:ea typeface="Calibri" pitchFamily="34" charset="-122"/>
                <a:cs typeface="Calibri" pitchFamily="34" charset="-120"/>
              </a:rPr>
              <a:t>17</a:t>
            </a:r>
            <a:endParaRPr lang="en-US" sz="1050" dirty="0"/>
          </a:p>
        </p:txBody>
      </p:sp>
      <p:sp>
        <p:nvSpPr>
          <p:cNvPr id="67" name="Text 65"/>
          <p:cNvSpPr/>
          <p:nvPr/>
        </p:nvSpPr>
        <p:spPr>
          <a:xfrm>
            <a:off x="5033010" y="4626864"/>
            <a:ext cx="73152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Diaphragm</a:t>
            </a:r>
            <a:endParaRPr lang="en-US" sz="1000" dirty="0"/>
          </a:p>
        </p:txBody>
      </p:sp>
      <p:sp>
        <p:nvSpPr>
          <p:cNvPr id="68" name="Text 66"/>
          <p:cNvSpPr/>
          <p:nvPr/>
        </p:nvSpPr>
        <p:spPr>
          <a:xfrm>
            <a:off x="640080" y="5029200"/>
            <a:ext cx="5212080" cy="27432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Typical use = how people really use it (missed pills, condom errors).</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143000"/>
                <a:gridCol w="2212848"/>
                <a:gridCol w="2203704"/>
              </a:tblGrid>
              <a:tr h="411480">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1C3A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Hormonal (pill, implant, injection)</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1C3A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Barrier (condom, diaphragm)</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1C3A2C"/>
                    </a:solidFill>
                  </a:tcPr>
                </a:tc>
              </a:tr>
              <a:tr h="960120">
                <a:tc>
                  <a:txBody>
                    <a:bodyPr/>
                    <a:lstStyle/>
                    <a:p>
                      <a:pPr indent="0" marL="0">
                        <a:buNone/>
                      </a:pPr>
                      <a:r>
                        <a:rPr lang="en-US" sz="1050" b="1" dirty="0">
                          <a:solidFill>
                            <a:srgbClr val="1C3A2C"/>
                          </a:solidFill>
                          <a:latin typeface="Calibri" pitchFamily="34" charset="0"/>
                          <a:ea typeface="Calibri" pitchFamily="34" charset="-122"/>
                          <a:cs typeface="Calibri" pitchFamily="34" charset="-120"/>
                        </a:rPr>
                        <a:t>Advantages</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very effective; implant/injection last months–years; can reduce heavy periods</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no hormone side effects; **condoms protect against STIs**; used only when needed</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r>
              <a:tr h="960120">
                <a:tc>
                  <a:txBody>
                    <a:bodyPr/>
                    <a:lstStyle/>
                    <a:p>
                      <a:pPr indent="0" marL="0">
                        <a:buNone/>
                      </a:pPr>
                      <a:r>
                        <a:rPr lang="en-US" sz="1050" b="1" dirty="0">
                          <a:solidFill>
                            <a:srgbClr val="1C3A2C"/>
                          </a:solidFill>
                          <a:latin typeface="Calibri" pitchFamily="34" charset="0"/>
                          <a:ea typeface="Calibri" pitchFamily="34" charset="-122"/>
                          <a:cs typeface="Calibri" pitchFamily="34" charset="-120"/>
                        </a:rPr>
                        <a:t>Disadvantages</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side effects (mood, weight, blood clots); **no STI protection**; pill must be taken daily</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less effective in typical use; can split or slip; must be used every time</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r>
            </a:tbl>
          </a:graphicData>
        </a:graphic>
      </p:graphicFrame>
      <p:sp>
        <p:nvSpPr>
          <p:cNvPr id="70" name="Shape 67"/>
          <p:cNvSpPr/>
          <p:nvPr/>
        </p:nvSpPr>
        <p:spPr>
          <a:xfrm>
            <a:off x="6217920" y="3703320"/>
            <a:ext cx="5559552" cy="2011680"/>
          </a:xfrm>
          <a:prstGeom prst="roundRect">
            <a:avLst>
              <a:gd name="adj" fmla="val 2727"/>
            </a:avLst>
          </a:prstGeom>
          <a:solidFill>
            <a:srgbClr val="FFF4E0"/>
          </a:solidFill>
          <a:ln w="9525">
            <a:solidFill>
              <a:srgbClr val="F1D9A8"/>
            </a:solidFill>
            <a:prstDash val="solid"/>
          </a:ln>
        </p:spPr>
      </p:sp>
      <p:sp>
        <p:nvSpPr>
          <p:cNvPr id="71" name="Text 68"/>
          <p:cNvSpPr/>
          <p:nvPr/>
        </p:nvSpPr>
        <p:spPr>
          <a:xfrm>
            <a:off x="6382512" y="37764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evaluate (use the data)</a:t>
            </a:r>
            <a:endParaRPr lang="en-US" sz="1300" dirty="0"/>
          </a:p>
        </p:txBody>
      </p:sp>
      <p:sp>
        <p:nvSpPr>
          <p:cNvPr id="72" name="Text 69"/>
          <p:cNvSpPr/>
          <p:nvPr/>
        </p:nvSpPr>
        <p:spPr>
          <a:xfrm>
            <a:off x="6382512" y="4087368"/>
            <a:ext cx="5230368" cy="15544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Compare the pill and the male condom.</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1 Data   </a:t>
            </a:r>
            <a:r>
              <a:rPr lang="en-US" sz="1050" dirty="0">
                <a:solidFill>
                  <a:srgbClr val="262B3A"/>
                </a:solidFill>
                <a:latin typeface="Calibri" pitchFamily="34" charset="0"/>
                <a:ea typeface="Calibri" pitchFamily="34" charset="-122"/>
                <a:cs typeface="Calibri" pitchFamily="34" charset="-120"/>
              </a:rPr>
              <a:t>pill 7, condom 13 pregnancies per 100 → about 93% vs 87% effective</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2 For pill   </a:t>
            </a:r>
            <a:r>
              <a:rPr lang="en-US" sz="1050" dirty="0">
                <a:solidFill>
                  <a:srgbClr val="262B3A"/>
                </a:solidFill>
                <a:latin typeface="Calibri" pitchFamily="34" charset="0"/>
                <a:ea typeface="Calibri" pitchFamily="34" charset="-122"/>
                <a:cs typeface="Calibri" pitchFamily="34" charset="-120"/>
              </a:rPr>
              <a:t>more effective; no interruption</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3 For condom   </a:t>
            </a:r>
            <a:r>
              <a:rPr lang="en-US" sz="1050" dirty="0">
                <a:solidFill>
                  <a:srgbClr val="262B3A"/>
                </a:solidFill>
                <a:latin typeface="Calibri" pitchFamily="34" charset="0"/>
                <a:ea typeface="Calibri" pitchFamily="34" charset="-122"/>
                <a:cs typeface="Calibri" pitchFamily="34" charset="-120"/>
              </a:rPr>
              <a:t>protects against STIs; no hormones</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4 Judgement   </a:t>
            </a:r>
            <a:r>
              <a:rPr lang="en-US" sz="1050" b="1" dirty="0">
                <a:solidFill>
                  <a:srgbClr val="C8414C"/>
                </a:solidFill>
                <a:latin typeface="Calibri" pitchFamily="34" charset="0"/>
                <a:ea typeface="Calibri" pitchFamily="34" charset="-122"/>
                <a:cs typeface="Calibri" pitchFamily="34" charset="-120"/>
              </a:rPr>
              <a:t>pill + condom together gives both benefits</a:t>
            </a:r>
            <a:endParaRPr lang="en-US" sz="1050" dirty="0"/>
          </a:p>
        </p:txBody>
      </p:sp>
      <p:sp>
        <p:nvSpPr>
          <p:cNvPr id="73" name="Shape 70"/>
          <p:cNvSpPr/>
          <p:nvPr/>
        </p:nvSpPr>
        <p:spPr>
          <a:xfrm>
            <a:off x="411480" y="5833872"/>
            <a:ext cx="11368735" cy="530352"/>
          </a:xfrm>
          <a:prstGeom prst="rect">
            <a:avLst/>
          </a:prstGeom>
          <a:solidFill>
            <a:srgbClr val="FFF4E0"/>
          </a:solidFill>
          <a:ln w="6350">
            <a:solidFill>
              <a:srgbClr val="F1D9A8"/>
            </a:solidFill>
            <a:prstDash val="solid"/>
          </a:ln>
        </p:spPr>
      </p:sp>
      <p:sp>
        <p:nvSpPr>
          <p:cNvPr id="74" name="Shape 71"/>
          <p:cNvSpPr/>
          <p:nvPr/>
        </p:nvSpPr>
        <p:spPr>
          <a:xfrm>
            <a:off x="411480" y="5833872"/>
            <a:ext cx="82296" cy="530352"/>
          </a:xfrm>
          <a:prstGeom prst="rect">
            <a:avLst/>
          </a:prstGeom>
          <a:solidFill>
            <a:srgbClr val="E39A2F"/>
          </a:solidFill>
          <a:ln w="12700">
            <a:solidFill>
              <a:srgbClr val="E39A2F"/>
            </a:solidFill>
            <a:prstDash val="solid"/>
          </a:ln>
        </p:spPr>
      </p:sp>
      <p:sp>
        <p:nvSpPr>
          <p:cNvPr id="75" name="Text 7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advantage of a barrier method over a hormonal method, and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advantage of the implant over the pill.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Hormones in assisted reproduction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7.8 • clomifene therapy and IVF</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7.8  |  15</a:t>
            </a:r>
            <a:endParaRPr lang="en-US" sz="1000" dirty="0"/>
          </a:p>
        </p:txBody>
      </p:sp>
      <p:sp>
        <p:nvSpPr>
          <p:cNvPr id="10" name="Shape 8"/>
          <p:cNvSpPr/>
          <p:nvPr/>
        </p:nvSpPr>
        <p:spPr>
          <a:xfrm>
            <a:off x="411480" y="1188720"/>
            <a:ext cx="6675120" cy="4526280"/>
          </a:xfrm>
          <a:prstGeom prst="roundRect">
            <a:avLst>
              <a:gd name="adj" fmla="val 1616"/>
            </a:avLst>
          </a:prstGeom>
          <a:solidFill>
            <a:srgbClr val="EEF6F0"/>
          </a:solidFill>
          <a:ln w="9525">
            <a:solidFill>
              <a:srgbClr val="D6E8DC"/>
            </a:solidFill>
            <a:prstDash val="solid"/>
          </a:ln>
        </p:spPr>
      </p:sp>
      <p:sp>
        <p:nvSpPr>
          <p:cNvPr id="11" name="Text 9"/>
          <p:cNvSpPr/>
          <p:nvPr/>
        </p:nvSpPr>
        <p:spPr>
          <a:xfrm>
            <a:off x="548640" y="5404104"/>
            <a:ext cx="640080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IVF in five steps; clomifene therapy in the top strip</a:t>
            </a:r>
            <a:endParaRPr lang="en-US" sz="1000" dirty="0"/>
          </a:p>
        </p:txBody>
      </p:sp>
      <p:sp>
        <p:nvSpPr>
          <p:cNvPr id="12" name="Shape 10"/>
          <p:cNvSpPr/>
          <p:nvPr/>
        </p:nvSpPr>
        <p:spPr>
          <a:xfrm>
            <a:off x="594360" y="1325880"/>
            <a:ext cx="6309360" cy="868680"/>
          </a:xfrm>
          <a:prstGeom prst="roundRect">
            <a:avLst>
              <a:gd name="adj" fmla="val 6316"/>
            </a:avLst>
          </a:prstGeom>
          <a:solidFill>
            <a:srgbClr val="FFFFFF"/>
          </a:solidFill>
          <a:ln w="15875">
            <a:solidFill>
              <a:srgbClr val="2F6DB5"/>
            </a:solidFill>
            <a:prstDash val="solid"/>
          </a:ln>
        </p:spPr>
      </p:sp>
      <p:sp>
        <p:nvSpPr>
          <p:cNvPr id="13" name="Text 11"/>
          <p:cNvSpPr/>
          <p:nvPr/>
        </p:nvSpPr>
        <p:spPr>
          <a:xfrm>
            <a:off x="731520" y="1371600"/>
            <a:ext cx="1828800" cy="256032"/>
          </a:xfrm>
          <a:prstGeom prst="rect">
            <a:avLst/>
          </a:prstGeom>
          <a:noFill/>
          <a:ln/>
        </p:spPr>
        <p:txBody>
          <a:bodyPr wrap="square" lIns="0" tIns="0" rIns="0" bIns="0" rtlCol="0" anchor="ctr"/>
          <a:lstStyle/>
          <a:p>
            <a:pPr algn="l" indent="0" marL="0">
              <a:buNone/>
            </a:pPr>
            <a:r>
              <a:rPr lang="en-US" sz="1150" b="1" dirty="0">
                <a:solidFill>
                  <a:srgbClr val="1F4E8C"/>
                </a:solidFill>
                <a:latin typeface="Calibri" pitchFamily="34" charset="0"/>
                <a:ea typeface="Calibri" pitchFamily="34" charset="-122"/>
                <a:cs typeface="Calibri" pitchFamily="34" charset="-120"/>
              </a:rPr>
              <a:t>Clomifene therapy</a:t>
            </a:r>
            <a:endParaRPr lang="en-US" sz="1150" dirty="0"/>
          </a:p>
        </p:txBody>
      </p:sp>
      <p:sp>
        <p:nvSpPr>
          <p:cNvPr id="14" name="Text 12"/>
          <p:cNvSpPr/>
          <p:nvPr/>
        </p:nvSpPr>
        <p:spPr>
          <a:xfrm>
            <a:off x="731520" y="1645920"/>
            <a:ext cx="6035040" cy="45720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tablets → pituitary releases </a:t>
            </a:r>
            <a:r>
              <a:rPr lang="en-US" sz="1050" b="1" dirty="0">
                <a:solidFill>
                  <a:srgbClr val="262B3A"/>
                </a:solidFill>
                <a:latin typeface="Calibri" pitchFamily="34" charset="0"/>
                <a:ea typeface="Calibri" pitchFamily="34" charset="-122"/>
                <a:cs typeface="Calibri" pitchFamily="34" charset="-120"/>
              </a:rPr>
              <a:t>more FSH and LH</a:t>
            </a:r>
            <a:r>
              <a:rPr lang="en-US" sz="1050" dirty="0">
                <a:solidFill>
                  <a:srgbClr val="262B3A"/>
                </a:solidFill>
                <a:latin typeface="Calibri" pitchFamily="34" charset="0"/>
                <a:ea typeface="Calibri" pitchFamily="34" charset="-122"/>
                <a:cs typeface="Calibri" pitchFamily="34" charset="-120"/>
              </a:rPr>
              <a:t> → eggs mature and </a:t>
            </a:r>
            <a:r>
              <a:rPr lang="en-US" sz="1050" b="1" dirty="0">
                <a:solidFill>
                  <a:srgbClr val="262B3A"/>
                </a:solidFill>
                <a:latin typeface="Calibri" pitchFamily="34" charset="0"/>
                <a:ea typeface="Calibri" pitchFamily="34" charset="-122"/>
                <a:cs typeface="Calibri" pitchFamily="34" charset="-120"/>
              </a:rPr>
              <a:t>ovulation</a:t>
            </a:r>
            <a:r>
              <a:rPr lang="en-US" sz="1050" dirty="0">
                <a:solidFill>
                  <a:srgbClr val="262B3A"/>
                </a:solidFill>
                <a:latin typeface="Calibri" pitchFamily="34" charset="0"/>
                <a:ea typeface="Calibri" pitchFamily="34" charset="-122"/>
                <a:cs typeface="Calibri" pitchFamily="34" charset="-120"/>
              </a:rPr>
              <a:t> happens → conceive naturally</a:t>
            </a:r>
            <a:endParaRPr lang="en-US" sz="1050" dirty="0"/>
          </a:p>
        </p:txBody>
      </p:sp>
      <p:sp>
        <p:nvSpPr>
          <p:cNvPr id="15" name="Shape 13"/>
          <p:cNvSpPr/>
          <p:nvPr/>
        </p:nvSpPr>
        <p:spPr>
          <a:xfrm>
            <a:off x="594360" y="2377440"/>
            <a:ext cx="1143000" cy="2651760"/>
          </a:xfrm>
          <a:prstGeom prst="roundRect">
            <a:avLst>
              <a:gd name="adj" fmla="val 4800"/>
            </a:avLst>
          </a:prstGeom>
          <a:solidFill>
            <a:srgbClr val="FFFFFF"/>
          </a:solidFill>
          <a:ln w="12700">
            <a:solidFill>
              <a:srgbClr val="D2E5D8"/>
            </a:solidFill>
            <a:prstDash val="solid"/>
          </a:ln>
        </p:spPr>
      </p:sp>
      <p:sp>
        <p:nvSpPr>
          <p:cNvPr id="16" name="Text 14"/>
          <p:cNvSpPr/>
          <p:nvPr/>
        </p:nvSpPr>
        <p:spPr>
          <a:xfrm>
            <a:off x="640080" y="2432304"/>
            <a:ext cx="1051560" cy="6400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1 </a:t>
            </a:r>
            <a:r>
              <a:rPr lang="en-US" sz="1050" b="1" dirty="0">
                <a:solidFill>
                  <a:srgbClr val="262B3A"/>
                </a:solidFill>
                <a:latin typeface="Calibri" pitchFamily="34" charset="0"/>
                <a:ea typeface="Calibri" pitchFamily="34" charset="-122"/>
                <a:cs typeface="Calibri" pitchFamily="34" charset="-120"/>
              </a:rPr>
              <a:t>FSH (and LH)</a:t>
            </a:r>
            <a:r>
              <a:rPr lang="en-US" sz="1050" dirty="0">
                <a:solidFill>
                  <a:srgbClr val="262B3A"/>
                </a:solidFill>
                <a:latin typeface="Calibri" pitchFamily="34" charset="0"/>
                <a:ea typeface="Calibri" pitchFamily="34" charset="-122"/>
                <a:cs typeface="Calibri" pitchFamily="34" charset="-120"/>
              </a:rPr>
              <a:t> injections</a:t>
            </a:r>
            <a:endParaRPr lang="en-US" sz="1050" dirty="0"/>
          </a:p>
        </p:txBody>
      </p:sp>
      <p:sp>
        <p:nvSpPr>
          <p:cNvPr id="17" name="Text 15"/>
          <p:cNvSpPr/>
          <p:nvPr/>
        </p:nvSpPr>
        <p:spPr>
          <a:xfrm>
            <a:off x="640080" y="4572000"/>
            <a:ext cx="1051560"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several eggs mature</a:t>
            </a:r>
            <a:endParaRPr lang="en-US" sz="1000" dirty="0"/>
          </a:p>
        </p:txBody>
      </p:sp>
      <p:sp>
        <p:nvSpPr>
          <p:cNvPr id="18" name="Shape 16"/>
          <p:cNvSpPr/>
          <p:nvPr/>
        </p:nvSpPr>
        <p:spPr>
          <a:xfrm>
            <a:off x="921715" y="3458261"/>
            <a:ext cx="427482" cy="124358"/>
          </a:xfrm>
          <a:prstGeom prst="rect">
            <a:avLst/>
          </a:prstGeom>
          <a:solidFill>
            <a:srgbClr val="DDE9F7"/>
          </a:solidFill>
          <a:ln w="12700">
            <a:solidFill>
              <a:srgbClr val="4A5262"/>
            </a:solidFill>
            <a:prstDash val="solid"/>
          </a:ln>
        </p:spPr>
      </p:sp>
      <p:sp>
        <p:nvSpPr>
          <p:cNvPr id="19" name="Shape 17"/>
          <p:cNvSpPr/>
          <p:nvPr/>
        </p:nvSpPr>
        <p:spPr>
          <a:xfrm>
            <a:off x="937260" y="3473806"/>
            <a:ext cx="233172" cy="93269"/>
          </a:xfrm>
          <a:prstGeom prst="rect">
            <a:avLst/>
          </a:prstGeom>
          <a:solidFill>
            <a:srgbClr val="2F6DB5">
              <a:alpha val="70000"/>
            </a:srgbClr>
          </a:solidFill>
          <a:ln/>
        </p:spPr>
      </p:sp>
      <p:sp>
        <p:nvSpPr>
          <p:cNvPr id="20" name="Shape 18"/>
          <p:cNvSpPr/>
          <p:nvPr/>
        </p:nvSpPr>
        <p:spPr>
          <a:xfrm>
            <a:off x="781812" y="3520440"/>
            <a:ext cx="139903" cy="91"/>
          </a:xfrm>
          <a:prstGeom prst="line">
            <a:avLst/>
          </a:prstGeom>
          <a:noFill/>
          <a:ln w="31750">
            <a:solidFill>
              <a:srgbClr val="4A5262"/>
            </a:solidFill>
            <a:prstDash val="solid"/>
          </a:ln>
        </p:spPr>
      </p:sp>
      <p:sp>
        <p:nvSpPr>
          <p:cNvPr id="21" name="Shape 19"/>
          <p:cNvSpPr/>
          <p:nvPr/>
        </p:nvSpPr>
        <p:spPr>
          <a:xfrm>
            <a:off x="1349197" y="3520440"/>
            <a:ext cx="170993" cy="91"/>
          </a:xfrm>
          <a:prstGeom prst="line">
            <a:avLst/>
          </a:prstGeom>
          <a:noFill/>
          <a:ln w="25400">
            <a:solidFill>
              <a:srgbClr val="4A5262"/>
            </a:solidFill>
            <a:prstDash val="solid"/>
          </a:ln>
        </p:spPr>
      </p:sp>
      <p:sp>
        <p:nvSpPr>
          <p:cNvPr id="22" name="Shape 20"/>
          <p:cNvSpPr/>
          <p:nvPr/>
        </p:nvSpPr>
        <p:spPr>
          <a:xfrm>
            <a:off x="1520190" y="3442716"/>
            <a:ext cx="91" cy="155448"/>
          </a:xfrm>
          <a:prstGeom prst="line">
            <a:avLst/>
          </a:prstGeom>
          <a:noFill/>
          <a:ln w="31750">
            <a:solidFill>
              <a:srgbClr val="4A5262"/>
            </a:solidFill>
            <a:prstDash val="solid"/>
          </a:ln>
        </p:spPr>
      </p:sp>
      <p:sp>
        <p:nvSpPr>
          <p:cNvPr id="23" name="Shape 21"/>
          <p:cNvSpPr/>
          <p:nvPr/>
        </p:nvSpPr>
        <p:spPr>
          <a:xfrm>
            <a:off x="641909" y="3520440"/>
            <a:ext cx="139903" cy="91"/>
          </a:xfrm>
          <a:prstGeom prst="line">
            <a:avLst/>
          </a:prstGeom>
          <a:noFill/>
          <a:ln w="12700">
            <a:solidFill>
              <a:srgbClr val="8C96A8"/>
            </a:solidFill>
            <a:prstDash val="solid"/>
          </a:ln>
        </p:spPr>
      </p:sp>
      <p:sp>
        <p:nvSpPr>
          <p:cNvPr id="24" name="Shape 22"/>
          <p:cNvSpPr/>
          <p:nvPr/>
        </p:nvSpPr>
        <p:spPr>
          <a:xfrm>
            <a:off x="731520" y="3817620"/>
            <a:ext cx="868680" cy="502920"/>
          </a:xfrm>
          <a:prstGeom prst="ellipse">
            <a:avLst/>
          </a:prstGeom>
          <a:solidFill>
            <a:srgbClr val="F3D3A6"/>
          </a:solidFill>
          <a:ln w="15875">
            <a:solidFill>
              <a:srgbClr val="9A6A2A"/>
            </a:solidFill>
            <a:prstDash val="solid"/>
          </a:ln>
        </p:spPr>
      </p:sp>
      <p:sp>
        <p:nvSpPr>
          <p:cNvPr id="25" name="Shape 23"/>
          <p:cNvSpPr/>
          <p:nvPr/>
        </p:nvSpPr>
        <p:spPr>
          <a:xfrm>
            <a:off x="848929" y="3937315"/>
            <a:ext cx="112654" cy="112654"/>
          </a:xfrm>
          <a:prstGeom prst="ellipse">
            <a:avLst/>
          </a:prstGeom>
          <a:solidFill>
            <a:srgbClr val="FFF6E8"/>
          </a:solidFill>
          <a:ln w="6350">
            <a:solidFill>
              <a:srgbClr val="9A6A2A"/>
            </a:solidFill>
            <a:prstDash val="solid"/>
          </a:ln>
        </p:spPr>
      </p:sp>
      <p:sp>
        <p:nvSpPr>
          <p:cNvPr id="26" name="Shape 24"/>
          <p:cNvSpPr/>
          <p:nvPr/>
        </p:nvSpPr>
        <p:spPr>
          <a:xfrm>
            <a:off x="1161014" y="4131442"/>
            <a:ext cx="96561" cy="96561"/>
          </a:xfrm>
          <a:prstGeom prst="ellipse">
            <a:avLst/>
          </a:prstGeom>
          <a:solidFill>
            <a:srgbClr val="FFF6E8"/>
          </a:solidFill>
          <a:ln w="6350">
            <a:solidFill>
              <a:srgbClr val="9A6A2A"/>
            </a:solidFill>
            <a:prstDash val="solid"/>
          </a:ln>
        </p:spPr>
      </p:sp>
      <p:sp>
        <p:nvSpPr>
          <p:cNvPr id="27" name="Shape 25"/>
          <p:cNvSpPr/>
          <p:nvPr/>
        </p:nvSpPr>
        <p:spPr>
          <a:xfrm>
            <a:off x="1038758" y="4089197"/>
            <a:ext cx="80467" cy="80467"/>
          </a:xfrm>
          <a:prstGeom prst="ellipse">
            <a:avLst/>
          </a:prstGeom>
          <a:solidFill>
            <a:srgbClr val="FFF6E8"/>
          </a:solidFill>
          <a:ln w="6350">
            <a:solidFill>
              <a:srgbClr val="9A6A2A"/>
            </a:solidFill>
            <a:prstDash val="solid"/>
          </a:ln>
        </p:spPr>
      </p:sp>
      <p:sp>
        <p:nvSpPr>
          <p:cNvPr id="28" name="Shape 26"/>
          <p:cNvSpPr/>
          <p:nvPr/>
        </p:nvSpPr>
        <p:spPr>
          <a:xfrm>
            <a:off x="1256386" y="3928262"/>
            <a:ext cx="201168" cy="201168"/>
          </a:xfrm>
          <a:prstGeom prst="ellipse">
            <a:avLst/>
          </a:prstGeom>
          <a:solidFill>
            <a:srgbClr val="FFF6E8"/>
          </a:solidFill>
          <a:ln w="12700">
            <a:solidFill>
              <a:srgbClr val="9A6A2A"/>
            </a:solidFill>
            <a:prstDash val="solid"/>
          </a:ln>
        </p:spPr>
      </p:sp>
      <p:sp>
        <p:nvSpPr>
          <p:cNvPr id="29" name="Shape 27"/>
          <p:cNvSpPr/>
          <p:nvPr/>
        </p:nvSpPr>
        <p:spPr>
          <a:xfrm>
            <a:off x="1370228" y="3978554"/>
            <a:ext cx="60350" cy="60350"/>
          </a:xfrm>
          <a:prstGeom prst="ellipse">
            <a:avLst/>
          </a:prstGeom>
          <a:solidFill>
            <a:srgbClr val="F2B279"/>
          </a:solidFill>
          <a:ln w="9525">
            <a:solidFill>
              <a:srgbClr val="A4561C"/>
            </a:solidFill>
            <a:prstDash val="solid"/>
          </a:ln>
        </p:spPr>
      </p:sp>
      <p:sp>
        <p:nvSpPr>
          <p:cNvPr id="30" name="Shape 28"/>
          <p:cNvSpPr/>
          <p:nvPr/>
        </p:nvSpPr>
        <p:spPr>
          <a:xfrm>
            <a:off x="1746504" y="3703320"/>
            <a:ext cx="128016" cy="91"/>
          </a:xfrm>
          <a:prstGeom prst="line">
            <a:avLst/>
          </a:prstGeom>
          <a:noFill/>
          <a:ln w="25400">
            <a:solidFill>
              <a:srgbClr val="2A7448"/>
            </a:solidFill>
            <a:prstDash val="solid"/>
            <a:tailEnd type="triangle"/>
          </a:ln>
        </p:spPr>
      </p:sp>
      <p:sp>
        <p:nvSpPr>
          <p:cNvPr id="31" name="Shape 29"/>
          <p:cNvSpPr/>
          <p:nvPr/>
        </p:nvSpPr>
        <p:spPr>
          <a:xfrm>
            <a:off x="1883664" y="2377440"/>
            <a:ext cx="1143000" cy="2651760"/>
          </a:xfrm>
          <a:prstGeom prst="roundRect">
            <a:avLst>
              <a:gd name="adj" fmla="val 4800"/>
            </a:avLst>
          </a:prstGeom>
          <a:solidFill>
            <a:srgbClr val="FFFFFF"/>
          </a:solidFill>
          <a:ln w="12700">
            <a:solidFill>
              <a:srgbClr val="D2E5D8"/>
            </a:solidFill>
            <a:prstDash val="solid"/>
          </a:ln>
        </p:spPr>
      </p:sp>
      <p:sp>
        <p:nvSpPr>
          <p:cNvPr id="32" name="Text 30"/>
          <p:cNvSpPr/>
          <p:nvPr/>
        </p:nvSpPr>
        <p:spPr>
          <a:xfrm>
            <a:off x="1929384" y="2432304"/>
            <a:ext cx="1051560" cy="6400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2 Eggs </a:t>
            </a:r>
            <a:r>
              <a:rPr lang="en-US" sz="1050" b="1" dirty="0">
                <a:solidFill>
                  <a:srgbClr val="262B3A"/>
                </a:solidFill>
                <a:latin typeface="Calibri" pitchFamily="34" charset="0"/>
                <a:ea typeface="Calibri" pitchFamily="34" charset="-122"/>
                <a:cs typeface="Calibri" pitchFamily="34" charset="-120"/>
              </a:rPr>
              <a:t>collected</a:t>
            </a:r>
            <a:endParaRPr lang="en-US" sz="1050" dirty="0"/>
          </a:p>
        </p:txBody>
      </p:sp>
      <p:sp>
        <p:nvSpPr>
          <p:cNvPr id="33" name="Text 31"/>
          <p:cNvSpPr/>
          <p:nvPr/>
        </p:nvSpPr>
        <p:spPr>
          <a:xfrm>
            <a:off x="1929384" y="4572000"/>
            <a:ext cx="1051560"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fine needle from ovary</a:t>
            </a:r>
            <a:endParaRPr lang="en-US" sz="1000" dirty="0"/>
          </a:p>
        </p:txBody>
      </p:sp>
      <p:sp>
        <p:nvSpPr>
          <p:cNvPr id="34" name="Shape 32"/>
          <p:cNvSpPr/>
          <p:nvPr/>
        </p:nvSpPr>
        <p:spPr>
          <a:xfrm>
            <a:off x="1979676" y="3543300"/>
            <a:ext cx="731520" cy="502920"/>
          </a:xfrm>
          <a:prstGeom prst="ellipse">
            <a:avLst/>
          </a:prstGeom>
          <a:solidFill>
            <a:srgbClr val="F3D3A6"/>
          </a:solidFill>
          <a:ln w="15875">
            <a:solidFill>
              <a:srgbClr val="9A6A2A"/>
            </a:solidFill>
            <a:prstDash val="solid"/>
          </a:ln>
        </p:spPr>
      </p:sp>
      <p:sp>
        <p:nvSpPr>
          <p:cNvPr id="35" name="Shape 33"/>
          <p:cNvSpPr/>
          <p:nvPr/>
        </p:nvSpPr>
        <p:spPr>
          <a:xfrm>
            <a:off x="2069653" y="3662995"/>
            <a:ext cx="112654" cy="112654"/>
          </a:xfrm>
          <a:prstGeom prst="ellipse">
            <a:avLst/>
          </a:prstGeom>
          <a:solidFill>
            <a:srgbClr val="FFF6E8"/>
          </a:solidFill>
          <a:ln w="6350">
            <a:solidFill>
              <a:srgbClr val="9A6A2A"/>
            </a:solidFill>
            <a:prstDash val="solid"/>
          </a:ln>
        </p:spPr>
      </p:sp>
      <p:sp>
        <p:nvSpPr>
          <p:cNvPr id="36" name="Shape 34"/>
          <p:cNvSpPr/>
          <p:nvPr/>
        </p:nvSpPr>
        <p:spPr>
          <a:xfrm>
            <a:off x="2333732" y="3857122"/>
            <a:ext cx="96561" cy="96561"/>
          </a:xfrm>
          <a:prstGeom prst="ellipse">
            <a:avLst/>
          </a:prstGeom>
          <a:solidFill>
            <a:srgbClr val="FFF6E8"/>
          </a:solidFill>
          <a:ln w="6350">
            <a:solidFill>
              <a:srgbClr val="9A6A2A"/>
            </a:solidFill>
            <a:prstDash val="solid"/>
          </a:ln>
        </p:spPr>
      </p:sp>
      <p:sp>
        <p:nvSpPr>
          <p:cNvPr id="37" name="Shape 35"/>
          <p:cNvSpPr/>
          <p:nvPr/>
        </p:nvSpPr>
        <p:spPr>
          <a:xfrm>
            <a:off x="2232050" y="3814877"/>
            <a:ext cx="80467" cy="80467"/>
          </a:xfrm>
          <a:prstGeom prst="ellipse">
            <a:avLst/>
          </a:prstGeom>
          <a:solidFill>
            <a:srgbClr val="FFF6E8"/>
          </a:solidFill>
          <a:ln w="6350">
            <a:solidFill>
              <a:srgbClr val="9A6A2A"/>
            </a:solidFill>
            <a:prstDash val="solid"/>
          </a:ln>
        </p:spPr>
      </p:sp>
      <p:sp>
        <p:nvSpPr>
          <p:cNvPr id="38" name="Shape 36"/>
          <p:cNvSpPr/>
          <p:nvPr/>
        </p:nvSpPr>
        <p:spPr>
          <a:xfrm>
            <a:off x="2405786" y="3653942"/>
            <a:ext cx="201168" cy="201168"/>
          </a:xfrm>
          <a:prstGeom prst="ellipse">
            <a:avLst/>
          </a:prstGeom>
          <a:solidFill>
            <a:srgbClr val="FFF6E8"/>
          </a:solidFill>
          <a:ln w="12700">
            <a:solidFill>
              <a:srgbClr val="9A6A2A"/>
            </a:solidFill>
            <a:prstDash val="solid"/>
          </a:ln>
        </p:spPr>
      </p:sp>
      <p:sp>
        <p:nvSpPr>
          <p:cNvPr id="39" name="Shape 37"/>
          <p:cNvSpPr/>
          <p:nvPr/>
        </p:nvSpPr>
        <p:spPr>
          <a:xfrm>
            <a:off x="2512771" y="3704234"/>
            <a:ext cx="60350" cy="60350"/>
          </a:xfrm>
          <a:prstGeom prst="ellipse">
            <a:avLst/>
          </a:prstGeom>
          <a:solidFill>
            <a:srgbClr val="F2B279"/>
          </a:solidFill>
          <a:ln w="9525">
            <a:solidFill>
              <a:srgbClr val="A4561C"/>
            </a:solidFill>
            <a:prstDash val="solid"/>
          </a:ln>
        </p:spPr>
      </p:sp>
      <p:sp>
        <p:nvSpPr>
          <p:cNvPr id="40" name="Shape 38"/>
          <p:cNvSpPr/>
          <p:nvPr/>
        </p:nvSpPr>
        <p:spPr>
          <a:xfrm flipV="1">
            <a:off x="2564892" y="3291840"/>
            <a:ext cx="393192" cy="411480"/>
          </a:xfrm>
          <a:prstGeom prst="line">
            <a:avLst/>
          </a:prstGeom>
          <a:noFill/>
          <a:ln w="25400">
            <a:solidFill>
              <a:srgbClr val="4A5262"/>
            </a:solidFill>
            <a:prstDash val="solid"/>
          </a:ln>
        </p:spPr>
      </p:sp>
      <p:sp>
        <p:nvSpPr>
          <p:cNvPr id="41" name="Shape 39"/>
          <p:cNvSpPr/>
          <p:nvPr/>
        </p:nvSpPr>
        <p:spPr>
          <a:xfrm>
            <a:off x="2189988" y="4169664"/>
            <a:ext cx="164592" cy="164592"/>
          </a:xfrm>
          <a:prstGeom prst="ellipse">
            <a:avLst/>
          </a:prstGeom>
          <a:solidFill>
            <a:srgbClr val="FBE6C4"/>
          </a:solidFill>
          <a:ln w="12700">
            <a:solidFill>
              <a:srgbClr val="A4561C"/>
            </a:solidFill>
            <a:prstDash val="solid"/>
          </a:ln>
        </p:spPr>
      </p:sp>
      <p:sp>
        <p:nvSpPr>
          <p:cNvPr id="42" name="Shape 40"/>
          <p:cNvSpPr/>
          <p:nvPr/>
        </p:nvSpPr>
        <p:spPr>
          <a:xfrm>
            <a:off x="2245949" y="4225625"/>
            <a:ext cx="52669" cy="52669"/>
          </a:xfrm>
          <a:prstGeom prst="ellipse">
            <a:avLst/>
          </a:prstGeom>
          <a:solidFill>
            <a:srgbClr val="C9B6E4"/>
          </a:solidFill>
          <a:ln w="6350">
            <a:solidFill>
              <a:srgbClr val="6A4C93"/>
            </a:solidFill>
            <a:prstDash val="solid"/>
          </a:ln>
        </p:spPr>
      </p:sp>
      <p:sp>
        <p:nvSpPr>
          <p:cNvPr id="43" name="Shape 41"/>
          <p:cNvSpPr/>
          <p:nvPr/>
        </p:nvSpPr>
        <p:spPr>
          <a:xfrm>
            <a:off x="2510028" y="4169664"/>
            <a:ext cx="164592" cy="164592"/>
          </a:xfrm>
          <a:prstGeom prst="ellipse">
            <a:avLst/>
          </a:prstGeom>
          <a:solidFill>
            <a:srgbClr val="FBE6C4"/>
          </a:solidFill>
          <a:ln w="12700">
            <a:solidFill>
              <a:srgbClr val="A4561C"/>
            </a:solidFill>
            <a:prstDash val="solid"/>
          </a:ln>
        </p:spPr>
      </p:sp>
      <p:sp>
        <p:nvSpPr>
          <p:cNvPr id="44" name="Shape 42"/>
          <p:cNvSpPr/>
          <p:nvPr/>
        </p:nvSpPr>
        <p:spPr>
          <a:xfrm>
            <a:off x="2565989" y="4225625"/>
            <a:ext cx="52669" cy="52669"/>
          </a:xfrm>
          <a:prstGeom prst="ellipse">
            <a:avLst/>
          </a:prstGeom>
          <a:solidFill>
            <a:srgbClr val="C9B6E4"/>
          </a:solidFill>
          <a:ln w="6350">
            <a:solidFill>
              <a:srgbClr val="6A4C93"/>
            </a:solidFill>
            <a:prstDash val="solid"/>
          </a:ln>
        </p:spPr>
      </p:sp>
      <p:sp>
        <p:nvSpPr>
          <p:cNvPr id="45" name="Shape 43"/>
          <p:cNvSpPr/>
          <p:nvPr/>
        </p:nvSpPr>
        <p:spPr>
          <a:xfrm>
            <a:off x="3035808" y="3703320"/>
            <a:ext cx="128016" cy="91"/>
          </a:xfrm>
          <a:prstGeom prst="line">
            <a:avLst/>
          </a:prstGeom>
          <a:noFill/>
          <a:ln w="25400">
            <a:solidFill>
              <a:srgbClr val="2A7448"/>
            </a:solidFill>
            <a:prstDash val="solid"/>
            <a:tailEnd type="triangle"/>
          </a:ln>
        </p:spPr>
      </p:sp>
      <p:sp>
        <p:nvSpPr>
          <p:cNvPr id="46" name="Shape 44"/>
          <p:cNvSpPr/>
          <p:nvPr/>
        </p:nvSpPr>
        <p:spPr>
          <a:xfrm>
            <a:off x="3172968" y="2377440"/>
            <a:ext cx="1143000" cy="2651760"/>
          </a:xfrm>
          <a:prstGeom prst="roundRect">
            <a:avLst>
              <a:gd name="adj" fmla="val 4800"/>
            </a:avLst>
          </a:prstGeom>
          <a:solidFill>
            <a:srgbClr val="FFFFFF"/>
          </a:solidFill>
          <a:ln w="12700">
            <a:solidFill>
              <a:srgbClr val="D2E5D8"/>
            </a:solidFill>
            <a:prstDash val="solid"/>
          </a:ln>
        </p:spPr>
      </p:sp>
      <p:sp>
        <p:nvSpPr>
          <p:cNvPr id="47" name="Text 45"/>
          <p:cNvSpPr/>
          <p:nvPr/>
        </p:nvSpPr>
        <p:spPr>
          <a:xfrm>
            <a:off x="3218688" y="2432304"/>
            <a:ext cx="1051560" cy="6400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3 </a:t>
            </a:r>
            <a:r>
              <a:rPr lang="en-US" sz="1050" b="1" dirty="0">
                <a:solidFill>
                  <a:srgbClr val="262B3A"/>
                </a:solidFill>
                <a:latin typeface="Calibri" pitchFamily="34" charset="0"/>
                <a:ea typeface="Calibri" pitchFamily="34" charset="-122"/>
                <a:cs typeface="Calibri" pitchFamily="34" charset="-120"/>
              </a:rPr>
              <a:t>Fertilised</a:t>
            </a:r>
            <a:r>
              <a:rPr lang="en-US" sz="1050" dirty="0">
                <a:solidFill>
                  <a:srgbClr val="262B3A"/>
                </a:solidFill>
                <a:latin typeface="Calibri" pitchFamily="34" charset="0"/>
                <a:ea typeface="Calibri" pitchFamily="34" charset="-122"/>
                <a:cs typeface="Calibri" pitchFamily="34" charset="-120"/>
              </a:rPr>
              <a:t> in a dish</a:t>
            </a:r>
            <a:endParaRPr lang="en-US" sz="1050" dirty="0"/>
          </a:p>
        </p:txBody>
      </p:sp>
      <p:sp>
        <p:nvSpPr>
          <p:cNvPr id="48" name="Text 46"/>
          <p:cNvSpPr/>
          <p:nvPr/>
        </p:nvSpPr>
        <p:spPr>
          <a:xfrm>
            <a:off x="3218688" y="4572000"/>
            <a:ext cx="1051560"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eggs + sperm</a:t>
            </a:r>
            <a:endParaRPr lang="en-US" sz="1000" dirty="0"/>
          </a:p>
        </p:txBody>
      </p:sp>
      <p:sp>
        <p:nvSpPr>
          <p:cNvPr id="49" name="Shape 47"/>
          <p:cNvSpPr/>
          <p:nvPr/>
        </p:nvSpPr>
        <p:spPr>
          <a:xfrm>
            <a:off x="3264408" y="3525012"/>
            <a:ext cx="960120" cy="502920"/>
          </a:xfrm>
          <a:prstGeom prst="ellipse">
            <a:avLst/>
          </a:prstGeom>
          <a:solidFill>
            <a:srgbClr val="EEF5F4"/>
          </a:solidFill>
          <a:ln w="19050">
            <a:solidFill>
              <a:srgbClr val="6B7385"/>
            </a:solidFill>
            <a:prstDash val="solid"/>
          </a:ln>
        </p:spPr>
      </p:sp>
      <p:sp>
        <p:nvSpPr>
          <p:cNvPr id="50" name="Shape 48"/>
          <p:cNvSpPr/>
          <p:nvPr/>
        </p:nvSpPr>
        <p:spPr>
          <a:xfrm>
            <a:off x="3470148" y="3666744"/>
            <a:ext cx="219456" cy="219456"/>
          </a:xfrm>
          <a:prstGeom prst="ellipse">
            <a:avLst/>
          </a:prstGeom>
          <a:solidFill>
            <a:srgbClr val="FBE6C4"/>
          </a:solidFill>
          <a:ln w="12700">
            <a:solidFill>
              <a:srgbClr val="A4561C"/>
            </a:solidFill>
            <a:prstDash val="solid"/>
          </a:ln>
        </p:spPr>
      </p:sp>
      <p:sp>
        <p:nvSpPr>
          <p:cNvPr id="51" name="Shape 49"/>
          <p:cNvSpPr/>
          <p:nvPr/>
        </p:nvSpPr>
        <p:spPr>
          <a:xfrm>
            <a:off x="3544763" y="3741359"/>
            <a:ext cx="70226" cy="70226"/>
          </a:xfrm>
          <a:prstGeom prst="ellipse">
            <a:avLst/>
          </a:prstGeom>
          <a:solidFill>
            <a:srgbClr val="C9B6E4"/>
          </a:solidFill>
          <a:ln w="6350">
            <a:solidFill>
              <a:srgbClr val="6A4C93"/>
            </a:solidFill>
            <a:prstDash val="solid"/>
          </a:ln>
        </p:spPr>
      </p:sp>
      <p:sp>
        <p:nvSpPr>
          <p:cNvPr id="52" name="Shape 50"/>
          <p:cNvSpPr/>
          <p:nvPr/>
        </p:nvSpPr>
        <p:spPr>
          <a:xfrm>
            <a:off x="3863340" y="3730752"/>
            <a:ext cx="164592" cy="164592"/>
          </a:xfrm>
          <a:prstGeom prst="ellipse">
            <a:avLst/>
          </a:prstGeom>
          <a:solidFill>
            <a:srgbClr val="FBE6C4"/>
          </a:solidFill>
          <a:ln w="12700">
            <a:solidFill>
              <a:srgbClr val="A4561C"/>
            </a:solidFill>
            <a:prstDash val="solid"/>
          </a:ln>
        </p:spPr>
      </p:sp>
      <p:sp>
        <p:nvSpPr>
          <p:cNvPr id="53" name="Shape 51"/>
          <p:cNvSpPr/>
          <p:nvPr/>
        </p:nvSpPr>
        <p:spPr>
          <a:xfrm>
            <a:off x="3919301" y="3786713"/>
            <a:ext cx="52669" cy="52669"/>
          </a:xfrm>
          <a:prstGeom prst="ellipse">
            <a:avLst/>
          </a:prstGeom>
          <a:solidFill>
            <a:srgbClr val="C9B6E4"/>
          </a:solidFill>
          <a:ln w="6350">
            <a:solidFill>
              <a:srgbClr val="6A4C93"/>
            </a:solidFill>
            <a:prstDash val="solid"/>
          </a:ln>
        </p:spPr>
      </p:sp>
      <p:sp>
        <p:nvSpPr>
          <p:cNvPr id="54" name="Shape 52"/>
          <p:cNvSpPr/>
          <p:nvPr/>
        </p:nvSpPr>
        <p:spPr>
          <a:xfrm>
            <a:off x="3323844" y="3662172"/>
            <a:ext cx="73152" cy="45720"/>
          </a:xfrm>
          <a:prstGeom prst="ellipse">
            <a:avLst/>
          </a:prstGeom>
          <a:solidFill>
            <a:srgbClr val="3B5B8C"/>
          </a:solidFill>
          <a:ln w="12700">
            <a:solidFill>
              <a:srgbClr val="3B5B8C"/>
            </a:solidFill>
            <a:prstDash val="solid"/>
          </a:ln>
        </p:spPr>
      </p:sp>
      <p:sp>
        <p:nvSpPr>
          <p:cNvPr id="55" name="Shape 53"/>
          <p:cNvSpPr/>
          <p:nvPr/>
        </p:nvSpPr>
        <p:spPr>
          <a:xfrm>
            <a:off x="3396996" y="3685032"/>
            <a:ext cx="82296" cy="22860"/>
          </a:xfrm>
          <a:prstGeom prst="line">
            <a:avLst/>
          </a:prstGeom>
          <a:noFill/>
          <a:ln w="9525">
            <a:solidFill>
              <a:srgbClr val="3B5B8C"/>
            </a:solidFill>
            <a:prstDash val="solid"/>
          </a:ln>
        </p:spPr>
      </p:sp>
      <p:sp>
        <p:nvSpPr>
          <p:cNvPr id="56" name="Shape 54"/>
          <p:cNvSpPr/>
          <p:nvPr/>
        </p:nvSpPr>
        <p:spPr>
          <a:xfrm flipV="1">
            <a:off x="3479292" y="3675888"/>
            <a:ext cx="82296" cy="32004"/>
          </a:xfrm>
          <a:prstGeom prst="line">
            <a:avLst/>
          </a:prstGeom>
          <a:noFill/>
          <a:ln w="9525">
            <a:solidFill>
              <a:srgbClr val="3B5B8C"/>
            </a:solidFill>
            <a:prstDash val="solid"/>
          </a:ln>
        </p:spPr>
      </p:sp>
      <p:sp>
        <p:nvSpPr>
          <p:cNvPr id="57" name="Shape 55"/>
          <p:cNvSpPr/>
          <p:nvPr/>
        </p:nvSpPr>
        <p:spPr>
          <a:xfrm>
            <a:off x="3726180" y="3881628"/>
            <a:ext cx="73152" cy="45720"/>
          </a:xfrm>
          <a:prstGeom prst="ellipse">
            <a:avLst/>
          </a:prstGeom>
          <a:solidFill>
            <a:srgbClr val="3B5B8C"/>
          </a:solidFill>
          <a:ln w="12700">
            <a:solidFill>
              <a:srgbClr val="3B5B8C"/>
            </a:solidFill>
            <a:prstDash val="solid"/>
          </a:ln>
        </p:spPr>
      </p:sp>
      <p:sp>
        <p:nvSpPr>
          <p:cNvPr id="58" name="Shape 56"/>
          <p:cNvSpPr/>
          <p:nvPr/>
        </p:nvSpPr>
        <p:spPr>
          <a:xfrm flipH="1">
            <a:off x="3643884" y="3904488"/>
            <a:ext cx="82296" cy="22860"/>
          </a:xfrm>
          <a:prstGeom prst="line">
            <a:avLst/>
          </a:prstGeom>
          <a:noFill/>
          <a:ln w="9525">
            <a:solidFill>
              <a:srgbClr val="3B5B8C"/>
            </a:solidFill>
            <a:prstDash val="solid"/>
          </a:ln>
        </p:spPr>
      </p:sp>
      <p:sp>
        <p:nvSpPr>
          <p:cNvPr id="59" name="Shape 57"/>
          <p:cNvSpPr/>
          <p:nvPr/>
        </p:nvSpPr>
        <p:spPr>
          <a:xfrm flipH="1" flipV="1">
            <a:off x="3561588" y="3895344"/>
            <a:ext cx="82296" cy="32004"/>
          </a:xfrm>
          <a:prstGeom prst="line">
            <a:avLst/>
          </a:prstGeom>
          <a:noFill/>
          <a:ln w="9525">
            <a:solidFill>
              <a:srgbClr val="3B5B8C"/>
            </a:solidFill>
            <a:prstDash val="solid"/>
          </a:ln>
        </p:spPr>
      </p:sp>
      <p:sp>
        <p:nvSpPr>
          <p:cNvPr id="60" name="Shape 58"/>
          <p:cNvSpPr/>
          <p:nvPr/>
        </p:nvSpPr>
        <p:spPr>
          <a:xfrm>
            <a:off x="3360420" y="3863340"/>
            <a:ext cx="73152" cy="45720"/>
          </a:xfrm>
          <a:prstGeom prst="ellipse">
            <a:avLst/>
          </a:prstGeom>
          <a:solidFill>
            <a:srgbClr val="3B5B8C"/>
          </a:solidFill>
          <a:ln w="12700">
            <a:solidFill>
              <a:srgbClr val="3B5B8C"/>
            </a:solidFill>
            <a:prstDash val="solid"/>
          </a:ln>
        </p:spPr>
      </p:sp>
      <p:sp>
        <p:nvSpPr>
          <p:cNvPr id="61" name="Shape 59"/>
          <p:cNvSpPr/>
          <p:nvPr/>
        </p:nvSpPr>
        <p:spPr>
          <a:xfrm>
            <a:off x="3433572" y="3886200"/>
            <a:ext cx="82296" cy="22860"/>
          </a:xfrm>
          <a:prstGeom prst="line">
            <a:avLst/>
          </a:prstGeom>
          <a:noFill/>
          <a:ln w="9525">
            <a:solidFill>
              <a:srgbClr val="3B5B8C"/>
            </a:solidFill>
            <a:prstDash val="solid"/>
          </a:ln>
        </p:spPr>
      </p:sp>
      <p:sp>
        <p:nvSpPr>
          <p:cNvPr id="62" name="Shape 60"/>
          <p:cNvSpPr/>
          <p:nvPr/>
        </p:nvSpPr>
        <p:spPr>
          <a:xfrm flipV="1">
            <a:off x="3515868" y="3877056"/>
            <a:ext cx="82296" cy="32004"/>
          </a:xfrm>
          <a:prstGeom prst="line">
            <a:avLst/>
          </a:prstGeom>
          <a:noFill/>
          <a:ln w="9525">
            <a:solidFill>
              <a:srgbClr val="3B5B8C"/>
            </a:solidFill>
            <a:prstDash val="solid"/>
          </a:ln>
        </p:spPr>
      </p:sp>
      <p:sp>
        <p:nvSpPr>
          <p:cNvPr id="63" name="Shape 61"/>
          <p:cNvSpPr/>
          <p:nvPr/>
        </p:nvSpPr>
        <p:spPr>
          <a:xfrm>
            <a:off x="4325112" y="3703320"/>
            <a:ext cx="128016" cy="91"/>
          </a:xfrm>
          <a:prstGeom prst="line">
            <a:avLst/>
          </a:prstGeom>
          <a:noFill/>
          <a:ln w="25400">
            <a:solidFill>
              <a:srgbClr val="2A7448"/>
            </a:solidFill>
            <a:prstDash val="solid"/>
            <a:tailEnd type="triangle"/>
          </a:ln>
        </p:spPr>
      </p:sp>
      <p:sp>
        <p:nvSpPr>
          <p:cNvPr id="64" name="Shape 62"/>
          <p:cNvSpPr/>
          <p:nvPr/>
        </p:nvSpPr>
        <p:spPr>
          <a:xfrm>
            <a:off x="4462272" y="2377440"/>
            <a:ext cx="1143000" cy="2651760"/>
          </a:xfrm>
          <a:prstGeom prst="roundRect">
            <a:avLst>
              <a:gd name="adj" fmla="val 4800"/>
            </a:avLst>
          </a:prstGeom>
          <a:solidFill>
            <a:srgbClr val="FFFFFF"/>
          </a:solidFill>
          <a:ln w="12700">
            <a:solidFill>
              <a:srgbClr val="D2E5D8"/>
            </a:solidFill>
            <a:prstDash val="solid"/>
          </a:ln>
        </p:spPr>
      </p:sp>
      <p:sp>
        <p:nvSpPr>
          <p:cNvPr id="65" name="Text 63"/>
          <p:cNvSpPr/>
          <p:nvPr/>
        </p:nvSpPr>
        <p:spPr>
          <a:xfrm>
            <a:off x="4507992" y="2432304"/>
            <a:ext cx="1051560" cy="6400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4 </a:t>
            </a:r>
            <a:r>
              <a:rPr lang="en-US" sz="1050" b="1" dirty="0">
                <a:solidFill>
                  <a:srgbClr val="262B3A"/>
                </a:solidFill>
                <a:latin typeface="Calibri" pitchFamily="34" charset="0"/>
                <a:ea typeface="Calibri" pitchFamily="34" charset="-122"/>
                <a:cs typeface="Calibri" pitchFamily="34" charset="-120"/>
              </a:rPr>
              <a:t>Embryos</a:t>
            </a:r>
            <a:r>
              <a:rPr lang="en-US" sz="1050" dirty="0">
                <a:solidFill>
                  <a:srgbClr val="262B3A"/>
                </a:solidFill>
                <a:latin typeface="Calibri" pitchFamily="34" charset="0"/>
                <a:ea typeface="Calibri" pitchFamily="34" charset="-122"/>
                <a:cs typeface="Calibri" pitchFamily="34" charset="-120"/>
              </a:rPr>
              <a:t> grow</a:t>
            </a:r>
            <a:endParaRPr lang="en-US" sz="1050" dirty="0"/>
          </a:p>
        </p:txBody>
      </p:sp>
      <p:sp>
        <p:nvSpPr>
          <p:cNvPr id="66" name="Text 64"/>
          <p:cNvSpPr/>
          <p:nvPr/>
        </p:nvSpPr>
        <p:spPr>
          <a:xfrm>
            <a:off x="4507992" y="4572000"/>
            <a:ext cx="1051560"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a few days</a:t>
            </a:r>
            <a:endParaRPr lang="en-US" sz="1000" dirty="0"/>
          </a:p>
        </p:txBody>
      </p:sp>
      <p:sp>
        <p:nvSpPr>
          <p:cNvPr id="67" name="Shape 65"/>
          <p:cNvSpPr/>
          <p:nvPr/>
        </p:nvSpPr>
        <p:spPr>
          <a:xfrm>
            <a:off x="4832604" y="3364992"/>
            <a:ext cx="402336" cy="402336"/>
          </a:xfrm>
          <a:prstGeom prst="ellipse">
            <a:avLst/>
          </a:prstGeom>
          <a:solidFill>
            <a:srgbClr val="FFF6E8"/>
          </a:solidFill>
          <a:ln w="12700">
            <a:solidFill>
              <a:srgbClr val="A4561C"/>
            </a:solidFill>
            <a:prstDash val="solid"/>
          </a:ln>
        </p:spPr>
      </p:sp>
      <p:sp>
        <p:nvSpPr>
          <p:cNvPr id="68" name="Shape 66"/>
          <p:cNvSpPr/>
          <p:nvPr/>
        </p:nvSpPr>
        <p:spPr>
          <a:xfrm>
            <a:off x="4894463" y="3426851"/>
            <a:ext cx="144841" cy="144841"/>
          </a:xfrm>
          <a:prstGeom prst="ellipse">
            <a:avLst/>
          </a:prstGeom>
          <a:solidFill>
            <a:srgbClr val="F7D7B5"/>
          </a:solidFill>
          <a:ln w="6350">
            <a:solidFill>
              <a:srgbClr val="A4561C"/>
            </a:solidFill>
            <a:prstDash val="solid"/>
          </a:ln>
        </p:spPr>
      </p:sp>
      <p:sp>
        <p:nvSpPr>
          <p:cNvPr id="69" name="Shape 67"/>
          <p:cNvSpPr/>
          <p:nvPr/>
        </p:nvSpPr>
        <p:spPr>
          <a:xfrm>
            <a:off x="5028240" y="3426851"/>
            <a:ext cx="144841" cy="144841"/>
          </a:xfrm>
          <a:prstGeom prst="ellipse">
            <a:avLst/>
          </a:prstGeom>
          <a:solidFill>
            <a:srgbClr val="F7D7B5"/>
          </a:solidFill>
          <a:ln w="6350">
            <a:solidFill>
              <a:srgbClr val="A4561C"/>
            </a:solidFill>
            <a:prstDash val="solid"/>
          </a:ln>
        </p:spPr>
      </p:sp>
      <p:sp>
        <p:nvSpPr>
          <p:cNvPr id="70" name="Shape 68"/>
          <p:cNvSpPr/>
          <p:nvPr/>
        </p:nvSpPr>
        <p:spPr>
          <a:xfrm>
            <a:off x="4894463" y="3560628"/>
            <a:ext cx="144841" cy="144841"/>
          </a:xfrm>
          <a:prstGeom prst="ellipse">
            <a:avLst/>
          </a:prstGeom>
          <a:solidFill>
            <a:srgbClr val="F7D7B5"/>
          </a:solidFill>
          <a:ln w="6350">
            <a:solidFill>
              <a:srgbClr val="A4561C"/>
            </a:solidFill>
            <a:prstDash val="solid"/>
          </a:ln>
        </p:spPr>
      </p:sp>
      <p:sp>
        <p:nvSpPr>
          <p:cNvPr id="71" name="Shape 69"/>
          <p:cNvSpPr/>
          <p:nvPr/>
        </p:nvSpPr>
        <p:spPr>
          <a:xfrm>
            <a:off x="5028240" y="3560628"/>
            <a:ext cx="144841" cy="144841"/>
          </a:xfrm>
          <a:prstGeom prst="ellipse">
            <a:avLst/>
          </a:prstGeom>
          <a:solidFill>
            <a:srgbClr val="F7D7B5"/>
          </a:solidFill>
          <a:ln w="6350">
            <a:solidFill>
              <a:srgbClr val="A4561C"/>
            </a:solidFill>
            <a:prstDash val="solid"/>
          </a:ln>
        </p:spPr>
      </p:sp>
      <p:sp>
        <p:nvSpPr>
          <p:cNvPr id="72" name="Shape 70"/>
          <p:cNvSpPr/>
          <p:nvPr/>
        </p:nvSpPr>
        <p:spPr>
          <a:xfrm>
            <a:off x="4961352" y="3398185"/>
            <a:ext cx="144841" cy="144841"/>
          </a:xfrm>
          <a:prstGeom prst="ellipse">
            <a:avLst/>
          </a:prstGeom>
          <a:solidFill>
            <a:srgbClr val="F7D7B5"/>
          </a:solidFill>
          <a:ln w="6350">
            <a:solidFill>
              <a:srgbClr val="A4561C"/>
            </a:solidFill>
            <a:prstDash val="solid"/>
          </a:ln>
        </p:spPr>
      </p:sp>
      <p:sp>
        <p:nvSpPr>
          <p:cNvPr id="73" name="Shape 71"/>
          <p:cNvSpPr/>
          <p:nvPr/>
        </p:nvSpPr>
        <p:spPr>
          <a:xfrm>
            <a:off x="4961352" y="3589294"/>
            <a:ext cx="144841" cy="144841"/>
          </a:xfrm>
          <a:prstGeom prst="ellipse">
            <a:avLst/>
          </a:prstGeom>
          <a:solidFill>
            <a:srgbClr val="F7D7B5"/>
          </a:solidFill>
          <a:ln w="6350">
            <a:solidFill>
              <a:srgbClr val="A4561C"/>
            </a:solidFill>
            <a:prstDash val="solid"/>
          </a:ln>
        </p:spPr>
      </p:sp>
      <p:sp>
        <p:nvSpPr>
          <p:cNvPr id="74" name="Shape 72"/>
          <p:cNvSpPr/>
          <p:nvPr/>
        </p:nvSpPr>
        <p:spPr>
          <a:xfrm>
            <a:off x="4865797" y="3493740"/>
            <a:ext cx="144841" cy="144841"/>
          </a:xfrm>
          <a:prstGeom prst="ellipse">
            <a:avLst/>
          </a:prstGeom>
          <a:solidFill>
            <a:srgbClr val="F7D7B5"/>
          </a:solidFill>
          <a:ln w="6350">
            <a:solidFill>
              <a:srgbClr val="A4561C"/>
            </a:solidFill>
            <a:prstDash val="solid"/>
          </a:ln>
        </p:spPr>
      </p:sp>
      <p:sp>
        <p:nvSpPr>
          <p:cNvPr id="75" name="Shape 73"/>
          <p:cNvSpPr/>
          <p:nvPr/>
        </p:nvSpPr>
        <p:spPr>
          <a:xfrm>
            <a:off x="5056906" y="3493740"/>
            <a:ext cx="144841" cy="144841"/>
          </a:xfrm>
          <a:prstGeom prst="ellipse">
            <a:avLst/>
          </a:prstGeom>
          <a:solidFill>
            <a:srgbClr val="F7D7B5"/>
          </a:solidFill>
          <a:ln w="6350">
            <a:solidFill>
              <a:srgbClr val="A4561C"/>
            </a:solidFill>
            <a:prstDash val="solid"/>
          </a:ln>
        </p:spPr>
      </p:sp>
      <p:sp>
        <p:nvSpPr>
          <p:cNvPr id="76" name="Shape 74"/>
          <p:cNvSpPr/>
          <p:nvPr/>
        </p:nvSpPr>
        <p:spPr>
          <a:xfrm>
            <a:off x="4832604" y="3886200"/>
            <a:ext cx="402336" cy="402336"/>
          </a:xfrm>
          <a:prstGeom prst="ellipse">
            <a:avLst/>
          </a:prstGeom>
          <a:solidFill>
            <a:srgbClr val="FFF6E8"/>
          </a:solidFill>
          <a:ln w="12700">
            <a:solidFill>
              <a:srgbClr val="A4561C"/>
            </a:solidFill>
            <a:prstDash val="solid"/>
          </a:ln>
        </p:spPr>
      </p:sp>
      <p:sp>
        <p:nvSpPr>
          <p:cNvPr id="77" name="Shape 75"/>
          <p:cNvSpPr/>
          <p:nvPr/>
        </p:nvSpPr>
        <p:spPr>
          <a:xfrm>
            <a:off x="4894463" y="3948059"/>
            <a:ext cx="144841" cy="144841"/>
          </a:xfrm>
          <a:prstGeom prst="ellipse">
            <a:avLst/>
          </a:prstGeom>
          <a:solidFill>
            <a:srgbClr val="F7D7B5"/>
          </a:solidFill>
          <a:ln w="6350">
            <a:solidFill>
              <a:srgbClr val="A4561C"/>
            </a:solidFill>
            <a:prstDash val="solid"/>
          </a:ln>
        </p:spPr>
      </p:sp>
      <p:sp>
        <p:nvSpPr>
          <p:cNvPr id="78" name="Shape 76"/>
          <p:cNvSpPr/>
          <p:nvPr/>
        </p:nvSpPr>
        <p:spPr>
          <a:xfrm>
            <a:off x="5028240" y="3948059"/>
            <a:ext cx="144841" cy="144841"/>
          </a:xfrm>
          <a:prstGeom prst="ellipse">
            <a:avLst/>
          </a:prstGeom>
          <a:solidFill>
            <a:srgbClr val="F7D7B5"/>
          </a:solidFill>
          <a:ln w="6350">
            <a:solidFill>
              <a:srgbClr val="A4561C"/>
            </a:solidFill>
            <a:prstDash val="solid"/>
          </a:ln>
        </p:spPr>
      </p:sp>
      <p:sp>
        <p:nvSpPr>
          <p:cNvPr id="79" name="Shape 77"/>
          <p:cNvSpPr/>
          <p:nvPr/>
        </p:nvSpPr>
        <p:spPr>
          <a:xfrm>
            <a:off x="4894463" y="4081836"/>
            <a:ext cx="144841" cy="144841"/>
          </a:xfrm>
          <a:prstGeom prst="ellipse">
            <a:avLst/>
          </a:prstGeom>
          <a:solidFill>
            <a:srgbClr val="F7D7B5"/>
          </a:solidFill>
          <a:ln w="6350">
            <a:solidFill>
              <a:srgbClr val="A4561C"/>
            </a:solidFill>
            <a:prstDash val="solid"/>
          </a:ln>
        </p:spPr>
      </p:sp>
      <p:sp>
        <p:nvSpPr>
          <p:cNvPr id="80" name="Shape 78"/>
          <p:cNvSpPr/>
          <p:nvPr/>
        </p:nvSpPr>
        <p:spPr>
          <a:xfrm>
            <a:off x="5028240" y="4081836"/>
            <a:ext cx="144841" cy="144841"/>
          </a:xfrm>
          <a:prstGeom prst="ellipse">
            <a:avLst/>
          </a:prstGeom>
          <a:solidFill>
            <a:srgbClr val="F7D7B5"/>
          </a:solidFill>
          <a:ln w="6350">
            <a:solidFill>
              <a:srgbClr val="A4561C"/>
            </a:solidFill>
            <a:prstDash val="solid"/>
          </a:ln>
        </p:spPr>
      </p:sp>
      <p:sp>
        <p:nvSpPr>
          <p:cNvPr id="81" name="Shape 79"/>
          <p:cNvSpPr/>
          <p:nvPr/>
        </p:nvSpPr>
        <p:spPr>
          <a:xfrm>
            <a:off x="4961352" y="3919393"/>
            <a:ext cx="144841" cy="144841"/>
          </a:xfrm>
          <a:prstGeom prst="ellipse">
            <a:avLst/>
          </a:prstGeom>
          <a:solidFill>
            <a:srgbClr val="F7D7B5"/>
          </a:solidFill>
          <a:ln w="6350">
            <a:solidFill>
              <a:srgbClr val="A4561C"/>
            </a:solidFill>
            <a:prstDash val="solid"/>
          </a:ln>
        </p:spPr>
      </p:sp>
      <p:sp>
        <p:nvSpPr>
          <p:cNvPr id="82" name="Shape 80"/>
          <p:cNvSpPr/>
          <p:nvPr/>
        </p:nvSpPr>
        <p:spPr>
          <a:xfrm>
            <a:off x="4961352" y="4110502"/>
            <a:ext cx="144841" cy="144841"/>
          </a:xfrm>
          <a:prstGeom prst="ellipse">
            <a:avLst/>
          </a:prstGeom>
          <a:solidFill>
            <a:srgbClr val="F7D7B5"/>
          </a:solidFill>
          <a:ln w="6350">
            <a:solidFill>
              <a:srgbClr val="A4561C"/>
            </a:solidFill>
            <a:prstDash val="solid"/>
          </a:ln>
        </p:spPr>
      </p:sp>
      <p:sp>
        <p:nvSpPr>
          <p:cNvPr id="83" name="Shape 81"/>
          <p:cNvSpPr/>
          <p:nvPr/>
        </p:nvSpPr>
        <p:spPr>
          <a:xfrm>
            <a:off x="4865797" y="4014948"/>
            <a:ext cx="144841" cy="144841"/>
          </a:xfrm>
          <a:prstGeom prst="ellipse">
            <a:avLst/>
          </a:prstGeom>
          <a:solidFill>
            <a:srgbClr val="F7D7B5"/>
          </a:solidFill>
          <a:ln w="6350">
            <a:solidFill>
              <a:srgbClr val="A4561C"/>
            </a:solidFill>
            <a:prstDash val="solid"/>
          </a:ln>
        </p:spPr>
      </p:sp>
      <p:sp>
        <p:nvSpPr>
          <p:cNvPr id="84" name="Shape 82"/>
          <p:cNvSpPr/>
          <p:nvPr/>
        </p:nvSpPr>
        <p:spPr>
          <a:xfrm>
            <a:off x="5056906" y="4014948"/>
            <a:ext cx="144841" cy="144841"/>
          </a:xfrm>
          <a:prstGeom prst="ellipse">
            <a:avLst/>
          </a:prstGeom>
          <a:solidFill>
            <a:srgbClr val="F7D7B5"/>
          </a:solidFill>
          <a:ln w="6350">
            <a:solidFill>
              <a:srgbClr val="A4561C"/>
            </a:solidFill>
            <a:prstDash val="solid"/>
          </a:ln>
        </p:spPr>
      </p:sp>
      <p:sp>
        <p:nvSpPr>
          <p:cNvPr id="85" name="Shape 83"/>
          <p:cNvSpPr/>
          <p:nvPr/>
        </p:nvSpPr>
        <p:spPr>
          <a:xfrm>
            <a:off x="5614416" y="3703320"/>
            <a:ext cx="128016" cy="91"/>
          </a:xfrm>
          <a:prstGeom prst="line">
            <a:avLst/>
          </a:prstGeom>
          <a:noFill/>
          <a:ln w="25400">
            <a:solidFill>
              <a:srgbClr val="2A7448"/>
            </a:solidFill>
            <a:prstDash val="solid"/>
            <a:tailEnd type="triangle"/>
          </a:ln>
        </p:spPr>
      </p:sp>
      <p:sp>
        <p:nvSpPr>
          <p:cNvPr id="86" name="Shape 84"/>
          <p:cNvSpPr/>
          <p:nvPr/>
        </p:nvSpPr>
        <p:spPr>
          <a:xfrm>
            <a:off x="5751576" y="2377440"/>
            <a:ext cx="1143000" cy="2651760"/>
          </a:xfrm>
          <a:prstGeom prst="roundRect">
            <a:avLst>
              <a:gd name="adj" fmla="val 4800"/>
            </a:avLst>
          </a:prstGeom>
          <a:solidFill>
            <a:srgbClr val="FFFFFF"/>
          </a:solidFill>
          <a:ln w="12700">
            <a:solidFill>
              <a:srgbClr val="D2E5D8"/>
            </a:solidFill>
            <a:prstDash val="solid"/>
          </a:ln>
        </p:spPr>
      </p:sp>
      <p:sp>
        <p:nvSpPr>
          <p:cNvPr id="87" name="Text 85"/>
          <p:cNvSpPr/>
          <p:nvPr/>
        </p:nvSpPr>
        <p:spPr>
          <a:xfrm>
            <a:off x="5797296" y="2432304"/>
            <a:ext cx="1051560" cy="6400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5 1–2 embryos </a:t>
            </a:r>
            <a:r>
              <a:rPr lang="en-US" sz="1050" b="1" dirty="0">
                <a:solidFill>
                  <a:srgbClr val="262B3A"/>
                </a:solidFill>
                <a:latin typeface="Calibri" pitchFamily="34" charset="0"/>
                <a:ea typeface="Calibri" pitchFamily="34" charset="-122"/>
                <a:cs typeface="Calibri" pitchFamily="34" charset="-120"/>
              </a:rPr>
              <a:t>into the uterus</a:t>
            </a:r>
            <a:endParaRPr lang="en-US" sz="1050" dirty="0"/>
          </a:p>
        </p:txBody>
      </p:sp>
      <p:sp>
        <p:nvSpPr>
          <p:cNvPr id="88" name="Text 86"/>
          <p:cNvSpPr/>
          <p:nvPr/>
        </p:nvSpPr>
        <p:spPr>
          <a:xfrm>
            <a:off x="5797296" y="4572000"/>
            <a:ext cx="1051560"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may implant</a:t>
            </a:r>
            <a:endParaRPr lang="en-US" sz="1000" dirty="0"/>
          </a:p>
        </p:txBody>
      </p:sp>
      <p:sp>
        <p:nvSpPr>
          <p:cNvPr id="89" name="Shape 87"/>
          <p:cNvSpPr/>
          <p:nvPr/>
        </p:nvSpPr>
        <p:spPr>
          <a:xfrm>
            <a:off x="5888736" y="3394710"/>
            <a:ext cx="868680" cy="781812"/>
          </a:xfrm>
          <a:custGeom>
            <a:avLst/>
            <a:gdLst/>
            <a:ahLst/>
            <a:cxnLst/>
            <a:rect l="l" t="t" r="r" b="b"/>
            <a:pathLst>
              <a:path w="868680" h="781812">
                <a:moveTo>
                  <a:pt x="0" y="217170"/>
                </a:moveTo>
                <a:lnTo>
                  <a:pt x="14800" y="160962"/>
                </a:lnTo>
                <a:lnTo>
                  <a:pt x="58191" y="108585"/>
                </a:lnTo>
                <a:lnTo>
                  <a:pt x="127215" y="63608"/>
                </a:lnTo>
                <a:lnTo>
                  <a:pt x="217170" y="29095"/>
                </a:lnTo>
                <a:lnTo>
                  <a:pt x="321925" y="7400"/>
                </a:lnTo>
                <a:lnTo>
                  <a:pt x="434340" y="0"/>
                </a:lnTo>
                <a:lnTo>
                  <a:pt x="546755" y="7400"/>
                </a:lnTo>
                <a:lnTo>
                  <a:pt x="651510" y="29095"/>
                </a:lnTo>
                <a:lnTo>
                  <a:pt x="741465" y="63608"/>
                </a:lnTo>
                <a:lnTo>
                  <a:pt x="810489" y="108585"/>
                </a:lnTo>
                <a:lnTo>
                  <a:pt x="853880" y="160962"/>
                </a:lnTo>
                <a:lnTo>
                  <a:pt x="868680" y="217170"/>
                </a:lnTo>
                <a:lnTo>
                  <a:pt x="582016" y="781812"/>
                </a:lnTo>
                <a:lnTo>
                  <a:pt x="286664" y="781812"/>
                </a:lnTo>
                <a:close/>
              </a:path>
            </a:pathLst>
          </a:custGeom>
          <a:solidFill>
            <a:srgbClr val="EFB4B8"/>
          </a:solidFill>
          <a:ln w="15875">
            <a:solidFill>
              <a:srgbClr val="A33E48"/>
            </a:solidFill>
            <a:prstDash val="solid"/>
          </a:ln>
        </p:spPr>
      </p:sp>
      <p:sp>
        <p:nvSpPr>
          <p:cNvPr id="90" name="Shape 88"/>
          <p:cNvSpPr/>
          <p:nvPr/>
        </p:nvSpPr>
        <p:spPr>
          <a:xfrm>
            <a:off x="6036412" y="3585820"/>
            <a:ext cx="573329" cy="460400"/>
          </a:xfrm>
          <a:custGeom>
            <a:avLst/>
            <a:gdLst/>
            <a:ahLst/>
            <a:cxnLst/>
            <a:rect l="l" t="t" r="r" b="b"/>
            <a:pathLst>
              <a:path w="573329" h="460400">
                <a:moveTo>
                  <a:pt x="0" y="0"/>
                </a:moveTo>
                <a:lnTo>
                  <a:pt x="573329" y="0"/>
                </a:lnTo>
                <a:lnTo>
                  <a:pt x="286664" y="460400"/>
                </a:lnTo>
                <a:close/>
              </a:path>
            </a:pathLst>
          </a:custGeom>
          <a:solidFill>
            <a:srgbClr val="C8414C"/>
          </a:solidFill>
          <a:ln/>
        </p:spPr>
      </p:sp>
      <p:sp>
        <p:nvSpPr>
          <p:cNvPr id="91" name="Shape 89"/>
          <p:cNvSpPr/>
          <p:nvPr/>
        </p:nvSpPr>
        <p:spPr>
          <a:xfrm>
            <a:off x="6131966" y="3611880"/>
            <a:ext cx="382219" cy="330098"/>
          </a:xfrm>
          <a:custGeom>
            <a:avLst/>
            <a:gdLst/>
            <a:ahLst/>
            <a:cxnLst/>
            <a:rect l="l" t="t" r="r" b="b"/>
            <a:pathLst>
              <a:path w="382219" h="330098">
                <a:moveTo>
                  <a:pt x="0" y="0"/>
                </a:moveTo>
                <a:lnTo>
                  <a:pt x="382219" y="0"/>
                </a:lnTo>
                <a:lnTo>
                  <a:pt x="191110" y="330098"/>
                </a:lnTo>
                <a:close/>
              </a:path>
            </a:pathLst>
          </a:custGeom>
          <a:solidFill>
            <a:srgbClr val="FBE3E5"/>
          </a:solidFill>
          <a:ln/>
        </p:spPr>
      </p:sp>
      <p:sp>
        <p:nvSpPr>
          <p:cNvPr id="92" name="Shape 90"/>
          <p:cNvSpPr/>
          <p:nvPr/>
        </p:nvSpPr>
        <p:spPr>
          <a:xfrm>
            <a:off x="6222492" y="3630168"/>
            <a:ext cx="109728" cy="109728"/>
          </a:xfrm>
          <a:prstGeom prst="ellipse">
            <a:avLst/>
          </a:prstGeom>
          <a:solidFill>
            <a:srgbClr val="F7D7B5"/>
          </a:solidFill>
          <a:ln w="9525">
            <a:solidFill>
              <a:srgbClr val="A4561C"/>
            </a:solidFill>
            <a:prstDash val="solid"/>
          </a:ln>
        </p:spPr>
      </p:sp>
      <p:sp>
        <p:nvSpPr>
          <p:cNvPr id="93" name="Shape 91"/>
          <p:cNvSpPr/>
          <p:nvPr/>
        </p:nvSpPr>
        <p:spPr>
          <a:xfrm>
            <a:off x="7315200" y="1188720"/>
            <a:ext cx="4465015" cy="2971800"/>
          </a:xfrm>
          <a:prstGeom prst="roundRect">
            <a:avLst>
              <a:gd name="adj" fmla="val 1846"/>
            </a:avLst>
          </a:prstGeom>
          <a:solidFill>
            <a:srgbClr val="F5FBF7"/>
          </a:solidFill>
          <a:ln w="9525">
            <a:solidFill>
              <a:srgbClr val="D2E5D8"/>
            </a:solidFill>
            <a:prstDash val="solid"/>
          </a:ln>
        </p:spPr>
      </p:sp>
      <p:sp>
        <p:nvSpPr>
          <p:cNvPr id="94" name="Text 92"/>
          <p:cNvSpPr/>
          <p:nvPr/>
        </p:nvSpPr>
        <p:spPr>
          <a:xfrm>
            <a:off x="7479792" y="1280160"/>
            <a:ext cx="413583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Assisted Reproductive Technology (ART)</a:t>
            </a:r>
            <a:endParaRPr lang="en-US" sz="1300" dirty="0"/>
          </a:p>
        </p:txBody>
      </p:sp>
      <p:sp>
        <p:nvSpPr>
          <p:cNvPr id="95" name="Text 93"/>
          <p:cNvSpPr/>
          <p:nvPr/>
        </p:nvSpPr>
        <p:spPr>
          <a:xfrm>
            <a:off x="7479792" y="1609344"/>
            <a:ext cx="4135831" cy="247802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Clomifene</a:t>
            </a:r>
            <a:r>
              <a:rPr lang="en-US" sz="1050" dirty="0">
                <a:solidFill>
                  <a:srgbClr val="262B3A"/>
                </a:solidFill>
                <a:latin typeface="Calibri" pitchFamily="34" charset="0"/>
                <a:ea typeface="Calibri" pitchFamily="34" charset="-122"/>
                <a:cs typeface="Calibri" pitchFamily="34" charset="-120"/>
              </a:rPr>
              <a:t>: for women who do not ovulate regularly. It causes </a:t>
            </a:r>
            <a:r>
              <a:rPr lang="en-US" sz="1050" b="1" dirty="0">
                <a:solidFill>
                  <a:srgbClr val="262B3A"/>
                </a:solidFill>
                <a:latin typeface="Calibri" pitchFamily="34" charset="0"/>
                <a:ea typeface="Calibri" pitchFamily="34" charset="-122"/>
                <a:cs typeface="Calibri" pitchFamily="34" charset="-120"/>
              </a:rPr>
              <a:t>more FSH and LH</a:t>
            </a:r>
            <a:r>
              <a:rPr lang="en-US" sz="1050" dirty="0">
                <a:solidFill>
                  <a:srgbClr val="262B3A"/>
                </a:solidFill>
                <a:latin typeface="Calibri" pitchFamily="34" charset="0"/>
                <a:ea typeface="Calibri" pitchFamily="34" charset="-122"/>
                <a:cs typeface="Calibri" pitchFamily="34" charset="-120"/>
              </a:rPr>
              <a:t> to be released, so eggs mature and are released.</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IVF</a:t>
            </a:r>
            <a:r>
              <a:rPr lang="en-US" sz="1050" dirty="0">
                <a:solidFill>
                  <a:srgbClr val="262B3A"/>
                </a:solidFill>
                <a:latin typeface="Calibri" pitchFamily="34" charset="0"/>
                <a:ea typeface="Calibri" pitchFamily="34" charset="-122"/>
                <a:cs typeface="Calibri" pitchFamily="34" charset="-120"/>
              </a:rPr>
              <a:t> (in vitro fertilisation): </a:t>
            </a:r>
            <a:r>
              <a:rPr lang="en-US" sz="1050" b="1" dirty="0">
                <a:solidFill>
                  <a:srgbClr val="262B3A"/>
                </a:solidFill>
                <a:latin typeface="Calibri" pitchFamily="34" charset="0"/>
                <a:ea typeface="Calibri" pitchFamily="34" charset="-122"/>
                <a:cs typeface="Calibri" pitchFamily="34" charset="-120"/>
              </a:rPr>
              <a:t>FSH and LH</a:t>
            </a:r>
            <a:r>
              <a:rPr lang="en-US" sz="1050" dirty="0">
                <a:solidFill>
                  <a:srgbClr val="262B3A"/>
                </a:solidFill>
                <a:latin typeface="Calibri" pitchFamily="34" charset="0"/>
                <a:ea typeface="Calibri" pitchFamily="34" charset="-122"/>
                <a:cs typeface="Calibri" pitchFamily="34" charset="-120"/>
              </a:rPr>
              <a:t> make </a:t>
            </a:r>
            <a:r>
              <a:rPr lang="en-US" sz="1050" b="1" dirty="0">
                <a:solidFill>
                  <a:srgbClr val="262B3A"/>
                </a:solidFill>
                <a:latin typeface="Calibri" pitchFamily="34" charset="0"/>
                <a:ea typeface="Calibri" pitchFamily="34" charset="-122"/>
                <a:cs typeface="Calibri" pitchFamily="34" charset="-120"/>
              </a:rPr>
              <a:t>several eggs mature</a:t>
            </a:r>
            <a:r>
              <a:rPr lang="en-US" sz="1050" dirty="0">
                <a:solidFill>
                  <a:srgbClr val="262B3A"/>
                </a:solidFill>
                <a:latin typeface="Calibri" pitchFamily="34" charset="0"/>
                <a:ea typeface="Calibri" pitchFamily="34" charset="-122"/>
                <a:cs typeface="Calibri" pitchFamily="34" charset="-120"/>
              </a:rPr>
              <a:t>; eggs are collected and </a:t>
            </a:r>
            <a:r>
              <a:rPr lang="en-US" sz="1050" b="1" dirty="0">
                <a:solidFill>
                  <a:srgbClr val="262B3A"/>
                </a:solidFill>
                <a:latin typeface="Calibri" pitchFamily="34" charset="0"/>
                <a:ea typeface="Calibri" pitchFamily="34" charset="-122"/>
                <a:cs typeface="Calibri" pitchFamily="34" charset="-120"/>
              </a:rPr>
              <a:t>fertilised outside the body</a:t>
            </a:r>
            <a:r>
              <a:rPr lang="en-US" sz="1050" dirty="0">
                <a:solidFill>
                  <a:srgbClr val="262B3A"/>
                </a:solidFill>
                <a:latin typeface="Calibri" pitchFamily="34" charset="0"/>
                <a:ea typeface="Calibri" pitchFamily="34" charset="-122"/>
                <a:cs typeface="Calibri" pitchFamily="34" charset="-120"/>
              </a:rPr>
              <a:t>; embryos are placed in the uterus.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Issues: expensive, low success rate, </a:t>
            </a:r>
            <a:r>
              <a:rPr lang="en-US" sz="1050" b="1" dirty="0">
                <a:solidFill>
                  <a:srgbClr val="262B3A"/>
                </a:solidFill>
                <a:latin typeface="Calibri" pitchFamily="34" charset="0"/>
                <a:ea typeface="Calibri" pitchFamily="34" charset="-122"/>
                <a:cs typeface="Calibri" pitchFamily="34" charset="-120"/>
              </a:rPr>
              <a:t>multiple births</a:t>
            </a:r>
            <a:r>
              <a:rPr lang="en-US" sz="1050" dirty="0">
                <a:solidFill>
                  <a:srgbClr val="262B3A"/>
                </a:solidFill>
                <a:latin typeface="Calibri" pitchFamily="34" charset="0"/>
                <a:ea typeface="Calibri" pitchFamily="34" charset="-122"/>
                <a:cs typeface="Calibri" pitchFamily="34" charset="-120"/>
              </a:rPr>
              <a:t>, emotional stress.</a:t>
            </a:r>
            <a:endParaRPr lang="en-US" sz="1050" dirty="0"/>
          </a:p>
        </p:txBody>
      </p:sp>
      <p:sp>
        <p:nvSpPr>
          <p:cNvPr id="96" name="Shape 94"/>
          <p:cNvSpPr/>
          <p:nvPr/>
        </p:nvSpPr>
        <p:spPr>
          <a:xfrm>
            <a:off x="7315200" y="4297680"/>
            <a:ext cx="4465015" cy="1417320"/>
          </a:xfrm>
          <a:prstGeom prst="roundRect">
            <a:avLst>
              <a:gd name="adj" fmla="val 3871"/>
            </a:avLst>
          </a:prstGeom>
          <a:solidFill>
            <a:srgbClr val="FFF4E0"/>
          </a:solidFill>
          <a:ln w="9525">
            <a:solidFill>
              <a:srgbClr val="F1D9A8"/>
            </a:solidFill>
            <a:prstDash val="solid"/>
          </a:ln>
        </p:spPr>
      </p:sp>
      <p:sp>
        <p:nvSpPr>
          <p:cNvPr id="97" name="Text 95"/>
          <p:cNvSpPr/>
          <p:nvPr/>
        </p:nvSpPr>
        <p:spPr>
          <a:xfrm>
            <a:off x="7479792" y="4370832"/>
            <a:ext cx="413583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Use the data</a:t>
            </a:r>
            <a:endParaRPr lang="en-US" sz="1300" dirty="0"/>
          </a:p>
        </p:txBody>
      </p:sp>
      <p:sp>
        <p:nvSpPr>
          <p:cNvPr id="98" name="Text 96"/>
          <p:cNvSpPr/>
          <p:nvPr/>
        </p:nvSpPr>
        <p:spPr>
          <a:xfrm>
            <a:off x="7479792" y="4681728"/>
            <a:ext cx="4135831"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IVF live-birth rate: about 32% (under 35) and 11% (age 40–42). Compare.</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1 Divide   </a:t>
            </a:r>
            <a:r>
              <a:rPr lang="en-US" sz="1050" dirty="0">
                <a:solidFill>
                  <a:srgbClr val="262B3A"/>
                </a:solidFill>
                <a:latin typeface="Calibri" pitchFamily="34" charset="0"/>
                <a:ea typeface="Calibri" pitchFamily="34" charset="-122"/>
                <a:cs typeface="Calibri" pitchFamily="34" charset="-120"/>
              </a:rPr>
              <a:t>32 ÷ 11 = 2.9</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about 2.9 times more likely to succeed under 35</a:t>
            </a:r>
            <a:endParaRPr lang="en-US" sz="1050" dirty="0"/>
          </a:p>
        </p:txBody>
      </p:sp>
      <p:sp>
        <p:nvSpPr>
          <p:cNvPr id="99" name="Shape 97"/>
          <p:cNvSpPr/>
          <p:nvPr/>
        </p:nvSpPr>
        <p:spPr>
          <a:xfrm>
            <a:off x="411480" y="5833872"/>
            <a:ext cx="11368735" cy="530352"/>
          </a:xfrm>
          <a:prstGeom prst="rect">
            <a:avLst/>
          </a:prstGeom>
          <a:solidFill>
            <a:srgbClr val="FFF4E0"/>
          </a:solidFill>
          <a:ln w="6350">
            <a:solidFill>
              <a:srgbClr val="F1D9A8"/>
            </a:solidFill>
            <a:prstDash val="solid"/>
          </a:ln>
        </p:spPr>
      </p:sp>
      <p:sp>
        <p:nvSpPr>
          <p:cNvPr id="100" name="Shape 98"/>
          <p:cNvSpPr/>
          <p:nvPr/>
        </p:nvSpPr>
        <p:spPr>
          <a:xfrm>
            <a:off x="411480" y="5833872"/>
            <a:ext cx="82296" cy="530352"/>
          </a:xfrm>
          <a:prstGeom prst="rect">
            <a:avLst/>
          </a:prstGeom>
          <a:solidFill>
            <a:srgbClr val="E39A2F"/>
          </a:solidFill>
          <a:ln w="12700">
            <a:solidFill>
              <a:srgbClr val="E39A2F"/>
            </a:solidFill>
            <a:prstDash val="solid"/>
          </a:ln>
        </p:spPr>
      </p:sp>
      <p:sp>
        <p:nvSpPr>
          <p:cNvPr id="101" name="Text 9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are women given </a:t>
            </a:r>
            <a:r>
              <a:rPr lang="en-US" sz="1150" b="1" dirty="0">
                <a:solidFill>
                  <a:srgbClr val="262B3A"/>
                </a:solidFill>
                <a:latin typeface="Calibri" pitchFamily="34" charset="0"/>
                <a:ea typeface="Calibri" pitchFamily="34" charset="-122"/>
                <a:cs typeface="Calibri" pitchFamily="34" charset="-120"/>
              </a:rPr>
              <a:t>FSH</a:t>
            </a:r>
            <a:r>
              <a:rPr lang="en-US" sz="1150" dirty="0">
                <a:solidFill>
                  <a:srgbClr val="262B3A"/>
                </a:solidFill>
                <a:latin typeface="Calibri" pitchFamily="34" charset="0"/>
                <a:ea typeface="Calibri" pitchFamily="34" charset="-122"/>
                <a:cs typeface="Calibri" pitchFamily="34" charset="-120"/>
              </a:rPr>
              <a:t> at the start of IVF? 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disadvantage of IVF.</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7.6–7.8 • contraception and ART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16</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2E5D8"/>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the combined contraceptive pill prevents ovulation.</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2E5D8"/>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advantage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disadvantage of using a condom rather than the pill.</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2E5D8"/>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Shape 19"/>
          <p:cNvSpPr/>
          <p:nvPr/>
        </p:nvSpPr>
        <p:spPr>
          <a:xfrm>
            <a:off x="2606040" y="4696968"/>
            <a:ext cx="411480" cy="274320"/>
          </a:xfrm>
          <a:prstGeom prst="roundRect">
            <a:avLst>
              <a:gd name="adj" fmla="val 50000"/>
            </a:avLst>
          </a:prstGeom>
          <a:solidFill>
            <a:srgbClr val="C8414C"/>
          </a:solidFill>
          <a:ln w="12700">
            <a:solidFill>
              <a:srgbClr val="C8414C"/>
            </a:solidFill>
            <a:prstDash val="solid"/>
          </a:ln>
        </p:spPr>
      </p:sp>
      <p:sp>
        <p:nvSpPr>
          <p:cNvPr id="22" name="Text 20"/>
          <p:cNvSpPr/>
          <p:nvPr/>
        </p:nvSpPr>
        <p:spPr>
          <a:xfrm>
            <a:off x="2606040" y="469696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3" name="Text 21"/>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a:t>
            </a:r>
            <a:r>
              <a:rPr lang="en-US" sz="1250" b="1" dirty="0">
                <a:solidFill>
                  <a:srgbClr val="262B3A"/>
                </a:solidFill>
                <a:latin typeface="Calibri" pitchFamily="34" charset="0"/>
                <a:ea typeface="Calibri" pitchFamily="34" charset="-122"/>
                <a:cs typeface="Calibri" pitchFamily="34" charset="-120"/>
              </a:rPr>
              <a:t>clomifene therapy</a:t>
            </a:r>
            <a:r>
              <a:rPr lang="en-US" sz="1250" dirty="0">
                <a:solidFill>
                  <a:srgbClr val="262B3A"/>
                </a:solidFill>
                <a:latin typeface="Calibri" pitchFamily="34" charset="0"/>
                <a:ea typeface="Calibri" pitchFamily="34" charset="-122"/>
                <a:cs typeface="Calibri" pitchFamily="34" charset="-120"/>
              </a:rPr>
              <a:t> helps a woman who does not ovulate to become pregnant.</a:t>
            </a:r>
            <a:endParaRPr lang="en-US" sz="1250" dirty="0"/>
          </a:p>
        </p:txBody>
      </p:sp>
      <p:sp>
        <p:nvSpPr>
          <p:cNvPr id="24" name="Text 22"/>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Homeostasis: a constant internal environment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7.9 • responding to internal and external change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7.9  |  17</a:t>
            </a:r>
            <a:endParaRPr lang="en-US" sz="1000" dirty="0"/>
          </a:p>
        </p:txBody>
      </p:sp>
      <p:sp>
        <p:nvSpPr>
          <p:cNvPr id="8" name="Shape 6"/>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negative feedback loop keeps a factor close to its normal level</a:t>
            </a:r>
            <a:endParaRPr lang="en-US" sz="1000" dirty="0"/>
          </a:p>
        </p:txBody>
      </p:sp>
      <p:sp>
        <p:nvSpPr>
          <p:cNvPr id="10" name="Shape 8"/>
          <p:cNvSpPr/>
          <p:nvPr/>
        </p:nvSpPr>
        <p:spPr>
          <a:xfrm>
            <a:off x="914400" y="1417320"/>
            <a:ext cx="2194560" cy="731520"/>
          </a:xfrm>
          <a:prstGeom prst="roundRect">
            <a:avLst>
              <a:gd name="adj" fmla="val 7500"/>
            </a:avLst>
          </a:prstGeom>
          <a:solidFill>
            <a:srgbClr val="FDEDEE"/>
          </a:solidFill>
          <a:ln w="15875">
            <a:solidFill>
              <a:srgbClr val="C8414C"/>
            </a:solidFill>
            <a:prstDash val="solid"/>
          </a:ln>
        </p:spPr>
      </p:sp>
      <p:sp>
        <p:nvSpPr>
          <p:cNvPr id="11" name="Text 9"/>
          <p:cNvSpPr/>
          <p:nvPr/>
        </p:nvSpPr>
        <p:spPr>
          <a:xfrm>
            <a:off x="969264" y="1417320"/>
            <a:ext cx="2084832" cy="731520"/>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change: level </a:t>
            </a:r>
            <a:r>
              <a:rPr lang="en-US" sz="1100" b="1" dirty="0">
                <a:solidFill>
                  <a:srgbClr val="262B3A"/>
                </a:solidFill>
                <a:latin typeface="Calibri" pitchFamily="34" charset="0"/>
                <a:ea typeface="Calibri" pitchFamily="34" charset="-122"/>
                <a:cs typeface="Calibri" pitchFamily="34" charset="-120"/>
              </a:rPr>
              <a:t>rises</a:t>
            </a:r>
            <a:r>
              <a:rPr lang="en-US" sz="1100" dirty="0">
                <a:solidFill>
                  <a:srgbClr val="262B3A"/>
                </a:solidFill>
                <a:latin typeface="Calibri" pitchFamily="34" charset="0"/>
                <a:ea typeface="Calibri" pitchFamily="34" charset="-122"/>
                <a:cs typeface="Calibri" pitchFamily="34" charset="-120"/>
              </a:rPr>
              <a:t> or </a:t>
            </a:r>
            <a:r>
              <a:rPr lang="en-US" sz="1100" b="1" dirty="0">
                <a:solidFill>
                  <a:srgbClr val="262B3A"/>
                </a:solidFill>
                <a:latin typeface="Calibri" pitchFamily="34" charset="0"/>
                <a:ea typeface="Calibri" pitchFamily="34" charset="-122"/>
                <a:cs typeface="Calibri" pitchFamily="34" charset="-120"/>
              </a:rPr>
              <a:t>falls</a:t>
            </a:r>
            <a:endParaRPr lang="en-US" sz="1100" dirty="0"/>
          </a:p>
        </p:txBody>
      </p:sp>
      <p:sp>
        <p:nvSpPr>
          <p:cNvPr id="12" name="Shape 10"/>
          <p:cNvSpPr/>
          <p:nvPr/>
        </p:nvSpPr>
        <p:spPr>
          <a:xfrm>
            <a:off x="3337560" y="1417320"/>
            <a:ext cx="2194560" cy="731520"/>
          </a:xfrm>
          <a:prstGeom prst="roundRect">
            <a:avLst>
              <a:gd name="adj" fmla="val 7500"/>
            </a:avLst>
          </a:prstGeom>
          <a:solidFill>
            <a:srgbClr val="E6F0FB"/>
          </a:solidFill>
          <a:ln w="15875">
            <a:solidFill>
              <a:srgbClr val="3B7DD8"/>
            </a:solidFill>
            <a:prstDash val="solid"/>
          </a:ln>
        </p:spPr>
      </p:sp>
      <p:sp>
        <p:nvSpPr>
          <p:cNvPr id="13" name="Text 11"/>
          <p:cNvSpPr/>
          <p:nvPr/>
        </p:nvSpPr>
        <p:spPr>
          <a:xfrm>
            <a:off x="3392424" y="1417320"/>
            <a:ext cx="2084832" cy="73152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receptor</a:t>
            </a:r>
            <a:r>
              <a:rPr lang="en-US" sz="1100" dirty="0">
                <a:solidFill>
                  <a:srgbClr val="262B3A"/>
                </a:solidFill>
                <a:latin typeface="Calibri" pitchFamily="34" charset="0"/>
                <a:ea typeface="Calibri" pitchFamily="34" charset="-122"/>
                <a:cs typeface="Calibri" pitchFamily="34" charset="-120"/>
              </a:rPr>
              <a:t> detects the change</a:t>
            </a:r>
            <a:endParaRPr lang="en-US" sz="1100" dirty="0"/>
          </a:p>
        </p:txBody>
      </p:sp>
      <p:sp>
        <p:nvSpPr>
          <p:cNvPr id="14" name="Shape 12"/>
          <p:cNvSpPr/>
          <p:nvPr/>
        </p:nvSpPr>
        <p:spPr>
          <a:xfrm>
            <a:off x="3337560" y="2697480"/>
            <a:ext cx="2194560" cy="731520"/>
          </a:xfrm>
          <a:prstGeom prst="roundRect">
            <a:avLst>
              <a:gd name="adj" fmla="val 7500"/>
            </a:avLst>
          </a:prstGeom>
          <a:solidFill>
            <a:srgbClr val="EEE3F5"/>
          </a:solidFill>
          <a:ln w="15875">
            <a:solidFill>
              <a:srgbClr val="5E2D73"/>
            </a:solidFill>
            <a:prstDash val="solid"/>
          </a:ln>
        </p:spPr>
      </p:sp>
      <p:sp>
        <p:nvSpPr>
          <p:cNvPr id="15" name="Text 13"/>
          <p:cNvSpPr/>
          <p:nvPr/>
        </p:nvSpPr>
        <p:spPr>
          <a:xfrm>
            <a:off x="3392424" y="2697480"/>
            <a:ext cx="2084832" cy="73152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coordination centre</a:t>
            </a:r>
            <a:r>
              <a:rPr lang="en-US" sz="1100" dirty="0">
                <a:solidFill>
                  <a:srgbClr val="262B3A"/>
                </a:solidFill>
                <a:latin typeface="Calibri" pitchFamily="34" charset="0"/>
                <a:ea typeface="Calibri" pitchFamily="34" charset="-122"/>
                <a:cs typeface="Calibri" pitchFamily="34" charset="-120"/>
              </a:rPr>
              <a:t> (brain, gland)</a:t>
            </a:r>
            <a:endParaRPr lang="en-US" sz="1100" dirty="0"/>
          </a:p>
        </p:txBody>
      </p:sp>
      <p:sp>
        <p:nvSpPr>
          <p:cNvPr id="16" name="Shape 14"/>
          <p:cNvSpPr/>
          <p:nvPr/>
        </p:nvSpPr>
        <p:spPr>
          <a:xfrm>
            <a:off x="914400" y="2697480"/>
            <a:ext cx="2194560" cy="731520"/>
          </a:xfrm>
          <a:prstGeom prst="roundRect">
            <a:avLst>
              <a:gd name="adj" fmla="val 7500"/>
            </a:avLst>
          </a:prstGeom>
          <a:solidFill>
            <a:srgbClr val="E3F2E8"/>
          </a:solidFill>
          <a:ln w="15875">
            <a:solidFill>
              <a:srgbClr val="1E6B40"/>
            </a:solidFill>
            <a:prstDash val="solid"/>
          </a:ln>
        </p:spPr>
      </p:sp>
      <p:sp>
        <p:nvSpPr>
          <p:cNvPr id="17" name="Text 15"/>
          <p:cNvSpPr/>
          <p:nvPr/>
        </p:nvSpPr>
        <p:spPr>
          <a:xfrm>
            <a:off x="969264" y="2697480"/>
            <a:ext cx="2084832" cy="73152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effector</a:t>
            </a:r>
            <a:r>
              <a:rPr lang="en-US" sz="1100" dirty="0">
                <a:solidFill>
                  <a:srgbClr val="262B3A"/>
                </a:solidFill>
                <a:latin typeface="Calibri" pitchFamily="34" charset="0"/>
                <a:ea typeface="Calibri" pitchFamily="34" charset="-122"/>
                <a:cs typeface="Calibri" pitchFamily="34" charset="-120"/>
              </a:rPr>
              <a:t> (muscle, gland) responds</a:t>
            </a:r>
            <a:endParaRPr lang="en-US" sz="1100" dirty="0"/>
          </a:p>
        </p:txBody>
      </p:sp>
      <p:sp>
        <p:nvSpPr>
          <p:cNvPr id="18" name="Shape 16"/>
          <p:cNvSpPr/>
          <p:nvPr/>
        </p:nvSpPr>
        <p:spPr>
          <a:xfrm>
            <a:off x="3127248" y="1783080"/>
            <a:ext cx="192024" cy="91"/>
          </a:xfrm>
          <a:prstGeom prst="line">
            <a:avLst/>
          </a:prstGeom>
          <a:noFill/>
          <a:ln w="31750">
            <a:solidFill>
              <a:srgbClr val="1C3A2C"/>
            </a:solidFill>
            <a:prstDash val="solid"/>
            <a:tailEnd type="triangle"/>
          </a:ln>
        </p:spPr>
      </p:sp>
      <p:sp>
        <p:nvSpPr>
          <p:cNvPr id="19" name="Shape 17"/>
          <p:cNvSpPr/>
          <p:nvPr/>
        </p:nvSpPr>
        <p:spPr>
          <a:xfrm>
            <a:off x="4434840" y="2167128"/>
            <a:ext cx="91" cy="512064"/>
          </a:xfrm>
          <a:prstGeom prst="line">
            <a:avLst/>
          </a:prstGeom>
          <a:noFill/>
          <a:ln w="31750">
            <a:solidFill>
              <a:srgbClr val="1C3A2C"/>
            </a:solidFill>
            <a:prstDash val="solid"/>
            <a:tailEnd type="triangle"/>
          </a:ln>
        </p:spPr>
      </p:sp>
      <p:sp>
        <p:nvSpPr>
          <p:cNvPr id="20" name="Shape 18"/>
          <p:cNvSpPr/>
          <p:nvPr/>
        </p:nvSpPr>
        <p:spPr>
          <a:xfrm flipH="1">
            <a:off x="3127248" y="3063240"/>
            <a:ext cx="192024" cy="91"/>
          </a:xfrm>
          <a:prstGeom prst="line">
            <a:avLst/>
          </a:prstGeom>
          <a:noFill/>
          <a:ln w="31750">
            <a:solidFill>
              <a:srgbClr val="1C3A2C"/>
            </a:solidFill>
            <a:prstDash val="solid"/>
            <a:tailEnd type="triangle"/>
          </a:ln>
        </p:spPr>
      </p:sp>
      <p:sp>
        <p:nvSpPr>
          <p:cNvPr id="21" name="Shape 19"/>
          <p:cNvSpPr/>
          <p:nvPr/>
        </p:nvSpPr>
        <p:spPr>
          <a:xfrm flipV="1">
            <a:off x="2011680" y="2167128"/>
            <a:ext cx="91" cy="512064"/>
          </a:xfrm>
          <a:prstGeom prst="line">
            <a:avLst/>
          </a:prstGeom>
          <a:noFill/>
          <a:ln w="31750">
            <a:solidFill>
              <a:srgbClr val="2E8B57"/>
            </a:solidFill>
            <a:prstDash val="solid"/>
            <a:tailEnd type="triangle"/>
          </a:ln>
        </p:spPr>
      </p:sp>
      <p:sp>
        <p:nvSpPr>
          <p:cNvPr id="22" name="Text 20"/>
          <p:cNvSpPr/>
          <p:nvPr/>
        </p:nvSpPr>
        <p:spPr>
          <a:xfrm>
            <a:off x="548640" y="2258568"/>
            <a:ext cx="1463040" cy="256032"/>
          </a:xfrm>
          <a:prstGeom prst="rect">
            <a:avLst/>
          </a:prstGeom>
          <a:noFill/>
          <a:ln/>
        </p:spPr>
        <p:txBody>
          <a:bodyPr wrap="square" lIns="0" tIns="0" rIns="0" bIns="0" rtlCol="0" anchor="ctr"/>
          <a:lstStyle/>
          <a:p>
            <a:pPr algn="r" indent="0" marL="0">
              <a:buNone/>
            </a:pPr>
            <a:r>
              <a:rPr lang="en-US" sz="1050" dirty="0">
                <a:solidFill>
                  <a:srgbClr val="1E6B40"/>
                </a:solidFill>
                <a:latin typeface="Calibri" pitchFamily="34" charset="0"/>
                <a:ea typeface="Calibri" pitchFamily="34" charset="-122"/>
                <a:cs typeface="Calibri" pitchFamily="34" charset="-120"/>
              </a:rPr>
              <a:t>change </a:t>
            </a:r>
            <a:r>
              <a:rPr lang="en-US" sz="1050" b="1" dirty="0">
                <a:solidFill>
                  <a:srgbClr val="1E6B40"/>
                </a:solidFill>
                <a:latin typeface="Calibri" pitchFamily="34" charset="0"/>
                <a:ea typeface="Calibri" pitchFamily="34" charset="-122"/>
                <a:cs typeface="Calibri" pitchFamily="34" charset="-120"/>
              </a:rPr>
              <a:t>reversed</a:t>
            </a:r>
            <a:endParaRPr lang="en-US" sz="1050" dirty="0"/>
          </a:p>
        </p:txBody>
      </p:sp>
      <p:sp>
        <p:nvSpPr>
          <p:cNvPr id="23" name="Shape 21"/>
          <p:cNvSpPr/>
          <p:nvPr/>
        </p:nvSpPr>
        <p:spPr>
          <a:xfrm>
            <a:off x="1325880" y="3703320"/>
            <a:ext cx="4297680" cy="1143000"/>
          </a:xfrm>
          <a:prstGeom prst="rect">
            <a:avLst/>
          </a:prstGeom>
          <a:solidFill>
            <a:srgbClr val="FFFFFF"/>
          </a:solidFill>
          <a:ln/>
        </p:spPr>
      </p:sp>
      <p:sp>
        <p:nvSpPr>
          <p:cNvPr id="24" name="Shape 22"/>
          <p:cNvSpPr/>
          <p:nvPr/>
        </p:nvSpPr>
        <p:spPr>
          <a:xfrm>
            <a:off x="1325880" y="3703320"/>
            <a:ext cx="91" cy="1143000"/>
          </a:xfrm>
          <a:prstGeom prst="line">
            <a:avLst/>
          </a:prstGeom>
          <a:noFill/>
          <a:ln w="6350">
            <a:solidFill>
              <a:srgbClr val="C8DDCF"/>
            </a:solidFill>
            <a:prstDash val="solid"/>
          </a:ln>
        </p:spPr>
      </p:sp>
      <p:sp>
        <p:nvSpPr>
          <p:cNvPr id="25" name="Shape 23"/>
          <p:cNvSpPr/>
          <p:nvPr/>
        </p:nvSpPr>
        <p:spPr>
          <a:xfrm>
            <a:off x="2042160" y="3703320"/>
            <a:ext cx="91" cy="1143000"/>
          </a:xfrm>
          <a:prstGeom prst="line">
            <a:avLst/>
          </a:prstGeom>
          <a:noFill/>
          <a:ln w="6350">
            <a:solidFill>
              <a:srgbClr val="C8DDCF"/>
            </a:solidFill>
            <a:prstDash val="solid"/>
          </a:ln>
        </p:spPr>
      </p:sp>
      <p:sp>
        <p:nvSpPr>
          <p:cNvPr id="26" name="Shape 24"/>
          <p:cNvSpPr/>
          <p:nvPr/>
        </p:nvSpPr>
        <p:spPr>
          <a:xfrm>
            <a:off x="2758440" y="3703320"/>
            <a:ext cx="91" cy="1143000"/>
          </a:xfrm>
          <a:prstGeom prst="line">
            <a:avLst/>
          </a:prstGeom>
          <a:noFill/>
          <a:ln w="6350">
            <a:solidFill>
              <a:srgbClr val="C8DDCF"/>
            </a:solidFill>
            <a:prstDash val="solid"/>
          </a:ln>
        </p:spPr>
      </p:sp>
      <p:sp>
        <p:nvSpPr>
          <p:cNvPr id="27" name="Shape 25"/>
          <p:cNvSpPr/>
          <p:nvPr/>
        </p:nvSpPr>
        <p:spPr>
          <a:xfrm>
            <a:off x="3474720" y="3703320"/>
            <a:ext cx="91" cy="1143000"/>
          </a:xfrm>
          <a:prstGeom prst="line">
            <a:avLst/>
          </a:prstGeom>
          <a:noFill/>
          <a:ln w="6350">
            <a:solidFill>
              <a:srgbClr val="C8DDCF"/>
            </a:solidFill>
            <a:prstDash val="solid"/>
          </a:ln>
        </p:spPr>
      </p:sp>
      <p:sp>
        <p:nvSpPr>
          <p:cNvPr id="28" name="Shape 26"/>
          <p:cNvSpPr/>
          <p:nvPr/>
        </p:nvSpPr>
        <p:spPr>
          <a:xfrm>
            <a:off x="4191000" y="3703320"/>
            <a:ext cx="91" cy="1143000"/>
          </a:xfrm>
          <a:prstGeom prst="line">
            <a:avLst/>
          </a:prstGeom>
          <a:noFill/>
          <a:ln w="6350">
            <a:solidFill>
              <a:srgbClr val="C8DDCF"/>
            </a:solidFill>
            <a:prstDash val="solid"/>
          </a:ln>
        </p:spPr>
      </p:sp>
      <p:sp>
        <p:nvSpPr>
          <p:cNvPr id="29" name="Shape 27"/>
          <p:cNvSpPr/>
          <p:nvPr/>
        </p:nvSpPr>
        <p:spPr>
          <a:xfrm>
            <a:off x="4907280" y="3703320"/>
            <a:ext cx="91" cy="1143000"/>
          </a:xfrm>
          <a:prstGeom prst="line">
            <a:avLst/>
          </a:prstGeom>
          <a:noFill/>
          <a:ln w="6350">
            <a:solidFill>
              <a:srgbClr val="C8DDCF"/>
            </a:solidFill>
            <a:prstDash val="solid"/>
          </a:ln>
        </p:spPr>
      </p:sp>
      <p:sp>
        <p:nvSpPr>
          <p:cNvPr id="30" name="Shape 28"/>
          <p:cNvSpPr/>
          <p:nvPr/>
        </p:nvSpPr>
        <p:spPr>
          <a:xfrm>
            <a:off x="5623560" y="3703320"/>
            <a:ext cx="91" cy="1143000"/>
          </a:xfrm>
          <a:prstGeom prst="line">
            <a:avLst/>
          </a:prstGeom>
          <a:noFill/>
          <a:ln w="6350">
            <a:solidFill>
              <a:srgbClr val="C8DDCF"/>
            </a:solidFill>
            <a:prstDash val="solid"/>
          </a:ln>
        </p:spPr>
      </p:sp>
      <p:sp>
        <p:nvSpPr>
          <p:cNvPr id="31" name="Shape 29"/>
          <p:cNvSpPr/>
          <p:nvPr/>
        </p:nvSpPr>
        <p:spPr>
          <a:xfrm>
            <a:off x="1325880" y="4846320"/>
            <a:ext cx="4297680" cy="91"/>
          </a:xfrm>
          <a:prstGeom prst="line">
            <a:avLst/>
          </a:prstGeom>
          <a:noFill/>
          <a:ln w="6350">
            <a:solidFill>
              <a:srgbClr val="C8DDCF"/>
            </a:solidFill>
            <a:prstDash val="solid"/>
          </a:ln>
        </p:spPr>
      </p:sp>
      <p:sp>
        <p:nvSpPr>
          <p:cNvPr id="32" name="Shape 30"/>
          <p:cNvSpPr/>
          <p:nvPr/>
        </p:nvSpPr>
        <p:spPr>
          <a:xfrm>
            <a:off x="1325880" y="4274820"/>
            <a:ext cx="4297680" cy="91"/>
          </a:xfrm>
          <a:prstGeom prst="line">
            <a:avLst/>
          </a:prstGeom>
          <a:noFill/>
          <a:ln w="6350">
            <a:solidFill>
              <a:srgbClr val="C8DDCF"/>
            </a:solidFill>
            <a:prstDash val="solid"/>
          </a:ln>
        </p:spPr>
      </p:sp>
      <p:sp>
        <p:nvSpPr>
          <p:cNvPr id="33" name="Shape 31"/>
          <p:cNvSpPr/>
          <p:nvPr/>
        </p:nvSpPr>
        <p:spPr>
          <a:xfrm>
            <a:off x="1325880" y="3703320"/>
            <a:ext cx="4297680" cy="91"/>
          </a:xfrm>
          <a:prstGeom prst="line">
            <a:avLst/>
          </a:prstGeom>
          <a:noFill/>
          <a:ln w="6350">
            <a:solidFill>
              <a:srgbClr val="C8DDCF"/>
            </a:solidFill>
            <a:prstDash val="solid"/>
          </a:ln>
        </p:spPr>
      </p:sp>
      <p:sp>
        <p:nvSpPr>
          <p:cNvPr id="34" name="Shape 32"/>
          <p:cNvSpPr/>
          <p:nvPr/>
        </p:nvSpPr>
        <p:spPr>
          <a:xfrm>
            <a:off x="1325880" y="4846320"/>
            <a:ext cx="4297680" cy="91"/>
          </a:xfrm>
          <a:prstGeom prst="line">
            <a:avLst/>
          </a:prstGeom>
          <a:noFill/>
          <a:ln w="19050">
            <a:solidFill>
              <a:srgbClr val="1C3A2C"/>
            </a:solidFill>
            <a:prstDash val="solid"/>
          </a:ln>
        </p:spPr>
      </p:sp>
      <p:sp>
        <p:nvSpPr>
          <p:cNvPr id="35" name="Shape 33"/>
          <p:cNvSpPr/>
          <p:nvPr/>
        </p:nvSpPr>
        <p:spPr>
          <a:xfrm flipV="1">
            <a:off x="1325880" y="3703320"/>
            <a:ext cx="91" cy="1143000"/>
          </a:xfrm>
          <a:prstGeom prst="line">
            <a:avLst/>
          </a:prstGeom>
          <a:noFill/>
          <a:ln w="19050">
            <a:solidFill>
              <a:srgbClr val="1C3A2C"/>
            </a:solidFill>
            <a:prstDash val="solid"/>
          </a:ln>
        </p:spPr>
      </p:sp>
      <p:sp>
        <p:nvSpPr>
          <p:cNvPr id="36" name="Shape 34"/>
          <p:cNvSpPr/>
          <p:nvPr/>
        </p:nvSpPr>
        <p:spPr>
          <a:xfrm>
            <a:off x="1325880" y="4846320"/>
            <a:ext cx="91" cy="54864"/>
          </a:xfrm>
          <a:prstGeom prst="line">
            <a:avLst/>
          </a:prstGeom>
          <a:noFill/>
          <a:ln w="12700">
            <a:solidFill>
              <a:srgbClr val="1C3A2C"/>
            </a:solidFill>
            <a:prstDash val="solid"/>
          </a:ln>
        </p:spPr>
      </p:sp>
      <p:sp>
        <p:nvSpPr>
          <p:cNvPr id="37" name="Text 35"/>
          <p:cNvSpPr/>
          <p:nvPr/>
        </p:nvSpPr>
        <p:spPr>
          <a:xfrm>
            <a:off x="1051560" y="49011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8" name="Shape 36"/>
          <p:cNvSpPr/>
          <p:nvPr/>
        </p:nvSpPr>
        <p:spPr>
          <a:xfrm>
            <a:off x="2042160" y="4846320"/>
            <a:ext cx="91" cy="54864"/>
          </a:xfrm>
          <a:prstGeom prst="line">
            <a:avLst/>
          </a:prstGeom>
          <a:noFill/>
          <a:ln w="12700">
            <a:solidFill>
              <a:srgbClr val="1C3A2C"/>
            </a:solidFill>
            <a:prstDash val="solid"/>
          </a:ln>
        </p:spPr>
      </p:sp>
      <p:sp>
        <p:nvSpPr>
          <p:cNvPr id="39" name="Text 37"/>
          <p:cNvSpPr/>
          <p:nvPr/>
        </p:nvSpPr>
        <p:spPr>
          <a:xfrm>
            <a:off x="1767840" y="49011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0" name="Shape 38"/>
          <p:cNvSpPr/>
          <p:nvPr/>
        </p:nvSpPr>
        <p:spPr>
          <a:xfrm>
            <a:off x="2758440" y="4846320"/>
            <a:ext cx="91" cy="54864"/>
          </a:xfrm>
          <a:prstGeom prst="line">
            <a:avLst/>
          </a:prstGeom>
          <a:noFill/>
          <a:ln w="12700">
            <a:solidFill>
              <a:srgbClr val="1C3A2C"/>
            </a:solidFill>
            <a:prstDash val="solid"/>
          </a:ln>
        </p:spPr>
      </p:sp>
      <p:sp>
        <p:nvSpPr>
          <p:cNvPr id="41" name="Text 39"/>
          <p:cNvSpPr/>
          <p:nvPr/>
        </p:nvSpPr>
        <p:spPr>
          <a:xfrm>
            <a:off x="2484120" y="49011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2" name="Shape 40"/>
          <p:cNvSpPr/>
          <p:nvPr/>
        </p:nvSpPr>
        <p:spPr>
          <a:xfrm>
            <a:off x="3474720" y="4846320"/>
            <a:ext cx="91" cy="54864"/>
          </a:xfrm>
          <a:prstGeom prst="line">
            <a:avLst/>
          </a:prstGeom>
          <a:noFill/>
          <a:ln w="12700">
            <a:solidFill>
              <a:srgbClr val="1C3A2C"/>
            </a:solidFill>
            <a:prstDash val="solid"/>
          </a:ln>
        </p:spPr>
      </p:sp>
      <p:sp>
        <p:nvSpPr>
          <p:cNvPr id="43" name="Text 41"/>
          <p:cNvSpPr/>
          <p:nvPr/>
        </p:nvSpPr>
        <p:spPr>
          <a:xfrm>
            <a:off x="3200400" y="49011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4" name="Shape 42"/>
          <p:cNvSpPr/>
          <p:nvPr/>
        </p:nvSpPr>
        <p:spPr>
          <a:xfrm>
            <a:off x="4191000" y="4846320"/>
            <a:ext cx="91" cy="54864"/>
          </a:xfrm>
          <a:prstGeom prst="line">
            <a:avLst/>
          </a:prstGeom>
          <a:noFill/>
          <a:ln w="12700">
            <a:solidFill>
              <a:srgbClr val="1C3A2C"/>
            </a:solidFill>
            <a:prstDash val="solid"/>
          </a:ln>
        </p:spPr>
      </p:sp>
      <p:sp>
        <p:nvSpPr>
          <p:cNvPr id="45" name="Text 43"/>
          <p:cNvSpPr/>
          <p:nvPr/>
        </p:nvSpPr>
        <p:spPr>
          <a:xfrm>
            <a:off x="3916680" y="49011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46" name="Shape 44"/>
          <p:cNvSpPr/>
          <p:nvPr/>
        </p:nvSpPr>
        <p:spPr>
          <a:xfrm>
            <a:off x="4907280" y="4846320"/>
            <a:ext cx="91" cy="54864"/>
          </a:xfrm>
          <a:prstGeom prst="line">
            <a:avLst/>
          </a:prstGeom>
          <a:noFill/>
          <a:ln w="12700">
            <a:solidFill>
              <a:srgbClr val="1C3A2C"/>
            </a:solidFill>
            <a:prstDash val="solid"/>
          </a:ln>
        </p:spPr>
      </p:sp>
      <p:sp>
        <p:nvSpPr>
          <p:cNvPr id="47" name="Text 45"/>
          <p:cNvSpPr/>
          <p:nvPr/>
        </p:nvSpPr>
        <p:spPr>
          <a:xfrm>
            <a:off x="4632960" y="49011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48" name="Shape 46"/>
          <p:cNvSpPr/>
          <p:nvPr/>
        </p:nvSpPr>
        <p:spPr>
          <a:xfrm>
            <a:off x="5623560" y="4846320"/>
            <a:ext cx="91" cy="54864"/>
          </a:xfrm>
          <a:prstGeom prst="line">
            <a:avLst/>
          </a:prstGeom>
          <a:noFill/>
          <a:ln w="12700">
            <a:solidFill>
              <a:srgbClr val="1C3A2C"/>
            </a:solidFill>
            <a:prstDash val="solid"/>
          </a:ln>
        </p:spPr>
      </p:sp>
      <p:sp>
        <p:nvSpPr>
          <p:cNvPr id="49" name="Text 47"/>
          <p:cNvSpPr/>
          <p:nvPr/>
        </p:nvSpPr>
        <p:spPr>
          <a:xfrm>
            <a:off x="5349240" y="49011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50" name="Shape 48"/>
          <p:cNvSpPr/>
          <p:nvPr/>
        </p:nvSpPr>
        <p:spPr>
          <a:xfrm>
            <a:off x="1271016" y="4846320"/>
            <a:ext cx="54864" cy="91"/>
          </a:xfrm>
          <a:prstGeom prst="line">
            <a:avLst/>
          </a:prstGeom>
          <a:noFill/>
          <a:ln w="12700">
            <a:solidFill>
              <a:srgbClr val="1C3A2C"/>
            </a:solidFill>
            <a:prstDash val="solid"/>
          </a:ln>
        </p:spPr>
      </p:sp>
      <p:sp>
        <p:nvSpPr>
          <p:cNvPr id="51" name="Text 49"/>
          <p:cNvSpPr/>
          <p:nvPr/>
        </p:nvSpPr>
        <p:spPr>
          <a:xfrm>
            <a:off x="886968" y="4754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36.5</a:t>
            </a:r>
            <a:endParaRPr lang="en-US" sz="1000" dirty="0"/>
          </a:p>
        </p:txBody>
      </p:sp>
      <p:sp>
        <p:nvSpPr>
          <p:cNvPr id="52" name="Shape 50"/>
          <p:cNvSpPr/>
          <p:nvPr/>
        </p:nvSpPr>
        <p:spPr>
          <a:xfrm>
            <a:off x="1271016" y="4274820"/>
            <a:ext cx="54864" cy="91"/>
          </a:xfrm>
          <a:prstGeom prst="line">
            <a:avLst/>
          </a:prstGeom>
          <a:noFill/>
          <a:ln w="12700">
            <a:solidFill>
              <a:srgbClr val="1C3A2C"/>
            </a:solidFill>
            <a:prstDash val="solid"/>
          </a:ln>
        </p:spPr>
      </p:sp>
      <p:sp>
        <p:nvSpPr>
          <p:cNvPr id="53" name="Text 51"/>
          <p:cNvSpPr/>
          <p:nvPr/>
        </p:nvSpPr>
        <p:spPr>
          <a:xfrm>
            <a:off x="886968" y="41833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37</a:t>
            </a:r>
            <a:endParaRPr lang="en-US" sz="1000" dirty="0"/>
          </a:p>
        </p:txBody>
      </p:sp>
      <p:sp>
        <p:nvSpPr>
          <p:cNvPr id="54" name="Shape 52"/>
          <p:cNvSpPr/>
          <p:nvPr/>
        </p:nvSpPr>
        <p:spPr>
          <a:xfrm>
            <a:off x="1271016" y="3703320"/>
            <a:ext cx="54864" cy="91"/>
          </a:xfrm>
          <a:prstGeom prst="line">
            <a:avLst/>
          </a:prstGeom>
          <a:noFill/>
          <a:ln w="12700">
            <a:solidFill>
              <a:srgbClr val="1C3A2C"/>
            </a:solidFill>
            <a:prstDash val="solid"/>
          </a:ln>
        </p:spPr>
      </p:sp>
      <p:sp>
        <p:nvSpPr>
          <p:cNvPr id="55" name="Text 53"/>
          <p:cNvSpPr/>
          <p:nvPr/>
        </p:nvSpPr>
        <p:spPr>
          <a:xfrm>
            <a:off x="886968" y="3611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37.5</a:t>
            </a:r>
            <a:endParaRPr lang="en-US" sz="1000" dirty="0"/>
          </a:p>
        </p:txBody>
      </p:sp>
      <p:sp>
        <p:nvSpPr>
          <p:cNvPr id="56" name="Text 54"/>
          <p:cNvSpPr/>
          <p:nvPr/>
        </p:nvSpPr>
        <p:spPr>
          <a:xfrm>
            <a:off x="1325880" y="5093208"/>
            <a:ext cx="42976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min</a:t>
            </a:r>
            <a:endParaRPr lang="en-US" sz="1050" dirty="0"/>
          </a:p>
        </p:txBody>
      </p:sp>
      <p:sp>
        <p:nvSpPr>
          <p:cNvPr id="57" name="Text 55"/>
          <p:cNvSpPr/>
          <p:nvPr/>
        </p:nvSpPr>
        <p:spPr>
          <a:xfrm rot="16200000">
            <a:off x="187452" y="4146804"/>
            <a:ext cx="1143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a:t>
            </a:r>
            <a:endParaRPr lang="en-US" sz="1050" dirty="0"/>
          </a:p>
        </p:txBody>
      </p:sp>
      <p:sp>
        <p:nvSpPr>
          <p:cNvPr id="58" name="Shape 56"/>
          <p:cNvSpPr/>
          <p:nvPr/>
        </p:nvSpPr>
        <p:spPr>
          <a:xfrm>
            <a:off x="1325880" y="4274820"/>
            <a:ext cx="4297680" cy="91"/>
          </a:xfrm>
          <a:prstGeom prst="line">
            <a:avLst/>
          </a:prstGeom>
          <a:noFill/>
          <a:ln w="15875">
            <a:solidFill>
              <a:srgbClr val="B8730A"/>
            </a:solidFill>
            <a:prstDash val="dash"/>
          </a:ln>
        </p:spPr>
      </p:sp>
      <p:sp>
        <p:nvSpPr>
          <p:cNvPr id="59" name="Shape 57"/>
          <p:cNvSpPr/>
          <p:nvPr/>
        </p:nvSpPr>
        <p:spPr>
          <a:xfrm flipV="1">
            <a:off x="1325880" y="4217382"/>
            <a:ext cx="38372" cy="57438"/>
          </a:xfrm>
          <a:prstGeom prst="line">
            <a:avLst/>
          </a:prstGeom>
          <a:noFill/>
          <a:ln w="28575">
            <a:solidFill>
              <a:srgbClr val="C8414C"/>
            </a:solidFill>
            <a:prstDash val="solid"/>
          </a:ln>
        </p:spPr>
      </p:sp>
      <p:sp>
        <p:nvSpPr>
          <p:cNvPr id="60" name="Shape 58"/>
          <p:cNvSpPr/>
          <p:nvPr/>
        </p:nvSpPr>
        <p:spPr>
          <a:xfrm flipV="1">
            <a:off x="1364252" y="4161567"/>
            <a:ext cx="38372" cy="55815"/>
          </a:xfrm>
          <a:prstGeom prst="line">
            <a:avLst/>
          </a:prstGeom>
          <a:noFill/>
          <a:ln w="28575">
            <a:solidFill>
              <a:srgbClr val="C8414C"/>
            </a:solidFill>
            <a:prstDash val="solid"/>
          </a:ln>
        </p:spPr>
      </p:sp>
      <p:sp>
        <p:nvSpPr>
          <p:cNvPr id="61" name="Shape 59"/>
          <p:cNvSpPr/>
          <p:nvPr/>
        </p:nvSpPr>
        <p:spPr>
          <a:xfrm flipV="1">
            <a:off x="1402624" y="4108953"/>
            <a:ext cx="38372" cy="52615"/>
          </a:xfrm>
          <a:prstGeom prst="line">
            <a:avLst/>
          </a:prstGeom>
          <a:noFill/>
          <a:ln w="28575">
            <a:solidFill>
              <a:srgbClr val="C8414C"/>
            </a:solidFill>
            <a:prstDash val="solid"/>
          </a:ln>
        </p:spPr>
      </p:sp>
      <p:sp>
        <p:nvSpPr>
          <p:cNvPr id="62" name="Shape 60"/>
          <p:cNvSpPr/>
          <p:nvPr/>
        </p:nvSpPr>
        <p:spPr>
          <a:xfrm flipV="1">
            <a:off x="1440996" y="4061025"/>
            <a:ext cx="38372" cy="47927"/>
          </a:xfrm>
          <a:prstGeom prst="line">
            <a:avLst/>
          </a:prstGeom>
          <a:noFill/>
          <a:ln w="28575">
            <a:solidFill>
              <a:srgbClr val="C8414C"/>
            </a:solidFill>
            <a:prstDash val="solid"/>
          </a:ln>
        </p:spPr>
      </p:sp>
      <p:sp>
        <p:nvSpPr>
          <p:cNvPr id="63" name="Shape 61"/>
          <p:cNvSpPr/>
          <p:nvPr/>
        </p:nvSpPr>
        <p:spPr>
          <a:xfrm flipV="1">
            <a:off x="1479369" y="4019139"/>
            <a:ext cx="38372" cy="41886"/>
          </a:xfrm>
          <a:prstGeom prst="line">
            <a:avLst/>
          </a:prstGeom>
          <a:noFill/>
          <a:ln w="28575">
            <a:solidFill>
              <a:srgbClr val="C8414C"/>
            </a:solidFill>
            <a:prstDash val="solid"/>
          </a:ln>
        </p:spPr>
      </p:sp>
      <p:sp>
        <p:nvSpPr>
          <p:cNvPr id="64" name="Shape 62"/>
          <p:cNvSpPr/>
          <p:nvPr/>
        </p:nvSpPr>
        <p:spPr>
          <a:xfrm flipV="1">
            <a:off x="1517741" y="3984478"/>
            <a:ext cx="38372" cy="34661"/>
          </a:xfrm>
          <a:prstGeom prst="line">
            <a:avLst/>
          </a:prstGeom>
          <a:noFill/>
          <a:ln w="28575">
            <a:solidFill>
              <a:srgbClr val="C8414C"/>
            </a:solidFill>
            <a:prstDash val="solid"/>
          </a:ln>
        </p:spPr>
      </p:sp>
      <p:sp>
        <p:nvSpPr>
          <p:cNvPr id="65" name="Shape 63"/>
          <p:cNvSpPr/>
          <p:nvPr/>
        </p:nvSpPr>
        <p:spPr>
          <a:xfrm flipV="1">
            <a:off x="1556113" y="3958022"/>
            <a:ext cx="38372" cy="26457"/>
          </a:xfrm>
          <a:prstGeom prst="line">
            <a:avLst/>
          </a:prstGeom>
          <a:noFill/>
          <a:ln w="28575">
            <a:solidFill>
              <a:srgbClr val="C8414C"/>
            </a:solidFill>
            <a:prstDash val="solid"/>
          </a:ln>
        </p:spPr>
      </p:sp>
      <p:sp>
        <p:nvSpPr>
          <p:cNvPr id="66" name="Shape 64"/>
          <p:cNvSpPr/>
          <p:nvPr/>
        </p:nvSpPr>
        <p:spPr>
          <a:xfrm flipV="1">
            <a:off x="1594485" y="3940517"/>
            <a:ext cx="38372" cy="17504"/>
          </a:xfrm>
          <a:prstGeom prst="line">
            <a:avLst/>
          </a:prstGeom>
          <a:noFill/>
          <a:ln w="28575">
            <a:solidFill>
              <a:srgbClr val="C8414C"/>
            </a:solidFill>
            <a:prstDash val="solid"/>
          </a:ln>
        </p:spPr>
      </p:sp>
      <p:sp>
        <p:nvSpPr>
          <p:cNvPr id="67" name="Shape 65"/>
          <p:cNvSpPr/>
          <p:nvPr/>
        </p:nvSpPr>
        <p:spPr>
          <a:xfrm flipV="1">
            <a:off x="1632857" y="3932459"/>
            <a:ext cx="38372" cy="8058"/>
          </a:xfrm>
          <a:prstGeom prst="line">
            <a:avLst/>
          </a:prstGeom>
          <a:noFill/>
          <a:ln w="28575">
            <a:solidFill>
              <a:srgbClr val="C8414C"/>
            </a:solidFill>
            <a:prstDash val="solid"/>
          </a:ln>
        </p:spPr>
      </p:sp>
      <p:sp>
        <p:nvSpPr>
          <p:cNvPr id="68" name="Shape 66"/>
          <p:cNvSpPr/>
          <p:nvPr/>
        </p:nvSpPr>
        <p:spPr>
          <a:xfrm>
            <a:off x="1671229" y="3932459"/>
            <a:ext cx="38372" cy="1617"/>
          </a:xfrm>
          <a:prstGeom prst="line">
            <a:avLst/>
          </a:prstGeom>
          <a:noFill/>
          <a:ln w="28575">
            <a:solidFill>
              <a:srgbClr val="C8414C"/>
            </a:solidFill>
            <a:prstDash val="solid"/>
          </a:ln>
        </p:spPr>
      </p:sp>
      <p:sp>
        <p:nvSpPr>
          <p:cNvPr id="69" name="Shape 67"/>
          <p:cNvSpPr/>
          <p:nvPr/>
        </p:nvSpPr>
        <p:spPr>
          <a:xfrm>
            <a:off x="1709601" y="3934076"/>
            <a:ext cx="38372" cy="11245"/>
          </a:xfrm>
          <a:prstGeom prst="line">
            <a:avLst/>
          </a:prstGeom>
          <a:noFill/>
          <a:ln w="28575">
            <a:solidFill>
              <a:srgbClr val="C8414C"/>
            </a:solidFill>
            <a:prstDash val="solid"/>
          </a:ln>
        </p:spPr>
      </p:sp>
      <p:sp>
        <p:nvSpPr>
          <p:cNvPr id="70" name="Shape 68"/>
          <p:cNvSpPr/>
          <p:nvPr/>
        </p:nvSpPr>
        <p:spPr>
          <a:xfrm>
            <a:off x="1747974" y="3945321"/>
            <a:ext cx="38372" cy="20556"/>
          </a:xfrm>
          <a:prstGeom prst="line">
            <a:avLst/>
          </a:prstGeom>
          <a:noFill/>
          <a:ln w="28575">
            <a:solidFill>
              <a:srgbClr val="C8414C"/>
            </a:solidFill>
            <a:prstDash val="solid"/>
          </a:ln>
        </p:spPr>
      </p:sp>
      <p:sp>
        <p:nvSpPr>
          <p:cNvPr id="71" name="Shape 69"/>
          <p:cNvSpPr/>
          <p:nvPr/>
        </p:nvSpPr>
        <p:spPr>
          <a:xfrm>
            <a:off x="1786346" y="3965878"/>
            <a:ext cx="38372" cy="29286"/>
          </a:xfrm>
          <a:prstGeom prst="line">
            <a:avLst/>
          </a:prstGeom>
          <a:noFill/>
          <a:ln w="28575">
            <a:solidFill>
              <a:srgbClr val="C8414C"/>
            </a:solidFill>
            <a:prstDash val="solid"/>
          </a:ln>
        </p:spPr>
      </p:sp>
      <p:sp>
        <p:nvSpPr>
          <p:cNvPr id="72" name="Shape 70"/>
          <p:cNvSpPr/>
          <p:nvPr/>
        </p:nvSpPr>
        <p:spPr>
          <a:xfrm>
            <a:off x="1824718" y="3995164"/>
            <a:ext cx="38372" cy="37189"/>
          </a:xfrm>
          <a:prstGeom prst="line">
            <a:avLst/>
          </a:prstGeom>
          <a:noFill/>
          <a:ln w="28575">
            <a:solidFill>
              <a:srgbClr val="C8414C"/>
            </a:solidFill>
            <a:prstDash val="solid"/>
          </a:ln>
        </p:spPr>
      </p:sp>
      <p:sp>
        <p:nvSpPr>
          <p:cNvPr id="73" name="Shape 71"/>
          <p:cNvSpPr/>
          <p:nvPr/>
        </p:nvSpPr>
        <p:spPr>
          <a:xfrm>
            <a:off x="1863090" y="4032353"/>
            <a:ext cx="38372" cy="44041"/>
          </a:xfrm>
          <a:prstGeom prst="line">
            <a:avLst/>
          </a:prstGeom>
          <a:noFill/>
          <a:ln w="28575">
            <a:solidFill>
              <a:srgbClr val="C8414C"/>
            </a:solidFill>
            <a:prstDash val="solid"/>
          </a:ln>
        </p:spPr>
      </p:sp>
      <p:sp>
        <p:nvSpPr>
          <p:cNvPr id="74" name="Shape 72"/>
          <p:cNvSpPr/>
          <p:nvPr/>
        </p:nvSpPr>
        <p:spPr>
          <a:xfrm>
            <a:off x="1901462" y="4076394"/>
            <a:ext cx="38372" cy="49648"/>
          </a:xfrm>
          <a:prstGeom prst="line">
            <a:avLst/>
          </a:prstGeom>
          <a:noFill/>
          <a:ln w="28575">
            <a:solidFill>
              <a:srgbClr val="C8414C"/>
            </a:solidFill>
            <a:prstDash val="solid"/>
          </a:ln>
        </p:spPr>
      </p:sp>
      <p:sp>
        <p:nvSpPr>
          <p:cNvPr id="75" name="Shape 73"/>
          <p:cNvSpPr/>
          <p:nvPr/>
        </p:nvSpPr>
        <p:spPr>
          <a:xfrm>
            <a:off x="1939834" y="4126041"/>
            <a:ext cx="38372" cy="53852"/>
          </a:xfrm>
          <a:prstGeom prst="line">
            <a:avLst/>
          </a:prstGeom>
          <a:noFill/>
          <a:ln w="28575">
            <a:solidFill>
              <a:srgbClr val="C8414C"/>
            </a:solidFill>
            <a:prstDash val="solid"/>
          </a:ln>
        </p:spPr>
      </p:sp>
      <p:sp>
        <p:nvSpPr>
          <p:cNvPr id="76" name="Shape 74"/>
          <p:cNvSpPr/>
          <p:nvPr/>
        </p:nvSpPr>
        <p:spPr>
          <a:xfrm>
            <a:off x="1978206" y="4179893"/>
            <a:ext cx="38372" cy="56534"/>
          </a:xfrm>
          <a:prstGeom prst="line">
            <a:avLst/>
          </a:prstGeom>
          <a:noFill/>
          <a:ln w="28575">
            <a:solidFill>
              <a:srgbClr val="C8414C"/>
            </a:solidFill>
            <a:prstDash val="solid"/>
          </a:ln>
        </p:spPr>
      </p:sp>
      <p:sp>
        <p:nvSpPr>
          <p:cNvPr id="77" name="Shape 75"/>
          <p:cNvSpPr/>
          <p:nvPr/>
        </p:nvSpPr>
        <p:spPr>
          <a:xfrm>
            <a:off x="2016579" y="4236427"/>
            <a:ext cx="38372" cy="57619"/>
          </a:xfrm>
          <a:prstGeom prst="line">
            <a:avLst/>
          </a:prstGeom>
          <a:noFill/>
          <a:ln w="28575">
            <a:solidFill>
              <a:srgbClr val="C8414C"/>
            </a:solidFill>
            <a:prstDash val="solid"/>
          </a:ln>
        </p:spPr>
      </p:sp>
      <p:sp>
        <p:nvSpPr>
          <p:cNvPr id="78" name="Shape 76"/>
          <p:cNvSpPr/>
          <p:nvPr/>
        </p:nvSpPr>
        <p:spPr>
          <a:xfrm>
            <a:off x="2054951" y="4294047"/>
            <a:ext cx="38372" cy="57076"/>
          </a:xfrm>
          <a:prstGeom prst="line">
            <a:avLst/>
          </a:prstGeom>
          <a:noFill/>
          <a:ln w="28575">
            <a:solidFill>
              <a:srgbClr val="C8414C"/>
            </a:solidFill>
            <a:prstDash val="solid"/>
          </a:ln>
        </p:spPr>
      </p:sp>
      <p:sp>
        <p:nvSpPr>
          <p:cNvPr id="79" name="Shape 77"/>
          <p:cNvSpPr/>
          <p:nvPr/>
        </p:nvSpPr>
        <p:spPr>
          <a:xfrm>
            <a:off x="2093323" y="4351122"/>
            <a:ext cx="38372" cy="54920"/>
          </a:xfrm>
          <a:prstGeom prst="line">
            <a:avLst/>
          </a:prstGeom>
          <a:noFill/>
          <a:ln w="28575">
            <a:solidFill>
              <a:srgbClr val="C8414C"/>
            </a:solidFill>
            <a:prstDash val="solid"/>
          </a:ln>
        </p:spPr>
      </p:sp>
      <p:sp>
        <p:nvSpPr>
          <p:cNvPr id="80" name="Shape 78"/>
          <p:cNvSpPr/>
          <p:nvPr/>
        </p:nvSpPr>
        <p:spPr>
          <a:xfrm>
            <a:off x="2131695" y="4406042"/>
            <a:ext cx="38372" cy="51212"/>
          </a:xfrm>
          <a:prstGeom prst="line">
            <a:avLst/>
          </a:prstGeom>
          <a:noFill/>
          <a:ln w="28575">
            <a:solidFill>
              <a:srgbClr val="C8414C"/>
            </a:solidFill>
            <a:prstDash val="solid"/>
          </a:ln>
        </p:spPr>
      </p:sp>
      <p:sp>
        <p:nvSpPr>
          <p:cNvPr id="81" name="Shape 79"/>
          <p:cNvSpPr/>
          <p:nvPr/>
        </p:nvSpPr>
        <p:spPr>
          <a:xfrm>
            <a:off x="2170067" y="4457254"/>
            <a:ext cx="38372" cy="46056"/>
          </a:xfrm>
          <a:prstGeom prst="line">
            <a:avLst/>
          </a:prstGeom>
          <a:noFill/>
          <a:ln w="28575">
            <a:solidFill>
              <a:srgbClr val="C8414C"/>
            </a:solidFill>
            <a:prstDash val="solid"/>
          </a:ln>
        </p:spPr>
      </p:sp>
      <p:sp>
        <p:nvSpPr>
          <p:cNvPr id="82" name="Shape 80"/>
          <p:cNvSpPr/>
          <p:nvPr/>
        </p:nvSpPr>
        <p:spPr>
          <a:xfrm>
            <a:off x="2208439" y="4503310"/>
            <a:ext cx="38372" cy="39600"/>
          </a:xfrm>
          <a:prstGeom prst="line">
            <a:avLst/>
          </a:prstGeom>
          <a:noFill/>
          <a:ln w="28575">
            <a:solidFill>
              <a:srgbClr val="C8414C"/>
            </a:solidFill>
            <a:prstDash val="solid"/>
          </a:ln>
        </p:spPr>
      </p:sp>
      <p:sp>
        <p:nvSpPr>
          <p:cNvPr id="83" name="Shape 81"/>
          <p:cNvSpPr/>
          <p:nvPr/>
        </p:nvSpPr>
        <p:spPr>
          <a:xfrm>
            <a:off x="2246811" y="4542910"/>
            <a:ext cx="38372" cy="32024"/>
          </a:xfrm>
          <a:prstGeom prst="line">
            <a:avLst/>
          </a:prstGeom>
          <a:noFill/>
          <a:ln w="28575">
            <a:solidFill>
              <a:srgbClr val="C8414C"/>
            </a:solidFill>
            <a:prstDash val="solid"/>
          </a:ln>
        </p:spPr>
      </p:sp>
      <p:sp>
        <p:nvSpPr>
          <p:cNvPr id="84" name="Shape 82"/>
          <p:cNvSpPr/>
          <p:nvPr/>
        </p:nvSpPr>
        <p:spPr>
          <a:xfrm>
            <a:off x="2285184" y="4574934"/>
            <a:ext cx="38372" cy="23543"/>
          </a:xfrm>
          <a:prstGeom prst="line">
            <a:avLst/>
          </a:prstGeom>
          <a:noFill/>
          <a:ln w="28575">
            <a:solidFill>
              <a:srgbClr val="C8414C"/>
            </a:solidFill>
            <a:prstDash val="solid"/>
          </a:ln>
        </p:spPr>
      </p:sp>
      <p:sp>
        <p:nvSpPr>
          <p:cNvPr id="85" name="Shape 83"/>
          <p:cNvSpPr/>
          <p:nvPr/>
        </p:nvSpPr>
        <p:spPr>
          <a:xfrm>
            <a:off x="2323556" y="4598478"/>
            <a:ext cx="38372" cy="14398"/>
          </a:xfrm>
          <a:prstGeom prst="line">
            <a:avLst/>
          </a:prstGeom>
          <a:noFill/>
          <a:ln w="28575">
            <a:solidFill>
              <a:srgbClr val="C8414C"/>
            </a:solidFill>
            <a:prstDash val="solid"/>
          </a:ln>
        </p:spPr>
      </p:sp>
      <p:sp>
        <p:nvSpPr>
          <p:cNvPr id="86" name="Shape 84"/>
          <p:cNvSpPr/>
          <p:nvPr/>
        </p:nvSpPr>
        <p:spPr>
          <a:xfrm>
            <a:off x="2361928" y="4612875"/>
            <a:ext cx="38372" cy="4845"/>
          </a:xfrm>
          <a:prstGeom prst="line">
            <a:avLst/>
          </a:prstGeom>
          <a:noFill/>
          <a:ln w="28575">
            <a:solidFill>
              <a:srgbClr val="C8414C"/>
            </a:solidFill>
            <a:prstDash val="solid"/>
          </a:ln>
        </p:spPr>
      </p:sp>
      <p:sp>
        <p:nvSpPr>
          <p:cNvPr id="87" name="Shape 85"/>
          <p:cNvSpPr/>
          <p:nvPr/>
        </p:nvSpPr>
        <p:spPr>
          <a:xfrm flipV="1">
            <a:off x="2400300" y="4612875"/>
            <a:ext cx="38372" cy="4845"/>
          </a:xfrm>
          <a:prstGeom prst="line">
            <a:avLst/>
          </a:prstGeom>
          <a:noFill/>
          <a:ln w="28575">
            <a:solidFill>
              <a:srgbClr val="C8414C"/>
            </a:solidFill>
            <a:prstDash val="solid"/>
          </a:ln>
        </p:spPr>
      </p:sp>
      <p:sp>
        <p:nvSpPr>
          <p:cNvPr id="88" name="Shape 86"/>
          <p:cNvSpPr/>
          <p:nvPr/>
        </p:nvSpPr>
        <p:spPr>
          <a:xfrm flipV="1">
            <a:off x="2438672" y="4598478"/>
            <a:ext cx="38372" cy="14398"/>
          </a:xfrm>
          <a:prstGeom prst="line">
            <a:avLst/>
          </a:prstGeom>
          <a:noFill/>
          <a:ln w="28575">
            <a:solidFill>
              <a:srgbClr val="C8414C"/>
            </a:solidFill>
            <a:prstDash val="solid"/>
          </a:ln>
        </p:spPr>
      </p:sp>
      <p:sp>
        <p:nvSpPr>
          <p:cNvPr id="89" name="Shape 87"/>
          <p:cNvSpPr/>
          <p:nvPr/>
        </p:nvSpPr>
        <p:spPr>
          <a:xfrm flipV="1">
            <a:off x="2477044" y="4574934"/>
            <a:ext cx="38372" cy="23543"/>
          </a:xfrm>
          <a:prstGeom prst="line">
            <a:avLst/>
          </a:prstGeom>
          <a:noFill/>
          <a:ln w="28575">
            <a:solidFill>
              <a:srgbClr val="C8414C"/>
            </a:solidFill>
            <a:prstDash val="solid"/>
          </a:ln>
        </p:spPr>
      </p:sp>
      <p:sp>
        <p:nvSpPr>
          <p:cNvPr id="90" name="Shape 88"/>
          <p:cNvSpPr/>
          <p:nvPr/>
        </p:nvSpPr>
        <p:spPr>
          <a:xfrm flipV="1">
            <a:off x="2515416" y="4542910"/>
            <a:ext cx="38372" cy="32024"/>
          </a:xfrm>
          <a:prstGeom prst="line">
            <a:avLst/>
          </a:prstGeom>
          <a:noFill/>
          <a:ln w="28575">
            <a:solidFill>
              <a:srgbClr val="C8414C"/>
            </a:solidFill>
            <a:prstDash val="solid"/>
          </a:ln>
        </p:spPr>
      </p:sp>
      <p:sp>
        <p:nvSpPr>
          <p:cNvPr id="91" name="Shape 89"/>
          <p:cNvSpPr/>
          <p:nvPr/>
        </p:nvSpPr>
        <p:spPr>
          <a:xfrm flipV="1">
            <a:off x="2553789" y="4503310"/>
            <a:ext cx="38372" cy="39600"/>
          </a:xfrm>
          <a:prstGeom prst="line">
            <a:avLst/>
          </a:prstGeom>
          <a:noFill/>
          <a:ln w="28575">
            <a:solidFill>
              <a:srgbClr val="C8414C"/>
            </a:solidFill>
            <a:prstDash val="solid"/>
          </a:ln>
        </p:spPr>
      </p:sp>
      <p:sp>
        <p:nvSpPr>
          <p:cNvPr id="92" name="Shape 90"/>
          <p:cNvSpPr/>
          <p:nvPr/>
        </p:nvSpPr>
        <p:spPr>
          <a:xfrm flipV="1">
            <a:off x="2592161" y="4457254"/>
            <a:ext cx="38372" cy="46056"/>
          </a:xfrm>
          <a:prstGeom prst="line">
            <a:avLst/>
          </a:prstGeom>
          <a:noFill/>
          <a:ln w="28575">
            <a:solidFill>
              <a:srgbClr val="C8414C"/>
            </a:solidFill>
            <a:prstDash val="solid"/>
          </a:ln>
        </p:spPr>
      </p:sp>
      <p:sp>
        <p:nvSpPr>
          <p:cNvPr id="93" name="Shape 91"/>
          <p:cNvSpPr/>
          <p:nvPr/>
        </p:nvSpPr>
        <p:spPr>
          <a:xfrm flipV="1">
            <a:off x="2630533" y="4406042"/>
            <a:ext cx="38372" cy="51212"/>
          </a:xfrm>
          <a:prstGeom prst="line">
            <a:avLst/>
          </a:prstGeom>
          <a:noFill/>
          <a:ln w="28575">
            <a:solidFill>
              <a:srgbClr val="C8414C"/>
            </a:solidFill>
            <a:prstDash val="solid"/>
          </a:ln>
        </p:spPr>
      </p:sp>
      <p:sp>
        <p:nvSpPr>
          <p:cNvPr id="94" name="Shape 92"/>
          <p:cNvSpPr/>
          <p:nvPr/>
        </p:nvSpPr>
        <p:spPr>
          <a:xfrm flipV="1">
            <a:off x="2668905" y="4351122"/>
            <a:ext cx="38372" cy="54920"/>
          </a:xfrm>
          <a:prstGeom prst="line">
            <a:avLst/>
          </a:prstGeom>
          <a:noFill/>
          <a:ln w="28575">
            <a:solidFill>
              <a:srgbClr val="C8414C"/>
            </a:solidFill>
            <a:prstDash val="solid"/>
          </a:ln>
        </p:spPr>
      </p:sp>
      <p:sp>
        <p:nvSpPr>
          <p:cNvPr id="95" name="Shape 93"/>
          <p:cNvSpPr/>
          <p:nvPr/>
        </p:nvSpPr>
        <p:spPr>
          <a:xfrm flipV="1">
            <a:off x="2707277" y="4294047"/>
            <a:ext cx="38372" cy="57076"/>
          </a:xfrm>
          <a:prstGeom prst="line">
            <a:avLst/>
          </a:prstGeom>
          <a:noFill/>
          <a:ln w="28575">
            <a:solidFill>
              <a:srgbClr val="C8414C"/>
            </a:solidFill>
            <a:prstDash val="solid"/>
          </a:ln>
        </p:spPr>
      </p:sp>
      <p:sp>
        <p:nvSpPr>
          <p:cNvPr id="96" name="Shape 94"/>
          <p:cNvSpPr/>
          <p:nvPr/>
        </p:nvSpPr>
        <p:spPr>
          <a:xfrm flipV="1">
            <a:off x="2745649" y="4236427"/>
            <a:ext cx="38372" cy="57619"/>
          </a:xfrm>
          <a:prstGeom prst="line">
            <a:avLst/>
          </a:prstGeom>
          <a:noFill/>
          <a:ln w="28575">
            <a:solidFill>
              <a:srgbClr val="C8414C"/>
            </a:solidFill>
            <a:prstDash val="solid"/>
          </a:ln>
        </p:spPr>
      </p:sp>
      <p:sp>
        <p:nvSpPr>
          <p:cNvPr id="97" name="Shape 95"/>
          <p:cNvSpPr/>
          <p:nvPr/>
        </p:nvSpPr>
        <p:spPr>
          <a:xfrm flipV="1">
            <a:off x="2784021" y="4179893"/>
            <a:ext cx="38372" cy="56534"/>
          </a:xfrm>
          <a:prstGeom prst="line">
            <a:avLst/>
          </a:prstGeom>
          <a:noFill/>
          <a:ln w="28575">
            <a:solidFill>
              <a:srgbClr val="C8414C"/>
            </a:solidFill>
            <a:prstDash val="solid"/>
          </a:ln>
        </p:spPr>
      </p:sp>
      <p:sp>
        <p:nvSpPr>
          <p:cNvPr id="98" name="Shape 96"/>
          <p:cNvSpPr/>
          <p:nvPr/>
        </p:nvSpPr>
        <p:spPr>
          <a:xfrm flipV="1">
            <a:off x="2822394" y="4126041"/>
            <a:ext cx="38372" cy="53852"/>
          </a:xfrm>
          <a:prstGeom prst="line">
            <a:avLst/>
          </a:prstGeom>
          <a:noFill/>
          <a:ln w="28575">
            <a:solidFill>
              <a:srgbClr val="C8414C"/>
            </a:solidFill>
            <a:prstDash val="solid"/>
          </a:ln>
        </p:spPr>
      </p:sp>
      <p:sp>
        <p:nvSpPr>
          <p:cNvPr id="99" name="Shape 97"/>
          <p:cNvSpPr/>
          <p:nvPr/>
        </p:nvSpPr>
        <p:spPr>
          <a:xfrm flipV="1">
            <a:off x="2860766" y="4076394"/>
            <a:ext cx="38372" cy="49648"/>
          </a:xfrm>
          <a:prstGeom prst="line">
            <a:avLst/>
          </a:prstGeom>
          <a:noFill/>
          <a:ln w="28575">
            <a:solidFill>
              <a:srgbClr val="C8414C"/>
            </a:solidFill>
            <a:prstDash val="solid"/>
          </a:ln>
        </p:spPr>
      </p:sp>
      <p:sp>
        <p:nvSpPr>
          <p:cNvPr id="100" name="Shape 98"/>
          <p:cNvSpPr/>
          <p:nvPr/>
        </p:nvSpPr>
        <p:spPr>
          <a:xfrm flipV="1">
            <a:off x="2899138" y="4032353"/>
            <a:ext cx="38372" cy="44041"/>
          </a:xfrm>
          <a:prstGeom prst="line">
            <a:avLst/>
          </a:prstGeom>
          <a:noFill/>
          <a:ln w="28575">
            <a:solidFill>
              <a:srgbClr val="C8414C"/>
            </a:solidFill>
            <a:prstDash val="solid"/>
          </a:ln>
        </p:spPr>
      </p:sp>
      <p:sp>
        <p:nvSpPr>
          <p:cNvPr id="101" name="Shape 99"/>
          <p:cNvSpPr/>
          <p:nvPr/>
        </p:nvSpPr>
        <p:spPr>
          <a:xfrm flipV="1">
            <a:off x="2937510" y="3995164"/>
            <a:ext cx="38372" cy="37189"/>
          </a:xfrm>
          <a:prstGeom prst="line">
            <a:avLst/>
          </a:prstGeom>
          <a:noFill/>
          <a:ln w="28575">
            <a:solidFill>
              <a:srgbClr val="C8414C"/>
            </a:solidFill>
            <a:prstDash val="solid"/>
          </a:ln>
        </p:spPr>
      </p:sp>
      <p:sp>
        <p:nvSpPr>
          <p:cNvPr id="102" name="Shape 100"/>
          <p:cNvSpPr/>
          <p:nvPr/>
        </p:nvSpPr>
        <p:spPr>
          <a:xfrm flipV="1">
            <a:off x="2975882" y="3965878"/>
            <a:ext cx="38372" cy="29286"/>
          </a:xfrm>
          <a:prstGeom prst="line">
            <a:avLst/>
          </a:prstGeom>
          <a:noFill/>
          <a:ln w="28575">
            <a:solidFill>
              <a:srgbClr val="C8414C"/>
            </a:solidFill>
            <a:prstDash val="solid"/>
          </a:ln>
        </p:spPr>
      </p:sp>
      <p:sp>
        <p:nvSpPr>
          <p:cNvPr id="103" name="Shape 101"/>
          <p:cNvSpPr/>
          <p:nvPr/>
        </p:nvSpPr>
        <p:spPr>
          <a:xfrm flipV="1">
            <a:off x="3014254" y="3945321"/>
            <a:ext cx="38372" cy="20556"/>
          </a:xfrm>
          <a:prstGeom prst="line">
            <a:avLst/>
          </a:prstGeom>
          <a:noFill/>
          <a:ln w="28575">
            <a:solidFill>
              <a:srgbClr val="C8414C"/>
            </a:solidFill>
            <a:prstDash val="solid"/>
          </a:ln>
        </p:spPr>
      </p:sp>
      <p:sp>
        <p:nvSpPr>
          <p:cNvPr id="104" name="Shape 102"/>
          <p:cNvSpPr/>
          <p:nvPr/>
        </p:nvSpPr>
        <p:spPr>
          <a:xfrm flipV="1">
            <a:off x="3052626" y="3934076"/>
            <a:ext cx="38372" cy="11245"/>
          </a:xfrm>
          <a:prstGeom prst="line">
            <a:avLst/>
          </a:prstGeom>
          <a:noFill/>
          <a:ln w="28575">
            <a:solidFill>
              <a:srgbClr val="C8414C"/>
            </a:solidFill>
            <a:prstDash val="solid"/>
          </a:ln>
        </p:spPr>
      </p:sp>
      <p:sp>
        <p:nvSpPr>
          <p:cNvPr id="105" name="Shape 103"/>
          <p:cNvSpPr/>
          <p:nvPr/>
        </p:nvSpPr>
        <p:spPr>
          <a:xfrm flipV="1">
            <a:off x="3090999" y="3932459"/>
            <a:ext cx="38372" cy="1617"/>
          </a:xfrm>
          <a:prstGeom prst="line">
            <a:avLst/>
          </a:prstGeom>
          <a:noFill/>
          <a:ln w="28575">
            <a:solidFill>
              <a:srgbClr val="C8414C"/>
            </a:solidFill>
            <a:prstDash val="solid"/>
          </a:ln>
        </p:spPr>
      </p:sp>
      <p:sp>
        <p:nvSpPr>
          <p:cNvPr id="106" name="Shape 104"/>
          <p:cNvSpPr/>
          <p:nvPr/>
        </p:nvSpPr>
        <p:spPr>
          <a:xfrm>
            <a:off x="3129371" y="3932459"/>
            <a:ext cx="38372" cy="8058"/>
          </a:xfrm>
          <a:prstGeom prst="line">
            <a:avLst/>
          </a:prstGeom>
          <a:noFill/>
          <a:ln w="28575">
            <a:solidFill>
              <a:srgbClr val="C8414C"/>
            </a:solidFill>
            <a:prstDash val="solid"/>
          </a:ln>
        </p:spPr>
      </p:sp>
      <p:sp>
        <p:nvSpPr>
          <p:cNvPr id="107" name="Shape 105"/>
          <p:cNvSpPr/>
          <p:nvPr/>
        </p:nvSpPr>
        <p:spPr>
          <a:xfrm>
            <a:off x="3167743" y="3940517"/>
            <a:ext cx="38372" cy="17504"/>
          </a:xfrm>
          <a:prstGeom prst="line">
            <a:avLst/>
          </a:prstGeom>
          <a:noFill/>
          <a:ln w="28575">
            <a:solidFill>
              <a:srgbClr val="C8414C"/>
            </a:solidFill>
            <a:prstDash val="solid"/>
          </a:ln>
        </p:spPr>
      </p:sp>
      <p:sp>
        <p:nvSpPr>
          <p:cNvPr id="108" name="Shape 106"/>
          <p:cNvSpPr/>
          <p:nvPr/>
        </p:nvSpPr>
        <p:spPr>
          <a:xfrm>
            <a:off x="3206115" y="3958022"/>
            <a:ext cx="38372" cy="26457"/>
          </a:xfrm>
          <a:prstGeom prst="line">
            <a:avLst/>
          </a:prstGeom>
          <a:noFill/>
          <a:ln w="28575">
            <a:solidFill>
              <a:srgbClr val="C8414C"/>
            </a:solidFill>
            <a:prstDash val="solid"/>
          </a:ln>
        </p:spPr>
      </p:sp>
      <p:sp>
        <p:nvSpPr>
          <p:cNvPr id="109" name="Shape 107"/>
          <p:cNvSpPr/>
          <p:nvPr/>
        </p:nvSpPr>
        <p:spPr>
          <a:xfrm>
            <a:off x="3244487" y="3984478"/>
            <a:ext cx="38372" cy="34661"/>
          </a:xfrm>
          <a:prstGeom prst="line">
            <a:avLst/>
          </a:prstGeom>
          <a:noFill/>
          <a:ln w="28575">
            <a:solidFill>
              <a:srgbClr val="C8414C"/>
            </a:solidFill>
            <a:prstDash val="solid"/>
          </a:ln>
        </p:spPr>
      </p:sp>
      <p:sp>
        <p:nvSpPr>
          <p:cNvPr id="110" name="Shape 108"/>
          <p:cNvSpPr/>
          <p:nvPr/>
        </p:nvSpPr>
        <p:spPr>
          <a:xfrm>
            <a:off x="3282859" y="4019139"/>
            <a:ext cx="38372" cy="41886"/>
          </a:xfrm>
          <a:prstGeom prst="line">
            <a:avLst/>
          </a:prstGeom>
          <a:noFill/>
          <a:ln w="28575">
            <a:solidFill>
              <a:srgbClr val="C8414C"/>
            </a:solidFill>
            <a:prstDash val="solid"/>
          </a:ln>
        </p:spPr>
      </p:sp>
      <p:sp>
        <p:nvSpPr>
          <p:cNvPr id="111" name="Shape 109"/>
          <p:cNvSpPr/>
          <p:nvPr/>
        </p:nvSpPr>
        <p:spPr>
          <a:xfrm>
            <a:off x="3321231" y="4061025"/>
            <a:ext cx="38372" cy="47927"/>
          </a:xfrm>
          <a:prstGeom prst="line">
            <a:avLst/>
          </a:prstGeom>
          <a:noFill/>
          <a:ln w="28575">
            <a:solidFill>
              <a:srgbClr val="C8414C"/>
            </a:solidFill>
            <a:prstDash val="solid"/>
          </a:ln>
        </p:spPr>
      </p:sp>
      <p:sp>
        <p:nvSpPr>
          <p:cNvPr id="112" name="Shape 110"/>
          <p:cNvSpPr/>
          <p:nvPr/>
        </p:nvSpPr>
        <p:spPr>
          <a:xfrm>
            <a:off x="3359604" y="4108953"/>
            <a:ext cx="38372" cy="52615"/>
          </a:xfrm>
          <a:prstGeom prst="line">
            <a:avLst/>
          </a:prstGeom>
          <a:noFill/>
          <a:ln w="28575">
            <a:solidFill>
              <a:srgbClr val="C8414C"/>
            </a:solidFill>
            <a:prstDash val="solid"/>
          </a:ln>
        </p:spPr>
      </p:sp>
      <p:sp>
        <p:nvSpPr>
          <p:cNvPr id="113" name="Shape 111"/>
          <p:cNvSpPr/>
          <p:nvPr/>
        </p:nvSpPr>
        <p:spPr>
          <a:xfrm>
            <a:off x="3397976" y="4161567"/>
            <a:ext cx="38372" cy="55815"/>
          </a:xfrm>
          <a:prstGeom prst="line">
            <a:avLst/>
          </a:prstGeom>
          <a:noFill/>
          <a:ln w="28575">
            <a:solidFill>
              <a:srgbClr val="C8414C"/>
            </a:solidFill>
            <a:prstDash val="solid"/>
          </a:ln>
        </p:spPr>
      </p:sp>
      <p:sp>
        <p:nvSpPr>
          <p:cNvPr id="114" name="Shape 112"/>
          <p:cNvSpPr/>
          <p:nvPr/>
        </p:nvSpPr>
        <p:spPr>
          <a:xfrm>
            <a:off x="3436348" y="4217382"/>
            <a:ext cx="38372" cy="57438"/>
          </a:xfrm>
          <a:prstGeom prst="line">
            <a:avLst/>
          </a:prstGeom>
          <a:noFill/>
          <a:ln w="28575">
            <a:solidFill>
              <a:srgbClr val="C8414C"/>
            </a:solidFill>
            <a:prstDash val="solid"/>
          </a:ln>
        </p:spPr>
      </p:sp>
      <p:sp>
        <p:nvSpPr>
          <p:cNvPr id="115" name="Shape 113"/>
          <p:cNvSpPr/>
          <p:nvPr/>
        </p:nvSpPr>
        <p:spPr>
          <a:xfrm>
            <a:off x="3474720" y="4274820"/>
            <a:ext cx="38372" cy="57438"/>
          </a:xfrm>
          <a:prstGeom prst="line">
            <a:avLst/>
          </a:prstGeom>
          <a:noFill/>
          <a:ln w="28575">
            <a:solidFill>
              <a:srgbClr val="C8414C"/>
            </a:solidFill>
            <a:prstDash val="solid"/>
          </a:ln>
        </p:spPr>
      </p:sp>
      <p:sp>
        <p:nvSpPr>
          <p:cNvPr id="116" name="Shape 114"/>
          <p:cNvSpPr/>
          <p:nvPr/>
        </p:nvSpPr>
        <p:spPr>
          <a:xfrm>
            <a:off x="3513092" y="4332258"/>
            <a:ext cx="38372" cy="55815"/>
          </a:xfrm>
          <a:prstGeom prst="line">
            <a:avLst/>
          </a:prstGeom>
          <a:noFill/>
          <a:ln w="28575">
            <a:solidFill>
              <a:srgbClr val="C8414C"/>
            </a:solidFill>
            <a:prstDash val="solid"/>
          </a:ln>
        </p:spPr>
      </p:sp>
      <p:sp>
        <p:nvSpPr>
          <p:cNvPr id="117" name="Shape 115"/>
          <p:cNvSpPr/>
          <p:nvPr/>
        </p:nvSpPr>
        <p:spPr>
          <a:xfrm>
            <a:off x="3551464" y="4388073"/>
            <a:ext cx="38372" cy="52615"/>
          </a:xfrm>
          <a:prstGeom prst="line">
            <a:avLst/>
          </a:prstGeom>
          <a:noFill/>
          <a:ln w="28575">
            <a:solidFill>
              <a:srgbClr val="C8414C"/>
            </a:solidFill>
            <a:prstDash val="solid"/>
          </a:ln>
        </p:spPr>
      </p:sp>
      <p:sp>
        <p:nvSpPr>
          <p:cNvPr id="118" name="Shape 116"/>
          <p:cNvSpPr/>
          <p:nvPr/>
        </p:nvSpPr>
        <p:spPr>
          <a:xfrm>
            <a:off x="3589836" y="4440687"/>
            <a:ext cx="38372" cy="47927"/>
          </a:xfrm>
          <a:prstGeom prst="line">
            <a:avLst/>
          </a:prstGeom>
          <a:noFill/>
          <a:ln w="28575">
            <a:solidFill>
              <a:srgbClr val="C8414C"/>
            </a:solidFill>
            <a:prstDash val="solid"/>
          </a:ln>
        </p:spPr>
      </p:sp>
      <p:sp>
        <p:nvSpPr>
          <p:cNvPr id="119" name="Shape 117"/>
          <p:cNvSpPr/>
          <p:nvPr/>
        </p:nvSpPr>
        <p:spPr>
          <a:xfrm>
            <a:off x="3628209" y="4488615"/>
            <a:ext cx="38372" cy="41886"/>
          </a:xfrm>
          <a:prstGeom prst="line">
            <a:avLst/>
          </a:prstGeom>
          <a:noFill/>
          <a:ln w="28575">
            <a:solidFill>
              <a:srgbClr val="C8414C"/>
            </a:solidFill>
            <a:prstDash val="solid"/>
          </a:ln>
        </p:spPr>
      </p:sp>
      <p:sp>
        <p:nvSpPr>
          <p:cNvPr id="120" name="Shape 118"/>
          <p:cNvSpPr/>
          <p:nvPr/>
        </p:nvSpPr>
        <p:spPr>
          <a:xfrm>
            <a:off x="3666581" y="4530501"/>
            <a:ext cx="38372" cy="34661"/>
          </a:xfrm>
          <a:prstGeom prst="line">
            <a:avLst/>
          </a:prstGeom>
          <a:noFill/>
          <a:ln w="28575">
            <a:solidFill>
              <a:srgbClr val="C8414C"/>
            </a:solidFill>
            <a:prstDash val="solid"/>
          </a:ln>
        </p:spPr>
      </p:sp>
      <p:sp>
        <p:nvSpPr>
          <p:cNvPr id="121" name="Shape 119"/>
          <p:cNvSpPr/>
          <p:nvPr/>
        </p:nvSpPr>
        <p:spPr>
          <a:xfrm>
            <a:off x="3704953" y="4565162"/>
            <a:ext cx="38372" cy="26457"/>
          </a:xfrm>
          <a:prstGeom prst="line">
            <a:avLst/>
          </a:prstGeom>
          <a:noFill/>
          <a:ln w="28575">
            <a:solidFill>
              <a:srgbClr val="C8414C"/>
            </a:solidFill>
            <a:prstDash val="solid"/>
          </a:ln>
        </p:spPr>
      </p:sp>
      <p:sp>
        <p:nvSpPr>
          <p:cNvPr id="122" name="Shape 120"/>
          <p:cNvSpPr/>
          <p:nvPr/>
        </p:nvSpPr>
        <p:spPr>
          <a:xfrm>
            <a:off x="3743325" y="4591618"/>
            <a:ext cx="38372" cy="17504"/>
          </a:xfrm>
          <a:prstGeom prst="line">
            <a:avLst/>
          </a:prstGeom>
          <a:noFill/>
          <a:ln w="28575">
            <a:solidFill>
              <a:srgbClr val="C8414C"/>
            </a:solidFill>
            <a:prstDash val="solid"/>
          </a:ln>
        </p:spPr>
      </p:sp>
      <p:sp>
        <p:nvSpPr>
          <p:cNvPr id="123" name="Shape 121"/>
          <p:cNvSpPr/>
          <p:nvPr/>
        </p:nvSpPr>
        <p:spPr>
          <a:xfrm>
            <a:off x="3781697" y="4609123"/>
            <a:ext cx="38372" cy="8058"/>
          </a:xfrm>
          <a:prstGeom prst="line">
            <a:avLst/>
          </a:prstGeom>
          <a:noFill/>
          <a:ln w="28575">
            <a:solidFill>
              <a:srgbClr val="C8414C"/>
            </a:solidFill>
            <a:prstDash val="solid"/>
          </a:ln>
        </p:spPr>
      </p:sp>
      <p:sp>
        <p:nvSpPr>
          <p:cNvPr id="124" name="Shape 122"/>
          <p:cNvSpPr/>
          <p:nvPr/>
        </p:nvSpPr>
        <p:spPr>
          <a:xfrm flipV="1">
            <a:off x="3820069" y="4615564"/>
            <a:ext cx="38372" cy="1617"/>
          </a:xfrm>
          <a:prstGeom prst="line">
            <a:avLst/>
          </a:prstGeom>
          <a:noFill/>
          <a:ln w="28575">
            <a:solidFill>
              <a:srgbClr val="C8414C"/>
            </a:solidFill>
            <a:prstDash val="solid"/>
          </a:ln>
        </p:spPr>
      </p:sp>
      <p:sp>
        <p:nvSpPr>
          <p:cNvPr id="125" name="Shape 123"/>
          <p:cNvSpPr/>
          <p:nvPr/>
        </p:nvSpPr>
        <p:spPr>
          <a:xfrm flipV="1">
            <a:off x="3858441" y="4604319"/>
            <a:ext cx="38372" cy="11245"/>
          </a:xfrm>
          <a:prstGeom prst="line">
            <a:avLst/>
          </a:prstGeom>
          <a:noFill/>
          <a:ln w="28575">
            <a:solidFill>
              <a:srgbClr val="C8414C"/>
            </a:solidFill>
            <a:prstDash val="solid"/>
          </a:ln>
        </p:spPr>
      </p:sp>
      <p:sp>
        <p:nvSpPr>
          <p:cNvPr id="126" name="Shape 124"/>
          <p:cNvSpPr/>
          <p:nvPr/>
        </p:nvSpPr>
        <p:spPr>
          <a:xfrm flipV="1">
            <a:off x="3896814" y="4583762"/>
            <a:ext cx="38372" cy="20556"/>
          </a:xfrm>
          <a:prstGeom prst="line">
            <a:avLst/>
          </a:prstGeom>
          <a:noFill/>
          <a:ln w="28575">
            <a:solidFill>
              <a:srgbClr val="C8414C"/>
            </a:solidFill>
            <a:prstDash val="solid"/>
          </a:ln>
        </p:spPr>
      </p:sp>
      <p:sp>
        <p:nvSpPr>
          <p:cNvPr id="127" name="Shape 125"/>
          <p:cNvSpPr/>
          <p:nvPr/>
        </p:nvSpPr>
        <p:spPr>
          <a:xfrm flipV="1">
            <a:off x="3935186" y="4554476"/>
            <a:ext cx="38372" cy="29286"/>
          </a:xfrm>
          <a:prstGeom prst="line">
            <a:avLst/>
          </a:prstGeom>
          <a:noFill/>
          <a:ln w="28575">
            <a:solidFill>
              <a:srgbClr val="C8414C"/>
            </a:solidFill>
            <a:prstDash val="solid"/>
          </a:ln>
        </p:spPr>
      </p:sp>
      <p:sp>
        <p:nvSpPr>
          <p:cNvPr id="128" name="Shape 126"/>
          <p:cNvSpPr/>
          <p:nvPr/>
        </p:nvSpPr>
        <p:spPr>
          <a:xfrm flipV="1">
            <a:off x="3973558" y="4517287"/>
            <a:ext cx="38372" cy="37189"/>
          </a:xfrm>
          <a:prstGeom prst="line">
            <a:avLst/>
          </a:prstGeom>
          <a:noFill/>
          <a:ln w="28575">
            <a:solidFill>
              <a:srgbClr val="C8414C"/>
            </a:solidFill>
            <a:prstDash val="solid"/>
          </a:ln>
        </p:spPr>
      </p:sp>
      <p:sp>
        <p:nvSpPr>
          <p:cNvPr id="129" name="Shape 127"/>
          <p:cNvSpPr/>
          <p:nvPr/>
        </p:nvSpPr>
        <p:spPr>
          <a:xfrm flipV="1">
            <a:off x="4011930" y="4473246"/>
            <a:ext cx="38372" cy="44041"/>
          </a:xfrm>
          <a:prstGeom prst="line">
            <a:avLst/>
          </a:prstGeom>
          <a:noFill/>
          <a:ln w="28575">
            <a:solidFill>
              <a:srgbClr val="C8414C"/>
            </a:solidFill>
            <a:prstDash val="solid"/>
          </a:ln>
        </p:spPr>
      </p:sp>
      <p:sp>
        <p:nvSpPr>
          <p:cNvPr id="130" name="Shape 128"/>
          <p:cNvSpPr/>
          <p:nvPr/>
        </p:nvSpPr>
        <p:spPr>
          <a:xfrm flipV="1">
            <a:off x="4050302" y="4423599"/>
            <a:ext cx="38372" cy="49648"/>
          </a:xfrm>
          <a:prstGeom prst="line">
            <a:avLst/>
          </a:prstGeom>
          <a:noFill/>
          <a:ln w="28575">
            <a:solidFill>
              <a:srgbClr val="C8414C"/>
            </a:solidFill>
            <a:prstDash val="solid"/>
          </a:ln>
        </p:spPr>
      </p:sp>
      <p:sp>
        <p:nvSpPr>
          <p:cNvPr id="131" name="Shape 129"/>
          <p:cNvSpPr/>
          <p:nvPr/>
        </p:nvSpPr>
        <p:spPr>
          <a:xfrm flipV="1">
            <a:off x="4088674" y="4369747"/>
            <a:ext cx="38372" cy="53852"/>
          </a:xfrm>
          <a:prstGeom prst="line">
            <a:avLst/>
          </a:prstGeom>
          <a:noFill/>
          <a:ln w="28575">
            <a:solidFill>
              <a:srgbClr val="C8414C"/>
            </a:solidFill>
            <a:prstDash val="solid"/>
          </a:ln>
        </p:spPr>
      </p:sp>
      <p:sp>
        <p:nvSpPr>
          <p:cNvPr id="132" name="Shape 130"/>
          <p:cNvSpPr/>
          <p:nvPr/>
        </p:nvSpPr>
        <p:spPr>
          <a:xfrm flipV="1">
            <a:off x="4127046" y="4313213"/>
            <a:ext cx="38372" cy="56534"/>
          </a:xfrm>
          <a:prstGeom prst="line">
            <a:avLst/>
          </a:prstGeom>
          <a:noFill/>
          <a:ln w="28575">
            <a:solidFill>
              <a:srgbClr val="C8414C"/>
            </a:solidFill>
            <a:prstDash val="solid"/>
          </a:ln>
        </p:spPr>
      </p:sp>
      <p:sp>
        <p:nvSpPr>
          <p:cNvPr id="133" name="Shape 131"/>
          <p:cNvSpPr/>
          <p:nvPr/>
        </p:nvSpPr>
        <p:spPr>
          <a:xfrm flipV="1">
            <a:off x="4165419" y="4255593"/>
            <a:ext cx="38372" cy="57619"/>
          </a:xfrm>
          <a:prstGeom prst="line">
            <a:avLst/>
          </a:prstGeom>
          <a:noFill/>
          <a:ln w="28575">
            <a:solidFill>
              <a:srgbClr val="C8414C"/>
            </a:solidFill>
            <a:prstDash val="solid"/>
          </a:ln>
        </p:spPr>
      </p:sp>
      <p:sp>
        <p:nvSpPr>
          <p:cNvPr id="134" name="Shape 132"/>
          <p:cNvSpPr/>
          <p:nvPr/>
        </p:nvSpPr>
        <p:spPr>
          <a:xfrm flipV="1">
            <a:off x="4203791" y="4198518"/>
            <a:ext cx="38372" cy="57076"/>
          </a:xfrm>
          <a:prstGeom prst="line">
            <a:avLst/>
          </a:prstGeom>
          <a:noFill/>
          <a:ln w="28575">
            <a:solidFill>
              <a:srgbClr val="C8414C"/>
            </a:solidFill>
            <a:prstDash val="solid"/>
          </a:ln>
        </p:spPr>
      </p:sp>
      <p:sp>
        <p:nvSpPr>
          <p:cNvPr id="135" name="Shape 133"/>
          <p:cNvSpPr/>
          <p:nvPr/>
        </p:nvSpPr>
        <p:spPr>
          <a:xfrm flipV="1">
            <a:off x="4242163" y="4143598"/>
            <a:ext cx="38372" cy="54920"/>
          </a:xfrm>
          <a:prstGeom prst="line">
            <a:avLst/>
          </a:prstGeom>
          <a:noFill/>
          <a:ln w="28575">
            <a:solidFill>
              <a:srgbClr val="C8414C"/>
            </a:solidFill>
            <a:prstDash val="solid"/>
          </a:ln>
        </p:spPr>
      </p:sp>
      <p:sp>
        <p:nvSpPr>
          <p:cNvPr id="136" name="Shape 134"/>
          <p:cNvSpPr/>
          <p:nvPr/>
        </p:nvSpPr>
        <p:spPr>
          <a:xfrm flipV="1">
            <a:off x="4280535" y="4092386"/>
            <a:ext cx="38372" cy="51212"/>
          </a:xfrm>
          <a:prstGeom prst="line">
            <a:avLst/>
          </a:prstGeom>
          <a:noFill/>
          <a:ln w="28575">
            <a:solidFill>
              <a:srgbClr val="C8414C"/>
            </a:solidFill>
            <a:prstDash val="solid"/>
          </a:ln>
        </p:spPr>
      </p:sp>
      <p:sp>
        <p:nvSpPr>
          <p:cNvPr id="137" name="Shape 135"/>
          <p:cNvSpPr/>
          <p:nvPr/>
        </p:nvSpPr>
        <p:spPr>
          <a:xfrm flipV="1">
            <a:off x="4318907" y="4046330"/>
            <a:ext cx="38372" cy="46056"/>
          </a:xfrm>
          <a:prstGeom prst="line">
            <a:avLst/>
          </a:prstGeom>
          <a:noFill/>
          <a:ln w="28575">
            <a:solidFill>
              <a:srgbClr val="C8414C"/>
            </a:solidFill>
            <a:prstDash val="solid"/>
          </a:ln>
        </p:spPr>
      </p:sp>
      <p:sp>
        <p:nvSpPr>
          <p:cNvPr id="138" name="Shape 136"/>
          <p:cNvSpPr/>
          <p:nvPr/>
        </p:nvSpPr>
        <p:spPr>
          <a:xfrm flipV="1">
            <a:off x="4357279" y="4006730"/>
            <a:ext cx="38372" cy="39600"/>
          </a:xfrm>
          <a:prstGeom prst="line">
            <a:avLst/>
          </a:prstGeom>
          <a:noFill/>
          <a:ln w="28575">
            <a:solidFill>
              <a:srgbClr val="C8414C"/>
            </a:solidFill>
            <a:prstDash val="solid"/>
          </a:ln>
        </p:spPr>
      </p:sp>
      <p:sp>
        <p:nvSpPr>
          <p:cNvPr id="139" name="Shape 137"/>
          <p:cNvSpPr/>
          <p:nvPr/>
        </p:nvSpPr>
        <p:spPr>
          <a:xfrm flipV="1">
            <a:off x="4395651" y="3974706"/>
            <a:ext cx="38372" cy="32024"/>
          </a:xfrm>
          <a:prstGeom prst="line">
            <a:avLst/>
          </a:prstGeom>
          <a:noFill/>
          <a:ln w="28575">
            <a:solidFill>
              <a:srgbClr val="C8414C"/>
            </a:solidFill>
            <a:prstDash val="solid"/>
          </a:ln>
        </p:spPr>
      </p:sp>
      <p:sp>
        <p:nvSpPr>
          <p:cNvPr id="140" name="Shape 138"/>
          <p:cNvSpPr/>
          <p:nvPr/>
        </p:nvSpPr>
        <p:spPr>
          <a:xfrm flipV="1">
            <a:off x="4434024" y="3951162"/>
            <a:ext cx="38372" cy="23543"/>
          </a:xfrm>
          <a:prstGeom prst="line">
            <a:avLst/>
          </a:prstGeom>
          <a:noFill/>
          <a:ln w="28575">
            <a:solidFill>
              <a:srgbClr val="C8414C"/>
            </a:solidFill>
            <a:prstDash val="solid"/>
          </a:ln>
        </p:spPr>
      </p:sp>
      <p:sp>
        <p:nvSpPr>
          <p:cNvPr id="141" name="Shape 139"/>
          <p:cNvSpPr/>
          <p:nvPr/>
        </p:nvSpPr>
        <p:spPr>
          <a:xfrm flipV="1">
            <a:off x="4472396" y="3936765"/>
            <a:ext cx="38372" cy="14398"/>
          </a:xfrm>
          <a:prstGeom prst="line">
            <a:avLst/>
          </a:prstGeom>
          <a:noFill/>
          <a:ln w="28575">
            <a:solidFill>
              <a:srgbClr val="C8414C"/>
            </a:solidFill>
            <a:prstDash val="solid"/>
          </a:ln>
        </p:spPr>
      </p:sp>
      <p:sp>
        <p:nvSpPr>
          <p:cNvPr id="142" name="Shape 140"/>
          <p:cNvSpPr/>
          <p:nvPr/>
        </p:nvSpPr>
        <p:spPr>
          <a:xfrm flipV="1">
            <a:off x="4510768" y="3931920"/>
            <a:ext cx="38372" cy="4845"/>
          </a:xfrm>
          <a:prstGeom prst="line">
            <a:avLst/>
          </a:prstGeom>
          <a:noFill/>
          <a:ln w="28575">
            <a:solidFill>
              <a:srgbClr val="C8414C"/>
            </a:solidFill>
            <a:prstDash val="solid"/>
          </a:ln>
        </p:spPr>
      </p:sp>
      <p:sp>
        <p:nvSpPr>
          <p:cNvPr id="143" name="Shape 141"/>
          <p:cNvSpPr/>
          <p:nvPr/>
        </p:nvSpPr>
        <p:spPr>
          <a:xfrm>
            <a:off x="4549140" y="3931920"/>
            <a:ext cx="38372" cy="4845"/>
          </a:xfrm>
          <a:prstGeom prst="line">
            <a:avLst/>
          </a:prstGeom>
          <a:noFill/>
          <a:ln w="28575">
            <a:solidFill>
              <a:srgbClr val="C8414C"/>
            </a:solidFill>
            <a:prstDash val="solid"/>
          </a:ln>
        </p:spPr>
      </p:sp>
      <p:sp>
        <p:nvSpPr>
          <p:cNvPr id="144" name="Shape 142"/>
          <p:cNvSpPr/>
          <p:nvPr/>
        </p:nvSpPr>
        <p:spPr>
          <a:xfrm>
            <a:off x="4587512" y="3936765"/>
            <a:ext cx="38372" cy="14398"/>
          </a:xfrm>
          <a:prstGeom prst="line">
            <a:avLst/>
          </a:prstGeom>
          <a:noFill/>
          <a:ln w="28575">
            <a:solidFill>
              <a:srgbClr val="C8414C"/>
            </a:solidFill>
            <a:prstDash val="solid"/>
          </a:ln>
        </p:spPr>
      </p:sp>
      <p:sp>
        <p:nvSpPr>
          <p:cNvPr id="145" name="Shape 143"/>
          <p:cNvSpPr/>
          <p:nvPr/>
        </p:nvSpPr>
        <p:spPr>
          <a:xfrm>
            <a:off x="4625884" y="3951162"/>
            <a:ext cx="38372" cy="23543"/>
          </a:xfrm>
          <a:prstGeom prst="line">
            <a:avLst/>
          </a:prstGeom>
          <a:noFill/>
          <a:ln w="28575">
            <a:solidFill>
              <a:srgbClr val="C8414C"/>
            </a:solidFill>
            <a:prstDash val="solid"/>
          </a:ln>
        </p:spPr>
      </p:sp>
      <p:sp>
        <p:nvSpPr>
          <p:cNvPr id="146" name="Shape 144"/>
          <p:cNvSpPr/>
          <p:nvPr/>
        </p:nvSpPr>
        <p:spPr>
          <a:xfrm>
            <a:off x="4664256" y="3974706"/>
            <a:ext cx="38372" cy="32024"/>
          </a:xfrm>
          <a:prstGeom prst="line">
            <a:avLst/>
          </a:prstGeom>
          <a:noFill/>
          <a:ln w="28575">
            <a:solidFill>
              <a:srgbClr val="C8414C"/>
            </a:solidFill>
            <a:prstDash val="solid"/>
          </a:ln>
        </p:spPr>
      </p:sp>
      <p:sp>
        <p:nvSpPr>
          <p:cNvPr id="147" name="Shape 145"/>
          <p:cNvSpPr/>
          <p:nvPr/>
        </p:nvSpPr>
        <p:spPr>
          <a:xfrm>
            <a:off x="4702629" y="4006730"/>
            <a:ext cx="38372" cy="39600"/>
          </a:xfrm>
          <a:prstGeom prst="line">
            <a:avLst/>
          </a:prstGeom>
          <a:noFill/>
          <a:ln w="28575">
            <a:solidFill>
              <a:srgbClr val="C8414C"/>
            </a:solidFill>
            <a:prstDash val="solid"/>
          </a:ln>
        </p:spPr>
      </p:sp>
      <p:sp>
        <p:nvSpPr>
          <p:cNvPr id="148" name="Shape 146"/>
          <p:cNvSpPr/>
          <p:nvPr/>
        </p:nvSpPr>
        <p:spPr>
          <a:xfrm>
            <a:off x="4741001" y="4046330"/>
            <a:ext cx="38372" cy="46056"/>
          </a:xfrm>
          <a:prstGeom prst="line">
            <a:avLst/>
          </a:prstGeom>
          <a:noFill/>
          <a:ln w="28575">
            <a:solidFill>
              <a:srgbClr val="C8414C"/>
            </a:solidFill>
            <a:prstDash val="solid"/>
          </a:ln>
        </p:spPr>
      </p:sp>
      <p:sp>
        <p:nvSpPr>
          <p:cNvPr id="149" name="Shape 147"/>
          <p:cNvSpPr/>
          <p:nvPr/>
        </p:nvSpPr>
        <p:spPr>
          <a:xfrm>
            <a:off x="4779373" y="4092386"/>
            <a:ext cx="38372" cy="51212"/>
          </a:xfrm>
          <a:prstGeom prst="line">
            <a:avLst/>
          </a:prstGeom>
          <a:noFill/>
          <a:ln w="28575">
            <a:solidFill>
              <a:srgbClr val="C8414C"/>
            </a:solidFill>
            <a:prstDash val="solid"/>
          </a:ln>
        </p:spPr>
      </p:sp>
      <p:sp>
        <p:nvSpPr>
          <p:cNvPr id="150" name="Shape 148"/>
          <p:cNvSpPr/>
          <p:nvPr/>
        </p:nvSpPr>
        <p:spPr>
          <a:xfrm>
            <a:off x="4817745" y="4143598"/>
            <a:ext cx="38372" cy="54920"/>
          </a:xfrm>
          <a:prstGeom prst="line">
            <a:avLst/>
          </a:prstGeom>
          <a:noFill/>
          <a:ln w="28575">
            <a:solidFill>
              <a:srgbClr val="C8414C"/>
            </a:solidFill>
            <a:prstDash val="solid"/>
          </a:ln>
        </p:spPr>
      </p:sp>
      <p:sp>
        <p:nvSpPr>
          <p:cNvPr id="151" name="Shape 149"/>
          <p:cNvSpPr/>
          <p:nvPr/>
        </p:nvSpPr>
        <p:spPr>
          <a:xfrm>
            <a:off x="4856117" y="4198518"/>
            <a:ext cx="38372" cy="57076"/>
          </a:xfrm>
          <a:prstGeom prst="line">
            <a:avLst/>
          </a:prstGeom>
          <a:noFill/>
          <a:ln w="28575">
            <a:solidFill>
              <a:srgbClr val="C8414C"/>
            </a:solidFill>
            <a:prstDash val="solid"/>
          </a:ln>
        </p:spPr>
      </p:sp>
      <p:sp>
        <p:nvSpPr>
          <p:cNvPr id="152" name="Shape 150"/>
          <p:cNvSpPr/>
          <p:nvPr/>
        </p:nvSpPr>
        <p:spPr>
          <a:xfrm>
            <a:off x="4894489" y="4255593"/>
            <a:ext cx="38372" cy="57619"/>
          </a:xfrm>
          <a:prstGeom prst="line">
            <a:avLst/>
          </a:prstGeom>
          <a:noFill/>
          <a:ln w="28575">
            <a:solidFill>
              <a:srgbClr val="C8414C"/>
            </a:solidFill>
            <a:prstDash val="solid"/>
          </a:ln>
        </p:spPr>
      </p:sp>
      <p:sp>
        <p:nvSpPr>
          <p:cNvPr id="153" name="Shape 151"/>
          <p:cNvSpPr/>
          <p:nvPr/>
        </p:nvSpPr>
        <p:spPr>
          <a:xfrm>
            <a:off x="4932861" y="4313213"/>
            <a:ext cx="38372" cy="56534"/>
          </a:xfrm>
          <a:prstGeom prst="line">
            <a:avLst/>
          </a:prstGeom>
          <a:noFill/>
          <a:ln w="28575">
            <a:solidFill>
              <a:srgbClr val="C8414C"/>
            </a:solidFill>
            <a:prstDash val="solid"/>
          </a:ln>
        </p:spPr>
      </p:sp>
      <p:sp>
        <p:nvSpPr>
          <p:cNvPr id="154" name="Shape 152"/>
          <p:cNvSpPr/>
          <p:nvPr/>
        </p:nvSpPr>
        <p:spPr>
          <a:xfrm>
            <a:off x="4971234" y="4369747"/>
            <a:ext cx="38372" cy="53852"/>
          </a:xfrm>
          <a:prstGeom prst="line">
            <a:avLst/>
          </a:prstGeom>
          <a:noFill/>
          <a:ln w="28575">
            <a:solidFill>
              <a:srgbClr val="C8414C"/>
            </a:solidFill>
            <a:prstDash val="solid"/>
          </a:ln>
        </p:spPr>
      </p:sp>
      <p:sp>
        <p:nvSpPr>
          <p:cNvPr id="155" name="Shape 153"/>
          <p:cNvSpPr/>
          <p:nvPr/>
        </p:nvSpPr>
        <p:spPr>
          <a:xfrm>
            <a:off x="5009606" y="4423599"/>
            <a:ext cx="38372" cy="49648"/>
          </a:xfrm>
          <a:prstGeom prst="line">
            <a:avLst/>
          </a:prstGeom>
          <a:noFill/>
          <a:ln w="28575">
            <a:solidFill>
              <a:srgbClr val="C8414C"/>
            </a:solidFill>
            <a:prstDash val="solid"/>
          </a:ln>
        </p:spPr>
      </p:sp>
      <p:sp>
        <p:nvSpPr>
          <p:cNvPr id="156" name="Shape 154"/>
          <p:cNvSpPr/>
          <p:nvPr/>
        </p:nvSpPr>
        <p:spPr>
          <a:xfrm>
            <a:off x="5047978" y="4473246"/>
            <a:ext cx="38372" cy="44041"/>
          </a:xfrm>
          <a:prstGeom prst="line">
            <a:avLst/>
          </a:prstGeom>
          <a:noFill/>
          <a:ln w="28575">
            <a:solidFill>
              <a:srgbClr val="C8414C"/>
            </a:solidFill>
            <a:prstDash val="solid"/>
          </a:ln>
        </p:spPr>
      </p:sp>
      <p:sp>
        <p:nvSpPr>
          <p:cNvPr id="157" name="Shape 155"/>
          <p:cNvSpPr/>
          <p:nvPr/>
        </p:nvSpPr>
        <p:spPr>
          <a:xfrm>
            <a:off x="5086350" y="4517287"/>
            <a:ext cx="38372" cy="37189"/>
          </a:xfrm>
          <a:prstGeom prst="line">
            <a:avLst/>
          </a:prstGeom>
          <a:noFill/>
          <a:ln w="28575">
            <a:solidFill>
              <a:srgbClr val="C8414C"/>
            </a:solidFill>
            <a:prstDash val="solid"/>
          </a:ln>
        </p:spPr>
      </p:sp>
      <p:sp>
        <p:nvSpPr>
          <p:cNvPr id="158" name="Shape 156"/>
          <p:cNvSpPr/>
          <p:nvPr/>
        </p:nvSpPr>
        <p:spPr>
          <a:xfrm>
            <a:off x="5124722" y="4554476"/>
            <a:ext cx="38372" cy="29286"/>
          </a:xfrm>
          <a:prstGeom prst="line">
            <a:avLst/>
          </a:prstGeom>
          <a:noFill/>
          <a:ln w="28575">
            <a:solidFill>
              <a:srgbClr val="C8414C"/>
            </a:solidFill>
            <a:prstDash val="solid"/>
          </a:ln>
        </p:spPr>
      </p:sp>
      <p:sp>
        <p:nvSpPr>
          <p:cNvPr id="159" name="Shape 157"/>
          <p:cNvSpPr/>
          <p:nvPr/>
        </p:nvSpPr>
        <p:spPr>
          <a:xfrm>
            <a:off x="5163094" y="4583762"/>
            <a:ext cx="38372" cy="20556"/>
          </a:xfrm>
          <a:prstGeom prst="line">
            <a:avLst/>
          </a:prstGeom>
          <a:noFill/>
          <a:ln w="28575">
            <a:solidFill>
              <a:srgbClr val="C8414C"/>
            </a:solidFill>
            <a:prstDash val="solid"/>
          </a:ln>
        </p:spPr>
      </p:sp>
      <p:sp>
        <p:nvSpPr>
          <p:cNvPr id="160" name="Shape 158"/>
          <p:cNvSpPr/>
          <p:nvPr/>
        </p:nvSpPr>
        <p:spPr>
          <a:xfrm>
            <a:off x="5201466" y="4604319"/>
            <a:ext cx="38372" cy="11245"/>
          </a:xfrm>
          <a:prstGeom prst="line">
            <a:avLst/>
          </a:prstGeom>
          <a:noFill/>
          <a:ln w="28575">
            <a:solidFill>
              <a:srgbClr val="C8414C"/>
            </a:solidFill>
            <a:prstDash val="solid"/>
          </a:ln>
        </p:spPr>
      </p:sp>
      <p:sp>
        <p:nvSpPr>
          <p:cNvPr id="161" name="Shape 159"/>
          <p:cNvSpPr/>
          <p:nvPr/>
        </p:nvSpPr>
        <p:spPr>
          <a:xfrm>
            <a:off x="5239839" y="4615564"/>
            <a:ext cx="38372" cy="1617"/>
          </a:xfrm>
          <a:prstGeom prst="line">
            <a:avLst/>
          </a:prstGeom>
          <a:noFill/>
          <a:ln w="28575">
            <a:solidFill>
              <a:srgbClr val="C8414C"/>
            </a:solidFill>
            <a:prstDash val="solid"/>
          </a:ln>
        </p:spPr>
      </p:sp>
      <p:sp>
        <p:nvSpPr>
          <p:cNvPr id="162" name="Shape 160"/>
          <p:cNvSpPr/>
          <p:nvPr/>
        </p:nvSpPr>
        <p:spPr>
          <a:xfrm flipV="1">
            <a:off x="5278211" y="4609123"/>
            <a:ext cx="38372" cy="8058"/>
          </a:xfrm>
          <a:prstGeom prst="line">
            <a:avLst/>
          </a:prstGeom>
          <a:noFill/>
          <a:ln w="28575">
            <a:solidFill>
              <a:srgbClr val="C8414C"/>
            </a:solidFill>
            <a:prstDash val="solid"/>
          </a:ln>
        </p:spPr>
      </p:sp>
      <p:sp>
        <p:nvSpPr>
          <p:cNvPr id="163" name="Shape 161"/>
          <p:cNvSpPr/>
          <p:nvPr/>
        </p:nvSpPr>
        <p:spPr>
          <a:xfrm flipV="1">
            <a:off x="5316583" y="4591618"/>
            <a:ext cx="38372" cy="17504"/>
          </a:xfrm>
          <a:prstGeom prst="line">
            <a:avLst/>
          </a:prstGeom>
          <a:noFill/>
          <a:ln w="28575">
            <a:solidFill>
              <a:srgbClr val="C8414C"/>
            </a:solidFill>
            <a:prstDash val="solid"/>
          </a:ln>
        </p:spPr>
      </p:sp>
      <p:sp>
        <p:nvSpPr>
          <p:cNvPr id="164" name="Shape 162"/>
          <p:cNvSpPr/>
          <p:nvPr/>
        </p:nvSpPr>
        <p:spPr>
          <a:xfrm flipV="1">
            <a:off x="5354955" y="4565162"/>
            <a:ext cx="38372" cy="26457"/>
          </a:xfrm>
          <a:prstGeom prst="line">
            <a:avLst/>
          </a:prstGeom>
          <a:noFill/>
          <a:ln w="28575">
            <a:solidFill>
              <a:srgbClr val="C8414C"/>
            </a:solidFill>
            <a:prstDash val="solid"/>
          </a:ln>
        </p:spPr>
      </p:sp>
      <p:sp>
        <p:nvSpPr>
          <p:cNvPr id="165" name="Shape 163"/>
          <p:cNvSpPr/>
          <p:nvPr/>
        </p:nvSpPr>
        <p:spPr>
          <a:xfrm flipV="1">
            <a:off x="5393327" y="4530501"/>
            <a:ext cx="38372" cy="34661"/>
          </a:xfrm>
          <a:prstGeom prst="line">
            <a:avLst/>
          </a:prstGeom>
          <a:noFill/>
          <a:ln w="28575">
            <a:solidFill>
              <a:srgbClr val="C8414C"/>
            </a:solidFill>
            <a:prstDash val="solid"/>
          </a:ln>
        </p:spPr>
      </p:sp>
      <p:sp>
        <p:nvSpPr>
          <p:cNvPr id="166" name="Shape 164"/>
          <p:cNvSpPr/>
          <p:nvPr/>
        </p:nvSpPr>
        <p:spPr>
          <a:xfrm flipV="1">
            <a:off x="5431699" y="4488615"/>
            <a:ext cx="38372" cy="41886"/>
          </a:xfrm>
          <a:prstGeom prst="line">
            <a:avLst/>
          </a:prstGeom>
          <a:noFill/>
          <a:ln w="28575">
            <a:solidFill>
              <a:srgbClr val="C8414C"/>
            </a:solidFill>
            <a:prstDash val="solid"/>
          </a:ln>
        </p:spPr>
      </p:sp>
      <p:sp>
        <p:nvSpPr>
          <p:cNvPr id="167" name="Shape 165"/>
          <p:cNvSpPr/>
          <p:nvPr/>
        </p:nvSpPr>
        <p:spPr>
          <a:xfrm flipV="1">
            <a:off x="5470071" y="4440687"/>
            <a:ext cx="38372" cy="47927"/>
          </a:xfrm>
          <a:prstGeom prst="line">
            <a:avLst/>
          </a:prstGeom>
          <a:noFill/>
          <a:ln w="28575">
            <a:solidFill>
              <a:srgbClr val="C8414C"/>
            </a:solidFill>
            <a:prstDash val="solid"/>
          </a:ln>
        </p:spPr>
      </p:sp>
      <p:sp>
        <p:nvSpPr>
          <p:cNvPr id="168" name="Shape 166"/>
          <p:cNvSpPr/>
          <p:nvPr/>
        </p:nvSpPr>
        <p:spPr>
          <a:xfrm flipV="1">
            <a:off x="5508444" y="4388073"/>
            <a:ext cx="38372" cy="52615"/>
          </a:xfrm>
          <a:prstGeom prst="line">
            <a:avLst/>
          </a:prstGeom>
          <a:noFill/>
          <a:ln w="28575">
            <a:solidFill>
              <a:srgbClr val="C8414C"/>
            </a:solidFill>
            <a:prstDash val="solid"/>
          </a:ln>
        </p:spPr>
      </p:sp>
      <p:sp>
        <p:nvSpPr>
          <p:cNvPr id="169" name="Shape 167"/>
          <p:cNvSpPr/>
          <p:nvPr/>
        </p:nvSpPr>
        <p:spPr>
          <a:xfrm flipV="1">
            <a:off x="5546816" y="4332258"/>
            <a:ext cx="38372" cy="55815"/>
          </a:xfrm>
          <a:prstGeom prst="line">
            <a:avLst/>
          </a:prstGeom>
          <a:noFill/>
          <a:ln w="28575">
            <a:solidFill>
              <a:srgbClr val="C8414C"/>
            </a:solidFill>
            <a:prstDash val="solid"/>
          </a:ln>
        </p:spPr>
      </p:sp>
      <p:sp>
        <p:nvSpPr>
          <p:cNvPr id="170" name="Shape 168"/>
          <p:cNvSpPr/>
          <p:nvPr/>
        </p:nvSpPr>
        <p:spPr>
          <a:xfrm flipV="1">
            <a:off x="5585188" y="4274820"/>
            <a:ext cx="38372" cy="57438"/>
          </a:xfrm>
          <a:prstGeom prst="line">
            <a:avLst/>
          </a:prstGeom>
          <a:noFill/>
          <a:ln w="28575">
            <a:solidFill>
              <a:srgbClr val="C8414C"/>
            </a:solidFill>
            <a:prstDash val="solid"/>
          </a:ln>
        </p:spPr>
      </p:sp>
      <p:sp>
        <p:nvSpPr>
          <p:cNvPr id="171" name="Text 169"/>
          <p:cNvSpPr/>
          <p:nvPr/>
        </p:nvSpPr>
        <p:spPr>
          <a:xfrm>
            <a:off x="4251960" y="4256532"/>
            <a:ext cx="1325880" cy="256032"/>
          </a:xfrm>
          <a:prstGeom prst="rect">
            <a:avLst/>
          </a:prstGeom>
          <a:noFill/>
          <a:ln/>
        </p:spPr>
        <p:txBody>
          <a:bodyPr wrap="square" lIns="0" tIns="0" rIns="0" bIns="0" rtlCol="0" anchor="ctr"/>
          <a:lstStyle/>
          <a:p>
            <a:pPr algn="r" indent="0" marL="0">
              <a:buNone/>
            </a:pPr>
            <a:r>
              <a:rPr lang="en-US" sz="1000" b="1" dirty="0">
                <a:solidFill>
                  <a:srgbClr val="B8730A"/>
                </a:solidFill>
                <a:latin typeface="Calibri" pitchFamily="34" charset="0"/>
                <a:ea typeface="Calibri" pitchFamily="34" charset="-122"/>
                <a:cs typeface="Calibri" pitchFamily="34" charset="-120"/>
              </a:rPr>
              <a:t>normal level (37 °C)</a:t>
            </a:r>
            <a:endParaRPr lang="en-US" sz="1000" dirty="0"/>
          </a:p>
        </p:txBody>
      </p:sp>
      <p:sp>
        <p:nvSpPr>
          <p:cNvPr id="172" name="Shape 170"/>
          <p:cNvSpPr/>
          <p:nvPr/>
        </p:nvSpPr>
        <p:spPr>
          <a:xfrm>
            <a:off x="6217920" y="1188720"/>
            <a:ext cx="5562295" cy="2423160"/>
          </a:xfrm>
          <a:prstGeom prst="roundRect">
            <a:avLst>
              <a:gd name="adj" fmla="val 2264"/>
            </a:avLst>
          </a:prstGeom>
          <a:solidFill>
            <a:srgbClr val="F5FBF7"/>
          </a:solidFill>
          <a:ln w="9525">
            <a:solidFill>
              <a:srgbClr val="D2E5D8"/>
            </a:solidFill>
            <a:prstDash val="solid"/>
          </a:ln>
        </p:spPr>
      </p:sp>
      <p:sp>
        <p:nvSpPr>
          <p:cNvPr id="173" name="Text 17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Why keep conditions constant?</a:t>
            </a:r>
            <a:endParaRPr lang="en-US" sz="1300" dirty="0"/>
          </a:p>
        </p:txBody>
      </p:sp>
      <p:sp>
        <p:nvSpPr>
          <p:cNvPr id="174" name="Text 17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Homeostasis</a:t>
            </a:r>
            <a:r>
              <a:rPr lang="en-US" sz="1150" dirty="0">
                <a:solidFill>
                  <a:srgbClr val="262B3A"/>
                </a:solidFill>
                <a:latin typeface="Calibri" pitchFamily="34" charset="0"/>
                <a:ea typeface="Calibri" pitchFamily="34" charset="-122"/>
                <a:cs typeface="Calibri" pitchFamily="34" charset="-120"/>
              </a:rPr>
              <a:t> = keeping the </a:t>
            </a:r>
            <a:r>
              <a:rPr lang="en-US" sz="1150" b="1" dirty="0">
                <a:solidFill>
                  <a:srgbClr val="262B3A"/>
                </a:solidFill>
                <a:latin typeface="Calibri" pitchFamily="34" charset="0"/>
                <a:ea typeface="Calibri" pitchFamily="34" charset="-122"/>
                <a:cs typeface="Calibri" pitchFamily="34" charset="-120"/>
              </a:rPr>
              <a:t>internal environment</a:t>
            </a:r>
            <a:r>
              <a:rPr lang="en-US" sz="1150" dirty="0">
                <a:solidFill>
                  <a:srgbClr val="262B3A"/>
                </a:solidFill>
                <a:latin typeface="Calibri" pitchFamily="34" charset="0"/>
                <a:ea typeface="Calibri" pitchFamily="34" charset="-122"/>
                <a:cs typeface="Calibri" pitchFamily="34" charset="-120"/>
              </a:rPr>
              <a:t> (body temperature, blood glucose, water content) </a:t>
            </a:r>
            <a:r>
              <a:rPr lang="en-US" sz="1150" b="1" dirty="0">
                <a:solidFill>
                  <a:srgbClr val="262B3A"/>
                </a:solidFill>
                <a:latin typeface="Calibri" pitchFamily="34" charset="0"/>
                <a:ea typeface="Calibri" pitchFamily="34" charset="-122"/>
                <a:cs typeface="Calibri" pitchFamily="34" charset="-120"/>
              </a:rPr>
              <a:t>constant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Cells need steady conditions for </a:t>
            </a:r>
            <a:r>
              <a:rPr lang="en-US" sz="1150" b="1" dirty="0">
                <a:solidFill>
                  <a:srgbClr val="262B3A"/>
                </a:solidFill>
                <a:latin typeface="Calibri" pitchFamily="34" charset="0"/>
                <a:ea typeface="Calibri" pitchFamily="34" charset="-122"/>
                <a:cs typeface="Calibri" pitchFamily="34" charset="-120"/>
              </a:rPr>
              <a:t>enzymes</a:t>
            </a:r>
            <a:r>
              <a:rPr lang="en-US" sz="1150" dirty="0">
                <a:solidFill>
                  <a:srgbClr val="262B3A"/>
                </a:solidFill>
                <a:latin typeface="Calibri" pitchFamily="34" charset="0"/>
                <a:ea typeface="Calibri" pitchFamily="34" charset="-122"/>
                <a:cs typeface="Calibri" pitchFamily="34" charset="-120"/>
              </a:rPr>
              <a:t> and for the </a:t>
            </a:r>
            <a:r>
              <a:rPr lang="en-US" sz="1150" b="1" dirty="0">
                <a:solidFill>
                  <a:srgbClr val="262B3A"/>
                </a:solidFill>
                <a:latin typeface="Calibri" pitchFamily="34" charset="0"/>
                <a:ea typeface="Calibri" pitchFamily="34" charset="-122"/>
                <a:cs typeface="Calibri" pitchFamily="34" charset="-120"/>
              </a:rPr>
              <a:t>water balance</a:t>
            </a:r>
            <a:r>
              <a:rPr lang="en-US" sz="1150" dirty="0">
                <a:solidFill>
                  <a:srgbClr val="262B3A"/>
                </a:solidFill>
                <a:latin typeface="Calibri" pitchFamily="34" charset="0"/>
                <a:ea typeface="Calibri" pitchFamily="34" charset="-122"/>
                <a:cs typeface="Calibri" pitchFamily="34" charset="-120"/>
              </a:rPr>
              <a:t> of cells.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Conditions change </a:t>
            </a:r>
            <a:r>
              <a:rPr lang="en-US" sz="1150" b="1" dirty="0">
                <a:solidFill>
                  <a:srgbClr val="262B3A"/>
                </a:solidFill>
                <a:latin typeface="Calibri" pitchFamily="34" charset="0"/>
                <a:ea typeface="Calibri" pitchFamily="34" charset="-122"/>
                <a:cs typeface="Calibri" pitchFamily="34" charset="-120"/>
              </a:rPr>
              <a:t>externally</a:t>
            </a:r>
            <a:r>
              <a:rPr lang="en-US" sz="1150" dirty="0">
                <a:solidFill>
                  <a:srgbClr val="262B3A"/>
                </a:solidFill>
                <a:latin typeface="Calibri" pitchFamily="34" charset="0"/>
                <a:ea typeface="Calibri" pitchFamily="34" charset="-122"/>
                <a:cs typeface="Calibri" pitchFamily="34" charset="-120"/>
              </a:rPr>
              <a:t> (hot day, cold wind) and </a:t>
            </a:r>
            <a:r>
              <a:rPr lang="en-US" sz="1150" b="1" dirty="0">
                <a:solidFill>
                  <a:srgbClr val="262B3A"/>
                </a:solidFill>
                <a:latin typeface="Calibri" pitchFamily="34" charset="0"/>
                <a:ea typeface="Calibri" pitchFamily="34" charset="-122"/>
                <a:cs typeface="Calibri" pitchFamily="34" charset="-120"/>
              </a:rPr>
              <a:t>internally</a:t>
            </a:r>
            <a:r>
              <a:rPr lang="en-US" sz="1150" dirty="0">
                <a:solidFill>
                  <a:srgbClr val="262B3A"/>
                </a:solidFill>
                <a:latin typeface="Calibri" pitchFamily="34" charset="0"/>
                <a:ea typeface="Calibri" pitchFamily="34" charset="-122"/>
                <a:cs typeface="Calibri" pitchFamily="34" charset="-120"/>
              </a:rPr>
              <a:t> (exercise, a meal, sweating).</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Negative feedback</a:t>
            </a:r>
            <a:r>
              <a:rPr lang="en-US" sz="1150" dirty="0">
                <a:solidFill>
                  <a:srgbClr val="262B3A"/>
                </a:solidFill>
                <a:latin typeface="Calibri" pitchFamily="34" charset="0"/>
                <a:ea typeface="Calibri" pitchFamily="34" charset="-122"/>
                <a:cs typeface="Calibri" pitchFamily="34" charset="-120"/>
              </a:rPr>
              <a:t>: any change from normal triggers a response that </a:t>
            </a:r>
            <a:r>
              <a:rPr lang="en-US" sz="1150" b="1" dirty="0">
                <a:solidFill>
                  <a:srgbClr val="262B3A"/>
                </a:solidFill>
                <a:latin typeface="Calibri" pitchFamily="34" charset="0"/>
                <a:ea typeface="Calibri" pitchFamily="34" charset="-122"/>
                <a:cs typeface="Calibri" pitchFamily="34" charset="-120"/>
              </a:rPr>
              <a:t>brings it back</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75" name="Shape 17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76" name="Text 17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Examples in Topic 7</a:t>
            </a:r>
            <a:endParaRPr lang="en-US" sz="1300" dirty="0"/>
          </a:p>
        </p:txBody>
      </p:sp>
      <p:sp>
        <p:nvSpPr>
          <p:cNvPr id="177" name="Text 175"/>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1 Temperature   </a:t>
            </a:r>
            <a:r>
              <a:rPr lang="en-US" sz="1100" dirty="0">
                <a:solidFill>
                  <a:srgbClr val="262B3A"/>
                </a:solidFill>
                <a:latin typeface="Calibri" pitchFamily="34" charset="0"/>
                <a:ea typeface="Calibri" pitchFamily="34" charset="-122"/>
                <a:cs typeface="Calibri" pitchFamily="34" charset="-120"/>
              </a:rPr>
              <a:t>about 37 °C – skin and hypothalamus</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2 Blood glucose   </a:t>
            </a:r>
            <a:r>
              <a:rPr lang="en-US" sz="1100" dirty="0">
                <a:solidFill>
                  <a:srgbClr val="262B3A"/>
                </a:solidFill>
                <a:latin typeface="Calibri" pitchFamily="34" charset="0"/>
                <a:ea typeface="Calibri" pitchFamily="34" charset="-122"/>
                <a:cs typeface="Calibri" pitchFamily="34" charset="-120"/>
              </a:rPr>
              <a:t>insulin and glucagon from the pancreas</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3 Water   </a:t>
            </a:r>
            <a:r>
              <a:rPr lang="en-US" sz="1100" dirty="0">
                <a:solidFill>
                  <a:srgbClr val="262B3A"/>
                </a:solidFill>
                <a:latin typeface="Calibri" pitchFamily="34" charset="0"/>
                <a:ea typeface="Calibri" pitchFamily="34" charset="-122"/>
                <a:cs typeface="Calibri" pitchFamily="34" charset="-120"/>
              </a:rPr>
              <a:t>kidneys and ADH</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all use negative feedback to stay near normal</a:t>
            </a:r>
            <a:endParaRPr lang="en-US" sz="1100" dirty="0"/>
          </a:p>
        </p:txBody>
      </p:sp>
      <p:sp>
        <p:nvSpPr>
          <p:cNvPr id="178" name="Shape 176"/>
          <p:cNvSpPr/>
          <p:nvPr/>
        </p:nvSpPr>
        <p:spPr>
          <a:xfrm>
            <a:off x="411480" y="5833872"/>
            <a:ext cx="11368735" cy="530352"/>
          </a:xfrm>
          <a:prstGeom prst="rect">
            <a:avLst/>
          </a:prstGeom>
          <a:solidFill>
            <a:srgbClr val="FFF4E0"/>
          </a:solidFill>
          <a:ln w="6350">
            <a:solidFill>
              <a:srgbClr val="F1D9A8"/>
            </a:solidFill>
            <a:prstDash val="solid"/>
          </a:ln>
        </p:spPr>
      </p:sp>
      <p:sp>
        <p:nvSpPr>
          <p:cNvPr id="179" name="Shape 177"/>
          <p:cNvSpPr/>
          <p:nvPr/>
        </p:nvSpPr>
        <p:spPr>
          <a:xfrm>
            <a:off x="411480" y="5833872"/>
            <a:ext cx="82296" cy="530352"/>
          </a:xfrm>
          <a:prstGeom prst="rect">
            <a:avLst/>
          </a:prstGeom>
          <a:solidFill>
            <a:srgbClr val="E39A2F"/>
          </a:solidFill>
          <a:ln w="12700">
            <a:solidFill>
              <a:srgbClr val="E39A2F"/>
            </a:solidFill>
            <a:prstDash val="solid"/>
          </a:ln>
        </p:spPr>
      </p:sp>
      <p:sp>
        <p:nvSpPr>
          <p:cNvPr id="180" name="Text 17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internal and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external change that could affect body temperature.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Why homeostasis matters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7.10B • thermoregulation and enzymes; osmoregulation and animal cells</a:t>
            </a:r>
            <a:endParaRPr lang="en-US" sz="1100" dirty="0"/>
          </a:p>
        </p:txBody>
      </p:sp>
      <p:sp>
        <p:nvSpPr>
          <p:cNvPr id="6" name="Shape 4"/>
          <p:cNvSpPr/>
          <p:nvPr/>
        </p:nvSpPr>
        <p:spPr>
          <a:xfrm>
            <a:off x="10591495" y="292608"/>
            <a:ext cx="1188720" cy="274320"/>
          </a:xfrm>
          <a:prstGeom prst="roundRect">
            <a:avLst>
              <a:gd name="adj" fmla="val 50000"/>
            </a:avLst>
          </a:prstGeom>
          <a:solidFill>
            <a:srgbClr val="2A7448"/>
          </a:solidFill>
          <a:ln w="12700">
            <a:solidFill>
              <a:srgbClr val="2A744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BIOLOGY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7.10B  |  18</a:t>
            </a:r>
            <a:endParaRPr lang="en-US" sz="1000" dirty="0"/>
          </a:p>
        </p:txBody>
      </p:sp>
      <p:sp>
        <p:nvSpPr>
          <p:cNvPr id="10" name="Shape 8"/>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enzyme model data (relative activity); red blood cells drawn to scale with each other</a:t>
            </a:r>
            <a:endParaRPr lang="en-US" sz="1000" dirty="0"/>
          </a:p>
        </p:txBody>
      </p:sp>
      <p:sp>
        <p:nvSpPr>
          <p:cNvPr id="12" name="Shape 10"/>
          <p:cNvSpPr/>
          <p:nvPr/>
        </p:nvSpPr>
        <p:spPr>
          <a:xfrm>
            <a:off x="1188720" y="1371600"/>
            <a:ext cx="4480560" cy="1691640"/>
          </a:xfrm>
          <a:prstGeom prst="rect">
            <a:avLst/>
          </a:prstGeom>
          <a:solidFill>
            <a:srgbClr val="FFFFFF"/>
          </a:solidFill>
          <a:ln/>
        </p:spPr>
      </p:sp>
      <p:sp>
        <p:nvSpPr>
          <p:cNvPr id="13" name="Shape 11"/>
          <p:cNvSpPr/>
          <p:nvPr/>
        </p:nvSpPr>
        <p:spPr>
          <a:xfrm>
            <a:off x="1188720" y="1371600"/>
            <a:ext cx="91" cy="1691640"/>
          </a:xfrm>
          <a:prstGeom prst="line">
            <a:avLst/>
          </a:prstGeom>
          <a:noFill/>
          <a:ln w="6350">
            <a:solidFill>
              <a:srgbClr val="C8DDCF"/>
            </a:solidFill>
            <a:prstDash val="solid"/>
          </a:ln>
        </p:spPr>
      </p:sp>
      <p:sp>
        <p:nvSpPr>
          <p:cNvPr id="14" name="Shape 12"/>
          <p:cNvSpPr/>
          <p:nvPr/>
        </p:nvSpPr>
        <p:spPr>
          <a:xfrm>
            <a:off x="1935480" y="1371600"/>
            <a:ext cx="91" cy="1691640"/>
          </a:xfrm>
          <a:prstGeom prst="line">
            <a:avLst/>
          </a:prstGeom>
          <a:noFill/>
          <a:ln w="6350">
            <a:solidFill>
              <a:srgbClr val="C8DDCF"/>
            </a:solidFill>
            <a:prstDash val="solid"/>
          </a:ln>
        </p:spPr>
      </p:sp>
      <p:sp>
        <p:nvSpPr>
          <p:cNvPr id="15" name="Shape 13"/>
          <p:cNvSpPr/>
          <p:nvPr/>
        </p:nvSpPr>
        <p:spPr>
          <a:xfrm>
            <a:off x="2682240" y="1371600"/>
            <a:ext cx="91" cy="1691640"/>
          </a:xfrm>
          <a:prstGeom prst="line">
            <a:avLst/>
          </a:prstGeom>
          <a:noFill/>
          <a:ln w="6350">
            <a:solidFill>
              <a:srgbClr val="C8DDCF"/>
            </a:solidFill>
            <a:prstDash val="solid"/>
          </a:ln>
        </p:spPr>
      </p:sp>
      <p:sp>
        <p:nvSpPr>
          <p:cNvPr id="16" name="Shape 14"/>
          <p:cNvSpPr/>
          <p:nvPr/>
        </p:nvSpPr>
        <p:spPr>
          <a:xfrm>
            <a:off x="3429000" y="1371600"/>
            <a:ext cx="91" cy="1691640"/>
          </a:xfrm>
          <a:prstGeom prst="line">
            <a:avLst/>
          </a:prstGeom>
          <a:noFill/>
          <a:ln w="6350">
            <a:solidFill>
              <a:srgbClr val="C8DDCF"/>
            </a:solidFill>
            <a:prstDash val="solid"/>
          </a:ln>
        </p:spPr>
      </p:sp>
      <p:sp>
        <p:nvSpPr>
          <p:cNvPr id="17" name="Shape 15"/>
          <p:cNvSpPr/>
          <p:nvPr/>
        </p:nvSpPr>
        <p:spPr>
          <a:xfrm>
            <a:off x="4175760" y="1371600"/>
            <a:ext cx="91" cy="1691640"/>
          </a:xfrm>
          <a:prstGeom prst="line">
            <a:avLst/>
          </a:prstGeom>
          <a:noFill/>
          <a:ln w="6350">
            <a:solidFill>
              <a:srgbClr val="C8DDCF"/>
            </a:solidFill>
            <a:prstDash val="solid"/>
          </a:ln>
        </p:spPr>
      </p:sp>
      <p:sp>
        <p:nvSpPr>
          <p:cNvPr id="18" name="Shape 16"/>
          <p:cNvSpPr/>
          <p:nvPr/>
        </p:nvSpPr>
        <p:spPr>
          <a:xfrm>
            <a:off x="4922520" y="1371600"/>
            <a:ext cx="91" cy="1691640"/>
          </a:xfrm>
          <a:prstGeom prst="line">
            <a:avLst/>
          </a:prstGeom>
          <a:noFill/>
          <a:ln w="6350">
            <a:solidFill>
              <a:srgbClr val="C8DDCF"/>
            </a:solidFill>
            <a:prstDash val="solid"/>
          </a:ln>
        </p:spPr>
      </p:sp>
      <p:sp>
        <p:nvSpPr>
          <p:cNvPr id="19" name="Shape 17"/>
          <p:cNvSpPr/>
          <p:nvPr/>
        </p:nvSpPr>
        <p:spPr>
          <a:xfrm>
            <a:off x="5669280" y="1371600"/>
            <a:ext cx="91" cy="1691640"/>
          </a:xfrm>
          <a:prstGeom prst="line">
            <a:avLst/>
          </a:prstGeom>
          <a:noFill/>
          <a:ln w="6350">
            <a:solidFill>
              <a:srgbClr val="C8DDCF"/>
            </a:solidFill>
            <a:prstDash val="solid"/>
          </a:ln>
        </p:spPr>
      </p:sp>
      <p:sp>
        <p:nvSpPr>
          <p:cNvPr id="20" name="Shape 18"/>
          <p:cNvSpPr/>
          <p:nvPr/>
        </p:nvSpPr>
        <p:spPr>
          <a:xfrm>
            <a:off x="1188720" y="3063240"/>
            <a:ext cx="4480560" cy="91"/>
          </a:xfrm>
          <a:prstGeom prst="line">
            <a:avLst/>
          </a:prstGeom>
          <a:noFill/>
          <a:ln w="6350">
            <a:solidFill>
              <a:srgbClr val="C8DDCF"/>
            </a:solidFill>
            <a:prstDash val="solid"/>
          </a:ln>
        </p:spPr>
      </p:sp>
      <p:sp>
        <p:nvSpPr>
          <p:cNvPr id="21" name="Shape 19"/>
          <p:cNvSpPr/>
          <p:nvPr/>
        </p:nvSpPr>
        <p:spPr>
          <a:xfrm>
            <a:off x="1188720" y="2640330"/>
            <a:ext cx="4480560" cy="91"/>
          </a:xfrm>
          <a:prstGeom prst="line">
            <a:avLst/>
          </a:prstGeom>
          <a:noFill/>
          <a:ln w="6350">
            <a:solidFill>
              <a:srgbClr val="C8DDCF"/>
            </a:solidFill>
            <a:prstDash val="solid"/>
          </a:ln>
        </p:spPr>
      </p:sp>
      <p:sp>
        <p:nvSpPr>
          <p:cNvPr id="22" name="Shape 20"/>
          <p:cNvSpPr/>
          <p:nvPr/>
        </p:nvSpPr>
        <p:spPr>
          <a:xfrm>
            <a:off x="1188720" y="2217420"/>
            <a:ext cx="4480560" cy="91"/>
          </a:xfrm>
          <a:prstGeom prst="line">
            <a:avLst/>
          </a:prstGeom>
          <a:noFill/>
          <a:ln w="6350">
            <a:solidFill>
              <a:srgbClr val="C8DDCF"/>
            </a:solidFill>
            <a:prstDash val="solid"/>
          </a:ln>
        </p:spPr>
      </p:sp>
      <p:sp>
        <p:nvSpPr>
          <p:cNvPr id="23" name="Shape 21"/>
          <p:cNvSpPr/>
          <p:nvPr/>
        </p:nvSpPr>
        <p:spPr>
          <a:xfrm>
            <a:off x="1188720" y="1794510"/>
            <a:ext cx="4480560" cy="91"/>
          </a:xfrm>
          <a:prstGeom prst="line">
            <a:avLst/>
          </a:prstGeom>
          <a:noFill/>
          <a:ln w="6350">
            <a:solidFill>
              <a:srgbClr val="C8DDCF"/>
            </a:solidFill>
            <a:prstDash val="solid"/>
          </a:ln>
        </p:spPr>
      </p:sp>
      <p:sp>
        <p:nvSpPr>
          <p:cNvPr id="24" name="Shape 22"/>
          <p:cNvSpPr/>
          <p:nvPr/>
        </p:nvSpPr>
        <p:spPr>
          <a:xfrm>
            <a:off x="1188720" y="1371600"/>
            <a:ext cx="4480560" cy="91"/>
          </a:xfrm>
          <a:prstGeom prst="line">
            <a:avLst/>
          </a:prstGeom>
          <a:noFill/>
          <a:ln w="6350">
            <a:solidFill>
              <a:srgbClr val="C8DDCF"/>
            </a:solidFill>
            <a:prstDash val="solid"/>
          </a:ln>
        </p:spPr>
      </p:sp>
      <p:sp>
        <p:nvSpPr>
          <p:cNvPr id="25" name="Shape 23"/>
          <p:cNvSpPr/>
          <p:nvPr/>
        </p:nvSpPr>
        <p:spPr>
          <a:xfrm>
            <a:off x="1188720" y="3063240"/>
            <a:ext cx="4480560" cy="91"/>
          </a:xfrm>
          <a:prstGeom prst="line">
            <a:avLst/>
          </a:prstGeom>
          <a:noFill/>
          <a:ln w="19050">
            <a:solidFill>
              <a:srgbClr val="1C3A2C"/>
            </a:solidFill>
            <a:prstDash val="solid"/>
          </a:ln>
        </p:spPr>
      </p:sp>
      <p:sp>
        <p:nvSpPr>
          <p:cNvPr id="26" name="Shape 24"/>
          <p:cNvSpPr/>
          <p:nvPr/>
        </p:nvSpPr>
        <p:spPr>
          <a:xfrm flipV="1">
            <a:off x="1188720" y="1371600"/>
            <a:ext cx="91" cy="1691640"/>
          </a:xfrm>
          <a:prstGeom prst="line">
            <a:avLst/>
          </a:prstGeom>
          <a:noFill/>
          <a:ln w="19050">
            <a:solidFill>
              <a:srgbClr val="1C3A2C"/>
            </a:solidFill>
            <a:prstDash val="solid"/>
          </a:ln>
        </p:spPr>
      </p:sp>
      <p:sp>
        <p:nvSpPr>
          <p:cNvPr id="27" name="Shape 25"/>
          <p:cNvSpPr/>
          <p:nvPr/>
        </p:nvSpPr>
        <p:spPr>
          <a:xfrm>
            <a:off x="1188720" y="3063240"/>
            <a:ext cx="91" cy="54864"/>
          </a:xfrm>
          <a:prstGeom prst="line">
            <a:avLst/>
          </a:prstGeom>
          <a:noFill/>
          <a:ln w="12700">
            <a:solidFill>
              <a:srgbClr val="1C3A2C"/>
            </a:solidFill>
            <a:prstDash val="solid"/>
          </a:ln>
        </p:spPr>
      </p:sp>
      <p:sp>
        <p:nvSpPr>
          <p:cNvPr id="28" name="Text 26"/>
          <p:cNvSpPr/>
          <p:nvPr/>
        </p:nvSpPr>
        <p:spPr>
          <a:xfrm>
            <a:off x="914400" y="31181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29" name="Shape 27"/>
          <p:cNvSpPr/>
          <p:nvPr/>
        </p:nvSpPr>
        <p:spPr>
          <a:xfrm>
            <a:off x="1935480" y="3063240"/>
            <a:ext cx="91" cy="54864"/>
          </a:xfrm>
          <a:prstGeom prst="line">
            <a:avLst/>
          </a:prstGeom>
          <a:noFill/>
          <a:ln w="12700">
            <a:solidFill>
              <a:srgbClr val="1C3A2C"/>
            </a:solidFill>
            <a:prstDash val="solid"/>
          </a:ln>
        </p:spPr>
      </p:sp>
      <p:sp>
        <p:nvSpPr>
          <p:cNvPr id="30" name="Text 28"/>
          <p:cNvSpPr/>
          <p:nvPr/>
        </p:nvSpPr>
        <p:spPr>
          <a:xfrm>
            <a:off x="1661160" y="31181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31" name="Shape 29"/>
          <p:cNvSpPr/>
          <p:nvPr/>
        </p:nvSpPr>
        <p:spPr>
          <a:xfrm>
            <a:off x="2682240" y="3063240"/>
            <a:ext cx="91" cy="54864"/>
          </a:xfrm>
          <a:prstGeom prst="line">
            <a:avLst/>
          </a:prstGeom>
          <a:noFill/>
          <a:ln w="12700">
            <a:solidFill>
              <a:srgbClr val="1C3A2C"/>
            </a:solidFill>
            <a:prstDash val="solid"/>
          </a:ln>
        </p:spPr>
      </p:sp>
      <p:sp>
        <p:nvSpPr>
          <p:cNvPr id="32" name="Text 30"/>
          <p:cNvSpPr/>
          <p:nvPr/>
        </p:nvSpPr>
        <p:spPr>
          <a:xfrm>
            <a:off x="2407920" y="31181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33" name="Shape 31"/>
          <p:cNvSpPr/>
          <p:nvPr/>
        </p:nvSpPr>
        <p:spPr>
          <a:xfrm>
            <a:off x="3429000" y="3063240"/>
            <a:ext cx="91" cy="54864"/>
          </a:xfrm>
          <a:prstGeom prst="line">
            <a:avLst/>
          </a:prstGeom>
          <a:noFill/>
          <a:ln w="12700">
            <a:solidFill>
              <a:srgbClr val="1C3A2C"/>
            </a:solidFill>
            <a:prstDash val="solid"/>
          </a:ln>
        </p:spPr>
      </p:sp>
      <p:sp>
        <p:nvSpPr>
          <p:cNvPr id="34" name="Text 32"/>
          <p:cNvSpPr/>
          <p:nvPr/>
        </p:nvSpPr>
        <p:spPr>
          <a:xfrm>
            <a:off x="3154680" y="31181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35" name="Shape 33"/>
          <p:cNvSpPr/>
          <p:nvPr/>
        </p:nvSpPr>
        <p:spPr>
          <a:xfrm>
            <a:off x="4175760" y="3063240"/>
            <a:ext cx="91" cy="54864"/>
          </a:xfrm>
          <a:prstGeom prst="line">
            <a:avLst/>
          </a:prstGeom>
          <a:noFill/>
          <a:ln w="12700">
            <a:solidFill>
              <a:srgbClr val="1C3A2C"/>
            </a:solidFill>
            <a:prstDash val="solid"/>
          </a:ln>
        </p:spPr>
      </p:sp>
      <p:sp>
        <p:nvSpPr>
          <p:cNvPr id="36" name="Text 34"/>
          <p:cNvSpPr/>
          <p:nvPr/>
        </p:nvSpPr>
        <p:spPr>
          <a:xfrm>
            <a:off x="3901440" y="31181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37" name="Shape 35"/>
          <p:cNvSpPr/>
          <p:nvPr/>
        </p:nvSpPr>
        <p:spPr>
          <a:xfrm>
            <a:off x="4922520" y="3063240"/>
            <a:ext cx="91" cy="54864"/>
          </a:xfrm>
          <a:prstGeom prst="line">
            <a:avLst/>
          </a:prstGeom>
          <a:noFill/>
          <a:ln w="12700">
            <a:solidFill>
              <a:srgbClr val="1C3A2C"/>
            </a:solidFill>
            <a:prstDash val="solid"/>
          </a:ln>
        </p:spPr>
      </p:sp>
      <p:sp>
        <p:nvSpPr>
          <p:cNvPr id="38" name="Text 36"/>
          <p:cNvSpPr/>
          <p:nvPr/>
        </p:nvSpPr>
        <p:spPr>
          <a:xfrm>
            <a:off x="4648200" y="31181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39" name="Shape 37"/>
          <p:cNvSpPr/>
          <p:nvPr/>
        </p:nvSpPr>
        <p:spPr>
          <a:xfrm>
            <a:off x="5669280" y="3063240"/>
            <a:ext cx="91" cy="54864"/>
          </a:xfrm>
          <a:prstGeom prst="line">
            <a:avLst/>
          </a:prstGeom>
          <a:noFill/>
          <a:ln w="12700">
            <a:solidFill>
              <a:srgbClr val="1C3A2C"/>
            </a:solidFill>
            <a:prstDash val="solid"/>
          </a:ln>
        </p:spPr>
      </p:sp>
      <p:sp>
        <p:nvSpPr>
          <p:cNvPr id="40" name="Text 38"/>
          <p:cNvSpPr/>
          <p:nvPr/>
        </p:nvSpPr>
        <p:spPr>
          <a:xfrm>
            <a:off x="5394960" y="31181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41" name="Shape 39"/>
          <p:cNvSpPr/>
          <p:nvPr/>
        </p:nvSpPr>
        <p:spPr>
          <a:xfrm>
            <a:off x="1133856" y="3063240"/>
            <a:ext cx="54864" cy="91"/>
          </a:xfrm>
          <a:prstGeom prst="line">
            <a:avLst/>
          </a:prstGeom>
          <a:noFill/>
          <a:ln w="12700">
            <a:solidFill>
              <a:srgbClr val="1C3A2C"/>
            </a:solidFill>
            <a:prstDash val="solid"/>
          </a:ln>
        </p:spPr>
      </p:sp>
      <p:sp>
        <p:nvSpPr>
          <p:cNvPr id="42" name="Text 40"/>
          <p:cNvSpPr/>
          <p:nvPr/>
        </p:nvSpPr>
        <p:spPr>
          <a:xfrm>
            <a:off x="749808" y="2971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3" name="Shape 41"/>
          <p:cNvSpPr/>
          <p:nvPr/>
        </p:nvSpPr>
        <p:spPr>
          <a:xfrm>
            <a:off x="1133856" y="2640330"/>
            <a:ext cx="54864" cy="91"/>
          </a:xfrm>
          <a:prstGeom prst="line">
            <a:avLst/>
          </a:prstGeom>
          <a:noFill/>
          <a:ln w="12700">
            <a:solidFill>
              <a:srgbClr val="1C3A2C"/>
            </a:solidFill>
            <a:prstDash val="solid"/>
          </a:ln>
        </p:spPr>
      </p:sp>
      <p:sp>
        <p:nvSpPr>
          <p:cNvPr id="44" name="Text 42"/>
          <p:cNvSpPr/>
          <p:nvPr/>
        </p:nvSpPr>
        <p:spPr>
          <a:xfrm>
            <a:off x="749808" y="254889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45" name="Shape 43"/>
          <p:cNvSpPr/>
          <p:nvPr/>
        </p:nvSpPr>
        <p:spPr>
          <a:xfrm>
            <a:off x="1133856" y="2217420"/>
            <a:ext cx="54864" cy="91"/>
          </a:xfrm>
          <a:prstGeom prst="line">
            <a:avLst/>
          </a:prstGeom>
          <a:noFill/>
          <a:ln w="12700">
            <a:solidFill>
              <a:srgbClr val="1C3A2C"/>
            </a:solidFill>
            <a:prstDash val="solid"/>
          </a:ln>
        </p:spPr>
      </p:sp>
      <p:sp>
        <p:nvSpPr>
          <p:cNvPr id="46" name="Text 44"/>
          <p:cNvSpPr/>
          <p:nvPr/>
        </p:nvSpPr>
        <p:spPr>
          <a:xfrm>
            <a:off x="749808" y="21259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47" name="Shape 45"/>
          <p:cNvSpPr/>
          <p:nvPr/>
        </p:nvSpPr>
        <p:spPr>
          <a:xfrm>
            <a:off x="1133856" y="1794510"/>
            <a:ext cx="54864" cy="91"/>
          </a:xfrm>
          <a:prstGeom prst="line">
            <a:avLst/>
          </a:prstGeom>
          <a:noFill/>
          <a:ln w="12700">
            <a:solidFill>
              <a:srgbClr val="1C3A2C"/>
            </a:solidFill>
            <a:prstDash val="solid"/>
          </a:ln>
        </p:spPr>
      </p:sp>
      <p:sp>
        <p:nvSpPr>
          <p:cNvPr id="48" name="Text 46"/>
          <p:cNvSpPr/>
          <p:nvPr/>
        </p:nvSpPr>
        <p:spPr>
          <a:xfrm>
            <a:off x="749808" y="170307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75</a:t>
            </a:r>
            <a:endParaRPr lang="en-US" sz="1000" dirty="0"/>
          </a:p>
        </p:txBody>
      </p:sp>
      <p:sp>
        <p:nvSpPr>
          <p:cNvPr id="49" name="Shape 47"/>
          <p:cNvSpPr/>
          <p:nvPr/>
        </p:nvSpPr>
        <p:spPr>
          <a:xfrm>
            <a:off x="1133856" y="1371600"/>
            <a:ext cx="54864" cy="91"/>
          </a:xfrm>
          <a:prstGeom prst="line">
            <a:avLst/>
          </a:prstGeom>
          <a:noFill/>
          <a:ln w="12700">
            <a:solidFill>
              <a:srgbClr val="1C3A2C"/>
            </a:solidFill>
            <a:prstDash val="solid"/>
          </a:ln>
        </p:spPr>
      </p:sp>
      <p:sp>
        <p:nvSpPr>
          <p:cNvPr id="50" name="Text 48"/>
          <p:cNvSpPr/>
          <p:nvPr/>
        </p:nvSpPr>
        <p:spPr>
          <a:xfrm>
            <a:off x="749808" y="1280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51" name="Text 49"/>
          <p:cNvSpPr/>
          <p:nvPr/>
        </p:nvSpPr>
        <p:spPr>
          <a:xfrm>
            <a:off x="1188720" y="3310128"/>
            <a:ext cx="4480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temperature / °C</a:t>
            </a:r>
            <a:endParaRPr lang="en-US" sz="1050" dirty="0"/>
          </a:p>
        </p:txBody>
      </p:sp>
      <p:sp>
        <p:nvSpPr>
          <p:cNvPr id="52" name="Text 50"/>
          <p:cNvSpPr/>
          <p:nvPr/>
        </p:nvSpPr>
        <p:spPr>
          <a:xfrm rot="16200000">
            <a:off x="-224028" y="2089404"/>
            <a:ext cx="16916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activity / %</a:t>
            </a:r>
            <a:endParaRPr lang="en-US" sz="1050" dirty="0"/>
          </a:p>
        </p:txBody>
      </p:sp>
      <p:sp>
        <p:nvSpPr>
          <p:cNvPr id="53" name="Shape 51"/>
          <p:cNvSpPr/>
          <p:nvPr/>
        </p:nvSpPr>
        <p:spPr>
          <a:xfrm flipV="1">
            <a:off x="1188720" y="3022969"/>
            <a:ext cx="93345" cy="6438"/>
          </a:xfrm>
          <a:prstGeom prst="line">
            <a:avLst/>
          </a:prstGeom>
          <a:noFill/>
          <a:ln w="31750">
            <a:solidFill>
              <a:srgbClr val="2A7448"/>
            </a:solidFill>
            <a:prstDash val="solid"/>
          </a:ln>
        </p:spPr>
      </p:sp>
      <p:sp>
        <p:nvSpPr>
          <p:cNvPr id="54" name="Shape 52"/>
          <p:cNvSpPr/>
          <p:nvPr/>
        </p:nvSpPr>
        <p:spPr>
          <a:xfrm flipV="1">
            <a:off x="1282065" y="3004634"/>
            <a:ext cx="93345" cy="18335"/>
          </a:xfrm>
          <a:prstGeom prst="line">
            <a:avLst/>
          </a:prstGeom>
          <a:noFill/>
          <a:ln w="31750">
            <a:solidFill>
              <a:srgbClr val="2A7448"/>
            </a:solidFill>
            <a:prstDash val="solid"/>
          </a:ln>
        </p:spPr>
      </p:sp>
      <p:sp>
        <p:nvSpPr>
          <p:cNvPr id="55" name="Shape 53"/>
          <p:cNvSpPr/>
          <p:nvPr/>
        </p:nvSpPr>
        <p:spPr>
          <a:xfrm flipV="1">
            <a:off x="1375410" y="2977193"/>
            <a:ext cx="93345" cy="27440"/>
          </a:xfrm>
          <a:prstGeom prst="line">
            <a:avLst/>
          </a:prstGeom>
          <a:noFill/>
          <a:ln w="31750">
            <a:solidFill>
              <a:srgbClr val="2A7448"/>
            </a:solidFill>
            <a:prstDash val="solid"/>
          </a:ln>
        </p:spPr>
      </p:sp>
      <p:sp>
        <p:nvSpPr>
          <p:cNvPr id="56" name="Shape 54"/>
          <p:cNvSpPr/>
          <p:nvPr/>
        </p:nvSpPr>
        <p:spPr>
          <a:xfrm flipV="1">
            <a:off x="1468755" y="2944825"/>
            <a:ext cx="93345" cy="32368"/>
          </a:xfrm>
          <a:prstGeom prst="line">
            <a:avLst/>
          </a:prstGeom>
          <a:noFill/>
          <a:ln w="31750">
            <a:solidFill>
              <a:srgbClr val="2A7448"/>
            </a:solidFill>
            <a:prstDash val="solid"/>
          </a:ln>
        </p:spPr>
      </p:sp>
      <p:sp>
        <p:nvSpPr>
          <p:cNvPr id="57" name="Shape 55"/>
          <p:cNvSpPr/>
          <p:nvPr/>
        </p:nvSpPr>
        <p:spPr>
          <a:xfrm flipV="1">
            <a:off x="1562100" y="2912457"/>
            <a:ext cx="93345" cy="32368"/>
          </a:xfrm>
          <a:prstGeom prst="line">
            <a:avLst/>
          </a:prstGeom>
          <a:noFill/>
          <a:ln w="31750">
            <a:solidFill>
              <a:srgbClr val="2A7448"/>
            </a:solidFill>
            <a:prstDash val="solid"/>
          </a:ln>
        </p:spPr>
      </p:sp>
      <p:sp>
        <p:nvSpPr>
          <p:cNvPr id="58" name="Shape 56"/>
          <p:cNvSpPr/>
          <p:nvPr/>
        </p:nvSpPr>
        <p:spPr>
          <a:xfrm flipV="1">
            <a:off x="1655445" y="2885017"/>
            <a:ext cx="93345" cy="27440"/>
          </a:xfrm>
          <a:prstGeom prst="line">
            <a:avLst/>
          </a:prstGeom>
          <a:noFill/>
          <a:ln w="31750">
            <a:solidFill>
              <a:srgbClr val="2A7448"/>
            </a:solidFill>
            <a:prstDash val="solid"/>
          </a:ln>
        </p:spPr>
      </p:sp>
      <p:sp>
        <p:nvSpPr>
          <p:cNvPr id="59" name="Shape 57"/>
          <p:cNvSpPr/>
          <p:nvPr/>
        </p:nvSpPr>
        <p:spPr>
          <a:xfrm flipV="1">
            <a:off x="1748790" y="2866682"/>
            <a:ext cx="93345" cy="18335"/>
          </a:xfrm>
          <a:prstGeom prst="line">
            <a:avLst/>
          </a:prstGeom>
          <a:noFill/>
          <a:ln w="31750">
            <a:solidFill>
              <a:srgbClr val="2A7448"/>
            </a:solidFill>
            <a:prstDash val="solid"/>
          </a:ln>
        </p:spPr>
      </p:sp>
      <p:sp>
        <p:nvSpPr>
          <p:cNvPr id="60" name="Shape 58"/>
          <p:cNvSpPr/>
          <p:nvPr/>
        </p:nvSpPr>
        <p:spPr>
          <a:xfrm flipV="1">
            <a:off x="1842135" y="2860243"/>
            <a:ext cx="93345" cy="6438"/>
          </a:xfrm>
          <a:prstGeom prst="line">
            <a:avLst/>
          </a:prstGeom>
          <a:noFill/>
          <a:ln w="31750">
            <a:solidFill>
              <a:srgbClr val="2A7448"/>
            </a:solidFill>
            <a:prstDash val="solid"/>
          </a:ln>
        </p:spPr>
      </p:sp>
      <p:sp>
        <p:nvSpPr>
          <p:cNvPr id="61" name="Shape 59"/>
          <p:cNvSpPr/>
          <p:nvPr/>
        </p:nvSpPr>
        <p:spPr>
          <a:xfrm flipV="1">
            <a:off x="1935480" y="2848654"/>
            <a:ext cx="93345" cy="11589"/>
          </a:xfrm>
          <a:prstGeom prst="line">
            <a:avLst/>
          </a:prstGeom>
          <a:noFill/>
          <a:ln w="31750">
            <a:solidFill>
              <a:srgbClr val="2A7448"/>
            </a:solidFill>
            <a:prstDash val="solid"/>
          </a:ln>
        </p:spPr>
      </p:sp>
      <p:sp>
        <p:nvSpPr>
          <p:cNvPr id="62" name="Shape 60"/>
          <p:cNvSpPr/>
          <p:nvPr/>
        </p:nvSpPr>
        <p:spPr>
          <a:xfrm flipV="1">
            <a:off x="2028825" y="2815651"/>
            <a:ext cx="93345" cy="33003"/>
          </a:xfrm>
          <a:prstGeom prst="line">
            <a:avLst/>
          </a:prstGeom>
          <a:noFill/>
          <a:ln w="31750">
            <a:solidFill>
              <a:srgbClr val="2A7448"/>
            </a:solidFill>
            <a:prstDash val="solid"/>
          </a:ln>
        </p:spPr>
      </p:sp>
      <p:sp>
        <p:nvSpPr>
          <p:cNvPr id="63" name="Shape 61"/>
          <p:cNvSpPr/>
          <p:nvPr/>
        </p:nvSpPr>
        <p:spPr>
          <a:xfrm flipV="1">
            <a:off x="2122170" y="2766258"/>
            <a:ext cx="93345" cy="49393"/>
          </a:xfrm>
          <a:prstGeom prst="line">
            <a:avLst/>
          </a:prstGeom>
          <a:noFill/>
          <a:ln w="31750">
            <a:solidFill>
              <a:srgbClr val="2A7448"/>
            </a:solidFill>
            <a:prstDash val="solid"/>
          </a:ln>
        </p:spPr>
      </p:sp>
      <p:sp>
        <p:nvSpPr>
          <p:cNvPr id="64" name="Shape 62"/>
          <p:cNvSpPr/>
          <p:nvPr/>
        </p:nvSpPr>
        <p:spPr>
          <a:xfrm flipV="1">
            <a:off x="2215515" y="2707996"/>
            <a:ext cx="93345" cy="58263"/>
          </a:xfrm>
          <a:prstGeom prst="line">
            <a:avLst/>
          </a:prstGeom>
          <a:noFill/>
          <a:ln w="31750">
            <a:solidFill>
              <a:srgbClr val="2A7448"/>
            </a:solidFill>
            <a:prstDash val="solid"/>
          </a:ln>
        </p:spPr>
      </p:sp>
      <p:sp>
        <p:nvSpPr>
          <p:cNvPr id="65" name="Shape 63"/>
          <p:cNvSpPr/>
          <p:nvPr/>
        </p:nvSpPr>
        <p:spPr>
          <a:xfrm flipV="1">
            <a:off x="2308860" y="2649733"/>
            <a:ext cx="93345" cy="58263"/>
          </a:xfrm>
          <a:prstGeom prst="line">
            <a:avLst/>
          </a:prstGeom>
          <a:noFill/>
          <a:ln w="31750">
            <a:solidFill>
              <a:srgbClr val="2A7448"/>
            </a:solidFill>
            <a:prstDash val="solid"/>
          </a:ln>
        </p:spPr>
      </p:sp>
      <p:sp>
        <p:nvSpPr>
          <p:cNvPr id="66" name="Shape 64"/>
          <p:cNvSpPr/>
          <p:nvPr/>
        </p:nvSpPr>
        <p:spPr>
          <a:xfrm flipV="1">
            <a:off x="2402205" y="2600340"/>
            <a:ext cx="93345" cy="49393"/>
          </a:xfrm>
          <a:prstGeom prst="line">
            <a:avLst/>
          </a:prstGeom>
          <a:noFill/>
          <a:ln w="31750">
            <a:solidFill>
              <a:srgbClr val="2A7448"/>
            </a:solidFill>
            <a:prstDash val="solid"/>
          </a:ln>
        </p:spPr>
      </p:sp>
      <p:sp>
        <p:nvSpPr>
          <p:cNvPr id="67" name="Shape 65"/>
          <p:cNvSpPr/>
          <p:nvPr/>
        </p:nvSpPr>
        <p:spPr>
          <a:xfrm flipV="1">
            <a:off x="2495550" y="2567337"/>
            <a:ext cx="93345" cy="33003"/>
          </a:xfrm>
          <a:prstGeom prst="line">
            <a:avLst/>
          </a:prstGeom>
          <a:noFill/>
          <a:ln w="31750">
            <a:solidFill>
              <a:srgbClr val="2A7448"/>
            </a:solidFill>
            <a:prstDash val="solid"/>
          </a:ln>
        </p:spPr>
      </p:sp>
      <p:sp>
        <p:nvSpPr>
          <p:cNvPr id="68" name="Shape 66"/>
          <p:cNvSpPr/>
          <p:nvPr/>
        </p:nvSpPr>
        <p:spPr>
          <a:xfrm flipV="1">
            <a:off x="2588895" y="2555748"/>
            <a:ext cx="93345" cy="11589"/>
          </a:xfrm>
          <a:prstGeom prst="line">
            <a:avLst/>
          </a:prstGeom>
          <a:noFill/>
          <a:ln w="31750">
            <a:solidFill>
              <a:srgbClr val="2A7448"/>
            </a:solidFill>
            <a:prstDash val="solid"/>
          </a:ln>
        </p:spPr>
      </p:sp>
      <p:sp>
        <p:nvSpPr>
          <p:cNvPr id="69" name="Shape 67"/>
          <p:cNvSpPr/>
          <p:nvPr/>
        </p:nvSpPr>
        <p:spPr>
          <a:xfrm flipV="1">
            <a:off x="2682240" y="2535145"/>
            <a:ext cx="93345" cy="20603"/>
          </a:xfrm>
          <a:prstGeom prst="line">
            <a:avLst/>
          </a:prstGeom>
          <a:noFill/>
          <a:ln w="31750">
            <a:solidFill>
              <a:srgbClr val="2A7448"/>
            </a:solidFill>
            <a:prstDash val="solid"/>
          </a:ln>
        </p:spPr>
      </p:sp>
      <p:sp>
        <p:nvSpPr>
          <p:cNvPr id="70" name="Shape 68"/>
          <p:cNvSpPr/>
          <p:nvPr/>
        </p:nvSpPr>
        <p:spPr>
          <a:xfrm flipV="1">
            <a:off x="2775585" y="2476473"/>
            <a:ext cx="93345" cy="58672"/>
          </a:xfrm>
          <a:prstGeom prst="line">
            <a:avLst/>
          </a:prstGeom>
          <a:noFill/>
          <a:ln w="31750">
            <a:solidFill>
              <a:srgbClr val="2A7448"/>
            </a:solidFill>
            <a:prstDash val="solid"/>
          </a:ln>
        </p:spPr>
      </p:sp>
      <p:sp>
        <p:nvSpPr>
          <p:cNvPr id="71" name="Shape 69"/>
          <p:cNvSpPr/>
          <p:nvPr/>
        </p:nvSpPr>
        <p:spPr>
          <a:xfrm flipV="1">
            <a:off x="2868930" y="2388664"/>
            <a:ext cx="93345" cy="87809"/>
          </a:xfrm>
          <a:prstGeom prst="line">
            <a:avLst/>
          </a:prstGeom>
          <a:noFill/>
          <a:ln w="31750">
            <a:solidFill>
              <a:srgbClr val="2A7448"/>
            </a:solidFill>
            <a:prstDash val="solid"/>
          </a:ln>
        </p:spPr>
      </p:sp>
      <p:sp>
        <p:nvSpPr>
          <p:cNvPr id="72" name="Shape 70"/>
          <p:cNvSpPr/>
          <p:nvPr/>
        </p:nvSpPr>
        <p:spPr>
          <a:xfrm flipV="1">
            <a:off x="2962275" y="2285086"/>
            <a:ext cx="93345" cy="103578"/>
          </a:xfrm>
          <a:prstGeom prst="line">
            <a:avLst/>
          </a:prstGeom>
          <a:noFill/>
          <a:ln w="31750">
            <a:solidFill>
              <a:srgbClr val="2A7448"/>
            </a:solidFill>
            <a:prstDash val="solid"/>
          </a:ln>
        </p:spPr>
      </p:sp>
      <p:sp>
        <p:nvSpPr>
          <p:cNvPr id="73" name="Shape 71"/>
          <p:cNvSpPr/>
          <p:nvPr/>
        </p:nvSpPr>
        <p:spPr>
          <a:xfrm flipV="1">
            <a:off x="3055620" y="2181508"/>
            <a:ext cx="93345" cy="103578"/>
          </a:xfrm>
          <a:prstGeom prst="line">
            <a:avLst/>
          </a:prstGeom>
          <a:noFill/>
          <a:ln w="31750">
            <a:solidFill>
              <a:srgbClr val="2A7448"/>
            </a:solidFill>
            <a:prstDash val="solid"/>
          </a:ln>
        </p:spPr>
      </p:sp>
      <p:sp>
        <p:nvSpPr>
          <p:cNvPr id="74" name="Shape 72"/>
          <p:cNvSpPr/>
          <p:nvPr/>
        </p:nvSpPr>
        <p:spPr>
          <a:xfrm flipV="1">
            <a:off x="3148965" y="2093698"/>
            <a:ext cx="93345" cy="87809"/>
          </a:xfrm>
          <a:prstGeom prst="line">
            <a:avLst/>
          </a:prstGeom>
          <a:noFill/>
          <a:ln w="31750">
            <a:solidFill>
              <a:srgbClr val="2A7448"/>
            </a:solidFill>
            <a:prstDash val="solid"/>
          </a:ln>
        </p:spPr>
      </p:sp>
      <p:sp>
        <p:nvSpPr>
          <p:cNvPr id="75" name="Shape 73"/>
          <p:cNvSpPr/>
          <p:nvPr/>
        </p:nvSpPr>
        <p:spPr>
          <a:xfrm flipV="1">
            <a:off x="3242310" y="2035026"/>
            <a:ext cx="93345" cy="58672"/>
          </a:xfrm>
          <a:prstGeom prst="line">
            <a:avLst/>
          </a:prstGeom>
          <a:noFill/>
          <a:ln w="31750">
            <a:solidFill>
              <a:srgbClr val="2A7448"/>
            </a:solidFill>
            <a:prstDash val="solid"/>
          </a:ln>
        </p:spPr>
      </p:sp>
      <p:sp>
        <p:nvSpPr>
          <p:cNvPr id="76" name="Shape 74"/>
          <p:cNvSpPr/>
          <p:nvPr/>
        </p:nvSpPr>
        <p:spPr>
          <a:xfrm flipV="1">
            <a:off x="3335655" y="2014423"/>
            <a:ext cx="93345" cy="20603"/>
          </a:xfrm>
          <a:prstGeom prst="line">
            <a:avLst/>
          </a:prstGeom>
          <a:noFill/>
          <a:ln w="31750">
            <a:solidFill>
              <a:srgbClr val="2A7448"/>
            </a:solidFill>
            <a:prstDash val="solid"/>
          </a:ln>
        </p:spPr>
      </p:sp>
      <p:sp>
        <p:nvSpPr>
          <p:cNvPr id="77" name="Shape 75"/>
          <p:cNvSpPr/>
          <p:nvPr/>
        </p:nvSpPr>
        <p:spPr>
          <a:xfrm flipV="1">
            <a:off x="3429000" y="1989957"/>
            <a:ext cx="65341" cy="24466"/>
          </a:xfrm>
          <a:prstGeom prst="line">
            <a:avLst/>
          </a:prstGeom>
          <a:noFill/>
          <a:ln w="31750">
            <a:solidFill>
              <a:srgbClr val="2A7448"/>
            </a:solidFill>
            <a:prstDash val="solid"/>
          </a:ln>
        </p:spPr>
      </p:sp>
      <p:sp>
        <p:nvSpPr>
          <p:cNvPr id="78" name="Shape 76"/>
          <p:cNvSpPr/>
          <p:nvPr/>
        </p:nvSpPr>
        <p:spPr>
          <a:xfrm flipV="1">
            <a:off x="3494342" y="1920284"/>
            <a:ext cx="65342" cy="69673"/>
          </a:xfrm>
          <a:prstGeom prst="line">
            <a:avLst/>
          </a:prstGeom>
          <a:noFill/>
          <a:ln w="31750">
            <a:solidFill>
              <a:srgbClr val="2A7448"/>
            </a:solidFill>
            <a:prstDash val="solid"/>
          </a:ln>
        </p:spPr>
      </p:sp>
      <p:sp>
        <p:nvSpPr>
          <p:cNvPr id="79" name="Shape 77"/>
          <p:cNvSpPr/>
          <p:nvPr/>
        </p:nvSpPr>
        <p:spPr>
          <a:xfrm flipV="1">
            <a:off x="3559683" y="1816010"/>
            <a:ext cx="65341" cy="104273"/>
          </a:xfrm>
          <a:prstGeom prst="line">
            <a:avLst/>
          </a:prstGeom>
          <a:noFill/>
          <a:ln w="31750">
            <a:solidFill>
              <a:srgbClr val="2A7448"/>
            </a:solidFill>
            <a:prstDash val="solid"/>
          </a:ln>
        </p:spPr>
      </p:sp>
      <p:sp>
        <p:nvSpPr>
          <p:cNvPr id="80" name="Shape 78"/>
          <p:cNvSpPr/>
          <p:nvPr/>
        </p:nvSpPr>
        <p:spPr>
          <a:xfrm flipV="1">
            <a:off x="3625025" y="1693012"/>
            <a:ext cx="65341" cy="122999"/>
          </a:xfrm>
          <a:prstGeom prst="line">
            <a:avLst/>
          </a:prstGeom>
          <a:noFill/>
          <a:ln w="31750">
            <a:solidFill>
              <a:srgbClr val="2A7448"/>
            </a:solidFill>
            <a:prstDash val="solid"/>
          </a:ln>
        </p:spPr>
      </p:sp>
      <p:sp>
        <p:nvSpPr>
          <p:cNvPr id="81" name="Shape 79"/>
          <p:cNvSpPr/>
          <p:nvPr/>
        </p:nvSpPr>
        <p:spPr>
          <a:xfrm flipV="1">
            <a:off x="3690366" y="1570013"/>
            <a:ext cx="65341" cy="122999"/>
          </a:xfrm>
          <a:prstGeom prst="line">
            <a:avLst/>
          </a:prstGeom>
          <a:noFill/>
          <a:ln w="31750">
            <a:solidFill>
              <a:srgbClr val="2A7448"/>
            </a:solidFill>
            <a:prstDash val="solid"/>
          </a:ln>
        </p:spPr>
      </p:sp>
      <p:sp>
        <p:nvSpPr>
          <p:cNvPr id="82" name="Shape 80"/>
          <p:cNvSpPr/>
          <p:nvPr/>
        </p:nvSpPr>
        <p:spPr>
          <a:xfrm flipV="1">
            <a:off x="3755708" y="1465739"/>
            <a:ext cx="65341" cy="104273"/>
          </a:xfrm>
          <a:prstGeom prst="line">
            <a:avLst/>
          </a:prstGeom>
          <a:noFill/>
          <a:ln w="31750">
            <a:solidFill>
              <a:srgbClr val="2A7448"/>
            </a:solidFill>
            <a:prstDash val="solid"/>
          </a:ln>
        </p:spPr>
      </p:sp>
      <p:sp>
        <p:nvSpPr>
          <p:cNvPr id="83" name="Shape 81"/>
          <p:cNvSpPr/>
          <p:nvPr/>
        </p:nvSpPr>
        <p:spPr>
          <a:xfrm flipV="1">
            <a:off x="3821049" y="1396066"/>
            <a:ext cx="65341" cy="69673"/>
          </a:xfrm>
          <a:prstGeom prst="line">
            <a:avLst/>
          </a:prstGeom>
          <a:noFill/>
          <a:ln w="31750">
            <a:solidFill>
              <a:srgbClr val="2A7448"/>
            </a:solidFill>
            <a:prstDash val="solid"/>
          </a:ln>
        </p:spPr>
      </p:sp>
      <p:sp>
        <p:nvSpPr>
          <p:cNvPr id="84" name="Shape 82"/>
          <p:cNvSpPr/>
          <p:nvPr/>
        </p:nvSpPr>
        <p:spPr>
          <a:xfrm flipV="1">
            <a:off x="3886391" y="1371600"/>
            <a:ext cx="65342" cy="24466"/>
          </a:xfrm>
          <a:prstGeom prst="line">
            <a:avLst/>
          </a:prstGeom>
          <a:noFill/>
          <a:ln w="31750">
            <a:solidFill>
              <a:srgbClr val="2A7448"/>
            </a:solidFill>
            <a:prstDash val="solid"/>
          </a:ln>
        </p:spPr>
      </p:sp>
      <p:sp>
        <p:nvSpPr>
          <p:cNvPr id="85" name="Shape 83"/>
          <p:cNvSpPr/>
          <p:nvPr/>
        </p:nvSpPr>
        <p:spPr>
          <a:xfrm>
            <a:off x="3951732" y="1371600"/>
            <a:ext cx="28003" cy="3863"/>
          </a:xfrm>
          <a:prstGeom prst="line">
            <a:avLst/>
          </a:prstGeom>
          <a:noFill/>
          <a:ln w="31750">
            <a:solidFill>
              <a:srgbClr val="2A7448"/>
            </a:solidFill>
            <a:prstDash val="solid"/>
          </a:ln>
        </p:spPr>
      </p:sp>
      <p:sp>
        <p:nvSpPr>
          <p:cNvPr id="86" name="Shape 84"/>
          <p:cNvSpPr/>
          <p:nvPr/>
        </p:nvSpPr>
        <p:spPr>
          <a:xfrm>
            <a:off x="3979736" y="1375463"/>
            <a:ext cx="28003" cy="11001"/>
          </a:xfrm>
          <a:prstGeom prst="line">
            <a:avLst/>
          </a:prstGeom>
          <a:noFill/>
          <a:ln w="31750">
            <a:solidFill>
              <a:srgbClr val="2A7448"/>
            </a:solidFill>
            <a:prstDash val="solid"/>
          </a:ln>
        </p:spPr>
      </p:sp>
      <p:sp>
        <p:nvSpPr>
          <p:cNvPr id="87" name="Shape 85"/>
          <p:cNvSpPr/>
          <p:nvPr/>
        </p:nvSpPr>
        <p:spPr>
          <a:xfrm>
            <a:off x="4007739" y="1386464"/>
            <a:ext cx="28004" cy="16464"/>
          </a:xfrm>
          <a:prstGeom prst="line">
            <a:avLst/>
          </a:prstGeom>
          <a:noFill/>
          <a:ln w="31750">
            <a:solidFill>
              <a:srgbClr val="2A7448"/>
            </a:solidFill>
            <a:prstDash val="solid"/>
          </a:ln>
        </p:spPr>
      </p:sp>
      <p:sp>
        <p:nvSpPr>
          <p:cNvPr id="88" name="Shape 86"/>
          <p:cNvSpPr/>
          <p:nvPr/>
        </p:nvSpPr>
        <p:spPr>
          <a:xfrm>
            <a:off x="4035743" y="1402928"/>
            <a:ext cx="28003" cy="19421"/>
          </a:xfrm>
          <a:prstGeom prst="line">
            <a:avLst/>
          </a:prstGeom>
          <a:noFill/>
          <a:ln w="31750">
            <a:solidFill>
              <a:srgbClr val="2A7448"/>
            </a:solidFill>
            <a:prstDash val="solid"/>
          </a:ln>
        </p:spPr>
      </p:sp>
      <p:sp>
        <p:nvSpPr>
          <p:cNvPr id="89" name="Shape 87"/>
          <p:cNvSpPr/>
          <p:nvPr/>
        </p:nvSpPr>
        <p:spPr>
          <a:xfrm>
            <a:off x="4063746" y="1422349"/>
            <a:ext cx="28004" cy="19421"/>
          </a:xfrm>
          <a:prstGeom prst="line">
            <a:avLst/>
          </a:prstGeom>
          <a:noFill/>
          <a:ln w="31750">
            <a:solidFill>
              <a:srgbClr val="2A7448"/>
            </a:solidFill>
            <a:prstDash val="solid"/>
          </a:ln>
        </p:spPr>
      </p:sp>
      <p:sp>
        <p:nvSpPr>
          <p:cNvPr id="90" name="Shape 88"/>
          <p:cNvSpPr/>
          <p:nvPr/>
        </p:nvSpPr>
        <p:spPr>
          <a:xfrm>
            <a:off x="4091750" y="1441770"/>
            <a:ext cx="28003" cy="16464"/>
          </a:xfrm>
          <a:prstGeom prst="line">
            <a:avLst/>
          </a:prstGeom>
          <a:noFill/>
          <a:ln w="31750">
            <a:solidFill>
              <a:srgbClr val="2A7448"/>
            </a:solidFill>
            <a:prstDash val="solid"/>
          </a:ln>
        </p:spPr>
      </p:sp>
      <p:sp>
        <p:nvSpPr>
          <p:cNvPr id="91" name="Shape 89"/>
          <p:cNvSpPr/>
          <p:nvPr/>
        </p:nvSpPr>
        <p:spPr>
          <a:xfrm>
            <a:off x="4119753" y="1458234"/>
            <a:ext cx="28003" cy="11001"/>
          </a:xfrm>
          <a:prstGeom prst="line">
            <a:avLst/>
          </a:prstGeom>
          <a:noFill/>
          <a:ln w="31750">
            <a:solidFill>
              <a:srgbClr val="2A7448"/>
            </a:solidFill>
            <a:prstDash val="solid"/>
          </a:ln>
        </p:spPr>
      </p:sp>
      <p:sp>
        <p:nvSpPr>
          <p:cNvPr id="92" name="Shape 90"/>
          <p:cNvSpPr/>
          <p:nvPr/>
        </p:nvSpPr>
        <p:spPr>
          <a:xfrm>
            <a:off x="4147757" y="1469235"/>
            <a:ext cx="28003" cy="3863"/>
          </a:xfrm>
          <a:prstGeom prst="line">
            <a:avLst/>
          </a:prstGeom>
          <a:noFill/>
          <a:ln w="31750">
            <a:solidFill>
              <a:srgbClr val="2A7448"/>
            </a:solidFill>
            <a:prstDash val="solid"/>
          </a:ln>
        </p:spPr>
      </p:sp>
      <p:sp>
        <p:nvSpPr>
          <p:cNvPr id="93" name="Shape 91"/>
          <p:cNvSpPr/>
          <p:nvPr/>
        </p:nvSpPr>
        <p:spPr>
          <a:xfrm>
            <a:off x="4175760" y="1473098"/>
            <a:ext cx="46673" cy="21891"/>
          </a:xfrm>
          <a:prstGeom prst="line">
            <a:avLst/>
          </a:prstGeom>
          <a:noFill/>
          <a:ln w="31750">
            <a:solidFill>
              <a:srgbClr val="2A7448"/>
            </a:solidFill>
            <a:prstDash val="solid"/>
          </a:ln>
        </p:spPr>
      </p:sp>
      <p:sp>
        <p:nvSpPr>
          <p:cNvPr id="94" name="Shape 92"/>
          <p:cNvSpPr/>
          <p:nvPr/>
        </p:nvSpPr>
        <p:spPr>
          <a:xfrm>
            <a:off x="4222433" y="1494989"/>
            <a:ext cx="46672" cy="62339"/>
          </a:xfrm>
          <a:prstGeom prst="line">
            <a:avLst/>
          </a:prstGeom>
          <a:noFill/>
          <a:ln w="31750">
            <a:solidFill>
              <a:srgbClr val="2A7448"/>
            </a:solidFill>
            <a:prstDash val="solid"/>
          </a:ln>
        </p:spPr>
      </p:sp>
      <p:sp>
        <p:nvSpPr>
          <p:cNvPr id="95" name="Shape 93"/>
          <p:cNvSpPr/>
          <p:nvPr/>
        </p:nvSpPr>
        <p:spPr>
          <a:xfrm>
            <a:off x="4269105" y="1557328"/>
            <a:ext cx="46672" cy="93297"/>
          </a:xfrm>
          <a:prstGeom prst="line">
            <a:avLst/>
          </a:prstGeom>
          <a:noFill/>
          <a:ln w="31750">
            <a:solidFill>
              <a:srgbClr val="2A7448"/>
            </a:solidFill>
            <a:prstDash val="solid"/>
          </a:ln>
        </p:spPr>
      </p:sp>
      <p:sp>
        <p:nvSpPr>
          <p:cNvPr id="96" name="Shape 94"/>
          <p:cNvSpPr/>
          <p:nvPr/>
        </p:nvSpPr>
        <p:spPr>
          <a:xfrm>
            <a:off x="4315778" y="1650626"/>
            <a:ext cx="46673" cy="110052"/>
          </a:xfrm>
          <a:prstGeom prst="line">
            <a:avLst/>
          </a:prstGeom>
          <a:noFill/>
          <a:ln w="31750">
            <a:solidFill>
              <a:srgbClr val="2A7448"/>
            </a:solidFill>
            <a:prstDash val="solid"/>
          </a:ln>
        </p:spPr>
      </p:sp>
      <p:sp>
        <p:nvSpPr>
          <p:cNvPr id="97" name="Shape 95"/>
          <p:cNvSpPr/>
          <p:nvPr/>
        </p:nvSpPr>
        <p:spPr>
          <a:xfrm>
            <a:off x="4362450" y="1760677"/>
            <a:ext cx="46672" cy="110052"/>
          </a:xfrm>
          <a:prstGeom prst="line">
            <a:avLst/>
          </a:prstGeom>
          <a:noFill/>
          <a:ln w="31750">
            <a:solidFill>
              <a:srgbClr val="2A7448"/>
            </a:solidFill>
            <a:prstDash val="solid"/>
          </a:ln>
        </p:spPr>
      </p:sp>
      <p:sp>
        <p:nvSpPr>
          <p:cNvPr id="98" name="Shape 96"/>
          <p:cNvSpPr/>
          <p:nvPr/>
        </p:nvSpPr>
        <p:spPr>
          <a:xfrm>
            <a:off x="4409123" y="1870729"/>
            <a:ext cx="46672" cy="93297"/>
          </a:xfrm>
          <a:prstGeom prst="line">
            <a:avLst/>
          </a:prstGeom>
          <a:noFill/>
          <a:ln w="31750">
            <a:solidFill>
              <a:srgbClr val="2A7448"/>
            </a:solidFill>
            <a:prstDash val="solid"/>
          </a:ln>
        </p:spPr>
      </p:sp>
      <p:sp>
        <p:nvSpPr>
          <p:cNvPr id="99" name="Shape 97"/>
          <p:cNvSpPr/>
          <p:nvPr/>
        </p:nvSpPr>
        <p:spPr>
          <a:xfrm>
            <a:off x="4455795" y="1964026"/>
            <a:ext cx="46673" cy="62339"/>
          </a:xfrm>
          <a:prstGeom prst="line">
            <a:avLst/>
          </a:prstGeom>
          <a:noFill/>
          <a:ln w="31750">
            <a:solidFill>
              <a:srgbClr val="2A7448"/>
            </a:solidFill>
            <a:prstDash val="solid"/>
          </a:ln>
        </p:spPr>
      </p:sp>
      <p:sp>
        <p:nvSpPr>
          <p:cNvPr id="100" name="Shape 98"/>
          <p:cNvSpPr/>
          <p:nvPr/>
        </p:nvSpPr>
        <p:spPr>
          <a:xfrm>
            <a:off x="4502468" y="2026365"/>
            <a:ext cx="46672" cy="21891"/>
          </a:xfrm>
          <a:prstGeom prst="line">
            <a:avLst/>
          </a:prstGeom>
          <a:noFill/>
          <a:ln w="31750">
            <a:solidFill>
              <a:srgbClr val="2A7448"/>
            </a:solidFill>
            <a:prstDash val="solid"/>
          </a:ln>
        </p:spPr>
      </p:sp>
      <p:sp>
        <p:nvSpPr>
          <p:cNvPr id="101" name="Shape 99"/>
          <p:cNvSpPr/>
          <p:nvPr/>
        </p:nvSpPr>
        <p:spPr>
          <a:xfrm>
            <a:off x="4549140" y="2048256"/>
            <a:ext cx="46672" cy="27041"/>
          </a:xfrm>
          <a:prstGeom prst="line">
            <a:avLst/>
          </a:prstGeom>
          <a:noFill/>
          <a:ln w="31750">
            <a:solidFill>
              <a:srgbClr val="2A7448"/>
            </a:solidFill>
            <a:prstDash val="solid"/>
          </a:ln>
        </p:spPr>
      </p:sp>
      <p:sp>
        <p:nvSpPr>
          <p:cNvPr id="102" name="Shape 100"/>
          <p:cNvSpPr/>
          <p:nvPr/>
        </p:nvSpPr>
        <p:spPr>
          <a:xfrm>
            <a:off x="4595813" y="2075297"/>
            <a:ext cx="46672" cy="77007"/>
          </a:xfrm>
          <a:prstGeom prst="line">
            <a:avLst/>
          </a:prstGeom>
          <a:noFill/>
          <a:ln w="31750">
            <a:solidFill>
              <a:srgbClr val="2A7448"/>
            </a:solidFill>
            <a:prstDash val="solid"/>
          </a:ln>
        </p:spPr>
      </p:sp>
      <p:sp>
        <p:nvSpPr>
          <p:cNvPr id="103" name="Shape 101"/>
          <p:cNvSpPr/>
          <p:nvPr/>
        </p:nvSpPr>
        <p:spPr>
          <a:xfrm>
            <a:off x="4642485" y="2152305"/>
            <a:ext cx="46673" cy="115250"/>
          </a:xfrm>
          <a:prstGeom prst="line">
            <a:avLst/>
          </a:prstGeom>
          <a:noFill/>
          <a:ln w="31750">
            <a:solidFill>
              <a:srgbClr val="2A7448"/>
            </a:solidFill>
            <a:prstDash val="solid"/>
          </a:ln>
        </p:spPr>
      </p:sp>
      <p:sp>
        <p:nvSpPr>
          <p:cNvPr id="104" name="Shape 102"/>
          <p:cNvSpPr/>
          <p:nvPr/>
        </p:nvSpPr>
        <p:spPr>
          <a:xfrm>
            <a:off x="4689158" y="2267554"/>
            <a:ext cx="46672" cy="135946"/>
          </a:xfrm>
          <a:prstGeom prst="line">
            <a:avLst/>
          </a:prstGeom>
          <a:noFill/>
          <a:ln w="31750">
            <a:solidFill>
              <a:srgbClr val="2A7448"/>
            </a:solidFill>
            <a:prstDash val="solid"/>
          </a:ln>
        </p:spPr>
      </p:sp>
      <p:sp>
        <p:nvSpPr>
          <p:cNvPr id="105" name="Shape 103"/>
          <p:cNvSpPr/>
          <p:nvPr/>
        </p:nvSpPr>
        <p:spPr>
          <a:xfrm>
            <a:off x="4735830" y="2403500"/>
            <a:ext cx="46672" cy="135946"/>
          </a:xfrm>
          <a:prstGeom prst="line">
            <a:avLst/>
          </a:prstGeom>
          <a:noFill/>
          <a:ln w="31750">
            <a:solidFill>
              <a:srgbClr val="2A7448"/>
            </a:solidFill>
            <a:prstDash val="solid"/>
          </a:ln>
        </p:spPr>
      </p:sp>
      <p:sp>
        <p:nvSpPr>
          <p:cNvPr id="106" name="Shape 104"/>
          <p:cNvSpPr/>
          <p:nvPr/>
        </p:nvSpPr>
        <p:spPr>
          <a:xfrm>
            <a:off x="4782503" y="2539447"/>
            <a:ext cx="46672" cy="115250"/>
          </a:xfrm>
          <a:prstGeom prst="line">
            <a:avLst/>
          </a:prstGeom>
          <a:noFill/>
          <a:ln w="31750">
            <a:solidFill>
              <a:srgbClr val="2A7448"/>
            </a:solidFill>
            <a:prstDash val="solid"/>
          </a:ln>
        </p:spPr>
      </p:sp>
      <p:sp>
        <p:nvSpPr>
          <p:cNvPr id="107" name="Shape 105"/>
          <p:cNvSpPr/>
          <p:nvPr/>
        </p:nvSpPr>
        <p:spPr>
          <a:xfrm>
            <a:off x="4829175" y="2654696"/>
            <a:ext cx="46672" cy="77007"/>
          </a:xfrm>
          <a:prstGeom prst="line">
            <a:avLst/>
          </a:prstGeom>
          <a:noFill/>
          <a:ln w="31750">
            <a:solidFill>
              <a:srgbClr val="2A7448"/>
            </a:solidFill>
            <a:prstDash val="solid"/>
          </a:ln>
        </p:spPr>
      </p:sp>
      <p:sp>
        <p:nvSpPr>
          <p:cNvPr id="108" name="Shape 106"/>
          <p:cNvSpPr/>
          <p:nvPr/>
        </p:nvSpPr>
        <p:spPr>
          <a:xfrm>
            <a:off x="4875848" y="2731703"/>
            <a:ext cx="46673" cy="27041"/>
          </a:xfrm>
          <a:prstGeom prst="line">
            <a:avLst/>
          </a:prstGeom>
          <a:noFill/>
          <a:ln w="31750">
            <a:solidFill>
              <a:srgbClr val="2A7448"/>
            </a:solidFill>
            <a:prstDash val="solid"/>
          </a:ln>
        </p:spPr>
      </p:sp>
      <p:sp>
        <p:nvSpPr>
          <p:cNvPr id="109" name="Shape 107"/>
          <p:cNvSpPr/>
          <p:nvPr/>
        </p:nvSpPr>
        <p:spPr>
          <a:xfrm>
            <a:off x="4922520" y="2758745"/>
            <a:ext cx="46672" cy="9014"/>
          </a:xfrm>
          <a:prstGeom prst="line">
            <a:avLst/>
          </a:prstGeom>
          <a:noFill/>
          <a:ln w="31750">
            <a:solidFill>
              <a:srgbClr val="2A7448"/>
            </a:solidFill>
            <a:prstDash val="solid"/>
          </a:ln>
        </p:spPr>
      </p:sp>
      <p:sp>
        <p:nvSpPr>
          <p:cNvPr id="110" name="Shape 108"/>
          <p:cNvSpPr/>
          <p:nvPr/>
        </p:nvSpPr>
        <p:spPr>
          <a:xfrm>
            <a:off x="4969193" y="2767759"/>
            <a:ext cx="46672" cy="25669"/>
          </a:xfrm>
          <a:prstGeom prst="line">
            <a:avLst/>
          </a:prstGeom>
          <a:noFill/>
          <a:ln w="31750">
            <a:solidFill>
              <a:srgbClr val="2A7448"/>
            </a:solidFill>
            <a:prstDash val="solid"/>
          </a:ln>
        </p:spPr>
      </p:sp>
      <p:sp>
        <p:nvSpPr>
          <p:cNvPr id="111" name="Shape 109"/>
          <p:cNvSpPr/>
          <p:nvPr/>
        </p:nvSpPr>
        <p:spPr>
          <a:xfrm>
            <a:off x="5015865" y="2793428"/>
            <a:ext cx="46673" cy="38417"/>
          </a:xfrm>
          <a:prstGeom prst="line">
            <a:avLst/>
          </a:prstGeom>
          <a:noFill/>
          <a:ln w="31750">
            <a:solidFill>
              <a:srgbClr val="2A7448"/>
            </a:solidFill>
            <a:prstDash val="solid"/>
          </a:ln>
        </p:spPr>
      </p:sp>
      <p:sp>
        <p:nvSpPr>
          <p:cNvPr id="112" name="Shape 110"/>
          <p:cNvSpPr/>
          <p:nvPr/>
        </p:nvSpPr>
        <p:spPr>
          <a:xfrm>
            <a:off x="5062538" y="2831844"/>
            <a:ext cx="46672" cy="45315"/>
          </a:xfrm>
          <a:prstGeom prst="line">
            <a:avLst/>
          </a:prstGeom>
          <a:noFill/>
          <a:ln w="31750">
            <a:solidFill>
              <a:srgbClr val="2A7448"/>
            </a:solidFill>
            <a:prstDash val="solid"/>
          </a:ln>
        </p:spPr>
      </p:sp>
      <p:sp>
        <p:nvSpPr>
          <p:cNvPr id="113" name="Shape 111"/>
          <p:cNvSpPr/>
          <p:nvPr/>
        </p:nvSpPr>
        <p:spPr>
          <a:xfrm>
            <a:off x="5109210" y="2877160"/>
            <a:ext cx="46672" cy="45315"/>
          </a:xfrm>
          <a:prstGeom prst="line">
            <a:avLst/>
          </a:prstGeom>
          <a:noFill/>
          <a:ln w="31750">
            <a:solidFill>
              <a:srgbClr val="2A7448"/>
            </a:solidFill>
            <a:prstDash val="solid"/>
          </a:ln>
        </p:spPr>
      </p:sp>
      <p:sp>
        <p:nvSpPr>
          <p:cNvPr id="114" name="Shape 112"/>
          <p:cNvSpPr/>
          <p:nvPr/>
        </p:nvSpPr>
        <p:spPr>
          <a:xfrm>
            <a:off x="5155883" y="2922475"/>
            <a:ext cx="46672" cy="38417"/>
          </a:xfrm>
          <a:prstGeom prst="line">
            <a:avLst/>
          </a:prstGeom>
          <a:noFill/>
          <a:ln w="31750">
            <a:solidFill>
              <a:srgbClr val="2A7448"/>
            </a:solidFill>
            <a:prstDash val="solid"/>
          </a:ln>
        </p:spPr>
      </p:sp>
      <p:sp>
        <p:nvSpPr>
          <p:cNvPr id="115" name="Shape 113"/>
          <p:cNvSpPr/>
          <p:nvPr/>
        </p:nvSpPr>
        <p:spPr>
          <a:xfrm>
            <a:off x="5202555" y="2960892"/>
            <a:ext cx="46673" cy="25669"/>
          </a:xfrm>
          <a:prstGeom prst="line">
            <a:avLst/>
          </a:prstGeom>
          <a:noFill/>
          <a:ln w="31750">
            <a:solidFill>
              <a:srgbClr val="2A7448"/>
            </a:solidFill>
            <a:prstDash val="solid"/>
          </a:ln>
        </p:spPr>
      </p:sp>
      <p:sp>
        <p:nvSpPr>
          <p:cNvPr id="116" name="Shape 114"/>
          <p:cNvSpPr/>
          <p:nvPr/>
        </p:nvSpPr>
        <p:spPr>
          <a:xfrm>
            <a:off x="5249228" y="2986561"/>
            <a:ext cx="46672" cy="9014"/>
          </a:xfrm>
          <a:prstGeom prst="line">
            <a:avLst/>
          </a:prstGeom>
          <a:noFill/>
          <a:ln w="31750">
            <a:solidFill>
              <a:srgbClr val="2A7448"/>
            </a:solidFill>
            <a:prstDash val="solid"/>
          </a:ln>
        </p:spPr>
      </p:sp>
      <p:sp>
        <p:nvSpPr>
          <p:cNvPr id="117" name="Shape 115"/>
          <p:cNvSpPr/>
          <p:nvPr/>
        </p:nvSpPr>
        <p:spPr>
          <a:xfrm>
            <a:off x="5295900" y="2995574"/>
            <a:ext cx="46672" cy="2575"/>
          </a:xfrm>
          <a:prstGeom prst="line">
            <a:avLst/>
          </a:prstGeom>
          <a:noFill/>
          <a:ln w="31750">
            <a:solidFill>
              <a:srgbClr val="2A7448"/>
            </a:solidFill>
            <a:prstDash val="solid"/>
          </a:ln>
        </p:spPr>
      </p:sp>
      <p:sp>
        <p:nvSpPr>
          <p:cNvPr id="118" name="Shape 116"/>
          <p:cNvSpPr/>
          <p:nvPr/>
        </p:nvSpPr>
        <p:spPr>
          <a:xfrm>
            <a:off x="5342573" y="2998150"/>
            <a:ext cx="46672" cy="7334"/>
          </a:xfrm>
          <a:prstGeom prst="line">
            <a:avLst/>
          </a:prstGeom>
          <a:noFill/>
          <a:ln w="31750">
            <a:solidFill>
              <a:srgbClr val="2A7448"/>
            </a:solidFill>
            <a:prstDash val="solid"/>
          </a:ln>
        </p:spPr>
      </p:sp>
      <p:sp>
        <p:nvSpPr>
          <p:cNvPr id="119" name="Shape 117"/>
          <p:cNvSpPr/>
          <p:nvPr/>
        </p:nvSpPr>
        <p:spPr>
          <a:xfrm>
            <a:off x="5389245" y="3005484"/>
            <a:ext cx="46672" cy="10976"/>
          </a:xfrm>
          <a:prstGeom prst="line">
            <a:avLst/>
          </a:prstGeom>
          <a:noFill/>
          <a:ln w="31750">
            <a:solidFill>
              <a:srgbClr val="2A7448"/>
            </a:solidFill>
            <a:prstDash val="solid"/>
          </a:ln>
        </p:spPr>
      </p:sp>
      <p:sp>
        <p:nvSpPr>
          <p:cNvPr id="120" name="Shape 118"/>
          <p:cNvSpPr/>
          <p:nvPr/>
        </p:nvSpPr>
        <p:spPr>
          <a:xfrm>
            <a:off x="5435918" y="3016460"/>
            <a:ext cx="46673" cy="12947"/>
          </a:xfrm>
          <a:prstGeom prst="line">
            <a:avLst/>
          </a:prstGeom>
          <a:noFill/>
          <a:ln w="31750">
            <a:solidFill>
              <a:srgbClr val="2A7448"/>
            </a:solidFill>
            <a:prstDash val="solid"/>
          </a:ln>
        </p:spPr>
      </p:sp>
      <p:sp>
        <p:nvSpPr>
          <p:cNvPr id="121" name="Shape 119"/>
          <p:cNvSpPr/>
          <p:nvPr/>
        </p:nvSpPr>
        <p:spPr>
          <a:xfrm>
            <a:off x="5482590" y="3029407"/>
            <a:ext cx="46672" cy="12947"/>
          </a:xfrm>
          <a:prstGeom prst="line">
            <a:avLst/>
          </a:prstGeom>
          <a:noFill/>
          <a:ln w="31750">
            <a:solidFill>
              <a:srgbClr val="2A7448"/>
            </a:solidFill>
            <a:prstDash val="solid"/>
          </a:ln>
        </p:spPr>
      </p:sp>
      <p:sp>
        <p:nvSpPr>
          <p:cNvPr id="122" name="Shape 120"/>
          <p:cNvSpPr/>
          <p:nvPr/>
        </p:nvSpPr>
        <p:spPr>
          <a:xfrm>
            <a:off x="5529263" y="3042354"/>
            <a:ext cx="46672" cy="10976"/>
          </a:xfrm>
          <a:prstGeom prst="line">
            <a:avLst/>
          </a:prstGeom>
          <a:noFill/>
          <a:ln w="31750">
            <a:solidFill>
              <a:srgbClr val="2A7448"/>
            </a:solidFill>
            <a:prstDash val="solid"/>
          </a:ln>
        </p:spPr>
      </p:sp>
      <p:sp>
        <p:nvSpPr>
          <p:cNvPr id="123" name="Shape 121"/>
          <p:cNvSpPr/>
          <p:nvPr/>
        </p:nvSpPr>
        <p:spPr>
          <a:xfrm>
            <a:off x="5575935" y="3053331"/>
            <a:ext cx="46673" cy="7334"/>
          </a:xfrm>
          <a:prstGeom prst="line">
            <a:avLst/>
          </a:prstGeom>
          <a:noFill/>
          <a:ln w="31750">
            <a:solidFill>
              <a:srgbClr val="2A7448"/>
            </a:solidFill>
            <a:prstDash val="solid"/>
          </a:ln>
        </p:spPr>
      </p:sp>
      <p:sp>
        <p:nvSpPr>
          <p:cNvPr id="124" name="Shape 122"/>
          <p:cNvSpPr/>
          <p:nvPr/>
        </p:nvSpPr>
        <p:spPr>
          <a:xfrm>
            <a:off x="5622608" y="3060665"/>
            <a:ext cx="46672" cy="2575"/>
          </a:xfrm>
          <a:prstGeom prst="line">
            <a:avLst/>
          </a:prstGeom>
          <a:noFill/>
          <a:ln w="31750">
            <a:solidFill>
              <a:srgbClr val="2A7448"/>
            </a:solidFill>
            <a:prstDash val="solid"/>
          </a:ln>
        </p:spPr>
      </p:sp>
      <p:sp>
        <p:nvSpPr>
          <p:cNvPr id="125" name="Shape 123"/>
          <p:cNvSpPr/>
          <p:nvPr/>
        </p:nvSpPr>
        <p:spPr>
          <a:xfrm>
            <a:off x="1143000" y="2983687"/>
            <a:ext cx="91440" cy="91440"/>
          </a:xfrm>
          <a:prstGeom prst="line">
            <a:avLst/>
          </a:prstGeom>
          <a:noFill/>
          <a:ln w="15875">
            <a:solidFill>
              <a:srgbClr val="1C3A2C"/>
            </a:solidFill>
            <a:prstDash val="solid"/>
          </a:ln>
        </p:spPr>
      </p:sp>
      <p:sp>
        <p:nvSpPr>
          <p:cNvPr id="126" name="Shape 124"/>
          <p:cNvSpPr/>
          <p:nvPr/>
        </p:nvSpPr>
        <p:spPr>
          <a:xfrm flipV="1">
            <a:off x="1143000" y="2983687"/>
            <a:ext cx="91440" cy="91440"/>
          </a:xfrm>
          <a:prstGeom prst="line">
            <a:avLst/>
          </a:prstGeom>
          <a:noFill/>
          <a:ln w="15875">
            <a:solidFill>
              <a:srgbClr val="1C3A2C"/>
            </a:solidFill>
            <a:prstDash val="solid"/>
          </a:ln>
        </p:spPr>
      </p:sp>
      <p:sp>
        <p:nvSpPr>
          <p:cNvPr id="127" name="Shape 125"/>
          <p:cNvSpPr/>
          <p:nvPr/>
        </p:nvSpPr>
        <p:spPr>
          <a:xfrm>
            <a:off x="1889760" y="2814523"/>
            <a:ext cx="91440" cy="91440"/>
          </a:xfrm>
          <a:prstGeom prst="line">
            <a:avLst/>
          </a:prstGeom>
          <a:noFill/>
          <a:ln w="15875">
            <a:solidFill>
              <a:srgbClr val="1C3A2C"/>
            </a:solidFill>
            <a:prstDash val="solid"/>
          </a:ln>
        </p:spPr>
      </p:sp>
      <p:sp>
        <p:nvSpPr>
          <p:cNvPr id="128" name="Shape 126"/>
          <p:cNvSpPr/>
          <p:nvPr/>
        </p:nvSpPr>
        <p:spPr>
          <a:xfrm flipV="1">
            <a:off x="1889760" y="2814523"/>
            <a:ext cx="91440" cy="91440"/>
          </a:xfrm>
          <a:prstGeom prst="line">
            <a:avLst/>
          </a:prstGeom>
          <a:noFill/>
          <a:ln w="15875">
            <a:solidFill>
              <a:srgbClr val="1C3A2C"/>
            </a:solidFill>
            <a:prstDash val="solid"/>
          </a:ln>
        </p:spPr>
      </p:sp>
      <p:sp>
        <p:nvSpPr>
          <p:cNvPr id="129" name="Shape 127"/>
          <p:cNvSpPr/>
          <p:nvPr/>
        </p:nvSpPr>
        <p:spPr>
          <a:xfrm>
            <a:off x="2636520" y="2510028"/>
            <a:ext cx="91440" cy="91440"/>
          </a:xfrm>
          <a:prstGeom prst="line">
            <a:avLst/>
          </a:prstGeom>
          <a:noFill/>
          <a:ln w="15875">
            <a:solidFill>
              <a:srgbClr val="1C3A2C"/>
            </a:solidFill>
            <a:prstDash val="solid"/>
          </a:ln>
        </p:spPr>
      </p:sp>
      <p:sp>
        <p:nvSpPr>
          <p:cNvPr id="130" name="Shape 128"/>
          <p:cNvSpPr/>
          <p:nvPr/>
        </p:nvSpPr>
        <p:spPr>
          <a:xfrm flipV="1">
            <a:off x="2636520" y="2510028"/>
            <a:ext cx="91440" cy="91440"/>
          </a:xfrm>
          <a:prstGeom prst="line">
            <a:avLst/>
          </a:prstGeom>
          <a:noFill/>
          <a:ln w="15875">
            <a:solidFill>
              <a:srgbClr val="1C3A2C"/>
            </a:solidFill>
            <a:prstDash val="solid"/>
          </a:ln>
        </p:spPr>
      </p:sp>
      <p:sp>
        <p:nvSpPr>
          <p:cNvPr id="131" name="Shape 129"/>
          <p:cNvSpPr/>
          <p:nvPr/>
        </p:nvSpPr>
        <p:spPr>
          <a:xfrm>
            <a:off x="3383280" y="1968703"/>
            <a:ext cx="91440" cy="91440"/>
          </a:xfrm>
          <a:prstGeom prst="line">
            <a:avLst/>
          </a:prstGeom>
          <a:noFill/>
          <a:ln w="15875">
            <a:solidFill>
              <a:srgbClr val="1C3A2C"/>
            </a:solidFill>
            <a:prstDash val="solid"/>
          </a:ln>
        </p:spPr>
      </p:sp>
      <p:sp>
        <p:nvSpPr>
          <p:cNvPr id="132" name="Shape 130"/>
          <p:cNvSpPr/>
          <p:nvPr/>
        </p:nvSpPr>
        <p:spPr>
          <a:xfrm flipV="1">
            <a:off x="3383280" y="1968703"/>
            <a:ext cx="91440" cy="91440"/>
          </a:xfrm>
          <a:prstGeom prst="line">
            <a:avLst/>
          </a:prstGeom>
          <a:noFill/>
          <a:ln w="15875">
            <a:solidFill>
              <a:srgbClr val="1C3A2C"/>
            </a:solidFill>
            <a:prstDash val="solid"/>
          </a:ln>
        </p:spPr>
      </p:sp>
      <p:sp>
        <p:nvSpPr>
          <p:cNvPr id="133" name="Shape 131"/>
          <p:cNvSpPr/>
          <p:nvPr/>
        </p:nvSpPr>
        <p:spPr>
          <a:xfrm>
            <a:off x="3906012" y="1325880"/>
            <a:ext cx="91440" cy="91440"/>
          </a:xfrm>
          <a:prstGeom prst="line">
            <a:avLst/>
          </a:prstGeom>
          <a:noFill/>
          <a:ln w="15875">
            <a:solidFill>
              <a:srgbClr val="1C3A2C"/>
            </a:solidFill>
            <a:prstDash val="solid"/>
          </a:ln>
        </p:spPr>
      </p:sp>
      <p:sp>
        <p:nvSpPr>
          <p:cNvPr id="134" name="Shape 132"/>
          <p:cNvSpPr/>
          <p:nvPr/>
        </p:nvSpPr>
        <p:spPr>
          <a:xfrm flipV="1">
            <a:off x="3906012" y="1325880"/>
            <a:ext cx="91440" cy="91440"/>
          </a:xfrm>
          <a:prstGeom prst="line">
            <a:avLst/>
          </a:prstGeom>
          <a:noFill/>
          <a:ln w="15875">
            <a:solidFill>
              <a:srgbClr val="1C3A2C"/>
            </a:solidFill>
            <a:prstDash val="solid"/>
          </a:ln>
        </p:spPr>
      </p:sp>
      <p:sp>
        <p:nvSpPr>
          <p:cNvPr id="135" name="Shape 133"/>
          <p:cNvSpPr/>
          <p:nvPr/>
        </p:nvSpPr>
        <p:spPr>
          <a:xfrm>
            <a:off x="4130040" y="1427378"/>
            <a:ext cx="91440" cy="91440"/>
          </a:xfrm>
          <a:prstGeom prst="line">
            <a:avLst/>
          </a:prstGeom>
          <a:noFill/>
          <a:ln w="15875">
            <a:solidFill>
              <a:srgbClr val="1C3A2C"/>
            </a:solidFill>
            <a:prstDash val="solid"/>
          </a:ln>
        </p:spPr>
      </p:sp>
      <p:sp>
        <p:nvSpPr>
          <p:cNvPr id="136" name="Shape 134"/>
          <p:cNvSpPr/>
          <p:nvPr/>
        </p:nvSpPr>
        <p:spPr>
          <a:xfrm flipV="1">
            <a:off x="4130040" y="1427378"/>
            <a:ext cx="91440" cy="91440"/>
          </a:xfrm>
          <a:prstGeom prst="line">
            <a:avLst/>
          </a:prstGeom>
          <a:noFill/>
          <a:ln w="15875">
            <a:solidFill>
              <a:srgbClr val="1C3A2C"/>
            </a:solidFill>
            <a:prstDash val="solid"/>
          </a:ln>
        </p:spPr>
      </p:sp>
      <p:sp>
        <p:nvSpPr>
          <p:cNvPr id="137" name="Shape 135"/>
          <p:cNvSpPr/>
          <p:nvPr/>
        </p:nvSpPr>
        <p:spPr>
          <a:xfrm>
            <a:off x="4503420" y="2002536"/>
            <a:ext cx="91440" cy="91440"/>
          </a:xfrm>
          <a:prstGeom prst="line">
            <a:avLst/>
          </a:prstGeom>
          <a:noFill/>
          <a:ln w="15875">
            <a:solidFill>
              <a:srgbClr val="1C3A2C"/>
            </a:solidFill>
            <a:prstDash val="solid"/>
          </a:ln>
        </p:spPr>
      </p:sp>
      <p:sp>
        <p:nvSpPr>
          <p:cNvPr id="138" name="Shape 136"/>
          <p:cNvSpPr/>
          <p:nvPr/>
        </p:nvSpPr>
        <p:spPr>
          <a:xfrm flipV="1">
            <a:off x="4503420" y="2002536"/>
            <a:ext cx="91440" cy="91440"/>
          </a:xfrm>
          <a:prstGeom prst="line">
            <a:avLst/>
          </a:prstGeom>
          <a:noFill/>
          <a:ln w="15875">
            <a:solidFill>
              <a:srgbClr val="1C3A2C"/>
            </a:solidFill>
            <a:prstDash val="solid"/>
          </a:ln>
        </p:spPr>
      </p:sp>
      <p:sp>
        <p:nvSpPr>
          <p:cNvPr id="139" name="Shape 137"/>
          <p:cNvSpPr/>
          <p:nvPr/>
        </p:nvSpPr>
        <p:spPr>
          <a:xfrm>
            <a:off x="4876800" y="2713025"/>
            <a:ext cx="91440" cy="91440"/>
          </a:xfrm>
          <a:prstGeom prst="line">
            <a:avLst/>
          </a:prstGeom>
          <a:noFill/>
          <a:ln w="15875">
            <a:solidFill>
              <a:srgbClr val="1C3A2C"/>
            </a:solidFill>
            <a:prstDash val="solid"/>
          </a:ln>
        </p:spPr>
      </p:sp>
      <p:sp>
        <p:nvSpPr>
          <p:cNvPr id="140" name="Shape 138"/>
          <p:cNvSpPr/>
          <p:nvPr/>
        </p:nvSpPr>
        <p:spPr>
          <a:xfrm flipV="1">
            <a:off x="4876800" y="2713025"/>
            <a:ext cx="91440" cy="91440"/>
          </a:xfrm>
          <a:prstGeom prst="line">
            <a:avLst/>
          </a:prstGeom>
          <a:noFill/>
          <a:ln w="15875">
            <a:solidFill>
              <a:srgbClr val="1C3A2C"/>
            </a:solidFill>
            <a:prstDash val="solid"/>
          </a:ln>
        </p:spPr>
      </p:sp>
      <p:sp>
        <p:nvSpPr>
          <p:cNvPr id="141" name="Shape 139"/>
          <p:cNvSpPr/>
          <p:nvPr/>
        </p:nvSpPr>
        <p:spPr>
          <a:xfrm>
            <a:off x="5250180" y="2949854"/>
            <a:ext cx="91440" cy="91440"/>
          </a:xfrm>
          <a:prstGeom prst="line">
            <a:avLst/>
          </a:prstGeom>
          <a:noFill/>
          <a:ln w="15875">
            <a:solidFill>
              <a:srgbClr val="1C3A2C"/>
            </a:solidFill>
            <a:prstDash val="solid"/>
          </a:ln>
        </p:spPr>
      </p:sp>
      <p:sp>
        <p:nvSpPr>
          <p:cNvPr id="142" name="Shape 140"/>
          <p:cNvSpPr/>
          <p:nvPr/>
        </p:nvSpPr>
        <p:spPr>
          <a:xfrm flipV="1">
            <a:off x="5250180" y="2949854"/>
            <a:ext cx="91440" cy="91440"/>
          </a:xfrm>
          <a:prstGeom prst="line">
            <a:avLst/>
          </a:prstGeom>
          <a:noFill/>
          <a:ln w="15875">
            <a:solidFill>
              <a:srgbClr val="1C3A2C"/>
            </a:solidFill>
            <a:prstDash val="solid"/>
          </a:ln>
        </p:spPr>
      </p:sp>
      <p:sp>
        <p:nvSpPr>
          <p:cNvPr id="143" name="Shape 141"/>
          <p:cNvSpPr/>
          <p:nvPr/>
        </p:nvSpPr>
        <p:spPr>
          <a:xfrm>
            <a:off x="5623560" y="3017520"/>
            <a:ext cx="91440" cy="91440"/>
          </a:xfrm>
          <a:prstGeom prst="line">
            <a:avLst/>
          </a:prstGeom>
          <a:noFill/>
          <a:ln w="15875">
            <a:solidFill>
              <a:srgbClr val="1C3A2C"/>
            </a:solidFill>
            <a:prstDash val="solid"/>
          </a:ln>
        </p:spPr>
      </p:sp>
      <p:sp>
        <p:nvSpPr>
          <p:cNvPr id="144" name="Shape 142"/>
          <p:cNvSpPr/>
          <p:nvPr/>
        </p:nvSpPr>
        <p:spPr>
          <a:xfrm flipV="1">
            <a:off x="5623560" y="3017520"/>
            <a:ext cx="91440" cy="91440"/>
          </a:xfrm>
          <a:prstGeom prst="line">
            <a:avLst/>
          </a:prstGeom>
          <a:noFill/>
          <a:ln w="15875">
            <a:solidFill>
              <a:srgbClr val="1C3A2C"/>
            </a:solidFill>
            <a:prstDash val="solid"/>
          </a:ln>
        </p:spPr>
      </p:sp>
      <p:sp>
        <p:nvSpPr>
          <p:cNvPr id="145" name="Shape 143"/>
          <p:cNvSpPr/>
          <p:nvPr/>
        </p:nvSpPr>
        <p:spPr>
          <a:xfrm>
            <a:off x="3951732" y="1371600"/>
            <a:ext cx="91" cy="1691640"/>
          </a:xfrm>
          <a:prstGeom prst="line">
            <a:avLst/>
          </a:prstGeom>
          <a:noFill/>
          <a:ln w="15875">
            <a:solidFill>
              <a:srgbClr val="B8730A"/>
            </a:solidFill>
            <a:prstDash val="dash"/>
          </a:ln>
        </p:spPr>
      </p:sp>
      <p:sp>
        <p:nvSpPr>
          <p:cNvPr id="146" name="Text 144"/>
          <p:cNvSpPr/>
          <p:nvPr/>
        </p:nvSpPr>
        <p:spPr>
          <a:xfrm>
            <a:off x="3997452" y="1389888"/>
            <a:ext cx="1097280" cy="256032"/>
          </a:xfrm>
          <a:prstGeom prst="rect">
            <a:avLst/>
          </a:prstGeom>
          <a:noFill/>
          <a:ln/>
        </p:spPr>
        <p:txBody>
          <a:bodyPr wrap="square" lIns="0" tIns="0" rIns="0" bIns="0" rtlCol="0" anchor="ctr"/>
          <a:lstStyle/>
          <a:p>
            <a:pPr algn="l" indent="0" marL="0">
              <a:buNone/>
            </a:pPr>
            <a:r>
              <a:rPr lang="en-US" sz="1050" b="1" dirty="0">
                <a:solidFill>
                  <a:srgbClr val="B8730A"/>
                </a:solidFill>
                <a:latin typeface="Calibri" pitchFamily="34" charset="0"/>
                <a:ea typeface="Calibri" pitchFamily="34" charset="-122"/>
                <a:cs typeface="Calibri" pitchFamily="34" charset="-120"/>
              </a:rPr>
              <a:t>37 °C</a:t>
            </a:r>
            <a:endParaRPr lang="en-US" sz="1050" dirty="0"/>
          </a:p>
        </p:txBody>
      </p:sp>
      <p:sp>
        <p:nvSpPr>
          <p:cNvPr id="147" name="Text 145"/>
          <p:cNvSpPr/>
          <p:nvPr/>
        </p:nvSpPr>
        <p:spPr>
          <a:xfrm>
            <a:off x="4623816" y="1879092"/>
            <a:ext cx="1097280" cy="256032"/>
          </a:xfrm>
          <a:prstGeom prst="rect">
            <a:avLst/>
          </a:prstGeom>
          <a:noFill/>
          <a:ln/>
        </p:spPr>
        <p:txBody>
          <a:bodyPr wrap="square" lIns="0" tIns="0" rIns="0" bIns="0" rtlCol="0" anchor="ctr"/>
          <a:lstStyle/>
          <a:p>
            <a:pPr algn="l" indent="0" marL="0">
              <a:buNone/>
            </a:pPr>
            <a:r>
              <a:rPr lang="en-US" sz="1000" i="1" dirty="0">
                <a:solidFill>
                  <a:srgbClr val="C8414C"/>
                </a:solidFill>
                <a:latin typeface="Calibri" pitchFamily="34" charset="0"/>
                <a:ea typeface="Calibri" pitchFamily="34" charset="-122"/>
                <a:cs typeface="Calibri" pitchFamily="34" charset="-120"/>
              </a:rPr>
              <a:t>denatured</a:t>
            </a:r>
            <a:endParaRPr lang="en-US" sz="1000" dirty="0"/>
          </a:p>
        </p:txBody>
      </p:sp>
      <p:sp>
        <p:nvSpPr>
          <p:cNvPr id="148" name="Text 146"/>
          <p:cNvSpPr/>
          <p:nvPr/>
        </p:nvSpPr>
        <p:spPr>
          <a:xfrm>
            <a:off x="594360" y="3611880"/>
            <a:ext cx="1645920" cy="274320"/>
          </a:xfrm>
          <a:prstGeom prst="rect">
            <a:avLst/>
          </a:prstGeom>
          <a:noFill/>
          <a:ln/>
        </p:spPr>
        <p:txBody>
          <a:bodyPr wrap="square" lIns="0" tIns="0" rIns="0" bIns="0" rtlCol="0" anchor="ctr"/>
          <a:lstStyle/>
          <a:p>
            <a:pPr algn="ctr" indent="0" marL="0">
              <a:buNone/>
            </a:pPr>
            <a:r>
              <a:rPr lang="en-US" sz="1000" b="1" dirty="0">
                <a:solidFill>
                  <a:srgbClr val="1C3A2C"/>
                </a:solidFill>
                <a:latin typeface="Calibri" pitchFamily="34" charset="0"/>
                <a:ea typeface="Calibri" pitchFamily="34" charset="-122"/>
                <a:cs typeface="Calibri" pitchFamily="34" charset="-120"/>
              </a:rPr>
              <a:t>concentrated (too little water)</a:t>
            </a:r>
            <a:endParaRPr lang="en-US" sz="1000" dirty="0"/>
          </a:p>
        </p:txBody>
      </p:sp>
      <p:sp>
        <p:nvSpPr>
          <p:cNvPr id="149" name="Shape 147"/>
          <p:cNvSpPr/>
          <p:nvPr/>
        </p:nvSpPr>
        <p:spPr>
          <a:xfrm>
            <a:off x="1124712" y="4050792"/>
            <a:ext cx="585216" cy="585216"/>
          </a:xfrm>
          <a:custGeom>
            <a:avLst/>
            <a:gdLst/>
            <a:ahLst/>
            <a:cxnLst/>
            <a:rect l="l" t="t" r="r" b="b"/>
            <a:pathLst>
              <a:path w="585216" h="585216">
                <a:moveTo>
                  <a:pt x="585216" y="292608"/>
                </a:moveTo>
                <a:lnTo>
                  <a:pt x="513419" y="351774"/>
                </a:lnTo>
                <a:lnTo>
                  <a:pt x="546014" y="438912"/>
                </a:lnTo>
                <a:lnTo>
                  <a:pt x="454253" y="454253"/>
                </a:lnTo>
                <a:lnTo>
                  <a:pt x="438912" y="546014"/>
                </a:lnTo>
                <a:lnTo>
                  <a:pt x="351774" y="513419"/>
                </a:lnTo>
                <a:lnTo>
                  <a:pt x="292608" y="585216"/>
                </a:lnTo>
                <a:lnTo>
                  <a:pt x="233442" y="513419"/>
                </a:lnTo>
                <a:lnTo>
                  <a:pt x="146304" y="546014"/>
                </a:lnTo>
                <a:lnTo>
                  <a:pt x="130963" y="454253"/>
                </a:lnTo>
                <a:lnTo>
                  <a:pt x="39202" y="438912"/>
                </a:lnTo>
                <a:lnTo>
                  <a:pt x="71797" y="351774"/>
                </a:lnTo>
                <a:lnTo>
                  <a:pt x="0" y="292608"/>
                </a:lnTo>
                <a:lnTo>
                  <a:pt x="71797" y="233442"/>
                </a:lnTo>
                <a:lnTo>
                  <a:pt x="39202" y="146304"/>
                </a:lnTo>
                <a:lnTo>
                  <a:pt x="130963" y="130963"/>
                </a:lnTo>
                <a:lnTo>
                  <a:pt x="146304" y="39202"/>
                </a:lnTo>
                <a:lnTo>
                  <a:pt x="233442" y="71797"/>
                </a:lnTo>
                <a:lnTo>
                  <a:pt x="292608" y="0"/>
                </a:lnTo>
                <a:lnTo>
                  <a:pt x="351774" y="71797"/>
                </a:lnTo>
                <a:lnTo>
                  <a:pt x="438912" y="39202"/>
                </a:lnTo>
                <a:lnTo>
                  <a:pt x="454253" y="130963"/>
                </a:lnTo>
                <a:lnTo>
                  <a:pt x="546014" y="146304"/>
                </a:lnTo>
                <a:lnTo>
                  <a:pt x="513419" y="233442"/>
                </a:lnTo>
                <a:close/>
              </a:path>
            </a:pathLst>
          </a:custGeom>
          <a:solidFill>
            <a:srgbClr val="B83A40"/>
          </a:solidFill>
          <a:ln w="12700">
            <a:solidFill>
              <a:srgbClr val="6E1E23"/>
            </a:solidFill>
            <a:prstDash val="solid"/>
          </a:ln>
        </p:spPr>
      </p:sp>
      <p:sp>
        <p:nvSpPr>
          <p:cNvPr id="150" name="Text 148"/>
          <p:cNvSpPr/>
          <p:nvPr/>
        </p:nvSpPr>
        <p:spPr>
          <a:xfrm>
            <a:off x="594360" y="4937760"/>
            <a:ext cx="1645920"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water leaves: cell shrinks</a:t>
            </a:r>
            <a:endParaRPr lang="en-US" sz="1000" dirty="0"/>
          </a:p>
        </p:txBody>
      </p:sp>
      <p:sp>
        <p:nvSpPr>
          <p:cNvPr id="151" name="Text 149"/>
          <p:cNvSpPr/>
          <p:nvPr/>
        </p:nvSpPr>
        <p:spPr>
          <a:xfrm>
            <a:off x="2286000" y="3611880"/>
            <a:ext cx="1645920" cy="274320"/>
          </a:xfrm>
          <a:prstGeom prst="rect">
            <a:avLst/>
          </a:prstGeom>
          <a:noFill/>
          <a:ln/>
        </p:spPr>
        <p:txBody>
          <a:bodyPr wrap="square" lIns="0" tIns="0" rIns="0" bIns="0" rtlCol="0" anchor="ctr"/>
          <a:lstStyle/>
          <a:p>
            <a:pPr algn="ctr" indent="0" marL="0">
              <a:buNone/>
            </a:pPr>
            <a:r>
              <a:rPr lang="en-US" sz="1000" b="1" dirty="0">
                <a:solidFill>
                  <a:srgbClr val="1C3A2C"/>
                </a:solidFill>
                <a:latin typeface="Calibri" pitchFamily="34" charset="0"/>
                <a:ea typeface="Calibri" pitchFamily="34" charset="-122"/>
                <a:cs typeface="Calibri" pitchFamily="34" charset="-120"/>
              </a:rPr>
              <a:t>same concentration</a:t>
            </a:r>
            <a:endParaRPr lang="en-US" sz="1000" dirty="0"/>
          </a:p>
        </p:txBody>
      </p:sp>
      <p:sp>
        <p:nvSpPr>
          <p:cNvPr id="152" name="Shape 150"/>
          <p:cNvSpPr/>
          <p:nvPr/>
        </p:nvSpPr>
        <p:spPr>
          <a:xfrm>
            <a:off x="2743200" y="3977640"/>
            <a:ext cx="731520" cy="731520"/>
          </a:xfrm>
          <a:prstGeom prst="ellipse">
            <a:avLst/>
          </a:prstGeom>
          <a:solidFill>
            <a:srgbClr val="D9534F"/>
          </a:solidFill>
          <a:ln w="15875">
            <a:solidFill>
              <a:srgbClr val="8E2A33"/>
            </a:solidFill>
            <a:prstDash val="solid"/>
          </a:ln>
        </p:spPr>
      </p:sp>
      <p:sp>
        <p:nvSpPr>
          <p:cNvPr id="153" name="Shape 151"/>
          <p:cNvSpPr/>
          <p:nvPr/>
        </p:nvSpPr>
        <p:spPr>
          <a:xfrm>
            <a:off x="2953512" y="4187952"/>
            <a:ext cx="310896" cy="310896"/>
          </a:xfrm>
          <a:prstGeom prst="ellipse">
            <a:avLst/>
          </a:prstGeom>
          <a:solidFill>
            <a:srgbClr val="EE8A8F"/>
          </a:solidFill>
          <a:ln w="9525">
            <a:solidFill>
              <a:srgbClr val="EE8A8F"/>
            </a:solidFill>
            <a:prstDash val="solid"/>
          </a:ln>
        </p:spPr>
      </p:sp>
      <p:sp>
        <p:nvSpPr>
          <p:cNvPr id="154" name="Text 152"/>
          <p:cNvSpPr/>
          <p:nvPr/>
        </p:nvSpPr>
        <p:spPr>
          <a:xfrm>
            <a:off x="2286000" y="4937760"/>
            <a:ext cx="1645920"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no net movement</a:t>
            </a:r>
            <a:endParaRPr lang="en-US" sz="1000" dirty="0"/>
          </a:p>
        </p:txBody>
      </p:sp>
      <p:sp>
        <p:nvSpPr>
          <p:cNvPr id="155" name="Text 153"/>
          <p:cNvSpPr/>
          <p:nvPr/>
        </p:nvSpPr>
        <p:spPr>
          <a:xfrm>
            <a:off x="3977640" y="3611880"/>
            <a:ext cx="1645920" cy="274320"/>
          </a:xfrm>
          <a:prstGeom prst="rect">
            <a:avLst/>
          </a:prstGeom>
          <a:noFill/>
          <a:ln/>
        </p:spPr>
        <p:txBody>
          <a:bodyPr wrap="square" lIns="0" tIns="0" rIns="0" bIns="0" rtlCol="0" anchor="ctr"/>
          <a:lstStyle/>
          <a:p>
            <a:pPr algn="ctr" indent="0" marL="0">
              <a:buNone/>
            </a:pPr>
            <a:r>
              <a:rPr lang="en-US" sz="1000" b="1" dirty="0">
                <a:solidFill>
                  <a:srgbClr val="1C3A2C"/>
                </a:solidFill>
                <a:latin typeface="Calibri" pitchFamily="34" charset="0"/>
                <a:ea typeface="Calibri" pitchFamily="34" charset="-122"/>
                <a:cs typeface="Calibri" pitchFamily="34" charset="-120"/>
              </a:rPr>
              <a:t>dilute (too much water)</a:t>
            </a:r>
            <a:endParaRPr lang="en-US" sz="1000" dirty="0"/>
          </a:p>
        </p:txBody>
      </p:sp>
      <p:sp>
        <p:nvSpPr>
          <p:cNvPr id="156" name="Shape 154"/>
          <p:cNvSpPr/>
          <p:nvPr/>
        </p:nvSpPr>
        <p:spPr>
          <a:xfrm>
            <a:off x="4297680" y="3840480"/>
            <a:ext cx="1005840" cy="1005840"/>
          </a:xfrm>
          <a:prstGeom prst="ellipse">
            <a:avLst/>
          </a:prstGeom>
          <a:ln w="12700">
            <a:solidFill>
              <a:srgbClr val="8E2A33"/>
            </a:solidFill>
            <a:prstDash val="dash"/>
          </a:ln>
        </p:spPr>
      </p:sp>
      <p:sp>
        <p:nvSpPr>
          <p:cNvPr id="157" name="Shape 155"/>
          <p:cNvSpPr/>
          <p:nvPr/>
        </p:nvSpPr>
        <p:spPr>
          <a:xfrm>
            <a:off x="4343400" y="3886200"/>
            <a:ext cx="914400" cy="914400"/>
          </a:xfrm>
          <a:prstGeom prst="ellipse">
            <a:avLst/>
          </a:prstGeom>
          <a:solidFill>
            <a:srgbClr val="E86B6F"/>
          </a:solidFill>
          <a:ln w="15875">
            <a:solidFill>
              <a:srgbClr val="8E2A33"/>
            </a:solidFill>
            <a:prstDash val="solid"/>
          </a:ln>
        </p:spPr>
      </p:sp>
      <p:sp>
        <p:nvSpPr>
          <p:cNvPr id="158" name="Text 156"/>
          <p:cNvSpPr/>
          <p:nvPr/>
        </p:nvSpPr>
        <p:spPr>
          <a:xfrm>
            <a:off x="3977640" y="4937760"/>
            <a:ext cx="1645920"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water enters: cell swells, may burst</a:t>
            </a:r>
            <a:endParaRPr lang="en-US" sz="1000" dirty="0"/>
          </a:p>
        </p:txBody>
      </p:sp>
      <p:sp>
        <p:nvSpPr>
          <p:cNvPr id="159" name="Shape 157"/>
          <p:cNvSpPr/>
          <p:nvPr/>
        </p:nvSpPr>
        <p:spPr>
          <a:xfrm>
            <a:off x="1417320" y="3931920"/>
            <a:ext cx="91" cy="109728"/>
          </a:xfrm>
          <a:prstGeom prst="line">
            <a:avLst/>
          </a:prstGeom>
          <a:noFill/>
          <a:ln w="19050">
            <a:solidFill>
              <a:srgbClr val="5B9BD5"/>
            </a:solidFill>
            <a:prstDash val="solid"/>
            <a:tailEnd type="triangle"/>
          </a:ln>
        </p:spPr>
      </p:sp>
      <p:sp>
        <p:nvSpPr>
          <p:cNvPr id="160" name="Shape 158"/>
          <p:cNvSpPr/>
          <p:nvPr/>
        </p:nvSpPr>
        <p:spPr>
          <a:xfrm>
            <a:off x="4800600" y="3767328"/>
            <a:ext cx="91" cy="91440"/>
          </a:xfrm>
          <a:prstGeom prst="line">
            <a:avLst/>
          </a:prstGeom>
          <a:noFill/>
          <a:ln w="19050">
            <a:solidFill>
              <a:srgbClr val="5B9BD5"/>
            </a:solidFill>
            <a:prstDash val="solid"/>
            <a:tailEnd type="triangle"/>
          </a:ln>
        </p:spPr>
      </p:sp>
      <p:sp>
        <p:nvSpPr>
          <p:cNvPr id="161" name="Shape 159"/>
          <p:cNvSpPr/>
          <p:nvPr/>
        </p:nvSpPr>
        <p:spPr>
          <a:xfrm>
            <a:off x="6217920" y="1188720"/>
            <a:ext cx="5559552" cy="2331720"/>
          </a:xfrm>
          <a:prstGeom prst="roundRect">
            <a:avLst>
              <a:gd name="adj" fmla="val 2353"/>
            </a:avLst>
          </a:prstGeom>
          <a:solidFill>
            <a:srgbClr val="F5FBF7"/>
          </a:solidFill>
          <a:ln w="9525">
            <a:solidFill>
              <a:srgbClr val="D2E5D8"/>
            </a:solidFill>
            <a:prstDash val="solid"/>
          </a:ln>
        </p:spPr>
      </p:sp>
      <p:sp>
        <p:nvSpPr>
          <p:cNvPr id="162" name="Text 160"/>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a Thermoregulation: the effect on enzymes</a:t>
            </a:r>
            <a:endParaRPr lang="en-US" sz="1300" dirty="0"/>
          </a:p>
        </p:txBody>
      </p:sp>
      <p:sp>
        <p:nvSpPr>
          <p:cNvPr id="163" name="Text 161"/>
          <p:cNvSpPr/>
          <p:nvPr/>
        </p:nvSpPr>
        <p:spPr>
          <a:xfrm>
            <a:off x="6382512" y="1609344"/>
            <a:ext cx="5230368" cy="183794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Body enzymes work best at about </a:t>
            </a:r>
            <a:r>
              <a:rPr lang="en-US" sz="1100" b="1" dirty="0">
                <a:solidFill>
                  <a:srgbClr val="262B3A"/>
                </a:solidFill>
                <a:latin typeface="Calibri" pitchFamily="34" charset="0"/>
                <a:ea typeface="Calibri" pitchFamily="34" charset="-122"/>
                <a:cs typeface="Calibri" pitchFamily="34" charset="-120"/>
              </a:rPr>
              <a:t>37 °C</a:t>
            </a:r>
            <a:r>
              <a:rPr lang="en-US" sz="1100" dirty="0">
                <a:solidFill>
                  <a:srgbClr val="262B3A"/>
                </a:solidFill>
                <a:latin typeface="Calibri" pitchFamily="34" charset="0"/>
                <a:ea typeface="Calibri" pitchFamily="34" charset="-122"/>
                <a:cs typeface="Calibri" pitchFamily="34" charset="-120"/>
              </a:rPr>
              <a:t> (the optimum).</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Too </a:t>
            </a:r>
            <a:r>
              <a:rPr lang="en-US" sz="1100" b="1" dirty="0">
                <a:solidFill>
                  <a:srgbClr val="262B3A"/>
                </a:solidFill>
                <a:latin typeface="Calibri" pitchFamily="34" charset="0"/>
                <a:ea typeface="Calibri" pitchFamily="34" charset="-122"/>
                <a:cs typeface="Calibri" pitchFamily="34" charset="-120"/>
              </a:rPr>
              <a:t>hot</a:t>
            </a:r>
            <a:r>
              <a:rPr lang="en-US" sz="1100" dirty="0">
                <a:solidFill>
                  <a:srgbClr val="262B3A"/>
                </a:solidFill>
                <a:latin typeface="Calibri" pitchFamily="34" charset="0"/>
                <a:ea typeface="Calibri" pitchFamily="34" charset="-122"/>
                <a:cs typeface="Calibri" pitchFamily="34" charset="-120"/>
              </a:rPr>
              <a:t>: the active site changes shape – the enzyme is </a:t>
            </a:r>
            <a:r>
              <a:rPr lang="en-US" sz="1100" b="1" dirty="0">
                <a:solidFill>
                  <a:srgbClr val="262B3A"/>
                </a:solidFill>
                <a:latin typeface="Calibri" pitchFamily="34" charset="0"/>
                <a:ea typeface="Calibri" pitchFamily="34" charset="-122"/>
                <a:cs typeface="Calibri" pitchFamily="34" charset="-120"/>
              </a:rPr>
              <a:t>denatured</a:t>
            </a:r>
            <a:r>
              <a:rPr lang="en-US" sz="1100" dirty="0">
                <a:solidFill>
                  <a:srgbClr val="262B3A"/>
                </a:solidFill>
                <a:latin typeface="Calibri" pitchFamily="34" charset="0"/>
                <a:ea typeface="Calibri" pitchFamily="34" charset="-122"/>
                <a:cs typeface="Calibri" pitchFamily="34" charset="-120"/>
              </a:rPr>
              <a:t>; reactions stop.</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Too </a:t>
            </a:r>
            <a:r>
              <a:rPr lang="en-US" sz="1100" b="1" dirty="0">
                <a:solidFill>
                  <a:srgbClr val="262B3A"/>
                </a:solidFill>
                <a:latin typeface="Calibri" pitchFamily="34" charset="0"/>
                <a:ea typeface="Calibri" pitchFamily="34" charset="-122"/>
                <a:cs typeface="Calibri" pitchFamily="34" charset="-120"/>
              </a:rPr>
              <a:t>cold</a:t>
            </a:r>
            <a:r>
              <a:rPr lang="en-US" sz="1100" dirty="0">
                <a:solidFill>
                  <a:srgbClr val="262B3A"/>
                </a:solidFill>
                <a:latin typeface="Calibri" pitchFamily="34" charset="0"/>
                <a:ea typeface="Calibri" pitchFamily="34" charset="-122"/>
                <a:cs typeface="Calibri" pitchFamily="34" charset="-120"/>
              </a:rPr>
              <a:t>: molecules move slowly, fewer collisions – reactions are </a:t>
            </a:r>
            <a:r>
              <a:rPr lang="en-US" sz="1100" b="1" dirty="0">
                <a:solidFill>
                  <a:srgbClr val="262B3A"/>
                </a:solidFill>
                <a:latin typeface="Calibri" pitchFamily="34" charset="0"/>
                <a:ea typeface="Calibri" pitchFamily="34" charset="-122"/>
                <a:cs typeface="Calibri" pitchFamily="34" charset="-120"/>
              </a:rPr>
              <a:t>too slow</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164" name="Shape 162"/>
          <p:cNvSpPr/>
          <p:nvPr/>
        </p:nvSpPr>
        <p:spPr>
          <a:xfrm>
            <a:off x="6217920" y="3630168"/>
            <a:ext cx="5559552" cy="2084832"/>
          </a:xfrm>
          <a:prstGeom prst="roundRect">
            <a:avLst>
              <a:gd name="adj" fmla="val 2632"/>
            </a:avLst>
          </a:prstGeom>
          <a:solidFill>
            <a:srgbClr val="F5FBF7"/>
          </a:solidFill>
          <a:ln w="9525">
            <a:solidFill>
              <a:srgbClr val="D2E5D8"/>
            </a:solidFill>
            <a:prstDash val="solid"/>
          </a:ln>
        </p:spPr>
      </p:sp>
      <p:sp>
        <p:nvSpPr>
          <p:cNvPr id="165" name="Text 163"/>
          <p:cNvSpPr/>
          <p:nvPr/>
        </p:nvSpPr>
        <p:spPr>
          <a:xfrm>
            <a:off x="6382512" y="3721608"/>
            <a:ext cx="5230368"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b Osmoregulation: the effect on animal cells</a:t>
            </a:r>
            <a:endParaRPr lang="en-US" sz="1300" dirty="0"/>
          </a:p>
        </p:txBody>
      </p:sp>
      <p:sp>
        <p:nvSpPr>
          <p:cNvPr id="166" name="Text 164"/>
          <p:cNvSpPr/>
          <p:nvPr/>
        </p:nvSpPr>
        <p:spPr>
          <a:xfrm>
            <a:off x="6382512" y="4050792"/>
            <a:ext cx="5230368" cy="1591056"/>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Water moves into or out of cells by </a:t>
            </a:r>
            <a:r>
              <a:rPr lang="en-US" sz="1100" b="1" dirty="0">
                <a:solidFill>
                  <a:srgbClr val="262B3A"/>
                </a:solidFill>
                <a:latin typeface="Calibri" pitchFamily="34" charset="0"/>
                <a:ea typeface="Calibri" pitchFamily="34" charset="-122"/>
                <a:cs typeface="Calibri" pitchFamily="34" charset="-120"/>
              </a:rPr>
              <a:t>osmosis</a:t>
            </a:r>
            <a:r>
              <a:rPr lang="en-US" sz="1100" dirty="0">
                <a:solidFill>
                  <a:srgbClr val="262B3A"/>
                </a:solidFill>
                <a:latin typeface="Calibri" pitchFamily="34" charset="0"/>
                <a:ea typeface="Calibri" pitchFamily="34" charset="-122"/>
                <a:cs typeface="Calibri" pitchFamily="34" charset="-120"/>
              </a:rPr>
              <a:t> if blood plasma is too dilute or too concentrated.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Animal cells have </a:t>
            </a:r>
            <a:r>
              <a:rPr lang="en-US" sz="1100" b="1" dirty="0">
                <a:solidFill>
                  <a:srgbClr val="262B3A"/>
                </a:solidFill>
                <a:latin typeface="Calibri" pitchFamily="34" charset="0"/>
                <a:ea typeface="Calibri" pitchFamily="34" charset="-122"/>
                <a:cs typeface="Calibri" pitchFamily="34" charset="-120"/>
              </a:rPr>
              <a:t>no cell wall</a:t>
            </a:r>
            <a:r>
              <a:rPr lang="en-US" sz="1100" dirty="0">
                <a:solidFill>
                  <a:srgbClr val="262B3A"/>
                </a:solidFill>
                <a:latin typeface="Calibri" pitchFamily="34" charset="0"/>
                <a:ea typeface="Calibri" pitchFamily="34" charset="-122"/>
                <a:cs typeface="Calibri" pitchFamily="34" charset="-120"/>
              </a:rPr>
              <a:t>: too much water in → they </a:t>
            </a:r>
            <a:r>
              <a:rPr lang="en-US" sz="1100" b="1" dirty="0">
                <a:solidFill>
                  <a:srgbClr val="262B3A"/>
                </a:solidFill>
                <a:latin typeface="Calibri" pitchFamily="34" charset="0"/>
                <a:ea typeface="Calibri" pitchFamily="34" charset="-122"/>
                <a:cs typeface="Calibri" pitchFamily="34" charset="-120"/>
              </a:rPr>
              <a:t>swell and burst</a:t>
            </a:r>
            <a:r>
              <a:rPr lang="en-US" sz="1100" dirty="0">
                <a:solidFill>
                  <a:srgbClr val="262B3A"/>
                </a:solidFill>
                <a:latin typeface="Calibri" pitchFamily="34" charset="0"/>
                <a:ea typeface="Calibri" pitchFamily="34" charset="-122"/>
                <a:cs typeface="Calibri" pitchFamily="34" charset="-120"/>
              </a:rPr>
              <a:t> (lysis); too much out → they </a:t>
            </a:r>
            <a:r>
              <a:rPr lang="en-US" sz="1100" b="1" dirty="0">
                <a:solidFill>
                  <a:srgbClr val="262B3A"/>
                </a:solidFill>
                <a:latin typeface="Calibri" pitchFamily="34" charset="0"/>
                <a:ea typeface="Calibri" pitchFamily="34" charset="-122"/>
                <a:cs typeface="Calibri" pitchFamily="34" charset="-120"/>
              </a:rPr>
              <a:t>shrink</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167" name="Shape 165"/>
          <p:cNvSpPr/>
          <p:nvPr/>
        </p:nvSpPr>
        <p:spPr>
          <a:xfrm>
            <a:off x="411480" y="5833872"/>
            <a:ext cx="11368735" cy="530352"/>
          </a:xfrm>
          <a:prstGeom prst="rect">
            <a:avLst/>
          </a:prstGeom>
          <a:solidFill>
            <a:srgbClr val="FFF4E0"/>
          </a:solidFill>
          <a:ln w="6350">
            <a:solidFill>
              <a:srgbClr val="F1D9A8"/>
            </a:solidFill>
            <a:prstDash val="solid"/>
          </a:ln>
        </p:spPr>
      </p:sp>
      <p:sp>
        <p:nvSpPr>
          <p:cNvPr id="168" name="Shape 166"/>
          <p:cNvSpPr/>
          <p:nvPr/>
        </p:nvSpPr>
        <p:spPr>
          <a:xfrm>
            <a:off x="411480" y="5833872"/>
            <a:ext cx="82296" cy="530352"/>
          </a:xfrm>
          <a:prstGeom prst="rect">
            <a:avLst/>
          </a:prstGeom>
          <a:solidFill>
            <a:srgbClr val="E39A2F"/>
          </a:solidFill>
          <a:ln w="12700">
            <a:solidFill>
              <a:srgbClr val="E39A2F"/>
            </a:solidFill>
            <a:prstDash val="solid"/>
          </a:ln>
        </p:spPr>
      </p:sp>
      <p:sp>
        <p:nvSpPr>
          <p:cNvPr id="169" name="Text 16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by how much does activity fall from 37 °C to 45 °C? Why could drinking a huge volume of water damage red blood cells?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The skin and thermoregulation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7.11B • the dermis, sweat glands and blood vessels</a:t>
            </a:r>
            <a:endParaRPr lang="en-US" sz="1100" dirty="0"/>
          </a:p>
        </p:txBody>
      </p:sp>
      <p:sp>
        <p:nvSpPr>
          <p:cNvPr id="6" name="Shape 4"/>
          <p:cNvSpPr/>
          <p:nvPr/>
        </p:nvSpPr>
        <p:spPr>
          <a:xfrm>
            <a:off x="10591495" y="292608"/>
            <a:ext cx="1188720" cy="274320"/>
          </a:xfrm>
          <a:prstGeom prst="roundRect">
            <a:avLst>
              <a:gd name="adj" fmla="val 50000"/>
            </a:avLst>
          </a:prstGeom>
          <a:solidFill>
            <a:srgbClr val="2A7448"/>
          </a:solidFill>
          <a:ln w="12700">
            <a:solidFill>
              <a:srgbClr val="2A744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BIOLOGY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7.11B  |  19</a:t>
            </a:r>
            <a:endParaRPr lang="en-US" sz="1000" dirty="0"/>
          </a:p>
        </p:txBody>
      </p:sp>
      <p:sp>
        <p:nvSpPr>
          <p:cNvPr id="10" name="Shape 8"/>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cross-section of human skin (simplified, not to scale)</a:t>
            </a:r>
            <a:endParaRPr lang="en-US" sz="1000" dirty="0"/>
          </a:p>
        </p:txBody>
      </p:sp>
      <p:sp>
        <p:nvSpPr>
          <p:cNvPr id="12" name="Shape 10"/>
          <p:cNvSpPr/>
          <p:nvPr/>
        </p:nvSpPr>
        <p:spPr>
          <a:xfrm>
            <a:off x="640080" y="1783080"/>
            <a:ext cx="3520440" cy="320040"/>
          </a:xfrm>
          <a:prstGeom prst="rect">
            <a:avLst/>
          </a:prstGeom>
          <a:solidFill>
            <a:srgbClr val="F2CFB4"/>
          </a:solidFill>
          <a:ln w="12700">
            <a:solidFill>
              <a:srgbClr val="B98E6E"/>
            </a:solidFill>
            <a:prstDash val="solid"/>
          </a:ln>
        </p:spPr>
      </p:sp>
      <p:sp>
        <p:nvSpPr>
          <p:cNvPr id="13" name="Shape 11"/>
          <p:cNvSpPr/>
          <p:nvPr/>
        </p:nvSpPr>
        <p:spPr>
          <a:xfrm>
            <a:off x="640080" y="2103120"/>
            <a:ext cx="3520440" cy="1874520"/>
          </a:xfrm>
          <a:prstGeom prst="rect">
            <a:avLst/>
          </a:prstGeom>
          <a:solidFill>
            <a:srgbClr val="F8E3D3"/>
          </a:solidFill>
          <a:ln/>
        </p:spPr>
      </p:sp>
      <p:sp>
        <p:nvSpPr>
          <p:cNvPr id="14" name="Shape 12"/>
          <p:cNvSpPr/>
          <p:nvPr/>
        </p:nvSpPr>
        <p:spPr>
          <a:xfrm>
            <a:off x="640080" y="3977640"/>
            <a:ext cx="3520440" cy="822960"/>
          </a:xfrm>
          <a:prstGeom prst="rect">
            <a:avLst/>
          </a:prstGeom>
          <a:solidFill>
            <a:srgbClr val="FFF3C4"/>
          </a:solidFill>
          <a:ln/>
        </p:spPr>
      </p:sp>
      <p:sp>
        <p:nvSpPr>
          <p:cNvPr id="15" name="Shape 13"/>
          <p:cNvSpPr/>
          <p:nvPr/>
        </p:nvSpPr>
        <p:spPr>
          <a:xfrm>
            <a:off x="731520" y="4050792"/>
            <a:ext cx="365760" cy="310896"/>
          </a:xfrm>
          <a:prstGeom prst="ellipse">
            <a:avLst/>
          </a:prstGeom>
          <a:ln w="9525">
            <a:solidFill>
              <a:srgbClr val="E0C46A"/>
            </a:solidFill>
            <a:prstDash val="solid"/>
          </a:ln>
        </p:spPr>
      </p:sp>
      <p:sp>
        <p:nvSpPr>
          <p:cNvPr id="16" name="Shape 14"/>
          <p:cNvSpPr/>
          <p:nvPr/>
        </p:nvSpPr>
        <p:spPr>
          <a:xfrm>
            <a:off x="914400" y="4434840"/>
            <a:ext cx="365760" cy="310896"/>
          </a:xfrm>
          <a:prstGeom prst="ellipse">
            <a:avLst/>
          </a:prstGeom>
          <a:ln w="9525">
            <a:solidFill>
              <a:srgbClr val="E0C46A"/>
            </a:solidFill>
            <a:prstDash val="solid"/>
          </a:ln>
        </p:spPr>
      </p:sp>
      <p:sp>
        <p:nvSpPr>
          <p:cNvPr id="17" name="Shape 15"/>
          <p:cNvSpPr/>
          <p:nvPr/>
        </p:nvSpPr>
        <p:spPr>
          <a:xfrm>
            <a:off x="1115568" y="4050792"/>
            <a:ext cx="365760" cy="310896"/>
          </a:xfrm>
          <a:prstGeom prst="ellipse">
            <a:avLst/>
          </a:prstGeom>
          <a:ln w="9525">
            <a:solidFill>
              <a:srgbClr val="E0C46A"/>
            </a:solidFill>
            <a:prstDash val="solid"/>
          </a:ln>
        </p:spPr>
      </p:sp>
      <p:sp>
        <p:nvSpPr>
          <p:cNvPr id="18" name="Shape 16"/>
          <p:cNvSpPr/>
          <p:nvPr/>
        </p:nvSpPr>
        <p:spPr>
          <a:xfrm>
            <a:off x="1298448" y="4434840"/>
            <a:ext cx="365760" cy="310896"/>
          </a:xfrm>
          <a:prstGeom prst="ellipse">
            <a:avLst/>
          </a:prstGeom>
          <a:ln w="9525">
            <a:solidFill>
              <a:srgbClr val="E0C46A"/>
            </a:solidFill>
            <a:prstDash val="solid"/>
          </a:ln>
        </p:spPr>
      </p:sp>
      <p:sp>
        <p:nvSpPr>
          <p:cNvPr id="19" name="Shape 17"/>
          <p:cNvSpPr/>
          <p:nvPr/>
        </p:nvSpPr>
        <p:spPr>
          <a:xfrm>
            <a:off x="1499616" y="4050792"/>
            <a:ext cx="365760" cy="310896"/>
          </a:xfrm>
          <a:prstGeom prst="ellipse">
            <a:avLst/>
          </a:prstGeom>
          <a:ln w="9525">
            <a:solidFill>
              <a:srgbClr val="E0C46A"/>
            </a:solidFill>
            <a:prstDash val="solid"/>
          </a:ln>
        </p:spPr>
      </p:sp>
      <p:sp>
        <p:nvSpPr>
          <p:cNvPr id="20" name="Shape 18"/>
          <p:cNvSpPr/>
          <p:nvPr/>
        </p:nvSpPr>
        <p:spPr>
          <a:xfrm>
            <a:off x="1682496" y="4434840"/>
            <a:ext cx="365760" cy="310896"/>
          </a:xfrm>
          <a:prstGeom prst="ellipse">
            <a:avLst/>
          </a:prstGeom>
          <a:ln w="9525">
            <a:solidFill>
              <a:srgbClr val="E0C46A"/>
            </a:solidFill>
            <a:prstDash val="solid"/>
          </a:ln>
        </p:spPr>
      </p:sp>
      <p:sp>
        <p:nvSpPr>
          <p:cNvPr id="21" name="Shape 19"/>
          <p:cNvSpPr/>
          <p:nvPr/>
        </p:nvSpPr>
        <p:spPr>
          <a:xfrm>
            <a:off x="1883664" y="4050792"/>
            <a:ext cx="365760" cy="310896"/>
          </a:xfrm>
          <a:prstGeom prst="ellipse">
            <a:avLst/>
          </a:prstGeom>
          <a:ln w="9525">
            <a:solidFill>
              <a:srgbClr val="E0C46A"/>
            </a:solidFill>
            <a:prstDash val="solid"/>
          </a:ln>
        </p:spPr>
      </p:sp>
      <p:sp>
        <p:nvSpPr>
          <p:cNvPr id="22" name="Shape 20"/>
          <p:cNvSpPr/>
          <p:nvPr/>
        </p:nvSpPr>
        <p:spPr>
          <a:xfrm>
            <a:off x="2066544" y="4434840"/>
            <a:ext cx="365760" cy="310896"/>
          </a:xfrm>
          <a:prstGeom prst="ellipse">
            <a:avLst/>
          </a:prstGeom>
          <a:ln w="9525">
            <a:solidFill>
              <a:srgbClr val="E0C46A"/>
            </a:solidFill>
            <a:prstDash val="solid"/>
          </a:ln>
        </p:spPr>
      </p:sp>
      <p:sp>
        <p:nvSpPr>
          <p:cNvPr id="23" name="Shape 21"/>
          <p:cNvSpPr/>
          <p:nvPr/>
        </p:nvSpPr>
        <p:spPr>
          <a:xfrm>
            <a:off x="2267712" y="4050792"/>
            <a:ext cx="365760" cy="310896"/>
          </a:xfrm>
          <a:prstGeom prst="ellipse">
            <a:avLst/>
          </a:prstGeom>
          <a:ln w="9525">
            <a:solidFill>
              <a:srgbClr val="E0C46A"/>
            </a:solidFill>
            <a:prstDash val="solid"/>
          </a:ln>
        </p:spPr>
      </p:sp>
      <p:sp>
        <p:nvSpPr>
          <p:cNvPr id="24" name="Shape 22"/>
          <p:cNvSpPr/>
          <p:nvPr/>
        </p:nvSpPr>
        <p:spPr>
          <a:xfrm>
            <a:off x="2450592" y="4434840"/>
            <a:ext cx="365760" cy="310896"/>
          </a:xfrm>
          <a:prstGeom prst="ellipse">
            <a:avLst/>
          </a:prstGeom>
          <a:ln w="9525">
            <a:solidFill>
              <a:srgbClr val="E0C46A"/>
            </a:solidFill>
            <a:prstDash val="solid"/>
          </a:ln>
        </p:spPr>
      </p:sp>
      <p:sp>
        <p:nvSpPr>
          <p:cNvPr id="25" name="Shape 23"/>
          <p:cNvSpPr/>
          <p:nvPr/>
        </p:nvSpPr>
        <p:spPr>
          <a:xfrm>
            <a:off x="2651760" y="4050792"/>
            <a:ext cx="365760" cy="310896"/>
          </a:xfrm>
          <a:prstGeom prst="ellipse">
            <a:avLst/>
          </a:prstGeom>
          <a:ln w="9525">
            <a:solidFill>
              <a:srgbClr val="E0C46A"/>
            </a:solidFill>
            <a:prstDash val="solid"/>
          </a:ln>
        </p:spPr>
      </p:sp>
      <p:sp>
        <p:nvSpPr>
          <p:cNvPr id="26" name="Shape 24"/>
          <p:cNvSpPr/>
          <p:nvPr/>
        </p:nvSpPr>
        <p:spPr>
          <a:xfrm>
            <a:off x="2834640" y="4434840"/>
            <a:ext cx="365760" cy="310896"/>
          </a:xfrm>
          <a:prstGeom prst="ellipse">
            <a:avLst/>
          </a:prstGeom>
          <a:ln w="9525">
            <a:solidFill>
              <a:srgbClr val="E0C46A"/>
            </a:solidFill>
            <a:prstDash val="solid"/>
          </a:ln>
        </p:spPr>
      </p:sp>
      <p:sp>
        <p:nvSpPr>
          <p:cNvPr id="27" name="Shape 25"/>
          <p:cNvSpPr/>
          <p:nvPr/>
        </p:nvSpPr>
        <p:spPr>
          <a:xfrm>
            <a:off x="3035808" y="4050792"/>
            <a:ext cx="365760" cy="310896"/>
          </a:xfrm>
          <a:prstGeom prst="ellipse">
            <a:avLst/>
          </a:prstGeom>
          <a:ln w="9525">
            <a:solidFill>
              <a:srgbClr val="E0C46A"/>
            </a:solidFill>
            <a:prstDash val="solid"/>
          </a:ln>
        </p:spPr>
      </p:sp>
      <p:sp>
        <p:nvSpPr>
          <p:cNvPr id="28" name="Shape 26"/>
          <p:cNvSpPr/>
          <p:nvPr/>
        </p:nvSpPr>
        <p:spPr>
          <a:xfrm>
            <a:off x="3218688" y="4434840"/>
            <a:ext cx="365760" cy="310896"/>
          </a:xfrm>
          <a:prstGeom prst="ellipse">
            <a:avLst/>
          </a:prstGeom>
          <a:ln w="9525">
            <a:solidFill>
              <a:srgbClr val="E0C46A"/>
            </a:solidFill>
            <a:prstDash val="solid"/>
          </a:ln>
        </p:spPr>
      </p:sp>
      <p:sp>
        <p:nvSpPr>
          <p:cNvPr id="29" name="Shape 27"/>
          <p:cNvSpPr/>
          <p:nvPr/>
        </p:nvSpPr>
        <p:spPr>
          <a:xfrm>
            <a:off x="3419856" y="4050792"/>
            <a:ext cx="365760" cy="310896"/>
          </a:xfrm>
          <a:prstGeom prst="ellipse">
            <a:avLst/>
          </a:prstGeom>
          <a:ln w="9525">
            <a:solidFill>
              <a:srgbClr val="E0C46A"/>
            </a:solidFill>
            <a:prstDash val="solid"/>
          </a:ln>
        </p:spPr>
      </p:sp>
      <p:sp>
        <p:nvSpPr>
          <p:cNvPr id="30" name="Shape 28"/>
          <p:cNvSpPr/>
          <p:nvPr/>
        </p:nvSpPr>
        <p:spPr>
          <a:xfrm>
            <a:off x="3602736" y="4434840"/>
            <a:ext cx="365760" cy="310896"/>
          </a:xfrm>
          <a:prstGeom prst="ellipse">
            <a:avLst/>
          </a:prstGeom>
          <a:ln w="9525">
            <a:solidFill>
              <a:srgbClr val="E0C46A"/>
            </a:solidFill>
            <a:prstDash val="solid"/>
          </a:ln>
        </p:spPr>
      </p:sp>
      <p:sp>
        <p:nvSpPr>
          <p:cNvPr id="31" name="Shape 29"/>
          <p:cNvSpPr/>
          <p:nvPr/>
        </p:nvSpPr>
        <p:spPr>
          <a:xfrm>
            <a:off x="3803904" y="4050792"/>
            <a:ext cx="365760" cy="310896"/>
          </a:xfrm>
          <a:prstGeom prst="ellipse">
            <a:avLst/>
          </a:prstGeom>
          <a:ln w="9525">
            <a:solidFill>
              <a:srgbClr val="E0C46A"/>
            </a:solidFill>
            <a:prstDash val="solid"/>
          </a:ln>
        </p:spPr>
      </p:sp>
      <p:sp>
        <p:nvSpPr>
          <p:cNvPr id="32" name="Shape 30"/>
          <p:cNvSpPr/>
          <p:nvPr/>
        </p:nvSpPr>
        <p:spPr>
          <a:xfrm>
            <a:off x="3986784" y="4434840"/>
            <a:ext cx="365760" cy="310896"/>
          </a:xfrm>
          <a:prstGeom prst="ellipse">
            <a:avLst/>
          </a:prstGeom>
          <a:ln w="9525">
            <a:solidFill>
              <a:srgbClr val="E0C46A"/>
            </a:solidFill>
            <a:prstDash val="solid"/>
          </a:ln>
        </p:spPr>
      </p:sp>
      <p:sp>
        <p:nvSpPr>
          <p:cNvPr id="33" name="Shape 31"/>
          <p:cNvSpPr/>
          <p:nvPr/>
        </p:nvSpPr>
        <p:spPr>
          <a:xfrm>
            <a:off x="640080" y="3977640"/>
            <a:ext cx="3520440" cy="91"/>
          </a:xfrm>
          <a:prstGeom prst="line">
            <a:avLst/>
          </a:prstGeom>
          <a:noFill/>
          <a:ln w="12700">
            <a:solidFill>
              <a:srgbClr val="D9B48A"/>
            </a:solidFill>
            <a:prstDash val="solid"/>
          </a:ln>
        </p:spPr>
      </p:sp>
      <p:sp>
        <p:nvSpPr>
          <p:cNvPr id="34" name="Shape 32"/>
          <p:cNvSpPr/>
          <p:nvPr/>
        </p:nvSpPr>
        <p:spPr>
          <a:xfrm>
            <a:off x="640080" y="4800600"/>
            <a:ext cx="3520440" cy="91"/>
          </a:xfrm>
          <a:prstGeom prst="line">
            <a:avLst/>
          </a:prstGeom>
          <a:noFill/>
          <a:ln w="12700">
            <a:solidFill>
              <a:srgbClr val="D9B48A"/>
            </a:solidFill>
            <a:prstDash val="solid"/>
          </a:ln>
        </p:spPr>
      </p:sp>
      <p:sp>
        <p:nvSpPr>
          <p:cNvPr id="35" name="Shape 33"/>
          <p:cNvSpPr/>
          <p:nvPr/>
        </p:nvSpPr>
        <p:spPr>
          <a:xfrm>
            <a:off x="1088136" y="2926080"/>
            <a:ext cx="292608" cy="640080"/>
          </a:xfrm>
          <a:prstGeom prst="ellipse">
            <a:avLst/>
          </a:prstGeom>
          <a:solidFill>
            <a:srgbClr val="EBC9A8"/>
          </a:solidFill>
          <a:ln w="12700">
            <a:solidFill>
              <a:srgbClr val="8A6A3A"/>
            </a:solidFill>
            <a:prstDash val="solid"/>
          </a:ln>
        </p:spPr>
      </p:sp>
      <p:sp>
        <p:nvSpPr>
          <p:cNvPr id="36" name="Shape 34"/>
          <p:cNvSpPr/>
          <p:nvPr/>
        </p:nvSpPr>
        <p:spPr>
          <a:xfrm flipH="1" flipV="1">
            <a:off x="1051560" y="1325880"/>
            <a:ext cx="182880" cy="2148840"/>
          </a:xfrm>
          <a:prstGeom prst="line">
            <a:avLst/>
          </a:prstGeom>
          <a:noFill/>
          <a:ln w="38100">
            <a:solidFill>
              <a:srgbClr val="4A3A2A"/>
            </a:solidFill>
            <a:prstDash val="solid"/>
          </a:ln>
        </p:spPr>
      </p:sp>
      <p:sp>
        <p:nvSpPr>
          <p:cNvPr id="37" name="Shape 35"/>
          <p:cNvSpPr/>
          <p:nvPr/>
        </p:nvSpPr>
        <p:spPr>
          <a:xfrm flipV="1">
            <a:off x="1344168" y="2377440"/>
            <a:ext cx="438912" cy="685800"/>
          </a:xfrm>
          <a:prstGeom prst="line">
            <a:avLst/>
          </a:prstGeom>
          <a:noFill/>
          <a:ln w="44450">
            <a:solidFill>
              <a:srgbClr val="C76A72"/>
            </a:solidFill>
            <a:prstDash val="solid"/>
          </a:ln>
        </p:spPr>
      </p:sp>
      <p:sp>
        <p:nvSpPr>
          <p:cNvPr id="38" name="Shape 36"/>
          <p:cNvSpPr/>
          <p:nvPr/>
        </p:nvSpPr>
        <p:spPr>
          <a:xfrm>
            <a:off x="2057400" y="3429000"/>
            <a:ext cx="274320" cy="182880"/>
          </a:xfrm>
          <a:prstGeom prst="ellipse">
            <a:avLst/>
          </a:prstGeom>
          <a:solidFill>
            <a:srgbClr val="DCEBFA"/>
          </a:solidFill>
          <a:ln w="15875">
            <a:solidFill>
              <a:srgbClr val="3B7DD8"/>
            </a:solidFill>
            <a:prstDash val="solid"/>
          </a:ln>
        </p:spPr>
      </p:sp>
      <p:sp>
        <p:nvSpPr>
          <p:cNvPr id="39" name="Shape 37"/>
          <p:cNvSpPr/>
          <p:nvPr/>
        </p:nvSpPr>
        <p:spPr>
          <a:xfrm>
            <a:off x="2258568" y="3429000"/>
            <a:ext cx="274320" cy="182880"/>
          </a:xfrm>
          <a:prstGeom prst="ellipse">
            <a:avLst/>
          </a:prstGeom>
          <a:solidFill>
            <a:srgbClr val="DCEBFA"/>
          </a:solidFill>
          <a:ln w="15875">
            <a:solidFill>
              <a:srgbClr val="3B7DD8"/>
            </a:solidFill>
            <a:prstDash val="solid"/>
          </a:ln>
        </p:spPr>
      </p:sp>
      <p:sp>
        <p:nvSpPr>
          <p:cNvPr id="40" name="Shape 38"/>
          <p:cNvSpPr/>
          <p:nvPr/>
        </p:nvSpPr>
        <p:spPr>
          <a:xfrm>
            <a:off x="2057400" y="3593592"/>
            <a:ext cx="274320" cy="182880"/>
          </a:xfrm>
          <a:prstGeom prst="ellipse">
            <a:avLst/>
          </a:prstGeom>
          <a:solidFill>
            <a:srgbClr val="DCEBFA"/>
          </a:solidFill>
          <a:ln w="15875">
            <a:solidFill>
              <a:srgbClr val="3B7DD8"/>
            </a:solidFill>
            <a:prstDash val="solid"/>
          </a:ln>
        </p:spPr>
      </p:sp>
      <p:sp>
        <p:nvSpPr>
          <p:cNvPr id="41" name="Shape 39"/>
          <p:cNvSpPr/>
          <p:nvPr/>
        </p:nvSpPr>
        <p:spPr>
          <a:xfrm>
            <a:off x="2258568" y="3593592"/>
            <a:ext cx="274320" cy="182880"/>
          </a:xfrm>
          <a:prstGeom prst="ellipse">
            <a:avLst/>
          </a:prstGeom>
          <a:solidFill>
            <a:srgbClr val="DCEBFA"/>
          </a:solidFill>
          <a:ln w="15875">
            <a:solidFill>
              <a:srgbClr val="3B7DD8"/>
            </a:solidFill>
            <a:prstDash val="solid"/>
          </a:ln>
        </p:spPr>
      </p:sp>
      <p:sp>
        <p:nvSpPr>
          <p:cNvPr id="42" name="Shape 40"/>
          <p:cNvSpPr/>
          <p:nvPr/>
        </p:nvSpPr>
        <p:spPr>
          <a:xfrm flipV="1">
            <a:off x="2331720" y="1783080"/>
            <a:ext cx="91" cy="1645920"/>
          </a:xfrm>
          <a:prstGeom prst="line">
            <a:avLst/>
          </a:prstGeom>
          <a:noFill/>
          <a:ln w="25400">
            <a:solidFill>
              <a:srgbClr val="3B7DD8"/>
            </a:solidFill>
            <a:prstDash val="solid"/>
          </a:ln>
        </p:spPr>
      </p:sp>
      <p:sp>
        <p:nvSpPr>
          <p:cNvPr id="43" name="Shape 41"/>
          <p:cNvSpPr/>
          <p:nvPr/>
        </p:nvSpPr>
        <p:spPr>
          <a:xfrm>
            <a:off x="2280514" y="1609344"/>
            <a:ext cx="102413" cy="102413"/>
          </a:xfrm>
          <a:prstGeom prst="triangle">
            <a:avLst/>
          </a:prstGeom>
          <a:solidFill>
            <a:srgbClr val="5B9BD5"/>
          </a:solidFill>
          <a:ln w="6350">
            <a:solidFill>
              <a:srgbClr val="5B9BD5"/>
            </a:solidFill>
            <a:prstDash val="solid"/>
          </a:ln>
        </p:spPr>
      </p:sp>
      <p:sp>
        <p:nvSpPr>
          <p:cNvPr id="44" name="Shape 42"/>
          <p:cNvSpPr/>
          <p:nvPr/>
        </p:nvSpPr>
        <p:spPr>
          <a:xfrm>
            <a:off x="2279233" y="1672072"/>
            <a:ext cx="104973" cy="104973"/>
          </a:xfrm>
          <a:prstGeom prst="ellipse">
            <a:avLst/>
          </a:prstGeom>
          <a:solidFill>
            <a:srgbClr val="5B9BD5"/>
          </a:solidFill>
          <a:ln w="9525">
            <a:solidFill>
              <a:srgbClr val="5B9BD5"/>
            </a:solidFill>
            <a:prstDash val="solid"/>
          </a:ln>
        </p:spPr>
      </p:sp>
      <p:sp>
        <p:nvSpPr>
          <p:cNvPr id="45" name="Shape 43"/>
          <p:cNvSpPr/>
          <p:nvPr/>
        </p:nvSpPr>
        <p:spPr>
          <a:xfrm>
            <a:off x="2459736" y="1572768"/>
            <a:ext cx="73152" cy="73152"/>
          </a:xfrm>
          <a:prstGeom prst="triangle">
            <a:avLst/>
          </a:prstGeom>
          <a:solidFill>
            <a:srgbClr val="5B9BD5"/>
          </a:solidFill>
          <a:ln w="6350">
            <a:solidFill>
              <a:srgbClr val="5B9BD5"/>
            </a:solidFill>
            <a:prstDash val="solid"/>
          </a:ln>
        </p:spPr>
      </p:sp>
      <p:sp>
        <p:nvSpPr>
          <p:cNvPr id="46" name="Shape 44"/>
          <p:cNvSpPr/>
          <p:nvPr/>
        </p:nvSpPr>
        <p:spPr>
          <a:xfrm>
            <a:off x="2458822" y="1617574"/>
            <a:ext cx="74981" cy="74981"/>
          </a:xfrm>
          <a:prstGeom prst="ellipse">
            <a:avLst/>
          </a:prstGeom>
          <a:solidFill>
            <a:srgbClr val="5B9BD5"/>
          </a:solidFill>
          <a:ln w="9525">
            <a:solidFill>
              <a:srgbClr val="5B9BD5"/>
            </a:solidFill>
            <a:prstDash val="solid"/>
          </a:ln>
        </p:spPr>
      </p:sp>
      <p:sp>
        <p:nvSpPr>
          <p:cNvPr id="47" name="Shape 45"/>
          <p:cNvSpPr/>
          <p:nvPr/>
        </p:nvSpPr>
        <p:spPr>
          <a:xfrm flipV="1">
            <a:off x="3200400" y="2331720"/>
            <a:ext cx="91" cy="2468880"/>
          </a:xfrm>
          <a:prstGeom prst="line">
            <a:avLst/>
          </a:prstGeom>
          <a:noFill/>
          <a:ln w="44450">
            <a:solidFill>
              <a:srgbClr val="C8414C"/>
            </a:solidFill>
            <a:prstDash val="solid"/>
          </a:ln>
        </p:spPr>
      </p:sp>
      <p:sp>
        <p:nvSpPr>
          <p:cNvPr id="48" name="Shape 46"/>
          <p:cNvSpPr/>
          <p:nvPr/>
        </p:nvSpPr>
        <p:spPr>
          <a:xfrm>
            <a:off x="3566160" y="2331720"/>
            <a:ext cx="91" cy="2468880"/>
          </a:xfrm>
          <a:prstGeom prst="line">
            <a:avLst/>
          </a:prstGeom>
          <a:noFill/>
          <a:ln w="44450">
            <a:solidFill>
              <a:srgbClr val="4A6FB5"/>
            </a:solidFill>
            <a:prstDash val="solid"/>
          </a:ln>
        </p:spPr>
      </p:sp>
      <p:sp>
        <p:nvSpPr>
          <p:cNvPr id="49" name="Shape 47"/>
          <p:cNvSpPr/>
          <p:nvPr/>
        </p:nvSpPr>
        <p:spPr>
          <a:xfrm>
            <a:off x="3200400" y="2176272"/>
            <a:ext cx="365760" cy="310896"/>
          </a:xfrm>
          <a:prstGeom prst="arc">
            <a:avLst>
              <a:gd name="adj1" fmla="val 10800000"/>
              <a:gd name="adj2" fmla="val 0"/>
            </a:avLst>
          </a:prstGeom>
          <a:ln w="38100">
            <a:solidFill>
              <a:srgbClr val="C8414C"/>
            </a:solidFill>
            <a:prstDash val="solid"/>
          </a:ln>
        </p:spPr>
      </p:sp>
      <p:sp>
        <p:nvSpPr>
          <p:cNvPr id="50" name="Shape 48"/>
          <p:cNvSpPr/>
          <p:nvPr/>
        </p:nvSpPr>
        <p:spPr>
          <a:xfrm>
            <a:off x="3200400" y="3337560"/>
            <a:ext cx="365760" cy="91"/>
          </a:xfrm>
          <a:prstGeom prst="line">
            <a:avLst/>
          </a:prstGeom>
          <a:noFill/>
          <a:ln w="25400">
            <a:solidFill>
              <a:srgbClr val="9E4A7A"/>
            </a:solidFill>
            <a:prstDash val="solid"/>
          </a:ln>
        </p:spPr>
      </p:sp>
      <p:sp>
        <p:nvSpPr>
          <p:cNvPr id="51" name="Text 49"/>
          <p:cNvSpPr/>
          <p:nvPr/>
        </p:nvSpPr>
        <p:spPr>
          <a:xfrm>
            <a:off x="3611880" y="3200400"/>
            <a:ext cx="548640" cy="256032"/>
          </a:xfrm>
          <a:prstGeom prst="rect">
            <a:avLst/>
          </a:prstGeom>
          <a:noFill/>
          <a:ln/>
        </p:spPr>
        <p:txBody>
          <a:bodyPr wrap="square" lIns="0" tIns="0" rIns="0" bIns="0" rtlCol="0" anchor="ctr"/>
          <a:lstStyle/>
          <a:p>
            <a:pPr algn="l" indent="0" marL="0">
              <a:buNone/>
            </a:pPr>
            <a:r>
              <a:rPr lang="en-US" sz="1000" i="1" dirty="0">
                <a:solidFill>
                  <a:srgbClr val="9E4A7A"/>
                </a:solidFill>
                <a:latin typeface="Calibri" pitchFamily="34" charset="0"/>
                <a:ea typeface="Calibri" pitchFamily="34" charset="-122"/>
                <a:cs typeface="Calibri" pitchFamily="34" charset="-120"/>
              </a:rPr>
              <a:t>shunt</a:t>
            </a:r>
            <a:endParaRPr lang="en-US" sz="1000" dirty="0"/>
          </a:p>
        </p:txBody>
      </p:sp>
      <p:sp>
        <p:nvSpPr>
          <p:cNvPr id="52" name="Shape 50"/>
          <p:cNvSpPr/>
          <p:nvPr/>
        </p:nvSpPr>
        <p:spPr>
          <a:xfrm>
            <a:off x="1737360" y="2212848"/>
            <a:ext cx="91" cy="1627632"/>
          </a:xfrm>
          <a:prstGeom prst="line">
            <a:avLst/>
          </a:prstGeom>
          <a:noFill/>
          <a:ln w="19050">
            <a:solidFill>
              <a:srgbClr val="E0B000"/>
            </a:solidFill>
            <a:prstDash val="solid"/>
          </a:ln>
        </p:spPr>
      </p:sp>
      <p:sp>
        <p:nvSpPr>
          <p:cNvPr id="53" name="Shape 51"/>
          <p:cNvSpPr/>
          <p:nvPr/>
        </p:nvSpPr>
        <p:spPr>
          <a:xfrm>
            <a:off x="1673352" y="2148840"/>
            <a:ext cx="128016" cy="128016"/>
          </a:xfrm>
          <a:prstGeom prst="ellipse">
            <a:avLst/>
          </a:prstGeom>
          <a:solidFill>
            <a:srgbClr val="F5C342"/>
          </a:solidFill>
          <a:ln w="12700">
            <a:solidFill>
              <a:srgbClr val="8A6A0A"/>
            </a:solidFill>
            <a:prstDash val="solid"/>
          </a:ln>
        </p:spPr>
      </p:sp>
      <p:sp>
        <p:nvSpPr>
          <p:cNvPr id="54" name="Text 52"/>
          <p:cNvSpPr/>
          <p:nvPr/>
        </p:nvSpPr>
        <p:spPr>
          <a:xfrm>
            <a:off x="4343400" y="1801368"/>
            <a:ext cx="1463040" cy="274320"/>
          </a:xfrm>
          <a:prstGeom prst="rect">
            <a:avLst/>
          </a:prstGeom>
          <a:noFill/>
          <a:ln/>
        </p:spPr>
        <p:txBody>
          <a:bodyPr wrap="square" lIns="0" tIns="0" rIns="0" bIns="0" rtlCol="0" anchor="ctr"/>
          <a:lstStyle/>
          <a:p>
            <a:pPr algn="l" indent="0" marL="0">
              <a:buNone/>
            </a:pPr>
            <a:r>
              <a:rPr lang="en-US" sz="1100" b="1" dirty="0">
                <a:solidFill>
                  <a:srgbClr val="1C3A2C"/>
                </a:solidFill>
                <a:latin typeface="Calibri" pitchFamily="34" charset="0"/>
                <a:ea typeface="Calibri" pitchFamily="34" charset="-122"/>
                <a:cs typeface="Calibri" pitchFamily="34" charset="-120"/>
              </a:rPr>
              <a:t>Epidermis</a:t>
            </a:r>
            <a:endParaRPr lang="en-US" sz="1100" dirty="0"/>
          </a:p>
        </p:txBody>
      </p:sp>
      <p:sp>
        <p:nvSpPr>
          <p:cNvPr id="55" name="Shape 53"/>
          <p:cNvSpPr/>
          <p:nvPr/>
        </p:nvSpPr>
        <p:spPr>
          <a:xfrm flipH="1">
            <a:off x="4114800" y="1938528"/>
            <a:ext cx="192024" cy="91"/>
          </a:xfrm>
          <a:prstGeom prst="line">
            <a:avLst/>
          </a:prstGeom>
          <a:noFill/>
          <a:ln w="12700">
            <a:solidFill>
              <a:srgbClr val="1C3A2C"/>
            </a:solidFill>
            <a:prstDash val="solid"/>
          </a:ln>
        </p:spPr>
      </p:sp>
      <p:sp>
        <p:nvSpPr>
          <p:cNvPr id="56" name="Shape 54"/>
          <p:cNvSpPr/>
          <p:nvPr/>
        </p:nvSpPr>
        <p:spPr>
          <a:xfrm>
            <a:off x="4087368" y="1911096"/>
            <a:ext cx="54864" cy="54864"/>
          </a:xfrm>
          <a:prstGeom prst="ellipse">
            <a:avLst/>
          </a:prstGeom>
          <a:solidFill>
            <a:srgbClr val="1C3A2C"/>
          </a:solidFill>
          <a:ln w="9525">
            <a:solidFill>
              <a:srgbClr val="1C3A2C"/>
            </a:solidFill>
            <a:prstDash val="solid"/>
          </a:ln>
        </p:spPr>
      </p:sp>
      <p:sp>
        <p:nvSpPr>
          <p:cNvPr id="57" name="Text 55"/>
          <p:cNvSpPr/>
          <p:nvPr/>
        </p:nvSpPr>
        <p:spPr>
          <a:xfrm>
            <a:off x="4343400" y="2286000"/>
            <a:ext cx="1463040" cy="274320"/>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Capillary loop</a:t>
            </a:r>
            <a:endParaRPr lang="en-US" sz="1100" dirty="0"/>
          </a:p>
        </p:txBody>
      </p:sp>
      <p:sp>
        <p:nvSpPr>
          <p:cNvPr id="58" name="Shape 56"/>
          <p:cNvSpPr/>
          <p:nvPr/>
        </p:nvSpPr>
        <p:spPr>
          <a:xfrm flipH="1" flipV="1">
            <a:off x="3383280" y="2240280"/>
            <a:ext cx="923544" cy="182880"/>
          </a:xfrm>
          <a:prstGeom prst="line">
            <a:avLst/>
          </a:prstGeom>
          <a:noFill/>
          <a:ln w="12700">
            <a:solidFill>
              <a:srgbClr val="C8414C"/>
            </a:solidFill>
            <a:prstDash val="solid"/>
          </a:ln>
        </p:spPr>
      </p:sp>
      <p:sp>
        <p:nvSpPr>
          <p:cNvPr id="59" name="Shape 57"/>
          <p:cNvSpPr/>
          <p:nvPr/>
        </p:nvSpPr>
        <p:spPr>
          <a:xfrm>
            <a:off x="3355848" y="2212848"/>
            <a:ext cx="54864" cy="54864"/>
          </a:xfrm>
          <a:prstGeom prst="ellipse">
            <a:avLst/>
          </a:prstGeom>
          <a:solidFill>
            <a:srgbClr val="C8414C"/>
          </a:solidFill>
          <a:ln w="9525">
            <a:solidFill>
              <a:srgbClr val="C8414C"/>
            </a:solidFill>
            <a:prstDash val="solid"/>
          </a:ln>
        </p:spPr>
      </p:sp>
      <p:sp>
        <p:nvSpPr>
          <p:cNvPr id="60" name="Text 58"/>
          <p:cNvSpPr/>
          <p:nvPr/>
        </p:nvSpPr>
        <p:spPr>
          <a:xfrm>
            <a:off x="4343400" y="2743200"/>
            <a:ext cx="1463040" cy="274320"/>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Arteriole</a:t>
            </a:r>
            <a:endParaRPr lang="en-US" sz="1100" dirty="0"/>
          </a:p>
        </p:txBody>
      </p:sp>
      <p:sp>
        <p:nvSpPr>
          <p:cNvPr id="61" name="Shape 59"/>
          <p:cNvSpPr/>
          <p:nvPr/>
        </p:nvSpPr>
        <p:spPr>
          <a:xfrm flipH="1">
            <a:off x="3200400" y="2880360"/>
            <a:ext cx="1106424" cy="45720"/>
          </a:xfrm>
          <a:prstGeom prst="line">
            <a:avLst/>
          </a:prstGeom>
          <a:noFill/>
          <a:ln w="12700">
            <a:solidFill>
              <a:srgbClr val="C8414C"/>
            </a:solidFill>
            <a:prstDash val="solid"/>
          </a:ln>
        </p:spPr>
      </p:sp>
      <p:sp>
        <p:nvSpPr>
          <p:cNvPr id="62" name="Shape 60"/>
          <p:cNvSpPr/>
          <p:nvPr/>
        </p:nvSpPr>
        <p:spPr>
          <a:xfrm>
            <a:off x="3172968" y="2898648"/>
            <a:ext cx="54864" cy="54864"/>
          </a:xfrm>
          <a:prstGeom prst="ellipse">
            <a:avLst/>
          </a:prstGeom>
          <a:solidFill>
            <a:srgbClr val="C8414C"/>
          </a:solidFill>
          <a:ln w="9525">
            <a:solidFill>
              <a:srgbClr val="C8414C"/>
            </a:solidFill>
            <a:prstDash val="solid"/>
          </a:ln>
        </p:spPr>
      </p:sp>
      <p:sp>
        <p:nvSpPr>
          <p:cNvPr id="63" name="Text 61"/>
          <p:cNvSpPr/>
          <p:nvPr/>
        </p:nvSpPr>
        <p:spPr>
          <a:xfrm>
            <a:off x="4343400" y="3154680"/>
            <a:ext cx="1463040" cy="274320"/>
          </a:xfrm>
          <a:prstGeom prst="rect">
            <a:avLst/>
          </a:prstGeom>
          <a:noFill/>
          <a:ln/>
        </p:spPr>
        <p:txBody>
          <a:bodyPr wrap="square" lIns="0" tIns="0" rIns="0" bIns="0" rtlCol="0" anchor="ctr"/>
          <a:lstStyle/>
          <a:p>
            <a:pPr algn="l" indent="0" marL="0">
              <a:buNone/>
            </a:pPr>
            <a:r>
              <a:rPr lang="en-US" sz="1100" b="1" dirty="0">
                <a:solidFill>
                  <a:srgbClr val="1C3A2C"/>
                </a:solidFill>
                <a:latin typeface="Calibri" pitchFamily="34" charset="0"/>
                <a:ea typeface="Calibri" pitchFamily="34" charset="-122"/>
                <a:cs typeface="Calibri" pitchFamily="34" charset="-120"/>
              </a:rPr>
              <a:t>Dermis</a:t>
            </a:r>
            <a:endParaRPr lang="en-US" sz="1100" dirty="0"/>
          </a:p>
        </p:txBody>
      </p:sp>
      <p:sp>
        <p:nvSpPr>
          <p:cNvPr id="64" name="Shape 62"/>
          <p:cNvSpPr/>
          <p:nvPr/>
        </p:nvSpPr>
        <p:spPr>
          <a:xfrm flipH="1">
            <a:off x="4069080" y="3291840"/>
            <a:ext cx="237744" cy="137160"/>
          </a:xfrm>
          <a:prstGeom prst="line">
            <a:avLst/>
          </a:prstGeom>
          <a:noFill/>
          <a:ln w="12700">
            <a:solidFill>
              <a:srgbClr val="1C3A2C"/>
            </a:solidFill>
            <a:prstDash val="solid"/>
          </a:ln>
        </p:spPr>
      </p:sp>
      <p:sp>
        <p:nvSpPr>
          <p:cNvPr id="65" name="Shape 63"/>
          <p:cNvSpPr/>
          <p:nvPr/>
        </p:nvSpPr>
        <p:spPr>
          <a:xfrm>
            <a:off x="4041648" y="3401568"/>
            <a:ext cx="54864" cy="54864"/>
          </a:xfrm>
          <a:prstGeom prst="ellipse">
            <a:avLst/>
          </a:prstGeom>
          <a:solidFill>
            <a:srgbClr val="1C3A2C"/>
          </a:solidFill>
          <a:ln w="9525">
            <a:solidFill>
              <a:srgbClr val="1C3A2C"/>
            </a:solidFill>
            <a:prstDash val="solid"/>
          </a:ln>
        </p:spPr>
      </p:sp>
      <p:sp>
        <p:nvSpPr>
          <p:cNvPr id="66" name="Text 64"/>
          <p:cNvSpPr/>
          <p:nvPr/>
        </p:nvSpPr>
        <p:spPr>
          <a:xfrm>
            <a:off x="4343400" y="4160520"/>
            <a:ext cx="1463040" cy="274320"/>
          </a:xfrm>
          <a:prstGeom prst="rect">
            <a:avLst/>
          </a:prstGeom>
          <a:noFill/>
          <a:ln/>
        </p:spPr>
        <p:txBody>
          <a:bodyPr wrap="square" lIns="0" tIns="0" rIns="0" bIns="0" rtlCol="0" anchor="ctr"/>
          <a:lstStyle/>
          <a:p>
            <a:pPr algn="l" indent="0" marL="0">
              <a:buNone/>
            </a:pPr>
            <a:r>
              <a:rPr lang="en-US" sz="1100" b="1" dirty="0">
                <a:solidFill>
                  <a:srgbClr val="8A6A0A"/>
                </a:solidFill>
                <a:latin typeface="Calibri" pitchFamily="34" charset="0"/>
                <a:ea typeface="Calibri" pitchFamily="34" charset="-122"/>
                <a:cs typeface="Calibri" pitchFamily="34" charset="-120"/>
              </a:rPr>
              <a:t>Fat (insulation)</a:t>
            </a:r>
            <a:endParaRPr lang="en-US" sz="1100" dirty="0"/>
          </a:p>
        </p:txBody>
      </p:sp>
      <p:sp>
        <p:nvSpPr>
          <p:cNvPr id="67" name="Shape 65"/>
          <p:cNvSpPr/>
          <p:nvPr/>
        </p:nvSpPr>
        <p:spPr>
          <a:xfrm flipH="1">
            <a:off x="4069080" y="4297680"/>
            <a:ext cx="237744" cy="45720"/>
          </a:xfrm>
          <a:prstGeom prst="line">
            <a:avLst/>
          </a:prstGeom>
          <a:noFill/>
          <a:ln w="12700">
            <a:solidFill>
              <a:srgbClr val="8A6A0A"/>
            </a:solidFill>
            <a:prstDash val="solid"/>
          </a:ln>
        </p:spPr>
      </p:sp>
      <p:sp>
        <p:nvSpPr>
          <p:cNvPr id="68" name="Shape 66"/>
          <p:cNvSpPr/>
          <p:nvPr/>
        </p:nvSpPr>
        <p:spPr>
          <a:xfrm>
            <a:off x="4041648" y="4315968"/>
            <a:ext cx="54864" cy="54864"/>
          </a:xfrm>
          <a:prstGeom prst="ellipse">
            <a:avLst/>
          </a:prstGeom>
          <a:solidFill>
            <a:srgbClr val="8A6A0A"/>
          </a:solidFill>
          <a:ln w="9525">
            <a:solidFill>
              <a:srgbClr val="8A6A0A"/>
            </a:solidFill>
            <a:prstDash val="solid"/>
          </a:ln>
        </p:spPr>
      </p:sp>
      <p:sp>
        <p:nvSpPr>
          <p:cNvPr id="69" name="Text 67"/>
          <p:cNvSpPr/>
          <p:nvPr/>
        </p:nvSpPr>
        <p:spPr>
          <a:xfrm>
            <a:off x="502920" y="1325880"/>
            <a:ext cx="685800" cy="256032"/>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Hair</a:t>
            </a:r>
            <a:endParaRPr lang="en-US" sz="1050" dirty="0"/>
          </a:p>
        </p:txBody>
      </p:sp>
      <p:sp>
        <p:nvSpPr>
          <p:cNvPr id="70" name="Text 68"/>
          <p:cNvSpPr/>
          <p:nvPr/>
        </p:nvSpPr>
        <p:spPr>
          <a:xfrm>
            <a:off x="2057400" y="1325880"/>
            <a:ext cx="1188720" cy="274320"/>
          </a:xfrm>
          <a:prstGeom prst="rect">
            <a:avLst/>
          </a:prstGeom>
          <a:noFill/>
          <a:ln/>
        </p:spPr>
        <p:txBody>
          <a:bodyPr wrap="square" lIns="0" tIns="0" rIns="0" bIns="0" rtlCol="0" anchor="ctr"/>
          <a:lstStyle/>
          <a:p>
            <a:pPr algn="r" indent="0" marL="0">
              <a:buNone/>
            </a:pPr>
            <a:r>
              <a:rPr lang="en-US" sz="1050" b="1" dirty="0">
                <a:solidFill>
                  <a:srgbClr val="2F5F8F"/>
                </a:solidFill>
                <a:latin typeface="Calibri" pitchFamily="34" charset="0"/>
                <a:ea typeface="Calibri" pitchFamily="34" charset="-122"/>
                <a:cs typeface="Calibri" pitchFamily="34" charset="-120"/>
              </a:rPr>
              <a:t>Sweat pore</a:t>
            </a:r>
            <a:endParaRPr lang="en-US" sz="1050" dirty="0"/>
          </a:p>
        </p:txBody>
      </p:sp>
      <p:sp>
        <p:nvSpPr>
          <p:cNvPr id="71" name="Shape 69"/>
          <p:cNvSpPr/>
          <p:nvPr/>
        </p:nvSpPr>
        <p:spPr>
          <a:xfrm flipH="1">
            <a:off x="2331720" y="1463040"/>
            <a:ext cx="950976" cy="292608"/>
          </a:xfrm>
          <a:prstGeom prst="line">
            <a:avLst/>
          </a:prstGeom>
          <a:noFill/>
          <a:ln w="12700">
            <a:solidFill>
              <a:srgbClr val="2F5F8F"/>
            </a:solidFill>
            <a:prstDash val="solid"/>
          </a:ln>
        </p:spPr>
      </p:sp>
      <p:sp>
        <p:nvSpPr>
          <p:cNvPr id="72" name="Shape 70"/>
          <p:cNvSpPr/>
          <p:nvPr/>
        </p:nvSpPr>
        <p:spPr>
          <a:xfrm>
            <a:off x="2304288" y="1728216"/>
            <a:ext cx="54864" cy="54864"/>
          </a:xfrm>
          <a:prstGeom prst="ellipse">
            <a:avLst/>
          </a:prstGeom>
          <a:solidFill>
            <a:srgbClr val="2F5F8F"/>
          </a:solidFill>
          <a:ln w="9525">
            <a:solidFill>
              <a:srgbClr val="2F5F8F"/>
            </a:solidFill>
            <a:prstDash val="solid"/>
          </a:ln>
        </p:spPr>
      </p:sp>
      <p:sp>
        <p:nvSpPr>
          <p:cNvPr id="73" name="Text 71"/>
          <p:cNvSpPr/>
          <p:nvPr/>
        </p:nvSpPr>
        <p:spPr>
          <a:xfrm>
            <a:off x="658368" y="4846320"/>
            <a:ext cx="1097280" cy="274320"/>
          </a:xfrm>
          <a:prstGeom prst="rect">
            <a:avLst/>
          </a:prstGeom>
          <a:noFill/>
          <a:ln/>
        </p:spPr>
        <p:txBody>
          <a:bodyPr wrap="square" lIns="0" tIns="0" rIns="0" bIns="0" rtlCol="0" anchor="ctr"/>
          <a:lstStyle/>
          <a:p>
            <a:pPr algn="l" indent="0" marL="0">
              <a:buNone/>
            </a:pPr>
            <a:r>
              <a:rPr lang="en-US" sz="1000" dirty="0">
                <a:solidFill>
                  <a:srgbClr val="A33E48"/>
                </a:solidFill>
                <a:latin typeface="Calibri" pitchFamily="34" charset="0"/>
                <a:ea typeface="Calibri" pitchFamily="34" charset="-122"/>
                <a:cs typeface="Calibri" pitchFamily="34" charset="-120"/>
              </a:rPr>
              <a:t>hair erector muscle</a:t>
            </a:r>
            <a:endParaRPr lang="en-US" sz="1000" dirty="0"/>
          </a:p>
        </p:txBody>
      </p:sp>
      <p:sp>
        <p:nvSpPr>
          <p:cNvPr id="74" name="Shape 72"/>
          <p:cNvSpPr/>
          <p:nvPr/>
        </p:nvSpPr>
        <p:spPr>
          <a:xfrm flipV="1">
            <a:off x="1188720" y="2697480"/>
            <a:ext cx="411480" cy="2148840"/>
          </a:xfrm>
          <a:prstGeom prst="line">
            <a:avLst/>
          </a:prstGeom>
          <a:noFill/>
          <a:ln w="9525">
            <a:solidFill>
              <a:srgbClr val="A33E48"/>
            </a:solidFill>
            <a:prstDash val="solid"/>
          </a:ln>
        </p:spPr>
      </p:sp>
      <p:sp>
        <p:nvSpPr>
          <p:cNvPr id="75" name="Text 73"/>
          <p:cNvSpPr/>
          <p:nvPr/>
        </p:nvSpPr>
        <p:spPr>
          <a:xfrm>
            <a:off x="1783080" y="4846320"/>
            <a:ext cx="1143000" cy="274320"/>
          </a:xfrm>
          <a:prstGeom prst="rect">
            <a:avLst/>
          </a:prstGeom>
          <a:noFill/>
          <a:ln/>
        </p:spPr>
        <p:txBody>
          <a:bodyPr wrap="square" lIns="0" tIns="0" rIns="0" bIns="0" rtlCol="0" anchor="ctr"/>
          <a:lstStyle/>
          <a:p>
            <a:pPr algn="l" indent="0" marL="0">
              <a:buNone/>
            </a:pPr>
            <a:r>
              <a:rPr lang="en-US" sz="1000" dirty="0">
                <a:solidFill>
                  <a:srgbClr val="2F5F8F"/>
                </a:solidFill>
                <a:latin typeface="Calibri" pitchFamily="34" charset="0"/>
                <a:ea typeface="Calibri" pitchFamily="34" charset="-122"/>
                <a:cs typeface="Calibri" pitchFamily="34" charset="-120"/>
              </a:rPr>
              <a:t>sweat gland</a:t>
            </a:r>
            <a:endParaRPr lang="en-US" sz="1000" dirty="0"/>
          </a:p>
        </p:txBody>
      </p:sp>
      <p:sp>
        <p:nvSpPr>
          <p:cNvPr id="76" name="Shape 74"/>
          <p:cNvSpPr/>
          <p:nvPr/>
        </p:nvSpPr>
        <p:spPr>
          <a:xfrm flipV="1">
            <a:off x="2240280" y="3794760"/>
            <a:ext cx="91440" cy="1051560"/>
          </a:xfrm>
          <a:prstGeom prst="line">
            <a:avLst/>
          </a:prstGeom>
          <a:noFill/>
          <a:ln w="9525">
            <a:solidFill>
              <a:srgbClr val="2F5F8F"/>
            </a:solidFill>
            <a:prstDash val="solid"/>
          </a:ln>
        </p:spPr>
      </p:sp>
      <p:sp>
        <p:nvSpPr>
          <p:cNvPr id="77" name="Text 75"/>
          <p:cNvSpPr/>
          <p:nvPr/>
        </p:nvSpPr>
        <p:spPr>
          <a:xfrm>
            <a:off x="2697480" y="5074920"/>
            <a:ext cx="1645920" cy="274320"/>
          </a:xfrm>
          <a:prstGeom prst="rect">
            <a:avLst/>
          </a:prstGeom>
          <a:noFill/>
          <a:ln/>
        </p:spPr>
        <p:txBody>
          <a:bodyPr wrap="square" lIns="0" tIns="0" rIns="0" bIns="0" rtlCol="0" anchor="ctr"/>
          <a:lstStyle/>
          <a:p>
            <a:pPr algn="l" indent="0" marL="0">
              <a:buNone/>
            </a:pPr>
            <a:r>
              <a:rPr lang="en-US" sz="1000" dirty="0">
                <a:solidFill>
                  <a:srgbClr val="8A6A0A"/>
                </a:solidFill>
                <a:latin typeface="Calibri" pitchFamily="34" charset="0"/>
                <a:ea typeface="Calibri" pitchFamily="34" charset="-122"/>
                <a:cs typeface="Calibri" pitchFamily="34" charset="-120"/>
              </a:rPr>
              <a:t>temperature receptor</a:t>
            </a:r>
            <a:endParaRPr lang="en-US" sz="1000" dirty="0"/>
          </a:p>
        </p:txBody>
      </p:sp>
      <p:sp>
        <p:nvSpPr>
          <p:cNvPr id="78" name="Shape 76"/>
          <p:cNvSpPr/>
          <p:nvPr/>
        </p:nvSpPr>
        <p:spPr>
          <a:xfrm flipH="1" flipV="1">
            <a:off x="1737360" y="3840480"/>
            <a:ext cx="1051560" cy="1280160"/>
          </a:xfrm>
          <a:prstGeom prst="line">
            <a:avLst/>
          </a:prstGeom>
          <a:noFill/>
          <a:ln w="9525">
            <a:solidFill>
              <a:srgbClr val="8A6A0A"/>
            </a:solidFill>
            <a:prstDash val="solid"/>
          </a:ln>
        </p:spPr>
      </p:sp>
      <p:sp>
        <p:nvSpPr>
          <p:cNvPr id="79" name="Shape 77"/>
          <p:cNvSpPr/>
          <p:nvPr/>
        </p:nvSpPr>
        <p:spPr>
          <a:xfrm>
            <a:off x="6217920" y="1188720"/>
            <a:ext cx="5562295" cy="2423160"/>
          </a:xfrm>
          <a:prstGeom prst="roundRect">
            <a:avLst>
              <a:gd name="adj" fmla="val 2264"/>
            </a:avLst>
          </a:prstGeom>
          <a:solidFill>
            <a:srgbClr val="F5FBF7"/>
          </a:solidFill>
          <a:ln w="9525">
            <a:solidFill>
              <a:srgbClr val="D2E5D8"/>
            </a:solidFill>
            <a:prstDash val="solid"/>
          </a:ln>
        </p:spPr>
      </p:sp>
      <p:sp>
        <p:nvSpPr>
          <p:cNvPr id="80" name="Text 7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The skin as an effector</a:t>
            </a:r>
            <a:endParaRPr lang="en-US" sz="1300" dirty="0"/>
          </a:p>
        </p:txBody>
      </p:sp>
      <p:sp>
        <p:nvSpPr>
          <p:cNvPr id="81" name="Text 7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dermis</a:t>
            </a:r>
            <a:r>
              <a:rPr lang="en-US" sz="1100" dirty="0">
                <a:solidFill>
                  <a:srgbClr val="262B3A"/>
                </a:solidFill>
                <a:latin typeface="Calibri" pitchFamily="34" charset="0"/>
                <a:ea typeface="Calibri" pitchFamily="34" charset="-122"/>
                <a:cs typeface="Calibri" pitchFamily="34" charset="-120"/>
              </a:rPr>
              <a:t> contains </a:t>
            </a:r>
            <a:r>
              <a:rPr lang="en-US" sz="1100" b="1" dirty="0">
                <a:solidFill>
                  <a:srgbClr val="262B3A"/>
                </a:solidFill>
                <a:latin typeface="Calibri" pitchFamily="34" charset="0"/>
                <a:ea typeface="Calibri" pitchFamily="34" charset="-122"/>
                <a:cs typeface="Calibri" pitchFamily="34" charset="-120"/>
              </a:rPr>
              <a:t>temperature receptors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sweat glands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blood vessels</a:t>
            </a:r>
            <a:r>
              <a:rPr lang="en-US" sz="1100" dirty="0">
                <a:solidFill>
                  <a:srgbClr val="262B3A"/>
                </a:solidFill>
                <a:latin typeface="Calibri" pitchFamily="34" charset="0"/>
                <a:ea typeface="Calibri" pitchFamily="34" charset="-122"/>
                <a:cs typeface="Calibri" pitchFamily="34" charset="-120"/>
              </a:rPr>
              <a:t>, hairs and their erector muscles.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Too hot</a:t>
            </a:r>
            <a:r>
              <a:rPr lang="en-US" sz="1100" dirty="0">
                <a:solidFill>
                  <a:srgbClr val="262B3A"/>
                </a:solidFill>
                <a:latin typeface="Calibri" pitchFamily="34" charset="0"/>
                <a:ea typeface="Calibri" pitchFamily="34" charset="-122"/>
                <a:cs typeface="Calibri" pitchFamily="34" charset="-120"/>
              </a:rPr>
              <a:t>: sweat glands release </a:t>
            </a:r>
            <a:r>
              <a:rPr lang="en-US" sz="1100" b="1" dirty="0">
                <a:solidFill>
                  <a:srgbClr val="262B3A"/>
                </a:solidFill>
                <a:latin typeface="Calibri" pitchFamily="34" charset="0"/>
                <a:ea typeface="Calibri" pitchFamily="34" charset="-122"/>
                <a:cs typeface="Calibri" pitchFamily="34" charset="-120"/>
              </a:rPr>
              <a:t>sweat</a:t>
            </a:r>
            <a:r>
              <a:rPr lang="en-US" sz="1100" dirty="0">
                <a:solidFill>
                  <a:srgbClr val="262B3A"/>
                </a:solidFill>
                <a:latin typeface="Calibri" pitchFamily="34" charset="0"/>
                <a:ea typeface="Calibri" pitchFamily="34" charset="-122"/>
                <a:cs typeface="Calibri" pitchFamily="34" charset="-120"/>
              </a:rPr>
              <a:t>; water </a:t>
            </a:r>
            <a:r>
              <a:rPr lang="en-US" sz="1100" b="1" dirty="0">
                <a:solidFill>
                  <a:srgbClr val="262B3A"/>
                </a:solidFill>
                <a:latin typeface="Calibri" pitchFamily="34" charset="0"/>
                <a:ea typeface="Calibri" pitchFamily="34" charset="-122"/>
                <a:cs typeface="Calibri" pitchFamily="34" charset="-120"/>
              </a:rPr>
              <a:t>evaporates</a:t>
            </a:r>
            <a:r>
              <a:rPr lang="en-US" sz="1100" dirty="0">
                <a:solidFill>
                  <a:srgbClr val="262B3A"/>
                </a:solidFill>
                <a:latin typeface="Calibri" pitchFamily="34" charset="0"/>
                <a:ea typeface="Calibri" pitchFamily="34" charset="-122"/>
                <a:cs typeface="Calibri" pitchFamily="34" charset="-120"/>
              </a:rPr>
              <a:t>, transferring energy away and cooling the skin. More blood flows near the surface.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Too cold</a:t>
            </a:r>
            <a:r>
              <a:rPr lang="en-US" sz="1100" dirty="0">
                <a:solidFill>
                  <a:srgbClr val="262B3A"/>
                </a:solidFill>
                <a:latin typeface="Calibri" pitchFamily="34" charset="0"/>
                <a:ea typeface="Calibri" pitchFamily="34" charset="-122"/>
                <a:cs typeface="Calibri" pitchFamily="34" charset="-120"/>
              </a:rPr>
              <a:t>: little or no sweat; less blood near the surface; hairs stand up to trap air; </a:t>
            </a:r>
            <a:r>
              <a:rPr lang="en-US" sz="1100" b="1" dirty="0">
                <a:solidFill>
                  <a:srgbClr val="262B3A"/>
                </a:solidFill>
                <a:latin typeface="Calibri" pitchFamily="34" charset="0"/>
                <a:ea typeface="Calibri" pitchFamily="34" charset="-122"/>
                <a:cs typeface="Calibri" pitchFamily="34" charset="-120"/>
              </a:rPr>
              <a:t>shivering</a:t>
            </a:r>
            <a:r>
              <a:rPr lang="en-US" sz="1100" dirty="0">
                <a:solidFill>
                  <a:srgbClr val="262B3A"/>
                </a:solidFill>
                <a:latin typeface="Calibri" pitchFamily="34" charset="0"/>
                <a:ea typeface="Calibri" pitchFamily="34" charset="-122"/>
                <a:cs typeface="Calibri" pitchFamily="34" charset="-120"/>
              </a:rPr>
              <a:t> muscles release heat by respiration.</a:t>
            </a:r>
            <a:endParaRPr lang="en-US" sz="1100" dirty="0"/>
          </a:p>
        </p:txBody>
      </p:sp>
      <p:sp>
        <p:nvSpPr>
          <p:cNvPr id="82" name="Shape 8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83" name="Text 8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Explain the cooling</a:t>
            </a:r>
            <a:endParaRPr lang="en-US" sz="1300" dirty="0"/>
          </a:p>
        </p:txBody>
      </p:sp>
      <p:sp>
        <p:nvSpPr>
          <p:cNvPr id="84" name="Text 82"/>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Explain how sweating cools the body.</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1 Release   </a:t>
            </a:r>
            <a:r>
              <a:rPr lang="en-US" sz="1100" dirty="0">
                <a:solidFill>
                  <a:srgbClr val="262B3A"/>
                </a:solidFill>
                <a:latin typeface="Calibri" pitchFamily="34" charset="0"/>
                <a:ea typeface="Calibri" pitchFamily="34" charset="-122"/>
                <a:cs typeface="Calibri" pitchFamily="34" charset="-120"/>
              </a:rPr>
              <a:t>sweat glands secrete sweat onto the skin</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2 Change   </a:t>
            </a:r>
            <a:r>
              <a:rPr lang="en-US" sz="1100" dirty="0">
                <a:solidFill>
                  <a:srgbClr val="262B3A"/>
                </a:solidFill>
                <a:latin typeface="Calibri" pitchFamily="34" charset="0"/>
                <a:ea typeface="Calibri" pitchFamily="34" charset="-122"/>
                <a:cs typeface="Calibri" pitchFamily="34" charset="-120"/>
              </a:rPr>
              <a:t>water in sweat evaporates</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3 Energy   </a:t>
            </a:r>
            <a:r>
              <a:rPr lang="en-US" sz="1100" dirty="0">
                <a:solidFill>
                  <a:srgbClr val="262B3A"/>
                </a:solidFill>
                <a:latin typeface="Calibri" pitchFamily="34" charset="0"/>
                <a:ea typeface="Calibri" pitchFamily="34" charset="-122"/>
                <a:cs typeface="Calibri" pitchFamily="34" charset="-120"/>
              </a:rPr>
              <a:t>evaporation transfers thermal energy from the skin</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skin and blood are cooled</a:t>
            </a:r>
            <a:endParaRPr lang="en-US" sz="1100" dirty="0"/>
          </a:p>
        </p:txBody>
      </p:sp>
      <p:sp>
        <p:nvSpPr>
          <p:cNvPr id="85" name="Shape 83"/>
          <p:cNvSpPr/>
          <p:nvPr/>
        </p:nvSpPr>
        <p:spPr>
          <a:xfrm>
            <a:off x="411480" y="5833872"/>
            <a:ext cx="11368735" cy="530352"/>
          </a:xfrm>
          <a:prstGeom prst="rect">
            <a:avLst/>
          </a:prstGeom>
          <a:solidFill>
            <a:srgbClr val="FFF4E0"/>
          </a:solidFill>
          <a:ln w="6350">
            <a:solidFill>
              <a:srgbClr val="F1D9A8"/>
            </a:solidFill>
            <a:prstDash val="solid"/>
          </a:ln>
        </p:spPr>
      </p:sp>
      <p:sp>
        <p:nvSpPr>
          <p:cNvPr id="86" name="Shape 84"/>
          <p:cNvSpPr/>
          <p:nvPr/>
        </p:nvSpPr>
        <p:spPr>
          <a:xfrm>
            <a:off x="411480" y="5833872"/>
            <a:ext cx="82296" cy="530352"/>
          </a:xfrm>
          <a:prstGeom prst="rect">
            <a:avLst/>
          </a:prstGeom>
          <a:solidFill>
            <a:srgbClr val="E39A2F"/>
          </a:solidFill>
          <a:ln w="12700">
            <a:solidFill>
              <a:srgbClr val="E39A2F"/>
            </a:solidFill>
            <a:prstDash val="solid"/>
          </a:ln>
        </p:spPr>
      </p:sp>
      <p:sp>
        <p:nvSpPr>
          <p:cNvPr id="87" name="Text 8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structures in the dermis that help to </a:t>
            </a:r>
            <a:r>
              <a:rPr lang="en-US" sz="1150" b="1" dirty="0">
                <a:solidFill>
                  <a:srgbClr val="262B3A"/>
                </a:solidFill>
                <a:latin typeface="Calibri" pitchFamily="34" charset="0"/>
                <a:ea typeface="Calibri" pitchFamily="34" charset="-122"/>
                <a:cs typeface="Calibri" pitchFamily="34" charset="-120"/>
              </a:rPr>
              <a:t>lose heat</a:t>
            </a:r>
            <a:r>
              <a:rPr lang="en-US" sz="1150" dirty="0">
                <a:solidFill>
                  <a:srgbClr val="262B3A"/>
                </a:solidFill>
                <a:latin typeface="Calibri" pitchFamily="34" charset="0"/>
                <a:ea typeface="Calibri" pitchFamily="34" charset="-122"/>
                <a:cs typeface="Calibri" pitchFamily="34" charset="-120"/>
              </a:rPr>
              <a:t> on a hot day. Why does sweat not cool you well in very </a:t>
            </a:r>
            <a:r>
              <a:rPr lang="en-US" sz="1150" b="1" dirty="0">
                <a:solidFill>
                  <a:srgbClr val="262B3A"/>
                </a:solidFill>
                <a:latin typeface="Calibri" pitchFamily="34" charset="0"/>
                <a:ea typeface="Calibri" pitchFamily="34" charset="-122"/>
                <a:cs typeface="Calibri" pitchFamily="34" charset="-120"/>
              </a:rPr>
              <a:t>humid</a:t>
            </a:r>
            <a:r>
              <a:rPr lang="en-US" sz="1150" dirty="0">
                <a:solidFill>
                  <a:srgbClr val="262B3A"/>
                </a:solidFill>
                <a:latin typeface="Calibri" pitchFamily="34" charset="0"/>
                <a:ea typeface="Calibri" pitchFamily="34" charset="-122"/>
                <a:cs typeface="Calibri" pitchFamily="34" charset="-120"/>
              </a:rPr>
              <a:t> air?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The hypothalamus, vasodilation and vasoconstriction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7.12B • how the brain controls body temperature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Shape 6"/>
          <p:cNvSpPr/>
          <p:nvPr/>
        </p:nvSpPr>
        <p:spPr>
          <a:xfrm>
            <a:off x="10042855" y="292608"/>
            <a:ext cx="1188720" cy="274320"/>
          </a:xfrm>
          <a:prstGeom prst="roundRect">
            <a:avLst>
              <a:gd name="adj" fmla="val 50000"/>
            </a:avLst>
          </a:prstGeom>
          <a:solidFill>
            <a:srgbClr val="2A7448"/>
          </a:solidFill>
          <a:ln w="12700">
            <a:solidFill>
              <a:srgbClr val="2A7448"/>
            </a:solidFill>
            <a:prstDash val="solid"/>
          </a:ln>
        </p:spPr>
      </p:sp>
      <p:sp>
        <p:nvSpPr>
          <p:cNvPr id="9" name="Text 7"/>
          <p:cNvSpPr/>
          <p:nvPr/>
        </p:nvSpPr>
        <p:spPr>
          <a:xfrm>
            <a:off x="1004285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BIOLOGY ONLY</a:t>
            </a:r>
            <a:endParaRPr lang="en-US" sz="1000" dirty="0"/>
          </a:p>
        </p:txBody>
      </p:sp>
      <p:sp>
        <p:nvSpPr>
          <p:cNvPr id="10" name="Text 8"/>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11" name="Text 9"/>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7.12B  |  20</a:t>
            </a:r>
            <a:endParaRPr lang="en-US" sz="1000" dirty="0"/>
          </a:p>
        </p:txBody>
      </p:sp>
      <p:sp>
        <p:nvSpPr>
          <p:cNvPr id="12" name="Shape 10"/>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13" name="Text 11"/>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skin arterioles widen or narrow; capillaries themselves do not change</a:t>
            </a:r>
            <a:endParaRPr lang="en-US" sz="1000" dirty="0"/>
          </a:p>
        </p:txBody>
      </p:sp>
      <p:sp>
        <p:nvSpPr>
          <p:cNvPr id="14" name="Shape 12"/>
          <p:cNvSpPr/>
          <p:nvPr/>
        </p:nvSpPr>
        <p:spPr>
          <a:xfrm>
            <a:off x="774497" y="1521562"/>
            <a:ext cx="737006" cy="523037"/>
          </a:xfrm>
          <a:prstGeom prst="ellipse">
            <a:avLst/>
          </a:prstGeom>
          <a:solidFill>
            <a:srgbClr val="F4C7D0"/>
          </a:solidFill>
          <a:ln w="15875">
            <a:solidFill>
              <a:srgbClr val="C98393"/>
            </a:solidFill>
            <a:prstDash val="solid"/>
          </a:ln>
        </p:spPr>
      </p:sp>
      <p:sp>
        <p:nvSpPr>
          <p:cNvPr id="15" name="Shape 13"/>
          <p:cNvSpPr/>
          <p:nvPr/>
        </p:nvSpPr>
        <p:spPr>
          <a:xfrm>
            <a:off x="1143000" y="1545336"/>
            <a:ext cx="91" cy="475488"/>
          </a:xfrm>
          <a:prstGeom prst="line">
            <a:avLst/>
          </a:prstGeom>
          <a:noFill/>
          <a:ln w="12700">
            <a:solidFill>
              <a:srgbClr val="C98393"/>
            </a:solidFill>
            <a:prstDash val="solid"/>
          </a:ln>
        </p:spPr>
      </p:sp>
      <p:sp>
        <p:nvSpPr>
          <p:cNvPr id="16" name="Shape 14"/>
          <p:cNvSpPr/>
          <p:nvPr/>
        </p:nvSpPr>
        <p:spPr>
          <a:xfrm>
            <a:off x="857707" y="1664208"/>
            <a:ext cx="213970" cy="118872"/>
          </a:xfrm>
          <a:prstGeom prst="ellipse">
            <a:avLst/>
          </a:prstGeom>
          <a:ln w="9525">
            <a:solidFill>
              <a:srgbClr val="C98393"/>
            </a:solidFill>
            <a:prstDash val="solid"/>
          </a:ln>
        </p:spPr>
      </p:sp>
      <p:sp>
        <p:nvSpPr>
          <p:cNvPr id="17" name="Shape 15"/>
          <p:cNvSpPr/>
          <p:nvPr/>
        </p:nvSpPr>
        <p:spPr>
          <a:xfrm>
            <a:off x="1214323" y="1783080"/>
            <a:ext cx="213970" cy="118872"/>
          </a:xfrm>
          <a:prstGeom prst="ellipse">
            <a:avLst/>
          </a:prstGeom>
          <a:ln w="9525">
            <a:solidFill>
              <a:srgbClr val="C98393"/>
            </a:solidFill>
            <a:prstDash val="solid"/>
          </a:ln>
        </p:spPr>
      </p:sp>
      <p:sp>
        <p:nvSpPr>
          <p:cNvPr id="18" name="Shape 16"/>
          <p:cNvSpPr/>
          <p:nvPr/>
        </p:nvSpPr>
        <p:spPr>
          <a:xfrm>
            <a:off x="1115568" y="1865376"/>
            <a:ext cx="146304" cy="146304"/>
          </a:xfrm>
          <a:prstGeom prst="ellipse">
            <a:avLst/>
          </a:prstGeom>
          <a:solidFill>
            <a:srgbClr val="C8414C"/>
          </a:solidFill>
          <a:ln w="12700">
            <a:solidFill>
              <a:srgbClr val="8E2A33"/>
            </a:solidFill>
            <a:prstDash val="solid"/>
          </a:ln>
        </p:spPr>
      </p:sp>
      <p:sp>
        <p:nvSpPr>
          <p:cNvPr id="19" name="Text 17"/>
          <p:cNvSpPr/>
          <p:nvPr/>
        </p:nvSpPr>
        <p:spPr>
          <a:xfrm>
            <a:off x="1828800" y="1417320"/>
            <a:ext cx="4023360" cy="68580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Hypothalamus</a:t>
            </a:r>
            <a:r>
              <a:rPr lang="en-US" sz="1050" dirty="0">
                <a:solidFill>
                  <a:srgbClr val="262B3A"/>
                </a:solidFill>
                <a:latin typeface="Calibri" pitchFamily="34" charset="0"/>
                <a:ea typeface="Calibri" pitchFamily="34" charset="-122"/>
                <a:cs typeface="Calibri" pitchFamily="34" charset="-120"/>
              </a:rPr>
              <a:t>: thermoregulatory centre in the brain. Detects </a:t>
            </a:r>
            <a:r>
              <a:rPr lang="en-US" sz="1050" b="1" dirty="0">
                <a:solidFill>
                  <a:srgbClr val="262B3A"/>
                </a:solidFill>
                <a:latin typeface="Calibri" pitchFamily="34" charset="0"/>
                <a:ea typeface="Calibri" pitchFamily="34" charset="-122"/>
                <a:cs typeface="Calibri" pitchFamily="34" charset="-120"/>
              </a:rPr>
              <a:t>blood temperature</a:t>
            </a:r>
            <a:r>
              <a:rPr lang="en-US" sz="1050" dirty="0">
                <a:solidFill>
                  <a:srgbClr val="262B3A"/>
                </a:solidFill>
                <a:latin typeface="Calibri" pitchFamily="34" charset="0"/>
                <a:ea typeface="Calibri" pitchFamily="34" charset="-122"/>
                <a:cs typeface="Calibri" pitchFamily="34" charset="-120"/>
              </a:rPr>
              <a:t>; gets impulses from </a:t>
            </a:r>
            <a:r>
              <a:rPr lang="en-US" sz="1050" b="1" dirty="0">
                <a:solidFill>
                  <a:srgbClr val="262B3A"/>
                </a:solidFill>
                <a:latin typeface="Calibri" pitchFamily="34" charset="0"/>
                <a:ea typeface="Calibri" pitchFamily="34" charset="-122"/>
                <a:cs typeface="Calibri" pitchFamily="34" charset="-120"/>
              </a:rPr>
              <a:t>skin receptors</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20" name="Shape 18"/>
          <p:cNvSpPr/>
          <p:nvPr/>
        </p:nvSpPr>
        <p:spPr>
          <a:xfrm>
            <a:off x="640080" y="2514600"/>
            <a:ext cx="2514600" cy="2606040"/>
          </a:xfrm>
          <a:prstGeom prst="roundRect">
            <a:avLst>
              <a:gd name="adj" fmla="val 1818"/>
            </a:avLst>
          </a:prstGeom>
          <a:solidFill>
            <a:srgbClr val="FFFFFF"/>
          </a:solidFill>
          <a:ln w="19050">
            <a:solidFill>
              <a:srgbClr val="D9534F"/>
            </a:solidFill>
            <a:prstDash val="solid"/>
          </a:ln>
        </p:spPr>
      </p:sp>
      <p:sp>
        <p:nvSpPr>
          <p:cNvPr id="21" name="Text 19"/>
          <p:cNvSpPr/>
          <p:nvPr/>
        </p:nvSpPr>
        <p:spPr>
          <a:xfrm>
            <a:off x="731520" y="2560320"/>
            <a:ext cx="2331720" cy="256032"/>
          </a:xfrm>
          <a:prstGeom prst="rect">
            <a:avLst/>
          </a:prstGeom>
          <a:noFill/>
          <a:ln/>
        </p:spPr>
        <p:txBody>
          <a:bodyPr wrap="square" lIns="0" tIns="0" rIns="0" bIns="0" rtlCol="0" anchor="ctr"/>
          <a:lstStyle/>
          <a:p>
            <a:pPr algn="ctr" indent="0" marL="0">
              <a:buNone/>
            </a:pPr>
            <a:r>
              <a:rPr lang="en-US" sz="1100" b="1" dirty="0">
                <a:solidFill>
                  <a:srgbClr val="D9534F"/>
                </a:solidFill>
                <a:latin typeface="Calibri" pitchFamily="34" charset="0"/>
                <a:ea typeface="Calibri" pitchFamily="34" charset="-122"/>
                <a:cs typeface="Calibri" pitchFamily="34" charset="-120"/>
              </a:rPr>
              <a:t>Too hot: vasodilation</a:t>
            </a:r>
            <a:endParaRPr lang="en-US" sz="1100" dirty="0"/>
          </a:p>
        </p:txBody>
      </p:sp>
      <p:sp>
        <p:nvSpPr>
          <p:cNvPr id="22" name="Shape 20"/>
          <p:cNvSpPr/>
          <p:nvPr/>
        </p:nvSpPr>
        <p:spPr>
          <a:xfrm>
            <a:off x="3023006" y="3017520"/>
            <a:ext cx="54864" cy="91"/>
          </a:xfrm>
          <a:prstGeom prst="line">
            <a:avLst/>
          </a:prstGeom>
          <a:noFill/>
          <a:ln w="19050">
            <a:solidFill>
              <a:srgbClr val="E39A2F"/>
            </a:solidFill>
            <a:prstDash val="solid"/>
          </a:ln>
        </p:spPr>
      </p:sp>
      <p:sp>
        <p:nvSpPr>
          <p:cNvPr id="23" name="Shape 21"/>
          <p:cNvSpPr/>
          <p:nvPr/>
        </p:nvSpPr>
        <p:spPr>
          <a:xfrm>
            <a:off x="2981226" y="3118386"/>
            <a:ext cx="38795" cy="38795"/>
          </a:xfrm>
          <a:prstGeom prst="line">
            <a:avLst/>
          </a:prstGeom>
          <a:noFill/>
          <a:ln w="19050">
            <a:solidFill>
              <a:srgbClr val="E39A2F"/>
            </a:solidFill>
            <a:prstDash val="solid"/>
          </a:ln>
        </p:spPr>
      </p:sp>
      <p:sp>
        <p:nvSpPr>
          <p:cNvPr id="24" name="Shape 22"/>
          <p:cNvSpPr/>
          <p:nvPr/>
        </p:nvSpPr>
        <p:spPr>
          <a:xfrm>
            <a:off x="2880360" y="3160166"/>
            <a:ext cx="91" cy="54864"/>
          </a:xfrm>
          <a:prstGeom prst="line">
            <a:avLst/>
          </a:prstGeom>
          <a:noFill/>
          <a:ln w="19050">
            <a:solidFill>
              <a:srgbClr val="E39A2F"/>
            </a:solidFill>
            <a:prstDash val="solid"/>
          </a:ln>
        </p:spPr>
      </p:sp>
      <p:sp>
        <p:nvSpPr>
          <p:cNvPr id="25" name="Shape 23"/>
          <p:cNvSpPr/>
          <p:nvPr/>
        </p:nvSpPr>
        <p:spPr>
          <a:xfrm flipH="1">
            <a:off x="2740699" y="3118386"/>
            <a:ext cx="38795" cy="38795"/>
          </a:xfrm>
          <a:prstGeom prst="line">
            <a:avLst/>
          </a:prstGeom>
          <a:noFill/>
          <a:ln w="19050">
            <a:solidFill>
              <a:srgbClr val="E39A2F"/>
            </a:solidFill>
            <a:prstDash val="solid"/>
          </a:ln>
        </p:spPr>
      </p:sp>
      <p:sp>
        <p:nvSpPr>
          <p:cNvPr id="26" name="Shape 24"/>
          <p:cNvSpPr/>
          <p:nvPr/>
        </p:nvSpPr>
        <p:spPr>
          <a:xfrm flipH="1">
            <a:off x="2682850" y="3017520"/>
            <a:ext cx="54864" cy="91"/>
          </a:xfrm>
          <a:prstGeom prst="line">
            <a:avLst/>
          </a:prstGeom>
          <a:noFill/>
          <a:ln w="19050">
            <a:solidFill>
              <a:srgbClr val="E39A2F"/>
            </a:solidFill>
            <a:prstDash val="solid"/>
          </a:ln>
        </p:spPr>
      </p:sp>
      <p:sp>
        <p:nvSpPr>
          <p:cNvPr id="27" name="Shape 25"/>
          <p:cNvSpPr/>
          <p:nvPr/>
        </p:nvSpPr>
        <p:spPr>
          <a:xfrm flipH="1" flipV="1">
            <a:off x="2740699" y="2877859"/>
            <a:ext cx="38795" cy="38795"/>
          </a:xfrm>
          <a:prstGeom prst="line">
            <a:avLst/>
          </a:prstGeom>
          <a:noFill/>
          <a:ln w="19050">
            <a:solidFill>
              <a:srgbClr val="E39A2F"/>
            </a:solidFill>
            <a:prstDash val="solid"/>
          </a:ln>
        </p:spPr>
      </p:sp>
      <p:sp>
        <p:nvSpPr>
          <p:cNvPr id="28" name="Shape 26"/>
          <p:cNvSpPr/>
          <p:nvPr/>
        </p:nvSpPr>
        <p:spPr>
          <a:xfrm flipV="1">
            <a:off x="2880360" y="2820010"/>
            <a:ext cx="91" cy="54864"/>
          </a:xfrm>
          <a:prstGeom prst="line">
            <a:avLst/>
          </a:prstGeom>
          <a:noFill/>
          <a:ln w="19050">
            <a:solidFill>
              <a:srgbClr val="E39A2F"/>
            </a:solidFill>
            <a:prstDash val="solid"/>
          </a:ln>
        </p:spPr>
      </p:sp>
      <p:sp>
        <p:nvSpPr>
          <p:cNvPr id="29" name="Shape 27"/>
          <p:cNvSpPr/>
          <p:nvPr/>
        </p:nvSpPr>
        <p:spPr>
          <a:xfrm flipV="1">
            <a:off x="2981226" y="2877859"/>
            <a:ext cx="38795" cy="38795"/>
          </a:xfrm>
          <a:prstGeom prst="line">
            <a:avLst/>
          </a:prstGeom>
          <a:noFill/>
          <a:ln w="19050">
            <a:solidFill>
              <a:srgbClr val="E39A2F"/>
            </a:solidFill>
            <a:prstDash val="solid"/>
          </a:ln>
        </p:spPr>
      </p:sp>
      <p:sp>
        <p:nvSpPr>
          <p:cNvPr id="30" name="Shape 28"/>
          <p:cNvSpPr/>
          <p:nvPr/>
        </p:nvSpPr>
        <p:spPr>
          <a:xfrm>
            <a:off x="2770632" y="2907792"/>
            <a:ext cx="219456" cy="219456"/>
          </a:xfrm>
          <a:prstGeom prst="ellipse">
            <a:avLst/>
          </a:prstGeom>
          <a:solidFill>
            <a:srgbClr val="F5C342"/>
          </a:solidFill>
          <a:ln w="12700">
            <a:solidFill>
              <a:srgbClr val="D9822B"/>
            </a:solidFill>
            <a:prstDash val="solid"/>
          </a:ln>
        </p:spPr>
      </p:sp>
      <p:sp>
        <p:nvSpPr>
          <p:cNvPr id="31" name="Shape 29"/>
          <p:cNvSpPr/>
          <p:nvPr/>
        </p:nvSpPr>
        <p:spPr>
          <a:xfrm>
            <a:off x="777240" y="3200400"/>
            <a:ext cx="2240280" cy="182880"/>
          </a:xfrm>
          <a:prstGeom prst="rect">
            <a:avLst/>
          </a:prstGeom>
          <a:solidFill>
            <a:srgbClr val="F2CFB4"/>
          </a:solidFill>
          <a:ln w="9525">
            <a:solidFill>
              <a:srgbClr val="B98E6E"/>
            </a:solidFill>
            <a:prstDash val="solid"/>
          </a:ln>
        </p:spPr>
      </p:sp>
      <p:sp>
        <p:nvSpPr>
          <p:cNvPr id="32" name="Text 30"/>
          <p:cNvSpPr/>
          <p:nvPr/>
        </p:nvSpPr>
        <p:spPr>
          <a:xfrm>
            <a:off x="777240" y="2944368"/>
            <a:ext cx="1097280" cy="256032"/>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skin surface</a:t>
            </a:r>
            <a:endParaRPr lang="en-US" sz="1000" dirty="0"/>
          </a:p>
        </p:txBody>
      </p:sp>
      <p:sp>
        <p:nvSpPr>
          <p:cNvPr id="33" name="Shape 31"/>
          <p:cNvSpPr/>
          <p:nvPr/>
        </p:nvSpPr>
        <p:spPr>
          <a:xfrm>
            <a:off x="1188720" y="3611880"/>
            <a:ext cx="274320" cy="1280160"/>
          </a:xfrm>
          <a:prstGeom prst="rect">
            <a:avLst/>
          </a:prstGeom>
          <a:solidFill>
            <a:srgbClr val="C8414C"/>
          </a:solidFill>
          <a:ln w="9525">
            <a:solidFill>
              <a:srgbClr val="8E2A33"/>
            </a:solidFill>
            <a:prstDash val="solid"/>
          </a:ln>
        </p:spPr>
      </p:sp>
      <p:sp>
        <p:nvSpPr>
          <p:cNvPr id="34" name="Shape 32"/>
          <p:cNvSpPr/>
          <p:nvPr/>
        </p:nvSpPr>
        <p:spPr>
          <a:xfrm>
            <a:off x="1188720" y="3474720"/>
            <a:ext cx="1234440" cy="146304"/>
          </a:xfrm>
          <a:prstGeom prst="rect">
            <a:avLst/>
          </a:prstGeom>
          <a:solidFill>
            <a:srgbClr val="C8414C"/>
          </a:solidFill>
          <a:ln w="6350">
            <a:solidFill>
              <a:srgbClr val="8E2A33"/>
            </a:solidFill>
            <a:prstDash val="solid"/>
          </a:ln>
        </p:spPr>
      </p:sp>
      <p:sp>
        <p:nvSpPr>
          <p:cNvPr id="35" name="Text 33"/>
          <p:cNvSpPr/>
          <p:nvPr/>
        </p:nvSpPr>
        <p:spPr>
          <a:xfrm>
            <a:off x="1554480" y="4114800"/>
            <a:ext cx="146304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arteriole </a:t>
            </a:r>
            <a:r>
              <a:rPr lang="en-US" sz="1000" b="1" dirty="0">
                <a:solidFill>
                  <a:srgbClr val="262B3A"/>
                </a:solidFill>
                <a:latin typeface="Calibri" pitchFamily="34" charset="0"/>
                <a:ea typeface="Calibri" pitchFamily="34" charset="-122"/>
                <a:cs typeface="Calibri" pitchFamily="34" charset="-120"/>
              </a:rPr>
              <a:t>wider</a:t>
            </a:r>
            <a:endParaRPr lang="en-US" sz="1000" dirty="0"/>
          </a:p>
        </p:txBody>
      </p:sp>
      <p:sp>
        <p:nvSpPr>
          <p:cNvPr id="36" name="Shape 34"/>
          <p:cNvSpPr/>
          <p:nvPr/>
        </p:nvSpPr>
        <p:spPr>
          <a:xfrm>
            <a:off x="1188720" y="3108960"/>
            <a:ext cx="15" cy="91"/>
          </a:xfrm>
          <a:prstGeom prst="line">
            <a:avLst/>
          </a:prstGeom>
          <a:noFill/>
          <a:ln w="12700">
            <a:solidFill>
              <a:srgbClr val="D9534F"/>
            </a:solidFill>
            <a:prstDash val="solid"/>
          </a:ln>
        </p:spPr>
      </p:sp>
      <p:sp>
        <p:nvSpPr>
          <p:cNvPr id="37" name="Shape 35"/>
          <p:cNvSpPr/>
          <p:nvPr/>
        </p:nvSpPr>
        <p:spPr>
          <a:xfrm>
            <a:off x="1188735" y="3108960"/>
            <a:ext cx="15" cy="91"/>
          </a:xfrm>
          <a:prstGeom prst="line">
            <a:avLst/>
          </a:prstGeom>
          <a:noFill/>
          <a:ln w="12700">
            <a:solidFill>
              <a:srgbClr val="D9534F"/>
            </a:solidFill>
            <a:prstDash val="solid"/>
          </a:ln>
        </p:spPr>
      </p:sp>
      <p:sp>
        <p:nvSpPr>
          <p:cNvPr id="38" name="Shape 36"/>
          <p:cNvSpPr/>
          <p:nvPr/>
        </p:nvSpPr>
        <p:spPr>
          <a:xfrm>
            <a:off x="1188750" y="3108960"/>
            <a:ext cx="15" cy="91"/>
          </a:xfrm>
          <a:prstGeom prst="line">
            <a:avLst/>
          </a:prstGeom>
          <a:noFill/>
          <a:ln w="12700">
            <a:solidFill>
              <a:srgbClr val="D9534F"/>
            </a:solidFill>
            <a:prstDash val="solid"/>
          </a:ln>
        </p:spPr>
      </p:sp>
      <p:sp>
        <p:nvSpPr>
          <p:cNvPr id="39" name="Shape 37"/>
          <p:cNvSpPr/>
          <p:nvPr/>
        </p:nvSpPr>
        <p:spPr>
          <a:xfrm>
            <a:off x="1188766" y="3108960"/>
            <a:ext cx="15" cy="91"/>
          </a:xfrm>
          <a:prstGeom prst="line">
            <a:avLst/>
          </a:prstGeom>
          <a:noFill/>
          <a:ln w="12700">
            <a:solidFill>
              <a:srgbClr val="D9534F"/>
            </a:solidFill>
            <a:prstDash val="solid"/>
          </a:ln>
        </p:spPr>
      </p:sp>
      <p:sp>
        <p:nvSpPr>
          <p:cNvPr id="40" name="Shape 38"/>
          <p:cNvSpPr/>
          <p:nvPr/>
        </p:nvSpPr>
        <p:spPr>
          <a:xfrm>
            <a:off x="1188781" y="3108960"/>
            <a:ext cx="15" cy="91"/>
          </a:xfrm>
          <a:prstGeom prst="line">
            <a:avLst/>
          </a:prstGeom>
          <a:noFill/>
          <a:ln w="12700">
            <a:solidFill>
              <a:srgbClr val="D9534F"/>
            </a:solidFill>
            <a:prstDash val="solid"/>
          </a:ln>
        </p:spPr>
      </p:sp>
      <p:sp>
        <p:nvSpPr>
          <p:cNvPr id="41" name="Shape 39"/>
          <p:cNvSpPr/>
          <p:nvPr/>
        </p:nvSpPr>
        <p:spPr>
          <a:xfrm>
            <a:off x="1188796" y="3108960"/>
            <a:ext cx="15" cy="91"/>
          </a:xfrm>
          <a:prstGeom prst="line">
            <a:avLst/>
          </a:prstGeom>
          <a:noFill/>
          <a:ln w="12700">
            <a:solidFill>
              <a:srgbClr val="D9534F"/>
            </a:solidFill>
            <a:prstDash val="solid"/>
          </a:ln>
        </p:spPr>
      </p:sp>
      <p:sp>
        <p:nvSpPr>
          <p:cNvPr id="42" name="Shape 40"/>
          <p:cNvSpPr/>
          <p:nvPr/>
        </p:nvSpPr>
        <p:spPr>
          <a:xfrm>
            <a:off x="1188811" y="3108960"/>
            <a:ext cx="15" cy="91"/>
          </a:xfrm>
          <a:prstGeom prst="line">
            <a:avLst/>
          </a:prstGeom>
          <a:noFill/>
          <a:ln w="12700">
            <a:solidFill>
              <a:srgbClr val="D9534F"/>
            </a:solidFill>
            <a:prstDash val="solid"/>
          </a:ln>
        </p:spPr>
      </p:sp>
      <p:sp>
        <p:nvSpPr>
          <p:cNvPr id="43" name="Shape 41"/>
          <p:cNvSpPr/>
          <p:nvPr/>
        </p:nvSpPr>
        <p:spPr>
          <a:xfrm>
            <a:off x="1188827" y="3108960"/>
            <a:ext cx="15" cy="91"/>
          </a:xfrm>
          <a:prstGeom prst="line">
            <a:avLst/>
          </a:prstGeom>
          <a:noFill/>
          <a:ln w="12700">
            <a:solidFill>
              <a:srgbClr val="D9534F"/>
            </a:solidFill>
            <a:prstDash val="solid"/>
          </a:ln>
        </p:spPr>
      </p:sp>
      <p:sp>
        <p:nvSpPr>
          <p:cNvPr id="44" name="Shape 42"/>
          <p:cNvSpPr/>
          <p:nvPr/>
        </p:nvSpPr>
        <p:spPr>
          <a:xfrm>
            <a:off x="1188842" y="3108960"/>
            <a:ext cx="15" cy="91"/>
          </a:xfrm>
          <a:prstGeom prst="line">
            <a:avLst/>
          </a:prstGeom>
          <a:noFill/>
          <a:ln w="12700">
            <a:solidFill>
              <a:srgbClr val="D9534F"/>
            </a:solidFill>
            <a:prstDash val="solid"/>
          </a:ln>
        </p:spPr>
      </p:sp>
      <p:sp>
        <p:nvSpPr>
          <p:cNvPr id="45" name="Shape 43"/>
          <p:cNvSpPr/>
          <p:nvPr/>
        </p:nvSpPr>
        <p:spPr>
          <a:xfrm>
            <a:off x="1188857" y="3108960"/>
            <a:ext cx="15" cy="91"/>
          </a:xfrm>
          <a:prstGeom prst="line">
            <a:avLst/>
          </a:prstGeom>
          <a:noFill/>
          <a:ln w="12700">
            <a:solidFill>
              <a:srgbClr val="D9534F"/>
            </a:solidFill>
            <a:prstDash val="solid"/>
          </a:ln>
        </p:spPr>
      </p:sp>
      <p:sp>
        <p:nvSpPr>
          <p:cNvPr id="46" name="Shape 44"/>
          <p:cNvSpPr/>
          <p:nvPr/>
        </p:nvSpPr>
        <p:spPr>
          <a:xfrm>
            <a:off x="1188872" y="3108960"/>
            <a:ext cx="15" cy="91"/>
          </a:xfrm>
          <a:prstGeom prst="line">
            <a:avLst/>
          </a:prstGeom>
          <a:noFill/>
          <a:ln w="12700">
            <a:solidFill>
              <a:srgbClr val="D9534F"/>
            </a:solidFill>
            <a:prstDash val="solid"/>
          </a:ln>
        </p:spPr>
      </p:sp>
      <p:sp>
        <p:nvSpPr>
          <p:cNvPr id="47" name="Shape 45"/>
          <p:cNvSpPr/>
          <p:nvPr/>
        </p:nvSpPr>
        <p:spPr>
          <a:xfrm>
            <a:off x="1188888" y="3108960"/>
            <a:ext cx="15" cy="91"/>
          </a:xfrm>
          <a:prstGeom prst="line">
            <a:avLst/>
          </a:prstGeom>
          <a:noFill/>
          <a:ln w="12700">
            <a:solidFill>
              <a:srgbClr val="D9534F"/>
            </a:solidFill>
            <a:prstDash val="solid"/>
          </a:ln>
        </p:spPr>
      </p:sp>
      <p:sp>
        <p:nvSpPr>
          <p:cNvPr id="48" name="Shape 46"/>
          <p:cNvSpPr/>
          <p:nvPr/>
        </p:nvSpPr>
        <p:spPr>
          <a:xfrm>
            <a:off x="1188903" y="3108960"/>
            <a:ext cx="15" cy="91"/>
          </a:xfrm>
          <a:prstGeom prst="line">
            <a:avLst/>
          </a:prstGeom>
          <a:noFill/>
          <a:ln w="12700">
            <a:solidFill>
              <a:srgbClr val="D9534F"/>
            </a:solidFill>
            <a:prstDash val="solid"/>
          </a:ln>
        </p:spPr>
      </p:sp>
      <p:sp>
        <p:nvSpPr>
          <p:cNvPr id="49" name="Shape 47"/>
          <p:cNvSpPr/>
          <p:nvPr/>
        </p:nvSpPr>
        <p:spPr>
          <a:xfrm>
            <a:off x="1188918" y="3108960"/>
            <a:ext cx="15" cy="91"/>
          </a:xfrm>
          <a:prstGeom prst="line">
            <a:avLst/>
          </a:prstGeom>
          <a:noFill/>
          <a:ln w="12700">
            <a:solidFill>
              <a:srgbClr val="D9534F"/>
            </a:solidFill>
            <a:prstDash val="solid"/>
          </a:ln>
        </p:spPr>
      </p:sp>
      <p:sp>
        <p:nvSpPr>
          <p:cNvPr id="50" name="Shape 48"/>
          <p:cNvSpPr/>
          <p:nvPr/>
        </p:nvSpPr>
        <p:spPr>
          <a:xfrm>
            <a:off x="1188933" y="3108960"/>
            <a:ext cx="15" cy="91"/>
          </a:xfrm>
          <a:prstGeom prst="line">
            <a:avLst/>
          </a:prstGeom>
          <a:noFill/>
          <a:ln w="12700">
            <a:solidFill>
              <a:srgbClr val="D9534F"/>
            </a:solidFill>
            <a:prstDash val="solid"/>
          </a:ln>
        </p:spPr>
      </p:sp>
      <p:sp>
        <p:nvSpPr>
          <p:cNvPr id="51" name="Shape 49"/>
          <p:cNvSpPr/>
          <p:nvPr/>
        </p:nvSpPr>
        <p:spPr>
          <a:xfrm>
            <a:off x="1188949" y="3108960"/>
            <a:ext cx="15" cy="91"/>
          </a:xfrm>
          <a:prstGeom prst="line">
            <a:avLst/>
          </a:prstGeom>
          <a:noFill/>
          <a:ln w="12700">
            <a:solidFill>
              <a:srgbClr val="D9534F"/>
            </a:solidFill>
            <a:prstDash val="solid"/>
          </a:ln>
        </p:spPr>
      </p:sp>
      <p:sp>
        <p:nvSpPr>
          <p:cNvPr id="52" name="Shape 50"/>
          <p:cNvSpPr/>
          <p:nvPr/>
        </p:nvSpPr>
        <p:spPr>
          <a:xfrm>
            <a:off x="1188964" y="3108960"/>
            <a:ext cx="15" cy="91"/>
          </a:xfrm>
          <a:prstGeom prst="line">
            <a:avLst/>
          </a:prstGeom>
          <a:noFill/>
          <a:ln w="12700">
            <a:solidFill>
              <a:srgbClr val="D9534F"/>
            </a:solidFill>
            <a:prstDash val="solid"/>
          </a:ln>
        </p:spPr>
      </p:sp>
      <p:sp>
        <p:nvSpPr>
          <p:cNvPr id="53" name="Shape 51"/>
          <p:cNvSpPr/>
          <p:nvPr/>
        </p:nvSpPr>
        <p:spPr>
          <a:xfrm>
            <a:off x="1188979" y="3108960"/>
            <a:ext cx="15" cy="91"/>
          </a:xfrm>
          <a:prstGeom prst="line">
            <a:avLst/>
          </a:prstGeom>
          <a:noFill/>
          <a:ln w="12700">
            <a:solidFill>
              <a:srgbClr val="D9534F"/>
            </a:solidFill>
            <a:prstDash val="solid"/>
          </a:ln>
        </p:spPr>
      </p:sp>
      <p:sp>
        <p:nvSpPr>
          <p:cNvPr id="54" name="Shape 52"/>
          <p:cNvSpPr/>
          <p:nvPr/>
        </p:nvSpPr>
        <p:spPr>
          <a:xfrm>
            <a:off x="1188994" y="3108960"/>
            <a:ext cx="15" cy="91"/>
          </a:xfrm>
          <a:prstGeom prst="line">
            <a:avLst/>
          </a:prstGeom>
          <a:noFill/>
          <a:ln w="12700">
            <a:solidFill>
              <a:srgbClr val="D9534F"/>
            </a:solidFill>
            <a:prstDash val="solid"/>
          </a:ln>
        </p:spPr>
      </p:sp>
      <p:sp>
        <p:nvSpPr>
          <p:cNvPr id="55" name="Shape 53"/>
          <p:cNvSpPr/>
          <p:nvPr/>
        </p:nvSpPr>
        <p:spPr>
          <a:xfrm>
            <a:off x="1189010" y="3108960"/>
            <a:ext cx="15" cy="91"/>
          </a:xfrm>
          <a:prstGeom prst="line">
            <a:avLst/>
          </a:prstGeom>
          <a:noFill/>
          <a:ln w="12700">
            <a:solidFill>
              <a:srgbClr val="D9534F"/>
            </a:solidFill>
            <a:prstDash val="solid"/>
          </a:ln>
        </p:spPr>
      </p:sp>
      <p:sp>
        <p:nvSpPr>
          <p:cNvPr id="56" name="Shape 54"/>
          <p:cNvSpPr/>
          <p:nvPr/>
        </p:nvSpPr>
        <p:spPr>
          <a:xfrm>
            <a:off x="1189025" y="3108960"/>
            <a:ext cx="15" cy="91"/>
          </a:xfrm>
          <a:prstGeom prst="line">
            <a:avLst/>
          </a:prstGeom>
          <a:noFill/>
          <a:ln w="12700">
            <a:solidFill>
              <a:srgbClr val="D9534F"/>
            </a:solidFill>
            <a:prstDash val="solid"/>
          </a:ln>
        </p:spPr>
      </p:sp>
      <p:sp>
        <p:nvSpPr>
          <p:cNvPr id="57" name="Shape 55"/>
          <p:cNvSpPr/>
          <p:nvPr/>
        </p:nvSpPr>
        <p:spPr>
          <a:xfrm>
            <a:off x="1189040" y="3108960"/>
            <a:ext cx="15" cy="91"/>
          </a:xfrm>
          <a:prstGeom prst="line">
            <a:avLst/>
          </a:prstGeom>
          <a:noFill/>
          <a:ln w="12700">
            <a:solidFill>
              <a:srgbClr val="D9534F"/>
            </a:solidFill>
            <a:prstDash val="solid"/>
          </a:ln>
        </p:spPr>
      </p:sp>
      <p:sp>
        <p:nvSpPr>
          <p:cNvPr id="58" name="Shape 56"/>
          <p:cNvSpPr/>
          <p:nvPr/>
        </p:nvSpPr>
        <p:spPr>
          <a:xfrm>
            <a:off x="1189055" y="3108960"/>
            <a:ext cx="15" cy="91"/>
          </a:xfrm>
          <a:prstGeom prst="line">
            <a:avLst/>
          </a:prstGeom>
          <a:noFill/>
          <a:ln w="12700">
            <a:solidFill>
              <a:srgbClr val="D9534F"/>
            </a:solidFill>
            <a:prstDash val="solid"/>
          </a:ln>
        </p:spPr>
      </p:sp>
      <p:sp>
        <p:nvSpPr>
          <p:cNvPr id="59" name="Shape 57"/>
          <p:cNvSpPr/>
          <p:nvPr/>
        </p:nvSpPr>
        <p:spPr>
          <a:xfrm>
            <a:off x="1189071" y="3108960"/>
            <a:ext cx="15" cy="91"/>
          </a:xfrm>
          <a:prstGeom prst="line">
            <a:avLst/>
          </a:prstGeom>
          <a:noFill/>
          <a:ln w="12700">
            <a:solidFill>
              <a:srgbClr val="D9534F"/>
            </a:solidFill>
            <a:prstDash val="solid"/>
          </a:ln>
        </p:spPr>
      </p:sp>
      <p:sp>
        <p:nvSpPr>
          <p:cNvPr id="60" name="Shape 58"/>
          <p:cNvSpPr/>
          <p:nvPr/>
        </p:nvSpPr>
        <p:spPr>
          <a:xfrm>
            <a:off x="1189086" y="3108960"/>
            <a:ext cx="15" cy="91"/>
          </a:xfrm>
          <a:prstGeom prst="line">
            <a:avLst/>
          </a:prstGeom>
          <a:noFill/>
          <a:ln w="12700">
            <a:solidFill>
              <a:srgbClr val="D9534F"/>
            </a:solidFill>
            <a:prstDash val="solid"/>
          </a:ln>
        </p:spPr>
      </p:sp>
      <p:sp>
        <p:nvSpPr>
          <p:cNvPr id="61" name="Shape 59"/>
          <p:cNvSpPr/>
          <p:nvPr/>
        </p:nvSpPr>
        <p:spPr>
          <a:xfrm>
            <a:off x="1189101" y="3108960"/>
            <a:ext cx="15" cy="91"/>
          </a:xfrm>
          <a:prstGeom prst="line">
            <a:avLst/>
          </a:prstGeom>
          <a:noFill/>
          <a:ln w="12700">
            <a:solidFill>
              <a:srgbClr val="D9534F"/>
            </a:solidFill>
            <a:prstDash val="solid"/>
          </a:ln>
        </p:spPr>
      </p:sp>
      <p:sp>
        <p:nvSpPr>
          <p:cNvPr id="62" name="Shape 60"/>
          <p:cNvSpPr/>
          <p:nvPr/>
        </p:nvSpPr>
        <p:spPr>
          <a:xfrm>
            <a:off x="1189116" y="3108960"/>
            <a:ext cx="15" cy="91"/>
          </a:xfrm>
          <a:prstGeom prst="line">
            <a:avLst/>
          </a:prstGeom>
          <a:noFill/>
          <a:ln w="12700">
            <a:solidFill>
              <a:srgbClr val="D9534F"/>
            </a:solidFill>
            <a:prstDash val="solid"/>
          </a:ln>
        </p:spPr>
      </p:sp>
      <p:sp>
        <p:nvSpPr>
          <p:cNvPr id="63" name="Shape 61"/>
          <p:cNvSpPr/>
          <p:nvPr/>
        </p:nvSpPr>
        <p:spPr>
          <a:xfrm>
            <a:off x="1189131" y="3108960"/>
            <a:ext cx="15" cy="91"/>
          </a:xfrm>
          <a:prstGeom prst="line">
            <a:avLst/>
          </a:prstGeom>
          <a:noFill/>
          <a:ln w="12700">
            <a:solidFill>
              <a:srgbClr val="D9534F"/>
            </a:solidFill>
            <a:prstDash val="solid"/>
          </a:ln>
        </p:spPr>
      </p:sp>
      <p:sp>
        <p:nvSpPr>
          <p:cNvPr id="64" name="Shape 62"/>
          <p:cNvSpPr/>
          <p:nvPr/>
        </p:nvSpPr>
        <p:spPr>
          <a:xfrm>
            <a:off x="1189147" y="3108960"/>
            <a:ext cx="15" cy="91"/>
          </a:xfrm>
          <a:prstGeom prst="line">
            <a:avLst/>
          </a:prstGeom>
          <a:noFill/>
          <a:ln w="12700">
            <a:solidFill>
              <a:srgbClr val="D9534F"/>
            </a:solidFill>
            <a:prstDash val="solid"/>
          </a:ln>
        </p:spPr>
      </p:sp>
      <p:sp>
        <p:nvSpPr>
          <p:cNvPr id="65" name="Shape 63"/>
          <p:cNvSpPr/>
          <p:nvPr/>
        </p:nvSpPr>
        <p:spPr>
          <a:xfrm>
            <a:off x="1189162" y="3108960"/>
            <a:ext cx="15" cy="91"/>
          </a:xfrm>
          <a:prstGeom prst="line">
            <a:avLst/>
          </a:prstGeom>
          <a:noFill/>
          <a:ln w="12700">
            <a:solidFill>
              <a:srgbClr val="D9534F"/>
            </a:solidFill>
            <a:prstDash val="solid"/>
          </a:ln>
        </p:spPr>
      </p:sp>
      <p:sp>
        <p:nvSpPr>
          <p:cNvPr id="66" name="Shape 64"/>
          <p:cNvSpPr/>
          <p:nvPr/>
        </p:nvSpPr>
        <p:spPr>
          <a:xfrm>
            <a:off x="1189177" y="3108960"/>
            <a:ext cx="15" cy="91"/>
          </a:xfrm>
          <a:prstGeom prst="line">
            <a:avLst/>
          </a:prstGeom>
          <a:noFill/>
          <a:ln w="12700">
            <a:solidFill>
              <a:srgbClr val="D9534F"/>
            </a:solidFill>
            <a:prstDash val="solid"/>
          </a:ln>
        </p:spPr>
      </p:sp>
      <p:sp>
        <p:nvSpPr>
          <p:cNvPr id="67" name="Shape 65"/>
          <p:cNvSpPr/>
          <p:nvPr/>
        </p:nvSpPr>
        <p:spPr>
          <a:xfrm>
            <a:off x="1189192" y="3108960"/>
            <a:ext cx="15" cy="91"/>
          </a:xfrm>
          <a:prstGeom prst="line">
            <a:avLst/>
          </a:prstGeom>
          <a:noFill/>
          <a:ln w="12700">
            <a:solidFill>
              <a:srgbClr val="D9534F"/>
            </a:solidFill>
            <a:prstDash val="solid"/>
          </a:ln>
        </p:spPr>
      </p:sp>
      <p:sp>
        <p:nvSpPr>
          <p:cNvPr id="68" name="Shape 66"/>
          <p:cNvSpPr/>
          <p:nvPr/>
        </p:nvSpPr>
        <p:spPr>
          <a:xfrm>
            <a:off x="1189208" y="3108960"/>
            <a:ext cx="15" cy="91"/>
          </a:xfrm>
          <a:prstGeom prst="line">
            <a:avLst/>
          </a:prstGeom>
          <a:noFill/>
          <a:ln w="12700">
            <a:solidFill>
              <a:srgbClr val="D9534F"/>
            </a:solidFill>
            <a:prstDash val="solid"/>
          </a:ln>
        </p:spPr>
      </p:sp>
      <p:sp>
        <p:nvSpPr>
          <p:cNvPr id="69" name="Shape 67"/>
          <p:cNvSpPr/>
          <p:nvPr/>
        </p:nvSpPr>
        <p:spPr>
          <a:xfrm>
            <a:off x="1189223" y="3108960"/>
            <a:ext cx="15" cy="91"/>
          </a:xfrm>
          <a:prstGeom prst="line">
            <a:avLst/>
          </a:prstGeom>
          <a:noFill/>
          <a:ln w="12700">
            <a:solidFill>
              <a:srgbClr val="D9534F"/>
            </a:solidFill>
            <a:prstDash val="solid"/>
          </a:ln>
        </p:spPr>
      </p:sp>
      <p:sp>
        <p:nvSpPr>
          <p:cNvPr id="70" name="Shape 68"/>
          <p:cNvSpPr/>
          <p:nvPr/>
        </p:nvSpPr>
        <p:spPr>
          <a:xfrm>
            <a:off x="1189238" y="3108960"/>
            <a:ext cx="15" cy="91"/>
          </a:xfrm>
          <a:prstGeom prst="line">
            <a:avLst/>
          </a:prstGeom>
          <a:noFill/>
          <a:ln w="12700">
            <a:solidFill>
              <a:srgbClr val="D9534F"/>
            </a:solidFill>
            <a:prstDash val="solid"/>
          </a:ln>
        </p:spPr>
      </p:sp>
      <p:sp>
        <p:nvSpPr>
          <p:cNvPr id="71" name="Shape 69"/>
          <p:cNvSpPr/>
          <p:nvPr/>
        </p:nvSpPr>
        <p:spPr>
          <a:xfrm>
            <a:off x="1189253" y="3108960"/>
            <a:ext cx="15" cy="91"/>
          </a:xfrm>
          <a:prstGeom prst="line">
            <a:avLst/>
          </a:prstGeom>
          <a:noFill/>
          <a:ln w="12700">
            <a:solidFill>
              <a:srgbClr val="D9534F"/>
            </a:solidFill>
            <a:prstDash val="solid"/>
          </a:ln>
        </p:spPr>
      </p:sp>
      <p:sp>
        <p:nvSpPr>
          <p:cNvPr id="72" name="Shape 70"/>
          <p:cNvSpPr/>
          <p:nvPr/>
        </p:nvSpPr>
        <p:spPr>
          <a:xfrm>
            <a:off x="1189269" y="3108960"/>
            <a:ext cx="15" cy="91"/>
          </a:xfrm>
          <a:prstGeom prst="line">
            <a:avLst/>
          </a:prstGeom>
          <a:noFill/>
          <a:ln w="12700">
            <a:solidFill>
              <a:srgbClr val="D9534F"/>
            </a:solidFill>
            <a:prstDash val="solid"/>
          </a:ln>
        </p:spPr>
      </p:sp>
      <p:sp>
        <p:nvSpPr>
          <p:cNvPr id="73" name="Shape 71"/>
          <p:cNvSpPr/>
          <p:nvPr/>
        </p:nvSpPr>
        <p:spPr>
          <a:xfrm>
            <a:off x="1189284" y="3108960"/>
            <a:ext cx="15" cy="91"/>
          </a:xfrm>
          <a:prstGeom prst="line">
            <a:avLst/>
          </a:prstGeom>
          <a:noFill/>
          <a:ln w="12700">
            <a:solidFill>
              <a:srgbClr val="D9534F"/>
            </a:solidFill>
            <a:prstDash val="solid"/>
          </a:ln>
        </p:spPr>
      </p:sp>
      <p:sp>
        <p:nvSpPr>
          <p:cNvPr id="74" name="Shape 72"/>
          <p:cNvSpPr/>
          <p:nvPr/>
        </p:nvSpPr>
        <p:spPr>
          <a:xfrm>
            <a:off x="1189299" y="3108960"/>
            <a:ext cx="15" cy="91"/>
          </a:xfrm>
          <a:prstGeom prst="line">
            <a:avLst/>
          </a:prstGeom>
          <a:noFill/>
          <a:ln w="12700">
            <a:solidFill>
              <a:srgbClr val="D9534F"/>
            </a:solidFill>
            <a:prstDash val="solid"/>
          </a:ln>
        </p:spPr>
      </p:sp>
      <p:sp>
        <p:nvSpPr>
          <p:cNvPr id="75" name="Shape 73"/>
          <p:cNvSpPr/>
          <p:nvPr/>
        </p:nvSpPr>
        <p:spPr>
          <a:xfrm>
            <a:off x="1189314" y="3108960"/>
            <a:ext cx="15" cy="91"/>
          </a:xfrm>
          <a:prstGeom prst="line">
            <a:avLst/>
          </a:prstGeom>
          <a:noFill/>
          <a:ln w="12700">
            <a:solidFill>
              <a:srgbClr val="D9534F"/>
            </a:solidFill>
            <a:prstDash val="solid"/>
          </a:ln>
        </p:spPr>
      </p:sp>
      <p:sp>
        <p:nvSpPr>
          <p:cNvPr id="76" name="Shape 74"/>
          <p:cNvSpPr/>
          <p:nvPr/>
        </p:nvSpPr>
        <p:spPr>
          <a:xfrm>
            <a:off x="1189330" y="3108960"/>
            <a:ext cx="15" cy="91"/>
          </a:xfrm>
          <a:prstGeom prst="line">
            <a:avLst/>
          </a:prstGeom>
          <a:noFill/>
          <a:ln w="12700">
            <a:solidFill>
              <a:srgbClr val="D9534F"/>
            </a:solidFill>
            <a:prstDash val="solid"/>
          </a:ln>
        </p:spPr>
      </p:sp>
      <p:sp>
        <p:nvSpPr>
          <p:cNvPr id="77" name="Shape 75"/>
          <p:cNvSpPr/>
          <p:nvPr/>
        </p:nvSpPr>
        <p:spPr>
          <a:xfrm>
            <a:off x="1189345" y="3108960"/>
            <a:ext cx="15" cy="91"/>
          </a:xfrm>
          <a:prstGeom prst="line">
            <a:avLst/>
          </a:prstGeom>
          <a:noFill/>
          <a:ln w="12700">
            <a:solidFill>
              <a:srgbClr val="D9534F"/>
            </a:solidFill>
            <a:prstDash val="solid"/>
          </a:ln>
        </p:spPr>
      </p:sp>
      <p:sp>
        <p:nvSpPr>
          <p:cNvPr id="78" name="Shape 76"/>
          <p:cNvSpPr/>
          <p:nvPr/>
        </p:nvSpPr>
        <p:spPr>
          <a:xfrm>
            <a:off x="1189360" y="3108960"/>
            <a:ext cx="15" cy="91"/>
          </a:xfrm>
          <a:prstGeom prst="line">
            <a:avLst/>
          </a:prstGeom>
          <a:noFill/>
          <a:ln w="12700">
            <a:solidFill>
              <a:srgbClr val="D9534F"/>
            </a:solidFill>
            <a:prstDash val="solid"/>
          </a:ln>
        </p:spPr>
      </p:sp>
      <p:sp>
        <p:nvSpPr>
          <p:cNvPr id="79" name="Shape 77"/>
          <p:cNvSpPr/>
          <p:nvPr/>
        </p:nvSpPr>
        <p:spPr>
          <a:xfrm>
            <a:off x="1189375" y="3108960"/>
            <a:ext cx="15" cy="91"/>
          </a:xfrm>
          <a:prstGeom prst="line">
            <a:avLst/>
          </a:prstGeom>
          <a:noFill/>
          <a:ln w="12700">
            <a:solidFill>
              <a:srgbClr val="D9534F"/>
            </a:solidFill>
            <a:prstDash val="solid"/>
          </a:ln>
        </p:spPr>
      </p:sp>
      <p:sp>
        <p:nvSpPr>
          <p:cNvPr id="80" name="Shape 78"/>
          <p:cNvSpPr/>
          <p:nvPr/>
        </p:nvSpPr>
        <p:spPr>
          <a:xfrm>
            <a:off x="1189391" y="3108960"/>
            <a:ext cx="15" cy="91"/>
          </a:xfrm>
          <a:prstGeom prst="line">
            <a:avLst/>
          </a:prstGeom>
          <a:noFill/>
          <a:ln w="12700">
            <a:solidFill>
              <a:srgbClr val="D9534F"/>
            </a:solidFill>
            <a:prstDash val="solid"/>
          </a:ln>
        </p:spPr>
      </p:sp>
      <p:sp>
        <p:nvSpPr>
          <p:cNvPr id="81" name="Shape 79"/>
          <p:cNvSpPr/>
          <p:nvPr/>
        </p:nvSpPr>
        <p:spPr>
          <a:xfrm>
            <a:off x="1189406" y="3108960"/>
            <a:ext cx="15" cy="91"/>
          </a:xfrm>
          <a:prstGeom prst="line">
            <a:avLst/>
          </a:prstGeom>
          <a:noFill/>
          <a:ln w="12700">
            <a:solidFill>
              <a:srgbClr val="D9534F"/>
            </a:solidFill>
            <a:prstDash val="solid"/>
          </a:ln>
        </p:spPr>
      </p:sp>
      <p:sp>
        <p:nvSpPr>
          <p:cNvPr id="82" name="Shape 80"/>
          <p:cNvSpPr/>
          <p:nvPr/>
        </p:nvSpPr>
        <p:spPr>
          <a:xfrm>
            <a:off x="1189421" y="3108960"/>
            <a:ext cx="15" cy="91"/>
          </a:xfrm>
          <a:prstGeom prst="line">
            <a:avLst/>
          </a:prstGeom>
          <a:noFill/>
          <a:ln w="12700">
            <a:solidFill>
              <a:srgbClr val="D9534F"/>
            </a:solidFill>
            <a:prstDash val="solid"/>
          </a:ln>
        </p:spPr>
      </p:sp>
      <p:sp>
        <p:nvSpPr>
          <p:cNvPr id="83" name="Shape 81"/>
          <p:cNvSpPr/>
          <p:nvPr/>
        </p:nvSpPr>
        <p:spPr>
          <a:xfrm>
            <a:off x="1189436" y="3108960"/>
            <a:ext cx="15" cy="91"/>
          </a:xfrm>
          <a:prstGeom prst="line">
            <a:avLst/>
          </a:prstGeom>
          <a:noFill/>
          <a:ln w="12700">
            <a:solidFill>
              <a:srgbClr val="D9534F"/>
            </a:solidFill>
            <a:prstDash val="solid"/>
          </a:ln>
        </p:spPr>
      </p:sp>
      <p:sp>
        <p:nvSpPr>
          <p:cNvPr id="84" name="Shape 82"/>
          <p:cNvSpPr/>
          <p:nvPr/>
        </p:nvSpPr>
        <p:spPr>
          <a:xfrm>
            <a:off x="1189452" y="3108960"/>
            <a:ext cx="15" cy="91"/>
          </a:xfrm>
          <a:prstGeom prst="line">
            <a:avLst/>
          </a:prstGeom>
          <a:noFill/>
          <a:ln w="12700">
            <a:solidFill>
              <a:srgbClr val="D9534F"/>
            </a:solidFill>
            <a:prstDash val="solid"/>
          </a:ln>
        </p:spPr>
      </p:sp>
      <p:sp>
        <p:nvSpPr>
          <p:cNvPr id="85" name="Shape 83"/>
          <p:cNvSpPr/>
          <p:nvPr/>
        </p:nvSpPr>
        <p:spPr>
          <a:xfrm>
            <a:off x="1189467" y="3108960"/>
            <a:ext cx="15" cy="91"/>
          </a:xfrm>
          <a:prstGeom prst="line">
            <a:avLst/>
          </a:prstGeom>
          <a:noFill/>
          <a:ln w="12700">
            <a:solidFill>
              <a:srgbClr val="D9534F"/>
            </a:solidFill>
            <a:prstDash val="solid"/>
          </a:ln>
        </p:spPr>
      </p:sp>
      <p:sp>
        <p:nvSpPr>
          <p:cNvPr id="86" name="Shape 84"/>
          <p:cNvSpPr/>
          <p:nvPr/>
        </p:nvSpPr>
        <p:spPr>
          <a:xfrm>
            <a:off x="1189482" y="3108960"/>
            <a:ext cx="15" cy="91"/>
          </a:xfrm>
          <a:prstGeom prst="line">
            <a:avLst/>
          </a:prstGeom>
          <a:noFill/>
          <a:ln w="12700">
            <a:solidFill>
              <a:srgbClr val="D9534F"/>
            </a:solidFill>
            <a:prstDash val="solid"/>
          </a:ln>
        </p:spPr>
      </p:sp>
      <p:sp>
        <p:nvSpPr>
          <p:cNvPr id="87" name="Shape 85"/>
          <p:cNvSpPr/>
          <p:nvPr/>
        </p:nvSpPr>
        <p:spPr>
          <a:xfrm>
            <a:off x="1189497" y="3108960"/>
            <a:ext cx="15" cy="91"/>
          </a:xfrm>
          <a:prstGeom prst="line">
            <a:avLst/>
          </a:prstGeom>
          <a:noFill/>
          <a:ln w="12700">
            <a:solidFill>
              <a:srgbClr val="D9534F"/>
            </a:solidFill>
            <a:prstDash val="solid"/>
          </a:ln>
        </p:spPr>
      </p:sp>
      <p:sp>
        <p:nvSpPr>
          <p:cNvPr id="88" name="Shape 86"/>
          <p:cNvSpPr/>
          <p:nvPr/>
        </p:nvSpPr>
        <p:spPr>
          <a:xfrm>
            <a:off x="1189512" y="3108960"/>
            <a:ext cx="15" cy="91"/>
          </a:xfrm>
          <a:prstGeom prst="line">
            <a:avLst/>
          </a:prstGeom>
          <a:noFill/>
          <a:ln w="12700">
            <a:solidFill>
              <a:srgbClr val="D9534F"/>
            </a:solidFill>
            <a:prstDash val="solid"/>
          </a:ln>
        </p:spPr>
      </p:sp>
      <p:sp>
        <p:nvSpPr>
          <p:cNvPr id="89" name="Shape 87"/>
          <p:cNvSpPr/>
          <p:nvPr/>
        </p:nvSpPr>
        <p:spPr>
          <a:xfrm>
            <a:off x="1189528" y="3108960"/>
            <a:ext cx="15" cy="91"/>
          </a:xfrm>
          <a:prstGeom prst="line">
            <a:avLst/>
          </a:prstGeom>
          <a:noFill/>
          <a:ln w="12700">
            <a:solidFill>
              <a:srgbClr val="D9534F"/>
            </a:solidFill>
            <a:prstDash val="solid"/>
          </a:ln>
        </p:spPr>
      </p:sp>
      <p:sp>
        <p:nvSpPr>
          <p:cNvPr id="90" name="Shape 88"/>
          <p:cNvSpPr/>
          <p:nvPr/>
        </p:nvSpPr>
        <p:spPr>
          <a:xfrm>
            <a:off x="1189543" y="3108960"/>
            <a:ext cx="15" cy="91"/>
          </a:xfrm>
          <a:prstGeom prst="line">
            <a:avLst/>
          </a:prstGeom>
          <a:noFill/>
          <a:ln w="12700">
            <a:solidFill>
              <a:srgbClr val="D9534F"/>
            </a:solidFill>
            <a:prstDash val="solid"/>
          </a:ln>
        </p:spPr>
      </p:sp>
      <p:sp>
        <p:nvSpPr>
          <p:cNvPr id="91" name="Shape 89"/>
          <p:cNvSpPr/>
          <p:nvPr/>
        </p:nvSpPr>
        <p:spPr>
          <a:xfrm>
            <a:off x="1189558" y="3108960"/>
            <a:ext cx="15" cy="91"/>
          </a:xfrm>
          <a:prstGeom prst="line">
            <a:avLst/>
          </a:prstGeom>
          <a:noFill/>
          <a:ln w="12700">
            <a:solidFill>
              <a:srgbClr val="D9534F"/>
            </a:solidFill>
            <a:prstDash val="solid"/>
          </a:ln>
        </p:spPr>
      </p:sp>
      <p:sp>
        <p:nvSpPr>
          <p:cNvPr id="92" name="Shape 90"/>
          <p:cNvSpPr/>
          <p:nvPr/>
        </p:nvSpPr>
        <p:spPr>
          <a:xfrm>
            <a:off x="1189573" y="3108960"/>
            <a:ext cx="15" cy="91"/>
          </a:xfrm>
          <a:prstGeom prst="line">
            <a:avLst/>
          </a:prstGeom>
          <a:noFill/>
          <a:ln w="12700">
            <a:solidFill>
              <a:srgbClr val="D9534F"/>
            </a:solidFill>
            <a:prstDash val="solid"/>
          </a:ln>
        </p:spPr>
      </p:sp>
      <p:sp>
        <p:nvSpPr>
          <p:cNvPr id="93" name="Shape 91"/>
          <p:cNvSpPr/>
          <p:nvPr/>
        </p:nvSpPr>
        <p:spPr>
          <a:xfrm>
            <a:off x="1189589" y="3108960"/>
            <a:ext cx="15" cy="91"/>
          </a:xfrm>
          <a:prstGeom prst="line">
            <a:avLst/>
          </a:prstGeom>
          <a:noFill/>
          <a:ln w="12700">
            <a:solidFill>
              <a:srgbClr val="D9534F"/>
            </a:solidFill>
            <a:prstDash val="solid"/>
          </a:ln>
        </p:spPr>
      </p:sp>
      <p:sp>
        <p:nvSpPr>
          <p:cNvPr id="94" name="Shape 92"/>
          <p:cNvSpPr/>
          <p:nvPr/>
        </p:nvSpPr>
        <p:spPr>
          <a:xfrm>
            <a:off x="1189604" y="3108960"/>
            <a:ext cx="15" cy="91"/>
          </a:xfrm>
          <a:prstGeom prst="line">
            <a:avLst/>
          </a:prstGeom>
          <a:noFill/>
          <a:ln w="12700">
            <a:solidFill>
              <a:srgbClr val="D9534F"/>
            </a:solidFill>
            <a:prstDash val="solid"/>
          </a:ln>
        </p:spPr>
      </p:sp>
      <p:sp>
        <p:nvSpPr>
          <p:cNvPr id="95" name="Shape 93"/>
          <p:cNvSpPr/>
          <p:nvPr/>
        </p:nvSpPr>
        <p:spPr>
          <a:xfrm>
            <a:off x="1189619" y="3108960"/>
            <a:ext cx="15" cy="91"/>
          </a:xfrm>
          <a:prstGeom prst="line">
            <a:avLst/>
          </a:prstGeom>
          <a:noFill/>
          <a:ln w="12700">
            <a:solidFill>
              <a:srgbClr val="D9534F"/>
            </a:solidFill>
            <a:prstDash val="solid"/>
          </a:ln>
        </p:spPr>
      </p:sp>
      <p:sp>
        <p:nvSpPr>
          <p:cNvPr id="96" name="Shape 94"/>
          <p:cNvSpPr/>
          <p:nvPr/>
        </p:nvSpPr>
        <p:spPr>
          <a:xfrm flipV="1">
            <a:off x="1188720" y="2834640"/>
            <a:ext cx="91" cy="320040"/>
          </a:xfrm>
          <a:prstGeom prst="line">
            <a:avLst/>
          </a:prstGeom>
          <a:noFill/>
          <a:ln w="22225">
            <a:solidFill>
              <a:srgbClr val="D9534F"/>
            </a:solidFill>
            <a:prstDash val="solid"/>
            <a:tailEnd type="triangle"/>
          </a:ln>
        </p:spPr>
      </p:sp>
      <p:sp>
        <p:nvSpPr>
          <p:cNvPr id="97" name="Shape 95"/>
          <p:cNvSpPr/>
          <p:nvPr/>
        </p:nvSpPr>
        <p:spPr>
          <a:xfrm>
            <a:off x="1645920" y="3108960"/>
            <a:ext cx="15" cy="91"/>
          </a:xfrm>
          <a:prstGeom prst="line">
            <a:avLst/>
          </a:prstGeom>
          <a:noFill/>
          <a:ln w="12700">
            <a:solidFill>
              <a:srgbClr val="D9534F"/>
            </a:solidFill>
            <a:prstDash val="solid"/>
          </a:ln>
        </p:spPr>
      </p:sp>
      <p:sp>
        <p:nvSpPr>
          <p:cNvPr id="98" name="Shape 96"/>
          <p:cNvSpPr/>
          <p:nvPr/>
        </p:nvSpPr>
        <p:spPr>
          <a:xfrm>
            <a:off x="1645935" y="3108960"/>
            <a:ext cx="15" cy="91"/>
          </a:xfrm>
          <a:prstGeom prst="line">
            <a:avLst/>
          </a:prstGeom>
          <a:noFill/>
          <a:ln w="12700">
            <a:solidFill>
              <a:srgbClr val="D9534F"/>
            </a:solidFill>
            <a:prstDash val="solid"/>
          </a:ln>
        </p:spPr>
      </p:sp>
      <p:sp>
        <p:nvSpPr>
          <p:cNvPr id="99" name="Shape 97"/>
          <p:cNvSpPr/>
          <p:nvPr/>
        </p:nvSpPr>
        <p:spPr>
          <a:xfrm>
            <a:off x="1645950" y="3108960"/>
            <a:ext cx="15" cy="91"/>
          </a:xfrm>
          <a:prstGeom prst="line">
            <a:avLst/>
          </a:prstGeom>
          <a:noFill/>
          <a:ln w="12700">
            <a:solidFill>
              <a:srgbClr val="D9534F"/>
            </a:solidFill>
            <a:prstDash val="solid"/>
          </a:ln>
        </p:spPr>
      </p:sp>
      <p:sp>
        <p:nvSpPr>
          <p:cNvPr id="100" name="Shape 98"/>
          <p:cNvSpPr/>
          <p:nvPr/>
        </p:nvSpPr>
        <p:spPr>
          <a:xfrm>
            <a:off x="1645966" y="3108960"/>
            <a:ext cx="15" cy="91"/>
          </a:xfrm>
          <a:prstGeom prst="line">
            <a:avLst/>
          </a:prstGeom>
          <a:noFill/>
          <a:ln w="12700">
            <a:solidFill>
              <a:srgbClr val="D9534F"/>
            </a:solidFill>
            <a:prstDash val="solid"/>
          </a:ln>
        </p:spPr>
      </p:sp>
      <p:sp>
        <p:nvSpPr>
          <p:cNvPr id="101" name="Shape 99"/>
          <p:cNvSpPr/>
          <p:nvPr/>
        </p:nvSpPr>
        <p:spPr>
          <a:xfrm>
            <a:off x="1645981" y="3108960"/>
            <a:ext cx="15" cy="91"/>
          </a:xfrm>
          <a:prstGeom prst="line">
            <a:avLst/>
          </a:prstGeom>
          <a:noFill/>
          <a:ln w="12700">
            <a:solidFill>
              <a:srgbClr val="D9534F"/>
            </a:solidFill>
            <a:prstDash val="solid"/>
          </a:ln>
        </p:spPr>
      </p:sp>
      <p:sp>
        <p:nvSpPr>
          <p:cNvPr id="102" name="Shape 100"/>
          <p:cNvSpPr/>
          <p:nvPr/>
        </p:nvSpPr>
        <p:spPr>
          <a:xfrm>
            <a:off x="1645996" y="3108960"/>
            <a:ext cx="15" cy="91"/>
          </a:xfrm>
          <a:prstGeom prst="line">
            <a:avLst/>
          </a:prstGeom>
          <a:noFill/>
          <a:ln w="12700">
            <a:solidFill>
              <a:srgbClr val="D9534F"/>
            </a:solidFill>
            <a:prstDash val="solid"/>
          </a:ln>
        </p:spPr>
      </p:sp>
      <p:sp>
        <p:nvSpPr>
          <p:cNvPr id="103" name="Shape 101"/>
          <p:cNvSpPr/>
          <p:nvPr/>
        </p:nvSpPr>
        <p:spPr>
          <a:xfrm>
            <a:off x="1646011" y="3108960"/>
            <a:ext cx="15" cy="91"/>
          </a:xfrm>
          <a:prstGeom prst="line">
            <a:avLst/>
          </a:prstGeom>
          <a:noFill/>
          <a:ln w="12700">
            <a:solidFill>
              <a:srgbClr val="D9534F"/>
            </a:solidFill>
            <a:prstDash val="solid"/>
          </a:ln>
        </p:spPr>
      </p:sp>
      <p:sp>
        <p:nvSpPr>
          <p:cNvPr id="104" name="Shape 102"/>
          <p:cNvSpPr/>
          <p:nvPr/>
        </p:nvSpPr>
        <p:spPr>
          <a:xfrm>
            <a:off x="1646027" y="3108960"/>
            <a:ext cx="15" cy="91"/>
          </a:xfrm>
          <a:prstGeom prst="line">
            <a:avLst/>
          </a:prstGeom>
          <a:noFill/>
          <a:ln w="12700">
            <a:solidFill>
              <a:srgbClr val="D9534F"/>
            </a:solidFill>
            <a:prstDash val="solid"/>
          </a:ln>
        </p:spPr>
      </p:sp>
      <p:sp>
        <p:nvSpPr>
          <p:cNvPr id="105" name="Shape 103"/>
          <p:cNvSpPr/>
          <p:nvPr/>
        </p:nvSpPr>
        <p:spPr>
          <a:xfrm>
            <a:off x="1646042" y="3108960"/>
            <a:ext cx="15" cy="91"/>
          </a:xfrm>
          <a:prstGeom prst="line">
            <a:avLst/>
          </a:prstGeom>
          <a:noFill/>
          <a:ln w="12700">
            <a:solidFill>
              <a:srgbClr val="D9534F"/>
            </a:solidFill>
            <a:prstDash val="solid"/>
          </a:ln>
        </p:spPr>
      </p:sp>
      <p:sp>
        <p:nvSpPr>
          <p:cNvPr id="106" name="Shape 104"/>
          <p:cNvSpPr/>
          <p:nvPr/>
        </p:nvSpPr>
        <p:spPr>
          <a:xfrm>
            <a:off x="1646057" y="3108960"/>
            <a:ext cx="15" cy="91"/>
          </a:xfrm>
          <a:prstGeom prst="line">
            <a:avLst/>
          </a:prstGeom>
          <a:noFill/>
          <a:ln w="12700">
            <a:solidFill>
              <a:srgbClr val="D9534F"/>
            </a:solidFill>
            <a:prstDash val="solid"/>
          </a:ln>
        </p:spPr>
      </p:sp>
      <p:sp>
        <p:nvSpPr>
          <p:cNvPr id="107" name="Shape 105"/>
          <p:cNvSpPr/>
          <p:nvPr/>
        </p:nvSpPr>
        <p:spPr>
          <a:xfrm>
            <a:off x="1646072" y="3108960"/>
            <a:ext cx="15" cy="91"/>
          </a:xfrm>
          <a:prstGeom prst="line">
            <a:avLst/>
          </a:prstGeom>
          <a:noFill/>
          <a:ln w="12700">
            <a:solidFill>
              <a:srgbClr val="D9534F"/>
            </a:solidFill>
            <a:prstDash val="solid"/>
          </a:ln>
        </p:spPr>
      </p:sp>
      <p:sp>
        <p:nvSpPr>
          <p:cNvPr id="108" name="Shape 106"/>
          <p:cNvSpPr/>
          <p:nvPr/>
        </p:nvSpPr>
        <p:spPr>
          <a:xfrm>
            <a:off x="1646088" y="3108960"/>
            <a:ext cx="15" cy="91"/>
          </a:xfrm>
          <a:prstGeom prst="line">
            <a:avLst/>
          </a:prstGeom>
          <a:noFill/>
          <a:ln w="12700">
            <a:solidFill>
              <a:srgbClr val="D9534F"/>
            </a:solidFill>
            <a:prstDash val="solid"/>
          </a:ln>
        </p:spPr>
      </p:sp>
      <p:sp>
        <p:nvSpPr>
          <p:cNvPr id="109" name="Shape 107"/>
          <p:cNvSpPr/>
          <p:nvPr/>
        </p:nvSpPr>
        <p:spPr>
          <a:xfrm>
            <a:off x="1646103" y="3108960"/>
            <a:ext cx="15" cy="91"/>
          </a:xfrm>
          <a:prstGeom prst="line">
            <a:avLst/>
          </a:prstGeom>
          <a:noFill/>
          <a:ln w="12700">
            <a:solidFill>
              <a:srgbClr val="D9534F"/>
            </a:solidFill>
            <a:prstDash val="solid"/>
          </a:ln>
        </p:spPr>
      </p:sp>
      <p:sp>
        <p:nvSpPr>
          <p:cNvPr id="110" name="Shape 108"/>
          <p:cNvSpPr/>
          <p:nvPr/>
        </p:nvSpPr>
        <p:spPr>
          <a:xfrm>
            <a:off x="1646118" y="3108960"/>
            <a:ext cx="15" cy="91"/>
          </a:xfrm>
          <a:prstGeom prst="line">
            <a:avLst/>
          </a:prstGeom>
          <a:noFill/>
          <a:ln w="12700">
            <a:solidFill>
              <a:srgbClr val="D9534F"/>
            </a:solidFill>
            <a:prstDash val="solid"/>
          </a:ln>
        </p:spPr>
      </p:sp>
      <p:sp>
        <p:nvSpPr>
          <p:cNvPr id="111" name="Shape 109"/>
          <p:cNvSpPr/>
          <p:nvPr/>
        </p:nvSpPr>
        <p:spPr>
          <a:xfrm>
            <a:off x="1646133" y="3108960"/>
            <a:ext cx="15" cy="91"/>
          </a:xfrm>
          <a:prstGeom prst="line">
            <a:avLst/>
          </a:prstGeom>
          <a:noFill/>
          <a:ln w="12700">
            <a:solidFill>
              <a:srgbClr val="D9534F"/>
            </a:solidFill>
            <a:prstDash val="solid"/>
          </a:ln>
        </p:spPr>
      </p:sp>
      <p:sp>
        <p:nvSpPr>
          <p:cNvPr id="112" name="Shape 110"/>
          <p:cNvSpPr/>
          <p:nvPr/>
        </p:nvSpPr>
        <p:spPr>
          <a:xfrm>
            <a:off x="1646149" y="3108960"/>
            <a:ext cx="15" cy="91"/>
          </a:xfrm>
          <a:prstGeom prst="line">
            <a:avLst/>
          </a:prstGeom>
          <a:noFill/>
          <a:ln w="12700">
            <a:solidFill>
              <a:srgbClr val="D9534F"/>
            </a:solidFill>
            <a:prstDash val="solid"/>
          </a:ln>
        </p:spPr>
      </p:sp>
      <p:sp>
        <p:nvSpPr>
          <p:cNvPr id="113" name="Shape 111"/>
          <p:cNvSpPr/>
          <p:nvPr/>
        </p:nvSpPr>
        <p:spPr>
          <a:xfrm>
            <a:off x="1646164" y="3108960"/>
            <a:ext cx="15" cy="91"/>
          </a:xfrm>
          <a:prstGeom prst="line">
            <a:avLst/>
          </a:prstGeom>
          <a:noFill/>
          <a:ln w="12700">
            <a:solidFill>
              <a:srgbClr val="D9534F"/>
            </a:solidFill>
            <a:prstDash val="solid"/>
          </a:ln>
        </p:spPr>
      </p:sp>
      <p:sp>
        <p:nvSpPr>
          <p:cNvPr id="114" name="Shape 112"/>
          <p:cNvSpPr/>
          <p:nvPr/>
        </p:nvSpPr>
        <p:spPr>
          <a:xfrm>
            <a:off x="1646179" y="3108960"/>
            <a:ext cx="15" cy="91"/>
          </a:xfrm>
          <a:prstGeom prst="line">
            <a:avLst/>
          </a:prstGeom>
          <a:noFill/>
          <a:ln w="12700">
            <a:solidFill>
              <a:srgbClr val="D9534F"/>
            </a:solidFill>
            <a:prstDash val="solid"/>
          </a:ln>
        </p:spPr>
      </p:sp>
      <p:sp>
        <p:nvSpPr>
          <p:cNvPr id="115" name="Shape 113"/>
          <p:cNvSpPr/>
          <p:nvPr/>
        </p:nvSpPr>
        <p:spPr>
          <a:xfrm>
            <a:off x="1646194" y="3108960"/>
            <a:ext cx="15" cy="91"/>
          </a:xfrm>
          <a:prstGeom prst="line">
            <a:avLst/>
          </a:prstGeom>
          <a:noFill/>
          <a:ln w="12700">
            <a:solidFill>
              <a:srgbClr val="D9534F"/>
            </a:solidFill>
            <a:prstDash val="solid"/>
          </a:ln>
        </p:spPr>
      </p:sp>
      <p:sp>
        <p:nvSpPr>
          <p:cNvPr id="116" name="Shape 114"/>
          <p:cNvSpPr/>
          <p:nvPr/>
        </p:nvSpPr>
        <p:spPr>
          <a:xfrm>
            <a:off x="1646210" y="3108960"/>
            <a:ext cx="15" cy="91"/>
          </a:xfrm>
          <a:prstGeom prst="line">
            <a:avLst/>
          </a:prstGeom>
          <a:noFill/>
          <a:ln w="12700">
            <a:solidFill>
              <a:srgbClr val="D9534F"/>
            </a:solidFill>
            <a:prstDash val="solid"/>
          </a:ln>
        </p:spPr>
      </p:sp>
      <p:sp>
        <p:nvSpPr>
          <p:cNvPr id="117" name="Shape 115"/>
          <p:cNvSpPr/>
          <p:nvPr/>
        </p:nvSpPr>
        <p:spPr>
          <a:xfrm>
            <a:off x="1646225" y="3108960"/>
            <a:ext cx="15" cy="91"/>
          </a:xfrm>
          <a:prstGeom prst="line">
            <a:avLst/>
          </a:prstGeom>
          <a:noFill/>
          <a:ln w="12700">
            <a:solidFill>
              <a:srgbClr val="D9534F"/>
            </a:solidFill>
            <a:prstDash val="solid"/>
          </a:ln>
        </p:spPr>
      </p:sp>
      <p:sp>
        <p:nvSpPr>
          <p:cNvPr id="118" name="Shape 116"/>
          <p:cNvSpPr/>
          <p:nvPr/>
        </p:nvSpPr>
        <p:spPr>
          <a:xfrm>
            <a:off x="1646240" y="3108960"/>
            <a:ext cx="15" cy="91"/>
          </a:xfrm>
          <a:prstGeom prst="line">
            <a:avLst/>
          </a:prstGeom>
          <a:noFill/>
          <a:ln w="12700">
            <a:solidFill>
              <a:srgbClr val="D9534F"/>
            </a:solidFill>
            <a:prstDash val="solid"/>
          </a:ln>
        </p:spPr>
      </p:sp>
      <p:sp>
        <p:nvSpPr>
          <p:cNvPr id="119" name="Shape 117"/>
          <p:cNvSpPr/>
          <p:nvPr/>
        </p:nvSpPr>
        <p:spPr>
          <a:xfrm>
            <a:off x="1646255" y="3108960"/>
            <a:ext cx="15" cy="91"/>
          </a:xfrm>
          <a:prstGeom prst="line">
            <a:avLst/>
          </a:prstGeom>
          <a:noFill/>
          <a:ln w="12700">
            <a:solidFill>
              <a:srgbClr val="D9534F"/>
            </a:solidFill>
            <a:prstDash val="solid"/>
          </a:ln>
        </p:spPr>
      </p:sp>
      <p:sp>
        <p:nvSpPr>
          <p:cNvPr id="120" name="Shape 118"/>
          <p:cNvSpPr/>
          <p:nvPr/>
        </p:nvSpPr>
        <p:spPr>
          <a:xfrm>
            <a:off x="1646271" y="3108960"/>
            <a:ext cx="15" cy="91"/>
          </a:xfrm>
          <a:prstGeom prst="line">
            <a:avLst/>
          </a:prstGeom>
          <a:noFill/>
          <a:ln w="12700">
            <a:solidFill>
              <a:srgbClr val="D9534F"/>
            </a:solidFill>
            <a:prstDash val="solid"/>
          </a:ln>
        </p:spPr>
      </p:sp>
      <p:sp>
        <p:nvSpPr>
          <p:cNvPr id="121" name="Shape 119"/>
          <p:cNvSpPr/>
          <p:nvPr/>
        </p:nvSpPr>
        <p:spPr>
          <a:xfrm>
            <a:off x="1646286" y="3108960"/>
            <a:ext cx="15" cy="91"/>
          </a:xfrm>
          <a:prstGeom prst="line">
            <a:avLst/>
          </a:prstGeom>
          <a:noFill/>
          <a:ln w="12700">
            <a:solidFill>
              <a:srgbClr val="D9534F"/>
            </a:solidFill>
            <a:prstDash val="solid"/>
          </a:ln>
        </p:spPr>
      </p:sp>
      <p:sp>
        <p:nvSpPr>
          <p:cNvPr id="122" name="Shape 120"/>
          <p:cNvSpPr/>
          <p:nvPr/>
        </p:nvSpPr>
        <p:spPr>
          <a:xfrm>
            <a:off x="1646301" y="3108960"/>
            <a:ext cx="15" cy="91"/>
          </a:xfrm>
          <a:prstGeom prst="line">
            <a:avLst/>
          </a:prstGeom>
          <a:noFill/>
          <a:ln w="12700">
            <a:solidFill>
              <a:srgbClr val="D9534F"/>
            </a:solidFill>
            <a:prstDash val="solid"/>
          </a:ln>
        </p:spPr>
      </p:sp>
      <p:sp>
        <p:nvSpPr>
          <p:cNvPr id="123" name="Shape 121"/>
          <p:cNvSpPr/>
          <p:nvPr/>
        </p:nvSpPr>
        <p:spPr>
          <a:xfrm>
            <a:off x="1646316" y="3108960"/>
            <a:ext cx="15" cy="91"/>
          </a:xfrm>
          <a:prstGeom prst="line">
            <a:avLst/>
          </a:prstGeom>
          <a:noFill/>
          <a:ln w="12700">
            <a:solidFill>
              <a:srgbClr val="D9534F"/>
            </a:solidFill>
            <a:prstDash val="solid"/>
          </a:ln>
        </p:spPr>
      </p:sp>
      <p:sp>
        <p:nvSpPr>
          <p:cNvPr id="124" name="Shape 122"/>
          <p:cNvSpPr/>
          <p:nvPr/>
        </p:nvSpPr>
        <p:spPr>
          <a:xfrm>
            <a:off x="1646331" y="3108960"/>
            <a:ext cx="15" cy="91"/>
          </a:xfrm>
          <a:prstGeom prst="line">
            <a:avLst/>
          </a:prstGeom>
          <a:noFill/>
          <a:ln w="12700">
            <a:solidFill>
              <a:srgbClr val="D9534F"/>
            </a:solidFill>
            <a:prstDash val="solid"/>
          </a:ln>
        </p:spPr>
      </p:sp>
      <p:sp>
        <p:nvSpPr>
          <p:cNvPr id="125" name="Shape 123"/>
          <p:cNvSpPr/>
          <p:nvPr/>
        </p:nvSpPr>
        <p:spPr>
          <a:xfrm>
            <a:off x="1646347" y="3108960"/>
            <a:ext cx="15" cy="91"/>
          </a:xfrm>
          <a:prstGeom prst="line">
            <a:avLst/>
          </a:prstGeom>
          <a:noFill/>
          <a:ln w="12700">
            <a:solidFill>
              <a:srgbClr val="D9534F"/>
            </a:solidFill>
            <a:prstDash val="solid"/>
          </a:ln>
        </p:spPr>
      </p:sp>
      <p:sp>
        <p:nvSpPr>
          <p:cNvPr id="126" name="Shape 124"/>
          <p:cNvSpPr/>
          <p:nvPr/>
        </p:nvSpPr>
        <p:spPr>
          <a:xfrm>
            <a:off x="1646362" y="3108960"/>
            <a:ext cx="15" cy="91"/>
          </a:xfrm>
          <a:prstGeom prst="line">
            <a:avLst/>
          </a:prstGeom>
          <a:noFill/>
          <a:ln w="12700">
            <a:solidFill>
              <a:srgbClr val="D9534F"/>
            </a:solidFill>
            <a:prstDash val="solid"/>
          </a:ln>
        </p:spPr>
      </p:sp>
      <p:sp>
        <p:nvSpPr>
          <p:cNvPr id="127" name="Shape 125"/>
          <p:cNvSpPr/>
          <p:nvPr/>
        </p:nvSpPr>
        <p:spPr>
          <a:xfrm>
            <a:off x="1646377" y="3108960"/>
            <a:ext cx="15" cy="91"/>
          </a:xfrm>
          <a:prstGeom prst="line">
            <a:avLst/>
          </a:prstGeom>
          <a:noFill/>
          <a:ln w="12700">
            <a:solidFill>
              <a:srgbClr val="D9534F"/>
            </a:solidFill>
            <a:prstDash val="solid"/>
          </a:ln>
        </p:spPr>
      </p:sp>
      <p:sp>
        <p:nvSpPr>
          <p:cNvPr id="128" name="Shape 126"/>
          <p:cNvSpPr/>
          <p:nvPr/>
        </p:nvSpPr>
        <p:spPr>
          <a:xfrm>
            <a:off x="1646392" y="3108960"/>
            <a:ext cx="15" cy="91"/>
          </a:xfrm>
          <a:prstGeom prst="line">
            <a:avLst/>
          </a:prstGeom>
          <a:noFill/>
          <a:ln w="12700">
            <a:solidFill>
              <a:srgbClr val="D9534F"/>
            </a:solidFill>
            <a:prstDash val="solid"/>
          </a:ln>
        </p:spPr>
      </p:sp>
      <p:sp>
        <p:nvSpPr>
          <p:cNvPr id="129" name="Shape 127"/>
          <p:cNvSpPr/>
          <p:nvPr/>
        </p:nvSpPr>
        <p:spPr>
          <a:xfrm>
            <a:off x="1646408" y="3108960"/>
            <a:ext cx="15" cy="91"/>
          </a:xfrm>
          <a:prstGeom prst="line">
            <a:avLst/>
          </a:prstGeom>
          <a:noFill/>
          <a:ln w="12700">
            <a:solidFill>
              <a:srgbClr val="D9534F"/>
            </a:solidFill>
            <a:prstDash val="solid"/>
          </a:ln>
        </p:spPr>
      </p:sp>
      <p:sp>
        <p:nvSpPr>
          <p:cNvPr id="130" name="Shape 128"/>
          <p:cNvSpPr/>
          <p:nvPr/>
        </p:nvSpPr>
        <p:spPr>
          <a:xfrm>
            <a:off x="1646423" y="3108960"/>
            <a:ext cx="15" cy="91"/>
          </a:xfrm>
          <a:prstGeom prst="line">
            <a:avLst/>
          </a:prstGeom>
          <a:noFill/>
          <a:ln w="12700">
            <a:solidFill>
              <a:srgbClr val="D9534F"/>
            </a:solidFill>
            <a:prstDash val="solid"/>
          </a:ln>
        </p:spPr>
      </p:sp>
      <p:sp>
        <p:nvSpPr>
          <p:cNvPr id="131" name="Shape 129"/>
          <p:cNvSpPr/>
          <p:nvPr/>
        </p:nvSpPr>
        <p:spPr>
          <a:xfrm>
            <a:off x="1646438" y="3108960"/>
            <a:ext cx="15" cy="91"/>
          </a:xfrm>
          <a:prstGeom prst="line">
            <a:avLst/>
          </a:prstGeom>
          <a:noFill/>
          <a:ln w="12700">
            <a:solidFill>
              <a:srgbClr val="D9534F"/>
            </a:solidFill>
            <a:prstDash val="solid"/>
          </a:ln>
        </p:spPr>
      </p:sp>
      <p:sp>
        <p:nvSpPr>
          <p:cNvPr id="132" name="Shape 130"/>
          <p:cNvSpPr/>
          <p:nvPr/>
        </p:nvSpPr>
        <p:spPr>
          <a:xfrm>
            <a:off x="1646453" y="3108960"/>
            <a:ext cx="15" cy="91"/>
          </a:xfrm>
          <a:prstGeom prst="line">
            <a:avLst/>
          </a:prstGeom>
          <a:noFill/>
          <a:ln w="12700">
            <a:solidFill>
              <a:srgbClr val="D9534F"/>
            </a:solidFill>
            <a:prstDash val="solid"/>
          </a:ln>
        </p:spPr>
      </p:sp>
      <p:sp>
        <p:nvSpPr>
          <p:cNvPr id="133" name="Shape 131"/>
          <p:cNvSpPr/>
          <p:nvPr/>
        </p:nvSpPr>
        <p:spPr>
          <a:xfrm>
            <a:off x="1646469" y="3108960"/>
            <a:ext cx="15" cy="91"/>
          </a:xfrm>
          <a:prstGeom prst="line">
            <a:avLst/>
          </a:prstGeom>
          <a:noFill/>
          <a:ln w="12700">
            <a:solidFill>
              <a:srgbClr val="D9534F"/>
            </a:solidFill>
            <a:prstDash val="solid"/>
          </a:ln>
        </p:spPr>
      </p:sp>
      <p:sp>
        <p:nvSpPr>
          <p:cNvPr id="134" name="Shape 132"/>
          <p:cNvSpPr/>
          <p:nvPr/>
        </p:nvSpPr>
        <p:spPr>
          <a:xfrm>
            <a:off x="1646484" y="3108960"/>
            <a:ext cx="15" cy="91"/>
          </a:xfrm>
          <a:prstGeom prst="line">
            <a:avLst/>
          </a:prstGeom>
          <a:noFill/>
          <a:ln w="12700">
            <a:solidFill>
              <a:srgbClr val="D9534F"/>
            </a:solidFill>
            <a:prstDash val="solid"/>
          </a:ln>
        </p:spPr>
      </p:sp>
      <p:sp>
        <p:nvSpPr>
          <p:cNvPr id="135" name="Shape 133"/>
          <p:cNvSpPr/>
          <p:nvPr/>
        </p:nvSpPr>
        <p:spPr>
          <a:xfrm>
            <a:off x="1646499" y="3108960"/>
            <a:ext cx="15" cy="91"/>
          </a:xfrm>
          <a:prstGeom prst="line">
            <a:avLst/>
          </a:prstGeom>
          <a:noFill/>
          <a:ln w="12700">
            <a:solidFill>
              <a:srgbClr val="D9534F"/>
            </a:solidFill>
            <a:prstDash val="solid"/>
          </a:ln>
        </p:spPr>
      </p:sp>
      <p:sp>
        <p:nvSpPr>
          <p:cNvPr id="136" name="Shape 134"/>
          <p:cNvSpPr/>
          <p:nvPr/>
        </p:nvSpPr>
        <p:spPr>
          <a:xfrm>
            <a:off x="1646514" y="3108960"/>
            <a:ext cx="15" cy="91"/>
          </a:xfrm>
          <a:prstGeom prst="line">
            <a:avLst/>
          </a:prstGeom>
          <a:noFill/>
          <a:ln w="12700">
            <a:solidFill>
              <a:srgbClr val="D9534F"/>
            </a:solidFill>
            <a:prstDash val="solid"/>
          </a:ln>
        </p:spPr>
      </p:sp>
      <p:sp>
        <p:nvSpPr>
          <p:cNvPr id="137" name="Shape 135"/>
          <p:cNvSpPr/>
          <p:nvPr/>
        </p:nvSpPr>
        <p:spPr>
          <a:xfrm>
            <a:off x="1646530" y="3108960"/>
            <a:ext cx="15" cy="91"/>
          </a:xfrm>
          <a:prstGeom prst="line">
            <a:avLst/>
          </a:prstGeom>
          <a:noFill/>
          <a:ln w="12700">
            <a:solidFill>
              <a:srgbClr val="D9534F"/>
            </a:solidFill>
            <a:prstDash val="solid"/>
          </a:ln>
        </p:spPr>
      </p:sp>
      <p:sp>
        <p:nvSpPr>
          <p:cNvPr id="138" name="Shape 136"/>
          <p:cNvSpPr/>
          <p:nvPr/>
        </p:nvSpPr>
        <p:spPr>
          <a:xfrm>
            <a:off x="1646545" y="3108960"/>
            <a:ext cx="15" cy="91"/>
          </a:xfrm>
          <a:prstGeom prst="line">
            <a:avLst/>
          </a:prstGeom>
          <a:noFill/>
          <a:ln w="12700">
            <a:solidFill>
              <a:srgbClr val="D9534F"/>
            </a:solidFill>
            <a:prstDash val="solid"/>
          </a:ln>
        </p:spPr>
      </p:sp>
      <p:sp>
        <p:nvSpPr>
          <p:cNvPr id="139" name="Shape 137"/>
          <p:cNvSpPr/>
          <p:nvPr/>
        </p:nvSpPr>
        <p:spPr>
          <a:xfrm>
            <a:off x="1646560" y="3108960"/>
            <a:ext cx="15" cy="91"/>
          </a:xfrm>
          <a:prstGeom prst="line">
            <a:avLst/>
          </a:prstGeom>
          <a:noFill/>
          <a:ln w="12700">
            <a:solidFill>
              <a:srgbClr val="D9534F"/>
            </a:solidFill>
            <a:prstDash val="solid"/>
          </a:ln>
        </p:spPr>
      </p:sp>
      <p:sp>
        <p:nvSpPr>
          <p:cNvPr id="140" name="Shape 138"/>
          <p:cNvSpPr/>
          <p:nvPr/>
        </p:nvSpPr>
        <p:spPr>
          <a:xfrm>
            <a:off x="1646575" y="3108960"/>
            <a:ext cx="15" cy="91"/>
          </a:xfrm>
          <a:prstGeom prst="line">
            <a:avLst/>
          </a:prstGeom>
          <a:noFill/>
          <a:ln w="12700">
            <a:solidFill>
              <a:srgbClr val="D9534F"/>
            </a:solidFill>
            <a:prstDash val="solid"/>
          </a:ln>
        </p:spPr>
      </p:sp>
      <p:sp>
        <p:nvSpPr>
          <p:cNvPr id="141" name="Shape 139"/>
          <p:cNvSpPr/>
          <p:nvPr/>
        </p:nvSpPr>
        <p:spPr>
          <a:xfrm>
            <a:off x="1646591" y="3108960"/>
            <a:ext cx="15" cy="91"/>
          </a:xfrm>
          <a:prstGeom prst="line">
            <a:avLst/>
          </a:prstGeom>
          <a:noFill/>
          <a:ln w="12700">
            <a:solidFill>
              <a:srgbClr val="D9534F"/>
            </a:solidFill>
            <a:prstDash val="solid"/>
          </a:ln>
        </p:spPr>
      </p:sp>
      <p:sp>
        <p:nvSpPr>
          <p:cNvPr id="142" name="Shape 140"/>
          <p:cNvSpPr/>
          <p:nvPr/>
        </p:nvSpPr>
        <p:spPr>
          <a:xfrm>
            <a:off x="1646606" y="3108960"/>
            <a:ext cx="15" cy="91"/>
          </a:xfrm>
          <a:prstGeom prst="line">
            <a:avLst/>
          </a:prstGeom>
          <a:noFill/>
          <a:ln w="12700">
            <a:solidFill>
              <a:srgbClr val="D9534F"/>
            </a:solidFill>
            <a:prstDash val="solid"/>
          </a:ln>
        </p:spPr>
      </p:sp>
      <p:sp>
        <p:nvSpPr>
          <p:cNvPr id="143" name="Shape 141"/>
          <p:cNvSpPr/>
          <p:nvPr/>
        </p:nvSpPr>
        <p:spPr>
          <a:xfrm>
            <a:off x="1646621" y="3108960"/>
            <a:ext cx="15" cy="91"/>
          </a:xfrm>
          <a:prstGeom prst="line">
            <a:avLst/>
          </a:prstGeom>
          <a:noFill/>
          <a:ln w="12700">
            <a:solidFill>
              <a:srgbClr val="D9534F"/>
            </a:solidFill>
            <a:prstDash val="solid"/>
          </a:ln>
        </p:spPr>
      </p:sp>
      <p:sp>
        <p:nvSpPr>
          <p:cNvPr id="144" name="Shape 142"/>
          <p:cNvSpPr/>
          <p:nvPr/>
        </p:nvSpPr>
        <p:spPr>
          <a:xfrm>
            <a:off x="1646636" y="3108960"/>
            <a:ext cx="15" cy="91"/>
          </a:xfrm>
          <a:prstGeom prst="line">
            <a:avLst/>
          </a:prstGeom>
          <a:noFill/>
          <a:ln w="12700">
            <a:solidFill>
              <a:srgbClr val="D9534F"/>
            </a:solidFill>
            <a:prstDash val="solid"/>
          </a:ln>
        </p:spPr>
      </p:sp>
      <p:sp>
        <p:nvSpPr>
          <p:cNvPr id="145" name="Shape 143"/>
          <p:cNvSpPr/>
          <p:nvPr/>
        </p:nvSpPr>
        <p:spPr>
          <a:xfrm>
            <a:off x="1646652" y="3108960"/>
            <a:ext cx="15" cy="91"/>
          </a:xfrm>
          <a:prstGeom prst="line">
            <a:avLst/>
          </a:prstGeom>
          <a:noFill/>
          <a:ln w="12700">
            <a:solidFill>
              <a:srgbClr val="D9534F"/>
            </a:solidFill>
            <a:prstDash val="solid"/>
          </a:ln>
        </p:spPr>
      </p:sp>
      <p:sp>
        <p:nvSpPr>
          <p:cNvPr id="146" name="Shape 144"/>
          <p:cNvSpPr/>
          <p:nvPr/>
        </p:nvSpPr>
        <p:spPr>
          <a:xfrm>
            <a:off x="1646667" y="3108960"/>
            <a:ext cx="15" cy="91"/>
          </a:xfrm>
          <a:prstGeom prst="line">
            <a:avLst/>
          </a:prstGeom>
          <a:noFill/>
          <a:ln w="12700">
            <a:solidFill>
              <a:srgbClr val="D9534F"/>
            </a:solidFill>
            <a:prstDash val="solid"/>
          </a:ln>
        </p:spPr>
      </p:sp>
      <p:sp>
        <p:nvSpPr>
          <p:cNvPr id="147" name="Shape 145"/>
          <p:cNvSpPr/>
          <p:nvPr/>
        </p:nvSpPr>
        <p:spPr>
          <a:xfrm>
            <a:off x="1646682" y="3108960"/>
            <a:ext cx="15" cy="91"/>
          </a:xfrm>
          <a:prstGeom prst="line">
            <a:avLst/>
          </a:prstGeom>
          <a:noFill/>
          <a:ln w="12700">
            <a:solidFill>
              <a:srgbClr val="D9534F"/>
            </a:solidFill>
            <a:prstDash val="solid"/>
          </a:ln>
        </p:spPr>
      </p:sp>
      <p:sp>
        <p:nvSpPr>
          <p:cNvPr id="148" name="Shape 146"/>
          <p:cNvSpPr/>
          <p:nvPr/>
        </p:nvSpPr>
        <p:spPr>
          <a:xfrm>
            <a:off x="1646697" y="3108960"/>
            <a:ext cx="15" cy="91"/>
          </a:xfrm>
          <a:prstGeom prst="line">
            <a:avLst/>
          </a:prstGeom>
          <a:noFill/>
          <a:ln w="12700">
            <a:solidFill>
              <a:srgbClr val="D9534F"/>
            </a:solidFill>
            <a:prstDash val="solid"/>
          </a:ln>
        </p:spPr>
      </p:sp>
      <p:sp>
        <p:nvSpPr>
          <p:cNvPr id="149" name="Shape 147"/>
          <p:cNvSpPr/>
          <p:nvPr/>
        </p:nvSpPr>
        <p:spPr>
          <a:xfrm>
            <a:off x="1646712" y="3108960"/>
            <a:ext cx="15" cy="91"/>
          </a:xfrm>
          <a:prstGeom prst="line">
            <a:avLst/>
          </a:prstGeom>
          <a:noFill/>
          <a:ln w="12700">
            <a:solidFill>
              <a:srgbClr val="D9534F"/>
            </a:solidFill>
            <a:prstDash val="solid"/>
          </a:ln>
        </p:spPr>
      </p:sp>
      <p:sp>
        <p:nvSpPr>
          <p:cNvPr id="150" name="Shape 148"/>
          <p:cNvSpPr/>
          <p:nvPr/>
        </p:nvSpPr>
        <p:spPr>
          <a:xfrm>
            <a:off x="1646728" y="3108960"/>
            <a:ext cx="15" cy="91"/>
          </a:xfrm>
          <a:prstGeom prst="line">
            <a:avLst/>
          </a:prstGeom>
          <a:noFill/>
          <a:ln w="12700">
            <a:solidFill>
              <a:srgbClr val="D9534F"/>
            </a:solidFill>
            <a:prstDash val="solid"/>
          </a:ln>
        </p:spPr>
      </p:sp>
      <p:sp>
        <p:nvSpPr>
          <p:cNvPr id="151" name="Shape 149"/>
          <p:cNvSpPr/>
          <p:nvPr/>
        </p:nvSpPr>
        <p:spPr>
          <a:xfrm>
            <a:off x="1646743" y="3108960"/>
            <a:ext cx="15" cy="91"/>
          </a:xfrm>
          <a:prstGeom prst="line">
            <a:avLst/>
          </a:prstGeom>
          <a:noFill/>
          <a:ln w="12700">
            <a:solidFill>
              <a:srgbClr val="D9534F"/>
            </a:solidFill>
            <a:prstDash val="solid"/>
          </a:ln>
        </p:spPr>
      </p:sp>
      <p:sp>
        <p:nvSpPr>
          <p:cNvPr id="152" name="Shape 150"/>
          <p:cNvSpPr/>
          <p:nvPr/>
        </p:nvSpPr>
        <p:spPr>
          <a:xfrm>
            <a:off x="1646758" y="3108960"/>
            <a:ext cx="15" cy="91"/>
          </a:xfrm>
          <a:prstGeom prst="line">
            <a:avLst/>
          </a:prstGeom>
          <a:noFill/>
          <a:ln w="12700">
            <a:solidFill>
              <a:srgbClr val="D9534F"/>
            </a:solidFill>
            <a:prstDash val="solid"/>
          </a:ln>
        </p:spPr>
      </p:sp>
      <p:sp>
        <p:nvSpPr>
          <p:cNvPr id="153" name="Shape 151"/>
          <p:cNvSpPr/>
          <p:nvPr/>
        </p:nvSpPr>
        <p:spPr>
          <a:xfrm>
            <a:off x="1646773" y="3108960"/>
            <a:ext cx="15" cy="91"/>
          </a:xfrm>
          <a:prstGeom prst="line">
            <a:avLst/>
          </a:prstGeom>
          <a:noFill/>
          <a:ln w="12700">
            <a:solidFill>
              <a:srgbClr val="D9534F"/>
            </a:solidFill>
            <a:prstDash val="solid"/>
          </a:ln>
        </p:spPr>
      </p:sp>
      <p:sp>
        <p:nvSpPr>
          <p:cNvPr id="154" name="Shape 152"/>
          <p:cNvSpPr/>
          <p:nvPr/>
        </p:nvSpPr>
        <p:spPr>
          <a:xfrm>
            <a:off x="1646789" y="3108960"/>
            <a:ext cx="15" cy="91"/>
          </a:xfrm>
          <a:prstGeom prst="line">
            <a:avLst/>
          </a:prstGeom>
          <a:noFill/>
          <a:ln w="12700">
            <a:solidFill>
              <a:srgbClr val="D9534F"/>
            </a:solidFill>
            <a:prstDash val="solid"/>
          </a:ln>
        </p:spPr>
      </p:sp>
      <p:sp>
        <p:nvSpPr>
          <p:cNvPr id="155" name="Shape 153"/>
          <p:cNvSpPr/>
          <p:nvPr/>
        </p:nvSpPr>
        <p:spPr>
          <a:xfrm>
            <a:off x="1646804" y="3108960"/>
            <a:ext cx="15" cy="91"/>
          </a:xfrm>
          <a:prstGeom prst="line">
            <a:avLst/>
          </a:prstGeom>
          <a:noFill/>
          <a:ln w="12700">
            <a:solidFill>
              <a:srgbClr val="D9534F"/>
            </a:solidFill>
            <a:prstDash val="solid"/>
          </a:ln>
        </p:spPr>
      </p:sp>
      <p:sp>
        <p:nvSpPr>
          <p:cNvPr id="156" name="Shape 154"/>
          <p:cNvSpPr/>
          <p:nvPr/>
        </p:nvSpPr>
        <p:spPr>
          <a:xfrm>
            <a:off x="1646819" y="3108960"/>
            <a:ext cx="15" cy="91"/>
          </a:xfrm>
          <a:prstGeom prst="line">
            <a:avLst/>
          </a:prstGeom>
          <a:noFill/>
          <a:ln w="12700">
            <a:solidFill>
              <a:srgbClr val="D9534F"/>
            </a:solidFill>
            <a:prstDash val="solid"/>
          </a:ln>
        </p:spPr>
      </p:sp>
      <p:sp>
        <p:nvSpPr>
          <p:cNvPr id="157" name="Shape 155"/>
          <p:cNvSpPr/>
          <p:nvPr/>
        </p:nvSpPr>
        <p:spPr>
          <a:xfrm flipV="1">
            <a:off x="1645920" y="2834640"/>
            <a:ext cx="91" cy="320040"/>
          </a:xfrm>
          <a:prstGeom prst="line">
            <a:avLst/>
          </a:prstGeom>
          <a:noFill/>
          <a:ln w="22225">
            <a:solidFill>
              <a:srgbClr val="D9534F"/>
            </a:solidFill>
            <a:prstDash val="solid"/>
            <a:tailEnd type="triangle"/>
          </a:ln>
        </p:spPr>
      </p:sp>
      <p:sp>
        <p:nvSpPr>
          <p:cNvPr id="158" name="Shape 156"/>
          <p:cNvSpPr/>
          <p:nvPr/>
        </p:nvSpPr>
        <p:spPr>
          <a:xfrm>
            <a:off x="2103120" y="3108960"/>
            <a:ext cx="15" cy="91"/>
          </a:xfrm>
          <a:prstGeom prst="line">
            <a:avLst/>
          </a:prstGeom>
          <a:noFill/>
          <a:ln w="12700">
            <a:solidFill>
              <a:srgbClr val="D9534F"/>
            </a:solidFill>
            <a:prstDash val="solid"/>
          </a:ln>
        </p:spPr>
      </p:sp>
      <p:sp>
        <p:nvSpPr>
          <p:cNvPr id="159" name="Shape 157"/>
          <p:cNvSpPr/>
          <p:nvPr/>
        </p:nvSpPr>
        <p:spPr>
          <a:xfrm>
            <a:off x="2103135" y="3108960"/>
            <a:ext cx="15" cy="91"/>
          </a:xfrm>
          <a:prstGeom prst="line">
            <a:avLst/>
          </a:prstGeom>
          <a:noFill/>
          <a:ln w="12700">
            <a:solidFill>
              <a:srgbClr val="D9534F"/>
            </a:solidFill>
            <a:prstDash val="solid"/>
          </a:ln>
        </p:spPr>
      </p:sp>
      <p:sp>
        <p:nvSpPr>
          <p:cNvPr id="160" name="Shape 158"/>
          <p:cNvSpPr/>
          <p:nvPr/>
        </p:nvSpPr>
        <p:spPr>
          <a:xfrm>
            <a:off x="2103150" y="3108960"/>
            <a:ext cx="15" cy="91"/>
          </a:xfrm>
          <a:prstGeom prst="line">
            <a:avLst/>
          </a:prstGeom>
          <a:noFill/>
          <a:ln w="12700">
            <a:solidFill>
              <a:srgbClr val="D9534F"/>
            </a:solidFill>
            <a:prstDash val="solid"/>
          </a:ln>
        </p:spPr>
      </p:sp>
      <p:sp>
        <p:nvSpPr>
          <p:cNvPr id="161" name="Shape 159"/>
          <p:cNvSpPr/>
          <p:nvPr/>
        </p:nvSpPr>
        <p:spPr>
          <a:xfrm>
            <a:off x="2103166" y="3108960"/>
            <a:ext cx="15" cy="91"/>
          </a:xfrm>
          <a:prstGeom prst="line">
            <a:avLst/>
          </a:prstGeom>
          <a:noFill/>
          <a:ln w="12700">
            <a:solidFill>
              <a:srgbClr val="D9534F"/>
            </a:solidFill>
            <a:prstDash val="solid"/>
          </a:ln>
        </p:spPr>
      </p:sp>
      <p:sp>
        <p:nvSpPr>
          <p:cNvPr id="162" name="Shape 160"/>
          <p:cNvSpPr/>
          <p:nvPr/>
        </p:nvSpPr>
        <p:spPr>
          <a:xfrm>
            <a:off x="2103181" y="3108960"/>
            <a:ext cx="15" cy="91"/>
          </a:xfrm>
          <a:prstGeom prst="line">
            <a:avLst/>
          </a:prstGeom>
          <a:noFill/>
          <a:ln w="12700">
            <a:solidFill>
              <a:srgbClr val="D9534F"/>
            </a:solidFill>
            <a:prstDash val="solid"/>
          </a:ln>
        </p:spPr>
      </p:sp>
      <p:sp>
        <p:nvSpPr>
          <p:cNvPr id="163" name="Shape 161"/>
          <p:cNvSpPr/>
          <p:nvPr/>
        </p:nvSpPr>
        <p:spPr>
          <a:xfrm>
            <a:off x="2103196" y="3108960"/>
            <a:ext cx="15" cy="91"/>
          </a:xfrm>
          <a:prstGeom prst="line">
            <a:avLst/>
          </a:prstGeom>
          <a:noFill/>
          <a:ln w="12700">
            <a:solidFill>
              <a:srgbClr val="D9534F"/>
            </a:solidFill>
            <a:prstDash val="solid"/>
          </a:ln>
        </p:spPr>
      </p:sp>
      <p:sp>
        <p:nvSpPr>
          <p:cNvPr id="164" name="Shape 162"/>
          <p:cNvSpPr/>
          <p:nvPr/>
        </p:nvSpPr>
        <p:spPr>
          <a:xfrm>
            <a:off x="2103211" y="3108960"/>
            <a:ext cx="15" cy="91"/>
          </a:xfrm>
          <a:prstGeom prst="line">
            <a:avLst/>
          </a:prstGeom>
          <a:noFill/>
          <a:ln w="12700">
            <a:solidFill>
              <a:srgbClr val="D9534F"/>
            </a:solidFill>
            <a:prstDash val="solid"/>
          </a:ln>
        </p:spPr>
      </p:sp>
      <p:sp>
        <p:nvSpPr>
          <p:cNvPr id="165" name="Shape 163"/>
          <p:cNvSpPr/>
          <p:nvPr/>
        </p:nvSpPr>
        <p:spPr>
          <a:xfrm>
            <a:off x="2103227" y="3108960"/>
            <a:ext cx="15" cy="91"/>
          </a:xfrm>
          <a:prstGeom prst="line">
            <a:avLst/>
          </a:prstGeom>
          <a:noFill/>
          <a:ln w="12700">
            <a:solidFill>
              <a:srgbClr val="D9534F"/>
            </a:solidFill>
            <a:prstDash val="solid"/>
          </a:ln>
        </p:spPr>
      </p:sp>
      <p:sp>
        <p:nvSpPr>
          <p:cNvPr id="166" name="Shape 164"/>
          <p:cNvSpPr/>
          <p:nvPr/>
        </p:nvSpPr>
        <p:spPr>
          <a:xfrm>
            <a:off x="2103242" y="3108960"/>
            <a:ext cx="15" cy="91"/>
          </a:xfrm>
          <a:prstGeom prst="line">
            <a:avLst/>
          </a:prstGeom>
          <a:noFill/>
          <a:ln w="12700">
            <a:solidFill>
              <a:srgbClr val="D9534F"/>
            </a:solidFill>
            <a:prstDash val="solid"/>
          </a:ln>
        </p:spPr>
      </p:sp>
      <p:sp>
        <p:nvSpPr>
          <p:cNvPr id="167" name="Shape 165"/>
          <p:cNvSpPr/>
          <p:nvPr/>
        </p:nvSpPr>
        <p:spPr>
          <a:xfrm>
            <a:off x="2103257" y="3108960"/>
            <a:ext cx="15" cy="91"/>
          </a:xfrm>
          <a:prstGeom prst="line">
            <a:avLst/>
          </a:prstGeom>
          <a:noFill/>
          <a:ln w="12700">
            <a:solidFill>
              <a:srgbClr val="D9534F"/>
            </a:solidFill>
            <a:prstDash val="solid"/>
          </a:ln>
        </p:spPr>
      </p:sp>
      <p:sp>
        <p:nvSpPr>
          <p:cNvPr id="168" name="Shape 166"/>
          <p:cNvSpPr/>
          <p:nvPr/>
        </p:nvSpPr>
        <p:spPr>
          <a:xfrm>
            <a:off x="2103272" y="3108960"/>
            <a:ext cx="15" cy="91"/>
          </a:xfrm>
          <a:prstGeom prst="line">
            <a:avLst/>
          </a:prstGeom>
          <a:noFill/>
          <a:ln w="12700">
            <a:solidFill>
              <a:srgbClr val="D9534F"/>
            </a:solidFill>
            <a:prstDash val="solid"/>
          </a:ln>
        </p:spPr>
      </p:sp>
      <p:sp>
        <p:nvSpPr>
          <p:cNvPr id="169" name="Shape 167"/>
          <p:cNvSpPr/>
          <p:nvPr/>
        </p:nvSpPr>
        <p:spPr>
          <a:xfrm>
            <a:off x="2103288" y="3108960"/>
            <a:ext cx="15" cy="91"/>
          </a:xfrm>
          <a:prstGeom prst="line">
            <a:avLst/>
          </a:prstGeom>
          <a:noFill/>
          <a:ln w="12700">
            <a:solidFill>
              <a:srgbClr val="D9534F"/>
            </a:solidFill>
            <a:prstDash val="solid"/>
          </a:ln>
        </p:spPr>
      </p:sp>
      <p:sp>
        <p:nvSpPr>
          <p:cNvPr id="170" name="Shape 168"/>
          <p:cNvSpPr/>
          <p:nvPr/>
        </p:nvSpPr>
        <p:spPr>
          <a:xfrm>
            <a:off x="2103303" y="3108960"/>
            <a:ext cx="15" cy="91"/>
          </a:xfrm>
          <a:prstGeom prst="line">
            <a:avLst/>
          </a:prstGeom>
          <a:noFill/>
          <a:ln w="12700">
            <a:solidFill>
              <a:srgbClr val="D9534F"/>
            </a:solidFill>
            <a:prstDash val="solid"/>
          </a:ln>
        </p:spPr>
      </p:sp>
      <p:sp>
        <p:nvSpPr>
          <p:cNvPr id="171" name="Shape 169"/>
          <p:cNvSpPr/>
          <p:nvPr/>
        </p:nvSpPr>
        <p:spPr>
          <a:xfrm>
            <a:off x="2103318" y="3108960"/>
            <a:ext cx="15" cy="91"/>
          </a:xfrm>
          <a:prstGeom prst="line">
            <a:avLst/>
          </a:prstGeom>
          <a:noFill/>
          <a:ln w="12700">
            <a:solidFill>
              <a:srgbClr val="D9534F"/>
            </a:solidFill>
            <a:prstDash val="solid"/>
          </a:ln>
        </p:spPr>
      </p:sp>
      <p:sp>
        <p:nvSpPr>
          <p:cNvPr id="172" name="Shape 170"/>
          <p:cNvSpPr/>
          <p:nvPr/>
        </p:nvSpPr>
        <p:spPr>
          <a:xfrm>
            <a:off x="2103333" y="3108960"/>
            <a:ext cx="15" cy="91"/>
          </a:xfrm>
          <a:prstGeom prst="line">
            <a:avLst/>
          </a:prstGeom>
          <a:noFill/>
          <a:ln w="12700">
            <a:solidFill>
              <a:srgbClr val="D9534F"/>
            </a:solidFill>
            <a:prstDash val="solid"/>
          </a:ln>
        </p:spPr>
      </p:sp>
      <p:sp>
        <p:nvSpPr>
          <p:cNvPr id="173" name="Shape 171"/>
          <p:cNvSpPr/>
          <p:nvPr/>
        </p:nvSpPr>
        <p:spPr>
          <a:xfrm>
            <a:off x="2103349" y="3108960"/>
            <a:ext cx="15" cy="91"/>
          </a:xfrm>
          <a:prstGeom prst="line">
            <a:avLst/>
          </a:prstGeom>
          <a:noFill/>
          <a:ln w="12700">
            <a:solidFill>
              <a:srgbClr val="D9534F"/>
            </a:solidFill>
            <a:prstDash val="solid"/>
          </a:ln>
        </p:spPr>
      </p:sp>
      <p:sp>
        <p:nvSpPr>
          <p:cNvPr id="174" name="Shape 172"/>
          <p:cNvSpPr/>
          <p:nvPr/>
        </p:nvSpPr>
        <p:spPr>
          <a:xfrm>
            <a:off x="2103364" y="3108960"/>
            <a:ext cx="15" cy="91"/>
          </a:xfrm>
          <a:prstGeom prst="line">
            <a:avLst/>
          </a:prstGeom>
          <a:noFill/>
          <a:ln w="12700">
            <a:solidFill>
              <a:srgbClr val="D9534F"/>
            </a:solidFill>
            <a:prstDash val="solid"/>
          </a:ln>
        </p:spPr>
      </p:sp>
      <p:sp>
        <p:nvSpPr>
          <p:cNvPr id="175" name="Shape 173"/>
          <p:cNvSpPr/>
          <p:nvPr/>
        </p:nvSpPr>
        <p:spPr>
          <a:xfrm>
            <a:off x="2103379" y="3108960"/>
            <a:ext cx="15" cy="91"/>
          </a:xfrm>
          <a:prstGeom prst="line">
            <a:avLst/>
          </a:prstGeom>
          <a:noFill/>
          <a:ln w="12700">
            <a:solidFill>
              <a:srgbClr val="D9534F"/>
            </a:solidFill>
            <a:prstDash val="solid"/>
          </a:ln>
        </p:spPr>
      </p:sp>
      <p:sp>
        <p:nvSpPr>
          <p:cNvPr id="176" name="Shape 174"/>
          <p:cNvSpPr/>
          <p:nvPr/>
        </p:nvSpPr>
        <p:spPr>
          <a:xfrm>
            <a:off x="2103394" y="3108960"/>
            <a:ext cx="15" cy="91"/>
          </a:xfrm>
          <a:prstGeom prst="line">
            <a:avLst/>
          </a:prstGeom>
          <a:noFill/>
          <a:ln w="12700">
            <a:solidFill>
              <a:srgbClr val="D9534F"/>
            </a:solidFill>
            <a:prstDash val="solid"/>
          </a:ln>
        </p:spPr>
      </p:sp>
      <p:sp>
        <p:nvSpPr>
          <p:cNvPr id="177" name="Shape 175"/>
          <p:cNvSpPr/>
          <p:nvPr/>
        </p:nvSpPr>
        <p:spPr>
          <a:xfrm>
            <a:off x="2103410" y="3108960"/>
            <a:ext cx="15" cy="91"/>
          </a:xfrm>
          <a:prstGeom prst="line">
            <a:avLst/>
          </a:prstGeom>
          <a:noFill/>
          <a:ln w="12700">
            <a:solidFill>
              <a:srgbClr val="D9534F"/>
            </a:solidFill>
            <a:prstDash val="solid"/>
          </a:ln>
        </p:spPr>
      </p:sp>
      <p:sp>
        <p:nvSpPr>
          <p:cNvPr id="178" name="Shape 176"/>
          <p:cNvSpPr/>
          <p:nvPr/>
        </p:nvSpPr>
        <p:spPr>
          <a:xfrm>
            <a:off x="2103425" y="3108960"/>
            <a:ext cx="15" cy="91"/>
          </a:xfrm>
          <a:prstGeom prst="line">
            <a:avLst/>
          </a:prstGeom>
          <a:noFill/>
          <a:ln w="12700">
            <a:solidFill>
              <a:srgbClr val="D9534F"/>
            </a:solidFill>
            <a:prstDash val="solid"/>
          </a:ln>
        </p:spPr>
      </p:sp>
      <p:sp>
        <p:nvSpPr>
          <p:cNvPr id="179" name="Shape 177"/>
          <p:cNvSpPr/>
          <p:nvPr/>
        </p:nvSpPr>
        <p:spPr>
          <a:xfrm>
            <a:off x="2103440" y="3108960"/>
            <a:ext cx="15" cy="91"/>
          </a:xfrm>
          <a:prstGeom prst="line">
            <a:avLst/>
          </a:prstGeom>
          <a:noFill/>
          <a:ln w="12700">
            <a:solidFill>
              <a:srgbClr val="D9534F"/>
            </a:solidFill>
            <a:prstDash val="solid"/>
          </a:ln>
        </p:spPr>
      </p:sp>
      <p:sp>
        <p:nvSpPr>
          <p:cNvPr id="180" name="Shape 178"/>
          <p:cNvSpPr/>
          <p:nvPr/>
        </p:nvSpPr>
        <p:spPr>
          <a:xfrm>
            <a:off x="2103455" y="3108960"/>
            <a:ext cx="15" cy="91"/>
          </a:xfrm>
          <a:prstGeom prst="line">
            <a:avLst/>
          </a:prstGeom>
          <a:noFill/>
          <a:ln w="12700">
            <a:solidFill>
              <a:srgbClr val="D9534F"/>
            </a:solidFill>
            <a:prstDash val="solid"/>
          </a:ln>
        </p:spPr>
      </p:sp>
      <p:sp>
        <p:nvSpPr>
          <p:cNvPr id="181" name="Shape 179"/>
          <p:cNvSpPr/>
          <p:nvPr/>
        </p:nvSpPr>
        <p:spPr>
          <a:xfrm>
            <a:off x="2103471" y="3108960"/>
            <a:ext cx="15" cy="91"/>
          </a:xfrm>
          <a:prstGeom prst="line">
            <a:avLst/>
          </a:prstGeom>
          <a:noFill/>
          <a:ln w="12700">
            <a:solidFill>
              <a:srgbClr val="D9534F"/>
            </a:solidFill>
            <a:prstDash val="solid"/>
          </a:ln>
        </p:spPr>
      </p:sp>
      <p:sp>
        <p:nvSpPr>
          <p:cNvPr id="182" name="Shape 180"/>
          <p:cNvSpPr/>
          <p:nvPr/>
        </p:nvSpPr>
        <p:spPr>
          <a:xfrm>
            <a:off x="2103486" y="3108960"/>
            <a:ext cx="15" cy="91"/>
          </a:xfrm>
          <a:prstGeom prst="line">
            <a:avLst/>
          </a:prstGeom>
          <a:noFill/>
          <a:ln w="12700">
            <a:solidFill>
              <a:srgbClr val="D9534F"/>
            </a:solidFill>
            <a:prstDash val="solid"/>
          </a:ln>
        </p:spPr>
      </p:sp>
      <p:sp>
        <p:nvSpPr>
          <p:cNvPr id="183" name="Shape 181"/>
          <p:cNvSpPr/>
          <p:nvPr/>
        </p:nvSpPr>
        <p:spPr>
          <a:xfrm>
            <a:off x="2103501" y="3108960"/>
            <a:ext cx="15" cy="91"/>
          </a:xfrm>
          <a:prstGeom prst="line">
            <a:avLst/>
          </a:prstGeom>
          <a:noFill/>
          <a:ln w="12700">
            <a:solidFill>
              <a:srgbClr val="D9534F"/>
            </a:solidFill>
            <a:prstDash val="solid"/>
          </a:ln>
        </p:spPr>
      </p:sp>
      <p:sp>
        <p:nvSpPr>
          <p:cNvPr id="184" name="Shape 182"/>
          <p:cNvSpPr/>
          <p:nvPr/>
        </p:nvSpPr>
        <p:spPr>
          <a:xfrm>
            <a:off x="2103516" y="3108960"/>
            <a:ext cx="15" cy="91"/>
          </a:xfrm>
          <a:prstGeom prst="line">
            <a:avLst/>
          </a:prstGeom>
          <a:noFill/>
          <a:ln w="12700">
            <a:solidFill>
              <a:srgbClr val="D9534F"/>
            </a:solidFill>
            <a:prstDash val="solid"/>
          </a:ln>
        </p:spPr>
      </p:sp>
      <p:sp>
        <p:nvSpPr>
          <p:cNvPr id="185" name="Shape 183"/>
          <p:cNvSpPr/>
          <p:nvPr/>
        </p:nvSpPr>
        <p:spPr>
          <a:xfrm>
            <a:off x="2103531" y="3108960"/>
            <a:ext cx="15" cy="91"/>
          </a:xfrm>
          <a:prstGeom prst="line">
            <a:avLst/>
          </a:prstGeom>
          <a:noFill/>
          <a:ln w="12700">
            <a:solidFill>
              <a:srgbClr val="D9534F"/>
            </a:solidFill>
            <a:prstDash val="solid"/>
          </a:ln>
        </p:spPr>
      </p:sp>
      <p:sp>
        <p:nvSpPr>
          <p:cNvPr id="186" name="Shape 184"/>
          <p:cNvSpPr/>
          <p:nvPr/>
        </p:nvSpPr>
        <p:spPr>
          <a:xfrm>
            <a:off x="2103547" y="3108960"/>
            <a:ext cx="15" cy="91"/>
          </a:xfrm>
          <a:prstGeom prst="line">
            <a:avLst/>
          </a:prstGeom>
          <a:noFill/>
          <a:ln w="12700">
            <a:solidFill>
              <a:srgbClr val="D9534F"/>
            </a:solidFill>
            <a:prstDash val="solid"/>
          </a:ln>
        </p:spPr>
      </p:sp>
      <p:sp>
        <p:nvSpPr>
          <p:cNvPr id="187" name="Shape 185"/>
          <p:cNvSpPr/>
          <p:nvPr/>
        </p:nvSpPr>
        <p:spPr>
          <a:xfrm>
            <a:off x="2103562" y="3108960"/>
            <a:ext cx="15" cy="91"/>
          </a:xfrm>
          <a:prstGeom prst="line">
            <a:avLst/>
          </a:prstGeom>
          <a:noFill/>
          <a:ln w="12700">
            <a:solidFill>
              <a:srgbClr val="D9534F"/>
            </a:solidFill>
            <a:prstDash val="solid"/>
          </a:ln>
        </p:spPr>
      </p:sp>
      <p:sp>
        <p:nvSpPr>
          <p:cNvPr id="188" name="Shape 186"/>
          <p:cNvSpPr/>
          <p:nvPr/>
        </p:nvSpPr>
        <p:spPr>
          <a:xfrm>
            <a:off x="2103577" y="3108960"/>
            <a:ext cx="15" cy="91"/>
          </a:xfrm>
          <a:prstGeom prst="line">
            <a:avLst/>
          </a:prstGeom>
          <a:noFill/>
          <a:ln w="12700">
            <a:solidFill>
              <a:srgbClr val="D9534F"/>
            </a:solidFill>
            <a:prstDash val="solid"/>
          </a:ln>
        </p:spPr>
      </p:sp>
      <p:sp>
        <p:nvSpPr>
          <p:cNvPr id="189" name="Shape 187"/>
          <p:cNvSpPr/>
          <p:nvPr/>
        </p:nvSpPr>
        <p:spPr>
          <a:xfrm>
            <a:off x="2103592" y="3108960"/>
            <a:ext cx="15" cy="91"/>
          </a:xfrm>
          <a:prstGeom prst="line">
            <a:avLst/>
          </a:prstGeom>
          <a:noFill/>
          <a:ln w="12700">
            <a:solidFill>
              <a:srgbClr val="D9534F"/>
            </a:solidFill>
            <a:prstDash val="solid"/>
          </a:ln>
        </p:spPr>
      </p:sp>
      <p:sp>
        <p:nvSpPr>
          <p:cNvPr id="190" name="Shape 188"/>
          <p:cNvSpPr/>
          <p:nvPr/>
        </p:nvSpPr>
        <p:spPr>
          <a:xfrm>
            <a:off x="2103608" y="3108960"/>
            <a:ext cx="15" cy="91"/>
          </a:xfrm>
          <a:prstGeom prst="line">
            <a:avLst/>
          </a:prstGeom>
          <a:noFill/>
          <a:ln w="12700">
            <a:solidFill>
              <a:srgbClr val="D9534F"/>
            </a:solidFill>
            <a:prstDash val="solid"/>
          </a:ln>
        </p:spPr>
      </p:sp>
      <p:sp>
        <p:nvSpPr>
          <p:cNvPr id="191" name="Shape 189"/>
          <p:cNvSpPr/>
          <p:nvPr/>
        </p:nvSpPr>
        <p:spPr>
          <a:xfrm>
            <a:off x="2103623" y="3108960"/>
            <a:ext cx="15" cy="91"/>
          </a:xfrm>
          <a:prstGeom prst="line">
            <a:avLst/>
          </a:prstGeom>
          <a:noFill/>
          <a:ln w="12700">
            <a:solidFill>
              <a:srgbClr val="D9534F"/>
            </a:solidFill>
            <a:prstDash val="solid"/>
          </a:ln>
        </p:spPr>
      </p:sp>
      <p:sp>
        <p:nvSpPr>
          <p:cNvPr id="192" name="Shape 190"/>
          <p:cNvSpPr/>
          <p:nvPr/>
        </p:nvSpPr>
        <p:spPr>
          <a:xfrm>
            <a:off x="2103638" y="3108960"/>
            <a:ext cx="15" cy="91"/>
          </a:xfrm>
          <a:prstGeom prst="line">
            <a:avLst/>
          </a:prstGeom>
          <a:noFill/>
          <a:ln w="12700">
            <a:solidFill>
              <a:srgbClr val="D9534F"/>
            </a:solidFill>
            <a:prstDash val="solid"/>
          </a:ln>
        </p:spPr>
      </p:sp>
      <p:sp>
        <p:nvSpPr>
          <p:cNvPr id="193" name="Shape 191"/>
          <p:cNvSpPr/>
          <p:nvPr/>
        </p:nvSpPr>
        <p:spPr>
          <a:xfrm>
            <a:off x="2103653" y="3108960"/>
            <a:ext cx="15" cy="91"/>
          </a:xfrm>
          <a:prstGeom prst="line">
            <a:avLst/>
          </a:prstGeom>
          <a:noFill/>
          <a:ln w="12700">
            <a:solidFill>
              <a:srgbClr val="D9534F"/>
            </a:solidFill>
            <a:prstDash val="solid"/>
          </a:ln>
        </p:spPr>
      </p:sp>
      <p:sp>
        <p:nvSpPr>
          <p:cNvPr id="194" name="Shape 192"/>
          <p:cNvSpPr/>
          <p:nvPr/>
        </p:nvSpPr>
        <p:spPr>
          <a:xfrm>
            <a:off x="2103669" y="3108960"/>
            <a:ext cx="15" cy="91"/>
          </a:xfrm>
          <a:prstGeom prst="line">
            <a:avLst/>
          </a:prstGeom>
          <a:noFill/>
          <a:ln w="12700">
            <a:solidFill>
              <a:srgbClr val="D9534F"/>
            </a:solidFill>
            <a:prstDash val="solid"/>
          </a:ln>
        </p:spPr>
      </p:sp>
      <p:sp>
        <p:nvSpPr>
          <p:cNvPr id="195" name="Shape 193"/>
          <p:cNvSpPr/>
          <p:nvPr/>
        </p:nvSpPr>
        <p:spPr>
          <a:xfrm>
            <a:off x="2103684" y="3108960"/>
            <a:ext cx="15" cy="91"/>
          </a:xfrm>
          <a:prstGeom prst="line">
            <a:avLst/>
          </a:prstGeom>
          <a:noFill/>
          <a:ln w="12700">
            <a:solidFill>
              <a:srgbClr val="D9534F"/>
            </a:solidFill>
            <a:prstDash val="solid"/>
          </a:ln>
        </p:spPr>
      </p:sp>
      <p:sp>
        <p:nvSpPr>
          <p:cNvPr id="196" name="Shape 194"/>
          <p:cNvSpPr/>
          <p:nvPr/>
        </p:nvSpPr>
        <p:spPr>
          <a:xfrm>
            <a:off x="2103699" y="3108960"/>
            <a:ext cx="15" cy="91"/>
          </a:xfrm>
          <a:prstGeom prst="line">
            <a:avLst/>
          </a:prstGeom>
          <a:noFill/>
          <a:ln w="12700">
            <a:solidFill>
              <a:srgbClr val="D9534F"/>
            </a:solidFill>
            <a:prstDash val="solid"/>
          </a:ln>
        </p:spPr>
      </p:sp>
      <p:sp>
        <p:nvSpPr>
          <p:cNvPr id="197" name="Shape 195"/>
          <p:cNvSpPr/>
          <p:nvPr/>
        </p:nvSpPr>
        <p:spPr>
          <a:xfrm>
            <a:off x="2103714" y="3108960"/>
            <a:ext cx="15" cy="91"/>
          </a:xfrm>
          <a:prstGeom prst="line">
            <a:avLst/>
          </a:prstGeom>
          <a:noFill/>
          <a:ln w="12700">
            <a:solidFill>
              <a:srgbClr val="D9534F"/>
            </a:solidFill>
            <a:prstDash val="solid"/>
          </a:ln>
        </p:spPr>
      </p:sp>
      <p:sp>
        <p:nvSpPr>
          <p:cNvPr id="198" name="Shape 196"/>
          <p:cNvSpPr/>
          <p:nvPr/>
        </p:nvSpPr>
        <p:spPr>
          <a:xfrm>
            <a:off x="2103730" y="3108960"/>
            <a:ext cx="15" cy="91"/>
          </a:xfrm>
          <a:prstGeom prst="line">
            <a:avLst/>
          </a:prstGeom>
          <a:noFill/>
          <a:ln w="12700">
            <a:solidFill>
              <a:srgbClr val="D9534F"/>
            </a:solidFill>
            <a:prstDash val="solid"/>
          </a:ln>
        </p:spPr>
      </p:sp>
      <p:sp>
        <p:nvSpPr>
          <p:cNvPr id="199" name="Shape 197"/>
          <p:cNvSpPr/>
          <p:nvPr/>
        </p:nvSpPr>
        <p:spPr>
          <a:xfrm>
            <a:off x="2103745" y="3108960"/>
            <a:ext cx="15" cy="91"/>
          </a:xfrm>
          <a:prstGeom prst="line">
            <a:avLst/>
          </a:prstGeom>
          <a:noFill/>
          <a:ln w="12700">
            <a:solidFill>
              <a:srgbClr val="D9534F"/>
            </a:solidFill>
            <a:prstDash val="solid"/>
          </a:ln>
        </p:spPr>
      </p:sp>
      <p:sp>
        <p:nvSpPr>
          <p:cNvPr id="200" name="Shape 198"/>
          <p:cNvSpPr/>
          <p:nvPr/>
        </p:nvSpPr>
        <p:spPr>
          <a:xfrm>
            <a:off x="2103760" y="3108960"/>
            <a:ext cx="15" cy="91"/>
          </a:xfrm>
          <a:prstGeom prst="line">
            <a:avLst/>
          </a:prstGeom>
          <a:noFill/>
          <a:ln w="12700">
            <a:solidFill>
              <a:srgbClr val="D9534F"/>
            </a:solidFill>
            <a:prstDash val="solid"/>
          </a:ln>
        </p:spPr>
      </p:sp>
      <p:sp>
        <p:nvSpPr>
          <p:cNvPr id="201" name="Shape 199"/>
          <p:cNvSpPr/>
          <p:nvPr/>
        </p:nvSpPr>
        <p:spPr>
          <a:xfrm>
            <a:off x="2103775" y="3108960"/>
            <a:ext cx="15" cy="91"/>
          </a:xfrm>
          <a:prstGeom prst="line">
            <a:avLst/>
          </a:prstGeom>
          <a:noFill/>
          <a:ln w="12700">
            <a:solidFill>
              <a:srgbClr val="D9534F"/>
            </a:solidFill>
            <a:prstDash val="solid"/>
          </a:ln>
        </p:spPr>
      </p:sp>
      <p:sp>
        <p:nvSpPr>
          <p:cNvPr id="202" name="Shape 200"/>
          <p:cNvSpPr/>
          <p:nvPr/>
        </p:nvSpPr>
        <p:spPr>
          <a:xfrm>
            <a:off x="2103791" y="3108960"/>
            <a:ext cx="15" cy="91"/>
          </a:xfrm>
          <a:prstGeom prst="line">
            <a:avLst/>
          </a:prstGeom>
          <a:noFill/>
          <a:ln w="12700">
            <a:solidFill>
              <a:srgbClr val="D9534F"/>
            </a:solidFill>
            <a:prstDash val="solid"/>
          </a:ln>
        </p:spPr>
      </p:sp>
      <p:sp>
        <p:nvSpPr>
          <p:cNvPr id="203" name="Shape 201"/>
          <p:cNvSpPr/>
          <p:nvPr/>
        </p:nvSpPr>
        <p:spPr>
          <a:xfrm>
            <a:off x="2103806" y="3108960"/>
            <a:ext cx="15" cy="91"/>
          </a:xfrm>
          <a:prstGeom prst="line">
            <a:avLst/>
          </a:prstGeom>
          <a:noFill/>
          <a:ln w="12700">
            <a:solidFill>
              <a:srgbClr val="D9534F"/>
            </a:solidFill>
            <a:prstDash val="solid"/>
          </a:ln>
        </p:spPr>
      </p:sp>
      <p:sp>
        <p:nvSpPr>
          <p:cNvPr id="204" name="Shape 202"/>
          <p:cNvSpPr/>
          <p:nvPr/>
        </p:nvSpPr>
        <p:spPr>
          <a:xfrm>
            <a:off x="2103821" y="3108960"/>
            <a:ext cx="15" cy="91"/>
          </a:xfrm>
          <a:prstGeom prst="line">
            <a:avLst/>
          </a:prstGeom>
          <a:noFill/>
          <a:ln w="12700">
            <a:solidFill>
              <a:srgbClr val="D9534F"/>
            </a:solidFill>
            <a:prstDash val="solid"/>
          </a:ln>
        </p:spPr>
      </p:sp>
      <p:sp>
        <p:nvSpPr>
          <p:cNvPr id="205" name="Shape 203"/>
          <p:cNvSpPr/>
          <p:nvPr/>
        </p:nvSpPr>
        <p:spPr>
          <a:xfrm>
            <a:off x="2103836" y="3108960"/>
            <a:ext cx="15" cy="91"/>
          </a:xfrm>
          <a:prstGeom prst="line">
            <a:avLst/>
          </a:prstGeom>
          <a:noFill/>
          <a:ln w="12700">
            <a:solidFill>
              <a:srgbClr val="D9534F"/>
            </a:solidFill>
            <a:prstDash val="solid"/>
          </a:ln>
        </p:spPr>
      </p:sp>
      <p:sp>
        <p:nvSpPr>
          <p:cNvPr id="206" name="Shape 204"/>
          <p:cNvSpPr/>
          <p:nvPr/>
        </p:nvSpPr>
        <p:spPr>
          <a:xfrm>
            <a:off x="2103852" y="3108960"/>
            <a:ext cx="15" cy="91"/>
          </a:xfrm>
          <a:prstGeom prst="line">
            <a:avLst/>
          </a:prstGeom>
          <a:noFill/>
          <a:ln w="12700">
            <a:solidFill>
              <a:srgbClr val="D9534F"/>
            </a:solidFill>
            <a:prstDash val="solid"/>
          </a:ln>
        </p:spPr>
      </p:sp>
      <p:sp>
        <p:nvSpPr>
          <p:cNvPr id="207" name="Shape 205"/>
          <p:cNvSpPr/>
          <p:nvPr/>
        </p:nvSpPr>
        <p:spPr>
          <a:xfrm>
            <a:off x="2103867" y="3108960"/>
            <a:ext cx="15" cy="91"/>
          </a:xfrm>
          <a:prstGeom prst="line">
            <a:avLst/>
          </a:prstGeom>
          <a:noFill/>
          <a:ln w="12700">
            <a:solidFill>
              <a:srgbClr val="D9534F"/>
            </a:solidFill>
            <a:prstDash val="solid"/>
          </a:ln>
        </p:spPr>
      </p:sp>
      <p:sp>
        <p:nvSpPr>
          <p:cNvPr id="208" name="Shape 206"/>
          <p:cNvSpPr/>
          <p:nvPr/>
        </p:nvSpPr>
        <p:spPr>
          <a:xfrm>
            <a:off x="2103882" y="3108960"/>
            <a:ext cx="15" cy="91"/>
          </a:xfrm>
          <a:prstGeom prst="line">
            <a:avLst/>
          </a:prstGeom>
          <a:noFill/>
          <a:ln w="12700">
            <a:solidFill>
              <a:srgbClr val="D9534F"/>
            </a:solidFill>
            <a:prstDash val="solid"/>
          </a:ln>
        </p:spPr>
      </p:sp>
      <p:sp>
        <p:nvSpPr>
          <p:cNvPr id="209" name="Shape 207"/>
          <p:cNvSpPr/>
          <p:nvPr/>
        </p:nvSpPr>
        <p:spPr>
          <a:xfrm>
            <a:off x="2103897" y="3108960"/>
            <a:ext cx="15" cy="91"/>
          </a:xfrm>
          <a:prstGeom prst="line">
            <a:avLst/>
          </a:prstGeom>
          <a:noFill/>
          <a:ln w="12700">
            <a:solidFill>
              <a:srgbClr val="D9534F"/>
            </a:solidFill>
            <a:prstDash val="solid"/>
          </a:ln>
        </p:spPr>
      </p:sp>
      <p:sp>
        <p:nvSpPr>
          <p:cNvPr id="210" name="Shape 208"/>
          <p:cNvSpPr/>
          <p:nvPr/>
        </p:nvSpPr>
        <p:spPr>
          <a:xfrm>
            <a:off x="2103912" y="3108960"/>
            <a:ext cx="15" cy="91"/>
          </a:xfrm>
          <a:prstGeom prst="line">
            <a:avLst/>
          </a:prstGeom>
          <a:noFill/>
          <a:ln w="12700">
            <a:solidFill>
              <a:srgbClr val="D9534F"/>
            </a:solidFill>
            <a:prstDash val="solid"/>
          </a:ln>
        </p:spPr>
      </p:sp>
      <p:sp>
        <p:nvSpPr>
          <p:cNvPr id="211" name="Shape 209"/>
          <p:cNvSpPr/>
          <p:nvPr/>
        </p:nvSpPr>
        <p:spPr>
          <a:xfrm>
            <a:off x="2103928" y="3108960"/>
            <a:ext cx="15" cy="91"/>
          </a:xfrm>
          <a:prstGeom prst="line">
            <a:avLst/>
          </a:prstGeom>
          <a:noFill/>
          <a:ln w="12700">
            <a:solidFill>
              <a:srgbClr val="D9534F"/>
            </a:solidFill>
            <a:prstDash val="solid"/>
          </a:ln>
        </p:spPr>
      </p:sp>
      <p:sp>
        <p:nvSpPr>
          <p:cNvPr id="212" name="Shape 210"/>
          <p:cNvSpPr/>
          <p:nvPr/>
        </p:nvSpPr>
        <p:spPr>
          <a:xfrm>
            <a:off x="2103943" y="3108960"/>
            <a:ext cx="15" cy="91"/>
          </a:xfrm>
          <a:prstGeom prst="line">
            <a:avLst/>
          </a:prstGeom>
          <a:noFill/>
          <a:ln w="12700">
            <a:solidFill>
              <a:srgbClr val="D9534F"/>
            </a:solidFill>
            <a:prstDash val="solid"/>
          </a:ln>
        </p:spPr>
      </p:sp>
      <p:sp>
        <p:nvSpPr>
          <p:cNvPr id="213" name="Shape 211"/>
          <p:cNvSpPr/>
          <p:nvPr/>
        </p:nvSpPr>
        <p:spPr>
          <a:xfrm>
            <a:off x="2103958" y="3108960"/>
            <a:ext cx="15" cy="91"/>
          </a:xfrm>
          <a:prstGeom prst="line">
            <a:avLst/>
          </a:prstGeom>
          <a:noFill/>
          <a:ln w="12700">
            <a:solidFill>
              <a:srgbClr val="D9534F"/>
            </a:solidFill>
            <a:prstDash val="solid"/>
          </a:ln>
        </p:spPr>
      </p:sp>
      <p:sp>
        <p:nvSpPr>
          <p:cNvPr id="214" name="Shape 212"/>
          <p:cNvSpPr/>
          <p:nvPr/>
        </p:nvSpPr>
        <p:spPr>
          <a:xfrm>
            <a:off x="2103973" y="3108960"/>
            <a:ext cx="15" cy="91"/>
          </a:xfrm>
          <a:prstGeom prst="line">
            <a:avLst/>
          </a:prstGeom>
          <a:noFill/>
          <a:ln w="12700">
            <a:solidFill>
              <a:srgbClr val="D9534F"/>
            </a:solidFill>
            <a:prstDash val="solid"/>
          </a:ln>
        </p:spPr>
      </p:sp>
      <p:sp>
        <p:nvSpPr>
          <p:cNvPr id="215" name="Shape 213"/>
          <p:cNvSpPr/>
          <p:nvPr/>
        </p:nvSpPr>
        <p:spPr>
          <a:xfrm>
            <a:off x="2103989" y="3108960"/>
            <a:ext cx="15" cy="91"/>
          </a:xfrm>
          <a:prstGeom prst="line">
            <a:avLst/>
          </a:prstGeom>
          <a:noFill/>
          <a:ln w="12700">
            <a:solidFill>
              <a:srgbClr val="D9534F"/>
            </a:solidFill>
            <a:prstDash val="solid"/>
          </a:ln>
        </p:spPr>
      </p:sp>
      <p:sp>
        <p:nvSpPr>
          <p:cNvPr id="216" name="Shape 214"/>
          <p:cNvSpPr/>
          <p:nvPr/>
        </p:nvSpPr>
        <p:spPr>
          <a:xfrm>
            <a:off x="2104004" y="3108960"/>
            <a:ext cx="15" cy="91"/>
          </a:xfrm>
          <a:prstGeom prst="line">
            <a:avLst/>
          </a:prstGeom>
          <a:noFill/>
          <a:ln w="12700">
            <a:solidFill>
              <a:srgbClr val="D9534F"/>
            </a:solidFill>
            <a:prstDash val="solid"/>
          </a:ln>
        </p:spPr>
      </p:sp>
      <p:sp>
        <p:nvSpPr>
          <p:cNvPr id="217" name="Shape 215"/>
          <p:cNvSpPr/>
          <p:nvPr/>
        </p:nvSpPr>
        <p:spPr>
          <a:xfrm>
            <a:off x="2104019" y="3108960"/>
            <a:ext cx="15" cy="91"/>
          </a:xfrm>
          <a:prstGeom prst="line">
            <a:avLst/>
          </a:prstGeom>
          <a:noFill/>
          <a:ln w="12700">
            <a:solidFill>
              <a:srgbClr val="D9534F"/>
            </a:solidFill>
            <a:prstDash val="solid"/>
          </a:ln>
        </p:spPr>
      </p:sp>
      <p:sp>
        <p:nvSpPr>
          <p:cNvPr id="218" name="Shape 216"/>
          <p:cNvSpPr/>
          <p:nvPr/>
        </p:nvSpPr>
        <p:spPr>
          <a:xfrm flipV="1">
            <a:off x="2103120" y="2834640"/>
            <a:ext cx="91" cy="320040"/>
          </a:xfrm>
          <a:prstGeom prst="line">
            <a:avLst/>
          </a:prstGeom>
          <a:noFill/>
          <a:ln w="22225">
            <a:solidFill>
              <a:srgbClr val="D9534F"/>
            </a:solidFill>
            <a:prstDash val="solid"/>
            <a:tailEnd type="triangle"/>
          </a:ln>
        </p:spPr>
      </p:sp>
      <p:sp>
        <p:nvSpPr>
          <p:cNvPr id="219" name="Text 217"/>
          <p:cNvSpPr/>
          <p:nvPr/>
        </p:nvSpPr>
        <p:spPr>
          <a:xfrm>
            <a:off x="731520" y="4983480"/>
            <a:ext cx="2331720" cy="45720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more blood near the surface → </a:t>
            </a:r>
            <a:r>
              <a:rPr lang="en-US" sz="1000" b="1" dirty="0">
                <a:solidFill>
                  <a:srgbClr val="262B3A"/>
                </a:solidFill>
                <a:latin typeface="Calibri" pitchFamily="34" charset="0"/>
                <a:ea typeface="Calibri" pitchFamily="34" charset="-122"/>
                <a:cs typeface="Calibri" pitchFamily="34" charset="-120"/>
              </a:rPr>
              <a:t>more</a:t>
            </a:r>
            <a:r>
              <a:rPr lang="en-US" sz="1000" dirty="0">
                <a:solidFill>
                  <a:srgbClr val="262B3A"/>
                </a:solidFill>
                <a:latin typeface="Calibri" pitchFamily="34" charset="0"/>
                <a:ea typeface="Calibri" pitchFamily="34" charset="-122"/>
                <a:cs typeface="Calibri" pitchFamily="34" charset="-120"/>
              </a:rPr>
              <a:t> heat lost by radiation</a:t>
            </a:r>
            <a:endParaRPr lang="en-US" sz="1000" dirty="0"/>
          </a:p>
        </p:txBody>
      </p:sp>
      <p:sp>
        <p:nvSpPr>
          <p:cNvPr id="220" name="Shape 218"/>
          <p:cNvSpPr/>
          <p:nvPr/>
        </p:nvSpPr>
        <p:spPr>
          <a:xfrm>
            <a:off x="3337560" y="2514600"/>
            <a:ext cx="2514600" cy="2606040"/>
          </a:xfrm>
          <a:prstGeom prst="roundRect">
            <a:avLst>
              <a:gd name="adj" fmla="val 1818"/>
            </a:avLst>
          </a:prstGeom>
          <a:solidFill>
            <a:srgbClr val="FFFFFF"/>
          </a:solidFill>
          <a:ln w="19050">
            <a:solidFill>
              <a:srgbClr val="3B7DD8"/>
            </a:solidFill>
            <a:prstDash val="solid"/>
          </a:ln>
        </p:spPr>
      </p:sp>
      <p:sp>
        <p:nvSpPr>
          <p:cNvPr id="221" name="Text 219"/>
          <p:cNvSpPr/>
          <p:nvPr/>
        </p:nvSpPr>
        <p:spPr>
          <a:xfrm>
            <a:off x="3429000" y="2560320"/>
            <a:ext cx="2331720" cy="256032"/>
          </a:xfrm>
          <a:prstGeom prst="rect">
            <a:avLst/>
          </a:prstGeom>
          <a:noFill/>
          <a:ln/>
        </p:spPr>
        <p:txBody>
          <a:bodyPr wrap="square" lIns="0" tIns="0" rIns="0" bIns="0" rtlCol="0" anchor="ctr"/>
          <a:lstStyle/>
          <a:p>
            <a:pPr algn="ctr" indent="0" marL="0">
              <a:buNone/>
            </a:pPr>
            <a:r>
              <a:rPr lang="en-US" sz="1100" b="1" dirty="0">
                <a:solidFill>
                  <a:srgbClr val="3B7DD8"/>
                </a:solidFill>
                <a:latin typeface="Calibri" pitchFamily="34" charset="0"/>
                <a:ea typeface="Calibri" pitchFamily="34" charset="-122"/>
                <a:cs typeface="Calibri" pitchFamily="34" charset="-120"/>
              </a:rPr>
              <a:t>Too cold: vasoconstriction</a:t>
            </a:r>
            <a:endParaRPr lang="en-US" sz="1100" dirty="0"/>
          </a:p>
        </p:txBody>
      </p:sp>
      <p:sp>
        <p:nvSpPr>
          <p:cNvPr id="222" name="Shape 220"/>
          <p:cNvSpPr/>
          <p:nvPr/>
        </p:nvSpPr>
        <p:spPr>
          <a:xfrm>
            <a:off x="5431536" y="3017520"/>
            <a:ext cx="292608" cy="91"/>
          </a:xfrm>
          <a:prstGeom prst="line">
            <a:avLst/>
          </a:prstGeom>
          <a:noFill/>
          <a:ln w="25400">
            <a:solidFill>
              <a:srgbClr val="3B7DD8"/>
            </a:solidFill>
            <a:prstDash val="solid"/>
          </a:ln>
        </p:spPr>
      </p:sp>
      <p:sp>
        <p:nvSpPr>
          <p:cNvPr id="223" name="Shape 221"/>
          <p:cNvSpPr/>
          <p:nvPr/>
        </p:nvSpPr>
        <p:spPr>
          <a:xfrm>
            <a:off x="5504688" y="2890817"/>
            <a:ext cx="146304" cy="253406"/>
          </a:xfrm>
          <a:prstGeom prst="line">
            <a:avLst/>
          </a:prstGeom>
          <a:noFill/>
          <a:ln w="25400">
            <a:solidFill>
              <a:srgbClr val="3B7DD8"/>
            </a:solidFill>
            <a:prstDash val="solid"/>
          </a:ln>
        </p:spPr>
      </p:sp>
      <p:sp>
        <p:nvSpPr>
          <p:cNvPr id="224" name="Shape 222"/>
          <p:cNvSpPr/>
          <p:nvPr/>
        </p:nvSpPr>
        <p:spPr>
          <a:xfrm flipH="1">
            <a:off x="5504688" y="2890817"/>
            <a:ext cx="146304" cy="253406"/>
          </a:xfrm>
          <a:prstGeom prst="line">
            <a:avLst/>
          </a:prstGeom>
          <a:noFill/>
          <a:ln w="25400">
            <a:solidFill>
              <a:srgbClr val="3B7DD8"/>
            </a:solidFill>
            <a:prstDash val="solid"/>
          </a:ln>
        </p:spPr>
      </p:sp>
      <p:sp>
        <p:nvSpPr>
          <p:cNvPr id="225" name="Shape 223"/>
          <p:cNvSpPr/>
          <p:nvPr/>
        </p:nvSpPr>
        <p:spPr>
          <a:xfrm>
            <a:off x="3474720" y="3200400"/>
            <a:ext cx="2240280" cy="182880"/>
          </a:xfrm>
          <a:prstGeom prst="rect">
            <a:avLst/>
          </a:prstGeom>
          <a:solidFill>
            <a:srgbClr val="F2CFB4"/>
          </a:solidFill>
          <a:ln w="9525">
            <a:solidFill>
              <a:srgbClr val="B98E6E"/>
            </a:solidFill>
            <a:prstDash val="solid"/>
          </a:ln>
        </p:spPr>
      </p:sp>
      <p:sp>
        <p:nvSpPr>
          <p:cNvPr id="226" name="Text 224"/>
          <p:cNvSpPr/>
          <p:nvPr/>
        </p:nvSpPr>
        <p:spPr>
          <a:xfrm>
            <a:off x="3474720" y="2944368"/>
            <a:ext cx="1097280" cy="256032"/>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skin surface</a:t>
            </a:r>
            <a:endParaRPr lang="en-US" sz="1000" dirty="0"/>
          </a:p>
        </p:txBody>
      </p:sp>
      <p:sp>
        <p:nvSpPr>
          <p:cNvPr id="227" name="Shape 225"/>
          <p:cNvSpPr/>
          <p:nvPr/>
        </p:nvSpPr>
        <p:spPr>
          <a:xfrm>
            <a:off x="3977640" y="3611880"/>
            <a:ext cx="91440" cy="1280160"/>
          </a:xfrm>
          <a:prstGeom prst="rect">
            <a:avLst/>
          </a:prstGeom>
          <a:solidFill>
            <a:srgbClr val="C8414C"/>
          </a:solidFill>
          <a:ln w="9525">
            <a:solidFill>
              <a:srgbClr val="8E2A33"/>
            </a:solidFill>
            <a:prstDash val="solid"/>
          </a:ln>
        </p:spPr>
      </p:sp>
      <p:sp>
        <p:nvSpPr>
          <p:cNvPr id="228" name="Shape 226"/>
          <p:cNvSpPr/>
          <p:nvPr/>
        </p:nvSpPr>
        <p:spPr>
          <a:xfrm>
            <a:off x="3977640" y="3474720"/>
            <a:ext cx="1234440" cy="54864"/>
          </a:xfrm>
          <a:prstGeom prst="rect">
            <a:avLst/>
          </a:prstGeom>
          <a:solidFill>
            <a:srgbClr val="C8414C"/>
          </a:solidFill>
          <a:ln w="6350">
            <a:solidFill>
              <a:srgbClr val="8E2A33"/>
            </a:solidFill>
            <a:prstDash val="solid"/>
          </a:ln>
        </p:spPr>
      </p:sp>
      <p:sp>
        <p:nvSpPr>
          <p:cNvPr id="229" name="Text 227"/>
          <p:cNvSpPr/>
          <p:nvPr/>
        </p:nvSpPr>
        <p:spPr>
          <a:xfrm>
            <a:off x="4251960" y="4114800"/>
            <a:ext cx="146304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arteriole </a:t>
            </a:r>
            <a:r>
              <a:rPr lang="en-US" sz="1000" b="1" dirty="0">
                <a:solidFill>
                  <a:srgbClr val="262B3A"/>
                </a:solidFill>
                <a:latin typeface="Calibri" pitchFamily="34" charset="0"/>
                <a:ea typeface="Calibri" pitchFamily="34" charset="-122"/>
                <a:cs typeface="Calibri" pitchFamily="34" charset="-120"/>
              </a:rPr>
              <a:t>narrower</a:t>
            </a:r>
            <a:endParaRPr lang="en-US" sz="1000" dirty="0"/>
          </a:p>
        </p:txBody>
      </p:sp>
      <p:sp>
        <p:nvSpPr>
          <p:cNvPr id="230" name="Shape 228"/>
          <p:cNvSpPr/>
          <p:nvPr/>
        </p:nvSpPr>
        <p:spPr>
          <a:xfrm flipV="1">
            <a:off x="4434840" y="2971800"/>
            <a:ext cx="91" cy="182880"/>
          </a:xfrm>
          <a:prstGeom prst="line">
            <a:avLst/>
          </a:prstGeom>
          <a:noFill/>
          <a:ln w="12700">
            <a:solidFill>
              <a:srgbClr val="D9534F"/>
            </a:solidFill>
            <a:prstDash val="solid"/>
            <a:tailEnd type="triangle"/>
          </a:ln>
        </p:spPr>
      </p:sp>
      <p:sp>
        <p:nvSpPr>
          <p:cNvPr id="231" name="Text 229"/>
          <p:cNvSpPr/>
          <p:nvPr/>
        </p:nvSpPr>
        <p:spPr>
          <a:xfrm>
            <a:off x="3429000" y="4983480"/>
            <a:ext cx="2331720" cy="45720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less blood near the surface → </a:t>
            </a:r>
            <a:r>
              <a:rPr lang="en-US" sz="1000" b="1" dirty="0">
                <a:solidFill>
                  <a:srgbClr val="262B3A"/>
                </a:solidFill>
                <a:latin typeface="Calibri" pitchFamily="34" charset="0"/>
                <a:ea typeface="Calibri" pitchFamily="34" charset="-122"/>
                <a:cs typeface="Calibri" pitchFamily="34" charset="-120"/>
              </a:rPr>
              <a:t>less</a:t>
            </a:r>
            <a:r>
              <a:rPr lang="en-US" sz="1000" dirty="0">
                <a:solidFill>
                  <a:srgbClr val="262B3A"/>
                </a:solidFill>
                <a:latin typeface="Calibri" pitchFamily="34" charset="0"/>
                <a:ea typeface="Calibri" pitchFamily="34" charset="-122"/>
                <a:cs typeface="Calibri" pitchFamily="34" charset="-120"/>
              </a:rPr>
              <a:t> heat lost</a:t>
            </a:r>
            <a:endParaRPr lang="en-US" sz="1000" dirty="0"/>
          </a:p>
        </p:txBody>
      </p:sp>
      <p:sp>
        <p:nvSpPr>
          <p:cNvPr id="232" name="Shape 230"/>
          <p:cNvSpPr/>
          <p:nvPr/>
        </p:nvSpPr>
        <p:spPr>
          <a:xfrm>
            <a:off x="6217920" y="1188720"/>
            <a:ext cx="5562295" cy="2606040"/>
          </a:xfrm>
          <a:prstGeom prst="roundRect">
            <a:avLst>
              <a:gd name="adj" fmla="val 2105"/>
            </a:avLst>
          </a:prstGeom>
          <a:solidFill>
            <a:srgbClr val="F5FBF7"/>
          </a:solidFill>
          <a:ln w="9525">
            <a:solidFill>
              <a:srgbClr val="D2E5D8"/>
            </a:solidFill>
            <a:prstDash val="solid"/>
          </a:ln>
        </p:spPr>
      </p:sp>
      <p:sp>
        <p:nvSpPr>
          <p:cNvPr id="233" name="Text 23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Control by the hypothalamus</a:t>
            </a:r>
            <a:endParaRPr lang="en-US" sz="1300" dirty="0"/>
          </a:p>
        </p:txBody>
      </p:sp>
      <p:sp>
        <p:nvSpPr>
          <p:cNvPr id="234" name="Text 232"/>
          <p:cNvSpPr/>
          <p:nvPr/>
        </p:nvSpPr>
        <p:spPr>
          <a:xfrm>
            <a:off x="6382512" y="1609344"/>
            <a:ext cx="5233111" cy="211226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a:t>
            </a:r>
            <a:r>
              <a:rPr lang="en-US" sz="1050" b="1" dirty="0">
                <a:solidFill>
                  <a:srgbClr val="262B3A"/>
                </a:solidFill>
                <a:latin typeface="Calibri" pitchFamily="34" charset="0"/>
                <a:ea typeface="Calibri" pitchFamily="34" charset="-122"/>
                <a:cs typeface="Calibri" pitchFamily="34" charset="-120"/>
              </a:rPr>
              <a:t>hypothalamus</a:t>
            </a:r>
            <a:r>
              <a:rPr lang="en-US" sz="1050" dirty="0">
                <a:solidFill>
                  <a:srgbClr val="262B3A"/>
                </a:solidFill>
                <a:latin typeface="Calibri" pitchFamily="34" charset="0"/>
                <a:ea typeface="Calibri" pitchFamily="34" charset="-122"/>
                <a:cs typeface="Calibri" pitchFamily="34" charset="-120"/>
              </a:rPr>
              <a:t> compares blood temperature with the normal (about 37 °C) and sends </a:t>
            </a:r>
            <a:r>
              <a:rPr lang="en-US" sz="1050" b="1" dirty="0">
                <a:solidFill>
                  <a:srgbClr val="262B3A"/>
                </a:solidFill>
                <a:latin typeface="Calibri" pitchFamily="34" charset="0"/>
                <a:ea typeface="Calibri" pitchFamily="34" charset="-122"/>
                <a:cs typeface="Calibri" pitchFamily="34" charset="-120"/>
              </a:rPr>
              <a:t>nerve impulses</a:t>
            </a:r>
            <a:r>
              <a:rPr lang="en-US" sz="1050" dirty="0">
                <a:solidFill>
                  <a:srgbClr val="262B3A"/>
                </a:solidFill>
                <a:latin typeface="Calibri" pitchFamily="34" charset="0"/>
                <a:ea typeface="Calibri" pitchFamily="34" charset="-122"/>
                <a:cs typeface="Calibri" pitchFamily="34" charset="-120"/>
              </a:rPr>
              <a:t> to effectors.</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Vasodilation</a:t>
            </a:r>
            <a:r>
              <a:rPr lang="en-US" sz="1050" dirty="0">
                <a:solidFill>
                  <a:srgbClr val="262B3A"/>
                </a:solidFill>
                <a:latin typeface="Calibri" pitchFamily="34" charset="0"/>
                <a:ea typeface="Calibri" pitchFamily="34" charset="-122"/>
                <a:cs typeface="Calibri" pitchFamily="34" charset="-120"/>
              </a:rPr>
              <a:t> (too hot): arterioles supplying skin capillaries </a:t>
            </a:r>
            <a:r>
              <a:rPr lang="en-US" sz="1050" b="1" dirty="0">
                <a:solidFill>
                  <a:srgbClr val="262B3A"/>
                </a:solidFill>
                <a:latin typeface="Calibri" pitchFamily="34" charset="0"/>
                <a:ea typeface="Calibri" pitchFamily="34" charset="-122"/>
                <a:cs typeface="Calibri" pitchFamily="34" charset="-120"/>
              </a:rPr>
              <a:t>widen</a:t>
            </a:r>
            <a:r>
              <a:rPr lang="en-US" sz="1050" dirty="0">
                <a:solidFill>
                  <a:srgbClr val="262B3A"/>
                </a:solidFill>
                <a:latin typeface="Calibri" pitchFamily="34" charset="0"/>
                <a:ea typeface="Calibri" pitchFamily="34" charset="-122"/>
                <a:cs typeface="Calibri" pitchFamily="34" charset="-120"/>
              </a:rPr>
              <a:t> → more blood flows near the surface → more energy transferred to the surroundings.</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Vasoconstriction</a:t>
            </a:r>
            <a:r>
              <a:rPr lang="en-US" sz="1050" dirty="0">
                <a:solidFill>
                  <a:srgbClr val="262B3A"/>
                </a:solidFill>
                <a:latin typeface="Calibri" pitchFamily="34" charset="0"/>
                <a:ea typeface="Calibri" pitchFamily="34" charset="-122"/>
                <a:cs typeface="Calibri" pitchFamily="34" charset="-120"/>
              </a:rPr>
              <a:t> (too cold): arterioles </a:t>
            </a:r>
            <a:r>
              <a:rPr lang="en-US" sz="1050" b="1" dirty="0">
                <a:solidFill>
                  <a:srgbClr val="262B3A"/>
                </a:solidFill>
                <a:latin typeface="Calibri" pitchFamily="34" charset="0"/>
                <a:ea typeface="Calibri" pitchFamily="34" charset="-122"/>
                <a:cs typeface="Calibri" pitchFamily="34" charset="-120"/>
              </a:rPr>
              <a:t>narrow</a:t>
            </a:r>
            <a:r>
              <a:rPr lang="en-US" sz="1050" dirty="0">
                <a:solidFill>
                  <a:srgbClr val="262B3A"/>
                </a:solidFill>
                <a:latin typeface="Calibri" pitchFamily="34" charset="0"/>
                <a:ea typeface="Calibri" pitchFamily="34" charset="-122"/>
                <a:cs typeface="Calibri" pitchFamily="34" charset="-120"/>
              </a:rPr>
              <a:t> → less blood near the surface → less heat lost. </a:t>
            </a:r>
            <a:r>
              <a:rPr lang="en-US" sz="1050" b="1" dirty="0">
                <a:solidFill>
                  <a:srgbClr val="262B3A"/>
                </a:solidFill>
                <a:latin typeface="Calibri" pitchFamily="34" charset="0"/>
                <a:ea typeface="Calibri" pitchFamily="34" charset="-122"/>
                <a:cs typeface="Calibri" pitchFamily="34" charset="-120"/>
              </a:rPr>
              <a:t>Shivering</a:t>
            </a:r>
            <a:r>
              <a:rPr lang="en-US" sz="1050" dirty="0">
                <a:solidFill>
                  <a:srgbClr val="262B3A"/>
                </a:solidFill>
                <a:latin typeface="Calibri" pitchFamily="34" charset="0"/>
                <a:ea typeface="Calibri" pitchFamily="34" charset="-122"/>
                <a:cs typeface="Calibri" pitchFamily="34" charset="-120"/>
              </a:rPr>
              <a:t> also starts.</a:t>
            </a:r>
            <a:endParaRPr lang="en-US" sz="1050" dirty="0"/>
          </a:p>
        </p:txBody>
      </p:sp>
      <p:sp>
        <p:nvSpPr>
          <p:cNvPr id="235" name="Shape 233"/>
          <p:cNvSpPr/>
          <p:nvPr/>
        </p:nvSpPr>
        <p:spPr>
          <a:xfrm>
            <a:off x="6217920" y="3931920"/>
            <a:ext cx="5562295" cy="1783080"/>
          </a:xfrm>
          <a:prstGeom prst="roundRect">
            <a:avLst>
              <a:gd name="adj" fmla="val 3077"/>
            </a:avLst>
          </a:prstGeom>
          <a:solidFill>
            <a:srgbClr val="FFF4E0"/>
          </a:solidFill>
          <a:ln w="9525">
            <a:solidFill>
              <a:srgbClr val="F1D9A8"/>
            </a:solidFill>
            <a:prstDash val="solid"/>
          </a:ln>
        </p:spPr>
      </p:sp>
      <p:sp>
        <p:nvSpPr>
          <p:cNvPr id="236" name="Text 234"/>
          <p:cNvSpPr/>
          <p:nvPr/>
        </p:nvSpPr>
        <p:spPr>
          <a:xfrm>
            <a:off x="6382512" y="400507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Exam tip</a:t>
            </a:r>
            <a:endParaRPr lang="en-US" sz="1300" dirty="0"/>
          </a:p>
        </p:txBody>
      </p:sp>
      <p:sp>
        <p:nvSpPr>
          <p:cNvPr id="237" name="Text 235"/>
          <p:cNvSpPr/>
          <p:nvPr/>
        </p:nvSpPr>
        <p:spPr>
          <a:xfrm>
            <a:off x="6382512" y="4315968"/>
            <a:ext cx="5233111"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Avoid common errors.</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1 Not   </a:t>
            </a:r>
            <a:r>
              <a:rPr lang="en-US" sz="1050" dirty="0">
                <a:solidFill>
                  <a:srgbClr val="262B3A"/>
                </a:solidFill>
                <a:latin typeface="Calibri" pitchFamily="34" charset="0"/>
                <a:ea typeface="Calibri" pitchFamily="34" charset="-122"/>
                <a:cs typeface="Calibri" pitchFamily="34" charset="-120"/>
              </a:rPr>
              <a:t>"capillaries move" or "capillaries dilate"</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2 Say   </a:t>
            </a:r>
            <a:r>
              <a:rPr lang="en-US" sz="1050" dirty="0">
                <a:solidFill>
                  <a:srgbClr val="262B3A"/>
                </a:solidFill>
                <a:latin typeface="Calibri" pitchFamily="34" charset="0"/>
                <a:ea typeface="Calibri" pitchFamily="34" charset="-122"/>
                <a:cs typeface="Calibri" pitchFamily="34" charset="-120"/>
              </a:rPr>
              <a:t>arterioles (blood vessels) dilate / constrict</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3 Not   </a:t>
            </a:r>
            <a:r>
              <a:rPr lang="en-US" sz="1050" dirty="0">
                <a:solidFill>
                  <a:srgbClr val="262B3A"/>
                </a:solidFill>
                <a:latin typeface="Calibri" pitchFamily="34" charset="0"/>
                <a:ea typeface="Calibri" pitchFamily="34" charset="-122"/>
                <a:cs typeface="Calibri" pitchFamily="34" charset="-120"/>
              </a:rPr>
              <a:t>"sweating makes heat"</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sweat evaporates, transferring energy away</a:t>
            </a:r>
            <a:endParaRPr lang="en-US" sz="1050" dirty="0"/>
          </a:p>
        </p:txBody>
      </p:sp>
      <p:sp>
        <p:nvSpPr>
          <p:cNvPr id="238" name="Shape 236"/>
          <p:cNvSpPr/>
          <p:nvPr/>
        </p:nvSpPr>
        <p:spPr>
          <a:xfrm>
            <a:off x="411480" y="5833872"/>
            <a:ext cx="11368735" cy="530352"/>
          </a:xfrm>
          <a:prstGeom prst="rect">
            <a:avLst/>
          </a:prstGeom>
          <a:solidFill>
            <a:srgbClr val="FFF4E0"/>
          </a:solidFill>
          <a:ln w="6350">
            <a:solidFill>
              <a:srgbClr val="F1D9A8"/>
            </a:solidFill>
            <a:prstDash val="solid"/>
          </a:ln>
        </p:spPr>
      </p:sp>
      <p:sp>
        <p:nvSpPr>
          <p:cNvPr id="239" name="Shape 237"/>
          <p:cNvSpPr/>
          <p:nvPr/>
        </p:nvSpPr>
        <p:spPr>
          <a:xfrm>
            <a:off x="411480" y="5833872"/>
            <a:ext cx="82296" cy="530352"/>
          </a:xfrm>
          <a:prstGeom prst="rect">
            <a:avLst/>
          </a:prstGeom>
          <a:solidFill>
            <a:srgbClr val="E39A2F"/>
          </a:solidFill>
          <a:ln w="12700">
            <a:solidFill>
              <a:srgbClr val="E39A2F"/>
            </a:solidFill>
            <a:prstDash val="solid"/>
          </a:ln>
        </p:spPr>
      </p:sp>
      <p:sp>
        <p:nvSpPr>
          <p:cNvPr id="240" name="Text 23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person walks into a cold room. Describe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responses controlled by the hypothalamus, and explain how each reduces heat loss or increases heat production.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7.9–7.12B • homeostasis and thermoregulation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21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2E5D8"/>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what is meant by </a:t>
            </a:r>
            <a:r>
              <a:rPr lang="en-US" sz="1250" b="1" dirty="0">
                <a:solidFill>
                  <a:srgbClr val="262B3A"/>
                </a:solidFill>
                <a:latin typeface="Calibri" pitchFamily="34" charset="0"/>
                <a:ea typeface="Calibri" pitchFamily="34" charset="-122"/>
                <a:cs typeface="Calibri" pitchFamily="34" charset="-120"/>
              </a:rPr>
              <a:t>homeostasis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2E5D8"/>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body temperature must be kept close to 37 °C.</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2E5D8"/>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Shape 19"/>
          <p:cNvSpPr/>
          <p:nvPr/>
        </p:nvSpPr>
        <p:spPr>
          <a:xfrm>
            <a:off x="2606040" y="3826764"/>
            <a:ext cx="411480" cy="274320"/>
          </a:xfrm>
          <a:prstGeom prst="roundRect">
            <a:avLst>
              <a:gd name="adj" fmla="val 50000"/>
            </a:avLst>
          </a:prstGeom>
          <a:solidFill>
            <a:srgbClr val="C8414C"/>
          </a:solidFill>
          <a:ln w="12700">
            <a:solidFill>
              <a:srgbClr val="C8414C"/>
            </a:solidFill>
            <a:prstDash val="solid"/>
          </a:ln>
        </p:spPr>
      </p:sp>
      <p:sp>
        <p:nvSpPr>
          <p:cNvPr id="22" name="Text 20"/>
          <p:cNvSpPr/>
          <p:nvPr/>
        </p:nvSpPr>
        <p:spPr>
          <a:xfrm>
            <a:off x="2606040" y="382676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3" name="Text 21"/>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a:t>
            </a:r>
            <a:r>
              <a:rPr lang="en-US" sz="1250" b="1" dirty="0">
                <a:solidFill>
                  <a:srgbClr val="262B3A"/>
                </a:solidFill>
                <a:latin typeface="Calibri" pitchFamily="34" charset="0"/>
                <a:ea typeface="Calibri" pitchFamily="34" charset="-122"/>
                <a:cs typeface="Calibri" pitchFamily="34" charset="-120"/>
              </a:rPr>
              <a:t>vasodilation</a:t>
            </a:r>
            <a:r>
              <a:rPr lang="en-US" sz="1250" dirty="0">
                <a:solidFill>
                  <a:srgbClr val="262B3A"/>
                </a:solidFill>
                <a:latin typeface="Calibri" pitchFamily="34" charset="0"/>
                <a:ea typeface="Calibri" pitchFamily="34" charset="-122"/>
                <a:cs typeface="Calibri" pitchFamily="34" charset="-120"/>
              </a:rPr>
              <a:t> helps to lower body temperature.</a:t>
            </a:r>
            <a:endParaRPr lang="en-US" sz="1250" dirty="0"/>
          </a:p>
        </p:txBody>
      </p:sp>
      <p:sp>
        <p:nvSpPr>
          <p:cNvPr id="24" name="Text 22"/>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5" name="Shape 23"/>
          <p:cNvSpPr/>
          <p:nvPr/>
        </p:nvSpPr>
        <p:spPr>
          <a:xfrm>
            <a:off x="411480" y="5122926"/>
            <a:ext cx="11368735" cy="1159002"/>
          </a:xfrm>
          <a:prstGeom prst="roundRect">
            <a:avLst>
              <a:gd name="adj" fmla="val 3945"/>
            </a:avLst>
          </a:prstGeom>
          <a:solidFill>
            <a:srgbClr val="FFFFFF"/>
          </a:solidFill>
          <a:ln w="12700">
            <a:solidFill>
              <a:srgbClr val="D2E5D8"/>
            </a:solidFill>
            <a:prstDash val="solid"/>
          </a:ln>
        </p:spPr>
      </p:sp>
      <p:sp>
        <p:nvSpPr>
          <p:cNvPr id="26" name="Shape 24"/>
          <p:cNvSpPr/>
          <p:nvPr/>
        </p:nvSpPr>
        <p:spPr>
          <a:xfrm>
            <a:off x="411480" y="5122926"/>
            <a:ext cx="2103120" cy="292608"/>
          </a:xfrm>
          <a:prstGeom prst="rect">
            <a:avLst/>
          </a:prstGeom>
          <a:solidFill>
            <a:srgbClr val="F5A742"/>
          </a:solidFill>
          <a:ln w="12700">
            <a:solidFill>
              <a:srgbClr val="F5A742"/>
            </a:solidFill>
            <a:prstDash val="solid"/>
          </a:ln>
        </p:spPr>
      </p:sp>
      <p:sp>
        <p:nvSpPr>
          <p:cNvPr id="27" name="Text 25"/>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8" name="Text 26"/>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part of the brain that monitors blood temperature.</a:t>
            </a:r>
            <a:endParaRPr lang="en-US" sz="1250" dirty="0"/>
          </a:p>
        </p:txBody>
      </p:sp>
      <p:sp>
        <p:nvSpPr>
          <p:cNvPr id="29" name="Text 27"/>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Insulin controls blood glucose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7.13 • the pancreas responds to a rise in blood glucose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7.13  |  22</a:t>
            </a:r>
            <a:endParaRPr lang="en-US" sz="1000" dirty="0"/>
          </a:p>
        </p:txBody>
      </p:sp>
      <p:sp>
        <p:nvSpPr>
          <p:cNvPr id="8" name="Shape 6"/>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after a meal: insulin makes cells take up glucose and the liver store it as glycogen</a:t>
            </a:r>
            <a:endParaRPr lang="en-US" sz="1000" dirty="0"/>
          </a:p>
        </p:txBody>
      </p:sp>
      <p:sp>
        <p:nvSpPr>
          <p:cNvPr id="10" name="Shape 8"/>
          <p:cNvSpPr/>
          <p:nvPr/>
        </p:nvSpPr>
        <p:spPr>
          <a:xfrm>
            <a:off x="640080" y="1417320"/>
            <a:ext cx="5120640" cy="594360"/>
          </a:xfrm>
          <a:prstGeom prst="rect">
            <a:avLst/>
          </a:prstGeom>
          <a:solidFill>
            <a:srgbClr val="F6C9CC"/>
          </a:solidFill>
          <a:ln w="19050">
            <a:solidFill>
              <a:srgbClr val="C8414C"/>
            </a:solidFill>
            <a:prstDash val="solid"/>
          </a:ln>
        </p:spPr>
      </p:sp>
      <p:sp>
        <p:nvSpPr>
          <p:cNvPr id="11" name="Text 9"/>
          <p:cNvSpPr/>
          <p:nvPr/>
        </p:nvSpPr>
        <p:spPr>
          <a:xfrm>
            <a:off x="731520" y="1417320"/>
            <a:ext cx="2377440" cy="59436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blood</a:t>
            </a:r>
            <a:r>
              <a:rPr lang="en-US" sz="1050" dirty="0">
                <a:solidFill>
                  <a:srgbClr val="262B3A"/>
                </a:solidFill>
                <a:latin typeface="Calibri" pitchFamily="34" charset="0"/>
                <a:ea typeface="Calibri" pitchFamily="34" charset="-122"/>
                <a:cs typeface="Calibri" pitchFamily="34" charset="-120"/>
              </a:rPr>
              <a:t>: glucose concentration </a:t>
            </a:r>
            <a:r>
              <a:rPr lang="en-US" sz="1050" b="1" dirty="0">
                <a:solidFill>
                  <a:srgbClr val="262B3A"/>
                </a:solidFill>
                <a:latin typeface="Calibri" pitchFamily="34" charset="0"/>
                <a:ea typeface="Calibri" pitchFamily="34" charset="-122"/>
                <a:cs typeface="Calibri" pitchFamily="34" charset="-120"/>
              </a:rPr>
              <a:t>high</a:t>
            </a:r>
            <a:r>
              <a:rPr lang="en-US" sz="1050" dirty="0">
                <a:solidFill>
                  <a:srgbClr val="262B3A"/>
                </a:solidFill>
                <a:latin typeface="Calibri" pitchFamily="34" charset="0"/>
                <a:ea typeface="Calibri" pitchFamily="34" charset="-122"/>
                <a:cs typeface="Calibri" pitchFamily="34" charset="-120"/>
              </a:rPr>
              <a:t> (after a meal)</a:t>
            </a:r>
            <a:endParaRPr lang="en-US" sz="1050" dirty="0"/>
          </a:p>
        </p:txBody>
      </p:sp>
      <p:sp>
        <p:nvSpPr>
          <p:cNvPr id="12" name="Shape 10"/>
          <p:cNvSpPr/>
          <p:nvPr/>
        </p:nvSpPr>
        <p:spPr>
          <a:xfrm>
            <a:off x="3236976" y="1545336"/>
            <a:ext cx="109728" cy="109728"/>
          </a:xfrm>
          <a:prstGeom prst="hexagon">
            <a:avLst/>
          </a:prstGeom>
          <a:solidFill>
            <a:srgbClr val="3B7DD8"/>
          </a:solidFill>
          <a:ln w="6350">
            <a:solidFill>
              <a:srgbClr val="1F4E8C"/>
            </a:solidFill>
            <a:prstDash val="solid"/>
          </a:ln>
        </p:spPr>
      </p:sp>
      <p:sp>
        <p:nvSpPr>
          <p:cNvPr id="13" name="Shape 11"/>
          <p:cNvSpPr/>
          <p:nvPr/>
        </p:nvSpPr>
        <p:spPr>
          <a:xfrm>
            <a:off x="3502152" y="1728216"/>
            <a:ext cx="109728" cy="109728"/>
          </a:xfrm>
          <a:prstGeom prst="hexagon">
            <a:avLst/>
          </a:prstGeom>
          <a:solidFill>
            <a:srgbClr val="3B7DD8"/>
          </a:solidFill>
          <a:ln w="6350">
            <a:solidFill>
              <a:srgbClr val="1F4E8C"/>
            </a:solidFill>
            <a:prstDash val="solid"/>
          </a:ln>
        </p:spPr>
      </p:sp>
      <p:sp>
        <p:nvSpPr>
          <p:cNvPr id="14" name="Shape 12"/>
          <p:cNvSpPr/>
          <p:nvPr/>
        </p:nvSpPr>
        <p:spPr>
          <a:xfrm>
            <a:off x="3767328" y="1545336"/>
            <a:ext cx="109728" cy="109728"/>
          </a:xfrm>
          <a:prstGeom prst="hexagon">
            <a:avLst/>
          </a:prstGeom>
          <a:solidFill>
            <a:srgbClr val="3B7DD8"/>
          </a:solidFill>
          <a:ln w="6350">
            <a:solidFill>
              <a:srgbClr val="1F4E8C"/>
            </a:solidFill>
            <a:prstDash val="solid"/>
          </a:ln>
        </p:spPr>
      </p:sp>
      <p:sp>
        <p:nvSpPr>
          <p:cNvPr id="15" name="Shape 13"/>
          <p:cNvSpPr/>
          <p:nvPr/>
        </p:nvSpPr>
        <p:spPr>
          <a:xfrm>
            <a:off x="4032504" y="1728216"/>
            <a:ext cx="109728" cy="109728"/>
          </a:xfrm>
          <a:prstGeom prst="hexagon">
            <a:avLst/>
          </a:prstGeom>
          <a:solidFill>
            <a:srgbClr val="3B7DD8"/>
          </a:solidFill>
          <a:ln w="6350">
            <a:solidFill>
              <a:srgbClr val="1F4E8C"/>
            </a:solidFill>
            <a:prstDash val="solid"/>
          </a:ln>
        </p:spPr>
      </p:sp>
      <p:sp>
        <p:nvSpPr>
          <p:cNvPr id="16" name="Shape 14"/>
          <p:cNvSpPr/>
          <p:nvPr/>
        </p:nvSpPr>
        <p:spPr>
          <a:xfrm>
            <a:off x="4297680" y="1545336"/>
            <a:ext cx="109728" cy="109728"/>
          </a:xfrm>
          <a:prstGeom prst="hexagon">
            <a:avLst/>
          </a:prstGeom>
          <a:solidFill>
            <a:srgbClr val="3B7DD8"/>
          </a:solidFill>
          <a:ln w="6350">
            <a:solidFill>
              <a:srgbClr val="1F4E8C"/>
            </a:solidFill>
            <a:prstDash val="solid"/>
          </a:ln>
        </p:spPr>
      </p:sp>
      <p:sp>
        <p:nvSpPr>
          <p:cNvPr id="17" name="Shape 15"/>
          <p:cNvSpPr/>
          <p:nvPr/>
        </p:nvSpPr>
        <p:spPr>
          <a:xfrm>
            <a:off x="4562856" y="1728216"/>
            <a:ext cx="109728" cy="109728"/>
          </a:xfrm>
          <a:prstGeom prst="hexagon">
            <a:avLst/>
          </a:prstGeom>
          <a:solidFill>
            <a:srgbClr val="3B7DD8"/>
          </a:solidFill>
          <a:ln w="6350">
            <a:solidFill>
              <a:srgbClr val="1F4E8C"/>
            </a:solidFill>
            <a:prstDash val="solid"/>
          </a:ln>
        </p:spPr>
      </p:sp>
      <p:sp>
        <p:nvSpPr>
          <p:cNvPr id="18" name="Shape 16"/>
          <p:cNvSpPr/>
          <p:nvPr/>
        </p:nvSpPr>
        <p:spPr>
          <a:xfrm>
            <a:off x="4828032" y="1545336"/>
            <a:ext cx="109728" cy="109728"/>
          </a:xfrm>
          <a:prstGeom prst="hexagon">
            <a:avLst/>
          </a:prstGeom>
          <a:solidFill>
            <a:srgbClr val="3B7DD8"/>
          </a:solidFill>
          <a:ln w="6350">
            <a:solidFill>
              <a:srgbClr val="1F4E8C"/>
            </a:solidFill>
            <a:prstDash val="solid"/>
          </a:ln>
        </p:spPr>
      </p:sp>
      <p:sp>
        <p:nvSpPr>
          <p:cNvPr id="19" name="Shape 17"/>
          <p:cNvSpPr/>
          <p:nvPr/>
        </p:nvSpPr>
        <p:spPr>
          <a:xfrm>
            <a:off x="5093208" y="1728216"/>
            <a:ext cx="109728" cy="109728"/>
          </a:xfrm>
          <a:prstGeom prst="hexagon">
            <a:avLst/>
          </a:prstGeom>
          <a:solidFill>
            <a:srgbClr val="3B7DD8"/>
          </a:solidFill>
          <a:ln w="6350">
            <a:solidFill>
              <a:srgbClr val="1F4E8C"/>
            </a:solidFill>
            <a:prstDash val="solid"/>
          </a:ln>
        </p:spPr>
      </p:sp>
      <p:sp>
        <p:nvSpPr>
          <p:cNvPr id="20" name="Shape 18"/>
          <p:cNvSpPr/>
          <p:nvPr/>
        </p:nvSpPr>
        <p:spPr>
          <a:xfrm>
            <a:off x="5358384" y="1545336"/>
            <a:ext cx="109728" cy="109728"/>
          </a:xfrm>
          <a:prstGeom prst="hexagon">
            <a:avLst/>
          </a:prstGeom>
          <a:solidFill>
            <a:srgbClr val="3B7DD8"/>
          </a:solidFill>
          <a:ln w="6350">
            <a:solidFill>
              <a:srgbClr val="1F4E8C"/>
            </a:solidFill>
            <a:prstDash val="solid"/>
          </a:ln>
        </p:spPr>
      </p:sp>
      <p:sp>
        <p:nvSpPr>
          <p:cNvPr id="21" name="Shape 19"/>
          <p:cNvSpPr/>
          <p:nvPr/>
        </p:nvSpPr>
        <p:spPr>
          <a:xfrm>
            <a:off x="777240" y="2514600"/>
            <a:ext cx="1554480" cy="548640"/>
          </a:xfrm>
          <a:prstGeom prst="ellipse">
            <a:avLst/>
          </a:prstGeom>
          <a:solidFill>
            <a:srgbClr val="D4A017"/>
          </a:solidFill>
          <a:ln w="19050">
            <a:solidFill>
              <a:srgbClr val="8A6A0A"/>
            </a:solidFill>
            <a:prstDash val="solid"/>
          </a:ln>
        </p:spPr>
      </p:sp>
      <p:sp>
        <p:nvSpPr>
          <p:cNvPr id="22" name="Shape 20"/>
          <p:cNvSpPr/>
          <p:nvPr/>
        </p:nvSpPr>
        <p:spPr>
          <a:xfrm>
            <a:off x="792785" y="2473452"/>
            <a:ext cx="497434" cy="685800"/>
          </a:xfrm>
          <a:prstGeom prst="ellipse">
            <a:avLst/>
          </a:prstGeom>
          <a:solidFill>
            <a:srgbClr val="D4A017"/>
          </a:solidFill>
          <a:ln w="19050">
            <a:solidFill>
              <a:srgbClr val="8A6A0A"/>
            </a:solidFill>
            <a:prstDash val="solid"/>
          </a:ln>
        </p:spPr>
      </p:sp>
      <p:sp>
        <p:nvSpPr>
          <p:cNvPr id="23" name="Shape 21"/>
          <p:cNvSpPr/>
          <p:nvPr/>
        </p:nvSpPr>
        <p:spPr>
          <a:xfrm>
            <a:off x="1177747" y="2668219"/>
            <a:ext cx="131674" cy="131674"/>
          </a:xfrm>
          <a:prstGeom prst="ellipse">
            <a:avLst/>
          </a:prstGeom>
          <a:solidFill>
            <a:srgbClr val="F5E6B0"/>
          </a:solidFill>
          <a:ln w="9525">
            <a:solidFill>
              <a:srgbClr val="8A6A0A"/>
            </a:solidFill>
            <a:prstDash val="solid"/>
          </a:ln>
        </p:spPr>
      </p:sp>
      <p:sp>
        <p:nvSpPr>
          <p:cNvPr id="24" name="Shape 22"/>
          <p:cNvSpPr/>
          <p:nvPr/>
        </p:nvSpPr>
        <p:spPr>
          <a:xfrm>
            <a:off x="1566367" y="2750515"/>
            <a:ext cx="131674" cy="131674"/>
          </a:xfrm>
          <a:prstGeom prst="ellipse">
            <a:avLst/>
          </a:prstGeom>
          <a:solidFill>
            <a:srgbClr val="F5E6B0"/>
          </a:solidFill>
          <a:ln w="9525">
            <a:solidFill>
              <a:srgbClr val="8A6A0A"/>
            </a:solidFill>
            <a:prstDash val="solid"/>
          </a:ln>
        </p:spPr>
      </p:sp>
      <p:sp>
        <p:nvSpPr>
          <p:cNvPr id="25" name="Shape 23"/>
          <p:cNvSpPr/>
          <p:nvPr/>
        </p:nvSpPr>
        <p:spPr>
          <a:xfrm>
            <a:off x="1877263" y="2679192"/>
            <a:ext cx="131674" cy="131674"/>
          </a:xfrm>
          <a:prstGeom prst="ellipse">
            <a:avLst/>
          </a:prstGeom>
          <a:solidFill>
            <a:srgbClr val="F5E6B0"/>
          </a:solidFill>
          <a:ln w="9525">
            <a:solidFill>
              <a:srgbClr val="8A6A0A"/>
            </a:solidFill>
            <a:prstDash val="solid"/>
          </a:ln>
        </p:spPr>
      </p:sp>
      <p:sp>
        <p:nvSpPr>
          <p:cNvPr id="26" name="Shape 24"/>
          <p:cNvSpPr/>
          <p:nvPr/>
        </p:nvSpPr>
        <p:spPr>
          <a:xfrm>
            <a:off x="991210" y="2832811"/>
            <a:ext cx="131674" cy="131674"/>
          </a:xfrm>
          <a:prstGeom prst="ellipse">
            <a:avLst/>
          </a:prstGeom>
          <a:solidFill>
            <a:srgbClr val="F5E6B0"/>
          </a:solidFill>
          <a:ln w="9525">
            <a:solidFill>
              <a:srgbClr val="8A6A0A"/>
            </a:solidFill>
            <a:prstDash val="solid"/>
          </a:ln>
        </p:spPr>
      </p:sp>
      <p:sp>
        <p:nvSpPr>
          <p:cNvPr id="27" name="Text 25"/>
          <p:cNvSpPr/>
          <p:nvPr/>
        </p:nvSpPr>
        <p:spPr>
          <a:xfrm>
            <a:off x="640080" y="3246120"/>
            <a:ext cx="1828800" cy="274320"/>
          </a:xfrm>
          <a:prstGeom prst="rect">
            <a:avLst/>
          </a:prstGeom>
          <a:noFill/>
          <a:ln/>
        </p:spPr>
        <p:txBody>
          <a:bodyPr wrap="square" lIns="0" tIns="0" rIns="0" bIns="0" rtlCol="0" anchor="ctr"/>
          <a:lstStyle/>
          <a:p>
            <a:pPr algn="ctr" indent="0" marL="0">
              <a:buNone/>
            </a:pPr>
            <a:r>
              <a:rPr lang="en-US" sz="1050" b="1" dirty="0">
                <a:solidFill>
                  <a:srgbClr val="8A6A0A"/>
                </a:solidFill>
                <a:latin typeface="Calibri" pitchFamily="34" charset="0"/>
                <a:ea typeface="Calibri" pitchFamily="34" charset="-122"/>
                <a:cs typeface="Calibri" pitchFamily="34" charset="-120"/>
              </a:rPr>
              <a:t>Pancreas</a:t>
            </a:r>
            <a:r>
              <a:rPr lang="en-US" sz="1050" dirty="0">
                <a:solidFill>
                  <a:srgbClr val="8A6A0A"/>
                </a:solidFill>
                <a:latin typeface="Calibri" pitchFamily="34" charset="0"/>
                <a:ea typeface="Calibri" pitchFamily="34" charset="-122"/>
                <a:cs typeface="Calibri" pitchFamily="34" charset="-120"/>
              </a:rPr>
              <a:t> detects the rise</a:t>
            </a:r>
            <a:endParaRPr lang="en-US" sz="1050" dirty="0"/>
          </a:p>
        </p:txBody>
      </p:sp>
      <p:sp>
        <p:nvSpPr>
          <p:cNvPr id="28" name="Shape 26"/>
          <p:cNvSpPr/>
          <p:nvPr/>
        </p:nvSpPr>
        <p:spPr>
          <a:xfrm flipV="1">
            <a:off x="1554480" y="2057400"/>
            <a:ext cx="91" cy="411480"/>
          </a:xfrm>
          <a:prstGeom prst="line">
            <a:avLst/>
          </a:prstGeom>
          <a:noFill/>
          <a:ln w="31750">
            <a:solidFill>
              <a:srgbClr val="E08A1E"/>
            </a:solidFill>
            <a:prstDash val="solid"/>
            <a:tailEnd type="triangle"/>
          </a:ln>
        </p:spPr>
      </p:sp>
      <p:sp>
        <p:nvSpPr>
          <p:cNvPr id="29" name="Text 27"/>
          <p:cNvSpPr/>
          <p:nvPr/>
        </p:nvSpPr>
        <p:spPr>
          <a:xfrm>
            <a:off x="1691640" y="2103120"/>
            <a:ext cx="1463040" cy="256032"/>
          </a:xfrm>
          <a:prstGeom prst="rect">
            <a:avLst/>
          </a:prstGeom>
          <a:noFill/>
          <a:ln/>
        </p:spPr>
        <p:txBody>
          <a:bodyPr wrap="square" lIns="0" tIns="0" rIns="0" bIns="0" rtlCol="0" anchor="ctr"/>
          <a:lstStyle/>
          <a:p>
            <a:pPr algn="l" indent="0" marL="0">
              <a:buNone/>
            </a:pPr>
            <a:r>
              <a:rPr lang="en-US" sz="1050" b="1" dirty="0">
                <a:solidFill>
                  <a:srgbClr val="9A5A0A"/>
                </a:solidFill>
                <a:latin typeface="Calibri" pitchFamily="34" charset="0"/>
                <a:ea typeface="Calibri" pitchFamily="34" charset="-122"/>
                <a:cs typeface="Calibri" pitchFamily="34" charset="-120"/>
              </a:rPr>
              <a:t>insulin</a:t>
            </a:r>
            <a:r>
              <a:rPr lang="en-US" sz="1050" dirty="0">
                <a:solidFill>
                  <a:srgbClr val="9A5A0A"/>
                </a:solidFill>
                <a:latin typeface="Calibri" pitchFamily="34" charset="0"/>
                <a:ea typeface="Calibri" pitchFamily="34" charset="-122"/>
                <a:cs typeface="Calibri" pitchFamily="34" charset="-120"/>
              </a:rPr>
              <a:t> released</a:t>
            </a:r>
            <a:endParaRPr lang="en-US" sz="1050" dirty="0"/>
          </a:p>
        </p:txBody>
      </p:sp>
      <p:sp>
        <p:nvSpPr>
          <p:cNvPr id="30" name="Shape 28"/>
          <p:cNvSpPr/>
          <p:nvPr/>
        </p:nvSpPr>
        <p:spPr>
          <a:xfrm>
            <a:off x="2295144" y="1655064"/>
            <a:ext cx="164592" cy="148133"/>
          </a:xfrm>
          <a:prstGeom prst="triangle">
            <a:avLst/>
          </a:prstGeom>
          <a:solidFill>
            <a:srgbClr val="E08A1E"/>
          </a:solidFill>
          <a:ln w="9525">
            <a:solidFill>
              <a:srgbClr val="9A5A0A"/>
            </a:solidFill>
            <a:prstDash val="solid"/>
          </a:ln>
        </p:spPr>
      </p:sp>
      <p:sp>
        <p:nvSpPr>
          <p:cNvPr id="31" name="Shape 29"/>
          <p:cNvSpPr/>
          <p:nvPr/>
        </p:nvSpPr>
        <p:spPr>
          <a:xfrm>
            <a:off x="3108960" y="2468880"/>
            <a:ext cx="1371600" cy="868680"/>
          </a:xfrm>
          <a:custGeom>
            <a:avLst/>
            <a:gdLst/>
            <a:ahLst/>
            <a:cxnLst/>
            <a:rect l="l" t="t" r="r" b="b"/>
            <a:pathLst>
              <a:path w="1371600" h="868680">
                <a:moveTo>
                  <a:pt x="0" y="130302"/>
                </a:moveTo>
                <a:lnTo>
                  <a:pt x="754380" y="0"/>
                </a:lnTo>
                <a:lnTo>
                  <a:pt x="1371600" y="86868"/>
                </a:lnTo>
                <a:lnTo>
                  <a:pt x="1028700" y="521208"/>
                </a:lnTo>
                <a:lnTo>
                  <a:pt x="480060" y="868680"/>
                </a:lnTo>
                <a:lnTo>
                  <a:pt x="68580" y="694944"/>
                </a:lnTo>
                <a:close/>
              </a:path>
            </a:pathLst>
          </a:custGeom>
          <a:solidFill>
            <a:srgbClr val="A0522D"/>
          </a:solidFill>
          <a:ln w="15875">
            <a:solidFill>
              <a:srgbClr val="6B3318"/>
            </a:solidFill>
            <a:prstDash val="solid"/>
          </a:ln>
        </p:spPr>
      </p:sp>
      <p:sp>
        <p:nvSpPr>
          <p:cNvPr id="32" name="Text 30"/>
          <p:cNvSpPr/>
          <p:nvPr/>
        </p:nvSpPr>
        <p:spPr>
          <a:xfrm>
            <a:off x="3017520" y="3383280"/>
            <a:ext cx="1645920" cy="256032"/>
          </a:xfrm>
          <a:prstGeom prst="rect">
            <a:avLst/>
          </a:prstGeom>
          <a:noFill/>
          <a:ln/>
        </p:spPr>
        <p:txBody>
          <a:bodyPr wrap="square" lIns="0" tIns="0" rIns="0" bIns="0" rtlCol="0" anchor="ctr"/>
          <a:lstStyle/>
          <a:p>
            <a:pPr algn="ctr" indent="0" marL="0">
              <a:buNone/>
            </a:pPr>
            <a:r>
              <a:rPr lang="en-US" sz="1100" b="1" dirty="0">
                <a:solidFill>
                  <a:srgbClr val="6B3318"/>
                </a:solidFill>
                <a:latin typeface="Calibri" pitchFamily="34" charset="0"/>
                <a:ea typeface="Calibri" pitchFamily="34" charset="-122"/>
                <a:cs typeface="Calibri" pitchFamily="34" charset="-120"/>
              </a:rPr>
              <a:t>Liver</a:t>
            </a:r>
            <a:endParaRPr lang="en-US" sz="1100" dirty="0"/>
          </a:p>
        </p:txBody>
      </p:sp>
      <p:sp>
        <p:nvSpPr>
          <p:cNvPr id="33" name="Shape 31"/>
          <p:cNvSpPr/>
          <p:nvPr/>
        </p:nvSpPr>
        <p:spPr>
          <a:xfrm>
            <a:off x="3657600" y="2057400"/>
            <a:ext cx="91" cy="457200"/>
          </a:xfrm>
          <a:prstGeom prst="line">
            <a:avLst/>
          </a:prstGeom>
          <a:noFill/>
          <a:ln w="25400">
            <a:solidFill>
              <a:srgbClr val="3B7DD8"/>
            </a:solidFill>
            <a:prstDash val="solid"/>
            <a:tailEnd type="triangle"/>
          </a:ln>
        </p:spPr>
      </p:sp>
      <p:sp>
        <p:nvSpPr>
          <p:cNvPr id="34" name="Shape 32"/>
          <p:cNvSpPr/>
          <p:nvPr/>
        </p:nvSpPr>
        <p:spPr>
          <a:xfrm>
            <a:off x="3506724" y="2793492"/>
            <a:ext cx="82296" cy="82296"/>
          </a:xfrm>
          <a:prstGeom prst="hexagon">
            <a:avLst/>
          </a:prstGeom>
          <a:solidFill>
            <a:srgbClr val="3B7DD8"/>
          </a:solidFill>
          <a:ln w="6350">
            <a:solidFill>
              <a:srgbClr val="1F4E8C"/>
            </a:solidFill>
            <a:prstDash val="solid"/>
          </a:ln>
        </p:spPr>
      </p:sp>
      <p:sp>
        <p:nvSpPr>
          <p:cNvPr id="35" name="Shape 33"/>
          <p:cNvSpPr/>
          <p:nvPr/>
        </p:nvSpPr>
        <p:spPr>
          <a:xfrm>
            <a:off x="3605479" y="2793492"/>
            <a:ext cx="82296" cy="82296"/>
          </a:xfrm>
          <a:prstGeom prst="hexagon">
            <a:avLst/>
          </a:prstGeom>
          <a:solidFill>
            <a:srgbClr val="3B7DD8"/>
          </a:solidFill>
          <a:ln w="6350">
            <a:solidFill>
              <a:srgbClr val="1F4E8C"/>
            </a:solidFill>
            <a:prstDash val="solid"/>
          </a:ln>
        </p:spPr>
      </p:sp>
      <p:sp>
        <p:nvSpPr>
          <p:cNvPr id="36" name="Shape 34"/>
          <p:cNvSpPr/>
          <p:nvPr/>
        </p:nvSpPr>
        <p:spPr>
          <a:xfrm>
            <a:off x="3704234" y="2793492"/>
            <a:ext cx="82296" cy="82296"/>
          </a:xfrm>
          <a:prstGeom prst="hexagon">
            <a:avLst/>
          </a:prstGeom>
          <a:solidFill>
            <a:srgbClr val="3B7DD8"/>
          </a:solidFill>
          <a:ln w="6350">
            <a:solidFill>
              <a:srgbClr val="1F4E8C"/>
            </a:solidFill>
            <a:prstDash val="solid"/>
          </a:ln>
        </p:spPr>
      </p:sp>
      <p:sp>
        <p:nvSpPr>
          <p:cNvPr id="37" name="Shape 35"/>
          <p:cNvSpPr/>
          <p:nvPr/>
        </p:nvSpPr>
        <p:spPr>
          <a:xfrm>
            <a:off x="3802990" y="2793492"/>
            <a:ext cx="82296" cy="82296"/>
          </a:xfrm>
          <a:prstGeom prst="hexagon">
            <a:avLst/>
          </a:prstGeom>
          <a:solidFill>
            <a:srgbClr val="3B7DD8"/>
          </a:solidFill>
          <a:ln w="6350">
            <a:solidFill>
              <a:srgbClr val="1F4E8C"/>
            </a:solidFill>
            <a:prstDash val="solid"/>
          </a:ln>
        </p:spPr>
      </p:sp>
      <p:sp>
        <p:nvSpPr>
          <p:cNvPr id="38" name="Shape 36"/>
          <p:cNvSpPr/>
          <p:nvPr/>
        </p:nvSpPr>
        <p:spPr>
          <a:xfrm>
            <a:off x="3901745" y="2793492"/>
            <a:ext cx="82296" cy="82296"/>
          </a:xfrm>
          <a:prstGeom prst="hexagon">
            <a:avLst/>
          </a:prstGeom>
          <a:solidFill>
            <a:srgbClr val="3B7DD8"/>
          </a:solidFill>
          <a:ln w="6350">
            <a:solidFill>
              <a:srgbClr val="1F4E8C"/>
            </a:solidFill>
            <a:prstDash val="solid"/>
          </a:ln>
        </p:spPr>
      </p:sp>
      <p:sp>
        <p:nvSpPr>
          <p:cNvPr id="39" name="Shape 37"/>
          <p:cNvSpPr/>
          <p:nvPr/>
        </p:nvSpPr>
        <p:spPr>
          <a:xfrm>
            <a:off x="4000500" y="2793492"/>
            <a:ext cx="82296" cy="82296"/>
          </a:xfrm>
          <a:prstGeom prst="hexagon">
            <a:avLst/>
          </a:prstGeom>
          <a:solidFill>
            <a:srgbClr val="3B7DD8"/>
          </a:solidFill>
          <a:ln w="6350">
            <a:solidFill>
              <a:srgbClr val="1F4E8C"/>
            </a:solidFill>
            <a:prstDash val="solid"/>
          </a:ln>
        </p:spPr>
      </p:sp>
      <p:sp>
        <p:nvSpPr>
          <p:cNvPr id="40" name="Shape 38"/>
          <p:cNvSpPr/>
          <p:nvPr/>
        </p:nvSpPr>
        <p:spPr>
          <a:xfrm>
            <a:off x="3704234" y="2702966"/>
            <a:ext cx="82296" cy="82296"/>
          </a:xfrm>
          <a:prstGeom prst="hexagon">
            <a:avLst/>
          </a:prstGeom>
          <a:solidFill>
            <a:srgbClr val="3B7DD8"/>
          </a:solidFill>
          <a:ln w="6350">
            <a:solidFill>
              <a:srgbClr val="1F4E8C"/>
            </a:solidFill>
            <a:prstDash val="solid"/>
          </a:ln>
        </p:spPr>
      </p:sp>
      <p:sp>
        <p:nvSpPr>
          <p:cNvPr id="41" name="Shape 39"/>
          <p:cNvSpPr/>
          <p:nvPr/>
        </p:nvSpPr>
        <p:spPr>
          <a:xfrm>
            <a:off x="3794760" y="2653589"/>
            <a:ext cx="82296" cy="82296"/>
          </a:xfrm>
          <a:prstGeom prst="hexagon">
            <a:avLst/>
          </a:prstGeom>
          <a:solidFill>
            <a:srgbClr val="3B7DD8"/>
          </a:solidFill>
          <a:ln w="6350">
            <a:solidFill>
              <a:srgbClr val="1F4E8C"/>
            </a:solidFill>
            <a:prstDash val="solid"/>
          </a:ln>
        </p:spPr>
      </p:sp>
      <p:sp>
        <p:nvSpPr>
          <p:cNvPr id="42" name="Shape 40"/>
          <p:cNvSpPr/>
          <p:nvPr/>
        </p:nvSpPr>
        <p:spPr>
          <a:xfrm>
            <a:off x="3885286" y="2604211"/>
            <a:ext cx="82296" cy="82296"/>
          </a:xfrm>
          <a:prstGeom prst="hexagon">
            <a:avLst/>
          </a:prstGeom>
          <a:solidFill>
            <a:srgbClr val="3B7DD8"/>
          </a:solidFill>
          <a:ln w="6350">
            <a:solidFill>
              <a:srgbClr val="1F4E8C"/>
            </a:solidFill>
            <a:prstDash val="solid"/>
          </a:ln>
        </p:spPr>
      </p:sp>
      <p:sp>
        <p:nvSpPr>
          <p:cNvPr id="43" name="Shape 41"/>
          <p:cNvSpPr/>
          <p:nvPr/>
        </p:nvSpPr>
        <p:spPr>
          <a:xfrm>
            <a:off x="3605479" y="2884018"/>
            <a:ext cx="82296" cy="82296"/>
          </a:xfrm>
          <a:prstGeom prst="hexagon">
            <a:avLst/>
          </a:prstGeom>
          <a:solidFill>
            <a:srgbClr val="3B7DD8"/>
          </a:solidFill>
          <a:ln w="6350">
            <a:solidFill>
              <a:srgbClr val="1F4E8C"/>
            </a:solidFill>
            <a:prstDash val="solid"/>
          </a:ln>
        </p:spPr>
      </p:sp>
      <p:sp>
        <p:nvSpPr>
          <p:cNvPr id="44" name="Shape 42"/>
          <p:cNvSpPr/>
          <p:nvPr/>
        </p:nvSpPr>
        <p:spPr>
          <a:xfrm>
            <a:off x="3687775" y="2933395"/>
            <a:ext cx="82296" cy="82296"/>
          </a:xfrm>
          <a:prstGeom prst="hexagon">
            <a:avLst/>
          </a:prstGeom>
          <a:solidFill>
            <a:srgbClr val="3B7DD8"/>
          </a:solidFill>
          <a:ln w="6350">
            <a:solidFill>
              <a:srgbClr val="1F4E8C"/>
            </a:solidFill>
            <a:prstDash val="solid"/>
          </a:ln>
        </p:spPr>
      </p:sp>
      <p:sp>
        <p:nvSpPr>
          <p:cNvPr id="45" name="Shape 43"/>
          <p:cNvSpPr/>
          <p:nvPr/>
        </p:nvSpPr>
        <p:spPr>
          <a:xfrm>
            <a:off x="3770071" y="2982773"/>
            <a:ext cx="82296" cy="82296"/>
          </a:xfrm>
          <a:prstGeom prst="hexagon">
            <a:avLst/>
          </a:prstGeom>
          <a:solidFill>
            <a:srgbClr val="3B7DD8"/>
          </a:solidFill>
          <a:ln w="6350">
            <a:solidFill>
              <a:srgbClr val="1F4E8C"/>
            </a:solidFill>
            <a:prstDash val="solid"/>
          </a:ln>
        </p:spPr>
      </p:sp>
      <p:sp>
        <p:nvSpPr>
          <p:cNvPr id="46" name="Text 44"/>
          <p:cNvSpPr/>
          <p:nvPr/>
        </p:nvSpPr>
        <p:spPr>
          <a:xfrm>
            <a:off x="4526280" y="2423160"/>
            <a:ext cx="1325880" cy="45720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glucose → </a:t>
            </a:r>
            <a:r>
              <a:rPr lang="en-US" sz="1050" b="1" dirty="0">
                <a:solidFill>
                  <a:srgbClr val="262B3A"/>
                </a:solidFill>
                <a:latin typeface="Calibri" pitchFamily="34" charset="0"/>
                <a:ea typeface="Calibri" pitchFamily="34" charset="-122"/>
                <a:cs typeface="Calibri" pitchFamily="34" charset="-120"/>
              </a:rPr>
              <a:t>glycogen</a:t>
            </a:r>
            <a:r>
              <a:rPr lang="en-US" sz="1050" dirty="0">
                <a:solidFill>
                  <a:srgbClr val="262B3A"/>
                </a:solidFill>
                <a:latin typeface="Calibri" pitchFamily="34" charset="0"/>
                <a:ea typeface="Calibri" pitchFamily="34" charset="-122"/>
                <a:cs typeface="Calibri" pitchFamily="34" charset="-120"/>
              </a:rPr>
              <a:t> (stored)</a:t>
            </a:r>
            <a:endParaRPr lang="en-US" sz="1050" dirty="0"/>
          </a:p>
        </p:txBody>
      </p:sp>
      <p:sp>
        <p:nvSpPr>
          <p:cNvPr id="47" name="Shape 45"/>
          <p:cNvSpPr/>
          <p:nvPr/>
        </p:nvSpPr>
        <p:spPr>
          <a:xfrm>
            <a:off x="3337560" y="3909060"/>
            <a:ext cx="1737360" cy="868680"/>
          </a:xfrm>
          <a:prstGeom prst="ellipse">
            <a:avLst/>
          </a:prstGeom>
          <a:solidFill>
            <a:srgbClr val="FBF3DF"/>
          </a:solidFill>
          <a:ln w="19050">
            <a:solidFill>
              <a:srgbClr val="8A6D3B"/>
            </a:solidFill>
            <a:prstDash val="solid"/>
          </a:ln>
        </p:spPr>
      </p:sp>
      <p:sp>
        <p:nvSpPr>
          <p:cNvPr id="48" name="Shape 46"/>
          <p:cNvSpPr/>
          <p:nvPr/>
        </p:nvSpPr>
        <p:spPr>
          <a:xfrm>
            <a:off x="4069080" y="4251960"/>
            <a:ext cx="274320" cy="274320"/>
          </a:xfrm>
          <a:prstGeom prst="ellipse">
            <a:avLst/>
          </a:prstGeom>
          <a:solidFill>
            <a:srgbClr val="C9B6E4"/>
          </a:solidFill>
          <a:ln w="12700">
            <a:solidFill>
              <a:srgbClr val="6A4C93"/>
            </a:solidFill>
            <a:prstDash val="solid"/>
          </a:ln>
        </p:spPr>
      </p:sp>
      <p:sp>
        <p:nvSpPr>
          <p:cNvPr id="49" name="Shape 47"/>
          <p:cNvSpPr/>
          <p:nvPr/>
        </p:nvSpPr>
        <p:spPr>
          <a:xfrm>
            <a:off x="3639312" y="3931920"/>
            <a:ext cx="219456" cy="146304"/>
          </a:xfrm>
          <a:prstGeom prst="rect">
            <a:avLst/>
          </a:prstGeom>
          <a:solidFill>
            <a:srgbClr val="2E8B57"/>
          </a:solidFill>
          <a:ln w="9525">
            <a:solidFill>
              <a:srgbClr val="1E6B40"/>
            </a:solidFill>
            <a:prstDash val="solid"/>
          </a:ln>
        </p:spPr>
      </p:sp>
      <p:sp>
        <p:nvSpPr>
          <p:cNvPr id="50" name="Shape 48"/>
          <p:cNvSpPr/>
          <p:nvPr/>
        </p:nvSpPr>
        <p:spPr>
          <a:xfrm>
            <a:off x="3675888" y="3931006"/>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51" name="Shape 49"/>
          <p:cNvSpPr/>
          <p:nvPr/>
        </p:nvSpPr>
        <p:spPr>
          <a:xfrm rot="10800000">
            <a:off x="3675888" y="3922776"/>
            <a:ext cx="146304" cy="128016"/>
          </a:xfrm>
          <a:prstGeom prst="triangle">
            <a:avLst/>
          </a:prstGeom>
          <a:solidFill>
            <a:srgbClr val="E08A1E"/>
          </a:solidFill>
          <a:ln w="9525">
            <a:solidFill>
              <a:srgbClr val="9A5A0A"/>
            </a:solidFill>
            <a:prstDash val="solid"/>
          </a:ln>
        </p:spPr>
      </p:sp>
      <p:sp>
        <p:nvSpPr>
          <p:cNvPr id="52" name="Shape 50"/>
          <p:cNvSpPr/>
          <p:nvPr/>
        </p:nvSpPr>
        <p:spPr>
          <a:xfrm>
            <a:off x="4096512" y="3931920"/>
            <a:ext cx="219456" cy="146304"/>
          </a:xfrm>
          <a:prstGeom prst="rect">
            <a:avLst/>
          </a:prstGeom>
          <a:solidFill>
            <a:srgbClr val="2E8B57"/>
          </a:solidFill>
          <a:ln w="9525">
            <a:solidFill>
              <a:srgbClr val="1E6B40"/>
            </a:solidFill>
            <a:prstDash val="solid"/>
          </a:ln>
        </p:spPr>
      </p:sp>
      <p:sp>
        <p:nvSpPr>
          <p:cNvPr id="53" name="Shape 51"/>
          <p:cNvSpPr/>
          <p:nvPr/>
        </p:nvSpPr>
        <p:spPr>
          <a:xfrm>
            <a:off x="4133088" y="3931006"/>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54" name="Shape 52"/>
          <p:cNvSpPr/>
          <p:nvPr/>
        </p:nvSpPr>
        <p:spPr>
          <a:xfrm rot="10800000">
            <a:off x="4133088" y="3922776"/>
            <a:ext cx="146304" cy="128016"/>
          </a:xfrm>
          <a:prstGeom prst="triangle">
            <a:avLst/>
          </a:prstGeom>
          <a:solidFill>
            <a:srgbClr val="E08A1E"/>
          </a:solidFill>
          <a:ln w="9525">
            <a:solidFill>
              <a:srgbClr val="9A5A0A"/>
            </a:solidFill>
            <a:prstDash val="solid"/>
          </a:ln>
        </p:spPr>
      </p:sp>
      <p:sp>
        <p:nvSpPr>
          <p:cNvPr id="55" name="Shape 53"/>
          <p:cNvSpPr/>
          <p:nvPr/>
        </p:nvSpPr>
        <p:spPr>
          <a:xfrm>
            <a:off x="4553712" y="3931920"/>
            <a:ext cx="219456" cy="146304"/>
          </a:xfrm>
          <a:prstGeom prst="rect">
            <a:avLst/>
          </a:prstGeom>
          <a:solidFill>
            <a:srgbClr val="2E8B57"/>
          </a:solidFill>
          <a:ln w="9525">
            <a:solidFill>
              <a:srgbClr val="1E6B40"/>
            </a:solidFill>
            <a:prstDash val="solid"/>
          </a:ln>
        </p:spPr>
      </p:sp>
      <p:sp>
        <p:nvSpPr>
          <p:cNvPr id="56" name="Shape 54"/>
          <p:cNvSpPr/>
          <p:nvPr/>
        </p:nvSpPr>
        <p:spPr>
          <a:xfrm>
            <a:off x="4590288" y="3931006"/>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57" name="Shape 55"/>
          <p:cNvSpPr/>
          <p:nvPr/>
        </p:nvSpPr>
        <p:spPr>
          <a:xfrm rot="10800000">
            <a:off x="4590288" y="3922776"/>
            <a:ext cx="146304" cy="128016"/>
          </a:xfrm>
          <a:prstGeom prst="triangle">
            <a:avLst/>
          </a:prstGeom>
          <a:solidFill>
            <a:srgbClr val="E08A1E"/>
          </a:solidFill>
          <a:ln w="9525">
            <a:solidFill>
              <a:srgbClr val="9A5A0A"/>
            </a:solidFill>
            <a:prstDash val="solid"/>
          </a:ln>
        </p:spPr>
      </p:sp>
      <p:sp>
        <p:nvSpPr>
          <p:cNvPr id="58" name="Shape 56"/>
          <p:cNvSpPr/>
          <p:nvPr/>
        </p:nvSpPr>
        <p:spPr>
          <a:xfrm>
            <a:off x="5074920" y="2057400"/>
            <a:ext cx="91" cy="1828800"/>
          </a:xfrm>
          <a:prstGeom prst="line">
            <a:avLst/>
          </a:prstGeom>
          <a:noFill/>
          <a:ln w="25400">
            <a:solidFill>
              <a:srgbClr val="3B7DD8"/>
            </a:solidFill>
            <a:prstDash val="solid"/>
            <a:tailEnd type="triangle"/>
          </a:ln>
        </p:spPr>
      </p:sp>
      <p:sp>
        <p:nvSpPr>
          <p:cNvPr id="59" name="Shape 57"/>
          <p:cNvSpPr/>
          <p:nvPr/>
        </p:nvSpPr>
        <p:spPr>
          <a:xfrm>
            <a:off x="4471416" y="4471416"/>
            <a:ext cx="109728" cy="109728"/>
          </a:xfrm>
          <a:prstGeom prst="hexagon">
            <a:avLst/>
          </a:prstGeom>
          <a:solidFill>
            <a:srgbClr val="3B7DD8"/>
          </a:solidFill>
          <a:ln w="6350">
            <a:solidFill>
              <a:srgbClr val="1F4E8C"/>
            </a:solidFill>
            <a:prstDash val="solid"/>
          </a:ln>
        </p:spPr>
      </p:sp>
      <p:sp>
        <p:nvSpPr>
          <p:cNvPr id="60" name="Shape 58"/>
          <p:cNvSpPr/>
          <p:nvPr/>
        </p:nvSpPr>
        <p:spPr>
          <a:xfrm>
            <a:off x="3831336" y="4517136"/>
            <a:ext cx="109728" cy="109728"/>
          </a:xfrm>
          <a:prstGeom prst="hexagon">
            <a:avLst/>
          </a:prstGeom>
          <a:solidFill>
            <a:srgbClr val="3B7DD8"/>
          </a:solidFill>
          <a:ln w="6350">
            <a:solidFill>
              <a:srgbClr val="1F4E8C"/>
            </a:solidFill>
            <a:prstDash val="solid"/>
          </a:ln>
        </p:spPr>
      </p:sp>
      <p:sp>
        <p:nvSpPr>
          <p:cNvPr id="61" name="Text 59"/>
          <p:cNvSpPr/>
          <p:nvPr/>
        </p:nvSpPr>
        <p:spPr>
          <a:xfrm>
            <a:off x="3246120" y="4818888"/>
            <a:ext cx="1920240" cy="4114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body cells (e.g. muscle) </a:t>
            </a:r>
            <a:r>
              <a:rPr lang="en-US" sz="1050" b="1" dirty="0">
                <a:solidFill>
                  <a:srgbClr val="262B3A"/>
                </a:solidFill>
                <a:latin typeface="Calibri" pitchFamily="34" charset="0"/>
                <a:ea typeface="Calibri" pitchFamily="34" charset="-122"/>
                <a:cs typeface="Calibri" pitchFamily="34" charset="-120"/>
              </a:rPr>
              <a:t>take up glucose</a:t>
            </a:r>
            <a:endParaRPr lang="en-US" sz="1050" dirty="0"/>
          </a:p>
        </p:txBody>
      </p:sp>
      <p:sp>
        <p:nvSpPr>
          <p:cNvPr id="62" name="Shape 60"/>
          <p:cNvSpPr/>
          <p:nvPr/>
        </p:nvSpPr>
        <p:spPr>
          <a:xfrm>
            <a:off x="640080" y="3931920"/>
            <a:ext cx="2194560" cy="868680"/>
          </a:xfrm>
          <a:prstGeom prst="roundRect">
            <a:avLst>
              <a:gd name="adj" fmla="val 6316"/>
            </a:avLst>
          </a:prstGeom>
          <a:solidFill>
            <a:srgbClr val="E3F2E8"/>
          </a:solidFill>
          <a:ln w="15875">
            <a:solidFill>
              <a:srgbClr val="1E6B40"/>
            </a:solidFill>
            <a:prstDash val="solid"/>
          </a:ln>
        </p:spPr>
      </p:sp>
      <p:sp>
        <p:nvSpPr>
          <p:cNvPr id="63" name="Text 61"/>
          <p:cNvSpPr/>
          <p:nvPr/>
        </p:nvSpPr>
        <p:spPr>
          <a:xfrm>
            <a:off x="694944" y="3931920"/>
            <a:ext cx="2084832" cy="86868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blood glucose concentration </a:t>
            </a:r>
            <a:r>
              <a:rPr lang="en-US" sz="1050" b="1" dirty="0">
                <a:solidFill>
                  <a:srgbClr val="262B3A"/>
                </a:solidFill>
                <a:latin typeface="Calibri" pitchFamily="34" charset="0"/>
                <a:ea typeface="Calibri" pitchFamily="34" charset="-122"/>
                <a:cs typeface="Calibri" pitchFamily="34" charset="-120"/>
              </a:rPr>
              <a:t>falls</a:t>
            </a:r>
            <a:r>
              <a:rPr lang="en-US" sz="1050" dirty="0">
                <a:solidFill>
                  <a:srgbClr val="262B3A"/>
                </a:solidFill>
                <a:latin typeface="Calibri" pitchFamily="34" charset="0"/>
                <a:ea typeface="Calibri" pitchFamily="34" charset="-122"/>
                <a:cs typeface="Calibri" pitchFamily="34" charset="-120"/>
              </a:rPr>
              <a:t> back to normal</a:t>
            </a:r>
            <a:endParaRPr lang="en-US" sz="1050" dirty="0"/>
          </a:p>
        </p:txBody>
      </p:sp>
      <p:sp>
        <p:nvSpPr>
          <p:cNvPr id="64" name="Shape 62"/>
          <p:cNvSpPr/>
          <p:nvPr/>
        </p:nvSpPr>
        <p:spPr>
          <a:xfrm>
            <a:off x="6217920" y="1188720"/>
            <a:ext cx="5562295" cy="2423160"/>
          </a:xfrm>
          <a:prstGeom prst="roundRect">
            <a:avLst>
              <a:gd name="adj" fmla="val 2264"/>
            </a:avLst>
          </a:prstGeom>
          <a:solidFill>
            <a:srgbClr val="F5FBF7"/>
          </a:solidFill>
          <a:ln w="9525">
            <a:solidFill>
              <a:srgbClr val="D2E5D8"/>
            </a:solidFill>
            <a:prstDash val="solid"/>
          </a:ln>
        </p:spPr>
      </p:sp>
      <p:sp>
        <p:nvSpPr>
          <p:cNvPr id="65" name="Text 6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Insulin lowers blood glucose</a:t>
            </a:r>
            <a:endParaRPr lang="en-US" sz="1300" dirty="0"/>
          </a:p>
        </p:txBody>
      </p:sp>
      <p:sp>
        <p:nvSpPr>
          <p:cNvPr id="66" name="Text 6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After a meal, </a:t>
            </a:r>
            <a:r>
              <a:rPr lang="en-US" sz="1100" b="1" dirty="0">
                <a:solidFill>
                  <a:srgbClr val="262B3A"/>
                </a:solidFill>
                <a:latin typeface="Calibri" pitchFamily="34" charset="0"/>
                <a:ea typeface="Calibri" pitchFamily="34" charset="-122"/>
                <a:cs typeface="Calibri" pitchFamily="34" charset="-120"/>
              </a:rPr>
              <a:t>glucose</a:t>
            </a:r>
            <a:r>
              <a:rPr lang="en-US" sz="1100" dirty="0">
                <a:solidFill>
                  <a:srgbClr val="262B3A"/>
                </a:solidFill>
                <a:latin typeface="Calibri" pitchFamily="34" charset="0"/>
                <a:ea typeface="Calibri" pitchFamily="34" charset="-122"/>
                <a:cs typeface="Calibri" pitchFamily="34" charset="-120"/>
              </a:rPr>
              <a:t> from digested carbohydrate is absorbed into the blood: concentration </a:t>
            </a:r>
            <a:r>
              <a:rPr lang="en-US" sz="1100" b="1" dirty="0">
                <a:solidFill>
                  <a:srgbClr val="262B3A"/>
                </a:solidFill>
                <a:latin typeface="Calibri" pitchFamily="34" charset="0"/>
                <a:ea typeface="Calibri" pitchFamily="34" charset="-122"/>
                <a:cs typeface="Calibri" pitchFamily="34" charset="-120"/>
              </a:rPr>
              <a:t>rises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pancreas</a:t>
            </a:r>
            <a:r>
              <a:rPr lang="en-US" sz="1100" dirty="0">
                <a:solidFill>
                  <a:srgbClr val="262B3A"/>
                </a:solidFill>
                <a:latin typeface="Calibri" pitchFamily="34" charset="0"/>
                <a:ea typeface="Calibri" pitchFamily="34" charset="-122"/>
                <a:cs typeface="Calibri" pitchFamily="34" charset="-120"/>
              </a:rPr>
              <a:t> detects this and secretes </a:t>
            </a:r>
            <a:r>
              <a:rPr lang="en-US" sz="1100" b="1" dirty="0">
                <a:solidFill>
                  <a:srgbClr val="262B3A"/>
                </a:solidFill>
                <a:latin typeface="Calibri" pitchFamily="34" charset="0"/>
                <a:ea typeface="Calibri" pitchFamily="34" charset="-122"/>
                <a:cs typeface="Calibri" pitchFamily="34" charset="-120"/>
              </a:rPr>
              <a:t>insulin</a:t>
            </a:r>
            <a:r>
              <a:rPr lang="en-US" sz="1100" dirty="0">
                <a:solidFill>
                  <a:srgbClr val="262B3A"/>
                </a:solidFill>
                <a:latin typeface="Calibri" pitchFamily="34" charset="0"/>
                <a:ea typeface="Calibri" pitchFamily="34" charset="-122"/>
                <a:cs typeface="Calibri" pitchFamily="34" charset="-120"/>
              </a:rPr>
              <a:t> into the blood.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Insulin causes </a:t>
            </a:r>
            <a:r>
              <a:rPr lang="en-US" sz="1100" b="1" dirty="0">
                <a:solidFill>
                  <a:srgbClr val="262B3A"/>
                </a:solidFill>
                <a:latin typeface="Calibri" pitchFamily="34" charset="0"/>
                <a:ea typeface="Calibri" pitchFamily="34" charset="-122"/>
                <a:cs typeface="Calibri" pitchFamily="34" charset="-120"/>
              </a:rPr>
              <a:t>body cells</a:t>
            </a:r>
            <a:r>
              <a:rPr lang="en-US" sz="1100" dirty="0">
                <a:solidFill>
                  <a:srgbClr val="262B3A"/>
                </a:solidFill>
                <a:latin typeface="Calibri" pitchFamily="34" charset="0"/>
                <a:ea typeface="Calibri" pitchFamily="34" charset="-122"/>
                <a:cs typeface="Calibri" pitchFamily="34" charset="-120"/>
              </a:rPr>
              <a:t> (especially muscle and liver) to </a:t>
            </a:r>
            <a:r>
              <a:rPr lang="en-US" sz="1100" b="1" dirty="0">
                <a:solidFill>
                  <a:srgbClr val="262B3A"/>
                </a:solidFill>
                <a:latin typeface="Calibri" pitchFamily="34" charset="0"/>
                <a:ea typeface="Calibri" pitchFamily="34" charset="-122"/>
                <a:cs typeface="Calibri" pitchFamily="34" charset="-120"/>
              </a:rPr>
              <a:t>take up glucose</a:t>
            </a:r>
            <a:r>
              <a:rPr lang="en-US" sz="1100" dirty="0">
                <a:solidFill>
                  <a:srgbClr val="262B3A"/>
                </a:solidFill>
                <a:latin typeface="Calibri" pitchFamily="34" charset="0"/>
                <a:ea typeface="Calibri" pitchFamily="34" charset="-122"/>
                <a:cs typeface="Calibri" pitchFamily="34" charset="-120"/>
              </a:rPr>
              <a:t> from the blood.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 the </a:t>
            </a:r>
            <a:r>
              <a:rPr lang="en-US" sz="1100" b="1" dirty="0">
                <a:solidFill>
                  <a:srgbClr val="262B3A"/>
                </a:solidFill>
                <a:latin typeface="Calibri" pitchFamily="34" charset="0"/>
                <a:ea typeface="Calibri" pitchFamily="34" charset="-122"/>
                <a:cs typeface="Calibri" pitchFamily="34" charset="-120"/>
              </a:rPr>
              <a:t>liver</a:t>
            </a:r>
            <a:r>
              <a:rPr lang="en-US" sz="1100" dirty="0">
                <a:solidFill>
                  <a:srgbClr val="262B3A"/>
                </a:solidFill>
                <a:latin typeface="Calibri" pitchFamily="34" charset="0"/>
                <a:ea typeface="Calibri" pitchFamily="34" charset="-122"/>
                <a:cs typeface="Calibri" pitchFamily="34" charset="-120"/>
              </a:rPr>
              <a:t> and muscles, excess glucose is converted to </a:t>
            </a:r>
            <a:r>
              <a:rPr lang="en-US" sz="1100" b="1" dirty="0">
                <a:solidFill>
                  <a:srgbClr val="262B3A"/>
                </a:solidFill>
                <a:latin typeface="Calibri" pitchFamily="34" charset="0"/>
                <a:ea typeface="Calibri" pitchFamily="34" charset="-122"/>
                <a:cs typeface="Calibri" pitchFamily="34" charset="-120"/>
              </a:rPr>
              <a:t>glycogen</a:t>
            </a:r>
            <a:r>
              <a:rPr lang="en-US" sz="1100" dirty="0">
                <a:solidFill>
                  <a:srgbClr val="262B3A"/>
                </a:solidFill>
                <a:latin typeface="Calibri" pitchFamily="34" charset="0"/>
                <a:ea typeface="Calibri" pitchFamily="34" charset="-122"/>
                <a:cs typeface="Calibri" pitchFamily="34" charset="-120"/>
              </a:rPr>
              <a:t> for storage. Blood glucose returns to normal.</a:t>
            </a:r>
            <a:endParaRPr lang="en-US" sz="1100" dirty="0"/>
          </a:p>
        </p:txBody>
      </p:sp>
      <p:sp>
        <p:nvSpPr>
          <p:cNvPr id="67" name="Shape 6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8" name="Text 6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Common mistakes</a:t>
            </a:r>
            <a:endParaRPr lang="en-US" sz="1300" dirty="0"/>
          </a:p>
        </p:txBody>
      </p:sp>
      <p:sp>
        <p:nvSpPr>
          <p:cNvPr id="69" name="Text 67"/>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1 Glucagon ≠ glycogen   </a:t>
            </a:r>
            <a:r>
              <a:rPr lang="en-US" sz="1100" dirty="0">
                <a:solidFill>
                  <a:srgbClr val="262B3A"/>
                </a:solidFill>
                <a:latin typeface="Calibri" pitchFamily="34" charset="0"/>
                <a:ea typeface="Calibri" pitchFamily="34" charset="-122"/>
                <a:cs typeface="Calibri" pitchFamily="34" charset="-120"/>
              </a:rPr>
              <a:t>glucagon is a hormone; glycogen is a stored carbohydrate</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2 Insulin   </a:t>
            </a:r>
            <a:r>
              <a:rPr lang="en-US" sz="1100" dirty="0">
                <a:solidFill>
                  <a:srgbClr val="262B3A"/>
                </a:solidFill>
                <a:latin typeface="Calibri" pitchFamily="34" charset="0"/>
                <a:ea typeface="Calibri" pitchFamily="34" charset="-122"/>
                <a:cs typeface="Calibri" pitchFamily="34" charset="-120"/>
              </a:rPr>
              <a:t>does not "turn into" glycogen; it triggers the change</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3 Where   </a:t>
            </a:r>
            <a:r>
              <a:rPr lang="en-US" sz="1100" dirty="0">
                <a:solidFill>
                  <a:srgbClr val="262B3A"/>
                </a:solidFill>
                <a:latin typeface="Calibri" pitchFamily="34" charset="0"/>
                <a:ea typeface="Calibri" pitchFamily="34" charset="-122"/>
                <a:cs typeface="Calibri" pitchFamily="34" charset="-120"/>
              </a:rPr>
              <a:t>glycogen is stored in the liver and muscles</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use the three words carefully</a:t>
            </a:r>
            <a:endParaRPr lang="en-US" sz="1100" dirty="0"/>
          </a:p>
        </p:txBody>
      </p:sp>
      <p:sp>
        <p:nvSpPr>
          <p:cNvPr id="70" name="Shape 68"/>
          <p:cNvSpPr/>
          <p:nvPr/>
        </p:nvSpPr>
        <p:spPr>
          <a:xfrm>
            <a:off x="411480" y="5833872"/>
            <a:ext cx="11368735" cy="530352"/>
          </a:xfrm>
          <a:prstGeom prst="rect">
            <a:avLst/>
          </a:prstGeom>
          <a:solidFill>
            <a:srgbClr val="FFF4E0"/>
          </a:solidFill>
          <a:ln w="6350">
            <a:solidFill>
              <a:srgbClr val="F1D9A8"/>
            </a:solidFill>
            <a:prstDash val="solid"/>
          </a:ln>
        </p:spPr>
      </p:sp>
      <p:sp>
        <p:nvSpPr>
          <p:cNvPr id="71" name="Shape 69"/>
          <p:cNvSpPr/>
          <p:nvPr/>
        </p:nvSpPr>
        <p:spPr>
          <a:xfrm>
            <a:off x="411480" y="5833872"/>
            <a:ext cx="82296" cy="530352"/>
          </a:xfrm>
          <a:prstGeom prst="rect">
            <a:avLst/>
          </a:prstGeom>
          <a:solidFill>
            <a:srgbClr val="E39A2F"/>
          </a:solidFill>
          <a:ln w="12700">
            <a:solidFill>
              <a:srgbClr val="E39A2F"/>
            </a:solidFill>
            <a:prstDash val="solid"/>
          </a:ln>
        </p:spPr>
      </p:sp>
      <p:sp>
        <p:nvSpPr>
          <p:cNvPr id="72" name="Text 7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organ detects a rise in blood glucose? What does the liver convert excess glucose into?</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Glucagon and the blood glucose feedback loop</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7.14 • insulin and glucagon act in opposite directions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7.14  |  23</a:t>
            </a:r>
            <a:endParaRPr lang="en-US" sz="1000" dirty="0"/>
          </a:p>
        </p:txBody>
      </p:sp>
      <p:sp>
        <p:nvSpPr>
          <p:cNvPr id="10" name="Shape 8"/>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two hormones from the pancreas keep blood glucose near normal</a:t>
            </a:r>
            <a:endParaRPr lang="en-US" sz="1000" dirty="0"/>
          </a:p>
        </p:txBody>
      </p:sp>
      <p:sp>
        <p:nvSpPr>
          <p:cNvPr id="12" name="Shape 10"/>
          <p:cNvSpPr/>
          <p:nvPr/>
        </p:nvSpPr>
        <p:spPr>
          <a:xfrm>
            <a:off x="2103120" y="3063240"/>
            <a:ext cx="2194560" cy="640080"/>
          </a:xfrm>
          <a:prstGeom prst="roundRect">
            <a:avLst>
              <a:gd name="adj" fmla="val 8571"/>
            </a:avLst>
          </a:prstGeom>
          <a:solidFill>
            <a:srgbClr val="E3F2E8"/>
          </a:solidFill>
          <a:ln w="15875">
            <a:solidFill>
              <a:srgbClr val="1E6B40"/>
            </a:solidFill>
            <a:prstDash val="solid"/>
          </a:ln>
        </p:spPr>
      </p:sp>
      <p:sp>
        <p:nvSpPr>
          <p:cNvPr id="13" name="Text 11"/>
          <p:cNvSpPr/>
          <p:nvPr/>
        </p:nvSpPr>
        <p:spPr>
          <a:xfrm>
            <a:off x="2157984" y="3063240"/>
            <a:ext cx="2084832" cy="640080"/>
          </a:xfrm>
          <a:prstGeom prst="rect">
            <a:avLst/>
          </a:prstGeom>
          <a:noFill/>
          <a:ln/>
        </p:spPr>
        <p:txBody>
          <a:bodyPr wrap="square" lIns="0" tIns="0" rIns="0" bIns="0" rtlCol="0" anchor="ctr"/>
          <a:lstStyle/>
          <a:p>
            <a:pPr algn="ctr" indent="0" marL="0">
              <a:buNone/>
            </a:pPr>
            <a:r>
              <a:rPr lang="en-US" sz="1150" b="1" dirty="0">
                <a:solidFill>
                  <a:srgbClr val="262B3A"/>
                </a:solidFill>
                <a:latin typeface="Calibri" pitchFamily="34" charset="0"/>
                <a:ea typeface="Calibri" pitchFamily="34" charset="-122"/>
                <a:cs typeface="Calibri" pitchFamily="34" charset="-120"/>
              </a:rPr>
              <a:t>normal</a:t>
            </a:r>
            <a:r>
              <a:rPr lang="en-US" sz="1150" dirty="0">
                <a:solidFill>
                  <a:srgbClr val="262B3A"/>
                </a:solidFill>
                <a:latin typeface="Calibri" pitchFamily="34" charset="0"/>
                <a:ea typeface="Calibri" pitchFamily="34" charset="-122"/>
                <a:cs typeface="Calibri" pitchFamily="34" charset="-120"/>
              </a:rPr>
              <a:t> blood glucose</a:t>
            </a:r>
            <a:endParaRPr lang="en-US" sz="1150" dirty="0"/>
          </a:p>
        </p:txBody>
      </p:sp>
      <p:sp>
        <p:nvSpPr>
          <p:cNvPr id="14" name="Shape 12"/>
          <p:cNvSpPr/>
          <p:nvPr/>
        </p:nvSpPr>
        <p:spPr>
          <a:xfrm>
            <a:off x="640080" y="1417320"/>
            <a:ext cx="2286000" cy="685800"/>
          </a:xfrm>
          <a:prstGeom prst="roundRect">
            <a:avLst>
              <a:gd name="adj" fmla="val 8000"/>
            </a:avLst>
          </a:prstGeom>
          <a:solidFill>
            <a:srgbClr val="FDEDEE"/>
          </a:solidFill>
          <a:ln w="15875">
            <a:solidFill>
              <a:srgbClr val="C8414C"/>
            </a:solidFill>
            <a:prstDash val="solid"/>
          </a:ln>
        </p:spPr>
      </p:sp>
      <p:sp>
        <p:nvSpPr>
          <p:cNvPr id="15" name="Text 13"/>
          <p:cNvSpPr/>
          <p:nvPr/>
        </p:nvSpPr>
        <p:spPr>
          <a:xfrm>
            <a:off x="694944" y="1417320"/>
            <a:ext cx="2176272" cy="68580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glucose </a:t>
            </a:r>
            <a:r>
              <a:rPr lang="en-US" sz="1050" b="1" dirty="0">
                <a:solidFill>
                  <a:srgbClr val="262B3A"/>
                </a:solidFill>
                <a:latin typeface="Calibri" pitchFamily="34" charset="0"/>
                <a:ea typeface="Calibri" pitchFamily="34" charset="-122"/>
                <a:cs typeface="Calibri" pitchFamily="34" charset="-120"/>
              </a:rPr>
              <a:t>too high</a:t>
            </a:r>
            <a:r>
              <a:rPr lang="en-US" sz="1050" dirty="0">
                <a:solidFill>
                  <a:srgbClr val="262B3A"/>
                </a:solidFill>
                <a:latin typeface="Calibri" pitchFamily="34" charset="0"/>
                <a:ea typeface="Calibri" pitchFamily="34" charset="-122"/>
                <a:cs typeface="Calibri" pitchFamily="34" charset="-120"/>
              </a:rPr>
              <a:t> (after a meal)</a:t>
            </a:r>
            <a:endParaRPr lang="en-US" sz="1050" dirty="0"/>
          </a:p>
        </p:txBody>
      </p:sp>
      <p:sp>
        <p:nvSpPr>
          <p:cNvPr id="16" name="Shape 14"/>
          <p:cNvSpPr/>
          <p:nvPr/>
        </p:nvSpPr>
        <p:spPr>
          <a:xfrm>
            <a:off x="3474720" y="1417320"/>
            <a:ext cx="2286000" cy="685800"/>
          </a:xfrm>
          <a:prstGeom prst="roundRect">
            <a:avLst>
              <a:gd name="adj" fmla="val 8000"/>
            </a:avLst>
          </a:prstGeom>
          <a:solidFill>
            <a:srgbClr val="FFF1DD"/>
          </a:solidFill>
          <a:ln w="15875">
            <a:solidFill>
              <a:srgbClr val="E08A1E"/>
            </a:solidFill>
            <a:prstDash val="solid"/>
          </a:ln>
        </p:spPr>
      </p:sp>
      <p:sp>
        <p:nvSpPr>
          <p:cNvPr id="17" name="Text 15"/>
          <p:cNvSpPr/>
          <p:nvPr/>
        </p:nvSpPr>
        <p:spPr>
          <a:xfrm>
            <a:off x="3529584" y="1417320"/>
            <a:ext cx="2176272" cy="6858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pancreas</a:t>
            </a:r>
            <a:r>
              <a:rPr lang="en-US" sz="1050" dirty="0">
                <a:solidFill>
                  <a:srgbClr val="262B3A"/>
                </a:solidFill>
                <a:latin typeface="Calibri" pitchFamily="34" charset="0"/>
                <a:ea typeface="Calibri" pitchFamily="34" charset="-122"/>
                <a:cs typeface="Calibri" pitchFamily="34" charset="-120"/>
              </a:rPr>
              <a:t> releases </a:t>
            </a:r>
            <a:r>
              <a:rPr lang="en-US" sz="1050" b="1" dirty="0">
                <a:solidFill>
                  <a:srgbClr val="262B3A"/>
                </a:solidFill>
                <a:latin typeface="Calibri" pitchFamily="34" charset="0"/>
                <a:ea typeface="Calibri" pitchFamily="34" charset="-122"/>
                <a:cs typeface="Calibri" pitchFamily="34" charset="-120"/>
              </a:rPr>
              <a:t>insulin</a:t>
            </a:r>
            <a:endParaRPr lang="en-US" sz="1050" dirty="0"/>
          </a:p>
        </p:txBody>
      </p:sp>
      <p:sp>
        <p:nvSpPr>
          <p:cNvPr id="18" name="Shape 16"/>
          <p:cNvSpPr/>
          <p:nvPr/>
        </p:nvSpPr>
        <p:spPr>
          <a:xfrm>
            <a:off x="3474720" y="2331720"/>
            <a:ext cx="2286000" cy="548640"/>
          </a:xfrm>
          <a:prstGeom prst="roundRect">
            <a:avLst>
              <a:gd name="adj" fmla="val 10000"/>
            </a:avLst>
          </a:prstGeom>
          <a:solidFill>
            <a:srgbClr val="FFFFFF"/>
          </a:solidFill>
          <a:ln w="15875">
            <a:solidFill>
              <a:srgbClr val="6B3318"/>
            </a:solidFill>
            <a:prstDash val="solid"/>
          </a:ln>
        </p:spPr>
      </p:sp>
      <p:sp>
        <p:nvSpPr>
          <p:cNvPr id="19" name="Text 17"/>
          <p:cNvSpPr/>
          <p:nvPr/>
        </p:nvSpPr>
        <p:spPr>
          <a:xfrm>
            <a:off x="3529584" y="2331720"/>
            <a:ext cx="2176272"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liver: glucose → </a:t>
            </a:r>
            <a:r>
              <a:rPr lang="en-US" sz="1000" b="1" dirty="0">
                <a:solidFill>
                  <a:srgbClr val="262B3A"/>
                </a:solidFill>
                <a:latin typeface="Calibri" pitchFamily="34" charset="0"/>
                <a:ea typeface="Calibri" pitchFamily="34" charset="-122"/>
                <a:cs typeface="Calibri" pitchFamily="34" charset="-120"/>
              </a:rPr>
              <a:t>glycogen</a:t>
            </a:r>
            <a:r>
              <a:rPr lang="en-US" sz="1000" dirty="0">
                <a:solidFill>
                  <a:srgbClr val="262B3A"/>
                </a:solidFill>
                <a:latin typeface="Calibri" pitchFamily="34" charset="0"/>
                <a:ea typeface="Calibri" pitchFamily="34" charset="-122"/>
                <a:cs typeface="Calibri" pitchFamily="34" charset="-120"/>
              </a:rPr>
              <a:t>; cells take up glucose</a:t>
            </a:r>
            <a:endParaRPr lang="en-US" sz="1000" dirty="0"/>
          </a:p>
        </p:txBody>
      </p:sp>
      <p:sp>
        <p:nvSpPr>
          <p:cNvPr id="20" name="Shape 18"/>
          <p:cNvSpPr/>
          <p:nvPr/>
        </p:nvSpPr>
        <p:spPr>
          <a:xfrm>
            <a:off x="640080" y="4434840"/>
            <a:ext cx="2286000" cy="685800"/>
          </a:xfrm>
          <a:prstGeom prst="roundRect">
            <a:avLst>
              <a:gd name="adj" fmla="val 8000"/>
            </a:avLst>
          </a:prstGeom>
          <a:solidFill>
            <a:srgbClr val="E6F0FB"/>
          </a:solidFill>
          <a:ln w="15875">
            <a:solidFill>
              <a:srgbClr val="3B7DD8"/>
            </a:solidFill>
            <a:prstDash val="solid"/>
          </a:ln>
        </p:spPr>
      </p:sp>
      <p:sp>
        <p:nvSpPr>
          <p:cNvPr id="21" name="Text 19"/>
          <p:cNvSpPr/>
          <p:nvPr/>
        </p:nvSpPr>
        <p:spPr>
          <a:xfrm>
            <a:off x="694944" y="4434840"/>
            <a:ext cx="2176272" cy="68580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glucose </a:t>
            </a:r>
            <a:r>
              <a:rPr lang="en-US" sz="1050" b="1" dirty="0">
                <a:solidFill>
                  <a:srgbClr val="262B3A"/>
                </a:solidFill>
                <a:latin typeface="Calibri" pitchFamily="34" charset="0"/>
                <a:ea typeface="Calibri" pitchFamily="34" charset="-122"/>
                <a:cs typeface="Calibri" pitchFamily="34" charset="-120"/>
              </a:rPr>
              <a:t>too low</a:t>
            </a:r>
            <a:r>
              <a:rPr lang="en-US" sz="1050" dirty="0">
                <a:solidFill>
                  <a:srgbClr val="262B3A"/>
                </a:solidFill>
                <a:latin typeface="Calibri" pitchFamily="34" charset="0"/>
                <a:ea typeface="Calibri" pitchFamily="34" charset="-122"/>
                <a:cs typeface="Calibri" pitchFamily="34" charset="-120"/>
              </a:rPr>
              <a:t> (exercise, fasting)</a:t>
            </a:r>
            <a:endParaRPr lang="en-US" sz="1050" dirty="0"/>
          </a:p>
        </p:txBody>
      </p:sp>
      <p:sp>
        <p:nvSpPr>
          <p:cNvPr id="22" name="Shape 20"/>
          <p:cNvSpPr/>
          <p:nvPr/>
        </p:nvSpPr>
        <p:spPr>
          <a:xfrm>
            <a:off x="3474720" y="4434840"/>
            <a:ext cx="2286000" cy="685800"/>
          </a:xfrm>
          <a:prstGeom prst="roundRect">
            <a:avLst>
              <a:gd name="adj" fmla="val 8000"/>
            </a:avLst>
          </a:prstGeom>
          <a:solidFill>
            <a:srgbClr val="F3E8F8"/>
          </a:solidFill>
          <a:ln w="15875">
            <a:solidFill>
              <a:srgbClr val="8E44AD"/>
            </a:solidFill>
            <a:prstDash val="solid"/>
          </a:ln>
        </p:spPr>
      </p:sp>
      <p:sp>
        <p:nvSpPr>
          <p:cNvPr id="23" name="Text 21"/>
          <p:cNvSpPr/>
          <p:nvPr/>
        </p:nvSpPr>
        <p:spPr>
          <a:xfrm>
            <a:off x="3529584" y="4434840"/>
            <a:ext cx="2176272" cy="6858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pancreas</a:t>
            </a:r>
            <a:r>
              <a:rPr lang="en-US" sz="1050" dirty="0">
                <a:solidFill>
                  <a:srgbClr val="262B3A"/>
                </a:solidFill>
                <a:latin typeface="Calibri" pitchFamily="34" charset="0"/>
                <a:ea typeface="Calibri" pitchFamily="34" charset="-122"/>
                <a:cs typeface="Calibri" pitchFamily="34" charset="-120"/>
              </a:rPr>
              <a:t> releases </a:t>
            </a:r>
            <a:r>
              <a:rPr lang="en-US" sz="1050" b="1" dirty="0">
                <a:solidFill>
                  <a:srgbClr val="262B3A"/>
                </a:solidFill>
                <a:latin typeface="Calibri" pitchFamily="34" charset="0"/>
                <a:ea typeface="Calibri" pitchFamily="34" charset="-122"/>
                <a:cs typeface="Calibri" pitchFamily="34" charset="-120"/>
              </a:rPr>
              <a:t>glucagon</a:t>
            </a:r>
            <a:endParaRPr lang="en-US" sz="1050" dirty="0"/>
          </a:p>
        </p:txBody>
      </p:sp>
      <p:sp>
        <p:nvSpPr>
          <p:cNvPr id="24" name="Shape 22"/>
          <p:cNvSpPr/>
          <p:nvPr/>
        </p:nvSpPr>
        <p:spPr>
          <a:xfrm>
            <a:off x="3474720" y="3794760"/>
            <a:ext cx="2286000" cy="548640"/>
          </a:xfrm>
          <a:prstGeom prst="roundRect">
            <a:avLst>
              <a:gd name="adj" fmla="val 10000"/>
            </a:avLst>
          </a:prstGeom>
          <a:solidFill>
            <a:srgbClr val="FFFFFF"/>
          </a:solidFill>
          <a:ln w="15875">
            <a:solidFill>
              <a:srgbClr val="6B3318"/>
            </a:solidFill>
            <a:prstDash val="solid"/>
          </a:ln>
        </p:spPr>
      </p:sp>
      <p:sp>
        <p:nvSpPr>
          <p:cNvPr id="25" name="Text 23"/>
          <p:cNvSpPr/>
          <p:nvPr/>
        </p:nvSpPr>
        <p:spPr>
          <a:xfrm>
            <a:off x="3529584" y="3794760"/>
            <a:ext cx="2176272"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liver: </a:t>
            </a:r>
            <a:r>
              <a:rPr lang="en-US" sz="1000" b="1" dirty="0">
                <a:solidFill>
                  <a:srgbClr val="262B3A"/>
                </a:solidFill>
                <a:latin typeface="Calibri" pitchFamily="34" charset="0"/>
                <a:ea typeface="Calibri" pitchFamily="34" charset="-122"/>
                <a:cs typeface="Calibri" pitchFamily="34" charset="-120"/>
              </a:rPr>
              <a:t>glycogen → glucose</a:t>
            </a:r>
            <a:r>
              <a:rPr lang="en-US" sz="1000" dirty="0">
                <a:solidFill>
                  <a:srgbClr val="262B3A"/>
                </a:solidFill>
                <a:latin typeface="Calibri" pitchFamily="34" charset="0"/>
                <a:ea typeface="Calibri" pitchFamily="34" charset="-122"/>
                <a:cs typeface="Calibri" pitchFamily="34" charset="-120"/>
              </a:rPr>
              <a:t> released into blood</a:t>
            </a:r>
            <a:endParaRPr lang="en-US" sz="1000" dirty="0"/>
          </a:p>
        </p:txBody>
      </p:sp>
      <p:sp>
        <p:nvSpPr>
          <p:cNvPr id="26" name="Shape 24"/>
          <p:cNvSpPr/>
          <p:nvPr/>
        </p:nvSpPr>
        <p:spPr>
          <a:xfrm>
            <a:off x="2926080" y="1755648"/>
            <a:ext cx="530352" cy="91"/>
          </a:xfrm>
          <a:prstGeom prst="line">
            <a:avLst/>
          </a:prstGeom>
          <a:noFill/>
          <a:ln w="25400">
            <a:solidFill>
              <a:srgbClr val="1C3A2C"/>
            </a:solidFill>
            <a:prstDash val="solid"/>
            <a:tailEnd type="triangle"/>
          </a:ln>
        </p:spPr>
      </p:sp>
      <p:sp>
        <p:nvSpPr>
          <p:cNvPr id="27" name="Shape 25"/>
          <p:cNvSpPr/>
          <p:nvPr/>
        </p:nvSpPr>
        <p:spPr>
          <a:xfrm>
            <a:off x="4617720" y="2103120"/>
            <a:ext cx="91" cy="210312"/>
          </a:xfrm>
          <a:prstGeom prst="line">
            <a:avLst/>
          </a:prstGeom>
          <a:noFill/>
          <a:ln w="25400">
            <a:solidFill>
              <a:srgbClr val="1C3A2C"/>
            </a:solidFill>
            <a:prstDash val="solid"/>
            <a:tailEnd type="triangle"/>
          </a:ln>
        </p:spPr>
      </p:sp>
      <p:sp>
        <p:nvSpPr>
          <p:cNvPr id="28" name="Shape 26"/>
          <p:cNvSpPr/>
          <p:nvPr/>
        </p:nvSpPr>
        <p:spPr>
          <a:xfrm>
            <a:off x="3474720" y="2743200"/>
            <a:ext cx="182880" cy="301752"/>
          </a:xfrm>
          <a:prstGeom prst="line">
            <a:avLst/>
          </a:prstGeom>
          <a:noFill/>
          <a:ln w="25400">
            <a:solidFill>
              <a:srgbClr val="1C3A2C"/>
            </a:solidFill>
            <a:prstDash val="solid"/>
            <a:tailEnd type="triangle"/>
          </a:ln>
        </p:spPr>
      </p:sp>
      <p:sp>
        <p:nvSpPr>
          <p:cNvPr id="29" name="Shape 27"/>
          <p:cNvSpPr/>
          <p:nvPr/>
        </p:nvSpPr>
        <p:spPr>
          <a:xfrm flipV="1">
            <a:off x="1783080" y="2121408"/>
            <a:ext cx="91" cy="923544"/>
          </a:xfrm>
          <a:prstGeom prst="line">
            <a:avLst/>
          </a:prstGeom>
          <a:noFill/>
          <a:ln w="25400">
            <a:solidFill>
              <a:srgbClr val="C8414C"/>
            </a:solidFill>
            <a:prstDash val="solid"/>
            <a:tailEnd type="triangle"/>
          </a:ln>
        </p:spPr>
      </p:sp>
      <p:sp>
        <p:nvSpPr>
          <p:cNvPr id="30" name="Text 28"/>
          <p:cNvSpPr/>
          <p:nvPr/>
        </p:nvSpPr>
        <p:spPr>
          <a:xfrm>
            <a:off x="502920" y="2377440"/>
            <a:ext cx="1188720" cy="256032"/>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rises</a:t>
            </a:r>
            <a:endParaRPr lang="en-US" sz="1050" dirty="0"/>
          </a:p>
        </p:txBody>
      </p:sp>
      <p:sp>
        <p:nvSpPr>
          <p:cNvPr id="31" name="Shape 29"/>
          <p:cNvSpPr/>
          <p:nvPr/>
        </p:nvSpPr>
        <p:spPr>
          <a:xfrm>
            <a:off x="1783080" y="3721608"/>
            <a:ext cx="91" cy="694944"/>
          </a:xfrm>
          <a:prstGeom prst="line">
            <a:avLst/>
          </a:prstGeom>
          <a:noFill/>
          <a:ln w="25400">
            <a:solidFill>
              <a:srgbClr val="3B7DD8"/>
            </a:solidFill>
            <a:prstDash val="solid"/>
            <a:tailEnd type="triangle"/>
          </a:ln>
        </p:spPr>
      </p:sp>
      <p:sp>
        <p:nvSpPr>
          <p:cNvPr id="32" name="Text 30"/>
          <p:cNvSpPr/>
          <p:nvPr/>
        </p:nvSpPr>
        <p:spPr>
          <a:xfrm>
            <a:off x="502920" y="3886200"/>
            <a:ext cx="1188720" cy="256032"/>
          </a:xfrm>
          <a:prstGeom prst="rect">
            <a:avLst/>
          </a:prstGeom>
          <a:noFill/>
          <a:ln/>
        </p:spPr>
        <p:txBody>
          <a:bodyPr wrap="square" lIns="0" tIns="0" rIns="0" bIns="0" rtlCol="0" anchor="ctr"/>
          <a:lstStyle/>
          <a:p>
            <a:pPr algn="r" indent="0" marL="0">
              <a:buNone/>
            </a:pPr>
            <a:r>
              <a:rPr lang="en-US" sz="1050" b="1" dirty="0">
                <a:solidFill>
                  <a:srgbClr val="3B7DD8"/>
                </a:solidFill>
                <a:latin typeface="Calibri" pitchFamily="34" charset="0"/>
                <a:ea typeface="Calibri" pitchFamily="34" charset="-122"/>
                <a:cs typeface="Calibri" pitchFamily="34" charset="-120"/>
              </a:rPr>
              <a:t>falls</a:t>
            </a:r>
            <a:endParaRPr lang="en-US" sz="1050" dirty="0"/>
          </a:p>
        </p:txBody>
      </p:sp>
      <p:sp>
        <p:nvSpPr>
          <p:cNvPr id="33" name="Shape 31"/>
          <p:cNvSpPr/>
          <p:nvPr/>
        </p:nvSpPr>
        <p:spPr>
          <a:xfrm>
            <a:off x="1783080" y="3044952"/>
            <a:ext cx="320040" cy="338328"/>
          </a:xfrm>
          <a:prstGeom prst="line">
            <a:avLst/>
          </a:prstGeom>
          <a:noFill/>
          <a:ln w="9525">
            <a:solidFill>
              <a:srgbClr val="6B7385"/>
            </a:solidFill>
            <a:prstDash val="solid"/>
          </a:ln>
        </p:spPr>
      </p:sp>
      <p:sp>
        <p:nvSpPr>
          <p:cNvPr id="34" name="Shape 32"/>
          <p:cNvSpPr/>
          <p:nvPr/>
        </p:nvSpPr>
        <p:spPr>
          <a:xfrm flipV="1">
            <a:off x="1783080" y="3383280"/>
            <a:ext cx="320040" cy="338328"/>
          </a:xfrm>
          <a:prstGeom prst="line">
            <a:avLst/>
          </a:prstGeom>
          <a:noFill/>
          <a:ln w="9525">
            <a:solidFill>
              <a:srgbClr val="6B7385"/>
            </a:solidFill>
            <a:prstDash val="solid"/>
          </a:ln>
        </p:spPr>
      </p:sp>
      <p:sp>
        <p:nvSpPr>
          <p:cNvPr id="35" name="Shape 33"/>
          <p:cNvSpPr/>
          <p:nvPr/>
        </p:nvSpPr>
        <p:spPr>
          <a:xfrm>
            <a:off x="2926080" y="4773168"/>
            <a:ext cx="530352" cy="91"/>
          </a:xfrm>
          <a:prstGeom prst="line">
            <a:avLst/>
          </a:prstGeom>
          <a:noFill/>
          <a:ln w="25400">
            <a:solidFill>
              <a:srgbClr val="1C3A2C"/>
            </a:solidFill>
            <a:prstDash val="solid"/>
            <a:tailEnd type="triangle"/>
          </a:ln>
        </p:spPr>
      </p:sp>
      <p:sp>
        <p:nvSpPr>
          <p:cNvPr id="36" name="Shape 34"/>
          <p:cNvSpPr/>
          <p:nvPr/>
        </p:nvSpPr>
        <p:spPr>
          <a:xfrm flipV="1">
            <a:off x="4617720" y="4361688"/>
            <a:ext cx="91" cy="73152"/>
          </a:xfrm>
          <a:prstGeom prst="line">
            <a:avLst/>
          </a:prstGeom>
          <a:noFill/>
          <a:ln w="25400">
            <a:solidFill>
              <a:srgbClr val="1C3A2C"/>
            </a:solidFill>
            <a:prstDash val="solid"/>
            <a:tailEnd type="triangle"/>
          </a:ln>
        </p:spPr>
      </p:sp>
      <p:sp>
        <p:nvSpPr>
          <p:cNvPr id="37" name="Shape 35"/>
          <p:cNvSpPr/>
          <p:nvPr/>
        </p:nvSpPr>
        <p:spPr>
          <a:xfrm flipH="1" flipV="1">
            <a:off x="3657600" y="3721608"/>
            <a:ext cx="182880" cy="54864"/>
          </a:xfrm>
          <a:prstGeom prst="line">
            <a:avLst/>
          </a:prstGeom>
          <a:noFill/>
          <a:ln w="25400">
            <a:solidFill>
              <a:srgbClr val="1C3A2C"/>
            </a:solidFill>
            <a:prstDash val="solid"/>
            <a:tailEnd type="triangle"/>
          </a:ln>
        </p:spPr>
      </p:sp>
      <p:sp>
        <p:nvSpPr>
          <p:cNvPr id="38" name="Shape 36"/>
          <p:cNvSpPr/>
          <p:nvPr/>
        </p:nvSpPr>
        <p:spPr>
          <a:xfrm>
            <a:off x="5458968" y="1527048"/>
            <a:ext cx="146304" cy="131674"/>
          </a:xfrm>
          <a:prstGeom prst="triangle">
            <a:avLst/>
          </a:prstGeom>
          <a:solidFill>
            <a:srgbClr val="E08A1E"/>
          </a:solidFill>
          <a:ln w="9525">
            <a:solidFill>
              <a:srgbClr val="9A5A0A"/>
            </a:solidFill>
            <a:prstDash val="solid"/>
          </a:ln>
        </p:spPr>
      </p:sp>
      <p:sp>
        <p:nvSpPr>
          <p:cNvPr id="39" name="Shape 37"/>
          <p:cNvSpPr/>
          <p:nvPr/>
        </p:nvSpPr>
        <p:spPr>
          <a:xfrm>
            <a:off x="5458968" y="4544568"/>
            <a:ext cx="146304" cy="131674"/>
          </a:xfrm>
          <a:prstGeom prst="triangle">
            <a:avLst/>
          </a:prstGeom>
          <a:solidFill>
            <a:srgbClr val="8E44AD"/>
          </a:solidFill>
          <a:ln w="9525">
            <a:solidFill>
              <a:srgbClr val="9A5A0A"/>
            </a:solidFill>
            <a:prstDash val="solid"/>
          </a:ln>
        </p:spPr>
      </p:sp>
      <p:sp>
        <p:nvSpPr>
          <p:cNvPr id="40" name="Shape 38"/>
          <p:cNvSpPr/>
          <p:nvPr/>
        </p:nvSpPr>
        <p:spPr>
          <a:xfrm>
            <a:off x="6217920" y="1188720"/>
            <a:ext cx="5562295" cy="2423160"/>
          </a:xfrm>
          <a:prstGeom prst="roundRect">
            <a:avLst>
              <a:gd name="adj" fmla="val 2264"/>
            </a:avLst>
          </a:prstGeom>
          <a:solidFill>
            <a:srgbClr val="F5FBF7"/>
          </a:solidFill>
          <a:ln w="9525">
            <a:solidFill>
              <a:srgbClr val="D2E5D8"/>
            </a:solidFill>
            <a:prstDash val="solid"/>
          </a:ln>
        </p:spPr>
      </p:sp>
      <p:sp>
        <p:nvSpPr>
          <p:cNvPr id="41" name="Text 3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Two hormones, opposite effects</a:t>
            </a:r>
            <a:endParaRPr lang="en-US" sz="1300" dirty="0"/>
          </a:p>
        </p:txBody>
      </p:sp>
      <p:sp>
        <p:nvSpPr>
          <p:cNvPr id="42" name="Text 4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Insulin</a:t>
            </a:r>
            <a:r>
              <a:rPr lang="en-US" sz="1150" dirty="0">
                <a:solidFill>
                  <a:srgbClr val="262B3A"/>
                </a:solidFill>
                <a:latin typeface="Calibri" pitchFamily="34" charset="0"/>
                <a:ea typeface="Calibri" pitchFamily="34" charset="-122"/>
                <a:cs typeface="Calibri" pitchFamily="34" charset="-120"/>
              </a:rPr>
              <a:t> (blood glucose too </a:t>
            </a:r>
            <a:r>
              <a:rPr lang="en-US" sz="1150" b="1" dirty="0">
                <a:solidFill>
                  <a:srgbClr val="262B3A"/>
                </a:solidFill>
                <a:latin typeface="Calibri" pitchFamily="34" charset="0"/>
                <a:ea typeface="Calibri" pitchFamily="34" charset="-122"/>
                <a:cs typeface="Calibri" pitchFamily="34" charset="-120"/>
              </a:rPr>
              <a:t>high</a:t>
            </a:r>
            <a:r>
              <a:rPr lang="en-US" sz="1150" dirty="0">
                <a:solidFill>
                  <a:srgbClr val="262B3A"/>
                </a:solidFill>
                <a:latin typeface="Calibri" pitchFamily="34" charset="0"/>
                <a:ea typeface="Calibri" pitchFamily="34" charset="-122"/>
                <a:cs typeface="Calibri" pitchFamily="34" charset="-120"/>
              </a:rPr>
              <a:t>): cells take up glucose; liver stores it as </a:t>
            </a:r>
            <a:r>
              <a:rPr lang="en-US" sz="1150" b="1" dirty="0">
                <a:solidFill>
                  <a:srgbClr val="262B3A"/>
                </a:solidFill>
                <a:latin typeface="Calibri" pitchFamily="34" charset="0"/>
                <a:ea typeface="Calibri" pitchFamily="34" charset="-122"/>
                <a:cs typeface="Calibri" pitchFamily="34" charset="-120"/>
              </a:rPr>
              <a:t>glycogen</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Glucagon</a:t>
            </a:r>
            <a:r>
              <a:rPr lang="en-US" sz="1150" dirty="0">
                <a:solidFill>
                  <a:srgbClr val="262B3A"/>
                </a:solidFill>
                <a:latin typeface="Calibri" pitchFamily="34" charset="0"/>
                <a:ea typeface="Calibri" pitchFamily="34" charset="-122"/>
                <a:cs typeface="Calibri" pitchFamily="34" charset="-120"/>
              </a:rPr>
              <a:t> (blood glucose too </a:t>
            </a:r>
            <a:r>
              <a:rPr lang="en-US" sz="1150" b="1" dirty="0">
                <a:solidFill>
                  <a:srgbClr val="262B3A"/>
                </a:solidFill>
                <a:latin typeface="Calibri" pitchFamily="34" charset="0"/>
                <a:ea typeface="Calibri" pitchFamily="34" charset="-122"/>
                <a:cs typeface="Calibri" pitchFamily="34" charset="-120"/>
              </a:rPr>
              <a:t>low</a:t>
            </a:r>
            <a:r>
              <a:rPr lang="en-US" sz="1150" dirty="0">
                <a:solidFill>
                  <a:srgbClr val="262B3A"/>
                </a:solidFill>
                <a:latin typeface="Calibri" pitchFamily="34" charset="0"/>
                <a:ea typeface="Calibri" pitchFamily="34" charset="-122"/>
                <a:cs typeface="Calibri" pitchFamily="34" charset="-120"/>
              </a:rPr>
              <a:t>): the liver converts </a:t>
            </a:r>
            <a:r>
              <a:rPr lang="en-US" sz="1150" b="1" dirty="0">
                <a:solidFill>
                  <a:srgbClr val="262B3A"/>
                </a:solidFill>
                <a:latin typeface="Calibri" pitchFamily="34" charset="0"/>
                <a:ea typeface="Calibri" pitchFamily="34" charset="-122"/>
                <a:cs typeface="Calibri" pitchFamily="34" charset="-120"/>
              </a:rPr>
              <a:t>glycogen back into glucose</a:t>
            </a:r>
            <a:r>
              <a:rPr lang="en-US" sz="1150" dirty="0">
                <a:solidFill>
                  <a:srgbClr val="262B3A"/>
                </a:solidFill>
                <a:latin typeface="Calibri" pitchFamily="34" charset="0"/>
                <a:ea typeface="Calibri" pitchFamily="34" charset="-122"/>
                <a:cs typeface="Calibri" pitchFamily="34" charset="-120"/>
              </a:rPr>
              <a:t>, which is released into the blood.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Both are made by the </a:t>
            </a:r>
            <a:r>
              <a:rPr lang="en-US" sz="1150" b="1" dirty="0">
                <a:solidFill>
                  <a:srgbClr val="262B3A"/>
                </a:solidFill>
                <a:latin typeface="Calibri" pitchFamily="34" charset="0"/>
                <a:ea typeface="Calibri" pitchFamily="34" charset="-122"/>
                <a:cs typeface="Calibri" pitchFamily="34" charset="-120"/>
              </a:rPr>
              <a:t>pancreas</a:t>
            </a:r>
            <a:r>
              <a:rPr lang="en-US" sz="1150" dirty="0">
                <a:solidFill>
                  <a:srgbClr val="262B3A"/>
                </a:solidFill>
                <a:latin typeface="Calibri" pitchFamily="34" charset="0"/>
                <a:ea typeface="Calibri" pitchFamily="34" charset="-122"/>
                <a:cs typeface="Calibri" pitchFamily="34" charset="-120"/>
              </a:rPr>
              <a:t>. Together they keep blood glucose close to normal by </a:t>
            </a:r>
            <a:r>
              <a:rPr lang="en-US" sz="1150" b="1" dirty="0">
                <a:solidFill>
                  <a:srgbClr val="262B3A"/>
                </a:solidFill>
                <a:latin typeface="Calibri" pitchFamily="34" charset="0"/>
                <a:ea typeface="Calibri" pitchFamily="34" charset="-122"/>
                <a:cs typeface="Calibri" pitchFamily="34" charset="-120"/>
              </a:rPr>
              <a:t>negative feedback</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43" name="Shape 4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4" name="Text 4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Explain a change</a:t>
            </a:r>
            <a:endParaRPr lang="en-US" sz="1300" dirty="0"/>
          </a:p>
        </p:txBody>
      </p:sp>
      <p:sp>
        <p:nvSpPr>
          <p:cNvPr id="45" name="Text 43"/>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runner's blood glucose falls during a long race. Explain how it is restored.</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1 Detect   </a:t>
            </a:r>
            <a:r>
              <a:rPr lang="en-US" sz="1100" dirty="0">
                <a:solidFill>
                  <a:srgbClr val="262B3A"/>
                </a:solidFill>
                <a:latin typeface="Calibri" pitchFamily="34" charset="0"/>
                <a:ea typeface="Calibri" pitchFamily="34" charset="-122"/>
                <a:cs typeface="Calibri" pitchFamily="34" charset="-120"/>
              </a:rPr>
              <a:t>pancreas detects low blood glucose</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2 Hormone   </a:t>
            </a:r>
            <a:r>
              <a:rPr lang="en-US" sz="1100" dirty="0">
                <a:solidFill>
                  <a:srgbClr val="262B3A"/>
                </a:solidFill>
                <a:latin typeface="Calibri" pitchFamily="34" charset="0"/>
                <a:ea typeface="Calibri" pitchFamily="34" charset="-122"/>
                <a:cs typeface="Calibri" pitchFamily="34" charset="-120"/>
              </a:rPr>
              <a:t>pancreas secretes glucagon into the blood</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3 Liver   </a:t>
            </a:r>
            <a:r>
              <a:rPr lang="en-US" sz="1100" dirty="0">
                <a:solidFill>
                  <a:srgbClr val="262B3A"/>
                </a:solidFill>
                <a:latin typeface="Calibri" pitchFamily="34" charset="0"/>
                <a:ea typeface="Calibri" pitchFamily="34" charset="-122"/>
                <a:cs typeface="Calibri" pitchFamily="34" charset="-120"/>
              </a:rPr>
              <a:t>glycogen is converted into glucose</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glucose released into blood: concentration rises to normal</a:t>
            </a:r>
            <a:endParaRPr lang="en-US" sz="1100" dirty="0"/>
          </a:p>
        </p:txBody>
      </p:sp>
      <p:sp>
        <p:nvSpPr>
          <p:cNvPr id="46" name="Shape 44"/>
          <p:cNvSpPr/>
          <p:nvPr/>
        </p:nvSpPr>
        <p:spPr>
          <a:xfrm>
            <a:off x="411480" y="5833872"/>
            <a:ext cx="11368735" cy="530352"/>
          </a:xfrm>
          <a:prstGeom prst="rect">
            <a:avLst/>
          </a:prstGeom>
          <a:solidFill>
            <a:srgbClr val="FFF4E0"/>
          </a:solidFill>
          <a:ln w="6350">
            <a:solidFill>
              <a:srgbClr val="F1D9A8"/>
            </a:solidFill>
            <a:prstDash val="solid"/>
          </a:ln>
        </p:spPr>
      </p:sp>
      <p:sp>
        <p:nvSpPr>
          <p:cNvPr id="47" name="Shape 45"/>
          <p:cNvSpPr/>
          <p:nvPr/>
        </p:nvSpPr>
        <p:spPr>
          <a:xfrm>
            <a:off x="411480" y="5833872"/>
            <a:ext cx="82296" cy="530352"/>
          </a:xfrm>
          <a:prstGeom prst="rect">
            <a:avLst/>
          </a:prstGeom>
          <a:solidFill>
            <a:srgbClr val="E39A2F"/>
          </a:solidFill>
          <a:ln w="12700">
            <a:solidFill>
              <a:srgbClr val="E39A2F"/>
            </a:solidFill>
            <a:prstDash val="solid"/>
          </a:ln>
        </p:spPr>
      </p:sp>
      <p:sp>
        <p:nvSpPr>
          <p:cNvPr id="48" name="Text 4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hormone is released when blood glucose is </a:t>
            </a:r>
            <a:r>
              <a:rPr lang="en-US" sz="1150" b="1" dirty="0">
                <a:solidFill>
                  <a:srgbClr val="262B3A"/>
                </a:solidFill>
                <a:latin typeface="Calibri" pitchFamily="34" charset="0"/>
                <a:ea typeface="Calibri" pitchFamily="34" charset="-122"/>
                <a:cs typeface="Calibri" pitchFamily="34" charset="-120"/>
              </a:rPr>
              <a:t>low</a:t>
            </a:r>
            <a:r>
              <a:rPr lang="en-US" sz="1150" dirty="0">
                <a:solidFill>
                  <a:srgbClr val="262B3A"/>
                </a:solidFill>
                <a:latin typeface="Calibri" pitchFamily="34" charset="0"/>
                <a:ea typeface="Calibri" pitchFamily="34" charset="-122"/>
                <a:cs typeface="Calibri" pitchFamily="34" charset="-120"/>
              </a:rPr>
              <a:t>? What does it cause the liver to do?</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Type 1 diabetes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7.15 • cause and control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7.15  |  24</a:t>
            </a:r>
            <a:endParaRPr lang="en-US" sz="1000" dirty="0"/>
          </a:p>
        </p:txBody>
      </p:sp>
      <p:sp>
        <p:nvSpPr>
          <p:cNvPr id="8" name="Shape 6"/>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blood glucose after a glucose drink at 0 min (model data drawn to scale)</a:t>
            </a:r>
            <a:endParaRPr lang="en-US" sz="1000" dirty="0"/>
          </a:p>
        </p:txBody>
      </p:sp>
      <p:sp>
        <p:nvSpPr>
          <p:cNvPr id="10" name="Shape 8"/>
          <p:cNvSpPr/>
          <p:nvPr/>
        </p:nvSpPr>
        <p:spPr>
          <a:xfrm>
            <a:off x="1234440" y="1417320"/>
            <a:ext cx="4434840" cy="3063240"/>
          </a:xfrm>
          <a:prstGeom prst="rect">
            <a:avLst/>
          </a:prstGeom>
          <a:solidFill>
            <a:srgbClr val="FFFFFF"/>
          </a:solidFill>
          <a:ln/>
        </p:spPr>
      </p:sp>
      <p:sp>
        <p:nvSpPr>
          <p:cNvPr id="11" name="Shape 9"/>
          <p:cNvSpPr/>
          <p:nvPr/>
        </p:nvSpPr>
        <p:spPr>
          <a:xfrm>
            <a:off x="1234440" y="1417320"/>
            <a:ext cx="91" cy="3063240"/>
          </a:xfrm>
          <a:prstGeom prst="line">
            <a:avLst/>
          </a:prstGeom>
          <a:noFill/>
          <a:ln w="6350">
            <a:solidFill>
              <a:srgbClr val="C8DDCF"/>
            </a:solidFill>
            <a:prstDash val="solid"/>
          </a:ln>
        </p:spPr>
      </p:sp>
      <p:sp>
        <p:nvSpPr>
          <p:cNvPr id="12" name="Shape 10"/>
          <p:cNvSpPr/>
          <p:nvPr/>
        </p:nvSpPr>
        <p:spPr>
          <a:xfrm>
            <a:off x="1973580" y="1417320"/>
            <a:ext cx="91" cy="3063240"/>
          </a:xfrm>
          <a:prstGeom prst="line">
            <a:avLst/>
          </a:prstGeom>
          <a:noFill/>
          <a:ln w="6350">
            <a:solidFill>
              <a:srgbClr val="C8DDCF"/>
            </a:solidFill>
            <a:prstDash val="solid"/>
          </a:ln>
        </p:spPr>
      </p:sp>
      <p:sp>
        <p:nvSpPr>
          <p:cNvPr id="13" name="Shape 11"/>
          <p:cNvSpPr/>
          <p:nvPr/>
        </p:nvSpPr>
        <p:spPr>
          <a:xfrm>
            <a:off x="2712720" y="1417320"/>
            <a:ext cx="91" cy="3063240"/>
          </a:xfrm>
          <a:prstGeom prst="line">
            <a:avLst/>
          </a:prstGeom>
          <a:noFill/>
          <a:ln w="6350">
            <a:solidFill>
              <a:srgbClr val="C8DDCF"/>
            </a:solidFill>
            <a:prstDash val="solid"/>
          </a:ln>
        </p:spPr>
      </p:sp>
      <p:sp>
        <p:nvSpPr>
          <p:cNvPr id="14" name="Shape 12"/>
          <p:cNvSpPr/>
          <p:nvPr/>
        </p:nvSpPr>
        <p:spPr>
          <a:xfrm>
            <a:off x="3451860" y="1417320"/>
            <a:ext cx="91" cy="3063240"/>
          </a:xfrm>
          <a:prstGeom prst="line">
            <a:avLst/>
          </a:prstGeom>
          <a:noFill/>
          <a:ln w="6350">
            <a:solidFill>
              <a:srgbClr val="C8DDCF"/>
            </a:solidFill>
            <a:prstDash val="solid"/>
          </a:ln>
        </p:spPr>
      </p:sp>
      <p:sp>
        <p:nvSpPr>
          <p:cNvPr id="15" name="Shape 13"/>
          <p:cNvSpPr/>
          <p:nvPr/>
        </p:nvSpPr>
        <p:spPr>
          <a:xfrm>
            <a:off x="4191000" y="1417320"/>
            <a:ext cx="91" cy="3063240"/>
          </a:xfrm>
          <a:prstGeom prst="line">
            <a:avLst/>
          </a:prstGeom>
          <a:noFill/>
          <a:ln w="6350">
            <a:solidFill>
              <a:srgbClr val="C8DDCF"/>
            </a:solidFill>
            <a:prstDash val="solid"/>
          </a:ln>
        </p:spPr>
      </p:sp>
      <p:sp>
        <p:nvSpPr>
          <p:cNvPr id="16" name="Shape 14"/>
          <p:cNvSpPr/>
          <p:nvPr/>
        </p:nvSpPr>
        <p:spPr>
          <a:xfrm>
            <a:off x="4930140" y="1417320"/>
            <a:ext cx="91" cy="3063240"/>
          </a:xfrm>
          <a:prstGeom prst="line">
            <a:avLst/>
          </a:prstGeom>
          <a:noFill/>
          <a:ln w="6350">
            <a:solidFill>
              <a:srgbClr val="C8DDCF"/>
            </a:solidFill>
            <a:prstDash val="solid"/>
          </a:ln>
        </p:spPr>
      </p:sp>
      <p:sp>
        <p:nvSpPr>
          <p:cNvPr id="17" name="Shape 15"/>
          <p:cNvSpPr/>
          <p:nvPr/>
        </p:nvSpPr>
        <p:spPr>
          <a:xfrm>
            <a:off x="5669280" y="1417320"/>
            <a:ext cx="91" cy="3063240"/>
          </a:xfrm>
          <a:prstGeom prst="line">
            <a:avLst/>
          </a:prstGeom>
          <a:noFill/>
          <a:ln w="6350">
            <a:solidFill>
              <a:srgbClr val="C8DDCF"/>
            </a:solidFill>
            <a:prstDash val="solid"/>
          </a:ln>
        </p:spPr>
      </p:sp>
      <p:sp>
        <p:nvSpPr>
          <p:cNvPr id="18" name="Shape 16"/>
          <p:cNvSpPr/>
          <p:nvPr/>
        </p:nvSpPr>
        <p:spPr>
          <a:xfrm>
            <a:off x="1234440" y="4480560"/>
            <a:ext cx="4434840" cy="91"/>
          </a:xfrm>
          <a:prstGeom prst="line">
            <a:avLst/>
          </a:prstGeom>
          <a:noFill/>
          <a:ln w="6350">
            <a:solidFill>
              <a:srgbClr val="C8DDCF"/>
            </a:solidFill>
            <a:prstDash val="solid"/>
          </a:ln>
        </p:spPr>
      </p:sp>
      <p:sp>
        <p:nvSpPr>
          <p:cNvPr id="19" name="Shape 17"/>
          <p:cNvSpPr/>
          <p:nvPr/>
        </p:nvSpPr>
        <p:spPr>
          <a:xfrm>
            <a:off x="1234440" y="3714750"/>
            <a:ext cx="4434840" cy="91"/>
          </a:xfrm>
          <a:prstGeom prst="line">
            <a:avLst/>
          </a:prstGeom>
          <a:noFill/>
          <a:ln w="6350">
            <a:solidFill>
              <a:srgbClr val="C8DDCF"/>
            </a:solidFill>
            <a:prstDash val="solid"/>
          </a:ln>
        </p:spPr>
      </p:sp>
      <p:sp>
        <p:nvSpPr>
          <p:cNvPr id="20" name="Shape 18"/>
          <p:cNvSpPr/>
          <p:nvPr/>
        </p:nvSpPr>
        <p:spPr>
          <a:xfrm>
            <a:off x="1234440" y="2948940"/>
            <a:ext cx="4434840" cy="91"/>
          </a:xfrm>
          <a:prstGeom prst="line">
            <a:avLst/>
          </a:prstGeom>
          <a:noFill/>
          <a:ln w="6350">
            <a:solidFill>
              <a:srgbClr val="C8DDCF"/>
            </a:solidFill>
            <a:prstDash val="solid"/>
          </a:ln>
        </p:spPr>
      </p:sp>
      <p:sp>
        <p:nvSpPr>
          <p:cNvPr id="21" name="Shape 19"/>
          <p:cNvSpPr/>
          <p:nvPr/>
        </p:nvSpPr>
        <p:spPr>
          <a:xfrm>
            <a:off x="1234440" y="2183130"/>
            <a:ext cx="4434840" cy="91"/>
          </a:xfrm>
          <a:prstGeom prst="line">
            <a:avLst/>
          </a:prstGeom>
          <a:noFill/>
          <a:ln w="6350">
            <a:solidFill>
              <a:srgbClr val="C8DDCF"/>
            </a:solidFill>
            <a:prstDash val="solid"/>
          </a:ln>
        </p:spPr>
      </p:sp>
      <p:sp>
        <p:nvSpPr>
          <p:cNvPr id="22" name="Shape 20"/>
          <p:cNvSpPr/>
          <p:nvPr/>
        </p:nvSpPr>
        <p:spPr>
          <a:xfrm>
            <a:off x="1234440" y="1417320"/>
            <a:ext cx="4434840" cy="91"/>
          </a:xfrm>
          <a:prstGeom prst="line">
            <a:avLst/>
          </a:prstGeom>
          <a:noFill/>
          <a:ln w="6350">
            <a:solidFill>
              <a:srgbClr val="C8DDCF"/>
            </a:solidFill>
            <a:prstDash val="solid"/>
          </a:ln>
        </p:spPr>
      </p:sp>
      <p:sp>
        <p:nvSpPr>
          <p:cNvPr id="23" name="Shape 21"/>
          <p:cNvSpPr/>
          <p:nvPr/>
        </p:nvSpPr>
        <p:spPr>
          <a:xfrm>
            <a:off x="1234440" y="4480560"/>
            <a:ext cx="4434840" cy="91"/>
          </a:xfrm>
          <a:prstGeom prst="line">
            <a:avLst/>
          </a:prstGeom>
          <a:noFill/>
          <a:ln w="19050">
            <a:solidFill>
              <a:srgbClr val="1C3A2C"/>
            </a:solidFill>
            <a:prstDash val="solid"/>
          </a:ln>
        </p:spPr>
      </p:sp>
      <p:sp>
        <p:nvSpPr>
          <p:cNvPr id="24" name="Shape 22"/>
          <p:cNvSpPr/>
          <p:nvPr/>
        </p:nvSpPr>
        <p:spPr>
          <a:xfrm flipV="1">
            <a:off x="1234440" y="1417320"/>
            <a:ext cx="91" cy="3063240"/>
          </a:xfrm>
          <a:prstGeom prst="line">
            <a:avLst/>
          </a:prstGeom>
          <a:noFill/>
          <a:ln w="19050">
            <a:solidFill>
              <a:srgbClr val="1C3A2C"/>
            </a:solidFill>
            <a:prstDash val="solid"/>
          </a:ln>
        </p:spPr>
      </p:sp>
      <p:sp>
        <p:nvSpPr>
          <p:cNvPr id="25" name="Shape 23"/>
          <p:cNvSpPr/>
          <p:nvPr/>
        </p:nvSpPr>
        <p:spPr>
          <a:xfrm>
            <a:off x="1234440" y="4480560"/>
            <a:ext cx="91" cy="54864"/>
          </a:xfrm>
          <a:prstGeom prst="line">
            <a:avLst/>
          </a:prstGeom>
          <a:noFill/>
          <a:ln w="12700">
            <a:solidFill>
              <a:srgbClr val="1C3A2C"/>
            </a:solidFill>
            <a:prstDash val="solid"/>
          </a:ln>
        </p:spPr>
      </p:sp>
      <p:sp>
        <p:nvSpPr>
          <p:cNvPr id="26" name="Text 24"/>
          <p:cNvSpPr/>
          <p:nvPr/>
        </p:nvSpPr>
        <p:spPr>
          <a:xfrm>
            <a:off x="960120" y="45354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27" name="Shape 25"/>
          <p:cNvSpPr/>
          <p:nvPr/>
        </p:nvSpPr>
        <p:spPr>
          <a:xfrm>
            <a:off x="1973580" y="4480560"/>
            <a:ext cx="91" cy="54864"/>
          </a:xfrm>
          <a:prstGeom prst="line">
            <a:avLst/>
          </a:prstGeom>
          <a:noFill/>
          <a:ln w="12700">
            <a:solidFill>
              <a:srgbClr val="1C3A2C"/>
            </a:solidFill>
            <a:prstDash val="solid"/>
          </a:ln>
        </p:spPr>
      </p:sp>
      <p:sp>
        <p:nvSpPr>
          <p:cNvPr id="28" name="Text 26"/>
          <p:cNvSpPr/>
          <p:nvPr/>
        </p:nvSpPr>
        <p:spPr>
          <a:xfrm>
            <a:off x="1699260" y="45354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29" name="Shape 27"/>
          <p:cNvSpPr/>
          <p:nvPr/>
        </p:nvSpPr>
        <p:spPr>
          <a:xfrm>
            <a:off x="2712720" y="4480560"/>
            <a:ext cx="91" cy="54864"/>
          </a:xfrm>
          <a:prstGeom prst="line">
            <a:avLst/>
          </a:prstGeom>
          <a:noFill/>
          <a:ln w="12700">
            <a:solidFill>
              <a:srgbClr val="1C3A2C"/>
            </a:solidFill>
            <a:prstDash val="solid"/>
          </a:ln>
        </p:spPr>
      </p:sp>
      <p:sp>
        <p:nvSpPr>
          <p:cNvPr id="30" name="Text 28"/>
          <p:cNvSpPr/>
          <p:nvPr/>
        </p:nvSpPr>
        <p:spPr>
          <a:xfrm>
            <a:off x="2438400" y="45354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31" name="Shape 29"/>
          <p:cNvSpPr/>
          <p:nvPr/>
        </p:nvSpPr>
        <p:spPr>
          <a:xfrm>
            <a:off x="3451860" y="4480560"/>
            <a:ext cx="91" cy="54864"/>
          </a:xfrm>
          <a:prstGeom prst="line">
            <a:avLst/>
          </a:prstGeom>
          <a:noFill/>
          <a:ln w="12700">
            <a:solidFill>
              <a:srgbClr val="1C3A2C"/>
            </a:solidFill>
            <a:prstDash val="solid"/>
          </a:ln>
        </p:spPr>
      </p:sp>
      <p:sp>
        <p:nvSpPr>
          <p:cNvPr id="32" name="Text 30"/>
          <p:cNvSpPr/>
          <p:nvPr/>
        </p:nvSpPr>
        <p:spPr>
          <a:xfrm>
            <a:off x="3177540" y="45354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90</a:t>
            </a:r>
            <a:endParaRPr lang="en-US" sz="1000" dirty="0"/>
          </a:p>
        </p:txBody>
      </p:sp>
      <p:sp>
        <p:nvSpPr>
          <p:cNvPr id="33" name="Shape 31"/>
          <p:cNvSpPr/>
          <p:nvPr/>
        </p:nvSpPr>
        <p:spPr>
          <a:xfrm>
            <a:off x="4191000" y="4480560"/>
            <a:ext cx="91" cy="54864"/>
          </a:xfrm>
          <a:prstGeom prst="line">
            <a:avLst/>
          </a:prstGeom>
          <a:noFill/>
          <a:ln w="12700">
            <a:solidFill>
              <a:srgbClr val="1C3A2C"/>
            </a:solidFill>
            <a:prstDash val="solid"/>
          </a:ln>
        </p:spPr>
      </p:sp>
      <p:sp>
        <p:nvSpPr>
          <p:cNvPr id="34" name="Text 32"/>
          <p:cNvSpPr/>
          <p:nvPr/>
        </p:nvSpPr>
        <p:spPr>
          <a:xfrm>
            <a:off x="3916680" y="45354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35" name="Shape 33"/>
          <p:cNvSpPr/>
          <p:nvPr/>
        </p:nvSpPr>
        <p:spPr>
          <a:xfrm>
            <a:off x="4930140" y="4480560"/>
            <a:ext cx="91" cy="54864"/>
          </a:xfrm>
          <a:prstGeom prst="line">
            <a:avLst/>
          </a:prstGeom>
          <a:noFill/>
          <a:ln w="12700">
            <a:solidFill>
              <a:srgbClr val="1C3A2C"/>
            </a:solidFill>
            <a:prstDash val="solid"/>
          </a:ln>
        </p:spPr>
      </p:sp>
      <p:sp>
        <p:nvSpPr>
          <p:cNvPr id="36" name="Text 34"/>
          <p:cNvSpPr/>
          <p:nvPr/>
        </p:nvSpPr>
        <p:spPr>
          <a:xfrm>
            <a:off x="4655820" y="45354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p>
        </p:txBody>
      </p:sp>
      <p:sp>
        <p:nvSpPr>
          <p:cNvPr id="37" name="Shape 35"/>
          <p:cNvSpPr/>
          <p:nvPr/>
        </p:nvSpPr>
        <p:spPr>
          <a:xfrm>
            <a:off x="5669280" y="4480560"/>
            <a:ext cx="91" cy="54864"/>
          </a:xfrm>
          <a:prstGeom prst="line">
            <a:avLst/>
          </a:prstGeom>
          <a:noFill/>
          <a:ln w="12700">
            <a:solidFill>
              <a:srgbClr val="1C3A2C"/>
            </a:solidFill>
            <a:prstDash val="solid"/>
          </a:ln>
        </p:spPr>
      </p:sp>
      <p:sp>
        <p:nvSpPr>
          <p:cNvPr id="38" name="Text 36"/>
          <p:cNvSpPr/>
          <p:nvPr/>
        </p:nvSpPr>
        <p:spPr>
          <a:xfrm>
            <a:off x="5394960" y="45354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180</a:t>
            </a:r>
            <a:endParaRPr lang="en-US" sz="1000" dirty="0"/>
          </a:p>
        </p:txBody>
      </p:sp>
      <p:sp>
        <p:nvSpPr>
          <p:cNvPr id="39" name="Shape 37"/>
          <p:cNvSpPr/>
          <p:nvPr/>
        </p:nvSpPr>
        <p:spPr>
          <a:xfrm>
            <a:off x="1179576" y="4480560"/>
            <a:ext cx="54864" cy="91"/>
          </a:xfrm>
          <a:prstGeom prst="line">
            <a:avLst/>
          </a:prstGeom>
          <a:noFill/>
          <a:ln w="12700">
            <a:solidFill>
              <a:srgbClr val="1C3A2C"/>
            </a:solidFill>
            <a:prstDash val="solid"/>
          </a:ln>
        </p:spPr>
      </p:sp>
      <p:sp>
        <p:nvSpPr>
          <p:cNvPr id="40" name="Text 38"/>
          <p:cNvSpPr/>
          <p:nvPr/>
        </p:nvSpPr>
        <p:spPr>
          <a:xfrm>
            <a:off x="795528" y="43891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1" name="Shape 39"/>
          <p:cNvSpPr/>
          <p:nvPr/>
        </p:nvSpPr>
        <p:spPr>
          <a:xfrm>
            <a:off x="1179576" y="3714750"/>
            <a:ext cx="54864" cy="91"/>
          </a:xfrm>
          <a:prstGeom prst="line">
            <a:avLst/>
          </a:prstGeom>
          <a:noFill/>
          <a:ln w="12700">
            <a:solidFill>
              <a:srgbClr val="1C3A2C"/>
            </a:solidFill>
            <a:prstDash val="solid"/>
          </a:ln>
        </p:spPr>
      </p:sp>
      <p:sp>
        <p:nvSpPr>
          <p:cNvPr id="42" name="Text 40"/>
          <p:cNvSpPr/>
          <p:nvPr/>
        </p:nvSpPr>
        <p:spPr>
          <a:xfrm>
            <a:off x="795528" y="362331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43" name="Shape 41"/>
          <p:cNvSpPr/>
          <p:nvPr/>
        </p:nvSpPr>
        <p:spPr>
          <a:xfrm>
            <a:off x="1179576" y="2948940"/>
            <a:ext cx="54864" cy="91"/>
          </a:xfrm>
          <a:prstGeom prst="line">
            <a:avLst/>
          </a:prstGeom>
          <a:noFill/>
          <a:ln w="12700">
            <a:solidFill>
              <a:srgbClr val="1C3A2C"/>
            </a:solidFill>
            <a:prstDash val="solid"/>
          </a:ln>
        </p:spPr>
      </p:sp>
      <p:sp>
        <p:nvSpPr>
          <p:cNvPr id="44" name="Text 42"/>
          <p:cNvSpPr/>
          <p:nvPr/>
        </p:nvSpPr>
        <p:spPr>
          <a:xfrm>
            <a:off x="795528" y="28575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5" name="Shape 43"/>
          <p:cNvSpPr/>
          <p:nvPr/>
        </p:nvSpPr>
        <p:spPr>
          <a:xfrm>
            <a:off x="1179576" y="2183130"/>
            <a:ext cx="54864" cy="91"/>
          </a:xfrm>
          <a:prstGeom prst="line">
            <a:avLst/>
          </a:prstGeom>
          <a:noFill/>
          <a:ln w="12700">
            <a:solidFill>
              <a:srgbClr val="1C3A2C"/>
            </a:solidFill>
            <a:prstDash val="solid"/>
          </a:ln>
        </p:spPr>
      </p:sp>
      <p:sp>
        <p:nvSpPr>
          <p:cNvPr id="46" name="Text 44"/>
          <p:cNvSpPr/>
          <p:nvPr/>
        </p:nvSpPr>
        <p:spPr>
          <a:xfrm>
            <a:off x="795528" y="209169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47" name="Shape 45"/>
          <p:cNvSpPr/>
          <p:nvPr/>
        </p:nvSpPr>
        <p:spPr>
          <a:xfrm>
            <a:off x="1179576" y="1417320"/>
            <a:ext cx="54864" cy="91"/>
          </a:xfrm>
          <a:prstGeom prst="line">
            <a:avLst/>
          </a:prstGeom>
          <a:noFill/>
          <a:ln w="12700">
            <a:solidFill>
              <a:srgbClr val="1C3A2C"/>
            </a:solidFill>
            <a:prstDash val="solid"/>
          </a:ln>
        </p:spPr>
      </p:sp>
      <p:sp>
        <p:nvSpPr>
          <p:cNvPr id="48" name="Text 46"/>
          <p:cNvSpPr/>
          <p:nvPr/>
        </p:nvSpPr>
        <p:spPr>
          <a:xfrm>
            <a:off x="79552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9" name="Text 47"/>
          <p:cNvSpPr/>
          <p:nvPr/>
        </p:nvSpPr>
        <p:spPr>
          <a:xfrm>
            <a:off x="1234440" y="4727448"/>
            <a:ext cx="4434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after glucose drink / min</a:t>
            </a:r>
            <a:endParaRPr lang="en-US" sz="1050" dirty="0"/>
          </a:p>
        </p:txBody>
      </p:sp>
      <p:sp>
        <p:nvSpPr>
          <p:cNvPr id="50" name="Text 48"/>
          <p:cNvSpPr/>
          <p:nvPr/>
        </p:nvSpPr>
        <p:spPr>
          <a:xfrm rot="16200000">
            <a:off x="-864108" y="2820924"/>
            <a:ext cx="30632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blood glucose / mmol per dm³</a:t>
            </a:r>
            <a:endParaRPr lang="en-US" sz="1050" dirty="0"/>
          </a:p>
        </p:txBody>
      </p:sp>
      <p:sp>
        <p:nvSpPr>
          <p:cNvPr id="51" name="Shape 49"/>
          <p:cNvSpPr/>
          <p:nvPr/>
        </p:nvSpPr>
        <p:spPr>
          <a:xfrm flipV="1">
            <a:off x="1234440" y="3710029"/>
            <a:ext cx="39597" cy="4721"/>
          </a:xfrm>
          <a:prstGeom prst="line">
            <a:avLst/>
          </a:prstGeom>
          <a:noFill/>
          <a:ln w="31750">
            <a:solidFill>
              <a:srgbClr val="2E8B57"/>
            </a:solidFill>
            <a:prstDash val="solid"/>
          </a:ln>
        </p:spPr>
      </p:sp>
      <p:sp>
        <p:nvSpPr>
          <p:cNvPr id="52" name="Shape 50"/>
          <p:cNvSpPr/>
          <p:nvPr/>
        </p:nvSpPr>
        <p:spPr>
          <a:xfrm flipV="1">
            <a:off x="1274037" y="3697326"/>
            <a:ext cx="39597" cy="12704"/>
          </a:xfrm>
          <a:prstGeom prst="line">
            <a:avLst/>
          </a:prstGeom>
          <a:noFill/>
          <a:ln w="31750">
            <a:solidFill>
              <a:srgbClr val="2E8B57"/>
            </a:solidFill>
            <a:prstDash val="solid"/>
          </a:ln>
        </p:spPr>
      </p:sp>
      <p:sp>
        <p:nvSpPr>
          <p:cNvPr id="53" name="Shape 51"/>
          <p:cNvSpPr/>
          <p:nvPr/>
        </p:nvSpPr>
        <p:spPr>
          <a:xfrm flipV="1">
            <a:off x="1313634" y="3678573"/>
            <a:ext cx="39597" cy="18753"/>
          </a:xfrm>
          <a:prstGeom prst="line">
            <a:avLst/>
          </a:prstGeom>
          <a:noFill/>
          <a:ln w="31750">
            <a:solidFill>
              <a:srgbClr val="2E8B57"/>
            </a:solidFill>
            <a:prstDash val="solid"/>
          </a:ln>
        </p:spPr>
      </p:sp>
      <p:sp>
        <p:nvSpPr>
          <p:cNvPr id="54" name="Shape 52"/>
          <p:cNvSpPr/>
          <p:nvPr/>
        </p:nvSpPr>
        <p:spPr>
          <a:xfrm flipV="1">
            <a:off x="1353230" y="3655401"/>
            <a:ext cx="39597" cy="23172"/>
          </a:xfrm>
          <a:prstGeom prst="line">
            <a:avLst/>
          </a:prstGeom>
          <a:noFill/>
          <a:ln w="31750">
            <a:solidFill>
              <a:srgbClr val="2E8B57"/>
            </a:solidFill>
            <a:prstDash val="solid"/>
          </a:ln>
        </p:spPr>
      </p:sp>
      <p:sp>
        <p:nvSpPr>
          <p:cNvPr id="55" name="Shape 53"/>
          <p:cNvSpPr/>
          <p:nvPr/>
        </p:nvSpPr>
        <p:spPr>
          <a:xfrm flipV="1">
            <a:off x="1392827" y="3629178"/>
            <a:ext cx="39597" cy="26224"/>
          </a:xfrm>
          <a:prstGeom prst="line">
            <a:avLst/>
          </a:prstGeom>
          <a:noFill/>
          <a:ln w="31750">
            <a:solidFill>
              <a:srgbClr val="2E8B57"/>
            </a:solidFill>
            <a:prstDash val="solid"/>
          </a:ln>
        </p:spPr>
      </p:sp>
      <p:sp>
        <p:nvSpPr>
          <p:cNvPr id="56" name="Shape 54"/>
          <p:cNvSpPr/>
          <p:nvPr/>
        </p:nvSpPr>
        <p:spPr>
          <a:xfrm flipV="1">
            <a:off x="1432424" y="3601040"/>
            <a:ext cx="39597" cy="28137"/>
          </a:xfrm>
          <a:prstGeom prst="line">
            <a:avLst/>
          </a:prstGeom>
          <a:noFill/>
          <a:ln w="31750">
            <a:solidFill>
              <a:srgbClr val="2E8B57"/>
            </a:solidFill>
            <a:prstDash val="solid"/>
          </a:ln>
        </p:spPr>
      </p:sp>
      <p:sp>
        <p:nvSpPr>
          <p:cNvPr id="57" name="Shape 55"/>
          <p:cNvSpPr/>
          <p:nvPr/>
        </p:nvSpPr>
        <p:spPr>
          <a:xfrm flipV="1">
            <a:off x="1472021" y="3571929"/>
            <a:ext cx="39597" cy="29111"/>
          </a:xfrm>
          <a:prstGeom prst="line">
            <a:avLst/>
          </a:prstGeom>
          <a:noFill/>
          <a:ln w="31750">
            <a:solidFill>
              <a:srgbClr val="2E8B57"/>
            </a:solidFill>
            <a:prstDash val="solid"/>
          </a:ln>
        </p:spPr>
      </p:sp>
      <p:sp>
        <p:nvSpPr>
          <p:cNvPr id="58" name="Shape 56"/>
          <p:cNvSpPr/>
          <p:nvPr/>
        </p:nvSpPr>
        <p:spPr>
          <a:xfrm flipV="1">
            <a:off x="1511618" y="3542612"/>
            <a:ext cx="39597" cy="29317"/>
          </a:xfrm>
          <a:prstGeom prst="line">
            <a:avLst/>
          </a:prstGeom>
          <a:noFill/>
          <a:ln w="31750">
            <a:solidFill>
              <a:srgbClr val="2E8B57"/>
            </a:solidFill>
            <a:prstDash val="solid"/>
          </a:ln>
        </p:spPr>
      </p:sp>
      <p:sp>
        <p:nvSpPr>
          <p:cNvPr id="59" name="Shape 57"/>
          <p:cNvSpPr/>
          <p:nvPr/>
        </p:nvSpPr>
        <p:spPr>
          <a:xfrm flipV="1">
            <a:off x="1551214" y="3513709"/>
            <a:ext cx="39597" cy="28902"/>
          </a:xfrm>
          <a:prstGeom prst="line">
            <a:avLst/>
          </a:prstGeom>
          <a:noFill/>
          <a:ln w="31750">
            <a:solidFill>
              <a:srgbClr val="2E8B57"/>
            </a:solidFill>
            <a:prstDash val="solid"/>
          </a:ln>
        </p:spPr>
      </p:sp>
      <p:sp>
        <p:nvSpPr>
          <p:cNvPr id="60" name="Shape 58"/>
          <p:cNvSpPr/>
          <p:nvPr/>
        </p:nvSpPr>
        <p:spPr>
          <a:xfrm flipV="1">
            <a:off x="1590811" y="3485716"/>
            <a:ext cx="39597" cy="27993"/>
          </a:xfrm>
          <a:prstGeom prst="line">
            <a:avLst/>
          </a:prstGeom>
          <a:noFill/>
          <a:ln w="31750">
            <a:solidFill>
              <a:srgbClr val="2E8B57"/>
            </a:solidFill>
            <a:prstDash val="solid"/>
          </a:ln>
        </p:spPr>
      </p:sp>
      <p:sp>
        <p:nvSpPr>
          <p:cNvPr id="61" name="Shape 59"/>
          <p:cNvSpPr/>
          <p:nvPr/>
        </p:nvSpPr>
        <p:spPr>
          <a:xfrm flipV="1">
            <a:off x="1630408" y="3459017"/>
            <a:ext cx="39597" cy="26699"/>
          </a:xfrm>
          <a:prstGeom prst="line">
            <a:avLst/>
          </a:prstGeom>
          <a:noFill/>
          <a:ln w="31750">
            <a:solidFill>
              <a:srgbClr val="2E8B57"/>
            </a:solidFill>
            <a:prstDash val="solid"/>
          </a:ln>
        </p:spPr>
      </p:sp>
      <p:sp>
        <p:nvSpPr>
          <p:cNvPr id="62" name="Shape 60"/>
          <p:cNvSpPr/>
          <p:nvPr/>
        </p:nvSpPr>
        <p:spPr>
          <a:xfrm flipV="1">
            <a:off x="1670005" y="3433906"/>
            <a:ext cx="39597" cy="25111"/>
          </a:xfrm>
          <a:prstGeom prst="line">
            <a:avLst/>
          </a:prstGeom>
          <a:noFill/>
          <a:ln w="31750">
            <a:solidFill>
              <a:srgbClr val="2E8B57"/>
            </a:solidFill>
            <a:prstDash val="solid"/>
          </a:ln>
        </p:spPr>
      </p:sp>
      <p:sp>
        <p:nvSpPr>
          <p:cNvPr id="63" name="Shape 61"/>
          <p:cNvSpPr/>
          <p:nvPr/>
        </p:nvSpPr>
        <p:spPr>
          <a:xfrm flipV="1">
            <a:off x="1709601" y="3410598"/>
            <a:ext cx="39597" cy="23308"/>
          </a:xfrm>
          <a:prstGeom prst="line">
            <a:avLst/>
          </a:prstGeom>
          <a:noFill/>
          <a:ln w="31750">
            <a:solidFill>
              <a:srgbClr val="2E8B57"/>
            </a:solidFill>
            <a:prstDash val="solid"/>
          </a:ln>
        </p:spPr>
      </p:sp>
      <p:sp>
        <p:nvSpPr>
          <p:cNvPr id="64" name="Shape 62"/>
          <p:cNvSpPr/>
          <p:nvPr/>
        </p:nvSpPr>
        <p:spPr>
          <a:xfrm flipV="1">
            <a:off x="1749198" y="3389242"/>
            <a:ext cx="39597" cy="21356"/>
          </a:xfrm>
          <a:prstGeom prst="line">
            <a:avLst/>
          </a:prstGeom>
          <a:noFill/>
          <a:ln w="31750">
            <a:solidFill>
              <a:srgbClr val="2E8B57"/>
            </a:solidFill>
            <a:prstDash val="solid"/>
          </a:ln>
        </p:spPr>
      </p:sp>
      <p:sp>
        <p:nvSpPr>
          <p:cNvPr id="65" name="Shape 63"/>
          <p:cNvSpPr/>
          <p:nvPr/>
        </p:nvSpPr>
        <p:spPr>
          <a:xfrm flipV="1">
            <a:off x="1788795" y="3369932"/>
            <a:ext cx="39597" cy="19310"/>
          </a:xfrm>
          <a:prstGeom prst="line">
            <a:avLst/>
          </a:prstGeom>
          <a:noFill/>
          <a:ln w="31750">
            <a:solidFill>
              <a:srgbClr val="2E8B57"/>
            </a:solidFill>
            <a:prstDash val="solid"/>
          </a:ln>
        </p:spPr>
      </p:sp>
      <p:sp>
        <p:nvSpPr>
          <p:cNvPr id="66" name="Shape 64"/>
          <p:cNvSpPr/>
          <p:nvPr/>
        </p:nvSpPr>
        <p:spPr>
          <a:xfrm flipV="1">
            <a:off x="1828392" y="3352717"/>
            <a:ext cx="39597" cy="17215"/>
          </a:xfrm>
          <a:prstGeom prst="line">
            <a:avLst/>
          </a:prstGeom>
          <a:noFill/>
          <a:ln w="31750">
            <a:solidFill>
              <a:srgbClr val="2E8B57"/>
            </a:solidFill>
            <a:prstDash val="solid"/>
          </a:ln>
        </p:spPr>
      </p:sp>
      <p:sp>
        <p:nvSpPr>
          <p:cNvPr id="67" name="Shape 65"/>
          <p:cNvSpPr/>
          <p:nvPr/>
        </p:nvSpPr>
        <p:spPr>
          <a:xfrm flipV="1">
            <a:off x="1867989" y="3337606"/>
            <a:ext cx="39597" cy="15111"/>
          </a:xfrm>
          <a:prstGeom prst="line">
            <a:avLst/>
          </a:prstGeom>
          <a:noFill/>
          <a:ln w="31750">
            <a:solidFill>
              <a:srgbClr val="2E8B57"/>
            </a:solidFill>
            <a:prstDash val="solid"/>
          </a:ln>
        </p:spPr>
      </p:sp>
      <p:sp>
        <p:nvSpPr>
          <p:cNvPr id="68" name="Shape 66"/>
          <p:cNvSpPr/>
          <p:nvPr/>
        </p:nvSpPr>
        <p:spPr>
          <a:xfrm flipV="1">
            <a:off x="1907585" y="3324578"/>
            <a:ext cx="39597" cy="13028"/>
          </a:xfrm>
          <a:prstGeom prst="line">
            <a:avLst/>
          </a:prstGeom>
          <a:noFill/>
          <a:ln w="31750">
            <a:solidFill>
              <a:srgbClr val="2E8B57"/>
            </a:solidFill>
            <a:prstDash val="solid"/>
          </a:ln>
        </p:spPr>
      </p:sp>
      <p:sp>
        <p:nvSpPr>
          <p:cNvPr id="69" name="Shape 67"/>
          <p:cNvSpPr/>
          <p:nvPr/>
        </p:nvSpPr>
        <p:spPr>
          <a:xfrm flipV="1">
            <a:off x="1947182" y="3313588"/>
            <a:ext cx="39597" cy="10990"/>
          </a:xfrm>
          <a:prstGeom prst="line">
            <a:avLst/>
          </a:prstGeom>
          <a:noFill/>
          <a:ln w="31750">
            <a:solidFill>
              <a:srgbClr val="2E8B57"/>
            </a:solidFill>
            <a:prstDash val="solid"/>
          </a:ln>
        </p:spPr>
      </p:sp>
      <p:sp>
        <p:nvSpPr>
          <p:cNvPr id="70" name="Shape 68"/>
          <p:cNvSpPr/>
          <p:nvPr/>
        </p:nvSpPr>
        <p:spPr>
          <a:xfrm flipV="1">
            <a:off x="1986779" y="3304571"/>
            <a:ext cx="39597" cy="9017"/>
          </a:xfrm>
          <a:prstGeom prst="line">
            <a:avLst/>
          </a:prstGeom>
          <a:noFill/>
          <a:ln w="31750">
            <a:solidFill>
              <a:srgbClr val="2E8B57"/>
            </a:solidFill>
            <a:prstDash val="solid"/>
          </a:ln>
        </p:spPr>
      </p:sp>
      <p:sp>
        <p:nvSpPr>
          <p:cNvPr id="71" name="Shape 69"/>
          <p:cNvSpPr/>
          <p:nvPr/>
        </p:nvSpPr>
        <p:spPr>
          <a:xfrm flipV="1">
            <a:off x="2026376" y="3297445"/>
            <a:ext cx="39597" cy="7126"/>
          </a:xfrm>
          <a:prstGeom prst="line">
            <a:avLst/>
          </a:prstGeom>
          <a:noFill/>
          <a:ln w="31750">
            <a:solidFill>
              <a:srgbClr val="2E8B57"/>
            </a:solidFill>
            <a:prstDash val="solid"/>
          </a:ln>
        </p:spPr>
      </p:sp>
      <p:sp>
        <p:nvSpPr>
          <p:cNvPr id="72" name="Shape 70"/>
          <p:cNvSpPr/>
          <p:nvPr/>
        </p:nvSpPr>
        <p:spPr>
          <a:xfrm flipV="1">
            <a:off x="2065973" y="3292119"/>
            <a:ext cx="39597" cy="5326"/>
          </a:xfrm>
          <a:prstGeom prst="line">
            <a:avLst/>
          </a:prstGeom>
          <a:noFill/>
          <a:ln w="31750">
            <a:solidFill>
              <a:srgbClr val="2E8B57"/>
            </a:solidFill>
            <a:prstDash val="solid"/>
          </a:ln>
        </p:spPr>
      </p:sp>
      <p:sp>
        <p:nvSpPr>
          <p:cNvPr id="73" name="Shape 71"/>
          <p:cNvSpPr/>
          <p:nvPr/>
        </p:nvSpPr>
        <p:spPr>
          <a:xfrm flipV="1">
            <a:off x="2105569" y="3288491"/>
            <a:ext cx="39597" cy="3627"/>
          </a:xfrm>
          <a:prstGeom prst="line">
            <a:avLst/>
          </a:prstGeom>
          <a:noFill/>
          <a:ln w="31750">
            <a:solidFill>
              <a:srgbClr val="2E8B57"/>
            </a:solidFill>
            <a:prstDash val="solid"/>
          </a:ln>
        </p:spPr>
      </p:sp>
      <p:sp>
        <p:nvSpPr>
          <p:cNvPr id="74" name="Shape 72"/>
          <p:cNvSpPr/>
          <p:nvPr/>
        </p:nvSpPr>
        <p:spPr>
          <a:xfrm flipV="1">
            <a:off x="2145166" y="3286456"/>
            <a:ext cx="39597" cy="2035"/>
          </a:xfrm>
          <a:prstGeom prst="line">
            <a:avLst/>
          </a:prstGeom>
          <a:noFill/>
          <a:ln w="31750">
            <a:solidFill>
              <a:srgbClr val="2E8B57"/>
            </a:solidFill>
            <a:prstDash val="solid"/>
          </a:ln>
        </p:spPr>
      </p:sp>
      <p:sp>
        <p:nvSpPr>
          <p:cNvPr id="75" name="Shape 73"/>
          <p:cNvSpPr/>
          <p:nvPr/>
        </p:nvSpPr>
        <p:spPr>
          <a:xfrm flipV="1">
            <a:off x="2184763" y="3285905"/>
            <a:ext cx="39597" cy="552"/>
          </a:xfrm>
          <a:prstGeom prst="line">
            <a:avLst/>
          </a:prstGeom>
          <a:noFill/>
          <a:ln w="31750">
            <a:solidFill>
              <a:srgbClr val="2E8B57"/>
            </a:solidFill>
            <a:prstDash val="solid"/>
          </a:ln>
        </p:spPr>
      </p:sp>
      <p:sp>
        <p:nvSpPr>
          <p:cNvPr id="76" name="Shape 74"/>
          <p:cNvSpPr/>
          <p:nvPr/>
        </p:nvSpPr>
        <p:spPr>
          <a:xfrm>
            <a:off x="2224360" y="3285905"/>
            <a:ext cx="39597" cy="821"/>
          </a:xfrm>
          <a:prstGeom prst="line">
            <a:avLst/>
          </a:prstGeom>
          <a:noFill/>
          <a:ln w="31750">
            <a:solidFill>
              <a:srgbClr val="2E8B57"/>
            </a:solidFill>
            <a:prstDash val="solid"/>
          </a:ln>
        </p:spPr>
      </p:sp>
      <p:sp>
        <p:nvSpPr>
          <p:cNvPr id="77" name="Shape 75"/>
          <p:cNvSpPr/>
          <p:nvPr/>
        </p:nvSpPr>
        <p:spPr>
          <a:xfrm>
            <a:off x="2263956" y="3286726"/>
            <a:ext cx="39597" cy="2082"/>
          </a:xfrm>
          <a:prstGeom prst="line">
            <a:avLst/>
          </a:prstGeom>
          <a:noFill/>
          <a:ln w="31750">
            <a:solidFill>
              <a:srgbClr val="2E8B57"/>
            </a:solidFill>
            <a:prstDash val="solid"/>
          </a:ln>
        </p:spPr>
      </p:sp>
      <p:sp>
        <p:nvSpPr>
          <p:cNvPr id="78" name="Shape 76"/>
          <p:cNvSpPr/>
          <p:nvPr/>
        </p:nvSpPr>
        <p:spPr>
          <a:xfrm>
            <a:off x="2303553" y="3288808"/>
            <a:ext cx="39597" cy="3234"/>
          </a:xfrm>
          <a:prstGeom prst="line">
            <a:avLst/>
          </a:prstGeom>
          <a:noFill/>
          <a:ln w="31750">
            <a:solidFill>
              <a:srgbClr val="2E8B57"/>
            </a:solidFill>
            <a:prstDash val="solid"/>
          </a:ln>
        </p:spPr>
      </p:sp>
      <p:sp>
        <p:nvSpPr>
          <p:cNvPr id="79" name="Shape 77"/>
          <p:cNvSpPr/>
          <p:nvPr/>
        </p:nvSpPr>
        <p:spPr>
          <a:xfrm>
            <a:off x="2343150" y="3292042"/>
            <a:ext cx="39597" cy="4279"/>
          </a:xfrm>
          <a:prstGeom prst="line">
            <a:avLst/>
          </a:prstGeom>
          <a:noFill/>
          <a:ln w="31750">
            <a:solidFill>
              <a:srgbClr val="2E8B57"/>
            </a:solidFill>
            <a:prstDash val="solid"/>
          </a:ln>
        </p:spPr>
      </p:sp>
      <p:sp>
        <p:nvSpPr>
          <p:cNvPr id="80" name="Shape 78"/>
          <p:cNvSpPr/>
          <p:nvPr/>
        </p:nvSpPr>
        <p:spPr>
          <a:xfrm>
            <a:off x="2382747" y="3296321"/>
            <a:ext cx="39597" cy="5220"/>
          </a:xfrm>
          <a:prstGeom prst="line">
            <a:avLst/>
          </a:prstGeom>
          <a:noFill/>
          <a:ln w="31750">
            <a:solidFill>
              <a:srgbClr val="2E8B57"/>
            </a:solidFill>
            <a:prstDash val="solid"/>
          </a:ln>
        </p:spPr>
      </p:sp>
      <p:sp>
        <p:nvSpPr>
          <p:cNvPr id="81" name="Shape 79"/>
          <p:cNvSpPr/>
          <p:nvPr/>
        </p:nvSpPr>
        <p:spPr>
          <a:xfrm>
            <a:off x="2422344" y="3301541"/>
            <a:ext cx="39597" cy="6061"/>
          </a:xfrm>
          <a:prstGeom prst="line">
            <a:avLst/>
          </a:prstGeom>
          <a:noFill/>
          <a:ln w="31750">
            <a:solidFill>
              <a:srgbClr val="2E8B57"/>
            </a:solidFill>
            <a:prstDash val="solid"/>
          </a:ln>
        </p:spPr>
      </p:sp>
      <p:sp>
        <p:nvSpPr>
          <p:cNvPr id="82" name="Shape 80"/>
          <p:cNvSpPr/>
          <p:nvPr/>
        </p:nvSpPr>
        <p:spPr>
          <a:xfrm>
            <a:off x="2461940" y="3307602"/>
            <a:ext cx="39597" cy="6807"/>
          </a:xfrm>
          <a:prstGeom prst="line">
            <a:avLst/>
          </a:prstGeom>
          <a:noFill/>
          <a:ln w="31750">
            <a:solidFill>
              <a:srgbClr val="2E8B57"/>
            </a:solidFill>
            <a:prstDash val="solid"/>
          </a:ln>
        </p:spPr>
      </p:sp>
      <p:sp>
        <p:nvSpPr>
          <p:cNvPr id="83" name="Shape 81"/>
          <p:cNvSpPr/>
          <p:nvPr/>
        </p:nvSpPr>
        <p:spPr>
          <a:xfrm>
            <a:off x="2501537" y="3314409"/>
            <a:ext cx="39597" cy="7462"/>
          </a:xfrm>
          <a:prstGeom prst="line">
            <a:avLst/>
          </a:prstGeom>
          <a:noFill/>
          <a:ln w="31750">
            <a:solidFill>
              <a:srgbClr val="2E8B57"/>
            </a:solidFill>
            <a:prstDash val="solid"/>
          </a:ln>
        </p:spPr>
      </p:sp>
      <p:sp>
        <p:nvSpPr>
          <p:cNvPr id="84" name="Shape 82"/>
          <p:cNvSpPr/>
          <p:nvPr/>
        </p:nvSpPr>
        <p:spPr>
          <a:xfrm>
            <a:off x="2541134" y="3321871"/>
            <a:ext cx="39597" cy="8030"/>
          </a:xfrm>
          <a:prstGeom prst="line">
            <a:avLst/>
          </a:prstGeom>
          <a:noFill/>
          <a:ln w="31750">
            <a:solidFill>
              <a:srgbClr val="2E8B57"/>
            </a:solidFill>
            <a:prstDash val="solid"/>
          </a:ln>
        </p:spPr>
      </p:sp>
      <p:sp>
        <p:nvSpPr>
          <p:cNvPr id="85" name="Shape 83"/>
          <p:cNvSpPr/>
          <p:nvPr/>
        </p:nvSpPr>
        <p:spPr>
          <a:xfrm>
            <a:off x="2580731" y="3329901"/>
            <a:ext cx="39597" cy="8518"/>
          </a:xfrm>
          <a:prstGeom prst="line">
            <a:avLst/>
          </a:prstGeom>
          <a:noFill/>
          <a:ln w="31750">
            <a:solidFill>
              <a:srgbClr val="2E8B57"/>
            </a:solidFill>
            <a:prstDash val="solid"/>
          </a:ln>
        </p:spPr>
      </p:sp>
      <p:sp>
        <p:nvSpPr>
          <p:cNvPr id="86" name="Shape 84"/>
          <p:cNvSpPr/>
          <p:nvPr/>
        </p:nvSpPr>
        <p:spPr>
          <a:xfrm>
            <a:off x="2620328" y="3338419"/>
            <a:ext cx="39597" cy="8930"/>
          </a:xfrm>
          <a:prstGeom prst="line">
            <a:avLst/>
          </a:prstGeom>
          <a:noFill/>
          <a:ln w="31750">
            <a:solidFill>
              <a:srgbClr val="2E8B57"/>
            </a:solidFill>
            <a:prstDash val="solid"/>
          </a:ln>
        </p:spPr>
      </p:sp>
      <p:sp>
        <p:nvSpPr>
          <p:cNvPr id="87" name="Shape 85"/>
          <p:cNvSpPr/>
          <p:nvPr/>
        </p:nvSpPr>
        <p:spPr>
          <a:xfrm>
            <a:off x="2659924" y="3347349"/>
            <a:ext cx="39597" cy="9271"/>
          </a:xfrm>
          <a:prstGeom prst="line">
            <a:avLst/>
          </a:prstGeom>
          <a:noFill/>
          <a:ln w="31750">
            <a:solidFill>
              <a:srgbClr val="2E8B57"/>
            </a:solidFill>
            <a:prstDash val="solid"/>
          </a:ln>
        </p:spPr>
      </p:sp>
      <p:sp>
        <p:nvSpPr>
          <p:cNvPr id="88" name="Shape 86"/>
          <p:cNvSpPr/>
          <p:nvPr/>
        </p:nvSpPr>
        <p:spPr>
          <a:xfrm>
            <a:off x="2699521" y="3356621"/>
            <a:ext cx="39597" cy="9547"/>
          </a:xfrm>
          <a:prstGeom prst="line">
            <a:avLst/>
          </a:prstGeom>
          <a:noFill/>
          <a:ln w="31750">
            <a:solidFill>
              <a:srgbClr val="2E8B57"/>
            </a:solidFill>
            <a:prstDash val="solid"/>
          </a:ln>
        </p:spPr>
      </p:sp>
      <p:sp>
        <p:nvSpPr>
          <p:cNvPr id="89" name="Shape 87"/>
          <p:cNvSpPr/>
          <p:nvPr/>
        </p:nvSpPr>
        <p:spPr>
          <a:xfrm>
            <a:off x="2739118" y="3366168"/>
            <a:ext cx="39597" cy="9763"/>
          </a:xfrm>
          <a:prstGeom prst="line">
            <a:avLst/>
          </a:prstGeom>
          <a:noFill/>
          <a:ln w="31750">
            <a:solidFill>
              <a:srgbClr val="2E8B57"/>
            </a:solidFill>
            <a:prstDash val="solid"/>
          </a:ln>
        </p:spPr>
      </p:sp>
      <p:sp>
        <p:nvSpPr>
          <p:cNvPr id="90" name="Shape 88"/>
          <p:cNvSpPr/>
          <p:nvPr/>
        </p:nvSpPr>
        <p:spPr>
          <a:xfrm>
            <a:off x="2778715" y="3375931"/>
            <a:ext cx="39597" cy="9922"/>
          </a:xfrm>
          <a:prstGeom prst="line">
            <a:avLst/>
          </a:prstGeom>
          <a:noFill/>
          <a:ln w="31750">
            <a:solidFill>
              <a:srgbClr val="2E8B57"/>
            </a:solidFill>
            <a:prstDash val="solid"/>
          </a:ln>
        </p:spPr>
      </p:sp>
      <p:sp>
        <p:nvSpPr>
          <p:cNvPr id="91" name="Shape 89"/>
          <p:cNvSpPr/>
          <p:nvPr/>
        </p:nvSpPr>
        <p:spPr>
          <a:xfrm>
            <a:off x="2818311" y="3385853"/>
            <a:ext cx="39597" cy="10030"/>
          </a:xfrm>
          <a:prstGeom prst="line">
            <a:avLst/>
          </a:prstGeom>
          <a:noFill/>
          <a:ln w="31750">
            <a:solidFill>
              <a:srgbClr val="2E8B57"/>
            </a:solidFill>
            <a:prstDash val="solid"/>
          </a:ln>
        </p:spPr>
      </p:sp>
      <p:sp>
        <p:nvSpPr>
          <p:cNvPr id="92" name="Shape 90"/>
          <p:cNvSpPr/>
          <p:nvPr/>
        </p:nvSpPr>
        <p:spPr>
          <a:xfrm>
            <a:off x="2857908" y="3395883"/>
            <a:ext cx="39597" cy="10092"/>
          </a:xfrm>
          <a:prstGeom prst="line">
            <a:avLst/>
          </a:prstGeom>
          <a:noFill/>
          <a:ln w="31750">
            <a:solidFill>
              <a:srgbClr val="2E8B57"/>
            </a:solidFill>
            <a:prstDash val="solid"/>
          </a:ln>
        </p:spPr>
      </p:sp>
      <p:sp>
        <p:nvSpPr>
          <p:cNvPr id="93" name="Shape 91"/>
          <p:cNvSpPr/>
          <p:nvPr/>
        </p:nvSpPr>
        <p:spPr>
          <a:xfrm>
            <a:off x="2897505" y="3405975"/>
            <a:ext cx="39597" cy="10112"/>
          </a:xfrm>
          <a:prstGeom prst="line">
            <a:avLst/>
          </a:prstGeom>
          <a:noFill/>
          <a:ln w="31750">
            <a:solidFill>
              <a:srgbClr val="2E8B57"/>
            </a:solidFill>
            <a:prstDash val="solid"/>
          </a:ln>
        </p:spPr>
      </p:sp>
      <p:sp>
        <p:nvSpPr>
          <p:cNvPr id="94" name="Shape 92"/>
          <p:cNvSpPr/>
          <p:nvPr/>
        </p:nvSpPr>
        <p:spPr>
          <a:xfrm>
            <a:off x="2937102" y="3416087"/>
            <a:ext cx="39597" cy="10093"/>
          </a:xfrm>
          <a:prstGeom prst="line">
            <a:avLst/>
          </a:prstGeom>
          <a:noFill/>
          <a:ln w="31750">
            <a:solidFill>
              <a:srgbClr val="2E8B57"/>
            </a:solidFill>
            <a:prstDash val="solid"/>
          </a:ln>
        </p:spPr>
      </p:sp>
      <p:sp>
        <p:nvSpPr>
          <p:cNvPr id="95" name="Shape 93"/>
          <p:cNvSpPr/>
          <p:nvPr/>
        </p:nvSpPr>
        <p:spPr>
          <a:xfrm>
            <a:off x="2976699" y="3426180"/>
            <a:ext cx="39597" cy="10040"/>
          </a:xfrm>
          <a:prstGeom prst="line">
            <a:avLst/>
          </a:prstGeom>
          <a:noFill/>
          <a:ln w="31750">
            <a:solidFill>
              <a:srgbClr val="2E8B57"/>
            </a:solidFill>
            <a:prstDash val="solid"/>
          </a:ln>
        </p:spPr>
      </p:sp>
      <p:sp>
        <p:nvSpPr>
          <p:cNvPr id="96" name="Shape 94"/>
          <p:cNvSpPr/>
          <p:nvPr/>
        </p:nvSpPr>
        <p:spPr>
          <a:xfrm>
            <a:off x="3016295" y="3436220"/>
            <a:ext cx="39597" cy="9956"/>
          </a:xfrm>
          <a:prstGeom prst="line">
            <a:avLst/>
          </a:prstGeom>
          <a:noFill/>
          <a:ln w="31750">
            <a:solidFill>
              <a:srgbClr val="2E8B57"/>
            </a:solidFill>
            <a:prstDash val="solid"/>
          </a:ln>
        </p:spPr>
      </p:sp>
      <p:sp>
        <p:nvSpPr>
          <p:cNvPr id="97" name="Shape 95"/>
          <p:cNvSpPr/>
          <p:nvPr/>
        </p:nvSpPr>
        <p:spPr>
          <a:xfrm>
            <a:off x="3055892" y="3446176"/>
            <a:ext cx="39597" cy="9845"/>
          </a:xfrm>
          <a:prstGeom prst="line">
            <a:avLst/>
          </a:prstGeom>
          <a:noFill/>
          <a:ln w="31750">
            <a:solidFill>
              <a:srgbClr val="2E8B57"/>
            </a:solidFill>
            <a:prstDash val="solid"/>
          </a:ln>
        </p:spPr>
      </p:sp>
      <p:sp>
        <p:nvSpPr>
          <p:cNvPr id="98" name="Shape 96"/>
          <p:cNvSpPr/>
          <p:nvPr/>
        </p:nvSpPr>
        <p:spPr>
          <a:xfrm>
            <a:off x="3095489" y="3456021"/>
            <a:ext cx="39597" cy="9710"/>
          </a:xfrm>
          <a:prstGeom prst="line">
            <a:avLst/>
          </a:prstGeom>
          <a:noFill/>
          <a:ln w="31750">
            <a:solidFill>
              <a:srgbClr val="2E8B57"/>
            </a:solidFill>
            <a:prstDash val="solid"/>
          </a:ln>
        </p:spPr>
      </p:sp>
      <p:sp>
        <p:nvSpPr>
          <p:cNvPr id="99" name="Shape 97"/>
          <p:cNvSpPr/>
          <p:nvPr/>
        </p:nvSpPr>
        <p:spPr>
          <a:xfrm>
            <a:off x="3135086" y="3465730"/>
            <a:ext cx="39597" cy="9553"/>
          </a:xfrm>
          <a:prstGeom prst="line">
            <a:avLst/>
          </a:prstGeom>
          <a:noFill/>
          <a:ln w="31750">
            <a:solidFill>
              <a:srgbClr val="2E8B57"/>
            </a:solidFill>
            <a:prstDash val="solid"/>
          </a:ln>
        </p:spPr>
      </p:sp>
      <p:sp>
        <p:nvSpPr>
          <p:cNvPr id="100" name="Shape 98"/>
          <p:cNvSpPr/>
          <p:nvPr/>
        </p:nvSpPr>
        <p:spPr>
          <a:xfrm>
            <a:off x="3174683" y="3475284"/>
            <a:ext cx="39597" cy="9379"/>
          </a:xfrm>
          <a:prstGeom prst="line">
            <a:avLst/>
          </a:prstGeom>
          <a:noFill/>
          <a:ln w="31750">
            <a:solidFill>
              <a:srgbClr val="2E8B57"/>
            </a:solidFill>
            <a:prstDash val="solid"/>
          </a:ln>
        </p:spPr>
      </p:sp>
      <p:sp>
        <p:nvSpPr>
          <p:cNvPr id="101" name="Shape 99"/>
          <p:cNvSpPr/>
          <p:nvPr/>
        </p:nvSpPr>
        <p:spPr>
          <a:xfrm>
            <a:off x="3214279" y="3484662"/>
            <a:ext cx="39597" cy="9188"/>
          </a:xfrm>
          <a:prstGeom prst="line">
            <a:avLst/>
          </a:prstGeom>
          <a:noFill/>
          <a:ln w="31750">
            <a:solidFill>
              <a:srgbClr val="2E8B57"/>
            </a:solidFill>
            <a:prstDash val="solid"/>
          </a:ln>
        </p:spPr>
      </p:sp>
      <p:sp>
        <p:nvSpPr>
          <p:cNvPr id="102" name="Shape 100"/>
          <p:cNvSpPr/>
          <p:nvPr/>
        </p:nvSpPr>
        <p:spPr>
          <a:xfrm>
            <a:off x="3253876" y="3493850"/>
            <a:ext cx="39597" cy="8984"/>
          </a:xfrm>
          <a:prstGeom prst="line">
            <a:avLst/>
          </a:prstGeom>
          <a:noFill/>
          <a:ln w="31750">
            <a:solidFill>
              <a:srgbClr val="2E8B57"/>
            </a:solidFill>
            <a:prstDash val="solid"/>
          </a:ln>
        </p:spPr>
      </p:sp>
      <p:sp>
        <p:nvSpPr>
          <p:cNvPr id="103" name="Shape 101"/>
          <p:cNvSpPr/>
          <p:nvPr/>
        </p:nvSpPr>
        <p:spPr>
          <a:xfrm>
            <a:off x="3293473" y="3502834"/>
            <a:ext cx="39597" cy="8769"/>
          </a:xfrm>
          <a:prstGeom prst="line">
            <a:avLst/>
          </a:prstGeom>
          <a:noFill/>
          <a:ln w="31750">
            <a:solidFill>
              <a:srgbClr val="2E8B57"/>
            </a:solidFill>
            <a:prstDash val="solid"/>
          </a:ln>
        </p:spPr>
      </p:sp>
      <p:sp>
        <p:nvSpPr>
          <p:cNvPr id="104" name="Shape 102"/>
          <p:cNvSpPr/>
          <p:nvPr/>
        </p:nvSpPr>
        <p:spPr>
          <a:xfrm>
            <a:off x="3333070" y="3511603"/>
            <a:ext cx="39597" cy="8545"/>
          </a:xfrm>
          <a:prstGeom prst="line">
            <a:avLst/>
          </a:prstGeom>
          <a:noFill/>
          <a:ln w="31750">
            <a:solidFill>
              <a:srgbClr val="2E8B57"/>
            </a:solidFill>
            <a:prstDash val="solid"/>
          </a:ln>
        </p:spPr>
      </p:sp>
      <p:sp>
        <p:nvSpPr>
          <p:cNvPr id="105" name="Shape 103"/>
          <p:cNvSpPr/>
          <p:nvPr/>
        </p:nvSpPr>
        <p:spPr>
          <a:xfrm>
            <a:off x="3372666" y="3520148"/>
            <a:ext cx="39597" cy="8313"/>
          </a:xfrm>
          <a:prstGeom prst="line">
            <a:avLst/>
          </a:prstGeom>
          <a:noFill/>
          <a:ln w="31750">
            <a:solidFill>
              <a:srgbClr val="2E8B57"/>
            </a:solidFill>
            <a:prstDash val="solid"/>
          </a:ln>
        </p:spPr>
      </p:sp>
      <p:sp>
        <p:nvSpPr>
          <p:cNvPr id="106" name="Shape 104"/>
          <p:cNvSpPr/>
          <p:nvPr/>
        </p:nvSpPr>
        <p:spPr>
          <a:xfrm>
            <a:off x="3412263" y="3528462"/>
            <a:ext cx="39597" cy="8076"/>
          </a:xfrm>
          <a:prstGeom prst="line">
            <a:avLst/>
          </a:prstGeom>
          <a:noFill/>
          <a:ln w="31750">
            <a:solidFill>
              <a:srgbClr val="2E8B57"/>
            </a:solidFill>
            <a:prstDash val="solid"/>
          </a:ln>
        </p:spPr>
      </p:sp>
      <p:sp>
        <p:nvSpPr>
          <p:cNvPr id="107" name="Shape 105"/>
          <p:cNvSpPr/>
          <p:nvPr/>
        </p:nvSpPr>
        <p:spPr>
          <a:xfrm>
            <a:off x="3451860" y="3536538"/>
            <a:ext cx="39597" cy="7835"/>
          </a:xfrm>
          <a:prstGeom prst="line">
            <a:avLst/>
          </a:prstGeom>
          <a:noFill/>
          <a:ln w="31750">
            <a:solidFill>
              <a:srgbClr val="2E8B57"/>
            </a:solidFill>
            <a:prstDash val="solid"/>
          </a:ln>
        </p:spPr>
      </p:sp>
      <p:sp>
        <p:nvSpPr>
          <p:cNvPr id="108" name="Shape 106"/>
          <p:cNvSpPr/>
          <p:nvPr/>
        </p:nvSpPr>
        <p:spPr>
          <a:xfrm>
            <a:off x="3491457" y="3544372"/>
            <a:ext cx="39597" cy="7590"/>
          </a:xfrm>
          <a:prstGeom prst="line">
            <a:avLst/>
          </a:prstGeom>
          <a:noFill/>
          <a:ln w="31750">
            <a:solidFill>
              <a:srgbClr val="2E8B57"/>
            </a:solidFill>
            <a:prstDash val="solid"/>
          </a:ln>
        </p:spPr>
      </p:sp>
      <p:sp>
        <p:nvSpPr>
          <p:cNvPr id="109" name="Shape 107"/>
          <p:cNvSpPr/>
          <p:nvPr/>
        </p:nvSpPr>
        <p:spPr>
          <a:xfrm>
            <a:off x="3531054" y="3551963"/>
            <a:ext cx="39597" cy="7345"/>
          </a:xfrm>
          <a:prstGeom prst="line">
            <a:avLst/>
          </a:prstGeom>
          <a:noFill/>
          <a:ln w="31750">
            <a:solidFill>
              <a:srgbClr val="2E8B57"/>
            </a:solidFill>
            <a:prstDash val="solid"/>
          </a:ln>
        </p:spPr>
      </p:sp>
      <p:sp>
        <p:nvSpPr>
          <p:cNvPr id="110" name="Shape 108"/>
          <p:cNvSpPr/>
          <p:nvPr/>
        </p:nvSpPr>
        <p:spPr>
          <a:xfrm>
            <a:off x="3570650" y="3559307"/>
            <a:ext cx="39597" cy="7099"/>
          </a:xfrm>
          <a:prstGeom prst="line">
            <a:avLst/>
          </a:prstGeom>
          <a:noFill/>
          <a:ln w="31750">
            <a:solidFill>
              <a:srgbClr val="2E8B57"/>
            </a:solidFill>
            <a:prstDash val="solid"/>
          </a:ln>
        </p:spPr>
      </p:sp>
      <p:sp>
        <p:nvSpPr>
          <p:cNvPr id="111" name="Shape 109"/>
          <p:cNvSpPr/>
          <p:nvPr/>
        </p:nvSpPr>
        <p:spPr>
          <a:xfrm>
            <a:off x="3610247" y="3566406"/>
            <a:ext cx="39597" cy="6853"/>
          </a:xfrm>
          <a:prstGeom prst="line">
            <a:avLst/>
          </a:prstGeom>
          <a:noFill/>
          <a:ln w="31750">
            <a:solidFill>
              <a:srgbClr val="2E8B57"/>
            </a:solidFill>
            <a:prstDash val="solid"/>
          </a:ln>
        </p:spPr>
      </p:sp>
      <p:sp>
        <p:nvSpPr>
          <p:cNvPr id="112" name="Shape 110"/>
          <p:cNvSpPr/>
          <p:nvPr/>
        </p:nvSpPr>
        <p:spPr>
          <a:xfrm>
            <a:off x="3649844" y="3573259"/>
            <a:ext cx="39597" cy="6609"/>
          </a:xfrm>
          <a:prstGeom prst="line">
            <a:avLst/>
          </a:prstGeom>
          <a:noFill/>
          <a:ln w="31750">
            <a:solidFill>
              <a:srgbClr val="2E8B57"/>
            </a:solidFill>
            <a:prstDash val="solid"/>
          </a:ln>
        </p:spPr>
      </p:sp>
      <p:sp>
        <p:nvSpPr>
          <p:cNvPr id="113" name="Shape 111"/>
          <p:cNvSpPr/>
          <p:nvPr/>
        </p:nvSpPr>
        <p:spPr>
          <a:xfrm>
            <a:off x="3689441" y="3579868"/>
            <a:ext cx="39597" cy="6367"/>
          </a:xfrm>
          <a:prstGeom prst="line">
            <a:avLst/>
          </a:prstGeom>
          <a:noFill/>
          <a:ln w="31750">
            <a:solidFill>
              <a:srgbClr val="2E8B57"/>
            </a:solidFill>
            <a:prstDash val="solid"/>
          </a:ln>
        </p:spPr>
      </p:sp>
      <p:sp>
        <p:nvSpPr>
          <p:cNvPr id="114" name="Shape 112"/>
          <p:cNvSpPr/>
          <p:nvPr/>
        </p:nvSpPr>
        <p:spPr>
          <a:xfrm>
            <a:off x="3729038" y="3586235"/>
            <a:ext cx="39597" cy="6128"/>
          </a:xfrm>
          <a:prstGeom prst="line">
            <a:avLst/>
          </a:prstGeom>
          <a:noFill/>
          <a:ln w="31750">
            <a:solidFill>
              <a:srgbClr val="2E8B57"/>
            </a:solidFill>
            <a:prstDash val="solid"/>
          </a:ln>
        </p:spPr>
      </p:sp>
      <p:sp>
        <p:nvSpPr>
          <p:cNvPr id="115" name="Shape 113"/>
          <p:cNvSpPr/>
          <p:nvPr/>
        </p:nvSpPr>
        <p:spPr>
          <a:xfrm>
            <a:off x="3768634" y="3592364"/>
            <a:ext cx="39597" cy="5893"/>
          </a:xfrm>
          <a:prstGeom prst="line">
            <a:avLst/>
          </a:prstGeom>
          <a:noFill/>
          <a:ln w="31750">
            <a:solidFill>
              <a:srgbClr val="2E8B57"/>
            </a:solidFill>
            <a:prstDash val="solid"/>
          </a:ln>
        </p:spPr>
      </p:sp>
      <p:sp>
        <p:nvSpPr>
          <p:cNvPr id="116" name="Shape 114"/>
          <p:cNvSpPr/>
          <p:nvPr/>
        </p:nvSpPr>
        <p:spPr>
          <a:xfrm>
            <a:off x="3808231" y="3598257"/>
            <a:ext cx="39597" cy="5662"/>
          </a:xfrm>
          <a:prstGeom prst="line">
            <a:avLst/>
          </a:prstGeom>
          <a:noFill/>
          <a:ln w="31750">
            <a:solidFill>
              <a:srgbClr val="2E8B57"/>
            </a:solidFill>
            <a:prstDash val="solid"/>
          </a:ln>
        </p:spPr>
      </p:sp>
      <p:sp>
        <p:nvSpPr>
          <p:cNvPr id="117" name="Shape 115"/>
          <p:cNvSpPr/>
          <p:nvPr/>
        </p:nvSpPr>
        <p:spPr>
          <a:xfrm>
            <a:off x="3847828" y="3603919"/>
            <a:ext cx="39597" cy="5435"/>
          </a:xfrm>
          <a:prstGeom prst="line">
            <a:avLst/>
          </a:prstGeom>
          <a:noFill/>
          <a:ln w="31750">
            <a:solidFill>
              <a:srgbClr val="2E8B57"/>
            </a:solidFill>
            <a:prstDash val="solid"/>
          </a:ln>
        </p:spPr>
      </p:sp>
      <p:sp>
        <p:nvSpPr>
          <p:cNvPr id="118" name="Shape 116"/>
          <p:cNvSpPr/>
          <p:nvPr/>
        </p:nvSpPr>
        <p:spPr>
          <a:xfrm>
            <a:off x="3887425" y="3609354"/>
            <a:ext cx="39597" cy="5213"/>
          </a:xfrm>
          <a:prstGeom prst="line">
            <a:avLst/>
          </a:prstGeom>
          <a:noFill/>
          <a:ln w="31750">
            <a:solidFill>
              <a:srgbClr val="2E8B57"/>
            </a:solidFill>
            <a:prstDash val="solid"/>
          </a:ln>
        </p:spPr>
      </p:sp>
      <p:sp>
        <p:nvSpPr>
          <p:cNvPr id="119" name="Shape 117"/>
          <p:cNvSpPr/>
          <p:nvPr/>
        </p:nvSpPr>
        <p:spPr>
          <a:xfrm>
            <a:off x="3927021" y="3614567"/>
            <a:ext cx="39597" cy="4996"/>
          </a:xfrm>
          <a:prstGeom prst="line">
            <a:avLst/>
          </a:prstGeom>
          <a:noFill/>
          <a:ln w="31750">
            <a:solidFill>
              <a:srgbClr val="2E8B57"/>
            </a:solidFill>
            <a:prstDash val="solid"/>
          </a:ln>
        </p:spPr>
      </p:sp>
      <p:sp>
        <p:nvSpPr>
          <p:cNvPr id="120" name="Shape 118"/>
          <p:cNvSpPr/>
          <p:nvPr/>
        </p:nvSpPr>
        <p:spPr>
          <a:xfrm>
            <a:off x="3966618" y="3619563"/>
            <a:ext cx="39597" cy="4785"/>
          </a:xfrm>
          <a:prstGeom prst="line">
            <a:avLst/>
          </a:prstGeom>
          <a:noFill/>
          <a:ln w="31750">
            <a:solidFill>
              <a:srgbClr val="2E8B57"/>
            </a:solidFill>
            <a:prstDash val="solid"/>
          </a:ln>
        </p:spPr>
      </p:sp>
      <p:sp>
        <p:nvSpPr>
          <p:cNvPr id="121" name="Shape 119"/>
          <p:cNvSpPr/>
          <p:nvPr/>
        </p:nvSpPr>
        <p:spPr>
          <a:xfrm>
            <a:off x="4006215" y="3624348"/>
            <a:ext cx="39597" cy="4580"/>
          </a:xfrm>
          <a:prstGeom prst="line">
            <a:avLst/>
          </a:prstGeom>
          <a:noFill/>
          <a:ln w="31750">
            <a:solidFill>
              <a:srgbClr val="2E8B57"/>
            </a:solidFill>
            <a:prstDash val="solid"/>
          </a:ln>
        </p:spPr>
      </p:sp>
      <p:sp>
        <p:nvSpPr>
          <p:cNvPr id="122" name="Shape 120"/>
          <p:cNvSpPr/>
          <p:nvPr/>
        </p:nvSpPr>
        <p:spPr>
          <a:xfrm>
            <a:off x="4045812" y="3628928"/>
            <a:ext cx="39597" cy="4380"/>
          </a:xfrm>
          <a:prstGeom prst="line">
            <a:avLst/>
          </a:prstGeom>
          <a:noFill/>
          <a:ln w="31750">
            <a:solidFill>
              <a:srgbClr val="2E8B57"/>
            </a:solidFill>
            <a:prstDash val="solid"/>
          </a:ln>
        </p:spPr>
      </p:sp>
      <p:sp>
        <p:nvSpPr>
          <p:cNvPr id="123" name="Shape 121"/>
          <p:cNvSpPr/>
          <p:nvPr/>
        </p:nvSpPr>
        <p:spPr>
          <a:xfrm>
            <a:off x="4085409" y="3633308"/>
            <a:ext cx="39597" cy="4186"/>
          </a:xfrm>
          <a:prstGeom prst="line">
            <a:avLst/>
          </a:prstGeom>
          <a:noFill/>
          <a:ln w="31750">
            <a:solidFill>
              <a:srgbClr val="2E8B57"/>
            </a:solidFill>
            <a:prstDash val="solid"/>
          </a:ln>
        </p:spPr>
      </p:sp>
      <p:sp>
        <p:nvSpPr>
          <p:cNvPr id="124" name="Shape 122"/>
          <p:cNvSpPr/>
          <p:nvPr/>
        </p:nvSpPr>
        <p:spPr>
          <a:xfrm>
            <a:off x="4125005" y="3637494"/>
            <a:ext cx="39597" cy="3999"/>
          </a:xfrm>
          <a:prstGeom prst="line">
            <a:avLst/>
          </a:prstGeom>
          <a:noFill/>
          <a:ln w="31750">
            <a:solidFill>
              <a:srgbClr val="2E8B57"/>
            </a:solidFill>
            <a:prstDash val="solid"/>
          </a:ln>
        </p:spPr>
      </p:sp>
      <p:sp>
        <p:nvSpPr>
          <p:cNvPr id="125" name="Shape 123"/>
          <p:cNvSpPr/>
          <p:nvPr/>
        </p:nvSpPr>
        <p:spPr>
          <a:xfrm>
            <a:off x="4164602" y="3641493"/>
            <a:ext cx="39597" cy="3817"/>
          </a:xfrm>
          <a:prstGeom prst="line">
            <a:avLst/>
          </a:prstGeom>
          <a:noFill/>
          <a:ln w="31750">
            <a:solidFill>
              <a:srgbClr val="2E8B57"/>
            </a:solidFill>
            <a:prstDash val="solid"/>
          </a:ln>
        </p:spPr>
      </p:sp>
      <p:sp>
        <p:nvSpPr>
          <p:cNvPr id="126" name="Shape 124"/>
          <p:cNvSpPr/>
          <p:nvPr/>
        </p:nvSpPr>
        <p:spPr>
          <a:xfrm>
            <a:off x="4204199" y="3645310"/>
            <a:ext cx="39597" cy="3642"/>
          </a:xfrm>
          <a:prstGeom prst="line">
            <a:avLst/>
          </a:prstGeom>
          <a:noFill/>
          <a:ln w="31750">
            <a:solidFill>
              <a:srgbClr val="2E8B57"/>
            </a:solidFill>
            <a:prstDash val="solid"/>
          </a:ln>
        </p:spPr>
      </p:sp>
      <p:sp>
        <p:nvSpPr>
          <p:cNvPr id="127" name="Shape 125"/>
          <p:cNvSpPr/>
          <p:nvPr/>
        </p:nvSpPr>
        <p:spPr>
          <a:xfrm>
            <a:off x="4243796" y="3648952"/>
            <a:ext cx="39597" cy="3472"/>
          </a:xfrm>
          <a:prstGeom prst="line">
            <a:avLst/>
          </a:prstGeom>
          <a:noFill/>
          <a:ln w="31750">
            <a:solidFill>
              <a:srgbClr val="2E8B57"/>
            </a:solidFill>
            <a:prstDash val="solid"/>
          </a:ln>
        </p:spPr>
      </p:sp>
      <p:sp>
        <p:nvSpPr>
          <p:cNvPr id="128" name="Shape 126"/>
          <p:cNvSpPr/>
          <p:nvPr/>
        </p:nvSpPr>
        <p:spPr>
          <a:xfrm>
            <a:off x="4283392" y="3652424"/>
            <a:ext cx="39597" cy="3309"/>
          </a:xfrm>
          <a:prstGeom prst="line">
            <a:avLst/>
          </a:prstGeom>
          <a:noFill/>
          <a:ln w="31750">
            <a:solidFill>
              <a:srgbClr val="2E8B57"/>
            </a:solidFill>
            <a:prstDash val="solid"/>
          </a:ln>
        </p:spPr>
      </p:sp>
      <p:sp>
        <p:nvSpPr>
          <p:cNvPr id="129" name="Shape 127"/>
          <p:cNvSpPr/>
          <p:nvPr/>
        </p:nvSpPr>
        <p:spPr>
          <a:xfrm>
            <a:off x="4322989" y="3655733"/>
            <a:ext cx="39597" cy="3152"/>
          </a:xfrm>
          <a:prstGeom prst="line">
            <a:avLst/>
          </a:prstGeom>
          <a:noFill/>
          <a:ln w="31750">
            <a:solidFill>
              <a:srgbClr val="2E8B57"/>
            </a:solidFill>
            <a:prstDash val="solid"/>
          </a:ln>
        </p:spPr>
      </p:sp>
      <p:sp>
        <p:nvSpPr>
          <p:cNvPr id="130" name="Shape 128"/>
          <p:cNvSpPr/>
          <p:nvPr/>
        </p:nvSpPr>
        <p:spPr>
          <a:xfrm>
            <a:off x="4362586" y="3658884"/>
            <a:ext cx="39597" cy="3000"/>
          </a:xfrm>
          <a:prstGeom prst="line">
            <a:avLst/>
          </a:prstGeom>
          <a:noFill/>
          <a:ln w="31750">
            <a:solidFill>
              <a:srgbClr val="2E8B57"/>
            </a:solidFill>
            <a:prstDash val="solid"/>
          </a:ln>
        </p:spPr>
      </p:sp>
      <p:sp>
        <p:nvSpPr>
          <p:cNvPr id="131" name="Shape 129"/>
          <p:cNvSpPr/>
          <p:nvPr/>
        </p:nvSpPr>
        <p:spPr>
          <a:xfrm>
            <a:off x="4402183" y="3661884"/>
            <a:ext cx="39597" cy="2855"/>
          </a:xfrm>
          <a:prstGeom prst="line">
            <a:avLst/>
          </a:prstGeom>
          <a:noFill/>
          <a:ln w="31750">
            <a:solidFill>
              <a:srgbClr val="2E8B57"/>
            </a:solidFill>
            <a:prstDash val="solid"/>
          </a:ln>
        </p:spPr>
      </p:sp>
      <p:sp>
        <p:nvSpPr>
          <p:cNvPr id="132" name="Shape 130"/>
          <p:cNvSpPr/>
          <p:nvPr/>
        </p:nvSpPr>
        <p:spPr>
          <a:xfrm>
            <a:off x="4441780" y="3664739"/>
            <a:ext cx="39597" cy="2715"/>
          </a:xfrm>
          <a:prstGeom prst="line">
            <a:avLst/>
          </a:prstGeom>
          <a:noFill/>
          <a:ln w="31750">
            <a:solidFill>
              <a:srgbClr val="2E8B57"/>
            </a:solidFill>
            <a:prstDash val="solid"/>
          </a:ln>
        </p:spPr>
      </p:sp>
      <p:sp>
        <p:nvSpPr>
          <p:cNvPr id="133" name="Shape 131"/>
          <p:cNvSpPr/>
          <p:nvPr/>
        </p:nvSpPr>
        <p:spPr>
          <a:xfrm>
            <a:off x="4481376" y="3667454"/>
            <a:ext cx="39597" cy="2581"/>
          </a:xfrm>
          <a:prstGeom prst="line">
            <a:avLst/>
          </a:prstGeom>
          <a:noFill/>
          <a:ln w="31750">
            <a:solidFill>
              <a:srgbClr val="2E8B57"/>
            </a:solidFill>
            <a:prstDash val="solid"/>
          </a:ln>
        </p:spPr>
      </p:sp>
      <p:sp>
        <p:nvSpPr>
          <p:cNvPr id="134" name="Shape 132"/>
          <p:cNvSpPr/>
          <p:nvPr/>
        </p:nvSpPr>
        <p:spPr>
          <a:xfrm>
            <a:off x="4520973" y="3670035"/>
            <a:ext cx="39597" cy="2452"/>
          </a:xfrm>
          <a:prstGeom prst="line">
            <a:avLst/>
          </a:prstGeom>
          <a:noFill/>
          <a:ln w="31750">
            <a:solidFill>
              <a:srgbClr val="2E8B57"/>
            </a:solidFill>
            <a:prstDash val="solid"/>
          </a:ln>
        </p:spPr>
      </p:sp>
      <p:sp>
        <p:nvSpPr>
          <p:cNvPr id="135" name="Shape 133"/>
          <p:cNvSpPr/>
          <p:nvPr/>
        </p:nvSpPr>
        <p:spPr>
          <a:xfrm>
            <a:off x="4560570" y="3672487"/>
            <a:ext cx="39597" cy="2329"/>
          </a:xfrm>
          <a:prstGeom prst="line">
            <a:avLst/>
          </a:prstGeom>
          <a:noFill/>
          <a:ln w="31750">
            <a:solidFill>
              <a:srgbClr val="2E8B57"/>
            </a:solidFill>
            <a:prstDash val="solid"/>
          </a:ln>
        </p:spPr>
      </p:sp>
      <p:sp>
        <p:nvSpPr>
          <p:cNvPr id="136" name="Shape 134"/>
          <p:cNvSpPr/>
          <p:nvPr/>
        </p:nvSpPr>
        <p:spPr>
          <a:xfrm>
            <a:off x="4600167" y="3674816"/>
            <a:ext cx="39597" cy="2211"/>
          </a:xfrm>
          <a:prstGeom prst="line">
            <a:avLst/>
          </a:prstGeom>
          <a:noFill/>
          <a:ln w="31750">
            <a:solidFill>
              <a:srgbClr val="2E8B57"/>
            </a:solidFill>
            <a:prstDash val="solid"/>
          </a:ln>
        </p:spPr>
      </p:sp>
      <p:sp>
        <p:nvSpPr>
          <p:cNvPr id="137" name="Shape 135"/>
          <p:cNvSpPr/>
          <p:nvPr/>
        </p:nvSpPr>
        <p:spPr>
          <a:xfrm>
            <a:off x="4639764" y="3677028"/>
            <a:ext cx="39597" cy="2098"/>
          </a:xfrm>
          <a:prstGeom prst="line">
            <a:avLst/>
          </a:prstGeom>
          <a:noFill/>
          <a:ln w="31750">
            <a:solidFill>
              <a:srgbClr val="2E8B57"/>
            </a:solidFill>
            <a:prstDash val="solid"/>
          </a:ln>
        </p:spPr>
      </p:sp>
      <p:sp>
        <p:nvSpPr>
          <p:cNvPr id="138" name="Shape 136"/>
          <p:cNvSpPr/>
          <p:nvPr/>
        </p:nvSpPr>
        <p:spPr>
          <a:xfrm>
            <a:off x="4679360" y="3679126"/>
            <a:ext cx="39597" cy="1991"/>
          </a:xfrm>
          <a:prstGeom prst="line">
            <a:avLst/>
          </a:prstGeom>
          <a:noFill/>
          <a:ln w="31750">
            <a:solidFill>
              <a:srgbClr val="2E8B57"/>
            </a:solidFill>
            <a:prstDash val="solid"/>
          </a:ln>
        </p:spPr>
      </p:sp>
      <p:sp>
        <p:nvSpPr>
          <p:cNvPr id="139" name="Shape 137"/>
          <p:cNvSpPr/>
          <p:nvPr/>
        </p:nvSpPr>
        <p:spPr>
          <a:xfrm>
            <a:off x="4718957" y="3681117"/>
            <a:ext cx="39597" cy="1888"/>
          </a:xfrm>
          <a:prstGeom prst="line">
            <a:avLst/>
          </a:prstGeom>
          <a:noFill/>
          <a:ln w="31750">
            <a:solidFill>
              <a:srgbClr val="2E8B57"/>
            </a:solidFill>
            <a:prstDash val="solid"/>
          </a:ln>
        </p:spPr>
      </p:sp>
      <p:sp>
        <p:nvSpPr>
          <p:cNvPr id="140" name="Shape 138"/>
          <p:cNvSpPr/>
          <p:nvPr/>
        </p:nvSpPr>
        <p:spPr>
          <a:xfrm>
            <a:off x="4758554" y="3683004"/>
            <a:ext cx="39597" cy="1789"/>
          </a:xfrm>
          <a:prstGeom prst="line">
            <a:avLst/>
          </a:prstGeom>
          <a:noFill/>
          <a:ln w="31750">
            <a:solidFill>
              <a:srgbClr val="2E8B57"/>
            </a:solidFill>
            <a:prstDash val="solid"/>
          </a:ln>
        </p:spPr>
      </p:sp>
      <p:sp>
        <p:nvSpPr>
          <p:cNvPr id="141" name="Shape 139"/>
          <p:cNvSpPr/>
          <p:nvPr/>
        </p:nvSpPr>
        <p:spPr>
          <a:xfrm>
            <a:off x="4798151" y="3684793"/>
            <a:ext cx="39597" cy="1695"/>
          </a:xfrm>
          <a:prstGeom prst="line">
            <a:avLst/>
          </a:prstGeom>
          <a:noFill/>
          <a:ln w="31750">
            <a:solidFill>
              <a:srgbClr val="2E8B57"/>
            </a:solidFill>
            <a:prstDash val="solid"/>
          </a:ln>
        </p:spPr>
      </p:sp>
      <p:sp>
        <p:nvSpPr>
          <p:cNvPr id="142" name="Shape 140"/>
          <p:cNvSpPr/>
          <p:nvPr/>
        </p:nvSpPr>
        <p:spPr>
          <a:xfrm>
            <a:off x="4837748" y="3686489"/>
            <a:ext cx="39597" cy="1606"/>
          </a:xfrm>
          <a:prstGeom prst="line">
            <a:avLst/>
          </a:prstGeom>
          <a:noFill/>
          <a:ln w="31750">
            <a:solidFill>
              <a:srgbClr val="2E8B57"/>
            </a:solidFill>
            <a:prstDash val="solid"/>
          </a:ln>
        </p:spPr>
      </p:sp>
      <p:sp>
        <p:nvSpPr>
          <p:cNvPr id="143" name="Shape 141"/>
          <p:cNvSpPr/>
          <p:nvPr/>
        </p:nvSpPr>
        <p:spPr>
          <a:xfrm>
            <a:off x="4877344" y="3688095"/>
            <a:ext cx="39597" cy="1521"/>
          </a:xfrm>
          <a:prstGeom prst="line">
            <a:avLst/>
          </a:prstGeom>
          <a:noFill/>
          <a:ln w="31750">
            <a:solidFill>
              <a:srgbClr val="2E8B57"/>
            </a:solidFill>
            <a:prstDash val="solid"/>
          </a:ln>
        </p:spPr>
      </p:sp>
      <p:sp>
        <p:nvSpPr>
          <p:cNvPr id="144" name="Shape 142"/>
          <p:cNvSpPr/>
          <p:nvPr/>
        </p:nvSpPr>
        <p:spPr>
          <a:xfrm>
            <a:off x="4916941" y="3689615"/>
            <a:ext cx="39597" cy="1439"/>
          </a:xfrm>
          <a:prstGeom prst="line">
            <a:avLst/>
          </a:prstGeom>
          <a:noFill/>
          <a:ln w="31750">
            <a:solidFill>
              <a:srgbClr val="2E8B57"/>
            </a:solidFill>
            <a:prstDash val="solid"/>
          </a:ln>
        </p:spPr>
      </p:sp>
      <p:sp>
        <p:nvSpPr>
          <p:cNvPr id="145" name="Shape 143"/>
          <p:cNvSpPr/>
          <p:nvPr/>
        </p:nvSpPr>
        <p:spPr>
          <a:xfrm>
            <a:off x="4956538" y="3691054"/>
            <a:ext cx="39597" cy="1362"/>
          </a:xfrm>
          <a:prstGeom prst="line">
            <a:avLst/>
          </a:prstGeom>
          <a:noFill/>
          <a:ln w="31750">
            <a:solidFill>
              <a:srgbClr val="2E8B57"/>
            </a:solidFill>
            <a:prstDash val="solid"/>
          </a:ln>
        </p:spPr>
      </p:sp>
      <p:sp>
        <p:nvSpPr>
          <p:cNvPr id="146" name="Shape 144"/>
          <p:cNvSpPr/>
          <p:nvPr/>
        </p:nvSpPr>
        <p:spPr>
          <a:xfrm>
            <a:off x="4996135" y="3692416"/>
            <a:ext cx="39597" cy="1288"/>
          </a:xfrm>
          <a:prstGeom prst="line">
            <a:avLst/>
          </a:prstGeom>
          <a:noFill/>
          <a:ln w="31750">
            <a:solidFill>
              <a:srgbClr val="2E8B57"/>
            </a:solidFill>
            <a:prstDash val="solid"/>
          </a:ln>
        </p:spPr>
      </p:sp>
      <p:sp>
        <p:nvSpPr>
          <p:cNvPr id="147" name="Shape 145"/>
          <p:cNvSpPr/>
          <p:nvPr/>
        </p:nvSpPr>
        <p:spPr>
          <a:xfrm>
            <a:off x="5035731" y="3693705"/>
            <a:ext cx="39597" cy="1218"/>
          </a:xfrm>
          <a:prstGeom prst="line">
            <a:avLst/>
          </a:prstGeom>
          <a:noFill/>
          <a:ln w="31750">
            <a:solidFill>
              <a:srgbClr val="2E8B57"/>
            </a:solidFill>
            <a:prstDash val="solid"/>
          </a:ln>
        </p:spPr>
      </p:sp>
      <p:sp>
        <p:nvSpPr>
          <p:cNvPr id="148" name="Shape 146"/>
          <p:cNvSpPr/>
          <p:nvPr/>
        </p:nvSpPr>
        <p:spPr>
          <a:xfrm>
            <a:off x="5075328" y="3694923"/>
            <a:ext cx="39597" cy="1152"/>
          </a:xfrm>
          <a:prstGeom prst="line">
            <a:avLst/>
          </a:prstGeom>
          <a:noFill/>
          <a:ln w="31750">
            <a:solidFill>
              <a:srgbClr val="2E8B57"/>
            </a:solidFill>
            <a:prstDash val="solid"/>
          </a:ln>
        </p:spPr>
      </p:sp>
      <p:sp>
        <p:nvSpPr>
          <p:cNvPr id="149" name="Shape 147"/>
          <p:cNvSpPr/>
          <p:nvPr/>
        </p:nvSpPr>
        <p:spPr>
          <a:xfrm>
            <a:off x="5114925" y="3696075"/>
            <a:ext cx="39597" cy="1088"/>
          </a:xfrm>
          <a:prstGeom prst="line">
            <a:avLst/>
          </a:prstGeom>
          <a:noFill/>
          <a:ln w="31750">
            <a:solidFill>
              <a:srgbClr val="2E8B57"/>
            </a:solidFill>
            <a:prstDash val="solid"/>
          </a:ln>
        </p:spPr>
      </p:sp>
      <p:sp>
        <p:nvSpPr>
          <p:cNvPr id="150" name="Shape 148"/>
          <p:cNvSpPr/>
          <p:nvPr/>
        </p:nvSpPr>
        <p:spPr>
          <a:xfrm>
            <a:off x="5154522" y="3697163"/>
            <a:ext cx="39597" cy="1028"/>
          </a:xfrm>
          <a:prstGeom prst="line">
            <a:avLst/>
          </a:prstGeom>
          <a:noFill/>
          <a:ln w="31750">
            <a:solidFill>
              <a:srgbClr val="2E8B57"/>
            </a:solidFill>
            <a:prstDash val="solid"/>
          </a:ln>
        </p:spPr>
      </p:sp>
      <p:sp>
        <p:nvSpPr>
          <p:cNvPr id="151" name="Shape 149"/>
          <p:cNvSpPr/>
          <p:nvPr/>
        </p:nvSpPr>
        <p:spPr>
          <a:xfrm>
            <a:off x="5194119" y="3698192"/>
            <a:ext cx="39597" cy="971"/>
          </a:xfrm>
          <a:prstGeom prst="line">
            <a:avLst/>
          </a:prstGeom>
          <a:noFill/>
          <a:ln w="31750">
            <a:solidFill>
              <a:srgbClr val="2E8B57"/>
            </a:solidFill>
            <a:prstDash val="solid"/>
          </a:ln>
        </p:spPr>
      </p:sp>
      <p:sp>
        <p:nvSpPr>
          <p:cNvPr id="152" name="Shape 150"/>
          <p:cNvSpPr/>
          <p:nvPr/>
        </p:nvSpPr>
        <p:spPr>
          <a:xfrm>
            <a:off x="5233715" y="3699163"/>
            <a:ext cx="39597" cy="917"/>
          </a:xfrm>
          <a:prstGeom prst="line">
            <a:avLst/>
          </a:prstGeom>
          <a:noFill/>
          <a:ln w="31750">
            <a:solidFill>
              <a:srgbClr val="2E8B57"/>
            </a:solidFill>
            <a:prstDash val="solid"/>
          </a:ln>
        </p:spPr>
      </p:sp>
      <p:sp>
        <p:nvSpPr>
          <p:cNvPr id="153" name="Shape 151"/>
          <p:cNvSpPr/>
          <p:nvPr/>
        </p:nvSpPr>
        <p:spPr>
          <a:xfrm>
            <a:off x="5273312" y="3700080"/>
            <a:ext cx="39597" cy="866"/>
          </a:xfrm>
          <a:prstGeom prst="line">
            <a:avLst/>
          </a:prstGeom>
          <a:noFill/>
          <a:ln w="31750">
            <a:solidFill>
              <a:srgbClr val="2E8B57"/>
            </a:solidFill>
            <a:prstDash val="solid"/>
          </a:ln>
        </p:spPr>
      </p:sp>
      <p:sp>
        <p:nvSpPr>
          <p:cNvPr id="154" name="Shape 152"/>
          <p:cNvSpPr/>
          <p:nvPr/>
        </p:nvSpPr>
        <p:spPr>
          <a:xfrm>
            <a:off x="5312909" y="3700946"/>
            <a:ext cx="39597" cy="817"/>
          </a:xfrm>
          <a:prstGeom prst="line">
            <a:avLst/>
          </a:prstGeom>
          <a:noFill/>
          <a:ln w="31750">
            <a:solidFill>
              <a:srgbClr val="2E8B57"/>
            </a:solidFill>
            <a:prstDash val="solid"/>
          </a:ln>
        </p:spPr>
      </p:sp>
      <p:sp>
        <p:nvSpPr>
          <p:cNvPr id="155" name="Shape 153"/>
          <p:cNvSpPr/>
          <p:nvPr/>
        </p:nvSpPr>
        <p:spPr>
          <a:xfrm>
            <a:off x="5352506" y="3701763"/>
            <a:ext cx="39597" cy="771"/>
          </a:xfrm>
          <a:prstGeom prst="line">
            <a:avLst/>
          </a:prstGeom>
          <a:noFill/>
          <a:ln w="31750">
            <a:solidFill>
              <a:srgbClr val="2E8B57"/>
            </a:solidFill>
            <a:prstDash val="solid"/>
          </a:ln>
        </p:spPr>
      </p:sp>
      <p:sp>
        <p:nvSpPr>
          <p:cNvPr id="156" name="Shape 154"/>
          <p:cNvSpPr/>
          <p:nvPr/>
        </p:nvSpPr>
        <p:spPr>
          <a:xfrm>
            <a:off x="5392103" y="3702535"/>
            <a:ext cx="39597" cy="727"/>
          </a:xfrm>
          <a:prstGeom prst="line">
            <a:avLst/>
          </a:prstGeom>
          <a:noFill/>
          <a:ln w="31750">
            <a:solidFill>
              <a:srgbClr val="2E8B57"/>
            </a:solidFill>
            <a:prstDash val="solid"/>
          </a:ln>
        </p:spPr>
      </p:sp>
      <p:sp>
        <p:nvSpPr>
          <p:cNvPr id="157" name="Shape 155"/>
          <p:cNvSpPr/>
          <p:nvPr/>
        </p:nvSpPr>
        <p:spPr>
          <a:xfrm>
            <a:off x="5431699" y="3703262"/>
            <a:ext cx="39597" cy="686"/>
          </a:xfrm>
          <a:prstGeom prst="line">
            <a:avLst/>
          </a:prstGeom>
          <a:noFill/>
          <a:ln w="31750">
            <a:solidFill>
              <a:srgbClr val="2E8B57"/>
            </a:solidFill>
            <a:prstDash val="solid"/>
          </a:ln>
        </p:spPr>
      </p:sp>
      <p:sp>
        <p:nvSpPr>
          <p:cNvPr id="158" name="Shape 156"/>
          <p:cNvSpPr/>
          <p:nvPr/>
        </p:nvSpPr>
        <p:spPr>
          <a:xfrm>
            <a:off x="5471296" y="3703948"/>
            <a:ext cx="39597" cy="647"/>
          </a:xfrm>
          <a:prstGeom prst="line">
            <a:avLst/>
          </a:prstGeom>
          <a:noFill/>
          <a:ln w="31750">
            <a:solidFill>
              <a:srgbClr val="2E8B57"/>
            </a:solidFill>
            <a:prstDash val="solid"/>
          </a:ln>
        </p:spPr>
      </p:sp>
      <p:sp>
        <p:nvSpPr>
          <p:cNvPr id="159" name="Shape 157"/>
          <p:cNvSpPr/>
          <p:nvPr/>
        </p:nvSpPr>
        <p:spPr>
          <a:xfrm>
            <a:off x="5510893" y="3704595"/>
            <a:ext cx="39597" cy="610"/>
          </a:xfrm>
          <a:prstGeom prst="line">
            <a:avLst/>
          </a:prstGeom>
          <a:noFill/>
          <a:ln w="31750">
            <a:solidFill>
              <a:srgbClr val="2E8B57"/>
            </a:solidFill>
            <a:prstDash val="solid"/>
          </a:ln>
        </p:spPr>
      </p:sp>
      <p:sp>
        <p:nvSpPr>
          <p:cNvPr id="160" name="Shape 158"/>
          <p:cNvSpPr/>
          <p:nvPr/>
        </p:nvSpPr>
        <p:spPr>
          <a:xfrm>
            <a:off x="5550490" y="3705205"/>
            <a:ext cx="39597" cy="575"/>
          </a:xfrm>
          <a:prstGeom prst="line">
            <a:avLst/>
          </a:prstGeom>
          <a:noFill/>
          <a:ln w="31750">
            <a:solidFill>
              <a:srgbClr val="2E8B57"/>
            </a:solidFill>
            <a:prstDash val="solid"/>
          </a:ln>
        </p:spPr>
      </p:sp>
      <p:sp>
        <p:nvSpPr>
          <p:cNvPr id="161" name="Shape 159"/>
          <p:cNvSpPr/>
          <p:nvPr/>
        </p:nvSpPr>
        <p:spPr>
          <a:xfrm>
            <a:off x="5590086" y="3705779"/>
            <a:ext cx="39597" cy="541"/>
          </a:xfrm>
          <a:prstGeom prst="line">
            <a:avLst/>
          </a:prstGeom>
          <a:noFill/>
          <a:ln w="31750">
            <a:solidFill>
              <a:srgbClr val="2E8B57"/>
            </a:solidFill>
            <a:prstDash val="solid"/>
          </a:ln>
        </p:spPr>
      </p:sp>
      <p:sp>
        <p:nvSpPr>
          <p:cNvPr id="162" name="Shape 160"/>
          <p:cNvSpPr/>
          <p:nvPr/>
        </p:nvSpPr>
        <p:spPr>
          <a:xfrm>
            <a:off x="5629683" y="3706321"/>
            <a:ext cx="39597" cy="510"/>
          </a:xfrm>
          <a:prstGeom prst="line">
            <a:avLst/>
          </a:prstGeom>
          <a:noFill/>
          <a:ln w="31750">
            <a:solidFill>
              <a:srgbClr val="2E8B57"/>
            </a:solidFill>
            <a:prstDash val="solid"/>
          </a:ln>
        </p:spPr>
      </p:sp>
      <p:sp>
        <p:nvSpPr>
          <p:cNvPr id="163" name="Shape 161"/>
          <p:cNvSpPr/>
          <p:nvPr/>
        </p:nvSpPr>
        <p:spPr>
          <a:xfrm flipV="1">
            <a:off x="1234440" y="3250783"/>
            <a:ext cx="39597" cy="4481"/>
          </a:xfrm>
          <a:prstGeom prst="line">
            <a:avLst/>
          </a:prstGeom>
          <a:noFill/>
          <a:ln w="31750">
            <a:solidFill>
              <a:srgbClr val="C8414C"/>
            </a:solidFill>
            <a:prstDash val="solid"/>
          </a:ln>
        </p:spPr>
      </p:sp>
      <p:sp>
        <p:nvSpPr>
          <p:cNvPr id="164" name="Shape 162"/>
          <p:cNvSpPr/>
          <p:nvPr/>
        </p:nvSpPr>
        <p:spPr>
          <a:xfrm flipV="1">
            <a:off x="1274037" y="3238093"/>
            <a:ext cx="39597" cy="12691"/>
          </a:xfrm>
          <a:prstGeom prst="line">
            <a:avLst/>
          </a:prstGeom>
          <a:noFill/>
          <a:ln w="31750">
            <a:solidFill>
              <a:srgbClr val="C8414C"/>
            </a:solidFill>
            <a:prstDash val="solid"/>
          </a:ln>
        </p:spPr>
      </p:sp>
      <p:sp>
        <p:nvSpPr>
          <p:cNvPr id="165" name="Shape 163"/>
          <p:cNvSpPr/>
          <p:nvPr/>
        </p:nvSpPr>
        <p:spPr>
          <a:xfrm flipV="1">
            <a:off x="1313634" y="3218249"/>
            <a:ext cx="39597" cy="19843"/>
          </a:xfrm>
          <a:prstGeom prst="line">
            <a:avLst/>
          </a:prstGeom>
          <a:noFill/>
          <a:ln w="31750">
            <a:solidFill>
              <a:srgbClr val="C8414C"/>
            </a:solidFill>
            <a:prstDash val="solid"/>
          </a:ln>
        </p:spPr>
      </p:sp>
      <p:sp>
        <p:nvSpPr>
          <p:cNvPr id="166" name="Shape 164"/>
          <p:cNvSpPr/>
          <p:nvPr/>
        </p:nvSpPr>
        <p:spPr>
          <a:xfrm flipV="1">
            <a:off x="1353230" y="3192221"/>
            <a:ext cx="39597" cy="26029"/>
          </a:xfrm>
          <a:prstGeom prst="line">
            <a:avLst/>
          </a:prstGeom>
          <a:noFill/>
          <a:ln w="31750">
            <a:solidFill>
              <a:srgbClr val="C8414C"/>
            </a:solidFill>
            <a:prstDash val="solid"/>
          </a:ln>
        </p:spPr>
      </p:sp>
      <p:sp>
        <p:nvSpPr>
          <p:cNvPr id="167" name="Shape 165"/>
          <p:cNvSpPr/>
          <p:nvPr/>
        </p:nvSpPr>
        <p:spPr>
          <a:xfrm flipV="1">
            <a:off x="1392827" y="3160891"/>
            <a:ext cx="39597" cy="31329"/>
          </a:xfrm>
          <a:prstGeom prst="line">
            <a:avLst/>
          </a:prstGeom>
          <a:noFill/>
          <a:ln w="31750">
            <a:solidFill>
              <a:srgbClr val="C8414C"/>
            </a:solidFill>
            <a:prstDash val="solid"/>
          </a:ln>
        </p:spPr>
      </p:sp>
      <p:sp>
        <p:nvSpPr>
          <p:cNvPr id="168" name="Shape 166"/>
          <p:cNvSpPr/>
          <p:nvPr/>
        </p:nvSpPr>
        <p:spPr>
          <a:xfrm flipV="1">
            <a:off x="1432424" y="3125069"/>
            <a:ext cx="39597" cy="35823"/>
          </a:xfrm>
          <a:prstGeom prst="line">
            <a:avLst/>
          </a:prstGeom>
          <a:noFill/>
          <a:ln w="31750">
            <a:solidFill>
              <a:srgbClr val="C8414C"/>
            </a:solidFill>
            <a:prstDash val="solid"/>
          </a:ln>
        </p:spPr>
      </p:sp>
      <p:sp>
        <p:nvSpPr>
          <p:cNvPr id="169" name="Shape 167"/>
          <p:cNvSpPr/>
          <p:nvPr/>
        </p:nvSpPr>
        <p:spPr>
          <a:xfrm flipV="1">
            <a:off x="1472021" y="3085488"/>
            <a:ext cx="39597" cy="39581"/>
          </a:xfrm>
          <a:prstGeom prst="line">
            <a:avLst/>
          </a:prstGeom>
          <a:noFill/>
          <a:ln w="31750">
            <a:solidFill>
              <a:srgbClr val="C8414C"/>
            </a:solidFill>
            <a:prstDash val="solid"/>
          </a:ln>
        </p:spPr>
      </p:sp>
      <p:sp>
        <p:nvSpPr>
          <p:cNvPr id="170" name="Shape 168"/>
          <p:cNvSpPr/>
          <p:nvPr/>
        </p:nvSpPr>
        <p:spPr>
          <a:xfrm flipV="1">
            <a:off x="1511618" y="3042818"/>
            <a:ext cx="39597" cy="42670"/>
          </a:xfrm>
          <a:prstGeom prst="line">
            <a:avLst/>
          </a:prstGeom>
          <a:noFill/>
          <a:ln w="31750">
            <a:solidFill>
              <a:srgbClr val="C8414C"/>
            </a:solidFill>
            <a:prstDash val="solid"/>
          </a:ln>
        </p:spPr>
      </p:sp>
      <p:sp>
        <p:nvSpPr>
          <p:cNvPr id="171" name="Shape 169"/>
          <p:cNvSpPr/>
          <p:nvPr/>
        </p:nvSpPr>
        <p:spPr>
          <a:xfrm flipV="1">
            <a:off x="1551214" y="2997667"/>
            <a:ext cx="39597" cy="45151"/>
          </a:xfrm>
          <a:prstGeom prst="line">
            <a:avLst/>
          </a:prstGeom>
          <a:noFill/>
          <a:ln w="31750">
            <a:solidFill>
              <a:srgbClr val="C8414C"/>
            </a:solidFill>
            <a:prstDash val="solid"/>
          </a:ln>
        </p:spPr>
      </p:sp>
      <p:sp>
        <p:nvSpPr>
          <p:cNvPr id="172" name="Shape 170"/>
          <p:cNvSpPr/>
          <p:nvPr/>
        </p:nvSpPr>
        <p:spPr>
          <a:xfrm flipV="1">
            <a:off x="1590811" y="2950585"/>
            <a:ext cx="39597" cy="47082"/>
          </a:xfrm>
          <a:prstGeom prst="line">
            <a:avLst/>
          </a:prstGeom>
          <a:noFill/>
          <a:ln w="31750">
            <a:solidFill>
              <a:srgbClr val="C8414C"/>
            </a:solidFill>
            <a:prstDash val="solid"/>
          </a:ln>
        </p:spPr>
      </p:sp>
      <p:sp>
        <p:nvSpPr>
          <p:cNvPr id="173" name="Shape 171"/>
          <p:cNvSpPr/>
          <p:nvPr/>
        </p:nvSpPr>
        <p:spPr>
          <a:xfrm flipV="1">
            <a:off x="1630408" y="2902068"/>
            <a:ext cx="39597" cy="48517"/>
          </a:xfrm>
          <a:prstGeom prst="line">
            <a:avLst/>
          </a:prstGeom>
          <a:noFill/>
          <a:ln w="31750">
            <a:solidFill>
              <a:srgbClr val="C8414C"/>
            </a:solidFill>
            <a:prstDash val="solid"/>
          </a:ln>
        </p:spPr>
      </p:sp>
      <p:sp>
        <p:nvSpPr>
          <p:cNvPr id="174" name="Shape 172"/>
          <p:cNvSpPr/>
          <p:nvPr/>
        </p:nvSpPr>
        <p:spPr>
          <a:xfrm flipV="1">
            <a:off x="1670005" y="2852566"/>
            <a:ext cx="39597" cy="49503"/>
          </a:xfrm>
          <a:prstGeom prst="line">
            <a:avLst/>
          </a:prstGeom>
          <a:noFill/>
          <a:ln w="31750">
            <a:solidFill>
              <a:srgbClr val="C8414C"/>
            </a:solidFill>
            <a:prstDash val="solid"/>
          </a:ln>
        </p:spPr>
      </p:sp>
      <p:sp>
        <p:nvSpPr>
          <p:cNvPr id="175" name="Shape 173"/>
          <p:cNvSpPr/>
          <p:nvPr/>
        </p:nvSpPr>
        <p:spPr>
          <a:xfrm flipV="1">
            <a:off x="1709601" y="2802479"/>
            <a:ext cx="39597" cy="50086"/>
          </a:xfrm>
          <a:prstGeom prst="line">
            <a:avLst/>
          </a:prstGeom>
          <a:noFill/>
          <a:ln w="31750">
            <a:solidFill>
              <a:srgbClr val="C8414C"/>
            </a:solidFill>
            <a:prstDash val="solid"/>
          </a:ln>
        </p:spPr>
      </p:sp>
      <p:sp>
        <p:nvSpPr>
          <p:cNvPr id="176" name="Shape 174"/>
          <p:cNvSpPr/>
          <p:nvPr/>
        </p:nvSpPr>
        <p:spPr>
          <a:xfrm flipV="1">
            <a:off x="1749198" y="2752171"/>
            <a:ext cx="39597" cy="50309"/>
          </a:xfrm>
          <a:prstGeom prst="line">
            <a:avLst/>
          </a:prstGeom>
          <a:noFill/>
          <a:ln w="31750">
            <a:solidFill>
              <a:srgbClr val="C8414C"/>
            </a:solidFill>
            <a:prstDash val="solid"/>
          </a:ln>
        </p:spPr>
      </p:sp>
      <p:sp>
        <p:nvSpPr>
          <p:cNvPr id="177" name="Shape 175"/>
          <p:cNvSpPr/>
          <p:nvPr/>
        </p:nvSpPr>
        <p:spPr>
          <a:xfrm flipV="1">
            <a:off x="1788795" y="2701962"/>
            <a:ext cx="39597" cy="50209"/>
          </a:xfrm>
          <a:prstGeom prst="line">
            <a:avLst/>
          </a:prstGeom>
          <a:noFill/>
          <a:ln w="31750">
            <a:solidFill>
              <a:srgbClr val="C8414C"/>
            </a:solidFill>
            <a:prstDash val="solid"/>
          </a:ln>
        </p:spPr>
      </p:sp>
      <p:sp>
        <p:nvSpPr>
          <p:cNvPr id="178" name="Shape 176"/>
          <p:cNvSpPr/>
          <p:nvPr/>
        </p:nvSpPr>
        <p:spPr>
          <a:xfrm flipV="1">
            <a:off x="1828392" y="2652139"/>
            <a:ext cx="39597" cy="49823"/>
          </a:xfrm>
          <a:prstGeom prst="line">
            <a:avLst/>
          </a:prstGeom>
          <a:noFill/>
          <a:ln w="31750">
            <a:solidFill>
              <a:srgbClr val="C8414C"/>
            </a:solidFill>
            <a:prstDash val="solid"/>
          </a:ln>
        </p:spPr>
      </p:sp>
      <p:sp>
        <p:nvSpPr>
          <p:cNvPr id="179" name="Shape 177"/>
          <p:cNvSpPr/>
          <p:nvPr/>
        </p:nvSpPr>
        <p:spPr>
          <a:xfrm flipV="1">
            <a:off x="1867989" y="2602957"/>
            <a:ext cx="39597" cy="49183"/>
          </a:xfrm>
          <a:prstGeom prst="line">
            <a:avLst/>
          </a:prstGeom>
          <a:noFill/>
          <a:ln w="31750">
            <a:solidFill>
              <a:srgbClr val="C8414C"/>
            </a:solidFill>
            <a:prstDash val="solid"/>
          </a:ln>
        </p:spPr>
      </p:sp>
      <p:sp>
        <p:nvSpPr>
          <p:cNvPr id="180" name="Shape 178"/>
          <p:cNvSpPr/>
          <p:nvPr/>
        </p:nvSpPr>
        <p:spPr>
          <a:xfrm flipV="1">
            <a:off x="1907585" y="2554637"/>
            <a:ext cx="39597" cy="48320"/>
          </a:xfrm>
          <a:prstGeom prst="line">
            <a:avLst/>
          </a:prstGeom>
          <a:noFill/>
          <a:ln w="31750">
            <a:solidFill>
              <a:srgbClr val="C8414C"/>
            </a:solidFill>
            <a:prstDash val="solid"/>
          </a:ln>
        </p:spPr>
      </p:sp>
      <p:sp>
        <p:nvSpPr>
          <p:cNvPr id="181" name="Shape 179"/>
          <p:cNvSpPr/>
          <p:nvPr/>
        </p:nvSpPr>
        <p:spPr>
          <a:xfrm flipV="1">
            <a:off x="1947182" y="2507376"/>
            <a:ext cx="39597" cy="47261"/>
          </a:xfrm>
          <a:prstGeom prst="line">
            <a:avLst/>
          </a:prstGeom>
          <a:noFill/>
          <a:ln w="31750">
            <a:solidFill>
              <a:srgbClr val="C8414C"/>
            </a:solidFill>
            <a:prstDash val="solid"/>
          </a:ln>
        </p:spPr>
      </p:sp>
      <p:sp>
        <p:nvSpPr>
          <p:cNvPr id="182" name="Shape 180"/>
          <p:cNvSpPr/>
          <p:nvPr/>
        </p:nvSpPr>
        <p:spPr>
          <a:xfrm flipV="1">
            <a:off x="1986779" y="2461344"/>
            <a:ext cx="39597" cy="46032"/>
          </a:xfrm>
          <a:prstGeom prst="line">
            <a:avLst/>
          </a:prstGeom>
          <a:noFill/>
          <a:ln w="31750">
            <a:solidFill>
              <a:srgbClr val="C8414C"/>
            </a:solidFill>
            <a:prstDash val="solid"/>
          </a:ln>
        </p:spPr>
      </p:sp>
      <p:sp>
        <p:nvSpPr>
          <p:cNvPr id="183" name="Shape 181"/>
          <p:cNvSpPr/>
          <p:nvPr/>
        </p:nvSpPr>
        <p:spPr>
          <a:xfrm flipV="1">
            <a:off x="2026376" y="2416688"/>
            <a:ext cx="39597" cy="44657"/>
          </a:xfrm>
          <a:prstGeom prst="line">
            <a:avLst/>
          </a:prstGeom>
          <a:noFill/>
          <a:ln w="31750">
            <a:solidFill>
              <a:srgbClr val="C8414C"/>
            </a:solidFill>
            <a:prstDash val="solid"/>
          </a:ln>
        </p:spPr>
      </p:sp>
      <p:sp>
        <p:nvSpPr>
          <p:cNvPr id="184" name="Shape 182"/>
          <p:cNvSpPr/>
          <p:nvPr/>
        </p:nvSpPr>
        <p:spPr>
          <a:xfrm flipV="1">
            <a:off x="2065973" y="2373532"/>
            <a:ext cx="39597" cy="43156"/>
          </a:xfrm>
          <a:prstGeom prst="line">
            <a:avLst/>
          </a:prstGeom>
          <a:noFill/>
          <a:ln w="31750">
            <a:solidFill>
              <a:srgbClr val="C8414C"/>
            </a:solidFill>
            <a:prstDash val="solid"/>
          </a:ln>
        </p:spPr>
      </p:sp>
      <p:sp>
        <p:nvSpPr>
          <p:cNvPr id="185" name="Shape 183"/>
          <p:cNvSpPr/>
          <p:nvPr/>
        </p:nvSpPr>
        <p:spPr>
          <a:xfrm flipV="1">
            <a:off x="2105569" y="2331982"/>
            <a:ext cx="39597" cy="41550"/>
          </a:xfrm>
          <a:prstGeom prst="line">
            <a:avLst/>
          </a:prstGeom>
          <a:noFill/>
          <a:ln w="31750">
            <a:solidFill>
              <a:srgbClr val="C8414C"/>
            </a:solidFill>
            <a:prstDash val="solid"/>
          </a:ln>
        </p:spPr>
      </p:sp>
      <p:sp>
        <p:nvSpPr>
          <p:cNvPr id="186" name="Shape 184"/>
          <p:cNvSpPr/>
          <p:nvPr/>
        </p:nvSpPr>
        <p:spPr>
          <a:xfrm flipV="1">
            <a:off x="2145166" y="2292126"/>
            <a:ext cx="39597" cy="39856"/>
          </a:xfrm>
          <a:prstGeom prst="line">
            <a:avLst/>
          </a:prstGeom>
          <a:noFill/>
          <a:ln w="31750">
            <a:solidFill>
              <a:srgbClr val="C8414C"/>
            </a:solidFill>
            <a:prstDash val="solid"/>
          </a:ln>
        </p:spPr>
      </p:sp>
      <p:sp>
        <p:nvSpPr>
          <p:cNvPr id="187" name="Shape 185"/>
          <p:cNvSpPr/>
          <p:nvPr/>
        </p:nvSpPr>
        <p:spPr>
          <a:xfrm flipV="1">
            <a:off x="2184763" y="2254035"/>
            <a:ext cx="39597" cy="38091"/>
          </a:xfrm>
          <a:prstGeom prst="line">
            <a:avLst/>
          </a:prstGeom>
          <a:noFill/>
          <a:ln w="31750">
            <a:solidFill>
              <a:srgbClr val="C8414C"/>
            </a:solidFill>
            <a:prstDash val="solid"/>
          </a:ln>
        </p:spPr>
      </p:sp>
      <p:sp>
        <p:nvSpPr>
          <p:cNvPr id="188" name="Shape 186"/>
          <p:cNvSpPr/>
          <p:nvPr/>
        </p:nvSpPr>
        <p:spPr>
          <a:xfrm flipV="1">
            <a:off x="2224360" y="2217765"/>
            <a:ext cx="39597" cy="36270"/>
          </a:xfrm>
          <a:prstGeom prst="line">
            <a:avLst/>
          </a:prstGeom>
          <a:noFill/>
          <a:ln w="31750">
            <a:solidFill>
              <a:srgbClr val="C8414C"/>
            </a:solidFill>
            <a:prstDash val="solid"/>
          </a:ln>
        </p:spPr>
      </p:sp>
      <p:sp>
        <p:nvSpPr>
          <p:cNvPr id="189" name="Shape 187"/>
          <p:cNvSpPr/>
          <p:nvPr/>
        </p:nvSpPr>
        <p:spPr>
          <a:xfrm flipV="1">
            <a:off x="2263956" y="2183360"/>
            <a:ext cx="39597" cy="34405"/>
          </a:xfrm>
          <a:prstGeom prst="line">
            <a:avLst/>
          </a:prstGeom>
          <a:noFill/>
          <a:ln w="31750">
            <a:solidFill>
              <a:srgbClr val="C8414C"/>
            </a:solidFill>
            <a:prstDash val="solid"/>
          </a:ln>
        </p:spPr>
      </p:sp>
      <p:sp>
        <p:nvSpPr>
          <p:cNvPr id="190" name="Shape 188"/>
          <p:cNvSpPr/>
          <p:nvPr/>
        </p:nvSpPr>
        <p:spPr>
          <a:xfrm flipV="1">
            <a:off x="2303553" y="2150851"/>
            <a:ext cx="39597" cy="32510"/>
          </a:xfrm>
          <a:prstGeom prst="line">
            <a:avLst/>
          </a:prstGeom>
          <a:noFill/>
          <a:ln w="31750">
            <a:solidFill>
              <a:srgbClr val="C8414C"/>
            </a:solidFill>
            <a:prstDash val="solid"/>
          </a:ln>
        </p:spPr>
      </p:sp>
      <p:sp>
        <p:nvSpPr>
          <p:cNvPr id="191" name="Shape 189"/>
          <p:cNvSpPr/>
          <p:nvPr/>
        </p:nvSpPr>
        <p:spPr>
          <a:xfrm flipV="1">
            <a:off x="2343150" y="2120256"/>
            <a:ext cx="39597" cy="30595"/>
          </a:xfrm>
          <a:prstGeom prst="line">
            <a:avLst/>
          </a:prstGeom>
          <a:noFill/>
          <a:ln w="31750">
            <a:solidFill>
              <a:srgbClr val="C8414C"/>
            </a:solidFill>
            <a:prstDash val="solid"/>
          </a:ln>
        </p:spPr>
      </p:sp>
      <p:sp>
        <p:nvSpPr>
          <p:cNvPr id="192" name="Shape 190"/>
          <p:cNvSpPr/>
          <p:nvPr/>
        </p:nvSpPr>
        <p:spPr>
          <a:xfrm flipV="1">
            <a:off x="2382747" y="2091586"/>
            <a:ext cx="39597" cy="28670"/>
          </a:xfrm>
          <a:prstGeom prst="line">
            <a:avLst/>
          </a:prstGeom>
          <a:noFill/>
          <a:ln w="31750">
            <a:solidFill>
              <a:srgbClr val="C8414C"/>
            </a:solidFill>
            <a:prstDash val="solid"/>
          </a:ln>
        </p:spPr>
      </p:sp>
      <p:sp>
        <p:nvSpPr>
          <p:cNvPr id="193" name="Shape 191"/>
          <p:cNvSpPr/>
          <p:nvPr/>
        </p:nvSpPr>
        <p:spPr>
          <a:xfrm flipV="1">
            <a:off x="2422344" y="2064842"/>
            <a:ext cx="39597" cy="26744"/>
          </a:xfrm>
          <a:prstGeom prst="line">
            <a:avLst/>
          </a:prstGeom>
          <a:noFill/>
          <a:ln w="31750">
            <a:solidFill>
              <a:srgbClr val="C8414C"/>
            </a:solidFill>
            <a:prstDash val="solid"/>
          </a:ln>
        </p:spPr>
      </p:sp>
      <p:sp>
        <p:nvSpPr>
          <p:cNvPr id="194" name="Shape 192"/>
          <p:cNvSpPr/>
          <p:nvPr/>
        </p:nvSpPr>
        <p:spPr>
          <a:xfrm flipV="1">
            <a:off x="2461940" y="2040016"/>
            <a:ext cx="39597" cy="24826"/>
          </a:xfrm>
          <a:prstGeom prst="line">
            <a:avLst/>
          </a:prstGeom>
          <a:noFill/>
          <a:ln w="31750">
            <a:solidFill>
              <a:srgbClr val="C8414C"/>
            </a:solidFill>
            <a:prstDash val="solid"/>
          </a:ln>
        </p:spPr>
      </p:sp>
      <p:sp>
        <p:nvSpPr>
          <p:cNvPr id="195" name="Shape 193"/>
          <p:cNvSpPr/>
          <p:nvPr/>
        </p:nvSpPr>
        <p:spPr>
          <a:xfrm flipV="1">
            <a:off x="2501537" y="2017094"/>
            <a:ext cx="39597" cy="22922"/>
          </a:xfrm>
          <a:prstGeom prst="line">
            <a:avLst/>
          </a:prstGeom>
          <a:noFill/>
          <a:ln w="31750">
            <a:solidFill>
              <a:srgbClr val="C8414C"/>
            </a:solidFill>
            <a:prstDash val="solid"/>
          </a:ln>
        </p:spPr>
      </p:sp>
      <p:sp>
        <p:nvSpPr>
          <p:cNvPr id="196" name="Shape 194"/>
          <p:cNvSpPr/>
          <p:nvPr/>
        </p:nvSpPr>
        <p:spPr>
          <a:xfrm flipV="1">
            <a:off x="2541134" y="1996055"/>
            <a:ext cx="39597" cy="21038"/>
          </a:xfrm>
          <a:prstGeom prst="line">
            <a:avLst/>
          </a:prstGeom>
          <a:noFill/>
          <a:ln w="31750">
            <a:solidFill>
              <a:srgbClr val="C8414C"/>
            </a:solidFill>
            <a:prstDash val="solid"/>
          </a:ln>
        </p:spPr>
      </p:sp>
      <p:sp>
        <p:nvSpPr>
          <p:cNvPr id="197" name="Shape 195"/>
          <p:cNvSpPr/>
          <p:nvPr/>
        </p:nvSpPr>
        <p:spPr>
          <a:xfrm flipV="1">
            <a:off x="2580731" y="1976874"/>
            <a:ext cx="39597" cy="19181"/>
          </a:xfrm>
          <a:prstGeom prst="line">
            <a:avLst/>
          </a:prstGeom>
          <a:noFill/>
          <a:ln w="31750">
            <a:solidFill>
              <a:srgbClr val="C8414C"/>
            </a:solidFill>
            <a:prstDash val="solid"/>
          </a:ln>
        </p:spPr>
      </p:sp>
      <p:sp>
        <p:nvSpPr>
          <p:cNvPr id="198" name="Shape 196"/>
          <p:cNvSpPr/>
          <p:nvPr/>
        </p:nvSpPr>
        <p:spPr>
          <a:xfrm flipV="1">
            <a:off x="2620328" y="1959519"/>
            <a:ext cx="39597" cy="17355"/>
          </a:xfrm>
          <a:prstGeom prst="line">
            <a:avLst/>
          </a:prstGeom>
          <a:noFill/>
          <a:ln w="31750">
            <a:solidFill>
              <a:srgbClr val="C8414C"/>
            </a:solidFill>
            <a:prstDash val="solid"/>
          </a:ln>
        </p:spPr>
      </p:sp>
      <p:sp>
        <p:nvSpPr>
          <p:cNvPr id="199" name="Shape 197"/>
          <p:cNvSpPr/>
          <p:nvPr/>
        </p:nvSpPr>
        <p:spPr>
          <a:xfrm flipV="1">
            <a:off x="2659924" y="1943954"/>
            <a:ext cx="39597" cy="15565"/>
          </a:xfrm>
          <a:prstGeom prst="line">
            <a:avLst/>
          </a:prstGeom>
          <a:noFill/>
          <a:ln w="31750">
            <a:solidFill>
              <a:srgbClr val="C8414C"/>
            </a:solidFill>
            <a:prstDash val="solid"/>
          </a:ln>
        </p:spPr>
      </p:sp>
      <p:sp>
        <p:nvSpPr>
          <p:cNvPr id="200" name="Shape 198"/>
          <p:cNvSpPr/>
          <p:nvPr/>
        </p:nvSpPr>
        <p:spPr>
          <a:xfrm flipV="1">
            <a:off x="2699521" y="1930140"/>
            <a:ext cx="39597" cy="13814"/>
          </a:xfrm>
          <a:prstGeom prst="line">
            <a:avLst/>
          </a:prstGeom>
          <a:noFill/>
          <a:ln w="31750">
            <a:solidFill>
              <a:srgbClr val="C8414C"/>
            </a:solidFill>
            <a:prstDash val="solid"/>
          </a:ln>
        </p:spPr>
      </p:sp>
      <p:sp>
        <p:nvSpPr>
          <p:cNvPr id="201" name="Shape 199"/>
          <p:cNvSpPr/>
          <p:nvPr/>
        </p:nvSpPr>
        <p:spPr>
          <a:xfrm flipV="1">
            <a:off x="2739118" y="1918035"/>
            <a:ext cx="39597" cy="12105"/>
          </a:xfrm>
          <a:prstGeom prst="line">
            <a:avLst/>
          </a:prstGeom>
          <a:noFill/>
          <a:ln w="31750">
            <a:solidFill>
              <a:srgbClr val="C8414C"/>
            </a:solidFill>
            <a:prstDash val="solid"/>
          </a:ln>
        </p:spPr>
      </p:sp>
      <p:sp>
        <p:nvSpPr>
          <p:cNvPr id="202" name="Shape 200"/>
          <p:cNvSpPr/>
          <p:nvPr/>
        </p:nvSpPr>
        <p:spPr>
          <a:xfrm flipV="1">
            <a:off x="2778715" y="1907592"/>
            <a:ext cx="39597" cy="10442"/>
          </a:xfrm>
          <a:prstGeom prst="line">
            <a:avLst/>
          </a:prstGeom>
          <a:noFill/>
          <a:ln w="31750">
            <a:solidFill>
              <a:srgbClr val="C8414C"/>
            </a:solidFill>
            <a:prstDash val="solid"/>
          </a:ln>
        </p:spPr>
      </p:sp>
      <p:sp>
        <p:nvSpPr>
          <p:cNvPr id="203" name="Shape 201"/>
          <p:cNvSpPr/>
          <p:nvPr/>
        </p:nvSpPr>
        <p:spPr>
          <a:xfrm flipV="1">
            <a:off x="2818311" y="1898766"/>
            <a:ext cx="39597" cy="8826"/>
          </a:xfrm>
          <a:prstGeom prst="line">
            <a:avLst/>
          </a:prstGeom>
          <a:noFill/>
          <a:ln w="31750">
            <a:solidFill>
              <a:srgbClr val="C8414C"/>
            </a:solidFill>
            <a:prstDash val="solid"/>
          </a:ln>
        </p:spPr>
      </p:sp>
      <p:sp>
        <p:nvSpPr>
          <p:cNvPr id="204" name="Shape 202"/>
          <p:cNvSpPr/>
          <p:nvPr/>
        </p:nvSpPr>
        <p:spPr>
          <a:xfrm flipV="1">
            <a:off x="2857908" y="1891506"/>
            <a:ext cx="39597" cy="7260"/>
          </a:xfrm>
          <a:prstGeom prst="line">
            <a:avLst/>
          </a:prstGeom>
          <a:noFill/>
          <a:ln w="31750">
            <a:solidFill>
              <a:srgbClr val="C8414C"/>
            </a:solidFill>
            <a:prstDash val="solid"/>
          </a:ln>
        </p:spPr>
      </p:sp>
      <p:sp>
        <p:nvSpPr>
          <p:cNvPr id="205" name="Shape 203"/>
          <p:cNvSpPr/>
          <p:nvPr/>
        </p:nvSpPr>
        <p:spPr>
          <a:xfrm flipV="1">
            <a:off x="2897505" y="1885760"/>
            <a:ext cx="39597" cy="5745"/>
          </a:xfrm>
          <a:prstGeom prst="line">
            <a:avLst/>
          </a:prstGeom>
          <a:noFill/>
          <a:ln w="31750">
            <a:solidFill>
              <a:srgbClr val="C8414C"/>
            </a:solidFill>
            <a:prstDash val="solid"/>
          </a:ln>
        </p:spPr>
      </p:sp>
      <p:sp>
        <p:nvSpPr>
          <p:cNvPr id="206" name="Shape 204"/>
          <p:cNvSpPr/>
          <p:nvPr/>
        </p:nvSpPr>
        <p:spPr>
          <a:xfrm flipV="1">
            <a:off x="2937102" y="1881478"/>
            <a:ext cx="39597" cy="4282"/>
          </a:xfrm>
          <a:prstGeom prst="line">
            <a:avLst/>
          </a:prstGeom>
          <a:noFill/>
          <a:ln w="31750">
            <a:solidFill>
              <a:srgbClr val="C8414C"/>
            </a:solidFill>
            <a:prstDash val="solid"/>
          </a:ln>
        </p:spPr>
      </p:sp>
      <p:sp>
        <p:nvSpPr>
          <p:cNvPr id="207" name="Shape 205"/>
          <p:cNvSpPr/>
          <p:nvPr/>
        </p:nvSpPr>
        <p:spPr>
          <a:xfrm flipV="1">
            <a:off x="2976699" y="1878606"/>
            <a:ext cx="39597" cy="2872"/>
          </a:xfrm>
          <a:prstGeom prst="line">
            <a:avLst/>
          </a:prstGeom>
          <a:noFill/>
          <a:ln w="31750">
            <a:solidFill>
              <a:srgbClr val="C8414C"/>
            </a:solidFill>
            <a:prstDash val="solid"/>
          </a:ln>
        </p:spPr>
      </p:sp>
      <p:sp>
        <p:nvSpPr>
          <p:cNvPr id="208" name="Shape 206"/>
          <p:cNvSpPr/>
          <p:nvPr/>
        </p:nvSpPr>
        <p:spPr>
          <a:xfrm flipV="1">
            <a:off x="3016295" y="1877090"/>
            <a:ext cx="39597" cy="1516"/>
          </a:xfrm>
          <a:prstGeom prst="line">
            <a:avLst/>
          </a:prstGeom>
          <a:noFill/>
          <a:ln w="31750">
            <a:solidFill>
              <a:srgbClr val="C8414C"/>
            </a:solidFill>
            <a:prstDash val="solid"/>
          </a:ln>
        </p:spPr>
      </p:sp>
      <p:sp>
        <p:nvSpPr>
          <p:cNvPr id="209" name="Shape 207"/>
          <p:cNvSpPr/>
          <p:nvPr/>
        </p:nvSpPr>
        <p:spPr>
          <a:xfrm flipV="1">
            <a:off x="3055892" y="1876876"/>
            <a:ext cx="39597" cy="214"/>
          </a:xfrm>
          <a:prstGeom prst="line">
            <a:avLst/>
          </a:prstGeom>
          <a:noFill/>
          <a:ln w="31750">
            <a:solidFill>
              <a:srgbClr val="C8414C"/>
            </a:solidFill>
            <a:prstDash val="solid"/>
          </a:ln>
        </p:spPr>
      </p:sp>
      <p:sp>
        <p:nvSpPr>
          <p:cNvPr id="210" name="Shape 208"/>
          <p:cNvSpPr/>
          <p:nvPr/>
        </p:nvSpPr>
        <p:spPr>
          <a:xfrm>
            <a:off x="3095489" y="1876876"/>
            <a:ext cx="39597" cy="1034"/>
          </a:xfrm>
          <a:prstGeom prst="line">
            <a:avLst/>
          </a:prstGeom>
          <a:noFill/>
          <a:ln w="31750">
            <a:solidFill>
              <a:srgbClr val="C8414C"/>
            </a:solidFill>
            <a:prstDash val="solid"/>
          </a:ln>
        </p:spPr>
      </p:sp>
      <p:sp>
        <p:nvSpPr>
          <p:cNvPr id="211" name="Shape 209"/>
          <p:cNvSpPr/>
          <p:nvPr/>
        </p:nvSpPr>
        <p:spPr>
          <a:xfrm>
            <a:off x="3135086" y="1877910"/>
            <a:ext cx="39597" cy="2228"/>
          </a:xfrm>
          <a:prstGeom prst="line">
            <a:avLst/>
          </a:prstGeom>
          <a:noFill/>
          <a:ln w="31750">
            <a:solidFill>
              <a:srgbClr val="C8414C"/>
            </a:solidFill>
            <a:prstDash val="solid"/>
          </a:ln>
        </p:spPr>
      </p:sp>
      <p:sp>
        <p:nvSpPr>
          <p:cNvPr id="212" name="Shape 210"/>
          <p:cNvSpPr/>
          <p:nvPr/>
        </p:nvSpPr>
        <p:spPr>
          <a:xfrm>
            <a:off x="3174683" y="1880137"/>
            <a:ext cx="39597" cy="3367"/>
          </a:xfrm>
          <a:prstGeom prst="line">
            <a:avLst/>
          </a:prstGeom>
          <a:noFill/>
          <a:ln w="31750">
            <a:solidFill>
              <a:srgbClr val="C8414C"/>
            </a:solidFill>
            <a:prstDash val="solid"/>
          </a:ln>
        </p:spPr>
      </p:sp>
      <p:sp>
        <p:nvSpPr>
          <p:cNvPr id="213" name="Shape 211"/>
          <p:cNvSpPr/>
          <p:nvPr/>
        </p:nvSpPr>
        <p:spPr>
          <a:xfrm>
            <a:off x="3214279" y="1883505"/>
            <a:ext cx="39597" cy="4454"/>
          </a:xfrm>
          <a:prstGeom prst="line">
            <a:avLst/>
          </a:prstGeom>
          <a:noFill/>
          <a:ln w="31750">
            <a:solidFill>
              <a:srgbClr val="C8414C"/>
            </a:solidFill>
            <a:prstDash val="solid"/>
          </a:ln>
        </p:spPr>
      </p:sp>
      <p:sp>
        <p:nvSpPr>
          <p:cNvPr id="214" name="Shape 212"/>
          <p:cNvSpPr/>
          <p:nvPr/>
        </p:nvSpPr>
        <p:spPr>
          <a:xfrm>
            <a:off x="3253876" y="1887958"/>
            <a:ext cx="39597" cy="5487"/>
          </a:xfrm>
          <a:prstGeom prst="line">
            <a:avLst/>
          </a:prstGeom>
          <a:noFill/>
          <a:ln w="31750">
            <a:solidFill>
              <a:srgbClr val="C8414C"/>
            </a:solidFill>
            <a:prstDash val="solid"/>
          </a:ln>
        </p:spPr>
      </p:sp>
      <p:sp>
        <p:nvSpPr>
          <p:cNvPr id="215" name="Shape 213"/>
          <p:cNvSpPr/>
          <p:nvPr/>
        </p:nvSpPr>
        <p:spPr>
          <a:xfrm>
            <a:off x="3293473" y="1893445"/>
            <a:ext cx="39597" cy="6468"/>
          </a:xfrm>
          <a:prstGeom prst="line">
            <a:avLst/>
          </a:prstGeom>
          <a:noFill/>
          <a:ln w="31750">
            <a:solidFill>
              <a:srgbClr val="C8414C"/>
            </a:solidFill>
            <a:prstDash val="solid"/>
          </a:ln>
        </p:spPr>
      </p:sp>
      <p:sp>
        <p:nvSpPr>
          <p:cNvPr id="216" name="Shape 214"/>
          <p:cNvSpPr/>
          <p:nvPr/>
        </p:nvSpPr>
        <p:spPr>
          <a:xfrm>
            <a:off x="3333070" y="1899913"/>
            <a:ext cx="39597" cy="7397"/>
          </a:xfrm>
          <a:prstGeom prst="line">
            <a:avLst/>
          </a:prstGeom>
          <a:noFill/>
          <a:ln w="31750">
            <a:solidFill>
              <a:srgbClr val="C8414C"/>
            </a:solidFill>
            <a:prstDash val="solid"/>
          </a:ln>
        </p:spPr>
      </p:sp>
      <p:sp>
        <p:nvSpPr>
          <p:cNvPr id="217" name="Shape 215"/>
          <p:cNvSpPr/>
          <p:nvPr/>
        </p:nvSpPr>
        <p:spPr>
          <a:xfrm>
            <a:off x="3372666" y="1907310"/>
            <a:ext cx="39597" cy="8276"/>
          </a:xfrm>
          <a:prstGeom prst="line">
            <a:avLst/>
          </a:prstGeom>
          <a:noFill/>
          <a:ln w="31750">
            <a:solidFill>
              <a:srgbClr val="C8414C"/>
            </a:solidFill>
            <a:prstDash val="solid"/>
          </a:ln>
        </p:spPr>
      </p:sp>
      <p:sp>
        <p:nvSpPr>
          <p:cNvPr id="218" name="Shape 216"/>
          <p:cNvSpPr/>
          <p:nvPr/>
        </p:nvSpPr>
        <p:spPr>
          <a:xfrm>
            <a:off x="3412263" y="1915587"/>
            <a:ext cx="39597" cy="9106"/>
          </a:xfrm>
          <a:prstGeom prst="line">
            <a:avLst/>
          </a:prstGeom>
          <a:noFill/>
          <a:ln w="31750">
            <a:solidFill>
              <a:srgbClr val="C8414C"/>
            </a:solidFill>
            <a:prstDash val="solid"/>
          </a:ln>
        </p:spPr>
      </p:sp>
      <p:sp>
        <p:nvSpPr>
          <p:cNvPr id="219" name="Shape 217"/>
          <p:cNvSpPr/>
          <p:nvPr/>
        </p:nvSpPr>
        <p:spPr>
          <a:xfrm>
            <a:off x="3451860" y="1924692"/>
            <a:ext cx="39597" cy="9886"/>
          </a:xfrm>
          <a:prstGeom prst="line">
            <a:avLst/>
          </a:prstGeom>
          <a:noFill/>
          <a:ln w="31750">
            <a:solidFill>
              <a:srgbClr val="C8414C"/>
            </a:solidFill>
            <a:prstDash val="solid"/>
          </a:ln>
        </p:spPr>
      </p:sp>
      <p:sp>
        <p:nvSpPr>
          <p:cNvPr id="220" name="Shape 218"/>
          <p:cNvSpPr/>
          <p:nvPr/>
        </p:nvSpPr>
        <p:spPr>
          <a:xfrm>
            <a:off x="3491457" y="1934579"/>
            <a:ext cx="39597" cy="10620"/>
          </a:xfrm>
          <a:prstGeom prst="line">
            <a:avLst/>
          </a:prstGeom>
          <a:noFill/>
          <a:ln w="31750">
            <a:solidFill>
              <a:srgbClr val="C8414C"/>
            </a:solidFill>
            <a:prstDash val="solid"/>
          </a:ln>
        </p:spPr>
      </p:sp>
      <p:sp>
        <p:nvSpPr>
          <p:cNvPr id="221" name="Shape 219"/>
          <p:cNvSpPr/>
          <p:nvPr/>
        </p:nvSpPr>
        <p:spPr>
          <a:xfrm>
            <a:off x="3531054" y="1945199"/>
            <a:ext cx="39597" cy="11307"/>
          </a:xfrm>
          <a:prstGeom prst="line">
            <a:avLst/>
          </a:prstGeom>
          <a:noFill/>
          <a:ln w="31750">
            <a:solidFill>
              <a:srgbClr val="C8414C"/>
            </a:solidFill>
            <a:prstDash val="solid"/>
          </a:ln>
        </p:spPr>
      </p:sp>
      <p:sp>
        <p:nvSpPr>
          <p:cNvPr id="222" name="Shape 220"/>
          <p:cNvSpPr/>
          <p:nvPr/>
        </p:nvSpPr>
        <p:spPr>
          <a:xfrm>
            <a:off x="3570650" y="1956506"/>
            <a:ext cx="39597" cy="11949"/>
          </a:xfrm>
          <a:prstGeom prst="line">
            <a:avLst/>
          </a:prstGeom>
          <a:noFill/>
          <a:ln w="31750">
            <a:solidFill>
              <a:srgbClr val="C8414C"/>
            </a:solidFill>
            <a:prstDash val="solid"/>
          </a:ln>
        </p:spPr>
      </p:sp>
      <p:sp>
        <p:nvSpPr>
          <p:cNvPr id="223" name="Shape 221"/>
          <p:cNvSpPr/>
          <p:nvPr/>
        </p:nvSpPr>
        <p:spPr>
          <a:xfrm>
            <a:off x="3610247" y="1968455"/>
            <a:ext cx="39597" cy="12547"/>
          </a:xfrm>
          <a:prstGeom prst="line">
            <a:avLst/>
          </a:prstGeom>
          <a:noFill/>
          <a:ln w="31750">
            <a:solidFill>
              <a:srgbClr val="C8414C"/>
            </a:solidFill>
            <a:prstDash val="solid"/>
          </a:ln>
        </p:spPr>
      </p:sp>
      <p:sp>
        <p:nvSpPr>
          <p:cNvPr id="224" name="Shape 222"/>
          <p:cNvSpPr/>
          <p:nvPr/>
        </p:nvSpPr>
        <p:spPr>
          <a:xfrm>
            <a:off x="3649844" y="1981002"/>
            <a:ext cx="39597" cy="13103"/>
          </a:xfrm>
          <a:prstGeom prst="line">
            <a:avLst/>
          </a:prstGeom>
          <a:noFill/>
          <a:ln w="31750">
            <a:solidFill>
              <a:srgbClr val="C8414C"/>
            </a:solidFill>
            <a:prstDash val="solid"/>
          </a:ln>
        </p:spPr>
      </p:sp>
      <p:sp>
        <p:nvSpPr>
          <p:cNvPr id="225" name="Shape 223"/>
          <p:cNvSpPr/>
          <p:nvPr/>
        </p:nvSpPr>
        <p:spPr>
          <a:xfrm>
            <a:off x="3689441" y="1994105"/>
            <a:ext cx="39597" cy="13618"/>
          </a:xfrm>
          <a:prstGeom prst="line">
            <a:avLst/>
          </a:prstGeom>
          <a:noFill/>
          <a:ln w="31750">
            <a:solidFill>
              <a:srgbClr val="C8414C"/>
            </a:solidFill>
            <a:prstDash val="solid"/>
          </a:ln>
        </p:spPr>
      </p:sp>
      <p:sp>
        <p:nvSpPr>
          <p:cNvPr id="226" name="Shape 224"/>
          <p:cNvSpPr/>
          <p:nvPr/>
        </p:nvSpPr>
        <p:spPr>
          <a:xfrm>
            <a:off x="3729038" y="2007723"/>
            <a:ext cx="39597" cy="14092"/>
          </a:xfrm>
          <a:prstGeom prst="line">
            <a:avLst/>
          </a:prstGeom>
          <a:noFill/>
          <a:ln w="31750">
            <a:solidFill>
              <a:srgbClr val="C8414C"/>
            </a:solidFill>
            <a:prstDash val="solid"/>
          </a:ln>
        </p:spPr>
      </p:sp>
      <p:sp>
        <p:nvSpPr>
          <p:cNvPr id="227" name="Shape 225"/>
          <p:cNvSpPr/>
          <p:nvPr/>
        </p:nvSpPr>
        <p:spPr>
          <a:xfrm>
            <a:off x="3768634" y="2021815"/>
            <a:ext cx="39597" cy="14529"/>
          </a:xfrm>
          <a:prstGeom prst="line">
            <a:avLst/>
          </a:prstGeom>
          <a:noFill/>
          <a:ln w="31750">
            <a:solidFill>
              <a:srgbClr val="C8414C"/>
            </a:solidFill>
            <a:prstDash val="solid"/>
          </a:ln>
        </p:spPr>
      </p:sp>
      <p:sp>
        <p:nvSpPr>
          <p:cNvPr id="228" name="Shape 226"/>
          <p:cNvSpPr/>
          <p:nvPr/>
        </p:nvSpPr>
        <p:spPr>
          <a:xfrm>
            <a:off x="3808231" y="2036344"/>
            <a:ext cx="39597" cy="14928"/>
          </a:xfrm>
          <a:prstGeom prst="line">
            <a:avLst/>
          </a:prstGeom>
          <a:noFill/>
          <a:ln w="31750">
            <a:solidFill>
              <a:srgbClr val="C8414C"/>
            </a:solidFill>
            <a:prstDash val="solid"/>
          </a:ln>
        </p:spPr>
      </p:sp>
      <p:sp>
        <p:nvSpPr>
          <p:cNvPr id="229" name="Shape 227"/>
          <p:cNvSpPr/>
          <p:nvPr/>
        </p:nvSpPr>
        <p:spPr>
          <a:xfrm>
            <a:off x="3847828" y="2051271"/>
            <a:ext cx="39597" cy="15291"/>
          </a:xfrm>
          <a:prstGeom prst="line">
            <a:avLst/>
          </a:prstGeom>
          <a:noFill/>
          <a:ln w="31750">
            <a:solidFill>
              <a:srgbClr val="C8414C"/>
            </a:solidFill>
            <a:prstDash val="solid"/>
          </a:ln>
        </p:spPr>
      </p:sp>
      <p:sp>
        <p:nvSpPr>
          <p:cNvPr id="230" name="Shape 228"/>
          <p:cNvSpPr/>
          <p:nvPr/>
        </p:nvSpPr>
        <p:spPr>
          <a:xfrm>
            <a:off x="3887425" y="2066562"/>
            <a:ext cx="39597" cy="15619"/>
          </a:xfrm>
          <a:prstGeom prst="line">
            <a:avLst/>
          </a:prstGeom>
          <a:noFill/>
          <a:ln w="31750">
            <a:solidFill>
              <a:srgbClr val="C8414C"/>
            </a:solidFill>
            <a:prstDash val="solid"/>
          </a:ln>
        </p:spPr>
      </p:sp>
      <p:sp>
        <p:nvSpPr>
          <p:cNvPr id="231" name="Shape 229"/>
          <p:cNvSpPr/>
          <p:nvPr/>
        </p:nvSpPr>
        <p:spPr>
          <a:xfrm>
            <a:off x="3927021" y="2082181"/>
            <a:ext cx="39597" cy="15915"/>
          </a:xfrm>
          <a:prstGeom prst="line">
            <a:avLst/>
          </a:prstGeom>
          <a:noFill/>
          <a:ln w="31750">
            <a:solidFill>
              <a:srgbClr val="C8414C"/>
            </a:solidFill>
            <a:prstDash val="solid"/>
          </a:ln>
        </p:spPr>
      </p:sp>
      <p:sp>
        <p:nvSpPr>
          <p:cNvPr id="232" name="Shape 230"/>
          <p:cNvSpPr/>
          <p:nvPr/>
        </p:nvSpPr>
        <p:spPr>
          <a:xfrm>
            <a:off x="3966618" y="2098096"/>
            <a:ext cx="39597" cy="16178"/>
          </a:xfrm>
          <a:prstGeom prst="line">
            <a:avLst/>
          </a:prstGeom>
          <a:noFill/>
          <a:ln w="31750">
            <a:solidFill>
              <a:srgbClr val="C8414C"/>
            </a:solidFill>
            <a:prstDash val="solid"/>
          </a:ln>
        </p:spPr>
      </p:sp>
      <p:sp>
        <p:nvSpPr>
          <p:cNvPr id="233" name="Shape 231"/>
          <p:cNvSpPr/>
          <p:nvPr/>
        </p:nvSpPr>
        <p:spPr>
          <a:xfrm>
            <a:off x="4006215" y="2114275"/>
            <a:ext cx="39597" cy="16411"/>
          </a:xfrm>
          <a:prstGeom prst="line">
            <a:avLst/>
          </a:prstGeom>
          <a:noFill/>
          <a:ln w="31750">
            <a:solidFill>
              <a:srgbClr val="C8414C"/>
            </a:solidFill>
            <a:prstDash val="solid"/>
          </a:ln>
        </p:spPr>
      </p:sp>
      <p:sp>
        <p:nvSpPr>
          <p:cNvPr id="234" name="Shape 232"/>
          <p:cNvSpPr/>
          <p:nvPr/>
        </p:nvSpPr>
        <p:spPr>
          <a:xfrm>
            <a:off x="4045812" y="2130686"/>
            <a:ext cx="39597" cy="16615"/>
          </a:xfrm>
          <a:prstGeom prst="line">
            <a:avLst/>
          </a:prstGeom>
          <a:noFill/>
          <a:ln w="31750">
            <a:solidFill>
              <a:srgbClr val="C8414C"/>
            </a:solidFill>
            <a:prstDash val="solid"/>
          </a:ln>
        </p:spPr>
      </p:sp>
      <p:sp>
        <p:nvSpPr>
          <p:cNvPr id="235" name="Shape 233"/>
          <p:cNvSpPr/>
          <p:nvPr/>
        </p:nvSpPr>
        <p:spPr>
          <a:xfrm>
            <a:off x="4085409" y="2147301"/>
            <a:ext cx="39597" cy="16791"/>
          </a:xfrm>
          <a:prstGeom prst="line">
            <a:avLst/>
          </a:prstGeom>
          <a:noFill/>
          <a:ln w="31750">
            <a:solidFill>
              <a:srgbClr val="C8414C"/>
            </a:solidFill>
            <a:prstDash val="solid"/>
          </a:ln>
        </p:spPr>
      </p:sp>
      <p:sp>
        <p:nvSpPr>
          <p:cNvPr id="236" name="Shape 234"/>
          <p:cNvSpPr/>
          <p:nvPr/>
        </p:nvSpPr>
        <p:spPr>
          <a:xfrm>
            <a:off x="4125005" y="2164092"/>
            <a:ext cx="39597" cy="16939"/>
          </a:xfrm>
          <a:prstGeom prst="line">
            <a:avLst/>
          </a:prstGeom>
          <a:noFill/>
          <a:ln w="31750">
            <a:solidFill>
              <a:srgbClr val="C8414C"/>
            </a:solidFill>
            <a:prstDash val="solid"/>
          </a:ln>
        </p:spPr>
      </p:sp>
      <p:sp>
        <p:nvSpPr>
          <p:cNvPr id="237" name="Shape 235"/>
          <p:cNvSpPr/>
          <p:nvPr/>
        </p:nvSpPr>
        <p:spPr>
          <a:xfrm>
            <a:off x="4164602" y="2181031"/>
            <a:ext cx="39597" cy="17063"/>
          </a:xfrm>
          <a:prstGeom prst="line">
            <a:avLst/>
          </a:prstGeom>
          <a:noFill/>
          <a:ln w="31750">
            <a:solidFill>
              <a:srgbClr val="C8414C"/>
            </a:solidFill>
            <a:prstDash val="solid"/>
          </a:ln>
        </p:spPr>
      </p:sp>
      <p:sp>
        <p:nvSpPr>
          <p:cNvPr id="238" name="Shape 236"/>
          <p:cNvSpPr/>
          <p:nvPr/>
        </p:nvSpPr>
        <p:spPr>
          <a:xfrm>
            <a:off x="4204199" y="2198094"/>
            <a:ext cx="39597" cy="17162"/>
          </a:xfrm>
          <a:prstGeom prst="line">
            <a:avLst/>
          </a:prstGeom>
          <a:noFill/>
          <a:ln w="31750">
            <a:solidFill>
              <a:srgbClr val="C8414C"/>
            </a:solidFill>
            <a:prstDash val="solid"/>
          </a:ln>
        </p:spPr>
      </p:sp>
      <p:sp>
        <p:nvSpPr>
          <p:cNvPr id="239" name="Shape 237"/>
          <p:cNvSpPr/>
          <p:nvPr/>
        </p:nvSpPr>
        <p:spPr>
          <a:xfrm>
            <a:off x="4243796" y="2215255"/>
            <a:ext cx="39597" cy="17237"/>
          </a:xfrm>
          <a:prstGeom prst="line">
            <a:avLst/>
          </a:prstGeom>
          <a:noFill/>
          <a:ln w="31750">
            <a:solidFill>
              <a:srgbClr val="C8414C"/>
            </a:solidFill>
            <a:prstDash val="solid"/>
          </a:ln>
        </p:spPr>
      </p:sp>
      <p:sp>
        <p:nvSpPr>
          <p:cNvPr id="240" name="Shape 238"/>
          <p:cNvSpPr/>
          <p:nvPr/>
        </p:nvSpPr>
        <p:spPr>
          <a:xfrm>
            <a:off x="4283392" y="2232493"/>
            <a:ext cx="39597" cy="17291"/>
          </a:xfrm>
          <a:prstGeom prst="line">
            <a:avLst/>
          </a:prstGeom>
          <a:noFill/>
          <a:ln w="31750">
            <a:solidFill>
              <a:srgbClr val="C8414C"/>
            </a:solidFill>
            <a:prstDash val="solid"/>
          </a:ln>
        </p:spPr>
      </p:sp>
      <p:sp>
        <p:nvSpPr>
          <p:cNvPr id="241" name="Shape 239"/>
          <p:cNvSpPr/>
          <p:nvPr/>
        </p:nvSpPr>
        <p:spPr>
          <a:xfrm>
            <a:off x="4322989" y="2249783"/>
            <a:ext cx="39597" cy="17323"/>
          </a:xfrm>
          <a:prstGeom prst="line">
            <a:avLst/>
          </a:prstGeom>
          <a:noFill/>
          <a:ln w="31750">
            <a:solidFill>
              <a:srgbClr val="C8414C"/>
            </a:solidFill>
            <a:prstDash val="solid"/>
          </a:ln>
        </p:spPr>
      </p:sp>
      <p:sp>
        <p:nvSpPr>
          <p:cNvPr id="242" name="Shape 240"/>
          <p:cNvSpPr/>
          <p:nvPr/>
        </p:nvSpPr>
        <p:spPr>
          <a:xfrm>
            <a:off x="4362586" y="2267107"/>
            <a:ext cx="39597" cy="17336"/>
          </a:xfrm>
          <a:prstGeom prst="line">
            <a:avLst/>
          </a:prstGeom>
          <a:noFill/>
          <a:ln w="31750">
            <a:solidFill>
              <a:srgbClr val="C8414C"/>
            </a:solidFill>
            <a:prstDash val="solid"/>
          </a:ln>
        </p:spPr>
      </p:sp>
      <p:sp>
        <p:nvSpPr>
          <p:cNvPr id="243" name="Shape 241"/>
          <p:cNvSpPr/>
          <p:nvPr/>
        </p:nvSpPr>
        <p:spPr>
          <a:xfrm>
            <a:off x="4402183" y="2284443"/>
            <a:ext cx="39597" cy="17330"/>
          </a:xfrm>
          <a:prstGeom prst="line">
            <a:avLst/>
          </a:prstGeom>
          <a:noFill/>
          <a:ln w="31750">
            <a:solidFill>
              <a:srgbClr val="C8414C"/>
            </a:solidFill>
            <a:prstDash val="solid"/>
          </a:ln>
        </p:spPr>
      </p:sp>
      <p:sp>
        <p:nvSpPr>
          <p:cNvPr id="244" name="Shape 242"/>
          <p:cNvSpPr/>
          <p:nvPr/>
        </p:nvSpPr>
        <p:spPr>
          <a:xfrm>
            <a:off x="4441780" y="2301773"/>
            <a:ext cx="39597" cy="17306"/>
          </a:xfrm>
          <a:prstGeom prst="line">
            <a:avLst/>
          </a:prstGeom>
          <a:noFill/>
          <a:ln w="31750">
            <a:solidFill>
              <a:srgbClr val="C8414C"/>
            </a:solidFill>
            <a:prstDash val="solid"/>
          </a:ln>
        </p:spPr>
      </p:sp>
      <p:sp>
        <p:nvSpPr>
          <p:cNvPr id="245" name="Shape 243"/>
          <p:cNvSpPr/>
          <p:nvPr/>
        </p:nvSpPr>
        <p:spPr>
          <a:xfrm>
            <a:off x="4481376" y="2319079"/>
            <a:ext cx="39597" cy="17265"/>
          </a:xfrm>
          <a:prstGeom prst="line">
            <a:avLst/>
          </a:prstGeom>
          <a:noFill/>
          <a:ln w="31750">
            <a:solidFill>
              <a:srgbClr val="C8414C"/>
            </a:solidFill>
            <a:prstDash val="solid"/>
          </a:ln>
        </p:spPr>
      </p:sp>
      <p:sp>
        <p:nvSpPr>
          <p:cNvPr id="246" name="Shape 244"/>
          <p:cNvSpPr/>
          <p:nvPr/>
        </p:nvSpPr>
        <p:spPr>
          <a:xfrm>
            <a:off x="4520973" y="2336344"/>
            <a:ext cx="39597" cy="17209"/>
          </a:xfrm>
          <a:prstGeom prst="line">
            <a:avLst/>
          </a:prstGeom>
          <a:noFill/>
          <a:ln w="31750">
            <a:solidFill>
              <a:srgbClr val="C8414C"/>
            </a:solidFill>
            <a:prstDash val="solid"/>
          </a:ln>
        </p:spPr>
      </p:sp>
      <p:sp>
        <p:nvSpPr>
          <p:cNvPr id="247" name="Shape 245"/>
          <p:cNvSpPr/>
          <p:nvPr/>
        </p:nvSpPr>
        <p:spPr>
          <a:xfrm>
            <a:off x="4560570" y="2353553"/>
            <a:ext cx="39597" cy="17137"/>
          </a:xfrm>
          <a:prstGeom prst="line">
            <a:avLst/>
          </a:prstGeom>
          <a:noFill/>
          <a:ln w="31750">
            <a:solidFill>
              <a:srgbClr val="C8414C"/>
            </a:solidFill>
            <a:prstDash val="solid"/>
          </a:ln>
        </p:spPr>
      </p:sp>
      <p:sp>
        <p:nvSpPr>
          <p:cNvPr id="248" name="Shape 246"/>
          <p:cNvSpPr/>
          <p:nvPr/>
        </p:nvSpPr>
        <p:spPr>
          <a:xfrm>
            <a:off x="4600167" y="2370690"/>
            <a:ext cx="39597" cy="17052"/>
          </a:xfrm>
          <a:prstGeom prst="line">
            <a:avLst/>
          </a:prstGeom>
          <a:noFill/>
          <a:ln w="31750">
            <a:solidFill>
              <a:srgbClr val="C8414C"/>
            </a:solidFill>
            <a:prstDash val="solid"/>
          </a:ln>
        </p:spPr>
      </p:sp>
      <p:sp>
        <p:nvSpPr>
          <p:cNvPr id="249" name="Shape 247"/>
          <p:cNvSpPr/>
          <p:nvPr/>
        </p:nvSpPr>
        <p:spPr>
          <a:xfrm>
            <a:off x="4639764" y="2387742"/>
            <a:ext cx="39597" cy="16953"/>
          </a:xfrm>
          <a:prstGeom prst="line">
            <a:avLst/>
          </a:prstGeom>
          <a:noFill/>
          <a:ln w="31750">
            <a:solidFill>
              <a:srgbClr val="C8414C"/>
            </a:solidFill>
            <a:prstDash val="solid"/>
          </a:ln>
        </p:spPr>
      </p:sp>
      <p:sp>
        <p:nvSpPr>
          <p:cNvPr id="250" name="Shape 248"/>
          <p:cNvSpPr/>
          <p:nvPr/>
        </p:nvSpPr>
        <p:spPr>
          <a:xfrm>
            <a:off x="4679360" y="2404695"/>
            <a:ext cx="39597" cy="16842"/>
          </a:xfrm>
          <a:prstGeom prst="line">
            <a:avLst/>
          </a:prstGeom>
          <a:noFill/>
          <a:ln w="31750">
            <a:solidFill>
              <a:srgbClr val="C8414C"/>
            </a:solidFill>
            <a:prstDash val="solid"/>
          </a:ln>
        </p:spPr>
      </p:sp>
      <p:sp>
        <p:nvSpPr>
          <p:cNvPr id="251" name="Shape 249"/>
          <p:cNvSpPr/>
          <p:nvPr/>
        </p:nvSpPr>
        <p:spPr>
          <a:xfrm>
            <a:off x="4718957" y="2421537"/>
            <a:ext cx="39597" cy="16720"/>
          </a:xfrm>
          <a:prstGeom prst="line">
            <a:avLst/>
          </a:prstGeom>
          <a:noFill/>
          <a:ln w="31750">
            <a:solidFill>
              <a:srgbClr val="C8414C"/>
            </a:solidFill>
            <a:prstDash val="solid"/>
          </a:ln>
        </p:spPr>
      </p:sp>
      <p:sp>
        <p:nvSpPr>
          <p:cNvPr id="252" name="Shape 250"/>
          <p:cNvSpPr/>
          <p:nvPr/>
        </p:nvSpPr>
        <p:spPr>
          <a:xfrm>
            <a:off x="4758554" y="2438257"/>
            <a:ext cx="39597" cy="16587"/>
          </a:xfrm>
          <a:prstGeom prst="line">
            <a:avLst/>
          </a:prstGeom>
          <a:noFill/>
          <a:ln w="31750">
            <a:solidFill>
              <a:srgbClr val="C8414C"/>
            </a:solidFill>
            <a:prstDash val="solid"/>
          </a:ln>
        </p:spPr>
      </p:sp>
      <p:sp>
        <p:nvSpPr>
          <p:cNvPr id="253" name="Shape 251"/>
          <p:cNvSpPr/>
          <p:nvPr/>
        </p:nvSpPr>
        <p:spPr>
          <a:xfrm>
            <a:off x="4798151" y="2454844"/>
            <a:ext cx="39597" cy="16443"/>
          </a:xfrm>
          <a:prstGeom prst="line">
            <a:avLst/>
          </a:prstGeom>
          <a:noFill/>
          <a:ln w="31750">
            <a:solidFill>
              <a:srgbClr val="C8414C"/>
            </a:solidFill>
            <a:prstDash val="solid"/>
          </a:ln>
        </p:spPr>
      </p:sp>
      <p:sp>
        <p:nvSpPr>
          <p:cNvPr id="254" name="Shape 252"/>
          <p:cNvSpPr/>
          <p:nvPr/>
        </p:nvSpPr>
        <p:spPr>
          <a:xfrm>
            <a:off x="4837748" y="2471287"/>
            <a:ext cx="39597" cy="16291"/>
          </a:xfrm>
          <a:prstGeom prst="line">
            <a:avLst/>
          </a:prstGeom>
          <a:noFill/>
          <a:ln w="31750">
            <a:solidFill>
              <a:srgbClr val="C8414C"/>
            </a:solidFill>
            <a:prstDash val="solid"/>
          </a:ln>
        </p:spPr>
      </p:sp>
      <p:sp>
        <p:nvSpPr>
          <p:cNvPr id="255" name="Shape 253"/>
          <p:cNvSpPr/>
          <p:nvPr/>
        </p:nvSpPr>
        <p:spPr>
          <a:xfrm>
            <a:off x="4877344" y="2487578"/>
            <a:ext cx="39597" cy="16130"/>
          </a:xfrm>
          <a:prstGeom prst="line">
            <a:avLst/>
          </a:prstGeom>
          <a:noFill/>
          <a:ln w="31750">
            <a:solidFill>
              <a:srgbClr val="C8414C"/>
            </a:solidFill>
            <a:prstDash val="solid"/>
          </a:ln>
        </p:spPr>
      </p:sp>
      <p:sp>
        <p:nvSpPr>
          <p:cNvPr id="256" name="Shape 254"/>
          <p:cNvSpPr/>
          <p:nvPr/>
        </p:nvSpPr>
        <p:spPr>
          <a:xfrm>
            <a:off x="4916941" y="2503708"/>
            <a:ext cx="39597" cy="15961"/>
          </a:xfrm>
          <a:prstGeom prst="line">
            <a:avLst/>
          </a:prstGeom>
          <a:noFill/>
          <a:ln w="31750">
            <a:solidFill>
              <a:srgbClr val="C8414C"/>
            </a:solidFill>
            <a:prstDash val="solid"/>
          </a:ln>
        </p:spPr>
      </p:sp>
      <p:sp>
        <p:nvSpPr>
          <p:cNvPr id="257" name="Shape 255"/>
          <p:cNvSpPr/>
          <p:nvPr/>
        </p:nvSpPr>
        <p:spPr>
          <a:xfrm>
            <a:off x="4956538" y="2519670"/>
            <a:ext cx="39597" cy="15785"/>
          </a:xfrm>
          <a:prstGeom prst="line">
            <a:avLst/>
          </a:prstGeom>
          <a:noFill/>
          <a:ln w="31750">
            <a:solidFill>
              <a:srgbClr val="C8414C"/>
            </a:solidFill>
            <a:prstDash val="solid"/>
          </a:ln>
        </p:spPr>
      </p:sp>
      <p:sp>
        <p:nvSpPr>
          <p:cNvPr id="258" name="Shape 256"/>
          <p:cNvSpPr/>
          <p:nvPr/>
        </p:nvSpPr>
        <p:spPr>
          <a:xfrm>
            <a:off x="4996135" y="2535455"/>
            <a:ext cx="39597" cy="15603"/>
          </a:xfrm>
          <a:prstGeom prst="line">
            <a:avLst/>
          </a:prstGeom>
          <a:noFill/>
          <a:ln w="31750">
            <a:solidFill>
              <a:srgbClr val="C8414C"/>
            </a:solidFill>
            <a:prstDash val="solid"/>
          </a:ln>
        </p:spPr>
      </p:sp>
      <p:sp>
        <p:nvSpPr>
          <p:cNvPr id="259" name="Shape 257"/>
          <p:cNvSpPr/>
          <p:nvPr/>
        </p:nvSpPr>
        <p:spPr>
          <a:xfrm>
            <a:off x="5035731" y="2551058"/>
            <a:ext cx="39597" cy="15414"/>
          </a:xfrm>
          <a:prstGeom prst="line">
            <a:avLst/>
          </a:prstGeom>
          <a:noFill/>
          <a:ln w="31750">
            <a:solidFill>
              <a:srgbClr val="C8414C"/>
            </a:solidFill>
            <a:prstDash val="solid"/>
          </a:ln>
        </p:spPr>
      </p:sp>
      <p:sp>
        <p:nvSpPr>
          <p:cNvPr id="260" name="Shape 258"/>
          <p:cNvSpPr/>
          <p:nvPr/>
        </p:nvSpPr>
        <p:spPr>
          <a:xfrm>
            <a:off x="5075328" y="2566472"/>
            <a:ext cx="39597" cy="15220"/>
          </a:xfrm>
          <a:prstGeom prst="line">
            <a:avLst/>
          </a:prstGeom>
          <a:noFill/>
          <a:ln w="31750">
            <a:solidFill>
              <a:srgbClr val="C8414C"/>
            </a:solidFill>
            <a:prstDash val="solid"/>
          </a:ln>
        </p:spPr>
      </p:sp>
      <p:sp>
        <p:nvSpPr>
          <p:cNvPr id="261" name="Shape 259"/>
          <p:cNvSpPr/>
          <p:nvPr/>
        </p:nvSpPr>
        <p:spPr>
          <a:xfrm>
            <a:off x="5114925" y="2581692"/>
            <a:ext cx="39597" cy="15021"/>
          </a:xfrm>
          <a:prstGeom prst="line">
            <a:avLst/>
          </a:prstGeom>
          <a:noFill/>
          <a:ln w="31750">
            <a:solidFill>
              <a:srgbClr val="C8414C"/>
            </a:solidFill>
            <a:prstDash val="solid"/>
          </a:ln>
        </p:spPr>
      </p:sp>
      <p:sp>
        <p:nvSpPr>
          <p:cNvPr id="262" name="Shape 260"/>
          <p:cNvSpPr/>
          <p:nvPr/>
        </p:nvSpPr>
        <p:spPr>
          <a:xfrm>
            <a:off x="5154522" y="2596712"/>
            <a:ext cx="39597" cy="14817"/>
          </a:xfrm>
          <a:prstGeom prst="line">
            <a:avLst/>
          </a:prstGeom>
          <a:noFill/>
          <a:ln w="31750">
            <a:solidFill>
              <a:srgbClr val="C8414C"/>
            </a:solidFill>
            <a:prstDash val="solid"/>
          </a:ln>
        </p:spPr>
      </p:sp>
      <p:sp>
        <p:nvSpPr>
          <p:cNvPr id="263" name="Shape 261"/>
          <p:cNvSpPr/>
          <p:nvPr/>
        </p:nvSpPr>
        <p:spPr>
          <a:xfrm>
            <a:off x="5194119" y="2611529"/>
            <a:ext cx="39597" cy="14610"/>
          </a:xfrm>
          <a:prstGeom prst="line">
            <a:avLst/>
          </a:prstGeom>
          <a:noFill/>
          <a:ln w="31750">
            <a:solidFill>
              <a:srgbClr val="C8414C"/>
            </a:solidFill>
            <a:prstDash val="solid"/>
          </a:ln>
        </p:spPr>
      </p:sp>
      <p:sp>
        <p:nvSpPr>
          <p:cNvPr id="264" name="Shape 262"/>
          <p:cNvSpPr/>
          <p:nvPr/>
        </p:nvSpPr>
        <p:spPr>
          <a:xfrm>
            <a:off x="5233715" y="2626139"/>
            <a:ext cx="39597" cy="14399"/>
          </a:xfrm>
          <a:prstGeom prst="line">
            <a:avLst/>
          </a:prstGeom>
          <a:noFill/>
          <a:ln w="31750">
            <a:solidFill>
              <a:srgbClr val="C8414C"/>
            </a:solidFill>
            <a:prstDash val="solid"/>
          </a:ln>
        </p:spPr>
      </p:sp>
      <p:sp>
        <p:nvSpPr>
          <p:cNvPr id="265" name="Shape 263"/>
          <p:cNvSpPr/>
          <p:nvPr/>
        </p:nvSpPr>
        <p:spPr>
          <a:xfrm>
            <a:off x="5273312" y="2640537"/>
            <a:ext cx="39597" cy="14184"/>
          </a:xfrm>
          <a:prstGeom prst="line">
            <a:avLst/>
          </a:prstGeom>
          <a:noFill/>
          <a:ln w="31750">
            <a:solidFill>
              <a:srgbClr val="C8414C"/>
            </a:solidFill>
            <a:prstDash val="solid"/>
          </a:ln>
        </p:spPr>
      </p:sp>
      <p:sp>
        <p:nvSpPr>
          <p:cNvPr id="266" name="Shape 264"/>
          <p:cNvSpPr/>
          <p:nvPr/>
        </p:nvSpPr>
        <p:spPr>
          <a:xfrm>
            <a:off x="5312909" y="2654722"/>
            <a:ext cx="39597" cy="13968"/>
          </a:xfrm>
          <a:prstGeom prst="line">
            <a:avLst/>
          </a:prstGeom>
          <a:noFill/>
          <a:ln w="31750">
            <a:solidFill>
              <a:srgbClr val="C8414C"/>
            </a:solidFill>
            <a:prstDash val="solid"/>
          </a:ln>
        </p:spPr>
      </p:sp>
      <p:sp>
        <p:nvSpPr>
          <p:cNvPr id="267" name="Shape 265"/>
          <p:cNvSpPr/>
          <p:nvPr/>
        </p:nvSpPr>
        <p:spPr>
          <a:xfrm>
            <a:off x="5352506" y="2668690"/>
            <a:ext cx="39597" cy="13749"/>
          </a:xfrm>
          <a:prstGeom prst="line">
            <a:avLst/>
          </a:prstGeom>
          <a:noFill/>
          <a:ln w="31750">
            <a:solidFill>
              <a:srgbClr val="C8414C"/>
            </a:solidFill>
            <a:prstDash val="solid"/>
          </a:ln>
        </p:spPr>
      </p:sp>
      <p:sp>
        <p:nvSpPr>
          <p:cNvPr id="268" name="Shape 266"/>
          <p:cNvSpPr/>
          <p:nvPr/>
        </p:nvSpPr>
        <p:spPr>
          <a:xfrm>
            <a:off x="5392103" y="2682438"/>
            <a:ext cx="39597" cy="13528"/>
          </a:xfrm>
          <a:prstGeom prst="line">
            <a:avLst/>
          </a:prstGeom>
          <a:noFill/>
          <a:ln w="31750">
            <a:solidFill>
              <a:srgbClr val="C8414C"/>
            </a:solidFill>
            <a:prstDash val="solid"/>
          </a:ln>
        </p:spPr>
      </p:sp>
      <p:sp>
        <p:nvSpPr>
          <p:cNvPr id="269" name="Shape 267"/>
          <p:cNvSpPr/>
          <p:nvPr/>
        </p:nvSpPr>
        <p:spPr>
          <a:xfrm>
            <a:off x="5431699" y="2695966"/>
            <a:ext cx="39597" cy="13306"/>
          </a:xfrm>
          <a:prstGeom prst="line">
            <a:avLst/>
          </a:prstGeom>
          <a:noFill/>
          <a:ln w="31750">
            <a:solidFill>
              <a:srgbClr val="C8414C"/>
            </a:solidFill>
            <a:prstDash val="solid"/>
          </a:ln>
        </p:spPr>
      </p:sp>
      <p:sp>
        <p:nvSpPr>
          <p:cNvPr id="270" name="Shape 268"/>
          <p:cNvSpPr/>
          <p:nvPr/>
        </p:nvSpPr>
        <p:spPr>
          <a:xfrm>
            <a:off x="5471296" y="2709272"/>
            <a:ext cx="39597" cy="13082"/>
          </a:xfrm>
          <a:prstGeom prst="line">
            <a:avLst/>
          </a:prstGeom>
          <a:noFill/>
          <a:ln w="31750">
            <a:solidFill>
              <a:srgbClr val="C8414C"/>
            </a:solidFill>
            <a:prstDash val="solid"/>
          </a:ln>
        </p:spPr>
      </p:sp>
      <p:sp>
        <p:nvSpPr>
          <p:cNvPr id="271" name="Shape 269"/>
          <p:cNvSpPr/>
          <p:nvPr/>
        </p:nvSpPr>
        <p:spPr>
          <a:xfrm>
            <a:off x="5510893" y="2722355"/>
            <a:ext cx="39597" cy="12858"/>
          </a:xfrm>
          <a:prstGeom prst="line">
            <a:avLst/>
          </a:prstGeom>
          <a:noFill/>
          <a:ln w="31750">
            <a:solidFill>
              <a:srgbClr val="C8414C"/>
            </a:solidFill>
            <a:prstDash val="solid"/>
          </a:ln>
        </p:spPr>
      </p:sp>
      <p:sp>
        <p:nvSpPr>
          <p:cNvPr id="272" name="Shape 270"/>
          <p:cNvSpPr/>
          <p:nvPr/>
        </p:nvSpPr>
        <p:spPr>
          <a:xfrm>
            <a:off x="5550490" y="2735213"/>
            <a:ext cx="39597" cy="12633"/>
          </a:xfrm>
          <a:prstGeom prst="line">
            <a:avLst/>
          </a:prstGeom>
          <a:noFill/>
          <a:ln w="31750">
            <a:solidFill>
              <a:srgbClr val="C8414C"/>
            </a:solidFill>
            <a:prstDash val="solid"/>
          </a:ln>
        </p:spPr>
      </p:sp>
      <p:sp>
        <p:nvSpPr>
          <p:cNvPr id="273" name="Shape 271"/>
          <p:cNvSpPr/>
          <p:nvPr/>
        </p:nvSpPr>
        <p:spPr>
          <a:xfrm>
            <a:off x="5590086" y="2747846"/>
            <a:ext cx="39597" cy="12408"/>
          </a:xfrm>
          <a:prstGeom prst="line">
            <a:avLst/>
          </a:prstGeom>
          <a:noFill/>
          <a:ln w="31750">
            <a:solidFill>
              <a:srgbClr val="C8414C"/>
            </a:solidFill>
            <a:prstDash val="solid"/>
          </a:ln>
        </p:spPr>
      </p:sp>
      <p:sp>
        <p:nvSpPr>
          <p:cNvPr id="274" name="Shape 272"/>
          <p:cNvSpPr/>
          <p:nvPr/>
        </p:nvSpPr>
        <p:spPr>
          <a:xfrm>
            <a:off x="5629683" y="2760254"/>
            <a:ext cx="39597" cy="12183"/>
          </a:xfrm>
          <a:prstGeom prst="line">
            <a:avLst/>
          </a:prstGeom>
          <a:noFill/>
          <a:ln w="31750">
            <a:solidFill>
              <a:srgbClr val="C8414C"/>
            </a:solidFill>
            <a:prstDash val="solid"/>
          </a:ln>
        </p:spPr>
      </p:sp>
      <p:sp>
        <p:nvSpPr>
          <p:cNvPr id="275" name="Shape 273"/>
          <p:cNvSpPr/>
          <p:nvPr/>
        </p:nvSpPr>
        <p:spPr>
          <a:xfrm>
            <a:off x="3575050" y="3934206"/>
            <a:ext cx="274320" cy="91"/>
          </a:xfrm>
          <a:prstGeom prst="line">
            <a:avLst/>
          </a:prstGeom>
          <a:noFill/>
          <a:ln w="38100">
            <a:solidFill>
              <a:srgbClr val="2E8B57"/>
            </a:solidFill>
            <a:prstDash val="solid"/>
          </a:ln>
        </p:spPr>
      </p:sp>
      <p:sp>
        <p:nvSpPr>
          <p:cNvPr id="276" name="Text 274"/>
          <p:cNvSpPr/>
          <p:nvPr/>
        </p:nvSpPr>
        <p:spPr>
          <a:xfrm>
            <a:off x="3895090" y="3806190"/>
            <a:ext cx="1097280" cy="256032"/>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no diabetes</a:t>
            </a:r>
            <a:endParaRPr lang="en-US" sz="1050" dirty="0"/>
          </a:p>
        </p:txBody>
      </p:sp>
      <p:sp>
        <p:nvSpPr>
          <p:cNvPr id="277" name="Shape 275"/>
          <p:cNvSpPr/>
          <p:nvPr/>
        </p:nvSpPr>
        <p:spPr>
          <a:xfrm>
            <a:off x="3698240" y="1652778"/>
            <a:ext cx="274320" cy="91"/>
          </a:xfrm>
          <a:prstGeom prst="line">
            <a:avLst/>
          </a:prstGeom>
          <a:noFill/>
          <a:ln w="38100">
            <a:solidFill>
              <a:srgbClr val="C8414C"/>
            </a:solidFill>
            <a:prstDash val="solid"/>
          </a:ln>
        </p:spPr>
      </p:sp>
      <p:sp>
        <p:nvSpPr>
          <p:cNvPr id="278" name="Text 276"/>
          <p:cNvSpPr/>
          <p:nvPr/>
        </p:nvSpPr>
        <p:spPr>
          <a:xfrm>
            <a:off x="4018280" y="1524762"/>
            <a:ext cx="146304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type 1 (no insulin)</a:t>
            </a:r>
            <a:endParaRPr lang="en-US" sz="1050" dirty="0"/>
          </a:p>
        </p:txBody>
      </p:sp>
      <p:sp>
        <p:nvSpPr>
          <p:cNvPr id="279" name="Shape 277"/>
          <p:cNvSpPr/>
          <p:nvPr/>
        </p:nvSpPr>
        <p:spPr>
          <a:xfrm>
            <a:off x="4145280" y="3598337"/>
            <a:ext cx="91440" cy="91440"/>
          </a:xfrm>
          <a:prstGeom prst="line">
            <a:avLst/>
          </a:prstGeom>
          <a:noFill/>
          <a:ln w="15875">
            <a:solidFill>
              <a:srgbClr val="1C3A2C"/>
            </a:solidFill>
            <a:prstDash val="solid"/>
          </a:ln>
        </p:spPr>
      </p:sp>
      <p:sp>
        <p:nvSpPr>
          <p:cNvPr id="280" name="Shape 278"/>
          <p:cNvSpPr/>
          <p:nvPr/>
        </p:nvSpPr>
        <p:spPr>
          <a:xfrm flipV="1">
            <a:off x="4145280" y="3598337"/>
            <a:ext cx="91440" cy="91440"/>
          </a:xfrm>
          <a:prstGeom prst="line">
            <a:avLst/>
          </a:prstGeom>
          <a:noFill/>
          <a:ln w="15875">
            <a:solidFill>
              <a:srgbClr val="1C3A2C"/>
            </a:solidFill>
            <a:prstDash val="solid"/>
          </a:ln>
        </p:spPr>
      </p:sp>
      <p:sp>
        <p:nvSpPr>
          <p:cNvPr id="281" name="Shape 279"/>
          <p:cNvSpPr/>
          <p:nvPr/>
        </p:nvSpPr>
        <p:spPr>
          <a:xfrm>
            <a:off x="4145280" y="2146674"/>
            <a:ext cx="91440" cy="91440"/>
          </a:xfrm>
          <a:prstGeom prst="line">
            <a:avLst/>
          </a:prstGeom>
          <a:noFill/>
          <a:ln w="15875">
            <a:solidFill>
              <a:srgbClr val="1C3A2C"/>
            </a:solidFill>
            <a:prstDash val="solid"/>
          </a:ln>
        </p:spPr>
      </p:sp>
      <p:sp>
        <p:nvSpPr>
          <p:cNvPr id="282" name="Shape 280"/>
          <p:cNvSpPr/>
          <p:nvPr/>
        </p:nvSpPr>
        <p:spPr>
          <a:xfrm flipV="1">
            <a:off x="4145280" y="2146674"/>
            <a:ext cx="91440" cy="91440"/>
          </a:xfrm>
          <a:prstGeom prst="line">
            <a:avLst/>
          </a:prstGeom>
          <a:noFill/>
          <a:ln w="15875">
            <a:solidFill>
              <a:srgbClr val="1C3A2C"/>
            </a:solidFill>
            <a:prstDash val="solid"/>
          </a:ln>
        </p:spPr>
      </p:sp>
      <p:sp>
        <p:nvSpPr>
          <p:cNvPr id="283" name="Shape 281"/>
          <p:cNvSpPr/>
          <p:nvPr/>
        </p:nvSpPr>
        <p:spPr>
          <a:xfrm flipV="1">
            <a:off x="4191000" y="2192394"/>
            <a:ext cx="91" cy="2288166"/>
          </a:xfrm>
          <a:prstGeom prst="line">
            <a:avLst/>
          </a:prstGeom>
          <a:noFill/>
          <a:ln w="12700">
            <a:solidFill>
              <a:srgbClr val="6B7385"/>
            </a:solidFill>
            <a:prstDash val="dash"/>
          </a:ln>
        </p:spPr>
      </p:sp>
      <p:sp>
        <p:nvSpPr>
          <p:cNvPr id="284" name="Shape 282"/>
          <p:cNvSpPr/>
          <p:nvPr/>
        </p:nvSpPr>
        <p:spPr>
          <a:xfrm>
            <a:off x="1463040" y="4937760"/>
            <a:ext cx="832104" cy="201168"/>
          </a:xfrm>
          <a:prstGeom prst="roundRect">
            <a:avLst>
              <a:gd name="adj" fmla="val 36364"/>
            </a:avLst>
          </a:prstGeom>
          <a:solidFill>
            <a:srgbClr val="5B9BD5"/>
          </a:solidFill>
          <a:ln w="12700">
            <a:solidFill>
              <a:srgbClr val="2F5F8F"/>
            </a:solidFill>
            <a:prstDash val="solid"/>
          </a:ln>
        </p:spPr>
      </p:sp>
      <p:sp>
        <p:nvSpPr>
          <p:cNvPr id="285" name="Shape 283"/>
          <p:cNvSpPr/>
          <p:nvPr/>
        </p:nvSpPr>
        <p:spPr>
          <a:xfrm>
            <a:off x="2295144" y="4965192"/>
            <a:ext cx="178308" cy="146304"/>
          </a:xfrm>
          <a:prstGeom prst="rect">
            <a:avLst/>
          </a:prstGeom>
          <a:solidFill>
            <a:srgbClr val="E6EBF2"/>
          </a:solidFill>
          <a:ln w="12700">
            <a:solidFill>
              <a:srgbClr val="6B7385"/>
            </a:solidFill>
            <a:prstDash val="solid"/>
          </a:ln>
        </p:spPr>
      </p:sp>
      <p:sp>
        <p:nvSpPr>
          <p:cNvPr id="286" name="Shape 284"/>
          <p:cNvSpPr/>
          <p:nvPr/>
        </p:nvSpPr>
        <p:spPr>
          <a:xfrm>
            <a:off x="2473452" y="5038344"/>
            <a:ext cx="178308" cy="91"/>
          </a:xfrm>
          <a:prstGeom prst="line">
            <a:avLst/>
          </a:prstGeom>
          <a:noFill/>
          <a:ln w="12700">
            <a:solidFill>
              <a:srgbClr val="6B7385"/>
            </a:solidFill>
            <a:prstDash val="solid"/>
          </a:ln>
        </p:spPr>
      </p:sp>
      <p:sp>
        <p:nvSpPr>
          <p:cNvPr id="287" name="Shape 285"/>
          <p:cNvSpPr/>
          <p:nvPr/>
        </p:nvSpPr>
        <p:spPr>
          <a:xfrm>
            <a:off x="1353312" y="4956048"/>
            <a:ext cx="109728" cy="164592"/>
          </a:xfrm>
          <a:prstGeom prst="rect">
            <a:avLst/>
          </a:prstGeom>
          <a:solidFill>
            <a:srgbClr val="2F5F8F"/>
          </a:solidFill>
          <a:ln w="12700">
            <a:solidFill>
              <a:srgbClr val="2F5F8F"/>
            </a:solidFill>
            <a:prstDash val="solid"/>
          </a:ln>
        </p:spPr>
      </p:sp>
      <p:sp>
        <p:nvSpPr>
          <p:cNvPr id="288" name="Shape 286"/>
          <p:cNvSpPr/>
          <p:nvPr/>
        </p:nvSpPr>
        <p:spPr>
          <a:xfrm>
            <a:off x="1879092" y="4983480"/>
            <a:ext cx="182880" cy="109728"/>
          </a:xfrm>
          <a:prstGeom prst="rect">
            <a:avLst/>
          </a:prstGeom>
          <a:solidFill>
            <a:srgbClr val="FFFFFF"/>
          </a:solidFill>
          <a:ln/>
        </p:spPr>
      </p:sp>
      <p:sp>
        <p:nvSpPr>
          <p:cNvPr id="289" name="Text 287"/>
          <p:cNvSpPr/>
          <p:nvPr/>
        </p:nvSpPr>
        <p:spPr>
          <a:xfrm>
            <a:off x="2834640" y="4846320"/>
            <a:ext cx="2834640" cy="256032"/>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insulin injected (pen or pump)</a:t>
            </a:r>
            <a:endParaRPr lang="en-US" sz="1050" dirty="0"/>
          </a:p>
        </p:txBody>
      </p:sp>
      <p:sp>
        <p:nvSpPr>
          <p:cNvPr id="290" name="Shape 288"/>
          <p:cNvSpPr/>
          <p:nvPr/>
        </p:nvSpPr>
        <p:spPr>
          <a:xfrm>
            <a:off x="6217920" y="1188720"/>
            <a:ext cx="5562295" cy="2423160"/>
          </a:xfrm>
          <a:prstGeom prst="roundRect">
            <a:avLst>
              <a:gd name="adj" fmla="val 2264"/>
            </a:avLst>
          </a:prstGeom>
          <a:solidFill>
            <a:srgbClr val="F5FBF7"/>
          </a:solidFill>
          <a:ln w="9525">
            <a:solidFill>
              <a:srgbClr val="D2E5D8"/>
            </a:solidFill>
            <a:prstDash val="solid"/>
          </a:ln>
        </p:spPr>
      </p:sp>
      <p:sp>
        <p:nvSpPr>
          <p:cNvPr id="291" name="Text 28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Cause and control</a:t>
            </a:r>
            <a:endParaRPr lang="en-US" sz="1300" dirty="0"/>
          </a:p>
        </p:txBody>
      </p:sp>
      <p:sp>
        <p:nvSpPr>
          <p:cNvPr id="292" name="Text 29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Cause</a:t>
            </a:r>
            <a:r>
              <a:rPr lang="en-US" sz="1150" dirty="0">
                <a:solidFill>
                  <a:srgbClr val="262B3A"/>
                </a:solidFill>
                <a:latin typeface="Calibri" pitchFamily="34" charset="0"/>
                <a:ea typeface="Calibri" pitchFamily="34" charset="-122"/>
                <a:cs typeface="Calibri" pitchFamily="34" charset="-120"/>
              </a:rPr>
              <a:t>: the pancreas </a:t>
            </a:r>
            <a:r>
              <a:rPr lang="en-US" sz="1150" b="1" dirty="0">
                <a:solidFill>
                  <a:srgbClr val="262B3A"/>
                </a:solidFill>
                <a:latin typeface="Calibri" pitchFamily="34" charset="0"/>
                <a:ea typeface="Calibri" pitchFamily="34" charset="-122"/>
                <a:cs typeface="Calibri" pitchFamily="34" charset="-120"/>
              </a:rPr>
              <a:t>does not produce enough insulin</a:t>
            </a:r>
            <a:r>
              <a:rPr lang="en-US" sz="1150" dirty="0">
                <a:solidFill>
                  <a:srgbClr val="262B3A"/>
                </a:solidFill>
                <a:latin typeface="Calibri" pitchFamily="34" charset="0"/>
                <a:ea typeface="Calibri" pitchFamily="34" charset="-122"/>
                <a:cs typeface="Calibri" pitchFamily="34" charset="-120"/>
              </a:rPr>
              <a:t> (the insulin-secreting cells are destroyed by the immune system). Usually starts in childhood.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Blood glucose can rise to dangerous levels; glucose may appear in the urine.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Control</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insulin injections</a:t>
            </a:r>
            <a:r>
              <a:rPr lang="en-US" sz="1150" dirty="0">
                <a:solidFill>
                  <a:srgbClr val="262B3A"/>
                </a:solidFill>
                <a:latin typeface="Calibri" pitchFamily="34" charset="0"/>
                <a:ea typeface="Calibri" pitchFamily="34" charset="-122"/>
                <a:cs typeface="Calibri" pitchFamily="34" charset="-120"/>
              </a:rPr>
              <a:t> (or a pump) matched to meals and exercise; regular </a:t>
            </a:r>
            <a:r>
              <a:rPr lang="en-US" sz="1150" b="1" dirty="0">
                <a:solidFill>
                  <a:srgbClr val="262B3A"/>
                </a:solidFill>
                <a:latin typeface="Calibri" pitchFamily="34" charset="0"/>
                <a:ea typeface="Calibri" pitchFamily="34" charset="-122"/>
                <a:cs typeface="Calibri" pitchFamily="34" charset="-120"/>
              </a:rPr>
              <a:t>blood glucose tests</a:t>
            </a:r>
            <a:r>
              <a:rPr lang="en-US" sz="1150" dirty="0">
                <a:solidFill>
                  <a:srgbClr val="262B3A"/>
                </a:solidFill>
                <a:latin typeface="Calibri" pitchFamily="34" charset="0"/>
                <a:ea typeface="Calibri" pitchFamily="34" charset="-122"/>
                <a:cs typeface="Calibri" pitchFamily="34" charset="-120"/>
              </a:rPr>
              <a:t>; careful </a:t>
            </a:r>
            <a:r>
              <a:rPr lang="en-US" sz="1150" b="1" dirty="0">
                <a:solidFill>
                  <a:srgbClr val="262B3A"/>
                </a:solidFill>
                <a:latin typeface="Calibri" pitchFamily="34" charset="0"/>
                <a:ea typeface="Calibri" pitchFamily="34" charset="-122"/>
                <a:cs typeface="Calibri" pitchFamily="34" charset="-120"/>
              </a:rPr>
              <a:t>diet</a:t>
            </a:r>
            <a:r>
              <a:rPr lang="en-US" sz="1150" dirty="0">
                <a:solidFill>
                  <a:srgbClr val="262B3A"/>
                </a:solidFill>
                <a:latin typeface="Calibri" pitchFamily="34" charset="0"/>
                <a:ea typeface="Calibri" pitchFamily="34" charset="-122"/>
                <a:cs typeface="Calibri" pitchFamily="34" charset="-120"/>
              </a:rPr>
              <a:t> (carbohydrate intake) and </a:t>
            </a:r>
            <a:r>
              <a:rPr lang="en-US" sz="1150" b="1" dirty="0">
                <a:solidFill>
                  <a:srgbClr val="262B3A"/>
                </a:solidFill>
                <a:latin typeface="Calibri" pitchFamily="34" charset="0"/>
                <a:ea typeface="Calibri" pitchFamily="34" charset="-122"/>
                <a:cs typeface="Calibri" pitchFamily="34" charset="-120"/>
              </a:rPr>
              <a:t>exercise</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93" name="Shape 29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94" name="Text 29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Read the graph</a:t>
            </a:r>
            <a:endParaRPr lang="en-US" sz="1300" dirty="0"/>
          </a:p>
        </p:txBody>
      </p:sp>
      <p:sp>
        <p:nvSpPr>
          <p:cNvPr id="295" name="Text 293"/>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Give the blood glucose at 120 min for each person.</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1 No diabetes   </a:t>
            </a:r>
            <a:r>
              <a:rPr lang="en-US" sz="1100" dirty="0">
                <a:solidFill>
                  <a:srgbClr val="262B3A"/>
                </a:solidFill>
                <a:latin typeface="Calibri" pitchFamily="34" charset="0"/>
                <a:ea typeface="Calibri" pitchFamily="34" charset="-122"/>
                <a:cs typeface="Calibri" pitchFamily="34" charset="-120"/>
              </a:rPr>
              <a:t>about 5.5 mmol/dm³ – back near normal</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2 Type 1   </a:t>
            </a:r>
            <a:r>
              <a:rPr lang="en-US" sz="1100" dirty="0">
                <a:solidFill>
                  <a:srgbClr val="262B3A"/>
                </a:solidFill>
                <a:latin typeface="Calibri" pitchFamily="34" charset="0"/>
                <a:ea typeface="Calibri" pitchFamily="34" charset="-122"/>
                <a:cs typeface="Calibri" pitchFamily="34" charset="-120"/>
              </a:rPr>
              <a:t>about 15 mmol/dm³ – still very high</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3 Why   </a:t>
            </a:r>
            <a:r>
              <a:rPr lang="en-US" sz="1100" dirty="0">
                <a:solidFill>
                  <a:srgbClr val="262B3A"/>
                </a:solidFill>
                <a:latin typeface="Calibri" pitchFamily="34" charset="0"/>
                <a:ea typeface="Calibri" pitchFamily="34" charset="-122"/>
                <a:cs typeface="Calibri" pitchFamily="34" charset="-120"/>
              </a:rPr>
              <a:t>no insulin, so cells do not take up the glucose</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difference ≈ 9.5 mmol/dm³</a:t>
            </a:r>
            <a:endParaRPr lang="en-US" sz="1100" dirty="0"/>
          </a:p>
        </p:txBody>
      </p:sp>
      <p:sp>
        <p:nvSpPr>
          <p:cNvPr id="296" name="Shape 294"/>
          <p:cNvSpPr/>
          <p:nvPr/>
        </p:nvSpPr>
        <p:spPr>
          <a:xfrm>
            <a:off x="411480" y="5833872"/>
            <a:ext cx="11368735" cy="530352"/>
          </a:xfrm>
          <a:prstGeom prst="rect">
            <a:avLst/>
          </a:prstGeom>
          <a:solidFill>
            <a:srgbClr val="FFF4E0"/>
          </a:solidFill>
          <a:ln w="6350">
            <a:solidFill>
              <a:srgbClr val="F1D9A8"/>
            </a:solidFill>
            <a:prstDash val="solid"/>
          </a:ln>
        </p:spPr>
      </p:sp>
      <p:sp>
        <p:nvSpPr>
          <p:cNvPr id="297" name="Shape 295"/>
          <p:cNvSpPr/>
          <p:nvPr/>
        </p:nvSpPr>
        <p:spPr>
          <a:xfrm>
            <a:off x="411480" y="5833872"/>
            <a:ext cx="82296" cy="530352"/>
          </a:xfrm>
          <a:prstGeom prst="rect">
            <a:avLst/>
          </a:prstGeom>
          <a:solidFill>
            <a:srgbClr val="E39A2F"/>
          </a:solidFill>
          <a:ln w="12700">
            <a:solidFill>
              <a:srgbClr val="E39A2F"/>
            </a:solidFill>
            <a:prstDash val="solid"/>
          </a:ln>
        </p:spPr>
      </p:sp>
      <p:sp>
        <p:nvSpPr>
          <p:cNvPr id="298" name="Text 29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must people with type 1 diabetes inject insulin rather than </a:t>
            </a:r>
            <a:r>
              <a:rPr lang="en-US" sz="1150" b="1" dirty="0">
                <a:solidFill>
                  <a:srgbClr val="262B3A"/>
                </a:solidFill>
                <a:latin typeface="Calibri" pitchFamily="34" charset="0"/>
                <a:ea typeface="Calibri" pitchFamily="34" charset="-122"/>
                <a:cs typeface="Calibri" pitchFamily="34" charset="-120"/>
              </a:rPr>
              <a:t>swallow</a:t>
            </a:r>
            <a:r>
              <a:rPr lang="en-US" sz="1150" dirty="0">
                <a:solidFill>
                  <a:srgbClr val="262B3A"/>
                </a:solidFill>
                <a:latin typeface="Calibri" pitchFamily="34" charset="0"/>
                <a:ea typeface="Calibri" pitchFamily="34" charset="-122"/>
                <a:cs typeface="Calibri" pitchFamily="34" charset="-120"/>
              </a:rPr>
              <a:t> it as a tablet?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Type 2 diabetes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7.16 • cause and control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7.16  |  25</a:t>
            </a:r>
            <a:endParaRPr lang="en-US" sz="1000" dirty="0"/>
          </a:p>
        </p:txBody>
      </p:sp>
      <p:sp>
        <p:nvSpPr>
          <p:cNvPr id="8" name="Shape 6"/>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insulin binds in both cells, but only the healthy cell responds by taking up glucose</a:t>
            </a:r>
            <a:endParaRPr lang="en-US" sz="1000" dirty="0"/>
          </a:p>
        </p:txBody>
      </p:sp>
      <p:sp>
        <p:nvSpPr>
          <p:cNvPr id="10" name="Shape 8"/>
          <p:cNvSpPr/>
          <p:nvPr/>
        </p:nvSpPr>
        <p:spPr>
          <a:xfrm>
            <a:off x="685800" y="2377440"/>
            <a:ext cx="2194560" cy="1737360"/>
          </a:xfrm>
          <a:prstGeom prst="ellipse">
            <a:avLst/>
          </a:prstGeom>
          <a:solidFill>
            <a:srgbClr val="FBF3DF"/>
          </a:solidFill>
          <a:ln w="19050">
            <a:solidFill>
              <a:srgbClr val="8A6D3B"/>
            </a:solidFill>
            <a:prstDash val="solid"/>
          </a:ln>
        </p:spPr>
      </p:sp>
      <p:sp>
        <p:nvSpPr>
          <p:cNvPr id="11" name="Shape 9"/>
          <p:cNvSpPr/>
          <p:nvPr/>
        </p:nvSpPr>
        <p:spPr>
          <a:xfrm>
            <a:off x="1581912" y="3319272"/>
            <a:ext cx="402336" cy="402336"/>
          </a:xfrm>
          <a:prstGeom prst="ellipse">
            <a:avLst/>
          </a:prstGeom>
          <a:solidFill>
            <a:srgbClr val="C9B6E4"/>
          </a:solidFill>
          <a:ln w="12700">
            <a:solidFill>
              <a:srgbClr val="6A4C93"/>
            </a:solidFill>
            <a:prstDash val="solid"/>
          </a:ln>
        </p:spPr>
      </p:sp>
      <p:sp>
        <p:nvSpPr>
          <p:cNvPr id="12" name="Shape 10"/>
          <p:cNvSpPr/>
          <p:nvPr/>
        </p:nvSpPr>
        <p:spPr>
          <a:xfrm>
            <a:off x="1124712" y="2395728"/>
            <a:ext cx="219456" cy="146304"/>
          </a:xfrm>
          <a:prstGeom prst="rect">
            <a:avLst/>
          </a:prstGeom>
          <a:solidFill>
            <a:srgbClr val="2E8B57"/>
          </a:solidFill>
          <a:ln w="9525">
            <a:solidFill>
              <a:srgbClr val="1E6B40"/>
            </a:solidFill>
            <a:prstDash val="solid"/>
          </a:ln>
        </p:spPr>
      </p:sp>
      <p:sp>
        <p:nvSpPr>
          <p:cNvPr id="13" name="Shape 11"/>
          <p:cNvSpPr/>
          <p:nvPr/>
        </p:nvSpPr>
        <p:spPr>
          <a:xfrm>
            <a:off x="1161288" y="2394814"/>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14" name="Shape 12"/>
          <p:cNvSpPr/>
          <p:nvPr/>
        </p:nvSpPr>
        <p:spPr>
          <a:xfrm rot="10800000">
            <a:off x="1161288" y="2386584"/>
            <a:ext cx="146304" cy="128016"/>
          </a:xfrm>
          <a:prstGeom prst="triangle">
            <a:avLst/>
          </a:prstGeom>
          <a:solidFill>
            <a:srgbClr val="E08A1E"/>
          </a:solidFill>
          <a:ln w="9525">
            <a:solidFill>
              <a:srgbClr val="9A5A0A"/>
            </a:solidFill>
            <a:prstDash val="solid"/>
          </a:ln>
        </p:spPr>
      </p:sp>
      <p:sp>
        <p:nvSpPr>
          <p:cNvPr id="15" name="Shape 13"/>
          <p:cNvSpPr/>
          <p:nvPr/>
        </p:nvSpPr>
        <p:spPr>
          <a:xfrm>
            <a:off x="1673352" y="2395728"/>
            <a:ext cx="219456" cy="146304"/>
          </a:xfrm>
          <a:prstGeom prst="rect">
            <a:avLst/>
          </a:prstGeom>
          <a:solidFill>
            <a:srgbClr val="2E8B57"/>
          </a:solidFill>
          <a:ln w="9525">
            <a:solidFill>
              <a:srgbClr val="1E6B40"/>
            </a:solidFill>
            <a:prstDash val="solid"/>
          </a:ln>
        </p:spPr>
      </p:sp>
      <p:sp>
        <p:nvSpPr>
          <p:cNvPr id="16" name="Shape 14"/>
          <p:cNvSpPr/>
          <p:nvPr/>
        </p:nvSpPr>
        <p:spPr>
          <a:xfrm>
            <a:off x="1709928" y="2394814"/>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17" name="Shape 15"/>
          <p:cNvSpPr/>
          <p:nvPr/>
        </p:nvSpPr>
        <p:spPr>
          <a:xfrm rot="10800000">
            <a:off x="1709928" y="2386584"/>
            <a:ext cx="146304" cy="128016"/>
          </a:xfrm>
          <a:prstGeom prst="triangle">
            <a:avLst/>
          </a:prstGeom>
          <a:solidFill>
            <a:srgbClr val="E08A1E"/>
          </a:solidFill>
          <a:ln w="9525">
            <a:solidFill>
              <a:srgbClr val="9A5A0A"/>
            </a:solidFill>
            <a:prstDash val="solid"/>
          </a:ln>
        </p:spPr>
      </p:sp>
      <p:sp>
        <p:nvSpPr>
          <p:cNvPr id="18" name="Shape 16"/>
          <p:cNvSpPr/>
          <p:nvPr/>
        </p:nvSpPr>
        <p:spPr>
          <a:xfrm>
            <a:off x="2221992" y="2395728"/>
            <a:ext cx="219456" cy="146304"/>
          </a:xfrm>
          <a:prstGeom prst="rect">
            <a:avLst/>
          </a:prstGeom>
          <a:solidFill>
            <a:srgbClr val="2E8B57"/>
          </a:solidFill>
          <a:ln w="9525">
            <a:solidFill>
              <a:srgbClr val="1E6B40"/>
            </a:solidFill>
            <a:prstDash val="solid"/>
          </a:ln>
        </p:spPr>
      </p:sp>
      <p:sp>
        <p:nvSpPr>
          <p:cNvPr id="19" name="Shape 17"/>
          <p:cNvSpPr/>
          <p:nvPr/>
        </p:nvSpPr>
        <p:spPr>
          <a:xfrm>
            <a:off x="2258568" y="2394814"/>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20" name="Shape 18"/>
          <p:cNvSpPr/>
          <p:nvPr/>
        </p:nvSpPr>
        <p:spPr>
          <a:xfrm rot="10800000">
            <a:off x="2258568" y="2386584"/>
            <a:ext cx="146304" cy="128016"/>
          </a:xfrm>
          <a:prstGeom prst="triangle">
            <a:avLst/>
          </a:prstGeom>
          <a:solidFill>
            <a:srgbClr val="E08A1E"/>
          </a:solidFill>
          <a:ln w="9525">
            <a:solidFill>
              <a:srgbClr val="9A5A0A"/>
            </a:solidFill>
            <a:prstDash val="solid"/>
          </a:ln>
        </p:spPr>
      </p:sp>
      <p:sp>
        <p:nvSpPr>
          <p:cNvPr id="21" name="Text 19"/>
          <p:cNvSpPr/>
          <p:nvPr/>
        </p:nvSpPr>
        <p:spPr>
          <a:xfrm>
            <a:off x="685800" y="1417320"/>
            <a:ext cx="2194560" cy="256032"/>
          </a:xfrm>
          <a:prstGeom prst="rect">
            <a:avLst/>
          </a:prstGeom>
          <a:noFill/>
          <a:ln/>
        </p:spPr>
        <p:txBody>
          <a:bodyPr wrap="square" lIns="0" tIns="0" rIns="0" bIns="0" rtlCol="0" anchor="ctr"/>
          <a:lstStyle/>
          <a:p>
            <a:pPr algn="ctr" indent="0" marL="0">
              <a:buNone/>
            </a:pPr>
            <a:r>
              <a:rPr lang="en-US" sz="1150" b="1" dirty="0">
                <a:solidFill>
                  <a:srgbClr val="1E6B40"/>
                </a:solidFill>
                <a:latin typeface="Calibri" pitchFamily="34" charset="0"/>
                <a:ea typeface="Calibri" pitchFamily="34" charset="-122"/>
                <a:cs typeface="Calibri" pitchFamily="34" charset="-120"/>
              </a:rPr>
              <a:t>Healthy cell</a:t>
            </a:r>
            <a:endParaRPr lang="en-US" sz="1150" dirty="0"/>
          </a:p>
        </p:txBody>
      </p:sp>
      <p:sp>
        <p:nvSpPr>
          <p:cNvPr id="22" name="Shape 20"/>
          <p:cNvSpPr/>
          <p:nvPr/>
        </p:nvSpPr>
        <p:spPr>
          <a:xfrm>
            <a:off x="1033272" y="1810512"/>
            <a:ext cx="128016" cy="128016"/>
          </a:xfrm>
          <a:prstGeom prst="hexagon">
            <a:avLst/>
          </a:prstGeom>
          <a:solidFill>
            <a:srgbClr val="3B7DD8"/>
          </a:solidFill>
          <a:ln w="6350">
            <a:solidFill>
              <a:srgbClr val="1F4E8C"/>
            </a:solidFill>
            <a:prstDash val="solid"/>
          </a:ln>
        </p:spPr>
      </p:sp>
      <p:sp>
        <p:nvSpPr>
          <p:cNvPr id="23" name="Shape 21"/>
          <p:cNvSpPr/>
          <p:nvPr/>
        </p:nvSpPr>
        <p:spPr>
          <a:xfrm>
            <a:off x="1490472" y="1746504"/>
            <a:ext cx="128016" cy="128016"/>
          </a:xfrm>
          <a:prstGeom prst="hexagon">
            <a:avLst/>
          </a:prstGeom>
          <a:solidFill>
            <a:srgbClr val="3B7DD8"/>
          </a:solidFill>
          <a:ln w="6350">
            <a:solidFill>
              <a:srgbClr val="1F4E8C"/>
            </a:solidFill>
            <a:prstDash val="solid"/>
          </a:ln>
        </p:spPr>
      </p:sp>
      <p:sp>
        <p:nvSpPr>
          <p:cNvPr id="24" name="Shape 22"/>
          <p:cNvSpPr/>
          <p:nvPr/>
        </p:nvSpPr>
        <p:spPr>
          <a:xfrm>
            <a:off x="2039112" y="1819656"/>
            <a:ext cx="128016" cy="128016"/>
          </a:xfrm>
          <a:prstGeom prst="hexagon">
            <a:avLst/>
          </a:prstGeom>
          <a:solidFill>
            <a:srgbClr val="3B7DD8"/>
          </a:solidFill>
          <a:ln w="6350">
            <a:solidFill>
              <a:srgbClr val="1F4E8C"/>
            </a:solidFill>
            <a:prstDash val="solid"/>
          </a:ln>
        </p:spPr>
      </p:sp>
      <p:sp>
        <p:nvSpPr>
          <p:cNvPr id="25" name="Shape 23"/>
          <p:cNvSpPr/>
          <p:nvPr/>
        </p:nvSpPr>
        <p:spPr>
          <a:xfrm>
            <a:off x="2450592" y="1764792"/>
            <a:ext cx="128016" cy="128016"/>
          </a:xfrm>
          <a:prstGeom prst="hexagon">
            <a:avLst/>
          </a:prstGeom>
          <a:solidFill>
            <a:srgbClr val="3B7DD8"/>
          </a:solidFill>
          <a:ln w="6350">
            <a:solidFill>
              <a:srgbClr val="1F4E8C"/>
            </a:solidFill>
            <a:prstDash val="solid"/>
          </a:ln>
        </p:spPr>
      </p:sp>
      <p:sp>
        <p:nvSpPr>
          <p:cNvPr id="26" name="Shape 24"/>
          <p:cNvSpPr/>
          <p:nvPr/>
        </p:nvSpPr>
        <p:spPr>
          <a:xfrm>
            <a:off x="1444752" y="2953512"/>
            <a:ext cx="128016" cy="128016"/>
          </a:xfrm>
          <a:prstGeom prst="hexagon">
            <a:avLst/>
          </a:prstGeom>
          <a:solidFill>
            <a:srgbClr val="3B7DD8"/>
          </a:solidFill>
          <a:ln w="6350">
            <a:solidFill>
              <a:srgbClr val="1F4E8C"/>
            </a:solidFill>
            <a:prstDash val="solid"/>
          </a:ln>
        </p:spPr>
      </p:sp>
      <p:sp>
        <p:nvSpPr>
          <p:cNvPr id="27" name="Shape 25"/>
          <p:cNvSpPr/>
          <p:nvPr/>
        </p:nvSpPr>
        <p:spPr>
          <a:xfrm>
            <a:off x="1993392" y="3044952"/>
            <a:ext cx="128016" cy="128016"/>
          </a:xfrm>
          <a:prstGeom prst="hexagon">
            <a:avLst/>
          </a:prstGeom>
          <a:solidFill>
            <a:srgbClr val="3B7DD8"/>
          </a:solidFill>
          <a:ln w="6350">
            <a:solidFill>
              <a:srgbClr val="1F4E8C"/>
            </a:solidFill>
            <a:prstDash val="solid"/>
          </a:ln>
        </p:spPr>
      </p:sp>
      <p:sp>
        <p:nvSpPr>
          <p:cNvPr id="28" name="Shape 26"/>
          <p:cNvSpPr/>
          <p:nvPr/>
        </p:nvSpPr>
        <p:spPr>
          <a:xfrm>
            <a:off x="1261872" y="3364992"/>
            <a:ext cx="128016" cy="128016"/>
          </a:xfrm>
          <a:prstGeom prst="hexagon">
            <a:avLst/>
          </a:prstGeom>
          <a:solidFill>
            <a:srgbClr val="3B7DD8"/>
          </a:solidFill>
          <a:ln w="6350">
            <a:solidFill>
              <a:srgbClr val="1F4E8C"/>
            </a:solidFill>
            <a:prstDash val="solid"/>
          </a:ln>
        </p:spPr>
      </p:sp>
      <p:sp>
        <p:nvSpPr>
          <p:cNvPr id="29" name="Shape 27"/>
          <p:cNvSpPr/>
          <p:nvPr/>
        </p:nvSpPr>
        <p:spPr>
          <a:xfrm>
            <a:off x="2130552" y="3593592"/>
            <a:ext cx="128016" cy="128016"/>
          </a:xfrm>
          <a:prstGeom prst="hexagon">
            <a:avLst/>
          </a:prstGeom>
          <a:solidFill>
            <a:srgbClr val="3B7DD8"/>
          </a:solidFill>
          <a:ln w="6350">
            <a:solidFill>
              <a:srgbClr val="1F4E8C"/>
            </a:solidFill>
            <a:prstDash val="solid"/>
          </a:ln>
        </p:spPr>
      </p:sp>
      <p:sp>
        <p:nvSpPr>
          <p:cNvPr id="30" name="Shape 28"/>
          <p:cNvSpPr/>
          <p:nvPr/>
        </p:nvSpPr>
        <p:spPr>
          <a:xfrm flipH="1">
            <a:off x="2468880" y="2103120"/>
            <a:ext cx="182880" cy="731520"/>
          </a:xfrm>
          <a:prstGeom prst="line">
            <a:avLst/>
          </a:prstGeom>
          <a:noFill/>
          <a:ln w="25400">
            <a:solidFill>
              <a:srgbClr val="3B7DD8"/>
            </a:solidFill>
            <a:prstDash val="solid"/>
            <a:tailEnd type="triangle"/>
          </a:ln>
        </p:spPr>
      </p:sp>
      <p:sp>
        <p:nvSpPr>
          <p:cNvPr id="31" name="Text 29"/>
          <p:cNvSpPr/>
          <p:nvPr/>
        </p:nvSpPr>
        <p:spPr>
          <a:xfrm>
            <a:off x="685800" y="4206240"/>
            <a:ext cx="2194560" cy="45720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glucose taken </a:t>
            </a:r>
            <a:r>
              <a:rPr lang="en-US" sz="1050" b="1" dirty="0">
                <a:solidFill>
                  <a:srgbClr val="262B3A"/>
                </a:solidFill>
                <a:latin typeface="Calibri" pitchFamily="34" charset="0"/>
                <a:ea typeface="Calibri" pitchFamily="34" charset="-122"/>
                <a:cs typeface="Calibri" pitchFamily="34" charset="-120"/>
              </a:rPr>
              <a:t>into</a:t>
            </a:r>
            <a:r>
              <a:rPr lang="en-US" sz="1050" dirty="0">
                <a:solidFill>
                  <a:srgbClr val="262B3A"/>
                </a:solidFill>
                <a:latin typeface="Calibri" pitchFamily="34" charset="0"/>
                <a:ea typeface="Calibri" pitchFamily="34" charset="-122"/>
                <a:cs typeface="Calibri" pitchFamily="34" charset="-120"/>
              </a:rPr>
              <a:t> the cell</a:t>
            </a:r>
            <a:endParaRPr lang="en-US" sz="1050" dirty="0"/>
          </a:p>
        </p:txBody>
      </p:sp>
      <p:sp>
        <p:nvSpPr>
          <p:cNvPr id="32" name="Shape 30"/>
          <p:cNvSpPr/>
          <p:nvPr/>
        </p:nvSpPr>
        <p:spPr>
          <a:xfrm>
            <a:off x="3474720" y="2377440"/>
            <a:ext cx="2194560" cy="1737360"/>
          </a:xfrm>
          <a:prstGeom prst="ellipse">
            <a:avLst/>
          </a:prstGeom>
          <a:solidFill>
            <a:srgbClr val="FBF3DF"/>
          </a:solidFill>
          <a:ln w="19050">
            <a:solidFill>
              <a:srgbClr val="8A6D3B"/>
            </a:solidFill>
            <a:prstDash val="solid"/>
          </a:ln>
        </p:spPr>
      </p:sp>
      <p:sp>
        <p:nvSpPr>
          <p:cNvPr id="33" name="Shape 31"/>
          <p:cNvSpPr/>
          <p:nvPr/>
        </p:nvSpPr>
        <p:spPr>
          <a:xfrm>
            <a:off x="4370832" y="3319272"/>
            <a:ext cx="402336" cy="402336"/>
          </a:xfrm>
          <a:prstGeom prst="ellipse">
            <a:avLst/>
          </a:prstGeom>
          <a:solidFill>
            <a:srgbClr val="C9B6E4"/>
          </a:solidFill>
          <a:ln w="12700">
            <a:solidFill>
              <a:srgbClr val="6A4C93"/>
            </a:solidFill>
            <a:prstDash val="solid"/>
          </a:ln>
        </p:spPr>
      </p:sp>
      <p:sp>
        <p:nvSpPr>
          <p:cNvPr id="34" name="Shape 32"/>
          <p:cNvSpPr/>
          <p:nvPr/>
        </p:nvSpPr>
        <p:spPr>
          <a:xfrm>
            <a:off x="3913632" y="2395728"/>
            <a:ext cx="219456" cy="146304"/>
          </a:xfrm>
          <a:prstGeom prst="rect">
            <a:avLst/>
          </a:prstGeom>
          <a:solidFill>
            <a:srgbClr val="6B7385"/>
          </a:solidFill>
          <a:ln w="9525">
            <a:solidFill>
              <a:srgbClr val="1E6B40"/>
            </a:solidFill>
            <a:prstDash val="solid"/>
          </a:ln>
        </p:spPr>
      </p:sp>
      <p:sp>
        <p:nvSpPr>
          <p:cNvPr id="35" name="Shape 33"/>
          <p:cNvSpPr/>
          <p:nvPr/>
        </p:nvSpPr>
        <p:spPr>
          <a:xfrm>
            <a:off x="3950208" y="2394814"/>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36" name="Shape 34"/>
          <p:cNvSpPr/>
          <p:nvPr/>
        </p:nvSpPr>
        <p:spPr>
          <a:xfrm rot="10800000">
            <a:off x="3950208" y="2386584"/>
            <a:ext cx="146304" cy="128016"/>
          </a:xfrm>
          <a:prstGeom prst="triangle">
            <a:avLst/>
          </a:prstGeom>
          <a:solidFill>
            <a:srgbClr val="E08A1E"/>
          </a:solidFill>
          <a:ln w="9525">
            <a:solidFill>
              <a:srgbClr val="9A5A0A"/>
            </a:solidFill>
            <a:prstDash val="solid"/>
          </a:ln>
        </p:spPr>
      </p:sp>
      <p:sp>
        <p:nvSpPr>
          <p:cNvPr id="37" name="Shape 35"/>
          <p:cNvSpPr/>
          <p:nvPr/>
        </p:nvSpPr>
        <p:spPr>
          <a:xfrm>
            <a:off x="4462272" y="2395728"/>
            <a:ext cx="219456" cy="146304"/>
          </a:xfrm>
          <a:prstGeom prst="rect">
            <a:avLst/>
          </a:prstGeom>
          <a:solidFill>
            <a:srgbClr val="6B7385"/>
          </a:solidFill>
          <a:ln w="9525">
            <a:solidFill>
              <a:srgbClr val="1E6B40"/>
            </a:solidFill>
            <a:prstDash val="solid"/>
          </a:ln>
        </p:spPr>
      </p:sp>
      <p:sp>
        <p:nvSpPr>
          <p:cNvPr id="38" name="Shape 36"/>
          <p:cNvSpPr/>
          <p:nvPr/>
        </p:nvSpPr>
        <p:spPr>
          <a:xfrm>
            <a:off x="4498848" y="2394814"/>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39" name="Shape 37"/>
          <p:cNvSpPr/>
          <p:nvPr/>
        </p:nvSpPr>
        <p:spPr>
          <a:xfrm rot="10800000">
            <a:off x="4498848" y="2386584"/>
            <a:ext cx="146304" cy="128016"/>
          </a:xfrm>
          <a:prstGeom prst="triangle">
            <a:avLst/>
          </a:prstGeom>
          <a:solidFill>
            <a:srgbClr val="E08A1E"/>
          </a:solidFill>
          <a:ln w="9525">
            <a:solidFill>
              <a:srgbClr val="9A5A0A"/>
            </a:solidFill>
            <a:prstDash val="solid"/>
          </a:ln>
        </p:spPr>
      </p:sp>
      <p:sp>
        <p:nvSpPr>
          <p:cNvPr id="40" name="Shape 38"/>
          <p:cNvSpPr/>
          <p:nvPr/>
        </p:nvSpPr>
        <p:spPr>
          <a:xfrm>
            <a:off x="5010912" y="2395728"/>
            <a:ext cx="219456" cy="146304"/>
          </a:xfrm>
          <a:prstGeom prst="rect">
            <a:avLst/>
          </a:prstGeom>
          <a:solidFill>
            <a:srgbClr val="6B7385"/>
          </a:solidFill>
          <a:ln w="9525">
            <a:solidFill>
              <a:srgbClr val="1E6B40"/>
            </a:solidFill>
            <a:prstDash val="solid"/>
          </a:ln>
        </p:spPr>
      </p:sp>
      <p:sp>
        <p:nvSpPr>
          <p:cNvPr id="41" name="Shape 39"/>
          <p:cNvSpPr/>
          <p:nvPr/>
        </p:nvSpPr>
        <p:spPr>
          <a:xfrm>
            <a:off x="5047488" y="2394814"/>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42" name="Shape 40"/>
          <p:cNvSpPr/>
          <p:nvPr/>
        </p:nvSpPr>
        <p:spPr>
          <a:xfrm rot="10800000">
            <a:off x="5047488" y="2386584"/>
            <a:ext cx="146304" cy="128016"/>
          </a:xfrm>
          <a:prstGeom prst="triangle">
            <a:avLst/>
          </a:prstGeom>
          <a:solidFill>
            <a:srgbClr val="E08A1E"/>
          </a:solidFill>
          <a:ln w="9525">
            <a:solidFill>
              <a:srgbClr val="9A5A0A"/>
            </a:solidFill>
            <a:prstDash val="solid"/>
          </a:ln>
        </p:spPr>
      </p:sp>
      <p:sp>
        <p:nvSpPr>
          <p:cNvPr id="43" name="Text 41"/>
          <p:cNvSpPr/>
          <p:nvPr/>
        </p:nvSpPr>
        <p:spPr>
          <a:xfrm>
            <a:off x="3474720" y="1417320"/>
            <a:ext cx="2194560" cy="256032"/>
          </a:xfrm>
          <a:prstGeom prst="rect">
            <a:avLst/>
          </a:prstGeom>
          <a:noFill/>
          <a:ln/>
        </p:spPr>
        <p:txBody>
          <a:bodyPr wrap="square" lIns="0" tIns="0" rIns="0" bIns="0" rtlCol="0" anchor="ctr"/>
          <a:lstStyle/>
          <a:p>
            <a:pPr algn="ctr" indent="0" marL="0">
              <a:buNone/>
            </a:pPr>
            <a:r>
              <a:rPr lang="en-US" sz="1150" b="1" dirty="0">
                <a:solidFill>
                  <a:srgbClr val="C8414C"/>
                </a:solidFill>
                <a:latin typeface="Calibri" pitchFamily="34" charset="0"/>
                <a:ea typeface="Calibri" pitchFamily="34" charset="-122"/>
                <a:cs typeface="Calibri" pitchFamily="34" charset="-120"/>
              </a:rPr>
              <a:t>Type 2: insulin resistant</a:t>
            </a:r>
            <a:endParaRPr lang="en-US" sz="1150" dirty="0"/>
          </a:p>
        </p:txBody>
      </p:sp>
      <p:sp>
        <p:nvSpPr>
          <p:cNvPr id="44" name="Shape 42"/>
          <p:cNvSpPr/>
          <p:nvPr/>
        </p:nvSpPr>
        <p:spPr>
          <a:xfrm>
            <a:off x="3822192" y="1810512"/>
            <a:ext cx="128016" cy="128016"/>
          </a:xfrm>
          <a:prstGeom prst="hexagon">
            <a:avLst/>
          </a:prstGeom>
          <a:solidFill>
            <a:srgbClr val="3B7DD8"/>
          </a:solidFill>
          <a:ln w="6350">
            <a:solidFill>
              <a:srgbClr val="1F4E8C"/>
            </a:solidFill>
            <a:prstDash val="solid"/>
          </a:ln>
        </p:spPr>
      </p:sp>
      <p:sp>
        <p:nvSpPr>
          <p:cNvPr id="45" name="Shape 43"/>
          <p:cNvSpPr/>
          <p:nvPr/>
        </p:nvSpPr>
        <p:spPr>
          <a:xfrm>
            <a:off x="4279392" y="1746504"/>
            <a:ext cx="128016" cy="128016"/>
          </a:xfrm>
          <a:prstGeom prst="hexagon">
            <a:avLst/>
          </a:prstGeom>
          <a:solidFill>
            <a:srgbClr val="3B7DD8"/>
          </a:solidFill>
          <a:ln w="6350">
            <a:solidFill>
              <a:srgbClr val="1F4E8C"/>
            </a:solidFill>
            <a:prstDash val="solid"/>
          </a:ln>
        </p:spPr>
      </p:sp>
      <p:sp>
        <p:nvSpPr>
          <p:cNvPr id="46" name="Shape 44"/>
          <p:cNvSpPr/>
          <p:nvPr/>
        </p:nvSpPr>
        <p:spPr>
          <a:xfrm>
            <a:off x="4828032" y="1819656"/>
            <a:ext cx="128016" cy="128016"/>
          </a:xfrm>
          <a:prstGeom prst="hexagon">
            <a:avLst/>
          </a:prstGeom>
          <a:solidFill>
            <a:srgbClr val="3B7DD8"/>
          </a:solidFill>
          <a:ln w="6350">
            <a:solidFill>
              <a:srgbClr val="1F4E8C"/>
            </a:solidFill>
            <a:prstDash val="solid"/>
          </a:ln>
        </p:spPr>
      </p:sp>
      <p:sp>
        <p:nvSpPr>
          <p:cNvPr id="47" name="Shape 45"/>
          <p:cNvSpPr/>
          <p:nvPr/>
        </p:nvSpPr>
        <p:spPr>
          <a:xfrm>
            <a:off x="5239512" y="1764792"/>
            <a:ext cx="128016" cy="128016"/>
          </a:xfrm>
          <a:prstGeom prst="hexagon">
            <a:avLst/>
          </a:prstGeom>
          <a:solidFill>
            <a:srgbClr val="3B7DD8"/>
          </a:solidFill>
          <a:ln w="6350">
            <a:solidFill>
              <a:srgbClr val="1F4E8C"/>
            </a:solidFill>
            <a:prstDash val="solid"/>
          </a:ln>
        </p:spPr>
      </p:sp>
      <p:sp>
        <p:nvSpPr>
          <p:cNvPr id="48" name="Shape 46"/>
          <p:cNvSpPr/>
          <p:nvPr/>
        </p:nvSpPr>
        <p:spPr>
          <a:xfrm>
            <a:off x="5349240" y="2148840"/>
            <a:ext cx="91" cy="320040"/>
          </a:xfrm>
          <a:prstGeom prst="line">
            <a:avLst/>
          </a:prstGeom>
          <a:noFill/>
          <a:ln w="25400">
            <a:solidFill>
              <a:srgbClr val="3B7DD8"/>
            </a:solidFill>
            <a:prstDash val="solid"/>
          </a:ln>
        </p:spPr>
      </p:sp>
      <p:sp>
        <p:nvSpPr>
          <p:cNvPr id="49" name="Shape 47"/>
          <p:cNvSpPr/>
          <p:nvPr/>
        </p:nvSpPr>
        <p:spPr>
          <a:xfrm>
            <a:off x="5230368" y="2240280"/>
            <a:ext cx="237744" cy="182880"/>
          </a:xfrm>
          <a:prstGeom prst="line">
            <a:avLst/>
          </a:prstGeom>
          <a:noFill/>
          <a:ln w="31750">
            <a:solidFill>
              <a:srgbClr val="C8414C"/>
            </a:solidFill>
            <a:prstDash val="solid"/>
          </a:ln>
        </p:spPr>
      </p:sp>
      <p:sp>
        <p:nvSpPr>
          <p:cNvPr id="50" name="Shape 48"/>
          <p:cNvSpPr/>
          <p:nvPr/>
        </p:nvSpPr>
        <p:spPr>
          <a:xfrm flipV="1">
            <a:off x="5230368" y="2240280"/>
            <a:ext cx="237744" cy="182880"/>
          </a:xfrm>
          <a:prstGeom prst="line">
            <a:avLst/>
          </a:prstGeom>
          <a:noFill/>
          <a:ln w="31750">
            <a:solidFill>
              <a:srgbClr val="C8414C"/>
            </a:solidFill>
            <a:prstDash val="solid"/>
          </a:ln>
        </p:spPr>
      </p:sp>
      <p:sp>
        <p:nvSpPr>
          <p:cNvPr id="51" name="Text 49"/>
          <p:cNvSpPr/>
          <p:nvPr/>
        </p:nvSpPr>
        <p:spPr>
          <a:xfrm>
            <a:off x="3474720" y="4206240"/>
            <a:ext cx="2194560" cy="45720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cell does </a:t>
            </a:r>
            <a:r>
              <a:rPr lang="en-US" sz="1050" b="1" dirty="0">
                <a:solidFill>
                  <a:srgbClr val="262B3A"/>
                </a:solidFill>
                <a:latin typeface="Calibri" pitchFamily="34" charset="0"/>
                <a:ea typeface="Calibri" pitchFamily="34" charset="-122"/>
                <a:cs typeface="Calibri" pitchFamily="34" charset="-120"/>
              </a:rPr>
              <a:t>not respond</a:t>
            </a:r>
            <a:r>
              <a:rPr lang="en-US" sz="1050" dirty="0">
                <a:solidFill>
                  <a:srgbClr val="262B3A"/>
                </a:solidFill>
                <a:latin typeface="Calibri" pitchFamily="34" charset="0"/>
                <a:ea typeface="Calibri" pitchFamily="34" charset="-122"/>
                <a:cs typeface="Calibri" pitchFamily="34" charset="-120"/>
              </a:rPr>
              <a:t>: glucose stays in blood</a:t>
            </a:r>
            <a:endParaRPr lang="en-US" sz="1050" dirty="0"/>
          </a:p>
        </p:txBody>
      </p:sp>
      <p:sp>
        <p:nvSpPr>
          <p:cNvPr id="52" name="Text 50"/>
          <p:cNvSpPr/>
          <p:nvPr/>
        </p:nvSpPr>
        <p:spPr>
          <a:xfrm>
            <a:off x="640080" y="4800600"/>
            <a:ext cx="5120640" cy="457200"/>
          </a:xfrm>
          <a:prstGeom prst="rect">
            <a:avLst/>
          </a:prstGeom>
          <a:noFill/>
          <a:ln/>
        </p:spPr>
        <p:txBody>
          <a:bodyPr wrap="square" lIns="0" tIns="0" rIns="0" bIns="0" rtlCol="0" anchor="ctr"/>
          <a:lstStyle/>
          <a:p>
            <a:pPr algn="ctr" indent="0" marL="0">
              <a:buNone/>
            </a:pPr>
            <a:r>
              <a:rPr lang="en-US" sz="1050" dirty="0">
                <a:solidFill>
                  <a:srgbClr val="1C3A2C"/>
                </a:solidFill>
                <a:latin typeface="Calibri" pitchFamily="34" charset="0"/>
                <a:ea typeface="Calibri" pitchFamily="34" charset="-122"/>
                <a:cs typeface="Calibri" pitchFamily="34" charset="-120"/>
              </a:rPr>
              <a:t>Risk factors: </a:t>
            </a:r>
            <a:r>
              <a:rPr lang="en-US" sz="1050" b="1" dirty="0">
                <a:solidFill>
                  <a:srgbClr val="1C3A2C"/>
                </a:solidFill>
                <a:latin typeface="Calibri" pitchFamily="34" charset="0"/>
                <a:ea typeface="Calibri" pitchFamily="34" charset="-122"/>
                <a:cs typeface="Calibri" pitchFamily="34" charset="-120"/>
              </a:rPr>
              <a:t>obesity</a:t>
            </a:r>
            <a:r>
              <a:rPr lang="en-US" sz="1050" dirty="0">
                <a:solidFill>
                  <a:srgbClr val="1C3A2C"/>
                </a:solidFill>
                <a:latin typeface="Calibri" pitchFamily="34" charset="0"/>
                <a:ea typeface="Calibri" pitchFamily="34" charset="-122"/>
                <a:cs typeface="Calibri" pitchFamily="34" charset="-120"/>
              </a:rPr>
              <a:t> (especially fat round the waist), inactivity, age, family history.</a:t>
            </a:r>
            <a:endParaRPr lang="en-US" sz="1050" dirty="0"/>
          </a:p>
        </p:txBody>
      </p:sp>
      <p:sp>
        <p:nvSpPr>
          <p:cNvPr id="53" name="Shape 51"/>
          <p:cNvSpPr/>
          <p:nvPr/>
        </p:nvSpPr>
        <p:spPr>
          <a:xfrm>
            <a:off x="6217920" y="1188720"/>
            <a:ext cx="5562295" cy="2423160"/>
          </a:xfrm>
          <a:prstGeom prst="roundRect">
            <a:avLst>
              <a:gd name="adj" fmla="val 2264"/>
            </a:avLst>
          </a:prstGeom>
          <a:solidFill>
            <a:srgbClr val="F5FBF7"/>
          </a:solidFill>
          <a:ln w="9525">
            <a:solidFill>
              <a:srgbClr val="D2E5D8"/>
            </a:solidFill>
            <a:prstDash val="solid"/>
          </a:ln>
        </p:spPr>
      </p:sp>
      <p:sp>
        <p:nvSpPr>
          <p:cNvPr id="54" name="Text 5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Cause and control</a:t>
            </a:r>
            <a:endParaRPr lang="en-US" sz="1300" dirty="0"/>
          </a:p>
        </p:txBody>
      </p:sp>
      <p:sp>
        <p:nvSpPr>
          <p:cNvPr id="55" name="Text 5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Cause</a:t>
            </a:r>
            <a:r>
              <a:rPr lang="en-US" sz="1150" dirty="0">
                <a:solidFill>
                  <a:srgbClr val="262B3A"/>
                </a:solidFill>
                <a:latin typeface="Calibri" pitchFamily="34" charset="0"/>
                <a:ea typeface="Calibri" pitchFamily="34" charset="-122"/>
                <a:cs typeface="Calibri" pitchFamily="34" charset="-120"/>
              </a:rPr>
              <a:t>: body cells </a:t>
            </a:r>
            <a:r>
              <a:rPr lang="en-US" sz="1150" b="1" dirty="0">
                <a:solidFill>
                  <a:srgbClr val="262B3A"/>
                </a:solidFill>
                <a:latin typeface="Calibri" pitchFamily="34" charset="0"/>
                <a:ea typeface="Calibri" pitchFamily="34" charset="-122"/>
                <a:cs typeface="Calibri" pitchFamily="34" charset="-120"/>
              </a:rPr>
              <a:t>no longer respond</a:t>
            </a:r>
            <a:r>
              <a:rPr lang="en-US" sz="1150" dirty="0">
                <a:solidFill>
                  <a:srgbClr val="262B3A"/>
                </a:solidFill>
                <a:latin typeface="Calibri" pitchFamily="34" charset="0"/>
                <a:ea typeface="Calibri" pitchFamily="34" charset="-122"/>
                <a:cs typeface="Calibri" pitchFamily="34" charset="-120"/>
              </a:rPr>
              <a:t> properly to insulin (insulin resistance), or the pancreas does not make enough insulin. Usually develops in adults.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Strongly linked to </a:t>
            </a:r>
            <a:r>
              <a:rPr lang="en-US" sz="1150" b="1" dirty="0">
                <a:solidFill>
                  <a:srgbClr val="262B3A"/>
                </a:solidFill>
                <a:latin typeface="Calibri" pitchFamily="34" charset="0"/>
                <a:ea typeface="Calibri" pitchFamily="34" charset="-122"/>
                <a:cs typeface="Calibri" pitchFamily="34" charset="-120"/>
              </a:rPr>
              <a:t>obesity</a:t>
            </a:r>
            <a:r>
              <a:rPr lang="en-US" sz="1150" dirty="0">
                <a:solidFill>
                  <a:srgbClr val="262B3A"/>
                </a:solidFill>
                <a:latin typeface="Calibri" pitchFamily="34" charset="0"/>
                <a:ea typeface="Calibri" pitchFamily="34" charset="-122"/>
                <a:cs typeface="Calibri" pitchFamily="34" charset="-120"/>
              </a:rPr>
              <a:t> and lack of exercise.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Control</a:t>
            </a:r>
            <a:r>
              <a:rPr lang="en-US" sz="1150" dirty="0">
                <a:solidFill>
                  <a:srgbClr val="262B3A"/>
                </a:solidFill>
                <a:latin typeface="Calibri" pitchFamily="34" charset="0"/>
                <a:ea typeface="Calibri" pitchFamily="34" charset="-122"/>
                <a:cs typeface="Calibri" pitchFamily="34" charset="-120"/>
              </a:rPr>
              <a:t>: a </a:t>
            </a:r>
            <a:r>
              <a:rPr lang="en-US" sz="1150" b="1" dirty="0">
                <a:solidFill>
                  <a:srgbClr val="262B3A"/>
                </a:solidFill>
                <a:latin typeface="Calibri" pitchFamily="34" charset="0"/>
                <a:ea typeface="Calibri" pitchFamily="34" charset="-122"/>
                <a:cs typeface="Calibri" pitchFamily="34" charset="-120"/>
              </a:rPr>
              <a:t>diet</a:t>
            </a:r>
            <a:r>
              <a:rPr lang="en-US" sz="1150" dirty="0">
                <a:solidFill>
                  <a:srgbClr val="262B3A"/>
                </a:solidFill>
                <a:latin typeface="Calibri" pitchFamily="34" charset="0"/>
                <a:ea typeface="Calibri" pitchFamily="34" charset="-122"/>
                <a:cs typeface="Calibri" pitchFamily="34" charset="-120"/>
              </a:rPr>
              <a:t> low in sugar and refined carbohydrate, </a:t>
            </a:r>
            <a:r>
              <a:rPr lang="en-US" sz="1150" b="1" dirty="0">
                <a:solidFill>
                  <a:srgbClr val="262B3A"/>
                </a:solidFill>
                <a:latin typeface="Calibri" pitchFamily="34" charset="0"/>
                <a:ea typeface="Calibri" pitchFamily="34" charset="-122"/>
                <a:cs typeface="Calibri" pitchFamily="34" charset="-120"/>
              </a:rPr>
              <a:t>regular exercise</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losing weight</a:t>
            </a:r>
            <a:r>
              <a:rPr lang="en-US" sz="1150" dirty="0">
                <a:solidFill>
                  <a:srgbClr val="262B3A"/>
                </a:solidFill>
                <a:latin typeface="Calibri" pitchFamily="34" charset="0"/>
                <a:ea typeface="Calibri" pitchFamily="34" charset="-122"/>
                <a:cs typeface="Calibri" pitchFamily="34" charset="-120"/>
              </a:rPr>
              <a:t>; if needed, </a:t>
            </a:r>
            <a:r>
              <a:rPr lang="en-US" sz="1150" b="1" dirty="0">
                <a:solidFill>
                  <a:srgbClr val="262B3A"/>
                </a:solidFill>
                <a:latin typeface="Calibri" pitchFamily="34" charset="0"/>
                <a:ea typeface="Calibri" pitchFamily="34" charset="-122"/>
                <a:cs typeface="Calibri" pitchFamily="34" charset="-120"/>
              </a:rPr>
              <a:t>drugs</a:t>
            </a:r>
            <a:r>
              <a:rPr lang="en-US" sz="1150" dirty="0">
                <a:solidFill>
                  <a:srgbClr val="262B3A"/>
                </a:solidFill>
                <a:latin typeface="Calibri" pitchFamily="34" charset="0"/>
                <a:ea typeface="Calibri" pitchFamily="34" charset="-122"/>
                <a:cs typeface="Calibri" pitchFamily="34" charset="-120"/>
              </a:rPr>
              <a:t> (e.g. metformin) and sometimes insulin.</a:t>
            </a:r>
            <a:endParaRPr lang="en-US" sz="1150" dirty="0"/>
          </a:p>
        </p:txBody>
      </p:sp>
      <p:sp>
        <p:nvSpPr>
          <p:cNvPr id="56" name="Shape 5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7" name="Text 5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Compare type 1 and type 2</a:t>
            </a:r>
            <a:endParaRPr lang="en-US" sz="1300" dirty="0"/>
          </a:p>
        </p:txBody>
      </p:sp>
      <p:sp>
        <p:nvSpPr>
          <p:cNvPr id="58" name="Text 56"/>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1 Type 1   </a:t>
            </a:r>
            <a:r>
              <a:rPr lang="en-US" sz="1100" dirty="0">
                <a:solidFill>
                  <a:srgbClr val="262B3A"/>
                </a:solidFill>
                <a:latin typeface="Calibri" pitchFamily="34" charset="0"/>
                <a:ea typeface="Calibri" pitchFamily="34" charset="-122"/>
                <a:cs typeface="Calibri" pitchFamily="34" charset="-120"/>
              </a:rPr>
              <a:t>no / too little insulin made; usually young; insulin injections</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2 Type 2   </a:t>
            </a:r>
            <a:r>
              <a:rPr lang="en-US" sz="1100" dirty="0">
                <a:solidFill>
                  <a:srgbClr val="262B3A"/>
                </a:solidFill>
                <a:latin typeface="Calibri" pitchFamily="34" charset="0"/>
                <a:ea typeface="Calibri" pitchFamily="34" charset="-122"/>
                <a:cs typeface="Calibri" pitchFamily="34" charset="-120"/>
              </a:rPr>
              <a:t>cells resistant to insulin; usually adults; diet, exercise, drugs</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3 Both   </a:t>
            </a:r>
            <a:r>
              <a:rPr lang="en-US" sz="1100" dirty="0">
                <a:solidFill>
                  <a:srgbClr val="262B3A"/>
                </a:solidFill>
                <a:latin typeface="Calibri" pitchFamily="34" charset="0"/>
                <a:ea typeface="Calibri" pitchFamily="34" charset="-122"/>
                <a:cs typeface="Calibri" pitchFamily="34" charset="-120"/>
              </a:rPr>
              <a:t>blood glucose too high</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cause decides the treatment</a:t>
            </a:r>
            <a:endParaRPr lang="en-US" sz="1100" dirty="0"/>
          </a:p>
        </p:txBody>
      </p:sp>
      <p:sp>
        <p:nvSpPr>
          <p:cNvPr id="59" name="Shape 57"/>
          <p:cNvSpPr/>
          <p:nvPr/>
        </p:nvSpPr>
        <p:spPr>
          <a:xfrm>
            <a:off x="411480" y="5833872"/>
            <a:ext cx="11368735" cy="530352"/>
          </a:xfrm>
          <a:prstGeom prst="rect">
            <a:avLst/>
          </a:prstGeom>
          <a:solidFill>
            <a:srgbClr val="FFF4E0"/>
          </a:solidFill>
          <a:ln w="6350">
            <a:solidFill>
              <a:srgbClr val="F1D9A8"/>
            </a:solidFill>
            <a:prstDash val="solid"/>
          </a:ln>
        </p:spPr>
      </p:sp>
      <p:sp>
        <p:nvSpPr>
          <p:cNvPr id="60" name="Shape 58"/>
          <p:cNvSpPr/>
          <p:nvPr/>
        </p:nvSpPr>
        <p:spPr>
          <a:xfrm>
            <a:off x="411480" y="5833872"/>
            <a:ext cx="82296" cy="530352"/>
          </a:xfrm>
          <a:prstGeom prst="rect">
            <a:avLst/>
          </a:prstGeom>
          <a:solidFill>
            <a:srgbClr val="E39A2F"/>
          </a:solidFill>
          <a:ln w="12700">
            <a:solidFill>
              <a:srgbClr val="E39A2F"/>
            </a:solidFill>
            <a:prstDash val="solid"/>
          </a:ln>
        </p:spPr>
      </p:sp>
      <p:sp>
        <p:nvSpPr>
          <p:cNvPr id="61" name="Text 5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a:t>
            </a:r>
            <a:r>
              <a:rPr lang="en-US" sz="1150" b="1" dirty="0">
                <a:solidFill>
                  <a:srgbClr val="262B3A"/>
                </a:solidFill>
                <a:latin typeface="Calibri" pitchFamily="34" charset="0"/>
                <a:ea typeface="Calibri" pitchFamily="34" charset="-122"/>
                <a:cs typeface="Calibri" pitchFamily="34" charset="-120"/>
              </a:rPr>
              <a:t>losing weight</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exercising</a:t>
            </a:r>
            <a:r>
              <a:rPr lang="en-US" sz="1150" dirty="0">
                <a:solidFill>
                  <a:srgbClr val="262B3A"/>
                </a:solidFill>
                <a:latin typeface="Calibri" pitchFamily="34" charset="0"/>
                <a:ea typeface="Calibri" pitchFamily="34" charset="-122"/>
                <a:cs typeface="Calibri" pitchFamily="34" charset="-120"/>
              </a:rPr>
              <a:t> can help to control type 2 diabetes.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BMI and waist:hip ratio</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7.17 • two ways to measure body mass and fat distribution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7.17  |  26</a:t>
            </a:r>
            <a:endParaRPr lang="en-US" sz="1000" dirty="0"/>
          </a:p>
        </p:txBody>
      </p:sp>
      <p:sp>
        <p:nvSpPr>
          <p:cNvPr id="8" name="Shape 6"/>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measure the waist at its narrowest and the hips at their widest</a:t>
            </a:r>
            <a:endParaRPr lang="en-US" sz="1000" dirty="0"/>
          </a:p>
        </p:txBody>
      </p:sp>
      <p:sp>
        <p:nvSpPr>
          <p:cNvPr id="10" name="Shape 8"/>
          <p:cNvSpPr/>
          <p:nvPr/>
        </p:nvSpPr>
        <p:spPr>
          <a:xfrm rot="420000">
            <a:off x="784921" y="2176272"/>
            <a:ext cx="238110" cy="1573225"/>
          </a:xfrm>
          <a:prstGeom prst="roundRect">
            <a:avLst>
              <a:gd name="adj" fmla="val 45000"/>
            </a:avLst>
          </a:prstGeom>
          <a:solidFill>
            <a:srgbClr val="F6DDC8"/>
          </a:solidFill>
          <a:ln w="31750">
            <a:solidFill>
              <a:srgbClr val="B98E6E"/>
            </a:solidFill>
            <a:prstDash val="solid"/>
          </a:ln>
        </p:spPr>
      </p:sp>
      <p:sp>
        <p:nvSpPr>
          <p:cNvPr id="11" name="Shape 9"/>
          <p:cNvSpPr/>
          <p:nvPr/>
        </p:nvSpPr>
        <p:spPr>
          <a:xfrm rot="-420000">
            <a:off x="2451689" y="2176272"/>
            <a:ext cx="238110" cy="1573225"/>
          </a:xfrm>
          <a:prstGeom prst="roundRect">
            <a:avLst>
              <a:gd name="adj" fmla="val 45000"/>
            </a:avLst>
          </a:prstGeom>
          <a:solidFill>
            <a:srgbClr val="F6DDC8"/>
          </a:solidFill>
          <a:ln w="31750">
            <a:solidFill>
              <a:srgbClr val="B98E6E"/>
            </a:solidFill>
            <a:prstDash val="solid"/>
          </a:ln>
        </p:spPr>
      </p:sp>
      <p:sp>
        <p:nvSpPr>
          <p:cNvPr id="12" name="Shape 10"/>
          <p:cNvSpPr/>
          <p:nvPr/>
        </p:nvSpPr>
        <p:spPr>
          <a:xfrm>
            <a:off x="1193109" y="3536899"/>
            <a:ext cx="459212" cy="1658264"/>
          </a:xfrm>
          <a:prstGeom prst="roundRect">
            <a:avLst>
              <a:gd name="adj" fmla="val 45000"/>
            </a:avLst>
          </a:prstGeom>
          <a:solidFill>
            <a:srgbClr val="F6DDC8"/>
          </a:solidFill>
          <a:ln w="31750">
            <a:solidFill>
              <a:srgbClr val="B98E6E"/>
            </a:solidFill>
            <a:prstDash val="solid"/>
          </a:ln>
        </p:spPr>
      </p:sp>
      <p:sp>
        <p:nvSpPr>
          <p:cNvPr id="13" name="Shape 11"/>
          <p:cNvSpPr/>
          <p:nvPr/>
        </p:nvSpPr>
        <p:spPr>
          <a:xfrm>
            <a:off x="1822399" y="3536899"/>
            <a:ext cx="459212" cy="1658264"/>
          </a:xfrm>
          <a:prstGeom prst="roundRect">
            <a:avLst>
              <a:gd name="adj" fmla="val 45000"/>
            </a:avLst>
          </a:prstGeom>
          <a:solidFill>
            <a:srgbClr val="F6DDC8"/>
          </a:solidFill>
          <a:ln w="31750">
            <a:solidFill>
              <a:srgbClr val="B98E6E"/>
            </a:solidFill>
            <a:prstDash val="solid"/>
          </a:ln>
        </p:spPr>
      </p:sp>
      <p:sp>
        <p:nvSpPr>
          <p:cNvPr id="14" name="Shape 12"/>
          <p:cNvSpPr/>
          <p:nvPr/>
        </p:nvSpPr>
        <p:spPr>
          <a:xfrm>
            <a:off x="1057046" y="2108241"/>
            <a:ext cx="1360627" cy="1700784"/>
          </a:xfrm>
          <a:prstGeom prst="roundRect">
            <a:avLst>
              <a:gd name="adj" fmla="val 45000"/>
            </a:avLst>
          </a:prstGeom>
          <a:solidFill>
            <a:srgbClr val="F6DDC8"/>
          </a:solidFill>
          <a:ln w="31750">
            <a:solidFill>
              <a:srgbClr val="B98E6E"/>
            </a:solidFill>
            <a:prstDash val="solid"/>
          </a:ln>
        </p:spPr>
      </p:sp>
      <p:sp>
        <p:nvSpPr>
          <p:cNvPr id="15" name="Shape 13"/>
          <p:cNvSpPr/>
          <p:nvPr/>
        </p:nvSpPr>
        <p:spPr>
          <a:xfrm>
            <a:off x="1626809" y="1921154"/>
            <a:ext cx="221102" cy="255118"/>
          </a:xfrm>
          <a:prstGeom prst="rect">
            <a:avLst/>
          </a:prstGeom>
          <a:solidFill>
            <a:srgbClr val="F6DDC8"/>
          </a:solidFill>
          <a:ln w="31750">
            <a:solidFill>
              <a:srgbClr val="B98E6E"/>
            </a:solidFill>
            <a:prstDash val="solid"/>
          </a:ln>
        </p:spPr>
      </p:sp>
      <p:sp>
        <p:nvSpPr>
          <p:cNvPr id="16" name="Shape 14"/>
          <p:cNvSpPr/>
          <p:nvPr/>
        </p:nvSpPr>
        <p:spPr>
          <a:xfrm>
            <a:off x="1456731" y="1325880"/>
            <a:ext cx="561259" cy="680314"/>
          </a:xfrm>
          <a:prstGeom prst="ellipse">
            <a:avLst/>
          </a:prstGeom>
          <a:solidFill>
            <a:srgbClr val="F6DDC8"/>
          </a:solidFill>
          <a:ln w="31750">
            <a:solidFill>
              <a:srgbClr val="B98E6E"/>
            </a:solidFill>
            <a:prstDash val="solid"/>
          </a:ln>
        </p:spPr>
      </p:sp>
      <p:sp>
        <p:nvSpPr>
          <p:cNvPr id="17" name="Shape 15"/>
          <p:cNvSpPr/>
          <p:nvPr/>
        </p:nvSpPr>
        <p:spPr>
          <a:xfrm rot="420000">
            <a:off x="784921" y="2176272"/>
            <a:ext cx="238110" cy="1573225"/>
          </a:xfrm>
          <a:prstGeom prst="roundRect">
            <a:avLst>
              <a:gd name="adj" fmla="val 45000"/>
            </a:avLst>
          </a:prstGeom>
          <a:solidFill>
            <a:srgbClr val="F6DDC8"/>
          </a:solidFill>
          <a:ln/>
        </p:spPr>
      </p:sp>
      <p:sp>
        <p:nvSpPr>
          <p:cNvPr id="18" name="Shape 16"/>
          <p:cNvSpPr/>
          <p:nvPr/>
        </p:nvSpPr>
        <p:spPr>
          <a:xfrm rot="-420000">
            <a:off x="2451689" y="2176272"/>
            <a:ext cx="238110" cy="1573225"/>
          </a:xfrm>
          <a:prstGeom prst="roundRect">
            <a:avLst>
              <a:gd name="adj" fmla="val 45000"/>
            </a:avLst>
          </a:prstGeom>
          <a:solidFill>
            <a:srgbClr val="F6DDC8"/>
          </a:solidFill>
          <a:ln/>
        </p:spPr>
      </p:sp>
      <p:sp>
        <p:nvSpPr>
          <p:cNvPr id="19" name="Shape 17"/>
          <p:cNvSpPr/>
          <p:nvPr/>
        </p:nvSpPr>
        <p:spPr>
          <a:xfrm>
            <a:off x="1193109" y="3536899"/>
            <a:ext cx="459212" cy="1658264"/>
          </a:xfrm>
          <a:prstGeom prst="roundRect">
            <a:avLst>
              <a:gd name="adj" fmla="val 45000"/>
            </a:avLst>
          </a:prstGeom>
          <a:solidFill>
            <a:srgbClr val="F6DDC8"/>
          </a:solidFill>
          <a:ln/>
        </p:spPr>
      </p:sp>
      <p:sp>
        <p:nvSpPr>
          <p:cNvPr id="20" name="Shape 18"/>
          <p:cNvSpPr/>
          <p:nvPr/>
        </p:nvSpPr>
        <p:spPr>
          <a:xfrm>
            <a:off x="1822399" y="3536899"/>
            <a:ext cx="459212" cy="1658264"/>
          </a:xfrm>
          <a:prstGeom prst="roundRect">
            <a:avLst>
              <a:gd name="adj" fmla="val 45000"/>
            </a:avLst>
          </a:prstGeom>
          <a:solidFill>
            <a:srgbClr val="F6DDC8"/>
          </a:solidFill>
          <a:ln/>
        </p:spPr>
      </p:sp>
      <p:sp>
        <p:nvSpPr>
          <p:cNvPr id="21" name="Shape 19"/>
          <p:cNvSpPr/>
          <p:nvPr/>
        </p:nvSpPr>
        <p:spPr>
          <a:xfrm>
            <a:off x="1057046" y="2108241"/>
            <a:ext cx="1360627" cy="1700784"/>
          </a:xfrm>
          <a:prstGeom prst="roundRect">
            <a:avLst>
              <a:gd name="adj" fmla="val 45000"/>
            </a:avLst>
          </a:prstGeom>
          <a:solidFill>
            <a:srgbClr val="F6DDC8"/>
          </a:solidFill>
          <a:ln/>
        </p:spPr>
      </p:sp>
      <p:sp>
        <p:nvSpPr>
          <p:cNvPr id="22" name="Shape 20"/>
          <p:cNvSpPr/>
          <p:nvPr/>
        </p:nvSpPr>
        <p:spPr>
          <a:xfrm>
            <a:off x="1626809" y="1921154"/>
            <a:ext cx="221102" cy="255118"/>
          </a:xfrm>
          <a:prstGeom prst="rect">
            <a:avLst/>
          </a:prstGeom>
          <a:solidFill>
            <a:srgbClr val="F6DDC8"/>
          </a:solidFill>
          <a:ln/>
        </p:spPr>
      </p:sp>
      <p:sp>
        <p:nvSpPr>
          <p:cNvPr id="23" name="Shape 21"/>
          <p:cNvSpPr/>
          <p:nvPr/>
        </p:nvSpPr>
        <p:spPr>
          <a:xfrm>
            <a:off x="1456731" y="1325880"/>
            <a:ext cx="561259" cy="680314"/>
          </a:xfrm>
          <a:prstGeom prst="ellipse">
            <a:avLst/>
          </a:prstGeom>
          <a:solidFill>
            <a:srgbClr val="F6DDC8"/>
          </a:solidFill>
          <a:ln/>
        </p:spPr>
      </p:sp>
      <p:sp>
        <p:nvSpPr>
          <p:cNvPr id="24" name="Shape 22"/>
          <p:cNvSpPr/>
          <p:nvPr/>
        </p:nvSpPr>
        <p:spPr>
          <a:xfrm>
            <a:off x="1737360" y="3834536"/>
            <a:ext cx="91" cy="1318108"/>
          </a:xfrm>
          <a:prstGeom prst="line">
            <a:avLst/>
          </a:prstGeom>
          <a:noFill/>
          <a:ln w="15875">
            <a:solidFill>
              <a:srgbClr val="B98E6E"/>
            </a:solidFill>
            <a:prstDash val="solid"/>
          </a:ln>
        </p:spPr>
      </p:sp>
      <p:sp>
        <p:nvSpPr>
          <p:cNvPr id="25" name="Shape 23"/>
          <p:cNvSpPr/>
          <p:nvPr/>
        </p:nvSpPr>
        <p:spPr>
          <a:xfrm>
            <a:off x="1516258" y="1427927"/>
            <a:ext cx="442204" cy="306141"/>
          </a:xfrm>
          <a:prstGeom prst="ellipse">
            <a:avLst/>
          </a:prstGeom>
          <a:solidFill>
            <a:srgbClr val="F4C7D0"/>
          </a:solidFill>
          <a:ln w="9525">
            <a:solidFill>
              <a:srgbClr val="C98393"/>
            </a:solidFill>
            <a:prstDash val="solid"/>
          </a:ln>
        </p:spPr>
      </p:sp>
      <p:sp>
        <p:nvSpPr>
          <p:cNvPr id="26" name="Shape 24"/>
          <p:cNvSpPr/>
          <p:nvPr/>
        </p:nvSpPr>
        <p:spPr>
          <a:xfrm>
            <a:off x="1690588" y="1729816"/>
            <a:ext cx="93543" cy="93543"/>
          </a:xfrm>
          <a:prstGeom prst="ellipse">
            <a:avLst/>
          </a:prstGeom>
          <a:solidFill>
            <a:srgbClr val="C8414C"/>
          </a:solidFill>
          <a:ln w="12700">
            <a:solidFill>
              <a:srgbClr val="8E2A33"/>
            </a:solidFill>
            <a:prstDash val="solid"/>
          </a:ln>
        </p:spPr>
      </p:sp>
      <p:sp>
        <p:nvSpPr>
          <p:cNvPr id="27" name="Shape 25"/>
          <p:cNvSpPr/>
          <p:nvPr/>
        </p:nvSpPr>
        <p:spPr>
          <a:xfrm>
            <a:off x="1014527" y="2883560"/>
            <a:ext cx="1445666" cy="201168"/>
          </a:xfrm>
          <a:prstGeom prst="ellipse">
            <a:avLst/>
          </a:prstGeom>
          <a:ln w="25400">
            <a:solidFill>
              <a:srgbClr val="B8730A"/>
            </a:solidFill>
            <a:prstDash val="dash"/>
          </a:ln>
        </p:spPr>
      </p:sp>
      <p:sp>
        <p:nvSpPr>
          <p:cNvPr id="28" name="Shape 26"/>
          <p:cNvSpPr/>
          <p:nvPr/>
        </p:nvSpPr>
        <p:spPr>
          <a:xfrm>
            <a:off x="950747" y="3384652"/>
            <a:ext cx="1573225" cy="219456"/>
          </a:xfrm>
          <a:prstGeom prst="ellipse">
            <a:avLst/>
          </a:prstGeom>
          <a:ln w="25400">
            <a:solidFill>
              <a:srgbClr val="2A7448"/>
            </a:solidFill>
            <a:prstDash val="dash"/>
          </a:ln>
        </p:spPr>
      </p:sp>
      <p:sp>
        <p:nvSpPr>
          <p:cNvPr id="29" name="Text 27"/>
          <p:cNvSpPr/>
          <p:nvPr/>
        </p:nvSpPr>
        <p:spPr>
          <a:xfrm>
            <a:off x="2514600" y="2846984"/>
            <a:ext cx="822960" cy="256032"/>
          </a:xfrm>
          <a:prstGeom prst="rect">
            <a:avLst/>
          </a:prstGeom>
          <a:noFill/>
          <a:ln/>
        </p:spPr>
        <p:txBody>
          <a:bodyPr wrap="square" lIns="0" tIns="0" rIns="0" bIns="0" rtlCol="0" anchor="ctr"/>
          <a:lstStyle/>
          <a:p>
            <a:pPr algn="l" indent="0" marL="0">
              <a:buNone/>
            </a:pPr>
            <a:r>
              <a:rPr lang="en-US" sz="1100" b="1" dirty="0">
                <a:solidFill>
                  <a:srgbClr val="B8730A"/>
                </a:solidFill>
                <a:latin typeface="Calibri" pitchFamily="34" charset="0"/>
                <a:ea typeface="Calibri" pitchFamily="34" charset="-122"/>
                <a:cs typeface="Calibri" pitchFamily="34" charset="-120"/>
              </a:rPr>
              <a:t>waist</a:t>
            </a:r>
            <a:endParaRPr lang="en-US" sz="1100" dirty="0"/>
          </a:p>
        </p:txBody>
      </p:sp>
      <p:sp>
        <p:nvSpPr>
          <p:cNvPr id="30" name="Text 28"/>
          <p:cNvSpPr/>
          <p:nvPr/>
        </p:nvSpPr>
        <p:spPr>
          <a:xfrm>
            <a:off x="2578608" y="3357220"/>
            <a:ext cx="822960" cy="256032"/>
          </a:xfrm>
          <a:prstGeom prst="rect">
            <a:avLst/>
          </a:prstGeom>
          <a:noFill/>
          <a:ln/>
        </p:spPr>
        <p:txBody>
          <a:bodyPr wrap="square" lIns="0" tIns="0" rIns="0" bIns="0" rtlCol="0" anchor="ctr"/>
          <a:lstStyle/>
          <a:p>
            <a:pPr algn="l" indent="0" marL="0">
              <a:buNone/>
            </a:pPr>
            <a:r>
              <a:rPr lang="en-US" sz="1100" b="1" dirty="0">
                <a:solidFill>
                  <a:srgbClr val="2A7448"/>
                </a:solidFill>
                <a:latin typeface="Calibri" pitchFamily="34" charset="0"/>
                <a:ea typeface="Calibri" pitchFamily="34" charset="-122"/>
                <a:cs typeface="Calibri" pitchFamily="34" charset="-120"/>
              </a:rPr>
              <a:t>hips</a:t>
            </a:r>
            <a:endParaRPr lang="en-US" sz="1100" dirty="0"/>
          </a:p>
        </p:txBody>
      </p:sp>
      <p:sp>
        <p:nvSpPr>
          <p:cNvPr id="31" name="Shape 29"/>
          <p:cNvSpPr/>
          <p:nvPr/>
        </p:nvSpPr>
        <p:spPr>
          <a:xfrm>
            <a:off x="3429000" y="4648200"/>
            <a:ext cx="502920" cy="426720"/>
          </a:xfrm>
          <a:prstGeom prst="rect">
            <a:avLst/>
          </a:prstGeom>
          <a:solidFill>
            <a:srgbClr val="7FA9E0"/>
          </a:solidFill>
          <a:ln w="9525">
            <a:solidFill>
              <a:srgbClr val="FFFFFF"/>
            </a:solidFill>
            <a:prstDash val="solid"/>
          </a:ln>
        </p:spPr>
      </p:sp>
      <p:sp>
        <p:nvSpPr>
          <p:cNvPr id="32" name="Text 30"/>
          <p:cNvSpPr/>
          <p:nvPr/>
        </p:nvSpPr>
        <p:spPr>
          <a:xfrm>
            <a:off x="4005072" y="4733544"/>
            <a:ext cx="128016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underweight</a:t>
            </a:r>
            <a:endParaRPr lang="en-US" sz="1000" dirty="0"/>
          </a:p>
        </p:txBody>
      </p:sp>
      <p:sp>
        <p:nvSpPr>
          <p:cNvPr id="33" name="Shape 31"/>
          <p:cNvSpPr/>
          <p:nvPr/>
        </p:nvSpPr>
        <p:spPr>
          <a:xfrm>
            <a:off x="3429000" y="3855720"/>
            <a:ext cx="502920" cy="792480"/>
          </a:xfrm>
          <a:prstGeom prst="rect">
            <a:avLst/>
          </a:prstGeom>
          <a:solidFill>
            <a:srgbClr val="7BC596"/>
          </a:solidFill>
          <a:ln w="9525">
            <a:solidFill>
              <a:srgbClr val="FFFFFF"/>
            </a:solidFill>
            <a:prstDash val="solid"/>
          </a:ln>
        </p:spPr>
      </p:sp>
      <p:sp>
        <p:nvSpPr>
          <p:cNvPr id="34" name="Text 32"/>
          <p:cNvSpPr/>
          <p:nvPr/>
        </p:nvSpPr>
        <p:spPr>
          <a:xfrm>
            <a:off x="4005072" y="4123944"/>
            <a:ext cx="128016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healthy</a:t>
            </a:r>
            <a:endParaRPr lang="en-US" sz="1000" dirty="0"/>
          </a:p>
        </p:txBody>
      </p:sp>
      <p:sp>
        <p:nvSpPr>
          <p:cNvPr id="35" name="Shape 33"/>
          <p:cNvSpPr/>
          <p:nvPr/>
        </p:nvSpPr>
        <p:spPr>
          <a:xfrm>
            <a:off x="3429000" y="3246120"/>
            <a:ext cx="502920" cy="609600"/>
          </a:xfrm>
          <a:prstGeom prst="rect">
            <a:avLst/>
          </a:prstGeom>
          <a:solidFill>
            <a:srgbClr val="F5C342"/>
          </a:solidFill>
          <a:ln w="9525">
            <a:solidFill>
              <a:srgbClr val="FFFFFF"/>
            </a:solidFill>
            <a:prstDash val="solid"/>
          </a:ln>
        </p:spPr>
      </p:sp>
      <p:sp>
        <p:nvSpPr>
          <p:cNvPr id="36" name="Text 34"/>
          <p:cNvSpPr/>
          <p:nvPr/>
        </p:nvSpPr>
        <p:spPr>
          <a:xfrm>
            <a:off x="4005072" y="3422904"/>
            <a:ext cx="128016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overweight</a:t>
            </a:r>
            <a:endParaRPr lang="en-US" sz="1000" dirty="0"/>
          </a:p>
        </p:txBody>
      </p:sp>
      <p:sp>
        <p:nvSpPr>
          <p:cNvPr id="37" name="Shape 35"/>
          <p:cNvSpPr/>
          <p:nvPr/>
        </p:nvSpPr>
        <p:spPr>
          <a:xfrm>
            <a:off x="3429000" y="2026920"/>
            <a:ext cx="502920" cy="1219200"/>
          </a:xfrm>
          <a:prstGeom prst="rect">
            <a:avLst/>
          </a:prstGeom>
          <a:solidFill>
            <a:srgbClr val="F08A4B"/>
          </a:solidFill>
          <a:ln w="9525">
            <a:solidFill>
              <a:srgbClr val="FFFFFF"/>
            </a:solidFill>
            <a:prstDash val="solid"/>
          </a:ln>
        </p:spPr>
      </p:sp>
      <p:sp>
        <p:nvSpPr>
          <p:cNvPr id="38" name="Text 36"/>
          <p:cNvSpPr/>
          <p:nvPr/>
        </p:nvSpPr>
        <p:spPr>
          <a:xfrm>
            <a:off x="4005072" y="2508504"/>
            <a:ext cx="128016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obese</a:t>
            </a:r>
            <a:endParaRPr lang="en-US" sz="1000" dirty="0"/>
          </a:p>
        </p:txBody>
      </p:sp>
      <p:sp>
        <p:nvSpPr>
          <p:cNvPr id="39" name="Shape 37"/>
          <p:cNvSpPr/>
          <p:nvPr/>
        </p:nvSpPr>
        <p:spPr>
          <a:xfrm>
            <a:off x="3429000" y="1417320"/>
            <a:ext cx="502920" cy="609600"/>
          </a:xfrm>
          <a:prstGeom prst="rect">
            <a:avLst/>
          </a:prstGeom>
          <a:solidFill>
            <a:srgbClr val="C8414C"/>
          </a:solidFill>
          <a:ln w="9525">
            <a:solidFill>
              <a:srgbClr val="FFFFFF"/>
            </a:solidFill>
            <a:prstDash val="solid"/>
          </a:ln>
        </p:spPr>
      </p:sp>
      <p:sp>
        <p:nvSpPr>
          <p:cNvPr id="40" name="Text 38"/>
          <p:cNvSpPr/>
          <p:nvPr/>
        </p:nvSpPr>
        <p:spPr>
          <a:xfrm>
            <a:off x="4005072" y="1594104"/>
            <a:ext cx="128016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severely obese</a:t>
            </a:r>
            <a:endParaRPr lang="en-US" sz="1000" dirty="0"/>
          </a:p>
        </p:txBody>
      </p:sp>
      <p:sp>
        <p:nvSpPr>
          <p:cNvPr id="41" name="Text 39"/>
          <p:cNvSpPr/>
          <p:nvPr/>
        </p:nvSpPr>
        <p:spPr>
          <a:xfrm>
            <a:off x="2971800" y="4556760"/>
            <a:ext cx="41148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18.5</a:t>
            </a:r>
            <a:endParaRPr lang="en-US" sz="1000" dirty="0"/>
          </a:p>
        </p:txBody>
      </p:sp>
      <p:sp>
        <p:nvSpPr>
          <p:cNvPr id="42" name="Text 40"/>
          <p:cNvSpPr/>
          <p:nvPr/>
        </p:nvSpPr>
        <p:spPr>
          <a:xfrm>
            <a:off x="2971800" y="3764280"/>
            <a:ext cx="41148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43" name="Text 41"/>
          <p:cNvSpPr/>
          <p:nvPr/>
        </p:nvSpPr>
        <p:spPr>
          <a:xfrm>
            <a:off x="2971800" y="3154680"/>
            <a:ext cx="41148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4" name="Text 42"/>
          <p:cNvSpPr/>
          <p:nvPr/>
        </p:nvSpPr>
        <p:spPr>
          <a:xfrm>
            <a:off x="2971800" y="1935480"/>
            <a:ext cx="41148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45" name="Text 43"/>
          <p:cNvSpPr/>
          <p:nvPr/>
        </p:nvSpPr>
        <p:spPr>
          <a:xfrm>
            <a:off x="3063240" y="1143000"/>
            <a:ext cx="1280160" cy="256032"/>
          </a:xfrm>
          <a:prstGeom prst="rect">
            <a:avLst/>
          </a:prstGeom>
          <a:noFill/>
          <a:ln/>
        </p:spPr>
        <p:txBody>
          <a:bodyPr wrap="square" lIns="0" tIns="0" rIns="0" bIns="0" rtlCol="0" anchor="ctr"/>
          <a:lstStyle/>
          <a:p>
            <a:pPr algn="ctr" indent="0" marL="0">
              <a:buNone/>
            </a:pPr>
            <a:r>
              <a:rPr lang="en-US" sz="1100" b="1" dirty="0">
                <a:solidFill>
                  <a:srgbClr val="1C3A2C"/>
                </a:solidFill>
                <a:latin typeface="Calibri" pitchFamily="34" charset="0"/>
                <a:ea typeface="Calibri" pitchFamily="34" charset="-122"/>
                <a:cs typeface="Calibri" pitchFamily="34" charset="-120"/>
              </a:rPr>
              <a:t>BMI</a:t>
            </a:r>
            <a:endParaRPr lang="en-US" sz="1100" dirty="0"/>
          </a:p>
        </p:txBody>
      </p:sp>
      <p:sp>
        <p:nvSpPr>
          <p:cNvPr id="46" name="Shape 44"/>
          <p:cNvSpPr/>
          <p:nvPr/>
        </p:nvSpPr>
        <p:spPr>
          <a:xfrm>
            <a:off x="3383280" y="3121712"/>
            <a:ext cx="594360" cy="91"/>
          </a:xfrm>
          <a:prstGeom prst="line">
            <a:avLst/>
          </a:prstGeom>
          <a:noFill/>
          <a:ln w="31750">
            <a:solidFill>
              <a:srgbClr val="1C3A2C"/>
            </a:solidFill>
            <a:prstDash val="solid"/>
          </a:ln>
        </p:spPr>
      </p:sp>
      <p:sp>
        <p:nvSpPr>
          <p:cNvPr id="47" name="Text 45"/>
          <p:cNvSpPr/>
          <p:nvPr/>
        </p:nvSpPr>
        <p:spPr>
          <a:xfrm>
            <a:off x="4005072" y="3103424"/>
            <a:ext cx="1280160" cy="256032"/>
          </a:xfrm>
          <a:prstGeom prst="rect">
            <a:avLst/>
          </a:prstGeom>
          <a:noFill/>
          <a:ln/>
        </p:spPr>
        <p:txBody>
          <a:bodyPr wrap="square" lIns="0" tIns="0" rIns="0" bIns="0" rtlCol="0" anchor="ctr"/>
          <a:lstStyle/>
          <a:p>
            <a:pPr algn="l" indent="0" marL="0">
              <a:buNone/>
            </a:pPr>
            <a:r>
              <a:rPr lang="en-US" sz="1050" b="1" dirty="0">
                <a:solidFill>
                  <a:srgbClr val="1C3A2C"/>
                </a:solidFill>
                <a:latin typeface="Calibri" pitchFamily="34" charset="0"/>
                <a:ea typeface="Calibri" pitchFamily="34" charset="-122"/>
                <a:cs typeface="Calibri" pitchFamily="34" charset="-120"/>
              </a:rPr>
              <a:t>← 31</a:t>
            </a:r>
            <a:endParaRPr lang="en-US" sz="1050" dirty="0"/>
          </a:p>
        </p:txBody>
      </p:sp>
      <p:sp>
        <p:nvSpPr>
          <p:cNvPr id="48" name="Shape 46"/>
          <p:cNvSpPr/>
          <p:nvPr/>
        </p:nvSpPr>
        <p:spPr>
          <a:xfrm>
            <a:off x="6217920" y="1188720"/>
            <a:ext cx="5562295" cy="2423160"/>
          </a:xfrm>
          <a:prstGeom prst="roundRect">
            <a:avLst>
              <a:gd name="adj" fmla="val 2264"/>
            </a:avLst>
          </a:prstGeom>
          <a:solidFill>
            <a:srgbClr val="F5FBF7"/>
          </a:solidFill>
          <a:ln w="9525">
            <a:solidFill>
              <a:srgbClr val="D2E5D8"/>
            </a:solidFill>
            <a:prstDash val="solid"/>
          </a:ln>
        </p:spPr>
      </p:sp>
      <p:sp>
        <p:nvSpPr>
          <p:cNvPr id="49" name="Text 4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The two equations</a:t>
            </a:r>
            <a:endParaRPr lang="en-US" sz="1300" dirty="0"/>
          </a:p>
        </p:txBody>
      </p:sp>
      <p:sp>
        <p:nvSpPr>
          <p:cNvPr id="50" name="Text 48"/>
          <p:cNvSpPr/>
          <p:nvPr/>
        </p:nvSpPr>
        <p:spPr>
          <a:xfrm>
            <a:off x="6382512" y="1609344"/>
            <a:ext cx="5233111" cy="1929384"/>
          </a:xfrm>
          <a:prstGeom prst="rect">
            <a:avLst/>
          </a:prstGeom>
          <a:noFill/>
          <a:ln/>
        </p:spPr>
        <p:txBody>
          <a:bodyPr wrap="square" lIns="0" tIns="0" rIns="0" bIns="0" rtlCol="0" anchor="t"/>
          <a:lstStyle/>
          <a:p>
            <a:pPr indent="0" marL="0">
              <a:spcAft>
                <a:spcPts val="300"/>
              </a:spcAft>
              <a:buNone/>
            </a:pPr>
            <a:r>
              <a:rPr lang="en-US" sz="1100" b="1" dirty="0">
                <a:solidFill>
                  <a:srgbClr val="2A7448"/>
                </a:solidFill>
                <a:latin typeface="Calibri" pitchFamily="34" charset="0"/>
                <a:ea typeface="Calibri" pitchFamily="34" charset="-122"/>
                <a:cs typeface="Calibri" pitchFamily="34" charset="-120"/>
              </a:rPr>
              <a:t>BMI = mass (kg) ÷ (height (m))²</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Healthy BMI is 18.5–24.9; </a:t>
            </a:r>
            <a:r>
              <a:rPr lang="en-US" sz="1100" b="1" dirty="0">
                <a:solidFill>
                  <a:srgbClr val="262B3A"/>
                </a:solidFill>
                <a:latin typeface="Calibri" pitchFamily="34" charset="0"/>
                <a:ea typeface="Calibri" pitchFamily="34" charset="-122"/>
                <a:cs typeface="Calibri" pitchFamily="34" charset="-120"/>
              </a:rPr>
              <a:t>30 or more = obese</a:t>
            </a:r>
            <a:r>
              <a:rPr lang="en-US" sz="1100" dirty="0">
                <a:solidFill>
                  <a:srgbClr val="262B3A"/>
                </a:solidFill>
                <a:latin typeface="Calibri" pitchFamily="34" charset="0"/>
                <a:ea typeface="Calibri" pitchFamily="34" charset="-122"/>
                <a:cs typeface="Calibri" pitchFamily="34" charset="-120"/>
              </a:rPr>
              <a:t>. BMI does not show </a:t>
            </a:r>
            <a:r>
              <a:rPr lang="en-US" sz="1100" b="1" dirty="0">
                <a:solidFill>
                  <a:srgbClr val="262B3A"/>
                </a:solidFill>
                <a:latin typeface="Calibri" pitchFamily="34" charset="0"/>
                <a:ea typeface="Calibri" pitchFamily="34" charset="-122"/>
                <a:cs typeface="Calibri" pitchFamily="34" charset="-120"/>
              </a:rPr>
              <a:t>where</a:t>
            </a:r>
            <a:r>
              <a:rPr lang="en-US" sz="1100" dirty="0">
                <a:solidFill>
                  <a:srgbClr val="262B3A"/>
                </a:solidFill>
                <a:latin typeface="Calibri" pitchFamily="34" charset="0"/>
                <a:ea typeface="Calibri" pitchFamily="34" charset="-122"/>
                <a:cs typeface="Calibri" pitchFamily="34" charset="-120"/>
              </a:rPr>
              <a:t> fat is, and counts muscle as "weight".</a:t>
            </a:r>
            <a:endParaRPr lang="en-US" sz="1100" dirty="0"/>
          </a:p>
          <a:p>
            <a:pPr indent="0" marL="0">
              <a:spcAft>
                <a:spcPts val="300"/>
              </a:spcAft>
              <a:buNone/>
            </a:pPr>
            <a:r>
              <a:rPr lang="en-US" sz="1100" b="1" dirty="0">
                <a:solidFill>
                  <a:srgbClr val="2A7448"/>
                </a:solidFill>
                <a:latin typeface="Calibri" pitchFamily="34" charset="0"/>
                <a:ea typeface="Calibri" pitchFamily="34" charset="-122"/>
                <a:cs typeface="Calibri" pitchFamily="34" charset="-120"/>
              </a:rPr>
              <a:t>waist:hip ratio = waist ÷ hip</a:t>
            </a:r>
            <a:r>
              <a:rPr lang="en-US" sz="1100" dirty="0">
                <a:solidFill>
                  <a:srgbClr val="262B3A"/>
                </a:solidFill>
                <a:latin typeface="Calibri" pitchFamily="34" charset="0"/>
                <a:ea typeface="Calibri" pitchFamily="34" charset="-122"/>
                <a:cs typeface="Calibri" pitchFamily="34" charset="-120"/>
              </a:rPr>
              <a:t> (same units)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high ratio means fat stored round the </a:t>
            </a:r>
            <a:r>
              <a:rPr lang="en-US" sz="1100" b="1" dirty="0">
                <a:solidFill>
                  <a:srgbClr val="262B3A"/>
                </a:solidFill>
                <a:latin typeface="Calibri" pitchFamily="34" charset="0"/>
                <a:ea typeface="Calibri" pitchFamily="34" charset="-122"/>
                <a:cs typeface="Calibri" pitchFamily="34" charset="-120"/>
              </a:rPr>
              <a:t>abdomen</a:t>
            </a:r>
            <a:r>
              <a:rPr lang="en-US" sz="1100" dirty="0">
                <a:solidFill>
                  <a:srgbClr val="262B3A"/>
                </a:solidFill>
                <a:latin typeface="Calibri" pitchFamily="34" charset="0"/>
                <a:ea typeface="Calibri" pitchFamily="34" charset="-122"/>
                <a:cs typeface="Calibri" pitchFamily="34" charset="-120"/>
              </a:rPr>
              <a:t>; higher risk above about </a:t>
            </a:r>
            <a:r>
              <a:rPr lang="en-US" sz="1100" b="1" dirty="0">
                <a:solidFill>
                  <a:srgbClr val="262B3A"/>
                </a:solidFill>
                <a:latin typeface="Calibri" pitchFamily="34" charset="0"/>
                <a:ea typeface="Calibri" pitchFamily="34" charset="-122"/>
                <a:cs typeface="Calibri" pitchFamily="34" charset="-120"/>
              </a:rPr>
              <a:t>1.0 for men</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0.85 for women</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51" name="Shape 4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2" name="Text 5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3" name="Text 51"/>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man has mass 95 kg, height 1.75 m, waist 102 cm and hips 98 cm.</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1 BMI   </a:t>
            </a:r>
            <a:r>
              <a:rPr lang="en-US" sz="1100" dirty="0">
                <a:solidFill>
                  <a:srgbClr val="262B3A"/>
                </a:solidFill>
                <a:latin typeface="Calibri" pitchFamily="34" charset="0"/>
                <a:ea typeface="Calibri" pitchFamily="34" charset="-122"/>
                <a:cs typeface="Calibri" pitchFamily="34" charset="-120"/>
              </a:rPr>
              <a:t>95 ÷ 1.75² = 95 ÷ 3.0625 = 31 → obese</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2 Ratio   </a:t>
            </a:r>
            <a:r>
              <a:rPr lang="en-US" sz="1100" dirty="0">
                <a:solidFill>
                  <a:srgbClr val="262B3A"/>
                </a:solidFill>
                <a:latin typeface="Calibri" pitchFamily="34" charset="0"/>
                <a:ea typeface="Calibri" pitchFamily="34" charset="-122"/>
                <a:cs typeface="Calibri" pitchFamily="34" charset="-120"/>
              </a:rPr>
              <a:t>102 ÷ 98 = 1.04</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3 Compare   </a:t>
            </a:r>
            <a:r>
              <a:rPr lang="en-US" sz="1100" dirty="0">
                <a:solidFill>
                  <a:srgbClr val="262B3A"/>
                </a:solidFill>
                <a:latin typeface="Calibri" pitchFamily="34" charset="0"/>
                <a:ea typeface="Calibri" pitchFamily="34" charset="-122"/>
                <a:cs typeface="Calibri" pitchFamily="34" charset="-120"/>
              </a:rPr>
              <a:t>above 1.0 → fat stored round the waist</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both measures show a higher risk of type 2 diabetes</a:t>
            </a:r>
            <a:endParaRPr lang="en-US" sz="1100" dirty="0"/>
          </a:p>
        </p:txBody>
      </p:sp>
      <p:sp>
        <p:nvSpPr>
          <p:cNvPr id="54" name="Shape 52"/>
          <p:cNvSpPr/>
          <p:nvPr/>
        </p:nvSpPr>
        <p:spPr>
          <a:xfrm>
            <a:off x="411480" y="5833872"/>
            <a:ext cx="11368735" cy="530352"/>
          </a:xfrm>
          <a:prstGeom prst="rect">
            <a:avLst/>
          </a:prstGeom>
          <a:solidFill>
            <a:srgbClr val="FFF4E0"/>
          </a:solidFill>
          <a:ln w="6350">
            <a:solidFill>
              <a:srgbClr val="F1D9A8"/>
            </a:solidFill>
            <a:prstDash val="solid"/>
          </a:ln>
        </p:spPr>
      </p:sp>
      <p:sp>
        <p:nvSpPr>
          <p:cNvPr id="55" name="Shape 53"/>
          <p:cNvSpPr/>
          <p:nvPr/>
        </p:nvSpPr>
        <p:spPr>
          <a:xfrm>
            <a:off x="411480" y="5833872"/>
            <a:ext cx="82296" cy="530352"/>
          </a:xfrm>
          <a:prstGeom prst="rect">
            <a:avLst/>
          </a:prstGeom>
          <a:solidFill>
            <a:srgbClr val="E39A2F"/>
          </a:solidFill>
          <a:ln w="12700">
            <a:solidFill>
              <a:srgbClr val="E39A2F"/>
            </a:solidFill>
            <a:prstDash val="solid"/>
          </a:ln>
        </p:spPr>
      </p:sp>
      <p:sp>
        <p:nvSpPr>
          <p:cNvPr id="56" name="Text 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BMI of a woman with mass 68 kg and height 1.70 m. Which category is she in?</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Body mass and type 2 diabetes: evaluating the link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7.17 • evaluate the correlation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7.17  |  27</a:t>
            </a:r>
            <a:endParaRPr lang="en-US" sz="1000" dirty="0"/>
          </a:p>
        </p:txBody>
      </p:sp>
      <p:sp>
        <p:nvSpPr>
          <p:cNvPr id="8" name="Shape 6"/>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illustrative data: % of adults with type 2 diabetes in each BMI group</a:t>
            </a:r>
            <a:endParaRPr lang="en-US" sz="1000" dirty="0"/>
          </a:p>
        </p:txBody>
      </p:sp>
      <p:sp>
        <p:nvSpPr>
          <p:cNvPr id="10" name="Shape 8"/>
          <p:cNvSpPr/>
          <p:nvPr/>
        </p:nvSpPr>
        <p:spPr>
          <a:xfrm>
            <a:off x="1280160" y="1463040"/>
            <a:ext cx="4389120" cy="3154680"/>
          </a:xfrm>
          <a:prstGeom prst="rect">
            <a:avLst/>
          </a:prstGeom>
          <a:solidFill>
            <a:srgbClr val="FFFFFF"/>
          </a:solidFill>
          <a:ln/>
        </p:spPr>
      </p:sp>
      <p:sp>
        <p:nvSpPr>
          <p:cNvPr id="11" name="Shape 9"/>
          <p:cNvSpPr/>
          <p:nvPr/>
        </p:nvSpPr>
        <p:spPr>
          <a:xfrm>
            <a:off x="1280160" y="1463040"/>
            <a:ext cx="91" cy="3154680"/>
          </a:xfrm>
          <a:prstGeom prst="line">
            <a:avLst/>
          </a:prstGeom>
          <a:noFill/>
          <a:ln w="6350">
            <a:solidFill>
              <a:srgbClr val="C8DDCF"/>
            </a:solidFill>
            <a:prstDash val="solid"/>
          </a:ln>
        </p:spPr>
      </p:sp>
      <p:sp>
        <p:nvSpPr>
          <p:cNvPr id="12" name="Shape 10"/>
          <p:cNvSpPr/>
          <p:nvPr/>
        </p:nvSpPr>
        <p:spPr>
          <a:xfrm>
            <a:off x="2377440" y="1463040"/>
            <a:ext cx="91" cy="3154680"/>
          </a:xfrm>
          <a:prstGeom prst="line">
            <a:avLst/>
          </a:prstGeom>
          <a:noFill/>
          <a:ln w="6350">
            <a:solidFill>
              <a:srgbClr val="C8DDCF"/>
            </a:solidFill>
            <a:prstDash val="solid"/>
          </a:ln>
        </p:spPr>
      </p:sp>
      <p:sp>
        <p:nvSpPr>
          <p:cNvPr id="13" name="Shape 11"/>
          <p:cNvSpPr/>
          <p:nvPr/>
        </p:nvSpPr>
        <p:spPr>
          <a:xfrm>
            <a:off x="3474720" y="1463040"/>
            <a:ext cx="91" cy="3154680"/>
          </a:xfrm>
          <a:prstGeom prst="line">
            <a:avLst/>
          </a:prstGeom>
          <a:noFill/>
          <a:ln w="6350">
            <a:solidFill>
              <a:srgbClr val="C8DDCF"/>
            </a:solidFill>
            <a:prstDash val="solid"/>
          </a:ln>
        </p:spPr>
      </p:sp>
      <p:sp>
        <p:nvSpPr>
          <p:cNvPr id="14" name="Shape 12"/>
          <p:cNvSpPr/>
          <p:nvPr/>
        </p:nvSpPr>
        <p:spPr>
          <a:xfrm>
            <a:off x="4572000" y="1463040"/>
            <a:ext cx="91" cy="3154680"/>
          </a:xfrm>
          <a:prstGeom prst="line">
            <a:avLst/>
          </a:prstGeom>
          <a:noFill/>
          <a:ln w="6350">
            <a:solidFill>
              <a:srgbClr val="C8DDCF"/>
            </a:solidFill>
            <a:prstDash val="solid"/>
          </a:ln>
        </p:spPr>
      </p:sp>
      <p:sp>
        <p:nvSpPr>
          <p:cNvPr id="15" name="Shape 13"/>
          <p:cNvSpPr/>
          <p:nvPr/>
        </p:nvSpPr>
        <p:spPr>
          <a:xfrm>
            <a:off x="5669280" y="1463040"/>
            <a:ext cx="91" cy="3154680"/>
          </a:xfrm>
          <a:prstGeom prst="line">
            <a:avLst/>
          </a:prstGeom>
          <a:noFill/>
          <a:ln w="6350">
            <a:solidFill>
              <a:srgbClr val="C8DDCF"/>
            </a:solidFill>
            <a:prstDash val="solid"/>
          </a:ln>
        </p:spPr>
      </p:sp>
      <p:sp>
        <p:nvSpPr>
          <p:cNvPr id="16" name="Shape 14"/>
          <p:cNvSpPr/>
          <p:nvPr/>
        </p:nvSpPr>
        <p:spPr>
          <a:xfrm>
            <a:off x="1280160" y="4617720"/>
            <a:ext cx="4389120" cy="91"/>
          </a:xfrm>
          <a:prstGeom prst="line">
            <a:avLst/>
          </a:prstGeom>
          <a:noFill/>
          <a:ln w="6350">
            <a:solidFill>
              <a:srgbClr val="C8DDCF"/>
            </a:solidFill>
            <a:prstDash val="solid"/>
          </a:ln>
        </p:spPr>
      </p:sp>
      <p:sp>
        <p:nvSpPr>
          <p:cNvPr id="17" name="Shape 15"/>
          <p:cNvSpPr/>
          <p:nvPr/>
        </p:nvSpPr>
        <p:spPr>
          <a:xfrm>
            <a:off x="1280160" y="3986784"/>
            <a:ext cx="4389120" cy="91"/>
          </a:xfrm>
          <a:prstGeom prst="line">
            <a:avLst/>
          </a:prstGeom>
          <a:noFill/>
          <a:ln w="6350">
            <a:solidFill>
              <a:srgbClr val="C8DDCF"/>
            </a:solidFill>
            <a:prstDash val="solid"/>
          </a:ln>
        </p:spPr>
      </p:sp>
      <p:sp>
        <p:nvSpPr>
          <p:cNvPr id="18" name="Shape 16"/>
          <p:cNvSpPr/>
          <p:nvPr/>
        </p:nvSpPr>
        <p:spPr>
          <a:xfrm>
            <a:off x="1280160" y="3355848"/>
            <a:ext cx="4389120" cy="91"/>
          </a:xfrm>
          <a:prstGeom prst="line">
            <a:avLst/>
          </a:prstGeom>
          <a:noFill/>
          <a:ln w="6350">
            <a:solidFill>
              <a:srgbClr val="C8DDCF"/>
            </a:solidFill>
            <a:prstDash val="solid"/>
          </a:ln>
        </p:spPr>
      </p:sp>
      <p:sp>
        <p:nvSpPr>
          <p:cNvPr id="19" name="Shape 17"/>
          <p:cNvSpPr/>
          <p:nvPr/>
        </p:nvSpPr>
        <p:spPr>
          <a:xfrm>
            <a:off x="1280160" y="2724912"/>
            <a:ext cx="4389120" cy="91"/>
          </a:xfrm>
          <a:prstGeom prst="line">
            <a:avLst/>
          </a:prstGeom>
          <a:noFill/>
          <a:ln w="6350">
            <a:solidFill>
              <a:srgbClr val="C8DDCF"/>
            </a:solidFill>
            <a:prstDash val="solid"/>
          </a:ln>
        </p:spPr>
      </p:sp>
      <p:sp>
        <p:nvSpPr>
          <p:cNvPr id="20" name="Shape 18"/>
          <p:cNvSpPr/>
          <p:nvPr/>
        </p:nvSpPr>
        <p:spPr>
          <a:xfrm>
            <a:off x="1280160" y="2093976"/>
            <a:ext cx="4389120" cy="91"/>
          </a:xfrm>
          <a:prstGeom prst="line">
            <a:avLst/>
          </a:prstGeom>
          <a:noFill/>
          <a:ln w="6350">
            <a:solidFill>
              <a:srgbClr val="C8DDCF"/>
            </a:solidFill>
            <a:prstDash val="solid"/>
          </a:ln>
        </p:spPr>
      </p:sp>
      <p:sp>
        <p:nvSpPr>
          <p:cNvPr id="21" name="Shape 19"/>
          <p:cNvSpPr/>
          <p:nvPr/>
        </p:nvSpPr>
        <p:spPr>
          <a:xfrm>
            <a:off x="1280160" y="1463040"/>
            <a:ext cx="4389120" cy="91"/>
          </a:xfrm>
          <a:prstGeom prst="line">
            <a:avLst/>
          </a:prstGeom>
          <a:noFill/>
          <a:ln w="6350">
            <a:solidFill>
              <a:srgbClr val="C8DDCF"/>
            </a:solidFill>
            <a:prstDash val="solid"/>
          </a:ln>
        </p:spPr>
      </p:sp>
      <p:sp>
        <p:nvSpPr>
          <p:cNvPr id="22" name="Shape 20"/>
          <p:cNvSpPr/>
          <p:nvPr/>
        </p:nvSpPr>
        <p:spPr>
          <a:xfrm>
            <a:off x="1280160" y="4617720"/>
            <a:ext cx="4389120" cy="91"/>
          </a:xfrm>
          <a:prstGeom prst="line">
            <a:avLst/>
          </a:prstGeom>
          <a:noFill/>
          <a:ln w="19050">
            <a:solidFill>
              <a:srgbClr val="1C3A2C"/>
            </a:solidFill>
            <a:prstDash val="solid"/>
          </a:ln>
        </p:spPr>
      </p:sp>
      <p:sp>
        <p:nvSpPr>
          <p:cNvPr id="23" name="Shape 21"/>
          <p:cNvSpPr/>
          <p:nvPr/>
        </p:nvSpPr>
        <p:spPr>
          <a:xfrm flipV="1">
            <a:off x="1280160" y="1463040"/>
            <a:ext cx="91" cy="3154680"/>
          </a:xfrm>
          <a:prstGeom prst="line">
            <a:avLst/>
          </a:prstGeom>
          <a:noFill/>
          <a:ln w="19050">
            <a:solidFill>
              <a:srgbClr val="1C3A2C"/>
            </a:solidFill>
            <a:prstDash val="solid"/>
          </a:ln>
        </p:spPr>
      </p:sp>
      <p:sp>
        <p:nvSpPr>
          <p:cNvPr id="24" name="Shape 22"/>
          <p:cNvSpPr/>
          <p:nvPr/>
        </p:nvSpPr>
        <p:spPr>
          <a:xfrm>
            <a:off x="1280160" y="4617720"/>
            <a:ext cx="91" cy="54864"/>
          </a:xfrm>
          <a:prstGeom prst="line">
            <a:avLst/>
          </a:prstGeom>
          <a:noFill/>
          <a:ln w="12700">
            <a:solidFill>
              <a:srgbClr val="1C3A2C"/>
            </a:solidFill>
            <a:prstDash val="solid"/>
          </a:ln>
        </p:spPr>
      </p:sp>
      <p:sp>
        <p:nvSpPr>
          <p:cNvPr id="25" name="Text 23"/>
          <p:cNvSpPr/>
          <p:nvPr/>
        </p:nvSpPr>
        <p:spPr>
          <a:xfrm>
            <a:off x="1005840" y="4672584"/>
            <a:ext cx="548640" cy="182880"/>
          </a:xfrm>
          <a:prstGeom prst="rect">
            <a:avLst/>
          </a:prstGeom>
          <a:noFill/>
          <a:ln/>
        </p:spPr>
        <p:txBody>
          <a:bodyPr wrap="square" lIns="0" tIns="0" rIns="0" bIns="0" rtlCol="0" anchor="ctr"/>
          <a:lstStyle/>
          <a:p>
            <a:pPr algn="ctr" indent="0" marL="0">
              <a:buNone/>
            </a:pPr>
            <a:endParaRPr lang="en-US" sz="1000" dirty="0"/>
          </a:p>
        </p:txBody>
      </p:sp>
      <p:sp>
        <p:nvSpPr>
          <p:cNvPr id="26" name="Shape 24"/>
          <p:cNvSpPr/>
          <p:nvPr/>
        </p:nvSpPr>
        <p:spPr>
          <a:xfrm>
            <a:off x="2377440" y="4617720"/>
            <a:ext cx="91" cy="54864"/>
          </a:xfrm>
          <a:prstGeom prst="line">
            <a:avLst/>
          </a:prstGeom>
          <a:noFill/>
          <a:ln w="12700">
            <a:solidFill>
              <a:srgbClr val="1C3A2C"/>
            </a:solidFill>
            <a:prstDash val="solid"/>
          </a:ln>
        </p:spPr>
      </p:sp>
      <p:sp>
        <p:nvSpPr>
          <p:cNvPr id="27" name="Text 25"/>
          <p:cNvSpPr/>
          <p:nvPr/>
        </p:nvSpPr>
        <p:spPr>
          <a:xfrm>
            <a:off x="2103120" y="4672584"/>
            <a:ext cx="548640" cy="182880"/>
          </a:xfrm>
          <a:prstGeom prst="rect">
            <a:avLst/>
          </a:prstGeom>
          <a:noFill/>
          <a:ln/>
        </p:spPr>
        <p:txBody>
          <a:bodyPr wrap="square" lIns="0" tIns="0" rIns="0" bIns="0" rtlCol="0" anchor="ctr"/>
          <a:lstStyle/>
          <a:p>
            <a:pPr algn="ctr" indent="0" marL="0">
              <a:buNone/>
            </a:pPr>
            <a:endParaRPr lang="en-US" sz="1000" dirty="0"/>
          </a:p>
        </p:txBody>
      </p:sp>
      <p:sp>
        <p:nvSpPr>
          <p:cNvPr id="28" name="Shape 26"/>
          <p:cNvSpPr/>
          <p:nvPr/>
        </p:nvSpPr>
        <p:spPr>
          <a:xfrm>
            <a:off x="3474720" y="4617720"/>
            <a:ext cx="91" cy="54864"/>
          </a:xfrm>
          <a:prstGeom prst="line">
            <a:avLst/>
          </a:prstGeom>
          <a:noFill/>
          <a:ln w="12700">
            <a:solidFill>
              <a:srgbClr val="1C3A2C"/>
            </a:solidFill>
            <a:prstDash val="solid"/>
          </a:ln>
        </p:spPr>
      </p:sp>
      <p:sp>
        <p:nvSpPr>
          <p:cNvPr id="29" name="Text 27"/>
          <p:cNvSpPr/>
          <p:nvPr/>
        </p:nvSpPr>
        <p:spPr>
          <a:xfrm>
            <a:off x="3200400" y="4672584"/>
            <a:ext cx="548640" cy="182880"/>
          </a:xfrm>
          <a:prstGeom prst="rect">
            <a:avLst/>
          </a:prstGeom>
          <a:noFill/>
          <a:ln/>
        </p:spPr>
        <p:txBody>
          <a:bodyPr wrap="square" lIns="0" tIns="0" rIns="0" bIns="0" rtlCol="0" anchor="ctr"/>
          <a:lstStyle/>
          <a:p>
            <a:pPr algn="ctr" indent="0" marL="0">
              <a:buNone/>
            </a:pPr>
            <a:endParaRPr lang="en-US" sz="1000" dirty="0"/>
          </a:p>
        </p:txBody>
      </p:sp>
      <p:sp>
        <p:nvSpPr>
          <p:cNvPr id="30" name="Shape 28"/>
          <p:cNvSpPr/>
          <p:nvPr/>
        </p:nvSpPr>
        <p:spPr>
          <a:xfrm>
            <a:off x="4572000" y="4617720"/>
            <a:ext cx="91" cy="54864"/>
          </a:xfrm>
          <a:prstGeom prst="line">
            <a:avLst/>
          </a:prstGeom>
          <a:noFill/>
          <a:ln w="12700">
            <a:solidFill>
              <a:srgbClr val="1C3A2C"/>
            </a:solidFill>
            <a:prstDash val="solid"/>
          </a:ln>
        </p:spPr>
      </p:sp>
      <p:sp>
        <p:nvSpPr>
          <p:cNvPr id="31" name="Text 29"/>
          <p:cNvSpPr/>
          <p:nvPr/>
        </p:nvSpPr>
        <p:spPr>
          <a:xfrm>
            <a:off x="4297680" y="4672584"/>
            <a:ext cx="548640" cy="182880"/>
          </a:xfrm>
          <a:prstGeom prst="rect">
            <a:avLst/>
          </a:prstGeom>
          <a:noFill/>
          <a:ln/>
        </p:spPr>
        <p:txBody>
          <a:bodyPr wrap="square" lIns="0" tIns="0" rIns="0" bIns="0" rtlCol="0" anchor="ctr"/>
          <a:lstStyle/>
          <a:p>
            <a:pPr algn="ctr" indent="0" marL="0">
              <a:buNone/>
            </a:pPr>
            <a:endParaRPr lang="en-US" sz="1000" dirty="0"/>
          </a:p>
        </p:txBody>
      </p:sp>
      <p:sp>
        <p:nvSpPr>
          <p:cNvPr id="32" name="Shape 30"/>
          <p:cNvSpPr/>
          <p:nvPr/>
        </p:nvSpPr>
        <p:spPr>
          <a:xfrm>
            <a:off x="5669280" y="4617720"/>
            <a:ext cx="91" cy="54864"/>
          </a:xfrm>
          <a:prstGeom prst="line">
            <a:avLst/>
          </a:prstGeom>
          <a:noFill/>
          <a:ln w="12700">
            <a:solidFill>
              <a:srgbClr val="1C3A2C"/>
            </a:solidFill>
            <a:prstDash val="solid"/>
          </a:ln>
        </p:spPr>
      </p:sp>
      <p:sp>
        <p:nvSpPr>
          <p:cNvPr id="33" name="Text 31"/>
          <p:cNvSpPr/>
          <p:nvPr/>
        </p:nvSpPr>
        <p:spPr>
          <a:xfrm>
            <a:off x="5394960" y="4672584"/>
            <a:ext cx="548640" cy="182880"/>
          </a:xfrm>
          <a:prstGeom prst="rect">
            <a:avLst/>
          </a:prstGeom>
          <a:noFill/>
          <a:ln/>
        </p:spPr>
        <p:txBody>
          <a:bodyPr wrap="square" lIns="0" tIns="0" rIns="0" bIns="0" rtlCol="0" anchor="ctr"/>
          <a:lstStyle/>
          <a:p>
            <a:pPr algn="ctr" indent="0" marL="0">
              <a:buNone/>
            </a:pPr>
            <a:endParaRPr lang="en-US" sz="1000" dirty="0"/>
          </a:p>
        </p:txBody>
      </p:sp>
      <p:sp>
        <p:nvSpPr>
          <p:cNvPr id="34" name="Shape 32"/>
          <p:cNvSpPr/>
          <p:nvPr/>
        </p:nvSpPr>
        <p:spPr>
          <a:xfrm>
            <a:off x="1225296" y="4617720"/>
            <a:ext cx="54864" cy="91"/>
          </a:xfrm>
          <a:prstGeom prst="line">
            <a:avLst/>
          </a:prstGeom>
          <a:noFill/>
          <a:ln w="12700">
            <a:solidFill>
              <a:srgbClr val="1C3A2C"/>
            </a:solidFill>
            <a:prstDash val="solid"/>
          </a:ln>
        </p:spPr>
      </p:sp>
      <p:sp>
        <p:nvSpPr>
          <p:cNvPr id="35" name="Text 33"/>
          <p:cNvSpPr/>
          <p:nvPr/>
        </p:nvSpPr>
        <p:spPr>
          <a:xfrm>
            <a:off x="841248" y="4526280"/>
            <a:ext cx="365760" cy="182880"/>
          </a:xfrm>
          <a:prstGeom prst="rect">
            <a:avLst/>
          </a:prstGeom>
          <a:noFill/>
          <a:ln/>
        </p:spPr>
        <p:txBody>
          <a:bodyPr wrap="square" lIns="0" tIns="0" rIns="0" bIns="0" rtlCol="0" anchor="ctr"/>
          <a:lstStyle/>
          <a:p>
            <a:pPr algn="r" indent="0" marL="0">
              <a:buNone/>
            </a:pPr>
            <a:endParaRPr lang="en-US" sz="1000" dirty="0"/>
          </a:p>
        </p:txBody>
      </p:sp>
      <p:sp>
        <p:nvSpPr>
          <p:cNvPr id="36" name="Shape 34"/>
          <p:cNvSpPr/>
          <p:nvPr/>
        </p:nvSpPr>
        <p:spPr>
          <a:xfrm>
            <a:off x="1225296" y="3986784"/>
            <a:ext cx="54864" cy="91"/>
          </a:xfrm>
          <a:prstGeom prst="line">
            <a:avLst/>
          </a:prstGeom>
          <a:noFill/>
          <a:ln w="12700">
            <a:solidFill>
              <a:srgbClr val="1C3A2C"/>
            </a:solidFill>
            <a:prstDash val="solid"/>
          </a:ln>
        </p:spPr>
      </p:sp>
      <p:sp>
        <p:nvSpPr>
          <p:cNvPr id="37" name="Text 35"/>
          <p:cNvSpPr/>
          <p:nvPr/>
        </p:nvSpPr>
        <p:spPr>
          <a:xfrm>
            <a:off x="841248" y="3895344"/>
            <a:ext cx="365760" cy="182880"/>
          </a:xfrm>
          <a:prstGeom prst="rect">
            <a:avLst/>
          </a:prstGeom>
          <a:noFill/>
          <a:ln/>
        </p:spPr>
        <p:txBody>
          <a:bodyPr wrap="square" lIns="0" tIns="0" rIns="0" bIns="0" rtlCol="0" anchor="ctr"/>
          <a:lstStyle/>
          <a:p>
            <a:pPr algn="r" indent="0" marL="0">
              <a:buNone/>
            </a:pPr>
            <a:endParaRPr lang="en-US" sz="1000" dirty="0"/>
          </a:p>
        </p:txBody>
      </p:sp>
      <p:sp>
        <p:nvSpPr>
          <p:cNvPr id="38" name="Shape 36"/>
          <p:cNvSpPr/>
          <p:nvPr/>
        </p:nvSpPr>
        <p:spPr>
          <a:xfrm>
            <a:off x="1225296" y="3355848"/>
            <a:ext cx="54864" cy="91"/>
          </a:xfrm>
          <a:prstGeom prst="line">
            <a:avLst/>
          </a:prstGeom>
          <a:noFill/>
          <a:ln w="12700">
            <a:solidFill>
              <a:srgbClr val="1C3A2C"/>
            </a:solidFill>
            <a:prstDash val="solid"/>
          </a:ln>
        </p:spPr>
      </p:sp>
      <p:sp>
        <p:nvSpPr>
          <p:cNvPr id="39" name="Text 37"/>
          <p:cNvSpPr/>
          <p:nvPr/>
        </p:nvSpPr>
        <p:spPr>
          <a:xfrm>
            <a:off x="841248" y="3264408"/>
            <a:ext cx="365760" cy="182880"/>
          </a:xfrm>
          <a:prstGeom prst="rect">
            <a:avLst/>
          </a:prstGeom>
          <a:noFill/>
          <a:ln/>
        </p:spPr>
        <p:txBody>
          <a:bodyPr wrap="square" lIns="0" tIns="0" rIns="0" bIns="0" rtlCol="0" anchor="ctr"/>
          <a:lstStyle/>
          <a:p>
            <a:pPr algn="r" indent="0" marL="0">
              <a:buNone/>
            </a:pPr>
            <a:endParaRPr lang="en-US" sz="1000" dirty="0"/>
          </a:p>
        </p:txBody>
      </p:sp>
      <p:sp>
        <p:nvSpPr>
          <p:cNvPr id="40" name="Shape 38"/>
          <p:cNvSpPr/>
          <p:nvPr/>
        </p:nvSpPr>
        <p:spPr>
          <a:xfrm>
            <a:off x="1225296" y="2724912"/>
            <a:ext cx="54864" cy="91"/>
          </a:xfrm>
          <a:prstGeom prst="line">
            <a:avLst/>
          </a:prstGeom>
          <a:noFill/>
          <a:ln w="12700">
            <a:solidFill>
              <a:srgbClr val="1C3A2C"/>
            </a:solidFill>
            <a:prstDash val="solid"/>
          </a:ln>
        </p:spPr>
      </p:sp>
      <p:sp>
        <p:nvSpPr>
          <p:cNvPr id="41" name="Text 39"/>
          <p:cNvSpPr/>
          <p:nvPr/>
        </p:nvSpPr>
        <p:spPr>
          <a:xfrm>
            <a:off x="841248" y="2633472"/>
            <a:ext cx="365760" cy="182880"/>
          </a:xfrm>
          <a:prstGeom prst="rect">
            <a:avLst/>
          </a:prstGeom>
          <a:noFill/>
          <a:ln/>
        </p:spPr>
        <p:txBody>
          <a:bodyPr wrap="square" lIns="0" tIns="0" rIns="0" bIns="0" rtlCol="0" anchor="ctr"/>
          <a:lstStyle/>
          <a:p>
            <a:pPr algn="r" indent="0" marL="0">
              <a:buNone/>
            </a:pPr>
            <a:endParaRPr lang="en-US" sz="1000" dirty="0"/>
          </a:p>
        </p:txBody>
      </p:sp>
      <p:sp>
        <p:nvSpPr>
          <p:cNvPr id="42" name="Shape 40"/>
          <p:cNvSpPr/>
          <p:nvPr/>
        </p:nvSpPr>
        <p:spPr>
          <a:xfrm>
            <a:off x="1225296" y="2093976"/>
            <a:ext cx="54864" cy="91"/>
          </a:xfrm>
          <a:prstGeom prst="line">
            <a:avLst/>
          </a:prstGeom>
          <a:noFill/>
          <a:ln w="12700">
            <a:solidFill>
              <a:srgbClr val="1C3A2C"/>
            </a:solidFill>
            <a:prstDash val="solid"/>
          </a:ln>
        </p:spPr>
      </p:sp>
      <p:sp>
        <p:nvSpPr>
          <p:cNvPr id="43" name="Text 41"/>
          <p:cNvSpPr/>
          <p:nvPr/>
        </p:nvSpPr>
        <p:spPr>
          <a:xfrm>
            <a:off x="841248" y="2002536"/>
            <a:ext cx="365760" cy="182880"/>
          </a:xfrm>
          <a:prstGeom prst="rect">
            <a:avLst/>
          </a:prstGeom>
          <a:noFill/>
          <a:ln/>
        </p:spPr>
        <p:txBody>
          <a:bodyPr wrap="square" lIns="0" tIns="0" rIns="0" bIns="0" rtlCol="0" anchor="ctr"/>
          <a:lstStyle/>
          <a:p>
            <a:pPr algn="r" indent="0" marL="0">
              <a:buNone/>
            </a:pPr>
            <a:endParaRPr lang="en-US" sz="1000" dirty="0"/>
          </a:p>
        </p:txBody>
      </p:sp>
      <p:sp>
        <p:nvSpPr>
          <p:cNvPr id="44" name="Shape 42"/>
          <p:cNvSpPr/>
          <p:nvPr/>
        </p:nvSpPr>
        <p:spPr>
          <a:xfrm>
            <a:off x="1225296" y="1463040"/>
            <a:ext cx="54864" cy="91"/>
          </a:xfrm>
          <a:prstGeom prst="line">
            <a:avLst/>
          </a:prstGeom>
          <a:noFill/>
          <a:ln w="12700">
            <a:solidFill>
              <a:srgbClr val="1C3A2C"/>
            </a:solidFill>
            <a:prstDash val="solid"/>
          </a:ln>
        </p:spPr>
      </p:sp>
      <p:sp>
        <p:nvSpPr>
          <p:cNvPr id="45" name="Text 43"/>
          <p:cNvSpPr/>
          <p:nvPr/>
        </p:nvSpPr>
        <p:spPr>
          <a:xfrm>
            <a:off x="841248" y="1371600"/>
            <a:ext cx="365760" cy="182880"/>
          </a:xfrm>
          <a:prstGeom prst="rect">
            <a:avLst/>
          </a:prstGeom>
          <a:noFill/>
          <a:ln/>
        </p:spPr>
        <p:txBody>
          <a:bodyPr wrap="square" lIns="0" tIns="0" rIns="0" bIns="0" rtlCol="0" anchor="ctr"/>
          <a:lstStyle/>
          <a:p>
            <a:pPr algn="r" indent="0" marL="0">
              <a:buNone/>
            </a:pPr>
            <a:endParaRPr lang="en-US" sz="1000" dirty="0"/>
          </a:p>
        </p:txBody>
      </p:sp>
      <p:sp>
        <p:nvSpPr>
          <p:cNvPr id="46" name="Text 44"/>
          <p:cNvSpPr/>
          <p:nvPr/>
        </p:nvSpPr>
        <p:spPr>
          <a:xfrm rot="16200000">
            <a:off x="-864108" y="2912364"/>
            <a:ext cx="31546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 with type 2 diabetes</a:t>
            </a:r>
            <a:endParaRPr lang="en-US" sz="1050" dirty="0"/>
          </a:p>
        </p:txBody>
      </p:sp>
      <p:sp>
        <p:nvSpPr>
          <p:cNvPr id="47" name="Shape 45"/>
          <p:cNvSpPr/>
          <p:nvPr/>
        </p:nvSpPr>
        <p:spPr>
          <a:xfrm>
            <a:off x="1508760" y="4239158"/>
            <a:ext cx="640080" cy="378562"/>
          </a:xfrm>
          <a:prstGeom prst="rect">
            <a:avLst/>
          </a:prstGeom>
          <a:solidFill>
            <a:srgbClr val="7BC596"/>
          </a:solidFill>
          <a:ln w="9525">
            <a:solidFill>
              <a:srgbClr val="7BC596"/>
            </a:solidFill>
            <a:prstDash val="solid"/>
          </a:ln>
        </p:spPr>
      </p:sp>
      <p:sp>
        <p:nvSpPr>
          <p:cNvPr id="48" name="Text 46"/>
          <p:cNvSpPr/>
          <p:nvPr/>
        </p:nvSpPr>
        <p:spPr>
          <a:xfrm>
            <a:off x="1463040" y="4001414"/>
            <a:ext cx="73152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3%</a:t>
            </a:r>
            <a:endParaRPr lang="en-US" sz="1100" dirty="0"/>
          </a:p>
        </p:txBody>
      </p:sp>
      <p:sp>
        <p:nvSpPr>
          <p:cNvPr id="49" name="Text 47"/>
          <p:cNvSpPr/>
          <p:nvPr/>
        </p:nvSpPr>
        <p:spPr>
          <a:xfrm>
            <a:off x="1280160" y="4672584"/>
            <a:ext cx="1097280" cy="256032"/>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under 25</a:t>
            </a:r>
            <a:endParaRPr lang="en-US" sz="1050" dirty="0"/>
          </a:p>
        </p:txBody>
      </p:sp>
      <p:sp>
        <p:nvSpPr>
          <p:cNvPr id="50" name="Shape 48"/>
          <p:cNvSpPr/>
          <p:nvPr/>
        </p:nvSpPr>
        <p:spPr>
          <a:xfrm>
            <a:off x="2606040" y="3734410"/>
            <a:ext cx="640080" cy="883310"/>
          </a:xfrm>
          <a:prstGeom prst="rect">
            <a:avLst/>
          </a:prstGeom>
          <a:solidFill>
            <a:srgbClr val="F5C342"/>
          </a:solidFill>
          <a:ln w="9525">
            <a:solidFill>
              <a:srgbClr val="F5C342"/>
            </a:solidFill>
            <a:prstDash val="solid"/>
          </a:ln>
        </p:spPr>
      </p:sp>
      <p:sp>
        <p:nvSpPr>
          <p:cNvPr id="51" name="Text 49"/>
          <p:cNvSpPr/>
          <p:nvPr/>
        </p:nvSpPr>
        <p:spPr>
          <a:xfrm>
            <a:off x="2560320" y="3496666"/>
            <a:ext cx="73152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7%</a:t>
            </a:r>
            <a:endParaRPr lang="en-US" sz="1100" dirty="0"/>
          </a:p>
        </p:txBody>
      </p:sp>
      <p:sp>
        <p:nvSpPr>
          <p:cNvPr id="52" name="Text 50"/>
          <p:cNvSpPr/>
          <p:nvPr/>
        </p:nvSpPr>
        <p:spPr>
          <a:xfrm>
            <a:off x="2377440" y="4672584"/>
            <a:ext cx="1097280" cy="256032"/>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25–29.9</a:t>
            </a:r>
            <a:endParaRPr lang="en-US" sz="1050" dirty="0"/>
          </a:p>
        </p:txBody>
      </p:sp>
      <p:sp>
        <p:nvSpPr>
          <p:cNvPr id="53" name="Shape 51"/>
          <p:cNvSpPr/>
          <p:nvPr/>
        </p:nvSpPr>
        <p:spPr>
          <a:xfrm>
            <a:off x="3703320" y="2977286"/>
            <a:ext cx="640080" cy="1640434"/>
          </a:xfrm>
          <a:prstGeom prst="rect">
            <a:avLst/>
          </a:prstGeom>
          <a:solidFill>
            <a:srgbClr val="F08A4B"/>
          </a:solidFill>
          <a:ln w="9525">
            <a:solidFill>
              <a:srgbClr val="F08A4B"/>
            </a:solidFill>
            <a:prstDash val="solid"/>
          </a:ln>
        </p:spPr>
      </p:sp>
      <p:sp>
        <p:nvSpPr>
          <p:cNvPr id="54" name="Text 52"/>
          <p:cNvSpPr/>
          <p:nvPr/>
        </p:nvSpPr>
        <p:spPr>
          <a:xfrm>
            <a:off x="3657600" y="2739542"/>
            <a:ext cx="73152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13%</a:t>
            </a:r>
            <a:endParaRPr lang="en-US" sz="1100" dirty="0"/>
          </a:p>
        </p:txBody>
      </p:sp>
      <p:sp>
        <p:nvSpPr>
          <p:cNvPr id="55" name="Text 53"/>
          <p:cNvSpPr/>
          <p:nvPr/>
        </p:nvSpPr>
        <p:spPr>
          <a:xfrm>
            <a:off x="3474720" y="4672584"/>
            <a:ext cx="1097280" cy="256032"/>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30–34.9</a:t>
            </a:r>
            <a:endParaRPr lang="en-US" sz="1050" dirty="0"/>
          </a:p>
        </p:txBody>
      </p:sp>
      <p:sp>
        <p:nvSpPr>
          <p:cNvPr id="56" name="Shape 54"/>
          <p:cNvSpPr/>
          <p:nvPr/>
        </p:nvSpPr>
        <p:spPr>
          <a:xfrm>
            <a:off x="4800600" y="1967789"/>
            <a:ext cx="640080" cy="2649931"/>
          </a:xfrm>
          <a:prstGeom prst="rect">
            <a:avLst/>
          </a:prstGeom>
          <a:solidFill>
            <a:srgbClr val="C8414C"/>
          </a:solidFill>
          <a:ln w="9525">
            <a:solidFill>
              <a:srgbClr val="C8414C"/>
            </a:solidFill>
            <a:prstDash val="solid"/>
          </a:ln>
        </p:spPr>
      </p:sp>
      <p:sp>
        <p:nvSpPr>
          <p:cNvPr id="57" name="Text 55"/>
          <p:cNvSpPr/>
          <p:nvPr/>
        </p:nvSpPr>
        <p:spPr>
          <a:xfrm>
            <a:off x="4754880" y="1730045"/>
            <a:ext cx="73152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21%</a:t>
            </a:r>
            <a:endParaRPr lang="en-US" sz="1100" dirty="0"/>
          </a:p>
        </p:txBody>
      </p:sp>
      <p:sp>
        <p:nvSpPr>
          <p:cNvPr id="58" name="Text 56"/>
          <p:cNvSpPr/>
          <p:nvPr/>
        </p:nvSpPr>
        <p:spPr>
          <a:xfrm>
            <a:off x="4572000" y="4672584"/>
            <a:ext cx="1097280" cy="256032"/>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35 and over</a:t>
            </a:r>
            <a:endParaRPr lang="en-US" sz="1050" dirty="0"/>
          </a:p>
        </p:txBody>
      </p:sp>
      <p:sp>
        <p:nvSpPr>
          <p:cNvPr id="59" name="Text 57"/>
          <p:cNvSpPr/>
          <p:nvPr/>
        </p:nvSpPr>
        <p:spPr>
          <a:xfrm>
            <a:off x="1280160" y="4937760"/>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BMI group</a:t>
            </a:r>
            <a:endParaRPr lang="en-US" sz="1050" dirty="0"/>
          </a:p>
        </p:txBody>
      </p:sp>
      <p:sp>
        <p:nvSpPr>
          <p:cNvPr id="60" name="Shape 58"/>
          <p:cNvSpPr/>
          <p:nvPr/>
        </p:nvSpPr>
        <p:spPr>
          <a:xfrm>
            <a:off x="6217920" y="1188720"/>
            <a:ext cx="5562295" cy="2788920"/>
          </a:xfrm>
          <a:prstGeom prst="roundRect">
            <a:avLst>
              <a:gd name="adj" fmla="val 1967"/>
            </a:avLst>
          </a:prstGeom>
          <a:solidFill>
            <a:srgbClr val="F5FBF7"/>
          </a:solidFill>
          <a:ln w="9525">
            <a:solidFill>
              <a:srgbClr val="D2E5D8"/>
            </a:solidFill>
            <a:prstDash val="solid"/>
          </a:ln>
        </p:spPr>
      </p:sp>
      <p:sp>
        <p:nvSpPr>
          <p:cNvPr id="61" name="Text 5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What the data show – and do not show</a:t>
            </a:r>
            <a:endParaRPr lang="en-US" sz="1300" dirty="0"/>
          </a:p>
        </p:txBody>
      </p:sp>
      <p:sp>
        <p:nvSpPr>
          <p:cNvPr id="62" name="Text 60"/>
          <p:cNvSpPr/>
          <p:nvPr/>
        </p:nvSpPr>
        <p:spPr>
          <a:xfrm>
            <a:off x="6382512" y="1609344"/>
            <a:ext cx="5233111" cy="229514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Positive correlation</a:t>
            </a:r>
            <a:r>
              <a:rPr lang="en-US" sz="1050" dirty="0">
                <a:solidFill>
                  <a:srgbClr val="262B3A"/>
                </a:solidFill>
                <a:latin typeface="Calibri" pitchFamily="34" charset="0"/>
                <a:ea typeface="Calibri" pitchFamily="34" charset="-122"/>
                <a:cs typeface="Calibri" pitchFamily="34" charset="-120"/>
              </a:rPr>
              <a:t>: the higher the BMI group, the higher the % with type 2 diabetes.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 correlation does </a:t>
            </a:r>
            <a:r>
              <a:rPr lang="en-US" sz="1050" b="1" dirty="0">
                <a:solidFill>
                  <a:srgbClr val="262B3A"/>
                </a:solidFill>
                <a:latin typeface="Calibri" pitchFamily="34" charset="0"/>
                <a:ea typeface="Calibri" pitchFamily="34" charset="-122"/>
                <a:cs typeface="Calibri" pitchFamily="34" charset="-120"/>
              </a:rPr>
              <a:t>not prove</a:t>
            </a:r>
            <a:r>
              <a:rPr lang="en-US" sz="1050" dirty="0">
                <a:solidFill>
                  <a:srgbClr val="262B3A"/>
                </a:solidFill>
                <a:latin typeface="Calibri" pitchFamily="34" charset="0"/>
                <a:ea typeface="Calibri" pitchFamily="34" charset="-122"/>
                <a:cs typeface="Calibri" pitchFamily="34" charset="-120"/>
              </a:rPr>
              <a:t> that body mass </a:t>
            </a:r>
            <a:r>
              <a:rPr lang="en-US" sz="1050" b="1" dirty="0">
                <a:solidFill>
                  <a:srgbClr val="262B3A"/>
                </a:solidFill>
                <a:latin typeface="Calibri" pitchFamily="34" charset="0"/>
                <a:ea typeface="Calibri" pitchFamily="34" charset="-122"/>
                <a:cs typeface="Calibri" pitchFamily="34" charset="-120"/>
              </a:rPr>
              <a:t>causes</a:t>
            </a:r>
            <a:r>
              <a:rPr lang="en-US" sz="1050" dirty="0">
                <a:solidFill>
                  <a:srgbClr val="262B3A"/>
                </a:solidFill>
                <a:latin typeface="Calibri" pitchFamily="34" charset="0"/>
                <a:ea typeface="Calibri" pitchFamily="34" charset="-122"/>
                <a:cs typeface="Calibri" pitchFamily="34" charset="-120"/>
              </a:rPr>
              <a:t> diabetes – other factors (diet, inactivity, age, genes) also vary.</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Scientists accept a causal link because there is a </a:t>
            </a:r>
            <a:r>
              <a:rPr lang="en-US" sz="1050" b="1" dirty="0">
                <a:solidFill>
                  <a:srgbClr val="262B3A"/>
                </a:solidFill>
                <a:latin typeface="Calibri" pitchFamily="34" charset="0"/>
                <a:ea typeface="Calibri" pitchFamily="34" charset="-122"/>
                <a:cs typeface="Calibri" pitchFamily="34" charset="-120"/>
              </a:rPr>
              <a:t>mechanism</a:t>
            </a:r>
            <a:r>
              <a:rPr lang="en-US" sz="1050" dirty="0">
                <a:solidFill>
                  <a:srgbClr val="262B3A"/>
                </a:solidFill>
                <a:latin typeface="Calibri" pitchFamily="34" charset="0"/>
                <a:ea typeface="Calibri" pitchFamily="34" charset="-122"/>
                <a:cs typeface="Calibri" pitchFamily="34" charset="-120"/>
              </a:rPr>
              <a:t>: excess (abdominal) fat makes cells </a:t>
            </a:r>
            <a:r>
              <a:rPr lang="en-US" sz="1050" b="1" dirty="0">
                <a:solidFill>
                  <a:srgbClr val="262B3A"/>
                </a:solidFill>
                <a:latin typeface="Calibri" pitchFamily="34" charset="0"/>
                <a:ea typeface="Calibri" pitchFamily="34" charset="-122"/>
                <a:cs typeface="Calibri" pitchFamily="34" charset="-120"/>
              </a:rPr>
              <a:t>less sensitive to insulin</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Waist:hip ratio is often a </a:t>
            </a:r>
            <a:r>
              <a:rPr lang="en-US" sz="1050" b="1" dirty="0">
                <a:solidFill>
                  <a:srgbClr val="262B3A"/>
                </a:solidFill>
                <a:latin typeface="Calibri" pitchFamily="34" charset="0"/>
                <a:ea typeface="Calibri" pitchFamily="34" charset="-122"/>
                <a:cs typeface="Calibri" pitchFamily="34" charset="-120"/>
              </a:rPr>
              <a:t>better predictor</a:t>
            </a:r>
            <a:r>
              <a:rPr lang="en-US" sz="1050" dirty="0">
                <a:solidFill>
                  <a:srgbClr val="262B3A"/>
                </a:solidFill>
                <a:latin typeface="Calibri" pitchFamily="34" charset="0"/>
                <a:ea typeface="Calibri" pitchFamily="34" charset="-122"/>
                <a:cs typeface="Calibri" pitchFamily="34" charset="-120"/>
              </a:rPr>
              <a:t> than BMI because it measures fat around the abdomen.</a:t>
            </a:r>
            <a:endParaRPr lang="en-US" sz="1050" dirty="0"/>
          </a:p>
        </p:txBody>
      </p:sp>
      <p:sp>
        <p:nvSpPr>
          <p:cNvPr id="63" name="Shape 61"/>
          <p:cNvSpPr/>
          <p:nvPr/>
        </p:nvSpPr>
        <p:spPr>
          <a:xfrm>
            <a:off x="6217920" y="4114800"/>
            <a:ext cx="5562295" cy="1600200"/>
          </a:xfrm>
          <a:prstGeom prst="roundRect">
            <a:avLst>
              <a:gd name="adj" fmla="val 3429"/>
            </a:avLst>
          </a:prstGeom>
          <a:solidFill>
            <a:srgbClr val="FFF4E0"/>
          </a:solidFill>
          <a:ln w="9525">
            <a:solidFill>
              <a:srgbClr val="F1D9A8"/>
            </a:solidFill>
            <a:prstDash val="solid"/>
          </a:ln>
        </p:spPr>
      </p:sp>
      <p:sp>
        <p:nvSpPr>
          <p:cNvPr id="64" name="Text 62"/>
          <p:cNvSpPr/>
          <p:nvPr/>
        </p:nvSpPr>
        <p:spPr>
          <a:xfrm>
            <a:off x="6382512" y="41879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Use the data</a:t>
            </a:r>
            <a:endParaRPr lang="en-US" sz="1300" dirty="0"/>
          </a:p>
        </p:txBody>
      </p:sp>
      <p:sp>
        <p:nvSpPr>
          <p:cNvPr id="65" name="Text 63"/>
          <p:cNvSpPr/>
          <p:nvPr/>
        </p:nvSpPr>
        <p:spPr>
          <a:xfrm>
            <a:off x="6382512" y="4498848"/>
            <a:ext cx="5233111" cy="11430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Compare the "35 and over" group with the "under 25" group.</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1 Read   </a:t>
            </a:r>
            <a:r>
              <a:rPr lang="en-US" sz="1050" dirty="0">
                <a:solidFill>
                  <a:srgbClr val="262B3A"/>
                </a:solidFill>
                <a:latin typeface="Calibri" pitchFamily="34" charset="0"/>
                <a:ea typeface="Calibri" pitchFamily="34" charset="-122"/>
                <a:cs typeface="Calibri" pitchFamily="34" charset="-120"/>
              </a:rPr>
              <a:t>21% and 3%</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2 Divide   </a:t>
            </a:r>
            <a:r>
              <a:rPr lang="en-US" sz="1050" dirty="0">
                <a:solidFill>
                  <a:srgbClr val="262B3A"/>
                </a:solidFill>
                <a:latin typeface="Calibri" pitchFamily="34" charset="0"/>
                <a:ea typeface="Calibri" pitchFamily="34" charset="-122"/>
                <a:cs typeface="Calibri" pitchFamily="34" charset="-120"/>
              </a:rPr>
              <a:t>21 ÷ 3 = 7</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type 2 diabetes is about 7 times as common in the highest BMI group</a:t>
            </a:r>
            <a:endParaRPr lang="en-US" sz="1050" dirty="0"/>
          </a:p>
        </p:txBody>
      </p:sp>
      <p:sp>
        <p:nvSpPr>
          <p:cNvPr id="66" name="Shape 64"/>
          <p:cNvSpPr/>
          <p:nvPr/>
        </p:nvSpPr>
        <p:spPr>
          <a:xfrm>
            <a:off x="411480" y="5833872"/>
            <a:ext cx="11368735" cy="530352"/>
          </a:xfrm>
          <a:prstGeom prst="rect">
            <a:avLst/>
          </a:prstGeom>
          <a:solidFill>
            <a:srgbClr val="FFF4E0"/>
          </a:solidFill>
          <a:ln w="6350">
            <a:solidFill>
              <a:srgbClr val="F1D9A8"/>
            </a:solidFill>
            <a:prstDash val="solid"/>
          </a:ln>
        </p:spPr>
      </p:sp>
      <p:sp>
        <p:nvSpPr>
          <p:cNvPr id="67" name="Shape 65"/>
          <p:cNvSpPr/>
          <p:nvPr/>
        </p:nvSpPr>
        <p:spPr>
          <a:xfrm>
            <a:off x="411480" y="5833872"/>
            <a:ext cx="82296" cy="530352"/>
          </a:xfrm>
          <a:prstGeom prst="rect">
            <a:avLst/>
          </a:prstGeom>
          <a:solidFill>
            <a:srgbClr val="E39A2F"/>
          </a:solidFill>
          <a:ln w="12700">
            <a:solidFill>
              <a:srgbClr val="E39A2F"/>
            </a:solidFill>
            <a:prstDash val="solid"/>
          </a:ln>
        </p:spPr>
      </p:sp>
      <p:sp>
        <p:nvSpPr>
          <p:cNvPr id="68" name="Text 6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reason why a person with a high BMI might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be at high risk of type 2 diabetes.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7.13–7.17 • blood glucose and diabetes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28</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2E5D8"/>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insulin lowers blood glucose concentration.</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2E5D8"/>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the difference in the </a:t>
            </a:r>
            <a:r>
              <a:rPr lang="en-US" sz="1250" b="1" dirty="0">
                <a:solidFill>
                  <a:srgbClr val="262B3A"/>
                </a:solidFill>
                <a:latin typeface="Calibri" pitchFamily="34" charset="0"/>
                <a:ea typeface="Calibri" pitchFamily="34" charset="-122"/>
                <a:cs typeface="Calibri" pitchFamily="34" charset="-120"/>
              </a:rPr>
              <a:t>cause</a:t>
            </a:r>
            <a:r>
              <a:rPr lang="en-US" sz="1250" dirty="0">
                <a:solidFill>
                  <a:srgbClr val="262B3A"/>
                </a:solidFill>
                <a:latin typeface="Calibri" pitchFamily="34" charset="0"/>
                <a:ea typeface="Calibri" pitchFamily="34" charset="-122"/>
                <a:cs typeface="Calibri" pitchFamily="34" charset="-120"/>
              </a:rPr>
              <a:t> of type 1 and type 2 diabetes.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2E5D8"/>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man has mass </a:t>
            </a:r>
            <a:r>
              <a:rPr lang="en-US" sz="1250" b="1" dirty="0">
                <a:solidFill>
                  <a:srgbClr val="262B3A"/>
                </a:solidFill>
                <a:latin typeface="Calibri" pitchFamily="34" charset="0"/>
                <a:ea typeface="Calibri" pitchFamily="34" charset="-122"/>
                <a:cs typeface="Calibri" pitchFamily="34" charset="-120"/>
              </a:rPr>
              <a:t>110 kg</a:t>
            </a:r>
            <a:r>
              <a:rPr lang="en-US" sz="1250" dirty="0">
                <a:solidFill>
                  <a:srgbClr val="262B3A"/>
                </a:solidFill>
                <a:latin typeface="Calibri" pitchFamily="34" charset="0"/>
                <a:ea typeface="Calibri" pitchFamily="34" charset="-122"/>
                <a:cs typeface="Calibri" pitchFamily="34" charset="-120"/>
              </a:rPr>
              <a:t> and height </a:t>
            </a:r>
            <a:r>
              <a:rPr lang="en-US" sz="1250" b="1" dirty="0">
                <a:solidFill>
                  <a:srgbClr val="262B3A"/>
                </a:solidFill>
                <a:latin typeface="Calibri" pitchFamily="34" charset="0"/>
                <a:ea typeface="Calibri" pitchFamily="34" charset="-122"/>
                <a:cs typeface="Calibri" pitchFamily="34" charset="-120"/>
              </a:rPr>
              <a:t>1.80 m</a:t>
            </a:r>
            <a:r>
              <a:rPr lang="en-US" sz="1250" dirty="0">
                <a:solidFill>
                  <a:srgbClr val="262B3A"/>
                </a:solidFill>
                <a:latin typeface="Calibri" pitchFamily="34" charset="0"/>
                <a:ea typeface="Calibri" pitchFamily="34" charset="-122"/>
                <a:cs typeface="Calibri" pitchFamily="34" charset="-120"/>
              </a:rPr>
              <a:t>. Calculate his BMI to 1 decimal place. His waist is 88 cm and hips 104 cm: calculate his waist:hip ratio.</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2E5D8"/>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Shape 24"/>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Text 26"/>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glucagon raises blood glucose.</a:t>
            </a:r>
            <a:endParaRPr lang="en-US" sz="1250" dirty="0"/>
          </a:p>
        </p:txBody>
      </p:sp>
      <p:sp>
        <p:nvSpPr>
          <p:cNvPr id="29" name="Text 27"/>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The urinary system</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7.18B • kidneys, ureters, bladder and urethra</a:t>
            </a:r>
            <a:endParaRPr lang="en-US" sz="1100" dirty="0"/>
          </a:p>
        </p:txBody>
      </p:sp>
      <p:sp>
        <p:nvSpPr>
          <p:cNvPr id="6" name="Shape 4"/>
          <p:cNvSpPr/>
          <p:nvPr/>
        </p:nvSpPr>
        <p:spPr>
          <a:xfrm>
            <a:off x="10591495" y="292608"/>
            <a:ext cx="1188720" cy="274320"/>
          </a:xfrm>
          <a:prstGeom prst="roundRect">
            <a:avLst>
              <a:gd name="adj" fmla="val 50000"/>
            </a:avLst>
          </a:prstGeom>
          <a:solidFill>
            <a:srgbClr val="2A7448"/>
          </a:solidFill>
          <a:ln w="12700">
            <a:solidFill>
              <a:srgbClr val="2A744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BIOLOGY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7.18B  |  29</a:t>
            </a:r>
            <a:endParaRPr lang="en-US" sz="1000" dirty="0"/>
          </a:p>
        </p:txBody>
      </p:sp>
      <p:sp>
        <p:nvSpPr>
          <p:cNvPr id="10" name="Shape 8"/>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front view; the patient's right kidney is on the viewer's left</a:t>
            </a:r>
            <a:endParaRPr lang="en-US" sz="1000" dirty="0"/>
          </a:p>
        </p:txBody>
      </p:sp>
      <p:sp>
        <p:nvSpPr>
          <p:cNvPr id="12" name="Shape 10"/>
          <p:cNvSpPr/>
          <p:nvPr/>
        </p:nvSpPr>
        <p:spPr>
          <a:xfrm flipH="1">
            <a:off x="2194560" y="2331720"/>
            <a:ext cx="1207008" cy="91"/>
          </a:xfrm>
          <a:prstGeom prst="line">
            <a:avLst/>
          </a:prstGeom>
          <a:noFill/>
          <a:ln w="127000">
            <a:solidFill>
              <a:srgbClr val="8E2A33"/>
            </a:solidFill>
            <a:prstDash val="solid"/>
          </a:ln>
        </p:spPr>
      </p:sp>
      <p:sp>
        <p:nvSpPr>
          <p:cNvPr id="13" name="Shape 11"/>
          <p:cNvSpPr/>
          <p:nvPr/>
        </p:nvSpPr>
        <p:spPr>
          <a:xfrm>
            <a:off x="3338068" y="2268220"/>
            <a:ext cx="127000" cy="127000"/>
          </a:xfrm>
          <a:prstGeom prst="ellipse">
            <a:avLst/>
          </a:prstGeom>
          <a:solidFill>
            <a:srgbClr val="8E2A33"/>
          </a:solidFill>
          <a:ln w="12700">
            <a:solidFill>
              <a:srgbClr val="8E2A33"/>
            </a:solidFill>
            <a:prstDash val="solid"/>
          </a:ln>
        </p:spPr>
      </p:sp>
      <p:sp>
        <p:nvSpPr>
          <p:cNvPr id="14" name="Shape 12"/>
          <p:cNvSpPr/>
          <p:nvPr/>
        </p:nvSpPr>
        <p:spPr>
          <a:xfrm>
            <a:off x="2131060" y="2268220"/>
            <a:ext cx="127000" cy="127000"/>
          </a:xfrm>
          <a:prstGeom prst="ellipse">
            <a:avLst/>
          </a:prstGeom>
          <a:solidFill>
            <a:srgbClr val="8E2A33"/>
          </a:solidFill>
          <a:ln w="12700">
            <a:solidFill>
              <a:srgbClr val="8E2A33"/>
            </a:solidFill>
            <a:prstDash val="solid"/>
          </a:ln>
        </p:spPr>
      </p:sp>
      <p:sp>
        <p:nvSpPr>
          <p:cNvPr id="15" name="Shape 13"/>
          <p:cNvSpPr/>
          <p:nvPr/>
        </p:nvSpPr>
        <p:spPr>
          <a:xfrm flipH="1">
            <a:off x="2194560" y="2331720"/>
            <a:ext cx="1207008" cy="91"/>
          </a:xfrm>
          <a:prstGeom prst="line">
            <a:avLst/>
          </a:prstGeom>
          <a:noFill/>
          <a:ln w="88900">
            <a:solidFill>
              <a:srgbClr val="C8414C"/>
            </a:solidFill>
            <a:prstDash val="solid"/>
          </a:ln>
        </p:spPr>
      </p:sp>
      <p:sp>
        <p:nvSpPr>
          <p:cNvPr id="16" name="Shape 14"/>
          <p:cNvSpPr/>
          <p:nvPr/>
        </p:nvSpPr>
        <p:spPr>
          <a:xfrm>
            <a:off x="3357118" y="2287270"/>
            <a:ext cx="88900" cy="88900"/>
          </a:xfrm>
          <a:prstGeom prst="ellipse">
            <a:avLst/>
          </a:prstGeom>
          <a:solidFill>
            <a:srgbClr val="C8414C"/>
          </a:solidFill>
          <a:ln w="12700">
            <a:solidFill>
              <a:srgbClr val="C8414C"/>
            </a:solidFill>
            <a:prstDash val="solid"/>
          </a:ln>
        </p:spPr>
      </p:sp>
      <p:sp>
        <p:nvSpPr>
          <p:cNvPr id="17" name="Shape 15"/>
          <p:cNvSpPr/>
          <p:nvPr/>
        </p:nvSpPr>
        <p:spPr>
          <a:xfrm>
            <a:off x="2150110" y="2287270"/>
            <a:ext cx="88900" cy="88900"/>
          </a:xfrm>
          <a:prstGeom prst="ellipse">
            <a:avLst/>
          </a:prstGeom>
          <a:solidFill>
            <a:srgbClr val="C8414C"/>
          </a:solidFill>
          <a:ln w="12700">
            <a:solidFill>
              <a:srgbClr val="C8414C"/>
            </a:solidFill>
            <a:prstDash val="solid"/>
          </a:ln>
        </p:spPr>
      </p:sp>
      <p:sp>
        <p:nvSpPr>
          <p:cNvPr id="18" name="Shape 16"/>
          <p:cNvSpPr/>
          <p:nvPr/>
        </p:nvSpPr>
        <p:spPr>
          <a:xfrm>
            <a:off x="3401568" y="2331720"/>
            <a:ext cx="804672" cy="91"/>
          </a:xfrm>
          <a:prstGeom prst="line">
            <a:avLst/>
          </a:prstGeom>
          <a:noFill/>
          <a:ln w="127000">
            <a:solidFill>
              <a:srgbClr val="8E2A33"/>
            </a:solidFill>
            <a:prstDash val="solid"/>
          </a:ln>
        </p:spPr>
      </p:sp>
      <p:sp>
        <p:nvSpPr>
          <p:cNvPr id="19" name="Shape 17"/>
          <p:cNvSpPr/>
          <p:nvPr/>
        </p:nvSpPr>
        <p:spPr>
          <a:xfrm>
            <a:off x="3338068" y="2268220"/>
            <a:ext cx="127000" cy="127000"/>
          </a:xfrm>
          <a:prstGeom prst="ellipse">
            <a:avLst/>
          </a:prstGeom>
          <a:solidFill>
            <a:srgbClr val="8E2A33"/>
          </a:solidFill>
          <a:ln w="12700">
            <a:solidFill>
              <a:srgbClr val="8E2A33"/>
            </a:solidFill>
            <a:prstDash val="solid"/>
          </a:ln>
        </p:spPr>
      </p:sp>
      <p:sp>
        <p:nvSpPr>
          <p:cNvPr id="20" name="Shape 18"/>
          <p:cNvSpPr/>
          <p:nvPr/>
        </p:nvSpPr>
        <p:spPr>
          <a:xfrm>
            <a:off x="4142740" y="2268220"/>
            <a:ext cx="127000" cy="127000"/>
          </a:xfrm>
          <a:prstGeom prst="ellipse">
            <a:avLst/>
          </a:prstGeom>
          <a:solidFill>
            <a:srgbClr val="8E2A33"/>
          </a:solidFill>
          <a:ln w="12700">
            <a:solidFill>
              <a:srgbClr val="8E2A33"/>
            </a:solidFill>
            <a:prstDash val="solid"/>
          </a:ln>
        </p:spPr>
      </p:sp>
      <p:sp>
        <p:nvSpPr>
          <p:cNvPr id="21" name="Shape 19"/>
          <p:cNvSpPr/>
          <p:nvPr/>
        </p:nvSpPr>
        <p:spPr>
          <a:xfrm>
            <a:off x="3401568" y="2331720"/>
            <a:ext cx="804672" cy="91"/>
          </a:xfrm>
          <a:prstGeom prst="line">
            <a:avLst/>
          </a:prstGeom>
          <a:noFill/>
          <a:ln w="88900">
            <a:solidFill>
              <a:srgbClr val="C8414C"/>
            </a:solidFill>
            <a:prstDash val="solid"/>
          </a:ln>
        </p:spPr>
      </p:sp>
      <p:sp>
        <p:nvSpPr>
          <p:cNvPr id="22" name="Shape 20"/>
          <p:cNvSpPr/>
          <p:nvPr/>
        </p:nvSpPr>
        <p:spPr>
          <a:xfrm>
            <a:off x="3357118" y="2287270"/>
            <a:ext cx="88900" cy="88900"/>
          </a:xfrm>
          <a:prstGeom prst="ellipse">
            <a:avLst/>
          </a:prstGeom>
          <a:solidFill>
            <a:srgbClr val="C8414C"/>
          </a:solidFill>
          <a:ln w="12700">
            <a:solidFill>
              <a:srgbClr val="C8414C"/>
            </a:solidFill>
            <a:prstDash val="solid"/>
          </a:ln>
        </p:spPr>
      </p:sp>
      <p:sp>
        <p:nvSpPr>
          <p:cNvPr id="23" name="Shape 21"/>
          <p:cNvSpPr/>
          <p:nvPr/>
        </p:nvSpPr>
        <p:spPr>
          <a:xfrm>
            <a:off x="4161790" y="2287270"/>
            <a:ext cx="88900" cy="88900"/>
          </a:xfrm>
          <a:prstGeom prst="ellipse">
            <a:avLst/>
          </a:prstGeom>
          <a:solidFill>
            <a:srgbClr val="C8414C"/>
          </a:solidFill>
          <a:ln w="12700">
            <a:solidFill>
              <a:srgbClr val="C8414C"/>
            </a:solidFill>
            <a:prstDash val="solid"/>
          </a:ln>
        </p:spPr>
      </p:sp>
      <p:sp>
        <p:nvSpPr>
          <p:cNvPr id="24" name="Shape 22"/>
          <p:cNvSpPr/>
          <p:nvPr/>
        </p:nvSpPr>
        <p:spPr>
          <a:xfrm>
            <a:off x="3017520" y="1371600"/>
            <a:ext cx="91" cy="2788920"/>
          </a:xfrm>
          <a:prstGeom prst="line">
            <a:avLst/>
          </a:prstGeom>
          <a:noFill/>
          <a:ln w="241300">
            <a:solidFill>
              <a:srgbClr val="2C4A80"/>
            </a:solidFill>
            <a:prstDash val="solid"/>
          </a:ln>
        </p:spPr>
      </p:sp>
      <p:sp>
        <p:nvSpPr>
          <p:cNvPr id="25" name="Shape 23"/>
          <p:cNvSpPr/>
          <p:nvPr/>
        </p:nvSpPr>
        <p:spPr>
          <a:xfrm>
            <a:off x="2896870" y="1250950"/>
            <a:ext cx="241300" cy="241300"/>
          </a:xfrm>
          <a:prstGeom prst="ellipse">
            <a:avLst/>
          </a:prstGeom>
          <a:solidFill>
            <a:srgbClr val="2C4A80"/>
          </a:solidFill>
          <a:ln w="12700">
            <a:solidFill>
              <a:srgbClr val="2C4A80"/>
            </a:solidFill>
            <a:prstDash val="solid"/>
          </a:ln>
        </p:spPr>
      </p:sp>
      <p:sp>
        <p:nvSpPr>
          <p:cNvPr id="26" name="Shape 24"/>
          <p:cNvSpPr/>
          <p:nvPr/>
        </p:nvSpPr>
        <p:spPr>
          <a:xfrm>
            <a:off x="2896870" y="4039870"/>
            <a:ext cx="241300" cy="241300"/>
          </a:xfrm>
          <a:prstGeom prst="ellipse">
            <a:avLst/>
          </a:prstGeom>
          <a:solidFill>
            <a:srgbClr val="2C4A80"/>
          </a:solidFill>
          <a:ln w="12700">
            <a:solidFill>
              <a:srgbClr val="2C4A80"/>
            </a:solidFill>
            <a:prstDash val="solid"/>
          </a:ln>
        </p:spPr>
      </p:sp>
      <p:sp>
        <p:nvSpPr>
          <p:cNvPr id="27" name="Shape 25"/>
          <p:cNvSpPr/>
          <p:nvPr/>
        </p:nvSpPr>
        <p:spPr>
          <a:xfrm>
            <a:off x="3017520" y="1371600"/>
            <a:ext cx="91" cy="2788920"/>
          </a:xfrm>
          <a:prstGeom prst="line">
            <a:avLst/>
          </a:prstGeom>
          <a:noFill/>
          <a:ln w="203200">
            <a:solidFill>
              <a:srgbClr val="4A6FB5"/>
            </a:solidFill>
            <a:prstDash val="solid"/>
          </a:ln>
        </p:spPr>
      </p:sp>
      <p:sp>
        <p:nvSpPr>
          <p:cNvPr id="28" name="Shape 26"/>
          <p:cNvSpPr/>
          <p:nvPr/>
        </p:nvSpPr>
        <p:spPr>
          <a:xfrm>
            <a:off x="2915920" y="1270000"/>
            <a:ext cx="203200" cy="203200"/>
          </a:xfrm>
          <a:prstGeom prst="ellipse">
            <a:avLst/>
          </a:prstGeom>
          <a:solidFill>
            <a:srgbClr val="4A6FB5"/>
          </a:solidFill>
          <a:ln w="12700">
            <a:solidFill>
              <a:srgbClr val="4A6FB5"/>
            </a:solidFill>
            <a:prstDash val="solid"/>
          </a:ln>
        </p:spPr>
      </p:sp>
      <p:sp>
        <p:nvSpPr>
          <p:cNvPr id="29" name="Shape 27"/>
          <p:cNvSpPr/>
          <p:nvPr/>
        </p:nvSpPr>
        <p:spPr>
          <a:xfrm>
            <a:off x="2915920" y="4058920"/>
            <a:ext cx="203200" cy="203200"/>
          </a:xfrm>
          <a:prstGeom prst="ellipse">
            <a:avLst/>
          </a:prstGeom>
          <a:solidFill>
            <a:srgbClr val="4A6FB5"/>
          </a:solidFill>
          <a:ln w="12700">
            <a:solidFill>
              <a:srgbClr val="4A6FB5"/>
            </a:solidFill>
            <a:prstDash val="solid"/>
          </a:ln>
        </p:spPr>
      </p:sp>
      <p:sp>
        <p:nvSpPr>
          <p:cNvPr id="30" name="Shape 28"/>
          <p:cNvSpPr/>
          <p:nvPr/>
        </p:nvSpPr>
        <p:spPr>
          <a:xfrm>
            <a:off x="3401568" y="1371600"/>
            <a:ext cx="91" cy="2788920"/>
          </a:xfrm>
          <a:prstGeom prst="line">
            <a:avLst/>
          </a:prstGeom>
          <a:noFill/>
          <a:ln w="203200">
            <a:solidFill>
              <a:srgbClr val="8E2A33"/>
            </a:solidFill>
            <a:prstDash val="solid"/>
          </a:ln>
        </p:spPr>
      </p:sp>
      <p:sp>
        <p:nvSpPr>
          <p:cNvPr id="31" name="Shape 29"/>
          <p:cNvSpPr/>
          <p:nvPr/>
        </p:nvSpPr>
        <p:spPr>
          <a:xfrm>
            <a:off x="3299968" y="1270000"/>
            <a:ext cx="203200" cy="203200"/>
          </a:xfrm>
          <a:prstGeom prst="ellipse">
            <a:avLst/>
          </a:prstGeom>
          <a:solidFill>
            <a:srgbClr val="8E2A33"/>
          </a:solidFill>
          <a:ln w="12700">
            <a:solidFill>
              <a:srgbClr val="8E2A33"/>
            </a:solidFill>
            <a:prstDash val="solid"/>
          </a:ln>
        </p:spPr>
      </p:sp>
      <p:sp>
        <p:nvSpPr>
          <p:cNvPr id="32" name="Shape 30"/>
          <p:cNvSpPr/>
          <p:nvPr/>
        </p:nvSpPr>
        <p:spPr>
          <a:xfrm>
            <a:off x="3299968" y="4058920"/>
            <a:ext cx="203200" cy="203200"/>
          </a:xfrm>
          <a:prstGeom prst="ellipse">
            <a:avLst/>
          </a:prstGeom>
          <a:solidFill>
            <a:srgbClr val="8E2A33"/>
          </a:solidFill>
          <a:ln w="12700">
            <a:solidFill>
              <a:srgbClr val="8E2A33"/>
            </a:solidFill>
            <a:prstDash val="solid"/>
          </a:ln>
        </p:spPr>
      </p:sp>
      <p:sp>
        <p:nvSpPr>
          <p:cNvPr id="33" name="Shape 31"/>
          <p:cNvSpPr/>
          <p:nvPr/>
        </p:nvSpPr>
        <p:spPr>
          <a:xfrm>
            <a:off x="3401568" y="1371600"/>
            <a:ext cx="91" cy="2788920"/>
          </a:xfrm>
          <a:prstGeom prst="line">
            <a:avLst/>
          </a:prstGeom>
          <a:noFill/>
          <a:ln w="165100">
            <a:solidFill>
              <a:srgbClr val="C8414C"/>
            </a:solidFill>
            <a:prstDash val="solid"/>
          </a:ln>
        </p:spPr>
      </p:sp>
      <p:sp>
        <p:nvSpPr>
          <p:cNvPr id="34" name="Shape 32"/>
          <p:cNvSpPr/>
          <p:nvPr/>
        </p:nvSpPr>
        <p:spPr>
          <a:xfrm>
            <a:off x="3319018" y="1289050"/>
            <a:ext cx="165100" cy="165100"/>
          </a:xfrm>
          <a:prstGeom prst="ellipse">
            <a:avLst/>
          </a:prstGeom>
          <a:solidFill>
            <a:srgbClr val="C8414C"/>
          </a:solidFill>
          <a:ln w="12700">
            <a:solidFill>
              <a:srgbClr val="C8414C"/>
            </a:solidFill>
            <a:prstDash val="solid"/>
          </a:ln>
        </p:spPr>
      </p:sp>
      <p:sp>
        <p:nvSpPr>
          <p:cNvPr id="35" name="Shape 33"/>
          <p:cNvSpPr/>
          <p:nvPr/>
        </p:nvSpPr>
        <p:spPr>
          <a:xfrm>
            <a:off x="3319018" y="4077970"/>
            <a:ext cx="165100" cy="165100"/>
          </a:xfrm>
          <a:prstGeom prst="ellipse">
            <a:avLst/>
          </a:prstGeom>
          <a:solidFill>
            <a:srgbClr val="C8414C"/>
          </a:solidFill>
          <a:ln w="12700">
            <a:solidFill>
              <a:srgbClr val="C8414C"/>
            </a:solidFill>
            <a:prstDash val="solid"/>
          </a:ln>
        </p:spPr>
      </p:sp>
      <p:sp>
        <p:nvSpPr>
          <p:cNvPr id="36" name="Shape 34"/>
          <p:cNvSpPr/>
          <p:nvPr/>
        </p:nvSpPr>
        <p:spPr>
          <a:xfrm flipH="1">
            <a:off x="2194560" y="2624328"/>
            <a:ext cx="822960" cy="91"/>
          </a:xfrm>
          <a:prstGeom prst="line">
            <a:avLst/>
          </a:prstGeom>
          <a:noFill/>
          <a:ln w="139700">
            <a:solidFill>
              <a:srgbClr val="2C4A80"/>
            </a:solidFill>
            <a:prstDash val="solid"/>
          </a:ln>
        </p:spPr>
      </p:sp>
      <p:sp>
        <p:nvSpPr>
          <p:cNvPr id="37" name="Shape 35"/>
          <p:cNvSpPr/>
          <p:nvPr/>
        </p:nvSpPr>
        <p:spPr>
          <a:xfrm>
            <a:off x="2947670" y="2554478"/>
            <a:ext cx="139700" cy="139700"/>
          </a:xfrm>
          <a:prstGeom prst="ellipse">
            <a:avLst/>
          </a:prstGeom>
          <a:solidFill>
            <a:srgbClr val="2C4A80"/>
          </a:solidFill>
          <a:ln w="12700">
            <a:solidFill>
              <a:srgbClr val="2C4A80"/>
            </a:solidFill>
            <a:prstDash val="solid"/>
          </a:ln>
        </p:spPr>
      </p:sp>
      <p:sp>
        <p:nvSpPr>
          <p:cNvPr id="38" name="Shape 36"/>
          <p:cNvSpPr/>
          <p:nvPr/>
        </p:nvSpPr>
        <p:spPr>
          <a:xfrm>
            <a:off x="2124710" y="2554478"/>
            <a:ext cx="139700" cy="139700"/>
          </a:xfrm>
          <a:prstGeom prst="ellipse">
            <a:avLst/>
          </a:prstGeom>
          <a:solidFill>
            <a:srgbClr val="2C4A80"/>
          </a:solidFill>
          <a:ln w="12700">
            <a:solidFill>
              <a:srgbClr val="2C4A80"/>
            </a:solidFill>
            <a:prstDash val="solid"/>
          </a:ln>
        </p:spPr>
      </p:sp>
      <p:sp>
        <p:nvSpPr>
          <p:cNvPr id="39" name="Shape 37"/>
          <p:cNvSpPr/>
          <p:nvPr/>
        </p:nvSpPr>
        <p:spPr>
          <a:xfrm flipH="1">
            <a:off x="2194560" y="2624328"/>
            <a:ext cx="822960" cy="91"/>
          </a:xfrm>
          <a:prstGeom prst="line">
            <a:avLst/>
          </a:prstGeom>
          <a:noFill/>
          <a:ln w="101600">
            <a:solidFill>
              <a:srgbClr val="4A6FB5"/>
            </a:solidFill>
            <a:prstDash val="solid"/>
          </a:ln>
        </p:spPr>
      </p:sp>
      <p:sp>
        <p:nvSpPr>
          <p:cNvPr id="40" name="Shape 38"/>
          <p:cNvSpPr/>
          <p:nvPr/>
        </p:nvSpPr>
        <p:spPr>
          <a:xfrm>
            <a:off x="2966720" y="2573528"/>
            <a:ext cx="101600" cy="101600"/>
          </a:xfrm>
          <a:prstGeom prst="ellipse">
            <a:avLst/>
          </a:prstGeom>
          <a:solidFill>
            <a:srgbClr val="4A6FB5"/>
          </a:solidFill>
          <a:ln w="12700">
            <a:solidFill>
              <a:srgbClr val="4A6FB5"/>
            </a:solidFill>
            <a:prstDash val="solid"/>
          </a:ln>
        </p:spPr>
      </p:sp>
      <p:sp>
        <p:nvSpPr>
          <p:cNvPr id="41" name="Shape 39"/>
          <p:cNvSpPr/>
          <p:nvPr/>
        </p:nvSpPr>
        <p:spPr>
          <a:xfrm>
            <a:off x="2143760" y="2573528"/>
            <a:ext cx="101600" cy="101600"/>
          </a:xfrm>
          <a:prstGeom prst="ellipse">
            <a:avLst/>
          </a:prstGeom>
          <a:solidFill>
            <a:srgbClr val="4A6FB5"/>
          </a:solidFill>
          <a:ln w="12700">
            <a:solidFill>
              <a:srgbClr val="4A6FB5"/>
            </a:solidFill>
            <a:prstDash val="solid"/>
          </a:ln>
        </p:spPr>
      </p:sp>
      <p:sp>
        <p:nvSpPr>
          <p:cNvPr id="42" name="Shape 40"/>
          <p:cNvSpPr/>
          <p:nvPr/>
        </p:nvSpPr>
        <p:spPr>
          <a:xfrm>
            <a:off x="3017520" y="2624328"/>
            <a:ext cx="1188720" cy="91"/>
          </a:xfrm>
          <a:prstGeom prst="line">
            <a:avLst/>
          </a:prstGeom>
          <a:noFill/>
          <a:ln w="139700">
            <a:solidFill>
              <a:srgbClr val="2C4A80"/>
            </a:solidFill>
            <a:prstDash val="solid"/>
          </a:ln>
        </p:spPr>
      </p:sp>
      <p:sp>
        <p:nvSpPr>
          <p:cNvPr id="43" name="Shape 41"/>
          <p:cNvSpPr/>
          <p:nvPr/>
        </p:nvSpPr>
        <p:spPr>
          <a:xfrm>
            <a:off x="2947670" y="2554478"/>
            <a:ext cx="139700" cy="139700"/>
          </a:xfrm>
          <a:prstGeom prst="ellipse">
            <a:avLst/>
          </a:prstGeom>
          <a:solidFill>
            <a:srgbClr val="2C4A80"/>
          </a:solidFill>
          <a:ln w="12700">
            <a:solidFill>
              <a:srgbClr val="2C4A80"/>
            </a:solidFill>
            <a:prstDash val="solid"/>
          </a:ln>
        </p:spPr>
      </p:sp>
      <p:sp>
        <p:nvSpPr>
          <p:cNvPr id="44" name="Shape 42"/>
          <p:cNvSpPr/>
          <p:nvPr/>
        </p:nvSpPr>
        <p:spPr>
          <a:xfrm>
            <a:off x="4136390" y="2554478"/>
            <a:ext cx="139700" cy="139700"/>
          </a:xfrm>
          <a:prstGeom prst="ellipse">
            <a:avLst/>
          </a:prstGeom>
          <a:solidFill>
            <a:srgbClr val="2C4A80"/>
          </a:solidFill>
          <a:ln w="12700">
            <a:solidFill>
              <a:srgbClr val="2C4A80"/>
            </a:solidFill>
            <a:prstDash val="solid"/>
          </a:ln>
        </p:spPr>
      </p:sp>
      <p:sp>
        <p:nvSpPr>
          <p:cNvPr id="45" name="Shape 43"/>
          <p:cNvSpPr/>
          <p:nvPr/>
        </p:nvSpPr>
        <p:spPr>
          <a:xfrm>
            <a:off x="3017520" y="2624328"/>
            <a:ext cx="1188720" cy="91"/>
          </a:xfrm>
          <a:prstGeom prst="line">
            <a:avLst/>
          </a:prstGeom>
          <a:noFill/>
          <a:ln w="101600">
            <a:solidFill>
              <a:srgbClr val="4A6FB5"/>
            </a:solidFill>
            <a:prstDash val="solid"/>
          </a:ln>
        </p:spPr>
      </p:sp>
      <p:sp>
        <p:nvSpPr>
          <p:cNvPr id="46" name="Shape 44"/>
          <p:cNvSpPr/>
          <p:nvPr/>
        </p:nvSpPr>
        <p:spPr>
          <a:xfrm>
            <a:off x="2966720" y="2573528"/>
            <a:ext cx="101600" cy="101600"/>
          </a:xfrm>
          <a:prstGeom prst="ellipse">
            <a:avLst/>
          </a:prstGeom>
          <a:solidFill>
            <a:srgbClr val="4A6FB5"/>
          </a:solidFill>
          <a:ln w="12700">
            <a:solidFill>
              <a:srgbClr val="4A6FB5"/>
            </a:solidFill>
            <a:prstDash val="solid"/>
          </a:ln>
        </p:spPr>
      </p:sp>
      <p:sp>
        <p:nvSpPr>
          <p:cNvPr id="47" name="Shape 45"/>
          <p:cNvSpPr/>
          <p:nvPr/>
        </p:nvSpPr>
        <p:spPr>
          <a:xfrm>
            <a:off x="4155440" y="2573528"/>
            <a:ext cx="101600" cy="101600"/>
          </a:xfrm>
          <a:prstGeom prst="ellipse">
            <a:avLst/>
          </a:prstGeom>
          <a:solidFill>
            <a:srgbClr val="4A6FB5"/>
          </a:solidFill>
          <a:ln w="12700">
            <a:solidFill>
              <a:srgbClr val="4A6FB5"/>
            </a:solidFill>
            <a:prstDash val="solid"/>
          </a:ln>
        </p:spPr>
      </p:sp>
      <p:sp>
        <p:nvSpPr>
          <p:cNvPr id="48" name="Shape 46"/>
          <p:cNvSpPr/>
          <p:nvPr/>
        </p:nvSpPr>
        <p:spPr>
          <a:xfrm>
            <a:off x="1531620" y="1828800"/>
            <a:ext cx="868680" cy="1371600"/>
          </a:xfrm>
          <a:prstGeom prst="ellipse">
            <a:avLst/>
          </a:prstGeom>
          <a:solidFill>
            <a:srgbClr val="B5524A"/>
          </a:solidFill>
          <a:ln w="19050">
            <a:solidFill>
              <a:srgbClr val="7A2E28"/>
            </a:solidFill>
            <a:prstDash val="solid"/>
          </a:ln>
        </p:spPr>
      </p:sp>
      <p:sp>
        <p:nvSpPr>
          <p:cNvPr id="49" name="Shape 47"/>
          <p:cNvSpPr/>
          <p:nvPr/>
        </p:nvSpPr>
        <p:spPr>
          <a:xfrm>
            <a:off x="1653235" y="1965960"/>
            <a:ext cx="625450" cy="1097280"/>
          </a:xfrm>
          <a:prstGeom prst="ellipse">
            <a:avLst/>
          </a:prstGeom>
          <a:solidFill>
            <a:srgbClr val="C9706A"/>
          </a:solidFill>
          <a:ln/>
        </p:spPr>
      </p:sp>
      <p:sp>
        <p:nvSpPr>
          <p:cNvPr id="50" name="Shape 48"/>
          <p:cNvSpPr/>
          <p:nvPr/>
        </p:nvSpPr>
        <p:spPr>
          <a:xfrm>
            <a:off x="2217877" y="2253996"/>
            <a:ext cx="364846" cy="521208"/>
          </a:xfrm>
          <a:prstGeom prst="ellipse">
            <a:avLst/>
          </a:prstGeom>
          <a:solidFill>
            <a:srgbClr val="EEF6F0"/>
          </a:solidFill>
          <a:ln/>
        </p:spPr>
      </p:sp>
      <p:sp>
        <p:nvSpPr>
          <p:cNvPr id="51" name="Shape 49"/>
          <p:cNvSpPr/>
          <p:nvPr/>
        </p:nvSpPr>
        <p:spPr>
          <a:xfrm>
            <a:off x="2035454" y="2322576"/>
            <a:ext cx="383134" cy="384048"/>
          </a:xfrm>
          <a:custGeom>
            <a:avLst/>
            <a:gdLst/>
            <a:ahLst/>
            <a:cxnLst/>
            <a:rect l="l" t="t" r="r" b="b"/>
            <a:pathLst>
              <a:path w="383134" h="384048">
                <a:moveTo>
                  <a:pt x="383134" y="0"/>
                </a:moveTo>
                <a:lnTo>
                  <a:pt x="0" y="109728"/>
                </a:lnTo>
                <a:lnTo>
                  <a:pt x="0" y="274320"/>
                </a:lnTo>
                <a:lnTo>
                  <a:pt x="383134" y="384048"/>
                </a:lnTo>
                <a:close/>
              </a:path>
            </a:pathLst>
          </a:custGeom>
          <a:solidFill>
            <a:srgbClr val="F2D46B"/>
          </a:solidFill>
          <a:ln w="9525">
            <a:solidFill>
              <a:srgbClr val="A08420"/>
            </a:solidFill>
            <a:prstDash val="solid"/>
          </a:ln>
        </p:spPr>
      </p:sp>
      <p:sp>
        <p:nvSpPr>
          <p:cNvPr id="52" name="Shape 50"/>
          <p:cNvSpPr/>
          <p:nvPr/>
        </p:nvSpPr>
        <p:spPr>
          <a:xfrm>
            <a:off x="4000500" y="1828800"/>
            <a:ext cx="868680" cy="1371600"/>
          </a:xfrm>
          <a:prstGeom prst="ellipse">
            <a:avLst/>
          </a:prstGeom>
          <a:solidFill>
            <a:srgbClr val="B5524A"/>
          </a:solidFill>
          <a:ln w="19050">
            <a:solidFill>
              <a:srgbClr val="7A2E28"/>
            </a:solidFill>
            <a:prstDash val="solid"/>
          </a:ln>
        </p:spPr>
      </p:sp>
      <p:sp>
        <p:nvSpPr>
          <p:cNvPr id="53" name="Shape 51"/>
          <p:cNvSpPr/>
          <p:nvPr/>
        </p:nvSpPr>
        <p:spPr>
          <a:xfrm>
            <a:off x="4122115" y="1965960"/>
            <a:ext cx="625450" cy="1097280"/>
          </a:xfrm>
          <a:prstGeom prst="ellipse">
            <a:avLst/>
          </a:prstGeom>
          <a:solidFill>
            <a:srgbClr val="C9706A"/>
          </a:solidFill>
          <a:ln/>
        </p:spPr>
      </p:sp>
      <p:sp>
        <p:nvSpPr>
          <p:cNvPr id="54" name="Shape 52"/>
          <p:cNvSpPr/>
          <p:nvPr/>
        </p:nvSpPr>
        <p:spPr>
          <a:xfrm>
            <a:off x="3818077" y="2253996"/>
            <a:ext cx="364846" cy="521208"/>
          </a:xfrm>
          <a:prstGeom prst="ellipse">
            <a:avLst/>
          </a:prstGeom>
          <a:solidFill>
            <a:srgbClr val="EEF6F0"/>
          </a:solidFill>
          <a:ln/>
        </p:spPr>
      </p:sp>
      <p:sp>
        <p:nvSpPr>
          <p:cNvPr id="55" name="Shape 53"/>
          <p:cNvSpPr/>
          <p:nvPr/>
        </p:nvSpPr>
        <p:spPr>
          <a:xfrm>
            <a:off x="3982212" y="2322576"/>
            <a:ext cx="383134" cy="384048"/>
          </a:xfrm>
          <a:custGeom>
            <a:avLst/>
            <a:gdLst/>
            <a:ahLst/>
            <a:cxnLst/>
            <a:rect l="l" t="t" r="r" b="b"/>
            <a:pathLst>
              <a:path w="383134" h="384048">
                <a:moveTo>
                  <a:pt x="0" y="0"/>
                </a:moveTo>
                <a:lnTo>
                  <a:pt x="383134" y="109728"/>
                </a:lnTo>
                <a:lnTo>
                  <a:pt x="383134" y="274320"/>
                </a:lnTo>
                <a:lnTo>
                  <a:pt x="0" y="384048"/>
                </a:lnTo>
                <a:close/>
              </a:path>
            </a:pathLst>
          </a:custGeom>
          <a:solidFill>
            <a:srgbClr val="F2D46B"/>
          </a:solidFill>
          <a:ln w="9525">
            <a:solidFill>
              <a:srgbClr val="A08420"/>
            </a:solidFill>
            <a:prstDash val="solid"/>
          </a:ln>
        </p:spPr>
      </p:sp>
      <p:sp>
        <p:nvSpPr>
          <p:cNvPr id="56" name="Shape 54"/>
          <p:cNvSpPr/>
          <p:nvPr/>
        </p:nvSpPr>
        <p:spPr>
          <a:xfrm>
            <a:off x="2354580" y="2788920"/>
            <a:ext cx="91440" cy="685800"/>
          </a:xfrm>
          <a:prstGeom prst="line">
            <a:avLst/>
          </a:prstGeom>
          <a:noFill/>
          <a:ln w="101600">
            <a:solidFill>
              <a:srgbClr val="A08420"/>
            </a:solidFill>
            <a:prstDash val="solid"/>
          </a:ln>
        </p:spPr>
      </p:sp>
      <p:sp>
        <p:nvSpPr>
          <p:cNvPr id="57" name="Shape 55"/>
          <p:cNvSpPr/>
          <p:nvPr/>
        </p:nvSpPr>
        <p:spPr>
          <a:xfrm>
            <a:off x="2446020" y="3474720"/>
            <a:ext cx="342900" cy="868680"/>
          </a:xfrm>
          <a:prstGeom prst="line">
            <a:avLst/>
          </a:prstGeom>
          <a:noFill/>
          <a:ln w="101600">
            <a:solidFill>
              <a:srgbClr val="A08420"/>
            </a:solidFill>
            <a:prstDash val="solid"/>
          </a:ln>
        </p:spPr>
      </p:sp>
      <p:sp>
        <p:nvSpPr>
          <p:cNvPr id="58" name="Shape 56"/>
          <p:cNvSpPr/>
          <p:nvPr/>
        </p:nvSpPr>
        <p:spPr>
          <a:xfrm>
            <a:off x="2303780" y="2738120"/>
            <a:ext cx="101600" cy="101600"/>
          </a:xfrm>
          <a:prstGeom prst="ellipse">
            <a:avLst/>
          </a:prstGeom>
          <a:solidFill>
            <a:srgbClr val="A08420"/>
          </a:solidFill>
          <a:ln w="12700">
            <a:solidFill>
              <a:srgbClr val="A08420"/>
            </a:solidFill>
            <a:prstDash val="solid"/>
          </a:ln>
        </p:spPr>
      </p:sp>
      <p:sp>
        <p:nvSpPr>
          <p:cNvPr id="59" name="Shape 57"/>
          <p:cNvSpPr/>
          <p:nvPr/>
        </p:nvSpPr>
        <p:spPr>
          <a:xfrm>
            <a:off x="2395220" y="3423920"/>
            <a:ext cx="101600" cy="101600"/>
          </a:xfrm>
          <a:prstGeom prst="ellipse">
            <a:avLst/>
          </a:prstGeom>
          <a:solidFill>
            <a:srgbClr val="A08420"/>
          </a:solidFill>
          <a:ln w="12700">
            <a:solidFill>
              <a:srgbClr val="A08420"/>
            </a:solidFill>
            <a:prstDash val="solid"/>
          </a:ln>
        </p:spPr>
      </p:sp>
      <p:sp>
        <p:nvSpPr>
          <p:cNvPr id="60" name="Shape 58"/>
          <p:cNvSpPr/>
          <p:nvPr/>
        </p:nvSpPr>
        <p:spPr>
          <a:xfrm>
            <a:off x="2738120" y="4292600"/>
            <a:ext cx="101600" cy="101600"/>
          </a:xfrm>
          <a:prstGeom prst="ellipse">
            <a:avLst/>
          </a:prstGeom>
          <a:solidFill>
            <a:srgbClr val="A08420"/>
          </a:solidFill>
          <a:ln w="12700">
            <a:solidFill>
              <a:srgbClr val="A08420"/>
            </a:solidFill>
            <a:prstDash val="solid"/>
          </a:ln>
        </p:spPr>
      </p:sp>
      <p:sp>
        <p:nvSpPr>
          <p:cNvPr id="61" name="Shape 59"/>
          <p:cNvSpPr/>
          <p:nvPr/>
        </p:nvSpPr>
        <p:spPr>
          <a:xfrm>
            <a:off x="2354580" y="2788920"/>
            <a:ext cx="91440" cy="685800"/>
          </a:xfrm>
          <a:prstGeom prst="line">
            <a:avLst/>
          </a:prstGeom>
          <a:noFill/>
          <a:ln w="63500">
            <a:solidFill>
              <a:srgbClr val="F2D46B"/>
            </a:solidFill>
            <a:prstDash val="solid"/>
          </a:ln>
        </p:spPr>
      </p:sp>
      <p:sp>
        <p:nvSpPr>
          <p:cNvPr id="62" name="Shape 60"/>
          <p:cNvSpPr/>
          <p:nvPr/>
        </p:nvSpPr>
        <p:spPr>
          <a:xfrm>
            <a:off x="2446020" y="3474720"/>
            <a:ext cx="342900" cy="868680"/>
          </a:xfrm>
          <a:prstGeom prst="line">
            <a:avLst/>
          </a:prstGeom>
          <a:noFill/>
          <a:ln w="63500">
            <a:solidFill>
              <a:srgbClr val="F2D46B"/>
            </a:solidFill>
            <a:prstDash val="solid"/>
          </a:ln>
        </p:spPr>
      </p:sp>
      <p:sp>
        <p:nvSpPr>
          <p:cNvPr id="63" name="Shape 61"/>
          <p:cNvSpPr/>
          <p:nvPr/>
        </p:nvSpPr>
        <p:spPr>
          <a:xfrm>
            <a:off x="2322830" y="2757170"/>
            <a:ext cx="63500" cy="63500"/>
          </a:xfrm>
          <a:prstGeom prst="ellipse">
            <a:avLst/>
          </a:prstGeom>
          <a:solidFill>
            <a:srgbClr val="F2D46B"/>
          </a:solidFill>
          <a:ln w="12700">
            <a:solidFill>
              <a:srgbClr val="F2D46B"/>
            </a:solidFill>
            <a:prstDash val="solid"/>
          </a:ln>
        </p:spPr>
      </p:sp>
      <p:sp>
        <p:nvSpPr>
          <p:cNvPr id="64" name="Shape 62"/>
          <p:cNvSpPr/>
          <p:nvPr/>
        </p:nvSpPr>
        <p:spPr>
          <a:xfrm>
            <a:off x="2414270" y="3442970"/>
            <a:ext cx="63500" cy="63500"/>
          </a:xfrm>
          <a:prstGeom prst="ellipse">
            <a:avLst/>
          </a:prstGeom>
          <a:solidFill>
            <a:srgbClr val="F2D46B"/>
          </a:solidFill>
          <a:ln w="12700">
            <a:solidFill>
              <a:srgbClr val="F2D46B"/>
            </a:solidFill>
            <a:prstDash val="solid"/>
          </a:ln>
        </p:spPr>
      </p:sp>
      <p:sp>
        <p:nvSpPr>
          <p:cNvPr id="65" name="Shape 63"/>
          <p:cNvSpPr/>
          <p:nvPr/>
        </p:nvSpPr>
        <p:spPr>
          <a:xfrm>
            <a:off x="2757170" y="4311650"/>
            <a:ext cx="63500" cy="63500"/>
          </a:xfrm>
          <a:prstGeom prst="ellipse">
            <a:avLst/>
          </a:prstGeom>
          <a:solidFill>
            <a:srgbClr val="F2D46B"/>
          </a:solidFill>
          <a:ln w="12700">
            <a:solidFill>
              <a:srgbClr val="F2D46B"/>
            </a:solidFill>
            <a:prstDash val="solid"/>
          </a:ln>
        </p:spPr>
      </p:sp>
      <p:sp>
        <p:nvSpPr>
          <p:cNvPr id="66" name="Shape 64"/>
          <p:cNvSpPr/>
          <p:nvPr/>
        </p:nvSpPr>
        <p:spPr>
          <a:xfrm flipH="1">
            <a:off x="3954780" y="2788920"/>
            <a:ext cx="91440" cy="685800"/>
          </a:xfrm>
          <a:prstGeom prst="line">
            <a:avLst/>
          </a:prstGeom>
          <a:noFill/>
          <a:ln w="101600">
            <a:solidFill>
              <a:srgbClr val="A08420"/>
            </a:solidFill>
            <a:prstDash val="solid"/>
          </a:ln>
        </p:spPr>
      </p:sp>
      <p:sp>
        <p:nvSpPr>
          <p:cNvPr id="67" name="Shape 65"/>
          <p:cNvSpPr/>
          <p:nvPr/>
        </p:nvSpPr>
        <p:spPr>
          <a:xfrm flipH="1">
            <a:off x="3611880" y="3474720"/>
            <a:ext cx="342900" cy="868680"/>
          </a:xfrm>
          <a:prstGeom prst="line">
            <a:avLst/>
          </a:prstGeom>
          <a:noFill/>
          <a:ln w="101600">
            <a:solidFill>
              <a:srgbClr val="A08420"/>
            </a:solidFill>
            <a:prstDash val="solid"/>
          </a:ln>
        </p:spPr>
      </p:sp>
      <p:sp>
        <p:nvSpPr>
          <p:cNvPr id="68" name="Shape 66"/>
          <p:cNvSpPr/>
          <p:nvPr/>
        </p:nvSpPr>
        <p:spPr>
          <a:xfrm>
            <a:off x="3995420" y="2738120"/>
            <a:ext cx="101600" cy="101600"/>
          </a:xfrm>
          <a:prstGeom prst="ellipse">
            <a:avLst/>
          </a:prstGeom>
          <a:solidFill>
            <a:srgbClr val="A08420"/>
          </a:solidFill>
          <a:ln w="12700">
            <a:solidFill>
              <a:srgbClr val="A08420"/>
            </a:solidFill>
            <a:prstDash val="solid"/>
          </a:ln>
        </p:spPr>
      </p:sp>
      <p:sp>
        <p:nvSpPr>
          <p:cNvPr id="69" name="Shape 67"/>
          <p:cNvSpPr/>
          <p:nvPr/>
        </p:nvSpPr>
        <p:spPr>
          <a:xfrm>
            <a:off x="3903980" y="3423920"/>
            <a:ext cx="101600" cy="101600"/>
          </a:xfrm>
          <a:prstGeom prst="ellipse">
            <a:avLst/>
          </a:prstGeom>
          <a:solidFill>
            <a:srgbClr val="A08420"/>
          </a:solidFill>
          <a:ln w="12700">
            <a:solidFill>
              <a:srgbClr val="A08420"/>
            </a:solidFill>
            <a:prstDash val="solid"/>
          </a:ln>
        </p:spPr>
      </p:sp>
      <p:sp>
        <p:nvSpPr>
          <p:cNvPr id="70" name="Shape 68"/>
          <p:cNvSpPr/>
          <p:nvPr/>
        </p:nvSpPr>
        <p:spPr>
          <a:xfrm>
            <a:off x="3561080" y="4292600"/>
            <a:ext cx="101600" cy="101600"/>
          </a:xfrm>
          <a:prstGeom prst="ellipse">
            <a:avLst/>
          </a:prstGeom>
          <a:solidFill>
            <a:srgbClr val="A08420"/>
          </a:solidFill>
          <a:ln w="12700">
            <a:solidFill>
              <a:srgbClr val="A08420"/>
            </a:solidFill>
            <a:prstDash val="solid"/>
          </a:ln>
        </p:spPr>
      </p:sp>
      <p:sp>
        <p:nvSpPr>
          <p:cNvPr id="71" name="Shape 69"/>
          <p:cNvSpPr/>
          <p:nvPr/>
        </p:nvSpPr>
        <p:spPr>
          <a:xfrm flipH="1">
            <a:off x="3954780" y="2788920"/>
            <a:ext cx="91440" cy="685800"/>
          </a:xfrm>
          <a:prstGeom prst="line">
            <a:avLst/>
          </a:prstGeom>
          <a:noFill/>
          <a:ln w="63500">
            <a:solidFill>
              <a:srgbClr val="F2D46B"/>
            </a:solidFill>
            <a:prstDash val="solid"/>
          </a:ln>
        </p:spPr>
      </p:sp>
      <p:sp>
        <p:nvSpPr>
          <p:cNvPr id="72" name="Shape 70"/>
          <p:cNvSpPr/>
          <p:nvPr/>
        </p:nvSpPr>
        <p:spPr>
          <a:xfrm flipH="1">
            <a:off x="3611880" y="3474720"/>
            <a:ext cx="342900" cy="868680"/>
          </a:xfrm>
          <a:prstGeom prst="line">
            <a:avLst/>
          </a:prstGeom>
          <a:noFill/>
          <a:ln w="63500">
            <a:solidFill>
              <a:srgbClr val="F2D46B"/>
            </a:solidFill>
            <a:prstDash val="solid"/>
          </a:ln>
        </p:spPr>
      </p:sp>
      <p:sp>
        <p:nvSpPr>
          <p:cNvPr id="73" name="Shape 71"/>
          <p:cNvSpPr/>
          <p:nvPr/>
        </p:nvSpPr>
        <p:spPr>
          <a:xfrm>
            <a:off x="4014470" y="2757170"/>
            <a:ext cx="63500" cy="63500"/>
          </a:xfrm>
          <a:prstGeom prst="ellipse">
            <a:avLst/>
          </a:prstGeom>
          <a:solidFill>
            <a:srgbClr val="F2D46B"/>
          </a:solidFill>
          <a:ln w="12700">
            <a:solidFill>
              <a:srgbClr val="F2D46B"/>
            </a:solidFill>
            <a:prstDash val="solid"/>
          </a:ln>
        </p:spPr>
      </p:sp>
      <p:sp>
        <p:nvSpPr>
          <p:cNvPr id="74" name="Shape 72"/>
          <p:cNvSpPr/>
          <p:nvPr/>
        </p:nvSpPr>
        <p:spPr>
          <a:xfrm>
            <a:off x="3923030" y="3442970"/>
            <a:ext cx="63500" cy="63500"/>
          </a:xfrm>
          <a:prstGeom prst="ellipse">
            <a:avLst/>
          </a:prstGeom>
          <a:solidFill>
            <a:srgbClr val="F2D46B"/>
          </a:solidFill>
          <a:ln w="12700">
            <a:solidFill>
              <a:srgbClr val="F2D46B"/>
            </a:solidFill>
            <a:prstDash val="solid"/>
          </a:ln>
        </p:spPr>
      </p:sp>
      <p:sp>
        <p:nvSpPr>
          <p:cNvPr id="75" name="Shape 73"/>
          <p:cNvSpPr/>
          <p:nvPr/>
        </p:nvSpPr>
        <p:spPr>
          <a:xfrm>
            <a:off x="3580130" y="4311650"/>
            <a:ext cx="63500" cy="63500"/>
          </a:xfrm>
          <a:prstGeom prst="ellipse">
            <a:avLst/>
          </a:prstGeom>
          <a:solidFill>
            <a:srgbClr val="F2D46B"/>
          </a:solidFill>
          <a:ln w="12700">
            <a:solidFill>
              <a:srgbClr val="F2D46B"/>
            </a:solidFill>
            <a:prstDash val="solid"/>
          </a:ln>
        </p:spPr>
      </p:sp>
      <p:sp>
        <p:nvSpPr>
          <p:cNvPr id="76" name="Shape 74"/>
          <p:cNvSpPr/>
          <p:nvPr/>
        </p:nvSpPr>
        <p:spPr>
          <a:xfrm>
            <a:off x="2628900" y="4197096"/>
            <a:ext cx="1143000" cy="749808"/>
          </a:xfrm>
          <a:prstGeom prst="ellipse">
            <a:avLst/>
          </a:prstGeom>
          <a:solidFill>
            <a:srgbClr val="F2D46B"/>
          </a:solidFill>
          <a:ln w="22225">
            <a:solidFill>
              <a:srgbClr val="A08420"/>
            </a:solidFill>
            <a:prstDash val="solid"/>
          </a:ln>
        </p:spPr>
      </p:sp>
      <p:sp>
        <p:nvSpPr>
          <p:cNvPr id="77" name="Shape 75"/>
          <p:cNvSpPr/>
          <p:nvPr/>
        </p:nvSpPr>
        <p:spPr>
          <a:xfrm>
            <a:off x="2788920" y="4297680"/>
            <a:ext cx="822960" cy="457200"/>
          </a:xfrm>
          <a:prstGeom prst="ellipse">
            <a:avLst/>
          </a:prstGeom>
          <a:solidFill>
            <a:srgbClr val="F7E39A"/>
          </a:solidFill>
          <a:ln/>
        </p:spPr>
      </p:sp>
      <p:sp>
        <p:nvSpPr>
          <p:cNvPr id="78" name="Shape 76"/>
          <p:cNvSpPr/>
          <p:nvPr/>
        </p:nvSpPr>
        <p:spPr>
          <a:xfrm>
            <a:off x="3200400" y="4937760"/>
            <a:ext cx="91" cy="365760"/>
          </a:xfrm>
          <a:prstGeom prst="line">
            <a:avLst/>
          </a:prstGeom>
          <a:noFill/>
          <a:ln w="101600">
            <a:solidFill>
              <a:srgbClr val="A08420"/>
            </a:solidFill>
            <a:prstDash val="solid"/>
          </a:ln>
        </p:spPr>
      </p:sp>
      <p:sp>
        <p:nvSpPr>
          <p:cNvPr id="79" name="Shape 77"/>
          <p:cNvSpPr/>
          <p:nvPr/>
        </p:nvSpPr>
        <p:spPr>
          <a:xfrm>
            <a:off x="3149600" y="4886960"/>
            <a:ext cx="101600" cy="101600"/>
          </a:xfrm>
          <a:prstGeom prst="ellipse">
            <a:avLst/>
          </a:prstGeom>
          <a:solidFill>
            <a:srgbClr val="A08420"/>
          </a:solidFill>
          <a:ln w="12700">
            <a:solidFill>
              <a:srgbClr val="A08420"/>
            </a:solidFill>
            <a:prstDash val="solid"/>
          </a:ln>
        </p:spPr>
      </p:sp>
      <p:sp>
        <p:nvSpPr>
          <p:cNvPr id="80" name="Shape 78"/>
          <p:cNvSpPr/>
          <p:nvPr/>
        </p:nvSpPr>
        <p:spPr>
          <a:xfrm>
            <a:off x="3149600" y="5252720"/>
            <a:ext cx="101600" cy="101600"/>
          </a:xfrm>
          <a:prstGeom prst="ellipse">
            <a:avLst/>
          </a:prstGeom>
          <a:solidFill>
            <a:srgbClr val="A08420"/>
          </a:solidFill>
          <a:ln w="12700">
            <a:solidFill>
              <a:srgbClr val="A08420"/>
            </a:solidFill>
            <a:prstDash val="solid"/>
          </a:ln>
        </p:spPr>
      </p:sp>
      <p:sp>
        <p:nvSpPr>
          <p:cNvPr id="81" name="Shape 79"/>
          <p:cNvSpPr/>
          <p:nvPr/>
        </p:nvSpPr>
        <p:spPr>
          <a:xfrm>
            <a:off x="3200400" y="4937760"/>
            <a:ext cx="91" cy="365760"/>
          </a:xfrm>
          <a:prstGeom prst="line">
            <a:avLst/>
          </a:prstGeom>
          <a:noFill/>
          <a:ln w="63500">
            <a:solidFill>
              <a:srgbClr val="F2D46B"/>
            </a:solidFill>
            <a:prstDash val="solid"/>
          </a:ln>
        </p:spPr>
      </p:sp>
      <p:sp>
        <p:nvSpPr>
          <p:cNvPr id="82" name="Shape 80"/>
          <p:cNvSpPr/>
          <p:nvPr/>
        </p:nvSpPr>
        <p:spPr>
          <a:xfrm>
            <a:off x="3168650" y="4906010"/>
            <a:ext cx="63500" cy="63500"/>
          </a:xfrm>
          <a:prstGeom prst="ellipse">
            <a:avLst/>
          </a:prstGeom>
          <a:solidFill>
            <a:srgbClr val="F2D46B"/>
          </a:solidFill>
          <a:ln w="12700">
            <a:solidFill>
              <a:srgbClr val="F2D46B"/>
            </a:solidFill>
            <a:prstDash val="solid"/>
          </a:ln>
        </p:spPr>
      </p:sp>
      <p:sp>
        <p:nvSpPr>
          <p:cNvPr id="83" name="Shape 81"/>
          <p:cNvSpPr/>
          <p:nvPr/>
        </p:nvSpPr>
        <p:spPr>
          <a:xfrm>
            <a:off x="3168650" y="5271770"/>
            <a:ext cx="63500" cy="63500"/>
          </a:xfrm>
          <a:prstGeom prst="ellipse">
            <a:avLst/>
          </a:prstGeom>
          <a:solidFill>
            <a:srgbClr val="F2D46B"/>
          </a:solidFill>
          <a:ln w="12700">
            <a:solidFill>
              <a:srgbClr val="F2D46B"/>
            </a:solidFill>
            <a:prstDash val="solid"/>
          </a:ln>
        </p:spPr>
      </p:sp>
      <p:sp>
        <p:nvSpPr>
          <p:cNvPr id="84" name="Shape 82"/>
          <p:cNvSpPr/>
          <p:nvPr/>
        </p:nvSpPr>
        <p:spPr>
          <a:xfrm>
            <a:off x="2395728" y="3429000"/>
            <a:ext cx="91440" cy="365760"/>
          </a:xfrm>
          <a:prstGeom prst="line">
            <a:avLst/>
          </a:prstGeom>
          <a:noFill/>
          <a:ln w="19050">
            <a:solidFill>
              <a:srgbClr val="A08420"/>
            </a:solidFill>
            <a:prstDash val="solid"/>
            <a:tailEnd type="triangle"/>
          </a:ln>
        </p:spPr>
      </p:sp>
      <p:sp>
        <p:nvSpPr>
          <p:cNvPr id="85" name="Text 83"/>
          <p:cNvSpPr/>
          <p:nvPr/>
        </p:nvSpPr>
        <p:spPr>
          <a:xfrm>
            <a:off x="502920" y="1463040"/>
            <a:ext cx="1051560" cy="274320"/>
          </a:xfrm>
          <a:prstGeom prst="rect">
            <a:avLst/>
          </a:prstGeom>
          <a:noFill/>
          <a:ln/>
        </p:spPr>
        <p:txBody>
          <a:bodyPr wrap="square" lIns="0" tIns="0" rIns="0" bIns="0" rtlCol="0" anchor="ctr"/>
          <a:lstStyle/>
          <a:p>
            <a:pPr algn="r" indent="0" marL="0">
              <a:buNone/>
            </a:pPr>
            <a:r>
              <a:rPr lang="en-US" sz="1100" b="1" dirty="0">
                <a:solidFill>
                  <a:srgbClr val="7A2E28"/>
                </a:solidFill>
                <a:latin typeface="Calibri" pitchFamily="34" charset="0"/>
                <a:ea typeface="Calibri" pitchFamily="34" charset="-122"/>
                <a:cs typeface="Calibri" pitchFamily="34" charset="-120"/>
              </a:rPr>
              <a:t>Kidney</a:t>
            </a:r>
            <a:endParaRPr lang="en-US" sz="1100" dirty="0"/>
          </a:p>
        </p:txBody>
      </p:sp>
      <p:sp>
        <p:nvSpPr>
          <p:cNvPr id="86" name="Shape 84"/>
          <p:cNvSpPr/>
          <p:nvPr/>
        </p:nvSpPr>
        <p:spPr>
          <a:xfrm>
            <a:off x="1591056" y="1600200"/>
            <a:ext cx="100584" cy="457200"/>
          </a:xfrm>
          <a:prstGeom prst="line">
            <a:avLst/>
          </a:prstGeom>
          <a:noFill/>
          <a:ln w="12700">
            <a:solidFill>
              <a:srgbClr val="7A2E28"/>
            </a:solidFill>
            <a:prstDash val="solid"/>
          </a:ln>
        </p:spPr>
      </p:sp>
      <p:sp>
        <p:nvSpPr>
          <p:cNvPr id="87" name="Shape 85"/>
          <p:cNvSpPr/>
          <p:nvPr/>
        </p:nvSpPr>
        <p:spPr>
          <a:xfrm>
            <a:off x="1664208" y="2029968"/>
            <a:ext cx="54864" cy="54864"/>
          </a:xfrm>
          <a:prstGeom prst="ellipse">
            <a:avLst/>
          </a:prstGeom>
          <a:solidFill>
            <a:srgbClr val="7A2E28"/>
          </a:solidFill>
          <a:ln w="9525">
            <a:solidFill>
              <a:srgbClr val="7A2E28"/>
            </a:solidFill>
            <a:prstDash val="solid"/>
          </a:ln>
        </p:spPr>
      </p:sp>
      <p:sp>
        <p:nvSpPr>
          <p:cNvPr id="88" name="Text 86"/>
          <p:cNvSpPr/>
          <p:nvPr/>
        </p:nvSpPr>
        <p:spPr>
          <a:xfrm>
            <a:off x="502920" y="3291840"/>
            <a:ext cx="1051560" cy="274320"/>
          </a:xfrm>
          <a:prstGeom prst="rect">
            <a:avLst/>
          </a:prstGeom>
          <a:noFill/>
          <a:ln/>
        </p:spPr>
        <p:txBody>
          <a:bodyPr wrap="square" lIns="0" tIns="0" rIns="0" bIns="0" rtlCol="0" anchor="ctr"/>
          <a:lstStyle/>
          <a:p>
            <a:pPr algn="r" indent="0" marL="0">
              <a:buNone/>
            </a:pPr>
            <a:r>
              <a:rPr lang="en-US" sz="1100" b="1" dirty="0">
                <a:solidFill>
                  <a:srgbClr val="A08420"/>
                </a:solidFill>
                <a:latin typeface="Calibri" pitchFamily="34" charset="0"/>
                <a:ea typeface="Calibri" pitchFamily="34" charset="-122"/>
                <a:cs typeface="Calibri" pitchFamily="34" charset="-120"/>
              </a:rPr>
              <a:t>Ureter</a:t>
            </a:r>
            <a:endParaRPr lang="en-US" sz="1100" dirty="0"/>
          </a:p>
        </p:txBody>
      </p:sp>
      <p:sp>
        <p:nvSpPr>
          <p:cNvPr id="89" name="Shape 87"/>
          <p:cNvSpPr/>
          <p:nvPr/>
        </p:nvSpPr>
        <p:spPr>
          <a:xfrm flipV="1">
            <a:off x="1591056" y="3291840"/>
            <a:ext cx="827532" cy="137160"/>
          </a:xfrm>
          <a:prstGeom prst="line">
            <a:avLst/>
          </a:prstGeom>
          <a:noFill/>
          <a:ln w="12700">
            <a:solidFill>
              <a:srgbClr val="A08420"/>
            </a:solidFill>
            <a:prstDash val="solid"/>
          </a:ln>
        </p:spPr>
      </p:sp>
      <p:sp>
        <p:nvSpPr>
          <p:cNvPr id="90" name="Shape 88"/>
          <p:cNvSpPr/>
          <p:nvPr/>
        </p:nvSpPr>
        <p:spPr>
          <a:xfrm>
            <a:off x="2391156" y="3264408"/>
            <a:ext cx="54864" cy="54864"/>
          </a:xfrm>
          <a:prstGeom prst="ellipse">
            <a:avLst/>
          </a:prstGeom>
          <a:solidFill>
            <a:srgbClr val="A08420"/>
          </a:solidFill>
          <a:ln w="9525">
            <a:solidFill>
              <a:srgbClr val="A08420"/>
            </a:solidFill>
            <a:prstDash val="solid"/>
          </a:ln>
        </p:spPr>
      </p:sp>
      <p:sp>
        <p:nvSpPr>
          <p:cNvPr id="91" name="Text 89"/>
          <p:cNvSpPr/>
          <p:nvPr/>
        </p:nvSpPr>
        <p:spPr>
          <a:xfrm>
            <a:off x="502920" y="4023360"/>
            <a:ext cx="1417320" cy="274320"/>
          </a:xfrm>
          <a:prstGeom prst="rect">
            <a:avLst/>
          </a:prstGeom>
          <a:noFill/>
          <a:ln/>
        </p:spPr>
        <p:txBody>
          <a:bodyPr wrap="square" lIns="0" tIns="0" rIns="0" bIns="0" rtlCol="0" anchor="ctr"/>
          <a:lstStyle/>
          <a:p>
            <a:pPr algn="r" indent="0" marL="0">
              <a:buNone/>
            </a:pPr>
            <a:r>
              <a:rPr lang="en-US" sz="1100" b="1" dirty="0">
                <a:solidFill>
                  <a:srgbClr val="2C4A80"/>
                </a:solidFill>
                <a:latin typeface="Calibri" pitchFamily="34" charset="0"/>
                <a:ea typeface="Calibri" pitchFamily="34" charset="-122"/>
                <a:cs typeface="Calibri" pitchFamily="34" charset="-120"/>
              </a:rPr>
              <a:t>Vena cava</a:t>
            </a:r>
            <a:endParaRPr lang="en-US" sz="1100" dirty="0"/>
          </a:p>
        </p:txBody>
      </p:sp>
      <p:sp>
        <p:nvSpPr>
          <p:cNvPr id="92" name="Shape 90"/>
          <p:cNvSpPr/>
          <p:nvPr/>
        </p:nvSpPr>
        <p:spPr>
          <a:xfrm flipV="1">
            <a:off x="1956816" y="3931920"/>
            <a:ext cx="987552" cy="228600"/>
          </a:xfrm>
          <a:prstGeom prst="line">
            <a:avLst/>
          </a:prstGeom>
          <a:noFill/>
          <a:ln w="12700">
            <a:solidFill>
              <a:srgbClr val="2C4A80"/>
            </a:solidFill>
            <a:prstDash val="solid"/>
          </a:ln>
        </p:spPr>
      </p:sp>
      <p:sp>
        <p:nvSpPr>
          <p:cNvPr id="93" name="Shape 91"/>
          <p:cNvSpPr/>
          <p:nvPr/>
        </p:nvSpPr>
        <p:spPr>
          <a:xfrm>
            <a:off x="2916936" y="3904488"/>
            <a:ext cx="54864" cy="54864"/>
          </a:xfrm>
          <a:prstGeom prst="ellipse">
            <a:avLst/>
          </a:prstGeom>
          <a:solidFill>
            <a:srgbClr val="2C4A80"/>
          </a:solidFill>
          <a:ln w="9525">
            <a:solidFill>
              <a:srgbClr val="2C4A80"/>
            </a:solidFill>
            <a:prstDash val="solid"/>
          </a:ln>
        </p:spPr>
      </p:sp>
      <p:sp>
        <p:nvSpPr>
          <p:cNvPr id="94" name="Text 92"/>
          <p:cNvSpPr/>
          <p:nvPr/>
        </p:nvSpPr>
        <p:spPr>
          <a:xfrm>
            <a:off x="5074920" y="1463040"/>
            <a:ext cx="822960" cy="274320"/>
          </a:xfrm>
          <a:prstGeom prst="rect">
            <a:avLst/>
          </a:prstGeom>
          <a:noFill/>
          <a:ln/>
        </p:spPr>
        <p:txBody>
          <a:bodyPr wrap="square" lIns="0" tIns="0" rIns="0" bIns="0" rtlCol="0" anchor="ctr"/>
          <a:lstStyle/>
          <a:p>
            <a:pPr algn="l" indent="0" marL="0">
              <a:buNone/>
            </a:pPr>
            <a:r>
              <a:rPr lang="en-US" sz="1100" b="1" dirty="0">
                <a:solidFill>
                  <a:srgbClr val="8E2A33"/>
                </a:solidFill>
                <a:latin typeface="Calibri" pitchFamily="34" charset="0"/>
                <a:ea typeface="Calibri" pitchFamily="34" charset="-122"/>
                <a:cs typeface="Calibri" pitchFamily="34" charset="-120"/>
              </a:rPr>
              <a:t>Aorta</a:t>
            </a:r>
            <a:endParaRPr lang="en-US" sz="1100" dirty="0"/>
          </a:p>
        </p:txBody>
      </p:sp>
      <p:sp>
        <p:nvSpPr>
          <p:cNvPr id="95" name="Shape 93"/>
          <p:cNvSpPr/>
          <p:nvPr/>
        </p:nvSpPr>
        <p:spPr>
          <a:xfrm flipH="1">
            <a:off x="3474720" y="1600200"/>
            <a:ext cx="1563624" cy="91440"/>
          </a:xfrm>
          <a:prstGeom prst="line">
            <a:avLst/>
          </a:prstGeom>
          <a:noFill/>
          <a:ln w="12700">
            <a:solidFill>
              <a:srgbClr val="8E2A33"/>
            </a:solidFill>
            <a:prstDash val="solid"/>
          </a:ln>
        </p:spPr>
      </p:sp>
      <p:sp>
        <p:nvSpPr>
          <p:cNvPr id="96" name="Shape 94"/>
          <p:cNvSpPr/>
          <p:nvPr/>
        </p:nvSpPr>
        <p:spPr>
          <a:xfrm>
            <a:off x="3447288" y="1664208"/>
            <a:ext cx="54864" cy="54864"/>
          </a:xfrm>
          <a:prstGeom prst="ellipse">
            <a:avLst/>
          </a:prstGeom>
          <a:solidFill>
            <a:srgbClr val="8E2A33"/>
          </a:solidFill>
          <a:ln w="9525">
            <a:solidFill>
              <a:srgbClr val="8E2A33"/>
            </a:solidFill>
            <a:prstDash val="solid"/>
          </a:ln>
        </p:spPr>
      </p:sp>
      <p:sp>
        <p:nvSpPr>
          <p:cNvPr id="97" name="Text 95"/>
          <p:cNvSpPr/>
          <p:nvPr/>
        </p:nvSpPr>
        <p:spPr>
          <a:xfrm>
            <a:off x="4983480" y="3474720"/>
            <a:ext cx="914400" cy="274320"/>
          </a:xfrm>
          <a:prstGeom prst="rect">
            <a:avLst/>
          </a:prstGeom>
          <a:noFill/>
          <a:ln/>
        </p:spPr>
        <p:txBody>
          <a:bodyPr wrap="square" lIns="0" tIns="0" rIns="0" bIns="0" rtlCol="0" anchor="ctr"/>
          <a:lstStyle/>
          <a:p>
            <a:pPr algn="l" indent="0" marL="0">
              <a:buNone/>
            </a:pPr>
            <a:r>
              <a:rPr lang="en-US" sz="1100" b="1" dirty="0">
                <a:solidFill>
                  <a:srgbClr val="2C4A80"/>
                </a:solidFill>
                <a:latin typeface="Calibri" pitchFamily="34" charset="0"/>
                <a:ea typeface="Calibri" pitchFamily="34" charset="-122"/>
                <a:cs typeface="Calibri" pitchFamily="34" charset="-120"/>
              </a:rPr>
              <a:t>Renal vein</a:t>
            </a:r>
            <a:endParaRPr lang="en-US" sz="1100" dirty="0"/>
          </a:p>
        </p:txBody>
      </p:sp>
      <p:sp>
        <p:nvSpPr>
          <p:cNvPr id="98" name="Shape 96"/>
          <p:cNvSpPr/>
          <p:nvPr/>
        </p:nvSpPr>
        <p:spPr>
          <a:xfrm flipH="1" flipV="1">
            <a:off x="3886200" y="2633472"/>
            <a:ext cx="1060704" cy="978408"/>
          </a:xfrm>
          <a:prstGeom prst="line">
            <a:avLst/>
          </a:prstGeom>
          <a:noFill/>
          <a:ln w="12700">
            <a:solidFill>
              <a:srgbClr val="2C4A80"/>
            </a:solidFill>
            <a:prstDash val="solid"/>
          </a:ln>
        </p:spPr>
      </p:sp>
      <p:sp>
        <p:nvSpPr>
          <p:cNvPr id="99" name="Shape 97"/>
          <p:cNvSpPr/>
          <p:nvPr/>
        </p:nvSpPr>
        <p:spPr>
          <a:xfrm>
            <a:off x="3858768" y="2606040"/>
            <a:ext cx="54864" cy="54864"/>
          </a:xfrm>
          <a:prstGeom prst="ellipse">
            <a:avLst/>
          </a:prstGeom>
          <a:solidFill>
            <a:srgbClr val="2C4A80"/>
          </a:solidFill>
          <a:ln w="9525">
            <a:solidFill>
              <a:srgbClr val="2C4A80"/>
            </a:solidFill>
            <a:prstDash val="solid"/>
          </a:ln>
        </p:spPr>
      </p:sp>
      <p:sp>
        <p:nvSpPr>
          <p:cNvPr id="100" name="Text 98"/>
          <p:cNvSpPr/>
          <p:nvPr/>
        </p:nvSpPr>
        <p:spPr>
          <a:xfrm>
            <a:off x="4983480" y="1691640"/>
            <a:ext cx="914400" cy="274320"/>
          </a:xfrm>
          <a:prstGeom prst="rect">
            <a:avLst/>
          </a:prstGeom>
          <a:noFill/>
          <a:ln/>
        </p:spPr>
        <p:txBody>
          <a:bodyPr wrap="square" lIns="0" tIns="0" rIns="0" bIns="0" rtlCol="0" anchor="ctr"/>
          <a:lstStyle/>
          <a:p>
            <a:pPr algn="l" indent="0" marL="0">
              <a:buNone/>
            </a:pPr>
            <a:r>
              <a:rPr lang="en-US" sz="1100" b="1" dirty="0">
                <a:solidFill>
                  <a:srgbClr val="8E2A33"/>
                </a:solidFill>
                <a:latin typeface="Calibri" pitchFamily="34" charset="0"/>
                <a:ea typeface="Calibri" pitchFamily="34" charset="-122"/>
                <a:cs typeface="Calibri" pitchFamily="34" charset="-120"/>
              </a:rPr>
              <a:t>Renal artery</a:t>
            </a:r>
            <a:endParaRPr lang="en-US" sz="1100" dirty="0"/>
          </a:p>
        </p:txBody>
      </p:sp>
      <p:sp>
        <p:nvSpPr>
          <p:cNvPr id="101" name="Shape 99"/>
          <p:cNvSpPr/>
          <p:nvPr/>
        </p:nvSpPr>
        <p:spPr>
          <a:xfrm flipH="1">
            <a:off x="3931920" y="1828800"/>
            <a:ext cx="1014984" cy="502920"/>
          </a:xfrm>
          <a:prstGeom prst="line">
            <a:avLst/>
          </a:prstGeom>
          <a:noFill/>
          <a:ln w="12700">
            <a:solidFill>
              <a:srgbClr val="8E2A33"/>
            </a:solidFill>
            <a:prstDash val="solid"/>
          </a:ln>
        </p:spPr>
      </p:sp>
      <p:sp>
        <p:nvSpPr>
          <p:cNvPr id="102" name="Shape 100"/>
          <p:cNvSpPr/>
          <p:nvPr/>
        </p:nvSpPr>
        <p:spPr>
          <a:xfrm>
            <a:off x="3904488" y="2304288"/>
            <a:ext cx="54864" cy="54864"/>
          </a:xfrm>
          <a:prstGeom prst="ellipse">
            <a:avLst/>
          </a:prstGeom>
          <a:solidFill>
            <a:srgbClr val="8E2A33"/>
          </a:solidFill>
          <a:ln w="9525">
            <a:solidFill>
              <a:srgbClr val="8E2A33"/>
            </a:solidFill>
            <a:prstDash val="solid"/>
          </a:ln>
        </p:spPr>
      </p:sp>
      <p:sp>
        <p:nvSpPr>
          <p:cNvPr id="103" name="Text 101"/>
          <p:cNvSpPr/>
          <p:nvPr/>
        </p:nvSpPr>
        <p:spPr>
          <a:xfrm>
            <a:off x="4206240" y="4206240"/>
            <a:ext cx="1280160" cy="274320"/>
          </a:xfrm>
          <a:prstGeom prst="rect">
            <a:avLst/>
          </a:prstGeom>
          <a:noFill/>
          <a:ln/>
        </p:spPr>
        <p:txBody>
          <a:bodyPr wrap="square" lIns="0" tIns="0" rIns="0" bIns="0" rtlCol="0" anchor="ctr"/>
          <a:lstStyle/>
          <a:p>
            <a:pPr algn="l" indent="0" marL="0">
              <a:buNone/>
            </a:pPr>
            <a:r>
              <a:rPr lang="en-US" sz="1100" b="1" dirty="0">
                <a:solidFill>
                  <a:srgbClr val="A08420"/>
                </a:solidFill>
                <a:latin typeface="Calibri" pitchFamily="34" charset="0"/>
                <a:ea typeface="Calibri" pitchFamily="34" charset="-122"/>
                <a:cs typeface="Calibri" pitchFamily="34" charset="-120"/>
              </a:rPr>
              <a:t>Bladder</a:t>
            </a:r>
            <a:endParaRPr lang="en-US" sz="1100" dirty="0"/>
          </a:p>
        </p:txBody>
      </p:sp>
      <p:sp>
        <p:nvSpPr>
          <p:cNvPr id="104" name="Shape 102"/>
          <p:cNvSpPr/>
          <p:nvPr/>
        </p:nvSpPr>
        <p:spPr>
          <a:xfrm flipH="1">
            <a:off x="3703320" y="4343400"/>
            <a:ext cx="466344" cy="228600"/>
          </a:xfrm>
          <a:prstGeom prst="line">
            <a:avLst/>
          </a:prstGeom>
          <a:noFill/>
          <a:ln w="12700">
            <a:solidFill>
              <a:srgbClr val="A08420"/>
            </a:solidFill>
            <a:prstDash val="solid"/>
          </a:ln>
        </p:spPr>
      </p:sp>
      <p:sp>
        <p:nvSpPr>
          <p:cNvPr id="105" name="Shape 103"/>
          <p:cNvSpPr/>
          <p:nvPr/>
        </p:nvSpPr>
        <p:spPr>
          <a:xfrm>
            <a:off x="3675888" y="4544568"/>
            <a:ext cx="54864" cy="54864"/>
          </a:xfrm>
          <a:prstGeom prst="ellipse">
            <a:avLst/>
          </a:prstGeom>
          <a:solidFill>
            <a:srgbClr val="A08420"/>
          </a:solidFill>
          <a:ln w="9525">
            <a:solidFill>
              <a:srgbClr val="A08420"/>
            </a:solidFill>
            <a:prstDash val="solid"/>
          </a:ln>
        </p:spPr>
      </p:sp>
      <p:sp>
        <p:nvSpPr>
          <p:cNvPr id="106" name="Text 104"/>
          <p:cNvSpPr/>
          <p:nvPr/>
        </p:nvSpPr>
        <p:spPr>
          <a:xfrm>
            <a:off x="4206240" y="4892040"/>
            <a:ext cx="1280160" cy="274320"/>
          </a:xfrm>
          <a:prstGeom prst="rect">
            <a:avLst/>
          </a:prstGeom>
          <a:noFill/>
          <a:ln/>
        </p:spPr>
        <p:txBody>
          <a:bodyPr wrap="square" lIns="0" tIns="0" rIns="0" bIns="0" rtlCol="0" anchor="ctr"/>
          <a:lstStyle/>
          <a:p>
            <a:pPr algn="l" indent="0" marL="0">
              <a:buNone/>
            </a:pPr>
            <a:r>
              <a:rPr lang="en-US" sz="1100" b="1" dirty="0">
                <a:solidFill>
                  <a:srgbClr val="A08420"/>
                </a:solidFill>
                <a:latin typeface="Calibri" pitchFamily="34" charset="0"/>
                <a:ea typeface="Calibri" pitchFamily="34" charset="-122"/>
                <a:cs typeface="Calibri" pitchFamily="34" charset="-120"/>
              </a:rPr>
              <a:t>Urethra</a:t>
            </a:r>
            <a:endParaRPr lang="en-US" sz="1100" dirty="0"/>
          </a:p>
        </p:txBody>
      </p:sp>
      <p:sp>
        <p:nvSpPr>
          <p:cNvPr id="107" name="Shape 105"/>
          <p:cNvSpPr/>
          <p:nvPr/>
        </p:nvSpPr>
        <p:spPr>
          <a:xfrm flipH="1">
            <a:off x="3246120" y="5029200"/>
            <a:ext cx="923544" cy="91440"/>
          </a:xfrm>
          <a:prstGeom prst="line">
            <a:avLst/>
          </a:prstGeom>
          <a:noFill/>
          <a:ln w="12700">
            <a:solidFill>
              <a:srgbClr val="A08420"/>
            </a:solidFill>
            <a:prstDash val="solid"/>
          </a:ln>
        </p:spPr>
      </p:sp>
      <p:sp>
        <p:nvSpPr>
          <p:cNvPr id="108" name="Shape 106"/>
          <p:cNvSpPr/>
          <p:nvPr/>
        </p:nvSpPr>
        <p:spPr>
          <a:xfrm>
            <a:off x="3218688" y="5093208"/>
            <a:ext cx="54864" cy="54864"/>
          </a:xfrm>
          <a:prstGeom prst="ellipse">
            <a:avLst/>
          </a:prstGeom>
          <a:solidFill>
            <a:srgbClr val="A08420"/>
          </a:solidFill>
          <a:ln w="9525">
            <a:solidFill>
              <a:srgbClr val="A08420"/>
            </a:solidFill>
            <a:prstDash val="solid"/>
          </a:ln>
        </p:spPr>
      </p:sp>
      <p:sp>
        <p:nvSpPr>
          <p:cNvPr id="109" name="Text 107"/>
          <p:cNvSpPr/>
          <p:nvPr/>
        </p:nvSpPr>
        <p:spPr>
          <a:xfrm>
            <a:off x="502920" y="1828800"/>
            <a:ext cx="1371600" cy="411480"/>
          </a:xfrm>
          <a:prstGeom prst="rect">
            <a:avLst/>
          </a:prstGeom>
          <a:noFill/>
          <a:ln/>
        </p:spPr>
        <p:txBody>
          <a:bodyPr wrap="square" lIns="0" tIns="0" rIns="0" bIns="0" rtlCol="0" anchor="t"/>
          <a:lstStyle/>
          <a:p>
            <a:pPr algn="r" indent="0" marL="0">
              <a:buNone/>
            </a:pPr>
            <a:r>
              <a:rPr lang="en-US" sz="1000" i="1" dirty="0">
                <a:solidFill>
                  <a:srgbClr val="6B7385"/>
                </a:solidFill>
                <a:latin typeface="Calibri" pitchFamily="34" charset="0"/>
                <a:ea typeface="Calibri" pitchFamily="34" charset="-122"/>
                <a:cs typeface="Calibri" pitchFamily="34" charset="-120"/>
              </a:rPr>
              <a:t>filters the blood; makes urine</a:t>
            </a:r>
            <a:endParaRPr lang="en-US" sz="1000" dirty="0"/>
          </a:p>
        </p:txBody>
      </p:sp>
      <p:sp>
        <p:nvSpPr>
          <p:cNvPr id="110" name="Shape 108"/>
          <p:cNvSpPr/>
          <p:nvPr/>
        </p:nvSpPr>
        <p:spPr>
          <a:xfrm>
            <a:off x="6217920" y="1188720"/>
            <a:ext cx="5562295" cy="2423160"/>
          </a:xfrm>
          <a:prstGeom prst="roundRect">
            <a:avLst>
              <a:gd name="adj" fmla="val 2264"/>
            </a:avLst>
          </a:prstGeom>
          <a:solidFill>
            <a:srgbClr val="F5FBF7"/>
          </a:solidFill>
          <a:ln w="9525">
            <a:solidFill>
              <a:srgbClr val="D2E5D8"/>
            </a:solidFill>
            <a:prstDash val="solid"/>
          </a:ln>
        </p:spPr>
      </p:sp>
      <p:sp>
        <p:nvSpPr>
          <p:cNvPr id="111" name="Text 10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Structure and route of urine</a:t>
            </a:r>
            <a:endParaRPr lang="en-US" sz="1300" dirty="0"/>
          </a:p>
        </p:txBody>
      </p:sp>
      <p:sp>
        <p:nvSpPr>
          <p:cNvPr id="112" name="Text 11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Renal artery</a:t>
            </a:r>
            <a:r>
              <a:rPr lang="en-US" sz="1100" dirty="0">
                <a:solidFill>
                  <a:srgbClr val="262B3A"/>
                </a:solidFill>
                <a:latin typeface="Calibri" pitchFamily="34" charset="0"/>
                <a:ea typeface="Calibri" pitchFamily="34" charset="-122"/>
                <a:cs typeface="Calibri" pitchFamily="34" charset="-120"/>
              </a:rPr>
              <a:t>: brings blood (with urea and excess water and ions) </a:t>
            </a:r>
            <a:r>
              <a:rPr lang="en-US" sz="1100" b="1" dirty="0">
                <a:solidFill>
                  <a:srgbClr val="262B3A"/>
                </a:solidFill>
                <a:latin typeface="Calibri" pitchFamily="34" charset="0"/>
                <a:ea typeface="Calibri" pitchFamily="34" charset="-122"/>
                <a:cs typeface="Calibri" pitchFamily="34" charset="-120"/>
              </a:rPr>
              <a:t>to</a:t>
            </a:r>
            <a:r>
              <a:rPr lang="en-US" sz="1100" dirty="0">
                <a:solidFill>
                  <a:srgbClr val="262B3A"/>
                </a:solidFill>
                <a:latin typeface="Calibri" pitchFamily="34" charset="0"/>
                <a:ea typeface="Calibri" pitchFamily="34" charset="-122"/>
                <a:cs typeface="Calibri" pitchFamily="34" charset="-120"/>
              </a:rPr>
              <a:t> the kidney. </a:t>
            </a:r>
            <a:r>
              <a:rPr lang="en-US" sz="1100" b="1" dirty="0">
                <a:solidFill>
                  <a:srgbClr val="262B3A"/>
                </a:solidFill>
                <a:latin typeface="Calibri" pitchFamily="34" charset="0"/>
                <a:ea typeface="Calibri" pitchFamily="34" charset="-122"/>
                <a:cs typeface="Calibri" pitchFamily="34" charset="-120"/>
              </a:rPr>
              <a:t>Renal vein</a:t>
            </a:r>
            <a:r>
              <a:rPr lang="en-US" sz="1100" dirty="0">
                <a:solidFill>
                  <a:srgbClr val="262B3A"/>
                </a:solidFill>
                <a:latin typeface="Calibri" pitchFamily="34" charset="0"/>
                <a:ea typeface="Calibri" pitchFamily="34" charset="-122"/>
                <a:cs typeface="Calibri" pitchFamily="34" charset="-120"/>
              </a:rPr>
              <a:t>: takes </a:t>
            </a:r>
            <a:r>
              <a:rPr lang="en-US" sz="1100" b="1" dirty="0">
                <a:solidFill>
                  <a:srgbClr val="262B3A"/>
                </a:solidFill>
                <a:latin typeface="Calibri" pitchFamily="34" charset="0"/>
                <a:ea typeface="Calibri" pitchFamily="34" charset="-122"/>
                <a:cs typeface="Calibri" pitchFamily="34" charset="-120"/>
              </a:rPr>
              <a:t>filtered</a:t>
            </a:r>
            <a:r>
              <a:rPr lang="en-US" sz="1100" dirty="0">
                <a:solidFill>
                  <a:srgbClr val="262B3A"/>
                </a:solidFill>
                <a:latin typeface="Calibri" pitchFamily="34" charset="0"/>
                <a:ea typeface="Calibri" pitchFamily="34" charset="-122"/>
                <a:cs typeface="Calibri" pitchFamily="34" charset="-120"/>
              </a:rPr>
              <a:t> blood away.</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Kidneys</a:t>
            </a:r>
            <a:r>
              <a:rPr lang="en-US" sz="1100" dirty="0">
                <a:solidFill>
                  <a:srgbClr val="262B3A"/>
                </a:solidFill>
                <a:latin typeface="Calibri" pitchFamily="34" charset="0"/>
                <a:ea typeface="Calibri" pitchFamily="34" charset="-122"/>
                <a:cs typeface="Calibri" pitchFamily="34" charset="-120"/>
              </a:rPr>
              <a:t>: filter the blood, reabsorb what is useful and make </a:t>
            </a:r>
            <a:r>
              <a:rPr lang="en-US" sz="1100" b="1" dirty="0">
                <a:solidFill>
                  <a:srgbClr val="262B3A"/>
                </a:solidFill>
                <a:latin typeface="Calibri" pitchFamily="34" charset="0"/>
                <a:ea typeface="Calibri" pitchFamily="34" charset="-122"/>
                <a:cs typeface="Calibri" pitchFamily="34" charset="-120"/>
              </a:rPr>
              <a:t>urine</a:t>
            </a:r>
            <a:r>
              <a:rPr lang="en-US" sz="1100" dirty="0">
                <a:solidFill>
                  <a:srgbClr val="262B3A"/>
                </a:solidFill>
                <a:latin typeface="Calibri" pitchFamily="34" charset="0"/>
                <a:ea typeface="Calibri" pitchFamily="34" charset="-122"/>
                <a:cs typeface="Calibri" pitchFamily="34" charset="-120"/>
              </a:rPr>
              <a:t> (urea, excess water and ions).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Ureters</a:t>
            </a:r>
            <a:r>
              <a:rPr lang="en-US" sz="1100" dirty="0">
                <a:solidFill>
                  <a:srgbClr val="262B3A"/>
                </a:solidFill>
                <a:latin typeface="Calibri" pitchFamily="34" charset="0"/>
                <a:ea typeface="Calibri" pitchFamily="34" charset="-122"/>
                <a:cs typeface="Calibri" pitchFamily="34" charset="-120"/>
              </a:rPr>
              <a:t>: carry urine from each kidney to the </a:t>
            </a:r>
            <a:r>
              <a:rPr lang="en-US" sz="1100" b="1" dirty="0">
                <a:solidFill>
                  <a:srgbClr val="262B3A"/>
                </a:solidFill>
                <a:latin typeface="Calibri" pitchFamily="34" charset="0"/>
                <a:ea typeface="Calibri" pitchFamily="34" charset="-122"/>
                <a:cs typeface="Calibri" pitchFamily="34" charset="-120"/>
              </a:rPr>
              <a:t>bladder</a:t>
            </a:r>
            <a:r>
              <a:rPr lang="en-US" sz="1100" dirty="0">
                <a:solidFill>
                  <a:srgbClr val="262B3A"/>
                </a:solidFill>
                <a:latin typeface="Calibri" pitchFamily="34" charset="0"/>
                <a:ea typeface="Calibri" pitchFamily="34" charset="-122"/>
                <a:cs typeface="Calibri" pitchFamily="34" charset="-120"/>
              </a:rPr>
              <a:t>, which </a:t>
            </a:r>
            <a:r>
              <a:rPr lang="en-US" sz="1100" b="1" dirty="0">
                <a:solidFill>
                  <a:srgbClr val="262B3A"/>
                </a:solidFill>
                <a:latin typeface="Calibri" pitchFamily="34" charset="0"/>
                <a:ea typeface="Calibri" pitchFamily="34" charset="-122"/>
                <a:cs typeface="Calibri" pitchFamily="34" charset="-120"/>
              </a:rPr>
              <a:t>stores</a:t>
            </a:r>
            <a:r>
              <a:rPr lang="en-US" sz="1100" dirty="0">
                <a:solidFill>
                  <a:srgbClr val="262B3A"/>
                </a:solidFill>
                <a:latin typeface="Calibri" pitchFamily="34" charset="0"/>
                <a:ea typeface="Calibri" pitchFamily="34" charset="-122"/>
                <a:cs typeface="Calibri" pitchFamily="34" charset="-120"/>
              </a:rPr>
              <a:t> it.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Urethra</a:t>
            </a:r>
            <a:r>
              <a:rPr lang="en-US" sz="1100" dirty="0">
                <a:solidFill>
                  <a:srgbClr val="262B3A"/>
                </a:solidFill>
                <a:latin typeface="Calibri" pitchFamily="34" charset="0"/>
                <a:ea typeface="Calibri" pitchFamily="34" charset="-122"/>
                <a:cs typeface="Calibri" pitchFamily="34" charset="-120"/>
              </a:rPr>
              <a:t>: carries urine out of the body.</a:t>
            </a:r>
            <a:endParaRPr lang="en-US" sz="1100" dirty="0"/>
          </a:p>
        </p:txBody>
      </p:sp>
      <p:sp>
        <p:nvSpPr>
          <p:cNvPr id="113" name="Shape 11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14" name="Text 11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Learn the route</a:t>
            </a:r>
            <a:endParaRPr lang="en-US" sz="1300" dirty="0"/>
          </a:p>
        </p:txBody>
      </p:sp>
      <p:sp>
        <p:nvSpPr>
          <p:cNvPr id="115" name="Text 113"/>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Trace a molecule of urea from the aorta to outside the body.</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1 Blood   </a:t>
            </a:r>
            <a:r>
              <a:rPr lang="en-US" sz="1100" dirty="0">
                <a:solidFill>
                  <a:srgbClr val="262B3A"/>
                </a:solidFill>
                <a:latin typeface="Calibri" pitchFamily="34" charset="0"/>
                <a:ea typeface="Calibri" pitchFamily="34" charset="-122"/>
                <a:cs typeface="Calibri" pitchFamily="34" charset="-120"/>
              </a:rPr>
              <a:t>aorta → renal artery → kidney</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2 Kidney   </a:t>
            </a:r>
            <a:r>
              <a:rPr lang="en-US" sz="1100" dirty="0">
                <a:solidFill>
                  <a:srgbClr val="262B3A"/>
                </a:solidFill>
                <a:latin typeface="Calibri" pitchFamily="34" charset="0"/>
                <a:ea typeface="Calibri" pitchFamily="34" charset="-122"/>
                <a:cs typeface="Calibri" pitchFamily="34" charset="-120"/>
              </a:rPr>
              <a:t>filtered into a nephron → urine</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3 Urine   </a:t>
            </a:r>
            <a:r>
              <a:rPr lang="en-US" sz="1100" dirty="0">
                <a:solidFill>
                  <a:srgbClr val="262B3A"/>
                </a:solidFill>
                <a:latin typeface="Calibri" pitchFamily="34" charset="0"/>
                <a:ea typeface="Calibri" pitchFamily="34" charset="-122"/>
                <a:cs typeface="Calibri" pitchFamily="34" charset="-120"/>
              </a:rPr>
              <a:t>ureter → bladder → urethra</a:t>
            </a:r>
            <a:endParaRPr lang="en-US" sz="1100" dirty="0"/>
          </a:p>
          <a:p>
            <a:pPr indent="0" marL="0">
              <a:spcBef>
                <a:spcPts val="200"/>
              </a:spcBef>
              <a:buNone/>
            </a:pPr>
            <a:r>
              <a:rPr lang="en-US" sz="1100" b="1" dirty="0">
                <a:solidFill>
                  <a:srgbClr val="2A744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out of the body (urination)</a:t>
            </a:r>
            <a:endParaRPr lang="en-US" sz="1100" dirty="0"/>
          </a:p>
        </p:txBody>
      </p:sp>
      <p:sp>
        <p:nvSpPr>
          <p:cNvPr id="116" name="Shape 114"/>
          <p:cNvSpPr/>
          <p:nvPr/>
        </p:nvSpPr>
        <p:spPr>
          <a:xfrm>
            <a:off x="411480" y="5833872"/>
            <a:ext cx="11368735" cy="530352"/>
          </a:xfrm>
          <a:prstGeom prst="rect">
            <a:avLst/>
          </a:prstGeom>
          <a:solidFill>
            <a:srgbClr val="FFF4E0"/>
          </a:solidFill>
          <a:ln w="6350">
            <a:solidFill>
              <a:srgbClr val="F1D9A8"/>
            </a:solidFill>
            <a:prstDash val="solid"/>
          </a:ln>
        </p:spPr>
      </p:sp>
      <p:sp>
        <p:nvSpPr>
          <p:cNvPr id="117" name="Shape 115"/>
          <p:cNvSpPr/>
          <p:nvPr/>
        </p:nvSpPr>
        <p:spPr>
          <a:xfrm>
            <a:off x="411480" y="5833872"/>
            <a:ext cx="82296" cy="530352"/>
          </a:xfrm>
          <a:prstGeom prst="rect">
            <a:avLst/>
          </a:prstGeom>
          <a:solidFill>
            <a:srgbClr val="E39A2F"/>
          </a:solidFill>
          <a:ln w="12700">
            <a:solidFill>
              <a:srgbClr val="E39A2F"/>
            </a:solidFill>
            <a:prstDash val="solid"/>
          </a:ln>
        </p:spPr>
      </p:sp>
      <p:sp>
        <p:nvSpPr>
          <p:cNvPr id="118" name="Text 11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vessel carries blood </a:t>
            </a:r>
            <a:r>
              <a:rPr lang="en-US" sz="1150" b="1" dirty="0">
                <a:solidFill>
                  <a:srgbClr val="262B3A"/>
                </a:solidFill>
                <a:latin typeface="Calibri" pitchFamily="34" charset="0"/>
                <a:ea typeface="Calibri" pitchFamily="34" charset="-122"/>
                <a:cs typeface="Calibri" pitchFamily="34" charset="-120"/>
              </a:rPr>
              <a:t>into</a:t>
            </a:r>
            <a:r>
              <a:rPr lang="en-US" sz="1150" dirty="0">
                <a:solidFill>
                  <a:srgbClr val="262B3A"/>
                </a:solidFill>
                <a:latin typeface="Calibri" pitchFamily="34" charset="0"/>
                <a:ea typeface="Calibri" pitchFamily="34" charset="-122"/>
                <a:cs typeface="Calibri" pitchFamily="34" charset="-120"/>
              </a:rPr>
              <a:t> the kidney? Name the tube that carries urine </a:t>
            </a:r>
            <a:r>
              <a:rPr lang="en-US" sz="1150" b="1" dirty="0">
                <a:solidFill>
                  <a:srgbClr val="262B3A"/>
                </a:solidFill>
                <a:latin typeface="Calibri" pitchFamily="34" charset="0"/>
                <a:ea typeface="Calibri" pitchFamily="34" charset="-122"/>
                <a:cs typeface="Calibri" pitchFamily="34" charset="-120"/>
              </a:rPr>
              <a:t>from the kidney to the bladder</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The nephron: structure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7.19B • about a million nephrons in each kidney filter the blood</a:t>
            </a:r>
            <a:endParaRPr lang="en-US" sz="1100" dirty="0"/>
          </a:p>
        </p:txBody>
      </p:sp>
      <p:sp>
        <p:nvSpPr>
          <p:cNvPr id="6" name="Shape 4"/>
          <p:cNvSpPr/>
          <p:nvPr/>
        </p:nvSpPr>
        <p:spPr>
          <a:xfrm>
            <a:off x="10591495" y="292608"/>
            <a:ext cx="1188720" cy="274320"/>
          </a:xfrm>
          <a:prstGeom prst="roundRect">
            <a:avLst>
              <a:gd name="adj" fmla="val 50000"/>
            </a:avLst>
          </a:prstGeom>
          <a:solidFill>
            <a:srgbClr val="2A7448"/>
          </a:solidFill>
          <a:ln w="12700">
            <a:solidFill>
              <a:srgbClr val="2A744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BIOLOGY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7.19B  |  30</a:t>
            </a:r>
            <a:endParaRPr lang="en-US" sz="1000" dirty="0"/>
          </a:p>
        </p:txBody>
      </p:sp>
      <p:sp>
        <p:nvSpPr>
          <p:cNvPr id="10" name="Shape 8"/>
          <p:cNvSpPr/>
          <p:nvPr/>
        </p:nvSpPr>
        <p:spPr>
          <a:xfrm>
            <a:off x="411480" y="1188720"/>
            <a:ext cx="6903720" cy="4526280"/>
          </a:xfrm>
          <a:prstGeom prst="roundRect">
            <a:avLst>
              <a:gd name="adj" fmla="val 1616"/>
            </a:avLst>
          </a:prstGeom>
          <a:solidFill>
            <a:srgbClr val="EEF6F0"/>
          </a:solidFill>
          <a:ln w="9525">
            <a:solidFill>
              <a:srgbClr val="D6E8DC"/>
            </a:solidFill>
            <a:prstDash val="solid"/>
          </a:ln>
        </p:spPr>
      </p:sp>
      <p:sp>
        <p:nvSpPr>
          <p:cNvPr id="11" name="Text 9"/>
          <p:cNvSpPr/>
          <p:nvPr/>
        </p:nvSpPr>
        <p:spPr>
          <a:xfrm>
            <a:off x="548640" y="5404104"/>
            <a:ext cx="662940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one nephron (simplified, not to scale); numbers show where each process happens</a:t>
            </a:r>
            <a:endParaRPr lang="en-US" sz="1000" dirty="0"/>
          </a:p>
        </p:txBody>
      </p:sp>
      <p:sp>
        <p:nvSpPr>
          <p:cNvPr id="12" name="Shape 10"/>
          <p:cNvSpPr/>
          <p:nvPr/>
        </p:nvSpPr>
        <p:spPr>
          <a:xfrm>
            <a:off x="548640" y="1298448"/>
            <a:ext cx="6629400" cy="1691640"/>
          </a:xfrm>
          <a:prstGeom prst="rect">
            <a:avLst/>
          </a:prstGeom>
          <a:solidFill>
            <a:srgbClr val="F6E5DE"/>
          </a:solidFill>
          <a:ln/>
        </p:spPr>
      </p:sp>
      <p:sp>
        <p:nvSpPr>
          <p:cNvPr id="13" name="Shape 11"/>
          <p:cNvSpPr/>
          <p:nvPr/>
        </p:nvSpPr>
        <p:spPr>
          <a:xfrm>
            <a:off x="548640" y="2990088"/>
            <a:ext cx="6629400" cy="2148840"/>
          </a:xfrm>
          <a:prstGeom prst="rect">
            <a:avLst/>
          </a:prstGeom>
          <a:solidFill>
            <a:srgbClr val="EFD3CC"/>
          </a:solidFill>
          <a:ln/>
        </p:spPr>
      </p:sp>
      <p:sp>
        <p:nvSpPr>
          <p:cNvPr id="14" name="Shape 12"/>
          <p:cNvSpPr/>
          <p:nvPr/>
        </p:nvSpPr>
        <p:spPr>
          <a:xfrm>
            <a:off x="548640" y="2990088"/>
            <a:ext cx="6629400" cy="91"/>
          </a:xfrm>
          <a:prstGeom prst="line">
            <a:avLst/>
          </a:prstGeom>
          <a:noFill/>
          <a:ln w="12700">
            <a:solidFill>
              <a:srgbClr val="7A2E28"/>
            </a:solidFill>
            <a:prstDash val="dash"/>
          </a:ln>
        </p:spPr>
      </p:sp>
      <p:sp>
        <p:nvSpPr>
          <p:cNvPr id="15" name="Text 13"/>
          <p:cNvSpPr/>
          <p:nvPr/>
        </p:nvSpPr>
        <p:spPr>
          <a:xfrm>
            <a:off x="6309360" y="1325880"/>
            <a:ext cx="822960" cy="256032"/>
          </a:xfrm>
          <a:prstGeom prst="rect">
            <a:avLst/>
          </a:prstGeom>
          <a:noFill/>
          <a:ln/>
        </p:spPr>
        <p:txBody>
          <a:bodyPr wrap="square" lIns="0" tIns="0" rIns="0" bIns="0" rtlCol="0" anchor="ctr"/>
          <a:lstStyle/>
          <a:p>
            <a:pPr algn="r" indent="0" marL="0">
              <a:buNone/>
            </a:pPr>
            <a:r>
              <a:rPr lang="en-US" sz="1000" i="1" dirty="0">
                <a:solidFill>
                  <a:srgbClr val="7A2E28"/>
                </a:solidFill>
                <a:latin typeface="Calibri" pitchFamily="34" charset="0"/>
                <a:ea typeface="Calibri" pitchFamily="34" charset="-122"/>
                <a:cs typeface="Calibri" pitchFamily="34" charset="-120"/>
              </a:rPr>
              <a:t>cortex</a:t>
            </a:r>
            <a:endParaRPr lang="en-US" sz="1000" dirty="0"/>
          </a:p>
        </p:txBody>
      </p:sp>
      <p:sp>
        <p:nvSpPr>
          <p:cNvPr id="16" name="Text 14"/>
          <p:cNvSpPr/>
          <p:nvPr/>
        </p:nvSpPr>
        <p:spPr>
          <a:xfrm>
            <a:off x="6309360" y="3017520"/>
            <a:ext cx="822960" cy="256032"/>
          </a:xfrm>
          <a:prstGeom prst="rect">
            <a:avLst/>
          </a:prstGeom>
          <a:noFill/>
          <a:ln/>
        </p:spPr>
        <p:txBody>
          <a:bodyPr wrap="square" lIns="0" tIns="0" rIns="0" bIns="0" rtlCol="0" anchor="ctr"/>
          <a:lstStyle/>
          <a:p>
            <a:pPr algn="r" indent="0" marL="0">
              <a:buNone/>
            </a:pPr>
            <a:r>
              <a:rPr lang="en-US" sz="1000" i="1" dirty="0">
                <a:solidFill>
                  <a:srgbClr val="7A2E28"/>
                </a:solidFill>
                <a:latin typeface="Calibri" pitchFamily="34" charset="0"/>
                <a:ea typeface="Calibri" pitchFamily="34" charset="-122"/>
                <a:cs typeface="Calibri" pitchFamily="34" charset="-120"/>
              </a:rPr>
              <a:t>medulla</a:t>
            </a:r>
            <a:endParaRPr lang="en-US" sz="1000" dirty="0"/>
          </a:p>
        </p:txBody>
      </p:sp>
      <p:sp>
        <p:nvSpPr>
          <p:cNvPr id="17" name="Shape 15"/>
          <p:cNvSpPr/>
          <p:nvPr/>
        </p:nvSpPr>
        <p:spPr>
          <a:xfrm>
            <a:off x="1783080" y="2606040"/>
            <a:ext cx="228600" cy="9144"/>
          </a:xfrm>
          <a:prstGeom prst="line">
            <a:avLst/>
          </a:prstGeom>
          <a:noFill/>
          <a:ln w="31750">
            <a:solidFill>
              <a:srgbClr val="E58A8F"/>
            </a:solidFill>
            <a:prstDash val="solid"/>
          </a:ln>
        </p:spPr>
      </p:sp>
      <p:sp>
        <p:nvSpPr>
          <p:cNvPr id="18" name="Shape 16"/>
          <p:cNvSpPr/>
          <p:nvPr/>
        </p:nvSpPr>
        <p:spPr>
          <a:xfrm>
            <a:off x="2011680" y="2615184"/>
            <a:ext cx="26670" cy="48350"/>
          </a:xfrm>
          <a:prstGeom prst="line">
            <a:avLst/>
          </a:prstGeom>
          <a:noFill/>
          <a:ln w="31750">
            <a:solidFill>
              <a:srgbClr val="E58A8F"/>
            </a:solidFill>
            <a:prstDash val="solid"/>
          </a:ln>
        </p:spPr>
      </p:sp>
      <p:sp>
        <p:nvSpPr>
          <p:cNvPr id="19" name="Shape 17"/>
          <p:cNvSpPr/>
          <p:nvPr/>
        </p:nvSpPr>
        <p:spPr>
          <a:xfrm>
            <a:off x="2038350" y="2663534"/>
            <a:ext cx="26670" cy="39990"/>
          </a:xfrm>
          <a:prstGeom prst="line">
            <a:avLst/>
          </a:prstGeom>
          <a:noFill/>
          <a:ln w="31750">
            <a:solidFill>
              <a:srgbClr val="E58A8F"/>
            </a:solidFill>
            <a:prstDash val="solid"/>
          </a:ln>
        </p:spPr>
      </p:sp>
      <p:sp>
        <p:nvSpPr>
          <p:cNvPr id="20" name="Shape 18"/>
          <p:cNvSpPr/>
          <p:nvPr/>
        </p:nvSpPr>
        <p:spPr>
          <a:xfrm>
            <a:off x="2065020" y="2703523"/>
            <a:ext cx="26670" cy="24715"/>
          </a:xfrm>
          <a:prstGeom prst="line">
            <a:avLst/>
          </a:prstGeom>
          <a:noFill/>
          <a:ln w="31750">
            <a:solidFill>
              <a:srgbClr val="E58A8F"/>
            </a:solidFill>
            <a:prstDash val="solid"/>
          </a:ln>
        </p:spPr>
      </p:sp>
      <p:sp>
        <p:nvSpPr>
          <p:cNvPr id="21" name="Shape 19"/>
          <p:cNvSpPr/>
          <p:nvPr/>
        </p:nvSpPr>
        <p:spPr>
          <a:xfrm>
            <a:off x="2091690" y="2728238"/>
            <a:ext cx="26670" cy="5167"/>
          </a:xfrm>
          <a:prstGeom prst="line">
            <a:avLst/>
          </a:prstGeom>
          <a:noFill/>
          <a:ln w="31750">
            <a:solidFill>
              <a:srgbClr val="E58A8F"/>
            </a:solidFill>
            <a:prstDash val="solid"/>
          </a:ln>
        </p:spPr>
      </p:sp>
      <p:sp>
        <p:nvSpPr>
          <p:cNvPr id="22" name="Shape 20"/>
          <p:cNvSpPr/>
          <p:nvPr/>
        </p:nvSpPr>
        <p:spPr>
          <a:xfrm flipV="1">
            <a:off x="2118360" y="2718130"/>
            <a:ext cx="26670" cy="15275"/>
          </a:xfrm>
          <a:prstGeom prst="line">
            <a:avLst/>
          </a:prstGeom>
          <a:noFill/>
          <a:ln w="31750">
            <a:solidFill>
              <a:srgbClr val="E58A8F"/>
            </a:solidFill>
            <a:prstDash val="solid"/>
          </a:ln>
        </p:spPr>
      </p:sp>
      <p:sp>
        <p:nvSpPr>
          <p:cNvPr id="23" name="Shape 21"/>
          <p:cNvSpPr/>
          <p:nvPr/>
        </p:nvSpPr>
        <p:spPr>
          <a:xfrm flipV="1">
            <a:off x="2145030" y="2685055"/>
            <a:ext cx="26670" cy="33075"/>
          </a:xfrm>
          <a:prstGeom prst="line">
            <a:avLst/>
          </a:prstGeom>
          <a:noFill/>
          <a:ln w="31750">
            <a:solidFill>
              <a:srgbClr val="E58A8F"/>
            </a:solidFill>
            <a:prstDash val="solid"/>
          </a:ln>
        </p:spPr>
      </p:sp>
      <p:sp>
        <p:nvSpPr>
          <p:cNvPr id="24" name="Shape 22"/>
          <p:cNvSpPr/>
          <p:nvPr/>
        </p:nvSpPr>
        <p:spPr>
          <a:xfrm flipV="1">
            <a:off x="2171700" y="2639899"/>
            <a:ext cx="26670" cy="45156"/>
          </a:xfrm>
          <a:prstGeom prst="line">
            <a:avLst/>
          </a:prstGeom>
          <a:noFill/>
          <a:ln w="31750">
            <a:solidFill>
              <a:srgbClr val="E58A8F"/>
            </a:solidFill>
            <a:prstDash val="solid"/>
          </a:ln>
        </p:spPr>
      </p:sp>
      <p:sp>
        <p:nvSpPr>
          <p:cNvPr id="25" name="Shape 23"/>
          <p:cNvSpPr/>
          <p:nvPr/>
        </p:nvSpPr>
        <p:spPr>
          <a:xfrm flipV="1">
            <a:off x="2198370" y="2590469"/>
            <a:ext cx="26670" cy="49430"/>
          </a:xfrm>
          <a:prstGeom prst="line">
            <a:avLst/>
          </a:prstGeom>
          <a:noFill/>
          <a:ln w="31750">
            <a:solidFill>
              <a:srgbClr val="E58A8F"/>
            </a:solidFill>
            <a:prstDash val="solid"/>
          </a:ln>
        </p:spPr>
      </p:sp>
      <p:sp>
        <p:nvSpPr>
          <p:cNvPr id="26" name="Shape 24"/>
          <p:cNvSpPr/>
          <p:nvPr/>
        </p:nvSpPr>
        <p:spPr>
          <a:xfrm flipV="1">
            <a:off x="2225040" y="2545313"/>
            <a:ext cx="26670" cy="45156"/>
          </a:xfrm>
          <a:prstGeom prst="line">
            <a:avLst/>
          </a:prstGeom>
          <a:noFill/>
          <a:ln w="31750">
            <a:solidFill>
              <a:srgbClr val="E58A8F"/>
            </a:solidFill>
            <a:prstDash val="solid"/>
          </a:ln>
        </p:spPr>
      </p:sp>
      <p:sp>
        <p:nvSpPr>
          <p:cNvPr id="27" name="Shape 25"/>
          <p:cNvSpPr/>
          <p:nvPr/>
        </p:nvSpPr>
        <p:spPr>
          <a:xfrm flipV="1">
            <a:off x="2251710" y="2512238"/>
            <a:ext cx="26670" cy="33075"/>
          </a:xfrm>
          <a:prstGeom prst="line">
            <a:avLst/>
          </a:prstGeom>
          <a:noFill/>
          <a:ln w="31750">
            <a:solidFill>
              <a:srgbClr val="E58A8F"/>
            </a:solidFill>
            <a:prstDash val="solid"/>
          </a:ln>
        </p:spPr>
      </p:sp>
      <p:sp>
        <p:nvSpPr>
          <p:cNvPr id="28" name="Shape 26"/>
          <p:cNvSpPr/>
          <p:nvPr/>
        </p:nvSpPr>
        <p:spPr>
          <a:xfrm flipV="1">
            <a:off x="2278380" y="2496963"/>
            <a:ext cx="26670" cy="15275"/>
          </a:xfrm>
          <a:prstGeom prst="line">
            <a:avLst/>
          </a:prstGeom>
          <a:noFill/>
          <a:ln w="31750">
            <a:solidFill>
              <a:srgbClr val="E58A8F"/>
            </a:solidFill>
            <a:prstDash val="solid"/>
          </a:ln>
        </p:spPr>
      </p:sp>
      <p:sp>
        <p:nvSpPr>
          <p:cNvPr id="29" name="Shape 27"/>
          <p:cNvSpPr/>
          <p:nvPr/>
        </p:nvSpPr>
        <p:spPr>
          <a:xfrm>
            <a:off x="2305050" y="2496963"/>
            <a:ext cx="26670" cy="5167"/>
          </a:xfrm>
          <a:prstGeom prst="line">
            <a:avLst/>
          </a:prstGeom>
          <a:noFill/>
          <a:ln w="31750">
            <a:solidFill>
              <a:srgbClr val="E58A8F"/>
            </a:solidFill>
            <a:prstDash val="solid"/>
          </a:ln>
        </p:spPr>
      </p:sp>
      <p:sp>
        <p:nvSpPr>
          <p:cNvPr id="30" name="Shape 28"/>
          <p:cNvSpPr/>
          <p:nvPr/>
        </p:nvSpPr>
        <p:spPr>
          <a:xfrm>
            <a:off x="2331720" y="2502130"/>
            <a:ext cx="26670" cy="24715"/>
          </a:xfrm>
          <a:prstGeom prst="line">
            <a:avLst/>
          </a:prstGeom>
          <a:noFill/>
          <a:ln w="31750">
            <a:solidFill>
              <a:srgbClr val="E58A8F"/>
            </a:solidFill>
            <a:prstDash val="solid"/>
          </a:ln>
        </p:spPr>
      </p:sp>
      <p:sp>
        <p:nvSpPr>
          <p:cNvPr id="31" name="Shape 29"/>
          <p:cNvSpPr/>
          <p:nvPr/>
        </p:nvSpPr>
        <p:spPr>
          <a:xfrm>
            <a:off x="2358390" y="2526845"/>
            <a:ext cx="26670" cy="39990"/>
          </a:xfrm>
          <a:prstGeom prst="line">
            <a:avLst/>
          </a:prstGeom>
          <a:noFill/>
          <a:ln w="31750">
            <a:solidFill>
              <a:srgbClr val="E58A8F"/>
            </a:solidFill>
            <a:prstDash val="solid"/>
          </a:ln>
        </p:spPr>
      </p:sp>
      <p:sp>
        <p:nvSpPr>
          <p:cNvPr id="32" name="Shape 30"/>
          <p:cNvSpPr/>
          <p:nvPr/>
        </p:nvSpPr>
        <p:spPr>
          <a:xfrm>
            <a:off x="2385060" y="2566834"/>
            <a:ext cx="26670" cy="48350"/>
          </a:xfrm>
          <a:prstGeom prst="line">
            <a:avLst/>
          </a:prstGeom>
          <a:noFill/>
          <a:ln w="31750">
            <a:solidFill>
              <a:srgbClr val="E58A8F"/>
            </a:solidFill>
            <a:prstDash val="solid"/>
          </a:ln>
        </p:spPr>
      </p:sp>
      <p:sp>
        <p:nvSpPr>
          <p:cNvPr id="33" name="Shape 31"/>
          <p:cNvSpPr/>
          <p:nvPr/>
        </p:nvSpPr>
        <p:spPr>
          <a:xfrm>
            <a:off x="2411730" y="2615184"/>
            <a:ext cx="26670" cy="48350"/>
          </a:xfrm>
          <a:prstGeom prst="line">
            <a:avLst/>
          </a:prstGeom>
          <a:noFill/>
          <a:ln w="31750">
            <a:solidFill>
              <a:srgbClr val="E58A8F"/>
            </a:solidFill>
            <a:prstDash val="solid"/>
          </a:ln>
        </p:spPr>
      </p:sp>
      <p:sp>
        <p:nvSpPr>
          <p:cNvPr id="34" name="Shape 32"/>
          <p:cNvSpPr/>
          <p:nvPr/>
        </p:nvSpPr>
        <p:spPr>
          <a:xfrm>
            <a:off x="2438400" y="2663534"/>
            <a:ext cx="26670" cy="39990"/>
          </a:xfrm>
          <a:prstGeom prst="line">
            <a:avLst/>
          </a:prstGeom>
          <a:noFill/>
          <a:ln w="31750">
            <a:solidFill>
              <a:srgbClr val="E58A8F"/>
            </a:solidFill>
            <a:prstDash val="solid"/>
          </a:ln>
        </p:spPr>
      </p:sp>
      <p:sp>
        <p:nvSpPr>
          <p:cNvPr id="35" name="Shape 33"/>
          <p:cNvSpPr/>
          <p:nvPr/>
        </p:nvSpPr>
        <p:spPr>
          <a:xfrm>
            <a:off x="2465070" y="2703523"/>
            <a:ext cx="26670" cy="24715"/>
          </a:xfrm>
          <a:prstGeom prst="line">
            <a:avLst/>
          </a:prstGeom>
          <a:noFill/>
          <a:ln w="31750">
            <a:solidFill>
              <a:srgbClr val="E58A8F"/>
            </a:solidFill>
            <a:prstDash val="solid"/>
          </a:ln>
        </p:spPr>
      </p:sp>
      <p:sp>
        <p:nvSpPr>
          <p:cNvPr id="36" name="Shape 34"/>
          <p:cNvSpPr/>
          <p:nvPr/>
        </p:nvSpPr>
        <p:spPr>
          <a:xfrm>
            <a:off x="2491740" y="2728238"/>
            <a:ext cx="26670" cy="5167"/>
          </a:xfrm>
          <a:prstGeom prst="line">
            <a:avLst/>
          </a:prstGeom>
          <a:noFill/>
          <a:ln w="31750">
            <a:solidFill>
              <a:srgbClr val="E58A8F"/>
            </a:solidFill>
            <a:prstDash val="solid"/>
          </a:ln>
        </p:spPr>
      </p:sp>
      <p:sp>
        <p:nvSpPr>
          <p:cNvPr id="37" name="Shape 35"/>
          <p:cNvSpPr/>
          <p:nvPr/>
        </p:nvSpPr>
        <p:spPr>
          <a:xfrm flipV="1">
            <a:off x="2518410" y="2718130"/>
            <a:ext cx="26670" cy="15275"/>
          </a:xfrm>
          <a:prstGeom prst="line">
            <a:avLst/>
          </a:prstGeom>
          <a:noFill/>
          <a:ln w="31750">
            <a:solidFill>
              <a:srgbClr val="E58A8F"/>
            </a:solidFill>
            <a:prstDash val="solid"/>
          </a:ln>
        </p:spPr>
      </p:sp>
      <p:sp>
        <p:nvSpPr>
          <p:cNvPr id="38" name="Shape 36"/>
          <p:cNvSpPr/>
          <p:nvPr/>
        </p:nvSpPr>
        <p:spPr>
          <a:xfrm flipV="1">
            <a:off x="2545080" y="2685055"/>
            <a:ext cx="26670" cy="33075"/>
          </a:xfrm>
          <a:prstGeom prst="line">
            <a:avLst/>
          </a:prstGeom>
          <a:noFill/>
          <a:ln w="31750">
            <a:solidFill>
              <a:srgbClr val="E58A8F"/>
            </a:solidFill>
            <a:prstDash val="solid"/>
          </a:ln>
        </p:spPr>
      </p:sp>
      <p:sp>
        <p:nvSpPr>
          <p:cNvPr id="39" name="Shape 37"/>
          <p:cNvSpPr/>
          <p:nvPr/>
        </p:nvSpPr>
        <p:spPr>
          <a:xfrm flipV="1">
            <a:off x="2571750" y="2639899"/>
            <a:ext cx="26670" cy="45156"/>
          </a:xfrm>
          <a:prstGeom prst="line">
            <a:avLst/>
          </a:prstGeom>
          <a:noFill/>
          <a:ln w="31750">
            <a:solidFill>
              <a:srgbClr val="E58A8F"/>
            </a:solidFill>
            <a:prstDash val="solid"/>
          </a:ln>
        </p:spPr>
      </p:sp>
      <p:sp>
        <p:nvSpPr>
          <p:cNvPr id="40" name="Shape 38"/>
          <p:cNvSpPr/>
          <p:nvPr/>
        </p:nvSpPr>
        <p:spPr>
          <a:xfrm flipV="1">
            <a:off x="2598420" y="2590469"/>
            <a:ext cx="26670" cy="49430"/>
          </a:xfrm>
          <a:prstGeom prst="line">
            <a:avLst/>
          </a:prstGeom>
          <a:noFill/>
          <a:ln w="31750">
            <a:solidFill>
              <a:srgbClr val="E58A8F"/>
            </a:solidFill>
            <a:prstDash val="solid"/>
          </a:ln>
        </p:spPr>
      </p:sp>
      <p:sp>
        <p:nvSpPr>
          <p:cNvPr id="41" name="Shape 39"/>
          <p:cNvSpPr/>
          <p:nvPr/>
        </p:nvSpPr>
        <p:spPr>
          <a:xfrm flipV="1">
            <a:off x="2625090" y="2545313"/>
            <a:ext cx="26670" cy="45156"/>
          </a:xfrm>
          <a:prstGeom prst="line">
            <a:avLst/>
          </a:prstGeom>
          <a:noFill/>
          <a:ln w="31750">
            <a:solidFill>
              <a:srgbClr val="E58A8F"/>
            </a:solidFill>
            <a:prstDash val="solid"/>
          </a:ln>
        </p:spPr>
      </p:sp>
      <p:sp>
        <p:nvSpPr>
          <p:cNvPr id="42" name="Shape 40"/>
          <p:cNvSpPr/>
          <p:nvPr/>
        </p:nvSpPr>
        <p:spPr>
          <a:xfrm flipV="1">
            <a:off x="2651760" y="2512238"/>
            <a:ext cx="26670" cy="33075"/>
          </a:xfrm>
          <a:prstGeom prst="line">
            <a:avLst/>
          </a:prstGeom>
          <a:noFill/>
          <a:ln w="31750">
            <a:solidFill>
              <a:srgbClr val="E58A8F"/>
            </a:solidFill>
            <a:prstDash val="solid"/>
          </a:ln>
        </p:spPr>
      </p:sp>
      <p:sp>
        <p:nvSpPr>
          <p:cNvPr id="43" name="Shape 41"/>
          <p:cNvSpPr/>
          <p:nvPr/>
        </p:nvSpPr>
        <p:spPr>
          <a:xfrm flipV="1">
            <a:off x="2678430" y="2496963"/>
            <a:ext cx="26670" cy="15275"/>
          </a:xfrm>
          <a:prstGeom prst="line">
            <a:avLst/>
          </a:prstGeom>
          <a:noFill/>
          <a:ln w="31750">
            <a:solidFill>
              <a:srgbClr val="E58A8F"/>
            </a:solidFill>
            <a:prstDash val="solid"/>
          </a:ln>
        </p:spPr>
      </p:sp>
      <p:sp>
        <p:nvSpPr>
          <p:cNvPr id="44" name="Shape 42"/>
          <p:cNvSpPr/>
          <p:nvPr/>
        </p:nvSpPr>
        <p:spPr>
          <a:xfrm>
            <a:off x="2705100" y="2496963"/>
            <a:ext cx="26670" cy="5167"/>
          </a:xfrm>
          <a:prstGeom prst="line">
            <a:avLst/>
          </a:prstGeom>
          <a:noFill/>
          <a:ln w="31750">
            <a:solidFill>
              <a:srgbClr val="E58A8F"/>
            </a:solidFill>
            <a:prstDash val="solid"/>
          </a:ln>
        </p:spPr>
      </p:sp>
      <p:sp>
        <p:nvSpPr>
          <p:cNvPr id="45" name="Shape 43"/>
          <p:cNvSpPr/>
          <p:nvPr/>
        </p:nvSpPr>
        <p:spPr>
          <a:xfrm>
            <a:off x="2731770" y="2502130"/>
            <a:ext cx="26670" cy="24715"/>
          </a:xfrm>
          <a:prstGeom prst="line">
            <a:avLst/>
          </a:prstGeom>
          <a:noFill/>
          <a:ln w="31750">
            <a:solidFill>
              <a:srgbClr val="E58A8F"/>
            </a:solidFill>
            <a:prstDash val="solid"/>
          </a:ln>
        </p:spPr>
      </p:sp>
      <p:sp>
        <p:nvSpPr>
          <p:cNvPr id="46" name="Shape 44"/>
          <p:cNvSpPr/>
          <p:nvPr/>
        </p:nvSpPr>
        <p:spPr>
          <a:xfrm>
            <a:off x="2758440" y="2526845"/>
            <a:ext cx="26670" cy="39990"/>
          </a:xfrm>
          <a:prstGeom prst="line">
            <a:avLst/>
          </a:prstGeom>
          <a:noFill/>
          <a:ln w="31750">
            <a:solidFill>
              <a:srgbClr val="E58A8F"/>
            </a:solidFill>
            <a:prstDash val="solid"/>
          </a:ln>
        </p:spPr>
      </p:sp>
      <p:sp>
        <p:nvSpPr>
          <p:cNvPr id="47" name="Shape 45"/>
          <p:cNvSpPr/>
          <p:nvPr/>
        </p:nvSpPr>
        <p:spPr>
          <a:xfrm>
            <a:off x="2785110" y="2566834"/>
            <a:ext cx="26670" cy="48350"/>
          </a:xfrm>
          <a:prstGeom prst="line">
            <a:avLst/>
          </a:prstGeom>
          <a:noFill/>
          <a:ln w="31750">
            <a:solidFill>
              <a:srgbClr val="E58A8F"/>
            </a:solidFill>
            <a:prstDash val="solid"/>
          </a:ln>
        </p:spPr>
      </p:sp>
      <p:sp>
        <p:nvSpPr>
          <p:cNvPr id="48" name="Shape 46"/>
          <p:cNvSpPr/>
          <p:nvPr/>
        </p:nvSpPr>
        <p:spPr>
          <a:xfrm>
            <a:off x="2811780" y="2615184"/>
            <a:ext cx="26670" cy="48350"/>
          </a:xfrm>
          <a:prstGeom prst="line">
            <a:avLst/>
          </a:prstGeom>
          <a:noFill/>
          <a:ln w="31750">
            <a:solidFill>
              <a:srgbClr val="E58A8F"/>
            </a:solidFill>
            <a:prstDash val="solid"/>
          </a:ln>
        </p:spPr>
      </p:sp>
      <p:sp>
        <p:nvSpPr>
          <p:cNvPr id="49" name="Shape 47"/>
          <p:cNvSpPr/>
          <p:nvPr/>
        </p:nvSpPr>
        <p:spPr>
          <a:xfrm>
            <a:off x="2838450" y="2663534"/>
            <a:ext cx="26670" cy="39990"/>
          </a:xfrm>
          <a:prstGeom prst="line">
            <a:avLst/>
          </a:prstGeom>
          <a:noFill/>
          <a:ln w="31750">
            <a:solidFill>
              <a:srgbClr val="E58A8F"/>
            </a:solidFill>
            <a:prstDash val="solid"/>
          </a:ln>
        </p:spPr>
      </p:sp>
      <p:sp>
        <p:nvSpPr>
          <p:cNvPr id="50" name="Shape 48"/>
          <p:cNvSpPr/>
          <p:nvPr/>
        </p:nvSpPr>
        <p:spPr>
          <a:xfrm>
            <a:off x="2865120" y="2703523"/>
            <a:ext cx="26670" cy="24715"/>
          </a:xfrm>
          <a:prstGeom prst="line">
            <a:avLst/>
          </a:prstGeom>
          <a:noFill/>
          <a:ln w="31750">
            <a:solidFill>
              <a:srgbClr val="E58A8F"/>
            </a:solidFill>
            <a:prstDash val="solid"/>
          </a:ln>
        </p:spPr>
      </p:sp>
      <p:sp>
        <p:nvSpPr>
          <p:cNvPr id="51" name="Shape 49"/>
          <p:cNvSpPr/>
          <p:nvPr/>
        </p:nvSpPr>
        <p:spPr>
          <a:xfrm>
            <a:off x="2891790" y="2728238"/>
            <a:ext cx="26670" cy="5167"/>
          </a:xfrm>
          <a:prstGeom prst="line">
            <a:avLst/>
          </a:prstGeom>
          <a:noFill/>
          <a:ln w="31750">
            <a:solidFill>
              <a:srgbClr val="E58A8F"/>
            </a:solidFill>
            <a:prstDash val="solid"/>
          </a:ln>
        </p:spPr>
      </p:sp>
      <p:sp>
        <p:nvSpPr>
          <p:cNvPr id="52" name="Shape 50"/>
          <p:cNvSpPr/>
          <p:nvPr/>
        </p:nvSpPr>
        <p:spPr>
          <a:xfrm flipV="1">
            <a:off x="2918460" y="2718130"/>
            <a:ext cx="26670" cy="15275"/>
          </a:xfrm>
          <a:prstGeom prst="line">
            <a:avLst/>
          </a:prstGeom>
          <a:noFill/>
          <a:ln w="31750">
            <a:solidFill>
              <a:srgbClr val="E58A8F"/>
            </a:solidFill>
            <a:prstDash val="solid"/>
          </a:ln>
        </p:spPr>
      </p:sp>
      <p:sp>
        <p:nvSpPr>
          <p:cNvPr id="53" name="Shape 51"/>
          <p:cNvSpPr/>
          <p:nvPr/>
        </p:nvSpPr>
        <p:spPr>
          <a:xfrm flipV="1">
            <a:off x="2945130" y="2685055"/>
            <a:ext cx="26670" cy="33075"/>
          </a:xfrm>
          <a:prstGeom prst="line">
            <a:avLst/>
          </a:prstGeom>
          <a:noFill/>
          <a:ln w="31750">
            <a:solidFill>
              <a:srgbClr val="E58A8F"/>
            </a:solidFill>
            <a:prstDash val="solid"/>
          </a:ln>
        </p:spPr>
      </p:sp>
      <p:sp>
        <p:nvSpPr>
          <p:cNvPr id="54" name="Shape 52"/>
          <p:cNvSpPr/>
          <p:nvPr/>
        </p:nvSpPr>
        <p:spPr>
          <a:xfrm flipV="1">
            <a:off x="2971800" y="2639899"/>
            <a:ext cx="26670" cy="45156"/>
          </a:xfrm>
          <a:prstGeom prst="line">
            <a:avLst/>
          </a:prstGeom>
          <a:noFill/>
          <a:ln w="31750">
            <a:solidFill>
              <a:srgbClr val="E58A8F"/>
            </a:solidFill>
            <a:prstDash val="solid"/>
          </a:ln>
        </p:spPr>
      </p:sp>
      <p:sp>
        <p:nvSpPr>
          <p:cNvPr id="55" name="Shape 53"/>
          <p:cNvSpPr/>
          <p:nvPr/>
        </p:nvSpPr>
        <p:spPr>
          <a:xfrm flipV="1">
            <a:off x="2998470" y="2590469"/>
            <a:ext cx="26670" cy="49430"/>
          </a:xfrm>
          <a:prstGeom prst="line">
            <a:avLst/>
          </a:prstGeom>
          <a:noFill/>
          <a:ln w="31750">
            <a:solidFill>
              <a:srgbClr val="E58A8F"/>
            </a:solidFill>
            <a:prstDash val="solid"/>
          </a:ln>
        </p:spPr>
      </p:sp>
      <p:sp>
        <p:nvSpPr>
          <p:cNvPr id="56" name="Shape 54"/>
          <p:cNvSpPr/>
          <p:nvPr/>
        </p:nvSpPr>
        <p:spPr>
          <a:xfrm flipV="1">
            <a:off x="3025140" y="2545313"/>
            <a:ext cx="26670" cy="45156"/>
          </a:xfrm>
          <a:prstGeom prst="line">
            <a:avLst/>
          </a:prstGeom>
          <a:noFill/>
          <a:ln w="31750">
            <a:solidFill>
              <a:srgbClr val="E58A8F"/>
            </a:solidFill>
            <a:prstDash val="solid"/>
          </a:ln>
        </p:spPr>
      </p:sp>
      <p:sp>
        <p:nvSpPr>
          <p:cNvPr id="57" name="Shape 55"/>
          <p:cNvSpPr/>
          <p:nvPr/>
        </p:nvSpPr>
        <p:spPr>
          <a:xfrm flipV="1">
            <a:off x="3051810" y="2512238"/>
            <a:ext cx="26670" cy="33075"/>
          </a:xfrm>
          <a:prstGeom prst="line">
            <a:avLst/>
          </a:prstGeom>
          <a:noFill/>
          <a:ln w="31750">
            <a:solidFill>
              <a:srgbClr val="E58A8F"/>
            </a:solidFill>
            <a:prstDash val="solid"/>
          </a:ln>
        </p:spPr>
      </p:sp>
      <p:sp>
        <p:nvSpPr>
          <p:cNvPr id="58" name="Shape 56"/>
          <p:cNvSpPr/>
          <p:nvPr/>
        </p:nvSpPr>
        <p:spPr>
          <a:xfrm flipV="1">
            <a:off x="3078480" y="2496963"/>
            <a:ext cx="26670" cy="15275"/>
          </a:xfrm>
          <a:prstGeom prst="line">
            <a:avLst/>
          </a:prstGeom>
          <a:noFill/>
          <a:ln w="31750">
            <a:solidFill>
              <a:srgbClr val="E58A8F"/>
            </a:solidFill>
            <a:prstDash val="solid"/>
          </a:ln>
        </p:spPr>
      </p:sp>
      <p:sp>
        <p:nvSpPr>
          <p:cNvPr id="59" name="Shape 57"/>
          <p:cNvSpPr/>
          <p:nvPr/>
        </p:nvSpPr>
        <p:spPr>
          <a:xfrm>
            <a:off x="3105150" y="2496963"/>
            <a:ext cx="26670" cy="5167"/>
          </a:xfrm>
          <a:prstGeom prst="line">
            <a:avLst/>
          </a:prstGeom>
          <a:noFill/>
          <a:ln w="31750">
            <a:solidFill>
              <a:srgbClr val="E58A8F"/>
            </a:solidFill>
            <a:prstDash val="solid"/>
          </a:ln>
        </p:spPr>
      </p:sp>
      <p:sp>
        <p:nvSpPr>
          <p:cNvPr id="60" name="Shape 58"/>
          <p:cNvSpPr/>
          <p:nvPr/>
        </p:nvSpPr>
        <p:spPr>
          <a:xfrm>
            <a:off x="3131820" y="2502130"/>
            <a:ext cx="26670" cy="24715"/>
          </a:xfrm>
          <a:prstGeom prst="line">
            <a:avLst/>
          </a:prstGeom>
          <a:noFill/>
          <a:ln w="31750">
            <a:solidFill>
              <a:srgbClr val="E58A8F"/>
            </a:solidFill>
            <a:prstDash val="solid"/>
          </a:ln>
        </p:spPr>
      </p:sp>
      <p:sp>
        <p:nvSpPr>
          <p:cNvPr id="61" name="Shape 59"/>
          <p:cNvSpPr/>
          <p:nvPr/>
        </p:nvSpPr>
        <p:spPr>
          <a:xfrm>
            <a:off x="3158490" y="2526845"/>
            <a:ext cx="26670" cy="39990"/>
          </a:xfrm>
          <a:prstGeom prst="line">
            <a:avLst/>
          </a:prstGeom>
          <a:noFill/>
          <a:ln w="31750">
            <a:solidFill>
              <a:srgbClr val="E58A8F"/>
            </a:solidFill>
            <a:prstDash val="solid"/>
          </a:ln>
        </p:spPr>
      </p:sp>
      <p:sp>
        <p:nvSpPr>
          <p:cNvPr id="62" name="Shape 60"/>
          <p:cNvSpPr/>
          <p:nvPr/>
        </p:nvSpPr>
        <p:spPr>
          <a:xfrm>
            <a:off x="3185160" y="2566834"/>
            <a:ext cx="26670" cy="48350"/>
          </a:xfrm>
          <a:prstGeom prst="line">
            <a:avLst/>
          </a:prstGeom>
          <a:noFill/>
          <a:ln w="31750">
            <a:solidFill>
              <a:srgbClr val="E58A8F"/>
            </a:solidFill>
            <a:prstDash val="solid"/>
          </a:ln>
        </p:spPr>
      </p:sp>
      <p:sp>
        <p:nvSpPr>
          <p:cNvPr id="63" name="Shape 61"/>
          <p:cNvSpPr/>
          <p:nvPr/>
        </p:nvSpPr>
        <p:spPr>
          <a:xfrm>
            <a:off x="3211830" y="2615184"/>
            <a:ext cx="26670" cy="48350"/>
          </a:xfrm>
          <a:prstGeom prst="line">
            <a:avLst/>
          </a:prstGeom>
          <a:noFill/>
          <a:ln w="31750">
            <a:solidFill>
              <a:srgbClr val="E58A8F"/>
            </a:solidFill>
            <a:prstDash val="solid"/>
          </a:ln>
        </p:spPr>
      </p:sp>
      <p:sp>
        <p:nvSpPr>
          <p:cNvPr id="64" name="Shape 62"/>
          <p:cNvSpPr/>
          <p:nvPr/>
        </p:nvSpPr>
        <p:spPr>
          <a:xfrm>
            <a:off x="3238500" y="2663534"/>
            <a:ext cx="26670" cy="39990"/>
          </a:xfrm>
          <a:prstGeom prst="line">
            <a:avLst/>
          </a:prstGeom>
          <a:noFill/>
          <a:ln w="31750">
            <a:solidFill>
              <a:srgbClr val="E58A8F"/>
            </a:solidFill>
            <a:prstDash val="solid"/>
          </a:ln>
        </p:spPr>
      </p:sp>
      <p:sp>
        <p:nvSpPr>
          <p:cNvPr id="65" name="Shape 63"/>
          <p:cNvSpPr/>
          <p:nvPr/>
        </p:nvSpPr>
        <p:spPr>
          <a:xfrm>
            <a:off x="3265170" y="2703523"/>
            <a:ext cx="26670" cy="24715"/>
          </a:xfrm>
          <a:prstGeom prst="line">
            <a:avLst/>
          </a:prstGeom>
          <a:noFill/>
          <a:ln w="31750">
            <a:solidFill>
              <a:srgbClr val="E58A8F"/>
            </a:solidFill>
            <a:prstDash val="solid"/>
          </a:ln>
        </p:spPr>
      </p:sp>
      <p:sp>
        <p:nvSpPr>
          <p:cNvPr id="66" name="Shape 64"/>
          <p:cNvSpPr/>
          <p:nvPr/>
        </p:nvSpPr>
        <p:spPr>
          <a:xfrm>
            <a:off x="3291840" y="2728238"/>
            <a:ext cx="26670" cy="5167"/>
          </a:xfrm>
          <a:prstGeom prst="line">
            <a:avLst/>
          </a:prstGeom>
          <a:noFill/>
          <a:ln w="31750">
            <a:solidFill>
              <a:srgbClr val="E58A8F"/>
            </a:solidFill>
            <a:prstDash val="solid"/>
          </a:ln>
        </p:spPr>
      </p:sp>
      <p:sp>
        <p:nvSpPr>
          <p:cNvPr id="67" name="Shape 65"/>
          <p:cNvSpPr/>
          <p:nvPr/>
        </p:nvSpPr>
        <p:spPr>
          <a:xfrm flipV="1">
            <a:off x="3318510" y="2718130"/>
            <a:ext cx="26670" cy="15275"/>
          </a:xfrm>
          <a:prstGeom prst="line">
            <a:avLst/>
          </a:prstGeom>
          <a:noFill/>
          <a:ln w="31750">
            <a:solidFill>
              <a:srgbClr val="E58A8F"/>
            </a:solidFill>
            <a:prstDash val="solid"/>
          </a:ln>
        </p:spPr>
      </p:sp>
      <p:sp>
        <p:nvSpPr>
          <p:cNvPr id="68" name="Shape 66"/>
          <p:cNvSpPr/>
          <p:nvPr/>
        </p:nvSpPr>
        <p:spPr>
          <a:xfrm flipV="1">
            <a:off x="3345180" y="2685055"/>
            <a:ext cx="26670" cy="33075"/>
          </a:xfrm>
          <a:prstGeom prst="line">
            <a:avLst/>
          </a:prstGeom>
          <a:noFill/>
          <a:ln w="31750">
            <a:solidFill>
              <a:srgbClr val="E58A8F"/>
            </a:solidFill>
            <a:prstDash val="solid"/>
          </a:ln>
        </p:spPr>
      </p:sp>
      <p:sp>
        <p:nvSpPr>
          <p:cNvPr id="69" name="Shape 67"/>
          <p:cNvSpPr/>
          <p:nvPr/>
        </p:nvSpPr>
        <p:spPr>
          <a:xfrm flipV="1">
            <a:off x="3371850" y="2639899"/>
            <a:ext cx="26670" cy="45156"/>
          </a:xfrm>
          <a:prstGeom prst="line">
            <a:avLst/>
          </a:prstGeom>
          <a:noFill/>
          <a:ln w="31750">
            <a:solidFill>
              <a:srgbClr val="E58A8F"/>
            </a:solidFill>
            <a:prstDash val="solid"/>
          </a:ln>
        </p:spPr>
      </p:sp>
      <p:sp>
        <p:nvSpPr>
          <p:cNvPr id="70" name="Shape 68"/>
          <p:cNvSpPr/>
          <p:nvPr/>
        </p:nvSpPr>
        <p:spPr>
          <a:xfrm flipV="1">
            <a:off x="3398520" y="2590469"/>
            <a:ext cx="26670" cy="49430"/>
          </a:xfrm>
          <a:prstGeom prst="line">
            <a:avLst/>
          </a:prstGeom>
          <a:noFill/>
          <a:ln w="31750">
            <a:solidFill>
              <a:srgbClr val="E58A8F"/>
            </a:solidFill>
            <a:prstDash val="solid"/>
          </a:ln>
        </p:spPr>
      </p:sp>
      <p:sp>
        <p:nvSpPr>
          <p:cNvPr id="71" name="Shape 69"/>
          <p:cNvSpPr/>
          <p:nvPr/>
        </p:nvSpPr>
        <p:spPr>
          <a:xfrm flipV="1">
            <a:off x="3425190" y="2545313"/>
            <a:ext cx="26670" cy="45156"/>
          </a:xfrm>
          <a:prstGeom prst="line">
            <a:avLst/>
          </a:prstGeom>
          <a:noFill/>
          <a:ln w="31750">
            <a:solidFill>
              <a:srgbClr val="E58A8F"/>
            </a:solidFill>
            <a:prstDash val="solid"/>
          </a:ln>
        </p:spPr>
      </p:sp>
      <p:sp>
        <p:nvSpPr>
          <p:cNvPr id="72" name="Shape 70"/>
          <p:cNvSpPr/>
          <p:nvPr/>
        </p:nvSpPr>
        <p:spPr>
          <a:xfrm flipV="1">
            <a:off x="3451860" y="2512238"/>
            <a:ext cx="26670" cy="33075"/>
          </a:xfrm>
          <a:prstGeom prst="line">
            <a:avLst/>
          </a:prstGeom>
          <a:noFill/>
          <a:ln w="31750">
            <a:solidFill>
              <a:srgbClr val="E58A8F"/>
            </a:solidFill>
            <a:prstDash val="solid"/>
          </a:ln>
        </p:spPr>
      </p:sp>
      <p:sp>
        <p:nvSpPr>
          <p:cNvPr id="73" name="Shape 71"/>
          <p:cNvSpPr/>
          <p:nvPr/>
        </p:nvSpPr>
        <p:spPr>
          <a:xfrm flipV="1">
            <a:off x="3478530" y="2496963"/>
            <a:ext cx="26670" cy="15275"/>
          </a:xfrm>
          <a:prstGeom prst="line">
            <a:avLst/>
          </a:prstGeom>
          <a:noFill/>
          <a:ln w="31750">
            <a:solidFill>
              <a:srgbClr val="E58A8F"/>
            </a:solidFill>
            <a:prstDash val="solid"/>
          </a:ln>
        </p:spPr>
      </p:sp>
      <p:sp>
        <p:nvSpPr>
          <p:cNvPr id="74" name="Shape 72"/>
          <p:cNvSpPr/>
          <p:nvPr/>
        </p:nvSpPr>
        <p:spPr>
          <a:xfrm>
            <a:off x="3505200" y="2496963"/>
            <a:ext cx="26670" cy="5167"/>
          </a:xfrm>
          <a:prstGeom prst="line">
            <a:avLst/>
          </a:prstGeom>
          <a:noFill/>
          <a:ln w="31750">
            <a:solidFill>
              <a:srgbClr val="E58A8F"/>
            </a:solidFill>
            <a:prstDash val="solid"/>
          </a:ln>
        </p:spPr>
      </p:sp>
      <p:sp>
        <p:nvSpPr>
          <p:cNvPr id="75" name="Shape 73"/>
          <p:cNvSpPr/>
          <p:nvPr/>
        </p:nvSpPr>
        <p:spPr>
          <a:xfrm>
            <a:off x="3531870" y="2502130"/>
            <a:ext cx="26670" cy="24715"/>
          </a:xfrm>
          <a:prstGeom prst="line">
            <a:avLst/>
          </a:prstGeom>
          <a:noFill/>
          <a:ln w="31750">
            <a:solidFill>
              <a:srgbClr val="E58A8F"/>
            </a:solidFill>
            <a:prstDash val="solid"/>
          </a:ln>
        </p:spPr>
      </p:sp>
      <p:sp>
        <p:nvSpPr>
          <p:cNvPr id="76" name="Shape 74"/>
          <p:cNvSpPr/>
          <p:nvPr/>
        </p:nvSpPr>
        <p:spPr>
          <a:xfrm>
            <a:off x="3558540" y="2526845"/>
            <a:ext cx="26670" cy="39990"/>
          </a:xfrm>
          <a:prstGeom prst="line">
            <a:avLst/>
          </a:prstGeom>
          <a:noFill/>
          <a:ln w="31750">
            <a:solidFill>
              <a:srgbClr val="E58A8F"/>
            </a:solidFill>
            <a:prstDash val="solid"/>
          </a:ln>
        </p:spPr>
      </p:sp>
      <p:sp>
        <p:nvSpPr>
          <p:cNvPr id="77" name="Shape 75"/>
          <p:cNvSpPr/>
          <p:nvPr/>
        </p:nvSpPr>
        <p:spPr>
          <a:xfrm>
            <a:off x="3585210" y="2566834"/>
            <a:ext cx="26670" cy="48350"/>
          </a:xfrm>
          <a:prstGeom prst="line">
            <a:avLst/>
          </a:prstGeom>
          <a:noFill/>
          <a:ln w="31750">
            <a:solidFill>
              <a:srgbClr val="E58A8F"/>
            </a:solidFill>
            <a:prstDash val="solid"/>
          </a:ln>
        </p:spPr>
      </p:sp>
      <p:sp>
        <p:nvSpPr>
          <p:cNvPr id="78" name="Shape 76"/>
          <p:cNvSpPr/>
          <p:nvPr/>
        </p:nvSpPr>
        <p:spPr>
          <a:xfrm>
            <a:off x="3611880" y="2615184"/>
            <a:ext cx="91440" cy="128016"/>
          </a:xfrm>
          <a:prstGeom prst="line">
            <a:avLst/>
          </a:prstGeom>
          <a:noFill/>
          <a:ln w="31750">
            <a:solidFill>
              <a:srgbClr val="E58A8F"/>
            </a:solidFill>
            <a:prstDash val="solid"/>
          </a:ln>
        </p:spPr>
      </p:sp>
      <p:sp>
        <p:nvSpPr>
          <p:cNvPr id="79" name="Shape 77"/>
          <p:cNvSpPr/>
          <p:nvPr/>
        </p:nvSpPr>
        <p:spPr>
          <a:xfrm>
            <a:off x="3703320" y="2743200"/>
            <a:ext cx="91" cy="1965960"/>
          </a:xfrm>
          <a:prstGeom prst="line">
            <a:avLst/>
          </a:prstGeom>
          <a:noFill/>
          <a:ln w="31750">
            <a:solidFill>
              <a:srgbClr val="E58A8F"/>
            </a:solidFill>
            <a:prstDash val="solid"/>
          </a:ln>
        </p:spPr>
      </p:sp>
      <p:sp>
        <p:nvSpPr>
          <p:cNvPr id="80" name="Shape 78"/>
          <p:cNvSpPr/>
          <p:nvPr/>
        </p:nvSpPr>
        <p:spPr>
          <a:xfrm>
            <a:off x="3703320" y="4709160"/>
            <a:ext cx="274320" cy="182880"/>
          </a:xfrm>
          <a:prstGeom prst="line">
            <a:avLst/>
          </a:prstGeom>
          <a:noFill/>
          <a:ln w="31750">
            <a:solidFill>
              <a:srgbClr val="E58A8F"/>
            </a:solidFill>
            <a:prstDash val="solid"/>
          </a:ln>
        </p:spPr>
      </p:sp>
      <p:sp>
        <p:nvSpPr>
          <p:cNvPr id="81" name="Shape 79"/>
          <p:cNvSpPr/>
          <p:nvPr/>
        </p:nvSpPr>
        <p:spPr>
          <a:xfrm flipV="1">
            <a:off x="3977640" y="4709160"/>
            <a:ext cx="457200" cy="182880"/>
          </a:xfrm>
          <a:prstGeom prst="line">
            <a:avLst/>
          </a:prstGeom>
          <a:noFill/>
          <a:ln w="31750">
            <a:solidFill>
              <a:srgbClr val="E58A8F"/>
            </a:solidFill>
            <a:prstDash val="solid"/>
          </a:ln>
        </p:spPr>
      </p:sp>
      <p:sp>
        <p:nvSpPr>
          <p:cNvPr id="82" name="Shape 80"/>
          <p:cNvSpPr/>
          <p:nvPr/>
        </p:nvSpPr>
        <p:spPr>
          <a:xfrm flipV="1">
            <a:off x="4434840" y="2926080"/>
            <a:ext cx="91" cy="1783080"/>
          </a:xfrm>
          <a:prstGeom prst="line">
            <a:avLst/>
          </a:prstGeom>
          <a:noFill/>
          <a:ln w="31750">
            <a:solidFill>
              <a:srgbClr val="E58A8F"/>
            </a:solidFill>
            <a:prstDash val="solid"/>
          </a:ln>
        </p:spPr>
      </p:sp>
      <p:sp>
        <p:nvSpPr>
          <p:cNvPr id="83" name="Shape 81"/>
          <p:cNvSpPr/>
          <p:nvPr/>
        </p:nvSpPr>
        <p:spPr>
          <a:xfrm flipV="1">
            <a:off x="4434840" y="2697480"/>
            <a:ext cx="228600" cy="228600"/>
          </a:xfrm>
          <a:prstGeom prst="line">
            <a:avLst/>
          </a:prstGeom>
          <a:noFill/>
          <a:ln w="31750">
            <a:solidFill>
              <a:srgbClr val="E58A8F"/>
            </a:solidFill>
            <a:prstDash val="solid"/>
          </a:ln>
        </p:spPr>
      </p:sp>
      <p:sp>
        <p:nvSpPr>
          <p:cNvPr id="84" name="Shape 82"/>
          <p:cNvSpPr/>
          <p:nvPr/>
        </p:nvSpPr>
        <p:spPr>
          <a:xfrm>
            <a:off x="4663440" y="2697480"/>
            <a:ext cx="731520" cy="91"/>
          </a:xfrm>
          <a:prstGeom prst="line">
            <a:avLst/>
          </a:prstGeom>
          <a:noFill/>
          <a:ln w="31750">
            <a:solidFill>
              <a:srgbClr val="E58A8F"/>
            </a:solidFill>
            <a:prstDash val="solid"/>
          </a:ln>
        </p:spPr>
      </p:sp>
      <p:sp>
        <p:nvSpPr>
          <p:cNvPr id="85" name="Shape 83"/>
          <p:cNvSpPr/>
          <p:nvPr/>
        </p:nvSpPr>
        <p:spPr>
          <a:xfrm>
            <a:off x="1856232" y="2011680"/>
            <a:ext cx="28499" cy="63226"/>
          </a:xfrm>
          <a:prstGeom prst="line">
            <a:avLst/>
          </a:prstGeom>
          <a:noFill/>
          <a:ln w="152400">
            <a:solidFill>
              <a:srgbClr val="B8860B"/>
            </a:solidFill>
            <a:prstDash val="solid"/>
          </a:ln>
        </p:spPr>
      </p:sp>
      <p:sp>
        <p:nvSpPr>
          <p:cNvPr id="86" name="Shape 84"/>
          <p:cNvSpPr/>
          <p:nvPr/>
        </p:nvSpPr>
        <p:spPr>
          <a:xfrm>
            <a:off x="1884731" y="2074906"/>
            <a:ext cx="28499" cy="52294"/>
          </a:xfrm>
          <a:prstGeom prst="line">
            <a:avLst/>
          </a:prstGeom>
          <a:noFill/>
          <a:ln w="152400">
            <a:solidFill>
              <a:srgbClr val="B8860B"/>
            </a:solidFill>
            <a:prstDash val="solid"/>
          </a:ln>
        </p:spPr>
      </p:sp>
      <p:sp>
        <p:nvSpPr>
          <p:cNvPr id="87" name="Shape 85"/>
          <p:cNvSpPr/>
          <p:nvPr/>
        </p:nvSpPr>
        <p:spPr>
          <a:xfrm>
            <a:off x="1913230" y="2127200"/>
            <a:ext cx="28499" cy="32319"/>
          </a:xfrm>
          <a:prstGeom prst="line">
            <a:avLst/>
          </a:prstGeom>
          <a:noFill/>
          <a:ln w="152400">
            <a:solidFill>
              <a:srgbClr val="B8860B"/>
            </a:solidFill>
            <a:prstDash val="solid"/>
          </a:ln>
        </p:spPr>
      </p:sp>
      <p:sp>
        <p:nvSpPr>
          <p:cNvPr id="88" name="Shape 86"/>
          <p:cNvSpPr/>
          <p:nvPr/>
        </p:nvSpPr>
        <p:spPr>
          <a:xfrm>
            <a:off x="1941728" y="2159520"/>
            <a:ext cx="28499" cy="6757"/>
          </a:xfrm>
          <a:prstGeom prst="line">
            <a:avLst/>
          </a:prstGeom>
          <a:noFill/>
          <a:ln w="152400">
            <a:solidFill>
              <a:srgbClr val="B8860B"/>
            </a:solidFill>
            <a:prstDash val="solid"/>
          </a:ln>
        </p:spPr>
      </p:sp>
      <p:sp>
        <p:nvSpPr>
          <p:cNvPr id="89" name="Shape 87"/>
          <p:cNvSpPr/>
          <p:nvPr/>
        </p:nvSpPr>
        <p:spPr>
          <a:xfrm flipV="1">
            <a:off x="1970227" y="2146302"/>
            <a:ext cx="28499" cy="19975"/>
          </a:xfrm>
          <a:prstGeom prst="line">
            <a:avLst/>
          </a:prstGeom>
          <a:noFill/>
          <a:ln w="152400">
            <a:solidFill>
              <a:srgbClr val="B8860B"/>
            </a:solidFill>
            <a:prstDash val="solid"/>
          </a:ln>
        </p:spPr>
      </p:sp>
      <p:sp>
        <p:nvSpPr>
          <p:cNvPr id="90" name="Shape 88"/>
          <p:cNvSpPr/>
          <p:nvPr/>
        </p:nvSpPr>
        <p:spPr>
          <a:xfrm flipV="1">
            <a:off x="1998726" y="2103050"/>
            <a:ext cx="28499" cy="43252"/>
          </a:xfrm>
          <a:prstGeom prst="line">
            <a:avLst/>
          </a:prstGeom>
          <a:noFill/>
          <a:ln w="152400">
            <a:solidFill>
              <a:srgbClr val="B8860B"/>
            </a:solidFill>
            <a:prstDash val="solid"/>
          </a:ln>
        </p:spPr>
      </p:sp>
      <p:sp>
        <p:nvSpPr>
          <p:cNvPr id="91" name="Shape 89"/>
          <p:cNvSpPr/>
          <p:nvPr/>
        </p:nvSpPr>
        <p:spPr>
          <a:xfrm flipV="1">
            <a:off x="2027225" y="2043999"/>
            <a:ext cx="28499" cy="59051"/>
          </a:xfrm>
          <a:prstGeom prst="line">
            <a:avLst/>
          </a:prstGeom>
          <a:noFill/>
          <a:ln w="152400">
            <a:solidFill>
              <a:srgbClr val="B8860B"/>
            </a:solidFill>
            <a:prstDash val="solid"/>
          </a:ln>
        </p:spPr>
      </p:sp>
      <p:sp>
        <p:nvSpPr>
          <p:cNvPr id="92" name="Shape 90"/>
          <p:cNvSpPr/>
          <p:nvPr/>
        </p:nvSpPr>
        <p:spPr>
          <a:xfrm flipV="1">
            <a:off x="2055724" y="1979361"/>
            <a:ext cx="28499" cy="64639"/>
          </a:xfrm>
          <a:prstGeom prst="line">
            <a:avLst/>
          </a:prstGeom>
          <a:noFill/>
          <a:ln w="152400">
            <a:solidFill>
              <a:srgbClr val="B8860B"/>
            </a:solidFill>
            <a:prstDash val="solid"/>
          </a:ln>
        </p:spPr>
      </p:sp>
      <p:sp>
        <p:nvSpPr>
          <p:cNvPr id="93" name="Shape 91"/>
          <p:cNvSpPr/>
          <p:nvPr/>
        </p:nvSpPr>
        <p:spPr>
          <a:xfrm flipV="1">
            <a:off x="2084222" y="1920310"/>
            <a:ext cx="28499" cy="59051"/>
          </a:xfrm>
          <a:prstGeom prst="line">
            <a:avLst/>
          </a:prstGeom>
          <a:noFill/>
          <a:ln w="152400">
            <a:solidFill>
              <a:srgbClr val="B8860B"/>
            </a:solidFill>
            <a:prstDash val="solid"/>
          </a:ln>
        </p:spPr>
      </p:sp>
      <p:sp>
        <p:nvSpPr>
          <p:cNvPr id="94" name="Shape 92"/>
          <p:cNvSpPr/>
          <p:nvPr/>
        </p:nvSpPr>
        <p:spPr>
          <a:xfrm flipV="1">
            <a:off x="2112721" y="1877058"/>
            <a:ext cx="28499" cy="43252"/>
          </a:xfrm>
          <a:prstGeom prst="line">
            <a:avLst/>
          </a:prstGeom>
          <a:noFill/>
          <a:ln w="152400">
            <a:solidFill>
              <a:srgbClr val="B8860B"/>
            </a:solidFill>
            <a:prstDash val="solid"/>
          </a:ln>
        </p:spPr>
      </p:sp>
      <p:sp>
        <p:nvSpPr>
          <p:cNvPr id="95" name="Shape 93"/>
          <p:cNvSpPr/>
          <p:nvPr/>
        </p:nvSpPr>
        <p:spPr>
          <a:xfrm flipV="1">
            <a:off x="2141220" y="1857084"/>
            <a:ext cx="28499" cy="19975"/>
          </a:xfrm>
          <a:prstGeom prst="line">
            <a:avLst/>
          </a:prstGeom>
          <a:noFill/>
          <a:ln w="152400">
            <a:solidFill>
              <a:srgbClr val="B8860B"/>
            </a:solidFill>
            <a:prstDash val="solid"/>
          </a:ln>
        </p:spPr>
      </p:sp>
      <p:sp>
        <p:nvSpPr>
          <p:cNvPr id="96" name="Shape 94"/>
          <p:cNvSpPr/>
          <p:nvPr/>
        </p:nvSpPr>
        <p:spPr>
          <a:xfrm>
            <a:off x="2169719" y="1857084"/>
            <a:ext cx="28499" cy="6757"/>
          </a:xfrm>
          <a:prstGeom prst="line">
            <a:avLst/>
          </a:prstGeom>
          <a:noFill/>
          <a:ln w="152400">
            <a:solidFill>
              <a:srgbClr val="B8860B"/>
            </a:solidFill>
            <a:prstDash val="solid"/>
          </a:ln>
        </p:spPr>
      </p:sp>
      <p:sp>
        <p:nvSpPr>
          <p:cNvPr id="97" name="Shape 95"/>
          <p:cNvSpPr/>
          <p:nvPr/>
        </p:nvSpPr>
        <p:spPr>
          <a:xfrm>
            <a:off x="2198218" y="1863840"/>
            <a:ext cx="28499" cy="32319"/>
          </a:xfrm>
          <a:prstGeom prst="line">
            <a:avLst/>
          </a:prstGeom>
          <a:noFill/>
          <a:ln w="152400">
            <a:solidFill>
              <a:srgbClr val="B8860B"/>
            </a:solidFill>
            <a:prstDash val="solid"/>
          </a:ln>
        </p:spPr>
      </p:sp>
      <p:sp>
        <p:nvSpPr>
          <p:cNvPr id="98" name="Shape 96"/>
          <p:cNvSpPr/>
          <p:nvPr/>
        </p:nvSpPr>
        <p:spPr>
          <a:xfrm>
            <a:off x="2226716" y="1896160"/>
            <a:ext cx="28499" cy="52294"/>
          </a:xfrm>
          <a:prstGeom prst="line">
            <a:avLst/>
          </a:prstGeom>
          <a:noFill/>
          <a:ln w="152400">
            <a:solidFill>
              <a:srgbClr val="B8860B"/>
            </a:solidFill>
            <a:prstDash val="solid"/>
          </a:ln>
        </p:spPr>
      </p:sp>
      <p:sp>
        <p:nvSpPr>
          <p:cNvPr id="99" name="Shape 97"/>
          <p:cNvSpPr/>
          <p:nvPr/>
        </p:nvSpPr>
        <p:spPr>
          <a:xfrm>
            <a:off x="2255215" y="1948454"/>
            <a:ext cx="28499" cy="63226"/>
          </a:xfrm>
          <a:prstGeom prst="line">
            <a:avLst/>
          </a:prstGeom>
          <a:noFill/>
          <a:ln w="152400">
            <a:solidFill>
              <a:srgbClr val="B8860B"/>
            </a:solidFill>
            <a:prstDash val="solid"/>
          </a:ln>
        </p:spPr>
      </p:sp>
      <p:sp>
        <p:nvSpPr>
          <p:cNvPr id="100" name="Shape 98"/>
          <p:cNvSpPr/>
          <p:nvPr/>
        </p:nvSpPr>
        <p:spPr>
          <a:xfrm>
            <a:off x="2283714" y="2011680"/>
            <a:ext cx="28499" cy="63226"/>
          </a:xfrm>
          <a:prstGeom prst="line">
            <a:avLst/>
          </a:prstGeom>
          <a:noFill/>
          <a:ln w="152400">
            <a:solidFill>
              <a:srgbClr val="B8860B"/>
            </a:solidFill>
            <a:prstDash val="solid"/>
          </a:ln>
        </p:spPr>
      </p:sp>
      <p:sp>
        <p:nvSpPr>
          <p:cNvPr id="101" name="Shape 99"/>
          <p:cNvSpPr/>
          <p:nvPr/>
        </p:nvSpPr>
        <p:spPr>
          <a:xfrm>
            <a:off x="2312213" y="2074906"/>
            <a:ext cx="28499" cy="52294"/>
          </a:xfrm>
          <a:prstGeom prst="line">
            <a:avLst/>
          </a:prstGeom>
          <a:noFill/>
          <a:ln w="152400">
            <a:solidFill>
              <a:srgbClr val="B8860B"/>
            </a:solidFill>
            <a:prstDash val="solid"/>
          </a:ln>
        </p:spPr>
      </p:sp>
      <p:sp>
        <p:nvSpPr>
          <p:cNvPr id="102" name="Shape 100"/>
          <p:cNvSpPr/>
          <p:nvPr/>
        </p:nvSpPr>
        <p:spPr>
          <a:xfrm>
            <a:off x="2340712" y="2127200"/>
            <a:ext cx="28499" cy="32319"/>
          </a:xfrm>
          <a:prstGeom prst="line">
            <a:avLst/>
          </a:prstGeom>
          <a:noFill/>
          <a:ln w="152400">
            <a:solidFill>
              <a:srgbClr val="B8860B"/>
            </a:solidFill>
            <a:prstDash val="solid"/>
          </a:ln>
        </p:spPr>
      </p:sp>
      <p:sp>
        <p:nvSpPr>
          <p:cNvPr id="103" name="Shape 101"/>
          <p:cNvSpPr/>
          <p:nvPr/>
        </p:nvSpPr>
        <p:spPr>
          <a:xfrm>
            <a:off x="2369210" y="2159520"/>
            <a:ext cx="28499" cy="6757"/>
          </a:xfrm>
          <a:prstGeom prst="line">
            <a:avLst/>
          </a:prstGeom>
          <a:noFill/>
          <a:ln w="152400">
            <a:solidFill>
              <a:srgbClr val="B8860B"/>
            </a:solidFill>
            <a:prstDash val="solid"/>
          </a:ln>
        </p:spPr>
      </p:sp>
      <p:sp>
        <p:nvSpPr>
          <p:cNvPr id="104" name="Shape 102"/>
          <p:cNvSpPr/>
          <p:nvPr/>
        </p:nvSpPr>
        <p:spPr>
          <a:xfrm flipV="1">
            <a:off x="2397709" y="2146302"/>
            <a:ext cx="28499" cy="19975"/>
          </a:xfrm>
          <a:prstGeom prst="line">
            <a:avLst/>
          </a:prstGeom>
          <a:noFill/>
          <a:ln w="152400">
            <a:solidFill>
              <a:srgbClr val="B8860B"/>
            </a:solidFill>
            <a:prstDash val="solid"/>
          </a:ln>
        </p:spPr>
      </p:sp>
      <p:sp>
        <p:nvSpPr>
          <p:cNvPr id="105" name="Shape 103"/>
          <p:cNvSpPr/>
          <p:nvPr/>
        </p:nvSpPr>
        <p:spPr>
          <a:xfrm flipV="1">
            <a:off x="2426208" y="2103050"/>
            <a:ext cx="28499" cy="43252"/>
          </a:xfrm>
          <a:prstGeom prst="line">
            <a:avLst/>
          </a:prstGeom>
          <a:noFill/>
          <a:ln w="152400">
            <a:solidFill>
              <a:srgbClr val="B8860B"/>
            </a:solidFill>
            <a:prstDash val="solid"/>
          </a:ln>
        </p:spPr>
      </p:sp>
      <p:sp>
        <p:nvSpPr>
          <p:cNvPr id="106" name="Shape 104"/>
          <p:cNvSpPr/>
          <p:nvPr/>
        </p:nvSpPr>
        <p:spPr>
          <a:xfrm flipV="1">
            <a:off x="2454707" y="2043999"/>
            <a:ext cx="28499" cy="59051"/>
          </a:xfrm>
          <a:prstGeom prst="line">
            <a:avLst/>
          </a:prstGeom>
          <a:noFill/>
          <a:ln w="152400">
            <a:solidFill>
              <a:srgbClr val="B8860B"/>
            </a:solidFill>
            <a:prstDash val="solid"/>
          </a:ln>
        </p:spPr>
      </p:sp>
      <p:sp>
        <p:nvSpPr>
          <p:cNvPr id="107" name="Shape 105"/>
          <p:cNvSpPr/>
          <p:nvPr/>
        </p:nvSpPr>
        <p:spPr>
          <a:xfrm flipV="1">
            <a:off x="2483206" y="1979361"/>
            <a:ext cx="28499" cy="64639"/>
          </a:xfrm>
          <a:prstGeom prst="line">
            <a:avLst/>
          </a:prstGeom>
          <a:noFill/>
          <a:ln w="152400">
            <a:solidFill>
              <a:srgbClr val="B8860B"/>
            </a:solidFill>
            <a:prstDash val="solid"/>
          </a:ln>
        </p:spPr>
      </p:sp>
      <p:sp>
        <p:nvSpPr>
          <p:cNvPr id="108" name="Shape 106"/>
          <p:cNvSpPr/>
          <p:nvPr/>
        </p:nvSpPr>
        <p:spPr>
          <a:xfrm flipV="1">
            <a:off x="2511704" y="1920310"/>
            <a:ext cx="28499" cy="59051"/>
          </a:xfrm>
          <a:prstGeom prst="line">
            <a:avLst/>
          </a:prstGeom>
          <a:noFill/>
          <a:ln w="152400">
            <a:solidFill>
              <a:srgbClr val="B8860B"/>
            </a:solidFill>
            <a:prstDash val="solid"/>
          </a:ln>
        </p:spPr>
      </p:sp>
      <p:sp>
        <p:nvSpPr>
          <p:cNvPr id="109" name="Shape 107"/>
          <p:cNvSpPr/>
          <p:nvPr/>
        </p:nvSpPr>
        <p:spPr>
          <a:xfrm flipV="1">
            <a:off x="2540203" y="1877058"/>
            <a:ext cx="28499" cy="43252"/>
          </a:xfrm>
          <a:prstGeom prst="line">
            <a:avLst/>
          </a:prstGeom>
          <a:noFill/>
          <a:ln w="152400">
            <a:solidFill>
              <a:srgbClr val="B8860B"/>
            </a:solidFill>
            <a:prstDash val="solid"/>
          </a:ln>
        </p:spPr>
      </p:sp>
      <p:sp>
        <p:nvSpPr>
          <p:cNvPr id="110" name="Shape 108"/>
          <p:cNvSpPr/>
          <p:nvPr/>
        </p:nvSpPr>
        <p:spPr>
          <a:xfrm flipV="1">
            <a:off x="2568702" y="1857084"/>
            <a:ext cx="28499" cy="19975"/>
          </a:xfrm>
          <a:prstGeom prst="line">
            <a:avLst/>
          </a:prstGeom>
          <a:noFill/>
          <a:ln w="152400">
            <a:solidFill>
              <a:srgbClr val="B8860B"/>
            </a:solidFill>
            <a:prstDash val="solid"/>
          </a:ln>
        </p:spPr>
      </p:sp>
      <p:sp>
        <p:nvSpPr>
          <p:cNvPr id="111" name="Shape 109"/>
          <p:cNvSpPr/>
          <p:nvPr/>
        </p:nvSpPr>
        <p:spPr>
          <a:xfrm>
            <a:off x="2597201" y="1857084"/>
            <a:ext cx="28499" cy="6757"/>
          </a:xfrm>
          <a:prstGeom prst="line">
            <a:avLst/>
          </a:prstGeom>
          <a:noFill/>
          <a:ln w="152400">
            <a:solidFill>
              <a:srgbClr val="B8860B"/>
            </a:solidFill>
            <a:prstDash val="solid"/>
          </a:ln>
        </p:spPr>
      </p:sp>
      <p:sp>
        <p:nvSpPr>
          <p:cNvPr id="112" name="Shape 110"/>
          <p:cNvSpPr/>
          <p:nvPr/>
        </p:nvSpPr>
        <p:spPr>
          <a:xfrm>
            <a:off x="2625700" y="1863840"/>
            <a:ext cx="28499" cy="32319"/>
          </a:xfrm>
          <a:prstGeom prst="line">
            <a:avLst/>
          </a:prstGeom>
          <a:noFill/>
          <a:ln w="152400">
            <a:solidFill>
              <a:srgbClr val="B8860B"/>
            </a:solidFill>
            <a:prstDash val="solid"/>
          </a:ln>
        </p:spPr>
      </p:sp>
      <p:sp>
        <p:nvSpPr>
          <p:cNvPr id="113" name="Shape 111"/>
          <p:cNvSpPr/>
          <p:nvPr/>
        </p:nvSpPr>
        <p:spPr>
          <a:xfrm>
            <a:off x="2654198" y="1896160"/>
            <a:ext cx="28499" cy="52294"/>
          </a:xfrm>
          <a:prstGeom prst="line">
            <a:avLst/>
          </a:prstGeom>
          <a:noFill/>
          <a:ln w="152400">
            <a:solidFill>
              <a:srgbClr val="B8860B"/>
            </a:solidFill>
            <a:prstDash val="solid"/>
          </a:ln>
        </p:spPr>
      </p:sp>
      <p:sp>
        <p:nvSpPr>
          <p:cNvPr id="114" name="Shape 112"/>
          <p:cNvSpPr/>
          <p:nvPr/>
        </p:nvSpPr>
        <p:spPr>
          <a:xfrm>
            <a:off x="2682697" y="1948454"/>
            <a:ext cx="28499" cy="63226"/>
          </a:xfrm>
          <a:prstGeom prst="line">
            <a:avLst/>
          </a:prstGeom>
          <a:noFill/>
          <a:ln w="152400">
            <a:solidFill>
              <a:srgbClr val="B8860B"/>
            </a:solidFill>
            <a:prstDash val="solid"/>
          </a:ln>
        </p:spPr>
      </p:sp>
      <p:sp>
        <p:nvSpPr>
          <p:cNvPr id="115" name="Shape 113"/>
          <p:cNvSpPr/>
          <p:nvPr/>
        </p:nvSpPr>
        <p:spPr>
          <a:xfrm>
            <a:off x="2711196" y="2011680"/>
            <a:ext cx="28499" cy="63226"/>
          </a:xfrm>
          <a:prstGeom prst="line">
            <a:avLst/>
          </a:prstGeom>
          <a:noFill/>
          <a:ln w="152400">
            <a:solidFill>
              <a:srgbClr val="B8860B"/>
            </a:solidFill>
            <a:prstDash val="solid"/>
          </a:ln>
        </p:spPr>
      </p:sp>
      <p:sp>
        <p:nvSpPr>
          <p:cNvPr id="116" name="Shape 114"/>
          <p:cNvSpPr/>
          <p:nvPr/>
        </p:nvSpPr>
        <p:spPr>
          <a:xfrm>
            <a:off x="2739695" y="2074906"/>
            <a:ext cx="28499" cy="52294"/>
          </a:xfrm>
          <a:prstGeom prst="line">
            <a:avLst/>
          </a:prstGeom>
          <a:noFill/>
          <a:ln w="152400">
            <a:solidFill>
              <a:srgbClr val="B8860B"/>
            </a:solidFill>
            <a:prstDash val="solid"/>
          </a:ln>
        </p:spPr>
      </p:sp>
      <p:sp>
        <p:nvSpPr>
          <p:cNvPr id="117" name="Shape 115"/>
          <p:cNvSpPr/>
          <p:nvPr/>
        </p:nvSpPr>
        <p:spPr>
          <a:xfrm>
            <a:off x="2768194" y="2127200"/>
            <a:ext cx="28499" cy="32319"/>
          </a:xfrm>
          <a:prstGeom prst="line">
            <a:avLst/>
          </a:prstGeom>
          <a:noFill/>
          <a:ln w="152400">
            <a:solidFill>
              <a:srgbClr val="B8860B"/>
            </a:solidFill>
            <a:prstDash val="solid"/>
          </a:ln>
        </p:spPr>
      </p:sp>
      <p:sp>
        <p:nvSpPr>
          <p:cNvPr id="118" name="Shape 116"/>
          <p:cNvSpPr/>
          <p:nvPr/>
        </p:nvSpPr>
        <p:spPr>
          <a:xfrm>
            <a:off x="2796692" y="2159520"/>
            <a:ext cx="28499" cy="6757"/>
          </a:xfrm>
          <a:prstGeom prst="line">
            <a:avLst/>
          </a:prstGeom>
          <a:noFill/>
          <a:ln w="152400">
            <a:solidFill>
              <a:srgbClr val="B8860B"/>
            </a:solidFill>
            <a:prstDash val="solid"/>
          </a:ln>
        </p:spPr>
      </p:sp>
      <p:sp>
        <p:nvSpPr>
          <p:cNvPr id="119" name="Shape 117"/>
          <p:cNvSpPr/>
          <p:nvPr/>
        </p:nvSpPr>
        <p:spPr>
          <a:xfrm flipV="1">
            <a:off x="2825191" y="2146302"/>
            <a:ext cx="28499" cy="19975"/>
          </a:xfrm>
          <a:prstGeom prst="line">
            <a:avLst/>
          </a:prstGeom>
          <a:noFill/>
          <a:ln w="152400">
            <a:solidFill>
              <a:srgbClr val="B8860B"/>
            </a:solidFill>
            <a:prstDash val="solid"/>
          </a:ln>
        </p:spPr>
      </p:sp>
      <p:sp>
        <p:nvSpPr>
          <p:cNvPr id="120" name="Shape 118"/>
          <p:cNvSpPr/>
          <p:nvPr/>
        </p:nvSpPr>
        <p:spPr>
          <a:xfrm flipV="1">
            <a:off x="2853690" y="2103050"/>
            <a:ext cx="28499" cy="43252"/>
          </a:xfrm>
          <a:prstGeom prst="line">
            <a:avLst/>
          </a:prstGeom>
          <a:noFill/>
          <a:ln w="152400">
            <a:solidFill>
              <a:srgbClr val="B8860B"/>
            </a:solidFill>
            <a:prstDash val="solid"/>
          </a:ln>
        </p:spPr>
      </p:sp>
      <p:sp>
        <p:nvSpPr>
          <p:cNvPr id="121" name="Shape 119"/>
          <p:cNvSpPr/>
          <p:nvPr/>
        </p:nvSpPr>
        <p:spPr>
          <a:xfrm flipV="1">
            <a:off x="2882189" y="2043999"/>
            <a:ext cx="28499" cy="59051"/>
          </a:xfrm>
          <a:prstGeom prst="line">
            <a:avLst/>
          </a:prstGeom>
          <a:noFill/>
          <a:ln w="152400">
            <a:solidFill>
              <a:srgbClr val="B8860B"/>
            </a:solidFill>
            <a:prstDash val="solid"/>
          </a:ln>
        </p:spPr>
      </p:sp>
      <p:sp>
        <p:nvSpPr>
          <p:cNvPr id="122" name="Shape 120"/>
          <p:cNvSpPr/>
          <p:nvPr/>
        </p:nvSpPr>
        <p:spPr>
          <a:xfrm flipV="1">
            <a:off x="2910688" y="1979361"/>
            <a:ext cx="28499" cy="64639"/>
          </a:xfrm>
          <a:prstGeom prst="line">
            <a:avLst/>
          </a:prstGeom>
          <a:noFill/>
          <a:ln w="152400">
            <a:solidFill>
              <a:srgbClr val="B8860B"/>
            </a:solidFill>
            <a:prstDash val="solid"/>
          </a:ln>
        </p:spPr>
      </p:sp>
      <p:sp>
        <p:nvSpPr>
          <p:cNvPr id="123" name="Shape 121"/>
          <p:cNvSpPr/>
          <p:nvPr/>
        </p:nvSpPr>
        <p:spPr>
          <a:xfrm flipV="1">
            <a:off x="2939186" y="1920310"/>
            <a:ext cx="28499" cy="59051"/>
          </a:xfrm>
          <a:prstGeom prst="line">
            <a:avLst/>
          </a:prstGeom>
          <a:noFill/>
          <a:ln w="152400">
            <a:solidFill>
              <a:srgbClr val="B8860B"/>
            </a:solidFill>
            <a:prstDash val="solid"/>
          </a:ln>
        </p:spPr>
      </p:sp>
      <p:sp>
        <p:nvSpPr>
          <p:cNvPr id="124" name="Shape 122"/>
          <p:cNvSpPr/>
          <p:nvPr/>
        </p:nvSpPr>
        <p:spPr>
          <a:xfrm flipV="1">
            <a:off x="2967685" y="1877058"/>
            <a:ext cx="28499" cy="43252"/>
          </a:xfrm>
          <a:prstGeom prst="line">
            <a:avLst/>
          </a:prstGeom>
          <a:noFill/>
          <a:ln w="152400">
            <a:solidFill>
              <a:srgbClr val="B8860B"/>
            </a:solidFill>
            <a:prstDash val="solid"/>
          </a:ln>
        </p:spPr>
      </p:sp>
      <p:sp>
        <p:nvSpPr>
          <p:cNvPr id="125" name="Shape 123"/>
          <p:cNvSpPr/>
          <p:nvPr/>
        </p:nvSpPr>
        <p:spPr>
          <a:xfrm flipV="1">
            <a:off x="2996184" y="1857084"/>
            <a:ext cx="28499" cy="19975"/>
          </a:xfrm>
          <a:prstGeom prst="line">
            <a:avLst/>
          </a:prstGeom>
          <a:noFill/>
          <a:ln w="152400">
            <a:solidFill>
              <a:srgbClr val="B8860B"/>
            </a:solidFill>
            <a:prstDash val="solid"/>
          </a:ln>
        </p:spPr>
      </p:sp>
      <p:sp>
        <p:nvSpPr>
          <p:cNvPr id="126" name="Shape 124"/>
          <p:cNvSpPr/>
          <p:nvPr/>
        </p:nvSpPr>
        <p:spPr>
          <a:xfrm>
            <a:off x="3024683" y="1857084"/>
            <a:ext cx="28499" cy="6757"/>
          </a:xfrm>
          <a:prstGeom prst="line">
            <a:avLst/>
          </a:prstGeom>
          <a:noFill/>
          <a:ln w="152400">
            <a:solidFill>
              <a:srgbClr val="B8860B"/>
            </a:solidFill>
            <a:prstDash val="solid"/>
          </a:ln>
        </p:spPr>
      </p:sp>
      <p:sp>
        <p:nvSpPr>
          <p:cNvPr id="127" name="Shape 125"/>
          <p:cNvSpPr/>
          <p:nvPr/>
        </p:nvSpPr>
        <p:spPr>
          <a:xfrm>
            <a:off x="3053182" y="1863840"/>
            <a:ext cx="28499" cy="32319"/>
          </a:xfrm>
          <a:prstGeom prst="line">
            <a:avLst/>
          </a:prstGeom>
          <a:noFill/>
          <a:ln w="152400">
            <a:solidFill>
              <a:srgbClr val="B8860B"/>
            </a:solidFill>
            <a:prstDash val="solid"/>
          </a:ln>
        </p:spPr>
      </p:sp>
      <p:sp>
        <p:nvSpPr>
          <p:cNvPr id="128" name="Shape 126"/>
          <p:cNvSpPr/>
          <p:nvPr/>
        </p:nvSpPr>
        <p:spPr>
          <a:xfrm>
            <a:off x="3081680" y="1896160"/>
            <a:ext cx="28499" cy="52294"/>
          </a:xfrm>
          <a:prstGeom prst="line">
            <a:avLst/>
          </a:prstGeom>
          <a:noFill/>
          <a:ln w="152400">
            <a:solidFill>
              <a:srgbClr val="B8860B"/>
            </a:solidFill>
            <a:prstDash val="solid"/>
          </a:ln>
        </p:spPr>
      </p:sp>
      <p:sp>
        <p:nvSpPr>
          <p:cNvPr id="129" name="Shape 127"/>
          <p:cNvSpPr/>
          <p:nvPr/>
        </p:nvSpPr>
        <p:spPr>
          <a:xfrm>
            <a:off x="3110179" y="1948454"/>
            <a:ext cx="28499" cy="63226"/>
          </a:xfrm>
          <a:prstGeom prst="line">
            <a:avLst/>
          </a:prstGeom>
          <a:noFill/>
          <a:ln w="152400">
            <a:solidFill>
              <a:srgbClr val="B8860B"/>
            </a:solidFill>
            <a:prstDash val="solid"/>
          </a:ln>
        </p:spPr>
      </p:sp>
      <p:sp>
        <p:nvSpPr>
          <p:cNvPr id="130" name="Shape 128"/>
          <p:cNvSpPr/>
          <p:nvPr/>
        </p:nvSpPr>
        <p:spPr>
          <a:xfrm>
            <a:off x="3138678" y="2011680"/>
            <a:ext cx="28499" cy="63226"/>
          </a:xfrm>
          <a:prstGeom prst="line">
            <a:avLst/>
          </a:prstGeom>
          <a:noFill/>
          <a:ln w="152400">
            <a:solidFill>
              <a:srgbClr val="B8860B"/>
            </a:solidFill>
            <a:prstDash val="solid"/>
          </a:ln>
        </p:spPr>
      </p:sp>
      <p:sp>
        <p:nvSpPr>
          <p:cNvPr id="131" name="Shape 129"/>
          <p:cNvSpPr/>
          <p:nvPr/>
        </p:nvSpPr>
        <p:spPr>
          <a:xfrm>
            <a:off x="3167177" y="2074906"/>
            <a:ext cx="28499" cy="52294"/>
          </a:xfrm>
          <a:prstGeom prst="line">
            <a:avLst/>
          </a:prstGeom>
          <a:noFill/>
          <a:ln w="152400">
            <a:solidFill>
              <a:srgbClr val="B8860B"/>
            </a:solidFill>
            <a:prstDash val="solid"/>
          </a:ln>
        </p:spPr>
      </p:sp>
      <p:sp>
        <p:nvSpPr>
          <p:cNvPr id="132" name="Shape 130"/>
          <p:cNvSpPr/>
          <p:nvPr/>
        </p:nvSpPr>
        <p:spPr>
          <a:xfrm>
            <a:off x="3195676" y="2127200"/>
            <a:ext cx="28499" cy="32319"/>
          </a:xfrm>
          <a:prstGeom prst="line">
            <a:avLst/>
          </a:prstGeom>
          <a:noFill/>
          <a:ln w="152400">
            <a:solidFill>
              <a:srgbClr val="B8860B"/>
            </a:solidFill>
            <a:prstDash val="solid"/>
          </a:ln>
        </p:spPr>
      </p:sp>
      <p:sp>
        <p:nvSpPr>
          <p:cNvPr id="133" name="Shape 131"/>
          <p:cNvSpPr/>
          <p:nvPr/>
        </p:nvSpPr>
        <p:spPr>
          <a:xfrm>
            <a:off x="3224174" y="2159520"/>
            <a:ext cx="28499" cy="6757"/>
          </a:xfrm>
          <a:prstGeom prst="line">
            <a:avLst/>
          </a:prstGeom>
          <a:noFill/>
          <a:ln w="152400">
            <a:solidFill>
              <a:srgbClr val="B8860B"/>
            </a:solidFill>
            <a:prstDash val="solid"/>
          </a:ln>
        </p:spPr>
      </p:sp>
      <p:sp>
        <p:nvSpPr>
          <p:cNvPr id="134" name="Shape 132"/>
          <p:cNvSpPr/>
          <p:nvPr/>
        </p:nvSpPr>
        <p:spPr>
          <a:xfrm flipV="1">
            <a:off x="3252673" y="2146302"/>
            <a:ext cx="28499" cy="19975"/>
          </a:xfrm>
          <a:prstGeom prst="line">
            <a:avLst/>
          </a:prstGeom>
          <a:noFill/>
          <a:ln w="152400">
            <a:solidFill>
              <a:srgbClr val="B8860B"/>
            </a:solidFill>
            <a:prstDash val="solid"/>
          </a:ln>
        </p:spPr>
      </p:sp>
      <p:sp>
        <p:nvSpPr>
          <p:cNvPr id="135" name="Shape 133"/>
          <p:cNvSpPr/>
          <p:nvPr/>
        </p:nvSpPr>
        <p:spPr>
          <a:xfrm flipV="1">
            <a:off x="3281172" y="2103050"/>
            <a:ext cx="28499" cy="43252"/>
          </a:xfrm>
          <a:prstGeom prst="line">
            <a:avLst/>
          </a:prstGeom>
          <a:noFill/>
          <a:ln w="152400">
            <a:solidFill>
              <a:srgbClr val="B8860B"/>
            </a:solidFill>
            <a:prstDash val="solid"/>
          </a:ln>
        </p:spPr>
      </p:sp>
      <p:sp>
        <p:nvSpPr>
          <p:cNvPr id="136" name="Shape 134"/>
          <p:cNvSpPr/>
          <p:nvPr/>
        </p:nvSpPr>
        <p:spPr>
          <a:xfrm flipV="1">
            <a:off x="3309671" y="2043999"/>
            <a:ext cx="28499" cy="59051"/>
          </a:xfrm>
          <a:prstGeom prst="line">
            <a:avLst/>
          </a:prstGeom>
          <a:noFill/>
          <a:ln w="152400">
            <a:solidFill>
              <a:srgbClr val="B8860B"/>
            </a:solidFill>
            <a:prstDash val="solid"/>
          </a:ln>
        </p:spPr>
      </p:sp>
      <p:sp>
        <p:nvSpPr>
          <p:cNvPr id="137" name="Shape 135"/>
          <p:cNvSpPr/>
          <p:nvPr/>
        </p:nvSpPr>
        <p:spPr>
          <a:xfrm flipV="1">
            <a:off x="3338170" y="1979361"/>
            <a:ext cx="28499" cy="64639"/>
          </a:xfrm>
          <a:prstGeom prst="line">
            <a:avLst/>
          </a:prstGeom>
          <a:noFill/>
          <a:ln w="152400">
            <a:solidFill>
              <a:srgbClr val="B8860B"/>
            </a:solidFill>
            <a:prstDash val="solid"/>
          </a:ln>
        </p:spPr>
      </p:sp>
      <p:sp>
        <p:nvSpPr>
          <p:cNvPr id="138" name="Shape 136"/>
          <p:cNvSpPr/>
          <p:nvPr/>
        </p:nvSpPr>
        <p:spPr>
          <a:xfrm flipV="1">
            <a:off x="3366668" y="1920310"/>
            <a:ext cx="28499" cy="59051"/>
          </a:xfrm>
          <a:prstGeom prst="line">
            <a:avLst/>
          </a:prstGeom>
          <a:noFill/>
          <a:ln w="152400">
            <a:solidFill>
              <a:srgbClr val="B8860B"/>
            </a:solidFill>
            <a:prstDash val="solid"/>
          </a:ln>
        </p:spPr>
      </p:sp>
      <p:sp>
        <p:nvSpPr>
          <p:cNvPr id="139" name="Shape 137"/>
          <p:cNvSpPr/>
          <p:nvPr/>
        </p:nvSpPr>
        <p:spPr>
          <a:xfrm flipV="1">
            <a:off x="3395167" y="1877058"/>
            <a:ext cx="28499" cy="43252"/>
          </a:xfrm>
          <a:prstGeom prst="line">
            <a:avLst/>
          </a:prstGeom>
          <a:noFill/>
          <a:ln w="152400">
            <a:solidFill>
              <a:srgbClr val="B8860B"/>
            </a:solidFill>
            <a:prstDash val="solid"/>
          </a:ln>
        </p:spPr>
      </p:sp>
      <p:sp>
        <p:nvSpPr>
          <p:cNvPr id="140" name="Shape 138"/>
          <p:cNvSpPr/>
          <p:nvPr/>
        </p:nvSpPr>
        <p:spPr>
          <a:xfrm flipV="1">
            <a:off x="3423666" y="1857084"/>
            <a:ext cx="28499" cy="19975"/>
          </a:xfrm>
          <a:prstGeom prst="line">
            <a:avLst/>
          </a:prstGeom>
          <a:noFill/>
          <a:ln w="152400">
            <a:solidFill>
              <a:srgbClr val="B8860B"/>
            </a:solidFill>
            <a:prstDash val="solid"/>
          </a:ln>
        </p:spPr>
      </p:sp>
      <p:sp>
        <p:nvSpPr>
          <p:cNvPr id="141" name="Shape 139"/>
          <p:cNvSpPr/>
          <p:nvPr/>
        </p:nvSpPr>
        <p:spPr>
          <a:xfrm>
            <a:off x="3452165" y="1857084"/>
            <a:ext cx="28499" cy="6757"/>
          </a:xfrm>
          <a:prstGeom prst="line">
            <a:avLst/>
          </a:prstGeom>
          <a:noFill/>
          <a:ln w="152400">
            <a:solidFill>
              <a:srgbClr val="B8860B"/>
            </a:solidFill>
            <a:prstDash val="solid"/>
          </a:ln>
        </p:spPr>
      </p:sp>
      <p:sp>
        <p:nvSpPr>
          <p:cNvPr id="142" name="Shape 140"/>
          <p:cNvSpPr/>
          <p:nvPr/>
        </p:nvSpPr>
        <p:spPr>
          <a:xfrm>
            <a:off x="3480664" y="1863840"/>
            <a:ext cx="28499" cy="32319"/>
          </a:xfrm>
          <a:prstGeom prst="line">
            <a:avLst/>
          </a:prstGeom>
          <a:noFill/>
          <a:ln w="152400">
            <a:solidFill>
              <a:srgbClr val="B8860B"/>
            </a:solidFill>
            <a:prstDash val="solid"/>
          </a:ln>
        </p:spPr>
      </p:sp>
      <p:sp>
        <p:nvSpPr>
          <p:cNvPr id="143" name="Shape 141"/>
          <p:cNvSpPr/>
          <p:nvPr/>
        </p:nvSpPr>
        <p:spPr>
          <a:xfrm>
            <a:off x="3509162" y="1896160"/>
            <a:ext cx="28499" cy="52294"/>
          </a:xfrm>
          <a:prstGeom prst="line">
            <a:avLst/>
          </a:prstGeom>
          <a:noFill/>
          <a:ln w="152400">
            <a:solidFill>
              <a:srgbClr val="B8860B"/>
            </a:solidFill>
            <a:prstDash val="solid"/>
          </a:ln>
        </p:spPr>
      </p:sp>
      <p:sp>
        <p:nvSpPr>
          <p:cNvPr id="144" name="Shape 142"/>
          <p:cNvSpPr/>
          <p:nvPr/>
        </p:nvSpPr>
        <p:spPr>
          <a:xfrm>
            <a:off x="3537661" y="1948454"/>
            <a:ext cx="28499" cy="63226"/>
          </a:xfrm>
          <a:prstGeom prst="line">
            <a:avLst/>
          </a:prstGeom>
          <a:noFill/>
          <a:ln w="152400">
            <a:solidFill>
              <a:srgbClr val="B8860B"/>
            </a:solidFill>
            <a:prstDash val="solid"/>
          </a:ln>
        </p:spPr>
      </p:sp>
      <p:sp>
        <p:nvSpPr>
          <p:cNvPr id="145" name="Shape 143"/>
          <p:cNvSpPr/>
          <p:nvPr/>
        </p:nvSpPr>
        <p:spPr>
          <a:xfrm>
            <a:off x="1780032" y="1935480"/>
            <a:ext cx="152400" cy="152400"/>
          </a:xfrm>
          <a:prstGeom prst="ellipse">
            <a:avLst/>
          </a:prstGeom>
          <a:solidFill>
            <a:srgbClr val="B8860B"/>
          </a:solidFill>
          <a:ln w="12700">
            <a:solidFill>
              <a:srgbClr val="B8860B"/>
            </a:solidFill>
            <a:prstDash val="solid"/>
          </a:ln>
        </p:spPr>
      </p:sp>
      <p:sp>
        <p:nvSpPr>
          <p:cNvPr id="146" name="Shape 144"/>
          <p:cNvSpPr/>
          <p:nvPr/>
        </p:nvSpPr>
        <p:spPr>
          <a:xfrm>
            <a:off x="1808531" y="1998706"/>
            <a:ext cx="152400" cy="152400"/>
          </a:xfrm>
          <a:prstGeom prst="ellipse">
            <a:avLst/>
          </a:prstGeom>
          <a:solidFill>
            <a:srgbClr val="B8860B"/>
          </a:solidFill>
          <a:ln w="12700">
            <a:solidFill>
              <a:srgbClr val="B8860B"/>
            </a:solidFill>
            <a:prstDash val="solid"/>
          </a:ln>
        </p:spPr>
      </p:sp>
      <p:sp>
        <p:nvSpPr>
          <p:cNvPr id="147" name="Shape 145"/>
          <p:cNvSpPr/>
          <p:nvPr/>
        </p:nvSpPr>
        <p:spPr>
          <a:xfrm>
            <a:off x="1837030" y="2051000"/>
            <a:ext cx="152400" cy="152400"/>
          </a:xfrm>
          <a:prstGeom prst="ellipse">
            <a:avLst/>
          </a:prstGeom>
          <a:solidFill>
            <a:srgbClr val="B8860B"/>
          </a:solidFill>
          <a:ln w="12700">
            <a:solidFill>
              <a:srgbClr val="B8860B"/>
            </a:solidFill>
            <a:prstDash val="solid"/>
          </a:ln>
        </p:spPr>
      </p:sp>
      <p:sp>
        <p:nvSpPr>
          <p:cNvPr id="148" name="Shape 146"/>
          <p:cNvSpPr/>
          <p:nvPr/>
        </p:nvSpPr>
        <p:spPr>
          <a:xfrm>
            <a:off x="1865528" y="2083320"/>
            <a:ext cx="152400" cy="152400"/>
          </a:xfrm>
          <a:prstGeom prst="ellipse">
            <a:avLst/>
          </a:prstGeom>
          <a:solidFill>
            <a:srgbClr val="B8860B"/>
          </a:solidFill>
          <a:ln w="12700">
            <a:solidFill>
              <a:srgbClr val="B8860B"/>
            </a:solidFill>
            <a:prstDash val="solid"/>
          </a:ln>
        </p:spPr>
      </p:sp>
      <p:sp>
        <p:nvSpPr>
          <p:cNvPr id="149" name="Shape 147"/>
          <p:cNvSpPr/>
          <p:nvPr/>
        </p:nvSpPr>
        <p:spPr>
          <a:xfrm>
            <a:off x="1894027" y="2090076"/>
            <a:ext cx="152400" cy="152400"/>
          </a:xfrm>
          <a:prstGeom prst="ellipse">
            <a:avLst/>
          </a:prstGeom>
          <a:solidFill>
            <a:srgbClr val="B8860B"/>
          </a:solidFill>
          <a:ln w="12700">
            <a:solidFill>
              <a:srgbClr val="B8860B"/>
            </a:solidFill>
            <a:prstDash val="solid"/>
          </a:ln>
        </p:spPr>
      </p:sp>
      <p:sp>
        <p:nvSpPr>
          <p:cNvPr id="150" name="Shape 148"/>
          <p:cNvSpPr/>
          <p:nvPr/>
        </p:nvSpPr>
        <p:spPr>
          <a:xfrm>
            <a:off x="1922526" y="2070102"/>
            <a:ext cx="152400" cy="152400"/>
          </a:xfrm>
          <a:prstGeom prst="ellipse">
            <a:avLst/>
          </a:prstGeom>
          <a:solidFill>
            <a:srgbClr val="B8860B"/>
          </a:solidFill>
          <a:ln w="12700">
            <a:solidFill>
              <a:srgbClr val="B8860B"/>
            </a:solidFill>
            <a:prstDash val="solid"/>
          </a:ln>
        </p:spPr>
      </p:sp>
      <p:sp>
        <p:nvSpPr>
          <p:cNvPr id="151" name="Shape 149"/>
          <p:cNvSpPr/>
          <p:nvPr/>
        </p:nvSpPr>
        <p:spPr>
          <a:xfrm>
            <a:off x="1951025" y="2026850"/>
            <a:ext cx="152400" cy="152400"/>
          </a:xfrm>
          <a:prstGeom prst="ellipse">
            <a:avLst/>
          </a:prstGeom>
          <a:solidFill>
            <a:srgbClr val="B8860B"/>
          </a:solidFill>
          <a:ln w="12700">
            <a:solidFill>
              <a:srgbClr val="B8860B"/>
            </a:solidFill>
            <a:prstDash val="solid"/>
          </a:ln>
        </p:spPr>
      </p:sp>
      <p:sp>
        <p:nvSpPr>
          <p:cNvPr id="152" name="Shape 150"/>
          <p:cNvSpPr/>
          <p:nvPr/>
        </p:nvSpPr>
        <p:spPr>
          <a:xfrm>
            <a:off x="1979524" y="1967799"/>
            <a:ext cx="152400" cy="152400"/>
          </a:xfrm>
          <a:prstGeom prst="ellipse">
            <a:avLst/>
          </a:prstGeom>
          <a:solidFill>
            <a:srgbClr val="B8860B"/>
          </a:solidFill>
          <a:ln w="12700">
            <a:solidFill>
              <a:srgbClr val="B8860B"/>
            </a:solidFill>
            <a:prstDash val="solid"/>
          </a:ln>
        </p:spPr>
      </p:sp>
      <p:sp>
        <p:nvSpPr>
          <p:cNvPr id="153" name="Shape 151"/>
          <p:cNvSpPr/>
          <p:nvPr/>
        </p:nvSpPr>
        <p:spPr>
          <a:xfrm>
            <a:off x="2008022" y="1903161"/>
            <a:ext cx="152400" cy="152400"/>
          </a:xfrm>
          <a:prstGeom prst="ellipse">
            <a:avLst/>
          </a:prstGeom>
          <a:solidFill>
            <a:srgbClr val="B8860B"/>
          </a:solidFill>
          <a:ln w="12700">
            <a:solidFill>
              <a:srgbClr val="B8860B"/>
            </a:solidFill>
            <a:prstDash val="solid"/>
          </a:ln>
        </p:spPr>
      </p:sp>
      <p:sp>
        <p:nvSpPr>
          <p:cNvPr id="154" name="Shape 152"/>
          <p:cNvSpPr/>
          <p:nvPr/>
        </p:nvSpPr>
        <p:spPr>
          <a:xfrm>
            <a:off x="2036521" y="1844110"/>
            <a:ext cx="152400" cy="152400"/>
          </a:xfrm>
          <a:prstGeom prst="ellipse">
            <a:avLst/>
          </a:prstGeom>
          <a:solidFill>
            <a:srgbClr val="B8860B"/>
          </a:solidFill>
          <a:ln w="12700">
            <a:solidFill>
              <a:srgbClr val="B8860B"/>
            </a:solidFill>
            <a:prstDash val="solid"/>
          </a:ln>
        </p:spPr>
      </p:sp>
      <p:sp>
        <p:nvSpPr>
          <p:cNvPr id="155" name="Shape 153"/>
          <p:cNvSpPr/>
          <p:nvPr/>
        </p:nvSpPr>
        <p:spPr>
          <a:xfrm>
            <a:off x="2065020" y="1800858"/>
            <a:ext cx="152400" cy="152400"/>
          </a:xfrm>
          <a:prstGeom prst="ellipse">
            <a:avLst/>
          </a:prstGeom>
          <a:solidFill>
            <a:srgbClr val="B8860B"/>
          </a:solidFill>
          <a:ln w="12700">
            <a:solidFill>
              <a:srgbClr val="B8860B"/>
            </a:solidFill>
            <a:prstDash val="solid"/>
          </a:ln>
        </p:spPr>
      </p:sp>
      <p:sp>
        <p:nvSpPr>
          <p:cNvPr id="156" name="Shape 154"/>
          <p:cNvSpPr/>
          <p:nvPr/>
        </p:nvSpPr>
        <p:spPr>
          <a:xfrm>
            <a:off x="2093519" y="1780884"/>
            <a:ext cx="152400" cy="152400"/>
          </a:xfrm>
          <a:prstGeom prst="ellipse">
            <a:avLst/>
          </a:prstGeom>
          <a:solidFill>
            <a:srgbClr val="B8860B"/>
          </a:solidFill>
          <a:ln w="12700">
            <a:solidFill>
              <a:srgbClr val="B8860B"/>
            </a:solidFill>
            <a:prstDash val="solid"/>
          </a:ln>
        </p:spPr>
      </p:sp>
      <p:sp>
        <p:nvSpPr>
          <p:cNvPr id="157" name="Shape 155"/>
          <p:cNvSpPr/>
          <p:nvPr/>
        </p:nvSpPr>
        <p:spPr>
          <a:xfrm>
            <a:off x="2122018" y="1787640"/>
            <a:ext cx="152400" cy="152400"/>
          </a:xfrm>
          <a:prstGeom prst="ellipse">
            <a:avLst/>
          </a:prstGeom>
          <a:solidFill>
            <a:srgbClr val="B8860B"/>
          </a:solidFill>
          <a:ln w="12700">
            <a:solidFill>
              <a:srgbClr val="B8860B"/>
            </a:solidFill>
            <a:prstDash val="solid"/>
          </a:ln>
        </p:spPr>
      </p:sp>
      <p:sp>
        <p:nvSpPr>
          <p:cNvPr id="158" name="Shape 156"/>
          <p:cNvSpPr/>
          <p:nvPr/>
        </p:nvSpPr>
        <p:spPr>
          <a:xfrm>
            <a:off x="2150516" y="1819960"/>
            <a:ext cx="152400" cy="152400"/>
          </a:xfrm>
          <a:prstGeom prst="ellipse">
            <a:avLst/>
          </a:prstGeom>
          <a:solidFill>
            <a:srgbClr val="B8860B"/>
          </a:solidFill>
          <a:ln w="12700">
            <a:solidFill>
              <a:srgbClr val="B8860B"/>
            </a:solidFill>
            <a:prstDash val="solid"/>
          </a:ln>
        </p:spPr>
      </p:sp>
      <p:sp>
        <p:nvSpPr>
          <p:cNvPr id="159" name="Shape 157"/>
          <p:cNvSpPr/>
          <p:nvPr/>
        </p:nvSpPr>
        <p:spPr>
          <a:xfrm>
            <a:off x="2179015" y="1872254"/>
            <a:ext cx="152400" cy="152400"/>
          </a:xfrm>
          <a:prstGeom prst="ellipse">
            <a:avLst/>
          </a:prstGeom>
          <a:solidFill>
            <a:srgbClr val="B8860B"/>
          </a:solidFill>
          <a:ln w="12700">
            <a:solidFill>
              <a:srgbClr val="B8860B"/>
            </a:solidFill>
            <a:prstDash val="solid"/>
          </a:ln>
        </p:spPr>
      </p:sp>
      <p:sp>
        <p:nvSpPr>
          <p:cNvPr id="160" name="Shape 158"/>
          <p:cNvSpPr/>
          <p:nvPr/>
        </p:nvSpPr>
        <p:spPr>
          <a:xfrm>
            <a:off x="2207514" y="1935480"/>
            <a:ext cx="152400" cy="152400"/>
          </a:xfrm>
          <a:prstGeom prst="ellipse">
            <a:avLst/>
          </a:prstGeom>
          <a:solidFill>
            <a:srgbClr val="B8860B"/>
          </a:solidFill>
          <a:ln w="12700">
            <a:solidFill>
              <a:srgbClr val="B8860B"/>
            </a:solidFill>
            <a:prstDash val="solid"/>
          </a:ln>
        </p:spPr>
      </p:sp>
      <p:sp>
        <p:nvSpPr>
          <p:cNvPr id="161" name="Shape 159"/>
          <p:cNvSpPr/>
          <p:nvPr/>
        </p:nvSpPr>
        <p:spPr>
          <a:xfrm>
            <a:off x="2236013" y="1998706"/>
            <a:ext cx="152400" cy="152400"/>
          </a:xfrm>
          <a:prstGeom prst="ellipse">
            <a:avLst/>
          </a:prstGeom>
          <a:solidFill>
            <a:srgbClr val="B8860B"/>
          </a:solidFill>
          <a:ln w="12700">
            <a:solidFill>
              <a:srgbClr val="B8860B"/>
            </a:solidFill>
            <a:prstDash val="solid"/>
          </a:ln>
        </p:spPr>
      </p:sp>
      <p:sp>
        <p:nvSpPr>
          <p:cNvPr id="162" name="Shape 160"/>
          <p:cNvSpPr/>
          <p:nvPr/>
        </p:nvSpPr>
        <p:spPr>
          <a:xfrm>
            <a:off x="2264512" y="2051000"/>
            <a:ext cx="152400" cy="152400"/>
          </a:xfrm>
          <a:prstGeom prst="ellipse">
            <a:avLst/>
          </a:prstGeom>
          <a:solidFill>
            <a:srgbClr val="B8860B"/>
          </a:solidFill>
          <a:ln w="12700">
            <a:solidFill>
              <a:srgbClr val="B8860B"/>
            </a:solidFill>
            <a:prstDash val="solid"/>
          </a:ln>
        </p:spPr>
      </p:sp>
      <p:sp>
        <p:nvSpPr>
          <p:cNvPr id="163" name="Shape 161"/>
          <p:cNvSpPr/>
          <p:nvPr/>
        </p:nvSpPr>
        <p:spPr>
          <a:xfrm>
            <a:off x="2293010" y="2083320"/>
            <a:ext cx="152400" cy="152400"/>
          </a:xfrm>
          <a:prstGeom prst="ellipse">
            <a:avLst/>
          </a:prstGeom>
          <a:solidFill>
            <a:srgbClr val="B8860B"/>
          </a:solidFill>
          <a:ln w="12700">
            <a:solidFill>
              <a:srgbClr val="B8860B"/>
            </a:solidFill>
            <a:prstDash val="solid"/>
          </a:ln>
        </p:spPr>
      </p:sp>
      <p:sp>
        <p:nvSpPr>
          <p:cNvPr id="164" name="Shape 162"/>
          <p:cNvSpPr/>
          <p:nvPr/>
        </p:nvSpPr>
        <p:spPr>
          <a:xfrm>
            <a:off x="2321509" y="2090076"/>
            <a:ext cx="152400" cy="152400"/>
          </a:xfrm>
          <a:prstGeom prst="ellipse">
            <a:avLst/>
          </a:prstGeom>
          <a:solidFill>
            <a:srgbClr val="B8860B"/>
          </a:solidFill>
          <a:ln w="12700">
            <a:solidFill>
              <a:srgbClr val="B8860B"/>
            </a:solidFill>
            <a:prstDash val="solid"/>
          </a:ln>
        </p:spPr>
      </p:sp>
      <p:sp>
        <p:nvSpPr>
          <p:cNvPr id="165" name="Shape 163"/>
          <p:cNvSpPr/>
          <p:nvPr/>
        </p:nvSpPr>
        <p:spPr>
          <a:xfrm>
            <a:off x="2350008" y="2070102"/>
            <a:ext cx="152400" cy="152400"/>
          </a:xfrm>
          <a:prstGeom prst="ellipse">
            <a:avLst/>
          </a:prstGeom>
          <a:solidFill>
            <a:srgbClr val="B8860B"/>
          </a:solidFill>
          <a:ln w="12700">
            <a:solidFill>
              <a:srgbClr val="B8860B"/>
            </a:solidFill>
            <a:prstDash val="solid"/>
          </a:ln>
        </p:spPr>
      </p:sp>
      <p:sp>
        <p:nvSpPr>
          <p:cNvPr id="166" name="Shape 164"/>
          <p:cNvSpPr/>
          <p:nvPr/>
        </p:nvSpPr>
        <p:spPr>
          <a:xfrm>
            <a:off x="2378507" y="2026850"/>
            <a:ext cx="152400" cy="152400"/>
          </a:xfrm>
          <a:prstGeom prst="ellipse">
            <a:avLst/>
          </a:prstGeom>
          <a:solidFill>
            <a:srgbClr val="B8860B"/>
          </a:solidFill>
          <a:ln w="12700">
            <a:solidFill>
              <a:srgbClr val="B8860B"/>
            </a:solidFill>
            <a:prstDash val="solid"/>
          </a:ln>
        </p:spPr>
      </p:sp>
      <p:sp>
        <p:nvSpPr>
          <p:cNvPr id="167" name="Shape 165"/>
          <p:cNvSpPr/>
          <p:nvPr/>
        </p:nvSpPr>
        <p:spPr>
          <a:xfrm>
            <a:off x="2407006" y="1967799"/>
            <a:ext cx="152400" cy="152400"/>
          </a:xfrm>
          <a:prstGeom prst="ellipse">
            <a:avLst/>
          </a:prstGeom>
          <a:solidFill>
            <a:srgbClr val="B8860B"/>
          </a:solidFill>
          <a:ln w="12700">
            <a:solidFill>
              <a:srgbClr val="B8860B"/>
            </a:solidFill>
            <a:prstDash val="solid"/>
          </a:ln>
        </p:spPr>
      </p:sp>
      <p:sp>
        <p:nvSpPr>
          <p:cNvPr id="168" name="Shape 166"/>
          <p:cNvSpPr/>
          <p:nvPr/>
        </p:nvSpPr>
        <p:spPr>
          <a:xfrm>
            <a:off x="2435504" y="1903161"/>
            <a:ext cx="152400" cy="152400"/>
          </a:xfrm>
          <a:prstGeom prst="ellipse">
            <a:avLst/>
          </a:prstGeom>
          <a:solidFill>
            <a:srgbClr val="B8860B"/>
          </a:solidFill>
          <a:ln w="12700">
            <a:solidFill>
              <a:srgbClr val="B8860B"/>
            </a:solidFill>
            <a:prstDash val="solid"/>
          </a:ln>
        </p:spPr>
      </p:sp>
      <p:sp>
        <p:nvSpPr>
          <p:cNvPr id="169" name="Shape 167"/>
          <p:cNvSpPr/>
          <p:nvPr/>
        </p:nvSpPr>
        <p:spPr>
          <a:xfrm>
            <a:off x="2464003" y="1844110"/>
            <a:ext cx="152400" cy="152400"/>
          </a:xfrm>
          <a:prstGeom prst="ellipse">
            <a:avLst/>
          </a:prstGeom>
          <a:solidFill>
            <a:srgbClr val="B8860B"/>
          </a:solidFill>
          <a:ln w="12700">
            <a:solidFill>
              <a:srgbClr val="B8860B"/>
            </a:solidFill>
            <a:prstDash val="solid"/>
          </a:ln>
        </p:spPr>
      </p:sp>
      <p:sp>
        <p:nvSpPr>
          <p:cNvPr id="170" name="Shape 168"/>
          <p:cNvSpPr/>
          <p:nvPr/>
        </p:nvSpPr>
        <p:spPr>
          <a:xfrm>
            <a:off x="2492502" y="1800858"/>
            <a:ext cx="152400" cy="152400"/>
          </a:xfrm>
          <a:prstGeom prst="ellipse">
            <a:avLst/>
          </a:prstGeom>
          <a:solidFill>
            <a:srgbClr val="B8860B"/>
          </a:solidFill>
          <a:ln w="12700">
            <a:solidFill>
              <a:srgbClr val="B8860B"/>
            </a:solidFill>
            <a:prstDash val="solid"/>
          </a:ln>
        </p:spPr>
      </p:sp>
      <p:sp>
        <p:nvSpPr>
          <p:cNvPr id="171" name="Shape 169"/>
          <p:cNvSpPr/>
          <p:nvPr/>
        </p:nvSpPr>
        <p:spPr>
          <a:xfrm>
            <a:off x="2521001" y="1780884"/>
            <a:ext cx="152400" cy="152400"/>
          </a:xfrm>
          <a:prstGeom prst="ellipse">
            <a:avLst/>
          </a:prstGeom>
          <a:solidFill>
            <a:srgbClr val="B8860B"/>
          </a:solidFill>
          <a:ln w="12700">
            <a:solidFill>
              <a:srgbClr val="B8860B"/>
            </a:solidFill>
            <a:prstDash val="solid"/>
          </a:ln>
        </p:spPr>
      </p:sp>
      <p:sp>
        <p:nvSpPr>
          <p:cNvPr id="172" name="Shape 170"/>
          <p:cNvSpPr/>
          <p:nvPr/>
        </p:nvSpPr>
        <p:spPr>
          <a:xfrm>
            <a:off x="2549500" y="1787640"/>
            <a:ext cx="152400" cy="152400"/>
          </a:xfrm>
          <a:prstGeom prst="ellipse">
            <a:avLst/>
          </a:prstGeom>
          <a:solidFill>
            <a:srgbClr val="B8860B"/>
          </a:solidFill>
          <a:ln w="12700">
            <a:solidFill>
              <a:srgbClr val="B8860B"/>
            </a:solidFill>
            <a:prstDash val="solid"/>
          </a:ln>
        </p:spPr>
      </p:sp>
      <p:sp>
        <p:nvSpPr>
          <p:cNvPr id="173" name="Shape 171"/>
          <p:cNvSpPr/>
          <p:nvPr/>
        </p:nvSpPr>
        <p:spPr>
          <a:xfrm>
            <a:off x="2577998" y="1819960"/>
            <a:ext cx="152400" cy="152400"/>
          </a:xfrm>
          <a:prstGeom prst="ellipse">
            <a:avLst/>
          </a:prstGeom>
          <a:solidFill>
            <a:srgbClr val="B8860B"/>
          </a:solidFill>
          <a:ln w="12700">
            <a:solidFill>
              <a:srgbClr val="B8860B"/>
            </a:solidFill>
            <a:prstDash val="solid"/>
          </a:ln>
        </p:spPr>
      </p:sp>
      <p:sp>
        <p:nvSpPr>
          <p:cNvPr id="174" name="Shape 172"/>
          <p:cNvSpPr/>
          <p:nvPr/>
        </p:nvSpPr>
        <p:spPr>
          <a:xfrm>
            <a:off x="2606497" y="1872254"/>
            <a:ext cx="152400" cy="152400"/>
          </a:xfrm>
          <a:prstGeom prst="ellipse">
            <a:avLst/>
          </a:prstGeom>
          <a:solidFill>
            <a:srgbClr val="B8860B"/>
          </a:solidFill>
          <a:ln w="12700">
            <a:solidFill>
              <a:srgbClr val="B8860B"/>
            </a:solidFill>
            <a:prstDash val="solid"/>
          </a:ln>
        </p:spPr>
      </p:sp>
      <p:sp>
        <p:nvSpPr>
          <p:cNvPr id="175" name="Shape 173"/>
          <p:cNvSpPr/>
          <p:nvPr/>
        </p:nvSpPr>
        <p:spPr>
          <a:xfrm>
            <a:off x="2634996" y="1935480"/>
            <a:ext cx="152400" cy="152400"/>
          </a:xfrm>
          <a:prstGeom prst="ellipse">
            <a:avLst/>
          </a:prstGeom>
          <a:solidFill>
            <a:srgbClr val="B8860B"/>
          </a:solidFill>
          <a:ln w="12700">
            <a:solidFill>
              <a:srgbClr val="B8860B"/>
            </a:solidFill>
            <a:prstDash val="solid"/>
          </a:ln>
        </p:spPr>
      </p:sp>
      <p:sp>
        <p:nvSpPr>
          <p:cNvPr id="176" name="Shape 174"/>
          <p:cNvSpPr/>
          <p:nvPr/>
        </p:nvSpPr>
        <p:spPr>
          <a:xfrm>
            <a:off x="2663495" y="1998706"/>
            <a:ext cx="152400" cy="152400"/>
          </a:xfrm>
          <a:prstGeom prst="ellipse">
            <a:avLst/>
          </a:prstGeom>
          <a:solidFill>
            <a:srgbClr val="B8860B"/>
          </a:solidFill>
          <a:ln w="12700">
            <a:solidFill>
              <a:srgbClr val="B8860B"/>
            </a:solidFill>
            <a:prstDash val="solid"/>
          </a:ln>
        </p:spPr>
      </p:sp>
      <p:sp>
        <p:nvSpPr>
          <p:cNvPr id="177" name="Shape 175"/>
          <p:cNvSpPr/>
          <p:nvPr/>
        </p:nvSpPr>
        <p:spPr>
          <a:xfrm>
            <a:off x="2691994" y="2051000"/>
            <a:ext cx="152400" cy="152400"/>
          </a:xfrm>
          <a:prstGeom prst="ellipse">
            <a:avLst/>
          </a:prstGeom>
          <a:solidFill>
            <a:srgbClr val="B8860B"/>
          </a:solidFill>
          <a:ln w="12700">
            <a:solidFill>
              <a:srgbClr val="B8860B"/>
            </a:solidFill>
            <a:prstDash val="solid"/>
          </a:ln>
        </p:spPr>
      </p:sp>
      <p:sp>
        <p:nvSpPr>
          <p:cNvPr id="178" name="Shape 176"/>
          <p:cNvSpPr/>
          <p:nvPr/>
        </p:nvSpPr>
        <p:spPr>
          <a:xfrm>
            <a:off x="2720492" y="2083320"/>
            <a:ext cx="152400" cy="152400"/>
          </a:xfrm>
          <a:prstGeom prst="ellipse">
            <a:avLst/>
          </a:prstGeom>
          <a:solidFill>
            <a:srgbClr val="B8860B"/>
          </a:solidFill>
          <a:ln w="12700">
            <a:solidFill>
              <a:srgbClr val="B8860B"/>
            </a:solidFill>
            <a:prstDash val="solid"/>
          </a:ln>
        </p:spPr>
      </p:sp>
      <p:sp>
        <p:nvSpPr>
          <p:cNvPr id="179" name="Shape 177"/>
          <p:cNvSpPr/>
          <p:nvPr/>
        </p:nvSpPr>
        <p:spPr>
          <a:xfrm>
            <a:off x="2748991" y="2090076"/>
            <a:ext cx="152400" cy="152400"/>
          </a:xfrm>
          <a:prstGeom prst="ellipse">
            <a:avLst/>
          </a:prstGeom>
          <a:solidFill>
            <a:srgbClr val="B8860B"/>
          </a:solidFill>
          <a:ln w="12700">
            <a:solidFill>
              <a:srgbClr val="B8860B"/>
            </a:solidFill>
            <a:prstDash val="solid"/>
          </a:ln>
        </p:spPr>
      </p:sp>
      <p:sp>
        <p:nvSpPr>
          <p:cNvPr id="180" name="Shape 178"/>
          <p:cNvSpPr/>
          <p:nvPr/>
        </p:nvSpPr>
        <p:spPr>
          <a:xfrm>
            <a:off x="2777490" y="2070102"/>
            <a:ext cx="152400" cy="152400"/>
          </a:xfrm>
          <a:prstGeom prst="ellipse">
            <a:avLst/>
          </a:prstGeom>
          <a:solidFill>
            <a:srgbClr val="B8860B"/>
          </a:solidFill>
          <a:ln w="12700">
            <a:solidFill>
              <a:srgbClr val="B8860B"/>
            </a:solidFill>
            <a:prstDash val="solid"/>
          </a:ln>
        </p:spPr>
      </p:sp>
      <p:sp>
        <p:nvSpPr>
          <p:cNvPr id="181" name="Shape 179"/>
          <p:cNvSpPr/>
          <p:nvPr/>
        </p:nvSpPr>
        <p:spPr>
          <a:xfrm>
            <a:off x="2805989" y="2026850"/>
            <a:ext cx="152400" cy="152400"/>
          </a:xfrm>
          <a:prstGeom prst="ellipse">
            <a:avLst/>
          </a:prstGeom>
          <a:solidFill>
            <a:srgbClr val="B8860B"/>
          </a:solidFill>
          <a:ln w="12700">
            <a:solidFill>
              <a:srgbClr val="B8860B"/>
            </a:solidFill>
            <a:prstDash val="solid"/>
          </a:ln>
        </p:spPr>
      </p:sp>
      <p:sp>
        <p:nvSpPr>
          <p:cNvPr id="182" name="Shape 180"/>
          <p:cNvSpPr/>
          <p:nvPr/>
        </p:nvSpPr>
        <p:spPr>
          <a:xfrm>
            <a:off x="2834488" y="1967799"/>
            <a:ext cx="152400" cy="152400"/>
          </a:xfrm>
          <a:prstGeom prst="ellipse">
            <a:avLst/>
          </a:prstGeom>
          <a:solidFill>
            <a:srgbClr val="B8860B"/>
          </a:solidFill>
          <a:ln w="12700">
            <a:solidFill>
              <a:srgbClr val="B8860B"/>
            </a:solidFill>
            <a:prstDash val="solid"/>
          </a:ln>
        </p:spPr>
      </p:sp>
      <p:sp>
        <p:nvSpPr>
          <p:cNvPr id="183" name="Shape 181"/>
          <p:cNvSpPr/>
          <p:nvPr/>
        </p:nvSpPr>
        <p:spPr>
          <a:xfrm>
            <a:off x="2862986" y="1903161"/>
            <a:ext cx="152400" cy="152400"/>
          </a:xfrm>
          <a:prstGeom prst="ellipse">
            <a:avLst/>
          </a:prstGeom>
          <a:solidFill>
            <a:srgbClr val="B8860B"/>
          </a:solidFill>
          <a:ln w="12700">
            <a:solidFill>
              <a:srgbClr val="B8860B"/>
            </a:solidFill>
            <a:prstDash val="solid"/>
          </a:ln>
        </p:spPr>
      </p:sp>
      <p:sp>
        <p:nvSpPr>
          <p:cNvPr id="184" name="Shape 182"/>
          <p:cNvSpPr/>
          <p:nvPr/>
        </p:nvSpPr>
        <p:spPr>
          <a:xfrm>
            <a:off x="2891485" y="1844110"/>
            <a:ext cx="152400" cy="152400"/>
          </a:xfrm>
          <a:prstGeom prst="ellipse">
            <a:avLst/>
          </a:prstGeom>
          <a:solidFill>
            <a:srgbClr val="B8860B"/>
          </a:solidFill>
          <a:ln w="12700">
            <a:solidFill>
              <a:srgbClr val="B8860B"/>
            </a:solidFill>
            <a:prstDash val="solid"/>
          </a:ln>
        </p:spPr>
      </p:sp>
      <p:sp>
        <p:nvSpPr>
          <p:cNvPr id="185" name="Shape 183"/>
          <p:cNvSpPr/>
          <p:nvPr/>
        </p:nvSpPr>
        <p:spPr>
          <a:xfrm>
            <a:off x="2919984" y="1800858"/>
            <a:ext cx="152400" cy="152400"/>
          </a:xfrm>
          <a:prstGeom prst="ellipse">
            <a:avLst/>
          </a:prstGeom>
          <a:solidFill>
            <a:srgbClr val="B8860B"/>
          </a:solidFill>
          <a:ln w="12700">
            <a:solidFill>
              <a:srgbClr val="B8860B"/>
            </a:solidFill>
            <a:prstDash val="solid"/>
          </a:ln>
        </p:spPr>
      </p:sp>
      <p:sp>
        <p:nvSpPr>
          <p:cNvPr id="186" name="Shape 184"/>
          <p:cNvSpPr/>
          <p:nvPr/>
        </p:nvSpPr>
        <p:spPr>
          <a:xfrm>
            <a:off x="2948483" y="1780884"/>
            <a:ext cx="152400" cy="152400"/>
          </a:xfrm>
          <a:prstGeom prst="ellipse">
            <a:avLst/>
          </a:prstGeom>
          <a:solidFill>
            <a:srgbClr val="B8860B"/>
          </a:solidFill>
          <a:ln w="12700">
            <a:solidFill>
              <a:srgbClr val="B8860B"/>
            </a:solidFill>
            <a:prstDash val="solid"/>
          </a:ln>
        </p:spPr>
      </p:sp>
      <p:sp>
        <p:nvSpPr>
          <p:cNvPr id="187" name="Shape 185"/>
          <p:cNvSpPr/>
          <p:nvPr/>
        </p:nvSpPr>
        <p:spPr>
          <a:xfrm>
            <a:off x="2976982" y="1787640"/>
            <a:ext cx="152400" cy="152400"/>
          </a:xfrm>
          <a:prstGeom prst="ellipse">
            <a:avLst/>
          </a:prstGeom>
          <a:solidFill>
            <a:srgbClr val="B8860B"/>
          </a:solidFill>
          <a:ln w="12700">
            <a:solidFill>
              <a:srgbClr val="B8860B"/>
            </a:solidFill>
            <a:prstDash val="solid"/>
          </a:ln>
        </p:spPr>
      </p:sp>
      <p:sp>
        <p:nvSpPr>
          <p:cNvPr id="188" name="Shape 186"/>
          <p:cNvSpPr/>
          <p:nvPr/>
        </p:nvSpPr>
        <p:spPr>
          <a:xfrm>
            <a:off x="3005480" y="1819960"/>
            <a:ext cx="152400" cy="152400"/>
          </a:xfrm>
          <a:prstGeom prst="ellipse">
            <a:avLst/>
          </a:prstGeom>
          <a:solidFill>
            <a:srgbClr val="B8860B"/>
          </a:solidFill>
          <a:ln w="12700">
            <a:solidFill>
              <a:srgbClr val="B8860B"/>
            </a:solidFill>
            <a:prstDash val="solid"/>
          </a:ln>
        </p:spPr>
      </p:sp>
      <p:sp>
        <p:nvSpPr>
          <p:cNvPr id="189" name="Shape 187"/>
          <p:cNvSpPr/>
          <p:nvPr/>
        </p:nvSpPr>
        <p:spPr>
          <a:xfrm>
            <a:off x="3033979" y="1872254"/>
            <a:ext cx="152400" cy="152400"/>
          </a:xfrm>
          <a:prstGeom prst="ellipse">
            <a:avLst/>
          </a:prstGeom>
          <a:solidFill>
            <a:srgbClr val="B8860B"/>
          </a:solidFill>
          <a:ln w="12700">
            <a:solidFill>
              <a:srgbClr val="B8860B"/>
            </a:solidFill>
            <a:prstDash val="solid"/>
          </a:ln>
        </p:spPr>
      </p:sp>
      <p:sp>
        <p:nvSpPr>
          <p:cNvPr id="190" name="Shape 188"/>
          <p:cNvSpPr/>
          <p:nvPr/>
        </p:nvSpPr>
        <p:spPr>
          <a:xfrm>
            <a:off x="3062478" y="1935480"/>
            <a:ext cx="152400" cy="152400"/>
          </a:xfrm>
          <a:prstGeom prst="ellipse">
            <a:avLst/>
          </a:prstGeom>
          <a:solidFill>
            <a:srgbClr val="B8860B"/>
          </a:solidFill>
          <a:ln w="12700">
            <a:solidFill>
              <a:srgbClr val="B8860B"/>
            </a:solidFill>
            <a:prstDash val="solid"/>
          </a:ln>
        </p:spPr>
      </p:sp>
      <p:sp>
        <p:nvSpPr>
          <p:cNvPr id="191" name="Shape 189"/>
          <p:cNvSpPr/>
          <p:nvPr/>
        </p:nvSpPr>
        <p:spPr>
          <a:xfrm>
            <a:off x="3090977" y="1998706"/>
            <a:ext cx="152400" cy="152400"/>
          </a:xfrm>
          <a:prstGeom prst="ellipse">
            <a:avLst/>
          </a:prstGeom>
          <a:solidFill>
            <a:srgbClr val="B8860B"/>
          </a:solidFill>
          <a:ln w="12700">
            <a:solidFill>
              <a:srgbClr val="B8860B"/>
            </a:solidFill>
            <a:prstDash val="solid"/>
          </a:ln>
        </p:spPr>
      </p:sp>
      <p:sp>
        <p:nvSpPr>
          <p:cNvPr id="192" name="Shape 190"/>
          <p:cNvSpPr/>
          <p:nvPr/>
        </p:nvSpPr>
        <p:spPr>
          <a:xfrm>
            <a:off x="3119476" y="2051000"/>
            <a:ext cx="152400" cy="152400"/>
          </a:xfrm>
          <a:prstGeom prst="ellipse">
            <a:avLst/>
          </a:prstGeom>
          <a:solidFill>
            <a:srgbClr val="B8860B"/>
          </a:solidFill>
          <a:ln w="12700">
            <a:solidFill>
              <a:srgbClr val="B8860B"/>
            </a:solidFill>
            <a:prstDash val="solid"/>
          </a:ln>
        </p:spPr>
      </p:sp>
      <p:sp>
        <p:nvSpPr>
          <p:cNvPr id="193" name="Shape 191"/>
          <p:cNvSpPr/>
          <p:nvPr/>
        </p:nvSpPr>
        <p:spPr>
          <a:xfrm>
            <a:off x="3147974" y="2083320"/>
            <a:ext cx="152400" cy="152400"/>
          </a:xfrm>
          <a:prstGeom prst="ellipse">
            <a:avLst/>
          </a:prstGeom>
          <a:solidFill>
            <a:srgbClr val="B8860B"/>
          </a:solidFill>
          <a:ln w="12700">
            <a:solidFill>
              <a:srgbClr val="B8860B"/>
            </a:solidFill>
            <a:prstDash val="solid"/>
          </a:ln>
        </p:spPr>
      </p:sp>
      <p:sp>
        <p:nvSpPr>
          <p:cNvPr id="194" name="Shape 192"/>
          <p:cNvSpPr/>
          <p:nvPr/>
        </p:nvSpPr>
        <p:spPr>
          <a:xfrm>
            <a:off x="3176473" y="2090076"/>
            <a:ext cx="152400" cy="152400"/>
          </a:xfrm>
          <a:prstGeom prst="ellipse">
            <a:avLst/>
          </a:prstGeom>
          <a:solidFill>
            <a:srgbClr val="B8860B"/>
          </a:solidFill>
          <a:ln w="12700">
            <a:solidFill>
              <a:srgbClr val="B8860B"/>
            </a:solidFill>
            <a:prstDash val="solid"/>
          </a:ln>
        </p:spPr>
      </p:sp>
      <p:sp>
        <p:nvSpPr>
          <p:cNvPr id="195" name="Shape 193"/>
          <p:cNvSpPr/>
          <p:nvPr/>
        </p:nvSpPr>
        <p:spPr>
          <a:xfrm>
            <a:off x="3204972" y="2070102"/>
            <a:ext cx="152400" cy="152400"/>
          </a:xfrm>
          <a:prstGeom prst="ellipse">
            <a:avLst/>
          </a:prstGeom>
          <a:solidFill>
            <a:srgbClr val="B8860B"/>
          </a:solidFill>
          <a:ln w="12700">
            <a:solidFill>
              <a:srgbClr val="B8860B"/>
            </a:solidFill>
            <a:prstDash val="solid"/>
          </a:ln>
        </p:spPr>
      </p:sp>
      <p:sp>
        <p:nvSpPr>
          <p:cNvPr id="196" name="Shape 194"/>
          <p:cNvSpPr/>
          <p:nvPr/>
        </p:nvSpPr>
        <p:spPr>
          <a:xfrm>
            <a:off x="3233471" y="2026850"/>
            <a:ext cx="152400" cy="152400"/>
          </a:xfrm>
          <a:prstGeom prst="ellipse">
            <a:avLst/>
          </a:prstGeom>
          <a:solidFill>
            <a:srgbClr val="B8860B"/>
          </a:solidFill>
          <a:ln w="12700">
            <a:solidFill>
              <a:srgbClr val="B8860B"/>
            </a:solidFill>
            <a:prstDash val="solid"/>
          </a:ln>
        </p:spPr>
      </p:sp>
      <p:sp>
        <p:nvSpPr>
          <p:cNvPr id="197" name="Shape 195"/>
          <p:cNvSpPr/>
          <p:nvPr/>
        </p:nvSpPr>
        <p:spPr>
          <a:xfrm>
            <a:off x="3261970" y="1967799"/>
            <a:ext cx="152400" cy="152400"/>
          </a:xfrm>
          <a:prstGeom prst="ellipse">
            <a:avLst/>
          </a:prstGeom>
          <a:solidFill>
            <a:srgbClr val="B8860B"/>
          </a:solidFill>
          <a:ln w="12700">
            <a:solidFill>
              <a:srgbClr val="B8860B"/>
            </a:solidFill>
            <a:prstDash val="solid"/>
          </a:ln>
        </p:spPr>
      </p:sp>
      <p:sp>
        <p:nvSpPr>
          <p:cNvPr id="198" name="Shape 196"/>
          <p:cNvSpPr/>
          <p:nvPr/>
        </p:nvSpPr>
        <p:spPr>
          <a:xfrm>
            <a:off x="3290468" y="1903161"/>
            <a:ext cx="152400" cy="152400"/>
          </a:xfrm>
          <a:prstGeom prst="ellipse">
            <a:avLst/>
          </a:prstGeom>
          <a:solidFill>
            <a:srgbClr val="B8860B"/>
          </a:solidFill>
          <a:ln w="12700">
            <a:solidFill>
              <a:srgbClr val="B8860B"/>
            </a:solidFill>
            <a:prstDash val="solid"/>
          </a:ln>
        </p:spPr>
      </p:sp>
      <p:sp>
        <p:nvSpPr>
          <p:cNvPr id="199" name="Shape 197"/>
          <p:cNvSpPr/>
          <p:nvPr/>
        </p:nvSpPr>
        <p:spPr>
          <a:xfrm>
            <a:off x="3318967" y="1844110"/>
            <a:ext cx="152400" cy="152400"/>
          </a:xfrm>
          <a:prstGeom prst="ellipse">
            <a:avLst/>
          </a:prstGeom>
          <a:solidFill>
            <a:srgbClr val="B8860B"/>
          </a:solidFill>
          <a:ln w="12700">
            <a:solidFill>
              <a:srgbClr val="B8860B"/>
            </a:solidFill>
            <a:prstDash val="solid"/>
          </a:ln>
        </p:spPr>
      </p:sp>
      <p:sp>
        <p:nvSpPr>
          <p:cNvPr id="200" name="Shape 198"/>
          <p:cNvSpPr/>
          <p:nvPr/>
        </p:nvSpPr>
        <p:spPr>
          <a:xfrm>
            <a:off x="3347466" y="1800858"/>
            <a:ext cx="152400" cy="152400"/>
          </a:xfrm>
          <a:prstGeom prst="ellipse">
            <a:avLst/>
          </a:prstGeom>
          <a:solidFill>
            <a:srgbClr val="B8860B"/>
          </a:solidFill>
          <a:ln w="12700">
            <a:solidFill>
              <a:srgbClr val="B8860B"/>
            </a:solidFill>
            <a:prstDash val="solid"/>
          </a:ln>
        </p:spPr>
      </p:sp>
      <p:sp>
        <p:nvSpPr>
          <p:cNvPr id="201" name="Shape 199"/>
          <p:cNvSpPr/>
          <p:nvPr/>
        </p:nvSpPr>
        <p:spPr>
          <a:xfrm>
            <a:off x="3375965" y="1780884"/>
            <a:ext cx="152400" cy="152400"/>
          </a:xfrm>
          <a:prstGeom prst="ellipse">
            <a:avLst/>
          </a:prstGeom>
          <a:solidFill>
            <a:srgbClr val="B8860B"/>
          </a:solidFill>
          <a:ln w="12700">
            <a:solidFill>
              <a:srgbClr val="B8860B"/>
            </a:solidFill>
            <a:prstDash val="solid"/>
          </a:ln>
        </p:spPr>
      </p:sp>
      <p:sp>
        <p:nvSpPr>
          <p:cNvPr id="202" name="Shape 200"/>
          <p:cNvSpPr/>
          <p:nvPr/>
        </p:nvSpPr>
        <p:spPr>
          <a:xfrm>
            <a:off x="3404464" y="1787640"/>
            <a:ext cx="152400" cy="152400"/>
          </a:xfrm>
          <a:prstGeom prst="ellipse">
            <a:avLst/>
          </a:prstGeom>
          <a:solidFill>
            <a:srgbClr val="B8860B"/>
          </a:solidFill>
          <a:ln w="12700">
            <a:solidFill>
              <a:srgbClr val="B8860B"/>
            </a:solidFill>
            <a:prstDash val="solid"/>
          </a:ln>
        </p:spPr>
      </p:sp>
      <p:sp>
        <p:nvSpPr>
          <p:cNvPr id="203" name="Shape 201"/>
          <p:cNvSpPr/>
          <p:nvPr/>
        </p:nvSpPr>
        <p:spPr>
          <a:xfrm>
            <a:off x="3432962" y="1819960"/>
            <a:ext cx="152400" cy="152400"/>
          </a:xfrm>
          <a:prstGeom prst="ellipse">
            <a:avLst/>
          </a:prstGeom>
          <a:solidFill>
            <a:srgbClr val="B8860B"/>
          </a:solidFill>
          <a:ln w="12700">
            <a:solidFill>
              <a:srgbClr val="B8860B"/>
            </a:solidFill>
            <a:prstDash val="solid"/>
          </a:ln>
        </p:spPr>
      </p:sp>
      <p:sp>
        <p:nvSpPr>
          <p:cNvPr id="204" name="Shape 202"/>
          <p:cNvSpPr/>
          <p:nvPr/>
        </p:nvSpPr>
        <p:spPr>
          <a:xfrm>
            <a:off x="3461461" y="1872254"/>
            <a:ext cx="152400" cy="152400"/>
          </a:xfrm>
          <a:prstGeom prst="ellipse">
            <a:avLst/>
          </a:prstGeom>
          <a:solidFill>
            <a:srgbClr val="B8860B"/>
          </a:solidFill>
          <a:ln w="12700">
            <a:solidFill>
              <a:srgbClr val="B8860B"/>
            </a:solidFill>
            <a:prstDash val="solid"/>
          </a:ln>
        </p:spPr>
      </p:sp>
      <p:sp>
        <p:nvSpPr>
          <p:cNvPr id="205" name="Shape 203"/>
          <p:cNvSpPr/>
          <p:nvPr/>
        </p:nvSpPr>
        <p:spPr>
          <a:xfrm>
            <a:off x="3489960" y="1935480"/>
            <a:ext cx="152400" cy="152400"/>
          </a:xfrm>
          <a:prstGeom prst="ellipse">
            <a:avLst/>
          </a:prstGeom>
          <a:solidFill>
            <a:srgbClr val="B8860B"/>
          </a:solidFill>
          <a:ln w="12700">
            <a:solidFill>
              <a:srgbClr val="B8860B"/>
            </a:solidFill>
            <a:prstDash val="solid"/>
          </a:ln>
        </p:spPr>
      </p:sp>
      <p:sp>
        <p:nvSpPr>
          <p:cNvPr id="206" name="Shape 204"/>
          <p:cNvSpPr/>
          <p:nvPr/>
        </p:nvSpPr>
        <p:spPr>
          <a:xfrm>
            <a:off x="1856232" y="2011680"/>
            <a:ext cx="28499" cy="63226"/>
          </a:xfrm>
          <a:prstGeom prst="line">
            <a:avLst/>
          </a:prstGeom>
          <a:noFill/>
          <a:ln w="114300">
            <a:solidFill>
              <a:srgbClr val="FBEFD0"/>
            </a:solidFill>
            <a:prstDash val="solid"/>
          </a:ln>
        </p:spPr>
      </p:sp>
      <p:sp>
        <p:nvSpPr>
          <p:cNvPr id="207" name="Shape 205"/>
          <p:cNvSpPr/>
          <p:nvPr/>
        </p:nvSpPr>
        <p:spPr>
          <a:xfrm>
            <a:off x="1884731" y="2074906"/>
            <a:ext cx="28499" cy="52294"/>
          </a:xfrm>
          <a:prstGeom prst="line">
            <a:avLst/>
          </a:prstGeom>
          <a:noFill/>
          <a:ln w="114300">
            <a:solidFill>
              <a:srgbClr val="FBEFD0"/>
            </a:solidFill>
            <a:prstDash val="solid"/>
          </a:ln>
        </p:spPr>
      </p:sp>
      <p:sp>
        <p:nvSpPr>
          <p:cNvPr id="208" name="Shape 206"/>
          <p:cNvSpPr/>
          <p:nvPr/>
        </p:nvSpPr>
        <p:spPr>
          <a:xfrm>
            <a:off x="1913230" y="2127200"/>
            <a:ext cx="28499" cy="32319"/>
          </a:xfrm>
          <a:prstGeom prst="line">
            <a:avLst/>
          </a:prstGeom>
          <a:noFill/>
          <a:ln w="114300">
            <a:solidFill>
              <a:srgbClr val="FBEFD0"/>
            </a:solidFill>
            <a:prstDash val="solid"/>
          </a:ln>
        </p:spPr>
      </p:sp>
      <p:sp>
        <p:nvSpPr>
          <p:cNvPr id="209" name="Shape 207"/>
          <p:cNvSpPr/>
          <p:nvPr/>
        </p:nvSpPr>
        <p:spPr>
          <a:xfrm>
            <a:off x="1941728" y="2159520"/>
            <a:ext cx="28499" cy="6757"/>
          </a:xfrm>
          <a:prstGeom prst="line">
            <a:avLst/>
          </a:prstGeom>
          <a:noFill/>
          <a:ln w="114300">
            <a:solidFill>
              <a:srgbClr val="FBEFD0"/>
            </a:solidFill>
            <a:prstDash val="solid"/>
          </a:ln>
        </p:spPr>
      </p:sp>
      <p:sp>
        <p:nvSpPr>
          <p:cNvPr id="210" name="Shape 208"/>
          <p:cNvSpPr/>
          <p:nvPr/>
        </p:nvSpPr>
        <p:spPr>
          <a:xfrm flipV="1">
            <a:off x="1970227" y="2146302"/>
            <a:ext cx="28499" cy="19975"/>
          </a:xfrm>
          <a:prstGeom prst="line">
            <a:avLst/>
          </a:prstGeom>
          <a:noFill/>
          <a:ln w="114300">
            <a:solidFill>
              <a:srgbClr val="FBEFD0"/>
            </a:solidFill>
            <a:prstDash val="solid"/>
          </a:ln>
        </p:spPr>
      </p:sp>
      <p:sp>
        <p:nvSpPr>
          <p:cNvPr id="211" name="Shape 209"/>
          <p:cNvSpPr/>
          <p:nvPr/>
        </p:nvSpPr>
        <p:spPr>
          <a:xfrm flipV="1">
            <a:off x="1998726" y="2103050"/>
            <a:ext cx="28499" cy="43252"/>
          </a:xfrm>
          <a:prstGeom prst="line">
            <a:avLst/>
          </a:prstGeom>
          <a:noFill/>
          <a:ln w="114300">
            <a:solidFill>
              <a:srgbClr val="FBEFD0"/>
            </a:solidFill>
            <a:prstDash val="solid"/>
          </a:ln>
        </p:spPr>
      </p:sp>
      <p:sp>
        <p:nvSpPr>
          <p:cNvPr id="212" name="Shape 210"/>
          <p:cNvSpPr/>
          <p:nvPr/>
        </p:nvSpPr>
        <p:spPr>
          <a:xfrm flipV="1">
            <a:off x="2027225" y="2043999"/>
            <a:ext cx="28499" cy="59051"/>
          </a:xfrm>
          <a:prstGeom prst="line">
            <a:avLst/>
          </a:prstGeom>
          <a:noFill/>
          <a:ln w="114300">
            <a:solidFill>
              <a:srgbClr val="FBEFD0"/>
            </a:solidFill>
            <a:prstDash val="solid"/>
          </a:ln>
        </p:spPr>
      </p:sp>
      <p:sp>
        <p:nvSpPr>
          <p:cNvPr id="213" name="Shape 211"/>
          <p:cNvSpPr/>
          <p:nvPr/>
        </p:nvSpPr>
        <p:spPr>
          <a:xfrm flipV="1">
            <a:off x="2055724" y="1979361"/>
            <a:ext cx="28499" cy="64639"/>
          </a:xfrm>
          <a:prstGeom prst="line">
            <a:avLst/>
          </a:prstGeom>
          <a:noFill/>
          <a:ln w="114300">
            <a:solidFill>
              <a:srgbClr val="FBEFD0"/>
            </a:solidFill>
            <a:prstDash val="solid"/>
          </a:ln>
        </p:spPr>
      </p:sp>
      <p:sp>
        <p:nvSpPr>
          <p:cNvPr id="214" name="Shape 212"/>
          <p:cNvSpPr/>
          <p:nvPr/>
        </p:nvSpPr>
        <p:spPr>
          <a:xfrm flipV="1">
            <a:off x="2084222" y="1920310"/>
            <a:ext cx="28499" cy="59051"/>
          </a:xfrm>
          <a:prstGeom prst="line">
            <a:avLst/>
          </a:prstGeom>
          <a:noFill/>
          <a:ln w="114300">
            <a:solidFill>
              <a:srgbClr val="FBEFD0"/>
            </a:solidFill>
            <a:prstDash val="solid"/>
          </a:ln>
        </p:spPr>
      </p:sp>
      <p:sp>
        <p:nvSpPr>
          <p:cNvPr id="215" name="Shape 213"/>
          <p:cNvSpPr/>
          <p:nvPr/>
        </p:nvSpPr>
        <p:spPr>
          <a:xfrm flipV="1">
            <a:off x="2112721" y="1877058"/>
            <a:ext cx="28499" cy="43252"/>
          </a:xfrm>
          <a:prstGeom prst="line">
            <a:avLst/>
          </a:prstGeom>
          <a:noFill/>
          <a:ln w="114300">
            <a:solidFill>
              <a:srgbClr val="FBEFD0"/>
            </a:solidFill>
            <a:prstDash val="solid"/>
          </a:ln>
        </p:spPr>
      </p:sp>
      <p:sp>
        <p:nvSpPr>
          <p:cNvPr id="216" name="Shape 214"/>
          <p:cNvSpPr/>
          <p:nvPr/>
        </p:nvSpPr>
        <p:spPr>
          <a:xfrm flipV="1">
            <a:off x="2141220" y="1857084"/>
            <a:ext cx="28499" cy="19975"/>
          </a:xfrm>
          <a:prstGeom prst="line">
            <a:avLst/>
          </a:prstGeom>
          <a:noFill/>
          <a:ln w="114300">
            <a:solidFill>
              <a:srgbClr val="FBEFD0"/>
            </a:solidFill>
            <a:prstDash val="solid"/>
          </a:ln>
        </p:spPr>
      </p:sp>
      <p:sp>
        <p:nvSpPr>
          <p:cNvPr id="217" name="Shape 215"/>
          <p:cNvSpPr/>
          <p:nvPr/>
        </p:nvSpPr>
        <p:spPr>
          <a:xfrm>
            <a:off x="2169719" y="1857084"/>
            <a:ext cx="28499" cy="6757"/>
          </a:xfrm>
          <a:prstGeom prst="line">
            <a:avLst/>
          </a:prstGeom>
          <a:noFill/>
          <a:ln w="114300">
            <a:solidFill>
              <a:srgbClr val="FBEFD0"/>
            </a:solidFill>
            <a:prstDash val="solid"/>
          </a:ln>
        </p:spPr>
      </p:sp>
      <p:sp>
        <p:nvSpPr>
          <p:cNvPr id="218" name="Shape 216"/>
          <p:cNvSpPr/>
          <p:nvPr/>
        </p:nvSpPr>
        <p:spPr>
          <a:xfrm>
            <a:off x="2198218" y="1863840"/>
            <a:ext cx="28499" cy="32319"/>
          </a:xfrm>
          <a:prstGeom prst="line">
            <a:avLst/>
          </a:prstGeom>
          <a:noFill/>
          <a:ln w="114300">
            <a:solidFill>
              <a:srgbClr val="FBEFD0"/>
            </a:solidFill>
            <a:prstDash val="solid"/>
          </a:ln>
        </p:spPr>
      </p:sp>
      <p:sp>
        <p:nvSpPr>
          <p:cNvPr id="219" name="Shape 217"/>
          <p:cNvSpPr/>
          <p:nvPr/>
        </p:nvSpPr>
        <p:spPr>
          <a:xfrm>
            <a:off x="2226716" y="1896160"/>
            <a:ext cx="28499" cy="52294"/>
          </a:xfrm>
          <a:prstGeom prst="line">
            <a:avLst/>
          </a:prstGeom>
          <a:noFill/>
          <a:ln w="114300">
            <a:solidFill>
              <a:srgbClr val="FBEFD0"/>
            </a:solidFill>
            <a:prstDash val="solid"/>
          </a:ln>
        </p:spPr>
      </p:sp>
      <p:sp>
        <p:nvSpPr>
          <p:cNvPr id="220" name="Shape 218"/>
          <p:cNvSpPr/>
          <p:nvPr/>
        </p:nvSpPr>
        <p:spPr>
          <a:xfrm>
            <a:off x="2255215" y="1948454"/>
            <a:ext cx="28499" cy="63226"/>
          </a:xfrm>
          <a:prstGeom prst="line">
            <a:avLst/>
          </a:prstGeom>
          <a:noFill/>
          <a:ln w="114300">
            <a:solidFill>
              <a:srgbClr val="FBEFD0"/>
            </a:solidFill>
            <a:prstDash val="solid"/>
          </a:ln>
        </p:spPr>
      </p:sp>
      <p:sp>
        <p:nvSpPr>
          <p:cNvPr id="221" name="Shape 219"/>
          <p:cNvSpPr/>
          <p:nvPr/>
        </p:nvSpPr>
        <p:spPr>
          <a:xfrm>
            <a:off x="2283714" y="2011680"/>
            <a:ext cx="28499" cy="63226"/>
          </a:xfrm>
          <a:prstGeom prst="line">
            <a:avLst/>
          </a:prstGeom>
          <a:noFill/>
          <a:ln w="114300">
            <a:solidFill>
              <a:srgbClr val="FBEFD0"/>
            </a:solidFill>
            <a:prstDash val="solid"/>
          </a:ln>
        </p:spPr>
      </p:sp>
      <p:sp>
        <p:nvSpPr>
          <p:cNvPr id="222" name="Shape 220"/>
          <p:cNvSpPr/>
          <p:nvPr/>
        </p:nvSpPr>
        <p:spPr>
          <a:xfrm>
            <a:off x="2312213" y="2074906"/>
            <a:ext cx="28499" cy="52294"/>
          </a:xfrm>
          <a:prstGeom prst="line">
            <a:avLst/>
          </a:prstGeom>
          <a:noFill/>
          <a:ln w="114300">
            <a:solidFill>
              <a:srgbClr val="FBEFD0"/>
            </a:solidFill>
            <a:prstDash val="solid"/>
          </a:ln>
        </p:spPr>
      </p:sp>
      <p:sp>
        <p:nvSpPr>
          <p:cNvPr id="223" name="Shape 221"/>
          <p:cNvSpPr/>
          <p:nvPr/>
        </p:nvSpPr>
        <p:spPr>
          <a:xfrm>
            <a:off x="2340712" y="2127200"/>
            <a:ext cx="28499" cy="32319"/>
          </a:xfrm>
          <a:prstGeom prst="line">
            <a:avLst/>
          </a:prstGeom>
          <a:noFill/>
          <a:ln w="114300">
            <a:solidFill>
              <a:srgbClr val="FBEFD0"/>
            </a:solidFill>
            <a:prstDash val="solid"/>
          </a:ln>
        </p:spPr>
      </p:sp>
      <p:sp>
        <p:nvSpPr>
          <p:cNvPr id="224" name="Shape 222"/>
          <p:cNvSpPr/>
          <p:nvPr/>
        </p:nvSpPr>
        <p:spPr>
          <a:xfrm>
            <a:off x="2369210" y="2159520"/>
            <a:ext cx="28499" cy="6757"/>
          </a:xfrm>
          <a:prstGeom prst="line">
            <a:avLst/>
          </a:prstGeom>
          <a:noFill/>
          <a:ln w="114300">
            <a:solidFill>
              <a:srgbClr val="FBEFD0"/>
            </a:solidFill>
            <a:prstDash val="solid"/>
          </a:ln>
        </p:spPr>
      </p:sp>
      <p:sp>
        <p:nvSpPr>
          <p:cNvPr id="225" name="Shape 223"/>
          <p:cNvSpPr/>
          <p:nvPr/>
        </p:nvSpPr>
        <p:spPr>
          <a:xfrm flipV="1">
            <a:off x="2397709" y="2146302"/>
            <a:ext cx="28499" cy="19975"/>
          </a:xfrm>
          <a:prstGeom prst="line">
            <a:avLst/>
          </a:prstGeom>
          <a:noFill/>
          <a:ln w="114300">
            <a:solidFill>
              <a:srgbClr val="FBEFD0"/>
            </a:solidFill>
            <a:prstDash val="solid"/>
          </a:ln>
        </p:spPr>
      </p:sp>
      <p:sp>
        <p:nvSpPr>
          <p:cNvPr id="226" name="Shape 224"/>
          <p:cNvSpPr/>
          <p:nvPr/>
        </p:nvSpPr>
        <p:spPr>
          <a:xfrm flipV="1">
            <a:off x="2426208" y="2103050"/>
            <a:ext cx="28499" cy="43252"/>
          </a:xfrm>
          <a:prstGeom prst="line">
            <a:avLst/>
          </a:prstGeom>
          <a:noFill/>
          <a:ln w="114300">
            <a:solidFill>
              <a:srgbClr val="FBEFD0"/>
            </a:solidFill>
            <a:prstDash val="solid"/>
          </a:ln>
        </p:spPr>
      </p:sp>
      <p:sp>
        <p:nvSpPr>
          <p:cNvPr id="227" name="Shape 225"/>
          <p:cNvSpPr/>
          <p:nvPr/>
        </p:nvSpPr>
        <p:spPr>
          <a:xfrm flipV="1">
            <a:off x="2454707" y="2043999"/>
            <a:ext cx="28499" cy="59051"/>
          </a:xfrm>
          <a:prstGeom prst="line">
            <a:avLst/>
          </a:prstGeom>
          <a:noFill/>
          <a:ln w="114300">
            <a:solidFill>
              <a:srgbClr val="FBEFD0"/>
            </a:solidFill>
            <a:prstDash val="solid"/>
          </a:ln>
        </p:spPr>
      </p:sp>
      <p:sp>
        <p:nvSpPr>
          <p:cNvPr id="228" name="Shape 226"/>
          <p:cNvSpPr/>
          <p:nvPr/>
        </p:nvSpPr>
        <p:spPr>
          <a:xfrm flipV="1">
            <a:off x="2483206" y="1979361"/>
            <a:ext cx="28499" cy="64639"/>
          </a:xfrm>
          <a:prstGeom prst="line">
            <a:avLst/>
          </a:prstGeom>
          <a:noFill/>
          <a:ln w="114300">
            <a:solidFill>
              <a:srgbClr val="FBEFD0"/>
            </a:solidFill>
            <a:prstDash val="solid"/>
          </a:ln>
        </p:spPr>
      </p:sp>
      <p:sp>
        <p:nvSpPr>
          <p:cNvPr id="229" name="Shape 227"/>
          <p:cNvSpPr/>
          <p:nvPr/>
        </p:nvSpPr>
        <p:spPr>
          <a:xfrm flipV="1">
            <a:off x="2511704" y="1920310"/>
            <a:ext cx="28499" cy="59051"/>
          </a:xfrm>
          <a:prstGeom prst="line">
            <a:avLst/>
          </a:prstGeom>
          <a:noFill/>
          <a:ln w="114300">
            <a:solidFill>
              <a:srgbClr val="FBEFD0"/>
            </a:solidFill>
            <a:prstDash val="solid"/>
          </a:ln>
        </p:spPr>
      </p:sp>
      <p:sp>
        <p:nvSpPr>
          <p:cNvPr id="230" name="Shape 228"/>
          <p:cNvSpPr/>
          <p:nvPr/>
        </p:nvSpPr>
        <p:spPr>
          <a:xfrm flipV="1">
            <a:off x="2540203" y="1877058"/>
            <a:ext cx="28499" cy="43252"/>
          </a:xfrm>
          <a:prstGeom prst="line">
            <a:avLst/>
          </a:prstGeom>
          <a:noFill/>
          <a:ln w="114300">
            <a:solidFill>
              <a:srgbClr val="FBEFD0"/>
            </a:solidFill>
            <a:prstDash val="solid"/>
          </a:ln>
        </p:spPr>
      </p:sp>
      <p:sp>
        <p:nvSpPr>
          <p:cNvPr id="231" name="Shape 229"/>
          <p:cNvSpPr/>
          <p:nvPr/>
        </p:nvSpPr>
        <p:spPr>
          <a:xfrm flipV="1">
            <a:off x="2568702" y="1857084"/>
            <a:ext cx="28499" cy="19975"/>
          </a:xfrm>
          <a:prstGeom prst="line">
            <a:avLst/>
          </a:prstGeom>
          <a:noFill/>
          <a:ln w="114300">
            <a:solidFill>
              <a:srgbClr val="FBEFD0"/>
            </a:solidFill>
            <a:prstDash val="solid"/>
          </a:ln>
        </p:spPr>
      </p:sp>
      <p:sp>
        <p:nvSpPr>
          <p:cNvPr id="232" name="Shape 230"/>
          <p:cNvSpPr/>
          <p:nvPr/>
        </p:nvSpPr>
        <p:spPr>
          <a:xfrm>
            <a:off x="2597201" y="1857084"/>
            <a:ext cx="28499" cy="6757"/>
          </a:xfrm>
          <a:prstGeom prst="line">
            <a:avLst/>
          </a:prstGeom>
          <a:noFill/>
          <a:ln w="114300">
            <a:solidFill>
              <a:srgbClr val="FBEFD0"/>
            </a:solidFill>
            <a:prstDash val="solid"/>
          </a:ln>
        </p:spPr>
      </p:sp>
      <p:sp>
        <p:nvSpPr>
          <p:cNvPr id="233" name="Shape 231"/>
          <p:cNvSpPr/>
          <p:nvPr/>
        </p:nvSpPr>
        <p:spPr>
          <a:xfrm>
            <a:off x="2625700" y="1863840"/>
            <a:ext cx="28499" cy="32319"/>
          </a:xfrm>
          <a:prstGeom prst="line">
            <a:avLst/>
          </a:prstGeom>
          <a:noFill/>
          <a:ln w="114300">
            <a:solidFill>
              <a:srgbClr val="FBEFD0"/>
            </a:solidFill>
            <a:prstDash val="solid"/>
          </a:ln>
        </p:spPr>
      </p:sp>
      <p:sp>
        <p:nvSpPr>
          <p:cNvPr id="234" name="Shape 232"/>
          <p:cNvSpPr/>
          <p:nvPr/>
        </p:nvSpPr>
        <p:spPr>
          <a:xfrm>
            <a:off x="2654198" y="1896160"/>
            <a:ext cx="28499" cy="52294"/>
          </a:xfrm>
          <a:prstGeom prst="line">
            <a:avLst/>
          </a:prstGeom>
          <a:noFill/>
          <a:ln w="114300">
            <a:solidFill>
              <a:srgbClr val="FBEFD0"/>
            </a:solidFill>
            <a:prstDash val="solid"/>
          </a:ln>
        </p:spPr>
      </p:sp>
      <p:sp>
        <p:nvSpPr>
          <p:cNvPr id="235" name="Shape 233"/>
          <p:cNvSpPr/>
          <p:nvPr/>
        </p:nvSpPr>
        <p:spPr>
          <a:xfrm>
            <a:off x="2682697" y="1948454"/>
            <a:ext cx="28499" cy="63226"/>
          </a:xfrm>
          <a:prstGeom prst="line">
            <a:avLst/>
          </a:prstGeom>
          <a:noFill/>
          <a:ln w="114300">
            <a:solidFill>
              <a:srgbClr val="FBEFD0"/>
            </a:solidFill>
            <a:prstDash val="solid"/>
          </a:ln>
        </p:spPr>
      </p:sp>
      <p:sp>
        <p:nvSpPr>
          <p:cNvPr id="236" name="Shape 234"/>
          <p:cNvSpPr/>
          <p:nvPr/>
        </p:nvSpPr>
        <p:spPr>
          <a:xfrm>
            <a:off x="2711196" y="2011680"/>
            <a:ext cx="28499" cy="63226"/>
          </a:xfrm>
          <a:prstGeom prst="line">
            <a:avLst/>
          </a:prstGeom>
          <a:noFill/>
          <a:ln w="114300">
            <a:solidFill>
              <a:srgbClr val="FBEFD0"/>
            </a:solidFill>
            <a:prstDash val="solid"/>
          </a:ln>
        </p:spPr>
      </p:sp>
      <p:sp>
        <p:nvSpPr>
          <p:cNvPr id="237" name="Shape 235"/>
          <p:cNvSpPr/>
          <p:nvPr/>
        </p:nvSpPr>
        <p:spPr>
          <a:xfrm>
            <a:off x="2739695" y="2074906"/>
            <a:ext cx="28499" cy="52294"/>
          </a:xfrm>
          <a:prstGeom prst="line">
            <a:avLst/>
          </a:prstGeom>
          <a:noFill/>
          <a:ln w="114300">
            <a:solidFill>
              <a:srgbClr val="FBEFD0"/>
            </a:solidFill>
            <a:prstDash val="solid"/>
          </a:ln>
        </p:spPr>
      </p:sp>
      <p:sp>
        <p:nvSpPr>
          <p:cNvPr id="238" name="Shape 236"/>
          <p:cNvSpPr/>
          <p:nvPr/>
        </p:nvSpPr>
        <p:spPr>
          <a:xfrm>
            <a:off x="2768194" y="2127200"/>
            <a:ext cx="28499" cy="32319"/>
          </a:xfrm>
          <a:prstGeom prst="line">
            <a:avLst/>
          </a:prstGeom>
          <a:noFill/>
          <a:ln w="114300">
            <a:solidFill>
              <a:srgbClr val="FBEFD0"/>
            </a:solidFill>
            <a:prstDash val="solid"/>
          </a:ln>
        </p:spPr>
      </p:sp>
      <p:sp>
        <p:nvSpPr>
          <p:cNvPr id="239" name="Shape 237"/>
          <p:cNvSpPr/>
          <p:nvPr/>
        </p:nvSpPr>
        <p:spPr>
          <a:xfrm>
            <a:off x="2796692" y="2159520"/>
            <a:ext cx="28499" cy="6757"/>
          </a:xfrm>
          <a:prstGeom prst="line">
            <a:avLst/>
          </a:prstGeom>
          <a:noFill/>
          <a:ln w="114300">
            <a:solidFill>
              <a:srgbClr val="FBEFD0"/>
            </a:solidFill>
            <a:prstDash val="solid"/>
          </a:ln>
        </p:spPr>
      </p:sp>
      <p:sp>
        <p:nvSpPr>
          <p:cNvPr id="240" name="Shape 238"/>
          <p:cNvSpPr/>
          <p:nvPr/>
        </p:nvSpPr>
        <p:spPr>
          <a:xfrm flipV="1">
            <a:off x="2825191" y="2146302"/>
            <a:ext cx="28499" cy="19975"/>
          </a:xfrm>
          <a:prstGeom prst="line">
            <a:avLst/>
          </a:prstGeom>
          <a:noFill/>
          <a:ln w="114300">
            <a:solidFill>
              <a:srgbClr val="FBEFD0"/>
            </a:solidFill>
            <a:prstDash val="solid"/>
          </a:ln>
        </p:spPr>
      </p:sp>
      <p:sp>
        <p:nvSpPr>
          <p:cNvPr id="241" name="Shape 239"/>
          <p:cNvSpPr/>
          <p:nvPr/>
        </p:nvSpPr>
        <p:spPr>
          <a:xfrm flipV="1">
            <a:off x="2853690" y="2103050"/>
            <a:ext cx="28499" cy="43252"/>
          </a:xfrm>
          <a:prstGeom prst="line">
            <a:avLst/>
          </a:prstGeom>
          <a:noFill/>
          <a:ln w="114300">
            <a:solidFill>
              <a:srgbClr val="FBEFD0"/>
            </a:solidFill>
            <a:prstDash val="solid"/>
          </a:ln>
        </p:spPr>
      </p:sp>
      <p:sp>
        <p:nvSpPr>
          <p:cNvPr id="242" name="Shape 240"/>
          <p:cNvSpPr/>
          <p:nvPr/>
        </p:nvSpPr>
        <p:spPr>
          <a:xfrm flipV="1">
            <a:off x="2882189" y="2043999"/>
            <a:ext cx="28499" cy="59051"/>
          </a:xfrm>
          <a:prstGeom prst="line">
            <a:avLst/>
          </a:prstGeom>
          <a:noFill/>
          <a:ln w="114300">
            <a:solidFill>
              <a:srgbClr val="FBEFD0"/>
            </a:solidFill>
            <a:prstDash val="solid"/>
          </a:ln>
        </p:spPr>
      </p:sp>
      <p:sp>
        <p:nvSpPr>
          <p:cNvPr id="243" name="Shape 241"/>
          <p:cNvSpPr/>
          <p:nvPr/>
        </p:nvSpPr>
        <p:spPr>
          <a:xfrm flipV="1">
            <a:off x="2910688" y="1979361"/>
            <a:ext cx="28499" cy="64639"/>
          </a:xfrm>
          <a:prstGeom prst="line">
            <a:avLst/>
          </a:prstGeom>
          <a:noFill/>
          <a:ln w="114300">
            <a:solidFill>
              <a:srgbClr val="FBEFD0"/>
            </a:solidFill>
            <a:prstDash val="solid"/>
          </a:ln>
        </p:spPr>
      </p:sp>
      <p:sp>
        <p:nvSpPr>
          <p:cNvPr id="244" name="Shape 242"/>
          <p:cNvSpPr/>
          <p:nvPr/>
        </p:nvSpPr>
        <p:spPr>
          <a:xfrm flipV="1">
            <a:off x="2939186" y="1920310"/>
            <a:ext cx="28499" cy="59051"/>
          </a:xfrm>
          <a:prstGeom prst="line">
            <a:avLst/>
          </a:prstGeom>
          <a:noFill/>
          <a:ln w="114300">
            <a:solidFill>
              <a:srgbClr val="FBEFD0"/>
            </a:solidFill>
            <a:prstDash val="solid"/>
          </a:ln>
        </p:spPr>
      </p:sp>
      <p:sp>
        <p:nvSpPr>
          <p:cNvPr id="245" name="Shape 243"/>
          <p:cNvSpPr/>
          <p:nvPr/>
        </p:nvSpPr>
        <p:spPr>
          <a:xfrm flipV="1">
            <a:off x="2967685" y="1877058"/>
            <a:ext cx="28499" cy="43252"/>
          </a:xfrm>
          <a:prstGeom prst="line">
            <a:avLst/>
          </a:prstGeom>
          <a:noFill/>
          <a:ln w="114300">
            <a:solidFill>
              <a:srgbClr val="FBEFD0"/>
            </a:solidFill>
            <a:prstDash val="solid"/>
          </a:ln>
        </p:spPr>
      </p:sp>
      <p:sp>
        <p:nvSpPr>
          <p:cNvPr id="246" name="Shape 244"/>
          <p:cNvSpPr/>
          <p:nvPr/>
        </p:nvSpPr>
        <p:spPr>
          <a:xfrm flipV="1">
            <a:off x="2996184" y="1857084"/>
            <a:ext cx="28499" cy="19975"/>
          </a:xfrm>
          <a:prstGeom prst="line">
            <a:avLst/>
          </a:prstGeom>
          <a:noFill/>
          <a:ln w="114300">
            <a:solidFill>
              <a:srgbClr val="FBEFD0"/>
            </a:solidFill>
            <a:prstDash val="solid"/>
          </a:ln>
        </p:spPr>
      </p:sp>
      <p:sp>
        <p:nvSpPr>
          <p:cNvPr id="247" name="Shape 245"/>
          <p:cNvSpPr/>
          <p:nvPr/>
        </p:nvSpPr>
        <p:spPr>
          <a:xfrm>
            <a:off x="3024683" y="1857084"/>
            <a:ext cx="28499" cy="6757"/>
          </a:xfrm>
          <a:prstGeom prst="line">
            <a:avLst/>
          </a:prstGeom>
          <a:noFill/>
          <a:ln w="114300">
            <a:solidFill>
              <a:srgbClr val="FBEFD0"/>
            </a:solidFill>
            <a:prstDash val="solid"/>
          </a:ln>
        </p:spPr>
      </p:sp>
      <p:sp>
        <p:nvSpPr>
          <p:cNvPr id="248" name="Shape 246"/>
          <p:cNvSpPr/>
          <p:nvPr/>
        </p:nvSpPr>
        <p:spPr>
          <a:xfrm>
            <a:off x="3053182" y="1863840"/>
            <a:ext cx="28499" cy="32319"/>
          </a:xfrm>
          <a:prstGeom prst="line">
            <a:avLst/>
          </a:prstGeom>
          <a:noFill/>
          <a:ln w="114300">
            <a:solidFill>
              <a:srgbClr val="FBEFD0"/>
            </a:solidFill>
            <a:prstDash val="solid"/>
          </a:ln>
        </p:spPr>
      </p:sp>
      <p:sp>
        <p:nvSpPr>
          <p:cNvPr id="249" name="Shape 247"/>
          <p:cNvSpPr/>
          <p:nvPr/>
        </p:nvSpPr>
        <p:spPr>
          <a:xfrm>
            <a:off x="3081680" y="1896160"/>
            <a:ext cx="28499" cy="52294"/>
          </a:xfrm>
          <a:prstGeom prst="line">
            <a:avLst/>
          </a:prstGeom>
          <a:noFill/>
          <a:ln w="114300">
            <a:solidFill>
              <a:srgbClr val="FBEFD0"/>
            </a:solidFill>
            <a:prstDash val="solid"/>
          </a:ln>
        </p:spPr>
      </p:sp>
      <p:sp>
        <p:nvSpPr>
          <p:cNvPr id="250" name="Shape 248"/>
          <p:cNvSpPr/>
          <p:nvPr/>
        </p:nvSpPr>
        <p:spPr>
          <a:xfrm>
            <a:off x="3110179" y="1948454"/>
            <a:ext cx="28499" cy="63226"/>
          </a:xfrm>
          <a:prstGeom prst="line">
            <a:avLst/>
          </a:prstGeom>
          <a:noFill/>
          <a:ln w="114300">
            <a:solidFill>
              <a:srgbClr val="FBEFD0"/>
            </a:solidFill>
            <a:prstDash val="solid"/>
          </a:ln>
        </p:spPr>
      </p:sp>
      <p:sp>
        <p:nvSpPr>
          <p:cNvPr id="251" name="Shape 249"/>
          <p:cNvSpPr/>
          <p:nvPr/>
        </p:nvSpPr>
        <p:spPr>
          <a:xfrm>
            <a:off x="3138678" y="2011680"/>
            <a:ext cx="28499" cy="63226"/>
          </a:xfrm>
          <a:prstGeom prst="line">
            <a:avLst/>
          </a:prstGeom>
          <a:noFill/>
          <a:ln w="114300">
            <a:solidFill>
              <a:srgbClr val="FBEFD0"/>
            </a:solidFill>
            <a:prstDash val="solid"/>
          </a:ln>
        </p:spPr>
      </p:sp>
      <p:sp>
        <p:nvSpPr>
          <p:cNvPr id="252" name="Shape 250"/>
          <p:cNvSpPr/>
          <p:nvPr/>
        </p:nvSpPr>
        <p:spPr>
          <a:xfrm>
            <a:off x="3167177" y="2074906"/>
            <a:ext cx="28499" cy="52294"/>
          </a:xfrm>
          <a:prstGeom prst="line">
            <a:avLst/>
          </a:prstGeom>
          <a:noFill/>
          <a:ln w="114300">
            <a:solidFill>
              <a:srgbClr val="FBEFD0"/>
            </a:solidFill>
            <a:prstDash val="solid"/>
          </a:ln>
        </p:spPr>
      </p:sp>
      <p:sp>
        <p:nvSpPr>
          <p:cNvPr id="253" name="Shape 251"/>
          <p:cNvSpPr/>
          <p:nvPr/>
        </p:nvSpPr>
        <p:spPr>
          <a:xfrm>
            <a:off x="3195676" y="2127200"/>
            <a:ext cx="28499" cy="32319"/>
          </a:xfrm>
          <a:prstGeom prst="line">
            <a:avLst/>
          </a:prstGeom>
          <a:noFill/>
          <a:ln w="114300">
            <a:solidFill>
              <a:srgbClr val="FBEFD0"/>
            </a:solidFill>
            <a:prstDash val="solid"/>
          </a:ln>
        </p:spPr>
      </p:sp>
      <p:sp>
        <p:nvSpPr>
          <p:cNvPr id="254" name="Shape 252"/>
          <p:cNvSpPr/>
          <p:nvPr/>
        </p:nvSpPr>
        <p:spPr>
          <a:xfrm>
            <a:off x="3224174" y="2159520"/>
            <a:ext cx="28499" cy="6757"/>
          </a:xfrm>
          <a:prstGeom prst="line">
            <a:avLst/>
          </a:prstGeom>
          <a:noFill/>
          <a:ln w="114300">
            <a:solidFill>
              <a:srgbClr val="FBEFD0"/>
            </a:solidFill>
            <a:prstDash val="solid"/>
          </a:ln>
        </p:spPr>
      </p:sp>
      <p:sp>
        <p:nvSpPr>
          <p:cNvPr id="255" name="Shape 253"/>
          <p:cNvSpPr/>
          <p:nvPr/>
        </p:nvSpPr>
        <p:spPr>
          <a:xfrm flipV="1">
            <a:off x="3252673" y="2146302"/>
            <a:ext cx="28499" cy="19975"/>
          </a:xfrm>
          <a:prstGeom prst="line">
            <a:avLst/>
          </a:prstGeom>
          <a:noFill/>
          <a:ln w="114300">
            <a:solidFill>
              <a:srgbClr val="FBEFD0"/>
            </a:solidFill>
            <a:prstDash val="solid"/>
          </a:ln>
        </p:spPr>
      </p:sp>
      <p:sp>
        <p:nvSpPr>
          <p:cNvPr id="256" name="Shape 254"/>
          <p:cNvSpPr/>
          <p:nvPr/>
        </p:nvSpPr>
        <p:spPr>
          <a:xfrm flipV="1">
            <a:off x="3281172" y="2103050"/>
            <a:ext cx="28499" cy="43252"/>
          </a:xfrm>
          <a:prstGeom prst="line">
            <a:avLst/>
          </a:prstGeom>
          <a:noFill/>
          <a:ln w="114300">
            <a:solidFill>
              <a:srgbClr val="FBEFD0"/>
            </a:solidFill>
            <a:prstDash val="solid"/>
          </a:ln>
        </p:spPr>
      </p:sp>
      <p:sp>
        <p:nvSpPr>
          <p:cNvPr id="257" name="Shape 255"/>
          <p:cNvSpPr/>
          <p:nvPr/>
        </p:nvSpPr>
        <p:spPr>
          <a:xfrm flipV="1">
            <a:off x="3309671" y="2043999"/>
            <a:ext cx="28499" cy="59051"/>
          </a:xfrm>
          <a:prstGeom prst="line">
            <a:avLst/>
          </a:prstGeom>
          <a:noFill/>
          <a:ln w="114300">
            <a:solidFill>
              <a:srgbClr val="FBEFD0"/>
            </a:solidFill>
            <a:prstDash val="solid"/>
          </a:ln>
        </p:spPr>
      </p:sp>
      <p:sp>
        <p:nvSpPr>
          <p:cNvPr id="258" name="Shape 256"/>
          <p:cNvSpPr/>
          <p:nvPr/>
        </p:nvSpPr>
        <p:spPr>
          <a:xfrm flipV="1">
            <a:off x="3338170" y="1979361"/>
            <a:ext cx="28499" cy="64639"/>
          </a:xfrm>
          <a:prstGeom prst="line">
            <a:avLst/>
          </a:prstGeom>
          <a:noFill/>
          <a:ln w="114300">
            <a:solidFill>
              <a:srgbClr val="FBEFD0"/>
            </a:solidFill>
            <a:prstDash val="solid"/>
          </a:ln>
        </p:spPr>
      </p:sp>
      <p:sp>
        <p:nvSpPr>
          <p:cNvPr id="259" name="Shape 257"/>
          <p:cNvSpPr/>
          <p:nvPr/>
        </p:nvSpPr>
        <p:spPr>
          <a:xfrm flipV="1">
            <a:off x="3366668" y="1920310"/>
            <a:ext cx="28499" cy="59051"/>
          </a:xfrm>
          <a:prstGeom prst="line">
            <a:avLst/>
          </a:prstGeom>
          <a:noFill/>
          <a:ln w="114300">
            <a:solidFill>
              <a:srgbClr val="FBEFD0"/>
            </a:solidFill>
            <a:prstDash val="solid"/>
          </a:ln>
        </p:spPr>
      </p:sp>
      <p:sp>
        <p:nvSpPr>
          <p:cNvPr id="260" name="Shape 258"/>
          <p:cNvSpPr/>
          <p:nvPr/>
        </p:nvSpPr>
        <p:spPr>
          <a:xfrm flipV="1">
            <a:off x="3395167" y="1877058"/>
            <a:ext cx="28499" cy="43252"/>
          </a:xfrm>
          <a:prstGeom prst="line">
            <a:avLst/>
          </a:prstGeom>
          <a:noFill/>
          <a:ln w="114300">
            <a:solidFill>
              <a:srgbClr val="FBEFD0"/>
            </a:solidFill>
            <a:prstDash val="solid"/>
          </a:ln>
        </p:spPr>
      </p:sp>
      <p:sp>
        <p:nvSpPr>
          <p:cNvPr id="261" name="Shape 259"/>
          <p:cNvSpPr/>
          <p:nvPr/>
        </p:nvSpPr>
        <p:spPr>
          <a:xfrm flipV="1">
            <a:off x="3423666" y="1857084"/>
            <a:ext cx="28499" cy="19975"/>
          </a:xfrm>
          <a:prstGeom prst="line">
            <a:avLst/>
          </a:prstGeom>
          <a:noFill/>
          <a:ln w="114300">
            <a:solidFill>
              <a:srgbClr val="FBEFD0"/>
            </a:solidFill>
            <a:prstDash val="solid"/>
          </a:ln>
        </p:spPr>
      </p:sp>
      <p:sp>
        <p:nvSpPr>
          <p:cNvPr id="262" name="Shape 260"/>
          <p:cNvSpPr/>
          <p:nvPr/>
        </p:nvSpPr>
        <p:spPr>
          <a:xfrm>
            <a:off x="3452165" y="1857084"/>
            <a:ext cx="28499" cy="6757"/>
          </a:xfrm>
          <a:prstGeom prst="line">
            <a:avLst/>
          </a:prstGeom>
          <a:noFill/>
          <a:ln w="114300">
            <a:solidFill>
              <a:srgbClr val="FBEFD0"/>
            </a:solidFill>
            <a:prstDash val="solid"/>
          </a:ln>
        </p:spPr>
      </p:sp>
      <p:sp>
        <p:nvSpPr>
          <p:cNvPr id="263" name="Shape 261"/>
          <p:cNvSpPr/>
          <p:nvPr/>
        </p:nvSpPr>
        <p:spPr>
          <a:xfrm>
            <a:off x="3480664" y="1863840"/>
            <a:ext cx="28499" cy="32319"/>
          </a:xfrm>
          <a:prstGeom prst="line">
            <a:avLst/>
          </a:prstGeom>
          <a:noFill/>
          <a:ln w="114300">
            <a:solidFill>
              <a:srgbClr val="FBEFD0"/>
            </a:solidFill>
            <a:prstDash val="solid"/>
          </a:ln>
        </p:spPr>
      </p:sp>
      <p:sp>
        <p:nvSpPr>
          <p:cNvPr id="264" name="Shape 262"/>
          <p:cNvSpPr/>
          <p:nvPr/>
        </p:nvSpPr>
        <p:spPr>
          <a:xfrm>
            <a:off x="3509162" y="1896160"/>
            <a:ext cx="28499" cy="52294"/>
          </a:xfrm>
          <a:prstGeom prst="line">
            <a:avLst/>
          </a:prstGeom>
          <a:noFill/>
          <a:ln w="114300">
            <a:solidFill>
              <a:srgbClr val="FBEFD0"/>
            </a:solidFill>
            <a:prstDash val="solid"/>
          </a:ln>
        </p:spPr>
      </p:sp>
      <p:sp>
        <p:nvSpPr>
          <p:cNvPr id="265" name="Shape 263"/>
          <p:cNvSpPr/>
          <p:nvPr/>
        </p:nvSpPr>
        <p:spPr>
          <a:xfrm>
            <a:off x="3537661" y="1948454"/>
            <a:ext cx="28499" cy="63226"/>
          </a:xfrm>
          <a:prstGeom prst="line">
            <a:avLst/>
          </a:prstGeom>
          <a:noFill/>
          <a:ln w="114300">
            <a:solidFill>
              <a:srgbClr val="FBEFD0"/>
            </a:solidFill>
            <a:prstDash val="solid"/>
          </a:ln>
        </p:spPr>
      </p:sp>
      <p:sp>
        <p:nvSpPr>
          <p:cNvPr id="266" name="Shape 264"/>
          <p:cNvSpPr/>
          <p:nvPr/>
        </p:nvSpPr>
        <p:spPr>
          <a:xfrm>
            <a:off x="1799082" y="1954530"/>
            <a:ext cx="114300" cy="114300"/>
          </a:xfrm>
          <a:prstGeom prst="ellipse">
            <a:avLst/>
          </a:prstGeom>
          <a:solidFill>
            <a:srgbClr val="FBEFD0"/>
          </a:solidFill>
          <a:ln w="12700">
            <a:solidFill>
              <a:srgbClr val="FBEFD0"/>
            </a:solidFill>
            <a:prstDash val="solid"/>
          </a:ln>
        </p:spPr>
      </p:sp>
      <p:sp>
        <p:nvSpPr>
          <p:cNvPr id="267" name="Shape 265"/>
          <p:cNvSpPr/>
          <p:nvPr/>
        </p:nvSpPr>
        <p:spPr>
          <a:xfrm>
            <a:off x="1827581" y="2017756"/>
            <a:ext cx="114300" cy="114300"/>
          </a:xfrm>
          <a:prstGeom prst="ellipse">
            <a:avLst/>
          </a:prstGeom>
          <a:solidFill>
            <a:srgbClr val="FBEFD0"/>
          </a:solidFill>
          <a:ln w="12700">
            <a:solidFill>
              <a:srgbClr val="FBEFD0"/>
            </a:solidFill>
            <a:prstDash val="solid"/>
          </a:ln>
        </p:spPr>
      </p:sp>
      <p:sp>
        <p:nvSpPr>
          <p:cNvPr id="268" name="Shape 266"/>
          <p:cNvSpPr/>
          <p:nvPr/>
        </p:nvSpPr>
        <p:spPr>
          <a:xfrm>
            <a:off x="1856080" y="2070050"/>
            <a:ext cx="114300" cy="114300"/>
          </a:xfrm>
          <a:prstGeom prst="ellipse">
            <a:avLst/>
          </a:prstGeom>
          <a:solidFill>
            <a:srgbClr val="FBEFD0"/>
          </a:solidFill>
          <a:ln w="12700">
            <a:solidFill>
              <a:srgbClr val="FBEFD0"/>
            </a:solidFill>
            <a:prstDash val="solid"/>
          </a:ln>
        </p:spPr>
      </p:sp>
      <p:sp>
        <p:nvSpPr>
          <p:cNvPr id="269" name="Shape 267"/>
          <p:cNvSpPr/>
          <p:nvPr/>
        </p:nvSpPr>
        <p:spPr>
          <a:xfrm>
            <a:off x="1884578" y="2102370"/>
            <a:ext cx="114300" cy="114300"/>
          </a:xfrm>
          <a:prstGeom prst="ellipse">
            <a:avLst/>
          </a:prstGeom>
          <a:solidFill>
            <a:srgbClr val="FBEFD0"/>
          </a:solidFill>
          <a:ln w="12700">
            <a:solidFill>
              <a:srgbClr val="FBEFD0"/>
            </a:solidFill>
            <a:prstDash val="solid"/>
          </a:ln>
        </p:spPr>
      </p:sp>
      <p:sp>
        <p:nvSpPr>
          <p:cNvPr id="270" name="Shape 268"/>
          <p:cNvSpPr/>
          <p:nvPr/>
        </p:nvSpPr>
        <p:spPr>
          <a:xfrm>
            <a:off x="1913077" y="2109126"/>
            <a:ext cx="114300" cy="114300"/>
          </a:xfrm>
          <a:prstGeom prst="ellipse">
            <a:avLst/>
          </a:prstGeom>
          <a:solidFill>
            <a:srgbClr val="FBEFD0"/>
          </a:solidFill>
          <a:ln w="12700">
            <a:solidFill>
              <a:srgbClr val="FBEFD0"/>
            </a:solidFill>
            <a:prstDash val="solid"/>
          </a:ln>
        </p:spPr>
      </p:sp>
      <p:sp>
        <p:nvSpPr>
          <p:cNvPr id="271" name="Shape 269"/>
          <p:cNvSpPr/>
          <p:nvPr/>
        </p:nvSpPr>
        <p:spPr>
          <a:xfrm>
            <a:off x="1941576" y="2089152"/>
            <a:ext cx="114300" cy="114300"/>
          </a:xfrm>
          <a:prstGeom prst="ellipse">
            <a:avLst/>
          </a:prstGeom>
          <a:solidFill>
            <a:srgbClr val="FBEFD0"/>
          </a:solidFill>
          <a:ln w="12700">
            <a:solidFill>
              <a:srgbClr val="FBEFD0"/>
            </a:solidFill>
            <a:prstDash val="solid"/>
          </a:ln>
        </p:spPr>
      </p:sp>
      <p:sp>
        <p:nvSpPr>
          <p:cNvPr id="272" name="Shape 270"/>
          <p:cNvSpPr/>
          <p:nvPr/>
        </p:nvSpPr>
        <p:spPr>
          <a:xfrm>
            <a:off x="1970075" y="2045900"/>
            <a:ext cx="114300" cy="114300"/>
          </a:xfrm>
          <a:prstGeom prst="ellipse">
            <a:avLst/>
          </a:prstGeom>
          <a:solidFill>
            <a:srgbClr val="FBEFD0"/>
          </a:solidFill>
          <a:ln w="12700">
            <a:solidFill>
              <a:srgbClr val="FBEFD0"/>
            </a:solidFill>
            <a:prstDash val="solid"/>
          </a:ln>
        </p:spPr>
      </p:sp>
      <p:sp>
        <p:nvSpPr>
          <p:cNvPr id="273" name="Shape 271"/>
          <p:cNvSpPr/>
          <p:nvPr/>
        </p:nvSpPr>
        <p:spPr>
          <a:xfrm>
            <a:off x="1998574" y="1986849"/>
            <a:ext cx="114300" cy="114300"/>
          </a:xfrm>
          <a:prstGeom prst="ellipse">
            <a:avLst/>
          </a:prstGeom>
          <a:solidFill>
            <a:srgbClr val="FBEFD0"/>
          </a:solidFill>
          <a:ln w="12700">
            <a:solidFill>
              <a:srgbClr val="FBEFD0"/>
            </a:solidFill>
            <a:prstDash val="solid"/>
          </a:ln>
        </p:spPr>
      </p:sp>
      <p:sp>
        <p:nvSpPr>
          <p:cNvPr id="274" name="Shape 272"/>
          <p:cNvSpPr/>
          <p:nvPr/>
        </p:nvSpPr>
        <p:spPr>
          <a:xfrm>
            <a:off x="2027072" y="1922211"/>
            <a:ext cx="114300" cy="114300"/>
          </a:xfrm>
          <a:prstGeom prst="ellipse">
            <a:avLst/>
          </a:prstGeom>
          <a:solidFill>
            <a:srgbClr val="FBEFD0"/>
          </a:solidFill>
          <a:ln w="12700">
            <a:solidFill>
              <a:srgbClr val="FBEFD0"/>
            </a:solidFill>
            <a:prstDash val="solid"/>
          </a:ln>
        </p:spPr>
      </p:sp>
      <p:sp>
        <p:nvSpPr>
          <p:cNvPr id="275" name="Shape 273"/>
          <p:cNvSpPr/>
          <p:nvPr/>
        </p:nvSpPr>
        <p:spPr>
          <a:xfrm>
            <a:off x="2055571" y="1863160"/>
            <a:ext cx="114300" cy="114300"/>
          </a:xfrm>
          <a:prstGeom prst="ellipse">
            <a:avLst/>
          </a:prstGeom>
          <a:solidFill>
            <a:srgbClr val="FBEFD0"/>
          </a:solidFill>
          <a:ln w="12700">
            <a:solidFill>
              <a:srgbClr val="FBEFD0"/>
            </a:solidFill>
            <a:prstDash val="solid"/>
          </a:ln>
        </p:spPr>
      </p:sp>
      <p:sp>
        <p:nvSpPr>
          <p:cNvPr id="276" name="Shape 274"/>
          <p:cNvSpPr/>
          <p:nvPr/>
        </p:nvSpPr>
        <p:spPr>
          <a:xfrm>
            <a:off x="2084070" y="1819908"/>
            <a:ext cx="114300" cy="114300"/>
          </a:xfrm>
          <a:prstGeom prst="ellipse">
            <a:avLst/>
          </a:prstGeom>
          <a:solidFill>
            <a:srgbClr val="FBEFD0"/>
          </a:solidFill>
          <a:ln w="12700">
            <a:solidFill>
              <a:srgbClr val="FBEFD0"/>
            </a:solidFill>
            <a:prstDash val="solid"/>
          </a:ln>
        </p:spPr>
      </p:sp>
      <p:sp>
        <p:nvSpPr>
          <p:cNvPr id="277" name="Shape 275"/>
          <p:cNvSpPr/>
          <p:nvPr/>
        </p:nvSpPr>
        <p:spPr>
          <a:xfrm>
            <a:off x="2112569" y="1799934"/>
            <a:ext cx="114300" cy="114300"/>
          </a:xfrm>
          <a:prstGeom prst="ellipse">
            <a:avLst/>
          </a:prstGeom>
          <a:solidFill>
            <a:srgbClr val="FBEFD0"/>
          </a:solidFill>
          <a:ln w="12700">
            <a:solidFill>
              <a:srgbClr val="FBEFD0"/>
            </a:solidFill>
            <a:prstDash val="solid"/>
          </a:ln>
        </p:spPr>
      </p:sp>
      <p:sp>
        <p:nvSpPr>
          <p:cNvPr id="278" name="Shape 276"/>
          <p:cNvSpPr/>
          <p:nvPr/>
        </p:nvSpPr>
        <p:spPr>
          <a:xfrm>
            <a:off x="2141068" y="1806690"/>
            <a:ext cx="114300" cy="114300"/>
          </a:xfrm>
          <a:prstGeom prst="ellipse">
            <a:avLst/>
          </a:prstGeom>
          <a:solidFill>
            <a:srgbClr val="FBEFD0"/>
          </a:solidFill>
          <a:ln w="12700">
            <a:solidFill>
              <a:srgbClr val="FBEFD0"/>
            </a:solidFill>
            <a:prstDash val="solid"/>
          </a:ln>
        </p:spPr>
      </p:sp>
      <p:sp>
        <p:nvSpPr>
          <p:cNvPr id="279" name="Shape 277"/>
          <p:cNvSpPr/>
          <p:nvPr/>
        </p:nvSpPr>
        <p:spPr>
          <a:xfrm>
            <a:off x="2169566" y="1839010"/>
            <a:ext cx="114300" cy="114300"/>
          </a:xfrm>
          <a:prstGeom prst="ellipse">
            <a:avLst/>
          </a:prstGeom>
          <a:solidFill>
            <a:srgbClr val="FBEFD0"/>
          </a:solidFill>
          <a:ln w="12700">
            <a:solidFill>
              <a:srgbClr val="FBEFD0"/>
            </a:solidFill>
            <a:prstDash val="solid"/>
          </a:ln>
        </p:spPr>
      </p:sp>
      <p:sp>
        <p:nvSpPr>
          <p:cNvPr id="280" name="Shape 278"/>
          <p:cNvSpPr/>
          <p:nvPr/>
        </p:nvSpPr>
        <p:spPr>
          <a:xfrm>
            <a:off x="2198065" y="1891304"/>
            <a:ext cx="114300" cy="114300"/>
          </a:xfrm>
          <a:prstGeom prst="ellipse">
            <a:avLst/>
          </a:prstGeom>
          <a:solidFill>
            <a:srgbClr val="FBEFD0"/>
          </a:solidFill>
          <a:ln w="12700">
            <a:solidFill>
              <a:srgbClr val="FBEFD0"/>
            </a:solidFill>
            <a:prstDash val="solid"/>
          </a:ln>
        </p:spPr>
      </p:sp>
      <p:sp>
        <p:nvSpPr>
          <p:cNvPr id="281" name="Shape 279"/>
          <p:cNvSpPr/>
          <p:nvPr/>
        </p:nvSpPr>
        <p:spPr>
          <a:xfrm>
            <a:off x="2226564" y="1954530"/>
            <a:ext cx="114300" cy="114300"/>
          </a:xfrm>
          <a:prstGeom prst="ellipse">
            <a:avLst/>
          </a:prstGeom>
          <a:solidFill>
            <a:srgbClr val="FBEFD0"/>
          </a:solidFill>
          <a:ln w="12700">
            <a:solidFill>
              <a:srgbClr val="FBEFD0"/>
            </a:solidFill>
            <a:prstDash val="solid"/>
          </a:ln>
        </p:spPr>
      </p:sp>
      <p:sp>
        <p:nvSpPr>
          <p:cNvPr id="282" name="Shape 280"/>
          <p:cNvSpPr/>
          <p:nvPr/>
        </p:nvSpPr>
        <p:spPr>
          <a:xfrm>
            <a:off x="2255063" y="2017756"/>
            <a:ext cx="114300" cy="114300"/>
          </a:xfrm>
          <a:prstGeom prst="ellipse">
            <a:avLst/>
          </a:prstGeom>
          <a:solidFill>
            <a:srgbClr val="FBEFD0"/>
          </a:solidFill>
          <a:ln w="12700">
            <a:solidFill>
              <a:srgbClr val="FBEFD0"/>
            </a:solidFill>
            <a:prstDash val="solid"/>
          </a:ln>
        </p:spPr>
      </p:sp>
      <p:sp>
        <p:nvSpPr>
          <p:cNvPr id="283" name="Shape 281"/>
          <p:cNvSpPr/>
          <p:nvPr/>
        </p:nvSpPr>
        <p:spPr>
          <a:xfrm>
            <a:off x="2283562" y="2070050"/>
            <a:ext cx="114300" cy="114300"/>
          </a:xfrm>
          <a:prstGeom prst="ellipse">
            <a:avLst/>
          </a:prstGeom>
          <a:solidFill>
            <a:srgbClr val="FBEFD0"/>
          </a:solidFill>
          <a:ln w="12700">
            <a:solidFill>
              <a:srgbClr val="FBEFD0"/>
            </a:solidFill>
            <a:prstDash val="solid"/>
          </a:ln>
        </p:spPr>
      </p:sp>
      <p:sp>
        <p:nvSpPr>
          <p:cNvPr id="284" name="Shape 282"/>
          <p:cNvSpPr/>
          <p:nvPr/>
        </p:nvSpPr>
        <p:spPr>
          <a:xfrm>
            <a:off x="2312060" y="2102370"/>
            <a:ext cx="114300" cy="114300"/>
          </a:xfrm>
          <a:prstGeom prst="ellipse">
            <a:avLst/>
          </a:prstGeom>
          <a:solidFill>
            <a:srgbClr val="FBEFD0"/>
          </a:solidFill>
          <a:ln w="12700">
            <a:solidFill>
              <a:srgbClr val="FBEFD0"/>
            </a:solidFill>
            <a:prstDash val="solid"/>
          </a:ln>
        </p:spPr>
      </p:sp>
      <p:sp>
        <p:nvSpPr>
          <p:cNvPr id="285" name="Shape 283"/>
          <p:cNvSpPr/>
          <p:nvPr/>
        </p:nvSpPr>
        <p:spPr>
          <a:xfrm>
            <a:off x="2340559" y="2109126"/>
            <a:ext cx="114300" cy="114300"/>
          </a:xfrm>
          <a:prstGeom prst="ellipse">
            <a:avLst/>
          </a:prstGeom>
          <a:solidFill>
            <a:srgbClr val="FBEFD0"/>
          </a:solidFill>
          <a:ln w="12700">
            <a:solidFill>
              <a:srgbClr val="FBEFD0"/>
            </a:solidFill>
            <a:prstDash val="solid"/>
          </a:ln>
        </p:spPr>
      </p:sp>
      <p:sp>
        <p:nvSpPr>
          <p:cNvPr id="286" name="Shape 284"/>
          <p:cNvSpPr/>
          <p:nvPr/>
        </p:nvSpPr>
        <p:spPr>
          <a:xfrm>
            <a:off x="2369058" y="2089152"/>
            <a:ext cx="114300" cy="114300"/>
          </a:xfrm>
          <a:prstGeom prst="ellipse">
            <a:avLst/>
          </a:prstGeom>
          <a:solidFill>
            <a:srgbClr val="FBEFD0"/>
          </a:solidFill>
          <a:ln w="12700">
            <a:solidFill>
              <a:srgbClr val="FBEFD0"/>
            </a:solidFill>
            <a:prstDash val="solid"/>
          </a:ln>
        </p:spPr>
      </p:sp>
      <p:sp>
        <p:nvSpPr>
          <p:cNvPr id="287" name="Shape 285"/>
          <p:cNvSpPr/>
          <p:nvPr/>
        </p:nvSpPr>
        <p:spPr>
          <a:xfrm>
            <a:off x="2397557" y="2045900"/>
            <a:ext cx="114300" cy="114300"/>
          </a:xfrm>
          <a:prstGeom prst="ellipse">
            <a:avLst/>
          </a:prstGeom>
          <a:solidFill>
            <a:srgbClr val="FBEFD0"/>
          </a:solidFill>
          <a:ln w="12700">
            <a:solidFill>
              <a:srgbClr val="FBEFD0"/>
            </a:solidFill>
            <a:prstDash val="solid"/>
          </a:ln>
        </p:spPr>
      </p:sp>
      <p:sp>
        <p:nvSpPr>
          <p:cNvPr id="288" name="Shape 286"/>
          <p:cNvSpPr/>
          <p:nvPr/>
        </p:nvSpPr>
        <p:spPr>
          <a:xfrm>
            <a:off x="2426056" y="1986849"/>
            <a:ext cx="114300" cy="114300"/>
          </a:xfrm>
          <a:prstGeom prst="ellipse">
            <a:avLst/>
          </a:prstGeom>
          <a:solidFill>
            <a:srgbClr val="FBEFD0"/>
          </a:solidFill>
          <a:ln w="12700">
            <a:solidFill>
              <a:srgbClr val="FBEFD0"/>
            </a:solidFill>
            <a:prstDash val="solid"/>
          </a:ln>
        </p:spPr>
      </p:sp>
      <p:sp>
        <p:nvSpPr>
          <p:cNvPr id="289" name="Shape 287"/>
          <p:cNvSpPr/>
          <p:nvPr/>
        </p:nvSpPr>
        <p:spPr>
          <a:xfrm>
            <a:off x="2454554" y="1922211"/>
            <a:ext cx="114300" cy="114300"/>
          </a:xfrm>
          <a:prstGeom prst="ellipse">
            <a:avLst/>
          </a:prstGeom>
          <a:solidFill>
            <a:srgbClr val="FBEFD0"/>
          </a:solidFill>
          <a:ln w="12700">
            <a:solidFill>
              <a:srgbClr val="FBEFD0"/>
            </a:solidFill>
            <a:prstDash val="solid"/>
          </a:ln>
        </p:spPr>
      </p:sp>
      <p:sp>
        <p:nvSpPr>
          <p:cNvPr id="290" name="Shape 288"/>
          <p:cNvSpPr/>
          <p:nvPr/>
        </p:nvSpPr>
        <p:spPr>
          <a:xfrm>
            <a:off x="2483053" y="1863160"/>
            <a:ext cx="114300" cy="114300"/>
          </a:xfrm>
          <a:prstGeom prst="ellipse">
            <a:avLst/>
          </a:prstGeom>
          <a:solidFill>
            <a:srgbClr val="FBEFD0"/>
          </a:solidFill>
          <a:ln w="12700">
            <a:solidFill>
              <a:srgbClr val="FBEFD0"/>
            </a:solidFill>
            <a:prstDash val="solid"/>
          </a:ln>
        </p:spPr>
      </p:sp>
      <p:sp>
        <p:nvSpPr>
          <p:cNvPr id="291" name="Shape 289"/>
          <p:cNvSpPr/>
          <p:nvPr/>
        </p:nvSpPr>
        <p:spPr>
          <a:xfrm>
            <a:off x="2511552" y="1819908"/>
            <a:ext cx="114300" cy="114300"/>
          </a:xfrm>
          <a:prstGeom prst="ellipse">
            <a:avLst/>
          </a:prstGeom>
          <a:solidFill>
            <a:srgbClr val="FBEFD0"/>
          </a:solidFill>
          <a:ln w="12700">
            <a:solidFill>
              <a:srgbClr val="FBEFD0"/>
            </a:solidFill>
            <a:prstDash val="solid"/>
          </a:ln>
        </p:spPr>
      </p:sp>
      <p:sp>
        <p:nvSpPr>
          <p:cNvPr id="292" name="Shape 290"/>
          <p:cNvSpPr/>
          <p:nvPr/>
        </p:nvSpPr>
        <p:spPr>
          <a:xfrm>
            <a:off x="2540051" y="1799934"/>
            <a:ext cx="114300" cy="114300"/>
          </a:xfrm>
          <a:prstGeom prst="ellipse">
            <a:avLst/>
          </a:prstGeom>
          <a:solidFill>
            <a:srgbClr val="FBEFD0"/>
          </a:solidFill>
          <a:ln w="12700">
            <a:solidFill>
              <a:srgbClr val="FBEFD0"/>
            </a:solidFill>
            <a:prstDash val="solid"/>
          </a:ln>
        </p:spPr>
      </p:sp>
      <p:sp>
        <p:nvSpPr>
          <p:cNvPr id="293" name="Shape 291"/>
          <p:cNvSpPr/>
          <p:nvPr/>
        </p:nvSpPr>
        <p:spPr>
          <a:xfrm>
            <a:off x="2568550" y="1806690"/>
            <a:ext cx="114300" cy="114300"/>
          </a:xfrm>
          <a:prstGeom prst="ellipse">
            <a:avLst/>
          </a:prstGeom>
          <a:solidFill>
            <a:srgbClr val="FBEFD0"/>
          </a:solidFill>
          <a:ln w="12700">
            <a:solidFill>
              <a:srgbClr val="FBEFD0"/>
            </a:solidFill>
            <a:prstDash val="solid"/>
          </a:ln>
        </p:spPr>
      </p:sp>
      <p:sp>
        <p:nvSpPr>
          <p:cNvPr id="294" name="Shape 292"/>
          <p:cNvSpPr/>
          <p:nvPr/>
        </p:nvSpPr>
        <p:spPr>
          <a:xfrm>
            <a:off x="2597048" y="1839010"/>
            <a:ext cx="114300" cy="114300"/>
          </a:xfrm>
          <a:prstGeom prst="ellipse">
            <a:avLst/>
          </a:prstGeom>
          <a:solidFill>
            <a:srgbClr val="FBEFD0"/>
          </a:solidFill>
          <a:ln w="12700">
            <a:solidFill>
              <a:srgbClr val="FBEFD0"/>
            </a:solidFill>
            <a:prstDash val="solid"/>
          </a:ln>
        </p:spPr>
      </p:sp>
      <p:sp>
        <p:nvSpPr>
          <p:cNvPr id="295" name="Shape 293"/>
          <p:cNvSpPr/>
          <p:nvPr/>
        </p:nvSpPr>
        <p:spPr>
          <a:xfrm>
            <a:off x="2625547" y="1891304"/>
            <a:ext cx="114300" cy="114300"/>
          </a:xfrm>
          <a:prstGeom prst="ellipse">
            <a:avLst/>
          </a:prstGeom>
          <a:solidFill>
            <a:srgbClr val="FBEFD0"/>
          </a:solidFill>
          <a:ln w="12700">
            <a:solidFill>
              <a:srgbClr val="FBEFD0"/>
            </a:solidFill>
            <a:prstDash val="solid"/>
          </a:ln>
        </p:spPr>
      </p:sp>
      <p:sp>
        <p:nvSpPr>
          <p:cNvPr id="296" name="Shape 294"/>
          <p:cNvSpPr/>
          <p:nvPr/>
        </p:nvSpPr>
        <p:spPr>
          <a:xfrm>
            <a:off x="2654046" y="1954530"/>
            <a:ext cx="114300" cy="114300"/>
          </a:xfrm>
          <a:prstGeom prst="ellipse">
            <a:avLst/>
          </a:prstGeom>
          <a:solidFill>
            <a:srgbClr val="FBEFD0"/>
          </a:solidFill>
          <a:ln w="12700">
            <a:solidFill>
              <a:srgbClr val="FBEFD0"/>
            </a:solidFill>
            <a:prstDash val="solid"/>
          </a:ln>
        </p:spPr>
      </p:sp>
      <p:sp>
        <p:nvSpPr>
          <p:cNvPr id="297" name="Shape 295"/>
          <p:cNvSpPr/>
          <p:nvPr/>
        </p:nvSpPr>
        <p:spPr>
          <a:xfrm>
            <a:off x="2682545" y="2017756"/>
            <a:ext cx="114300" cy="114300"/>
          </a:xfrm>
          <a:prstGeom prst="ellipse">
            <a:avLst/>
          </a:prstGeom>
          <a:solidFill>
            <a:srgbClr val="FBEFD0"/>
          </a:solidFill>
          <a:ln w="12700">
            <a:solidFill>
              <a:srgbClr val="FBEFD0"/>
            </a:solidFill>
            <a:prstDash val="solid"/>
          </a:ln>
        </p:spPr>
      </p:sp>
      <p:sp>
        <p:nvSpPr>
          <p:cNvPr id="298" name="Shape 296"/>
          <p:cNvSpPr/>
          <p:nvPr/>
        </p:nvSpPr>
        <p:spPr>
          <a:xfrm>
            <a:off x="2711044" y="2070050"/>
            <a:ext cx="114300" cy="114300"/>
          </a:xfrm>
          <a:prstGeom prst="ellipse">
            <a:avLst/>
          </a:prstGeom>
          <a:solidFill>
            <a:srgbClr val="FBEFD0"/>
          </a:solidFill>
          <a:ln w="12700">
            <a:solidFill>
              <a:srgbClr val="FBEFD0"/>
            </a:solidFill>
            <a:prstDash val="solid"/>
          </a:ln>
        </p:spPr>
      </p:sp>
      <p:sp>
        <p:nvSpPr>
          <p:cNvPr id="299" name="Shape 297"/>
          <p:cNvSpPr/>
          <p:nvPr/>
        </p:nvSpPr>
        <p:spPr>
          <a:xfrm>
            <a:off x="2739542" y="2102370"/>
            <a:ext cx="114300" cy="114300"/>
          </a:xfrm>
          <a:prstGeom prst="ellipse">
            <a:avLst/>
          </a:prstGeom>
          <a:solidFill>
            <a:srgbClr val="FBEFD0"/>
          </a:solidFill>
          <a:ln w="12700">
            <a:solidFill>
              <a:srgbClr val="FBEFD0"/>
            </a:solidFill>
            <a:prstDash val="solid"/>
          </a:ln>
        </p:spPr>
      </p:sp>
      <p:sp>
        <p:nvSpPr>
          <p:cNvPr id="300" name="Shape 298"/>
          <p:cNvSpPr/>
          <p:nvPr/>
        </p:nvSpPr>
        <p:spPr>
          <a:xfrm>
            <a:off x="2768041" y="2109126"/>
            <a:ext cx="114300" cy="114300"/>
          </a:xfrm>
          <a:prstGeom prst="ellipse">
            <a:avLst/>
          </a:prstGeom>
          <a:solidFill>
            <a:srgbClr val="FBEFD0"/>
          </a:solidFill>
          <a:ln w="12700">
            <a:solidFill>
              <a:srgbClr val="FBEFD0"/>
            </a:solidFill>
            <a:prstDash val="solid"/>
          </a:ln>
        </p:spPr>
      </p:sp>
      <p:sp>
        <p:nvSpPr>
          <p:cNvPr id="301" name="Shape 299"/>
          <p:cNvSpPr/>
          <p:nvPr/>
        </p:nvSpPr>
        <p:spPr>
          <a:xfrm>
            <a:off x="2796540" y="2089152"/>
            <a:ext cx="114300" cy="114300"/>
          </a:xfrm>
          <a:prstGeom prst="ellipse">
            <a:avLst/>
          </a:prstGeom>
          <a:solidFill>
            <a:srgbClr val="FBEFD0"/>
          </a:solidFill>
          <a:ln w="12700">
            <a:solidFill>
              <a:srgbClr val="FBEFD0"/>
            </a:solidFill>
            <a:prstDash val="solid"/>
          </a:ln>
        </p:spPr>
      </p:sp>
      <p:sp>
        <p:nvSpPr>
          <p:cNvPr id="302" name="Shape 300"/>
          <p:cNvSpPr/>
          <p:nvPr/>
        </p:nvSpPr>
        <p:spPr>
          <a:xfrm>
            <a:off x="2825039" y="2045900"/>
            <a:ext cx="114300" cy="114300"/>
          </a:xfrm>
          <a:prstGeom prst="ellipse">
            <a:avLst/>
          </a:prstGeom>
          <a:solidFill>
            <a:srgbClr val="FBEFD0"/>
          </a:solidFill>
          <a:ln w="12700">
            <a:solidFill>
              <a:srgbClr val="FBEFD0"/>
            </a:solidFill>
            <a:prstDash val="solid"/>
          </a:ln>
        </p:spPr>
      </p:sp>
      <p:sp>
        <p:nvSpPr>
          <p:cNvPr id="303" name="Shape 301"/>
          <p:cNvSpPr/>
          <p:nvPr/>
        </p:nvSpPr>
        <p:spPr>
          <a:xfrm>
            <a:off x="2853538" y="1986849"/>
            <a:ext cx="114300" cy="114300"/>
          </a:xfrm>
          <a:prstGeom prst="ellipse">
            <a:avLst/>
          </a:prstGeom>
          <a:solidFill>
            <a:srgbClr val="FBEFD0"/>
          </a:solidFill>
          <a:ln w="12700">
            <a:solidFill>
              <a:srgbClr val="FBEFD0"/>
            </a:solidFill>
            <a:prstDash val="solid"/>
          </a:ln>
        </p:spPr>
      </p:sp>
      <p:sp>
        <p:nvSpPr>
          <p:cNvPr id="304" name="Shape 302"/>
          <p:cNvSpPr/>
          <p:nvPr/>
        </p:nvSpPr>
        <p:spPr>
          <a:xfrm>
            <a:off x="2882036" y="1922211"/>
            <a:ext cx="114300" cy="114300"/>
          </a:xfrm>
          <a:prstGeom prst="ellipse">
            <a:avLst/>
          </a:prstGeom>
          <a:solidFill>
            <a:srgbClr val="FBEFD0"/>
          </a:solidFill>
          <a:ln w="12700">
            <a:solidFill>
              <a:srgbClr val="FBEFD0"/>
            </a:solidFill>
            <a:prstDash val="solid"/>
          </a:ln>
        </p:spPr>
      </p:sp>
      <p:sp>
        <p:nvSpPr>
          <p:cNvPr id="305" name="Shape 303"/>
          <p:cNvSpPr/>
          <p:nvPr/>
        </p:nvSpPr>
        <p:spPr>
          <a:xfrm>
            <a:off x="2910535" y="1863160"/>
            <a:ext cx="114300" cy="114300"/>
          </a:xfrm>
          <a:prstGeom prst="ellipse">
            <a:avLst/>
          </a:prstGeom>
          <a:solidFill>
            <a:srgbClr val="FBEFD0"/>
          </a:solidFill>
          <a:ln w="12700">
            <a:solidFill>
              <a:srgbClr val="FBEFD0"/>
            </a:solidFill>
            <a:prstDash val="solid"/>
          </a:ln>
        </p:spPr>
      </p:sp>
      <p:sp>
        <p:nvSpPr>
          <p:cNvPr id="306" name="Shape 304"/>
          <p:cNvSpPr/>
          <p:nvPr/>
        </p:nvSpPr>
        <p:spPr>
          <a:xfrm>
            <a:off x="2939034" y="1819908"/>
            <a:ext cx="114300" cy="114300"/>
          </a:xfrm>
          <a:prstGeom prst="ellipse">
            <a:avLst/>
          </a:prstGeom>
          <a:solidFill>
            <a:srgbClr val="FBEFD0"/>
          </a:solidFill>
          <a:ln w="12700">
            <a:solidFill>
              <a:srgbClr val="FBEFD0"/>
            </a:solidFill>
            <a:prstDash val="solid"/>
          </a:ln>
        </p:spPr>
      </p:sp>
      <p:sp>
        <p:nvSpPr>
          <p:cNvPr id="307" name="Shape 305"/>
          <p:cNvSpPr/>
          <p:nvPr/>
        </p:nvSpPr>
        <p:spPr>
          <a:xfrm>
            <a:off x="2967533" y="1799934"/>
            <a:ext cx="114300" cy="114300"/>
          </a:xfrm>
          <a:prstGeom prst="ellipse">
            <a:avLst/>
          </a:prstGeom>
          <a:solidFill>
            <a:srgbClr val="FBEFD0"/>
          </a:solidFill>
          <a:ln w="12700">
            <a:solidFill>
              <a:srgbClr val="FBEFD0"/>
            </a:solidFill>
            <a:prstDash val="solid"/>
          </a:ln>
        </p:spPr>
      </p:sp>
      <p:sp>
        <p:nvSpPr>
          <p:cNvPr id="308" name="Shape 306"/>
          <p:cNvSpPr/>
          <p:nvPr/>
        </p:nvSpPr>
        <p:spPr>
          <a:xfrm>
            <a:off x="2996032" y="1806690"/>
            <a:ext cx="114300" cy="114300"/>
          </a:xfrm>
          <a:prstGeom prst="ellipse">
            <a:avLst/>
          </a:prstGeom>
          <a:solidFill>
            <a:srgbClr val="FBEFD0"/>
          </a:solidFill>
          <a:ln w="12700">
            <a:solidFill>
              <a:srgbClr val="FBEFD0"/>
            </a:solidFill>
            <a:prstDash val="solid"/>
          </a:ln>
        </p:spPr>
      </p:sp>
      <p:sp>
        <p:nvSpPr>
          <p:cNvPr id="309" name="Shape 307"/>
          <p:cNvSpPr/>
          <p:nvPr/>
        </p:nvSpPr>
        <p:spPr>
          <a:xfrm>
            <a:off x="3024530" y="1839010"/>
            <a:ext cx="114300" cy="114300"/>
          </a:xfrm>
          <a:prstGeom prst="ellipse">
            <a:avLst/>
          </a:prstGeom>
          <a:solidFill>
            <a:srgbClr val="FBEFD0"/>
          </a:solidFill>
          <a:ln w="12700">
            <a:solidFill>
              <a:srgbClr val="FBEFD0"/>
            </a:solidFill>
            <a:prstDash val="solid"/>
          </a:ln>
        </p:spPr>
      </p:sp>
      <p:sp>
        <p:nvSpPr>
          <p:cNvPr id="310" name="Shape 308"/>
          <p:cNvSpPr/>
          <p:nvPr/>
        </p:nvSpPr>
        <p:spPr>
          <a:xfrm>
            <a:off x="3053029" y="1891304"/>
            <a:ext cx="114300" cy="114300"/>
          </a:xfrm>
          <a:prstGeom prst="ellipse">
            <a:avLst/>
          </a:prstGeom>
          <a:solidFill>
            <a:srgbClr val="FBEFD0"/>
          </a:solidFill>
          <a:ln w="12700">
            <a:solidFill>
              <a:srgbClr val="FBEFD0"/>
            </a:solidFill>
            <a:prstDash val="solid"/>
          </a:ln>
        </p:spPr>
      </p:sp>
      <p:sp>
        <p:nvSpPr>
          <p:cNvPr id="311" name="Shape 309"/>
          <p:cNvSpPr/>
          <p:nvPr/>
        </p:nvSpPr>
        <p:spPr>
          <a:xfrm>
            <a:off x="3081528" y="1954530"/>
            <a:ext cx="114300" cy="114300"/>
          </a:xfrm>
          <a:prstGeom prst="ellipse">
            <a:avLst/>
          </a:prstGeom>
          <a:solidFill>
            <a:srgbClr val="FBEFD0"/>
          </a:solidFill>
          <a:ln w="12700">
            <a:solidFill>
              <a:srgbClr val="FBEFD0"/>
            </a:solidFill>
            <a:prstDash val="solid"/>
          </a:ln>
        </p:spPr>
      </p:sp>
      <p:sp>
        <p:nvSpPr>
          <p:cNvPr id="312" name="Shape 310"/>
          <p:cNvSpPr/>
          <p:nvPr/>
        </p:nvSpPr>
        <p:spPr>
          <a:xfrm>
            <a:off x="3110027" y="2017756"/>
            <a:ext cx="114300" cy="114300"/>
          </a:xfrm>
          <a:prstGeom prst="ellipse">
            <a:avLst/>
          </a:prstGeom>
          <a:solidFill>
            <a:srgbClr val="FBEFD0"/>
          </a:solidFill>
          <a:ln w="12700">
            <a:solidFill>
              <a:srgbClr val="FBEFD0"/>
            </a:solidFill>
            <a:prstDash val="solid"/>
          </a:ln>
        </p:spPr>
      </p:sp>
      <p:sp>
        <p:nvSpPr>
          <p:cNvPr id="313" name="Shape 311"/>
          <p:cNvSpPr/>
          <p:nvPr/>
        </p:nvSpPr>
        <p:spPr>
          <a:xfrm>
            <a:off x="3138526" y="2070050"/>
            <a:ext cx="114300" cy="114300"/>
          </a:xfrm>
          <a:prstGeom prst="ellipse">
            <a:avLst/>
          </a:prstGeom>
          <a:solidFill>
            <a:srgbClr val="FBEFD0"/>
          </a:solidFill>
          <a:ln w="12700">
            <a:solidFill>
              <a:srgbClr val="FBEFD0"/>
            </a:solidFill>
            <a:prstDash val="solid"/>
          </a:ln>
        </p:spPr>
      </p:sp>
      <p:sp>
        <p:nvSpPr>
          <p:cNvPr id="314" name="Shape 312"/>
          <p:cNvSpPr/>
          <p:nvPr/>
        </p:nvSpPr>
        <p:spPr>
          <a:xfrm>
            <a:off x="3167024" y="2102370"/>
            <a:ext cx="114300" cy="114300"/>
          </a:xfrm>
          <a:prstGeom prst="ellipse">
            <a:avLst/>
          </a:prstGeom>
          <a:solidFill>
            <a:srgbClr val="FBEFD0"/>
          </a:solidFill>
          <a:ln w="12700">
            <a:solidFill>
              <a:srgbClr val="FBEFD0"/>
            </a:solidFill>
            <a:prstDash val="solid"/>
          </a:ln>
        </p:spPr>
      </p:sp>
      <p:sp>
        <p:nvSpPr>
          <p:cNvPr id="315" name="Shape 313"/>
          <p:cNvSpPr/>
          <p:nvPr/>
        </p:nvSpPr>
        <p:spPr>
          <a:xfrm>
            <a:off x="3195523" y="2109126"/>
            <a:ext cx="114300" cy="114300"/>
          </a:xfrm>
          <a:prstGeom prst="ellipse">
            <a:avLst/>
          </a:prstGeom>
          <a:solidFill>
            <a:srgbClr val="FBEFD0"/>
          </a:solidFill>
          <a:ln w="12700">
            <a:solidFill>
              <a:srgbClr val="FBEFD0"/>
            </a:solidFill>
            <a:prstDash val="solid"/>
          </a:ln>
        </p:spPr>
      </p:sp>
      <p:sp>
        <p:nvSpPr>
          <p:cNvPr id="316" name="Shape 314"/>
          <p:cNvSpPr/>
          <p:nvPr/>
        </p:nvSpPr>
        <p:spPr>
          <a:xfrm>
            <a:off x="3224022" y="2089152"/>
            <a:ext cx="114300" cy="114300"/>
          </a:xfrm>
          <a:prstGeom prst="ellipse">
            <a:avLst/>
          </a:prstGeom>
          <a:solidFill>
            <a:srgbClr val="FBEFD0"/>
          </a:solidFill>
          <a:ln w="12700">
            <a:solidFill>
              <a:srgbClr val="FBEFD0"/>
            </a:solidFill>
            <a:prstDash val="solid"/>
          </a:ln>
        </p:spPr>
      </p:sp>
      <p:sp>
        <p:nvSpPr>
          <p:cNvPr id="317" name="Shape 315"/>
          <p:cNvSpPr/>
          <p:nvPr/>
        </p:nvSpPr>
        <p:spPr>
          <a:xfrm>
            <a:off x="3252521" y="2045900"/>
            <a:ext cx="114300" cy="114300"/>
          </a:xfrm>
          <a:prstGeom prst="ellipse">
            <a:avLst/>
          </a:prstGeom>
          <a:solidFill>
            <a:srgbClr val="FBEFD0"/>
          </a:solidFill>
          <a:ln w="12700">
            <a:solidFill>
              <a:srgbClr val="FBEFD0"/>
            </a:solidFill>
            <a:prstDash val="solid"/>
          </a:ln>
        </p:spPr>
      </p:sp>
      <p:sp>
        <p:nvSpPr>
          <p:cNvPr id="318" name="Shape 316"/>
          <p:cNvSpPr/>
          <p:nvPr/>
        </p:nvSpPr>
        <p:spPr>
          <a:xfrm>
            <a:off x="3281020" y="1986849"/>
            <a:ext cx="114300" cy="114300"/>
          </a:xfrm>
          <a:prstGeom prst="ellipse">
            <a:avLst/>
          </a:prstGeom>
          <a:solidFill>
            <a:srgbClr val="FBEFD0"/>
          </a:solidFill>
          <a:ln w="12700">
            <a:solidFill>
              <a:srgbClr val="FBEFD0"/>
            </a:solidFill>
            <a:prstDash val="solid"/>
          </a:ln>
        </p:spPr>
      </p:sp>
      <p:sp>
        <p:nvSpPr>
          <p:cNvPr id="319" name="Shape 317"/>
          <p:cNvSpPr/>
          <p:nvPr/>
        </p:nvSpPr>
        <p:spPr>
          <a:xfrm>
            <a:off x="3309518" y="1922211"/>
            <a:ext cx="114300" cy="114300"/>
          </a:xfrm>
          <a:prstGeom prst="ellipse">
            <a:avLst/>
          </a:prstGeom>
          <a:solidFill>
            <a:srgbClr val="FBEFD0"/>
          </a:solidFill>
          <a:ln w="12700">
            <a:solidFill>
              <a:srgbClr val="FBEFD0"/>
            </a:solidFill>
            <a:prstDash val="solid"/>
          </a:ln>
        </p:spPr>
      </p:sp>
      <p:sp>
        <p:nvSpPr>
          <p:cNvPr id="320" name="Shape 318"/>
          <p:cNvSpPr/>
          <p:nvPr/>
        </p:nvSpPr>
        <p:spPr>
          <a:xfrm>
            <a:off x="3338017" y="1863160"/>
            <a:ext cx="114300" cy="114300"/>
          </a:xfrm>
          <a:prstGeom prst="ellipse">
            <a:avLst/>
          </a:prstGeom>
          <a:solidFill>
            <a:srgbClr val="FBEFD0"/>
          </a:solidFill>
          <a:ln w="12700">
            <a:solidFill>
              <a:srgbClr val="FBEFD0"/>
            </a:solidFill>
            <a:prstDash val="solid"/>
          </a:ln>
        </p:spPr>
      </p:sp>
      <p:sp>
        <p:nvSpPr>
          <p:cNvPr id="321" name="Shape 319"/>
          <p:cNvSpPr/>
          <p:nvPr/>
        </p:nvSpPr>
        <p:spPr>
          <a:xfrm>
            <a:off x="3366516" y="1819908"/>
            <a:ext cx="114300" cy="114300"/>
          </a:xfrm>
          <a:prstGeom prst="ellipse">
            <a:avLst/>
          </a:prstGeom>
          <a:solidFill>
            <a:srgbClr val="FBEFD0"/>
          </a:solidFill>
          <a:ln w="12700">
            <a:solidFill>
              <a:srgbClr val="FBEFD0"/>
            </a:solidFill>
            <a:prstDash val="solid"/>
          </a:ln>
        </p:spPr>
      </p:sp>
      <p:sp>
        <p:nvSpPr>
          <p:cNvPr id="322" name="Shape 320"/>
          <p:cNvSpPr/>
          <p:nvPr/>
        </p:nvSpPr>
        <p:spPr>
          <a:xfrm>
            <a:off x="3395015" y="1799934"/>
            <a:ext cx="114300" cy="114300"/>
          </a:xfrm>
          <a:prstGeom prst="ellipse">
            <a:avLst/>
          </a:prstGeom>
          <a:solidFill>
            <a:srgbClr val="FBEFD0"/>
          </a:solidFill>
          <a:ln w="12700">
            <a:solidFill>
              <a:srgbClr val="FBEFD0"/>
            </a:solidFill>
            <a:prstDash val="solid"/>
          </a:ln>
        </p:spPr>
      </p:sp>
      <p:sp>
        <p:nvSpPr>
          <p:cNvPr id="323" name="Shape 321"/>
          <p:cNvSpPr/>
          <p:nvPr/>
        </p:nvSpPr>
        <p:spPr>
          <a:xfrm>
            <a:off x="3423514" y="1806690"/>
            <a:ext cx="114300" cy="114300"/>
          </a:xfrm>
          <a:prstGeom prst="ellipse">
            <a:avLst/>
          </a:prstGeom>
          <a:solidFill>
            <a:srgbClr val="FBEFD0"/>
          </a:solidFill>
          <a:ln w="12700">
            <a:solidFill>
              <a:srgbClr val="FBEFD0"/>
            </a:solidFill>
            <a:prstDash val="solid"/>
          </a:ln>
        </p:spPr>
      </p:sp>
      <p:sp>
        <p:nvSpPr>
          <p:cNvPr id="324" name="Shape 322"/>
          <p:cNvSpPr/>
          <p:nvPr/>
        </p:nvSpPr>
        <p:spPr>
          <a:xfrm>
            <a:off x="3452012" y="1839010"/>
            <a:ext cx="114300" cy="114300"/>
          </a:xfrm>
          <a:prstGeom prst="ellipse">
            <a:avLst/>
          </a:prstGeom>
          <a:solidFill>
            <a:srgbClr val="FBEFD0"/>
          </a:solidFill>
          <a:ln w="12700">
            <a:solidFill>
              <a:srgbClr val="FBEFD0"/>
            </a:solidFill>
            <a:prstDash val="solid"/>
          </a:ln>
        </p:spPr>
      </p:sp>
      <p:sp>
        <p:nvSpPr>
          <p:cNvPr id="325" name="Shape 323"/>
          <p:cNvSpPr/>
          <p:nvPr/>
        </p:nvSpPr>
        <p:spPr>
          <a:xfrm>
            <a:off x="3480511" y="1891304"/>
            <a:ext cx="114300" cy="114300"/>
          </a:xfrm>
          <a:prstGeom prst="ellipse">
            <a:avLst/>
          </a:prstGeom>
          <a:solidFill>
            <a:srgbClr val="FBEFD0"/>
          </a:solidFill>
          <a:ln w="12700">
            <a:solidFill>
              <a:srgbClr val="FBEFD0"/>
            </a:solidFill>
            <a:prstDash val="solid"/>
          </a:ln>
        </p:spPr>
      </p:sp>
      <p:sp>
        <p:nvSpPr>
          <p:cNvPr id="326" name="Shape 324"/>
          <p:cNvSpPr/>
          <p:nvPr/>
        </p:nvSpPr>
        <p:spPr>
          <a:xfrm>
            <a:off x="3509010" y="1954530"/>
            <a:ext cx="114300" cy="114300"/>
          </a:xfrm>
          <a:prstGeom prst="ellipse">
            <a:avLst/>
          </a:prstGeom>
          <a:solidFill>
            <a:srgbClr val="FBEFD0"/>
          </a:solidFill>
          <a:ln w="12700">
            <a:solidFill>
              <a:srgbClr val="FBEFD0"/>
            </a:solidFill>
            <a:prstDash val="solid"/>
          </a:ln>
        </p:spPr>
      </p:sp>
      <p:sp>
        <p:nvSpPr>
          <p:cNvPr id="327" name="Shape 325"/>
          <p:cNvSpPr/>
          <p:nvPr/>
        </p:nvSpPr>
        <p:spPr>
          <a:xfrm>
            <a:off x="3566160" y="2011680"/>
            <a:ext cx="91" cy="2560320"/>
          </a:xfrm>
          <a:prstGeom prst="line">
            <a:avLst/>
          </a:prstGeom>
          <a:noFill/>
          <a:ln w="152400">
            <a:solidFill>
              <a:srgbClr val="B8860B"/>
            </a:solidFill>
            <a:prstDash val="solid"/>
          </a:ln>
        </p:spPr>
      </p:sp>
      <p:sp>
        <p:nvSpPr>
          <p:cNvPr id="328" name="Shape 326"/>
          <p:cNvSpPr/>
          <p:nvPr/>
        </p:nvSpPr>
        <p:spPr>
          <a:xfrm>
            <a:off x="3566160" y="4572000"/>
            <a:ext cx="45720" cy="182880"/>
          </a:xfrm>
          <a:prstGeom prst="line">
            <a:avLst/>
          </a:prstGeom>
          <a:noFill/>
          <a:ln w="152400">
            <a:solidFill>
              <a:srgbClr val="B8860B"/>
            </a:solidFill>
            <a:prstDash val="solid"/>
          </a:ln>
        </p:spPr>
      </p:sp>
      <p:sp>
        <p:nvSpPr>
          <p:cNvPr id="329" name="Shape 327"/>
          <p:cNvSpPr/>
          <p:nvPr/>
        </p:nvSpPr>
        <p:spPr>
          <a:xfrm>
            <a:off x="3611880" y="4754880"/>
            <a:ext cx="182880" cy="91440"/>
          </a:xfrm>
          <a:prstGeom prst="line">
            <a:avLst/>
          </a:prstGeom>
          <a:noFill/>
          <a:ln w="152400">
            <a:solidFill>
              <a:srgbClr val="B8860B"/>
            </a:solidFill>
            <a:prstDash val="solid"/>
          </a:ln>
        </p:spPr>
      </p:sp>
      <p:sp>
        <p:nvSpPr>
          <p:cNvPr id="330" name="Shape 328"/>
          <p:cNvSpPr/>
          <p:nvPr/>
        </p:nvSpPr>
        <p:spPr>
          <a:xfrm>
            <a:off x="3794760" y="4846320"/>
            <a:ext cx="228600" cy="91"/>
          </a:xfrm>
          <a:prstGeom prst="line">
            <a:avLst/>
          </a:prstGeom>
          <a:noFill/>
          <a:ln w="152400">
            <a:solidFill>
              <a:srgbClr val="B8860B"/>
            </a:solidFill>
            <a:prstDash val="solid"/>
          </a:ln>
        </p:spPr>
      </p:sp>
      <p:sp>
        <p:nvSpPr>
          <p:cNvPr id="331" name="Shape 329"/>
          <p:cNvSpPr/>
          <p:nvPr/>
        </p:nvSpPr>
        <p:spPr>
          <a:xfrm flipV="1">
            <a:off x="4023360" y="4754880"/>
            <a:ext cx="182880" cy="91440"/>
          </a:xfrm>
          <a:prstGeom prst="line">
            <a:avLst/>
          </a:prstGeom>
          <a:noFill/>
          <a:ln w="152400">
            <a:solidFill>
              <a:srgbClr val="B8860B"/>
            </a:solidFill>
            <a:prstDash val="solid"/>
          </a:ln>
        </p:spPr>
      </p:sp>
      <p:sp>
        <p:nvSpPr>
          <p:cNvPr id="332" name="Shape 330"/>
          <p:cNvSpPr/>
          <p:nvPr/>
        </p:nvSpPr>
        <p:spPr>
          <a:xfrm flipV="1">
            <a:off x="4206240" y="4572000"/>
            <a:ext cx="45720" cy="182880"/>
          </a:xfrm>
          <a:prstGeom prst="line">
            <a:avLst/>
          </a:prstGeom>
          <a:noFill/>
          <a:ln w="152400">
            <a:solidFill>
              <a:srgbClr val="B8860B"/>
            </a:solidFill>
            <a:prstDash val="solid"/>
          </a:ln>
        </p:spPr>
      </p:sp>
      <p:sp>
        <p:nvSpPr>
          <p:cNvPr id="333" name="Shape 331"/>
          <p:cNvSpPr/>
          <p:nvPr/>
        </p:nvSpPr>
        <p:spPr>
          <a:xfrm flipV="1">
            <a:off x="4251960" y="2377440"/>
            <a:ext cx="91" cy="2194560"/>
          </a:xfrm>
          <a:prstGeom prst="line">
            <a:avLst/>
          </a:prstGeom>
          <a:noFill/>
          <a:ln w="152400">
            <a:solidFill>
              <a:srgbClr val="B8860B"/>
            </a:solidFill>
            <a:prstDash val="solid"/>
          </a:ln>
        </p:spPr>
      </p:sp>
      <p:sp>
        <p:nvSpPr>
          <p:cNvPr id="334" name="Shape 332"/>
          <p:cNvSpPr/>
          <p:nvPr/>
        </p:nvSpPr>
        <p:spPr>
          <a:xfrm>
            <a:off x="3489960" y="1935480"/>
            <a:ext cx="152400" cy="152400"/>
          </a:xfrm>
          <a:prstGeom prst="ellipse">
            <a:avLst/>
          </a:prstGeom>
          <a:solidFill>
            <a:srgbClr val="B8860B"/>
          </a:solidFill>
          <a:ln w="12700">
            <a:solidFill>
              <a:srgbClr val="B8860B"/>
            </a:solidFill>
            <a:prstDash val="solid"/>
          </a:ln>
        </p:spPr>
      </p:sp>
      <p:sp>
        <p:nvSpPr>
          <p:cNvPr id="335" name="Shape 333"/>
          <p:cNvSpPr/>
          <p:nvPr/>
        </p:nvSpPr>
        <p:spPr>
          <a:xfrm>
            <a:off x="3489960" y="4495800"/>
            <a:ext cx="152400" cy="152400"/>
          </a:xfrm>
          <a:prstGeom prst="ellipse">
            <a:avLst/>
          </a:prstGeom>
          <a:solidFill>
            <a:srgbClr val="B8860B"/>
          </a:solidFill>
          <a:ln w="12700">
            <a:solidFill>
              <a:srgbClr val="B8860B"/>
            </a:solidFill>
            <a:prstDash val="solid"/>
          </a:ln>
        </p:spPr>
      </p:sp>
      <p:sp>
        <p:nvSpPr>
          <p:cNvPr id="336" name="Shape 334"/>
          <p:cNvSpPr/>
          <p:nvPr/>
        </p:nvSpPr>
        <p:spPr>
          <a:xfrm>
            <a:off x="3535680" y="4678680"/>
            <a:ext cx="152400" cy="152400"/>
          </a:xfrm>
          <a:prstGeom prst="ellipse">
            <a:avLst/>
          </a:prstGeom>
          <a:solidFill>
            <a:srgbClr val="B8860B"/>
          </a:solidFill>
          <a:ln w="12700">
            <a:solidFill>
              <a:srgbClr val="B8860B"/>
            </a:solidFill>
            <a:prstDash val="solid"/>
          </a:ln>
        </p:spPr>
      </p:sp>
      <p:sp>
        <p:nvSpPr>
          <p:cNvPr id="337" name="Shape 335"/>
          <p:cNvSpPr/>
          <p:nvPr/>
        </p:nvSpPr>
        <p:spPr>
          <a:xfrm>
            <a:off x="3718560" y="4770120"/>
            <a:ext cx="152400" cy="152400"/>
          </a:xfrm>
          <a:prstGeom prst="ellipse">
            <a:avLst/>
          </a:prstGeom>
          <a:solidFill>
            <a:srgbClr val="B8860B"/>
          </a:solidFill>
          <a:ln w="12700">
            <a:solidFill>
              <a:srgbClr val="B8860B"/>
            </a:solidFill>
            <a:prstDash val="solid"/>
          </a:ln>
        </p:spPr>
      </p:sp>
      <p:sp>
        <p:nvSpPr>
          <p:cNvPr id="338" name="Shape 336"/>
          <p:cNvSpPr/>
          <p:nvPr/>
        </p:nvSpPr>
        <p:spPr>
          <a:xfrm>
            <a:off x="3947160" y="4770120"/>
            <a:ext cx="152400" cy="152400"/>
          </a:xfrm>
          <a:prstGeom prst="ellipse">
            <a:avLst/>
          </a:prstGeom>
          <a:solidFill>
            <a:srgbClr val="B8860B"/>
          </a:solidFill>
          <a:ln w="12700">
            <a:solidFill>
              <a:srgbClr val="B8860B"/>
            </a:solidFill>
            <a:prstDash val="solid"/>
          </a:ln>
        </p:spPr>
      </p:sp>
      <p:sp>
        <p:nvSpPr>
          <p:cNvPr id="339" name="Shape 337"/>
          <p:cNvSpPr/>
          <p:nvPr/>
        </p:nvSpPr>
        <p:spPr>
          <a:xfrm>
            <a:off x="4130040" y="4678680"/>
            <a:ext cx="152400" cy="152400"/>
          </a:xfrm>
          <a:prstGeom prst="ellipse">
            <a:avLst/>
          </a:prstGeom>
          <a:solidFill>
            <a:srgbClr val="B8860B"/>
          </a:solidFill>
          <a:ln w="12700">
            <a:solidFill>
              <a:srgbClr val="B8860B"/>
            </a:solidFill>
            <a:prstDash val="solid"/>
          </a:ln>
        </p:spPr>
      </p:sp>
      <p:sp>
        <p:nvSpPr>
          <p:cNvPr id="340" name="Shape 338"/>
          <p:cNvSpPr/>
          <p:nvPr/>
        </p:nvSpPr>
        <p:spPr>
          <a:xfrm>
            <a:off x="4175760" y="4495800"/>
            <a:ext cx="152400" cy="152400"/>
          </a:xfrm>
          <a:prstGeom prst="ellipse">
            <a:avLst/>
          </a:prstGeom>
          <a:solidFill>
            <a:srgbClr val="B8860B"/>
          </a:solidFill>
          <a:ln w="12700">
            <a:solidFill>
              <a:srgbClr val="B8860B"/>
            </a:solidFill>
            <a:prstDash val="solid"/>
          </a:ln>
        </p:spPr>
      </p:sp>
      <p:sp>
        <p:nvSpPr>
          <p:cNvPr id="341" name="Shape 339"/>
          <p:cNvSpPr/>
          <p:nvPr/>
        </p:nvSpPr>
        <p:spPr>
          <a:xfrm>
            <a:off x="4175760" y="2301240"/>
            <a:ext cx="152400" cy="152400"/>
          </a:xfrm>
          <a:prstGeom prst="ellipse">
            <a:avLst/>
          </a:prstGeom>
          <a:solidFill>
            <a:srgbClr val="B8860B"/>
          </a:solidFill>
          <a:ln w="12700">
            <a:solidFill>
              <a:srgbClr val="B8860B"/>
            </a:solidFill>
            <a:prstDash val="solid"/>
          </a:ln>
        </p:spPr>
      </p:sp>
      <p:sp>
        <p:nvSpPr>
          <p:cNvPr id="342" name="Shape 340"/>
          <p:cNvSpPr/>
          <p:nvPr/>
        </p:nvSpPr>
        <p:spPr>
          <a:xfrm>
            <a:off x="3566160" y="2011680"/>
            <a:ext cx="91" cy="2560320"/>
          </a:xfrm>
          <a:prstGeom prst="line">
            <a:avLst/>
          </a:prstGeom>
          <a:noFill/>
          <a:ln w="114300">
            <a:solidFill>
              <a:srgbClr val="FBEFD0"/>
            </a:solidFill>
            <a:prstDash val="solid"/>
          </a:ln>
        </p:spPr>
      </p:sp>
      <p:sp>
        <p:nvSpPr>
          <p:cNvPr id="343" name="Shape 341"/>
          <p:cNvSpPr/>
          <p:nvPr/>
        </p:nvSpPr>
        <p:spPr>
          <a:xfrm>
            <a:off x="3566160" y="4572000"/>
            <a:ext cx="45720" cy="182880"/>
          </a:xfrm>
          <a:prstGeom prst="line">
            <a:avLst/>
          </a:prstGeom>
          <a:noFill/>
          <a:ln w="114300">
            <a:solidFill>
              <a:srgbClr val="FBEFD0"/>
            </a:solidFill>
            <a:prstDash val="solid"/>
          </a:ln>
        </p:spPr>
      </p:sp>
      <p:sp>
        <p:nvSpPr>
          <p:cNvPr id="344" name="Shape 342"/>
          <p:cNvSpPr/>
          <p:nvPr/>
        </p:nvSpPr>
        <p:spPr>
          <a:xfrm>
            <a:off x="3611880" y="4754880"/>
            <a:ext cx="182880" cy="91440"/>
          </a:xfrm>
          <a:prstGeom prst="line">
            <a:avLst/>
          </a:prstGeom>
          <a:noFill/>
          <a:ln w="114300">
            <a:solidFill>
              <a:srgbClr val="FBEFD0"/>
            </a:solidFill>
            <a:prstDash val="solid"/>
          </a:ln>
        </p:spPr>
      </p:sp>
      <p:sp>
        <p:nvSpPr>
          <p:cNvPr id="345" name="Shape 343"/>
          <p:cNvSpPr/>
          <p:nvPr/>
        </p:nvSpPr>
        <p:spPr>
          <a:xfrm>
            <a:off x="3794760" y="4846320"/>
            <a:ext cx="228600" cy="91"/>
          </a:xfrm>
          <a:prstGeom prst="line">
            <a:avLst/>
          </a:prstGeom>
          <a:noFill/>
          <a:ln w="114300">
            <a:solidFill>
              <a:srgbClr val="FBEFD0"/>
            </a:solidFill>
            <a:prstDash val="solid"/>
          </a:ln>
        </p:spPr>
      </p:sp>
      <p:sp>
        <p:nvSpPr>
          <p:cNvPr id="346" name="Shape 344"/>
          <p:cNvSpPr/>
          <p:nvPr/>
        </p:nvSpPr>
        <p:spPr>
          <a:xfrm flipV="1">
            <a:off x="4023360" y="4754880"/>
            <a:ext cx="182880" cy="91440"/>
          </a:xfrm>
          <a:prstGeom prst="line">
            <a:avLst/>
          </a:prstGeom>
          <a:noFill/>
          <a:ln w="114300">
            <a:solidFill>
              <a:srgbClr val="FBEFD0"/>
            </a:solidFill>
            <a:prstDash val="solid"/>
          </a:ln>
        </p:spPr>
      </p:sp>
      <p:sp>
        <p:nvSpPr>
          <p:cNvPr id="347" name="Shape 345"/>
          <p:cNvSpPr/>
          <p:nvPr/>
        </p:nvSpPr>
        <p:spPr>
          <a:xfrm flipV="1">
            <a:off x="4206240" y="4572000"/>
            <a:ext cx="45720" cy="182880"/>
          </a:xfrm>
          <a:prstGeom prst="line">
            <a:avLst/>
          </a:prstGeom>
          <a:noFill/>
          <a:ln w="114300">
            <a:solidFill>
              <a:srgbClr val="FBEFD0"/>
            </a:solidFill>
            <a:prstDash val="solid"/>
          </a:ln>
        </p:spPr>
      </p:sp>
      <p:sp>
        <p:nvSpPr>
          <p:cNvPr id="348" name="Shape 346"/>
          <p:cNvSpPr/>
          <p:nvPr/>
        </p:nvSpPr>
        <p:spPr>
          <a:xfrm flipV="1">
            <a:off x="4251960" y="2377440"/>
            <a:ext cx="91" cy="2194560"/>
          </a:xfrm>
          <a:prstGeom prst="line">
            <a:avLst/>
          </a:prstGeom>
          <a:noFill/>
          <a:ln w="114300">
            <a:solidFill>
              <a:srgbClr val="FBEFD0"/>
            </a:solidFill>
            <a:prstDash val="solid"/>
          </a:ln>
        </p:spPr>
      </p:sp>
      <p:sp>
        <p:nvSpPr>
          <p:cNvPr id="349" name="Shape 347"/>
          <p:cNvSpPr/>
          <p:nvPr/>
        </p:nvSpPr>
        <p:spPr>
          <a:xfrm>
            <a:off x="3509010" y="1954530"/>
            <a:ext cx="114300" cy="114300"/>
          </a:xfrm>
          <a:prstGeom prst="ellipse">
            <a:avLst/>
          </a:prstGeom>
          <a:solidFill>
            <a:srgbClr val="FBEFD0"/>
          </a:solidFill>
          <a:ln w="12700">
            <a:solidFill>
              <a:srgbClr val="FBEFD0"/>
            </a:solidFill>
            <a:prstDash val="solid"/>
          </a:ln>
        </p:spPr>
      </p:sp>
      <p:sp>
        <p:nvSpPr>
          <p:cNvPr id="350" name="Shape 348"/>
          <p:cNvSpPr/>
          <p:nvPr/>
        </p:nvSpPr>
        <p:spPr>
          <a:xfrm>
            <a:off x="3509010" y="4514850"/>
            <a:ext cx="114300" cy="114300"/>
          </a:xfrm>
          <a:prstGeom prst="ellipse">
            <a:avLst/>
          </a:prstGeom>
          <a:solidFill>
            <a:srgbClr val="FBEFD0"/>
          </a:solidFill>
          <a:ln w="12700">
            <a:solidFill>
              <a:srgbClr val="FBEFD0"/>
            </a:solidFill>
            <a:prstDash val="solid"/>
          </a:ln>
        </p:spPr>
      </p:sp>
      <p:sp>
        <p:nvSpPr>
          <p:cNvPr id="351" name="Shape 349"/>
          <p:cNvSpPr/>
          <p:nvPr/>
        </p:nvSpPr>
        <p:spPr>
          <a:xfrm>
            <a:off x="3554730" y="4697730"/>
            <a:ext cx="114300" cy="114300"/>
          </a:xfrm>
          <a:prstGeom prst="ellipse">
            <a:avLst/>
          </a:prstGeom>
          <a:solidFill>
            <a:srgbClr val="FBEFD0"/>
          </a:solidFill>
          <a:ln w="12700">
            <a:solidFill>
              <a:srgbClr val="FBEFD0"/>
            </a:solidFill>
            <a:prstDash val="solid"/>
          </a:ln>
        </p:spPr>
      </p:sp>
      <p:sp>
        <p:nvSpPr>
          <p:cNvPr id="352" name="Shape 350"/>
          <p:cNvSpPr/>
          <p:nvPr/>
        </p:nvSpPr>
        <p:spPr>
          <a:xfrm>
            <a:off x="3737610" y="4789170"/>
            <a:ext cx="114300" cy="114300"/>
          </a:xfrm>
          <a:prstGeom prst="ellipse">
            <a:avLst/>
          </a:prstGeom>
          <a:solidFill>
            <a:srgbClr val="FBEFD0"/>
          </a:solidFill>
          <a:ln w="12700">
            <a:solidFill>
              <a:srgbClr val="FBEFD0"/>
            </a:solidFill>
            <a:prstDash val="solid"/>
          </a:ln>
        </p:spPr>
      </p:sp>
      <p:sp>
        <p:nvSpPr>
          <p:cNvPr id="353" name="Shape 351"/>
          <p:cNvSpPr/>
          <p:nvPr/>
        </p:nvSpPr>
        <p:spPr>
          <a:xfrm>
            <a:off x="3966210" y="4789170"/>
            <a:ext cx="114300" cy="114300"/>
          </a:xfrm>
          <a:prstGeom prst="ellipse">
            <a:avLst/>
          </a:prstGeom>
          <a:solidFill>
            <a:srgbClr val="FBEFD0"/>
          </a:solidFill>
          <a:ln w="12700">
            <a:solidFill>
              <a:srgbClr val="FBEFD0"/>
            </a:solidFill>
            <a:prstDash val="solid"/>
          </a:ln>
        </p:spPr>
      </p:sp>
      <p:sp>
        <p:nvSpPr>
          <p:cNvPr id="354" name="Shape 352"/>
          <p:cNvSpPr/>
          <p:nvPr/>
        </p:nvSpPr>
        <p:spPr>
          <a:xfrm>
            <a:off x="4149090" y="4697730"/>
            <a:ext cx="114300" cy="114300"/>
          </a:xfrm>
          <a:prstGeom prst="ellipse">
            <a:avLst/>
          </a:prstGeom>
          <a:solidFill>
            <a:srgbClr val="FBEFD0"/>
          </a:solidFill>
          <a:ln w="12700">
            <a:solidFill>
              <a:srgbClr val="FBEFD0"/>
            </a:solidFill>
            <a:prstDash val="solid"/>
          </a:ln>
        </p:spPr>
      </p:sp>
      <p:sp>
        <p:nvSpPr>
          <p:cNvPr id="355" name="Shape 353"/>
          <p:cNvSpPr/>
          <p:nvPr/>
        </p:nvSpPr>
        <p:spPr>
          <a:xfrm>
            <a:off x="4194810" y="4514850"/>
            <a:ext cx="114300" cy="114300"/>
          </a:xfrm>
          <a:prstGeom prst="ellipse">
            <a:avLst/>
          </a:prstGeom>
          <a:solidFill>
            <a:srgbClr val="FBEFD0"/>
          </a:solidFill>
          <a:ln w="12700">
            <a:solidFill>
              <a:srgbClr val="FBEFD0"/>
            </a:solidFill>
            <a:prstDash val="solid"/>
          </a:ln>
        </p:spPr>
      </p:sp>
      <p:sp>
        <p:nvSpPr>
          <p:cNvPr id="356" name="Shape 354"/>
          <p:cNvSpPr/>
          <p:nvPr/>
        </p:nvSpPr>
        <p:spPr>
          <a:xfrm>
            <a:off x="4194810" y="2320290"/>
            <a:ext cx="114300" cy="114300"/>
          </a:xfrm>
          <a:prstGeom prst="ellipse">
            <a:avLst/>
          </a:prstGeom>
          <a:solidFill>
            <a:srgbClr val="FBEFD0"/>
          </a:solidFill>
          <a:ln w="12700">
            <a:solidFill>
              <a:srgbClr val="FBEFD0"/>
            </a:solidFill>
            <a:prstDash val="solid"/>
          </a:ln>
        </p:spPr>
      </p:sp>
      <p:sp>
        <p:nvSpPr>
          <p:cNvPr id="357" name="Shape 355"/>
          <p:cNvSpPr/>
          <p:nvPr/>
        </p:nvSpPr>
        <p:spPr>
          <a:xfrm>
            <a:off x="4251960" y="2377440"/>
            <a:ext cx="21336" cy="42385"/>
          </a:xfrm>
          <a:prstGeom prst="line">
            <a:avLst/>
          </a:prstGeom>
          <a:noFill/>
          <a:ln w="152400">
            <a:solidFill>
              <a:srgbClr val="B8860B"/>
            </a:solidFill>
            <a:prstDash val="solid"/>
          </a:ln>
        </p:spPr>
      </p:sp>
      <p:sp>
        <p:nvSpPr>
          <p:cNvPr id="358" name="Shape 356"/>
          <p:cNvSpPr/>
          <p:nvPr/>
        </p:nvSpPr>
        <p:spPr>
          <a:xfrm>
            <a:off x="4273296" y="2419825"/>
            <a:ext cx="21336" cy="38236"/>
          </a:xfrm>
          <a:prstGeom prst="line">
            <a:avLst/>
          </a:prstGeom>
          <a:noFill/>
          <a:ln w="152400">
            <a:solidFill>
              <a:srgbClr val="B8860B"/>
            </a:solidFill>
            <a:prstDash val="solid"/>
          </a:ln>
        </p:spPr>
      </p:sp>
      <p:sp>
        <p:nvSpPr>
          <p:cNvPr id="359" name="Shape 357"/>
          <p:cNvSpPr/>
          <p:nvPr/>
        </p:nvSpPr>
        <p:spPr>
          <a:xfrm>
            <a:off x="4294632" y="2458061"/>
            <a:ext cx="21336" cy="30344"/>
          </a:xfrm>
          <a:prstGeom prst="line">
            <a:avLst/>
          </a:prstGeom>
          <a:noFill/>
          <a:ln w="152400">
            <a:solidFill>
              <a:srgbClr val="B8860B"/>
            </a:solidFill>
            <a:prstDash val="solid"/>
          </a:ln>
        </p:spPr>
      </p:sp>
      <p:sp>
        <p:nvSpPr>
          <p:cNvPr id="360" name="Shape 358"/>
          <p:cNvSpPr/>
          <p:nvPr/>
        </p:nvSpPr>
        <p:spPr>
          <a:xfrm>
            <a:off x="4315968" y="2488405"/>
            <a:ext cx="21336" cy="19482"/>
          </a:xfrm>
          <a:prstGeom prst="line">
            <a:avLst/>
          </a:prstGeom>
          <a:noFill/>
          <a:ln w="152400">
            <a:solidFill>
              <a:srgbClr val="B8860B"/>
            </a:solidFill>
            <a:prstDash val="solid"/>
          </a:ln>
        </p:spPr>
      </p:sp>
      <p:sp>
        <p:nvSpPr>
          <p:cNvPr id="361" name="Shape 359"/>
          <p:cNvSpPr/>
          <p:nvPr/>
        </p:nvSpPr>
        <p:spPr>
          <a:xfrm>
            <a:off x="4337304" y="2507887"/>
            <a:ext cx="21336" cy="6713"/>
          </a:xfrm>
          <a:prstGeom prst="line">
            <a:avLst/>
          </a:prstGeom>
          <a:noFill/>
          <a:ln w="152400">
            <a:solidFill>
              <a:srgbClr val="B8860B"/>
            </a:solidFill>
            <a:prstDash val="solid"/>
          </a:ln>
        </p:spPr>
      </p:sp>
      <p:sp>
        <p:nvSpPr>
          <p:cNvPr id="362" name="Shape 360"/>
          <p:cNvSpPr/>
          <p:nvPr/>
        </p:nvSpPr>
        <p:spPr>
          <a:xfrm flipV="1">
            <a:off x="4358640" y="2507887"/>
            <a:ext cx="21336" cy="6713"/>
          </a:xfrm>
          <a:prstGeom prst="line">
            <a:avLst/>
          </a:prstGeom>
          <a:noFill/>
          <a:ln w="152400">
            <a:solidFill>
              <a:srgbClr val="B8860B"/>
            </a:solidFill>
            <a:prstDash val="solid"/>
          </a:ln>
        </p:spPr>
      </p:sp>
      <p:sp>
        <p:nvSpPr>
          <p:cNvPr id="363" name="Shape 361"/>
          <p:cNvSpPr/>
          <p:nvPr/>
        </p:nvSpPr>
        <p:spPr>
          <a:xfrm flipV="1">
            <a:off x="4379976" y="2488405"/>
            <a:ext cx="21336" cy="19482"/>
          </a:xfrm>
          <a:prstGeom prst="line">
            <a:avLst/>
          </a:prstGeom>
          <a:noFill/>
          <a:ln w="152400">
            <a:solidFill>
              <a:srgbClr val="B8860B"/>
            </a:solidFill>
            <a:prstDash val="solid"/>
          </a:ln>
        </p:spPr>
      </p:sp>
      <p:sp>
        <p:nvSpPr>
          <p:cNvPr id="364" name="Shape 362"/>
          <p:cNvSpPr/>
          <p:nvPr/>
        </p:nvSpPr>
        <p:spPr>
          <a:xfrm flipV="1">
            <a:off x="4401312" y="2458061"/>
            <a:ext cx="21336" cy="30344"/>
          </a:xfrm>
          <a:prstGeom prst="line">
            <a:avLst/>
          </a:prstGeom>
          <a:noFill/>
          <a:ln w="152400">
            <a:solidFill>
              <a:srgbClr val="B8860B"/>
            </a:solidFill>
            <a:prstDash val="solid"/>
          </a:ln>
        </p:spPr>
      </p:sp>
      <p:sp>
        <p:nvSpPr>
          <p:cNvPr id="365" name="Shape 363"/>
          <p:cNvSpPr/>
          <p:nvPr/>
        </p:nvSpPr>
        <p:spPr>
          <a:xfrm flipV="1">
            <a:off x="4422648" y="2419825"/>
            <a:ext cx="21336" cy="38236"/>
          </a:xfrm>
          <a:prstGeom prst="line">
            <a:avLst/>
          </a:prstGeom>
          <a:noFill/>
          <a:ln w="152400">
            <a:solidFill>
              <a:srgbClr val="B8860B"/>
            </a:solidFill>
            <a:prstDash val="solid"/>
          </a:ln>
        </p:spPr>
      </p:sp>
      <p:sp>
        <p:nvSpPr>
          <p:cNvPr id="366" name="Shape 364"/>
          <p:cNvSpPr/>
          <p:nvPr/>
        </p:nvSpPr>
        <p:spPr>
          <a:xfrm flipV="1">
            <a:off x="4443984" y="2377440"/>
            <a:ext cx="21336" cy="42385"/>
          </a:xfrm>
          <a:prstGeom prst="line">
            <a:avLst/>
          </a:prstGeom>
          <a:noFill/>
          <a:ln w="152400">
            <a:solidFill>
              <a:srgbClr val="B8860B"/>
            </a:solidFill>
            <a:prstDash val="solid"/>
          </a:ln>
        </p:spPr>
      </p:sp>
      <p:sp>
        <p:nvSpPr>
          <p:cNvPr id="367" name="Shape 365"/>
          <p:cNvSpPr/>
          <p:nvPr/>
        </p:nvSpPr>
        <p:spPr>
          <a:xfrm flipV="1">
            <a:off x="4465320" y="2335055"/>
            <a:ext cx="21336" cy="42385"/>
          </a:xfrm>
          <a:prstGeom prst="line">
            <a:avLst/>
          </a:prstGeom>
          <a:noFill/>
          <a:ln w="152400">
            <a:solidFill>
              <a:srgbClr val="B8860B"/>
            </a:solidFill>
            <a:prstDash val="solid"/>
          </a:ln>
        </p:spPr>
      </p:sp>
      <p:sp>
        <p:nvSpPr>
          <p:cNvPr id="368" name="Shape 366"/>
          <p:cNvSpPr/>
          <p:nvPr/>
        </p:nvSpPr>
        <p:spPr>
          <a:xfrm flipV="1">
            <a:off x="4486656" y="2296819"/>
            <a:ext cx="21336" cy="38236"/>
          </a:xfrm>
          <a:prstGeom prst="line">
            <a:avLst/>
          </a:prstGeom>
          <a:noFill/>
          <a:ln w="152400">
            <a:solidFill>
              <a:srgbClr val="B8860B"/>
            </a:solidFill>
            <a:prstDash val="solid"/>
          </a:ln>
        </p:spPr>
      </p:sp>
      <p:sp>
        <p:nvSpPr>
          <p:cNvPr id="369" name="Shape 367"/>
          <p:cNvSpPr/>
          <p:nvPr/>
        </p:nvSpPr>
        <p:spPr>
          <a:xfrm flipV="1">
            <a:off x="4507992" y="2266475"/>
            <a:ext cx="21336" cy="30344"/>
          </a:xfrm>
          <a:prstGeom prst="line">
            <a:avLst/>
          </a:prstGeom>
          <a:noFill/>
          <a:ln w="152400">
            <a:solidFill>
              <a:srgbClr val="B8860B"/>
            </a:solidFill>
            <a:prstDash val="solid"/>
          </a:ln>
        </p:spPr>
      </p:sp>
      <p:sp>
        <p:nvSpPr>
          <p:cNvPr id="370" name="Shape 368"/>
          <p:cNvSpPr/>
          <p:nvPr/>
        </p:nvSpPr>
        <p:spPr>
          <a:xfrm flipV="1">
            <a:off x="4529328" y="2246993"/>
            <a:ext cx="21336" cy="19482"/>
          </a:xfrm>
          <a:prstGeom prst="line">
            <a:avLst/>
          </a:prstGeom>
          <a:noFill/>
          <a:ln w="152400">
            <a:solidFill>
              <a:srgbClr val="B8860B"/>
            </a:solidFill>
            <a:prstDash val="solid"/>
          </a:ln>
        </p:spPr>
      </p:sp>
      <p:sp>
        <p:nvSpPr>
          <p:cNvPr id="371" name="Shape 369"/>
          <p:cNvSpPr/>
          <p:nvPr/>
        </p:nvSpPr>
        <p:spPr>
          <a:xfrm flipV="1">
            <a:off x="4550664" y="2240280"/>
            <a:ext cx="21336" cy="6713"/>
          </a:xfrm>
          <a:prstGeom prst="line">
            <a:avLst/>
          </a:prstGeom>
          <a:noFill/>
          <a:ln w="152400">
            <a:solidFill>
              <a:srgbClr val="B8860B"/>
            </a:solidFill>
            <a:prstDash val="solid"/>
          </a:ln>
        </p:spPr>
      </p:sp>
      <p:sp>
        <p:nvSpPr>
          <p:cNvPr id="372" name="Shape 370"/>
          <p:cNvSpPr/>
          <p:nvPr/>
        </p:nvSpPr>
        <p:spPr>
          <a:xfrm>
            <a:off x="4572000" y="2240280"/>
            <a:ext cx="21336" cy="6713"/>
          </a:xfrm>
          <a:prstGeom prst="line">
            <a:avLst/>
          </a:prstGeom>
          <a:noFill/>
          <a:ln w="152400">
            <a:solidFill>
              <a:srgbClr val="B8860B"/>
            </a:solidFill>
            <a:prstDash val="solid"/>
          </a:ln>
        </p:spPr>
      </p:sp>
      <p:sp>
        <p:nvSpPr>
          <p:cNvPr id="373" name="Shape 371"/>
          <p:cNvSpPr/>
          <p:nvPr/>
        </p:nvSpPr>
        <p:spPr>
          <a:xfrm>
            <a:off x="4593336" y="2246993"/>
            <a:ext cx="21336" cy="19482"/>
          </a:xfrm>
          <a:prstGeom prst="line">
            <a:avLst/>
          </a:prstGeom>
          <a:noFill/>
          <a:ln w="152400">
            <a:solidFill>
              <a:srgbClr val="B8860B"/>
            </a:solidFill>
            <a:prstDash val="solid"/>
          </a:ln>
        </p:spPr>
      </p:sp>
      <p:sp>
        <p:nvSpPr>
          <p:cNvPr id="374" name="Shape 372"/>
          <p:cNvSpPr/>
          <p:nvPr/>
        </p:nvSpPr>
        <p:spPr>
          <a:xfrm>
            <a:off x="4614672" y="2266475"/>
            <a:ext cx="21336" cy="30344"/>
          </a:xfrm>
          <a:prstGeom prst="line">
            <a:avLst/>
          </a:prstGeom>
          <a:noFill/>
          <a:ln w="152400">
            <a:solidFill>
              <a:srgbClr val="B8860B"/>
            </a:solidFill>
            <a:prstDash val="solid"/>
          </a:ln>
        </p:spPr>
      </p:sp>
      <p:sp>
        <p:nvSpPr>
          <p:cNvPr id="375" name="Shape 373"/>
          <p:cNvSpPr/>
          <p:nvPr/>
        </p:nvSpPr>
        <p:spPr>
          <a:xfrm>
            <a:off x="4636008" y="2296819"/>
            <a:ext cx="21336" cy="38236"/>
          </a:xfrm>
          <a:prstGeom prst="line">
            <a:avLst/>
          </a:prstGeom>
          <a:noFill/>
          <a:ln w="152400">
            <a:solidFill>
              <a:srgbClr val="B8860B"/>
            </a:solidFill>
            <a:prstDash val="solid"/>
          </a:ln>
        </p:spPr>
      </p:sp>
      <p:sp>
        <p:nvSpPr>
          <p:cNvPr id="376" name="Shape 374"/>
          <p:cNvSpPr/>
          <p:nvPr/>
        </p:nvSpPr>
        <p:spPr>
          <a:xfrm>
            <a:off x="4657344" y="2335055"/>
            <a:ext cx="21336" cy="42385"/>
          </a:xfrm>
          <a:prstGeom prst="line">
            <a:avLst/>
          </a:prstGeom>
          <a:noFill/>
          <a:ln w="152400">
            <a:solidFill>
              <a:srgbClr val="B8860B"/>
            </a:solidFill>
            <a:prstDash val="solid"/>
          </a:ln>
        </p:spPr>
      </p:sp>
      <p:sp>
        <p:nvSpPr>
          <p:cNvPr id="377" name="Shape 375"/>
          <p:cNvSpPr/>
          <p:nvPr/>
        </p:nvSpPr>
        <p:spPr>
          <a:xfrm>
            <a:off x="4678680" y="2377440"/>
            <a:ext cx="21336" cy="42385"/>
          </a:xfrm>
          <a:prstGeom prst="line">
            <a:avLst/>
          </a:prstGeom>
          <a:noFill/>
          <a:ln w="152400">
            <a:solidFill>
              <a:srgbClr val="B8860B"/>
            </a:solidFill>
            <a:prstDash val="solid"/>
          </a:ln>
        </p:spPr>
      </p:sp>
      <p:sp>
        <p:nvSpPr>
          <p:cNvPr id="378" name="Shape 376"/>
          <p:cNvSpPr/>
          <p:nvPr/>
        </p:nvSpPr>
        <p:spPr>
          <a:xfrm>
            <a:off x="4700016" y="2419825"/>
            <a:ext cx="21336" cy="38236"/>
          </a:xfrm>
          <a:prstGeom prst="line">
            <a:avLst/>
          </a:prstGeom>
          <a:noFill/>
          <a:ln w="152400">
            <a:solidFill>
              <a:srgbClr val="B8860B"/>
            </a:solidFill>
            <a:prstDash val="solid"/>
          </a:ln>
        </p:spPr>
      </p:sp>
      <p:sp>
        <p:nvSpPr>
          <p:cNvPr id="379" name="Shape 377"/>
          <p:cNvSpPr/>
          <p:nvPr/>
        </p:nvSpPr>
        <p:spPr>
          <a:xfrm>
            <a:off x="4721352" y="2458061"/>
            <a:ext cx="21336" cy="30344"/>
          </a:xfrm>
          <a:prstGeom prst="line">
            <a:avLst/>
          </a:prstGeom>
          <a:noFill/>
          <a:ln w="152400">
            <a:solidFill>
              <a:srgbClr val="B8860B"/>
            </a:solidFill>
            <a:prstDash val="solid"/>
          </a:ln>
        </p:spPr>
      </p:sp>
      <p:sp>
        <p:nvSpPr>
          <p:cNvPr id="380" name="Shape 378"/>
          <p:cNvSpPr/>
          <p:nvPr/>
        </p:nvSpPr>
        <p:spPr>
          <a:xfrm>
            <a:off x="4742688" y="2488405"/>
            <a:ext cx="21336" cy="19482"/>
          </a:xfrm>
          <a:prstGeom prst="line">
            <a:avLst/>
          </a:prstGeom>
          <a:noFill/>
          <a:ln w="152400">
            <a:solidFill>
              <a:srgbClr val="B8860B"/>
            </a:solidFill>
            <a:prstDash val="solid"/>
          </a:ln>
        </p:spPr>
      </p:sp>
      <p:sp>
        <p:nvSpPr>
          <p:cNvPr id="381" name="Shape 379"/>
          <p:cNvSpPr/>
          <p:nvPr/>
        </p:nvSpPr>
        <p:spPr>
          <a:xfrm>
            <a:off x="4764024" y="2507887"/>
            <a:ext cx="21336" cy="6713"/>
          </a:xfrm>
          <a:prstGeom prst="line">
            <a:avLst/>
          </a:prstGeom>
          <a:noFill/>
          <a:ln w="152400">
            <a:solidFill>
              <a:srgbClr val="B8860B"/>
            </a:solidFill>
            <a:prstDash val="solid"/>
          </a:ln>
        </p:spPr>
      </p:sp>
      <p:sp>
        <p:nvSpPr>
          <p:cNvPr id="382" name="Shape 380"/>
          <p:cNvSpPr/>
          <p:nvPr/>
        </p:nvSpPr>
        <p:spPr>
          <a:xfrm flipV="1">
            <a:off x="4785360" y="2507887"/>
            <a:ext cx="21336" cy="6713"/>
          </a:xfrm>
          <a:prstGeom prst="line">
            <a:avLst/>
          </a:prstGeom>
          <a:noFill/>
          <a:ln w="152400">
            <a:solidFill>
              <a:srgbClr val="B8860B"/>
            </a:solidFill>
            <a:prstDash val="solid"/>
          </a:ln>
        </p:spPr>
      </p:sp>
      <p:sp>
        <p:nvSpPr>
          <p:cNvPr id="383" name="Shape 381"/>
          <p:cNvSpPr/>
          <p:nvPr/>
        </p:nvSpPr>
        <p:spPr>
          <a:xfrm flipV="1">
            <a:off x="4806696" y="2488405"/>
            <a:ext cx="21336" cy="19482"/>
          </a:xfrm>
          <a:prstGeom prst="line">
            <a:avLst/>
          </a:prstGeom>
          <a:noFill/>
          <a:ln w="152400">
            <a:solidFill>
              <a:srgbClr val="B8860B"/>
            </a:solidFill>
            <a:prstDash val="solid"/>
          </a:ln>
        </p:spPr>
      </p:sp>
      <p:sp>
        <p:nvSpPr>
          <p:cNvPr id="384" name="Shape 382"/>
          <p:cNvSpPr/>
          <p:nvPr/>
        </p:nvSpPr>
        <p:spPr>
          <a:xfrm flipV="1">
            <a:off x="4828032" y="2458061"/>
            <a:ext cx="21336" cy="30344"/>
          </a:xfrm>
          <a:prstGeom prst="line">
            <a:avLst/>
          </a:prstGeom>
          <a:noFill/>
          <a:ln w="152400">
            <a:solidFill>
              <a:srgbClr val="B8860B"/>
            </a:solidFill>
            <a:prstDash val="solid"/>
          </a:ln>
        </p:spPr>
      </p:sp>
      <p:sp>
        <p:nvSpPr>
          <p:cNvPr id="385" name="Shape 383"/>
          <p:cNvSpPr/>
          <p:nvPr/>
        </p:nvSpPr>
        <p:spPr>
          <a:xfrm flipV="1">
            <a:off x="4849368" y="2419825"/>
            <a:ext cx="21336" cy="38236"/>
          </a:xfrm>
          <a:prstGeom prst="line">
            <a:avLst/>
          </a:prstGeom>
          <a:noFill/>
          <a:ln w="152400">
            <a:solidFill>
              <a:srgbClr val="B8860B"/>
            </a:solidFill>
            <a:prstDash val="solid"/>
          </a:ln>
        </p:spPr>
      </p:sp>
      <p:sp>
        <p:nvSpPr>
          <p:cNvPr id="386" name="Shape 384"/>
          <p:cNvSpPr/>
          <p:nvPr/>
        </p:nvSpPr>
        <p:spPr>
          <a:xfrm flipV="1">
            <a:off x="4870704" y="2377440"/>
            <a:ext cx="21336" cy="42385"/>
          </a:xfrm>
          <a:prstGeom prst="line">
            <a:avLst/>
          </a:prstGeom>
          <a:noFill/>
          <a:ln w="152400">
            <a:solidFill>
              <a:srgbClr val="B8860B"/>
            </a:solidFill>
            <a:prstDash val="solid"/>
          </a:ln>
        </p:spPr>
      </p:sp>
      <p:sp>
        <p:nvSpPr>
          <p:cNvPr id="387" name="Shape 385"/>
          <p:cNvSpPr/>
          <p:nvPr/>
        </p:nvSpPr>
        <p:spPr>
          <a:xfrm flipV="1">
            <a:off x="4892040" y="2335055"/>
            <a:ext cx="21336" cy="42385"/>
          </a:xfrm>
          <a:prstGeom prst="line">
            <a:avLst/>
          </a:prstGeom>
          <a:noFill/>
          <a:ln w="152400">
            <a:solidFill>
              <a:srgbClr val="B8860B"/>
            </a:solidFill>
            <a:prstDash val="solid"/>
          </a:ln>
        </p:spPr>
      </p:sp>
      <p:sp>
        <p:nvSpPr>
          <p:cNvPr id="388" name="Shape 386"/>
          <p:cNvSpPr/>
          <p:nvPr/>
        </p:nvSpPr>
        <p:spPr>
          <a:xfrm flipV="1">
            <a:off x="4913376" y="2296819"/>
            <a:ext cx="21336" cy="38236"/>
          </a:xfrm>
          <a:prstGeom prst="line">
            <a:avLst/>
          </a:prstGeom>
          <a:noFill/>
          <a:ln w="152400">
            <a:solidFill>
              <a:srgbClr val="B8860B"/>
            </a:solidFill>
            <a:prstDash val="solid"/>
          </a:ln>
        </p:spPr>
      </p:sp>
      <p:sp>
        <p:nvSpPr>
          <p:cNvPr id="389" name="Shape 387"/>
          <p:cNvSpPr/>
          <p:nvPr/>
        </p:nvSpPr>
        <p:spPr>
          <a:xfrm flipV="1">
            <a:off x="4934712" y="2266475"/>
            <a:ext cx="21336" cy="30344"/>
          </a:xfrm>
          <a:prstGeom prst="line">
            <a:avLst/>
          </a:prstGeom>
          <a:noFill/>
          <a:ln w="152400">
            <a:solidFill>
              <a:srgbClr val="B8860B"/>
            </a:solidFill>
            <a:prstDash val="solid"/>
          </a:ln>
        </p:spPr>
      </p:sp>
      <p:sp>
        <p:nvSpPr>
          <p:cNvPr id="390" name="Shape 388"/>
          <p:cNvSpPr/>
          <p:nvPr/>
        </p:nvSpPr>
        <p:spPr>
          <a:xfrm flipV="1">
            <a:off x="4956048" y="2246993"/>
            <a:ext cx="21336" cy="19482"/>
          </a:xfrm>
          <a:prstGeom prst="line">
            <a:avLst/>
          </a:prstGeom>
          <a:noFill/>
          <a:ln w="152400">
            <a:solidFill>
              <a:srgbClr val="B8860B"/>
            </a:solidFill>
            <a:prstDash val="solid"/>
          </a:ln>
        </p:spPr>
      </p:sp>
      <p:sp>
        <p:nvSpPr>
          <p:cNvPr id="391" name="Shape 389"/>
          <p:cNvSpPr/>
          <p:nvPr/>
        </p:nvSpPr>
        <p:spPr>
          <a:xfrm flipV="1">
            <a:off x="4977384" y="2240280"/>
            <a:ext cx="21336" cy="6713"/>
          </a:xfrm>
          <a:prstGeom prst="line">
            <a:avLst/>
          </a:prstGeom>
          <a:noFill/>
          <a:ln w="152400">
            <a:solidFill>
              <a:srgbClr val="B8860B"/>
            </a:solidFill>
            <a:prstDash val="solid"/>
          </a:ln>
        </p:spPr>
      </p:sp>
      <p:sp>
        <p:nvSpPr>
          <p:cNvPr id="392" name="Shape 390"/>
          <p:cNvSpPr/>
          <p:nvPr/>
        </p:nvSpPr>
        <p:spPr>
          <a:xfrm>
            <a:off x="4998720" y="2240280"/>
            <a:ext cx="21336" cy="6713"/>
          </a:xfrm>
          <a:prstGeom prst="line">
            <a:avLst/>
          </a:prstGeom>
          <a:noFill/>
          <a:ln w="152400">
            <a:solidFill>
              <a:srgbClr val="B8860B"/>
            </a:solidFill>
            <a:prstDash val="solid"/>
          </a:ln>
        </p:spPr>
      </p:sp>
      <p:sp>
        <p:nvSpPr>
          <p:cNvPr id="393" name="Shape 391"/>
          <p:cNvSpPr/>
          <p:nvPr/>
        </p:nvSpPr>
        <p:spPr>
          <a:xfrm>
            <a:off x="5020056" y="2246993"/>
            <a:ext cx="21336" cy="19482"/>
          </a:xfrm>
          <a:prstGeom prst="line">
            <a:avLst/>
          </a:prstGeom>
          <a:noFill/>
          <a:ln w="152400">
            <a:solidFill>
              <a:srgbClr val="B8860B"/>
            </a:solidFill>
            <a:prstDash val="solid"/>
          </a:ln>
        </p:spPr>
      </p:sp>
      <p:sp>
        <p:nvSpPr>
          <p:cNvPr id="394" name="Shape 392"/>
          <p:cNvSpPr/>
          <p:nvPr/>
        </p:nvSpPr>
        <p:spPr>
          <a:xfrm>
            <a:off x="5041392" y="2266475"/>
            <a:ext cx="21336" cy="30344"/>
          </a:xfrm>
          <a:prstGeom prst="line">
            <a:avLst/>
          </a:prstGeom>
          <a:noFill/>
          <a:ln w="152400">
            <a:solidFill>
              <a:srgbClr val="B8860B"/>
            </a:solidFill>
            <a:prstDash val="solid"/>
          </a:ln>
        </p:spPr>
      </p:sp>
      <p:sp>
        <p:nvSpPr>
          <p:cNvPr id="395" name="Shape 393"/>
          <p:cNvSpPr/>
          <p:nvPr/>
        </p:nvSpPr>
        <p:spPr>
          <a:xfrm>
            <a:off x="5062728" y="2296819"/>
            <a:ext cx="21336" cy="38236"/>
          </a:xfrm>
          <a:prstGeom prst="line">
            <a:avLst/>
          </a:prstGeom>
          <a:noFill/>
          <a:ln w="152400">
            <a:solidFill>
              <a:srgbClr val="B8860B"/>
            </a:solidFill>
            <a:prstDash val="solid"/>
          </a:ln>
        </p:spPr>
      </p:sp>
      <p:sp>
        <p:nvSpPr>
          <p:cNvPr id="396" name="Shape 394"/>
          <p:cNvSpPr/>
          <p:nvPr/>
        </p:nvSpPr>
        <p:spPr>
          <a:xfrm>
            <a:off x="5084064" y="2335055"/>
            <a:ext cx="21336" cy="42385"/>
          </a:xfrm>
          <a:prstGeom prst="line">
            <a:avLst/>
          </a:prstGeom>
          <a:noFill/>
          <a:ln w="152400">
            <a:solidFill>
              <a:srgbClr val="B8860B"/>
            </a:solidFill>
            <a:prstDash val="solid"/>
          </a:ln>
        </p:spPr>
      </p:sp>
      <p:sp>
        <p:nvSpPr>
          <p:cNvPr id="397" name="Shape 395"/>
          <p:cNvSpPr/>
          <p:nvPr/>
        </p:nvSpPr>
        <p:spPr>
          <a:xfrm>
            <a:off x="5105400" y="2377440"/>
            <a:ext cx="21336" cy="42385"/>
          </a:xfrm>
          <a:prstGeom prst="line">
            <a:avLst/>
          </a:prstGeom>
          <a:noFill/>
          <a:ln w="152400">
            <a:solidFill>
              <a:srgbClr val="B8860B"/>
            </a:solidFill>
            <a:prstDash val="solid"/>
          </a:ln>
        </p:spPr>
      </p:sp>
      <p:sp>
        <p:nvSpPr>
          <p:cNvPr id="398" name="Shape 396"/>
          <p:cNvSpPr/>
          <p:nvPr/>
        </p:nvSpPr>
        <p:spPr>
          <a:xfrm>
            <a:off x="5126736" y="2419825"/>
            <a:ext cx="21336" cy="38236"/>
          </a:xfrm>
          <a:prstGeom prst="line">
            <a:avLst/>
          </a:prstGeom>
          <a:noFill/>
          <a:ln w="152400">
            <a:solidFill>
              <a:srgbClr val="B8860B"/>
            </a:solidFill>
            <a:prstDash val="solid"/>
          </a:ln>
        </p:spPr>
      </p:sp>
      <p:sp>
        <p:nvSpPr>
          <p:cNvPr id="399" name="Shape 397"/>
          <p:cNvSpPr/>
          <p:nvPr/>
        </p:nvSpPr>
        <p:spPr>
          <a:xfrm>
            <a:off x="5148072" y="2458061"/>
            <a:ext cx="21336" cy="30344"/>
          </a:xfrm>
          <a:prstGeom prst="line">
            <a:avLst/>
          </a:prstGeom>
          <a:noFill/>
          <a:ln w="152400">
            <a:solidFill>
              <a:srgbClr val="B8860B"/>
            </a:solidFill>
            <a:prstDash val="solid"/>
          </a:ln>
        </p:spPr>
      </p:sp>
      <p:sp>
        <p:nvSpPr>
          <p:cNvPr id="400" name="Shape 398"/>
          <p:cNvSpPr/>
          <p:nvPr/>
        </p:nvSpPr>
        <p:spPr>
          <a:xfrm>
            <a:off x="5169408" y="2488405"/>
            <a:ext cx="21336" cy="19482"/>
          </a:xfrm>
          <a:prstGeom prst="line">
            <a:avLst/>
          </a:prstGeom>
          <a:noFill/>
          <a:ln w="152400">
            <a:solidFill>
              <a:srgbClr val="B8860B"/>
            </a:solidFill>
            <a:prstDash val="solid"/>
          </a:ln>
        </p:spPr>
      </p:sp>
      <p:sp>
        <p:nvSpPr>
          <p:cNvPr id="401" name="Shape 399"/>
          <p:cNvSpPr/>
          <p:nvPr/>
        </p:nvSpPr>
        <p:spPr>
          <a:xfrm>
            <a:off x="5190744" y="2507887"/>
            <a:ext cx="21336" cy="6713"/>
          </a:xfrm>
          <a:prstGeom prst="line">
            <a:avLst/>
          </a:prstGeom>
          <a:noFill/>
          <a:ln w="152400">
            <a:solidFill>
              <a:srgbClr val="B8860B"/>
            </a:solidFill>
            <a:prstDash val="solid"/>
          </a:ln>
        </p:spPr>
      </p:sp>
      <p:sp>
        <p:nvSpPr>
          <p:cNvPr id="402" name="Shape 400"/>
          <p:cNvSpPr/>
          <p:nvPr/>
        </p:nvSpPr>
        <p:spPr>
          <a:xfrm flipV="1">
            <a:off x="5212080" y="2507887"/>
            <a:ext cx="21336" cy="6713"/>
          </a:xfrm>
          <a:prstGeom prst="line">
            <a:avLst/>
          </a:prstGeom>
          <a:noFill/>
          <a:ln w="152400">
            <a:solidFill>
              <a:srgbClr val="B8860B"/>
            </a:solidFill>
            <a:prstDash val="solid"/>
          </a:ln>
        </p:spPr>
      </p:sp>
      <p:sp>
        <p:nvSpPr>
          <p:cNvPr id="403" name="Shape 401"/>
          <p:cNvSpPr/>
          <p:nvPr/>
        </p:nvSpPr>
        <p:spPr>
          <a:xfrm flipV="1">
            <a:off x="5233416" y="2488405"/>
            <a:ext cx="21336" cy="19482"/>
          </a:xfrm>
          <a:prstGeom prst="line">
            <a:avLst/>
          </a:prstGeom>
          <a:noFill/>
          <a:ln w="152400">
            <a:solidFill>
              <a:srgbClr val="B8860B"/>
            </a:solidFill>
            <a:prstDash val="solid"/>
          </a:ln>
        </p:spPr>
      </p:sp>
      <p:sp>
        <p:nvSpPr>
          <p:cNvPr id="404" name="Shape 402"/>
          <p:cNvSpPr/>
          <p:nvPr/>
        </p:nvSpPr>
        <p:spPr>
          <a:xfrm flipV="1">
            <a:off x="5254752" y="2458061"/>
            <a:ext cx="21336" cy="30344"/>
          </a:xfrm>
          <a:prstGeom prst="line">
            <a:avLst/>
          </a:prstGeom>
          <a:noFill/>
          <a:ln w="152400">
            <a:solidFill>
              <a:srgbClr val="B8860B"/>
            </a:solidFill>
            <a:prstDash val="solid"/>
          </a:ln>
        </p:spPr>
      </p:sp>
      <p:sp>
        <p:nvSpPr>
          <p:cNvPr id="405" name="Shape 403"/>
          <p:cNvSpPr/>
          <p:nvPr/>
        </p:nvSpPr>
        <p:spPr>
          <a:xfrm flipV="1">
            <a:off x="5276088" y="2419825"/>
            <a:ext cx="21336" cy="38236"/>
          </a:xfrm>
          <a:prstGeom prst="line">
            <a:avLst/>
          </a:prstGeom>
          <a:noFill/>
          <a:ln w="152400">
            <a:solidFill>
              <a:srgbClr val="B8860B"/>
            </a:solidFill>
            <a:prstDash val="solid"/>
          </a:ln>
        </p:spPr>
      </p:sp>
      <p:sp>
        <p:nvSpPr>
          <p:cNvPr id="406" name="Shape 404"/>
          <p:cNvSpPr/>
          <p:nvPr/>
        </p:nvSpPr>
        <p:spPr>
          <a:xfrm flipV="1">
            <a:off x="5297424" y="2377440"/>
            <a:ext cx="21336" cy="42385"/>
          </a:xfrm>
          <a:prstGeom prst="line">
            <a:avLst/>
          </a:prstGeom>
          <a:noFill/>
          <a:ln w="152400">
            <a:solidFill>
              <a:srgbClr val="B8860B"/>
            </a:solidFill>
            <a:prstDash val="solid"/>
          </a:ln>
        </p:spPr>
      </p:sp>
      <p:sp>
        <p:nvSpPr>
          <p:cNvPr id="407" name="Shape 405"/>
          <p:cNvSpPr/>
          <p:nvPr/>
        </p:nvSpPr>
        <p:spPr>
          <a:xfrm flipV="1">
            <a:off x="5318760" y="2335055"/>
            <a:ext cx="21336" cy="42385"/>
          </a:xfrm>
          <a:prstGeom prst="line">
            <a:avLst/>
          </a:prstGeom>
          <a:noFill/>
          <a:ln w="152400">
            <a:solidFill>
              <a:srgbClr val="B8860B"/>
            </a:solidFill>
            <a:prstDash val="solid"/>
          </a:ln>
        </p:spPr>
      </p:sp>
      <p:sp>
        <p:nvSpPr>
          <p:cNvPr id="408" name="Shape 406"/>
          <p:cNvSpPr/>
          <p:nvPr/>
        </p:nvSpPr>
        <p:spPr>
          <a:xfrm flipV="1">
            <a:off x="5340096" y="2296819"/>
            <a:ext cx="21336" cy="38236"/>
          </a:xfrm>
          <a:prstGeom prst="line">
            <a:avLst/>
          </a:prstGeom>
          <a:noFill/>
          <a:ln w="152400">
            <a:solidFill>
              <a:srgbClr val="B8860B"/>
            </a:solidFill>
            <a:prstDash val="solid"/>
          </a:ln>
        </p:spPr>
      </p:sp>
      <p:sp>
        <p:nvSpPr>
          <p:cNvPr id="409" name="Shape 407"/>
          <p:cNvSpPr/>
          <p:nvPr/>
        </p:nvSpPr>
        <p:spPr>
          <a:xfrm flipV="1">
            <a:off x="5361432" y="2266475"/>
            <a:ext cx="21336" cy="30344"/>
          </a:xfrm>
          <a:prstGeom prst="line">
            <a:avLst/>
          </a:prstGeom>
          <a:noFill/>
          <a:ln w="152400">
            <a:solidFill>
              <a:srgbClr val="B8860B"/>
            </a:solidFill>
            <a:prstDash val="solid"/>
          </a:ln>
        </p:spPr>
      </p:sp>
      <p:sp>
        <p:nvSpPr>
          <p:cNvPr id="410" name="Shape 408"/>
          <p:cNvSpPr/>
          <p:nvPr/>
        </p:nvSpPr>
        <p:spPr>
          <a:xfrm flipV="1">
            <a:off x="5382768" y="2246993"/>
            <a:ext cx="21336" cy="19482"/>
          </a:xfrm>
          <a:prstGeom prst="line">
            <a:avLst/>
          </a:prstGeom>
          <a:noFill/>
          <a:ln w="152400">
            <a:solidFill>
              <a:srgbClr val="B8860B"/>
            </a:solidFill>
            <a:prstDash val="solid"/>
          </a:ln>
        </p:spPr>
      </p:sp>
      <p:sp>
        <p:nvSpPr>
          <p:cNvPr id="411" name="Shape 409"/>
          <p:cNvSpPr/>
          <p:nvPr/>
        </p:nvSpPr>
        <p:spPr>
          <a:xfrm flipV="1">
            <a:off x="5404104" y="2240280"/>
            <a:ext cx="21336" cy="6713"/>
          </a:xfrm>
          <a:prstGeom prst="line">
            <a:avLst/>
          </a:prstGeom>
          <a:noFill/>
          <a:ln w="152400">
            <a:solidFill>
              <a:srgbClr val="B8860B"/>
            </a:solidFill>
            <a:prstDash val="solid"/>
          </a:ln>
        </p:spPr>
      </p:sp>
      <p:sp>
        <p:nvSpPr>
          <p:cNvPr id="412" name="Shape 410"/>
          <p:cNvSpPr/>
          <p:nvPr/>
        </p:nvSpPr>
        <p:spPr>
          <a:xfrm>
            <a:off x="5425440" y="2240280"/>
            <a:ext cx="21336" cy="6713"/>
          </a:xfrm>
          <a:prstGeom prst="line">
            <a:avLst/>
          </a:prstGeom>
          <a:noFill/>
          <a:ln w="152400">
            <a:solidFill>
              <a:srgbClr val="B8860B"/>
            </a:solidFill>
            <a:prstDash val="solid"/>
          </a:ln>
        </p:spPr>
      </p:sp>
      <p:sp>
        <p:nvSpPr>
          <p:cNvPr id="413" name="Shape 411"/>
          <p:cNvSpPr/>
          <p:nvPr/>
        </p:nvSpPr>
        <p:spPr>
          <a:xfrm>
            <a:off x="5446776" y="2246993"/>
            <a:ext cx="21336" cy="19482"/>
          </a:xfrm>
          <a:prstGeom prst="line">
            <a:avLst/>
          </a:prstGeom>
          <a:noFill/>
          <a:ln w="152400">
            <a:solidFill>
              <a:srgbClr val="B8860B"/>
            </a:solidFill>
            <a:prstDash val="solid"/>
          </a:ln>
        </p:spPr>
      </p:sp>
      <p:sp>
        <p:nvSpPr>
          <p:cNvPr id="414" name="Shape 412"/>
          <p:cNvSpPr/>
          <p:nvPr/>
        </p:nvSpPr>
        <p:spPr>
          <a:xfrm>
            <a:off x="5468112" y="2266475"/>
            <a:ext cx="21336" cy="30344"/>
          </a:xfrm>
          <a:prstGeom prst="line">
            <a:avLst/>
          </a:prstGeom>
          <a:noFill/>
          <a:ln w="152400">
            <a:solidFill>
              <a:srgbClr val="B8860B"/>
            </a:solidFill>
            <a:prstDash val="solid"/>
          </a:ln>
        </p:spPr>
      </p:sp>
      <p:sp>
        <p:nvSpPr>
          <p:cNvPr id="415" name="Shape 413"/>
          <p:cNvSpPr/>
          <p:nvPr/>
        </p:nvSpPr>
        <p:spPr>
          <a:xfrm>
            <a:off x="5489448" y="2296819"/>
            <a:ext cx="21336" cy="38236"/>
          </a:xfrm>
          <a:prstGeom prst="line">
            <a:avLst/>
          </a:prstGeom>
          <a:noFill/>
          <a:ln w="152400">
            <a:solidFill>
              <a:srgbClr val="B8860B"/>
            </a:solidFill>
            <a:prstDash val="solid"/>
          </a:ln>
        </p:spPr>
      </p:sp>
      <p:sp>
        <p:nvSpPr>
          <p:cNvPr id="416" name="Shape 414"/>
          <p:cNvSpPr/>
          <p:nvPr/>
        </p:nvSpPr>
        <p:spPr>
          <a:xfrm>
            <a:off x="5510784" y="2335055"/>
            <a:ext cx="21336" cy="42385"/>
          </a:xfrm>
          <a:prstGeom prst="line">
            <a:avLst/>
          </a:prstGeom>
          <a:noFill/>
          <a:ln w="152400">
            <a:solidFill>
              <a:srgbClr val="B8860B"/>
            </a:solidFill>
            <a:prstDash val="solid"/>
          </a:ln>
        </p:spPr>
      </p:sp>
      <p:sp>
        <p:nvSpPr>
          <p:cNvPr id="417" name="Shape 415"/>
          <p:cNvSpPr/>
          <p:nvPr/>
        </p:nvSpPr>
        <p:spPr>
          <a:xfrm>
            <a:off x="4175760" y="2301240"/>
            <a:ext cx="152400" cy="152400"/>
          </a:xfrm>
          <a:prstGeom prst="ellipse">
            <a:avLst/>
          </a:prstGeom>
          <a:solidFill>
            <a:srgbClr val="B8860B"/>
          </a:solidFill>
          <a:ln w="12700">
            <a:solidFill>
              <a:srgbClr val="B8860B"/>
            </a:solidFill>
            <a:prstDash val="solid"/>
          </a:ln>
        </p:spPr>
      </p:sp>
      <p:sp>
        <p:nvSpPr>
          <p:cNvPr id="418" name="Shape 416"/>
          <p:cNvSpPr/>
          <p:nvPr/>
        </p:nvSpPr>
        <p:spPr>
          <a:xfrm>
            <a:off x="4197096" y="2343625"/>
            <a:ext cx="152400" cy="152400"/>
          </a:xfrm>
          <a:prstGeom prst="ellipse">
            <a:avLst/>
          </a:prstGeom>
          <a:solidFill>
            <a:srgbClr val="B8860B"/>
          </a:solidFill>
          <a:ln w="12700">
            <a:solidFill>
              <a:srgbClr val="B8860B"/>
            </a:solidFill>
            <a:prstDash val="solid"/>
          </a:ln>
        </p:spPr>
      </p:sp>
      <p:sp>
        <p:nvSpPr>
          <p:cNvPr id="419" name="Shape 417"/>
          <p:cNvSpPr/>
          <p:nvPr/>
        </p:nvSpPr>
        <p:spPr>
          <a:xfrm>
            <a:off x="4218432" y="2381861"/>
            <a:ext cx="152400" cy="152400"/>
          </a:xfrm>
          <a:prstGeom prst="ellipse">
            <a:avLst/>
          </a:prstGeom>
          <a:solidFill>
            <a:srgbClr val="B8860B"/>
          </a:solidFill>
          <a:ln w="12700">
            <a:solidFill>
              <a:srgbClr val="B8860B"/>
            </a:solidFill>
            <a:prstDash val="solid"/>
          </a:ln>
        </p:spPr>
      </p:sp>
      <p:sp>
        <p:nvSpPr>
          <p:cNvPr id="420" name="Shape 418"/>
          <p:cNvSpPr/>
          <p:nvPr/>
        </p:nvSpPr>
        <p:spPr>
          <a:xfrm>
            <a:off x="4239768" y="2412205"/>
            <a:ext cx="152400" cy="152400"/>
          </a:xfrm>
          <a:prstGeom prst="ellipse">
            <a:avLst/>
          </a:prstGeom>
          <a:solidFill>
            <a:srgbClr val="B8860B"/>
          </a:solidFill>
          <a:ln w="12700">
            <a:solidFill>
              <a:srgbClr val="B8860B"/>
            </a:solidFill>
            <a:prstDash val="solid"/>
          </a:ln>
        </p:spPr>
      </p:sp>
      <p:sp>
        <p:nvSpPr>
          <p:cNvPr id="421" name="Shape 419"/>
          <p:cNvSpPr/>
          <p:nvPr/>
        </p:nvSpPr>
        <p:spPr>
          <a:xfrm>
            <a:off x="4261104" y="2431687"/>
            <a:ext cx="152400" cy="152400"/>
          </a:xfrm>
          <a:prstGeom prst="ellipse">
            <a:avLst/>
          </a:prstGeom>
          <a:solidFill>
            <a:srgbClr val="B8860B"/>
          </a:solidFill>
          <a:ln w="12700">
            <a:solidFill>
              <a:srgbClr val="B8860B"/>
            </a:solidFill>
            <a:prstDash val="solid"/>
          </a:ln>
        </p:spPr>
      </p:sp>
      <p:sp>
        <p:nvSpPr>
          <p:cNvPr id="422" name="Shape 420"/>
          <p:cNvSpPr/>
          <p:nvPr/>
        </p:nvSpPr>
        <p:spPr>
          <a:xfrm>
            <a:off x="4282440" y="2438400"/>
            <a:ext cx="152400" cy="152400"/>
          </a:xfrm>
          <a:prstGeom prst="ellipse">
            <a:avLst/>
          </a:prstGeom>
          <a:solidFill>
            <a:srgbClr val="B8860B"/>
          </a:solidFill>
          <a:ln w="12700">
            <a:solidFill>
              <a:srgbClr val="B8860B"/>
            </a:solidFill>
            <a:prstDash val="solid"/>
          </a:ln>
        </p:spPr>
      </p:sp>
      <p:sp>
        <p:nvSpPr>
          <p:cNvPr id="423" name="Shape 421"/>
          <p:cNvSpPr/>
          <p:nvPr/>
        </p:nvSpPr>
        <p:spPr>
          <a:xfrm>
            <a:off x="4303776" y="2431687"/>
            <a:ext cx="152400" cy="152400"/>
          </a:xfrm>
          <a:prstGeom prst="ellipse">
            <a:avLst/>
          </a:prstGeom>
          <a:solidFill>
            <a:srgbClr val="B8860B"/>
          </a:solidFill>
          <a:ln w="12700">
            <a:solidFill>
              <a:srgbClr val="B8860B"/>
            </a:solidFill>
            <a:prstDash val="solid"/>
          </a:ln>
        </p:spPr>
      </p:sp>
      <p:sp>
        <p:nvSpPr>
          <p:cNvPr id="424" name="Shape 422"/>
          <p:cNvSpPr/>
          <p:nvPr/>
        </p:nvSpPr>
        <p:spPr>
          <a:xfrm>
            <a:off x="4325112" y="2412205"/>
            <a:ext cx="152400" cy="152400"/>
          </a:xfrm>
          <a:prstGeom prst="ellipse">
            <a:avLst/>
          </a:prstGeom>
          <a:solidFill>
            <a:srgbClr val="B8860B"/>
          </a:solidFill>
          <a:ln w="12700">
            <a:solidFill>
              <a:srgbClr val="B8860B"/>
            </a:solidFill>
            <a:prstDash val="solid"/>
          </a:ln>
        </p:spPr>
      </p:sp>
      <p:sp>
        <p:nvSpPr>
          <p:cNvPr id="425" name="Shape 423"/>
          <p:cNvSpPr/>
          <p:nvPr/>
        </p:nvSpPr>
        <p:spPr>
          <a:xfrm>
            <a:off x="4346448" y="2381861"/>
            <a:ext cx="152400" cy="152400"/>
          </a:xfrm>
          <a:prstGeom prst="ellipse">
            <a:avLst/>
          </a:prstGeom>
          <a:solidFill>
            <a:srgbClr val="B8860B"/>
          </a:solidFill>
          <a:ln w="12700">
            <a:solidFill>
              <a:srgbClr val="B8860B"/>
            </a:solidFill>
            <a:prstDash val="solid"/>
          </a:ln>
        </p:spPr>
      </p:sp>
      <p:sp>
        <p:nvSpPr>
          <p:cNvPr id="426" name="Shape 424"/>
          <p:cNvSpPr/>
          <p:nvPr/>
        </p:nvSpPr>
        <p:spPr>
          <a:xfrm>
            <a:off x="4367784" y="2343625"/>
            <a:ext cx="152400" cy="152400"/>
          </a:xfrm>
          <a:prstGeom prst="ellipse">
            <a:avLst/>
          </a:prstGeom>
          <a:solidFill>
            <a:srgbClr val="B8860B"/>
          </a:solidFill>
          <a:ln w="12700">
            <a:solidFill>
              <a:srgbClr val="B8860B"/>
            </a:solidFill>
            <a:prstDash val="solid"/>
          </a:ln>
        </p:spPr>
      </p:sp>
      <p:sp>
        <p:nvSpPr>
          <p:cNvPr id="427" name="Shape 425"/>
          <p:cNvSpPr/>
          <p:nvPr/>
        </p:nvSpPr>
        <p:spPr>
          <a:xfrm>
            <a:off x="4389120" y="2301240"/>
            <a:ext cx="152400" cy="152400"/>
          </a:xfrm>
          <a:prstGeom prst="ellipse">
            <a:avLst/>
          </a:prstGeom>
          <a:solidFill>
            <a:srgbClr val="B8860B"/>
          </a:solidFill>
          <a:ln w="12700">
            <a:solidFill>
              <a:srgbClr val="B8860B"/>
            </a:solidFill>
            <a:prstDash val="solid"/>
          </a:ln>
        </p:spPr>
      </p:sp>
      <p:sp>
        <p:nvSpPr>
          <p:cNvPr id="428" name="Shape 426"/>
          <p:cNvSpPr/>
          <p:nvPr/>
        </p:nvSpPr>
        <p:spPr>
          <a:xfrm>
            <a:off x="4410456" y="2258855"/>
            <a:ext cx="152400" cy="152400"/>
          </a:xfrm>
          <a:prstGeom prst="ellipse">
            <a:avLst/>
          </a:prstGeom>
          <a:solidFill>
            <a:srgbClr val="B8860B"/>
          </a:solidFill>
          <a:ln w="12700">
            <a:solidFill>
              <a:srgbClr val="B8860B"/>
            </a:solidFill>
            <a:prstDash val="solid"/>
          </a:ln>
        </p:spPr>
      </p:sp>
      <p:sp>
        <p:nvSpPr>
          <p:cNvPr id="429" name="Shape 427"/>
          <p:cNvSpPr/>
          <p:nvPr/>
        </p:nvSpPr>
        <p:spPr>
          <a:xfrm>
            <a:off x="4431792" y="2220619"/>
            <a:ext cx="152400" cy="152400"/>
          </a:xfrm>
          <a:prstGeom prst="ellipse">
            <a:avLst/>
          </a:prstGeom>
          <a:solidFill>
            <a:srgbClr val="B8860B"/>
          </a:solidFill>
          <a:ln w="12700">
            <a:solidFill>
              <a:srgbClr val="B8860B"/>
            </a:solidFill>
            <a:prstDash val="solid"/>
          </a:ln>
        </p:spPr>
      </p:sp>
      <p:sp>
        <p:nvSpPr>
          <p:cNvPr id="430" name="Shape 428"/>
          <p:cNvSpPr/>
          <p:nvPr/>
        </p:nvSpPr>
        <p:spPr>
          <a:xfrm>
            <a:off x="4453128" y="2190275"/>
            <a:ext cx="152400" cy="152400"/>
          </a:xfrm>
          <a:prstGeom prst="ellipse">
            <a:avLst/>
          </a:prstGeom>
          <a:solidFill>
            <a:srgbClr val="B8860B"/>
          </a:solidFill>
          <a:ln w="12700">
            <a:solidFill>
              <a:srgbClr val="B8860B"/>
            </a:solidFill>
            <a:prstDash val="solid"/>
          </a:ln>
        </p:spPr>
      </p:sp>
      <p:sp>
        <p:nvSpPr>
          <p:cNvPr id="431" name="Shape 429"/>
          <p:cNvSpPr/>
          <p:nvPr/>
        </p:nvSpPr>
        <p:spPr>
          <a:xfrm>
            <a:off x="4474464" y="2170793"/>
            <a:ext cx="152400" cy="152400"/>
          </a:xfrm>
          <a:prstGeom prst="ellipse">
            <a:avLst/>
          </a:prstGeom>
          <a:solidFill>
            <a:srgbClr val="B8860B"/>
          </a:solidFill>
          <a:ln w="12700">
            <a:solidFill>
              <a:srgbClr val="B8860B"/>
            </a:solidFill>
            <a:prstDash val="solid"/>
          </a:ln>
        </p:spPr>
      </p:sp>
      <p:sp>
        <p:nvSpPr>
          <p:cNvPr id="432" name="Shape 430"/>
          <p:cNvSpPr/>
          <p:nvPr/>
        </p:nvSpPr>
        <p:spPr>
          <a:xfrm>
            <a:off x="4495800" y="2164080"/>
            <a:ext cx="152400" cy="152400"/>
          </a:xfrm>
          <a:prstGeom prst="ellipse">
            <a:avLst/>
          </a:prstGeom>
          <a:solidFill>
            <a:srgbClr val="B8860B"/>
          </a:solidFill>
          <a:ln w="12700">
            <a:solidFill>
              <a:srgbClr val="B8860B"/>
            </a:solidFill>
            <a:prstDash val="solid"/>
          </a:ln>
        </p:spPr>
      </p:sp>
      <p:sp>
        <p:nvSpPr>
          <p:cNvPr id="433" name="Shape 431"/>
          <p:cNvSpPr/>
          <p:nvPr/>
        </p:nvSpPr>
        <p:spPr>
          <a:xfrm>
            <a:off x="4517136" y="2170793"/>
            <a:ext cx="152400" cy="152400"/>
          </a:xfrm>
          <a:prstGeom prst="ellipse">
            <a:avLst/>
          </a:prstGeom>
          <a:solidFill>
            <a:srgbClr val="B8860B"/>
          </a:solidFill>
          <a:ln w="12700">
            <a:solidFill>
              <a:srgbClr val="B8860B"/>
            </a:solidFill>
            <a:prstDash val="solid"/>
          </a:ln>
        </p:spPr>
      </p:sp>
      <p:sp>
        <p:nvSpPr>
          <p:cNvPr id="434" name="Shape 432"/>
          <p:cNvSpPr/>
          <p:nvPr/>
        </p:nvSpPr>
        <p:spPr>
          <a:xfrm>
            <a:off x="4538472" y="2190275"/>
            <a:ext cx="152400" cy="152400"/>
          </a:xfrm>
          <a:prstGeom prst="ellipse">
            <a:avLst/>
          </a:prstGeom>
          <a:solidFill>
            <a:srgbClr val="B8860B"/>
          </a:solidFill>
          <a:ln w="12700">
            <a:solidFill>
              <a:srgbClr val="B8860B"/>
            </a:solidFill>
            <a:prstDash val="solid"/>
          </a:ln>
        </p:spPr>
      </p:sp>
      <p:sp>
        <p:nvSpPr>
          <p:cNvPr id="435" name="Shape 433"/>
          <p:cNvSpPr/>
          <p:nvPr/>
        </p:nvSpPr>
        <p:spPr>
          <a:xfrm>
            <a:off x="4559808" y="2220619"/>
            <a:ext cx="152400" cy="152400"/>
          </a:xfrm>
          <a:prstGeom prst="ellipse">
            <a:avLst/>
          </a:prstGeom>
          <a:solidFill>
            <a:srgbClr val="B8860B"/>
          </a:solidFill>
          <a:ln w="12700">
            <a:solidFill>
              <a:srgbClr val="B8860B"/>
            </a:solidFill>
            <a:prstDash val="solid"/>
          </a:ln>
        </p:spPr>
      </p:sp>
      <p:sp>
        <p:nvSpPr>
          <p:cNvPr id="436" name="Shape 434"/>
          <p:cNvSpPr/>
          <p:nvPr/>
        </p:nvSpPr>
        <p:spPr>
          <a:xfrm>
            <a:off x="4581144" y="2258855"/>
            <a:ext cx="152400" cy="152400"/>
          </a:xfrm>
          <a:prstGeom prst="ellipse">
            <a:avLst/>
          </a:prstGeom>
          <a:solidFill>
            <a:srgbClr val="B8860B"/>
          </a:solidFill>
          <a:ln w="12700">
            <a:solidFill>
              <a:srgbClr val="B8860B"/>
            </a:solidFill>
            <a:prstDash val="solid"/>
          </a:ln>
        </p:spPr>
      </p:sp>
      <p:sp>
        <p:nvSpPr>
          <p:cNvPr id="437" name="Shape 435"/>
          <p:cNvSpPr/>
          <p:nvPr/>
        </p:nvSpPr>
        <p:spPr>
          <a:xfrm>
            <a:off x="4602480" y="2301240"/>
            <a:ext cx="152400" cy="152400"/>
          </a:xfrm>
          <a:prstGeom prst="ellipse">
            <a:avLst/>
          </a:prstGeom>
          <a:solidFill>
            <a:srgbClr val="B8860B"/>
          </a:solidFill>
          <a:ln w="12700">
            <a:solidFill>
              <a:srgbClr val="B8860B"/>
            </a:solidFill>
            <a:prstDash val="solid"/>
          </a:ln>
        </p:spPr>
      </p:sp>
      <p:sp>
        <p:nvSpPr>
          <p:cNvPr id="438" name="Shape 436"/>
          <p:cNvSpPr/>
          <p:nvPr/>
        </p:nvSpPr>
        <p:spPr>
          <a:xfrm>
            <a:off x="4623816" y="2343625"/>
            <a:ext cx="152400" cy="152400"/>
          </a:xfrm>
          <a:prstGeom prst="ellipse">
            <a:avLst/>
          </a:prstGeom>
          <a:solidFill>
            <a:srgbClr val="B8860B"/>
          </a:solidFill>
          <a:ln w="12700">
            <a:solidFill>
              <a:srgbClr val="B8860B"/>
            </a:solidFill>
            <a:prstDash val="solid"/>
          </a:ln>
        </p:spPr>
      </p:sp>
      <p:sp>
        <p:nvSpPr>
          <p:cNvPr id="439" name="Shape 437"/>
          <p:cNvSpPr/>
          <p:nvPr/>
        </p:nvSpPr>
        <p:spPr>
          <a:xfrm>
            <a:off x="4645152" y="2381861"/>
            <a:ext cx="152400" cy="152400"/>
          </a:xfrm>
          <a:prstGeom prst="ellipse">
            <a:avLst/>
          </a:prstGeom>
          <a:solidFill>
            <a:srgbClr val="B8860B"/>
          </a:solidFill>
          <a:ln w="12700">
            <a:solidFill>
              <a:srgbClr val="B8860B"/>
            </a:solidFill>
            <a:prstDash val="solid"/>
          </a:ln>
        </p:spPr>
      </p:sp>
      <p:sp>
        <p:nvSpPr>
          <p:cNvPr id="440" name="Shape 438"/>
          <p:cNvSpPr/>
          <p:nvPr/>
        </p:nvSpPr>
        <p:spPr>
          <a:xfrm>
            <a:off x="4666488" y="2412205"/>
            <a:ext cx="152400" cy="152400"/>
          </a:xfrm>
          <a:prstGeom prst="ellipse">
            <a:avLst/>
          </a:prstGeom>
          <a:solidFill>
            <a:srgbClr val="B8860B"/>
          </a:solidFill>
          <a:ln w="12700">
            <a:solidFill>
              <a:srgbClr val="B8860B"/>
            </a:solidFill>
            <a:prstDash val="solid"/>
          </a:ln>
        </p:spPr>
      </p:sp>
      <p:sp>
        <p:nvSpPr>
          <p:cNvPr id="441" name="Shape 439"/>
          <p:cNvSpPr/>
          <p:nvPr/>
        </p:nvSpPr>
        <p:spPr>
          <a:xfrm>
            <a:off x="4687824" y="2431687"/>
            <a:ext cx="152400" cy="152400"/>
          </a:xfrm>
          <a:prstGeom prst="ellipse">
            <a:avLst/>
          </a:prstGeom>
          <a:solidFill>
            <a:srgbClr val="B8860B"/>
          </a:solidFill>
          <a:ln w="12700">
            <a:solidFill>
              <a:srgbClr val="B8860B"/>
            </a:solidFill>
            <a:prstDash val="solid"/>
          </a:ln>
        </p:spPr>
      </p:sp>
      <p:sp>
        <p:nvSpPr>
          <p:cNvPr id="442" name="Shape 440"/>
          <p:cNvSpPr/>
          <p:nvPr/>
        </p:nvSpPr>
        <p:spPr>
          <a:xfrm>
            <a:off x="4709160" y="2438400"/>
            <a:ext cx="152400" cy="152400"/>
          </a:xfrm>
          <a:prstGeom prst="ellipse">
            <a:avLst/>
          </a:prstGeom>
          <a:solidFill>
            <a:srgbClr val="B8860B"/>
          </a:solidFill>
          <a:ln w="12700">
            <a:solidFill>
              <a:srgbClr val="B8860B"/>
            </a:solidFill>
            <a:prstDash val="solid"/>
          </a:ln>
        </p:spPr>
      </p:sp>
      <p:sp>
        <p:nvSpPr>
          <p:cNvPr id="443" name="Shape 441"/>
          <p:cNvSpPr/>
          <p:nvPr/>
        </p:nvSpPr>
        <p:spPr>
          <a:xfrm>
            <a:off x="4730496" y="2431687"/>
            <a:ext cx="152400" cy="152400"/>
          </a:xfrm>
          <a:prstGeom prst="ellipse">
            <a:avLst/>
          </a:prstGeom>
          <a:solidFill>
            <a:srgbClr val="B8860B"/>
          </a:solidFill>
          <a:ln w="12700">
            <a:solidFill>
              <a:srgbClr val="B8860B"/>
            </a:solidFill>
            <a:prstDash val="solid"/>
          </a:ln>
        </p:spPr>
      </p:sp>
      <p:sp>
        <p:nvSpPr>
          <p:cNvPr id="444" name="Shape 442"/>
          <p:cNvSpPr/>
          <p:nvPr/>
        </p:nvSpPr>
        <p:spPr>
          <a:xfrm>
            <a:off x="4751832" y="2412205"/>
            <a:ext cx="152400" cy="152400"/>
          </a:xfrm>
          <a:prstGeom prst="ellipse">
            <a:avLst/>
          </a:prstGeom>
          <a:solidFill>
            <a:srgbClr val="B8860B"/>
          </a:solidFill>
          <a:ln w="12700">
            <a:solidFill>
              <a:srgbClr val="B8860B"/>
            </a:solidFill>
            <a:prstDash val="solid"/>
          </a:ln>
        </p:spPr>
      </p:sp>
      <p:sp>
        <p:nvSpPr>
          <p:cNvPr id="445" name="Shape 443"/>
          <p:cNvSpPr/>
          <p:nvPr/>
        </p:nvSpPr>
        <p:spPr>
          <a:xfrm>
            <a:off x="4773168" y="2381861"/>
            <a:ext cx="152400" cy="152400"/>
          </a:xfrm>
          <a:prstGeom prst="ellipse">
            <a:avLst/>
          </a:prstGeom>
          <a:solidFill>
            <a:srgbClr val="B8860B"/>
          </a:solidFill>
          <a:ln w="12700">
            <a:solidFill>
              <a:srgbClr val="B8860B"/>
            </a:solidFill>
            <a:prstDash val="solid"/>
          </a:ln>
        </p:spPr>
      </p:sp>
      <p:sp>
        <p:nvSpPr>
          <p:cNvPr id="446" name="Shape 444"/>
          <p:cNvSpPr/>
          <p:nvPr/>
        </p:nvSpPr>
        <p:spPr>
          <a:xfrm>
            <a:off x="4794504" y="2343625"/>
            <a:ext cx="152400" cy="152400"/>
          </a:xfrm>
          <a:prstGeom prst="ellipse">
            <a:avLst/>
          </a:prstGeom>
          <a:solidFill>
            <a:srgbClr val="B8860B"/>
          </a:solidFill>
          <a:ln w="12700">
            <a:solidFill>
              <a:srgbClr val="B8860B"/>
            </a:solidFill>
            <a:prstDash val="solid"/>
          </a:ln>
        </p:spPr>
      </p:sp>
      <p:sp>
        <p:nvSpPr>
          <p:cNvPr id="447" name="Shape 445"/>
          <p:cNvSpPr/>
          <p:nvPr/>
        </p:nvSpPr>
        <p:spPr>
          <a:xfrm>
            <a:off x="4815840" y="2301240"/>
            <a:ext cx="152400" cy="152400"/>
          </a:xfrm>
          <a:prstGeom prst="ellipse">
            <a:avLst/>
          </a:prstGeom>
          <a:solidFill>
            <a:srgbClr val="B8860B"/>
          </a:solidFill>
          <a:ln w="12700">
            <a:solidFill>
              <a:srgbClr val="B8860B"/>
            </a:solidFill>
            <a:prstDash val="solid"/>
          </a:ln>
        </p:spPr>
      </p:sp>
      <p:sp>
        <p:nvSpPr>
          <p:cNvPr id="448" name="Shape 446"/>
          <p:cNvSpPr/>
          <p:nvPr/>
        </p:nvSpPr>
        <p:spPr>
          <a:xfrm>
            <a:off x="4837176" y="2258855"/>
            <a:ext cx="152400" cy="152400"/>
          </a:xfrm>
          <a:prstGeom prst="ellipse">
            <a:avLst/>
          </a:prstGeom>
          <a:solidFill>
            <a:srgbClr val="B8860B"/>
          </a:solidFill>
          <a:ln w="12700">
            <a:solidFill>
              <a:srgbClr val="B8860B"/>
            </a:solidFill>
            <a:prstDash val="solid"/>
          </a:ln>
        </p:spPr>
      </p:sp>
      <p:sp>
        <p:nvSpPr>
          <p:cNvPr id="449" name="Shape 447"/>
          <p:cNvSpPr/>
          <p:nvPr/>
        </p:nvSpPr>
        <p:spPr>
          <a:xfrm>
            <a:off x="4858512" y="2220619"/>
            <a:ext cx="152400" cy="152400"/>
          </a:xfrm>
          <a:prstGeom prst="ellipse">
            <a:avLst/>
          </a:prstGeom>
          <a:solidFill>
            <a:srgbClr val="B8860B"/>
          </a:solidFill>
          <a:ln w="12700">
            <a:solidFill>
              <a:srgbClr val="B8860B"/>
            </a:solidFill>
            <a:prstDash val="solid"/>
          </a:ln>
        </p:spPr>
      </p:sp>
      <p:sp>
        <p:nvSpPr>
          <p:cNvPr id="450" name="Shape 448"/>
          <p:cNvSpPr/>
          <p:nvPr/>
        </p:nvSpPr>
        <p:spPr>
          <a:xfrm>
            <a:off x="4879848" y="2190275"/>
            <a:ext cx="152400" cy="152400"/>
          </a:xfrm>
          <a:prstGeom prst="ellipse">
            <a:avLst/>
          </a:prstGeom>
          <a:solidFill>
            <a:srgbClr val="B8860B"/>
          </a:solidFill>
          <a:ln w="12700">
            <a:solidFill>
              <a:srgbClr val="B8860B"/>
            </a:solidFill>
            <a:prstDash val="solid"/>
          </a:ln>
        </p:spPr>
      </p:sp>
      <p:sp>
        <p:nvSpPr>
          <p:cNvPr id="451" name="Shape 449"/>
          <p:cNvSpPr/>
          <p:nvPr/>
        </p:nvSpPr>
        <p:spPr>
          <a:xfrm>
            <a:off x="4901184" y="2170793"/>
            <a:ext cx="152400" cy="152400"/>
          </a:xfrm>
          <a:prstGeom prst="ellipse">
            <a:avLst/>
          </a:prstGeom>
          <a:solidFill>
            <a:srgbClr val="B8860B"/>
          </a:solidFill>
          <a:ln w="12700">
            <a:solidFill>
              <a:srgbClr val="B8860B"/>
            </a:solidFill>
            <a:prstDash val="solid"/>
          </a:ln>
        </p:spPr>
      </p:sp>
      <p:sp>
        <p:nvSpPr>
          <p:cNvPr id="452" name="Shape 450"/>
          <p:cNvSpPr/>
          <p:nvPr/>
        </p:nvSpPr>
        <p:spPr>
          <a:xfrm>
            <a:off x="4922520" y="2164080"/>
            <a:ext cx="152400" cy="152400"/>
          </a:xfrm>
          <a:prstGeom prst="ellipse">
            <a:avLst/>
          </a:prstGeom>
          <a:solidFill>
            <a:srgbClr val="B8860B"/>
          </a:solidFill>
          <a:ln w="12700">
            <a:solidFill>
              <a:srgbClr val="B8860B"/>
            </a:solidFill>
            <a:prstDash val="solid"/>
          </a:ln>
        </p:spPr>
      </p:sp>
      <p:sp>
        <p:nvSpPr>
          <p:cNvPr id="453" name="Shape 451"/>
          <p:cNvSpPr/>
          <p:nvPr/>
        </p:nvSpPr>
        <p:spPr>
          <a:xfrm>
            <a:off x="4943856" y="2170793"/>
            <a:ext cx="152400" cy="152400"/>
          </a:xfrm>
          <a:prstGeom prst="ellipse">
            <a:avLst/>
          </a:prstGeom>
          <a:solidFill>
            <a:srgbClr val="B8860B"/>
          </a:solidFill>
          <a:ln w="12700">
            <a:solidFill>
              <a:srgbClr val="B8860B"/>
            </a:solidFill>
            <a:prstDash val="solid"/>
          </a:ln>
        </p:spPr>
      </p:sp>
      <p:sp>
        <p:nvSpPr>
          <p:cNvPr id="454" name="Shape 452"/>
          <p:cNvSpPr/>
          <p:nvPr/>
        </p:nvSpPr>
        <p:spPr>
          <a:xfrm>
            <a:off x="4965192" y="2190275"/>
            <a:ext cx="152400" cy="152400"/>
          </a:xfrm>
          <a:prstGeom prst="ellipse">
            <a:avLst/>
          </a:prstGeom>
          <a:solidFill>
            <a:srgbClr val="B8860B"/>
          </a:solidFill>
          <a:ln w="12700">
            <a:solidFill>
              <a:srgbClr val="B8860B"/>
            </a:solidFill>
            <a:prstDash val="solid"/>
          </a:ln>
        </p:spPr>
      </p:sp>
      <p:sp>
        <p:nvSpPr>
          <p:cNvPr id="455" name="Shape 453"/>
          <p:cNvSpPr/>
          <p:nvPr/>
        </p:nvSpPr>
        <p:spPr>
          <a:xfrm>
            <a:off x="4986528" y="2220619"/>
            <a:ext cx="152400" cy="152400"/>
          </a:xfrm>
          <a:prstGeom prst="ellipse">
            <a:avLst/>
          </a:prstGeom>
          <a:solidFill>
            <a:srgbClr val="B8860B"/>
          </a:solidFill>
          <a:ln w="12700">
            <a:solidFill>
              <a:srgbClr val="B8860B"/>
            </a:solidFill>
            <a:prstDash val="solid"/>
          </a:ln>
        </p:spPr>
      </p:sp>
      <p:sp>
        <p:nvSpPr>
          <p:cNvPr id="456" name="Shape 454"/>
          <p:cNvSpPr/>
          <p:nvPr/>
        </p:nvSpPr>
        <p:spPr>
          <a:xfrm>
            <a:off x="5007864" y="2258855"/>
            <a:ext cx="152400" cy="152400"/>
          </a:xfrm>
          <a:prstGeom prst="ellipse">
            <a:avLst/>
          </a:prstGeom>
          <a:solidFill>
            <a:srgbClr val="B8860B"/>
          </a:solidFill>
          <a:ln w="12700">
            <a:solidFill>
              <a:srgbClr val="B8860B"/>
            </a:solidFill>
            <a:prstDash val="solid"/>
          </a:ln>
        </p:spPr>
      </p:sp>
      <p:sp>
        <p:nvSpPr>
          <p:cNvPr id="457" name="Shape 455"/>
          <p:cNvSpPr/>
          <p:nvPr/>
        </p:nvSpPr>
        <p:spPr>
          <a:xfrm>
            <a:off x="5029200" y="2301240"/>
            <a:ext cx="152400" cy="152400"/>
          </a:xfrm>
          <a:prstGeom prst="ellipse">
            <a:avLst/>
          </a:prstGeom>
          <a:solidFill>
            <a:srgbClr val="B8860B"/>
          </a:solidFill>
          <a:ln w="12700">
            <a:solidFill>
              <a:srgbClr val="B8860B"/>
            </a:solidFill>
            <a:prstDash val="solid"/>
          </a:ln>
        </p:spPr>
      </p:sp>
      <p:sp>
        <p:nvSpPr>
          <p:cNvPr id="458" name="Shape 456"/>
          <p:cNvSpPr/>
          <p:nvPr/>
        </p:nvSpPr>
        <p:spPr>
          <a:xfrm>
            <a:off x="5050536" y="2343625"/>
            <a:ext cx="152400" cy="152400"/>
          </a:xfrm>
          <a:prstGeom prst="ellipse">
            <a:avLst/>
          </a:prstGeom>
          <a:solidFill>
            <a:srgbClr val="B8860B"/>
          </a:solidFill>
          <a:ln w="12700">
            <a:solidFill>
              <a:srgbClr val="B8860B"/>
            </a:solidFill>
            <a:prstDash val="solid"/>
          </a:ln>
        </p:spPr>
      </p:sp>
      <p:sp>
        <p:nvSpPr>
          <p:cNvPr id="459" name="Shape 457"/>
          <p:cNvSpPr/>
          <p:nvPr/>
        </p:nvSpPr>
        <p:spPr>
          <a:xfrm>
            <a:off x="5071872" y="2381861"/>
            <a:ext cx="152400" cy="152400"/>
          </a:xfrm>
          <a:prstGeom prst="ellipse">
            <a:avLst/>
          </a:prstGeom>
          <a:solidFill>
            <a:srgbClr val="B8860B"/>
          </a:solidFill>
          <a:ln w="12700">
            <a:solidFill>
              <a:srgbClr val="B8860B"/>
            </a:solidFill>
            <a:prstDash val="solid"/>
          </a:ln>
        </p:spPr>
      </p:sp>
      <p:sp>
        <p:nvSpPr>
          <p:cNvPr id="460" name="Shape 458"/>
          <p:cNvSpPr/>
          <p:nvPr/>
        </p:nvSpPr>
        <p:spPr>
          <a:xfrm>
            <a:off x="5093208" y="2412205"/>
            <a:ext cx="152400" cy="152400"/>
          </a:xfrm>
          <a:prstGeom prst="ellipse">
            <a:avLst/>
          </a:prstGeom>
          <a:solidFill>
            <a:srgbClr val="B8860B"/>
          </a:solidFill>
          <a:ln w="12700">
            <a:solidFill>
              <a:srgbClr val="B8860B"/>
            </a:solidFill>
            <a:prstDash val="solid"/>
          </a:ln>
        </p:spPr>
      </p:sp>
      <p:sp>
        <p:nvSpPr>
          <p:cNvPr id="461" name="Shape 459"/>
          <p:cNvSpPr/>
          <p:nvPr/>
        </p:nvSpPr>
        <p:spPr>
          <a:xfrm>
            <a:off x="5114544" y="2431687"/>
            <a:ext cx="152400" cy="152400"/>
          </a:xfrm>
          <a:prstGeom prst="ellipse">
            <a:avLst/>
          </a:prstGeom>
          <a:solidFill>
            <a:srgbClr val="B8860B"/>
          </a:solidFill>
          <a:ln w="12700">
            <a:solidFill>
              <a:srgbClr val="B8860B"/>
            </a:solidFill>
            <a:prstDash val="solid"/>
          </a:ln>
        </p:spPr>
      </p:sp>
      <p:sp>
        <p:nvSpPr>
          <p:cNvPr id="462" name="Shape 460"/>
          <p:cNvSpPr/>
          <p:nvPr/>
        </p:nvSpPr>
        <p:spPr>
          <a:xfrm>
            <a:off x="5135880" y="2438400"/>
            <a:ext cx="152400" cy="152400"/>
          </a:xfrm>
          <a:prstGeom prst="ellipse">
            <a:avLst/>
          </a:prstGeom>
          <a:solidFill>
            <a:srgbClr val="B8860B"/>
          </a:solidFill>
          <a:ln w="12700">
            <a:solidFill>
              <a:srgbClr val="B8860B"/>
            </a:solidFill>
            <a:prstDash val="solid"/>
          </a:ln>
        </p:spPr>
      </p:sp>
      <p:sp>
        <p:nvSpPr>
          <p:cNvPr id="463" name="Shape 461"/>
          <p:cNvSpPr/>
          <p:nvPr/>
        </p:nvSpPr>
        <p:spPr>
          <a:xfrm>
            <a:off x="5157216" y="2431687"/>
            <a:ext cx="152400" cy="152400"/>
          </a:xfrm>
          <a:prstGeom prst="ellipse">
            <a:avLst/>
          </a:prstGeom>
          <a:solidFill>
            <a:srgbClr val="B8860B"/>
          </a:solidFill>
          <a:ln w="12700">
            <a:solidFill>
              <a:srgbClr val="B8860B"/>
            </a:solidFill>
            <a:prstDash val="solid"/>
          </a:ln>
        </p:spPr>
      </p:sp>
      <p:sp>
        <p:nvSpPr>
          <p:cNvPr id="464" name="Shape 462"/>
          <p:cNvSpPr/>
          <p:nvPr/>
        </p:nvSpPr>
        <p:spPr>
          <a:xfrm>
            <a:off x="5178552" y="2412205"/>
            <a:ext cx="152400" cy="152400"/>
          </a:xfrm>
          <a:prstGeom prst="ellipse">
            <a:avLst/>
          </a:prstGeom>
          <a:solidFill>
            <a:srgbClr val="B8860B"/>
          </a:solidFill>
          <a:ln w="12700">
            <a:solidFill>
              <a:srgbClr val="B8860B"/>
            </a:solidFill>
            <a:prstDash val="solid"/>
          </a:ln>
        </p:spPr>
      </p:sp>
      <p:sp>
        <p:nvSpPr>
          <p:cNvPr id="465" name="Shape 463"/>
          <p:cNvSpPr/>
          <p:nvPr/>
        </p:nvSpPr>
        <p:spPr>
          <a:xfrm>
            <a:off x="5199888" y="2381861"/>
            <a:ext cx="152400" cy="152400"/>
          </a:xfrm>
          <a:prstGeom prst="ellipse">
            <a:avLst/>
          </a:prstGeom>
          <a:solidFill>
            <a:srgbClr val="B8860B"/>
          </a:solidFill>
          <a:ln w="12700">
            <a:solidFill>
              <a:srgbClr val="B8860B"/>
            </a:solidFill>
            <a:prstDash val="solid"/>
          </a:ln>
        </p:spPr>
      </p:sp>
      <p:sp>
        <p:nvSpPr>
          <p:cNvPr id="466" name="Shape 464"/>
          <p:cNvSpPr/>
          <p:nvPr/>
        </p:nvSpPr>
        <p:spPr>
          <a:xfrm>
            <a:off x="5221224" y="2343625"/>
            <a:ext cx="152400" cy="152400"/>
          </a:xfrm>
          <a:prstGeom prst="ellipse">
            <a:avLst/>
          </a:prstGeom>
          <a:solidFill>
            <a:srgbClr val="B8860B"/>
          </a:solidFill>
          <a:ln w="12700">
            <a:solidFill>
              <a:srgbClr val="B8860B"/>
            </a:solidFill>
            <a:prstDash val="solid"/>
          </a:ln>
        </p:spPr>
      </p:sp>
      <p:sp>
        <p:nvSpPr>
          <p:cNvPr id="467" name="Shape 465"/>
          <p:cNvSpPr/>
          <p:nvPr/>
        </p:nvSpPr>
        <p:spPr>
          <a:xfrm>
            <a:off x="5242560" y="2301240"/>
            <a:ext cx="152400" cy="152400"/>
          </a:xfrm>
          <a:prstGeom prst="ellipse">
            <a:avLst/>
          </a:prstGeom>
          <a:solidFill>
            <a:srgbClr val="B8860B"/>
          </a:solidFill>
          <a:ln w="12700">
            <a:solidFill>
              <a:srgbClr val="B8860B"/>
            </a:solidFill>
            <a:prstDash val="solid"/>
          </a:ln>
        </p:spPr>
      </p:sp>
      <p:sp>
        <p:nvSpPr>
          <p:cNvPr id="468" name="Shape 466"/>
          <p:cNvSpPr/>
          <p:nvPr/>
        </p:nvSpPr>
        <p:spPr>
          <a:xfrm>
            <a:off x="5263896" y="2258855"/>
            <a:ext cx="152400" cy="152400"/>
          </a:xfrm>
          <a:prstGeom prst="ellipse">
            <a:avLst/>
          </a:prstGeom>
          <a:solidFill>
            <a:srgbClr val="B8860B"/>
          </a:solidFill>
          <a:ln w="12700">
            <a:solidFill>
              <a:srgbClr val="B8860B"/>
            </a:solidFill>
            <a:prstDash val="solid"/>
          </a:ln>
        </p:spPr>
      </p:sp>
      <p:sp>
        <p:nvSpPr>
          <p:cNvPr id="469" name="Shape 467"/>
          <p:cNvSpPr/>
          <p:nvPr/>
        </p:nvSpPr>
        <p:spPr>
          <a:xfrm>
            <a:off x="5285232" y="2220619"/>
            <a:ext cx="152400" cy="152400"/>
          </a:xfrm>
          <a:prstGeom prst="ellipse">
            <a:avLst/>
          </a:prstGeom>
          <a:solidFill>
            <a:srgbClr val="B8860B"/>
          </a:solidFill>
          <a:ln w="12700">
            <a:solidFill>
              <a:srgbClr val="B8860B"/>
            </a:solidFill>
            <a:prstDash val="solid"/>
          </a:ln>
        </p:spPr>
      </p:sp>
      <p:sp>
        <p:nvSpPr>
          <p:cNvPr id="470" name="Shape 468"/>
          <p:cNvSpPr/>
          <p:nvPr/>
        </p:nvSpPr>
        <p:spPr>
          <a:xfrm>
            <a:off x="5306568" y="2190275"/>
            <a:ext cx="152400" cy="152400"/>
          </a:xfrm>
          <a:prstGeom prst="ellipse">
            <a:avLst/>
          </a:prstGeom>
          <a:solidFill>
            <a:srgbClr val="B8860B"/>
          </a:solidFill>
          <a:ln w="12700">
            <a:solidFill>
              <a:srgbClr val="B8860B"/>
            </a:solidFill>
            <a:prstDash val="solid"/>
          </a:ln>
        </p:spPr>
      </p:sp>
      <p:sp>
        <p:nvSpPr>
          <p:cNvPr id="471" name="Shape 469"/>
          <p:cNvSpPr/>
          <p:nvPr/>
        </p:nvSpPr>
        <p:spPr>
          <a:xfrm>
            <a:off x="5327904" y="2170793"/>
            <a:ext cx="152400" cy="152400"/>
          </a:xfrm>
          <a:prstGeom prst="ellipse">
            <a:avLst/>
          </a:prstGeom>
          <a:solidFill>
            <a:srgbClr val="B8860B"/>
          </a:solidFill>
          <a:ln w="12700">
            <a:solidFill>
              <a:srgbClr val="B8860B"/>
            </a:solidFill>
            <a:prstDash val="solid"/>
          </a:ln>
        </p:spPr>
      </p:sp>
      <p:sp>
        <p:nvSpPr>
          <p:cNvPr id="472" name="Shape 470"/>
          <p:cNvSpPr/>
          <p:nvPr/>
        </p:nvSpPr>
        <p:spPr>
          <a:xfrm>
            <a:off x="5349240" y="2164080"/>
            <a:ext cx="152400" cy="152400"/>
          </a:xfrm>
          <a:prstGeom prst="ellipse">
            <a:avLst/>
          </a:prstGeom>
          <a:solidFill>
            <a:srgbClr val="B8860B"/>
          </a:solidFill>
          <a:ln w="12700">
            <a:solidFill>
              <a:srgbClr val="B8860B"/>
            </a:solidFill>
            <a:prstDash val="solid"/>
          </a:ln>
        </p:spPr>
      </p:sp>
      <p:sp>
        <p:nvSpPr>
          <p:cNvPr id="473" name="Shape 471"/>
          <p:cNvSpPr/>
          <p:nvPr/>
        </p:nvSpPr>
        <p:spPr>
          <a:xfrm>
            <a:off x="5370576" y="2170793"/>
            <a:ext cx="152400" cy="152400"/>
          </a:xfrm>
          <a:prstGeom prst="ellipse">
            <a:avLst/>
          </a:prstGeom>
          <a:solidFill>
            <a:srgbClr val="B8860B"/>
          </a:solidFill>
          <a:ln w="12700">
            <a:solidFill>
              <a:srgbClr val="B8860B"/>
            </a:solidFill>
            <a:prstDash val="solid"/>
          </a:ln>
        </p:spPr>
      </p:sp>
      <p:sp>
        <p:nvSpPr>
          <p:cNvPr id="474" name="Shape 472"/>
          <p:cNvSpPr/>
          <p:nvPr/>
        </p:nvSpPr>
        <p:spPr>
          <a:xfrm>
            <a:off x="5391912" y="2190275"/>
            <a:ext cx="152400" cy="152400"/>
          </a:xfrm>
          <a:prstGeom prst="ellipse">
            <a:avLst/>
          </a:prstGeom>
          <a:solidFill>
            <a:srgbClr val="B8860B"/>
          </a:solidFill>
          <a:ln w="12700">
            <a:solidFill>
              <a:srgbClr val="B8860B"/>
            </a:solidFill>
            <a:prstDash val="solid"/>
          </a:ln>
        </p:spPr>
      </p:sp>
      <p:sp>
        <p:nvSpPr>
          <p:cNvPr id="475" name="Shape 473"/>
          <p:cNvSpPr/>
          <p:nvPr/>
        </p:nvSpPr>
        <p:spPr>
          <a:xfrm>
            <a:off x="5413248" y="2220619"/>
            <a:ext cx="152400" cy="152400"/>
          </a:xfrm>
          <a:prstGeom prst="ellipse">
            <a:avLst/>
          </a:prstGeom>
          <a:solidFill>
            <a:srgbClr val="B8860B"/>
          </a:solidFill>
          <a:ln w="12700">
            <a:solidFill>
              <a:srgbClr val="B8860B"/>
            </a:solidFill>
            <a:prstDash val="solid"/>
          </a:ln>
        </p:spPr>
      </p:sp>
      <p:sp>
        <p:nvSpPr>
          <p:cNvPr id="476" name="Shape 474"/>
          <p:cNvSpPr/>
          <p:nvPr/>
        </p:nvSpPr>
        <p:spPr>
          <a:xfrm>
            <a:off x="5434584" y="2258855"/>
            <a:ext cx="152400" cy="152400"/>
          </a:xfrm>
          <a:prstGeom prst="ellipse">
            <a:avLst/>
          </a:prstGeom>
          <a:solidFill>
            <a:srgbClr val="B8860B"/>
          </a:solidFill>
          <a:ln w="12700">
            <a:solidFill>
              <a:srgbClr val="B8860B"/>
            </a:solidFill>
            <a:prstDash val="solid"/>
          </a:ln>
        </p:spPr>
      </p:sp>
      <p:sp>
        <p:nvSpPr>
          <p:cNvPr id="477" name="Shape 475"/>
          <p:cNvSpPr/>
          <p:nvPr/>
        </p:nvSpPr>
        <p:spPr>
          <a:xfrm>
            <a:off x="5455920" y="2301240"/>
            <a:ext cx="152400" cy="152400"/>
          </a:xfrm>
          <a:prstGeom prst="ellipse">
            <a:avLst/>
          </a:prstGeom>
          <a:solidFill>
            <a:srgbClr val="B8860B"/>
          </a:solidFill>
          <a:ln w="12700">
            <a:solidFill>
              <a:srgbClr val="B8860B"/>
            </a:solidFill>
            <a:prstDash val="solid"/>
          </a:ln>
        </p:spPr>
      </p:sp>
      <p:sp>
        <p:nvSpPr>
          <p:cNvPr id="478" name="Shape 476"/>
          <p:cNvSpPr/>
          <p:nvPr/>
        </p:nvSpPr>
        <p:spPr>
          <a:xfrm>
            <a:off x="4251960" y="2377440"/>
            <a:ext cx="21336" cy="42385"/>
          </a:xfrm>
          <a:prstGeom prst="line">
            <a:avLst/>
          </a:prstGeom>
          <a:noFill/>
          <a:ln w="114300">
            <a:solidFill>
              <a:srgbClr val="FBEFD0"/>
            </a:solidFill>
            <a:prstDash val="solid"/>
          </a:ln>
        </p:spPr>
      </p:sp>
      <p:sp>
        <p:nvSpPr>
          <p:cNvPr id="479" name="Shape 477"/>
          <p:cNvSpPr/>
          <p:nvPr/>
        </p:nvSpPr>
        <p:spPr>
          <a:xfrm>
            <a:off x="4273296" y="2419825"/>
            <a:ext cx="21336" cy="38236"/>
          </a:xfrm>
          <a:prstGeom prst="line">
            <a:avLst/>
          </a:prstGeom>
          <a:noFill/>
          <a:ln w="114300">
            <a:solidFill>
              <a:srgbClr val="FBEFD0"/>
            </a:solidFill>
            <a:prstDash val="solid"/>
          </a:ln>
        </p:spPr>
      </p:sp>
      <p:sp>
        <p:nvSpPr>
          <p:cNvPr id="480" name="Shape 478"/>
          <p:cNvSpPr/>
          <p:nvPr/>
        </p:nvSpPr>
        <p:spPr>
          <a:xfrm>
            <a:off x="4294632" y="2458061"/>
            <a:ext cx="21336" cy="30344"/>
          </a:xfrm>
          <a:prstGeom prst="line">
            <a:avLst/>
          </a:prstGeom>
          <a:noFill/>
          <a:ln w="114300">
            <a:solidFill>
              <a:srgbClr val="FBEFD0"/>
            </a:solidFill>
            <a:prstDash val="solid"/>
          </a:ln>
        </p:spPr>
      </p:sp>
      <p:sp>
        <p:nvSpPr>
          <p:cNvPr id="481" name="Shape 479"/>
          <p:cNvSpPr/>
          <p:nvPr/>
        </p:nvSpPr>
        <p:spPr>
          <a:xfrm>
            <a:off x="4315968" y="2488405"/>
            <a:ext cx="21336" cy="19482"/>
          </a:xfrm>
          <a:prstGeom prst="line">
            <a:avLst/>
          </a:prstGeom>
          <a:noFill/>
          <a:ln w="114300">
            <a:solidFill>
              <a:srgbClr val="FBEFD0"/>
            </a:solidFill>
            <a:prstDash val="solid"/>
          </a:ln>
        </p:spPr>
      </p:sp>
      <p:sp>
        <p:nvSpPr>
          <p:cNvPr id="482" name="Shape 480"/>
          <p:cNvSpPr/>
          <p:nvPr/>
        </p:nvSpPr>
        <p:spPr>
          <a:xfrm>
            <a:off x="4337304" y="2507887"/>
            <a:ext cx="21336" cy="6713"/>
          </a:xfrm>
          <a:prstGeom prst="line">
            <a:avLst/>
          </a:prstGeom>
          <a:noFill/>
          <a:ln w="114300">
            <a:solidFill>
              <a:srgbClr val="FBEFD0"/>
            </a:solidFill>
            <a:prstDash val="solid"/>
          </a:ln>
        </p:spPr>
      </p:sp>
      <p:sp>
        <p:nvSpPr>
          <p:cNvPr id="483" name="Shape 481"/>
          <p:cNvSpPr/>
          <p:nvPr/>
        </p:nvSpPr>
        <p:spPr>
          <a:xfrm flipV="1">
            <a:off x="4358640" y="2507887"/>
            <a:ext cx="21336" cy="6713"/>
          </a:xfrm>
          <a:prstGeom prst="line">
            <a:avLst/>
          </a:prstGeom>
          <a:noFill/>
          <a:ln w="114300">
            <a:solidFill>
              <a:srgbClr val="FBEFD0"/>
            </a:solidFill>
            <a:prstDash val="solid"/>
          </a:ln>
        </p:spPr>
      </p:sp>
      <p:sp>
        <p:nvSpPr>
          <p:cNvPr id="484" name="Shape 482"/>
          <p:cNvSpPr/>
          <p:nvPr/>
        </p:nvSpPr>
        <p:spPr>
          <a:xfrm flipV="1">
            <a:off x="4379976" y="2488405"/>
            <a:ext cx="21336" cy="19482"/>
          </a:xfrm>
          <a:prstGeom prst="line">
            <a:avLst/>
          </a:prstGeom>
          <a:noFill/>
          <a:ln w="114300">
            <a:solidFill>
              <a:srgbClr val="FBEFD0"/>
            </a:solidFill>
            <a:prstDash val="solid"/>
          </a:ln>
        </p:spPr>
      </p:sp>
      <p:sp>
        <p:nvSpPr>
          <p:cNvPr id="485" name="Shape 483"/>
          <p:cNvSpPr/>
          <p:nvPr/>
        </p:nvSpPr>
        <p:spPr>
          <a:xfrm flipV="1">
            <a:off x="4401312" y="2458061"/>
            <a:ext cx="21336" cy="30344"/>
          </a:xfrm>
          <a:prstGeom prst="line">
            <a:avLst/>
          </a:prstGeom>
          <a:noFill/>
          <a:ln w="114300">
            <a:solidFill>
              <a:srgbClr val="FBEFD0"/>
            </a:solidFill>
            <a:prstDash val="solid"/>
          </a:ln>
        </p:spPr>
      </p:sp>
      <p:sp>
        <p:nvSpPr>
          <p:cNvPr id="486" name="Shape 484"/>
          <p:cNvSpPr/>
          <p:nvPr/>
        </p:nvSpPr>
        <p:spPr>
          <a:xfrm flipV="1">
            <a:off x="4422648" y="2419825"/>
            <a:ext cx="21336" cy="38236"/>
          </a:xfrm>
          <a:prstGeom prst="line">
            <a:avLst/>
          </a:prstGeom>
          <a:noFill/>
          <a:ln w="114300">
            <a:solidFill>
              <a:srgbClr val="FBEFD0"/>
            </a:solidFill>
            <a:prstDash val="solid"/>
          </a:ln>
        </p:spPr>
      </p:sp>
      <p:sp>
        <p:nvSpPr>
          <p:cNvPr id="487" name="Shape 485"/>
          <p:cNvSpPr/>
          <p:nvPr/>
        </p:nvSpPr>
        <p:spPr>
          <a:xfrm flipV="1">
            <a:off x="4443984" y="2377440"/>
            <a:ext cx="21336" cy="42385"/>
          </a:xfrm>
          <a:prstGeom prst="line">
            <a:avLst/>
          </a:prstGeom>
          <a:noFill/>
          <a:ln w="114300">
            <a:solidFill>
              <a:srgbClr val="FBEFD0"/>
            </a:solidFill>
            <a:prstDash val="solid"/>
          </a:ln>
        </p:spPr>
      </p:sp>
      <p:sp>
        <p:nvSpPr>
          <p:cNvPr id="488" name="Shape 486"/>
          <p:cNvSpPr/>
          <p:nvPr/>
        </p:nvSpPr>
        <p:spPr>
          <a:xfrm flipV="1">
            <a:off x="4465320" y="2335055"/>
            <a:ext cx="21336" cy="42385"/>
          </a:xfrm>
          <a:prstGeom prst="line">
            <a:avLst/>
          </a:prstGeom>
          <a:noFill/>
          <a:ln w="114300">
            <a:solidFill>
              <a:srgbClr val="FBEFD0"/>
            </a:solidFill>
            <a:prstDash val="solid"/>
          </a:ln>
        </p:spPr>
      </p:sp>
      <p:sp>
        <p:nvSpPr>
          <p:cNvPr id="489" name="Shape 487"/>
          <p:cNvSpPr/>
          <p:nvPr/>
        </p:nvSpPr>
        <p:spPr>
          <a:xfrm flipV="1">
            <a:off x="4486656" y="2296819"/>
            <a:ext cx="21336" cy="38236"/>
          </a:xfrm>
          <a:prstGeom prst="line">
            <a:avLst/>
          </a:prstGeom>
          <a:noFill/>
          <a:ln w="114300">
            <a:solidFill>
              <a:srgbClr val="FBEFD0"/>
            </a:solidFill>
            <a:prstDash val="solid"/>
          </a:ln>
        </p:spPr>
      </p:sp>
      <p:sp>
        <p:nvSpPr>
          <p:cNvPr id="490" name="Shape 488"/>
          <p:cNvSpPr/>
          <p:nvPr/>
        </p:nvSpPr>
        <p:spPr>
          <a:xfrm flipV="1">
            <a:off x="4507992" y="2266475"/>
            <a:ext cx="21336" cy="30344"/>
          </a:xfrm>
          <a:prstGeom prst="line">
            <a:avLst/>
          </a:prstGeom>
          <a:noFill/>
          <a:ln w="114300">
            <a:solidFill>
              <a:srgbClr val="FBEFD0"/>
            </a:solidFill>
            <a:prstDash val="solid"/>
          </a:ln>
        </p:spPr>
      </p:sp>
      <p:sp>
        <p:nvSpPr>
          <p:cNvPr id="491" name="Shape 489"/>
          <p:cNvSpPr/>
          <p:nvPr/>
        </p:nvSpPr>
        <p:spPr>
          <a:xfrm flipV="1">
            <a:off x="4529328" y="2246993"/>
            <a:ext cx="21336" cy="19482"/>
          </a:xfrm>
          <a:prstGeom prst="line">
            <a:avLst/>
          </a:prstGeom>
          <a:noFill/>
          <a:ln w="114300">
            <a:solidFill>
              <a:srgbClr val="FBEFD0"/>
            </a:solidFill>
            <a:prstDash val="solid"/>
          </a:ln>
        </p:spPr>
      </p:sp>
      <p:sp>
        <p:nvSpPr>
          <p:cNvPr id="492" name="Shape 490"/>
          <p:cNvSpPr/>
          <p:nvPr/>
        </p:nvSpPr>
        <p:spPr>
          <a:xfrm flipV="1">
            <a:off x="4550664" y="2240280"/>
            <a:ext cx="21336" cy="6713"/>
          </a:xfrm>
          <a:prstGeom prst="line">
            <a:avLst/>
          </a:prstGeom>
          <a:noFill/>
          <a:ln w="114300">
            <a:solidFill>
              <a:srgbClr val="FBEFD0"/>
            </a:solidFill>
            <a:prstDash val="solid"/>
          </a:ln>
        </p:spPr>
      </p:sp>
      <p:sp>
        <p:nvSpPr>
          <p:cNvPr id="493" name="Shape 491"/>
          <p:cNvSpPr/>
          <p:nvPr/>
        </p:nvSpPr>
        <p:spPr>
          <a:xfrm>
            <a:off x="4572000" y="2240280"/>
            <a:ext cx="21336" cy="6713"/>
          </a:xfrm>
          <a:prstGeom prst="line">
            <a:avLst/>
          </a:prstGeom>
          <a:noFill/>
          <a:ln w="114300">
            <a:solidFill>
              <a:srgbClr val="FBEFD0"/>
            </a:solidFill>
            <a:prstDash val="solid"/>
          </a:ln>
        </p:spPr>
      </p:sp>
      <p:sp>
        <p:nvSpPr>
          <p:cNvPr id="494" name="Shape 492"/>
          <p:cNvSpPr/>
          <p:nvPr/>
        </p:nvSpPr>
        <p:spPr>
          <a:xfrm>
            <a:off x="4593336" y="2246993"/>
            <a:ext cx="21336" cy="19482"/>
          </a:xfrm>
          <a:prstGeom prst="line">
            <a:avLst/>
          </a:prstGeom>
          <a:noFill/>
          <a:ln w="114300">
            <a:solidFill>
              <a:srgbClr val="FBEFD0"/>
            </a:solidFill>
            <a:prstDash val="solid"/>
          </a:ln>
        </p:spPr>
      </p:sp>
      <p:sp>
        <p:nvSpPr>
          <p:cNvPr id="495" name="Shape 493"/>
          <p:cNvSpPr/>
          <p:nvPr/>
        </p:nvSpPr>
        <p:spPr>
          <a:xfrm>
            <a:off x="4614672" y="2266475"/>
            <a:ext cx="21336" cy="30344"/>
          </a:xfrm>
          <a:prstGeom prst="line">
            <a:avLst/>
          </a:prstGeom>
          <a:noFill/>
          <a:ln w="114300">
            <a:solidFill>
              <a:srgbClr val="FBEFD0"/>
            </a:solidFill>
            <a:prstDash val="solid"/>
          </a:ln>
        </p:spPr>
      </p:sp>
      <p:sp>
        <p:nvSpPr>
          <p:cNvPr id="496" name="Shape 494"/>
          <p:cNvSpPr/>
          <p:nvPr/>
        </p:nvSpPr>
        <p:spPr>
          <a:xfrm>
            <a:off x="4636008" y="2296819"/>
            <a:ext cx="21336" cy="38236"/>
          </a:xfrm>
          <a:prstGeom prst="line">
            <a:avLst/>
          </a:prstGeom>
          <a:noFill/>
          <a:ln w="114300">
            <a:solidFill>
              <a:srgbClr val="FBEFD0"/>
            </a:solidFill>
            <a:prstDash val="solid"/>
          </a:ln>
        </p:spPr>
      </p:sp>
      <p:sp>
        <p:nvSpPr>
          <p:cNvPr id="497" name="Shape 495"/>
          <p:cNvSpPr/>
          <p:nvPr/>
        </p:nvSpPr>
        <p:spPr>
          <a:xfrm>
            <a:off x="4657344" y="2335055"/>
            <a:ext cx="21336" cy="42385"/>
          </a:xfrm>
          <a:prstGeom prst="line">
            <a:avLst/>
          </a:prstGeom>
          <a:noFill/>
          <a:ln w="114300">
            <a:solidFill>
              <a:srgbClr val="FBEFD0"/>
            </a:solidFill>
            <a:prstDash val="solid"/>
          </a:ln>
        </p:spPr>
      </p:sp>
      <p:sp>
        <p:nvSpPr>
          <p:cNvPr id="498" name="Shape 496"/>
          <p:cNvSpPr/>
          <p:nvPr/>
        </p:nvSpPr>
        <p:spPr>
          <a:xfrm>
            <a:off x="4678680" y="2377440"/>
            <a:ext cx="21336" cy="42385"/>
          </a:xfrm>
          <a:prstGeom prst="line">
            <a:avLst/>
          </a:prstGeom>
          <a:noFill/>
          <a:ln w="114300">
            <a:solidFill>
              <a:srgbClr val="FBEFD0"/>
            </a:solidFill>
            <a:prstDash val="solid"/>
          </a:ln>
        </p:spPr>
      </p:sp>
      <p:sp>
        <p:nvSpPr>
          <p:cNvPr id="499" name="Shape 497"/>
          <p:cNvSpPr/>
          <p:nvPr/>
        </p:nvSpPr>
        <p:spPr>
          <a:xfrm>
            <a:off x="4700016" y="2419825"/>
            <a:ext cx="21336" cy="38236"/>
          </a:xfrm>
          <a:prstGeom prst="line">
            <a:avLst/>
          </a:prstGeom>
          <a:noFill/>
          <a:ln w="114300">
            <a:solidFill>
              <a:srgbClr val="FBEFD0"/>
            </a:solidFill>
            <a:prstDash val="solid"/>
          </a:ln>
        </p:spPr>
      </p:sp>
      <p:sp>
        <p:nvSpPr>
          <p:cNvPr id="500" name="Shape 498"/>
          <p:cNvSpPr/>
          <p:nvPr/>
        </p:nvSpPr>
        <p:spPr>
          <a:xfrm>
            <a:off x="4721352" y="2458061"/>
            <a:ext cx="21336" cy="30344"/>
          </a:xfrm>
          <a:prstGeom prst="line">
            <a:avLst/>
          </a:prstGeom>
          <a:noFill/>
          <a:ln w="114300">
            <a:solidFill>
              <a:srgbClr val="FBEFD0"/>
            </a:solidFill>
            <a:prstDash val="solid"/>
          </a:ln>
        </p:spPr>
      </p:sp>
      <p:sp>
        <p:nvSpPr>
          <p:cNvPr id="501" name="Shape 499"/>
          <p:cNvSpPr/>
          <p:nvPr/>
        </p:nvSpPr>
        <p:spPr>
          <a:xfrm>
            <a:off x="4742688" y="2488405"/>
            <a:ext cx="21336" cy="19482"/>
          </a:xfrm>
          <a:prstGeom prst="line">
            <a:avLst/>
          </a:prstGeom>
          <a:noFill/>
          <a:ln w="114300">
            <a:solidFill>
              <a:srgbClr val="FBEFD0"/>
            </a:solidFill>
            <a:prstDash val="solid"/>
          </a:ln>
        </p:spPr>
      </p:sp>
      <p:sp>
        <p:nvSpPr>
          <p:cNvPr id="502" name="Shape 500"/>
          <p:cNvSpPr/>
          <p:nvPr/>
        </p:nvSpPr>
        <p:spPr>
          <a:xfrm>
            <a:off x="4764024" y="2507887"/>
            <a:ext cx="21336" cy="6713"/>
          </a:xfrm>
          <a:prstGeom prst="line">
            <a:avLst/>
          </a:prstGeom>
          <a:noFill/>
          <a:ln w="114300">
            <a:solidFill>
              <a:srgbClr val="FBEFD0"/>
            </a:solidFill>
            <a:prstDash val="solid"/>
          </a:ln>
        </p:spPr>
      </p:sp>
      <p:sp>
        <p:nvSpPr>
          <p:cNvPr id="503" name="Shape 501"/>
          <p:cNvSpPr/>
          <p:nvPr/>
        </p:nvSpPr>
        <p:spPr>
          <a:xfrm flipV="1">
            <a:off x="4785360" y="2507887"/>
            <a:ext cx="21336" cy="6713"/>
          </a:xfrm>
          <a:prstGeom prst="line">
            <a:avLst/>
          </a:prstGeom>
          <a:noFill/>
          <a:ln w="114300">
            <a:solidFill>
              <a:srgbClr val="FBEFD0"/>
            </a:solidFill>
            <a:prstDash val="solid"/>
          </a:ln>
        </p:spPr>
      </p:sp>
      <p:sp>
        <p:nvSpPr>
          <p:cNvPr id="504" name="Shape 502"/>
          <p:cNvSpPr/>
          <p:nvPr/>
        </p:nvSpPr>
        <p:spPr>
          <a:xfrm flipV="1">
            <a:off x="4806696" y="2488405"/>
            <a:ext cx="21336" cy="19482"/>
          </a:xfrm>
          <a:prstGeom prst="line">
            <a:avLst/>
          </a:prstGeom>
          <a:noFill/>
          <a:ln w="114300">
            <a:solidFill>
              <a:srgbClr val="FBEFD0"/>
            </a:solidFill>
            <a:prstDash val="solid"/>
          </a:ln>
        </p:spPr>
      </p:sp>
      <p:sp>
        <p:nvSpPr>
          <p:cNvPr id="505" name="Shape 503"/>
          <p:cNvSpPr/>
          <p:nvPr/>
        </p:nvSpPr>
        <p:spPr>
          <a:xfrm flipV="1">
            <a:off x="4828032" y="2458061"/>
            <a:ext cx="21336" cy="30344"/>
          </a:xfrm>
          <a:prstGeom prst="line">
            <a:avLst/>
          </a:prstGeom>
          <a:noFill/>
          <a:ln w="114300">
            <a:solidFill>
              <a:srgbClr val="FBEFD0"/>
            </a:solidFill>
            <a:prstDash val="solid"/>
          </a:ln>
        </p:spPr>
      </p:sp>
      <p:sp>
        <p:nvSpPr>
          <p:cNvPr id="506" name="Shape 504"/>
          <p:cNvSpPr/>
          <p:nvPr/>
        </p:nvSpPr>
        <p:spPr>
          <a:xfrm flipV="1">
            <a:off x="4849368" y="2419825"/>
            <a:ext cx="21336" cy="38236"/>
          </a:xfrm>
          <a:prstGeom prst="line">
            <a:avLst/>
          </a:prstGeom>
          <a:noFill/>
          <a:ln w="114300">
            <a:solidFill>
              <a:srgbClr val="FBEFD0"/>
            </a:solidFill>
            <a:prstDash val="solid"/>
          </a:ln>
        </p:spPr>
      </p:sp>
      <p:sp>
        <p:nvSpPr>
          <p:cNvPr id="507" name="Shape 505"/>
          <p:cNvSpPr/>
          <p:nvPr/>
        </p:nvSpPr>
        <p:spPr>
          <a:xfrm flipV="1">
            <a:off x="4870704" y="2377440"/>
            <a:ext cx="21336" cy="42385"/>
          </a:xfrm>
          <a:prstGeom prst="line">
            <a:avLst/>
          </a:prstGeom>
          <a:noFill/>
          <a:ln w="114300">
            <a:solidFill>
              <a:srgbClr val="FBEFD0"/>
            </a:solidFill>
            <a:prstDash val="solid"/>
          </a:ln>
        </p:spPr>
      </p:sp>
      <p:sp>
        <p:nvSpPr>
          <p:cNvPr id="508" name="Shape 506"/>
          <p:cNvSpPr/>
          <p:nvPr/>
        </p:nvSpPr>
        <p:spPr>
          <a:xfrm flipV="1">
            <a:off x="4892040" y="2335055"/>
            <a:ext cx="21336" cy="42385"/>
          </a:xfrm>
          <a:prstGeom prst="line">
            <a:avLst/>
          </a:prstGeom>
          <a:noFill/>
          <a:ln w="114300">
            <a:solidFill>
              <a:srgbClr val="FBEFD0"/>
            </a:solidFill>
            <a:prstDash val="solid"/>
          </a:ln>
        </p:spPr>
      </p:sp>
      <p:sp>
        <p:nvSpPr>
          <p:cNvPr id="509" name="Shape 507"/>
          <p:cNvSpPr/>
          <p:nvPr/>
        </p:nvSpPr>
        <p:spPr>
          <a:xfrm flipV="1">
            <a:off x="4913376" y="2296819"/>
            <a:ext cx="21336" cy="38236"/>
          </a:xfrm>
          <a:prstGeom prst="line">
            <a:avLst/>
          </a:prstGeom>
          <a:noFill/>
          <a:ln w="114300">
            <a:solidFill>
              <a:srgbClr val="FBEFD0"/>
            </a:solidFill>
            <a:prstDash val="solid"/>
          </a:ln>
        </p:spPr>
      </p:sp>
      <p:sp>
        <p:nvSpPr>
          <p:cNvPr id="510" name="Shape 508"/>
          <p:cNvSpPr/>
          <p:nvPr/>
        </p:nvSpPr>
        <p:spPr>
          <a:xfrm flipV="1">
            <a:off x="4934712" y="2266475"/>
            <a:ext cx="21336" cy="30344"/>
          </a:xfrm>
          <a:prstGeom prst="line">
            <a:avLst/>
          </a:prstGeom>
          <a:noFill/>
          <a:ln w="114300">
            <a:solidFill>
              <a:srgbClr val="FBEFD0"/>
            </a:solidFill>
            <a:prstDash val="solid"/>
          </a:ln>
        </p:spPr>
      </p:sp>
      <p:sp>
        <p:nvSpPr>
          <p:cNvPr id="511" name="Shape 509"/>
          <p:cNvSpPr/>
          <p:nvPr/>
        </p:nvSpPr>
        <p:spPr>
          <a:xfrm flipV="1">
            <a:off x="4956048" y="2246993"/>
            <a:ext cx="21336" cy="19482"/>
          </a:xfrm>
          <a:prstGeom prst="line">
            <a:avLst/>
          </a:prstGeom>
          <a:noFill/>
          <a:ln w="114300">
            <a:solidFill>
              <a:srgbClr val="FBEFD0"/>
            </a:solidFill>
            <a:prstDash val="solid"/>
          </a:ln>
        </p:spPr>
      </p:sp>
      <p:sp>
        <p:nvSpPr>
          <p:cNvPr id="512" name="Shape 510"/>
          <p:cNvSpPr/>
          <p:nvPr/>
        </p:nvSpPr>
        <p:spPr>
          <a:xfrm flipV="1">
            <a:off x="4977384" y="2240280"/>
            <a:ext cx="21336" cy="6713"/>
          </a:xfrm>
          <a:prstGeom prst="line">
            <a:avLst/>
          </a:prstGeom>
          <a:noFill/>
          <a:ln w="114300">
            <a:solidFill>
              <a:srgbClr val="FBEFD0"/>
            </a:solidFill>
            <a:prstDash val="solid"/>
          </a:ln>
        </p:spPr>
      </p:sp>
      <p:sp>
        <p:nvSpPr>
          <p:cNvPr id="513" name="Shape 511"/>
          <p:cNvSpPr/>
          <p:nvPr/>
        </p:nvSpPr>
        <p:spPr>
          <a:xfrm>
            <a:off x="4998720" y="2240280"/>
            <a:ext cx="21336" cy="6713"/>
          </a:xfrm>
          <a:prstGeom prst="line">
            <a:avLst/>
          </a:prstGeom>
          <a:noFill/>
          <a:ln w="114300">
            <a:solidFill>
              <a:srgbClr val="FBEFD0"/>
            </a:solidFill>
            <a:prstDash val="solid"/>
          </a:ln>
        </p:spPr>
      </p:sp>
      <p:sp>
        <p:nvSpPr>
          <p:cNvPr id="514" name="Shape 512"/>
          <p:cNvSpPr/>
          <p:nvPr/>
        </p:nvSpPr>
        <p:spPr>
          <a:xfrm>
            <a:off x="5020056" y="2246993"/>
            <a:ext cx="21336" cy="19482"/>
          </a:xfrm>
          <a:prstGeom prst="line">
            <a:avLst/>
          </a:prstGeom>
          <a:noFill/>
          <a:ln w="114300">
            <a:solidFill>
              <a:srgbClr val="FBEFD0"/>
            </a:solidFill>
            <a:prstDash val="solid"/>
          </a:ln>
        </p:spPr>
      </p:sp>
      <p:sp>
        <p:nvSpPr>
          <p:cNvPr id="515" name="Shape 513"/>
          <p:cNvSpPr/>
          <p:nvPr/>
        </p:nvSpPr>
        <p:spPr>
          <a:xfrm>
            <a:off x="5041392" y="2266475"/>
            <a:ext cx="21336" cy="30344"/>
          </a:xfrm>
          <a:prstGeom prst="line">
            <a:avLst/>
          </a:prstGeom>
          <a:noFill/>
          <a:ln w="114300">
            <a:solidFill>
              <a:srgbClr val="FBEFD0"/>
            </a:solidFill>
            <a:prstDash val="solid"/>
          </a:ln>
        </p:spPr>
      </p:sp>
      <p:sp>
        <p:nvSpPr>
          <p:cNvPr id="516" name="Shape 514"/>
          <p:cNvSpPr/>
          <p:nvPr/>
        </p:nvSpPr>
        <p:spPr>
          <a:xfrm>
            <a:off x="5062728" y="2296819"/>
            <a:ext cx="21336" cy="38236"/>
          </a:xfrm>
          <a:prstGeom prst="line">
            <a:avLst/>
          </a:prstGeom>
          <a:noFill/>
          <a:ln w="114300">
            <a:solidFill>
              <a:srgbClr val="FBEFD0"/>
            </a:solidFill>
            <a:prstDash val="solid"/>
          </a:ln>
        </p:spPr>
      </p:sp>
      <p:sp>
        <p:nvSpPr>
          <p:cNvPr id="517" name="Shape 515"/>
          <p:cNvSpPr/>
          <p:nvPr/>
        </p:nvSpPr>
        <p:spPr>
          <a:xfrm>
            <a:off x="5084064" y="2335055"/>
            <a:ext cx="21336" cy="42385"/>
          </a:xfrm>
          <a:prstGeom prst="line">
            <a:avLst/>
          </a:prstGeom>
          <a:noFill/>
          <a:ln w="114300">
            <a:solidFill>
              <a:srgbClr val="FBEFD0"/>
            </a:solidFill>
            <a:prstDash val="solid"/>
          </a:ln>
        </p:spPr>
      </p:sp>
      <p:sp>
        <p:nvSpPr>
          <p:cNvPr id="518" name="Shape 516"/>
          <p:cNvSpPr/>
          <p:nvPr/>
        </p:nvSpPr>
        <p:spPr>
          <a:xfrm>
            <a:off x="5105400" y="2377440"/>
            <a:ext cx="21336" cy="42385"/>
          </a:xfrm>
          <a:prstGeom prst="line">
            <a:avLst/>
          </a:prstGeom>
          <a:noFill/>
          <a:ln w="114300">
            <a:solidFill>
              <a:srgbClr val="FBEFD0"/>
            </a:solidFill>
            <a:prstDash val="solid"/>
          </a:ln>
        </p:spPr>
      </p:sp>
      <p:sp>
        <p:nvSpPr>
          <p:cNvPr id="519" name="Shape 517"/>
          <p:cNvSpPr/>
          <p:nvPr/>
        </p:nvSpPr>
        <p:spPr>
          <a:xfrm>
            <a:off x="5126736" y="2419825"/>
            <a:ext cx="21336" cy="38236"/>
          </a:xfrm>
          <a:prstGeom prst="line">
            <a:avLst/>
          </a:prstGeom>
          <a:noFill/>
          <a:ln w="114300">
            <a:solidFill>
              <a:srgbClr val="FBEFD0"/>
            </a:solidFill>
            <a:prstDash val="solid"/>
          </a:ln>
        </p:spPr>
      </p:sp>
      <p:sp>
        <p:nvSpPr>
          <p:cNvPr id="520" name="Shape 518"/>
          <p:cNvSpPr/>
          <p:nvPr/>
        </p:nvSpPr>
        <p:spPr>
          <a:xfrm>
            <a:off x="5148072" y="2458061"/>
            <a:ext cx="21336" cy="30344"/>
          </a:xfrm>
          <a:prstGeom prst="line">
            <a:avLst/>
          </a:prstGeom>
          <a:noFill/>
          <a:ln w="114300">
            <a:solidFill>
              <a:srgbClr val="FBEFD0"/>
            </a:solidFill>
            <a:prstDash val="solid"/>
          </a:ln>
        </p:spPr>
      </p:sp>
      <p:sp>
        <p:nvSpPr>
          <p:cNvPr id="521" name="Shape 519"/>
          <p:cNvSpPr/>
          <p:nvPr/>
        </p:nvSpPr>
        <p:spPr>
          <a:xfrm>
            <a:off x="5169408" y="2488405"/>
            <a:ext cx="21336" cy="19482"/>
          </a:xfrm>
          <a:prstGeom prst="line">
            <a:avLst/>
          </a:prstGeom>
          <a:noFill/>
          <a:ln w="114300">
            <a:solidFill>
              <a:srgbClr val="FBEFD0"/>
            </a:solidFill>
            <a:prstDash val="solid"/>
          </a:ln>
        </p:spPr>
      </p:sp>
      <p:sp>
        <p:nvSpPr>
          <p:cNvPr id="522" name="Shape 520"/>
          <p:cNvSpPr/>
          <p:nvPr/>
        </p:nvSpPr>
        <p:spPr>
          <a:xfrm>
            <a:off x="5190744" y="2507887"/>
            <a:ext cx="21336" cy="6713"/>
          </a:xfrm>
          <a:prstGeom prst="line">
            <a:avLst/>
          </a:prstGeom>
          <a:noFill/>
          <a:ln w="114300">
            <a:solidFill>
              <a:srgbClr val="FBEFD0"/>
            </a:solidFill>
            <a:prstDash val="solid"/>
          </a:ln>
        </p:spPr>
      </p:sp>
      <p:sp>
        <p:nvSpPr>
          <p:cNvPr id="523" name="Shape 521"/>
          <p:cNvSpPr/>
          <p:nvPr/>
        </p:nvSpPr>
        <p:spPr>
          <a:xfrm flipV="1">
            <a:off x="5212080" y="2507887"/>
            <a:ext cx="21336" cy="6713"/>
          </a:xfrm>
          <a:prstGeom prst="line">
            <a:avLst/>
          </a:prstGeom>
          <a:noFill/>
          <a:ln w="114300">
            <a:solidFill>
              <a:srgbClr val="FBEFD0"/>
            </a:solidFill>
            <a:prstDash val="solid"/>
          </a:ln>
        </p:spPr>
      </p:sp>
      <p:sp>
        <p:nvSpPr>
          <p:cNvPr id="524" name="Shape 522"/>
          <p:cNvSpPr/>
          <p:nvPr/>
        </p:nvSpPr>
        <p:spPr>
          <a:xfrm flipV="1">
            <a:off x="5233416" y="2488405"/>
            <a:ext cx="21336" cy="19482"/>
          </a:xfrm>
          <a:prstGeom prst="line">
            <a:avLst/>
          </a:prstGeom>
          <a:noFill/>
          <a:ln w="114300">
            <a:solidFill>
              <a:srgbClr val="FBEFD0"/>
            </a:solidFill>
            <a:prstDash val="solid"/>
          </a:ln>
        </p:spPr>
      </p:sp>
      <p:sp>
        <p:nvSpPr>
          <p:cNvPr id="525" name="Shape 523"/>
          <p:cNvSpPr/>
          <p:nvPr/>
        </p:nvSpPr>
        <p:spPr>
          <a:xfrm flipV="1">
            <a:off x="5254752" y="2458061"/>
            <a:ext cx="21336" cy="30344"/>
          </a:xfrm>
          <a:prstGeom prst="line">
            <a:avLst/>
          </a:prstGeom>
          <a:noFill/>
          <a:ln w="114300">
            <a:solidFill>
              <a:srgbClr val="FBEFD0"/>
            </a:solidFill>
            <a:prstDash val="solid"/>
          </a:ln>
        </p:spPr>
      </p:sp>
      <p:sp>
        <p:nvSpPr>
          <p:cNvPr id="526" name="Shape 524"/>
          <p:cNvSpPr/>
          <p:nvPr/>
        </p:nvSpPr>
        <p:spPr>
          <a:xfrm flipV="1">
            <a:off x="5276088" y="2419825"/>
            <a:ext cx="21336" cy="38236"/>
          </a:xfrm>
          <a:prstGeom prst="line">
            <a:avLst/>
          </a:prstGeom>
          <a:noFill/>
          <a:ln w="114300">
            <a:solidFill>
              <a:srgbClr val="FBEFD0"/>
            </a:solidFill>
            <a:prstDash val="solid"/>
          </a:ln>
        </p:spPr>
      </p:sp>
      <p:sp>
        <p:nvSpPr>
          <p:cNvPr id="527" name="Shape 525"/>
          <p:cNvSpPr/>
          <p:nvPr/>
        </p:nvSpPr>
        <p:spPr>
          <a:xfrm flipV="1">
            <a:off x="5297424" y="2377440"/>
            <a:ext cx="21336" cy="42385"/>
          </a:xfrm>
          <a:prstGeom prst="line">
            <a:avLst/>
          </a:prstGeom>
          <a:noFill/>
          <a:ln w="114300">
            <a:solidFill>
              <a:srgbClr val="FBEFD0"/>
            </a:solidFill>
            <a:prstDash val="solid"/>
          </a:ln>
        </p:spPr>
      </p:sp>
      <p:sp>
        <p:nvSpPr>
          <p:cNvPr id="528" name="Shape 526"/>
          <p:cNvSpPr/>
          <p:nvPr/>
        </p:nvSpPr>
        <p:spPr>
          <a:xfrm flipV="1">
            <a:off x="5318760" y="2335055"/>
            <a:ext cx="21336" cy="42385"/>
          </a:xfrm>
          <a:prstGeom prst="line">
            <a:avLst/>
          </a:prstGeom>
          <a:noFill/>
          <a:ln w="114300">
            <a:solidFill>
              <a:srgbClr val="FBEFD0"/>
            </a:solidFill>
            <a:prstDash val="solid"/>
          </a:ln>
        </p:spPr>
      </p:sp>
      <p:sp>
        <p:nvSpPr>
          <p:cNvPr id="529" name="Shape 527"/>
          <p:cNvSpPr/>
          <p:nvPr/>
        </p:nvSpPr>
        <p:spPr>
          <a:xfrm flipV="1">
            <a:off x="5340096" y="2296819"/>
            <a:ext cx="21336" cy="38236"/>
          </a:xfrm>
          <a:prstGeom prst="line">
            <a:avLst/>
          </a:prstGeom>
          <a:noFill/>
          <a:ln w="114300">
            <a:solidFill>
              <a:srgbClr val="FBEFD0"/>
            </a:solidFill>
            <a:prstDash val="solid"/>
          </a:ln>
        </p:spPr>
      </p:sp>
      <p:sp>
        <p:nvSpPr>
          <p:cNvPr id="530" name="Shape 528"/>
          <p:cNvSpPr/>
          <p:nvPr/>
        </p:nvSpPr>
        <p:spPr>
          <a:xfrm flipV="1">
            <a:off x="5361432" y="2266475"/>
            <a:ext cx="21336" cy="30344"/>
          </a:xfrm>
          <a:prstGeom prst="line">
            <a:avLst/>
          </a:prstGeom>
          <a:noFill/>
          <a:ln w="114300">
            <a:solidFill>
              <a:srgbClr val="FBEFD0"/>
            </a:solidFill>
            <a:prstDash val="solid"/>
          </a:ln>
        </p:spPr>
      </p:sp>
      <p:sp>
        <p:nvSpPr>
          <p:cNvPr id="531" name="Shape 529"/>
          <p:cNvSpPr/>
          <p:nvPr/>
        </p:nvSpPr>
        <p:spPr>
          <a:xfrm flipV="1">
            <a:off x="5382768" y="2246993"/>
            <a:ext cx="21336" cy="19482"/>
          </a:xfrm>
          <a:prstGeom prst="line">
            <a:avLst/>
          </a:prstGeom>
          <a:noFill/>
          <a:ln w="114300">
            <a:solidFill>
              <a:srgbClr val="FBEFD0"/>
            </a:solidFill>
            <a:prstDash val="solid"/>
          </a:ln>
        </p:spPr>
      </p:sp>
      <p:sp>
        <p:nvSpPr>
          <p:cNvPr id="532" name="Shape 530"/>
          <p:cNvSpPr/>
          <p:nvPr/>
        </p:nvSpPr>
        <p:spPr>
          <a:xfrm flipV="1">
            <a:off x="5404104" y="2240280"/>
            <a:ext cx="21336" cy="6713"/>
          </a:xfrm>
          <a:prstGeom prst="line">
            <a:avLst/>
          </a:prstGeom>
          <a:noFill/>
          <a:ln w="114300">
            <a:solidFill>
              <a:srgbClr val="FBEFD0"/>
            </a:solidFill>
            <a:prstDash val="solid"/>
          </a:ln>
        </p:spPr>
      </p:sp>
      <p:sp>
        <p:nvSpPr>
          <p:cNvPr id="533" name="Shape 531"/>
          <p:cNvSpPr/>
          <p:nvPr/>
        </p:nvSpPr>
        <p:spPr>
          <a:xfrm>
            <a:off x="5425440" y="2240280"/>
            <a:ext cx="21336" cy="6713"/>
          </a:xfrm>
          <a:prstGeom prst="line">
            <a:avLst/>
          </a:prstGeom>
          <a:noFill/>
          <a:ln w="114300">
            <a:solidFill>
              <a:srgbClr val="FBEFD0"/>
            </a:solidFill>
            <a:prstDash val="solid"/>
          </a:ln>
        </p:spPr>
      </p:sp>
      <p:sp>
        <p:nvSpPr>
          <p:cNvPr id="534" name="Shape 532"/>
          <p:cNvSpPr/>
          <p:nvPr/>
        </p:nvSpPr>
        <p:spPr>
          <a:xfrm>
            <a:off x="5446776" y="2246993"/>
            <a:ext cx="21336" cy="19482"/>
          </a:xfrm>
          <a:prstGeom prst="line">
            <a:avLst/>
          </a:prstGeom>
          <a:noFill/>
          <a:ln w="114300">
            <a:solidFill>
              <a:srgbClr val="FBEFD0"/>
            </a:solidFill>
            <a:prstDash val="solid"/>
          </a:ln>
        </p:spPr>
      </p:sp>
      <p:sp>
        <p:nvSpPr>
          <p:cNvPr id="535" name="Shape 533"/>
          <p:cNvSpPr/>
          <p:nvPr/>
        </p:nvSpPr>
        <p:spPr>
          <a:xfrm>
            <a:off x="5468112" y="2266475"/>
            <a:ext cx="21336" cy="30344"/>
          </a:xfrm>
          <a:prstGeom prst="line">
            <a:avLst/>
          </a:prstGeom>
          <a:noFill/>
          <a:ln w="114300">
            <a:solidFill>
              <a:srgbClr val="FBEFD0"/>
            </a:solidFill>
            <a:prstDash val="solid"/>
          </a:ln>
        </p:spPr>
      </p:sp>
      <p:sp>
        <p:nvSpPr>
          <p:cNvPr id="536" name="Shape 534"/>
          <p:cNvSpPr/>
          <p:nvPr/>
        </p:nvSpPr>
        <p:spPr>
          <a:xfrm>
            <a:off x="5489448" y="2296819"/>
            <a:ext cx="21336" cy="38236"/>
          </a:xfrm>
          <a:prstGeom prst="line">
            <a:avLst/>
          </a:prstGeom>
          <a:noFill/>
          <a:ln w="114300">
            <a:solidFill>
              <a:srgbClr val="FBEFD0"/>
            </a:solidFill>
            <a:prstDash val="solid"/>
          </a:ln>
        </p:spPr>
      </p:sp>
      <p:sp>
        <p:nvSpPr>
          <p:cNvPr id="537" name="Shape 535"/>
          <p:cNvSpPr/>
          <p:nvPr/>
        </p:nvSpPr>
        <p:spPr>
          <a:xfrm>
            <a:off x="5510784" y="2335055"/>
            <a:ext cx="21336" cy="42385"/>
          </a:xfrm>
          <a:prstGeom prst="line">
            <a:avLst/>
          </a:prstGeom>
          <a:noFill/>
          <a:ln w="114300">
            <a:solidFill>
              <a:srgbClr val="FBEFD0"/>
            </a:solidFill>
            <a:prstDash val="solid"/>
          </a:ln>
        </p:spPr>
      </p:sp>
      <p:sp>
        <p:nvSpPr>
          <p:cNvPr id="538" name="Shape 536"/>
          <p:cNvSpPr/>
          <p:nvPr/>
        </p:nvSpPr>
        <p:spPr>
          <a:xfrm>
            <a:off x="4194810" y="2320290"/>
            <a:ext cx="114300" cy="114300"/>
          </a:xfrm>
          <a:prstGeom prst="ellipse">
            <a:avLst/>
          </a:prstGeom>
          <a:solidFill>
            <a:srgbClr val="FBEFD0"/>
          </a:solidFill>
          <a:ln w="12700">
            <a:solidFill>
              <a:srgbClr val="FBEFD0"/>
            </a:solidFill>
            <a:prstDash val="solid"/>
          </a:ln>
        </p:spPr>
      </p:sp>
      <p:sp>
        <p:nvSpPr>
          <p:cNvPr id="539" name="Shape 537"/>
          <p:cNvSpPr/>
          <p:nvPr/>
        </p:nvSpPr>
        <p:spPr>
          <a:xfrm>
            <a:off x="4216146" y="2362675"/>
            <a:ext cx="114300" cy="114300"/>
          </a:xfrm>
          <a:prstGeom prst="ellipse">
            <a:avLst/>
          </a:prstGeom>
          <a:solidFill>
            <a:srgbClr val="FBEFD0"/>
          </a:solidFill>
          <a:ln w="12700">
            <a:solidFill>
              <a:srgbClr val="FBEFD0"/>
            </a:solidFill>
            <a:prstDash val="solid"/>
          </a:ln>
        </p:spPr>
      </p:sp>
      <p:sp>
        <p:nvSpPr>
          <p:cNvPr id="540" name="Shape 538"/>
          <p:cNvSpPr/>
          <p:nvPr/>
        </p:nvSpPr>
        <p:spPr>
          <a:xfrm>
            <a:off x="4237482" y="2400911"/>
            <a:ext cx="114300" cy="114300"/>
          </a:xfrm>
          <a:prstGeom prst="ellipse">
            <a:avLst/>
          </a:prstGeom>
          <a:solidFill>
            <a:srgbClr val="FBEFD0"/>
          </a:solidFill>
          <a:ln w="12700">
            <a:solidFill>
              <a:srgbClr val="FBEFD0"/>
            </a:solidFill>
            <a:prstDash val="solid"/>
          </a:ln>
        </p:spPr>
      </p:sp>
      <p:sp>
        <p:nvSpPr>
          <p:cNvPr id="541" name="Shape 539"/>
          <p:cNvSpPr/>
          <p:nvPr/>
        </p:nvSpPr>
        <p:spPr>
          <a:xfrm>
            <a:off x="4258818" y="2431255"/>
            <a:ext cx="114300" cy="114300"/>
          </a:xfrm>
          <a:prstGeom prst="ellipse">
            <a:avLst/>
          </a:prstGeom>
          <a:solidFill>
            <a:srgbClr val="FBEFD0"/>
          </a:solidFill>
          <a:ln w="12700">
            <a:solidFill>
              <a:srgbClr val="FBEFD0"/>
            </a:solidFill>
            <a:prstDash val="solid"/>
          </a:ln>
        </p:spPr>
      </p:sp>
      <p:sp>
        <p:nvSpPr>
          <p:cNvPr id="542" name="Shape 540"/>
          <p:cNvSpPr/>
          <p:nvPr/>
        </p:nvSpPr>
        <p:spPr>
          <a:xfrm>
            <a:off x="4280154" y="2450737"/>
            <a:ext cx="114300" cy="114300"/>
          </a:xfrm>
          <a:prstGeom prst="ellipse">
            <a:avLst/>
          </a:prstGeom>
          <a:solidFill>
            <a:srgbClr val="FBEFD0"/>
          </a:solidFill>
          <a:ln w="12700">
            <a:solidFill>
              <a:srgbClr val="FBEFD0"/>
            </a:solidFill>
            <a:prstDash val="solid"/>
          </a:ln>
        </p:spPr>
      </p:sp>
      <p:sp>
        <p:nvSpPr>
          <p:cNvPr id="543" name="Shape 541"/>
          <p:cNvSpPr/>
          <p:nvPr/>
        </p:nvSpPr>
        <p:spPr>
          <a:xfrm>
            <a:off x="4301490" y="2457450"/>
            <a:ext cx="114300" cy="114300"/>
          </a:xfrm>
          <a:prstGeom prst="ellipse">
            <a:avLst/>
          </a:prstGeom>
          <a:solidFill>
            <a:srgbClr val="FBEFD0"/>
          </a:solidFill>
          <a:ln w="12700">
            <a:solidFill>
              <a:srgbClr val="FBEFD0"/>
            </a:solidFill>
            <a:prstDash val="solid"/>
          </a:ln>
        </p:spPr>
      </p:sp>
      <p:sp>
        <p:nvSpPr>
          <p:cNvPr id="544" name="Shape 542"/>
          <p:cNvSpPr/>
          <p:nvPr/>
        </p:nvSpPr>
        <p:spPr>
          <a:xfrm>
            <a:off x="4322826" y="2450737"/>
            <a:ext cx="114300" cy="114300"/>
          </a:xfrm>
          <a:prstGeom prst="ellipse">
            <a:avLst/>
          </a:prstGeom>
          <a:solidFill>
            <a:srgbClr val="FBEFD0"/>
          </a:solidFill>
          <a:ln w="12700">
            <a:solidFill>
              <a:srgbClr val="FBEFD0"/>
            </a:solidFill>
            <a:prstDash val="solid"/>
          </a:ln>
        </p:spPr>
      </p:sp>
      <p:sp>
        <p:nvSpPr>
          <p:cNvPr id="545" name="Shape 543"/>
          <p:cNvSpPr/>
          <p:nvPr/>
        </p:nvSpPr>
        <p:spPr>
          <a:xfrm>
            <a:off x="4344162" y="2431255"/>
            <a:ext cx="114300" cy="114300"/>
          </a:xfrm>
          <a:prstGeom prst="ellipse">
            <a:avLst/>
          </a:prstGeom>
          <a:solidFill>
            <a:srgbClr val="FBEFD0"/>
          </a:solidFill>
          <a:ln w="12700">
            <a:solidFill>
              <a:srgbClr val="FBEFD0"/>
            </a:solidFill>
            <a:prstDash val="solid"/>
          </a:ln>
        </p:spPr>
      </p:sp>
      <p:sp>
        <p:nvSpPr>
          <p:cNvPr id="546" name="Shape 544"/>
          <p:cNvSpPr/>
          <p:nvPr/>
        </p:nvSpPr>
        <p:spPr>
          <a:xfrm>
            <a:off x="4365498" y="2400911"/>
            <a:ext cx="114300" cy="114300"/>
          </a:xfrm>
          <a:prstGeom prst="ellipse">
            <a:avLst/>
          </a:prstGeom>
          <a:solidFill>
            <a:srgbClr val="FBEFD0"/>
          </a:solidFill>
          <a:ln w="12700">
            <a:solidFill>
              <a:srgbClr val="FBEFD0"/>
            </a:solidFill>
            <a:prstDash val="solid"/>
          </a:ln>
        </p:spPr>
      </p:sp>
      <p:sp>
        <p:nvSpPr>
          <p:cNvPr id="547" name="Shape 545"/>
          <p:cNvSpPr/>
          <p:nvPr/>
        </p:nvSpPr>
        <p:spPr>
          <a:xfrm>
            <a:off x="4386834" y="2362675"/>
            <a:ext cx="114300" cy="114300"/>
          </a:xfrm>
          <a:prstGeom prst="ellipse">
            <a:avLst/>
          </a:prstGeom>
          <a:solidFill>
            <a:srgbClr val="FBEFD0"/>
          </a:solidFill>
          <a:ln w="12700">
            <a:solidFill>
              <a:srgbClr val="FBEFD0"/>
            </a:solidFill>
            <a:prstDash val="solid"/>
          </a:ln>
        </p:spPr>
      </p:sp>
      <p:sp>
        <p:nvSpPr>
          <p:cNvPr id="548" name="Shape 546"/>
          <p:cNvSpPr/>
          <p:nvPr/>
        </p:nvSpPr>
        <p:spPr>
          <a:xfrm>
            <a:off x="4408170" y="2320290"/>
            <a:ext cx="114300" cy="114300"/>
          </a:xfrm>
          <a:prstGeom prst="ellipse">
            <a:avLst/>
          </a:prstGeom>
          <a:solidFill>
            <a:srgbClr val="FBEFD0"/>
          </a:solidFill>
          <a:ln w="12700">
            <a:solidFill>
              <a:srgbClr val="FBEFD0"/>
            </a:solidFill>
            <a:prstDash val="solid"/>
          </a:ln>
        </p:spPr>
      </p:sp>
      <p:sp>
        <p:nvSpPr>
          <p:cNvPr id="549" name="Shape 547"/>
          <p:cNvSpPr/>
          <p:nvPr/>
        </p:nvSpPr>
        <p:spPr>
          <a:xfrm>
            <a:off x="4429506" y="2277905"/>
            <a:ext cx="114300" cy="114300"/>
          </a:xfrm>
          <a:prstGeom prst="ellipse">
            <a:avLst/>
          </a:prstGeom>
          <a:solidFill>
            <a:srgbClr val="FBEFD0"/>
          </a:solidFill>
          <a:ln w="12700">
            <a:solidFill>
              <a:srgbClr val="FBEFD0"/>
            </a:solidFill>
            <a:prstDash val="solid"/>
          </a:ln>
        </p:spPr>
      </p:sp>
      <p:sp>
        <p:nvSpPr>
          <p:cNvPr id="550" name="Shape 548"/>
          <p:cNvSpPr/>
          <p:nvPr/>
        </p:nvSpPr>
        <p:spPr>
          <a:xfrm>
            <a:off x="4450842" y="2239669"/>
            <a:ext cx="114300" cy="114300"/>
          </a:xfrm>
          <a:prstGeom prst="ellipse">
            <a:avLst/>
          </a:prstGeom>
          <a:solidFill>
            <a:srgbClr val="FBEFD0"/>
          </a:solidFill>
          <a:ln w="12700">
            <a:solidFill>
              <a:srgbClr val="FBEFD0"/>
            </a:solidFill>
            <a:prstDash val="solid"/>
          </a:ln>
        </p:spPr>
      </p:sp>
      <p:sp>
        <p:nvSpPr>
          <p:cNvPr id="551" name="Shape 549"/>
          <p:cNvSpPr/>
          <p:nvPr/>
        </p:nvSpPr>
        <p:spPr>
          <a:xfrm>
            <a:off x="4472178" y="2209325"/>
            <a:ext cx="114300" cy="114300"/>
          </a:xfrm>
          <a:prstGeom prst="ellipse">
            <a:avLst/>
          </a:prstGeom>
          <a:solidFill>
            <a:srgbClr val="FBEFD0"/>
          </a:solidFill>
          <a:ln w="12700">
            <a:solidFill>
              <a:srgbClr val="FBEFD0"/>
            </a:solidFill>
            <a:prstDash val="solid"/>
          </a:ln>
        </p:spPr>
      </p:sp>
      <p:sp>
        <p:nvSpPr>
          <p:cNvPr id="552" name="Shape 550"/>
          <p:cNvSpPr/>
          <p:nvPr/>
        </p:nvSpPr>
        <p:spPr>
          <a:xfrm>
            <a:off x="4493514" y="2189843"/>
            <a:ext cx="114300" cy="114300"/>
          </a:xfrm>
          <a:prstGeom prst="ellipse">
            <a:avLst/>
          </a:prstGeom>
          <a:solidFill>
            <a:srgbClr val="FBEFD0"/>
          </a:solidFill>
          <a:ln w="12700">
            <a:solidFill>
              <a:srgbClr val="FBEFD0"/>
            </a:solidFill>
            <a:prstDash val="solid"/>
          </a:ln>
        </p:spPr>
      </p:sp>
      <p:sp>
        <p:nvSpPr>
          <p:cNvPr id="553" name="Shape 551"/>
          <p:cNvSpPr/>
          <p:nvPr/>
        </p:nvSpPr>
        <p:spPr>
          <a:xfrm>
            <a:off x="4514850" y="2183130"/>
            <a:ext cx="114300" cy="114300"/>
          </a:xfrm>
          <a:prstGeom prst="ellipse">
            <a:avLst/>
          </a:prstGeom>
          <a:solidFill>
            <a:srgbClr val="FBEFD0"/>
          </a:solidFill>
          <a:ln w="12700">
            <a:solidFill>
              <a:srgbClr val="FBEFD0"/>
            </a:solidFill>
            <a:prstDash val="solid"/>
          </a:ln>
        </p:spPr>
      </p:sp>
      <p:sp>
        <p:nvSpPr>
          <p:cNvPr id="554" name="Shape 552"/>
          <p:cNvSpPr/>
          <p:nvPr/>
        </p:nvSpPr>
        <p:spPr>
          <a:xfrm>
            <a:off x="4536186" y="2189843"/>
            <a:ext cx="114300" cy="114300"/>
          </a:xfrm>
          <a:prstGeom prst="ellipse">
            <a:avLst/>
          </a:prstGeom>
          <a:solidFill>
            <a:srgbClr val="FBEFD0"/>
          </a:solidFill>
          <a:ln w="12700">
            <a:solidFill>
              <a:srgbClr val="FBEFD0"/>
            </a:solidFill>
            <a:prstDash val="solid"/>
          </a:ln>
        </p:spPr>
      </p:sp>
      <p:sp>
        <p:nvSpPr>
          <p:cNvPr id="555" name="Shape 553"/>
          <p:cNvSpPr/>
          <p:nvPr/>
        </p:nvSpPr>
        <p:spPr>
          <a:xfrm>
            <a:off x="4557522" y="2209325"/>
            <a:ext cx="114300" cy="114300"/>
          </a:xfrm>
          <a:prstGeom prst="ellipse">
            <a:avLst/>
          </a:prstGeom>
          <a:solidFill>
            <a:srgbClr val="FBEFD0"/>
          </a:solidFill>
          <a:ln w="12700">
            <a:solidFill>
              <a:srgbClr val="FBEFD0"/>
            </a:solidFill>
            <a:prstDash val="solid"/>
          </a:ln>
        </p:spPr>
      </p:sp>
      <p:sp>
        <p:nvSpPr>
          <p:cNvPr id="556" name="Shape 554"/>
          <p:cNvSpPr/>
          <p:nvPr/>
        </p:nvSpPr>
        <p:spPr>
          <a:xfrm>
            <a:off x="4578858" y="2239669"/>
            <a:ext cx="114300" cy="114300"/>
          </a:xfrm>
          <a:prstGeom prst="ellipse">
            <a:avLst/>
          </a:prstGeom>
          <a:solidFill>
            <a:srgbClr val="FBEFD0"/>
          </a:solidFill>
          <a:ln w="12700">
            <a:solidFill>
              <a:srgbClr val="FBEFD0"/>
            </a:solidFill>
            <a:prstDash val="solid"/>
          </a:ln>
        </p:spPr>
      </p:sp>
      <p:sp>
        <p:nvSpPr>
          <p:cNvPr id="557" name="Shape 555"/>
          <p:cNvSpPr/>
          <p:nvPr/>
        </p:nvSpPr>
        <p:spPr>
          <a:xfrm>
            <a:off x="4600194" y="2277905"/>
            <a:ext cx="114300" cy="114300"/>
          </a:xfrm>
          <a:prstGeom prst="ellipse">
            <a:avLst/>
          </a:prstGeom>
          <a:solidFill>
            <a:srgbClr val="FBEFD0"/>
          </a:solidFill>
          <a:ln w="12700">
            <a:solidFill>
              <a:srgbClr val="FBEFD0"/>
            </a:solidFill>
            <a:prstDash val="solid"/>
          </a:ln>
        </p:spPr>
      </p:sp>
      <p:sp>
        <p:nvSpPr>
          <p:cNvPr id="558" name="Shape 556"/>
          <p:cNvSpPr/>
          <p:nvPr/>
        </p:nvSpPr>
        <p:spPr>
          <a:xfrm>
            <a:off x="4621530" y="2320290"/>
            <a:ext cx="114300" cy="114300"/>
          </a:xfrm>
          <a:prstGeom prst="ellipse">
            <a:avLst/>
          </a:prstGeom>
          <a:solidFill>
            <a:srgbClr val="FBEFD0"/>
          </a:solidFill>
          <a:ln w="12700">
            <a:solidFill>
              <a:srgbClr val="FBEFD0"/>
            </a:solidFill>
            <a:prstDash val="solid"/>
          </a:ln>
        </p:spPr>
      </p:sp>
      <p:sp>
        <p:nvSpPr>
          <p:cNvPr id="559" name="Shape 557"/>
          <p:cNvSpPr/>
          <p:nvPr/>
        </p:nvSpPr>
        <p:spPr>
          <a:xfrm>
            <a:off x="4642866" y="2362675"/>
            <a:ext cx="114300" cy="114300"/>
          </a:xfrm>
          <a:prstGeom prst="ellipse">
            <a:avLst/>
          </a:prstGeom>
          <a:solidFill>
            <a:srgbClr val="FBEFD0"/>
          </a:solidFill>
          <a:ln w="12700">
            <a:solidFill>
              <a:srgbClr val="FBEFD0"/>
            </a:solidFill>
            <a:prstDash val="solid"/>
          </a:ln>
        </p:spPr>
      </p:sp>
      <p:sp>
        <p:nvSpPr>
          <p:cNvPr id="560" name="Shape 558"/>
          <p:cNvSpPr/>
          <p:nvPr/>
        </p:nvSpPr>
        <p:spPr>
          <a:xfrm>
            <a:off x="4664202" y="2400911"/>
            <a:ext cx="114300" cy="114300"/>
          </a:xfrm>
          <a:prstGeom prst="ellipse">
            <a:avLst/>
          </a:prstGeom>
          <a:solidFill>
            <a:srgbClr val="FBEFD0"/>
          </a:solidFill>
          <a:ln w="12700">
            <a:solidFill>
              <a:srgbClr val="FBEFD0"/>
            </a:solidFill>
            <a:prstDash val="solid"/>
          </a:ln>
        </p:spPr>
      </p:sp>
      <p:sp>
        <p:nvSpPr>
          <p:cNvPr id="561" name="Shape 559"/>
          <p:cNvSpPr/>
          <p:nvPr/>
        </p:nvSpPr>
        <p:spPr>
          <a:xfrm>
            <a:off x="4685538" y="2431255"/>
            <a:ext cx="114300" cy="114300"/>
          </a:xfrm>
          <a:prstGeom prst="ellipse">
            <a:avLst/>
          </a:prstGeom>
          <a:solidFill>
            <a:srgbClr val="FBEFD0"/>
          </a:solidFill>
          <a:ln w="12700">
            <a:solidFill>
              <a:srgbClr val="FBEFD0"/>
            </a:solidFill>
            <a:prstDash val="solid"/>
          </a:ln>
        </p:spPr>
      </p:sp>
      <p:sp>
        <p:nvSpPr>
          <p:cNvPr id="562" name="Shape 560"/>
          <p:cNvSpPr/>
          <p:nvPr/>
        </p:nvSpPr>
        <p:spPr>
          <a:xfrm>
            <a:off x="4706874" y="2450737"/>
            <a:ext cx="114300" cy="114300"/>
          </a:xfrm>
          <a:prstGeom prst="ellipse">
            <a:avLst/>
          </a:prstGeom>
          <a:solidFill>
            <a:srgbClr val="FBEFD0"/>
          </a:solidFill>
          <a:ln w="12700">
            <a:solidFill>
              <a:srgbClr val="FBEFD0"/>
            </a:solidFill>
            <a:prstDash val="solid"/>
          </a:ln>
        </p:spPr>
      </p:sp>
      <p:sp>
        <p:nvSpPr>
          <p:cNvPr id="563" name="Shape 561"/>
          <p:cNvSpPr/>
          <p:nvPr/>
        </p:nvSpPr>
        <p:spPr>
          <a:xfrm>
            <a:off x="4728210" y="2457450"/>
            <a:ext cx="114300" cy="114300"/>
          </a:xfrm>
          <a:prstGeom prst="ellipse">
            <a:avLst/>
          </a:prstGeom>
          <a:solidFill>
            <a:srgbClr val="FBEFD0"/>
          </a:solidFill>
          <a:ln w="12700">
            <a:solidFill>
              <a:srgbClr val="FBEFD0"/>
            </a:solidFill>
            <a:prstDash val="solid"/>
          </a:ln>
        </p:spPr>
      </p:sp>
      <p:sp>
        <p:nvSpPr>
          <p:cNvPr id="564" name="Shape 562"/>
          <p:cNvSpPr/>
          <p:nvPr/>
        </p:nvSpPr>
        <p:spPr>
          <a:xfrm>
            <a:off x="4749546" y="2450737"/>
            <a:ext cx="114300" cy="114300"/>
          </a:xfrm>
          <a:prstGeom prst="ellipse">
            <a:avLst/>
          </a:prstGeom>
          <a:solidFill>
            <a:srgbClr val="FBEFD0"/>
          </a:solidFill>
          <a:ln w="12700">
            <a:solidFill>
              <a:srgbClr val="FBEFD0"/>
            </a:solidFill>
            <a:prstDash val="solid"/>
          </a:ln>
        </p:spPr>
      </p:sp>
      <p:sp>
        <p:nvSpPr>
          <p:cNvPr id="565" name="Shape 563"/>
          <p:cNvSpPr/>
          <p:nvPr/>
        </p:nvSpPr>
        <p:spPr>
          <a:xfrm>
            <a:off x="4770882" y="2431255"/>
            <a:ext cx="114300" cy="114300"/>
          </a:xfrm>
          <a:prstGeom prst="ellipse">
            <a:avLst/>
          </a:prstGeom>
          <a:solidFill>
            <a:srgbClr val="FBEFD0"/>
          </a:solidFill>
          <a:ln w="12700">
            <a:solidFill>
              <a:srgbClr val="FBEFD0"/>
            </a:solidFill>
            <a:prstDash val="solid"/>
          </a:ln>
        </p:spPr>
      </p:sp>
      <p:sp>
        <p:nvSpPr>
          <p:cNvPr id="566" name="Shape 564"/>
          <p:cNvSpPr/>
          <p:nvPr/>
        </p:nvSpPr>
        <p:spPr>
          <a:xfrm>
            <a:off x="4792218" y="2400911"/>
            <a:ext cx="114300" cy="114300"/>
          </a:xfrm>
          <a:prstGeom prst="ellipse">
            <a:avLst/>
          </a:prstGeom>
          <a:solidFill>
            <a:srgbClr val="FBEFD0"/>
          </a:solidFill>
          <a:ln w="12700">
            <a:solidFill>
              <a:srgbClr val="FBEFD0"/>
            </a:solidFill>
            <a:prstDash val="solid"/>
          </a:ln>
        </p:spPr>
      </p:sp>
      <p:sp>
        <p:nvSpPr>
          <p:cNvPr id="567" name="Shape 565"/>
          <p:cNvSpPr/>
          <p:nvPr/>
        </p:nvSpPr>
        <p:spPr>
          <a:xfrm>
            <a:off x="4813554" y="2362675"/>
            <a:ext cx="114300" cy="114300"/>
          </a:xfrm>
          <a:prstGeom prst="ellipse">
            <a:avLst/>
          </a:prstGeom>
          <a:solidFill>
            <a:srgbClr val="FBEFD0"/>
          </a:solidFill>
          <a:ln w="12700">
            <a:solidFill>
              <a:srgbClr val="FBEFD0"/>
            </a:solidFill>
            <a:prstDash val="solid"/>
          </a:ln>
        </p:spPr>
      </p:sp>
      <p:sp>
        <p:nvSpPr>
          <p:cNvPr id="568" name="Shape 566"/>
          <p:cNvSpPr/>
          <p:nvPr/>
        </p:nvSpPr>
        <p:spPr>
          <a:xfrm>
            <a:off x="4834890" y="2320290"/>
            <a:ext cx="114300" cy="114300"/>
          </a:xfrm>
          <a:prstGeom prst="ellipse">
            <a:avLst/>
          </a:prstGeom>
          <a:solidFill>
            <a:srgbClr val="FBEFD0"/>
          </a:solidFill>
          <a:ln w="12700">
            <a:solidFill>
              <a:srgbClr val="FBEFD0"/>
            </a:solidFill>
            <a:prstDash val="solid"/>
          </a:ln>
        </p:spPr>
      </p:sp>
      <p:sp>
        <p:nvSpPr>
          <p:cNvPr id="569" name="Shape 567"/>
          <p:cNvSpPr/>
          <p:nvPr/>
        </p:nvSpPr>
        <p:spPr>
          <a:xfrm>
            <a:off x="4856226" y="2277905"/>
            <a:ext cx="114300" cy="114300"/>
          </a:xfrm>
          <a:prstGeom prst="ellipse">
            <a:avLst/>
          </a:prstGeom>
          <a:solidFill>
            <a:srgbClr val="FBEFD0"/>
          </a:solidFill>
          <a:ln w="12700">
            <a:solidFill>
              <a:srgbClr val="FBEFD0"/>
            </a:solidFill>
            <a:prstDash val="solid"/>
          </a:ln>
        </p:spPr>
      </p:sp>
      <p:sp>
        <p:nvSpPr>
          <p:cNvPr id="570" name="Shape 568"/>
          <p:cNvSpPr/>
          <p:nvPr/>
        </p:nvSpPr>
        <p:spPr>
          <a:xfrm>
            <a:off x="4877562" y="2239669"/>
            <a:ext cx="114300" cy="114300"/>
          </a:xfrm>
          <a:prstGeom prst="ellipse">
            <a:avLst/>
          </a:prstGeom>
          <a:solidFill>
            <a:srgbClr val="FBEFD0"/>
          </a:solidFill>
          <a:ln w="12700">
            <a:solidFill>
              <a:srgbClr val="FBEFD0"/>
            </a:solidFill>
            <a:prstDash val="solid"/>
          </a:ln>
        </p:spPr>
      </p:sp>
      <p:sp>
        <p:nvSpPr>
          <p:cNvPr id="571" name="Shape 569"/>
          <p:cNvSpPr/>
          <p:nvPr/>
        </p:nvSpPr>
        <p:spPr>
          <a:xfrm>
            <a:off x="4898898" y="2209325"/>
            <a:ext cx="114300" cy="114300"/>
          </a:xfrm>
          <a:prstGeom prst="ellipse">
            <a:avLst/>
          </a:prstGeom>
          <a:solidFill>
            <a:srgbClr val="FBEFD0"/>
          </a:solidFill>
          <a:ln w="12700">
            <a:solidFill>
              <a:srgbClr val="FBEFD0"/>
            </a:solidFill>
            <a:prstDash val="solid"/>
          </a:ln>
        </p:spPr>
      </p:sp>
      <p:sp>
        <p:nvSpPr>
          <p:cNvPr id="572" name="Shape 570"/>
          <p:cNvSpPr/>
          <p:nvPr/>
        </p:nvSpPr>
        <p:spPr>
          <a:xfrm>
            <a:off x="4920234" y="2189843"/>
            <a:ext cx="114300" cy="114300"/>
          </a:xfrm>
          <a:prstGeom prst="ellipse">
            <a:avLst/>
          </a:prstGeom>
          <a:solidFill>
            <a:srgbClr val="FBEFD0"/>
          </a:solidFill>
          <a:ln w="12700">
            <a:solidFill>
              <a:srgbClr val="FBEFD0"/>
            </a:solidFill>
            <a:prstDash val="solid"/>
          </a:ln>
        </p:spPr>
      </p:sp>
      <p:sp>
        <p:nvSpPr>
          <p:cNvPr id="573" name="Shape 571"/>
          <p:cNvSpPr/>
          <p:nvPr/>
        </p:nvSpPr>
        <p:spPr>
          <a:xfrm>
            <a:off x="4941570" y="2183130"/>
            <a:ext cx="114300" cy="114300"/>
          </a:xfrm>
          <a:prstGeom prst="ellipse">
            <a:avLst/>
          </a:prstGeom>
          <a:solidFill>
            <a:srgbClr val="FBEFD0"/>
          </a:solidFill>
          <a:ln w="12700">
            <a:solidFill>
              <a:srgbClr val="FBEFD0"/>
            </a:solidFill>
            <a:prstDash val="solid"/>
          </a:ln>
        </p:spPr>
      </p:sp>
      <p:sp>
        <p:nvSpPr>
          <p:cNvPr id="574" name="Shape 572"/>
          <p:cNvSpPr/>
          <p:nvPr/>
        </p:nvSpPr>
        <p:spPr>
          <a:xfrm>
            <a:off x="4962906" y="2189843"/>
            <a:ext cx="114300" cy="114300"/>
          </a:xfrm>
          <a:prstGeom prst="ellipse">
            <a:avLst/>
          </a:prstGeom>
          <a:solidFill>
            <a:srgbClr val="FBEFD0"/>
          </a:solidFill>
          <a:ln w="12700">
            <a:solidFill>
              <a:srgbClr val="FBEFD0"/>
            </a:solidFill>
            <a:prstDash val="solid"/>
          </a:ln>
        </p:spPr>
      </p:sp>
      <p:sp>
        <p:nvSpPr>
          <p:cNvPr id="575" name="Shape 573"/>
          <p:cNvSpPr/>
          <p:nvPr/>
        </p:nvSpPr>
        <p:spPr>
          <a:xfrm>
            <a:off x="4984242" y="2209325"/>
            <a:ext cx="114300" cy="114300"/>
          </a:xfrm>
          <a:prstGeom prst="ellipse">
            <a:avLst/>
          </a:prstGeom>
          <a:solidFill>
            <a:srgbClr val="FBEFD0"/>
          </a:solidFill>
          <a:ln w="12700">
            <a:solidFill>
              <a:srgbClr val="FBEFD0"/>
            </a:solidFill>
            <a:prstDash val="solid"/>
          </a:ln>
        </p:spPr>
      </p:sp>
      <p:sp>
        <p:nvSpPr>
          <p:cNvPr id="576" name="Shape 574"/>
          <p:cNvSpPr/>
          <p:nvPr/>
        </p:nvSpPr>
        <p:spPr>
          <a:xfrm>
            <a:off x="5005578" y="2239669"/>
            <a:ext cx="114300" cy="114300"/>
          </a:xfrm>
          <a:prstGeom prst="ellipse">
            <a:avLst/>
          </a:prstGeom>
          <a:solidFill>
            <a:srgbClr val="FBEFD0"/>
          </a:solidFill>
          <a:ln w="12700">
            <a:solidFill>
              <a:srgbClr val="FBEFD0"/>
            </a:solidFill>
            <a:prstDash val="solid"/>
          </a:ln>
        </p:spPr>
      </p:sp>
      <p:sp>
        <p:nvSpPr>
          <p:cNvPr id="577" name="Shape 575"/>
          <p:cNvSpPr/>
          <p:nvPr/>
        </p:nvSpPr>
        <p:spPr>
          <a:xfrm>
            <a:off x="5026914" y="2277905"/>
            <a:ext cx="114300" cy="114300"/>
          </a:xfrm>
          <a:prstGeom prst="ellipse">
            <a:avLst/>
          </a:prstGeom>
          <a:solidFill>
            <a:srgbClr val="FBEFD0"/>
          </a:solidFill>
          <a:ln w="12700">
            <a:solidFill>
              <a:srgbClr val="FBEFD0"/>
            </a:solidFill>
            <a:prstDash val="solid"/>
          </a:ln>
        </p:spPr>
      </p:sp>
      <p:sp>
        <p:nvSpPr>
          <p:cNvPr id="578" name="Shape 576"/>
          <p:cNvSpPr/>
          <p:nvPr/>
        </p:nvSpPr>
        <p:spPr>
          <a:xfrm>
            <a:off x="5048250" y="2320290"/>
            <a:ext cx="114300" cy="114300"/>
          </a:xfrm>
          <a:prstGeom prst="ellipse">
            <a:avLst/>
          </a:prstGeom>
          <a:solidFill>
            <a:srgbClr val="FBEFD0"/>
          </a:solidFill>
          <a:ln w="12700">
            <a:solidFill>
              <a:srgbClr val="FBEFD0"/>
            </a:solidFill>
            <a:prstDash val="solid"/>
          </a:ln>
        </p:spPr>
      </p:sp>
      <p:sp>
        <p:nvSpPr>
          <p:cNvPr id="579" name="Shape 577"/>
          <p:cNvSpPr/>
          <p:nvPr/>
        </p:nvSpPr>
        <p:spPr>
          <a:xfrm>
            <a:off x="5069586" y="2362675"/>
            <a:ext cx="114300" cy="114300"/>
          </a:xfrm>
          <a:prstGeom prst="ellipse">
            <a:avLst/>
          </a:prstGeom>
          <a:solidFill>
            <a:srgbClr val="FBEFD0"/>
          </a:solidFill>
          <a:ln w="12700">
            <a:solidFill>
              <a:srgbClr val="FBEFD0"/>
            </a:solidFill>
            <a:prstDash val="solid"/>
          </a:ln>
        </p:spPr>
      </p:sp>
      <p:sp>
        <p:nvSpPr>
          <p:cNvPr id="580" name="Shape 578"/>
          <p:cNvSpPr/>
          <p:nvPr/>
        </p:nvSpPr>
        <p:spPr>
          <a:xfrm>
            <a:off x="5090922" y="2400911"/>
            <a:ext cx="114300" cy="114300"/>
          </a:xfrm>
          <a:prstGeom prst="ellipse">
            <a:avLst/>
          </a:prstGeom>
          <a:solidFill>
            <a:srgbClr val="FBEFD0"/>
          </a:solidFill>
          <a:ln w="12700">
            <a:solidFill>
              <a:srgbClr val="FBEFD0"/>
            </a:solidFill>
            <a:prstDash val="solid"/>
          </a:ln>
        </p:spPr>
      </p:sp>
      <p:sp>
        <p:nvSpPr>
          <p:cNvPr id="581" name="Shape 579"/>
          <p:cNvSpPr/>
          <p:nvPr/>
        </p:nvSpPr>
        <p:spPr>
          <a:xfrm>
            <a:off x="5112258" y="2431255"/>
            <a:ext cx="114300" cy="114300"/>
          </a:xfrm>
          <a:prstGeom prst="ellipse">
            <a:avLst/>
          </a:prstGeom>
          <a:solidFill>
            <a:srgbClr val="FBEFD0"/>
          </a:solidFill>
          <a:ln w="12700">
            <a:solidFill>
              <a:srgbClr val="FBEFD0"/>
            </a:solidFill>
            <a:prstDash val="solid"/>
          </a:ln>
        </p:spPr>
      </p:sp>
      <p:sp>
        <p:nvSpPr>
          <p:cNvPr id="582" name="Shape 580"/>
          <p:cNvSpPr/>
          <p:nvPr/>
        </p:nvSpPr>
        <p:spPr>
          <a:xfrm>
            <a:off x="5133594" y="2450737"/>
            <a:ext cx="114300" cy="114300"/>
          </a:xfrm>
          <a:prstGeom prst="ellipse">
            <a:avLst/>
          </a:prstGeom>
          <a:solidFill>
            <a:srgbClr val="FBEFD0"/>
          </a:solidFill>
          <a:ln w="12700">
            <a:solidFill>
              <a:srgbClr val="FBEFD0"/>
            </a:solidFill>
            <a:prstDash val="solid"/>
          </a:ln>
        </p:spPr>
      </p:sp>
      <p:sp>
        <p:nvSpPr>
          <p:cNvPr id="583" name="Shape 581"/>
          <p:cNvSpPr/>
          <p:nvPr/>
        </p:nvSpPr>
        <p:spPr>
          <a:xfrm>
            <a:off x="5154930" y="2457450"/>
            <a:ext cx="114300" cy="114300"/>
          </a:xfrm>
          <a:prstGeom prst="ellipse">
            <a:avLst/>
          </a:prstGeom>
          <a:solidFill>
            <a:srgbClr val="FBEFD0"/>
          </a:solidFill>
          <a:ln w="12700">
            <a:solidFill>
              <a:srgbClr val="FBEFD0"/>
            </a:solidFill>
            <a:prstDash val="solid"/>
          </a:ln>
        </p:spPr>
      </p:sp>
      <p:sp>
        <p:nvSpPr>
          <p:cNvPr id="584" name="Shape 582"/>
          <p:cNvSpPr/>
          <p:nvPr/>
        </p:nvSpPr>
        <p:spPr>
          <a:xfrm>
            <a:off x="5176266" y="2450737"/>
            <a:ext cx="114300" cy="114300"/>
          </a:xfrm>
          <a:prstGeom prst="ellipse">
            <a:avLst/>
          </a:prstGeom>
          <a:solidFill>
            <a:srgbClr val="FBEFD0"/>
          </a:solidFill>
          <a:ln w="12700">
            <a:solidFill>
              <a:srgbClr val="FBEFD0"/>
            </a:solidFill>
            <a:prstDash val="solid"/>
          </a:ln>
        </p:spPr>
      </p:sp>
      <p:sp>
        <p:nvSpPr>
          <p:cNvPr id="585" name="Shape 583"/>
          <p:cNvSpPr/>
          <p:nvPr/>
        </p:nvSpPr>
        <p:spPr>
          <a:xfrm>
            <a:off x="5197602" y="2431255"/>
            <a:ext cx="114300" cy="114300"/>
          </a:xfrm>
          <a:prstGeom prst="ellipse">
            <a:avLst/>
          </a:prstGeom>
          <a:solidFill>
            <a:srgbClr val="FBEFD0"/>
          </a:solidFill>
          <a:ln w="12700">
            <a:solidFill>
              <a:srgbClr val="FBEFD0"/>
            </a:solidFill>
            <a:prstDash val="solid"/>
          </a:ln>
        </p:spPr>
      </p:sp>
      <p:sp>
        <p:nvSpPr>
          <p:cNvPr id="586" name="Shape 584"/>
          <p:cNvSpPr/>
          <p:nvPr/>
        </p:nvSpPr>
        <p:spPr>
          <a:xfrm>
            <a:off x="5218938" y="2400911"/>
            <a:ext cx="114300" cy="114300"/>
          </a:xfrm>
          <a:prstGeom prst="ellipse">
            <a:avLst/>
          </a:prstGeom>
          <a:solidFill>
            <a:srgbClr val="FBEFD0"/>
          </a:solidFill>
          <a:ln w="12700">
            <a:solidFill>
              <a:srgbClr val="FBEFD0"/>
            </a:solidFill>
            <a:prstDash val="solid"/>
          </a:ln>
        </p:spPr>
      </p:sp>
      <p:sp>
        <p:nvSpPr>
          <p:cNvPr id="587" name="Shape 585"/>
          <p:cNvSpPr/>
          <p:nvPr/>
        </p:nvSpPr>
        <p:spPr>
          <a:xfrm>
            <a:off x="5240274" y="2362675"/>
            <a:ext cx="114300" cy="114300"/>
          </a:xfrm>
          <a:prstGeom prst="ellipse">
            <a:avLst/>
          </a:prstGeom>
          <a:solidFill>
            <a:srgbClr val="FBEFD0"/>
          </a:solidFill>
          <a:ln w="12700">
            <a:solidFill>
              <a:srgbClr val="FBEFD0"/>
            </a:solidFill>
            <a:prstDash val="solid"/>
          </a:ln>
        </p:spPr>
      </p:sp>
      <p:sp>
        <p:nvSpPr>
          <p:cNvPr id="588" name="Shape 586"/>
          <p:cNvSpPr/>
          <p:nvPr/>
        </p:nvSpPr>
        <p:spPr>
          <a:xfrm>
            <a:off x="5261610" y="2320290"/>
            <a:ext cx="114300" cy="114300"/>
          </a:xfrm>
          <a:prstGeom prst="ellipse">
            <a:avLst/>
          </a:prstGeom>
          <a:solidFill>
            <a:srgbClr val="FBEFD0"/>
          </a:solidFill>
          <a:ln w="12700">
            <a:solidFill>
              <a:srgbClr val="FBEFD0"/>
            </a:solidFill>
            <a:prstDash val="solid"/>
          </a:ln>
        </p:spPr>
      </p:sp>
      <p:sp>
        <p:nvSpPr>
          <p:cNvPr id="589" name="Shape 587"/>
          <p:cNvSpPr/>
          <p:nvPr/>
        </p:nvSpPr>
        <p:spPr>
          <a:xfrm>
            <a:off x="5282946" y="2277905"/>
            <a:ext cx="114300" cy="114300"/>
          </a:xfrm>
          <a:prstGeom prst="ellipse">
            <a:avLst/>
          </a:prstGeom>
          <a:solidFill>
            <a:srgbClr val="FBEFD0"/>
          </a:solidFill>
          <a:ln w="12700">
            <a:solidFill>
              <a:srgbClr val="FBEFD0"/>
            </a:solidFill>
            <a:prstDash val="solid"/>
          </a:ln>
        </p:spPr>
      </p:sp>
      <p:sp>
        <p:nvSpPr>
          <p:cNvPr id="590" name="Shape 588"/>
          <p:cNvSpPr/>
          <p:nvPr/>
        </p:nvSpPr>
        <p:spPr>
          <a:xfrm>
            <a:off x="5304282" y="2239669"/>
            <a:ext cx="114300" cy="114300"/>
          </a:xfrm>
          <a:prstGeom prst="ellipse">
            <a:avLst/>
          </a:prstGeom>
          <a:solidFill>
            <a:srgbClr val="FBEFD0"/>
          </a:solidFill>
          <a:ln w="12700">
            <a:solidFill>
              <a:srgbClr val="FBEFD0"/>
            </a:solidFill>
            <a:prstDash val="solid"/>
          </a:ln>
        </p:spPr>
      </p:sp>
      <p:sp>
        <p:nvSpPr>
          <p:cNvPr id="591" name="Shape 589"/>
          <p:cNvSpPr/>
          <p:nvPr/>
        </p:nvSpPr>
        <p:spPr>
          <a:xfrm>
            <a:off x="5325618" y="2209325"/>
            <a:ext cx="114300" cy="114300"/>
          </a:xfrm>
          <a:prstGeom prst="ellipse">
            <a:avLst/>
          </a:prstGeom>
          <a:solidFill>
            <a:srgbClr val="FBEFD0"/>
          </a:solidFill>
          <a:ln w="12700">
            <a:solidFill>
              <a:srgbClr val="FBEFD0"/>
            </a:solidFill>
            <a:prstDash val="solid"/>
          </a:ln>
        </p:spPr>
      </p:sp>
      <p:sp>
        <p:nvSpPr>
          <p:cNvPr id="592" name="Shape 590"/>
          <p:cNvSpPr/>
          <p:nvPr/>
        </p:nvSpPr>
        <p:spPr>
          <a:xfrm>
            <a:off x="5346954" y="2189843"/>
            <a:ext cx="114300" cy="114300"/>
          </a:xfrm>
          <a:prstGeom prst="ellipse">
            <a:avLst/>
          </a:prstGeom>
          <a:solidFill>
            <a:srgbClr val="FBEFD0"/>
          </a:solidFill>
          <a:ln w="12700">
            <a:solidFill>
              <a:srgbClr val="FBEFD0"/>
            </a:solidFill>
            <a:prstDash val="solid"/>
          </a:ln>
        </p:spPr>
      </p:sp>
      <p:sp>
        <p:nvSpPr>
          <p:cNvPr id="593" name="Shape 591"/>
          <p:cNvSpPr/>
          <p:nvPr/>
        </p:nvSpPr>
        <p:spPr>
          <a:xfrm>
            <a:off x="5368290" y="2183130"/>
            <a:ext cx="114300" cy="114300"/>
          </a:xfrm>
          <a:prstGeom prst="ellipse">
            <a:avLst/>
          </a:prstGeom>
          <a:solidFill>
            <a:srgbClr val="FBEFD0"/>
          </a:solidFill>
          <a:ln w="12700">
            <a:solidFill>
              <a:srgbClr val="FBEFD0"/>
            </a:solidFill>
            <a:prstDash val="solid"/>
          </a:ln>
        </p:spPr>
      </p:sp>
      <p:sp>
        <p:nvSpPr>
          <p:cNvPr id="594" name="Shape 592"/>
          <p:cNvSpPr/>
          <p:nvPr/>
        </p:nvSpPr>
        <p:spPr>
          <a:xfrm>
            <a:off x="5389626" y="2189843"/>
            <a:ext cx="114300" cy="114300"/>
          </a:xfrm>
          <a:prstGeom prst="ellipse">
            <a:avLst/>
          </a:prstGeom>
          <a:solidFill>
            <a:srgbClr val="FBEFD0"/>
          </a:solidFill>
          <a:ln w="12700">
            <a:solidFill>
              <a:srgbClr val="FBEFD0"/>
            </a:solidFill>
            <a:prstDash val="solid"/>
          </a:ln>
        </p:spPr>
      </p:sp>
      <p:sp>
        <p:nvSpPr>
          <p:cNvPr id="595" name="Shape 593"/>
          <p:cNvSpPr/>
          <p:nvPr/>
        </p:nvSpPr>
        <p:spPr>
          <a:xfrm>
            <a:off x="5410962" y="2209325"/>
            <a:ext cx="114300" cy="114300"/>
          </a:xfrm>
          <a:prstGeom prst="ellipse">
            <a:avLst/>
          </a:prstGeom>
          <a:solidFill>
            <a:srgbClr val="FBEFD0"/>
          </a:solidFill>
          <a:ln w="12700">
            <a:solidFill>
              <a:srgbClr val="FBEFD0"/>
            </a:solidFill>
            <a:prstDash val="solid"/>
          </a:ln>
        </p:spPr>
      </p:sp>
      <p:sp>
        <p:nvSpPr>
          <p:cNvPr id="596" name="Shape 594"/>
          <p:cNvSpPr/>
          <p:nvPr/>
        </p:nvSpPr>
        <p:spPr>
          <a:xfrm>
            <a:off x="5432298" y="2239669"/>
            <a:ext cx="114300" cy="114300"/>
          </a:xfrm>
          <a:prstGeom prst="ellipse">
            <a:avLst/>
          </a:prstGeom>
          <a:solidFill>
            <a:srgbClr val="FBEFD0"/>
          </a:solidFill>
          <a:ln w="12700">
            <a:solidFill>
              <a:srgbClr val="FBEFD0"/>
            </a:solidFill>
            <a:prstDash val="solid"/>
          </a:ln>
        </p:spPr>
      </p:sp>
      <p:sp>
        <p:nvSpPr>
          <p:cNvPr id="597" name="Shape 595"/>
          <p:cNvSpPr/>
          <p:nvPr/>
        </p:nvSpPr>
        <p:spPr>
          <a:xfrm>
            <a:off x="5453634" y="2277905"/>
            <a:ext cx="114300" cy="114300"/>
          </a:xfrm>
          <a:prstGeom prst="ellipse">
            <a:avLst/>
          </a:prstGeom>
          <a:solidFill>
            <a:srgbClr val="FBEFD0"/>
          </a:solidFill>
          <a:ln w="12700">
            <a:solidFill>
              <a:srgbClr val="FBEFD0"/>
            </a:solidFill>
            <a:prstDash val="solid"/>
          </a:ln>
        </p:spPr>
      </p:sp>
      <p:sp>
        <p:nvSpPr>
          <p:cNvPr id="598" name="Shape 596"/>
          <p:cNvSpPr/>
          <p:nvPr/>
        </p:nvSpPr>
        <p:spPr>
          <a:xfrm>
            <a:off x="5474970" y="2320290"/>
            <a:ext cx="114300" cy="114300"/>
          </a:xfrm>
          <a:prstGeom prst="ellipse">
            <a:avLst/>
          </a:prstGeom>
          <a:solidFill>
            <a:srgbClr val="FBEFD0"/>
          </a:solidFill>
          <a:ln w="12700">
            <a:solidFill>
              <a:srgbClr val="FBEFD0"/>
            </a:solidFill>
            <a:prstDash val="solid"/>
          </a:ln>
        </p:spPr>
      </p:sp>
      <p:sp>
        <p:nvSpPr>
          <p:cNvPr id="599" name="Shape 597"/>
          <p:cNvSpPr/>
          <p:nvPr/>
        </p:nvSpPr>
        <p:spPr>
          <a:xfrm>
            <a:off x="5532120" y="2377440"/>
            <a:ext cx="502920" cy="91"/>
          </a:xfrm>
          <a:prstGeom prst="line">
            <a:avLst/>
          </a:prstGeom>
          <a:noFill/>
          <a:ln w="152400">
            <a:solidFill>
              <a:srgbClr val="B8860B"/>
            </a:solidFill>
            <a:prstDash val="solid"/>
          </a:ln>
        </p:spPr>
      </p:sp>
      <p:sp>
        <p:nvSpPr>
          <p:cNvPr id="600" name="Shape 598"/>
          <p:cNvSpPr/>
          <p:nvPr/>
        </p:nvSpPr>
        <p:spPr>
          <a:xfrm>
            <a:off x="5455920" y="2301240"/>
            <a:ext cx="152400" cy="152400"/>
          </a:xfrm>
          <a:prstGeom prst="ellipse">
            <a:avLst/>
          </a:prstGeom>
          <a:solidFill>
            <a:srgbClr val="B8860B"/>
          </a:solidFill>
          <a:ln w="12700">
            <a:solidFill>
              <a:srgbClr val="B8860B"/>
            </a:solidFill>
            <a:prstDash val="solid"/>
          </a:ln>
        </p:spPr>
      </p:sp>
      <p:sp>
        <p:nvSpPr>
          <p:cNvPr id="601" name="Shape 599"/>
          <p:cNvSpPr/>
          <p:nvPr/>
        </p:nvSpPr>
        <p:spPr>
          <a:xfrm>
            <a:off x="5958840" y="2301240"/>
            <a:ext cx="152400" cy="152400"/>
          </a:xfrm>
          <a:prstGeom prst="ellipse">
            <a:avLst/>
          </a:prstGeom>
          <a:solidFill>
            <a:srgbClr val="B8860B"/>
          </a:solidFill>
          <a:ln w="12700">
            <a:solidFill>
              <a:srgbClr val="B8860B"/>
            </a:solidFill>
            <a:prstDash val="solid"/>
          </a:ln>
        </p:spPr>
      </p:sp>
      <p:sp>
        <p:nvSpPr>
          <p:cNvPr id="602" name="Shape 600"/>
          <p:cNvSpPr/>
          <p:nvPr/>
        </p:nvSpPr>
        <p:spPr>
          <a:xfrm>
            <a:off x="5532120" y="2377440"/>
            <a:ext cx="502920" cy="91"/>
          </a:xfrm>
          <a:prstGeom prst="line">
            <a:avLst/>
          </a:prstGeom>
          <a:noFill/>
          <a:ln w="114300">
            <a:solidFill>
              <a:srgbClr val="FBEFD0"/>
            </a:solidFill>
            <a:prstDash val="solid"/>
          </a:ln>
        </p:spPr>
      </p:sp>
      <p:sp>
        <p:nvSpPr>
          <p:cNvPr id="603" name="Shape 601"/>
          <p:cNvSpPr/>
          <p:nvPr/>
        </p:nvSpPr>
        <p:spPr>
          <a:xfrm>
            <a:off x="5474970" y="2320290"/>
            <a:ext cx="114300" cy="114300"/>
          </a:xfrm>
          <a:prstGeom prst="ellipse">
            <a:avLst/>
          </a:prstGeom>
          <a:solidFill>
            <a:srgbClr val="FBEFD0"/>
          </a:solidFill>
          <a:ln w="12700">
            <a:solidFill>
              <a:srgbClr val="FBEFD0"/>
            </a:solidFill>
            <a:prstDash val="solid"/>
          </a:ln>
        </p:spPr>
      </p:sp>
      <p:sp>
        <p:nvSpPr>
          <p:cNvPr id="604" name="Shape 602"/>
          <p:cNvSpPr/>
          <p:nvPr/>
        </p:nvSpPr>
        <p:spPr>
          <a:xfrm>
            <a:off x="5977890" y="2320290"/>
            <a:ext cx="114300" cy="114300"/>
          </a:xfrm>
          <a:prstGeom prst="ellipse">
            <a:avLst/>
          </a:prstGeom>
          <a:solidFill>
            <a:srgbClr val="FBEFD0"/>
          </a:solidFill>
          <a:ln w="12700">
            <a:solidFill>
              <a:srgbClr val="FBEFD0"/>
            </a:solidFill>
            <a:prstDash val="solid"/>
          </a:ln>
        </p:spPr>
      </p:sp>
      <p:sp>
        <p:nvSpPr>
          <p:cNvPr id="605" name="Shape 603"/>
          <p:cNvSpPr/>
          <p:nvPr/>
        </p:nvSpPr>
        <p:spPr>
          <a:xfrm>
            <a:off x="6035040" y="1371600"/>
            <a:ext cx="91" cy="3886200"/>
          </a:xfrm>
          <a:prstGeom prst="line">
            <a:avLst/>
          </a:prstGeom>
          <a:noFill/>
          <a:ln w="228600">
            <a:solidFill>
              <a:srgbClr val="A08420"/>
            </a:solidFill>
            <a:prstDash val="solid"/>
          </a:ln>
        </p:spPr>
      </p:sp>
      <p:sp>
        <p:nvSpPr>
          <p:cNvPr id="606" name="Shape 604"/>
          <p:cNvSpPr/>
          <p:nvPr/>
        </p:nvSpPr>
        <p:spPr>
          <a:xfrm>
            <a:off x="5920740" y="1257300"/>
            <a:ext cx="228600" cy="228600"/>
          </a:xfrm>
          <a:prstGeom prst="ellipse">
            <a:avLst/>
          </a:prstGeom>
          <a:solidFill>
            <a:srgbClr val="A08420"/>
          </a:solidFill>
          <a:ln w="12700">
            <a:solidFill>
              <a:srgbClr val="A08420"/>
            </a:solidFill>
            <a:prstDash val="solid"/>
          </a:ln>
        </p:spPr>
      </p:sp>
      <p:sp>
        <p:nvSpPr>
          <p:cNvPr id="607" name="Shape 605"/>
          <p:cNvSpPr/>
          <p:nvPr/>
        </p:nvSpPr>
        <p:spPr>
          <a:xfrm>
            <a:off x="5920740" y="5143500"/>
            <a:ext cx="228600" cy="228600"/>
          </a:xfrm>
          <a:prstGeom prst="ellipse">
            <a:avLst/>
          </a:prstGeom>
          <a:solidFill>
            <a:srgbClr val="A08420"/>
          </a:solidFill>
          <a:ln w="12700">
            <a:solidFill>
              <a:srgbClr val="A08420"/>
            </a:solidFill>
            <a:prstDash val="solid"/>
          </a:ln>
        </p:spPr>
      </p:sp>
      <p:sp>
        <p:nvSpPr>
          <p:cNvPr id="608" name="Shape 606"/>
          <p:cNvSpPr/>
          <p:nvPr/>
        </p:nvSpPr>
        <p:spPr>
          <a:xfrm>
            <a:off x="6035040" y="1371600"/>
            <a:ext cx="91" cy="3886200"/>
          </a:xfrm>
          <a:prstGeom prst="line">
            <a:avLst/>
          </a:prstGeom>
          <a:noFill/>
          <a:ln w="190500">
            <a:solidFill>
              <a:srgbClr val="FFF3B0"/>
            </a:solidFill>
            <a:prstDash val="solid"/>
          </a:ln>
        </p:spPr>
      </p:sp>
      <p:sp>
        <p:nvSpPr>
          <p:cNvPr id="609" name="Shape 607"/>
          <p:cNvSpPr/>
          <p:nvPr/>
        </p:nvSpPr>
        <p:spPr>
          <a:xfrm>
            <a:off x="5939790" y="1276350"/>
            <a:ext cx="190500" cy="190500"/>
          </a:xfrm>
          <a:prstGeom prst="ellipse">
            <a:avLst/>
          </a:prstGeom>
          <a:solidFill>
            <a:srgbClr val="FFF3B0"/>
          </a:solidFill>
          <a:ln w="12700">
            <a:solidFill>
              <a:srgbClr val="FFF3B0"/>
            </a:solidFill>
            <a:prstDash val="solid"/>
          </a:ln>
        </p:spPr>
      </p:sp>
      <p:sp>
        <p:nvSpPr>
          <p:cNvPr id="610" name="Shape 608"/>
          <p:cNvSpPr/>
          <p:nvPr/>
        </p:nvSpPr>
        <p:spPr>
          <a:xfrm>
            <a:off x="5939790" y="5162550"/>
            <a:ext cx="190500" cy="190500"/>
          </a:xfrm>
          <a:prstGeom prst="ellipse">
            <a:avLst/>
          </a:prstGeom>
          <a:solidFill>
            <a:srgbClr val="FFF3B0"/>
          </a:solidFill>
          <a:ln w="12700">
            <a:solidFill>
              <a:srgbClr val="FFF3B0"/>
            </a:solidFill>
            <a:prstDash val="solid"/>
          </a:ln>
        </p:spPr>
      </p:sp>
      <p:sp>
        <p:nvSpPr>
          <p:cNvPr id="611" name="Shape 609"/>
          <p:cNvSpPr/>
          <p:nvPr/>
        </p:nvSpPr>
        <p:spPr>
          <a:xfrm>
            <a:off x="6035040" y="4754880"/>
            <a:ext cx="91" cy="685800"/>
          </a:xfrm>
          <a:prstGeom prst="line">
            <a:avLst/>
          </a:prstGeom>
          <a:noFill/>
          <a:ln w="31750">
            <a:solidFill>
              <a:srgbClr val="A08420"/>
            </a:solidFill>
            <a:prstDash val="solid"/>
            <a:tailEnd type="triangle"/>
          </a:ln>
        </p:spPr>
      </p:sp>
      <p:sp>
        <p:nvSpPr>
          <p:cNvPr id="612" name="Shape 610"/>
          <p:cNvSpPr/>
          <p:nvPr/>
        </p:nvSpPr>
        <p:spPr>
          <a:xfrm>
            <a:off x="960120" y="1554480"/>
            <a:ext cx="914400" cy="914400"/>
          </a:xfrm>
          <a:prstGeom prst="ellipse">
            <a:avLst/>
          </a:prstGeom>
          <a:solidFill>
            <a:srgbClr val="FBEFD0"/>
          </a:solidFill>
          <a:ln w="31750">
            <a:solidFill>
              <a:srgbClr val="B8860B"/>
            </a:solidFill>
            <a:prstDash val="solid"/>
          </a:ln>
        </p:spPr>
      </p:sp>
      <p:sp>
        <p:nvSpPr>
          <p:cNvPr id="613" name="Shape 611"/>
          <p:cNvSpPr/>
          <p:nvPr/>
        </p:nvSpPr>
        <p:spPr>
          <a:xfrm>
            <a:off x="1014984" y="1664208"/>
            <a:ext cx="694944" cy="694944"/>
          </a:xfrm>
          <a:prstGeom prst="ellipse">
            <a:avLst/>
          </a:prstGeom>
          <a:solidFill>
            <a:srgbClr val="FFF9E8"/>
          </a:solidFill>
          <a:ln w="12700">
            <a:solidFill>
              <a:srgbClr val="B8860B"/>
            </a:solidFill>
            <a:prstDash val="solid"/>
          </a:ln>
        </p:spPr>
      </p:sp>
      <p:sp>
        <p:nvSpPr>
          <p:cNvPr id="614" name="Shape 612"/>
          <p:cNvSpPr/>
          <p:nvPr/>
        </p:nvSpPr>
        <p:spPr>
          <a:xfrm>
            <a:off x="1161288" y="1824228"/>
            <a:ext cx="182880" cy="155448"/>
          </a:xfrm>
          <a:prstGeom prst="ellipse">
            <a:avLst/>
          </a:prstGeom>
          <a:solidFill>
            <a:srgbClr val="F6C9CC"/>
          </a:solidFill>
          <a:ln w="19050">
            <a:solidFill>
              <a:srgbClr val="C8414C"/>
            </a:solidFill>
            <a:prstDash val="solid"/>
          </a:ln>
        </p:spPr>
      </p:sp>
      <p:sp>
        <p:nvSpPr>
          <p:cNvPr id="615" name="Shape 613"/>
          <p:cNvSpPr/>
          <p:nvPr/>
        </p:nvSpPr>
        <p:spPr>
          <a:xfrm>
            <a:off x="1344168" y="1796796"/>
            <a:ext cx="182880" cy="155448"/>
          </a:xfrm>
          <a:prstGeom prst="ellipse">
            <a:avLst/>
          </a:prstGeom>
          <a:solidFill>
            <a:srgbClr val="F6C9CC"/>
          </a:solidFill>
          <a:ln w="19050">
            <a:solidFill>
              <a:srgbClr val="C8414C"/>
            </a:solidFill>
            <a:prstDash val="solid"/>
          </a:ln>
        </p:spPr>
      </p:sp>
      <p:sp>
        <p:nvSpPr>
          <p:cNvPr id="616" name="Shape 614"/>
          <p:cNvSpPr/>
          <p:nvPr/>
        </p:nvSpPr>
        <p:spPr>
          <a:xfrm>
            <a:off x="1408176" y="1979676"/>
            <a:ext cx="182880" cy="155448"/>
          </a:xfrm>
          <a:prstGeom prst="ellipse">
            <a:avLst/>
          </a:prstGeom>
          <a:solidFill>
            <a:srgbClr val="F6C9CC"/>
          </a:solidFill>
          <a:ln w="19050">
            <a:solidFill>
              <a:srgbClr val="C8414C"/>
            </a:solidFill>
            <a:prstDash val="solid"/>
          </a:ln>
        </p:spPr>
      </p:sp>
      <p:sp>
        <p:nvSpPr>
          <p:cNvPr id="617" name="Shape 615"/>
          <p:cNvSpPr/>
          <p:nvPr/>
        </p:nvSpPr>
        <p:spPr>
          <a:xfrm>
            <a:off x="1252728" y="2043684"/>
            <a:ext cx="182880" cy="155448"/>
          </a:xfrm>
          <a:prstGeom prst="ellipse">
            <a:avLst/>
          </a:prstGeom>
          <a:solidFill>
            <a:srgbClr val="F6C9CC"/>
          </a:solidFill>
          <a:ln w="19050">
            <a:solidFill>
              <a:srgbClr val="C8414C"/>
            </a:solidFill>
            <a:prstDash val="solid"/>
          </a:ln>
        </p:spPr>
      </p:sp>
      <p:sp>
        <p:nvSpPr>
          <p:cNvPr id="618" name="Shape 616"/>
          <p:cNvSpPr/>
          <p:nvPr/>
        </p:nvSpPr>
        <p:spPr>
          <a:xfrm>
            <a:off x="1088136" y="2007108"/>
            <a:ext cx="182880" cy="155448"/>
          </a:xfrm>
          <a:prstGeom prst="ellipse">
            <a:avLst/>
          </a:prstGeom>
          <a:solidFill>
            <a:srgbClr val="F6C9CC"/>
          </a:solidFill>
          <a:ln w="19050">
            <a:solidFill>
              <a:srgbClr val="C8414C"/>
            </a:solidFill>
            <a:prstDash val="solid"/>
          </a:ln>
        </p:spPr>
      </p:sp>
      <p:sp>
        <p:nvSpPr>
          <p:cNvPr id="619" name="Shape 617"/>
          <p:cNvSpPr/>
          <p:nvPr/>
        </p:nvSpPr>
        <p:spPr>
          <a:xfrm>
            <a:off x="1271016" y="1915668"/>
            <a:ext cx="182880" cy="155448"/>
          </a:xfrm>
          <a:prstGeom prst="ellipse">
            <a:avLst/>
          </a:prstGeom>
          <a:solidFill>
            <a:srgbClr val="F6C9CC"/>
          </a:solidFill>
          <a:ln w="19050">
            <a:solidFill>
              <a:srgbClr val="C8414C"/>
            </a:solidFill>
            <a:prstDash val="solid"/>
          </a:ln>
        </p:spPr>
      </p:sp>
      <p:sp>
        <p:nvSpPr>
          <p:cNvPr id="620" name="Shape 618"/>
          <p:cNvSpPr/>
          <p:nvPr/>
        </p:nvSpPr>
        <p:spPr>
          <a:xfrm>
            <a:off x="594360" y="1737360"/>
            <a:ext cx="530352" cy="182880"/>
          </a:xfrm>
          <a:prstGeom prst="line">
            <a:avLst/>
          </a:prstGeom>
          <a:noFill/>
          <a:ln w="139700">
            <a:solidFill>
              <a:srgbClr val="8E2A33"/>
            </a:solidFill>
            <a:prstDash val="solid"/>
          </a:ln>
        </p:spPr>
      </p:sp>
      <p:sp>
        <p:nvSpPr>
          <p:cNvPr id="621" name="Shape 619"/>
          <p:cNvSpPr/>
          <p:nvPr/>
        </p:nvSpPr>
        <p:spPr>
          <a:xfrm>
            <a:off x="524510" y="1667510"/>
            <a:ext cx="139700" cy="139700"/>
          </a:xfrm>
          <a:prstGeom prst="ellipse">
            <a:avLst/>
          </a:prstGeom>
          <a:solidFill>
            <a:srgbClr val="8E2A33"/>
          </a:solidFill>
          <a:ln w="12700">
            <a:solidFill>
              <a:srgbClr val="8E2A33"/>
            </a:solidFill>
            <a:prstDash val="solid"/>
          </a:ln>
        </p:spPr>
      </p:sp>
      <p:sp>
        <p:nvSpPr>
          <p:cNvPr id="622" name="Shape 620"/>
          <p:cNvSpPr/>
          <p:nvPr/>
        </p:nvSpPr>
        <p:spPr>
          <a:xfrm>
            <a:off x="1054862" y="1850390"/>
            <a:ext cx="139700" cy="139700"/>
          </a:xfrm>
          <a:prstGeom prst="ellipse">
            <a:avLst/>
          </a:prstGeom>
          <a:solidFill>
            <a:srgbClr val="8E2A33"/>
          </a:solidFill>
          <a:ln w="12700">
            <a:solidFill>
              <a:srgbClr val="8E2A33"/>
            </a:solidFill>
            <a:prstDash val="solid"/>
          </a:ln>
        </p:spPr>
      </p:sp>
      <p:sp>
        <p:nvSpPr>
          <p:cNvPr id="623" name="Shape 621"/>
          <p:cNvSpPr/>
          <p:nvPr/>
        </p:nvSpPr>
        <p:spPr>
          <a:xfrm>
            <a:off x="594360" y="1737360"/>
            <a:ext cx="530352" cy="182880"/>
          </a:xfrm>
          <a:prstGeom prst="line">
            <a:avLst/>
          </a:prstGeom>
          <a:noFill/>
          <a:ln w="101600">
            <a:solidFill>
              <a:srgbClr val="C8414C"/>
            </a:solidFill>
            <a:prstDash val="solid"/>
          </a:ln>
        </p:spPr>
      </p:sp>
      <p:sp>
        <p:nvSpPr>
          <p:cNvPr id="624" name="Shape 622"/>
          <p:cNvSpPr/>
          <p:nvPr/>
        </p:nvSpPr>
        <p:spPr>
          <a:xfrm>
            <a:off x="543560" y="1686560"/>
            <a:ext cx="101600" cy="101600"/>
          </a:xfrm>
          <a:prstGeom prst="ellipse">
            <a:avLst/>
          </a:prstGeom>
          <a:solidFill>
            <a:srgbClr val="C8414C"/>
          </a:solidFill>
          <a:ln w="12700">
            <a:solidFill>
              <a:srgbClr val="C8414C"/>
            </a:solidFill>
            <a:prstDash val="solid"/>
          </a:ln>
        </p:spPr>
      </p:sp>
      <p:sp>
        <p:nvSpPr>
          <p:cNvPr id="625" name="Shape 623"/>
          <p:cNvSpPr/>
          <p:nvPr/>
        </p:nvSpPr>
        <p:spPr>
          <a:xfrm>
            <a:off x="1073912" y="1869440"/>
            <a:ext cx="101600" cy="101600"/>
          </a:xfrm>
          <a:prstGeom prst="ellipse">
            <a:avLst/>
          </a:prstGeom>
          <a:solidFill>
            <a:srgbClr val="C8414C"/>
          </a:solidFill>
          <a:ln w="12700">
            <a:solidFill>
              <a:srgbClr val="C8414C"/>
            </a:solidFill>
            <a:prstDash val="solid"/>
          </a:ln>
        </p:spPr>
      </p:sp>
      <p:sp>
        <p:nvSpPr>
          <p:cNvPr id="626" name="Shape 624"/>
          <p:cNvSpPr/>
          <p:nvPr/>
        </p:nvSpPr>
        <p:spPr>
          <a:xfrm flipH="1">
            <a:off x="868680" y="2121408"/>
            <a:ext cx="256032" cy="256032"/>
          </a:xfrm>
          <a:prstGeom prst="line">
            <a:avLst/>
          </a:prstGeom>
          <a:noFill/>
          <a:ln w="95250">
            <a:solidFill>
              <a:srgbClr val="8E2A33"/>
            </a:solidFill>
            <a:prstDash val="solid"/>
          </a:ln>
        </p:spPr>
      </p:sp>
      <p:sp>
        <p:nvSpPr>
          <p:cNvPr id="627" name="Shape 625"/>
          <p:cNvSpPr/>
          <p:nvPr/>
        </p:nvSpPr>
        <p:spPr>
          <a:xfrm>
            <a:off x="868680" y="2377440"/>
            <a:ext cx="91" cy="228600"/>
          </a:xfrm>
          <a:prstGeom prst="line">
            <a:avLst/>
          </a:prstGeom>
          <a:noFill/>
          <a:ln w="95250">
            <a:solidFill>
              <a:srgbClr val="8E2A33"/>
            </a:solidFill>
            <a:prstDash val="solid"/>
          </a:ln>
        </p:spPr>
      </p:sp>
      <p:sp>
        <p:nvSpPr>
          <p:cNvPr id="628" name="Shape 626"/>
          <p:cNvSpPr/>
          <p:nvPr/>
        </p:nvSpPr>
        <p:spPr>
          <a:xfrm>
            <a:off x="868680" y="2606040"/>
            <a:ext cx="914400" cy="91"/>
          </a:xfrm>
          <a:prstGeom prst="line">
            <a:avLst/>
          </a:prstGeom>
          <a:noFill/>
          <a:ln w="95250">
            <a:solidFill>
              <a:srgbClr val="8E2A33"/>
            </a:solidFill>
            <a:prstDash val="solid"/>
          </a:ln>
        </p:spPr>
      </p:sp>
      <p:sp>
        <p:nvSpPr>
          <p:cNvPr id="629" name="Shape 627"/>
          <p:cNvSpPr/>
          <p:nvPr/>
        </p:nvSpPr>
        <p:spPr>
          <a:xfrm>
            <a:off x="1077087" y="2073783"/>
            <a:ext cx="95250" cy="95250"/>
          </a:xfrm>
          <a:prstGeom prst="ellipse">
            <a:avLst/>
          </a:prstGeom>
          <a:solidFill>
            <a:srgbClr val="8E2A33"/>
          </a:solidFill>
          <a:ln w="12700">
            <a:solidFill>
              <a:srgbClr val="8E2A33"/>
            </a:solidFill>
            <a:prstDash val="solid"/>
          </a:ln>
        </p:spPr>
      </p:sp>
      <p:sp>
        <p:nvSpPr>
          <p:cNvPr id="630" name="Shape 628"/>
          <p:cNvSpPr/>
          <p:nvPr/>
        </p:nvSpPr>
        <p:spPr>
          <a:xfrm>
            <a:off x="821055" y="2329815"/>
            <a:ext cx="95250" cy="95250"/>
          </a:xfrm>
          <a:prstGeom prst="ellipse">
            <a:avLst/>
          </a:prstGeom>
          <a:solidFill>
            <a:srgbClr val="8E2A33"/>
          </a:solidFill>
          <a:ln w="12700">
            <a:solidFill>
              <a:srgbClr val="8E2A33"/>
            </a:solidFill>
            <a:prstDash val="solid"/>
          </a:ln>
        </p:spPr>
      </p:sp>
      <p:sp>
        <p:nvSpPr>
          <p:cNvPr id="631" name="Shape 629"/>
          <p:cNvSpPr/>
          <p:nvPr/>
        </p:nvSpPr>
        <p:spPr>
          <a:xfrm>
            <a:off x="821055" y="2558415"/>
            <a:ext cx="95250" cy="95250"/>
          </a:xfrm>
          <a:prstGeom prst="ellipse">
            <a:avLst/>
          </a:prstGeom>
          <a:solidFill>
            <a:srgbClr val="8E2A33"/>
          </a:solidFill>
          <a:ln w="12700">
            <a:solidFill>
              <a:srgbClr val="8E2A33"/>
            </a:solidFill>
            <a:prstDash val="solid"/>
          </a:ln>
        </p:spPr>
      </p:sp>
      <p:sp>
        <p:nvSpPr>
          <p:cNvPr id="632" name="Shape 630"/>
          <p:cNvSpPr/>
          <p:nvPr/>
        </p:nvSpPr>
        <p:spPr>
          <a:xfrm>
            <a:off x="1735455" y="2558415"/>
            <a:ext cx="95250" cy="95250"/>
          </a:xfrm>
          <a:prstGeom prst="ellipse">
            <a:avLst/>
          </a:prstGeom>
          <a:solidFill>
            <a:srgbClr val="8E2A33"/>
          </a:solidFill>
          <a:ln w="12700">
            <a:solidFill>
              <a:srgbClr val="8E2A33"/>
            </a:solidFill>
            <a:prstDash val="solid"/>
          </a:ln>
        </p:spPr>
      </p:sp>
      <p:sp>
        <p:nvSpPr>
          <p:cNvPr id="633" name="Shape 631"/>
          <p:cNvSpPr/>
          <p:nvPr/>
        </p:nvSpPr>
        <p:spPr>
          <a:xfrm flipH="1">
            <a:off x="868680" y="2121408"/>
            <a:ext cx="256032" cy="256032"/>
          </a:xfrm>
          <a:prstGeom prst="line">
            <a:avLst/>
          </a:prstGeom>
          <a:noFill/>
          <a:ln w="57150">
            <a:solidFill>
              <a:srgbClr val="C8414C"/>
            </a:solidFill>
            <a:prstDash val="solid"/>
          </a:ln>
        </p:spPr>
      </p:sp>
      <p:sp>
        <p:nvSpPr>
          <p:cNvPr id="634" name="Shape 632"/>
          <p:cNvSpPr/>
          <p:nvPr/>
        </p:nvSpPr>
        <p:spPr>
          <a:xfrm>
            <a:off x="868680" y="2377440"/>
            <a:ext cx="91" cy="228600"/>
          </a:xfrm>
          <a:prstGeom prst="line">
            <a:avLst/>
          </a:prstGeom>
          <a:noFill/>
          <a:ln w="57150">
            <a:solidFill>
              <a:srgbClr val="C8414C"/>
            </a:solidFill>
            <a:prstDash val="solid"/>
          </a:ln>
        </p:spPr>
      </p:sp>
      <p:sp>
        <p:nvSpPr>
          <p:cNvPr id="635" name="Shape 633"/>
          <p:cNvSpPr/>
          <p:nvPr/>
        </p:nvSpPr>
        <p:spPr>
          <a:xfrm>
            <a:off x="868680" y="2606040"/>
            <a:ext cx="914400" cy="91"/>
          </a:xfrm>
          <a:prstGeom prst="line">
            <a:avLst/>
          </a:prstGeom>
          <a:noFill/>
          <a:ln w="57150">
            <a:solidFill>
              <a:srgbClr val="C8414C"/>
            </a:solidFill>
            <a:prstDash val="solid"/>
          </a:ln>
        </p:spPr>
      </p:sp>
      <p:sp>
        <p:nvSpPr>
          <p:cNvPr id="636" name="Shape 634"/>
          <p:cNvSpPr/>
          <p:nvPr/>
        </p:nvSpPr>
        <p:spPr>
          <a:xfrm>
            <a:off x="1096137" y="2092833"/>
            <a:ext cx="57150" cy="57150"/>
          </a:xfrm>
          <a:prstGeom prst="ellipse">
            <a:avLst/>
          </a:prstGeom>
          <a:solidFill>
            <a:srgbClr val="C8414C"/>
          </a:solidFill>
          <a:ln w="12700">
            <a:solidFill>
              <a:srgbClr val="C8414C"/>
            </a:solidFill>
            <a:prstDash val="solid"/>
          </a:ln>
        </p:spPr>
      </p:sp>
      <p:sp>
        <p:nvSpPr>
          <p:cNvPr id="637" name="Shape 635"/>
          <p:cNvSpPr/>
          <p:nvPr/>
        </p:nvSpPr>
        <p:spPr>
          <a:xfrm>
            <a:off x="840105" y="2348865"/>
            <a:ext cx="57150" cy="57150"/>
          </a:xfrm>
          <a:prstGeom prst="ellipse">
            <a:avLst/>
          </a:prstGeom>
          <a:solidFill>
            <a:srgbClr val="C8414C"/>
          </a:solidFill>
          <a:ln w="12700">
            <a:solidFill>
              <a:srgbClr val="C8414C"/>
            </a:solidFill>
            <a:prstDash val="solid"/>
          </a:ln>
        </p:spPr>
      </p:sp>
      <p:sp>
        <p:nvSpPr>
          <p:cNvPr id="638" name="Shape 636"/>
          <p:cNvSpPr/>
          <p:nvPr/>
        </p:nvSpPr>
        <p:spPr>
          <a:xfrm>
            <a:off x="840105" y="2577465"/>
            <a:ext cx="57150" cy="57150"/>
          </a:xfrm>
          <a:prstGeom prst="ellipse">
            <a:avLst/>
          </a:prstGeom>
          <a:solidFill>
            <a:srgbClr val="C8414C"/>
          </a:solidFill>
          <a:ln w="12700">
            <a:solidFill>
              <a:srgbClr val="C8414C"/>
            </a:solidFill>
            <a:prstDash val="solid"/>
          </a:ln>
        </p:spPr>
      </p:sp>
      <p:sp>
        <p:nvSpPr>
          <p:cNvPr id="639" name="Shape 637"/>
          <p:cNvSpPr/>
          <p:nvPr/>
        </p:nvSpPr>
        <p:spPr>
          <a:xfrm>
            <a:off x="1754505" y="2577465"/>
            <a:ext cx="57150" cy="57150"/>
          </a:xfrm>
          <a:prstGeom prst="ellipse">
            <a:avLst/>
          </a:prstGeom>
          <a:solidFill>
            <a:srgbClr val="C8414C"/>
          </a:solidFill>
          <a:ln w="12700">
            <a:solidFill>
              <a:srgbClr val="C8414C"/>
            </a:solidFill>
            <a:prstDash val="solid"/>
          </a:ln>
        </p:spPr>
      </p:sp>
      <p:sp>
        <p:nvSpPr>
          <p:cNvPr id="640" name="Text 638"/>
          <p:cNvSpPr/>
          <p:nvPr/>
        </p:nvSpPr>
        <p:spPr>
          <a:xfrm>
            <a:off x="566928" y="1344168"/>
            <a:ext cx="1645920" cy="256032"/>
          </a:xfrm>
          <a:prstGeom prst="rect">
            <a:avLst/>
          </a:prstGeom>
          <a:noFill/>
          <a:ln/>
        </p:spPr>
        <p:txBody>
          <a:bodyPr wrap="square" lIns="0" tIns="0" rIns="0" bIns="0" rtlCol="0" anchor="ctr"/>
          <a:lstStyle/>
          <a:p>
            <a:pPr algn="l" indent="0" marL="0">
              <a:buNone/>
            </a:pPr>
            <a:r>
              <a:rPr lang="en-US" sz="1000" b="1" dirty="0">
                <a:solidFill>
                  <a:srgbClr val="8E2A33"/>
                </a:solidFill>
                <a:latin typeface="Calibri" pitchFamily="34" charset="0"/>
                <a:ea typeface="Calibri" pitchFamily="34" charset="-122"/>
                <a:cs typeface="Calibri" pitchFamily="34" charset="-120"/>
              </a:rPr>
              <a:t>afferent arteriole</a:t>
            </a:r>
            <a:r>
              <a:rPr lang="en-US" sz="1000" dirty="0">
                <a:solidFill>
                  <a:srgbClr val="8E2A33"/>
                </a:solidFill>
                <a:latin typeface="Calibri" pitchFamily="34" charset="0"/>
                <a:ea typeface="Calibri" pitchFamily="34" charset="-122"/>
                <a:cs typeface="Calibri" pitchFamily="34" charset="-120"/>
              </a:rPr>
              <a:t> (wide)</a:t>
            </a:r>
            <a:endParaRPr lang="en-US" sz="1000" dirty="0"/>
          </a:p>
        </p:txBody>
      </p:sp>
      <p:sp>
        <p:nvSpPr>
          <p:cNvPr id="641" name="Text 639"/>
          <p:cNvSpPr/>
          <p:nvPr/>
        </p:nvSpPr>
        <p:spPr>
          <a:xfrm>
            <a:off x="566928" y="2743200"/>
            <a:ext cx="1737360" cy="256032"/>
          </a:xfrm>
          <a:prstGeom prst="rect">
            <a:avLst/>
          </a:prstGeom>
          <a:noFill/>
          <a:ln/>
        </p:spPr>
        <p:txBody>
          <a:bodyPr wrap="square" lIns="0" tIns="0" rIns="0" bIns="0" rtlCol="0" anchor="ctr"/>
          <a:lstStyle/>
          <a:p>
            <a:pPr algn="l" indent="0" marL="0">
              <a:buNone/>
            </a:pPr>
            <a:r>
              <a:rPr lang="en-US" sz="1000" b="1" dirty="0">
                <a:solidFill>
                  <a:srgbClr val="8E2A33"/>
                </a:solidFill>
                <a:latin typeface="Calibri" pitchFamily="34" charset="0"/>
                <a:ea typeface="Calibri" pitchFamily="34" charset="-122"/>
                <a:cs typeface="Calibri" pitchFamily="34" charset="-120"/>
              </a:rPr>
              <a:t>efferent arteriole</a:t>
            </a:r>
            <a:r>
              <a:rPr lang="en-US" sz="1000" dirty="0">
                <a:solidFill>
                  <a:srgbClr val="8E2A33"/>
                </a:solidFill>
                <a:latin typeface="Calibri" pitchFamily="34" charset="0"/>
                <a:ea typeface="Calibri" pitchFamily="34" charset="-122"/>
                <a:cs typeface="Calibri" pitchFamily="34" charset="-120"/>
              </a:rPr>
              <a:t> (narrow)</a:t>
            </a:r>
            <a:endParaRPr lang="en-US" sz="1000" dirty="0"/>
          </a:p>
        </p:txBody>
      </p:sp>
      <p:sp>
        <p:nvSpPr>
          <p:cNvPr id="642" name="Text 640"/>
          <p:cNvSpPr/>
          <p:nvPr/>
        </p:nvSpPr>
        <p:spPr>
          <a:xfrm>
            <a:off x="2148840" y="1325880"/>
            <a:ext cx="1188720" cy="274320"/>
          </a:xfrm>
          <a:prstGeom prst="rect">
            <a:avLst/>
          </a:prstGeom>
          <a:noFill/>
          <a:ln/>
        </p:spPr>
        <p:txBody>
          <a:bodyPr wrap="square" lIns="0" tIns="0" rIns="0" bIns="0" rtlCol="0" anchor="ctr"/>
          <a:lstStyle/>
          <a:p>
            <a:pPr algn="l" indent="0" marL="0">
              <a:buNone/>
            </a:pPr>
            <a:r>
              <a:rPr lang="en-US" sz="1050" b="1" dirty="0">
                <a:solidFill>
                  <a:srgbClr val="8E2A33"/>
                </a:solidFill>
                <a:latin typeface="Calibri" pitchFamily="34" charset="0"/>
                <a:ea typeface="Calibri" pitchFamily="34" charset="-122"/>
                <a:cs typeface="Calibri" pitchFamily="34" charset="-120"/>
              </a:rPr>
              <a:t>Glomerulus</a:t>
            </a:r>
            <a:endParaRPr lang="en-US" sz="1050" dirty="0"/>
          </a:p>
        </p:txBody>
      </p:sp>
      <p:sp>
        <p:nvSpPr>
          <p:cNvPr id="643" name="Shape 641"/>
          <p:cNvSpPr/>
          <p:nvPr/>
        </p:nvSpPr>
        <p:spPr>
          <a:xfrm flipH="1">
            <a:off x="1371600" y="1463040"/>
            <a:ext cx="740664" cy="457200"/>
          </a:xfrm>
          <a:prstGeom prst="line">
            <a:avLst/>
          </a:prstGeom>
          <a:noFill/>
          <a:ln w="12700">
            <a:solidFill>
              <a:srgbClr val="8E2A33"/>
            </a:solidFill>
            <a:prstDash val="solid"/>
          </a:ln>
        </p:spPr>
      </p:sp>
      <p:sp>
        <p:nvSpPr>
          <p:cNvPr id="644" name="Shape 642"/>
          <p:cNvSpPr/>
          <p:nvPr/>
        </p:nvSpPr>
        <p:spPr>
          <a:xfrm>
            <a:off x="1344168" y="1892808"/>
            <a:ext cx="54864" cy="54864"/>
          </a:xfrm>
          <a:prstGeom prst="ellipse">
            <a:avLst/>
          </a:prstGeom>
          <a:solidFill>
            <a:srgbClr val="8E2A33"/>
          </a:solidFill>
          <a:ln w="9525">
            <a:solidFill>
              <a:srgbClr val="8E2A33"/>
            </a:solidFill>
            <a:prstDash val="solid"/>
          </a:ln>
        </p:spPr>
      </p:sp>
      <p:sp>
        <p:nvSpPr>
          <p:cNvPr id="645" name="Text 643"/>
          <p:cNvSpPr/>
          <p:nvPr/>
        </p:nvSpPr>
        <p:spPr>
          <a:xfrm>
            <a:off x="640080" y="3291840"/>
            <a:ext cx="1417320" cy="274320"/>
          </a:xfrm>
          <a:prstGeom prst="rect">
            <a:avLst/>
          </a:prstGeom>
          <a:noFill/>
          <a:ln/>
        </p:spPr>
        <p:txBody>
          <a:bodyPr wrap="square" lIns="0" tIns="0" rIns="0" bIns="0" rtlCol="0" anchor="ctr"/>
          <a:lstStyle/>
          <a:p>
            <a:pPr algn="r" indent="0" marL="0">
              <a:buNone/>
            </a:pPr>
            <a:r>
              <a:rPr lang="en-US" sz="1050" b="1" dirty="0">
                <a:solidFill>
                  <a:srgbClr val="B8860B"/>
                </a:solidFill>
                <a:latin typeface="Calibri" pitchFamily="34" charset="0"/>
                <a:ea typeface="Calibri" pitchFamily="34" charset="-122"/>
                <a:cs typeface="Calibri" pitchFamily="34" charset="-120"/>
              </a:rPr>
              <a:t>Bowman's capsule</a:t>
            </a:r>
            <a:endParaRPr lang="en-US" sz="1050" dirty="0"/>
          </a:p>
        </p:txBody>
      </p:sp>
      <p:sp>
        <p:nvSpPr>
          <p:cNvPr id="646" name="Shape 644"/>
          <p:cNvSpPr/>
          <p:nvPr/>
        </p:nvSpPr>
        <p:spPr>
          <a:xfrm flipH="1" flipV="1">
            <a:off x="1234440" y="2423160"/>
            <a:ext cx="859536" cy="1005840"/>
          </a:xfrm>
          <a:prstGeom prst="line">
            <a:avLst/>
          </a:prstGeom>
          <a:noFill/>
          <a:ln w="12700">
            <a:solidFill>
              <a:srgbClr val="B8860B"/>
            </a:solidFill>
            <a:prstDash val="solid"/>
          </a:ln>
        </p:spPr>
      </p:sp>
      <p:sp>
        <p:nvSpPr>
          <p:cNvPr id="647" name="Shape 645"/>
          <p:cNvSpPr/>
          <p:nvPr/>
        </p:nvSpPr>
        <p:spPr>
          <a:xfrm>
            <a:off x="1207008" y="2395728"/>
            <a:ext cx="54864" cy="54864"/>
          </a:xfrm>
          <a:prstGeom prst="ellipse">
            <a:avLst/>
          </a:prstGeom>
          <a:solidFill>
            <a:srgbClr val="B8860B"/>
          </a:solidFill>
          <a:ln w="9525">
            <a:solidFill>
              <a:srgbClr val="B8860B"/>
            </a:solidFill>
            <a:prstDash val="solid"/>
          </a:ln>
        </p:spPr>
      </p:sp>
      <p:sp>
        <p:nvSpPr>
          <p:cNvPr id="648" name="Text 646"/>
          <p:cNvSpPr/>
          <p:nvPr/>
        </p:nvSpPr>
        <p:spPr>
          <a:xfrm>
            <a:off x="2240280" y="3268980"/>
            <a:ext cx="1051560" cy="502920"/>
          </a:xfrm>
          <a:prstGeom prst="rect">
            <a:avLst/>
          </a:prstGeom>
          <a:noFill/>
          <a:ln/>
        </p:spPr>
        <p:txBody>
          <a:bodyPr wrap="square" lIns="0" tIns="0" rIns="0" bIns="0" rtlCol="0" anchor="ctr"/>
          <a:lstStyle/>
          <a:p>
            <a:pPr algn="r" indent="0" marL="0">
              <a:buNone/>
            </a:pPr>
            <a:r>
              <a:rPr lang="en-US" sz="1000" b="1" dirty="0">
                <a:solidFill>
                  <a:srgbClr val="B8860B"/>
                </a:solidFill>
                <a:latin typeface="Calibri" pitchFamily="34" charset="0"/>
                <a:ea typeface="Calibri" pitchFamily="34" charset="-122"/>
                <a:cs typeface="Calibri" pitchFamily="34" charset="-120"/>
              </a:rPr>
              <a:t>Proximal (first) convoluted tubule</a:t>
            </a:r>
            <a:endParaRPr lang="en-US" sz="1000" dirty="0"/>
          </a:p>
        </p:txBody>
      </p:sp>
      <p:sp>
        <p:nvSpPr>
          <p:cNvPr id="649" name="Shape 647"/>
          <p:cNvSpPr/>
          <p:nvPr/>
        </p:nvSpPr>
        <p:spPr>
          <a:xfrm flipH="1" flipV="1">
            <a:off x="2743200" y="2103120"/>
            <a:ext cx="585216" cy="1417320"/>
          </a:xfrm>
          <a:prstGeom prst="line">
            <a:avLst/>
          </a:prstGeom>
          <a:noFill/>
          <a:ln w="12700">
            <a:solidFill>
              <a:srgbClr val="B8860B"/>
            </a:solidFill>
            <a:prstDash val="solid"/>
          </a:ln>
        </p:spPr>
      </p:sp>
      <p:sp>
        <p:nvSpPr>
          <p:cNvPr id="650" name="Shape 648"/>
          <p:cNvSpPr/>
          <p:nvPr/>
        </p:nvSpPr>
        <p:spPr>
          <a:xfrm>
            <a:off x="2715768" y="2075688"/>
            <a:ext cx="54864" cy="54864"/>
          </a:xfrm>
          <a:prstGeom prst="ellipse">
            <a:avLst/>
          </a:prstGeom>
          <a:solidFill>
            <a:srgbClr val="B8860B"/>
          </a:solidFill>
          <a:ln w="9525">
            <a:solidFill>
              <a:srgbClr val="B8860B"/>
            </a:solidFill>
            <a:prstDash val="solid"/>
          </a:ln>
        </p:spPr>
      </p:sp>
      <p:sp>
        <p:nvSpPr>
          <p:cNvPr id="651" name="Text 649"/>
          <p:cNvSpPr/>
          <p:nvPr/>
        </p:nvSpPr>
        <p:spPr>
          <a:xfrm>
            <a:off x="2240280" y="4274820"/>
            <a:ext cx="1051560" cy="411480"/>
          </a:xfrm>
          <a:prstGeom prst="rect">
            <a:avLst/>
          </a:prstGeom>
          <a:noFill/>
          <a:ln/>
        </p:spPr>
        <p:txBody>
          <a:bodyPr wrap="square" lIns="0" tIns="0" rIns="0" bIns="0" rtlCol="0" anchor="ctr"/>
          <a:lstStyle/>
          <a:p>
            <a:pPr algn="r" indent="0" marL="0">
              <a:buNone/>
            </a:pPr>
            <a:r>
              <a:rPr lang="en-US" sz="1050" b="1" dirty="0">
                <a:solidFill>
                  <a:srgbClr val="B8860B"/>
                </a:solidFill>
                <a:latin typeface="Calibri" pitchFamily="34" charset="0"/>
                <a:ea typeface="Calibri" pitchFamily="34" charset="-122"/>
                <a:cs typeface="Calibri" pitchFamily="34" charset="-120"/>
              </a:rPr>
              <a:t>Loop of Henle</a:t>
            </a:r>
            <a:endParaRPr lang="en-US" sz="1050" dirty="0"/>
          </a:p>
        </p:txBody>
      </p:sp>
      <p:sp>
        <p:nvSpPr>
          <p:cNvPr id="652" name="Shape 650"/>
          <p:cNvSpPr/>
          <p:nvPr/>
        </p:nvSpPr>
        <p:spPr>
          <a:xfrm flipV="1">
            <a:off x="3328416" y="4206240"/>
            <a:ext cx="237744" cy="274320"/>
          </a:xfrm>
          <a:prstGeom prst="line">
            <a:avLst/>
          </a:prstGeom>
          <a:noFill/>
          <a:ln w="12700">
            <a:solidFill>
              <a:srgbClr val="B8860B"/>
            </a:solidFill>
            <a:prstDash val="solid"/>
          </a:ln>
        </p:spPr>
      </p:sp>
      <p:sp>
        <p:nvSpPr>
          <p:cNvPr id="653" name="Shape 651"/>
          <p:cNvSpPr/>
          <p:nvPr/>
        </p:nvSpPr>
        <p:spPr>
          <a:xfrm>
            <a:off x="3538728" y="4178808"/>
            <a:ext cx="54864" cy="54864"/>
          </a:xfrm>
          <a:prstGeom prst="ellipse">
            <a:avLst/>
          </a:prstGeom>
          <a:solidFill>
            <a:srgbClr val="B8860B"/>
          </a:solidFill>
          <a:ln w="9525">
            <a:solidFill>
              <a:srgbClr val="B8860B"/>
            </a:solidFill>
            <a:prstDash val="solid"/>
          </a:ln>
        </p:spPr>
      </p:sp>
      <p:sp>
        <p:nvSpPr>
          <p:cNvPr id="654" name="Text 652"/>
          <p:cNvSpPr/>
          <p:nvPr/>
        </p:nvSpPr>
        <p:spPr>
          <a:xfrm>
            <a:off x="4343400" y="1234440"/>
            <a:ext cx="1417320" cy="457200"/>
          </a:xfrm>
          <a:prstGeom prst="rect">
            <a:avLst/>
          </a:prstGeom>
          <a:noFill/>
          <a:ln/>
        </p:spPr>
        <p:txBody>
          <a:bodyPr wrap="square" lIns="0" tIns="0" rIns="0" bIns="0" rtlCol="0" anchor="ctr"/>
          <a:lstStyle/>
          <a:p>
            <a:pPr algn="r" indent="0" marL="0">
              <a:buNone/>
            </a:pPr>
            <a:r>
              <a:rPr lang="en-US" sz="1000" b="1" dirty="0">
                <a:solidFill>
                  <a:srgbClr val="B8860B"/>
                </a:solidFill>
                <a:latin typeface="Calibri" pitchFamily="34" charset="0"/>
                <a:ea typeface="Calibri" pitchFamily="34" charset="-122"/>
                <a:cs typeface="Calibri" pitchFamily="34" charset="-120"/>
              </a:rPr>
              <a:t>Distal (second) convoluted tubule</a:t>
            </a:r>
            <a:endParaRPr lang="en-US" sz="1000" dirty="0"/>
          </a:p>
        </p:txBody>
      </p:sp>
      <p:sp>
        <p:nvSpPr>
          <p:cNvPr id="655" name="Shape 653"/>
          <p:cNvSpPr/>
          <p:nvPr/>
        </p:nvSpPr>
        <p:spPr>
          <a:xfrm flipH="1">
            <a:off x="4846320" y="1463040"/>
            <a:ext cx="950976" cy="868680"/>
          </a:xfrm>
          <a:prstGeom prst="line">
            <a:avLst/>
          </a:prstGeom>
          <a:noFill/>
          <a:ln w="12700">
            <a:solidFill>
              <a:srgbClr val="B8860B"/>
            </a:solidFill>
            <a:prstDash val="solid"/>
          </a:ln>
        </p:spPr>
      </p:sp>
      <p:sp>
        <p:nvSpPr>
          <p:cNvPr id="656" name="Shape 654"/>
          <p:cNvSpPr/>
          <p:nvPr/>
        </p:nvSpPr>
        <p:spPr>
          <a:xfrm>
            <a:off x="4818888" y="2304288"/>
            <a:ext cx="54864" cy="54864"/>
          </a:xfrm>
          <a:prstGeom prst="ellipse">
            <a:avLst/>
          </a:prstGeom>
          <a:solidFill>
            <a:srgbClr val="B8860B"/>
          </a:solidFill>
          <a:ln w="9525">
            <a:solidFill>
              <a:srgbClr val="B8860B"/>
            </a:solidFill>
            <a:prstDash val="solid"/>
          </a:ln>
        </p:spPr>
      </p:sp>
      <p:sp>
        <p:nvSpPr>
          <p:cNvPr id="657" name="Text 655"/>
          <p:cNvSpPr/>
          <p:nvPr/>
        </p:nvSpPr>
        <p:spPr>
          <a:xfrm>
            <a:off x="6263640" y="3840480"/>
            <a:ext cx="960120" cy="457200"/>
          </a:xfrm>
          <a:prstGeom prst="rect">
            <a:avLst/>
          </a:prstGeom>
          <a:noFill/>
          <a:ln/>
        </p:spPr>
        <p:txBody>
          <a:bodyPr wrap="square" lIns="0" tIns="0" rIns="0" bIns="0" rtlCol="0" anchor="ctr"/>
          <a:lstStyle/>
          <a:p>
            <a:pPr algn="l" indent="0" marL="0">
              <a:buNone/>
            </a:pPr>
            <a:r>
              <a:rPr lang="en-US" sz="1050" b="1" dirty="0">
                <a:solidFill>
                  <a:srgbClr val="A08420"/>
                </a:solidFill>
                <a:latin typeface="Calibri" pitchFamily="34" charset="0"/>
                <a:ea typeface="Calibri" pitchFamily="34" charset="-122"/>
                <a:cs typeface="Calibri" pitchFamily="34" charset="-120"/>
              </a:rPr>
              <a:t>Collecting duct</a:t>
            </a:r>
            <a:endParaRPr lang="en-US" sz="1050" dirty="0"/>
          </a:p>
        </p:txBody>
      </p:sp>
      <p:sp>
        <p:nvSpPr>
          <p:cNvPr id="658" name="Shape 656"/>
          <p:cNvSpPr/>
          <p:nvPr/>
        </p:nvSpPr>
        <p:spPr>
          <a:xfrm flipH="1" flipV="1">
            <a:off x="6126480" y="3931920"/>
            <a:ext cx="100584" cy="137160"/>
          </a:xfrm>
          <a:prstGeom prst="line">
            <a:avLst/>
          </a:prstGeom>
          <a:noFill/>
          <a:ln w="12700">
            <a:solidFill>
              <a:srgbClr val="A08420"/>
            </a:solidFill>
            <a:prstDash val="solid"/>
          </a:ln>
        </p:spPr>
      </p:sp>
      <p:sp>
        <p:nvSpPr>
          <p:cNvPr id="659" name="Shape 657"/>
          <p:cNvSpPr/>
          <p:nvPr/>
        </p:nvSpPr>
        <p:spPr>
          <a:xfrm>
            <a:off x="6099048" y="3904488"/>
            <a:ext cx="54864" cy="54864"/>
          </a:xfrm>
          <a:prstGeom prst="ellipse">
            <a:avLst/>
          </a:prstGeom>
          <a:solidFill>
            <a:srgbClr val="A08420"/>
          </a:solidFill>
          <a:ln w="9525">
            <a:solidFill>
              <a:srgbClr val="A08420"/>
            </a:solidFill>
            <a:prstDash val="solid"/>
          </a:ln>
        </p:spPr>
      </p:sp>
      <p:sp>
        <p:nvSpPr>
          <p:cNvPr id="660" name="Text 658"/>
          <p:cNvSpPr/>
          <p:nvPr/>
        </p:nvSpPr>
        <p:spPr>
          <a:xfrm>
            <a:off x="4572000" y="3520440"/>
            <a:ext cx="1143000" cy="274320"/>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Capillaries</a:t>
            </a:r>
            <a:endParaRPr lang="en-US" sz="1050" dirty="0"/>
          </a:p>
        </p:txBody>
      </p:sp>
      <p:sp>
        <p:nvSpPr>
          <p:cNvPr id="661" name="Shape 659"/>
          <p:cNvSpPr/>
          <p:nvPr/>
        </p:nvSpPr>
        <p:spPr>
          <a:xfrm flipH="1">
            <a:off x="4434840" y="3657600"/>
            <a:ext cx="100584" cy="182880"/>
          </a:xfrm>
          <a:prstGeom prst="line">
            <a:avLst/>
          </a:prstGeom>
          <a:noFill/>
          <a:ln w="12700">
            <a:solidFill>
              <a:srgbClr val="C8414C"/>
            </a:solidFill>
            <a:prstDash val="solid"/>
          </a:ln>
        </p:spPr>
      </p:sp>
      <p:sp>
        <p:nvSpPr>
          <p:cNvPr id="662" name="Shape 660"/>
          <p:cNvSpPr/>
          <p:nvPr/>
        </p:nvSpPr>
        <p:spPr>
          <a:xfrm>
            <a:off x="4407408" y="3813048"/>
            <a:ext cx="54864" cy="54864"/>
          </a:xfrm>
          <a:prstGeom prst="ellipse">
            <a:avLst/>
          </a:prstGeom>
          <a:solidFill>
            <a:srgbClr val="C8414C"/>
          </a:solidFill>
          <a:ln w="9525">
            <a:solidFill>
              <a:srgbClr val="C8414C"/>
            </a:solidFill>
            <a:prstDash val="solid"/>
          </a:ln>
        </p:spPr>
      </p:sp>
      <p:sp>
        <p:nvSpPr>
          <p:cNvPr id="663" name="Text 661"/>
          <p:cNvSpPr/>
          <p:nvPr/>
        </p:nvSpPr>
        <p:spPr>
          <a:xfrm>
            <a:off x="5349240" y="5257800"/>
            <a:ext cx="1463040" cy="256032"/>
          </a:xfrm>
          <a:prstGeom prst="rect">
            <a:avLst/>
          </a:prstGeom>
          <a:noFill/>
          <a:ln/>
        </p:spPr>
        <p:txBody>
          <a:bodyPr wrap="square" lIns="0" tIns="0" rIns="0" bIns="0" rtlCol="0" anchor="ctr"/>
          <a:lstStyle/>
          <a:p>
            <a:pPr algn="r" indent="0" marL="0">
              <a:buNone/>
            </a:pPr>
            <a:r>
              <a:rPr lang="en-US" sz="1000" i="1" dirty="0">
                <a:solidFill>
                  <a:srgbClr val="A08420"/>
                </a:solidFill>
                <a:latin typeface="Calibri" pitchFamily="34" charset="0"/>
                <a:ea typeface="Calibri" pitchFamily="34" charset="-122"/>
                <a:cs typeface="Calibri" pitchFamily="34" charset="-120"/>
              </a:rPr>
              <a:t>urine → ureter</a:t>
            </a:r>
            <a:endParaRPr lang="en-US" sz="1000" dirty="0"/>
          </a:p>
        </p:txBody>
      </p:sp>
      <p:sp>
        <p:nvSpPr>
          <p:cNvPr id="664" name="Shape 662"/>
          <p:cNvSpPr/>
          <p:nvPr/>
        </p:nvSpPr>
        <p:spPr>
          <a:xfrm>
            <a:off x="1673352" y="1417320"/>
            <a:ext cx="310896" cy="310896"/>
          </a:xfrm>
          <a:prstGeom prst="ellipse">
            <a:avLst/>
          </a:prstGeom>
          <a:solidFill>
            <a:srgbClr val="B8730A"/>
          </a:solidFill>
          <a:ln w="19050">
            <a:solidFill>
              <a:srgbClr val="FFFFFF"/>
            </a:solidFill>
            <a:prstDash val="solid"/>
          </a:ln>
        </p:spPr>
      </p:sp>
      <p:sp>
        <p:nvSpPr>
          <p:cNvPr id="665" name="Text 663"/>
          <p:cNvSpPr/>
          <p:nvPr/>
        </p:nvSpPr>
        <p:spPr>
          <a:xfrm>
            <a:off x="1673352" y="14173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66" name="Shape 664"/>
          <p:cNvSpPr/>
          <p:nvPr/>
        </p:nvSpPr>
        <p:spPr>
          <a:xfrm>
            <a:off x="2496312" y="1508760"/>
            <a:ext cx="310896" cy="310896"/>
          </a:xfrm>
          <a:prstGeom prst="ellipse">
            <a:avLst/>
          </a:prstGeom>
          <a:solidFill>
            <a:srgbClr val="2A7448"/>
          </a:solidFill>
          <a:ln w="19050">
            <a:solidFill>
              <a:srgbClr val="FFFFFF"/>
            </a:solidFill>
            <a:prstDash val="solid"/>
          </a:ln>
        </p:spPr>
      </p:sp>
      <p:sp>
        <p:nvSpPr>
          <p:cNvPr id="667" name="Text 665"/>
          <p:cNvSpPr/>
          <p:nvPr/>
        </p:nvSpPr>
        <p:spPr>
          <a:xfrm>
            <a:off x="2496312" y="15087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668" name="Shape 666"/>
          <p:cNvSpPr/>
          <p:nvPr/>
        </p:nvSpPr>
        <p:spPr>
          <a:xfrm>
            <a:off x="5559552" y="3319272"/>
            <a:ext cx="310896" cy="310896"/>
          </a:xfrm>
          <a:prstGeom prst="ellipse">
            <a:avLst/>
          </a:prstGeom>
          <a:solidFill>
            <a:srgbClr val="3B7DD8"/>
          </a:solidFill>
          <a:ln w="19050">
            <a:solidFill>
              <a:srgbClr val="FFFFFF"/>
            </a:solidFill>
            <a:prstDash val="solid"/>
          </a:ln>
        </p:spPr>
      </p:sp>
      <p:sp>
        <p:nvSpPr>
          <p:cNvPr id="669" name="Text 667"/>
          <p:cNvSpPr/>
          <p:nvPr/>
        </p:nvSpPr>
        <p:spPr>
          <a:xfrm>
            <a:off x="5559552" y="33192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70" name="Shape 668"/>
          <p:cNvSpPr/>
          <p:nvPr/>
        </p:nvSpPr>
        <p:spPr>
          <a:xfrm>
            <a:off x="7543800" y="1188720"/>
            <a:ext cx="4233672" cy="2971800"/>
          </a:xfrm>
          <a:prstGeom prst="roundRect">
            <a:avLst>
              <a:gd name="adj" fmla="val 1846"/>
            </a:avLst>
          </a:prstGeom>
          <a:solidFill>
            <a:srgbClr val="F5FBF7"/>
          </a:solidFill>
          <a:ln w="9525">
            <a:solidFill>
              <a:srgbClr val="D2E5D8"/>
            </a:solidFill>
            <a:prstDash val="solid"/>
          </a:ln>
        </p:spPr>
      </p:sp>
      <p:sp>
        <p:nvSpPr>
          <p:cNvPr id="671" name="Text 669"/>
          <p:cNvSpPr/>
          <p:nvPr/>
        </p:nvSpPr>
        <p:spPr>
          <a:xfrm>
            <a:off x="7708392" y="1280160"/>
            <a:ext cx="3904488"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Parts of a nephron</a:t>
            </a:r>
            <a:endParaRPr lang="en-US" sz="1300" dirty="0"/>
          </a:p>
        </p:txBody>
      </p:sp>
      <p:sp>
        <p:nvSpPr>
          <p:cNvPr id="672" name="Text 670"/>
          <p:cNvSpPr/>
          <p:nvPr/>
        </p:nvSpPr>
        <p:spPr>
          <a:xfrm>
            <a:off x="7708392" y="1609344"/>
            <a:ext cx="3904488" cy="247802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Glomerulus</a:t>
            </a:r>
            <a:r>
              <a:rPr lang="en-US" sz="1050" dirty="0">
                <a:solidFill>
                  <a:srgbClr val="262B3A"/>
                </a:solidFill>
                <a:latin typeface="Calibri" pitchFamily="34" charset="0"/>
                <a:ea typeface="Calibri" pitchFamily="34" charset="-122"/>
                <a:cs typeface="Calibri" pitchFamily="34" charset="-120"/>
              </a:rPr>
              <a:t>: a knot of capillaries; blood at </a:t>
            </a:r>
            <a:r>
              <a:rPr lang="en-US" sz="1050" b="1" dirty="0">
                <a:solidFill>
                  <a:srgbClr val="262B3A"/>
                </a:solidFill>
                <a:latin typeface="Calibri" pitchFamily="34" charset="0"/>
                <a:ea typeface="Calibri" pitchFamily="34" charset="-122"/>
                <a:cs typeface="Calibri" pitchFamily="34" charset="-120"/>
              </a:rPr>
              <a:t>high pressure</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Bowman's capsule</a:t>
            </a:r>
            <a:r>
              <a:rPr lang="en-US" sz="1050" dirty="0">
                <a:solidFill>
                  <a:srgbClr val="262B3A"/>
                </a:solidFill>
                <a:latin typeface="Calibri" pitchFamily="34" charset="0"/>
                <a:ea typeface="Calibri" pitchFamily="34" charset="-122"/>
                <a:cs typeface="Calibri" pitchFamily="34" charset="-120"/>
              </a:rPr>
              <a:t>: cup around the glomerulus that collects the </a:t>
            </a:r>
            <a:r>
              <a:rPr lang="en-US" sz="1050" b="1" dirty="0">
                <a:solidFill>
                  <a:srgbClr val="262B3A"/>
                </a:solidFill>
                <a:latin typeface="Calibri" pitchFamily="34" charset="0"/>
                <a:ea typeface="Calibri" pitchFamily="34" charset="-122"/>
                <a:cs typeface="Calibri" pitchFamily="34" charset="-120"/>
              </a:rPr>
              <a:t>filtrate</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Proximal convoluted tubule</a:t>
            </a:r>
            <a:r>
              <a:rPr lang="en-US" sz="1050" dirty="0">
                <a:solidFill>
                  <a:srgbClr val="262B3A"/>
                </a:solidFill>
                <a:latin typeface="Calibri" pitchFamily="34" charset="0"/>
                <a:ea typeface="Calibri" pitchFamily="34" charset="-122"/>
                <a:cs typeface="Calibri" pitchFamily="34" charset="-120"/>
              </a:rPr>
              <a:t>: coiled; </a:t>
            </a:r>
            <a:r>
              <a:rPr lang="en-US" sz="1050" b="1" dirty="0">
                <a:solidFill>
                  <a:srgbClr val="262B3A"/>
                </a:solidFill>
                <a:latin typeface="Calibri" pitchFamily="34" charset="0"/>
                <a:ea typeface="Calibri" pitchFamily="34" charset="-122"/>
                <a:cs typeface="Calibri" pitchFamily="34" charset="-120"/>
              </a:rPr>
              <a:t>reabsorbs</a:t>
            </a:r>
            <a:r>
              <a:rPr lang="en-US" sz="1050" dirty="0">
                <a:solidFill>
                  <a:srgbClr val="262B3A"/>
                </a:solidFill>
                <a:latin typeface="Calibri" pitchFamily="34" charset="0"/>
                <a:ea typeface="Calibri" pitchFamily="34" charset="-122"/>
                <a:cs typeface="Calibri" pitchFamily="34" charset="-120"/>
              </a:rPr>
              <a:t> glucose, some water and ions.</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Loop of Henle</a:t>
            </a:r>
            <a:r>
              <a:rPr lang="en-US" sz="1050" dirty="0">
                <a:solidFill>
                  <a:srgbClr val="262B3A"/>
                </a:solidFill>
                <a:latin typeface="Calibri" pitchFamily="34" charset="0"/>
                <a:ea typeface="Calibri" pitchFamily="34" charset="-122"/>
                <a:cs typeface="Calibri" pitchFamily="34" charset="-120"/>
              </a:rPr>
              <a:t>: dips into the medulla; helps reabsorb </a:t>
            </a:r>
            <a:r>
              <a:rPr lang="en-US" sz="1050" b="1" dirty="0">
                <a:solidFill>
                  <a:srgbClr val="262B3A"/>
                </a:solidFill>
                <a:latin typeface="Calibri" pitchFamily="34" charset="0"/>
                <a:ea typeface="Calibri" pitchFamily="34" charset="-122"/>
                <a:cs typeface="Calibri" pitchFamily="34" charset="-120"/>
              </a:rPr>
              <a:t>water</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Distal tubule</a:t>
            </a:r>
            <a:r>
              <a:rPr lang="en-US" sz="1050" dirty="0">
                <a:solidFill>
                  <a:srgbClr val="262B3A"/>
                </a:solidFill>
                <a:latin typeface="Calibri" pitchFamily="34" charset="0"/>
                <a:ea typeface="Calibri" pitchFamily="34" charset="-122"/>
                <a:cs typeface="Calibri" pitchFamily="34" charset="-120"/>
              </a:rPr>
              <a:t>, then </a:t>
            </a:r>
            <a:r>
              <a:rPr lang="en-US" sz="1050" b="1" dirty="0">
                <a:solidFill>
                  <a:srgbClr val="262B3A"/>
                </a:solidFill>
                <a:latin typeface="Calibri" pitchFamily="34" charset="0"/>
                <a:ea typeface="Calibri" pitchFamily="34" charset="-122"/>
                <a:cs typeface="Calibri" pitchFamily="34" charset="-120"/>
              </a:rPr>
              <a:t>collecting duct</a:t>
            </a:r>
            <a:r>
              <a:rPr lang="en-US" sz="1050" dirty="0">
                <a:solidFill>
                  <a:srgbClr val="262B3A"/>
                </a:solidFill>
                <a:latin typeface="Calibri" pitchFamily="34" charset="0"/>
                <a:ea typeface="Calibri" pitchFamily="34" charset="-122"/>
                <a:cs typeface="Calibri" pitchFamily="34" charset="-120"/>
              </a:rPr>
              <a:t>: water reabsorbed (ADH); urine to the ureter.</a:t>
            </a:r>
            <a:endParaRPr lang="en-US" sz="1050" dirty="0"/>
          </a:p>
        </p:txBody>
      </p:sp>
      <p:sp>
        <p:nvSpPr>
          <p:cNvPr id="673" name="Shape 671"/>
          <p:cNvSpPr/>
          <p:nvPr/>
        </p:nvSpPr>
        <p:spPr>
          <a:xfrm>
            <a:off x="7543800" y="4270248"/>
            <a:ext cx="4233672" cy="1444752"/>
          </a:xfrm>
          <a:prstGeom prst="roundRect">
            <a:avLst>
              <a:gd name="adj" fmla="val 3797"/>
            </a:avLst>
          </a:prstGeom>
          <a:solidFill>
            <a:srgbClr val="FFF4E0"/>
          </a:solidFill>
          <a:ln w="12700">
            <a:solidFill>
              <a:srgbClr val="F1D9A8"/>
            </a:solidFill>
            <a:prstDash val="solid"/>
          </a:ln>
        </p:spPr>
      </p:sp>
      <p:sp>
        <p:nvSpPr>
          <p:cNvPr id="674" name="Shape 672"/>
          <p:cNvSpPr/>
          <p:nvPr/>
        </p:nvSpPr>
        <p:spPr>
          <a:xfrm>
            <a:off x="7662672" y="4398264"/>
            <a:ext cx="310896" cy="310896"/>
          </a:xfrm>
          <a:prstGeom prst="ellipse">
            <a:avLst/>
          </a:prstGeom>
          <a:solidFill>
            <a:srgbClr val="B8730A"/>
          </a:solidFill>
          <a:ln w="19050">
            <a:solidFill>
              <a:srgbClr val="FFFFFF"/>
            </a:solidFill>
            <a:prstDash val="solid"/>
          </a:ln>
        </p:spPr>
      </p:sp>
      <p:sp>
        <p:nvSpPr>
          <p:cNvPr id="675" name="Text 673"/>
          <p:cNvSpPr/>
          <p:nvPr/>
        </p:nvSpPr>
        <p:spPr>
          <a:xfrm>
            <a:off x="7662672" y="43982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76" name="Text 674"/>
          <p:cNvSpPr/>
          <p:nvPr/>
        </p:nvSpPr>
        <p:spPr>
          <a:xfrm>
            <a:off x="8046720" y="4425696"/>
            <a:ext cx="36576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Filtration</a:t>
            </a:r>
            <a:r>
              <a:rPr lang="en-US" sz="1050" dirty="0">
                <a:solidFill>
                  <a:srgbClr val="262B3A"/>
                </a:solidFill>
                <a:latin typeface="Calibri" pitchFamily="34" charset="0"/>
                <a:ea typeface="Calibri" pitchFamily="34" charset="-122"/>
                <a:cs typeface="Calibri" pitchFamily="34" charset="-120"/>
              </a:rPr>
              <a:t> (glomerulus → Bowman's capsule)</a:t>
            </a:r>
            <a:endParaRPr lang="en-US" sz="1050" dirty="0"/>
          </a:p>
        </p:txBody>
      </p:sp>
      <p:sp>
        <p:nvSpPr>
          <p:cNvPr id="677" name="Shape 675"/>
          <p:cNvSpPr/>
          <p:nvPr/>
        </p:nvSpPr>
        <p:spPr>
          <a:xfrm>
            <a:off x="7662672" y="4800600"/>
            <a:ext cx="310896" cy="310896"/>
          </a:xfrm>
          <a:prstGeom prst="ellipse">
            <a:avLst/>
          </a:prstGeom>
          <a:solidFill>
            <a:srgbClr val="2A7448"/>
          </a:solidFill>
          <a:ln w="19050">
            <a:solidFill>
              <a:srgbClr val="FFFFFF"/>
            </a:solidFill>
            <a:prstDash val="solid"/>
          </a:ln>
        </p:spPr>
      </p:sp>
      <p:sp>
        <p:nvSpPr>
          <p:cNvPr id="678" name="Text 676"/>
          <p:cNvSpPr/>
          <p:nvPr/>
        </p:nvSpPr>
        <p:spPr>
          <a:xfrm>
            <a:off x="7662672" y="4800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679" name="Text 677"/>
          <p:cNvSpPr/>
          <p:nvPr/>
        </p:nvSpPr>
        <p:spPr>
          <a:xfrm>
            <a:off x="8046720" y="4828032"/>
            <a:ext cx="36576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Selective reabsorption</a:t>
            </a:r>
            <a:r>
              <a:rPr lang="en-US" sz="1050" dirty="0">
                <a:solidFill>
                  <a:srgbClr val="262B3A"/>
                </a:solidFill>
                <a:latin typeface="Calibri" pitchFamily="34" charset="0"/>
                <a:ea typeface="Calibri" pitchFamily="34" charset="-122"/>
                <a:cs typeface="Calibri" pitchFamily="34" charset="-120"/>
              </a:rPr>
              <a:t> of glucose (proximal tubule)</a:t>
            </a:r>
            <a:endParaRPr lang="en-US" sz="1050" dirty="0"/>
          </a:p>
        </p:txBody>
      </p:sp>
      <p:sp>
        <p:nvSpPr>
          <p:cNvPr id="680" name="Shape 678"/>
          <p:cNvSpPr/>
          <p:nvPr/>
        </p:nvSpPr>
        <p:spPr>
          <a:xfrm>
            <a:off x="7662672" y="5202936"/>
            <a:ext cx="310896" cy="310896"/>
          </a:xfrm>
          <a:prstGeom prst="ellipse">
            <a:avLst/>
          </a:prstGeom>
          <a:solidFill>
            <a:srgbClr val="3B7DD8"/>
          </a:solidFill>
          <a:ln w="19050">
            <a:solidFill>
              <a:srgbClr val="FFFFFF"/>
            </a:solidFill>
            <a:prstDash val="solid"/>
          </a:ln>
        </p:spPr>
      </p:sp>
      <p:sp>
        <p:nvSpPr>
          <p:cNvPr id="681" name="Text 679"/>
          <p:cNvSpPr/>
          <p:nvPr/>
        </p:nvSpPr>
        <p:spPr>
          <a:xfrm>
            <a:off x="7662672" y="52029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82" name="Text 680"/>
          <p:cNvSpPr/>
          <p:nvPr/>
        </p:nvSpPr>
        <p:spPr>
          <a:xfrm>
            <a:off x="8046720" y="5230368"/>
            <a:ext cx="36576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Reabsorption of water</a:t>
            </a:r>
            <a:r>
              <a:rPr lang="en-US" sz="1050" dirty="0">
                <a:solidFill>
                  <a:srgbClr val="262B3A"/>
                </a:solidFill>
                <a:latin typeface="Calibri" pitchFamily="34" charset="0"/>
                <a:ea typeface="Calibri" pitchFamily="34" charset="-122"/>
                <a:cs typeface="Calibri" pitchFamily="34" charset="-120"/>
              </a:rPr>
              <a:t> (loop, collecting duct)</a:t>
            </a:r>
            <a:endParaRPr lang="en-US" sz="1050" dirty="0"/>
          </a:p>
        </p:txBody>
      </p:sp>
      <p:sp>
        <p:nvSpPr>
          <p:cNvPr id="683" name="Shape 681"/>
          <p:cNvSpPr/>
          <p:nvPr/>
        </p:nvSpPr>
        <p:spPr>
          <a:xfrm>
            <a:off x="411480" y="5833872"/>
            <a:ext cx="11368735" cy="530352"/>
          </a:xfrm>
          <a:prstGeom prst="rect">
            <a:avLst/>
          </a:prstGeom>
          <a:solidFill>
            <a:srgbClr val="FFF4E0"/>
          </a:solidFill>
          <a:ln w="6350">
            <a:solidFill>
              <a:srgbClr val="F1D9A8"/>
            </a:solidFill>
            <a:prstDash val="solid"/>
          </a:ln>
        </p:spPr>
      </p:sp>
      <p:sp>
        <p:nvSpPr>
          <p:cNvPr id="684" name="Shape 682"/>
          <p:cNvSpPr/>
          <p:nvPr/>
        </p:nvSpPr>
        <p:spPr>
          <a:xfrm>
            <a:off x="411480" y="5833872"/>
            <a:ext cx="82296" cy="530352"/>
          </a:xfrm>
          <a:prstGeom prst="rect">
            <a:avLst/>
          </a:prstGeom>
          <a:solidFill>
            <a:srgbClr val="E39A2F"/>
          </a:solidFill>
          <a:ln w="12700">
            <a:solidFill>
              <a:srgbClr val="E39A2F"/>
            </a:solidFill>
            <a:prstDash val="solid"/>
          </a:ln>
        </p:spPr>
      </p:sp>
      <p:sp>
        <p:nvSpPr>
          <p:cNvPr id="685" name="Text 68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part of the nephron where blood is </a:t>
            </a:r>
            <a:r>
              <a:rPr lang="en-US" sz="1150" b="1" dirty="0">
                <a:solidFill>
                  <a:srgbClr val="262B3A"/>
                </a:solidFill>
                <a:latin typeface="Calibri" pitchFamily="34" charset="0"/>
                <a:ea typeface="Calibri" pitchFamily="34" charset="-122"/>
                <a:cs typeface="Calibri" pitchFamily="34" charset="-120"/>
              </a:rPr>
              <a:t>filtered</a:t>
            </a:r>
            <a:r>
              <a:rPr lang="en-US" sz="1150" dirty="0">
                <a:solidFill>
                  <a:srgbClr val="262B3A"/>
                </a:solidFill>
                <a:latin typeface="Calibri" pitchFamily="34" charset="0"/>
                <a:ea typeface="Calibri" pitchFamily="34" charset="-122"/>
                <a:cs typeface="Calibri" pitchFamily="34" charset="-120"/>
              </a:rPr>
              <a:t>, and the part that </a:t>
            </a:r>
            <a:r>
              <a:rPr lang="en-US" sz="1150" b="1" dirty="0">
                <a:solidFill>
                  <a:srgbClr val="262B3A"/>
                </a:solidFill>
                <a:latin typeface="Calibri" pitchFamily="34" charset="0"/>
                <a:ea typeface="Calibri" pitchFamily="34" charset="-122"/>
                <a:cs typeface="Calibri" pitchFamily="34" charset="-120"/>
              </a:rPr>
              <a:t>collects</a:t>
            </a:r>
            <a:r>
              <a:rPr lang="en-US" sz="1150" dirty="0">
                <a:solidFill>
                  <a:srgbClr val="262B3A"/>
                </a:solidFill>
                <a:latin typeface="Calibri" pitchFamily="34" charset="0"/>
                <a:ea typeface="Calibri" pitchFamily="34" charset="-122"/>
                <a:cs typeface="Calibri" pitchFamily="34" charset="-120"/>
              </a:rPr>
              <a:t> the filtrate. Which arteriole is </a:t>
            </a:r>
            <a:r>
              <a:rPr lang="en-US" sz="1150" b="1" dirty="0">
                <a:solidFill>
                  <a:srgbClr val="262B3A"/>
                </a:solidFill>
                <a:latin typeface="Calibri" pitchFamily="34" charset="0"/>
                <a:ea typeface="Calibri" pitchFamily="34" charset="-122"/>
                <a:cs typeface="Calibri" pitchFamily="34" charset="-120"/>
              </a:rPr>
              <a:t>narrower</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The nephron: forming urine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7.19B • filtration, selective reabsorption of glucose, reabsorption of water</a:t>
            </a:r>
            <a:endParaRPr lang="en-US" sz="1100" dirty="0"/>
          </a:p>
        </p:txBody>
      </p:sp>
      <p:sp>
        <p:nvSpPr>
          <p:cNvPr id="6" name="Shape 4"/>
          <p:cNvSpPr/>
          <p:nvPr/>
        </p:nvSpPr>
        <p:spPr>
          <a:xfrm>
            <a:off x="10591495" y="292608"/>
            <a:ext cx="1188720" cy="274320"/>
          </a:xfrm>
          <a:prstGeom prst="roundRect">
            <a:avLst>
              <a:gd name="adj" fmla="val 50000"/>
            </a:avLst>
          </a:prstGeom>
          <a:solidFill>
            <a:srgbClr val="2A7448"/>
          </a:solidFill>
          <a:ln w="12700">
            <a:solidFill>
              <a:srgbClr val="2A744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BIOLOGY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7.19B  |  31</a:t>
            </a:r>
            <a:endParaRPr lang="en-US" sz="1000" dirty="0"/>
          </a:p>
        </p:txBody>
      </p:sp>
      <p:sp>
        <p:nvSpPr>
          <p:cNvPr id="10" name="Shape 8"/>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what moves where (simplified); arrows show net movement</a:t>
            </a:r>
            <a:endParaRPr lang="en-US" sz="1000" dirty="0"/>
          </a:p>
        </p:txBody>
      </p:sp>
      <p:sp>
        <p:nvSpPr>
          <p:cNvPr id="12" name="Text 10"/>
          <p:cNvSpPr/>
          <p:nvPr/>
        </p:nvSpPr>
        <p:spPr>
          <a:xfrm>
            <a:off x="594360" y="1298448"/>
            <a:ext cx="5212080" cy="256032"/>
          </a:xfrm>
          <a:prstGeom prst="rect">
            <a:avLst/>
          </a:prstGeom>
          <a:noFill/>
          <a:ln/>
        </p:spPr>
        <p:txBody>
          <a:bodyPr wrap="square" lIns="0" tIns="0" rIns="0" bIns="0" rtlCol="0" anchor="ctr"/>
          <a:lstStyle/>
          <a:p>
            <a:pPr algn="l" indent="0" marL="0">
              <a:buNone/>
            </a:pPr>
            <a:r>
              <a:rPr lang="en-US" sz="1100" b="1" dirty="0">
                <a:solidFill>
                  <a:srgbClr val="B8730A"/>
                </a:solidFill>
                <a:latin typeface="Calibri" pitchFamily="34" charset="0"/>
                <a:ea typeface="Calibri" pitchFamily="34" charset="-122"/>
                <a:cs typeface="Calibri" pitchFamily="34" charset="-120"/>
              </a:rPr>
              <a:t>1 Filtration</a:t>
            </a:r>
            <a:r>
              <a:rPr lang="en-US" sz="1100" dirty="0">
                <a:solidFill>
                  <a:srgbClr val="B8730A"/>
                </a:solidFill>
                <a:latin typeface="Calibri" pitchFamily="34" charset="0"/>
                <a:ea typeface="Calibri" pitchFamily="34" charset="-122"/>
                <a:cs typeface="Calibri" pitchFamily="34" charset="-120"/>
              </a:rPr>
              <a:t> in the glomerulus and Bowman's capsule</a:t>
            </a:r>
            <a:endParaRPr lang="en-US" sz="1100" dirty="0"/>
          </a:p>
        </p:txBody>
      </p:sp>
      <p:sp>
        <p:nvSpPr>
          <p:cNvPr id="13" name="Shape 11"/>
          <p:cNvSpPr/>
          <p:nvPr/>
        </p:nvSpPr>
        <p:spPr>
          <a:xfrm>
            <a:off x="640080" y="1627632"/>
            <a:ext cx="5120640" cy="777240"/>
          </a:xfrm>
          <a:prstGeom prst="rect">
            <a:avLst/>
          </a:prstGeom>
          <a:solidFill>
            <a:srgbClr val="F6C9CC"/>
          </a:solidFill>
          <a:ln w="15875">
            <a:solidFill>
              <a:srgbClr val="C8414C"/>
            </a:solidFill>
            <a:prstDash val="solid"/>
          </a:ln>
        </p:spPr>
      </p:sp>
      <p:sp>
        <p:nvSpPr>
          <p:cNvPr id="14" name="Text 12"/>
          <p:cNvSpPr/>
          <p:nvPr/>
        </p:nvSpPr>
        <p:spPr>
          <a:xfrm>
            <a:off x="685800" y="1645920"/>
            <a:ext cx="1280160" cy="228600"/>
          </a:xfrm>
          <a:prstGeom prst="rect">
            <a:avLst/>
          </a:prstGeom>
          <a:noFill/>
          <a:ln/>
        </p:spPr>
        <p:txBody>
          <a:bodyPr wrap="square" lIns="0" tIns="0" rIns="0" bIns="0" rtlCol="0" anchor="ctr"/>
          <a:lstStyle/>
          <a:p>
            <a:pPr algn="l" indent="0" marL="0">
              <a:buNone/>
            </a:pPr>
            <a:r>
              <a:rPr lang="en-US" sz="1000" i="1" dirty="0">
                <a:solidFill>
                  <a:srgbClr val="8E2A33"/>
                </a:solidFill>
                <a:latin typeface="Calibri" pitchFamily="34" charset="0"/>
                <a:ea typeface="Calibri" pitchFamily="34" charset="-122"/>
                <a:cs typeface="Calibri" pitchFamily="34" charset="-120"/>
              </a:rPr>
              <a:t>blood (high pressure)</a:t>
            </a:r>
            <a:endParaRPr lang="en-US" sz="1000" dirty="0"/>
          </a:p>
        </p:txBody>
      </p:sp>
      <p:sp>
        <p:nvSpPr>
          <p:cNvPr id="15" name="Shape 13"/>
          <p:cNvSpPr/>
          <p:nvPr/>
        </p:nvSpPr>
        <p:spPr>
          <a:xfrm>
            <a:off x="640080" y="2404872"/>
            <a:ext cx="5120640" cy="91"/>
          </a:xfrm>
          <a:prstGeom prst="line">
            <a:avLst/>
          </a:prstGeom>
          <a:noFill/>
          <a:ln w="25400">
            <a:solidFill>
              <a:srgbClr val="1C3A2C"/>
            </a:solidFill>
            <a:prstDash val="sysDash"/>
          </a:ln>
        </p:spPr>
      </p:sp>
      <p:sp>
        <p:nvSpPr>
          <p:cNvPr id="16" name="Shape 14"/>
          <p:cNvSpPr/>
          <p:nvPr/>
        </p:nvSpPr>
        <p:spPr>
          <a:xfrm>
            <a:off x="640080" y="2432304"/>
            <a:ext cx="5120640" cy="685800"/>
          </a:xfrm>
          <a:prstGeom prst="rect">
            <a:avLst/>
          </a:prstGeom>
          <a:solidFill>
            <a:srgbClr val="FBEFD0"/>
          </a:solidFill>
          <a:ln w="15875">
            <a:solidFill>
              <a:srgbClr val="B8860B"/>
            </a:solidFill>
            <a:prstDash val="solid"/>
          </a:ln>
        </p:spPr>
      </p:sp>
      <p:sp>
        <p:nvSpPr>
          <p:cNvPr id="17" name="Text 15"/>
          <p:cNvSpPr/>
          <p:nvPr/>
        </p:nvSpPr>
        <p:spPr>
          <a:xfrm>
            <a:off x="685800" y="2862072"/>
            <a:ext cx="1371600" cy="228600"/>
          </a:xfrm>
          <a:prstGeom prst="rect">
            <a:avLst/>
          </a:prstGeom>
          <a:noFill/>
          <a:ln/>
        </p:spPr>
        <p:txBody>
          <a:bodyPr wrap="square" lIns="0" tIns="0" rIns="0" bIns="0" rtlCol="0" anchor="ctr"/>
          <a:lstStyle/>
          <a:p>
            <a:pPr algn="l" indent="0" marL="0">
              <a:buNone/>
            </a:pPr>
            <a:r>
              <a:rPr lang="en-US" sz="1000" i="1" dirty="0">
                <a:solidFill>
                  <a:srgbClr val="B8860B"/>
                </a:solidFill>
                <a:latin typeface="Calibri" pitchFamily="34" charset="0"/>
                <a:ea typeface="Calibri" pitchFamily="34" charset="-122"/>
                <a:cs typeface="Calibri" pitchFamily="34" charset="-120"/>
              </a:rPr>
              <a:t>filtrate in capsule</a:t>
            </a:r>
            <a:endParaRPr lang="en-US" sz="1000" dirty="0"/>
          </a:p>
        </p:txBody>
      </p:sp>
      <p:sp>
        <p:nvSpPr>
          <p:cNvPr id="18" name="Shape 16"/>
          <p:cNvSpPr/>
          <p:nvPr/>
        </p:nvSpPr>
        <p:spPr>
          <a:xfrm>
            <a:off x="2130552" y="1856232"/>
            <a:ext cx="310896" cy="310896"/>
          </a:xfrm>
          <a:prstGeom prst="ellipse">
            <a:avLst/>
          </a:prstGeom>
          <a:solidFill>
            <a:srgbClr val="D9534F"/>
          </a:solidFill>
          <a:ln w="12700">
            <a:solidFill>
              <a:srgbClr val="8E2A33"/>
            </a:solidFill>
            <a:prstDash val="solid"/>
          </a:ln>
        </p:spPr>
      </p:sp>
      <p:sp>
        <p:nvSpPr>
          <p:cNvPr id="19" name="Shape 17"/>
          <p:cNvSpPr/>
          <p:nvPr/>
        </p:nvSpPr>
        <p:spPr>
          <a:xfrm>
            <a:off x="2496312" y="1965960"/>
            <a:ext cx="310896" cy="310896"/>
          </a:xfrm>
          <a:prstGeom prst="ellipse">
            <a:avLst/>
          </a:prstGeom>
          <a:solidFill>
            <a:srgbClr val="D9534F"/>
          </a:solidFill>
          <a:ln w="12700">
            <a:solidFill>
              <a:srgbClr val="8E2A33"/>
            </a:solidFill>
            <a:prstDash val="solid"/>
          </a:ln>
        </p:spPr>
      </p:sp>
      <p:sp>
        <p:nvSpPr>
          <p:cNvPr id="20" name="Shape 18"/>
          <p:cNvSpPr/>
          <p:nvPr/>
        </p:nvSpPr>
        <p:spPr>
          <a:xfrm>
            <a:off x="3054096" y="1901952"/>
            <a:ext cx="384048" cy="219456"/>
          </a:xfrm>
          <a:prstGeom prst="ellipse">
            <a:avLst/>
          </a:prstGeom>
          <a:solidFill>
            <a:srgbClr val="B39DDB"/>
          </a:solidFill>
          <a:ln w="12700">
            <a:solidFill>
              <a:srgbClr val="5E2D73"/>
            </a:solidFill>
            <a:prstDash val="solid"/>
          </a:ln>
        </p:spPr>
      </p:sp>
      <p:sp>
        <p:nvSpPr>
          <p:cNvPr id="21" name="Text 19"/>
          <p:cNvSpPr/>
          <p:nvPr/>
        </p:nvSpPr>
        <p:spPr>
          <a:xfrm>
            <a:off x="2011680" y="2194560"/>
            <a:ext cx="1737360"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cells, </a:t>
            </a:r>
            <a:r>
              <a:rPr lang="en-US" sz="1000" b="1" dirty="0">
                <a:solidFill>
                  <a:srgbClr val="C8414C"/>
                </a:solidFill>
                <a:latin typeface="Calibri" pitchFamily="34" charset="0"/>
                <a:ea typeface="Calibri" pitchFamily="34" charset="-122"/>
                <a:cs typeface="Calibri" pitchFamily="34" charset="-120"/>
              </a:rPr>
              <a:t>protein</a:t>
            </a:r>
            <a:r>
              <a:rPr lang="en-US" sz="1000" b="1" dirty="0">
                <a:solidFill>
                  <a:srgbClr val="C8414C"/>
                </a:solidFill>
                <a:latin typeface="Calibri" pitchFamily="34" charset="0"/>
                <a:ea typeface="Calibri" pitchFamily="34" charset="-122"/>
                <a:cs typeface="Calibri" pitchFamily="34" charset="-120"/>
              </a:rPr>
              <a:t> stay</a:t>
            </a:r>
            <a:endParaRPr lang="en-US" sz="1000" dirty="0"/>
          </a:p>
        </p:txBody>
      </p:sp>
      <p:sp>
        <p:nvSpPr>
          <p:cNvPr id="22" name="Shape 20"/>
          <p:cNvSpPr/>
          <p:nvPr/>
        </p:nvSpPr>
        <p:spPr>
          <a:xfrm>
            <a:off x="3931920" y="1874520"/>
            <a:ext cx="91" cy="868680"/>
          </a:xfrm>
          <a:prstGeom prst="line">
            <a:avLst/>
          </a:prstGeom>
          <a:noFill/>
          <a:ln w="25400">
            <a:solidFill>
              <a:srgbClr val="5B9BD5"/>
            </a:solidFill>
            <a:prstDash val="solid"/>
            <a:tailEnd type="triangle"/>
          </a:ln>
        </p:spPr>
      </p:sp>
      <p:sp>
        <p:nvSpPr>
          <p:cNvPr id="23" name="Text 21"/>
          <p:cNvSpPr/>
          <p:nvPr/>
        </p:nvSpPr>
        <p:spPr>
          <a:xfrm>
            <a:off x="3657600" y="2816352"/>
            <a:ext cx="548640" cy="228600"/>
          </a:xfrm>
          <a:prstGeom prst="rect">
            <a:avLst/>
          </a:prstGeom>
          <a:noFill/>
          <a:ln/>
        </p:spPr>
        <p:txBody>
          <a:bodyPr wrap="square" lIns="0" tIns="0" rIns="0" bIns="0" rtlCol="0" anchor="ctr"/>
          <a:lstStyle/>
          <a:p>
            <a:pPr algn="ctr" indent="0" marL="0">
              <a:buNone/>
            </a:pPr>
            <a:r>
              <a:rPr lang="en-US" sz="1000" b="1" dirty="0">
                <a:solidFill>
                  <a:srgbClr val="5B9BD5"/>
                </a:solidFill>
                <a:latin typeface="Calibri" pitchFamily="34" charset="0"/>
                <a:ea typeface="Calibri" pitchFamily="34" charset="-122"/>
                <a:cs typeface="Calibri" pitchFamily="34" charset="-120"/>
              </a:rPr>
              <a:t>water</a:t>
            </a:r>
            <a:endParaRPr lang="en-US" sz="1000" dirty="0"/>
          </a:p>
        </p:txBody>
      </p:sp>
      <p:sp>
        <p:nvSpPr>
          <p:cNvPr id="24" name="Shape 22"/>
          <p:cNvSpPr/>
          <p:nvPr/>
        </p:nvSpPr>
        <p:spPr>
          <a:xfrm>
            <a:off x="4434840" y="1874520"/>
            <a:ext cx="91" cy="868680"/>
          </a:xfrm>
          <a:prstGeom prst="line">
            <a:avLst/>
          </a:prstGeom>
          <a:noFill/>
          <a:ln w="25400">
            <a:solidFill>
              <a:srgbClr val="3B7DD8"/>
            </a:solidFill>
            <a:prstDash val="solid"/>
            <a:tailEnd type="triangle"/>
          </a:ln>
        </p:spPr>
      </p:sp>
      <p:sp>
        <p:nvSpPr>
          <p:cNvPr id="25" name="Text 23"/>
          <p:cNvSpPr/>
          <p:nvPr/>
        </p:nvSpPr>
        <p:spPr>
          <a:xfrm>
            <a:off x="4160520" y="2816352"/>
            <a:ext cx="548640" cy="228600"/>
          </a:xfrm>
          <a:prstGeom prst="rect">
            <a:avLst/>
          </a:prstGeom>
          <a:noFill/>
          <a:ln/>
        </p:spPr>
        <p:txBody>
          <a:bodyPr wrap="square" lIns="0" tIns="0" rIns="0" bIns="0" rtlCol="0" anchor="ctr"/>
          <a:lstStyle/>
          <a:p>
            <a:pPr algn="ctr" indent="0" marL="0">
              <a:buNone/>
            </a:pPr>
            <a:r>
              <a:rPr lang="en-US" sz="1000" b="1" dirty="0">
                <a:solidFill>
                  <a:srgbClr val="3B7DD8"/>
                </a:solidFill>
                <a:latin typeface="Calibri" pitchFamily="34" charset="0"/>
                <a:ea typeface="Calibri" pitchFamily="34" charset="-122"/>
                <a:cs typeface="Calibri" pitchFamily="34" charset="-120"/>
              </a:rPr>
              <a:t>glucose</a:t>
            </a:r>
            <a:endParaRPr lang="en-US" sz="1000" dirty="0"/>
          </a:p>
        </p:txBody>
      </p:sp>
      <p:sp>
        <p:nvSpPr>
          <p:cNvPr id="26" name="Shape 24"/>
          <p:cNvSpPr/>
          <p:nvPr/>
        </p:nvSpPr>
        <p:spPr>
          <a:xfrm>
            <a:off x="4892040" y="1874520"/>
            <a:ext cx="91" cy="868680"/>
          </a:xfrm>
          <a:prstGeom prst="line">
            <a:avLst/>
          </a:prstGeom>
          <a:noFill/>
          <a:ln w="25400">
            <a:solidFill>
              <a:srgbClr val="8A6A0A"/>
            </a:solidFill>
            <a:prstDash val="solid"/>
            <a:tailEnd type="triangle"/>
          </a:ln>
        </p:spPr>
      </p:sp>
      <p:sp>
        <p:nvSpPr>
          <p:cNvPr id="27" name="Text 25"/>
          <p:cNvSpPr/>
          <p:nvPr/>
        </p:nvSpPr>
        <p:spPr>
          <a:xfrm>
            <a:off x="4617720" y="2816352"/>
            <a:ext cx="548640" cy="228600"/>
          </a:xfrm>
          <a:prstGeom prst="rect">
            <a:avLst/>
          </a:prstGeom>
          <a:noFill/>
          <a:ln/>
        </p:spPr>
        <p:txBody>
          <a:bodyPr wrap="square" lIns="0" tIns="0" rIns="0" bIns="0" rtlCol="0" anchor="ctr"/>
          <a:lstStyle/>
          <a:p>
            <a:pPr algn="ctr" indent="0" marL="0">
              <a:buNone/>
            </a:pPr>
            <a:r>
              <a:rPr lang="en-US" sz="1000" b="1" dirty="0">
                <a:solidFill>
                  <a:srgbClr val="8A6A0A"/>
                </a:solidFill>
                <a:latin typeface="Calibri" pitchFamily="34" charset="0"/>
                <a:ea typeface="Calibri" pitchFamily="34" charset="-122"/>
                <a:cs typeface="Calibri" pitchFamily="34" charset="-120"/>
              </a:rPr>
              <a:t>urea</a:t>
            </a:r>
            <a:endParaRPr lang="en-US" sz="1000" dirty="0"/>
          </a:p>
        </p:txBody>
      </p:sp>
      <p:sp>
        <p:nvSpPr>
          <p:cNvPr id="28" name="Shape 26"/>
          <p:cNvSpPr/>
          <p:nvPr/>
        </p:nvSpPr>
        <p:spPr>
          <a:xfrm>
            <a:off x="5349240" y="1874520"/>
            <a:ext cx="91" cy="868680"/>
          </a:xfrm>
          <a:prstGeom prst="line">
            <a:avLst/>
          </a:prstGeom>
          <a:noFill/>
          <a:ln w="25400">
            <a:solidFill>
              <a:srgbClr val="6B7385"/>
            </a:solidFill>
            <a:prstDash val="solid"/>
            <a:tailEnd type="triangle"/>
          </a:ln>
        </p:spPr>
      </p:sp>
      <p:sp>
        <p:nvSpPr>
          <p:cNvPr id="29" name="Text 27"/>
          <p:cNvSpPr/>
          <p:nvPr/>
        </p:nvSpPr>
        <p:spPr>
          <a:xfrm>
            <a:off x="5074920" y="2816352"/>
            <a:ext cx="548640" cy="228600"/>
          </a:xfrm>
          <a:prstGeom prst="rect">
            <a:avLst/>
          </a:prstGeom>
          <a:noFill/>
          <a:ln/>
        </p:spPr>
        <p:txBody>
          <a:bodyPr wrap="square" lIns="0" tIns="0" rIns="0" bIns="0" rtlCol="0" anchor="ctr"/>
          <a:lstStyle/>
          <a:p>
            <a:pPr algn="ctr" indent="0" marL="0">
              <a:buNone/>
            </a:pPr>
            <a:r>
              <a:rPr lang="en-US" sz="1000" b="1" dirty="0">
                <a:solidFill>
                  <a:srgbClr val="6B7385"/>
                </a:solidFill>
                <a:latin typeface="Calibri" pitchFamily="34" charset="0"/>
                <a:ea typeface="Calibri" pitchFamily="34" charset="-122"/>
                <a:cs typeface="Calibri" pitchFamily="34" charset="-120"/>
              </a:rPr>
              <a:t>ions</a:t>
            </a:r>
            <a:endParaRPr lang="en-US" sz="1000" dirty="0"/>
          </a:p>
        </p:txBody>
      </p:sp>
      <p:sp>
        <p:nvSpPr>
          <p:cNvPr id="30" name="Text 28"/>
          <p:cNvSpPr/>
          <p:nvPr/>
        </p:nvSpPr>
        <p:spPr>
          <a:xfrm>
            <a:off x="594360" y="3246120"/>
            <a:ext cx="5212080" cy="256032"/>
          </a:xfrm>
          <a:prstGeom prst="rect">
            <a:avLst/>
          </a:prstGeom>
          <a:noFill/>
          <a:ln/>
        </p:spPr>
        <p:txBody>
          <a:bodyPr wrap="square" lIns="0" tIns="0" rIns="0" bIns="0" rtlCol="0" anchor="ctr"/>
          <a:lstStyle/>
          <a:p>
            <a:pPr algn="l" indent="0" marL="0">
              <a:buNone/>
            </a:pPr>
            <a:r>
              <a:rPr lang="en-US" sz="1100" b="1" dirty="0">
                <a:solidFill>
                  <a:srgbClr val="2A7448"/>
                </a:solidFill>
                <a:latin typeface="Calibri" pitchFamily="34" charset="0"/>
                <a:ea typeface="Calibri" pitchFamily="34" charset="-122"/>
                <a:cs typeface="Calibri" pitchFamily="34" charset="-120"/>
              </a:rPr>
              <a:t>2–3 Reabsorption</a:t>
            </a:r>
            <a:r>
              <a:rPr lang="en-US" sz="1100" dirty="0">
                <a:solidFill>
                  <a:srgbClr val="2A7448"/>
                </a:solidFill>
                <a:latin typeface="Calibri" pitchFamily="34" charset="0"/>
                <a:ea typeface="Calibri" pitchFamily="34" charset="-122"/>
                <a:cs typeface="Calibri" pitchFamily="34" charset="-120"/>
              </a:rPr>
              <a:t> along the tubule back into the blood</a:t>
            </a:r>
            <a:endParaRPr lang="en-US" sz="1100" dirty="0"/>
          </a:p>
        </p:txBody>
      </p:sp>
      <p:sp>
        <p:nvSpPr>
          <p:cNvPr id="31" name="Shape 29"/>
          <p:cNvSpPr/>
          <p:nvPr/>
        </p:nvSpPr>
        <p:spPr>
          <a:xfrm>
            <a:off x="640080" y="3566160"/>
            <a:ext cx="5120640" cy="548640"/>
          </a:xfrm>
          <a:prstGeom prst="rect">
            <a:avLst/>
          </a:prstGeom>
          <a:solidFill>
            <a:srgbClr val="F6C9CC"/>
          </a:solidFill>
          <a:ln w="15875">
            <a:solidFill>
              <a:srgbClr val="C8414C"/>
            </a:solidFill>
            <a:prstDash val="solid"/>
          </a:ln>
        </p:spPr>
      </p:sp>
      <p:sp>
        <p:nvSpPr>
          <p:cNvPr id="32" name="Text 30"/>
          <p:cNvSpPr/>
          <p:nvPr/>
        </p:nvSpPr>
        <p:spPr>
          <a:xfrm>
            <a:off x="685800" y="3584448"/>
            <a:ext cx="1463040" cy="228600"/>
          </a:xfrm>
          <a:prstGeom prst="rect">
            <a:avLst/>
          </a:prstGeom>
          <a:noFill/>
          <a:ln/>
        </p:spPr>
        <p:txBody>
          <a:bodyPr wrap="square" lIns="0" tIns="0" rIns="0" bIns="0" rtlCol="0" anchor="ctr"/>
          <a:lstStyle/>
          <a:p>
            <a:pPr algn="l" indent="0" marL="0">
              <a:buNone/>
            </a:pPr>
            <a:r>
              <a:rPr lang="en-US" sz="1000" i="1" dirty="0">
                <a:solidFill>
                  <a:srgbClr val="8E2A33"/>
                </a:solidFill>
                <a:latin typeface="Calibri" pitchFamily="34" charset="0"/>
                <a:ea typeface="Calibri" pitchFamily="34" charset="-122"/>
                <a:cs typeface="Calibri" pitchFamily="34" charset="-120"/>
              </a:rPr>
              <a:t>capillary (blood)</a:t>
            </a:r>
            <a:endParaRPr lang="en-US" sz="1000" dirty="0"/>
          </a:p>
        </p:txBody>
      </p:sp>
      <p:sp>
        <p:nvSpPr>
          <p:cNvPr id="33" name="Shape 31"/>
          <p:cNvSpPr/>
          <p:nvPr/>
        </p:nvSpPr>
        <p:spPr>
          <a:xfrm>
            <a:off x="640080" y="4206240"/>
            <a:ext cx="5120640" cy="685800"/>
          </a:xfrm>
          <a:prstGeom prst="rect">
            <a:avLst/>
          </a:prstGeom>
          <a:solidFill>
            <a:srgbClr val="FBEFD0"/>
          </a:solidFill>
          <a:ln w="15875">
            <a:solidFill>
              <a:srgbClr val="B8860B"/>
            </a:solidFill>
            <a:prstDash val="solid"/>
          </a:ln>
        </p:spPr>
      </p:sp>
      <p:sp>
        <p:nvSpPr>
          <p:cNvPr id="34" name="Text 32"/>
          <p:cNvSpPr/>
          <p:nvPr/>
        </p:nvSpPr>
        <p:spPr>
          <a:xfrm>
            <a:off x="685800" y="4636008"/>
            <a:ext cx="1371600" cy="228600"/>
          </a:xfrm>
          <a:prstGeom prst="rect">
            <a:avLst/>
          </a:prstGeom>
          <a:noFill/>
          <a:ln/>
        </p:spPr>
        <p:txBody>
          <a:bodyPr wrap="square" lIns="0" tIns="0" rIns="0" bIns="0" rtlCol="0" anchor="ctr"/>
          <a:lstStyle/>
          <a:p>
            <a:pPr algn="l" indent="0" marL="0">
              <a:buNone/>
            </a:pPr>
            <a:r>
              <a:rPr lang="en-US" sz="1000" i="1" dirty="0">
                <a:solidFill>
                  <a:srgbClr val="B8860B"/>
                </a:solidFill>
                <a:latin typeface="Calibri" pitchFamily="34" charset="0"/>
                <a:ea typeface="Calibri" pitchFamily="34" charset="-122"/>
                <a:cs typeface="Calibri" pitchFamily="34" charset="-120"/>
              </a:rPr>
              <a:t>tubule (filtrate)</a:t>
            </a:r>
            <a:endParaRPr lang="en-US" sz="1000" dirty="0"/>
          </a:p>
        </p:txBody>
      </p:sp>
      <p:sp>
        <p:nvSpPr>
          <p:cNvPr id="35" name="Shape 33"/>
          <p:cNvSpPr/>
          <p:nvPr/>
        </p:nvSpPr>
        <p:spPr>
          <a:xfrm>
            <a:off x="5532120" y="4544568"/>
            <a:ext cx="274320" cy="91"/>
          </a:xfrm>
          <a:prstGeom prst="line">
            <a:avLst/>
          </a:prstGeom>
          <a:noFill/>
          <a:ln w="19050">
            <a:solidFill>
              <a:srgbClr val="B8860B"/>
            </a:solidFill>
            <a:prstDash val="solid"/>
            <a:tailEnd type="triangle"/>
          </a:ln>
        </p:spPr>
      </p:sp>
      <p:sp>
        <p:nvSpPr>
          <p:cNvPr id="36" name="Shape 34"/>
          <p:cNvSpPr/>
          <p:nvPr/>
        </p:nvSpPr>
        <p:spPr>
          <a:xfrm flipV="1">
            <a:off x="2103120" y="3840480"/>
            <a:ext cx="91" cy="685800"/>
          </a:xfrm>
          <a:prstGeom prst="line">
            <a:avLst/>
          </a:prstGeom>
          <a:noFill/>
          <a:ln w="31750">
            <a:solidFill>
              <a:srgbClr val="3B7DD8"/>
            </a:solidFill>
            <a:prstDash val="solid"/>
            <a:tailEnd type="triangle"/>
          </a:ln>
        </p:spPr>
      </p:sp>
      <p:sp>
        <p:nvSpPr>
          <p:cNvPr id="37" name="Text 35"/>
          <p:cNvSpPr/>
          <p:nvPr/>
        </p:nvSpPr>
        <p:spPr>
          <a:xfrm>
            <a:off x="1417320" y="4937760"/>
            <a:ext cx="1371600" cy="365760"/>
          </a:xfrm>
          <a:prstGeom prst="rect">
            <a:avLst/>
          </a:prstGeom>
          <a:noFill/>
          <a:ln/>
        </p:spPr>
        <p:txBody>
          <a:bodyPr wrap="square" lIns="0" tIns="0" rIns="0" bIns="0" rtlCol="0" anchor="t"/>
          <a:lstStyle/>
          <a:p>
            <a:pPr algn="ctr" indent="0" marL="0">
              <a:buNone/>
            </a:pPr>
            <a:r>
              <a:rPr lang="en-US" sz="1000" b="1" dirty="0">
                <a:solidFill>
                  <a:srgbClr val="3B7DD8"/>
                </a:solidFill>
                <a:latin typeface="Calibri" pitchFamily="34" charset="0"/>
                <a:ea typeface="Calibri" pitchFamily="34" charset="-122"/>
                <a:cs typeface="Calibri" pitchFamily="34" charset="-120"/>
              </a:rPr>
              <a:t>all</a:t>
            </a:r>
            <a:r>
              <a:rPr lang="en-US" sz="1000" b="1" dirty="0">
                <a:solidFill>
                  <a:srgbClr val="3B7DD8"/>
                </a:solidFill>
                <a:latin typeface="Calibri" pitchFamily="34" charset="0"/>
                <a:ea typeface="Calibri" pitchFamily="34" charset="-122"/>
                <a:cs typeface="Calibri" pitchFamily="34" charset="-120"/>
              </a:rPr>
              <a:t> glucose (active transport)</a:t>
            </a:r>
            <a:endParaRPr lang="en-US" sz="1000" dirty="0"/>
          </a:p>
        </p:txBody>
      </p:sp>
      <p:sp>
        <p:nvSpPr>
          <p:cNvPr id="38" name="Shape 36"/>
          <p:cNvSpPr/>
          <p:nvPr/>
        </p:nvSpPr>
        <p:spPr>
          <a:xfrm flipV="1">
            <a:off x="3566160" y="3840480"/>
            <a:ext cx="91" cy="685800"/>
          </a:xfrm>
          <a:prstGeom prst="line">
            <a:avLst/>
          </a:prstGeom>
          <a:noFill/>
          <a:ln w="31750">
            <a:solidFill>
              <a:srgbClr val="5B9BD5"/>
            </a:solidFill>
            <a:prstDash val="solid"/>
            <a:tailEnd type="triangle"/>
          </a:ln>
        </p:spPr>
      </p:sp>
      <p:sp>
        <p:nvSpPr>
          <p:cNvPr id="39" name="Text 37"/>
          <p:cNvSpPr/>
          <p:nvPr/>
        </p:nvSpPr>
        <p:spPr>
          <a:xfrm>
            <a:off x="2880360" y="4937760"/>
            <a:ext cx="1371600" cy="365760"/>
          </a:xfrm>
          <a:prstGeom prst="rect">
            <a:avLst/>
          </a:prstGeom>
          <a:noFill/>
          <a:ln/>
        </p:spPr>
        <p:txBody>
          <a:bodyPr wrap="square" lIns="0" tIns="0" rIns="0" bIns="0" rtlCol="0" anchor="t"/>
          <a:lstStyle/>
          <a:p>
            <a:pPr algn="ctr" indent="0" marL="0">
              <a:buNone/>
            </a:pPr>
            <a:r>
              <a:rPr lang="en-US" sz="1000" b="1" dirty="0">
                <a:solidFill>
                  <a:srgbClr val="5B9BD5"/>
                </a:solidFill>
                <a:latin typeface="Calibri" pitchFamily="34" charset="0"/>
                <a:ea typeface="Calibri" pitchFamily="34" charset="-122"/>
                <a:cs typeface="Calibri" pitchFamily="34" charset="-120"/>
              </a:rPr>
              <a:t>most water</a:t>
            </a:r>
            <a:r>
              <a:rPr lang="en-US" sz="1000" b="1" dirty="0">
                <a:solidFill>
                  <a:srgbClr val="5B9BD5"/>
                </a:solidFill>
                <a:latin typeface="Calibri" pitchFamily="34" charset="0"/>
                <a:ea typeface="Calibri" pitchFamily="34" charset="-122"/>
                <a:cs typeface="Calibri" pitchFamily="34" charset="-120"/>
              </a:rPr>
              <a:t> (osmosis)</a:t>
            </a:r>
            <a:endParaRPr lang="en-US" sz="1000" dirty="0"/>
          </a:p>
        </p:txBody>
      </p:sp>
      <p:sp>
        <p:nvSpPr>
          <p:cNvPr id="40" name="Shape 38"/>
          <p:cNvSpPr/>
          <p:nvPr/>
        </p:nvSpPr>
        <p:spPr>
          <a:xfrm flipV="1">
            <a:off x="4754880" y="3840480"/>
            <a:ext cx="91" cy="685800"/>
          </a:xfrm>
          <a:prstGeom prst="line">
            <a:avLst/>
          </a:prstGeom>
          <a:noFill/>
          <a:ln w="31750">
            <a:solidFill>
              <a:srgbClr val="6B7385"/>
            </a:solidFill>
            <a:prstDash val="solid"/>
            <a:tailEnd type="triangle"/>
          </a:ln>
        </p:spPr>
      </p:sp>
      <p:sp>
        <p:nvSpPr>
          <p:cNvPr id="41" name="Text 39"/>
          <p:cNvSpPr/>
          <p:nvPr/>
        </p:nvSpPr>
        <p:spPr>
          <a:xfrm>
            <a:off x="4069080" y="4937760"/>
            <a:ext cx="1371600" cy="365760"/>
          </a:xfrm>
          <a:prstGeom prst="rect">
            <a:avLst/>
          </a:prstGeom>
          <a:noFill/>
          <a:ln/>
        </p:spPr>
        <p:txBody>
          <a:bodyPr wrap="square" lIns="0" tIns="0" rIns="0" bIns="0" rtlCol="0" anchor="t"/>
          <a:lstStyle/>
          <a:p>
            <a:pPr algn="ctr" indent="0" marL="0">
              <a:buNone/>
            </a:pPr>
            <a:r>
              <a:rPr lang="en-US" sz="1000" b="1" dirty="0">
                <a:solidFill>
                  <a:srgbClr val="6B7385"/>
                </a:solidFill>
                <a:latin typeface="Calibri" pitchFamily="34" charset="0"/>
                <a:ea typeface="Calibri" pitchFamily="34" charset="-122"/>
                <a:cs typeface="Calibri" pitchFamily="34" charset="-120"/>
              </a:rPr>
              <a:t>some ions</a:t>
            </a:r>
            <a:endParaRPr lang="en-US" sz="1000" dirty="0"/>
          </a:p>
        </p:txBody>
      </p:sp>
      <p:sp>
        <p:nvSpPr>
          <p:cNvPr id="42" name="Text 40"/>
          <p:cNvSpPr/>
          <p:nvPr/>
        </p:nvSpPr>
        <p:spPr>
          <a:xfrm>
            <a:off x="640080" y="5212080"/>
            <a:ext cx="5120640" cy="228600"/>
          </a:xfrm>
          <a:prstGeom prst="rect">
            <a:avLst/>
          </a:prstGeom>
          <a:noFill/>
          <a:ln/>
        </p:spPr>
        <p:txBody>
          <a:bodyPr wrap="square" lIns="0" tIns="0" rIns="0" bIns="0" rtlCol="0" anchor="ctr"/>
          <a:lstStyle/>
          <a:p>
            <a:pPr algn="ctr" indent="0" marL="0">
              <a:buNone/>
            </a:pPr>
            <a:r>
              <a:rPr lang="en-US" sz="1050" b="1" dirty="0">
                <a:solidFill>
                  <a:srgbClr val="A08420"/>
                </a:solidFill>
                <a:latin typeface="Calibri" pitchFamily="34" charset="0"/>
                <a:ea typeface="Calibri" pitchFamily="34" charset="-122"/>
                <a:cs typeface="Calibri" pitchFamily="34" charset="-120"/>
              </a:rPr>
              <a:t>Left in the tubule → </a:t>
            </a:r>
            <a:r>
              <a:rPr lang="en-US" sz="1050" b="1" dirty="0">
                <a:solidFill>
                  <a:srgbClr val="A08420"/>
                </a:solidFill>
                <a:latin typeface="Calibri" pitchFamily="34" charset="0"/>
                <a:ea typeface="Calibri" pitchFamily="34" charset="-122"/>
                <a:cs typeface="Calibri" pitchFamily="34" charset="-120"/>
              </a:rPr>
              <a:t>urine</a:t>
            </a:r>
            <a:r>
              <a:rPr lang="en-US" sz="1050" b="1" dirty="0">
                <a:solidFill>
                  <a:srgbClr val="A08420"/>
                </a:solidFill>
                <a:latin typeface="Calibri" pitchFamily="34" charset="0"/>
                <a:ea typeface="Calibri" pitchFamily="34" charset="-122"/>
                <a:cs typeface="Calibri" pitchFamily="34" charset="-120"/>
              </a:rPr>
              <a:t>: urea, excess water, excess ions</a:t>
            </a:r>
            <a:endParaRPr lang="en-US" sz="10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463040"/>
                <a:gridCol w="1024128"/>
                <a:gridCol w="1024128"/>
                <a:gridCol w="1024128"/>
                <a:gridCol w="1024128"/>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 per dm³</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1C3A2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Protein</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1C3A2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Glucose</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1C3A2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Urea</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1C3A2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Ions</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1C3A2C"/>
                    </a:solidFill>
                  </a:tcPr>
                </a:tc>
              </a:tr>
              <a:tr h="347472">
                <a:tc>
                  <a:txBody>
                    <a:bodyPr/>
                    <a:lstStyle/>
                    <a:p>
                      <a:pPr indent="0" marL="0">
                        <a:buNone/>
                      </a:pPr>
                      <a:r>
                        <a:rPr lang="en-US" sz="1100" b="1" dirty="0">
                          <a:solidFill>
                            <a:srgbClr val="1C3A2C"/>
                          </a:solidFill>
                          <a:latin typeface="Calibri" pitchFamily="34" charset="0"/>
                          <a:ea typeface="Calibri" pitchFamily="34" charset="-122"/>
                          <a:cs typeface="Calibri" pitchFamily="34" charset="-120"/>
                        </a:rPr>
                        <a:t>Blood plasma</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7.2</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r>
              <a:tr h="347472">
                <a:tc>
                  <a:txBody>
                    <a:bodyPr/>
                    <a:lstStyle/>
                    <a:p>
                      <a:pPr indent="0" marL="0">
                        <a:buNone/>
                      </a:pPr>
                      <a:r>
                        <a:rPr lang="en-US" sz="1100" b="1" dirty="0">
                          <a:solidFill>
                            <a:srgbClr val="1C3A2C"/>
                          </a:solidFill>
                          <a:latin typeface="Calibri" pitchFamily="34" charset="0"/>
                          <a:ea typeface="Calibri" pitchFamily="34" charset="-122"/>
                          <a:cs typeface="Calibri" pitchFamily="34" charset="-120"/>
                        </a:rPr>
                        <a:t>Filtrate</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7.2</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1C3A2C"/>
                          </a:solidFill>
                          <a:latin typeface="Calibri" pitchFamily="34" charset="0"/>
                          <a:ea typeface="Calibri" pitchFamily="34" charset="-122"/>
                          <a:cs typeface="Calibri" pitchFamily="34" charset="-120"/>
                        </a:rPr>
                        <a:t>Urine</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r>
            </a:tbl>
          </a:graphicData>
        </a:graphic>
      </p:graphicFrame>
      <p:sp>
        <p:nvSpPr>
          <p:cNvPr id="44" name="Shape 41"/>
          <p:cNvSpPr/>
          <p:nvPr/>
        </p:nvSpPr>
        <p:spPr>
          <a:xfrm>
            <a:off x="6217920" y="2697480"/>
            <a:ext cx="5559552" cy="1417320"/>
          </a:xfrm>
          <a:prstGeom prst="roundRect">
            <a:avLst>
              <a:gd name="adj" fmla="val 3871"/>
            </a:avLst>
          </a:prstGeom>
          <a:solidFill>
            <a:srgbClr val="F5FBF7"/>
          </a:solidFill>
          <a:ln w="9525">
            <a:solidFill>
              <a:srgbClr val="D2E5D8"/>
            </a:solidFill>
            <a:prstDash val="solid"/>
          </a:ln>
        </p:spPr>
      </p:sp>
      <p:sp>
        <p:nvSpPr>
          <p:cNvPr id="45" name="Text 42"/>
          <p:cNvSpPr/>
          <p:nvPr/>
        </p:nvSpPr>
        <p:spPr>
          <a:xfrm>
            <a:off x="6382512" y="2788920"/>
            <a:ext cx="5230368"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What the table shows</a:t>
            </a:r>
            <a:endParaRPr lang="en-US" sz="1300" dirty="0"/>
          </a:p>
        </p:txBody>
      </p:sp>
      <p:sp>
        <p:nvSpPr>
          <p:cNvPr id="46" name="Text 43"/>
          <p:cNvSpPr/>
          <p:nvPr/>
        </p:nvSpPr>
        <p:spPr>
          <a:xfrm>
            <a:off x="6382512" y="3118104"/>
            <a:ext cx="5230368" cy="92354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Protein</a:t>
            </a:r>
            <a:r>
              <a:rPr lang="en-US" sz="1050" dirty="0">
                <a:solidFill>
                  <a:srgbClr val="262B3A"/>
                </a:solidFill>
                <a:latin typeface="Calibri" pitchFamily="34" charset="0"/>
                <a:ea typeface="Calibri" pitchFamily="34" charset="-122"/>
                <a:cs typeface="Calibri" pitchFamily="34" charset="-120"/>
              </a:rPr>
              <a:t>: 0 in filtrate – too large to be filtered. </a:t>
            </a:r>
            <a:r>
              <a:rPr lang="en-US" sz="1050" b="1" dirty="0">
                <a:solidFill>
                  <a:srgbClr val="262B3A"/>
                </a:solidFill>
                <a:latin typeface="Calibri" pitchFamily="34" charset="0"/>
                <a:ea typeface="Calibri" pitchFamily="34" charset="-122"/>
                <a:cs typeface="Calibri" pitchFamily="34" charset="-120"/>
              </a:rPr>
              <a:t>Glucose</a:t>
            </a:r>
            <a:r>
              <a:rPr lang="en-US" sz="1050" dirty="0">
                <a:solidFill>
                  <a:srgbClr val="262B3A"/>
                </a:solidFill>
                <a:latin typeface="Calibri" pitchFamily="34" charset="0"/>
                <a:ea typeface="Calibri" pitchFamily="34" charset="-122"/>
                <a:cs typeface="Calibri" pitchFamily="34" charset="-120"/>
              </a:rPr>
              <a:t>: in filtrate but </a:t>
            </a:r>
            <a:r>
              <a:rPr lang="en-US" sz="1050" b="1" dirty="0">
                <a:solidFill>
                  <a:srgbClr val="262B3A"/>
                </a:solidFill>
                <a:latin typeface="Calibri" pitchFamily="34" charset="0"/>
                <a:ea typeface="Calibri" pitchFamily="34" charset="-122"/>
                <a:cs typeface="Calibri" pitchFamily="34" charset="-120"/>
              </a:rPr>
              <a:t>0 in urine</a:t>
            </a:r>
            <a:r>
              <a:rPr lang="en-US" sz="1050" dirty="0">
                <a:solidFill>
                  <a:srgbClr val="262B3A"/>
                </a:solidFill>
                <a:latin typeface="Calibri" pitchFamily="34" charset="0"/>
                <a:ea typeface="Calibri" pitchFamily="34" charset="-122"/>
                <a:cs typeface="Calibri" pitchFamily="34" charset="-120"/>
              </a:rPr>
              <a:t> – all reabsorbed.</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Urea</a:t>
            </a:r>
            <a:r>
              <a:rPr lang="en-US" sz="1050" dirty="0">
                <a:solidFill>
                  <a:srgbClr val="262B3A"/>
                </a:solidFill>
                <a:latin typeface="Calibri" pitchFamily="34" charset="0"/>
                <a:ea typeface="Calibri" pitchFamily="34" charset="-122"/>
                <a:cs typeface="Calibri" pitchFamily="34" charset="-120"/>
              </a:rPr>
              <a:t>: much more concentrated in urine because </a:t>
            </a:r>
            <a:r>
              <a:rPr lang="en-US" sz="1050" b="1" dirty="0">
                <a:solidFill>
                  <a:srgbClr val="262B3A"/>
                </a:solidFill>
                <a:latin typeface="Calibri" pitchFamily="34" charset="0"/>
                <a:ea typeface="Calibri" pitchFamily="34" charset="-122"/>
                <a:cs typeface="Calibri" pitchFamily="34" charset="-120"/>
              </a:rPr>
              <a:t>water is reabsorbed</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47" name="Shape 44"/>
          <p:cNvSpPr/>
          <p:nvPr/>
        </p:nvSpPr>
        <p:spPr>
          <a:xfrm>
            <a:off x="6217920" y="4224528"/>
            <a:ext cx="5559552" cy="1490472"/>
          </a:xfrm>
          <a:prstGeom prst="roundRect">
            <a:avLst>
              <a:gd name="adj" fmla="val 3681"/>
            </a:avLst>
          </a:prstGeom>
          <a:solidFill>
            <a:srgbClr val="FFF4E0"/>
          </a:solidFill>
          <a:ln w="9525">
            <a:solidFill>
              <a:srgbClr val="F1D9A8"/>
            </a:solidFill>
            <a:prstDash val="solid"/>
          </a:ln>
        </p:spPr>
      </p:sp>
      <p:sp>
        <p:nvSpPr>
          <p:cNvPr id="48" name="Text 45"/>
          <p:cNvSpPr/>
          <p:nvPr/>
        </p:nvSpPr>
        <p:spPr>
          <a:xfrm>
            <a:off x="6382512" y="4297680"/>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49" name="Text 46"/>
          <p:cNvSpPr/>
          <p:nvPr/>
        </p:nvSpPr>
        <p:spPr>
          <a:xfrm>
            <a:off x="6382512" y="4608576"/>
            <a:ext cx="5230368" cy="1033272"/>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How many times more concentrated is urea in urine than in plasma?</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1 Divide   </a:t>
            </a:r>
            <a:r>
              <a:rPr lang="en-US" sz="1050" dirty="0">
                <a:solidFill>
                  <a:srgbClr val="262B3A"/>
                </a:solidFill>
                <a:latin typeface="Calibri" pitchFamily="34" charset="0"/>
                <a:ea typeface="Calibri" pitchFamily="34" charset="-122"/>
                <a:cs typeface="Calibri" pitchFamily="34" charset="-120"/>
              </a:rPr>
              <a:t>20 ÷ 0.3 = 66.7</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about 67 times more concentrated</a:t>
            </a:r>
            <a:endParaRPr lang="en-US" sz="1050" dirty="0"/>
          </a:p>
        </p:txBody>
      </p:sp>
      <p:sp>
        <p:nvSpPr>
          <p:cNvPr id="50" name="Shape 47"/>
          <p:cNvSpPr/>
          <p:nvPr/>
        </p:nvSpPr>
        <p:spPr>
          <a:xfrm>
            <a:off x="411480" y="5833872"/>
            <a:ext cx="11368735" cy="530352"/>
          </a:xfrm>
          <a:prstGeom prst="rect">
            <a:avLst/>
          </a:prstGeom>
          <a:solidFill>
            <a:srgbClr val="FFF4E0"/>
          </a:solidFill>
          <a:ln w="6350">
            <a:solidFill>
              <a:srgbClr val="F1D9A8"/>
            </a:solidFill>
            <a:prstDash val="solid"/>
          </a:ln>
        </p:spPr>
      </p:sp>
      <p:sp>
        <p:nvSpPr>
          <p:cNvPr id="51" name="Shape 48"/>
          <p:cNvSpPr/>
          <p:nvPr/>
        </p:nvSpPr>
        <p:spPr>
          <a:xfrm>
            <a:off x="411480" y="5833872"/>
            <a:ext cx="82296" cy="530352"/>
          </a:xfrm>
          <a:prstGeom prst="rect">
            <a:avLst/>
          </a:prstGeom>
          <a:solidFill>
            <a:srgbClr val="E39A2F"/>
          </a:solidFill>
          <a:ln w="12700">
            <a:solidFill>
              <a:srgbClr val="E39A2F"/>
            </a:solidFill>
            <a:prstDash val="solid"/>
          </a:ln>
        </p:spPr>
      </p:sp>
      <p:sp>
        <p:nvSpPr>
          <p:cNvPr id="52" name="Text 4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The kidneys make about </a:t>
            </a:r>
            <a:r>
              <a:rPr lang="en-US" sz="1150" b="1" dirty="0">
                <a:solidFill>
                  <a:srgbClr val="262B3A"/>
                </a:solidFill>
                <a:latin typeface="Calibri" pitchFamily="34" charset="0"/>
                <a:ea typeface="Calibri" pitchFamily="34" charset="-122"/>
                <a:cs typeface="Calibri" pitchFamily="34" charset="-120"/>
              </a:rPr>
              <a:t>180 dm³</a:t>
            </a:r>
            <a:r>
              <a:rPr lang="en-US" sz="1150" dirty="0">
                <a:solidFill>
                  <a:srgbClr val="262B3A"/>
                </a:solidFill>
                <a:latin typeface="Calibri" pitchFamily="34" charset="0"/>
                <a:ea typeface="Calibri" pitchFamily="34" charset="-122"/>
                <a:cs typeface="Calibri" pitchFamily="34" charset="-120"/>
              </a:rPr>
              <a:t> of filtrate a day but only </a:t>
            </a:r>
            <a:r>
              <a:rPr lang="en-US" sz="1150" b="1" dirty="0">
                <a:solidFill>
                  <a:srgbClr val="262B3A"/>
                </a:solidFill>
                <a:latin typeface="Calibri" pitchFamily="34" charset="0"/>
                <a:ea typeface="Calibri" pitchFamily="34" charset="-122"/>
                <a:cs typeface="Calibri" pitchFamily="34" charset="-120"/>
              </a:rPr>
              <a:t>1.5 dm³</a:t>
            </a:r>
            <a:r>
              <a:rPr lang="en-US" sz="1150" dirty="0">
                <a:solidFill>
                  <a:srgbClr val="262B3A"/>
                </a:solidFill>
                <a:latin typeface="Calibri" pitchFamily="34" charset="0"/>
                <a:ea typeface="Calibri" pitchFamily="34" charset="-122"/>
                <a:cs typeface="Calibri" pitchFamily="34" charset="-120"/>
              </a:rPr>
              <a:t> of urine. What </a:t>
            </a:r>
            <a:r>
              <a:rPr lang="en-US" sz="1150" b="1" dirty="0">
                <a:solidFill>
                  <a:srgbClr val="262B3A"/>
                </a:solidFill>
                <a:latin typeface="Calibri" pitchFamily="34" charset="0"/>
                <a:ea typeface="Calibri" pitchFamily="34" charset="-122"/>
                <a:cs typeface="Calibri" pitchFamily="34" charset="-120"/>
              </a:rPr>
              <a:t>percentage</a:t>
            </a:r>
            <a:r>
              <a:rPr lang="en-US" sz="1150" dirty="0">
                <a:solidFill>
                  <a:srgbClr val="262B3A"/>
                </a:solidFill>
                <a:latin typeface="Calibri" pitchFamily="34" charset="0"/>
                <a:ea typeface="Calibri" pitchFamily="34" charset="-122"/>
                <a:cs typeface="Calibri" pitchFamily="34" charset="-120"/>
              </a:rPr>
              <a:t> of the filtrate is reabsorbed?</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The nephron: structure fits function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7.19B • how the structure of the nephron is related to its function</a:t>
            </a:r>
            <a:endParaRPr lang="en-US" sz="1100" dirty="0"/>
          </a:p>
        </p:txBody>
      </p:sp>
      <p:sp>
        <p:nvSpPr>
          <p:cNvPr id="6" name="Shape 4"/>
          <p:cNvSpPr/>
          <p:nvPr/>
        </p:nvSpPr>
        <p:spPr>
          <a:xfrm>
            <a:off x="10591495" y="292608"/>
            <a:ext cx="1188720" cy="274320"/>
          </a:xfrm>
          <a:prstGeom prst="roundRect">
            <a:avLst>
              <a:gd name="adj" fmla="val 50000"/>
            </a:avLst>
          </a:prstGeom>
          <a:solidFill>
            <a:srgbClr val="2A7448"/>
          </a:solidFill>
          <a:ln w="12700">
            <a:solidFill>
              <a:srgbClr val="2A744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BIOLOGY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7.19B  |  32</a:t>
            </a:r>
            <a:endParaRPr lang="en-US" sz="1000" dirty="0"/>
          </a:p>
        </p:txBody>
      </p:sp>
      <p:sp>
        <p:nvSpPr>
          <p:cNvPr id="10" name="Shape 8"/>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one cell from the wall of the proximal tubule (simplified)</a:t>
            </a:r>
            <a:endParaRPr lang="en-US" sz="1000" dirty="0"/>
          </a:p>
        </p:txBody>
      </p:sp>
      <p:sp>
        <p:nvSpPr>
          <p:cNvPr id="12" name="Shape 10"/>
          <p:cNvSpPr/>
          <p:nvPr/>
        </p:nvSpPr>
        <p:spPr>
          <a:xfrm>
            <a:off x="640080" y="1371600"/>
            <a:ext cx="5120640" cy="685800"/>
          </a:xfrm>
          <a:prstGeom prst="rect">
            <a:avLst/>
          </a:prstGeom>
          <a:solidFill>
            <a:srgbClr val="FBEFD0"/>
          </a:solidFill>
          <a:ln w="15875">
            <a:solidFill>
              <a:srgbClr val="B8860B"/>
            </a:solidFill>
            <a:prstDash val="solid"/>
          </a:ln>
        </p:spPr>
      </p:sp>
      <p:sp>
        <p:nvSpPr>
          <p:cNvPr id="13" name="Text 11"/>
          <p:cNvSpPr/>
          <p:nvPr/>
        </p:nvSpPr>
        <p:spPr>
          <a:xfrm>
            <a:off x="731520" y="1389888"/>
            <a:ext cx="2743200" cy="228600"/>
          </a:xfrm>
          <a:prstGeom prst="rect">
            <a:avLst/>
          </a:prstGeom>
          <a:noFill/>
          <a:ln/>
        </p:spPr>
        <p:txBody>
          <a:bodyPr wrap="square" lIns="0" tIns="0" rIns="0" bIns="0" rtlCol="0" anchor="ctr"/>
          <a:lstStyle/>
          <a:p>
            <a:pPr algn="l" indent="0" marL="0">
              <a:buNone/>
            </a:pPr>
            <a:r>
              <a:rPr lang="en-US" sz="1050" i="1" dirty="0">
                <a:solidFill>
                  <a:srgbClr val="B8860B"/>
                </a:solidFill>
                <a:latin typeface="Calibri" pitchFamily="34" charset="0"/>
                <a:ea typeface="Calibri" pitchFamily="34" charset="-122"/>
                <a:cs typeface="Calibri" pitchFamily="34" charset="-120"/>
              </a:rPr>
              <a:t>filtrate in the tubule (lumen)</a:t>
            </a:r>
            <a:endParaRPr lang="en-US" sz="1050" dirty="0"/>
          </a:p>
        </p:txBody>
      </p:sp>
      <p:sp>
        <p:nvSpPr>
          <p:cNvPr id="14" name="Shape 12"/>
          <p:cNvSpPr/>
          <p:nvPr/>
        </p:nvSpPr>
        <p:spPr>
          <a:xfrm>
            <a:off x="1188720" y="1828800"/>
            <a:ext cx="82296" cy="274320"/>
          </a:xfrm>
          <a:prstGeom prst="roundRect">
            <a:avLst>
              <a:gd name="adj" fmla="val 44444"/>
            </a:avLst>
          </a:prstGeom>
          <a:solidFill>
            <a:srgbClr val="F8DCCB"/>
          </a:solidFill>
          <a:ln w="6350">
            <a:solidFill>
              <a:srgbClr val="8A6D3B"/>
            </a:solidFill>
            <a:prstDash val="solid"/>
          </a:ln>
        </p:spPr>
      </p:sp>
      <p:sp>
        <p:nvSpPr>
          <p:cNvPr id="15" name="Shape 13"/>
          <p:cNvSpPr/>
          <p:nvPr/>
        </p:nvSpPr>
        <p:spPr>
          <a:xfrm>
            <a:off x="1344168" y="1828800"/>
            <a:ext cx="82296" cy="274320"/>
          </a:xfrm>
          <a:prstGeom prst="roundRect">
            <a:avLst>
              <a:gd name="adj" fmla="val 44444"/>
            </a:avLst>
          </a:prstGeom>
          <a:solidFill>
            <a:srgbClr val="F8DCCB"/>
          </a:solidFill>
          <a:ln w="6350">
            <a:solidFill>
              <a:srgbClr val="8A6D3B"/>
            </a:solidFill>
            <a:prstDash val="solid"/>
          </a:ln>
        </p:spPr>
      </p:sp>
      <p:sp>
        <p:nvSpPr>
          <p:cNvPr id="16" name="Shape 14"/>
          <p:cNvSpPr/>
          <p:nvPr/>
        </p:nvSpPr>
        <p:spPr>
          <a:xfrm>
            <a:off x="1499616" y="1828800"/>
            <a:ext cx="82296" cy="274320"/>
          </a:xfrm>
          <a:prstGeom prst="roundRect">
            <a:avLst>
              <a:gd name="adj" fmla="val 44444"/>
            </a:avLst>
          </a:prstGeom>
          <a:solidFill>
            <a:srgbClr val="F8DCCB"/>
          </a:solidFill>
          <a:ln w="6350">
            <a:solidFill>
              <a:srgbClr val="8A6D3B"/>
            </a:solidFill>
            <a:prstDash val="solid"/>
          </a:ln>
        </p:spPr>
      </p:sp>
      <p:sp>
        <p:nvSpPr>
          <p:cNvPr id="17" name="Shape 15"/>
          <p:cNvSpPr/>
          <p:nvPr/>
        </p:nvSpPr>
        <p:spPr>
          <a:xfrm>
            <a:off x="1655064" y="1828800"/>
            <a:ext cx="82296" cy="274320"/>
          </a:xfrm>
          <a:prstGeom prst="roundRect">
            <a:avLst>
              <a:gd name="adj" fmla="val 44444"/>
            </a:avLst>
          </a:prstGeom>
          <a:solidFill>
            <a:srgbClr val="F8DCCB"/>
          </a:solidFill>
          <a:ln w="6350">
            <a:solidFill>
              <a:srgbClr val="8A6D3B"/>
            </a:solidFill>
            <a:prstDash val="solid"/>
          </a:ln>
        </p:spPr>
      </p:sp>
      <p:sp>
        <p:nvSpPr>
          <p:cNvPr id="18" name="Shape 16"/>
          <p:cNvSpPr/>
          <p:nvPr/>
        </p:nvSpPr>
        <p:spPr>
          <a:xfrm>
            <a:off x="1810512" y="1828800"/>
            <a:ext cx="82296" cy="274320"/>
          </a:xfrm>
          <a:prstGeom prst="roundRect">
            <a:avLst>
              <a:gd name="adj" fmla="val 44444"/>
            </a:avLst>
          </a:prstGeom>
          <a:solidFill>
            <a:srgbClr val="F8DCCB"/>
          </a:solidFill>
          <a:ln w="6350">
            <a:solidFill>
              <a:srgbClr val="8A6D3B"/>
            </a:solidFill>
            <a:prstDash val="solid"/>
          </a:ln>
        </p:spPr>
      </p:sp>
      <p:sp>
        <p:nvSpPr>
          <p:cNvPr id="19" name="Shape 17"/>
          <p:cNvSpPr/>
          <p:nvPr/>
        </p:nvSpPr>
        <p:spPr>
          <a:xfrm>
            <a:off x="1965960" y="1828800"/>
            <a:ext cx="82296" cy="274320"/>
          </a:xfrm>
          <a:prstGeom prst="roundRect">
            <a:avLst>
              <a:gd name="adj" fmla="val 44444"/>
            </a:avLst>
          </a:prstGeom>
          <a:solidFill>
            <a:srgbClr val="F8DCCB"/>
          </a:solidFill>
          <a:ln w="6350">
            <a:solidFill>
              <a:srgbClr val="8A6D3B"/>
            </a:solidFill>
            <a:prstDash val="solid"/>
          </a:ln>
        </p:spPr>
      </p:sp>
      <p:sp>
        <p:nvSpPr>
          <p:cNvPr id="20" name="Shape 18"/>
          <p:cNvSpPr/>
          <p:nvPr/>
        </p:nvSpPr>
        <p:spPr>
          <a:xfrm>
            <a:off x="2121408" y="1828800"/>
            <a:ext cx="82296" cy="274320"/>
          </a:xfrm>
          <a:prstGeom prst="roundRect">
            <a:avLst>
              <a:gd name="adj" fmla="val 44444"/>
            </a:avLst>
          </a:prstGeom>
          <a:solidFill>
            <a:srgbClr val="F8DCCB"/>
          </a:solidFill>
          <a:ln w="6350">
            <a:solidFill>
              <a:srgbClr val="8A6D3B"/>
            </a:solidFill>
            <a:prstDash val="solid"/>
          </a:ln>
        </p:spPr>
      </p:sp>
      <p:sp>
        <p:nvSpPr>
          <p:cNvPr id="21" name="Shape 19"/>
          <p:cNvSpPr/>
          <p:nvPr/>
        </p:nvSpPr>
        <p:spPr>
          <a:xfrm>
            <a:off x="2276856" y="1828800"/>
            <a:ext cx="82296" cy="274320"/>
          </a:xfrm>
          <a:prstGeom prst="roundRect">
            <a:avLst>
              <a:gd name="adj" fmla="val 44444"/>
            </a:avLst>
          </a:prstGeom>
          <a:solidFill>
            <a:srgbClr val="F8DCCB"/>
          </a:solidFill>
          <a:ln w="6350">
            <a:solidFill>
              <a:srgbClr val="8A6D3B"/>
            </a:solidFill>
            <a:prstDash val="solid"/>
          </a:ln>
        </p:spPr>
      </p:sp>
      <p:sp>
        <p:nvSpPr>
          <p:cNvPr id="22" name="Shape 20"/>
          <p:cNvSpPr/>
          <p:nvPr/>
        </p:nvSpPr>
        <p:spPr>
          <a:xfrm>
            <a:off x="2432304" y="1828800"/>
            <a:ext cx="82296" cy="274320"/>
          </a:xfrm>
          <a:prstGeom prst="roundRect">
            <a:avLst>
              <a:gd name="adj" fmla="val 44444"/>
            </a:avLst>
          </a:prstGeom>
          <a:solidFill>
            <a:srgbClr val="F8DCCB"/>
          </a:solidFill>
          <a:ln w="6350">
            <a:solidFill>
              <a:srgbClr val="8A6D3B"/>
            </a:solidFill>
            <a:prstDash val="solid"/>
          </a:ln>
        </p:spPr>
      </p:sp>
      <p:sp>
        <p:nvSpPr>
          <p:cNvPr id="23" name="Shape 21"/>
          <p:cNvSpPr/>
          <p:nvPr/>
        </p:nvSpPr>
        <p:spPr>
          <a:xfrm>
            <a:off x="2587752" y="1828800"/>
            <a:ext cx="82296" cy="274320"/>
          </a:xfrm>
          <a:prstGeom prst="roundRect">
            <a:avLst>
              <a:gd name="adj" fmla="val 44444"/>
            </a:avLst>
          </a:prstGeom>
          <a:solidFill>
            <a:srgbClr val="F8DCCB"/>
          </a:solidFill>
          <a:ln w="6350">
            <a:solidFill>
              <a:srgbClr val="8A6D3B"/>
            </a:solidFill>
            <a:prstDash val="solid"/>
          </a:ln>
        </p:spPr>
      </p:sp>
      <p:sp>
        <p:nvSpPr>
          <p:cNvPr id="24" name="Shape 22"/>
          <p:cNvSpPr/>
          <p:nvPr/>
        </p:nvSpPr>
        <p:spPr>
          <a:xfrm>
            <a:off x="2743200" y="1828800"/>
            <a:ext cx="82296" cy="274320"/>
          </a:xfrm>
          <a:prstGeom prst="roundRect">
            <a:avLst>
              <a:gd name="adj" fmla="val 44444"/>
            </a:avLst>
          </a:prstGeom>
          <a:solidFill>
            <a:srgbClr val="F8DCCB"/>
          </a:solidFill>
          <a:ln w="6350">
            <a:solidFill>
              <a:srgbClr val="8A6D3B"/>
            </a:solidFill>
            <a:prstDash val="solid"/>
          </a:ln>
        </p:spPr>
      </p:sp>
      <p:sp>
        <p:nvSpPr>
          <p:cNvPr id="25" name="Shape 23"/>
          <p:cNvSpPr/>
          <p:nvPr/>
        </p:nvSpPr>
        <p:spPr>
          <a:xfrm>
            <a:off x="2898648" y="1828800"/>
            <a:ext cx="82296" cy="274320"/>
          </a:xfrm>
          <a:prstGeom prst="roundRect">
            <a:avLst>
              <a:gd name="adj" fmla="val 44444"/>
            </a:avLst>
          </a:prstGeom>
          <a:solidFill>
            <a:srgbClr val="F8DCCB"/>
          </a:solidFill>
          <a:ln w="6350">
            <a:solidFill>
              <a:srgbClr val="8A6D3B"/>
            </a:solidFill>
            <a:prstDash val="solid"/>
          </a:ln>
        </p:spPr>
      </p:sp>
      <p:sp>
        <p:nvSpPr>
          <p:cNvPr id="26" name="Shape 24"/>
          <p:cNvSpPr/>
          <p:nvPr/>
        </p:nvSpPr>
        <p:spPr>
          <a:xfrm>
            <a:off x="3054096" y="1828800"/>
            <a:ext cx="82296" cy="274320"/>
          </a:xfrm>
          <a:prstGeom prst="roundRect">
            <a:avLst>
              <a:gd name="adj" fmla="val 44444"/>
            </a:avLst>
          </a:prstGeom>
          <a:solidFill>
            <a:srgbClr val="F8DCCB"/>
          </a:solidFill>
          <a:ln w="6350">
            <a:solidFill>
              <a:srgbClr val="8A6D3B"/>
            </a:solidFill>
            <a:prstDash val="solid"/>
          </a:ln>
        </p:spPr>
      </p:sp>
      <p:sp>
        <p:nvSpPr>
          <p:cNvPr id="27" name="Shape 25"/>
          <p:cNvSpPr/>
          <p:nvPr/>
        </p:nvSpPr>
        <p:spPr>
          <a:xfrm>
            <a:off x="3209544" y="1828800"/>
            <a:ext cx="82296" cy="274320"/>
          </a:xfrm>
          <a:prstGeom prst="roundRect">
            <a:avLst>
              <a:gd name="adj" fmla="val 44444"/>
            </a:avLst>
          </a:prstGeom>
          <a:solidFill>
            <a:srgbClr val="F8DCCB"/>
          </a:solidFill>
          <a:ln w="6350">
            <a:solidFill>
              <a:srgbClr val="8A6D3B"/>
            </a:solidFill>
            <a:prstDash val="solid"/>
          </a:ln>
        </p:spPr>
      </p:sp>
      <p:sp>
        <p:nvSpPr>
          <p:cNvPr id="28" name="Shape 26"/>
          <p:cNvSpPr/>
          <p:nvPr/>
        </p:nvSpPr>
        <p:spPr>
          <a:xfrm>
            <a:off x="3364992" y="1828800"/>
            <a:ext cx="82296" cy="274320"/>
          </a:xfrm>
          <a:prstGeom prst="roundRect">
            <a:avLst>
              <a:gd name="adj" fmla="val 44444"/>
            </a:avLst>
          </a:prstGeom>
          <a:solidFill>
            <a:srgbClr val="F8DCCB"/>
          </a:solidFill>
          <a:ln w="6350">
            <a:solidFill>
              <a:srgbClr val="8A6D3B"/>
            </a:solidFill>
            <a:prstDash val="solid"/>
          </a:ln>
        </p:spPr>
      </p:sp>
      <p:sp>
        <p:nvSpPr>
          <p:cNvPr id="29" name="Shape 27"/>
          <p:cNvSpPr/>
          <p:nvPr/>
        </p:nvSpPr>
        <p:spPr>
          <a:xfrm>
            <a:off x="3520440" y="1828800"/>
            <a:ext cx="82296" cy="274320"/>
          </a:xfrm>
          <a:prstGeom prst="roundRect">
            <a:avLst>
              <a:gd name="adj" fmla="val 44444"/>
            </a:avLst>
          </a:prstGeom>
          <a:solidFill>
            <a:srgbClr val="F8DCCB"/>
          </a:solidFill>
          <a:ln w="6350">
            <a:solidFill>
              <a:srgbClr val="8A6D3B"/>
            </a:solidFill>
            <a:prstDash val="solid"/>
          </a:ln>
        </p:spPr>
      </p:sp>
      <p:sp>
        <p:nvSpPr>
          <p:cNvPr id="30" name="Shape 28"/>
          <p:cNvSpPr/>
          <p:nvPr/>
        </p:nvSpPr>
        <p:spPr>
          <a:xfrm>
            <a:off x="3675888" y="1828800"/>
            <a:ext cx="82296" cy="274320"/>
          </a:xfrm>
          <a:prstGeom prst="roundRect">
            <a:avLst>
              <a:gd name="adj" fmla="val 44444"/>
            </a:avLst>
          </a:prstGeom>
          <a:solidFill>
            <a:srgbClr val="F8DCCB"/>
          </a:solidFill>
          <a:ln w="6350">
            <a:solidFill>
              <a:srgbClr val="8A6D3B"/>
            </a:solidFill>
            <a:prstDash val="solid"/>
          </a:ln>
        </p:spPr>
      </p:sp>
      <p:sp>
        <p:nvSpPr>
          <p:cNvPr id="31" name="Shape 29"/>
          <p:cNvSpPr/>
          <p:nvPr/>
        </p:nvSpPr>
        <p:spPr>
          <a:xfrm>
            <a:off x="3831336" y="1828800"/>
            <a:ext cx="82296" cy="274320"/>
          </a:xfrm>
          <a:prstGeom prst="roundRect">
            <a:avLst>
              <a:gd name="adj" fmla="val 44444"/>
            </a:avLst>
          </a:prstGeom>
          <a:solidFill>
            <a:srgbClr val="F8DCCB"/>
          </a:solidFill>
          <a:ln w="6350">
            <a:solidFill>
              <a:srgbClr val="8A6D3B"/>
            </a:solidFill>
            <a:prstDash val="solid"/>
          </a:ln>
        </p:spPr>
      </p:sp>
      <p:sp>
        <p:nvSpPr>
          <p:cNvPr id="32" name="Shape 30"/>
          <p:cNvSpPr/>
          <p:nvPr/>
        </p:nvSpPr>
        <p:spPr>
          <a:xfrm>
            <a:off x="3986784" y="1828800"/>
            <a:ext cx="82296" cy="274320"/>
          </a:xfrm>
          <a:prstGeom prst="roundRect">
            <a:avLst>
              <a:gd name="adj" fmla="val 44444"/>
            </a:avLst>
          </a:prstGeom>
          <a:solidFill>
            <a:srgbClr val="F8DCCB"/>
          </a:solidFill>
          <a:ln w="6350">
            <a:solidFill>
              <a:srgbClr val="8A6D3B"/>
            </a:solidFill>
            <a:prstDash val="solid"/>
          </a:ln>
        </p:spPr>
      </p:sp>
      <p:sp>
        <p:nvSpPr>
          <p:cNvPr id="33" name="Shape 31"/>
          <p:cNvSpPr/>
          <p:nvPr/>
        </p:nvSpPr>
        <p:spPr>
          <a:xfrm>
            <a:off x="4142232" y="1828800"/>
            <a:ext cx="82296" cy="274320"/>
          </a:xfrm>
          <a:prstGeom prst="roundRect">
            <a:avLst>
              <a:gd name="adj" fmla="val 44444"/>
            </a:avLst>
          </a:prstGeom>
          <a:solidFill>
            <a:srgbClr val="F8DCCB"/>
          </a:solidFill>
          <a:ln w="6350">
            <a:solidFill>
              <a:srgbClr val="8A6D3B"/>
            </a:solidFill>
            <a:prstDash val="solid"/>
          </a:ln>
        </p:spPr>
      </p:sp>
      <p:sp>
        <p:nvSpPr>
          <p:cNvPr id="34" name="Shape 32"/>
          <p:cNvSpPr/>
          <p:nvPr/>
        </p:nvSpPr>
        <p:spPr>
          <a:xfrm>
            <a:off x="4297680" y="1828800"/>
            <a:ext cx="82296" cy="274320"/>
          </a:xfrm>
          <a:prstGeom prst="roundRect">
            <a:avLst>
              <a:gd name="adj" fmla="val 44444"/>
            </a:avLst>
          </a:prstGeom>
          <a:solidFill>
            <a:srgbClr val="F8DCCB"/>
          </a:solidFill>
          <a:ln w="6350">
            <a:solidFill>
              <a:srgbClr val="8A6D3B"/>
            </a:solidFill>
            <a:prstDash val="solid"/>
          </a:ln>
        </p:spPr>
      </p:sp>
      <p:sp>
        <p:nvSpPr>
          <p:cNvPr id="35" name="Shape 33"/>
          <p:cNvSpPr/>
          <p:nvPr/>
        </p:nvSpPr>
        <p:spPr>
          <a:xfrm>
            <a:off x="4453128" y="1828800"/>
            <a:ext cx="82296" cy="274320"/>
          </a:xfrm>
          <a:prstGeom prst="roundRect">
            <a:avLst>
              <a:gd name="adj" fmla="val 44444"/>
            </a:avLst>
          </a:prstGeom>
          <a:solidFill>
            <a:srgbClr val="F8DCCB"/>
          </a:solidFill>
          <a:ln w="6350">
            <a:solidFill>
              <a:srgbClr val="8A6D3B"/>
            </a:solidFill>
            <a:prstDash val="solid"/>
          </a:ln>
        </p:spPr>
      </p:sp>
      <p:sp>
        <p:nvSpPr>
          <p:cNvPr id="36" name="Shape 34"/>
          <p:cNvSpPr/>
          <p:nvPr/>
        </p:nvSpPr>
        <p:spPr>
          <a:xfrm>
            <a:off x="4608576" y="1828800"/>
            <a:ext cx="82296" cy="274320"/>
          </a:xfrm>
          <a:prstGeom prst="roundRect">
            <a:avLst>
              <a:gd name="adj" fmla="val 44444"/>
            </a:avLst>
          </a:prstGeom>
          <a:solidFill>
            <a:srgbClr val="F8DCCB"/>
          </a:solidFill>
          <a:ln w="6350">
            <a:solidFill>
              <a:srgbClr val="8A6D3B"/>
            </a:solidFill>
            <a:prstDash val="solid"/>
          </a:ln>
        </p:spPr>
      </p:sp>
      <p:sp>
        <p:nvSpPr>
          <p:cNvPr id="37" name="Shape 35"/>
          <p:cNvSpPr/>
          <p:nvPr/>
        </p:nvSpPr>
        <p:spPr>
          <a:xfrm>
            <a:off x="4764024" y="1828800"/>
            <a:ext cx="82296" cy="274320"/>
          </a:xfrm>
          <a:prstGeom prst="roundRect">
            <a:avLst>
              <a:gd name="adj" fmla="val 44444"/>
            </a:avLst>
          </a:prstGeom>
          <a:solidFill>
            <a:srgbClr val="F8DCCB"/>
          </a:solidFill>
          <a:ln w="6350">
            <a:solidFill>
              <a:srgbClr val="8A6D3B"/>
            </a:solidFill>
            <a:prstDash val="solid"/>
          </a:ln>
        </p:spPr>
      </p:sp>
      <p:sp>
        <p:nvSpPr>
          <p:cNvPr id="38" name="Shape 36"/>
          <p:cNvSpPr/>
          <p:nvPr/>
        </p:nvSpPr>
        <p:spPr>
          <a:xfrm>
            <a:off x="1097280" y="2103120"/>
            <a:ext cx="3931920" cy="1828800"/>
          </a:xfrm>
          <a:prstGeom prst="rect">
            <a:avLst/>
          </a:prstGeom>
          <a:solidFill>
            <a:srgbClr val="FBF3DF"/>
          </a:solidFill>
          <a:ln w="19050">
            <a:solidFill>
              <a:srgbClr val="8A6D3B"/>
            </a:solidFill>
            <a:prstDash val="solid"/>
          </a:ln>
        </p:spPr>
      </p:sp>
      <p:sp>
        <p:nvSpPr>
          <p:cNvPr id="39" name="Shape 37"/>
          <p:cNvSpPr/>
          <p:nvPr/>
        </p:nvSpPr>
        <p:spPr>
          <a:xfrm>
            <a:off x="1554480" y="2743200"/>
            <a:ext cx="548640" cy="548640"/>
          </a:xfrm>
          <a:prstGeom prst="ellipse">
            <a:avLst/>
          </a:prstGeom>
          <a:solidFill>
            <a:srgbClr val="C9B6E4"/>
          </a:solidFill>
          <a:ln w="12700">
            <a:solidFill>
              <a:srgbClr val="6A4C93"/>
            </a:solidFill>
            <a:prstDash val="solid"/>
          </a:ln>
        </p:spPr>
      </p:sp>
      <p:sp>
        <p:nvSpPr>
          <p:cNvPr id="40" name="Shape 38"/>
          <p:cNvSpPr/>
          <p:nvPr/>
        </p:nvSpPr>
        <p:spPr>
          <a:xfrm>
            <a:off x="2491740" y="2386584"/>
            <a:ext cx="502920" cy="256032"/>
          </a:xfrm>
          <a:prstGeom prst="ellipse">
            <a:avLst/>
          </a:prstGeom>
          <a:solidFill>
            <a:srgbClr val="F2B279"/>
          </a:solidFill>
          <a:ln w="12700">
            <a:solidFill>
              <a:srgbClr val="A4561C"/>
            </a:solidFill>
            <a:prstDash val="solid"/>
          </a:ln>
        </p:spPr>
      </p:sp>
      <p:sp>
        <p:nvSpPr>
          <p:cNvPr id="41" name="Shape 39"/>
          <p:cNvSpPr/>
          <p:nvPr/>
        </p:nvSpPr>
        <p:spPr>
          <a:xfrm>
            <a:off x="2578608" y="2514600"/>
            <a:ext cx="329184" cy="91"/>
          </a:xfrm>
          <a:prstGeom prst="line">
            <a:avLst/>
          </a:prstGeom>
          <a:noFill/>
          <a:ln w="9525">
            <a:solidFill>
              <a:srgbClr val="A4561C"/>
            </a:solidFill>
            <a:prstDash val="solid"/>
          </a:ln>
        </p:spPr>
      </p:sp>
      <p:sp>
        <p:nvSpPr>
          <p:cNvPr id="42" name="Shape 40"/>
          <p:cNvSpPr/>
          <p:nvPr/>
        </p:nvSpPr>
        <p:spPr>
          <a:xfrm>
            <a:off x="3314700" y="2615184"/>
            <a:ext cx="502920" cy="256032"/>
          </a:xfrm>
          <a:prstGeom prst="ellipse">
            <a:avLst/>
          </a:prstGeom>
          <a:solidFill>
            <a:srgbClr val="F2B279"/>
          </a:solidFill>
          <a:ln w="12700">
            <a:solidFill>
              <a:srgbClr val="A4561C"/>
            </a:solidFill>
            <a:prstDash val="solid"/>
          </a:ln>
        </p:spPr>
      </p:sp>
      <p:sp>
        <p:nvSpPr>
          <p:cNvPr id="43" name="Shape 41"/>
          <p:cNvSpPr/>
          <p:nvPr/>
        </p:nvSpPr>
        <p:spPr>
          <a:xfrm>
            <a:off x="3401568" y="2743200"/>
            <a:ext cx="329184" cy="91"/>
          </a:xfrm>
          <a:prstGeom prst="line">
            <a:avLst/>
          </a:prstGeom>
          <a:noFill/>
          <a:ln w="9525">
            <a:solidFill>
              <a:srgbClr val="A4561C"/>
            </a:solidFill>
            <a:prstDash val="solid"/>
          </a:ln>
        </p:spPr>
      </p:sp>
      <p:sp>
        <p:nvSpPr>
          <p:cNvPr id="44" name="Shape 42"/>
          <p:cNvSpPr/>
          <p:nvPr/>
        </p:nvSpPr>
        <p:spPr>
          <a:xfrm>
            <a:off x="4046220" y="2340864"/>
            <a:ext cx="502920" cy="256032"/>
          </a:xfrm>
          <a:prstGeom prst="ellipse">
            <a:avLst/>
          </a:prstGeom>
          <a:solidFill>
            <a:srgbClr val="F2B279"/>
          </a:solidFill>
          <a:ln w="12700">
            <a:solidFill>
              <a:srgbClr val="A4561C"/>
            </a:solidFill>
            <a:prstDash val="solid"/>
          </a:ln>
        </p:spPr>
      </p:sp>
      <p:sp>
        <p:nvSpPr>
          <p:cNvPr id="45" name="Shape 43"/>
          <p:cNvSpPr/>
          <p:nvPr/>
        </p:nvSpPr>
        <p:spPr>
          <a:xfrm>
            <a:off x="4133088" y="2468880"/>
            <a:ext cx="329184" cy="91"/>
          </a:xfrm>
          <a:prstGeom prst="line">
            <a:avLst/>
          </a:prstGeom>
          <a:noFill/>
          <a:ln w="9525">
            <a:solidFill>
              <a:srgbClr val="A4561C"/>
            </a:solidFill>
            <a:prstDash val="solid"/>
          </a:ln>
        </p:spPr>
      </p:sp>
      <p:sp>
        <p:nvSpPr>
          <p:cNvPr id="46" name="Shape 44"/>
          <p:cNvSpPr/>
          <p:nvPr/>
        </p:nvSpPr>
        <p:spPr>
          <a:xfrm>
            <a:off x="2766060" y="3300984"/>
            <a:ext cx="502920" cy="256032"/>
          </a:xfrm>
          <a:prstGeom prst="ellipse">
            <a:avLst/>
          </a:prstGeom>
          <a:solidFill>
            <a:srgbClr val="F2B279"/>
          </a:solidFill>
          <a:ln w="12700">
            <a:solidFill>
              <a:srgbClr val="A4561C"/>
            </a:solidFill>
            <a:prstDash val="solid"/>
          </a:ln>
        </p:spPr>
      </p:sp>
      <p:sp>
        <p:nvSpPr>
          <p:cNvPr id="47" name="Shape 45"/>
          <p:cNvSpPr/>
          <p:nvPr/>
        </p:nvSpPr>
        <p:spPr>
          <a:xfrm>
            <a:off x="2852928" y="3429000"/>
            <a:ext cx="329184" cy="91"/>
          </a:xfrm>
          <a:prstGeom prst="line">
            <a:avLst/>
          </a:prstGeom>
          <a:noFill/>
          <a:ln w="9525">
            <a:solidFill>
              <a:srgbClr val="A4561C"/>
            </a:solidFill>
            <a:prstDash val="solid"/>
          </a:ln>
        </p:spPr>
      </p:sp>
      <p:sp>
        <p:nvSpPr>
          <p:cNvPr id="48" name="Shape 46"/>
          <p:cNvSpPr/>
          <p:nvPr/>
        </p:nvSpPr>
        <p:spPr>
          <a:xfrm>
            <a:off x="3771900" y="3346704"/>
            <a:ext cx="502920" cy="256032"/>
          </a:xfrm>
          <a:prstGeom prst="ellipse">
            <a:avLst/>
          </a:prstGeom>
          <a:solidFill>
            <a:srgbClr val="F2B279"/>
          </a:solidFill>
          <a:ln w="12700">
            <a:solidFill>
              <a:srgbClr val="A4561C"/>
            </a:solidFill>
            <a:prstDash val="solid"/>
          </a:ln>
        </p:spPr>
      </p:sp>
      <p:sp>
        <p:nvSpPr>
          <p:cNvPr id="49" name="Shape 47"/>
          <p:cNvSpPr/>
          <p:nvPr/>
        </p:nvSpPr>
        <p:spPr>
          <a:xfrm>
            <a:off x="3858768" y="3474720"/>
            <a:ext cx="329184" cy="91"/>
          </a:xfrm>
          <a:prstGeom prst="line">
            <a:avLst/>
          </a:prstGeom>
          <a:noFill/>
          <a:ln w="9525">
            <a:solidFill>
              <a:srgbClr val="A4561C"/>
            </a:solidFill>
            <a:prstDash val="solid"/>
          </a:ln>
        </p:spPr>
      </p:sp>
      <p:sp>
        <p:nvSpPr>
          <p:cNvPr id="50" name="Shape 48"/>
          <p:cNvSpPr/>
          <p:nvPr/>
        </p:nvSpPr>
        <p:spPr>
          <a:xfrm>
            <a:off x="640080" y="4160520"/>
            <a:ext cx="5120640" cy="640080"/>
          </a:xfrm>
          <a:prstGeom prst="rect">
            <a:avLst/>
          </a:prstGeom>
          <a:solidFill>
            <a:srgbClr val="F6C9CC"/>
          </a:solidFill>
          <a:ln w="15875">
            <a:solidFill>
              <a:srgbClr val="C8414C"/>
            </a:solidFill>
            <a:prstDash val="solid"/>
          </a:ln>
        </p:spPr>
      </p:sp>
      <p:sp>
        <p:nvSpPr>
          <p:cNvPr id="51" name="Text 49"/>
          <p:cNvSpPr/>
          <p:nvPr/>
        </p:nvSpPr>
        <p:spPr>
          <a:xfrm>
            <a:off x="731520" y="4526280"/>
            <a:ext cx="2377440" cy="228600"/>
          </a:xfrm>
          <a:prstGeom prst="rect">
            <a:avLst/>
          </a:prstGeom>
          <a:noFill/>
          <a:ln/>
        </p:spPr>
        <p:txBody>
          <a:bodyPr wrap="square" lIns="0" tIns="0" rIns="0" bIns="0" rtlCol="0" anchor="ctr"/>
          <a:lstStyle/>
          <a:p>
            <a:pPr algn="l" indent="0" marL="0">
              <a:buNone/>
            </a:pPr>
            <a:r>
              <a:rPr lang="en-US" sz="1050" i="1" dirty="0">
                <a:solidFill>
                  <a:srgbClr val="8E2A33"/>
                </a:solidFill>
                <a:latin typeface="Calibri" pitchFamily="34" charset="0"/>
                <a:ea typeface="Calibri" pitchFamily="34" charset="-122"/>
                <a:cs typeface="Calibri" pitchFamily="34" charset="-120"/>
              </a:rPr>
              <a:t>blood capillary</a:t>
            </a:r>
            <a:endParaRPr lang="en-US" sz="1050" dirty="0"/>
          </a:p>
        </p:txBody>
      </p:sp>
      <p:sp>
        <p:nvSpPr>
          <p:cNvPr id="52" name="Shape 50"/>
          <p:cNvSpPr/>
          <p:nvPr/>
        </p:nvSpPr>
        <p:spPr>
          <a:xfrm>
            <a:off x="5276088" y="1709928"/>
            <a:ext cx="146304" cy="146304"/>
          </a:xfrm>
          <a:prstGeom prst="hexagon">
            <a:avLst/>
          </a:prstGeom>
          <a:solidFill>
            <a:srgbClr val="3B7DD8"/>
          </a:solidFill>
          <a:ln w="6350">
            <a:solidFill>
              <a:srgbClr val="1F4E8C"/>
            </a:solidFill>
            <a:prstDash val="solid"/>
          </a:ln>
        </p:spPr>
      </p:sp>
      <p:sp>
        <p:nvSpPr>
          <p:cNvPr id="53" name="Shape 51"/>
          <p:cNvSpPr/>
          <p:nvPr/>
        </p:nvSpPr>
        <p:spPr>
          <a:xfrm>
            <a:off x="5349240" y="1920240"/>
            <a:ext cx="91" cy="2423160"/>
          </a:xfrm>
          <a:prstGeom prst="line">
            <a:avLst/>
          </a:prstGeom>
          <a:noFill/>
          <a:ln w="31750">
            <a:solidFill>
              <a:srgbClr val="3B7DD8"/>
            </a:solidFill>
            <a:prstDash val="solid"/>
            <a:tailEnd type="triangle"/>
          </a:ln>
        </p:spPr>
      </p:sp>
      <p:sp>
        <p:nvSpPr>
          <p:cNvPr id="54" name="Text 52"/>
          <p:cNvSpPr/>
          <p:nvPr/>
        </p:nvSpPr>
        <p:spPr>
          <a:xfrm>
            <a:off x="685800" y="4846320"/>
            <a:ext cx="1737360" cy="41148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microvilli</a:t>
            </a:r>
            <a:r>
              <a:rPr lang="en-US" sz="1050" dirty="0">
                <a:solidFill>
                  <a:srgbClr val="262B3A"/>
                </a:solidFill>
                <a:latin typeface="Calibri" pitchFamily="34" charset="0"/>
                <a:ea typeface="Calibri" pitchFamily="34" charset="-122"/>
                <a:cs typeface="Calibri" pitchFamily="34" charset="-120"/>
              </a:rPr>
              <a:t>: large surface area</a:t>
            </a:r>
            <a:endParaRPr lang="en-US" sz="1050" dirty="0"/>
          </a:p>
        </p:txBody>
      </p:sp>
      <p:sp>
        <p:nvSpPr>
          <p:cNvPr id="55" name="Shape 53"/>
          <p:cNvSpPr/>
          <p:nvPr/>
        </p:nvSpPr>
        <p:spPr>
          <a:xfrm flipH="1" flipV="1">
            <a:off x="1234440" y="1965960"/>
            <a:ext cx="45720" cy="2880360"/>
          </a:xfrm>
          <a:prstGeom prst="line">
            <a:avLst/>
          </a:prstGeom>
          <a:noFill/>
          <a:ln w="9525">
            <a:solidFill>
              <a:srgbClr val="8A6D3B"/>
            </a:solidFill>
            <a:prstDash val="solid"/>
          </a:ln>
        </p:spPr>
      </p:sp>
      <p:sp>
        <p:nvSpPr>
          <p:cNvPr id="56" name="Text 54"/>
          <p:cNvSpPr/>
          <p:nvPr/>
        </p:nvSpPr>
        <p:spPr>
          <a:xfrm>
            <a:off x="2514600" y="4846320"/>
            <a:ext cx="2194560" cy="41148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many mitochondria</a:t>
            </a:r>
            <a:r>
              <a:rPr lang="en-US" sz="1050" dirty="0">
                <a:solidFill>
                  <a:srgbClr val="262B3A"/>
                </a:solidFill>
                <a:latin typeface="Calibri" pitchFamily="34" charset="0"/>
                <a:ea typeface="Calibri" pitchFamily="34" charset="-122"/>
                <a:cs typeface="Calibri" pitchFamily="34" charset="-120"/>
              </a:rPr>
              <a:t>: energy (ATP) for </a:t>
            </a:r>
            <a:r>
              <a:rPr lang="en-US" sz="1050" b="1" dirty="0">
                <a:solidFill>
                  <a:srgbClr val="262B3A"/>
                </a:solidFill>
                <a:latin typeface="Calibri" pitchFamily="34" charset="0"/>
                <a:ea typeface="Calibri" pitchFamily="34" charset="-122"/>
                <a:cs typeface="Calibri" pitchFamily="34" charset="-120"/>
              </a:rPr>
              <a:t>active transport</a:t>
            </a:r>
            <a:endParaRPr lang="en-US" sz="1050" dirty="0"/>
          </a:p>
        </p:txBody>
      </p:sp>
      <p:sp>
        <p:nvSpPr>
          <p:cNvPr id="57" name="Shape 55"/>
          <p:cNvSpPr/>
          <p:nvPr/>
        </p:nvSpPr>
        <p:spPr>
          <a:xfrm flipH="1" flipV="1">
            <a:off x="3017520" y="3566160"/>
            <a:ext cx="91440" cy="1280160"/>
          </a:xfrm>
          <a:prstGeom prst="line">
            <a:avLst/>
          </a:prstGeom>
          <a:noFill/>
          <a:ln w="9525">
            <a:solidFill>
              <a:srgbClr val="A4561C"/>
            </a:solidFill>
            <a:prstDash val="solid"/>
          </a:ln>
        </p:spPr>
      </p:sp>
      <p:sp>
        <p:nvSpPr>
          <p:cNvPr id="58" name="Text 56"/>
          <p:cNvSpPr/>
          <p:nvPr/>
        </p:nvSpPr>
        <p:spPr>
          <a:xfrm>
            <a:off x="4572000" y="4846320"/>
            <a:ext cx="1234440" cy="411480"/>
          </a:xfrm>
          <a:prstGeom prst="rect">
            <a:avLst/>
          </a:prstGeom>
          <a:noFill/>
          <a:ln/>
        </p:spPr>
        <p:txBody>
          <a:bodyPr wrap="square" lIns="0" tIns="0" rIns="0" bIns="0" rtlCol="0" anchor="t"/>
          <a:lstStyle/>
          <a:p>
            <a:pPr algn="l" indent="0" marL="0">
              <a:buNone/>
            </a:pPr>
            <a:r>
              <a:rPr lang="en-US" sz="1050" b="1" dirty="0">
                <a:solidFill>
                  <a:srgbClr val="3B7DD8"/>
                </a:solidFill>
                <a:latin typeface="Calibri" pitchFamily="34" charset="0"/>
                <a:ea typeface="Calibri" pitchFamily="34" charset="-122"/>
                <a:cs typeface="Calibri" pitchFamily="34" charset="-120"/>
              </a:rPr>
              <a:t>glucose</a:t>
            </a:r>
            <a:r>
              <a:rPr lang="en-US" sz="1050" dirty="0">
                <a:solidFill>
                  <a:srgbClr val="3B7DD8"/>
                </a:solidFill>
                <a:latin typeface="Calibri" pitchFamily="34" charset="0"/>
                <a:ea typeface="Calibri" pitchFamily="34" charset="-122"/>
                <a:cs typeface="Calibri" pitchFamily="34" charset="-120"/>
              </a:rPr>
              <a:t> to blood</a:t>
            </a:r>
            <a:endParaRPr lang="en-US" sz="1050" dirty="0"/>
          </a:p>
        </p:txBody>
      </p:sp>
      <p:sp>
        <p:nvSpPr>
          <p:cNvPr id="59" name="Shape 57"/>
          <p:cNvSpPr/>
          <p:nvPr/>
        </p:nvSpPr>
        <p:spPr>
          <a:xfrm>
            <a:off x="6217920" y="1188720"/>
            <a:ext cx="5562295" cy="3017520"/>
          </a:xfrm>
          <a:prstGeom prst="roundRect">
            <a:avLst>
              <a:gd name="adj" fmla="val 1818"/>
            </a:avLst>
          </a:prstGeom>
          <a:solidFill>
            <a:srgbClr val="F5FBF7"/>
          </a:solidFill>
          <a:ln w="9525">
            <a:solidFill>
              <a:srgbClr val="D2E5D8"/>
            </a:solidFill>
            <a:prstDash val="solid"/>
          </a:ln>
        </p:spPr>
      </p:sp>
      <p:sp>
        <p:nvSpPr>
          <p:cNvPr id="60" name="Text 5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Structure → function</a:t>
            </a:r>
            <a:endParaRPr lang="en-US" sz="1300" dirty="0"/>
          </a:p>
        </p:txBody>
      </p:sp>
      <p:sp>
        <p:nvSpPr>
          <p:cNvPr id="61" name="Text 59"/>
          <p:cNvSpPr/>
          <p:nvPr/>
        </p:nvSpPr>
        <p:spPr>
          <a:xfrm>
            <a:off x="6382512" y="1609344"/>
            <a:ext cx="5233111" cy="252374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Narrow efferent arteriole</a:t>
            </a:r>
            <a:r>
              <a:rPr lang="en-US" sz="1050" dirty="0">
                <a:solidFill>
                  <a:srgbClr val="262B3A"/>
                </a:solidFill>
                <a:latin typeface="Calibri" pitchFamily="34" charset="0"/>
                <a:ea typeface="Calibri" pitchFamily="34" charset="-122"/>
                <a:cs typeface="Calibri" pitchFamily="34" charset="-120"/>
              </a:rPr>
              <a:t> → </a:t>
            </a:r>
            <a:r>
              <a:rPr lang="en-US" sz="1050" b="1" dirty="0">
                <a:solidFill>
                  <a:srgbClr val="262B3A"/>
                </a:solidFill>
                <a:latin typeface="Calibri" pitchFamily="34" charset="0"/>
                <a:ea typeface="Calibri" pitchFamily="34" charset="-122"/>
                <a:cs typeface="Calibri" pitchFamily="34" charset="-120"/>
              </a:rPr>
              <a:t>high pressure</a:t>
            </a:r>
            <a:r>
              <a:rPr lang="en-US" sz="1050" dirty="0">
                <a:solidFill>
                  <a:srgbClr val="262B3A"/>
                </a:solidFill>
                <a:latin typeface="Calibri" pitchFamily="34" charset="0"/>
                <a:ea typeface="Calibri" pitchFamily="34" charset="-122"/>
                <a:cs typeface="Calibri" pitchFamily="34" charset="-120"/>
              </a:rPr>
              <a:t> in the glomerulus → forces small molecules out (filtration).</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Capsule and capillary walls</a:t>
            </a:r>
            <a:r>
              <a:rPr lang="en-US" sz="1050" dirty="0">
                <a:solidFill>
                  <a:srgbClr val="262B3A"/>
                </a:solidFill>
                <a:latin typeface="Calibri" pitchFamily="34" charset="0"/>
                <a:ea typeface="Calibri" pitchFamily="34" charset="-122"/>
                <a:cs typeface="Calibri" pitchFamily="34" charset="-120"/>
              </a:rPr>
              <a:t> act as a filter: proteins and cells are </a:t>
            </a:r>
            <a:r>
              <a:rPr lang="en-US" sz="1050" b="1" dirty="0">
                <a:solidFill>
                  <a:srgbClr val="262B3A"/>
                </a:solidFill>
                <a:latin typeface="Calibri" pitchFamily="34" charset="0"/>
                <a:ea typeface="Calibri" pitchFamily="34" charset="-122"/>
                <a:cs typeface="Calibri" pitchFamily="34" charset="-120"/>
              </a:rPr>
              <a:t>too big</a:t>
            </a:r>
            <a:r>
              <a:rPr lang="en-US" sz="1050" dirty="0">
                <a:solidFill>
                  <a:srgbClr val="262B3A"/>
                </a:solidFill>
                <a:latin typeface="Calibri" pitchFamily="34" charset="0"/>
                <a:ea typeface="Calibri" pitchFamily="34" charset="-122"/>
                <a:cs typeface="Calibri" pitchFamily="34" charset="-120"/>
              </a:rPr>
              <a:t> to pass.</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Proximal tubule</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long and coiled</a:t>
            </a:r>
            <a:r>
              <a:rPr lang="en-US" sz="1050" dirty="0">
                <a:solidFill>
                  <a:srgbClr val="262B3A"/>
                </a:solidFill>
                <a:latin typeface="Calibri" pitchFamily="34" charset="0"/>
                <a:ea typeface="Calibri" pitchFamily="34" charset="-122"/>
                <a:cs typeface="Calibri" pitchFamily="34" charset="-120"/>
              </a:rPr>
              <a:t>, cells with </a:t>
            </a:r>
            <a:r>
              <a:rPr lang="en-US" sz="1050" b="1" dirty="0">
                <a:solidFill>
                  <a:srgbClr val="262B3A"/>
                </a:solidFill>
                <a:latin typeface="Calibri" pitchFamily="34" charset="0"/>
                <a:ea typeface="Calibri" pitchFamily="34" charset="-122"/>
                <a:cs typeface="Calibri" pitchFamily="34" charset="-120"/>
              </a:rPr>
              <a:t>microvilli</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many mitochondria</a:t>
            </a:r>
            <a:r>
              <a:rPr lang="en-US" sz="1050" dirty="0">
                <a:solidFill>
                  <a:srgbClr val="262B3A"/>
                </a:solidFill>
                <a:latin typeface="Calibri" pitchFamily="34" charset="0"/>
                <a:ea typeface="Calibri" pitchFamily="34" charset="-122"/>
                <a:cs typeface="Calibri" pitchFamily="34" charset="-120"/>
              </a:rPr>
              <a:t> → active reabsorption of </a:t>
            </a:r>
            <a:r>
              <a:rPr lang="en-US" sz="1050" b="1" dirty="0">
                <a:solidFill>
                  <a:srgbClr val="262B3A"/>
                </a:solidFill>
                <a:latin typeface="Calibri" pitchFamily="34" charset="0"/>
                <a:ea typeface="Calibri" pitchFamily="34" charset="-122"/>
                <a:cs typeface="Calibri" pitchFamily="34" charset="-120"/>
              </a:rPr>
              <a:t>all glucose</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Loop of Henle</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collecting duct</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water</a:t>
            </a:r>
            <a:r>
              <a:rPr lang="en-US" sz="1050" dirty="0">
                <a:solidFill>
                  <a:srgbClr val="262B3A"/>
                </a:solidFill>
                <a:latin typeface="Calibri" pitchFamily="34" charset="0"/>
                <a:ea typeface="Calibri" pitchFamily="34" charset="-122"/>
                <a:cs typeface="Calibri" pitchFamily="34" charset="-120"/>
              </a:rPr>
              <a:t> reabsorbed by osmosis; the collecting duct's permeability is set by </a:t>
            </a:r>
            <a:r>
              <a:rPr lang="en-US" sz="1050" b="1" dirty="0">
                <a:solidFill>
                  <a:srgbClr val="262B3A"/>
                </a:solidFill>
                <a:latin typeface="Calibri" pitchFamily="34" charset="0"/>
                <a:ea typeface="Calibri" pitchFamily="34" charset="-122"/>
                <a:cs typeface="Calibri" pitchFamily="34" charset="-120"/>
              </a:rPr>
              <a:t>ADH</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Capillaries wrap round the tubule</a:t>
            </a:r>
            <a:r>
              <a:rPr lang="en-US" sz="1050" dirty="0">
                <a:solidFill>
                  <a:srgbClr val="262B3A"/>
                </a:solidFill>
                <a:latin typeface="Calibri" pitchFamily="34" charset="0"/>
                <a:ea typeface="Calibri" pitchFamily="34" charset="-122"/>
                <a:cs typeface="Calibri" pitchFamily="34" charset="-120"/>
              </a:rPr>
              <a:t> → reabsorbed substances return to the blood quickly.</a:t>
            </a:r>
            <a:endParaRPr lang="en-US" sz="1050" dirty="0"/>
          </a:p>
        </p:txBody>
      </p:sp>
      <p:sp>
        <p:nvSpPr>
          <p:cNvPr id="62" name="Shape 60"/>
          <p:cNvSpPr/>
          <p:nvPr/>
        </p:nvSpPr>
        <p:spPr>
          <a:xfrm>
            <a:off x="6217920" y="4343400"/>
            <a:ext cx="5562295" cy="1371600"/>
          </a:xfrm>
          <a:prstGeom prst="roundRect">
            <a:avLst>
              <a:gd name="adj" fmla="val 4000"/>
            </a:avLst>
          </a:prstGeom>
          <a:solidFill>
            <a:srgbClr val="FFF4E0"/>
          </a:solidFill>
          <a:ln w="9525">
            <a:solidFill>
              <a:srgbClr val="F1D9A8"/>
            </a:solidFill>
            <a:prstDash val="solid"/>
          </a:ln>
        </p:spPr>
      </p:sp>
      <p:sp>
        <p:nvSpPr>
          <p:cNvPr id="63" name="Text 61"/>
          <p:cNvSpPr/>
          <p:nvPr/>
        </p:nvSpPr>
        <p:spPr>
          <a:xfrm>
            <a:off x="6382512" y="44165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Explain (2 marks)</a:t>
            </a:r>
            <a:endParaRPr lang="en-US" sz="1300" dirty="0"/>
          </a:p>
        </p:txBody>
      </p:sp>
      <p:sp>
        <p:nvSpPr>
          <p:cNvPr id="64" name="Text 62"/>
          <p:cNvSpPr/>
          <p:nvPr/>
        </p:nvSpPr>
        <p:spPr>
          <a:xfrm>
            <a:off x="6382512" y="4727448"/>
            <a:ext cx="5233111" cy="9144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Explain why tubule cells have many mitochondria.</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1 Need   </a:t>
            </a:r>
            <a:r>
              <a:rPr lang="en-US" sz="1050" dirty="0">
                <a:solidFill>
                  <a:srgbClr val="262B3A"/>
                </a:solidFill>
                <a:latin typeface="Calibri" pitchFamily="34" charset="0"/>
                <a:ea typeface="Calibri" pitchFamily="34" charset="-122"/>
                <a:cs typeface="Calibri" pitchFamily="34" charset="-120"/>
              </a:rPr>
              <a:t>glucose is reabsorbed by active transport (against a gradient)</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mitochondria carry out respiration to release the energy needed</a:t>
            </a:r>
            <a:endParaRPr lang="en-US" sz="1050" dirty="0"/>
          </a:p>
        </p:txBody>
      </p:sp>
      <p:sp>
        <p:nvSpPr>
          <p:cNvPr id="65" name="Shape 63"/>
          <p:cNvSpPr/>
          <p:nvPr/>
        </p:nvSpPr>
        <p:spPr>
          <a:xfrm>
            <a:off x="411480" y="5833872"/>
            <a:ext cx="11368735" cy="530352"/>
          </a:xfrm>
          <a:prstGeom prst="rect">
            <a:avLst/>
          </a:prstGeom>
          <a:solidFill>
            <a:srgbClr val="FFF4E0"/>
          </a:solidFill>
          <a:ln w="6350">
            <a:solidFill>
              <a:srgbClr val="F1D9A8"/>
            </a:solidFill>
            <a:prstDash val="solid"/>
          </a:ln>
        </p:spPr>
      </p:sp>
      <p:sp>
        <p:nvSpPr>
          <p:cNvPr id="66" name="Shape 64"/>
          <p:cNvSpPr/>
          <p:nvPr/>
        </p:nvSpPr>
        <p:spPr>
          <a:xfrm>
            <a:off x="411480" y="5833872"/>
            <a:ext cx="82296" cy="530352"/>
          </a:xfrm>
          <a:prstGeom prst="rect">
            <a:avLst/>
          </a:prstGeom>
          <a:solidFill>
            <a:srgbClr val="E39A2F"/>
          </a:solidFill>
          <a:ln w="12700">
            <a:solidFill>
              <a:srgbClr val="E39A2F"/>
            </a:solidFill>
            <a:prstDash val="solid"/>
          </a:ln>
        </p:spPr>
      </p:sp>
      <p:sp>
        <p:nvSpPr>
          <p:cNvPr id="67" name="Text 6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person's urine contains </a:t>
            </a:r>
            <a:r>
              <a:rPr lang="en-US" sz="1150" b="1" dirty="0">
                <a:solidFill>
                  <a:srgbClr val="262B3A"/>
                </a:solidFill>
                <a:latin typeface="Calibri" pitchFamily="34" charset="0"/>
                <a:ea typeface="Calibri" pitchFamily="34" charset="-122"/>
                <a:cs typeface="Calibri" pitchFamily="34" charset="-120"/>
              </a:rPr>
              <a:t>protein</a:t>
            </a:r>
            <a:r>
              <a:rPr lang="en-US" sz="1150" dirty="0">
                <a:solidFill>
                  <a:srgbClr val="262B3A"/>
                </a:solidFill>
                <a:latin typeface="Calibri" pitchFamily="34" charset="0"/>
                <a:ea typeface="Calibri" pitchFamily="34" charset="-122"/>
                <a:cs typeface="Calibri" pitchFamily="34" charset="-120"/>
              </a:rPr>
              <a:t>. Suggest which part of the nephron is damaged and why.</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Exam practice: recap 6</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7.18B–7.19B • the urinary system and the nephron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6  |  33</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2E5D8"/>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tube that carries urine from the </a:t>
            </a:r>
            <a:r>
              <a:rPr lang="en-US" sz="1250" b="1" dirty="0">
                <a:solidFill>
                  <a:srgbClr val="262B3A"/>
                </a:solidFill>
                <a:latin typeface="Calibri" pitchFamily="34" charset="0"/>
                <a:ea typeface="Calibri" pitchFamily="34" charset="-122"/>
                <a:cs typeface="Calibri" pitchFamily="34" charset="-120"/>
              </a:rPr>
              <a:t>bladder</a:t>
            </a:r>
            <a:r>
              <a:rPr lang="en-US" sz="1250" dirty="0">
                <a:solidFill>
                  <a:srgbClr val="262B3A"/>
                </a:solidFill>
                <a:latin typeface="Calibri" pitchFamily="34" charset="0"/>
                <a:ea typeface="Calibri" pitchFamily="34" charset="-122"/>
                <a:cs typeface="Calibri" pitchFamily="34" charset="-120"/>
              </a:rPr>
              <a:t> to outside the body, and the organ that </a:t>
            </a:r>
            <a:r>
              <a:rPr lang="en-US" sz="1250" b="1" dirty="0">
                <a:solidFill>
                  <a:srgbClr val="262B3A"/>
                </a:solidFill>
                <a:latin typeface="Calibri" pitchFamily="34" charset="0"/>
                <a:ea typeface="Calibri" pitchFamily="34" charset="-122"/>
                <a:cs typeface="Calibri" pitchFamily="34" charset="-120"/>
              </a:rPr>
              <a:t>stores</a:t>
            </a:r>
            <a:r>
              <a:rPr lang="en-US" sz="1250" dirty="0">
                <a:solidFill>
                  <a:srgbClr val="262B3A"/>
                </a:solidFill>
                <a:latin typeface="Calibri" pitchFamily="34" charset="0"/>
                <a:ea typeface="Calibri" pitchFamily="34" charset="-122"/>
                <a:cs typeface="Calibri" pitchFamily="34" charset="-120"/>
              </a:rPr>
              <a:t> urine.</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2E5D8"/>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there is </a:t>
            </a:r>
            <a:r>
              <a:rPr lang="en-US" sz="1250" b="1" dirty="0">
                <a:solidFill>
                  <a:srgbClr val="262B3A"/>
                </a:solidFill>
                <a:latin typeface="Calibri" pitchFamily="34" charset="0"/>
                <a:ea typeface="Calibri" pitchFamily="34" charset="-122"/>
                <a:cs typeface="Calibri" pitchFamily="34" charset="-120"/>
              </a:rPr>
              <a:t>no protein</a:t>
            </a:r>
            <a:r>
              <a:rPr lang="en-US" sz="1250" dirty="0">
                <a:solidFill>
                  <a:srgbClr val="262B3A"/>
                </a:solidFill>
                <a:latin typeface="Calibri" pitchFamily="34" charset="0"/>
                <a:ea typeface="Calibri" pitchFamily="34" charset="-122"/>
                <a:cs typeface="Calibri" pitchFamily="34" charset="-120"/>
              </a:rPr>
              <a:t> in the filtrate in Bowman's capsule.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2E5D8"/>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Glucose is present in the filtrate but not in the urine of a healthy person. Explain why.</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2E5D8"/>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The concentration of urea is 0.3 g/dm³ in plasma and 21 g/dm³ in urine. Calculate how many times more concentrated urea is in urine.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ADH controls the water content of the blood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7.20B • a negative feedback loop between the brain and the kidney</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Shape 6"/>
          <p:cNvSpPr/>
          <p:nvPr/>
        </p:nvSpPr>
        <p:spPr>
          <a:xfrm>
            <a:off x="10042855" y="292608"/>
            <a:ext cx="1188720" cy="274320"/>
          </a:xfrm>
          <a:prstGeom prst="roundRect">
            <a:avLst>
              <a:gd name="adj" fmla="val 50000"/>
            </a:avLst>
          </a:prstGeom>
          <a:solidFill>
            <a:srgbClr val="2A7448"/>
          </a:solidFill>
          <a:ln w="12700">
            <a:solidFill>
              <a:srgbClr val="2A7448"/>
            </a:solidFill>
            <a:prstDash val="solid"/>
          </a:ln>
        </p:spPr>
      </p:sp>
      <p:sp>
        <p:nvSpPr>
          <p:cNvPr id="9" name="Text 7"/>
          <p:cNvSpPr/>
          <p:nvPr/>
        </p:nvSpPr>
        <p:spPr>
          <a:xfrm>
            <a:off x="1004285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BIOLOGY ONLY</a:t>
            </a:r>
            <a:endParaRPr lang="en-US" sz="1000" dirty="0"/>
          </a:p>
        </p:txBody>
      </p:sp>
      <p:sp>
        <p:nvSpPr>
          <p:cNvPr id="10" name="Text 8"/>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11" name="Text 9"/>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7.20B  |  34</a:t>
            </a:r>
            <a:endParaRPr lang="en-US" sz="1000" dirty="0"/>
          </a:p>
        </p:txBody>
      </p:sp>
      <p:sp>
        <p:nvSpPr>
          <p:cNvPr id="12" name="Shape 10"/>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13" name="Text 11"/>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ADH makes the collecting duct more permeable to water</a:t>
            </a:r>
            <a:endParaRPr lang="en-US" sz="1000" dirty="0"/>
          </a:p>
        </p:txBody>
      </p:sp>
      <p:sp>
        <p:nvSpPr>
          <p:cNvPr id="14" name="Shape 12"/>
          <p:cNvSpPr/>
          <p:nvPr/>
        </p:nvSpPr>
        <p:spPr>
          <a:xfrm>
            <a:off x="2831897" y="1430122"/>
            <a:ext cx="737006" cy="523037"/>
          </a:xfrm>
          <a:prstGeom prst="ellipse">
            <a:avLst/>
          </a:prstGeom>
          <a:solidFill>
            <a:srgbClr val="F4C7D0"/>
          </a:solidFill>
          <a:ln w="15875">
            <a:solidFill>
              <a:srgbClr val="C98393"/>
            </a:solidFill>
            <a:prstDash val="solid"/>
          </a:ln>
        </p:spPr>
      </p:sp>
      <p:sp>
        <p:nvSpPr>
          <p:cNvPr id="15" name="Shape 13"/>
          <p:cNvSpPr/>
          <p:nvPr/>
        </p:nvSpPr>
        <p:spPr>
          <a:xfrm>
            <a:off x="3200400" y="1453896"/>
            <a:ext cx="91" cy="475488"/>
          </a:xfrm>
          <a:prstGeom prst="line">
            <a:avLst/>
          </a:prstGeom>
          <a:noFill/>
          <a:ln w="12700">
            <a:solidFill>
              <a:srgbClr val="C98393"/>
            </a:solidFill>
            <a:prstDash val="solid"/>
          </a:ln>
        </p:spPr>
      </p:sp>
      <p:sp>
        <p:nvSpPr>
          <p:cNvPr id="16" name="Shape 14"/>
          <p:cNvSpPr/>
          <p:nvPr/>
        </p:nvSpPr>
        <p:spPr>
          <a:xfrm>
            <a:off x="2915107" y="1572768"/>
            <a:ext cx="213970" cy="118872"/>
          </a:xfrm>
          <a:prstGeom prst="ellipse">
            <a:avLst/>
          </a:prstGeom>
          <a:ln w="9525">
            <a:solidFill>
              <a:srgbClr val="C98393"/>
            </a:solidFill>
            <a:prstDash val="solid"/>
          </a:ln>
        </p:spPr>
      </p:sp>
      <p:sp>
        <p:nvSpPr>
          <p:cNvPr id="17" name="Shape 15"/>
          <p:cNvSpPr/>
          <p:nvPr/>
        </p:nvSpPr>
        <p:spPr>
          <a:xfrm>
            <a:off x="3271723" y="1691640"/>
            <a:ext cx="213970" cy="118872"/>
          </a:xfrm>
          <a:prstGeom prst="ellipse">
            <a:avLst/>
          </a:prstGeom>
          <a:ln w="9525">
            <a:solidFill>
              <a:srgbClr val="C98393"/>
            </a:solidFill>
            <a:prstDash val="solid"/>
          </a:ln>
        </p:spPr>
      </p:sp>
      <p:sp>
        <p:nvSpPr>
          <p:cNvPr id="18" name="Shape 16"/>
          <p:cNvSpPr/>
          <p:nvPr/>
        </p:nvSpPr>
        <p:spPr>
          <a:xfrm>
            <a:off x="3163824" y="1837944"/>
            <a:ext cx="164592" cy="164592"/>
          </a:xfrm>
          <a:prstGeom prst="ellipse">
            <a:avLst/>
          </a:prstGeom>
          <a:solidFill>
            <a:srgbClr val="C8414C"/>
          </a:solidFill>
          <a:ln w="12700">
            <a:solidFill>
              <a:srgbClr val="8E2A33"/>
            </a:solidFill>
            <a:prstDash val="solid"/>
          </a:ln>
        </p:spPr>
      </p:sp>
      <p:sp>
        <p:nvSpPr>
          <p:cNvPr id="19" name="Text 17"/>
          <p:cNvSpPr/>
          <p:nvPr/>
        </p:nvSpPr>
        <p:spPr>
          <a:xfrm>
            <a:off x="594360" y="1371600"/>
            <a:ext cx="2194560" cy="548640"/>
          </a:xfrm>
          <a:prstGeom prst="rect">
            <a:avLst/>
          </a:prstGeom>
          <a:noFill/>
          <a:ln/>
        </p:spPr>
        <p:txBody>
          <a:bodyPr wrap="square" lIns="0" tIns="0" rIns="0" bIns="0" rtlCol="0" anchor="t"/>
          <a:lstStyle/>
          <a:p>
            <a:pPr algn="r" indent="0" marL="0">
              <a:buNone/>
            </a:pPr>
            <a:r>
              <a:rPr lang="en-US" sz="1050" dirty="0">
                <a:solidFill>
                  <a:srgbClr val="262B3A"/>
                </a:solidFill>
                <a:latin typeface="Calibri" pitchFamily="34" charset="0"/>
                <a:ea typeface="Calibri" pitchFamily="34" charset="-122"/>
                <a:cs typeface="Calibri" pitchFamily="34" charset="-120"/>
              </a:rPr>
              <a:t>receptors in the </a:t>
            </a:r>
            <a:r>
              <a:rPr lang="en-US" sz="1050" b="1" dirty="0">
                <a:solidFill>
                  <a:srgbClr val="262B3A"/>
                </a:solidFill>
                <a:latin typeface="Calibri" pitchFamily="34" charset="0"/>
                <a:ea typeface="Calibri" pitchFamily="34" charset="-122"/>
                <a:cs typeface="Calibri" pitchFamily="34" charset="-120"/>
              </a:rPr>
              <a:t>hypothalamus</a:t>
            </a:r>
            <a:r>
              <a:rPr lang="en-US" sz="1050" dirty="0">
                <a:solidFill>
                  <a:srgbClr val="262B3A"/>
                </a:solidFill>
                <a:latin typeface="Calibri" pitchFamily="34" charset="0"/>
                <a:ea typeface="Calibri" pitchFamily="34" charset="-122"/>
                <a:cs typeface="Calibri" pitchFamily="34" charset="-120"/>
              </a:rPr>
              <a:t> detect blood water content</a:t>
            </a:r>
            <a:endParaRPr lang="en-US" sz="1050" dirty="0"/>
          </a:p>
        </p:txBody>
      </p:sp>
      <p:sp>
        <p:nvSpPr>
          <p:cNvPr id="20" name="Text 18"/>
          <p:cNvSpPr/>
          <p:nvPr/>
        </p:nvSpPr>
        <p:spPr>
          <a:xfrm>
            <a:off x="3749040" y="1783080"/>
            <a:ext cx="2103120" cy="256032"/>
          </a:xfrm>
          <a:prstGeom prst="rect">
            <a:avLst/>
          </a:prstGeom>
          <a:noFill/>
          <a:ln/>
        </p:spPr>
        <p:txBody>
          <a:bodyPr wrap="square" lIns="0" tIns="0" rIns="0" bIns="0" rtlCol="0" anchor="ctr"/>
          <a:lstStyle/>
          <a:p>
            <a:pPr algn="l" indent="0" marL="0">
              <a:buNone/>
            </a:pPr>
            <a:r>
              <a:rPr lang="en-US" sz="1050" b="1" dirty="0">
                <a:solidFill>
                  <a:srgbClr val="8E2A33"/>
                </a:solidFill>
                <a:latin typeface="Calibri" pitchFamily="34" charset="0"/>
                <a:ea typeface="Calibri" pitchFamily="34" charset="-122"/>
                <a:cs typeface="Calibri" pitchFamily="34" charset="-120"/>
              </a:rPr>
              <a:t>pituitary</a:t>
            </a:r>
            <a:r>
              <a:rPr lang="en-US" sz="1050" dirty="0">
                <a:solidFill>
                  <a:srgbClr val="8E2A33"/>
                </a:solidFill>
                <a:latin typeface="Calibri" pitchFamily="34" charset="0"/>
                <a:ea typeface="Calibri" pitchFamily="34" charset="-122"/>
                <a:cs typeface="Calibri" pitchFamily="34" charset="-120"/>
              </a:rPr>
              <a:t> releases ADH</a:t>
            </a:r>
            <a:endParaRPr lang="en-US" sz="1050" dirty="0"/>
          </a:p>
        </p:txBody>
      </p:sp>
      <p:sp>
        <p:nvSpPr>
          <p:cNvPr id="21" name="Shape 19"/>
          <p:cNvSpPr/>
          <p:nvPr/>
        </p:nvSpPr>
        <p:spPr>
          <a:xfrm>
            <a:off x="640080" y="2423160"/>
            <a:ext cx="2377440" cy="566928"/>
          </a:xfrm>
          <a:prstGeom prst="roundRect">
            <a:avLst>
              <a:gd name="adj" fmla="val 9677"/>
            </a:avLst>
          </a:prstGeom>
          <a:solidFill>
            <a:srgbClr val="FDEDEE"/>
          </a:solidFill>
          <a:ln w="15875">
            <a:solidFill>
              <a:srgbClr val="C8414C"/>
            </a:solidFill>
            <a:prstDash val="solid"/>
          </a:ln>
        </p:spPr>
      </p:sp>
      <p:sp>
        <p:nvSpPr>
          <p:cNvPr id="22" name="Text 20"/>
          <p:cNvSpPr/>
          <p:nvPr/>
        </p:nvSpPr>
        <p:spPr>
          <a:xfrm>
            <a:off x="694944" y="2423160"/>
            <a:ext cx="2267712" cy="56692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blood </a:t>
            </a:r>
            <a:r>
              <a:rPr lang="en-US" sz="1000" b="1" dirty="0">
                <a:solidFill>
                  <a:srgbClr val="262B3A"/>
                </a:solidFill>
                <a:latin typeface="Calibri" pitchFamily="34" charset="0"/>
                <a:ea typeface="Calibri" pitchFamily="34" charset="-122"/>
                <a:cs typeface="Calibri" pitchFamily="34" charset="-120"/>
              </a:rPr>
              <a:t>too concentrated</a:t>
            </a:r>
            <a:r>
              <a:rPr lang="en-US" sz="1000" dirty="0">
                <a:solidFill>
                  <a:srgbClr val="262B3A"/>
                </a:solidFill>
                <a:latin typeface="Calibri" pitchFamily="34" charset="0"/>
                <a:ea typeface="Calibri" pitchFamily="34" charset="-122"/>
                <a:cs typeface="Calibri" pitchFamily="34" charset="-120"/>
              </a:rPr>
              <a:t> (sweating, little drink)</a:t>
            </a:r>
            <a:endParaRPr lang="en-US" sz="1000" dirty="0"/>
          </a:p>
        </p:txBody>
      </p:sp>
      <p:sp>
        <p:nvSpPr>
          <p:cNvPr id="23" name="Shape 21"/>
          <p:cNvSpPr/>
          <p:nvPr/>
        </p:nvSpPr>
        <p:spPr>
          <a:xfrm>
            <a:off x="640080" y="3108960"/>
            <a:ext cx="2377440" cy="457200"/>
          </a:xfrm>
          <a:prstGeom prst="roundRect">
            <a:avLst>
              <a:gd name="adj" fmla="val 12000"/>
            </a:avLst>
          </a:prstGeom>
          <a:solidFill>
            <a:srgbClr val="FFF1DD"/>
          </a:solidFill>
          <a:ln w="15875">
            <a:solidFill>
              <a:srgbClr val="E08A1E"/>
            </a:solidFill>
            <a:prstDash val="solid"/>
          </a:ln>
        </p:spPr>
      </p:sp>
      <p:sp>
        <p:nvSpPr>
          <p:cNvPr id="24" name="Text 22"/>
          <p:cNvSpPr/>
          <p:nvPr/>
        </p:nvSpPr>
        <p:spPr>
          <a:xfrm>
            <a:off x="694944" y="3108960"/>
            <a:ext cx="2267712" cy="4572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more ADH</a:t>
            </a:r>
            <a:r>
              <a:rPr lang="en-US" sz="1050" dirty="0">
                <a:solidFill>
                  <a:srgbClr val="262B3A"/>
                </a:solidFill>
                <a:latin typeface="Calibri" pitchFamily="34" charset="0"/>
                <a:ea typeface="Calibri" pitchFamily="34" charset="-122"/>
                <a:cs typeface="Calibri" pitchFamily="34" charset="-120"/>
              </a:rPr>
              <a:t> released</a:t>
            </a:r>
            <a:endParaRPr lang="en-US" sz="1050" dirty="0"/>
          </a:p>
        </p:txBody>
      </p:sp>
      <p:sp>
        <p:nvSpPr>
          <p:cNvPr id="25" name="Shape 23"/>
          <p:cNvSpPr/>
          <p:nvPr/>
        </p:nvSpPr>
        <p:spPr>
          <a:xfrm>
            <a:off x="640080" y="3685032"/>
            <a:ext cx="2377440" cy="566928"/>
          </a:xfrm>
          <a:prstGeom prst="roundRect">
            <a:avLst>
              <a:gd name="adj" fmla="val 9677"/>
            </a:avLst>
          </a:prstGeom>
          <a:solidFill>
            <a:srgbClr val="FFFFFF"/>
          </a:solidFill>
          <a:ln w="15875">
            <a:solidFill>
              <a:srgbClr val="3B7DD8"/>
            </a:solidFill>
            <a:prstDash val="solid"/>
          </a:ln>
        </p:spPr>
      </p:sp>
      <p:sp>
        <p:nvSpPr>
          <p:cNvPr id="26" name="Text 24"/>
          <p:cNvSpPr/>
          <p:nvPr/>
        </p:nvSpPr>
        <p:spPr>
          <a:xfrm>
            <a:off x="694944" y="3685032"/>
            <a:ext cx="2267712" cy="56692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collecting duct </a:t>
            </a:r>
            <a:r>
              <a:rPr lang="en-US" sz="1000" b="1" dirty="0">
                <a:solidFill>
                  <a:srgbClr val="262B3A"/>
                </a:solidFill>
                <a:latin typeface="Calibri" pitchFamily="34" charset="0"/>
                <a:ea typeface="Calibri" pitchFamily="34" charset="-122"/>
                <a:cs typeface="Calibri" pitchFamily="34" charset="-120"/>
              </a:rPr>
              <a:t>more permeable</a:t>
            </a:r>
            <a:r>
              <a:rPr lang="en-US" sz="1000" dirty="0">
                <a:solidFill>
                  <a:srgbClr val="262B3A"/>
                </a:solidFill>
                <a:latin typeface="Calibri" pitchFamily="34" charset="0"/>
                <a:ea typeface="Calibri" pitchFamily="34" charset="-122"/>
                <a:cs typeface="Calibri" pitchFamily="34" charset="-120"/>
              </a:rPr>
              <a:t>: </a:t>
            </a:r>
            <a:r>
              <a:rPr lang="en-US" sz="1000" b="1" dirty="0">
                <a:solidFill>
                  <a:srgbClr val="262B3A"/>
                </a:solidFill>
                <a:latin typeface="Calibri" pitchFamily="34" charset="0"/>
                <a:ea typeface="Calibri" pitchFamily="34" charset="-122"/>
                <a:cs typeface="Calibri" pitchFamily="34" charset="-120"/>
              </a:rPr>
              <a:t>more water</a:t>
            </a:r>
            <a:r>
              <a:rPr lang="en-US" sz="1000" dirty="0">
                <a:solidFill>
                  <a:srgbClr val="262B3A"/>
                </a:solidFill>
                <a:latin typeface="Calibri" pitchFamily="34" charset="0"/>
                <a:ea typeface="Calibri" pitchFamily="34" charset="-122"/>
                <a:cs typeface="Calibri" pitchFamily="34" charset="-120"/>
              </a:rPr>
              <a:t> reabsorbed</a:t>
            </a:r>
            <a:endParaRPr lang="en-US" sz="1000" dirty="0"/>
          </a:p>
        </p:txBody>
      </p:sp>
      <p:sp>
        <p:nvSpPr>
          <p:cNvPr id="27" name="Shape 25"/>
          <p:cNvSpPr/>
          <p:nvPr/>
        </p:nvSpPr>
        <p:spPr>
          <a:xfrm>
            <a:off x="640080" y="4370832"/>
            <a:ext cx="2377440" cy="566928"/>
          </a:xfrm>
          <a:prstGeom prst="roundRect">
            <a:avLst>
              <a:gd name="adj" fmla="val 9677"/>
            </a:avLst>
          </a:prstGeom>
          <a:solidFill>
            <a:srgbClr val="FFF8D8"/>
          </a:solidFill>
          <a:ln w="15875">
            <a:solidFill>
              <a:srgbClr val="A08420"/>
            </a:solidFill>
            <a:prstDash val="solid"/>
          </a:ln>
        </p:spPr>
      </p:sp>
      <p:sp>
        <p:nvSpPr>
          <p:cNvPr id="28" name="Text 26"/>
          <p:cNvSpPr/>
          <p:nvPr/>
        </p:nvSpPr>
        <p:spPr>
          <a:xfrm>
            <a:off x="694944" y="4370832"/>
            <a:ext cx="2267712" cy="56692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small volume</a:t>
            </a:r>
            <a:r>
              <a:rPr lang="en-US" sz="1000" dirty="0">
                <a:solidFill>
                  <a:srgbClr val="262B3A"/>
                </a:solidFill>
                <a:latin typeface="Calibri" pitchFamily="34" charset="0"/>
                <a:ea typeface="Calibri" pitchFamily="34" charset="-122"/>
                <a:cs typeface="Calibri" pitchFamily="34" charset="-120"/>
              </a:rPr>
              <a:t> of </a:t>
            </a:r>
            <a:r>
              <a:rPr lang="en-US" sz="1000" b="1" dirty="0">
                <a:solidFill>
                  <a:srgbClr val="262B3A"/>
                </a:solidFill>
                <a:latin typeface="Calibri" pitchFamily="34" charset="0"/>
                <a:ea typeface="Calibri" pitchFamily="34" charset="-122"/>
                <a:cs typeface="Calibri" pitchFamily="34" charset="-120"/>
              </a:rPr>
              <a:t>concentrated</a:t>
            </a:r>
            <a:r>
              <a:rPr lang="en-US" sz="1000" dirty="0">
                <a:solidFill>
                  <a:srgbClr val="262B3A"/>
                </a:solidFill>
                <a:latin typeface="Calibri" pitchFamily="34" charset="0"/>
                <a:ea typeface="Calibri" pitchFamily="34" charset="-122"/>
                <a:cs typeface="Calibri" pitchFamily="34" charset="-120"/>
              </a:rPr>
              <a:t> urine</a:t>
            </a:r>
            <a:endParaRPr lang="en-US" sz="1000" dirty="0"/>
          </a:p>
        </p:txBody>
      </p:sp>
      <p:sp>
        <p:nvSpPr>
          <p:cNvPr id="29" name="Shape 27"/>
          <p:cNvSpPr/>
          <p:nvPr/>
        </p:nvSpPr>
        <p:spPr>
          <a:xfrm>
            <a:off x="3383280" y="2423160"/>
            <a:ext cx="2377440" cy="566928"/>
          </a:xfrm>
          <a:prstGeom prst="roundRect">
            <a:avLst>
              <a:gd name="adj" fmla="val 9677"/>
            </a:avLst>
          </a:prstGeom>
          <a:solidFill>
            <a:srgbClr val="E6F0FB"/>
          </a:solidFill>
          <a:ln w="15875">
            <a:solidFill>
              <a:srgbClr val="3B7DD8"/>
            </a:solidFill>
            <a:prstDash val="solid"/>
          </a:ln>
        </p:spPr>
      </p:sp>
      <p:sp>
        <p:nvSpPr>
          <p:cNvPr id="30" name="Text 28"/>
          <p:cNvSpPr/>
          <p:nvPr/>
        </p:nvSpPr>
        <p:spPr>
          <a:xfrm>
            <a:off x="3438144" y="2423160"/>
            <a:ext cx="2267712" cy="56692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blood </a:t>
            </a:r>
            <a:r>
              <a:rPr lang="en-US" sz="1000" b="1" dirty="0">
                <a:solidFill>
                  <a:srgbClr val="262B3A"/>
                </a:solidFill>
                <a:latin typeface="Calibri" pitchFamily="34" charset="0"/>
                <a:ea typeface="Calibri" pitchFamily="34" charset="-122"/>
                <a:cs typeface="Calibri" pitchFamily="34" charset="-120"/>
              </a:rPr>
              <a:t>too dilute</a:t>
            </a:r>
            <a:r>
              <a:rPr lang="en-US" sz="1000" dirty="0">
                <a:solidFill>
                  <a:srgbClr val="262B3A"/>
                </a:solidFill>
                <a:latin typeface="Calibri" pitchFamily="34" charset="0"/>
                <a:ea typeface="Calibri" pitchFamily="34" charset="-122"/>
                <a:cs typeface="Calibri" pitchFamily="34" charset="-120"/>
              </a:rPr>
              <a:t> (drunk a lot of water)</a:t>
            </a:r>
            <a:endParaRPr lang="en-US" sz="1000" dirty="0"/>
          </a:p>
        </p:txBody>
      </p:sp>
      <p:sp>
        <p:nvSpPr>
          <p:cNvPr id="31" name="Shape 29"/>
          <p:cNvSpPr/>
          <p:nvPr/>
        </p:nvSpPr>
        <p:spPr>
          <a:xfrm>
            <a:off x="3383280" y="3108960"/>
            <a:ext cx="2377440" cy="457200"/>
          </a:xfrm>
          <a:prstGeom prst="roundRect">
            <a:avLst>
              <a:gd name="adj" fmla="val 12000"/>
            </a:avLst>
          </a:prstGeom>
          <a:solidFill>
            <a:srgbClr val="FFF1DD"/>
          </a:solidFill>
          <a:ln w="15875">
            <a:solidFill>
              <a:srgbClr val="E08A1E"/>
            </a:solidFill>
            <a:prstDash val="solid"/>
          </a:ln>
        </p:spPr>
      </p:sp>
      <p:sp>
        <p:nvSpPr>
          <p:cNvPr id="32" name="Text 30"/>
          <p:cNvSpPr/>
          <p:nvPr/>
        </p:nvSpPr>
        <p:spPr>
          <a:xfrm>
            <a:off x="3438144" y="3108960"/>
            <a:ext cx="2267712" cy="4572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less ADH</a:t>
            </a:r>
            <a:r>
              <a:rPr lang="en-US" sz="1050" dirty="0">
                <a:solidFill>
                  <a:srgbClr val="262B3A"/>
                </a:solidFill>
                <a:latin typeface="Calibri" pitchFamily="34" charset="0"/>
                <a:ea typeface="Calibri" pitchFamily="34" charset="-122"/>
                <a:cs typeface="Calibri" pitchFamily="34" charset="-120"/>
              </a:rPr>
              <a:t> released</a:t>
            </a:r>
            <a:endParaRPr lang="en-US" sz="1050" dirty="0"/>
          </a:p>
        </p:txBody>
      </p:sp>
      <p:sp>
        <p:nvSpPr>
          <p:cNvPr id="33" name="Shape 31"/>
          <p:cNvSpPr/>
          <p:nvPr/>
        </p:nvSpPr>
        <p:spPr>
          <a:xfrm>
            <a:off x="3383280" y="3685032"/>
            <a:ext cx="2377440" cy="566928"/>
          </a:xfrm>
          <a:prstGeom prst="roundRect">
            <a:avLst>
              <a:gd name="adj" fmla="val 9677"/>
            </a:avLst>
          </a:prstGeom>
          <a:solidFill>
            <a:srgbClr val="FFFFFF"/>
          </a:solidFill>
          <a:ln w="15875">
            <a:solidFill>
              <a:srgbClr val="3B7DD8"/>
            </a:solidFill>
            <a:prstDash val="solid"/>
          </a:ln>
        </p:spPr>
      </p:sp>
      <p:sp>
        <p:nvSpPr>
          <p:cNvPr id="34" name="Text 32"/>
          <p:cNvSpPr/>
          <p:nvPr/>
        </p:nvSpPr>
        <p:spPr>
          <a:xfrm>
            <a:off x="3438144" y="3685032"/>
            <a:ext cx="2267712" cy="56692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collecting duct </a:t>
            </a:r>
            <a:r>
              <a:rPr lang="en-US" sz="1000" b="1" dirty="0">
                <a:solidFill>
                  <a:srgbClr val="262B3A"/>
                </a:solidFill>
                <a:latin typeface="Calibri" pitchFamily="34" charset="0"/>
                <a:ea typeface="Calibri" pitchFamily="34" charset="-122"/>
                <a:cs typeface="Calibri" pitchFamily="34" charset="-120"/>
              </a:rPr>
              <a:t>less permeable</a:t>
            </a:r>
            <a:r>
              <a:rPr lang="en-US" sz="1000" dirty="0">
                <a:solidFill>
                  <a:srgbClr val="262B3A"/>
                </a:solidFill>
                <a:latin typeface="Calibri" pitchFamily="34" charset="0"/>
                <a:ea typeface="Calibri" pitchFamily="34" charset="-122"/>
                <a:cs typeface="Calibri" pitchFamily="34" charset="-120"/>
              </a:rPr>
              <a:t>: </a:t>
            </a:r>
            <a:r>
              <a:rPr lang="en-US" sz="1000" b="1" dirty="0">
                <a:solidFill>
                  <a:srgbClr val="262B3A"/>
                </a:solidFill>
                <a:latin typeface="Calibri" pitchFamily="34" charset="0"/>
                <a:ea typeface="Calibri" pitchFamily="34" charset="-122"/>
                <a:cs typeface="Calibri" pitchFamily="34" charset="-120"/>
              </a:rPr>
              <a:t>less water</a:t>
            </a:r>
            <a:r>
              <a:rPr lang="en-US" sz="1000" dirty="0">
                <a:solidFill>
                  <a:srgbClr val="262B3A"/>
                </a:solidFill>
                <a:latin typeface="Calibri" pitchFamily="34" charset="0"/>
                <a:ea typeface="Calibri" pitchFamily="34" charset="-122"/>
                <a:cs typeface="Calibri" pitchFamily="34" charset="-120"/>
              </a:rPr>
              <a:t> reabsorbed</a:t>
            </a:r>
            <a:endParaRPr lang="en-US" sz="1000" dirty="0"/>
          </a:p>
        </p:txBody>
      </p:sp>
      <p:sp>
        <p:nvSpPr>
          <p:cNvPr id="35" name="Shape 33"/>
          <p:cNvSpPr/>
          <p:nvPr/>
        </p:nvSpPr>
        <p:spPr>
          <a:xfrm>
            <a:off x="3383280" y="4370832"/>
            <a:ext cx="2377440" cy="566928"/>
          </a:xfrm>
          <a:prstGeom prst="roundRect">
            <a:avLst>
              <a:gd name="adj" fmla="val 9677"/>
            </a:avLst>
          </a:prstGeom>
          <a:solidFill>
            <a:srgbClr val="FFFBEA"/>
          </a:solidFill>
          <a:ln w="15875">
            <a:solidFill>
              <a:srgbClr val="A08420"/>
            </a:solidFill>
            <a:prstDash val="solid"/>
          </a:ln>
        </p:spPr>
      </p:sp>
      <p:sp>
        <p:nvSpPr>
          <p:cNvPr id="36" name="Text 34"/>
          <p:cNvSpPr/>
          <p:nvPr/>
        </p:nvSpPr>
        <p:spPr>
          <a:xfrm>
            <a:off x="3438144" y="4370832"/>
            <a:ext cx="2267712" cy="56692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large volume</a:t>
            </a:r>
            <a:r>
              <a:rPr lang="en-US" sz="1000" dirty="0">
                <a:solidFill>
                  <a:srgbClr val="262B3A"/>
                </a:solidFill>
                <a:latin typeface="Calibri" pitchFamily="34" charset="0"/>
                <a:ea typeface="Calibri" pitchFamily="34" charset="-122"/>
                <a:cs typeface="Calibri" pitchFamily="34" charset="-120"/>
              </a:rPr>
              <a:t> of </a:t>
            </a:r>
            <a:r>
              <a:rPr lang="en-US" sz="1000" b="1" dirty="0">
                <a:solidFill>
                  <a:srgbClr val="262B3A"/>
                </a:solidFill>
                <a:latin typeface="Calibri" pitchFamily="34" charset="0"/>
                <a:ea typeface="Calibri" pitchFamily="34" charset="-122"/>
                <a:cs typeface="Calibri" pitchFamily="34" charset="-120"/>
              </a:rPr>
              <a:t>dilute</a:t>
            </a:r>
            <a:r>
              <a:rPr lang="en-US" sz="1000" dirty="0">
                <a:solidFill>
                  <a:srgbClr val="262B3A"/>
                </a:solidFill>
                <a:latin typeface="Calibri" pitchFamily="34" charset="0"/>
                <a:ea typeface="Calibri" pitchFamily="34" charset="-122"/>
                <a:cs typeface="Calibri" pitchFamily="34" charset="-120"/>
              </a:rPr>
              <a:t> urine</a:t>
            </a:r>
            <a:endParaRPr lang="en-US" sz="1000" dirty="0"/>
          </a:p>
        </p:txBody>
      </p:sp>
      <p:sp>
        <p:nvSpPr>
          <p:cNvPr id="37" name="Shape 35"/>
          <p:cNvSpPr/>
          <p:nvPr/>
        </p:nvSpPr>
        <p:spPr>
          <a:xfrm>
            <a:off x="1828800" y="2990088"/>
            <a:ext cx="91" cy="118872"/>
          </a:xfrm>
          <a:prstGeom prst="line">
            <a:avLst/>
          </a:prstGeom>
          <a:noFill/>
          <a:ln w="22225">
            <a:solidFill>
              <a:srgbClr val="1C3A2C"/>
            </a:solidFill>
            <a:prstDash val="solid"/>
            <a:tailEnd type="triangle"/>
          </a:ln>
        </p:spPr>
      </p:sp>
      <p:sp>
        <p:nvSpPr>
          <p:cNvPr id="38" name="Shape 36"/>
          <p:cNvSpPr/>
          <p:nvPr/>
        </p:nvSpPr>
        <p:spPr>
          <a:xfrm>
            <a:off x="1828800" y="3566160"/>
            <a:ext cx="91" cy="118872"/>
          </a:xfrm>
          <a:prstGeom prst="line">
            <a:avLst/>
          </a:prstGeom>
          <a:noFill/>
          <a:ln w="22225">
            <a:solidFill>
              <a:srgbClr val="1C3A2C"/>
            </a:solidFill>
            <a:prstDash val="solid"/>
            <a:tailEnd type="triangle"/>
          </a:ln>
        </p:spPr>
      </p:sp>
      <p:sp>
        <p:nvSpPr>
          <p:cNvPr id="39" name="Shape 37"/>
          <p:cNvSpPr/>
          <p:nvPr/>
        </p:nvSpPr>
        <p:spPr>
          <a:xfrm>
            <a:off x="1828800" y="4251960"/>
            <a:ext cx="91" cy="118872"/>
          </a:xfrm>
          <a:prstGeom prst="line">
            <a:avLst/>
          </a:prstGeom>
          <a:noFill/>
          <a:ln w="22225">
            <a:solidFill>
              <a:srgbClr val="1C3A2C"/>
            </a:solidFill>
            <a:prstDash val="solid"/>
            <a:tailEnd type="triangle"/>
          </a:ln>
        </p:spPr>
      </p:sp>
      <p:sp>
        <p:nvSpPr>
          <p:cNvPr id="40" name="Shape 38"/>
          <p:cNvSpPr/>
          <p:nvPr/>
        </p:nvSpPr>
        <p:spPr>
          <a:xfrm>
            <a:off x="4572000" y="2990088"/>
            <a:ext cx="91" cy="118872"/>
          </a:xfrm>
          <a:prstGeom prst="line">
            <a:avLst/>
          </a:prstGeom>
          <a:noFill/>
          <a:ln w="22225">
            <a:solidFill>
              <a:srgbClr val="1C3A2C"/>
            </a:solidFill>
            <a:prstDash val="solid"/>
            <a:tailEnd type="triangle"/>
          </a:ln>
        </p:spPr>
      </p:sp>
      <p:sp>
        <p:nvSpPr>
          <p:cNvPr id="41" name="Shape 39"/>
          <p:cNvSpPr/>
          <p:nvPr/>
        </p:nvSpPr>
        <p:spPr>
          <a:xfrm>
            <a:off x="4572000" y="3566160"/>
            <a:ext cx="91" cy="118872"/>
          </a:xfrm>
          <a:prstGeom prst="line">
            <a:avLst/>
          </a:prstGeom>
          <a:noFill/>
          <a:ln w="22225">
            <a:solidFill>
              <a:srgbClr val="1C3A2C"/>
            </a:solidFill>
            <a:prstDash val="solid"/>
            <a:tailEnd type="triangle"/>
          </a:ln>
        </p:spPr>
      </p:sp>
      <p:sp>
        <p:nvSpPr>
          <p:cNvPr id="42" name="Shape 40"/>
          <p:cNvSpPr/>
          <p:nvPr/>
        </p:nvSpPr>
        <p:spPr>
          <a:xfrm>
            <a:off x="4572000" y="4251960"/>
            <a:ext cx="91" cy="118872"/>
          </a:xfrm>
          <a:prstGeom prst="line">
            <a:avLst/>
          </a:prstGeom>
          <a:noFill/>
          <a:ln w="22225">
            <a:solidFill>
              <a:srgbClr val="1C3A2C"/>
            </a:solidFill>
            <a:prstDash val="solid"/>
            <a:tailEnd type="triangle"/>
          </a:ln>
        </p:spPr>
      </p:sp>
      <p:sp>
        <p:nvSpPr>
          <p:cNvPr id="43" name="Text 41"/>
          <p:cNvSpPr/>
          <p:nvPr/>
        </p:nvSpPr>
        <p:spPr>
          <a:xfrm>
            <a:off x="640080" y="5001768"/>
            <a:ext cx="5120640" cy="274320"/>
          </a:xfrm>
          <a:prstGeom prst="rect">
            <a:avLst/>
          </a:prstGeom>
          <a:noFill/>
          <a:ln/>
        </p:spPr>
        <p:txBody>
          <a:bodyPr wrap="square" lIns="0" tIns="0" rIns="0" bIns="0" rtlCol="0" anchor="ctr"/>
          <a:lstStyle/>
          <a:p>
            <a:pPr algn="ctr" indent="0" marL="0">
              <a:buNone/>
            </a:pPr>
            <a:r>
              <a:rPr lang="en-US" sz="1050" b="1" dirty="0">
                <a:solidFill>
                  <a:srgbClr val="1E6B40"/>
                </a:solidFill>
                <a:latin typeface="Calibri" pitchFamily="34" charset="0"/>
                <a:ea typeface="Calibri" pitchFamily="34" charset="-122"/>
                <a:cs typeface="Calibri" pitchFamily="34" charset="-120"/>
              </a:rPr>
              <a:t>Both lead back to </a:t>
            </a:r>
            <a:r>
              <a:rPr lang="en-US" sz="1050" b="1" dirty="0">
                <a:solidFill>
                  <a:srgbClr val="1E6B40"/>
                </a:solidFill>
                <a:latin typeface="Calibri" pitchFamily="34" charset="0"/>
                <a:ea typeface="Calibri" pitchFamily="34" charset="-122"/>
                <a:cs typeface="Calibri" pitchFamily="34" charset="-120"/>
              </a:rPr>
              <a:t>normal</a:t>
            </a:r>
            <a:r>
              <a:rPr lang="en-US" sz="1050" b="1" dirty="0">
                <a:solidFill>
                  <a:srgbClr val="1E6B40"/>
                </a:solidFill>
                <a:latin typeface="Calibri" pitchFamily="34" charset="0"/>
                <a:ea typeface="Calibri" pitchFamily="34" charset="-122"/>
                <a:cs typeface="Calibri" pitchFamily="34" charset="-120"/>
              </a:rPr>
              <a:t> blood water content = </a:t>
            </a:r>
            <a:r>
              <a:rPr lang="en-US" sz="1050" b="1" dirty="0">
                <a:solidFill>
                  <a:srgbClr val="1E6B40"/>
                </a:solidFill>
                <a:latin typeface="Calibri" pitchFamily="34" charset="0"/>
                <a:ea typeface="Calibri" pitchFamily="34" charset="-122"/>
                <a:cs typeface="Calibri" pitchFamily="34" charset="-120"/>
              </a:rPr>
              <a:t>negative feedback</a:t>
            </a:r>
            <a:endParaRPr lang="en-US" sz="1050" dirty="0"/>
          </a:p>
        </p:txBody>
      </p:sp>
      <p:sp>
        <p:nvSpPr>
          <p:cNvPr id="44" name="Shape 42"/>
          <p:cNvSpPr/>
          <p:nvPr/>
        </p:nvSpPr>
        <p:spPr>
          <a:xfrm>
            <a:off x="6217920" y="1188720"/>
            <a:ext cx="5562295" cy="2377440"/>
          </a:xfrm>
          <a:prstGeom prst="roundRect">
            <a:avLst>
              <a:gd name="adj" fmla="val 2308"/>
            </a:avLst>
          </a:prstGeom>
          <a:solidFill>
            <a:srgbClr val="F5FBF7"/>
          </a:solidFill>
          <a:ln w="9525">
            <a:solidFill>
              <a:srgbClr val="D2E5D8"/>
            </a:solidFill>
            <a:prstDash val="solid"/>
          </a:ln>
        </p:spPr>
      </p:sp>
      <p:sp>
        <p:nvSpPr>
          <p:cNvPr id="45" name="Text 4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Antidiuretic hormone (ADH)</a:t>
            </a:r>
            <a:endParaRPr lang="en-US" sz="1300" dirty="0"/>
          </a:p>
        </p:txBody>
      </p:sp>
      <p:sp>
        <p:nvSpPr>
          <p:cNvPr id="46" name="Text 44"/>
          <p:cNvSpPr/>
          <p:nvPr/>
        </p:nvSpPr>
        <p:spPr>
          <a:xfrm>
            <a:off x="6382512" y="1609344"/>
            <a:ext cx="5233111" cy="188366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ADH is released by the </a:t>
            </a:r>
            <a:r>
              <a:rPr lang="en-US" sz="1050" b="1" dirty="0">
                <a:solidFill>
                  <a:srgbClr val="262B3A"/>
                </a:solidFill>
                <a:latin typeface="Calibri" pitchFamily="34" charset="0"/>
                <a:ea typeface="Calibri" pitchFamily="34" charset="-122"/>
                <a:cs typeface="Calibri" pitchFamily="34" charset="-120"/>
              </a:rPr>
              <a:t>pituitary gland</a:t>
            </a:r>
            <a:r>
              <a:rPr lang="en-US" sz="1050" dirty="0">
                <a:solidFill>
                  <a:srgbClr val="262B3A"/>
                </a:solidFill>
                <a:latin typeface="Calibri" pitchFamily="34" charset="0"/>
                <a:ea typeface="Calibri" pitchFamily="34" charset="-122"/>
                <a:cs typeface="Calibri" pitchFamily="34" charset="-120"/>
              </a:rPr>
              <a:t> when receptors in the brain detect that the blood is </a:t>
            </a:r>
            <a:r>
              <a:rPr lang="en-US" sz="1050" b="1" dirty="0">
                <a:solidFill>
                  <a:srgbClr val="262B3A"/>
                </a:solidFill>
                <a:latin typeface="Calibri" pitchFamily="34" charset="0"/>
                <a:ea typeface="Calibri" pitchFamily="34" charset="-122"/>
                <a:cs typeface="Calibri" pitchFamily="34" charset="-120"/>
              </a:rPr>
              <a:t>too concentrated</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ADH travels in the blood to the kidney and makes the </a:t>
            </a:r>
            <a:r>
              <a:rPr lang="en-US" sz="1050" b="1" dirty="0">
                <a:solidFill>
                  <a:srgbClr val="262B3A"/>
                </a:solidFill>
                <a:latin typeface="Calibri" pitchFamily="34" charset="0"/>
                <a:ea typeface="Calibri" pitchFamily="34" charset="-122"/>
                <a:cs typeface="Calibri" pitchFamily="34" charset="-120"/>
              </a:rPr>
              <a:t>collecting ducts more permeable to water</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More water is </a:t>
            </a:r>
            <a:r>
              <a:rPr lang="en-US" sz="1050" b="1" dirty="0">
                <a:solidFill>
                  <a:srgbClr val="262B3A"/>
                </a:solidFill>
                <a:latin typeface="Calibri" pitchFamily="34" charset="0"/>
                <a:ea typeface="Calibri" pitchFamily="34" charset="-122"/>
                <a:cs typeface="Calibri" pitchFamily="34" charset="-120"/>
              </a:rPr>
              <a:t>reabsorbed into the blood</a:t>
            </a:r>
            <a:r>
              <a:rPr lang="en-US" sz="1050" dirty="0">
                <a:solidFill>
                  <a:srgbClr val="262B3A"/>
                </a:solidFill>
                <a:latin typeface="Calibri" pitchFamily="34" charset="0"/>
                <a:ea typeface="Calibri" pitchFamily="34" charset="-122"/>
                <a:cs typeface="Calibri" pitchFamily="34" charset="-120"/>
              </a:rPr>
              <a:t> by osmosis, so </a:t>
            </a:r>
            <a:r>
              <a:rPr lang="en-US" sz="1050" b="1" dirty="0">
                <a:solidFill>
                  <a:srgbClr val="262B3A"/>
                </a:solidFill>
                <a:latin typeface="Calibri" pitchFamily="34" charset="0"/>
                <a:ea typeface="Calibri" pitchFamily="34" charset="-122"/>
                <a:cs typeface="Calibri" pitchFamily="34" charset="-120"/>
              </a:rPr>
              <a:t>less, more concentrated</a:t>
            </a:r>
            <a:r>
              <a:rPr lang="en-US" sz="1050" dirty="0">
                <a:solidFill>
                  <a:srgbClr val="262B3A"/>
                </a:solidFill>
                <a:latin typeface="Calibri" pitchFamily="34" charset="0"/>
                <a:ea typeface="Calibri" pitchFamily="34" charset="-122"/>
                <a:cs typeface="Calibri" pitchFamily="34" charset="-120"/>
              </a:rPr>
              <a:t> urine is produced.</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When the blood is too dilute, </a:t>
            </a:r>
            <a:r>
              <a:rPr lang="en-US" sz="1050" b="1" dirty="0">
                <a:solidFill>
                  <a:srgbClr val="262B3A"/>
                </a:solidFill>
                <a:latin typeface="Calibri" pitchFamily="34" charset="0"/>
                <a:ea typeface="Calibri" pitchFamily="34" charset="-122"/>
                <a:cs typeface="Calibri" pitchFamily="34" charset="-120"/>
              </a:rPr>
              <a:t>less ADH</a:t>
            </a:r>
            <a:r>
              <a:rPr lang="en-US" sz="1050" dirty="0">
                <a:solidFill>
                  <a:srgbClr val="262B3A"/>
                </a:solidFill>
                <a:latin typeface="Calibri" pitchFamily="34" charset="0"/>
                <a:ea typeface="Calibri" pitchFamily="34" charset="-122"/>
                <a:cs typeface="Calibri" pitchFamily="34" charset="-120"/>
              </a:rPr>
              <a:t> is released → more dilute urine.</a:t>
            </a:r>
            <a:endParaRPr lang="en-US" sz="1050" dirty="0"/>
          </a:p>
        </p:txBody>
      </p:sp>
      <p:sp>
        <p:nvSpPr>
          <p:cNvPr id="47" name="Shape 45"/>
          <p:cNvSpPr/>
          <p:nvPr/>
        </p:nvSpPr>
        <p:spPr>
          <a:xfrm>
            <a:off x="6217920" y="3703320"/>
            <a:ext cx="5562295" cy="2011680"/>
          </a:xfrm>
          <a:prstGeom prst="roundRect">
            <a:avLst>
              <a:gd name="adj" fmla="val 2727"/>
            </a:avLst>
          </a:prstGeom>
          <a:solidFill>
            <a:srgbClr val="FFF4E0"/>
          </a:solidFill>
          <a:ln w="9525">
            <a:solidFill>
              <a:srgbClr val="F1D9A8"/>
            </a:solidFill>
            <a:prstDash val="solid"/>
          </a:ln>
        </p:spPr>
      </p:sp>
      <p:sp>
        <p:nvSpPr>
          <p:cNvPr id="48" name="Text 46"/>
          <p:cNvSpPr/>
          <p:nvPr/>
        </p:nvSpPr>
        <p:spPr>
          <a:xfrm>
            <a:off x="6382512" y="377647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Explain (exam style)</a:t>
            </a:r>
            <a:endParaRPr lang="en-US" sz="1300" dirty="0"/>
          </a:p>
        </p:txBody>
      </p:sp>
      <p:sp>
        <p:nvSpPr>
          <p:cNvPr id="49" name="Text 47"/>
          <p:cNvSpPr/>
          <p:nvPr/>
        </p:nvSpPr>
        <p:spPr>
          <a:xfrm>
            <a:off x="6382512" y="4087368"/>
            <a:ext cx="5233111" cy="15544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After a long run on a hot day, a runner produces a small volume of dark urine. Explain why.</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1 Loss   </a:t>
            </a:r>
            <a:r>
              <a:rPr lang="en-US" sz="1050" dirty="0">
                <a:solidFill>
                  <a:srgbClr val="262B3A"/>
                </a:solidFill>
                <a:latin typeface="Calibri" pitchFamily="34" charset="0"/>
                <a:ea typeface="Calibri" pitchFamily="34" charset="-122"/>
                <a:cs typeface="Calibri" pitchFamily="34" charset="-120"/>
              </a:rPr>
              <a:t>water lost in sweat → blood too concentrated</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2 Signal   </a:t>
            </a:r>
            <a:r>
              <a:rPr lang="en-US" sz="1050" dirty="0">
                <a:solidFill>
                  <a:srgbClr val="262B3A"/>
                </a:solidFill>
                <a:latin typeface="Calibri" pitchFamily="34" charset="0"/>
                <a:ea typeface="Calibri" pitchFamily="34" charset="-122"/>
                <a:cs typeface="Calibri" pitchFamily="34" charset="-120"/>
              </a:rPr>
              <a:t>detected in the brain → pituitary releases more ADH</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3 Kidney   </a:t>
            </a:r>
            <a:r>
              <a:rPr lang="en-US" sz="1050" dirty="0">
                <a:solidFill>
                  <a:srgbClr val="262B3A"/>
                </a:solidFill>
                <a:latin typeface="Calibri" pitchFamily="34" charset="0"/>
                <a:ea typeface="Calibri" pitchFamily="34" charset="-122"/>
                <a:cs typeface="Calibri" pitchFamily="34" charset="-120"/>
              </a:rPr>
              <a:t>collecting ducts more permeable → more water reabsorbed</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less water in the urine: small volume, concentrated</a:t>
            </a:r>
            <a:endParaRPr lang="en-US" sz="1050" dirty="0"/>
          </a:p>
        </p:txBody>
      </p:sp>
      <p:sp>
        <p:nvSpPr>
          <p:cNvPr id="50" name="Shape 48"/>
          <p:cNvSpPr/>
          <p:nvPr/>
        </p:nvSpPr>
        <p:spPr>
          <a:xfrm>
            <a:off x="411480" y="5833872"/>
            <a:ext cx="11368735" cy="530352"/>
          </a:xfrm>
          <a:prstGeom prst="rect">
            <a:avLst/>
          </a:prstGeom>
          <a:solidFill>
            <a:srgbClr val="FFF4E0"/>
          </a:solidFill>
          <a:ln w="6350">
            <a:solidFill>
              <a:srgbClr val="F1D9A8"/>
            </a:solidFill>
            <a:prstDash val="solid"/>
          </a:ln>
        </p:spPr>
      </p:sp>
      <p:sp>
        <p:nvSpPr>
          <p:cNvPr id="51" name="Shape 49"/>
          <p:cNvSpPr/>
          <p:nvPr/>
        </p:nvSpPr>
        <p:spPr>
          <a:xfrm>
            <a:off x="411480" y="5833872"/>
            <a:ext cx="82296" cy="530352"/>
          </a:xfrm>
          <a:prstGeom prst="rect">
            <a:avLst/>
          </a:prstGeom>
          <a:solidFill>
            <a:srgbClr val="E39A2F"/>
          </a:solidFill>
          <a:ln w="12700">
            <a:solidFill>
              <a:srgbClr val="E39A2F"/>
            </a:solidFill>
            <a:prstDash val="solid"/>
          </a:ln>
        </p:spPr>
      </p:sp>
      <p:sp>
        <p:nvSpPr>
          <p:cNvPr id="52" name="Text 5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gland releases ADH? Which part of the nephron does ADH act on?</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Kidney failure: dialysis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7.21B • a machine does the work of the kidneys</a:t>
            </a:r>
            <a:endParaRPr lang="en-US" sz="1100" dirty="0"/>
          </a:p>
        </p:txBody>
      </p:sp>
      <p:sp>
        <p:nvSpPr>
          <p:cNvPr id="6" name="Shape 4"/>
          <p:cNvSpPr/>
          <p:nvPr/>
        </p:nvSpPr>
        <p:spPr>
          <a:xfrm>
            <a:off x="10591495" y="292608"/>
            <a:ext cx="1188720" cy="274320"/>
          </a:xfrm>
          <a:prstGeom prst="roundRect">
            <a:avLst>
              <a:gd name="adj" fmla="val 50000"/>
            </a:avLst>
          </a:prstGeom>
          <a:solidFill>
            <a:srgbClr val="2A7448"/>
          </a:solidFill>
          <a:ln w="12700">
            <a:solidFill>
              <a:srgbClr val="2A744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BIOLOGY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7.21B  |  35</a:t>
            </a:r>
            <a:endParaRPr lang="en-US" sz="1000" dirty="0"/>
          </a:p>
        </p:txBody>
      </p:sp>
      <p:sp>
        <p:nvSpPr>
          <p:cNvPr id="10" name="Shape 8"/>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blood and dialysis fluid flow in opposite directions, separated by a partially permeable membrane</a:t>
            </a:r>
            <a:endParaRPr lang="en-US" sz="1000" dirty="0"/>
          </a:p>
        </p:txBody>
      </p:sp>
      <p:sp>
        <p:nvSpPr>
          <p:cNvPr id="12" name="Shape 10"/>
          <p:cNvSpPr/>
          <p:nvPr/>
        </p:nvSpPr>
        <p:spPr>
          <a:xfrm>
            <a:off x="640080" y="1371600"/>
            <a:ext cx="3931920" cy="457200"/>
          </a:xfrm>
          <a:prstGeom prst="roundRect">
            <a:avLst>
              <a:gd name="adj" fmla="val 40000"/>
            </a:avLst>
          </a:prstGeom>
          <a:solidFill>
            <a:srgbClr val="F6DDC8"/>
          </a:solidFill>
          <a:ln w="25400">
            <a:solidFill>
              <a:srgbClr val="B98E6E"/>
            </a:solidFill>
            <a:prstDash val="solid"/>
          </a:ln>
        </p:spPr>
      </p:sp>
      <p:sp>
        <p:nvSpPr>
          <p:cNvPr id="13" name="Shape 11"/>
          <p:cNvSpPr/>
          <p:nvPr/>
        </p:nvSpPr>
        <p:spPr>
          <a:xfrm>
            <a:off x="4411980" y="1371600"/>
            <a:ext cx="502920" cy="457200"/>
          </a:xfrm>
          <a:prstGeom prst="ellipse">
            <a:avLst/>
          </a:prstGeom>
          <a:solidFill>
            <a:srgbClr val="F6DDC8"/>
          </a:solidFill>
          <a:ln w="25400">
            <a:solidFill>
              <a:srgbClr val="B98E6E"/>
            </a:solidFill>
            <a:prstDash val="solid"/>
          </a:ln>
        </p:spPr>
      </p:sp>
      <p:sp>
        <p:nvSpPr>
          <p:cNvPr id="14" name="Text 12"/>
          <p:cNvSpPr/>
          <p:nvPr/>
        </p:nvSpPr>
        <p:spPr>
          <a:xfrm>
            <a:off x="1554480" y="1389888"/>
            <a:ext cx="2377440" cy="411480"/>
          </a:xfrm>
          <a:prstGeom prst="rect">
            <a:avLst/>
          </a:prstGeom>
          <a:noFill/>
          <a:ln/>
        </p:spPr>
        <p:txBody>
          <a:bodyPr wrap="square" lIns="0" tIns="0" rIns="0" bIns="0" rtlCol="0" anchor="ctr"/>
          <a:lstStyle/>
          <a:p>
            <a:pPr algn="ctr" indent="0" marL="0">
              <a:buNone/>
            </a:pPr>
            <a:r>
              <a:rPr lang="en-US" sz="1050" i="1" dirty="0">
                <a:solidFill>
                  <a:srgbClr val="8A6A3A"/>
                </a:solidFill>
                <a:latin typeface="Calibri" pitchFamily="34" charset="0"/>
                <a:ea typeface="Calibri" pitchFamily="34" charset="-122"/>
                <a:cs typeface="Calibri" pitchFamily="34" charset="-120"/>
              </a:rPr>
              <a:t>patient's arm</a:t>
            </a:r>
            <a:endParaRPr lang="en-US" sz="1050" dirty="0"/>
          </a:p>
        </p:txBody>
      </p:sp>
      <p:sp>
        <p:nvSpPr>
          <p:cNvPr id="15" name="Shape 13"/>
          <p:cNvSpPr/>
          <p:nvPr/>
        </p:nvSpPr>
        <p:spPr>
          <a:xfrm>
            <a:off x="1097280" y="1828800"/>
            <a:ext cx="91" cy="1143000"/>
          </a:xfrm>
          <a:prstGeom prst="line">
            <a:avLst/>
          </a:prstGeom>
          <a:noFill/>
          <a:ln w="101600">
            <a:solidFill>
              <a:srgbClr val="8E2A33"/>
            </a:solidFill>
            <a:prstDash val="solid"/>
          </a:ln>
        </p:spPr>
      </p:sp>
      <p:sp>
        <p:nvSpPr>
          <p:cNvPr id="16" name="Shape 14"/>
          <p:cNvSpPr/>
          <p:nvPr/>
        </p:nvSpPr>
        <p:spPr>
          <a:xfrm>
            <a:off x="1097280" y="2971800"/>
            <a:ext cx="502920" cy="91"/>
          </a:xfrm>
          <a:prstGeom prst="line">
            <a:avLst/>
          </a:prstGeom>
          <a:noFill/>
          <a:ln w="101600">
            <a:solidFill>
              <a:srgbClr val="8E2A33"/>
            </a:solidFill>
            <a:prstDash val="solid"/>
          </a:ln>
        </p:spPr>
      </p:sp>
      <p:sp>
        <p:nvSpPr>
          <p:cNvPr id="17" name="Shape 15"/>
          <p:cNvSpPr/>
          <p:nvPr/>
        </p:nvSpPr>
        <p:spPr>
          <a:xfrm>
            <a:off x="1046480" y="1778000"/>
            <a:ext cx="101600" cy="101600"/>
          </a:xfrm>
          <a:prstGeom prst="ellipse">
            <a:avLst/>
          </a:prstGeom>
          <a:solidFill>
            <a:srgbClr val="8E2A33"/>
          </a:solidFill>
          <a:ln w="12700">
            <a:solidFill>
              <a:srgbClr val="8E2A33"/>
            </a:solidFill>
            <a:prstDash val="solid"/>
          </a:ln>
        </p:spPr>
      </p:sp>
      <p:sp>
        <p:nvSpPr>
          <p:cNvPr id="18" name="Shape 16"/>
          <p:cNvSpPr/>
          <p:nvPr/>
        </p:nvSpPr>
        <p:spPr>
          <a:xfrm>
            <a:off x="1046480" y="2921000"/>
            <a:ext cx="101600" cy="101600"/>
          </a:xfrm>
          <a:prstGeom prst="ellipse">
            <a:avLst/>
          </a:prstGeom>
          <a:solidFill>
            <a:srgbClr val="8E2A33"/>
          </a:solidFill>
          <a:ln w="12700">
            <a:solidFill>
              <a:srgbClr val="8E2A33"/>
            </a:solidFill>
            <a:prstDash val="solid"/>
          </a:ln>
        </p:spPr>
      </p:sp>
      <p:sp>
        <p:nvSpPr>
          <p:cNvPr id="19" name="Shape 17"/>
          <p:cNvSpPr/>
          <p:nvPr/>
        </p:nvSpPr>
        <p:spPr>
          <a:xfrm>
            <a:off x="1549400" y="2921000"/>
            <a:ext cx="101600" cy="101600"/>
          </a:xfrm>
          <a:prstGeom prst="ellipse">
            <a:avLst/>
          </a:prstGeom>
          <a:solidFill>
            <a:srgbClr val="8E2A33"/>
          </a:solidFill>
          <a:ln w="12700">
            <a:solidFill>
              <a:srgbClr val="8E2A33"/>
            </a:solidFill>
            <a:prstDash val="solid"/>
          </a:ln>
        </p:spPr>
      </p:sp>
      <p:sp>
        <p:nvSpPr>
          <p:cNvPr id="20" name="Shape 18"/>
          <p:cNvSpPr/>
          <p:nvPr/>
        </p:nvSpPr>
        <p:spPr>
          <a:xfrm>
            <a:off x="1097280" y="1828800"/>
            <a:ext cx="91" cy="1143000"/>
          </a:xfrm>
          <a:prstGeom prst="line">
            <a:avLst/>
          </a:prstGeom>
          <a:noFill/>
          <a:ln w="63500">
            <a:solidFill>
              <a:srgbClr val="C8414C"/>
            </a:solidFill>
            <a:prstDash val="solid"/>
          </a:ln>
        </p:spPr>
      </p:sp>
      <p:sp>
        <p:nvSpPr>
          <p:cNvPr id="21" name="Shape 19"/>
          <p:cNvSpPr/>
          <p:nvPr/>
        </p:nvSpPr>
        <p:spPr>
          <a:xfrm>
            <a:off x="1097280" y="2971800"/>
            <a:ext cx="502920" cy="91"/>
          </a:xfrm>
          <a:prstGeom prst="line">
            <a:avLst/>
          </a:prstGeom>
          <a:noFill/>
          <a:ln w="63500">
            <a:solidFill>
              <a:srgbClr val="C8414C"/>
            </a:solidFill>
            <a:prstDash val="solid"/>
          </a:ln>
        </p:spPr>
      </p:sp>
      <p:sp>
        <p:nvSpPr>
          <p:cNvPr id="22" name="Shape 20"/>
          <p:cNvSpPr/>
          <p:nvPr/>
        </p:nvSpPr>
        <p:spPr>
          <a:xfrm>
            <a:off x="1065530" y="1797050"/>
            <a:ext cx="63500" cy="63500"/>
          </a:xfrm>
          <a:prstGeom prst="ellipse">
            <a:avLst/>
          </a:prstGeom>
          <a:solidFill>
            <a:srgbClr val="C8414C"/>
          </a:solidFill>
          <a:ln w="12700">
            <a:solidFill>
              <a:srgbClr val="C8414C"/>
            </a:solidFill>
            <a:prstDash val="solid"/>
          </a:ln>
        </p:spPr>
      </p:sp>
      <p:sp>
        <p:nvSpPr>
          <p:cNvPr id="23" name="Shape 21"/>
          <p:cNvSpPr/>
          <p:nvPr/>
        </p:nvSpPr>
        <p:spPr>
          <a:xfrm>
            <a:off x="1065530" y="2940050"/>
            <a:ext cx="63500" cy="63500"/>
          </a:xfrm>
          <a:prstGeom prst="ellipse">
            <a:avLst/>
          </a:prstGeom>
          <a:solidFill>
            <a:srgbClr val="C8414C"/>
          </a:solidFill>
          <a:ln w="12700">
            <a:solidFill>
              <a:srgbClr val="C8414C"/>
            </a:solidFill>
            <a:prstDash val="solid"/>
          </a:ln>
        </p:spPr>
      </p:sp>
      <p:sp>
        <p:nvSpPr>
          <p:cNvPr id="24" name="Shape 22"/>
          <p:cNvSpPr/>
          <p:nvPr/>
        </p:nvSpPr>
        <p:spPr>
          <a:xfrm>
            <a:off x="1568450" y="2940050"/>
            <a:ext cx="63500" cy="63500"/>
          </a:xfrm>
          <a:prstGeom prst="ellipse">
            <a:avLst/>
          </a:prstGeom>
          <a:solidFill>
            <a:srgbClr val="C8414C"/>
          </a:solidFill>
          <a:ln w="12700">
            <a:solidFill>
              <a:srgbClr val="C8414C"/>
            </a:solidFill>
            <a:prstDash val="solid"/>
          </a:ln>
        </p:spPr>
      </p:sp>
      <p:sp>
        <p:nvSpPr>
          <p:cNvPr id="25" name="Shape 23"/>
          <p:cNvSpPr/>
          <p:nvPr/>
        </p:nvSpPr>
        <p:spPr>
          <a:xfrm>
            <a:off x="914400" y="2148840"/>
            <a:ext cx="365760" cy="365760"/>
          </a:xfrm>
          <a:prstGeom prst="ellipse">
            <a:avLst/>
          </a:prstGeom>
          <a:solidFill>
            <a:srgbClr val="E6EBF2"/>
          </a:solidFill>
          <a:ln w="19050">
            <a:solidFill>
              <a:srgbClr val="5A6275"/>
            </a:solidFill>
            <a:prstDash val="solid"/>
          </a:ln>
        </p:spPr>
      </p:sp>
      <p:sp>
        <p:nvSpPr>
          <p:cNvPr id="26" name="Text 24"/>
          <p:cNvSpPr/>
          <p:nvPr/>
        </p:nvSpPr>
        <p:spPr>
          <a:xfrm>
            <a:off x="411480" y="2212848"/>
            <a:ext cx="502920" cy="237744"/>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pump</a:t>
            </a:r>
            <a:endParaRPr lang="en-US" sz="1000" dirty="0"/>
          </a:p>
        </p:txBody>
      </p:sp>
      <p:sp>
        <p:nvSpPr>
          <p:cNvPr id="27" name="Shape 25"/>
          <p:cNvSpPr/>
          <p:nvPr/>
        </p:nvSpPr>
        <p:spPr>
          <a:xfrm>
            <a:off x="1005840" y="2331720"/>
            <a:ext cx="182880" cy="91"/>
          </a:xfrm>
          <a:prstGeom prst="line">
            <a:avLst/>
          </a:prstGeom>
          <a:noFill/>
          <a:ln w="19050">
            <a:solidFill>
              <a:srgbClr val="5A6275"/>
            </a:solidFill>
            <a:prstDash val="solid"/>
          </a:ln>
        </p:spPr>
      </p:sp>
      <p:sp>
        <p:nvSpPr>
          <p:cNvPr id="28" name="Shape 26"/>
          <p:cNvSpPr/>
          <p:nvPr/>
        </p:nvSpPr>
        <p:spPr>
          <a:xfrm>
            <a:off x="1600200" y="2606040"/>
            <a:ext cx="3566160" cy="731520"/>
          </a:xfrm>
          <a:prstGeom prst="roundRect">
            <a:avLst>
              <a:gd name="adj" fmla="val 10000"/>
            </a:avLst>
          </a:prstGeom>
          <a:solidFill>
            <a:srgbClr val="DCEBFA"/>
          </a:solidFill>
          <a:ln w="19050">
            <a:solidFill>
              <a:srgbClr val="2F5F8F"/>
            </a:solidFill>
            <a:prstDash val="solid"/>
          </a:ln>
        </p:spPr>
      </p:sp>
      <p:sp>
        <p:nvSpPr>
          <p:cNvPr id="29" name="Shape 27"/>
          <p:cNvSpPr/>
          <p:nvPr/>
        </p:nvSpPr>
        <p:spPr>
          <a:xfrm>
            <a:off x="1600200" y="2862072"/>
            <a:ext cx="3566160" cy="219456"/>
          </a:xfrm>
          <a:prstGeom prst="rect">
            <a:avLst/>
          </a:prstGeom>
          <a:solidFill>
            <a:srgbClr val="F6C9CC"/>
          </a:solidFill>
          <a:ln w="12700">
            <a:solidFill>
              <a:srgbClr val="C8414C"/>
            </a:solidFill>
            <a:prstDash val="solid"/>
          </a:ln>
        </p:spPr>
      </p:sp>
      <p:sp>
        <p:nvSpPr>
          <p:cNvPr id="30" name="Shape 28"/>
          <p:cNvSpPr/>
          <p:nvPr/>
        </p:nvSpPr>
        <p:spPr>
          <a:xfrm>
            <a:off x="1600200" y="2862072"/>
            <a:ext cx="3566160" cy="91"/>
          </a:xfrm>
          <a:prstGeom prst="line">
            <a:avLst/>
          </a:prstGeom>
          <a:noFill/>
          <a:ln w="12700">
            <a:solidFill>
              <a:srgbClr val="5A6275"/>
            </a:solidFill>
            <a:prstDash val="dash"/>
          </a:ln>
        </p:spPr>
      </p:sp>
      <p:sp>
        <p:nvSpPr>
          <p:cNvPr id="31" name="Shape 29"/>
          <p:cNvSpPr/>
          <p:nvPr/>
        </p:nvSpPr>
        <p:spPr>
          <a:xfrm>
            <a:off x="1600200" y="3081528"/>
            <a:ext cx="3566160" cy="91"/>
          </a:xfrm>
          <a:prstGeom prst="line">
            <a:avLst/>
          </a:prstGeom>
          <a:noFill/>
          <a:ln w="12700">
            <a:solidFill>
              <a:srgbClr val="5A6275"/>
            </a:solidFill>
            <a:prstDash val="dash"/>
          </a:ln>
        </p:spPr>
      </p:sp>
      <p:sp>
        <p:nvSpPr>
          <p:cNvPr id="32" name="Shape 30"/>
          <p:cNvSpPr/>
          <p:nvPr/>
        </p:nvSpPr>
        <p:spPr>
          <a:xfrm>
            <a:off x="2103120" y="2971800"/>
            <a:ext cx="640080" cy="91"/>
          </a:xfrm>
          <a:prstGeom prst="line">
            <a:avLst/>
          </a:prstGeom>
          <a:noFill/>
          <a:ln w="19050">
            <a:solidFill>
              <a:srgbClr val="8E2A33"/>
            </a:solidFill>
            <a:prstDash val="solid"/>
            <a:tailEnd type="triangle"/>
          </a:ln>
        </p:spPr>
      </p:sp>
      <p:sp>
        <p:nvSpPr>
          <p:cNvPr id="33" name="Shape 31"/>
          <p:cNvSpPr/>
          <p:nvPr/>
        </p:nvSpPr>
        <p:spPr>
          <a:xfrm flipH="1">
            <a:off x="3840480" y="2724912"/>
            <a:ext cx="640080" cy="91"/>
          </a:xfrm>
          <a:prstGeom prst="line">
            <a:avLst/>
          </a:prstGeom>
          <a:noFill/>
          <a:ln w="19050">
            <a:solidFill>
              <a:srgbClr val="2F5F8F"/>
            </a:solidFill>
            <a:prstDash val="solid"/>
            <a:tailEnd type="triangle"/>
          </a:ln>
        </p:spPr>
      </p:sp>
      <p:sp>
        <p:nvSpPr>
          <p:cNvPr id="34" name="Shape 32"/>
          <p:cNvSpPr/>
          <p:nvPr/>
        </p:nvSpPr>
        <p:spPr>
          <a:xfrm flipH="1">
            <a:off x="3840480" y="3218688"/>
            <a:ext cx="640080" cy="91"/>
          </a:xfrm>
          <a:prstGeom prst="line">
            <a:avLst/>
          </a:prstGeom>
          <a:noFill/>
          <a:ln w="19050">
            <a:solidFill>
              <a:srgbClr val="2F5F8F"/>
            </a:solidFill>
            <a:prstDash val="solid"/>
            <a:tailEnd type="triangle"/>
          </a:ln>
        </p:spPr>
      </p:sp>
      <p:sp>
        <p:nvSpPr>
          <p:cNvPr id="35" name="Text 33"/>
          <p:cNvSpPr/>
          <p:nvPr/>
        </p:nvSpPr>
        <p:spPr>
          <a:xfrm>
            <a:off x="2743200" y="2377440"/>
            <a:ext cx="1645920" cy="228600"/>
          </a:xfrm>
          <a:prstGeom prst="rect">
            <a:avLst/>
          </a:prstGeom>
          <a:noFill/>
          <a:ln/>
        </p:spPr>
        <p:txBody>
          <a:bodyPr wrap="square" lIns="0" tIns="0" rIns="0" bIns="0" rtlCol="0" anchor="ctr"/>
          <a:lstStyle/>
          <a:p>
            <a:pPr algn="ctr" indent="0" marL="0">
              <a:buNone/>
            </a:pPr>
            <a:r>
              <a:rPr lang="en-US" sz="1050" b="1" dirty="0">
                <a:solidFill>
                  <a:srgbClr val="2F5F8F"/>
                </a:solidFill>
                <a:latin typeface="Calibri" pitchFamily="34" charset="0"/>
                <a:ea typeface="Calibri" pitchFamily="34" charset="-122"/>
                <a:cs typeface="Calibri" pitchFamily="34" charset="-120"/>
              </a:rPr>
              <a:t>dialyser</a:t>
            </a:r>
            <a:endParaRPr lang="en-US" sz="1050" dirty="0"/>
          </a:p>
        </p:txBody>
      </p:sp>
      <p:sp>
        <p:nvSpPr>
          <p:cNvPr id="36" name="Shape 34"/>
          <p:cNvSpPr/>
          <p:nvPr/>
        </p:nvSpPr>
        <p:spPr>
          <a:xfrm>
            <a:off x="5166360" y="2971800"/>
            <a:ext cx="457200" cy="91"/>
          </a:xfrm>
          <a:prstGeom prst="line">
            <a:avLst/>
          </a:prstGeom>
          <a:noFill/>
          <a:ln w="101600">
            <a:solidFill>
              <a:srgbClr val="2C4A80"/>
            </a:solidFill>
            <a:prstDash val="solid"/>
          </a:ln>
        </p:spPr>
      </p:sp>
      <p:sp>
        <p:nvSpPr>
          <p:cNvPr id="37" name="Shape 35"/>
          <p:cNvSpPr/>
          <p:nvPr/>
        </p:nvSpPr>
        <p:spPr>
          <a:xfrm flipV="1">
            <a:off x="5623560" y="2148840"/>
            <a:ext cx="91" cy="822960"/>
          </a:xfrm>
          <a:prstGeom prst="line">
            <a:avLst/>
          </a:prstGeom>
          <a:noFill/>
          <a:ln w="101600">
            <a:solidFill>
              <a:srgbClr val="2C4A80"/>
            </a:solidFill>
            <a:prstDash val="solid"/>
          </a:ln>
        </p:spPr>
      </p:sp>
      <p:sp>
        <p:nvSpPr>
          <p:cNvPr id="38" name="Shape 36"/>
          <p:cNvSpPr/>
          <p:nvPr/>
        </p:nvSpPr>
        <p:spPr>
          <a:xfrm flipH="1">
            <a:off x="3931920" y="2148840"/>
            <a:ext cx="1691640" cy="91"/>
          </a:xfrm>
          <a:prstGeom prst="line">
            <a:avLst/>
          </a:prstGeom>
          <a:noFill/>
          <a:ln w="101600">
            <a:solidFill>
              <a:srgbClr val="2C4A80"/>
            </a:solidFill>
            <a:prstDash val="solid"/>
          </a:ln>
        </p:spPr>
      </p:sp>
      <p:sp>
        <p:nvSpPr>
          <p:cNvPr id="39" name="Shape 37"/>
          <p:cNvSpPr/>
          <p:nvPr/>
        </p:nvSpPr>
        <p:spPr>
          <a:xfrm flipV="1">
            <a:off x="3931920" y="1828800"/>
            <a:ext cx="91" cy="320040"/>
          </a:xfrm>
          <a:prstGeom prst="line">
            <a:avLst/>
          </a:prstGeom>
          <a:noFill/>
          <a:ln w="101600">
            <a:solidFill>
              <a:srgbClr val="2C4A80"/>
            </a:solidFill>
            <a:prstDash val="solid"/>
          </a:ln>
        </p:spPr>
      </p:sp>
      <p:sp>
        <p:nvSpPr>
          <p:cNvPr id="40" name="Shape 38"/>
          <p:cNvSpPr/>
          <p:nvPr/>
        </p:nvSpPr>
        <p:spPr>
          <a:xfrm>
            <a:off x="5115560" y="2921000"/>
            <a:ext cx="101600" cy="101600"/>
          </a:xfrm>
          <a:prstGeom prst="ellipse">
            <a:avLst/>
          </a:prstGeom>
          <a:solidFill>
            <a:srgbClr val="2C4A80"/>
          </a:solidFill>
          <a:ln w="12700">
            <a:solidFill>
              <a:srgbClr val="2C4A80"/>
            </a:solidFill>
            <a:prstDash val="solid"/>
          </a:ln>
        </p:spPr>
      </p:sp>
      <p:sp>
        <p:nvSpPr>
          <p:cNvPr id="41" name="Shape 39"/>
          <p:cNvSpPr/>
          <p:nvPr/>
        </p:nvSpPr>
        <p:spPr>
          <a:xfrm>
            <a:off x="5572760" y="2921000"/>
            <a:ext cx="101600" cy="101600"/>
          </a:xfrm>
          <a:prstGeom prst="ellipse">
            <a:avLst/>
          </a:prstGeom>
          <a:solidFill>
            <a:srgbClr val="2C4A80"/>
          </a:solidFill>
          <a:ln w="12700">
            <a:solidFill>
              <a:srgbClr val="2C4A80"/>
            </a:solidFill>
            <a:prstDash val="solid"/>
          </a:ln>
        </p:spPr>
      </p:sp>
      <p:sp>
        <p:nvSpPr>
          <p:cNvPr id="42" name="Shape 40"/>
          <p:cNvSpPr/>
          <p:nvPr/>
        </p:nvSpPr>
        <p:spPr>
          <a:xfrm>
            <a:off x="5572760" y="2098040"/>
            <a:ext cx="101600" cy="101600"/>
          </a:xfrm>
          <a:prstGeom prst="ellipse">
            <a:avLst/>
          </a:prstGeom>
          <a:solidFill>
            <a:srgbClr val="2C4A80"/>
          </a:solidFill>
          <a:ln w="12700">
            <a:solidFill>
              <a:srgbClr val="2C4A80"/>
            </a:solidFill>
            <a:prstDash val="solid"/>
          </a:ln>
        </p:spPr>
      </p:sp>
      <p:sp>
        <p:nvSpPr>
          <p:cNvPr id="43" name="Shape 41"/>
          <p:cNvSpPr/>
          <p:nvPr/>
        </p:nvSpPr>
        <p:spPr>
          <a:xfrm>
            <a:off x="3881120" y="2098040"/>
            <a:ext cx="101600" cy="101600"/>
          </a:xfrm>
          <a:prstGeom prst="ellipse">
            <a:avLst/>
          </a:prstGeom>
          <a:solidFill>
            <a:srgbClr val="2C4A80"/>
          </a:solidFill>
          <a:ln w="12700">
            <a:solidFill>
              <a:srgbClr val="2C4A80"/>
            </a:solidFill>
            <a:prstDash val="solid"/>
          </a:ln>
        </p:spPr>
      </p:sp>
      <p:sp>
        <p:nvSpPr>
          <p:cNvPr id="44" name="Shape 42"/>
          <p:cNvSpPr/>
          <p:nvPr/>
        </p:nvSpPr>
        <p:spPr>
          <a:xfrm>
            <a:off x="3881120" y="1778000"/>
            <a:ext cx="101600" cy="101600"/>
          </a:xfrm>
          <a:prstGeom prst="ellipse">
            <a:avLst/>
          </a:prstGeom>
          <a:solidFill>
            <a:srgbClr val="2C4A80"/>
          </a:solidFill>
          <a:ln w="12700">
            <a:solidFill>
              <a:srgbClr val="2C4A80"/>
            </a:solidFill>
            <a:prstDash val="solid"/>
          </a:ln>
        </p:spPr>
      </p:sp>
      <p:sp>
        <p:nvSpPr>
          <p:cNvPr id="45" name="Shape 43"/>
          <p:cNvSpPr/>
          <p:nvPr/>
        </p:nvSpPr>
        <p:spPr>
          <a:xfrm>
            <a:off x="5166360" y="2971800"/>
            <a:ext cx="457200" cy="91"/>
          </a:xfrm>
          <a:prstGeom prst="line">
            <a:avLst/>
          </a:prstGeom>
          <a:noFill/>
          <a:ln w="63500">
            <a:solidFill>
              <a:srgbClr val="4A6FB5"/>
            </a:solidFill>
            <a:prstDash val="solid"/>
          </a:ln>
        </p:spPr>
      </p:sp>
      <p:sp>
        <p:nvSpPr>
          <p:cNvPr id="46" name="Shape 44"/>
          <p:cNvSpPr/>
          <p:nvPr/>
        </p:nvSpPr>
        <p:spPr>
          <a:xfrm flipV="1">
            <a:off x="5623560" y="2148840"/>
            <a:ext cx="91" cy="822960"/>
          </a:xfrm>
          <a:prstGeom prst="line">
            <a:avLst/>
          </a:prstGeom>
          <a:noFill/>
          <a:ln w="63500">
            <a:solidFill>
              <a:srgbClr val="4A6FB5"/>
            </a:solidFill>
            <a:prstDash val="solid"/>
          </a:ln>
        </p:spPr>
      </p:sp>
      <p:sp>
        <p:nvSpPr>
          <p:cNvPr id="47" name="Shape 45"/>
          <p:cNvSpPr/>
          <p:nvPr/>
        </p:nvSpPr>
        <p:spPr>
          <a:xfrm flipH="1">
            <a:off x="3931920" y="2148840"/>
            <a:ext cx="1691640" cy="91"/>
          </a:xfrm>
          <a:prstGeom prst="line">
            <a:avLst/>
          </a:prstGeom>
          <a:noFill/>
          <a:ln w="63500">
            <a:solidFill>
              <a:srgbClr val="4A6FB5"/>
            </a:solidFill>
            <a:prstDash val="solid"/>
          </a:ln>
        </p:spPr>
      </p:sp>
      <p:sp>
        <p:nvSpPr>
          <p:cNvPr id="48" name="Shape 46"/>
          <p:cNvSpPr/>
          <p:nvPr/>
        </p:nvSpPr>
        <p:spPr>
          <a:xfrm flipV="1">
            <a:off x="3931920" y="1828800"/>
            <a:ext cx="91" cy="320040"/>
          </a:xfrm>
          <a:prstGeom prst="line">
            <a:avLst/>
          </a:prstGeom>
          <a:noFill/>
          <a:ln w="63500">
            <a:solidFill>
              <a:srgbClr val="4A6FB5"/>
            </a:solidFill>
            <a:prstDash val="solid"/>
          </a:ln>
        </p:spPr>
      </p:sp>
      <p:sp>
        <p:nvSpPr>
          <p:cNvPr id="49" name="Shape 47"/>
          <p:cNvSpPr/>
          <p:nvPr/>
        </p:nvSpPr>
        <p:spPr>
          <a:xfrm>
            <a:off x="5134610" y="2940050"/>
            <a:ext cx="63500" cy="63500"/>
          </a:xfrm>
          <a:prstGeom prst="ellipse">
            <a:avLst/>
          </a:prstGeom>
          <a:solidFill>
            <a:srgbClr val="4A6FB5"/>
          </a:solidFill>
          <a:ln w="12700">
            <a:solidFill>
              <a:srgbClr val="4A6FB5"/>
            </a:solidFill>
            <a:prstDash val="solid"/>
          </a:ln>
        </p:spPr>
      </p:sp>
      <p:sp>
        <p:nvSpPr>
          <p:cNvPr id="50" name="Shape 48"/>
          <p:cNvSpPr/>
          <p:nvPr/>
        </p:nvSpPr>
        <p:spPr>
          <a:xfrm>
            <a:off x="5591810" y="2940050"/>
            <a:ext cx="63500" cy="63500"/>
          </a:xfrm>
          <a:prstGeom prst="ellipse">
            <a:avLst/>
          </a:prstGeom>
          <a:solidFill>
            <a:srgbClr val="4A6FB5"/>
          </a:solidFill>
          <a:ln w="12700">
            <a:solidFill>
              <a:srgbClr val="4A6FB5"/>
            </a:solidFill>
            <a:prstDash val="solid"/>
          </a:ln>
        </p:spPr>
      </p:sp>
      <p:sp>
        <p:nvSpPr>
          <p:cNvPr id="51" name="Shape 49"/>
          <p:cNvSpPr/>
          <p:nvPr/>
        </p:nvSpPr>
        <p:spPr>
          <a:xfrm>
            <a:off x="5591810" y="2117090"/>
            <a:ext cx="63500" cy="63500"/>
          </a:xfrm>
          <a:prstGeom prst="ellipse">
            <a:avLst/>
          </a:prstGeom>
          <a:solidFill>
            <a:srgbClr val="4A6FB5"/>
          </a:solidFill>
          <a:ln w="12700">
            <a:solidFill>
              <a:srgbClr val="4A6FB5"/>
            </a:solidFill>
            <a:prstDash val="solid"/>
          </a:ln>
        </p:spPr>
      </p:sp>
      <p:sp>
        <p:nvSpPr>
          <p:cNvPr id="52" name="Shape 50"/>
          <p:cNvSpPr/>
          <p:nvPr/>
        </p:nvSpPr>
        <p:spPr>
          <a:xfrm>
            <a:off x="3900170" y="2117090"/>
            <a:ext cx="63500" cy="63500"/>
          </a:xfrm>
          <a:prstGeom prst="ellipse">
            <a:avLst/>
          </a:prstGeom>
          <a:solidFill>
            <a:srgbClr val="4A6FB5"/>
          </a:solidFill>
          <a:ln w="12700">
            <a:solidFill>
              <a:srgbClr val="4A6FB5"/>
            </a:solidFill>
            <a:prstDash val="solid"/>
          </a:ln>
        </p:spPr>
      </p:sp>
      <p:sp>
        <p:nvSpPr>
          <p:cNvPr id="53" name="Shape 51"/>
          <p:cNvSpPr/>
          <p:nvPr/>
        </p:nvSpPr>
        <p:spPr>
          <a:xfrm>
            <a:off x="3900170" y="1797050"/>
            <a:ext cx="63500" cy="63500"/>
          </a:xfrm>
          <a:prstGeom prst="ellipse">
            <a:avLst/>
          </a:prstGeom>
          <a:solidFill>
            <a:srgbClr val="4A6FB5"/>
          </a:solidFill>
          <a:ln w="12700">
            <a:solidFill>
              <a:srgbClr val="4A6FB5"/>
            </a:solidFill>
            <a:prstDash val="solid"/>
          </a:ln>
        </p:spPr>
      </p:sp>
      <p:sp>
        <p:nvSpPr>
          <p:cNvPr id="54" name="Text 52"/>
          <p:cNvSpPr/>
          <p:nvPr/>
        </p:nvSpPr>
        <p:spPr>
          <a:xfrm>
            <a:off x="4114800" y="1874520"/>
            <a:ext cx="1463040" cy="274320"/>
          </a:xfrm>
          <a:prstGeom prst="rect">
            <a:avLst/>
          </a:prstGeom>
          <a:noFill/>
          <a:ln/>
        </p:spPr>
        <p:txBody>
          <a:bodyPr wrap="square" lIns="0" tIns="0" rIns="0" bIns="0" rtlCol="0" anchor="ctr"/>
          <a:lstStyle/>
          <a:p>
            <a:pPr algn="l" indent="0" marL="0">
              <a:buNone/>
            </a:pPr>
            <a:r>
              <a:rPr lang="en-US" sz="1000" dirty="0">
                <a:solidFill>
                  <a:srgbClr val="2C4A80"/>
                </a:solidFill>
                <a:latin typeface="Calibri" pitchFamily="34" charset="0"/>
                <a:ea typeface="Calibri" pitchFamily="34" charset="-122"/>
                <a:cs typeface="Calibri" pitchFamily="34" charset="-120"/>
              </a:rPr>
              <a:t>cleaned blood back to a vein</a:t>
            </a:r>
            <a:endParaRPr lang="en-US" sz="1000" dirty="0"/>
          </a:p>
        </p:txBody>
      </p:sp>
      <p:sp>
        <p:nvSpPr>
          <p:cNvPr id="55" name="Text 53"/>
          <p:cNvSpPr/>
          <p:nvPr/>
        </p:nvSpPr>
        <p:spPr>
          <a:xfrm>
            <a:off x="1234440" y="1874520"/>
            <a:ext cx="1371600" cy="274320"/>
          </a:xfrm>
          <a:prstGeom prst="rect">
            <a:avLst/>
          </a:prstGeom>
          <a:noFill/>
          <a:ln/>
        </p:spPr>
        <p:txBody>
          <a:bodyPr wrap="square" lIns="0" tIns="0" rIns="0" bIns="0" rtlCol="0" anchor="ctr"/>
          <a:lstStyle/>
          <a:p>
            <a:pPr algn="l" indent="0" marL="0">
              <a:buNone/>
            </a:pPr>
            <a:r>
              <a:rPr lang="en-US" sz="1000" dirty="0">
                <a:solidFill>
                  <a:srgbClr val="8E2A33"/>
                </a:solidFill>
                <a:latin typeface="Calibri" pitchFamily="34" charset="0"/>
                <a:ea typeface="Calibri" pitchFamily="34" charset="-122"/>
                <a:cs typeface="Calibri" pitchFamily="34" charset="-120"/>
              </a:rPr>
              <a:t>blood out</a:t>
            </a:r>
            <a:endParaRPr lang="en-US" sz="1000" dirty="0"/>
          </a:p>
        </p:txBody>
      </p:sp>
      <p:sp>
        <p:nvSpPr>
          <p:cNvPr id="56" name="Shape 54"/>
          <p:cNvSpPr/>
          <p:nvPr/>
        </p:nvSpPr>
        <p:spPr>
          <a:xfrm flipV="1">
            <a:off x="4937760" y="3355848"/>
            <a:ext cx="91" cy="347472"/>
          </a:xfrm>
          <a:prstGeom prst="line">
            <a:avLst/>
          </a:prstGeom>
          <a:noFill/>
          <a:ln w="25400">
            <a:solidFill>
              <a:srgbClr val="2F5F8F"/>
            </a:solidFill>
            <a:prstDash val="solid"/>
            <a:tailEnd type="triangle"/>
          </a:ln>
        </p:spPr>
      </p:sp>
      <p:sp>
        <p:nvSpPr>
          <p:cNvPr id="57" name="Text 55"/>
          <p:cNvSpPr/>
          <p:nvPr/>
        </p:nvSpPr>
        <p:spPr>
          <a:xfrm>
            <a:off x="4023360" y="3703320"/>
            <a:ext cx="1737360" cy="228600"/>
          </a:xfrm>
          <a:prstGeom prst="rect">
            <a:avLst/>
          </a:prstGeom>
          <a:noFill/>
          <a:ln/>
        </p:spPr>
        <p:txBody>
          <a:bodyPr wrap="square" lIns="0" tIns="0" rIns="0" bIns="0" rtlCol="0" anchor="ctr"/>
          <a:lstStyle/>
          <a:p>
            <a:pPr algn="l" indent="0" marL="0">
              <a:buNone/>
            </a:pPr>
            <a:r>
              <a:rPr lang="en-US" sz="1000" dirty="0">
                <a:solidFill>
                  <a:srgbClr val="2F5F8F"/>
                </a:solidFill>
                <a:latin typeface="Calibri" pitchFamily="34" charset="0"/>
                <a:ea typeface="Calibri" pitchFamily="34" charset="-122"/>
                <a:cs typeface="Calibri" pitchFamily="34" charset="-120"/>
              </a:rPr>
              <a:t>fresh dialysis fluid in</a:t>
            </a:r>
            <a:endParaRPr lang="en-US" sz="1000" dirty="0"/>
          </a:p>
        </p:txBody>
      </p:sp>
      <p:sp>
        <p:nvSpPr>
          <p:cNvPr id="58" name="Shape 56"/>
          <p:cNvSpPr/>
          <p:nvPr/>
        </p:nvSpPr>
        <p:spPr>
          <a:xfrm>
            <a:off x="1828800" y="3355848"/>
            <a:ext cx="91" cy="347472"/>
          </a:xfrm>
          <a:prstGeom prst="line">
            <a:avLst/>
          </a:prstGeom>
          <a:noFill/>
          <a:ln w="25400">
            <a:solidFill>
              <a:srgbClr val="6B7385"/>
            </a:solidFill>
            <a:prstDash val="solid"/>
            <a:tailEnd type="triangle"/>
          </a:ln>
        </p:spPr>
      </p:sp>
      <p:sp>
        <p:nvSpPr>
          <p:cNvPr id="59" name="Text 57"/>
          <p:cNvSpPr/>
          <p:nvPr/>
        </p:nvSpPr>
        <p:spPr>
          <a:xfrm>
            <a:off x="1051560" y="3703320"/>
            <a:ext cx="1737360" cy="228600"/>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used fluid out</a:t>
            </a:r>
            <a:endParaRPr lang="en-US" sz="1000" dirty="0"/>
          </a:p>
        </p:txBody>
      </p:sp>
      <p:sp>
        <p:nvSpPr>
          <p:cNvPr id="60" name="Shape 58"/>
          <p:cNvSpPr/>
          <p:nvPr/>
        </p:nvSpPr>
        <p:spPr>
          <a:xfrm>
            <a:off x="640080" y="4023360"/>
            <a:ext cx="5120640" cy="1280160"/>
          </a:xfrm>
          <a:prstGeom prst="roundRect">
            <a:avLst>
              <a:gd name="adj" fmla="val 3571"/>
            </a:avLst>
          </a:prstGeom>
          <a:solidFill>
            <a:srgbClr val="FFFFFF"/>
          </a:solidFill>
          <a:ln w="12700">
            <a:solidFill>
              <a:srgbClr val="D2E5D8"/>
            </a:solidFill>
            <a:prstDash val="solid"/>
          </a:ln>
        </p:spPr>
      </p:sp>
      <p:sp>
        <p:nvSpPr>
          <p:cNvPr id="61" name="Shape 59"/>
          <p:cNvSpPr/>
          <p:nvPr/>
        </p:nvSpPr>
        <p:spPr>
          <a:xfrm>
            <a:off x="731520" y="4096512"/>
            <a:ext cx="4937760" cy="411480"/>
          </a:xfrm>
          <a:prstGeom prst="rect">
            <a:avLst/>
          </a:prstGeom>
          <a:solidFill>
            <a:srgbClr val="F6C9CC"/>
          </a:solidFill>
          <a:ln/>
        </p:spPr>
      </p:sp>
      <p:sp>
        <p:nvSpPr>
          <p:cNvPr id="62" name="Shape 60"/>
          <p:cNvSpPr/>
          <p:nvPr/>
        </p:nvSpPr>
        <p:spPr>
          <a:xfrm>
            <a:off x="731520" y="4599432"/>
            <a:ext cx="4937760" cy="411480"/>
          </a:xfrm>
          <a:prstGeom prst="rect">
            <a:avLst/>
          </a:prstGeom>
          <a:solidFill>
            <a:srgbClr val="DCEBFA"/>
          </a:solidFill>
          <a:ln/>
        </p:spPr>
      </p:sp>
      <p:sp>
        <p:nvSpPr>
          <p:cNvPr id="63" name="Shape 61"/>
          <p:cNvSpPr/>
          <p:nvPr/>
        </p:nvSpPr>
        <p:spPr>
          <a:xfrm>
            <a:off x="731520" y="4553712"/>
            <a:ext cx="4937760" cy="91"/>
          </a:xfrm>
          <a:prstGeom prst="line">
            <a:avLst/>
          </a:prstGeom>
          <a:noFill/>
          <a:ln w="25400">
            <a:solidFill>
              <a:srgbClr val="1C3A2C"/>
            </a:solidFill>
            <a:prstDash val="sysDash"/>
          </a:ln>
        </p:spPr>
      </p:sp>
      <p:sp>
        <p:nvSpPr>
          <p:cNvPr id="64" name="Text 62"/>
          <p:cNvSpPr/>
          <p:nvPr/>
        </p:nvSpPr>
        <p:spPr>
          <a:xfrm>
            <a:off x="777240" y="4096512"/>
            <a:ext cx="822960" cy="201168"/>
          </a:xfrm>
          <a:prstGeom prst="rect">
            <a:avLst/>
          </a:prstGeom>
          <a:noFill/>
          <a:ln/>
        </p:spPr>
        <p:txBody>
          <a:bodyPr wrap="square" lIns="0" tIns="0" rIns="0" bIns="0" rtlCol="0" anchor="ctr"/>
          <a:lstStyle/>
          <a:p>
            <a:pPr algn="l" indent="0" marL="0">
              <a:buNone/>
            </a:pPr>
            <a:r>
              <a:rPr lang="en-US" sz="1000" i="1" dirty="0">
                <a:solidFill>
                  <a:srgbClr val="8E2A33"/>
                </a:solidFill>
                <a:latin typeface="Calibri" pitchFamily="34" charset="0"/>
                <a:ea typeface="Calibri" pitchFamily="34" charset="-122"/>
                <a:cs typeface="Calibri" pitchFamily="34" charset="-120"/>
              </a:rPr>
              <a:t>blood</a:t>
            </a:r>
            <a:endParaRPr lang="en-US" sz="1000" dirty="0"/>
          </a:p>
        </p:txBody>
      </p:sp>
      <p:sp>
        <p:nvSpPr>
          <p:cNvPr id="65" name="Text 63"/>
          <p:cNvSpPr/>
          <p:nvPr/>
        </p:nvSpPr>
        <p:spPr>
          <a:xfrm>
            <a:off x="777240" y="4800600"/>
            <a:ext cx="1005840" cy="201168"/>
          </a:xfrm>
          <a:prstGeom prst="rect">
            <a:avLst/>
          </a:prstGeom>
          <a:noFill/>
          <a:ln/>
        </p:spPr>
        <p:txBody>
          <a:bodyPr wrap="square" lIns="0" tIns="0" rIns="0" bIns="0" rtlCol="0" anchor="ctr"/>
          <a:lstStyle/>
          <a:p>
            <a:pPr algn="l" indent="0" marL="0">
              <a:buNone/>
            </a:pPr>
            <a:r>
              <a:rPr lang="en-US" sz="1000" i="1" dirty="0">
                <a:solidFill>
                  <a:srgbClr val="2F5F8F"/>
                </a:solidFill>
                <a:latin typeface="Calibri" pitchFamily="34" charset="0"/>
                <a:ea typeface="Calibri" pitchFamily="34" charset="-122"/>
                <a:cs typeface="Calibri" pitchFamily="34" charset="-120"/>
              </a:rPr>
              <a:t>dialysis fluid</a:t>
            </a:r>
            <a:endParaRPr lang="en-US" sz="1000" dirty="0"/>
          </a:p>
        </p:txBody>
      </p:sp>
      <p:sp>
        <p:nvSpPr>
          <p:cNvPr id="66" name="Shape 64"/>
          <p:cNvSpPr/>
          <p:nvPr/>
        </p:nvSpPr>
        <p:spPr>
          <a:xfrm>
            <a:off x="2103120" y="4206240"/>
            <a:ext cx="91" cy="685800"/>
          </a:xfrm>
          <a:prstGeom prst="line">
            <a:avLst/>
          </a:prstGeom>
          <a:noFill/>
          <a:ln w="25400">
            <a:solidFill>
              <a:srgbClr val="8A6A0A"/>
            </a:solidFill>
            <a:prstDash val="solid"/>
            <a:tailEnd type="triangle"/>
          </a:ln>
        </p:spPr>
      </p:sp>
      <p:sp>
        <p:nvSpPr>
          <p:cNvPr id="67" name="Text 65"/>
          <p:cNvSpPr/>
          <p:nvPr/>
        </p:nvSpPr>
        <p:spPr>
          <a:xfrm>
            <a:off x="2194560" y="4206240"/>
            <a:ext cx="914400" cy="228600"/>
          </a:xfrm>
          <a:prstGeom prst="rect">
            <a:avLst/>
          </a:prstGeom>
          <a:noFill/>
          <a:ln/>
        </p:spPr>
        <p:txBody>
          <a:bodyPr wrap="square" lIns="0" tIns="0" rIns="0" bIns="0" rtlCol="0" anchor="ctr"/>
          <a:lstStyle/>
          <a:p>
            <a:pPr algn="l" indent="0" marL="0">
              <a:buNone/>
            </a:pPr>
            <a:r>
              <a:rPr lang="en-US" sz="1000" b="1" dirty="0">
                <a:solidFill>
                  <a:srgbClr val="8A6A0A"/>
                </a:solidFill>
                <a:latin typeface="Calibri" pitchFamily="34" charset="0"/>
                <a:ea typeface="Calibri" pitchFamily="34" charset="-122"/>
                <a:cs typeface="Calibri" pitchFamily="34" charset="-120"/>
              </a:rPr>
              <a:t>urea</a:t>
            </a:r>
            <a:r>
              <a:rPr lang="en-US" sz="1000" dirty="0">
                <a:solidFill>
                  <a:srgbClr val="8A6A0A"/>
                </a:solidFill>
                <a:latin typeface="Calibri" pitchFamily="34" charset="0"/>
                <a:ea typeface="Calibri" pitchFamily="34" charset="-122"/>
                <a:cs typeface="Calibri" pitchFamily="34" charset="-120"/>
              </a:rPr>
              <a:t> out</a:t>
            </a:r>
            <a:endParaRPr lang="en-US" sz="1000" dirty="0"/>
          </a:p>
        </p:txBody>
      </p:sp>
      <p:sp>
        <p:nvSpPr>
          <p:cNvPr id="68" name="Shape 66"/>
          <p:cNvSpPr/>
          <p:nvPr/>
        </p:nvSpPr>
        <p:spPr>
          <a:xfrm>
            <a:off x="3291840" y="4206240"/>
            <a:ext cx="91" cy="685800"/>
          </a:xfrm>
          <a:prstGeom prst="line">
            <a:avLst/>
          </a:prstGeom>
          <a:noFill/>
          <a:ln w="25400">
            <a:solidFill>
              <a:srgbClr val="6B7385"/>
            </a:solidFill>
            <a:prstDash val="solid"/>
            <a:tailEnd type="triangle"/>
          </a:ln>
        </p:spPr>
      </p:sp>
      <p:sp>
        <p:nvSpPr>
          <p:cNvPr id="69" name="Text 67"/>
          <p:cNvSpPr/>
          <p:nvPr/>
        </p:nvSpPr>
        <p:spPr>
          <a:xfrm>
            <a:off x="3383280" y="4206240"/>
            <a:ext cx="1097280" cy="228600"/>
          </a:xfrm>
          <a:prstGeom prst="rect">
            <a:avLst/>
          </a:prstGeom>
          <a:noFill/>
          <a:ln/>
        </p:spPr>
        <p:txBody>
          <a:bodyPr wrap="square" lIns="0" tIns="0" rIns="0" bIns="0" rtlCol="0" anchor="ctr"/>
          <a:lstStyle/>
          <a:p>
            <a:pPr algn="l" indent="0" marL="0">
              <a:buNone/>
            </a:pPr>
            <a:r>
              <a:rPr lang="en-US" sz="1000" b="1" dirty="0">
                <a:solidFill>
                  <a:srgbClr val="6B7385"/>
                </a:solidFill>
                <a:latin typeface="Calibri" pitchFamily="34" charset="0"/>
                <a:ea typeface="Calibri" pitchFamily="34" charset="-122"/>
                <a:cs typeface="Calibri" pitchFamily="34" charset="-120"/>
              </a:rPr>
              <a:t>excess ions</a:t>
            </a:r>
            <a:r>
              <a:rPr lang="en-US" sz="1000" dirty="0">
                <a:solidFill>
                  <a:srgbClr val="6B7385"/>
                </a:solidFill>
                <a:latin typeface="Calibri" pitchFamily="34" charset="0"/>
                <a:ea typeface="Calibri" pitchFamily="34" charset="-122"/>
                <a:cs typeface="Calibri" pitchFamily="34" charset="-120"/>
              </a:rPr>
              <a:t> out</a:t>
            </a:r>
            <a:endParaRPr lang="en-US" sz="1000" dirty="0"/>
          </a:p>
        </p:txBody>
      </p:sp>
      <p:sp>
        <p:nvSpPr>
          <p:cNvPr id="70" name="Shape 68"/>
          <p:cNvSpPr/>
          <p:nvPr/>
        </p:nvSpPr>
        <p:spPr>
          <a:xfrm>
            <a:off x="4654296" y="4197096"/>
            <a:ext cx="201168" cy="201168"/>
          </a:xfrm>
          <a:prstGeom prst="ellipse">
            <a:avLst/>
          </a:prstGeom>
          <a:solidFill>
            <a:srgbClr val="D9534F"/>
          </a:solidFill>
          <a:ln w="9525">
            <a:solidFill>
              <a:srgbClr val="8E2A33"/>
            </a:solidFill>
            <a:prstDash val="solid"/>
          </a:ln>
        </p:spPr>
      </p:sp>
      <p:sp>
        <p:nvSpPr>
          <p:cNvPr id="71" name="Shape 69"/>
          <p:cNvSpPr/>
          <p:nvPr/>
        </p:nvSpPr>
        <p:spPr>
          <a:xfrm>
            <a:off x="4983480" y="4219956"/>
            <a:ext cx="274320" cy="155448"/>
          </a:xfrm>
          <a:prstGeom prst="ellipse">
            <a:avLst/>
          </a:prstGeom>
          <a:solidFill>
            <a:srgbClr val="B39DDB"/>
          </a:solidFill>
          <a:ln w="12700">
            <a:solidFill>
              <a:srgbClr val="5E2D73"/>
            </a:solidFill>
            <a:prstDash val="solid"/>
          </a:ln>
        </p:spPr>
      </p:sp>
      <p:sp>
        <p:nvSpPr>
          <p:cNvPr id="72" name="Text 70"/>
          <p:cNvSpPr/>
          <p:nvPr/>
        </p:nvSpPr>
        <p:spPr>
          <a:xfrm>
            <a:off x="4343400" y="5010912"/>
            <a:ext cx="1371600" cy="228600"/>
          </a:xfrm>
          <a:prstGeom prst="rect">
            <a:avLst/>
          </a:prstGeom>
          <a:noFill/>
          <a:ln/>
        </p:spPr>
        <p:txBody>
          <a:bodyPr wrap="square" lIns="0" tIns="0" rIns="0" bIns="0" rtlCol="0" anchor="ctr"/>
          <a:lstStyle/>
          <a:p>
            <a:pPr algn="ctr" indent="0" marL="0">
              <a:buNone/>
            </a:pPr>
            <a:r>
              <a:rPr lang="en-US" sz="1000" dirty="0">
                <a:solidFill>
                  <a:srgbClr val="C8414C"/>
                </a:solidFill>
                <a:latin typeface="Calibri" pitchFamily="34" charset="0"/>
                <a:ea typeface="Calibri" pitchFamily="34" charset="-122"/>
                <a:cs typeface="Calibri" pitchFamily="34" charset="-120"/>
              </a:rPr>
              <a:t>cells, protein stay</a:t>
            </a:r>
            <a:endParaRPr lang="en-US" sz="1000" dirty="0"/>
          </a:p>
        </p:txBody>
      </p:sp>
      <p:sp>
        <p:nvSpPr>
          <p:cNvPr id="73" name="Text 71"/>
          <p:cNvSpPr/>
          <p:nvPr/>
        </p:nvSpPr>
        <p:spPr>
          <a:xfrm>
            <a:off x="731520" y="5056632"/>
            <a:ext cx="3566160" cy="228600"/>
          </a:xfrm>
          <a:prstGeom prst="rect">
            <a:avLst/>
          </a:prstGeom>
          <a:noFill/>
          <a:ln/>
        </p:spPr>
        <p:txBody>
          <a:bodyPr wrap="square" lIns="0" tIns="0" rIns="0" bIns="0" rtlCol="0" anchor="ctr"/>
          <a:lstStyle/>
          <a:p>
            <a:pPr algn="l" indent="0" marL="0">
              <a:buNone/>
            </a:pPr>
            <a:r>
              <a:rPr lang="en-US" sz="1000" i="1" dirty="0">
                <a:solidFill>
                  <a:srgbClr val="3B7DD8"/>
                </a:solidFill>
                <a:latin typeface="Calibri" pitchFamily="34" charset="0"/>
                <a:ea typeface="Calibri" pitchFamily="34" charset="-122"/>
                <a:cs typeface="Calibri" pitchFamily="34" charset="-120"/>
              </a:rPr>
              <a:t>glucose: same concentration in both → no net loss</a:t>
            </a:r>
            <a:endParaRPr lang="en-US" sz="1000" dirty="0"/>
          </a:p>
        </p:txBody>
      </p:sp>
      <p:sp>
        <p:nvSpPr>
          <p:cNvPr id="74" name="Shape 72"/>
          <p:cNvSpPr/>
          <p:nvPr/>
        </p:nvSpPr>
        <p:spPr>
          <a:xfrm>
            <a:off x="6217920" y="1188720"/>
            <a:ext cx="5562295" cy="2560320"/>
          </a:xfrm>
          <a:prstGeom prst="roundRect">
            <a:avLst>
              <a:gd name="adj" fmla="val 2143"/>
            </a:avLst>
          </a:prstGeom>
          <a:solidFill>
            <a:srgbClr val="F5FBF7"/>
          </a:solidFill>
          <a:ln w="9525">
            <a:solidFill>
              <a:srgbClr val="D2E5D8"/>
            </a:solidFill>
            <a:prstDash val="solid"/>
          </a:ln>
        </p:spPr>
      </p:sp>
      <p:sp>
        <p:nvSpPr>
          <p:cNvPr id="75" name="Text 7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How dialysis works</a:t>
            </a:r>
            <a:endParaRPr lang="en-US" sz="1300" dirty="0"/>
          </a:p>
        </p:txBody>
      </p:sp>
      <p:sp>
        <p:nvSpPr>
          <p:cNvPr id="76" name="Text 74"/>
          <p:cNvSpPr/>
          <p:nvPr/>
        </p:nvSpPr>
        <p:spPr>
          <a:xfrm>
            <a:off x="6382512" y="1609344"/>
            <a:ext cx="5233111" cy="20665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Kidney failure: urea, excess ions and water build up in the blood – this can be fatal.</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In </a:t>
            </a:r>
            <a:r>
              <a:rPr lang="en-US" sz="1050" b="1" dirty="0">
                <a:solidFill>
                  <a:srgbClr val="262B3A"/>
                </a:solidFill>
                <a:latin typeface="Calibri" pitchFamily="34" charset="0"/>
                <a:ea typeface="Calibri" pitchFamily="34" charset="-122"/>
                <a:cs typeface="Calibri" pitchFamily="34" charset="-120"/>
              </a:rPr>
              <a:t>dialysis</a:t>
            </a:r>
            <a:r>
              <a:rPr lang="en-US" sz="1050" dirty="0">
                <a:solidFill>
                  <a:srgbClr val="262B3A"/>
                </a:solidFill>
                <a:latin typeface="Calibri" pitchFamily="34" charset="0"/>
                <a:ea typeface="Calibri" pitchFamily="34" charset="-122"/>
                <a:cs typeface="Calibri" pitchFamily="34" charset="-120"/>
              </a:rPr>
              <a:t>, blood flows past a </a:t>
            </a:r>
            <a:r>
              <a:rPr lang="en-US" sz="1050" b="1" dirty="0">
                <a:solidFill>
                  <a:srgbClr val="262B3A"/>
                </a:solidFill>
                <a:latin typeface="Calibri" pitchFamily="34" charset="0"/>
                <a:ea typeface="Calibri" pitchFamily="34" charset="-122"/>
                <a:cs typeface="Calibri" pitchFamily="34" charset="-120"/>
              </a:rPr>
              <a:t>partially permeable membrane</a:t>
            </a:r>
            <a:r>
              <a:rPr lang="en-US" sz="1050" dirty="0">
                <a:solidFill>
                  <a:srgbClr val="262B3A"/>
                </a:solidFill>
                <a:latin typeface="Calibri" pitchFamily="34" charset="0"/>
                <a:ea typeface="Calibri" pitchFamily="34" charset="-122"/>
                <a:cs typeface="Calibri" pitchFamily="34" charset="-120"/>
              </a:rPr>
              <a:t>. Urea and excess ions </a:t>
            </a:r>
            <a:r>
              <a:rPr lang="en-US" sz="1050" b="1" dirty="0">
                <a:solidFill>
                  <a:srgbClr val="262B3A"/>
                </a:solidFill>
                <a:latin typeface="Calibri" pitchFamily="34" charset="0"/>
                <a:ea typeface="Calibri" pitchFamily="34" charset="-122"/>
                <a:cs typeface="Calibri" pitchFamily="34" charset="-120"/>
              </a:rPr>
              <a:t>diffuse</a:t>
            </a:r>
            <a:r>
              <a:rPr lang="en-US" sz="1050" dirty="0">
                <a:solidFill>
                  <a:srgbClr val="262B3A"/>
                </a:solidFill>
                <a:latin typeface="Calibri" pitchFamily="34" charset="0"/>
                <a:ea typeface="Calibri" pitchFamily="34" charset="-122"/>
                <a:cs typeface="Calibri" pitchFamily="34" charset="-120"/>
              </a:rPr>
              <a:t> out into the dialysis fluid.</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fluid has the </a:t>
            </a:r>
            <a:r>
              <a:rPr lang="en-US" sz="1050" b="1" dirty="0">
                <a:solidFill>
                  <a:srgbClr val="262B3A"/>
                </a:solidFill>
                <a:latin typeface="Calibri" pitchFamily="34" charset="0"/>
                <a:ea typeface="Calibri" pitchFamily="34" charset="-122"/>
                <a:cs typeface="Calibri" pitchFamily="34" charset="-120"/>
              </a:rPr>
              <a:t>same glucose and normal ion concentrations</a:t>
            </a:r>
            <a:r>
              <a:rPr lang="en-US" sz="1050" dirty="0">
                <a:solidFill>
                  <a:srgbClr val="262B3A"/>
                </a:solidFill>
                <a:latin typeface="Calibri" pitchFamily="34" charset="0"/>
                <a:ea typeface="Calibri" pitchFamily="34" charset="-122"/>
                <a:cs typeface="Calibri" pitchFamily="34" charset="-120"/>
              </a:rPr>
              <a:t> as healthy plasma, so useful substances are not lost.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Flows in </a:t>
            </a:r>
            <a:r>
              <a:rPr lang="en-US" sz="1050" b="1" dirty="0">
                <a:solidFill>
                  <a:srgbClr val="262B3A"/>
                </a:solidFill>
                <a:latin typeface="Calibri" pitchFamily="34" charset="0"/>
                <a:ea typeface="Calibri" pitchFamily="34" charset="-122"/>
                <a:cs typeface="Calibri" pitchFamily="34" charset="-120"/>
              </a:rPr>
              <a:t>opposite directions</a:t>
            </a:r>
            <a:r>
              <a:rPr lang="en-US" sz="1050" dirty="0">
                <a:solidFill>
                  <a:srgbClr val="262B3A"/>
                </a:solidFill>
                <a:latin typeface="Calibri" pitchFamily="34" charset="0"/>
                <a:ea typeface="Calibri" pitchFamily="34" charset="-122"/>
                <a:cs typeface="Calibri" pitchFamily="34" charset="-120"/>
              </a:rPr>
              <a:t> keep a concentration gradient along the whole membrane.</a:t>
            </a:r>
            <a:endParaRPr lang="en-US" sz="1050" dirty="0"/>
          </a:p>
        </p:txBody>
      </p:sp>
      <p:sp>
        <p:nvSpPr>
          <p:cNvPr id="77" name="Shape 75"/>
          <p:cNvSpPr/>
          <p:nvPr/>
        </p:nvSpPr>
        <p:spPr>
          <a:xfrm>
            <a:off x="6217920" y="3886200"/>
            <a:ext cx="5562295" cy="1828800"/>
          </a:xfrm>
          <a:prstGeom prst="roundRect">
            <a:avLst>
              <a:gd name="adj" fmla="val 3000"/>
            </a:avLst>
          </a:prstGeom>
          <a:solidFill>
            <a:srgbClr val="FFF4E0"/>
          </a:solidFill>
          <a:ln w="9525">
            <a:solidFill>
              <a:srgbClr val="F1D9A8"/>
            </a:solidFill>
            <a:prstDash val="solid"/>
          </a:ln>
        </p:spPr>
      </p:sp>
      <p:sp>
        <p:nvSpPr>
          <p:cNvPr id="78" name="Text 76"/>
          <p:cNvSpPr/>
          <p:nvPr/>
        </p:nvSpPr>
        <p:spPr>
          <a:xfrm>
            <a:off x="6382512" y="39593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Living with dialysis</a:t>
            </a:r>
            <a:endParaRPr lang="en-US" sz="1300" dirty="0"/>
          </a:p>
        </p:txBody>
      </p:sp>
      <p:sp>
        <p:nvSpPr>
          <p:cNvPr id="79" name="Text 77"/>
          <p:cNvSpPr/>
          <p:nvPr/>
        </p:nvSpPr>
        <p:spPr>
          <a:xfrm>
            <a:off x="6382512" y="4270248"/>
            <a:ext cx="5233111" cy="1371600"/>
          </a:xfrm>
          <a:prstGeom prst="rect">
            <a:avLst/>
          </a:prstGeom>
          <a:noFill/>
          <a:ln/>
        </p:spPr>
        <p:txBody>
          <a:bodyPr wrap="square" lIns="0" tIns="0" rIns="0" bIns="0" rtlCol="0" anchor="t"/>
          <a:lstStyle/>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1 Time   </a:t>
            </a:r>
            <a:r>
              <a:rPr lang="en-US" sz="1050" dirty="0">
                <a:solidFill>
                  <a:srgbClr val="262B3A"/>
                </a:solidFill>
                <a:latin typeface="Calibri" pitchFamily="34" charset="0"/>
                <a:ea typeface="Calibri" pitchFamily="34" charset="-122"/>
                <a:cs typeface="Calibri" pitchFamily="34" charset="-120"/>
              </a:rPr>
              <a:t>about 3 sessions × 4 hours = 12 hours a week</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2 Diet   </a:t>
            </a:r>
            <a:r>
              <a:rPr lang="en-US" sz="1050" dirty="0">
                <a:solidFill>
                  <a:srgbClr val="262B3A"/>
                </a:solidFill>
                <a:latin typeface="Calibri" pitchFamily="34" charset="0"/>
                <a:ea typeface="Calibri" pitchFamily="34" charset="-122"/>
                <a:cs typeface="Calibri" pitchFamily="34" charset="-120"/>
              </a:rPr>
              <a:t>strict control of salt, protein and fluid</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3 Limits   </a:t>
            </a:r>
            <a:r>
              <a:rPr lang="en-US" sz="1050" dirty="0">
                <a:solidFill>
                  <a:srgbClr val="262B3A"/>
                </a:solidFill>
                <a:latin typeface="Calibri" pitchFamily="34" charset="0"/>
                <a:ea typeface="Calibri" pitchFamily="34" charset="-122"/>
                <a:cs typeface="Calibri" pitchFamily="34" charset="-120"/>
              </a:rPr>
              <a:t>not a cure; risk of infection and blood clots</a:t>
            </a:r>
            <a:endParaRPr lang="en-US" sz="1050" dirty="0"/>
          </a:p>
          <a:p>
            <a:pPr indent="0" marL="0">
              <a:spcBef>
                <a:spcPts val="200"/>
              </a:spcBef>
              <a:buNone/>
            </a:pPr>
            <a:r>
              <a:rPr lang="en-US" sz="1050" b="1" dirty="0">
                <a:solidFill>
                  <a:srgbClr val="2A744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keeps the patient alive until a transplant</a:t>
            </a:r>
            <a:endParaRPr lang="en-US" sz="1050" dirty="0"/>
          </a:p>
        </p:txBody>
      </p:sp>
      <p:sp>
        <p:nvSpPr>
          <p:cNvPr id="80" name="Shape 78"/>
          <p:cNvSpPr/>
          <p:nvPr/>
        </p:nvSpPr>
        <p:spPr>
          <a:xfrm>
            <a:off x="411480" y="5833872"/>
            <a:ext cx="11368735" cy="530352"/>
          </a:xfrm>
          <a:prstGeom prst="rect">
            <a:avLst/>
          </a:prstGeom>
          <a:solidFill>
            <a:srgbClr val="FFF4E0"/>
          </a:solidFill>
          <a:ln w="6350">
            <a:solidFill>
              <a:srgbClr val="F1D9A8"/>
            </a:solidFill>
            <a:prstDash val="solid"/>
          </a:ln>
        </p:spPr>
      </p:sp>
      <p:sp>
        <p:nvSpPr>
          <p:cNvPr id="81" name="Shape 79"/>
          <p:cNvSpPr/>
          <p:nvPr/>
        </p:nvSpPr>
        <p:spPr>
          <a:xfrm>
            <a:off x="411480" y="5833872"/>
            <a:ext cx="82296" cy="530352"/>
          </a:xfrm>
          <a:prstGeom prst="rect">
            <a:avLst/>
          </a:prstGeom>
          <a:solidFill>
            <a:srgbClr val="E39A2F"/>
          </a:solidFill>
          <a:ln w="12700">
            <a:solidFill>
              <a:srgbClr val="E39A2F"/>
            </a:solidFill>
            <a:prstDash val="solid"/>
          </a:ln>
        </p:spPr>
      </p:sp>
      <p:sp>
        <p:nvSpPr>
          <p:cNvPr id="82" name="Text 8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does dialysis fluid contain </a:t>
            </a:r>
            <a:r>
              <a:rPr lang="en-US" sz="1150" b="1" dirty="0">
                <a:solidFill>
                  <a:srgbClr val="262B3A"/>
                </a:solidFill>
                <a:latin typeface="Calibri" pitchFamily="34" charset="0"/>
                <a:ea typeface="Calibri" pitchFamily="34" charset="-122"/>
                <a:cs typeface="Calibri" pitchFamily="34" charset="-120"/>
              </a:rPr>
              <a:t>glucose</a:t>
            </a:r>
            <a:r>
              <a:rPr lang="en-US" sz="1150" dirty="0">
                <a:solidFill>
                  <a:srgbClr val="262B3A"/>
                </a:solidFill>
                <a:latin typeface="Calibri" pitchFamily="34" charset="0"/>
                <a:ea typeface="Calibri" pitchFamily="34" charset="-122"/>
                <a:cs typeface="Calibri" pitchFamily="34" charset="-120"/>
              </a:rPr>
              <a:t> at the same concentration as normal blood? Why does it contain </a:t>
            </a:r>
            <a:r>
              <a:rPr lang="en-US" sz="1150" b="1" dirty="0">
                <a:solidFill>
                  <a:srgbClr val="262B3A"/>
                </a:solidFill>
                <a:latin typeface="Calibri" pitchFamily="34" charset="0"/>
                <a:ea typeface="Calibri" pitchFamily="34" charset="-122"/>
                <a:cs typeface="Calibri" pitchFamily="34" charset="-120"/>
              </a:rPr>
              <a:t>no urea</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Kidney failure: transplants (organ donation)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7.21B • comparing the two treatments</a:t>
            </a:r>
            <a:endParaRPr lang="en-US" sz="1100" dirty="0"/>
          </a:p>
        </p:txBody>
      </p:sp>
      <p:sp>
        <p:nvSpPr>
          <p:cNvPr id="6" name="Shape 4"/>
          <p:cNvSpPr/>
          <p:nvPr/>
        </p:nvSpPr>
        <p:spPr>
          <a:xfrm>
            <a:off x="10591495" y="292608"/>
            <a:ext cx="1188720" cy="274320"/>
          </a:xfrm>
          <a:prstGeom prst="roundRect">
            <a:avLst>
              <a:gd name="adj" fmla="val 50000"/>
            </a:avLst>
          </a:prstGeom>
          <a:solidFill>
            <a:srgbClr val="2A7448"/>
          </a:solidFill>
          <a:ln w="12700">
            <a:solidFill>
              <a:srgbClr val="2A744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BIOLOGY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7.21B  |  36</a:t>
            </a:r>
            <a:endParaRPr lang="en-US" sz="1000" dirty="0"/>
          </a:p>
        </p:txBody>
      </p:sp>
      <p:sp>
        <p:nvSpPr>
          <p:cNvPr id="10" name="Shape 8"/>
          <p:cNvSpPr/>
          <p:nvPr/>
        </p:nvSpPr>
        <p:spPr>
          <a:xfrm>
            <a:off x="411480" y="1188720"/>
            <a:ext cx="5577840" cy="4526280"/>
          </a:xfrm>
          <a:prstGeom prst="roundRect">
            <a:avLst>
              <a:gd name="adj" fmla="val 1616"/>
            </a:avLst>
          </a:prstGeom>
          <a:solidFill>
            <a:srgbClr val="EEF6F0"/>
          </a:solidFill>
          <a:ln w="9525">
            <a:solidFill>
              <a:srgbClr val="D6E8DC"/>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donor kidney is placed low in the abdomen; the failed kidneys are usually left in place</a:t>
            </a:r>
            <a:endParaRPr lang="en-US" sz="1000" dirty="0"/>
          </a:p>
        </p:txBody>
      </p:sp>
      <p:sp>
        <p:nvSpPr>
          <p:cNvPr id="12" name="Shape 10"/>
          <p:cNvSpPr/>
          <p:nvPr/>
        </p:nvSpPr>
        <p:spPr>
          <a:xfrm>
            <a:off x="1188720" y="1371600"/>
            <a:ext cx="3657600" cy="3840480"/>
          </a:xfrm>
          <a:prstGeom prst="roundRect">
            <a:avLst>
              <a:gd name="adj" fmla="val 15000"/>
            </a:avLst>
          </a:prstGeom>
          <a:solidFill>
            <a:srgbClr val="F6DDC8"/>
          </a:solidFill>
          <a:ln w="31750">
            <a:solidFill>
              <a:srgbClr val="B98E6E"/>
            </a:solidFill>
            <a:prstDash val="solid"/>
          </a:ln>
        </p:spPr>
      </p:sp>
      <p:sp>
        <p:nvSpPr>
          <p:cNvPr id="13" name="Shape 11"/>
          <p:cNvSpPr/>
          <p:nvPr/>
        </p:nvSpPr>
        <p:spPr>
          <a:xfrm>
            <a:off x="2834640" y="1554480"/>
            <a:ext cx="91" cy="2103120"/>
          </a:xfrm>
          <a:prstGeom prst="line">
            <a:avLst/>
          </a:prstGeom>
          <a:noFill/>
          <a:ln w="152400">
            <a:solidFill>
              <a:srgbClr val="2C4A80"/>
            </a:solidFill>
            <a:prstDash val="solid"/>
          </a:ln>
        </p:spPr>
      </p:sp>
      <p:sp>
        <p:nvSpPr>
          <p:cNvPr id="14" name="Shape 12"/>
          <p:cNvSpPr/>
          <p:nvPr/>
        </p:nvSpPr>
        <p:spPr>
          <a:xfrm flipH="1">
            <a:off x="2286000" y="3657600"/>
            <a:ext cx="548640" cy="914400"/>
          </a:xfrm>
          <a:prstGeom prst="line">
            <a:avLst/>
          </a:prstGeom>
          <a:noFill/>
          <a:ln w="152400">
            <a:solidFill>
              <a:srgbClr val="2C4A80"/>
            </a:solidFill>
            <a:prstDash val="solid"/>
          </a:ln>
        </p:spPr>
      </p:sp>
      <p:sp>
        <p:nvSpPr>
          <p:cNvPr id="15" name="Shape 13"/>
          <p:cNvSpPr/>
          <p:nvPr/>
        </p:nvSpPr>
        <p:spPr>
          <a:xfrm>
            <a:off x="2758440" y="1478280"/>
            <a:ext cx="152400" cy="152400"/>
          </a:xfrm>
          <a:prstGeom prst="ellipse">
            <a:avLst/>
          </a:prstGeom>
          <a:solidFill>
            <a:srgbClr val="2C4A80"/>
          </a:solidFill>
          <a:ln w="12700">
            <a:solidFill>
              <a:srgbClr val="2C4A80"/>
            </a:solidFill>
            <a:prstDash val="solid"/>
          </a:ln>
        </p:spPr>
      </p:sp>
      <p:sp>
        <p:nvSpPr>
          <p:cNvPr id="16" name="Shape 14"/>
          <p:cNvSpPr/>
          <p:nvPr/>
        </p:nvSpPr>
        <p:spPr>
          <a:xfrm>
            <a:off x="2758440" y="3581400"/>
            <a:ext cx="152400" cy="152400"/>
          </a:xfrm>
          <a:prstGeom prst="ellipse">
            <a:avLst/>
          </a:prstGeom>
          <a:solidFill>
            <a:srgbClr val="2C4A80"/>
          </a:solidFill>
          <a:ln w="12700">
            <a:solidFill>
              <a:srgbClr val="2C4A80"/>
            </a:solidFill>
            <a:prstDash val="solid"/>
          </a:ln>
        </p:spPr>
      </p:sp>
      <p:sp>
        <p:nvSpPr>
          <p:cNvPr id="17" name="Shape 15"/>
          <p:cNvSpPr/>
          <p:nvPr/>
        </p:nvSpPr>
        <p:spPr>
          <a:xfrm>
            <a:off x="2209800" y="4495800"/>
            <a:ext cx="152400" cy="152400"/>
          </a:xfrm>
          <a:prstGeom prst="ellipse">
            <a:avLst/>
          </a:prstGeom>
          <a:solidFill>
            <a:srgbClr val="2C4A80"/>
          </a:solidFill>
          <a:ln w="12700">
            <a:solidFill>
              <a:srgbClr val="2C4A80"/>
            </a:solidFill>
            <a:prstDash val="solid"/>
          </a:ln>
        </p:spPr>
      </p:sp>
      <p:sp>
        <p:nvSpPr>
          <p:cNvPr id="18" name="Shape 16"/>
          <p:cNvSpPr/>
          <p:nvPr/>
        </p:nvSpPr>
        <p:spPr>
          <a:xfrm>
            <a:off x="2834640" y="1554480"/>
            <a:ext cx="91" cy="2103120"/>
          </a:xfrm>
          <a:prstGeom prst="line">
            <a:avLst/>
          </a:prstGeom>
          <a:noFill/>
          <a:ln w="114300">
            <a:solidFill>
              <a:srgbClr val="4A6FB5"/>
            </a:solidFill>
            <a:prstDash val="solid"/>
          </a:ln>
        </p:spPr>
      </p:sp>
      <p:sp>
        <p:nvSpPr>
          <p:cNvPr id="19" name="Shape 17"/>
          <p:cNvSpPr/>
          <p:nvPr/>
        </p:nvSpPr>
        <p:spPr>
          <a:xfrm flipH="1">
            <a:off x="2286000" y="3657600"/>
            <a:ext cx="548640" cy="914400"/>
          </a:xfrm>
          <a:prstGeom prst="line">
            <a:avLst/>
          </a:prstGeom>
          <a:noFill/>
          <a:ln w="114300">
            <a:solidFill>
              <a:srgbClr val="4A6FB5"/>
            </a:solidFill>
            <a:prstDash val="solid"/>
          </a:ln>
        </p:spPr>
      </p:sp>
      <p:sp>
        <p:nvSpPr>
          <p:cNvPr id="20" name="Shape 18"/>
          <p:cNvSpPr/>
          <p:nvPr/>
        </p:nvSpPr>
        <p:spPr>
          <a:xfrm>
            <a:off x="2777490" y="1497330"/>
            <a:ext cx="114300" cy="114300"/>
          </a:xfrm>
          <a:prstGeom prst="ellipse">
            <a:avLst/>
          </a:prstGeom>
          <a:solidFill>
            <a:srgbClr val="4A6FB5"/>
          </a:solidFill>
          <a:ln w="12700">
            <a:solidFill>
              <a:srgbClr val="4A6FB5"/>
            </a:solidFill>
            <a:prstDash val="solid"/>
          </a:ln>
        </p:spPr>
      </p:sp>
      <p:sp>
        <p:nvSpPr>
          <p:cNvPr id="21" name="Shape 19"/>
          <p:cNvSpPr/>
          <p:nvPr/>
        </p:nvSpPr>
        <p:spPr>
          <a:xfrm>
            <a:off x="2777490" y="3600450"/>
            <a:ext cx="114300" cy="114300"/>
          </a:xfrm>
          <a:prstGeom prst="ellipse">
            <a:avLst/>
          </a:prstGeom>
          <a:solidFill>
            <a:srgbClr val="4A6FB5"/>
          </a:solidFill>
          <a:ln w="12700">
            <a:solidFill>
              <a:srgbClr val="4A6FB5"/>
            </a:solidFill>
            <a:prstDash val="solid"/>
          </a:ln>
        </p:spPr>
      </p:sp>
      <p:sp>
        <p:nvSpPr>
          <p:cNvPr id="22" name="Shape 20"/>
          <p:cNvSpPr/>
          <p:nvPr/>
        </p:nvSpPr>
        <p:spPr>
          <a:xfrm>
            <a:off x="2228850" y="4514850"/>
            <a:ext cx="114300" cy="114300"/>
          </a:xfrm>
          <a:prstGeom prst="ellipse">
            <a:avLst/>
          </a:prstGeom>
          <a:solidFill>
            <a:srgbClr val="4A6FB5"/>
          </a:solidFill>
          <a:ln w="12700">
            <a:solidFill>
              <a:srgbClr val="4A6FB5"/>
            </a:solidFill>
            <a:prstDash val="solid"/>
          </a:ln>
        </p:spPr>
      </p:sp>
      <p:sp>
        <p:nvSpPr>
          <p:cNvPr id="23" name="Shape 21"/>
          <p:cNvSpPr/>
          <p:nvPr/>
        </p:nvSpPr>
        <p:spPr>
          <a:xfrm>
            <a:off x="3200400" y="1554480"/>
            <a:ext cx="91" cy="2103120"/>
          </a:xfrm>
          <a:prstGeom prst="line">
            <a:avLst/>
          </a:prstGeom>
          <a:noFill/>
          <a:ln w="139700">
            <a:solidFill>
              <a:srgbClr val="8E2A33"/>
            </a:solidFill>
            <a:prstDash val="solid"/>
          </a:ln>
        </p:spPr>
      </p:sp>
      <p:sp>
        <p:nvSpPr>
          <p:cNvPr id="24" name="Shape 22"/>
          <p:cNvSpPr/>
          <p:nvPr/>
        </p:nvSpPr>
        <p:spPr>
          <a:xfrm>
            <a:off x="3200400" y="3657600"/>
            <a:ext cx="548640" cy="914400"/>
          </a:xfrm>
          <a:prstGeom prst="line">
            <a:avLst/>
          </a:prstGeom>
          <a:noFill/>
          <a:ln w="139700">
            <a:solidFill>
              <a:srgbClr val="8E2A33"/>
            </a:solidFill>
            <a:prstDash val="solid"/>
          </a:ln>
        </p:spPr>
      </p:sp>
      <p:sp>
        <p:nvSpPr>
          <p:cNvPr id="25" name="Shape 23"/>
          <p:cNvSpPr/>
          <p:nvPr/>
        </p:nvSpPr>
        <p:spPr>
          <a:xfrm>
            <a:off x="3130550" y="1484630"/>
            <a:ext cx="139700" cy="139700"/>
          </a:xfrm>
          <a:prstGeom prst="ellipse">
            <a:avLst/>
          </a:prstGeom>
          <a:solidFill>
            <a:srgbClr val="8E2A33"/>
          </a:solidFill>
          <a:ln w="12700">
            <a:solidFill>
              <a:srgbClr val="8E2A33"/>
            </a:solidFill>
            <a:prstDash val="solid"/>
          </a:ln>
        </p:spPr>
      </p:sp>
      <p:sp>
        <p:nvSpPr>
          <p:cNvPr id="26" name="Shape 24"/>
          <p:cNvSpPr/>
          <p:nvPr/>
        </p:nvSpPr>
        <p:spPr>
          <a:xfrm>
            <a:off x="3130550" y="3587750"/>
            <a:ext cx="139700" cy="139700"/>
          </a:xfrm>
          <a:prstGeom prst="ellipse">
            <a:avLst/>
          </a:prstGeom>
          <a:solidFill>
            <a:srgbClr val="8E2A33"/>
          </a:solidFill>
          <a:ln w="12700">
            <a:solidFill>
              <a:srgbClr val="8E2A33"/>
            </a:solidFill>
            <a:prstDash val="solid"/>
          </a:ln>
        </p:spPr>
      </p:sp>
      <p:sp>
        <p:nvSpPr>
          <p:cNvPr id="27" name="Shape 25"/>
          <p:cNvSpPr/>
          <p:nvPr/>
        </p:nvSpPr>
        <p:spPr>
          <a:xfrm>
            <a:off x="3679190" y="4502150"/>
            <a:ext cx="139700" cy="139700"/>
          </a:xfrm>
          <a:prstGeom prst="ellipse">
            <a:avLst/>
          </a:prstGeom>
          <a:solidFill>
            <a:srgbClr val="8E2A33"/>
          </a:solidFill>
          <a:ln w="12700">
            <a:solidFill>
              <a:srgbClr val="8E2A33"/>
            </a:solidFill>
            <a:prstDash val="solid"/>
          </a:ln>
        </p:spPr>
      </p:sp>
      <p:sp>
        <p:nvSpPr>
          <p:cNvPr id="28" name="Shape 26"/>
          <p:cNvSpPr/>
          <p:nvPr/>
        </p:nvSpPr>
        <p:spPr>
          <a:xfrm>
            <a:off x="3200400" y="1554480"/>
            <a:ext cx="91" cy="2103120"/>
          </a:xfrm>
          <a:prstGeom prst="line">
            <a:avLst/>
          </a:prstGeom>
          <a:noFill/>
          <a:ln w="101600">
            <a:solidFill>
              <a:srgbClr val="C8414C"/>
            </a:solidFill>
            <a:prstDash val="solid"/>
          </a:ln>
        </p:spPr>
      </p:sp>
      <p:sp>
        <p:nvSpPr>
          <p:cNvPr id="29" name="Shape 27"/>
          <p:cNvSpPr/>
          <p:nvPr/>
        </p:nvSpPr>
        <p:spPr>
          <a:xfrm>
            <a:off x="3200400" y="3657600"/>
            <a:ext cx="548640" cy="914400"/>
          </a:xfrm>
          <a:prstGeom prst="line">
            <a:avLst/>
          </a:prstGeom>
          <a:noFill/>
          <a:ln w="101600">
            <a:solidFill>
              <a:srgbClr val="C8414C"/>
            </a:solidFill>
            <a:prstDash val="solid"/>
          </a:ln>
        </p:spPr>
      </p:sp>
      <p:sp>
        <p:nvSpPr>
          <p:cNvPr id="30" name="Shape 28"/>
          <p:cNvSpPr/>
          <p:nvPr/>
        </p:nvSpPr>
        <p:spPr>
          <a:xfrm>
            <a:off x="3149600" y="1503680"/>
            <a:ext cx="101600" cy="101600"/>
          </a:xfrm>
          <a:prstGeom prst="ellipse">
            <a:avLst/>
          </a:prstGeom>
          <a:solidFill>
            <a:srgbClr val="C8414C"/>
          </a:solidFill>
          <a:ln w="12700">
            <a:solidFill>
              <a:srgbClr val="C8414C"/>
            </a:solidFill>
            <a:prstDash val="solid"/>
          </a:ln>
        </p:spPr>
      </p:sp>
      <p:sp>
        <p:nvSpPr>
          <p:cNvPr id="31" name="Shape 29"/>
          <p:cNvSpPr/>
          <p:nvPr/>
        </p:nvSpPr>
        <p:spPr>
          <a:xfrm>
            <a:off x="3149600" y="3606800"/>
            <a:ext cx="101600" cy="101600"/>
          </a:xfrm>
          <a:prstGeom prst="ellipse">
            <a:avLst/>
          </a:prstGeom>
          <a:solidFill>
            <a:srgbClr val="C8414C"/>
          </a:solidFill>
          <a:ln w="12700">
            <a:solidFill>
              <a:srgbClr val="C8414C"/>
            </a:solidFill>
            <a:prstDash val="solid"/>
          </a:ln>
        </p:spPr>
      </p:sp>
      <p:sp>
        <p:nvSpPr>
          <p:cNvPr id="32" name="Shape 30"/>
          <p:cNvSpPr/>
          <p:nvPr/>
        </p:nvSpPr>
        <p:spPr>
          <a:xfrm>
            <a:off x="3698240" y="4521200"/>
            <a:ext cx="101600" cy="101600"/>
          </a:xfrm>
          <a:prstGeom prst="ellipse">
            <a:avLst/>
          </a:prstGeom>
          <a:solidFill>
            <a:srgbClr val="C8414C"/>
          </a:solidFill>
          <a:ln w="12700">
            <a:solidFill>
              <a:srgbClr val="C8414C"/>
            </a:solidFill>
            <a:prstDash val="solid"/>
          </a:ln>
        </p:spPr>
      </p:sp>
      <p:sp>
        <p:nvSpPr>
          <p:cNvPr id="33" name="Shape 31"/>
          <p:cNvSpPr/>
          <p:nvPr/>
        </p:nvSpPr>
        <p:spPr>
          <a:xfrm>
            <a:off x="1783080" y="1828800"/>
            <a:ext cx="548640" cy="914400"/>
          </a:xfrm>
          <a:prstGeom prst="ellipse">
            <a:avLst/>
          </a:prstGeom>
          <a:solidFill>
            <a:srgbClr val="D9C2BE"/>
          </a:solidFill>
          <a:ln w="15875">
            <a:solidFill>
              <a:srgbClr val="A08A86"/>
            </a:solidFill>
            <a:prstDash val="solid"/>
          </a:ln>
        </p:spPr>
      </p:sp>
      <p:sp>
        <p:nvSpPr>
          <p:cNvPr id="34" name="Shape 32"/>
          <p:cNvSpPr/>
          <p:nvPr/>
        </p:nvSpPr>
        <p:spPr>
          <a:xfrm>
            <a:off x="3703320" y="1828800"/>
            <a:ext cx="548640" cy="914400"/>
          </a:xfrm>
          <a:prstGeom prst="ellipse">
            <a:avLst/>
          </a:prstGeom>
          <a:solidFill>
            <a:srgbClr val="D9C2BE"/>
          </a:solidFill>
          <a:ln w="15875">
            <a:solidFill>
              <a:srgbClr val="A08A86"/>
            </a:solidFill>
            <a:prstDash val="solid"/>
          </a:ln>
        </p:spPr>
      </p:sp>
      <p:sp>
        <p:nvSpPr>
          <p:cNvPr id="35" name="Text 33"/>
          <p:cNvSpPr/>
          <p:nvPr/>
        </p:nvSpPr>
        <p:spPr>
          <a:xfrm>
            <a:off x="1554480" y="2788920"/>
            <a:ext cx="1005840" cy="22860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failed kidney</a:t>
            </a:r>
            <a:endParaRPr lang="en-US" sz="1000" dirty="0"/>
          </a:p>
        </p:txBody>
      </p:sp>
      <p:sp>
        <p:nvSpPr>
          <p:cNvPr id="36" name="Shape 34"/>
          <p:cNvSpPr/>
          <p:nvPr/>
        </p:nvSpPr>
        <p:spPr>
          <a:xfrm>
            <a:off x="2651760" y="4480560"/>
            <a:ext cx="731520" cy="457200"/>
          </a:xfrm>
          <a:prstGeom prst="ellipse">
            <a:avLst/>
          </a:prstGeom>
          <a:solidFill>
            <a:srgbClr val="F2D46B"/>
          </a:solidFill>
          <a:ln w="19050">
            <a:solidFill>
              <a:srgbClr val="A08420"/>
            </a:solidFill>
            <a:prstDash val="solid"/>
          </a:ln>
        </p:spPr>
      </p:sp>
      <p:sp>
        <p:nvSpPr>
          <p:cNvPr id="37" name="Shape 35"/>
          <p:cNvSpPr/>
          <p:nvPr/>
        </p:nvSpPr>
        <p:spPr>
          <a:xfrm>
            <a:off x="2240280" y="3931920"/>
            <a:ext cx="274320" cy="228600"/>
          </a:xfrm>
          <a:prstGeom prst="line">
            <a:avLst/>
          </a:prstGeom>
          <a:noFill/>
          <a:ln w="101600">
            <a:solidFill>
              <a:srgbClr val="8E2A33"/>
            </a:solidFill>
            <a:prstDash val="solid"/>
          </a:ln>
        </p:spPr>
      </p:sp>
      <p:sp>
        <p:nvSpPr>
          <p:cNvPr id="38" name="Shape 36"/>
          <p:cNvSpPr/>
          <p:nvPr/>
        </p:nvSpPr>
        <p:spPr>
          <a:xfrm>
            <a:off x="2189480" y="3881120"/>
            <a:ext cx="101600" cy="101600"/>
          </a:xfrm>
          <a:prstGeom prst="ellipse">
            <a:avLst/>
          </a:prstGeom>
          <a:solidFill>
            <a:srgbClr val="8E2A33"/>
          </a:solidFill>
          <a:ln w="12700">
            <a:solidFill>
              <a:srgbClr val="8E2A33"/>
            </a:solidFill>
            <a:prstDash val="solid"/>
          </a:ln>
        </p:spPr>
      </p:sp>
      <p:sp>
        <p:nvSpPr>
          <p:cNvPr id="39" name="Shape 37"/>
          <p:cNvSpPr/>
          <p:nvPr/>
        </p:nvSpPr>
        <p:spPr>
          <a:xfrm>
            <a:off x="2463800" y="4109720"/>
            <a:ext cx="101600" cy="101600"/>
          </a:xfrm>
          <a:prstGeom prst="ellipse">
            <a:avLst/>
          </a:prstGeom>
          <a:solidFill>
            <a:srgbClr val="8E2A33"/>
          </a:solidFill>
          <a:ln w="12700">
            <a:solidFill>
              <a:srgbClr val="8E2A33"/>
            </a:solidFill>
            <a:prstDash val="solid"/>
          </a:ln>
        </p:spPr>
      </p:sp>
      <p:sp>
        <p:nvSpPr>
          <p:cNvPr id="40" name="Shape 38"/>
          <p:cNvSpPr/>
          <p:nvPr/>
        </p:nvSpPr>
        <p:spPr>
          <a:xfrm>
            <a:off x="2240280" y="3931920"/>
            <a:ext cx="274320" cy="228600"/>
          </a:xfrm>
          <a:prstGeom prst="line">
            <a:avLst/>
          </a:prstGeom>
          <a:noFill/>
          <a:ln w="63500">
            <a:solidFill>
              <a:srgbClr val="C8414C"/>
            </a:solidFill>
            <a:prstDash val="solid"/>
          </a:ln>
        </p:spPr>
      </p:sp>
      <p:sp>
        <p:nvSpPr>
          <p:cNvPr id="41" name="Shape 39"/>
          <p:cNvSpPr/>
          <p:nvPr/>
        </p:nvSpPr>
        <p:spPr>
          <a:xfrm>
            <a:off x="2208530" y="3900170"/>
            <a:ext cx="63500" cy="63500"/>
          </a:xfrm>
          <a:prstGeom prst="ellipse">
            <a:avLst/>
          </a:prstGeom>
          <a:solidFill>
            <a:srgbClr val="C8414C"/>
          </a:solidFill>
          <a:ln w="12700">
            <a:solidFill>
              <a:srgbClr val="C8414C"/>
            </a:solidFill>
            <a:prstDash val="solid"/>
          </a:ln>
        </p:spPr>
      </p:sp>
      <p:sp>
        <p:nvSpPr>
          <p:cNvPr id="42" name="Shape 40"/>
          <p:cNvSpPr/>
          <p:nvPr/>
        </p:nvSpPr>
        <p:spPr>
          <a:xfrm>
            <a:off x="2482850" y="4128770"/>
            <a:ext cx="63500" cy="63500"/>
          </a:xfrm>
          <a:prstGeom prst="ellipse">
            <a:avLst/>
          </a:prstGeom>
          <a:solidFill>
            <a:srgbClr val="C8414C"/>
          </a:solidFill>
          <a:ln w="12700">
            <a:solidFill>
              <a:srgbClr val="C8414C"/>
            </a:solidFill>
            <a:prstDash val="solid"/>
          </a:ln>
        </p:spPr>
      </p:sp>
      <p:sp>
        <p:nvSpPr>
          <p:cNvPr id="43" name="Shape 41"/>
          <p:cNvSpPr/>
          <p:nvPr/>
        </p:nvSpPr>
        <p:spPr>
          <a:xfrm>
            <a:off x="2240280" y="4087368"/>
            <a:ext cx="210312" cy="256032"/>
          </a:xfrm>
          <a:prstGeom prst="line">
            <a:avLst/>
          </a:prstGeom>
          <a:noFill/>
          <a:ln w="101600">
            <a:solidFill>
              <a:srgbClr val="2C4A80"/>
            </a:solidFill>
            <a:prstDash val="solid"/>
          </a:ln>
        </p:spPr>
      </p:sp>
      <p:sp>
        <p:nvSpPr>
          <p:cNvPr id="44" name="Shape 42"/>
          <p:cNvSpPr/>
          <p:nvPr/>
        </p:nvSpPr>
        <p:spPr>
          <a:xfrm>
            <a:off x="2189480" y="4036568"/>
            <a:ext cx="101600" cy="101600"/>
          </a:xfrm>
          <a:prstGeom prst="ellipse">
            <a:avLst/>
          </a:prstGeom>
          <a:solidFill>
            <a:srgbClr val="2C4A80"/>
          </a:solidFill>
          <a:ln w="12700">
            <a:solidFill>
              <a:srgbClr val="2C4A80"/>
            </a:solidFill>
            <a:prstDash val="solid"/>
          </a:ln>
        </p:spPr>
      </p:sp>
      <p:sp>
        <p:nvSpPr>
          <p:cNvPr id="45" name="Shape 43"/>
          <p:cNvSpPr/>
          <p:nvPr/>
        </p:nvSpPr>
        <p:spPr>
          <a:xfrm>
            <a:off x="2399792" y="4292600"/>
            <a:ext cx="101600" cy="101600"/>
          </a:xfrm>
          <a:prstGeom prst="ellipse">
            <a:avLst/>
          </a:prstGeom>
          <a:solidFill>
            <a:srgbClr val="2C4A80"/>
          </a:solidFill>
          <a:ln w="12700">
            <a:solidFill>
              <a:srgbClr val="2C4A80"/>
            </a:solidFill>
            <a:prstDash val="solid"/>
          </a:ln>
        </p:spPr>
      </p:sp>
      <p:sp>
        <p:nvSpPr>
          <p:cNvPr id="46" name="Shape 44"/>
          <p:cNvSpPr/>
          <p:nvPr/>
        </p:nvSpPr>
        <p:spPr>
          <a:xfrm>
            <a:off x="2240280" y="4087368"/>
            <a:ext cx="210312" cy="256032"/>
          </a:xfrm>
          <a:prstGeom prst="line">
            <a:avLst/>
          </a:prstGeom>
          <a:noFill/>
          <a:ln w="63500">
            <a:solidFill>
              <a:srgbClr val="4A6FB5"/>
            </a:solidFill>
            <a:prstDash val="solid"/>
          </a:ln>
        </p:spPr>
      </p:sp>
      <p:sp>
        <p:nvSpPr>
          <p:cNvPr id="47" name="Shape 45"/>
          <p:cNvSpPr/>
          <p:nvPr/>
        </p:nvSpPr>
        <p:spPr>
          <a:xfrm>
            <a:off x="2208530" y="4055618"/>
            <a:ext cx="63500" cy="63500"/>
          </a:xfrm>
          <a:prstGeom prst="ellipse">
            <a:avLst/>
          </a:prstGeom>
          <a:solidFill>
            <a:srgbClr val="4A6FB5"/>
          </a:solidFill>
          <a:ln w="12700">
            <a:solidFill>
              <a:srgbClr val="4A6FB5"/>
            </a:solidFill>
            <a:prstDash val="solid"/>
          </a:ln>
        </p:spPr>
      </p:sp>
      <p:sp>
        <p:nvSpPr>
          <p:cNvPr id="48" name="Shape 46"/>
          <p:cNvSpPr/>
          <p:nvPr/>
        </p:nvSpPr>
        <p:spPr>
          <a:xfrm>
            <a:off x="2418842" y="4311650"/>
            <a:ext cx="63500" cy="63500"/>
          </a:xfrm>
          <a:prstGeom prst="ellipse">
            <a:avLst/>
          </a:prstGeom>
          <a:solidFill>
            <a:srgbClr val="4A6FB5"/>
          </a:solidFill>
          <a:ln w="12700">
            <a:solidFill>
              <a:srgbClr val="4A6FB5"/>
            </a:solidFill>
            <a:prstDash val="solid"/>
          </a:ln>
        </p:spPr>
      </p:sp>
      <p:sp>
        <p:nvSpPr>
          <p:cNvPr id="49" name="Shape 47"/>
          <p:cNvSpPr/>
          <p:nvPr/>
        </p:nvSpPr>
        <p:spPr>
          <a:xfrm>
            <a:off x="2103120" y="4297680"/>
            <a:ext cx="457200" cy="320040"/>
          </a:xfrm>
          <a:prstGeom prst="line">
            <a:avLst/>
          </a:prstGeom>
          <a:noFill/>
          <a:ln w="88900">
            <a:solidFill>
              <a:srgbClr val="A08420"/>
            </a:solidFill>
            <a:prstDash val="solid"/>
          </a:ln>
        </p:spPr>
      </p:sp>
      <p:sp>
        <p:nvSpPr>
          <p:cNvPr id="50" name="Shape 48"/>
          <p:cNvSpPr/>
          <p:nvPr/>
        </p:nvSpPr>
        <p:spPr>
          <a:xfrm>
            <a:off x="2560320" y="4617720"/>
            <a:ext cx="137160" cy="45720"/>
          </a:xfrm>
          <a:prstGeom prst="line">
            <a:avLst/>
          </a:prstGeom>
          <a:noFill/>
          <a:ln w="88900">
            <a:solidFill>
              <a:srgbClr val="A08420"/>
            </a:solidFill>
            <a:prstDash val="solid"/>
          </a:ln>
        </p:spPr>
      </p:sp>
      <p:sp>
        <p:nvSpPr>
          <p:cNvPr id="51" name="Shape 49"/>
          <p:cNvSpPr/>
          <p:nvPr/>
        </p:nvSpPr>
        <p:spPr>
          <a:xfrm>
            <a:off x="2058670" y="4253230"/>
            <a:ext cx="88900" cy="88900"/>
          </a:xfrm>
          <a:prstGeom prst="ellipse">
            <a:avLst/>
          </a:prstGeom>
          <a:solidFill>
            <a:srgbClr val="A08420"/>
          </a:solidFill>
          <a:ln w="12700">
            <a:solidFill>
              <a:srgbClr val="A08420"/>
            </a:solidFill>
            <a:prstDash val="solid"/>
          </a:ln>
        </p:spPr>
      </p:sp>
      <p:sp>
        <p:nvSpPr>
          <p:cNvPr id="52" name="Shape 50"/>
          <p:cNvSpPr/>
          <p:nvPr/>
        </p:nvSpPr>
        <p:spPr>
          <a:xfrm>
            <a:off x="2515870" y="4573270"/>
            <a:ext cx="88900" cy="88900"/>
          </a:xfrm>
          <a:prstGeom prst="ellipse">
            <a:avLst/>
          </a:prstGeom>
          <a:solidFill>
            <a:srgbClr val="A08420"/>
          </a:solidFill>
          <a:ln w="12700">
            <a:solidFill>
              <a:srgbClr val="A08420"/>
            </a:solidFill>
            <a:prstDash val="solid"/>
          </a:ln>
        </p:spPr>
      </p:sp>
      <p:sp>
        <p:nvSpPr>
          <p:cNvPr id="53" name="Shape 51"/>
          <p:cNvSpPr/>
          <p:nvPr/>
        </p:nvSpPr>
        <p:spPr>
          <a:xfrm>
            <a:off x="2653030" y="4618990"/>
            <a:ext cx="88900" cy="88900"/>
          </a:xfrm>
          <a:prstGeom prst="ellipse">
            <a:avLst/>
          </a:prstGeom>
          <a:solidFill>
            <a:srgbClr val="A08420"/>
          </a:solidFill>
          <a:ln w="12700">
            <a:solidFill>
              <a:srgbClr val="A08420"/>
            </a:solidFill>
            <a:prstDash val="solid"/>
          </a:ln>
        </p:spPr>
      </p:sp>
      <p:sp>
        <p:nvSpPr>
          <p:cNvPr id="54" name="Shape 52"/>
          <p:cNvSpPr/>
          <p:nvPr/>
        </p:nvSpPr>
        <p:spPr>
          <a:xfrm>
            <a:off x="2103120" y="4297680"/>
            <a:ext cx="457200" cy="320040"/>
          </a:xfrm>
          <a:prstGeom prst="line">
            <a:avLst/>
          </a:prstGeom>
          <a:noFill/>
          <a:ln w="50800">
            <a:solidFill>
              <a:srgbClr val="F2D46B"/>
            </a:solidFill>
            <a:prstDash val="solid"/>
          </a:ln>
        </p:spPr>
      </p:sp>
      <p:sp>
        <p:nvSpPr>
          <p:cNvPr id="55" name="Shape 53"/>
          <p:cNvSpPr/>
          <p:nvPr/>
        </p:nvSpPr>
        <p:spPr>
          <a:xfrm>
            <a:off x="2560320" y="4617720"/>
            <a:ext cx="137160" cy="45720"/>
          </a:xfrm>
          <a:prstGeom prst="line">
            <a:avLst/>
          </a:prstGeom>
          <a:noFill/>
          <a:ln w="50800">
            <a:solidFill>
              <a:srgbClr val="F2D46B"/>
            </a:solidFill>
            <a:prstDash val="solid"/>
          </a:ln>
        </p:spPr>
      </p:sp>
      <p:sp>
        <p:nvSpPr>
          <p:cNvPr id="56" name="Shape 54"/>
          <p:cNvSpPr/>
          <p:nvPr/>
        </p:nvSpPr>
        <p:spPr>
          <a:xfrm>
            <a:off x="2077720" y="4272280"/>
            <a:ext cx="50800" cy="50800"/>
          </a:xfrm>
          <a:prstGeom prst="ellipse">
            <a:avLst/>
          </a:prstGeom>
          <a:solidFill>
            <a:srgbClr val="F2D46B"/>
          </a:solidFill>
          <a:ln w="12700">
            <a:solidFill>
              <a:srgbClr val="F2D46B"/>
            </a:solidFill>
            <a:prstDash val="solid"/>
          </a:ln>
        </p:spPr>
      </p:sp>
      <p:sp>
        <p:nvSpPr>
          <p:cNvPr id="57" name="Shape 55"/>
          <p:cNvSpPr/>
          <p:nvPr/>
        </p:nvSpPr>
        <p:spPr>
          <a:xfrm>
            <a:off x="2534920" y="4592320"/>
            <a:ext cx="50800" cy="50800"/>
          </a:xfrm>
          <a:prstGeom prst="ellipse">
            <a:avLst/>
          </a:prstGeom>
          <a:solidFill>
            <a:srgbClr val="F2D46B"/>
          </a:solidFill>
          <a:ln w="12700">
            <a:solidFill>
              <a:srgbClr val="F2D46B"/>
            </a:solidFill>
            <a:prstDash val="solid"/>
          </a:ln>
        </p:spPr>
      </p:sp>
      <p:sp>
        <p:nvSpPr>
          <p:cNvPr id="58" name="Shape 56"/>
          <p:cNvSpPr/>
          <p:nvPr/>
        </p:nvSpPr>
        <p:spPr>
          <a:xfrm>
            <a:off x="2672080" y="4638040"/>
            <a:ext cx="50800" cy="50800"/>
          </a:xfrm>
          <a:prstGeom prst="ellipse">
            <a:avLst/>
          </a:prstGeom>
          <a:solidFill>
            <a:srgbClr val="F2D46B"/>
          </a:solidFill>
          <a:ln w="12700">
            <a:solidFill>
              <a:srgbClr val="F2D46B"/>
            </a:solidFill>
            <a:prstDash val="solid"/>
          </a:ln>
        </p:spPr>
      </p:sp>
      <p:sp>
        <p:nvSpPr>
          <p:cNvPr id="59" name="Shape 57"/>
          <p:cNvSpPr/>
          <p:nvPr/>
        </p:nvSpPr>
        <p:spPr>
          <a:xfrm>
            <a:off x="1682496" y="3543300"/>
            <a:ext cx="566928" cy="868680"/>
          </a:xfrm>
          <a:prstGeom prst="ellipse">
            <a:avLst/>
          </a:prstGeom>
          <a:solidFill>
            <a:srgbClr val="B5524A"/>
          </a:solidFill>
          <a:ln w="22225">
            <a:solidFill>
              <a:srgbClr val="7A2E28"/>
            </a:solidFill>
            <a:prstDash val="solid"/>
          </a:ln>
        </p:spPr>
      </p:sp>
      <p:sp>
        <p:nvSpPr>
          <p:cNvPr id="60" name="Text 58"/>
          <p:cNvSpPr/>
          <p:nvPr/>
        </p:nvSpPr>
        <p:spPr>
          <a:xfrm>
            <a:off x="548640" y="4892040"/>
            <a:ext cx="1280160" cy="274320"/>
          </a:xfrm>
          <a:prstGeom prst="rect">
            <a:avLst/>
          </a:prstGeom>
          <a:noFill/>
          <a:ln/>
        </p:spPr>
        <p:txBody>
          <a:bodyPr wrap="square" lIns="0" tIns="0" rIns="0" bIns="0" rtlCol="0" anchor="ctr"/>
          <a:lstStyle/>
          <a:p>
            <a:pPr algn="r" indent="0" marL="0">
              <a:buNone/>
            </a:pPr>
            <a:r>
              <a:rPr lang="en-US" sz="1050" b="1" dirty="0">
                <a:solidFill>
                  <a:srgbClr val="7A2E28"/>
                </a:solidFill>
                <a:latin typeface="Calibri" pitchFamily="34" charset="0"/>
                <a:ea typeface="Calibri" pitchFamily="34" charset="-122"/>
                <a:cs typeface="Calibri" pitchFamily="34" charset="-120"/>
              </a:rPr>
              <a:t>donor kidney</a:t>
            </a:r>
            <a:endParaRPr lang="en-US" sz="1050" dirty="0"/>
          </a:p>
        </p:txBody>
      </p:sp>
      <p:sp>
        <p:nvSpPr>
          <p:cNvPr id="61" name="Shape 59"/>
          <p:cNvSpPr/>
          <p:nvPr/>
        </p:nvSpPr>
        <p:spPr>
          <a:xfrm flipV="1">
            <a:off x="1865376" y="4251960"/>
            <a:ext cx="54864" cy="777240"/>
          </a:xfrm>
          <a:prstGeom prst="line">
            <a:avLst/>
          </a:prstGeom>
          <a:noFill/>
          <a:ln w="12700">
            <a:solidFill>
              <a:srgbClr val="7A2E28"/>
            </a:solidFill>
            <a:prstDash val="solid"/>
          </a:ln>
        </p:spPr>
      </p:sp>
      <p:sp>
        <p:nvSpPr>
          <p:cNvPr id="62" name="Shape 60"/>
          <p:cNvSpPr/>
          <p:nvPr/>
        </p:nvSpPr>
        <p:spPr>
          <a:xfrm>
            <a:off x="1892808" y="4224528"/>
            <a:ext cx="54864" cy="54864"/>
          </a:xfrm>
          <a:prstGeom prst="ellipse">
            <a:avLst/>
          </a:prstGeom>
          <a:solidFill>
            <a:srgbClr val="7A2E28"/>
          </a:solidFill>
          <a:ln w="9525">
            <a:solidFill>
              <a:srgbClr val="7A2E28"/>
            </a:solidFill>
            <a:prstDash val="solid"/>
          </a:ln>
        </p:spPr>
      </p:sp>
      <p:sp>
        <p:nvSpPr>
          <p:cNvPr id="63" name="Text 61"/>
          <p:cNvSpPr/>
          <p:nvPr/>
        </p:nvSpPr>
        <p:spPr>
          <a:xfrm>
            <a:off x="4206240" y="4846320"/>
            <a:ext cx="1371600" cy="274320"/>
          </a:xfrm>
          <a:prstGeom prst="rect">
            <a:avLst/>
          </a:prstGeom>
          <a:noFill/>
          <a:ln/>
        </p:spPr>
        <p:txBody>
          <a:bodyPr wrap="square" lIns="0" tIns="0" rIns="0" bIns="0" rtlCol="0" anchor="ctr"/>
          <a:lstStyle/>
          <a:p>
            <a:pPr algn="l" indent="0" marL="0">
              <a:buNone/>
            </a:pPr>
            <a:r>
              <a:rPr lang="en-US" sz="1000" b="1" dirty="0">
                <a:solidFill>
                  <a:srgbClr val="A08420"/>
                </a:solidFill>
                <a:latin typeface="Calibri" pitchFamily="34" charset="0"/>
                <a:ea typeface="Calibri" pitchFamily="34" charset="-122"/>
                <a:cs typeface="Calibri" pitchFamily="34" charset="-120"/>
              </a:rPr>
              <a:t>its ureter → bladder</a:t>
            </a:r>
            <a:endParaRPr lang="en-US" sz="1000" dirty="0"/>
          </a:p>
        </p:txBody>
      </p:sp>
      <p:sp>
        <p:nvSpPr>
          <p:cNvPr id="64" name="Shape 62"/>
          <p:cNvSpPr/>
          <p:nvPr/>
        </p:nvSpPr>
        <p:spPr>
          <a:xfrm flipH="1" flipV="1">
            <a:off x="2743200" y="4663440"/>
            <a:ext cx="1426464" cy="320040"/>
          </a:xfrm>
          <a:prstGeom prst="line">
            <a:avLst/>
          </a:prstGeom>
          <a:noFill/>
          <a:ln w="12700">
            <a:solidFill>
              <a:srgbClr val="A08420"/>
            </a:solidFill>
            <a:prstDash val="solid"/>
          </a:ln>
        </p:spPr>
      </p:sp>
      <p:sp>
        <p:nvSpPr>
          <p:cNvPr id="65" name="Shape 63"/>
          <p:cNvSpPr/>
          <p:nvPr/>
        </p:nvSpPr>
        <p:spPr>
          <a:xfrm>
            <a:off x="2715768" y="4636008"/>
            <a:ext cx="54864" cy="54864"/>
          </a:xfrm>
          <a:prstGeom prst="ellipse">
            <a:avLst/>
          </a:prstGeom>
          <a:solidFill>
            <a:srgbClr val="A08420"/>
          </a:solidFill>
          <a:ln w="9525">
            <a:solidFill>
              <a:srgbClr val="A08420"/>
            </a:solidFill>
            <a:prstDash val="solid"/>
          </a:ln>
        </p:spPr>
      </p:sp>
      <p:sp>
        <p:nvSpPr>
          <p:cNvPr id="66" name="Text 64"/>
          <p:cNvSpPr/>
          <p:nvPr/>
        </p:nvSpPr>
        <p:spPr>
          <a:xfrm>
            <a:off x="4206240" y="3680460"/>
            <a:ext cx="1371600" cy="411480"/>
          </a:xfrm>
          <a:prstGeom prst="rect">
            <a:avLst/>
          </a:prstGeom>
          <a:noFill/>
          <a:ln/>
        </p:spPr>
        <p:txBody>
          <a:bodyPr wrap="square" lIns="0" tIns="0" rIns="0" bIns="0" rtlCol="0" anchor="ctr"/>
          <a:lstStyle/>
          <a:p>
            <a:pPr algn="l" indent="0" marL="0">
              <a:buNone/>
            </a:pPr>
            <a:r>
              <a:rPr lang="en-US" sz="1000" b="1" dirty="0">
                <a:solidFill>
                  <a:srgbClr val="8E2A33"/>
                </a:solidFill>
                <a:latin typeface="Calibri" pitchFamily="34" charset="0"/>
                <a:ea typeface="Calibri" pitchFamily="34" charset="-122"/>
                <a:cs typeface="Calibri" pitchFamily="34" charset="-120"/>
              </a:rPr>
              <a:t>joined to artery and vein</a:t>
            </a:r>
            <a:endParaRPr lang="en-US" sz="1000" dirty="0"/>
          </a:p>
        </p:txBody>
      </p:sp>
      <p:sp>
        <p:nvSpPr>
          <p:cNvPr id="67" name="Shape 65"/>
          <p:cNvSpPr/>
          <p:nvPr/>
        </p:nvSpPr>
        <p:spPr>
          <a:xfrm flipH="1">
            <a:off x="2487168" y="3886200"/>
            <a:ext cx="1682496" cy="320040"/>
          </a:xfrm>
          <a:prstGeom prst="line">
            <a:avLst/>
          </a:prstGeom>
          <a:noFill/>
          <a:ln w="12700">
            <a:solidFill>
              <a:srgbClr val="8E2A33"/>
            </a:solidFill>
            <a:prstDash val="solid"/>
          </a:ln>
        </p:spPr>
      </p:sp>
      <p:sp>
        <p:nvSpPr>
          <p:cNvPr id="68" name="Shape 66"/>
          <p:cNvSpPr/>
          <p:nvPr/>
        </p:nvSpPr>
        <p:spPr>
          <a:xfrm>
            <a:off x="2459736" y="4178808"/>
            <a:ext cx="54864" cy="54864"/>
          </a:xfrm>
          <a:prstGeom prst="ellipse">
            <a:avLst/>
          </a:prstGeom>
          <a:solidFill>
            <a:srgbClr val="8E2A33"/>
          </a:solidFill>
          <a:ln w="9525">
            <a:solidFill>
              <a:srgbClr val="8E2A33"/>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914400"/>
                <a:gridCol w="2322576"/>
                <a:gridCol w="2322576"/>
              </a:tblGrid>
              <a:tr h="384048">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1C3A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Dialysis</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1C3A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Transplant</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1C3A2C"/>
                    </a:solidFill>
                  </a:tcPr>
                </a:tc>
              </a:tr>
              <a:tr h="1051560">
                <a:tc>
                  <a:txBody>
                    <a:bodyPr/>
                    <a:lstStyle/>
                    <a:p>
                      <a:pPr indent="0" marL="0">
                        <a:buNone/>
                      </a:pPr>
                      <a:r>
                        <a:rPr lang="en-US" sz="1050" b="1" dirty="0">
                          <a:solidFill>
                            <a:srgbClr val="1C3A2C"/>
                          </a:solidFill>
                          <a:latin typeface="Calibri" pitchFamily="34" charset="0"/>
                          <a:ea typeface="Calibri" pitchFamily="34" charset="-122"/>
                          <a:cs typeface="Calibri" pitchFamily="34" charset="-120"/>
                        </a:rPr>
                        <a:t>For</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available to most patients; no need to wait for a donor; no rejection</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**cure** – normal life, free diet; cheaper over many years</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FFFFF"/>
                    </a:solidFill>
                  </a:tcPr>
                </a:tc>
              </a:tr>
              <a:tr h="1234440">
                <a:tc>
                  <a:txBody>
                    <a:bodyPr/>
                    <a:lstStyle/>
                    <a:p>
                      <a:pPr indent="0" marL="0">
                        <a:buNone/>
                      </a:pPr>
                      <a:r>
                        <a:rPr lang="en-US" sz="1050" b="1" dirty="0">
                          <a:solidFill>
                            <a:srgbClr val="1C3A2C"/>
                          </a:solidFill>
                          <a:latin typeface="Calibri" pitchFamily="34" charset="0"/>
                          <a:ea typeface="Calibri" pitchFamily="34" charset="-122"/>
                          <a:cs typeface="Calibri" pitchFamily="34" charset="-120"/>
                        </a:rPr>
                        <a:t>Against</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hours each week; strict diet; not a cure; expensive; infection risk</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shortage of **donors**; tissue must **match**; **rejection** – lifelong immunosuppressant drugs; surgery risks</a:t>
                      </a:r>
                      <a:endParaRPr lang="en-US" sz="1050" dirty="0">
                        <a:latin typeface="Calibri" charset="0"/>
                        <a:ea typeface="Calibri" charset="0"/>
                        <a:cs typeface="Calibri" charset="0"/>
                      </a:endParaRPr>
                    </a:p>
                  </a:txBody>
                  <a:tcPr marL="91440" marR="91440" marT="45720" marB="45720" anchor="ctr">
                    <a:lnL w="9525" cap="flat" cmpd="sng" algn="ctr">
                      <a:solidFill>
                        <a:srgbClr val="D2E5D8"/>
                      </a:solidFill>
                      <a:prstDash val="solid"/>
                      <a:round/>
                      <a:headEnd type="none" w="med" len="med"/>
                      <a:tailEnd type="none" w="med" len="med"/>
                    </a:lnL>
                    <a:lnR w="9525" cap="flat" cmpd="sng" algn="ctr">
                      <a:solidFill>
                        <a:srgbClr val="D2E5D8"/>
                      </a:solidFill>
                      <a:prstDash val="solid"/>
                      <a:round/>
                      <a:headEnd type="none" w="med" len="med"/>
                      <a:tailEnd type="none" w="med" len="med"/>
                    </a:lnR>
                    <a:lnT w="9525" cap="flat" cmpd="sng" algn="ctr">
                      <a:solidFill>
                        <a:srgbClr val="D2E5D8"/>
                      </a:solidFill>
                      <a:prstDash val="solid"/>
                      <a:round/>
                      <a:headEnd type="none" w="med" len="med"/>
                      <a:tailEnd type="none" w="med" len="med"/>
                    </a:lnT>
                    <a:lnB w="9525" cap="flat" cmpd="sng" algn="ctr">
                      <a:solidFill>
                        <a:srgbClr val="D2E5D8"/>
                      </a:solidFill>
                      <a:prstDash val="solid"/>
                      <a:round/>
                      <a:headEnd type="none" w="med" len="med"/>
                      <a:tailEnd type="none" w="med" len="med"/>
                    </a:lnB>
                    <a:solidFill>
                      <a:srgbClr val="F5FBF7"/>
                    </a:solidFill>
                  </a:tcPr>
                </a:tc>
              </a:tr>
            </a:tbl>
          </a:graphicData>
        </a:graphic>
      </p:graphicFrame>
      <p:sp>
        <p:nvSpPr>
          <p:cNvPr id="70" name="Shape 67"/>
          <p:cNvSpPr/>
          <p:nvPr/>
        </p:nvSpPr>
        <p:spPr>
          <a:xfrm>
            <a:off x="6217920" y="3995928"/>
            <a:ext cx="5559552" cy="1719072"/>
          </a:xfrm>
          <a:prstGeom prst="roundRect">
            <a:avLst>
              <a:gd name="adj" fmla="val 3191"/>
            </a:avLst>
          </a:prstGeom>
          <a:solidFill>
            <a:srgbClr val="F5FBF7"/>
          </a:solidFill>
          <a:ln w="9525">
            <a:solidFill>
              <a:srgbClr val="D2E5D8"/>
            </a:solidFill>
            <a:prstDash val="solid"/>
          </a:ln>
        </p:spPr>
      </p:sp>
      <p:sp>
        <p:nvSpPr>
          <p:cNvPr id="71" name="Text 68"/>
          <p:cNvSpPr/>
          <p:nvPr/>
        </p:nvSpPr>
        <p:spPr>
          <a:xfrm>
            <a:off x="6382512" y="4087368"/>
            <a:ext cx="5230368" cy="292608"/>
          </a:xfrm>
          <a:prstGeom prst="rect">
            <a:avLst/>
          </a:prstGeom>
          <a:noFill/>
          <a:ln/>
        </p:spPr>
        <p:txBody>
          <a:bodyPr wrap="square" lIns="0" tIns="0" rIns="0" bIns="0" rtlCol="0" anchor="ctr"/>
          <a:lstStyle/>
          <a:p>
            <a:pPr indent="0" marL="0">
              <a:buNone/>
            </a:pPr>
            <a:r>
              <a:rPr lang="en-US" sz="1300" b="1" dirty="0">
                <a:solidFill>
                  <a:srgbClr val="1C3A2C"/>
                </a:solidFill>
                <a:latin typeface="Calibri" pitchFamily="34" charset="0"/>
                <a:ea typeface="Calibri" pitchFamily="34" charset="-122"/>
                <a:cs typeface="Calibri" pitchFamily="34" charset="-120"/>
              </a:rPr>
              <a:t>Why rejection happens</a:t>
            </a:r>
            <a:endParaRPr lang="en-US" sz="1300" dirty="0"/>
          </a:p>
        </p:txBody>
      </p:sp>
      <p:sp>
        <p:nvSpPr>
          <p:cNvPr id="72" name="Text 69"/>
          <p:cNvSpPr/>
          <p:nvPr/>
        </p:nvSpPr>
        <p:spPr>
          <a:xfrm>
            <a:off x="6382512" y="4416552"/>
            <a:ext cx="5230368" cy="1225296"/>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donor kidney has </a:t>
            </a:r>
            <a:r>
              <a:rPr lang="en-US" sz="1050" b="1" dirty="0">
                <a:solidFill>
                  <a:srgbClr val="262B3A"/>
                </a:solidFill>
                <a:latin typeface="Calibri" pitchFamily="34" charset="0"/>
                <a:ea typeface="Calibri" pitchFamily="34" charset="-122"/>
                <a:cs typeface="Calibri" pitchFamily="34" charset="-120"/>
              </a:rPr>
              <a:t>antigens</a:t>
            </a:r>
            <a:r>
              <a:rPr lang="en-US" sz="1050" dirty="0">
                <a:solidFill>
                  <a:srgbClr val="262B3A"/>
                </a:solidFill>
                <a:latin typeface="Calibri" pitchFamily="34" charset="0"/>
                <a:ea typeface="Calibri" pitchFamily="34" charset="-122"/>
                <a:cs typeface="Calibri" pitchFamily="34" charset="-120"/>
              </a:rPr>
              <a:t> that the patient's immune system recognises as foreign; white blood cells attack it.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Reduce the risk: a </a:t>
            </a:r>
            <a:r>
              <a:rPr lang="en-US" sz="1050" b="1" dirty="0">
                <a:solidFill>
                  <a:srgbClr val="262B3A"/>
                </a:solidFill>
                <a:latin typeface="Calibri" pitchFamily="34" charset="0"/>
                <a:ea typeface="Calibri" pitchFamily="34" charset="-122"/>
                <a:cs typeface="Calibri" pitchFamily="34" charset="-120"/>
              </a:rPr>
              <a:t>close tissue match</a:t>
            </a:r>
            <a:r>
              <a:rPr lang="en-US" sz="1050" dirty="0">
                <a:solidFill>
                  <a:srgbClr val="262B3A"/>
                </a:solidFill>
                <a:latin typeface="Calibri" pitchFamily="34" charset="0"/>
                <a:ea typeface="Calibri" pitchFamily="34" charset="-122"/>
                <a:cs typeface="Calibri" pitchFamily="34" charset="-120"/>
              </a:rPr>
              <a:t> (often a relative) and </a:t>
            </a:r>
            <a:r>
              <a:rPr lang="en-US" sz="1050" b="1" dirty="0">
                <a:solidFill>
                  <a:srgbClr val="262B3A"/>
                </a:solidFill>
                <a:latin typeface="Calibri" pitchFamily="34" charset="0"/>
                <a:ea typeface="Calibri" pitchFamily="34" charset="-122"/>
                <a:cs typeface="Calibri" pitchFamily="34" charset="-120"/>
              </a:rPr>
              <a:t>immunosuppressant drugs</a:t>
            </a:r>
            <a:r>
              <a:rPr lang="en-US" sz="1050" dirty="0">
                <a:solidFill>
                  <a:srgbClr val="262B3A"/>
                </a:solidFill>
                <a:latin typeface="Calibri" pitchFamily="34" charset="0"/>
                <a:ea typeface="Calibri" pitchFamily="34" charset="-122"/>
                <a:cs typeface="Calibri" pitchFamily="34" charset="-120"/>
              </a:rPr>
              <a:t> – but these increase the risk of infections.</a:t>
            </a:r>
            <a:endParaRPr lang="en-US" sz="1050" dirty="0"/>
          </a:p>
        </p:txBody>
      </p:sp>
      <p:sp>
        <p:nvSpPr>
          <p:cNvPr id="73" name="Shape 70"/>
          <p:cNvSpPr/>
          <p:nvPr/>
        </p:nvSpPr>
        <p:spPr>
          <a:xfrm>
            <a:off x="411480" y="5833872"/>
            <a:ext cx="11368735" cy="530352"/>
          </a:xfrm>
          <a:prstGeom prst="rect">
            <a:avLst/>
          </a:prstGeom>
          <a:solidFill>
            <a:srgbClr val="FFF4E0"/>
          </a:solidFill>
          <a:ln w="6350">
            <a:solidFill>
              <a:srgbClr val="F1D9A8"/>
            </a:solidFill>
            <a:prstDash val="solid"/>
          </a:ln>
        </p:spPr>
      </p:sp>
      <p:sp>
        <p:nvSpPr>
          <p:cNvPr id="74" name="Shape 71"/>
          <p:cNvSpPr/>
          <p:nvPr/>
        </p:nvSpPr>
        <p:spPr>
          <a:xfrm>
            <a:off x="411480" y="5833872"/>
            <a:ext cx="82296" cy="530352"/>
          </a:xfrm>
          <a:prstGeom prst="rect">
            <a:avLst/>
          </a:prstGeom>
          <a:solidFill>
            <a:srgbClr val="E39A2F"/>
          </a:solidFill>
          <a:ln w="12700">
            <a:solidFill>
              <a:srgbClr val="E39A2F"/>
            </a:solidFill>
            <a:prstDash val="solid"/>
          </a:ln>
        </p:spPr>
      </p:sp>
      <p:sp>
        <p:nvSpPr>
          <p:cNvPr id="75" name="Text 7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advantage of a transplant over dialysis and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problem with transplants.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Exam practice: recap 7</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7.20B–7.21B • ADH and kidney failure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7  |  37</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2E5D8"/>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Shape 9"/>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2" name="Text 10"/>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3" name="Text 11"/>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ADH reduces the volume of urine produced.</a:t>
            </a:r>
            <a:endParaRPr lang="en-US" sz="1250" dirty="0"/>
          </a:p>
        </p:txBody>
      </p:sp>
      <p:sp>
        <p:nvSpPr>
          <p:cNvPr id="14" name="Text 12"/>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5" name="Shape 13"/>
          <p:cNvSpPr/>
          <p:nvPr/>
        </p:nvSpPr>
        <p:spPr>
          <a:xfrm>
            <a:off x="411480" y="2947416"/>
            <a:ext cx="11368735" cy="1594104"/>
          </a:xfrm>
          <a:prstGeom prst="roundRect">
            <a:avLst>
              <a:gd name="adj" fmla="val 2868"/>
            </a:avLst>
          </a:prstGeom>
          <a:solidFill>
            <a:srgbClr val="FFFFFF"/>
          </a:solidFill>
          <a:ln w="12700">
            <a:solidFill>
              <a:srgbClr val="D2E5D8"/>
            </a:solidFill>
            <a:prstDash val="solid"/>
          </a:ln>
        </p:spPr>
      </p:sp>
      <p:sp>
        <p:nvSpPr>
          <p:cNvPr id="16" name="Shape 14"/>
          <p:cNvSpPr/>
          <p:nvPr/>
        </p:nvSpPr>
        <p:spPr>
          <a:xfrm>
            <a:off x="411480" y="2947416"/>
            <a:ext cx="2103120" cy="292608"/>
          </a:xfrm>
          <a:prstGeom prst="rect">
            <a:avLst/>
          </a:prstGeom>
          <a:solidFill>
            <a:srgbClr val="F5A742"/>
          </a:solidFill>
          <a:ln w="12700">
            <a:solidFill>
              <a:srgbClr val="F5A742"/>
            </a:solidFill>
            <a:prstDash val="solid"/>
          </a:ln>
        </p:spPr>
      </p:sp>
      <p:sp>
        <p:nvSpPr>
          <p:cNvPr id="17" name="Text 15"/>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8" name="Text 16"/>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urea moves from the blood into the dialysis fluid.</a:t>
            </a:r>
            <a:endParaRPr lang="en-US" sz="1250" dirty="0"/>
          </a:p>
        </p:txBody>
      </p:sp>
      <p:sp>
        <p:nvSpPr>
          <p:cNvPr id="19" name="Text 17"/>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0" name="Shape 18"/>
          <p:cNvSpPr/>
          <p:nvPr/>
        </p:nvSpPr>
        <p:spPr>
          <a:xfrm>
            <a:off x="411480" y="4687824"/>
            <a:ext cx="11368735" cy="1594104"/>
          </a:xfrm>
          <a:prstGeom prst="roundRect">
            <a:avLst>
              <a:gd name="adj" fmla="val 2868"/>
            </a:avLst>
          </a:prstGeom>
          <a:solidFill>
            <a:srgbClr val="FFFFFF"/>
          </a:solidFill>
          <a:ln w="12700">
            <a:solidFill>
              <a:srgbClr val="D2E5D8"/>
            </a:solidFill>
            <a:prstDash val="solid"/>
          </a:ln>
        </p:spPr>
      </p:sp>
      <p:sp>
        <p:nvSpPr>
          <p:cNvPr id="21" name="Shape 19"/>
          <p:cNvSpPr/>
          <p:nvPr/>
        </p:nvSpPr>
        <p:spPr>
          <a:xfrm>
            <a:off x="411480" y="4687824"/>
            <a:ext cx="2103120" cy="292608"/>
          </a:xfrm>
          <a:prstGeom prst="rect">
            <a:avLst/>
          </a:prstGeom>
          <a:solidFill>
            <a:srgbClr val="F5A742"/>
          </a:solidFill>
          <a:ln w="12700">
            <a:solidFill>
              <a:srgbClr val="F5A742"/>
            </a:solidFill>
            <a:prstDash val="solid"/>
          </a:ln>
        </p:spPr>
      </p:sp>
      <p:sp>
        <p:nvSpPr>
          <p:cNvPr id="22" name="Text 20"/>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3" name="Text 21"/>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reasons why kidney transplants are not available to every patient with kidney failure.</a:t>
            </a:r>
            <a:endParaRPr lang="en-US" sz="1250" dirty="0"/>
          </a:p>
        </p:txBody>
      </p:sp>
      <p:sp>
        <p:nvSpPr>
          <p:cNvPr id="24" name="Text 22"/>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Topic 7 Animal coordination, control and homeostasis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38</a:t>
            </a:r>
            <a:endParaRPr lang="en-US" sz="1000" dirty="0"/>
          </a:p>
        </p:txBody>
      </p:sp>
      <p:sp>
        <p:nvSpPr>
          <p:cNvPr id="8" name="Shape 6"/>
          <p:cNvSpPr/>
          <p:nvPr/>
        </p:nvSpPr>
        <p:spPr>
          <a:xfrm>
            <a:off x="411480" y="1188720"/>
            <a:ext cx="2739314" cy="1143000"/>
          </a:xfrm>
          <a:prstGeom prst="rect">
            <a:avLst/>
          </a:prstGeom>
          <a:solidFill>
            <a:srgbClr val="F5FBF7"/>
          </a:solidFill>
          <a:ln w="9525">
            <a:solidFill>
              <a:srgbClr val="D2E5D8"/>
            </a:solidFill>
            <a:prstDash val="solid"/>
          </a:ln>
        </p:spPr>
      </p:sp>
      <p:sp>
        <p:nvSpPr>
          <p:cNvPr id="9" name="Shape 7"/>
          <p:cNvSpPr/>
          <p:nvPr/>
        </p:nvSpPr>
        <p:spPr>
          <a:xfrm>
            <a:off x="411480" y="1188720"/>
            <a:ext cx="73152" cy="1143000"/>
          </a:xfrm>
          <a:prstGeom prst="rect">
            <a:avLst/>
          </a:prstGeom>
          <a:solidFill>
            <a:srgbClr val="2A7448"/>
          </a:solidFill>
          <a:ln w="12700">
            <a:solidFill>
              <a:srgbClr val="2A7448"/>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Hormone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Chemical messenger secreted by an endocrine gland into the blood; acts on target organs.</a:t>
            </a:r>
            <a:endParaRPr lang="en-US" sz="1200" dirty="0"/>
          </a:p>
        </p:txBody>
      </p:sp>
      <p:sp>
        <p:nvSpPr>
          <p:cNvPr id="11" name="Shape 9"/>
          <p:cNvSpPr/>
          <p:nvPr/>
        </p:nvSpPr>
        <p:spPr>
          <a:xfrm>
            <a:off x="3287954" y="1188720"/>
            <a:ext cx="2739314" cy="1143000"/>
          </a:xfrm>
          <a:prstGeom prst="rect">
            <a:avLst/>
          </a:prstGeom>
          <a:solidFill>
            <a:srgbClr val="F5FBF7"/>
          </a:solidFill>
          <a:ln w="9525">
            <a:solidFill>
              <a:srgbClr val="D2E5D8"/>
            </a:solidFill>
            <a:prstDash val="solid"/>
          </a:ln>
        </p:spPr>
      </p:sp>
      <p:sp>
        <p:nvSpPr>
          <p:cNvPr id="12" name="Shape 10"/>
          <p:cNvSpPr/>
          <p:nvPr/>
        </p:nvSpPr>
        <p:spPr>
          <a:xfrm>
            <a:off x="3287954" y="1188720"/>
            <a:ext cx="73152" cy="1143000"/>
          </a:xfrm>
          <a:prstGeom prst="rect">
            <a:avLst/>
          </a:prstGeom>
          <a:solidFill>
            <a:srgbClr val="2A7448"/>
          </a:solidFill>
          <a:ln w="12700">
            <a:solidFill>
              <a:srgbClr val="2A7448"/>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Adrenalin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Hormone from the adrenal glands; prepares the body for fight or flight.</a:t>
            </a:r>
            <a:endParaRPr lang="en-US" sz="1200" dirty="0"/>
          </a:p>
        </p:txBody>
      </p:sp>
      <p:sp>
        <p:nvSpPr>
          <p:cNvPr id="14" name="Shape 12"/>
          <p:cNvSpPr/>
          <p:nvPr/>
        </p:nvSpPr>
        <p:spPr>
          <a:xfrm>
            <a:off x="6164428" y="1188720"/>
            <a:ext cx="2739314" cy="1143000"/>
          </a:xfrm>
          <a:prstGeom prst="rect">
            <a:avLst/>
          </a:prstGeom>
          <a:solidFill>
            <a:srgbClr val="F5FBF7"/>
          </a:solidFill>
          <a:ln w="9525">
            <a:solidFill>
              <a:srgbClr val="D2E5D8"/>
            </a:solidFill>
            <a:prstDash val="solid"/>
          </a:ln>
        </p:spPr>
      </p:sp>
      <p:sp>
        <p:nvSpPr>
          <p:cNvPr id="15" name="Shape 13"/>
          <p:cNvSpPr/>
          <p:nvPr/>
        </p:nvSpPr>
        <p:spPr>
          <a:xfrm>
            <a:off x="6164428" y="1188720"/>
            <a:ext cx="73152" cy="1143000"/>
          </a:xfrm>
          <a:prstGeom prst="rect">
            <a:avLst/>
          </a:prstGeom>
          <a:solidFill>
            <a:srgbClr val="2A7448"/>
          </a:solidFill>
          <a:ln w="12700">
            <a:solidFill>
              <a:srgbClr val="2A7448"/>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Thyroxine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Hormone from the thyroid; controls metabolic rate (TRH, TSH loop).</a:t>
            </a:r>
            <a:endParaRPr lang="en-US" sz="1200" dirty="0"/>
          </a:p>
        </p:txBody>
      </p:sp>
      <p:sp>
        <p:nvSpPr>
          <p:cNvPr id="17" name="Shape 15"/>
          <p:cNvSpPr/>
          <p:nvPr/>
        </p:nvSpPr>
        <p:spPr>
          <a:xfrm>
            <a:off x="9040901" y="1188720"/>
            <a:ext cx="2739314" cy="1143000"/>
          </a:xfrm>
          <a:prstGeom prst="rect">
            <a:avLst/>
          </a:prstGeom>
          <a:solidFill>
            <a:srgbClr val="F5FBF7"/>
          </a:solidFill>
          <a:ln w="9525">
            <a:solidFill>
              <a:srgbClr val="D2E5D8"/>
            </a:solidFill>
            <a:prstDash val="solid"/>
          </a:ln>
        </p:spPr>
      </p:sp>
      <p:sp>
        <p:nvSpPr>
          <p:cNvPr id="18" name="Shape 16"/>
          <p:cNvSpPr/>
          <p:nvPr/>
        </p:nvSpPr>
        <p:spPr>
          <a:xfrm>
            <a:off x="9040901" y="1188720"/>
            <a:ext cx="73152" cy="1143000"/>
          </a:xfrm>
          <a:prstGeom prst="rect">
            <a:avLst/>
          </a:prstGeom>
          <a:solidFill>
            <a:srgbClr val="2A7448"/>
          </a:solidFill>
          <a:ln w="12700">
            <a:solidFill>
              <a:srgbClr val="2A7448"/>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Negative feedback</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change from normal triggers a response that reverses it.</a:t>
            </a:r>
            <a:endParaRPr lang="en-US" sz="1200" dirty="0"/>
          </a:p>
        </p:txBody>
      </p:sp>
      <p:sp>
        <p:nvSpPr>
          <p:cNvPr id="20" name="Shape 18"/>
          <p:cNvSpPr/>
          <p:nvPr/>
        </p:nvSpPr>
        <p:spPr>
          <a:xfrm>
            <a:off x="411480" y="2441448"/>
            <a:ext cx="2739314" cy="1143000"/>
          </a:xfrm>
          <a:prstGeom prst="rect">
            <a:avLst/>
          </a:prstGeom>
          <a:solidFill>
            <a:srgbClr val="F5FBF7"/>
          </a:solidFill>
          <a:ln w="9525">
            <a:solidFill>
              <a:srgbClr val="D2E5D8"/>
            </a:solidFill>
            <a:prstDash val="solid"/>
          </a:ln>
        </p:spPr>
      </p:sp>
      <p:sp>
        <p:nvSpPr>
          <p:cNvPr id="21" name="Shape 19"/>
          <p:cNvSpPr/>
          <p:nvPr/>
        </p:nvSpPr>
        <p:spPr>
          <a:xfrm>
            <a:off x="411480" y="2441448"/>
            <a:ext cx="73152" cy="1143000"/>
          </a:xfrm>
          <a:prstGeom prst="rect">
            <a:avLst/>
          </a:prstGeom>
          <a:solidFill>
            <a:srgbClr val="2A7448"/>
          </a:solidFill>
          <a:ln w="12700">
            <a:solidFill>
              <a:srgbClr val="2A7448"/>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Oestrogen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Ovary hormone: repairs the uterus lining; inhibits FSH; triggers LH.</a:t>
            </a:r>
            <a:endParaRPr lang="en-US" sz="1200" dirty="0"/>
          </a:p>
        </p:txBody>
      </p:sp>
      <p:sp>
        <p:nvSpPr>
          <p:cNvPr id="23" name="Shape 21"/>
          <p:cNvSpPr/>
          <p:nvPr/>
        </p:nvSpPr>
        <p:spPr>
          <a:xfrm>
            <a:off x="3287954" y="2441448"/>
            <a:ext cx="2739314" cy="1143000"/>
          </a:xfrm>
          <a:prstGeom prst="rect">
            <a:avLst/>
          </a:prstGeom>
          <a:solidFill>
            <a:srgbClr val="F5FBF7"/>
          </a:solidFill>
          <a:ln w="9525">
            <a:solidFill>
              <a:srgbClr val="D2E5D8"/>
            </a:solidFill>
            <a:prstDash val="solid"/>
          </a:ln>
        </p:spPr>
      </p:sp>
      <p:sp>
        <p:nvSpPr>
          <p:cNvPr id="24" name="Shape 22"/>
          <p:cNvSpPr/>
          <p:nvPr/>
        </p:nvSpPr>
        <p:spPr>
          <a:xfrm>
            <a:off x="3287954" y="2441448"/>
            <a:ext cx="73152" cy="1143000"/>
          </a:xfrm>
          <a:prstGeom prst="rect">
            <a:avLst/>
          </a:prstGeom>
          <a:solidFill>
            <a:srgbClr val="2A7448"/>
          </a:solidFill>
          <a:ln w="12700">
            <a:solidFill>
              <a:srgbClr val="2A7448"/>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Progesterone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Maintains the uterus lining; inhibits FSH and LH.</a:t>
            </a:r>
            <a:endParaRPr lang="en-US" sz="1200" dirty="0"/>
          </a:p>
        </p:txBody>
      </p:sp>
      <p:sp>
        <p:nvSpPr>
          <p:cNvPr id="26" name="Shape 24"/>
          <p:cNvSpPr/>
          <p:nvPr/>
        </p:nvSpPr>
        <p:spPr>
          <a:xfrm>
            <a:off x="6164428" y="2441448"/>
            <a:ext cx="2739314" cy="1143000"/>
          </a:xfrm>
          <a:prstGeom prst="rect">
            <a:avLst/>
          </a:prstGeom>
          <a:solidFill>
            <a:srgbClr val="F5FBF7"/>
          </a:solidFill>
          <a:ln w="9525">
            <a:solidFill>
              <a:srgbClr val="D2E5D8"/>
            </a:solidFill>
            <a:prstDash val="solid"/>
          </a:ln>
        </p:spPr>
      </p:sp>
      <p:sp>
        <p:nvSpPr>
          <p:cNvPr id="27" name="Shape 25"/>
          <p:cNvSpPr/>
          <p:nvPr/>
        </p:nvSpPr>
        <p:spPr>
          <a:xfrm>
            <a:off x="6164428" y="2441448"/>
            <a:ext cx="73152" cy="1143000"/>
          </a:xfrm>
          <a:prstGeom prst="rect">
            <a:avLst/>
          </a:prstGeom>
          <a:solidFill>
            <a:srgbClr val="2A7448"/>
          </a:solidFill>
          <a:ln w="12700">
            <a:solidFill>
              <a:srgbClr val="2A7448"/>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FSH / LH</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Pituitary hormones: FSH matures an egg; LH triggers ovulation.</a:t>
            </a:r>
            <a:endParaRPr lang="en-US" sz="1200" dirty="0"/>
          </a:p>
        </p:txBody>
      </p:sp>
      <p:sp>
        <p:nvSpPr>
          <p:cNvPr id="29" name="Shape 27"/>
          <p:cNvSpPr/>
          <p:nvPr/>
        </p:nvSpPr>
        <p:spPr>
          <a:xfrm>
            <a:off x="9040901" y="2441448"/>
            <a:ext cx="2739314" cy="1143000"/>
          </a:xfrm>
          <a:prstGeom prst="rect">
            <a:avLst/>
          </a:prstGeom>
          <a:solidFill>
            <a:srgbClr val="F5FBF7"/>
          </a:solidFill>
          <a:ln w="9525">
            <a:solidFill>
              <a:srgbClr val="D2E5D8"/>
            </a:solidFill>
            <a:prstDash val="solid"/>
          </a:ln>
        </p:spPr>
      </p:sp>
      <p:sp>
        <p:nvSpPr>
          <p:cNvPr id="30" name="Shape 28"/>
          <p:cNvSpPr/>
          <p:nvPr/>
        </p:nvSpPr>
        <p:spPr>
          <a:xfrm>
            <a:off x="9040901" y="2441448"/>
            <a:ext cx="73152" cy="1143000"/>
          </a:xfrm>
          <a:prstGeom prst="rect">
            <a:avLst/>
          </a:prstGeom>
          <a:solidFill>
            <a:srgbClr val="2A7448"/>
          </a:solidFill>
          <a:ln w="12700">
            <a:solidFill>
              <a:srgbClr val="2A7448"/>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Homeostasis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Keeping the internal environment constant.</a:t>
            </a:r>
            <a:endParaRPr lang="en-US" sz="1200" dirty="0"/>
          </a:p>
        </p:txBody>
      </p:sp>
      <p:sp>
        <p:nvSpPr>
          <p:cNvPr id="32" name="Shape 30"/>
          <p:cNvSpPr/>
          <p:nvPr/>
        </p:nvSpPr>
        <p:spPr>
          <a:xfrm>
            <a:off x="411480" y="3694176"/>
            <a:ext cx="2739314" cy="1143000"/>
          </a:xfrm>
          <a:prstGeom prst="rect">
            <a:avLst/>
          </a:prstGeom>
          <a:solidFill>
            <a:srgbClr val="F5FBF7"/>
          </a:solidFill>
          <a:ln w="9525">
            <a:solidFill>
              <a:srgbClr val="D2E5D8"/>
            </a:solidFill>
            <a:prstDash val="solid"/>
          </a:ln>
        </p:spPr>
      </p:sp>
      <p:sp>
        <p:nvSpPr>
          <p:cNvPr id="33" name="Shape 31"/>
          <p:cNvSpPr/>
          <p:nvPr/>
        </p:nvSpPr>
        <p:spPr>
          <a:xfrm>
            <a:off x="411480" y="3694176"/>
            <a:ext cx="73152" cy="1143000"/>
          </a:xfrm>
          <a:prstGeom prst="rect">
            <a:avLst/>
          </a:prstGeom>
          <a:solidFill>
            <a:srgbClr val="2A7448"/>
          </a:solidFill>
          <a:ln w="12700">
            <a:solidFill>
              <a:srgbClr val="2A7448"/>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Vasodilation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Skin arterioles widen: more blood near the surface, more heat lost.</a:t>
            </a:r>
            <a:endParaRPr lang="en-US" sz="1200" dirty="0"/>
          </a:p>
        </p:txBody>
      </p:sp>
      <p:sp>
        <p:nvSpPr>
          <p:cNvPr id="35" name="Shape 33"/>
          <p:cNvSpPr/>
          <p:nvPr/>
        </p:nvSpPr>
        <p:spPr>
          <a:xfrm>
            <a:off x="3287954" y="3694176"/>
            <a:ext cx="2739314" cy="1143000"/>
          </a:xfrm>
          <a:prstGeom prst="rect">
            <a:avLst/>
          </a:prstGeom>
          <a:solidFill>
            <a:srgbClr val="F5FBF7"/>
          </a:solidFill>
          <a:ln w="9525">
            <a:solidFill>
              <a:srgbClr val="D2E5D8"/>
            </a:solidFill>
            <a:prstDash val="solid"/>
          </a:ln>
        </p:spPr>
      </p:sp>
      <p:sp>
        <p:nvSpPr>
          <p:cNvPr id="36" name="Shape 34"/>
          <p:cNvSpPr/>
          <p:nvPr/>
        </p:nvSpPr>
        <p:spPr>
          <a:xfrm>
            <a:off x="3287954" y="3694176"/>
            <a:ext cx="73152" cy="1143000"/>
          </a:xfrm>
          <a:prstGeom prst="rect">
            <a:avLst/>
          </a:prstGeom>
          <a:solidFill>
            <a:srgbClr val="2A7448"/>
          </a:solidFill>
          <a:ln w="12700">
            <a:solidFill>
              <a:srgbClr val="2A7448"/>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Insulin / glucagon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Pancreas hormones: lower / raise blood glucose (glycogen store).</a:t>
            </a:r>
            <a:endParaRPr lang="en-US" sz="1200" dirty="0"/>
          </a:p>
        </p:txBody>
      </p:sp>
      <p:sp>
        <p:nvSpPr>
          <p:cNvPr id="38" name="Shape 36"/>
          <p:cNvSpPr/>
          <p:nvPr/>
        </p:nvSpPr>
        <p:spPr>
          <a:xfrm>
            <a:off x="6164428" y="3694176"/>
            <a:ext cx="2739314" cy="1143000"/>
          </a:xfrm>
          <a:prstGeom prst="rect">
            <a:avLst/>
          </a:prstGeom>
          <a:solidFill>
            <a:srgbClr val="F5FBF7"/>
          </a:solidFill>
          <a:ln w="9525">
            <a:solidFill>
              <a:srgbClr val="D2E5D8"/>
            </a:solidFill>
            <a:prstDash val="solid"/>
          </a:ln>
        </p:spPr>
      </p:sp>
      <p:sp>
        <p:nvSpPr>
          <p:cNvPr id="39" name="Shape 37"/>
          <p:cNvSpPr/>
          <p:nvPr/>
        </p:nvSpPr>
        <p:spPr>
          <a:xfrm>
            <a:off x="6164428" y="3694176"/>
            <a:ext cx="73152" cy="1143000"/>
          </a:xfrm>
          <a:prstGeom prst="rect">
            <a:avLst/>
          </a:prstGeom>
          <a:solidFill>
            <a:srgbClr val="2A7448"/>
          </a:solidFill>
          <a:ln w="12700">
            <a:solidFill>
              <a:srgbClr val="2A7448"/>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Type 2 diabetes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Cells stop responding to insulin; linked to obesity.</a:t>
            </a:r>
            <a:endParaRPr lang="en-US" sz="1200" dirty="0"/>
          </a:p>
        </p:txBody>
      </p:sp>
      <p:sp>
        <p:nvSpPr>
          <p:cNvPr id="41" name="Shape 39"/>
          <p:cNvSpPr/>
          <p:nvPr/>
        </p:nvSpPr>
        <p:spPr>
          <a:xfrm>
            <a:off x="9040901" y="3694176"/>
            <a:ext cx="2739314" cy="1143000"/>
          </a:xfrm>
          <a:prstGeom prst="rect">
            <a:avLst/>
          </a:prstGeom>
          <a:solidFill>
            <a:srgbClr val="F5FBF7"/>
          </a:solidFill>
          <a:ln w="9525">
            <a:solidFill>
              <a:srgbClr val="D2E5D8"/>
            </a:solidFill>
            <a:prstDash val="solid"/>
          </a:ln>
        </p:spPr>
      </p:sp>
      <p:sp>
        <p:nvSpPr>
          <p:cNvPr id="42" name="Shape 40"/>
          <p:cNvSpPr/>
          <p:nvPr/>
        </p:nvSpPr>
        <p:spPr>
          <a:xfrm>
            <a:off x="9040901" y="3694176"/>
            <a:ext cx="73152" cy="1143000"/>
          </a:xfrm>
          <a:prstGeom prst="rect">
            <a:avLst/>
          </a:prstGeom>
          <a:solidFill>
            <a:srgbClr val="2A7448"/>
          </a:solidFill>
          <a:ln w="12700">
            <a:solidFill>
              <a:srgbClr val="2A7448"/>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BMI</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mass (kg) ÷ (height (m))²; 30 or above = obese.</a:t>
            </a:r>
            <a:endParaRPr lang="en-US" sz="1200" dirty="0"/>
          </a:p>
        </p:txBody>
      </p:sp>
      <p:sp>
        <p:nvSpPr>
          <p:cNvPr id="44" name="Shape 42"/>
          <p:cNvSpPr/>
          <p:nvPr/>
        </p:nvSpPr>
        <p:spPr>
          <a:xfrm>
            <a:off x="411480" y="4946904"/>
            <a:ext cx="2739314" cy="1143000"/>
          </a:xfrm>
          <a:prstGeom prst="rect">
            <a:avLst/>
          </a:prstGeom>
          <a:solidFill>
            <a:srgbClr val="F5FBF7"/>
          </a:solidFill>
          <a:ln w="9525">
            <a:solidFill>
              <a:srgbClr val="D2E5D8"/>
            </a:solidFill>
            <a:prstDash val="solid"/>
          </a:ln>
        </p:spPr>
      </p:sp>
      <p:sp>
        <p:nvSpPr>
          <p:cNvPr id="45" name="Shape 43"/>
          <p:cNvSpPr/>
          <p:nvPr/>
        </p:nvSpPr>
        <p:spPr>
          <a:xfrm>
            <a:off x="411480" y="4946904"/>
            <a:ext cx="73152" cy="1143000"/>
          </a:xfrm>
          <a:prstGeom prst="rect">
            <a:avLst/>
          </a:prstGeom>
          <a:solidFill>
            <a:srgbClr val="2A7448"/>
          </a:solidFill>
          <a:ln w="12700">
            <a:solidFill>
              <a:srgbClr val="2A7448"/>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Nephron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Filtering unit of the kidney: glomerulus, capsule, tubules, collecting duct.</a:t>
            </a:r>
            <a:endParaRPr lang="en-US" sz="1200" dirty="0"/>
          </a:p>
        </p:txBody>
      </p:sp>
      <p:sp>
        <p:nvSpPr>
          <p:cNvPr id="47" name="Shape 45"/>
          <p:cNvSpPr/>
          <p:nvPr/>
        </p:nvSpPr>
        <p:spPr>
          <a:xfrm>
            <a:off x="3287954" y="4946904"/>
            <a:ext cx="2739314" cy="1143000"/>
          </a:xfrm>
          <a:prstGeom prst="rect">
            <a:avLst/>
          </a:prstGeom>
          <a:solidFill>
            <a:srgbClr val="F5FBF7"/>
          </a:solidFill>
          <a:ln w="9525">
            <a:solidFill>
              <a:srgbClr val="D2E5D8"/>
            </a:solidFill>
            <a:prstDash val="solid"/>
          </a:ln>
        </p:spPr>
      </p:sp>
      <p:sp>
        <p:nvSpPr>
          <p:cNvPr id="48" name="Shape 46"/>
          <p:cNvSpPr/>
          <p:nvPr/>
        </p:nvSpPr>
        <p:spPr>
          <a:xfrm>
            <a:off x="3287954" y="4946904"/>
            <a:ext cx="73152" cy="1143000"/>
          </a:xfrm>
          <a:prstGeom prst="rect">
            <a:avLst/>
          </a:prstGeom>
          <a:solidFill>
            <a:srgbClr val="2A7448"/>
          </a:solidFill>
          <a:ln w="12700">
            <a:solidFill>
              <a:srgbClr val="2A7448"/>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Selective reabsorption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Useful substances (all glucose) taken back into the blood from the tubule.</a:t>
            </a:r>
            <a:endParaRPr lang="en-US" sz="1200" dirty="0"/>
          </a:p>
        </p:txBody>
      </p:sp>
      <p:sp>
        <p:nvSpPr>
          <p:cNvPr id="50" name="Shape 48"/>
          <p:cNvSpPr/>
          <p:nvPr/>
        </p:nvSpPr>
        <p:spPr>
          <a:xfrm>
            <a:off x="6164428" y="4946904"/>
            <a:ext cx="2739314" cy="1143000"/>
          </a:xfrm>
          <a:prstGeom prst="rect">
            <a:avLst/>
          </a:prstGeom>
          <a:solidFill>
            <a:srgbClr val="F5FBF7"/>
          </a:solidFill>
          <a:ln w="9525">
            <a:solidFill>
              <a:srgbClr val="D2E5D8"/>
            </a:solidFill>
            <a:prstDash val="solid"/>
          </a:ln>
        </p:spPr>
      </p:sp>
      <p:sp>
        <p:nvSpPr>
          <p:cNvPr id="51" name="Shape 49"/>
          <p:cNvSpPr/>
          <p:nvPr/>
        </p:nvSpPr>
        <p:spPr>
          <a:xfrm>
            <a:off x="6164428" y="4946904"/>
            <a:ext cx="73152" cy="1143000"/>
          </a:xfrm>
          <a:prstGeom prst="rect">
            <a:avLst/>
          </a:prstGeom>
          <a:solidFill>
            <a:srgbClr val="2A7448"/>
          </a:solidFill>
          <a:ln w="12700">
            <a:solidFill>
              <a:srgbClr val="2A7448"/>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ADH</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Pituitary hormone: makes collecting ducts more permeable to water.</a:t>
            </a:r>
            <a:endParaRPr lang="en-US" sz="1200" dirty="0"/>
          </a:p>
        </p:txBody>
      </p:sp>
      <p:sp>
        <p:nvSpPr>
          <p:cNvPr id="53" name="Shape 51"/>
          <p:cNvSpPr/>
          <p:nvPr/>
        </p:nvSpPr>
        <p:spPr>
          <a:xfrm>
            <a:off x="9040901" y="4946904"/>
            <a:ext cx="2739314" cy="1143000"/>
          </a:xfrm>
          <a:prstGeom prst="rect">
            <a:avLst/>
          </a:prstGeom>
          <a:solidFill>
            <a:srgbClr val="F5FBF7"/>
          </a:solidFill>
          <a:ln w="9525">
            <a:solidFill>
              <a:srgbClr val="D2E5D8"/>
            </a:solidFill>
            <a:prstDash val="solid"/>
          </a:ln>
        </p:spPr>
      </p:sp>
      <p:sp>
        <p:nvSpPr>
          <p:cNvPr id="54" name="Shape 52"/>
          <p:cNvSpPr/>
          <p:nvPr/>
        </p:nvSpPr>
        <p:spPr>
          <a:xfrm>
            <a:off x="9040901" y="4946904"/>
            <a:ext cx="73152" cy="1143000"/>
          </a:xfrm>
          <a:prstGeom prst="rect">
            <a:avLst/>
          </a:prstGeom>
          <a:solidFill>
            <a:srgbClr val="2A7448"/>
          </a:solidFill>
          <a:ln w="12700">
            <a:solidFill>
              <a:srgbClr val="2A7448"/>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C3A2C"/>
                </a:solidFill>
                <a:latin typeface="Calibri" pitchFamily="34" charset="0"/>
                <a:ea typeface="Calibri" pitchFamily="34" charset="-122"/>
                <a:cs typeface="Calibri" pitchFamily="34" charset="-120"/>
              </a:rPr>
              <a:t>Dialysis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Urea and excess ions diffuse from blood into dialysis fluid across a membrane.</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Specification 7.19B–7.20B • answer every part • 13 marks (part (f) is HT)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39</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The table shows the concentration of some substances in the </a:t>
            </a:r>
            <a:r>
              <a:rPr lang="en-US" sz="1200" b="1" i="1" dirty="0">
                <a:solidFill>
                  <a:srgbClr val="262B3A"/>
                </a:solidFill>
                <a:latin typeface="Calibri" pitchFamily="34" charset="0"/>
                <a:ea typeface="Calibri" pitchFamily="34" charset="-122"/>
                <a:cs typeface="Calibri" pitchFamily="34" charset="-120"/>
              </a:rPr>
              <a:t>blood plasma</a:t>
            </a:r>
            <a:r>
              <a:rPr lang="en-US" sz="1200" i="1" dirty="0">
                <a:solidFill>
                  <a:srgbClr val="262B3A"/>
                </a:solidFill>
                <a:latin typeface="Calibri" pitchFamily="34" charset="0"/>
                <a:ea typeface="Calibri" pitchFamily="34" charset="-122"/>
                <a:cs typeface="Calibri" pitchFamily="34" charset="-120"/>
              </a:rPr>
              <a:t>, the </a:t>
            </a:r>
            <a:r>
              <a:rPr lang="en-US" sz="1200" b="1" i="1" dirty="0">
                <a:solidFill>
                  <a:srgbClr val="262B3A"/>
                </a:solidFill>
                <a:latin typeface="Calibri" pitchFamily="34" charset="0"/>
                <a:ea typeface="Calibri" pitchFamily="34" charset="-122"/>
                <a:cs typeface="Calibri" pitchFamily="34" charset="-120"/>
              </a:rPr>
              <a:t>filtrate</a:t>
            </a:r>
            <a:r>
              <a:rPr lang="en-US" sz="1200" i="1" dirty="0">
                <a:solidFill>
                  <a:srgbClr val="262B3A"/>
                </a:solidFill>
                <a:latin typeface="Calibri" pitchFamily="34" charset="0"/>
                <a:ea typeface="Calibri" pitchFamily="34" charset="-122"/>
                <a:cs typeface="Calibri" pitchFamily="34" charset="-120"/>
              </a:rPr>
              <a:t> in Bowman's capsule and the </a:t>
            </a:r>
            <a:r>
              <a:rPr lang="en-US" sz="1200" b="1" i="1" dirty="0">
                <a:solidFill>
                  <a:srgbClr val="262B3A"/>
                </a:solidFill>
                <a:latin typeface="Calibri" pitchFamily="34" charset="0"/>
                <a:ea typeface="Calibri" pitchFamily="34" charset="-122"/>
                <a:cs typeface="Calibri" pitchFamily="34" charset="-120"/>
              </a:rPr>
              <a:t>urine</a:t>
            </a:r>
            <a:r>
              <a:rPr lang="en-US" sz="1200" i="1" dirty="0">
                <a:solidFill>
                  <a:srgbClr val="262B3A"/>
                </a:solidFill>
                <a:latin typeface="Calibri" pitchFamily="34" charset="0"/>
                <a:ea typeface="Calibri" pitchFamily="34" charset="-122"/>
                <a:cs typeface="Calibri" pitchFamily="34" charset="-120"/>
              </a:rPr>
              <a:t> of a healthy person (g per dm³): protein 80 / 0 / 0; glucose 1.0 / 1.0 / 0; urea 0.3 / 0.3 / 18.</a:t>
            </a:r>
            <a:endParaRPr lang="en-US" sz="1200" dirty="0"/>
          </a:p>
        </p:txBody>
      </p:sp>
      <p:sp>
        <p:nvSpPr>
          <p:cNvPr id="9" name="Shape 7"/>
          <p:cNvSpPr/>
          <p:nvPr/>
        </p:nvSpPr>
        <p:spPr>
          <a:xfrm>
            <a:off x="411480" y="1719072"/>
            <a:ext cx="5570068" cy="1441704"/>
          </a:xfrm>
          <a:prstGeom prst="roundRect">
            <a:avLst>
              <a:gd name="adj" fmla="val 3171"/>
            </a:avLst>
          </a:prstGeom>
          <a:solidFill>
            <a:srgbClr val="F5FBF7"/>
          </a:solidFill>
          <a:ln w="9525">
            <a:solidFill>
              <a:srgbClr val="D2E5D8"/>
            </a:solidFill>
            <a:prstDash val="solid"/>
          </a:ln>
        </p:spPr>
      </p:sp>
      <p:sp>
        <p:nvSpPr>
          <p:cNvPr id="10" name="Text 8"/>
          <p:cNvSpPr/>
          <p:nvPr/>
        </p:nvSpPr>
        <p:spPr>
          <a:xfrm>
            <a:off x="548640" y="1792224"/>
            <a:ext cx="5295748" cy="1075944"/>
          </a:xfrm>
          <a:prstGeom prst="rect">
            <a:avLst/>
          </a:prstGeom>
          <a:noFill/>
          <a:ln/>
        </p:spPr>
        <p:txBody>
          <a:bodyPr wrap="square" lIns="0" tIns="0" rIns="0" bIns="0" rtlCol="0" anchor="t"/>
          <a:lstStyle/>
          <a:p>
            <a:pPr indent="0" marL="0">
              <a:buNone/>
            </a:pPr>
            <a:r>
              <a:rPr lang="en-US" sz="1200" b="1" dirty="0">
                <a:solidFill>
                  <a:srgbClr val="2A7448"/>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Name the part of the nephron where the blood is filtered.</a:t>
            </a:r>
            <a:endParaRPr lang="en-US" sz="1200" dirty="0"/>
          </a:p>
        </p:txBody>
      </p:sp>
      <p:sp>
        <p:nvSpPr>
          <p:cNvPr id="11" name="Text 9"/>
          <p:cNvSpPr/>
          <p:nvPr/>
        </p:nvSpPr>
        <p:spPr>
          <a:xfrm>
            <a:off x="4518508"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3270504"/>
            <a:ext cx="5570068" cy="1441704"/>
          </a:xfrm>
          <a:prstGeom prst="roundRect">
            <a:avLst>
              <a:gd name="adj" fmla="val 3171"/>
            </a:avLst>
          </a:prstGeom>
          <a:solidFill>
            <a:srgbClr val="FFFFFF"/>
          </a:solidFill>
          <a:ln w="9525">
            <a:solidFill>
              <a:srgbClr val="D2E5D8"/>
            </a:solidFill>
            <a:prstDash val="solid"/>
          </a:ln>
        </p:spPr>
      </p:sp>
      <p:sp>
        <p:nvSpPr>
          <p:cNvPr id="13" name="Text 11"/>
          <p:cNvSpPr/>
          <p:nvPr/>
        </p:nvSpPr>
        <p:spPr>
          <a:xfrm>
            <a:off x="548640" y="3343656"/>
            <a:ext cx="5295748" cy="1075944"/>
          </a:xfrm>
          <a:prstGeom prst="rect">
            <a:avLst/>
          </a:prstGeom>
          <a:noFill/>
          <a:ln/>
        </p:spPr>
        <p:txBody>
          <a:bodyPr wrap="square" lIns="0" tIns="0" rIns="0" bIns="0" rtlCol="0" anchor="t"/>
          <a:lstStyle/>
          <a:p>
            <a:pPr indent="0" marL="0">
              <a:buNone/>
            </a:pPr>
            <a:r>
              <a:rPr lang="en-US" sz="1200" b="1" dirty="0">
                <a:solidFill>
                  <a:srgbClr val="2A7448"/>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Explain why there is no protein in the filtrate.</a:t>
            </a:r>
            <a:endParaRPr lang="en-US" sz="1200" dirty="0"/>
          </a:p>
        </p:txBody>
      </p:sp>
      <p:sp>
        <p:nvSpPr>
          <p:cNvPr id="14" name="Text 12"/>
          <p:cNvSpPr/>
          <p:nvPr/>
        </p:nvSpPr>
        <p:spPr>
          <a:xfrm>
            <a:off x="4518508"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821936"/>
            <a:ext cx="5570068" cy="1441704"/>
          </a:xfrm>
          <a:prstGeom prst="roundRect">
            <a:avLst>
              <a:gd name="adj" fmla="val 3171"/>
            </a:avLst>
          </a:prstGeom>
          <a:solidFill>
            <a:srgbClr val="F5FBF7"/>
          </a:solidFill>
          <a:ln w="9525">
            <a:solidFill>
              <a:srgbClr val="D2E5D8"/>
            </a:solidFill>
            <a:prstDash val="solid"/>
          </a:ln>
        </p:spPr>
      </p:sp>
      <p:sp>
        <p:nvSpPr>
          <p:cNvPr id="16" name="Text 14"/>
          <p:cNvSpPr/>
          <p:nvPr/>
        </p:nvSpPr>
        <p:spPr>
          <a:xfrm>
            <a:off x="548640" y="4895088"/>
            <a:ext cx="5295748" cy="1075944"/>
          </a:xfrm>
          <a:prstGeom prst="rect">
            <a:avLst/>
          </a:prstGeom>
          <a:noFill/>
          <a:ln/>
        </p:spPr>
        <p:txBody>
          <a:bodyPr wrap="square" lIns="0" tIns="0" rIns="0" bIns="0" rtlCol="0" anchor="t"/>
          <a:lstStyle/>
          <a:p>
            <a:pPr indent="0" marL="0">
              <a:buNone/>
            </a:pPr>
            <a:r>
              <a:rPr lang="en-US" sz="1200" b="1" dirty="0">
                <a:solidFill>
                  <a:srgbClr val="2A7448"/>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Explain why the concentration of glucose in the urine is 0.</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235746"/>
          </a:xfrm>
          <a:prstGeom prst="roundRect">
            <a:avLst>
              <a:gd name="adj" fmla="val 3700"/>
            </a:avLst>
          </a:prstGeom>
          <a:solidFill>
            <a:srgbClr val="F5FBF7"/>
          </a:solidFill>
          <a:ln w="9525">
            <a:solidFill>
              <a:srgbClr val="D2E5D8"/>
            </a:solidFill>
            <a:prstDash val="solid"/>
          </a:ln>
        </p:spPr>
      </p:sp>
      <p:sp>
        <p:nvSpPr>
          <p:cNvPr id="19" name="Text 17"/>
          <p:cNvSpPr/>
          <p:nvPr/>
        </p:nvSpPr>
        <p:spPr>
          <a:xfrm>
            <a:off x="6347308" y="1792224"/>
            <a:ext cx="5295748" cy="869986"/>
          </a:xfrm>
          <a:prstGeom prst="rect">
            <a:avLst/>
          </a:prstGeom>
          <a:noFill/>
          <a:ln/>
        </p:spPr>
        <p:txBody>
          <a:bodyPr wrap="square" lIns="0" tIns="0" rIns="0" bIns="0" rtlCol="0" anchor="t"/>
          <a:lstStyle/>
          <a:p>
            <a:pPr indent="0" marL="0">
              <a:buNone/>
            </a:pPr>
            <a:r>
              <a:rPr lang="en-US" sz="1200" b="1" dirty="0">
                <a:solidFill>
                  <a:srgbClr val="2A7448"/>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Calculate how many times more concentrated urea is in the urine than in the plasma.</a:t>
            </a:r>
            <a:endParaRPr lang="en-US" sz="1200" dirty="0"/>
          </a:p>
        </p:txBody>
      </p:sp>
      <p:sp>
        <p:nvSpPr>
          <p:cNvPr id="20" name="Text 18"/>
          <p:cNvSpPr/>
          <p:nvPr/>
        </p:nvSpPr>
        <p:spPr>
          <a:xfrm>
            <a:off x="10317175" y="264392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064546"/>
            <a:ext cx="5570068" cy="1359321"/>
          </a:xfrm>
          <a:prstGeom prst="roundRect">
            <a:avLst>
              <a:gd name="adj" fmla="val 3363"/>
            </a:avLst>
          </a:prstGeom>
          <a:solidFill>
            <a:srgbClr val="FFFFFF"/>
          </a:solidFill>
          <a:ln w="9525">
            <a:solidFill>
              <a:srgbClr val="D2E5D8"/>
            </a:solidFill>
            <a:prstDash val="solid"/>
          </a:ln>
        </p:spPr>
      </p:sp>
      <p:sp>
        <p:nvSpPr>
          <p:cNvPr id="22" name="Text 20"/>
          <p:cNvSpPr/>
          <p:nvPr/>
        </p:nvSpPr>
        <p:spPr>
          <a:xfrm>
            <a:off x="6347308" y="3137698"/>
            <a:ext cx="5295748" cy="993561"/>
          </a:xfrm>
          <a:prstGeom prst="rect">
            <a:avLst/>
          </a:prstGeom>
          <a:noFill/>
          <a:ln/>
        </p:spPr>
        <p:txBody>
          <a:bodyPr wrap="square" lIns="0" tIns="0" rIns="0" bIns="0" rtlCol="0" anchor="t"/>
          <a:lstStyle/>
          <a:p>
            <a:pPr indent="0" marL="0">
              <a:buNone/>
            </a:pPr>
            <a:r>
              <a:rPr lang="en-US" sz="1200" b="1" dirty="0">
                <a:solidFill>
                  <a:srgbClr val="2A7448"/>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The kidneys make 150 dm³ of filtrate a day and 1.2 dm³ of urine. Calculate the urine volume as a percentage of the filtrate.</a:t>
            </a:r>
            <a:endParaRPr lang="en-US" sz="1200" dirty="0"/>
          </a:p>
        </p:txBody>
      </p:sp>
      <p:sp>
        <p:nvSpPr>
          <p:cNvPr id="23" name="Text 21"/>
          <p:cNvSpPr/>
          <p:nvPr/>
        </p:nvSpPr>
        <p:spPr>
          <a:xfrm>
            <a:off x="10317175" y="4112971"/>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4533595"/>
            <a:ext cx="5570068" cy="1730045"/>
          </a:xfrm>
          <a:prstGeom prst="roundRect">
            <a:avLst>
              <a:gd name="adj" fmla="val 2643"/>
            </a:avLst>
          </a:prstGeom>
          <a:solidFill>
            <a:srgbClr val="F5FBF7"/>
          </a:solidFill>
          <a:ln w="9525">
            <a:solidFill>
              <a:srgbClr val="D2E5D8"/>
            </a:solidFill>
            <a:prstDash val="solid"/>
          </a:ln>
        </p:spPr>
      </p:sp>
      <p:sp>
        <p:nvSpPr>
          <p:cNvPr id="25" name="Text 23"/>
          <p:cNvSpPr/>
          <p:nvPr/>
        </p:nvSpPr>
        <p:spPr>
          <a:xfrm>
            <a:off x="6347308" y="4606747"/>
            <a:ext cx="4792828" cy="1364285"/>
          </a:xfrm>
          <a:prstGeom prst="rect">
            <a:avLst/>
          </a:prstGeom>
          <a:noFill/>
          <a:ln/>
        </p:spPr>
        <p:txBody>
          <a:bodyPr wrap="square" lIns="0" tIns="0" rIns="0" bIns="0" rtlCol="0" anchor="t"/>
          <a:lstStyle/>
          <a:p>
            <a:pPr indent="0" marL="0">
              <a:buNone/>
            </a:pPr>
            <a:r>
              <a:rPr lang="en-US" sz="1200" b="1" dirty="0">
                <a:solidFill>
                  <a:srgbClr val="2A7448"/>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On a hot day the person sweats a lot. Explain how ADH changes the volume and concentration of their urine.</a:t>
            </a:r>
            <a:endParaRPr lang="en-US" sz="1200" dirty="0"/>
          </a:p>
        </p:txBody>
      </p:sp>
      <p:sp>
        <p:nvSpPr>
          <p:cNvPr id="26" name="Shape 24"/>
          <p:cNvSpPr/>
          <p:nvPr/>
        </p:nvSpPr>
        <p:spPr>
          <a:xfrm>
            <a:off x="11231575" y="4606747"/>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11231575" y="4606747"/>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Text 26"/>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[4 marks]</a:t>
            </a:r>
            <a:endParaRPr lang="en-US" sz="1200" dirty="0"/>
          </a:p>
        </p:txBody>
      </p:sp>
      <p:sp>
        <p:nvSpPr>
          <p:cNvPr id="29" name="Text 27"/>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B6E46"/>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2E7D4F"/>
          </a:solidFill>
          <a:ln w="12700">
            <a:solidFill>
              <a:srgbClr val="2E7D4F"/>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2B6E46"/>
          </a:solidFill>
          <a:ln w="12700">
            <a:solidFill>
              <a:srgbClr val="2B6E46"/>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2F3E7"/>
                </a:solidFill>
                <a:latin typeface="Calibri" pitchFamily="34" charset="0"/>
                <a:ea typeface="Calibri" pitchFamily="34" charset="-122"/>
                <a:cs typeface="Calibri" pitchFamily="34" charset="-120"/>
              </a:rPr>
              <a:t>Topic 7 Animal coordination, control and homeostasis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A9CDB6"/>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A9CDB6"/>
                </a:solidFill>
                <a:latin typeface="Calibri" pitchFamily="34" charset="0"/>
                <a:ea typeface="Calibri" pitchFamily="34" charset="-122"/>
                <a:cs typeface="Calibri" pitchFamily="34" charset="-120"/>
              </a:rPr>
              <a:t>Homework  |  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AF5EE"/>
          </a:solidFill>
          <a:ln w="12700">
            <a:solidFill>
              <a:srgbClr val="EAF5EE"/>
            </a:solidFill>
            <a:prstDash val="solid"/>
          </a:ln>
        </p:spPr>
      </p:sp>
      <p:sp>
        <p:nvSpPr>
          <p:cNvPr id="3" name="Shape 1"/>
          <p:cNvSpPr/>
          <p:nvPr/>
        </p:nvSpPr>
        <p:spPr>
          <a:xfrm>
            <a:off x="0" y="987552"/>
            <a:ext cx="12191695" cy="27432"/>
          </a:xfrm>
          <a:prstGeom prst="rect">
            <a:avLst/>
          </a:prstGeom>
          <a:solidFill>
            <a:srgbClr val="CDE5D5"/>
          </a:solidFill>
          <a:ln w="12700">
            <a:solidFill>
              <a:srgbClr val="CDE5D5"/>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C3A2C"/>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A7448"/>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Biology (1BI0) | Topic 7 Animal coordination, control and homeostasis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41</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every question. Show your working for calculations.</a:t>
            </a:r>
            <a:endParaRPr lang="en-US" sz="1150" dirty="0"/>
          </a:p>
        </p:txBody>
      </p:sp>
      <p:sp>
        <p:nvSpPr>
          <p:cNvPr id="9" name="Shape 7"/>
          <p:cNvSpPr/>
          <p:nvPr/>
        </p:nvSpPr>
        <p:spPr>
          <a:xfrm>
            <a:off x="411480" y="1517904"/>
            <a:ext cx="5570068" cy="1530096"/>
          </a:xfrm>
          <a:prstGeom prst="roundRect">
            <a:avLst>
              <a:gd name="adj" fmla="val 2988"/>
            </a:avLst>
          </a:prstGeom>
          <a:solidFill>
            <a:srgbClr val="F5FBF7"/>
          </a:solidFill>
          <a:ln w="9525">
            <a:solidFill>
              <a:srgbClr val="D2E5D8"/>
            </a:solidFill>
            <a:prstDash val="solid"/>
          </a:ln>
        </p:spPr>
      </p:sp>
      <p:sp>
        <p:nvSpPr>
          <p:cNvPr id="10" name="Text 8"/>
          <p:cNvSpPr/>
          <p:nvPr/>
        </p:nvSpPr>
        <p:spPr>
          <a:xfrm>
            <a:off x="548640" y="1591056"/>
            <a:ext cx="5295748" cy="1182624"/>
          </a:xfrm>
          <a:prstGeom prst="rect">
            <a:avLst/>
          </a:prstGeom>
          <a:noFill/>
          <a:ln/>
        </p:spPr>
        <p:txBody>
          <a:bodyPr wrap="square" lIns="0" tIns="0" rIns="0" bIns="0" rtlCol="0" anchor="t"/>
          <a:lstStyle/>
          <a:p>
            <a:pPr indent="0" marL="0">
              <a:buNone/>
            </a:pPr>
            <a:r>
              <a:rPr lang="en-US" sz="1150" b="1" dirty="0">
                <a:solidFill>
                  <a:srgbClr val="2A7448"/>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Name the gland that releases </a:t>
            </a:r>
            <a:r>
              <a:rPr lang="en-US" sz="1150" b="1" dirty="0">
                <a:solidFill>
                  <a:srgbClr val="262B3A"/>
                </a:solidFill>
                <a:latin typeface="Calibri" pitchFamily="34" charset="0"/>
                <a:ea typeface="Calibri" pitchFamily="34" charset="-122"/>
                <a:cs typeface="Calibri" pitchFamily="34" charset="-120"/>
              </a:rPr>
              <a:t>insulin</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glucagon</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1" name="Text 9"/>
          <p:cNvSpPr/>
          <p:nvPr/>
        </p:nvSpPr>
        <p:spPr>
          <a:xfrm>
            <a:off x="4518508" y="275539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3157728"/>
            <a:ext cx="5570068" cy="1530096"/>
          </a:xfrm>
          <a:prstGeom prst="roundRect">
            <a:avLst>
              <a:gd name="adj" fmla="val 2988"/>
            </a:avLst>
          </a:prstGeom>
          <a:solidFill>
            <a:srgbClr val="F5FBF7"/>
          </a:solidFill>
          <a:ln w="9525">
            <a:solidFill>
              <a:srgbClr val="D2E5D8"/>
            </a:solidFill>
            <a:prstDash val="solid"/>
          </a:ln>
        </p:spPr>
      </p:sp>
      <p:sp>
        <p:nvSpPr>
          <p:cNvPr id="13" name="Text 11"/>
          <p:cNvSpPr/>
          <p:nvPr/>
        </p:nvSpPr>
        <p:spPr>
          <a:xfrm>
            <a:off x="548640" y="3230880"/>
            <a:ext cx="5295748" cy="1182624"/>
          </a:xfrm>
          <a:prstGeom prst="rect">
            <a:avLst/>
          </a:prstGeom>
          <a:noFill/>
          <a:ln/>
        </p:spPr>
        <p:txBody>
          <a:bodyPr wrap="square" lIns="0" tIns="0" rIns="0" bIns="0" rtlCol="0" anchor="t"/>
          <a:lstStyle/>
          <a:p>
            <a:pPr indent="0" marL="0">
              <a:buNone/>
            </a:pPr>
            <a:r>
              <a:rPr lang="en-US" sz="1150" b="1" dirty="0">
                <a:solidFill>
                  <a:srgbClr val="2A7448"/>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A woman has mass </a:t>
            </a:r>
            <a:r>
              <a:rPr lang="en-US" sz="1150" b="1" dirty="0">
                <a:solidFill>
                  <a:srgbClr val="262B3A"/>
                </a:solidFill>
                <a:latin typeface="Calibri" pitchFamily="34" charset="0"/>
                <a:ea typeface="Calibri" pitchFamily="34" charset="-122"/>
                <a:cs typeface="Calibri" pitchFamily="34" charset="-120"/>
              </a:rPr>
              <a:t>81 kg</a:t>
            </a:r>
            <a:r>
              <a:rPr lang="en-US" sz="1150" dirty="0">
                <a:solidFill>
                  <a:srgbClr val="262B3A"/>
                </a:solidFill>
                <a:latin typeface="Calibri" pitchFamily="34" charset="0"/>
                <a:ea typeface="Calibri" pitchFamily="34" charset="-122"/>
                <a:cs typeface="Calibri" pitchFamily="34" charset="-120"/>
              </a:rPr>
              <a:t> and height </a:t>
            </a:r>
            <a:r>
              <a:rPr lang="en-US" sz="1150" b="1" dirty="0">
                <a:solidFill>
                  <a:srgbClr val="262B3A"/>
                </a:solidFill>
                <a:latin typeface="Calibri" pitchFamily="34" charset="0"/>
                <a:ea typeface="Calibri" pitchFamily="34" charset="-122"/>
                <a:cs typeface="Calibri" pitchFamily="34" charset="-120"/>
              </a:rPr>
              <a:t>1.80 m</a:t>
            </a:r>
            <a:r>
              <a:rPr lang="en-US" sz="1150" dirty="0">
                <a:solidFill>
                  <a:srgbClr val="262B3A"/>
                </a:solidFill>
                <a:latin typeface="Calibri" pitchFamily="34" charset="0"/>
                <a:ea typeface="Calibri" pitchFamily="34" charset="-122"/>
                <a:cs typeface="Calibri" pitchFamily="34" charset="-120"/>
              </a:rPr>
              <a:t>. Calculate her BMI. Her waist is 99 cm and hips 110 cm: calculate her waist:hip ratio and comment on her risk (above 0.85 = higher risk).</a:t>
            </a:r>
            <a:endParaRPr lang="en-US" sz="1150" dirty="0"/>
          </a:p>
        </p:txBody>
      </p:sp>
      <p:sp>
        <p:nvSpPr>
          <p:cNvPr id="14" name="Text 12"/>
          <p:cNvSpPr/>
          <p:nvPr/>
        </p:nvSpPr>
        <p:spPr>
          <a:xfrm>
            <a:off x="4518508" y="439521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5" name="Shape 13"/>
          <p:cNvSpPr/>
          <p:nvPr/>
        </p:nvSpPr>
        <p:spPr>
          <a:xfrm>
            <a:off x="411480" y="4797552"/>
            <a:ext cx="5570068" cy="1530096"/>
          </a:xfrm>
          <a:prstGeom prst="roundRect">
            <a:avLst>
              <a:gd name="adj" fmla="val 2988"/>
            </a:avLst>
          </a:prstGeom>
          <a:solidFill>
            <a:srgbClr val="F5FBF7"/>
          </a:solidFill>
          <a:ln w="9525">
            <a:solidFill>
              <a:srgbClr val="D2E5D8"/>
            </a:solidFill>
            <a:prstDash val="solid"/>
          </a:ln>
        </p:spPr>
      </p:sp>
      <p:sp>
        <p:nvSpPr>
          <p:cNvPr id="16" name="Text 14"/>
          <p:cNvSpPr/>
          <p:nvPr/>
        </p:nvSpPr>
        <p:spPr>
          <a:xfrm>
            <a:off x="548640" y="4870704"/>
            <a:ext cx="4792828" cy="1182624"/>
          </a:xfrm>
          <a:prstGeom prst="rect">
            <a:avLst/>
          </a:prstGeom>
          <a:noFill/>
          <a:ln/>
        </p:spPr>
        <p:txBody>
          <a:bodyPr wrap="square" lIns="0" tIns="0" rIns="0" bIns="0" rtlCol="0" anchor="t"/>
          <a:lstStyle/>
          <a:p>
            <a:pPr indent="0" marL="0">
              <a:buNone/>
            </a:pPr>
            <a:r>
              <a:rPr lang="en-US" sz="1150" b="1" dirty="0">
                <a:solidFill>
                  <a:srgbClr val="2A7448"/>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Describe how thyroxine levels are returned to normal when they fall too low.</a:t>
            </a:r>
            <a:endParaRPr lang="en-US" sz="1150" dirty="0"/>
          </a:p>
        </p:txBody>
      </p:sp>
      <p:sp>
        <p:nvSpPr>
          <p:cNvPr id="17" name="Shape 15"/>
          <p:cNvSpPr/>
          <p:nvPr/>
        </p:nvSpPr>
        <p:spPr>
          <a:xfrm>
            <a:off x="5432908" y="4870704"/>
            <a:ext cx="411480" cy="274320"/>
          </a:xfrm>
          <a:prstGeom prst="roundRect">
            <a:avLst>
              <a:gd name="adj" fmla="val 50000"/>
            </a:avLst>
          </a:prstGeom>
          <a:solidFill>
            <a:srgbClr val="C8414C"/>
          </a:solidFill>
          <a:ln w="12700">
            <a:solidFill>
              <a:srgbClr val="C8414C"/>
            </a:solidFill>
            <a:prstDash val="solid"/>
          </a:ln>
        </p:spPr>
      </p:sp>
      <p:sp>
        <p:nvSpPr>
          <p:cNvPr id="18" name="Text 16"/>
          <p:cNvSpPr/>
          <p:nvPr/>
        </p:nvSpPr>
        <p:spPr>
          <a:xfrm>
            <a:off x="5432908" y="487070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9" name="Text 17"/>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0" name="Shape 18"/>
          <p:cNvSpPr/>
          <p:nvPr/>
        </p:nvSpPr>
        <p:spPr>
          <a:xfrm>
            <a:off x="6210148" y="1517904"/>
            <a:ext cx="5570068" cy="997889"/>
          </a:xfrm>
          <a:prstGeom prst="roundRect">
            <a:avLst>
              <a:gd name="adj" fmla="val 4582"/>
            </a:avLst>
          </a:prstGeom>
          <a:solidFill>
            <a:srgbClr val="F5FBF7"/>
          </a:solidFill>
          <a:ln w="9525">
            <a:solidFill>
              <a:srgbClr val="D2E5D8"/>
            </a:solidFill>
            <a:prstDash val="solid"/>
          </a:ln>
        </p:spPr>
      </p:sp>
      <p:sp>
        <p:nvSpPr>
          <p:cNvPr id="21" name="Text 19"/>
          <p:cNvSpPr/>
          <p:nvPr/>
        </p:nvSpPr>
        <p:spPr>
          <a:xfrm>
            <a:off x="6347308" y="1591056"/>
            <a:ext cx="5295748" cy="650417"/>
          </a:xfrm>
          <a:prstGeom prst="rect">
            <a:avLst/>
          </a:prstGeom>
          <a:noFill/>
          <a:ln/>
        </p:spPr>
        <p:txBody>
          <a:bodyPr wrap="square" lIns="0" tIns="0" rIns="0" bIns="0" rtlCol="0" anchor="t"/>
          <a:lstStyle/>
          <a:p>
            <a:pPr indent="0" marL="0">
              <a:buNone/>
            </a:pPr>
            <a:r>
              <a:rPr lang="en-US" sz="1150" b="1" dirty="0">
                <a:solidFill>
                  <a:srgbClr val="2A7448"/>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Describe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ways the skin helps to cool the body on a hot day.</a:t>
            </a:r>
            <a:endParaRPr lang="en-US" sz="1150" dirty="0"/>
          </a:p>
        </p:txBody>
      </p:sp>
      <p:sp>
        <p:nvSpPr>
          <p:cNvPr id="22" name="Text 20"/>
          <p:cNvSpPr/>
          <p:nvPr/>
        </p:nvSpPr>
        <p:spPr>
          <a:xfrm>
            <a:off x="10317175" y="222318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6210148" y="2625521"/>
            <a:ext cx="5570068" cy="997889"/>
          </a:xfrm>
          <a:prstGeom prst="roundRect">
            <a:avLst>
              <a:gd name="adj" fmla="val 4582"/>
            </a:avLst>
          </a:prstGeom>
          <a:solidFill>
            <a:srgbClr val="F5FBF7"/>
          </a:solidFill>
          <a:ln w="9525">
            <a:solidFill>
              <a:srgbClr val="D2E5D8"/>
            </a:solidFill>
            <a:prstDash val="solid"/>
          </a:ln>
        </p:spPr>
      </p:sp>
      <p:sp>
        <p:nvSpPr>
          <p:cNvPr id="24" name="Text 22"/>
          <p:cNvSpPr/>
          <p:nvPr/>
        </p:nvSpPr>
        <p:spPr>
          <a:xfrm>
            <a:off x="6347308" y="2698673"/>
            <a:ext cx="5295748" cy="650417"/>
          </a:xfrm>
          <a:prstGeom prst="rect">
            <a:avLst/>
          </a:prstGeom>
          <a:noFill/>
          <a:ln/>
        </p:spPr>
        <p:txBody>
          <a:bodyPr wrap="square" lIns="0" tIns="0" rIns="0" bIns="0" rtlCol="0" anchor="t"/>
          <a:lstStyle/>
          <a:p>
            <a:pPr indent="0" marL="0">
              <a:buNone/>
            </a:pPr>
            <a:r>
              <a:rPr lang="en-US" sz="1150" b="1" dirty="0">
                <a:solidFill>
                  <a:srgbClr val="2A7448"/>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differences between the composition of the filtrate in Bowman's capsule and urine.</a:t>
            </a:r>
            <a:endParaRPr lang="en-US" sz="1150" dirty="0"/>
          </a:p>
        </p:txBody>
      </p:sp>
      <p:sp>
        <p:nvSpPr>
          <p:cNvPr id="25" name="Text 23"/>
          <p:cNvSpPr/>
          <p:nvPr/>
        </p:nvSpPr>
        <p:spPr>
          <a:xfrm>
            <a:off x="10317175" y="3330801"/>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3733137"/>
            <a:ext cx="5570068" cy="2594511"/>
          </a:xfrm>
          <a:prstGeom prst="roundRect">
            <a:avLst>
              <a:gd name="adj" fmla="val 1762"/>
            </a:avLst>
          </a:prstGeom>
          <a:solidFill>
            <a:srgbClr val="FFF4E0"/>
          </a:solidFill>
          <a:ln w="9525">
            <a:solidFill>
              <a:srgbClr val="F1D9A8"/>
            </a:solidFill>
            <a:prstDash val="solid"/>
          </a:ln>
        </p:spPr>
      </p:sp>
      <p:sp>
        <p:nvSpPr>
          <p:cNvPr id="27" name="Text 25"/>
          <p:cNvSpPr/>
          <p:nvPr/>
        </p:nvSpPr>
        <p:spPr>
          <a:xfrm>
            <a:off x="6347308" y="3806289"/>
            <a:ext cx="5295748" cy="2247039"/>
          </a:xfrm>
          <a:prstGeom prst="rect">
            <a:avLst/>
          </a:prstGeom>
          <a:noFill/>
          <a:ln/>
        </p:spPr>
        <p:txBody>
          <a:bodyPr wrap="square" lIns="0" tIns="0" rIns="0" bIns="0" rtlCol="0" anchor="t"/>
          <a:lstStyle/>
          <a:p>
            <a:pPr indent="0" marL="0">
              <a:buNone/>
            </a:pPr>
            <a:r>
              <a:rPr lang="en-US" sz="1150" b="1" dirty="0">
                <a:solidFill>
                  <a:srgbClr val="2A7448"/>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A patient has kidney failure. </a:t>
            </a:r>
            <a:r>
              <a:rPr lang="en-US" sz="1150" b="1" dirty="0">
                <a:solidFill>
                  <a:srgbClr val="262B3A"/>
                </a:solidFill>
                <a:latin typeface="Calibri" pitchFamily="34" charset="0"/>
                <a:ea typeface="Calibri" pitchFamily="34" charset="-122"/>
                <a:cs typeface="Calibri" pitchFamily="34" charset="-120"/>
              </a:rPr>
              <a:t>Evaluate</a:t>
            </a:r>
            <a:r>
              <a:rPr lang="en-US" sz="1150" dirty="0">
                <a:solidFill>
                  <a:srgbClr val="262B3A"/>
                </a:solidFill>
                <a:latin typeface="Calibri" pitchFamily="34" charset="0"/>
                <a:ea typeface="Calibri" pitchFamily="34" charset="-122"/>
                <a:cs typeface="Calibri" pitchFamily="34" charset="-120"/>
              </a:rPr>
              <a:t> the use of dialysis and a kidney transplant as treatments for this patient.</a:t>
            </a:r>
            <a:endParaRPr lang="en-US" sz="1150" dirty="0"/>
          </a:p>
        </p:txBody>
      </p:sp>
      <p:sp>
        <p:nvSpPr>
          <p:cNvPr id="28" name="Text 26"/>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Edexcel 1BI0 Topic 7 Animal coordination, control and homeostasis</dc:title>
  <dc:subject>PptxGenJS Presentation</dc:subject>
  <dc:creator>GCSE Biology</dc:creator>
  <cp:lastModifiedBy>GCSE Biology</cp:lastModifiedBy>
  <cp:revision>1</cp:revision>
  <dcterms:created xsi:type="dcterms:W3CDTF">2026-11-01T11:03:51Z</dcterms:created>
  <dcterms:modified xsi:type="dcterms:W3CDTF">2026-11-01T11:03:51Z</dcterms:modified>
</cp:coreProperties>
</file>