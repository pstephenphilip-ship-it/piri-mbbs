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 Chemical changes (Paper 1). Higher-only statements (HT pill): 3.5 (pH factor of ten), 3.8 (strong and weak acids), 3.27 (half equations), 3.28 (oxidation and reduction as electron loss and gain) and Topic 0 statement 0.4 (write balanced ionic equations), which is assessed in every topic. Chemistry-only: no Topic 3 statement carries a C suffix in our check (Topic 3 is shared with Combined Science 1SC0); the titration Core Practical and calculation (5.9C, 5.10C) are chemistry only and are linked on the titration slides. Core Practicals: 3.6, 3.17, 3.31. See SPEC_T3.md for sources and confidence.
Ionic and half equations are a thread through the whole deck: dedicated method slides (ionic: slide 15; half equations: slide 31) plus practice in every recap, the full question and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 pill = the group contains a Higher-only (bold H) statement: 3.5, 3.8, 0.4, 3.27, 3.28. Foundation students still learn the word equations, observations, products of electrolysis, OIL RIG at the level of 3.29 (reduction at the cathode, oxidation at the anode) and all three Core Practicals.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Chemistry-only statements in Topic 3: none found (medium confidence; 3.18 titration-to-make-a-salt is treated as both courses, UNVERIFIED). The titration Core Practical (5.9C) and titration calculations (5.10C) sit in Topic 5 Separate chemistry 1 and are chemistry only; this deck links to them on slide 22.
Higher-only: 3.5, 3.8, 3.27, 3.28 and 0.4 (Topic 0). Check the bold H markers against the Pearson spec PDF (see SPEC_T3.md).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SO₄²⁻, NO₃⁻, OH⁻, CO₃²⁻ (all four for the mark).
2. Each sodium atom loses (transfers) one electron to a chlorine atom; Na⁺ and Cl⁻ ions form (full outer shells), held by electrostatic attraction.
3. Molten: the ions are free to move and carry charge; solid: the ions are held in fixed positions in the lattice.
4. 2Mg + O₂ → 2MgO.
5. solid, liquid, gas, aqueous (dissolved in water).
6. 40 + 12 + 3 × 16 = 100.
These are exactly the skills the ionic-equation and half-equation slides need: ion formulae, charges and state symbols.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nitric acid: H⁺(aq) and NO₃⁻(aq) (1); potassium hydroxide: K⁺(aq) and OH⁻(aq) (1); H⁺ makes it acidic, OH⁻ makes it alkaline (1).
Equations checked in node for atoms and charge: HCl(aq) → H⁺(aq) + Cl⁻(aq); H₂SO₄(aq) → 2H⁺(aq) + SO₄²⁻(aq); HNO₃(aq) → H⁺(aq) + NO₃⁻(aq); NaOH(aq) → Na⁺(aq) + OH⁻(aq).
Note: sulfuric acid gives TWO H⁺ per formula; students often write H₂⁺ – stress the coefficient 2H⁺.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X is acidic (pH below 7; red in methyl orange) (1). Y is alkaline, so Y has more OH⁻ than H⁺ (1).
Spec 3.3 names litmus, methyl orange and phenolphthalein. Methyl orange changes red → yellow at about pH 3–4.5 (orange at the end point); phenolphthalein colourless → pink at about pH 8.3–10. Universal indicator is a mixture of indicators, so it gives a range of colours.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6 marks)
Q1 [2]: Hydrogen ion / H⁺ (1); hydroxide ion / OH⁻ (1).
Q2 [2]: Yellow (1); colourless (1).
Q3 [2]: A (1); the lower the pH, the higher the concentration of H⁺ ions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3 − 1 = 2 units → 10² = 100 times (1). Diluting 10 times → [H⁺] ÷ 10 → pH 2 (1).
Values checked in node: pH = −log₁₀[H⁺] for [H⁺] = 10⁻¹…10⁻⁶; 10^(5−2) = 1000; 0.1 × 10/100 = 0.01 → pH 2. Students do not need logarithms: only the factor-of-ten rule (3.5, Higher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pH depends on [H⁺] (1). The strong acid ionises fully, so even a little acid gives many H⁺ ions; the weak acid ionises only partly, so a lot of acid is needed to give the same [H⁺] (1).
Numbers checked in node: 0.10 mol dm⁻³ HCl pH 1.0; 0.10 mol dm⁻³ ethanoic acid (Ka = 1.74 × 10⁻⁵) pH 2.9, 1.3 % ionised. Equation checked: CH₃COOH(aq) ⇌ CH₃COO⁻(aq) + H⁺(aq).
Common error: using "strong" to mean "concentrated". In mark schemes, "strong = fully ionised/dissociated" is required; "weak = partially". 3.8 is Higher only; 3.7 is both 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6 marks)
Q1 [2]: Strong acid is completely / fully dissociated / ionised in water (1); weak acid is only partially dissociated / ionised (1).
Q2 [2]: Concentrated: a large amount (mass / moles) of acid in a given volume (of water/solution) (1); dilute: a small amount of acid in the same volume (1).
Q3 [2]: pH increased by 2 units (1); [H⁺] decreased by a factor of 10² = 100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calcium hydroxide is only slightly soluble and reacts slowly; stirring and waiting lets it react/dissolve so the reading is steady (1). A pH meter gives a numerical reading (to 0.1 or 0.01) with no judgement of colour, so it is more precise/objective (1).
Reaction (balanced in node): Ca(OH)₂(s) + 2HCl(aq) → CaCl₂(aq) + 2H₂O(l); with calcium oxide: CaO(s) + 2HCl(aq) → CaCl₂(aq) + H₂O(l). Ionic (HT): Ca(OH)₂(s) + 2H⁺(aq) → Ca²⁺(aq) + 2H₂O(l).
CLEAPSS-style hazards: dilute HCl (about 0.4–1 mol dm⁻³) low hazard/irritant; calcium hydroxide IRRITANT, risk of serious eye damage; calcium oxide CORROSIVE and reacts exothermically with water – use calcium hydroxide where possible. Eye protection throughout; avoid raising dust. Calibrate the pH meter with buffer solutions first and rinse the probe with distilled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about 0.74 g (accept 0.7–0.8 g) (1). At 0.5 g: calcium chloride and (unreacted) hydrochloric acid (1).
Model (checked in node): n(H⁺) = 0.40 × 0.0500 = 0.020 mol; Ca(OH)₂ needed = 0.010 mol × 74 = 0.74 g. Before the end point pH = −log[H⁺ remaining]; afterwards pH is capped by a saturated Ca(OH)₂ solution (≈12.6). Real class results rise less sharply because the solid reacts slowly – a great discussion point.
Ionic (HT): Ca(OH)₂(s) + 2H⁺(aq) → Ca²⁺(aq) + 2H₂O(l).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zinc nitrate (1). Bubble the gas through limewater (calcium hydroxide solution); it turns milky/cloudy → carbon dioxide (1).
All equations checked in node (atoms and charges): Mg(s) + 2HCl(aq) → MgCl₂(aq) + H₂(g); CuO(s) + H₂SO₄(aq) → CuSO₄(aq) + H₂O(l); Mg(OH)₂(s) + 2HNO₃(aq) → Mg(NO₃)₂(aq) + 2H₂O(l); CaCO₃(s) + 2HCl(aq) → CaCl₂(aq) + H₂O(l) + CO₂(g); limewater: Ca(OH)₂(aq) + CO₂(g) → CaCO₃(s) + H₂O(l); the "pop": 2H₂(g) + O₂(g) → 2H₂O(l).
The limewater equation is a link to Topic 9 (tests) – students need only the observation for 3.12.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spectator ions K⁺ and NO₃⁻ (1); salt = potassium nitrate (1).
Checked in node: HCl(aq) + NaOH(aq) → NaCl(aq) + H₂O(l); split into ions: H⁺(aq) + Cl⁻(aq) + Na⁺(aq) + OH⁻(aq) → Na⁺(aq) + Cl⁻(aq) + H₂O(l); ionic: H⁺(aq) + OH⁻(aq) → H₂O(l); H₂SO₄(aq) + 2KOH(aq) → K₂SO₄(aq) + 2H₂O(l).
This slide sets up the ionic-equation METHOD on the next slide: write the ions, spot the ions that appear unchanged on both sides, cancel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full: K₂CO₃(aq) + 2HNO₃(aq) → 2KNO₃(aq) + H₂O(l) + CO₂(g) (1); ionic: CO₃²⁻(aq) + 2H⁺(aq) → H₂O(l) + CO₂(g) (1); spectator ions K⁺ and NO₃⁻ (1). The ionic equation is identical to the sodium carbonate one – that is the point of ionic equations: they show only the particles that react.
All four lines are generated from the same data and checked in node for atoms and charges.
Teaching tip: give students the ion "cards" (Na⁺, CO₃²⁻ …) and physically remove the spectators. Typical errors: splitting CO₂ or H₂O; writing Na₂⁺ instead of 2Na⁺; forgetting to balance charge; leaving out state symbols (mark schemes usually need states only when asked, but always practise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full: Zn(s) + 2HCl(aq) → ZnCl₂(aq) + H₂(g) (1); ionic: Zn(s) + 2H⁺(aq) → Zn²⁺(aq) + H₂(g) (1); spectator: Cl⁻ (1).
Every equation on this slide is checked in node for atoms and charge. Extension (HT): carbonate: CaCO₃(s) + 2HCl(aq) → CaCl₂(aq) + H₂O(l) + CO₂(g) → CaCO₃(s) + 2H⁺(aq) → Ca²⁺(aq) + H₂O(l) + CO₂(g) (CaCO₃ is a solid, so it stays whole; compare with Na₂CO₃(aq) on the method slide, where CO₃²⁻ is written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7 marks)
Q1 [2]: H⁺(aq) + OH⁻(aq) → H₂O(l): correct species (1); state symbols (1).
Q2 [2]: Na⁺ and SO₄²⁻ (1); they do not take part in the reaction / are unchanged / appear the same on both sides (1).
Q3 [3]: MgO(s) + 2H⁺(aq) → Mg²⁺(aq) + H₂O(l): correct species (1), balanced (1); MgO is a solid / insoluble, so its ions are not free in solution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black solid remains / no more dissolves even after stirring (1); it is insoluble so it is removed by filtering (1).
Checked in node: CuO(s) + H₂SO₄(aq) → CuSO₄(aq) + H₂O(l). Ionic (HT): CuO(s) + 2H⁺(aq) → Cu²⁺(aq) + H₂O(l).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to see when no more reacts (excess) without wasting a lot / to stop frothing over (1). Heating to dryness makes the crystals lose their water of crystallisation (turn white, anhydrous) and spit (1).
Checked in node: CuO(s) + H₂SO₄(aq) → CuSO₄(aq) + H₂O(l); crystallisation: CuSO₄(aq) + 5H₂O(l) → CuSO₄·5H₂O(s).
Variables (preparation, not an investigation): to compare yields, control the volume and concentration of acid, the water-bath temperature and the time left to crystallise.
CLEAPSS-style hazards: H₂SO₄ 0.5–1.0 mol dm⁻³ IRRITANT (skin, eyes); CuO HARMFUL if swallowed, hazardous to the aquatic environment; CuSO₄ HARMFUL if swallowed, causes eye and skin irritation, toxic to aquatic life – do not pour down the sink. Hot water bath and Bunsen: scald and burn risk; eye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any two (1 each): some solution lost when filtering/transferring; not all the copper sulfate crystallised (some left in the solution); crystals lost when drying; some crystals decomposed/overheated (lost water).
Checked in node: 0.025 mol × Mr 249.5 = 6.24 g → 6.2 g; 4.10 g ÷ 6.2 g × 100 = 66 %. Dehydration: CuSO₄·5H₂O(s) → CuSO₄(s) + 5H₂O(g). Percentage yield calculations are chemistry-only Topic 5 content (link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UI changes colour gradually through many colours, so there is no sharp end point (1); indicator would contaminate the salt (1).
Checked in node: NaOH(aq) + HCl(aq) → NaCl(aq) + H₂O(l).
3.18 is listed in our sources for Topic 3 and treated as both courses (UNVERIFIED). The accurate-titration Core Practical (5.9C) and titration calculations (5.10C) are chemistry only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rough titre (23.10 cm³) – it is only a guide, overshot (1). Systematic error (same bias in every reading; but titres are differences so it largely cancels) (1).
Numbers checked in node: titres 23.10, 22.45, 22.35, 22.40; concordant spread 0.10 cm³; mean 22.40 cm³; n(HCl) = 0.00224 mol; c(NaOH) = 0.0896 mol dm⁻³.
SPEC NOTE: Edexcel places the accurate titration Core Practical (5.9C) and titration calculations (5.10C; mol dm⁻³ Higher) in Topic 5 Separate chemistry 1, which is CHEMISTRY ONLY. It is taught here because it uses the same apparatus as 3.18. Combined Science (1SC0) classes skip this slide.
CLEAPSS-style hazards: 0.1 mol dm⁻³ HCl and NaOH low hazard / irritant to eyes; methyl orange is toxic if swallowed (small amounts); fill the burette below eye level using a funnel, then remove the funnel; pipette filler always.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9 marks)
Q1 [2]: So that all the acid reacts / no acid left in the salt (1); filter (it is insoluble) (1).
Q2 [2]: Water bath gives gentle / controlled heating (1); heating to dryness would remove the water of crystallisation / form anhydrous (white) copper sulfate / crystals spit (1).
Q3 [2]: 24.15 and 24.25 (within 0.10 cm³) (1); mean = 24.20 cm³ (1).
Q4 [3]: n(HNO₃) = 0.150 × 20.00/1000 = 3.00 × 10⁻³ mol (1); 1 : 1 so n(KOH) = 3.00 × 10⁻³ mol (1); c = 3.00 × 10⁻³ ÷ 0.0250 = 0.120 mol dm⁻³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yes – barium sulfate (white) (1); lead nitrate + sodium nitrate: no reaction / no precipitate, all nitrates are soluble (1).
The grid is generated in node from a function of rules a–e and checked against known cases (AgCl, BaSO₄, Cu(OH)₂ insoluble; CuSO₄, K₂CO₃, Pb(NO₃)₂ soluble). Silver hydroxide and silver/lead carbonates are shown as the rules predict; students are not asked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Cu²⁺(aq) + 2OH⁻(aq) → Cu(OH)₂(s) – species (1), balanced with 2OH⁻ (1). Full equation: CuSO₄(aq) + 2NaOH(aq) → Cu(OH)₂(s) + Na₂SO₄(aq).
All checked in node for atoms and charges: AgNO₃(aq) + NaCl(aq) → AgCl(s) + NaNO₃(aq); Ag⁺(aq) + NO₃⁻(aq) + Na⁺(aq) + Cl⁻(aq) → AgCl(s) + Na⁺(aq) + NO₃⁻(aq); Ag⁺(aq) + Cl⁻(aq) → AgCl(s); BaCl₂(aq) + Na₂SO₄(aq) → BaSO₄(s) + 2NaCl(aq); Ba²⁺(aq) + 2Cl⁻(aq) + 2Na⁺(aq) + SO₄²⁻(aq) → BaSO₄(s) + 2Na⁺(aq) + 2Cl⁻(aq); Ba²⁺(aq) + SO₄²⁻(aq) → BaSO₄(s).
The silver nitrate and barium chloride tests reappear in Topic 9 (tests for halide and sulfate 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tap water contains dissolved ions/salts that would contaminate the solid (1); a very hot oven might decompose the salt (or spit) (1).
Checked in node: CaCl₂(aq) + Na₂CO₃(aq) → CaCO₃(s) + 2NaCl(aq); Ca²⁺(aq) + CO₃²⁻(aq) → CaCO₃(s). Alternative classic example (lead compounds are toxic, demonstration only): Pb(NO₃)₂(aq) + Na₂SO₄(aq) → PbSO₄(s) + 2NaNO₃(aq) → Pb²⁺(aq) + SO₄²⁻(aq) → PbSO₄(s).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7 marks)
Q1 [2]: (i) yes, lead chloride (1); (ii) no precipitate (all sodium, potassium salts and nitrates are soluble) (1).
Q2 [2]: Pb²⁺(aq) + 2Cl⁻(aq) → PbCl₂(s): species and balancing (1); state symbols (1).
Q3 [3]: Filter (1); wash the residue with distilled water (1); dry in a warm oven / between filter papers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in the solid the ions are fixed in the lattice / cannot move (1); when molten the ions are free to move to the electrodes (and carry charge) (1). Pb²⁺ (lead ions) move to the cathode (1).
Inert electrodes (graphite or platinum) do not react; they only conduct. Products at each electrode are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sodium at the cathode, chlorine at the anode (1). HT: Na⁺(l) + e⁻ → Na(l) (1); 2Cl⁻(l) → Cl₂(g) + 2e⁻ (1).
Half equations for the worked examples (HT, all checked in node): ZnCl₂: Zn²⁺(l) + 2e⁻ → Zn(l), 2Cl⁻(l) → Cl₂(g) + 2e⁻; KI: K⁺(l) + e⁻ → K(l), 2I⁻(l) → I₂(g) + 2e⁻; Al₂O₃: Al³⁺(l) + 3e⁻ → Al(l), 2O²⁻(l) → O₂(g) + 4e⁻.
State symbols: in molten electrolysis the ions are (l). Bromine boils at 59 °C, so it leaves as a vapour (g). CLEAPSS: lead bromide TOXIC (reproductive toxicity), bromine TOXIC/CORROSIVE – teacher demonstration only in a fume cupboard, eye protection, small amounts. Zinc chloride is a safer alternative (chlorine at the anode – also fume cupboard).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KBr(aq): hydrogen at the cathode (K more reactive than H), bromine at the anode (halide) (1). CuSO₄(aq): copper at the cathode (Cu less reactive than H), oxygen at the anode (no halide) (1).
Half equations (HT, checked in node): Cu²⁺(aq) + 2e⁻ → Cu(s); 2Cl⁻(aq) → Cl₂(g) + 2e⁻; 2H⁺(aq) + 2e⁻ → H₂(g); 4OH⁻(aq) → O₂(g) + 2H₂O(l) + 4e⁻. Overall: CuCl₂(aq) → Cu(s) + Cl₂(g); 2NaCl(aq) + 2H₂O(l) → 2NaOH(aq) + H₂(g) + Cl₂(g); 2H₂O(l) → 2H₂(g) + O₂(g).
GCSE simplification: with very dilute chloride solutions some oxygen also forms at the anode – not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cathode: Zn²⁺(l) + 2e⁻ → Zn(l) (1); anode: 2Cl⁻(l) → Cl₂(g) + 2e⁻ (1); the anode reaction is oxidation – chloride ions lose electrons (1).
Check values come from the equation data (atoms and charges asserted in node). Hydrogen: atoms H 2 = 2; charge 2(+1) + 2(−1) = 0 = 0. Chlorine: Cl 2 = 2; charge 2(−1) = −2 = 0 + 2(−1).
Alternative acceptable form (Edexcel mark schemes accept): 2Cl⁻ − 2e⁻ → Cl₂. Common errors: Cl instead of Cl₂; electrons on the wrong side; charges not balanced; writing e⁻ with a state symbol.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20 cm³ (1); the same number of electrons (4e⁻) produces 2 H₂ molecules but only 1 O₂ molecule, so half the volume of oxygen (1).
Checked in node: 2H⁺(aq) + 2e⁻ → H₂(g); 4OH⁻(aq) → O₂(g) + 2H₂O(l) + 4e⁻; 2H₂O(l) → 2H₂(g) + O₂(g); 2NaCl(aq) + 2H₂O(l) → 2NaOH(aq) + H₂(g) + Cl₂(g). Electron count: 4 e⁻ → 2 H₂ and 1 O₂ (ratio 2 asserted).
Edexcel also accepts the oxygen half equation written as 4OH⁻ − 4e⁻ → 2H₂O + O₂. Gas volumes in reality: slightly less oxygen than half because O₂ is a little more soluble in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Pb²⁺ is reduced – it gains two electrons at the cathode (1); Br⁻ is oxidised – bromide ions lose electrons at the anode (1).
Checked in node: Mg(s) + CuSO₄(aq) → MgSO₄(aq) + Cu(s); Mg(s) + Cu²⁺(aq) → Mg²⁺(aq) + Cu(s); Mg(s) → Mg²⁺(aq) + 2e⁻; Cu²⁺(aq) + 2e⁻ → Cu(s); electrons lost (2) = electrons gained (2). 3.28 is Higher only; 3.29 (reduction at the cathode, oxidation at the anode) is both tiers. Displacement redox returns in Topic 4: Zn(s) + Cu²⁺(aq) → Zn²⁺(aq) + 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6 (total 9 marks)
Q1 [2]: Cathode: zinc (1); anode: chlorine (1).
Q2 [2]: Sodium is more reactive than hydrogen (1); so hydrogen ions (from water) are discharged / gain electrons instead (1).
Q3 [2]: 4OH⁻(aq) → O₂(g) + 2H₂O(l) + 4e⁻: 4OH⁻ and 4e⁻ (1); 2H₂O (1).
Q4 [3]: Cu²⁺(aq) + 2e⁻ → Cu(s) (1, accept without states); copper ions gain electrons (1); reduction is gain of electrons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with copper electrodes, Cu²⁺ ions are made at the anode as fast as they are removed at the cathode, so [Cu²⁺] is constant (1); with graphite, oxygen forms at the anode instead, so Cu²⁺ is removed but not replaced (1).
Half equations checked in node: Cu²⁺(aq) + 2e⁻ → Cu(s); Cu(s) → Cu²⁺(aq) + 2e⁻. The anode sludge contains valuable metals such as silver and gold.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propanone evaporates quickly, so the electrode is dry and the mass is not too high because of water (1); the mass of copper deposited depends on the current (and time), so it must be constant for a fair test (1).
Half equations (HT): graphite: Cu²⁺(aq) + 2e⁻ → Cu(s) and 4OH⁻(aq) → O₂(g) + 2H₂O(l) + 4e⁻; copper: Cu²⁺(aq) + 2e⁻ → Cu(s) and Cu(s) → Cu²⁺(aq) + 2e⁻.
CLEAPSS-style hazards: copper sulfate solution (0.5 mol dm⁻³) HARMFUL if swallowed, eye irritant, toxic to aquatic life; propanone HIGHLY FLAMMABLE, eye irritant – no naked flames, use a small volume; low-voltage d.c. supply only; eye protection. Oxygen from part 1 is not a hazard in these small amounts.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0.10 g (accept 0.09–0.11) (1); grease/dirt from fingers changes the mass / stops copper depositing evenly (1).
Model (checked in node): mass = I × t × 63.5 ÷ (2 × 96 500) with t = 600 s, rounded to 0.01 g: 0.04, 0.08, 0.12, 0.16, 0.20 g; anode losses modelled 5 % higher (flaking/impurities). Faraday's law is NOT on the GCSE spec; it is used only to make realistic data. Students only need the proportional relationship.
Half equations: Cu²⁺(aq) + 2e⁻ → Cu(s); Cu(s) → Cu²⁺(aq) + 2e⁻; graphite anode: 4OH⁻(aq) → O₂(g) + 2H₂O(l) + 4e⁻.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7 (total 8 marks)
Q1 [2]: Cu²⁺ ions are attracted to the cathode (1); they gain electrons and are deposited as copper (atoms) (1).
Q2 [1]: They fall to the bottom (of the cell) as anode sludge (1).
Q3 [2]: 0.16 g (1); mass is (directly) proportional to the current / double the current, double the mass (1).
Q4 [3]: Copper at the cathode (1); oxygen at the anode (1); H⁺ (and SO₄²⁻) ions are left in solution / sulfuric acid forms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retrieval grid: cover the middle column. All 11 equations are generated from the same data used elsewhere in the deck and asserted for atom and charge balance in node.
Full list of equations checked in build_T3.js:
HCl: HCl(aq) → H⁺(aq) + Cl⁻(aq)
H2SO4: H₂SO₄(aq) → 2H⁺(aq) + SO₄²⁻(aq)
HNO3: HNO₃(aq) → H⁺(aq) + NO₃⁻(aq)
NaOH: NaOH(aq) → Na⁺(aq) + OH⁻(aq)
CH3COOH: CH₃COOH(aq) ⇌ CH₃COO⁻(aq) + H⁺(aq)
Mg+HCl: Mg(s) + 2HCl(aq) → MgCl₂(aq) + H₂(g)
CuO+H2SO4: CuO(s) + H₂SO₄(aq) → CuSO₄(aq) + H₂O(l)
Mg(OH)2+HNO3: Mg(OH)₂(s) + 2HNO₃(aq) → Mg(NO₃)₂(aq) + 2H₂O(l)
CaCO3+HCl: CaCO₃(s) + 2HCl(aq) → CaCl₂(aq) + H₂O(l) + CO₂(g)
limewater: Ca(OH)₂(aq) + CO₂(g) → CaCO₃(s) + H₂O(l)
pop: 2H₂(g) + O₂(g) → 2H₂O(l)
HCl+NaOH: HCl(aq) + NaOH(aq) → NaCl(aq) + H₂O(l)
HCl+NaOH split: H⁺(aq) + Cl⁻(aq) + Na⁺(aq) + OH⁻(aq) → Na⁺(aq) + Cl⁻(aq) + H₂O(l)
H+OH: H⁺(aq) + OH⁻(aq) → H₂O(l)
H2SO4+KOH: H₂SO₄(aq) + 2KOH(aq) → K₂SO₄(aq) + 2H₂O(l)
CaOH2+HCl: Ca(OH)₂(s) + 2HCl(aq) → CaCl₂(aq) + 2H₂O(l)
CaO+HCl: CaO(s) + 2HCl(aq) → CaCl₂(aq) + H₂O(l)
CaOH2 ionic: Ca(OH)₂(s) + 2H⁺(aq) → Ca²⁺(aq) + 2H₂O(l)
Na2CO3+HCl: Na₂CO₃(aq) + 2HCl(aq) → 2NaCl(aq) + H₂O(l) + CO₂(g)
Na2CO3 split: 2Na⁺(aq) + CO₃²⁻(aq) + 2H⁺(aq) + 2Cl⁻(aq) → 2Na⁺(aq) + 2Cl⁻(aq) + H₂O(l) + CO₂(g)
CO3+H: CO₃²⁻(aq) + 2H⁺(aq) → H₂O(l) + CO₂(g)
Mg+HCl split: Mg(s) + 2H⁺(aq) + 2Cl⁻(aq) → Mg²⁺(aq) + 2Cl⁻(aq) + H₂(g)
Mg+H ionic: Mg(s) + 2H⁺(aq) → Mg²⁺(aq) + H₂(g)
CuO split: CuO(s) + 2H⁺(aq) + SO₄²⁻(aq) → Cu²⁺(aq) + SO₄²⁻(aq) + H₂O(l)
CuO ionic: CuO(s) + 2H⁺(aq) → Cu²⁺(aq) + H₂O(l)
KOH+HNO3: KOH(aq) + HNO₃(aq) → KNO₃(aq) + H₂O(l)
KOH split: K⁺(aq) + OH⁻(aq) + H⁺(aq) + NO₃⁻(aq) → K⁺(aq) + NO₃⁻(aq) + H₂O(l)
CaCO3 ionic: CaCO₃(s) + 2H⁺(aq) → Ca²⁺(aq) + H₂O(l) + CO₂(g)
MgO+HCl: MgO(s) + 2HCl(aq) → MgCl₂(aq) + H₂O(l)
MgO ionic: MgO(s) + 2H⁺(aq) → Mg²⁺(aq) + H₂O(l)
Zn+H2SO4: Zn(s) + H₂SO₄(aq) → ZnSO₄(aq) + H₂(g)
Zn ionic: Zn(s) + 2H⁺(aq) → Zn²⁺(aq) + H₂(g)
Zn+HCl: Zn(s) + 2HCl(aq) → ZnCl₂(aq) + H₂(g)
K2CO3+HNO3: K₂CO₃(aq) + 2HNO₃(aq) → 2KNO₃(aq) + H₂O(l) + CO₂(g)
hydrate: CuSO₄(aq) + 5H₂O(l) → CuSO₄·5H₂O(s)
dehydrate: CuSO₄·5H₂O(s) → CuSO₄(s) + 5H₂O(g)
NaOH+HCl titr: NaOH(aq) + HCl(aq) → NaCl(aq) + H₂O(l)
AgNO3+NaCl: AgNO₃(aq) + NaCl(aq) → AgCl(s) + NaNO₃(aq)
AgNO3 split: Ag⁺(aq) + NO₃⁻(aq) + Na⁺(aq) + Cl⁻(aq) → AgCl(s) + Na⁺(aq) + NO₃⁻(aq)
Ag+Cl: Ag⁺(aq) + Cl⁻(aq) → AgCl(s)
BaCl2+Na2SO4: BaCl₂(aq) + Na₂SO₄(aq) → BaSO₄(s) + 2NaCl(aq)
BaCl2 split: Ba²⁺(aq) + 2Cl⁻(aq) + 2Na⁺(aq) + SO₄²⁻(aq) → BaSO₄(s) + 2Na⁺(aq) + 2Cl⁻(aq)
Ba+SO4: Ba²⁺(aq) + SO₄²⁻(aq) → BaSO₄(s)
CuSO4+NaOH: CuSO₄(aq) + 2NaOH(aq) → Cu(OH)₂(s) + Na₂SO₄(aq)
Cu+OH: Cu²⁺(aq) + 2OH⁻(aq) → Cu(OH)₂(s)
CuCl2+NaOH: CuCl₂(aq) + 2NaOH(aq) → Cu(OH)₂(s) + 2NaCl(aq)
CaCl2+Na2CO3: CaCl₂(aq) + Na₂CO₃(aq) → CaCO₃(s) + 2NaCl(aq)
Ca+CO3: Ca²⁺(aq) + CO₃²⁻(aq) → CaCO₃(s)
Pb(NO3)2+Na2SO4: Pb(NO₃)₂(aq) + Na₂SO₄(aq) → PbSO₄(s) + 2NaNO₃(aq)
Pb+SO4: Pb²⁺(aq) + SO₄²⁻(aq) → PbSO₄(s)
Ba(NO3)2+K2SO4: Ba(NO₃)₂(aq) + K₂SO₄(aq) → BaSO₄(s) + 2KNO₃(aq)
Pb2+ cathode: Pb²⁺(l) + 2e⁻ → Pb(l)
Br- anode: 2Br⁻(l) → Br₂(g) + 2e⁻
PbBr2 overall: PbBr₂(l) → Pb(l) + Br₂(g)
Cu2+ cathode: Cu²⁺(aq) + 2e⁻ → Cu(s)
Cl- anode: 2Cl⁻(aq) → Cl₂(g) + 2e⁻
CuCl2 overall: CuCl₂(aq) → Cu(s) + Cl₂(g)
H+ cathode: 2H⁺(aq) + 2e⁻ → H₂(g)
OH- anode: 4OH⁻(aq) → O₂(g) + 2H₂O(l) + 4e⁻
water overall: 2H₂O(l) → 2H₂(g) + O₂(g)
NaCl(aq) overall: 2NaCl(aq) + 2H₂O(l) → 2NaOH(aq) + H₂(g) + Cl₂(g)
Cu anode: Cu(s) → Cu²⁺(aq) + 2e⁻
Na+ cathode: Na⁺(l) + e⁻ → Na(l)
Cl- anode molten: 2Cl⁻(l) → Cl₂(g) + 2e⁻
Zn2+ cathode: Zn²⁺(l) + 2e⁻ → Zn(l)
K+ cathode: K⁺(l) + e⁻ → K(l)
I- anode: 2I⁻(l) → I₂(g) + 2e⁻
Al3+ cathode: Al³⁺(l) + 3e⁻ → Al(l)
O2- anode: 2O²⁻(l) → O₂(g) + 4e⁻
Br- anode molten KBr: 2Br⁻(l) → Br₂(g) + 2e⁻
Ag+ cathode: Ag⁺(aq) + e⁻ → Ag(s)
Mg ox: Mg(s) → Mg²⁺(aq) + 2e⁻
Mg+Cu2+: Mg(s) + Cu²⁺(aq) → Mg²⁺(aq) + Cu(s)
Mg+CuSO4: Mg(s) + CuSO₄(aq) → MgSO₄(aq) + Cu(s)
Zn+Cu2+: Zn(s) + Cu²⁺(aq) → Zn²⁺(aq) + Cu(s)
Pb+Cl: Pb²⁺(aq) + 2Cl⁻(aq) → PbCl₂(s)
Pb(NO3)2+NaCl: Pb(NO₃)₂(aq) + 2NaCl(aq) → PbCl₂(s) + 2NaNO₃(aq)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 HT terms are marked (HT).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The ions are in fixed positions / held in a lattice (1); they cannot move (to the electrodes) / need to be free to move to carry charge (1).
(b) [2]: Cathode: copper (1); anode: chlorine (1).
(c) [2]: Cu²⁺(aq) + 2e⁻ → Cu(s): Cu²⁺ → Cu (1); 2e⁻ on the left (1).
(d) [2]: Chloride ions lose electrons (1); oxidation is the loss of electrons (1).
(e) [3]: Copper hydroxide (1); Cu²⁺(aq) + 2OH⁻(aq) → Cu(OH)₂(s): species and balancing (1); state symbols (1). Full equation for reference: CuCl₂(aq) + 2NaOH(aq) → Cu(OH)₂(s) + 2NaCl(aq).
(f) [2]: Sodium is more reactive than hydrogen (1); so H⁺ ions (from water) gain electrons / are discharged instead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Pink (1).
2 [2]: It decreases (1); by a factor of 100 / 10² (1).
3 [3]: Zn(s) + H₂SO₄(aq) → ZnSO₄(aq) + H₂(g) (1); state symbols (1); ionic: Zn(s) + 2H⁺(aq) → Zn²⁺(aq) + H₂(g) (1).
4 [3]: K⁺(l) + e⁻ → K(l) (1); 2Br⁻(l) → Br₂(g) + 2e⁻ (1); the anode / bromide reaction is oxidation (loss of electrons) (1).
5 [2]: (a) yes, barium sulfate (1) [Ba(NO₃)₂(aq) + K₂SO₄(aq) → BaSO₄(s) + 2KNO₃(aq)]; (b) no precipitate (1).
6 [6]: Levels-based mark scheme (6 marks). Answers are marked holistically; use the indicative content below.
Level 0 (0 marks): no rewardable material.
Level 1 (1–2 marks): demonstrates elements of chemical understanding, some of which is inaccurate; understanding of scientific ideas lacks detail; presents an explanation with some structure and coherence.
Level 2 (3–4 marks): demonstrates chemical understanding which is mostly relevant but may include some inaccuracies; understanding of scientific ideas is not fully detailed and/or developed; presents an explanation that has a structure which is mostly clear, coherent and logical.
Level 3 (5–6 marks): demonstrates accurate and relevant chemical understanding throughout; understanding of the scientific ideas is detailed and fully developed; presents an explanation that has a well-developed structure which is clear, coherent and logical.
Indicative content:
 • Measure dilute sulfuric acid (e.g. 50 cm³) into a beaker; warm it in a water bath (to speed up the reaction).
 • Add copper oxide a spatula at a time, stirring, until some remains undissolved – excess, so that all the acid reacts.
 • Copper oxide reacts: CuO(s) + H₂SO₄(aq) → CuSO₄(aq) + H₂O(l); the solution turns blue.
 • Filter to remove the excess (insoluble) copper oxide; the filtrate is copper sulfate solution and water only.
 • Heat the filtrate in an evaporating basin over a water bath to evaporate some water / until crystals start to form (gentle heating; not to dryness, which would remove the water of crystallisation).
 • Leave to cool so that crystals form (crystallisation).
 • Filter / pour off the remaining solution; dry the crystals between filter papers or in a warm place.
 • Safety: eye protection; copper oxide and copper sulfate are harmful.
Level 3 answers give a logical sequence of steps AND explain why excess is used, why filtering is needed and why the solution is not heated to dryness.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A47"/>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5B3A8C"/>
          </a:solidFill>
          <a:ln w="12700">
            <a:solidFill>
              <a:srgbClr val="5B3A8C"/>
            </a:solidFill>
            <a:prstDash val="solid"/>
          </a:ln>
        </p:spPr>
      </p:sp>
      <p:sp>
        <p:nvSpPr>
          <p:cNvPr id="3" name="Shape 1"/>
          <p:cNvSpPr/>
          <p:nvPr/>
        </p:nvSpPr>
        <p:spPr>
          <a:xfrm>
            <a:off x="9326880" y="2377440"/>
            <a:ext cx="4937760" cy="4937760"/>
          </a:xfrm>
          <a:prstGeom prst="ellipse">
            <a:avLst/>
          </a:prstGeom>
          <a:solidFill>
            <a:srgbClr val="7A52B3">
              <a:alpha val="85000"/>
            </a:srgbClr>
          </a:solidFill>
          <a:ln w="12700">
            <a:solidFill>
              <a:srgbClr val="7A52B3"/>
            </a:solidFill>
            <a:prstDash val="solid"/>
          </a:ln>
        </p:spPr>
      </p:sp>
      <p:sp>
        <p:nvSpPr>
          <p:cNvPr id="4" name="Shape 2"/>
          <p:cNvSpPr/>
          <p:nvPr/>
        </p:nvSpPr>
        <p:spPr>
          <a:xfrm>
            <a:off x="0" y="0"/>
            <a:ext cx="164592" cy="6858000"/>
          </a:xfrm>
          <a:prstGeom prst="rect">
            <a:avLst/>
          </a:prstGeom>
          <a:solidFill>
            <a:srgbClr val="7A52B3"/>
          </a:solidFill>
          <a:ln w="12700">
            <a:solidFill>
              <a:srgbClr val="7A52B3"/>
            </a:solidFill>
            <a:prstDash val="solid"/>
          </a:ln>
        </p:spPr>
      </p:sp>
      <p:sp>
        <p:nvSpPr>
          <p:cNvPr id="5" name="Text 3"/>
          <p:cNvSpPr/>
          <p:nvPr/>
        </p:nvSpPr>
        <p:spPr>
          <a:xfrm>
            <a:off x="731520" y="822960"/>
            <a:ext cx="7315200" cy="320040"/>
          </a:xfrm>
          <a:prstGeom prst="rect">
            <a:avLst/>
          </a:prstGeom>
          <a:noFill/>
          <a:ln/>
        </p:spPr>
        <p:txBody>
          <a:bodyPr wrap="square" lIns="0" tIns="0" rIns="0" bIns="0" rtlCol="0" anchor="ctr"/>
          <a:lstStyle/>
          <a:p>
            <a:pPr indent="0" marL="0">
              <a:buNone/>
            </a:pPr>
            <a:r>
              <a:rPr lang="en-US" sz="1300" b="1" spc="400" kern="0" dirty="0">
                <a:solidFill>
                  <a:srgbClr val="CDB8F0"/>
                </a:solidFill>
                <a:latin typeface="Calibri" pitchFamily="34" charset="0"/>
                <a:ea typeface="Calibri" pitchFamily="34" charset="-122"/>
                <a:cs typeface="Calibri" pitchFamily="34" charset="-120"/>
              </a:rPr>
              <a:t>PEARSON EDEXCEL GCSE CHEMISTRY (1CH0)</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Topic 3  Chemical changes</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DCCDF3"/>
                </a:solidFill>
                <a:latin typeface="Georgia" pitchFamily="34" charset="0"/>
                <a:ea typeface="Georgia" pitchFamily="34" charset="-122"/>
                <a:cs typeface="Georgia" pitchFamily="34" charset="-120"/>
              </a:rPr>
              <a:t>Acids, salts, ionic equations, electrolysis and half equations</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E4DAF5"/>
                </a:solidFill>
                <a:latin typeface="Calibri" pitchFamily="34" charset="0"/>
                <a:ea typeface="Calibri" pitchFamily="34" charset="-122"/>
                <a:cs typeface="Calibri" pitchFamily="34" charset="-120"/>
              </a:rPr>
              <a:t>Acids &amp; alkalis  •  pH  •  Salts  •  Ionic equations  •  Electrolysis  •  Half equations</a:t>
            </a:r>
            <a:endParaRPr lang="en-US" sz="1300" dirty="0"/>
          </a:p>
        </p:txBody>
      </p:sp>
      <p:sp>
        <p:nvSpPr>
          <p:cNvPr id="10" name="Shape 8"/>
          <p:cNvSpPr/>
          <p:nvPr/>
        </p:nvSpPr>
        <p:spPr>
          <a:xfrm>
            <a:off x="731520" y="3886200"/>
            <a:ext cx="457200" cy="457200"/>
          </a:xfrm>
          <a:prstGeom prst="ellipse">
            <a:avLst/>
          </a:prstGeom>
          <a:solidFill>
            <a:srgbClr val="7A52B3"/>
          </a:solidFill>
          <a:ln w="12700">
            <a:solidFill>
              <a:srgbClr val="CD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3.1–3.31 (+ 0.4 ionic equations) • Core Practicals 3.6, 3.17, 3.31</a:t>
            </a:r>
            <a:endParaRPr lang="en-US" sz="1400" dirty="0"/>
          </a:p>
        </p:txBody>
      </p:sp>
      <p:sp>
        <p:nvSpPr>
          <p:cNvPr id="13" name="Shape 11"/>
          <p:cNvSpPr/>
          <p:nvPr/>
        </p:nvSpPr>
        <p:spPr>
          <a:xfrm>
            <a:off x="731520" y="4507992"/>
            <a:ext cx="457200" cy="457200"/>
          </a:xfrm>
          <a:prstGeom prst="ellipse">
            <a:avLst/>
          </a:prstGeom>
          <a:solidFill>
            <a:srgbClr val="7A52B3"/>
          </a:solidFill>
          <a:ln w="12700">
            <a:solidFill>
              <a:srgbClr val="CD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ionic and half equations taught in depth (HT)</a:t>
            </a:r>
            <a:endParaRPr lang="en-US" sz="1400" dirty="0"/>
          </a:p>
        </p:txBody>
      </p:sp>
      <p:sp>
        <p:nvSpPr>
          <p:cNvPr id="16" name="Shape 14"/>
          <p:cNvSpPr/>
          <p:nvPr/>
        </p:nvSpPr>
        <p:spPr>
          <a:xfrm>
            <a:off x="731520" y="5129784"/>
            <a:ext cx="457200" cy="457200"/>
          </a:xfrm>
          <a:prstGeom prst="ellipse">
            <a:avLst/>
          </a:prstGeom>
          <a:solidFill>
            <a:srgbClr val="7A52B3"/>
          </a:solidFill>
          <a:ln w="12700">
            <a:solidFill>
              <a:srgbClr val="CD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Topic 3 • Paper 1 • every equation checked for atoms and charges</a:t>
            </a:r>
            <a:endParaRPr lang="en-US" sz="1400" dirty="0"/>
          </a:p>
        </p:txBody>
      </p:sp>
      <p:sp>
        <p:nvSpPr>
          <p:cNvPr id="19" name="Text 17"/>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C3B4DA"/>
                </a:solidFill>
                <a:latin typeface="Calibri" pitchFamily="34" charset="0"/>
                <a:ea typeface="Calibri" pitchFamily="34" charset="-122"/>
                <a:cs typeface="Calibri" pitchFamily="34" charset="-120"/>
              </a:rPr>
              <a:t>Pearson Edexcel GCSE (9–1) Chemistry 1CH0 • teacher deck • mark schemes and answers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3.1–3.31 and 0.4 • by the end of this 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6A3FA0"/>
          </a:solidFill>
          <a:ln w="12700">
            <a:solidFill>
              <a:srgbClr val="6A3FA0"/>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3.1–3.4   </a:t>
            </a:r>
            <a:r>
              <a:rPr lang="en-US" sz="1200" dirty="0">
                <a:solidFill>
                  <a:srgbClr val="262B3A"/>
                </a:solidFill>
                <a:latin typeface="Calibri" pitchFamily="34" charset="0"/>
                <a:ea typeface="Calibri" pitchFamily="34" charset="-122"/>
                <a:cs typeface="Calibri" pitchFamily="34" charset="-120"/>
              </a:rPr>
              <a:t>Explain acids and alkalis as sources of </a:t>
            </a:r>
            <a:r>
              <a:rPr lang="en-US" sz="1200" b="1" dirty="0">
                <a:solidFill>
                  <a:srgbClr val="262B3A"/>
                </a:solidFill>
                <a:latin typeface="Calibri" pitchFamily="34" charset="0"/>
                <a:ea typeface="Calibri" pitchFamily="34" charset="-122"/>
                <a:cs typeface="Calibri" pitchFamily="34" charset="-120"/>
              </a:rPr>
              <a:t>H⁺</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OH⁻</a:t>
            </a:r>
            <a:r>
              <a:rPr lang="en-US" sz="1200" dirty="0">
                <a:solidFill>
                  <a:srgbClr val="262B3A"/>
                </a:solidFill>
                <a:latin typeface="Calibri" pitchFamily="34" charset="0"/>
                <a:ea typeface="Calibri" pitchFamily="34" charset="-122"/>
                <a:cs typeface="Calibri" pitchFamily="34" charset="-120"/>
              </a:rPr>
              <a:t> ions; use the </a:t>
            </a:r>
            <a:r>
              <a:rPr lang="en-US" sz="1200" b="1" dirty="0">
                <a:solidFill>
                  <a:srgbClr val="262B3A"/>
                </a:solidFill>
                <a:latin typeface="Calibri" pitchFamily="34" charset="0"/>
                <a:ea typeface="Calibri" pitchFamily="34" charset="-122"/>
                <a:cs typeface="Calibri" pitchFamily="34" charset="-120"/>
              </a:rPr>
              <a:t>pH scale</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indicators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1" name="Shape 9"/>
          <p:cNvSpPr/>
          <p:nvPr/>
        </p:nvSpPr>
        <p:spPr>
          <a:xfrm>
            <a:off x="502920" y="2194560"/>
            <a:ext cx="457200" cy="457200"/>
          </a:xfrm>
          <a:prstGeom prst="ellipse">
            <a:avLst/>
          </a:prstGeom>
          <a:solidFill>
            <a:srgbClr val="6A3FA0"/>
          </a:solidFill>
          <a:ln w="12700">
            <a:solidFill>
              <a:srgbClr val="6A3FA0"/>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3.5, 3.7–3.8   </a:t>
            </a:r>
            <a:r>
              <a:rPr lang="en-US" sz="1200" dirty="0">
                <a:solidFill>
                  <a:srgbClr val="262B3A"/>
                </a:solidFill>
                <a:latin typeface="Calibri" pitchFamily="34" charset="0"/>
                <a:ea typeface="Calibri" pitchFamily="34" charset="-122"/>
                <a:cs typeface="Calibri" pitchFamily="34" charset="-120"/>
              </a:rPr>
              <a:t>Explain the </a:t>
            </a:r>
            <a:r>
              <a:rPr lang="en-US" sz="1200" b="1" dirty="0">
                <a:solidFill>
                  <a:srgbClr val="262B3A"/>
                </a:solidFill>
                <a:latin typeface="Calibri" pitchFamily="34" charset="0"/>
                <a:ea typeface="Calibri" pitchFamily="34" charset="-122"/>
                <a:cs typeface="Calibri" pitchFamily="34" charset="-120"/>
              </a:rPr>
              <a:t>factor of ten</a:t>
            </a:r>
            <a:r>
              <a:rPr lang="en-US" sz="1200" dirty="0">
                <a:solidFill>
                  <a:srgbClr val="262B3A"/>
                </a:solidFill>
                <a:latin typeface="Calibri" pitchFamily="34" charset="0"/>
                <a:ea typeface="Calibri" pitchFamily="34" charset="-122"/>
                <a:cs typeface="Calibri" pitchFamily="34" charset="-120"/>
              </a:rPr>
              <a:t> in pH, </a:t>
            </a:r>
            <a:r>
              <a:rPr lang="en-US" sz="1200" b="1" dirty="0">
                <a:solidFill>
                  <a:srgbClr val="262B3A"/>
                </a:solidFill>
                <a:latin typeface="Calibri" pitchFamily="34" charset="0"/>
                <a:ea typeface="Calibri" pitchFamily="34" charset="-122"/>
                <a:cs typeface="Calibri" pitchFamily="34" charset="-120"/>
              </a:rPr>
              <a:t>dilute vs concentrated</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strong vs weak</a:t>
            </a:r>
            <a:r>
              <a:rPr lang="en-US" sz="1200" dirty="0">
                <a:solidFill>
                  <a:srgbClr val="262B3A"/>
                </a:solidFill>
                <a:latin typeface="Calibri" pitchFamily="34" charset="0"/>
                <a:ea typeface="Calibri" pitchFamily="34" charset="-122"/>
                <a:cs typeface="Calibri" pitchFamily="34" charset="-120"/>
              </a:rPr>
              <a:t> acids.</a:t>
            </a:r>
            <a:endParaRPr lang="en-US" sz="1100" dirty="0"/>
          </a:p>
        </p:txBody>
      </p:sp>
      <p:sp>
        <p:nvSpPr>
          <p:cNvPr id="14" name="Shape 12"/>
          <p:cNvSpPr/>
          <p:nvPr/>
        </p:nvSpPr>
        <p:spPr>
          <a:xfrm>
            <a:off x="5257800" y="2633472"/>
            <a:ext cx="411480" cy="274320"/>
          </a:xfrm>
          <a:prstGeom prst="roundRect">
            <a:avLst>
              <a:gd name="adj" fmla="val 50000"/>
            </a:avLst>
          </a:prstGeom>
          <a:solidFill>
            <a:srgbClr val="C8414C"/>
          </a:solidFill>
          <a:ln w="12700">
            <a:solidFill>
              <a:srgbClr val="C8414C"/>
            </a:solidFill>
            <a:prstDash val="solid"/>
          </a:ln>
        </p:spPr>
      </p:sp>
      <p:sp>
        <p:nvSpPr>
          <p:cNvPr id="15" name="Text 13"/>
          <p:cNvSpPr/>
          <p:nvPr/>
        </p:nvSpPr>
        <p:spPr>
          <a:xfrm>
            <a:off x="5257800" y="263347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6" name="Shape 14"/>
          <p:cNvSpPr/>
          <p:nvPr/>
        </p:nvSpPr>
        <p:spPr>
          <a:xfrm>
            <a:off x="502920" y="3063240"/>
            <a:ext cx="457200" cy="457200"/>
          </a:xfrm>
          <a:prstGeom prst="ellipse">
            <a:avLst/>
          </a:prstGeom>
          <a:solidFill>
            <a:srgbClr val="6A3FA0"/>
          </a:solidFill>
          <a:ln w="12700">
            <a:solidFill>
              <a:srgbClr val="6A3FA0"/>
            </a:solidFill>
            <a:prstDash val="solid"/>
          </a:ln>
        </p:spPr>
      </p:sp>
      <p:sp>
        <p:nvSpPr>
          <p:cNvPr id="17" name="Text 15"/>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8" name="Text 16"/>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3.6 CP   </a:t>
            </a:r>
            <a:r>
              <a:rPr lang="en-US" sz="1200" b="1" dirty="0">
                <a:solidFill>
                  <a:srgbClr val="262B3A"/>
                </a:solidFill>
                <a:latin typeface="Calibri" pitchFamily="34" charset="0"/>
                <a:ea typeface="Calibri" pitchFamily="34" charset="-122"/>
                <a:cs typeface="Calibri" pitchFamily="34" charset="-120"/>
              </a:rPr>
              <a:t>Core Practical:</a:t>
            </a:r>
            <a:r>
              <a:rPr lang="en-US" sz="1200" dirty="0">
                <a:solidFill>
                  <a:srgbClr val="262B3A"/>
                </a:solidFill>
                <a:latin typeface="Calibri" pitchFamily="34" charset="0"/>
                <a:ea typeface="Calibri" pitchFamily="34" charset="-122"/>
                <a:cs typeface="Calibri" pitchFamily="34" charset="-120"/>
              </a:rPr>
              <a:t> follow the pH change when calcium hydroxide is added to hydrochloric acid.</a:t>
            </a:r>
            <a:endParaRPr lang="en-US" sz="1100" dirty="0"/>
          </a:p>
        </p:txBody>
      </p:sp>
      <p:sp>
        <p:nvSpPr>
          <p:cNvPr id="19" name="Shape 17"/>
          <p:cNvSpPr/>
          <p:nvPr/>
        </p:nvSpPr>
        <p:spPr>
          <a:xfrm>
            <a:off x="502920" y="3931920"/>
            <a:ext cx="457200" cy="457200"/>
          </a:xfrm>
          <a:prstGeom prst="ellipse">
            <a:avLst/>
          </a:prstGeom>
          <a:solidFill>
            <a:srgbClr val="6A3FA0"/>
          </a:solidFill>
          <a:ln w="12700">
            <a:solidFill>
              <a:srgbClr val="6A3FA0"/>
            </a:solidFill>
            <a:prstDash val="solid"/>
          </a:ln>
        </p:spPr>
      </p:sp>
      <p:sp>
        <p:nvSpPr>
          <p:cNvPr id="20" name="Text 18"/>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1" name="Text 19"/>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3.9–3.14   </a:t>
            </a:r>
            <a:r>
              <a:rPr lang="en-US" sz="1200" dirty="0">
                <a:solidFill>
                  <a:srgbClr val="262B3A"/>
                </a:solidFill>
                <a:latin typeface="Calibri" pitchFamily="34" charset="0"/>
                <a:ea typeface="Calibri" pitchFamily="34" charset="-122"/>
                <a:cs typeface="Calibri" pitchFamily="34" charset="-120"/>
              </a:rPr>
              <a:t>Describe </a:t>
            </a:r>
            <a:r>
              <a:rPr lang="en-US" sz="1200" b="1" dirty="0">
                <a:solidFill>
                  <a:srgbClr val="262B3A"/>
                </a:solidFill>
                <a:latin typeface="Calibri" pitchFamily="34" charset="0"/>
                <a:ea typeface="Calibri" pitchFamily="34" charset="-122"/>
                <a:cs typeface="Calibri" pitchFamily="34" charset="-120"/>
              </a:rPr>
              <a:t>bases, alkalis and salts</a:t>
            </a:r>
            <a:r>
              <a:rPr lang="en-US" sz="1200" dirty="0">
                <a:solidFill>
                  <a:srgbClr val="262B3A"/>
                </a:solidFill>
                <a:latin typeface="Calibri" pitchFamily="34" charset="0"/>
                <a:ea typeface="Calibri" pitchFamily="34" charset="-122"/>
                <a:cs typeface="Calibri" pitchFamily="34" charset="-120"/>
              </a:rPr>
              <a:t>, reactions of acids, </a:t>
            </a:r>
            <a:r>
              <a:rPr lang="en-US" sz="1200" b="1" dirty="0">
                <a:solidFill>
                  <a:srgbClr val="262B3A"/>
                </a:solidFill>
                <a:latin typeface="Calibri" pitchFamily="34" charset="0"/>
                <a:ea typeface="Calibri" pitchFamily="34" charset="-122"/>
                <a:cs typeface="Calibri" pitchFamily="34" charset="-120"/>
              </a:rPr>
              <a:t>gas tests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neutralisation</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2" name="Shape 20"/>
          <p:cNvSpPr/>
          <p:nvPr/>
        </p:nvSpPr>
        <p:spPr>
          <a:xfrm>
            <a:off x="6263640" y="1325880"/>
            <a:ext cx="457200" cy="457200"/>
          </a:xfrm>
          <a:prstGeom prst="ellipse">
            <a:avLst/>
          </a:prstGeom>
          <a:solidFill>
            <a:srgbClr val="6A3FA0"/>
          </a:solidFill>
          <a:ln w="12700">
            <a:solidFill>
              <a:srgbClr val="6A3FA0"/>
            </a:solidFill>
            <a:prstDash val="solid"/>
          </a:ln>
        </p:spPr>
      </p:sp>
      <p:sp>
        <p:nvSpPr>
          <p:cNvPr id="23" name="Text 21"/>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4" name="Text 22"/>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0.4   </a:t>
            </a:r>
            <a:r>
              <a:rPr lang="en-US" sz="1200" dirty="0">
                <a:solidFill>
                  <a:srgbClr val="262B3A"/>
                </a:solidFill>
                <a:latin typeface="Calibri" pitchFamily="34" charset="0"/>
                <a:ea typeface="Calibri" pitchFamily="34" charset="-122"/>
                <a:cs typeface="Calibri" pitchFamily="34" charset="-120"/>
              </a:rPr>
              <a:t>Write </a:t>
            </a:r>
            <a:r>
              <a:rPr lang="en-US" sz="1200" b="1" dirty="0">
                <a:solidFill>
                  <a:srgbClr val="262B3A"/>
                </a:solidFill>
                <a:latin typeface="Calibri" pitchFamily="34" charset="0"/>
                <a:ea typeface="Calibri" pitchFamily="34" charset="-122"/>
                <a:cs typeface="Calibri" pitchFamily="34" charset="-120"/>
              </a:rPr>
              <a:t>balanced ionic equations</a:t>
            </a:r>
            <a:r>
              <a:rPr lang="en-US" sz="1200" dirty="0">
                <a:solidFill>
                  <a:srgbClr val="262B3A"/>
                </a:solidFill>
                <a:latin typeface="Calibri" pitchFamily="34" charset="0"/>
                <a:ea typeface="Calibri" pitchFamily="34" charset="-122"/>
                <a:cs typeface="Calibri" pitchFamily="34" charset="-120"/>
              </a:rPr>
              <a:t> with state symbols, cancelling </a:t>
            </a:r>
            <a:r>
              <a:rPr lang="en-US" sz="1200" b="1" dirty="0">
                <a:solidFill>
                  <a:srgbClr val="262B3A"/>
                </a:solidFill>
                <a:latin typeface="Calibri" pitchFamily="34" charset="0"/>
                <a:ea typeface="Calibri" pitchFamily="34" charset="-122"/>
                <a:cs typeface="Calibri" pitchFamily="34" charset="-120"/>
              </a:rPr>
              <a:t>spectator ions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5" name="Shape 23"/>
          <p:cNvSpPr/>
          <p:nvPr/>
        </p:nvSpPr>
        <p:spPr>
          <a:xfrm>
            <a:off x="11018520" y="1764792"/>
            <a:ext cx="411480" cy="274320"/>
          </a:xfrm>
          <a:prstGeom prst="roundRect">
            <a:avLst>
              <a:gd name="adj" fmla="val 50000"/>
            </a:avLst>
          </a:prstGeom>
          <a:solidFill>
            <a:srgbClr val="C8414C"/>
          </a:solidFill>
          <a:ln w="12700">
            <a:solidFill>
              <a:srgbClr val="C8414C"/>
            </a:solidFill>
            <a:prstDash val="solid"/>
          </a:ln>
        </p:spPr>
      </p:sp>
      <p:sp>
        <p:nvSpPr>
          <p:cNvPr id="26" name="Text 24"/>
          <p:cNvSpPr/>
          <p:nvPr/>
        </p:nvSpPr>
        <p:spPr>
          <a:xfrm>
            <a:off x="11018520" y="176479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7" name="Shape 25"/>
          <p:cNvSpPr/>
          <p:nvPr/>
        </p:nvSpPr>
        <p:spPr>
          <a:xfrm>
            <a:off x="6263640" y="2194560"/>
            <a:ext cx="457200" cy="457200"/>
          </a:xfrm>
          <a:prstGeom prst="ellipse">
            <a:avLst/>
          </a:prstGeom>
          <a:solidFill>
            <a:srgbClr val="6A3FA0"/>
          </a:solidFill>
          <a:ln w="12700">
            <a:solidFill>
              <a:srgbClr val="6A3FA0"/>
            </a:solidFill>
            <a:prstDash val="solid"/>
          </a:ln>
        </p:spPr>
      </p:sp>
      <p:sp>
        <p:nvSpPr>
          <p:cNvPr id="28" name="Text 26"/>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9" name="Text 27"/>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3.15–3.21   </a:t>
            </a:r>
            <a:r>
              <a:rPr lang="en-US" sz="1200" dirty="0">
                <a:solidFill>
                  <a:srgbClr val="262B3A"/>
                </a:solidFill>
                <a:latin typeface="Calibri" pitchFamily="34" charset="0"/>
                <a:ea typeface="Calibri" pitchFamily="34" charset="-122"/>
                <a:cs typeface="Calibri" pitchFamily="34" charset="-120"/>
              </a:rPr>
              <a:t>Make </a:t>
            </a:r>
            <a:r>
              <a:rPr lang="en-US" sz="1200" b="1" dirty="0">
                <a:solidFill>
                  <a:srgbClr val="262B3A"/>
                </a:solidFill>
                <a:latin typeface="Calibri" pitchFamily="34" charset="0"/>
                <a:ea typeface="Calibri" pitchFamily="34" charset="-122"/>
                <a:cs typeface="Calibri" pitchFamily="34" charset="-120"/>
              </a:rPr>
              <a:t>soluble salts</a:t>
            </a:r>
            <a:r>
              <a:rPr lang="en-US" sz="1200" dirty="0">
                <a:solidFill>
                  <a:srgbClr val="262B3A"/>
                </a:solidFill>
                <a:latin typeface="Calibri" pitchFamily="34" charset="0"/>
                <a:ea typeface="Calibri" pitchFamily="34" charset="-122"/>
                <a:cs typeface="Calibri" pitchFamily="34" charset="-120"/>
              </a:rPr>
              <a:t> (CP 3.17, titration) and </a:t>
            </a:r>
            <a:r>
              <a:rPr lang="en-US" sz="1200" b="1" dirty="0">
                <a:solidFill>
                  <a:srgbClr val="262B3A"/>
                </a:solidFill>
                <a:latin typeface="Calibri" pitchFamily="34" charset="0"/>
                <a:ea typeface="Calibri" pitchFamily="34" charset="-122"/>
                <a:cs typeface="Calibri" pitchFamily="34" charset="-120"/>
              </a:rPr>
              <a:t>insoluble salts</a:t>
            </a:r>
            <a:r>
              <a:rPr lang="en-US" sz="1200" dirty="0">
                <a:solidFill>
                  <a:srgbClr val="262B3A"/>
                </a:solidFill>
                <a:latin typeface="Calibri" pitchFamily="34" charset="0"/>
                <a:ea typeface="Calibri" pitchFamily="34" charset="-122"/>
                <a:cs typeface="Calibri" pitchFamily="34" charset="-120"/>
              </a:rPr>
              <a:t> using the </a:t>
            </a:r>
            <a:r>
              <a:rPr lang="en-US" sz="1200" b="1" dirty="0">
                <a:solidFill>
                  <a:srgbClr val="262B3A"/>
                </a:solidFill>
                <a:latin typeface="Calibri" pitchFamily="34" charset="0"/>
                <a:ea typeface="Calibri" pitchFamily="34" charset="-122"/>
                <a:cs typeface="Calibri" pitchFamily="34" charset="-120"/>
              </a:rPr>
              <a:t>solubility rules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30" name="Shape 28"/>
          <p:cNvSpPr/>
          <p:nvPr/>
        </p:nvSpPr>
        <p:spPr>
          <a:xfrm>
            <a:off x="6263640" y="3063240"/>
            <a:ext cx="457200" cy="457200"/>
          </a:xfrm>
          <a:prstGeom prst="ellipse">
            <a:avLst/>
          </a:prstGeom>
          <a:solidFill>
            <a:srgbClr val="6A3FA0"/>
          </a:solidFill>
          <a:ln w="12700">
            <a:solidFill>
              <a:srgbClr val="6A3FA0"/>
            </a:solidFill>
            <a:prstDash val="solid"/>
          </a:ln>
        </p:spPr>
      </p:sp>
      <p:sp>
        <p:nvSpPr>
          <p:cNvPr id="31" name="Text 29"/>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32" name="Text 30"/>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3.22–3.26   </a:t>
            </a:r>
            <a:r>
              <a:rPr lang="en-US" sz="1200" dirty="0">
                <a:solidFill>
                  <a:srgbClr val="262B3A"/>
                </a:solidFill>
                <a:latin typeface="Calibri" pitchFamily="34" charset="0"/>
                <a:ea typeface="Calibri" pitchFamily="34" charset="-122"/>
                <a:cs typeface="Calibri" pitchFamily="34" charset="-120"/>
              </a:rPr>
              <a:t>Explain </a:t>
            </a:r>
            <a:r>
              <a:rPr lang="en-US" sz="1200" b="1" dirty="0">
                <a:solidFill>
                  <a:srgbClr val="262B3A"/>
                </a:solidFill>
                <a:latin typeface="Calibri" pitchFamily="34" charset="0"/>
                <a:ea typeface="Calibri" pitchFamily="34" charset="-122"/>
                <a:cs typeface="Calibri" pitchFamily="34" charset="-120"/>
              </a:rPr>
              <a:t>electrolysis</a:t>
            </a:r>
            <a:r>
              <a:rPr lang="en-US" sz="1200" dirty="0">
                <a:solidFill>
                  <a:srgbClr val="262B3A"/>
                </a:solidFill>
                <a:latin typeface="Calibri" pitchFamily="34" charset="0"/>
                <a:ea typeface="Calibri" pitchFamily="34" charset="-122"/>
                <a:cs typeface="Calibri" pitchFamily="34" charset="-120"/>
              </a:rPr>
              <a:t> of molten and aqueous ionic compounds; predict the products.</a:t>
            </a:r>
            <a:endParaRPr lang="en-US" sz="1100" dirty="0"/>
          </a:p>
        </p:txBody>
      </p:sp>
      <p:sp>
        <p:nvSpPr>
          <p:cNvPr id="33" name="Shape 31"/>
          <p:cNvSpPr/>
          <p:nvPr/>
        </p:nvSpPr>
        <p:spPr>
          <a:xfrm>
            <a:off x="6263640" y="3931920"/>
            <a:ext cx="457200" cy="457200"/>
          </a:xfrm>
          <a:prstGeom prst="ellipse">
            <a:avLst/>
          </a:prstGeom>
          <a:solidFill>
            <a:srgbClr val="6A3FA0"/>
          </a:solidFill>
          <a:ln w="12700">
            <a:solidFill>
              <a:srgbClr val="6A3FA0"/>
            </a:solidFill>
            <a:prstDash val="solid"/>
          </a:ln>
        </p:spPr>
      </p:sp>
      <p:sp>
        <p:nvSpPr>
          <p:cNvPr id="34" name="Text 32"/>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5" name="Text 33"/>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3.27–3.31   </a:t>
            </a:r>
            <a:r>
              <a:rPr lang="en-US" sz="1200" dirty="0">
                <a:solidFill>
                  <a:srgbClr val="262B3A"/>
                </a:solidFill>
                <a:latin typeface="Calibri" pitchFamily="34" charset="0"/>
                <a:ea typeface="Calibri" pitchFamily="34" charset="-122"/>
                <a:cs typeface="Calibri" pitchFamily="34" charset="-120"/>
              </a:rPr>
              <a:t>Write </a:t>
            </a:r>
            <a:r>
              <a:rPr lang="en-US" sz="1200" b="1" dirty="0">
                <a:solidFill>
                  <a:srgbClr val="262B3A"/>
                </a:solidFill>
                <a:latin typeface="Calibri" pitchFamily="34" charset="0"/>
                <a:ea typeface="Calibri" pitchFamily="34" charset="-122"/>
                <a:cs typeface="Calibri" pitchFamily="34" charset="-120"/>
              </a:rPr>
              <a:t>half equations</a:t>
            </a:r>
            <a:r>
              <a:rPr lang="en-US" sz="1200" dirty="0">
                <a:solidFill>
                  <a:srgbClr val="262B3A"/>
                </a:solidFill>
                <a:latin typeface="Calibri" pitchFamily="34" charset="0"/>
                <a:ea typeface="Calibri" pitchFamily="34" charset="-122"/>
                <a:cs typeface="Calibri" pitchFamily="34" charset="-120"/>
              </a:rPr>
              <a:t>; explain </a:t>
            </a:r>
            <a:r>
              <a:rPr lang="en-US" sz="1200" b="1" dirty="0">
                <a:solidFill>
                  <a:srgbClr val="262B3A"/>
                </a:solidFill>
                <a:latin typeface="Calibri" pitchFamily="34" charset="0"/>
                <a:ea typeface="Calibri" pitchFamily="34" charset="-122"/>
                <a:cs typeface="Calibri" pitchFamily="34" charset="-120"/>
              </a:rPr>
              <a:t>oxidation and reduction</a:t>
            </a:r>
            <a:r>
              <a:rPr lang="en-US" sz="1200" dirty="0">
                <a:solidFill>
                  <a:srgbClr val="262B3A"/>
                </a:solidFill>
                <a:latin typeface="Calibri" pitchFamily="34" charset="0"/>
                <a:ea typeface="Calibri" pitchFamily="34" charset="-122"/>
                <a:cs typeface="Calibri" pitchFamily="34" charset="-120"/>
              </a:rPr>
              <a:t>; purify copper (</a:t>
            </a:r>
            <a:r>
              <a:rPr lang="en-US" sz="1200" b="1" dirty="0">
                <a:solidFill>
                  <a:srgbClr val="262B3A"/>
                </a:solidFill>
                <a:latin typeface="Calibri" pitchFamily="34" charset="0"/>
                <a:ea typeface="Calibri" pitchFamily="34" charset="-122"/>
                <a:cs typeface="Calibri" pitchFamily="34" charset="-120"/>
              </a:rPr>
              <a:t>CP 3.31</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36" name="Shape 34"/>
          <p:cNvSpPr/>
          <p:nvPr/>
        </p:nvSpPr>
        <p:spPr>
          <a:xfrm>
            <a:off x="11018520" y="4370832"/>
            <a:ext cx="411480" cy="274320"/>
          </a:xfrm>
          <a:prstGeom prst="roundRect">
            <a:avLst>
              <a:gd name="adj" fmla="val 50000"/>
            </a:avLst>
          </a:prstGeom>
          <a:solidFill>
            <a:srgbClr val="C8414C"/>
          </a:solidFill>
          <a:ln w="12700">
            <a:solidFill>
              <a:srgbClr val="C8414C"/>
            </a:solidFill>
            <a:prstDash val="solid"/>
          </a:ln>
        </p:spPr>
      </p:sp>
      <p:sp>
        <p:nvSpPr>
          <p:cNvPr id="37" name="Text 35"/>
          <p:cNvSpPr/>
          <p:nvPr/>
        </p:nvSpPr>
        <p:spPr>
          <a:xfrm>
            <a:off x="11018520" y="437083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3.1–3.31 • Topic 3 is assessed on Paper 1</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188720"/>
            <a:ext cx="2103120" cy="640080"/>
          </a:xfrm>
          <a:prstGeom prst="roundRect">
            <a:avLst>
              <a:gd name="adj" fmla="val 8571"/>
            </a:avLst>
          </a:prstGeom>
          <a:solidFill>
            <a:srgbClr val="2A1F3D"/>
          </a:solidFill>
          <a:ln/>
        </p:spPr>
      </p:sp>
      <p:sp>
        <p:nvSpPr>
          <p:cNvPr id="9" name="Text 7"/>
          <p:cNvSpPr/>
          <p:nvPr/>
        </p:nvSpPr>
        <p:spPr>
          <a:xfrm>
            <a:off x="411480" y="1188720"/>
            <a:ext cx="21031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Topic 3</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Chemical changes</a:t>
            </a:r>
            <a:endParaRPr lang="en-US" sz="1200" dirty="0"/>
          </a:p>
        </p:txBody>
      </p:sp>
      <p:sp>
        <p:nvSpPr>
          <p:cNvPr id="10" name="Shape 8"/>
          <p:cNvSpPr/>
          <p:nvPr/>
        </p:nvSpPr>
        <p:spPr>
          <a:xfrm>
            <a:off x="914400" y="1828800"/>
            <a:ext cx="91" cy="3785616"/>
          </a:xfrm>
          <a:prstGeom prst="line">
            <a:avLst/>
          </a:prstGeom>
          <a:noFill/>
          <a:ln w="19050">
            <a:solidFill>
              <a:srgbClr val="6A3FA0"/>
            </a:solidFill>
            <a:prstDash val="solid"/>
          </a:ln>
        </p:spPr>
      </p:sp>
      <p:sp>
        <p:nvSpPr>
          <p:cNvPr id="11" name="Shape 9"/>
          <p:cNvSpPr/>
          <p:nvPr/>
        </p:nvSpPr>
        <p:spPr>
          <a:xfrm>
            <a:off x="914400" y="2212848"/>
            <a:ext cx="411480" cy="91"/>
          </a:xfrm>
          <a:prstGeom prst="line">
            <a:avLst/>
          </a:prstGeom>
          <a:noFill/>
          <a:ln w="19050">
            <a:solidFill>
              <a:srgbClr val="6A3FA0"/>
            </a:solidFill>
            <a:prstDash val="solid"/>
          </a:ln>
        </p:spPr>
      </p:sp>
      <p:sp>
        <p:nvSpPr>
          <p:cNvPr id="12" name="Shape 10"/>
          <p:cNvSpPr/>
          <p:nvPr/>
        </p:nvSpPr>
        <p:spPr>
          <a:xfrm>
            <a:off x="1325880" y="1965960"/>
            <a:ext cx="5120640" cy="493776"/>
          </a:xfrm>
          <a:prstGeom prst="roundRect">
            <a:avLst>
              <a:gd name="adj" fmla="val 9259"/>
            </a:avLst>
          </a:prstGeom>
          <a:solidFill>
            <a:srgbClr val="F8F5FC"/>
          </a:solidFill>
          <a:ln w="12700">
            <a:solidFill>
              <a:srgbClr val="DDD3EC"/>
            </a:solidFill>
            <a:prstDash val="solid"/>
          </a:ln>
        </p:spPr>
      </p:sp>
      <p:sp>
        <p:nvSpPr>
          <p:cNvPr id="13" name="Text 11"/>
          <p:cNvSpPr/>
          <p:nvPr/>
        </p:nvSpPr>
        <p:spPr>
          <a:xfrm>
            <a:off x="1463040" y="1965960"/>
            <a:ext cx="3703320" cy="493776"/>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3.1–3.8   </a:t>
            </a:r>
            <a:r>
              <a:rPr lang="en-US" sz="1100" dirty="0">
                <a:solidFill>
                  <a:srgbClr val="262B3A"/>
                </a:solidFill>
                <a:latin typeface="Calibri" pitchFamily="34" charset="0"/>
                <a:ea typeface="Calibri" pitchFamily="34" charset="-122"/>
                <a:cs typeface="Calibri" pitchFamily="34" charset="-120"/>
              </a:rPr>
              <a:t>Acids, alkalis, pH, strong and weak acids</a:t>
            </a:r>
            <a:endParaRPr lang="en-US" sz="1100" dirty="0"/>
          </a:p>
        </p:txBody>
      </p:sp>
      <p:sp>
        <p:nvSpPr>
          <p:cNvPr id="14" name="Shape 12"/>
          <p:cNvSpPr/>
          <p:nvPr/>
        </p:nvSpPr>
        <p:spPr>
          <a:xfrm>
            <a:off x="5212080" y="2075688"/>
            <a:ext cx="1170432" cy="274320"/>
          </a:xfrm>
          <a:prstGeom prst="roundRect">
            <a:avLst>
              <a:gd name="adj" fmla="val 50000"/>
            </a:avLst>
          </a:prstGeom>
          <a:solidFill>
            <a:srgbClr val="6A3FA0"/>
          </a:solidFill>
          <a:ln w="12700">
            <a:solidFill>
              <a:srgbClr val="6A3FA0"/>
            </a:solidFill>
            <a:prstDash val="solid"/>
          </a:ln>
        </p:spPr>
      </p:sp>
      <p:sp>
        <p:nvSpPr>
          <p:cNvPr id="15" name="Text 13"/>
          <p:cNvSpPr/>
          <p:nvPr/>
        </p:nvSpPr>
        <p:spPr>
          <a:xfrm>
            <a:off x="5212080" y="2075688"/>
            <a:ext cx="117043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COURSES</a:t>
            </a:r>
            <a:endParaRPr lang="en-US" sz="1000" dirty="0"/>
          </a:p>
        </p:txBody>
      </p:sp>
      <p:sp>
        <p:nvSpPr>
          <p:cNvPr id="16" name="Shape 14"/>
          <p:cNvSpPr/>
          <p:nvPr/>
        </p:nvSpPr>
        <p:spPr>
          <a:xfrm>
            <a:off x="914400" y="2779776"/>
            <a:ext cx="411480" cy="91"/>
          </a:xfrm>
          <a:prstGeom prst="line">
            <a:avLst/>
          </a:prstGeom>
          <a:noFill/>
          <a:ln w="19050">
            <a:solidFill>
              <a:srgbClr val="6A3FA0"/>
            </a:solidFill>
            <a:prstDash val="solid"/>
          </a:ln>
        </p:spPr>
      </p:sp>
      <p:sp>
        <p:nvSpPr>
          <p:cNvPr id="17" name="Shape 15"/>
          <p:cNvSpPr/>
          <p:nvPr/>
        </p:nvSpPr>
        <p:spPr>
          <a:xfrm>
            <a:off x="1325880" y="2532888"/>
            <a:ext cx="5120640" cy="493776"/>
          </a:xfrm>
          <a:prstGeom prst="roundRect">
            <a:avLst>
              <a:gd name="adj" fmla="val 9259"/>
            </a:avLst>
          </a:prstGeom>
          <a:solidFill>
            <a:srgbClr val="FFF4E0"/>
          </a:solidFill>
          <a:ln w="12700">
            <a:solidFill>
              <a:srgbClr val="DDD3EC"/>
            </a:solidFill>
            <a:prstDash val="solid"/>
          </a:ln>
        </p:spPr>
      </p:sp>
      <p:sp>
        <p:nvSpPr>
          <p:cNvPr id="18" name="Text 16"/>
          <p:cNvSpPr/>
          <p:nvPr/>
        </p:nvSpPr>
        <p:spPr>
          <a:xfrm>
            <a:off x="1463040" y="2532888"/>
            <a:ext cx="3703320" cy="493776"/>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3.6   </a:t>
            </a:r>
            <a:r>
              <a:rPr lang="en-US" sz="1100" dirty="0">
                <a:solidFill>
                  <a:srgbClr val="262B3A"/>
                </a:solidFill>
                <a:latin typeface="Calibri" pitchFamily="34" charset="0"/>
                <a:ea typeface="Calibri" pitchFamily="34" charset="-122"/>
                <a:cs typeface="Calibri" pitchFamily="34" charset="-120"/>
              </a:rPr>
              <a:t>Core Practical: pH change with Ca(OH)₂</a:t>
            </a:r>
            <a:endParaRPr lang="en-US" sz="1100" dirty="0"/>
          </a:p>
        </p:txBody>
      </p:sp>
      <p:sp>
        <p:nvSpPr>
          <p:cNvPr id="19" name="Shape 17"/>
          <p:cNvSpPr/>
          <p:nvPr/>
        </p:nvSpPr>
        <p:spPr>
          <a:xfrm>
            <a:off x="5212080" y="2642616"/>
            <a:ext cx="1170432" cy="274320"/>
          </a:xfrm>
          <a:prstGeom prst="roundRect">
            <a:avLst>
              <a:gd name="adj" fmla="val 50000"/>
            </a:avLst>
          </a:prstGeom>
          <a:solidFill>
            <a:srgbClr val="B8730A"/>
          </a:solidFill>
          <a:ln w="12700">
            <a:solidFill>
              <a:srgbClr val="B8730A"/>
            </a:solidFill>
            <a:prstDash val="solid"/>
          </a:ln>
        </p:spPr>
      </p:sp>
      <p:sp>
        <p:nvSpPr>
          <p:cNvPr id="20" name="Text 18"/>
          <p:cNvSpPr/>
          <p:nvPr/>
        </p:nvSpPr>
        <p:spPr>
          <a:xfrm>
            <a:off x="5212080" y="2642616"/>
            <a:ext cx="117043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21" name="Shape 19"/>
          <p:cNvSpPr/>
          <p:nvPr/>
        </p:nvSpPr>
        <p:spPr>
          <a:xfrm>
            <a:off x="914400" y="3346704"/>
            <a:ext cx="411480" cy="91"/>
          </a:xfrm>
          <a:prstGeom prst="line">
            <a:avLst/>
          </a:prstGeom>
          <a:noFill/>
          <a:ln w="19050">
            <a:solidFill>
              <a:srgbClr val="6A3FA0"/>
            </a:solidFill>
            <a:prstDash val="solid"/>
          </a:ln>
        </p:spPr>
      </p:sp>
      <p:sp>
        <p:nvSpPr>
          <p:cNvPr id="22" name="Shape 20"/>
          <p:cNvSpPr/>
          <p:nvPr/>
        </p:nvSpPr>
        <p:spPr>
          <a:xfrm>
            <a:off x="1325880" y="3099816"/>
            <a:ext cx="5120640" cy="493776"/>
          </a:xfrm>
          <a:prstGeom prst="roundRect">
            <a:avLst>
              <a:gd name="adj" fmla="val 9259"/>
            </a:avLst>
          </a:prstGeom>
          <a:solidFill>
            <a:srgbClr val="F8F5FC"/>
          </a:solidFill>
          <a:ln w="12700">
            <a:solidFill>
              <a:srgbClr val="DDD3EC"/>
            </a:solidFill>
            <a:prstDash val="solid"/>
          </a:ln>
        </p:spPr>
      </p:sp>
      <p:sp>
        <p:nvSpPr>
          <p:cNvPr id="23" name="Text 21"/>
          <p:cNvSpPr/>
          <p:nvPr/>
        </p:nvSpPr>
        <p:spPr>
          <a:xfrm>
            <a:off x="1463040" y="3099816"/>
            <a:ext cx="3703320" cy="493776"/>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3.9–3.14, 0.4   </a:t>
            </a:r>
            <a:r>
              <a:rPr lang="en-US" sz="1100" dirty="0">
                <a:solidFill>
                  <a:srgbClr val="262B3A"/>
                </a:solidFill>
                <a:latin typeface="Calibri" pitchFamily="34" charset="0"/>
                <a:ea typeface="Calibri" pitchFamily="34" charset="-122"/>
                <a:cs typeface="Calibri" pitchFamily="34" charset="-120"/>
              </a:rPr>
              <a:t>Bases, salts, neutralisation, ionic equations</a:t>
            </a:r>
            <a:endParaRPr lang="en-US" sz="1100" dirty="0"/>
          </a:p>
        </p:txBody>
      </p:sp>
      <p:sp>
        <p:nvSpPr>
          <p:cNvPr id="24" name="Shape 22"/>
          <p:cNvSpPr/>
          <p:nvPr/>
        </p:nvSpPr>
        <p:spPr>
          <a:xfrm>
            <a:off x="5212080" y="3209544"/>
            <a:ext cx="1170432" cy="274320"/>
          </a:xfrm>
          <a:prstGeom prst="roundRect">
            <a:avLst>
              <a:gd name="adj" fmla="val 50000"/>
            </a:avLst>
          </a:prstGeom>
          <a:solidFill>
            <a:srgbClr val="6A3FA0"/>
          </a:solidFill>
          <a:ln w="12700">
            <a:solidFill>
              <a:srgbClr val="6A3FA0"/>
            </a:solidFill>
            <a:prstDash val="solid"/>
          </a:ln>
        </p:spPr>
      </p:sp>
      <p:sp>
        <p:nvSpPr>
          <p:cNvPr id="25" name="Text 23"/>
          <p:cNvSpPr/>
          <p:nvPr/>
        </p:nvSpPr>
        <p:spPr>
          <a:xfrm>
            <a:off x="5212080" y="3209544"/>
            <a:ext cx="117043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COURSES</a:t>
            </a:r>
            <a:endParaRPr lang="en-US" sz="1000" dirty="0"/>
          </a:p>
        </p:txBody>
      </p:sp>
      <p:sp>
        <p:nvSpPr>
          <p:cNvPr id="26" name="Shape 24"/>
          <p:cNvSpPr/>
          <p:nvPr/>
        </p:nvSpPr>
        <p:spPr>
          <a:xfrm>
            <a:off x="914400" y="3913632"/>
            <a:ext cx="411480" cy="91"/>
          </a:xfrm>
          <a:prstGeom prst="line">
            <a:avLst/>
          </a:prstGeom>
          <a:noFill/>
          <a:ln w="19050">
            <a:solidFill>
              <a:srgbClr val="6A3FA0"/>
            </a:solidFill>
            <a:prstDash val="solid"/>
          </a:ln>
        </p:spPr>
      </p:sp>
      <p:sp>
        <p:nvSpPr>
          <p:cNvPr id="27" name="Shape 25"/>
          <p:cNvSpPr/>
          <p:nvPr/>
        </p:nvSpPr>
        <p:spPr>
          <a:xfrm>
            <a:off x="1325880" y="3666744"/>
            <a:ext cx="5120640" cy="493776"/>
          </a:xfrm>
          <a:prstGeom prst="roundRect">
            <a:avLst>
              <a:gd name="adj" fmla="val 9259"/>
            </a:avLst>
          </a:prstGeom>
          <a:solidFill>
            <a:srgbClr val="FFF4E0"/>
          </a:solidFill>
          <a:ln w="12700">
            <a:solidFill>
              <a:srgbClr val="DDD3EC"/>
            </a:solidFill>
            <a:prstDash val="solid"/>
          </a:ln>
        </p:spPr>
      </p:sp>
      <p:sp>
        <p:nvSpPr>
          <p:cNvPr id="28" name="Text 26"/>
          <p:cNvSpPr/>
          <p:nvPr/>
        </p:nvSpPr>
        <p:spPr>
          <a:xfrm>
            <a:off x="1463040" y="3666744"/>
            <a:ext cx="3703320" cy="493776"/>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3.15–3.18   </a:t>
            </a:r>
            <a:r>
              <a:rPr lang="en-US" sz="1100" dirty="0">
                <a:solidFill>
                  <a:srgbClr val="262B3A"/>
                </a:solidFill>
                <a:latin typeface="Calibri" pitchFamily="34" charset="0"/>
                <a:ea typeface="Calibri" pitchFamily="34" charset="-122"/>
                <a:cs typeface="Calibri" pitchFamily="34" charset="-120"/>
              </a:rPr>
              <a:t>Soluble salts; CP 3.17 copper sulfate; titration</a:t>
            </a:r>
            <a:endParaRPr lang="en-US" sz="1100" dirty="0"/>
          </a:p>
        </p:txBody>
      </p:sp>
      <p:sp>
        <p:nvSpPr>
          <p:cNvPr id="29" name="Shape 27"/>
          <p:cNvSpPr/>
          <p:nvPr/>
        </p:nvSpPr>
        <p:spPr>
          <a:xfrm>
            <a:off x="5212080" y="3776472"/>
            <a:ext cx="1170432" cy="274320"/>
          </a:xfrm>
          <a:prstGeom prst="roundRect">
            <a:avLst>
              <a:gd name="adj" fmla="val 50000"/>
            </a:avLst>
          </a:prstGeom>
          <a:solidFill>
            <a:srgbClr val="B8730A"/>
          </a:solidFill>
          <a:ln w="12700">
            <a:solidFill>
              <a:srgbClr val="B8730A"/>
            </a:solidFill>
            <a:prstDash val="solid"/>
          </a:ln>
        </p:spPr>
      </p:sp>
      <p:sp>
        <p:nvSpPr>
          <p:cNvPr id="30" name="Text 28"/>
          <p:cNvSpPr/>
          <p:nvPr/>
        </p:nvSpPr>
        <p:spPr>
          <a:xfrm>
            <a:off x="5212080" y="3776472"/>
            <a:ext cx="117043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31" name="Shape 29"/>
          <p:cNvSpPr/>
          <p:nvPr/>
        </p:nvSpPr>
        <p:spPr>
          <a:xfrm>
            <a:off x="914400" y="4480560"/>
            <a:ext cx="411480" cy="91"/>
          </a:xfrm>
          <a:prstGeom prst="line">
            <a:avLst/>
          </a:prstGeom>
          <a:noFill/>
          <a:ln w="19050">
            <a:solidFill>
              <a:srgbClr val="6A3FA0"/>
            </a:solidFill>
            <a:prstDash val="solid"/>
          </a:ln>
        </p:spPr>
      </p:sp>
      <p:sp>
        <p:nvSpPr>
          <p:cNvPr id="32" name="Shape 30"/>
          <p:cNvSpPr/>
          <p:nvPr/>
        </p:nvSpPr>
        <p:spPr>
          <a:xfrm>
            <a:off x="1325880" y="4233672"/>
            <a:ext cx="5120640" cy="493776"/>
          </a:xfrm>
          <a:prstGeom prst="roundRect">
            <a:avLst>
              <a:gd name="adj" fmla="val 9259"/>
            </a:avLst>
          </a:prstGeom>
          <a:solidFill>
            <a:srgbClr val="F8F5FC"/>
          </a:solidFill>
          <a:ln w="12700">
            <a:solidFill>
              <a:srgbClr val="DDD3EC"/>
            </a:solidFill>
            <a:prstDash val="solid"/>
          </a:ln>
        </p:spPr>
      </p:sp>
      <p:sp>
        <p:nvSpPr>
          <p:cNvPr id="33" name="Text 31"/>
          <p:cNvSpPr/>
          <p:nvPr/>
        </p:nvSpPr>
        <p:spPr>
          <a:xfrm>
            <a:off x="1463040" y="4233672"/>
            <a:ext cx="3703320" cy="493776"/>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3.19–3.21   </a:t>
            </a:r>
            <a:r>
              <a:rPr lang="en-US" sz="1100" dirty="0">
                <a:solidFill>
                  <a:srgbClr val="262B3A"/>
                </a:solidFill>
                <a:latin typeface="Calibri" pitchFamily="34" charset="0"/>
                <a:ea typeface="Calibri" pitchFamily="34" charset="-122"/>
                <a:cs typeface="Calibri" pitchFamily="34" charset="-120"/>
              </a:rPr>
              <a:t>Solubility rules, precipitates, insoluble salts</a:t>
            </a:r>
            <a:endParaRPr lang="en-US" sz="1100" dirty="0"/>
          </a:p>
        </p:txBody>
      </p:sp>
      <p:sp>
        <p:nvSpPr>
          <p:cNvPr id="34" name="Shape 32"/>
          <p:cNvSpPr/>
          <p:nvPr/>
        </p:nvSpPr>
        <p:spPr>
          <a:xfrm>
            <a:off x="5212080" y="4343400"/>
            <a:ext cx="1170432" cy="274320"/>
          </a:xfrm>
          <a:prstGeom prst="roundRect">
            <a:avLst>
              <a:gd name="adj" fmla="val 50000"/>
            </a:avLst>
          </a:prstGeom>
          <a:solidFill>
            <a:srgbClr val="6A3FA0"/>
          </a:solidFill>
          <a:ln w="12700">
            <a:solidFill>
              <a:srgbClr val="6A3FA0"/>
            </a:solidFill>
            <a:prstDash val="solid"/>
          </a:ln>
        </p:spPr>
      </p:sp>
      <p:sp>
        <p:nvSpPr>
          <p:cNvPr id="35" name="Text 33"/>
          <p:cNvSpPr/>
          <p:nvPr/>
        </p:nvSpPr>
        <p:spPr>
          <a:xfrm>
            <a:off x="5212080" y="4343400"/>
            <a:ext cx="117043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COURSES</a:t>
            </a:r>
            <a:endParaRPr lang="en-US" sz="1000" dirty="0"/>
          </a:p>
        </p:txBody>
      </p:sp>
      <p:sp>
        <p:nvSpPr>
          <p:cNvPr id="36" name="Shape 34"/>
          <p:cNvSpPr/>
          <p:nvPr/>
        </p:nvSpPr>
        <p:spPr>
          <a:xfrm>
            <a:off x="914400" y="5047488"/>
            <a:ext cx="411480" cy="91"/>
          </a:xfrm>
          <a:prstGeom prst="line">
            <a:avLst/>
          </a:prstGeom>
          <a:noFill/>
          <a:ln w="19050">
            <a:solidFill>
              <a:srgbClr val="6A3FA0"/>
            </a:solidFill>
            <a:prstDash val="solid"/>
          </a:ln>
        </p:spPr>
      </p:sp>
      <p:sp>
        <p:nvSpPr>
          <p:cNvPr id="37" name="Shape 35"/>
          <p:cNvSpPr/>
          <p:nvPr/>
        </p:nvSpPr>
        <p:spPr>
          <a:xfrm>
            <a:off x="1325880" y="4800600"/>
            <a:ext cx="5120640" cy="493776"/>
          </a:xfrm>
          <a:prstGeom prst="roundRect">
            <a:avLst>
              <a:gd name="adj" fmla="val 9259"/>
            </a:avLst>
          </a:prstGeom>
          <a:solidFill>
            <a:srgbClr val="F8F5FC"/>
          </a:solidFill>
          <a:ln w="12700">
            <a:solidFill>
              <a:srgbClr val="DDD3EC"/>
            </a:solidFill>
            <a:prstDash val="solid"/>
          </a:ln>
        </p:spPr>
      </p:sp>
      <p:sp>
        <p:nvSpPr>
          <p:cNvPr id="38" name="Text 36"/>
          <p:cNvSpPr/>
          <p:nvPr/>
        </p:nvSpPr>
        <p:spPr>
          <a:xfrm>
            <a:off x="1463040" y="4800600"/>
            <a:ext cx="3703320" cy="493776"/>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3.22–3.29   </a:t>
            </a:r>
            <a:r>
              <a:rPr lang="en-US" sz="1100" dirty="0">
                <a:solidFill>
                  <a:srgbClr val="262B3A"/>
                </a:solidFill>
                <a:latin typeface="Calibri" pitchFamily="34" charset="0"/>
                <a:ea typeface="Calibri" pitchFamily="34" charset="-122"/>
                <a:cs typeface="Calibri" pitchFamily="34" charset="-120"/>
              </a:rPr>
              <a:t>Electrolysis, half equations, redox</a:t>
            </a:r>
            <a:endParaRPr lang="en-US" sz="1100" dirty="0"/>
          </a:p>
        </p:txBody>
      </p:sp>
      <p:sp>
        <p:nvSpPr>
          <p:cNvPr id="39" name="Shape 37"/>
          <p:cNvSpPr/>
          <p:nvPr/>
        </p:nvSpPr>
        <p:spPr>
          <a:xfrm>
            <a:off x="5212080" y="4910328"/>
            <a:ext cx="1170432" cy="274320"/>
          </a:xfrm>
          <a:prstGeom prst="roundRect">
            <a:avLst>
              <a:gd name="adj" fmla="val 50000"/>
            </a:avLst>
          </a:prstGeom>
          <a:solidFill>
            <a:srgbClr val="6A3FA0"/>
          </a:solidFill>
          <a:ln w="12700">
            <a:solidFill>
              <a:srgbClr val="6A3FA0"/>
            </a:solidFill>
            <a:prstDash val="solid"/>
          </a:ln>
        </p:spPr>
      </p:sp>
      <p:sp>
        <p:nvSpPr>
          <p:cNvPr id="40" name="Text 38"/>
          <p:cNvSpPr/>
          <p:nvPr/>
        </p:nvSpPr>
        <p:spPr>
          <a:xfrm>
            <a:off x="5212080" y="4910328"/>
            <a:ext cx="117043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COURSES</a:t>
            </a:r>
            <a:endParaRPr lang="en-US" sz="1000" dirty="0"/>
          </a:p>
        </p:txBody>
      </p:sp>
      <p:sp>
        <p:nvSpPr>
          <p:cNvPr id="41" name="Shape 39"/>
          <p:cNvSpPr/>
          <p:nvPr/>
        </p:nvSpPr>
        <p:spPr>
          <a:xfrm>
            <a:off x="914400" y="5614416"/>
            <a:ext cx="411480" cy="91"/>
          </a:xfrm>
          <a:prstGeom prst="line">
            <a:avLst/>
          </a:prstGeom>
          <a:noFill/>
          <a:ln w="19050">
            <a:solidFill>
              <a:srgbClr val="6A3FA0"/>
            </a:solidFill>
            <a:prstDash val="solid"/>
          </a:ln>
        </p:spPr>
      </p:sp>
      <p:sp>
        <p:nvSpPr>
          <p:cNvPr id="42" name="Shape 40"/>
          <p:cNvSpPr/>
          <p:nvPr/>
        </p:nvSpPr>
        <p:spPr>
          <a:xfrm>
            <a:off x="1325880" y="5367528"/>
            <a:ext cx="5120640" cy="493776"/>
          </a:xfrm>
          <a:prstGeom prst="roundRect">
            <a:avLst>
              <a:gd name="adj" fmla="val 9259"/>
            </a:avLst>
          </a:prstGeom>
          <a:solidFill>
            <a:srgbClr val="FFF4E0"/>
          </a:solidFill>
          <a:ln w="12700">
            <a:solidFill>
              <a:srgbClr val="DDD3EC"/>
            </a:solidFill>
            <a:prstDash val="solid"/>
          </a:ln>
        </p:spPr>
      </p:sp>
      <p:sp>
        <p:nvSpPr>
          <p:cNvPr id="43" name="Text 41"/>
          <p:cNvSpPr/>
          <p:nvPr/>
        </p:nvSpPr>
        <p:spPr>
          <a:xfrm>
            <a:off x="1463040" y="5367528"/>
            <a:ext cx="3703320" cy="493776"/>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3.30–3.31   </a:t>
            </a:r>
            <a:r>
              <a:rPr lang="en-US" sz="1100" dirty="0">
                <a:solidFill>
                  <a:srgbClr val="262B3A"/>
                </a:solidFill>
                <a:latin typeface="Calibri" pitchFamily="34" charset="0"/>
                <a:ea typeface="Calibri" pitchFamily="34" charset="-122"/>
                <a:cs typeface="Calibri" pitchFamily="34" charset="-120"/>
              </a:rPr>
              <a:t>Copper purification; CP 3.31 electrolysis</a:t>
            </a:r>
            <a:endParaRPr lang="en-US" sz="1100" dirty="0"/>
          </a:p>
        </p:txBody>
      </p:sp>
      <p:sp>
        <p:nvSpPr>
          <p:cNvPr id="44" name="Shape 42"/>
          <p:cNvSpPr/>
          <p:nvPr/>
        </p:nvSpPr>
        <p:spPr>
          <a:xfrm>
            <a:off x="5212080" y="5477256"/>
            <a:ext cx="1170432" cy="274320"/>
          </a:xfrm>
          <a:prstGeom prst="roundRect">
            <a:avLst>
              <a:gd name="adj" fmla="val 50000"/>
            </a:avLst>
          </a:prstGeom>
          <a:solidFill>
            <a:srgbClr val="B8730A"/>
          </a:solidFill>
          <a:ln w="12700">
            <a:solidFill>
              <a:srgbClr val="B8730A"/>
            </a:solidFill>
            <a:prstDash val="solid"/>
          </a:ln>
        </p:spPr>
      </p:sp>
      <p:sp>
        <p:nvSpPr>
          <p:cNvPr id="45" name="Text 43"/>
          <p:cNvSpPr/>
          <p:nvPr/>
        </p:nvSpPr>
        <p:spPr>
          <a:xfrm>
            <a:off x="5212080" y="5477256"/>
            <a:ext cx="117043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46" name="Text 44"/>
          <p:cNvSpPr/>
          <p:nvPr/>
        </p:nvSpPr>
        <p:spPr>
          <a:xfrm>
            <a:off x="411480" y="6035040"/>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Links: Topic 1 ions, formulae, equations • Next: Topic 4 reactivity and redox</a:t>
            </a:r>
            <a:endParaRPr lang="en-US" sz="1050" dirty="0"/>
          </a:p>
        </p:txBody>
      </p:sp>
      <p:sp>
        <p:nvSpPr>
          <p:cNvPr id="47" name="Shape 45"/>
          <p:cNvSpPr/>
          <p:nvPr/>
        </p:nvSpPr>
        <p:spPr>
          <a:xfrm>
            <a:off x="6720840" y="1188720"/>
            <a:ext cx="5056632" cy="2514600"/>
          </a:xfrm>
          <a:prstGeom prst="roundRect">
            <a:avLst>
              <a:gd name="adj" fmla="val 2182"/>
            </a:avLst>
          </a:prstGeom>
          <a:solidFill>
            <a:srgbClr val="2E1A47"/>
          </a:solidFill>
          <a:ln/>
        </p:spPr>
      </p:sp>
      <p:sp>
        <p:nvSpPr>
          <p:cNvPr id="48" name="Text 46"/>
          <p:cNvSpPr/>
          <p:nvPr/>
        </p:nvSpPr>
        <p:spPr>
          <a:xfrm>
            <a:off x="6903720" y="128016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How this is assessed</a:t>
            </a:r>
            <a:endParaRPr lang="en-US" sz="1500" dirty="0"/>
          </a:p>
          <a:p>
            <a:pPr marL="152400" indent="-152400">
              <a:spcAft>
                <a:spcPts val="300"/>
              </a:spcAft>
              <a:buSzPct val="100000"/>
              <a:buChar char="▪"/>
            </a:pPr>
            <a:r>
              <a:rPr lang="en-US" sz="1150" dirty="0">
                <a:solidFill>
                  <a:srgbClr val="E9E1F7"/>
                </a:solidFill>
                <a:latin typeface="Calibri" pitchFamily="34" charset="0"/>
                <a:ea typeface="Calibri" pitchFamily="34" charset="-122"/>
                <a:cs typeface="Calibri" pitchFamily="34" charset="-120"/>
              </a:rPr>
              <a:t>1CH0 </a:t>
            </a:r>
            <a:r>
              <a:rPr lang="en-US" sz="1150" b="1" dirty="0">
                <a:solidFill>
                  <a:srgbClr val="E9E1F7"/>
                </a:solidFill>
                <a:latin typeface="Calibri" pitchFamily="34" charset="0"/>
                <a:ea typeface="Calibri" pitchFamily="34" charset="-122"/>
                <a:cs typeface="Calibri" pitchFamily="34" charset="-120"/>
              </a:rPr>
              <a:t>Paper 1</a:t>
            </a:r>
            <a:r>
              <a:rPr lang="en-US" sz="1150" dirty="0">
                <a:solidFill>
                  <a:srgbClr val="E9E1F7"/>
                </a:solidFill>
                <a:latin typeface="Calibri" pitchFamily="34" charset="0"/>
                <a:ea typeface="Calibri" pitchFamily="34" charset="-122"/>
                <a:cs typeface="Calibri" pitchFamily="34" charset="-120"/>
              </a:rPr>
              <a:t> (1F or 1H): 1 h 45 min, 100 marks, Topics 1–5.</a:t>
            </a:r>
            <a:endParaRPr lang="en-US" sz="1500" dirty="0"/>
          </a:p>
          <a:p>
            <a:pPr marL="152400" indent="-152400">
              <a:spcAft>
                <a:spcPts val="300"/>
              </a:spcAft>
              <a:buSzPct val="100000"/>
              <a:buChar char="▪"/>
            </a:pPr>
            <a:r>
              <a:rPr lang="en-US" sz="1150" b="1" dirty="0">
                <a:solidFill>
                  <a:srgbClr val="E9E1F7"/>
                </a:solidFill>
                <a:latin typeface="Calibri" pitchFamily="34" charset="0"/>
                <a:ea typeface="Calibri" pitchFamily="34" charset="-122"/>
                <a:cs typeface="Calibri" pitchFamily="34" charset="-120"/>
              </a:rPr>
              <a:t>Topic 3 has no chemistry-only (C) statements:</a:t>
            </a:r>
            <a:r>
              <a:rPr lang="en-US" sz="1150" dirty="0">
                <a:solidFill>
                  <a:srgbClr val="E9E1F7"/>
                </a:solidFill>
                <a:latin typeface="Calibri" pitchFamily="34" charset="0"/>
                <a:ea typeface="Calibri" pitchFamily="34" charset="-122"/>
                <a:cs typeface="Calibri" pitchFamily="34" charset="-120"/>
              </a:rPr>
              <a:t> Combined Science 1SC0 Paper 3 tests the same content.</a:t>
            </a:r>
            <a:endParaRPr lang="en-US" sz="1500" dirty="0"/>
          </a:p>
          <a:p>
            <a:pPr marL="152400" indent="-152400">
              <a:spcAft>
                <a:spcPts val="300"/>
              </a:spcAft>
              <a:buSzPct val="100000"/>
              <a:buChar char="▪"/>
            </a:pPr>
            <a:r>
              <a:rPr lang="en-US" sz="1150" dirty="0">
                <a:solidFill>
                  <a:srgbClr val="E9E1F7"/>
                </a:solidFill>
                <a:latin typeface="Calibri" pitchFamily="34" charset="0"/>
                <a:ea typeface="Calibri" pitchFamily="34" charset="-122"/>
                <a:cs typeface="Calibri" pitchFamily="34" charset="-120"/>
              </a:rPr>
              <a:t>Ionic equations (</a:t>
            </a:r>
            <a:r>
              <a:rPr lang="en-US" sz="1150" b="1" dirty="0">
                <a:solidFill>
                  <a:srgbClr val="E9E1F7"/>
                </a:solidFill>
                <a:latin typeface="Calibri" pitchFamily="34" charset="0"/>
                <a:ea typeface="Calibri" pitchFamily="34" charset="-122"/>
                <a:cs typeface="Calibri" pitchFamily="34" charset="-120"/>
              </a:rPr>
              <a:t>0.4</a:t>
            </a:r>
            <a:r>
              <a:rPr lang="en-US" sz="1150" dirty="0">
                <a:solidFill>
                  <a:srgbClr val="E9E1F7"/>
                </a:solidFill>
                <a:latin typeface="Calibri" pitchFamily="34" charset="0"/>
                <a:ea typeface="Calibri" pitchFamily="34" charset="-122"/>
                <a:cs typeface="Calibri" pitchFamily="34" charset="-120"/>
              </a:rPr>
              <a:t>) and half equations (</a:t>
            </a:r>
            <a:r>
              <a:rPr lang="en-US" sz="1150" b="1" dirty="0">
                <a:solidFill>
                  <a:srgbClr val="E9E1F7"/>
                </a:solidFill>
                <a:latin typeface="Calibri" pitchFamily="34" charset="0"/>
                <a:ea typeface="Calibri" pitchFamily="34" charset="-122"/>
                <a:cs typeface="Calibri" pitchFamily="34" charset="-120"/>
              </a:rPr>
              <a:t>3.27</a:t>
            </a:r>
            <a:r>
              <a:rPr lang="en-US" sz="1150" dirty="0">
                <a:solidFill>
                  <a:srgbClr val="E9E1F7"/>
                </a:solidFill>
                <a:latin typeface="Calibri" pitchFamily="34" charset="0"/>
                <a:ea typeface="Calibri" pitchFamily="34" charset="-122"/>
                <a:cs typeface="Calibri" pitchFamily="34" charset="-120"/>
              </a:rPr>
              <a:t>) are </a:t>
            </a:r>
            <a:r>
              <a:rPr lang="en-US" sz="1150" b="1" dirty="0">
                <a:solidFill>
                  <a:srgbClr val="E9E1F7"/>
                </a:solidFill>
                <a:latin typeface="Calibri" pitchFamily="34" charset="0"/>
                <a:ea typeface="Calibri" pitchFamily="34" charset="-122"/>
                <a:cs typeface="Calibri" pitchFamily="34" charset="-120"/>
              </a:rPr>
              <a:t>Higher only</a:t>
            </a:r>
            <a:r>
              <a:rPr lang="en-US" sz="1150" dirty="0">
                <a:solidFill>
                  <a:srgbClr val="E9E1F7"/>
                </a:solidFill>
                <a:latin typeface="Calibri" pitchFamily="34" charset="0"/>
                <a:ea typeface="Calibri" pitchFamily="34" charset="-122"/>
                <a:cs typeface="Calibri" pitchFamily="34" charset="-120"/>
              </a:rPr>
              <a:t> and appear on every Higher paper.</a:t>
            </a:r>
            <a:endParaRPr lang="en-US" sz="1500" dirty="0"/>
          </a:p>
          <a:p>
            <a:pPr marL="152400" indent="-152400">
              <a:spcAft>
                <a:spcPts val="300"/>
              </a:spcAft>
              <a:buSzPct val="100000"/>
              <a:buChar char="▪"/>
            </a:pPr>
            <a:r>
              <a:rPr lang="en-US" sz="1150" dirty="0">
                <a:solidFill>
                  <a:srgbClr val="E9E1F7"/>
                </a:solidFill>
                <a:latin typeface="Calibri" pitchFamily="34" charset="0"/>
                <a:ea typeface="Calibri" pitchFamily="34" charset="-122"/>
                <a:cs typeface="Calibri" pitchFamily="34" charset="-120"/>
              </a:rPr>
              <a:t>Three Core Practicals: </a:t>
            </a:r>
            <a:r>
              <a:rPr lang="en-US" sz="1150" b="1" dirty="0">
                <a:solidFill>
                  <a:srgbClr val="E9E1F7"/>
                </a:solidFill>
                <a:latin typeface="Calibri" pitchFamily="34" charset="0"/>
                <a:ea typeface="Calibri" pitchFamily="34" charset="-122"/>
                <a:cs typeface="Calibri" pitchFamily="34" charset="-120"/>
              </a:rPr>
              <a:t>3.6, 3.17, 3.31</a:t>
            </a:r>
            <a:r>
              <a:rPr lang="en-US" sz="1150" dirty="0">
                <a:solidFill>
                  <a:srgbClr val="E9E1F7"/>
                </a:solidFill>
                <a:latin typeface="Calibri" pitchFamily="34" charset="0"/>
                <a:ea typeface="Calibri" pitchFamily="34" charset="-122"/>
                <a:cs typeface="Calibri" pitchFamily="34" charset="-120"/>
              </a:rPr>
              <a:t>.</a:t>
            </a:r>
            <a:endParaRPr lang="en-US" sz="1500" dirty="0"/>
          </a:p>
        </p:txBody>
      </p:sp>
      <p:sp>
        <p:nvSpPr>
          <p:cNvPr id="49" name="Shape 47"/>
          <p:cNvSpPr/>
          <p:nvPr/>
        </p:nvSpPr>
        <p:spPr>
          <a:xfrm>
            <a:off x="6720840" y="3840480"/>
            <a:ext cx="5056632" cy="2423160"/>
          </a:xfrm>
          <a:prstGeom prst="roundRect">
            <a:avLst>
              <a:gd name="adj" fmla="val 2264"/>
            </a:avLst>
          </a:prstGeom>
          <a:solidFill>
            <a:srgbClr val="FFF4E0"/>
          </a:solidFill>
          <a:ln w="12700">
            <a:solidFill>
              <a:srgbClr val="F1D9A8"/>
            </a:solidFill>
            <a:prstDash val="solid"/>
          </a:ln>
        </p:spPr>
      </p:sp>
      <p:sp>
        <p:nvSpPr>
          <p:cNvPr id="50" name="Text 48"/>
          <p:cNvSpPr/>
          <p:nvPr/>
        </p:nvSpPr>
        <p:spPr>
          <a:xfrm>
            <a:off x="6903720" y="3931920"/>
            <a:ext cx="4709160" cy="224028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HT</a:t>
            </a:r>
            <a:r>
              <a:rPr lang="en-US" sz="1150" dirty="0">
                <a:solidFill>
                  <a:srgbClr val="262B3A"/>
                </a:solidFill>
                <a:latin typeface="Calibri" pitchFamily="34" charset="0"/>
                <a:ea typeface="Calibri" pitchFamily="34" charset="-122"/>
                <a:cs typeface="Calibri" pitchFamily="34" charset="-120"/>
              </a:rPr>
              <a:t> pill: pH factor of ten, strong/weak acids, ionic equations, half equations, redox as electrons.</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CHEMISTRY ONLY</a:t>
            </a:r>
            <a:r>
              <a:rPr lang="en-US" sz="1150" dirty="0">
                <a:solidFill>
                  <a:srgbClr val="262B3A"/>
                </a:solidFill>
                <a:latin typeface="Calibri" pitchFamily="34" charset="0"/>
                <a:ea typeface="Calibri" pitchFamily="34" charset="-122"/>
                <a:cs typeface="Calibri" pitchFamily="34" charset="-120"/>
              </a:rPr>
              <a:t> pill: only the titration calculation (a link to Topic 5, 5.9C/5.10C).</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Every equation in the deck is checked for </a:t>
            </a:r>
            <a:r>
              <a:rPr lang="en-US" sz="1150" b="1" dirty="0">
                <a:solidFill>
                  <a:srgbClr val="262B3A"/>
                </a:solidFill>
                <a:latin typeface="Calibri" pitchFamily="34" charset="0"/>
                <a:ea typeface="Calibri" pitchFamily="34" charset="-122"/>
                <a:cs typeface="Calibri" pitchFamily="34" charset="-120"/>
              </a:rPr>
              <a:t>atoms and charges</a:t>
            </a:r>
            <a:r>
              <a:rPr lang="en-US" sz="1150" dirty="0">
                <a:solidFill>
                  <a:srgbClr val="262B3A"/>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Recall from Topics 0 and 1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8F5FC"/>
          </a:solidFill>
          <a:ln w="9525">
            <a:solidFill>
              <a:srgbClr val="DDD3EC"/>
            </a:solidFill>
            <a:prstDash val="solid"/>
          </a:ln>
        </p:spPr>
      </p:sp>
      <p:sp>
        <p:nvSpPr>
          <p:cNvPr id="9" name="Shape 7"/>
          <p:cNvSpPr/>
          <p:nvPr/>
        </p:nvSpPr>
        <p:spPr>
          <a:xfrm>
            <a:off x="548640" y="1371600"/>
            <a:ext cx="438912" cy="438912"/>
          </a:xfrm>
          <a:prstGeom prst="ellipse">
            <a:avLst/>
          </a:prstGeom>
          <a:solidFill>
            <a:srgbClr val="6A3FA0"/>
          </a:solidFill>
          <a:ln w="12700">
            <a:solidFill>
              <a:srgbClr val="6A3FA0"/>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Topic 1 • ions</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the formulae of the </a:t>
            </a:r>
            <a:r>
              <a:rPr lang="en-US" sz="1250" b="1" dirty="0">
                <a:solidFill>
                  <a:srgbClr val="262B3A"/>
                </a:solidFill>
                <a:latin typeface="Calibri" pitchFamily="34" charset="0"/>
                <a:ea typeface="Calibri" pitchFamily="34" charset="-122"/>
                <a:cs typeface="Calibri" pitchFamily="34" charset="-120"/>
              </a:rPr>
              <a:t>sulfate</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nitrate</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hydroxide</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carbonate</a:t>
            </a:r>
            <a:r>
              <a:rPr lang="en-US" sz="1250" dirty="0">
                <a:solidFill>
                  <a:srgbClr val="262B3A"/>
                </a:solidFill>
                <a:latin typeface="Calibri" pitchFamily="34" charset="0"/>
                <a:ea typeface="Calibri" pitchFamily="34" charset="-122"/>
                <a:cs typeface="Calibri" pitchFamily="34" charset="-120"/>
              </a:rPr>
              <a:t> ions.</a:t>
            </a:r>
            <a:endParaRPr lang="en-US" sz="1250" dirty="0"/>
          </a:p>
        </p:txBody>
      </p:sp>
      <p:sp>
        <p:nvSpPr>
          <p:cNvPr id="13" name="Shape 11"/>
          <p:cNvSpPr/>
          <p:nvPr/>
        </p:nvSpPr>
        <p:spPr>
          <a:xfrm>
            <a:off x="4251960" y="1234440"/>
            <a:ext cx="3657600" cy="2011680"/>
          </a:xfrm>
          <a:prstGeom prst="roundRect">
            <a:avLst>
              <a:gd name="adj" fmla="val 2727"/>
            </a:avLst>
          </a:prstGeom>
          <a:solidFill>
            <a:srgbClr val="F8F5FC"/>
          </a:solidFill>
          <a:ln w="9525">
            <a:solidFill>
              <a:srgbClr val="DDD3EC"/>
            </a:solidFill>
            <a:prstDash val="solid"/>
          </a:ln>
        </p:spPr>
      </p:sp>
      <p:sp>
        <p:nvSpPr>
          <p:cNvPr id="14" name="Shape 12"/>
          <p:cNvSpPr/>
          <p:nvPr/>
        </p:nvSpPr>
        <p:spPr>
          <a:xfrm>
            <a:off x="4389120" y="1371600"/>
            <a:ext cx="438912" cy="438912"/>
          </a:xfrm>
          <a:prstGeom prst="ellipse">
            <a:avLst/>
          </a:prstGeom>
          <a:solidFill>
            <a:srgbClr val="6A3FA0"/>
          </a:solidFill>
          <a:ln w="12700">
            <a:solidFill>
              <a:srgbClr val="6A3FA0"/>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Topic 1 • ionic bonding</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happens to the </a:t>
            </a:r>
            <a:r>
              <a:rPr lang="en-US" sz="1250" b="1" dirty="0">
                <a:solidFill>
                  <a:srgbClr val="262B3A"/>
                </a:solidFill>
                <a:latin typeface="Calibri" pitchFamily="34" charset="0"/>
                <a:ea typeface="Calibri" pitchFamily="34" charset="-122"/>
                <a:cs typeface="Calibri" pitchFamily="34" charset="-120"/>
              </a:rPr>
              <a:t>electrons</a:t>
            </a:r>
            <a:r>
              <a:rPr lang="en-US" sz="1250" dirty="0">
                <a:solidFill>
                  <a:srgbClr val="262B3A"/>
                </a:solidFill>
                <a:latin typeface="Calibri" pitchFamily="34" charset="0"/>
                <a:ea typeface="Calibri" pitchFamily="34" charset="-122"/>
                <a:cs typeface="Calibri" pitchFamily="34" charset="-120"/>
              </a:rPr>
              <a:t> when sodium reacts with chlorine to form sodium chloride?</a:t>
            </a:r>
            <a:endParaRPr lang="en-US" sz="1250" dirty="0"/>
          </a:p>
        </p:txBody>
      </p:sp>
      <p:sp>
        <p:nvSpPr>
          <p:cNvPr id="18" name="Shape 16"/>
          <p:cNvSpPr/>
          <p:nvPr/>
        </p:nvSpPr>
        <p:spPr>
          <a:xfrm>
            <a:off x="8092440" y="1234440"/>
            <a:ext cx="3657600" cy="2011680"/>
          </a:xfrm>
          <a:prstGeom prst="roundRect">
            <a:avLst>
              <a:gd name="adj" fmla="val 2727"/>
            </a:avLst>
          </a:prstGeom>
          <a:solidFill>
            <a:srgbClr val="F8F5FC"/>
          </a:solidFill>
          <a:ln w="9525">
            <a:solidFill>
              <a:srgbClr val="DDD3EC"/>
            </a:solidFill>
            <a:prstDash val="solid"/>
          </a:ln>
        </p:spPr>
      </p:sp>
      <p:sp>
        <p:nvSpPr>
          <p:cNvPr id="19" name="Shape 17"/>
          <p:cNvSpPr/>
          <p:nvPr/>
        </p:nvSpPr>
        <p:spPr>
          <a:xfrm>
            <a:off x="8229600" y="1371600"/>
            <a:ext cx="438912" cy="438912"/>
          </a:xfrm>
          <a:prstGeom prst="ellipse">
            <a:avLst/>
          </a:prstGeom>
          <a:solidFill>
            <a:srgbClr val="6A3FA0"/>
          </a:solidFill>
          <a:ln w="12700">
            <a:solidFill>
              <a:srgbClr val="6A3FA0"/>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Topic 1 • ionic compounds</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sodium chloride conducts electricity when </a:t>
            </a:r>
            <a:r>
              <a:rPr lang="en-US" sz="1250" b="1" dirty="0">
                <a:solidFill>
                  <a:srgbClr val="262B3A"/>
                </a:solidFill>
                <a:latin typeface="Calibri" pitchFamily="34" charset="0"/>
                <a:ea typeface="Calibri" pitchFamily="34" charset="-122"/>
                <a:cs typeface="Calibri" pitchFamily="34" charset="-120"/>
              </a:rPr>
              <a:t>molten</a:t>
            </a:r>
            <a:r>
              <a:rPr lang="en-US" sz="1250" dirty="0">
                <a:solidFill>
                  <a:srgbClr val="262B3A"/>
                </a:solidFill>
                <a:latin typeface="Calibri" pitchFamily="34" charset="0"/>
                <a:ea typeface="Calibri" pitchFamily="34" charset="-122"/>
                <a:cs typeface="Calibri" pitchFamily="34" charset="-120"/>
              </a:rPr>
              <a:t> but not when </a:t>
            </a:r>
            <a:r>
              <a:rPr lang="en-US" sz="1250" b="1" dirty="0">
                <a:solidFill>
                  <a:srgbClr val="262B3A"/>
                </a:solidFill>
                <a:latin typeface="Calibri" pitchFamily="34" charset="0"/>
                <a:ea typeface="Calibri" pitchFamily="34" charset="-122"/>
                <a:cs typeface="Calibri" pitchFamily="34" charset="-120"/>
              </a:rPr>
              <a:t>solid</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3" name="Shape 21"/>
          <p:cNvSpPr/>
          <p:nvPr/>
        </p:nvSpPr>
        <p:spPr>
          <a:xfrm>
            <a:off x="411480" y="3429000"/>
            <a:ext cx="3657600" cy="2011680"/>
          </a:xfrm>
          <a:prstGeom prst="roundRect">
            <a:avLst>
              <a:gd name="adj" fmla="val 2727"/>
            </a:avLst>
          </a:prstGeom>
          <a:solidFill>
            <a:srgbClr val="F8F5FC"/>
          </a:solidFill>
          <a:ln w="9525">
            <a:solidFill>
              <a:srgbClr val="DDD3EC"/>
            </a:solidFill>
            <a:prstDash val="solid"/>
          </a:ln>
        </p:spPr>
      </p:sp>
      <p:sp>
        <p:nvSpPr>
          <p:cNvPr id="24" name="Shape 22"/>
          <p:cNvSpPr/>
          <p:nvPr/>
        </p:nvSpPr>
        <p:spPr>
          <a:xfrm>
            <a:off x="548640" y="3566160"/>
            <a:ext cx="438912" cy="438912"/>
          </a:xfrm>
          <a:prstGeom prst="ellipse">
            <a:avLst/>
          </a:prstGeom>
          <a:solidFill>
            <a:srgbClr val="6A3FA0"/>
          </a:solidFill>
          <a:ln w="12700">
            <a:solidFill>
              <a:srgbClr val="6A3FA0"/>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Topic 0 • equations</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Balance:  Mg + O₂ → MgO</a:t>
            </a:r>
            <a:endParaRPr lang="en-US" sz="1250" dirty="0"/>
          </a:p>
        </p:txBody>
      </p:sp>
      <p:sp>
        <p:nvSpPr>
          <p:cNvPr id="28" name="Shape 26"/>
          <p:cNvSpPr/>
          <p:nvPr/>
        </p:nvSpPr>
        <p:spPr>
          <a:xfrm>
            <a:off x="4251960" y="3429000"/>
            <a:ext cx="3657600" cy="2011680"/>
          </a:xfrm>
          <a:prstGeom prst="roundRect">
            <a:avLst>
              <a:gd name="adj" fmla="val 2727"/>
            </a:avLst>
          </a:prstGeom>
          <a:solidFill>
            <a:srgbClr val="F8F5FC"/>
          </a:solidFill>
          <a:ln w="9525">
            <a:solidFill>
              <a:srgbClr val="DDD3EC"/>
            </a:solidFill>
            <a:prstDash val="solid"/>
          </a:ln>
        </p:spPr>
      </p:sp>
      <p:sp>
        <p:nvSpPr>
          <p:cNvPr id="29" name="Shape 27"/>
          <p:cNvSpPr/>
          <p:nvPr/>
        </p:nvSpPr>
        <p:spPr>
          <a:xfrm>
            <a:off x="4389120" y="3566160"/>
            <a:ext cx="438912" cy="438912"/>
          </a:xfrm>
          <a:prstGeom prst="ellipse">
            <a:avLst/>
          </a:prstGeom>
          <a:solidFill>
            <a:srgbClr val="6A3FA0"/>
          </a:solidFill>
          <a:ln w="12700">
            <a:solidFill>
              <a:srgbClr val="6A3FA0"/>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Topic 0 • state symbols</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do the state symbols </a:t>
            </a:r>
            <a:r>
              <a:rPr lang="en-US" sz="1250" b="1" dirty="0">
                <a:solidFill>
                  <a:srgbClr val="262B3A"/>
                </a:solidFill>
                <a:latin typeface="Calibri" pitchFamily="34" charset="0"/>
                <a:ea typeface="Calibri" pitchFamily="34" charset="-122"/>
                <a:cs typeface="Calibri" pitchFamily="34" charset="-120"/>
              </a:rPr>
              <a:t>(s)</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(l)</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(g)</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(aq)</a:t>
            </a:r>
            <a:r>
              <a:rPr lang="en-US" sz="1250" dirty="0">
                <a:solidFill>
                  <a:srgbClr val="262B3A"/>
                </a:solidFill>
                <a:latin typeface="Calibri" pitchFamily="34" charset="0"/>
                <a:ea typeface="Calibri" pitchFamily="34" charset="-122"/>
                <a:cs typeface="Calibri" pitchFamily="34" charset="-120"/>
              </a:rPr>
              <a:t> mean?</a:t>
            </a:r>
            <a:endParaRPr lang="en-US" sz="1250" dirty="0"/>
          </a:p>
        </p:txBody>
      </p:sp>
      <p:sp>
        <p:nvSpPr>
          <p:cNvPr id="33" name="Shape 31"/>
          <p:cNvSpPr/>
          <p:nvPr/>
        </p:nvSpPr>
        <p:spPr>
          <a:xfrm>
            <a:off x="8092440" y="3429000"/>
            <a:ext cx="3657600" cy="2011680"/>
          </a:xfrm>
          <a:prstGeom prst="roundRect">
            <a:avLst>
              <a:gd name="adj" fmla="val 2727"/>
            </a:avLst>
          </a:prstGeom>
          <a:solidFill>
            <a:srgbClr val="F8F5FC"/>
          </a:solidFill>
          <a:ln w="9525">
            <a:solidFill>
              <a:srgbClr val="DDD3EC"/>
            </a:solidFill>
            <a:prstDash val="solid"/>
          </a:ln>
        </p:spPr>
      </p:sp>
      <p:sp>
        <p:nvSpPr>
          <p:cNvPr id="34" name="Shape 32"/>
          <p:cNvSpPr/>
          <p:nvPr/>
        </p:nvSpPr>
        <p:spPr>
          <a:xfrm>
            <a:off x="8229600" y="3566160"/>
            <a:ext cx="438912" cy="438912"/>
          </a:xfrm>
          <a:prstGeom prst="ellipse">
            <a:avLst/>
          </a:prstGeom>
          <a:solidFill>
            <a:srgbClr val="6A3FA0"/>
          </a:solidFill>
          <a:ln w="12700">
            <a:solidFill>
              <a:srgbClr val="6A3FA0"/>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Topic 1 • formula mass</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relative formula mass of </a:t>
            </a:r>
            <a:r>
              <a:rPr lang="en-US" sz="1250" b="1" dirty="0">
                <a:solidFill>
                  <a:srgbClr val="262B3A"/>
                </a:solidFill>
                <a:latin typeface="Calibri" pitchFamily="34" charset="0"/>
                <a:ea typeface="Calibri" pitchFamily="34" charset="-122"/>
                <a:cs typeface="Calibri" pitchFamily="34" charset="-120"/>
              </a:rPr>
              <a:t>CaCO₃</a:t>
            </a:r>
            <a:r>
              <a:rPr lang="en-US" sz="1250" dirty="0">
                <a:solidFill>
                  <a:srgbClr val="262B3A"/>
                </a:solidFill>
                <a:latin typeface="Calibri" pitchFamily="34" charset="0"/>
                <a:ea typeface="Calibri" pitchFamily="34" charset="-122"/>
                <a:cs typeface="Calibri" pitchFamily="34" charset="-120"/>
              </a:rPr>
              <a:t> (Ca = 40, C = 12, O = 16).</a:t>
            </a:r>
            <a:endParaRPr lang="en-US" sz="1250" dirty="0"/>
          </a:p>
        </p:txBody>
      </p:sp>
      <p:sp>
        <p:nvSpPr>
          <p:cNvPr id="38" name="Shape 36"/>
          <p:cNvSpPr/>
          <p:nvPr/>
        </p:nvSpPr>
        <p:spPr>
          <a:xfrm>
            <a:off x="411480" y="5715000"/>
            <a:ext cx="11368735" cy="548640"/>
          </a:xfrm>
          <a:prstGeom prst="rect">
            <a:avLst/>
          </a:prstGeom>
          <a:solidFill>
            <a:srgbClr val="F1ECF8"/>
          </a:solidFill>
          <a:ln w="12700">
            <a:solidFill>
              <a:srgbClr val="DDD3EC"/>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6A3FA0"/>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Acids and alkalis are sources of 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3.1 • acids release H⁺(aq); alkalis release OH⁻(aq)</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3.1  |  5</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particles in solution; water molecules shown in red and white</a:t>
            </a:r>
            <a:endParaRPr lang="en-US" sz="1000" dirty="0"/>
          </a:p>
        </p:txBody>
      </p:sp>
      <p:sp>
        <p:nvSpPr>
          <p:cNvPr id="10" name="Text 8"/>
          <p:cNvSpPr/>
          <p:nvPr/>
        </p:nvSpPr>
        <p:spPr>
          <a:xfrm>
            <a:off x="594360" y="1325880"/>
            <a:ext cx="2606040" cy="45720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Hydrochloric acid</a:t>
            </a:r>
            <a:r>
              <a:rPr lang="en-US" sz="1100" dirty="0">
                <a:solidFill>
                  <a:srgbClr val="262B3A"/>
                </a:solidFill>
                <a:latin typeface="Calibri" pitchFamily="34" charset="0"/>
                <a:ea typeface="Calibri" pitchFamily="34" charset="-122"/>
                <a:cs typeface="Calibri" pitchFamily="34" charset="-120"/>
              </a:rPr>
              <a:t>, HCl(aq)</a:t>
            </a:r>
            <a:endParaRPr lang="en-US" sz="1100" dirty="0"/>
          </a:p>
        </p:txBody>
      </p:sp>
      <p:sp>
        <p:nvSpPr>
          <p:cNvPr id="11" name="Shape 9"/>
          <p:cNvSpPr/>
          <p:nvPr/>
        </p:nvSpPr>
        <p:spPr>
          <a:xfrm>
            <a:off x="777240" y="1874520"/>
            <a:ext cx="2240280" cy="2286000"/>
          </a:xfrm>
          <a:prstGeom prst="rect">
            <a:avLst/>
          </a:prstGeom>
          <a:solidFill>
            <a:srgbClr val="EEF5FB"/>
          </a:solidFill>
          <a:ln/>
        </p:spPr>
      </p:sp>
      <p:sp>
        <p:nvSpPr>
          <p:cNvPr id="12" name="Shape 10"/>
          <p:cNvSpPr/>
          <p:nvPr/>
        </p:nvSpPr>
        <p:spPr>
          <a:xfrm>
            <a:off x="777240" y="2217420"/>
            <a:ext cx="2240280" cy="1943100"/>
          </a:xfrm>
          <a:prstGeom prst="rect">
            <a:avLst/>
          </a:prstGeom>
          <a:solidFill>
            <a:srgbClr val="F9E0DA"/>
          </a:solidFill>
          <a:ln/>
        </p:spPr>
      </p:sp>
      <p:sp>
        <p:nvSpPr>
          <p:cNvPr id="13" name="Shape 11"/>
          <p:cNvSpPr/>
          <p:nvPr/>
        </p:nvSpPr>
        <p:spPr>
          <a:xfrm>
            <a:off x="777240" y="2217420"/>
            <a:ext cx="2240280" cy="91"/>
          </a:xfrm>
          <a:prstGeom prst="line">
            <a:avLst/>
          </a:prstGeom>
          <a:noFill/>
          <a:ln w="12700">
            <a:solidFill>
              <a:srgbClr val="5B9BD5"/>
            </a:solidFill>
            <a:prstDash val="solid"/>
          </a:ln>
        </p:spPr>
      </p:sp>
      <p:sp>
        <p:nvSpPr>
          <p:cNvPr id="14" name="Shape 12"/>
          <p:cNvSpPr/>
          <p:nvPr/>
        </p:nvSpPr>
        <p:spPr>
          <a:xfrm>
            <a:off x="777240" y="1874520"/>
            <a:ext cx="91" cy="2286000"/>
          </a:xfrm>
          <a:prstGeom prst="line">
            <a:avLst/>
          </a:prstGeom>
          <a:noFill/>
          <a:ln w="19050">
            <a:solidFill>
              <a:srgbClr val="2A1F3D"/>
            </a:solidFill>
            <a:prstDash val="solid"/>
          </a:ln>
        </p:spPr>
      </p:sp>
      <p:sp>
        <p:nvSpPr>
          <p:cNvPr id="15" name="Shape 13"/>
          <p:cNvSpPr/>
          <p:nvPr/>
        </p:nvSpPr>
        <p:spPr>
          <a:xfrm>
            <a:off x="3017520" y="1874520"/>
            <a:ext cx="91" cy="2286000"/>
          </a:xfrm>
          <a:prstGeom prst="line">
            <a:avLst/>
          </a:prstGeom>
          <a:noFill/>
          <a:ln w="19050">
            <a:solidFill>
              <a:srgbClr val="2A1F3D"/>
            </a:solidFill>
            <a:prstDash val="solid"/>
          </a:ln>
        </p:spPr>
      </p:sp>
      <p:sp>
        <p:nvSpPr>
          <p:cNvPr id="16" name="Shape 14"/>
          <p:cNvSpPr/>
          <p:nvPr/>
        </p:nvSpPr>
        <p:spPr>
          <a:xfrm>
            <a:off x="777240" y="4160520"/>
            <a:ext cx="2240280" cy="91"/>
          </a:xfrm>
          <a:prstGeom prst="line">
            <a:avLst/>
          </a:prstGeom>
          <a:noFill/>
          <a:ln w="19050">
            <a:solidFill>
              <a:srgbClr val="2A1F3D"/>
            </a:solidFill>
            <a:prstDash val="solid"/>
          </a:ln>
        </p:spPr>
      </p:sp>
      <p:sp>
        <p:nvSpPr>
          <p:cNvPr id="17" name="Shape 15"/>
          <p:cNvSpPr/>
          <p:nvPr/>
        </p:nvSpPr>
        <p:spPr>
          <a:xfrm>
            <a:off x="722376" y="1874520"/>
            <a:ext cx="54864" cy="91"/>
          </a:xfrm>
          <a:prstGeom prst="line">
            <a:avLst/>
          </a:prstGeom>
          <a:noFill/>
          <a:ln w="19050">
            <a:solidFill>
              <a:srgbClr val="2A1F3D"/>
            </a:solidFill>
            <a:prstDash val="solid"/>
          </a:ln>
        </p:spPr>
      </p:sp>
      <p:sp>
        <p:nvSpPr>
          <p:cNvPr id="18" name="Shape 16"/>
          <p:cNvSpPr/>
          <p:nvPr/>
        </p:nvSpPr>
        <p:spPr>
          <a:xfrm>
            <a:off x="3017520" y="1874520"/>
            <a:ext cx="54864" cy="91"/>
          </a:xfrm>
          <a:prstGeom prst="line">
            <a:avLst/>
          </a:prstGeom>
          <a:noFill/>
          <a:ln w="19050">
            <a:solidFill>
              <a:srgbClr val="2A1F3D"/>
            </a:solidFill>
            <a:prstDash val="solid"/>
          </a:ln>
        </p:spPr>
      </p:sp>
      <p:sp>
        <p:nvSpPr>
          <p:cNvPr id="19" name="Shape 17"/>
          <p:cNvSpPr/>
          <p:nvPr/>
        </p:nvSpPr>
        <p:spPr>
          <a:xfrm>
            <a:off x="960120" y="2395728"/>
            <a:ext cx="329184" cy="329184"/>
          </a:xfrm>
          <a:prstGeom prst="ellipse">
            <a:avLst/>
          </a:prstGeom>
          <a:solidFill>
            <a:srgbClr val="F6B0A8"/>
          </a:solidFill>
          <a:ln w="12700">
            <a:solidFill>
              <a:srgbClr val="B7372B"/>
            </a:solidFill>
            <a:prstDash val="solid"/>
          </a:ln>
        </p:spPr>
      </p:sp>
      <p:sp>
        <p:nvSpPr>
          <p:cNvPr id="20" name="Text 18"/>
          <p:cNvSpPr/>
          <p:nvPr/>
        </p:nvSpPr>
        <p:spPr>
          <a:xfrm>
            <a:off x="850392" y="2395728"/>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t>
            </a:r>
            <a:endParaRPr lang="en-US" sz="1000" dirty="0"/>
          </a:p>
        </p:txBody>
      </p:sp>
      <p:sp>
        <p:nvSpPr>
          <p:cNvPr id="21" name="Shape 19"/>
          <p:cNvSpPr/>
          <p:nvPr/>
        </p:nvSpPr>
        <p:spPr>
          <a:xfrm>
            <a:off x="1481328" y="2395728"/>
            <a:ext cx="329184" cy="329184"/>
          </a:xfrm>
          <a:prstGeom prst="ellipse">
            <a:avLst/>
          </a:prstGeom>
          <a:solidFill>
            <a:srgbClr val="B9E0A8"/>
          </a:solidFill>
          <a:ln w="12700">
            <a:solidFill>
              <a:srgbClr val="3E7F2E"/>
            </a:solidFill>
            <a:prstDash val="solid"/>
          </a:ln>
        </p:spPr>
      </p:sp>
      <p:sp>
        <p:nvSpPr>
          <p:cNvPr id="22" name="Text 20"/>
          <p:cNvSpPr/>
          <p:nvPr/>
        </p:nvSpPr>
        <p:spPr>
          <a:xfrm>
            <a:off x="1371600" y="2395728"/>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23" name="Shape 21"/>
          <p:cNvSpPr/>
          <p:nvPr/>
        </p:nvSpPr>
        <p:spPr>
          <a:xfrm>
            <a:off x="2029694" y="2525298"/>
            <a:ext cx="102047" cy="102047"/>
          </a:xfrm>
          <a:prstGeom prst="ellipse">
            <a:avLst/>
          </a:prstGeom>
          <a:solidFill>
            <a:srgbClr val="FFFFFF"/>
          </a:solidFill>
          <a:ln w="9525">
            <a:solidFill>
              <a:srgbClr val="8A8F99"/>
            </a:solidFill>
            <a:prstDash val="solid"/>
          </a:ln>
        </p:spPr>
      </p:sp>
      <p:sp>
        <p:nvSpPr>
          <p:cNvPr id="24" name="Shape 22"/>
          <p:cNvSpPr/>
          <p:nvPr/>
        </p:nvSpPr>
        <p:spPr>
          <a:xfrm>
            <a:off x="2202515" y="2525298"/>
            <a:ext cx="102047" cy="102047"/>
          </a:xfrm>
          <a:prstGeom prst="ellipse">
            <a:avLst/>
          </a:prstGeom>
          <a:solidFill>
            <a:srgbClr val="FFFFFF"/>
          </a:solidFill>
          <a:ln w="9525">
            <a:solidFill>
              <a:srgbClr val="8A8F99"/>
            </a:solidFill>
            <a:prstDash val="solid"/>
          </a:ln>
        </p:spPr>
      </p:sp>
      <p:sp>
        <p:nvSpPr>
          <p:cNvPr id="25" name="Shape 23"/>
          <p:cNvSpPr/>
          <p:nvPr/>
        </p:nvSpPr>
        <p:spPr>
          <a:xfrm>
            <a:off x="2084832" y="2432304"/>
            <a:ext cx="164592" cy="164592"/>
          </a:xfrm>
          <a:prstGeom prst="ellipse">
            <a:avLst/>
          </a:prstGeom>
          <a:solidFill>
            <a:srgbClr val="E06666"/>
          </a:solidFill>
          <a:ln w="9525">
            <a:solidFill>
              <a:srgbClr val="9E2A2A"/>
            </a:solidFill>
            <a:prstDash val="solid"/>
          </a:ln>
        </p:spPr>
      </p:sp>
      <p:sp>
        <p:nvSpPr>
          <p:cNvPr id="26" name="Shape 24"/>
          <p:cNvSpPr/>
          <p:nvPr/>
        </p:nvSpPr>
        <p:spPr>
          <a:xfrm>
            <a:off x="2514600" y="2395728"/>
            <a:ext cx="329184" cy="329184"/>
          </a:xfrm>
          <a:prstGeom prst="ellipse">
            <a:avLst/>
          </a:prstGeom>
          <a:solidFill>
            <a:srgbClr val="F6B0A8"/>
          </a:solidFill>
          <a:ln w="12700">
            <a:solidFill>
              <a:srgbClr val="B7372B"/>
            </a:solidFill>
            <a:prstDash val="solid"/>
          </a:ln>
        </p:spPr>
      </p:sp>
      <p:sp>
        <p:nvSpPr>
          <p:cNvPr id="27" name="Text 25"/>
          <p:cNvSpPr/>
          <p:nvPr/>
        </p:nvSpPr>
        <p:spPr>
          <a:xfrm>
            <a:off x="2404872" y="2395728"/>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t>
            </a:r>
            <a:endParaRPr lang="en-US" sz="1000" dirty="0"/>
          </a:p>
        </p:txBody>
      </p:sp>
      <p:sp>
        <p:nvSpPr>
          <p:cNvPr id="28" name="Shape 26"/>
          <p:cNvSpPr/>
          <p:nvPr/>
        </p:nvSpPr>
        <p:spPr>
          <a:xfrm>
            <a:off x="960120" y="2962656"/>
            <a:ext cx="329184" cy="329184"/>
          </a:xfrm>
          <a:prstGeom prst="ellipse">
            <a:avLst/>
          </a:prstGeom>
          <a:solidFill>
            <a:srgbClr val="B9E0A8"/>
          </a:solidFill>
          <a:ln w="12700">
            <a:solidFill>
              <a:srgbClr val="3E7F2E"/>
            </a:solidFill>
            <a:prstDash val="solid"/>
          </a:ln>
        </p:spPr>
      </p:sp>
      <p:sp>
        <p:nvSpPr>
          <p:cNvPr id="29" name="Text 27"/>
          <p:cNvSpPr/>
          <p:nvPr/>
        </p:nvSpPr>
        <p:spPr>
          <a:xfrm>
            <a:off x="850392" y="2962656"/>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30" name="Shape 28"/>
          <p:cNvSpPr/>
          <p:nvPr/>
        </p:nvSpPr>
        <p:spPr>
          <a:xfrm>
            <a:off x="1508486" y="3092226"/>
            <a:ext cx="102047" cy="102047"/>
          </a:xfrm>
          <a:prstGeom prst="ellipse">
            <a:avLst/>
          </a:prstGeom>
          <a:solidFill>
            <a:srgbClr val="FFFFFF"/>
          </a:solidFill>
          <a:ln w="9525">
            <a:solidFill>
              <a:srgbClr val="8A8F99"/>
            </a:solidFill>
            <a:prstDash val="solid"/>
          </a:ln>
        </p:spPr>
      </p:sp>
      <p:sp>
        <p:nvSpPr>
          <p:cNvPr id="31" name="Shape 29"/>
          <p:cNvSpPr/>
          <p:nvPr/>
        </p:nvSpPr>
        <p:spPr>
          <a:xfrm>
            <a:off x="1681307" y="3092226"/>
            <a:ext cx="102047" cy="102047"/>
          </a:xfrm>
          <a:prstGeom prst="ellipse">
            <a:avLst/>
          </a:prstGeom>
          <a:solidFill>
            <a:srgbClr val="FFFFFF"/>
          </a:solidFill>
          <a:ln w="9525">
            <a:solidFill>
              <a:srgbClr val="8A8F99"/>
            </a:solidFill>
            <a:prstDash val="solid"/>
          </a:ln>
        </p:spPr>
      </p:sp>
      <p:sp>
        <p:nvSpPr>
          <p:cNvPr id="32" name="Shape 30"/>
          <p:cNvSpPr/>
          <p:nvPr/>
        </p:nvSpPr>
        <p:spPr>
          <a:xfrm>
            <a:off x="1563624" y="2999232"/>
            <a:ext cx="164592" cy="164592"/>
          </a:xfrm>
          <a:prstGeom prst="ellipse">
            <a:avLst/>
          </a:prstGeom>
          <a:solidFill>
            <a:srgbClr val="E06666"/>
          </a:solidFill>
          <a:ln w="9525">
            <a:solidFill>
              <a:srgbClr val="9E2A2A"/>
            </a:solidFill>
            <a:prstDash val="solid"/>
          </a:ln>
        </p:spPr>
      </p:sp>
      <p:sp>
        <p:nvSpPr>
          <p:cNvPr id="33" name="Shape 31"/>
          <p:cNvSpPr/>
          <p:nvPr/>
        </p:nvSpPr>
        <p:spPr>
          <a:xfrm>
            <a:off x="2002536" y="2962656"/>
            <a:ext cx="329184" cy="329184"/>
          </a:xfrm>
          <a:prstGeom prst="ellipse">
            <a:avLst/>
          </a:prstGeom>
          <a:solidFill>
            <a:srgbClr val="F6B0A8"/>
          </a:solidFill>
          <a:ln w="12700">
            <a:solidFill>
              <a:srgbClr val="B7372B"/>
            </a:solidFill>
            <a:prstDash val="solid"/>
          </a:ln>
        </p:spPr>
      </p:sp>
      <p:sp>
        <p:nvSpPr>
          <p:cNvPr id="34" name="Text 32"/>
          <p:cNvSpPr/>
          <p:nvPr/>
        </p:nvSpPr>
        <p:spPr>
          <a:xfrm>
            <a:off x="1892808" y="2962656"/>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t>
            </a:r>
            <a:endParaRPr lang="en-US" sz="1000" dirty="0"/>
          </a:p>
        </p:txBody>
      </p:sp>
      <p:sp>
        <p:nvSpPr>
          <p:cNvPr id="35" name="Shape 33"/>
          <p:cNvSpPr/>
          <p:nvPr/>
        </p:nvSpPr>
        <p:spPr>
          <a:xfrm>
            <a:off x="2514600" y="2962656"/>
            <a:ext cx="329184" cy="329184"/>
          </a:xfrm>
          <a:prstGeom prst="ellipse">
            <a:avLst/>
          </a:prstGeom>
          <a:solidFill>
            <a:srgbClr val="B9E0A8"/>
          </a:solidFill>
          <a:ln w="12700">
            <a:solidFill>
              <a:srgbClr val="3E7F2E"/>
            </a:solidFill>
            <a:prstDash val="solid"/>
          </a:ln>
        </p:spPr>
      </p:sp>
      <p:sp>
        <p:nvSpPr>
          <p:cNvPr id="36" name="Text 34"/>
          <p:cNvSpPr/>
          <p:nvPr/>
        </p:nvSpPr>
        <p:spPr>
          <a:xfrm>
            <a:off x="2404872" y="2962656"/>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37" name="Shape 35"/>
          <p:cNvSpPr/>
          <p:nvPr/>
        </p:nvSpPr>
        <p:spPr>
          <a:xfrm>
            <a:off x="987278" y="3659154"/>
            <a:ext cx="102047" cy="102047"/>
          </a:xfrm>
          <a:prstGeom prst="ellipse">
            <a:avLst/>
          </a:prstGeom>
          <a:solidFill>
            <a:srgbClr val="FFFFFF"/>
          </a:solidFill>
          <a:ln w="9525">
            <a:solidFill>
              <a:srgbClr val="8A8F99"/>
            </a:solidFill>
            <a:prstDash val="solid"/>
          </a:ln>
        </p:spPr>
      </p:sp>
      <p:sp>
        <p:nvSpPr>
          <p:cNvPr id="38" name="Shape 36"/>
          <p:cNvSpPr/>
          <p:nvPr/>
        </p:nvSpPr>
        <p:spPr>
          <a:xfrm>
            <a:off x="1160099" y="3659154"/>
            <a:ext cx="102047" cy="102047"/>
          </a:xfrm>
          <a:prstGeom prst="ellipse">
            <a:avLst/>
          </a:prstGeom>
          <a:solidFill>
            <a:srgbClr val="FFFFFF"/>
          </a:solidFill>
          <a:ln w="9525">
            <a:solidFill>
              <a:srgbClr val="8A8F99"/>
            </a:solidFill>
            <a:prstDash val="solid"/>
          </a:ln>
        </p:spPr>
      </p:sp>
      <p:sp>
        <p:nvSpPr>
          <p:cNvPr id="39" name="Shape 37"/>
          <p:cNvSpPr/>
          <p:nvPr/>
        </p:nvSpPr>
        <p:spPr>
          <a:xfrm>
            <a:off x="1042416" y="3566160"/>
            <a:ext cx="164592" cy="164592"/>
          </a:xfrm>
          <a:prstGeom prst="ellipse">
            <a:avLst/>
          </a:prstGeom>
          <a:solidFill>
            <a:srgbClr val="E06666"/>
          </a:solidFill>
          <a:ln w="9525">
            <a:solidFill>
              <a:srgbClr val="9E2A2A"/>
            </a:solidFill>
            <a:prstDash val="solid"/>
          </a:ln>
        </p:spPr>
      </p:sp>
      <p:sp>
        <p:nvSpPr>
          <p:cNvPr id="40" name="Shape 38"/>
          <p:cNvSpPr/>
          <p:nvPr/>
        </p:nvSpPr>
        <p:spPr>
          <a:xfrm>
            <a:off x="1481328" y="3529584"/>
            <a:ext cx="329184" cy="329184"/>
          </a:xfrm>
          <a:prstGeom prst="ellipse">
            <a:avLst/>
          </a:prstGeom>
          <a:solidFill>
            <a:srgbClr val="F6B0A8"/>
          </a:solidFill>
          <a:ln w="12700">
            <a:solidFill>
              <a:srgbClr val="B7372B"/>
            </a:solidFill>
            <a:prstDash val="solid"/>
          </a:ln>
        </p:spPr>
      </p:sp>
      <p:sp>
        <p:nvSpPr>
          <p:cNvPr id="41" name="Text 39"/>
          <p:cNvSpPr/>
          <p:nvPr/>
        </p:nvSpPr>
        <p:spPr>
          <a:xfrm>
            <a:off x="1371600" y="3529584"/>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t>
            </a:r>
            <a:endParaRPr lang="en-US" sz="1000" dirty="0"/>
          </a:p>
        </p:txBody>
      </p:sp>
      <p:sp>
        <p:nvSpPr>
          <p:cNvPr id="42" name="Shape 40"/>
          <p:cNvSpPr/>
          <p:nvPr/>
        </p:nvSpPr>
        <p:spPr>
          <a:xfrm>
            <a:off x="2002536" y="3529584"/>
            <a:ext cx="329184" cy="329184"/>
          </a:xfrm>
          <a:prstGeom prst="ellipse">
            <a:avLst/>
          </a:prstGeom>
          <a:solidFill>
            <a:srgbClr val="B9E0A8"/>
          </a:solidFill>
          <a:ln w="12700">
            <a:solidFill>
              <a:srgbClr val="3E7F2E"/>
            </a:solidFill>
            <a:prstDash val="solid"/>
          </a:ln>
        </p:spPr>
      </p:sp>
      <p:sp>
        <p:nvSpPr>
          <p:cNvPr id="43" name="Text 41"/>
          <p:cNvSpPr/>
          <p:nvPr/>
        </p:nvSpPr>
        <p:spPr>
          <a:xfrm>
            <a:off x="1892808" y="3529584"/>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44" name="Shape 42"/>
          <p:cNvSpPr/>
          <p:nvPr/>
        </p:nvSpPr>
        <p:spPr>
          <a:xfrm>
            <a:off x="2541758" y="3659154"/>
            <a:ext cx="102047" cy="102047"/>
          </a:xfrm>
          <a:prstGeom prst="ellipse">
            <a:avLst/>
          </a:prstGeom>
          <a:solidFill>
            <a:srgbClr val="FFFFFF"/>
          </a:solidFill>
          <a:ln w="9525">
            <a:solidFill>
              <a:srgbClr val="8A8F99"/>
            </a:solidFill>
            <a:prstDash val="solid"/>
          </a:ln>
        </p:spPr>
      </p:sp>
      <p:sp>
        <p:nvSpPr>
          <p:cNvPr id="45" name="Shape 43"/>
          <p:cNvSpPr/>
          <p:nvPr/>
        </p:nvSpPr>
        <p:spPr>
          <a:xfrm>
            <a:off x="2714579" y="3659154"/>
            <a:ext cx="102047" cy="102047"/>
          </a:xfrm>
          <a:prstGeom prst="ellipse">
            <a:avLst/>
          </a:prstGeom>
          <a:solidFill>
            <a:srgbClr val="FFFFFF"/>
          </a:solidFill>
          <a:ln w="9525">
            <a:solidFill>
              <a:srgbClr val="8A8F99"/>
            </a:solidFill>
            <a:prstDash val="solid"/>
          </a:ln>
        </p:spPr>
      </p:sp>
      <p:sp>
        <p:nvSpPr>
          <p:cNvPr id="46" name="Shape 44"/>
          <p:cNvSpPr/>
          <p:nvPr/>
        </p:nvSpPr>
        <p:spPr>
          <a:xfrm>
            <a:off x="2596896" y="3566160"/>
            <a:ext cx="164592" cy="164592"/>
          </a:xfrm>
          <a:prstGeom prst="ellipse">
            <a:avLst/>
          </a:prstGeom>
          <a:solidFill>
            <a:srgbClr val="E06666"/>
          </a:solidFill>
          <a:ln w="9525">
            <a:solidFill>
              <a:srgbClr val="9E2A2A"/>
            </a:solidFill>
            <a:prstDash val="solid"/>
          </a:ln>
        </p:spPr>
      </p:sp>
      <p:sp>
        <p:nvSpPr>
          <p:cNvPr id="47" name="Text 45"/>
          <p:cNvSpPr/>
          <p:nvPr/>
        </p:nvSpPr>
        <p:spPr>
          <a:xfrm>
            <a:off x="3246120" y="1325880"/>
            <a:ext cx="2606040" cy="45720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Sodium hydroxide</a:t>
            </a:r>
            <a:r>
              <a:rPr lang="en-US" sz="1100" dirty="0">
                <a:solidFill>
                  <a:srgbClr val="262B3A"/>
                </a:solidFill>
                <a:latin typeface="Calibri" pitchFamily="34" charset="0"/>
                <a:ea typeface="Calibri" pitchFamily="34" charset="-122"/>
                <a:cs typeface="Calibri" pitchFamily="34" charset="-120"/>
              </a:rPr>
              <a:t> solution, NaOH(aq)</a:t>
            </a:r>
            <a:endParaRPr lang="en-US" sz="1100" dirty="0"/>
          </a:p>
        </p:txBody>
      </p:sp>
      <p:sp>
        <p:nvSpPr>
          <p:cNvPr id="48" name="Shape 46"/>
          <p:cNvSpPr/>
          <p:nvPr/>
        </p:nvSpPr>
        <p:spPr>
          <a:xfrm>
            <a:off x="3429000" y="1874520"/>
            <a:ext cx="2240280" cy="2286000"/>
          </a:xfrm>
          <a:prstGeom prst="rect">
            <a:avLst/>
          </a:prstGeom>
          <a:solidFill>
            <a:srgbClr val="EEF5FB"/>
          </a:solidFill>
          <a:ln/>
        </p:spPr>
      </p:sp>
      <p:sp>
        <p:nvSpPr>
          <p:cNvPr id="49" name="Shape 47"/>
          <p:cNvSpPr/>
          <p:nvPr/>
        </p:nvSpPr>
        <p:spPr>
          <a:xfrm>
            <a:off x="3429000" y="2217420"/>
            <a:ext cx="2240280" cy="1943100"/>
          </a:xfrm>
          <a:prstGeom prst="rect">
            <a:avLst/>
          </a:prstGeom>
          <a:solidFill>
            <a:srgbClr val="DCE8F7"/>
          </a:solidFill>
          <a:ln/>
        </p:spPr>
      </p:sp>
      <p:sp>
        <p:nvSpPr>
          <p:cNvPr id="50" name="Shape 48"/>
          <p:cNvSpPr/>
          <p:nvPr/>
        </p:nvSpPr>
        <p:spPr>
          <a:xfrm>
            <a:off x="3429000" y="2217420"/>
            <a:ext cx="2240280" cy="91"/>
          </a:xfrm>
          <a:prstGeom prst="line">
            <a:avLst/>
          </a:prstGeom>
          <a:noFill/>
          <a:ln w="12700">
            <a:solidFill>
              <a:srgbClr val="5B9BD5"/>
            </a:solidFill>
            <a:prstDash val="solid"/>
          </a:ln>
        </p:spPr>
      </p:sp>
      <p:sp>
        <p:nvSpPr>
          <p:cNvPr id="51" name="Shape 49"/>
          <p:cNvSpPr/>
          <p:nvPr/>
        </p:nvSpPr>
        <p:spPr>
          <a:xfrm>
            <a:off x="3429000" y="1874520"/>
            <a:ext cx="91" cy="2286000"/>
          </a:xfrm>
          <a:prstGeom prst="line">
            <a:avLst/>
          </a:prstGeom>
          <a:noFill/>
          <a:ln w="19050">
            <a:solidFill>
              <a:srgbClr val="2A1F3D"/>
            </a:solidFill>
            <a:prstDash val="solid"/>
          </a:ln>
        </p:spPr>
      </p:sp>
      <p:sp>
        <p:nvSpPr>
          <p:cNvPr id="52" name="Shape 50"/>
          <p:cNvSpPr/>
          <p:nvPr/>
        </p:nvSpPr>
        <p:spPr>
          <a:xfrm>
            <a:off x="5669280" y="1874520"/>
            <a:ext cx="91" cy="2286000"/>
          </a:xfrm>
          <a:prstGeom prst="line">
            <a:avLst/>
          </a:prstGeom>
          <a:noFill/>
          <a:ln w="19050">
            <a:solidFill>
              <a:srgbClr val="2A1F3D"/>
            </a:solidFill>
            <a:prstDash val="solid"/>
          </a:ln>
        </p:spPr>
      </p:sp>
      <p:sp>
        <p:nvSpPr>
          <p:cNvPr id="53" name="Shape 51"/>
          <p:cNvSpPr/>
          <p:nvPr/>
        </p:nvSpPr>
        <p:spPr>
          <a:xfrm>
            <a:off x="3429000" y="4160520"/>
            <a:ext cx="2240280" cy="91"/>
          </a:xfrm>
          <a:prstGeom prst="line">
            <a:avLst/>
          </a:prstGeom>
          <a:noFill/>
          <a:ln w="19050">
            <a:solidFill>
              <a:srgbClr val="2A1F3D"/>
            </a:solidFill>
            <a:prstDash val="solid"/>
          </a:ln>
        </p:spPr>
      </p:sp>
      <p:sp>
        <p:nvSpPr>
          <p:cNvPr id="54" name="Shape 52"/>
          <p:cNvSpPr/>
          <p:nvPr/>
        </p:nvSpPr>
        <p:spPr>
          <a:xfrm>
            <a:off x="3374136" y="1874520"/>
            <a:ext cx="54864" cy="91"/>
          </a:xfrm>
          <a:prstGeom prst="line">
            <a:avLst/>
          </a:prstGeom>
          <a:noFill/>
          <a:ln w="19050">
            <a:solidFill>
              <a:srgbClr val="2A1F3D"/>
            </a:solidFill>
            <a:prstDash val="solid"/>
          </a:ln>
        </p:spPr>
      </p:sp>
      <p:sp>
        <p:nvSpPr>
          <p:cNvPr id="55" name="Shape 53"/>
          <p:cNvSpPr/>
          <p:nvPr/>
        </p:nvSpPr>
        <p:spPr>
          <a:xfrm>
            <a:off x="5669280" y="1874520"/>
            <a:ext cx="54864" cy="91"/>
          </a:xfrm>
          <a:prstGeom prst="line">
            <a:avLst/>
          </a:prstGeom>
          <a:noFill/>
          <a:ln w="19050">
            <a:solidFill>
              <a:srgbClr val="2A1F3D"/>
            </a:solidFill>
            <a:prstDash val="solid"/>
          </a:ln>
        </p:spPr>
      </p:sp>
      <p:sp>
        <p:nvSpPr>
          <p:cNvPr id="56" name="Shape 54"/>
          <p:cNvSpPr/>
          <p:nvPr/>
        </p:nvSpPr>
        <p:spPr>
          <a:xfrm>
            <a:off x="3611880" y="2395728"/>
            <a:ext cx="329184" cy="329184"/>
          </a:xfrm>
          <a:prstGeom prst="ellipse">
            <a:avLst/>
          </a:prstGeom>
          <a:solidFill>
            <a:srgbClr val="F7E08A"/>
          </a:solidFill>
          <a:ln w="12700">
            <a:solidFill>
              <a:srgbClr val="9A7A1A"/>
            </a:solidFill>
            <a:prstDash val="solid"/>
          </a:ln>
        </p:spPr>
      </p:sp>
      <p:sp>
        <p:nvSpPr>
          <p:cNvPr id="57" name="Text 55"/>
          <p:cNvSpPr/>
          <p:nvPr/>
        </p:nvSpPr>
        <p:spPr>
          <a:xfrm>
            <a:off x="3502152" y="2395728"/>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Na⁺</a:t>
            </a:r>
            <a:endParaRPr lang="en-US" sz="1000" dirty="0"/>
          </a:p>
        </p:txBody>
      </p:sp>
      <p:sp>
        <p:nvSpPr>
          <p:cNvPr id="58" name="Shape 56"/>
          <p:cNvSpPr/>
          <p:nvPr/>
        </p:nvSpPr>
        <p:spPr>
          <a:xfrm>
            <a:off x="4133088" y="2395728"/>
            <a:ext cx="329184" cy="329184"/>
          </a:xfrm>
          <a:prstGeom prst="ellipse">
            <a:avLst/>
          </a:prstGeom>
          <a:solidFill>
            <a:srgbClr val="A9C8F0"/>
          </a:solidFill>
          <a:ln w="12700">
            <a:solidFill>
              <a:srgbClr val="2F5FA8"/>
            </a:solidFill>
            <a:prstDash val="solid"/>
          </a:ln>
        </p:spPr>
      </p:sp>
      <p:sp>
        <p:nvSpPr>
          <p:cNvPr id="59" name="Text 57"/>
          <p:cNvSpPr/>
          <p:nvPr/>
        </p:nvSpPr>
        <p:spPr>
          <a:xfrm>
            <a:off x="4023360" y="2395728"/>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OH⁻</a:t>
            </a:r>
            <a:endParaRPr lang="en-US" sz="1000" dirty="0"/>
          </a:p>
        </p:txBody>
      </p:sp>
      <p:sp>
        <p:nvSpPr>
          <p:cNvPr id="60" name="Shape 58"/>
          <p:cNvSpPr/>
          <p:nvPr/>
        </p:nvSpPr>
        <p:spPr>
          <a:xfrm>
            <a:off x="4681454" y="2525298"/>
            <a:ext cx="102047" cy="102047"/>
          </a:xfrm>
          <a:prstGeom prst="ellipse">
            <a:avLst/>
          </a:prstGeom>
          <a:solidFill>
            <a:srgbClr val="FFFFFF"/>
          </a:solidFill>
          <a:ln w="9525">
            <a:solidFill>
              <a:srgbClr val="8A8F99"/>
            </a:solidFill>
            <a:prstDash val="solid"/>
          </a:ln>
        </p:spPr>
      </p:sp>
      <p:sp>
        <p:nvSpPr>
          <p:cNvPr id="61" name="Shape 59"/>
          <p:cNvSpPr/>
          <p:nvPr/>
        </p:nvSpPr>
        <p:spPr>
          <a:xfrm>
            <a:off x="4854275" y="2525298"/>
            <a:ext cx="102047" cy="102047"/>
          </a:xfrm>
          <a:prstGeom prst="ellipse">
            <a:avLst/>
          </a:prstGeom>
          <a:solidFill>
            <a:srgbClr val="FFFFFF"/>
          </a:solidFill>
          <a:ln w="9525">
            <a:solidFill>
              <a:srgbClr val="8A8F99"/>
            </a:solidFill>
            <a:prstDash val="solid"/>
          </a:ln>
        </p:spPr>
      </p:sp>
      <p:sp>
        <p:nvSpPr>
          <p:cNvPr id="62" name="Shape 60"/>
          <p:cNvSpPr/>
          <p:nvPr/>
        </p:nvSpPr>
        <p:spPr>
          <a:xfrm>
            <a:off x="4736592" y="2432304"/>
            <a:ext cx="164592" cy="164592"/>
          </a:xfrm>
          <a:prstGeom prst="ellipse">
            <a:avLst/>
          </a:prstGeom>
          <a:solidFill>
            <a:srgbClr val="E06666"/>
          </a:solidFill>
          <a:ln w="9525">
            <a:solidFill>
              <a:srgbClr val="9E2A2A"/>
            </a:solidFill>
            <a:prstDash val="solid"/>
          </a:ln>
        </p:spPr>
      </p:sp>
      <p:sp>
        <p:nvSpPr>
          <p:cNvPr id="63" name="Shape 61"/>
          <p:cNvSpPr/>
          <p:nvPr/>
        </p:nvSpPr>
        <p:spPr>
          <a:xfrm>
            <a:off x="5166360" y="2395728"/>
            <a:ext cx="329184" cy="329184"/>
          </a:xfrm>
          <a:prstGeom prst="ellipse">
            <a:avLst/>
          </a:prstGeom>
          <a:solidFill>
            <a:srgbClr val="F7E08A"/>
          </a:solidFill>
          <a:ln w="12700">
            <a:solidFill>
              <a:srgbClr val="9A7A1A"/>
            </a:solidFill>
            <a:prstDash val="solid"/>
          </a:ln>
        </p:spPr>
      </p:sp>
      <p:sp>
        <p:nvSpPr>
          <p:cNvPr id="64" name="Text 62"/>
          <p:cNvSpPr/>
          <p:nvPr/>
        </p:nvSpPr>
        <p:spPr>
          <a:xfrm>
            <a:off x="5056632" y="2395728"/>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Na⁺</a:t>
            </a:r>
            <a:endParaRPr lang="en-US" sz="1000" dirty="0"/>
          </a:p>
        </p:txBody>
      </p:sp>
      <p:sp>
        <p:nvSpPr>
          <p:cNvPr id="65" name="Shape 63"/>
          <p:cNvSpPr/>
          <p:nvPr/>
        </p:nvSpPr>
        <p:spPr>
          <a:xfrm>
            <a:off x="3611880" y="2962656"/>
            <a:ext cx="329184" cy="329184"/>
          </a:xfrm>
          <a:prstGeom prst="ellipse">
            <a:avLst/>
          </a:prstGeom>
          <a:solidFill>
            <a:srgbClr val="A9C8F0"/>
          </a:solidFill>
          <a:ln w="12700">
            <a:solidFill>
              <a:srgbClr val="2F5FA8"/>
            </a:solidFill>
            <a:prstDash val="solid"/>
          </a:ln>
        </p:spPr>
      </p:sp>
      <p:sp>
        <p:nvSpPr>
          <p:cNvPr id="66" name="Text 64"/>
          <p:cNvSpPr/>
          <p:nvPr/>
        </p:nvSpPr>
        <p:spPr>
          <a:xfrm>
            <a:off x="3502152" y="2962656"/>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OH⁻</a:t>
            </a:r>
            <a:endParaRPr lang="en-US" sz="1000" dirty="0"/>
          </a:p>
        </p:txBody>
      </p:sp>
      <p:sp>
        <p:nvSpPr>
          <p:cNvPr id="67" name="Shape 65"/>
          <p:cNvSpPr/>
          <p:nvPr/>
        </p:nvSpPr>
        <p:spPr>
          <a:xfrm>
            <a:off x="4160246" y="3092226"/>
            <a:ext cx="102047" cy="102047"/>
          </a:xfrm>
          <a:prstGeom prst="ellipse">
            <a:avLst/>
          </a:prstGeom>
          <a:solidFill>
            <a:srgbClr val="FFFFFF"/>
          </a:solidFill>
          <a:ln w="9525">
            <a:solidFill>
              <a:srgbClr val="8A8F99"/>
            </a:solidFill>
            <a:prstDash val="solid"/>
          </a:ln>
        </p:spPr>
      </p:sp>
      <p:sp>
        <p:nvSpPr>
          <p:cNvPr id="68" name="Shape 66"/>
          <p:cNvSpPr/>
          <p:nvPr/>
        </p:nvSpPr>
        <p:spPr>
          <a:xfrm>
            <a:off x="4333067" y="3092226"/>
            <a:ext cx="102047" cy="102047"/>
          </a:xfrm>
          <a:prstGeom prst="ellipse">
            <a:avLst/>
          </a:prstGeom>
          <a:solidFill>
            <a:srgbClr val="FFFFFF"/>
          </a:solidFill>
          <a:ln w="9525">
            <a:solidFill>
              <a:srgbClr val="8A8F99"/>
            </a:solidFill>
            <a:prstDash val="solid"/>
          </a:ln>
        </p:spPr>
      </p:sp>
      <p:sp>
        <p:nvSpPr>
          <p:cNvPr id="69" name="Shape 67"/>
          <p:cNvSpPr/>
          <p:nvPr/>
        </p:nvSpPr>
        <p:spPr>
          <a:xfrm>
            <a:off x="4215384" y="2999232"/>
            <a:ext cx="164592" cy="164592"/>
          </a:xfrm>
          <a:prstGeom prst="ellipse">
            <a:avLst/>
          </a:prstGeom>
          <a:solidFill>
            <a:srgbClr val="E06666"/>
          </a:solidFill>
          <a:ln w="9525">
            <a:solidFill>
              <a:srgbClr val="9E2A2A"/>
            </a:solidFill>
            <a:prstDash val="solid"/>
          </a:ln>
        </p:spPr>
      </p:sp>
      <p:sp>
        <p:nvSpPr>
          <p:cNvPr id="70" name="Shape 68"/>
          <p:cNvSpPr/>
          <p:nvPr/>
        </p:nvSpPr>
        <p:spPr>
          <a:xfrm>
            <a:off x="4654296" y="2962656"/>
            <a:ext cx="329184" cy="329184"/>
          </a:xfrm>
          <a:prstGeom prst="ellipse">
            <a:avLst/>
          </a:prstGeom>
          <a:solidFill>
            <a:srgbClr val="F7E08A"/>
          </a:solidFill>
          <a:ln w="12700">
            <a:solidFill>
              <a:srgbClr val="9A7A1A"/>
            </a:solidFill>
            <a:prstDash val="solid"/>
          </a:ln>
        </p:spPr>
      </p:sp>
      <p:sp>
        <p:nvSpPr>
          <p:cNvPr id="71" name="Text 69"/>
          <p:cNvSpPr/>
          <p:nvPr/>
        </p:nvSpPr>
        <p:spPr>
          <a:xfrm>
            <a:off x="4544568" y="2962656"/>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Na⁺</a:t>
            </a:r>
            <a:endParaRPr lang="en-US" sz="1000" dirty="0"/>
          </a:p>
        </p:txBody>
      </p:sp>
      <p:sp>
        <p:nvSpPr>
          <p:cNvPr id="72" name="Shape 70"/>
          <p:cNvSpPr/>
          <p:nvPr/>
        </p:nvSpPr>
        <p:spPr>
          <a:xfrm>
            <a:off x="5166360" y="2962656"/>
            <a:ext cx="329184" cy="329184"/>
          </a:xfrm>
          <a:prstGeom prst="ellipse">
            <a:avLst/>
          </a:prstGeom>
          <a:solidFill>
            <a:srgbClr val="A9C8F0"/>
          </a:solidFill>
          <a:ln w="12700">
            <a:solidFill>
              <a:srgbClr val="2F5FA8"/>
            </a:solidFill>
            <a:prstDash val="solid"/>
          </a:ln>
        </p:spPr>
      </p:sp>
      <p:sp>
        <p:nvSpPr>
          <p:cNvPr id="73" name="Text 71"/>
          <p:cNvSpPr/>
          <p:nvPr/>
        </p:nvSpPr>
        <p:spPr>
          <a:xfrm>
            <a:off x="5056632" y="2962656"/>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OH⁻</a:t>
            </a:r>
            <a:endParaRPr lang="en-US" sz="1000" dirty="0"/>
          </a:p>
        </p:txBody>
      </p:sp>
      <p:sp>
        <p:nvSpPr>
          <p:cNvPr id="74" name="Shape 72"/>
          <p:cNvSpPr/>
          <p:nvPr/>
        </p:nvSpPr>
        <p:spPr>
          <a:xfrm>
            <a:off x="3639038" y="3659154"/>
            <a:ext cx="102047" cy="102047"/>
          </a:xfrm>
          <a:prstGeom prst="ellipse">
            <a:avLst/>
          </a:prstGeom>
          <a:solidFill>
            <a:srgbClr val="FFFFFF"/>
          </a:solidFill>
          <a:ln w="9525">
            <a:solidFill>
              <a:srgbClr val="8A8F99"/>
            </a:solidFill>
            <a:prstDash val="solid"/>
          </a:ln>
        </p:spPr>
      </p:sp>
      <p:sp>
        <p:nvSpPr>
          <p:cNvPr id="75" name="Shape 73"/>
          <p:cNvSpPr/>
          <p:nvPr/>
        </p:nvSpPr>
        <p:spPr>
          <a:xfrm>
            <a:off x="3811859" y="3659154"/>
            <a:ext cx="102047" cy="102047"/>
          </a:xfrm>
          <a:prstGeom prst="ellipse">
            <a:avLst/>
          </a:prstGeom>
          <a:solidFill>
            <a:srgbClr val="FFFFFF"/>
          </a:solidFill>
          <a:ln w="9525">
            <a:solidFill>
              <a:srgbClr val="8A8F99"/>
            </a:solidFill>
            <a:prstDash val="solid"/>
          </a:ln>
        </p:spPr>
      </p:sp>
      <p:sp>
        <p:nvSpPr>
          <p:cNvPr id="76" name="Shape 74"/>
          <p:cNvSpPr/>
          <p:nvPr/>
        </p:nvSpPr>
        <p:spPr>
          <a:xfrm>
            <a:off x="3694176" y="3566160"/>
            <a:ext cx="164592" cy="164592"/>
          </a:xfrm>
          <a:prstGeom prst="ellipse">
            <a:avLst/>
          </a:prstGeom>
          <a:solidFill>
            <a:srgbClr val="E06666"/>
          </a:solidFill>
          <a:ln w="9525">
            <a:solidFill>
              <a:srgbClr val="9E2A2A"/>
            </a:solidFill>
            <a:prstDash val="solid"/>
          </a:ln>
        </p:spPr>
      </p:sp>
      <p:sp>
        <p:nvSpPr>
          <p:cNvPr id="77" name="Shape 75"/>
          <p:cNvSpPr/>
          <p:nvPr/>
        </p:nvSpPr>
        <p:spPr>
          <a:xfrm>
            <a:off x="4133088" y="3529584"/>
            <a:ext cx="329184" cy="329184"/>
          </a:xfrm>
          <a:prstGeom prst="ellipse">
            <a:avLst/>
          </a:prstGeom>
          <a:solidFill>
            <a:srgbClr val="F7E08A"/>
          </a:solidFill>
          <a:ln w="12700">
            <a:solidFill>
              <a:srgbClr val="9A7A1A"/>
            </a:solidFill>
            <a:prstDash val="solid"/>
          </a:ln>
        </p:spPr>
      </p:sp>
      <p:sp>
        <p:nvSpPr>
          <p:cNvPr id="78" name="Text 76"/>
          <p:cNvSpPr/>
          <p:nvPr/>
        </p:nvSpPr>
        <p:spPr>
          <a:xfrm>
            <a:off x="4023360" y="3529584"/>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Na⁺</a:t>
            </a:r>
            <a:endParaRPr lang="en-US" sz="1000" dirty="0"/>
          </a:p>
        </p:txBody>
      </p:sp>
      <p:sp>
        <p:nvSpPr>
          <p:cNvPr id="79" name="Shape 77"/>
          <p:cNvSpPr/>
          <p:nvPr/>
        </p:nvSpPr>
        <p:spPr>
          <a:xfrm>
            <a:off x="4654296" y="3529584"/>
            <a:ext cx="329184" cy="329184"/>
          </a:xfrm>
          <a:prstGeom prst="ellipse">
            <a:avLst/>
          </a:prstGeom>
          <a:solidFill>
            <a:srgbClr val="A9C8F0"/>
          </a:solidFill>
          <a:ln w="12700">
            <a:solidFill>
              <a:srgbClr val="2F5FA8"/>
            </a:solidFill>
            <a:prstDash val="solid"/>
          </a:ln>
        </p:spPr>
      </p:sp>
      <p:sp>
        <p:nvSpPr>
          <p:cNvPr id="80" name="Text 78"/>
          <p:cNvSpPr/>
          <p:nvPr/>
        </p:nvSpPr>
        <p:spPr>
          <a:xfrm>
            <a:off x="4544568" y="3529584"/>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OH⁻</a:t>
            </a:r>
            <a:endParaRPr lang="en-US" sz="1000" dirty="0"/>
          </a:p>
        </p:txBody>
      </p:sp>
      <p:sp>
        <p:nvSpPr>
          <p:cNvPr id="81" name="Shape 79"/>
          <p:cNvSpPr/>
          <p:nvPr/>
        </p:nvSpPr>
        <p:spPr>
          <a:xfrm>
            <a:off x="5193518" y="3659154"/>
            <a:ext cx="102047" cy="102047"/>
          </a:xfrm>
          <a:prstGeom prst="ellipse">
            <a:avLst/>
          </a:prstGeom>
          <a:solidFill>
            <a:srgbClr val="FFFFFF"/>
          </a:solidFill>
          <a:ln w="9525">
            <a:solidFill>
              <a:srgbClr val="8A8F99"/>
            </a:solidFill>
            <a:prstDash val="solid"/>
          </a:ln>
        </p:spPr>
      </p:sp>
      <p:sp>
        <p:nvSpPr>
          <p:cNvPr id="82" name="Shape 80"/>
          <p:cNvSpPr/>
          <p:nvPr/>
        </p:nvSpPr>
        <p:spPr>
          <a:xfrm>
            <a:off x="5366339" y="3659154"/>
            <a:ext cx="102047" cy="102047"/>
          </a:xfrm>
          <a:prstGeom prst="ellipse">
            <a:avLst/>
          </a:prstGeom>
          <a:solidFill>
            <a:srgbClr val="FFFFFF"/>
          </a:solidFill>
          <a:ln w="9525">
            <a:solidFill>
              <a:srgbClr val="8A8F99"/>
            </a:solidFill>
            <a:prstDash val="solid"/>
          </a:ln>
        </p:spPr>
      </p:sp>
      <p:sp>
        <p:nvSpPr>
          <p:cNvPr id="83" name="Shape 81"/>
          <p:cNvSpPr/>
          <p:nvPr/>
        </p:nvSpPr>
        <p:spPr>
          <a:xfrm>
            <a:off x="5248656" y="3566160"/>
            <a:ext cx="164592" cy="164592"/>
          </a:xfrm>
          <a:prstGeom prst="ellipse">
            <a:avLst/>
          </a:prstGeom>
          <a:solidFill>
            <a:srgbClr val="E06666"/>
          </a:solidFill>
          <a:ln w="9525">
            <a:solidFill>
              <a:srgbClr val="9E2A2A"/>
            </a:solidFill>
            <a:prstDash val="solid"/>
          </a:ln>
        </p:spPr>
      </p:sp>
      <p:sp>
        <p:nvSpPr>
          <p:cNvPr id="84" name="Shape 82"/>
          <p:cNvSpPr/>
          <p:nvPr/>
        </p:nvSpPr>
        <p:spPr>
          <a:xfrm>
            <a:off x="594360" y="4370832"/>
            <a:ext cx="2606040" cy="384048"/>
          </a:xfrm>
          <a:prstGeom prst="roundRect">
            <a:avLst>
              <a:gd name="adj" fmla="val 11905"/>
            </a:avLst>
          </a:prstGeom>
          <a:solidFill>
            <a:srgbClr val="FFFFFF"/>
          </a:solidFill>
          <a:ln w="12700">
            <a:solidFill>
              <a:srgbClr val="DDD3EC"/>
            </a:solidFill>
            <a:prstDash val="solid"/>
          </a:ln>
        </p:spPr>
      </p:sp>
      <p:sp>
        <p:nvSpPr>
          <p:cNvPr id="85" name="Text 83"/>
          <p:cNvSpPr/>
          <p:nvPr/>
        </p:nvSpPr>
        <p:spPr>
          <a:xfrm>
            <a:off x="667512" y="4370832"/>
            <a:ext cx="2459736" cy="38404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HCl(aq) → H⁺(aq) + Cl⁻(aq)</a:t>
            </a:r>
            <a:endParaRPr lang="en-US" sz="1100" dirty="0"/>
          </a:p>
        </p:txBody>
      </p:sp>
      <p:sp>
        <p:nvSpPr>
          <p:cNvPr id="86" name="Shape 84"/>
          <p:cNvSpPr/>
          <p:nvPr/>
        </p:nvSpPr>
        <p:spPr>
          <a:xfrm>
            <a:off x="3246120" y="4370832"/>
            <a:ext cx="2606040" cy="384048"/>
          </a:xfrm>
          <a:prstGeom prst="roundRect">
            <a:avLst>
              <a:gd name="adj" fmla="val 11905"/>
            </a:avLst>
          </a:prstGeom>
          <a:solidFill>
            <a:srgbClr val="FFFFFF"/>
          </a:solidFill>
          <a:ln w="12700">
            <a:solidFill>
              <a:srgbClr val="DDD3EC"/>
            </a:solidFill>
            <a:prstDash val="solid"/>
          </a:ln>
        </p:spPr>
      </p:sp>
      <p:sp>
        <p:nvSpPr>
          <p:cNvPr id="87" name="Text 85"/>
          <p:cNvSpPr/>
          <p:nvPr/>
        </p:nvSpPr>
        <p:spPr>
          <a:xfrm>
            <a:off x="3319272" y="4370832"/>
            <a:ext cx="2459736" cy="38404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NaOH(aq) → Na⁺(aq) + OH⁻(aq)</a:t>
            </a:r>
            <a:endParaRPr lang="en-US" sz="1100" dirty="0"/>
          </a:p>
        </p:txBody>
      </p:sp>
      <p:sp>
        <p:nvSpPr>
          <p:cNvPr id="88" name="Text 86"/>
          <p:cNvSpPr/>
          <p:nvPr/>
        </p:nvSpPr>
        <p:spPr>
          <a:xfrm>
            <a:off x="594360" y="4846320"/>
            <a:ext cx="5257800" cy="411480"/>
          </a:xfrm>
          <a:prstGeom prst="rect">
            <a:avLst/>
          </a:prstGeom>
          <a:noFill/>
          <a:ln/>
        </p:spPr>
        <p:txBody>
          <a:bodyPr wrap="square" lIns="0" tIns="0" rIns="0" bIns="0" rtlCol="0" anchor="ctr"/>
          <a:lstStyle/>
          <a:p>
            <a:pPr algn="ctr" indent="0" marL="0">
              <a:buNone/>
            </a:pPr>
            <a:r>
              <a:rPr lang="en-US" sz="1050" i="1" dirty="0">
                <a:solidFill>
                  <a:srgbClr val="262B3A"/>
                </a:solidFill>
                <a:latin typeface="Calibri" pitchFamily="34" charset="0"/>
                <a:ea typeface="Calibri" pitchFamily="34" charset="-122"/>
                <a:cs typeface="Calibri" pitchFamily="34" charset="-120"/>
              </a:rPr>
              <a:t>They </a:t>
            </a:r>
            <a:r>
              <a:rPr lang="en-US" sz="1050" b="1" i="1" dirty="0">
                <a:solidFill>
                  <a:srgbClr val="262B3A"/>
                </a:solidFill>
                <a:latin typeface="Calibri" pitchFamily="34" charset="0"/>
                <a:ea typeface="Calibri" pitchFamily="34" charset="-122"/>
                <a:cs typeface="Calibri" pitchFamily="34" charset="-120"/>
              </a:rPr>
              <a:t>dissociate</a:t>
            </a:r>
            <a:r>
              <a:rPr lang="en-US" sz="1050" i="1" dirty="0">
                <a:solidFill>
                  <a:srgbClr val="262B3A"/>
                </a:solidFill>
                <a:latin typeface="Calibri" pitchFamily="34" charset="0"/>
                <a:ea typeface="Calibri" pitchFamily="34" charset="-122"/>
                <a:cs typeface="Calibri" pitchFamily="34" charset="-120"/>
              </a:rPr>
              <a:t>: the compound splits up into ions when it dissolves in water.</a:t>
            </a:r>
            <a:endParaRPr lang="en-US" sz="1050" dirty="0"/>
          </a:p>
        </p:txBody>
      </p:sp>
      <p:sp>
        <p:nvSpPr>
          <p:cNvPr id="89" name="Shape 87"/>
          <p:cNvSpPr/>
          <p:nvPr/>
        </p:nvSpPr>
        <p:spPr>
          <a:xfrm>
            <a:off x="6217920" y="1188720"/>
            <a:ext cx="5562295" cy="2331720"/>
          </a:xfrm>
          <a:prstGeom prst="roundRect">
            <a:avLst>
              <a:gd name="adj" fmla="val 2353"/>
            </a:avLst>
          </a:prstGeom>
          <a:solidFill>
            <a:srgbClr val="F8F5FC"/>
          </a:solidFill>
          <a:ln w="9525">
            <a:solidFill>
              <a:srgbClr val="DDD3EC"/>
            </a:solidFill>
            <a:prstDash val="solid"/>
          </a:ln>
        </p:spPr>
      </p:sp>
      <p:sp>
        <p:nvSpPr>
          <p:cNvPr id="90" name="Text 8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What makes a solution acidic or alkaline?</a:t>
            </a:r>
            <a:endParaRPr lang="en-US" sz="1300" dirty="0"/>
          </a:p>
        </p:txBody>
      </p:sp>
      <p:sp>
        <p:nvSpPr>
          <p:cNvPr id="91" name="Text 89"/>
          <p:cNvSpPr/>
          <p:nvPr/>
        </p:nvSpPr>
        <p:spPr>
          <a:xfrm>
            <a:off x="6382512" y="1609344"/>
            <a:ext cx="5233111" cy="183794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An </a:t>
            </a:r>
            <a:r>
              <a:rPr lang="en-US" sz="1150" b="1" dirty="0">
                <a:solidFill>
                  <a:srgbClr val="262B3A"/>
                </a:solidFill>
                <a:latin typeface="Calibri" pitchFamily="34" charset="0"/>
                <a:ea typeface="Calibri" pitchFamily="34" charset="-122"/>
                <a:cs typeface="Calibri" pitchFamily="34" charset="-120"/>
              </a:rPr>
              <a:t>acid</a:t>
            </a:r>
            <a:r>
              <a:rPr lang="en-US" sz="1150" dirty="0">
                <a:solidFill>
                  <a:srgbClr val="262B3A"/>
                </a:solidFill>
                <a:latin typeface="Calibri" pitchFamily="34" charset="0"/>
                <a:ea typeface="Calibri" pitchFamily="34" charset="-122"/>
                <a:cs typeface="Calibri" pitchFamily="34" charset="-120"/>
              </a:rPr>
              <a:t> in solution is a source of </a:t>
            </a:r>
            <a:r>
              <a:rPr lang="en-US" sz="1150" b="1" dirty="0">
                <a:solidFill>
                  <a:srgbClr val="262B3A"/>
                </a:solidFill>
                <a:latin typeface="Calibri" pitchFamily="34" charset="0"/>
                <a:ea typeface="Calibri" pitchFamily="34" charset="-122"/>
                <a:cs typeface="Calibri" pitchFamily="34" charset="-120"/>
              </a:rPr>
              <a:t>hydrogen ions, H⁺(aq)</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An </a:t>
            </a:r>
            <a:r>
              <a:rPr lang="en-US" sz="1150" b="1" dirty="0">
                <a:solidFill>
                  <a:srgbClr val="262B3A"/>
                </a:solidFill>
                <a:latin typeface="Calibri" pitchFamily="34" charset="0"/>
                <a:ea typeface="Calibri" pitchFamily="34" charset="-122"/>
                <a:cs typeface="Calibri" pitchFamily="34" charset="-120"/>
              </a:rPr>
              <a:t>alkali</a:t>
            </a:r>
            <a:r>
              <a:rPr lang="en-US" sz="1150" dirty="0">
                <a:solidFill>
                  <a:srgbClr val="262B3A"/>
                </a:solidFill>
                <a:latin typeface="Calibri" pitchFamily="34" charset="0"/>
                <a:ea typeface="Calibri" pitchFamily="34" charset="-122"/>
                <a:cs typeface="Calibri" pitchFamily="34" charset="-120"/>
              </a:rPr>
              <a:t> in solution is a source of </a:t>
            </a:r>
            <a:r>
              <a:rPr lang="en-US" sz="1150" b="1" dirty="0">
                <a:solidFill>
                  <a:srgbClr val="262B3A"/>
                </a:solidFill>
                <a:latin typeface="Calibri" pitchFamily="34" charset="0"/>
                <a:ea typeface="Calibri" pitchFamily="34" charset="-122"/>
                <a:cs typeface="Calibri" pitchFamily="34" charset="-120"/>
              </a:rPr>
              <a:t>hydroxide ions, OH⁻(aq)</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other ion</a:t>
            </a:r>
            <a:r>
              <a:rPr lang="en-US" sz="1150" dirty="0">
                <a:solidFill>
                  <a:srgbClr val="262B3A"/>
                </a:solidFill>
                <a:latin typeface="Calibri" pitchFamily="34" charset="0"/>
                <a:ea typeface="Calibri" pitchFamily="34" charset="-122"/>
                <a:cs typeface="Calibri" pitchFamily="34" charset="-120"/>
              </a:rPr>
              <a:t> (Cl⁻, SO₄²⁻, NO₃⁻, Na⁺, K⁺…) decides which </a:t>
            </a:r>
            <a:r>
              <a:rPr lang="en-US" sz="1150" b="1" dirty="0">
                <a:solidFill>
                  <a:srgbClr val="262B3A"/>
                </a:solidFill>
                <a:latin typeface="Calibri" pitchFamily="34" charset="0"/>
                <a:ea typeface="Calibri" pitchFamily="34" charset="-122"/>
                <a:cs typeface="Calibri" pitchFamily="34" charset="-120"/>
              </a:rPr>
              <a:t>salt</a:t>
            </a:r>
            <a:r>
              <a:rPr lang="en-US" sz="1150" dirty="0">
                <a:solidFill>
                  <a:srgbClr val="262B3A"/>
                </a:solidFill>
                <a:latin typeface="Calibri" pitchFamily="34" charset="0"/>
                <a:ea typeface="Calibri" pitchFamily="34" charset="-122"/>
                <a:cs typeface="Calibri" pitchFamily="34" charset="-120"/>
              </a:rPr>
              <a:t> is made later.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State symbol </a:t>
            </a:r>
            <a:r>
              <a:rPr lang="en-US" sz="1150" b="1" dirty="0">
                <a:solidFill>
                  <a:srgbClr val="262B3A"/>
                </a:solidFill>
                <a:latin typeface="Calibri" pitchFamily="34" charset="0"/>
                <a:ea typeface="Calibri" pitchFamily="34" charset="-122"/>
                <a:cs typeface="Calibri" pitchFamily="34" charset="-120"/>
              </a:rPr>
              <a:t>(aq)</a:t>
            </a:r>
            <a:r>
              <a:rPr lang="en-US" sz="1150" dirty="0">
                <a:solidFill>
                  <a:srgbClr val="262B3A"/>
                </a:solidFill>
                <a:latin typeface="Calibri" pitchFamily="34" charset="0"/>
                <a:ea typeface="Calibri" pitchFamily="34" charset="-122"/>
                <a:cs typeface="Calibri" pitchFamily="34" charset="-120"/>
              </a:rPr>
              <a:t> = dissolved in water. The ions are free to move.</a:t>
            </a:r>
            <a:endParaRPr lang="en-US" sz="1150" dirty="0"/>
          </a:p>
        </p:txBody>
      </p:sp>
      <p:sp>
        <p:nvSpPr>
          <p:cNvPr id="92" name="Shape 90"/>
          <p:cNvSpPr/>
          <p:nvPr/>
        </p:nvSpPr>
        <p:spPr>
          <a:xfrm>
            <a:off x="6217920" y="3657600"/>
            <a:ext cx="5562295" cy="2057400"/>
          </a:xfrm>
          <a:prstGeom prst="roundRect">
            <a:avLst>
              <a:gd name="adj" fmla="val 2667"/>
            </a:avLst>
          </a:prstGeom>
          <a:solidFill>
            <a:srgbClr val="FFF4E0"/>
          </a:solidFill>
          <a:ln w="9525">
            <a:solidFill>
              <a:srgbClr val="F1D9A8"/>
            </a:solidFill>
            <a:prstDash val="solid"/>
          </a:ln>
        </p:spPr>
      </p:sp>
      <p:sp>
        <p:nvSpPr>
          <p:cNvPr id="93" name="Text 91"/>
          <p:cNvSpPr/>
          <p:nvPr/>
        </p:nvSpPr>
        <p:spPr>
          <a:xfrm>
            <a:off x="6382512" y="37307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Writing the ions in solution</a:t>
            </a:r>
            <a:endParaRPr lang="en-US" sz="1300" dirty="0"/>
          </a:p>
        </p:txBody>
      </p:sp>
      <p:sp>
        <p:nvSpPr>
          <p:cNvPr id="94" name="Text 92"/>
          <p:cNvSpPr/>
          <p:nvPr/>
        </p:nvSpPr>
        <p:spPr>
          <a:xfrm>
            <a:off x="6382512" y="4041648"/>
            <a:ext cx="5233111" cy="1600200"/>
          </a:xfrm>
          <a:prstGeom prst="rect">
            <a:avLst/>
          </a:prstGeom>
          <a:noFill/>
          <a:ln/>
        </p:spPr>
        <p:txBody>
          <a:bodyPr wrap="square" lIns="0" tIns="0" rIns="0" bIns="0" rtlCol="0" anchor="t"/>
          <a:lstStyle/>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1 HCl   </a:t>
            </a:r>
            <a:r>
              <a:rPr lang="en-US" sz="1100" dirty="0">
                <a:solidFill>
                  <a:srgbClr val="262B3A"/>
                </a:solidFill>
                <a:latin typeface="Calibri" pitchFamily="34" charset="0"/>
                <a:ea typeface="Calibri" pitchFamily="34" charset="-122"/>
                <a:cs typeface="Calibri" pitchFamily="34" charset="-120"/>
              </a:rPr>
              <a:t>HCl(aq) → H⁺(aq) + Cl⁻(aq)</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2 H₂SO₄   </a:t>
            </a:r>
            <a:r>
              <a:rPr lang="en-US" sz="1100" dirty="0">
                <a:solidFill>
                  <a:srgbClr val="262B3A"/>
                </a:solidFill>
                <a:latin typeface="Calibri" pitchFamily="34" charset="0"/>
                <a:ea typeface="Calibri" pitchFamily="34" charset="-122"/>
                <a:cs typeface="Calibri" pitchFamily="34" charset="-120"/>
              </a:rPr>
              <a:t>H₂SO₄(aq) → 2H⁺(aq) + SO₄²⁻(aq)</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3 HNO₃   </a:t>
            </a:r>
            <a:r>
              <a:rPr lang="en-US" sz="1100" dirty="0">
                <a:solidFill>
                  <a:srgbClr val="262B3A"/>
                </a:solidFill>
                <a:latin typeface="Calibri" pitchFamily="34" charset="0"/>
                <a:ea typeface="Calibri" pitchFamily="34" charset="-122"/>
                <a:cs typeface="Calibri" pitchFamily="34" charset="-120"/>
              </a:rPr>
              <a:t>HNO₃(aq) → H⁺(aq) + NO₃⁻(aq)</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every acid gives H⁺(aq); every alkali gives OH⁻(aq)</a:t>
            </a:r>
            <a:endParaRPr lang="en-US" sz="1100" dirty="0"/>
          </a:p>
        </p:txBody>
      </p:sp>
      <p:sp>
        <p:nvSpPr>
          <p:cNvPr id="95" name="Shape 93"/>
          <p:cNvSpPr/>
          <p:nvPr/>
        </p:nvSpPr>
        <p:spPr>
          <a:xfrm>
            <a:off x="411480" y="5833872"/>
            <a:ext cx="11368735" cy="530352"/>
          </a:xfrm>
          <a:prstGeom prst="rect">
            <a:avLst/>
          </a:prstGeom>
          <a:solidFill>
            <a:srgbClr val="FFF4E0"/>
          </a:solidFill>
          <a:ln w="6350">
            <a:solidFill>
              <a:srgbClr val="F1D9A8"/>
            </a:solidFill>
            <a:prstDash val="solid"/>
          </a:ln>
        </p:spPr>
      </p:sp>
      <p:sp>
        <p:nvSpPr>
          <p:cNvPr id="96" name="Shape 94"/>
          <p:cNvSpPr/>
          <p:nvPr/>
        </p:nvSpPr>
        <p:spPr>
          <a:xfrm>
            <a:off x="411480" y="5833872"/>
            <a:ext cx="82296" cy="530352"/>
          </a:xfrm>
          <a:prstGeom prst="rect">
            <a:avLst/>
          </a:prstGeom>
          <a:solidFill>
            <a:srgbClr val="E39A2F"/>
          </a:solidFill>
          <a:ln w="12700">
            <a:solidFill>
              <a:srgbClr val="E39A2F"/>
            </a:solidFill>
            <a:prstDash val="solid"/>
          </a:ln>
        </p:spPr>
      </p:sp>
      <p:sp>
        <p:nvSpPr>
          <p:cNvPr id="97" name="Text 9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Write the ions present in nitric acid, HNO₃(aq), and in potassium hydroxide solution, KOH(aq). Which ion makes each one acidic or alkaline?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The pH scale and indicators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3.2–3.4 • neutral is pH 7; litmus, methyl orange, phenolphthalein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3.2–3.4  |  6</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universal indicator colours on the pH scale</a:t>
            </a:r>
            <a:endParaRPr lang="en-US" sz="1000" dirty="0"/>
          </a:p>
        </p:txBody>
      </p:sp>
      <p:sp>
        <p:nvSpPr>
          <p:cNvPr id="10" name="Text 8"/>
          <p:cNvSpPr/>
          <p:nvPr/>
        </p:nvSpPr>
        <p:spPr>
          <a:xfrm>
            <a:off x="685800" y="1261872"/>
            <a:ext cx="182880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 more acidic</a:t>
            </a:r>
            <a:endParaRPr lang="en-US" sz="1050" dirty="0"/>
          </a:p>
        </p:txBody>
      </p:sp>
      <p:sp>
        <p:nvSpPr>
          <p:cNvPr id="11" name="Text 9"/>
          <p:cNvSpPr/>
          <p:nvPr/>
        </p:nvSpPr>
        <p:spPr>
          <a:xfrm>
            <a:off x="2286000" y="1261872"/>
            <a:ext cx="1371600" cy="256032"/>
          </a:xfrm>
          <a:prstGeom prst="rect">
            <a:avLst/>
          </a:prstGeom>
          <a:noFill/>
          <a:ln/>
        </p:spPr>
        <p:txBody>
          <a:bodyPr wrap="square" lIns="0" tIns="0" rIns="0" bIns="0" rtlCol="0" anchor="ctr"/>
          <a:lstStyle/>
          <a:p>
            <a:pPr algn="ctr" indent="0" marL="0">
              <a:buNone/>
            </a:pPr>
            <a:r>
              <a:rPr lang="en-US" sz="1050" b="1" dirty="0">
                <a:solidFill>
                  <a:srgbClr val="2E8B57"/>
                </a:solidFill>
                <a:latin typeface="Calibri" pitchFamily="34" charset="0"/>
                <a:ea typeface="Calibri" pitchFamily="34" charset="-122"/>
                <a:cs typeface="Calibri" pitchFamily="34" charset="-120"/>
              </a:rPr>
              <a:t>neutral</a:t>
            </a:r>
            <a:endParaRPr lang="en-US" sz="1050" dirty="0"/>
          </a:p>
        </p:txBody>
      </p:sp>
      <p:sp>
        <p:nvSpPr>
          <p:cNvPr id="12" name="Text 10"/>
          <p:cNvSpPr/>
          <p:nvPr/>
        </p:nvSpPr>
        <p:spPr>
          <a:xfrm>
            <a:off x="3886200" y="1261872"/>
            <a:ext cx="1828800" cy="256032"/>
          </a:xfrm>
          <a:prstGeom prst="rect">
            <a:avLst/>
          </a:prstGeom>
          <a:noFill/>
          <a:ln/>
        </p:spPr>
        <p:txBody>
          <a:bodyPr wrap="square" lIns="0" tIns="0" rIns="0" bIns="0" rtlCol="0" anchor="ctr"/>
          <a:lstStyle/>
          <a:p>
            <a:pPr algn="r" indent="0" marL="0">
              <a:buNone/>
            </a:pPr>
            <a:r>
              <a:rPr lang="en-US" sz="1050" b="1" dirty="0">
                <a:solidFill>
                  <a:srgbClr val="2E3192"/>
                </a:solidFill>
                <a:latin typeface="Calibri" pitchFamily="34" charset="0"/>
                <a:ea typeface="Calibri" pitchFamily="34" charset="-122"/>
                <a:cs typeface="Calibri" pitchFamily="34" charset="-120"/>
              </a:rPr>
              <a:t>more alkaline →</a:t>
            </a:r>
            <a:endParaRPr lang="en-US" sz="1050" dirty="0"/>
          </a:p>
        </p:txBody>
      </p:sp>
      <p:sp>
        <p:nvSpPr>
          <p:cNvPr id="13" name="Shape 11"/>
          <p:cNvSpPr/>
          <p:nvPr/>
        </p:nvSpPr>
        <p:spPr>
          <a:xfrm>
            <a:off x="685800" y="1572768"/>
            <a:ext cx="335280" cy="457200"/>
          </a:xfrm>
          <a:prstGeom prst="rect">
            <a:avLst/>
          </a:prstGeom>
          <a:solidFill>
            <a:srgbClr val="D7191C"/>
          </a:solidFill>
          <a:ln w="6350">
            <a:solidFill>
              <a:srgbClr val="FFFFFF"/>
            </a:solidFill>
            <a:prstDash val="solid"/>
          </a:ln>
        </p:spPr>
      </p:sp>
      <p:sp>
        <p:nvSpPr>
          <p:cNvPr id="14" name="Text 12"/>
          <p:cNvSpPr/>
          <p:nvPr/>
        </p:nvSpPr>
        <p:spPr>
          <a:xfrm>
            <a:off x="685800" y="1572768"/>
            <a:ext cx="3352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15" name="Shape 13"/>
          <p:cNvSpPr/>
          <p:nvPr/>
        </p:nvSpPr>
        <p:spPr>
          <a:xfrm>
            <a:off x="1021080" y="1572768"/>
            <a:ext cx="335280" cy="457200"/>
          </a:xfrm>
          <a:prstGeom prst="rect">
            <a:avLst/>
          </a:prstGeom>
          <a:solidFill>
            <a:srgbClr val="E8402A"/>
          </a:solidFill>
          <a:ln w="6350">
            <a:solidFill>
              <a:srgbClr val="FFFFFF"/>
            </a:solidFill>
            <a:prstDash val="solid"/>
          </a:ln>
        </p:spPr>
      </p:sp>
      <p:sp>
        <p:nvSpPr>
          <p:cNvPr id="16" name="Text 14"/>
          <p:cNvSpPr/>
          <p:nvPr/>
        </p:nvSpPr>
        <p:spPr>
          <a:xfrm>
            <a:off x="1021080" y="1572768"/>
            <a:ext cx="3352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7" name="Shape 15"/>
          <p:cNvSpPr/>
          <p:nvPr/>
        </p:nvSpPr>
        <p:spPr>
          <a:xfrm>
            <a:off x="1356360" y="1572768"/>
            <a:ext cx="335280" cy="457200"/>
          </a:xfrm>
          <a:prstGeom prst="rect">
            <a:avLst/>
          </a:prstGeom>
          <a:solidFill>
            <a:srgbClr val="F26B22"/>
          </a:solidFill>
          <a:ln w="6350">
            <a:solidFill>
              <a:srgbClr val="FFFFFF"/>
            </a:solidFill>
            <a:prstDash val="solid"/>
          </a:ln>
        </p:spPr>
      </p:sp>
      <p:sp>
        <p:nvSpPr>
          <p:cNvPr id="18" name="Text 16"/>
          <p:cNvSpPr/>
          <p:nvPr/>
        </p:nvSpPr>
        <p:spPr>
          <a:xfrm>
            <a:off x="1356360" y="1572768"/>
            <a:ext cx="335280" cy="45720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2</a:t>
            </a:r>
            <a:endParaRPr lang="en-US" sz="1100" dirty="0"/>
          </a:p>
        </p:txBody>
      </p:sp>
      <p:sp>
        <p:nvSpPr>
          <p:cNvPr id="19" name="Shape 17"/>
          <p:cNvSpPr/>
          <p:nvPr/>
        </p:nvSpPr>
        <p:spPr>
          <a:xfrm>
            <a:off x="1691640" y="1572768"/>
            <a:ext cx="335280" cy="457200"/>
          </a:xfrm>
          <a:prstGeom prst="rect">
            <a:avLst/>
          </a:prstGeom>
          <a:solidFill>
            <a:srgbClr val="F7941D"/>
          </a:solidFill>
          <a:ln w="6350">
            <a:solidFill>
              <a:srgbClr val="FFFFFF"/>
            </a:solidFill>
            <a:prstDash val="solid"/>
          </a:ln>
        </p:spPr>
      </p:sp>
      <p:sp>
        <p:nvSpPr>
          <p:cNvPr id="20" name="Text 18"/>
          <p:cNvSpPr/>
          <p:nvPr/>
        </p:nvSpPr>
        <p:spPr>
          <a:xfrm>
            <a:off x="1691640" y="1572768"/>
            <a:ext cx="335280" cy="45720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3</a:t>
            </a:r>
            <a:endParaRPr lang="en-US" sz="1100" dirty="0"/>
          </a:p>
        </p:txBody>
      </p:sp>
      <p:sp>
        <p:nvSpPr>
          <p:cNvPr id="21" name="Shape 19"/>
          <p:cNvSpPr/>
          <p:nvPr/>
        </p:nvSpPr>
        <p:spPr>
          <a:xfrm>
            <a:off x="2026920" y="1572768"/>
            <a:ext cx="335280" cy="457200"/>
          </a:xfrm>
          <a:prstGeom prst="rect">
            <a:avLst/>
          </a:prstGeom>
          <a:solidFill>
            <a:srgbClr val="FDB813"/>
          </a:solidFill>
          <a:ln w="6350">
            <a:solidFill>
              <a:srgbClr val="FFFFFF"/>
            </a:solidFill>
            <a:prstDash val="solid"/>
          </a:ln>
        </p:spPr>
      </p:sp>
      <p:sp>
        <p:nvSpPr>
          <p:cNvPr id="22" name="Text 20"/>
          <p:cNvSpPr/>
          <p:nvPr/>
        </p:nvSpPr>
        <p:spPr>
          <a:xfrm>
            <a:off x="2026920" y="1572768"/>
            <a:ext cx="335280" cy="45720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4</a:t>
            </a:r>
            <a:endParaRPr lang="en-US" sz="1100" dirty="0"/>
          </a:p>
        </p:txBody>
      </p:sp>
      <p:sp>
        <p:nvSpPr>
          <p:cNvPr id="23" name="Shape 21"/>
          <p:cNvSpPr/>
          <p:nvPr/>
        </p:nvSpPr>
        <p:spPr>
          <a:xfrm>
            <a:off x="2362200" y="1572768"/>
            <a:ext cx="335280" cy="457200"/>
          </a:xfrm>
          <a:prstGeom prst="rect">
            <a:avLst/>
          </a:prstGeom>
          <a:solidFill>
            <a:srgbClr val="FFDE17"/>
          </a:solidFill>
          <a:ln w="6350">
            <a:solidFill>
              <a:srgbClr val="FFFFFF"/>
            </a:solidFill>
            <a:prstDash val="solid"/>
          </a:ln>
        </p:spPr>
      </p:sp>
      <p:sp>
        <p:nvSpPr>
          <p:cNvPr id="24" name="Text 22"/>
          <p:cNvSpPr/>
          <p:nvPr/>
        </p:nvSpPr>
        <p:spPr>
          <a:xfrm>
            <a:off x="2362200" y="1572768"/>
            <a:ext cx="335280" cy="45720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5</a:t>
            </a:r>
            <a:endParaRPr lang="en-US" sz="1100" dirty="0"/>
          </a:p>
        </p:txBody>
      </p:sp>
      <p:sp>
        <p:nvSpPr>
          <p:cNvPr id="25" name="Shape 23"/>
          <p:cNvSpPr/>
          <p:nvPr/>
        </p:nvSpPr>
        <p:spPr>
          <a:xfrm>
            <a:off x="2697480" y="1572768"/>
            <a:ext cx="335280" cy="457200"/>
          </a:xfrm>
          <a:prstGeom prst="rect">
            <a:avLst/>
          </a:prstGeom>
          <a:solidFill>
            <a:srgbClr val="C8D82B"/>
          </a:solidFill>
          <a:ln w="6350">
            <a:solidFill>
              <a:srgbClr val="FFFFFF"/>
            </a:solidFill>
            <a:prstDash val="solid"/>
          </a:ln>
        </p:spPr>
      </p:sp>
      <p:sp>
        <p:nvSpPr>
          <p:cNvPr id="26" name="Text 24"/>
          <p:cNvSpPr/>
          <p:nvPr/>
        </p:nvSpPr>
        <p:spPr>
          <a:xfrm>
            <a:off x="2697480" y="1572768"/>
            <a:ext cx="335280" cy="45720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6</a:t>
            </a:r>
            <a:endParaRPr lang="en-US" sz="1100" dirty="0"/>
          </a:p>
        </p:txBody>
      </p:sp>
      <p:sp>
        <p:nvSpPr>
          <p:cNvPr id="27" name="Shape 25"/>
          <p:cNvSpPr/>
          <p:nvPr/>
        </p:nvSpPr>
        <p:spPr>
          <a:xfrm>
            <a:off x="3032760" y="1572768"/>
            <a:ext cx="335280" cy="457200"/>
          </a:xfrm>
          <a:prstGeom prst="rect">
            <a:avLst/>
          </a:prstGeom>
          <a:solidFill>
            <a:srgbClr val="7DC242"/>
          </a:solidFill>
          <a:ln w="6350">
            <a:solidFill>
              <a:srgbClr val="FFFFFF"/>
            </a:solidFill>
            <a:prstDash val="solid"/>
          </a:ln>
        </p:spPr>
      </p:sp>
      <p:sp>
        <p:nvSpPr>
          <p:cNvPr id="28" name="Text 26"/>
          <p:cNvSpPr/>
          <p:nvPr/>
        </p:nvSpPr>
        <p:spPr>
          <a:xfrm>
            <a:off x="3032760" y="1572768"/>
            <a:ext cx="335280" cy="45720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7</a:t>
            </a:r>
            <a:endParaRPr lang="en-US" sz="1100" dirty="0"/>
          </a:p>
        </p:txBody>
      </p:sp>
      <p:sp>
        <p:nvSpPr>
          <p:cNvPr id="29" name="Shape 27"/>
          <p:cNvSpPr/>
          <p:nvPr/>
        </p:nvSpPr>
        <p:spPr>
          <a:xfrm>
            <a:off x="3368040" y="1572768"/>
            <a:ext cx="335280" cy="457200"/>
          </a:xfrm>
          <a:prstGeom prst="rect">
            <a:avLst/>
          </a:prstGeom>
          <a:solidFill>
            <a:srgbClr val="2FA84F"/>
          </a:solidFill>
          <a:ln w="6350">
            <a:solidFill>
              <a:srgbClr val="FFFFFF"/>
            </a:solidFill>
            <a:prstDash val="solid"/>
          </a:ln>
        </p:spPr>
      </p:sp>
      <p:sp>
        <p:nvSpPr>
          <p:cNvPr id="30" name="Text 28"/>
          <p:cNvSpPr/>
          <p:nvPr/>
        </p:nvSpPr>
        <p:spPr>
          <a:xfrm>
            <a:off x="3368040" y="1572768"/>
            <a:ext cx="335280" cy="45720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8</a:t>
            </a:r>
            <a:endParaRPr lang="en-US" sz="1100" dirty="0"/>
          </a:p>
        </p:txBody>
      </p:sp>
      <p:sp>
        <p:nvSpPr>
          <p:cNvPr id="31" name="Shape 29"/>
          <p:cNvSpPr/>
          <p:nvPr/>
        </p:nvSpPr>
        <p:spPr>
          <a:xfrm>
            <a:off x="3703320" y="1572768"/>
            <a:ext cx="335280" cy="457200"/>
          </a:xfrm>
          <a:prstGeom prst="rect">
            <a:avLst/>
          </a:prstGeom>
          <a:solidFill>
            <a:srgbClr val="00A88F"/>
          </a:solidFill>
          <a:ln w="6350">
            <a:solidFill>
              <a:srgbClr val="FFFFFF"/>
            </a:solidFill>
            <a:prstDash val="solid"/>
          </a:ln>
        </p:spPr>
      </p:sp>
      <p:sp>
        <p:nvSpPr>
          <p:cNvPr id="32" name="Text 30"/>
          <p:cNvSpPr/>
          <p:nvPr/>
        </p:nvSpPr>
        <p:spPr>
          <a:xfrm>
            <a:off x="3703320" y="1572768"/>
            <a:ext cx="335280" cy="45720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9</a:t>
            </a:r>
            <a:endParaRPr lang="en-US" sz="1100" dirty="0"/>
          </a:p>
        </p:txBody>
      </p:sp>
      <p:sp>
        <p:nvSpPr>
          <p:cNvPr id="33" name="Shape 31"/>
          <p:cNvSpPr/>
          <p:nvPr/>
        </p:nvSpPr>
        <p:spPr>
          <a:xfrm>
            <a:off x="4038600" y="1572768"/>
            <a:ext cx="335280" cy="457200"/>
          </a:xfrm>
          <a:prstGeom prst="rect">
            <a:avLst/>
          </a:prstGeom>
          <a:solidFill>
            <a:srgbClr val="00A4D6"/>
          </a:solidFill>
          <a:ln w="6350">
            <a:solidFill>
              <a:srgbClr val="FFFFFF"/>
            </a:solidFill>
            <a:prstDash val="solid"/>
          </a:ln>
        </p:spPr>
      </p:sp>
      <p:sp>
        <p:nvSpPr>
          <p:cNvPr id="34" name="Text 32"/>
          <p:cNvSpPr/>
          <p:nvPr/>
        </p:nvSpPr>
        <p:spPr>
          <a:xfrm>
            <a:off x="4038600" y="1572768"/>
            <a:ext cx="335280" cy="45720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10</a:t>
            </a:r>
            <a:endParaRPr lang="en-US" sz="1100" dirty="0"/>
          </a:p>
        </p:txBody>
      </p:sp>
      <p:sp>
        <p:nvSpPr>
          <p:cNvPr id="35" name="Shape 33"/>
          <p:cNvSpPr/>
          <p:nvPr/>
        </p:nvSpPr>
        <p:spPr>
          <a:xfrm>
            <a:off x="4373880" y="1572768"/>
            <a:ext cx="335280" cy="457200"/>
          </a:xfrm>
          <a:prstGeom prst="rect">
            <a:avLst/>
          </a:prstGeom>
          <a:solidFill>
            <a:srgbClr val="0072BC"/>
          </a:solidFill>
          <a:ln w="6350">
            <a:solidFill>
              <a:srgbClr val="FFFFFF"/>
            </a:solidFill>
            <a:prstDash val="solid"/>
          </a:ln>
        </p:spPr>
      </p:sp>
      <p:sp>
        <p:nvSpPr>
          <p:cNvPr id="36" name="Text 34"/>
          <p:cNvSpPr/>
          <p:nvPr/>
        </p:nvSpPr>
        <p:spPr>
          <a:xfrm>
            <a:off x="4373880" y="1572768"/>
            <a:ext cx="3352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37" name="Shape 35"/>
          <p:cNvSpPr/>
          <p:nvPr/>
        </p:nvSpPr>
        <p:spPr>
          <a:xfrm>
            <a:off x="4709160" y="1572768"/>
            <a:ext cx="335280" cy="457200"/>
          </a:xfrm>
          <a:prstGeom prst="rect">
            <a:avLst/>
          </a:prstGeom>
          <a:solidFill>
            <a:srgbClr val="2E3192"/>
          </a:solidFill>
          <a:ln w="6350">
            <a:solidFill>
              <a:srgbClr val="FFFFFF"/>
            </a:solidFill>
            <a:prstDash val="solid"/>
          </a:ln>
        </p:spPr>
      </p:sp>
      <p:sp>
        <p:nvSpPr>
          <p:cNvPr id="38" name="Text 36"/>
          <p:cNvSpPr/>
          <p:nvPr/>
        </p:nvSpPr>
        <p:spPr>
          <a:xfrm>
            <a:off x="4709160" y="1572768"/>
            <a:ext cx="3352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39" name="Shape 37"/>
          <p:cNvSpPr/>
          <p:nvPr/>
        </p:nvSpPr>
        <p:spPr>
          <a:xfrm>
            <a:off x="5044440" y="1572768"/>
            <a:ext cx="335280" cy="457200"/>
          </a:xfrm>
          <a:prstGeom prst="rect">
            <a:avLst/>
          </a:prstGeom>
          <a:solidFill>
            <a:srgbClr val="5B2C8F"/>
          </a:solidFill>
          <a:ln w="6350">
            <a:solidFill>
              <a:srgbClr val="FFFFFF"/>
            </a:solidFill>
            <a:prstDash val="solid"/>
          </a:ln>
        </p:spPr>
      </p:sp>
      <p:sp>
        <p:nvSpPr>
          <p:cNvPr id="40" name="Text 38"/>
          <p:cNvSpPr/>
          <p:nvPr/>
        </p:nvSpPr>
        <p:spPr>
          <a:xfrm>
            <a:off x="5044440" y="1572768"/>
            <a:ext cx="3352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41" name="Shape 39"/>
          <p:cNvSpPr/>
          <p:nvPr/>
        </p:nvSpPr>
        <p:spPr>
          <a:xfrm>
            <a:off x="5379720" y="1572768"/>
            <a:ext cx="335280" cy="457200"/>
          </a:xfrm>
          <a:prstGeom prst="rect">
            <a:avLst/>
          </a:prstGeom>
          <a:solidFill>
            <a:srgbClr val="4B1E6E"/>
          </a:solidFill>
          <a:ln w="6350">
            <a:solidFill>
              <a:srgbClr val="FFFFFF"/>
            </a:solidFill>
            <a:prstDash val="solid"/>
          </a:ln>
        </p:spPr>
      </p:sp>
      <p:sp>
        <p:nvSpPr>
          <p:cNvPr id="42" name="Text 40"/>
          <p:cNvSpPr/>
          <p:nvPr/>
        </p:nvSpPr>
        <p:spPr>
          <a:xfrm>
            <a:off x="5379720" y="1572768"/>
            <a:ext cx="3352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sp>
        <p:nvSpPr>
          <p:cNvPr id="43" name="Shape 41"/>
          <p:cNvSpPr/>
          <p:nvPr/>
        </p:nvSpPr>
        <p:spPr>
          <a:xfrm>
            <a:off x="1188720" y="2029968"/>
            <a:ext cx="91" cy="91440"/>
          </a:xfrm>
          <a:prstGeom prst="line">
            <a:avLst/>
          </a:prstGeom>
          <a:noFill/>
          <a:ln w="12700">
            <a:solidFill>
              <a:srgbClr val="2A1F3D"/>
            </a:solidFill>
            <a:prstDash val="solid"/>
          </a:ln>
        </p:spPr>
      </p:sp>
      <p:sp>
        <p:nvSpPr>
          <p:cNvPr id="44" name="Text 42"/>
          <p:cNvSpPr/>
          <p:nvPr/>
        </p:nvSpPr>
        <p:spPr>
          <a:xfrm>
            <a:off x="822960" y="2121408"/>
            <a:ext cx="73152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stomach</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acid</a:t>
            </a:r>
            <a:endParaRPr lang="en-US" sz="1000" dirty="0"/>
          </a:p>
        </p:txBody>
      </p:sp>
      <p:sp>
        <p:nvSpPr>
          <p:cNvPr id="45" name="Shape 43"/>
          <p:cNvSpPr/>
          <p:nvPr/>
        </p:nvSpPr>
        <p:spPr>
          <a:xfrm>
            <a:off x="1859280" y="2029968"/>
            <a:ext cx="91" cy="91440"/>
          </a:xfrm>
          <a:prstGeom prst="line">
            <a:avLst/>
          </a:prstGeom>
          <a:noFill/>
          <a:ln w="12700">
            <a:solidFill>
              <a:srgbClr val="2A1F3D"/>
            </a:solidFill>
            <a:prstDash val="solid"/>
          </a:ln>
        </p:spPr>
      </p:sp>
      <p:sp>
        <p:nvSpPr>
          <p:cNvPr id="46" name="Text 44"/>
          <p:cNvSpPr/>
          <p:nvPr/>
        </p:nvSpPr>
        <p:spPr>
          <a:xfrm>
            <a:off x="1493520" y="2121408"/>
            <a:ext cx="73152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vinegar</a:t>
            </a:r>
            <a:endParaRPr lang="en-US" sz="1000" dirty="0"/>
          </a:p>
        </p:txBody>
      </p:sp>
      <p:sp>
        <p:nvSpPr>
          <p:cNvPr id="47" name="Shape 45"/>
          <p:cNvSpPr/>
          <p:nvPr/>
        </p:nvSpPr>
        <p:spPr>
          <a:xfrm>
            <a:off x="3200400" y="2029968"/>
            <a:ext cx="91" cy="91440"/>
          </a:xfrm>
          <a:prstGeom prst="line">
            <a:avLst/>
          </a:prstGeom>
          <a:noFill/>
          <a:ln w="12700">
            <a:solidFill>
              <a:srgbClr val="2A1F3D"/>
            </a:solidFill>
            <a:prstDash val="solid"/>
          </a:ln>
        </p:spPr>
      </p:sp>
      <p:sp>
        <p:nvSpPr>
          <p:cNvPr id="48" name="Text 46"/>
          <p:cNvSpPr/>
          <p:nvPr/>
        </p:nvSpPr>
        <p:spPr>
          <a:xfrm>
            <a:off x="2834640" y="2121408"/>
            <a:ext cx="73152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pure</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water</a:t>
            </a:r>
            <a:endParaRPr lang="en-US" sz="1000" dirty="0"/>
          </a:p>
        </p:txBody>
      </p:sp>
      <p:sp>
        <p:nvSpPr>
          <p:cNvPr id="49" name="Shape 47"/>
          <p:cNvSpPr/>
          <p:nvPr/>
        </p:nvSpPr>
        <p:spPr>
          <a:xfrm>
            <a:off x="4206240" y="2029968"/>
            <a:ext cx="91" cy="91440"/>
          </a:xfrm>
          <a:prstGeom prst="line">
            <a:avLst/>
          </a:prstGeom>
          <a:noFill/>
          <a:ln w="12700">
            <a:solidFill>
              <a:srgbClr val="2A1F3D"/>
            </a:solidFill>
            <a:prstDash val="solid"/>
          </a:ln>
        </p:spPr>
      </p:sp>
      <p:sp>
        <p:nvSpPr>
          <p:cNvPr id="50" name="Text 48"/>
          <p:cNvSpPr/>
          <p:nvPr/>
        </p:nvSpPr>
        <p:spPr>
          <a:xfrm>
            <a:off x="3840480" y="2121408"/>
            <a:ext cx="73152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soap</a:t>
            </a:r>
            <a:endParaRPr lang="en-US" sz="1000" dirty="0"/>
          </a:p>
        </p:txBody>
      </p:sp>
      <p:sp>
        <p:nvSpPr>
          <p:cNvPr id="51" name="Shape 49"/>
          <p:cNvSpPr/>
          <p:nvPr/>
        </p:nvSpPr>
        <p:spPr>
          <a:xfrm>
            <a:off x="5212080" y="2029968"/>
            <a:ext cx="91" cy="91440"/>
          </a:xfrm>
          <a:prstGeom prst="line">
            <a:avLst/>
          </a:prstGeom>
          <a:noFill/>
          <a:ln w="12700">
            <a:solidFill>
              <a:srgbClr val="2A1F3D"/>
            </a:solidFill>
            <a:prstDash val="solid"/>
          </a:ln>
        </p:spPr>
      </p:sp>
      <p:sp>
        <p:nvSpPr>
          <p:cNvPr id="52" name="Text 50"/>
          <p:cNvSpPr/>
          <p:nvPr/>
        </p:nvSpPr>
        <p:spPr>
          <a:xfrm>
            <a:off x="4846320" y="2121408"/>
            <a:ext cx="73152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oven</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cleaner</a:t>
            </a:r>
            <a:endParaRPr lang="en-US" sz="1000" dirty="0"/>
          </a:p>
        </p:txBody>
      </p:sp>
      <p:sp>
        <p:nvSpPr>
          <p:cNvPr id="53" name="Shape 51"/>
          <p:cNvSpPr/>
          <p:nvPr/>
        </p:nvSpPr>
        <p:spPr>
          <a:xfrm flipH="1">
            <a:off x="731520" y="2788920"/>
            <a:ext cx="2240280" cy="91"/>
          </a:xfrm>
          <a:prstGeom prst="line">
            <a:avLst/>
          </a:prstGeom>
          <a:noFill/>
          <a:ln w="25400">
            <a:solidFill>
              <a:srgbClr val="C8414C"/>
            </a:solidFill>
            <a:prstDash val="solid"/>
            <a:tailEnd type="triangle"/>
          </a:ln>
        </p:spPr>
      </p:sp>
      <p:sp>
        <p:nvSpPr>
          <p:cNvPr id="54" name="Text 52"/>
          <p:cNvSpPr/>
          <p:nvPr/>
        </p:nvSpPr>
        <p:spPr>
          <a:xfrm>
            <a:off x="731520" y="2542032"/>
            <a:ext cx="2194560" cy="219456"/>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higher [H⁺] → lower pH</a:t>
            </a:r>
            <a:endParaRPr lang="en-US" sz="1050" dirty="0"/>
          </a:p>
        </p:txBody>
      </p:sp>
      <p:sp>
        <p:nvSpPr>
          <p:cNvPr id="55" name="Shape 53"/>
          <p:cNvSpPr/>
          <p:nvPr/>
        </p:nvSpPr>
        <p:spPr>
          <a:xfrm>
            <a:off x="3429000" y="2788920"/>
            <a:ext cx="2240280" cy="91"/>
          </a:xfrm>
          <a:prstGeom prst="line">
            <a:avLst/>
          </a:prstGeom>
          <a:noFill/>
          <a:ln w="25400">
            <a:solidFill>
              <a:srgbClr val="2E3192"/>
            </a:solidFill>
            <a:prstDash val="solid"/>
            <a:tailEnd type="triangle"/>
          </a:ln>
        </p:spPr>
      </p:sp>
      <p:sp>
        <p:nvSpPr>
          <p:cNvPr id="56" name="Text 54"/>
          <p:cNvSpPr/>
          <p:nvPr/>
        </p:nvSpPr>
        <p:spPr>
          <a:xfrm>
            <a:off x="3474720" y="2542032"/>
            <a:ext cx="2194560" cy="219456"/>
          </a:xfrm>
          <a:prstGeom prst="rect">
            <a:avLst/>
          </a:prstGeom>
          <a:noFill/>
          <a:ln/>
        </p:spPr>
        <p:txBody>
          <a:bodyPr wrap="square" lIns="0" tIns="0" rIns="0" bIns="0" rtlCol="0" anchor="ctr"/>
          <a:lstStyle/>
          <a:p>
            <a:pPr algn="ctr" indent="0" marL="0">
              <a:buNone/>
            </a:pPr>
            <a:r>
              <a:rPr lang="en-US" sz="1050" b="1" dirty="0">
                <a:solidFill>
                  <a:srgbClr val="2E3192"/>
                </a:solidFill>
                <a:latin typeface="Calibri" pitchFamily="34" charset="0"/>
                <a:ea typeface="Calibri" pitchFamily="34" charset="-122"/>
                <a:cs typeface="Calibri" pitchFamily="34" charset="-120"/>
              </a:rPr>
              <a:t>higher [OH⁻] → higher pH</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 y="3063240"/>
          <a:ext cx="5029200" cy="914400"/>
        </p:xfrm>
        <a:graphic>
          <a:graphicData uri="http://schemas.openxmlformats.org/drawingml/2006/table">
            <a:tbl>
              <a:tblPr/>
              <a:tblGrid>
                <a:gridCol w="1737360"/>
                <a:gridCol w="1645920"/>
                <a:gridCol w="1645920"/>
              </a:tblGrid>
              <a:tr h="4023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Indicator</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 acid</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 alkali</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r>
              <a:tr h="402336">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litmus</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2A1F3D"/>
                          </a:solidFill>
                          <a:latin typeface="Calibri" pitchFamily="34" charset="0"/>
                          <a:ea typeface="Calibri" pitchFamily="34" charset="-122"/>
                          <a:cs typeface="Calibri" pitchFamily="34" charset="-120"/>
                        </a:rPr>
                        <a:t>red</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EF9A9A"/>
                    </a:solidFill>
                  </a:tcPr>
                </a:tc>
                <a:tc>
                  <a:txBody>
                    <a:bodyPr/>
                    <a:lstStyle/>
                    <a:p>
                      <a:pPr algn="ctr" indent="0" marL="0">
                        <a:buNone/>
                      </a:pPr>
                      <a:r>
                        <a:rPr lang="en-US" sz="1100" b="1" dirty="0">
                          <a:solidFill>
                            <a:srgbClr val="2A1F3D"/>
                          </a:solidFill>
                          <a:latin typeface="Calibri" pitchFamily="34" charset="0"/>
                          <a:ea typeface="Calibri" pitchFamily="34" charset="-122"/>
                          <a:cs typeface="Calibri" pitchFamily="34" charset="-120"/>
                        </a:rPr>
                        <a:t>blue</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90CAF9"/>
                    </a:solidFill>
                  </a:tcPr>
                </a:tc>
              </a:tr>
              <a:tr h="402336">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methyl orange</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A1F3D"/>
                          </a:solidFill>
                          <a:latin typeface="Calibri" pitchFamily="34" charset="0"/>
                          <a:ea typeface="Calibri" pitchFamily="34" charset="-122"/>
                          <a:cs typeface="Calibri" pitchFamily="34" charset="-120"/>
                        </a:rPr>
                        <a:t>red</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EF9A9A"/>
                    </a:solidFill>
                  </a:tcPr>
                </a:tc>
                <a:tc>
                  <a:txBody>
                    <a:bodyPr/>
                    <a:lstStyle/>
                    <a:p>
                      <a:pPr algn="ctr" indent="0" marL="0">
                        <a:buNone/>
                      </a:pPr>
                      <a:r>
                        <a:rPr lang="en-US" sz="1100" b="1" dirty="0">
                          <a:solidFill>
                            <a:srgbClr val="2A1F3D"/>
                          </a:solidFill>
                          <a:latin typeface="Calibri" pitchFamily="34" charset="0"/>
                          <a:ea typeface="Calibri" pitchFamily="34" charset="-122"/>
                          <a:cs typeface="Calibri" pitchFamily="34" charset="-120"/>
                        </a:rPr>
                        <a:t>yellow</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59D"/>
                    </a:solidFill>
                  </a:tcPr>
                </a:tc>
              </a:tr>
              <a:tr h="402336">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phenolphthalein</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2A1F3D"/>
                          </a:solidFill>
                          <a:latin typeface="Calibri" pitchFamily="34" charset="0"/>
                          <a:ea typeface="Calibri" pitchFamily="34" charset="-122"/>
                          <a:cs typeface="Calibri" pitchFamily="34" charset="-120"/>
                        </a:rPr>
                        <a:t>colourless</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A1F3D"/>
                          </a:solidFill>
                          <a:latin typeface="Calibri" pitchFamily="34" charset="0"/>
                          <a:ea typeface="Calibri" pitchFamily="34" charset="-122"/>
                          <a:cs typeface="Calibri" pitchFamily="34" charset="-120"/>
                        </a:rPr>
                        <a:t>pink</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BBD9"/>
                    </a:solidFill>
                  </a:tcPr>
                </a:tc>
              </a:tr>
              <a:tr h="402336">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universal indicator</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A1F3D"/>
                          </a:solidFill>
                          <a:latin typeface="Calibri" pitchFamily="34" charset="0"/>
                          <a:ea typeface="Calibri" pitchFamily="34" charset="-122"/>
                          <a:cs typeface="Calibri" pitchFamily="34" charset="-120"/>
                        </a:rPr>
                        <a:t>red / orange / yellow</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CC80"/>
                    </a:solidFill>
                  </a:tcPr>
                </a:tc>
                <a:tc>
                  <a:txBody>
                    <a:bodyPr/>
                    <a:lstStyle/>
                    <a:p>
                      <a:pPr algn="ctr" indent="0" marL="0">
                        <a:buNone/>
                      </a:pPr>
                      <a:r>
                        <a:rPr lang="en-US" sz="1100" b="1" dirty="0">
                          <a:solidFill>
                            <a:srgbClr val="2A1F3D"/>
                          </a:solidFill>
                          <a:latin typeface="Calibri" pitchFamily="34" charset="0"/>
                          <a:ea typeface="Calibri" pitchFamily="34" charset="-122"/>
                          <a:cs typeface="Calibri" pitchFamily="34" charset="-120"/>
                        </a:rPr>
                        <a:t>blue / purple</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B39DDB"/>
                    </a:solidFill>
                  </a:tcPr>
                </a:tc>
              </a:tr>
            </a:tbl>
          </a:graphicData>
        </a:graphic>
      </p:graphicFrame>
      <p:sp>
        <p:nvSpPr>
          <p:cNvPr id="58" name="Shape 55"/>
          <p:cNvSpPr/>
          <p:nvPr/>
        </p:nvSpPr>
        <p:spPr>
          <a:xfrm>
            <a:off x="6217920" y="1188720"/>
            <a:ext cx="5562295" cy="2788920"/>
          </a:xfrm>
          <a:prstGeom prst="roundRect">
            <a:avLst>
              <a:gd name="adj" fmla="val 1967"/>
            </a:avLst>
          </a:prstGeom>
          <a:solidFill>
            <a:srgbClr val="F8F5FC"/>
          </a:solidFill>
          <a:ln w="9525">
            <a:solidFill>
              <a:srgbClr val="DDD3EC"/>
            </a:solidFill>
            <a:prstDash val="solid"/>
          </a:ln>
        </p:spPr>
      </p:sp>
      <p:sp>
        <p:nvSpPr>
          <p:cNvPr id="59" name="Text 5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Measuring acidity</a:t>
            </a:r>
            <a:endParaRPr lang="en-US" sz="1300" dirty="0"/>
          </a:p>
        </p:txBody>
      </p:sp>
      <p:sp>
        <p:nvSpPr>
          <p:cNvPr id="60" name="Text 57"/>
          <p:cNvSpPr/>
          <p:nvPr/>
        </p:nvSpPr>
        <p:spPr>
          <a:xfrm>
            <a:off x="6382512" y="1609344"/>
            <a:ext cx="5233111" cy="229514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pH </a:t>
            </a:r>
            <a:r>
              <a:rPr lang="en-US" sz="1150" b="1" dirty="0">
                <a:solidFill>
                  <a:srgbClr val="262B3A"/>
                </a:solidFill>
                <a:latin typeface="Calibri" pitchFamily="34" charset="0"/>
                <a:ea typeface="Calibri" pitchFamily="34" charset="-122"/>
                <a:cs typeface="Calibri" pitchFamily="34" charset="-120"/>
              </a:rPr>
              <a:t>7</a:t>
            </a:r>
            <a:r>
              <a:rPr lang="en-US" sz="1150" dirty="0">
                <a:solidFill>
                  <a:srgbClr val="262B3A"/>
                </a:solidFill>
                <a:latin typeface="Calibri" pitchFamily="34" charset="0"/>
                <a:ea typeface="Calibri" pitchFamily="34" charset="-122"/>
                <a:cs typeface="Calibri" pitchFamily="34" charset="-120"/>
              </a:rPr>
              <a:t> = neutral. </a:t>
            </a:r>
            <a:r>
              <a:rPr lang="en-US" sz="1150" b="1" dirty="0">
                <a:solidFill>
                  <a:srgbClr val="262B3A"/>
                </a:solidFill>
                <a:latin typeface="Calibri" pitchFamily="34" charset="0"/>
                <a:ea typeface="Calibri" pitchFamily="34" charset="-122"/>
                <a:cs typeface="Calibri" pitchFamily="34" charset="-120"/>
              </a:rPr>
              <a:t>Below 7</a:t>
            </a:r>
            <a:r>
              <a:rPr lang="en-US" sz="1150" dirty="0">
                <a:solidFill>
                  <a:srgbClr val="262B3A"/>
                </a:solidFill>
                <a:latin typeface="Calibri" pitchFamily="34" charset="0"/>
                <a:ea typeface="Calibri" pitchFamily="34" charset="-122"/>
                <a:cs typeface="Calibri" pitchFamily="34" charset="-120"/>
              </a:rPr>
              <a:t> = acidic. </a:t>
            </a:r>
            <a:r>
              <a:rPr lang="en-US" sz="1150" b="1" dirty="0">
                <a:solidFill>
                  <a:srgbClr val="262B3A"/>
                </a:solidFill>
                <a:latin typeface="Calibri" pitchFamily="34" charset="0"/>
                <a:ea typeface="Calibri" pitchFamily="34" charset="-122"/>
                <a:cs typeface="Calibri" pitchFamily="34" charset="-120"/>
              </a:rPr>
              <a:t>Above 7</a:t>
            </a:r>
            <a:r>
              <a:rPr lang="en-US" sz="1150" dirty="0">
                <a:solidFill>
                  <a:srgbClr val="262B3A"/>
                </a:solidFill>
                <a:latin typeface="Calibri" pitchFamily="34" charset="0"/>
                <a:ea typeface="Calibri" pitchFamily="34" charset="-122"/>
                <a:cs typeface="Calibri" pitchFamily="34" charset="-120"/>
              </a:rPr>
              <a:t> = alkaline.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higher the concentration of H⁺</a:t>
            </a:r>
            <a:r>
              <a:rPr lang="en-US" sz="1150" dirty="0">
                <a:solidFill>
                  <a:srgbClr val="262B3A"/>
                </a:solidFill>
                <a:latin typeface="Calibri" pitchFamily="34" charset="0"/>
                <a:ea typeface="Calibri" pitchFamily="34" charset="-122"/>
                <a:cs typeface="Calibri" pitchFamily="34" charset="-120"/>
              </a:rPr>
              <a:t> ions, the </a:t>
            </a:r>
            <a:r>
              <a:rPr lang="en-US" sz="1150" b="1" dirty="0">
                <a:solidFill>
                  <a:srgbClr val="262B3A"/>
                </a:solidFill>
                <a:latin typeface="Calibri" pitchFamily="34" charset="0"/>
                <a:ea typeface="Calibri" pitchFamily="34" charset="-122"/>
                <a:cs typeface="Calibri" pitchFamily="34" charset="-120"/>
              </a:rPr>
              <a:t>lower</a:t>
            </a:r>
            <a:r>
              <a:rPr lang="en-US" sz="1150" dirty="0">
                <a:solidFill>
                  <a:srgbClr val="262B3A"/>
                </a:solidFill>
                <a:latin typeface="Calibri" pitchFamily="34" charset="0"/>
                <a:ea typeface="Calibri" pitchFamily="34" charset="-122"/>
                <a:cs typeface="Calibri" pitchFamily="34" charset="-120"/>
              </a:rPr>
              <a:t> the pH.</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higher the concentration of OH⁻</a:t>
            </a:r>
            <a:r>
              <a:rPr lang="en-US" sz="1150" dirty="0">
                <a:solidFill>
                  <a:srgbClr val="262B3A"/>
                </a:solidFill>
                <a:latin typeface="Calibri" pitchFamily="34" charset="0"/>
                <a:ea typeface="Calibri" pitchFamily="34" charset="-122"/>
                <a:cs typeface="Calibri" pitchFamily="34" charset="-120"/>
              </a:rPr>
              <a:t> ions, the </a:t>
            </a:r>
            <a:r>
              <a:rPr lang="en-US" sz="1150" b="1" dirty="0">
                <a:solidFill>
                  <a:srgbClr val="262B3A"/>
                </a:solidFill>
                <a:latin typeface="Calibri" pitchFamily="34" charset="0"/>
                <a:ea typeface="Calibri" pitchFamily="34" charset="-122"/>
                <a:cs typeface="Calibri" pitchFamily="34" charset="-120"/>
              </a:rPr>
              <a:t>higher</a:t>
            </a:r>
            <a:r>
              <a:rPr lang="en-US" sz="1150" dirty="0">
                <a:solidFill>
                  <a:srgbClr val="262B3A"/>
                </a:solidFill>
                <a:latin typeface="Calibri" pitchFamily="34" charset="0"/>
                <a:ea typeface="Calibri" pitchFamily="34" charset="-122"/>
                <a:cs typeface="Calibri" pitchFamily="34" charset="-120"/>
              </a:rPr>
              <a:t> the pH.</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Indicators</a:t>
            </a:r>
            <a:r>
              <a:rPr lang="en-US" sz="1150" dirty="0">
                <a:solidFill>
                  <a:srgbClr val="262B3A"/>
                </a:solidFill>
                <a:latin typeface="Calibri" pitchFamily="34" charset="0"/>
                <a:ea typeface="Calibri" pitchFamily="34" charset="-122"/>
                <a:cs typeface="Calibri" pitchFamily="34" charset="-120"/>
              </a:rPr>
              <a:t> change colour: litmus, methyl orange and phenolphthalein show acid or alkali; </a:t>
            </a:r>
            <a:r>
              <a:rPr lang="en-US" sz="1150" b="1" dirty="0">
                <a:solidFill>
                  <a:srgbClr val="262B3A"/>
                </a:solidFill>
                <a:latin typeface="Calibri" pitchFamily="34" charset="0"/>
                <a:ea typeface="Calibri" pitchFamily="34" charset="-122"/>
                <a:cs typeface="Calibri" pitchFamily="34" charset="-120"/>
              </a:rPr>
              <a:t>universal indicator</a:t>
            </a:r>
            <a:r>
              <a:rPr lang="en-US" sz="1150" dirty="0">
                <a:solidFill>
                  <a:srgbClr val="262B3A"/>
                </a:solidFill>
                <a:latin typeface="Calibri" pitchFamily="34" charset="0"/>
                <a:ea typeface="Calibri" pitchFamily="34" charset="-122"/>
                <a:cs typeface="Calibri" pitchFamily="34" charset="-120"/>
              </a:rPr>
              <a:t> (or a </a:t>
            </a:r>
            <a:r>
              <a:rPr lang="en-US" sz="1150" b="1" dirty="0">
                <a:solidFill>
                  <a:srgbClr val="262B3A"/>
                </a:solidFill>
                <a:latin typeface="Calibri" pitchFamily="34" charset="0"/>
                <a:ea typeface="Calibri" pitchFamily="34" charset="-122"/>
                <a:cs typeface="Calibri" pitchFamily="34" charset="-120"/>
              </a:rPr>
              <a:t>pH meter</a:t>
            </a:r>
            <a:r>
              <a:rPr lang="en-US" sz="1150" dirty="0">
                <a:solidFill>
                  <a:srgbClr val="262B3A"/>
                </a:solidFill>
                <a:latin typeface="Calibri" pitchFamily="34" charset="0"/>
                <a:ea typeface="Calibri" pitchFamily="34" charset="-122"/>
                <a:cs typeface="Calibri" pitchFamily="34" charset="-120"/>
              </a:rPr>
              <a:t>) gives the pH number.</a:t>
            </a:r>
            <a:endParaRPr lang="en-US" sz="1150" dirty="0"/>
          </a:p>
        </p:txBody>
      </p:sp>
      <p:sp>
        <p:nvSpPr>
          <p:cNvPr id="61" name="Shape 58"/>
          <p:cNvSpPr/>
          <p:nvPr/>
        </p:nvSpPr>
        <p:spPr>
          <a:xfrm>
            <a:off x="6217920" y="4114800"/>
            <a:ext cx="5562295" cy="1600200"/>
          </a:xfrm>
          <a:prstGeom prst="roundRect">
            <a:avLst>
              <a:gd name="adj" fmla="val 3429"/>
            </a:avLst>
          </a:prstGeom>
          <a:solidFill>
            <a:srgbClr val="FFF4E0"/>
          </a:solidFill>
          <a:ln w="9525">
            <a:solidFill>
              <a:srgbClr val="F1D9A8"/>
            </a:solidFill>
            <a:prstDash val="solid"/>
          </a:ln>
        </p:spPr>
      </p:sp>
      <p:sp>
        <p:nvSpPr>
          <p:cNvPr id="62" name="Text 59"/>
          <p:cNvSpPr/>
          <p:nvPr/>
        </p:nvSpPr>
        <p:spPr>
          <a:xfrm>
            <a:off x="6382512" y="41879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Exam technique: indicator colours</a:t>
            </a:r>
            <a:endParaRPr lang="en-US" sz="1300" dirty="0"/>
          </a:p>
        </p:txBody>
      </p:sp>
      <p:sp>
        <p:nvSpPr>
          <p:cNvPr id="63" name="Text 60"/>
          <p:cNvSpPr/>
          <p:nvPr/>
        </p:nvSpPr>
        <p:spPr>
          <a:xfrm>
            <a:off x="6382512" y="4498848"/>
            <a:ext cx="5233111" cy="11430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Which indicator suits a titration?</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Single change   </a:t>
            </a:r>
            <a:r>
              <a:rPr lang="en-US" sz="1050" dirty="0">
                <a:solidFill>
                  <a:srgbClr val="262B3A"/>
                </a:solidFill>
                <a:latin typeface="Calibri" pitchFamily="34" charset="0"/>
                <a:ea typeface="Calibri" pitchFamily="34" charset="-122"/>
                <a:cs typeface="Calibri" pitchFamily="34" charset="-120"/>
              </a:rPr>
              <a:t>methyl orange or phenolphthalein give one sharp colour change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Not UI   </a:t>
            </a:r>
            <a:r>
              <a:rPr lang="en-US" sz="1050" dirty="0">
                <a:solidFill>
                  <a:srgbClr val="262B3A"/>
                </a:solidFill>
                <a:latin typeface="Calibri" pitchFamily="34" charset="0"/>
                <a:ea typeface="Calibri" pitchFamily="34" charset="-122"/>
                <a:cs typeface="Calibri" pitchFamily="34" charset="-120"/>
              </a:rPr>
              <a:t>universal indicator changes gradually through many colours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use methyl orange or phenolphthalein for a titration</a:t>
            </a:r>
            <a:endParaRPr lang="en-US" sz="1050" dirty="0"/>
          </a:p>
        </p:txBody>
      </p:sp>
      <p:sp>
        <p:nvSpPr>
          <p:cNvPr id="64" name="Shape 61"/>
          <p:cNvSpPr/>
          <p:nvPr/>
        </p:nvSpPr>
        <p:spPr>
          <a:xfrm>
            <a:off x="411480" y="5833872"/>
            <a:ext cx="11368735" cy="530352"/>
          </a:xfrm>
          <a:prstGeom prst="rect">
            <a:avLst/>
          </a:prstGeom>
          <a:solidFill>
            <a:srgbClr val="FFF4E0"/>
          </a:solidFill>
          <a:ln w="6350">
            <a:solidFill>
              <a:srgbClr val="F1D9A8"/>
            </a:solidFill>
            <a:prstDash val="solid"/>
          </a:ln>
        </p:spPr>
      </p:sp>
      <p:sp>
        <p:nvSpPr>
          <p:cNvPr id="65" name="Shape 62"/>
          <p:cNvSpPr/>
          <p:nvPr/>
        </p:nvSpPr>
        <p:spPr>
          <a:xfrm>
            <a:off x="411480" y="5833872"/>
            <a:ext cx="82296" cy="530352"/>
          </a:xfrm>
          <a:prstGeom prst="rect">
            <a:avLst/>
          </a:prstGeom>
          <a:solidFill>
            <a:srgbClr val="E39A2F"/>
          </a:solidFill>
          <a:ln w="12700">
            <a:solidFill>
              <a:srgbClr val="E39A2F"/>
            </a:solidFill>
            <a:prstDash val="solid"/>
          </a:ln>
        </p:spPr>
      </p:sp>
      <p:sp>
        <p:nvSpPr>
          <p:cNvPr id="66" name="Text 6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Solution X turns methyl orange </a:t>
            </a:r>
            <a:r>
              <a:rPr lang="en-US" sz="1150" b="1" dirty="0">
                <a:solidFill>
                  <a:srgbClr val="262B3A"/>
                </a:solidFill>
                <a:latin typeface="Calibri" pitchFamily="34" charset="0"/>
                <a:ea typeface="Calibri" pitchFamily="34" charset="-122"/>
                <a:cs typeface="Calibri" pitchFamily="34" charset="-120"/>
              </a:rPr>
              <a:t>red</a:t>
            </a:r>
            <a:r>
              <a:rPr lang="en-US" sz="1150" dirty="0">
                <a:solidFill>
                  <a:srgbClr val="262B3A"/>
                </a:solidFill>
                <a:latin typeface="Calibri" pitchFamily="34" charset="0"/>
                <a:ea typeface="Calibri" pitchFamily="34" charset="-122"/>
                <a:cs typeface="Calibri" pitchFamily="34" charset="-120"/>
              </a:rPr>
              <a:t> and has pH 2. Solution Y turns phenolphthalein </a:t>
            </a:r>
            <a:r>
              <a:rPr lang="en-US" sz="1150" b="1" dirty="0">
                <a:solidFill>
                  <a:srgbClr val="262B3A"/>
                </a:solidFill>
                <a:latin typeface="Calibri" pitchFamily="34" charset="0"/>
                <a:ea typeface="Calibri" pitchFamily="34" charset="-122"/>
                <a:cs typeface="Calibri" pitchFamily="34" charset="-120"/>
              </a:rPr>
              <a:t>pink</a:t>
            </a:r>
            <a:r>
              <a:rPr lang="en-US" sz="1150" dirty="0">
                <a:solidFill>
                  <a:srgbClr val="262B3A"/>
                </a:solidFill>
                <a:latin typeface="Calibri" pitchFamily="34" charset="0"/>
                <a:ea typeface="Calibri" pitchFamily="34" charset="-122"/>
                <a:cs typeface="Calibri" pitchFamily="34" charset="-120"/>
              </a:rPr>
              <a:t>. Which is acidic? Which contains more OH⁻ ions than H⁺ ions?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3.1–3.4 • acids, alkalis, pH and indicators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ion that all acids produce in aqueous solution, and the ion that all alkalis produce.</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DD3EC"/>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the colour of </a:t>
            </a:r>
            <a:r>
              <a:rPr lang="en-US" sz="1250" b="1" dirty="0">
                <a:solidFill>
                  <a:srgbClr val="262B3A"/>
                </a:solidFill>
                <a:latin typeface="Calibri" pitchFamily="34" charset="0"/>
                <a:ea typeface="Calibri" pitchFamily="34" charset="-122"/>
                <a:cs typeface="Calibri" pitchFamily="34" charset="-120"/>
              </a:rPr>
              <a:t>methyl orange</a:t>
            </a:r>
            <a:r>
              <a:rPr lang="en-US" sz="1250" dirty="0">
                <a:solidFill>
                  <a:srgbClr val="262B3A"/>
                </a:solidFill>
                <a:latin typeface="Calibri" pitchFamily="34" charset="0"/>
                <a:ea typeface="Calibri" pitchFamily="34" charset="-122"/>
                <a:cs typeface="Calibri" pitchFamily="34" charset="-120"/>
              </a:rPr>
              <a:t> in an alkali and of </a:t>
            </a:r>
            <a:r>
              <a:rPr lang="en-US" sz="1250" b="1" dirty="0">
                <a:solidFill>
                  <a:srgbClr val="262B3A"/>
                </a:solidFill>
                <a:latin typeface="Calibri" pitchFamily="34" charset="0"/>
                <a:ea typeface="Calibri" pitchFamily="34" charset="-122"/>
                <a:cs typeface="Calibri" pitchFamily="34" charset="-120"/>
              </a:rPr>
              <a:t>phenolphthalein</a:t>
            </a:r>
            <a:r>
              <a:rPr lang="en-US" sz="1250" dirty="0">
                <a:solidFill>
                  <a:srgbClr val="262B3A"/>
                </a:solidFill>
                <a:latin typeface="Calibri" pitchFamily="34" charset="0"/>
                <a:ea typeface="Calibri" pitchFamily="34" charset="-122"/>
                <a:cs typeface="Calibri" pitchFamily="34" charset="-120"/>
              </a:rPr>
              <a:t> in an acid.</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DD3EC"/>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Solution A has pH 3 and solution B has pH 5. Which solution has the higher concentration of hydrogen ions? Explain your answer.</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pH and the factor of ten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3.5 • [H⁺] × 10 → pH falls by 1</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3.5  |  8</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each step down the ladder is ten times less H⁺</a:t>
            </a:r>
            <a:endParaRPr lang="en-US" sz="1000" dirty="0"/>
          </a:p>
        </p:txBody>
      </p:sp>
      <p:sp>
        <p:nvSpPr>
          <p:cNvPr id="12" name="Text 10"/>
          <p:cNvSpPr/>
          <p:nvPr/>
        </p:nvSpPr>
        <p:spPr>
          <a:xfrm>
            <a:off x="731520" y="1298448"/>
            <a:ext cx="82296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pH</a:t>
            </a:r>
            <a:endParaRPr lang="en-US" sz="1100" dirty="0"/>
          </a:p>
        </p:txBody>
      </p:sp>
      <p:sp>
        <p:nvSpPr>
          <p:cNvPr id="13" name="Text 11"/>
          <p:cNvSpPr/>
          <p:nvPr/>
        </p:nvSpPr>
        <p:spPr>
          <a:xfrm>
            <a:off x="1691640" y="1298448"/>
            <a:ext cx="219456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[H⁺] / mol dm⁻³</a:t>
            </a:r>
            <a:endParaRPr lang="en-US" sz="1100" dirty="0"/>
          </a:p>
        </p:txBody>
      </p:sp>
      <p:sp>
        <p:nvSpPr>
          <p:cNvPr id="14" name="Shape 12"/>
          <p:cNvSpPr/>
          <p:nvPr/>
        </p:nvSpPr>
        <p:spPr>
          <a:xfrm>
            <a:off x="731520" y="1627632"/>
            <a:ext cx="822960" cy="457200"/>
          </a:xfrm>
          <a:prstGeom prst="roundRect">
            <a:avLst>
              <a:gd name="adj" fmla="val 10000"/>
            </a:avLst>
          </a:prstGeom>
          <a:solidFill>
            <a:srgbClr val="E8402A"/>
          </a:solidFill>
          <a:ln w="12700">
            <a:solidFill>
              <a:srgbClr val="FFFFFF"/>
            </a:solidFill>
            <a:prstDash val="solid"/>
          </a:ln>
        </p:spPr>
      </p:sp>
      <p:sp>
        <p:nvSpPr>
          <p:cNvPr id="15" name="Text 13"/>
          <p:cNvSpPr/>
          <p:nvPr/>
        </p:nvSpPr>
        <p:spPr>
          <a:xfrm>
            <a:off x="731520" y="1627632"/>
            <a:ext cx="8229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6" name="Shape 14"/>
          <p:cNvSpPr/>
          <p:nvPr/>
        </p:nvSpPr>
        <p:spPr>
          <a:xfrm>
            <a:off x="1691640" y="1627632"/>
            <a:ext cx="2194560" cy="457200"/>
          </a:xfrm>
          <a:prstGeom prst="roundRect">
            <a:avLst>
              <a:gd name="adj" fmla="val 10000"/>
            </a:avLst>
          </a:prstGeom>
          <a:solidFill>
            <a:srgbClr val="FFFFFF"/>
          </a:solidFill>
          <a:ln w="12700">
            <a:solidFill>
              <a:srgbClr val="DDD3EC"/>
            </a:solidFill>
            <a:prstDash val="solid"/>
          </a:ln>
        </p:spPr>
      </p:sp>
      <p:sp>
        <p:nvSpPr>
          <p:cNvPr id="17" name="Text 15"/>
          <p:cNvSpPr/>
          <p:nvPr/>
        </p:nvSpPr>
        <p:spPr>
          <a:xfrm>
            <a:off x="1691640" y="1627632"/>
            <a:ext cx="2194560" cy="457200"/>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0.1  =  10⁻¹</a:t>
            </a:r>
            <a:endParaRPr lang="en-US" sz="1200" dirty="0"/>
          </a:p>
        </p:txBody>
      </p:sp>
      <p:sp>
        <p:nvSpPr>
          <p:cNvPr id="18" name="Shape 16"/>
          <p:cNvSpPr/>
          <p:nvPr/>
        </p:nvSpPr>
        <p:spPr>
          <a:xfrm>
            <a:off x="4069080" y="1883664"/>
            <a:ext cx="91" cy="530352"/>
          </a:xfrm>
          <a:prstGeom prst="line">
            <a:avLst/>
          </a:prstGeom>
          <a:noFill/>
          <a:ln w="25400">
            <a:solidFill>
              <a:srgbClr val="6A3FA0"/>
            </a:solidFill>
            <a:prstDash val="solid"/>
            <a:tailEnd type="triangle"/>
          </a:ln>
        </p:spPr>
      </p:sp>
      <p:sp>
        <p:nvSpPr>
          <p:cNvPr id="19" name="Text 17"/>
          <p:cNvSpPr/>
          <p:nvPr/>
        </p:nvSpPr>
        <p:spPr>
          <a:xfrm>
            <a:off x="4206240" y="2020824"/>
            <a:ext cx="1691640" cy="256032"/>
          </a:xfrm>
          <a:prstGeom prst="rect">
            <a:avLst/>
          </a:prstGeom>
          <a:noFill/>
          <a:ln/>
        </p:spPr>
        <p:txBody>
          <a:bodyPr wrap="square" lIns="0" tIns="0" rIns="0" bIns="0" rtlCol="0" anchor="ctr"/>
          <a:lstStyle/>
          <a:p>
            <a:pPr algn="l" indent="0" marL="0">
              <a:buNone/>
            </a:pPr>
            <a:r>
              <a:rPr lang="en-US" sz="1050" b="1" dirty="0">
                <a:solidFill>
                  <a:srgbClr val="6A3FA0"/>
                </a:solidFill>
                <a:latin typeface="Calibri" pitchFamily="34" charset="0"/>
                <a:ea typeface="Calibri" pitchFamily="34" charset="-122"/>
                <a:cs typeface="Calibri" pitchFamily="34" charset="-120"/>
              </a:rPr>
              <a:t>[H⁺] ÷ 10,  pH + 1</a:t>
            </a:r>
            <a:endParaRPr lang="en-US" sz="1050" dirty="0"/>
          </a:p>
        </p:txBody>
      </p:sp>
      <p:sp>
        <p:nvSpPr>
          <p:cNvPr id="20" name="Shape 18"/>
          <p:cNvSpPr/>
          <p:nvPr/>
        </p:nvSpPr>
        <p:spPr>
          <a:xfrm>
            <a:off x="731520" y="2231136"/>
            <a:ext cx="822960" cy="457200"/>
          </a:xfrm>
          <a:prstGeom prst="roundRect">
            <a:avLst>
              <a:gd name="adj" fmla="val 10000"/>
            </a:avLst>
          </a:prstGeom>
          <a:solidFill>
            <a:srgbClr val="F26B22"/>
          </a:solidFill>
          <a:ln w="12700">
            <a:solidFill>
              <a:srgbClr val="FFFFFF"/>
            </a:solidFill>
            <a:prstDash val="solid"/>
          </a:ln>
        </p:spPr>
      </p:sp>
      <p:sp>
        <p:nvSpPr>
          <p:cNvPr id="21" name="Text 19"/>
          <p:cNvSpPr/>
          <p:nvPr/>
        </p:nvSpPr>
        <p:spPr>
          <a:xfrm>
            <a:off x="731520" y="2231136"/>
            <a:ext cx="822960" cy="457200"/>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2</a:t>
            </a:r>
            <a:endParaRPr lang="en-US" sz="1400" dirty="0"/>
          </a:p>
        </p:txBody>
      </p:sp>
      <p:sp>
        <p:nvSpPr>
          <p:cNvPr id="22" name="Shape 20"/>
          <p:cNvSpPr/>
          <p:nvPr/>
        </p:nvSpPr>
        <p:spPr>
          <a:xfrm>
            <a:off x="1691640" y="2231136"/>
            <a:ext cx="2194560" cy="457200"/>
          </a:xfrm>
          <a:prstGeom prst="roundRect">
            <a:avLst>
              <a:gd name="adj" fmla="val 10000"/>
            </a:avLst>
          </a:prstGeom>
          <a:solidFill>
            <a:srgbClr val="FFFFFF"/>
          </a:solidFill>
          <a:ln w="12700">
            <a:solidFill>
              <a:srgbClr val="DDD3EC"/>
            </a:solidFill>
            <a:prstDash val="solid"/>
          </a:ln>
        </p:spPr>
      </p:sp>
      <p:sp>
        <p:nvSpPr>
          <p:cNvPr id="23" name="Text 21"/>
          <p:cNvSpPr/>
          <p:nvPr/>
        </p:nvSpPr>
        <p:spPr>
          <a:xfrm>
            <a:off x="1691640" y="2231136"/>
            <a:ext cx="2194560" cy="457200"/>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0.01  =  10⁻²</a:t>
            </a:r>
            <a:endParaRPr lang="en-US" sz="1200" dirty="0"/>
          </a:p>
        </p:txBody>
      </p:sp>
      <p:sp>
        <p:nvSpPr>
          <p:cNvPr id="24" name="Shape 22"/>
          <p:cNvSpPr/>
          <p:nvPr/>
        </p:nvSpPr>
        <p:spPr>
          <a:xfrm>
            <a:off x="4069080" y="2487168"/>
            <a:ext cx="91" cy="530352"/>
          </a:xfrm>
          <a:prstGeom prst="line">
            <a:avLst/>
          </a:prstGeom>
          <a:noFill/>
          <a:ln w="25400">
            <a:solidFill>
              <a:srgbClr val="6A3FA0"/>
            </a:solidFill>
            <a:prstDash val="solid"/>
            <a:tailEnd type="triangle"/>
          </a:ln>
        </p:spPr>
      </p:sp>
      <p:sp>
        <p:nvSpPr>
          <p:cNvPr id="25" name="Text 23"/>
          <p:cNvSpPr/>
          <p:nvPr/>
        </p:nvSpPr>
        <p:spPr>
          <a:xfrm>
            <a:off x="4206240" y="2624328"/>
            <a:ext cx="1691640" cy="256032"/>
          </a:xfrm>
          <a:prstGeom prst="rect">
            <a:avLst/>
          </a:prstGeom>
          <a:noFill/>
          <a:ln/>
        </p:spPr>
        <p:txBody>
          <a:bodyPr wrap="square" lIns="0" tIns="0" rIns="0" bIns="0" rtlCol="0" anchor="ctr"/>
          <a:lstStyle/>
          <a:p>
            <a:pPr algn="l" indent="0" marL="0">
              <a:buNone/>
            </a:pPr>
            <a:r>
              <a:rPr lang="en-US" sz="1050" b="1" dirty="0">
                <a:solidFill>
                  <a:srgbClr val="6A3FA0"/>
                </a:solidFill>
                <a:latin typeface="Calibri" pitchFamily="34" charset="0"/>
                <a:ea typeface="Calibri" pitchFamily="34" charset="-122"/>
                <a:cs typeface="Calibri" pitchFamily="34" charset="-120"/>
              </a:rPr>
              <a:t>[H⁺] ÷ 10,  pH + 1</a:t>
            </a:r>
            <a:endParaRPr lang="en-US" sz="1050" dirty="0"/>
          </a:p>
        </p:txBody>
      </p:sp>
      <p:sp>
        <p:nvSpPr>
          <p:cNvPr id="26" name="Shape 24"/>
          <p:cNvSpPr/>
          <p:nvPr/>
        </p:nvSpPr>
        <p:spPr>
          <a:xfrm>
            <a:off x="731520" y="2834640"/>
            <a:ext cx="822960" cy="457200"/>
          </a:xfrm>
          <a:prstGeom prst="roundRect">
            <a:avLst>
              <a:gd name="adj" fmla="val 10000"/>
            </a:avLst>
          </a:prstGeom>
          <a:solidFill>
            <a:srgbClr val="F7941D"/>
          </a:solidFill>
          <a:ln w="12700">
            <a:solidFill>
              <a:srgbClr val="FFFFFF"/>
            </a:solidFill>
            <a:prstDash val="solid"/>
          </a:ln>
        </p:spPr>
      </p:sp>
      <p:sp>
        <p:nvSpPr>
          <p:cNvPr id="27" name="Text 25"/>
          <p:cNvSpPr/>
          <p:nvPr/>
        </p:nvSpPr>
        <p:spPr>
          <a:xfrm>
            <a:off x="731520" y="2834640"/>
            <a:ext cx="822960" cy="457200"/>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3</a:t>
            </a:r>
            <a:endParaRPr lang="en-US" sz="1400" dirty="0"/>
          </a:p>
        </p:txBody>
      </p:sp>
      <p:sp>
        <p:nvSpPr>
          <p:cNvPr id="28" name="Shape 26"/>
          <p:cNvSpPr/>
          <p:nvPr/>
        </p:nvSpPr>
        <p:spPr>
          <a:xfrm>
            <a:off x="1691640" y="2834640"/>
            <a:ext cx="2194560" cy="457200"/>
          </a:xfrm>
          <a:prstGeom prst="roundRect">
            <a:avLst>
              <a:gd name="adj" fmla="val 10000"/>
            </a:avLst>
          </a:prstGeom>
          <a:solidFill>
            <a:srgbClr val="FFFFFF"/>
          </a:solidFill>
          <a:ln w="12700">
            <a:solidFill>
              <a:srgbClr val="DDD3EC"/>
            </a:solidFill>
            <a:prstDash val="solid"/>
          </a:ln>
        </p:spPr>
      </p:sp>
      <p:sp>
        <p:nvSpPr>
          <p:cNvPr id="29" name="Text 27"/>
          <p:cNvSpPr/>
          <p:nvPr/>
        </p:nvSpPr>
        <p:spPr>
          <a:xfrm>
            <a:off x="1691640" y="2834640"/>
            <a:ext cx="2194560" cy="457200"/>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0.001  =  10⁻³</a:t>
            </a:r>
            <a:endParaRPr lang="en-US" sz="1200" dirty="0"/>
          </a:p>
        </p:txBody>
      </p:sp>
      <p:sp>
        <p:nvSpPr>
          <p:cNvPr id="30" name="Shape 28"/>
          <p:cNvSpPr/>
          <p:nvPr/>
        </p:nvSpPr>
        <p:spPr>
          <a:xfrm>
            <a:off x="4069080" y="3090672"/>
            <a:ext cx="91" cy="530352"/>
          </a:xfrm>
          <a:prstGeom prst="line">
            <a:avLst/>
          </a:prstGeom>
          <a:noFill/>
          <a:ln w="25400">
            <a:solidFill>
              <a:srgbClr val="6A3FA0"/>
            </a:solidFill>
            <a:prstDash val="solid"/>
            <a:tailEnd type="triangle"/>
          </a:ln>
        </p:spPr>
      </p:sp>
      <p:sp>
        <p:nvSpPr>
          <p:cNvPr id="31" name="Text 29"/>
          <p:cNvSpPr/>
          <p:nvPr/>
        </p:nvSpPr>
        <p:spPr>
          <a:xfrm>
            <a:off x="4206240" y="3227832"/>
            <a:ext cx="1691640" cy="256032"/>
          </a:xfrm>
          <a:prstGeom prst="rect">
            <a:avLst/>
          </a:prstGeom>
          <a:noFill/>
          <a:ln/>
        </p:spPr>
        <p:txBody>
          <a:bodyPr wrap="square" lIns="0" tIns="0" rIns="0" bIns="0" rtlCol="0" anchor="ctr"/>
          <a:lstStyle/>
          <a:p>
            <a:pPr algn="l" indent="0" marL="0">
              <a:buNone/>
            </a:pPr>
            <a:r>
              <a:rPr lang="en-US" sz="1050" b="1" dirty="0">
                <a:solidFill>
                  <a:srgbClr val="6A3FA0"/>
                </a:solidFill>
                <a:latin typeface="Calibri" pitchFamily="34" charset="0"/>
                <a:ea typeface="Calibri" pitchFamily="34" charset="-122"/>
                <a:cs typeface="Calibri" pitchFamily="34" charset="-120"/>
              </a:rPr>
              <a:t>[H⁺] ÷ 10,  pH + 1</a:t>
            </a:r>
            <a:endParaRPr lang="en-US" sz="1050" dirty="0"/>
          </a:p>
        </p:txBody>
      </p:sp>
      <p:sp>
        <p:nvSpPr>
          <p:cNvPr id="32" name="Shape 30"/>
          <p:cNvSpPr/>
          <p:nvPr/>
        </p:nvSpPr>
        <p:spPr>
          <a:xfrm>
            <a:off x="731520" y="3438144"/>
            <a:ext cx="822960" cy="457200"/>
          </a:xfrm>
          <a:prstGeom prst="roundRect">
            <a:avLst>
              <a:gd name="adj" fmla="val 10000"/>
            </a:avLst>
          </a:prstGeom>
          <a:solidFill>
            <a:srgbClr val="FDB813"/>
          </a:solidFill>
          <a:ln w="12700">
            <a:solidFill>
              <a:srgbClr val="FFFFFF"/>
            </a:solidFill>
            <a:prstDash val="solid"/>
          </a:ln>
        </p:spPr>
      </p:sp>
      <p:sp>
        <p:nvSpPr>
          <p:cNvPr id="33" name="Text 31"/>
          <p:cNvSpPr/>
          <p:nvPr/>
        </p:nvSpPr>
        <p:spPr>
          <a:xfrm>
            <a:off x="731520" y="3438144"/>
            <a:ext cx="822960" cy="457200"/>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4</a:t>
            </a:r>
            <a:endParaRPr lang="en-US" sz="1400" dirty="0"/>
          </a:p>
        </p:txBody>
      </p:sp>
      <p:sp>
        <p:nvSpPr>
          <p:cNvPr id="34" name="Shape 32"/>
          <p:cNvSpPr/>
          <p:nvPr/>
        </p:nvSpPr>
        <p:spPr>
          <a:xfrm>
            <a:off x="1691640" y="3438144"/>
            <a:ext cx="2194560" cy="457200"/>
          </a:xfrm>
          <a:prstGeom prst="roundRect">
            <a:avLst>
              <a:gd name="adj" fmla="val 10000"/>
            </a:avLst>
          </a:prstGeom>
          <a:solidFill>
            <a:srgbClr val="FFFFFF"/>
          </a:solidFill>
          <a:ln w="12700">
            <a:solidFill>
              <a:srgbClr val="DDD3EC"/>
            </a:solidFill>
            <a:prstDash val="solid"/>
          </a:ln>
        </p:spPr>
      </p:sp>
      <p:sp>
        <p:nvSpPr>
          <p:cNvPr id="35" name="Text 33"/>
          <p:cNvSpPr/>
          <p:nvPr/>
        </p:nvSpPr>
        <p:spPr>
          <a:xfrm>
            <a:off x="1691640" y="3438144"/>
            <a:ext cx="2194560" cy="457200"/>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0.0001  =  10⁻⁴</a:t>
            </a:r>
            <a:endParaRPr lang="en-US" sz="1200" dirty="0"/>
          </a:p>
        </p:txBody>
      </p:sp>
      <p:sp>
        <p:nvSpPr>
          <p:cNvPr id="36" name="Shape 34"/>
          <p:cNvSpPr/>
          <p:nvPr/>
        </p:nvSpPr>
        <p:spPr>
          <a:xfrm>
            <a:off x="4069080" y="3694176"/>
            <a:ext cx="91" cy="530352"/>
          </a:xfrm>
          <a:prstGeom prst="line">
            <a:avLst/>
          </a:prstGeom>
          <a:noFill/>
          <a:ln w="25400">
            <a:solidFill>
              <a:srgbClr val="6A3FA0"/>
            </a:solidFill>
            <a:prstDash val="solid"/>
            <a:tailEnd type="triangle"/>
          </a:ln>
        </p:spPr>
      </p:sp>
      <p:sp>
        <p:nvSpPr>
          <p:cNvPr id="37" name="Text 35"/>
          <p:cNvSpPr/>
          <p:nvPr/>
        </p:nvSpPr>
        <p:spPr>
          <a:xfrm>
            <a:off x="4206240" y="3831336"/>
            <a:ext cx="1691640" cy="256032"/>
          </a:xfrm>
          <a:prstGeom prst="rect">
            <a:avLst/>
          </a:prstGeom>
          <a:noFill/>
          <a:ln/>
        </p:spPr>
        <p:txBody>
          <a:bodyPr wrap="square" lIns="0" tIns="0" rIns="0" bIns="0" rtlCol="0" anchor="ctr"/>
          <a:lstStyle/>
          <a:p>
            <a:pPr algn="l" indent="0" marL="0">
              <a:buNone/>
            </a:pPr>
            <a:r>
              <a:rPr lang="en-US" sz="1050" b="1" dirty="0">
                <a:solidFill>
                  <a:srgbClr val="6A3FA0"/>
                </a:solidFill>
                <a:latin typeface="Calibri" pitchFamily="34" charset="0"/>
                <a:ea typeface="Calibri" pitchFamily="34" charset="-122"/>
                <a:cs typeface="Calibri" pitchFamily="34" charset="-120"/>
              </a:rPr>
              <a:t>[H⁺] ÷ 10,  pH + 1</a:t>
            </a:r>
            <a:endParaRPr lang="en-US" sz="1050" dirty="0"/>
          </a:p>
        </p:txBody>
      </p:sp>
      <p:sp>
        <p:nvSpPr>
          <p:cNvPr id="38" name="Shape 36"/>
          <p:cNvSpPr/>
          <p:nvPr/>
        </p:nvSpPr>
        <p:spPr>
          <a:xfrm>
            <a:off x="731520" y="4041648"/>
            <a:ext cx="822960" cy="457200"/>
          </a:xfrm>
          <a:prstGeom prst="roundRect">
            <a:avLst>
              <a:gd name="adj" fmla="val 10000"/>
            </a:avLst>
          </a:prstGeom>
          <a:solidFill>
            <a:srgbClr val="FFDE17"/>
          </a:solidFill>
          <a:ln w="12700">
            <a:solidFill>
              <a:srgbClr val="FFFFFF"/>
            </a:solidFill>
            <a:prstDash val="solid"/>
          </a:ln>
        </p:spPr>
      </p:sp>
      <p:sp>
        <p:nvSpPr>
          <p:cNvPr id="39" name="Text 37"/>
          <p:cNvSpPr/>
          <p:nvPr/>
        </p:nvSpPr>
        <p:spPr>
          <a:xfrm>
            <a:off x="731520" y="4041648"/>
            <a:ext cx="822960" cy="457200"/>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5</a:t>
            </a:r>
            <a:endParaRPr lang="en-US" sz="1400" dirty="0"/>
          </a:p>
        </p:txBody>
      </p:sp>
      <p:sp>
        <p:nvSpPr>
          <p:cNvPr id="40" name="Shape 38"/>
          <p:cNvSpPr/>
          <p:nvPr/>
        </p:nvSpPr>
        <p:spPr>
          <a:xfrm>
            <a:off x="1691640" y="4041648"/>
            <a:ext cx="2194560" cy="457200"/>
          </a:xfrm>
          <a:prstGeom prst="roundRect">
            <a:avLst>
              <a:gd name="adj" fmla="val 10000"/>
            </a:avLst>
          </a:prstGeom>
          <a:solidFill>
            <a:srgbClr val="FFFFFF"/>
          </a:solidFill>
          <a:ln w="12700">
            <a:solidFill>
              <a:srgbClr val="DDD3EC"/>
            </a:solidFill>
            <a:prstDash val="solid"/>
          </a:ln>
        </p:spPr>
      </p:sp>
      <p:sp>
        <p:nvSpPr>
          <p:cNvPr id="41" name="Text 39"/>
          <p:cNvSpPr/>
          <p:nvPr/>
        </p:nvSpPr>
        <p:spPr>
          <a:xfrm>
            <a:off x="1691640" y="4041648"/>
            <a:ext cx="2194560" cy="457200"/>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0.00001  =  10⁻⁵</a:t>
            </a:r>
            <a:endParaRPr lang="en-US" sz="1200" dirty="0"/>
          </a:p>
        </p:txBody>
      </p:sp>
      <p:sp>
        <p:nvSpPr>
          <p:cNvPr id="42" name="Shape 40"/>
          <p:cNvSpPr/>
          <p:nvPr/>
        </p:nvSpPr>
        <p:spPr>
          <a:xfrm>
            <a:off x="4069080" y="4297680"/>
            <a:ext cx="91" cy="530352"/>
          </a:xfrm>
          <a:prstGeom prst="line">
            <a:avLst/>
          </a:prstGeom>
          <a:noFill/>
          <a:ln w="25400">
            <a:solidFill>
              <a:srgbClr val="6A3FA0"/>
            </a:solidFill>
            <a:prstDash val="solid"/>
            <a:tailEnd type="triangle"/>
          </a:ln>
        </p:spPr>
      </p:sp>
      <p:sp>
        <p:nvSpPr>
          <p:cNvPr id="43" name="Text 41"/>
          <p:cNvSpPr/>
          <p:nvPr/>
        </p:nvSpPr>
        <p:spPr>
          <a:xfrm>
            <a:off x="4206240" y="4434840"/>
            <a:ext cx="1691640" cy="256032"/>
          </a:xfrm>
          <a:prstGeom prst="rect">
            <a:avLst/>
          </a:prstGeom>
          <a:noFill/>
          <a:ln/>
        </p:spPr>
        <p:txBody>
          <a:bodyPr wrap="square" lIns="0" tIns="0" rIns="0" bIns="0" rtlCol="0" anchor="ctr"/>
          <a:lstStyle/>
          <a:p>
            <a:pPr algn="l" indent="0" marL="0">
              <a:buNone/>
            </a:pPr>
            <a:r>
              <a:rPr lang="en-US" sz="1050" b="1" dirty="0">
                <a:solidFill>
                  <a:srgbClr val="6A3FA0"/>
                </a:solidFill>
                <a:latin typeface="Calibri" pitchFamily="34" charset="0"/>
                <a:ea typeface="Calibri" pitchFamily="34" charset="-122"/>
                <a:cs typeface="Calibri" pitchFamily="34" charset="-120"/>
              </a:rPr>
              <a:t>[H⁺] ÷ 10,  pH + 1</a:t>
            </a:r>
            <a:endParaRPr lang="en-US" sz="1050" dirty="0"/>
          </a:p>
        </p:txBody>
      </p:sp>
      <p:sp>
        <p:nvSpPr>
          <p:cNvPr id="44" name="Shape 42"/>
          <p:cNvSpPr/>
          <p:nvPr/>
        </p:nvSpPr>
        <p:spPr>
          <a:xfrm>
            <a:off x="731520" y="4645152"/>
            <a:ext cx="822960" cy="457200"/>
          </a:xfrm>
          <a:prstGeom prst="roundRect">
            <a:avLst>
              <a:gd name="adj" fmla="val 10000"/>
            </a:avLst>
          </a:prstGeom>
          <a:solidFill>
            <a:srgbClr val="C8D82B"/>
          </a:solidFill>
          <a:ln w="12700">
            <a:solidFill>
              <a:srgbClr val="FFFFFF"/>
            </a:solidFill>
            <a:prstDash val="solid"/>
          </a:ln>
        </p:spPr>
      </p:sp>
      <p:sp>
        <p:nvSpPr>
          <p:cNvPr id="45" name="Text 43"/>
          <p:cNvSpPr/>
          <p:nvPr/>
        </p:nvSpPr>
        <p:spPr>
          <a:xfrm>
            <a:off x="731520" y="4645152"/>
            <a:ext cx="822960" cy="457200"/>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6</a:t>
            </a:r>
            <a:endParaRPr lang="en-US" sz="1400" dirty="0"/>
          </a:p>
        </p:txBody>
      </p:sp>
      <p:sp>
        <p:nvSpPr>
          <p:cNvPr id="46" name="Shape 44"/>
          <p:cNvSpPr/>
          <p:nvPr/>
        </p:nvSpPr>
        <p:spPr>
          <a:xfrm>
            <a:off x="1691640" y="4645152"/>
            <a:ext cx="2194560" cy="457200"/>
          </a:xfrm>
          <a:prstGeom prst="roundRect">
            <a:avLst>
              <a:gd name="adj" fmla="val 10000"/>
            </a:avLst>
          </a:prstGeom>
          <a:solidFill>
            <a:srgbClr val="FFFFFF"/>
          </a:solidFill>
          <a:ln w="12700">
            <a:solidFill>
              <a:srgbClr val="DDD3EC"/>
            </a:solidFill>
            <a:prstDash val="solid"/>
          </a:ln>
        </p:spPr>
      </p:sp>
      <p:sp>
        <p:nvSpPr>
          <p:cNvPr id="47" name="Text 45"/>
          <p:cNvSpPr/>
          <p:nvPr/>
        </p:nvSpPr>
        <p:spPr>
          <a:xfrm>
            <a:off x="1691640" y="4645152"/>
            <a:ext cx="2194560" cy="457200"/>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0.000001  =  10⁻⁶</a:t>
            </a:r>
            <a:endParaRPr lang="en-US" sz="1200" dirty="0"/>
          </a:p>
        </p:txBody>
      </p:sp>
      <p:sp>
        <p:nvSpPr>
          <p:cNvPr id="48" name="Shape 46"/>
          <p:cNvSpPr/>
          <p:nvPr/>
        </p:nvSpPr>
        <p:spPr>
          <a:xfrm>
            <a:off x="6217920" y="1188720"/>
            <a:ext cx="5562295" cy="2788920"/>
          </a:xfrm>
          <a:prstGeom prst="roundRect">
            <a:avLst>
              <a:gd name="adj" fmla="val 1967"/>
            </a:avLst>
          </a:prstGeom>
          <a:solidFill>
            <a:srgbClr val="F8F5FC"/>
          </a:solidFill>
          <a:ln w="9525">
            <a:solidFill>
              <a:srgbClr val="DDD3EC"/>
            </a:solidFill>
            <a:prstDash val="solid"/>
          </a:ln>
        </p:spPr>
      </p:sp>
      <p:sp>
        <p:nvSpPr>
          <p:cNvPr id="49" name="Text 4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The rule</a:t>
            </a:r>
            <a:endParaRPr lang="en-US" sz="1300" dirty="0"/>
          </a:p>
        </p:txBody>
      </p:sp>
      <p:sp>
        <p:nvSpPr>
          <p:cNvPr id="50" name="Text 48"/>
          <p:cNvSpPr/>
          <p:nvPr/>
        </p:nvSpPr>
        <p:spPr>
          <a:xfrm>
            <a:off x="6382512" y="1609344"/>
            <a:ext cx="5233111" cy="229514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As the </a:t>
            </a:r>
            <a:r>
              <a:rPr lang="en-US" sz="1150" b="1" dirty="0">
                <a:solidFill>
                  <a:srgbClr val="262B3A"/>
                </a:solidFill>
                <a:latin typeface="Calibri" pitchFamily="34" charset="0"/>
                <a:ea typeface="Calibri" pitchFamily="34" charset="-122"/>
                <a:cs typeface="Calibri" pitchFamily="34" charset="-120"/>
              </a:rPr>
              <a:t>hydrogen ion concentration increases by a factor of 10</a:t>
            </a:r>
            <a:r>
              <a:rPr lang="en-US" sz="1150" dirty="0">
                <a:solidFill>
                  <a:srgbClr val="262B3A"/>
                </a:solidFill>
                <a:latin typeface="Calibri" pitchFamily="34" charset="0"/>
                <a:ea typeface="Calibri" pitchFamily="34" charset="-122"/>
                <a:cs typeface="Calibri" pitchFamily="34" charset="-120"/>
              </a:rPr>
              <a:t>, the </a:t>
            </a:r>
            <a:r>
              <a:rPr lang="en-US" sz="1150" b="1" dirty="0">
                <a:solidFill>
                  <a:srgbClr val="262B3A"/>
                </a:solidFill>
                <a:latin typeface="Calibri" pitchFamily="34" charset="0"/>
                <a:ea typeface="Calibri" pitchFamily="34" charset="-122"/>
                <a:cs typeface="Calibri" pitchFamily="34" charset="-120"/>
              </a:rPr>
              <a:t>pH decreases by 1</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change of </a:t>
            </a:r>
            <a:r>
              <a:rPr lang="en-US" sz="1150" b="1" dirty="0">
                <a:solidFill>
                  <a:srgbClr val="262B3A"/>
                </a:solidFill>
                <a:latin typeface="Calibri" pitchFamily="34" charset="0"/>
                <a:ea typeface="Calibri" pitchFamily="34" charset="-122"/>
                <a:cs typeface="Calibri" pitchFamily="34" charset="-120"/>
              </a:rPr>
              <a:t>n</a:t>
            </a:r>
            <a:r>
              <a:rPr lang="en-US" sz="1150" dirty="0">
                <a:solidFill>
                  <a:srgbClr val="262B3A"/>
                </a:solidFill>
                <a:latin typeface="Calibri" pitchFamily="34" charset="0"/>
                <a:ea typeface="Calibri" pitchFamily="34" charset="-122"/>
                <a:cs typeface="Calibri" pitchFamily="34" charset="-120"/>
              </a:rPr>
              <a:t> pH units = a change in [H⁺] of </a:t>
            </a:r>
            <a:r>
              <a:rPr lang="en-US" sz="1150" b="1" dirty="0">
                <a:solidFill>
                  <a:srgbClr val="262B3A"/>
                </a:solidFill>
                <a:latin typeface="Calibri" pitchFamily="34" charset="0"/>
                <a:ea typeface="Calibri" pitchFamily="34" charset="-122"/>
                <a:cs typeface="Calibri" pitchFamily="34" charset="-120"/>
              </a:rPr>
              <a:t>10ⁿ</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Diluting an acid </a:t>
            </a:r>
            <a:r>
              <a:rPr lang="en-US" sz="1150" b="1" dirty="0">
                <a:solidFill>
                  <a:srgbClr val="262B3A"/>
                </a:solidFill>
                <a:latin typeface="Calibri" pitchFamily="34" charset="0"/>
                <a:ea typeface="Calibri" pitchFamily="34" charset="-122"/>
                <a:cs typeface="Calibri" pitchFamily="34" charset="-120"/>
              </a:rPr>
              <a:t>ten times</a:t>
            </a:r>
            <a:r>
              <a:rPr lang="en-US" sz="1150" dirty="0">
                <a:solidFill>
                  <a:srgbClr val="262B3A"/>
                </a:solidFill>
                <a:latin typeface="Calibri" pitchFamily="34" charset="0"/>
                <a:ea typeface="Calibri" pitchFamily="34" charset="-122"/>
                <a:cs typeface="Calibri" pitchFamily="34" charset="-120"/>
              </a:rPr>
              <a:t> raises its pH by </a:t>
            </a:r>
            <a:r>
              <a:rPr lang="en-US" sz="1150" b="1" dirty="0">
                <a:solidFill>
                  <a:srgbClr val="262B3A"/>
                </a:solidFill>
                <a:latin typeface="Calibri" pitchFamily="34" charset="0"/>
                <a:ea typeface="Calibri" pitchFamily="34" charset="-122"/>
                <a:cs typeface="Calibri" pitchFamily="34" charset="-120"/>
              </a:rPr>
              <a:t>1</a:t>
            </a:r>
            <a:r>
              <a:rPr lang="en-US" sz="1150" dirty="0">
                <a:solidFill>
                  <a:srgbClr val="262B3A"/>
                </a:solidFill>
                <a:latin typeface="Calibri" pitchFamily="34" charset="0"/>
                <a:ea typeface="Calibri" pitchFamily="34" charset="-122"/>
                <a:cs typeface="Calibri" pitchFamily="34" charset="-120"/>
              </a:rPr>
              <a:t> (strong acid).</a:t>
            </a:r>
            <a:endParaRPr lang="en-US" sz="1150" dirty="0"/>
          </a:p>
        </p:txBody>
      </p:sp>
      <p:sp>
        <p:nvSpPr>
          <p:cNvPr id="51" name="Shape 49"/>
          <p:cNvSpPr/>
          <p:nvPr/>
        </p:nvSpPr>
        <p:spPr>
          <a:xfrm>
            <a:off x="6217920" y="4114800"/>
            <a:ext cx="5562295" cy="1600200"/>
          </a:xfrm>
          <a:prstGeom prst="roundRect">
            <a:avLst>
              <a:gd name="adj" fmla="val 3429"/>
            </a:avLst>
          </a:prstGeom>
          <a:solidFill>
            <a:srgbClr val="FFF4E0"/>
          </a:solidFill>
          <a:ln w="9525">
            <a:solidFill>
              <a:srgbClr val="F1D9A8"/>
            </a:solidFill>
            <a:prstDash val="solid"/>
          </a:ln>
        </p:spPr>
      </p:sp>
      <p:sp>
        <p:nvSpPr>
          <p:cNvPr id="52" name="Text 50"/>
          <p:cNvSpPr/>
          <p:nvPr/>
        </p:nvSpPr>
        <p:spPr>
          <a:xfrm>
            <a:off x="6382512" y="41879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53" name="Text 51"/>
          <p:cNvSpPr/>
          <p:nvPr/>
        </p:nvSpPr>
        <p:spPr>
          <a:xfrm>
            <a:off x="6382512" y="4498848"/>
            <a:ext cx="5233111" cy="114300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Acid A has pH 2. Acid B has pH 5. Compare their [H⁺].</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1 Difference   </a:t>
            </a:r>
            <a:r>
              <a:rPr lang="en-US" sz="1100" dirty="0">
                <a:solidFill>
                  <a:srgbClr val="262B3A"/>
                </a:solidFill>
                <a:latin typeface="Calibri" pitchFamily="34" charset="0"/>
                <a:ea typeface="Calibri" pitchFamily="34" charset="-122"/>
                <a:cs typeface="Calibri" pitchFamily="34" charset="-120"/>
              </a:rPr>
              <a:t>5 − 2 = 3 pH units</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2 Factor   </a:t>
            </a:r>
            <a:r>
              <a:rPr lang="en-US" sz="1100" dirty="0">
                <a:solidFill>
                  <a:srgbClr val="262B3A"/>
                </a:solidFill>
                <a:latin typeface="Calibri" pitchFamily="34" charset="0"/>
                <a:ea typeface="Calibri" pitchFamily="34" charset="-122"/>
                <a:cs typeface="Calibri" pitchFamily="34" charset="-120"/>
              </a:rPr>
              <a:t>10³ = 1000</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3 Answer   </a:t>
            </a:r>
            <a:r>
              <a:rPr lang="en-US" sz="1100" b="1" dirty="0">
                <a:solidFill>
                  <a:srgbClr val="C8414C"/>
                </a:solidFill>
                <a:latin typeface="Calibri" pitchFamily="34" charset="0"/>
                <a:ea typeface="Calibri" pitchFamily="34" charset="-122"/>
                <a:cs typeface="Calibri" pitchFamily="34" charset="-120"/>
              </a:rPr>
              <a:t>A has 1000 times the H⁺ concentration of B</a:t>
            </a:r>
            <a:endParaRPr lang="en-US" sz="1100" dirty="0"/>
          </a:p>
        </p:txBody>
      </p:sp>
      <p:sp>
        <p:nvSpPr>
          <p:cNvPr id="54" name="Shape 52"/>
          <p:cNvSpPr/>
          <p:nvPr/>
        </p:nvSpPr>
        <p:spPr>
          <a:xfrm>
            <a:off x="411480" y="5833872"/>
            <a:ext cx="11368735" cy="530352"/>
          </a:xfrm>
          <a:prstGeom prst="rect">
            <a:avLst/>
          </a:prstGeom>
          <a:solidFill>
            <a:srgbClr val="FFF4E0"/>
          </a:solidFill>
          <a:ln w="6350">
            <a:solidFill>
              <a:srgbClr val="F1D9A8"/>
            </a:solidFill>
            <a:prstDash val="solid"/>
          </a:ln>
        </p:spPr>
      </p:sp>
      <p:sp>
        <p:nvSpPr>
          <p:cNvPr id="55" name="Shape 53"/>
          <p:cNvSpPr/>
          <p:nvPr/>
        </p:nvSpPr>
        <p:spPr>
          <a:xfrm>
            <a:off x="411480" y="5833872"/>
            <a:ext cx="82296" cy="530352"/>
          </a:xfrm>
          <a:prstGeom prst="rect">
            <a:avLst/>
          </a:prstGeom>
          <a:solidFill>
            <a:srgbClr val="E39A2F"/>
          </a:solidFill>
          <a:ln w="12700">
            <a:solidFill>
              <a:srgbClr val="E39A2F"/>
            </a:solidFill>
            <a:prstDash val="solid"/>
          </a:ln>
        </p:spPr>
      </p:sp>
      <p:sp>
        <p:nvSpPr>
          <p:cNvPr id="56" name="Text 5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Acid P has pH 1 and acid Q has pH 3. How many times greater is [H⁺] in P? 10 cm³ of P is diluted to 100 cm³: what is the new pH?</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Strong or weak? Concentrated or dilute?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3.7 (both tiers) and 3.8 (HT) • two different ideas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3.7–3.8  |  9</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HA = un-ionised weak-acid molecule (e.g. CH₃COOH); A⁻ = its anion</a:t>
            </a:r>
            <a:endParaRPr lang="en-US" sz="1000" dirty="0"/>
          </a:p>
        </p:txBody>
      </p:sp>
      <p:sp>
        <p:nvSpPr>
          <p:cNvPr id="12" name="Text 10"/>
          <p:cNvSpPr/>
          <p:nvPr/>
        </p:nvSpPr>
        <p:spPr>
          <a:xfrm>
            <a:off x="868680" y="1261872"/>
            <a:ext cx="2194560" cy="256032"/>
          </a:xfrm>
          <a:prstGeom prst="rect">
            <a:avLst/>
          </a:prstGeom>
          <a:noFill/>
          <a:ln/>
        </p:spPr>
        <p:txBody>
          <a:bodyPr wrap="square" lIns="0" tIns="0" rIns="0" bIns="0" rtlCol="0" anchor="ctr"/>
          <a:lstStyle/>
          <a:p>
            <a:pPr algn="ctr" indent="0" marL="0">
              <a:buNone/>
            </a:pPr>
            <a:r>
              <a:rPr lang="en-US" sz="1150" b="1" dirty="0">
                <a:solidFill>
                  <a:srgbClr val="2A1F3D"/>
                </a:solidFill>
                <a:latin typeface="Calibri" pitchFamily="34" charset="0"/>
                <a:ea typeface="Calibri" pitchFamily="34" charset="-122"/>
                <a:cs typeface="Calibri" pitchFamily="34" charset="-120"/>
              </a:rPr>
              <a:t>concentrated</a:t>
            </a:r>
            <a:endParaRPr lang="en-US" sz="1150" dirty="0"/>
          </a:p>
        </p:txBody>
      </p:sp>
      <p:sp>
        <p:nvSpPr>
          <p:cNvPr id="13" name="Text 11"/>
          <p:cNvSpPr/>
          <p:nvPr/>
        </p:nvSpPr>
        <p:spPr>
          <a:xfrm>
            <a:off x="3383280" y="1261872"/>
            <a:ext cx="2194560" cy="256032"/>
          </a:xfrm>
          <a:prstGeom prst="rect">
            <a:avLst/>
          </a:prstGeom>
          <a:noFill/>
          <a:ln/>
        </p:spPr>
        <p:txBody>
          <a:bodyPr wrap="square" lIns="0" tIns="0" rIns="0" bIns="0" rtlCol="0" anchor="ctr"/>
          <a:lstStyle/>
          <a:p>
            <a:pPr algn="ctr" indent="0" marL="0">
              <a:buNone/>
            </a:pPr>
            <a:r>
              <a:rPr lang="en-US" sz="1150" b="1" dirty="0">
                <a:solidFill>
                  <a:srgbClr val="2A1F3D"/>
                </a:solidFill>
                <a:latin typeface="Calibri" pitchFamily="34" charset="0"/>
                <a:ea typeface="Calibri" pitchFamily="34" charset="-122"/>
                <a:cs typeface="Calibri" pitchFamily="34" charset="-120"/>
              </a:rPr>
              <a:t>dilute</a:t>
            </a:r>
            <a:endParaRPr lang="en-US" sz="1150" dirty="0"/>
          </a:p>
        </p:txBody>
      </p:sp>
      <p:sp>
        <p:nvSpPr>
          <p:cNvPr id="14" name="Shape 12"/>
          <p:cNvSpPr/>
          <p:nvPr/>
        </p:nvSpPr>
        <p:spPr>
          <a:xfrm>
            <a:off x="868680" y="1600200"/>
            <a:ext cx="2194560" cy="1325880"/>
          </a:xfrm>
          <a:prstGeom prst="rect">
            <a:avLst/>
          </a:prstGeom>
          <a:solidFill>
            <a:srgbClr val="EEF5FB"/>
          </a:solidFill>
          <a:ln/>
        </p:spPr>
      </p:sp>
      <p:sp>
        <p:nvSpPr>
          <p:cNvPr id="15" name="Shape 13"/>
          <p:cNvSpPr/>
          <p:nvPr/>
        </p:nvSpPr>
        <p:spPr>
          <a:xfrm>
            <a:off x="868680" y="1799082"/>
            <a:ext cx="2194560" cy="1126998"/>
          </a:xfrm>
          <a:prstGeom prst="rect">
            <a:avLst/>
          </a:prstGeom>
          <a:solidFill>
            <a:srgbClr val="F9E0DA"/>
          </a:solidFill>
          <a:ln/>
        </p:spPr>
      </p:sp>
      <p:sp>
        <p:nvSpPr>
          <p:cNvPr id="16" name="Shape 14"/>
          <p:cNvSpPr/>
          <p:nvPr/>
        </p:nvSpPr>
        <p:spPr>
          <a:xfrm>
            <a:off x="868680" y="1799082"/>
            <a:ext cx="2194560" cy="91"/>
          </a:xfrm>
          <a:prstGeom prst="line">
            <a:avLst/>
          </a:prstGeom>
          <a:noFill/>
          <a:ln w="12700">
            <a:solidFill>
              <a:srgbClr val="5B9BD5"/>
            </a:solidFill>
            <a:prstDash val="solid"/>
          </a:ln>
        </p:spPr>
      </p:sp>
      <p:sp>
        <p:nvSpPr>
          <p:cNvPr id="17" name="Shape 15"/>
          <p:cNvSpPr/>
          <p:nvPr/>
        </p:nvSpPr>
        <p:spPr>
          <a:xfrm>
            <a:off x="868680" y="1600200"/>
            <a:ext cx="91" cy="1325880"/>
          </a:xfrm>
          <a:prstGeom prst="line">
            <a:avLst/>
          </a:prstGeom>
          <a:noFill/>
          <a:ln w="19050">
            <a:solidFill>
              <a:srgbClr val="2A1F3D"/>
            </a:solidFill>
            <a:prstDash val="solid"/>
          </a:ln>
        </p:spPr>
      </p:sp>
      <p:sp>
        <p:nvSpPr>
          <p:cNvPr id="18" name="Shape 16"/>
          <p:cNvSpPr/>
          <p:nvPr/>
        </p:nvSpPr>
        <p:spPr>
          <a:xfrm>
            <a:off x="3063240" y="1600200"/>
            <a:ext cx="91" cy="1325880"/>
          </a:xfrm>
          <a:prstGeom prst="line">
            <a:avLst/>
          </a:prstGeom>
          <a:noFill/>
          <a:ln w="19050">
            <a:solidFill>
              <a:srgbClr val="2A1F3D"/>
            </a:solidFill>
            <a:prstDash val="solid"/>
          </a:ln>
        </p:spPr>
      </p:sp>
      <p:sp>
        <p:nvSpPr>
          <p:cNvPr id="19" name="Shape 17"/>
          <p:cNvSpPr/>
          <p:nvPr/>
        </p:nvSpPr>
        <p:spPr>
          <a:xfrm>
            <a:off x="868680" y="2926080"/>
            <a:ext cx="2194560" cy="91"/>
          </a:xfrm>
          <a:prstGeom prst="line">
            <a:avLst/>
          </a:prstGeom>
          <a:noFill/>
          <a:ln w="19050">
            <a:solidFill>
              <a:srgbClr val="2A1F3D"/>
            </a:solidFill>
            <a:prstDash val="solid"/>
          </a:ln>
        </p:spPr>
      </p:sp>
      <p:sp>
        <p:nvSpPr>
          <p:cNvPr id="20" name="Shape 18"/>
          <p:cNvSpPr/>
          <p:nvPr/>
        </p:nvSpPr>
        <p:spPr>
          <a:xfrm>
            <a:off x="813816" y="1600200"/>
            <a:ext cx="54864" cy="91"/>
          </a:xfrm>
          <a:prstGeom prst="line">
            <a:avLst/>
          </a:prstGeom>
          <a:noFill/>
          <a:ln w="19050">
            <a:solidFill>
              <a:srgbClr val="2A1F3D"/>
            </a:solidFill>
            <a:prstDash val="solid"/>
          </a:ln>
        </p:spPr>
      </p:sp>
      <p:sp>
        <p:nvSpPr>
          <p:cNvPr id="21" name="Shape 19"/>
          <p:cNvSpPr/>
          <p:nvPr/>
        </p:nvSpPr>
        <p:spPr>
          <a:xfrm>
            <a:off x="3063240" y="1600200"/>
            <a:ext cx="54864" cy="91"/>
          </a:xfrm>
          <a:prstGeom prst="line">
            <a:avLst/>
          </a:prstGeom>
          <a:noFill/>
          <a:ln w="19050">
            <a:solidFill>
              <a:srgbClr val="2A1F3D"/>
            </a:solidFill>
            <a:prstDash val="solid"/>
          </a:ln>
        </p:spPr>
      </p:sp>
      <p:sp>
        <p:nvSpPr>
          <p:cNvPr id="22" name="Text 20"/>
          <p:cNvSpPr/>
          <p:nvPr/>
        </p:nvSpPr>
        <p:spPr>
          <a:xfrm>
            <a:off x="868680" y="2971800"/>
            <a:ext cx="219456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strong, concentrated</a:t>
            </a:r>
            <a:endParaRPr lang="en-US" sz="1050" dirty="0"/>
          </a:p>
        </p:txBody>
      </p:sp>
      <p:sp>
        <p:nvSpPr>
          <p:cNvPr id="23" name="Shape 21"/>
          <p:cNvSpPr/>
          <p:nvPr/>
        </p:nvSpPr>
        <p:spPr>
          <a:xfrm>
            <a:off x="1078992" y="2029968"/>
            <a:ext cx="274320" cy="274320"/>
          </a:xfrm>
          <a:prstGeom prst="ellipse">
            <a:avLst/>
          </a:prstGeom>
          <a:solidFill>
            <a:srgbClr val="F6B0A8"/>
          </a:solidFill>
          <a:ln w="12700">
            <a:solidFill>
              <a:srgbClr val="B7372B"/>
            </a:solidFill>
            <a:prstDash val="solid"/>
          </a:ln>
        </p:spPr>
      </p:sp>
      <p:sp>
        <p:nvSpPr>
          <p:cNvPr id="24" name="Text 22"/>
          <p:cNvSpPr/>
          <p:nvPr/>
        </p:nvSpPr>
        <p:spPr>
          <a:xfrm>
            <a:off x="969264" y="2029968"/>
            <a:ext cx="493776"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t>
            </a:r>
            <a:endParaRPr lang="en-US" sz="1000" dirty="0"/>
          </a:p>
        </p:txBody>
      </p:sp>
      <p:sp>
        <p:nvSpPr>
          <p:cNvPr id="25" name="Shape 23"/>
          <p:cNvSpPr/>
          <p:nvPr/>
        </p:nvSpPr>
        <p:spPr>
          <a:xfrm>
            <a:off x="1581912" y="2029968"/>
            <a:ext cx="274320" cy="274320"/>
          </a:xfrm>
          <a:prstGeom prst="ellipse">
            <a:avLst/>
          </a:prstGeom>
          <a:solidFill>
            <a:srgbClr val="B9E0A8"/>
          </a:solidFill>
          <a:ln w="12700">
            <a:solidFill>
              <a:srgbClr val="3E7F2E"/>
            </a:solidFill>
            <a:prstDash val="solid"/>
          </a:ln>
        </p:spPr>
      </p:sp>
      <p:sp>
        <p:nvSpPr>
          <p:cNvPr id="26" name="Text 24"/>
          <p:cNvSpPr/>
          <p:nvPr/>
        </p:nvSpPr>
        <p:spPr>
          <a:xfrm>
            <a:off x="1472184" y="2029968"/>
            <a:ext cx="493776"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27" name="Shape 25"/>
          <p:cNvSpPr/>
          <p:nvPr/>
        </p:nvSpPr>
        <p:spPr>
          <a:xfrm>
            <a:off x="2084832" y="2029968"/>
            <a:ext cx="274320" cy="274320"/>
          </a:xfrm>
          <a:prstGeom prst="ellipse">
            <a:avLst/>
          </a:prstGeom>
          <a:solidFill>
            <a:srgbClr val="F6B0A8"/>
          </a:solidFill>
          <a:ln w="12700">
            <a:solidFill>
              <a:srgbClr val="B7372B"/>
            </a:solidFill>
            <a:prstDash val="solid"/>
          </a:ln>
        </p:spPr>
      </p:sp>
      <p:sp>
        <p:nvSpPr>
          <p:cNvPr id="28" name="Text 26"/>
          <p:cNvSpPr/>
          <p:nvPr/>
        </p:nvSpPr>
        <p:spPr>
          <a:xfrm>
            <a:off x="1975104" y="2029968"/>
            <a:ext cx="493776"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t>
            </a:r>
            <a:endParaRPr lang="en-US" sz="1000" dirty="0"/>
          </a:p>
        </p:txBody>
      </p:sp>
      <p:sp>
        <p:nvSpPr>
          <p:cNvPr id="29" name="Shape 27"/>
          <p:cNvSpPr/>
          <p:nvPr/>
        </p:nvSpPr>
        <p:spPr>
          <a:xfrm>
            <a:off x="2587752" y="2029968"/>
            <a:ext cx="274320" cy="274320"/>
          </a:xfrm>
          <a:prstGeom prst="ellipse">
            <a:avLst/>
          </a:prstGeom>
          <a:solidFill>
            <a:srgbClr val="B9E0A8"/>
          </a:solidFill>
          <a:ln w="12700">
            <a:solidFill>
              <a:srgbClr val="3E7F2E"/>
            </a:solidFill>
            <a:prstDash val="solid"/>
          </a:ln>
        </p:spPr>
      </p:sp>
      <p:sp>
        <p:nvSpPr>
          <p:cNvPr id="30" name="Text 28"/>
          <p:cNvSpPr/>
          <p:nvPr/>
        </p:nvSpPr>
        <p:spPr>
          <a:xfrm>
            <a:off x="2478024" y="2029968"/>
            <a:ext cx="493776"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31" name="Shape 29"/>
          <p:cNvSpPr/>
          <p:nvPr/>
        </p:nvSpPr>
        <p:spPr>
          <a:xfrm>
            <a:off x="1078992" y="2487168"/>
            <a:ext cx="274320" cy="274320"/>
          </a:xfrm>
          <a:prstGeom prst="ellipse">
            <a:avLst/>
          </a:prstGeom>
          <a:solidFill>
            <a:srgbClr val="B9E0A8"/>
          </a:solidFill>
          <a:ln w="12700">
            <a:solidFill>
              <a:srgbClr val="3E7F2E"/>
            </a:solidFill>
            <a:prstDash val="solid"/>
          </a:ln>
        </p:spPr>
      </p:sp>
      <p:sp>
        <p:nvSpPr>
          <p:cNvPr id="32" name="Text 30"/>
          <p:cNvSpPr/>
          <p:nvPr/>
        </p:nvSpPr>
        <p:spPr>
          <a:xfrm>
            <a:off x="969264" y="2487168"/>
            <a:ext cx="493776"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33" name="Shape 31"/>
          <p:cNvSpPr/>
          <p:nvPr/>
        </p:nvSpPr>
        <p:spPr>
          <a:xfrm>
            <a:off x="1581912" y="2487168"/>
            <a:ext cx="274320" cy="274320"/>
          </a:xfrm>
          <a:prstGeom prst="ellipse">
            <a:avLst/>
          </a:prstGeom>
          <a:solidFill>
            <a:srgbClr val="F6B0A8"/>
          </a:solidFill>
          <a:ln w="12700">
            <a:solidFill>
              <a:srgbClr val="B7372B"/>
            </a:solidFill>
            <a:prstDash val="solid"/>
          </a:ln>
        </p:spPr>
      </p:sp>
      <p:sp>
        <p:nvSpPr>
          <p:cNvPr id="34" name="Text 32"/>
          <p:cNvSpPr/>
          <p:nvPr/>
        </p:nvSpPr>
        <p:spPr>
          <a:xfrm>
            <a:off x="1472184" y="2487168"/>
            <a:ext cx="493776"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t>
            </a:r>
            <a:endParaRPr lang="en-US" sz="1000" dirty="0"/>
          </a:p>
        </p:txBody>
      </p:sp>
      <p:sp>
        <p:nvSpPr>
          <p:cNvPr id="35" name="Shape 33"/>
          <p:cNvSpPr/>
          <p:nvPr/>
        </p:nvSpPr>
        <p:spPr>
          <a:xfrm>
            <a:off x="2084832" y="2487168"/>
            <a:ext cx="274320" cy="274320"/>
          </a:xfrm>
          <a:prstGeom prst="ellipse">
            <a:avLst/>
          </a:prstGeom>
          <a:solidFill>
            <a:srgbClr val="B9E0A8"/>
          </a:solidFill>
          <a:ln w="12700">
            <a:solidFill>
              <a:srgbClr val="3E7F2E"/>
            </a:solidFill>
            <a:prstDash val="solid"/>
          </a:ln>
        </p:spPr>
      </p:sp>
      <p:sp>
        <p:nvSpPr>
          <p:cNvPr id="36" name="Text 34"/>
          <p:cNvSpPr/>
          <p:nvPr/>
        </p:nvSpPr>
        <p:spPr>
          <a:xfrm>
            <a:off x="1975104" y="2487168"/>
            <a:ext cx="493776"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37" name="Shape 35"/>
          <p:cNvSpPr/>
          <p:nvPr/>
        </p:nvSpPr>
        <p:spPr>
          <a:xfrm>
            <a:off x="2587752" y="2487168"/>
            <a:ext cx="274320" cy="274320"/>
          </a:xfrm>
          <a:prstGeom prst="ellipse">
            <a:avLst/>
          </a:prstGeom>
          <a:solidFill>
            <a:srgbClr val="F6B0A8"/>
          </a:solidFill>
          <a:ln w="12700">
            <a:solidFill>
              <a:srgbClr val="B7372B"/>
            </a:solidFill>
            <a:prstDash val="solid"/>
          </a:ln>
        </p:spPr>
      </p:sp>
      <p:sp>
        <p:nvSpPr>
          <p:cNvPr id="38" name="Text 36"/>
          <p:cNvSpPr/>
          <p:nvPr/>
        </p:nvSpPr>
        <p:spPr>
          <a:xfrm>
            <a:off x="2478024" y="2487168"/>
            <a:ext cx="493776"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t>
            </a:r>
            <a:endParaRPr lang="en-US" sz="1000" dirty="0"/>
          </a:p>
        </p:txBody>
      </p:sp>
      <p:sp>
        <p:nvSpPr>
          <p:cNvPr id="39" name="Shape 37"/>
          <p:cNvSpPr/>
          <p:nvPr/>
        </p:nvSpPr>
        <p:spPr>
          <a:xfrm>
            <a:off x="3383280" y="1600200"/>
            <a:ext cx="2194560" cy="1325880"/>
          </a:xfrm>
          <a:prstGeom prst="rect">
            <a:avLst/>
          </a:prstGeom>
          <a:solidFill>
            <a:srgbClr val="EEF5FB"/>
          </a:solidFill>
          <a:ln/>
        </p:spPr>
      </p:sp>
      <p:sp>
        <p:nvSpPr>
          <p:cNvPr id="40" name="Shape 38"/>
          <p:cNvSpPr/>
          <p:nvPr/>
        </p:nvSpPr>
        <p:spPr>
          <a:xfrm>
            <a:off x="3383280" y="1799082"/>
            <a:ext cx="2194560" cy="1126998"/>
          </a:xfrm>
          <a:prstGeom prst="rect">
            <a:avLst/>
          </a:prstGeom>
          <a:solidFill>
            <a:srgbClr val="F9E0DA"/>
          </a:solidFill>
          <a:ln/>
        </p:spPr>
      </p:sp>
      <p:sp>
        <p:nvSpPr>
          <p:cNvPr id="41" name="Shape 39"/>
          <p:cNvSpPr/>
          <p:nvPr/>
        </p:nvSpPr>
        <p:spPr>
          <a:xfrm>
            <a:off x="3383280" y="1799082"/>
            <a:ext cx="2194560" cy="91"/>
          </a:xfrm>
          <a:prstGeom prst="line">
            <a:avLst/>
          </a:prstGeom>
          <a:noFill/>
          <a:ln w="12700">
            <a:solidFill>
              <a:srgbClr val="5B9BD5"/>
            </a:solidFill>
            <a:prstDash val="solid"/>
          </a:ln>
        </p:spPr>
      </p:sp>
      <p:sp>
        <p:nvSpPr>
          <p:cNvPr id="42" name="Shape 40"/>
          <p:cNvSpPr/>
          <p:nvPr/>
        </p:nvSpPr>
        <p:spPr>
          <a:xfrm>
            <a:off x="3383280" y="1600200"/>
            <a:ext cx="91" cy="1325880"/>
          </a:xfrm>
          <a:prstGeom prst="line">
            <a:avLst/>
          </a:prstGeom>
          <a:noFill/>
          <a:ln w="19050">
            <a:solidFill>
              <a:srgbClr val="2A1F3D"/>
            </a:solidFill>
            <a:prstDash val="solid"/>
          </a:ln>
        </p:spPr>
      </p:sp>
      <p:sp>
        <p:nvSpPr>
          <p:cNvPr id="43" name="Shape 41"/>
          <p:cNvSpPr/>
          <p:nvPr/>
        </p:nvSpPr>
        <p:spPr>
          <a:xfrm>
            <a:off x="5577840" y="1600200"/>
            <a:ext cx="91" cy="1325880"/>
          </a:xfrm>
          <a:prstGeom prst="line">
            <a:avLst/>
          </a:prstGeom>
          <a:noFill/>
          <a:ln w="19050">
            <a:solidFill>
              <a:srgbClr val="2A1F3D"/>
            </a:solidFill>
            <a:prstDash val="solid"/>
          </a:ln>
        </p:spPr>
      </p:sp>
      <p:sp>
        <p:nvSpPr>
          <p:cNvPr id="44" name="Shape 42"/>
          <p:cNvSpPr/>
          <p:nvPr/>
        </p:nvSpPr>
        <p:spPr>
          <a:xfrm>
            <a:off x="3383280" y="2926080"/>
            <a:ext cx="2194560" cy="91"/>
          </a:xfrm>
          <a:prstGeom prst="line">
            <a:avLst/>
          </a:prstGeom>
          <a:noFill/>
          <a:ln w="19050">
            <a:solidFill>
              <a:srgbClr val="2A1F3D"/>
            </a:solidFill>
            <a:prstDash val="solid"/>
          </a:ln>
        </p:spPr>
      </p:sp>
      <p:sp>
        <p:nvSpPr>
          <p:cNvPr id="45" name="Shape 43"/>
          <p:cNvSpPr/>
          <p:nvPr/>
        </p:nvSpPr>
        <p:spPr>
          <a:xfrm>
            <a:off x="3328416" y="1600200"/>
            <a:ext cx="54864" cy="91"/>
          </a:xfrm>
          <a:prstGeom prst="line">
            <a:avLst/>
          </a:prstGeom>
          <a:noFill/>
          <a:ln w="19050">
            <a:solidFill>
              <a:srgbClr val="2A1F3D"/>
            </a:solidFill>
            <a:prstDash val="solid"/>
          </a:ln>
        </p:spPr>
      </p:sp>
      <p:sp>
        <p:nvSpPr>
          <p:cNvPr id="46" name="Shape 44"/>
          <p:cNvSpPr/>
          <p:nvPr/>
        </p:nvSpPr>
        <p:spPr>
          <a:xfrm>
            <a:off x="5577840" y="1600200"/>
            <a:ext cx="54864" cy="91"/>
          </a:xfrm>
          <a:prstGeom prst="line">
            <a:avLst/>
          </a:prstGeom>
          <a:noFill/>
          <a:ln w="19050">
            <a:solidFill>
              <a:srgbClr val="2A1F3D"/>
            </a:solidFill>
            <a:prstDash val="solid"/>
          </a:ln>
        </p:spPr>
      </p:sp>
      <p:sp>
        <p:nvSpPr>
          <p:cNvPr id="47" name="Text 45"/>
          <p:cNvSpPr/>
          <p:nvPr/>
        </p:nvSpPr>
        <p:spPr>
          <a:xfrm>
            <a:off x="3383280" y="2971800"/>
            <a:ext cx="219456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strong, dilute</a:t>
            </a:r>
            <a:endParaRPr lang="en-US" sz="1050" dirty="0"/>
          </a:p>
        </p:txBody>
      </p:sp>
      <p:sp>
        <p:nvSpPr>
          <p:cNvPr id="48" name="Shape 46"/>
          <p:cNvSpPr/>
          <p:nvPr/>
        </p:nvSpPr>
        <p:spPr>
          <a:xfrm>
            <a:off x="3593592" y="2029968"/>
            <a:ext cx="274320" cy="274320"/>
          </a:xfrm>
          <a:prstGeom prst="ellipse">
            <a:avLst/>
          </a:prstGeom>
          <a:solidFill>
            <a:srgbClr val="F6B0A8"/>
          </a:solidFill>
          <a:ln w="12700">
            <a:solidFill>
              <a:srgbClr val="B7372B"/>
            </a:solidFill>
            <a:prstDash val="solid"/>
          </a:ln>
        </p:spPr>
      </p:sp>
      <p:sp>
        <p:nvSpPr>
          <p:cNvPr id="49" name="Text 47"/>
          <p:cNvSpPr/>
          <p:nvPr/>
        </p:nvSpPr>
        <p:spPr>
          <a:xfrm>
            <a:off x="3483864" y="2029968"/>
            <a:ext cx="493776"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t>
            </a:r>
            <a:endParaRPr lang="en-US" sz="1000" dirty="0"/>
          </a:p>
        </p:txBody>
      </p:sp>
      <p:sp>
        <p:nvSpPr>
          <p:cNvPr id="50" name="Shape 48"/>
          <p:cNvSpPr/>
          <p:nvPr/>
        </p:nvSpPr>
        <p:spPr>
          <a:xfrm>
            <a:off x="5102352" y="2029968"/>
            <a:ext cx="274320" cy="274320"/>
          </a:xfrm>
          <a:prstGeom prst="ellipse">
            <a:avLst/>
          </a:prstGeom>
          <a:solidFill>
            <a:srgbClr val="B9E0A8"/>
          </a:solidFill>
          <a:ln w="12700">
            <a:solidFill>
              <a:srgbClr val="3E7F2E"/>
            </a:solidFill>
            <a:prstDash val="solid"/>
          </a:ln>
        </p:spPr>
      </p:sp>
      <p:sp>
        <p:nvSpPr>
          <p:cNvPr id="51" name="Text 49"/>
          <p:cNvSpPr/>
          <p:nvPr/>
        </p:nvSpPr>
        <p:spPr>
          <a:xfrm>
            <a:off x="4992624" y="2029968"/>
            <a:ext cx="493776"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52" name="Shape 50"/>
          <p:cNvSpPr/>
          <p:nvPr/>
        </p:nvSpPr>
        <p:spPr>
          <a:xfrm>
            <a:off x="4096512" y="2487168"/>
            <a:ext cx="274320" cy="274320"/>
          </a:xfrm>
          <a:prstGeom prst="ellipse">
            <a:avLst/>
          </a:prstGeom>
          <a:solidFill>
            <a:srgbClr val="B9E0A8"/>
          </a:solidFill>
          <a:ln w="12700">
            <a:solidFill>
              <a:srgbClr val="3E7F2E"/>
            </a:solidFill>
            <a:prstDash val="solid"/>
          </a:ln>
        </p:spPr>
      </p:sp>
      <p:sp>
        <p:nvSpPr>
          <p:cNvPr id="53" name="Text 51"/>
          <p:cNvSpPr/>
          <p:nvPr/>
        </p:nvSpPr>
        <p:spPr>
          <a:xfrm>
            <a:off x="3986784" y="2487168"/>
            <a:ext cx="493776"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54" name="Shape 52"/>
          <p:cNvSpPr/>
          <p:nvPr/>
        </p:nvSpPr>
        <p:spPr>
          <a:xfrm>
            <a:off x="4599432" y="2487168"/>
            <a:ext cx="274320" cy="274320"/>
          </a:xfrm>
          <a:prstGeom prst="ellipse">
            <a:avLst/>
          </a:prstGeom>
          <a:solidFill>
            <a:srgbClr val="F6B0A8"/>
          </a:solidFill>
          <a:ln w="12700">
            <a:solidFill>
              <a:srgbClr val="B7372B"/>
            </a:solidFill>
            <a:prstDash val="solid"/>
          </a:ln>
        </p:spPr>
      </p:sp>
      <p:sp>
        <p:nvSpPr>
          <p:cNvPr id="55" name="Text 53"/>
          <p:cNvSpPr/>
          <p:nvPr/>
        </p:nvSpPr>
        <p:spPr>
          <a:xfrm>
            <a:off x="4489704" y="2487168"/>
            <a:ext cx="493776"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t>
            </a:r>
            <a:endParaRPr lang="en-US" sz="1000" dirty="0"/>
          </a:p>
        </p:txBody>
      </p:sp>
      <p:sp>
        <p:nvSpPr>
          <p:cNvPr id="56" name="Shape 54"/>
          <p:cNvSpPr/>
          <p:nvPr/>
        </p:nvSpPr>
        <p:spPr>
          <a:xfrm>
            <a:off x="868680" y="3566160"/>
            <a:ext cx="2194560" cy="1325880"/>
          </a:xfrm>
          <a:prstGeom prst="rect">
            <a:avLst/>
          </a:prstGeom>
          <a:solidFill>
            <a:srgbClr val="EEF5FB"/>
          </a:solidFill>
          <a:ln/>
        </p:spPr>
      </p:sp>
      <p:sp>
        <p:nvSpPr>
          <p:cNvPr id="57" name="Shape 55"/>
          <p:cNvSpPr/>
          <p:nvPr/>
        </p:nvSpPr>
        <p:spPr>
          <a:xfrm>
            <a:off x="868680" y="3765042"/>
            <a:ext cx="2194560" cy="1126998"/>
          </a:xfrm>
          <a:prstGeom prst="rect">
            <a:avLst/>
          </a:prstGeom>
          <a:solidFill>
            <a:srgbClr val="F2F6E6"/>
          </a:solidFill>
          <a:ln/>
        </p:spPr>
      </p:sp>
      <p:sp>
        <p:nvSpPr>
          <p:cNvPr id="58" name="Shape 56"/>
          <p:cNvSpPr/>
          <p:nvPr/>
        </p:nvSpPr>
        <p:spPr>
          <a:xfrm>
            <a:off x="868680" y="3765042"/>
            <a:ext cx="2194560" cy="91"/>
          </a:xfrm>
          <a:prstGeom prst="line">
            <a:avLst/>
          </a:prstGeom>
          <a:noFill/>
          <a:ln w="12700">
            <a:solidFill>
              <a:srgbClr val="5B9BD5"/>
            </a:solidFill>
            <a:prstDash val="solid"/>
          </a:ln>
        </p:spPr>
      </p:sp>
      <p:sp>
        <p:nvSpPr>
          <p:cNvPr id="59" name="Shape 57"/>
          <p:cNvSpPr/>
          <p:nvPr/>
        </p:nvSpPr>
        <p:spPr>
          <a:xfrm>
            <a:off x="868680" y="3566160"/>
            <a:ext cx="91" cy="1325880"/>
          </a:xfrm>
          <a:prstGeom prst="line">
            <a:avLst/>
          </a:prstGeom>
          <a:noFill/>
          <a:ln w="19050">
            <a:solidFill>
              <a:srgbClr val="2A1F3D"/>
            </a:solidFill>
            <a:prstDash val="solid"/>
          </a:ln>
        </p:spPr>
      </p:sp>
      <p:sp>
        <p:nvSpPr>
          <p:cNvPr id="60" name="Shape 58"/>
          <p:cNvSpPr/>
          <p:nvPr/>
        </p:nvSpPr>
        <p:spPr>
          <a:xfrm>
            <a:off x="3063240" y="3566160"/>
            <a:ext cx="91" cy="1325880"/>
          </a:xfrm>
          <a:prstGeom prst="line">
            <a:avLst/>
          </a:prstGeom>
          <a:noFill/>
          <a:ln w="19050">
            <a:solidFill>
              <a:srgbClr val="2A1F3D"/>
            </a:solidFill>
            <a:prstDash val="solid"/>
          </a:ln>
        </p:spPr>
      </p:sp>
      <p:sp>
        <p:nvSpPr>
          <p:cNvPr id="61" name="Shape 59"/>
          <p:cNvSpPr/>
          <p:nvPr/>
        </p:nvSpPr>
        <p:spPr>
          <a:xfrm>
            <a:off x="868680" y="4892040"/>
            <a:ext cx="2194560" cy="91"/>
          </a:xfrm>
          <a:prstGeom prst="line">
            <a:avLst/>
          </a:prstGeom>
          <a:noFill/>
          <a:ln w="19050">
            <a:solidFill>
              <a:srgbClr val="2A1F3D"/>
            </a:solidFill>
            <a:prstDash val="solid"/>
          </a:ln>
        </p:spPr>
      </p:sp>
      <p:sp>
        <p:nvSpPr>
          <p:cNvPr id="62" name="Shape 60"/>
          <p:cNvSpPr/>
          <p:nvPr/>
        </p:nvSpPr>
        <p:spPr>
          <a:xfrm>
            <a:off x="813816" y="3566160"/>
            <a:ext cx="54864" cy="91"/>
          </a:xfrm>
          <a:prstGeom prst="line">
            <a:avLst/>
          </a:prstGeom>
          <a:noFill/>
          <a:ln w="19050">
            <a:solidFill>
              <a:srgbClr val="2A1F3D"/>
            </a:solidFill>
            <a:prstDash val="solid"/>
          </a:ln>
        </p:spPr>
      </p:sp>
      <p:sp>
        <p:nvSpPr>
          <p:cNvPr id="63" name="Shape 61"/>
          <p:cNvSpPr/>
          <p:nvPr/>
        </p:nvSpPr>
        <p:spPr>
          <a:xfrm>
            <a:off x="3063240" y="3566160"/>
            <a:ext cx="54864" cy="91"/>
          </a:xfrm>
          <a:prstGeom prst="line">
            <a:avLst/>
          </a:prstGeom>
          <a:noFill/>
          <a:ln w="19050">
            <a:solidFill>
              <a:srgbClr val="2A1F3D"/>
            </a:solidFill>
            <a:prstDash val="solid"/>
          </a:ln>
        </p:spPr>
      </p:sp>
      <p:sp>
        <p:nvSpPr>
          <p:cNvPr id="64" name="Text 62"/>
          <p:cNvSpPr/>
          <p:nvPr/>
        </p:nvSpPr>
        <p:spPr>
          <a:xfrm>
            <a:off x="868680" y="4937760"/>
            <a:ext cx="2194560" cy="256032"/>
          </a:xfrm>
          <a:prstGeom prst="rect">
            <a:avLst/>
          </a:prstGeom>
          <a:noFill/>
          <a:ln/>
        </p:spPr>
        <p:txBody>
          <a:bodyPr wrap="square" lIns="0" tIns="0" rIns="0" bIns="0" rtlCol="0" anchor="ctr"/>
          <a:lstStyle/>
          <a:p>
            <a:pPr algn="ctr" indent="0" marL="0">
              <a:buNone/>
            </a:pPr>
            <a:r>
              <a:rPr lang="en-US" sz="1050" b="1" dirty="0">
                <a:solidFill>
                  <a:srgbClr val="4E7A35"/>
                </a:solidFill>
                <a:latin typeface="Calibri" pitchFamily="34" charset="0"/>
                <a:ea typeface="Calibri" pitchFamily="34" charset="-122"/>
                <a:cs typeface="Calibri" pitchFamily="34" charset="-120"/>
              </a:rPr>
              <a:t>weak, concentrated</a:t>
            </a:r>
            <a:endParaRPr lang="en-US" sz="1050" dirty="0"/>
          </a:p>
        </p:txBody>
      </p:sp>
      <p:sp>
        <p:nvSpPr>
          <p:cNvPr id="65" name="Shape 63"/>
          <p:cNvSpPr/>
          <p:nvPr/>
        </p:nvSpPr>
        <p:spPr>
          <a:xfrm>
            <a:off x="1014984" y="4023360"/>
            <a:ext cx="219456" cy="219456"/>
          </a:xfrm>
          <a:prstGeom prst="ellipse">
            <a:avLst/>
          </a:prstGeom>
          <a:solidFill>
            <a:srgbClr val="F6B0A8"/>
          </a:solidFill>
          <a:ln w="12700">
            <a:solidFill>
              <a:srgbClr val="B7372B"/>
            </a:solidFill>
            <a:prstDash val="solid"/>
          </a:ln>
        </p:spPr>
      </p:sp>
      <p:sp>
        <p:nvSpPr>
          <p:cNvPr id="66" name="Shape 64"/>
          <p:cNvSpPr/>
          <p:nvPr/>
        </p:nvSpPr>
        <p:spPr>
          <a:xfrm>
            <a:off x="1188720" y="3995928"/>
            <a:ext cx="274320" cy="274320"/>
          </a:xfrm>
          <a:prstGeom prst="ellipse">
            <a:avLst/>
          </a:prstGeom>
          <a:solidFill>
            <a:srgbClr val="D6E9C6"/>
          </a:solidFill>
          <a:ln w="12700">
            <a:solidFill>
              <a:srgbClr val="4E7A35"/>
            </a:solidFill>
            <a:prstDash val="solid"/>
          </a:ln>
        </p:spPr>
      </p:sp>
      <p:sp>
        <p:nvSpPr>
          <p:cNvPr id="67" name="Text 65"/>
          <p:cNvSpPr/>
          <p:nvPr/>
        </p:nvSpPr>
        <p:spPr>
          <a:xfrm>
            <a:off x="941832" y="3995928"/>
            <a:ext cx="548640"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a:t>
            </a:r>
            <a:endParaRPr lang="en-US" sz="1000" dirty="0"/>
          </a:p>
        </p:txBody>
      </p:sp>
      <p:sp>
        <p:nvSpPr>
          <p:cNvPr id="68" name="Shape 66"/>
          <p:cNvSpPr/>
          <p:nvPr/>
        </p:nvSpPr>
        <p:spPr>
          <a:xfrm>
            <a:off x="2020824" y="4023360"/>
            <a:ext cx="219456" cy="219456"/>
          </a:xfrm>
          <a:prstGeom prst="ellipse">
            <a:avLst/>
          </a:prstGeom>
          <a:solidFill>
            <a:srgbClr val="F6B0A8"/>
          </a:solidFill>
          <a:ln w="12700">
            <a:solidFill>
              <a:srgbClr val="B7372B"/>
            </a:solidFill>
            <a:prstDash val="solid"/>
          </a:ln>
        </p:spPr>
      </p:sp>
      <p:sp>
        <p:nvSpPr>
          <p:cNvPr id="69" name="Shape 67"/>
          <p:cNvSpPr/>
          <p:nvPr/>
        </p:nvSpPr>
        <p:spPr>
          <a:xfrm>
            <a:off x="2194560" y="3995928"/>
            <a:ext cx="274320" cy="274320"/>
          </a:xfrm>
          <a:prstGeom prst="ellipse">
            <a:avLst/>
          </a:prstGeom>
          <a:solidFill>
            <a:srgbClr val="D6E9C6"/>
          </a:solidFill>
          <a:ln w="12700">
            <a:solidFill>
              <a:srgbClr val="4E7A35"/>
            </a:solidFill>
            <a:prstDash val="solid"/>
          </a:ln>
        </p:spPr>
      </p:sp>
      <p:sp>
        <p:nvSpPr>
          <p:cNvPr id="70" name="Text 68"/>
          <p:cNvSpPr/>
          <p:nvPr/>
        </p:nvSpPr>
        <p:spPr>
          <a:xfrm>
            <a:off x="1947672" y="3995928"/>
            <a:ext cx="548640"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a:t>
            </a:r>
            <a:endParaRPr lang="en-US" sz="1000" dirty="0"/>
          </a:p>
        </p:txBody>
      </p:sp>
      <p:sp>
        <p:nvSpPr>
          <p:cNvPr id="71" name="Shape 69"/>
          <p:cNvSpPr/>
          <p:nvPr/>
        </p:nvSpPr>
        <p:spPr>
          <a:xfrm>
            <a:off x="2523744" y="4023360"/>
            <a:ext cx="219456" cy="219456"/>
          </a:xfrm>
          <a:prstGeom prst="ellipse">
            <a:avLst/>
          </a:prstGeom>
          <a:solidFill>
            <a:srgbClr val="F6B0A8"/>
          </a:solidFill>
          <a:ln w="12700">
            <a:solidFill>
              <a:srgbClr val="B7372B"/>
            </a:solidFill>
            <a:prstDash val="solid"/>
          </a:ln>
        </p:spPr>
      </p:sp>
      <p:sp>
        <p:nvSpPr>
          <p:cNvPr id="72" name="Shape 70"/>
          <p:cNvSpPr/>
          <p:nvPr/>
        </p:nvSpPr>
        <p:spPr>
          <a:xfrm>
            <a:off x="2697480" y="3995928"/>
            <a:ext cx="274320" cy="274320"/>
          </a:xfrm>
          <a:prstGeom prst="ellipse">
            <a:avLst/>
          </a:prstGeom>
          <a:solidFill>
            <a:srgbClr val="D6E9C6"/>
          </a:solidFill>
          <a:ln w="12700">
            <a:solidFill>
              <a:srgbClr val="4E7A35"/>
            </a:solidFill>
            <a:prstDash val="solid"/>
          </a:ln>
        </p:spPr>
      </p:sp>
      <p:sp>
        <p:nvSpPr>
          <p:cNvPr id="73" name="Text 71"/>
          <p:cNvSpPr/>
          <p:nvPr/>
        </p:nvSpPr>
        <p:spPr>
          <a:xfrm>
            <a:off x="2450592" y="3995928"/>
            <a:ext cx="548640"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a:t>
            </a:r>
            <a:endParaRPr lang="en-US" sz="1000" dirty="0"/>
          </a:p>
        </p:txBody>
      </p:sp>
      <p:sp>
        <p:nvSpPr>
          <p:cNvPr id="74" name="Shape 72"/>
          <p:cNvSpPr/>
          <p:nvPr/>
        </p:nvSpPr>
        <p:spPr>
          <a:xfrm>
            <a:off x="1014984" y="4480560"/>
            <a:ext cx="219456" cy="219456"/>
          </a:xfrm>
          <a:prstGeom prst="ellipse">
            <a:avLst/>
          </a:prstGeom>
          <a:solidFill>
            <a:srgbClr val="F6B0A8"/>
          </a:solidFill>
          <a:ln w="12700">
            <a:solidFill>
              <a:srgbClr val="B7372B"/>
            </a:solidFill>
            <a:prstDash val="solid"/>
          </a:ln>
        </p:spPr>
      </p:sp>
      <p:sp>
        <p:nvSpPr>
          <p:cNvPr id="75" name="Shape 73"/>
          <p:cNvSpPr/>
          <p:nvPr/>
        </p:nvSpPr>
        <p:spPr>
          <a:xfrm>
            <a:off x="1188720" y="4453128"/>
            <a:ext cx="274320" cy="274320"/>
          </a:xfrm>
          <a:prstGeom prst="ellipse">
            <a:avLst/>
          </a:prstGeom>
          <a:solidFill>
            <a:srgbClr val="D6E9C6"/>
          </a:solidFill>
          <a:ln w="12700">
            <a:solidFill>
              <a:srgbClr val="4E7A35"/>
            </a:solidFill>
            <a:prstDash val="solid"/>
          </a:ln>
        </p:spPr>
      </p:sp>
      <p:sp>
        <p:nvSpPr>
          <p:cNvPr id="76" name="Text 74"/>
          <p:cNvSpPr/>
          <p:nvPr/>
        </p:nvSpPr>
        <p:spPr>
          <a:xfrm>
            <a:off x="941832" y="4453128"/>
            <a:ext cx="548640"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a:t>
            </a:r>
            <a:endParaRPr lang="en-US" sz="1000" dirty="0"/>
          </a:p>
        </p:txBody>
      </p:sp>
      <p:sp>
        <p:nvSpPr>
          <p:cNvPr id="77" name="Shape 75"/>
          <p:cNvSpPr/>
          <p:nvPr/>
        </p:nvSpPr>
        <p:spPr>
          <a:xfrm>
            <a:off x="1517904" y="4480560"/>
            <a:ext cx="219456" cy="219456"/>
          </a:xfrm>
          <a:prstGeom prst="ellipse">
            <a:avLst/>
          </a:prstGeom>
          <a:solidFill>
            <a:srgbClr val="F6B0A8"/>
          </a:solidFill>
          <a:ln w="12700">
            <a:solidFill>
              <a:srgbClr val="B7372B"/>
            </a:solidFill>
            <a:prstDash val="solid"/>
          </a:ln>
        </p:spPr>
      </p:sp>
      <p:sp>
        <p:nvSpPr>
          <p:cNvPr id="78" name="Shape 76"/>
          <p:cNvSpPr/>
          <p:nvPr/>
        </p:nvSpPr>
        <p:spPr>
          <a:xfrm>
            <a:off x="1691640" y="4453128"/>
            <a:ext cx="274320" cy="274320"/>
          </a:xfrm>
          <a:prstGeom prst="ellipse">
            <a:avLst/>
          </a:prstGeom>
          <a:solidFill>
            <a:srgbClr val="D6E9C6"/>
          </a:solidFill>
          <a:ln w="12700">
            <a:solidFill>
              <a:srgbClr val="4E7A35"/>
            </a:solidFill>
            <a:prstDash val="solid"/>
          </a:ln>
        </p:spPr>
      </p:sp>
      <p:sp>
        <p:nvSpPr>
          <p:cNvPr id="79" name="Text 77"/>
          <p:cNvSpPr/>
          <p:nvPr/>
        </p:nvSpPr>
        <p:spPr>
          <a:xfrm>
            <a:off x="1444752" y="4453128"/>
            <a:ext cx="548640"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a:t>
            </a:r>
            <a:endParaRPr lang="en-US" sz="1000" dirty="0"/>
          </a:p>
        </p:txBody>
      </p:sp>
      <p:sp>
        <p:nvSpPr>
          <p:cNvPr id="80" name="Shape 78"/>
          <p:cNvSpPr/>
          <p:nvPr/>
        </p:nvSpPr>
        <p:spPr>
          <a:xfrm>
            <a:off x="2523744" y="4480560"/>
            <a:ext cx="219456" cy="219456"/>
          </a:xfrm>
          <a:prstGeom prst="ellipse">
            <a:avLst/>
          </a:prstGeom>
          <a:solidFill>
            <a:srgbClr val="F6B0A8"/>
          </a:solidFill>
          <a:ln w="12700">
            <a:solidFill>
              <a:srgbClr val="B7372B"/>
            </a:solidFill>
            <a:prstDash val="solid"/>
          </a:ln>
        </p:spPr>
      </p:sp>
      <p:sp>
        <p:nvSpPr>
          <p:cNvPr id="81" name="Shape 79"/>
          <p:cNvSpPr/>
          <p:nvPr/>
        </p:nvSpPr>
        <p:spPr>
          <a:xfrm>
            <a:off x="2697480" y="4453128"/>
            <a:ext cx="274320" cy="274320"/>
          </a:xfrm>
          <a:prstGeom prst="ellipse">
            <a:avLst/>
          </a:prstGeom>
          <a:solidFill>
            <a:srgbClr val="D6E9C6"/>
          </a:solidFill>
          <a:ln w="12700">
            <a:solidFill>
              <a:srgbClr val="4E7A35"/>
            </a:solidFill>
            <a:prstDash val="solid"/>
          </a:ln>
        </p:spPr>
      </p:sp>
      <p:sp>
        <p:nvSpPr>
          <p:cNvPr id="82" name="Text 80"/>
          <p:cNvSpPr/>
          <p:nvPr/>
        </p:nvSpPr>
        <p:spPr>
          <a:xfrm>
            <a:off x="2450592" y="4453128"/>
            <a:ext cx="548640"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a:t>
            </a:r>
            <a:endParaRPr lang="en-US" sz="1000" dirty="0"/>
          </a:p>
        </p:txBody>
      </p:sp>
      <p:sp>
        <p:nvSpPr>
          <p:cNvPr id="83" name="Shape 81"/>
          <p:cNvSpPr/>
          <p:nvPr/>
        </p:nvSpPr>
        <p:spPr>
          <a:xfrm>
            <a:off x="1581912" y="3995928"/>
            <a:ext cx="274320" cy="274320"/>
          </a:xfrm>
          <a:prstGeom prst="ellipse">
            <a:avLst/>
          </a:prstGeom>
          <a:solidFill>
            <a:srgbClr val="F6B0A8"/>
          </a:solidFill>
          <a:ln w="12700">
            <a:solidFill>
              <a:srgbClr val="B7372B"/>
            </a:solidFill>
            <a:prstDash val="solid"/>
          </a:ln>
        </p:spPr>
      </p:sp>
      <p:sp>
        <p:nvSpPr>
          <p:cNvPr id="84" name="Text 82"/>
          <p:cNvSpPr/>
          <p:nvPr/>
        </p:nvSpPr>
        <p:spPr>
          <a:xfrm>
            <a:off x="1472184" y="3995928"/>
            <a:ext cx="493776"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t>
            </a:r>
            <a:endParaRPr lang="en-US" sz="1000" dirty="0"/>
          </a:p>
        </p:txBody>
      </p:sp>
      <p:sp>
        <p:nvSpPr>
          <p:cNvPr id="85" name="Shape 83"/>
          <p:cNvSpPr/>
          <p:nvPr/>
        </p:nvSpPr>
        <p:spPr>
          <a:xfrm>
            <a:off x="2084832" y="4453128"/>
            <a:ext cx="274320" cy="274320"/>
          </a:xfrm>
          <a:prstGeom prst="ellipse">
            <a:avLst/>
          </a:prstGeom>
          <a:solidFill>
            <a:srgbClr val="D6E9C6"/>
          </a:solidFill>
          <a:ln w="12700">
            <a:solidFill>
              <a:srgbClr val="4E7A35"/>
            </a:solidFill>
            <a:prstDash val="solid"/>
          </a:ln>
        </p:spPr>
      </p:sp>
      <p:sp>
        <p:nvSpPr>
          <p:cNvPr id="86" name="Text 84"/>
          <p:cNvSpPr/>
          <p:nvPr/>
        </p:nvSpPr>
        <p:spPr>
          <a:xfrm>
            <a:off x="1975104" y="4453128"/>
            <a:ext cx="493776"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A⁻</a:t>
            </a:r>
            <a:endParaRPr lang="en-US" sz="1000" dirty="0"/>
          </a:p>
        </p:txBody>
      </p:sp>
      <p:sp>
        <p:nvSpPr>
          <p:cNvPr id="87" name="Shape 85"/>
          <p:cNvSpPr/>
          <p:nvPr/>
        </p:nvSpPr>
        <p:spPr>
          <a:xfrm>
            <a:off x="3383280" y="3566160"/>
            <a:ext cx="2194560" cy="1325880"/>
          </a:xfrm>
          <a:prstGeom prst="rect">
            <a:avLst/>
          </a:prstGeom>
          <a:solidFill>
            <a:srgbClr val="EEF5FB"/>
          </a:solidFill>
          <a:ln/>
        </p:spPr>
      </p:sp>
      <p:sp>
        <p:nvSpPr>
          <p:cNvPr id="88" name="Shape 86"/>
          <p:cNvSpPr/>
          <p:nvPr/>
        </p:nvSpPr>
        <p:spPr>
          <a:xfrm>
            <a:off x="3383280" y="3765042"/>
            <a:ext cx="2194560" cy="1126998"/>
          </a:xfrm>
          <a:prstGeom prst="rect">
            <a:avLst/>
          </a:prstGeom>
          <a:solidFill>
            <a:srgbClr val="F2F6E6"/>
          </a:solidFill>
          <a:ln/>
        </p:spPr>
      </p:sp>
      <p:sp>
        <p:nvSpPr>
          <p:cNvPr id="89" name="Shape 87"/>
          <p:cNvSpPr/>
          <p:nvPr/>
        </p:nvSpPr>
        <p:spPr>
          <a:xfrm>
            <a:off x="3383280" y="3765042"/>
            <a:ext cx="2194560" cy="91"/>
          </a:xfrm>
          <a:prstGeom prst="line">
            <a:avLst/>
          </a:prstGeom>
          <a:noFill/>
          <a:ln w="12700">
            <a:solidFill>
              <a:srgbClr val="5B9BD5"/>
            </a:solidFill>
            <a:prstDash val="solid"/>
          </a:ln>
        </p:spPr>
      </p:sp>
      <p:sp>
        <p:nvSpPr>
          <p:cNvPr id="90" name="Shape 88"/>
          <p:cNvSpPr/>
          <p:nvPr/>
        </p:nvSpPr>
        <p:spPr>
          <a:xfrm>
            <a:off x="3383280" y="3566160"/>
            <a:ext cx="91" cy="1325880"/>
          </a:xfrm>
          <a:prstGeom prst="line">
            <a:avLst/>
          </a:prstGeom>
          <a:noFill/>
          <a:ln w="19050">
            <a:solidFill>
              <a:srgbClr val="2A1F3D"/>
            </a:solidFill>
            <a:prstDash val="solid"/>
          </a:ln>
        </p:spPr>
      </p:sp>
      <p:sp>
        <p:nvSpPr>
          <p:cNvPr id="91" name="Shape 89"/>
          <p:cNvSpPr/>
          <p:nvPr/>
        </p:nvSpPr>
        <p:spPr>
          <a:xfrm>
            <a:off x="5577840" y="3566160"/>
            <a:ext cx="91" cy="1325880"/>
          </a:xfrm>
          <a:prstGeom prst="line">
            <a:avLst/>
          </a:prstGeom>
          <a:noFill/>
          <a:ln w="19050">
            <a:solidFill>
              <a:srgbClr val="2A1F3D"/>
            </a:solidFill>
            <a:prstDash val="solid"/>
          </a:ln>
        </p:spPr>
      </p:sp>
      <p:sp>
        <p:nvSpPr>
          <p:cNvPr id="92" name="Shape 90"/>
          <p:cNvSpPr/>
          <p:nvPr/>
        </p:nvSpPr>
        <p:spPr>
          <a:xfrm>
            <a:off x="3383280" y="4892040"/>
            <a:ext cx="2194560" cy="91"/>
          </a:xfrm>
          <a:prstGeom prst="line">
            <a:avLst/>
          </a:prstGeom>
          <a:noFill/>
          <a:ln w="19050">
            <a:solidFill>
              <a:srgbClr val="2A1F3D"/>
            </a:solidFill>
            <a:prstDash val="solid"/>
          </a:ln>
        </p:spPr>
      </p:sp>
      <p:sp>
        <p:nvSpPr>
          <p:cNvPr id="93" name="Shape 91"/>
          <p:cNvSpPr/>
          <p:nvPr/>
        </p:nvSpPr>
        <p:spPr>
          <a:xfrm>
            <a:off x="3328416" y="3566160"/>
            <a:ext cx="54864" cy="91"/>
          </a:xfrm>
          <a:prstGeom prst="line">
            <a:avLst/>
          </a:prstGeom>
          <a:noFill/>
          <a:ln w="19050">
            <a:solidFill>
              <a:srgbClr val="2A1F3D"/>
            </a:solidFill>
            <a:prstDash val="solid"/>
          </a:ln>
        </p:spPr>
      </p:sp>
      <p:sp>
        <p:nvSpPr>
          <p:cNvPr id="94" name="Shape 92"/>
          <p:cNvSpPr/>
          <p:nvPr/>
        </p:nvSpPr>
        <p:spPr>
          <a:xfrm>
            <a:off x="5577840" y="3566160"/>
            <a:ext cx="54864" cy="91"/>
          </a:xfrm>
          <a:prstGeom prst="line">
            <a:avLst/>
          </a:prstGeom>
          <a:noFill/>
          <a:ln w="19050">
            <a:solidFill>
              <a:srgbClr val="2A1F3D"/>
            </a:solidFill>
            <a:prstDash val="solid"/>
          </a:ln>
        </p:spPr>
      </p:sp>
      <p:sp>
        <p:nvSpPr>
          <p:cNvPr id="95" name="Text 93"/>
          <p:cNvSpPr/>
          <p:nvPr/>
        </p:nvSpPr>
        <p:spPr>
          <a:xfrm>
            <a:off x="3383280" y="4937760"/>
            <a:ext cx="2194560" cy="256032"/>
          </a:xfrm>
          <a:prstGeom prst="rect">
            <a:avLst/>
          </a:prstGeom>
          <a:noFill/>
          <a:ln/>
        </p:spPr>
        <p:txBody>
          <a:bodyPr wrap="square" lIns="0" tIns="0" rIns="0" bIns="0" rtlCol="0" anchor="ctr"/>
          <a:lstStyle/>
          <a:p>
            <a:pPr algn="ctr" indent="0" marL="0">
              <a:buNone/>
            </a:pPr>
            <a:r>
              <a:rPr lang="en-US" sz="1050" b="1" dirty="0">
                <a:solidFill>
                  <a:srgbClr val="4E7A35"/>
                </a:solidFill>
                <a:latin typeface="Calibri" pitchFamily="34" charset="0"/>
                <a:ea typeface="Calibri" pitchFamily="34" charset="-122"/>
                <a:cs typeface="Calibri" pitchFamily="34" charset="-120"/>
              </a:rPr>
              <a:t>weak, dilute</a:t>
            </a:r>
            <a:endParaRPr lang="en-US" sz="1050" dirty="0"/>
          </a:p>
        </p:txBody>
      </p:sp>
      <p:sp>
        <p:nvSpPr>
          <p:cNvPr id="96" name="Shape 94"/>
          <p:cNvSpPr/>
          <p:nvPr/>
        </p:nvSpPr>
        <p:spPr>
          <a:xfrm>
            <a:off x="3781044" y="4023360"/>
            <a:ext cx="219456" cy="219456"/>
          </a:xfrm>
          <a:prstGeom prst="ellipse">
            <a:avLst/>
          </a:prstGeom>
          <a:solidFill>
            <a:srgbClr val="F6B0A8"/>
          </a:solidFill>
          <a:ln w="12700">
            <a:solidFill>
              <a:srgbClr val="B7372B"/>
            </a:solidFill>
            <a:prstDash val="solid"/>
          </a:ln>
        </p:spPr>
      </p:sp>
      <p:sp>
        <p:nvSpPr>
          <p:cNvPr id="97" name="Shape 95"/>
          <p:cNvSpPr/>
          <p:nvPr/>
        </p:nvSpPr>
        <p:spPr>
          <a:xfrm>
            <a:off x="3954780" y="3995928"/>
            <a:ext cx="274320" cy="274320"/>
          </a:xfrm>
          <a:prstGeom prst="ellipse">
            <a:avLst/>
          </a:prstGeom>
          <a:solidFill>
            <a:srgbClr val="D6E9C6"/>
          </a:solidFill>
          <a:ln w="12700">
            <a:solidFill>
              <a:srgbClr val="4E7A35"/>
            </a:solidFill>
            <a:prstDash val="solid"/>
          </a:ln>
        </p:spPr>
      </p:sp>
      <p:sp>
        <p:nvSpPr>
          <p:cNvPr id="98" name="Text 96"/>
          <p:cNvSpPr/>
          <p:nvPr/>
        </p:nvSpPr>
        <p:spPr>
          <a:xfrm>
            <a:off x="3707892" y="3995928"/>
            <a:ext cx="548640"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a:t>
            </a:r>
            <a:endParaRPr lang="en-US" sz="1000" dirty="0"/>
          </a:p>
        </p:txBody>
      </p:sp>
      <p:sp>
        <p:nvSpPr>
          <p:cNvPr id="99" name="Shape 97"/>
          <p:cNvSpPr/>
          <p:nvPr/>
        </p:nvSpPr>
        <p:spPr>
          <a:xfrm>
            <a:off x="4786884" y="4480560"/>
            <a:ext cx="219456" cy="219456"/>
          </a:xfrm>
          <a:prstGeom prst="ellipse">
            <a:avLst/>
          </a:prstGeom>
          <a:solidFill>
            <a:srgbClr val="F6B0A8"/>
          </a:solidFill>
          <a:ln w="12700">
            <a:solidFill>
              <a:srgbClr val="B7372B"/>
            </a:solidFill>
            <a:prstDash val="solid"/>
          </a:ln>
        </p:spPr>
      </p:sp>
      <p:sp>
        <p:nvSpPr>
          <p:cNvPr id="100" name="Shape 98"/>
          <p:cNvSpPr/>
          <p:nvPr/>
        </p:nvSpPr>
        <p:spPr>
          <a:xfrm>
            <a:off x="4960620" y="4453128"/>
            <a:ext cx="274320" cy="274320"/>
          </a:xfrm>
          <a:prstGeom prst="ellipse">
            <a:avLst/>
          </a:prstGeom>
          <a:solidFill>
            <a:srgbClr val="D6E9C6"/>
          </a:solidFill>
          <a:ln w="12700">
            <a:solidFill>
              <a:srgbClr val="4E7A35"/>
            </a:solidFill>
            <a:prstDash val="solid"/>
          </a:ln>
        </p:spPr>
      </p:sp>
      <p:sp>
        <p:nvSpPr>
          <p:cNvPr id="101" name="Text 99"/>
          <p:cNvSpPr/>
          <p:nvPr/>
        </p:nvSpPr>
        <p:spPr>
          <a:xfrm>
            <a:off x="4713732" y="4453128"/>
            <a:ext cx="548640"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a:t>
            </a:r>
            <a:endParaRPr lang="en-US" sz="1000" dirty="0"/>
          </a:p>
        </p:txBody>
      </p:sp>
      <p:sp>
        <p:nvSpPr>
          <p:cNvPr id="102" name="Shape 100"/>
          <p:cNvSpPr/>
          <p:nvPr/>
        </p:nvSpPr>
        <p:spPr>
          <a:xfrm>
            <a:off x="6217920" y="1188720"/>
            <a:ext cx="5562295" cy="2606040"/>
          </a:xfrm>
          <a:prstGeom prst="roundRect">
            <a:avLst>
              <a:gd name="adj" fmla="val 2105"/>
            </a:avLst>
          </a:prstGeom>
          <a:solidFill>
            <a:srgbClr val="F8F5FC"/>
          </a:solidFill>
          <a:ln w="9525">
            <a:solidFill>
              <a:srgbClr val="DDD3EC"/>
            </a:solidFill>
            <a:prstDash val="solid"/>
          </a:ln>
        </p:spPr>
      </p:sp>
      <p:sp>
        <p:nvSpPr>
          <p:cNvPr id="103" name="Text 10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Two separate ideas</a:t>
            </a:r>
            <a:endParaRPr lang="en-US" sz="1300" dirty="0"/>
          </a:p>
        </p:txBody>
      </p:sp>
      <p:sp>
        <p:nvSpPr>
          <p:cNvPr id="104" name="Text 102"/>
          <p:cNvSpPr/>
          <p:nvPr/>
        </p:nvSpPr>
        <p:spPr>
          <a:xfrm>
            <a:off x="6382512" y="1609344"/>
            <a:ext cx="5233111" cy="211226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Concentrated / dilute</a:t>
            </a:r>
            <a:r>
              <a:rPr lang="en-US" sz="1150" dirty="0">
                <a:solidFill>
                  <a:srgbClr val="262B3A"/>
                </a:solidFill>
                <a:latin typeface="Calibri" pitchFamily="34" charset="0"/>
                <a:ea typeface="Calibri" pitchFamily="34" charset="-122"/>
                <a:cs typeface="Calibri" pitchFamily="34" charset="-120"/>
              </a:rPr>
              <a:t> (3.7): the </a:t>
            </a:r>
            <a:r>
              <a:rPr lang="en-US" sz="1150" b="1" dirty="0">
                <a:solidFill>
                  <a:srgbClr val="262B3A"/>
                </a:solidFill>
                <a:latin typeface="Calibri" pitchFamily="34" charset="0"/>
                <a:ea typeface="Calibri" pitchFamily="34" charset="-122"/>
                <a:cs typeface="Calibri" pitchFamily="34" charset="-120"/>
              </a:rPr>
              <a:t>amount of acid</a:t>
            </a:r>
            <a:r>
              <a:rPr lang="en-US" sz="1150" dirty="0">
                <a:solidFill>
                  <a:srgbClr val="262B3A"/>
                </a:solidFill>
                <a:latin typeface="Calibri" pitchFamily="34" charset="0"/>
                <a:ea typeface="Calibri" pitchFamily="34" charset="-122"/>
                <a:cs typeface="Calibri" pitchFamily="34" charset="-120"/>
              </a:rPr>
              <a:t> dissolved in a given volume of solution (e.g. mol dm⁻³ or g dm⁻³).</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Strong acid</a:t>
            </a:r>
            <a:r>
              <a:rPr lang="en-US" sz="1150" dirty="0">
                <a:solidFill>
                  <a:srgbClr val="262B3A"/>
                </a:solidFill>
                <a:latin typeface="Calibri" pitchFamily="34" charset="0"/>
                <a:ea typeface="Calibri" pitchFamily="34" charset="-122"/>
                <a:cs typeface="Calibri" pitchFamily="34" charset="-120"/>
              </a:rPr>
              <a:t> (3.8, HT): </a:t>
            </a:r>
            <a:r>
              <a:rPr lang="en-US" sz="1150" b="1" dirty="0">
                <a:solidFill>
                  <a:srgbClr val="262B3A"/>
                </a:solidFill>
                <a:latin typeface="Calibri" pitchFamily="34" charset="0"/>
                <a:ea typeface="Calibri" pitchFamily="34" charset="-122"/>
                <a:cs typeface="Calibri" pitchFamily="34" charset="-120"/>
              </a:rPr>
              <a:t>completely dissociates</a:t>
            </a:r>
            <a:r>
              <a:rPr lang="en-US" sz="1150" dirty="0">
                <a:solidFill>
                  <a:srgbClr val="262B3A"/>
                </a:solidFill>
                <a:latin typeface="Calibri" pitchFamily="34" charset="0"/>
                <a:ea typeface="Calibri" pitchFamily="34" charset="-122"/>
                <a:cs typeface="Calibri" pitchFamily="34" charset="-120"/>
              </a:rPr>
              <a:t> into ions in water, e.g. hydrochloric, nitric, sulfuric acid.</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Weak acid</a:t>
            </a:r>
            <a:r>
              <a:rPr lang="en-US" sz="1150" dirty="0">
                <a:solidFill>
                  <a:srgbClr val="262B3A"/>
                </a:solidFill>
                <a:latin typeface="Calibri" pitchFamily="34" charset="0"/>
                <a:ea typeface="Calibri" pitchFamily="34" charset="-122"/>
                <a:cs typeface="Calibri" pitchFamily="34" charset="-120"/>
              </a:rPr>
              <a:t> (3.8, HT): only </a:t>
            </a:r>
            <a:r>
              <a:rPr lang="en-US" sz="1150" b="1" dirty="0">
                <a:solidFill>
                  <a:srgbClr val="262B3A"/>
                </a:solidFill>
                <a:latin typeface="Calibri" pitchFamily="34" charset="0"/>
                <a:ea typeface="Calibri" pitchFamily="34" charset="-122"/>
                <a:cs typeface="Calibri" pitchFamily="34" charset="-120"/>
              </a:rPr>
              <a:t>partially dissociates</a:t>
            </a:r>
            <a:r>
              <a:rPr lang="en-US" sz="1150" dirty="0">
                <a:solidFill>
                  <a:srgbClr val="262B3A"/>
                </a:solidFill>
                <a:latin typeface="Calibri" pitchFamily="34" charset="0"/>
                <a:ea typeface="Calibri" pitchFamily="34" charset="-122"/>
                <a:cs typeface="Calibri" pitchFamily="34" charset="-120"/>
              </a:rPr>
              <a:t>; the reaction is </a:t>
            </a:r>
            <a:r>
              <a:rPr lang="en-US" sz="1150" b="1" dirty="0">
                <a:solidFill>
                  <a:srgbClr val="262B3A"/>
                </a:solidFill>
                <a:latin typeface="Calibri" pitchFamily="34" charset="0"/>
                <a:ea typeface="Calibri" pitchFamily="34" charset="-122"/>
                <a:cs typeface="Calibri" pitchFamily="34" charset="-120"/>
              </a:rPr>
              <a:t>reversible</a:t>
            </a:r>
            <a:r>
              <a:rPr lang="en-US" sz="1150" dirty="0">
                <a:solidFill>
                  <a:srgbClr val="262B3A"/>
                </a:solidFill>
                <a:latin typeface="Calibri" pitchFamily="34" charset="0"/>
                <a:ea typeface="Calibri" pitchFamily="34" charset="-122"/>
                <a:cs typeface="Calibri" pitchFamily="34" charset="-120"/>
              </a:rPr>
              <a:t> (⇌), e.g. ethanoic, citric, carbonic acid.</a:t>
            </a:r>
            <a:endParaRPr lang="en-US" sz="1150" dirty="0"/>
          </a:p>
        </p:txBody>
      </p:sp>
      <p:sp>
        <p:nvSpPr>
          <p:cNvPr id="105" name="Shape 103"/>
          <p:cNvSpPr/>
          <p:nvPr/>
        </p:nvSpPr>
        <p:spPr>
          <a:xfrm>
            <a:off x="6217920" y="3931920"/>
            <a:ext cx="5562295" cy="1783080"/>
          </a:xfrm>
          <a:prstGeom prst="roundRect">
            <a:avLst>
              <a:gd name="adj" fmla="val 3077"/>
            </a:avLst>
          </a:prstGeom>
          <a:solidFill>
            <a:srgbClr val="FFF4E0"/>
          </a:solidFill>
          <a:ln w="9525">
            <a:solidFill>
              <a:srgbClr val="F1D9A8"/>
            </a:solidFill>
            <a:prstDash val="solid"/>
          </a:ln>
        </p:spPr>
      </p:sp>
      <p:sp>
        <p:nvSpPr>
          <p:cNvPr id="106" name="Text 104"/>
          <p:cNvSpPr/>
          <p:nvPr/>
        </p:nvSpPr>
        <p:spPr>
          <a:xfrm>
            <a:off x="6382512" y="400507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Same concentration, different strength</a:t>
            </a:r>
            <a:endParaRPr lang="en-US" sz="1300" dirty="0"/>
          </a:p>
        </p:txBody>
      </p:sp>
      <p:sp>
        <p:nvSpPr>
          <p:cNvPr id="107" name="Text 105"/>
          <p:cNvSpPr/>
          <p:nvPr/>
        </p:nvSpPr>
        <p:spPr>
          <a:xfrm>
            <a:off x="6382512" y="4315968"/>
            <a:ext cx="5233111"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Both acids are 0.10 mol dm⁻³.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Strong   </a:t>
            </a:r>
            <a:r>
              <a:rPr lang="en-US" sz="1050" dirty="0">
                <a:solidFill>
                  <a:srgbClr val="262B3A"/>
                </a:solidFill>
                <a:latin typeface="Calibri" pitchFamily="34" charset="0"/>
                <a:ea typeface="Calibri" pitchFamily="34" charset="-122"/>
                <a:cs typeface="Calibri" pitchFamily="34" charset="-120"/>
              </a:rPr>
              <a:t>HCl(aq) → H⁺(aq) + Cl⁻(aq): all molecules ionise → pH 1.0</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Weak   </a:t>
            </a:r>
            <a:r>
              <a:rPr lang="en-US" sz="1050" dirty="0">
                <a:solidFill>
                  <a:srgbClr val="262B3A"/>
                </a:solidFill>
                <a:latin typeface="Calibri" pitchFamily="34" charset="0"/>
                <a:ea typeface="Calibri" pitchFamily="34" charset="-122"/>
                <a:cs typeface="Calibri" pitchFamily="34" charset="-120"/>
              </a:rPr>
              <a:t>CH₃COOH(aq) ⇌ CH₃COO⁻(aq) + H⁺(aq): about 1.3 % ionise → pH 2.9</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the strong acid has the higher [H⁺], so the lower pH</a:t>
            </a:r>
            <a:endParaRPr lang="en-US" sz="1050" dirty="0"/>
          </a:p>
        </p:txBody>
      </p:sp>
      <p:sp>
        <p:nvSpPr>
          <p:cNvPr id="108" name="Shape 106"/>
          <p:cNvSpPr/>
          <p:nvPr/>
        </p:nvSpPr>
        <p:spPr>
          <a:xfrm>
            <a:off x="411480" y="5833872"/>
            <a:ext cx="11368735" cy="530352"/>
          </a:xfrm>
          <a:prstGeom prst="rect">
            <a:avLst/>
          </a:prstGeom>
          <a:solidFill>
            <a:srgbClr val="FFF4E0"/>
          </a:solidFill>
          <a:ln w="6350">
            <a:solidFill>
              <a:srgbClr val="F1D9A8"/>
            </a:solidFill>
            <a:prstDash val="solid"/>
          </a:ln>
        </p:spPr>
      </p:sp>
      <p:sp>
        <p:nvSpPr>
          <p:cNvPr id="109" name="Shape 107"/>
          <p:cNvSpPr/>
          <p:nvPr/>
        </p:nvSpPr>
        <p:spPr>
          <a:xfrm>
            <a:off x="411480" y="5833872"/>
            <a:ext cx="82296" cy="530352"/>
          </a:xfrm>
          <a:prstGeom prst="rect">
            <a:avLst/>
          </a:prstGeom>
          <a:solidFill>
            <a:srgbClr val="E39A2F"/>
          </a:solidFill>
          <a:ln w="12700">
            <a:solidFill>
              <a:srgbClr val="E39A2F"/>
            </a:solidFill>
            <a:prstDash val="solid"/>
          </a:ln>
        </p:spPr>
      </p:sp>
      <p:sp>
        <p:nvSpPr>
          <p:cNvPr id="110" name="Text 10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dilute</a:t>
            </a:r>
            <a:r>
              <a:rPr lang="en-US" sz="1150" dirty="0">
                <a:solidFill>
                  <a:srgbClr val="262B3A"/>
                </a:solidFill>
                <a:latin typeface="Calibri" pitchFamily="34" charset="0"/>
                <a:ea typeface="Calibri" pitchFamily="34" charset="-122"/>
                <a:cs typeface="Calibri" pitchFamily="34" charset="-120"/>
              </a:rPr>
              <a:t> solution of a </a:t>
            </a:r>
            <a:r>
              <a:rPr lang="en-US" sz="1150" b="1" dirty="0">
                <a:solidFill>
                  <a:srgbClr val="262B3A"/>
                </a:solidFill>
                <a:latin typeface="Calibri" pitchFamily="34" charset="0"/>
                <a:ea typeface="Calibri" pitchFamily="34" charset="-122"/>
                <a:cs typeface="Calibri" pitchFamily="34" charset="-120"/>
              </a:rPr>
              <a:t>strong</a:t>
            </a:r>
            <a:r>
              <a:rPr lang="en-US" sz="1150" dirty="0">
                <a:solidFill>
                  <a:srgbClr val="262B3A"/>
                </a:solidFill>
                <a:latin typeface="Calibri" pitchFamily="34" charset="0"/>
                <a:ea typeface="Calibri" pitchFamily="34" charset="-122"/>
                <a:cs typeface="Calibri" pitchFamily="34" charset="-120"/>
              </a:rPr>
              <a:t> acid and a </a:t>
            </a:r>
            <a:r>
              <a:rPr lang="en-US" sz="1150" b="1" dirty="0">
                <a:solidFill>
                  <a:srgbClr val="262B3A"/>
                </a:solidFill>
                <a:latin typeface="Calibri" pitchFamily="34" charset="0"/>
                <a:ea typeface="Calibri" pitchFamily="34" charset="-122"/>
                <a:cs typeface="Calibri" pitchFamily="34" charset="-120"/>
              </a:rPr>
              <a:t>concentrated</a:t>
            </a:r>
            <a:r>
              <a:rPr lang="en-US" sz="1150" dirty="0">
                <a:solidFill>
                  <a:srgbClr val="262B3A"/>
                </a:solidFill>
                <a:latin typeface="Calibri" pitchFamily="34" charset="0"/>
                <a:ea typeface="Calibri" pitchFamily="34" charset="-122"/>
                <a:cs typeface="Calibri" pitchFamily="34" charset="-120"/>
              </a:rPr>
              <a:t> solution of a </a:t>
            </a:r>
            <a:r>
              <a:rPr lang="en-US" sz="1150" b="1" dirty="0">
                <a:solidFill>
                  <a:srgbClr val="262B3A"/>
                </a:solidFill>
                <a:latin typeface="Calibri" pitchFamily="34" charset="0"/>
                <a:ea typeface="Calibri" pitchFamily="34" charset="-122"/>
                <a:cs typeface="Calibri" pitchFamily="34" charset="-120"/>
              </a:rPr>
              <a:t>weak</a:t>
            </a:r>
            <a:r>
              <a:rPr lang="en-US" sz="1150" dirty="0">
                <a:solidFill>
                  <a:srgbClr val="262B3A"/>
                </a:solidFill>
                <a:latin typeface="Calibri" pitchFamily="34" charset="0"/>
                <a:ea typeface="Calibri" pitchFamily="34" charset="-122"/>
                <a:cs typeface="Calibri" pitchFamily="34" charset="-120"/>
              </a:rPr>
              <a:t> acid can have the same pH. Explain how.</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3.5, 3.7, 3.8 • strength, concentration and pH</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10</a:t>
            </a:r>
            <a:endParaRPr lang="en-US" sz="1000" dirty="0"/>
          </a:p>
        </p:txBody>
      </p:sp>
      <p:sp>
        <p:nvSpPr>
          <p:cNvPr id="10" name="Shape 8"/>
          <p:cNvSpPr/>
          <p:nvPr/>
        </p:nvSpPr>
        <p:spPr>
          <a:xfrm>
            <a:off x="411480" y="1207008"/>
            <a:ext cx="11368735" cy="1594104"/>
          </a:xfrm>
          <a:prstGeom prst="roundRect">
            <a:avLst>
              <a:gd name="adj" fmla="val 2868"/>
            </a:avLst>
          </a:prstGeom>
          <a:solidFill>
            <a:srgbClr val="FFFFFF"/>
          </a:solidFill>
          <a:ln w="12700">
            <a:solidFill>
              <a:srgbClr val="DDD3EC"/>
            </a:solidFill>
            <a:prstDash val="solid"/>
          </a:ln>
        </p:spPr>
      </p:sp>
      <p:sp>
        <p:nvSpPr>
          <p:cNvPr id="11" name="Shape 9"/>
          <p:cNvSpPr/>
          <p:nvPr/>
        </p:nvSpPr>
        <p:spPr>
          <a:xfrm>
            <a:off x="411480" y="1207008"/>
            <a:ext cx="2103120" cy="292608"/>
          </a:xfrm>
          <a:prstGeom prst="rect">
            <a:avLst/>
          </a:prstGeom>
          <a:solidFill>
            <a:srgbClr val="F5A742"/>
          </a:solidFill>
          <a:ln w="12700">
            <a:solidFill>
              <a:srgbClr val="F5A742"/>
            </a:solidFill>
            <a:prstDash val="solid"/>
          </a:ln>
        </p:spPr>
      </p:sp>
      <p:sp>
        <p:nvSpPr>
          <p:cNvPr id="12" name="Text 10"/>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3" name="Shape 11"/>
          <p:cNvSpPr/>
          <p:nvPr/>
        </p:nvSpPr>
        <p:spPr>
          <a:xfrm>
            <a:off x="2606040" y="1216152"/>
            <a:ext cx="411480" cy="274320"/>
          </a:xfrm>
          <a:prstGeom prst="roundRect">
            <a:avLst>
              <a:gd name="adj" fmla="val 50000"/>
            </a:avLst>
          </a:prstGeom>
          <a:solidFill>
            <a:srgbClr val="C8414C"/>
          </a:solidFill>
          <a:ln w="12700">
            <a:solidFill>
              <a:srgbClr val="C8414C"/>
            </a:solidFill>
            <a:prstDash val="solid"/>
          </a:ln>
        </p:spPr>
      </p:sp>
      <p:sp>
        <p:nvSpPr>
          <p:cNvPr id="14" name="Text 12"/>
          <p:cNvSpPr/>
          <p:nvPr/>
        </p:nvSpPr>
        <p:spPr>
          <a:xfrm>
            <a:off x="2606040" y="1216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5" name="Text 13"/>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the difference between a </a:t>
            </a:r>
            <a:r>
              <a:rPr lang="en-US" sz="1250" b="1" dirty="0">
                <a:solidFill>
                  <a:srgbClr val="262B3A"/>
                </a:solidFill>
                <a:latin typeface="Calibri" pitchFamily="34" charset="0"/>
                <a:ea typeface="Calibri" pitchFamily="34" charset="-122"/>
                <a:cs typeface="Calibri" pitchFamily="34" charset="-120"/>
              </a:rPr>
              <a:t>strong</a:t>
            </a:r>
            <a:r>
              <a:rPr lang="en-US" sz="1250" dirty="0">
                <a:solidFill>
                  <a:srgbClr val="262B3A"/>
                </a:solidFill>
                <a:latin typeface="Calibri" pitchFamily="34" charset="0"/>
                <a:ea typeface="Calibri" pitchFamily="34" charset="-122"/>
                <a:cs typeface="Calibri" pitchFamily="34" charset="-120"/>
              </a:rPr>
              <a:t> acid and a </a:t>
            </a:r>
            <a:r>
              <a:rPr lang="en-US" sz="1250" b="1" dirty="0">
                <a:solidFill>
                  <a:srgbClr val="262B3A"/>
                </a:solidFill>
                <a:latin typeface="Calibri" pitchFamily="34" charset="0"/>
                <a:ea typeface="Calibri" pitchFamily="34" charset="-122"/>
                <a:cs typeface="Calibri" pitchFamily="34" charset="-120"/>
              </a:rPr>
              <a:t>weak</a:t>
            </a:r>
            <a:r>
              <a:rPr lang="en-US" sz="1250" dirty="0">
                <a:solidFill>
                  <a:srgbClr val="262B3A"/>
                </a:solidFill>
                <a:latin typeface="Calibri" pitchFamily="34" charset="0"/>
                <a:ea typeface="Calibri" pitchFamily="34" charset="-122"/>
                <a:cs typeface="Calibri" pitchFamily="34" charset="-120"/>
              </a:rPr>
              <a:t> acid.</a:t>
            </a:r>
            <a:endParaRPr lang="en-US" sz="1250" dirty="0"/>
          </a:p>
        </p:txBody>
      </p:sp>
      <p:sp>
        <p:nvSpPr>
          <p:cNvPr id="16" name="Text 14"/>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7" name="Shape 15"/>
          <p:cNvSpPr/>
          <p:nvPr/>
        </p:nvSpPr>
        <p:spPr>
          <a:xfrm>
            <a:off x="411480" y="2947416"/>
            <a:ext cx="11368735" cy="1594104"/>
          </a:xfrm>
          <a:prstGeom prst="roundRect">
            <a:avLst>
              <a:gd name="adj" fmla="val 2868"/>
            </a:avLst>
          </a:prstGeom>
          <a:solidFill>
            <a:srgbClr val="FFFFFF"/>
          </a:solidFill>
          <a:ln w="12700">
            <a:solidFill>
              <a:srgbClr val="DDD3EC"/>
            </a:solidFill>
            <a:prstDash val="solid"/>
          </a:ln>
        </p:spPr>
      </p:sp>
      <p:sp>
        <p:nvSpPr>
          <p:cNvPr id="18" name="Shape 16"/>
          <p:cNvSpPr/>
          <p:nvPr/>
        </p:nvSpPr>
        <p:spPr>
          <a:xfrm>
            <a:off x="411480" y="2947416"/>
            <a:ext cx="2103120" cy="292608"/>
          </a:xfrm>
          <a:prstGeom prst="rect">
            <a:avLst/>
          </a:prstGeom>
          <a:solidFill>
            <a:srgbClr val="F5A742"/>
          </a:solidFill>
          <a:ln w="12700">
            <a:solidFill>
              <a:srgbClr val="F5A742"/>
            </a:solidFill>
            <a:prstDash val="solid"/>
          </a:ln>
        </p:spPr>
      </p:sp>
      <p:sp>
        <p:nvSpPr>
          <p:cNvPr id="19" name="Text 17"/>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0" name="Text 18"/>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the difference between a </a:t>
            </a:r>
            <a:r>
              <a:rPr lang="en-US" sz="1250" b="1" dirty="0">
                <a:solidFill>
                  <a:srgbClr val="262B3A"/>
                </a:solidFill>
                <a:latin typeface="Calibri" pitchFamily="34" charset="0"/>
                <a:ea typeface="Calibri" pitchFamily="34" charset="-122"/>
                <a:cs typeface="Calibri" pitchFamily="34" charset="-120"/>
              </a:rPr>
              <a:t>concentrated</a:t>
            </a:r>
            <a:r>
              <a:rPr lang="en-US" sz="1250" dirty="0">
                <a:solidFill>
                  <a:srgbClr val="262B3A"/>
                </a:solidFill>
                <a:latin typeface="Calibri" pitchFamily="34" charset="0"/>
                <a:ea typeface="Calibri" pitchFamily="34" charset="-122"/>
                <a:cs typeface="Calibri" pitchFamily="34" charset="-120"/>
              </a:rPr>
              <a:t> acid and a </a:t>
            </a:r>
            <a:r>
              <a:rPr lang="en-US" sz="1250" b="1" dirty="0">
                <a:solidFill>
                  <a:srgbClr val="262B3A"/>
                </a:solidFill>
                <a:latin typeface="Calibri" pitchFamily="34" charset="0"/>
                <a:ea typeface="Calibri" pitchFamily="34" charset="-122"/>
                <a:cs typeface="Calibri" pitchFamily="34" charset="-120"/>
              </a:rPr>
              <a:t>dilute</a:t>
            </a:r>
            <a:r>
              <a:rPr lang="en-US" sz="1250" dirty="0">
                <a:solidFill>
                  <a:srgbClr val="262B3A"/>
                </a:solidFill>
                <a:latin typeface="Calibri" pitchFamily="34" charset="0"/>
                <a:ea typeface="Calibri" pitchFamily="34" charset="-122"/>
                <a:cs typeface="Calibri" pitchFamily="34" charset="-120"/>
              </a:rPr>
              <a:t> acid.</a:t>
            </a:r>
            <a:endParaRPr lang="en-US" sz="1250" dirty="0"/>
          </a:p>
        </p:txBody>
      </p:sp>
      <p:sp>
        <p:nvSpPr>
          <p:cNvPr id="21" name="Text 19"/>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2" name="Shape 20"/>
          <p:cNvSpPr/>
          <p:nvPr/>
        </p:nvSpPr>
        <p:spPr>
          <a:xfrm>
            <a:off x="411480" y="4687824"/>
            <a:ext cx="11368735" cy="1594104"/>
          </a:xfrm>
          <a:prstGeom prst="roundRect">
            <a:avLst>
              <a:gd name="adj" fmla="val 2868"/>
            </a:avLst>
          </a:prstGeom>
          <a:solidFill>
            <a:srgbClr val="FFFFFF"/>
          </a:solidFill>
          <a:ln w="12700">
            <a:solidFill>
              <a:srgbClr val="DDD3EC"/>
            </a:solidFill>
            <a:prstDash val="solid"/>
          </a:ln>
        </p:spPr>
      </p:sp>
      <p:sp>
        <p:nvSpPr>
          <p:cNvPr id="23" name="Shape 21"/>
          <p:cNvSpPr/>
          <p:nvPr/>
        </p:nvSpPr>
        <p:spPr>
          <a:xfrm>
            <a:off x="411480" y="4687824"/>
            <a:ext cx="2103120" cy="292608"/>
          </a:xfrm>
          <a:prstGeom prst="rect">
            <a:avLst/>
          </a:prstGeom>
          <a:solidFill>
            <a:srgbClr val="F5A742"/>
          </a:solidFill>
          <a:ln w="12700">
            <a:solidFill>
              <a:srgbClr val="F5A742"/>
            </a:solidFill>
            <a:prstDash val="solid"/>
          </a:ln>
        </p:spPr>
      </p:sp>
      <p:sp>
        <p:nvSpPr>
          <p:cNvPr id="24" name="Text 22"/>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5" name="Shape 23"/>
          <p:cNvSpPr/>
          <p:nvPr/>
        </p:nvSpPr>
        <p:spPr>
          <a:xfrm>
            <a:off x="2606040" y="4696968"/>
            <a:ext cx="411480" cy="274320"/>
          </a:xfrm>
          <a:prstGeom prst="roundRect">
            <a:avLst>
              <a:gd name="adj" fmla="val 50000"/>
            </a:avLst>
          </a:prstGeom>
          <a:solidFill>
            <a:srgbClr val="C8414C"/>
          </a:solidFill>
          <a:ln w="12700">
            <a:solidFill>
              <a:srgbClr val="C8414C"/>
            </a:solidFill>
            <a:prstDash val="solid"/>
          </a:ln>
        </p:spPr>
      </p:sp>
      <p:sp>
        <p:nvSpPr>
          <p:cNvPr id="26" name="Text 24"/>
          <p:cNvSpPr/>
          <p:nvPr/>
        </p:nvSpPr>
        <p:spPr>
          <a:xfrm>
            <a:off x="2606040" y="469696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7" name="Text 25"/>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The pH of an acid changes from </a:t>
            </a:r>
            <a:r>
              <a:rPr lang="en-US" sz="1250" b="1" dirty="0">
                <a:solidFill>
                  <a:srgbClr val="262B3A"/>
                </a:solidFill>
                <a:latin typeface="Calibri" pitchFamily="34" charset="0"/>
                <a:ea typeface="Calibri" pitchFamily="34" charset="-122"/>
                <a:cs typeface="Calibri" pitchFamily="34" charset="-120"/>
              </a:rPr>
              <a:t>1</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3</a:t>
            </a:r>
            <a:r>
              <a:rPr lang="en-US" sz="1250" dirty="0">
                <a:solidFill>
                  <a:srgbClr val="262B3A"/>
                </a:solidFill>
                <a:latin typeface="Calibri" pitchFamily="34" charset="0"/>
                <a:ea typeface="Calibri" pitchFamily="34" charset="-122"/>
                <a:cs typeface="Calibri" pitchFamily="34" charset="-120"/>
              </a:rPr>
              <a:t> when it is diluted. Calculate the factor by which the hydrogen ion concentration has changed.</a:t>
            </a:r>
            <a:endParaRPr lang="en-US" sz="1250" dirty="0"/>
          </a:p>
        </p:txBody>
      </p:sp>
      <p:sp>
        <p:nvSpPr>
          <p:cNvPr id="28" name="Text 26"/>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Core Practical: pH change on adding Ca(OH)₂</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3.6 • add powdered calcium hydroxide to a fixed volume of dilute hydrochloric acid</a:t>
            </a:r>
            <a:endParaRPr lang="en-US" sz="1100" dirty="0"/>
          </a:p>
        </p:txBody>
      </p:sp>
      <p:sp>
        <p:nvSpPr>
          <p:cNvPr id="6" name="Shape 4"/>
          <p:cNvSpPr/>
          <p:nvPr/>
        </p:nvSpPr>
        <p:spPr>
          <a:xfrm>
            <a:off x="10408615" y="292608"/>
            <a:ext cx="1371600"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408615" y="29260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CP 3.6  |  11</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apparatus; a pH meter or universal indicator paper and a glass rod</a:t>
            </a:r>
            <a:endParaRPr lang="en-US" sz="1000" dirty="0"/>
          </a:p>
        </p:txBody>
      </p:sp>
      <p:sp>
        <p:nvSpPr>
          <p:cNvPr id="12" name="Shape 10"/>
          <p:cNvSpPr/>
          <p:nvPr/>
        </p:nvSpPr>
        <p:spPr>
          <a:xfrm>
            <a:off x="594360" y="4754880"/>
            <a:ext cx="5212080" cy="91"/>
          </a:xfrm>
          <a:prstGeom prst="line">
            <a:avLst/>
          </a:prstGeom>
          <a:noFill/>
          <a:ln w="25400">
            <a:solidFill>
              <a:srgbClr val="8A8F99"/>
            </a:solidFill>
            <a:prstDash val="solid"/>
          </a:ln>
        </p:spPr>
      </p:sp>
      <p:sp>
        <p:nvSpPr>
          <p:cNvPr id="13" name="Shape 11"/>
          <p:cNvSpPr/>
          <p:nvPr/>
        </p:nvSpPr>
        <p:spPr>
          <a:xfrm>
            <a:off x="2148840" y="3154680"/>
            <a:ext cx="1554480" cy="1600200"/>
          </a:xfrm>
          <a:prstGeom prst="rect">
            <a:avLst/>
          </a:prstGeom>
          <a:solidFill>
            <a:srgbClr val="EEF5FB"/>
          </a:solidFill>
          <a:ln/>
        </p:spPr>
      </p:sp>
      <p:sp>
        <p:nvSpPr>
          <p:cNvPr id="14" name="Shape 12"/>
          <p:cNvSpPr/>
          <p:nvPr/>
        </p:nvSpPr>
        <p:spPr>
          <a:xfrm>
            <a:off x="2148840" y="3874770"/>
            <a:ext cx="1554480" cy="880110"/>
          </a:xfrm>
          <a:prstGeom prst="rect">
            <a:avLst/>
          </a:prstGeom>
          <a:solidFill>
            <a:srgbClr val="F9E0DA"/>
          </a:solidFill>
          <a:ln/>
        </p:spPr>
      </p:sp>
      <p:sp>
        <p:nvSpPr>
          <p:cNvPr id="15" name="Shape 13"/>
          <p:cNvSpPr/>
          <p:nvPr/>
        </p:nvSpPr>
        <p:spPr>
          <a:xfrm>
            <a:off x="2148840" y="3874770"/>
            <a:ext cx="1554480" cy="91"/>
          </a:xfrm>
          <a:prstGeom prst="line">
            <a:avLst/>
          </a:prstGeom>
          <a:noFill/>
          <a:ln w="12700">
            <a:solidFill>
              <a:srgbClr val="5B9BD5"/>
            </a:solidFill>
            <a:prstDash val="solid"/>
          </a:ln>
        </p:spPr>
      </p:sp>
      <p:sp>
        <p:nvSpPr>
          <p:cNvPr id="16" name="Shape 14"/>
          <p:cNvSpPr/>
          <p:nvPr/>
        </p:nvSpPr>
        <p:spPr>
          <a:xfrm>
            <a:off x="2148840" y="3154680"/>
            <a:ext cx="91" cy="1600200"/>
          </a:xfrm>
          <a:prstGeom prst="line">
            <a:avLst/>
          </a:prstGeom>
          <a:noFill/>
          <a:ln w="19050">
            <a:solidFill>
              <a:srgbClr val="2A1F3D"/>
            </a:solidFill>
            <a:prstDash val="solid"/>
          </a:ln>
        </p:spPr>
      </p:sp>
      <p:sp>
        <p:nvSpPr>
          <p:cNvPr id="17" name="Shape 15"/>
          <p:cNvSpPr/>
          <p:nvPr/>
        </p:nvSpPr>
        <p:spPr>
          <a:xfrm>
            <a:off x="3703320" y="3154680"/>
            <a:ext cx="91" cy="1600200"/>
          </a:xfrm>
          <a:prstGeom prst="line">
            <a:avLst/>
          </a:prstGeom>
          <a:noFill/>
          <a:ln w="19050">
            <a:solidFill>
              <a:srgbClr val="2A1F3D"/>
            </a:solidFill>
            <a:prstDash val="solid"/>
          </a:ln>
        </p:spPr>
      </p:sp>
      <p:sp>
        <p:nvSpPr>
          <p:cNvPr id="18" name="Shape 16"/>
          <p:cNvSpPr/>
          <p:nvPr/>
        </p:nvSpPr>
        <p:spPr>
          <a:xfrm>
            <a:off x="2148840" y="4754880"/>
            <a:ext cx="1554480" cy="91"/>
          </a:xfrm>
          <a:prstGeom prst="line">
            <a:avLst/>
          </a:prstGeom>
          <a:noFill/>
          <a:ln w="19050">
            <a:solidFill>
              <a:srgbClr val="2A1F3D"/>
            </a:solidFill>
            <a:prstDash val="solid"/>
          </a:ln>
        </p:spPr>
      </p:sp>
      <p:sp>
        <p:nvSpPr>
          <p:cNvPr id="19" name="Shape 17"/>
          <p:cNvSpPr/>
          <p:nvPr/>
        </p:nvSpPr>
        <p:spPr>
          <a:xfrm>
            <a:off x="2093976" y="3154680"/>
            <a:ext cx="54864" cy="91"/>
          </a:xfrm>
          <a:prstGeom prst="line">
            <a:avLst/>
          </a:prstGeom>
          <a:noFill/>
          <a:ln w="19050">
            <a:solidFill>
              <a:srgbClr val="2A1F3D"/>
            </a:solidFill>
            <a:prstDash val="solid"/>
          </a:ln>
        </p:spPr>
      </p:sp>
      <p:sp>
        <p:nvSpPr>
          <p:cNvPr id="20" name="Shape 18"/>
          <p:cNvSpPr/>
          <p:nvPr/>
        </p:nvSpPr>
        <p:spPr>
          <a:xfrm>
            <a:off x="3703320" y="3154680"/>
            <a:ext cx="54864" cy="91"/>
          </a:xfrm>
          <a:prstGeom prst="line">
            <a:avLst/>
          </a:prstGeom>
          <a:noFill/>
          <a:ln w="19050">
            <a:solidFill>
              <a:srgbClr val="2A1F3D"/>
            </a:solidFill>
            <a:prstDash val="solid"/>
          </a:ln>
        </p:spPr>
      </p:sp>
      <p:sp>
        <p:nvSpPr>
          <p:cNvPr id="21" name="Shape 19"/>
          <p:cNvSpPr/>
          <p:nvPr/>
        </p:nvSpPr>
        <p:spPr>
          <a:xfrm>
            <a:off x="685800" y="1463040"/>
            <a:ext cx="1280160" cy="731520"/>
          </a:xfrm>
          <a:prstGeom prst="roundRect">
            <a:avLst>
              <a:gd name="adj" fmla="val 7500"/>
            </a:avLst>
          </a:prstGeom>
          <a:solidFill>
            <a:srgbClr val="E8EBF0"/>
          </a:solidFill>
          <a:ln w="15875">
            <a:solidFill>
              <a:srgbClr val="4A5568"/>
            </a:solidFill>
            <a:prstDash val="solid"/>
          </a:ln>
        </p:spPr>
      </p:sp>
      <p:sp>
        <p:nvSpPr>
          <p:cNvPr id="22" name="Shape 20"/>
          <p:cNvSpPr/>
          <p:nvPr/>
        </p:nvSpPr>
        <p:spPr>
          <a:xfrm>
            <a:off x="795528" y="1554480"/>
            <a:ext cx="1060704" cy="365760"/>
          </a:xfrm>
          <a:prstGeom prst="rect">
            <a:avLst/>
          </a:prstGeom>
          <a:solidFill>
            <a:srgbClr val="1F2A3A"/>
          </a:solidFill>
          <a:ln/>
        </p:spPr>
      </p:sp>
      <p:sp>
        <p:nvSpPr>
          <p:cNvPr id="23" name="Text 21"/>
          <p:cNvSpPr/>
          <p:nvPr/>
        </p:nvSpPr>
        <p:spPr>
          <a:xfrm>
            <a:off x="795528" y="1554480"/>
            <a:ext cx="1060704" cy="365760"/>
          </a:xfrm>
          <a:prstGeom prst="rect">
            <a:avLst/>
          </a:prstGeom>
          <a:noFill/>
          <a:ln/>
        </p:spPr>
        <p:txBody>
          <a:bodyPr wrap="square" lIns="0" tIns="0" rIns="0" bIns="0" rtlCol="0" anchor="ctr"/>
          <a:lstStyle/>
          <a:p>
            <a:pPr algn="ctr" indent="0" marL="0">
              <a:buNone/>
            </a:pPr>
            <a:r>
              <a:rPr lang="en-US" sz="1300" b="1" dirty="0">
                <a:solidFill>
                  <a:srgbClr val="7CFC9A"/>
                </a:solidFill>
                <a:latin typeface="Calibri" pitchFamily="34" charset="0"/>
                <a:ea typeface="Calibri" pitchFamily="34" charset="-122"/>
                <a:cs typeface="Calibri" pitchFamily="34" charset="-120"/>
              </a:rPr>
              <a:t>pH 0.4</a:t>
            </a:r>
            <a:endParaRPr lang="en-US" sz="1300" dirty="0"/>
          </a:p>
        </p:txBody>
      </p:sp>
      <p:sp>
        <p:nvSpPr>
          <p:cNvPr id="24" name="Text 22"/>
          <p:cNvSpPr/>
          <p:nvPr/>
        </p:nvSpPr>
        <p:spPr>
          <a:xfrm>
            <a:off x="685800" y="1947672"/>
            <a:ext cx="1280160" cy="201168"/>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pH meter</a:t>
            </a:r>
            <a:endParaRPr lang="en-US" sz="1000" dirty="0"/>
          </a:p>
        </p:txBody>
      </p:sp>
      <p:sp>
        <p:nvSpPr>
          <p:cNvPr id="25" name="Shape 23"/>
          <p:cNvSpPr/>
          <p:nvPr/>
        </p:nvSpPr>
        <p:spPr>
          <a:xfrm>
            <a:off x="1965960" y="1828800"/>
            <a:ext cx="594360" cy="502920"/>
          </a:xfrm>
          <a:prstGeom prst="line">
            <a:avLst/>
          </a:prstGeom>
          <a:noFill/>
          <a:ln w="15875">
            <a:solidFill>
              <a:srgbClr val="4A5568"/>
            </a:solidFill>
            <a:prstDash val="solid"/>
          </a:ln>
        </p:spPr>
      </p:sp>
      <p:sp>
        <p:nvSpPr>
          <p:cNvPr id="26" name="Shape 24"/>
          <p:cNvSpPr/>
          <p:nvPr/>
        </p:nvSpPr>
        <p:spPr>
          <a:xfrm>
            <a:off x="2514600" y="2331720"/>
            <a:ext cx="91440" cy="2194560"/>
          </a:xfrm>
          <a:prstGeom prst="rect">
            <a:avLst/>
          </a:prstGeom>
          <a:solidFill>
            <a:srgbClr val="D9DEE6"/>
          </a:solidFill>
          <a:ln w="12700">
            <a:solidFill>
              <a:srgbClr val="4A5568"/>
            </a:solidFill>
            <a:prstDash val="solid"/>
          </a:ln>
        </p:spPr>
      </p:sp>
      <p:sp>
        <p:nvSpPr>
          <p:cNvPr id="27" name="Shape 25"/>
          <p:cNvSpPr/>
          <p:nvPr/>
        </p:nvSpPr>
        <p:spPr>
          <a:xfrm>
            <a:off x="2496312" y="4462272"/>
            <a:ext cx="128016" cy="128016"/>
          </a:xfrm>
          <a:prstGeom prst="ellipse">
            <a:avLst/>
          </a:prstGeom>
          <a:solidFill>
            <a:srgbClr val="F2F2F2"/>
          </a:solidFill>
          <a:ln w="12700">
            <a:solidFill>
              <a:srgbClr val="4A5568"/>
            </a:solidFill>
            <a:prstDash val="solid"/>
          </a:ln>
        </p:spPr>
      </p:sp>
      <p:sp>
        <p:nvSpPr>
          <p:cNvPr id="28" name="Shape 26"/>
          <p:cNvSpPr/>
          <p:nvPr/>
        </p:nvSpPr>
        <p:spPr>
          <a:xfrm flipH="1">
            <a:off x="3154680" y="2606040"/>
            <a:ext cx="320040" cy="1965960"/>
          </a:xfrm>
          <a:prstGeom prst="line">
            <a:avLst/>
          </a:prstGeom>
          <a:noFill/>
          <a:ln w="50800">
            <a:solidFill>
              <a:srgbClr val="A8B4C4"/>
            </a:solidFill>
            <a:prstDash val="solid"/>
          </a:ln>
        </p:spPr>
      </p:sp>
      <p:sp>
        <p:nvSpPr>
          <p:cNvPr id="29" name="Text 27"/>
          <p:cNvSpPr/>
          <p:nvPr/>
        </p:nvSpPr>
        <p:spPr>
          <a:xfrm>
            <a:off x="3840480" y="3246120"/>
            <a:ext cx="1188720" cy="237744"/>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glass rod: stir</a:t>
            </a:r>
            <a:endParaRPr lang="en-US" sz="1050" dirty="0"/>
          </a:p>
        </p:txBody>
      </p:sp>
      <p:sp>
        <p:nvSpPr>
          <p:cNvPr id="30" name="Shape 28"/>
          <p:cNvSpPr/>
          <p:nvPr/>
        </p:nvSpPr>
        <p:spPr>
          <a:xfrm flipH="1">
            <a:off x="3355848" y="3364992"/>
            <a:ext cx="457200" cy="0"/>
          </a:xfrm>
          <a:prstGeom prst="line">
            <a:avLst/>
          </a:prstGeom>
          <a:noFill/>
          <a:ln w="9525">
            <a:solidFill>
              <a:srgbClr val="8A8F99"/>
            </a:solidFill>
            <a:prstDash val="solid"/>
          </a:ln>
        </p:spPr>
      </p:sp>
      <p:sp>
        <p:nvSpPr>
          <p:cNvPr id="31" name="Shape 29"/>
          <p:cNvSpPr/>
          <p:nvPr/>
        </p:nvSpPr>
        <p:spPr>
          <a:xfrm flipH="1">
            <a:off x="3246120" y="2148840"/>
            <a:ext cx="1188720" cy="731520"/>
          </a:xfrm>
          <a:prstGeom prst="line">
            <a:avLst/>
          </a:prstGeom>
          <a:noFill/>
          <a:ln w="38100">
            <a:solidFill>
              <a:srgbClr val="6B7385"/>
            </a:solidFill>
            <a:prstDash val="solid"/>
          </a:ln>
        </p:spPr>
      </p:sp>
      <p:sp>
        <p:nvSpPr>
          <p:cNvPr id="32" name="Shape 30"/>
          <p:cNvSpPr/>
          <p:nvPr/>
        </p:nvSpPr>
        <p:spPr>
          <a:xfrm>
            <a:off x="3127248" y="2830068"/>
            <a:ext cx="237744" cy="100584"/>
          </a:xfrm>
          <a:prstGeom prst="ellipse">
            <a:avLst/>
          </a:prstGeom>
          <a:solidFill>
            <a:srgbClr val="B8BEC9"/>
          </a:solidFill>
          <a:ln w="9525">
            <a:solidFill>
              <a:srgbClr val="6B7385"/>
            </a:solidFill>
            <a:prstDash val="solid"/>
          </a:ln>
        </p:spPr>
      </p:sp>
      <p:sp>
        <p:nvSpPr>
          <p:cNvPr id="33" name="Shape 31"/>
          <p:cNvSpPr/>
          <p:nvPr/>
        </p:nvSpPr>
        <p:spPr>
          <a:xfrm>
            <a:off x="3154680" y="2807208"/>
            <a:ext cx="182880" cy="73152"/>
          </a:xfrm>
          <a:prstGeom prst="ellipse">
            <a:avLst/>
          </a:prstGeom>
          <a:solidFill>
            <a:srgbClr val="FFFFFF"/>
          </a:solidFill>
          <a:ln w="6350">
            <a:solidFill>
              <a:srgbClr val="9AA3B0"/>
            </a:solidFill>
            <a:prstDash val="solid"/>
          </a:ln>
        </p:spPr>
      </p:sp>
      <p:sp>
        <p:nvSpPr>
          <p:cNvPr id="34" name="Text 32"/>
          <p:cNvSpPr/>
          <p:nvPr/>
        </p:nvSpPr>
        <p:spPr>
          <a:xfrm>
            <a:off x="3931920" y="1664208"/>
            <a:ext cx="1920240" cy="43891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Ca(OH)₂</a:t>
            </a:r>
            <a:r>
              <a:rPr lang="en-US" sz="1050" dirty="0">
                <a:solidFill>
                  <a:srgbClr val="262B3A"/>
                </a:solidFill>
                <a:latin typeface="Calibri" pitchFamily="34" charset="0"/>
                <a:ea typeface="Calibri" pitchFamily="34" charset="-122"/>
                <a:cs typeface="Calibri" pitchFamily="34" charset="-120"/>
              </a:rPr>
              <a:t> powder (0.10 g each time)</a:t>
            </a:r>
            <a:endParaRPr lang="en-US" sz="1050" dirty="0"/>
          </a:p>
        </p:txBody>
      </p:sp>
      <p:sp>
        <p:nvSpPr>
          <p:cNvPr id="35" name="Shape 33"/>
          <p:cNvSpPr/>
          <p:nvPr/>
        </p:nvSpPr>
        <p:spPr>
          <a:xfrm>
            <a:off x="914400" y="2834640"/>
            <a:ext cx="384048" cy="1920240"/>
          </a:xfrm>
          <a:prstGeom prst="rect">
            <a:avLst/>
          </a:prstGeom>
          <a:solidFill>
            <a:srgbClr val="EEF5FB"/>
          </a:solidFill>
          <a:ln w="15875">
            <a:solidFill>
              <a:srgbClr val="2A1F3D"/>
            </a:solidFill>
            <a:prstDash val="solid"/>
          </a:ln>
        </p:spPr>
      </p:sp>
      <p:sp>
        <p:nvSpPr>
          <p:cNvPr id="36" name="Shape 34"/>
          <p:cNvSpPr/>
          <p:nvPr/>
        </p:nvSpPr>
        <p:spPr>
          <a:xfrm>
            <a:off x="914400" y="3566160"/>
            <a:ext cx="384048" cy="1188720"/>
          </a:xfrm>
          <a:prstGeom prst="rect">
            <a:avLst/>
          </a:prstGeom>
          <a:solidFill>
            <a:srgbClr val="F9E0DA"/>
          </a:solidFill>
          <a:ln/>
        </p:spPr>
      </p:sp>
      <p:sp>
        <p:nvSpPr>
          <p:cNvPr id="37" name="Shape 35"/>
          <p:cNvSpPr/>
          <p:nvPr/>
        </p:nvSpPr>
        <p:spPr>
          <a:xfrm>
            <a:off x="914400" y="3566160"/>
            <a:ext cx="384048" cy="91"/>
          </a:xfrm>
          <a:prstGeom prst="line">
            <a:avLst/>
          </a:prstGeom>
          <a:noFill/>
          <a:ln w="12700">
            <a:solidFill>
              <a:srgbClr val="5B9BD5"/>
            </a:solidFill>
            <a:prstDash val="solid"/>
          </a:ln>
        </p:spPr>
      </p:sp>
      <p:sp>
        <p:nvSpPr>
          <p:cNvPr id="38" name="Shape 36"/>
          <p:cNvSpPr/>
          <p:nvPr/>
        </p:nvSpPr>
        <p:spPr>
          <a:xfrm>
            <a:off x="914400" y="3017520"/>
            <a:ext cx="109728" cy="91"/>
          </a:xfrm>
          <a:prstGeom prst="line">
            <a:avLst/>
          </a:prstGeom>
          <a:noFill/>
          <a:ln w="7620">
            <a:solidFill>
              <a:srgbClr val="2A1F3D"/>
            </a:solidFill>
            <a:prstDash val="solid"/>
          </a:ln>
        </p:spPr>
      </p:sp>
      <p:sp>
        <p:nvSpPr>
          <p:cNvPr id="39" name="Shape 37"/>
          <p:cNvSpPr/>
          <p:nvPr/>
        </p:nvSpPr>
        <p:spPr>
          <a:xfrm>
            <a:off x="914400" y="3218688"/>
            <a:ext cx="109728" cy="91"/>
          </a:xfrm>
          <a:prstGeom prst="line">
            <a:avLst/>
          </a:prstGeom>
          <a:noFill/>
          <a:ln w="7620">
            <a:solidFill>
              <a:srgbClr val="2A1F3D"/>
            </a:solidFill>
            <a:prstDash val="solid"/>
          </a:ln>
        </p:spPr>
      </p:sp>
      <p:sp>
        <p:nvSpPr>
          <p:cNvPr id="40" name="Shape 38"/>
          <p:cNvSpPr/>
          <p:nvPr/>
        </p:nvSpPr>
        <p:spPr>
          <a:xfrm>
            <a:off x="914400" y="3419856"/>
            <a:ext cx="109728" cy="91"/>
          </a:xfrm>
          <a:prstGeom prst="line">
            <a:avLst/>
          </a:prstGeom>
          <a:noFill/>
          <a:ln w="7620">
            <a:solidFill>
              <a:srgbClr val="2A1F3D"/>
            </a:solidFill>
            <a:prstDash val="solid"/>
          </a:ln>
        </p:spPr>
      </p:sp>
      <p:sp>
        <p:nvSpPr>
          <p:cNvPr id="41" name="Shape 39"/>
          <p:cNvSpPr/>
          <p:nvPr/>
        </p:nvSpPr>
        <p:spPr>
          <a:xfrm>
            <a:off x="914400" y="3621024"/>
            <a:ext cx="109728" cy="91"/>
          </a:xfrm>
          <a:prstGeom prst="line">
            <a:avLst/>
          </a:prstGeom>
          <a:noFill/>
          <a:ln w="7620">
            <a:solidFill>
              <a:srgbClr val="2A1F3D"/>
            </a:solidFill>
            <a:prstDash val="solid"/>
          </a:ln>
        </p:spPr>
      </p:sp>
      <p:sp>
        <p:nvSpPr>
          <p:cNvPr id="42" name="Shape 40"/>
          <p:cNvSpPr/>
          <p:nvPr/>
        </p:nvSpPr>
        <p:spPr>
          <a:xfrm>
            <a:off x="914400" y="3822192"/>
            <a:ext cx="109728" cy="91"/>
          </a:xfrm>
          <a:prstGeom prst="line">
            <a:avLst/>
          </a:prstGeom>
          <a:noFill/>
          <a:ln w="7620">
            <a:solidFill>
              <a:srgbClr val="2A1F3D"/>
            </a:solidFill>
            <a:prstDash val="solid"/>
          </a:ln>
        </p:spPr>
      </p:sp>
      <p:sp>
        <p:nvSpPr>
          <p:cNvPr id="43" name="Shape 41"/>
          <p:cNvSpPr/>
          <p:nvPr/>
        </p:nvSpPr>
        <p:spPr>
          <a:xfrm>
            <a:off x="914400" y="4023360"/>
            <a:ext cx="109728" cy="91"/>
          </a:xfrm>
          <a:prstGeom prst="line">
            <a:avLst/>
          </a:prstGeom>
          <a:noFill/>
          <a:ln w="7620">
            <a:solidFill>
              <a:srgbClr val="2A1F3D"/>
            </a:solidFill>
            <a:prstDash val="solid"/>
          </a:ln>
        </p:spPr>
      </p:sp>
      <p:sp>
        <p:nvSpPr>
          <p:cNvPr id="44" name="Shape 42"/>
          <p:cNvSpPr/>
          <p:nvPr/>
        </p:nvSpPr>
        <p:spPr>
          <a:xfrm>
            <a:off x="914400" y="4224528"/>
            <a:ext cx="109728" cy="91"/>
          </a:xfrm>
          <a:prstGeom prst="line">
            <a:avLst/>
          </a:prstGeom>
          <a:noFill/>
          <a:ln w="7620">
            <a:solidFill>
              <a:srgbClr val="2A1F3D"/>
            </a:solidFill>
            <a:prstDash val="solid"/>
          </a:ln>
        </p:spPr>
      </p:sp>
      <p:sp>
        <p:nvSpPr>
          <p:cNvPr id="45" name="Shape 43"/>
          <p:cNvSpPr/>
          <p:nvPr/>
        </p:nvSpPr>
        <p:spPr>
          <a:xfrm>
            <a:off x="914400" y="4425696"/>
            <a:ext cx="109728" cy="91"/>
          </a:xfrm>
          <a:prstGeom prst="line">
            <a:avLst/>
          </a:prstGeom>
          <a:noFill/>
          <a:ln w="7620">
            <a:solidFill>
              <a:srgbClr val="2A1F3D"/>
            </a:solidFill>
            <a:prstDash val="solid"/>
          </a:ln>
        </p:spPr>
      </p:sp>
      <p:sp>
        <p:nvSpPr>
          <p:cNvPr id="46" name="Shape 44"/>
          <p:cNvSpPr/>
          <p:nvPr/>
        </p:nvSpPr>
        <p:spPr>
          <a:xfrm>
            <a:off x="777240" y="4681728"/>
            <a:ext cx="658368" cy="73152"/>
          </a:xfrm>
          <a:prstGeom prst="rect">
            <a:avLst/>
          </a:prstGeom>
          <a:solidFill>
            <a:srgbClr val="2A1F3D"/>
          </a:solidFill>
          <a:ln/>
        </p:spPr>
      </p:sp>
      <p:sp>
        <p:nvSpPr>
          <p:cNvPr id="47" name="Shape 45"/>
          <p:cNvSpPr/>
          <p:nvPr/>
        </p:nvSpPr>
        <p:spPr>
          <a:xfrm>
            <a:off x="4434840" y="4251960"/>
            <a:ext cx="1234440" cy="502920"/>
          </a:xfrm>
          <a:prstGeom prst="roundRect">
            <a:avLst>
              <a:gd name="adj" fmla="val 10909"/>
            </a:avLst>
          </a:prstGeom>
          <a:solidFill>
            <a:srgbClr val="E8EBF0"/>
          </a:solidFill>
          <a:ln w="15875">
            <a:solidFill>
              <a:srgbClr val="4A5568"/>
            </a:solidFill>
            <a:prstDash val="solid"/>
          </a:ln>
        </p:spPr>
      </p:sp>
      <p:sp>
        <p:nvSpPr>
          <p:cNvPr id="48" name="Shape 46"/>
          <p:cNvSpPr/>
          <p:nvPr/>
        </p:nvSpPr>
        <p:spPr>
          <a:xfrm>
            <a:off x="4526280" y="4370832"/>
            <a:ext cx="1051560" cy="265176"/>
          </a:xfrm>
          <a:prstGeom prst="rect">
            <a:avLst/>
          </a:prstGeom>
          <a:solidFill>
            <a:srgbClr val="1F2A3A"/>
          </a:solidFill>
          <a:ln/>
        </p:spPr>
      </p:sp>
      <p:sp>
        <p:nvSpPr>
          <p:cNvPr id="49" name="Text 47"/>
          <p:cNvSpPr/>
          <p:nvPr/>
        </p:nvSpPr>
        <p:spPr>
          <a:xfrm>
            <a:off x="4526280" y="4370832"/>
            <a:ext cx="1051560" cy="265176"/>
          </a:xfrm>
          <a:prstGeom prst="rect">
            <a:avLst/>
          </a:prstGeom>
          <a:noFill/>
          <a:ln/>
        </p:spPr>
        <p:txBody>
          <a:bodyPr wrap="square" lIns="0" tIns="0" rIns="0" bIns="0" rtlCol="0" anchor="ctr"/>
          <a:lstStyle/>
          <a:p>
            <a:pPr algn="ctr" indent="0" marL="0">
              <a:buNone/>
            </a:pPr>
            <a:r>
              <a:rPr lang="en-US" sz="1100" b="1" dirty="0">
                <a:solidFill>
                  <a:srgbClr val="7CFC9A"/>
                </a:solidFill>
                <a:latin typeface="Calibri" pitchFamily="34" charset="0"/>
                <a:ea typeface="Calibri" pitchFamily="34" charset="-122"/>
                <a:cs typeface="Calibri" pitchFamily="34" charset="-120"/>
              </a:rPr>
              <a:t>0.10 g</a:t>
            </a:r>
            <a:endParaRPr lang="en-US" sz="1100" dirty="0"/>
          </a:p>
        </p:txBody>
      </p:sp>
      <p:sp>
        <p:nvSpPr>
          <p:cNvPr id="50" name="Shape 48"/>
          <p:cNvSpPr/>
          <p:nvPr/>
        </p:nvSpPr>
        <p:spPr>
          <a:xfrm>
            <a:off x="4572000" y="4142232"/>
            <a:ext cx="960120" cy="100584"/>
          </a:xfrm>
          <a:prstGeom prst="rect">
            <a:avLst/>
          </a:prstGeom>
          <a:solidFill>
            <a:srgbClr val="9AA3B0"/>
          </a:solidFill>
          <a:ln w="9525">
            <a:solidFill>
              <a:srgbClr val="4A5568"/>
            </a:solidFill>
            <a:prstDash val="solid"/>
          </a:ln>
        </p:spPr>
      </p:sp>
      <p:sp>
        <p:nvSpPr>
          <p:cNvPr id="51" name="Shape 49"/>
          <p:cNvSpPr/>
          <p:nvPr/>
        </p:nvSpPr>
        <p:spPr>
          <a:xfrm>
            <a:off x="4709160" y="4041648"/>
            <a:ext cx="731520" cy="100584"/>
          </a:xfrm>
          <a:custGeom>
            <a:avLst/>
            <a:gdLst/>
            <a:ahLst/>
            <a:cxnLst/>
            <a:rect l="l" t="t" r="r" b="b"/>
            <a:pathLst>
              <a:path w="731520" h="100584">
                <a:moveTo>
                  <a:pt x="0" y="0"/>
                </a:moveTo>
                <a:lnTo>
                  <a:pt x="731520" y="0"/>
                </a:lnTo>
                <a:lnTo>
                  <a:pt x="640080" y="100584"/>
                </a:lnTo>
                <a:lnTo>
                  <a:pt x="91440" y="100584"/>
                </a:lnTo>
                <a:close/>
              </a:path>
            </a:pathLst>
          </a:custGeom>
          <a:solidFill>
            <a:srgbClr val="F4F4F4"/>
          </a:solidFill>
          <a:ln w="9525">
            <a:solidFill>
              <a:srgbClr val="8A8F99"/>
            </a:solidFill>
            <a:prstDash val="solid"/>
          </a:ln>
        </p:spPr>
      </p:sp>
      <p:sp>
        <p:nvSpPr>
          <p:cNvPr id="52" name="Shape 50"/>
          <p:cNvSpPr/>
          <p:nvPr/>
        </p:nvSpPr>
        <p:spPr>
          <a:xfrm>
            <a:off x="4892040" y="3995928"/>
            <a:ext cx="365760" cy="91440"/>
          </a:xfrm>
          <a:prstGeom prst="ellipse">
            <a:avLst/>
          </a:prstGeom>
          <a:solidFill>
            <a:srgbClr val="FFFFFF"/>
          </a:solidFill>
          <a:ln w="6350">
            <a:solidFill>
              <a:srgbClr val="9AA3B0"/>
            </a:solidFill>
            <a:prstDash val="solid"/>
          </a:ln>
        </p:spPr>
      </p:sp>
      <p:sp>
        <p:nvSpPr>
          <p:cNvPr id="53" name="Text 51"/>
          <p:cNvSpPr/>
          <p:nvPr/>
        </p:nvSpPr>
        <p:spPr>
          <a:xfrm>
            <a:off x="502920" y="4828032"/>
            <a:ext cx="1234440" cy="256032"/>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measuring cylinder</a:t>
            </a:r>
            <a:endParaRPr lang="en-US" sz="1000" dirty="0"/>
          </a:p>
        </p:txBody>
      </p:sp>
      <p:sp>
        <p:nvSpPr>
          <p:cNvPr id="54" name="Text 52"/>
          <p:cNvSpPr/>
          <p:nvPr/>
        </p:nvSpPr>
        <p:spPr>
          <a:xfrm>
            <a:off x="2103120" y="4828032"/>
            <a:ext cx="1645920" cy="256032"/>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50 cm³ dilute HCl</a:t>
            </a:r>
            <a:endParaRPr lang="en-US" sz="1000" dirty="0"/>
          </a:p>
        </p:txBody>
      </p:sp>
      <p:sp>
        <p:nvSpPr>
          <p:cNvPr id="55" name="Text 53"/>
          <p:cNvSpPr/>
          <p:nvPr/>
        </p:nvSpPr>
        <p:spPr>
          <a:xfrm>
            <a:off x="4434840" y="4828032"/>
            <a:ext cx="1234440" cy="256032"/>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balance</a:t>
            </a:r>
            <a:endParaRPr lang="en-US" sz="1000" dirty="0"/>
          </a:p>
        </p:txBody>
      </p:sp>
      <p:sp>
        <p:nvSpPr>
          <p:cNvPr id="56" name="Shape 54"/>
          <p:cNvSpPr/>
          <p:nvPr/>
        </p:nvSpPr>
        <p:spPr>
          <a:xfrm>
            <a:off x="6217920" y="1188720"/>
            <a:ext cx="5562295" cy="2331720"/>
          </a:xfrm>
          <a:prstGeom prst="roundRect">
            <a:avLst>
              <a:gd name="adj" fmla="val 2353"/>
            </a:avLst>
          </a:prstGeom>
          <a:solidFill>
            <a:srgbClr val="F8F5FC"/>
          </a:solidFill>
          <a:ln w="9525">
            <a:solidFill>
              <a:srgbClr val="DDD3EC"/>
            </a:solidFill>
            <a:prstDash val="solid"/>
          </a:ln>
        </p:spPr>
      </p:sp>
      <p:sp>
        <p:nvSpPr>
          <p:cNvPr id="57" name="Text 5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58" name="Text 56"/>
          <p:cNvSpPr/>
          <p:nvPr/>
        </p:nvSpPr>
        <p:spPr>
          <a:xfrm>
            <a:off x="6382512" y="1609344"/>
            <a:ext cx="5233111" cy="183794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Measure </a:t>
            </a:r>
            <a:r>
              <a:rPr lang="en-US" sz="1150" b="1" dirty="0">
                <a:solidFill>
                  <a:srgbClr val="262B3A"/>
                </a:solidFill>
                <a:latin typeface="Calibri" pitchFamily="34" charset="0"/>
                <a:ea typeface="Calibri" pitchFamily="34" charset="-122"/>
                <a:cs typeface="Calibri" pitchFamily="34" charset="-120"/>
              </a:rPr>
              <a:t>50 cm³</a:t>
            </a:r>
            <a:r>
              <a:rPr lang="en-US" sz="1150" dirty="0">
                <a:solidFill>
                  <a:srgbClr val="262B3A"/>
                </a:solidFill>
                <a:latin typeface="Calibri" pitchFamily="34" charset="0"/>
                <a:ea typeface="Calibri" pitchFamily="34" charset="-122"/>
                <a:cs typeface="Calibri" pitchFamily="34" charset="-120"/>
              </a:rPr>
              <a:t> of dilute hydrochloric acid into a beaker with a </a:t>
            </a:r>
            <a:r>
              <a:rPr lang="en-US" sz="1150" b="1" dirty="0">
                <a:solidFill>
                  <a:srgbClr val="262B3A"/>
                </a:solidFill>
                <a:latin typeface="Calibri" pitchFamily="34" charset="0"/>
                <a:ea typeface="Calibri" pitchFamily="34" charset="-122"/>
                <a:cs typeface="Calibri" pitchFamily="34" charset="-120"/>
              </a:rPr>
              <a:t>measuring cylinder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Record the starting </a:t>
            </a:r>
            <a:r>
              <a:rPr lang="en-US" sz="1150" b="1" dirty="0">
                <a:solidFill>
                  <a:srgbClr val="262B3A"/>
                </a:solidFill>
                <a:latin typeface="Calibri" pitchFamily="34" charset="0"/>
                <a:ea typeface="Calibri" pitchFamily="34" charset="-122"/>
                <a:cs typeface="Calibri" pitchFamily="34" charset="-120"/>
              </a:rPr>
              <a:t>pH</a:t>
            </a:r>
            <a:r>
              <a:rPr lang="en-US" sz="1150" dirty="0">
                <a:solidFill>
                  <a:srgbClr val="262B3A"/>
                </a:solidFill>
                <a:latin typeface="Calibri" pitchFamily="34" charset="0"/>
                <a:ea typeface="Calibri" pitchFamily="34" charset="-122"/>
                <a:cs typeface="Calibri" pitchFamily="34" charset="-120"/>
              </a:rPr>
              <a:t> (pH meter, or a drop on universal indicator paper and the colour chart).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Weigh </a:t>
            </a:r>
            <a:r>
              <a:rPr lang="en-US" sz="1150" b="1" dirty="0">
                <a:solidFill>
                  <a:srgbClr val="262B3A"/>
                </a:solidFill>
                <a:latin typeface="Calibri" pitchFamily="34" charset="0"/>
                <a:ea typeface="Calibri" pitchFamily="34" charset="-122"/>
                <a:cs typeface="Calibri" pitchFamily="34" charset="-120"/>
              </a:rPr>
              <a:t>0.10 g</a:t>
            </a:r>
            <a:r>
              <a:rPr lang="en-US" sz="1150" dirty="0">
                <a:solidFill>
                  <a:srgbClr val="262B3A"/>
                </a:solidFill>
                <a:latin typeface="Calibri" pitchFamily="34" charset="0"/>
                <a:ea typeface="Calibri" pitchFamily="34" charset="-122"/>
                <a:cs typeface="Calibri" pitchFamily="34" charset="-120"/>
              </a:rPr>
              <a:t> of calcium hydroxide powder; add it, </a:t>
            </a:r>
            <a:r>
              <a:rPr lang="en-US" sz="1150" b="1" dirty="0">
                <a:solidFill>
                  <a:srgbClr val="262B3A"/>
                </a:solidFill>
                <a:latin typeface="Calibri" pitchFamily="34" charset="0"/>
                <a:ea typeface="Calibri" pitchFamily="34" charset="-122"/>
                <a:cs typeface="Calibri" pitchFamily="34" charset="-120"/>
              </a:rPr>
              <a:t>stir</a:t>
            </a:r>
            <a:r>
              <a:rPr lang="en-US" sz="1150" dirty="0">
                <a:solidFill>
                  <a:srgbClr val="262B3A"/>
                </a:solidFill>
                <a:latin typeface="Calibri" pitchFamily="34" charset="0"/>
                <a:ea typeface="Calibri" pitchFamily="34" charset="-122"/>
                <a:cs typeface="Calibri" pitchFamily="34" charset="-120"/>
              </a:rPr>
              <a:t>, wait, record the pH.</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Repeat until about </a:t>
            </a:r>
            <a:r>
              <a:rPr lang="en-US" sz="1150" b="1" dirty="0">
                <a:solidFill>
                  <a:srgbClr val="262B3A"/>
                </a:solidFill>
                <a:latin typeface="Calibri" pitchFamily="34" charset="0"/>
                <a:ea typeface="Calibri" pitchFamily="34" charset="-122"/>
                <a:cs typeface="Calibri" pitchFamily="34" charset="-120"/>
              </a:rPr>
              <a:t>1.2 g</a:t>
            </a:r>
            <a:r>
              <a:rPr lang="en-US" sz="1150" dirty="0">
                <a:solidFill>
                  <a:srgbClr val="262B3A"/>
                </a:solidFill>
                <a:latin typeface="Calibri" pitchFamily="34" charset="0"/>
                <a:ea typeface="Calibri" pitchFamily="34" charset="-122"/>
                <a:cs typeface="Calibri" pitchFamily="34" charset="-120"/>
              </a:rPr>
              <a:t> in total has been added.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Plot </a:t>
            </a:r>
            <a:r>
              <a:rPr lang="en-US" sz="1150" b="1" dirty="0">
                <a:solidFill>
                  <a:srgbClr val="262B3A"/>
                </a:solidFill>
                <a:latin typeface="Calibri" pitchFamily="34" charset="0"/>
                <a:ea typeface="Calibri" pitchFamily="34" charset="-122"/>
                <a:cs typeface="Calibri" pitchFamily="34" charset="-120"/>
              </a:rPr>
              <a:t>pH (y-axis)</a:t>
            </a:r>
            <a:r>
              <a:rPr lang="en-US" sz="1150" dirty="0">
                <a:solidFill>
                  <a:srgbClr val="262B3A"/>
                </a:solidFill>
                <a:latin typeface="Calibri" pitchFamily="34" charset="0"/>
                <a:ea typeface="Calibri" pitchFamily="34" charset="-122"/>
                <a:cs typeface="Calibri" pitchFamily="34" charset="-120"/>
              </a:rPr>
              <a:t> against </a:t>
            </a:r>
            <a:r>
              <a:rPr lang="en-US" sz="1150" b="1" dirty="0">
                <a:solidFill>
                  <a:srgbClr val="262B3A"/>
                </a:solidFill>
                <a:latin typeface="Calibri" pitchFamily="34" charset="0"/>
                <a:ea typeface="Calibri" pitchFamily="34" charset="-122"/>
                <a:cs typeface="Calibri" pitchFamily="34" charset="-120"/>
              </a:rPr>
              <a:t>total mass added (x-axis)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59" name="Shape 57"/>
          <p:cNvSpPr/>
          <p:nvPr/>
        </p:nvSpPr>
        <p:spPr>
          <a:xfrm>
            <a:off x="6217920" y="3657600"/>
            <a:ext cx="5562295" cy="2057400"/>
          </a:xfrm>
          <a:prstGeom prst="roundRect">
            <a:avLst>
              <a:gd name="adj" fmla="val 2667"/>
            </a:avLst>
          </a:prstGeom>
          <a:solidFill>
            <a:srgbClr val="FFF4E0"/>
          </a:solidFill>
          <a:ln w="9525">
            <a:solidFill>
              <a:srgbClr val="F1D9A8"/>
            </a:solidFill>
            <a:prstDash val="solid"/>
          </a:ln>
        </p:spPr>
      </p:sp>
      <p:sp>
        <p:nvSpPr>
          <p:cNvPr id="60" name="Text 58"/>
          <p:cNvSpPr/>
          <p:nvPr/>
        </p:nvSpPr>
        <p:spPr>
          <a:xfrm>
            <a:off x="6382512" y="37307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Variables and safety</a:t>
            </a:r>
            <a:endParaRPr lang="en-US" sz="1300" dirty="0"/>
          </a:p>
        </p:txBody>
      </p:sp>
      <p:sp>
        <p:nvSpPr>
          <p:cNvPr id="61" name="Text 59"/>
          <p:cNvSpPr/>
          <p:nvPr/>
        </p:nvSpPr>
        <p:spPr>
          <a:xfrm>
            <a:off x="6382512" y="4041648"/>
            <a:ext cx="5233111" cy="1600200"/>
          </a:xfrm>
          <a:prstGeom prst="rect">
            <a:avLst/>
          </a:prstGeom>
          <a:noFill/>
          <a:ln/>
        </p:spPr>
        <p:txBody>
          <a:bodyPr wrap="square" lIns="0" tIns="0" rIns="0" bIns="0" rtlCol="0" anchor="t"/>
          <a:lstStyle/>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IV   </a:t>
            </a:r>
            <a:r>
              <a:rPr lang="en-US" sz="1050" dirty="0">
                <a:solidFill>
                  <a:srgbClr val="262B3A"/>
                </a:solidFill>
                <a:latin typeface="Calibri" pitchFamily="34" charset="0"/>
                <a:ea typeface="Calibri" pitchFamily="34" charset="-122"/>
                <a:cs typeface="Calibri" pitchFamily="34" charset="-120"/>
              </a:rPr>
              <a:t>total mass of calcium hydroxide added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DV   </a:t>
            </a:r>
            <a:r>
              <a:rPr lang="en-US" sz="1050" dirty="0">
                <a:solidFill>
                  <a:srgbClr val="262B3A"/>
                </a:solidFill>
                <a:latin typeface="Calibri" pitchFamily="34" charset="0"/>
                <a:ea typeface="Calibri" pitchFamily="34" charset="-122"/>
                <a:cs typeface="Calibri" pitchFamily="34" charset="-120"/>
              </a:rPr>
              <a:t>pH of the mixture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Control   </a:t>
            </a:r>
            <a:r>
              <a:rPr lang="en-US" sz="1050" dirty="0">
                <a:solidFill>
                  <a:srgbClr val="262B3A"/>
                </a:solidFill>
                <a:latin typeface="Calibri" pitchFamily="34" charset="0"/>
                <a:ea typeface="Calibri" pitchFamily="34" charset="-122"/>
                <a:cs typeface="Calibri" pitchFamily="34" charset="-120"/>
              </a:rPr>
              <a:t>volume and concentration of acid; size of each portion; stirring time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4 Safety   </a:t>
            </a:r>
            <a:r>
              <a:rPr lang="en-US" sz="1050" b="1" dirty="0">
                <a:solidFill>
                  <a:srgbClr val="C8414C"/>
                </a:solidFill>
                <a:latin typeface="Calibri" pitchFamily="34" charset="0"/>
                <a:ea typeface="Calibri" pitchFamily="34" charset="-122"/>
                <a:cs typeface="Calibri" pitchFamily="34" charset="-120"/>
              </a:rPr>
              <a:t>eye protection; Ca(OH)₂ and CaO can cause serious eye damage; mop up spills</a:t>
            </a:r>
            <a:endParaRPr lang="en-US" sz="1050" dirty="0"/>
          </a:p>
        </p:txBody>
      </p:sp>
      <p:sp>
        <p:nvSpPr>
          <p:cNvPr id="62" name="Shape 60"/>
          <p:cNvSpPr/>
          <p:nvPr/>
        </p:nvSpPr>
        <p:spPr>
          <a:xfrm>
            <a:off x="411480" y="5833872"/>
            <a:ext cx="11368735" cy="530352"/>
          </a:xfrm>
          <a:prstGeom prst="rect">
            <a:avLst/>
          </a:prstGeom>
          <a:solidFill>
            <a:srgbClr val="FFF4E0"/>
          </a:solidFill>
          <a:ln w="6350">
            <a:solidFill>
              <a:srgbClr val="F1D9A8"/>
            </a:solidFill>
            <a:prstDash val="solid"/>
          </a:ln>
        </p:spPr>
      </p:sp>
      <p:sp>
        <p:nvSpPr>
          <p:cNvPr id="63" name="Shape 61"/>
          <p:cNvSpPr/>
          <p:nvPr/>
        </p:nvSpPr>
        <p:spPr>
          <a:xfrm>
            <a:off x="411480" y="5833872"/>
            <a:ext cx="82296" cy="530352"/>
          </a:xfrm>
          <a:prstGeom prst="rect">
            <a:avLst/>
          </a:prstGeom>
          <a:solidFill>
            <a:srgbClr val="E39A2F"/>
          </a:solidFill>
          <a:ln w="12700">
            <a:solidFill>
              <a:srgbClr val="E39A2F"/>
            </a:solidFill>
            <a:prstDash val="solid"/>
          </a:ln>
        </p:spPr>
      </p:sp>
      <p:sp>
        <p:nvSpPr>
          <p:cNvPr id="64" name="Text 6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must you </a:t>
            </a:r>
            <a:r>
              <a:rPr lang="en-US" sz="1150" b="1" dirty="0">
                <a:solidFill>
                  <a:srgbClr val="262B3A"/>
                </a:solidFill>
                <a:latin typeface="Calibri" pitchFamily="34" charset="0"/>
                <a:ea typeface="Calibri" pitchFamily="34" charset="-122"/>
                <a:cs typeface="Calibri" pitchFamily="34" charset="-120"/>
              </a:rPr>
              <a:t>stir and wait</a:t>
            </a:r>
            <a:r>
              <a:rPr lang="en-US" sz="1150" dirty="0">
                <a:solidFill>
                  <a:srgbClr val="262B3A"/>
                </a:solidFill>
                <a:latin typeface="Calibri" pitchFamily="34" charset="0"/>
                <a:ea typeface="Calibri" pitchFamily="34" charset="-122"/>
                <a:cs typeface="Calibri" pitchFamily="34" charset="-120"/>
              </a:rPr>
              <a:t> before reading the pH each time? Why is a pH meter better than universal indicator paper?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Core Practical: pH results and analysis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3.6 • sample results: 0.10 g portions of Ca(OH)₂ into 50.0 cm³ of 0.40 mol dm⁻³ HCl</a:t>
            </a:r>
            <a:endParaRPr lang="en-US" sz="1100" dirty="0"/>
          </a:p>
        </p:txBody>
      </p:sp>
      <p:sp>
        <p:nvSpPr>
          <p:cNvPr id="6" name="Shape 4"/>
          <p:cNvSpPr/>
          <p:nvPr/>
        </p:nvSpPr>
        <p:spPr>
          <a:xfrm>
            <a:off x="10408615" y="292608"/>
            <a:ext cx="1371600"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408615" y="29260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CP 3.6  |  12</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sample data plotted to scale (model results)</a:t>
            </a:r>
            <a:endParaRPr lang="en-US" sz="1000" dirty="0"/>
          </a:p>
        </p:txBody>
      </p:sp>
      <p:sp>
        <p:nvSpPr>
          <p:cNvPr id="12" name="Shape 10"/>
          <p:cNvSpPr/>
          <p:nvPr/>
        </p:nvSpPr>
        <p:spPr>
          <a:xfrm>
            <a:off x="1325880" y="1417320"/>
            <a:ext cx="4389120" cy="3383280"/>
          </a:xfrm>
          <a:prstGeom prst="rect">
            <a:avLst/>
          </a:prstGeom>
          <a:solidFill>
            <a:srgbClr val="FFFFFF"/>
          </a:solidFill>
          <a:ln/>
        </p:spPr>
      </p:sp>
      <p:sp>
        <p:nvSpPr>
          <p:cNvPr id="13" name="Shape 11"/>
          <p:cNvSpPr/>
          <p:nvPr/>
        </p:nvSpPr>
        <p:spPr>
          <a:xfrm>
            <a:off x="1325880" y="1417320"/>
            <a:ext cx="91" cy="3383280"/>
          </a:xfrm>
          <a:prstGeom prst="line">
            <a:avLst/>
          </a:prstGeom>
          <a:noFill/>
          <a:ln w="6350">
            <a:solidFill>
              <a:srgbClr val="D6CBE8"/>
            </a:solidFill>
            <a:prstDash val="solid"/>
          </a:ln>
        </p:spPr>
      </p:sp>
      <p:sp>
        <p:nvSpPr>
          <p:cNvPr id="14" name="Shape 12"/>
          <p:cNvSpPr/>
          <p:nvPr/>
        </p:nvSpPr>
        <p:spPr>
          <a:xfrm>
            <a:off x="1691640" y="1417320"/>
            <a:ext cx="91" cy="3383280"/>
          </a:xfrm>
          <a:prstGeom prst="line">
            <a:avLst/>
          </a:prstGeom>
          <a:noFill/>
          <a:ln w="6350">
            <a:solidFill>
              <a:srgbClr val="EEE9F6"/>
            </a:solidFill>
            <a:prstDash val="solid"/>
          </a:ln>
        </p:spPr>
      </p:sp>
      <p:sp>
        <p:nvSpPr>
          <p:cNvPr id="15" name="Shape 13"/>
          <p:cNvSpPr/>
          <p:nvPr/>
        </p:nvSpPr>
        <p:spPr>
          <a:xfrm>
            <a:off x="2057400" y="1417320"/>
            <a:ext cx="91" cy="3383280"/>
          </a:xfrm>
          <a:prstGeom prst="line">
            <a:avLst/>
          </a:prstGeom>
          <a:noFill/>
          <a:ln w="6350">
            <a:solidFill>
              <a:srgbClr val="D6CBE8"/>
            </a:solidFill>
            <a:prstDash val="solid"/>
          </a:ln>
        </p:spPr>
      </p:sp>
      <p:sp>
        <p:nvSpPr>
          <p:cNvPr id="16" name="Shape 14"/>
          <p:cNvSpPr/>
          <p:nvPr/>
        </p:nvSpPr>
        <p:spPr>
          <a:xfrm>
            <a:off x="2423160" y="1417320"/>
            <a:ext cx="91" cy="3383280"/>
          </a:xfrm>
          <a:prstGeom prst="line">
            <a:avLst/>
          </a:prstGeom>
          <a:noFill/>
          <a:ln w="6350">
            <a:solidFill>
              <a:srgbClr val="EEE9F6"/>
            </a:solidFill>
            <a:prstDash val="solid"/>
          </a:ln>
        </p:spPr>
      </p:sp>
      <p:sp>
        <p:nvSpPr>
          <p:cNvPr id="17" name="Shape 15"/>
          <p:cNvSpPr/>
          <p:nvPr/>
        </p:nvSpPr>
        <p:spPr>
          <a:xfrm>
            <a:off x="2788920" y="1417320"/>
            <a:ext cx="91" cy="3383280"/>
          </a:xfrm>
          <a:prstGeom prst="line">
            <a:avLst/>
          </a:prstGeom>
          <a:noFill/>
          <a:ln w="6350">
            <a:solidFill>
              <a:srgbClr val="D6CBE8"/>
            </a:solidFill>
            <a:prstDash val="solid"/>
          </a:ln>
        </p:spPr>
      </p:sp>
      <p:sp>
        <p:nvSpPr>
          <p:cNvPr id="18" name="Shape 16"/>
          <p:cNvSpPr/>
          <p:nvPr/>
        </p:nvSpPr>
        <p:spPr>
          <a:xfrm>
            <a:off x="3154680" y="1417320"/>
            <a:ext cx="91" cy="3383280"/>
          </a:xfrm>
          <a:prstGeom prst="line">
            <a:avLst/>
          </a:prstGeom>
          <a:noFill/>
          <a:ln w="6350">
            <a:solidFill>
              <a:srgbClr val="EEE9F6"/>
            </a:solidFill>
            <a:prstDash val="solid"/>
          </a:ln>
        </p:spPr>
      </p:sp>
      <p:sp>
        <p:nvSpPr>
          <p:cNvPr id="19" name="Shape 17"/>
          <p:cNvSpPr/>
          <p:nvPr/>
        </p:nvSpPr>
        <p:spPr>
          <a:xfrm>
            <a:off x="3520440" y="1417320"/>
            <a:ext cx="91" cy="3383280"/>
          </a:xfrm>
          <a:prstGeom prst="line">
            <a:avLst/>
          </a:prstGeom>
          <a:noFill/>
          <a:ln w="6350">
            <a:solidFill>
              <a:srgbClr val="D6CBE8"/>
            </a:solidFill>
            <a:prstDash val="solid"/>
          </a:ln>
        </p:spPr>
      </p:sp>
      <p:sp>
        <p:nvSpPr>
          <p:cNvPr id="20" name="Shape 18"/>
          <p:cNvSpPr/>
          <p:nvPr/>
        </p:nvSpPr>
        <p:spPr>
          <a:xfrm>
            <a:off x="3886200" y="1417320"/>
            <a:ext cx="91" cy="3383280"/>
          </a:xfrm>
          <a:prstGeom prst="line">
            <a:avLst/>
          </a:prstGeom>
          <a:noFill/>
          <a:ln w="6350">
            <a:solidFill>
              <a:srgbClr val="EEE9F6"/>
            </a:solidFill>
            <a:prstDash val="solid"/>
          </a:ln>
        </p:spPr>
      </p:sp>
      <p:sp>
        <p:nvSpPr>
          <p:cNvPr id="21" name="Shape 19"/>
          <p:cNvSpPr/>
          <p:nvPr/>
        </p:nvSpPr>
        <p:spPr>
          <a:xfrm>
            <a:off x="4251960" y="1417320"/>
            <a:ext cx="91" cy="3383280"/>
          </a:xfrm>
          <a:prstGeom prst="line">
            <a:avLst/>
          </a:prstGeom>
          <a:noFill/>
          <a:ln w="6350">
            <a:solidFill>
              <a:srgbClr val="D6CBE8"/>
            </a:solidFill>
            <a:prstDash val="solid"/>
          </a:ln>
        </p:spPr>
      </p:sp>
      <p:sp>
        <p:nvSpPr>
          <p:cNvPr id="22" name="Shape 20"/>
          <p:cNvSpPr/>
          <p:nvPr/>
        </p:nvSpPr>
        <p:spPr>
          <a:xfrm>
            <a:off x="4617720" y="1417320"/>
            <a:ext cx="91" cy="3383280"/>
          </a:xfrm>
          <a:prstGeom prst="line">
            <a:avLst/>
          </a:prstGeom>
          <a:noFill/>
          <a:ln w="6350">
            <a:solidFill>
              <a:srgbClr val="EEE9F6"/>
            </a:solidFill>
            <a:prstDash val="solid"/>
          </a:ln>
        </p:spPr>
      </p:sp>
      <p:sp>
        <p:nvSpPr>
          <p:cNvPr id="23" name="Shape 21"/>
          <p:cNvSpPr/>
          <p:nvPr/>
        </p:nvSpPr>
        <p:spPr>
          <a:xfrm>
            <a:off x="4983480" y="1417320"/>
            <a:ext cx="91" cy="3383280"/>
          </a:xfrm>
          <a:prstGeom prst="line">
            <a:avLst/>
          </a:prstGeom>
          <a:noFill/>
          <a:ln w="6350">
            <a:solidFill>
              <a:srgbClr val="D6CBE8"/>
            </a:solidFill>
            <a:prstDash val="solid"/>
          </a:ln>
        </p:spPr>
      </p:sp>
      <p:sp>
        <p:nvSpPr>
          <p:cNvPr id="24" name="Shape 22"/>
          <p:cNvSpPr/>
          <p:nvPr/>
        </p:nvSpPr>
        <p:spPr>
          <a:xfrm>
            <a:off x="5349240" y="1417320"/>
            <a:ext cx="91" cy="3383280"/>
          </a:xfrm>
          <a:prstGeom prst="line">
            <a:avLst/>
          </a:prstGeom>
          <a:noFill/>
          <a:ln w="6350">
            <a:solidFill>
              <a:srgbClr val="EEE9F6"/>
            </a:solidFill>
            <a:prstDash val="solid"/>
          </a:ln>
        </p:spPr>
      </p:sp>
      <p:sp>
        <p:nvSpPr>
          <p:cNvPr id="25" name="Shape 23"/>
          <p:cNvSpPr/>
          <p:nvPr/>
        </p:nvSpPr>
        <p:spPr>
          <a:xfrm>
            <a:off x="5715000" y="1417320"/>
            <a:ext cx="91" cy="3383280"/>
          </a:xfrm>
          <a:prstGeom prst="line">
            <a:avLst/>
          </a:prstGeom>
          <a:noFill/>
          <a:ln w="6350">
            <a:solidFill>
              <a:srgbClr val="D6CBE8"/>
            </a:solidFill>
            <a:prstDash val="solid"/>
          </a:ln>
        </p:spPr>
      </p:sp>
      <p:sp>
        <p:nvSpPr>
          <p:cNvPr id="26" name="Shape 24"/>
          <p:cNvSpPr/>
          <p:nvPr/>
        </p:nvSpPr>
        <p:spPr>
          <a:xfrm>
            <a:off x="1325880" y="4800600"/>
            <a:ext cx="4389120" cy="91"/>
          </a:xfrm>
          <a:prstGeom prst="line">
            <a:avLst/>
          </a:prstGeom>
          <a:noFill/>
          <a:ln w="6350">
            <a:solidFill>
              <a:srgbClr val="D6CBE8"/>
            </a:solidFill>
            <a:prstDash val="solid"/>
          </a:ln>
        </p:spPr>
      </p:sp>
      <p:sp>
        <p:nvSpPr>
          <p:cNvPr id="27" name="Shape 25"/>
          <p:cNvSpPr/>
          <p:nvPr/>
        </p:nvSpPr>
        <p:spPr>
          <a:xfrm>
            <a:off x="1325880" y="4558937"/>
            <a:ext cx="4389120" cy="91"/>
          </a:xfrm>
          <a:prstGeom prst="line">
            <a:avLst/>
          </a:prstGeom>
          <a:noFill/>
          <a:ln w="6350">
            <a:solidFill>
              <a:srgbClr val="EEE9F6"/>
            </a:solidFill>
            <a:prstDash val="solid"/>
          </a:ln>
        </p:spPr>
      </p:sp>
      <p:sp>
        <p:nvSpPr>
          <p:cNvPr id="28" name="Shape 26"/>
          <p:cNvSpPr/>
          <p:nvPr/>
        </p:nvSpPr>
        <p:spPr>
          <a:xfrm>
            <a:off x="1325880" y="4317274"/>
            <a:ext cx="4389120" cy="91"/>
          </a:xfrm>
          <a:prstGeom prst="line">
            <a:avLst/>
          </a:prstGeom>
          <a:noFill/>
          <a:ln w="6350">
            <a:solidFill>
              <a:srgbClr val="D6CBE8"/>
            </a:solidFill>
            <a:prstDash val="solid"/>
          </a:ln>
        </p:spPr>
      </p:sp>
      <p:sp>
        <p:nvSpPr>
          <p:cNvPr id="29" name="Shape 27"/>
          <p:cNvSpPr/>
          <p:nvPr/>
        </p:nvSpPr>
        <p:spPr>
          <a:xfrm>
            <a:off x="1325880" y="4075611"/>
            <a:ext cx="4389120" cy="91"/>
          </a:xfrm>
          <a:prstGeom prst="line">
            <a:avLst/>
          </a:prstGeom>
          <a:noFill/>
          <a:ln w="6350">
            <a:solidFill>
              <a:srgbClr val="EEE9F6"/>
            </a:solidFill>
            <a:prstDash val="solid"/>
          </a:ln>
        </p:spPr>
      </p:sp>
      <p:sp>
        <p:nvSpPr>
          <p:cNvPr id="30" name="Shape 28"/>
          <p:cNvSpPr/>
          <p:nvPr/>
        </p:nvSpPr>
        <p:spPr>
          <a:xfrm>
            <a:off x="1325880" y="3833949"/>
            <a:ext cx="4389120" cy="91"/>
          </a:xfrm>
          <a:prstGeom prst="line">
            <a:avLst/>
          </a:prstGeom>
          <a:noFill/>
          <a:ln w="6350">
            <a:solidFill>
              <a:srgbClr val="D6CBE8"/>
            </a:solidFill>
            <a:prstDash val="solid"/>
          </a:ln>
        </p:spPr>
      </p:sp>
      <p:sp>
        <p:nvSpPr>
          <p:cNvPr id="31" name="Shape 29"/>
          <p:cNvSpPr/>
          <p:nvPr/>
        </p:nvSpPr>
        <p:spPr>
          <a:xfrm>
            <a:off x="1325880" y="3592286"/>
            <a:ext cx="4389120" cy="91"/>
          </a:xfrm>
          <a:prstGeom prst="line">
            <a:avLst/>
          </a:prstGeom>
          <a:noFill/>
          <a:ln w="6350">
            <a:solidFill>
              <a:srgbClr val="EEE9F6"/>
            </a:solidFill>
            <a:prstDash val="solid"/>
          </a:ln>
        </p:spPr>
      </p:sp>
      <p:sp>
        <p:nvSpPr>
          <p:cNvPr id="32" name="Shape 30"/>
          <p:cNvSpPr/>
          <p:nvPr/>
        </p:nvSpPr>
        <p:spPr>
          <a:xfrm>
            <a:off x="1325880" y="3350623"/>
            <a:ext cx="4389120" cy="91"/>
          </a:xfrm>
          <a:prstGeom prst="line">
            <a:avLst/>
          </a:prstGeom>
          <a:noFill/>
          <a:ln w="6350">
            <a:solidFill>
              <a:srgbClr val="D6CBE8"/>
            </a:solidFill>
            <a:prstDash val="solid"/>
          </a:ln>
        </p:spPr>
      </p:sp>
      <p:sp>
        <p:nvSpPr>
          <p:cNvPr id="33" name="Shape 31"/>
          <p:cNvSpPr/>
          <p:nvPr/>
        </p:nvSpPr>
        <p:spPr>
          <a:xfrm>
            <a:off x="1325880" y="3108960"/>
            <a:ext cx="4389120" cy="91"/>
          </a:xfrm>
          <a:prstGeom prst="line">
            <a:avLst/>
          </a:prstGeom>
          <a:noFill/>
          <a:ln w="6350">
            <a:solidFill>
              <a:srgbClr val="EEE9F6"/>
            </a:solidFill>
            <a:prstDash val="solid"/>
          </a:ln>
        </p:spPr>
      </p:sp>
      <p:sp>
        <p:nvSpPr>
          <p:cNvPr id="34" name="Shape 32"/>
          <p:cNvSpPr/>
          <p:nvPr/>
        </p:nvSpPr>
        <p:spPr>
          <a:xfrm>
            <a:off x="1325880" y="2867297"/>
            <a:ext cx="4389120" cy="91"/>
          </a:xfrm>
          <a:prstGeom prst="line">
            <a:avLst/>
          </a:prstGeom>
          <a:noFill/>
          <a:ln w="6350">
            <a:solidFill>
              <a:srgbClr val="D6CBE8"/>
            </a:solidFill>
            <a:prstDash val="solid"/>
          </a:ln>
        </p:spPr>
      </p:sp>
      <p:sp>
        <p:nvSpPr>
          <p:cNvPr id="35" name="Shape 33"/>
          <p:cNvSpPr/>
          <p:nvPr/>
        </p:nvSpPr>
        <p:spPr>
          <a:xfrm>
            <a:off x="1325880" y="2625634"/>
            <a:ext cx="4389120" cy="91"/>
          </a:xfrm>
          <a:prstGeom prst="line">
            <a:avLst/>
          </a:prstGeom>
          <a:noFill/>
          <a:ln w="6350">
            <a:solidFill>
              <a:srgbClr val="EEE9F6"/>
            </a:solidFill>
            <a:prstDash val="solid"/>
          </a:ln>
        </p:spPr>
      </p:sp>
      <p:sp>
        <p:nvSpPr>
          <p:cNvPr id="36" name="Shape 34"/>
          <p:cNvSpPr/>
          <p:nvPr/>
        </p:nvSpPr>
        <p:spPr>
          <a:xfrm>
            <a:off x="1325880" y="2383971"/>
            <a:ext cx="4389120" cy="91"/>
          </a:xfrm>
          <a:prstGeom prst="line">
            <a:avLst/>
          </a:prstGeom>
          <a:noFill/>
          <a:ln w="6350">
            <a:solidFill>
              <a:srgbClr val="D6CBE8"/>
            </a:solidFill>
            <a:prstDash val="solid"/>
          </a:ln>
        </p:spPr>
      </p:sp>
      <p:sp>
        <p:nvSpPr>
          <p:cNvPr id="37" name="Shape 35"/>
          <p:cNvSpPr/>
          <p:nvPr/>
        </p:nvSpPr>
        <p:spPr>
          <a:xfrm>
            <a:off x="1325880" y="2142309"/>
            <a:ext cx="4389120" cy="91"/>
          </a:xfrm>
          <a:prstGeom prst="line">
            <a:avLst/>
          </a:prstGeom>
          <a:noFill/>
          <a:ln w="6350">
            <a:solidFill>
              <a:srgbClr val="EEE9F6"/>
            </a:solidFill>
            <a:prstDash val="solid"/>
          </a:ln>
        </p:spPr>
      </p:sp>
      <p:sp>
        <p:nvSpPr>
          <p:cNvPr id="38" name="Shape 36"/>
          <p:cNvSpPr/>
          <p:nvPr/>
        </p:nvSpPr>
        <p:spPr>
          <a:xfrm>
            <a:off x="1325880" y="1900646"/>
            <a:ext cx="4389120" cy="91"/>
          </a:xfrm>
          <a:prstGeom prst="line">
            <a:avLst/>
          </a:prstGeom>
          <a:noFill/>
          <a:ln w="6350">
            <a:solidFill>
              <a:srgbClr val="D6CBE8"/>
            </a:solidFill>
            <a:prstDash val="solid"/>
          </a:ln>
        </p:spPr>
      </p:sp>
      <p:sp>
        <p:nvSpPr>
          <p:cNvPr id="39" name="Shape 37"/>
          <p:cNvSpPr/>
          <p:nvPr/>
        </p:nvSpPr>
        <p:spPr>
          <a:xfrm>
            <a:off x="1325880" y="1658983"/>
            <a:ext cx="4389120" cy="91"/>
          </a:xfrm>
          <a:prstGeom prst="line">
            <a:avLst/>
          </a:prstGeom>
          <a:noFill/>
          <a:ln w="6350">
            <a:solidFill>
              <a:srgbClr val="EEE9F6"/>
            </a:solidFill>
            <a:prstDash val="solid"/>
          </a:ln>
        </p:spPr>
      </p:sp>
      <p:sp>
        <p:nvSpPr>
          <p:cNvPr id="40" name="Shape 38"/>
          <p:cNvSpPr/>
          <p:nvPr/>
        </p:nvSpPr>
        <p:spPr>
          <a:xfrm>
            <a:off x="1325880" y="1417320"/>
            <a:ext cx="4389120" cy="91"/>
          </a:xfrm>
          <a:prstGeom prst="line">
            <a:avLst/>
          </a:prstGeom>
          <a:noFill/>
          <a:ln w="6350">
            <a:solidFill>
              <a:srgbClr val="D6CBE8"/>
            </a:solidFill>
            <a:prstDash val="solid"/>
          </a:ln>
        </p:spPr>
      </p:sp>
      <p:sp>
        <p:nvSpPr>
          <p:cNvPr id="41" name="Shape 39"/>
          <p:cNvSpPr/>
          <p:nvPr/>
        </p:nvSpPr>
        <p:spPr>
          <a:xfrm>
            <a:off x="1325880" y="4800600"/>
            <a:ext cx="4389120" cy="91"/>
          </a:xfrm>
          <a:prstGeom prst="line">
            <a:avLst/>
          </a:prstGeom>
          <a:noFill/>
          <a:ln w="19050">
            <a:solidFill>
              <a:srgbClr val="2A1F3D"/>
            </a:solidFill>
            <a:prstDash val="solid"/>
          </a:ln>
        </p:spPr>
      </p:sp>
      <p:sp>
        <p:nvSpPr>
          <p:cNvPr id="42" name="Shape 40"/>
          <p:cNvSpPr/>
          <p:nvPr/>
        </p:nvSpPr>
        <p:spPr>
          <a:xfrm flipV="1">
            <a:off x="1325880" y="1417320"/>
            <a:ext cx="91" cy="3383280"/>
          </a:xfrm>
          <a:prstGeom prst="line">
            <a:avLst/>
          </a:prstGeom>
          <a:noFill/>
          <a:ln w="19050">
            <a:solidFill>
              <a:srgbClr val="2A1F3D"/>
            </a:solidFill>
            <a:prstDash val="solid"/>
          </a:ln>
        </p:spPr>
      </p:sp>
      <p:sp>
        <p:nvSpPr>
          <p:cNvPr id="43" name="Shape 41"/>
          <p:cNvSpPr/>
          <p:nvPr/>
        </p:nvSpPr>
        <p:spPr>
          <a:xfrm>
            <a:off x="1325880" y="4800600"/>
            <a:ext cx="91" cy="54864"/>
          </a:xfrm>
          <a:prstGeom prst="line">
            <a:avLst/>
          </a:prstGeom>
          <a:noFill/>
          <a:ln w="12700">
            <a:solidFill>
              <a:srgbClr val="2A1F3D"/>
            </a:solidFill>
            <a:prstDash val="solid"/>
          </a:ln>
        </p:spPr>
      </p:sp>
      <p:sp>
        <p:nvSpPr>
          <p:cNvPr id="44" name="Text 42"/>
          <p:cNvSpPr/>
          <p:nvPr/>
        </p:nvSpPr>
        <p:spPr>
          <a:xfrm>
            <a:off x="105156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a:t>
            </a:r>
            <a:endParaRPr lang="en-US" sz="1000" dirty="0"/>
          </a:p>
        </p:txBody>
      </p:sp>
      <p:sp>
        <p:nvSpPr>
          <p:cNvPr id="45" name="Shape 43"/>
          <p:cNvSpPr/>
          <p:nvPr/>
        </p:nvSpPr>
        <p:spPr>
          <a:xfrm>
            <a:off x="2057400" y="4800600"/>
            <a:ext cx="91" cy="54864"/>
          </a:xfrm>
          <a:prstGeom prst="line">
            <a:avLst/>
          </a:prstGeom>
          <a:noFill/>
          <a:ln w="12700">
            <a:solidFill>
              <a:srgbClr val="2A1F3D"/>
            </a:solidFill>
            <a:prstDash val="solid"/>
          </a:ln>
        </p:spPr>
      </p:sp>
      <p:sp>
        <p:nvSpPr>
          <p:cNvPr id="46" name="Text 44"/>
          <p:cNvSpPr/>
          <p:nvPr/>
        </p:nvSpPr>
        <p:spPr>
          <a:xfrm>
            <a:off x="178308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a:t>
            </a:r>
            <a:endParaRPr lang="en-US" sz="1000" dirty="0"/>
          </a:p>
        </p:txBody>
      </p:sp>
      <p:sp>
        <p:nvSpPr>
          <p:cNvPr id="47" name="Shape 45"/>
          <p:cNvSpPr/>
          <p:nvPr/>
        </p:nvSpPr>
        <p:spPr>
          <a:xfrm>
            <a:off x="2788920" y="4800600"/>
            <a:ext cx="91" cy="54864"/>
          </a:xfrm>
          <a:prstGeom prst="line">
            <a:avLst/>
          </a:prstGeom>
          <a:noFill/>
          <a:ln w="12700">
            <a:solidFill>
              <a:srgbClr val="2A1F3D"/>
            </a:solidFill>
            <a:prstDash val="solid"/>
          </a:ln>
        </p:spPr>
      </p:sp>
      <p:sp>
        <p:nvSpPr>
          <p:cNvPr id="48" name="Text 46"/>
          <p:cNvSpPr/>
          <p:nvPr/>
        </p:nvSpPr>
        <p:spPr>
          <a:xfrm>
            <a:off x="251460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0.4</a:t>
            </a:r>
            <a:endParaRPr lang="en-US" sz="1000" dirty="0"/>
          </a:p>
        </p:txBody>
      </p:sp>
      <p:sp>
        <p:nvSpPr>
          <p:cNvPr id="49" name="Shape 47"/>
          <p:cNvSpPr/>
          <p:nvPr/>
        </p:nvSpPr>
        <p:spPr>
          <a:xfrm>
            <a:off x="3520440" y="4800600"/>
            <a:ext cx="91" cy="54864"/>
          </a:xfrm>
          <a:prstGeom prst="line">
            <a:avLst/>
          </a:prstGeom>
          <a:noFill/>
          <a:ln w="12700">
            <a:solidFill>
              <a:srgbClr val="2A1F3D"/>
            </a:solidFill>
            <a:prstDash val="solid"/>
          </a:ln>
        </p:spPr>
      </p:sp>
      <p:sp>
        <p:nvSpPr>
          <p:cNvPr id="50" name="Text 48"/>
          <p:cNvSpPr/>
          <p:nvPr/>
        </p:nvSpPr>
        <p:spPr>
          <a:xfrm>
            <a:off x="324612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0.6</a:t>
            </a:r>
            <a:endParaRPr lang="en-US" sz="1000" dirty="0"/>
          </a:p>
        </p:txBody>
      </p:sp>
      <p:sp>
        <p:nvSpPr>
          <p:cNvPr id="51" name="Shape 49"/>
          <p:cNvSpPr/>
          <p:nvPr/>
        </p:nvSpPr>
        <p:spPr>
          <a:xfrm>
            <a:off x="4251960" y="4800600"/>
            <a:ext cx="91" cy="54864"/>
          </a:xfrm>
          <a:prstGeom prst="line">
            <a:avLst/>
          </a:prstGeom>
          <a:noFill/>
          <a:ln w="12700">
            <a:solidFill>
              <a:srgbClr val="2A1F3D"/>
            </a:solidFill>
            <a:prstDash val="solid"/>
          </a:ln>
        </p:spPr>
      </p:sp>
      <p:sp>
        <p:nvSpPr>
          <p:cNvPr id="52" name="Text 50"/>
          <p:cNvSpPr/>
          <p:nvPr/>
        </p:nvSpPr>
        <p:spPr>
          <a:xfrm>
            <a:off x="397764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0.8</a:t>
            </a:r>
            <a:endParaRPr lang="en-US" sz="1000" dirty="0"/>
          </a:p>
        </p:txBody>
      </p:sp>
      <p:sp>
        <p:nvSpPr>
          <p:cNvPr id="53" name="Shape 51"/>
          <p:cNvSpPr/>
          <p:nvPr/>
        </p:nvSpPr>
        <p:spPr>
          <a:xfrm>
            <a:off x="4983480" y="4800600"/>
            <a:ext cx="91" cy="54864"/>
          </a:xfrm>
          <a:prstGeom prst="line">
            <a:avLst/>
          </a:prstGeom>
          <a:noFill/>
          <a:ln w="12700">
            <a:solidFill>
              <a:srgbClr val="2A1F3D"/>
            </a:solidFill>
            <a:prstDash val="solid"/>
          </a:ln>
        </p:spPr>
      </p:sp>
      <p:sp>
        <p:nvSpPr>
          <p:cNvPr id="54" name="Text 52"/>
          <p:cNvSpPr/>
          <p:nvPr/>
        </p:nvSpPr>
        <p:spPr>
          <a:xfrm>
            <a:off x="470916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5" name="Shape 53"/>
          <p:cNvSpPr/>
          <p:nvPr/>
        </p:nvSpPr>
        <p:spPr>
          <a:xfrm>
            <a:off x="5715000" y="4800600"/>
            <a:ext cx="91" cy="54864"/>
          </a:xfrm>
          <a:prstGeom prst="line">
            <a:avLst/>
          </a:prstGeom>
          <a:noFill/>
          <a:ln w="12700">
            <a:solidFill>
              <a:srgbClr val="2A1F3D"/>
            </a:solidFill>
            <a:prstDash val="solid"/>
          </a:ln>
        </p:spPr>
      </p:sp>
      <p:sp>
        <p:nvSpPr>
          <p:cNvPr id="56" name="Text 54"/>
          <p:cNvSpPr/>
          <p:nvPr/>
        </p:nvSpPr>
        <p:spPr>
          <a:xfrm>
            <a:off x="544068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57" name="Shape 55"/>
          <p:cNvSpPr/>
          <p:nvPr/>
        </p:nvSpPr>
        <p:spPr>
          <a:xfrm>
            <a:off x="1271016" y="4800600"/>
            <a:ext cx="54864" cy="91"/>
          </a:xfrm>
          <a:prstGeom prst="line">
            <a:avLst/>
          </a:prstGeom>
          <a:noFill/>
          <a:ln w="12700">
            <a:solidFill>
              <a:srgbClr val="2A1F3D"/>
            </a:solidFill>
            <a:prstDash val="solid"/>
          </a:ln>
        </p:spPr>
      </p:sp>
      <p:sp>
        <p:nvSpPr>
          <p:cNvPr id="58" name="Text 56"/>
          <p:cNvSpPr/>
          <p:nvPr/>
        </p:nvSpPr>
        <p:spPr>
          <a:xfrm>
            <a:off x="886968" y="4709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9" name="Shape 57"/>
          <p:cNvSpPr/>
          <p:nvPr/>
        </p:nvSpPr>
        <p:spPr>
          <a:xfrm>
            <a:off x="1271016" y="4317274"/>
            <a:ext cx="54864" cy="91"/>
          </a:xfrm>
          <a:prstGeom prst="line">
            <a:avLst/>
          </a:prstGeom>
          <a:noFill/>
          <a:ln w="12700">
            <a:solidFill>
              <a:srgbClr val="2A1F3D"/>
            </a:solidFill>
            <a:prstDash val="solid"/>
          </a:ln>
        </p:spPr>
      </p:sp>
      <p:sp>
        <p:nvSpPr>
          <p:cNvPr id="60" name="Text 58"/>
          <p:cNvSpPr/>
          <p:nvPr/>
        </p:nvSpPr>
        <p:spPr>
          <a:xfrm>
            <a:off x="886968" y="422583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61" name="Shape 59"/>
          <p:cNvSpPr/>
          <p:nvPr/>
        </p:nvSpPr>
        <p:spPr>
          <a:xfrm>
            <a:off x="1271016" y="3833949"/>
            <a:ext cx="54864" cy="91"/>
          </a:xfrm>
          <a:prstGeom prst="line">
            <a:avLst/>
          </a:prstGeom>
          <a:noFill/>
          <a:ln w="12700">
            <a:solidFill>
              <a:srgbClr val="2A1F3D"/>
            </a:solidFill>
            <a:prstDash val="solid"/>
          </a:ln>
        </p:spPr>
      </p:sp>
      <p:sp>
        <p:nvSpPr>
          <p:cNvPr id="62" name="Text 60"/>
          <p:cNvSpPr/>
          <p:nvPr/>
        </p:nvSpPr>
        <p:spPr>
          <a:xfrm>
            <a:off x="886968" y="374250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63" name="Shape 61"/>
          <p:cNvSpPr/>
          <p:nvPr/>
        </p:nvSpPr>
        <p:spPr>
          <a:xfrm>
            <a:off x="1271016" y="3350623"/>
            <a:ext cx="54864" cy="91"/>
          </a:xfrm>
          <a:prstGeom prst="line">
            <a:avLst/>
          </a:prstGeom>
          <a:noFill/>
          <a:ln w="12700">
            <a:solidFill>
              <a:srgbClr val="2A1F3D"/>
            </a:solidFill>
            <a:prstDash val="solid"/>
          </a:ln>
        </p:spPr>
      </p:sp>
      <p:sp>
        <p:nvSpPr>
          <p:cNvPr id="64" name="Text 62"/>
          <p:cNvSpPr/>
          <p:nvPr/>
        </p:nvSpPr>
        <p:spPr>
          <a:xfrm>
            <a:off x="886968" y="325918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65" name="Shape 63"/>
          <p:cNvSpPr/>
          <p:nvPr/>
        </p:nvSpPr>
        <p:spPr>
          <a:xfrm>
            <a:off x="1271016" y="2867297"/>
            <a:ext cx="54864" cy="91"/>
          </a:xfrm>
          <a:prstGeom prst="line">
            <a:avLst/>
          </a:prstGeom>
          <a:noFill/>
          <a:ln w="12700">
            <a:solidFill>
              <a:srgbClr val="2A1F3D"/>
            </a:solidFill>
            <a:prstDash val="solid"/>
          </a:ln>
        </p:spPr>
      </p:sp>
      <p:sp>
        <p:nvSpPr>
          <p:cNvPr id="66" name="Text 64"/>
          <p:cNvSpPr/>
          <p:nvPr/>
        </p:nvSpPr>
        <p:spPr>
          <a:xfrm>
            <a:off x="886968" y="277585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67" name="Shape 65"/>
          <p:cNvSpPr/>
          <p:nvPr/>
        </p:nvSpPr>
        <p:spPr>
          <a:xfrm>
            <a:off x="1271016" y="2383971"/>
            <a:ext cx="54864" cy="91"/>
          </a:xfrm>
          <a:prstGeom prst="line">
            <a:avLst/>
          </a:prstGeom>
          <a:noFill/>
          <a:ln w="12700">
            <a:solidFill>
              <a:srgbClr val="2A1F3D"/>
            </a:solidFill>
            <a:prstDash val="solid"/>
          </a:ln>
        </p:spPr>
      </p:sp>
      <p:sp>
        <p:nvSpPr>
          <p:cNvPr id="68" name="Text 66"/>
          <p:cNvSpPr/>
          <p:nvPr/>
        </p:nvSpPr>
        <p:spPr>
          <a:xfrm>
            <a:off x="886968" y="229253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9" name="Shape 67"/>
          <p:cNvSpPr/>
          <p:nvPr/>
        </p:nvSpPr>
        <p:spPr>
          <a:xfrm>
            <a:off x="1271016" y="1900646"/>
            <a:ext cx="54864" cy="91"/>
          </a:xfrm>
          <a:prstGeom prst="line">
            <a:avLst/>
          </a:prstGeom>
          <a:noFill/>
          <a:ln w="12700">
            <a:solidFill>
              <a:srgbClr val="2A1F3D"/>
            </a:solidFill>
            <a:prstDash val="solid"/>
          </a:ln>
        </p:spPr>
      </p:sp>
      <p:sp>
        <p:nvSpPr>
          <p:cNvPr id="70" name="Text 68"/>
          <p:cNvSpPr/>
          <p:nvPr/>
        </p:nvSpPr>
        <p:spPr>
          <a:xfrm>
            <a:off x="886968" y="180920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71" name="Shape 69"/>
          <p:cNvSpPr/>
          <p:nvPr/>
        </p:nvSpPr>
        <p:spPr>
          <a:xfrm>
            <a:off x="1271016" y="1417320"/>
            <a:ext cx="54864" cy="91"/>
          </a:xfrm>
          <a:prstGeom prst="line">
            <a:avLst/>
          </a:prstGeom>
          <a:noFill/>
          <a:ln w="12700">
            <a:solidFill>
              <a:srgbClr val="2A1F3D"/>
            </a:solidFill>
            <a:prstDash val="solid"/>
          </a:ln>
        </p:spPr>
      </p:sp>
      <p:sp>
        <p:nvSpPr>
          <p:cNvPr id="72" name="Text 70"/>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73" name="Text 71"/>
          <p:cNvSpPr/>
          <p:nvPr/>
        </p:nvSpPr>
        <p:spPr>
          <a:xfrm>
            <a:off x="1325880" y="504748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total mass of Ca(OH)₂ added / g</a:t>
            </a:r>
            <a:endParaRPr lang="en-US" sz="1050" dirty="0"/>
          </a:p>
        </p:txBody>
      </p:sp>
      <p:sp>
        <p:nvSpPr>
          <p:cNvPr id="74" name="Text 72"/>
          <p:cNvSpPr/>
          <p:nvPr/>
        </p:nvSpPr>
        <p:spPr>
          <a:xfrm rot="16200000">
            <a:off x="-932688" y="2980944"/>
            <a:ext cx="33832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pH</a:t>
            </a:r>
            <a:endParaRPr lang="en-US" sz="1050" dirty="0"/>
          </a:p>
        </p:txBody>
      </p:sp>
      <p:sp>
        <p:nvSpPr>
          <p:cNvPr id="75" name="Shape 73"/>
          <p:cNvSpPr/>
          <p:nvPr/>
        </p:nvSpPr>
        <p:spPr>
          <a:xfrm>
            <a:off x="1325880" y="3108960"/>
            <a:ext cx="4389120" cy="91"/>
          </a:xfrm>
          <a:prstGeom prst="line">
            <a:avLst/>
          </a:prstGeom>
          <a:noFill/>
          <a:ln w="12700">
            <a:solidFill>
              <a:srgbClr val="2E8B57"/>
            </a:solidFill>
            <a:prstDash val="dash"/>
          </a:ln>
        </p:spPr>
      </p:sp>
      <p:sp>
        <p:nvSpPr>
          <p:cNvPr id="76" name="Shape 74"/>
          <p:cNvSpPr/>
          <p:nvPr/>
        </p:nvSpPr>
        <p:spPr>
          <a:xfrm flipV="1">
            <a:off x="4032504" y="1417320"/>
            <a:ext cx="91" cy="3383280"/>
          </a:xfrm>
          <a:prstGeom prst="line">
            <a:avLst/>
          </a:prstGeom>
          <a:noFill/>
          <a:ln w="12700">
            <a:solidFill>
              <a:srgbClr val="6B7385"/>
            </a:solidFill>
            <a:prstDash val="dash"/>
          </a:ln>
        </p:spPr>
      </p:sp>
      <p:sp>
        <p:nvSpPr>
          <p:cNvPr id="77" name="Shape 75"/>
          <p:cNvSpPr/>
          <p:nvPr/>
        </p:nvSpPr>
        <p:spPr>
          <a:xfrm flipV="1">
            <a:off x="1325880" y="4700826"/>
            <a:ext cx="91440" cy="3607"/>
          </a:xfrm>
          <a:prstGeom prst="line">
            <a:avLst/>
          </a:prstGeom>
          <a:noFill/>
          <a:ln w="25400">
            <a:solidFill>
              <a:srgbClr val="6A3FA0"/>
            </a:solidFill>
            <a:prstDash val="solid"/>
          </a:ln>
        </p:spPr>
      </p:sp>
      <p:sp>
        <p:nvSpPr>
          <p:cNvPr id="78" name="Shape 76"/>
          <p:cNvSpPr/>
          <p:nvPr/>
        </p:nvSpPr>
        <p:spPr>
          <a:xfrm flipV="1">
            <a:off x="1417320" y="4697090"/>
            <a:ext cx="91440" cy="3735"/>
          </a:xfrm>
          <a:prstGeom prst="line">
            <a:avLst/>
          </a:prstGeom>
          <a:noFill/>
          <a:ln w="25400">
            <a:solidFill>
              <a:srgbClr val="6A3FA0"/>
            </a:solidFill>
            <a:prstDash val="solid"/>
          </a:ln>
        </p:spPr>
      </p:sp>
      <p:sp>
        <p:nvSpPr>
          <p:cNvPr id="79" name="Shape 77"/>
          <p:cNvSpPr/>
          <p:nvPr/>
        </p:nvSpPr>
        <p:spPr>
          <a:xfrm flipV="1">
            <a:off x="1508760" y="4693217"/>
            <a:ext cx="91440" cy="3873"/>
          </a:xfrm>
          <a:prstGeom prst="line">
            <a:avLst/>
          </a:prstGeom>
          <a:noFill/>
          <a:ln w="25400">
            <a:solidFill>
              <a:srgbClr val="6A3FA0"/>
            </a:solidFill>
            <a:prstDash val="solid"/>
          </a:ln>
        </p:spPr>
      </p:sp>
      <p:sp>
        <p:nvSpPr>
          <p:cNvPr id="80" name="Shape 78"/>
          <p:cNvSpPr/>
          <p:nvPr/>
        </p:nvSpPr>
        <p:spPr>
          <a:xfrm flipV="1">
            <a:off x="1600200" y="4689195"/>
            <a:ext cx="91440" cy="4022"/>
          </a:xfrm>
          <a:prstGeom prst="line">
            <a:avLst/>
          </a:prstGeom>
          <a:noFill/>
          <a:ln w="25400">
            <a:solidFill>
              <a:srgbClr val="6A3FA0"/>
            </a:solidFill>
            <a:prstDash val="solid"/>
          </a:ln>
        </p:spPr>
      </p:sp>
      <p:sp>
        <p:nvSpPr>
          <p:cNvPr id="81" name="Shape 79"/>
          <p:cNvSpPr/>
          <p:nvPr/>
        </p:nvSpPr>
        <p:spPr>
          <a:xfrm flipV="1">
            <a:off x="1691640" y="4685013"/>
            <a:ext cx="91440" cy="4182"/>
          </a:xfrm>
          <a:prstGeom prst="line">
            <a:avLst/>
          </a:prstGeom>
          <a:noFill/>
          <a:ln w="25400">
            <a:solidFill>
              <a:srgbClr val="6A3FA0"/>
            </a:solidFill>
            <a:prstDash val="solid"/>
          </a:ln>
        </p:spPr>
      </p:sp>
      <p:sp>
        <p:nvSpPr>
          <p:cNvPr id="82" name="Shape 80"/>
          <p:cNvSpPr/>
          <p:nvPr/>
        </p:nvSpPr>
        <p:spPr>
          <a:xfrm flipV="1">
            <a:off x="1783080" y="4680658"/>
            <a:ext cx="91440" cy="4356"/>
          </a:xfrm>
          <a:prstGeom prst="line">
            <a:avLst/>
          </a:prstGeom>
          <a:noFill/>
          <a:ln w="25400">
            <a:solidFill>
              <a:srgbClr val="6A3FA0"/>
            </a:solidFill>
            <a:prstDash val="solid"/>
          </a:ln>
        </p:spPr>
      </p:sp>
      <p:sp>
        <p:nvSpPr>
          <p:cNvPr id="83" name="Shape 81"/>
          <p:cNvSpPr/>
          <p:nvPr/>
        </p:nvSpPr>
        <p:spPr>
          <a:xfrm flipV="1">
            <a:off x="1874520" y="4676114"/>
            <a:ext cx="91440" cy="4544"/>
          </a:xfrm>
          <a:prstGeom prst="line">
            <a:avLst/>
          </a:prstGeom>
          <a:noFill/>
          <a:ln w="25400">
            <a:solidFill>
              <a:srgbClr val="6A3FA0"/>
            </a:solidFill>
            <a:prstDash val="solid"/>
          </a:ln>
        </p:spPr>
      </p:sp>
      <p:sp>
        <p:nvSpPr>
          <p:cNvPr id="84" name="Shape 82"/>
          <p:cNvSpPr/>
          <p:nvPr/>
        </p:nvSpPr>
        <p:spPr>
          <a:xfrm flipV="1">
            <a:off x="1965960" y="4671364"/>
            <a:ext cx="91440" cy="4750"/>
          </a:xfrm>
          <a:prstGeom prst="line">
            <a:avLst/>
          </a:prstGeom>
          <a:noFill/>
          <a:ln w="25400">
            <a:solidFill>
              <a:srgbClr val="6A3FA0"/>
            </a:solidFill>
            <a:prstDash val="solid"/>
          </a:ln>
        </p:spPr>
      </p:sp>
      <p:sp>
        <p:nvSpPr>
          <p:cNvPr id="85" name="Shape 83"/>
          <p:cNvSpPr/>
          <p:nvPr/>
        </p:nvSpPr>
        <p:spPr>
          <a:xfrm flipV="1">
            <a:off x="2057400" y="4666389"/>
            <a:ext cx="91440" cy="4975"/>
          </a:xfrm>
          <a:prstGeom prst="line">
            <a:avLst/>
          </a:prstGeom>
          <a:noFill/>
          <a:ln w="25400">
            <a:solidFill>
              <a:srgbClr val="6A3FA0"/>
            </a:solidFill>
            <a:prstDash val="solid"/>
          </a:ln>
        </p:spPr>
      </p:sp>
      <p:sp>
        <p:nvSpPr>
          <p:cNvPr id="86" name="Shape 84"/>
          <p:cNvSpPr/>
          <p:nvPr/>
        </p:nvSpPr>
        <p:spPr>
          <a:xfrm flipV="1">
            <a:off x="2148840" y="4661166"/>
            <a:ext cx="91440" cy="5223"/>
          </a:xfrm>
          <a:prstGeom prst="line">
            <a:avLst/>
          </a:prstGeom>
          <a:noFill/>
          <a:ln w="25400">
            <a:solidFill>
              <a:srgbClr val="6A3FA0"/>
            </a:solidFill>
            <a:prstDash val="solid"/>
          </a:ln>
        </p:spPr>
      </p:sp>
      <p:sp>
        <p:nvSpPr>
          <p:cNvPr id="87" name="Shape 85"/>
          <p:cNvSpPr/>
          <p:nvPr/>
        </p:nvSpPr>
        <p:spPr>
          <a:xfrm flipV="1">
            <a:off x="2240280" y="4655670"/>
            <a:ext cx="91440" cy="5496"/>
          </a:xfrm>
          <a:prstGeom prst="line">
            <a:avLst/>
          </a:prstGeom>
          <a:noFill/>
          <a:ln w="25400">
            <a:solidFill>
              <a:srgbClr val="6A3FA0"/>
            </a:solidFill>
            <a:prstDash val="solid"/>
          </a:ln>
        </p:spPr>
      </p:sp>
      <p:sp>
        <p:nvSpPr>
          <p:cNvPr id="88" name="Shape 86"/>
          <p:cNvSpPr/>
          <p:nvPr/>
        </p:nvSpPr>
        <p:spPr>
          <a:xfrm flipV="1">
            <a:off x="2331720" y="4649870"/>
            <a:ext cx="91440" cy="5800"/>
          </a:xfrm>
          <a:prstGeom prst="line">
            <a:avLst/>
          </a:prstGeom>
          <a:noFill/>
          <a:ln w="25400">
            <a:solidFill>
              <a:srgbClr val="6A3FA0"/>
            </a:solidFill>
            <a:prstDash val="solid"/>
          </a:ln>
        </p:spPr>
      </p:sp>
      <p:sp>
        <p:nvSpPr>
          <p:cNvPr id="89" name="Shape 87"/>
          <p:cNvSpPr/>
          <p:nvPr/>
        </p:nvSpPr>
        <p:spPr>
          <a:xfrm flipV="1">
            <a:off x="2423160" y="4643731"/>
            <a:ext cx="91440" cy="6139"/>
          </a:xfrm>
          <a:prstGeom prst="line">
            <a:avLst/>
          </a:prstGeom>
          <a:noFill/>
          <a:ln w="25400">
            <a:solidFill>
              <a:srgbClr val="6A3FA0"/>
            </a:solidFill>
            <a:prstDash val="solid"/>
          </a:ln>
        </p:spPr>
      </p:sp>
      <p:sp>
        <p:nvSpPr>
          <p:cNvPr id="90" name="Shape 88"/>
          <p:cNvSpPr/>
          <p:nvPr/>
        </p:nvSpPr>
        <p:spPr>
          <a:xfrm flipV="1">
            <a:off x="2514600" y="4637210"/>
            <a:ext cx="91440" cy="6521"/>
          </a:xfrm>
          <a:prstGeom prst="line">
            <a:avLst/>
          </a:prstGeom>
          <a:noFill/>
          <a:ln w="25400">
            <a:solidFill>
              <a:srgbClr val="6A3FA0"/>
            </a:solidFill>
            <a:prstDash val="solid"/>
          </a:ln>
        </p:spPr>
      </p:sp>
      <p:sp>
        <p:nvSpPr>
          <p:cNvPr id="91" name="Shape 89"/>
          <p:cNvSpPr/>
          <p:nvPr/>
        </p:nvSpPr>
        <p:spPr>
          <a:xfrm flipV="1">
            <a:off x="2606040" y="4630257"/>
            <a:ext cx="91440" cy="6953"/>
          </a:xfrm>
          <a:prstGeom prst="line">
            <a:avLst/>
          </a:prstGeom>
          <a:noFill/>
          <a:ln w="25400">
            <a:solidFill>
              <a:srgbClr val="6A3FA0"/>
            </a:solidFill>
            <a:prstDash val="solid"/>
          </a:ln>
        </p:spPr>
      </p:sp>
      <p:sp>
        <p:nvSpPr>
          <p:cNvPr id="92" name="Shape 90"/>
          <p:cNvSpPr/>
          <p:nvPr/>
        </p:nvSpPr>
        <p:spPr>
          <a:xfrm flipV="1">
            <a:off x="2697480" y="4622810"/>
            <a:ext cx="91440" cy="7447"/>
          </a:xfrm>
          <a:prstGeom prst="line">
            <a:avLst/>
          </a:prstGeom>
          <a:noFill/>
          <a:ln w="25400">
            <a:solidFill>
              <a:srgbClr val="6A3FA0"/>
            </a:solidFill>
            <a:prstDash val="solid"/>
          </a:ln>
        </p:spPr>
      </p:sp>
      <p:sp>
        <p:nvSpPr>
          <p:cNvPr id="93" name="Shape 91"/>
          <p:cNvSpPr/>
          <p:nvPr/>
        </p:nvSpPr>
        <p:spPr>
          <a:xfrm flipV="1">
            <a:off x="2788920" y="4614795"/>
            <a:ext cx="91440" cy="8016"/>
          </a:xfrm>
          <a:prstGeom prst="line">
            <a:avLst/>
          </a:prstGeom>
          <a:noFill/>
          <a:ln w="25400">
            <a:solidFill>
              <a:srgbClr val="6A3FA0"/>
            </a:solidFill>
            <a:prstDash val="solid"/>
          </a:ln>
        </p:spPr>
      </p:sp>
      <p:sp>
        <p:nvSpPr>
          <p:cNvPr id="94" name="Shape 92"/>
          <p:cNvSpPr/>
          <p:nvPr/>
        </p:nvSpPr>
        <p:spPr>
          <a:xfrm flipV="1">
            <a:off x="2880360" y="4606116"/>
            <a:ext cx="91440" cy="8679"/>
          </a:xfrm>
          <a:prstGeom prst="line">
            <a:avLst/>
          </a:prstGeom>
          <a:noFill/>
          <a:ln w="25400">
            <a:solidFill>
              <a:srgbClr val="6A3FA0"/>
            </a:solidFill>
            <a:prstDash val="solid"/>
          </a:ln>
        </p:spPr>
      </p:sp>
      <p:sp>
        <p:nvSpPr>
          <p:cNvPr id="95" name="Shape 93"/>
          <p:cNvSpPr/>
          <p:nvPr/>
        </p:nvSpPr>
        <p:spPr>
          <a:xfrm flipV="1">
            <a:off x="2971800" y="4596654"/>
            <a:ext cx="91440" cy="9462"/>
          </a:xfrm>
          <a:prstGeom prst="line">
            <a:avLst/>
          </a:prstGeom>
          <a:noFill/>
          <a:ln w="25400">
            <a:solidFill>
              <a:srgbClr val="6A3FA0"/>
            </a:solidFill>
            <a:prstDash val="solid"/>
          </a:ln>
        </p:spPr>
      </p:sp>
      <p:sp>
        <p:nvSpPr>
          <p:cNvPr id="96" name="Shape 94"/>
          <p:cNvSpPr/>
          <p:nvPr/>
        </p:nvSpPr>
        <p:spPr>
          <a:xfrm flipV="1">
            <a:off x="3063240" y="4586255"/>
            <a:ext cx="91440" cy="10400"/>
          </a:xfrm>
          <a:prstGeom prst="line">
            <a:avLst/>
          </a:prstGeom>
          <a:noFill/>
          <a:ln w="25400">
            <a:solidFill>
              <a:srgbClr val="6A3FA0"/>
            </a:solidFill>
            <a:prstDash val="solid"/>
          </a:ln>
        </p:spPr>
      </p:sp>
      <p:sp>
        <p:nvSpPr>
          <p:cNvPr id="97" name="Shape 95"/>
          <p:cNvSpPr/>
          <p:nvPr/>
        </p:nvSpPr>
        <p:spPr>
          <a:xfrm flipV="1">
            <a:off x="3154680" y="4574710"/>
            <a:ext cx="91440" cy="11545"/>
          </a:xfrm>
          <a:prstGeom prst="line">
            <a:avLst/>
          </a:prstGeom>
          <a:noFill/>
          <a:ln w="25400">
            <a:solidFill>
              <a:srgbClr val="6A3FA0"/>
            </a:solidFill>
            <a:prstDash val="solid"/>
          </a:ln>
        </p:spPr>
      </p:sp>
      <p:sp>
        <p:nvSpPr>
          <p:cNvPr id="98" name="Shape 96"/>
          <p:cNvSpPr/>
          <p:nvPr/>
        </p:nvSpPr>
        <p:spPr>
          <a:xfrm flipV="1">
            <a:off x="3246120" y="4561736"/>
            <a:ext cx="91440" cy="12974"/>
          </a:xfrm>
          <a:prstGeom prst="line">
            <a:avLst/>
          </a:prstGeom>
          <a:noFill/>
          <a:ln w="25400">
            <a:solidFill>
              <a:srgbClr val="6A3FA0"/>
            </a:solidFill>
            <a:prstDash val="solid"/>
          </a:ln>
        </p:spPr>
      </p:sp>
      <p:sp>
        <p:nvSpPr>
          <p:cNvPr id="99" name="Shape 97"/>
          <p:cNvSpPr/>
          <p:nvPr/>
        </p:nvSpPr>
        <p:spPr>
          <a:xfrm flipV="1">
            <a:off x="3337560" y="4546929"/>
            <a:ext cx="91440" cy="14807"/>
          </a:xfrm>
          <a:prstGeom prst="line">
            <a:avLst/>
          </a:prstGeom>
          <a:noFill/>
          <a:ln w="25400">
            <a:solidFill>
              <a:srgbClr val="6A3FA0"/>
            </a:solidFill>
            <a:prstDash val="solid"/>
          </a:ln>
        </p:spPr>
      </p:sp>
      <p:sp>
        <p:nvSpPr>
          <p:cNvPr id="100" name="Shape 98"/>
          <p:cNvSpPr/>
          <p:nvPr/>
        </p:nvSpPr>
        <p:spPr>
          <a:xfrm flipV="1">
            <a:off x="3429000" y="4529685"/>
            <a:ext cx="91440" cy="17244"/>
          </a:xfrm>
          <a:prstGeom prst="line">
            <a:avLst/>
          </a:prstGeom>
          <a:noFill/>
          <a:ln w="25400">
            <a:solidFill>
              <a:srgbClr val="6A3FA0"/>
            </a:solidFill>
            <a:prstDash val="solid"/>
          </a:ln>
        </p:spPr>
      </p:sp>
      <p:sp>
        <p:nvSpPr>
          <p:cNvPr id="101" name="Shape 99"/>
          <p:cNvSpPr/>
          <p:nvPr/>
        </p:nvSpPr>
        <p:spPr>
          <a:xfrm flipV="1">
            <a:off x="3520440" y="4509040"/>
            <a:ext cx="91440" cy="20645"/>
          </a:xfrm>
          <a:prstGeom prst="line">
            <a:avLst/>
          </a:prstGeom>
          <a:noFill/>
          <a:ln w="25400">
            <a:solidFill>
              <a:srgbClr val="6A3FA0"/>
            </a:solidFill>
            <a:prstDash val="solid"/>
          </a:ln>
        </p:spPr>
      </p:sp>
      <p:sp>
        <p:nvSpPr>
          <p:cNvPr id="102" name="Shape 100"/>
          <p:cNvSpPr/>
          <p:nvPr/>
        </p:nvSpPr>
        <p:spPr>
          <a:xfrm flipV="1">
            <a:off x="3611880" y="4483314"/>
            <a:ext cx="91440" cy="25726"/>
          </a:xfrm>
          <a:prstGeom prst="line">
            <a:avLst/>
          </a:prstGeom>
          <a:noFill/>
          <a:ln w="25400">
            <a:solidFill>
              <a:srgbClr val="6A3FA0"/>
            </a:solidFill>
            <a:prstDash val="solid"/>
          </a:ln>
        </p:spPr>
      </p:sp>
      <p:sp>
        <p:nvSpPr>
          <p:cNvPr id="103" name="Shape 101"/>
          <p:cNvSpPr/>
          <p:nvPr/>
        </p:nvSpPr>
        <p:spPr>
          <a:xfrm flipV="1">
            <a:off x="3703320" y="4449160"/>
            <a:ext cx="91440" cy="34154"/>
          </a:xfrm>
          <a:prstGeom prst="line">
            <a:avLst/>
          </a:prstGeom>
          <a:noFill/>
          <a:ln w="25400">
            <a:solidFill>
              <a:srgbClr val="6A3FA0"/>
            </a:solidFill>
            <a:prstDash val="solid"/>
          </a:ln>
        </p:spPr>
      </p:sp>
      <p:sp>
        <p:nvSpPr>
          <p:cNvPr id="104" name="Shape 102"/>
          <p:cNvSpPr/>
          <p:nvPr/>
        </p:nvSpPr>
        <p:spPr>
          <a:xfrm flipV="1">
            <a:off x="3794760" y="4398204"/>
            <a:ext cx="91440" cy="50955"/>
          </a:xfrm>
          <a:prstGeom prst="line">
            <a:avLst/>
          </a:prstGeom>
          <a:noFill/>
          <a:ln w="25400">
            <a:solidFill>
              <a:srgbClr val="6A3FA0"/>
            </a:solidFill>
            <a:prstDash val="solid"/>
          </a:ln>
        </p:spPr>
      </p:sp>
      <p:sp>
        <p:nvSpPr>
          <p:cNvPr id="105" name="Shape 103"/>
          <p:cNvSpPr/>
          <p:nvPr/>
        </p:nvSpPr>
        <p:spPr>
          <a:xfrm flipV="1">
            <a:off x="3886200" y="4392128"/>
            <a:ext cx="8230" cy="6076"/>
          </a:xfrm>
          <a:prstGeom prst="line">
            <a:avLst/>
          </a:prstGeom>
          <a:noFill/>
          <a:ln w="25400">
            <a:solidFill>
              <a:srgbClr val="6A3FA0"/>
            </a:solidFill>
            <a:prstDash val="solid"/>
          </a:ln>
        </p:spPr>
      </p:sp>
      <p:sp>
        <p:nvSpPr>
          <p:cNvPr id="106" name="Shape 104"/>
          <p:cNvSpPr/>
          <p:nvPr/>
        </p:nvSpPr>
        <p:spPr>
          <a:xfrm flipV="1">
            <a:off x="3894430" y="4385679"/>
            <a:ext cx="8230" cy="6450"/>
          </a:xfrm>
          <a:prstGeom prst="line">
            <a:avLst/>
          </a:prstGeom>
          <a:noFill/>
          <a:ln w="25400">
            <a:solidFill>
              <a:srgbClr val="6A3FA0"/>
            </a:solidFill>
            <a:prstDash val="solid"/>
          </a:ln>
        </p:spPr>
      </p:sp>
      <p:sp>
        <p:nvSpPr>
          <p:cNvPr id="107" name="Shape 105"/>
          <p:cNvSpPr/>
          <p:nvPr/>
        </p:nvSpPr>
        <p:spPr>
          <a:xfrm flipV="1">
            <a:off x="3902659" y="4378806"/>
            <a:ext cx="8230" cy="6872"/>
          </a:xfrm>
          <a:prstGeom prst="line">
            <a:avLst/>
          </a:prstGeom>
          <a:noFill/>
          <a:ln w="25400">
            <a:solidFill>
              <a:srgbClr val="6A3FA0"/>
            </a:solidFill>
            <a:prstDash val="solid"/>
          </a:ln>
        </p:spPr>
      </p:sp>
      <p:sp>
        <p:nvSpPr>
          <p:cNvPr id="108" name="Shape 106"/>
          <p:cNvSpPr/>
          <p:nvPr/>
        </p:nvSpPr>
        <p:spPr>
          <a:xfrm flipV="1">
            <a:off x="3910889" y="4371453"/>
            <a:ext cx="8230" cy="7354"/>
          </a:xfrm>
          <a:prstGeom prst="line">
            <a:avLst/>
          </a:prstGeom>
          <a:noFill/>
          <a:ln w="25400">
            <a:solidFill>
              <a:srgbClr val="6A3FA0"/>
            </a:solidFill>
            <a:prstDash val="solid"/>
          </a:ln>
        </p:spPr>
      </p:sp>
      <p:sp>
        <p:nvSpPr>
          <p:cNvPr id="109" name="Shape 107"/>
          <p:cNvSpPr/>
          <p:nvPr/>
        </p:nvSpPr>
        <p:spPr>
          <a:xfrm flipV="1">
            <a:off x="3919118" y="4363545"/>
            <a:ext cx="8230" cy="7908"/>
          </a:xfrm>
          <a:prstGeom prst="line">
            <a:avLst/>
          </a:prstGeom>
          <a:noFill/>
          <a:ln w="25400">
            <a:solidFill>
              <a:srgbClr val="6A3FA0"/>
            </a:solidFill>
            <a:prstDash val="solid"/>
          </a:ln>
        </p:spPr>
      </p:sp>
      <p:sp>
        <p:nvSpPr>
          <p:cNvPr id="110" name="Shape 108"/>
          <p:cNvSpPr/>
          <p:nvPr/>
        </p:nvSpPr>
        <p:spPr>
          <a:xfrm flipV="1">
            <a:off x="3927348" y="4354992"/>
            <a:ext cx="8230" cy="8553"/>
          </a:xfrm>
          <a:prstGeom prst="line">
            <a:avLst/>
          </a:prstGeom>
          <a:noFill/>
          <a:ln w="25400">
            <a:solidFill>
              <a:srgbClr val="6A3FA0"/>
            </a:solidFill>
            <a:prstDash val="solid"/>
          </a:ln>
        </p:spPr>
      </p:sp>
      <p:sp>
        <p:nvSpPr>
          <p:cNvPr id="111" name="Shape 109"/>
          <p:cNvSpPr/>
          <p:nvPr/>
        </p:nvSpPr>
        <p:spPr>
          <a:xfrm flipV="1">
            <a:off x="3935578" y="4345679"/>
            <a:ext cx="8230" cy="9312"/>
          </a:xfrm>
          <a:prstGeom prst="line">
            <a:avLst/>
          </a:prstGeom>
          <a:noFill/>
          <a:ln w="25400">
            <a:solidFill>
              <a:srgbClr val="6A3FA0"/>
            </a:solidFill>
            <a:prstDash val="solid"/>
          </a:ln>
        </p:spPr>
      </p:sp>
      <p:sp>
        <p:nvSpPr>
          <p:cNvPr id="112" name="Shape 110"/>
          <p:cNvSpPr/>
          <p:nvPr/>
        </p:nvSpPr>
        <p:spPr>
          <a:xfrm flipV="1">
            <a:off x="3943807" y="4335460"/>
            <a:ext cx="8230" cy="10220"/>
          </a:xfrm>
          <a:prstGeom prst="line">
            <a:avLst/>
          </a:prstGeom>
          <a:noFill/>
          <a:ln w="25400">
            <a:solidFill>
              <a:srgbClr val="6A3FA0"/>
            </a:solidFill>
            <a:prstDash val="solid"/>
          </a:ln>
        </p:spPr>
      </p:sp>
      <p:sp>
        <p:nvSpPr>
          <p:cNvPr id="113" name="Shape 111"/>
          <p:cNvSpPr/>
          <p:nvPr/>
        </p:nvSpPr>
        <p:spPr>
          <a:xfrm flipV="1">
            <a:off x="3952037" y="4324136"/>
            <a:ext cx="8230" cy="11323"/>
          </a:xfrm>
          <a:prstGeom prst="line">
            <a:avLst/>
          </a:prstGeom>
          <a:noFill/>
          <a:ln w="25400">
            <a:solidFill>
              <a:srgbClr val="6A3FA0"/>
            </a:solidFill>
            <a:prstDash val="solid"/>
          </a:ln>
        </p:spPr>
      </p:sp>
      <p:sp>
        <p:nvSpPr>
          <p:cNvPr id="114" name="Shape 112"/>
          <p:cNvSpPr/>
          <p:nvPr/>
        </p:nvSpPr>
        <p:spPr>
          <a:xfrm flipV="1">
            <a:off x="3960266" y="4311442"/>
            <a:ext cx="8230" cy="12694"/>
          </a:xfrm>
          <a:prstGeom prst="line">
            <a:avLst/>
          </a:prstGeom>
          <a:noFill/>
          <a:ln w="25400">
            <a:solidFill>
              <a:srgbClr val="6A3FA0"/>
            </a:solidFill>
            <a:prstDash val="solid"/>
          </a:ln>
        </p:spPr>
      </p:sp>
      <p:sp>
        <p:nvSpPr>
          <p:cNvPr id="115" name="Shape 113"/>
          <p:cNvSpPr/>
          <p:nvPr/>
        </p:nvSpPr>
        <p:spPr>
          <a:xfrm flipV="1">
            <a:off x="3968496" y="4296998"/>
            <a:ext cx="8230" cy="14444"/>
          </a:xfrm>
          <a:prstGeom prst="line">
            <a:avLst/>
          </a:prstGeom>
          <a:noFill/>
          <a:ln w="25400">
            <a:solidFill>
              <a:srgbClr val="6A3FA0"/>
            </a:solidFill>
            <a:prstDash val="solid"/>
          </a:ln>
        </p:spPr>
      </p:sp>
      <p:sp>
        <p:nvSpPr>
          <p:cNvPr id="116" name="Shape 114"/>
          <p:cNvSpPr/>
          <p:nvPr/>
        </p:nvSpPr>
        <p:spPr>
          <a:xfrm flipV="1">
            <a:off x="3976726" y="4280245"/>
            <a:ext cx="8230" cy="16754"/>
          </a:xfrm>
          <a:prstGeom prst="line">
            <a:avLst/>
          </a:prstGeom>
          <a:noFill/>
          <a:ln w="25400">
            <a:solidFill>
              <a:srgbClr val="6A3FA0"/>
            </a:solidFill>
            <a:prstDash val="solid"/>
          </a:ln>
        </p:spPr>
      </p:sp>
      <p:sp>
        <p:nvSpPr>
          <p:cNvPr id="117" name="Shape 115"/>
          <p:cNvSpPr/>
          <p:nvPr/>
        </p:nvSpPr>
        <p:spPr>
          <a:xfrm flipV="1">
            <a:off x="3984955" y="4260299"/>
            <a:ext cx="8230" cy="19946"/>
          </a:xfrm>
          <a:prstGeom prst="line">
            <a:avLst/>
          </a:prstGeom>
          <a:noFill/>
          <a:ln w="25400">
            <a:solidFill>
              <a:srgbClr val="6A3FA0"/>
            </a:solidFill>
            <a:prstDash val="solid"/>
          </a:ln>
        </p:spPr>
      </p:sp>
      <p:sp>
        <p:nvSpPr>
          <p:cNvPr id="118" name="Shape 116"/>
          <p:cNvSpPr/>
          <p:nvPr/>
        </p:nvSpPr>
        <p:spPr>
          <a:xfrm flipV="1">
            <a:off x="3993185" y="4235652"/>
            <a:ext cx="8230" cy="24647"/>
          </a:xfrm>
          <a:prstGeom prst="line">
            <a:avLst/>
          </a:prstGeom>
          <a:noFill/>
          <a:ln w="25400">
            <a:solidFill>
              <a:srgbClr val="6A3FA0"/>
            </a:solidFill>
            <a:prstDash val="solid"/>
          </a:ln>
        </p:spPr>
      </p:sp>
      <p:sp>
        <p:nvSpPr>
          <p:cNvPr id="119" name="Shape 117"/>
          <p:cNvSpPr/>
          <p:nvPr/>
        </p:nvSpPr>
        <p:spPr>
          <a:xfrm flipV="1">
            <a:off x="4001414" y="4203381"/>
            <a:ext cx="8230" cy="32271"/>
          </a:xfrm>
          <a:prstGeom prst="line">
            <a:avLst/>
          </a:prstGeom>
          <a:noFill/>
          <a:ln w="25400">
            <a:solidFill>
              <a:srgbClr val="6A3FA0"/>
            </a:solidFill>
            <a:prstDash val="solid"/>
          </a:ln>
        </p:spPr>
      </p:sp>
      <p:sp>
        <p:nvSpPr>
          <p:cNvPr id="120" name="Shape 118"/>
          <p:cNvSpPr/>
          <p:nvPr/>
        </p:nvSpPr>
        <p:spPr>
          <a:xfrm flipV="1">
            <a:off x="4009644" y="4156541"/>
            <a:ext cx="8230" cy="46839"/>
          </a:xfrm>
          <a:prstGeom prst="line">
            <a:avLst/>
          </a:prstGeom>
          <a:noFill/>
          <a:ln w="25400">
            <a:solidFill>
              <a:srgbClr val="6A3FA0"/>
            </a:solidFill>
            <a:prstDash val="solid"/>
          </a:ln>
        </p:spPr>
      </p:sp>
      <p:sp>
        <p:nvSpPr>
          <p:cNvPr id="121" name="Shape 119"/>
          <p:cNvSpPr/>
          <p:nvPr/>
        </p:nvSpPr>
        <p:spPr>
          <a:xfrm flipV="1">
            <a:off x="4017874" y="4069779"/>
            <a:ext cx="8230" cy="86762"/>
          </a:xfrm>
          <a:prstGeom prst="line">
            <a:avLst/>
          </a:prstGeom>
          <a:noFill/>
          <a:ln w="25400">
            <a:solidFill>
              <a:srgbClr val="6A3FA0"/>
            </a:solidFill>
            <a:prstDash val="solid"/>
          </a:ln>
        </p:spPr>
      </p:sp>
      <p:sp>
        <p:nvSpPr>
          <p:cNvPr id="122" name="Shape 120"/>
          <p:cNvSpPr/>
          <p:nvPr/>
        </p:nvSpPr>
        <p:spPr>
          <a:xfrm flipV="1">
            <a:off x="4026103" y="2279622"/>
            <a:ext cx="8230" cy="1790157"/>
          </a:xfrm>
          <a:prstGeom prst="line">
            <a:avLst/>
          </a:prstGeom>
          <a:noFill/>
          <a:ln w="25400">
            <a:solidFill>
              <a:srgbClr val="6A3FA0"/>
            </a:solidFill>
            <a:prstDash val="solid"/>
          </a:ln>
        </p:spPr>
      </p:sp>
      <p:sp>
        <p:nvSpPr>
          <p:cNvPr id="123" name="Shape 121"/>
          <p:cNvSpPr/>
          <p:nvPr/>
        </p:nvSpPr>
        <p:spPr>
          <a:xfrm flipV="1">
            <a:off x="4034333" y="2100704"/>
            <a:ext cx="8230" cy="178918"/>
          </a:xfrm>
          <a:prstGeom prst="line">
            <a:avLst/>
          </a:prstGeom>
          <a:noFill/>
          <a:ln w="25400">
            <a:solidFill>
              <a:srgbClr val="6A3FA0"/>
            </a:solidFill>
            <a:prstDash val="solid"/>
          </a:ln>
        </p:spPr>
      </p:sp>
      <p:sp>
        <p:nvSpPr>
          <p:cNvPr id="124" name="Shape 122"/>
          <p:cNvSpPr/>
          <p:nvPr/>
        </p:nvSpPr>
        <p:spPr>
          <a:xfrm flipV="1">
            <a:off x="4042562" y="2037959"/>
            <a:ext cx="8230" cy="62745"/>
          </a:xfrm>
          <a:prstGeom prst="line">
            <a:avLst/>
          </a:prstGeom>
          <a:noFill/>
          <a:ln w="25400">
            <a:solidFill>
              <a:srgbClr val="6A3FA0"/>
            </a:solidFill>
            <a:prstDash val="solid"/>
          </a:ln>
        </p:spPr>
      </p:sp>
      <p:sp>
        <p:nvSpPr>
          <p:cNvPr id="125" name="Shape 123"/>
          <p:cNvSpPr/>
          <p:nvPr/>
        </p:nvSpPr>
        <p:spPr>
          <a:xfrm flipV="1">
            <a:off x="4050792" y="1998962"/>
            <a:ext cx="8230" cy="38997"/>
          </a:xfrm>
          <a:prstGeom prst="line">
            <a:avLst/>
          </a:prstGeom>
          <a:noFill/>
          <a:ln w="25400">
            <a:solidFill>
              <a:srgbClr val="6A3FA0"/>
            </a:solidFill>
            <a:prstDash val="solid"/>
          </a:ln>
        </p:spPr>
      </p:sp>
      <p:sp>
        <p:nvSpPr>
          <p:cNvPr id="126" name="Shape 124"/>
          <p:cNvSpPr/>
          <p:nvPr/>
        </p:nvSpPr>
        <p:spPr>
          <a:xfrm flipV="1">
            <a:off x="4059022" y="1970595"/>
            <a:ext cx="8230" cy="28368"/>
          </a:xfrm>
          <a:prstGeom prst="line">
            <a:avLst/>
          </a:prstGeom>
          <a:noFill/>
          <a:ln w="25400">
            <a:solidFill>
              <a:srgbClr val="6A3FA0"/>
            </a:solidFill>
            <a:prstDash val="solid"/>
          </a:ln>
        </p:spPr>
      </p:sp>
      <p:sp>
        <p:nvSpPr>
          <p:cNvPr id="127" name="Shape 125"/>
          <p:cNvSpPr/>
          <p:nvPr/>
        </p:nvSpPr>
        <p:spPr>
          <a:xfrm flipV="1">
            <a:off x="4067251" y="1948286"/>
            <a:ext cx="8230" cy="22309"/>
          </a:xfrm>
          <a:prstGeom prst="line">
            <a:avLst/>
          </a:prstGeom>
          <a:noFill/>
          <a:ln w="25400">
            <a:solidFill>
              <a:srgbClr val="6A3FA0"/>
            </a:solidFill>
            <a:prstDash val="solid"/>
          </a:ln>
        </p:spPr>
      </p:sp>
      <p:sp>
        <p:nvSpPr>
          <p:cNvPr id="128" name="Shape 126"/>
          <p:cNvSpPr/>
          <p:nvPr/>
        </p:nvSpPr>
        <p:spPr>
          <a:xfrm flipV="1">
            <a:off x="4075481" y="1929897"/>
            <a:ext cx="8230" cy="18388"/>
          </a:xfrm>
          <a:prstGeom prst="line">
            <a:avLst/>
          </a:prstGeom>
          <a:noFill/>
          <a:ln w="25400">
            <a:solidFill>
              <a:srgbClr val="6A3FA0"/>
            </a:solidFill>
            <a:prstDash val="solid"/>
          </a:ln>
        </p:spPr>
      </p:sp>
      <p:sp>
        <p:nvSpPr>
          <p:cNvPr id="129" name="Shape 127"/>
          <p:cNvSpPr/>
          <p:nvPr/>
        </p:nvSpPr>
        <p:spPr>
          <a:xfrm flipV="1">
            <a:off x="4083710" y="1914256"/>
            <a:ext cx="8230" cy="15642"/>
          </a:xfrm>
          <a:prstGeom prst="line">
            <a:avLst/>
          </a:prstGeom>
          <a:noFill/>
          <a:ln w="25400">
            <a:solidFill>
              <a:srgbClr val="6A3FA0"/>
            </a:solidFill>
            <a:prstDash val="solid"/>
          </a:ln>
        </p:spPr>
      </p:sp>
      <p:sp>
        <p:nvSpPr>
          <p:cNvPr id="130" name="Shape 128"/>
          <p:cNvSpPr/>
          <p:nvPr/>
        </p:nvSpPr>
        <p:spPr>
          <a:xfrm flipV="1">
            <a:off x="4091940" y="1900646"/>
            <a:ext cx="8230" cy="13610"/>
          </a:xfrm>
          <a:prstGeom prst="line">
            <a:avLst/>
          </a:prstGeom>
          <a:noFill/>
          <a:ln w="25400">
            <a:solidFill>
              <a:srgbClr val="6A3FA0"/>
            </a:solidFill>
            <a:prstDash val="solid"/>
          </a:ln>
        </p:spPr>
      </p:sp>
      <p:sp>
        <p:nvSpPr>
          <p:cNvPr id="131" name="Shape 129"/>
          <p:cNvSpPr/>
          <p:nvPr/>
        </p:nvSpPr>
        <p:spPr>
          <a:xfrm flipV="1">
            <a:off x="4100170" y="1888600"/>
            <a:ext cx="8230" cy="12046"/>
          </a:xfrm>
          <a:prstGeom prst="line">
            <a:avLst/>
          </a:prstGeom>
          <a:noFill/>
          <a:ln w="25400">
            <a:solidFill>
              <a:srgbClr val="6A3FA0"/>
            </a:solidFill>
            <a:prstDash val="solid"/>
          </a:ln>
        </p:spPr>
      </p:sp>
      <p:sp>
        <p:nvSpPr>
          <p:cNvPr id="132" name="Shape 130"/>
          <p:cNvSpPr/>
          <p:nvPr/>
        </p:nvSpPr>
        <p:spPr>
          <a:xfrm flipV="1">
            <a:off x="4108399" y="1877795"/>
            <a:ext cx="8230" cy="10805"/>
          </a:xfrm>
          <a:prstGeom prst="line">
            <a:avLst/>
          </a:prstGeom>
          <a:noFill/>
          <a:ln w="25400">
            <a:solidFill>
              <a:srgbClr val="6A3FA0"/>
            </a:solidFill>
            <a:prstDash val="solid"/>
          </a:ln>
        </p:spPr>
      </p:sp>
      <p:sp>
        <p:nvSpPr>
          <p:cNvPr id="133" name="Shape 131"/>
          <p:cNvSpPr/>
          <p:nvPr/>
        </p:nvSpPr>
        <p:spPr>
          <a:xfrm flipV="1">
            <a:off x="4116629" y="1868000"/>
            <a:ext cx="8230" cy="9795"/>
          </a:xfrm>
          <a:prstGeom prst="line">
            <a:avLst/>
          </a:prstGeom>
          <a:noFill/>
          <a:ln w="25400">
            <a:solidFill>
              <a:srgbClr val="6A3FA0"/>
            </a:solidFill>
            <a:prstDash val="solid"/>
          </a:ln>
        </p:spPr>
      </p:sp>
      <p:sp>
        <p:nvSpPr>
          <p:cNvPr id="134" name="Shape 132"/>
          <p:cNvSpPr/>
          <p:nvPr/>
        </p:nvSpPr>
        <p:spPr>
          <a:xfrm flipV="1">
            <a:off x="4124858" y="1859041"/>
            <a:ext cx="8230" cy="8959"/>
          </a:xfrm>
          <a:prstGeom prst="line">
            <a:avLst/>
          </a:prstGeom>
          <a:noFill/>
          <a:ln w="25400">
            <a:solidFill>
              <a:srgbClr val="6A3FA0"/>
            </a:solidFill>
            <a:prstDash val="solid"/>
          </a:ln>
        </p:spPr>
      </p:sp>
      <p:sp>
        <p:nvSpPr>
          <p:cNvPr id="135" name="Shape 133"/>
          <p:cNvSpPr/>
          <p:nvPr/>
        </p:nvSpPr>
        <p:spPr>
          <a:xfrm flipV="1">
            <a:off x="4133088" y="1850787"/>
            <a:ext cx="8230" cy="8254"/>
          </a:xfrm>
          <a:prstGeom prst="line">
            <a:avLst/>
          </a:prstGeom>
          <a:noFill/>
          <a:ln w="25400">
            <a:solidFill>
              <a:srgbClr val="6A3FA0"/>
            </a:solidFill>
            <a:prstDash val="solid"/>
          </a:ln>
        </p:spPr>
      </p:sp>
      <p:sp>
        <p:nvSpPr>
          <p:cNvPr id="136" name="Shape 134"/>
          <p:cNvSpPr/>
          <p:nvPr/>
        </p:nvSpPr>
        <p:spPr>
          <a:xfrm flipV="1">
            <a:off x="4141318" y="1843135"/>
            <a:ext cx="8230" cy="7652"/>
          </a:xfrm>
          <a:prstGeom prst="line">
            <a:avLst/>
          </a:prstGeom>
          <a:noFill/>
          <a:ln w="25400">
            <a:solidFill>
              <a:srgbClr val="6A3FA0"/>
            </a:solidFill>
            <a:prstDash val="solid"/>
          </a:ln>
        </p:spPr>
      </p:sp>
      <p:sp>
        <p:nvSpPr>
          <p:cNvPr id="137" name="Shape 135"/>
          <p:cNvSpPr/>
          <p:nvPr/>
        </p:nvSpPr>
        <p:spPr>
          <a:xfrm flipV="1">
            <a:off x="4149547" y="1836004"/>
            <a:ext cx="8230" cy="7132"/>
          </a:xfrm>
          <a:prstGeom prst="line">
            <a:avLst/>
          </a:prstGeom>
          <a:noFill/>
          <a:ln w="25400">
            <a:solidFill>
              <a:srgbClr val="6A3FA0"/>
            </a:solidFill>
            <a:prstDash val="solid"/>
          </a:ln>
        </p:spPr>
      </p:sp>
      <p:sp>
        <p:nvSpPr>
          <p:cNvPr id="138" name="Shape 136"/>
          <p:cNvSpPr/>
          <p:nvPr/>
        </p:nvSpPr>
        <p:spPr>
          <a:xfrm flipV="1">
            <a:off x="4157777" y="1829326"/>
            <a:ext cx="8230" cy="6678"/>
          </a:xfrm>
          <a:prstGeom prst="line">
            <a:avLst/>
          </a:prstGeom>
          <a:noFill/>
          <a:ln w="25400">
            <a:solidFill>
              <a:srgbClr val="6A3FA0"/>
            </a:solidFill>
            <a:prstDash val="solid"/>
          </a:ln>
        </p:spPr>
      </p:sp>
      <p:sp>
        <p:nvSpPr>
          <p:cNvPr id="139" name="Shape 137"/>
          <p:cNvSpPr/>
          <p:nvPr/>
        </p:nvSpPr>
        <p:spPr>
          <a:xfrm flipV="1">
            <a:off x="4166006" y="1823048"/>
            <a:ext cx="8230" cy="6278"/>
          </a:xfrm>
          <a:prstGeom prst="line">
            <a:avLst/>
          </a:prstGeom>
          <a:noFill/>
          <a:ln w="25400">
            <a:solidFill>
              <a:srgbClr val="6A3FA0"/>
            </a:solidFill>
            <a:prstDash val="solid"/>
          </a:ln>
        </p:spPr>
      </p:sp>
      <p:sp>
        <p:nvSpPr>
          <p:cNvPr id="140" name="Shape 138"/>
          <p:cNvSpPr/>
          <p:nvPr/>
        </p:nvSpPr>
        <p:spPr>
          <a:xfrm flipV="1">
            <a:off x="4174236" y="1817124"/>
            <a:ext cx="8230" cy="5924"/>
          </a:xfrm>
          <a:prstGeom prst="line">
            <a:avLst/>
          </a:prstGeom>
          <a:noFill/>
          <a:ln w="25400">
            <a:solidFill>
              <a:srgbClr val="6A3FA0"/>
            </a:solidFill>
            <a:prstDash val="solid"/>
          </a:ln>
        </p:spPr>
      </p:sp>
      <p:sp>
        <p:nvSpPr>
          <p:cNvPr id="141" name="Shape 139"/>
          <p:cNvSpPr/>
          <p:nvPr/>
        </p:nvSpPr>
        <p:spPr>
          <a:xfrm flipV="1">
            <a:off x="4182466" y="1811517"/>
            <a:ext cx="8230" cy="5607"/>
          </a:xfrm>
          <a:prstGeom prst="line">
            <a:avLst/>
          </a:prstGeom>
          <a:noFill/>
          <a:ln w="25400">
            <a:solidFill>
              <a:srgbClr val="6A3FA0"/>
            </a:solidFill>
            <a:prstDash val="solid"/>
          </a:ln>
        </p:spPr>
      </p:sp>
      <p:sp>
        <p:nvSpPr>
          <p:cNvPr id="142" name="Shape 140"/>
          <p:cNvSpPr/>
          <p:nvPr/>
        </p:nvSpPr>
        <p:spPr>
          <a:xfrm flipV="1">
            <a:off x="4190695" y="1806194"/>
            <a:ext cx="8230" cy="5323"/>
          </a:xfrm>
          <a:prstGeom prst="line">
            <a:avLst/>
          </a:prstGeom>
          <a:noFill/>
          <a:ln w="25400">
            <a:solidFill>
              <a:srgbClr val="6A3FA0"/>
            </a:solidFill>
            <a:prstDash val="solid"/>
          </a:ln>
        </p:spPr>
      </p:sp>
      <p:sp>
        <p:nvSpPr>
          <p:cNvPr id="143" name="Shape 141"/>
          <p:cNvSpPr/>
          <p:nvPr/>
        </p:nvSpPr>
        <p:spPr>
          <a:xfrm flipV="1">
            <a:off x="4198925" y="1801129"/>
            <a:ext cx="8230" cy="5066"/>
          </a:xfrm>
          <a:prstGeom prst="line">
            <a:avLst/>
          </a:prstGeom>
          <a:noFill/>
          <a:ln w="25400">
            <a:solidFill>
              <a:srgbClr val="6A3FA0"/>
            </a:solidFill>
            <a:prstDash val="solid"/>
          </a:ln>
        </p:spPr>
      </p:sp>
      <p:sp>
        <p:nvSpPr>
          <p:cNvPr id="144" name="Shape 142"/>
          <p:cNvSpPr/>
          <p:nvPr/>
        </p:nvSpPr>
        <p:spPr>
          <a:xfrm flipV="1">
            <a:off x="4207154" y="1796296"/>
            <a:ext cx="8230" cy="4832"/>
          </a:xfrm>
          <a:prstGeom prst="line">
            <a:avLst/>
          </a:prstGeom>
          <a:noFill/>
          <a:ln w="25400">
            <a:solidFill>
              <a:srgbClr val="6A3FA0"/>
            </a:solidFill>
            <a:prstDash val="solid"/>
          </a:ln>
        </p:spPr>
      </p:sp>
      <p:sp>
        <p:nvSpPr>
          <p:cNvPr id="145" name="Shape 143"/>
          <p:cNvSpPr/>
          <p:nvPr/>
        </p:nvSpPr>
        <p:spPr>
          <a:xfrm flipV="1">
            <a:off x="4215384" y="1755150"/>
            <a:ext cx="124968" cy="41146"/>
          </a:xfrm>
          <a:prstGeom prst="line">
            <a:avLst/>
          </a:prstGeom>
          <a:noFill/>
          <a:ln w="25400">
            <a:solidFill>
              <a:srgbClr val="6A3FA0"/>
            </a:solidFill>
            <a:prstDash val="solid"/>
          </a:ln>
        </p:spPr>
      </p:sp>
      <p:sp>
        <p:nvSpPr>
          <p:cNvPr id="146" name="Shape 144"/>
          <p:cNvSpPr/>
          <p:nvPr/>
        </p:nvSpPr>
        <p:spPr>
          <a:xfrm>
            <a:off x="4340352" y="1755150"/>
            <a:ext cx="124968" cy="91"/>
          </a:xfrm>
          <a:prstGeom prst="line">
            <a:avLst/>
          </a:prstGeom>
          <a:noFill/>
          <a:ln w="25400">
            <a:solidFill>
              <a:srgbClr val="6A3FA0"/>
            </a:solidFill>
            <a:prstDash val="solid"/>
          </a:ln>
        </p:spPr>
      </p:sp>
      <p:sp>
        <p:nvSpPr>
          <p:cNvPr id="147" name="Shape 145"/>
          <p:cNvSpPr/>
          <p:nvPr/>
        </p:nvSpPr>
        <p:spPr>
          <a:xfrm>
            <a:off x="4465320" y="1755150"/>
            <a:ext cx="124968" cy="91"/>
          </a:xfrm>
          <a:prstGeom prst="line">
            <a:avLst/>
          </a:prstGeom>
          <a:noFill/>
          <a:ln w="25400">
            <a:solidFill>
              <a:srgbClr val="6A3FA0"/>
            </a:solidFill>
            <a:prstDash val="solid"/>
          </a:ln>
        </p:spPr>
      </p:sp>
      <p:sp>
        <p:nvSpPr>
          <p:cNvPr id="148" name="Shape 146"/>
          <p:cNvSpPr/>
          <p:nvPr/>
        </p:nvSpPr>
        <p:spPr>
          <a:xfrm>
            <a:off x="4590288" y="1755150"/>
            <a:ext cx="124968" cy="91"/>
          </a:xfrm>
          <a:prstGeom prst="line">
            <a:avLst/>
          </a:prstGeom>
          <a:noFill/>
          <a:ln w="25400">
            <a:solidFill>
              <a:srgbClr val="6A3FA0"/>
            </a:solidFill>
            <a:prstDash val="solid"/>
          </a:ln>
        </p:spPr>
      </p:sp>
      <p:sp>
        <p:nvSpPr>
          <p:cNvPr id="149" name="Shape 147"/>
          <p:cNvSpPr/>
          <p:nvPr/>
        </p:nvSpPr>
        <p:spPr>
          <a:xfrm>
            <a:off x="4715256" y="1755150"/>
            <a:ext cx="124968" cy="91"/>
          </a:xfrm>
          <a:prstGeom prst="line">
            <a:avLst/>
          </a:prstGeom>
          <a:noFill/>
          <a:ln w="25400">
            <a:solidFill>
              <a:srgbClr val="6A3FA0"/>
            </a:solidFill>
            <a:prstDash val="solid"/>
          </a:ln>
        </p:spPr>
      </p:sp>
      <p:sp>
        <p:nvSpPr>
          <p:cNvPr id="150" name="Shape 148"/>
          <p:cNvSpPr/>
          <p:nvPr/>
        </p:nvSpPr>
        <p:spPr>
          <a:xfrm>
            <a:off x="4840224" y="1755150"/>
            <a:ext cx="124968" cy="91"/>
          </a:xfrm>
          <a:prstGeom prst="line">
            <a:avLst/>
          </a:prstGeom>
          <a:noFill/>
          <a:ln w="25400">
            <a:solidFill>
              <a:srgbClr val="6A3FA0"/>
            </a:solidFill>
            <a:prstDash val="solid"/>
          </a:ln>
        </p:spPr>
      </p:sp>
      <p:sp>
        <p:nvSpPr>
          <p:cNvPr id="151" name="Shape 149"/>
          <p:cNvSpPr/>
          <p:nvPr/>
        </p:nvSpPr>
        <p:spPr>
          <a:xfrm>
            <a:off x="4965192" y="1755150"/>
            <a:ext cx="124968" cy="91"/>
          </a:xfrm>
          <a:prstGeom prst="line">
            <a:avLst/>
          </a:prstGeom>
          <a:noFill/>
          <a:ln w="25400">
            <a:solidFill>
              <a:srgbClr val="6A3FA0"/>
            </a:solidFill>
            <a:prstDash val="solid"/>
          </a:ln>
        </p:spPr>
      </p:sp>
      <p:sp>
        <p:nvSpPr>
          <p:cNvPr id="152" name="Shape 150"/>
          <p:cNvSpPr/>
          <p:nvPr/>
        </p:nvSpPr>
        <p:spPr>
          <a:xfrm>
            <a:off x="5090160" y="1755150"/>
            <a:ext cx="124968" cy="91"/>
          </a:xfrm>
          <a:prstGeom prst="line">
            <a:avLst/>
          </a:prstGeom>
          <a:noFill/>
          <a:ln w="25400">
            <a:solidFill>
              <a:srgbClr val="6A3FA0"/>
            </a:solidFill>
            <a:prstDash val="solid"/>
          </a:ln>
        </p:spPr>
      </p:sp>
      <p:sp>
        <p:nvSpPr>
          <p:cNvPr id="153" name="Shape 151"/>
          <p:cNvSpPr/>
          <p:nvPr/>
        </p:nvSpPr>
        <p:spPr>
          <a:xfrm>
            <a:off x="5215128" y="1755150"/>
            <a:ext cx="124968" cy="91"/>
          </a:xfrm>
          <a:prstGeom prst="line">
            <a:avLst/>
          </a:prstGeom>
          <a:noFill/>
          <a:ln w="25400">
            <a:solidFill>
              <a:srgbClr val="6A3FA0"/>
            </a:solidFill>
            <a:prstDash val="solid"/>
          </a:ln>
        </p:spPr>
      </p:sp>
      <p:sp>
        <p:nvSpPr>
          <p:cNvPr id="154" name="Shape 152"/>
          <p:cNvSpPr/>
          <p:nvPr/>
        </p:nvSpPr>
        <p:spPr>
          <a:xfrm>
            <a:off x="5340096" y="1755150"/>
            <a:ext cx="124968" cy="91"/>
          </a:xfrm>
          <a:prstGeom prst="line">
            <a:avLst/>
          </a:prstGeom>
          <a:noFill/>
          <a:ln w="25400">
            <a:solidFill>
              <a:srgbClr val="6A3FA0"/>
            </a:solidFill>
            <a:prstDash val="solid"/>
          </a:ln>
        </p:spPr>
      </p:sp>
      <p:sp>
        <p:nvSpPr>
          <p:cNvPr id="155" name="Shape 153"/>
          <p:cNvSpPr/>
          <p:nvPr/>
        </p:nvSpPr>
        <p:spPr>
          <a:xfrm>
            <a:off x="5465064" y="1755150"/>
            <a:ext cx="124968" cy="91"/>
          </a:xfrm>
          <a:prstGeom prst="line">
            <a:avLst/>
          </a:prstGeom>
          <a:noFill/>
          <a:ln w="25400">
            <a:solidFill>
              <a:srgbClr val="6A3FA0"/>
            </a:solidFill>
            <a:prstDash val="solid"/>
          </a:ln>
        </p:spPr>
      </p:sp>
      <p:sp>
        <p:nvSpPr>
          <p:cNvPr id="156" name="Shape 154"/>
          <p:cNvSpPr/>
          <p:nvPr/>
        </p:nvSpPr>
        <p:spPr>
          <a:xfrm>
            <a:off x="5590032" y="1755150"/>
            <a:ext cx="124968" cy="91"/>
          </a:xfrm>
          <a:prstGeom prst="line">
            <a:avLst/>
          </a:prstGeom>
          <a:noFill/>
          <a:ln w="25400">
            <a:solidFill>
              <a:srgbClr val="6A3FA0"/>
            </a:solidFill>
            <a:prstDash val="solid"/>
          </a:ln>
        </p:spPr>
      </p:sp>
      <p:sp>
        <p:nvSpPr>
          <p:cNvPr id="157" name="Shape 155"/>
          <p:cNvSpPr/>
          <p:nvPr/>
        </p:nvSpPr>
        <p:spPr>
          <a:xfrm>
            <a:off x="1280160" y="4658215"/>
            <a:ext cx="91440" cy="91440"/>
          </a:xfrm>
          <a:prstGeom prst="line">
            <a:avLst/>
          </a:prstGeom>
          <a:noFill/>
          <a:ln w="15875">
            <a:solidFill>
              <a:srgbClr val="2A1F3D"/>
            </a:solidFill>
            <a:prstDash val="solid"/>
          </a:ln>
        </p:spPr>
      </p:sp>
      <p:sp>
        <p:nvSpPr>
          <p:cNvPr id="158" name="Shape 156"/>
          <p:cNvSpPr/>
          <p:nvPr/>
        </p:nvSpPr>
        <p:spPr>
          <a:xfrm flipV="1">
            <a:off x="1280160" y="4658215"/>
            <a:ext cx="91440" cy="91440"/>
          </a:xfrm>
          <a:prstGeom prst="line">
            <a:avLst/>
          </a:prstGeom>
          <a:noFill/>
          <a:ln w="15875">
            <a:solidFill>
              <a:srgbClr val="2A1F3D"/>
            </a:solidFill>
            <a:prstDash val="solid"/>
          </a:ln>
        </p:spPr>
      </p:sp>
      <p:sp>
        <p:nvSpPr>
          <p:cNvPr id="159" name="Shape 157"/>
          <p:cNvSpPr/>
          <p:nvPr/>
        </p:nvSpPr>
        <p:spPr>
          <a:xfrm>
            <a:off x="1645920" y="4634049"/>
            <a:ext cx="91440" cy="91440"/>
          </a:xfrm>
          <a:prstGeom prst="line">
            <a:avLst/>
          </a:prstGeom>
          <a:noFill/>
          <a:ln w="15875">
            <a:solidFill>
              <a:srgbClr val="2A1F3D"/>
            </a:solidFill>
            <a:prstDash val="solid"/>
          </a:ln>
        </p:spPr>
      </p:sp>
      <p:sp>
        <p:nvSpPr>
          <p:cNvPr id="160" name="Shape 158"/>
          <p:cNvSpPr/>
          <p:nvPr/>
        </p:nvSpPr>
        <p:spPr>
          <a:xfrm flipV="1">
            <a:off x="1645920" y="4634049"/>
            <a:ext cx="91440" cy="91440"/>
          </a:xfrm>
          <a:prstGeom prst="line">
            <a:avLst/>
          </a:prstGeom>
          <a:noFill/>
          <a:ln w="15875">
            <a:solidFill>
              <a:srgbClr val="2A1F3D"/>
            </a:solidFill>
            <a:prstDash val="solid"/>
          </a:ln>
        </p:spPr>
      </p:sp>
      <p:sp>
        <p:nvSpPr>
          <p:cNvPr id="161" name="Shape 159"/>
          <p:cNvSpPr/>
          <p:nvPr/>
        </p:nvSpPr>
        <p:spPr>
          <a:xfrm>
            <a:off x="2011680" y="4634049"/>
            <a:ext cx="91440" cy="91440"/>
          </a:xfrm>
          <a:prstGeom prst="line">
            <a:avLst/>
          </a:prstGeom>
          <a:noFill/>
          <a:ln w="15875">
            <a:solidFill>
              <a:srgbClr val="2A1F3D"/>
            </a:solidFill>
            <a:prstDash val="solid"/>
          </a:ln>
        </p:spPr>
      </p:sp>
      <p:sp>
        <p:nvSpPr>
          <p:cNvPr id="162" name="Shape 160"/>
          <p:cNvSpPr/>
          <p:nvPr/>
        </p:nvSpPr>
        <p:spPr>
          <a:xfrm flipV="1">
            <a:off x="2011680" y="4634049"/>
            <a:ext cx="91440" cy="91440"/>
          </a:xfrm>
          <a:prstGeom prst="line">
            <a:avLst/>
          </a:prstGeom>
          <a:noFill/>
          <a:ln w="15875">
            <a:solidFill>
              <a:srgbClr val="2A1F3D"/>
            </a:solidFill>
            <a:prstDash val="solid"/>
          </a:ln>
        </p:spPr>
      </p:sp>
      <p:sp>
        <p:nvSpPr>
          <p:cNvPr id="163" name="Shape 161"/>
          <p:cNvSpPr/>
          <p:nvPr/>
        </p:nvSpPr>
        <p:spPr>
          <a:xfrm>
            <a:off x="2377440" y="4609882"/>
            <a:ext cx="91440" cy="91440"/>
          </a:xfrm>
          <a:prstGeom prst="line">
            <a:avLst/>
          </a:prstGeom>
          <a:noFill/>
          <a:ln w="15875">
            <a:solidFill>
              <a:srgbClr val="2A1F3D"/>
            </a:solidFill>
            <a:prstDash val="solid"/>
          </a:ln>
        </p:spPr>
      </p:sp>
      <p:sp>
        <p:nvSpPr>
          <p:cNvPr id="164" name="Shape 162"/>
          <p:cNvSpPr/>
          <p:nvPr/>
        </p:nvSpPr>
        <p:spPr>
          <a:xfrm flipV="1">
            <a:off x="2377440" y="4609882"/>
            <a:ext cx="91440" cy="91440"/>
          </a:xfrm>
          <a:prstGeom prst="line">
            <a:avLst/>
          </a:prstGeom>
          <a:noFill/>
          <a:ln w="15875">
            <a:solidFill>
              <a:srgbClr val="2A1F3D"/>
            </a:solidFill>
            <a:prstDash val="solid"/>
          </a:ln>
        </p:spPr>
      </p:sp>
      <p:sp>
        <p:nvSpPr>
          <p:cNvPr id="165" name="Shape 163"/>
          <p:cNvSpPr/>
          <p:nvPr/>
        </p:nvSpPr>
        <p:spPr>
          <a:xfrm>
            <a:off x="2743200" y="4585716"/>
            <a:ext cx="91440" cy="91440"/>
          </a:xfrm>
          <a:prstGeom prst="line">
            <a:avLst/>
          </a:prstGeom>
          <a:noFill/>
          <a:ln w="15875">
            <a:solidFill>
              <a:srgbClr val="2A1F3D"/>
            </a:solidFill>
            <a:prstDash val="solid"/>
          </a:ln>
        </p:spPr>
      </p:sp>
      <p:sp>
        <p:nvSpPr>
          <p:cNvPr id="166" name="Shape 164"/>
          <p:cNvSpPr/>
          <p:nvPr/>
        </p:nvSpPr>
        <p:spPr>
          <a:xfrm flipV="1">
            <a:off x="2743200" y="4585716"/>
            <a:ext cx="91440" cy="91440"/>
          </a:xfrm>
          <a:prstGeom prst="line">
            <a:avLst/>
          </a:prstGeom>
          <a:noFill/>
          <a:ln w="15875">
            <a:solidFill>
              <a:srgbClr val="2A1F3D"/>
            </a:solidFill>
            <a:prstDash val="solid"/>
          </a:ln>
        </p:spPr>
      </p:sp>
      <p:sp>
        <p:nvSpPr>
          <p:cNvPr id="167" name="Shape 165"/>
          <p:cNvSpPr/>
          <p:nvPr/>
        </p:nvSpPr>
        <p:spPr>
          <a:xfrm>
            <a:off x="3108960" y="4537383"/>
            <a:ext cx="91440" cy="91440"/>
          </a:xfrm>
          <a:prstGeom prst="line">
            <a:avLst/>
          </a:prstGeom>
          <a:noFill/>
          <a:ln w="15875">
            <a:solidFill>
              <a:srgbClr val="2A1F3D"/>
            </a:solidFill>
            <a:prstDash val="solid"/>
          </a:ln>
        </p:spPr>
      </p:sp>
      <p:sp>
        <p:nvSpPr>
          <p:cNvPr id="168" name="Shape 166"/>
          <p:cNvSpPr/>
          <p:nvPr/>
        </p:nvSpPr>
        <p:spPr>
          <a:xfrm flipV="1">
            <a:off x="3108960" y="4537383"/>
            <a:ext cx="91440" cy="91440"/>
          </a:xfrm>
          <a:prstGeom prst="line">
            <a:avLst/>
          </a:prstGeom>
          <a:noFill/>
          <a:ln w="15875">
            <a:solidFill>
              <a:srgbClr val="2A1F3D"/>
            </a:solidFill>
            <a:prstDash val="solid"/>
          </a:ln>
        </p:spPr>
      </p:sp>
      <p:sp>
        <p:nvSpPr>
          <p:cNvPr id="169" name="Shape 167"/>
          <p:cNvSpPr/>
          <p:nvPr/>
        </p:nvSpPr>
        <p:spPr>
          <a:xfrm>
            <a:off x="3474720" y="4489051"/>
            <a:ext cx="91440" cy="91440"/>
          </a:xfrm>
          <a:prstGeom prst="line">
            <a:avLst/>
          </a:prstGeom>
          <a:noFill/>
          <a:ln w="15875">
            <a:solidFill>
              <a:srgbClr val="2A1F3D"/>
            </a:solidFill>
            <a:prstDash val="solid"/>
          </a:ln>
        </p:spPr>
      </p:sp>
      <p:sp>
        <p:nvSpPr>
          <p:cNvPr id="170" name="Shape 168"/>
          <p:cNvSpPr/>
          <p:nvPr/>
        </p:nvSpPr>
        <p:spPr>
          <a:xfrm flipV="1">
            <a:off x="3474720" y="4489051"/>
            <a:ext cx="91440" cy="91440"/>
          </a:xfrm>
          <a:prstGeom prst="line">
            <a:avLst/>
          </a:prstGeom>
          <a:noFill/>
          <a:ln w="15875">
            <a:solidFill>
              <a:srgbClr val="2A1F3D"/>
            </a:solidFill>
            <a:prstDash val="solid"/>
          </a:ln>
        </p:spPr>
      </p:sp>
      <p:sp>
        <p:nvSpPr>
          <p:cNvPr id="171" name="Shape 169"/>
          <p:cNvSpPr/>
          <p:nvPr/>
        </p:nvSpPr>
        <p:spPr>
          <a:xfrm>
            <a:off x="3840480" y="4344053"/>
            <a:ext cx="91440" cy="91440"/>
          </a:xfrm>
          <a:prstGeom prst="line">
            <a:avLst/>
          </a:prstGeom>
          <a:noFill/>
          <a:ln w="15875">
            <a:solidFill>
              <a:srgbClr val="2A1F3D"/>
            </a:solidFill>
            <a:prstDash val="solid"/>
          </a:ln>
        </p:spPr>
      </p:sp>
      <p:sp>
        <p:nvSpPr>
          <p:cNvPr id="172" name="Shape 170"/>
          <p:cNvSpPr/>
          <p:nvPr/>
        </p:nvSpPr>
        <p:spPr>
          <a:xfrm flipV="1">
            <a:off x="3840480" y="4344053"/>
            <a:ext cx="91440" cy="91440"/>
          </a:xfrm>
          <a:prstGeom prst="line">
            <a:avLst/>
          </a:prstGeom>
          <a:noFill/>
          <a:ln w="15875">
            <a:solidFill>
              <a:srgbClr val="2A1F3D"/>
            </a:solidFill>
            <a:prstDash val="solid"/>
          </a:ln>
        </p:spPr>
      </p:sp>
      <p:sp>
        <p:nvSpPr>
          <p:cNvPr id="173" name="Shape 171"/>
          <p:cNvSpPr/>
          <p:nvPr/>
        </p:nvSpPr>
        <p:spPr>
          <a:xfrm>
            <a:off x="4206240" y="1734094"/>
            <a:ext cx="91440" cy="91440"/>
          </a:xfrm>
          <a:prstGeom prst="line">
            <a:avLst/>
          </a:prstGeom>
          <a:noFill/>
          <a:ln w="15875">
            <a:solidFill>
              <a:srgbClr val="2A1F3D"/>
            </a:solidFill>
            <a:prstDash val="solid"/>
          </a:ln>
        </p:spPr>
      </p:sp>
      <p:sp>
        <p:nvSpPr>
          <p:cNvPr id="174" name="Shape 172"/>
          <p:cNvSpPr/>
          <p:nvPr/>
        </p:nvSpPr>
        <p:spPr>
          <a:xfrm flipV="1">
            <a:off x="4206240" y="1734094"/>
            <a:ext cx="91440" cy="91440"/>
          </a:xfrm>
          <a:prstGeom prst="line">
            <a:avLst/>
          </a:prstGeom>
          <a:noFill/>
          <a:ln w="15875">
            <a:solidFill>
              <a:srgbClr val="2A1F3D"/>
            </a:solidFill>
            <a:prstDash val="solid"/>
          </a:ln>
        </p:spPr>
      </p:sp>
      <p:sp>
        <p:nvSpPr>
          <p:cNvPr id="175" name="Shape 173"/>
          <p:cNvSpPr/>
          <p:nvPr/>
        </p:nvSpPr>
        <p:spPr>
          <a:xfrm>
            <a:off x="4572000" y="1709928"/>
            <a:ext cx="91440" cy="91440"/>
          </a:xfrm>
          <a:prstGeom prst="line">
            <a:avLst/>
          </a:prstGeom>
          <a:noFill/>
          <a:ln w="15875">
            <a:solidFill>
              <a:srgbClr val="2A1F3D"/>
            </a:solidFill>
            <a:prstDash val="solid"/>
          </a:ln>
        </p:spPr>
      </p:sp>
      <p:sp>
        <p:nvSpPr>
          <p:cNvPr id="176" name="Shape 174"/>
          <p:cNvSpPr/>
          <p:nvPr/>
        </p:nvSpPr>
        <p:spPr>
          <a:xfrm flipV="1">
            <a:off x="4572000" y="1709928"/>
            <a:ext cx="91440" cy="91440"/>
          </a:xfrm>
          <a:prstGeom prst="line">
            <a:avLst/>
          </a:prstGeom>
          <a:noFill/>
          <a:ln w="15875">
            <a:solidFill>
              <a:srgbClr val="2A1F3D"/>
            </a:solidFill>
            <a:prstDash val="solid"/>
          </a:ln>
        </p:spPr>
      </p:sp>
      <p:sp>
        <p:nvSpPr>
          <p:cNvPr id="177" name="Shape 175"/>
          <p:cNvSpPr/>
          <p:nvPr/>
        </p:nvSpPr>
        <p:spPr>
          <a:xfrm>
            <a:off x="4937760" y="1709928"/>
            <a:ext cx="91440" cy="91440"/>
          </a:xfrm>
          <a:prstGeom prst="line">
            <a:avLst/>
          </a:prstGeom>
          <a:noFill/>
          <a:ln w="15875">
            <a:solidFill>
              <a:srgbClr val="2A1F3D"/>
            </a:solidFill>
            <a:prstDash val="solid"/>
          </a:ln>
        </p:spPr>
      </p:sp>
      <p:sp>
        <p:nvSpPr>
          <p:cNvPr id="178" name="Shape 176"/>
          <p:cNvSpPr/>
          <p:nvPr/>
        </p:nvSpPr>
        <p:spPr>
          <a:xfrm flipV="1">
            <a:off x="4937760" y="1709928"/>
            <a:ext cx="91440" cy="91440"/>
          </a:xfrm>
          <a:prstGeom prst="line">
            <a:avLst/>
          </a:prstGeom>
          <a:noFill/>
          <a:ln w="15875">
            <a:solidFill>
              <a:srgbClr val="2A1F3D"/>
            </a:solidFill>
            <a:prstDash val="solid"/>
          </a:ln>
        </p:spPr>
      </p:sp>
      <p:sp>
        <p:nvSpPr>
          <p:cNvPr id="179" name="Shape 177"/>
          <p:cNvSpPr/>
          <p:nvPr/>
        </p:nvSpPr>
        <p:spPr>
          <a:xfrm>
            <a:off x="5303520" y="1709928"/>
            <a:ext cx="91440" cy="91440"/>
          </a:xfrm>
          <a:prstGeom prst="line">
            <a:avLst/>
          </a:prstGeom>
          <a:noFill/>
          <a:ln w="15875">
            <a:solidFill>
              <a:srgbClr val="2A1F3D"/>
            </a:solidFill>
            <a:prstDash val="solid"/>
          </a:ln>
        </p:spPr>
      </p:sp>
      <p:sp>
        <p:nvSpPr>
          <p:cNvPr id="180" name="Shape 178"/>
          <p:cNvSpPr/>
          <p:nvPr/>
        </p:nvSpPr>
        <p:spPr>
          <a:xfrm flipV="1">
            <a:off x="5303520" y="1709928"/>
            <a:ext cx="91440" cy="91440"/>
          </a:xfrm>
          <a:prstGeom prst="line">
            <a:avLst/>
          </a:prstGeom>
          <a:noFill/>
          <a:ln w="15875">
            <a:solidFill>
              <a:srgbClr val="2A1F3D"/>
            </a:solidFill>
            <a:prstDash val="solid"/>
          </a:ln>
        </p:spPr>
      </p:sp>
      <p:sp>
        <p:nvSpPr>
          <p:cNvPr id="181" name="Shape 179"/>
          <p:cNvSpPr/>
          <p:nvPr/>
        </p:nvSpPr>
        <p:spPr>
          <a:xfrm>
            <a:off x="5669280" y="1709928"/>
            <a:ext cx="91440" cy="91440"/>
          </a:xfrm>
          <a:prstGeom prst="line">
            <a:avLst/>
          </a:prstGeom>
          <a:noFill/>
          <a:ln w="15875">
            <a:solidFill>
              <a:srgbClr val="2A1F3D"/>
            </a:solidFill>
            <a:prstDash val="solid"/>
          </a:ln>
        </p:spPr>
      </p:sp>
      <p:sp>
        <p:nvSpPr>
          <p:cNvPr id="182" name="Shape 180"/>
          <p:cNvSpPr/>
          <p:nvPr/>
        </p:nvSpPr>
        <p:spPr>
          <a:xfrm flipV="1">
            <a:off x="5669280" y="1709928"/>
            <a:ext cx="91440" cy="91440"/>
          </a:xfrm>
          <a:prstGeom prst="line">
            <a:avLst/>
          </a:prstGeom>
          <a:noFill/>
          <a:ln w="15875">
            <a:solidFill>
              <a:srgbClr val="2A1F3D"/>
            </a:solidFill>
            <a:prstDash val="solid"/>
          </a:ln>
        </p:spPr>
      </p:sp>
      <p:sp>
        <p:nvSpPr>
          <p:cNvPr id="183" name="Text 181"/>
          <p:cNvSpPr/>
          <p:nvPr/>
        </p:nvSpPr>
        <p:spPr>
          <a:xfrm>
            <a:off x="4142232" y="2770632"/>
            <a:ext cx="1463040" cy="256032"/>
          </a:xfrm>
          <a:prstGeom prst="rect">
            <a:avLst/>
          </a:prstGeom>
          <a:noFill/>
          <a:ln/>
        </p:spPr>
        <p:txBody>
          <a:bodyPr wrap="square" lIns="0" tIns="0" rIns="0" bIns="0" rtlCol="0" anchor="ctr"/>
          <a:lstStyle/>
          <a:p>
            <a:pPr algn="l" indent="0" marL="0">
              <a:buNone/>
            </a:pPr>
            <a:r>
              <a:rPr lang="en-US" sz="1050" b="1" dirty="0">
                <a:solidFill>
                  <a:srgbClr val="6B7385"/>
                </a:solidFill>
                <a:latin typeface="Calibri" pitchFamily="34" charset="0"/>
                <a:ea typeface="Calibri" pitchFamily="34" charset="-122"/>
                <a:cs typeface="Calibri" pitchFamily="34" charset="-120"/>
              </a:rPr>
              <a:t>end point: 0.74 g</a:t>
            </a:r>
            <a:endParaRPr lang="en-US" sz="1050" dirty="0"/>
          </a:p>
        </p:txBody>
      </p:sp>
      <p:sp>
        <p:nvSpPr>
          <p:cNvPr id="184" name="Text 182"/>
          <p:cNvSpPr/>
          <p:nvPr/>
        </p:nvSpPr>
        <p:spPr>
          <a:xfrm>
            <a:off x="1508760" y="2770632"/>
            <a:ext cx="1463040" cy="256032"/>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neutral, pH 7</a:t>
            </a:r>
            <a:endParaRPr lang="en-US" sz="1050" dirty="0"/>
          </a:p>
        </p:txBody>
      </p:sp>
      <p:sp>
        <p:nvSpPr>
          <p:cNvPr id="185" name="Text 183"/>
          <p:cNvSpPr/>
          <p:nvPr/>
        </p:nvSpPr>
        <p:spPr>
          <a:xfrm>
            <a:off x="4361688" y="2045643"/>
            <a:ext cx="1280160" cy="256032"/>
          </a:xfrm>
          <a:prstGeom prst="rect">
            <a:avLst/>
          </a:prstGeom>
          <a:noFill/>
          <a:ln/>
        </p:spPr>
        <p:txBody>
          <a:bodyPr wrap="square" lIns="0" tIns="0" rIns="0" bIns="0" rtlCol="0" anchor="ctr"/>
          <a:lstStyle/>
          <a:p>
            <a:pPr algn="l" indent="0" marL="0">
              <a:buNone/>
            </a:pPr>
            <a:r>
              <a:rPr lang="en-US" sz="1050" dirty="0">
                <a:solidFill>
                  <a:srgbClr val="6A3FA0"/>
                </a:solidFill>
                <a:latin typeface="Calibri" pitchFamily="34" charset="0"/>
                <a:ea typeface="Calibri" pitchFamily="34" charset="-122"/>
                <a:cs typeface="Calibri" pitchFamily="34" charset="-120"/>
              </a:rPr>
              <a:t>excess Ca(OH)₂</a:t>
            </a:r>
            <a:endParaRPr lang="en-US" sz="1050" dirty="0"/>
          </a:p>
        </p:txBody>
      </p:sp>
      <p:sp>
        <p:nvSpPr>
          <p:cNvPr id="186" name="Text 184"/>
          <p:cNvSpPr/>
          <p:nvPr/>
        </p:nvSpPr>
        <p:spPr>
          <a:xfrm>
            <a:off x="1508760" y="4244775"/>
            <a:ext cx="1463040" cy="256032"/>
          </a:xfrm>
          <a:prstGeom prst="rect">
            <a:avLst/>
          </a:prstGeom>
          <a:noFill/>
          <a:ln/>
        </p:spPr>
        <p:txBody>
          <a:bodyPr wrap="square" lIns="0" tIns="0" rIns="0" bIns="0" rtlCol="0" anchor="ctr"/>
          <a:lstStyle/>
          <a:p>
            <a:pPr algn="l" indent="0" marL="0">
              <a:buNone/>
            </a:pPr>
            <a:r>
              <a:rPr lang="en-US" sz="1050" dirty="0">
                <a:solidFill>
                  <a:srgbClr val="C8414C"/>
                </a:solidFill>
                <a:latin typeface="Calibri" pitchFamily="34" charset="0"/>
                <a:ea typeface="Calibri" pitchFamily="34" charset="-122"/>
                <a:cs typeface="Calibri" pitchFamily="34" charset="-120"/>
              </a:rPr>
              <a:t>excess acid</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389888"/>
                <a:gridCol w="1389888"/>
                <a:gridCol w="1389888"/>
                <a:gridCol w="1389888"/>
              </a:tblGrid>
              <a:tr h="27432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mass / g</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pH</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mass / g</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pH</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0.0</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0.4</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0.7</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0.8</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12.5</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0.2</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0.9</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12.6</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0.6</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12.6</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0.4</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0.7</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12.6</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0.9</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12.6</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0.6</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bl>
          </a:graphicData>
        </a:graphic>
      </p:graphicFrame>
      <p:sp>
        <p:nvSpPr>
          <p:cNvPr id="188" name="Shape 185"/>
          <p:cNvSpPr/>
          <p:nvPr/>
        </p:nvSpPr>
        <p:spPr>
          <a:xfrm>
            <a:off x="6217920" y="3493008"/>
            <a:ext cx="2715768" cy="2221992"/>
          </a:xfrm>
          <a:prstGeom prst="roundRect">
            <a:avLst>
              <a:gd name="adj" fmla="val 2469"/>
            </a:avLst>
          </a:prstGeom>
          <a:solidFill>
            <a:srgbClr val="F8F5FC"/>
          </a:solidFill>
          <a:ln w="9525">
            <a:solidFill>
              <a:srgbClr val="DDD3EC"/>
            </a:solidFill>
            <a:prstDash val="solid"/>
          </a:ln>
        </p:spPr>
      </p:sp>
      <p:sp>
        <p:nvSpPr>
          <p:cNvPr id="189" name="Text 186"/>
          <p:cNvSpPr/>
          <p:nvPr/>
        </p:nvSpPr>
        <p:spPr>
          <a:xfrm>
            <a:off x="6382512" y="3584448"/>
            <a:ext cx="2386584"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Analysis</a:t>
            </a:r>
            <a:endParaRPr lang="en-US" sz="1300" dirty="0"/>
          </a:p>
        </p:txBody>
      </p:sp>
      <p:sp>
        <p:nvSpPr>
          <p:cNvPr id="190" name="Text 187"/>
          <p:cNvSpPr/>
          <p:nvPr/>
        </p:nvSpPr>
        <p:spPr>
          <a:xfrm>
            <a:off x="6382512" y="3913632"/>
            <a:ext cx="2386584" cy="1728216"/>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pH rises </a:t>
            </a:r>
            <a:r>
              <a:rPr lang="en-US" sz="1050" b="1" dirty="0">
                <a:solidFill>
                  <a:srgbClr val="262B3A"/>
                </a:solidFill>
                <a:latin typeface="Calibri" pitchFamily="34" charset="0"/>
                <a:ea typeface="Calibri" pitchFamily="34" charset="-122"/>
                <a:cs typeface="Calibri" pitchFamily="34" charset="-120"/>
              </a:rPr>
              <a:t>slowly</a:t>
            </a:r>
            <a:r>
              <a:rPr lang="en-US" sz="1050" dirty="0">
                <a:solidFill>
                  <a:srgbClr val="262B3A"/>
                </a:solidFill>
                <a:latin typeface="Calibri" pitchFamily="34" charset="0"/>
                <a:ea typeface="Calibri" pitchFamily="34" charset="-122"/>
                <a:cs typeface="Calibri" pitchFamily="34" charset="-120"/>
              </a:rPr>
              <a:t>: H⁺ ions are being removed but acid is still in excess.</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Sudden rise</a:t>
            </a:r>
            <a:r>
              <a:rPr lang="en-US" sz="1050" dirty="0">
                <a:solidFill>
                  <a:srgbClr val="262B3A"/>
                </a:solidFill>
                <a:latin typeface="Calibri" pitchFamily="34" charset="0"/>
                <a:ea typeface="Calibri" pitchFamily="34" charset="-122"/>
                <a:cs typeface="Calibri" pitchFamily="34" charset="-120"/>
              </a:rPr>
              <a:t> near </a:t>
            </a:r>
            <a:r>
              <a:rPr lang="en-US" sz="1050" b="1" dirty="0">
                <a:solidFill>
                  <a:srgbClr val="262B3A"/>
                </a:solidFill>
                <a:latin typeface="Calibri" pitchFamily="34" charset="0"/>
                <a:ea typeface="Calibri" pitchFamily="34" charset="-122"/>
                <a:cs typeface="Calibri" pitchFamily="34" charset="-120"/>
              </a:rPr>
              <a:t>0.74 g</a:t>
            </a:r>
            <a:r>
              <a:rPr lang="en-US" sz="1050" dirty="0">
                <a:solidFill>
                  <a:srgbClr val="262B3A"/>
                </a:solidFill>
                <a:latin typeface="Calibri" pitchFamily="34" charset="0"/>
                <a:ea typeface="Calibri" pitchFamily="34" charset="-122"/>
                <a:cs typeface="Calibri" pitchFamily="34" charset="-120"/>
              </a:rPr>
              <a:t>: the last H⁺ ions are neutralised.</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Then pH </a:t>
            </a:r>
            <a:r>
              <a:rPr lang="en-US" sz="1050" b="1" dirty="0">
                <a:solidFill>
                  <a:srgbClr val="262B3A"/>
                </a:solidFill>
                <a:latin typeface="Calibri" pitchFamily="34" charset="0"/>
                <a:ea typeface="Calibri" pitchFamily="34" charset="-122"/>
                <a:cs typeface="Calibri" pitchFamily="34" charset="-120"/>
              </a:rPr>
              <a:t>levels off</a:t>
            </a:r>
            <a:r>
              <a:rPr lang="en-US" sz="1050" dirty="0">
                <a:solidFill>
                  <a:srgbClr val="262B3A"/>
                </a:solidFill>
                <a:latin typeface="Calibri" pitchFamily="34" charset="0"/>
                <a:ea typeface="Calibri" pitchFamily="34" charset="-122"/>
                <a:cs typeface="Calibri" pitchFamily="34" charset="-120"/>
              </a:rPr>
              <a:t> (about 12.6): extra Ca(OH)₂ hardly dissolves.</a:t>
            </a:r>
            <a:endParaRPr lang="en-US" sz="1050" dirty="0"/>
          </a:p>
        </p:txBody>
      </p:sp>
      <p:sp>
        <p:nvSpPr>
          <p:cNvPr id="191" name="Shape 188"/>
          <p:cNvSpPr/>
          <p:nvPr/>
        </p:nvSpPr>
        <p:spPr>
          <a:xfrm>
            <a:off x="9061704" y="3493008"/>
            <a:ext cx="2715768" cy="2221992"/>
          </a:xfrm>
          <a:prstGeom prst="roundRect">
            <a:avLst>
              <a:gd name="adj" fmla="val 2469"/>
            </a:avLst>
          </a:prstGeom>
          <a:solidFill>
            <a:srgbClr val="F8F5FC"/>
          </a:solidFill>
          <a:ln w="9525">
            <a:solidFill>
              <a:srgbClr val="DDD3EC"/>
            </a:solidFill>
            <a:prstDash val="solid"/>
          </a:ln>
        </p:spPr>
      </p:sp>
      <p:sp>
        <p:nvSpPr>
          <p:cNvPr id="192" name="Text 189"/>
          <p:cNvSpPr/>
          <p:nvPr/>
        </p:nvSpPr>
        <p:spPr>
          <a:xfrm>
            <a:off x="9226296" y="3584448"/>
            <a:ext cx="2386584"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Errors and improvements</a:t>
            </a:r>
            <a:endParaRPr lang="en-US" sz="1300" dirty="0"/>
          </a:p>
        </p:txBody>
      </p:sp>
      <p:sp>
        <p:nvSpPr>
          <p:cNvPr id="193" name="Text 190"/>
          <p:cNvSpPr/>
          <p:nvPr/>
        </p:nvSpPr>
        <p:spPr>
          <a:xfrm>
            <a:off x="9226296" y="3913632"/>
            <a:ext cx="2386584" cy="1728216"/>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Reading taken </a:t>
            </a:r>
            <a:r>
              <a:rPr lang="en-US" sz="1050" b="1" dirty="0">
                <a:solidFill>
                  <a:srgbClr val="262B3A"/>
                </a:solidFill>
                <a:latin typeface="Calibri" pitchFamily="34" charset="0"/>
                <a:ea typeface="Calibri" pitchFamily="34" charset="-122"/>
                <a:cs typeface="Calibri" pitchFamily="34" charset="-120"/>
              </a:rPr>
              <a:t>too soon</a:t>
            </a:r>
            <a:r>
              <a:rPr lang="en-US" sz="1050" dirty="0">
                <a:solidFill>
                  <a:srgbClr val="262B3A"/>
                </a:solidFill>
                <a:latin typeface="Calibri" pitchFamily="34" charset="0"/>
                <a:ea typeface="Calibri" pitchFamily="34" charset="-122"/>
                <a:cs typeface="Calibri" pitchFamily="34" charset="-120"/>
              </a:rPr>
              <a:t> → pH too low; stir and wait for a steady value.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Powder sticks to the spatula → mass added is uncertain; weigh by difference.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Use </a:t>
            </a:r>
            <a:r>
              <a:rPr lang="en-US" sz="1050" b="1" dirty="0">
                <a:solidFill>
                  <a:srgbClr val="262B3A"/>
                </a:solidFill>
                <a:latin typeface="Calibri" pitchFamily="34" charset="0"/>
                <a:ea typeface="Calibri" pitchFamily="34" charset="-122"/>
                <a:cs typeface="Calibri" pitchFamily="34" charset="-120"/>
              </a:rPr>
              <a:t>smaller portions</a:t>
            </a:r>
            <a:r>
              <a:rPr lang="en-US" sz="1050" dirty="0">
                <a:solidFill>
                  <a:srgbClr val="262B3A"/>
                </a:solidFill>
                <a:latin typeface="Calibri" pitchFamily="34" charset="0"/>
                <a:ea typeface="Calibri" pitchFamily="34" charset="-122"/>
                <a:cs typeface="Calibri" pitchFamily="34" charset="-120"/>
              </a:rPr>
              <a:t> near the end point.</a:t>
            </a:r>
            <a:endParaRPr lang="en-US" sz="1050" dirty="0"/>
          </a:p>
        </p:txBody>
      </p:sp>
      <p:sp>
        <p:nvSpPr>
          <p:cNvPr id="194" name="Shape 191"/>
          <p:cNvSpPr/>
          <p:nvPr/>
        </p:nvSpPr>
        <p:spPr>
          <a:xfrm>
            <a:off x="411480" y="5833872"/>
            <a:ext cx="11368735" cy="530352"/>
          </a:xfrm>
          <a:prstGeom prst="rect">
            <a:avLst/>
          </a:prstGeom>
          <a:solidFill>
            <a:srgbClr val="FFF4E0"/>
          </a:solidFill>
          <a:ln w="6350">
            <a:solidFill>
              <a:srgbClr val="F1D9A8"/>
            </a:solidFill>
            <a:prstDash val="solid"/>
          </a:ln>
        </p:spPr>
      </p:sp>
      <p:sp>
        <p:nvSpPr>
          <p:cNvPr id="195" name="Shape 192"/>
          <p:cNvSpPr/>
          <p:nvPr/>
        </p:nvSpPr>
        <p:spPr>
          <a:xfrm>
            <a:off x="411480" y="5833872"/>
            <a:ext cx="82296" cy="530352"/>
          </a:xfrm>
          <a:prstGeom prst="rect">
            <a:avLst/>
          </a:prstGeom>
          <a:solidFill>
            <a:srgbClr val="E39A2F"/>
          </a:solidFill>
          <a:ln w="12700">
            <a:solidFill>
              <a:srgbClr val="E39A2F"/>
            </a:solidFill>
            <a:prstDash val="solid"/>
          </a:ln>
        </p:spPr>
      </p:sp>
      <p:sp>
        <p:nvSpPr>
          <p:cNvPr id="196" name="Text 19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graph: what mass of calcium hydroxide exactly neutralises the acid? Name the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substances dissolved in the beaker at 0.5 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Bases, alkalis and the reactions of acids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3.9–3.12 • acids react to make salts; tests for hydrogen and carbon dioxide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3.9–3.12  |  13</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four reactions of dilute acids, and the two gas tests</a:t>
            </a:r>
            <a:endParaRPr lang="en-US" sz="1000" dirty="0"/>
          </a:p>
        </p:txBody>
      </p:sp>
      <p:sp>
        <p:nvSpPr>
          <p:cNvPr id="10" name="Shape 8"/>
          <p:cNvSpPr/>
          <p:nvPr/>
        </p:nvSpPr>
        <p:spPr>
          <a:xfrm>
            <a:off x="868680" y="1463040"/>
            <a:ext cx="548640" cy="1600200"/>
          </a:xfrm>
          <a:custGeom>
            <a:avLst/>
            <a:gdLst/>
            <a:ahLst/>
            <a:cxnLst/>
            <a:rect l="l" t="t" r="r" b="b"/>
            <a:pathLst>
              <a:path w="548640" h="1600200">
                <a:moveTo>
                  <a:pt x="0" y="0"/>
                </a:moveTo>
                <a:lnTo>
                  <a:pt x="548640" y="0"/>
                </a:lnTo>
                <a:lnTo>
                  <a:pt x="548640" y="1325880"/>
                </a:lnTo>
                <a:lnTo>
                  <a:pt x="543369" y="1379397"/>
                </a:lnTo>
                <a:lnTo>
                  <a:pt x="527759" y="1430858"/>
                </a:lnTo>
                <a:lnTo>
                  <a:pt x="502409" y="1478284"/>
                </a:lnTo>
                <a:lnTo>
                  <a:pt x="468294" y="1519854"/>
                </a:lnTo>
                <a:lnTo>
                  <a:pt x="426724" y="1553969"/>
                </a:lnTo>
                <a:lnTo>
                  <a:pt x="379298" y="1579319"/>
                </a:lnTo>
                <a:lnTo>
                  <a:pt x="327837" y="1594929"/>
                </a:lnTo>
                <a:lnTo>
                  <a:pt x="274320" y="1600200"/>
                </a:lnTo>
                <a:lnTo>
                  <a:pt x="220803" y="1594929"/>
                </a:lnTo>
                <a:lnTo>
                  <a:pt x="169342" y="1579319"/>
                </a:lnTo>
                <a:lnTo>
                  <a:pt x="121916" y="1553969"/>
                </a:lnTo>
                <a:lnTo>
                  <a:pt x="80346" y="1519854"/>
                </a:lnTo>
                <a:lnTo>
                  <a:pt x="46231" y="1478284"/>
                </a:lnTo>
                <a:lnTo>
                  <a:pt x="20881" y="1430858"/>
                </a:lnTo>
                <a:lnTo>
                  <a:pt x="5271" y="1379397"/>
                </a:lnTo>
                <a:lnTo>
                  <a:pt x="0" y="1325880"/>
                </a:lnTo>
                <a:close/>
              </a:path>
            </a:pathLst>
          </a:custGeom>
          <a:solidFill>
            <a:srgbClr val="EEF5FB"/>
          </a:solidFill>
          <a:ln/>
        </p:spPr>
      </p:sp>
      <p:sp>
        <p:nvSpPr>
          <p:cNvPr id="11" name="Shape 9"/>
          <p:cNvSpPr/>
          <p:nvPr/>
        </p:nvSpPr>
        <p:spPr>
          <a:xfrm>
            <a:off x="868680" y="2103120"/>
            <a:ext cx="548640" cy="960120"/>
          </a:xfrm>
          <a:custGeom>
            <a:avLst/>
            <a:gdLst/>
            <a:ahLst/>
            <a:cxnLst/>
            <a:rect l="l" t="t" r="r" b="b"/>
            <a:pathLst>
              <a:path w="548640" h="960120">
                <a:moveTo>
                  <a:pt x="0" y="0"/>
                </a:moveTo>
                <a:lnTo>
                  <a:pt x="548640" y="0"/>
                </a:lnTo>
                <a:lnTo>
                  <a:pt x="548640" y="685800"/>
                </a:lnTo>
                <a:lnTo>
                  <a:pt x="543369" y="739317"/>
                </a:lnTo>
                <a:lnTo>
                  <a:pt x="527759" y="790778"/>
                </a:lnTo>
                <a:lnTo>
                  <a:pt x="502409" y="838204"/>
                </a:lnTo>
                <a:lnTo>
                  <a:pt x="468294" y="879774"/>
                </a:lnTo>
                <a:lnTo>
                  <a:pt x="426724" y="913889"/>
                </a:lnTo>
                <a:lnTo>
                  <a:pt x="379298" y="939239"/>
                </a:lnTo>
                <a:lnTo>
                  <a:pt x="327837" y="954849"/>
                </a:lnTo>
                <a:lnTo>
                  <a:pt x="274320" y="960120"/>
                </a:lnTo>
                <a:lnTo>
                  <a:pt x="220803" y="954849"/>
                </a:lnTo>
                <a:lnTo>
                  <a:pt x="169342" y="939239"/>
                </a:lnTo>
                <a:lnTo>
                  <a:pt x="121916" y="913889"/>
                </a:lnTo>
                <a:lnTo>
                  <a:pt x="80346" y="879774"/>
                </a:lnTo>
                <a:lnTo>
                  <a:pt x="46231" y="838204"/>
                </a:lnTo>
                <a:lnTo>
                  <a:pt x="20881" y="790778"/>
                </a:lnTo>
                <a:lnTo>
                  <a:pt x="5271" y="739317"/>
                </a:lnTo>
                <a:lnTo>
                  <a:pt x="0" y="685800"/>
                </a:lnTo>
                <a:close/>
              </a:path>
            </a:pathLst>
          </a:custGeom>
          <a:solidFill>
            <a:srgbClr val="F9E0DA"/>
          </a:solidFill>
          <a:ln/>
        </p:spPr>
      </p:sp>
      <p:sp>
        <p:nvSpPr>
          <p:cNvPr id="12" name="Shape 10"/>
          <p:cNvSpPr/>
          <p:nvPr/>
        </p:nvSpPr>
        <p:spPr>
          <a:xfrm>
            <a:off x="868680" y="1463040"/>
            <a:ext cx="91" cy="1325880"/>
          </a:xfrm>
          <a:prstGeom prst="line">
            <a:avLst/>
          </a:prstGeom>
          <a:noFill/>
          <a:ln w="19050">
            <a:solidFill>
              <a:srgbClr val="2A1F3D"/>
            </a:solidFill>
            <a:prstDash val="solid"/>
          </a:ln>
        </p:spPr>
      </p:sp>
      <p:sp>
        <p:nvSpPr>
          <p:cNvPr id="13" name="Shape 11"/>
          <p:cNvSpPr/>
          <p:nvPr/>
        </p:nvSpPr>
        <p:spPr>
          <a:xfrm>
            <a:off x="1417320" y="1463040"/>
            <a:ext cx="91" cy="1325880"/>
          </a:xfrm>
          <a:prstGeom prst="line">
            <a:avLst/>
          </a:prstGeom>
          <a:noFill/>
          <a:ln w="19050">
            <a:solidFill>
              <a:srgbClr val="2A1F3D"/>
            </a:solidFill>
            <a:prstDash val="solid"/>
          </a:ln>
        </p:spPr>
      </p:sp>
      <p:sp>
        <p:nvSpPr>
          <p:cNvPr id="14" name="Shape 12"/>
          <p:cNvSpPr/>
          <p:nvPr/>
        </p:nvSpPr>
        <p:spPr>
          <a:xfrm>
            <a:off x="868680" y="2788920"/>
            <a:ext cx="548640" cy="274320"/>
          </a:xfrm>
          <a:custGeom>
            <a:avLst/>
            <a:gdLst/>
            <a:ahLst/>
            <a:cxnLst/>
            <a:rect l="l" t="t" r="r" b="b"/>
            <a:pathLst>
              <a:path w="548640" h="274320">
                <a:moveTo>
                  <a:pt x="548640" y="0"/>
                </a:moveTo>
                <a:lnTo>
                  <a:pt x="543369" y="53517"/>
                </a:lnTo>
                <a:lnTo>
                  <a:pt x="527759" y="104978"/>
                </a:lnTo>
                <a:lnTo>
                  <a:pt x="502409" y="152404"/>
                </a:lnTo>
                <a:lnTo>
                  <a:pt x="468294" y="193974"/>
                </a:lnTo>
                <a:lnTo>
                  <a:pt x="426724" y="228089"/>
                </a:lnTo>
                <a:lnTo>
                  <a:pt x="379298" y="253439"/>
                </a:lnTo>
                <a:lnTo>
                  <a:pt x="327837" y="269049"/>
                </a:lnTo>
                <a:lnTo>
                  <a:pt x="274320" y="274320"/>
                </a:lnTo>
                <a:lnTo>
                  <a:pt x="220803" y="269049"/>
                </a:lnTo>
                <a:lnTo>
                  <a:pt x="169342" y="253439"/>
                </a:lnTo>
                <a:lnTo>
                  <a:pt x="121916" y="228089"/>
                </a:lnTo>
                <a:lnTo>
                  <a:pt x="80346" y="193974"/>
                </a:lnTo>
                <a:lnTo>
                  <a:pt x="46231" y="152404"/>
                </a:lnTo>
                <a:lnTo>
                  <a:pt x="20881" y="104978"/>
                </a:lnTo>
                <a:lnTo>
                  <a:pt x="5271" y="53517"/>
                </a:lnTo>
                <a:lnTo>
                  <a:pt x="0" y="0"/>
                </a:lnTo>
              </a:path>
            </a:pathLst>
          </a:custGeom>
          <a:ln w="19050">
            <a:solidFill>
              <a:srgbClr val="2A1F3D"/>
            </a:solidFill>
            <a:prstDash val="solid"/>
          </a:ln>
        </p:spPr>
      </p:sp>
      <p:sp>
        <p:nvSpPr>
          <p:cNvPr id="15" name="Shape 13"/>
          <p:cNvSpPr/>
          <p:nvPr/>
        </p:nvSpPr>
        <p:spPr>
          <a:xfrm>
            <a:off x="832104" y="1463040"/>
            <a:ext cx="36576" cy="91"/>
          </a:xfrm>
          <a:prstGeom prst="line">
            <a:avLst/>
          </a:prstGeom>
          <a:noFill/>
          <a:ln w="19050">
            <a:solidFill>
              <a:srgbClr val="2A1F3D"/>
            </a:solidFill>
            <a:prstDash val="solid"/>
          </a:ln>
        </p:spPr>
      </p:sp>
      <p:sp>
        <p:nvSpPr>
          <p:cNvPr id="16" name="Shape 14"/>
          <p:cNvSpPr/>
          <p:nvPr/>
        </p:nvSpPr>
        <p:spPr>
          <a:xfrm>
            <a:off x="1417320" y="1463040"/>
            <a:ext cx="36576" cy="91"/>
          </a:xfrm>
          <a:prstGeom prst="line">
            <a:avLst/>
          </a:prstGeom>
          <a:noFill/>
          <a:ln w="19050">
            <a:solidFill>
              <a:srgbClr val="2A1F3D"/>
            </a:solidFill>
            <a:prstDash val="solid"/>
          </a:ln>
        </p:spPr>
      </p:sp>
      <p:sp>
        <p:nvSpPr>
          <p:cNvPr id="17" name="Shape 15"/>
          <p:cNvSpPr/>
          <p:nvPr/>
        </p:nvSpPr>
        <p:spPr>
          <a:xfrm>
            <a:off x="1088136" y="2331720"/>
            <a:ext cx="91440" cy="594360"/>
          </a:xfrm>
          <a:prstGeom prst="rect">
            <a:avLst/>
          </a:prstGeom>
          <a:solidFill>
            <a:srgbClr val="9AA3B0"/>
          </a:solidFill>
          <a:ln w="9525">
            <a:solidFill>
              <a:srgbClr val="5A6275"/>
            </a:solidFill>
            <a:prstDash val="solid"/>
          </a:ln>
        </p:spPr>
      </p:sp>
      <p:sp>
        <p:nvSpPr>
          <p:cNvPr id="18" name="Shape 16"/>
          <p:cNvSpPr/>
          <p:nvPr/>
        </p:nvSpPr>
        <p:spPr>
          <a:xfrm>
            <a:off x="982980" y="2528316"/>
            <a:ext cx="64008" cy="64008"/>
          </a:xfrm>
          <a:prstGeom prst="ellipse">
            <a:avLst/>
          </a:prstGeom>
          <a:solidFill>
            <a:srgbClr val="FFFFFF"/>
          </a:solidFill>
          <a:ln w="7620">
            <a:solidFill>
              <a:srgbClr val="5B9BD5"/>
            </a:solidFill>
            <a:prstDash val="solid"/>
          </a:ln>
        </p:spPr>
      </p:sp>
      <p:sp>
        <p:nvSpPr>
          <p:cNvPr id="19" name="Shape 17"/>
          <p:cNvSpPr/>
          <p:nvPr/>
        </p:nvSpPr>
        <p:spPr>
          <a:xfrm>
            <a:off x="1239012" y="2391156"/>
            <a:ext cx="64008" cy="64008"/>
          </a:xfrm>
          <a:prstGeom prst="ellipse">
            <a:avLst/>
          </a:prstGeom>
          <a:solidFill>
            <a:srgbClr val="FFFFFF"/>
          </a:solidFill>
          <a:ln w="7620">
            <a:solidFill>
              <a:srgbClr val="5B9BD5"/>
            </a:solidFill>
            <a:prstDash val="solid"/>
          </a:ln>
        </p:spPr>
      </p:sp>
      <p:sp>
        <p:nvSpPr>
          <p:cNvPr id="20" name="Shape 18"/>
          <p:cNvSpPr/>
          <p:nvPr/>
        </p:nvSpPr>
        <p:spPr>
          <a:xfrm>
            <a:off x="1001268" y="2208276"/>
            <a:ext cx="64008" cy="64008"/>
          </a:xfrm>
          <a:prstGeom prst="ellipse">
            <a:avLst/>
          </a:prstGeom>
          <a:solidFill>
            <a:srgbClr val="FFFFFF"/>
          </a:solidFill>
          <a:ln w="7620">
            <a:solidFill>
              <a:srgbClr val="5B9BD5"/>
            </a:solidFill>
            <a:prstDash val="solid"/>
          </a:ln>
        </p:spPr>
      </p:sp>
      <p:sp>
        <p:nvSpPr>
          <p:cNvPr id="21" name="Shape 19"/>
          <p:cNvSpPr/>
          <p:nvPr/>
        </p:nvSpPr>
        <p:spPr>
          <a:xfrm>
            <a:off x="1220724" y="2665476"/>
            <a:ext cx="64008" cy="64008"/>
          </a:xfrm>
          <a:prstGeom prst="ellipse">
            <a:avLst/>
          </a:prstGeom>
          <a:solidFill>
            <a:srgbClr val="FFFFFF"/>
          </a:solidFill>
          <a:ln w="7620">
            <a:solidFill>
              <a:srgbClr val="5B9BD5"/>
            </a:solidFill>
            <a:prstDash val="solid"/>
          </a:ln>
        </p:spPr>
      </p:sp>
      <p:sp>
        <p:nvSpPr>
          <p:cNvPr id="22" name="Shape 20"/>
          <p:cNvSpPr/>
          <p:nvPr/>
        </p:nvSpPr>
        <p:spPr>
          <a:xfrm>
            <a:off x="1110996" y="2116836"/>
            <a:ext cx="64008" cy="64008"/>
          </a:xfrm>
          <a:prstGeom prst="ellipse">
            <a:avLst/>
          </a:prstGeom>
          <a:solidFill>
            <a:srgbClr val="FFFFFF"/>
          </a:solidFill>
          <a:ln w="7620">
            <a:solidFill>
              <a:srgbClr val="5B9BD5"/>
            </a:solidFill>
            <a:prstDash val="solid"/>
          </a:ln>
        </p:spPr>
      </p:sp>
      <p:sp>
        <p:nvSpPr>
          <p:cNvPr id="23" name="Shape 21"/>
          <p:cNvSpPr/>
          <p:nvPr/>
        </p:nvSpPr>
        <p:spPr>
          <a:xfrm>
            <a:off x="2148840" y="1463040"/>
            <a:ext cx="548640" cy="1600200"/>
          </a:xfrm>
          <a:custGeom>
            <a:avLst/>
            <a:gdLst/>
            <a:ahLst/>
            <a:cxnLst/>
            <a:rect l="l" t="t" r="r" b="b"/>
            <a:pathLst>
              <a:path w="548640" h="1600200">
                <a:moveTo>
                  <a:pt x="0" y="0"/>
                </a:moveTo>
                <a:lnTo>
                  <a:pt x="548640" y="0"/>
                </a:lnTo>
                <a:lnTo>
                  <a:pt x="548640" y="1325880"/>
                </a:lnTo>
                <a:lnTo>
                  <a:pt x="543369" y="1379397"/>
                </a:lnTo>
                <a:lnTo>
                  <a:pt x="527759" y="1430858"/>
                </a:lnTo>
                <a:lnTo>
                  <a:pt x="502409" y="1478284"/>
                </a:lnTo>
                <a:lnTo>
                  <a:pt x="468294" y="1519854"/>
                </a:lnTo>
                <a:lnTo>
                  <a:pt x="426724" y="1553969"/>
                </a:lnTo>
                <a:lnTo>
                  <a:pt x="379298" y="1579319"/>
                </a:lnTo>
                <a:lnTo>
                  <a:pt x="327837" y="1594929"/>
                </a:lnTo>
                <a:lnTo>
                  <a:pt x="274320" y="1600200"/>
                </a:lnTo>
                <a:lnTo>
                  <a:pt x="220803" y="1594929"/>
                </a:lnTo>
                <a:lnTo>
                  <a:pt x="169342" y="1579319"/>
                </a:lnTo>
                <a:lnTo>
                  <a:pt x="121916" y="1553969"/>
                </a:lnTo>
                <a:lnTo>
                  <a:pt x="80346" y="1519854"/>
                </a:lnTo>
                <a:lnTo>
                  <a:pt x="46231" y="1478284"/>
                </a:lnTo>
                <a:lnTo>
                  <a:pt x="20881" y="1430858"/>
                </a:lnTo>
                <a:lnTo>
                  <a:pt x="5271" y="1379397"/>
                </a:lnTo>
                <a:lnTo>
                  <a:pt x="0" y="1325880"/>
                </a:lnTo>
                <a:close/>
              </a:path>
            </a:pathLst>
          </a:custGeom>
          <a:solidFill>
            <a:srgbClr val="EEF5FB"/>
          </a:solidFill>
          <a:ln/>
        </p:spPr>
      </p:sp>
      <p:sp>
        <p:nvSpPr>
          <p:cNvPr id="24" name="Shape 22"/>
          <p:cNvSpPr/>
          <p:nvPr/>
        </p:nvSpPr>
        <p:spPr>
          <a:xfrm>
            <a:off x="2148840" y="2103120"/>
            <a:ext cx="548640" cy="960120"/>
          </a:xfrm>
          <a:custGeom>
            <a:avLst/>
            <a:gdLst/>
            <a:ahLst/>
            <a:cxnLst/>
            <a:rect l="l" t="t" r="r" b="b"/>
            <a:pathLst>
              <a:path w="548640" h="960120">
                <a:moveTo>
                  <a:pt x="0" y="0"/>
                </a:moveTo>
                <a:lnTo>
                  <a:pt x="548640" y="0"/>
                </a:lnTo>
                <a:lnTo>
                  <a:pt x="548640" y="685800"/>
                </a:lnTo>
                <a:lnTo>
                  <a:pt x="543369" y="739317"/>
                </a:lnTo>
                <a:lnTo>
                  <a:pt x="527759" y="790778"/>
                </a:lnTo>
                <a:lnTo>
                  <a:pt x="502409" y="838204"/>
                </a:lnTo>
                <a:lnTo>
                  <a:pt x="468294" y="879774"/>
                </a:lnTo>
                <a:lnTo>
                  <a:pt x="426724" y="913889"/>
                </a:lnTo>
                <a:lnTo>
                  <a:pt x="379298" y="939239"/>
                </a:lnTo>
                <a:lnTo>
                  <a:pt x="327837" y="954849"/>
                </a:lnTo>
                <a:lnTo>
                  <a:pt x="274320" y="960120"/>
                </a:lnTo>
                <a:lnTo>
                  <a:pt x="220803" y="954849"/>
                </a:lnTo>
                <a:lnTo>
                  <a:pt x="169342" y="939239"/>
                </a:lnTo>
                <a:lnTo>
                  <a:pt x="121916" y="913889"/>
                </a:lnTo>
                <a:lnTo>
                  <a:pt x="80346" y="879774"/>
                </a:lnTo>
                <a:lnTo>
                  <a:pt x="46231" y="838204"/>
                </a:lnTo>
                <a:lnTo>
                  <a:pt x="20881" y="790778"/>
                </a:lnTo>
                <a:lnTo>
                  <a:pt x="5271" y="739317"/>
                </a:lnTo>
                <a:lnTo>
                  <a:pt x="0" y="685800"/>
                </a:lnTo>
                <a:close/>
              </a:path>
            </a:pathLst>
          </a:custGeom>
          <a:solidFill>
            <a:srgbClr val="8EC9F0"/>
          </a:solidFill>
          <a:ln/>
        </p:spPr>
      </p:sp>
      <p:sp>
        <p:nvSpPr>
          <p:cNvPr id="25" name="Shape 23"/>
          <p:cNvSpPr/>
          <p:nvPr/>
        </p:nvSpPr>
        <p:spPr>
          <a:xfrm>
            <a:off x="2148840" y="1463040"/>
            <a:ext cx="91" cy="1325880"/>
          </a:xfrm>
          <a:prstGeom prst="line">
            <a:avLst/>
          </a:prstGeom>
          <a:noFill/>
          <a:ln w="19050">
            <a:solidFill>
              <a:srgbClr val="2A1F3D"/>
            </a:solidFill>
            <a:prstDash val="solid"/>
          </a:ln>
        </p:spPr>
      </p:sp>
      <p:sp>
        <p:nvSpPr>
          <p:cNvPr id="26" name="Shape 24"/>
          <p:cNvSpPr/>
          <p:nvPr/>
        </p:nvSpPr>
        <p:spPr>
          <a:xfrm>
            <a:off x="2697480" y="1463040"/>
            <a:ext cx="91" cy="1325880"/>
          </a:xfrm>
          <a:prstGeom prst="line">
            <a:avLst/>
          </a:prstGeom>
          <a:noFill/>
          <a:ln w="19050">
            <a:solidFill>
              <a:srgbClr val="2A1F3D"/>
            </a:solidFill>
            <a:prstDash val="solid"/>
          </a:ln>
        </p:spPr>
      </p:sp>
      <p:sp>
        <p:nvSpPr>
          <p:cNvPr id="27" name="Shape 25"/>
          <p:cNvSpPr/>
          <p:nvPr/>
        </p:nvSpPr>
        <p:spPr>
          <a:xfrm>
            <a:off x="2148840" y="2788920"/>
            <a:ext cx="548640" cy="274320"/>
          </a:xfrm>
          <a:custGeom>
            <a:avLst/>
            <a:gdLst/>
            <a:ahLst/>
            <a:cxnLst/>
            <a:rect l="l" t="t" r="r" b="b"/>
            <a:pathLst>
              <a:path w="548640" h="274320">
                <a:moveTo>
                  <a:pt x="548640" y="0"/>
                </a:moveTo>
                <a:lnTo>
                  <a:pt x="543369" y="53517"/>
                </a:lnTo>
                <a:lnTo>
                  <a:pt x="527759" y="104978"/>
                </a:lnTo>
                <a:lnTo>
                  <a:pt x="502409" y="152404"/>
                </a:lnTo>
                <a:lnTo>
                  <a:pt x="468294" y="193974"/>
                </a:lnTo>
                <a:lnTo>
                  <a:pt x="426724" y="228089"/>
                </a:lnTo>
                <a:lnTo>
                  <a:pt x="379298" y="253439"/>
                </a:lnTo>
                <a:lnTo>
                  <a:pt x="327837" y="269049"/>
                </a:lnTo>
                <a:lnTo>
                  <a:pt x="274320" y="274320"/>
                </a:lnTo>
                <a:lnTo>
                  <a:pt x="220803" y="269049"/>
                </a:lnTo>
                <a:lnTo>
                  <a:pt x="169342" y="253439"/>
                </a:lnTo>
                <a:lnTo>
                  <a:pt x="121916" y="228089"/>
                </a:lnTo>
                <a:lnTo>
                  <a:pt x="80346" y="193974"/>
                </a:lnTo>
                <a:lnTo>
                  <a:pt x="46231" y="152404"/>
                </a:lnTo>
                <a:lnTo>
                  <a:pt x="20881" y="104978"/>
                </a:lnTo>
                <a:lnTo>
                  <a:pt x="5271" y="53517"/>
                </a:lnTo>
                <a:lnTo>
                  <a:pt x="0" y="0"/>
                </a:lnTo>
              </a:path>
            </a:pathLst>
          </a:custGeom>
          <a:ln w="19050">
            <a:solidFill>
              <a:srgbClr val="2A1F3D"/>
            </a:solidFill>
            <a:prstDash val="solid"/>
          </a:ln>
        </p:spPr>
      </p:sp>
      <p:sp>
        <p:nvSpPr>
          <p:cNvPr id="28" name="Shape 26"/>
          <p:cNvSpPr/>
          <p:nvPr/>
        </p:nvSpPr>
        <p:spPr>
          <a:xfrm>
            <a:off x="2112264" y="1463040"/>
            <a:ext cx="36576" cy="91"/>
          </a:xfrm>
          <a:prstGeom prst="line">
            <a:avLst/>
          </a:prstGeom>
          <a:noFill/>
          <a:ln w="19050">
            <a:solidFill>
              <a:srgbClr val="2A1F3D"/>
            </a:solidFill>
            <a:prstDash val="solid"/>
          </a:ln>
        </p:spPr>
      </p:sp>
      <p:sp>
        <p:nvSpPr>
          <p:cNvPr id="29" name="Shape 27"/>
          <p:cNvSpPr/>
          <p:nvPr/>
        </p:nvSpPr>
        <p:spPr>
          <a:xfrm>
            <a:off x="2697480" y="1463040"/>
            <a:ext cx="36576" cy="91"/>
          </a:xfrm>
          <a:prstGeom prst="line">
            <a:avLst/>
          </a:prstGeom>
          <a:noFill/>
          <a:ln w="19050">
            <a:solidFill>
              <a:srgbClr val="2A1F3D"/>
            </a:solidFill>
            <a:prstDash val="solid"/>
          </a:ln>
        </p:spPr>
      </p:sp>
      <p:sp>
        <p:nvSpPr>
          <p:cNvPr id="30" name="Shape 28"/>
          <p:cNvSpPr/>
          <p:nvPr/>
        </p:nvSpPr>
        <p:spPr>
          <a:xfrm>
            <a:off x="2221992" y="2871216"/>
            <a:ext cx="73152" cy="73152"/>
          </a:xfrm>
          <a:prstGeom prst="ellipse">
            <a:avLst/>
          </a:prstGeom>
          <a:solidFill>
            <a:srgbClr val="3A3A3A"/>
          </a:solidFill>
          <a:ln w="9525">
            <a:solidFill>
              <a:srgbClr val="1A1A1A"/>
            </a:solidFill>
            <a:prstDash val="solid"/>
          </a:ln>
        </p:spPr>
      </p:sp>
      <p:sp>
        <p:nvSpPr>
          <p:cNvPr id="31" name="Shape 29"/>
          <p:cNvSpPr/>
          <p:nvPr/>
        </p:nvSpPr>
        <p:spPr>
          <a:xfrm>
            <a:off x="2313432" y="2825496"/>
            <a:ext cx="73152" cy="73152"/>
          </a:xfrm>
          <a:prstGeom prst="ellipse">
            <a:avLst/>
          </a:prstGeom>
          <a:solidFill>
            <a:srgbClr val="3A3A3A"/>
          </a:solidFill>
          <a:ln w="9525">
            <a:solidFill>
              <a:srgbClr val="1A1A1A"/>
            </a:solidFill>
            <a:prstDash val="solid"/>
          </a:ln>
        </p:spPr>
      </p:sp>
      <p:sp>
        <p:nvSpPr>
          <p:cNvPr id="32" name="Shape 30"/>
          <p:cNvSpPr/>
          <p:nvPr/>
        </p:nvSpPr>
        <p:spPr>
          <a:xfrm>
            <a:off x="2386584" y="2871216"/>
            <a:ext cx="73152" cy="73152"/>
          </a:xfrm>
          <a:prstGeom prst="ellipse">
            <a:avLst/>
          </a:prstGeom>
          <a:solidFill>
            <a:srgbClr val="3A3A3A"/>
          </a:solidFill>
          <a:ln w="9525">
            <a:solidFill>
              <a:srgbClr val="1A1A1A"/>
            </a:solidFill>
            <a:prstDash val="solid"/>
          </a:ln>
        </p:spPr>
      </p:sp>
      <p:sp>
        <p:nvSpPr>
          <p:cNvPr id="33" name="Shape 31"/>
          <p:cNvSpPr/>
          <p:nvPr/>
        </p:nvSpPr>
        <p:spPr>
          <a:xfrm>
            <a:off x="2459736" y="2825496"/>
            <a:ext cx="73152" cy="73152"/>
          </a:xfrm>
          <a:prstGeom prst="ellipse">
            <a:avLst/>
          </a:prstGeom>
          <a:solidFill>
            <a:srgbClr val="3A3A3A"/>
          </a:solidFill>
          <a:ln w="9525">
            <a:solidFill>
              <a:srgbClr val="1A1A1A"/>
            </a:solidFill>
            <a:prstDash val="solid"/>
          </a:ln>
        </p:spPr>
      </p:sp>
      <p:sp>
        <p:nvSpPr>
          <p:cNvPr id="34" name="Shape 32"/>
          <p:cNvSpPr/>
          <p:nvPr/>
        </p:nvSpPr>
        <p:spPr>
          <a:xfrm>
            <a:off x="2542032" y="2871216"/>
            <a:ext cx="73152" cy="73152"/>
          </a:xfrm>
          <a:prstGeom prst="ellipse">
            <a:avLst/>
          </a:prstGeom>
          <a:solidFill>
            <a:srgbClr val="3A3A3A"/>
          </a:solidFill>
          <a:ln w="9525">
            <a:solidFill>
              <a:srgbClr val="1A1A1A"/>
            </a:solidFill>
            <a:prstDash val="solid"/>
          </a:ln>
        </p:spPr>
      </p:sp>
      <p:sp>
        <p:nvSpPr>
          <p:cNvPr id="35" name="Shape 33"/>
          <p:cNvSpPr/>
          <p:nvPr/>
        </p:nvSpPr>
        <p:spPr>
          <a:xfrm>
            <a:off x="3429000" y="1463040"/>
            <a:ext cx="548640" cy="1600200"/>
          </a:xfrm>
          <a:custGeom>
            <a:avLst/>
            <a:gdLst/>
            <a:ahLst/>
            <a:cxnLst/>
            <a:rect l="l" t="t" r="r" b="b"/>
            <a:pathLst>
              <a:path w="548640" h="1600200">
                <a:moveTo>
                  <a:pt x="0" y="0"/>
                </a:moveTo>
                <a:lnTo>
                  <a:pt x="548640" y="0"/>
                </a:lnTo>
                <a:lnTo>
                  <a:pt x="548640" y="1325880"/>
                </a:lnTo>
                <a:lnTo>
                  <a:pt x="543369" y="1379397"/>
                </a:lnTo>
                <a:lnTo>
                  <a:pt x="527759" y="1430858"/>
                </a:lnTo>
                <a:lnTo>
                  <a:pt x="502409" y="1478284"/>
                </a:lnTo>
                <a:lnTo>
                  <a:pt x="468294" y="1519854"/>
                </a:lnTo>
                <a:lnTo>
                  <a:pt x="426724" y="1553969"/>
                </a:lnTo>
                <a:lnTo>
                  <a:pt x="379298" y="1579319"/>
                </a:lnTo>
                <a:lnTo>
                  <a:pt x="327837" y="1594929"/>
                </a:lnTo>
                <a:lnTo>
                  <a:pt x="274320" y="1600200"/>
                </a:lnTo>
                <a:lnTo>
                  <a:pt x="220803" y="1594929"/>
                </a:lnTo>
                <a:lnTo>
                  <a:pt x="169342" y="1579319"/>
                </a:lnTo>
                <a:lnTo>
                  <a:pt x="121916" y="1553969"/>
                </a:lnTo>
                <a:lnTo>
                  <a:pt x="80346" y="1519854"/>
                </a:lnTo>
                <a:lnTo>
                  <a:pt x="46231" y="1478284"/>
                </a:lnTo>
                <a:lnTo>
                  <a:pt x="20881" y="1430858"/>
                </a:lnTo>
                <a:lnTo>
                  <a:pt x="5271" y="1379397"/>
                </a:lnTo>
                <a:lnTo>
                  <a:pt x="0" y="1325880"/>
                </a:lnTo>
                <a:close/>
              </a:path>
            </a:pathLst>
          </a:custGeom>
          <a:solidFill>
            <a:srgbClr val="EEF5FB"/>
          </a:solidFill>
          <a:ln/>
        </p:spPr>
      </p:sp>
      <p:sp>
        <p:nvSpPr>
          <p:cNvPr id="36" name="Shape 34"/>
          <p:cNvSpPr/>
          <p:nvPr/>
        </p:nvSpPr>
        <p:spPr>
          <a:xfrm>
            <a:off x="3429000" y="2103120"/>
            <a:ext cx="548640" cy="960120"/>
          </a:xfrm>
          <a:custGeom>
            <a:avLst/>
            <a:gdLst/>
            <a:ahLst/>
            <a:cxnLst/>
            <a:rect l="l" t="t" r="r" b="b"/>
            <a:pathLst>
              <a:path w="548640" h="960120">
                <a:moveTo>
                  <a:pt x="0" y="0"/>
                </a:moveTo>
                <a:lnTo>
                  <a:pt x="548640" y="0"/>
                </a:lnTo>
                <a:lnTo>
                  <a:pt x="548640" y="685800"/>
                </a:lnTo>
                <a:lnTo>
                  <a:pt x="543369" y="739317"/>
                </a:lnTo>
                <a:lnTo>
                  <a:pt x="527759" y="790778"/>
                </a:lnTo>
                <a:lnTo>
                  <a:pt x="502409" y="838204"/>
                </a:lnTo>
                <a:lnTo>
                  <a:pt x="468294" y="879774"/>
                </a:lnTo>
                <a:lnTo>
                  <a:pt x="426724" y="913889"/>
                </a:lnTo>
                <a:lnTo>
                  <a:pt x="379298" y="939239"/>
                </a:lnTo>
                <a:lnTo>
                  <a:pt x="327837" y="954849"/>
                </a:lnTo>
                <a:lnTo>
                  <a:pt x="274320" y="960120"/>
                </a:lnTo>
                <a:lnTo>
                  <a:pt x="220803" y="954849"/>
                </a:lnTo>
                <a:lnTo>
                  <a:pt x="169342" y="939239"/>
                </a:lnTo>
                <a:lnTo>
                  <a:pt x="121916" y="913889"/>
                </a:lnTo>
                <a:lnTo>
                  <a:pt x="80346" y="879774"/>
                </a:lnTo>
                <a:lnTo>
                  <a:pt x="46231" y="838204"/>
                </a:lnTo>
                <a:lnTo>
                  <a:pt x="20881" y="790778"/>
                </a:lnTo>
                <a:lnTo>
                  <a:pt x="5271" y="739317"/>
                </a:lnTo>
                <a:lnTo>
                  <a:pt x="0" y="685800"/>
                </a:lnTo>
                <a:close/>
              </a:path>
            </a:pathLst>
          </a:custGeom>
          <a:solidFill>
            <a:srgbClr val="F3F3F3"/>
          </a:solidFill>
          <a:ln/>
        </p:spPr>
      </p:sp>
      <p:sp>
        <p:nvSpPr>
          <p:cNvPr id="37" name="Shape 35"/>
          <p:cNvSpPr/>
          <p:nvPr/>
        </p:nvSpPr>
        <p:spPr>
          <a:xfrm>
            <a:off x="3429000" y="1463040"/>
            <a:ext cx="91" cy="1325880"/>
          </a:xfrm>
          <a:prstGeom prst="line">
            <a:avLst/>
          </a:prstGeom>
          <a:noFill/>
          <a:ln w="19050">
            <a:solidFill>
              <a:srgbClr val="2A1F3D"/>
            </a:solidFill>
            <a:prstDash val="solid"/>
          </a:ln>
        </p:spPr>
      </p:sp>
      <p:sp>
        <p:nvSpPr>
          <p:cNvPr id="38" name="Shape 36"/>
          <p:cNvSpPr/>
          <p:nvPr/>
        </p:nvSpPr>
        <p:spPr>
          <a:xfrm>
            <a:off x="3977640" y="1463040"/>
            <a:ext cx="91" cy="1325880"/>
          </a:xfrm>
          <a:prstGeom prst="line">
            <a:avLst/>
          </a:prstGeom>
          <a:noFill/>
          <a:ln w="19050">
            <a:solidFill>
              <a:srgbClr val="2A1F3D"/>
            </a:solidFill>
            <a:prstDash val="solid"/>
          </a:ln>
        </p:spPr>
      </p:sp>
      <p:sp>
        <p:nvSpPr>
          <p:cNvPr id="39" name="Shape 37"/>
          <p:cNvSpPr/>
          <p:nvPr/>
        </p:nvSpPr>
        <p:spPr>
          <a:xfrm>
            <a:off x="3429000" y="2788920"/>
            <a:ext cx="548640" cy="274320"/>
          </a:xfrm>
          <a:custGeom>
            <a:avLst/>
            <a:gdLst/>
            <a:ahLst/>
            <a:cxnLst/>
            <a:rect l="l" t="t" r="r" b="b"/>
            <a:pathLst>
              <a:path w="548640" h="274320">
                <a:moveTo>
                  <a:pt x="548640" y="0"/>
                </a:moveTo>
                <a:lnTo>
                  <a:pt x="543369" y="53517"/>
                </a:lnTo>
                <a:lnTo>
                  <a:pt x="527759" y="104978"/>
                </a:lnTo>
                <a:lnTo>
                  <a:pt x="502409" y="152404"/>
                </a:lnTo>
                <a:lnTo>
                  <a:pt x="468294" y="193974"/>
                </a:lnTo>
                <a:lnTo>
                  <a:pt x="426724" y="228089"/>
                </a:lnTo>
                <a:lnTo>
                  <a:pt x="379298" y="253439"/>
                </a:lnTo>
                <a:lnTo>
                  <a:pt x="327837" y="269049"/>
                </a:lnTo>
                <a:lnTo>
                  <a:pt x="274320" y="274320"/>
                </a:lnTo>
                <a:lnTo>
                  <a:pt x="220803" y="269049"/>
                </a:lnTo>
                <a:lnTo>
                  <a:pt x="169342" y="253439"/>
                </a:lnTo>
                <a:lnTo>
                  <a:pt x="121916" y="228089"/>
                </a:lnTo>
                <a:lnTo>
                  <a:pt x="80346" y="193974"/>
                </a:lnTo>
                <a:lnTo>
                  <a:pt x="46231" y="152404"/>
                </a:lnTo>
                <a:lnTo>
                  <a:pt x="20881" y="104978"/>
                </a:lnTo>
                <a:lnTo>
                  <a:pt x="5271" y="53517"/>
                </a:lnTo>
                <a:lnTo>
                  <a:pt x="0" y="0"/>
                </a:lnTo>
              </a:path>
            </a:pathLst>
          </a:custGeom>
          <a:ln w="19050">
            <a:solidFill>
              <a:srgbClr val="2A1F3D"/>
            </a:solidFill>
            <a:prstDash val="solid"/>
          </a:ln>
        </p:spPr>
      </p:sp>
      <p:sp>
        <p:nvSpPr>
          <p:cNvPr id="40" name="Shape 38"/>
          <p:cNvSpPr/>
          <p:nvPr/>
        </p:nvSpPr>
        <p:spPr>
          <a:xfrm>
            <a:off x="3392424" y="1463040"/>
            <a:ext cx="36576" cy="91"/>
          </a:xfrm>
          <a:prstGeom prst="line">
            <a:avLst/>
          </a:prstGeom>
          <a:noFill/>
          <a:ln w="19050">
            <a:solidFill>
              <a:srgbClr val="2A1F3D"/>
            </a:solidFill>
            <a:prstDash val="solid"/>
          </a:ln>
        </p:spPr>
      </p:sp>
      <p:sp>
        <p:nvSpPr>
          <p:cNvPr id="41" name="Shape 39"/>
          <p:cNvSpPr/>
          <p:nvPr/>
        </p:nvSpPr>
        <p:spPr>
          <a:xfrm>
            <a:off x="3977640" y="1463040"/>
            <a:ext cx="36576" cy="91"/>
          </a:xfrm>
          <a:prstGeom prst="line">
            <a:avLst/>
          </a:prstGeom>
          <a:noFill/>
          <a:ln w="19050">
            <a:solidFill>
              <a:srgbClr val="2A1F3D"/>
            </a:solidFill>
            <a:prstDash val="solid"/>
          </a:ln>
        </p:spPr>
      </p:sp>
      <p:sp>
        <p:nvSpPr>
          <p:cNvPr id="42" name="Shape 40"/>
          <p:cNvSpPr/>
          <p:nvPr/>
        </p:nvSpPr>
        <p:spPr>
          <a:xfrm>
            <a:off x="3529584" y="2871216"/>
            <a:ext cx="73152" cy="73152"/>
          </a:xfrm>
          <a:prstGeom prst="ellipse">
            <a:avLst/>
          </a:prstGeom>
          <a:solidFill>
            <a:srgbClr val="FFFFFF"/>
          </a:solidFill>
          <a:ln w="9525">
            <a:solidFill>
              <a:srgbClr val="9AA3B0"/>
            </a:solidFill>
            <a:prstDash val="solid"/>
          </a:ln>
        </p:spPr>
      </p:sp>
      <p:sp>
        <p:nvSpPr>
          <p:cNvPr id="43" name="Shape 41"/>
          <p:cNvSpPr/>
          <p:nvPr/>
        </p:nvSpPr>
        <p:spPr>
          <a:xfrm>
            <a:off x="3639312" y="2816352"/>
            <a:ext cx="73152" cy="73152"/>
          </a:xfrm>
          <a:prstGeom prst="ellipse">
            <a:avLst/>
          </a:prstGeom>
          <a:solidFill>
            <a:srgbClr val="FFFFFF"/>
          </a:solidFill>
          <a:ln w="9525">
            <a:solidFill>
              <a:srgbClr val="9AA3B0"/>
            </a:solidFill>
            <a:prstDash val="solid"/>
          </a:ln>
        </p:spPr>
      </p:sp>
      <p:sp>
        <p:nvSpPr>
          <p:cNvPr id="44" name="Shape 42"/>
          <p:cNvSpPr/>
          <p:nvPr/>
        </p:nvSpPr>
        <p:spPr>
          <a:xfrm>
            <a:off x="3758184" y="2761488"/>
            <a:ext cx="73152" cy="73152"/>
          </a:xfrm>
          <a:prstGeom prst="ellipse">
            <a:avLst/>
          </a:prstGeom>
          <a:solidFill>
            <a:srgbClr val="FFFFFF"/>
          </a:solidFill>
          <a:ln w="9525">
            <a:solidFill>
              <a:srgbClr val="9AA3B0"/>
            </a:solidFill>
            <a:prstDash val="solid"/>
          </a:ln>
        </p:spPr>
      </p:sp>
      <p:sp>
        <p:nvSpPr>
          <p:cNvPr id="45" name="Shape 43"/>
          <p:cNvSpPr/>
          <p:nvPr/>
        </p:nvSpPr>
        <p:spPr>
          <a:xfrm>
            <a:off x="3694176" y="2871216"/>
            <a:ext cx="73152" cy="73152"/>
          </a:xfrm>
          <a:prstGeom prst="ellipse">
            <a:avLst/>
          </a:prstGeom>
          <a:solidFill>
            <a:srgbClr val="FFFFFF"/>
          </a:solidFill>
          <a:ln w="9525">
            <a:solidFill>
              <a:srgbClr val="9AA3B0"/>
            </a:solidFill>
            <a:prstDash val="solid"/>
          </a:ln>
        </p:spPr>
      </p:sp>
      <p:sp>
        <p:nvSpPr>
          <p:cNvPr id="46" name="Shape 44"/>
          <p:cNvSpPr/>
          <p:nvPr/>
        </p:nvSpPr>
        <p:spPr>
          <a:xfrm>
            <a:off x="3575304" y="2816352"/>
            <a:ext cx="73152" cy="73152"/>
          </a:xfrm>
          <a:prstGeom prst="ellipse">
            <a:avLst/>
          </a:prstGeom>
          <a:solidFill>
            <a:srgbClr val="FFFFFF"/>
          </a:solidFill>
          <a:ln w="9525">
            <a:solidFill>
              <a:srgbClr val="9AA3B0"/>
            </a:solidFill>
            <a:prstDash val="solid"/>
          </a:ln>
        </p:spPr>
      </p:sp>
      <p:sp>
        <p:nvSpPr>
          <p:cNvPr id="47" name="Shape 45"/>
          <p:cNvSpPr/>
          <p:nvPr/>
        </p:nvSpPr>
        <p:spPr>
          <a:xfrm>
            <a:off x="4709160" y="1463040"/>
            <a:ext cx="548640" cy="1600200"/>
          </a:xfrm>
          <a:custGeom>
            <a:avLst/>
            <a:gdLst/>
            <a:ahLst/>
            <a:cxnLst/>
            <a:rect l="l" t="t" r="r" b="b"/>
            <a:pathLst>
              <a:path w="548640" h="1600200">
                <a:moveTo>
                  <a:pt x="0" y="0"/>
                </a:moveTo>
                <a:lnTo>
                  <a:pt x="548640" y="0"/>
                </a:lnTo>
                <a:lnTo>
                  <a:pt x="548640" y="1325880"/>
                </a:lnTo>
                <a:lnTo>
                  <a:pt x="543369" y="1379397"/>
                </a:lnTo>
                <a:lnTo>
                  <a:pt x="527759" y="1430858"/>
                </a:lnTo>
                <a:lnTo>
                  <a:pt x="502409" y="1478284"/>
                </a:lnTo>
                <a:lnTo>
                  <a:pt x="468294" y="1519854"/>
                </a:lnTo>
                <a:lnTo>
                  <a:pt x="426724" y="1553969"/>
                </a:lnTo>
                <a:lnTo>
                  <a:pt x="379298" y="1579319"/>
                </a:lnTo>
                <a:lnTo>
                  <a:pt x="327837" y="1594929"/>
                </a:lnTo>
                <a:lnTo>
                  <a:pt x="274320" y="1600200"/>
                </a:lnTo>
                <a:lnTo>
                  <a:pt x="220803" y="1594929"/>
                </a:lnTo>
                <a:lnTo>
                  <a:pt x="169342" y="1579319"/>
                </a:lnTo>
                <a:lnTo>
                  <a:pt x="121916" y="1553969"/>
                </a:lnTo>
                <a:lnTo>
                  <a:pt x="80346" y="1519854"/>
                </a:lnTo>
                <a:lnTo>
                  <a:pt x="46231" y="1478284"/>
                </a:lnTo>
                <a:lnTo>
                  <a:pt x="20881" y="1430858"/>
                </a:lnTo>
                <a:lnTo>
                  <a:pt x="5271" y="1379397"/>
                </a:lnTo>
                <a:lnTo>
                  <a:pt x="0" y="1325880"/>
                </a:lnTo>
                <a:close/>
              </a:path>
            </a:pathLst>
          </a:custGeom>
          <a:solidFill>
            <a:srgbClr val="EEF5FB"/>
          </a:solidFill>
          <a:ln/>
        </p:spPr>
      </p:sp>
      <p:sp>
        <p:nvSpPr>
          <p:cNvPr id="48" name="Shape 46"/>
          <p:cNvSpPr/>
          <p:nvPr/>
        </p:nvSpPr>
        <p:spPr>
          <a:xfrm>
            <a:off x="4709160" y="2103120"/>
            <a:ext cx="548640" cy="960120"/>
          </a:xfrm>
          <a:custGeom>
            <a:avLst/>
            <a:gdLst/>
            <a:ahLst/>
            <a:cxnLst/>
            <a:rect l="l" t="t" r="r" b="b"/>
            <a:pathLst>
              <a:path w="548640" h="960120">
                <a:moveTo>
                  <a:pt x="0" y="0"/>
                </a:moveTo>
                <a:lnTo>
                  <a:pt x="548640" y="0"/>
                </a:lnTo>
                <a:lnTo>
                  <a:pt x="548640" y="685800"/>
                </a:lnTo>
                <a:lnTo>
                  <a:pt x="543369" y="739317"/>
                </a:lnTo>
                <a:lnTo>
                  <a:pt x="527759" y="790778"/>
                </a:lnTo>
                <a:lnTo>
                  <a:pt x="502409" y="838204"/>
                </a:lnTo>
                <a:lnTo>
                  <a:pt x="468294" y="879774"/>
                </a:lnTo>
                <a:lnTo>
                  <a:pt x="426724" y="913889"/>
                </a:lnTo>
                <a:lnTo>
                  <a:pt x="379298" y="939239"/>
                </a:lnTo>
                <a:lnTo>
                  <a:pt x="327837" y="954849"/>
                </a:lnTo>
                <a:lnTo>
                  <a:pt x="274320" y="960120"/>
                </a:lnTo>
                <a:lnTo>
                  <a:pt x="220803" y="954849"/>
                </a:lnTo>
                <a:lnTo>
                  <a:pt x="169342" y="939239"/>
                </a:lnTo>
                <a:lnTo>
                  <a:pt x="121916" y="913889"/>
                </a:lnTo>
                <a:lnTo>
                  <a:pt x="80346" y="879774"/>
                </a:lnTo>
                <a:lnTo>
                  <a:pt x="46231" y="838204"/>
                </a:lnTo>
                <a:lnTo>
                  <a:pt x="20881" y="790778"/>
                </a:lnTo>
                <a:lnTo>
                  <a:pt x="5271" y="739317"/>
                </a:lnTo>
                <a:lnTo>
                  <a:pt x="0" y="685800"/>
                </a:lnTo>
                <a:close/>
              </a:path>
            </a:pathLst>
          </a:custGeom>
          <a:solidFill>
            <a:srgbClr val="F9E0DA"/>
          </a:solidFill>
          <a:ln/>
        </p:spPr>
      </p:sp>
      <p:sp>
        <p:nvSpPr>
          <p:cNvPr id="49" name="Shape 47"/>
          <p:cNvSpPr/>
          <p:nvPr/>
        </p:nvSpPr>
        <p:spPr>
          <a:xfrm>
            <a:off x="4709160" y="1463040"/>
            <a:ext cx="91" cy="1325880"/>
          </a:xfrm>
          <a:prstGeom prst="line">
            <a:avLst/>
          </a:prstGeom>
          <a:noFill/>
          <a:ln w="19050">
            <a:solidFill>
              <a:srgbClr val="2A1F3D"/>
            </a:solidFill>
            <a:prstDash val="solid"/>
          </a:ln>
        </p:spPr>
      </p:sp>
      <p:sp>
        <p:nvSpPr>
          <p:cNvPr id="50" name="Shape 48"/>
          <p:cNvSpPr/>
          <p:nvPr/>
        </p:nvSpPr>
        <p:spPr>
          <a:xfrm>
            <a:off x="5257800" y="1463040"/>
            <a:ext cx="91" cy="1325880"/>
          </a:xfrm>
          <a:prstGeom prst="line">
            <a:avLst/>
          </a:prstGeom>
          <a:noFill/>
          <a:ln w="19050">
            <a:solidFill>
              <a:srgbClr val="2A1F3D"/>
            </a:solidFill>
            <a:prstDash val="solid"/>
          </a:ln>
        </p:spPr>
      </p:sp>
      <p:sp>
        <p:nvSpPr>
          <p:cNvPr id="51" name="Shape 49"/>
          <p:cNvSpPr/>
          <p:nvPr/>
        </p:nvSpPr>
        <p:spPr>
          <a:xfrm>
            <a:off x="4709160" y="2788920"/>
            <a:ext cx="548640" cy="274320"/>
          </a:xfrm>
          <a:custGeom>
            <a:avLst/>
            <a:gdLst/>
            <a:ahLst/>
            <a:cxnLst/>
            <a:rect l="l" t="t" r="r" b="b"/>
            <a:pathLst>
              <a:path w="548640" h="274320">
                <a:moveTo>
                  <a:pt x="548640" y="0"/>
                </a:moveTo>
                <a:lnTo>
                  <a:pt x="543369" y="53517"/>
                </a:lnTo>
                <a:lnTo>
                  <a:pt x="527759" y="104978"/>
                </a:lnTo>
                <a:lnTo>
                  <a:pt x="502409" y="152404"/>
                </a:lnTo>
                <a:lnTo>
                  <a:pt x="468294" y="193974"/>
                </a:lnTo>
                <a:lnTo>
                  <a:pt x="426724" y="228089"/>
                </a:lnTo>
                <a:lnTo>
                  <a:pt x="379298" y="253439"/>
                </a:lnTo>
                <a:lnTo>
                  <a:pt x="327837" y="269049"/>
                </a:lnTo>
                <a:lnTo>
                  <a:pt x="274320" y="274320"/>
                </a:lnTo>
                <a:lnTo>
                  <a:pt x="220803" y="269049"/>
                </a:lnTo>
                <a:lnTo>
                  <a:pt x="169342" y="253439"/>
                </a:lnTo>
                <a:lnTo>
                  <a:pt x="121916" y="228089"/>
                </a:lnTo>
                <a:lnTo>
                  <a:pt x="80346" y="193974"/>
                </a:lnTo>
                <a:lnTo>
                  <a:pt x="46231" y="152404"/>
                </a:lnTo>
                <a:lnTo>
                  <a:pt x="20881" y="104978"/>
                </a:lnTo>
                <a:lnTo>
                  <a:pt x="5271" y="53517"/>
                </a:lnTo>
                <a:lnTo>
                  <a:pt x="0" y="0"/>
                </a:lnTo>
              </a:path>
            </a:pathLst>
          </a:custGeom>
          <a:ln w="19050">
            <a:solidFill>
              <a:srgbClr val="2A1F3D"/>
            </a:solidFill>
            <a:prstDash val="solid"/>
          </a:ln>
        </p:spPr>
      </p:sp>
      <p:sp>
        <p:nvSpPr>
          <p:cNvPr id="52" name="Shape 50"/>
          <p:cNvSpPr/>
          <p:nvPr/>
        </p:nvSpPr>
        <p:spPr>
          <a:xfrm>
            <a:off x="4672584" y="1463040"/>
            <a:ext cx="36576" cy="91"/>
          </a:xfrm>
          <a:prstGeom prst="line">
            <a:avLst/>
          </a:prstGeom>
          <a:noFill/>
          <a:ln w="19050">
            <a:solidFill>
              <a:srgbClr val="2A1F3D"/>
            </a:solidFill>
            <a:prstDash val="solid"/>
          </a:ln>
        </p:spPr>
      </p:sp>
      <p:sp>
        <p:nvSpPr>
          <p:cNvPr id="53" name="Shape 51"/>
          <p:cNvSpPr/>
          <p:nvPr/>
        </p:nvSpPr>
        <p:spPr>
          <a:xfrm>
            <a:off x="5257800" y="1463040"/>
            <a:ext cx="36576" cy="91"/>
          </a:xfrm>
          <a:prstGeom prst="line">
            <a:avLst/>
          </a:prstGeom>
          <a:noFill/>
          <a:ln w="19050">
            <a:solidFill>
              <a:srgbClr val="2A1F3D"/>
            </a:solidFill>
            <a:prstDash val="solid"/>
          </a:ln>
        </p:spPr>
      </p:sp>
      <p:sp>
        <p:nvSpPr>
          <p:cNvPr id="54" name="Shape 52"/>
          <p:cNvSpPr/>
          <p:nvPr/>
        </p:nvSpPr>
        <p:spPr>
          <a:xfrm>
            <a:off x="4809744" y="2779776"/>
            <a:ext cx="164592" cy="164592"/>
          </a:xfrm>
          <a:prstGeom prst="ellipse">
            <a:avLst/>
          </a:prstGeom>
          <a:solidFill>
            <a:srgbClr val="E8E4DA"/>
          </a:solidFill>
          <a:ln w="12700">
            <a:solidFill>
              <a:srgbClr val="9A9080"/>
            </a:solidFill>
            <a:prstDash val="solid"/>
          </a:ln>
        </p:spPr>
      </p:sp>
      <p:sp>
        <p:nvSpPr>
          <p:cNvPr id="55" name="Shape 53"/>
          <p:cNvSpPr/>
          <p:nvPr/>
        </p:nvSpPr>
        <p:spPr>
          <a:xfrm>
            <a:off x="4992624" y="2770632"/>
            <a:ext cx="164592" cy="164592"/>
          </a:xfrm>
          <a:prstGeom prst="ellipse">
            <a:avLst/>
          </a:prstGeom>
          <a:solidFill>
            <a:srgbClr val="E8E4DA"/>
          </a:solidFill>
          <a:ln w="12700">
            <a:solidFill>
              <a:srgbClr val="9A9080"/>
            </a:solidFill>
            <a:prstDash val="solid"/>
          </a:ln>
        </p:spPr>
      </p:sp>
      <p:sp>
        <p:nvSpPr>
          <p:cNvPr id="56" name="Shape 54"/>
          <p:cNvSpPr/>
          <p:nvPr/>
        </p:nvSpPr>
        <p:spPr>
          <a:xfrm>
            <a:off x="4901184" y="2642616"/>
            <a:ext cx="164592" cy="164592"/>
          </a:xfrm>
          <a:prstGeom prst="ellipse">
            <a:avLst/>
          </a:prstGeom>
          <a:solidFill>
            <a:srgbClr val="E8E4DA"/>
          </a:solidFill>
          <a:ln w="12700">
            <a:solidFill>
              <a:srgbClr val="9A9080"/>
            </a:solidFill>
            <a:prstDash val="solid"/>
          </a:ln>
        </p:spPr>
      </p:sp>
      <p:sp>
        <p:nvSpPr>
          <p:cNvPr id="57" name="Shape 55"/>
          <p:cNvSpPr/>
          <p:nvPr/>
        </p:nvSpPr>
        <p:spPr>
          <a:xfrm>
            <a:off x="4786884" y="2436876"/>
            <a:ext cx="64008" cy="64008"/>
          </a:xfrm>
          <a:prstGeom prst="ellipse">
            <a:avLst/>
          </a:prstGeom>
          <a:solidFill>
            <a:srgbClr val="FFFFFF"/>
          </a:solidFill>
          <a:ln w="7620">
            <a:solidFill>
              <a:srgbClr val="5B9BD5"/>
            </a:solidFill>
            <a:prstDash val="solid"/>
          </a:ln>
        </p:spPr>
      </p:sp>
      <p:sp>
        <p:nvSpPr>
          <p:cNvPr id="58" name="Shape 56"/>
          <p:cNvSpPr/>
          <p:nvPr/>
        </p:nvSpPr>
        <p:spPr>
          <a:xfrm>
            <a:off x="5088636" y="2299716"/>
            <a:ext cx="64008" cy="64008"/>
          </a:xfrm>
          <a:prstGeom prst="ellipse">
            <a:avLst/>
          </a:prstGeom>
          <a:solidFill>
            <a:srgbClr val="FFFFFF"/>
          </a:solidFill>
          <a:ln w="7620">
            <a:solidFill>
              <a:srgbClr val="5B9BD5"/>
            </a:solidFill>
            <a:prstDash val="solid"/>
          </a:ln>
        </p:spPr>
      </p:sp>
      <p:sp>
        <p:nvSpPr>
          <p:cNvPr id="59" name="Shape 57"/>
          <p:cNvSpPr/>
          <p:nvPr/>
        </p:nvSpPr>
        <p:spPr>
          <a:xfrm>
            <a:off x="4905756" y="2162556"/>
            <a:ext cx="64008" cy="64008"/>
          </a:xfrm>
          <a:prstGeom prst="ellipse">
            <a:avLst/>
          </a:prstGeom>
          <a:solidFill>
            <a:srgbClr val="FFFFFF"/>
          </a:solidFill>
          <a:ln w="7620">
            <a:solidFill>
              <a:srgbClr val="5B9BD5"/>
            </a:solidFill>
            <a:prstDash val="solid"/>
          </a:ln>
        </p:spPr>
      </p:sp>
      <p:sp>
        <p:nvSpPr>
          <p:cNvPr id="60" name="Shape 58"/>
          <p:cNvSpPr/>
          <p:nvPr/>
        </p:nvSpPr>
        <p:spPr>
          <a:xfrm>
            <a:off x="5042916" y="2528316"/>
            <a:ext cx="64008" cy="64008"/>
          </a:xfrm>
          <a:prstGeom prst="ellipse">
            <a:avLst/>
          </a:prstGeom>
          <a:solidFill>
            <a:srgbClr val="FFFFFF"/>
          </a:solidFill>
          <a:ln w="7620">
            <a:solidFill>
              <a:srgbClr val="5B9BD5"/>
            </a:solidFill>
            <a:prstDash val="solid"/>
          </a:ln>
        </p:spPr>
      </p:sp>
      <p:sp>
        <p:nvSpPr>
          <p:cNvPr id="61" name="Shape 59"/>
          <p:cNvSpPr/>
          <p:nvPr/>
        </p:nvSpPr>
        <p:spPr>
          <a:xfrm>
            <a:off x="4841748" y="2253996"/>
            <a:ext cx="64008" cy="64008"/>
          </a:xfrm>
          <a:prstGeom prst="ellipse">
            <a:avLst/>
          </a:prstGeom>
          <a:solidFill>
            <a:srgbClr val="FFFFFF"/>
          </a:solidFill>
          <a:ln w="7620">
            <a:solidFill>
              <a:srgbClr val="5B9BD5"/>
            </a:solidFill>
            <a:prstDash val="solid"/>
          </a:ln>
        </p:spPr>
      </p:sp>
      <p:sp>
        <p:nvSpPr>
          <p:cNvPr id="62" name="Shape 60"/>
          <p:cNvSpPr/>
          <p:nvPr/>
        </p:nvSpPr>
        <p:spPr>
          <a:xfrm>
            <a:off x="4969764" y="2363724"/>
            <a:ext cx="64008" cy="64008"/>
          </a:xfrm>
          <a:prstGeom prst="ellipse">
            <a:avLst/>
          </a:prstGeom>
          <a:solidFill>
            <a:srgbClr val="FFFFFF"/>
          </a:solidFill>
          <a:ln w="7620">
            <a:solidFill>
              <a:srgbClr val="5B9BD5"/>
            </a:solidFill>
            <a:prstDash val="solid"/>
          </a:ln>
        </p:spPr>
      </p:sp>
      <p:sp>
        <p:nvSpPr>
          <p:cNvPr id="63" name="Text 61"/>
          <p:cNvSpPr/>
          <p:nvPr/>
        </p:nvSpPr>
        <p:spPr>
          <a:xfrm>
            <a:off x="502920" y="3127248"/>
            <a:ext cx="1280160" cy="457200"/>
          </a:xfrm>
          <a:prstGeom prst="rect">
            <a:avLst/>
          </a:prstGeom>
          <a:noFill/>
          <a:ln/>
        </p:spPr>
        <p:txBody>
          <a:bodyPr wrap="square" lIns="0" tIns="0" rIns="0" bIns="0" rtlCol="0" anchor="t"/>
          <a:lstStyle/>
          <a:p>
            <a:pPr algn="ctr" indent="0" marL="0">
              <a:buNone/>
            </a:pPr>
            <a:r>
              <a:rPr lang="en-US" sz="1000" b="1" dirty="0">
                <a:solidFill>
                  <a:srgbClr val="262B3A"/>
                </a:solidFill>
                <a:latin typeface="Calibri" pitchFamily="34" charset="0"/>
                <a:ea typeface="Calibri" pitchFamily="34" charset="-122"/>
                <a:cs typeface="Calibri" pitchFamily="34" charset="-120"/>
              </a:rPr>
              <a:t>metal</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Mg → H₂ fizz</a:t>
            </a:r>
            <a:endParaRPr lang="en-US" sz="1000" dirty="0"/>
          </a:p>
        </p:txBody>
      </p:sp>
      <p:sp>
        <p:nvSpPr>
          <p:cNvPr id="64" name="Text 62"/>
          <p:cNvSpPr/>
          <p:nvPr/>
        </p:nvSpPr>
        <p:spPr>
          <a:xfrm>
            <a:off x="1783080" y="3127248"/>
            <a:ext cx="1280160" cy="457200"/>
          </a:xfrm>
          <a:prstGeom prst="rect">
            <a:avLst/>
          </a:prstGeom>
          <a:noFill/>
          <a:ln/>
        </p:spPr>
        <p:txBody>
          <a:bodyPr wrap="square" lIns="0" tIns="0" rIns="0" bIns="0" rtlCol="0" anchor="t"/>
          <a:lstStyle/>
          <a:p>
            <a:pPr algn="ctr" indent="0" marL="0">
              <a:buNone/>
            </a:pPr>
            <a:r>
              <a:rPr lang="en-US" sz="1000" b="1" dirty="0">
                <a:solidFill>
                  <a:srgbClr val="262B3A"/>
                </a:solidFill>
                <a:latin typeface="Calibri" pitchFamily="34" charset="0"/>
                <a:ea typeface="Calibri" pitchFamily="34" charset="-122"/>
                <a:cs typeface="Calibri" pitchFamily="34" charset="-120"/>
              </a:rPr>
              <a:t>metal oxide</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CuO → blue</a:t>
            </a:r>
            <a:endParaRPr lang="en-US" sz="1000" dirty="0"/>
          </a:p>
        </p:txBody>
      </p:sp>
      <p:sp>
        <p:nvSpPr>
          <p:cNvPr id="65" name="Text 63"/>
          <p:cNvSpPr/>
          <p:nvPr/>
        </p:nvSpPr>
        <p:spPr>
          <a:xfrm>
            <a:off x="3063240" y="3127248"/>
            <a:ext cx="1280160" cy="457200"/>
          </a:xfrm>
          <a:prstGeom prst="rect">
            <a:avLst/>
          </a:prstGeom>
          <a:noFill/>
          <a:ln/>
        </p:spPr>
        <p:txBody>
          <a:bodyPr wrap="square" lIns="0" tIns="0" rIns="0" bIns="0" rtlCol="0" anchor="t"/>
          <a:lstStyle/>
          <a:p>
            <a:pPr algn="ctr" indent="0" marL="0">
              <a:buNone/>
            </a:pPr>
            <a:r>
              <a:rPr lang="en-US" sz="1000" b="1" dirty="0">
                <a:solidFill>
                  <a:srgbClr val="262B3A"/>
                </a:solidFill>
                <a:latin typeface="Calibri" pitchFamily="34" charset="0"/>
                <a:ea typeface="Calibri" pitchFamily="34" charset="-122"/>
                <a:cs typeface="Calibri" pitchFamily="34" charset="-120"/>
              </a:rPr>
              <a:t>hydroxide</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Mg(OH)₂</a:t>
            </a:r>
            <a:endParaRPr lang="en-US" sz="1000" dirty="0"/>
          </a:p>
        </p:txBody>
      </p:sp>
      <p:sp>
        <p:nvSpPr>
          <p:cNvPr id="66" name="Text 64"/>
          <p:cNvSpPr/>
          <p:nvPr/>
        </p:nvSpPr>
        <p:spPr>
          <a:xfrm>
            <a:off x="4343400" y="3127248"/>
            <a:ext cx="1280160" cy="457200"/>
          </a:xfrm>
          <a:prstGeom prst="rect">
            <a:avLst/>
          </a:prstGeom>
          <a:noFill/>
          <a:ln/>
        </p:spPr>
        <p:txBody>
          <a:bodyPr wrap="square" lIns="0" tIns="0" rIns="0" bIns="0" rtlCol="0" anchor="t"/>
          <a:lstStyle/>
          <a:p>
            <a:pPr algn="ctr" indent="0" marL="0">
              <a:buNone/>
            </a:pPr>
            <a:r>
              <a:rPr lang="en-US" sz="1000" b="1" dirty="0">
                <a:solidFill>
                  <a:srgbClr val="262B3A"/>
                </a:solidFill>
                <a:latin typeface="Calibri" pitchFamily="34" charset="0"/>
                <a:ea typeface="Calibri" pitchFamily="34" charset="-122"/>
                <a:cs typeface="Calibri" pitchFamily="34" charset="-120"/>
              </a:rPr>
              <a:t>carbonate</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CaCO₃ → CO₂ fizz</a:t>
            </a:r>
            <a:endParaRPr lang="en-US" sz="1000" dirty="0"/>
          </a:p>
        </p:txBody>
      </p:sp>
      <p:sp>
        <p:nvSpPr>
          <p:cNvPr id="67" name="Shape 65"/>
          <p:cNvSpPr/>
          <p:nvPr/>
        </p:nvSpPr>
        <p:spPr>
          <a:xfrm>
            <a:off x="640080" y="3703320"/>
            <a:ext cx="5120640" cy="91"/>
          </a:xfrm>
          <a:prstGeom prst="line">
            <a:avLst/>
          </a:prstGeom>
          <a:noFill/>
          <a:ln w="12700">
            <a:solidFill>
              <a:srgbClr val="DDD3EC"/>
            </a:solidFill>
            <a:prstDash val="solid"/>
          </a:ln>
        </p:spPr>
      </p:sp>
      <p:sp>
        <p:nvSpPr>
          <p:cNvPr id="68" name="Shape 66"/>
          <p:cNvSpPr/>
          <p:nvPr/>
        </p:nvSpPr>
        <p:spPr>
          <a:xfrm>
            <a:off x="914400" y="4069080"/>
            <a:ext cx="457200" cy="1143000"/>
          </a:xfrm>
          <a:custGeom>
            <a:avLst/>
            <a:gdLst/>
            <a:ahLst/>
            <a:cxnLst/>
            <a:rect l="l" t="t" r="r" b="b"/>
            <a:pathLst>
              <a:path w="457200" h="1143000">
                <a:moveTo>
                  <a:pt x="0" y="0"/>
                </a:moveTo>
                <a:lnTo>
                  <a:pt x="457200" y="0"/>
                </a:lnTo>
                <a:lnTo>
                  <a:pt x="457200" y="914400"/>
                </a:lnTo>
                <a:lnTo>
                  <a:pt x="452808" y="958998"/>
                </a:lnTo>
                <a:lnTo>
                  <a:pt x="439799" y="1001881"/>
                </a:lnTo>
                <a:lnTo>
                  <a:pt x="418674" y="1041403"/>
                </a:lnTo>
                <a:lnTo>
                  <a:pt x="390245" y="1076045"/>
                </a:lnTo>
                <a:lnTo>
                  <a:pt x="355603" y="1104474"/>
                </a:lnTo>
                <a:lnTo>
                  <a:pt x="316081" y="1125599"/>
                </a:lnTo>
                <a:lnTo>
                  <a:pt x="273198" y="1138608"/>
                </a:lnTo>
                <a:lnTo>
                  <a:pt x="228600" y="1143000"/>
                </a:lnTo>
                <a:lnTo>
                  <a:pt x="184002" y="1138608"/>
                </a:lnTo>
                <a:lnTo>
                  <a:pt x="141119" y="1125599"/>
                </a:lnTo>
                <a:lnTo>
                  <a:pt x="101597" y="1104474"/>
                </a:lnTo>
                <a:lnTo>
                  <a:pt x="66955" y="1076045"/>
                </a:lnTo>
                <a:lnTo>
                  <a:pt x="38526" y="1041403"/>
                </a:lnTo>
                <a:lnTo>
                  <a:pt x="17401" y="1001881"/>
                </a:lnTo>
                <a:lnTo>
                  <a:pt x="4392" y="958998"/>
                </a:lnTo>
                <a:lnTo>
                  <a:pt x="0" y="914400"/>
                </a:lnTo>
                <a:close/>
              </a:path>
            </a:pathLst>
          </a:custGeom>
          <a:solidFill>
            <a:srgbClr val="EEF5FB"/>
          </a:solidFill>
          <a:ln/>
        </p:spPr>
      </p:sp>
      <p:sp>
        <p:nvSpPr>
          <p:cNvPr id="69" name="Shape 67"/>
          <p:cNvSpPr/>
          <p:nvPr/>
        </p:nvSpPr>
        <p:spPr>
          <a:xfrm>
            <a:off x="914400" y="4069080"/>
            <a:ext cx="91" cy="914400"/>
          </a:xfrm>
          <a:prstGeom prst="line">
            <a:avLst/>
          </a:prstGeom>
          <a:noFill/>
          <a:ln w="19050">
            <a:solidFill>
              <a:srgbClr val="2A1F3D"/>
            </a:solidFill>
            <a:prstDash val="solid"/>
          </a:ln>
        </p:spPr>
      </p:sp>
      <p:sp>
        <p:nvSpPr>
          <p:cNvPr id="70" name="Shape 68"/>
          <p:cNvSpPr/>
          <p:nvPr/>
        </p:nvSpPr>
        <p:spPr>
          <a:xfrm>
            <a:off x="1371600" y="4069080"/>
            <a:ext cx="91" cy="914400"/>
          </a:xfrm>
          <a:prstGeom prst="line">
            <a:avLst/>
          </a:prstGeom>
          <a:noFill/>
          <a:ln w="19050">
            <a:solidFill>
              <a:srgbClr val="2A1F3D"/>
            </a:solidFill>
            <a:prstDash val="solid"/>
          </a:ln>
        </p:spPr>
      </p:sp>
      <p:sp>
        <p:nvSpPr>
          <p:cNvPr id="71" name="Shape 69"/>
          <p:cNvSpPr/>
          <p:nvPr/>
        </p:nvSpPr>
        <p:spPr>
          <a:xfrm>
            <a:off x="914400" y="4983480"/>
            <a:ext cx="457200" cy="228600"/>
          </a:xfrm>
          <a:custGeom>
            <a:avLst/>
            <a:gdLst/>
            <a:ahLst/>
            <a:cxnLst/>
            <a:rect l="l" t="t" r="r" b="b"/>
            <a:pathLst>
              <a:path w="457200" h="228600">
                <a:moveTo>
                  <a:pt x="457200" y="0"/>
                </a:moveTo>
                <a:lnTo>
                  <a:pt x="452808" y="44598"/>
                </a:lnTo>
                <a:lnTo>
                  <a:pt x="439799" y="87481"/>
                </a:lnTo>
                <a:lnTo>
                  <a:pt x="418674" y="127003"/>
                </a:lnTo>
                <a:lnTo>
                  <a:pt x="390245" y="161645"/>
                </a:lnTo>
                <a:lnTo>
                  <a:pt x="355603" y="190074"/>
                </a:lnTo>
                <a:lnTo>
                  <a:pt x="316081" y="211199"/>
                </a:lnTo>
                <a:lnTo>
                  <a:pt x="273198" y="224208"/>
                </a:lnTo>
                <a:lnTo>
                  <a:pt x="228600" y="228600"/>
                </a:lnTo>
                <a:lnTo>
                  <a:pt x="184002" y="224208"/>
                </a:lnTo>
                <a:lnTo>
                  <a:pt x="141119" y="211199"/>
                </a:lnTo>
                <a:lnTo>
                  <a:pt x="101597" y="190074"/>
                </a:lnTo>
                <a:lnTo>
                  <a:pt x="66955" y="161645"/>
                </a:lnTo>
                <a:lnTo>
                  <a:pt x="38526" y="127003"/>
                </a:lnTo>
                <a:lnTo>
                  <a:pt x="17401" y="87481"/>
                </a:lnTo>
                <a:lnTo>
                  <a:pt x="4392" y="44598"/>
                </a:lnTo>
                <a:lnTo>
                  <a:pt x="0" y="0"/>
                </a:lnTo>
              </a:path>
            </a:pathLst>
          </a:custGeom>
          <a:ln w="19050">
            <a:solidFill>
              <a:srgbClr val="2A1F3D"/>
            </a:solidFill>
            <a:prstDash val="solid"/>
          </a:ln>
        </p:spPr>
      </p:sp>
      <p:sp>
        <p:nvSpPr>
          <p:cNvPr id="72" name="Shape 70"/>
          <p:cNvSpPr/>
          <p:nvPr/>
        </p:nvSpPr>
        <p:spPr>
          <a:xfrm>
            <a:off x="877824" y="4069080"/>
            <a:ext cx="36576" cy="91"/>
          </a:xfrm>
          <a:prstGeom prst="line">
            <a:avLst/>
          </a:prstGeom>
          <a:noFill/>
          <a:ln w="19050">
            <a:solidFill>
              <a:srgbClr val="2A1F3D"/>
            </a:solidFill>
            <a:prstDash val="solid"/>
          </a:ln>
        </p:spPr>
      </p:sp>
      <p:sp>
        <p:nvSpPr>
          <p:cNvPr id="73" name="Shape 71"/>
          <p:cNvSpPr/>
          <p:nvPr/>
        </p:nvSpPr>
        <p:spPr>
          <a:xfrm>
            <a:off x="1371600" y="4069080"/>
            <a:ext cx="36576" cy="91"/>
          </a:xfrm>
          <a:prstGeom prst="line">
            <a:avLst/>
          </a:prstGeom>
          <a:noFill/>
          <a:ln w="19050">
            <a:solidFill>
              <a:srgbClr val="2A1F3D"/>
            </a:solidFill>
            <a:prstDash val="solid"/>
          </a:ln>
        </p:spPr>
      </p:sp>
      <p:sp>
        <p:nvSpPr>
          <p:cNvPr id="74" name="Shape 72"/>
          <p:cNvSpPr/>
          <p:nvPr/>
        </p:nvSpPr>
        <p:spPr>
          <a:xfrm flipH="1">
            <a:off x="1280160" y="3703320"/>
            <a:ext cx="868680" cy="338328"/>
          </a:xfrm>
          <a:prstGeom prst="line">
            <a:avLst/>
          </a:prstGeom>
          <a:noFill/>
          <a:ln w="38100">
            <a:solidFill>
              <a:srgbClr val="8A5A2A"/>
            </a:solidFill>
            <a:prstDash val="solid"/>
          </a:ln>
        </p:spPr>
      </p:sp>
      <p:sp>
        <p:nvSpPr>
          <p:cNvPr id="75" name="Shape 73"/>
          <p:cNvSpPr/>
          <p:nvPr/>
        </p:nvSpPr>
        <p:spPr>
          <a:xfrm rot="-3600000">
            <a:off x="1161288" y="3840480"/>
            <a:ext cx="146304" cy="219456"/>
          </a:xfrm>
          <a:prstGeom prst="triangle">
            <a:avLst/>
          </a:prstGeom>
          <a:solidFill>
            <a:srgbClr val="F5A742"/>
          </a:solidFill>
          <a:ln w="6350">
            <a:solidFill>
              <a:srgbClr val="D9822B"/>
            </a:solidFill>
            <a:prstDash val="solid"/>
          </a:ln>
        </p:spPr>
      </p:sp>
      <p:sp>
        <p:nvSpPr>
          <p:cNvPr id="76" name="Text 74"/>
          <p:cNvSpPr/>
          <p:nvPr/>
        </p:nvSpPr>
        <p:spPr>
          <a:xfrm>
            <a:off x="1554480" y="4160520"/>
            <a:ext cx="1463040" cy="685800"/>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H₂</a:t>
            </a:r>
            <a:r>
              <a:rPr lang="en-US" sz="1050" dirty="0">
                <a:solidFill>
                  <a:srgbClr val="262B3A"/>
                </a:solidFill>
                <a:latin typeface="Calibri" pitchFamily="34" charset="0"/>
                <a:ea typeface="Calibri" pitchFamily="34" charset="-122"/>
                <a:cs typeface="Calibri" pitchFamily="34" charset="-120"/>
              </a:rPr>
              <a:t>: lighted splint → </a:t>
            </a:r>
            <a:r>
              <a:rPr lang="en-US" sz="1050" b="1" dirty="0">
                <a:solidFill>
                  <a:srgbClr val="262B3A"/>
                </a:solidFill>
                <a:latin typeface="Calibri" pitchFamily="34" charset="0"/>
                <a:ea typeface="Calibri" pitchFamily="34" charset="-122"/>
                <a:cs typeface="Calibri" pitchFamily="34" charset="-120"/>
              </a:rPr>
              <a:t>squeaky pop</a:t>
            </a:r>
            <a:endParaRPr lang="en-US" sz="1050" dirty="0"/>
          </a:p>
        </p:txBody>
      </p:sp>
      <p:sp>
        <p:nvSpPr>
          <p:cNvPr id="77" name="Shape 75"/>
          <p:cNvSpPr/>
          <p:nvPr/>
        </p:nvSpPr>
        <p:spPr>
          <a:xfrm>
            <a:off x="3703320" y="4069080"/>
            <a:ext cx="457200" cy="1143000"/>
          </a:xfrm>
          <a:custGeom>
            <a:avLst/>
            <a:gdLst/>
            <a:ahLst/>
            <a:cxnLst/>
            <a:rect l="l" t="t" r="r" b="b"/>
            <a:pathLst>
              <a:path w="457200" h="1143000">
                <a:moveTo>
                  <a:pt x="0" y="0"/>
                </a:moveTo>
                <a:lnTo>
                  <a:pt x="457200" y="0"/>
                </a:lnTo>
                <a:lnTo>
                  <a:pt x="457200" y="914400"/>
                </a:lnTo>
                <a:lnTo>
                  <a:pt x="452808" y="958998"/>
                </a:lnTo>
                <a:lnTo>
                  <a:pt x="439799" y="1001881"/>
                </a:lnTo>
                <a:lnTo>
                  <a:pt x="418674" y="1041403"/>
                </a:lnTo>
                <a:lnTo>
                  <a:pt x="390245" y="1076045"/>
                </a:lnTo>
                <a:lnTo>
                  <a:pt x="355603" y="1104474"/>
                </a:lnTo>
                <a:lnTo>
                  <a:pt x="316081" y="1125599"/>
                </a:lnTo>
                <a:lnTo>
                  <a:pt x="273198" y="1138608"/>
                </a:lnTo>
                <a:lnTo>
                  <a:pt x="228600" y="1143000"/>
                </a:lnTo>
                <a:lnTo>
                  <a:pt x="184002" y="1138608"/>
                </a:lnTo>
                <a:lnTo>
                  <a:pt x="141119" y="1125599"/>
                </a:lnTo>
                <a:lnTo>
                  <a:pt x="101597" y="1104474"/>
                </a:lnTo>
                <a:lnTo>
                  <a:pt x="66955" y="1076045"/>
                </a:lnTo>
                <a:lnTo>
                  <a:pt x="38526" y="1041403"/>
                </a:lnTo>
                <a:lnTo>
                  <a:pt x="17401" y="1001881"/>
                </a:lnTo>
                <a:lnTo>
                  <a:pt x="4392" y="958998"/>
                </a:lnTo>
                <a:lnTo>
                  <a:pt x="0" y="914400"/>
                </a:lnTo>
                <a:close/>
              </a:path>
            </a:pathLst>
          </a:custGeom>
          <a:solidFill>
            <a:srgbClr val="EEF5FB"/>
          </a:solidFill>
          <a:ln/>
        </p:spPr>
      </p:sp>
      <p:sp>
        <p:nvSpPr>
          <p:cNvPr id="78" name="Shape 76"/>
          <p:cNvSpPr/>
          <p:nvPr/>
        </p:nvSpPr>
        <p:spPr>
          <a:xfrm>
            <a:off x="3703320" y="4503420"/>
            <a:ext cx="457200" cy="708660"/>
          </a:xfrm>
          <a:custGeom>
            <a:avLst/>
            <a:gdLst/>
            <a:ahLst/>
            <a:cxnLst/>
            <a:rect l="l" t="t" r="r" b="b"/>
            <a:pathLst>
              <a:path w="457200" h="708660">
                <a:moveTo>
                  <a:pt x="0" y="0"/>
                </a:moveTo>
                <a:lnTo>
                  <a:pt x="457200" y="0"/>
                </a:lnTo>
                <a:lnTo>
                  <a:pt x="457200" y="480060"/>
                </a:lnTo>
                <a:lnTo>
                  <a:pt x="452808" y="524658"/>
                </a:lnTo>
                <a:lnTo>
                  <a:pt x="439799" y="567541"/>
                </a:lnTo>
                <a:lnTo>
                  <a:pt x="418674" y="607063"/>
                </a:lnTo>
                <a:lnTo>
                  <a:pt x="390245" y="641705"/>
                </a:lnTo>
                <a:lnTo>
                  <a:pt x="355603" y="670134"/>
                </a:lnTo>
                <a:lnTo>
                  <a:pt x="316081" y="691259"/>
                </a:lnTo>
                <a:lnTo>
                  <a:pt x="273198" y="704268"/>
                </a:lnTo>
                <a:lnTo>
                  <a:pt x="228600" y="708660"/>
                </a:lnTo>
                <a:lnTo>
                  <a:pt x="184002" y="704268"/>
                </a:lnTo>
                <a:lnTo>
                  <a:pt x="141119" y="691259"/>
                </a:lnTo>
                <a:lnTo>
                  <a:pt x="101597" y="670134"/>
                </a:lnTo>
                <a:lnTo>
                  <a:pt x="66955" y="641705"/>
                </a:lnTo>
                <a:lnTo>
                  <a:pt x="38526" y="607063"/>
                </a:lnTo>
                <a:lnTo>
                  <a:pt x="17401" y="567541"/>
                </a:lnTo>
                <a:lnTo>
                  <a:pt x="4392" y="524658"/>
                </a:lnTo>
                <a:lnTo>
                  <a:pt x="0" y="480060"/>
                </a:lnTo>
                <a:close/>
              </a:path>
            </a:pathLst>
          </a:custGeom>
          <a:solidFill>
            <a:srgbClr val="EDEDED"/>
          </a:solidFill>
          <a:ln/>
        </p:spPr>
      </p:sp>
      <p:sp>
        <p:nvSpPr>
          <p:cNvPr id="79" name="Shape 77"/>
          <p:cNvSpPr/>
          <p:nvPr/>
        </p:nvSpPr>
        <p:spPr>
          <a:xfrm>
            <a:off x="3703320" y="4965192"/>
            <a:ext cx="457200" cy="246888"/>
          </a:xfrm>
          <a:custGeom>
            <a:avLst/>
            <a:gdLst/>
            <a:ahLst/>
            <a:cxnLst/>
            <a:rect l="l" t="t" r="r" b="b"/>
            <a:pathLst>
              <a:path w="457200" h="246888">
                <a:moveTo>
                  <a:pt x="0" y="0"/>
                </a:moveTo>
                <a:lnTo>
                  <a:pt x="457200" y="0"/>
                </a:lnTo>
                <a:lnTo>
                  <a:pt x="457200" y="18288"/>
                </a:lnTo>
                <a:lnTo>
                  <a:pt x="452808" y="62886"/>
                </a:lnTo>
                <a:lnTo>
                  <a:pt x="439799" y="105769"/>
                </a:lnTo>
                <a:lnTo>
                  <a:pt x="418674" y="145291"/>
                </a:lnTo>
                <a:lnTo>
                  <a:pt x="390245" y="179933"/>
                </a:lnTo>
                <a:lnTo>
                  <a:pt x="355603" y="208362"/>
                </a:lnTo>
                <a:lnTo>
                  <a:pt x="316081" y="229487"/>
                </a:lnTo>
                <a:lnTo>
                  <a:pt x="273198" y="242496"/>
                </a:lnTo>
                <a:lnTo>
                  <a:pt x="228600" y="246888"/>
                </a:lnTo>
                <a:lnTo>
                  <a:pt x="184002" y="242496"/>
                </a:lnTo>
                <a:lnTo>
                  <a:pt x="141119" y="229487"/>
                </a:lnTo>
                <a:lnTo>
                  <a:pt x="101597" y="208362"/>
                </a:lnTo>
                <a:lnTo>
                  <a:pt x="66955" y="179933"/>
                </a:lnTo>
                <a:lnTo>
                  <a:pt x="38526" y="145291"/>
                </a:lnTo>
                <a:lnTo>
                  <a:pt x="17401" y="105769"/>
                </a:lnTo>
                <a:lnTo>
                  <a:pt x="4392" y="62886"/>
                </a:lnTo>
                <a:lnTo>
                  <a:pt x="0" y="18288"/>
                </a:lnTo>
                <a:close/>
              </a:path>
            </a:pathLst>
          </a:custGeom>
          <a:solidFill>
            <a:srgbClr val="FFFFFF"/>
          </a:solidFill>
          <a:ln/>
        </p:spPr>
      </p:sp>
      <p:sp>
        <p:nvSpPr>
          <p:cNvPr id="80" name="Shape 78"/>
          <p:cNvSpPr/>
          <p:nvPr/>
        </p:nvSpPr>
        <p:spPr>
          <a:xfrm>
            <a:off x="3753612" y="4850892"/>
            <a:ext cx="45720" cy="45720"/>
          </a:xfrm>
          <a:prstGeom prst="ellipse">
            <a:avLst/>
          </a:prstGeom>
          <a:solidFill>
            <a:srgbClr val="FFFFFF"/>
          </a:solidFill>
          <a:ln w="6350">
            <a:solidFill>
              <a:srgbClr val="B0B0B0"/>
            </a:solidFill>
            <a:prstDash val="solid"/>
          </a:ln>
        </p:spPr>
      </p:sp>
      <p:sp>
        <p:nvSpPr>
          <p:cNvPr id="81" name="Shape 79"/>
          <p:cNvSpPr/>
          <p:nvPr/>
        </p:nvSpPr>
        <p:spPr>
          <a:xfrm>
            <a:off x="3857244" y="4604004"/>
            <a:ext cx="45720" cy="45720"/>
          </a:xfrm>
          <a:prstGeom prst="ellipse">
            <a:avLst/>
          </a:prstGeom>
          <a:solidFill>
            <a:srgbClr val="FFFFFF"/>
          </a:solidFill>
          <a:ln w="6350">
            <a:solidFill>
              <a:srgbClr val="B0B0B0"/>
            </a:solidFill>
            <a:prstDash val="solid"/>
          </a:ln>
        </p:spPr>
      </p:sp>
      <p:sp>
        <p:nvSpPr>
          <p:cNvPr id="82" name="Shape 80"/>
          <p:cNvSpPr/>
          <p:nvPr/>
        </p:nvSpPr>
        <p:spPr>
          <a:xfrm>
            <a:off x="3960876" y="4768596"/>
            <a:ext cx="45720" cy="45720"/>
          </a:xfrm>
          <a:prstGeom prst="ellipse">
            <a:avLst/>
          </a:prstGeom>
          <a:solidFill>
            <a:srgbClr val="FFFFFF"/>
          </a:solidFill>
          <a:ln w="6350">
            <a:solidFill>
              <a:srgbClr val="B0B0B0"/>
            </a:solidFill>
            <a:prstDash val="solid"/>
          </a:ln>
        </p:spPr>
      </p:sp>
      <p:sp>
        <p:nvSpPr>
          <p:cNvPr id="83" name="Shape 81"/>
          <p:cNvSpPr/>
          <p:nvPr/>
        </p:nvSpPr>
        <p:spPr>
          <a:xfrm>
            <a:off x="4064508" y="4521708"/>
            <a:ext cx="45720" cy="45720"/>
          </a:xfrm>
          <a:prstGeom prst="ellipse">
            <a:avLst/>
          </a:prstGeom>
          <a:solidFill>
            <a:srgbClr val="FFFFFF"/>
          </a:solidFill>
          <a:ln w="6350">
            <a:solidFill>
              <a:srgbClr val="B0B0B0"/>
            </a:solidFill>
            <a:prstDash val="solid"/>
          </a:ln>
        </p:spPr>
      </p:sp>
      <p:sp>
        <p:nvSpPr>
          <p:cNvPr id="84" name="Shape 82"/>
          <p:cNvSpPr/>
          <p:nvPr/>
        </p:nvSpPr>
        <p:spPr>
          <a:xfrm>
            <a:off x="3805428" y="4686300"/>
            <a:ext cx="45720" cy="45720"/>
          </a:xfrm>
          <a:prstGeom prst="ellipse">
            <a:avLst/>
          </a:prstGeom>
          <a:solidFill>
            <a:srgbClr val="FFFFFF"/>
          </a:solidFill>
          <a:ln w="6350">
            <a:solidFill>
              <a:srgbClr val="B0B0B0"/>
            </a:solidFill>
            <a:prstDash val="solid"/>
          </a:ln>
        </p:spPr>
      </p:sp>
      <p:sp>
        <p:nvSpPr>
          <p:cNvPr id="85" name="Shape 83"/>
          <p:cNvSpPr/>
          <p:nvPr/>
        </p:nvSpPr>
        <p:spPr>
          <a:xfrm>
            <a:off x="3909060" y="4850892"/>
            <a:ext cx="45720" cy="45720"/>
          </a:xfrm>
          <a:prstGeom prst="ellipse">
            <a:avLst/>
          </a:prstGeom>
          <a:solidFill>
            <a:srgbClr val="FFFFFF"/>
          </a:solidFill>
          <a:ln w="6350">
            <a:solidFill>
              <a:srgbClr val="B0B0B0"/>
            </a:solidFill>
            <a:prstDash val="solid"/>
          </a:ln>
        </p:spPr>
      </p:sp>
      <p:sp>
        <p:nvSpPr>
          <p:cNvPr id="86" name="Shape 84"/>
          <p:cNvSpPr/>
          <p:nvPr/>
        </p:nvSpPr>
        <p:spPr>
          <a:xfrm>
            <a:off x="4012692" y="4604004"/>
            <a:ext cx="45720" cy="45720"/>
          </a:xfrm>
          <a:prstGeom prst="ellipse">
            <a:avLst/>
          </a:prstGeom>
          <a:solidFill>
            <a:srgbClr val="FFFFFF"/>
          </a:solidFill>
          <a:ln w="6350">
            <a:solidFill>
              <a:srgbClr val="B0B0B0"/>
            </a:solidFill>
            <a:prstDash val="solid"/>
          </a:ln>
        </p:spPr>
      </p:sp>
      <p:sp>
        <p:nvSpPr>
          <p:cNvPr id="87" name="Shape 85"/>
          <p:cNvSpPr/>
          <p:nvPr/>
        </p:nvSpPr>
        <p:spPr>
          <a:xfrm>
            <a:off x="3703320" y="4069080"/>
            <a:ext cx="91" cy="914400"/>
          </a:xfrm>
          <a:prstGeom prst="line">
            <a:avLst/>
          </a:prstGeom>
          <a:noFill/>
          <a:ln w="19050">
            <a:solidFill>
              <a:srgbClr val="2A1F3D"/>
            </a:solidFill>
            <a:prstDash val="solid"/>
          </a:ln>
        </p:spPr>
      </p:sp>
      <p:sp>
        <p:nvSpPr>
          <p:cNvPr id="88" name="Shape 86"/>
          <p:cNvSpPr/>
          <p:nvPr/>
        </p:nvSpPr>
        <p:spPr>
          <a:xfrm>
            <a:off x="4160520" y="4069080"/>
            <a:ext cx="91" cy="914400"/>
          </a:xfrm>
          <a:prstGeom prst="line">
            <a:avLst/>
          </a:prstGeom>
          <a:noFill/>
          <a:ln w="19050">
            <a:solidFill>
              <a:srgbClr val="2A1F3D"/>
            </a:solidFill>
            <a:prstDash val="solid"/>
          </a:ln>
        </p:spPr>
      </p:sp>
      <p:sp>
        <p:nvSpPr>
          <p:cNvPr id="89" name="Shape 87"/>
          <p:cNvSpPr/>
          <p:nvPr/>
        </p:nvSpPr>
        <p:spPr>
          <a:xfrm>
            <a:off x="3703320" y="4983480"/>
            <a:ext cx="457200" cy="228600"/>
          </a:xfrm>
          <a:custGeom>
            <a:avLst/>
            <a:gdLst/>
            <a:ahLst/>
            <a:cxnLst/>
            <a:rect l="l" t="t" r="r" b="b"/>
            <a:pathLst>
              <a:path w="457200" h="228600">
                <a:moveTo>
                  <a:pt x="457200" y="0"/>
                </a:moveTo>
                <a:lnTo>
                  <a:pt x="452808" y="44598"/>
                </a:lnTo>
                <a:lnTo>
                  <a:pt x="439799" y="87481"/>
                </a:lnTo>
                <a:lnTo>
                  <a:pt x="418674" y="127003"/>
                </a:lnTo>
                <a:lnTo>
                  <a:pt x="390245" y="161645"/>
                </a:lnTo>
                <a:lnTo>
                  <a:pt x="355603" y="190074"/>
                </a:lnTo>
                <a:lnTo>
                  <a:pt x="316081" y="211199"/>
                </a:lnTo>
                <a:lnTo>
                  <a:pt x="273198" y="224208"/>
                </a:lnTo>
                <a:lnTo>
                  <a:pt x="228600" y="228600"/>
                </a:lnTo>
                <a:lnTo>
                  <a:pt x="184002" y="224208"/>
                </a:lnTo>
                <a:lnTo>
                  <a:pt x="141119" y="211199"/>
                </a:lnTo>
                <a:lnTo>
                  <a:pt x="101597" y="190074"/>
                </a:lnTo>
                <a:lnTo>
                  <a:pt x="66955" y="161645"/>
                </a:lnTo>
                <a:lnTo>
                  <a:pt x="38526" y="127003"/>
                </a:lnTo>
                <a:lnTo>
                  <a:pt x="17401" y="87481"/>
                </a:lnTo>
                <a:lnTo>
                  <a:pt x="4392" y="44598"/>
                </a:lnTo>
                <a:lnTo>
                  <a:pt x="0" y="0"/>
                </a:lnTo>
              </a:path>
            </a:pathLst>
          </a:custGeom>
          <a:ln w="19050">
            <a:solidFill>
              <a:srgbClr val="2A1F3D"/>
            </a:solidFill>
            <a:prstDash val="solid"/>
          </a:ln>
        </p:spPr>
      </p:sp>
      <p:sp>
        <p:nvSpPr>
          <p:cNvPr id="90" name="Shape 88"/>
          <p:cNvSpPr/>
          <p:nvPr/>
        </p:nvSpPr>
        <p:spPr>
          <a:xfrm>
            <a:off x="3666744" y="4069080"/>
            <a:ext cx="36576" cy="91"/>
          </a:xfrm>
          <a:prstGeom prst="line">
            <a:avLst/>
          </a:prstGeom>
          <a:noFill/>
          <a:ln w="19050">
            <a:solidFill>
              <a:srgbClr val="2A1F3D"/>
            </a:solidFill>
            <a:prstDash val="solid"/>
          </a:ln>
        </p:spPr>
      </p:sp>
      <p:sp>
        <p:nvSpPr>
          <p:cNvPr id="91" name="Shape 89"/>
          <p:cNvSpPr/>
          <p:nvPr/>
        </p:nvSpPr>
        <p:spPr>
          <a:xfrm>
            <a:off x="4160520" y="4069080"/>
            <a:ext cx="36576" cy="91"/>
          </a:xfrm>
          <a:prstGeom prst="line">
            <a:avLst/>
          </a:prstGeom>
          <a:noFill/>
          <a:ln w="19050">
            <a:solidFill>
              <a:srgbClr val="2A1F3D"/>
            </a:solidFill>
            <a:prstDash val="solid"/>
          </a:ln>
        </p:spPr>
      </p:sp>
      <p:sp>
        <p:nvSpPr>
          <p:cNvPr id="92" name="Shape 90"/>
          <p:cNvSpPr/>
          <p:nvPr/>
        </p:nvSpPr>
        <p:spPr>
          <a:xfrm>
            <a:off x="3154680" y="3840480"/>
            <a:ext cx="777240" cy="91"/>
          </a:xfrm>
          <a:prstGeom prst="line">
            <a:avLst/>
          </a:prstGeom>
          <a:noFill/>
          <a:ln w="31750">
            <a:solidFill>
              <a:srgbClr val="6B7385"/>
            </a:solidFill>
            <a:prstDash val="solid"/>
          </a:ln>
        </p:spPr>
      </p:sp>
      <p:sp>
        <p:nvSpPr>
          <p:cNvPr id="93" name="Shape 91"/>
          <p:cNvSpPr/>
          <p:nvPr/>
        </p:nvSpPr>
        <p:spPr>
          <a:xfrm>
            <a:off x="3931920" y="3840480"/>
            <a:ext cx="91" cy="1143000"/>
          </a:xfrm>
          <a:prstGeom prst="line">
            <a:avLst/>
          </a:prstGeom>
          <a:noFill/>
          <a:ln w="31750">
            <a:solidFill>
              <a:srgbClr val="6B7385"/>
            </a:solidFill>
            <a:prstDash val="solid"/>
          </a:ln>
        </p:spPr>
      </p:sp>
      <p:sp>
        <p:nvSpPr>
          <p:cNvPr id="94" name="Shape 92"/>
          <p:cNvSpPr/>
          <p:nvPr/>
        </p:nvSpPr>
        <p:spPr>
          <a:xfrm>
            <a:off x="3858768" y="4636008"/>
            <a:ext cx="54864" cy="54864"/>
          </a:xfrm>
          <a:prstGeom prst="ellipse">
            <a:avLst/>
          </a:prstGeom>
          <a:solidFill>
            <a:srgbClr val="FFFFFF"/>
          </a:solidFill>
          <a:ln w="7620">
            <a:solidFill>
              <a:srgbClr val="5B9BD5"/>
            </a:solidFill>
            <a:prstDash val="solid"/>
          </a:ln>
        </p:spPr>
      </p:sp>
      <p:sp>
        <p:nvSpPr>
          <p:cNvPr id="95" name="Shape 93"/>
          <p:cNvSpPr/>
          <p:nvPr/>
        </p:nvSpPr>
        <p:spPr>
          <a:xfrm>
            <a:off x="3959352" y="4498848"/>
            <a:ext cx="54864" cy="54864"/>
          </a:xfrm>
          <a:prstGeom prst="ellipse">
            <a:avLst/>
          </a:prstGeom>
          <a:solidFill>
            <a:srgbClr val="FFFFFF"/>
          </a:solidFill>
          <a:ln w="7620">
            <a:solidFill>
              <a:srgbClr val="5B9BD5"/>
            </a:solidFill>
            <a:prstDash val="solid"/>
          </a:ln>
        </p:spPr>
      </p:sp>
      <p:sp>
        <p:nvSpPr>
          <p:cNvPr id="96" name="Shape 94"/>
          <p:cNvSpPr/>
          <p:nvPr/>
        </p:nvSpPr>
        <p:spPr>
          <a:xfrm>
            <a:off x="3877056" y="4361688"/>
            <a:ext cx="54864" cy="54864"/>
          </a:xfrm>
          <a:prstGeom prst="ellipse">
            <a:avLst/>
          </a:prstGeom>
          <a:solidFill>
            <a:srgbClr val="FFFFFF"/>
          </a:solidFill>
          <a:ln w="7620">
            <a:solidFill>
              <a:srgbClr val="5B9BD5"/>
            </a:solidFill>
            <a:prstDash val="solid"/>
          </a:ln>
        </p:spPr>
      </p:sp>
      <p:sp>
        <p:nvSpPr>
          <p:cNvPr id="97" name="Text 95"/>
          <p:cNvSpPr/>
          <p:nvPr/>
        </p:nvSpPr>
        <p:spPr>
          <a:xfrm>
            <a:off x="4297680" y="4160520"/>
            <a:ext cx="1600200" cy="685800"/>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CO₂</a:t>
            </a:r>
            <a:r>
              <a:rPr lang="en-US" sz="1050" dirty="0">
                <a:solidFill>
                  <a:srgbClr val="262B3A"/>
                </a:solidFill>
                <a:latin typeface="Calibri" pitchFamily="34" charset="0"/>
                <a:ea typeface="Calibri" pitchFamily="34" charset="-122"/>
                <a:cs typeface="Calibri" pitchFamily="34" charset="-120"/>
              </a:rPr>
              <a:t>: limewater turns </a:t>
            </a:r>
            <a:r>
              <a:rPr lang="en-US" sz="1050" b="1" dirty="0">
                <a:solidFill>
                  <a:srgbClr val="262B3A"/>
                </a:solidFill>
                <a:latin typeface="Calibri" pitchFamily="34" charset="0"/>
                <a:ea typeface="Calibri" pitchFamily="34" charset="-122"/>
                <a:cs typeface="Calibri" pitchFamily="34" charset="-120"/>
              </a:rPr>
              <a:t>milky</a:t>
            </a:r>
            <a:r>
              <a:rPr lang="en-US" sz="1050" dirty="0">
                <a:solidFill>
                  <a:srgbClr val="262B3A"/>
                </a:solidFill>
                <a:latin typeface="Calibri" pitchFamily="34" charset="0"/>
                <a:ea typeface="Calibri" pitchFamily="34" charset="-122"/>
                <a:cs typeface="Calibri" pitchFamily="34" charset="-120"/>
              </a:rPr>
              <a:t> (cloudy)</a:t>
            </a:r>
            <a:endParaRPr lang="en-US" sz="1050" dirty="0"/>
          </a:p>
        </p:txBody>
      </p:sp>
      <p:sp>
        <p:nvSpPr>
          <p:cNvPr id="98" name="Shape 96"/>
          <p:cNvSpPr/>
          <p:nvPr/>
        </p:nvSpPr>
        <p:spPr>
          <a:xfrm>
            <a:off x="6217920" y="1188720"/>
            <a:ext cx="5562295" cy="2423160"/>
          </a:xfrm>
          <a:prstGeom prst="roundRect">
            <a:avLst>
              <a:gd name="adj" fmla="val 2264"/>
            </a:avLst>
          </a:prstGeom>
          <a:solidFill>
            <a:srgbClr val="F8F5FC"/>
          </a:solidFill>
          <a:ln w="9525">
            <a:solidFill>
              <a:srgbClr val="DDD3EC"/>
            </a:solidFill>
            <a:prstDash val="solid"/>
          </a:ln>
        </p:spPr>
      </p:sp>
      <p:sp>
        <p:nvSpPr>
          <p:cNvPr id="99" name="Text 9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Acids make salts</a:t>
            </a:r>
            <a:endParaRPr lang="en-US" sz="1300" dirty="0"/>
          </a:p>
        </p:txBody>
      </p:sp>
      <p:sp>
        <p:nvSpPr>
          <p:cNvPr id="100" name="Text 9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base</a:t>
            </a:r>
            <a:r>
              <a:rPr lang="en-US" sz="1150" dirty="0">
                <a:solidFill>
                  <a:srgbClr val="262B3A"/>
                </a:solidFill>
                <a:latin typeface="Calibri" pitchFamily="34" charset="0"/>
                <a:ea typeface="Calibri" pitchFamily="34" charset="-122"/>
                <a:cs typeface="Calibri" pitchFamily="34" charset="-120"/>
              </a:rPr>
              <a:t> reacts with an acid to form a </a:t>
            </a:r>
            <a:r>
              <a:rPr lang="en-US" sz="1150" b="1" dirty="0">
                <a:solidFill>
                  <a:srgbClr val="262B3A"/>
                </a:solidFill>
                <a:latin typeface="Calibri" pitchFamily="34" charset="0"/>
                <a:ea typeface="Calibri" pitchFamily="34" charset="-122"/>
                <a:cs typeface="Calibri" pitchFamily="34" charset="-120"/>
              </a:rPr>
              <a:t>salt and water only</a:t>
            </a:r>
            <a:r>
              <a:rPr lang="en-US" sz="1150" dirty="0">
                <a:solidFill>
                  <a:srgbClr val="262B3A"/>
                </a:solidFill>
                <a:latin typeface="Calibri" pitchFamily="34" charset="0"/>
                <a:ea typeface="Calibri" pitchFamily="34" charset="-122"/>
                <a:cs typeface="Calibri" pitchFamily="34" charset="-120"/>
              </a:rPr>
              <a:t>. An </a:t>
            </a:r>
            <a:r>
              <a:rPr lang="en-US" sz="1150" b="1" dirty="0">
                <a:solidFill>
                  <a:srgbClr val="262B3A"/>
                </a:solidFill>
                <a:latin typeface="Calibri" pitchFamily="34" charset="0"/>
                <a:ea typeface="Calibri" pitchFamily="34" charset="-122"/>
                <a:cs typeface="Calibri" pitchFamily="34" charset="-120"/>
              </a:rPr>
              <a:t>alkali</a:t>
            </a:r>
            <a:r>
              <a:rPr lang="en-US" sz="1150" dirty="0">
                <a:solidFill>
                  <a:srgbClr val="262B3A"/>
                </a:solidFill>
                <a:latin typeface="Calibri" pitchFamily="34" charset="0"/>
                <a:ea typeface="Calibri" pitchFamily="34" charset="-122"/>
                <a:cs typeface="Calibri" pitchFamily="34" charset="-120"/>
              </a:rPr>
              <a:t> is a </a:t>
            </a:r>
            <a:r>
              <a:rPr lang="en-US" sz="1150" b="1" dirty="0">
                <a:solidFill>
                  <a:srgbClr val="262B3A"/>
                </a:solidFill>
                <a:latin typeface="Calibri" pitchFamily="34" charset="0"/>
                <a:ea typeface="Calibri" pitchFamily="34" charset="-122"/>
                <a:cs typeface="Calibri" pitchFamily="34" charset="-120"/>
              </a:rPr>
              <a:t>soluble base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acid + metal → salt + </a:t>
            </a:r>
            <a:r>
              <a:rPr lang="en-US" sz="1150" b="1" dirty="0">
                <a:solidFill>
                  <a:srgbClr val="262B3A"/>
                </a:solidFill>
                <a:latin typeface="Calibri" pitchFamily="34" charset="0"/>
                <a:ea typeface="Calibri" pitchFamily="34" charset="-122"/>
                <a:cs typeface="Calibri" pitchFamily="34" charset="-120"/>
              </a:rPr>
              <a:t>hydrogen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acid + metal oxide / hydroxide → salt + </a:t>
            </a:r>
            <a:r>
              <a:rPr lang="en-US" sz="1150" b="1" dirty="0">
                <a:solidFill>
                  <a:srgbClr val="262B3A"/>
                </a:solidFill>
                <a:latin typeface="Calibri" pitchFamily="34" charset="0"/>
                <a:ea typeface="Calibri" pitchFamily="34" charset="-122"/>
                <a:cs typeface="Calibri" pitchFamily="34" charset="-120"/>
              </a:rPr>
              <a:t>water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acid + metal carbonate → salt + water + </a:t>
            </a:r>
            <a:r>
              <a:rPr lang="en-US" sz="1150" b="1" dirty="0">
                <a:solidFill>
                  <a:srgbClr val="262B3A"/>
                </a:solidFill>
                <a:latin typeface="Calibri" pitchFamily="34" charset="0"/>
                <a:ea typeface="Calibri" pitchFamily="34" charset="-122"/>
                <a:cs typeface="Calibri" pitchFamily="34" charset="-120"/>
              </a:rPr>
              <a:t>carbon dioxide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Salt name: </a:t>
            </a:r>
            <a:r>
              <a:rPr lang="en-US" sz="1150" b="1" dirty="0">
                <a:solidFill>
                  <a:srgbClr val="262B3A"/>
                </a:solidFill>
                <a:latin typeface="Calibri" pitchFamily="34" charset="0"/>
                <a:ea typeface="Calibri" pitchFamily="34" charset="-122"/>
                <a:cs typeface="Calibri" pitchFamily="34" charset="-120"/>
              </a:rPr>
              <a:t>hydrochloric → chloride</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sulfuric → sulfate</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nitric → nitrate</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01" name="Shape 9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02" name="Text 10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Balanced equations with state symbols</a:t>
            </a:r>
            <a:endParaRPr lang="en-US" sz="1300" dirty="0"/>
          </a:p>
        </p:txBody>
      </p:sp>
      <p:sp>
        <p:nvSpPr>
          <p:cNvPr id="103" name="Text 101"/>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Metal   </a:t>
            </a:r>
            <a:r>
              <a:rPr lang="en-US" sz="1050" dirty="0">
                <a:solidFill>
                  <a:srgbClr val="262B3A"/>
                </a:solidFill>
                <a:latin typeface="Calibri" pitchFamily="34" charset="0"/>
                <a:ea typeface="Calibri" pitchFamily="34" charset="-122"/>
                <a:cs typeface="Calibri" pitchFamily="34" charset="-120"/>
              </a:rPr>
              <a:t>Mg(s) + 2HCl(aq) → MgCl₂(aq) + H₂(g)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Oxide   </a:t>
            </a:r>
            <a:r>
              <a:rPr lang="en-US" sz="1050" dirty="0">
                <a:solidFill>
                  <a:srgbClr val="262B3A"/>
                </a:solidFill>
                <a:latin typeface="Calibri" pitchFamily="34" charset="0"/>
                <a:ea typeface="Calibri" pitchFamily="34" charset="-122"/>
                <a:cs typeface="Calibri" pitchFamily="34" charset="-120"/>
              </a:rPr>
              <a:t>CuO(s) + H₂SO₄(aq) → CuSO₄(aq) + H₂O(l)</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Carbonate   </a:t>
            </a:r>
            <a:r>
              <a:rPr lang="en-US" sz="1050" dirty="0">
                <a:solidFill>
                  <a:srgbClr val="262B3A"/>
                </a:solidFill>
                <a:latin typeface="Calibri" pitchFamily="34" charset="0"/>
                <a:ea typeface="Calibri" pitchFamily="34" charset="-122"/>
                <a:cs typeface="Calibri" pitchFamily="34" charset="-120"/>
              </a:rPr>
              <a:t>CaCO₃(s) + 2HCl(aq) → CaCl₂(aq) + H₂O(l) + CO₂(g)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4 Limewater   </a:t>
            </a:r>
            <a:r>
              <a:rPr lang="en-US" sz="1050" b="1" dirty="0">
                <a:solidFill>
                  <a:srgbClr val="C8414C"/>
                </a:solidFill>
                <a:latin typeface="Calibri" pitchFamily="34" charset="0"/>
                <a:ea typeface="Calibri" pitchFamily="34" charset="-122"/>
                <a:cs typeface="Calibri" pitchFamily="34" charset="-120"/>
              </a:rPr>
              <a:t>Ca(OH)₂(aq) + CO₂(g) → CaCO₃(s) + H₂O(l)</a:t>
            </a:r>
            <a:endParaRPr lang="en-US" sz="1050" dirty="0"/>
          </a:p>
        </p:txBody>
      </p:sp>
      <p:sp>
        <p:nvSpPr>
          <p:cNvPr id="104" name="Shape 102"/>
          <p:cNvSpPr/>
          <p:nvPr/>
        </p:nvSpPr>
        <p:spPr>
          <a:xfrm>
            <a:off x="411480" y="5833872"/>
            <a:ext cx="11368735" cy="530352"/>
          </a:xfrm>
          <a:prstGeom prst="rect">
            <a:avLst/>
          </a:prstGeom>
          <a:solidFill>
            <a:srgbClr val="FFF4E0"/>
          </a:solidFill>
          <a:ln w="6350">
            <a:solidFill>
              <a:srgbClr val="F1D9A8"/>
            </a:solidFill>
            <a:prstDash val="solid"/>
          </a:ln>
        </p:spPr>
      </p:sp>
      <p:sp>
        <p:nvSpPr>
          <p:cNvPr id="105" name="Shape 103"/>
          <p:cNvSpPr/>
          <p:nvPr/>
        </p:nvSpPr>
        <p:spPr>
          <a:xfrm>
            <a:off x="411480" y="5833872"/>
            <a:ext cx="82296" cy="530352"/>
          </a:xfrm>
          <a:prstGeom prst="rect">
            <a:avLst/>
          </a:prstGeom>
          <a:solidFill>
            <a:srgbClr val="E39A2F"/>
          </a:solidFill>
          <a:ln w="12700">
            <a:solidFill>
              <a:srgbClr val="E39A2F"/>
            </a:solidFill>
            <a:prstDash val="solid"/>
          </a:ln>
        </p:spPr>
      </p:sp>
      <p:sp>
        <p:nvSpPr>
          <p:cNvPr id="106" name="Text 10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salt formed when </a:t>
            </a:r>
            <a:r>
              <a:rPr lang="en-US" sz="1150" b="1" dirty="0">
                <a:solidFill>
                  <a:srgbClr val="262B3A"/>
                </a:solidFill>
                <a:latin typeface="Calibri" pitchFamily="34" charset="0"/>
                <a:ea typeface="Calibri" pitchFamily="34" charset="-122"/>
                <a:cs typeface="Calibri" pitchFamily="34" charset="-120"/>
              </a:rPr>
              <a:t>zinc oxide</a:t>
            </a:r>
            <a:r>
              <a:rPr lang="en-US" sz="1150" dirty="0">
                <a:solidFill>
                  <a:srgbClr val="262B3A"/>
                </a:solidFill>
                <a:latin typeface="Calibri" pitchFamily="34" charset="0"/>
                <a:ea typeface="Calibri" pitchFamily="34" charset="-122"/>
                <a:cs typeface="Calibri" pitchFamily="34" charset="-120"/>
              </a:rPr>
              <a:t> reacts with </a:t>
            </a:r>
            <a:r>
              <a:rPr lang="en-US" sz="1150" b="1" dirty="0">
                <a:solidFill>
                  <a:srgbClr val="262B3A"/>
                </a:solidFill>
                <a:latin typeface="Calibri" pitchFamily="34" charset="0"/>
                <a:ea typeface="Calibri" pitchFamily="34" charset="-122"/>
                <a:cs typeface="Calibri" pitchFamily="34" charset="-120"/>
              </a:rPr>
              <a:t>nitric acid</a:t>
            </a:r>
            <a:r>
              <a:rPr lang="en-US" sz="1150" dirty="0">
                <a:solidFill>
                  <a:srgbClr val="262B3A"/>
                </a:solidFill>
                <a:latin typeface="Calibri" pitchFamily="34" charset="0"/>
                <a:ea typeface="Calibri" pitchFamily="34" charset="-122"/>
                <a:cs typeface="Calibri" pitchFamily="34" charset="-120"/>
              </a:rPr>
              <a:t>. Describe the test for the gas made when zinc carbonate reacts with an acid.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Neutralisation: H⁺ + OH⁻ → H₂O</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3.13–3.14 • the H⁺ ions from the acid react with the OH⁻ ions from the alkali</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3.13–3.14  |  14</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Na⁺ and Cl⁻ (dashed rings) do not change: they are spectator ions</a:t>
            </a:r>
            <a:endParaRPr lang="en-US" sz="1000" dirty="0"/>
          </a:p>
        </p:txBody>
      </p:sp>
      <p:sp>
        <p:nvSpPr>
          <p:cNvPr id="10" name="Shape 8"/>
          <p:cNvSpPr/>
          <p:nvPr/>
        </p:nvSpPr>
        <p:spPr>
          <a:xfrm>
            <a:off x="640080" y="1463040"/>
            <a:ext cx="2286000" cy="2240280"/>
          </a:xfrm>
          <a:prstGeom prst="roundRect">
            <a:avLst>
              <a:gd name="adj" fmla="val 2041"/>
            </a:avLst>
          </a:prstGeom>
          <a:solidFill>
            <a:srgbClr val="FFF7F5"/>
          </a:solidFill>
          <a:ln w="12700">
            <a:solidFill>
              <a:srgbClr val="DDD3EC"/>
            </a:solidFill>
            <a:prstDash val="solid"/>
          </a:ln>
        </p:spPr>
      </p:sp>
      <p:sp>
        <p:nvSpPr>
          <p:cNvPr id="11" name="Shape 9"/>
          <p:cNvSpPr/>
          <p:nvPr/>
        </p:nvSpPr>
        <p:spPr>
          <a:xfrm>
            <a:off x="3474720" y="1463040"/>
            <a:ext cx="2286000" cy="2240280"/>
          </a:xfrm>
          <a:prstGeom prst="roundRect">
            <a:avLst>
              <a:gd name="adj" fmla="val 2041"/>
            </a:avLst>
          </a:prstGeom>
          <a:solidFill>
            <a:srgbClr val="F5FAFF"/>
          </a:solidFill>
          <a:ln w="12700">
            <a:solidFill>
              <a:srgbClr val="DDD3EC"/>
            </a:solidFill>
            <a:prstDash val="solid"/>
          </a:ln>
        </p:spPr>
      </p:sp>
      <p:sp>
        <p:nvSpPr>
          <p:cNvPr id="12" name="Text 10"/>
          <p:cNvSpPr/>
          <p:nvPr/>
        </p:nvSpPr>
        <p:spPr>
          <a:xfrm>
            <a:off x="640080" y="1207008"/>
            <a:ext cx="2286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before</a:t>
            </a:r>
            <a:r>
              <a:rPr lang="en-US" sz="1050" dirty="0">
                <a:solidFill>
                  <a:srgbClr val="262B3A"/>
                </a:solidFill>
                <a:latin typeface="Calibri" pitchFamily="34" charset="0"/>
                <a:ea typeface="Calibri" pitchFamily="34" charset="-122"/>
                <a:cs typeface="Calibri" pitchFamily="34" charset="-120"/>
              </a:rPr>
              <a:t>: HCl(aq) + NaOH(aq)</a:t>
            </a:r>
            <a:endParaRPr lang="en-US" sz="1050" dirty="0"/>
          </a:p>
        </p:txBody>
      </p:sp>
      <p:sp>
        <p:nvSpPr>
          <p:cNvPr id="13" name="Text 11"/>
          <p:cNvSpPr/>
          <p:nvPr/>
        </p:nvSpPr>
        <p:spPr>
          <a:xfrm>
            <a:off x="3474720" y="1207008"/>
            <a:ext cx="2286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after</a:t>
            </a:r>
            <a:r>
              <a:rPr lang="en-US" sz="1050" dirty="0">
                <a:solidFill>
                  <a:srgbClr val="262B3A"/>
                </a:solidFill>
                <a:latin typeface="Calibri" pitchFamily="34" charset="0"/>
                <a:ea typeface="Calibri" pitchFamily="34" charset="-122"/>
                <a:cs typeface="Calibri" pitchFamily="34" charset="-120"/>
              </a:rPr>
              <a:t>: NaCl(aq) + H₂O(l)</a:t>
            </a:r>
            <a:endParaRPr lang="en-US" sz="1050" dirty="0"/>
          </a:p>
        </p:txBody>
      </p:sp>
      <p:sp>
        <p:nvSpPr>
          <p:cNvPr id="14" name="Shape 12"/>
          <p:cNvSpPr/>
          <p:nvPr/>
        </p:nvSpPr>
        <p:spPr>
          <a:xfrm>
            <a:off x="877824" y="1700784"/>
            <a:ext cx="347472" cy="347472"/>
          </a:xfrm>
          <a:prstGeom prst="ellipse">
            <a:avLst/>
          </a:prstGeom>
          <a:solidFill>
            <a:srgbClr val="F6B0A8"/>
          </a:solidFill>
          <a:ln w="12700">
            <a:solidFill>
              <a:srgbClr val="B7372B"/>
            </a:solidFill>
            <a:prstDash val="solid"/>
          </a:ln>
        </p:spPr>
      </p:sp>
      <p:sp>
        <p:nvSpPr>
          <p:cNvPr id="15" name="Text 13"/>
          <p:cNvSpPr/>
          <p:nvPr/>
        </p:nvSpPr>
        <p:spPr>
          <a:xfrm>
            <a:off x="768096" y="1700784"/>
            <a:ext cx="566928" cy="347472"/>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t>
            </a:r>
            <a:endParaRPr lang="en-US" sz="1000" dirty="0"/>
          </a:p>
        </p:txBody>
      </p:sp>
      <p:sp>
        <p:nvSpPr>
          <p:cNvPr id="16" name="Shape 14"/>
          <p:cNvSpPr/>
          <p:nvPr/>
        </p:nvSpPr>
        <p:spPr>
          <a:xfrm>
            <a:off x="1609344" y="1655064"/>
            <a:ext cx="347472" cy="347472"/>
          </a:xfrm>
          <a:prstGeom prst="ellipse">
            <a:avLst/>
          </a:prstGeom>
          <a:solidFill>
            <a:srgbClr val="B9E0A8"/>
          </a:solidFill>
          <a:ln w="12700">
            <a:solidFill>
              <a:srgbClr val="3E7F2E"/>
            </a:solidFill>
            <a:prstDash val="solid"/>
          </a:ln>
        </p:spPr>
      </p:sp>
      <p:sp>
        <p:nvSpPr>
          <p:cNvPr id="17" name="Text 15"/>
          <p:cNvSpPr/>
          <p:nvPr/>
        </p:nvSpPr>
        <p:spPr>
          <a:xfrm>
            <a:off x="1499616" y="1655064"/>
            <a:ext cx="566928" cy="347472"/>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18" name="Shape 16"/>
          <p:cNvSpPr/>
          <p:nvPr/>
        </p:nvSpPr>
        <p:spPr>
          <a:xfrm>
            <a:off x="1554480" y="1600200"/>
            <a:ext cx="457200" cy="457200"/>
          </a:xfrm>
          <a:prstGeom prst="ellipse">
            <a:avLst/>
          </a:prstGeom>
          <a:ln w="15875">
            <a:solidFill>
              <a:srgbClr val="C8414C"/>
            </a:solidFill>
            <a:prstDash val="dash"/>
          </a:ln>
        </p:spPr>
      </p:sp>
      <p:sp>
        <p:nvSpPr>
          <p:cNvPr id="19" name="Shape 17"/>
          <p:cNvSpPr/>
          <p:nvPr/>
        </p:nvSpPr>
        <p:spPr>
          <a:xfrm>
            <a:off x="2340864" y="1746504"/>
            <a:ext cx="347472" cy="347472"/>
          </a:xfrm>
          <a:prstGeom prst="ellipse">
            <a:avLst/>
          </a:prstGeom>
          <a:solidFill>
            <a:srgbClr val="F7E08A"/>
          </a:solidFill>
          <a:ln w="12700">
            <a:solidFill>
              <a:srgbClr val="9A7A1A"/>
            </a:solidFill>
            <a:prstDash val="solid"/>
          </a:ln>
        </p:spPr>
      </p:sp>
      <p:sp>
        <p:nvSpPr>
          <p:cNvPr id="20" name="Text 18"/>
          <p:cNvSpPr/>
          <p:nvPr/>
        </p:nvSpPr>
        <p:spPr>
          <a:xfrm>
            <a:off x="2231136" y="1746504"/>
            <a:ext cx="566928" cy="347472"/>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Na⁺</a:t>
            </a:r>
            <a:endParaRPr lang="en-US" sz="1000" dirty="0"/>
          </a:p>
        </p:txBody>
      </p:sp>
      <p:sp>
        <p:nvSpPr>
          <p:cNvPr id="21" name="Shape 19"/>
          <p:cNvSpPr/>
          <p:nvPr/>
        </p:nvSpPr>
        <p:spPr>
          <a:xfrm>
            <a:off x="2286000" y="1691640"/>
            <a:ext cx="457200" cy="457200"/>
          </a:xfrm>
          <a:prstGeom prst="ellipse">
            <a:avLst/>
          </a:prstGeom>
          <a:ln w="15875">
            <a:solidFill>
              <a:srgbClr val="C8414C"/>
            </a:solidFill>
            <a:prstDash val="dash"/>
          </a:ln>
        </p:spPr>
      </p:sp>
      <p:sp>
        <p:nvSpPr>
          <p:cNvPr id="22" name="Shape 20"/>
          <p:cNvSpPr/>
          <p:nvPr/>
        </p:nvSpPr>
        <p:spPr>
          <a:xfrm>
            <a:off x="923544" y="2432304"/>
            <a:ext cx="347472" cy="347472"/>
          </a:xfrm>
          <a:prstGeom prst="ellipse">
            <a:avLst/>
          </a:prstGeom>
          <a:solidFill>
            <a:srgbClr val="A9C8F0"/>
          </a:solidFill>
          <a:ln w="12700">
            <a:solidFill>
              <a:srgbClr val="2F5FA8"/>
            </a:solidFill>
            <a:prstDash val="solid"/>
          </a:ln>
        </p:spPr>
      </p:sp>
      <p:sp>
        <p:nvSpPr>
          <p:cNvPr id="23" name="Text 21"/>
          <p:cNvSpPr/>
          <p:nvPr/>
        </p:nvSpPr>
        <p:spPr>
          <a:xfrm>
            <a:off x="813816" y="2432304"/>
            <a:ext cx="566928" cy="347472"/>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OH⁻</a:t>
            </a:r>
            <a:endParaRPr lang="en-US" sz="1000" dirty="0"/>
          </a:p>
        </p:txBody>
      </p:sp>
      <p:sp>
        <p:nvSpPr>
          <p:cNvPr id="24" name="Shape 22"/>
          <p:cNvSpPr/>
          <p:nvPr/>
        </p:nvSpPr>
        <p:spPr>
          <a:xfrm>
            <a:off x="1655064" y="2478024"/>
            <a:ext cx="347472" cy="347472"/>
          </a:xfrm>
          <a:prstGeom prst="ellipse">
            <a:avLst/>
          </a:prstGeom>
          <a:solidFill>
            <a:srgbClr val="F7E08A"/>
          </a:solidFill>
          <a:ln w="12700">
            <a:solidFill>
              <a:srgbClr val="9A7A1A"/>
            </a:solidFill>
            <a:prstDash val="solid"/>
          </a:ln>
        </p:spPr>
      </p:sp>
      <p:sp>
        <p:nvSpPr>
          <p:cNvPr id="25" name="Text 23"/>
          <p:cNvSpPr/>
          <p:nvPr/>
        </p:nvSpPr>
        <p:spPr>
          <a:xfrm>
            <a:off x="1545336" y="2478024"/>
            <a:ext cx="566928" cy="347472"/>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Na⁺</a:t>
            </a:r>
            <a:endParaRPr lang="en-US" sz="1000" dirty="0"/>
          </a:p>
        </p:txBody>
      </p:sp>
      <p:sp>
        <p:nvSpPr>
          <p:cNvPr id="26" name="Shape 24"/>
          <p:cNvSpPr/>
          <p:nvPr/>
        </p:nvSpPr>
        <p:spPr>
          <a:xfrm>
            <a:off x="1600200" y="2423160"/>
            <a:ext cx="457200" cy="457200"/>
          </a:xfrm>
          <a:prstGeom prst="ellipse">
            <a:avLst/>
          </a:prstGeom>
          <a:ln w="15875">
            <a:solidFill>
              <a:srgbClr val="C8414C"/>
            </a:solidFill>
            <a:prstDash val="dash"/>
          </a:ln>
        </p:spPr>
      </p:sp>
      <p:sp>
        <p:nvSpPr>
          <p:cNvPr id="27" name="Shape 25"/>
          <p:cNvSpPr/>
          <p:nvPr/>
        </p:nvSpPr>
        <p:spPr>
          <a:xfrm>
            <a:off x="2386584" y="2432304"/>
            <a:ext cx="347472" cy="347472"/>
          </a:xfrm>
          <a:prstGeom prst="ellipse">
            <a:avLst/>
          </a:prstGeom>
          <a:solidFill>
            <a:srgbClr val="F6B0A8"/>
          </a:solidFill>
          <a:ln w="12700">
            <a:solidFill>
              <a:srgbClr val="B7372B"/>
            </a:solidFill>
            <a:prstDash val="solid"/>
          </a:ln>
        </p:spPr>
      </p:sp>
      <p:sp>
        <p:nvSpPr>
          <p:cNvPr id="28" name="Text 26"/>
          <p:cNvSpPr/>
          <p:nvPr/>
        </p:nvSpPr>
        <p:spPr>
          <a:xfrm>
            <a:off x="2276856" y="2432304"/>
            <a:ext cx="566928" cy="347472"/>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t>
            </a:r>
            <a:endParaRPr lang="en-US" sz="1000" dirty="0"/>
          </a:p>
        </p:txBody>
      </p:sp>
      <p:sp>
        <p:nvSpPr>
          <p:cNvPr id="29" name="Shape 27"/>
          <p:cNvSpPr/>
          <p:nvPr/>
        </p:nvSpPr>
        <p:spPr>
          <a:xfrm>
            <a:off x="969264" y="3118104"/>
            <a:ext cx="347472" cy="347472"/>
          </a:xfrm>
          <a:prstGeom prst="ellipse">
            <a:avLst/>
          </a:prstGeom>
          <a:solidFill>
            <a:srgbClr val="B9E0A8"/>
          </a:solidFill>
          <a:ln w="12700">
            <a:solidFill>
              <a:srgbClr val="3E7F2E"/>
            </a:solidFill>
            <a:prstDash val="solid"/>
          </a:ln>
        </p:spPr>
      </p:sp>
      <p:sp>
        <p:nvSpPr>
          <p:cNvPr id="30" name="Text 28"/>
          <p:cNvSpPr/>
          <p:nvPr/>
        </p:nvSpPr>
        <p:spPr>
          <a:xfrm>
            <a:off x="859536" y="3118104"/>
            <a:ext cx="566928" cy="347472"/>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31" name="Shape 29"/>
          <p:cNvSpPr/>
          <p:nvPr/>
        </p:nvSpPr>
        <p:spPr>
          <a:xfrm>
            <a:off x="914400" y="3063240"/>
            <a:ext cx="457200" cy="457200"/>
          </a:xfrm>
          <a:prstGeom prst="ellipse">
            <a:avLst/>
          </a:prstGeom>
          <a:ln w="15875">
            <a:solidFill>
              <a:srgbClr val="C8414C"/>
            </a:solidFill>
            <a:prstDash val="dash"/>
          </a:ln>
        </p:spPr>
      </p:sp>
      <p:sp>
        <p:nvSpPr>
          <p:cNvPr id="32" name="Shape 30"/>
          <p:cNvSpPr/>
          <p:nvPr/>
        </p:nvSpPr>
        <p:spPr>
          <a:xfrm>
            <a:off x="1792224" y="3118104"/>
            <a:ext cx="347472" cy="347472"/>
          </a:xfrm>
          <a:prstGeom prst="ellipse">
            <a:avLst/>
          </a:prstGeom>
          <a:solidFill>
            <a:srgbClr val="A9C8F0"/>
          </a:solidFill>
          <a:ln w="12700">
            <a:solidFill>
              <a:srgbClr val="2F5FA8"/>
            </a:solidFill>
            <a:prstDash val="solid"/>
          </a:ln>
        </p:spPr>
      </p:sp>
      <p:sp>
        <p:nvSpPr>
          <p:cNvPr id="33" name="Text 31"/>
          <p:cNvSpPr/>
          <p:nvPr/>
        </p:nvSpPr>
        <p:spPr>
          <a:xfrm>
            <a:off x="1682496" y="3118104"/>
            <a:ext cx="566928" cy="347472"/>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OH⁻</a:t>
            </a:r>
            <a:endParaRPr lang="en-US" sz="1000" dirty="0"/>
          </a:p>
        </p:txBody>
      </p:sp>
      <p:sp>
        <p:nvSpPr>
          <p:cNvPr id="34" name="Shape 32"/>
          <p:cNvSpPr/>
          <p:nvPr/>
        </p:nvSpPr>
        <p:spPr>
          <a:xfrm>
            <a:off x="3712464" y="1700784"/>
            <a:ext cx="347472" cy="347472"/>
          </a:xfrm>
          <a:prstGeom prst="ellipse">
            <a:avLst/>
          </a:prstGeom>
          <a:solidFill>
            <a:srgbClr val="F7E08A"/>
          </a:solidFill>
          <a:ln w="12700">
            <a:solidFill>
              <a:srgbClr val="9A7A1A"/>
            </a:solidFill>
            <a:prstDash val="solid"/>
          </a:ln>
        </p:spPr>
      </p:sp>
      <p:sp>
        <p:nvSpPr>
          <p:cNvPr id="35" name="Text 33"/>
          <p:cNvSpPr/>
          <p:nvPr/>
        </p:nvSpPr>
        <p:spPr>
          <a:xfrm>
            <a:off x="3602736" y="1700784"/>
            <a:ext cx="566928" cy="347472"/>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Na⁺</a:t>
            </a:r>
            <a:endParaRPr lang="en-US" sz="1000" dirty="0"/>
          </a:p>
        </p:txBody>
      </p:sp>
      <p:sp>
        <p:nvSpPr>
          <p:cNvPr id="36" name="Shape 34"/>
          <p:cNvSpPr/>
          <p:nvPr/>
        </p:nvSpPr>
        <p:spPr>
          <a:xfrm>
            <a:off x="3657600" y="1645920"/>
            <a:ext cx="457200" cy="457200"/>
          </a:xfrm>
          <a:prstGeom prst="ellipse">
            <a:avLst/>
          </a:prstGeom>
          <a:ln w="15875">
            <a:solidFill>
              <a:srgbClr val="C8414C"/>
            </a:solidFill>
            <a:prstDash val="dash"/>
          </a:ln>
        </p:spPr>
      </p:sp>
      <p:sp>
        <p:nvSpPr>
          <p:cNvPr id="37" name="Shape 35"/>
          <p:cNvSpPr/>
          <p:nvPr/>
        </p:nvSpPr>
        <p:spPr>
          <a:xfrm>
            <a:off x="4443984" y="1655064"/>
            <a:ext cx="347472" cy="347472"/>
          </a:xfrm>
          <a:prstGeom prst="ellipse">
            <a:avLst/>
          </a:prstGeom>
          <a:solidFill>
            <a:srgbClr val="B9E0A8"/>
          </a:solidFill>
          <a:ln w="12700">
            <a:solidFill>
              <a:srgbClr val="3E7F2E"/>
            </a:solidFill>
            <a:prstDash val="solid"/>
          </a:ln>
        </p:spPr>
      </p:sp>
      <p:sp>
        <p:nvSpPr>
          <p:cNvPr id="38" name="Text 36"/>
          <p:cNvSpPr/>
          <p:nvPr/>
        </p:nvSpPr>
        <p:spPr>
          <a:xfrm>
            <a:off x="4334256" y="1655064"/>
            <a:ext cx="566928" cy="347472"/>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39" name="Shape 37"/>
          <p:cNvSpPr/>
          <p:nvPr/>
        </p:nvSpPr>
        <p:spPr>
          <a:xfrm>
            <a:off x="4389120" y="1600200"/>
            <a:ext cx="457200" cy="457200"/>
          </a:xfrm>
          <a:prstGeom prst="ellipse">
            <a:avLst/>
          </a:prstGeom>
          <a:ln w="15875">
            <a:solidFill>
              <a:srgbClr val="C8414C"/>
            </a:solidFill>
            <a:prstDash val="dash"/>
          </a:ln>
        </p:spPr>
      </p:sp>
      <p:sp>
        <p:nvSpPr>
          <p:cNvPr id="40" name="Shape 38"/>
          <p:cNvSpPr/>
          <p:nvPr/>
        </p:nvSpPr>
        <p:spPr>
          <a:xfrm>
            <a:off x="5175504" y="1746504"/>
            <a:ext cx="347472" cy="347472"/>
          </a:xfrm>
          <a:prstGeom prst="ellipse">
            <a:avLst/>
          </a:prstGeom>
          <a:solidFill>
            <a:srgbClr val="F7E08A"/>
          </a:solidFill>
          <a:ln w="12700">
            <a:solidFill>
              <a:srgbClr val="9A7A1A"/>
            </a:solidFill>
            <a:prstDash val="solid"/>
          </a:ln>
        </p:spPr>
      </p:sp>
      <p:sp>
        <p:nvSpPr>
          <p:cNvPr id="41" name="Text 39"/>
          <p:cNvSpPr/>
          <p:nvPr/>
        </p:nvSpPr>
        <p:spPr>
          <a:xfrm>
            <a:off x="5065776" y="1746504"/>
            <a:ext cx="566928" cy="347472"/>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Na⁺</a:t>
            </a:r>
            <a:endParaRPr lang="en-US" sz="1000" dirty="0"/>
          </a:p>
        </p:txBody>
      </p:sp>
      <p:sp>
        <p:nvSpPr>
          <p:cNvPr id="42" name="Shape 40"/>
          <p:cNvSpPr/>
          <p:nvPr/>
        </p:nvSpPr>
        <p:spPr>
          <a:xfrm>
            <a:off x="5120640" y="1691640"/>
            <a:ext cx="457200" cy="457200"/>
          </a:xfrm>
          <a:prstGeom prst="ellipse">
            <a:avLst/>
          </a:prstGeom>
          <a:ln w="15875">
            <a:solidFill>
              <a:srgbClr val="C8414C"/>
            </a:solidFill>
            <a:prstDash val="dash"/>
          </a:ln>
        </p:spPr>
      </p:sp>
      <p:sp>
        <p:nvSpPr>
          <p:cNvPr id="43" name="Shape 41"/>
          <p:cNvSpPr/>
          <p:nvPr/>
        </p:nvSpPr>
        <p:spPr>
          <a:xfrm>
            <a:off x="3758184" y="3072384"/>
            <a:ext cx="347472" cy="347472"/>
          </a:xfrm>
          <a:prstGeom prst="ellipse">
            <a:avLst/>
          </a:prstGeom>
          <a:solidFill>
            <a:srgbClr val="B9E0A8"/>
          </a:solidFill>
          <a:ln w="12700">
            <a:solidFill>
              <a:srgbClr val="3E7F2E"/>
            </a:solidFill>
            <a:prstDash val="solid"/>
          </a:ln>
        </p:spPr>
      </p:sp>
      <p:sp>
        <p:nvSpPr>
          <p:cNvPr id="44" name="Text 42"/>
          <p:cNvSpPr/>
          <p:nvPr/>
        </p:nvSpPr>
        <p:spPr>
          <a:xfrm>
            <a:off x="3648456" y="3072384"/>
            <a:ext cx="566928" cy="347472"/>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45" name="Shape 43"/>
          <p:cNvSpPr/>
          <p:nvPr/>
        </p:nvSpPr>
        <p:spPr>
          <a:xfrm>
            <a:off x="3703320" y="3017520"/>
            <a:ext cx="457200" cy="457200"/>
          </a:xfrm>
          <a:prstGeom prst="ellipse">
            <a:avLst/>
          </a:prstGeom>
          <a:ln w="15875">
            <a:solidFill>
              <a:srgbClr val="C8414C"/>
            </a:solidFill>
            <a:prstDash val="dash"/>
          </a:ln>
        </p:spPr>
      </p:sp>
      <p:sp>
        <p:nvSpPr>
          <p:cNvPr id="46" name="Shape 44"/>
          <p:cNvSpPr/>
          <p:nvPr/>
        </p:nvSpPr>
        <p:spPr>
          <a:xfrm>
            <a:off x="4373484" y="2621493"/>
            <a:ext cx="147401" cy="147401"/>
          </a:xfrm>
          <a:prstGeom prst="ellipse">
            <a:avLst/>
          </a:prstGeom>
          <a:solidFill>
            <a:srgbClr val="FFFFFF"/>
          </a:solidFill>
          <a:ln w="9525">
            <a:solidFill>
              <a:srgbClr val="8A8F99"/>
            </a:solidFill>
            <a:prstDash val="solid"/>
          </a:ln>
        </p:spPr>
      </p:sp>
      <p:sp>
        <p:nvSpPr>
          <p:cNvPr id="47" name="Shape 45"/>
          <p:cNvSpPr/>
          <p:nvPr/>
        </p:nvSpPr>
        <p:spPr>
          <a:xfrm>
            <a:off x="4623115" y="2621493"/>
            <a:ext cx="147401" cy="147401"/>
          </a:xfrm>
          <a:prstGeom prst="ellipse">
            <a:avLst/>
          </a:prstGeom>
          <a:solidFill>
            <a:srgbClr val="FFFFFF"/>
          </a:solidFill>
          <a:ln w="9525">
            <a:solidFill>
              <a:srgbClr val="8A8F99"/>
            </a:solidFill>
            <a:prstDash val="solid"/>
          </a:ln>
        </p:spPr>
      </p:sp>
      <p:sp>
        <p:nvSpPr>
          <p:cNvPr id="48" name="Shape 46"/>
          <p:cNvSpPr/>
          <p:nvPr/>
        </p:nvSpPr>
        <p:spPr>
          <a:xfrm>
            <a:off x="4453128" y="2487168"/>
            <a:ext cx="237744" cy="237744"/>
          </a:xfrm>
          <a:prstGeom prst="ellipse">
            <a:avLst/>
          </a:prstGeom>
          <a:solidFill>
            <a:srgbClr val="E06666"/>
          </a:solidFill>
          <a:ln w="9525">
            <a:solidFill>
              <a:srgbClr val="9E2A2A"/>
            </a:solidFill>
            <a:prstDash val="solid"/>
          </a:ln>
        </p:spPr>
      </p:sp>
      <p:sp>
        <p:nvSpPr>
          <p:cNvPr id="49" name="Shape 47"/>
          <p:cNvSpPr/>
          <p:nvPr/>
        </p:nvSpPr>
        <p:spPr>
          <a:xfrm>
            <a:off x="4739244" y="3215853"/>
            <a:ext cx="147401" cy="147401"/>
          </a:xfrm>
          <a:prstGeom prst="ellipse">
            <a:avLst/>
          </a:prstGeom>
          <a:solidFill>
            <a:srgbClr val="FFFFFF"/>
          </a:solidFill>
          <a:ln w="9525">
            <a:solidFill>
              <a:srgbClr val="8A8F99"/>
            </a:solidFill>
            <a:prstDash val="solid"/>
          </a:ln>
        </p:spPr>
      </p:sp>
      <p:sp>
        <p:nvSpPr>
          <p:cNvPr id="50" name="Shape 48"/>
          <p:cNvSpPr/>
          <p:nvPr/>
        </p:nvSpPr>
        <p:spPr>
          <a:xfrm>
            <a:off x="4988875" y="3215853"/>
            <a:ext cx="147401" cy="147401"/>
          </a:xfrm>
          <a:prstGeom prst="ellipse">
            <a:avLst/>
          </a:prstGeom>
          <a:solidFill>
            <a:srgbClr val="FFFFFF"/>
          </a:solidFill>
          <a:ln w="9525">
            <a:solidFill>
              <a:srgbClr val="8A8F99"/>
            </a:solidFill>
            <a:prstDash val="solid"/>
          </a:ln>
        </p:spPr>
      </p:sp>
      <p:sp>
        <p:nvSpPr>
          <p:cNvPr id="51" name="Shape 49"/>
          <p:cNvSpPr/>
          <p:nvPr/>
        </p:nvSpPr>
        <p:spPr>
          <a:xfrm>
            <a:off x="4818888" y="3081528"/>
            <a:ext cx="237744" cy="237744"/>
          </a:xfrm>
          <a:prstGeom prst="ellipse">
            <a:avLst/>
          </a:prstGeom>
          <a:solidFill>
            <a:srgbClr val="E06666"/>
          </a:solidFill>
          <a:ln w="9525">
            <a:solidFill>
              <a:srgbClr val="9E2A2A"/>
            </a:solidFill>
            <a:prstDash val="solid"/>
          </a:ln>
        </p:spPr>
      </p:sp>
      <p:sp>
        <p:nvSpPr>
          <p:cNvPr id="52" name="Shape 50"/>
          <p:cNvSpPr/>
          <p:nvPr/>
        </p:nvSpPr>
        <p:spPr>
          <a:xfrm>
            <a:off x="2971800" y="2578608"/>
            <a:ext cx="457200" cy="91"/>
          </a:xfrm>
          <a:prstGeom prst="line">
            <a:avLst/>
          </a:prstGeom>
          <a:noFill/>
          <a:ln w="31750">
            <a:solidFill>
              <a:srgbClr val="2A1F3D"/>
            </a:solidFill>
            <a:prstDash val="solid"/>
            <a:tailEnd type="triangle"/>
          </a:ln>
        </p:spPr>
      </p:sp>
      <p:sp>
        <p:nvSpPr>
          <p:cNvPr id="53" name="Shape 51"/>
          <p:cNvSpPr/>
          <p:nvPr/>
        </p:nvSpPr>
        <p:spPr>
          <a:xfrm>
            <a:off x="640080" y="3931920"/>
            <a:ext cx="5120640" cy="384048"/>
          </a:xfrm>
          <a:prstGeom prst="roundRect">
            <a:avLst>
              <a:gd name="adj" fmla="val 11905"/>
            </a:avLst>
          </a:prstGeom>
          <a:solidFill>
            <a:srgbClr val="FFFFFF"/>
          </a:solidFill>
          <a:ln w="12700">
            <a:solidFill>
              <a:srgbClr val="DDD3EC"/>
            </a:solidFill>
            <a:prstDash val="solid"/>
          </a:ln>
        </p:spPr>
      </p:sp>
      <p:sp>
        <p:nvSpPr>
          <p:cNvPr id="54" name="Text 52"/>
          <p:cNvSpPr/>
          <p:nvPr/>
        </p:nvSpPr>
        <p:spPr>
          <a:xfrm>
            <a:off x="713232" y="3931920"/>
            <a:ext cx="4974336" cy="384048"/>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HCl(aq) + NaOH(aq) → NaCl(aq) + H₂O(l)</a:t>
            </a:r>
            <a:endParaRPr lang="en-US" sz="1200" dirty="0"/>
          </a:p>
        </p:txBody>
      </p:sp>
      <p:sp>
        <p:nvSpPr>
          <p:cNvPr id="55" name="Shape 53"/>
          <p:cNvSpPr/>
          <p:nvPr/>
        </p:nvSpPr>
        <p:spPr>
          <a:xfrm>
            <a:off x="640080" y="4434840"/>
            <a:ext cx="5120640" cy="438912"/>
          </a:xfrm>
          <a:prstGeom prst="roundRect">
            <a:avLst>
              <a:gd name="adj" fmla="val 10417"/>
            </a:avLst>
          </a:prstGeom>
          <a:solidFill>
            <a:srgbClr val="FBE3E4"/>
          </a:solidFill>
          <a:ln w="12700">
            <a:solidFill>
              <a:srgbClr val="C8414C"/>
            </a:solidFill>
            <a:prstDash val="solid"/>
          </a:ln>
        </p:spPr>
      </p:sp>
      <p:sp>
        <p:nvSpPr>
          <p:cNvPr id="56" name="Text 54"/>
          <p:cNvSpPr/>
          <p:nvPr/>
        </p:nvSpPr>
        <p:spPr>
          <a:xfrm>
            <a:off x="713232" y="4434840"/>
            <a:ext cx="4974336" cy="438912"/>
          </a:xfrm>
          <a:prstGeom prst="rect">
            <a:avLst/>
          </a:prstGeom>
          <a:noFill/>
          <a:ln/>
        </p:spPr>
        <p:txBody>
          <a:bodyPr wrap="square" lIns="0" tIns="0" rIns="0" bIns="0" rtlCol="0" anchor="ctr"/>
          <a:lstStyle/>
          <a:p>
            <a:pPr algn="ctr" indent="0" marL="0">
              <a:buNone/>
            </a:pPr>
            <a:r>
              <a:rPr lang="en-US" sz="1400" b="1" dirty="0">
                <a:solidFill>
                  <a:srgbClr val="C8414C"/>
                </a:solidFill>
                <a:latin typeface="Calibri" pitchFamily="34" charset="0"/>
                <a:ea typeface="Calibri" pitchFamily="34" charset="-122"/>
                <a:cs typeface="Calibri" pitchFamily="34" charset="-120"/>
              </a:rPr>
              <a:t>H⁺(aq) + OH⁻(aq) → H₂O(l)</a:t>
            </a:r>
            <a:endParaRPr lang="en-US" sz="1400" dirty="0"/>
          </a:p>
        </p:txBody>
      </p:sp>
      <p:sp>
        <p:nvSpPr>
          <p:cNvPr id="57" name="Text 55"/>
          <p:cNvSpPr/>
          <p:nvPr/>
        </p:nvSpPr>
        <p:spPr>
          <a:xfrm>
            <a:off x="640080" y="4919472"/>
            <a:ext cx="5120640" cy="256032"/>
          </a:xfrm>
          <a:prstGeom prst="rect">
            <a:avLst/>
          </a:prstGeom>
          <a:noFill/>
          <a:ln/>
        </p:spPr>
        <p:txBody>
          <a:bodyPr wrap="square" lIns="0" tIns="0" rIns="0" bIns="0" rtlCol="0" anchor="ctr"/>
          <a:lstStyle/>
          <a:p>
            <a:pPr algn="ctr" indent="0" marL="0">
              <a:buNone/>
            </a:pPr>
            <a:r>
              <a:rPr lang="en-US" sz="1050" i="1" dirty="0">
                <a:solidFill>
                  <a:srgbClr val="262B3A"/>
                </a:solidFill>
                <a:latin typeface="Calibri" pitchFamily="34" charset="0"/>
                <a:ea typeface="Calibri" pitchFamily="34" charset="-122"/>
                <a:cs typeface="Calibri" pitchFamily="34" charset="-120"/>
              </a:rPr>
              <a:t>ionic equation: the same for </a:t>
            </a:r>
            <a:r>
              <a:rPr lang="en-US" sz="1050" b="1" i="1" dirty="0">
                <a:solidFill>
                  <a:srgbClr val="262B3A"/>
                </a:solidFill>
                <a:latin typeface="Calibri" pitchFamily="34" charset="0"/>
                <a:ea typeface="Calibri" pitchFamily="34" charset="-122"/>
                <a:cs typeface="Calibri" pitchFamily="34" charset="-120"/>
              </a:rPr>
              <a:t>every</a:t>
            </a:r>
            <a:r>
              <a:rPr lang="en-US" sz="1050" i="1" dirty="0">
                <a:solidFill>
                  <a:srgbClr val="262B3A"/>
                </a:solidFill>
                <a:latin typeface="Calibri" pitchFamily="34" charset="0"/>
                <a:ea typeface="Calibri" pitchFamily="34" charset="-122"/>
                <a:cs typeface="Calibri" pitchFamily="34" charset="-120"/>
              </a:rPr>
              <a:t> acid + alkali reaction</a:t>
            </a:r>
            <a:endParaRPr lang="en-US" sz="1050" dirty="0"/>
          </a:p>
        </p:txBody>
      </p:sp>
      <p:sp>
        <p:nvSpPr>
          <p:cNvPr id="58" name="Shape 56"/>
          <p:cNvSpPr/>
          <p:nvPr/>
        </p:nvSpPr>
        <p:spPr>
          <a:xfrm>
            <a:off x="6217920" y="1188720"/>
            <a:ext cx="5562295" cy="2514600"/>
          </a:xfrm>
          <a:prstGeom prst="roundRect">
            <a:avLst>
              <a:gd name="adj" fmla="val 2182"/>
            </a:avLst>
          </a:prstGeom>
          <a:solidFill>
            <a:srgbClr val="F8F5FC"/>
          </a:solidFill>
          <a:ln w="9525">
            <a:solidFill>
              <a:srgbClr val="DDD3EC"/>
            </a:solidFill>
            <a:prstDash val="solid"/>
          </a:ln>
        </p:spPr>
      </p:sp>
      <p:sp>
        <p:nvSpPr>
          <p:cNvPr id="59" name="Text 5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What neutralisation means</a:t>
            </a:r>
            <a:endParaRPr lang="en-US" sz="1300" dirty="0"/>
          </a:p>
        </p:txBody>
      </p:sp>
      <p:sp>
        <p:nvSpPr>
          <p:cNvPr id="60" name="Text 58"/>
          <p:cNvSpPr/>
          <p:nvPr/>
        </p:nvSpPr>
        <p:spPr>
          <a:xfrm>
            <a:off x="6382512" y="1609344"/>
            <a:ext cx="5233111" cy="202082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Neutralisation</a:t>
            </a:r>
            <a:r>
              <a:rPr lang="en-US" sz="1150" dirty="0">
                <a:solidFill>
                  <a:srgbClr val="262B3A"/>
                </a:solidFill>
                <a:latin typeface="Calibri" pitchFamily="34" charset="0"/>
                <a:ea typeface="Calibri" pitchFamily="34" charset="-122"/>
                <a:cs typeface="Calibri" pitchFamily="34" charset="-120"/>
              </a:rPr>
              <a:t> is a reaction between an </a:t>
            </a:r>
            <a:r>
              <a:rPr lang="en-US" sz="1150" b="1" dirty="0">
                <a:solidFill>
                  <a:srgbClr val="262B3A"/>
                </a:solidFill>
                <a:latin typeface="Calibri" pitchFamily="34" charset="0"/>
                <a:ea typeface="Calibri" pitchFamily="34" charset="-122"/>
                <a:cs typeface="Calibri" pitchFamily="34" charset="-120"/>
              </a:rPr>
              <a:t>acid</a:t>
            </a:r>
            <a:r>
              <a:rPr lang="en-US" sz="1150" dirty="0">
                <a:solidFill>
                  <a:srgbClr val="262B3A"/>
                </a:solidFill>
                <a:latin typeface="Calibri" pitchFamily="34" charset="0"/>
                <a:ea typeface="Calibri" pitchFamily="34" charset="-122"/>
                <a:cs typeface="Calibri" pitchFamily="34" charset="-120"/>
              </a:rPr>
              <a:t> and a </a:t>
            </a:r>
            <a:r>
              <a:rPr lang="en-US" sz="1150" b="1" dirty="0">
                <a:solidFill>
                  <a:srgbClr val="262B3A"/>
                </a:solidFill>
                <a:latin typeface="Calibri" pitchFamily="34" charset="0"/>
                <a:ea typeface="Calibri" pitchFamily="34" charset="-122"/>
                <a:cs typeface="Calibri" pitchFamily="34" charset="-120"/>
              </a:rPr>
              <a:t>base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With an </a:t>
            </a:r>
            <a:r>
              <a:rPr lang="en-US" sz="1150" b="1" dirty="0">
                <a:solidFill>
                  <a:srgbClr val="262B3A"/>
                </a:solidFill>
                <a:latin typeface="Calibri" pitchFamily="34" charset="0"/>
                <a:ea typeface="Calibri" pitchFamily="34" charset="-122"/>
                <a:cs typeface="Calibri" pitchFamily="34" charset="-120"/>
              </a:rPr>
              <a:t>alkali</a:t>
            </a:r>
            <a:r>
              <a:rPr lang="en-US" sz="1150" dirty="0">
                <a:solidFill>
                  <a:srgbClr val="262B3A"/>
                </a:solidFill>
                <a:latin typeface="Calibri" pitchFamily="34" charset="0"/>
                <a:ea typeface="Calibri" pitchFamily="34" charset="-122"/>
                <a:cs typeface="Calibri" pitchFamily="34" charset="-120"/>
              </a:rPr>
              <a:t>, the </a:t>
            </a:r>
            <a:r>
              <a:rPr lang="en-US" sz="1150" b="1" dirty="0">
                <a:solidFill>
                  <a:srgbClr val="262B3A"/>
                </a:solidFill>
                <a:latin typeface="Calibri" pitchFamily="34" charset="0"/>
                <a:ea typeface="Calibri" pitchFamily="34" charset="-122"/>
                <a:cs typeface="Calibri" pitchFamily="34" charset="-120"/>
              </a:rPr>
              <a:t>H⁺</a:t>
            </a:r>
            <a:r>
              <a:rPr lang="en-US" sz="1150" dirty="0">
                <a:solidFill>
                  <a:srgbClr val="262B3A"/>
                </a:solidFill>
                <a:latin typeface="Calibri" pitchFamily="34" charset="0"/>
                <a:ea typeface="Calibri" pitchFamily="34" charset="-122"/>
                <a:cs typeface="Calibri" pitchFamily="34" charset="-120"/>
              </a:rPr>
              <a:t> ions from the acid react with the </a:t>
            </a:r>
            <a:r>
              <a:rPr lang="en-US" sz="1150" b="1" dirty="0">
                <a:solidFill>
                  <a:srgbClr val="262B3A"/>
                </a:solidFill>
                <a:latin typeface="Calibri" pitchFamily="34" charset="0"/>
                <a:ea typeface="Calibri" pitchFamily="34" charset="-122"/>
                <a:cs typeface="Calibri" pitchFamily="34" charset="-120"/>
              </a:rPr>
              <a:t>OH⁻</a:t>
            </a:r>
            <a:r>
              <a:rPr lang="en-US" sz="1150" dirty="0">
                <a:solidFill>
                  <a:srgbClr val="262B3A"/>
                </a:solidFill>
                <a:latin typeface="Calibri" pitchFamily="34" charset="0"/>
                <a:ea typeface="Calibri" pitchFamily="34" charset="-122"/>
                <a:cs typeface="Calibri" pitchFamily="34" charset="-120"/>
              </a:rPr>
              <a:t> ions from the alkali to form </a:t>
            </a:r>
            <a:r>
              <a:rPr lang="en-US" sz="1150" b="1" dirty="0">
                <a:solidFill>
                  <a:srgbClr val="262B3A"/>
                </a:solidFill>
                <a:latin typeface="Calibri" pitchFamily="34" charset="0"/>
                <a:ea typeface="Calibri" pitchFamily="34" charset="-122"/>
                <a:cs typeface="Calibri" pitchFamily="34" charset="-120"/>
              </a:rPr>
              <a:t>water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other ions (here </a:t>
            </a:r>
            <a:r>
              <a:rPr lang="en-US" sz="1150" b="1" dirty="0">
                <a:solidFill>
                  <a:srgbClr val="262B3A"/>
                </a:solidFill>
                <a:latin typeface="Calibri" pitchFamily="34" charset="0"/>
                <a:ea typeface="Calibri" pitchFamily="34" charset="-122"/>
                <a:cs typeface="Calibri" pitchFamily="34" charset="-120"/>
              </a:rPr>
              <a:t>Na⁺</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Cl⁻</a:t>
            </a:r>
            <a:r>
              <a:rPr lang="en-US" sz="1150" dirty="0">
                <a:solidFill>
                  <a:srgbClr val="262B3A"/>
                </a:solidFill>
                <a:latin typeface="Calibri" pitchFamily="34" charset="0"/>
                <a:ea typeface="Calibri" pitchFamily="34" charset="-122"/>
                <a:cs typeface="Calibri" pitchFamily="34" charset="-120"/>
              </a:rPr>
              <a:t>) are </a:t>
            </a:r>
            <a:r>
              <a:rPr lang="en-US" sz="1150" b="1" dirty="0">
                <a:solidFill>
                  <a:srgbClr val="262B3A"/>
                </a:solidFill>
                <a:latin typeface="Calibri" pitchFamily="34" charset="0"/>
                <a:ea typeface="Calibri" pitchFamily="34" charset="-122"/>
                <a:cs typeface="Calibri" pitchFamily="34" charset="-120"/>
              </a:rPr>
              <a:t>spectator ions</a:t>
            </a:r>
            <a:r>
              <a:rPr lang="en-US" sz="1150" dirty="0">
                <a:solidFill>
                  <a:srgbClr val="262B3A"/>
                </a:solidFill>
                <a:latin typeface="Calibri" pitchFamily="34" charset="0"/>
                <a:ea typeface="Calibri" pitchFamily="34" charset="-122"/>
                <a:cs typeface="Calibri" pitchFamily="34" charset="-120"/>
              </a:rPr>
              <a:t>: they stay in solution unchanged and make up the salt.</a:t>
            </a:r>
            <a:endParaRPr lang="en-US" sz="1150" dirty="0"/>
          </a:p>
        </p:txBody>
      </p:sp>
      <p:sp>
        <p:nvSpPr>
          <p:cNvPr id="61" name="Shape 59"/>
          <p:cNvSpPr/>
          <p:nvPr/>
        </p:nvSpPr>
        <p:spPr>
          <a:xfrm>
            <a:off x="6217920" y="3840480"/>
            <a:ext cx="5562295" cy="1874520"/>
          </a:xfrm>
          <a:prstGeom prst="roundRect">
            <a:avLst>
              <a:gd name="adj" fmla="val 2927"/>
            </a:avLst>
          </a:prstGeom>
          <a:solidFill>
            <a:srgbClr val="FFF4E0"/>
          </a:solidFill>
          <a:ln w="9525">
            <a:solidFill>
              <a:srgbClr val="F1D9A8"/>
            </a:solidFill>
            <a:prstDash val="solid"/>
          </a:ln>
        </p:spPr>
      </p:sp>
      <p:sp>
        <p:nvSpPr>
          <p:cNvPr id="62" name="Text 60"/>
          <p:cNvSpPr/>
          <p:nvPr/>
        </p:nvSpPr>
        <p:spPr>
          <a:xfrm>
            <a:off x="6382512" y="39136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Neutralisation equations</a:t>
            </a:r>
            <a:endParaRPr lang="en-US" sz="1300" dirty="0"/>
          </a:p>
        </p:txBody>
      </p:sp>
      <p:sp>
        <p:nvSpPr>
          <p:cNvPr id="63" name="Text 61"/>
          <p:cNvSpPr/>
          <p:nvPr/>
        </p:nvSpPr>
        <p:spPr>
          <a:xfrm>
            <a:off x="6382512" y="4224528"/>
            <a:ext cx="5233111" cy="1417320"/>
          </a:xfrm>
          <a:prstGeom prst="rect">
            <a:avLst/>
          </a:prstGeom>
          <a:noFill/>
          <a:ln/>
        </p:spPr>
        <p:txBody>
          <a:bodyPr wrap="square" lIns="0" tIns="0" rIns="0" bIns="0" rtlCol="0" anchor="t"/>
          <a:lstStyle/>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Full   </a:t>
            </a:r>
            <a:r>
              <a:rPr lang="en-US" sz="1050" dirty="0">
                <a:solidFill>
                  <a:srgbClr val="262B3A"/>
                </a:solidFill>
                <a:latin typeface="Calibri" pitchFamily="34" charset="0"/>
                <a:ea typeface="Calibri" pitchFamily="34" charset="-122"/>
                <a:cs typeface="Calibri" pitchFamily="34" charset="-120"/>
              </a:rPr>
              <a:t>HCl(aq) + NaOH(aq) → NaCl(aq) + H₂O(l)</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Full   </a:t>
            </a:r>
            <a:r>
              <a:rPr lang="en-US" sz="1050" dirty="0">
                <a:solidFill>
                  <a:srgbClr val="262B3A"/>
                </a:solidFill>
                <a:latin typeface="Calibri" pitchFamily="34" charset="0"/>
                <a:ea typeface="Calibri" pitchFamily="34" charset="-122"/>
                <a:cs typeface="Calibri" pitchFamily="34" charset="-120"/>
              </a:rPr>
              <a:t>H₂SO₄(aq) + 2KOH(aq) → K₂SO₄(aq) + 2H₂O(l)</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Ionic   </a:t>
            </a:r>
            <a:r>
              <a:rPr lang="en-US" sz="1050" dirty="0">
                <a:solidFill>
                  <a:srgbClr val="262B3A"/>
                </a:solidFill>
                <a:latin typeface="Calibri" pitchFamily="34" charset="0"/>
                <a:ea typeface="Calibri" pitchFamily="34" charset="-122"/>
                <a:cs typeface="Calibri" pitchFamily="34" charset="-120"/>
              </a:rPr>
              <a:t>H⁺(aq) + OH⁻(aq) → H₂O(l)</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the spectator ions cancel; only H⁺ and OH⁻ react</a:t>
            </a:r>
            <a:endParaRPr lang="en-US" sz="1050" dirty="0"/>
          </a:p>
        </p:txBody>
      </p:sp>
      <p:sp>
        <p:nvSpPr>
          <p:cNvPr id="64" name="Shape 62"/>
          <p:cNvSpPr/>
          <p:nvPr/>
        </p:nvSpPr>
        <p:spPr>
          <a:xfrm>
            <a:off x="411480" y="5833872"/>
            <a:ext cx="11368735" cy="530352"/>
          </a:xfrm>
          <a:prstGeom prst="rect">
            <a:avLst/>
          </a:prstGeom>
          <a:solidFill>
            <a:srgbClr val="FFF4E0"/>
          </a:solidFill>
          <a:ln w="6350">
            <a:solidFill>
              <a:srgbClr val="F1D9A8"/>
            </a:solidFill>
            <a:prstDash val="solid"/>
          </a:ln>
        </p:spPr>
      </p:sp>
      <p:sp>
        <p:nvSpPr>
          <p:cNvPr id="65" name="Shape 63"/>
          <p:cNvSpPr/>
          <p:nvPr/>
        </p:nvSpPr>
        <p:spPr>
          <a:xfrm>
            <a:off x="411480" y="5833872"/>
            <a:ext cx="82296" cy="530352"/>
          </a:xfrm>
          <a:prstGeom prst="rect">
            <a:avLst/>
          </a:prstGeom>
          <a:solidFill>
            <a:srgbClr val="E39A2F"/>
          </a:solidFill>
          <a:ln w="12700">
            <a:solidFill>
              <a:srgbClr val="E39A2F"/>
            </a:solidFill>
            <a:prstDash val="solid"/>
          </a:ln>
        </p:spPr>
      </p:sp>
      <p:sp>
        <p:nvSpPr>
          <p:cNvPr id="66" name="Text 6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Potassium hydroxide solution neutralises nitric acid. Name the </a:t>
            </a:r>
            <a:r>
              <a:rPr lang="en-US" sz="1150" b="1" dirty="0">
                <a:solidFill>
                  <a:srgbClr val="262B3A"/>
                </a:solidFill>
                <a:latin typeface="Calibri" pitchFamily="34" charset="0"/>
                <a:ea typeface="Calibri" pitchFamily="34" charset="-122"/>
                <a:cs typeface="Calibri" pitchFamily="34" charset="-120"/>
              </a:rPr>
              <a:t>spectator ions</a:t>
            </a:r>
            <a:r>
              <a:rPr lang="en-US" sz="1150" dirty="0">
                <a:solidFill>
                  <a:srgbClr val="262B3A"/>
                </a:solidFill>
                <a:latin typeface="Calibri" pitchFamily="34" charset="0"/>
                <a:ea typeface="Calibri" pitchFamily="34" charset="-122"/>
                <a:cs typeface="Calibri" pitchFamily="34" charset="-120"/>
              </a:rPr>
              <a:t> and the </a:t>
            </a:r>
            <a:r>
              <a:rPr lang="en-US" sz="1150" b="1" dirty="0">
                <a:solidFill>
                  <a:srgbClr val="262B3A"/>
                </a:solidFill>
                <a:latin typeface="Calibri" pitchFamily="34" charset="0"/>
                <a:ea typeface="Calibri" pitchFamily="34" charset="-122"/>
                <a:cs typeface="Calibri" pitchFamily="34" charset="-120"/>
              </a:rPr>
              <a:t>salt</a:t>
            </a:r>
            <a:r>
              <a:rPr lang="en-US" sz="1150" dirty="0">
                <a:solidFill>
                  <a:srgbClr val="262B3A"/>
                </a:solidFill>
                <a:latin typeface="Calibri" pitchFamily="34" charset="0"/>
                <a:ea typeface="Calibri" pitchFamily="34" charset="-122"/>
                <a:cs typeface="Calibri" pitchFamily="34" charset="-120"/>
              </a:rPr>
              <a:t> formed.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Method: writing ionic equations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0.4 • full equation → split into ions → cancel spectator ions → check atoms AND charges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0.4 method  |  15</a:t>
            </a:r>
            <a:endParaRPr lang="en-US" sz="1000" dirty="0"/>
          </a:p>
        </p:txBody>
      </p:sp>
      <p:sp>
        <p:nvSpPr>
          <p:cNvPr id="10" name="Shape 8"/>
          <p:cNvSpPr/>
          <p:nvPr/>
        </p:nvSpPr>
        <p:spPr>
          <a:xfrm>
            <a:off x="411480" y="1188720"/>
            <a:ext cx="7680960" cy="1005840"/>
          </a:xfrm>
          <a:prstGeom prst="roundRect">
            <a:avLst>
              <a:gd name="adj" fmla="val 4545"/>
            </a:avLst>
          </a:prstGeom>
          <a:solidFill>
            <a:srgbClr val="F8F5FC"/>
          </a:solidFill>
          <a:ln w="12700">
            <a:solidFill>
              <a:srgbClr val="DDD3EC"/>
            </a:solidFill>
            <a:prstDash val="solid"/>
          </a:ln>
        </p:spPr>
      </p:sp>
      <p:sp>
        <p:nvSpPr>
          <p:cNvPr id="11" name="Shape 9"/>
          <p:cNvSpPr/>
          <p:nvPr/>
        </p:nvSpPr>
        <p:spPr>
          <a:xfrm>
            <a:off x="548640" y="1298448"/>
            <a:ext cx="365760" cy="365760"/>
          </a:xfrm>
          <a:prstGeom prst="ellipse">
            <a:avLst/>
          </a:prstGeom>
          <a:solidFill>
            <a:srgbClr val="6A3FA0"/>
          </a:solidFill>
          <a:ln w="19050">
            <a:solidFill>
              <a:srgbClr val="FFFFFF"/>
            </a:solidFill>
            <a:prstDash val="solid"/>
          </a:ln>
        </p:spPr>
      </p:sp>
      <p:sp>
        <p:nvSpPr>
          <p:cNvPr id="12" name="Text 10"/>
          <p:cNvSpPr/>
          <p:nvPr/>
        </p:nvSpPr>
        <p:spPr>
          <a:xfrm>
            <a:off x="548640" y="12984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11"/>
          <p:cNvSpPr/>
          <p:nvPr/>
        </p:nvSpPr>
        <p:spPr>
          <a:xfrm>
            <a:off x="1078992" y="1261872"/>
            <a:ext cx="6858000" cy="274320"/>
          </a:xfrm>
          <a:prstGeom prst="rect">
            <a:avLst/>
          </a:prstGeom>
          <a:noFill/>
          <a:ln/>
        </p:spPr>
        <p:txBody>
          <a:bodyPr wrap="square" lIns="0" tIns="0" rIns="0" bIns="0" rtlCol="0" anchor="ctr"/>
          <a:lstStyle/>
          <a:p>
            <a:pPr algn="l" indent="0" marL="0">
              <a:buNone/>
            </a:pPr>
            <a:r>
              <a:rPr lang="en-US" sz="1250" b="1" dirty="0">
                <a:solidFill>
                  <a:srgbClr val="2A1F3D"/>
                </a:solidFill>
                <a:latin typeface="Calibri" pitchFamily="34" charset="0"/>
                <a:ea typeface="Calibri" pitchFamily="34" charset="-122"/>
                <a:cs typeface="Calibri" pitchFamily="34" charset="-120"/>
              </a:rPr>
              <a:t>Write the balanced full equation with state symbols</a:t>
            </a:r>
            <a:endParaRPr lang="en-US" sz="1250" dirty="0"/>
          </a:p>
        </p:txBody>
      </p:sp>
      <p:sp>
        <p:nvSpPr>
          <p:cNvPr id="14" name="Text 12"/>
          <p:cNvSpPr/>
          <p:nvPr/>
        </p:nvSpPr>
        <p:spPr>
          <a:xfrm>
            <a:off x="1078992" y="1536192"/>
            <a:ext cx="6858000" cy="237744"/>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Example: sodium carbonate solution reacts with hydrochloric acid.</a:t>
            </a:r>
            <a:endParaRPr lang="en-US" sz="1050" dirty="0"/>
          </a:p>
        </p:txBody>
      </p:sp>
      <p:sp>
        <p:nvSpPr>
          <p:cNvPr id="15" name="Text 13"/>
          <p:cNvSpPr/>
          <p:nvPr/>
        </p:nvSpPr>
        <p:spPr>
          <a:xfrm>
            <a:off x="1078992" y="1792224"/>
            <a:ext cx="6949440" cy="347472"/>
          </a:xfrm>
          <a:prstGeom prst="rect">
            <a:avLst/>
          </a:prstGeom>
          <a:noFill/>
          <a:ln/>
        </p:spPr>
        <p:txBody>
          <a:bodyPr wrap="square" lIns="0" tIns="0" rIns="0" bIns="0" rtlCol="0" anchor="ctr"/>
          <a:lstStyle/>
          <a:p>
            <a:pPr indent="0" marL="0">
              <a:buNone/>
            </a:pPr>
            <a:r>
              <a:rPr lang="en-US" sz="1200" b="1" dirty="0">
                <a:solidFill>
                  <a:srgbClr val="2A1F3D"/>
                </a:solidFill>
                <a:latin typeface="Calibri" pitchFamily="34" charset="0"/>
                <a:ea typeface="Calibri" pitchFamily="34" charset="-122"/>
                <a:cs typeface="Calibri" pitchFamily="34" charset="-120"/>
              </a:rPr>
              <a:t>Na₂CO₃(aq)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2HCl(aq)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2NaCl(aq)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H₂O(l)</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CO₂(g)</a:t>
            </a:r>
            <a:endParaRPr lang="en-US" sz="1200" dirty="0"/>
          </a:p>
        </p:txBody>
      </p:sp>
      <p:sp>
        <p:nvSpPr>
          <p:cNvPr id="16" name="Shape 14"/>
          <p:cNvSpPr/>
          <p:nvPr/>
        </p:nvSpPr>
        <p:spPr>
          <a:xfrm>
            <a:off x="411480" y="2286000"/>
            <a:ext cx="7680960" cy="1005840"/>
          </a:xfrm>
          <a:prstGeom prst="roundRect">
            <a:avLst>
              <a:gd name="adj" fmla="val 4545"/>
            </a:avLst>
          </a:prstGeom>
          <a:solidFill>
            <a:srgbClr val="F8F5FC"/>
          </a:solidFill>
          <a:ln w="12700">
            <a:solidFill>
              <a:srgbClr val="DDD3EC"/>
            </a:solidFill>
            <a:prstDash val="solid"/>
          </a:ln>
        </p:spPr>
      </p:sp>
      <p:sp>
        <p:nvSpPr>
          <p:cNvPr id="17" name="Shape 15"/>
          <p:cNvSpPr/>
          <p:nvPr/>
        </p:nvSpPr>
        <p:spPr>
          <a:xfrm>
            <a:off x="548640" y="2395728"/>
            <a:ext cx="365760" cy="365760"/>
          </a:xfrm>
          <a:prstGeom prst="ellipse">
            <a:avLst/>
          </a:prstGeom>
          <a:solidFill>
            <a:srgbClr val="6A3FA0"/>
          </a:solidFill>
          <a:ln w="19050">
            <a:solidFill>
              <a:srgbClr val="FFFFFF"/>
            </a:solidFill>
            <a:prstDash val="solid"/>
          </a:ln>
        </p:spPr>
      </p:sp>
      <p:sp>
        <p:nvSpPr>
          <p:cNvPr id="18" name="Text 16"/>
          <p:cNvSpPr/>
          <p:nvPr/>
        </p:nvSpPr>
        <p:spPr>
          <a:xfrm>
            <a:off x="548640" y="2395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7"/>
          <p:cNvSpPr/>
          <p:nvPr/>
        </p:nvSpPr>
        <p:spPr>
          <a:xfrm>
            <a:off x="1078992" y="2359152"/>
            <a:ext cx="6858000" cy="274320"/>
          </a:xfrm>
          <a:prstGeom prst="rect">
            <a:avLst/>
          </a:prstGeom>
          <a:noFill/>
          <a:ln/>
        </p:spPr>
        <p:txBody>
          <a:bodyPr wrap="square" lIns="0" tIns="0" rIns="0" bIns="0" rtlCol="0" anchor="ctr"/>
          <a:lstStyle/>
          <a:p>
            <a:pPr algn="l" indent="0" marL="0">
              <a:buNone/>
            </a:pPr>
            <a:r>
              <a:rPr lang="en-US" sz="1250" b="1" dirty="0">
                <a:solidFill>
                  <a:srgbClr val="2A1F3D"/>
                </a:solidFill>
                <a:latin typeface="Calibri" pitchFamily="34" charset="0"/>
                <a:ea typeface="Calibri" pitchFamily="34" charset="-122"/>
                <a:cs typeface="Calibri" pitchFamily="34" charset="-120"/>
              </a:rPr>
              <a:t>Split every (aq) ionic compound into its ions</a:t>
            </a:r>
            <a:endParaRPr lang="en-US" sz="1250" dirty="0"/>
          </a:p>
        </p:txBody>
      </p:sp>
      <p:sp>
        <p:nvSpPr>
          <p:cNvPr id="20" name="Text 18"/>
          <p:cNvSpPr/>
          <p:nvPr/>
        </p:nvSpPr>
        <p:spPr>
          <a:xfrm>
            <a:off x="1078992" y="2633472"/>
            <a:ext cx="6858000" cy="237744"/>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Keep solids (s), liquids (l), gases (g), water and covalent molecules (CO₂, H₂) whole.</a:t>
            </a:r>
            <a:endParaRPr lang="en-US" sz="1050" dirty="0"/>
          </a:p>
        </p:txBody>
      </p:sp>
      <p:sp>
        <p:nvSpPr>
          <p:cNvPr id="21" name="Text 19"/>
          <p:cNvSpPr/>
          <p:nvPr/>
        </p:nvSpPr>
        <p:spPr>
          <a:xfrm>
            <a:off x="1078992" y="2889504"/>
            <a:ext cx="6949440" cy="347472"/>
          </a:xfrm>
          <a:prstGeom prst="rect">
            <a:avLst/>
          </a:prstGeom>
          <a:noFill/>
          <a:ln/>
        </p:spPr>
        <p:txBody>
          <a:bodyPr wrap="square" lIns="0" tIns="0" rIns="0" bIns="0" rtlCol="0" anchor="ctr"/>
          <a:lstStyle/>
          <a:p>
            <a:pPr indent="0" marL="0">
              <a:buNone/>
            </a:pPr>
            <a:r>
              <a:rPr lang="en-US" sz="1200" b="1" dirty="0">
                <a:solidFill>
                  <a:srgbClr val="2A1F3D"/>
                </a:solidFill>
                <a:latin typeface="Calibri" pitchFamily="34" charset="0"/>
                <a:ea typeface="Calibri" pitchFamily="34" charset="-122"/>
                <a:cs typeface="Calibri" pitchFamily="34" charset="-120"/>
              </a:rPr>
              <a:t>2Na⁺(aq)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CO₃²⁻(aq)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2H⁺(aq)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2Cl⁻(aq)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2Na⁺(aq)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2Cl⁻(aq)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H₂O(l)</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CO₂(g)</a:t>
            </a:r>
            <a:endParaRPr lang="en-US" sz="1200" dirty="0"/>
          </a:p>
        </p:txBody>
      </p:sp>
      <p:sp>
        <p:nvSpPr>
          <p:cNvPr id="22" name="Shape 20"/>
          <p:cNvSpPr/>
          <p:nvPr/>
        </p:nvSpPr>
        <p:spPr>
          <a:xfrm>
            <a:off x="411480" y="3383280"/>
            <a:ext cx="7680960" cy="1005840"/>
          </a:xfrm>
          <a:prstGeom prst="roundRect">
            <a:avLst>
              <a:gd name="adj" fmla="val 4545"/>
            </a:avLst>
          </a:prstGeom>
          <a:solidFill>
            <a:srgbClr val="F8F5FC"/>
          </a:solidFill>
          <a:ln w="12700">
            <a:solidFill>
              <a:srgbClr val="DDD3EC"/>
            </a:solidFill>
            <a:prstDash val="solid"/>
          </a:ln>
        </p:spPr>
      </p:sp>
      <p:sp>
        <p:nvSpPr>
          <p:cNvPr id="23" name="Shape 21"/>
          <p:cNvSpPr/>
          <p:nvPr/>
        </p:nvSpPr>
        <p:spPr>
          <a:xfrm>
            <a:off x="548640" y="3493008"/>
            <a:ext cx="365760" cy="365760"/>
          </a:xfrm>
          <a:prstGeom prst="ellipse">
            <a:avLst/>
          </a:prstGeom>
          <a:solidFill>
            <a:srgbClr val="6A3FA0"/>
          </a:solidFill>
          <a:ln w="19050">
            <a:solidFill>
              <a:srgbClr val="FFFFFF"/>
            </a:solidFill>
            <a:prstDash val="solid"/>
          </a:ln>
        </p:spPr>
      </p:sp>
      <p:sp>
        <p:nvSpPr>
          <p:cNvPr id="24" name="Text 22"/>
          <p:cNvSpPr/>
          <p:nvPr/>
        </p:nvSpPr>
        <p:spPr>
          <a:xfrm>
            <a:off x="548640" y="34930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1078992" y="3456432"/>
            <a:ext cx="6858000" cy="274320"/>
          </a:xfrm>
          <a:prstGeom prst="rect">
            <a:avLst/>
          </a:prstGeom>
          <a:noFill/>
          <a:ln/>
        </p:spPr>
        <p:txBody>
          <a:bodyPr wrap="square" lIns="0" tIns="0" rIns="0" bIns="0" rtlCol="0" anchor="ctr"/>
          <a:lstStyle/>
          <a:p>
            <a:pPr algn="l" indent="0" marL="0">
              <a:buNone/>
            </a:pPr>
            <a:r>
              <a:rPr lang="en-US" sz="1250" b="1" dirty="0">
                <a:solidFill>
                  <a:srgbClr val="2A1F3D"/>
                </a:solidFill>
                <a:latin typeface="Calibri" pitchFamily="34" charset="0"/>
                <a:ea typeface="Calibri" pitchFamily="34" charset="-122"/>
                <a:cs typeface="Calibri" pitchFamily="34" charset="-120"/>
              </a:rPr>
              <a:t>Cross out the ions that are identical on both sides</a:t>
            </a:r>
            <a:endParaRPr lang="en-US" sz="1250" dirty="0"/>
          </a:p>
        </p:txBody>
      </p:sp>
      <p:sp>
        <p:nvSpPr>
          <p:cNvPr id="26" name="Text 24"/>
          <p:cNvSpPr/>
          <p:nvPr/>
        </p:nvSpPr>
        <p:spPr>
          <a:xfrm>
            <a:off x="1078992" y="3730752"/>
            <a:ext cx="6858000" cy="237744"/>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These are the spectator ions: 2Na⁺(aq) and 2Cl⁻(aq).</a:t>
            </a:r>
            <a:endParaRPr lang="en-US" sz="1050" dirty="0"/>
          </a:p>
        </p:txBody>
      </p:sp>
      <p:sp>
        <p:nvSpPr>
          <p:cNvPr id="27" name="Text 25"/>
          <p:cNvSpPr/>
          <p:nvPr/>
        </p:nvSpPr>
        <p:spPr>
          <a:xfrm>
            <a:off x="1078992" y="3986784"/>
            <a:ext cx="6949440" cy="347472"/>
          </a:xfrm>
          <a:prstGeom prst="rect">
            <a:avLst/>
          </a:prstGeom>
          <a:noFill/>
          <a:ln/>
        </p:spPr>
        <p:txBody>
          <a:bodyPr wrap="square" lIns="0" tIns="0" rIns="0" bIns="0" rtlCol="0" anchor="ctr"/>
          <a:lstStyle/>
          <a:p>
            <a:pPr indent="0" marL="0">
              <a:buNone/>
            </a:pPr>
            <a:r>
              <a:rPr lang="en-US" sz="1200" b="1" strike="sngStrike" dirty="0">
                <a:solidFill>
                  <a:srgbClr val="C8414C"/>
                </a:solidFill>
                <a:latin typeface="Calibri" pitchFamily="34" charset="0"/>
                <a:ea typeface="Calibri" pitchFamily="34" charset="-122"/>
                <a:cs typeface="Calibri" pitchFamily="34" charset="-120"/>
              </a:rPr>
              <a:t>2Na⁺(aq)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CO₃²⁻(aq)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2H⁺(aq)</a:t>
            </a:r>
            <a:r>
              <a:rPr lang="en-US" sz="1200" b="1" dirty="0">
                <a:solidFill>
                  <a:srgbClr val="2A1F3D"/>
                </a:solidFill>
                <a:latin typeface="Calibri" pitchFamily="34" charset="0"/>
                <a:ea typeface="Calibri" pitchFamily="34" charset="-122"/>
                <a:cs typeface="Calibri" pitchFamily="34" charset="-120"/>
              </a:rPr>
              <a:t> + </a:t>
            </a:r>
            <a:r>
              <a:rPr lang="en-US" sz="1200" b="1" strike="sngStrike" dirty="0">
                <a:solidFill>
                  <a:srgbClr val="C8414C"/>
                </a:solidFill>
                <a:latin typeface="Calibri" pitchFamily="34" charset="0"/>
                <a:ea typeface="Calibri" pitchFamily="34" charset="-122"/>
                <a:cs typeface="Calibri" pitchFamily="34" charset="-120"/>
              </a:rPr>
              <a:t>2Cl⁻(aq)</a:t>
            </a:r>
            <a:r>
              <a:rPr lang="en-US" sz="1200" b="1" dirty="0">
                <a:solidFill>
                  <a:srgbClr val="2A1F3D"/>
                </a:solidFill>
                <a:latin typeface="Calibri" pitchFamily="34" charset="0"/>
                <a:ea typeface="Calibri" pitchFamily="34" charset="-122"/>
                <a:cs typeface="Calibri" pitchFamily="34" charset="-120"/>
              </a:rPr>
              <a:t> → </a:t>
            </a:r>
            <a:r>
              <a:rPr lang="en-US" sz="1200" b="1" strike="sngStrike" dirty="0">
                <a:solidFill>
                  <a:srgbClr val="C8414C"/>
                </a:solidFill>
                <a:latin typeface="Calibri" pitchFamily="34" charset="0"/>
                <a:ea typeface="Calibri" pitchFamily="34" charset="-122"/>
                <a:cs typeface="Calibri" pitchFamily="34" charset="-120"/>
              </a:rPr>
              <a:t>2Na⁺(aq)</a:t>
            </a:r>
            <a:r>
              <a:rPr lang="en-US" sz="1200" b="1" dirty="0">
                <a:solidFill>
                  <a:srgbClr val="2A1F3D"/>
                </a:solidFill>
                <a:latin typeface="Calibri" pitchFamily="34" charset="0"/>
                <a:ea typeface="Calibri" pitchFamily="34" charset="-122"/>
                <a:cs typeface="Calibri" pitchFamily="34" charset="-120"/>
              </a:rPr>
              <a:t> + </a:t>
            </a:r>
            <a:r>
              <a:rPr lang="en-US" sz="1200" b="1" strike="sngStrike" dirty="0">
                <a:solidFill>
                  <a:srgbClr val="C8414C"/>
                </a:solidFill>
                <a:latin typeface="Calibri" pitchFamily="34" charset="0"/>
                <a:ea typeface="Calibri" pitchFamily="34" charset="-122"/>
                <a:cs typeface="Calibri" pitchFamily="34" charset="-120"/>
              </a:rPr>
              <a:t>2Cl⁻(aq)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H₂O(l)</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CO₂(g)</a:t>
            </a:r>
            <a:endParaRPr lang="en-US" sz="1200" dirty="0"/>
          </a:p>
        </p:txBody>
      </p:sp>
      <p:sp>
        <p:nvSpPr>
          <p:cNvPr id="28" name="Shape 26"/>
          <p:cNvSpPr/>
          <p:nvPr/>
        </p:nvSpPr>
        <p:spPr>
          <a:xfrm>
            <a:off x="411480" y="4480560"/>
            <a:ext cx="7680960" cy="1005840"/>
          </a:xfrm>
          <a:prstGeom prst="roundRect">
            <a:avLst>
              <a:gd name="adj" fmla="val 4545"/>
            </a:avLst>
          </a:prstGeom>
          <a:solidFill>
            <a:srgbClr val="FBE3E4"/>
          </a:solidFill>
          <a:ln w="12700">
            <a:solidFill>
              <a:srgbClr val="E8B4B8"/>
            </a:solidFill>
            <a:prstDash val="solid"/>
          </a:ln>
        </p:spPr>
      </p:sp>
      <p:sp>
        <p:nvSpPr>
          <p:cNvPr id="29" name="Shape 27"/>
          <p:cNvSpPr/>
          <p:nvPr/>
        </p:nvSpPr>
        <p:spPr>
          <a:xfrm>
            <a:off x="548640" y="4590288"/>
            <a:ext cx="365760" cy="365760"/>
          </a:xfrm>
          <a:prstGeom prst="ellipse">
            <a:avLst/>
          </a:prstGeom>
          <a:solidFill>
            <a:srgbClr val="6A3FA0"/>
          </a:solidFill>
          <a:ln w="19050">
            <a:solidFill>
              <a:srgbClr val="FFFFFF"/>
            </a:solidFill>
            <a:prstDash val="solid"/>
          </a:ln>
        </p:spPr>
      </p:sp>
      <p:sp>
        <p:nvSpPr>
          <p:cNvPr id="30" name="Text 28"/>
          <p:cNvSpPr/>
          <p:nvPr/>
        </p:nvSpPr>
        <p:spPr>
          <a:xfrm>
            <a:off x="548640" y="45902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 29"/>
          <p:cNvSpPr/>
          <p:nvPr/>
        </p:nvSpPr>
        <p:spPr>
          <a:xfrm>
            <a:off x="1078992" y="4553712"/>
            <a:ext cx="6858000" cy="274320"/>
          </a:xfrm>
          <a:prstGeom prst="rect">
            <a:avLst/>
          </a:prstGeom>
          <a:noFill/>
          <a:ln/>
        </p:spPr>
        <p:txBody>
          <a:bodyPr wrap="square" lIns="0" tIns="0" rIns="0" bIns="0" rtlCol="0" anchor="ctr"/>
          <a:lstStyle/>
          <a:p>
            <a:pPr algn="l" indent="0" marL="0">
              <a:buNone/>
            </a:pPr>
            <a:r>
              <a:rPr lang="en-US" sz="1250" b="1" dirty="0">
                <a:solidFill>
                  <a:srgbClr val="2A1F3D"/>
                </a:solidFill>
                <a:latin typeface="Calibri" pitchFamily="34" charset="0"/>
                <a:ea typeface="Calibri" pitchFamily="34" charset="-122"/>
                <a:cs typeface="Calibri" pitchFamily="34" charset="-120"/>
              </a:rPr>
              <a:t>Write what is left, then check atoms AND charges</a:t>
            </a:r>
            <a:endParaRPr lang="en-US" sz="1250" dirty="0"/>
          </a:p>
        </p:txBody>
      </p:sp>
      <p:sp>
        <p:nvSpPr>
          <p:cNvPr id="32" name="Text 30"/>
          <p:cNvSpPr/>
          <p:nvPr/>
        </p:nvSpPr>
        <p:spPr>
          <a:xfrm>
            <a:off x="1078992" y="4828032"/>
            <a:ext cx="6858000" cy="237744"/>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C 1 = 1,  O 3 = 3,  H 2 = 2;   charge: (−2) + 2(+1) = 0 on the left, 0 on the right ✓</a:t>
            </a:r>
            <a:endParaRPr lang="en-US" sz="1050" dirty="0"/>
          </a:p>
        </p:txBody>
      </p:sp>
      <p:sp>
        <p:nvSpPr>
          <p:cNvPr id="33" name="Text 31"/>
          <p:cNvSpPr/>
          <p:nvPr/>
        </p:nvSpPr>
        <p:spPr>
          <a:xfrm>
            <a:off x="1078992" y="5084064"/>
            <a:ext cx="6949440" cy="347472"/>
          </a:xfrm>
          <a:prstGeom prst="rect">
            <a:avLst/>
          </a:prstGeom>
          <a:noFill/>
          <a:ln/>
        </p:spPr>
        <p:txBody>
          <a:bodyPr wrap="square" lIns="0" tIns="0" rIns="0" bIns="0" rtlCol="0" anchor="ctr"/>
          <a:lstStyle/>
          <a:p>
            <a:pPr indent="0" marL="0">
              <a:buNone/>
            </a:pPr>
            <a:r>
              <a:rPr lang="en-US" sz="1300" b="1" dirty="0">
                <a:solidFill>
                  <a:srgbClr val="C8414C"/>
                </a:solidFill>
                <a:latin typeface="Calibri" pitchFamily="34" charset="0"/>
                <a:ea typeface="Calibri" pitchFamily="34" charset="-122"/>
                <a:cs typeface="Calibri" pitchFamily="34" charset="-120"/>
              </a:rPr>
              <a:t>CO₃²⁻(aq)</a:t>
            </a:r>
            <a:r>
              <a:rPr lang="en-US" sz="1300" b="1" dirty="0">
                <a:solidFill>
                  <a:srgbClr val="C8414C"/>
                </a:solidFill>
                <a:latin typeface="Calibri" pitchFamily="34" charset="0"/>
                <a:ea typeface="Calibri" pitchFamily="34" charset="-122"/>
                <a:cs typeface="Calibri" pitchFamily="34" charset="-120"/>
              </a:rPr>
              <a:t> + </a:t>
            </a:r>
            <a:r>
              <a:rPr lang="en-US" sz="1300" b="1" dirty="0">
                <a:solidFill>
                  <a:srgbClr val="C8414C"/>
                </a:solidFill>
                <a:latin typeface="Calibri" pitchFamily="34" charset="0"/>
                <a:ea typeface="Calibri" pitchFamily="34" charset="-122"/>
                <a:cs typeface="Calibri" pitchFamily="34" charset="-120"/>
              </a:rPr>
              <a:t>2H⁺(aq)</a:t>
            </a:r>
            <a:r>
              <a:rPr lang="en-US" sz="1300" b="1" dirty="0">
                <a:solidFill>
                  <a:srgbClr val="C8414C"/>
                </a:solidFill>
                <a:latin typeface="Calibri" pitchFamily="34" charset="0"/>
                <a:ea typeface="Calibri" pitchFamily="34" charset="-122"/>
                <a:cs typeface="Calibri" pitchFamily="34" charset="-120"/>
              </a:rPr>
              <a:t> → </a:t>
            </a:r>
            <a:r>
              <a:rPr lang="en-US" sz="1300" b="1" dirty="0">
                <a:solidFill>
                  <a:srgbClr val="C8414C"/>
                </a:solidFill>
                <a:latin typeface="Calibri" pitchFamily="34" charset="0"/>
                <a:ea typeface="Calibri" pitchFamily="34" charset="-122"/>
                <a:cs typeface="Calibri" pitchFamily="34" charset="-120"/>
              </a:rPr>
              <a:t>H₂O(l)</a:t>
            </a:r>
            <a:r>
              <a:rPr lang="en-US" sz="1300" b="1" dirty="0">
                <a:solidFill>
                  <a:srgbClr val="C8414C"/>
                </a:solidFill>
                <a:latin typeface="Calibri" pitchFamily="34" charset="0"/>
                <a:ea typeface="Calibri" pitchFamily="34" charset="-122"/>
                <a:cs typeface="Calibri" pitchFamily="34" charset="-120"/>
              </a:rPr>
              <a:t> + </a:t>
            </a:r>
            <a:r>
              <a:rPr lang="en-US" sz="1300" b="1" dirty="0">
                <a:solidFill>
                  <a:srgbClr val="C8414C"/>
                </a:solidFill>
                <a:latin typeface="Calibri" pitchFamily="34" charset="0"/>
                <a:ea typeface="Calibri" pitchFamily="34" charset="-122"/>
                <a:cs typeface="Calibri" pitchFamily="34" charset="-120"/>
              </a:rPr>
              <a:t>CO₂(g)</a:t>
            </a:r>
            <a:endParaRPr lang="en-US" sz="1300" dirty="0"/>
          </a:p>
        </p:txBody>
      </p:sp>
      <p:sp>
        <p:nvSpPr>
          <p:cNvPr id="34" name="Shape 32"/>
          <p:cNvSpPr/>
          <p:nvPr/>
        </p:nvSpPr>
        <p:spPr>
          <a:xfrm>
            <a:off x="8275320" y="1188720"/>
            <a:ext cx="3502152" cy="2697480"/>
          </a:xfrm>
          <a:prstGeom prst="roundRect">
            <a:avLst>
              <a:gd name="adj" fmla="val 2034"/>
            </a:avLst>
          </a:prstGeom>
          <a:solidFill>
            <a:srgbClr val="F8F5FC"/>
          </a:solidFill>
          <a:ln w="9525">
            <a:solidFill>
              <a:srgbClr val="DDD3EC"/>
            </a:solidFill>
            <a:prstDash val="solid"/>
          </a:ln>
        </p:spPr>
      </p:sp>
      <p:sp>
        <p:nvSpPr>
          <p:cNvPr id="35" name="Text 33"/>
          <p:cNvSpPr/>
          <p:nvPr/>
        </p:nvSpPr>
        <p:spPr>
          <a:xfrm>
            <a:off x="8439912" y="1280160"/>
            <a:ext cx="31729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Golden rules</a:t>
            </a:r>
            <a:endParaRPr lang="en-US" sz="1300" dirty="0"/>
          </a:p>
        </p:txBody>
      </p:sp>
      <p:sp>
        <p:nvSpPr>
          <p:cNvPr id="36" name="Text 34"/>
          <p:cNvSpPr/>
          <p:nvPr/>
        </p:nvSpPr>
        <p:spPr>
          <a:xfrm>
            <a:off x="8439912" y="1609344"/>
            <a:ext cx="3172968" cy="220370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Only split </a:t>
            </a:r>
            <a:r>
              <a:rPr lang="en-US" sz="1100" b="1" dirty="0">
                <a:solidFill>
                  <a:srgbClr val="262B3A"/>
                </a:solidFill>
                <a:latin typeface="Calibri" pitchFamily="34" charset="0"/>
                <a:ea typeface="Calibri" pitchFamily="34" charset="-122"/>
                <a:cs typeface="Calibri" pitchFamily="34" charset="-120"/>
              </a:rPr>
              <a:t>aqueous ionic</a:t>
            </a:r>
            <a:r>
              <a:rPr lang="en-US" sz="1100" dirty="0">
                <a:solidFill>
                  <a:srgbClr val="262B3A"/>
                </a:solidFill>
                <a:latin typeface="Calibri" pitchFamily="34" charset="0"/>
                <a:ea typeface="Calibri" pitchFamily="34" charset="-122"/>
                <a:cs typeface="Calibri" pitchFamily="34" charset="-120"/>
              </a:rPr>
              <a:t> compounds: acids, alkalis, soluble salts.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Never split</a:t>
            </a:r>
            <a:r>
              <a:rPr lang="en-US" sz="1100" dirty="0">
                <a:solidFill>
                  <a:srgbClr val="262B3A"/>
                </a:solidFill>
                <a:latin typeface="Calibri" pitchFamily="34" charset="0"/>
                <a:ea typeface="Calibri" pitchFamily="34" charset="-122"/>
                <a:cs typeface="Calibri" pitchFamily="34" charset="-120"/>
              </a:rPr>
              <a:t> (s), (l), (g), H₂O or CO₂.</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Polyatomic ions stay whole: </a:t>
            </a:r>
            <a:r>
              <a:rPr lang="en-US" sz="1100" b="1" dirty="0">
                <a:solidFill>
                  <a:srgbClr val="262B3A"/>
                </a:solidFill>
                <a:latin typeface="Calibri" pitchFamily="34" charset="0"/>
                <a:ea typeface="Calibri" pitchFamily="34" charset="-122"/>
                <a:cs typeface="Calibri" pitchFamily="34" charset="-120"/>
              </a:rPr>
              <a:t>SO₄²⁻, NO₃⁻, CO₃²⁻, OH⁻</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Coefficients carry over: </a:t>
            </a:r>
            <a:r>
              <a:rPr lang="en-US" sz="1100" b="1" dirty="0">
                <a:solidFill>
                  <a:srgbClr val="262B3A"/>
                </a:solidFill>
                <a:latin typeface="Calibri" pitchFamily="34" charset="0"/>
                <a:ea typeface="Calibri" pitchFamily="34" charset="-122"/>
                <a:cs typeface="Calibri" pitchFamily="34" charset="-120"/>
              </a:rPr>
              <a:t>Na₂CO₃ → 2Na⁺ + CO₃²⁻</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Cancel </a:t>
            </a:r>
            <a:r>
              <a:rPr lang="en-US" sz="1100" b="1" dirty="0">
                <a:solidFill>
                  <a:srgbClr val="262B3A"/>
                </a:solidFill>
                <a:latin typeface="Calibri" pitchFamily="34" charset="0"/>
                <a:ea typeface="Calibri" pitchFamily="34" charset="-122"/>
                <a:cs typeface="Calibri" pitchFamily="34" charset="-120"/>
              </a:rPr>
              <a:t>only</a:t>
            </a:r>
            <a:r>
              <a:rPr lang="en-US" sz="1100" dirty="0">
                <a:solidFill>
                  <a:srgbClr val="262B3A"/>
                </a:solidFill>
                <a:latin typeface="Calibri" pitchFamily="34" charset="0"/>
                <a:ea typeface="Calibri" pitchFamily="34" charset="-122"/>
                <a:cs typeface="Calibri" pitchFamily="34" charset="-120"/>
              </a:rPr>
              <a:t> ions that are identical on both sides.</a:t>
            </a:r>
            <a:endParaRPr lang="en-US" sz="1100" dirty="0"/>
          </a:p>
        </p:txBody>
      </p:sp>
      <p:sp>
        <p:nvSpPr>
          <p:cNvPr id="37" name="Shape 35"/>
          <p:cNvSpPr/>
          <p:nvPr/>
        </p:nvSpPr>
        <p:spPr>
          <a:xfrm>
            <a:off x="8275320" y="4023360"/>
            <a:ext cx="3502152" cy="1463040"/>
          </a:xfrm>
          <a:prstGeom prst="roundRect">
            <a:avLst>
              <a:gd name="adj" fmla="val 3750"/>
            </a:avLst>
          </a:prstGeom>
          <a:solidFill>
            <a:srgbClr val="F8F5FC"/>
          </a:solidFill>
          <a:ln w="9525">
            <a:solidFill>
              <a:srgbClr val="DDD3EC"/>
            </a:solidFill>
            <a:prstDash val="solid"/>
          </a:ln>
        </p:spPr>
      </p:sp>
      <p:sp>
        <p:nvSpPr>
          <p:cNvPr id="38" name="Text 36"/>
          <p:cNvSpPr/>
          <p:nvPr/>
        </p:nvSpPr>
        <p:spPr>
          <a:xfrm>
            <a:off x="8439912" y="4114800"/>
            <a:ext cx="31729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Spectator ions</a:t>
            </a:r>
            <a:endParaRPr lang="en-US" sz="1300" dirty="0"/>
          </a:p>
        </p:txBody>
      </p:sp>
      <p:sp>
        <p:nvSpPr>
          <p:cNvPr id="39" name="Text 37"/>
          <p:cNvSpPr/>
          <p:nvPr/>
        </p:nvSpPr>
        <p:spPr>
          <a:xfrm>
            <a:off x="8439912" y="4443984"/>
            <a:ext cx="3172968" cy="969264"/>
          </a:xfrm>
          <a:prstGeom prst="rect">
            <a:avLst/>
          </a:prstGeom>
          <a:noFill/>
          <a:ln/>
        </p:spPr>
        <p:txBody>
          <a:bodyPr wrap="square" lIns="0" tIns="0" rIns="0" bIns="0" rtlCol="0" anchor="t"/>
          <a:lstStyle/>
          <a:p>
            <a:pPr indent="0" marL="0">
              <a:spcAft>
                <a:spcPts val="300"/>
              </a:spcAft>
              <a:buNone/>
            </a:pPr>
            <a:r>
              <a:rPr lang="en-US" sz="1100" dirty="0">
                <a:solidFill>
                  <a:srgbClr val="262B3A"/>
                </a:solidFill>
                <a:latin typeface="Calibri" pitchFamily="34" charset="0"/>
                <a:ea typeface="Calibri" pitchFamily="34" charset="-122"/>
                <a:cs typeface="Calibri" pitchFamily="34" charset="-120"/>
              </a:rPr>
              <a:t>Ions that are in the mixture but </a:t>
            </a:r>
            <a:r>
              <a:rPr lang="en-US" sz="1100" b="1" dirty="0">
                <a:solidFill>
                  <a:srgbClr val="262B3A"/>
                </a:solidFill>
                <a:latin typeface="Calibri" pitchFamily="34" charset="0"/>
                <a:ea typeface="Calibri" pitchFamily="34" charset="-122"/>
                <a:cs typeface="Calibri" pitchFamily="34" charset="-120"/>
              </a:rPr>
              <a:t>do not take part</a:t>
            </a:r>
            <a:r>
              <a:rPr lang="en-US" sz="1100" dirty="0">
                <a:solidFill>
                  <a:srgbClr val="262B3A"/>
                </a:solidFill>
                <a:latin typeface="Calibri" pitchFamily="34" charset="0"/>
                <a:ea typeface="Calibri" pitchFamily="34" charset="-122"/>
                <a:cs typeface="Calibri" pitchFamily="34" charset="-120"/>
              </a:rPr>
              <a:t>: they are the same, in the same state, on both sides.</a:t>
            </a:r>
            <a:endParaRPr lang="en-US" sz="1100" dirty="0"/>
          </a:p>
        </p:txBody>
      </p:sp>
      <p:sp>
        <p:nvSpPr>
          <p:cNvPr id="40" name="Shape 38"/>
          <p:cNvSpPr/>
          <p:nvPr/>
        </p:nvSpPr>
        <p:spPr>
          <a:xfrm>
            <a:off x="411480" y="5833872"/>
            <a:ext cx="11368735" cy="530352"/>
          </a:xfrm>
          <a:prstGeom prst="rect">
            <a:avLst/>
          </a:prstGeom>
          <a:solidFill>
            <a:srgbClr val="FFF4E0"/>
          </a:solidFill>
          <a:ln w="6350">
            <a:solidFill>
              <a:srgbClr val="F1D9A8"/>
            </a:solidFill>
            <a:prstDash val="solid"/>
          </a:ln>
        </p:spPr>
      </p:sp>
      <p:sp>
        <p:nvSpPr>
          <p:cNvPr id="41" name="Shape 39"/>
          <p:cNvSpPr/>
          <p:nvPr/>
        </p:nvSpPr>
        <p:spPr>
          <a:xfrm>
            <a:off x="411480" y="5833872"/>
            <a:ext cx="82296" cy="530352"/>
          </a:xfrm>
          <a:prstGeom prst="rect">
            <a:avLst/>
          </a:prstGeom>
          <a:solidFill>
            <a:srgbClr val="E39A2F"/>
          </a:solidFill>
          <a:ln w="12700">
            <a:solidFill>
              <a:srgbClr val="E39A2F"/>
            </a:solidFill>
            <a:prstDash val="solid"/>
          </a:ln>
        </p:spPr>
      </p:sp>
      <p:sp>
        <p:nvSpPr>
          <p:cNvPr id="42" name="Text 4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You try: write the ionic equation, with state symbols, for </a:t>
            </a:r>
            <a:r>
              <a:rPr lang="en-US" sz="1150" b="1" dirty="0">
                <a:solidFill>
                  <a:srgbClr val="262B3A"/>
                </a:solidFill>
                <a:latin typeface="Calibri" pitchFamily="34" charset="0"/>
                <a:ea typeface="Calibri" pitchFamily="34" charset="-122"/>
                <a:cs typeface="Calibri" pitchFamily="34" charset="-120"/>
              </a:rPr>
              <a:t>potassium carbonate</a:t>
            </a:r>
            <a:r>
              <a:rPr lang="en-US" sz="1150" dirty="0">
                <a:solidFill>
                  <a:srgbClr val="262B3A"/>
                </a:solidFill>
                <a:latin typeface="Calibri" pitchFamily="34" charset="0"/>
                <a:ea typeface="Calibri" pitchFamily="34" charset="-122"/>
                <a:cs typeface="Calibri" pitchFamily="34" charset="-120"/>
              </a:rPr>
              <a:t> solution reacting with </a:t>
            </a:r>
            <a:r>
              <a:rPr lang="en-US" sz="1150" b="1" dirty="0">
                <a:solidFill>
                  <a:srgbClr val="262B3A"/>
                </a:solidFill>
                <a:latin typeface="Calibri" pitchFamily="34" charset="0"/>
                <a:ea typeface="Calibri" pitchFamily="34" charset="-122"/>
                <a:cs typeface="Calibri" pitchFamily="34" charset="-120"/>
              </a:rPr>
              <a:t>nitric acid</a:t>
            </a:r>
            <a:r>
              <a:rPr lang="en-US" sz="1150" dirty="0">
                <a:solidFill>
                  <a:srgbClr val="262B3A"/>
                </a:solidFill>
                <a:latin typeface="Calibri" pitchFamily="34" charset="0"/>
                <a:ea typeface="Calibri" pitchFamily="34" charset="-122"/>
                <a:cs typeface="Calibri" pitchFamily="34" charset="-120"/>
              </a:rPr>
              <a:t>. Name the spectator ions.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Ionic equations: three worked examples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0.4, 3.11, 3.14 • same method every time; solids stay whole</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0.4 practice  |  16</a:t>
            </a:r>
            <a:endParaRPr lang="en-US" sz="1000" dirty="0"/>
          </a:p>
        </p:txBody>
      </p:sp>
      <p:sp>
        <p:nvSpPr>
          <p:cNvPr id="10" name="Shape 8"/>
          <p:cNvSpPr/>
          <p:nvPr/>
        </p:nvSpPr>
        <p:spPr>
          <a:xfrm>
            <a:off x="411480" y="1188720"/>
            <a:ext cx="3657600" cy="4526280"/>
          </a:xfrm>
          <a:prstGeom prst="roundRect">
            <a:avLst>
              <a:gd name="adj" fmla="val 1250"/>
            </a:avLst>
          </a:prstGeom>
          <a:solidFill>
            <a:srgbClr val="F8F5FC"/>
          </a:solidFill>
          <a:ln w="12700">
            <a:solidFill>
              <a:srgbClr val="DDD3EC"/>
            </a:solidFill>
            <a:prstDash val="solid"/>
          </a:ln>
        </p:spPr>
      </p:sp>
      <p:sp>
        <p:nvSpPr>
          <p:cNvPr id="11" name="Shape 9"/>
          <p:cNvSpPr/>
          <p:nvPr/>
        </p:nvSpPr>
        <p:spPr>
          <a:xfrm>
            <a:off x="411480" y="1188720"/>
            <a:ext cx="3657600" cy="384048"/>
          </a:xfrm>
          <a:prstGeom prst="roundRect">
            <a:avLst>
              <a:gd name="adj" fmla="val 11905"/>
            </a:avLst>
          </a:prstGeom>
          <a:solidFill>
            <a:srgbClr val="6A3FA0"/>
          </a:solidFill>
          <a:ln/>
        </p:spPr>
      </p:sp>
      <p:sp>
        <p:nvSpPr>
          <p:cNvPr id="12" name="Text 10"/>
          <p:cNvSpPr/>
          <p:nvPr/>
        </p:nvSpPr>
        <p:spPr>
          <a:xfrm>
            <a:off x="521208" y="1188720"/>
            <a:ext cx="3438144"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  Metal + acid</a:t>
            </a:r>
            <a:endParaRPr lang="en-US" sz="1250" dirty="0"/>
          </a:p>
        </p:txBody>
      </p:sp>
      <p:sp>
        <p:nvSpPr>
          <p:cNvPr id="13" name="Text 11"/>
          <p:cNvSpPr/>
          <p:nvPr/>
        </p:nvSpPr>
        <p:spPr>
          <a:xfrm>
            <a:off x="548640" y="1645920"/>
            <a:ext cx="3383280" cy="3995928"/>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1  Full equation</a:t>
            </a:r>
            <a:endParaRPr lang="en-US" sz="1200" dirty="0"/>
          </a:p>
          <a:p>
            <a:pPr indent="0" marL="0">
              <a:buNone/>
            </a:pPr>
            <a:r>
              <a:rPr lang="en-US" sz="1200" b="1" dirty="0">
                <a:solidFill>
                  <a:srgbClr val="2A1F3D"/>
                </a:solidFill>
                <a:latin typeface="Calibri" pitchFamily="34" charset="0"/>
                <a:ea typeface="Calibri" pitchFamily="34" charset="-122"/>
                <a:cs typeface="Calibri" pitchFamily="34" charset="-120"/>
              </a:rPr>
              <a:t>Mg(s)</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2HCl(aq)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MgCl₂(aq)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H₂(g)</a:t>
            </a:r>
            <a:endParaRPr lang="en-US" sz="1200" dirty="0"/>
          </a:p>
          <a:p>
            <a:pPr indent="0" marL="0">
              <a:spcBef>
                <a:spcPts val="1000"/>
              </a:spcBef>
              <a:buNone/>
            </a:pPr>
            <a:r>
              <a:rPr lang="en-US" sz="1200" b="1" dirty="0">
                <a:solidFill>
                  <a:srgbClr val="6A3FA0"/>
                </a:solidFill>
                <a:latin typeface="Calibri" pitchFamily="34" charset="0"/>
                <a:ea typeface="Calibri" pitchFamily="34" charset="-122"/>
                <a:cs typeface="Calibri" pitchFamily="34" charset="-120"/>
              </a:rPr>
              <a:t>2  Split (aq) ionic compounds</a:t>
            </a:r>
            <a:endParaRPr lang="en-US" sz="1200" dirty="0"/>
          </a:p>
          <a:p>
            <a:pPr indent="0" marL="0">
              <a:buNone/>
            </a:pPr>
            <a:r>
              <a:rPr lang="en-US" sz="1200" b="1" dirty="0">
                <a:solidFill>
                  <a:srgbClr val="2A1F3D"/>
                </a:solidFill>
                <a:latin typeface="Calibri" pitchFamily="34" charset="0"/>
                <a:ea typeface="Calibri" pitchFamily="34" charset="-122"/>
                <a:cs typeface="Calibri" pitchFamily="34" charset="-120"/>
              </a:rPr>
              <a:t>Mg(s)</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2H⁺(aq)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2Cl⁻(aq)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Mg²⁺(aq)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2Cl⁻(aq)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H₂(g)</a:t>
            </a:r>
            <a:endParaRPr lang="en-US" sz="1200" dirty="0"/>
          </a:p>
          <a:p>
            <a:pPr indent="0" marL="0">
              <a:spcBef>
                <a:spcPts val="1000"/>
              </a:spcBef>
              <a:buNone/>
            </a:pPr>
            <a:r>
              <a:rPr lang="en-US" sz="1200" b="1" dirty="0">
                <a:solidFill>
                  <a:srgbClr val="6A3FA0"/>
                </a:solidFill>
                <a:latin typeface="Calibri" pitchFamily="34" charset="0"/>
                <a:ea typeface="Calibri" pitchFamily="34" charset="-122"/>
                <a:cs typeface="Calibri" pitchFamily="34" charset="-120"/>
              </a:rPr>
              <a:t>3  Cancel spectator ions</a:t>
            </a:r>
            <a:endParaRPr lang="en-US" sz="1200" dirty="0"/>
          </a:p>
          <a:p>
            <a:pPr indent="0" marL="0">
              <a:buNone/>
            </a:pPr>
            <a:r>
              <a:rPr lang="en-US" sz="1200" b="1" dirty="0">
                <a:solidFill>
                  <a:srgbClr val="2A1F3D"/>
                </a:solidFill>
                <a:latin typeface="Calibri" pitchFamily="34" charset="0"/>
                <a:ea typeface="Calibri" pitchFamily="34" charset="-122"/>
                <a:cs typeface="Calibri" pitchFamily="34" charset="-120"/>
              </a:rPr>
              <a:t>Mg(s)</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2H⁺(aq)</a:t>
            </a:r>
            <a:r>
              <a:rPr lang="en-US" sz="1200" b="1" dirty="0">
                <a:solidFill>
                  <a:srgbClr val="2A1F3D"/>
                </a:solidFill>
                <a:latin typeface="Calibri" pitchFamily="34" charset="0"/>
                <a:ea typeface="Calibri" pitchFamily="34" charset="-122"/>
                <a:cs typeface="Calibri" pitchFamily="34" charset="-120"/>
              </a:rPr>
              <a:t> + </a:t>
            </a:r>
            <a:r>
              <a:rPr lang="en-US" sz="1200" b="1" strike="sngStrike" dirty="0">
                <a:solidFill>
                  <a:srgbClr val="C8414C"/>
                </a:solidFill>
                <a:latin typeface="Calibri" pitchFamily="34" charset="0"/>
                <a:ea typeface="Calibri" pitchFamily="34" charset="-122"/>
                <a:cs typeface="Calibri" pitchFamily="34" charset="-120"/>
              </a:rPr>
              <a:t>2Cl⁻(aq)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Mg²⁺(aq)</a:t>
            </a:r>
            <a:r>
              <a:rPr lang="en-US" sz="1200" b="1" dirty="0">
                <a:solidFill>
                  <a:srgbClr val="2A1F3D"/>
                </a:solidFill>
                <a:latin typeface="Calibri" pitchFamily="34" charset="0"/>
                <a:ea typeface="Calibri" pitchFamily="34" charset="-122"/>
                <a:cs typeface="Calibri" pitchFamily="34" charset="-120"/>
              </a:rPr>
              <a:t> + </a:t>
            </a:r>
            <a:r>
              <a:rPr lang="en-US" sz="1200" b="1" strike="sngStrike" dirty="0">
                <a:solidFill>
                  <a:srgbClr val="C8414C"/>
                </a:solidFill>
                <a:latin typeface="Calibri" pitchFamily="34" charset="0"/>
                <a:ea typeface="Calibri" pitchFamily="34" charset="-122"/>
                <a:cs typeface="Calibri" pitchFamily="34" charset="-120"/>
              </a:rPr>
              <a:t>2Cl⁻(aq)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H₂(g)</a:t>
            </a:r>
            <a:endParaRPr lang="en-US" sz="1200" dirty="0"/>
          </a:p>
          <a:p>
            <a:pPr indent="0" marL="0">
              <a:spcBef>
                <a:spcPts val="1000"/>
              </a:spcBef>
              <a:buNone/>
            </a:pPr>
            <a:r>
              <a:rPr lang="en-US" sz="1200" b="1" dirty="0">
                <a:solidFill>
                  <a:srgbClr val="6A3FA0"/>
                </a:solidFill>
                <a:latin typeface="Calibri" pitchFamily="34" charset="0"/>
                <a:ea typeface="Calibri" pitchFamily="34" charset="-122"/>
                <a:cs typeface="Calibri" pitchFamily="34" charset="-120"/>
              </a:rPr>
              <a:t>4  Ionic equation</a:t>
            </a:r>
            <a:endParaRPr lang="en-US" sz="1200" dirty="0"/>
          </a:p>
          <a:p>
            <a:pPr indent="0" marL="0">
              <a:buNone/>
            </a:pPr>
            <a:r>
              <a:rPr lang="en-US" sz="1200" b="1" dirty="0">
                <a:solidFill>
                  <a:srgbClr val="C8414C"/>
                </a:solidFill>
                <a:latin typeface="Calibri" pitchFamily="34" charset="0"/>
                <a:ea typeface="Calibri" pitchFamily="34" charset="-122"/>
                <a:cs typeface="Calibri" pitchFamily="34" charset="-120"/>
              </a:rPr>
              <a:t>Mg(s)</a:t>
            </a:r>
            <a:r>
              <a:rPr lang="en-US" sz="1200" b="1" dirty="0">
                <a:solidFill>
                  <a:srgbClr val="C8414C"/>
                </a:solidFill>
                <a:latin typeface="Calibri" pitchFamily="34" charset="0"/>
                <a:ea typeface="Calibri" pitchFamily="34" charset="-122"/>
                <a:cs typeface="Calibri" pitchFamily="34" charset="-120"/>
              </a:rPr>
              <a:t> + </a:t>
            </a:r>
            <a:r>
              <a:rPr lang="en-US" sz="1200" b="1" dirty="0">
                <a:solidFill>
                  <a:srgbClr val="C8414C"/>
                </a:solidFill>
                <a:latin typeface="Calibri" pitchFamily="34" charset="0"/>
                <a:ea typeface="Calibri" pitchFamily="34" charset="-122"/>
                <a:cs typeface="Calibri" pitchFamily="34" charset="-120"/>
              </a:rPr>
              <a:t>2H⁺(aq)</a:t>
            </a:r>
            <a:r>
              <a:rPr lang="en-US" sz="1200" b="1" dirty="0">
                <a:solidFill>
                  <a:srgbClr val="C8414C"/>
                </a:solidFill>
                <a:latin typeface="Calibri" pitchFamily="34" charset="0"/>
                <a:ea typeface="Calibri" pitchFamily="34" charset="-122"/>
                <a:cs typeface="Calibri" pitchFamily="34" charset="-120"/>
              </a:rPr>
              <a:t> → </a:t>
            </a:r>
            <a:r>
              <a:rPr lang="en-US" sz="1200" b="1" dirty="0">
                <a:solidFill>
                  <a:srgbClr val="C8414C"/>
                </a:solidFill>
                <a:latin typeface="Calibri" pitchFamily="34" charset="0"/>
                <a:ea typeface="Calibri" pitchFamily="34" charset="-122"/>
                <a:cs typeface="Calibri" pitchFamily="34" charset="-120"/>
              </a:rPr>
              <a:t>Mg²⁺(aq)</a:t>
            </a:r>
            <a:r>
              <a:rPr lang="en-US" sz="1200" b="1" dirty="0">
                <a:solidFill>
                  <a:srgbClr val="C8414C"/>
                </a:solidFill>
                <a:latin typeface="Calibri" pitchFamily="34" charset="0"/>
                <a:ea typeface="Calibri" pitchFamily="34" charset="-122"/>
                <a:cs typeface="Calibri" pitchFamily="34" charset="-120"/>
              </a:rPr>
              <a:t> + </a:t>
            </a:r>
            <a:r>
              <a:rPr lang="en-US" sz="1200" b="1" dirty="0">
                <a:solidFill>
                  <a:srgbClr val="C8414C"/>
                </a:solidFill>
                <a:latin typeface="Calibri" pitchFamily="34" charset="0"/>
                <a:ea typeface="Calibri" pitchFamily="34" charset="-122"/>
                <a:cs typeface="Calibri" pitchFamily="34" charset="-120"/>
              </a:rPr>
              <a:t>H₂(g)</a:t>
            </a:r>
            <a:endParaRPr lang="en-US" sz="1200" dirty="0"/>
          </a:p>
          <a:p>
            <a:pPr indent="0" marL="0">
              <a:spcBef>
                <a:spcPts val="1000"/>
              </a:spcBef>
              <a:buNone/>
            </a:pPr>
            <a:r>
              <a:rPr lang="en-US" sz="1200" b="1" dirty="0">
                <a:solidFill>
                  <a:srgbClr val="6A3FA0"/>
                </a:solidFill>
                <a:latin typeface="Calibri" pitchFamily="34" charset="0"/>
                <a:ea typeface="Calibri" pitchFamily="34" charset="-122"/>
                <a:cs typeface="Calibri" pitchFamily="34" charset="-120"/>
              </a:rPr>
              <a:t>5  Check</a:t>
            </a:r>
            <a:endParaRPr lang="en-US" sz="1200" dirty="0"/>
          </a:p>
          <a:p>
            <a:pPr indent="0" marL="0">
              <a:buNone/>
            </a:pPr>
            <a:r>
              <a:rPr lang="en-US" sz="1150" dirty="0">
                <a:solidFill>
                  <a:srgbClr val="262B3A"/>
                </a:solidFill>
                <a:latin typeface="Calibri" pitchFamily="34" charset="0"/>
                <a:ea typeface="Calibri" pitchFamily="34" charset="-122"/>
                <a:cs typeface="Calibri" pitchFamily="34" charset="-120"/>
              </a:rPr>
              <a:t>atoms H 2, Mg 1 on each side; charge +2 = +2 ✓</a:t>
            </a:r>
            <a:endParaRPr lang="en-US" sz="1200" dirty="0"/>
          </a:p>
          <a:p>
            <a:pPr indent="0" marL="0">
              <a:spcBef>
                <a:spcPts val="1000"/>
              </a:spcBef>
              <a:buNone/>
            </a:pPr>
            <a:r>
              <a:rPr lang="en-US" sz="1150" i="1" dirty="0">
                <a:solidFill>
                  <a:srgbClr val="6B7385"/>
                </a:solidFill>
                <a:latin typeface="Calibri" pitchFamily="34" charset="0"/>
                <a:ea typeface="Calibri" pitchFamily="34" charset="-122"/>
                <a:cs typeface="Calibri" pitchFamily="34" charset="-120"/>
              </a:rPr>
              <a:t>Mg(s) is a solid element: never split it.</a:t>
            </a:r>
            <a:endParaRPr lang="en-US" sz="1200" dirty="0"/>
          </a:p>
        </p:txBody>
      </p:sp>
      <p:sp>
        <p:nvSpPr>
          <p:cNvPr id="14" name="Shape 12"/>
          <p:cNvSpPr/>
          <p:nvPr/>
        </p:nvSpPr>
        <p:spPr>
          <a:xfrm>
            <a:off x="4270248" y="1188720"/>
            <a:ext cx="3657600" cy="4526280"/>
          </a:xfrm>
          <a:prstGeom prst="roundRect">
            <a:avLst>
              <a:gd name="adj" fmla="val 1250"/>
            </a:avLst>
          </a:prstGeom>
          <a:solidFill>
            <a:srgbClr val="F8F5FC"/>
          </a:solidFill>
          <a:ln w="12700">
            <a:solidFill>
              <a:srgbClr val="DDD3EC"/>
            </a:solidFill>
            <a:prstDash val="solid"/>
          </a:ln>
        </p:spPr>
      </p:sp>
      <p:sp>
        <p:nvSpPr>
          <p:cNvPr id="15" name="Shape 13"/>
          <p:cNvSpPr/>
          <p:nvPr/>
        </p:nvSpPr>
        <p:spPr>
          <a:xfrm>
            <a:off x="4270248" y="1188720"/>
            <a:ext cx="3657600" cy="384048"/>
          </a:xfrm>
          <a:prstGeom prst="roundRect">
            <a:avLst>
              <a:gd name="adj" fmla="val 11905"/>
            </a:avLst>
          </a:prstGeom>
          <a:solidFill>
            <a:srgbClr val="6A3FA0"/>
          </a:solidFill>
          <a:ln/>
        </p:spPr>
      </p:sp>
      <p:sp>
        <p:nvSpPr>
          <p:cNvPr id="16" name="Text 14"/>
          <p:cNvSpPr/>
          <p:nvPr/>
        </p:nvSpPr>
        <p:spPr>
          <a:xfrm>
            <a:off x="4379976" y="1188720"/>
            <a:ext cx="3438144"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  Metal oxide + acid</a:t>
            </a:r>
            <a:endParaRPr lang="en-US" sz="1250" dirty="0"/>
          </a:p>
        </p:txBody>
      </p:sp>
      <p:sp>
        <p:nvSpPr>
          <p:cNvPr id="17" name="Text 15"/>
          <p:cNvSpPr/>
          <p:nvPr/>
        </p:nvSpPr>
        <p:spPr>
          <a:xfrm>
            <a:off x="4407408" y="1645920"/>
            <a:ext cx="3383280" cy="3995928"/>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1  Full equation</a:t>
            </a:r>
            <a:endParaRPr lang="en-US" sz="1200" dirty="0"/>
          </a:p>
          <a:p>
            <a:pPr indent="0" marL="0">
              <a:buNone/>
            </a:pPr>
            <a:r>
              <a:rPr lang="en-US" sz="1200" b="1" dirty="0">
                <a:solidFill>
                  <a:srgbClr val="2A1F3D"/>
                </a:solidFill>
                <a:latin typeface="Calibri" pitchFamily="34" charset="0"/>
                <a:ea typeface="Calibri" pitchFamily="34" charset="-122"/>
                <a:cs typeface="Calibri" pitchFamily="34" charset="-120"/>
              </a:rPr>
              <a:t>CuO(s)</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H₂SO₄(aq)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CuSO₄(aq)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H₂O(l)</a:t>
            </a:r>
            <a:endParaRPr lang="en-US" sz="1200" dirty="0"/>
          </a:p>
          <a:p>
            <a:pPr indent="0" marL="0">
              <a:spcBef>
                <a:spcPts val="1000"/>
              </a:spcBef>
              <a:buNone/>
            </a:pPr>
            <a:r>
              <a:rPr lang="en-US" sz="1200" b="1" dirty="0">
                <a:solidFill>
                  <a:srgbClr val="6A3FA0"/>
                </a:solidFill>
                <a:latin typeface="Calibri" pitchFamily="34" charset="0"/>
                <a:ea typeface="Calibri" pitchFamily="34" charset="-122"/>
                <a:cs typeface="Calibri" pitchFamily="34" charset="-120"/>
              </a:rPr>
              <a:t>2  Split (aq) ionic compounds</a:t>
            </a:r>
            <a:endParaRPr lang="en-US" sz="1200" dirty="0"/>
          </a:p>
          <a:p>
            <a:pPr indent="0" marL="0">
              <a:buNone/>
            </a:pPr>
            <a:r>
              <a:rPr lang="en-US" sz="1200" b="1" dirty="0">
                <a:solidFill>
                  <a:srgbClr val="2A1F3D"/>
                </a:solidFill>
                <a:latin typeface="Calibri" pitchFamily="34" charset="0"/>
                <a:ea typeface="Calibri" pitchFamily="34" charset="-122"/>
                <a:cs typeface="Calibri" pitchFamily="34" charset="-120"/>
              </a:rPr>
              <a:t>CuO(s)</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2H⁺(aq)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SO₄²⁻(aq)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Cu²⁺(aq)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SO₄²⁻(aq)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H₂O(l)</a:t>
            </a:r>
            <a:endParaRPr lang="en-US" sz="1200" dirty="0"/>
          </a:p>
          <a:p>
            <a:pPr indent="0" marL="0">
              <a:spcBef>
                <a:spcPts val="1000"/>
              </a:spcBef>
              <a:buNone/>
            </a:pPr>
            <a:r>
              <a:rPr lang="en-US" sz="1200" b="1" dirty="0">
                <a:solidFill>
                  <a:srgbClr val="6A3FA0"/>
                </a:solidFill>
                <a:latin typeface="Calibri" pitchFamily="34" charset="0"/>
                <a:ea typeface="Calibri" pitchFamily="34" charset="-122"/>
                <a:cs typeface="Calibri" pitchFamily="34" charset="-120"/>
              </a:rPr>
              <a:t>3  Cancel spectator ions</a:t>
            </a:r>
            <a:endParaRPr lang="en-US" sz="1200" dirty="0"/>
          </a:p>
          <a:p>
            <a:pPr indent="0" marL="0">
              <a:buNone/>
            </a:pPr>
            <a:r>
              <a:rPr lang="en-US" sz="1200" b="1" dirty="0">
                <a:solidFill>
                  <a:srgbClr val="2A1F3D"/>
                </a:solidFill>
                <a:latin typeface="Calibri" pitchFamily="34" charset="0"/>
                <a:ea typeface="Calibri" pitchFamily="34" charset="-122"/>
                <a:cs typeface="Calibri" pitchFamily="34" charset="-120"/>
              </a:rPr>
              <a:t>CuO(s)</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2H⁺(aq)</a:t>
            </a:r>
            <a:r>
              <a:rPr lang="en-US" sz="1200" b="1" dirty="0">
                <a:solidFill>
                  <a:srgbClr val="2A1F3D"/>
                </a:solidFill>
                <a:latin typeface="Calibri" pitchFamily="34" charset="0"/>
                <a:ea typeface="Calibri" pitchFamily="34" charset="-122"/>
                <a:cs typeface="Calibri" pitchFamily="34" charset="-120"/>
              </a:rPr>
              <a:t> + </a:t>
            </a:r>
            <a:r>
              <a:rPr lang="en-US" sz="1200" b="1" strike="sngStrike" dirty="0">
                <a:solidFill>
                  <a:srgbClr val="C8414C"/>
                </a:solidFill>
                <a:latin typeface="Calibri" pitchFamily="34" charset="0"/>
                <a:ea typeface="Calibri" pitchFamily="34" charset="-122"/>
                <a:cs typeface="Calibri" pitchFamily="34" charset="-120"/>
              </a:rPr>
              <a:t>SO₄²⁻(aq)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Cu²⁺(aq)</a:t>
            </a:r>
            <a:r>
              <a:rPr lang="en-US" sz="1200" b="1" dirty="0">
                <a:solidFill>
                  <a:srgbClr val="2A1F3D"/>
                </a:solidFill>
                <a:latin typeface="Calibri" pitchFamily="34" charset="0"/>
                <a:ea typeface="Calibri" pitchFamily="34" charset="-122"/>
                <a:cs typeface="Calibri" pitchFamily="34" charset="-120"/>
              </a:rPr>
              <a:t> + </a:t>
            </a:r>
            <a:r>
              <a:rPr lang="en-US" sz="1200" b="1" strike="sngStrike" dirty="0">
                <a:solidFill>
                  <a:srgbClr val="C8414C"/>
                </a:solidFill>
                <a:latin typeface="Calibri" pitchFamily="34" charset="0"/>
                <a:ea typeface="Calibri" pitchFamily="34" charset="-122"/>
                <a:cs typeface="Calibri" pitchFamily="34" charset="-120"/>
              </a:rPr>
              <a:t>SO₄²⁻(aq)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H₂O(l)</a:t>
            </a:r>
            <a:endParaRPr lang="en-US" sz="1200" dirty="0"/>
          </a:p>
          <a:p>
            <a:pPr indent="0" marL="0">
              <a:spcBef>
                <a:spcPts val="1000"/>
              </a:spcBef>
              <a:buNone/>
            </a:pPr>
            <a:r>
              <a:rPr lang="en-US" sz="1200" b="1" dirty="0">
                <a:solidFill>
                  <a:srgbClr val="6A3FA0"/>
                </a:solidFill>
                <a:latin typeface="Calibri" pitchFamily="34" charset="0"/>
                <a:ea typeface="Calibri" pitchFamily="34" charset="-122"/>
                <a:cs typeface="Calibri" pitchFamily="34" charset="-120"/>
              </a:rPr>
              <a:t>4  Ionic equation</a:t>
            </a:r>
            <a:endParaRPr lang="en-US" sz="1200" dirty="0"/>
          </a:p>
          <a:p>
            <a:pPr indent="0" marL="0">
              <a:buNone/>
            </a:pPr>
            <a:r>
              <a:rPr lang="en-US" sz="1200" b="1" dirty="0">
                <a:solidFill>
                  <a:srgbClr val="C8414C"/>
                </a:solidFill>
                <a:latin typeface="Calibri" pitchFamily="34" charset="0"/>
                <a:ea typeface="Calibri" pitchFamily="34" charset="-122"/>
                <a:cs typeface="Calibri" pitchFamily="34" charset="-120"/>
              </a:rPr>
              <a:t>CuO(s)</a:t>
            </a:r>
            <a:r>
              <a:rPr lang="en-US" sz="1200" b="1" dirty="0">
                <a:solidFill>
                  <a:srgbClr val="C8414C"/>
                </a:solidFill>
                <a:latin typeface="Calibri" pitchFamily="34" charset="0"/>
                <a:ea typeface="Calibri" pitchFamily="34" charset="-122"/>
                <a:cs typeface="Calibri" pitchFamily="34" charset="-120"/>
              </a:rPr>
              <a:t> + </a:t>
            </a:r>
            <a:r>
              <a:rPr lang="en-US" sz="1200" b="1" dirty="0">
                <a:solidFill>
                  <a:srgbClr val="C8414C"/>
                </a:solidFill>
                <a:latin typeface="Calibri" pitchFamily="34" charset="0"/>
                <a:ea typeface="Calibri" pitchFamily="34" charset="-122"/>
                <a:cs typeface="Calibri" pitchFamily="34" charset="-120"/>
              </a:rPr>
              <a:t>2H⁺(aq)</a:t>
            </a:r>
            <a:r>
              <a:rPr lang="en-US" sz="1200" b="1" dirty="0">
                <a:solidFill>
                  <a:srgbClr val="C8414C"/>
                </a:solidFill>
                <a:latin typeface="Calibri" pitchFamily="34" charset="0"/>
                <a:ea typeface="Calibri" pitchFamily="34" charset="-122"/>
                <a:cs typeface="Calibri" pitchFamily="34" charset="-120"/>
              </a:rPr>
              <a:t> → </a:t>
            </a:r>
            <a:r>
              <a:rPr lang="en-US" sz="1200" b="1" dirty="0">
                <a:solidFill>
                  <a:srgbClr val="C8414C"/>
                </a:solidFill>
                <a:latin typeface="Calibri" pitchFamily="34" charset="0"/>
                <a:ea typeface="Calibri" pitchFamily="34" charset="-122"/>
                <a:cs typeface="Calibri" pitchFamily="34" charset="-120"/>
              </a:rPr>
              <a:t>Cu²⁺(aq)</a:t>
            </a:r>
            <a:r>
              <a:rPr lang="en-US" sz="1200" b="1" dirty="0">
                <a:solidFill>
                  <a:srgbClr val="C8414C"/>
                </a:solidFill>
                <a:latin typeface="Calibri" pitchFamily="34" charset="0"/>
                <a:ea typeface="Calibri" pitchFamily="34" charset="-122"/>
                <a:cs typeface="Calibri" pitchFamily="34" charset="-120"/>
              </a:rPr>
              <a:t> + </a:t>
            </a:r>
            <a:r>
              <a:rPr lang="en-US" sz="1200" b="1" dirty="0">
                <a:solidFill>
                  <a:srgbClr val="C8414C"/>
                </a:solidFill>
                <a:latin typeface="Calibri" pitchFamily="34" charset="0"/>
                <a:ea typeface="Calibri" pitchFamily="34" charset="-122"/>
                <a:cs typeface="Calibri" pitchFamily="34" charset="-120"/>
              </a:rPr>
              <a:t>H₂O(l)</a:t>
            </a:r>
            <a:endParaRPr lang="en-US" sz="1200" dirty="0"/>
          </a:p>
          <a:p>
            <a:pPr indent="0" marL="0">
              <a:spcBef>
                <a:spcPts val="1000"/>
              </a:spcBef>
              <a:buNone/>
            </a:pPr>
            <a:r>
              <a:rPr lang="en-US" sz="1200" b="1" dirty="0">
                <a:solidFill>
                  <a:srgbClr val="6A3FA0"/>
                </a:solidFill>
                <a:latin typeface="Calibri" pitchFamily="34" charset="0"/>
                <a:ea typeface="Calibri" pitchFamily="34" charset="-122"/>
                <a:cs typeface="Calibri" pitchFamily="34" charset="-120"/>
              </a:rPr>
              <a:t>5  Check</a:t>
            </a:r>
            <a:endParaRPr lang="en-US" sz="1200" dirty="0"/>
          </a:p>
          <a:p>
            <a:pPr indent="0" marL="0">
              <a:buNone/>
            </a:pPr>
            <a:r>
              <a:rPr lang="en-US" sz="1150" dirty="0">
                <a:solidFill>
                  <a:srgbClr val="262B3A"/>
                </a:solidFill>
                <a:latin typeface="Calibri" pitchFamily="34" charset="0"/>
                <a:ea typeface="Calibri" pitchFamily="34" charset="-122"/>
                <a:cs typeface="Calibri" pitchFamily="34" charset="-120"/>
              </a:rPr>
              <a:t>atoms Cu 1, H 2, O 1 on each side; charge +2 = +2 ✓</a:t>
            </a:r>
            <a:endParaRPr lang="en-US" sz="1200" dirty="0"/>
          </a:p>
          <a:p>
            <a:pPr indent="0" marL="0">
              <a:spcBef>
                <a:spcPts val="1000"/>
              </a:spcBef>
              <a:buNone/>
            </a:pPr>
            <a:r>
              <a:rPr lang="en-US" sz="1150" i="1" dirty="0">
                <a:solidFill>
                  <a:srgbClr val="6B7385"/>
                </a:solidFill>
                <a:latin typeface="Calibri" pitchFamily="34" charset="0"/>
                <a:ea typeface="Calibri" pitchFamily="34" charset="-122"/>
                <a:cs typeface="Calibri" pitchFamily="34" charset="-120"/>
              </a:rPr>
              <a:t>CuO(s) is insoluble: keep it whole.</a:t>
            </a:r>
            <a:endParaRPr lang="en-US" sz="1200" dirty="0"/>
          </a:p>
        </p:txBody>
      </p:sp>
      <p:sp>
        <p:nvSpPr>
          <p:cNvPr id="18" name="Shape 16"/>
          <p:cNvSpPr/>
          <p:nvPr/>
        </p:nvSpPr>
        <p:spPr>
          <a:xfrm>
            <a:off x="8119872" y="1188720"/>
            <a:ext cx="3657600" cy="4526280"/>
          </a:xfrm>
          <a:prstGeom prst="roundRect">
            <a:avLst>
              <a:gd name="adj" fmla="val 1250"/>
            </a:avLst>
          </a:prstGeom>
          <a:solidFill>
            <a:srgbClr val="F8F5FC"/>
          </a:solidFill>
          <a:ln w="12700">
            <a:solidFill>
              <a:srgbClr val="DDD3EC"/>
            </a:solidFill>
            <a:prstDash val="solid"/>
          </a:ln>
        </p:spPr>
      </p:sp>
      <p:sp>
        <p:nvSpPr>
          <p:cNvPr id="19" name="Shape 17"/>
          <p:cNvSpPr/>
          <p:nvPr/>
        </p:nvSpPr>
        <p:spPr>
          <a:xfrm>
            <a:off x="8119872" y="1188720"/>
            <a:ext cx="3657600" cy="384048"/>
          </a:xfrm>
          <a:prstGeom prst="roundRect">
            <a:avLst>
              <a:gd name="adj" fmla="val 11905"/>
            </a:avLst>
          </a:prstGeom>
          <a:solidFill>
            <a:srgbClr val="6A3FA0"/>
          </a:solidFill>
          <a:ln/>
        </p:spPr>
      </p:sp>
      <p:sp>
        <p:nvSpPr>
          <p:cNvPr id="20" name="Text 18"/>
          <p:cNvSpPr/>
          <p:nvPr/>
        </p:nvSpPr>
        <p:spPr>
          <a:xfrm>
            <a:off x="8229600" y="1188720"/>
            <a:ext cx="3438144"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  Alkali + acid</a:t>
            </a:r>
            <a:endParaRPr lang="en-US" sz="1250" dirty="0"/>
          </a:p>
        </p:txBody>
      </p:sp>
      <p:sp>
        <p:nvSpPr>
          <p:cNvPr id="21" name="Text 19"/>
          <p:cNvSpPr/>
          <p:nvPr/>
        </p:nvSpPr>
        <p:spPr>
          <a:xfrm>
            <a:off x="8257032" y="1645920"/>
            <a:ext cx="3383280" cy="3995928"/>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1  Full equation</a:t>
            </a:r>
            <a:endParaRPr lang="en-US" sz="1200" dirty="0"/>
          </a:p>
          <a:p>
            <a:pPr indent="0" marL="0">
              <a:buNone/>
            </a:pPr>
            <a:r>
              <a:rPr lang="en-US" sz="1200" b="1" dirty="0">
                <a:solidFill>
                  <a:srgbClr val="2A1F3D"/>
                </a:solidFill>
                <a:latin typeface="Calibri" pitchFamily="34" charset="0"/>
                <a:ea typeface="Calibri" pitchFamily="34" charset="-122"/>
                <a:cs typeface="Calibri" pitchFamily="34" charset="-120"/>
              </a:rPr>
              <a:t>KOH(aq)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HNO₃(aq)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KNO₃(aq)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H₂O(l)</a:t>
            </a:r>
            <a:endParaRPr lang="en-US" sz="1200" dirty="0"/>
          </a:p>
          <a:p>
            <a:pPr indent="0" marL="0">
              <a:spcBef>
                <a:spcPts val="1000"/>
              </a:spcBef>
              <a:buNone/>
            </a:pPr>
            <a:r>
              <a:rPr lang="en-US" sz="1200" b="1" dirty="0">
                <a:solidFill>
                  <a:srgbClr val="6A3FA0"/>
                </a:solidFill>
                <a:latin typeface="Calibri" pitchFamily="34" charset="0"/>
                <a:ea typeface="Calibri" pitchFamily="34" charset="-122"/>
                <a:cs typeface="Calibri" pitchFamily="34" charset="-120"/>
              </a:rPr>
              <a:t>2  Split (aq) ionic compounds</a:t>
            </a:r>
            <a:endParaRPr lang="en-US" sz="1200" dirty="0"/>
          </a:p>
          <a:p>
            <a:pPr indent="0" marL="0">
              <a:buNone/>
            </a:pPr>
            <a:r>
              <a:rPr lang="en-US" sz="1200" b="1" dirty="0">
                <a:solidFill>
                  <a:srgbClr val="2A1F3D"/>
                </a:solidFill>
                <a:latin typeface="Calibri" pitchFamily="34" charset="0"/>
                <a:ea typeface="Calibri" pitchFamily="34" charset="-122"/>
                <a:cs typeface="Calibri" pitchFamily="34" charset="-120"/>
              </a:rPr>
              <a:t>K⁺(aq)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OH⁻(aq)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H⁺(aq)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NO₃⁻(aq)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K⁺(aq)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NO₃⁻(aq)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H₂O(l)</a:t>
            </a:r>
            <a:endParaRPr lang="en-US" sz="1200" dirty="0"/>
          </a:p>
          <a:p>
            <a:pPr indent="0" marL="0">
              <a:spcBef>
                <a:spcPts val="1000"/>
              </a:spcBef>
              <a:buNone/>
            </a:pPr>
            <a:r>
              <a:rPr lang="en-US" sz="1200" b="1" dirty="0">
                <a:solidFill>
                  <a:srgbClr val="6A3FA0"/>
                </a:solidFill>
                <a:latin typeface="Calibri" pitchFamily="34" charset="0"/>
                <a:ea typeface="Calibri" pitchFamily="34" charset="-122"/>
                <a:cs typeface="Calibri" pitchFamily="34" charset="-120"/>
              </a:rPr>
              <a:t>3  Cancel spectator ions</a:t>
            </a:r>
            <a:endParaRPr lang="en-US" sz="1200" dirty="0"/>
          </a:p>
          <a:p>
            <a:pPr indent="0" marL="0">
              <a:buNone/>
            </a:pPr>
            <a:r>
              <a:rPr lang="en-US" sz="1200" b="1" strike="sngStrike" dirty="0">
                <a:solidFill>
                  <a:srgbClr val="C8414C"/>
                </a:solidFill>
                <a:latin typeface="Calibri" pitchFamily="34" charset="0"/>
                <a:ea typeface="Calibri" pitchFamily="34" charset="-122"/>
                <a:cs typeface="Calibri" pitchFamily="34" charset="-120"/>
              </a:rPr>
              <a:t>K⁺(aq)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OH⁻(aq)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H⁺(aq)</a:t>
            </a:r>
            <a:r>
              <a:rPr lang="en-US" sz="1200" b="1" dirty="0">
                <a:solidFill>
                  <a:srgbClr val="2A1F3D"/>
                </a:solidFill>
                <a:latin typeface="Calibri" pitchFamily="34" charset="0"/>
                <a:ea typeface="Calibri" pitchFamily="34" charset="-122"/>
                <a:cs typeface="Calibri" pitchFamily="34" charset="-120"/>
              </a:rPr>
              <a:t> + </a:t>
            </a:r>
            <a:r>
              <a:rPr lang="en-US" sz="1200" b="1" strike="sngStrike" dirty="0">
                <a:solidFill>
                  <a:srgbClr val="C8414C"/>
                </a:solidFill>
                <a:latin typeface="Calibri" pitchFamily="34" charset="0"/>
                <a:ea typeface="Calibri" pitchFamily="34" charset="-122"/>
                <a:cs typeface="Calibri" pitchFamily="34" charset="-120"/>
              </a:rPr>
              <a:t>NO₃⁻(aq)</a:t>
            </a:r>
            <a:r>
              <a:rPr lang="en-US" sz="1200" b="1" dirty="0">
                <a:solidFill>
                  <a:srgbClr val="2A1F3D"/>
                </a:solidFill>
                <a:latin typeface="Calibri" pitchFamily="34" charset="0"/>
                <a:ea typeface="Calibri" pitchFamily="34" charset="-122"/>
                <a:cs typeface="Calibri" pitchFamily="34" charset="-120"/>
              </a:rPr>
              <a:t> → </a:t>
            </a:r>
            <a:r>
              <a:rPr lang="en-US" sz="1200" b="1" strike="sngStrike" dirty="0">
                <a:solidFill>
                  <a:srgbClr val="C8414C"/>
                </a:solidFill>
                <a:latin typeface="Calibri" pitchFamily="34" charset="0"/>
                <a:ea typeface="Calibri" pitchFamily="34" charset="-122"/>
                <a:cs typeface="Calibri" pitchFamily="34" charset="-120"/>
              </a:rPr>
              <a:t>K⁺(aq)</a:t>
            </a:r>
            <a:r>
              <a:rPr lang="en-US" sz="1200" b="1" dirty="0">
                <a:solidFill>
                  <a:srgbClr val="2A1F3D"/>
                </a:solidFill>
                <a:latin typeface="Calibri" pitchFamily="34" charset="0"/>
                <a:ea typeface="Calibri" pitchFamily="34" charset="-122"/>
                <a:cs typeface="Calibri" pitchFamily="34" charset="-120"/>
              </a:rPr>
              <a:t> + </a:t>
            </a:r>
            <a:r>
              <a:rPr lang="en-US" sz="1200" b="1" strike="sngStrike" dirty="0">
                <a:solidFill>
                  <a:srgbClr val="C8414C"/>
                </a:solidFill>
                <a:latin typeface="Calibri" pitchFamily="34" charset="0"/>
                <a:ea typeface="Calibri" pitchFamily="34" charset="-122"/>
                <a:cs typeface="Calibri" pitchFamily="34" charset="-120"/>
              </a:rPr>
              <a:t>NO₃⁻(aq)</a:t>
            </a:r>
            <a:r>
              <a:rPr lang="en-US" sz="1200" b="1" dirty="0">
                <a:solidFill>
                  <a:srgbClr val="2A1F3D"/>
                </a:solidFill>
                <a:latin typeface="Calibri" pitchFamily="34" charset="0"/>
                <a:ea typeface="Calibri" pitchFamily="34" charset="-122"/>
                <a:cs typeface="Calibri" pitchFamily="34" charset="-120"/>
              </a:rPr>
              <a:t> + </a:t>
            </a:r>
            <a:r>
              <a:rPr lang="en-US" sz="1200" b="1" dirty="0">
                <a:solidFill>
                  <a:srgbClr val="2A1F3D"/>
                </a:solidFill>
                <a:latin typeface="Calibri" pitchFamily="34" charset="0"/>
                <a:ea typeface="Calibri" pitchFamily="34" charset="-122"/>
                <a:cs typeface="Calibri" pitchFamily="34" charset="-120"/>
              </a:rPr>
              <a:t>H₂O(l)</a:t>
            </a:r>
            <a:endParaRPr lang="en-US" sz="1200" dirty="0"/>
          </a:p>
          <a:p>
            <a:pPr indent="0" marL="0">
              <a:spcBef>
                <a:spcPts val="1000"/>
              </a:spcBef>
              <a:buNone/>
            </a:pPr>
            <a:r>
              <a:rPr lang="en-US" sz="1200" b="1" dirty="0">
                <a:solidFill>
                  <a:srgbClr val="6A3FA0"/>
                </a:solidFill>
                <a:latin typeface="Calibri" pitchFamily="34" charset="0"/>
                <a:ea typeface="Calibri" pitchFamily="34" charset="-122"/>
                <a:cs typeface="Calibri" pitchFamily="34" charset="-120"/>
              </a:rPr>
              <a:t>4  Ionic equation</a:t>
            </a:r>
            <a:endParaRPr lang="en-US" sz="1200" dirty="0"/>
          </a:p>
          <a:p>
            <a:pPr indent="0" marL="0">
              <a:buNone/>
            </a:pPr>
            <a:r>
              <a:rPr lang="en-US" sz="1200" b="1" dirty="0">
                <a:solidFill>
                  <a:srgbClr val="C8414C"/>
                </a:solidFill>
                <a:latin typeface="Calibri" pitchFamily="34" charset="0"/>
                <a:ea typeface="Calibri" pitchFamily="34" charset="-122"/>
                <a:cs typeface="Calibri" pitchFamily="34" charset="-120"/>
              </a:rPr>
              <a:t>H⁺(aq)</a:t>
            </a:r>
            <a:r>
              <a:rPr lang="en-US" sz="1200" b="1" dirty="0">
                <a:solidFill>
                  <a:srgbClr val="C8414C"/>
                </a:solidFill>
                <a:latin typeface="Calibri" pitchFamily="34" charset="0"/>
                <a:ea typeface="Calibri" pitchFamily="34" charset="-122"/>
                <a:cs typeface="Calibri" pitchFamily="34" charset="-120"/>
              </a:rPr>
              <a:t> + </a:t>
            </a:r>
            <a:r>
              <a:rPr lang="en-US" sz="1200" b="1" dirty="0">
                <a:solidFill>
                  <a:srgbClr val="C8414C"/>
                </a:solidFill>
                <a:latin typeface="Calibri" pitchFamily="34" charset="0"/>
                <a:ea typeface="Calibri" pitchFamily="34" charset="-122"/>
                <a:cs typeface="Calibri" pitchFamily="34" charset="-120"/>
              </a:rPr>
              <a:t>OH⁻(aq)</a:t>
            </a:r>
            <a:r>
              <a:rPr lang="en-US" sz="1200" b="1" dirty="0">
                <a:solidFill>
                  <a:srgbClr val="C8414C"/>
                </a:solidFill>
                <a:latin typeface="Calibri" pitchFamily="34" charset="0"/>
                <a:ea typeface="Calibri" pitchFamily="34" charset="-122"/>
                <a:cs typeface="Calibri" pitchFamily="34" charset="-120"/>
              </a:rPr>
              <a:t> → </a:t>
            </a:r>
            <a:r>
              <a:rPr lang="en-US" sz="1200" b="1" dirty="0">
                <a:solidFill>
                  <a:srgbClr val="C8414C"/>
                </a:solidFill>
                <a:latin typeface="Calibri" pitchFamily="34" charset="0"/>
                <a:ea typeface="Calibri" pitchFamily="34" charset="-122"/>
                <a:cs typeface="Calibri" pitchFamily="34" charset="-120"/>
              </a:rPr>
              <a:t>H₂O(l)</a:t>
            </a:r>
            <a:endParaRPr lang="en-US" sz="1200" dirty="0"/>
          </a:p>
          <a:p>
            <a:pPr indent="0" marL="0">
              <a:spcBef>
                <a:spcPts val="1000"/>
              </a:spcBef>
              <a:buNone/>
            </a:pPr>
            <a:r>
              <a:rPr lang="en-US" sz="1200" b="1" dirty="0">
                <a:solidFill>
                  <a:srgbClr val="6A3FA0"/>
                </a:solidFill>
                <a:latin typeface="Calibri" pitchFamily="34" charset="0"/>
                <a:ea typeface="Calibri" pitchFamily="34" charset="-122"/>
                <a:cs typeface="Calibri" pitchFamily="34" charset="-120"/>
              </a:rPr>
              <a:t>5  Check</a:t>
            </a:r>
            <a:endParaRPr lang="en-US" sz="1200" dirty="0"/>
          </a:p>
          <a:p>
            <a:pPr indent="0" marL="0">
              <a:buNone/>
            </a:pPr>
            <a:r>
              <a:rPr lang="en-US" sz="1150" dirty="0">
                <a:solidFill>
                  <a:srgbClr val="262B3A"/>
                </a:solidFill>
                <a:latin typeface="Calibri" pitchFamily="34" charset="0"/>
                <a:ea typeface="Calibri" pitchFamily="34" charset="-122"/>
                <a:cs typeface="Calibri" pitchFamily="34" charset="-120"/>
              </a:rPr>
              <a:t>atoms H 2, O 1 on each side; charge 0 = 0 ✓</a:t>
            </a:r>
            <a:endParaRPr lang="en-US" sz="1200" dirty="0"/>
          </a:p>
          <a:p>
            <a:pPr indent="0" marL="0">
              <a:spcBef>
                <a:spcPts val="1000"/>
              </a:spcBef>
              <a:buNone/>
            </a:pPr>
            <a:r>
              <a:rPr lang="en-US" sz="1150" i="1" dirty="0">
                <a:solidFill>
                  <a:srgbClr val="6B7385"/>
                </a:solidFill>
                <a:latin typeface="Calibri" pitchFamily="34" charset="0"/>
                <a:ea typeface="Calibri" pitchFamily="34" charset="-122"/>
                <a:cs typeface="Calibri" pitchFamily="34" charset="-120"/>
              </a:rPr>
              <a:t>Every acid + alkali gives H⁺ + OH⁻ → H₂O.</a:t>
            </a:r>
            <a:endParaRPr lang="en-US" sz="1200" dirty="0"/>
          </a:p>
        </p:txBody>
      </p:sp>
      <p:sp>
        <p:nvSpPr>
          <p:cNvPr id="22" name="Shape 20"/>
          <p:cNvSpPr/>
          <p:nvPr/>
        </p:nvSpPr>
        <p:spPr>
          <a:xfrm>
            <a:off x="411480" y="5833872"/>
            <a:ext cx="11368735" cy="530352"/>
          </a:xfrm>
          <a:prstGeom prst="rect">
            <a:avLst/>
          </a:prstGeom>
          <a:solidFill>
            <a:srgbClr val="FFF4E0"/>
          </a:solidFill>
          <a:ln w="6350">
            <a:solidFill>
              <a:srgbClr val="F1D9A8"/>
            </a:solidFill>
            <a:prstDash val="solid"/>
          </a:ln>
        </p:spPr>
      </p:sp>
      <p:sp>
        <p:nvSpPr>
          <p:cNvPr id="23" name="Shape 21"/>
          <p:cNvSpPr/>
          <p:nvPr/>
        </p:nvSpPr>
        <p:spPr>
          <a:xfrm>
            <a:off x="411480" y="5833872"/>
            <a:ext cx="82296" cy="530352"/>
          </a:xfrm>
          <a:prstGeom prst="rect">
            <a:avLst/>
          </a:prstGeom>
          <a:solidFill>
            <a:srgbClr val="E39A2F"/>
          </a:solidFill>
          <a:ln w="12700">
            <a:solidFill>
              <a:srgbClr val="E39A2F"/>
            </a:solidFill>
            <a:prstDash val="solid"/>
          </a:ln>
        </p:spPr>
      </p:sp>
      <p:sp>
        <p:nvSpPr>
          <p:cNvPr id="24" name="Text 2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You try: </a:t>
            </a:r>
            <a:r>
              <a:rPr lang="en-US" sz="1150" b="1" dirty="0">
                <a:solidFill>
                  <a:srgbClr val="262B3A"/>
                </a:solidFill>
                <a:latin typeface="Calibri" pitchFamily="34" charset="0"/>
                <a:ea typeface="Calibri" pitchFamily="34" charset="-122"/>
                <a:cs typeface="Calibri" pitchFamily="34" charset="-120"/>
              </a:rPr>
              <a:t>zinc</a:t>
            </a:r>
            <a:r>
              <a:rPr lang="en-US" sz="1150" dirty="0">
                <a:solidFill>
                  <a:srgbClr val="262B3A"/>
                </a:solidFill>
                <a:latin typeface="Calibri" pitchFamily="34" charset="0"/>
                <a:ea typeface="Calibri" pitchFamily="34" charset="-122"/>
                <a:cs typeface="Calibri" pitchFamily="34" charset="-120"/>
              </a:rPr>
              <a:t> reacts with </a:t>
            </a:r>
            <a:r>
              <a:rPr lang="en-US" sz="1150" b="1" dirty="0">
                <a:solidFill>
                  <a:srgbClr val="262B3A"/>
                </a:solidFill>
                <a:latin typeface="Calibri" pitchFamily="34" charset="0"/>
                <a:ea typeface="Calibri" pitchFamily="34" charset="-122"/>
                <a:cs typeface="Calibri" pitchFamily="34" charset="-120"/>
              </a:rPr>
              <a:t>hydrochloric acid</a:t>
            </a:r>
            <a:r>
              <a:rPr lang="en-US" sz="1150" dirty="0">
                <a:solidFill>
                  <a:srgbClr val="262B3A"/>
                </a:solidFill>
                <a:latin typeface="Calibri" pitchFamily="34" charset="0"/>
                <a:ea typeface="Calibri" pitchFamily="34" charset="-122"/>
                <a:cs typeface="Calibri" pitchFamily="34" charset="-120"/>
              </a:rPr>
              <a:t> to form zinc chloride solution and hydrogen. Write the full and the ionic equations, with state symbols.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0.4, 3.11–3.14 • ionic equations and neutralisation</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17</a:t>
            </a:r>
            <a:endParaRPr lang="en-US" sz="1000" dirty="0"/>
          </a:p>
        </p:txBody>
      </p:sp>
      <p:sp>
        <p:nvSpPr>
          <p:cNvPr id="10" name="Shape 8"/>
          <p:cNvSpPr/>
          <p:nvPr/>
        </p:nvSpPr>
        <p:spPr>
          <a:xfrm>
            <a:off x="411480" y="1207008"/>
            <a:ext cx="11368735" cy="1594104"/>
          </a:xfrm>
          <a:prstGeom prst="roundRect">
            <a:avLst>
              <a:gd name="adj" fmla="val 2868"/>
            </a:avLst>
          </a:prstGeom>
          <a:solidFill>
            <a:srgbClr val="FFFFFF"/>
          </a:solidFill>
          <a:ln w="12700">
            <a:solidFill>
              <a:srgbClr val="DDD3EC"/>
            </a:solidFill>
            <a:prstDash val="solid"/>
          </a:ln>
        </p:spPr>
      </p:sp>
      <p:sp>
        <p:nvSpPr>
          <p:cNvPr id="11" name="Shape 9"/>
          <p:cNvSpPr/>
          <p:nvPr/>
        </p:nvSpPr>
        <p:spPr>
          <a:xfrm>
            <a:off x="411480" y="1207008"/>
            <a:ext cx="2103120" cy="292608"/>
          </a:xfrm>
          <a:prstGeom prst="rect">
            <a:avLst/>
          </a:prstGeom>
          <a:solidFill>
            <a:srgbClr val="F5A742"/>
          </a:solidFill>
          <a:ln w="12700">
            <a:solidFill>
              <a:srgbClr val="F5A742"/>
            </a:solidFill>
            <a:prstDash val="solid"/>
          </a:ln>
        </p:spPr>
      </p:sp>
      <p:sp>
        <p:nvSpPr>
          <p:cNvPr id="12" name="Text 10"/>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3" name="Shape 11"/>
          <p:cNvSpPr/>
          <p:nvPr/>
        </p:nvSpPr>
        <p:spPr>
          <a:xfrm>
            <a:off x="2606040" y="1216152"/>
            <a:ext cx="411480" cy="274320"/>
          </a:xfrm>
          <a:prstGeom prst="roundRect">
            <a:avLst>
              <a:gd name="adj" fmla="val 50000"/>
            </a:avLst>
          </a:prstGeom>
          <a:solidFill>
            <a:srgbClr val="C8414C"/>
          </a:solidFill>
          <a:ln w="12700">
            <a:solidFill>
              <a:srgbClr val="C8414C"/>
            </a:solidFill>
            <a:prstDash val="solid"/>
          </a:ln>
        </p:spPr>
      </p:sp>
      <p:sp>
        <p:nvSpPr>
          <p:cNvPr id="14" name="Text 12"/>
          <p:cNvSpPr/>
          <p:nvPr/>
        </p:nvSpPr>
        <p:spPr>
          <a:xfrm>
            <a:off x="2606040" y="1216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5" name="Text 13"/>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the ionic equation, with state symbols, for the reaction between </a:t>
            </a:r>
            <a:r>
              <a:rPr lang="en-US" sz="1250" b="1" dirty="0">
                <a:solidFill>
                  <a:srgbClr val="262B3A"/>
                </a:solidFill>
                <a:latin typeface="Calibri" pitchFamily="34" charset="0"/>
                <a:ea typeface="Calibri" pitchFamily="34" charset="-122"/>
                <a:cs typeface="Calibri" pitchFamily="34" charset="-120"/>
              </a:rPr>
              <a:t>any</a:t>
            </a:r>
            <a:r>
              <a:rPr lang="en-US" sz="1250" dirty="0">
                <a:solidFill>
                  <a:srgbClr val="262B3A"/>
                </a:solidFill>
                <a:latin typeface="Calibri" pitchFamily="34" charset="0"/>
                <a:ea typeface="Calibri" pitchFamily="34" charset="-122"/>
                <a:cs typeface="Calibri" pitchFamily="34" charset="-120"/>
              </a:rPr>
              <a:t> acid and </a:t>
            </a:r>
            <a:r>
              <a:rPr lang="en-US" sz="1250" b="1" dirty="0">
                <a:solidFill>
                  <a:srgbClr val="262B3A"/>
                </a:solidFill>
                <a:latin typeface="Calibri" pitchFamily="34" charset="0"/>
                <a:ea typeface="Calibri" pitchFamily="34" charset="-122"/>
                <a:cs typeface="Calibri" pitchFamily="34" charset="-120"/>
              </a:rPr>
              <a:t>any</a:t>
            </a:r>
            <a:r>
              <a:rPr lang="en-US" sz="1250" dirty="0">
                <a:solidFill>
                  <a:srgbClr val="262B3A"/>
                </a:solidFill>
                <a:latin typeface="Calibri" pitchFamily="34" charset="0"/>
                <a:ea typeface="Calibri" pitchFamily="34" charset="-122"/>
                <a:cs typeface="Calibri" pitchFamily="34" charset="-120"/>
              </a:rPr>
              <a:t> alkali.</a:t>
            </a:r>
            <a:endParaRPr lang="en-US" sz="1250" dirty="0"/>
          </a:p>
        </p:txBody>
      </p:sp>
      <p:sp>
        <p:nvSpPr>
          <p:cNvPr id="16" name="Text 14"/>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7" name="Shape 15"/>
          <p:cNvSpPr/>
          <p:nvPr/>
        </p:nvSpPr>
        <p:spPr>
          <a:xfrm>
            <a:off x="411480" y="2947416"/>
            <a:ext cx="11368735" cy="1594104"/>
          </a:xfrm>
          <a:prstGeom prst="roundRect">
            <a:avLst>
              <a:gd name="adj" fmla="val 2868"/>
            </a:avLst>
          </a:prstGeom>
          <a:solidFill>
            <a:srgbClr val="FFFFFF"/>
          </a:solidFill>
          <a:ln w="12700">
            <a:solidFill>
              <a:srgbClr val="DDD3EC"/>
            </a:solidFill>
            <a:prstDash val="solid"/>
          </a:ln>
        </p:spPr>
      </p:sp>
      <p:sp>
        <p:nvSpPr>
          <p:cNvPr id="18" name="Shape 16"/>
          <p:cNvSpPr/>
          <p:nvPr/>
        </p:nvSpPr>
        <p:spPr>
          <a:xfrm>
            <a:off x="411480" y="2947416"/>
            <a:ext cx="2103120" cy="292608"/>
          </a:xfrm>
          <a:prstGeom prst="rect">
            <a:avLst/>
          </a:prstGeom>
          <a:solidFill>
            <a:srgbClr val="F5A742"/>
          </a:solidFill>
          <a:ln w="12700">
            <a:solidFill>
              <a:srgbClr val="F5A742"/>
            </a:solidFill>
            <a:prstDash val="solid"/>
          </a:ln>
        </p:spPr>
      </p:sp>
      <p:sp>
        <p:nvSpPr>
          <p:cNvPr id="19" name="Text 17"/>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0" name="Text 18"/>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Sodium hydroxide solution reacts with sulfuric acid. Name the </a:t>
            </a:r>
            <a:r>
              <a:rPr lang="en-US" sz="1250" b="1" dirty="0">
                <a:solidFill>
                  <a:srgbClr val="262B3A"/>
                </a:solidFill>
                <a:latin typeface="Calibri" pitchFamily="34" charset="0"/>
                <a:ea typeface="Calibri" pitchFamily="34" charset="-122"/>
                <a:cs typeface="Calibri" pitchFamily="34" charset="-120"/>
              </a:rPr>
              <a:t>spectator ions</a:t>
            </a:r>
            <a:r>
              <a:rPr lang="en-US" sz="1250" dirty="0">
                <a:solidFill>
                  <a:srgbClr val="262B3A"/>
                </a:solidFill>
                <a:latin typeface="Calibri" pitchFamily="34" charset="0"/>
                <a:ea typeface="Calibri" pitchFamily="34" charset="-122"/>
                <a:cs typeface="Calibri" pitchFamily="34" charset="-120"/>
              </a:rPr>
              <a:t> and explain why they are called spectator ions.</a:t>
            </a:r>
            <a:endParaRPr lang="en-US" sz="1250" dirty="0"/>
          </a:p>
        </p:txBody>
      </p:sp>
      <p:sp>
        <p:nvSpPr>
          <p:cNvPr id="21" name="Text 19"/>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2" name="Shape 20"/>
          <p:cNvSpPr/>
          <p:nvPr/>
        </p:nvSpPr>
        <p:spPr>
          <a:xfrm>
            <a:off x="411480" y="4687824"/>
            <a:ext cx="11368735" cy="1594104"/>
          </a:xfrm>
          <a:prstGeom prst="roundRect">
            <a:avLst>
              <a:gd name="adj" fmla="val 2868"/>
            </a:avLst>
          </a:prstGeom>
          <a:solidFill>
            <a:srgbClr val="FFFFFF"/>
          </a:solidFill>
          <a:ln w="12700">
            <a:solidFill>
              <a:srgbClr val="DDD3EC"/>
            </a:solidFill>
            <a:prstDash val="solid"/>
          </a:ln>
        </p:spPr>
      </p:sp>
      <p:sp>
        <p:nvSpPr>
          <p:cNvPr id="23" name="Shape 21"/>
          <p:cNvSpPr/>
          <p:nvPr/>
        </p:nvSpPr>
        <p:spPr>
          <a:xfrm>
            <a:off x="411480" y="4687824"/>
            <a:ext cx="2103120" cy="292608"/>
          </a:xfrm>
          <a:prstGeom prst="rect">
            <a:avLst/>
          </a:prstGeom>
          <a:solidFill>
            <a:srgbClr val="F5A742"/>
          </a:solidFill>
          <a:ln w="12700">
            <a:solidFill>
              <a:srgbClr val="F5A742"/>
            </a:solidFill>
            <a:prstDash val="solid"/>
          </a:ln>
        </p:spPr>
      </p:sp>
      <p:sp>
        <p:nvSpPr>
          <p:cNvPr id="24" name="Text 22"/>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5" name="Shape 23"/>
          <p:cNvSpPr/>
          <p:nvPr/>
        </p:nvSpPr>
        <p:spPr>
          <a:xfrm>
            <a:off x="2606040" y="4696968"/>
            <a:ext cx="411480" cy="274320"/>
          </a:xfrm>
          <a:prstGeom prst="roundRect">
            <a:avLst>
              <a:gd name="adj" fmla="val 50000"/>
            </a:avLst>
          </a:prstGeom>
          <a:solidFill>
            <a:srgbClr val="C8414C"/>
          </a:solidFill>
          <a:ln w="12700">
            <a:solidFill>
              <a:srgbClr val="C8414C"/>
            </a:solidFill>
            <a:prstDash val="solid"/>
          </a:ln>
        </p:spPr>
      </p:sp>
      <p:sp>
        <p:nvSpPr>
          <p:cNvPr id="26" name="Text 24"/>
          <p:cNvSpPr/>
          <p:nvPr/>
        </p:nvSpPr>
        <p:spPr>
          <a:xfrm>
            <a:off x="2606040" y="469696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7" name="Text 25"/>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Magnesium oxide reacts with hydrochloric acid:  MgO(s) + 2HCl(aq) → MgCl₂(aq) + H₂O(l).  Write the ionic equation and explain why magnesium oxide is </a:t>
            </a:r>
            <a:r>
              <a:rPr lang="en-US" sz="1250" b="1" dirty="0">
                <a:solidFill>
                  <a:srgbClr val="262B3A"/>
                </a:solidFill>
                <a:latin typeface="Calibri" pitchFamily="34" charset="0"/>
                <a:ea typeface="Calibri" pitchFamily="34" charset="-122"/>
                <a:cs typeface="Calibri" pitchFamily="34" charset="-120"/>
              </a:rPr>
              <a:t>not</a:t>
            </a:r>
            <a:r>
              <a:rPr lang="en-US" sz="1250" dirty="0">
                <a:solidFill>
                  <a:srgbClr val="262B3A"/>
                </a:solidFill>
                <a:latin typeface="Calibri" pitchFamily="34" charset="0"/>
                <a:ea typeface="Calibri" pitchFamily="34" charset="-122"/>
                <a:cs typeface="Calibri" pitchFamily="34" charset="-120"/>
              </a:rPr>
              <a:t> split into ions.</a:t>
            </a:r>
            <a:endParaRPr lang="en-US" sz="1250" dirty="0"/>
          </a:p>
        </p:txBody>
      </p:sp>
      <p:sp>
        <p:nvSpPr>
          <p:cNvPr id="28" name="Text 26"/>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Soluble salts from insoluble bases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3.15 • excess reactant added, excess removed, only salt and water left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3.15  |  18</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making copper sulfate solution from copper oxide and sulfuric acid</a:t>
            </a:r>
            <a:endParaRPr lang="en-US" sz="1000" dirty="0"/>
          </a:p>
        </p:txBody>
      </p:sp>
      <p:sp>
        <p:nvSpPr>
          <p:cNvPr id="10" name="Shape 8"/>
          <p:cNvSpPr/>
          <p:nvPr/>
        </p:nvSpPr>
        <p:spPr>
          <a:xfrm>
            <a:off x="731520" y="2103120"/>
            <a:ext cx="1325880" cy="1371600"/>
          </a:xfrm>
          <a:prstGeom prst="rect">
            <a:avLst/>
          </a:prstGeom>
          <a:solidFill>
            <a:srgbClr val="EEF5FB"/>
          </a:solidFill>
          <a:ln/>
        </p:spPr>
      </p:sp>
      <p:sp>
        <p:nvSpPr>
          <p:cNvPr id="11" name="Shape 9"/>
          <p:cNvSpPr/>
          <p:nvPr/>
        </p:nvSpPr>
        <p:spPr>
          <a:xfrm>
            <a:off x="731520" y="2624328"/>
            <a:ext cx="1325880" cy="850392"/>
          </a:xfrm>
          <a:prstGeom prst="rect">
            <a:avLst/>
          </a:prstGeom>
          <a:solidFill>
            <a:srgbClr val="8EC9F0"/>
          </a:solidFill>
          <a:ln/>
        </p:spPr>
      </p:sp>
      <p:sp>
        <p:nvSpPr>
          <p:cNvPr id="12" name="Shape 10"/>
          <p:cNvSpPr/>
          <p:nvPr/>
        </p:nvSpPr>
        <p:spPr>
          <a:xfrm>
            <a:off x="731520" y="2624328"/>
            <a:ext cx="1325880" cy="91"/>
          </a:xfrm>
          <a:prstGeom prst="line">
            <a:avLst/>
          </a:prstGeom>
          <a:noFill/>
          <a:ln w="12700">
            <a:solidFill>
              <a:srgbClr val="2F7FC1"/>
            </a:solidFill>
            <a:prstDash val="solid"/>
          </a:ln>
        </p:spPr>
      </p:sp>
      <p:sp>
        <p:nvSpPr>
          <p:cNvPr id="13" name="Shape 11"/>
          <p:cNvSpPr/>
          <p:nvPr/>
        </p:nvSpPr>
        <p:spPr>
          <a:xfrm>
            <a:off x="731520" y="2103120"/>
            <a:ext cx="91" cy="1371600"/>
          </a:xfrm>
          <a:prstGeom prst="line">
            <a:avLst/>
          </a:prstGeom>
          <a:noFill/>
          <a:ln w="19050">
            <a:solidFill>
              <a:srgbClr val="2A1F3D"/>
            </a:solidFill>
            <a:prstDash val="solid"/>
          </a:ln>
        </p:spPr>
      </p:sp>
      <p:sp>
        <p:nvSpPr>
          <p:cNvPr id="14" name="Shape 12"/>
          <p:cNvSpPr/>
          <p:nvPr/>
        </p:nvSpPr>
        <p:spPr>
          <a:xfrm>
            <a:off x="2057400" y="2103120"/>
            <a:ext cx="91" cy="1371600"/>
          </a:xfrm>
          <a:prstGeom prst="line">
            <a:avLst/>
          </a:prstGeom>
          <a:noFill/>
          <a:ln w="19050">
            <a:solidFill>
              <a:srgbClr val="2A1F3D"/>
            </a:solidFill>
            <a:prstDash val="solid"/>
          </a:ln>
        </p:spPr>
      </p:sp>
      <p:sp>
        <p:nvSpPr>
          <p:cNvPr id="15" name="Shape 13"/>
          <p:cNvSpPr/>
          <p:nvPr/>
        </p:nvSpPr>
        <p:spPr>
          <a:xfrm>
            <a:off x="731520" y="3474720"/>
            <a:ext cx="1325880" cy="91"/>
          </a:xfrm>
          <a:prstGeom prst="line">
            <a:avLst/>
          </a:prstGeom>
          <a:noFill/>
          <a:ln w="19050">
            <a:solidFill>
              <a:srgbClr val="2A1F3D"/>
            </a:solidFill>
            <a:prstDash val="solid"/>
          </a:ln>
        </p:spPr>
      </p:sp>
      <p:sp>
        <p:nvSpPr>
          <p:cNvPr id="16" name="Shape 14"/>
          <p:cNvSpPr/>
          <p:nvPr/>
        </p:nvSpPr>
        <p:spPr>
          <a:xfrm>
            <a:off x="676656" y="2103120"/>
            <a:ext cx="54864" cy="91"/>
          </a:xfrm>
          <a:prstGeom prst="line">
            <a:avLst/>
          </a:prstGeom>
          <a:noFill/>
          <a:ln w="19050">
            <a:solidFill>
              <a:srgbClr val="2A1F3D"/>
            </a:solidFill>
            <a:prstDash val="solid"/>
          </a:ln>
        </p:spPr>
      </p:sp>
      <p:sp>
        <p:nvSpPr>
          <p:cNvPr id="17" name="Shape 15"/>
          <p:cNvSpPr/>
          <p:nvPr/>
        </p:nvSpPr>
        <p:spPr>
          <a:xfrm>
            <a:off x="2057400" y="2103120"/>
            <a:ext cx="54864" cy="91"/>
          </a:xfrm>
          <a:prstGeom prst="line">
            <a:avLst/>
          </a:prstGeom>
          <a:noFill/>
          <a:ln w="19050">
            <a:solidFill>
              <a:srgbClr val="2A1F3D"/>
            </a:solidFill>
            <a:prstDash val="solid"/>
          </a:ln>
        </p:spPr>
      </p:sp>
      <p:sp>
        <p:nvSpPr>
          <p:cNvPr id="18" name="Shape 16"/>
          <p:cNvSpPr/>
          <p:nvPr/>
        </p:nvSpPr>
        <p:spPr>
          <a:xfrm>
            <a:off x="822960" y="3355848"/>
            <a:ext cx="91440" cy="91440"/>
          </a:xfrm>
          <a:prstGeom prst="ellipse">
            <a:avLst/>
          </a:prstGeom>
          <a:solidFill>
            <a:srgbClr val="3A3A3A"/>
          </a:solidFill>
          <a:ln w="9525">
            <a:solidFill>
              <a:srgbClr val="1A1A1A"/>
            </a:solidFill>
            <a:prstDash val="solid"/>
          </a:ln>
        </p:spPr>
      </p:sp>
      <p:sp>
        <p:nvSpPr>
          <p:cNvPr id="19" name="Shape 17"/>
          <p:cNvSpPr/>
          <p:nvPr/>
        </p:nvSpPr>
        <p:spPr>
          <a:xfrm>
            <a:off x="955548" y="3310128"/>
            <a:ext cx="91440" cy="91440"/>
          </a:xfrm>
          <a:prstGeom prst="ellipse">
            <a:avLst/>
          </a:prstGeom>
          <a:solidFill>
            <a:srgbClr val="3A3A3A"/>
          </a:solidFill>
          <a:ln w="9525">
            <a:solidFill>
              <a:srgbClr val="1A1A1A"/>
            </a:solidFill>
            <a:prstDash val="solid"/>
          </a:ln>
        </p:spPr>
      </p:sp>
      <p:sp>
        <p:nvSpPr>
          <p:cNvPr id="20" name="Shape 18"/>
          <p:cNvSpPr/>
          <p:nvPr/>
        </p:nvSpPr>
        <p:spPr>
          <a:xfrm>
            <a:off x="1088136" y="3355848"/>
            <a:ext cx="91440" cy="91440"/>
          </a:xfrm>
          <a:prstGeom prst="ellipse">
            <a:avLst/>
          </a:prstGeom>
          <a:solidFill>
            <a:srgbClr val="3A3A3A"/>
          </a:solidFill>
          <a:ln w="9525">
            <a:solidFill>
              <a:srgbClr val="1A1A1A"/>
            </a:solidFill>
            <a:prstDash val="solid"/>
          </a:ln>
        </p:spPr>
      </p:sp>
      <p:sp>
        <p:nvSpPr>
          <p:cNvPr id="21" name="Shape 19"/>
          <p:cNvSpPr/>
          <p:nvPr/>
        </p:nvSpPr>
        <p:spPr>
          <a:xfrm>
            <a:off x="1220724" y="3310128"/>
            <a:ext cx="91440" cy="91440"/>
          </a:xfrm>
          <a:prstGeom prst="ellipse">
            <a:avLst/>
          </a:prstGeom>
          <a:solidFill>
            <a:srgbClr val="3A3A3A"/>
          </a:solidFill>
          <a:ln w="9525">
            <a:solidFill>
              <a:srgbClr val="1A1A1A"/>
            </a:solidFill>
            <a:prstDash val="solid"/>
          </a:ln>
        </p:spPr>
      </p:sp>
      <p:sp>
        <p:nvSpPr>
          <p:cNvPr id="22" name="Shape 20"/>
          <p:cNvSpPr/>
          <p:nvPr/>
        </p:nvSpPr>
        <p:spPr>
          <a:xfrm>
            <a:off x="1353312" y="3355848"/>
            <a:ext cx="91440" cy="91440"/>
          </a:xfrm>
          <a:prstGeom prst="ellipse">
            <a:avLst/>
          </a:prstGeom>
          <a:solidFill>
            <a:srgbClr val="3A3A3A"/>
          </a:solidFill>
          <a:ln w="9525">
            <a:solidFill>
              <a:srgbClr val="1A1A1A"/>
            </a:solidFill>
            <a:prstDash val="solid"/>
          </a:ln>
        </p:spPr>
      </p:sp>
      <p:sp>
        <p:nvSpPr>
          <p:cNvPr id="23" name="Shape 21"/>
          <p:cNvSpPr/>
          <p:nvPr/>
        </p:nvSpPr>
        <p:spPr>
          <a:xfrm>
            <a:off x="1485900" y="3310128"/>
            <a:ext cx="91440" cy="91440"/>
          </a:xfrm>
          <a:prstGeom prst="ellipse">
            <a:avLst/>
          </a:prstGeom>
          <a:solidFill>
            <a:srgbClr val="3A3A3A"/>
          </a:solidFill>
          <a:ln w="9525">
            <a:solidFill>
              <a:srgbClr val="1A1A1A"/>
            </a:solidFill>
            <a:prstDash val="solid"/>
          </a:ln>
        </p:spPr>
      </p:sp>
      <p:sp>
        <p:nvSpPr>
          <p:cNvPr id="24" name="Shape 22"/>
          <p:cNvSpPr/>
          <p:nvPr/>
        </p:nvSpPr>
        <p:spPr>
          <a:xfrm>
            <a:off x="1618488" y="3355848"/>
            <a:ext cx="91440" cy="91440"/>
          </a:xfrm>
          <a:prstGeom prst="ellipse">
            <a:avLst/>
          </a:prstGeom>
          <a:solidFill>
            <a:srgbClr val="3A3A3A"/>
          </a:solidFill>
          <a:ln w="9525">
            <a:solidFill>
              <a:srgbClr val="1A1A1A"/>
            </a:solidFill>
            <a:prstDash val="solid"/>
          </a:ln>
        </p:spPr>
      </p:sp>
      <p:sp>
        <p:nvSpPr>
          <p:cNvPr id="25" name="Shape 23"/>
          <p:cNvSpPr/>
          <p:nvPr/>
        </p:nvSpPr>
        <p:spPr>
          <a:xfrm>
            <a:off x="1751076" y="3310128"/>
            <a:ext cx="91440" cy="91440"/>
          </a:xfrm>
          <a:prstGeom prst="ellipse">
            <a:avLst/>
          </a:prstGeom>
          <a:solidFill>
            <a:srgbClr val="3A3A3A"/>
          </a:solidFill>
          <a:ln w="9525">
            <a:solidFill>
              <a:srgbClr val="1A1A1A"/>
            </a:solidFill>
            <a:prstDash val="solid"/>
          </a:ln>
        </p:spPr>
      </p:sp>
      <p:sp>
        <p:nvSpPr>
          <p:cNvPr id="26" name="Shape 24"/>
          <p:cNvSpPr/>
          <p:nvPr/>
        </p:nvSpPr>
        <p:spPr>
          <a:xfrm>
            <a:off x="1883664" y="3355848"/>
            <a:ext cx="91440" cy="91440"/>
          </a:xfrm>
          <a:prstGeom prst="ellipse">
            <a:avLst/>
          </a:prstGeom>
          <a:solidFill>
            <a:srgbClr val="3A3A3A"/>
          </a:solidFill>
          <a:ln w="9525">
            <a:solidFill>
              <a:srgbClr val="1A1A1A"/>
            </a:solidFill>
            <a:prstDash val="solid"/>
          </a:ln>
        </p:spPr>
      </p:sp>
      <p:sp>
        <p:nvSpPr>
          <p:cNvPr id="27" name="Shape 25"/>
          <p:cNvSpPr/>
          <p:nvPr/>
        </p:nvSpPr>
        <p:spPr>
          <a:xfrm flipH="1">
            <a:off x="1600200" y="1600200"/>
            <a:ext cx="640080" cy="365760"/>
          </a:xfrm>
          <a:prstGeom prst="line">
            <a:avLst/>
          </a:prstGeom>
          <a:noFill/>
          <a:ln w="38100">
            <a:solidFill>
              <a:srgbClr val="6B7385"/>
            </a:solidFill>
            <a:prstDash val="solid"/>
          </a:ln>
        </p:spPr>
      </p:sp>
      <p:sp>
        <p:nvSpPr>
          <p:cNvPr id="28" name="Shape 26"/>
          <p:cNvSpPr/>
          <p:nvPr/>
        </p:nvSpPr>
        <p:spPr>
          <a:xfrm>
            <a:off x="1481328" y="1915668"/>
            <a:ext cx="237744" cy="100584"/>
          </a:xfrm>
          <a:prstGeom prst="ellipse">
            <a:avLst/>
          </a:prstGeom>
          <a:solidFill>
            <a:srgbClr val="B8BEC9"/>
          </a:solidFill>
          <a:ln w="9525">
            <a:solidFill>
              <a:srgbClr val="6B7385"/>
            </a:solidFill>
            <a:prstDash val="solid"/>
          </a:ln>
        </p:spPr>
      </p:sp>
      <p:sp>
        <p:nvSpPr>
          <p:cNvPr id="29" name="Shape 27"/>
          <p:cNvSpPr/>
          <p:nvPr/>
        </p:nvSpPr>
        <p:spPr>
          <a:xfrm>
            <a:off x="1508760" y="1892808"/>
            <a:ext cx="182880" cy="73152"/>
          </a:xfrm>
          <a:prstGeom prst="ellipse">
            <a:avLst/>
          </a:prstGeom>
          <a:solidFill>
            <a:srgbClr val="3A3A3A"/>
          </a:solidFill>
          <a:ln w="6350">
            <a:solidFill>
              <a:srgbClr val="1A1A1A"/>
            </a:solidFill>
            <a:prstDash val="solid"/>
          </a:ln>
        </p:spPr>
      </p:sp>
      <p:sp>
        <p:nvSpPr>
          <p:cNvPr id="30" name="Shape 28"/>
          <p:cNvSpPr/>
          <p:nvPr/>
        </p:nvSpPr>
        <p:spPr>
          <a:xfrm>
            <a:off x="2194560" y="2788920"/>
            <a:ext cx="411480" cy="91"/>
          </a:xfrm>
          <a:prstGeom prst="line">
            <a:avLst/>
          </a:prstGeom>
          <a:noFill/>
          <a:ln w="25400">
            <a:solidFill>
              <a:srgbClr val="2A1F3D"/>
            </a:solidFill>
            <a:prstDash val="solid"/>
            <a:tailEnd type="triangle"/>
          </a:ln>
        </p:spPr>
      </p:sp>
      <p:sp>
        <p:nvSpPr>
          <p:cNvPr id="31" name="Shape 29"/>
          <p:cNvSpPr/>
          <p:nvPr/>
        </p:nvSpPr>
        <p:spPr>
          <a:xfrm>
            <a:off x="2834640" y="1783080"/>
            <a:ext cx="914400" cy="640080"/>
          </a:xfrm>
          <a:custGeom>
            <a:avLst/>
            <a:gdLst/>
            <a:ahLst/>
            <a:cxnLst/>
            <a:rect l="l" t="t" r="r" b="b"/>
            <a:pathLst>
              <a:path w="914400" h="640080">
                <a:moveTo>
                  <a:pt x="0" y="0"/>
                </a:moveTo>
                <a:lnTo>
                  <a:pt x="914400" y="0"/>
                </a:lnTo>
                <a:lnTo>
                  <a:pt x="502920" y="640080"/>
                </a:lnTo>
                <a:lnTo>
                  <a:pt x="411480" y="640080"/>
                </a:lnTo>
                <a:close/>
              </a:path>
            </a:pathLst>
          </a:custGeom>
          <a:solidFill>
            <a:srgbClr val="EEF5FB"/>
          </a:solidFill>
          <a:ln w="19050">
            <a:solidFill>
              <a:srgbClr val="2A1F3D"/>
            </a:solidFill>
            <a:prstDash val="solid"/>
          </a:ln>
        </p:spPr>
      </p:sp>
      <p:sp>
        <p:nvSpPr>
          <p:cNvPr id="32" name="Shape 30"/>
          <p:cNvSpPr/>
          <p:nvPr/>
        </p:nvSpPr>
        <p:spPr>
          <a:xfrm>
            <a:off x="3246120" y="2423160"/>
            <a:ext cx="91440" cy="365760"/>
          </a:xfrm>
          <a:prstGeom prst="rect">
            <a:avLst/>
          </a:prstGeom>
          <a:solidFill>
            <a:srgbClr val="EEF5FB"/>
          </a:solidFill>
          <a:ln w="15875">
            <a:solidFill>
              <a:srgbClr val="2A1F3D"/>
            </a:solidFill>
            <a:prstDash val="solid"/>
          </a:ln>
        </p:spPr>
      </p:sp>
      <p:sp>
        <p:nvSpPr>
          <p:cNvPr id="33" name="Shape 31"/>
          <p:cNvSpPr/>
          <p:nvPr/>
        </p:nvSpPr>
        <p:spPr>
          <a:xfrm>
            <a:off x="2898648" y="1810512"/>
            <a:ext cx="786384" cy="630936"/>
          </a:xfrm>
          <a:custGeom>
            <a:avLst/>
            <a:gdLst/>
            <a:ahLst/>
            <a:cxnLst/>
            <a:rect l="l" t="t" r="r" b="b"/>
            <a:pathLst>
              <a:path w="786384" h="630936">
                <a:moveTo>
                  <a:pt x="0" y="0"/>
                </a:moveTo>
                <a:lnTo>
                  <a:pt x="786384" y="0"/>
                </a:lnTo>
                <a:lnTo>
                  <a:pt x="393192" y="630936"/>
                </a:lnTo>
                <a:close/>
              </a:path>
            </a:pathLst>
          </a:custGeom>
          <a:solidFill>
            <a:srgbClr val="FFFFFF"/>
          </a:solidFill>
          <a:ln w="9525">
            <a:solidFill>
              <a:srgbClr val="9AA3B0"/>
            </a:solidFill>
            <a:prstDash val="solid"/>
          </a:ln>
        </p:spPr>
      </p:sp>
      <p:sp>
        <p:nvSpPr>
          <p:cNvPr id="34" name="Shape 32"/>
          <p:cNvSpPr/>
          <p:nvPr/>
        </p:nvSpPr>
        <p:spPr>
          <a:xfrm>
            <a:off x="3126699" y="2154326"/>
            <a:ext cx="330281" cy="268834"/>
          </a:xfrm>
          <a:custGeom>
            <a:avLst/>
            <a:gdLst/>
            <a:ahLst/>
            <a:cxnLst/>
            <a:rect l="l" t="t" r="r" b="b"/>
            <a:pathLst>
              <a:path w="330281" h="268834">
                <a:moveTo>
                  <a:pt x="0" y="0"/>
                </a:moveTo>
                <a:lnTo>
                  <a:pt x="330281" y="0"/>
                </a:lnTo>
                <a:lnTo>
                  <a:pt x="165141" y="268834"/>
                </a:lnTo>
                <a:close/>
              </a:path>
            </a:pathLst>
          </a:custGeom>
          <a:solidFill>
            <a:srgbClr val="3A3A3A"/>
          </a:solidFill>
          <a:ln w="6350">
            <a:solidFill>
              <a:srgbClr val="1A1A1A"/>
            </a:solidFill>
            <a:prstDash val="solid"/>
          </a:ln>
        </p:spPr>
      </p:sp>
      <p:sp>
        <p:nvSpPr>
          <p:cNvPr id="35" name="Shape 33"/>
          <p:cNvSpPr/>
          <p:nvPr/>
        </p:nvSpPr>
        <p:spPr>
          <a:xfrm>
            <a:off x="3259836" y="2820924"/>
            <a:ext cx="64008" cy="64008"/>
          </a:xfrm>
          <a:prstGeom prst="ellipse">
            <a:avLst/>
          </a:prstGeom>
          <a:solidFill>
            <a:srgbClr val="8EC9F0"/>
          </a:solidFill>
          <a:ln w="9525">
            <a:solidFill>
              <a:srgbClr val="8EC9F0"/>
            </a:solidFill>
            <a:prstDash val="solid"/>
          </a:ln>
        </p:spPr>
      </p:sp>
      <p:sp>
        <p:nvSpPr>
          <p:cNvPr id="36" name="Shape 34"/>
          <p:cNvSpPr/>
          <p:nvPr/>
        </p:nvSpPr>
        <p:spPr>
          <a:xfrm>
            <a:off x="2834640" y="2852928"/>
            <a:ext cx="914400" cy="914400"/>
          </a:xfrm>
          <a:custGeom>
            <a:avLst/>
            <a:gdLst/>
            <a:ahLst/>
            <a:cxnLst/>
            <a:rect l="l" t="t" r="r" b="b"/>
            <a:pathLst>
              <a:path w="914400" h="914400">
                <a:moveTo>
                  <a:pt x="320040" y="0"/>
                </a:moveTo>
                <a:lnTo>
                  <a:pt x="320040" y="274320"/>
                </a:lnTo>
                <a:lnTo>
                  <a:pt x="0" y="914400"/>
                </a:lnTo>
                <a:lnTo>
                  <a:pt x="914400" y="914400"/>
                </a:lnTo>
                <a:lnTo>
                  <a:pt x="594360" y="274320"/>
                </a:lnTo>
                <a:lnTo>
                  <a:pt x="594360" y="0"/>
                </a:lnTo>
                <a:close/>
              </a:path>
            </a:pathLst>
          </a:custGeom>
          <a:solidFill>
            <a:srgbClr val="EEF5FB"/>
          </a:solidFill>
          <a:ln/>
        </p:spPr>
      </p:sp>
      <p:sp>
        <p:nvSpPr>
          <p:cNvPr id="37" name="Shape 35"/>
          <p:cNvSpPr/>
          <p:nvPr/>
        </p:nvSpPr>
        <p:spPr>
          <a:xfrm>
            <a:off x="2834640" y="3447288"/>
            <a:ext cx="914400" cy="320040"/>
          </a:xfrm>
          <a:custGeom>
            <a:avLst/>
            <a:gdLst/>
            <a:ahLst/>
            <a:cxnLst/>
            <a:rect l="l" t="t" r="r" b="b"/>
            <a:pathLst>
              <a:path w="914400" h="320040">
                <a:moveTo>
                  <a:pt x="160020" y="0"/>
                </a:moveTo>
                <a:lnTo>
                  <a:pt x="0" y="320040"/>
                </a:lnTo>
                <a:lnTo>
                  <a:pt x="914400" y="320040"/>
                </a:lnTo>
                <a:lnTo>
                  <a:pt x="754380" y="0"/>
                </a:lnTo>
                <a:close/>
              </a:path>
            </a:pathLst>
          </a:custGeom>
          <a:solidFill>
            <a:srgbClr val="8EC9F0"/>
          </a:solidFill>
          <a:ln/>
        </p:spPr>
      </p:sp>
      <p:sp>
        <p:nvSpPr>
          <p:cNvPr id="38" name="Shape 36"/>
          <p:cNvSpPr/>
          <p:nvPr/>
        </p:nvSpPr>
        <p:spPr>
          <a:xfrm>
            <a:off x="2994660" y="3447288"/>
            <a:ext cx="594360" cy="91"/>
          </a:xfrm>
          <a:prstGeom prst="line">
            <a:avLst/>
          </a:prstGeom>
          <a:noFill/>
          <a:ln w="12700">
            <a:solidFill>
              <a:srgbClr val="5B9BD5"/>
            </a:solidFill>
            <a:prstDash val="solid"/>
          </a:ln>
        </p:spPr>
      </p:sp>
      <p:sp>
        <p:nvSpPr>
          <p:cNvPr id="39" name="Shape 37"/>
          <p:cNvSpPr/>
          <p:nvPr/>
        </p:nvSpPr>
        <p:spPr>
          <a:xfrm>
            <a:off x="2834640" y="2852928"/>
            <a:ext cx="914400" cy="914400"/>
          </a:xfrm>
          <a:custGeom>
            <a:avLst/>
            <a:gdLst/>
            <a:ahLst/>
            <a:cxnLst/>
            <a:rect l="l" t="t" r="r" b="b"/>
            <a:pathLst>
              <a:path w="914400" h="914400">
                <a:moveTo>
                  <a:pt x="320040" y="0"/>
                </a:moveTo>
                <a:lnTo>
                  <a:pt x="320040" y="274320"/>
                </a:lnTo>
                <a:lnTo>
                  <a:pt x="0" y="914400"/>
                </a:lnTo>
                <a:lnTo>
                  <a:pt x="914400" y="914400"/>
                </a:lnTo>
                <a:lnTo>
                  <a:pt x="594360" y="274320"/>
                </a:lnTo>
                <a:lnTo>
                  <a:pt x="594360" y="0"/>
                </a:lnTo>
              </a:path>
            </a:pathLst>
          </a:custGeom>
          <a:ln w="19050">
            <a:solidFill>
              <a:srgbClr val="2A1F3D"/>
            </a:solidFill>
            <a:prstDash val="solid"/>
          </a:ln>
        </p:spPr>
      </p:sp>
      <p:sp>
        <p:nvSpPr>
          <p:cNvPr id="40" name="Shape 38"/>
          <p:cNvSpPr/>
          <p:nvPr/>
        </p:nvSpPr>
        <p:spPr>
          <a:xfrm>
            <a:off x="3931920" y="2788920"/>
            <a:ext cx="411480" cy="91"/>
          </a:xfrm>
          <a:prstGeom prst="line">
            <a:avLst/>
          </a:prstGeom>
          <a:noFill/>
          <a:ln w="25400">
            <a:solidFill>
              <a:srgbClr val="2A1F3D"/>
            </a:solidFill>
            <a:prstDash val="solid"/>
            <a:tailEnd type="triangle"/>
          </a:ln>
        </p:spPr>
      </p:sp>
      <p:sp>
        <p:nvSpPr>
          <p:cNvPr id="41" name="Shape 39"/>
          <p:cNvSpPr/>
          <p:nvPr/>
        </p:nvSpPr>
        <p:spPr>
          <a:xfrm>
            <a:off x="4503420" y="2651760"/>
            <a:ext cx="1143000" cy="384048"/>
          </a:xfrm>
          <a:custGeom>
            <a:avLst/>
            <a:gdLst/>
            <a:ahLst/>
            <a:cxnLst/>
            <a:rect l="l" t="t" r="r" b="b"/>
            <a:pathLst>
              <a:path w="1143000" h="384048">
                <a:moveTo>
                  <a:pt x="1143000" y="0"/>
                </a:moveTo>
                <a:lnTo>
                  <a:pt x="1138111" y="50128"/>
                </a:lnTo>
                <a:lnTo>
                  <a:pt x="1123527" y="99399"/>
                </a:lnTo>
                <a:lnTo>
                  <a:pt x="1099497" y="146969"/>
                </a:lnTo>
                <a:lnTo>
                  <a:pt x="1066434" y="192024"/>
                </a:lnTo>
                <a:lnTo>
                  <a:pt x="1024901" y="233794"/>
                </a:lnTo>
                <a:lnTo>
                  <a:pt x="975612" y="271563"/>
                </a:lnTo>
                <a:lnTo>
                  <a:pt x="919407" y="304686"/>
                </a:lnTo>
                <a:lnTo>
                  <a:pt x="857250" y="332595"/>
                </a:lnTo>
                <a:lnTo>
                  <a:pt x="790204" y="354814"/>
                </a:lnTo>
                <a:lnTo>
                  <a:pt x="719415" y="370962"/>
                </a:lnTo>
                <a:lnTo>
                  <a:pt x="646096" y="380762"/>
                </a:lnTo>
                <a:lnTo>
                  <a:pt x="571500" y="384048"/>
                </a:lnTo>
                <a:lnTo>
                  <a:pt x="496904" y="380762"/>
                </a:lnTo>
                <a:lnTo>
                  <a:pt x="423585" y="370962"/>
                </a:lnTo>
                <a:lnTo>
                  <a:pt x="352796" y="354814"/>
                </a:lnTo>
                <a:lnTo>
                  <a:pt x="285750" y="332595"/>
                </a:lnTo>
                <a:lnTo>
                  <a:pt x="223593" y="304686"/>
                </a:lnTo>
                <a:lnTo>
                  <a:pt x="167388" y="271563"/>
                </a:lnTo>
                <a:lnTo>
                  <a:pt x="118099" y="233794"/>
                </a:lnTo>
                <a:lnTo>
                  <a:pt x="76566" y="192024"/>
                </a:lnTo>
                <a:lnTo>
                  <a:pt x="43503" y="146969"/>
                </a:lnTo>
                <a:lnTo>
                  <a:pt x="19473" y="99399"/>
                </a:lnTo>
                <a:lnTo>
                  <a:pt x="4889" y="50128"/>
                </a:lnTo>
                <a:lnTo>
                  <a:pt x="0" y="0"/>
                </a:lnTo>
                <a:close/>
              </a:path>
            </a:pathLst>
          </a:custGeom>
          <a:solidFill>
            <a:srgbClr val="F4F4F4"/>
          </a:solidFill>
          <a:ln/>
        </p:spPr>
      </p:sp>
      <p:sp>
        <p:nvSpPr>
          <p:cNvPr id="42" name="Shape 40"/>
          <p:cNvSpPr/>
          <p:nvPr/>
        </p:nvSpPr>
        <p:spPr>
          <a:xfrm>
            <a:off x="4538068" y="2783449"/>
            <a:ext cx="1073703" cy="252359"/>
          </a:xfrm>
          <a:custGeom>
            <a:avLst/>
            <a:gdLst/>
            <a:ahLst/>
            <a:cxnLst/>
            <a:rect l="l" t="t" r="r" b="b"/>
            <a:pathLst>
              <a:path w="1073703" h="252359">
                <a:moveTo>
                  <a:pt x="1073703" y="0"/>
                </a:moveTo>
                <a:lnTo>
                  <a:pt x="1051025" y="35957"/>
                </a:lnTo>
                <a:lnTo>
                  <a:pt x="1023031" y="70181"/>
                </a:lnTo>
                <a:lnTo>
                  <a:pt x="990009" y="102318"/>
                </a:lnTo>
                <a:lnTo>
                  <a:pt x="952301" y="132034"/>
                </a:lnTo>
                <a:lnTo>
                  <a:pt x="910297" y="159024"/>
                </a:lnTo>
                <a:lnTo>
                  <a:pt x="864432" y="183007"/>
                </a:lnTo>
                <a:lnTo>
                  <a:pt x="815179" y="203737"/>
                </a:lnTo>
                <a:lnTo>
                  <a:pt x="763048" y="220997"/>
                </a:lnTo>
                <a:lnTo>
                  <a:pt x="708578" y="234611"/>
                </a:lnTo>
                <a:lnTo>
                  <a:pt x="652332" y="244437"/>
                </a:lnTo>
                <a:lnTo>
                  <a:pt x="594892" y="250373"/>
                </a:lnTo>
                <a:lnTo>
                  <a:pt x="536852" y="252359"/>
                </a:lnTo>
                <a:lnTo>
                  <a:pt x="478811" y="250373"/>
                </a:lnTo>
                <a:lnTo>
                  <a:pt x="421371" y="244437"/>
                </a:lnTo>
                <a:lnTo>
                  <a:pt x="365125" y="234611"/>
                </a:lnTo>
                <a:lnTo>
                  <a:pt x="310655" y="220997"/>
                </a:lnTo>
                <a:lnTo>
                  <a:pt x="258524" y="203737"/>
                </a:lnTo>
                <a:lnTo>
                  <a:pt x="209271" y="183007"/>
                </a:lnTo>
                <a:lnTo>
                  <a:pt x="163406" y="159024"/>
                </a:lnTo>
                <a:lnTo>
                  <a:pt x="121402" y="132034"/>
                </a:lnTo>
                <a:lnTo>
                  <a:pt x="83694" y="102318"/>
                </a:lnTo>
                <a:lnTo>
                  <a:pt x="50672" y="70181"/>
                </a:lnTo>
                <a:lnTo>
                  <a:pt x="22678" y="35957"/>
                </a:lnTo>
                <a:lnTo>
                  <a:pt x="0" y="0"/>
                </a:lnTo>
                <a:close/>
              </a:path>
            </a:pathLst>
          </a:custGeom>
          <a:solidFill>
            <a:srgbClr val="8EC9F0"/>
          </a:solidFill>
          <a:ln/>
        </p:spPr>
      </p:sp>
      <p:sp>
        <p:nvSpPr>
          <p:cNvPr id="43" name="Shape 41"/>
          <p:cNvSpPr/>
          <p:nvPr/>
        </p:nvSpPr>
        <p:spPr>
          <a:xfrm>
            <a:off x="4503420" y="2651760"/>
            <a:ext cx="1143000" cy="384048"/>
          </a:xfrm>
          <a:custGeom>
            <a:avLst/>
            <a:gdLst/>
            <a:ahLst/>
            <a:cxnLst/>
            <a:rect l="l" t="t" r="r" b="b"/>
            <a:pathLst>
              <a:path w="1143000" h="384048">
                <a:moveTo>
                  <a:pt x="1143000" y="0"/>
                </a:moveTo>
                <a:lnTo>
                  <a:pt x="1138111" y="50128"/>
                </a:lnTo>
                <a:lnTo>
                  <a:pt x="1123527" y="99399"/>
                </a:lnTo>
                <a:lnTo>
                  <a:pt x="1099497" y="146969"/>
                </a:lnTo>
                <a:lnTo>
                  <a:pt x="1066434" y="192024"/>
                </a:lnTo>
                <a:lnTo>
                  <a:pt x="1024901" y="233794"/>
                </a:lnTo>
                <a:lnTo>
                  <a:pt x="975612" y="271563"/>
                </a:lnTo>
                <a:lnTo>
                  <a:pt x="919407" y="304686"/>
                </a:lnTo>
                <a:lnTo>
                  <a:pt x="857250" y="332595"/>
                </a:lnTo>
                <a:lnTo>
                  <a:pt x="790204" y="354814"/>
                </a:lnTo>
                <a:lnTo>
                  <a:pt x="719415" y="370962"/>
                </a:lnTo>
                <a:lnTo>
                  <a:pt x="646096" y="380762"/>
                </a:lnTo>
                <a:lnTo>
                  <a:pt x="571500" y="384048"/>
                </a:lnTo>
                <a:lnTo>
                  <a:pt x="496904" y="380762"/>
                </a:lnTo>
                <a:lnTo>
                  <a:pt x="423585" y="370962"/>
                </a:lnTo>
                <a:lnTo>
                  <a:pt x="352796" y="354814"/>
                </a:lnTo>
                <a:lnTo>
                  <a:pt x="285750" y="332595"/>
                </a:lnTo>
                <a:lnTo>
                  <a:pt x="223593" y="304686"/>
                </a:lnTo>
                <a:lnTo>
                  <a:pt x="167388" y="271563"/>
                </a:lnTo>
                <a:lnTo>
                  <a:pt x="118099" y="233794"/>
                </a:lnTo>
                <a:lnTo>
                  <a:pt x="76566" y="192024"/>
                </a:lnTo>
                <a:lnTo>
                  <a:pt x="43503" y="146969"/>
                </a:lnTo>
                <a:lnTo>
                  <a:pt x="19473" y="99399"/>
                </a:lnTo>
                <a:lnTo>
                  <a:pt x="4889" y="50128"/>
                </a:lnTo>
                <a:lnTo>
                  <a:pt x="0" y="0"/>
                </a:lnTo>
              </a:path>
            </a:pathLst>
          </a:custGeom>
          <a:ln w="19050">
            <a:solidFill>
              <a:srgbClr val="2A1F3D"/>
            </a:solidFill>
            <a:prstDash val="solid"/>
          </a:ln>
        </p:spPr>
      </p:sp>
      <p:sp>
        <p:nvSpPr>
          <p:cNvPr id="44" name="Shape 42"/>
          <p:cNvSpPr/>
          <p:nvPr/>
        </p:nvSpPr>
        <p:spPr>
          <a:xfrm>
            <a:off x="4503420" y="2651760"/>
            <a:ext cx="1143000" cy="91"/>
          </a:xfrm>
          <a:prstGeom prst="line">
            <a:avLst/>
          </a:prstGeom>
          <a:noFill/>
          <a:ln w="19050">
            <a:solidFill>
              <a:srgbClr val="2A1F3D"/>
            </a:solidFill>
            <a:prstDash val="solid"/>
          </a:ln>
        </p:spPr>
      </p:sp>
      <p:sp>
        <p:nvSpPr>
          <p:cNvPr id="45" name="Text 43"/>
          <p:cNvSpPr/>
          <p:nvPr/>
        </p:nvSpPr>
        <p:spPr>
          <a:xfrm>
            <a:off x="548640" y="3931920"/>
            <a:ext cx="1737360" cy="868680"/>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1</a:t>
            </a:r>
            <a:r>
              <a:rPr lang="en-US" sz="1050" dirty="0">
                <a:solidFill>
                  <a:srgbClr val="262B3A"/>
                </a:solidFill>
                <a:latin typeface="Calibri" pitchFamily="34" charset="0"/>
                <a:ea typeface="Calibri" pitchFamily="34" charset="-122"/>
                <a:cs typeface="Calibri" pitchFamily="34" charset="-120"/>
              </a:rPr>
              <a:t> Add CuO to warm acid until </a:t>
            </a:r>
            <a:r>
              <a:rPr lang="en-US" sz="1050" b="1" dirty="0">
                <a:solidFill>
                  <a:srgbClr val="262B3A"/>
                </a:solidFill>
                <a:latin typeface="Calibri" pitchFamily="34" charset="0"/>
                <a:ea typeface="Calibri" pitchFamily="34" charset="-122"/>
                <a:cs typeface="Calibri" pitchFamily="34" charset="-120"/>
              </a:rPr>
              <a:t>no more dissolves</a:t>
            </a:r>
            <a:r>
              <a:rPr lang="en-US" sz="1050" dirty="0">
                <a:solidFill>
                  <a:srgbClr val="262B3A"/>
                </a:solidFill>
                <a:latin typeface="Calibri" pitchFamily="34" charset="0"/>
                <a:ea typeface="Calibri" pitchFamily="34" charset="-122"/>
                <a:cs typeface="Calibri" pitchFamily="34" charset="-120"/>
              </a:rPr>
              <a:t>: CuO is in </a:t>
            </a:r>
            <a:r>
              <a:rPr lang="en-US" sz="1050" b="1" dirty="0">
                <a:solidFill>
                  <a:srgbClr val="262B3A"/>
                </a:solidFill>
                <a:latin typeface="Calibri" pitchFamily="34" charset="0"/>
                <a:ea typeface="Calibri" pitchFamily="34" charset="-122"/>
                <a:cs typeface="Calibri" pitchFamily="34" charset="-120"/>
              </a:rPr>
              <a:t>excess</a:t>
            </a:r>
            <a:endParaRPr lang="en-US" sz="1050" dirty="0"/>
          </a:p>
        </p:txBody>
      </p:sp>
      <p:sp>
        <p:nvSpPr>
          <p:cNvPr id="46" name="Text 44"/>
          <p:cNvSpPr/>
          <p:nvPr/>
        </p:nvSpPr>
        <p:spPr>
          <a:xfrm>
            <a:off x="2331720" y="3931920"/>
            <a:ext cx="1737360" cy="868680"/>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2</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262B3A"/>
                </a:solidFill>
                <a:latin typeface="Calibri" pitchFamily="34" charset="0"/>
                <a:ea typeface="Calibri" pitchFamily="34" charset="-122"/>
                <a:cs typeface="Calibri" pitchFamily="34" charset="-120"/>
              </a:rPr>
              <a:t>Filter</a:t>
            </a:r>
            <a:r>
              <a:rPr lang="en-US" sz="1050" dirty="0">
                <a:solidFill>
                  <a:srgbClr val="262B3A"/>
                </a:solidFill>
                <a:latin typeface="Calibri" pitchFamily="34" charset="0"/>
                <a:ea typeface="Calibri" pitchFamily="34" charset="-122"/>
                <a:cs typeface="Calibri" pitchFamily="34" charset="-120"/>
              </a:rPr>
              <a:t>: excess CuO stays in the filter paper</a:t>
            </a:r>
            <a:endParaRPr lang="en-US" sz="1050" dirty="0"/>
          </a:p>
        </p:txBody>
      </p:sp>
      <p:sp>
        <p:nvSpPr>
          <p:cNvPr id="47" name="Text 45"/>
          <p:cNvSpPr/>
          <p:nvPr/>
        </p:nvSpPr>
        <p:spPr>
          <a:xfrm>
            <a:off x="4114800" y="3931920"/>
            <a:ext cx="1737360" cy="868680"/>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3</a:t>
            </a:r>
            <a:r>
              <a:rPr lang="en-US" sz="1050" dirty="0">
                <a:solidFill>
                  <a:srgbClr val="262B3A"/>
                </a:solidFill>
                <a:latin typeface="Calibri" pitchFamily="34" charset="0"/>
                <a:ea typeface="Calibri" pitchFamily="34" charset="-122"/>
                <a:cs typeface="Calibri" pitchFamily="34" charset="-120"/>
              </a:rPr>
              <a:t> Filtrate = copper sulfate </a:t>
            </a:r>
            <a:r>
              <a:rPr lang="en-US" sz="1050" b="1" dirty="0">
                <a:solidFill>
                  <a:srgbClr val="262B3A"/>
                </a:solidFill>
                <a:latin typeface="Calibri" pitchFamily="34" charset="0"/>
                <a:ea typeface="Calibri" pitchFamily="34" charset="-122"/>
                <a:cs typeface="Calibri" pitchFamily="34" charset="-120"/>
              </a:rPr>
              <a:t>and water only</a:t>
            </a:r>
            <a:endParaRPr lang="en-US" sz="1050" dirty="0"/>
          </a:p>
        </p:txBody>
      </p:sp>
      <p:sp>
        <p:nvSpPr>
          <p:cNvPr id="48" name="Shape 46"/>
          <p:cNvSpPr/>
          <p:nvPr/>
        </p:nvSpPr>
        <p:spPr>
          <a:xfrm>
            <a:off x="640080" y="4892040"/>
            <a:ext cx="5120640" cy="384048"/>
          </a:xfrm>
          <a:prstGeom prst="roundRect">
            <a:avLst>
              <a:gd name="adj" fmla="val 11905"/>
            </a:avLst>
          </a:prstGeom>
          <a:solidFill>
            <a:srgbClr val="FFFFFF"/>
          </a:solidFill>
          <a:ln w="12700">
            <a:solidFill>
              <a:srgbClr val="DDD3EC"/>
            </a:solidFill>
            <a:prstDash val="solid"/>
          </a:ln>
        </p:spPr>
      </p:sp>
      <p:sp>
        <p:nvSpPr>
          <p:cNvPr id="49" name="Text 47"/>
          <p:cNvSpPr/>
          <p:nvPr/>
        </p:nvSpPr>
        <p:spPr>
          <a:xfrm>
            <a:off x="713232" y="4892040"/>
            <a:ext cx="4974336" cy="384048"/>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CuO(s) + H₂SO₄(aq) → CuSO₄(aq) + H₂O(l)</a:t>
            </a:r>
            <a:endParaRPr lang="en-US" sz="1200" dirty="0"/>
          </a:p>
        </p:txBody>
      </p:sp>
      <p:sp>
        <p:nvSpPr>
          <p:cNvPr id="50" name="Shape 48"/>
          <p:cNvSpPr/>
          <p:nvPr/>
        </p:nvSpPr>
        <p:spPr>
          <a:xfrm>
            <a:off x="6217920" y="1188720"/>
            <a:ext cx="5562295" cy="2468880"/>
          </a:xfrm>
          <a:prstGeom prst="roundRect">
            <a:avLst>
              <a:gd name="adj" fmla="val 2222"/>
            </a:avLst>
          </a:prstGeom>
          <a:solidFill>
            <a:srgbClr val="F8F5FC"/>
          </a:solidFill>
          <a:ln w="9525">
            <a:solidFill>
              <a:srgbClr val="DDD3EC"/>
            </a:solidFill>
            <a:prstDash val="solid"/>
          </a:ln>
        </p:spPr>
      </p:sp>
      <p:sp>
        <p:nvSpPr>
          <p:cNvPr id="51" name="Text 4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Why each step?</a:t>
            </a:r>
            <a:endParaRPr lang="en-US" sz="1300" dirty="0"/>
          </a:p>
        </p:txBody>
      </p:sp>
      <p:sp>
        <p:nvSpPr>
          <p:cNvPr id="52" name="Text 50"/>
          <p:cNvSpPr/>
          <p:nvPr/>
        </p:nvSpPr>
        <p:spPr>
          <a:xfrm>
            <a:off x="6382512" y="1609344"/>
            <a:ext cx="5233111" cy="197510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 Excess</a:t>
            </a:r>
            <a:r>
              <a:rPr lang="en-US" sz="1150" dirty="0">
                <a:solidFill>
                  <a:srgbClr val="262B3A"/>
                </a:solidFill>
                <a:latin typeface="Calibri" pitchFamily="34" charset="0"/>
                <a:ea typeface="Calibri" pitchFamily="34" charset="-122"/>
                <a:cs typeface="Calibri" pitchFamily="34" charset="-120"/>
              </a:rPr>
              <a:t> reactant is added so that </a:t>
            </a:r>
            <a:r>
              <a:rPr lang="en-US" sz="1150" b="1" dirty="0">
                <a:solidFill>
                  <a:srgbClr val="262B3A"/>
                </a:solidFill>
                <a:latin typeface="Calibri" pitchFamily="34" charset="0"/>
                <a:ea typeface="Calibri" pitchFamily="34" charset="-122"/>
                <a:cs typeface="Calibri" pitchFamily="34" charset="-120"/>
              </a:rPr>
              <a:t>all the acid</a:t>
            </a:r>
            <a:r>
              <a:rPr lang="en-US" sz="1150" dirty="0">
                <a:solidFill>
                  <a:srgbClr val="262B3A"/>
                </a:solidFill>
                <a:latin typeface="Calibri" pitchFamily="34" charset="0"/>
                <a:ea typeface="Calibri" pitchFamily="34" charset="-122"/>
                <a:cs typeface="Calibri" pitchFamily="34" charset="-120"/>
              </a:rPr>
              <a:t> reacts – no acid is left in the salt.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b</a:t>
            </a:r>
            <a:r>
              <a:rPr lang="en-US" sz="1150" dirty="0">
                <a:solidFill>
                  <a:srgbClr val="262B3A"/>
                </a:solidFill>
                <a:latin typeface="Calibri" pitchFamily="34" charset="0"/>
                <a:ea typeface="Calibri" pitchFamily="34" charset="-122"/>
                <a:cs typeface="Calibri" pitchFamily="34" charset="-120"/>
              </a:rPr>
              <a:t> The </a:t>
            </a:r>
            <a:r>
              <a:rPr lang="en-US" sz="1150" b="1" dirty="0">
                <a:solidFill>
                  <a:srgbClr val="262B3A"/>
                </a:solidFill>
                <a:latin typeface="Calibri" pitchFamily="34" charset="0"/>
                <a:ea typeface="Calibri" pitchFamily="34" charset="-122"/>
                <a:cs typeface="Calibri" pitchFamily="34" charset="-120"/>
              </a:rPr>
              <a:t>excess</a:t>
            </a:r>
            <a:r>
              <a:rPr lang="en-US" sz="1150" dirty="0">
                <a:solidFill>
                  <a:srgbClr val="262B3A"/>
                </a:solidFill>
                <a:latin typeface="Calibri" pitchFamily="34" charset="0"/>
                <a:ea typeface="Calibri" pitchFamily="34" charset="-122"/>
                <a:cs typeface="Calibri" pitchFamily="34" charset="-120"/>
              </a:rPr>
              <a:t> is removed by </a:t>
            </a:r>
            <a:r>
              <a:rPr lang="en-US" sz="1150" b="1" dirty="0">
                <a:solidFill>
                  <a:srgbClr val="262B3A"/>
                </a:solidFill>
                <a:latin typeface="Calibri" pitchFamily="34" charset="0"/>
                <a:ea typeface="Calibri" pitchFamily="34" charset="-122"/>
                <a:cs typeface="Calibri" pitchFamily="34" charset="-120"/>
              </a:rPr>
              <a:t>filtration</a:t>
            </a:r>
            <a:r>
              <a:rPr lang="en-US" sz="1150" dirty="0">
                <a:solidFill>
                  <a:srgbClr val="262B3A"/>
                </a:solidFill>
                <a:latin typeface="Calibri" pitchFamily="34" charset="0"/>
                <a:ea typeface="Calibri" pitchFamily="34" charset="-122"/>
                <a:cs typeface="Calibri" pitchFamily="34" charset="-120"/>
              </a:rPr>
              <a:t> because it is insoluble.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a:t>
            </a:r>
            <a:r>
              <a:rPr lang="en-US" sz="1150" dirty="0">
                <a:solidFill>
                  <a:srgbClr val="262B3A"/>
                </a:solidFill>
                <a:latin typeface="Calibri" pitchFamily="34" charset="0"/>
                <a:ea typeface="Calibri" pitchFamily="34" charset="-122"/>
                <a:cs typeface="Calibri" pitchFamily="34" charset="-120"/>
              </a:rPr>
              <a:t> The solution left contains </a:t>
            </a:r>
            <a:r>
              <a:rPr lang="en-US" sz="1150" b="1" dirty="0">
                <a:solidFill>
                  <a:srgbClr val="262B3A"/>
                </a:solidFill>
                <a:latin typeface="Calibri" pitchFamily="34" charset="0"/>
                <a:ea typeface="Calibri" pitchFamily="34" charset="-122"/>
                <a:cs typeface="Calibri" pitchFamily="34" charset="-120"/>
              </a:rPr>
              <a:t>only the salt and water</a:t>
            </a:r>
            <a:r>
              <a:rPr lang="en-US" sz="1150" dirty="0">
                <a:solidFill>
                  <a:srgbClr val="262B3A"/>
                </a:solidFill>
                <a:latin typeface="Calibri" pitchFamily="34" charset="0"/>
                <a:ea typeface="Calibri" pitchFamily="34" charset="-122"/>
                <a:cs typeface="Calibri" pitchFamily="34" charset="-120"/>
              </a:rPr>
              <a:t>, so pure crystals can be made from it.</a:t>
            </a:r>
            <a:endParaRPr lang="en-US" sz="1150" dirty="0"/>
          </a:p>
        </p:txBody>
      </p:sp>
      <p:sp>
        <p:nvSpPr>
          <p:cNvPr id="53" name="Shape 51"/>
          <p:cNvSpPr/>
          <p:nvPr/>
        </p:nvSpPr>
        <p:spPr>
          <a:xfrm>
            <a:off x="6217920" y="3794760"/>
            <a:ext cx="5562295" cy="1920240"/>
          </a:xfrm>
          <a:prstGeom prst="roundRect">
            <a:avLst>
              <a:gd name="adj" fmla="val 2857"/>
            </a:avLst>
          </a:prstGeom>
          <a:solidFill>
            <a:srgbClr val="FFF4E0"/>
          </a:solidFill>
          <a:ln w="9525">
            <a:solidFill>
              <a:srgbClr val="F1D9A8"/>
            </a:solidFill>
            <a:prstDash val="solid"/>
          </a:ln>
        </p:spPr>
      </p:sp>
      <p:sp>
        <p:nvSpPr>
          <p:cNvPr id="54" name="Text 52"/>
          <p:cNvSpPr/>
          <p:nvPr/>
        </p:nvSpPr>
        <p:spPr>
          <a:xfrm>
            <a:off x="6382512" y="38679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Choosing the method</a:t>
            </a:r>
            <a:endParaRPr lang="en-US" sz="1300" dirty="0"/>
          </a:p>
        </p:txBody>
      </p:sp>
      <p:sp>
        <p:nvSpPr>
          <p:cNvPr id="55" name="Text 53"/>
          <p:cNvSpPr/>
          <p:nvPr/>
        </p:nvSpPr>
        <p:spPr>
          <a:xfrm>
            <a:off x="6382512" y="4178808"/>
            <a:ext cx="5233111" cy="1463040"/>
          </a:xfrm>
          <a:prstGeom prst="rect">
            <a:avLst/>
          </a:prstGeom>
          <a:noFill/>
          <a:ln/>
        </p:spPr>
        <p:txBody>
          <a:bodyPr wrap="square" lIns="0" tIns="0" rIns="0" bIns="0" rtlCol="0" anchor="t"/>
          <a:lstStyle/>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Insoluble base   </a:t>
            </a:r>
            <a:r>
              <a:rPr lang="en-US" sz="1050" dirty="0">
                <a:solidFill>
                  <a:srgbClr val="262B3A"/>
                </a:solidFill>
                <a:latin typeface="Calibri" pitchFamily="34" charset="0"/>
                <a:ea typeface="Calibri" pitchFamily="34" charset="-122"/>
                <a:cs typeface="Calibri" pitchFamily="34" charset="-120"/>
              </a:rPr>
              <a:t>CuO, MgCO₃, Zn: add in excess, then filter (3.15)</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Soluble base   </a:t>
            </a:r>
            <a:r>
              <a:rPr lang="en-US" sz="1050" dirty="0">
                <a:solidFill>
                  <a:srgbClr val="262B3A"/>
                </a:solidFill>
                <a:latin typeface="Calibri" pitchFamily="34" charset="0"/>
                <a:ea typeface="Calibri" pitchFamily="34" charset="-122"/>
                <a:cs typeface="Calibri" pitchFamily="34" charset="-120"/>
              </a:rPr>
              <a:t>NaOH, KOH: no excess can be filtered → titration (3.16)</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Insoluble salt   </a:t>
            </a:r>
            <a:r>
              <a:rPr lang="en-US" sz="1050" dirty="0">
                <a:solidFill>
                  <a:srgbClr val="262B3A"/>
                </a:solidFill>
                <a:latin typeface="Calibri" pitchFamily="34" charset="0"/>
                <a:ea typeface="Calibri" pitchFamily="34" charset="-122"/>
                <a:cs typeface="Calibri" pitchFamily="34" charset="-120"/>
              </a:rPr>
              <a:t>mix two solutions → precipitate (3.21)</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the solubility of the reactants and the salt decides the method</a:t>
            </a:r>
            <a:endParaRPr lang="en-US" sz="1050" dirty="0"/>
          </a:p>
        </p:txBody>
      </p:sp>
      <p:sp>
        <p:nvSpPr>
          <p:cNvPr id="56" name="Shape 54"/>
          <p:cNvSpPr/>
          <p:nvPr/>
        </p:nvSpPr>
        <p:spPr>
          <a:xfrm>
            <a:off x="411480" y="5833872"/>
            <a:ext cx="11368735" cy="530352"/>
          </a:xfrm>
          <a:prstGeom prst="rect">
            <a:avLst/>
          </a:prstGeom>
          <a:solidFill>
            <a:srgbClr val="FFF4E0"/>
          </a:solidFill>
          <a:ln w="6350">
            <a:solidFill>
              <a:srgbClr val="F1D9A8"/>
            </a:solidFill>
            <a:prstDash val="solid"/>
          </a:ln>
        </p:spPr>
      </p:sp>
      <p:sp>
        <p:nvSpPr>
          <p:cNvPr id="57" name="Shape 55"/>
          <p:cNvSpPr/>
          <p:nvPr/>
        </p:nvSpPr>
        <p:spPr>
          <a:xfrm>
            <a:off x="411480" y="5833872"/>
            <a:ext cx="82296" cy="530352"/>
          </a:xfrm>
          <a:prstGeom prst="rect">
            <a:avLst/>
          </a:prstGeom>
          <a:solidFill>
            <a:srgbClr val="E39A2F"/>
          </a:solidFill>
          <a:ln w="12700">
            <a:solidFill>
              <a:srgbClr val="E39A2F"/>
            </a:solidFill>
            <a:prstDash val="solid"/>
          </a:ln>
        </p:spPr>
      </p:sp>
      <p:sp>
        <p:nvSpPr>
          <p:cNvPr id="58" name="Text 5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How can you tell when the copper oxide is in </a:t>
            </a:r>
            <a:r>
              <a:rPr lang="en-US" sz="1150" b="1" dirty="0">
                <a:solidFill>
                  <a:srgbClr val="262B3A"/>
                </a:solidFill>
                <a:latin typeface="Calibri" pitchFamily="34" charset="0"/>
                <a:ea typeface="Calibri" pitchFamily="34" charset="-122"/>
                <a:cs typeface="Calibri" pitchFamily="34" charset="-120"/>
              </a:rPr>
              <a:t>excess</a:t>
            </a:r>
            <a:r>
              <a:rPr lang="en-US" sz="1150" dirty="0">
                <a:solidFill>
                  <a:srgbClr val="262B3A"/>
                </a:solidFill>
                <a:latin typeface="Calibri" pitchFamily="34" charset="0"/>
                <a:ea typeface="Calibri" pitchFamily="34" charset="-122"/>
                <a:cs typeface="Calibri" pitchFamily="34" charset="-120"/>
              </a:rPr>
              <a:t>? Why does the excess not end up in the salt?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Core Practical: hydrated copper sulfate crystals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3.17 • pure, dry hydrated copper sulfate from copper oxide, using a water bath</a:t>
            </a:r>
            <a:endParaRPr lang="en-US" sz="1100" dirty="0"/>
          </a:p>
        </p:txBody>
      </p:sp>
      <p:sp>
        <p:nvSpPr>
          <p:cNvPr id="6" name="Shape 4"/>
          <p:cNvSpPr/>
          <p:nvPr/>
        </p:nvSpPr>
        <p:spPr>
          <a:xfrm>
            <a:off x="10408615" y="292608"/>
            <a:ext cx="1371600"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408615" y="29260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CP 3.17  |  19</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four stages (apparatus not to scale)</a:t>
            </a:r>
            <a:endParaRPr lang="en-US" sz="1000" dirty="0"/>
          </a:p>
        </p:txBody>
      </p:sp>
      <p:sp>
        <p:nvSpPr>
          <p:cNvPr id="12" name="Shape 10"/>
          <p:cNvSpPr/>
          <p:nvPr/>
        </p:nvSpPr>
        <p:spPr>
          <a:xfrm>
            <a:off x="548640" y="1325880"/>
            <a:ext cx="2606040" cy="1965960"/>
          </a:xfrm>
          <a:prstGeom prst="roundRect">
            <a:avLst>
              <a:gd name="adj" fmla="val 2326"/>
            </a:avLst>
          </a:prstGeom>
          <a:solidFill>
            <a:srgbClr val="FFFFFF"/>
          </a:solidFill>
          <a:ln w="12700">
            <a:solidFill>
              <a:srgbClr val="DDD3EC"/>
            </a:solidFill>
            <a:prstDash val="solid"/>
          </a:ln>
        </p:spPr>
      </p:sp>
      <p:sp>
        <p:nvSpPr>
          <p:cNvPr id="13" name="Shape 11"/>
          <p:cNvSpPr/>
          <p:nvPr/>
        </p:nvSpPr>
        <p:spPr>
          <a:xfrm>
            <a:off x="3291840" y="1325880"/>
            <a:ext cx="2606040" cy="1965960"/>
          </a:xfrm>
          <a:prstGeom prst="roundRect">
            <a:avLst>
              <a:gd name="adj" fmla="val 2326"/>
            </a:avLst>
          </a:prstGeom>
          <a:solidFill>
            <a:srgbClr val="FFFFFF"/>
          </a:solidFill>
          <a:ln w="12700">
            <a:solidFill>
              <a:srgbClr val="DDD3EC"/>
            </a:solidFill>
            <a:prstDash val="solid"/>
          </a:ln>
        </p:spPr>
      </p:sp>
      <p:sp>
        <p:nvSpPr>
          <p:cNvPr id="14" name="Shape 12"/>
          <p:cNvSpPr/>
          <p:nvPr/>
        </p:nvSpPr>
        <p:spPr>
          <a:xfrm>
            <a:off x="548640" y="3364992"/>
            <a:ext cx="2606040" cy="1965960"/>
          </a:xfrm>
          <a:prstGeom prst="roundRect">
            <a:avLst>
              <a:gd name="adj" fmla="val 2326"/>
            </a:avLst>
          </a:prstGeom>
          <a:solidFill>
            <a:srgbClr val="FFFFFF"/>
          </a:solidFill>
          <a:ln w="12700">
            <a:solidFill>
              <a:srgbClr val="DDD3EC"/>
            </a:solidFill>
            <a:prstDash val="solid"/>
          </a:ln>
        </p:spPr>
      </p:sp>
      <p:sp>
        <p:nvSpPr>
          <p:cNvPr id="15" name="Shape 13"/>
          <p:cNvSpPr/>
          <p:nvPr/>
        </p:nvSpPr>
        <p:spPr>
          <a:xfrm>
            <a:off x="3291840" y="3364992"/>
            <a:ext cx="2606040" cy="1965960"/>
          </a:xfrm>
          <a:prstGeom prst="roundRect">
            <a:avLst>
              <a:gd name="adj" fmla="val 2326"/>
            </a:avLst>
          </a:prstGeom>
          <a:solidFill>
            <a:srgbClr val="FFFFFF"/>
          </a:solidFill>
          <a:ln w="12700">
            <a:solidFill>
              <a:srgbClr val="DDD3EC"/>
            </a:solidFill>
            <a:prstDash val="solid"/>
          </a:ln>
        </p:spPr>
      </p:sp>
      <p:sp>
        <p:nvSpPr>
          <p:cNvPr id="16" name="Shape 14"/>
          <p:cNvSpPr/>
          <p:nvPr/>
        </p:nvSpPr>
        <p:spPr>
          <a:xfrm>
            <a:off x="621792" y="1399032"/>
            <a:ext cx="310896" cy="310896"/>
          </a:xfrm>
          <a:prstGeom prst="ellipse">
            <a:avLst/>
          </a:prstGeom>
          <a:solidFill>
            <a:srgbClr val="B8730A"/>
          </a:solidFill>
          <a:ln w="19050">
            <a:solidFill>
              <a:srgbClr val="FFFFFF"/>
            </a:solidFill>
            <a:prstDash val="solid"/>
          </a:ln>
        </p:spPr>
      </p:sp>
      <p:sp>
        <p:nvSpPr>
          <p:cNvPr id="17" name="Text 15"/>
          <p:cNvSpPr/>
          <p:nvPr/>
        </p:nvSpPr>
        <p:spPr>
          <a:xfrm>
            <a:off x="621792" y="139903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6"/>
          <p:cNvSpPr/>
          <p:nvPr/>
        </p:nvSpPr>
        <p:spPr>
          <a:xfrm>
            <a:off x="987552" y="1380744"/>
            <a:ext cx="2103120" cy="384048"/>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warm the acid in a </a:t>
            </a:r>
            <a:r>
              <a:rPr lang="en-US" sz="1000" b="1" dirty="0">
                <a:solidFill>
                  <a:srgbClr val="262B3A"/>
                </a:solidFill>
                <a:latin typeface="Calibri" pitchFamily="34" charset="0"/>
                <a:ea typeface="Calibri" pitchFamily="34" charset="-122"/>
                <a:cs typeface="Calibri" pitchFamily="34" charset="-120"/>
              </a:rPr>
              <a:t>water bath</a:t>
            </a:r>
            <a:r>
              <a:rPr lang="en-US" sz="1000" dirty="0">
                <a:solidFill>
                  <a:srgbClr val="262B3A"/>
                </a:solidFill>
                <a:latin typeface="Calibri" pitchFamily="34" charset="0"/>
                <a:ea typeface="Calibri" pitchFamily="34" charset="-122"/>
                <a:cs typeface="Calibri" pitchFamily="34" charset="-120"/>
              </a:rPr>
              <a:t>; add CuO in portions</a:t>
            </a:r>
            <a:endParaRPr lang="en-US" sz="1000" dirty="0"/>
          </a:p>
        </p:txBody>
      </p:sp>
      <p:sp>
        <p:nvSpPr>
          <p:cNvPr id="19" name="Shape 17"/>
          <p:cNvSpPr/>
          <p:nvPr/>
        </p:nvSpPr>
        <p:spPr>
          <a:xfrm>
            <a:off x="3364992" y="1399032"/>
            <a:ext cx="310896" cy="310896"/>
          </a:xfrm>
          <a:prstGeom prst="ellipse">
            <a:avLst/>
          </a:prstGeom>
          <a:solidFill>
            <a:srgbClr val="B8730A"/>
          </a:solidFill>
          <a:ln w="19050">
            <a:solidFill>
              <a:srgbClr val="FFFFFF"/>
            </a:solidFill>
            <a:prstDash val="solid"/>
          </a:ln>
        </p:spPr>
      </p:sp>
      <p:sp>
        <p:nvSpPr>
          <p:cNvPr id="20" name="Text 18"/>
          <p:cNvSpPr/>
          <p:nvPr/>
        </p:nvSpPr>
        <p:spPr>
          <a:xfrm>
            <a:off x="3364992" y="139903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9"/>
          <p:cNvSpPr/>
          <p:nvPr/>
        </p:nvSpPr>
        <p:spPr>
          <a:xfrm>
            <a:off x="3730752" y="1380744"/>
            <a:ext cx="2103120" cy="384048"/>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filter</a:t>
            </a:r>
            <a:r>
              <a:rPr lang="en-US" sz="1000" dirty="0">
                <a:solidFill>
                  <a:srgbClr val="262B3A"/>
                </a:solidFill>
                <a:latin typeface="Calibri" pitchFamily="34" charset="0"/>
                <a:ea typeface="Calibri" pitchFamily="34" charset="-122"/>
                <a:cs typeface="Calibri" pitchFamily="34" charset="-120"/>
              </a:rPr>
              <a:t> off the excess copper oxide</a:t>
            </a:r>
            <a:endParaRPr lang="en-US" sz="1000" dirty="0"/>
          </a:p>
        </p:txBody>
      </p:sp>
      <p:sp>
        <p:nvSpPr>
          <p:cNvPr id="22" name="Shape 20"/>
          <p:cNvSpPr/>
          <p:nvPr/>
        </p:nvSpPr>
        <p:spPr>
          <a:xfrm>
            <a:off x="621792" y="3438144"/>
            <a:ext cx="310896" cy="310896"/>
          </a:xfrm>
          <a:prstGeom prst="ellipse">
            <a:avLst/>
          </a:prstGeom>
          <a:solidFill>
            <a:srgbClr val="B8730A"/>
          </a:solidFill>
          <a:ln w="19050">
            <a:solidFill>
              <a:srgbClr val="FFFFFF"/>
            </a:solidFill>
            <a:prstDash val="solid"/>
          </a:ln>
        </p:spPr>
      </p:sp>
      <p:sp>
        <p:nvSpPr>
          <p:cNvPr id="23" name="Text 21"/>
          <p:cNvSpPr/>
          <p:nvPr/>
        </p:nvSpPr>
        <p:spPr>
          <a:xfrm>
            <a:off x="621792" y="34381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22"/>
          <p:cNvSpPr/>
          <p:nvPr/>
        </p:nvSpPr>
        <p:spPr>
          <a:xfrm>
            <a:off x="987552" y="3419856"/>
            <a:ext cx="2103120" cy="384048"/>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heat in a </a:t>
            </a:r>
            <a:r>
              <a:rPr lang="en-US" sz="1000" b="1" dirty="0">
                <a:solidFill>
                  <a:srgbClr val="262B3A"/>
                </a:solidFill>
                <a:latin typeface="Calibri" pitchFamily="34" charset="0"/>
                <a:ea typeface="Calibri" pitchFamily="34" charset="-122"/>
                <a:cs typeface="Calibri" pitchFamily="34" charset="-120"/>
              </a:rPr>
              <a:t>water bath</a:t>
            </a:r>
            <a:r>
              <a:rPr lang="en-US" sz="1000" dirty="0">
                <a:solidFill>
                  <a:srgbClr val="262B3A"/>
                </a:solidFill>
                <a:latin typeface="Calibri" pitchFamily="34" charset="0"/>
                <a:ea typeface="Calibri" pitchFamily="34" charset="-122"/>
                <a:cs typeface="Calibri" pitchFamily="34" charset="-120"/>
              </a:rPr>
              <a:t> until crystals form at the edge</a:t>
            </a:r>
            <a:endParaRPr lang="en-US" sz="1000" dirty="0"/>
          </a:p>
        </p:txBody>
      </p:sp>
      <p:sp>
        <p:nvSpPr>
          <p:cNvPr id="25" name="Shape 23"/>
          <p:cNvSpPr/>
          <p:nvPr/>
        </p:nvSpPr>
        <p:spPr>
          <a:xfrm>
            <a:off x="3364992" y="3438144"/>
            <a:ext cx="310896" cy="310896"/>
          </a:xfrm>
          <a:prstGeom prst="ellipse">
            <a:avLst/>
          </a:prstGeom>
          <a:solidFill>
            <a:srgbClr val="B8730A"/>
          </a:solidFill>
          <a:ln w="19050">
            <a:solidFill>
              <a:srgbClr val="FFFFFF"/>
            </a:solidFill>
            <a:prstDash val="solid"/>
          </a:ln>
        </p:spPr>
      </p:sp>
      <p:sp>
        <p:nvSpPr>
          <p:cNvPr id="26" name="Text 24"/>
          <p:cNvSpPr/>
          <p:nvPr/>
        </p:nvSpPr>
        <p:spPr>
          <a:xfrm>
            <a:off x="3364992" y="34381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3730752" y="3419856"/>
            <a:ext cx="2103120" cy="384048"/>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leave to </a:t>
            </a:r>
            <a:r>
              <a:rPr lang="en-US" sz="1000" b="1" dirty="0">
                <a:solidFill>
                  <a:srgbClr val="262B3A"/>
                </a:solidFill>
                <a:latin typeface="Calibri" pitchFamily="34" charset="0"/>
                <a:ea typeface="Calibri" pitchFamily="34" charset="-122"/>
                <a:cs typeface="Calibri" pitchFamily="34" charset="-120"/>
              </a:rPr>
              <a:t>cool</a:t>
            </a:r>
            <a:r>
              <a:rPr lang="en-US" sz="1000" dirty="0">
                <a:solidFill>
                  <a:srgbClr val="262B3A"/>
                </a:solidFill>
                <a:latin typeface="Calibri" pitchFamily="34" charset="0"/>
                <a:ea typeface="Calibri" pitchFamily="34" charset="-122"/>
                <a:cs typeface="Calibri" pitchFamily="34" charset="-120"/>
              </a:rPr>
              <a:t>; pat crystals </a:t>
            </a:r>
            <a:r>
              <a:rPr lang="en-US" sz="1000" b="1" dirty="0">
                <a:solidFill>
                  <a:srgbClr val="262B3A"/>
                </a:solidFill>
                <a:latin typeface="Calibri" pitchFamily="34" charset="0"/>
                <a:ea typeface="Calibri" pitchFamily="34" charset="-122"/>
                <a:cs typeface="Calibri" pitchFamily="34" charset="-120"/>
              </a:rPr>
              <a:t>dry</a:t>
            </a:r>
            <a:r>
              <a:rPr lang="en-US" sz="1000" dirty="0">
                <a:solidFill>
                  <a:srgbClr val="262B3A"/>
                </a:solidFill>
                <a:latin typeface="Calibri" pitchFamily="34" charset="0"/>
                <a:ea typeface="Calibri" pitchFamily="34" charset="-122"/>
                <a:cs typeface="Calibri" pitchFamily="34" charset="-120"/>
              </a:rPr>
              <a:t> with filter paper</a:t>
            </a:r>
            <a:endParaRPr lang="en-US" sz="1000" dirty="0"/>
          </a:p>
        </p:txBody>
      </p:sp>
      <p:sp>
        <p:nvSpPr>
          <p:cNvPr id="28" name="Shape 26"/>
          <p:cNvSpPr/>
          <p:nvPr/>
        </p:nvSpPr>
        <p:spPr>
          <a:xfrm>
            <a:off x="777240" y="2331720"/>
            <a:ext cx="2148840" cy="868680"/>
          </a:xfrm>
          <a:prstGeom prst="rect">
            <a:avLst/>
          </a:prstGeom>
          <a:solidFill>
            <a:srgbClr val="D7E9F8"/>
          </a:solidFill>
          <a:ln w="19050">
            <a:solidFill>
              <a:srgbClr val="4A5568"/>
            </a:solidFill>
            <a:prstDash val="solid"/>
          </a:ln>
        </p:spPr>
      </p:sp>
      <p:sp>
        <p:nvSpPr>
          <p:cNvPr id="29" name="Shape 27"/>
          <p:cNvSpPr/>
          <p:nvPr/>
        </p:nvSpPr>
        <p:spPr>
          <a:xfrm>
            <a:off x="777240" y="2468880"/>
            <a:ext cx="2148840" cy="91"/>
          </a:xfrm>
          <a:prstGeom prst="line">
            <a:avLst/>
          </a:prstGeom>
          <a:noFill/>
          <a:ln w="12700">
            <a:solidFill>
              <a:srgbClr val="5B9BD5"/>
            </a:solidFill>
            <a:prstDash val="solid"/>
          </a:ln>
        </p:spPr>
      </p:sp>
      <p:sp>
        <p:nvSpPr>
          <p:cNvPr id="30" name="Shape 28"/>
          <p:cNvSpPr/>
          <p:nvPr/>
        </p:nvSpPr>
        <p:spPr>
          <a:xfrm>
            <a:off x="1280160" y="1920240"/>
            <a:ext cx="822960" cy="1143000"/>
          </a:xfrm>
          <a:prstGeom prst="rect">
            <a:avLst/>
          </a:prstGeom>
          <a:solidFill>
            <a:srgbClr val="EEF5FB"/>
          </a:solidFill>
          <a:ln/>
        </p:spPr>
      </p:sp>
      <p:sp>
        <p:nvSpPr>
          <p:cNvPr id="31" name="Shape 29"/>
          <p:cNvSpPr/>
          <p:nvPr/>
        </p:nvSpPr>
        <p:spPr>
          <a:xfrm>
            <a:off x="1280160" y="2434590"/>
            <a:ext cx="822960" cy="628650"/>
          </a:xfrm>
          <a:prstGeom prst="rect">
            <a:avLst/>
          </a:prstGeom>
          <a:solidFill>
            <a:srgbClr val="F9E0DA"/>
          </a:solidFill>
          <a:ln/>
        </p:spPr>
      </p:sp>
      <p:sp>
        <p:nvSpPr>
          <p:cNvPr id="32" name="Shape 30"/>
          <p:cNvSpPr/>
          <p:nvPr/>
        </p:nvSpPr>
        <p:spPr>
          <a:xfrm>
            <a:off x="1280160" y="2434590"/>
            <a:ext cx="822960" cy="91"/>
          </a:xfrm>
          <a:prstGeom prst="line">
            <a:avLst/>
          </a:prstGeom>
          <a:noFill/>
          <a:ln w="12700">
            <a:solidFill>
              <a:srgbClr val="5B9BD5"/>
            </a:solidFill>
            <a:prstDash val="solid"/>
          </a:ln>
        </p:spPr>
      </p:sp>
      <p:sp>
        <p:nvSpPr>
          <p:cNvPr id="33" name="Shape 31"/>
          <p:cNvSpPr/>
          <p:nvPr/>
        </p:nvSpPr>
        <p:spPr>
          <a:xfrm>
            <a:off x="1280160" y="1920240"/>
            <a:ext cx="91" cy="1143000"/>
          </a:xfrm>
          <a:prstGeom prst="line">
            <a:avLst/>
          </a:prstGeom>
          <a:noFill/>
          <a:ln w="19050">
            <a:solidFill>
              <a:srgbClr val="2A1F3D"/>
            </a:solidFill>
            <a:prstDash val="solid"/>
          </a:ln>
        </p:spPr>
      </p:sp>
      <p:sp>
        <p:nvSpPr>
          <p:cNvPr id="34" name="Shape 32"/>
          <p:cNvSpPr/>
          <p:nvPr/>
        </p:nvSpPr>
        <p:spPr>
          <a:xfrm>
            <a:off x="2103120" y="1920240"/>
            <a:ext cx="91" cy="1143000"/>
          </a:xfrm>
          <a:prstGeom prst="line">
            <a:avLst/>
          </a:prstGeom>
          <a:noFill/>
          <a:ln w="19050">
            <a:solidFill>
              <a:srgbClr val="2A1F3D"/>
            </a:solidFill>
            <a:prstDash val="solid"/>
          </a:ln>
        </p:spPr>
      </p:sp>
      <p:sp>
        <p:nvSpPr>
          <p:cNvPr id="35" name="Shape 33"/>
          <p:cNvSpPr/>
          <p:nvPr/>
        </p:nvSpPr>
        <p:spPr>
          <a:xfrm>
            <a:off x="1280160" y="3063240"/>
            <a:ext cx="822960" cy="91"/>
          </a:xfrm>
          <a:prstGeom prst="line">
            <a:avLst/>
          </a:prstGeom>
          <a:noFill/>
          <a:ln w="19050">
            <a:solidFill>
              <a:srgbClr val="2A1F3D"/>
            </a:solidFill>
            <a:prstDash val="solid"/>
          </a:ln>
        </p:spPr>
      </p:sp>
      <p:sp>
        <p:nvSpPr>
          <p:cNvPr id="36" name="Shape 34"/>
          <p:cNvSpPr/>
          <p:nvPr/>
        </p:nvSpPr>
        <p:spPr>
          <a:xfrm>
            <a:off x="1225296" y="1920240"/>
            <a:ext cx="54864" cy="91"/>
          </a:xfrm>
          <a:prstGeom prst="line">
            <a:avLst/>
          </a:prstGeom>
          <a:noFill/>
          <a:ln w="19050">
            <a:solidFill>
              <a:srgbClr val="2A1F3D"/>
            </a:solidFill>
            <a:prstDash val="solid"/>
          </a:ln>
        </p:spPr>
      </p:sp>
      <p:sp>
        <p:nvSpPr>
          <p:cNvPr id="37" name="Shape 35"/>
          <p:cNvSpPr/>
          <p:nvPr/>
        </p:nvSpPr>
        <p:spPr>
          <a:xfrm>
            <a:off x="2103120" y="1920240"/>
            <a:ext cx="54864" cy="91"/>
          </a:xfrm>
          <a:prstGeom prst="line">
            <a:avLst/>
          </a:prstGeom>
          <a:noFill/>
          <a:ln w="19050">
            <a:solidFill>
              <a:srgbClr val="2A1F3D"/>
            </a:solidFill>
            <a:prstDash val="solid"/>
          </a:ln>
        </p:spPr>
      </p:sp>
      <p:sp>
        <p:nvSpPr>
          <p:cNvPr id="38" name="Shape 36"/>
          <p:cNvSpPr/>
          <p:nvPr/>
        </p:nvSpPr>
        <p:spPr>
          <a:xfrm>
            <a:off x="2423160" y="1810512"/>
            <a:ext cx="91" cy="1207008"/>
          </a:xfrm>
          <a:prstGeom prst="line">
            <a:avLst/>
          </a:prstGeom>
          <a:noFill/>
          <a:ln w="31750">
            <a:solidFill>
              <a:srgbClr val="B0B6C0"/>
            </a:solidFill>
            <a:prstDash val="solid"/>
          </a:ln>
        </p:spPr>
      </p:sp>
      <p:sp>
        <p:nvSpPr>
          <p:cNvPr id="39" name="Shape 37"/>
          <p:cNvSpPr/>
          <p:nvPr/>
        </p:nvSpPr>
        <p:spPr>
          <a:xfrm>
            <a:off x="2377440" y="2971800"/>
            <a:ext cx="91440" cy="91440"/>
          </a:xfrm>
          <a:prstGeom prst="ellipse">
            <a:avLst/>
          </a:prstGeom>
          <a:solidFill>
            <a:srgbClr val="C8414C"/>
          </a:solidFill>
          <a:ln w="9525">
            <a:solidFill>
              <a:srgbClr val="C8414C"/>
            </a:solidFill>
            <a:prstDash val="solid"/>
          </a:ln>
        </p:spPr>
      </p:sp>
      <p:sp>
        <p:nvSpPr>
          <p:cNvPr id="40" name="Text 38"/>
          <p:cNvSpPr/>
          <p:nvPr/>
        </p:nvSpPr>
        <p:spPr>
          <a:xfrm>
            <a:off x="2514600" y="1828800"/>
            <a:ext cx="59436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50 °C</a:t>
            </a:r>
            <a:endParaRPr lang="en-US" sz="1050" dirty="0"/>
          </a:p>
        </p:txBody>
      </p:sp>
      <p:sp>
        <p:nvSpPr>
          <p:cNvPr id="41" name="Shape 39"/>
          <p:cNvSpPr/>
          <p:nvPr/>
        </p:nvSpPr>
        <p:spPr>
          <a:xfrm>
            <a:off x="4137660" y="1810512"/>
            <a:ext cx="868680" cy="548640"/>
          </a:xfrm>
          <a:custGeom>
            <a:avLst/>
            <a:gdLst/>
            <a:ahLst/>
            <a:cxnLst/>
            <a:rect l="l" t="t" r="r" b="b"/>
            <a:pathLst>
              <a:path w="868680" h="548640">
                <a:moveTo>
                  <a:pt x="0" y="0"/>
                </a:moveTo>
                <a:lnTo>
                  <a:pt x="868680" y="0"/>
                </a:lnTo>
                <a:lnTo>
                  <a:pt x="480060" y="548640"/>
                </a:lnTo>
                <a:lnTo>
                  <a:pt x="388620" y="548640"/>
                </a:lnTo>
                <a:close/>
              </a:path>
            </a:pathLst>
          </a:custGeom>
          <a:solidFill>
            <a:srgbClr val="EEF5FB"/>
          </a:solidFill>
          <a:ln w="19050">
            <a:solidFill>
              <a:srgbClr val="2A1F3D"/>
            </a:solidFill>
            <a:prstDash val="solid"/>
          </a:ln>
        </p:spPr>
      </p:sp>
      <p:sp>
        <p:nvSpPr>
          <p:cNvPr id="42" name="Shape 40"/>
          <p:cNvSpPr/>
          <p:nvPr/>
        </p:nvSpPr>
        <p:spPr>
          <a:xfrm>
            <a:off x="4526280" y="2359152"/>
            <a:ext cx="91440" cy="292608"/>
          </a:xfrm>
          <a:prstGeom prst="rect">
            <a:avLst/>
          </a:prstGeom>
          <a:solidFill>
            <a:srgbClr val="EEF5FB"/>
          </a:solidFill>
          <a:ln w="15875">
            <a:solidFill>
              <a:srgbClr val="2A1F3D"/>
            </a:solidFill>
            <a:prstDash val="solid"/>
          </a:ln>
        </p:spPr>
      </p:sp>
      <p:sp>
        <p:nvSpPr>
          <p:cNvPr id="43" name="Shape 41"/>
          <p:cNvSpPr/>
          <p:nvPr/>
        </p:nvSpPr>
        <p:spPr>
          <a:xfrm>
            <a:off x="4201668" y="1837944"/>
            <a:ext cx="740664" cy="539496"/>
          </a:xfrm>
          <a:custGeom>
            <a:avLst/>
            <a:gdLst/>
            <a:ahLst/>
            <a:cxnLst/>
            <a:rect l="l" t="t" r="r" b="b"/>
            <a:pathLst>
              <a:path w="740664" h="539496">
                <a:moveTo>
                  <a:pt x="0" y="0"/>
                </a:moveTo>
                <a:lnTo>
                  <a:pt x="740664" y="0"/>
                </a:lnTo>
                <a:lnTo>
                  <a:pt x="370332" y="539496"/>
                </a:lnTo>
                <a:close/>
              </a:path>
            </a:pathLst>
          </a:custGeom>
          <a:solidFill>
            <a:srgbClr val="FFFFFF"/>
          </a:solidFill>
          <a:ln w="9525">
            <a:solidFill>
              <a:srgbClr val="9AA3B0"/>
            </a:solidFill>
            <a:prstDash val="solid"/>
          </a:ln>
        </p:spPr>
      </p:sp>
      <p:sp>
        <p:nvSpPr>
          <p:cNvPr id="44" name="Shape 42"/>
          <p:cNvSpPr/>
          <p:nvPr/>
        </p:nvSpPr>
        <p:spPr>
          <a:xfrm>
            <a:off x="4416461" y="2128723"/>
            <a:ext cx="311079" cy="230429"/>
          </a:xfrm>
          <a:custGeom>
            <a:avLst/>
            <a:gdLst/>
            <a:ahLst/>
            <a:cxnLst/>
            <a:rect l="l" t="t" r="r" b="b"/>
            <a:pathLst>
              <a:path w="311079" h="230429">
                <a:moveTo>
                  <a:pt x="0" y="0"/>
                </a:moveTo>
                <a:lnTo>
                  <a:pt x="311079" y="0"/>
                </a:lnTo>
                <a:lnTo>
                  <a:pt x="155539" y="230429"/>
                </a:lnTo>
                <a:close/>
              </a:path>
            </a:pathLst>
          </a:custGeom>
          <a:solidFill>
            <a:srgbClr val="3A3A3A"/>
          </a:solidFill>
          <a:ln w="6350">
            <a:solidFill>
              <a:srgbClr val="1A1A1A"/>
            </a:solidFill>
            <a:prstDash val="solid"/>
          </a:ln>
        </p:spPr>
      </p:sp>
      <p:sp>
        <p:nvSpPr>
          <p:cNvPr id="45" name="Shape 43"/>
          <p:cNvSpPr/>
          <p:nvPr/>
        </p:nvSpPr>
        <p:spPr>
          <a:xfrm>
            <a:off x="4539996" y="2683764"/>
            <a:ext cx="64008" cy="64008"/>
          </a:xfrm>
          <a:prstGeom prst="ellipse">
            <a:avLst/>
          </a:prstGeom>
          <a:solidFill>
            <a:srgbClr val="8EC9F0"/>
          </a:solidFill>
          <a:ln w="9525">
            <a:solidFill>
              <a:srgbClr val="8EC9F0"/>
            </a:solidFill>
            <a:prstDash val="solid"/>
          </a:ln>
        </p:spPr>
      </p:sp>
      <p:sp>
        <p:nvSpPr>
          <p:cNvPr id="46" name="Shape 44"/>
          <p:cNvSpPr/>
          <p:nvPr/>
        </p:nvSpPr>
        <p:spPr>
          <a:xfrm>
            <a:off x="4137660" y="2724912"/>
            <a:ext cx="868680" cy="548640"/>
          </a:xfrm>
          <a:custGeom>
            <a:avLst/>
            <a:gdLst/>
            <a:ahLst/>
            <a:cxnLst/>
            <a:rect l="l" t="t" r="r" b="b"/>
            <a:pathLst>
              <a:path w="868680" h="548640">
                <a:moveTo>
                  <a:pt x="304038" y="0"/>
                </a:moveTo>
                <a:lnTo>
                  <a:pt x="304038" y="164592"/>
                </a:lnTo>
                <a:lnTo>
                  <a:pt x="0" y="548640"/>
                </a:lnTo>
                <a:lnTo>
                  <a:pt x="868680" y="548640"/>
                </a:lnTo>
                <a:lnTo>
                  <a:pt x="564642" y="164592"/>
                </a:lnTo>
                <a:lnTo>
                  <a:pt x="564642" y="0"/>
                </a:lnTo>
                <a:close/>
              </a:path>
            </a:pathLst>
          </a:custGeom>
          <a:solidFill>
            <a:srgbClr val="EEF5FB"/>
          </a:solidFill>
          <a:ln/>
        </p:spPr>
      </p:sp>
      <p:sp>
        <p:nvSpPr>
          <p:cNvPr id="47" name="Shape 45"/>
          <p:cNvSpPr/>
          <p:nvPr/>
        </p:nvSpPr>
        <p:spPr>
          <a:xfrm>
            <a:off x="4137660" y="3100730"/>
            <a:ext cx="868680" cy="172822"/>
          </a:xfrm>
          <a:custGeom>
            <a:avLst/>
            <a:gdLst/>
            <a:ahLst/>
            <a:cxnLst/>
            <a:rect l="l" t="t" r="r" b="b"/>
            <a:pathLst>
              <a:path w="868680" h="172822">
                <a:moveTo>
                  <a:pt x="136817" y="0"/>
                </a:moveTo>
                <a:lnTo>
                  <a:pt x="0" y="172822"/>
                </a:lnTo>
                <a:lnTo>
                  <a:pt x="868680" y="172822"/>
                </a:lnTo>
                <a:lnTo>
                  <a:pt x="731863" y="0"/>
                </a:lnTo>
                <a:close/>
              </a:path>
            </a:pathLst>
          </a:custGeom>
          <a:solidFill>
            <a:srgbClr val="8EC9F0"/>
          </a:solidFill>
          <a:ln/>
        </p:spPr>
      </p:sp>
      <p:sp>
        <p:nvSpPr>
          <p:cNvPr id="48" name="Shape 46"/>
          <p:cNvSpPr/>
          <p:nvPr/>
        </p:nvSpPr>
        <p:spPr>
          <a:xfrm>
            <a:off x="4274477" y="3100730"/>
            <a:ext cx="595046" cy="91"/>
          </a:xfrm>
          <a:prstGeom prst="line">
            <a:avLst/>
          </a:prstGeom>
          <a:noFill/>
          <a:ln w="12700">
            <a:solidFill>
              <a:srgbClr val="5B9BD5"/>
            </a:solidFill>
            <a:prstDash val="solid"/>
          </a:ln>
        </p:spPr>
      </p:sp>
      <p:sp>
        <p:nvSpPr>
          <p:cNvPr id="49" name="Shape 47"/>
          <p:cNvSpPr/>
          <p:nvPr/>
        </p:nvSpPr>
        <p:spPr>
          <a:xfrm>
            <a:off x="4137660" y="2724912"/>
            <a:ext cx="868680" cy="548640"/>
          </a:xfrm>
          <a:custGeom>
            <a:avLst/>
            <a:gdLst/>
            <a:ahLst/>
            <a:cxnLst/>
            <a:rect l="l" t="t" r="r" b="b"/>
            <a:pathLst>
              <a:path w="868680" h="548640">
                <a:moveTo>
                  <a:pt x="304038" y="0"/>
                </a:moveTo>
                <a:lnTo>
                  <a:pt x="304038" y="164592"/>
                </a:lnTo>
                <a:lnTo>
                  <a:pt x="0" y="548640"/>
                </a:lnTo>
                <a:lnTo>
                  <a:pt x="868680" y="548640"/>
                </a:lnTo>
                <a:lnTo>
                  <a:pt x="564642" y="164592"/>
                </a:lnTo>
                <a:lnTo>
                  <a:pt x="564642" y="0"/>
                </a:lnTo>
              </a:path>
            </a:pathLst>
          </a:custGeom>
          <a:ln w="19050">
            <a:solidFill>
              <a:srgbClr val="2A1F3D"/>
            </a:solidFill>
            <a:prstDash val="solid"/>
          </a:ln>
        </p:spPr>
      </p:sp>
      <p:sp>
        <p:nvSpPr>
          <p:cNvPr id="50" name="Shape 48"/>
          <p:cNvSpPr/>
          <p:nvPr/>
        </p:nvSpPr>
        <p:spPr>
          <a:xfrm>
            <a:off x="1280160" y="4160520"/>
            <a:ext cx="1097280" cy="548640"/>
          </a:xfrm>
          <a:prstGeom prst="rect">
            <a:avLst/>
          </a:prstGeom>
          <a:solidFill>
            <a:srgbClr val="EEF5FB"/>
          </a:solidFill>
          <a:ln/>
        </p:spPr>
      </p:sp>
      <p:sp>
        <p:nvSpPr>
          <p:cNvPr id="51" name="Shape 49"/>
          <p:cNvSpPr/>
          <p:nvPr/>
        </p:nvSpPr>
        <p:spPr>
          <a:xfrm>
            <a:off x="1280160" y="4325112"/>
            <a:ext cx="1097280" cy="384048"/>
          </a:xfrm>
          <a:prstGeom prst="rect">
            <a:avLst/>
          </a:prstGeom>
          <a:solidFill>
            <a:srgbClr val="CFE4F7"/>
          </a:solidFill>
          <a:ln/>
        </p:spPr>
      </p:sp>
      <p:sp>
        <p:nvSpPr>
          <p:cNvPr id="52" name="Shape 50"/>
          <p:cNvSpPr/>
          <p:nvPr/>
        </p:nvSpPr>
        <p:spPr>
          <a:xfrm>
            <a:off x="1280160" y="4325112"/>
            <a:ext cx="1097280" cy="91"/>
          </a:xfrm>
          <a:prstGeom prst="line">
            <a:avLst/>
          </a:prstGeom>
          <a:noFill/>
          <a:ln w="12700">
            <a:solidFill>
              <a:srgbClr val="5B9BD5"/>
            </a:solidFill>
            <a:prstDash val="solid"/>
          </a:ln>
        </p:spPr>
      </p:sp>
      <p:sp>
        <p:nvSpPr>
          <p:cNvPr id="53" name="Shape 51"/>
          <p:cNvSpPr/>
          <p:nvPr/>
        </p:nvSpPr>
        <p:spPr>
          <a:xfrm>
            <a:off x="1280160" y="4160520"/>
            <a:ext cx="91" cy="548640"/>
          </a:xfrm>
          <a:prstGeom prst="line">
            <a:avLst/>
          </a:prstGeom>
          <a:noFill/>
          <a:ln w="19050">
            <a:solidFill>
              <a:srgbClr val="2A1F3D"/>
            </a:solidFill>
            <a:prstDash val="solid"/>
          </a:ln>
        </p:spPr>
      </p:sp>
      <p:sp>
        <p:nvSpPr>
          <p:cNvPr id="54" name="Shape 52"/>
          <p:cNvSpPr/>
          <p:nvPr/>
        </p:nvSpPr>
        <p:spPr>
          <a:xfrm>
            <a:off x="2377440" y="4160520"/>
            <a:ext cx="91" cy="548640"/>
          </a:xfrm>
          <a:prstGeom prst="line">
            <a:avLst/>
          </a:prstGeom>
          <a:noFill/>
          <a:ln w="19050">
            <a:solidFill>
              <a:srgbClr val="2A1F3D"/>
            </a:solidFill>
            <a:prstDash val="solid"/>
          </a:ln>
        </p:spPr>
      </p:sp>
      <p:sp>
        <p:nvSpPr>
          <p:cNvPr id="55" name="Shape 53"/>
          <p:cNvSpPr/>
          <p:nvPr/>
        </p:nvSpPr>
        <p:spPr>
          <a:xfrm>
            <a:off x="1280160" y="4709160"/>
            <a:ext cx="1097280" cy="91"/>
          </a:xfrm>
          <a:prstGeom prst="line">
            <a:avLst/>
          </a:prstGeom>
          <a:noFill/>
          <a:ln w="19050">
            <a:solidFill>
              <a:srgbClr val="2A1F3D"/>
            </a:solidFill>
            <a:prstDash val="solid"/>
          </a:ln>
        </p:spPr>
      </p:sp>
      <p:sp>
        <p:nvSpPr>
          <p:cNvPr id="56" name="Shape 54"/>
          <p:cNvSpPr/>
          <p:nvPr/>
        </p:nvSpPr>
        <p:spPr>
          <a:xfrm>
            <a:off x="1225296" y="4160520"/>
            <a:ext cx="54864" cy="91"/>
          </a:xfrm>
          <a:prstGeom prst="line">
            <a:avLst/>
          </a:prstGeom>
          <a:noFill/>
          <a:ln w="19050">
            <a:solidFill>
              <a:srgbClr val="2A1F3D"/>
            </a:solidFill>
            <a:prstDash val="solid"/>
          </a:ln>
        </p:spPr>
      </p:sp>
      <p:sp>
        <p:nvSpPr>
          <p:cNvPr id="57" name="Shape 55"/>
          <p:cNvSpPr/>
          <p:nvPr/>
        </p:nvSpPr>
        <p:spPr>
          <a:xfrm>
            <a:off x="2377440" y="4160520"/>
            <a:ext cx="54864" cy="91"/>
          </a:xfrm>
          <a:prstGeom prst="line">
            <a:avLst/>
          </a:prstGeom>
          <a:noFill/>
          <a:ln w="19050">
            <a:solidFill>
              <a:srgbClr val="2A1F3D"/>
            </a:solidFill>
            <a:prstDash val="solid"/>
          </a:ln>
        </p:spPr>
      </p:sp>
      <p:sp>
        <p:nvSpPr>
          <p:cNvPr id="58" name="Shape 56"/>
          <p:cNvSpPr/>
          <p:nvPr/>
        </p:nvSpPr>
        <p:spPr>
          <a:xfrm>
            <a:off x="1435608" y="4544568"/>
            <a:ext cx="54864" cy="54864"/>
          </a:xfrm>
          <a:prstGeom prst="ellipse">
            <a:avLst/>
          </a:prstGeom>
          <a:solidFill>
            <a:srgbClr val="FFFFFF"/>
          </a:solidFill>
          <a:ln w="7620">
            <a:solidFill>
              <a:srgbClr val="5B9BD5"/>
            </a:solidFill>
            <a:prstDash val="solid"/>
          </a:ln>
        </p:spPr>
      </p:sp>
      <p:sp>
        <p:nvSpPr>
          <p:cNvPr id="59" name="Shape 57"/>
          <p:cNvSpPr/>
          <p:nvPr/>
        </p:nvSpPr>
        <p:spPr>
          <a:xfrm>
            <a:off x="1709928" y="4498848"/>
            <a:ext cx="54864" cy="54864"/>
          </a:xfrm>
          <a:prstGeom prst="ellipse">
            <a:avLst/>
          </a:prstGeom>
          <a:solidFill>
            <a:srgbClr val="FFFFFF"/>
          </a:solidFill>
          <a:ln w="7620">
            <a:solidFill>
              <a:srgbClr val="5B9BD5"/>
            </a:solidFill>
            <a:prstDash val="solid"/>
          </a:ln>
        </p:spPr>
      </p:sp>
      <p:sp>
        <p:nvSpPr>
          <p:cNvPr id="60" name="Shape 58"/>
          <p:cNvSpPr/>
          <p:nvPr/>
        </p:nvSpPr>
        <p:spPr>
          <a:xfrm>
            <a:off x="2075688" y="4562856"/>
            <a:ext cx="54864" cy="54864"/>
          </a:xfrm>
          <a:prstGeom prst="ellipse">
            <a:avLst/>
          </a:prstGeom>
          <a:solidFill>
            <a:srgbClr val="FFFFFF"/>
          </a:solidFill>
          <a:ln w="7620">
            <a:solidFill>
              <a:srgbClr val="5B9BD5"/>
            </a:solidFill>
            <a:prstDash val="solid"/>
          </a:ln>
        </p:spPr>
      </p:sp>
      <p:sp>
        <p:nvSpPr>
          <p:cNvPr id="61" name="Shape 59"/>
          <p:cNvSpPr/>
          <p:nvPr/>
        </p:nvSpPr>
        <p:spPr>
          <a:xfrm>
            <a:off x="1211580" y="4114800"/>
            <a:ext cx="1234440" cy="292608"/>
          </a:xfrm>
          <a:custGeom>
            <a:avLst/>
            <a:gdLst/>
            <a:ahLst/>
            <a:cxnLst/>
            <a:rect l="l" t="t" r="r" b="b"/>
            <a:pathLst>
              <a:path w="1234440" h="292608">
                <a:moveTo>
                  <a:pt x="1234440" y="0"/>
                </a:moveTo>
                <a:lnTo>
                  <a:pt x="1229160" y="38193"/>
                </a:lnTo>
                <a:lnTo>
                  <a:pt x="1213409" y="75733"/>
                </a:lnTo>
                <a:lnTo>
                  <a:pt x="1187457" y="111976"/>
                </a:lnTo>
                <a:lnTo>
                  <a:pt x="1151748" y="146304"/>
                </a:lnTo>
                <a:lnTo>
                  <a:pt x="1106894" y="178128"/>
                </a:lnTo>
                <a:lnTo>
                  <a:pt x="1053660" y="206905"/>
                </a:lnTo>
                <a:lnTo>
                  <a:pt x="992960" y="232142"/>
                </a:lnTo>
                <a:lnTo>
                  <a:pt x="925830" y="253406"/>
                </a:lnTo>
                <a:lnTo>
                  <a:pt x="853420" y="270335"/>
                </a:lnTo>
                <a:lnTo>
                  <a:pt x="776968" y="282638"/>
                </a:lnTo>
                <a:lnTo>
                  <a:pt x="697783" y="290105"/>
                </a:lnTo>
                <a:lnTo>
                  <a:pt x="617220" y="292608"/>
                </a:lnTo>
                <a:lnTo>
                  <a:pt x="536657" y="290105"/>
                </a:lnTo>
                <a:lnTo>
                  <a:pt x="457472" y="282638"/>
                </a:lnTo>
                <a:lnTo>
                  <a:pt x="381020" y="270335"/>
                </a:lnTo>
                <a:lnTo>
                  <a:pt x="308610" y="253406"/>
                </a:lnTo>
                <a:lnTo>
                  <a:pt x="241480" y="232142"/>
                </a:lnTo>
                <a:lnTo>
                  <a:pt x="180780" y="206905"/>
                </a:lnTo>
                <a:lnTo>
                  <a:pt x="127546" y="178128"/>
                </a:lnTo>
                <a:lnTo>
                  <a:pt x="82692" y="146304"/>
                </a:lnTo>
                <a:lnTo>
                  <a:pt x="46983" y="111976"/>
                </a:lnTo>
                <a:lnTo>
                  <a:pt x="21031" y="75733"/>
                </a:lnTo>
                <a:lnTo>
                  <a:pt x="5280" y="38193"/>
                </a:lnTo>
                <a:lnTo>
                  <a:pt x="0" y="0"/>
                </a:lnTo>
                <a:close/>
              </a:path>
            </a:pathLst>
          </a:custGeom>
          <a:solidFill>
            <a:srgbClr val="F4F4F4"/>
          </a:solidFill>
          <a:ln/>
        </p:spPr>
      </p:sp>
      <p:sp>
        <p:nvSpPr>
          <p:cNvPr id="62" name="Shape 60"/>
          <p:cNvSpPr/>
          <p:nvPr/>
        </p:nvSpPr>
        <p:spPr>
          <a:xfrm>
            <a:off x="1249000" y="4215135"/>
            <a:ext cx="1159599" cy="192273"/>
          </a:xfrm>
          <a:custGeom>
            <a:avLst/>
            <a:gdLst/>
            <a:ahLst/>
            <a:cxnLst/>
            <a:rect l="l" t="t" r="r" b="b"/>
            <a:pathLst>
              <a:path w="1159599" h="192273">
                <a:moveTo>
                  <a:pt x="1159599" y="0"/>
                </a:moveTo>
                <a:lnTo>
                  <a:pt x="1135107" y="27396"/>
                </a:lnTo>
                <a:lnTo>
                  <a:pt x="1104873" y="53472"/>
                </a:lnTo>
                <a:lnTo>
                  <a:pt x="1069210" y="77956"/>
                </a:lnTo>
                <a:lnTo>
                  <a:pt x="1028485" y="100598"/>
                </a:lnTo>
                <a:lnTo>
                  <a:pt x="983121" y="121161"/>
                </a:lnTo>
                <a:lnTo>
                  <a:pt x="933586" y="139434"/>
                </a:lnTo>
                <a:lnTo>
                  <a:pt x="880393" y="155228"/>
                </a:lnTo>
                <a:lnTo>
                  <a:pt x="824091" y="168379"/>
                </a:lnTo>
                <a:lnTo>
                  <a:pt x="765264" y="178751"/>
                </a:lnTo>
                <a:lnTo>
                  <a:pt x="704518" y="186237"/>
                </a:lnTo>
                <a:lnTo>
                  <a:pt x="642483" y="190760"/>
                </a:lnTo>
                <a:lnTo>
                  <a:pt x="579800" y="192273"/>
                </a:lnTo>
                <a:lnTo>
                  <a:pt x="517116" y="190760"/>
                </a:lnTo>
                <a:lnTo>
                  <a:pt x="455081" y="186237"/>
                </a:lnTo>
                <a:lnTo>
                  <a:pt x="394335" y="178751"/>
                </a:lnTo>
                <a:lnTo>
                  <a:pt x="335508" y="168379"/>
                </a:lnTo>
                <a:lnTo>
                  <a:pt x="279206" y="155228"/>
                </a:lnTo>
                <a:lnTo>
                  <a:pt x="226013" y="139434"/>
                </a:lnTo>
                <a:lnTo>
                  <a:pt x="176478" y="121161"/>
                </a:lnTo>
                <a:lnTo>
                  <a:pt x="131114" y="100598"/>
                </a:lnTo>
                <a:lnTo>
                  <a:pt x="90389" y="77956"/>
                </a:lnTo>
                <a:lnTo>
                  <a:pt x="54726" y="53472"/>
                </a:lnTo>
                <a:lnTo>
                  <a:pt x="24492" y="27396"/>
                </a:lnTo>
                <a:lnTo>
                  <a:pt x="0" y="0"/>
                </a:lnTo>
                <a:close/>
              </a:path>
            </a:pathLst>
          </a:custGeom>
          <a:solidFill>
            <a:srgbClr val="8EC9F0"/>
          </a:solidFill>
          <a:ln/>
        </p:spPr>
      </p:sp>
      <p:sp>
        <p:nvSpPr>
          <p:cNvPr id="63" name="Shape 61"/>
          <p:cNvSpPr/>
          <p:nvPr/>
        </p:nvSpPr>
        <p:spPr>
          <a:xfrm>
            <a:off x="1211580" y="4114800"/>
            <a:ext cx="1234440" cy="292608"/>
          </a:xfrm>
          <a:custGeom>
            <a:avLst/>
            <a:gdLst/>
            <a:ahLst/>
            <a:cxnLst/>
            <a:rect l="l" t="t" r="r" b="b"/>
            <a:pathLst>
              <a:path w="1234440" h="292608">
                <a:moveTo>
                  <a:pt x="1234440" y="0"/>
                </a:moveTo>
                <a:lnTo>
                  <a:pt x="1229160" y="38193"/>
                </a:lnTo>
                <a:lnTo>
                  <a:pt x="1213409" y="75733"/>
                </a:lnTo>
                <a:lnTo>
                  <a:pt x="1187457" y="111976"/>
                </a:lnTo>
                <a:lnTo>
                  <a:pt x="1151748" y="146304"/>
                </a:lnTo>
                <a:lnTo>
                  <a:pt x="1106894" y="178128"/>
                </a:lnTo>
                <a:lnTo>
                  <a:pt x="1053660" y="206905"/>
                </a:lnTo>
                <a:lnTo>
                  <a:pt x="992960" y="232142"/>
                </a:lnTo>
                <a:lnTo>
                  <a:pt x="925830" y="253406"/>
                </a:lnTo>
                <a:lnTo>
                  <a:pt x="853420" y="270335"/>
                </a:lnTo>
                <a:lnTo>
                  <a:pt x="776968" y="282638"/>
                </a:lnTo>
                <a:lnTo>
                  <a:pt x="697783" y="290105"/>
                </a:lnTo>
                <a:lnTo>
                  <a:pt x="617220" y="292608"/>
                </a:lnTo>
                <a:lnTo>
                  <a:pt x="536657" y="290105"/>
                </a:lnTo>
                <a:lnTo>
                  <a:pt x="457472" y="282638"/>
                </a:lnTo>
                <a:lnTo>
                  <a:pt x="381020" y="270335"/>
                </a:lnTo>
                <a:lnTo>
                  <a:pt x="308610" y="253406"/>
                </a:lnTo>
                <a:lnTo>
                  <a:pt x="241480" y="232142"/>
                </a:lnTo>
                <a:lnTo>
                  <a:pt x="180780" y="206905"/>
                </a:lnTo>
                <a:lnTo>
                  <a:pt x="127546" y="178128"/>
                </a:lnTo>
                <a:lnTo>
                  <a:pt x="82692" y="146304"/>
                </a:lnTo>
                <a:lnTo>
                  <a:pt x="46983" y="111976"/>
                </a:lnTo>
                <a:lnTo>
                  <a:pt x="21031" y="75733"/>
                </a:lnTo>
                <a:lnTo>
                  <a:pt x="5280" y="38193"/>
                </a:lnTo>
                <a:lnTo>
                  <a:pt x="0" y="0"/>
                </a:lnTo>
              </a:path>
            </a:pathLst>
          </a:custGeom>
          <a:ln w="19050">
            <a:solidFill>
              <a:srgbClr val="2A1F3D"/>
            </a:solidFill>
            <a:prstDash val="solid"/>
          </a:ln>
        </p:spPr>
      </p:sp>
      <p:sp>
        <p:nvSpPr>
          <p:cNvPr id="64" name="Shape 62"/>
          <p:cNvSpPr/>
          <p:nvPr/>
        </p:nvSpPr>
        <p:spPr>
          <a:xfrm>
            <a:off x="1211580" y="4114800"/>
            <a:ext cx="1234440" cy="91"/>
          </a:xfrm>
          <a:prstGeom prst="line">
            <a:avLst/>
          </a:prstGeom>
          <a:noFill/>
          <a:ln w="19050">
            <a:solidFill>
              <a:srgbClr val="2A1F3D"/>
            </a:solidFill>
            <a:prstDash val="solid"/>
          </a:ln>
        </p:spPr>
      </p:sp>
      <p:sp>
        <p:nvSpPr>
          <p:cNvPr id="65" name="Shape 63"/>
          <p:cNvSpPr/>
          <p:nvPr/>
        </p:nvSpPr>
        <p:spPr>
          <a:xfrm>
            <a:off x="1280160" y="4709160"/>
            <a:ext cx="1097280" cy="45720"/>
          </a:xfrm>
          <a:prstGeom prst="rect">
            <a:avLst/>
          </a:prstGeom>
          <a:solidFill>
            <a:srgbClr val="9AA3B0"/>
          </a:solidFill>
          <a:ln w="9525">
            <a:solidFill>
              <a:srgbClr val="5A6275"/>
            </a:solidFill>
            <a:prstDash val="solid"/>
          </a:ln>
        </p:spPr>
      </p:sp>
      <p:sp>
        <p:nvSpPr>
          <p:cNvPr id="66" name="Shape 64"/>
          <p:cNvSpPr/>
          <p:nvPr/>
        </p:nvSpPr>
        <p:spPr>
          <a:xfrm flipH="1">
            <a:off x="1280160" y="4754880"/>
            <a:ext cx="91440" cy="548640"/>
          </a:xfrm>
          <a:prstGeom prst="line">
            <a:avLst/>
          </a:prstGeom>
          <a:noFill/>
          <a:ln w="25400">
            <a:solidFill>
              <a:srgbClr val="5A6275"/>
            </a:solidFill>
            <a:prstDash val="solid"/>
          </a:ln>
        </p:spPr>
      </p:sp>
      <p:sp>
        <p:nvSpPr>
          <p:cNvPr id="67" name="Shape 65"/>
          <p:cNvSpPr/>
          <p:nvPr/>
        </p:nvSpPr>
        <p:spPr>
          <a:xfrm>
            <a:off x="2286000" y="4754880"/>
            <a:ext cx="91440" cy="548640"/>
          </a:xfrm>
          <a:prstGeom prst="line">
            <a:avLst/>
          </a:prstGeom>
          <a:noFill/>
          <a:ln w="25400">
            <a:solidFill>
              <a:srgbClr val="5A6275"/>
            </a:solidFill>
            <a:prstDash val="solid"/>
          </a:ln>
        </p:spPr>
      </p:sp>
      <p:sp>
        <p:nvSpPr>
          <p:cNvPr id="68" name="Shape 66"/>
          <p:cNvSpPr/>
          <p:nvPr/>
        </p:nvSpPr>
        <p:spPr>
          <a:xfrm>
            <a:off x="1600200" y="5230368"/>
            <a:ext cx="457200" cy="73152"/>
          </a:xfrm>
          <a:prstGeom prst="rect">
            <a:avLst/>
          </a:prstGeom>
          <a:solidFill>
            <a:srgbClr val="5A6275"/>
          </a:solidFill>
          <a:ln w="12700">
            <a:solidFill>
              <a:srgbClr val="3A4255"/>
            </a:solidFill>
            <a:prstDash val="solid"/>
          </a:ln>
        </p:spPr>
      </p:sp>
      <p:sp>
        <p:nvSpPr>
          <p:cNvPr id="69" name="Shape 67"/>
          <p:cNvSpPr/>
          <p:nvPr/>
        </p:nvSpPr>
        <p:spPr>
          <a:xfrm>
            <a:off x="1773936" y="5029200"/>
            <a:ext cx="109728" cy="201168"/>
          </a:xfrm>
          <a:prstGeom prst="rect">
            <a:avLst/>
          </a:prstGeom>
          <a:solidFill>
            <a:srgbClr val="8C96A8"/>
          </a:solidFill>
          <a:ln w="9525">
            <a:solidFill>
              <a:srgbClr val="5A6275"/>
            </a:solidFill>
            <a:prstDash val="solid"/>
          </a:ln>
        </p:spPr>
      </p:sp>
      <p:sp>
        <p:nvSpPr>
          <p:cNvPr id="70" name="Shape 68"/>
          <p:cNvSpPr/>
          <p:nvPr/>
        </p:nvSpPr>
        <p:spPr>
          <a:xfrm>
            <a:off x="1728216" y="4782312"/>
            <a:ext cx="201168" cy="246888"/>
          </a:xfrm>
          <a:prstGeom prst="triangle">
            <a:avLst/>
          </a:prstGeom>
          <a:solidFill>
            <a:srgbClr val="5B8DEF"/>
          </a:solidFill>
          <a:ln w="9525">
            <a:solidFill>
              <a:srgbClr val="2F5FBF"/>
            </a:solidFill>
            <a:prstDash val="solid"/>
          </a:ln>
        </p:spPr>
      </p:sp>
      <p:sp>
        <p:nvSpPr>
          <p:cNvPr id="71" name="Shape 69"/>
          <p:cNvSpPr/>
          <p:nvPr/>
        </p:nvSpPr>
        <p:spPr>
          <a:xfrm>
            <a:off x="1783080" y="4881067"/>
            <a:ext cx="91440" cy="148133"/>
          </a:xfrm>
          <a:prstGeom prst="triangle">
            <a:avLst/>
          </a:prstGeom>
          <a:solidFill>
            <a:srgbClr val="BFD4FB"/>
          </a:solidFill>
          <a:ln/>
        </p:spPr>
      </p:sp>
      <p:sp>
        <p:nvSpPr>
          <p:cNvPr id="72" name="Shape 70"/>
          <p:cNvSpPr/>
          <p:nvPr/>
        </p:nvSpPr>
        <p:spPr>
          <a:xfrm>
            <a:off x="3794760" y="4069080"/>
            <a:ext cx="1554480" cy="502920"/>
          </a:xfrm>
          <a:custGeom>
            <a:avLst/>
            <a:gdLst/>
            <a:ahLst/>
            <a:cxnLst/>
            <a:rect l="l" t="t" r="r" b="b"/>
            <a:pathLst>
              <a:path w="1554480" h="502920">
                <a:moveTo>
                  <a:pt x="1554480" y="0"/>
                </a:moveTo>
                <a:lnTo>
                  <a:pt x="1547831" y="65644"/>
                </a:lnTo>
                <a:lnTo>
                  <a:pt x="1527996" y="130165"/>
                </a:lnTo>
                <a:lnTo>
                  <a:pt x="1495316" y="192459"/>
                </a:lnTo>
                <a:lnTo>
                  <a:pt x="1450350" y="251460"/>
                </a:lnTo>
                <a:lnTo>
                  <a:pt x="1393866" y="306158"/>
                </a:lnTo>
                <a:lnTo>
                  <a:pt x="1326832" y="355618"/>
                </a:lnTo>
                <a:lnTo>
                  <a:pt x="1250394" y="398993"/>
                </a:lnTo>
                <a:lnTo>
                  <a:pt x="1165860" y="435541"/>
                </a:lnTo>
                <a:lnTo>
                  <a:pt x="1074677" y="464637"/>
                </a:lnTo>
                <a:lnTo>
                  <a:pt x="978405" y="485783"/>
                </a:lnTo>
                <a:lnTo>
                  <a:pt x="878690" y="498617"/>
                </a:lnTo>
                <a:lnTo>
                  <a:pt x="777240" y="502920"/>
                </a:lnTo>
                <a:lnTo>
                  <a:pt x="675790" y="498617"/>
                </a:lnTo>
                <a:lnTo>
                  <a:pt x="576075" y="485783"/>
                </a:lnTo>
                <a:lnTo>
                  <a:pt x="479803" y="464637"/>
                </a:lnTo>
                <a:lnTo>
                  <a:pt x="388620" y="435541"/>
                </a:lnTo>
                <a:lnTo>
                  <a:pt x="304086" y="398993"/>
                </a:lnTo>
                <a:lnTo>
                  <a:pt x="227648" y="355618"/>
                </a:lnTo>
                <a:lnTo>
                  <a:pt x="160614" y="306158"/>
                </a:lnTo>
                <a:lnTo>
                  <a:pt x="104130" y="251460"/>
                </a:lnTo>
                <a:lnTo>
                  <a:pt x="59164" y="192459"/>
                </a:lnTo>
                <a:lnTo>
                  <a:pt x="26484" y="130165"/>
                </a:lnTo>
                <a:lnTo>
                  <a:pt x="6649" y="65644"/>
                </a:lnTo>
                <a:lnTo>
                  <a:pt x="0" y="0"/>
                </a:lnTo>
                <a:close/>
              </a:path>
            </a:pathLst>
          </a:custGeom>
          <a:solidFill>
            <a:srgbClr val="F4F4F4"/>
          </a:solidFill>
          <a:ln/>
        </p:spPr>
      </p:sp>
      <p:sp>
        <p:nvSpPr>
          <p:cNvPr id="73" name="Shape 71"/>
          <p:cNvSpPr/>
          <p:nvPr/>
        </p:nvSpPr>
        <p:spPr>
          <a:xfrm>
            <a:off x="3841882" y="4241530"/>
            <a:ext cx="1460236" cy="330470"/>
          </a:xfrm>
          <a:custGeom>
            <a:avLst/>
            <a:gdLst/>
            <a:ahLst/>
            <a:cxnLst/>
            <a:rect l="l" t="t" r="r" b="b"/>
            <a:pathLst>
              <a:path w="1460236" h="330470">
                <a:moveTo>
                  <a:pt x="1460236" y="0"/>
                </a:moveTo>
                <a:lnTo>
                  <a:pt x="1429395" y="47087"/>
                </a:lnTo>
                <a:lnTo>
                  <a:pt x="1391322" y="91904"/>
                </a:lnTo>
                <a:lnTo>
                  <a:pt x="1346412" y="133988"/>
                </a:lnTo>
                <a:lnTo>
                  <a:pt x="1295130" y="172902"/>
                </a:lnTo>
                <a:lnTo>
                  <a:pt x="1238004" y="208246"/>
                </a:lnTo>
                <a:lnTo>
                  <a:pt x="1175627" y="239652"/>
                </a:lnTo>
                <a:lnTo>
                  <a:pt x="1108643" y="266798"/>
                </a:lnTo>
                <a:lnTo>
                  <a:pt x="1037745" y="289401"/>
                </a:lnTo>
                <a:lnTo>
                  <a:pt x="963666" y="307228"/>
                </a:lnTo>
                <a:lnTo>
                  <a:pt x="887171" y="320096"/>
                </a:lnTo>
                <a:lnTo>
                  <a:pt x="809053" y="327870"/>
                </a:lnTo>
                <a:lnTo>
                  <a:pt x="730118" y="330470"/>
                </a:lnTo>
                <a:lnTo>
                  <a:pt x="651183" y="327870"/>
                </a:lnTo>
                <a:lnTo>
                  <a:pt x="573065" y="320096"/>
                </a:lnTo>
                <a:lnTo>
                  <a:pt x="496571" y="307228"/>
                </a:lnTo>
                <a:lnTo>
                  <a:pt x="422491" y="289401"/>
                </a:lnTo>
                <a:lnTo>
                  <a:pt x="351593" y="266798"/>
                </a:lnTo>
                <a:lnTo>
                  <a:pt x="284609" y="239652"/>
                </a:lnTo>
                <a:lnTo>
                  <a:pt x="222232" y="208246"/>
                </a:lnTo>
                <a:lnTo>
                  <a:pt x="165106" y="172902"/>
                </a:lnTo>
                <a:lnTo>
                  <a:pt x="113824" y="133988"/>
                </a:lnTo>
                <a:lnTo>
                  <a:pt x="68914" y="91904"/>
                </a:lnTo>
                <a:lnTo>
                  <a:pt x="30841" y="47087"/>
                </a:lnTo>
                <a:lnTo>
                  <a:pt x="0" y="0"/>
                </a:lnTo>
                <a:close/>
              </a:path>
            </a:pathLst>
          </a:custGeom>
          <a:solidFill>
            <a:srgbClr val="CFE6F7"/>
          </a:solidFill>
          <a:ln/>
        </p:spPr>
      </p:sp>
      <p:sp>
        <p:nvSpPr>
          <p:cNvPr id="74" name="Shape 72"/>
          <p:cNvSpPr/>
          <p:nvPr/>
        </p:nvSpPr>
        <p:spPr>
          <a:xfrm>
            <a:off x="3794760" y="4069080"/>
            <a:ext cx="1554480" cy="502920"/>
          </a:xfrm>
          <a:custGeom>
            <a:avLst/>
            <a:gdLst/>
            <a:ahLst/>
            <a:cxnLst/>
            <a:rect l="l" t="t" r="r" b="b"/>
            <a:pathLst>
              <a:path w="1554480" h="502920">
                <a:moveTo>
                  <a:pt x="1554480" y="0"/>
                </a:moveTo>
                <a:lnTo>
                  <a:pt x="1547831" y="65644"/>
                </a:lnTo>
                <a:lnTo>
                  <a:pt x="1527996" y="130165"/>
                </a:lnTo>
                <a:lnTo>
                  <a:pt x="1495316" y="192459"/>
                </a:lnTo>
                <a:lnTo>
                  <a:pt x="1450350" y="251460"/>
                </a:lnTo>
                <a:lnTo>
                  <a:pt x="1393866" y="306158"/>
                </a:lnTo>
                <a:lnTo>
                  <a:pt x="1326832" y="355618"/>
                </a:lnTo>
                <a:lnTo>
                  <a:pt x="1250394" y="398993"/>
                </a:lnTo>
                <a:lnTo>
                  <a:pt x="1165860" y="435541"/>
                </a:lnTo>
                <a:lnTo>
                  <a:pt x="1074677" y="464637"/>
                </a:lnTo>
                <a:lnTo>
                  <a:pt x="978405" y="485783"/>
                </a:lnTo>
                <a:lnTo>
                  <a:pt x="878690" y="498617"/>
                </a:lnTo>
                <a:lnTo>
                  <a:pt x="777240" y="502920"/>
                </a:lnTo>
                <a:lnTo>
                  <a:pt x="675790" y="498617"/>
                </a:lnTo>
                <a:lnTo>
                  <a:pt x="576075" y="485783"/>
                </a:lnTo>
                <a:lnTo>
                  <a:pt x="479803" y="464637"/>
                </a:lnTo>
                <a:lnTo>
                  <a:pt x="388620" y="435541"/>
                </a:lnTo>
                <a:lnTo>
                  <a:pt x="304086" y="398993"/>
                </a:lnTo>
                <a:lnTo>
                  <a:pt x="227648" y="355618"/>
                </a:lnTo>
                <a:lnTo>
                  <a:pt x="160614" y="306158"/>
                </a:lnTo>
                <a:lnTo>
                  <a:pt x="104130" y="251460"/>
                </a:lnTo>
                <a:lnTo>
                  <a:pt x="59164" y="192459"/>
                </a:lnTo>
                <a:lnTo>
                  <a:pt x="26484" y="130165"/>
                </a:lnTo>
                <a:lnTo>
                  <a:pt x="6649" y="65644"/>
                </a:lnTo>
                <a:lnTo>
                  <a:pt x="0" y="0"/>
                </a:lnTo>
              </a:path>
            </a:pathLst>
          </a:custGeom>
          <a:ln w="19050">
            <a:solidFill>
              <a:srgbClr val="2A1F3D"/>
            </a:solidFill>
            <a:prstDash val="solid"/>
          </a:ln>
        </p:spPr>
      </p:sp>
      <p:sp>
        <p:nvSpPr>
          <p:cNvPr id="75" name="Shape 73"/>
          <p:cNvSpPr/>
          <p:nvPr/>
        </p:nvSpPr>
        <p:spPr>
          <a:xfrm>
            <a:off x="3794760" y="4069080"/>
            <a:ext cx="1554480" cy="91"/>
          </a:xfrm>
          <a:prstGeom prst="line">
            <a:avLst/>
          </a:prstGeom>
          <a:noFill/>
          <a:ln w="19050">
            <a:solidFill>
              <a:srgbClr val="2A1F3D"/>
            </a:solidFill>
            <a:prstDash val="solid"/>
          </a:ln>
        </p:spPr>
      </p:sp>
      <p:sp>
        <p:nvSpPr>
          <p:cNvPr id="76" name="Shape 74"/>
          <p:cNvSpPr/>
          <p:nvPr/>
        </p:nvSpPr>
        <p:spPr>
          <a:xfrm>
            <a:off x="4050792" y="4187952"/>
            <a:ext cx="219456" cy="219456"/>
          </a:xfrm>
          <a:custGeom>
            <a:avLst/>
            <a:gdLst/>
            <a:ahLst/>
            <a:cxnLst/>
            <a:rect l="l" t="t" r="r" b="b"/>
            <a:pathLst>
              <a:path w="219456" h="219456">
                <a:moveTo>
                  <a:pt x="76810" y="0"/>
                </a:moveTo>
                <a:lnTo>
                  <a:pt x="219456" y="60350"/>
                </a:lnTo>
                <a:lnTo>
                  <a:pt x="142646" y="219456"/>
                </a:lnTo>
                <a:lnTo>
                  <a:pt x="0" y="159106"/>
                </a:lnTo>
                <a:close/>
              </a:path>
            </a:pathLst>
          </a:custGeom>
          <a:solidFill>
            <a:srgbClr val="8EC9F0"/>
          </a:solidFill>
          <a:ln w="9525">
            <a:solidFill>
              <a:srgbClr val="2F7FC1"/>
            </a:solidFill>
            <a:prstDash val="solid"/>
          </a:ln>
        </p:spPr>
      </p:sp>
      <p:sp>
        <p:nvSpPr>
          <p:cNvPr id="77" name="Shape 75"/>
          <p:cNvSpPr/>
          <p:nvPr/>
        </p:nvSpPr>
        <p:spPr>
          <a:xfrm>
            <a:off x="4297680" y="4233672"/>
            <a:ext cx="274320" cy="274320"/>
          </a:xfrm>
          <a:custGeom>
            <a:avLst/>
            <a:gdLst/>
            <a:ahLst/>
            <a:cxnLst/>
            <a:rect l="l" t="t" r="r" b="b"/>
            <a:pathLst>
              <a:path w="274320" h="274320">
                <a:moveTo>
                  <a:pt x="96012" y="0"/>
                </a:moveTo>
                <a:lnTo>
                  <a:pt x="274320" y="75438"/>
                </a:lnTo>
                <a:lnTo>
                  <a:pt x="178308" y="274320"/>
                </a:lnTo>
                <a:lnTo>
                  <a:pt x="0" y="198882"/>
                </a:lnTo>
                <a:close/>
              </a:path>
            </a:pathLst>
          </a:custGeom>
          <a:solidFill>
            <a:srgbClr val="8EC9F0"/>
          </a:solidFill>
          <a:ln w="9525">
            <a:solidFill>
              <a:srgbClr val="2F7FC1"/>
            </a:solidFill>
            <a:prstDash val="solid"/>
          </a:ln>
        </p:spPr>
      </p:sp>
      <p:sp>
        <p:nvSpPr>
          <p:cNvPr id="78" name="Shape 76"/>
          <p:cNvSpPr/>
          <p:nvPr/>
        </p:nvSpPr>
        <p:spPr>
          <a:xfrm>
            <a:off x="4636008" y="4197096"/>
            <a:ext cx="237744" cy="237744"/>
          </a:xfrm>
          <a:custGeom>
            <a:avLst/>
            <a:gdLst/>
            <a:ahLst/>
            <a:cxnLst/>
            <a:rect l="l" t="t" r="r" b="b"/>
            <a:pathLst>
              <a:path w="237744" h="237744">
                <a:moveTo>
                  <a:pt x="83210" y="0"/>
                </a:moveTo>
                <a:lnTo>
                  <a:pt x="237744" y="65380"/>
                </a:lnTo>
                <a:lnTo>
                  <a:pt x="154534" y="237744"/>
                </a:lnTo>
                <a:lnTo>
                  <a:pt x="0" y="172364"/>
                </a:lnTo>
                <a:close/>
              </a:path>
            </a:pathLst>
          </a:custGeom>
          <a:solidFill>
            <a:srgbClr val="8EC9F0"/>
          </a:solidFill>
          <a:ln w="9525">
            <a:solidFill>
              <a:srgbClr val="2F7FC1"/>
            </a:solidFill>
            <a:prstDash val="solid"/>
          </a:ln>
        </p:spPr>
      </p:sp>
      <p:sp>
        <p:nvSpPr>
          <p:cNvPr id="79" name="Shape 77"/>
          <p:cNvSpPr/>
          <p:nvPr/>
        </p:nvSpPr>
        <p:spPr>
          <a:xfrm>
            <a:off x="4892040" y="4133088"/>
            <a:ext cx="182880" cy="182880"/>
          </a:xfrm>
          <a:custGeom>
            <a:avLst/>
            <a:gdLst/>
            <a:ahLst/>
            <a:cxnLst/>
            <a:rect l="l" t="t" r="r" b="b"/>
            <a:pathLst>
              <a:path w="182880" h="182880">
                <a:moveTo>
                  <a:pt x="64008" y="0"/>
                </a:moveTo>
                <a:lnTo>
                  <a:pt x="182880" y="50292"/>
                </a:lnTo>
                <a:lnTo>
                  <a:pt x="118872" y="182880"/>
                </a:lnTo>
                <a:lnTo>
                  <a:pt x="0" y="132588"/>
                </a:lnTo>
                <a:close/>
              </a:path>
            </a:pathLst>
          </a:custGeom>
          <a:solidFill>
            <a:srgbClr val="8EC9F0"/>
          </a:solidFill>
          <a:ln w="9525">
            <a:solidFill>
              <a:srgbClr val="2F7FC1"/>
            </a:solidFill>
            <a:prstDash val="solid"/>
          </a:ln>
        </p:spPr>
      </p:sp>
      <p:sp>
        <p:nvSpPr>
          <p:cNvPr id="80" name="Shape 78"/>
          <p:cNvSpPr/>
          <p:nvPr/>
        </p:nvSpPr>
        <p:spPr>
          <a:xfrm>
            <a:off x="4462272" y="4114800"/>
            <a:ext cx="182880" cy="182880"/>
          </a:xfrm>
          <a:custGeom>
            <a:avLst/>
            <a:gdLst/>
            <a:ahLst/>
            <a:cxnLst/>
            <a:rect l="l" t="t" r="r" b="b"/>
            <a:pathLst>
              <a:path w="182880" h="182880">
                <a:moveTo>
                  <a:pt x="64008" y="0"/>
                </a:moveTo>
                <a:lnTo>
                  <a:pt x="182880" y="50292"/>
                </a:lnTo>
                <a:lnTo>
                  <a:pt x="118872" y="182880"/>
                </a:lnTo>
                <a:lnTo>
                  <a:pt x="0" y="132588"/>
                </a:lnTo>
                <a:close/>
              </a:path>
            </a:pathLst>
          </a:custGeom>
          <a:solidFill>
            <a:srgbClr val="8EC9F0"/>
          </a:solidFill>
          <a:ln w="9525">
            <a:solidFill>
              <a:srgbClr val="2F7FC1"/>
            </a:solidFill>
            <a:prstDash val="solid"/>
          </a:ln>
        </p:spPr>
      </p:sp>
      <p:sp>
        <p:nvSpPr>
          <p:cNvPr id="81" name="Shape 79"/>
          <p:cNvSpPr/>
          <p:nvPr/>
        </p:nvSpPr>
        <p:spPr>
          <a:xfrm>
            <a:off x="3794760" y="4800600"/>
            <a:ext cx="1554480" cy="411480"/>
          </a:xfrm>
          <a:prstGeom prst="rect">
            <a:avLst/>
          </a:prstGeom>
          <a:solidFill>
            <a:srgbClr val="FFFFFF"/>
          </a:solidFill>
          <a:ln w="9525">
            <a:solidFill>
              <a:srgbClr val="9AA3B0"/>
            </a:solidFill>
            <a:prstDash val="solid"/>
          </a:ln>
        </p:spPr>
      </p:sp>
      <p:sp>
        <p:nvSpPr>
          <p:cNvPr id="82" name="Shape 80"/>
          <p:cNvSpPr/>
          <p:nvPr/>
        </p:nvSpPr>
        <p:spPr>
          <a:xfrm>
            <a:off x="4023360" y="4910328"/>
            <a:ext cx="182880" cy="182880"/>
          </a:xfrm>
          <a:custGeom>
            <a:avLst/>
            <a:gdLst/>
            <a:ahLst/>
            <a:cxnLst/>
            <a:rect l="l" t="t" r="r" b="b"/>
            <a:pathLst>
              <a:path w="182880" h="182880">
                <a:moveTo>
                  <a:pt x="64008" y="0"/>
                </a:moveTo>
                <a:lnTo>
                  <a:pt x="182880" y="50292"/>
                </a:lnTo>
                <a:lnTo>
                  <a:pt x="118872" y="182880"/>
                </a:lnTo>
                <a:lnTo>
                  <a:pt x="0" y="132588"/>
                </a:lnTo>
                <a:close/>
              </a:path>
            </a:pathLst>
          </a:custGeom>
          <a:solidFill>
            <a:srgbClr val="8EC9F0"/>
          </a:solidFill>
          <a:ln w="9525">
            <a:solidFill>
              <a:srgbClr val="2F7FC1"/>
            </a:solidFill>
            <a:prstDash val="solid"/>
          </a:ln>
        </p:spPr>
      </p:sp>
      <p:sp>
        <p:nvSpPr>
          <p:cNvPr id="83" name="Shape 81"/>
          <p:cNvSpPr/>
          <p:nvPr/>
        </p:nvSpPr>
        <p:spPr>
          <a:xfrm>
            <a:off x="4389120" y="4892040"/>
            <a:ext cx="182880" cy="182880"/>
          </a:xfrm>
          <a:custGeom>
            <a:avLst/>
            <a:gdLst/>
            <a:ahLst/>
            <a:cxnLst/>
            <a:rect l="l" t="t" r="r" b="b"/>
            <a:pathLst>
              <a:path w="182880" h="182880">
                <a:moveTo>
                  <a:pt x="64008" y="0"/>
                </a:moveTo>
                <a:lnTo>
                  <a:pt x="182880" y="50292"/>
                </a:lnTo>
                <a:lnTo>
                  <a:pt x="118872" y="182880"/>
                </a:lnTo>
                <a:lnTo>
                  <a:pt x="0" y="132588"/>
                </a:lnTo>
                <a:close/>
              </a:path>
            </a:pathLst>
          </a:custGeom>
          <a:solidFill>
            <a:srgbClr val="8EC9F0"/>
          </a:solidFill>
          <a:ln w="9525">
            <a:solidFill>
              <a:srgbClr val="2F7FC1"/>
            </a:solidFill>
            <a:prstDash val="solid"/>
          </a:ln>
        </p:spPr>
      </p:sp>
      <p:sp>
        <p:nvSpPr>
          <p:cNvPr id="84" name="Shape 82"/>
          <p:cNvSpPr/>
          <p:nvPr/>
        </p:nvSpPr>
        <p:spPr>
          <a:xfrm>
            <a:off x="4754880" y="4919472"/>
            <a:ext cx="182880" cy="182880"/>
          </a:xfrm>
          <a:custGeom>
            <a:avLst/>
            <a:gdLst/>
            <a:ahLst/>
            <a:cxnLst/>
            <a:rect l="l" t="t" r="r" b="b"/>
            <a:pathLst>
              <a:path w="182880" h="182880">
                <a:moveTo>
                  <a:pt x="64008" y="0"/>
                </a:moveTo>
                <a:lnTo>
                  <a:pt x="182880" y="50292"/>
                </a:lnTo>
                <a:lnTo>
                  <a:pt x="118872" y="182880"/>
                </a:lnTo>
                <a:lnTo>
                  <a:pt x="0" y="132588"/>
                </a:lnTo>
                <a:close/>
              </a:path>
            </a:pathLst>
          </a:custGeom>
          <a:solidFill>
            <a:srgbClr val="8EC9F0"/>
          </a:solidFill>
          <a:ln w="9525">
            <a:solidFill>
              <a:srgbClr val="2F7FC1"/>
            </a:solidFill>
            <a:prstDash val="solid"/>
          </a:ln>
        </p:spPr>
      </p:sp>
      <p:sp>
        <p:nvSpPr>
          <p:cNvPr id="85" name="Shape 83"/>
          <p:cNvSpPr/>
          <p:nvPr/>
        </p:nvSpPr>
        <p:spPr>
          <a:xfrm>
            <a:off x="6217920" y="1188720"/>
            <a:ext cx="5562295" cy="2331720"/>
          </a:xfrm>
          <a:prstGeom prst="roundRect">
            <a:avLst>
              <a:gd name="adj" fmla="val 2353"/>
            </a:avLst>
          </a:prstGeom>
          <a:solidFill>
            <a:srgbClr val="F8F5FC"/>
          </a:solidFill>
          <a:ln w="9525">
            <a:solidFill>
              <a:srgbClr val="DDD3EC"/>
            </a:solidFill>
            <a:prstDash val="solid"/>
          </a:ln>
        </p:spPr>
      </p:sp>
      <p:sp>
        <p:nvSpPr>
          <p:cNvPr id="86" name="Text 8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87" name="Text 85"/>
          <p:cNvSpPr/>
          <p:nvPr/>
        </p:nvSpPr>
        <p:spPr>
          <a:xfrm>
            <a:off x="6382512" y="1609344"/>
            <a:ext cx="5233111" cy="183794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Warm </a:t>
            </a:r>
            <a:r>
              <a:rPr lang="en-US" sz="1150" b="1" dirty="0">
                <a:solidFill>
                  <a:srgbClr val="262B3A"/>
                </a:solidFill>
                <a:latin typeface="Calibri" pitchFamily="34" charset="0"/>
                <a:ea typeface="Calibri" pitchFamily="34" charset="-122"/>
                <a:cs typeface="Calibri" pitchFamily="34" charset="-120"/>
              </a:rPr>
              <a:t>50 cm³</a:t>
            </a:r>
            <a:r>
              <a:rPr lang="en-US" sz="1150" dirty="0">
                <a:solidFill>
                  <a:srgbClr val="262B3A"/>
                </a:solidFill>
                <a:latin typeface="Calibri" pitchFamily="34" charset="0"/>
                <a:ea typeface="Calibri" pitchFamily="34" charset="-122"/>
                <a:cs typeface="Calibri" pitchFamily="34" charset="-120"/>
              </a:rPr>
              <a:t> of dilute sulfuric acid in a </a:t>
            </a:r>
            <a:r>
              <a:rPr lang="en-US" sz="1150" b="1" dirty="0">
                <a:solidFill>
                  <a:srgbClr val="262B3A"/>
                </a:solidFill>
                <a:latin typeface="Calibri" pitchFamily="34" charset="0"/>
                <a:ea typeface="Calibri" pitchFamily="34" charset="-122"/>
                <a:cs typeface="Calibri" pitchFamily="34" charset="-120"/>
              </a:rPr>
              <a:t>water bath</a:t>
            </a:r>
            <a:r>
              <a:rPr lang="en-US" sz="1150" dirty="0">
                <a:solidFill>
                  <a:srgbClr val="262B3A"/>
                </a:solidFill>
                <a:latin typeface="Calibri" pitchFamily="34" charset="0"/>
                <a:ea typeface="Calibri" pitchFamily="34" charset="-122"/>
                <a:cs typeface="Calibri" pitchFamily="34" charset="-120"/>
              </a:rPr>
              <a:t> (about 50 °C).</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Add </a:t>
            </a:r>
            <a:r>
              <a:rPr lang="en-US" sz="1150" b="1" dirty="0">
                <a:solidFill>
                  <a:srgbClr val="262B3A"/>
                </a:solidFill>
                <a:latin typeface="Calibri" pitchFamily="34" charset="0"/>
                <a:ea typeface="Calibri" pitchFamily="34" charset="-122"/>
                <a:cs typeface="Calibri" pitchFamily="34" charset="-120"/>
              </a:rPr>
              <a:t>copper oxide</a:t>
            </a:r>
            <a:r>
              <a:rPr lang="en-US" sz="1150" dirty="0">
                <a:solidFill>
                  <a:srgbClr val="262B3A"/>
                </a:solidFill>
                <a:latin typeface="Calibri" pitchFamily="34" charset="0"/>
                <a:ea typeface="Calibri" pitchFamily="34" charset="-122"/>
                <a:cs typeface="Calibri" pitchFamily="34" charset="-120"/>
              </a:rPr>
              <a:t> a spatula at a time, stirring, until some stays </a:t>
            </a:r>
            <a:r>
              <a:rPr lang="en-US" sz="1150" b="1" dirty="0">
                <a:solidFill>
                  <a:srgbClr val="262B3A"/>
                </a:solidFill>
                <a:latin typeface="Calibri" pitchFamily="34" charset="0"/>
                <a:ea typeface="Calibri" pitchFamily="34" charset="-122"/>
                <a:cs typeface="Calibri" pitchFamily="34" charset="-120"/>
              </a:rPr>
              <a:t>undissolved</a:t>
            </a:r>
            <a:r>
              <a:rPr lang="en-US" sz="1150" dirty="0">
                <a:solidFill>
                  <a:srgbClr val="262B3A"/>
                </a:solidFill>
                <a:latin typeface="Calibri" pitchFamily="34" charset="0"/>
                <a:ea typeface="Calibri" pitchFamily="34" charset="-122"/>
                <a:cs typeface="Calibri" pitchFamily="34" charset="-120"/>
              </a:rPr>
              <a:t> (excess).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Filter</a:t>
            </a:r>
            <a:r>
              <a:rPr lang="en-US" sz="1150" dirty="0">
                <a:solidFill>
                  <a:srgbClr val="262B3A"/>
                </a:solidFill>
                <a:latin typeface="Calibri" pitchFamily="34" charset="0"/>
                <a:ea typeface="Calibri" pitchFamily="34" charset="-122"/>
                <a:cs typeface="Calibri" pitchFamily="34" charset="-120"/>
              </a:rPr>
              <a:t> into an evaporating basin to remove the excess CuO.</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Heat the basin over a </a:t>
            </a:r>
            <a:r>
              <a:rPr lang="en-US" sz="1150" b="1" dirty="0">
                <a:solidFill>
                  <a:srgbClr val="262B3A"/>
                </a:solidFill>
                <a:latin typeface="Calibri" pitchFamily="34" charset="0"/>
                <a:ea typeface="Calibri" pitchFamily="34" charset="-122"/>
                <a:cs typeface="Calibri" pitchFamily="34" charset="-120"/>
              </a:rPr>
              <a:t>boiling water bath</a:t>
            </a:r>
            <a:r>
              <a:rPr lang="en-US" sz="1150" dirty="0">
                <a:solidFill>
                  <a:srgbClr val="262B3A"/>
                </a:solidFill>
                <a:latin typeface="Calibri" pitchFamily="34" charset="0"/>
                <a:ea typeface="Calibri" pitchFamily="34" charset="-122"/>
                <a:cs typeface="Calibri" pitchFamily="34" charset="-120"/>
              </a:rPr>
              <a:t> until crystals start to form at the edge.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Leave to </a:t>
            </a:r>
            <a:r>
              <a:rPr lang="en-US" sz="1150" b="1" dirty="0">
                <a:solidFill>
                  <a:srgbClr val="262B3A"/>
                </a:solidFill>
                <a:latin typeface="Calibri" pitchFamily="34" charset="0"/>
                <a:ea typeface="Calibri" pitchFamily="34" charset="-122"/>
                <a:cs typeface="Calibri" pitchFamily="34" charset="-120"/>
              </a:rPr>
              <a:t>cool and crystallise</a:t>
            </a:r>
            <a:r>
              <a:rPr lang="en-US" sz="1150" dirty="0">
                <a:solidFill>
                  <a:srgbClr val="262B3A"/>
                </a:solidFill>
                <a:latin typeface="Calibri" pitchFamily="34" charset="0"/>
                <a:ea typeface="Calibri" pitchFamily="34" charset="-122"/>
                <a:cs typeface="Calibri" pitchFamily="34" charset="-120"/>
              </a:rPr>
              <a:t>; filter off and pat the blue crystals </a:t>
            </a:r>
            <a:r>
              <a:rPr lang="en-US" sz="1150" b="1" dirty="0">
                <a:solidFill>
                  <a:srgbClr val="262B3A"/>
                </a:solidFill>
                <a:latin typeface="Calibri" pitchFamily="34" charset="0"/>
                <a:ea typeface="Calibri" pitchFamily="34" charset="-122"/>
                <a:cs typeface="Calibri" pitchFamily="34" charset="-120"/>
              </a:rPr>
              <a:t>dry</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88" name="Shape 86"/>
          <p:cNvSpPr/>
          <p:nvPr/>
        </p:nvSpPr>
        <p:spPr>
          <a:xfrm>
            <a:off x="6217920" y="3657600"/>
            <a:ext cx="5562295" cy="2057400"/>
          </a:xfrm>
          <a:prstGeom prst="roundRect">
            <a:avLst>
              <a:gd name="adj" fmla="val 2667"/>
            </a:avLst>
          </a:prstGeom>
          <a:solidFill>
            <a:srgbClr val="FFF4E0"/>
          </a:solidFill>
          <a:ln w="9525">
            <a:solidFill>
              <a:srgbClr val="F1D9A8"/>
            </a:solidFill>
            <a:prstDash val="solid"/>
          </a:ln>
        </p:spPr>
      </p:sp>
      <p:sp>
        <p:nvSpPr>
          <p:cNvPr id="89" name="Text 87"/>
          <p:cNvSpPr/>
          <p:nvPr/>
        </p:nvSpPr>
        <p:spPr>
          <a:xfrm>
            <a:off x="6382512" y="37307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Safety (CLEAPSS-style)</a:t>
            </a:r>
            <a:endParaRPr lang="en-US" sz="1300" dirty="0"/>
          </a:p>
        </p:txBody>
      </p:sp>
      <p:sp>
        <p:nvSpPr>
          <p:cNvPr id="90" name="Text 88"/>
          <p:cNvSpPr/>
          <p:nvPr/>
        </p:nvSpPr>
        <p:spPr>
          <a:xfrm>
            <a:off x="6382512" y="4041648"/>
            <a:ext cx="5233111" cy="1600200"/>
          </a:xfrm>
          <a:prstGeom prst="rect">
            <a:avLst/>
          </a:prstGeom>
          <a:noFill/>
          <a:ln/>
        </p:spPr>
        <p:txBody>
          <a:bodyPr wrap="square" lIns="0" tIns="0" rIns="0" bIns="0" rtlCol="0" anchor="t"/>
          <a:lstStyle/>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Hazards   </a:t>
            </a:r>
            <a:r>
              <a:rPr lang="en-US" sz="1050" dirty="0">
                <a:solidFill>
                  <a:srgbClr val="262B3A"/>
                </a:solidFill>
                <a:latin typeface="Calibri" pitchFamily="34" charset="0"/>
                <a:ea typeface="Calibri" pitchFamily="34" charset="-122"/>
                <a:cs typeface="Calibri" pitchFamily="34" charset="-120"/>
              </a:rPr>
              <a:t>copper oxide and copper sulfate harmful; dilute sulfuric acid irritant</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Heating   </a:t>
            </a:r>
            <a:r>
              <a:rPr lang="en-US" sz="1050" dirty="0">
                <a:solidFill>
                  <a:srgbClr val="262B3A"/>
                </a:solidFill>
                <a:latin typeface="Calibri" pitchFamily="34" charset="0"/>
                <a:ea typeface="Calibri" pitchFamily="34" charset="-122"/>
                <a:cs typeface="Calibri" pitchFamily="34" charset="-120"/>
              </a:rPr>
              <a:t>do not boil to dryness: crystals spit and lose their water</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Why bath   </a:t>
            </a:r>
            <a:r>
              <a:rPr lang="en-US" sz="1050" dirty="0">
                <a:solidFill>
                  <a:srgbClr val="262B3A"/>
                </a:solidFill>
                <a:latin typeface="Calibri" pitchFamily="34" charset="0"/>
                <a:ea typeface="Calibri" pitchFamily="34" charset="-122"/>
                <a:cs typeface="Calibri" pitchFamily="34" charset="-120"/>
              </a:rPr>
              <a:t>gentle, even heating at a controlled temperature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4 Safety   </a:t>
            </a:r>
            <a:r>
              <a:rPr lang="en-US" sz="1050" b="1" dirty="0">
                <a:solidFill>
                  <a:srgbClr val="C8414C"/>
                </a:solidFill>
                <a:latin typeface="Calibri" pitchFamily="34" charset="0"/>
                <a:ea typeface="Calibri" pitchFamily="34" charset="-122"/>
                <a:cs typeface="Calibri" pitchFamily="34" charset="-120"/>
              </a:rPr>
              <a:t>eye protection; let apparatus cool before handling</a:t>
            </a:r>
            <a:endParaRPr lang="en-US" sz="1050" dirty="0"/>
          </a:p>
        </p:txBody>
      </p:sp>
      <p:sp>
        <p:nvSpPr>
          <p:cNvPr id="91" name="Shape 89"/>
          <p:cNvSpPr/>
          <p:nvPr/>
        </p:nvSpPr>
        <p:spPr>
          <a:xfrm>
            <a:off x="411480" y="5833872"/>
            <a:ext cx="11368735" cy="530352"/>
          </a:xfrm>
          <a:prstGeom prst="rect">
            <a:avLst/>
          </a:prstGeom>
          <a:solidFill>
            <a:srgbClr val="FFF4E0"/>
          </a:solidFill>
          <a:ln w="6350">
            <a:solidFill>
              <a:srgbClr val="F1D9A8"/>
            </a:solidFill>
            <a:prstDash val="solid"/>
          </a:ln>
        </p:spPr>
      </p:sp>
      <p:sp>
        <p:nvSpPr>
          <p:cNvPr id="92" name="Shape 90"/>
          <p:cNvSpPr/>
          <p:nvPr/>
        </p:nvSpPr>
        <p:spPr>
          <a:xfrm>
            <a:off x="411480" y="5833872"/>
            <a:ext cx="82296" cy="530352"/>
          </a:xfrm>
          <a:prstGeom prst="rect">
            <a:avLst/>
          </a:prstGeom>
          <a:solidFill>
            <a:srgbClr val="E39A2F"/>
          </a:solidFill>
          <a:ln w="12700">
            <a:solidFill>
              <a:srgbClr val="E39A2F"/>
            </a:solidFill>
            <a:prstDash val="solid"/>
          </a:ln>
        </p:spPr>
      </p:sp>
      <p:sp>
        <p:nvSpPr>
          <p:cNvPr id="93" name="Text 9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copper oxide added </a:t>
            </a:r>
            <a:r>
              <a:rPr lang="en-US" sz="1150" b="1" dirty="0">
                <a:solidFill>
                  <a:srgbClr val="262B3A"/>
                </a:solidFill>
                <a:latin typeface="Calibri" pitchFamily="34" charset="0"/>
                <a:ea typeface="Calibri" pitchFamily="34" charset="-122"/>
                <a:cs typeface="Calibri" pitchFamily="34" charset="-120"/>
              </a:rPr>
              <a:t>in small portions</a:t>
            </a:r>
            <a:r>
              <a:rPr lang="en-US" sz="1150" dirty="0">
                <a:solidFill>
                  <a:srgbClr val="262B3A"/>
                </a:solidFill>
                <a:latin typeface="Calibri" pitchFamily="34" charset="0"/>
                <a:ea typeface="Calibri" pitchFamily="34" charset="-122"/>
                <a:cs typeface="Calibri" pitchFamily="34" charset="-120"/>
              </a:rPr>
              <a:t>? Why is the solution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heated to dryness?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Core Practical: crystals, yield and errors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3.17 • sample results from 25 cm³ of 1.0 mol dm⁻³ sulfuric acid</a:t>
            </a:r>
            <a:endParaRPr lang="en-US" sz="1100" dirty="0"/>
          </a:p>
        </p:txBody>
      </p:sp>
      <p:sp>
        <p:nvSpPr>
          <p:cNvPr id="6" name="Shape 4"/>
          <p:cNvSpPr/>
          <p:nvPr/>
        </p:nvSpPr>
        <p:spPr>
          <a:xfrm>
            <a:off x="10408615" y="292608"/>
            <a:ext cx="1371600"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408615" y="29260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CP 3.17  |  20</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Shape 9"/>
          <p:cNvSpPr/>
          <p:nvPr/>
        </p:nvSpPr>
        <p:spPr>
          <a:xfrm>
            <a:off x="685800" y="1828800"/>
            <a:ext cx="2103120" cy="685800"/>
          </a:xfrm>
          <a:custGeom>
            <a:avLst/>
            <a:gdLst/>
            <a:ahLst/>
            <a:cxnLst/>
            <a:rect l="l" t="t" r="r" b="b"/>
            <a:pathLst>
              <a:path w="2103120" h="685800">
                <a:moveTo>
                  <a:pt x="2103120" y="0"/>
                </a:moveTo>
                <a:lnTo>
                  <a:pt x="2094124" y="89515"/>
                </a:lnTo>
                <a:lnTo>
                  <a:pt x="2067289" y="177498"/>
                </a:lnTo>
                <a:lnTo>
                  <a:pt x="2023075" y="262444"/>
                </a:lnTo>
                <a:lnTo>
                  <a:pt x="1962238" y="342900"/>
                </a:lnTo>
                <a:lnTo>
                  <a:pt x="1885819" y="417489"/>
                </a:lnTo>
                <a:lnTo>
                  <a:pt x="1795125" y="484934"/>
                </a:lnTo>
                <a:lnTo>
                  <a:pt x="1691709" y="544082"/>
                </a:lnTo>
                <a:lnTo>
                  <a:pt x="1577340" y="593920"/>
                </a:lnTo>
                <a:lnTo>
                  <a:pt x="1453975" y="633597"/>
                </a:lnTo>
                <a:lnTo>
                  <a:pt x="1323724" y="662432"/>
                </a:lnTo>
                <a:lnTo>
                  <a:pt x="1188816" y="679933"/>
                </a:lnTo>
                <a:lnTo>
                  <a:pt x="1051560" y="685800"/>
                </a:lnTo>
                <a:lnTo>
                  <a:pt x="914304" y="679933"/>
                </a:lnTo>
                <a:lnTo>
                  <a:pt x="779396" y="662432"/>
                </a:lnTo>
                <a:lnTo>
                  <a:pt x="649145" y="633597"/>
                </a:lnTo>
                <a:lnTo>
                  <a:pt x="525780" y="593920"/>
                </a:lnTo>
                <a:lnTo>
                  <a:pt x="411411" y="544082"/>
                </a:lnTo>
                <a:lnTo>
                  <a:pt x="307995" y="484934"/>
                </a:lnTo>
                <a:lnTo>
                  <a:pt x="217301" y="417489"/>
                </a:lnTo>
                <a:lnTo>
                  <a:pt x="140882" y="342900"/>
                </a:lnTo>
                <a:lnTo>
                  <a:pt x="80045" y="262444"/>
                </a:lnTo>
                <a:lnTo>
                  <a:pt x="35831" y="177498"/>
                </a:lnTo>
                <a:lnTo>
                  <a:pt x="8996" y="89515"/>
                </a:lnTo>
                <a:lnTo>
                  <a:pt x="0" y="0"/>
                </a:lnTo>
                <a:close/>
              </a:path>
            </a:pathLst>
          </a:custGeom>
          <a:solidFill>
            <a:srgbClr val="F4F4F4"/>
          </a:solidFill>
          <a:ln/>
        </p:spPr>
      </p:sp>
      <p:sp>
        <p:nvSpPr>
          <p:cNvPr id="12" name="Shape 10"/>
          <p:cNvSpPr/>
          <p:nvPr/>
        </p:nvSpPr>
        <p:spPr>
          <a:xfrm>
            <a:off x="749553" y="2063959"/>
            <a:ext cx="1975614" cy="450641"/>
          </a:xfrm>
          <a:custGeom>
            <a:avLst/>
            <a:gdLst/>
            <a:ahLst/>
            <a:cxnLst/>
            <a:rect l="l" t="t" r="r" b="b"/>
            <a:pathLst>
              <a:path w="1975614" h="450641">
                <a:moveTo>
                  <a:pt x="1975614" y="0"/>
                </a:moveTo>
                <a:lnTo>
                  <a:pt x="1933887" y="64210"/>
                </a:lnTo>
                <a:lnTo>
                  <a:pt x="1882377" y="125324"/>
                </a:lnTo>
                <a:lnTo>
                  <a:pt x="1821617" y="182710"/>
                </a:lnTo>
                <a:lnTo>
                  <a:pt x="1752234" y="235776"/>
                </a:lnTo>
                <a:lnTo>
                  <a:pt x="1674947" y="283971"/>
                </a:lnTo>
                <a:lnTo>
                  <a:pt x="1590554" y="326799"/>
                </a:lnTo>
                <a:lnTo>
                  <a:pt x="1499929" y="363815"/>
                </a:lnTo>
                <a:lnTo>
                  <a:pt x="1404008" y="394638"/>
                </a:lnTo>
                <a:lnTo>
                  <a:pt x="1303783" y="418948"/>
                </a:lnTo>
                <a:lnTo>
                  <a:pt x="1200290" y="436494"/>
                </a:lnTo>
                <a:lnTo>
                  <a:pt x="1094601" y="447095"/>
                </a:lnTo>
                <a:lnTo>
                  <a:pt x="987807" y="450641"/>
                </a:lnTo>
                <a:lnTo>
                  <a:pt x="881013" y="447095"/>
                </a:lnTo>
                <a:lnTo>
                  <a:pt x="775323" y="436494"/>
                </a:lnTo>
                <a:lnTo>
                  <a:pt x="671831" y="418948"/>
                </a:lnTo>
                <a:lnTo>
                  <a:pt x="571606" y="394638"/>
                </a:lnTo>
                <a:lnTo>
                  <a:pt x="475685" y="363815"/>
                </a:lnTo>
                <a:lnTo>
                  <a:pt x="385059" y="326799"/>
                </a:lnTo>
                <a:lnTo>
                  <a:pt x="300666" y="283971"/>
                </a:lnTo>
                <a:lnTo>
                  <a:pt x="223379" y="235776"/>
                </a:lnTo>
                <a:lnTo>
                  <a:pt x="153997" y="182710"/>
                </a:lnTo>
                <a:lnTo>
                  <a:pt x="93237" y="125324"/>
                </a:lnTo>
                <a:lnTo>
                  <a:pt x="41727" y="64210"/>
                </a:lnTo>
                <a:lnTo>
                  <a:pt x="0" y="0"/>
                </a:lnTo>
                <a:close/>
              </a:path>
            </a:pathLst>
          </a:custGeom>
          <a:solidFill>
            <a:srgbClr val="CFE6F7"/>
          </a:solidFill>
          <a:ln/>
        </p:spPr>
      </p:sp>
      <p:sp>
        <p:nvSpPr>
          <p:cNvPr id="13" name="Shape 11"/>
          <p:cNvSpPr/>
          <p:nvPr/>
        </p:nvSpPr>
        <p:spPr>
          <a:xfrm>
            <a:off x="685800" y="1828800"/>
            <a:ext cx="2103120" cy="685800"/>
          </a:xfrm>
          <a:custGeom>
            <a:avLst/>
            <a:gdLst/>
            <a:ahLst/>
            <a:cxnLst/>
            <a:rect l="l" t="t" r="r" b="b"/>
            <a:pathLst>
              <a:path w="2103120" h="685800">
                <a:moveTo>
                  <a:pt x="2103120" y="0"/>
                </a:moveTo>
                <a:lnTo>
                  <a:pt x="2094124" y="89515"/>
                </a:lnTo>
                <a:lnTo>
                  <a:pt x="2067289" y="177498"/>
                </a:lnTo>
                <a:lnTo>
                  <a:pt x="2023075" y="262444"/>
                </a:lnTo>
                <a:lnTo>
                  <a:pt x="1962238" y="342900"/>
                </a:lnTo>
                <a:lnTo>
                  <a:pt x="1885819" y="417489"/>
                </a:lnTo>
                <a:lnTo>
                  <a:pt x="1795125" y="484934"/>
                </a:lnTo>
                <a:lnTo>
                  <a:pt x="1691709" y="544082"/>
                </a:lnTo>
                <a:lnTo>
                  <a:pt x="1577340" y="593920"/>
                </a:lnTo>
                <a:lnTo>
                  <a:pt x="1453975" y="633597"/>
                </a:lnTo>
                <a:lnTo>
                  <a:pt x="1323724" y="662432"/>
                </a:lnTo>
                <a:lnTo>
                  <a:pt x="1188816" y="679933"/>
                </a:lnTo>
                <a:lnTo>
                  <a:pt x="1051560" y="685800"/>
                </a:lnTo>
                <a:lnTo>
                  <a:pt x="914304" y="679933"/>
                </a:lnTo>
                <a:lnTo>
                  <a:pt x="779396" y="662432"/>
                </a:lnTo>
                <a:lnTo>
                  <a:pt x="649145" y="633597"/>
                </a:lnTo>
                <a:lnTo>
                  <a:pt x="525780" y="593920"/>
                </a:lnTo>
                <a:lnTo>
                  <a:pt x="411411" y="544082"/>
                </a:lnTo>
                <a:lnTo>
                  <a:pt x="307995" y="484934"/>
                </a:lnTo>
                <a:lnTo>
                  <a:pt x="217301" y="417489"/>
                </a:lnTo>
                <a:lnTo>
                  <a:pt x="140882" y="342900"/>
                </a:lnTo>
                <a:lnTo>
                  <a:pt x="80045" y="262444"/>
                </a:lnTo>
                <a:lnTo>
                  <a:pt x="35831" y="177498"/>
                </a:lnTo>
                <a:lnTo>
                  <a:pt x="8996" y="89515"/>
                </a:lnTo>
                <a:lnTo>
                  <a:pt x="0" y="0"/>
                </a:lnTo>
              </a:path>
            </a:pathLst>
          </a:custGeom>
          <a:ln w="19050">
            <a:solidFill>
              <a:srgbClr val="2A1F3D"/>
            </a:solidFill>
            <a:prstDash val="solid"/>
          </a:ln>
        </p:spPr>
      </p:sp>
      <p:sp>
        <p:nvSpPr>
          <p:cNvPr id="14" name="Shape 12"/>
          <p:cNvSpPr/>
          <p:nvPr/>
        </p:nvSpPr>
        <p:spPr>
          <a:xfrm>
            <a:off x="685800" y="1828800"/>
            <a:ext cx="2103120" cy="91"/>
          </a:xfrm>
          <a:prstGeom prst="line">
            <a:avLst/>
          </a:prstGeom>
          <a:noFill/>
          <a:ln w="19050">
            <a:solidFill>
              <a:srgbClr val="2A1F3D"/>
            </a:solidFill>
            <a:prstDash val="solid"/>
          </a:ln>
        </p:spPr>
      </p:sp>
      <p:sp>
        <p:nvSpPr>
          <p:cNvPr id="15" name="Shape 13"/>
          <p:cNvSpPr/>
          <p:nvPr/>
        </p:nvSpPr>
        <p:spPr>
          <a:xfrm>
            <a:off x="932688" y="1938528"/>
            <a:ext cx="329184" cy="329184"/>
          </a:xfrm>
          <a:custGeom>
            <a:avLst/>
            <a:gdLst/>
            <a:ahLst/>
            <a:cxnLst/>
            <a:rect l="l" t="t" r="r" b="b"/>
            <a:pathLst>
              <a:path w="329184" h="329184">
                <a:moveTo>
                  <a:pt x="115214" y="0"/>
                </a:moveTo>
                <a:lnTo>
                  <a:pt x="329184" y="90526"/>
                </a:lnTo>
                <a:lnTo>
                  <a:pt x="213970" y="329184"/>
                </a:lnTo>
                <a:lnTo>
                  <a:pt x="0" y="238658"/>
                </a:lnTo>
                <a:close/>
              </a:path>
            </a:pathLst>
          </a:custGeom>
          <a:solidFill>
            <a:srgbClr val="8EC9F0"/>
          </a:solidFill>
          <a:ln w="9525">
            <a:solidFill>
              <a:srgbClr val="2F7FC1"/>
            </a:solidFill>
            <a:prstDash val="solid"/>
          </a:ln>
        </p:spPr>
      </p:sp>
      <p:sp>
        <p:nvSpPr>
          <p:cNvPr id="16" name="Shape 14"/>
          <p:cNvSpPr/>
          <p:nvPr/>
        </p:nvSpPr>
        <p:spPr>
          <a:xfrm>
            <a:off x="1261872" y="2039112"/>
            <a:ext cx="402336" cy="402336"/>
          </a:xfrm>
          <a:custGeom>
            <a:avLst/>
            <a:gdLst/>
            <a:ahLst/>
            <a:cxnLst/>
            <a:rect l="l" t="t" r="r" b="b"/>
            <a:pathLst>
              <a:path w="402336" h="402336">
                <a:moveTo>
                  <a:pt x="140818" y="0"/>
                </a:moveTo>
                <a:lnTo>
                  <a:pt x="402336" y="110642"/>
                </a:lnTo>
                <a:lnTo>
                  <a:pt x="261518" y="402336"/>
                </a:lnTo>
                <a:lnTo>
                  <a:pt x="0" y="291694"/>
                </a:lnTo>
                <a:close/>
              </a:path>
            </a:pathLst>
          </a:custGeom>
          <a:solidFill>
            <a:srgbClr val="8EC9F0"/>
          </a:solidFill>
          <a:ln w="9525">
            <a:solidFill>
              <a:srgbClr val="2F7FC1"/>
            </a:solidFill>
            <a:prstDash val="solid"/>
          </a:ln>
        </p:spPr>
      </p:sp>
      <p:sp>
        <p:nvSpPr>
          <p:cNvPr id="17" name="Shape 15"/>
          <p:cNvSpPr/>
          <p:nvPr/>
        </p:nvSpPr>
        <p:spPr>
          <a:xfrm>
            <a:off x="1737360" y="1965960"/>
            <a:ext cx="365760" cy="365760"/>
          </a:xfrm>
          <a:custGeom>
            <a:avLst/>
            <a:gdLst/>
            <a:ahLst/>
            <a:cxnLst/>
            <a:rect l="l" t="t" r="r" b="b"/>
            <a:pathLst>
              <a:path w="365760" h="365760">
                <a:moveTo>
                  <a:pt x="128016" y="0"/>
                </a:moveTo>
                <a:lnTo>
                  <a:pt x="365760" y="100584"/>
                </a:lnTo>
                <a:lnTo>
                  <a:pt x="237744" y="365760"/>
                </a:lnTo>
                <a:lnTo>
                  <a:pt x="0" y="265176"/>
                </a:lnTo>
                <a:close/>
              </a:path>
            </a:pathLst>
          </a:custGeom>
          <a:solidFill>
            <a:srgbClr val="8EC9F0"/>
          </a:solidFill>
          <a:ln w="9525">
            <a:solidFill>
              <a:srgbClr val="2F7FC1"/>
            </a:solidFill>
            <a:prstDash val="solid"/>
          </a:ln>
        </p:spPr>
      </p:sp>
      <p:sp>
        <p:nvSpPr>
          <p:cNvPr id="18" name="Shape 16"/>
          <p:cNvSpPr/>
          <p:nvPr/>
        </p:nvSpPr>
        <p:spPr>
          <a:xfrm>
            <a:off x="2194560" y="1920240"/>
            <a:ext cx="274320" cy="274320"/>
          </a:xfrm>
          <a:custGeom>
            <a:avLst/>
            <a:gdLst/>
            <a:ahLst/>
            <a:cxnLst/>
            <a:rect l="l" t="t" r="r" b="b"/>
            <a:pathLst>
              <a:path w="274320" h="274320">
                <a:moveTo>
                  <a:pt x="96012" y="0"/>
                </a:moveTo>
                <a:lnTo>
                  <a:pt x="274320" y="75438"/>
                </a:lnTo>
                <a:lnTo>
                  <a:pt x="178308" y="274320"/>
                </a:lnTo>
                <a:lnTo>
                  <a:pt x="0" y="198882"/>
                </a:lnTo>
                <a:close/>
              </a:path>
            </a:pathLst>
          </a:custGeom>
          <a:solidFill>
            <a:srgbClr val="8EC9F0"/>
          </a:solidFill>
          <a:ln w="9525">
            <a:solidFill>
              <a:srgbClr val="2F7FC1"/>
            </a:solidFill>
            <a:prstDash val="solid"/>
          </a:ln>
        </p:spPr>
      </p:sp>
      <p:sp>
        <p:nvSpPr>
          <p:cNvPr id="19" name="Shape 17"/>
          <p:cNvSpPr/>
          <p:nvPr/>
        </p:nvSpPr>
        <p:spPr>
          <a:xfrm>
            <a:off x="1609344" y="1865376"/>
            <a:ext cx="256032" cy="256032"/>
          </a:xfrm>
          <a:custGeom>
            <a:avLst/>
            <a:gdLst/>
            <a:ahLst/>
            <a:cxnLst/>
            <a:rect l="l" t="t" r="r" b="b"/>
            <a:pathLst>
              <a:path w="256032" h="256032">
                <a:moveTo>
                  <a:pt x="89611" y="0"/>
                </a:moveTo>
                <a:lnTo>
                  <a:pt x="256032" y="70409"/>
                </a:lnTo>
                <a:lnTo>
                  <a:pt x="166421" y="256032"/>
                </a:lnTo>
                <a:lnTo>
                  <a:pt x="0" y="185623"/>
                </a:lnTo>
                <a:close/>
              </a:path>
            </a:pathLst>
          </a:custGeom>
          <a:solidFill>
            <a:srgbClr val="8EC9F0"/>
          </a:solidFill>
          <a:ln w="9525">
            <a:solidFill>
              <a:srgbClr val="2F7FC1"/>
            </a:solidFill>
            <a:prstDash val="solid"/>
          </a:ln>
        </p:spPr>
      </p:sp>
      <p:sp>
        <p:nvSpPr>
          <p:cNvPr id="20" name="Text 18"/>
          <p:cNvSpPr/>
          <p:nvPr/>
        </p:nvSpPr>
        <p:spPr>
          <a:xfrm>
            <a:off x="640080" y="2697480"/>
            <a:ext cx="219456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blue</a:t>
            </a:r>
            <a:r>
              <a:rPr lang="en-US" sz="1100" dirty="0">
                <a:solidFill>
                  <a:srgbClr val="262B3A"/>
                </a:solidFill>
                <a:latin typeface="Calibri" pitchFamily="34" charset="0"/>
                <a:ea typeface="Calibri" pitchFamily="34" charset="-122"/>
                <a:cs typeface="Calibri" pitchFamily="34" charset="-120"/>
              </a:rPr>
              <a:t> CuSO₄·5H₂O crystals</a:t>
            </a:r>
            <a:endParaRPr lang="en-US" sz="1100" dirty="0"/>
          </a:p>
        </p:txBody>
      </p:sp>
      <p:sp>
        <p:nvSpPr>
          <p:cNvPr id="21" name="Shape 19"/>
          <p:cNvSpPr/>
          <p:nvPr/>
        </p:nvSpPr>
        <p:spPr>
          <a:xfrm>
            <a:off x="3017520" y="2148840"/>
            <a:ext cx="731520" cy="91"/>
          </a:xfrm>
          <a:prstGeom prst="line">
            <a:avLst/>
          </a:prstGeom>
          <a:noFill/>
          <a:ln w="31750">
            <a:solidFill>
              <a:srgbClr val="C8414C"/>
            </a:solidFill>
            <a:prstDash val="solid"/>
            <a:tailEnd type="triangle"/>
          </a:ln>
        </p:spPr>
      </p:sp>
      <p:sp>
        <p:nvSpPr>
          <p:cNvPr id="22" name="Text 20"/>
          <p:cNvSpPr/>
          <p:nvPr/>
        </p:nvSpPr>
        <p:spPr>
          <a:xfrm>
            <a:off x="2880360" y="1737360"/>
            <a:ext cx="1005840" cy="365760"/>
          </a:xfrm>
          <a:prstGeom prst="rect">
            <a:avLst/>
          </a:prstGeom>
          <a:noFill/>
          <a:ln/>
        </p:spPr>
        <p:txBody>
          <a:bodyPr wrap="square" lIns="0" tIns="0" rIns="0" bIns="0" rtlCol="0" anchor="ctr"/>
          <a:lstStyle/>
          <a:p>
            <a:pPr algn="ctr" indent="0" marL="0">
              <a:buNone/>
            </a:pPr>
            <a:r>
              <a:rPr lang="en-US" sz="1000" dirty="0">
                <a:solidFill>
                  <a:srgbClr val="C8414C"/>
                </a:solidFill>
                <a:latin typeface="Calibri" pitchFamily="34" charset="0"/>
                <a:ea typeface="Calibri" pitchFamily="34" charset="-122"/>
                <a:cs typeface="Calibri" pitchFamily="34" charset="-120"/>
              </a:rPr>
              <a:t>heat too strongly</a:t>
            </a:r>
            <a:endParaRPr lang="en-US" sz="1000" dirty="0"/>
          </a:p>
        </p:txBody>
      </p:sp>
      <p:sp>
        <p:nvSpPr>
          <p:cNvPr id="23" name="Shape 21"/>
          <p:cNvSpPr/>
          <p:nvPr/>
        </p:nvSpPr>
        <p:spPr>
          <a:xfrm>
            <a:off x="3840480" y="1828800"/>
            <a:ext cx="1737360" cy="548640"/>
          </a:xfrm>
          <a:custGeom>
            <a:avLst/>
            <a:gdLst/>
            <a:ahLst/>
            <a:cxnLst/>
            <a:rect l="l" t="t" r="r" b="b"/>
            <a:pathLst>
              <a:path w="1737360" h="548640">
                <a:moveTo>
                  <a:pt x="1737360" y="0"/>
                </a:moveTo>
                <a:lnTo>
                  <a:pt x="1729928" y="71612"/>
                </a:lnTo>
                <a:lnTo>
                  <a:pt x="1707760" y="141998"/>
                </a:lnTo>
                <a:lnTo>
                  <a:pt x="1671236" y="209955"/>
                </a:lnTo>
                <a:lnTo>
                  <a:pt x="1620979" y="274320"/>
                </a:lnTo>
                <a:lnTo>
                  <a:pt x="1557850" y="333991"/>
                </a:lnTo>
                <a:lnTo>
                  <a:pt x="1482930" y="387947"/>
                </a:lnTo>
                <a:lnTo>
                  <a:pt x="1397499" y="435265"/>
                </a:lnTo>
                <a:lnTo>
                  <a:pt x="1303020" y="475136"/>
                </a:lnTo>
                <a:lnTo>
                  <a:pt x="1201109" y="506877"/>
                </a:lnTo>
                <a:lnTo>
                  <a:pt x="1093511" y="529946"/>
                </a:lnTo>
                <a:lnTo>
                  <a:pt x="982065" y="543946"/>
                </a:lnTo>
                <a:lnTo>
                  <a:pt x="868680" y="548640"/>
                </a:lnTo>
                <a:lnTo>
                  <a:pt x="755295" y="543946"/>
                </a:lnTo>
                <a:lnTo>
                  <a:pt x="643849" y="529946"/>
                </a:lnTo>
                <a:lnTo>
                  <a:pt x="536251" y="506877"/>
                </a:lnTo>
                <a:lnTo>
                  <a:pt x="434340" y="475136"/>
                </a:lnTo>
                <a:lnTo>
                  <a:pt x="339861" y="435265"/>
                </a:lnTo>
                <a:lnTo>
                  <a:pt x="254430" y="387947"/>
                </a:lnTo>
                <a:lnTo>
                  <a:pt x="179510" y="333991"/>
                </a:lnTo>
                <a:lnTo>
                  <a:pt x="116381" y="274320"/>
                </a:lnTo>
                <a:lnTo>
                  <a:pt x="66124" y="209955"/>
                </a:lnTo>
                <a:lnTo>
                  <a:pt x="29600" y="141998"/>
                </a:lnTo>
                <a:lnTo>
                  <a:pt x="7432" y="71612"/>
                </a:lnTo>
                <a:lnTo>
                  <a:pt x="0" y="0"/>
                </a:lnTo>
                <a:close/>
              </a:path>
            </a:pathLst>
          </a:custGeom>
          <a:solidFill>
            <a:srgbClr val="F4F4F4"/>
          </a:solidFill>
          <a:ln/>
        </p:spPr>
      </p:sp>
      <p:sp>
        <p:nvSpPr>
          <p:cNvPr id="24" name="Shape 22"/>
          <p:cNvSpPr/>
          <p:nvPr/>
        </p:nvSpPr>
        <p:spPr>
          <a:xfrm>
            <a:off x="3893146" y="2016927"/>
            <a:ext cx="1632029" cy="360513"/>
          </a:xfrm>
          <a:custGeom>
            <a:avLst/>
            <a:gdLst/>
            <a:ahLst/>
            <a:cxnLst/>
            <a:rect l="l" t="t" r="r" b="b"/>
            <a:pathLst>
              <a:path w="1632029" h="360513">
                <a:moveTo>
                  <a:pt x="1632029" y="0"/>
                </a:moveTo>
                <a:lnTo>
                  <a:pt x="1597559" y="51368"/>
                </a:lnTo>
                <a:lnTo>
                  <a:pt x="1555007" y="100259"/>
                </a:lnTo>
                <a:lnTo>
                  <a:pt x="1504814" y="146168"/>
                </a:lnTo>
                <a:lnTo>
                  <a:pt x="1447498" y="188621"/>
                </a:lnTo>
                <a:lnTo>
                  <a:pt x="1383652" y="227177"/>
                </a:lnTo>
                <a:lnTo>
                  <a:pt x="1313936" y="261439"/>
                </a:lnTo>
                <a:lnTo>
                  <a:pt x="1239072" y="291052"/>
                </a:lnTo>
                <a:lnTo>
                  <a:pt x="1159832" y="315710"/>
                </a:lnTo>
                <a:lnTo>
                  <a:pt x="1077038" y="335158"/>
                </a:lnTo>
                <a:lnTo>
                  <a:pt x="991544" y="349195"/>
                </a:lnTo>
                <a:lnTo>
                  <a:pt x="904235" y="357676"/>
                </a:lnTo>
                <a:lnTo>
                  <a:pt x="816014" y="360513"/>
                </a:lnTo>
                <a:lnTo>
                  <a:pt x="727793" y="357676"/>
                </a:lnTo>
                <a:lnTo>
                  <a:pt x="640484" y="349195"/>
                </a:lnTo>
                <a:lnTo>
                  <a:pt x="554991" y="335158"/>
                </a:lnTo>
                <a:lnTo>
                  <a:pt x="472196" y="315710"/>
                </a:lnTo>
                <a:lnTo>
                  <a:pt x="392957" y="291052"/>
                </a:lnTo>
                <a:lnTo>
                  <a:pt x="318092" y="261439"/>
                </a:lnTo>
                <a:lnTo>
                  <a:pt x="248377" y="227177"/>
                </a:lnTo>
                <a:lnTo>
                  <a:pt x="184531" y="188621"/>
                </a:lnTo>
                <a:lnTo>
                  <a:pt x="127215" y="146168"/>
                </a:lnTo>
                <a:lnTo>
                  <a:pt x="77021" y="100259"/>
                </a:lnTo>
                <a:lnTo>
                  <a:pt x="34470" y="51368"/>
                </a:lnTo>
                <a:lnTo>
                  <a:pt x="0" y="0"/>
                </a:lnTo>
                <a:close/>
              </a:path>
            </a:pathLst>
          </a:custGeom>
          <a:solidFill>
            <a:srgbClr val="F6F6F6"/>
          </a:solidFill>
          <a:ln/>
        </p:spPr>
      </p:sp>
      <p:sp>
        <p:nvSpPr>
          <p:cNvPr id="25" name="Shape 23"/>
          <p:cNvSpPr/>
          <p:nvPr/>
        </p:nvSpPr>
        <p:spPr>
          <a:xfrm>
            <a:off x="3840480" y="1828800"/>
            <a:ext cx="1737360" cy="548640"/>
          </a:xfrm>
          <a:custGeom>
            <a:avLst/>
            <a:gdLst/>
            <a:ahLst/>
            <a:cxnLst/>
            <a:rect l="l" t="t" r="r" b="b"/>
            <a:pathLst>
              <a:path w="1737360" h="548640">
                <a:moveTo>
                  <a:pt x="1737360" y="0"/>
                </a:moveTo>
                <a:lnTo>
                  <a:pt x="1729928" y="71612"/>
                </a:lnTo>
                <a:lnTo>
                  <a:pt x="1707760" y="141998"/>
                </a:lnTo>
                <a:lnTo>
                  <a:pt x="1671236" y="209955"/>
                </a:lnTo>
                <a:lnTo>
                  <a:pt x="1620979" y="274320"/>
                </a:lnTo>
                <a:lnTo>
                  <a:pt x="1557850" y="333991"/>
                </a:lnTo>
                <a:lnTo>
                  <a:pt x="1482930" y="387947"/>
                </a:lnTo>
                <a:lnTo>
                  <a:pt x="1397499" y="435265"/>
                </a:lnTo>
                <a:lnTo>
                  <a:pt x="1303020" y="475136"/>
                </a:lnTo>
                <a:lnTo>
                  <a:pt x="1201109" y="506877"/>
                </a:lnTo>
                <a:lnTo>
                  <a:pt x="1093511" y="529946"/>
                </a:lnTo>
                <a:lnTo>
                  <a:pt x="982065" y="543946"/>
                </a:lnTo>
                <a:lnTo>
                  <a:pt x="868680" y="548640"/>
                </a:lnTo>
                <a:lnTo>
                  <a:pt x="755295" y="543946"/>
                </a:lnTo>
                <a:lnTo>
                  <a:pt x="643849" y="529946"/>
                </a:lnTo>
                <a:lnTo>
                  <a:pt x="536251" y="506877"/>
                </a:lnTo>
                <a:lnTo>
                  <a:pt x="434340" y="475136"/>
                </a:lnTo>
                <a:lnTo>
                  <a:pt x="339861" y="435265"/>
                </a:lnTo>
                <a:lnTo>
                  <a:pt x="254430" y="387947"/>
                </a:lnTo>
                <a:lnTo>
                  <a:pt x="179510" y="333991"/>
                </a:lnTo>
                <a:lnTo>
                  <a:pt x="116381" y="274320"/>
                </a:lnTo>
                <a:lnTo>
                  <a:pt x="66124" y="209955"/>
                </a:lnTo>
                <a:lnTo>
                  <a:pt x="29600" y="141998"/>
                </a:lnTo>
                <a:lnTo>
                  <a:pt x="7432" y="71612"/>
                </a:lnTo>
                <a:lnTo>
                  <a:pt x="0" y="0"/>
                </a:lnTo>
              </a:path>
            </a:pathLst>
          </a:custGeom>
          <a:ln w="19050">
            <a:solidFill>
              <a:srgbClr val="2A1F3D"/>
            </a:solidFill>
            <a:prstDash val="solid"/>
          </a:ln>
        </p:spPr>
      </p:sp>
      <p:sp>
        <p:nvSpPr>
          <p:cNvPr id="26" name="Shape 24"/>
          <p:cNvSpPr/>
          <p:nvPr/>
        </p:nvSpPr>
        <p:spPr>
          <a:xfrm>
            <a:off x="3840480" y="1828800"/>
            <a:ext cx="1737360" cy="91"/>
          </a:xfrm>
          <a:prstGeom prst="line">
            <a:avLst/>
          </a:prstGeom>
          <a:noFill/>
          <a:ln w="19050">
            <a:solidFill>
              <a:srgbClr val="2A1F3D"/>
            </a:solidFill>
            <a:prstDash val="solid"/>
          </a:ln>
        </p:spPr>
      </p:sp>
      <p:sp>
        <p:nvSpPr>
          <p:cNvPr id="27" name="Shape 25"/>
          <p:cNvSpPr/>
          <p:nvPr/>
        </p:nvSpPr>
        <p:spPr>
          <a:xfrm>
            <a:off x="4059936" y="1975104"/>
            <a:ext cx="109728" cy="109728"/>
          </a:xfrm>
          <a:prstGeom prst="ellipse">
            <a:avLst/>
          </a:prstGeom>
          <a:solidFill>
            <a:srgbClr val="FFFFFF"/>
          </a:solidFill>
          <a:ln w="9525">
            <a:solidFill>
              <a:srgbClr val="AAB2BE"/>
            </a:solidFill>
            <a:prstDash val="solid"/>
          </a:ln>
        </p:spPr>
      </p:sp>
      <p:sp>
        <p:nvSpPr>
          <p:cNvPr id="28" name="Shape 26"/>
          <p:cNvSpPr/>
          <p:nvPr/>
        </p:nvSpPr>
        <p:spPr>
          <a:xfrm>
            <a:off x="4206240" y="2029968"/>
            <a:ext cx="109728" cy="109728"/>
          </a:xfrm>
          <a:prstGeom prst="ellipse">
            <a:avLst/>
          </a:prstGeom>
          <a:solidFill>
            <a:srgbClr val="FFFFFF"/>
          </a:solidFill>
          <a:ln w="9525">
            <a:solidFill>
              <a:srgbClr val="AAB2BE"/>
            </a:solidFill>
            <a:prstDash val="solid"/>
          </a:ln>
        </p:spPr>
      </p:sp>
      <p:sp>
        <p:nvSpPr>
          <p:cNvPr id="29" name="Shape 27"/>
          <p:cNvSpPr/>
          <p:nvPr/>
        </p:nvSpPr>
        <p:spPr>
          <a:xfrm>
            <a:off x="4352544" y="1975104"/>
            <a:ext cx="109728" cy="109728"/>
          </a:xfrm>
          <a:prstGeom prst="ellipse">
            <a:avLst/>
          </a:prstGeom>
          <a:solidFill>
            <a:srgbClr val="FFFFFF"/>
          </a:solidFill>
          <a:ln w="9525">
            <a:solidFill>
              <a:srgbClr val="AAB2BE"/>
            </a:solidFill>
            <a:prstDash val="solid"/>
          </a:ln>
        </p:spPr>
      </p:sp>
      <p:sp>
        <p:nvSpPr>
          <p:cNvPr id="30" name="Shape 28"/>
          <p:cNvSpPr/>
          <p:nvPr/>
        </p:nvSpPr>
        <p:spPr>
          <a:xfrm>
            <a:off x="4498848" y="2029968"/>
            <a:ext cx="109728" cy="109728"/>
          </a:xfrm>
          <a:prstGeom prst="ellipse">
            <a:avLst/>
          </a:prstGeom>
          <a:solidFill>
            <a:srgbClr val="FFFFFF"/>
          </a:solidFill>
          <a:ln w="9525">
            <a:solidFill>
              <a:srgbClr val="AAB2BE"/>
            </a:solidFill>
            <a:prstDash val="solid"/>
          </a:ln>
        </p:spPr>
      </p:sp>
      <p:sp>
        <p:nvSpPr>
          <p:cNvPr id="31" name="Shape 29"/>
          <p:cNvSpPr/>
          <p:nvPr/>
        </p:nvSpPr>
        <p:spPr>
          <a:xfrm>
            <a:off x="4645152" y="1975104"/>
            <a:ext cx="109728" cy="109728"/>
          </a:xfrm>
          <a:prstGeom prst="ellipse">
            <a:avLst/>
          </a:prstGeom>
          <a:solidFill>
            <a:srgbClr val="FFFFFF"/>
          </a:solidFill>
          <a:ln w="9525">
            <a:solidFill>
              <a:srgbClr val="AAB2BE"/>
            </a:solidFill>
            <a:prstDash val="solid"/>
          </a:ln>
        </p:spPr>
      </p:sp>
      <p:sp>
        <p:nvSpPr>
          <p:cNvPr id="32" name="Shape 30"/>
          <p:cNvSpPr/>
          <p:nvPr/>
        </p:nvSpPr>
        <p:spPr>
          <a:xfrm>
            <a:off x="4791456" y="2029968"/>
            <a:ext cx="109728" cy="109728"/>
          </a:xfrm>
          <a:prstGeom prst="ellipse">
            <a:avLst/>
          </a:prstGeom>
          <a:solidFill>
            <a:srgbClr val="FFFFFF"/>
          </a:solidFill>
          <a:ln w="9525">
            <a:solidFill>
              <a:srgbClr val="AAB2BE"/>
            </a:solidFill>
            <a:prstDash val="solid"/>
          </a:ln>
        </p:spPr>
      </p:sp>
      <p:sp>
        <p:nvSpPr>
          <p:cNvPr id="33" name="Shape 31"/>
          <p:cNvSpPr/>
          <p:nvPr/>
        </p:nvSpPr>
        <p:spPr>
          <a:xfrm>
            <a:off x="4937760" y="1975104"/>
            <a:ext cx="109728" cy="109728"/>
          </a:xfrm>
          <a:prstGeom prst="ellipse">
            <a:avLst/>
          </a:prstGeom>
          <a:solidFill>
            <a:srgbClr val="FFFFFF"/>
          </a:solidFill>
          <a:ln w="9525">
            <a:solidFill>
              <a:srgbClr val="AAB2BE"/>
            </a:solidFill>
            <a:prstDash val="solid"/>
          </a:ln>
        </p:spPr>
      </p:sp>
      <p:sp>
        <p:nvSpPr>
          <p:cNvPr id="34" name="Shape 32"/>
          <p:cNvSpPr/>
          <p:nvPr/>
        </p:nvSpPr>
        <p:spPr>
          <a:xfrm>
            <a:off x="5084064" y="2029968"/>
            <a:ext cx="109728" cy="109728"/>
          </a:xfrm>
          <a:prstGeom prst="ellipse">
            <a:avLst/>
          </a:prstGeom>
          <a:solidFill>
            <a:srgbClr val="FFFFFF"/>
          </a:solidFill>
          <a:ln w="9525">
            <a:solidFill>
              <a:srgbClr val="AAB2BE"/>
            </a:solidFill>
            <a:prstDash val="solid"/>
          </a:ln>
        </p:spPr>
      </p:sp>
      <p:sp>
        <p:nvSpPr>
          <p:cNvPr id="35" name="Shape 33"/>
          <p:cNvSpPr/>
          <p:nvPr/>
        </p:nvSpPr>
        <p:spPr>
          <a:xfrm>
            <a:off x="5230368" y="1975104"/>
            <a:ext cx="109728" cy="109728"/>
          </a:xfrm>
          <a:prstGeom prst="ellipse">
            <a:avLst/>
          </a:prstGeom>
          <a:solidFill>
            <a:srgbClr val="FFFFFF"/>
          </a:solidFill>
          <a:ln w="9525">
            <a:solidFill>
              <a:srgbClr val="AAB2BE"/>
            </a:solidFill>
            <a:prstDash val="solid"/>
          </a:ln>
        </p:spPr>
      </p:sp>
      <p:sp>
        <p:nvSpPr>
          <p:cNvPr id="36" name="Text 34"/>
          <p:cNvSpPr/>
          <p:nvPr/>
        </p:nvSpPr>
        <p:spPr>
          <a:xfrm>
            <a:off x="3794760" y="2697480"/>
            <a:ext cx="192024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white</a:t>
            </a:r>
            <a:r>
              <a:rPr lang="en-US" sz="1100" dirty="0">
                <a:solidFill>
                  <a:srgbClr val="262B3A"/>
                </a:solidFill>
                <a:latin typeface="Calibri" pitchFamily="34" charset="0"/>
                <a:ea typeface="Calibri" pitchFamily="34" charset="-122"/>
                <a:cs typeface="Calibri" pitchFamily="34" charset="-120"/>
              </a:rPr>
              <a:t> anhydrous CuSO₄</a:t>
            </a:r>
            <a:endParaRPr lang="en-US" sz="1100" dirty="0"/>
          </a:p>
        </p:txBody>
      </p:sp>
      <p:sp>
        <p:nvSpPr>
          <p:cNvPr id="37" name="Shape 35"/>
          <p:cNvSpPr/>
          <p:nvPr/>
        </p:nvSpPr>
        <p:spPr>
          <a:xfrm>
            <a:off x="640080" y="3200400"/>
            <a:ext cx="5120640" cy="384048"/>
          </a:xfrm>
          <a:prstGeom prst="roundRect">
            <a:avLst>
              <a:gd name="adj" fmla="val 11905"/>
            </a:avLst>
          </a:prstGeom>
          <a:solidFill>
            <a:srgbClr val="FFFFFF"/>
          </a:solidFill>
          <a:ln w="12700">
            <a:solidFill>
              <a:srgbClr val="DDD3EC"/>
            </a:solidFill>
            <a:prstDash val="solid"/>
          </a:ln>
        </p:spPr>
      </p:sp>
      <p:sp>
        <p:nvSpPr>
          <p:cNvPr id="38" name="Text 36"/>
          <p:cNvSpPr/>
          <p:nvPr/>
        </p:nvSpPr>
        <p:spPr>
          <a:xfrm>
            <a:off x="713232" y="3200400"/>
            <a:ext cx="4974336" cy="384048"/>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CuSO₄·5H₂O(s) → CuSO₄(s) + 5H₂O(g)</a:t>
            </a:r>
            <a:endParaRPr lang="en-US" sz="1200" dirty="0"/>
          </a:p>
        </p:txBody>
      </p:sp>
      <p:sp>
        <p:nvSpPr>
          <p:cNvPr id="39" name="Text 37"/>
          <p:cNvSpPr/>
          <p:nvPr/>
        </p:nvSpPr>
        <p:spPr>
          <a:xfrm>
            <a:off x="640080" y="3611880"/>
            <a:ext cx="5120640" cy="45720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The water in the crystal is </a:t>
            </a:r>
            <a:r>
              <a:rPr lang="en-US" sz="1050" b="1" dirty="0">
                <a:solidFill>
                  <a:srgbClr val="262B3A"/>
                </a:solidFill>
                <a:latin typeface="Calibri" pitchFamily="34" charset="0"/>
                <a:ea typeface="Calibri" pitchFamily="34" charset="-122"/>
                <a:cs typeface="Calibri" pitchFamily="34" charset="-120"/>
              </a:rPr>
              <a:t>water of crystallisation</a:t>
            </a:r>
            <a:r>
              <a:rPr lang="en-US" sz="1050" dirty="0">
                <a:solidFill>
                  <a:srgbClr val="262B3A"/>
                </a:solidFill>
                <a:latin typeface="Calibri" pitchFamily="34" charset="0"/>
                <a:ea typeface="Calibri" pitchFamily="34" charset="-122"/>
                <a:cs typeface="Calibri" pitchFamily="34" charset="-120"/>
              </a:rPr>
              <a:t>. Too much heat drives it off, so use a water bath.</a:t>
            </a:r>
            <a:endParaRPr lang="en-US" sz="10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4114800"/>
          <a:ext cx="5120640" cy="914400"/>
        </p:xfrm>
        <a:graphic>
          <a:graphicData uri="http://schemas.openxmlformats.org/drawingml/2006/table">
            <a:tbl>
              <a:tblPr/>
              <a:tblGrid>
                <a:gridCol w="3749040"/>
                <a:gridCol w="1371600"/>
              </a:tblGrid>
              <a:tr h="21031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Measurement</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10312">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mass of empty evaporating basin</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52.36 g</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10312">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mass of basin + dry crystals</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56.46 g</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210312">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mass of crystals</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4.10 g</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10312">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theoretical mass (from 0.025 mol acid)</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6.2 g</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210312">
                <a:tc>
                  <a:txBody>
                    <a:bodyPr/>
                    <a:lstStyle/>
                    <a:p>
                      <a:pPr indent="0" marL="0">
                        <a:buNone/>
                      </a:pPr>
                      <a:r>
                        <a:rPr lang="en-US" sz="1000" dirty="0">
                          <a:solidFill>
                            <a:srgbClr val="262B3A"/>
                          </a:solidFill>
                          <a:latin typeface="Calibri" pitchFamily="34" charset="0"/>
                          <a:ea typeface="Calibri" pitchFamily="34" charset="-122"/>
                          <a:cs typeface="Calibri" pitchFamily="34" charset="-120"/>
                        </a:rPr>
                        <a:t>percentage yield</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66 %</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bl>
          </a:graphicData>
        </a:graphic>
      </p:graphicFrame>
      <p:sp>
        <p:nvSpPr>
          <p:cNvPr id="41" name="Shape 38"/>
          <p:cNvSpPr/>
          <p:nvPr/>
        </p:nvSpPr>
        <p:spPr>
          <a:xfrm>
            <a:off x="6217920" y="1188720"/>
            <a:ext cx="5559552" cy="2057400"/>
          </a:xfrm>
          <a:prstGeom prst="roundRect">
            <a:avLst>
              <a:gd name="adj" fmla="val 2667"/>
            </a:avLst>
          </a:prstGeom>
          <a:solidFill>
            <a:srgbClr val="F8F5FC"/>
          </a:solidFill>
          <a:ln w="9525">
            <a:solidFill>
              <a:srgbClr val="DDD3EC"/>
            </a:solidFill>
            <a:prstDash val="solid"/>
          </a:ln>
        </p:spPr>
      </p:sp>
      <p:sp>
        <p:nvSpPr>
          <p:cNvPr id="42" name="Text 39"/>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Analysis</a:t>
            </a:r>
            <a:endParaRPr lang="en-US" sz="1300" dirty="0"/>
          </a:p>
        </p:txBody>
      </p:sp>
      <p:sp>
        <p:nvSpPr>
          <p:cNvPr id="43" name="Text 40"/>
          <p:cNvSpPr/>
          <p:nvPr/>
        </p:nvSpPr>
        <p:spPr>
          <a:xfrm>
            <a:off x="6382512" y="1609344"/>
            <a:ext cx="5230368" cy="15636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Mass of crystals = 56.46 − 52.36 = </a:t>
            </a:r>
            <a:r>
              <a:rPr lang="en-US" sz="1100" b="1" dirty="0">
                <a:solidFill>
                  <a:srgbClr val="262B3A"/>
                </a:solidFill>
                <a:latin typeface="Calibri" pitchFamily="34" charset="0"/>
                <a:ea typeface="Calibri" pitchFamily="34" charset="-122"/>
                <a:cs typeface="Calibri" pitchFamily="34" charset="-120"/>
              </a:rPr>
              <a:t>4.10 g</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 yield = 4.10 ÷ 6.2 × 100 = </a:t>
            </a:r>
            <a:r>
              <a:rPr lang="en-US" sz="1100" b="1" dirty="0">
                <a:solidFill>
                  <a:srgbClr val="262B3A"/>
                </a:solidFill>
                <a:latin typeface="Calibri" pitchFamily="34" charset="0"/>
                <a:ea typeface="Calibri" pitchFamily="34" charset="-122"/>
                <a:cs typeface="Calibri" pitchFamily="34" charset="-120"/>
              </a:rPr>
              <a:t>66 %</a:t>
            </a:r>
            <a:r>
              <a:rPr lang="en-US" sz="1100" dirty="0">
                <a:solidFill>
                  <a:srgbClr val="262B3A"/>
                </a:solidFill>
                <a:latin typeface="Calibri" pitchFamily="34" charset="0"/>
                <a:ea typeface="Calibri" pitchFamily="34" charset="-122"/>
                <a:cs typeface="Calibri" pitchFamily="34" charset="-120"/>
              </a:rPr>
              <a:t> (percentage yield is met again in Topic 5).</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Pure</a:t>
            </a:r>
            <a:r>
              <a:rPr lang="en-US" sz="1100" dirty="0">
                <a:solidFill>
                  <a:srgbClr val="262B3A"/>
                </a:solidFill>
                <a:latin typeface="Calibri" pitchFamily="34" charset="0"/>
                <a:ea typeface="Calibri" pitchFamily="34" charset="-122"/>
                <a:cs typeface="Calibri" pitchFamily="34" charset="-120"/>
              </a:rPr>
              <a:t>: blue, well-shaped crystals; </a:t>
            </a:r>
            <a:r>
              <a:rPr lang="en-US" sz="1100" b="1" dirty="0">
                <a:solidFill>
                  <a:srgbClr val="262B3A"/>
                </a:solidFill>
                <a:latin typeface="Calibri" pitchFamily="34" charset="0"/>
                <a:ea typeface="Calibri" pitchFamily="34" charset="-122"/>
                <a:cs typeface="Calibri" pitchFamily="34" charset="-120"/>
              </a:rPr>
              <a:t>dry</a:t>
            </a:r>
            <a:r>
              <a:rPr lang="en-US" sz="1100" dirty="0">
                <a:solidFill>
                  <a:srgbClr val="262B3A"/>
                </a:solidFill>
                <a:latin typeface="Calibri" pitchFamily="34" charset="0"/>
                <a:ea typeface="Calibri" pitchFamily="34" charset="-122"/>
                <a:cs typeface="Calibri" pitchFamily="34" charset="-120"/>
              </a:rPr>
              <a:t>: constant mass, not sticky.</a:t>
            </a:r>
            <a:endParaRPr lang="en-US" sz="1100" dirty="0"/>
          </a:p>
        </p:txBody>
      </p:sp>
      <p:sp>
        <p:nvSpPr>
          <p:cNvPr id="44" name="Shape 41"/>
          <p:cNvSpPr/>
          <p:nvPr/>
        </p:nvSpPr>
        <p:spPr>
          <a:xfrm>
            <a:off x="6217920" y="3383280"/>
            <a:ext cx="5559552" cy="2331720"/>
          </a:xfrm>
          <a:prstGeom prst="roundRect">
            <a:avLst>
              <a:gd name="adj" fmla="val 2353"/>
            </a:avLst>
          </a:prstGeom>
          <a:solidFill>
            <a:srgbClr val="F8F5FC"/>
          </a:solidFill>
          <a:ln w="9525">
            <a:solidFill>
              <a:srgbClr val="DDD3EC"/>
            </a:solidFill>
            <a:prstDash val="solid"/>
          </a:ln>
        </p:spPr>
      </p:sp>
      <p:sp>
        <p:nvSpPr>
          <p:cNvPr id="45" name="Text 42"/>
          <p:cNvSpPr/>
          <p:nvPr/>
        </p:nvSpPr>
        <p:spPr>
          <a:xfrm>
            <a:off x="6382512" y="347472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Errors and improvements</a:t>
            </a:r>
            <a:endParaRPr lang="en-US" sz="1300" dirty="0"/>
          </a:p>
        </p:txBody>
      </p:sp>
      <p:sp>
        <p:nvSpPr>
          <p:cNvPr id="46" name="Text 43"/>
          <p:cNvSpPr/>
          <p:nvPr/>
        </p:nvSpPr>
        <p:spPr>
          <a:xfrm>
            <a:off x="6382512" y="3803904"/>
            <a:ext cx="5230368" cy="183794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Solution left in the filter paper / basin → </a:t>
            </a:r>
            <a:r>
              <a:rPr lang="en-US" sz="1050" b="1" dirty="0">
                <a:solidFill>
                  <a:srgbClr val="262B3A"/>
                </a:solidFill>
                <a:latin typeface="Calibri" pitchFamily="34" charset="0"/>
                <a:ea typeface="Calibri" pitchFamily="34" charset="-122"/>
                <a:cs typeface="Calibri" pitchFamily="34" charset="-120"/>
              </a:rPr>
              <a:t>less</a:t>
            </a:r>
            <a:r>
              <a:rPr lang="en-US" sz="1050" dirty="0">
                <a:solidFill>
                  <a:srgbClr val="262B3A"/>
                </a:solidFill>
                <a:latin typeface="Calibri" pitchFamily="34" charset="0"/>
                <a:ea typeface="Calibri" pitchFamily="34" charset="-122"/>
                <a:cs typeface="Calibri" pitchFamily="34" charset="-120"/>
              </a:rPr>
              <a:t> salt; rinse with a little water.</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Some CuSO₄ stays dissolved after crystallising → </a:t>
            </a:r>
            <a:r>
              <a:rPr lang="en-US" sz="1050" b="1" dirty="0">
                <a:solidFill>
                  <a:srgbClr val="262B3A"/>
                </a:solidFill>
                <a:latin typeface="Calibri" pitchFamily="34" charset="0"/>
                <a:ea typeface="Calibri" pitchFamily="34" charset="-122"/>
                <a:cs typeface="Calibri" pitchFamily="34" charset="-120"/>
              </a:rPr>
              <a:t>lower</a:t>
            </a:r>
            <a:r>
              <a:rPr lang="en-US" sz="1050" dirty="0">
                <a:solidFill>
                  <a:srgbClr val="262B3A"/>
                </a:solidFill>
                <a:latin typeface="Calibri" pitchFamily="34" charset="0"/>
                <a:ea typeface="Calibri" pitchFamily="34" charset="-122"/>
                <a:cs typeface="Calibri" pitchFamily="34" charset="-120"/>
              </a:rPr>
              <a:t> yield; evaporate the rest of the filtrate.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Crystals still wet → mass </a:t>
            </a:r>
            <a:r>
              <a:rPr lang="en-US" sz="1050" b="1" dirty="0">
                <a:solidFill>
                  <a:srgbClr val="262B3A"/>
                </a:solidFill>
                <a:latin typeface="Calibri" pitchFamily="34" charset="0"/>
                <a:ea typeface="Calibri" pitchFamily="34" charset="-122"/>
                <a:cs typeface="Calibri" pitchFamily="34" charset="-120"/>
              </a:rPr>
              <a:t>too high</a:t>
            </a:r>
            <a:r>
              <a:rPr lang="en-US" sz="1050" dirty="0">
                <a:solidFill>
                  <a:srgbClr val="262B3A"/>
                </a:solidFill>
                <a:latin typeface="Calibri" pitchFamily="34" charset="0"/>
                <a:ea typeface="Calibri" pitchFamily="34" charset="-122"/>
                <a:cs typeface="Calibri" pitchFamily="34" charset="-120"/>
              </a:rPr>
              <a:t>; dry between filter papers or in a desiccator.</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Overheated → white anhydrous powder → mass </a:t>
            </a:r>
            <a:r>
              <a:rPr lang="en-US" sz="1050" b="1" dirty="0">
                <a:solidFill>
                  <a:srgbClr val="262B3A"/>
                </a:solidFill>
                <a:latin typeface="Calibri" pitchFamily="34" charset="0"/>
                <a:ea typeface="Calibri" pitchFamily="34" charset="-122"/>
                <a:cs typeface="Calibri" pitchFamily="34" charset="-120"/>
              </a:rPr>
              <a:t>too low</a:t>
            </a:r>
            <a:r>
              <a:rPr lang="en-US" sz="1050" dirty="0">
                <a:solidFill>
                  <a:srgbClr val="262B3A"/>
                </a:solidFill>
                <a:latin typeface="Calibri" pitchFamily="34" charset="0"/>
                <a:ea typeface="Calibri" pitchFamily="34" charset="-122"/>
                <a:cs typeface="Calibri" pitchFamily="34" charset="-120"/>
              </a:rPr>
              <a:t>; always use a water bath.</a:t>
            </a:r>
            <a:endParaRPr lang="en-US" sz="1050" dirty="0"/>
          </a:p>
        </p:txBody>
      </p:sp>
      <p:sp>
        <p:nvSpPr>
          <p:cNvPr id="47" name="Shape 44"/>
          <p:cNvSpPr/>
          <p:nvPr/>
        </p:nvSpPr>
        <p:spPr>
          <a:xfrm>
            <a:off x="411480" y="5833872"/>
            <a:ext cx="11368735" cy="530352"/>
          </a:xfrm>
          <a:prstGeom prst="rect">
            <a:avLst/>
          </a:prstGeom>
          <a:solidFill>
            <a:srgbClr val="FFF4E0"/>
          </a:solidFill>
          <a:ln w="6350">
            <a:solidFill>
              <a:srgbClr val="F1D9A8"/>
            </a:solidFill>
            <a:prstDash val="solid"/>
          </a:ln>
        </p:spPr>
      </p:sp>
      <p:sp>
        <p:nvSpPr>
          <p:cNvPr id="48" name="Shape 45"/>
          <p:cNvSpPr/>
          <p:nvPr/>
        </p:nvSpPr>
        <p:spPr>
          <a:xfrm>
            <a:off x="411480" y="5833872"/>
            <a:ext cx="82296" cy="530352"/>
          </a:xfrm>
          <a:prstGeom prst="rect">
            <a:avLst/>
          </a:prstGeom>
          <a:solidFill>
            <a:srgbClr val="E39A2F"/>
          </a:solidFill>
          <a:ln w="12700">
            <a:solidFill>
              <a:srgbClr val="E39A2F"/>
            </a:solidFill>
            <a:prstDash val="solid"/>
          </a:ln>
        </p:spPr>
      </p:sp>
      <p:sp>
        <p:nvSpPr>
          <p:cNvPr id="49" name="Text 4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reasons why the student obtained less than the theoretical 6.2 g of crystals.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Soluble salts from alkalis: titration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3.16 and 3.18 • burette, pipette and a suitable indicator</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3.16, 3.18  |  21</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titration apparatus: acid in the burette, alkali + indicator in the flask</a:t>
            </a:r>
            <a:endParaRPr lang="en-US" sz="1000" dirty="0"/>
          </a:p>
        </p:txBody>
      </p:sp>
      <p:sp>
        <p:nvSpPr>
          <p:cNvPr id="10" name="Shape 8"/>
          <p:cNvSpPr/>
          <p:nvPr/>
        </p:nvSpPr>
        <p:spPr>
          <a:xfrm>
            <a:off x="548640" y="5239512"/>
            <a:ext cx="1600200" cy="109728"/>
          </a:xfrm>
          <a:prstGeom prst="rect">
            <a:avLst/>
          </a:prstGeom>
          <a:solidFill>
            <a:srgbClr val="5A6275"/>
          </a:solidFill>
          <a:ln w="12700">
            <a:solidFill>
              <a:srgbClr val="4A5262"/>
            </a:solidFill>
            <a:prstDash val="solid"/>
          </a:ln>
        </p:spPr>
      </p:sp>
      <p:sp>
        <p:nvSpPr>
          <p:cNvPr id="11" name="Shape 9"/>
          <p:cNvSpPr/>
          <p:nvPr/>
        </p:nvSpPr>
        <p:spPr>
          <a:xfrm>
            <a:off x="832104" y="1143000"/>
            <a:ext cx="73152" cy="4096512"/>
          </a:xfrm>
          <a:prstGeom prst="rect">
            <a:avLst/>
          </a:prstGeom>
          <a:solidFill>
            <a:srgbClr val="8C96A8"/>
          </a:solidFill>
          <a:ln w="12700">
            <a:solidFill>
              <a:srgbClr val="6B7385"/>
            </a:solidFill>
            <a:prstDash val="solid"/>
          </a:ln>
        </p:spPr>
      </p:sp>
      <p:sp>
        <p:nvSpPr>
          <p:cNvPr id="12" name="Shape 10"/>
          <p:cNvSpPr/>
          <p:nvPr/>
        </p:nvSpPr>
        <p:spPr>
          <a:xfrm>
            <a:off x="868680" y="1691640"/>
            <a:ext cx="960120" cy="54864"/>
          </a:xfrm>
          <a:prstGeom prst="rect">
            <a:avLst/>
          </a:prstGeom>
          <a:solidFill>
            <a:srgbClr val="8C96A8"/>
          </a:solidFill>
          <a:ln w="12700">
            <a:solidFill>
              <a:srgbClr val="6B7385"/>
            </a:solidFill>
            <a:prstDash val="solid"/>
          </a:ln>
        </p:spPr>
      </p:sp>
      <p:sp>
        <p:nvSpPr>
          <p:cNvPr id="13" name="Shape 11"/>
          <p:cNvSpPr/>
          <p:nvPr/>
        </p:nvSpPr>
        <p:spPr>
          <a:xfrm>
            <a:off x="1773936" y="1627632"/>
            <a:ext cx="292608" cy="182880"/>
          </a:xfrm>
          <a:prstGeom prst="roundRect">
            <a:avLst>
              <a:gd name="adj" fmla="val 20000"/>
            </a:avLst>
          </a:prstGeom>
          <a:solidFill>
            <a:srgbClr val="4A5262"/>
          </a:solidFill>
          <a:ln w="12700">
            <a:solidFill>
              <a:srgbClr val="4A5262"/>
            </a:solidFill>
            <a:prstDash val="solid"/>
          </a:ln>
        </p:spPr>
      </p:sp>
      <p:sp>
        <p:nvSpPr>
          <p:cNvPr id="14" name="Shape 12"/>
          <p:cNvSpPr/>
          <p:nvPr/>
        </p:nvSpPr>
        <p:spPr>
          <a:xfrm>
            <a:off x="1828800" y="1280160"/>
            <a:ext cx="182880" cy="2651760"/>
          </a:xfrm>
          <a:prstGeom prst="rect">
            <a:avLst/>
          </a:prstGeom>
          <a:solidFill>
            <a:srgbClr val="EEF5FB"/>
          </a:solidFill>
          <a:ln/>
        </p:spPr>
      </p:sp>
      <p:sp>
        <p:nvSpPr>
          <p:cNvPr id="15" name="Shape 13"/>
          <p:cNvSpPr/>
          <p:nvPr/>
        </p:nvSpPr>
        <p:spPr>
          <a:xfrm>
            <a:off x="1828800" y="1790395"/>
            <a:ext cx="182880" cy="2141525"/>
          </a:xfrm>
          <a:prstGeom prst="rect">
            <a:avLst/>
          </a:prstGeom>
          <a:solidFill>
            <a:srgbClr val="F9E0DA"/>
          </a:solidFill>
          <a:ln/>
        </p:spPr>
      </p:sp>
      <p:sp>
        <p:nvSpPr>
          <p:cNvPr id="16" name="Shape 14"/>
          <p:cNvSpPr/>
          <p:nvPr/>
        </p:nvSpPr>
        <p:spPr>
          <a:xfrm>
            <a:off x="1828800" y="1417320"/>
            <a:ext cx="91440" cy="91"/>
          </a:xfrm>
          <a:prstGeom prst="line">
            <a:avLst/>
          </a:prstGeom>
          <a:noFill/>
          <a:ln w="7620">
            <a:solidFill>
              <a:srgbClr val="2A1F3D"/>
            </a:solidFill>
            <a:prstDash val="solid"/>
          </a:ln>
        </p:spPr>
      </p:sp>
      <p:sp>
        <p:nvSpPr>
          <p:cNvPr id="17" name="Text 15"/>
          <p:cNvSpPr/>
          <p:nvPr/>
        </p:nvSpPr>
        <p:spPr>
          <a:xfrm>
            <a:off x="1463040" y="1325880"/>
            <a:ext cx="329184"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0</a:t>
            </a:r>
            <a:endParaRPr lang="en-US" sz="1000" dirty="0"/>
          </a:p>
        </p:txBody>
      </p:sp>
      <p:sp>
        <p:nvSpPr>
          <p:cNvPr id="18" name="Shape 16"/>
          <p:cNvSpPr/>
          <p:nvPr/>
        </p:nvSpPr>
        <p:spPr>
          <a:xfrm>
            <a:off x="1828800" y="1650492"/>
            <a:ext cx="54864" cy="91"/>
          </a:xfrm>
          <a:prstGeom prst="line">
            <a:avLst/>
          </a:prstGeom>
          <a:noFill/>
          <a:ln w="7620">
            <a:solidFill>
              <a:srgbClr val="2A1F3D"/>
            </a:solidFill>
            <a:prstDash val="solid"/>
          </a:ln>
        </p:spPr>
      </p:sp>
      <p:sp>
        <p:nvSpPr>
          <p:cNvPr id="19" name="Shape 17"/>
          <p:cNvSpPr/>
          <p:nvPr/>
        </p:nvSpPr>
        <p:spPr>
          <a:xfrm>
            <a:off x="1828800" y="1883664"/>
            <a:ext cx="91440" cy="91"/>
          </a:xfrm>
          <a:prstGeom prst="line">
            <a:avLst/>
          </a:prstGeom>
          <a:noFill/>
          <a:ln w="7620">
            <a:solidFill>
              <a:srgbClr val="2A1F3D"/>
            </a:solidFill>
            <a:prstDash val="solid"/>
          </a:ln>
        </p:spPr>
      </p:sp>
      <p:sp>
        <p:nvSpPr>
          <p:cNvPr id="20" name="Text 18"/>
          <p:cNvSpPr/>
          <p:nvPr/>
        </p:nvSpPr>
        <p:spPr>
          <a:xfrm>
            <a:off x="1463040" y="1792224"/>
            <a:ext cx="329184"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10</a:t>
            </a:r>
            <a:endParaRPr lang="en-US" sz="1000" dirty="0"/>
          </a:p>
        </p:txBody>
      </p:sp>
      <p:sp>
        <p:nvSpPr>
          <p:cNvPr id="21" name="Shape 19"/>
          <p:cNvSpPr/>
          <p:nvPr/>
        </p:nvSpPr>
        <p:spPr>
          <a:xfrm>
            <a:off x="1828800" y="2116836"/>
            <a:ext cx="54864" cy="91"/>
          </a:xfrm>
          <a:prstGeom prst="line">
            <a:avLst/>
          </a:prstGeom>
          <a:noFill/>
          <a:ln w="7620">
            <a:solidFill>
              <a:srgbClr val="2A1F3D"/>
            </a:solidFill>
            <a:prstDash val="solid"/>
          </a:ln>
        </p:spPr>
      </p:sp>
      <p:sp>
        <p:nvSpPr>
          <p:cNvPr id="22" name="Shape 20"/>
          <p:cNvSpPr/>
          <p:nvPr/>
        </p:nvSpPr>
        <p:spPr>
          <a:xfrm>
            <a:off x="1828800" y="2350008"/>
            <a:ext cx="91440" cy="91"/>
          </a:xfrm>
          <a:prstGeom prst="line">
            <a:avLst/>
          </a:prstGeom>
          <a:noFill/>
          <a:ln w="7620">
            <a:solidFill>
              <a:srgbClr val="2A1F3D"/>
            </a:solidFill>
            <a:prstDash val="solid"/>
          </a:ln>
        </p:spPr>
      </p:sp>
      <p:sp>
        <p:nvSpPr>
          <p:cNvPr id="23" name="Text 21"/>
          <p:cNvSpPr/>
          <p:nvPr/>
        </p:nvSpPr>
        <p:spPr>
          <a:xfrm>
            <a:off x="1463040" y="2258568"/>
            <a:ext cx="329184"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20</a:t>
            </a:r>
            <a:endParaRPr lang="en-US" sz="1000" dirty="0"/>
          </a:p>
        </p:txBody>
      </p:sp>
      <p:sp>
        <p:nvSpPr>
          <p:cNvPr id="24" name="Shape 22"/>
          <p:cNvSpPr/>
          <p:nvPr/>
        </p:nvSpPr>
        <p:spPr>
          <a:xfrm>
            <a:off x="1828800" y="2583180"/>
            <a:ext cx="54864" cy="91"/>
          </a:xfrm>
          <a:prstGeom prst="line">
            <a:avLst/>
          </a:prstGeom>
          <a:noFill/>
          <a:ln w="7620">
            <a:solidFill>
              <a:srgbClr val="2A1F3D"/>
            </a:solidFill>
            <a:prstDash val="solid"/>
          </a:ln>
        </p:spPr>
      </p:sp>
      <p:sp>
        <p:nvSpPr>
          <p:cNvPr id="25" name="Shape 23"/>
          <p:cNvSpPr/>
          <p:nvPr/>
        </p:nvSpPr>
        <p:spPr>
          <a:xfrm>
            <a:off x="1828800" y="2816352"/>
            <a:ext cx="91440" cy="91"/>
          </a:xfrm>
          <a:prstGeom prst="line">
            <a:avLst/>
          </a:prstGeom>
          <a:noFill/>
          <a:ln w="7620">
            <a:solidFill>
              <a:srgbClr val="2A1F3D"/>
            </a:solidFill>
            <a:prstDash val="solid"/>
          </a:ln>
        </p:spPr>
      </p:sp>
      <p:sp>
        <p:nvSpPr>
          <p:cNvPr id="26" name="Text 24"/>
          <p:cNvSpPr/>
          <p:nvPr/>
        </p:nvSpPr>
        <p:spPr>
          <a:xfrm>
            <a:off x="1463040" y="2724912"/>
            <a:ext cx="329184"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30</a:t>
            </a:r>
            <a:endParaRPr lang="en-US" sz="1000" dirty="0"/>
          </a:p>
        </p:txBody>
      </p:sp>
      <p:sp>
        <p:nvSpPr>
          <p:cNvPr id="27" name="Shape 25"/>
          <p:cNvSpPr/>
          <p:nvPr/>
        </p:nvSpPr>
        <p:spPr>
          <a:xfrm>
            <a:off x="1828800" y="3049524"/>
            <a:ext cx="54864" cy="91"/>
          </a:xfrm>
          <a:prstGeom prst="line">
            <a:avLst/>
          </a:prstGeom>
          <a:noFill/>
          <a:ln w="7620">
            <a:solidFill>
              <a:srgbClr val="2A1F3D"/>
            </a:solidFill>
            <a:prstDash val="solid"/>
          </a:ln>
        </p:spPr>
      </p:sp>
      <p:sp>
        <p:nvSpPr>
          <p:cNvPr id="28" name="Shape 26"/>
          <p:cNvSpPr/>
          <p:nvPr/>
        </p:nvSpPr>
        <p:spPr>
          <a:xfrm>
            <a:off x="1828800" y="3282696"/>
            <a:ext cx="91440" cy="91"/>
          </a:xfrm>
          <a:prstGeom prst="line">
            <a:avLst/>
          </a:prstGeom>
          <a:noFill/>
          <a:ln w="7620">
            <a:solidFill>
              <a:srgbClr val="2A1F3D"/>
            </a:solidFill>
            <a:prstDash val="solid"/>
          </a:ln>
        </p:spPr>
      </p:sp>
      <p:sp>
        <p:nvSpPr>
          <p:cNvPr id="29" name="Text 27"/>
          <p:cNvSpPr/>
          <p:nvPr/>
        </p:nvSpPr>
        <p:spPr>
          <a:xfrm>
            <a:off x="1463040" y="3191256"/>
            <a:ext cx="329184"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40</a:t>
            </a:r>
            <a:endParaRPr lang="en-US" sz="1000" dirty="0"/>
          </a:p>
        </p:txBody>
      </p:sp>
      <p:sp>
        <p:nvSpPr>
          <p:cNvPr id="30" name="Shape 28"/>
          <p:cNvSpPr/>
          <p:nvPr/>
        </p:nvSpPr>
        <p:spPr>
          <a:xfrm>
            <a:off x="1828800" y="3515868"/>
            <a:ext cx="54864" cy="91"/>
          </a:xfrm>
          <a:prstGeom prst="line">
            <a:avLst/>
          </a:prstGeom>
          <a:noFill/>
          <a:ln w="7620">
            <a:solidFill>
              <a:srgbClr val="2A1F3D"/>
            </a:solidFill>
            <a:prstDash val="solid"/>
          </a:ln>
        </p:spPr>
      </p:sp>
      <p:sp>
        <p:nvSpPr>
          <p:cNvPr id="31" name="Shape 29"/>
          <p:cNvSpPr/>
          <p:nvPr/>
        </p:nvSpPr>
        <p:spPr>
          <a:xfrm>
            <a:off x="1828800" y="3749040"/>
            <a:ext cx="91440" cy="91"/>
          </a:xfrm>
          <a:prstGeom prst="line">
            <a:avLst/>
          </a:prstGeom>
          <a:noFill/>
          <a:ln w="7620">
            <a:solidFill>
              <a:srgbClr val="2A1F3D"/>
            </a:solidFill>
            <a:prstDash val="solid"/>
          </a:ln>
        </p:spPr>
      </p:sp>
      <p:sp>
        <p:nvSpPr>
          <p:cNvPr id="32" name="Text 30"/>
          <p:cNvSpPr/>
          <p:nvPr/>
        </p:nvSpPr>
        <p:spPr>
          <a:xfrm>
            <a:off x="1463040" y="3657600"/>
            <a:ext cx="329184" cy="182880"/>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50</a:t>
            </a:r>
            <a:endParaRPr lang="en-US" sz="1000" dirty="0"/>
          </a:p>
        </p:txBody>
      </p:sp>
      <p:sp>
        <p:nvSpPr>
          <p:cNvPr id="33" name="Shape 31"/>
          <p:cNvSpPr/>
          <p:nvPr/>
        </p:nvSpPr>
        <p:spPr>
          <a:xfrm>
            <a:off x="1828800" y="1280160"/>
            <a:ext cx="91" cy="2651760"/>
          </a:xfrm>
          <a:prstGeom prst="line">
            <a:avLst/>
          </a:prstGeom>
          <a:noFill/>
          <a:ln w="15875">
            <a:solidFill>
              <a:srgbClr val="2A1F3D"/>
            </a:solidFill>
            <a:prstDash val="solid"/>
          </a:ln>
        </p:spPr>
      </p:sp>
      <p:sp>
        <p:nvSpPr>
          <p:cNvPr id="34" name="Shape 32"/>
          <p:cNvSpPr/>
          <p:nvPr/>
        </p:nvSpPr>
        <p:spPr>
          <a:xfrm>
            <a:off x="2011680" y="1280160"/>
            <a:ext cx="91" cy="2651760"/>
          </a:xfrm>
          <a:prstGeom prst="line">
            <a:avLst/>
          </a:prstGeom>
          <a:noFill/>
          <a:ln w="15875">
            <a:solidFill>
              <a:srgbClr val="2A1F3D"/>
            </a:solidFill>
            <a:prstDash val="solid"/>
          </a:ln>
        </p:spPr>
      </p:sp>
      <p:sp>
        <p:nvSpPr>
          <p:cNvPr id="35" name="Shape 33"/>
          <p:cNvSpPr/>
          <p:nvPr/>
        </p:nvSpPr>
        <p:spPr>
          <a:xfrm>
            <a:off x="1874520" y="3931920"/>
            <a:ext cx="91440" cy="146304"/>
          </a:xfrm>
          <a:prstGeom prst="rect">
            <a:avLst/>
          </a:prstGeom>
          <a:solidFill>
            <a:srgbClr val="F9E0DA"/>
          </a:solidFill>
          <a:ln w="12700">
            <a:solidFill>
              <a:srgbClr val="2A1F3D"/>
            </a:solidFill>
            <a:prstDash val="solid"/>
          </a:ln>
        </p:spPr>
      </p:sp>
      <p:sp>
        <p:nvSpPr>
          <p:cNvPr id="36" name="Shape 34"/>
          <p:cNvSpPr/>
          <p:nvPr/>
        </p:nvSpPr>
        <p:spPr>
          <a:xfrm>
            <a:off x="1764792" y="3968496"/>
            <a:ext cx="310896" cy="73152"/>
          </a:xfrm>
          <a:prstGeom prst="rect">
            <a:avLst/>
          </a:prstGeom>
          <a:solidFill>
            <a:srgbClr val="4A5568"/>
          </a:solidFill>
          <a:ln w="9525">
            <a:solidFill>
              <a:srgbClr val="2A2F3A"/>
            </a:solidFill>
            <a:prstDash val="solid"/>
          </a:ln>
        </p:spPr>
      </p:sp>
      <p:sp>
        <p:nvSpPr>
          <p:cNvPr id="37" name="Shape 35"/>
          <p:cNvSpPr/>
          <p:nvPr/>
        </p:nvSpPr>
        <p:spPr>
          <a:xfrm>
            <a:off x="1874520" y="4078224"/>
            <a:ext cx="91440" cy="201168"/>
          </a:xfrm>
          <a:custGeom>
            <a:avLst/>
            <a:gdLst/>
            <a:ahLst/>
            <a:cxnLst/>
            <a:rect l="l" t="t" r="r" b="b"/>
            <a:pathLst>
              <a:path w="91440" h="201168">
                <a:moveTo>
                  <a:pt x="0" y="0"/>
                </a:moveTo>
                <a:lnTo>
                  <a:pt x="91440" y="0"/>
                </a:lnTo>
                <a:lnTo>
                  <a:pt x="64008" y="201168"/>
                </a:lnTo>
                <a:lnTo>
                  <a:pt x="27432" y="201168"/>
                </a:lnTo>
                <a:close/>
              </a:path>
            </a:pathLst>
          </a:custGeom>
          <a:solidFill>
            <a:srgbClr val="F9E0DA"/>
          </a:solidFill>
          <a:ln w="12700">
            <a:solidFill>
              <a:srgbClr val="2A1F3D"/>
            </a:solidFill>
            <a:prstDash val="solid"/>
          </a:ln>
        </p:spPr>
      </p:sp>
      <p:sp>
        <p:nvSpPr>
          <p:cNvPr id="38" name="Shape 36"/>
          <p:cNvSpPr/>
          <p:nvPr/>
        </p:nvSpPr>
        <p:spPr>
          <a:xfrm>
            <a:off x="1325880" y="5148072"/>
            <a:ext cx="1188720" cy="91440"/>
          </a:xfrm>
          <a:prstGeom prst="rect">
            <a:avLst/>
          </a:prstGeom>
          <a:solidFill>
            <a:srgbClr val="FFFFFF"/>
          </a:solidFill>
          <a:ln w="12700">
            <a:solidFill>
              <a:srgbClr val="9AA3B0"/>
            </a:solidFill>
            <a:prstDash val="solid"/>
          </a:ln>
        </p:spPr>
      </p:sp>
      <p:sp>
        <p:nvSpPr>
          <p:cNvPr id="39" name="Shape 37"/>
          <p:cNvSpPr/>
          <p:nvPr/>
        </p:nvSpPr>
        <p:spPr>
          <a:xfrm>
            <a:off x="1463040" y="4187952"/>
            <a:ext cx="914400" cy="960120"/>
          </a:xfrm>
          <a:custGeom>
            <a:avLst/>
            <a:gdLst/>
            <a:ahLst/>
            <a:cxnLst/>
            <a:rect l="l" t="t" r="r" b="b"/>
            <a:pathLst>
              <a:path w="914400" h="960120">
                <a:moveTo>
                  <a:pt x="320040" y="0"/>
                </a:moveTo>
                <a:lnTo>
                  <a:pt x="320040" y="288036"/>
                </a:lnTo>
                <a:lnTo>
                  <a:pt x="0" y="960120"/>
                </a:lnTo>
                <a:lnTo>
                  <a:pt x="914400" y="960120"/>
                </a:lnTo>
                <a:lnTo>
                  <a:pt x="594360" y="288036"/>
                </a:lnTo>
                <a:lnTo>
                  <a:pt x="594360" y="0"/>
                </a:lnTo>
                <a:close/>
              </a:path>
            </a:pathLst>
          </a:custGeom>
          <a:solidFill>
            <a:srgbClr val="EEF5FB"/>
          </a:solidFill>
          <a:ln/>
        </p:spPr>
      </p:sp>
      <p:sp>
        <p:nvSpPr>
          <p:cNvPr id="40" name="Shape 38"/>
          <p:cNvSpPr/>
          <p:nvPr/>
        </p:nvSpPr>
        <p:spPr>
          <a:xfrm>
            <a:off x="1463040" y="4865797"/>
            <a:ext cx="914400" cy="282275"/>
          </a:xfrm>
          <a:custGeom>
            <a:avLst/>
            <a:gdLst/>
            <a:ahLst/>
            <a:cxnLst/>
            <a:rect l="l" t="t" r="r" b="b"/>
            <a:pathLst>
              <a:path w="914400" h="282275">
                <a:moveTo>
                  <a:pt x="134417" y="0"/>
                </a:moveTo>
                <a:lnTo>
                  <a:pt x="0" y="282275"/>
                </a:lnTo>
                <a:lnTo>
                  <a:pt x="914400" y="282275"/>
                </a:lnTo>
                <a:lnTo>
                  <a:pt x="779983" y="0"/>
                </a:lnTo>
                <a:close/>
              </a:path>
            </a:pathLst>
          </a:custGeom>
          <a:solidFill>
            <a:srgbClr val="F6C6DC"/>
          </a:solidFill>
          <a:ln/>
        </p:spPr>
      </p:sp>
      <p:sp>
        <p:nvSpPr>
          <p:cNvPr id="41" name="Shape 39"/>
          <p:cNvSpPr/>
          <p:nvPr/>
        </p:nvSpPr>
        <p:spPr>
          <a:xfrm>
            <a:off x="1597457" y="4865797"/>
            <a:ext cx="645566" cy="91"/>
          </a:xfrm>
          <a:prstGeom prst="line">
            <a:avLst/>
          </a:prstGeom>
          <a:noFill/>
          <a:ln w="12700">
            <a:solidFill>
              <a:srgbClr val="5B9BD5"/>
            </a:solidFill>
            <a:prstDash val="solid"/>
          </a:ln>
        </p:spPr>
      </p:sp>
      <p:sp>
        <p:nvSpPr>
          <p:cNvPr id="42" name="Shape 40"/>
          <p:cNvSpPr/>
          <p:nvPr/>
        </p:nvSpPr>
        <p:spPr>
          <a:xfrm>
            <a:off x="1463040" y="4187952"/>
            <a:ext cx="914400" cy="960120"/>
          </a:xfrm>
          <a:custGeom>
            <a:avLst/>
            <a:gdLst/>
            <a:ahLst/>
            <a:cxnLst/>
            <a:rect l="l" t="t" r="r" b="b"/>
            <a:pathLst>
              <a:path w="914400" h="960120">
                <a:moveTo>
                  <a:pt x="320040" y="0"/>
                </a:moveTo>
                <a:lnTo>
                  <a:pt x="320040" y="288036"/>
                </a:lnTo>
                <a:lnTo>
                  <a:pt x="0" y="960120"/>
                </a:lnTo>
                <a:lnTo>
                  <a:pt x="914400" y="960120"/>
                </a:lnTo>
                <a:lnTo>
                  <a:pt x="594360" y="288036"/>
                </a:lnTo>
                <a:lnTo>
                  <a:pt x="594360" y="0"/>
                </a:lnTo>
              </a:path>
            </a:pathLst>
          </a:custGeom>
          <a:ln w="19050">
            <a:solidFill>
              <a:srgbClr val="2A1F3D"/>
            </a:solidFill>
            <a:prstDash val="solid"/>
          </a:ln>
        </p:spPr>
      </p:sp>
      <p:sp>
        <p:nvSpPr>
          <p:cNvPr id="43" name="Text 41"/>
          <p:cNvSpPr/>
          <p:nvPr/>
        </p:nvSpPr>
        <p:spPr>
          <a:xfrm>
            <a:off x="2743200" y="1828800"/>
            <a:ext cx="2286000" cy="237744"/>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burette</a:t>
            </a:r>
            <a:r>
              <a:rPr lang="en-US" sz="1050" dirty="0">
                <a:solidFill>
                  <a:srgbClr val="262B3A"/>
                </a:solidFill>
                <a:latin typeface="Calibri" pitchFamily="34" charset="0"/>
                <a:ea typeface="Calibri" pitchFamily="34" charset="-122"/>
                <a:cs typeface="Calibri" pitchFamily="34" charset="-120"/>
              </a:rPr>
              <a:t>: dilute acid</a:t>
            </a:r>
            <a:endParaRPr lang="en-US" sz="1050" dirty="0"/>
          </a:p>
        </p:txBody>
      </p:sp>
      <p:sp>
        <p:nvSpPr>
          <p:cNvPr id="44" name="Shape 42"/>
          <p:cNvSpPr/>
          <p:nvPr/>
        </p:nvSpPr>
        <p:spPr>
          <a:xfrm flipH="1">
            <a:off x="2011680" y="1947672"/>
            <a:ext cx="704088" cy="155448"/>
          </a:xfrm>
          <a:prstGeom prst="line">
            <a:avLst/>
          </a:prstGeom>
          <a:noFill/>
          <a:ln w="9525">
            <a:solidFill>
              <a:srgbClr val="8A8F99"/>
            </a:solidFill>
            <a:prstDash val="solid"/>
          </a:ln>
        </p:spPr>
      </p:sp>
      <p:sp>
        <p:nvSpPr>
          <p:cNvPr id="45" name="Text 43"/>
          <p:cNvSpPr/>
          <p:nvPr/>
        </p:nvSpPr>
        <p:spPr>
          <a:xfrm>
            <a:off x="2743200" y="3154680"/>
            <a:ext cx="2286000" cy="411480"/>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tap: add acid </a:t>
            </a:r>
            <a:r>
              <a:rPr lang="en-US" sz="1050" b="1" dirty="0">
                <a:solidFill>
                  <a:srgbClr val="262B3A"/>
                </a:solidFill>
                <a:latin typeface="Calibri" pitchFamily="34" charset="0"/>
                <a:ea typeface="Calibri" pitchFamily="34" charset="-122"/>
                <a:cs typeface="Calibri" pitchFamily="34" charset="-120"/>
              </a:rPr>
              <a:t>drop by drop</a:t>
            </a:r>
            <a:r>
              <a:rPr lang="en-US" sz="1050" dirty="0">
                <a:solidFill>
                  <a:srgbClr val="262B3A"/>
                </a:solidFill>
                <a:latin typeface="Calibri" pitchFamily="34" charset="0"/>
                <a:ea typeface="Calibri" pitchFamily="34" charset="-122"/>
                <a:cs typeface="Calibri" pitchFamily="34" charset="-120"/>
              </a:rPr>
              <a:t> near the end</a:t>
            </a:r>
            <a:endParaRPr lang="en-US" sz="1050" dirty="0"/>
          </a:p>
        </p:txBody>
      </p:sp>
      <p:sp>
        <p:nvSpPr>
          <p:cNvPr id="46" name="Shape 44"/>
          <p:cNvSpPr/>
          <p:nvPr/>
        </p:nvSpPr>
        <p:spPr>
          <a:xfrm flipH="1">
            <a:off x="2084832" y="3360420"/>
            <a:ext cx="630936" cy="754380"/>
          </a:xfrm>
          <a:prstGeom prst="line">
            <a:avLst/>
          </a:prstGeom>
          <a:noFill/>
          <a:ln w="9525">
            <a:solidFill>
              <a:srgbClr val="8A8F99"/>
            </a:solidFill>
            <a:prstDash val="solid"/>
          </a:ln>
        </p:spPr>
      </p:sp>
      <p:sp>
        <p:nvSpPr>
          <p:cNvPr id="47" name="Text 45"/>
          <p:cNvSpPr/>
          <p:nvPr/>
        </p:nvSpPr>
        <p:spPr>
          <a:xfrm>
            <a:off x="2743200" y="4343400"/>
            <a:ext cx="2286000" cy="411480"/>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conical flask: </a:t>
            </a:r>
            <a:r>
              <a:rPr lang="en-US" sz="1050" b="1" dirty="0">
                <a:solidFill>
                  <a:srgbClr val="262B3A"/>
                </a:solidFill>
                <a:latin typeface="Calibri" pitchFamily="34" charset="0"/>
                <a:ea typeface="Calibri" pitchFamily="34" charset="-122"/>
                <a:cs typeface="Calibri" pitchFamily="34" charset="-120"/>
              </a:rPr>
              <a:t>25.0 cm³</a:t>
            </a:r>
            <a:r>
              <a:rPr lang="en-US" sz="1050" dirty="0">
                <a:solidFill>
                  <a:srgbClr val="262B3A"/>
                </a:solidFill>
                <a:latin typeface="Calibri" pitchFamily="34" charset="0"/>
                <a:ea typeface="Calibri" pitchFamily="34" charset="-122"/>
                <a:cs typeface="Calibri" pitchFamily="34" charset="-120"/>
              </a:rPr>
              <a:t> alkali + indicator</a:t>
            </a:r>
            <a:endParaRPr lang="en-US" sz="1050" dirty="0"/>
          </a:p>
        </p:txBody>
      </p:sp>
      <p:sp>
        <p:nvSpPr>
          <p:cNvPr id="48" name="Shape 46"/>
          <p:cNvSpPr/>
          <p:nvPr/>
        </p:nvSpPr>
        <p:spPr>
          <a:xfrm flipH="1">
            <a:off x="2286000" y="4549140"/>
            <a:ext cx="429768" cy="160020"/>
          </a:xfrm>
          <a:prstGeom prst="line">
            <a:avLst/>
          </a:prstGeom>
          <a:noFill/>
          <a:ln w="9525">
            <a:solidFill>
              <a:srgbClr val="8A8F99"/>
            </a:solidFill>
            <a:prstDash val="solid"/>
          </a:ln>
        </p:spPr>
      </p:sp>
      <p:sp>
        <p:nvSpPr>
          <p:cNvPr id="49" name="Text 47"/>
          <p:cNvSpPr/>
          <p:nvPr/>
        </p:nvSpPr>
        <p:spPr>
          <a:xfrm>
            <a:off x="2743200" y="4892040"/>
            <a:ext cx="2286000" cy="237744"/>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white tile</a:t>
            </a:r>
            <a:r>
              <a:rPr lang="en-US" sz="1050" dirty="0">
                <a:solidFill>
                  <a:srgbClr val="262B3A"/>
                </a:solidFill>
                <a:latin typeface="Calibri" pitchFamily="34" charset="0"/>
                <a:ea typeface="Calibri" pitchFamily="34" charset="-122"/>
                <a:cs typeface="Calibri" pitchFamily="34" charset="-120"/>
              </a:rPr>
              <a:t>: see the colour change</a:t>
            </a:r>
            <a:endParaRPr lang="en-US" sz="1050" dirty="0"/>
          </a:p>
        </p:txBody>
      </p:sp>
      <p:sp>
        <p:nvSpPr>
          <p:cNvPr id="50" name="Shape 48"/>
          <p:cNvSpPr/>
          <p:nvPr/>
        </p:nvSpPr>
        <p:spPr>
          <a:xfrm flipH="1">
            <a:off x="2468880" y="5010912"/>
            <a:ext cx="246888" cy="173736"/>
          </a:xfrm>
          <a:prstGeom prst="line">
            <a:avLst/>
          </a:prstGeom>
          <a:noFill/>
          <a:ln w="9525">
            <a:solidFill>
              <a:srgbClr val="8A8F99"/>
            </a:solidFill>
            <a:prstDash val="solid"/>
          </a:ln>
        </p:spPr>
      </p:sp>
      <p:sp>
        <p:nvSpPr>
          <p:cNvPr id="51" name="Shape 49"/>
          <p:cNvSpPr/>
          <p:nvPr/>
        </p:nvSpPr>
        <p:spPr>
          <a:xfrm>
            <a:off x="5408676" y="1463040"/>
            <a:ext cx="64008" cy="826618"/>
          </a:xfrm>
          <a:prstGeom prst="rect">
            <a:avLst/>
          </a:prstGeom>
          <a:solidFill>
            <a:srgbClr val="EEF5FB"/>
          </a:solidFill>
          <a:ln w="12700">
            <a:solidFill>
              <a:srgbClr val="2A1F3D"/>
            </a:solidFill>
            <a:prstDash val="solid"/>
          </a:ln>
        </p:spPr>
      </p:sp>
      <p:sp>
        <p:nvSpPr>
          <p:cNvPr id="52" name="Shape 50"/>
          <p:cNvSpPr/>
          <p:nvPr/>
        </p:nvSpPr>
        <p:spPr>
          <a:xfrm>
            <a:off x="5312664" y="2262226"/>
            <a:ext cx="256032" cy="588874"/>
          </a:xfrm>
          <a:prstGeom prst="ellipse">
            <a:avLst/>
          </a:prstGeom>
          <a:solidFill>
            <a:srgbClr val="EEF5FB"/>
          </a:solidFill>
          <a:ln w="15875">
            <a:solidFill>
              <a:srgbClr val="2A1F3D"/>
            </a:solidFill>
            <a:prstDash val="solid"/>
          </a:ln>
        </p:spPr>
      </p:sp>
      <p:sp>
        <p:nvSpPr>
          <p:cNvPr id="53" name="Shape 51"/>
          <p:cNvSpPr/>
          <p:nvPr/>
        </p:nvSpPr>
        <p:spPr>
          <a:xfrm>
            <a:off x="5408676" y="2823667"/>
            <a:ext cx="64008" cy="742493"/>
          </a:xfrm>
          <a:custGeom>
            <a:avLst/>
            <a:gdLst/>
            <a:ahLst/>
            <a:cxnLst/>
            <a:rect l="l" t="t" r="r" b="b"/>
            <a:pathLst>
              <a:path w="64008" h="742493">
                <a:moveTo>
                  <a:pt x="0" y="0"/>
                </a:moveTo>
                <a:lnTo>
                  <a:pt x="64008" y="0"/>
                </a:lnTo>
                <a:lnTo>
                  <a:pt x="45720" y="742493"/>
                </a:lnTo>
                <a:lnTo>
                  <a:pt x="18288" y="742493"/>
                </a:lnTo>
                <a:close/>
              </a:path>
            </a:pathLst>
          </a:custGeom>
          <a:solidFill>
            <a:srgbClr val="EEF5FB"/>
          </a:solidFill>
          <a:ln w="12700">
            <a:solidFill>
              <a:srgbClr val="2A1F3D"/>
            </a:solidFill>
            <a:prstDash val="solid"/>
          </a:ln>
        </p:spPr>
      </p:sp>
      <p:sp>
        <p:nvSpPr>
          <p:cNvPr id="54" name="Shape 52"/>
          <p:cNvSpPr/>
          <p:nvPr/>
        </p:nvSpPr>
        <p:spPr>
          <a:xfrm>
            <a:off x="5358384" y="1757477"/>
            <a:ext cx="164592" cy="91"/>
          </a:xfrm>
          <a:prstGeom prst="line">
            <a:avLst/>
          </a:prstGeom>
          <a:noFill/>
          <a:ln w="19050">
            <a:solidFill>
              <a:srgbClr val="C8414C"/>
            </a:solidFill>
            <a:prstDash val="solid"/>
          </a:ln>
        </p:spPr>
      </p:sp>
      <p:sp>
        <p:nvSpPr>
          <p:cNvPr id="55" name="Text 53"/>
          <p:cNvSpPr/>
          <p:nvPr/>
        </p:nvSpPr>
        <p:spPr>
          <a:xfrm>
            <a:off x="4800600" y="3611880"/>
            <a:ext cx="1143000" cy="41148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pipette</a:t>
            </a:r>
            <a:endParaRPr lang="en-US" sz="1050" dirty="0"/>
          </a:p>
          <a:p>
            <a:pPr algn="ctr" indent="0" marL="0">
              <a:buNone/>
            </a:pPr>
            <a:r>
              <a:rPr lang="en-US" sz="1050" dirty="0">
                <a:solidFill>
                  <a:srgbClr val="262B3A"/>
                </a:solidFill>
                <a:latin typeface="Calibri" pitchFamily="34" charset="0"/>
                <a:ea typeface="Calibri" pitchFamily="34" charset="-122"/>
                <a:cs typeface="Calibri" pitchFamily="34" charset="-120"/>
              </a:rPr>
              <a:t>25.0 cm³</a:t>
            </a:r>
            <a:endParaRPr lang="en-US" sz="1050" dirty="0"/>
          </a:p>
        </p:txBody>
      </p:sp>
      <p:sp>
        <p:nvSpPr>
          <p:cNvPr id="56" name="Shape 54"/>
          <p:cNvSpPr/>
          <p:nvPr/>
        </p:nvSpPr>
        <p:spPr>
          <a:xfrm>
            <a:off x="6217920" y="1188720"/>
            <a:ext cx="5562295" cy="2423160"/>
          </a:xfrm>
          <a:prstGeom prst="roundRect">
            <a:avLst>
              <a:gd name="adj" fmla="val 2264"/>
            </a:avLst>
          </a:prstGeom>
          <a:solidFill>
            <a:srgbClr val="F8F5FC"/>
          </a:solidFill>
          <a:ln w="9525">
            <a:solidFill>
              <a:srgbClr val="DDD3EC"/>
            </a:solidFill>
            <a:prstDash val="solid"/>
          </a:ln>
        </p:spPr>
      </p:sp>
      <p:sp>
        <p:nvSpPr>
          <p:cNvPr id="57" name="Text 5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 (3.18)</a:t>
            </a:r>
            <a:endParaRPr lang="en-US" sz="1300" dirty="0"/>
          </a:p>
        </p:txBody>
      </p:sp>
      <p:sp>
        <p:nvSpPr>
          <p:cNvPr id="58" name="Text 5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Use a </a:t>
            </a:r>
            <a:r>
              <a:rPr lang="en-US" sz="1150" b="1" dirty="0">
                <a:solidFill>
                  <a:srgbClr val="262B3A"/>
                </a:solidFill>
                <a:latin typeface="Calibri" pitchFamily="34" charset="0"/>
                <a:ea typeface="Calibri" pitchFamily="34" charset="-122"/>
                <a:cs typeface="Calibri" pitchFamily="34" charset="-120"/>
              </a:rPr>
              <a:t>pipette</a:t>
            </a:r>
            <a:r>
              <a:rPr lang="en-US" sz="1150" dirty="0">
                <a:solidFill>
                  <a:srgbClr val="262B3A"/>
                </a:solidFill>
                <a:latin typeface="Calibri" pitchFamily="34" charset="0"/>
                <a:ea typeface="Calibri" pitchFamily="34" charset="-122"/>
                <a:cs typeface="Calibri" pitchFamily="34" charset="-120"/>
              </a:rPr>
              <a:t> to put </a:t>
            </a:r>
            <a:r>
              <a:rPr lang="en-US" sz="1150" b="1" dirty="0">
                <a:solidFill>
                  <a:srgbClr val="262B3A"/>
                </a:solidFill>
                <a:latin typeface="Calibri" pitchFamily="34" charset="0"/>
                <a:ea typeface="Calibri" pitchFamily="34" charset="-122"/>
                <a:cs typeface="Calibri" pitchFamily="34" charset="-120"/>
              </a:rPr>
              <a:t>25.0 cm³</a:t>
            </a:r>
            <a:r>
              <a:rPr lang="en-US" sz="1150" dirty="0">
                <a:solidFill>
                  <a:srgbClr val="262B3A"/>
                </a:solidFill>
                <a:latin typeface="Calibri" pitchFamily="34" charset="0"/>
                <a:ea typeface="Calibri" pitchFamily="34" charset="-122"/>
                <a:cs typeface="Calibri" pitchFamily="34" charset="-120"/>
              </a:rPr>
              <a:t> of alkali into a conical flask; add a few drops of </a:t>
            </a:r>
            <a:r>
              <a:rPr lang="en-US" sz="1150" b="1" dirty="0">
                <a:solidFill>
                  <a:srgbClr val="262B3A"/>
                </a:solidFill>
                <a:latin typeface="Calibri" pitchFamily="34" charset="0"/>
                <a:ea typeface="Calibri" pitchFamily="34" charset="-122"/>
                <a:cs typeface="Calibri" pitchFamily="34" charset="-120"/>
              </a:rPr>
              <a:t>indicator</a:t>
            </a:r>
            <a:r>
              <a:rPr lang="en-US" sz="1150" dirty="0">
                <a:solidFill>
                  <a:srgbClr val="262B3A"/>
                </a:solidFill>
                <a:latin typeface="Calibri" pitchFamily="34" charset="0"/>
                <a:ea typeface="Calibri" pitchFamily="34" charset="-122"/>
                <a:cs typeface="Calibri" pitchFamily="34" charset="-120"/>
              </a:rPr>
              <a:t> (e.g. methyl orange).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Fill the </a:t>
            </a:r>
            <a:r>
              <a:rPr lang="en-US" sz="1150" b="1" dirty="0">
                <a:solidFill>
                  <a:srgbClr val="262B3A"/>
                </a:solidFill>
                <a:latin typeface="Calibri" pitchFamily="34" charset="0"/>
                <a:ea typeface="Calibri" pitchFamily="34" charset="-122"/>
                <a:cs typeface="Calibri" pitchFamily="34" charset="-120"/>
              </a:rPr>
              <a:t>burette</a:t>
            </a:r>
            <a:r>
              <a:rPr lang="en-US" sz="1150" dirty="0">
                <a:solidFill>
                  <a:srgbClr val="262B3A"/>
                </a:solidFill>
                <a:latin typeface="Calibri" pitchFamily="34" charset="0"/>
                <a:ea typeface="Calibri" pitchFamily="34" charset="-122"/>
                <a:cs typeface="Calibri" pitchFamily="34" charset="-120"/>
              </a:rPr>
              <a:t> with acid; read the start volume (bottom of the </a:t>
            </a:r>
            <a:r>
              <a:rPr lang="en-US" sz="1150" b="1" dirty="0">
                <a:solidFill>
                  <a:srgbClr val="262B3A"/>
                </a:solidFill>
                <a:latin typeface="Calibri" pitchFamily="34" charset="0"/>
                <a:ea typeface="Calibri" pitchFamily="34" charset="-122"/>
                <a:cs typeface="Calibri" pitchFamily="34" charset="-120"/>
              </a:rPr>
              <a:t>meniscus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Add acid, swirling, then </a:t>
            </a:r>
            <a:r>
              <a:rPr lang="en-US" sz="1150" b="1" dirty="0">
                <a:solidFill>
                  <a:srgbClr val="262B3A"/>
                </a:solidFill>
                <a:latin typeface="Calibri" pitchFamily="34" charset="0"/>
                <a:ea typeface="Calibri" pitchFamily="34" charset="-122"/>
                <a:cs typeface="Calibri" pitchFamily="34" charset="-120"/>
              </a:rPr>
              <a:t>drop by drop</a:t>
            </a:r>
            <a:r>
              <a:rPr lang="en-US" sz="1150" dirty="0">
                <a:solidFill>
                  <a:srgbClr val="262B3A"/>
                </a:solidFill>
                <a:latin typeface="Calibri" pitchFamily="34" charset="0"/>
                <a:ea typeface="Calibri" pitchFamily="34" charset="-122"/>
                <a:cs typeface="Calibri" pitchFamily="34" charset="-120"/>
              </a:rPr>
              <a:t> until the indicator </a:t>
            </a:r>
            <a:r>
              <a:rPr lang="en-US" sz="1150" b="1" dirty="0">
                <a:solidFill>
                  <a:srgbClr val="262B3A"/>
                </a:solidFill>
                <a:latin typeface="Calibri" pitchFamily="34" charset="0"/>
                <a:ea typeface="Calibri" pitchFamily="34" charset="-122"/>
                <a:cs typeface="Calibri" pitchFamily="34" charset="-120"/>
              </a:rPr>
              <a:t>just changes colour</a:t>
            </a:r>
            <a:r>
              <a:rPr lang="en-US" sz="1150" dirty="0">
                <a:solidFill>
                  <a:srgbClr val="262B3A"/>
                </a:solidFill>
                <a:latin typeface="Calibri" pitchFamily="34" charset="0"/>
                <a:ea typeface="Calibri" pitchFamily="34" charset="-122"/>
                <a:cs typeface="Calibri" pitchFamily="34" charset="-120"/>
              </a:rPr>
              <a:t> (end point). Record the volume.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Repeat </a:t>
            </a:r>
            <a:r>
              <a:rPr lang="en-US" sz="1150" b="1" dirty="0">
                <a:solidFill>
                  <a:srgbClr val="262B3A"/>
                </a:solidFill>
                <a:latin typeface="Calibri" pitchFamily="34" charset="0"/>
                <a:ea typeface="Calibri" pitchFamily="34" charset="-122"/>
                <a:cs typeface="Calibri" pitchFamily="34" charset="-120"/>
              </a:rPr>
              <a:t>without indicator</a:t>
            </a:r>
            <a:r>
              <a:rPr lang="en-US" sz="1150" dirty="0">
                <a:solidFill>
                  <a:srgbClr val="262B3A"/>
                </a:solidFill>
                <a:latin typeface="Calibri" pitchFamily="34" charset="0"/>
                <a:ea typeface="Calibri" pitchFamily="34" charset="-122"/>
                <a:cs typeface="Calibri" pitchFamily="34" charset="-120"/>
              </a:rPr>
              <a:t>, adding the same volume of acid.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Evaporate some water, then leave to </a:t>
            </a:r>
            <a:r>
              <a:rPr lang="en-US" sz="1150" b="1" dirty="0">
                <a:solidFill>
                  <a:srgbClr val="262B3A"/>
                </a:solidFill>
                <a:latin typeface="Calibri" pitchFamily="34" charset="0"/>
                <a:ea typeface="Calibri" pitchFamily="34" charset="-122"/>
                <a:cs typeface="Calibri" pitchFamily="34" charset="-120"/>
              </a:rPr>
              <a:t>crystallise</a:t>
            </a:r>
            <a:r>
              <a:rPr lang="en-US" sz="1150" dirty="0">
                <a:solidFill>
                  <a:srgbClr val="262B3A"/>
                </a:solidFill>
                <a:latin typeface="Calibri" pitchFamily="34" charset="0"/>
                <a:ea typeface="Calibri" pitchFamily="34" charset="-122"/>
                <a:cs typeface="Calibri" pitchFamily="34" charset="-120"/>
              </a:rPr>
              <a:t>; dry the crystals.</a:t>
            </a:r>
            <a:endParaRPr lang="en-US" sz="1150" dirty="0"/>
          </a:p>
        </p:txBody>
      </p:sp>
      <p:sp>
        <p:nvSpPr>
          <p:cNvPr id="59" name="Shape 5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0" name="Text 5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Why titration? (3.16)</a:t>
            </a:r>
            <a:endParaRPr lang="en-US" sz="1300" dirty="0"/>
          </a:p>
        </p:txBody>
      </p:sp>
      <p:sp>
        <p:nvSpPr>
          <p:cNvPr id="61" name="Text 59"/>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a   </a:t>
            </a:r>
            <a:r>
              <a:rPr lang="en-US" sz="1050" dirty="0">
                <a:solidFill>
                  <a:srgbClr val="262B3A"/>
                </a:solidFill>
                <a:latin typeface="Calibri" pitchFamily="34" charset="0"/>
                <a:ea typeface="Calibri" pitchFamily="34" charset="-122"/>
                <a:cs typeface="Calibri" pitchFamily="34" charset="-120"/>
              </a:rPr>
              <a:t>both reactants are soluble: an excess cannot be filtered off</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b   </a:t>
            </a:r>
            <a:r>
              <a:rPr lang="en-US" sz="1050" dirty="0">
                <a:solidFill>
                  <a:srgbClr val="262B3A"/>
                </a:solidFill>
                <a:latin typeface="Calibri" pitchFamily="34" charset="0"/>
                <a:ea typeface="Calibri" pitchFamily="34" charset="-122"/>
                <a:cs typeface="Calibri" pitchFamily="34" charset="-120"/>
              </a:rPr>
              <a:t>titration finds the exact volumes that react: correct proportions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c   </a:t>
            </a:r>
            <a:r>
              <a:rPr lang="en-US" sz="1050" dirty="0">
                <a:solidFill>
                  <a:srgbClr val="262B3A"/>
                </a:solidFill>
                <a:latin typeface="Calibri" pitchFamily="34" charset="0"/>
                <a:ea typeface="Calibri" pitchFamily="34" charset="-122"/>
                <a:cs typeface="Calibri" pitchFamily="34" charset="-120"/>
              </a:rPr>
              <a:t>the solution left is only salt and water</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repeat without indicator so it does not contaminate the salt</a:t>
            </a:r>
            <a:endParaRPr lang="en-US" sz="1050" dirty="0"/>
          </a:p>
        </p:txBody>
      </p:sp>
      <p:sp>
        <p:nvSpPr>
          <p:cNvPr id="62" name="Shape 60"/>
          <p:cNvSpPr/>
          <p:nvPr/>
        </p:nvSpPr>
        <p:spPr>
          <a:xfrm>
            <a:off x="411480" y="5833872"/>
            <a:ext cx="11368735" cy="530352"/>
          </a:xfrm>
          <a:prstGeom prst="rect">
            <a:avLst/>
          </a:prstGeom>
          <a:solidFill>
            <a:srgbClr val="FFF4E0"/>
          </a:solidFill>
          <a:ln w="6350">
            <a:solidFill>
              <a:srgbClr val="F1D9A8"/>
            </a:solidFill>
            <a:prstDash val="solid"/>
          </a:ln>
        </p:spPr>
      </p:sp>
      <p:sp>
        <p:nvSpPr>
          <p:cNvPr id="63" name="Shape 61"/>
          <p:cNvSpPr/>
          <p:nvPr/>
        </p:nvSpPr>
        <p:spPr>
          <a:xfrm>
            <a:off x="411480" y="5833872"/>
            <a:ext cx="82296" cy="530352"/>
          </a:xfrm>
          <a:prstGeom prst="rect">
            <a:avLst/>
          </a:prstGeom>
          <a:solidFill>
            <a:srgbClr val="E39A2F"/>
          </a:solidFill>
          <a:ln w="12700">
            <a:solidFill>
              <a:srgbClr val="E39A2F"/>
            </a:solidFill>
            <a:prstDash val="solid"/>
          </a:ln>
        </p:spPr>
      </p:sp>
      <p:sp>
        <p:nvSpPr>
          <p:cNvPr id="64" name="Text 6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a:t>
            </a:r>
            <a:r>
              <a:rPr lang="en-US" sz="1150" b="1" dirty="0">
                <a:solidFill>
                  <a:srgbClr val="262B3A"/>
                </a:solidFill>
                <a:latin typeface="Calibri" pitchFamily="34" charset="0"/>
                <a:ea typeface="Calibri" pitchFamily="34" charset="-122"/>
                <a:cs typeface="Calibri" pitchFamily="34" charset="-120"/>
              </a:rPr>
              <a:t>universal indicator</a:t>
            </a:r>
            <a:r>
              <a:rPr lang="en-US" sz="1150" dirty="0">
                <a:solidFill>
                  <a:srgbClr val="262B3A"/>
                </a:solidFill>
                <a:latin typeface="Calibri" pitchFamily="34" charset="0"/>
                <a:ea typeface="Calibri" pitchFamily="34" charset="-122"/>
                <a:cs typeface="Calibri" pitchFamily="34" charset="-120"/>
              </a:rPr>
              <a:t> not used in a titration? Why is the titration repeated </a:t>
            </a:r>
            <a:r>
              <a:rPr lang="en-US" sz="1150" b="1" dirty="0">
                <a:solidFill>
                  <a:srgbClr val="262B3A"/>
                </a:solidFill>
                <a:latin typeface="Calibri" pitchFamily="34" charset="0"/>
                <a:ea typeface="Calibri" pitchFamily="34" charset="-122"/>
                <a:cs typeface="Calibri" pitchFamily="34" charset="-120"/>
              </a:rPr>
              <a:t>without</a:t>
            </a:r>
            <a:r>
              <a:rPr lang="en-US" sz="1150" dirty="0">
                <a:solidFill>
                  <a:srgbClr val="262B3A"/>
                </a:solidFill>
                <a:latin typeface="Calibri" pitchFamily="34" charset="0"/>
                <a:ea typeface="Calibri" pitchFamily="34" charset="-122"/>
                <a:cs typeface="Calibri" pitchFamily="34" charset="-120"/>
              </a:rPr>
              <a:t> indicator?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Titration results and calculation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Link to Core Practical 5.9C and 5.10C (Topic 5) • concordant titres; concentration in mol dm⁻³</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Shape 6"/>
          <p:cNvSpPr/>
          <p:nvPr/>
        </p:nvSpPr>
        <p:spPr>
          <a:xfrm>
            <a:off x="10042855" y="292608"/>
            <a:ext cx="1188720" cy="274320"/>
          </a:xfrm>
          <a:prstGeom prst="roundRect">
            <a:avLst>
              <a:gd name="adj" fmla="val 50000"/>
            </a:avLst>
          </a:prstGeom>
          <a:solidFill>
            <a:srgbClr val="6A3FA0"/>
          </a:solidFill>
          <a:ln w="12700">
            <a:solidFill>
              <a:srgbClr val="6A3FA0"/>
            </a:solidFill>
            <a:prstDash val="solid"/>
          </a:ln>
        </p:spPr>
      </p:sp>
      <p:sp>
        <p:nvSpPr>
          <p:cNvPr id="9" name="Text 7"/>
          <p:cNvSpPr/>
          <p:nvPr/>
        </p:nvSpPr>
        <p:spPr>
          <a:xfrm>
            <a:off x="10042855" y="29260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CHEMISTRY ONLY</a:t>
            </a:r>
            <a:endParaRPr lang="en-US" sz="1000" dirty="0"/>
          </a:p>
        </p:txBody>
      </p:sp>
      <p:sp>
        <p:nvSpPr>
          <p:cNvPr id="10" name="Shape 8"/>
          <p:cNvSpPr/>
          <p:nvPr/>
        </p:nvSpPr>
        <p:spPr>
          <a:xfrm>
            <a:off x="8579815" y="292608"/>
            <a:ext cx="1371600" cy="274320"/>
          </a:xfrm>
          <a:prstGeom prst="roundRect">
            <a:avLst>
              <a:gd name="adj" fmla="val 50000"/>
            </a:avLst>
          </a:prstGeom>
          <a:solidFill>
            <a:srgbClr val="B8730A"/>
          </a:solidFill>
          <a:ln w="12700">
            <a:solidFill>
              <a:srgbClr val="B8730A"/>
            </a:solidFill>
            <a:prstDash val="solid"/>
          </a:ln>
        </p:spPr>
      </p:sp>
      <p:sp>
        <p:nvSpPr>
          <p:cNvPr id="11" name="Text 9"/>
          <p:cNvSpPr/>
          <p:nvPr/>
        </p:nvSpPr>
        <p:spPr>
          <a:xfrm>
            <a:off x="8579815" y="29260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12" name="Text 10"/>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13" name="Text 11"/>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CP 5.9C link  |  22</a:t>
            </a:r>
            <a:endParaRPr lang="en-US" sz="1000" dirty="0"/>
          </a:p>
        </p:txBody>
      </p:sp>
      <p:sp>
        <p:nvSpPr>
          <p:cNvPr id="14" name="Shape 12"/>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5" name="Text 13"/>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results table and reading the burette at eye level</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94360" y="1325880"/>
          <a:ext cx="5212080" cy="914400"/>
        </p:xfrm>
        <a:graphic>
          <a:graphicData uri="http://schemas.openxmlformats.org/drawingml/2006/table">
            <a:tbl>
              <a:tblPr/>
              <a:tblGrid>
                <a:gridCol w="1737360"/>
                <a:gridCol w="868680"/>
                <a:gridCol w="868680"/>
                <a:gridCol w="868680"/>
                <a:gridCol w="868680"/>
              </a:tblGrid>
              <a:tr h="347472">
                <a:tc>
                  <a:txBody>
                    <a:bodyPr/>
                    <a:lstStyle/>
                    <a:p>
                      <a:pP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Rough</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r>
              <a:tr h="347472">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final reading / cm³</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23.10</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22.95</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23.55</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22.70</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347472">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initial reading / cm³</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0.50</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1.20</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0.30</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titre / cm³</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23.10</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22.45</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DDF0E0"/>
                    </a:solidFill>
                  </a:tcPr>
                </a:tc>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22.35</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DDF0E0"/>
                    </a:solidFill>
                  </a:tcPr>
                </a:tc>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22.40</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DDF0E0"/>
                    </a:solidFill>
                  </a:tcPr>
                </a:tc>
              </a:tr>
            </a:tbl>
          </a:graphicData>
        </a:graphic>
      </p:graphicFrame>
      <p:sp>
        <p:nvSpPr>
          <p:cNvPr id="17" name="Text 14"/>
          <p:cNvSpPr/>
          <p:nvPr/>
        </p:nvSpPr>
        <p:spPr>
          <a:xfrm>
            <a:off x="594360" y="2761488"/>
            <a:ext cx="5212080" cy="27432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green = </a:t>
            </a:r>
            <a:r>
              <a:rPr lang="en-US" sz="1050" b="1" dirty="0">
                <a:solidFill>
                  <a:srgbClr val="262B3A"/>
                </a:solidFill>
                <a:latin typeface="Calibri" pitchFamily="34" charset="0"/>
                <a:ea typeface="Calibri" pitchFamily="34" charset="-122"/>
                <a:cs typeface="Calibri" pitchFamily="34" charset="-120"/>
              </a:rPr>
              <a:t>concordant</a:t>
            </a:r>
            <a:r>
              <a:rPr lang="en-US" sz="1050" dirty="0">
                <a:solidFill>
                  <a:srgbClr val="262B3A"/>
                </a:solidFill>
                <a:latin typeface="Calibri" pitchFamily="34" charset="0"/>
                <a:ea typeface="Calibri" pitchFamily="34" charset="-122"/>
                <a:cs typeface="Calibri" pitchFamily="34" charset="-120"/>
              </a:rPr>
              <a:t> (within 0.10 cm³ of each other) → mean = </a:t>
            </a:r>
            <a:r>
              <a:rPr lang="en-US" sz="1050" b="1" dirty="0">
                <a:solidFill>
                  <a:srgbClr val="262B3A"/>
                </a:solidFill>
                <a:latin typeface="Calibri" pitchFamily="34" charset="0"/>
                <a:ea typeface="Calibri" pitchFamily="34" charset="-122"/>
                <a:cs typeface="Calibri" pitchFamily="34" charset="-120"/>
              </a:rPr>
              <a:t>22.40 cm³</a:t>
            </a:r>
            <a:endParaRPr lang="en-US" sz="1050" dirty="0"/>
          </a:p>
        </p:txBody>
      </p:sp>
      <p:sp>
        <p:nvSpPr>
          <p:cNvPr id="18" name="Shape 15"/>
          <p:cNvSpPr/>
          <p:nvPr/>
        </p:nvSpPr>
        <p:spPr>
          <a:xfrm>
            <a:off x="1188720" y="3154680"/>
            <a:ext cx="640080" cy="2011680"/>
          </a:xfrm>
          <a:prstGeom prst="rect">
            <a:avLst/>
          </a:prstGeom>
          <a:solidFill>
            <a:srgbClr val="EEF5FB"/>
          </a:solidFill>
          <a:ln/>
        </p:spPr>
      </p:sp>
      <p:sp>
        <p:nvSpPr>
          <p:cNvPr id="19" name="Shape 16"/>
          <p:cNvSpPr/>
          <p:nvPr/>
        </p:nvSpPr>
        <p:spPr>
          <a:xfrm>
            <a:off x="1188720" y="4105656"/>
            <a:ext cx="640080" cy="1060704"/>
          </a:xfrm>
          <a:custGeom>
            <a:avLst/>
            <a:gdLst/>
            <a:ahLst/>
            <a:cxnLst/>
            <a:rect l="l" t="t" r="r" b="b"/>
            <a:pathLst>
              <a:path w="640080" h="1060704">
                <a:moveTo>
                  <a:pt x="0" y="0"/>
                </a:moveTo>
                <a:lnTo>
                  <a:pt x="40005" y="17145"/>
                </a:lnTo>
                <a:lnTo>
                  <a:pt x="80010" y="32004"/>
                </a:lnTo>
                <a:lnTo>
                  <a:pt x="120015" y="44577"/>
                </a:lnTo>
                <a:lnTo>
                  <a:pt x="160020" y="54864"/>
                </a:lnTo>
                <a:lnTo>
                  <a:pt x="200025" y="62865"/>
                </a:lnTo>
                <a:lnTo>
                  <a:pt x="240030" y="68580"/>
                </a:lnTo>
                <a:lnTo>
                  <a:pt x="280035" y="72009"/>
                </a:lnTo>
                <a:lnTo>
                  <a:pt x="320040" y="73152"/>
                </a:lnTo>
                <a:lnTo>
                  <a:pt x="360045" y="72009"/>
                </a:lnTo>
                <a:lnTo>
                  <a:pt x="400050" y="68580"/>
                </a:lnTo>
                <a:lnTo>
                  <a:pt x="440055" y="62865"/>
                </a:lnTo>
                <a:lnTo>
                  <a:pt x="480060" y="54864"/>
                </a:lnTo>
                <a:lnTo>
                  <a:pt x="520065" y="44577"/>
                </a:lnTo>
                <a:lnTo>
                  <a:pt x="560070" y="32004"/>
                </a:lnTo>
                <a:lnTo>
                  <a:pt x="600075" y="17145"/>
                </a:lnTo>
                <a:lnTo>
                  <a:pt x="640080" y="0"/>
                </a:lnTo>
                <a:lnTo>
                  <a:pt x="640080" y="1060704"/>
                </a:lnTo>
                <a:lnTo>
                  <a:pt x="0" y="1060704"/>
                </a:lnTo>
                <a:close/>
              </a:path>
            </a:pathLst>
          </a:custGeom>
          <a:solidFill>
            <a:srgbClr val="F9E0DA"/>
          </a:solidFill>
          <a:ln/>
        </p:spPr>
      </p:sp>
      <p:sp>
        <p:nvSpPr>
          <p:cNvPr id="20" name="Shape 17"/>
          <p:cNvSpPr/>
          <p:nvPr/>
        </p:nvSpPr>
        <p:spPr>
          <a:xfrm>
            <a:off x="1188720" y="4105656"/>
            <a:ext cx="640080" cy="73152"/>
          </a:xfrm>
          <a:custGeom>
            <a:avLst/>
            <a:gdLst/>
            <a:ahLst/>
            <a:cxnLst/>
            <a:rect l="l" t="t" r="r" b="b"/>
            <a:pathLst>
              <a:path w="640080" h="73152">
                <a:moveTo>
                  <a:pt x="0" y="0"/>
                </a:moveTo>
                <a:lnTo>
                  <a:pt x="40005" y="17145"/>
                </a:lnTo>
                <a:lnTo>
                  <a:pt x="80010" y="32004"/>
                </a:lnTo>
                <a:lnTo>
                  <a:pt x="120015" y="44577"/>
                </a:lnTo>
                <a:lnTo>
                  <a:pt x="160020" y="54864"/>
                </a:lnTo>
                <a:lnTo>
                  <a:pt x="200025" y="62865"/>
                </a:lnTo>
                <a:lnTo>
                  <a:pt x="240030" y="68580"/>
                </a:lnTo>
                <a:lnTo>
                  <a:pt x="280035" y="72009"/>
                </a:lnTo>
                <a:lnTo>
                  <a:pt x="320040" y="73152"/>
                </a:lnTo>
                <a:lnTo>
                  <a:pt x="360045" y="72009"/>
                </a:lnTo>
                <a:lnTo>
                  <a:pt x="400050" y="68580"/>
                </a:lnTo>
                <a:lnTo>
                  <a:pt x="440055" y="62865"/>
                </a:lnTo>
                <a:lnTo>
                  <a:pt x="480060" y="54864"/>
                </a:lnTo>
                <a:lnTo>
                  <a:pt x="520065" y="44577"/>
                </a:lnTo>
                <a:lnTo>
                  <a:pt x="560070" y="32004"/>
                </a:lnTo>
                <a:lnTo>
                  <a:pt x="600075" y="17145"/>
                </a:lnTo>
                <a:lnTo>
                  <a:pt x="640080" y="0"/>
                </a:lnTo>
              </a:path>
            </a:pathLst>
          </a:custGeom>
          <a:ln w="19050">
            <a:solidFill>
              <a:srgbClr val="3A6EA5"/>
            </a:solidFill>
            <a:prstDash val="solid"/>
          </a:ln>
        </p:spPr>
      </p:sp>
      <p:sp>
        <p:nvSpPr>
          <p:cNvPr id="21" name="Shape 18"/>
          <p:cNvSpPr/>
          <p:nvPr/>
        </p:nvSpPr>
        <p:spPr>
          <a:xfrm>
            <a:off x="1188720" y="3154680"/>
            <a:ext cx="91" cy="2011680"/>
          </a:xfrm>
          <a:prstGeom prst="line">
            <a:avLst/>
          </a:prstGeom>
          <a:noFill/>
          <a:ln w="19050">
            <a:solidFill>
              <a:srgbClr val="2A1F3D"/>
            </a:solidFill>
            <a:prstDash val="solid"/>
          </a:ln>
        </p:spPr>
      </p:sp>
      <p:sp>
        <p:nvSpPr>
          <p:cNvPr id="22" name="Shape 19"/>
          <p:cNvSpPr/>
          <p:nvPr/>
        </p:nvSpPr>
        <p:spPr>
          <a:xfrm>
            <a:off x="1828800" y="3154680"/>
            <a:ext cx="91" cy="2011680"/>
          </a:xfrm>
          <a:prstGeom prst="line">
            <a:avLst/>
          </a:prstGeom>
          <a:noFill/>
          <a:ln w="19050">
            <a:solidFill>
              <a:srgbClr val="2A1F3D"/>
            </a:solidFill>
            <a:prstDash val="solid"/>
          </a:ln>
        </p:spPr>
      </p:sp>
      <p:sp>
        <p:nvSpPr>
          <p:cNvPr id="23" name="Shape 20"/>
          <p:cNvSpPr/>
          <p:nvPr/>
        </p:nvSpPr>
        <p:spPr>
          <a:xfrm>
            <a:off x="1188720" y="3246120"/>
            <a:ext cx="201168" cy="91"/>
          </a:xfrm>
          <a:prstGeom prst="line">
            <a:avLst/>
          </a:prstGeom>
          <a:noFill/>
          <a:ln w="12700">
            <a:solidFill>
              <a:srgbClr val="2A1F3D"/>
            </a:solidFill>
            <a:prstDash val="solid"/>
          </a:ln>
        </p:spPr>
      </p:sp>
      <p:sp>
        <p:nvSpPr>
          <p:cNvPr id="24" name="Text 21"/>
          <p:cNvSpPr/>
          <p:nvPr/>
        </p:nvSpPr>
        <p:spPr>
          <a:xfrm>
            <a:off x="502920" y="3154680"/>
            <a:ext cx="64008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22.4</a:t>
            </a:r>
            <a:endParaRPr lang="en-US" sz="1000" dirty="0"/>
          </a:p>
        </p:txBody>
      </p:sp>
      <p:sp>
        <p:nvSpPr>
          <p:cNvPr id="25" name="Shape 22"/>
          <p:cNvSpPr/>
          <p:nvPr/>
        </p:nvSpPr>
        <p:spPr>
          <a:xfrm>
            <a:off x="1188720" y="3557016"/>
            <a:ext cx="201168" cy="91"/>
          </a:xfrm>
          <a:prstGeom prst="line">
            <a:avLst/>
          </a:prstGeom>
          <a:noFill/>
          <a:ln w="12700">
            <a:solidFill>
              <a:srgbClr val="2A1F3D"/>
            </a:solidFill>
            <a:prstDash val="solid"/>
          </a:ln>
        </p:spPr>
      </p:sp>
      <p:sp>
        <p:nvSpPr>
          <p:cNvPr id="26" name="Text 23"/>
          <p:cNvSpPr/>
          <p:nvPr/>
        </p:nvSpPr>
        <p:spPr>
          <a:xfrm>
            <a:off x="502920" y="3465576"/>
            <a:ext cx="64008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22.5</a:t>
            </a:r>
            <a:endParaRPr lang="en-US" sz="1000" dirty="0"/>
          </a:p>
        </p:txBody>
      </p:sp>
      <p:sp>
        <p:nvSpPr>
          <p:cNvPr id="27" name="Shape 24"/>
          <p:cNvSpPr/>
          <p:nvPr/>
        </p:nvSpPr>
        <p:spPr>
          <a:xfrm>
            <a:off x="1188720" y="3867912"/>
            <a:ext cx="201168" cy="91"/>
          </a:xfrm>
          <a:prstGeom prst="line">
            <a:avLst/>
          </a:prstGeom>
          <a:noFill/>
          <a:ln w="12700">
            <a:solidFill>
              <a:srgbClr val="2A1F3D"/>
            </a:solidFill>
            <a:prstDash val="solid"/>
          </a:ln>
        </p:spPr>
      </p:sp>
      <p:sp>
        <p:nvSpPr>
          <p:cNvPr id="28" name="Text 25"/>
          <p:cNvSpPr/>
          <p:nvPr/>
        </p:nvSpPr>
        <p:spPr>
          <a:xfrm>
            <a:off x="502920" y="3776472"/>
            <a:ext cx="64008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22.6</a:t>
            </a:r>
            <a:endParaRPr lang="en-US" sz="1000" dirty="0"/>
          </a:p>
        </p:txBody>
      </p:sp>
      <p:sp>
        <p:nvSpPr>
          <p:cNvPr id="29" name="Shape 26"/>
          <p:cNvSpPr/>
          <p:nvPr/>
        </p:nvSpPr>
        <p:spPr>
          <a:xfrm>
            <a:off x="1188720" y="4178808"/>
            <a:ext cx="201168" cy="91"/>
          </a:xfrm>
          <a:prstGeom prst="line">
            <a:avLst/>
          </a:prstGeom>
          <a:noFill/>
          <a:ln w="12700">
            <a:solidFill>
              <a:srgbClr val="2A1F3D"/>
            </a:solidFill>
            <a:prstDash val="solid"/>
          </a:ln>
        </p:spPr>
      </p:sp>
      <p:sp>
        <p:nvSpPr>
          <p:cNvPr id="30" name="Text 27"/>
          <p:cNvSpPr/>
          <p:nvPr/>
        </p:nvSpPr>
        <p:spPr>
          <a:xfrm>
            <a:off x="502920" y="4087368"/>
            <a:ext cx="64008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22.7</a:t>
            </a:r>
            <a:endParaRPr lang="en-US" sz="1000" dirty="0"/>
          </a:p>
        </p:txBody>
      </p:sp>
      <p:sp>
        <p:nvSpPr>
          <p:cNvPr id="31" name="Shape 28"/>
          <p:cNvSpPr/>
          <p:nvPr/>
        </p:nvSpPr>
        <p:spPr>
          <a:xfrm>
            <a:off x="1188720" y="4489704"/>
            <a:ext cx="201168" cy="91"/>
          </a:xfrm>
          <a:prstGeom prst="line">
            <a:avLst/>
          </a:prstGeom>
          <a:noFill/>
          <a:ln w="12700">
            <a:solidFill>
              <a:srgbClr val="2A1F3D"/>
            </a:solidFill>
            <a:prstDash val="solid"/>
          </a:ln>
        </p:spPr>
      </p:sp>
      <p:sp>
        <p:nvSpPr>
          <p:cNvPr id="32" name="Text 29"/>
          <p:cNvSpPr/>
          <p:nvPr/>
        </p:nvSpPr>
        <p:spPr>
          <a:xfrm>
            <a:off x="502920" y="4398264"/>
            <a:ext cx="64008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22.8</a:t>
            </a:r>
            <a:endParaRPr lang="en-US" sz="1000" dirty="0"/>
          </a:p>
        </p:txBody>
      </p:sp>
      <p:sp>
        <p:nvSpPr>
          <p:cNvPr id="33" name="Shape 30"/>
          <p:cNvSpPr/>
          <p:nvPr/>
        </p:nvSpPr>
        <p:spPr>
          <a:xfrm>
            <a:off x="1188720" y="4800600"/>
            <a:ext cx="201168" cy="91"/>
          </a:xfrm>
          <a:prstGeom prst="line">
            <a:avLst/>
          </a:prstGeom>
          <a:noFill/>
          <a:ln w="12700">
            <a:solidFill>
              <a:srgbClr val="2A1F3D"/>
            </a:solidFill>
            <a:prstDash val="solid"/>
          </a:ln>
        </p:spPr>
      </p:sp>
      <p:sp>
        <p:nvSpPr>
          <p:cNvPr id="34" name="Text 31"/>
          <p:cNvSpPr/>
          <p:nvPr/>
        </p:nvSpPr>
        <p:spPr>
          <a:xfrm>
            <a:off x="502920" y="4709160"/>
            <a:ext cx="64008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22.9</a:t>
            </a:r>
            <a:endParaRPr lang="en-US" sz="1000" dirty="0"/>
          </a:p>
        </p:txBody>
      </p:sp>
      <p:sp>
        <p:nvSpPr>
          <p:cNvPr id="35" name="Shape 32"/>
          <p:cNvSpPr/>
          <p:nvPr/>
        </p:nvSpPr>
        <p:spPr>
          <a:xfrm>
            <a:off x="1188720" y="5111496"/>
            <a:ext cx="201168" cy="91"/>
          </a:xfrm>
          <a:prstGeom prst="line">
            <a:avLst/>
          </a:prstGeom>
          <a:noFill/>
          <a:ln w="12700">
            <a:solidFill>
              <a:srgbClr val="2A1F3D"/>
            </a:solidFill>
            <a:prstDash val="solid"/>
          </a:ln>
        </p:spPr>
      </p:sp>
      <p:sp>
        <p:nvSpPr>
          <p:cNvPr id="36" name="Text 33"/>
          <p:cNvSpPr/>
          <p:nvPr/>
        </p:nvSpPr>
        <p:spPr>
          <a:xfrm>
            <a:off x="502920" y="5020056"/>
            <a:ext cx="64008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23.0</a:t>
            </a:r>
            <a:endParaRPr lang="en-US" sz="1000" dirty="0"/>
          </a:p>
        </p:txBody>
      </p:sp>
      <p:sp>
        <p:nvSpPr>
          <p:cNvPr id="37" name="Shape 34"/>
          <p:cNvSpPr/>
          <p:nvPr/>
        </p:nvSpPr>
        <p:spPr>
          <a:xfrm>
            <a:off x="2715768" y="4087368"/>
            <a:ext cx="329184" cy="182880"/>
          </a:xfrm>
          <a:prstGeom prst="ellipse">
            <a:avLst/>
          </a:prstGeom>
          <a:solidFill>
            <a:srgbClr val="FFFFFF"/>
          </a:solidFill>
          <a:ln w="15875">
            <a:solidFill>
              <a:srgbClr val="2A1F3D"/>
            </a:solidFill>
            <a:prstDash val="solid"/>
          </a:ln>
        </p:spPr>
      </p:sp>
      <p:sp>
        <p:nvSpPr>
          <p:cNvPr id="38" name="Shape 35"/>
          <p:cNvSpPr/>
          <p:nvPr/>
        </p:nvSpPr>
        <p:spPr>
          <a:xfrm>
            <a:off x="2825496" y="4123944"/>
            <a:ext cx="109728" cy="109728"/>
          </a:xfrm>
          <a:prstGeom prst="ellipse">
            <a:avLst/>
          </a:prstGeom>
          <a:solidFill>
            <a:srgbClr val="2A1F3D"/>
          </a:solidFill>
          <a:ln w="9525">
            <a:solidFill>
              <a:srgbClr val="2A1F3D"/>
            </a:solidFill>
            <a:prstDash val="solid"/>
          </a:ln>
        </p:spPr>
      </p:sp>
      <p:sp>
        <p:nvSpPr>
          <p:cNvPr id="39" name="Shape 36"/>
          <p:cNvSpPr/>
          <p:nvPr/>
        </p:nvSpPr>
        <p:spPr>
          <a:xfrm>
            <a:off x="1828800" y="4178808"/>
            <a:ext cx="868680" cy="91"/>
          </a:xfrm>
          <a:prstGeom prst="line">
            <a:avLst/>
          </a:prstGeom>
          <a:noFill/>
          <a:ln w="15875">
            <a:solidFill>
              <a:srgbClr val="C8414C"/>
            </a:solidFill>
            <a:prstDash val="dash"/>
          </a:ln>
        </p:spPr>
      </p:sp>
      <p:sp>
        <p:nvSpPr>
          <p:cNvPr id="40" name="Text 37"/>
          <p:cNvSpPr/>
          <p:nvPr/>
        </p:nvSpPr>
        <p:spPr>
          <a:xfrm>
            <a:off x="3154680" y="3429000"/>
            <a:ext cx="2651760" cy="68580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Eye </a:t>
            </a:r>
            <a:r>
              <a:rPr lang="en-US" sz="1050" b="1" dirty="0">
                <a:solidFill>
                  <a:srgbClr val="262B3A"/>
                </a:solidFill>
                <a:latin typeface="Calibri" pitchFamily="34" charset="0"/>
                <a:ea typeface="Calibri" pitchFamily="34" charset="-122"/>
                <a:cs typeface="Calibri" pitchFamily="34" charset="-120"/>
              </a:rPr>
              <a:t>level</a:t>
            </a:r>
            <a:r>
              <a:rPr lang="en-US" sz="1050" dirty="0">
                <a:solidFill>
                  <a:srgbClr val="262B3A"/>
                </a:solidFill>
                <a:latin typeface="Calibri" pitchFamily="34" charset="0"/>
                <a:ea typeface="Calibri" pitchFamily="34" charset="-122"/>
                <a:cs typeface="Calibri" pitchFamily="34" charset="-120"/>
              </a:rPr>
              <a:t> with the </a:t>
            </a:r>
            <a:r>
              <a:rPr lang="en-US" sz="1050" b="1" dirty="0">
                <a:solidFill>
                  <a:srgbClr val="262B3A"/>
                </a:solidFill>
                <a:latin typeface="Calibri" pitchFamily="34" charset="0"/>
                <a:ea typeface="Calibri" pitchFamily="34" charset="-122"/>
                <a:cs typeface="Calibri" pitchFamily="34" charset="-120"/>
              </a:rPr>
              <a:t>bottom of the meniscus</a:t>
            </a:r>
            <a:r>
              <a:rPr lang="en-US" sz="1050" dirty="0">
                <a:solidFill>
                  <a:srgbClr val="262B3A"/>
                </a:solidFill>
                <a:latin typeface="Calibri" pitchFamily="34" charset="0"/>
                <a:ea typeface="Calibri" pitchFamily="34" charset="-122"/>
                <a:cs typeface="Calibri" pitchFamily="34" charset="-120"/>
              </a:rPr>
              <a:t>. Reading: </a:t>
            </a:r>
            <a:r>
              <a:rPr lang="en-US" sz="1050" b="1" dirty="0">
                <a:solidFill>
                  <a:srgbClr val="262B3A"/>
                </a:solidFill>
                <a:latin typeface="Calibri" pitchFamily="34" charset="0"/>
                <a:ea typeface="Calibri" pitchFamily="34" charset="-122"/>
                <a:cs typeface="Calibri" pitchFamily="34" charset="-120"/>
              </a:rPr>
              <a:t>22.70 cm³</a:t>
            </a:r>
            <a:r>
              <a:rPr lang="en-US" sz="1050" dirty="0">
                <a:solidFill>
                  <a:srgbClr val="262B3A"/>
                </a:solidFill>
                <a:latin typeface="Calibri" pitchFamily="34" charset="0"/>
                <a:ea typeface="Calibri" pitchFamily="34" charset="-122"/>
                <a:cs typeface="Calibri" pitchFamily="34" charset="-120"/>
              </a:rPr>
              <a:t> (trial 3, final).</a:t>
            </a:r>
            <a:endParaRPr lang="en-US" sz="1050" dirty="0"/>
          </a:p>
        </p:txBody>
      </p:sp>
      <p:sp>
        <p:nvSpPr>
          <p:cNvPr id="41" name="Text 38"/>
          <p:cNvSpPr/>
          <p:nvPr/>
        </p:nvSpPr>
        <p:spPr>
          <a:xfrm>
            <a:off x="3154680" y="4343400"/>
            <a:ext cx="2651760" cy="45720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Record to the nearest </a:t>
            </a:r>
            <a:r>
              <a:rPr lang="en-US" sz="1050" b="1" dirty="0">
                <a:solidFill>
                  <a:srgbClr val="262B3A"/>
                </a:solidFill>
                <a:latin typeface="Calibri" pitchFamily="34" charset="0"/>
                <a:ea typeface="Calibri" pitchFamily="34" charset="-122"/>
                <a:cs typeface="Calibri" pitchFamily="34" charset="-120"/>
              </a:rPr>
              <a:t>0.05 cm³</a:t>
            </a:r>
            <a:r>
              <a:rPr lang="en-US" sz="1050" dirty="0">
                <a:solidFill>
                  <a:srgbClr val="262B3A"/>
                </a:solidFill>
                <a:latin typeface="Calibri" pitchFamily="34" charset="0"/>
                <a:ea typeface="Calibri" pitchFamily="34" charset="-122"/>
                <a:cs typeface="Calibri" pitchFamily="34" charset="-120"/>
              </a:rPr>
              <a:t> (two decimal places).</a:t>
            </a:r>
            <a:endParaRPr lang="en-US" sz="1050" dirty="0"/>
          </a:p>
        </p:txBody>
      </p:sp>
      <p:sp>
        <p:nvSpPr>
          <p:cNvPr id="42" name="Shape 39"/>
          <p:cNvSpPr/>
          <p:nvPr/>
        </p:nvSpPr>
        <p:spPr>
          <a:xfrm>
            <a:off x="6217920" y="1188720"/>
            <a:ext cx="5559552" cy="1783080"/>
          </a:xfrm>
          <a:prstGeom prst="roundRect">
            <a:avLst>
              <a:gd name="adj" fmla="val 3077"/>
            </a:avLst>
          </a:prstGeom>
          <a:solidFill>
            <a:srgbClr val="F8F5FC"/>
          </a:solidFill>
          <a:ln w="9525">
            <a:solidFill>
              <a:srgbClr val="DDD3EC"/>
            </a:solidFill>
            <a:prstDash val="solid"/>
          </a:ln>
        </p:spPr>
      </p:sp>
      <p:sp>
        <p:nvSpPr>
          <p:cNvPr id="43" name="Text 40"/>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Using the results</a:t>
            </a:r>
            <a:endParaRPr lang="en-US" sz="1300" dirty="0"/>
          </a:p>
        </p:txBody>
      </p:sp>
      <p:sp>
        <p:nvSpPr>
          <p:cNvPr id="44" name="Text 41"/>
          <p:cNvSpPr/>
          <p:nvPr/>
        </p:nvSpPr>
        <p:spPr>
          <a:xfrm>
            <a:off x="6382512" y="1609344"/>
            <a:ext cx="5230368" cy="128930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Titre</a:t>
            </a:r>
            <a:r>
              <a:rPr lang="en-US" sz="1100" dirty="0">
                <a:solidFill>
                  <a:srgbClr val="262B3A"/>
                </a:solidFill>
                <a:latin typeface="Calibri" pitchFamily="34" charset="0"/>
                <a:ea typeface="Calibri" pitchFamily="34" charset="-122"/>
                <a:cs typeface="Calibri" pitchFamily="34" charset="-120"/>
              </a:rPr>
              <a:t> = final reading − initial reading.</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Ignore the </a:t>
            </a:r>
            <a:r>
              <a:rPr lang="en-US" sz="1100" b="1" dirty="0">
                <a:solidFill>
                  <a:srgbClr val="262B3A"/>
                </a:solidFill>
                <a:latin typeface="Calibri" pitchFamily="34" charset="0"/>
                <a:ea typeface="Calibri" pitchFamily="34" charset="-122"/>
                <a:cs typeface="Calibri" pitchFamily="34" charset="-120"/>
              </a:rPr>
              <a:t>rough</a:t>
            </a:r>
            <a:r>
              <a:rPr lang="en-US" sz="1100" dirty="0">
                <a:solidFill>
                  <a:srgbClr val="262B3A"/>
                </a:solidFill>
                <a:latin typeface="Calibri" pitchFamily="34" charset="0"/>
                <a:ea typeface="Calibri" pitchFamily="34" charset="-122"/>
                <a:cs typeface="Calibri" pitchFamily="34" charset="-120"/>
              </a:rPr>
              <a:t> titre; use </a:t>
            </a:r>
            <a:r>
              <a:rPr lang="en-US" sz="1100" b="1" dirty="0">
                <a:solidFill>
                  <a:srgbClr val="262B3A"/>
                </a:solidFill>
                <a:latin typeface="Calibri" pitchFamily="34" charset="0"/>
                <a:ea typeface="Calibri" pitchFamily="34" charset="-122"/>
                <a:cs typeface="Calibri" pitchFamily="34" charset="-120"/>
              </a:rPr>
              <a:t>concordant</a:t>
            </a:r>
            <a:r>
              <a:rPr lang="en-US" sz="1100" dirty="0">
                <a:solidFill>
                  <a:srgbClr val="262B3A"/>
                </a:solidFill>
                <a:latin typeface="Calibri" pitchFamily="34" charset="0"/>
                <a:ea typeface="Calibri" pitchFamily="34" charset="-122"/>
                <a:cs typeface="Calibri" pitchFamily="34" charset="-120"/>
              </a:rPr>
              <a:t> titres (within 0.10 cm³).</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Mean = (22.45 + 22.35 + 22.40) ÷ 3 = </a:t>
            </a:r>
            <a:r>
              <a:rPr lang="en-US" sz="1100" b="1" dirty="0">
                <a:solidFill>
                  <a:srgbClr val="262B3A"/>
                </a:solidFill>
                <a:latin typeface="Calibri" pitchFamily="34" charset="0"/>
                <a:ea typeface="Calibri" pitchFamily="34" charset="-122"/>
                <a:cs typeface="Calibri" pitchFamily="34" charset="-120"/>
              </a:rPr>
              <a:t>22.40 cm³</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45" name="Shape 42"/>
          <p:cNvSpPr/>
          <p:nvPr/>
        </p:nvSpPr>
        <p:spPr>
          <a:xfrm>
            <a:off x="6217920" y="3108960"/>
            <a:ext cx="5559552" cy="2606040"/>
          </a:xfrm>
          <a:prstGeom prst="roundRect">
            <a:avLst>
              <a:gd name="adj" fmla="val 2105"/>
            </a:avLst>
          </a:prstGeom>
          <a:solidFill>
            <a:srgbClr val="FFF4E0"/>
          </a:solidFill>
          <a:ln w="9525">
            <a:solidFill>
              <a:srgbClr val="F1D9A8"/>
            </a:solidFill>
            <a:prstDash val="solid"/>
          </a:ln>
        </p:spPr>
      </p:sp>
      <p:sp>
        <p:nvSpPr>
          <p:cNvPr id="46" name="Text 43"/>
          <p:cNvSpPr/>
          <p:nvPr/>
        </p:nvSpPr>
        <p:spPr>
          <a:xfrm>
            <a:off x="6382512" y="318211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(HT, chemistry only)</a:t>
            </a:r>
            <a:endParaRPr lang="en-US" sz="1300" dirty="0"/>
          </a:p>
        </p:txBody>
      </p:sp>
      <p:sp>
        <p:nvSpPr>
          <p:cNvPr id="47" name="Text 44"/>
          <p:cNvSpPr/>
          <p:nvPr/>
        </p:nvSpPr>
        <p:spPr>
          <a:xfrm>
            <a:off x="6382512" y="3493008"/>
            <a:ext cx="5230368" cy="214884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25.0 cm³ of NaOH(aq) needs 22.40 cm³ of 0.100 mol dm⁻³ HCl. Find c(NaOH).</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NaOH(aq) + HCl(aq) → NaCl(aq) + H₂O(l)   (1 : 1)</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2 Acid moles   </a:t>
            </a:r>
            <a:r>
              <a:rPr lang="en-US" sz="1100" dirty="0">
                <a:solidFill>
                  <a:srgbClr val="262B3A"/>
                </a:solidFill>
                <a:latin typeface="Calibri" pitchFamily="34" charset="0"/>
                <a:ea typeface="Calibri" pitchFamily="34" charset="-122"/>
                <a:cs typeface="Calibri" pitchFamily="34" charset="-120"/>
              </a:rPr>
              <a:t>n = c × V = 0.100 × 22.40/1000 = 2.24 × 10⁻³ mol</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3 Alkali moles   </a:t>
            </a:r>
            <a:r>
              <a:rPr lang="en-US" sz="1100" dirty="0">
                <a:solidFill>
                  <a:srgbClr val="262B3A"/>
                </a:solidFill>
                <a:latin typeface="Calibri" pitchFamily="34" charset="0"/>
                <a:ea typeface="Calibri" pitchFamily="34" charset="-122"/>
                <a:cs typeface="Calibri" pitchFamily="34" charset="-120"/>
              </a:rPr>
              <a:t>1 : 1, so n(NaOH) = 2.24 × 10⁻³ mol</a:t>
            </a:r>
            <a:endParaRPr lang="en-US" sz="1100" dirty="0"/>
          </a:p>
          <a:p>
            <a:pPr indent="0" marL="0">
              <a:spcBef>
                <a:spcPts val="200"/>
              </a:spcBef>
              <a:buNone/>
            </a:pPr>
            <a:r>
              <a:rPr lang="en-US" sz="1100" b="1" dirty="0">
                <a:solidFill>
                  <a:srgbClr val="6A3FA0"/>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c = n ÷ V = 2.24 × 10⁻³ ÷ 0.0250 = 0.0896 mol dm⁻³</a:t>
            </a:r>
            <a:endParaRPr lang="en-US" sz="1100" dirty="0"/>
          </a:p>
        </p:txBody>
      </p:sp>
      <p:sp>
        <p:nvSpPr>
          <p:cNvPr id="48" name="Shape 45"/>
          <p:cNvSpPr/>
          <p:nvPr/>
        </p:nvSpPr>
        <p:spPr>
          <a:xfrm>
            <a:off x="411480" y="5833872"/>
            <a:ext cx="11368735" cy="530352"/>
          </a:xfrm>
          <a:prstGeom prst="rect">
            <a:avLst/>
          </a:prstGeom>
          <a:solidFill>
            <a:srgbClr val="FFF4E0"/>
          </a:solidFill>
          <a:ln w="6350">
            <a:solidFill>
              <a:srgbClr val="F1D9A8"/>
            </a:solidFill>
            <a:prstDash val="solid"/>
          </a:ln>
        </p:spPr>
      </p:sp>
      <p:sp>
        <p:nvSpPr>
          <p:cNvPr id="49" name="Shape 46"/>
          <p:cNvSpPr/>
          <p:nvPr/>
        </p:nvSpPr>
        <p:spPr>
          <a:xfrm>
            <a:off x="411480" y="5833872"/>
            <a:ext cx="82296" cy="530352"/>
          </a:xfrm>
          <a:prstGeom prst="rect">
            <a:avLst/>
          </a:prstGeom>
          <a:solidFill>
            <a:srgbClr val="E39A2F"/>
          </a:solidFill>
          <a:ln w="12700">
            <a:solidFill>
              <a:srgbClr val="E39A2F"/>
            </a:solidFill>
            <a:prstDash val="solid"/>
          </a:ln>
        </p:spPr>
      </p:sp>
      <p:sp>
        <p:nvSpPr>
          <p:cNvPr id="50" name="Text 4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titre is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used to calculate the mean, and why? A student reads the </a:t>
            </a:r>
            <a:r>
              <a:rPr lang="en-US" sz="1150" b="1" dirty="0">
                <a:solidFill>
                  <a:srgbClr val="262B3A"/>
                </a:solidFill>
                <a:latin typeface="Calibri" pitchFamily="34" charset="0"/>
                <a:ea typeface="Calibri" pitchFamily="34" charset="-122"/>
                <a:cs typeface="Calibri" pitchFamily="34" charset="-120"/>
              </a:rPr>
              <a:t>top</a:t>
            </a:r>
            <a:r>
              <a:rPr lang="en-US" sz="1150" dirty="0">
                <a:solidFill>
                  <a:srgbClr val="262B3A"/>
                </a:solidFill>
                <a:latin typeface="Calibri" pitchFamily="34" charset="0"/>
                <a:ea typeface="Calibri" pitchFamily="34" charset="-122"/>
                <a:cs typeface="Calibri" pitchFamily="34" charset="-120"/>
              </a:rPr>
              <a:t> of the meniscus every time: is this a random or a systematic error?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3.15–3.18 and CP 3.17 • making soluble salts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23</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Copper oxide is added to warm sulfuric acid until it is in </a:t>
            </a:r>
            <a:r>
              <a:rPr lang="en-US" sz="1250" b="1" dirty="0">
                <a:solidFill>
                  <a:srgbClr val="262B3A"/>
                </a:solidFill>
                <a:latin typeface="Calibri" pitchFamily="34" charset="0"/>
                <a:ea typeface="Calibri" pitchFamily="34" charset="-122"/>
                <a:cs typeface="Calibri" pitchFamily="34" charset="-120"/>
              </a:rPr>
              <a:t>excess</a:t>
            </a:r>
            <a:r>
              <a:rPr lang="en-US" sz="1250" dirty="0">
                <a:solidFill>
                  <a:srgbClr val="262B3A"/>
                </a:solidFill>
                <a:latin typeface="Calibri" pitchFamily="34" charset="0"/>
                <a:ea typeface="Calibri" pitchFamily="34" charset="-122"/>
                <a:cs typeface="Calibri" pitchFamily="34" charset="-120"/>
              </a:rPr>
              <a:t>. Explain why an excess is used and how the excess is removed.</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copper sulfate solution is heated in a </a:t>
            </a:r>
            <a:r>
              <a:rPr lang="en-US" sz="1250" b="1" dirty="0">
                <a:solidFill>
                  <a:srgbClr val="262B3A"/>
                </a:solidFill>
                <a:latin typeface="Calibri" pitchFamily="34" charset="0"/>
                <a:ea typeface="Calibri" pitchFamily="34" charset="-122"/>
                <a:cs typeface="Calibri" pitchFamily="34" charset="-120"/>
              </a:rPr>
              <a:t>water bath</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not</a:t>
            </a:r>
            <a:r>
              <a:rPr lang="en-US" sz="1250" dirty="0">
                <a:solidFill>
                  <a:srgbClr val="262B3A"/>
                </a:solidFill>
                <a:latin typeface="Calibri" pitchFamily="34" charset="0"/>
                <a:ea typeface="Calibri" pitchFamily="34" charset="-122"/>
                <a:cs typeface="Calibri" pitchFamily="34" charset="-120"/>
              </a:rPr>
              <a:t> evaporated to dryness.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Titres: 24.70 cm³ (rough), 24.15 cm³, 24.25 cm³, 24.60 cm³. Identify the </a:t>
            </a:r>
            <a:r>
              <a:rPr lang="en-US" sz="1250" b="1" dirty="0">
                <a:solidFill>
                  <a:srgbClr val="262B3A"/>
                </a:solidFill>
                <a:latin typeface="Calibri" pitchFamily="34" charset="0"/>
                <a:ea typeface="Calibri" pitchFamily="34" charset="-122"/>
                <a:cs typeface="Calibri" pitchFamily="34" charset="-120"/>
              </a:rPr>
              <a:t>concordant</a:t>
            </a:r>
            <a:r>
              <a:rPr lang="en-US" sz="1250" dirty="0">
                <a:solidFill>
                  <a:srgbClr val="262B3A"/>
                </a:solidFill>
                <a:latin typeface="Calibri" pitchFamily="34" charset="0"/>
                <a:ea typeface="Calibri" pitchFamily="34" charset="-122"/>
                <a:cs typeface="Calibri" pitchFamily="34" charset="-120"/>
              </a:rPr>
              <a:t> titres and calculate the mean titre.</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Shape 24"/>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27" name="Text 25"/>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8" name="Text 26"/>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25.0 cm³ of potassium hydroxide solution is neutralised by 20.00 cm³ of 0.150 mol dm⁻³ nitric acid. Calculate the concentration of the potassium hydroxide (chemistry only).</a:t>
            </a:r>
            <a:endParaRPr lang="en-US" sz="1250" dirty="0"/>
          </a:p>
        </p:txBody>
      </p:sp>
      <p:sp>
        <p:nvSpPr>
          <p:cNvPr id="29" name="Text 27"/>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Solubility rules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3.19 • which salts, carbonates and hydroxides dissolve in water?</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3.19  |  24</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green = soluble; orange = insoluble (forms a precipitate)</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94360" y="1325880"/>
          <a:ext cx="5212080" cy="914400"/>
        </p:xfrm>
        <a:graphic>
          <a:graphicData uri="http://schemas.openxmlformats.org/drawingml/2006/table">
            <a:tbl>
              <a:tblPr/>
              <a:tblGrid>
                <a:gridCol w="914400"/>
                <a:gridCol w="859536"/>
                <a:gridCol w="859536"/>
                <a:gridCol w="859536"/>
                <a:gridCol w="859536"/>
                <a:gridCol w="859536"/>
              </a:tblGrid>
              <a:tr h="42976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ion</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NO₃⁻</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Cl⁻</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SO₄²⁻</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CO₃²⁻</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OH⁻</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A1F3D"/>
                    </a:solidFill>
                  </a:tcPr>
                </a:tc>
              </a:tr>
              <a:tr h="42976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r>
              <a:tr h="42976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K⁺</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r>
              <a:tr h="42976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NH₄⁺</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r>
              <a:tr h="42976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Ca²⁺</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b="1" dirty="0">
                          <a:solidFill>
                            <a:srgbClr val="9A4A0A"/>
                          </a:solidFill>
                          <a:latin typeface="Calibri" pitchFamily="34" charset="0"/>
                          <a:ea typeface="Calibri" pitchFamily="34" charset="-122"/>
                          <a:cs typeface="Calibri" pitchFamily="34" charset="-120"/>
                        </a:rPr>
                        <a:t>insoluble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D5B5"/>
                    </a:solidFill>
                  </a:tcPr>
                </a:tc>
                <a:tc>
                  <a:txBody>
                    <a:bodyPr/>
                    <a:lstStyle/>
                    <a:p>
                      <a:pPr algn="ctr" indent="0" marL="0">
                        <a:buNone/>
                      </a:pPr>
                      <a:r>
                        <a:rPr lang="en-US" sz="1050" b="1" dirty="0">
                          <a:solidFill>
                            <a:srgbClr val="9A4A0A"/>
                          </a:solidFill>
                          <a:latin typeface="Calibri" pitchFamily="34" charset="0"/>
                          <a:ea typeface="Calibri" pitchFamily="34" charset="-122"/>
                          <a:cs typeface="Calibri" pitchFamily="34" charset="-120"/>
                        </a:rPr>
                        <a:t>insoluble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D5B5"/>
                    </a:solidFill>
                  </a:tcPr>
                </a:tc>
                <a:tc>
                  <a:txBody>
                    <a:bodyPr/>
                    <a:lstStyle/>
                    <a:p>
                      <a:pPr algn="ctr" indent="0" marL="0">
                        <a:buNone/>
                      </a:pPr>
                      <a:r>
                        <a:rPr lang="en-US" sz="1050" b="1" dirty="0">
                          <a:solidFill>
                            <a:srgbClr val="9A4A0A"/>
                          </a:solidFill>
                          <a:latin typeface="Calibri" pitchFamily="34" charset="0"/>
                          <a:ea typeface="Calibri" pitchFamily="34" charset="-122"/>
                          <a:cs typeface="Calibri" pitchFamily="34" charset="-120"/>
                        </a:rPr>
                        <a:t>insoluble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D5B5"/>
                    </a:solidFill>
                  </a:tcPr>
                </a:tc>
              </a:tr>
              <a:tr h="42976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Ba²⁺</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b="1" dirty="0">
                          <a:solidFill>
                            <a:srgbClr val="9A4A0A"/>
                          </a:solidFill>
                          <a:latin typeface="Calibri" pitchFamily="34" charset="0"/>
                          <a:ea typeface="Calibri" pitchFamily="34" charset="-122"/>
                          <a:cs typeface="Calibri" pitchFamily="34" charset="-120"/>
                        </a:rPr>
                        <a:t>insoluble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D5B5"/>
                    </a:solidFill>
                  </a:tcPr>
                </a:tc>
                <a:tc>
                  <a:txBody>
                    <a:bodyPr/>
                    <a:lstStyle/>
                    <a:p>
                      <a:pPr algn="ctr" indent="0" marL="0">
                        <a:buNone/>
                      </a:pPr>
                      <a:r>
                        <a:rPr lang="en-US" sz="1050" b="1" dirty="0">
                          <a:solidFill>
                            <a:srgbClr val="9A4A0A"/>
                          </a:solidFill>
                          <a:latin typeface="Calibri" pitchFamily="34" charset="0"/>
                          <a:ea typeface="Calibri" pitchFamily="34" charset="-122"/>
                          <a:cs typeface="Calibri" pitchFamily="34" charset="-120"/>
                        </a:rPr>
                        <a:t>insoluble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D5B5"/>
                    </a:solidFill>
                  </a:tcPr>
                </a:tc>
                <a:tc>
                  <a:txBody>
                    <a:bodyPr/>
                    <a:lstStyle/>
                    <a:p>
                      <a:pPr algn="ctr" indent="0" marL="0">
                        <a:buNone/>
                      </a:pPr>
                      <a:r>
                        <a:rPr lang="en-US" sz="1050" b="1" dirty="0">
                          <a:solidFill>
                            <a:srgbClr val="9A4A0A"/>
                          </a:solidFill>
                          <a:latin typeface="Calibri" pitchFamily="34" charset="0"/>
                          <a:ea typeface="Calibri" pitchFamily="34" charset="-122"/>
                          <a:cs typeface="Calibri" pitchFamily="34" charset="-120"/>
                        </a:rPr>
                        <a:t>insoluble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D5B5"/>
                    </a:solidFill>
                  </a:tcPr>
                </a:tc>
              </a:tr>
              <a:tr h="42976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Pb²⁺</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b="1" dirty="0">
                          <a:solidFill>
                            <a:srgbClr val="9A4A0A"/>
                          </a:solidFill>
                          <a:latin typeface="Calibri" pitchFamily="34" charset="0"/>
                          <a:ea typeface="Calibri" pitchFamily="34" charset="-122"/>
                          <a:cs typeface="Calibri" pitchFamily="34" charset="-120"/>
                        </a:rPr>
                        <a:t>insoluble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D5B5"/>
                    </a:solidFill>
                  </a:tcPr>
                </a:tc>
                <a:tc>
                  <a:txBody>
                    <a:bodyPr/>
                    <a:lstStyle/>
                    <a:p>
                      <a:pPr algn="ctr" indent="0" marL="0">
                        <a:buNone/>
                      </a:pPr>
                      <a:r>
                        <a:rPr lang="en-US" sz="1050" b="1" dirty="0">
                          <a:solidFill>
                            <a:srgbClr val="9A4A0A"/>
                          </a:solidFill>
                          <a:latin typeface="Calibri" pitchFamily="34" charset="0"/>
                          <a:ea typeface="Calibri" pitchFamily="34" charset="-122"/>
                          <a:cs typeface="Calibri" pitchFamily="34" charset="-120"/>
                        </a:rPr>
                        <a:t>insoluble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D5B5"/>
                    </a:solidFill>
                  </a:tcPr>
                </a:tc>
                <a:tc>
                  <a:txBody>
                    <a:bodyPr/>
                    <a:lstStyle/>
                    <a:p>
                      <a:pPr algn="ctr" indent="0" marL="0">
                        <a:buNone/>
                      </a:pPr>
                      <a:r>
                        <a:rPr lang="en-US" sz="1050" b="1" dirty="0">
                          <a:solidFill>
                            <a:srgbClr val="9A4A0A"/>
                          </a:solidFill>
                          <a:latin typeface="Calibri" pitchFamily="34" charset="0"/>
                          <a:ea typeface="Calibri" pitchFamily="34" charset="-122"/>
                          <a:cs typeface="Calibri" pitchFamily="34" charset="-120"/>
                        </a:rPr>
                        <a:t>insoluble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D5B5"/>
                    </a:solidFill>
                  </a:tcPr>
                </a:tc>
                <a:tc>
                  <a:txBody>
                    <a:bodyPr/>
                    <a:lstStyle/>
                    <a:p>
                      <a:pPr algn="ctr" indent="0" marL="0">
                        <a:buNone/>
                      </a:pPr>
                      <a:r>
                        <a:rPr lang="en-US" sz="1050" b="1" dirty="0">
                          <a:solidFill>
                            <a:srgbClr val="9A4A0A"/>
                          </a:solidFill>
                          <a:latin typeface="Calibri" pitchFamily="34" charset="0"/>
                          <a:ea typeface="Calibri" pitchFamily="34" charset="-122"/>
                          <a:cs typeface="Calibri" pitchFamily="34" charset="-120"/>
                        </a:rPr>
                        <a:t>insoluble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D5B5"/>
                    </a:solidFill>
                  </a:tcPr>
                </a:tc>
              </a:tr>
              <a:tr h="42976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Ag⁺</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b="1" dirty="0">
                          <a:solidFill>
                            <a:srgbClr val="9A4A0A"/>
                          </a:solidFill>
                          <a:latin typeface="Calibri" pitchFamily="34" charset="0"/>
                          <a:ea typeface="Calibri" pitchFamily="34" charset="-122"/>
                          <a:cs typeface="Calibri" pitchFamily="34" charset="-120"/>
                        </a:rPr>
                        <a:t>insoluble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D5B5"/>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b="1" dirty="0">
                          <a:solidFill>
                            <a:srgbClr val="9A4A0A"/>
                          </a:solidFill>
                          <a:latin typeface="Calibri" pitchFamily="34" charset="0"/>
                          <a:ea typeface="Calibri" pitchFamily="34" charset="-122"/>
                          <a:cs typeface="Calibri" pitchFamily="34" charset="-120"/>
                        </a:rPr>
                        <a:t>insoluble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D5B5"/>
                    </a:solidFill>
                  </a:tcPr>
                </a:tc>
                <a:tc>
                  <a:txBody>
                    <a:bodyPr/>
                    <a:lstStyle/>
                    <a:p>
                      <a:pPr algn="ctr" indent="0" marL="0">
                        <a:buNone/>
                      </a:pPr>
                      <a:r>
                        <a:rPr lang="en-US" sz="1050" b="1" dirty="0">
                          <a:solidFill>
                            <a:srgbClr val="9A4A0A"/>
                          </a:solidFill>
                          <a:latin typeface="Calibri" pitchFamily="34" charset="0"/>
                          <a:ea typeface="Calibri" pitchFamily="34" charset="-122"/>
                          <a:cs typeface="Calibri" pitchFamily="34" charset="-120"/>
                        </a:rPr>
                        <a:t>insoluble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D5B5"/>
                    </a:solidFill>
                  </a:tcPr>
                </a:tc>
              </a:tr>
              <a:tr h="42976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Cu²⁺</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dirty="0">
                          <a:solidFill>
                            <a:srgbClr val="1E6B40"/>
                          </a:solidFill>
                          <a:latin typeface="Calibri" pitchFamily="34" charset="0"/>
                          <a:ea typeface="Calibri" pitchFamily="34" charset="-122"/>
                          <a:cs typeface="Calibri" pitchFamily="34" charset="-120"/>
                        </a:rPr>
                        <a:t>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8EFD9"/>
                    </a:solidFill>
                  </a:tcPr>
                </a:tc>
                <a:tc>
                  <a:txBody>
                    <a:bodyPr/>
                    <a:lstStyle/>
                    <a:p>
                      <a:pPr algn="ctr" indent="0" marL="0">
                        <a:buNone/>
                      </a:pPr>
                      <a:r>
                        <a:rPr lang="en-US" sz="1050" b="1" dirty="0">
                          <a:solidFill>
                            <a:srgbClr val="9A4A0A"/>
                          </a:solidFill>
                          <a:latin typeface="Calibri" pitchFamily="34" charset="0"/>
                          <a:ea typeface="Calibri" pitchFamily="34" charset="-122"/>
                          <a:cs typeface="Calibri" pitchFamily="34" charset="-120"/>
                        </a:rPr>
                        <a:t>insoluble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D5B5"/>
                    </a:solidFill>
                  </a:tcPr>
                </a:tc>
                <a:tc>
                  <a:txBody>
                    <a:bodyPr/>
                    <a:lstStyle/>
                    <a:p>
                      <a:pPr algn="ctr" indent="0" marL="0">
                        <a:buNone/>
                      </a:pPr>
                      <a:r>
                        <a:rPr lang="en-US" sz="1050" b="1" dirty="0">
                          <a:solidFill>
                            <a:srgbClr val="9A4A0A"/>
                          </a:solidFill>
                          <a:latin typeface="Calibri" pitchFamily="34" charset="0"/>
                          <a:ea typeface="Calibri" pitchFamily="34" charset="-122"/>
                          <a:cs typeface="Calibri" pitchFamily="34" charset="-120"/>
                        </a:rPr>
                        <a:t>insoluble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D5B5"/>
                    </a:solidFill>
                  </a:tcPr>
                </a:tc>
              </a:tr>
            </a:tbl>
          </a:graphicData>
        </a:graphic>
      </p:graphicFrame>
      <p:sp>
        <p:nvSpPr>
          <p:cNvPr id="11" name="Text 8"/>
          <p:cNvSpPr/>
          <p:nvPr/>
        </p:nvSpPr>
        <p:spPr>
          <a:xfrm>
            <a:off x="594360" y="5212080"/>
            <a:ext cx="521208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Calcium hydroxide is only </a:t>
            </a:r>
            <a:r>
              <a:rPr lang="en-US" sz="1000" b="1" i="1" dirty="0">
                <a:solidFill>
                  <a:srgbClr val="6B7385"/>
                </a:solidFill>
                <a:latin typeface="Calibri" pitchFamily="34" charset="0"/>
                <a:ea typeface="Calibri" pitchFamily="34" charset="-122"/>
                <a:cs typeface="Calibri" pitchFamily="34" charset="-120"/>
              </a:rPr>
              <a:t>slightly</a:t>
            </a:r>
            <a:r>
              <a:rPr lang="en-US" sz="1000" i="1" dirty="0">
                <a:solidFill>
                  <a:srgbClr val="6B7385"/>
                </a:solidFill>
                <a:latin typeface="Calibri" pitchFamily="34" charset="0"/>
                <a:ea typeface="Calibri" pitchFamily="34" charset="-122"/>
                <a:cs typeface="Calibri" pitchFamily="34" charset="-120"/>
              </a:rPr>
              <a:t> soluble (limewater is a dilute solution).</a:t>
            </a:r>
            <a:endParaRPr lang="en-US" sz="1000" dirty="0"/>
          </a:p>
        </p:txBody>
      </p:sp>
      <p:sp>
        <p:nvSpPr>
          <p:cNvPr id="12" name="Shape 9"/>
          <p:cNvSpPr/>
          <p:nvPr/>
        </p:nvSpPr>
        <p:spPr>
          <a:xfrm>
            <a:off x="6217920" y="1188720"/>
            <a:ext cx="5562295" cy="2377440"/>
          </a:xfrm>
          <a:prstGeom prst="roundRect">
            <a:avLst>
              <a:gd name="adj" fmla="val 2308"/>
            </a:avLst>
          </a:prstGeom>
          <a:solidFill>
            <a:srgbClr val="F8F5FC"/>
          </a:solidFill>
          <a:ln w="9525">
            <a:solidFill>
              <a:srgbClr val="DDD3EC"/>
            </a:solidFill>
            <a:prstDash val="solid"/>
          </a:ln>
        </p:spPr>
      </p:sp>
      <p:sp>
        <p:nvSpPr>
          <p:cNvPr id="13" name="Text 1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The rules (learn these)</a:t>
            </a:r>
            <a:endParaRPr lang="en-US" sz="1300" dirty="0"/>
          </a:p>
        </p:txBody>
      </p:sp>
      <p:sp>
        <p:nvSpPr>
          <p:cNvPr id="14" name="Text 11"/>
          <p:cNvSpPr/>
          <p:nvPr/>
        </p:nvSpPr>
        <p:spPr>
          <a:xfrm>
            <a:off x="6382512" y="1609344"/>
            <a:ext cx="5233111" cy="188366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a</a:t>
            </a:r>
            <a:r>
              <a:rPr lang="en-US" sz="1100" dirty="0">
                <a:solidFill>
                  <a:srgbClr val="262B3A"/>
                </a:solidFill>
                <a:latin typeface="Calibri" pitchFamily="34" charset="0"/>
                <a:ea typeface="Calibri" pitchFamily="34" charset="-122"/>
                <a:cs typeface="Calibri" pitchFamily="34" charset="-120"/>
              </a:rPr>
              <a:t> All common </a:t>
            </a:r>
            <a:r>
              <a:rPr lang="en-US" sz="1100" b="1" dirty="0">
                <a:solidFill>
                  <a:srgbClr val="262B3A"/>
                </a:solidFill>
                <a:latin typeface="Calibri" pitchFamily="34" charset="0"/>
                <a:ea typeface="Calibri" pitchFamily="34" charset="-122"/>
                <a:cs typeface="Calibri" pitchFamily="34" charset="-120"/>
              </a:rPr>
              <a:t>sodium, potassium and ammonium</a:t>
            </a:r>
            <a:r>
              <a:rPr lang="en-US" sz="1100" dirty="0">
                <a:solidFill>
                  <a:srgbClr val="262B3A"/>
                </a:solidFill>
                <a:latin typeface="Calibri" pitchFamily="34" charset="0"/>
                <a:ea typeface="Calibri" pitchFamily="34" charset="-122"/>
                <a:cs typeface="Calibri" pitchFamily="34" charset="-120"/>
              </a:rPr>
              <a:t> salts are </a:t>
            </a:r>
            <a:r>
              <a:rPr lang="en-US" sz="1100" b="1" dirty="0">
                <a:solidFill>
                  <a:srgbClr val="262B3A"/>
                </a:solidFill>
                <a:latin typeface="Calibri" pitchFamily="34" charset="0"/>
                <a:ea typeface="Calibri" pitchFamily="34" charset="-122"/>
                <a:cs typeface="Calibri" pitchFamily="34" charset="-120"/>
              </a:rPr>
              <a:t>soluble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b</a:t>
            </a:r>
            <a:r>
              <a:rPr lang="en-US" sz="1100" dirty="0">
                <a:solidFill>
                  <a:srgbClr val="262B3A"/>
                </a:solidFill>
                <a:latin typeface="Calibri" pitchFamily="34" charset="0"/>
                <a:ea typeface="Calibri" pitchFamily="34" charset="-122"/>
                <a:cs typeface="Calibri" pitchFamily="34" charset="-120"/>
              </a:rPr>
              <a:t> All </a:t>
            </a:r>
            <a:r>
              <a:rPr lang="en-US" sz="1100" b="1" dirty="0">
                <a:solidFill>
                  <a:srgbClr val="262B3A"/>
                </a:solidFill>
                <a:latin typeface="Calibri" pitchFamily="34" charset="0"/>
                <a:ea typeface="Calibri" pitchFamily="34" charset="-122"/>
                <a:cs typeface="Calibri" pitchFamily="34" charset="-120"/>
              </a:rPr>
              <a:t>nitrates</a:t>
            </a:r>
            <a:r>
              <a:rPr lang="en-US" sz="1100" dirty="0">
                <a:solidFill>
                  <a:srgbClr val="262B3A"/>
                </a:solidFill>
                <a:latin typeface="Calibri" pitchFamily="34" charset="0"/>
                <a:ea typeface="Calibri" pitchFamily="34" charset="-122"/>
                <a:cs typeface="Calibri" pitchFamily="34" charset="-120"/>
              </a:rPr>
              <a:t> are </a:t>
            </a:r>
            <a:r>
              <a:rPr lang="en-US" sz="1100" b="1" dirty="0">
                <a:solidFill>
                  <a:srgbClr val="262B3A"/>
                </a:solidFill>
                <a:latin typeface="Calibri" pitchFamily="34" charset="0"/>
                <a:ea typeface="Calibri" pitchFamily="34" charset="-122"/>
                <a:cs typeface="Calibri" pitchFamily="34" charset="-120"/>
              </a:rPr>
              <a:t>soluble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a:t>
            </a:r>
            <a:r>
              <a:rPr lang="en-US" sz="1100" dirty="0">
                <a:solidFill>
                  <a:srgbClr val="262B3A"/>
                </a:solidFill>
                <a:latin typeface="Calibri" pitchFamily="34" charset="0"/>
                <a:ea typeface="Calibri" pitchFamily="34" charset="-122"/>
                <a:cs typeface="Calibri" pitchFamily="34" charset="-120"/>
              </a:rPr>
              <a:t> Common </a:t>
            </a:r>
            <a:r>
              <a:rPr lang="en-US" sz="1100" b="1" dirty="0">
                <a:solidFill>
                  <a:srgbClr val="262B3A"/>
                </a:solidFill>
                <a:latin typeface="Calibri" pitchFamily="34" charset="0"/>
                <a:ea typeface="Calibri" pitchFamily="34" charset="-122"/>
                <a:cs typeface="Calibri" pitchFamily="34" charset="-120"/>
              </a:rPr>
              <a:t>chlorides</a:t>
            </a:r>
            <a:r>
              <a:rPr lang="en-US" sz="1100" dirty="0">
                <a:solidFill>
                  <a:srgbClr val="262B3A"/>
                </a:solidFill>
                <a:latin typeface="Calibri" pitchFamily="34" charset="0"/>
                <a:ea typeface="Calibri" pitchFamily="34" charset="-122"/>
                <a:cs typeface="Calibri" pitchFamily="34" charset="-120"/>
              </a:rPr>
              <a:t> are soluble </a:t>
            </a:r>
            <a:r>
              <a:rPr lang="en-US" sz="1100" b="1" dirty="0">
                <a:solidFill>
                  <a:srgbClr val="262B3A"/>
                </a:solidFill>
                <a:latin typeface="Calibri" pitchFamily="34" charset="0"/>
                <a:ea typeface="Calibri" pitchFamily="34" charset="-122"/>
                <a:cs typeface="Calibri" pitchFamily="34" charset="-120"/>
              </a:rPr>
              <a:t>except silver and lead</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d</a:t>
            </a:r>
            <a:r>
              <a:rPr lang="en-US" sz="1100" dirty="0">
                <a:solidFill>
                  <a:srgbClr val="262B3A"/>
                </a:solidFill>
                <a:latin typeface="Calibri" pitchFamily="34" charset="0"/>
                <a:ea typeface="Calibri" pitchFamily="34" charset="-122"/>
                <a:cs typeface="Calibri" pitchFamily="34" charset="-120"/>
              </a:rPr>
              <a:t> Common </a:t>
            </a:r>
            <a:r>
              <a:rPr lang="en-US" sz="1100" b="1" dirty="0">
                <a:solidFill>
                  <a:srgbClr val="262B3A"/>
                </a:solidFill>
                <a:latin typeface="Calibri" pitchFamily="34" charset="0"/>
                <a:ea typeface="Calibri" pitchFamily="34" charset="-122"/>
                <a:cs typeface="Calibri" pitchFamily="34" charset="-120"/>
              </a:rPr>
              <a:t>sulfates</a:t>
            </a:r>
            <a:r>
              <a:rPr lang="en-US" sz="1100" dirty="0">
                <a:solidFill>
                  <a:srgbClr val="262B3A"/>
                </a:solidFill>
                <a:latin typeface="Calibri" pitchFamily="34" charset="0"/>
                <a:ea typeface="Calibri" pitchFamily="34" charset="-122"/>
                <a:cs typeface="Calibri" pitchFamily="34" charset="-120"/>
              </a:rPr>
              <a:t> are soluble </a:t>
            </a:r>
            <a:r>
              <a:rPr lang="en-US" sz="1100" b="1" dirty="0">
                <a:solidFill>
                  <a:srgbClr val="262B3A"/>
                </a:solidFill>
                <a:latin typeface="Calibri" pitchFamily="34" charset="0"/>
                <a:ea typeface="Calibri" pitchFamily="34" charset="-122"/>
                <a:cs typeface="Calibri" pitchFamily="34" charset="-120"/>
              </a:rPr>
              <a:t>except lead, barium and calcium</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e</a:t>
            </a:r>
            <a:r>
              <a:rPr lang="en-US" sz="1100" dirty="0">
                <a:solidFill>
                  <a:srgbClr val="262B3A"/>
                </a:solidFill>
                <a:latin typeface="Calibri" pitchFamily="34" charset="0"/>
                <a:ea typeface="Calibri" pitchFamily="34" charset="-122"/>
                <a:cs typeface="Calibri" pitchFamily="34" charset="-120"/>
              </a:rPr>
              <a:t> Common </a:t>
            </a:r>
            <a:r>
              <a:rPr lang="en-US" sz="1100" b="1" dirty="0">
                <a:solidFill>
                  <a:srgbClr val="262B3A"/>
                </a:solidFill>
                <a:latin typeface="Calibri" pitchFamily="34" charset="0"/>
                <a:ea typeface="Calibri" pitchFamily="34" charset="-122"/>
                <a:cs typeface="Calibri" pitchFamily="34" charset="-120"/>
              </a:rPr>
              <a:t>carbonates and hydroxides</a:t>
            </a:r>
            <a:r>
              <a:rPr lang="en-US" sz="1100" dirty="0">
                <a:solidFill>
                  <a:srgbClr val="262B3A"/>
                </a:solidFill>
                <a:latin typeface="Calibri" pitchFamily="34" charset="0"/>
                <a:ea typeface="Calibri" pitchFamily="34" charset="-122"/>
                <a:cs typeface="Calibri" pitchFamily="34" charset="-120"/>
              </a:rPr>
              <a:t> are </a:t>
            </a:r>
            <a:r>
              <a:rPr lang="en-US" sz="1100" b="1" dirty="0">
                <a:solidFill>
                  <a:srgbClr val="262B3A"/>
                </a:solidFill>
                <a:latin typeface="Calibri" pitchFamily="34" charset="0"/>
                <a:ea typeface="Calibri" pitchFamily="34" charset="-122"/>
                <a:cs typeface="Calibri" pitchFamily="34" charset="-120"/>
              </a:rPr>
              <a:t>insoluble</a:t>
            </a:r>
            <a:r>
              <a:rPr lang="en-US" sz="1100" dirty="0">
                <a:solidFill>
                  <a:srgbClr val="262B3A"/>
                </a:solidFill>
                <a:latin typeface="Calibri" pitchFamily="34" charset="0"/>
                <a:ea typeface="Calibri" pitchFamily="34" charset="-122"/>
                <a:cs typeface="Calibri" pitchFamily="34" charset="-120"/>
              </a:rPr>
              <a:t> except sodium, potassium and ammonium.</a:t>
            </a:r>
            <a:endParaRPr lang="en-US" sz="1100" dirty="0"/>
          </a:p>
        </p:txBody>
      </p:sp>
      <p:sp>
        <p:nvSpPr>
          <p:cNvPr id="15" name="Shape 12"/>
          <p:cNvSpPr/>
          <p:nvPr/>
        </p:nvSpPr>
        <p:spPr>
          <a:xfrm>
            <a:off x="6217920" y="3703320"/>
            <a:ext cx="5562295" cy="2011680"/>
          </a:xfrm>
          <a:prstGeom prst="roundRect">
            <a:avLst>
              <a:gd name="adj" fmla="val 2727"/>
            </a:avLst>
          </a:prstGeom>
          <a:solidFill>
            <a:srgbClr val="FFF4E0"/>
          </a:solidFill>
          <a:ln w="9525">
            <a:solidFill>
              <a:srgbClr val="F1D9A8"/>
            </a:solidFill>
            <a:prstDash val="solid"/>
          </a:ln>
        </p:spPr>
      </p:sp>
      <p:sp>
        <p:nvSpPr>
          <p:cNvPr id="16" name="Text 13"/>
          <p:cNvSpPr/>
          <p:nvPr/>
        </p:nvSpPr>
        <p:spPr>
          <a:xfrm>
            <a:off x="6382512" y="377647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Predicting a precipitate (3.20)</a:t>
            </a:r>
            <a:endParaRPr lang="en-US" sz="1300" dirty="0"/>
          </a:p>
        </p:txBody>
      </p:sp>
      <p:sp>
        <p:nvSpPr>
          <p:cNvPr id="17" name="Text 14"/>
          <p:cNvSpPr/>
          <p:nvPr/>
        </p:nvSpPr>
        <p:spPr>
          <a:xfrm>
            <a:off x="6382512" y="4087368"/>
            <a:ext cx="5233111" cy="15544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Swap partners, then check each new compound.</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AgNO₃ + NaCl   </a:t>
            </a:r>
            <a:r>
              <a:rPr lang="en-US" sz="1050" dirty="0">
                <a:solidFill>
                  <a:srgbClr val="262B3A"/>
                </a:solidFill>
                <a:latin typeface="Calibri" pitchFamily="34" charset="0"/>
                <a:ea typeface="Calibri" pitchFamily="34" charset="-122"/>
                <a:cs typeface="Calibri" pitchFamily="34" charset="-120"/>
              </a:rPr>
              <a:t>AgCl is insoluble → white precipitate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CuSO₄ + NaOH   </a:t>
            </a:r>
            <a:r>
              <a:rPr lang="en-US" sz="1050" dirty="0">
                <a:solidFill>
                  <a:srgbClr val="262B3A"/>
                </a:solidFill>
                <a:latin typeface="Calibri" pitchFamily="34" charset="0"/>
                <a:ea typeface="Calibri" pitchFamily="34" charset="-122"/>
                <a:cs typeface="Calibri" pitchFamily="34" charset="-120"/>
              </a:rPr>
              <a:t>Cu(OH)₂ is insoluble → blue precipitate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NaCl + KNO₃   </a:t>
            </a:r>
            <a:r>
              <a:rPr lang="en-US" sz="1050" dirty="0">
                <a:solidFill>
                  <a:srgbClr val="262B3A"/>
                </a:solidFill>
                <a:latin typeface="Calibri" pitchFamily="34" charset="0"/>
                <a:ea typeface="Calibri" pitchFamily="34" charset="-122"/>
                <a:cs typeface="Calibri" pitchFamily="34" charset="-120"/>
              </a:rPr>
              <a:t>NaNO₃ and KCl both soluble → no precipitate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a precipitate forms only if a product is insoluble</a:t>
            </a:r>
            <a:endParaRPr lang="en-US" sz="1050" dirty="0"/>
          </a:p>
        </p:txBody>
      </p:sp>
      <p:sp>
        <p:nvSpPr>
          <p:cNvPr id="18" name="Shape 15"/>
          <p:cNvSpPr/>
          <p:nvPr/>
        </p:nvSpPr>
        <p:spPr>
          <a:xfrm>
            <a:off x="411480" y="5833872"/>
            <a:ext cx="11368735" cy="530352"/>
          </a:xfrm>
          <a:prstGeom prst="rect">
            <a:avLst/>
          </a:prstGeom>
          <a:solidFill>
            <a:srgbClr val="FFF4E0"/>
          </a:solidFill>
          <a:ln w="6350">
            <a:solidFill>
              <a:srgbClr val="F1D9A8"/>
            </a:solidFill>
            <a:prstDash val="solid"/>
          </a:ln>
        </p:spPr>
      </p:sp>
      <p:sp>
        <p:nvSpPr>
          <p:cNvPr id="19" name="Shape 16"/>
          <p:cNvSpPr/>
          <p:nvPr/>
        </p:nvSpPr>
        <p:spPr>
          <a:xfrm>
            <a:off x="411480" y="5833872"/>
            <a:ext cx="82296" cy="530352"/>
          </a:xfrm>
          <a:prstGeom prst="rect">
            <a:avLst/>
          </a:prstGeom>
          <a:solidFill>
            <a:srgbClr val="E39A2F"/>
          </a:solidFill>
          <a:ln w="12700">
            <a:solidFill>
              <a:srgbClr val="E39A2F"/>
            </a:solidFill>
            <a:prstDash val="solid"/>
          </a:ln>
        </p:spPr>
      </p:sp>
      <p:sp>
        <p:nvSpPr>
          <p:cNvPr id="20" name="Text 1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Will a precipitate form when </a:t>
            </a:r>
            <a:r>
              <a:rPr lang="en-US" sz="1150" b="1" dirty="0">
                <a:solidFill>
                  <a:srgbClr val="262B3A"/>
                </a:solidFill>
                <a:latin typeface="Calibri" pitchFamily="34" charset="0"/>
                <a:ea typeface="Calibri" pitchFamily="34" charset="-122"/>
                <a:cs typeface="Calibri" pitchFamily="34" charset="-120"/>
              </a:rPr>
              <a:t>barium chloride</a:t>
            </a:r>
            <a:r>
              <a:rPr lang="en-US" sz="1150" dirty="0">
                <a:solidFill>
                  <a:srgbClr val="262B3A"/>
                </a:solidFill>
                <a:latin typeface="Calibri" pitchFamily="34" charset="0"/>
                <a:ea typeface="Calibri" pitchFamily="34" charset="-122"/>
                <a:cs typeface="Calibri" pitchFamily="34" charset="-120"/>
              </a:rPr>
              <a:t> solution is mixed with </a:t>
            </a:r>
            <a:r>
              <a:rPr lang="en-US" sz="1150" b="1" dirty="0">
                <a:solidFill>
                  <a:srgbClr val="262B3A"/>
                </a:solidFill>
                <a:latin typeface="Calibri" pitchFamily="34" charset="0"/>
                <a:ea typeface="Calibri" pitchFamily="34" charset="-122"/>
                <a:cs typeface="Calibri" pitchFamily="34" charset="-120"/>
              </a:rPr>
              <a:t>sodium sulfate</a:t>
            </a:r>
            <a:r>
              <a:rPr lang="en-US" sz="1150" dirty="0">
                <a:solidFill>
                  <a:srgbClr val="262B3A"/>
                </a:solidFill>
                <a:latin typeface="Calibri" pitchFamily="34" charset="0"/>
                <a:ea typeface="Calibri" pitchFamily="34" charset="-122"/>
                <a:cs typeface="Calibri" pitchFamily="34" charset="-120"/>
              </a:rPr>
              <a:t> solution? Name it. What about </a:t>
            </a:r>
            <a:r>
              <a:rPr lang="en-US" sz="1150" b="1" dirty="0">
                <a:solidFill>
                  <a:srgbClr val="262B3A"/>
                </a:solidFill>
                <a:latin typeface="Calibri" pitchFamily="34" charset="0"/>
                <a:ea typeface="Calibri" pitchFamily="34" charset="-122"/>
                <a:cs typeface="Calibri" pitchFamily="34" charset="-120"/>
              </a:rPr>
              <a:t>lead nitrate</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sodium nitrate</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Precipitation reactions and their ionic equations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3.20 and 0.4 (HT) • two solutions → an insoluble solid</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3.20  |  25</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Ag⁺ and Cl⁻ join into a solid lattice; Na⁺ and NO₃⁻ stay in solution</a:t>
            </a:r>
            <a:endParaRPr lang="en-US" sz="1000" dirty="0"/>
          </a:p>
        </p:txBody>
      </p:sp>
      <p:sp>
        <p:nvSpPr>
          <p:cNvPr id="12" name="Shape 10"/>
          <p:cNvSpPr/>
          <p:nvPr/>
        </p:nvSpPr>
        <p:spPr>
          <a:xfrm>
            <a:off x="777240" y="1463040"/>
            <a:ext cx="457200" cy="1371600"/>
          </a:xfrm>
          <a:custGeom>
            <a:avLst/>
            <a:gdLst/>
            <a:ahLst/>
            <a:cxnLst/>
            <a:rect l="l" t="t" r="r" b="b"/>
            <a:pathLst>
              <a:path w="457200" h="1371600">
                <a:moveTo>
                  <a:pt x="0" y="0"/>
                </a:moveTo>
                <a:lnTo>
                  <a:pt x="457200" y="0"/>
                </a:lnTo>
                <a:lnTo>
                  <a:pt x="457200" y="1143000"/>
                </a:lnTo>
                <a:lnTo>
                  <a:pt x="452808" y="1187598"/>
                </a:lnTo>
                <a:lnTo>
                  <a:pt x="439799" y="1230481"/>
                </a:lnTo>
                <a:lnTo>
                  <a:pt x="418674" y="1270003"/>
                </a:lnTo>
                <a:lnTo>
                  <a:pt x="390245" y="1304645"/>
                </a:lnTo>
                <a:lnTo>
                  <a:pt x="355603" y="1333074"/>
                </a:lnTo>
                <a:lnTo>
                  <a:pt x="316081" y="1354199"/>
                </a:lnTo>
                <a:lnTo>
                  <a:pt x="273198" y="1367208"/>
                </a:lnTo>
                <a:lnTo>
                  <a:pt x="228600" y="1371600"/>
                </a:lnTo>
                <a:lnTo>
                  <a:pt x="184002" y="1367208"/>
                </a:lnTo>
                <a:lnTo>
                  <a:pt x="141119" y="1354199"/>
                </a:lnTo>
                <a:lnTo>
                  <a:pt x="101597" y="1333074"/>
                </a:lnTo>
                <a:lnTo>
                  <a:pt x="66955" y="1304645"/>
                </a:lnTo>
                <a:lnTo>
                  <a:pt x="38526" y="1270003"/>
                </a:lnTo>
                <a:lnTo>
                  <a:pt x="17401" y="1230481"/>
                </a:lnTo>
                <a:lnTo>
                  <a:pt x="4392" y="1187598"/>
                </a:lnTo>
                <a:lnTo>
                  <a:pt x="0" y="1143000"/>
                </a:lnTo>
                <a:close/>
              </a:path>
            </a:pathLst>
          </a:custGeom>
          <a:solidFill>
            <a:srgbClr val="EEF5FB"/>
          </a:solidFill>
          <a:ln/>
        </p:spPr>
      </p:sp>
      <p:sp>
        <p:nvSpPr>
          <p:cNvPr id="13" name="Shape 11"/>
          <p:cNvSpPr/>
          <p:nvPr/>
        </p:nvSpPr>
        <p:spPr>
          <a:xfrm>
            <a:off x="777240" y="2011680"/>
            <a:ext cx="457200" cy="822960"/>
          </a:xfrm>
          <a:custGeom>
            <a:avLst/>
            <a:gdLst/>
            <a:ahLst/>
            <a:cxnLst/>
            <a:rect l="l" t="t" r="r" b="b"/>
            <a:pathLst>
              <a:path w="457200" h="822960">
                <a:moveTo>
                  <a:pt x="0" y="0"/>
                </a:moveTo>
                <a:lnTo>
                  <a:pt x="457200" y="0"/>
                </a:lnTo>
                <a:lnTo>
                  <a:pt x="457200" y="594360"/>
                </a:lnTo>
                <a:lnTo>
                  <a:pt x="452808" y="638958"/>
                </a:lnTo>
                <a:lnTo>
                  <a:pt x="439799" y="681841"/>
                </a:lnTo>
                <a:lnTo>
                  <a:pt x="418674" y="721363"/>
                </a:lnTo>
                <a:lnTo>
                  <a:pt x="390245" y="756005"/>
                </a:lnTo>
                <a:lnTo>
                  <a:pt x="355603" y="784434"/>
                </a:lnTo>
                <a:lnTo>
                  <a:pt x="316081" y="805559"/>
                </a:lnTo>
                <a:lnTo>
                  <a:pt x="273198" y="818568"/>
                </a:lnTo>
                <a:lnTo>
                  <a:pt x="228600" y="822960"/>
                </a:lnTo>
                <a:lnTo>
                  <a:pt x="184002" y="818568"/>
                </a:lnTo>
                <a:lnTo>
                  <a:pt x="141119" y="805559"/>
                </a:lnTo>
                <a:lnTo>
                  <a:pt x="101597" y="784434"/>
                </a:lnTo>
                <a:lnTo>
                  <a:pt x="66955" y="756005"/>
                </a:lnTo>
                <a:lnTo>
                  <a:pt x="38526" y="721363"/>
                </a:lnTo>
                <a:lnTo>
                  <a:pt x="17401" y="681841"/>
                </a:lnTo>
                <a:lnTo>
                  <a:pt x="4392" y="638958"/>
                </a:lnTo>
                <a:lnTo>
                  <a:pt x="0" y="594360"/>
                </a:lnTo>
                <a:close/>
              </a:path>
            </a:pathLst>
          </a:custGeom>
          <a:solidFill>
            <a:srgbClr val="DCEAF7"/>
          </a:solidFill>
          <a:ln/>
        </p:spPr>
      </p:sp>
      <p:sp>
        <p:nvSpPr>
          <p:cNvPr id="14" name="Shape 12"/>
          <p:cNvSpPr/>
          <p:nvPr/>
        </p:nvSpPr>
        <p:spPr>
          <a:xfrm>
            <a:off x="777240" y="1463040"/>
            <a:ext cx="91" cy="1143000"/>
          </a:xfrm>
          <a:prstGeom prst="line">
            <a:avLst/>
          </a:prstGeom>
          <a:noFill/>
          <a:ln w="19050">
            <a:solidFill>
              <a:srgbClr val="2A1F3D"/>
            </a:solidFill>
            <a:prstDash val="solid"/>
          </a:ln>
        </p:spPr>
      </p:sp>
      <p:sp>
        <p:nvSpPr>
          <p:cNvPr id="15" name="Shape 13"/>
          <p:cNvSpPr/>
          <p:nvPr/>
        </p:nvSpPr>
        <p:spPr>
          <a:xfrm>
            <a:off x="1234440" y="1463040"/>
            <a:ext cx="91" cy="1143000"/>
          </a:xfrm>
          <a:prstGeom prst="line">
            <a:avLst/>
          </a:prstGeom>
          <a:noFill/>
          <a:ln w="19050">
            <a:solidFill>
              <a:srgbClr val="2A1F3D"/>
            </a:solidFill>
            <a:prstDash val="solid"/>
          </a:ln>
        </p:spPr>
      </p:sp>
      <p:sp>
        <p:nvSpPr>
          <p:cNvPr id="16" name="Shape 14"/>
          <p:cNvSpPr/>
          <p:nvPr/>
        </p:nvSpPr>
        <p:spPr>
          <a:xfrm>
            <a:off x="777240" y="2606040"/>
            <a:ext cx="457200" cy="228600"/>
          </a:xfrm>
          <a:custGeom>
            <a:avLst/>
            <a:gdLst/>
            <a:ahLst/>
            <a:cxnLst/>
            <a:rect l="l" t="t" r="r" b="b"/>
            <a:pathLst>
              <a:path w="457200" h="228600">
                <a:moveTo>
                  <a:pt x="457200" y="0"/>
                </a:moveTo>
                <a:lnTo>
                  <a:pt x="452808" y="44598"/>
                </a:lnTo>
                <a:lnTo>
                  <a:pt x="439799" y="87481"/>
                </a:lnTo>
                <a:lnTo>
                  <a:pt x="418674" y="127003"/>
                </a:lnTo>
                <a:lnTo>
                  <a:pt x="390245" y="161645"/>
                </a:lnTo>
                <a:lnTo>
                  <a:pt x="355603" y="190074"/>
                </a:lnTo>
                <a:lnTo>
                  <a:pt x="316081" y="211199"/>
                </a:lnTo>
                <a:lnTo>
                  <a:pt x="273198" y="224208"/>
                </a:lnTo>
                <a:lnTo>
                  <a:pt x="228600" y="228600"/>
                </a:lnTo>
                <a:lnTo>
                  <a:pt x="184002" y="224208"/>
                </a:lnTo>
                <a:lnTo>
                  <a:pt x="141119" y="211199"/>
                </a:lnTo>
                <a:lnTo>
                  <a:pt x="101597" y="190074"/>
                </a:lnTo>
                <a:lnTo>
                  <a:pt x="66955" y="161645"/>
                </a:lnTo>
                <a:lnTo>
                  <a:pt x="38526" y="127003"/>
                </a:lnTo>
                <a:lnTo>
                  <a:pt x="17401" y="87481"/>
                </a:lnTo>
                <a:lnTo>
                  <a:pt x="4392" y="44598"/>
                </a:lnTo>
                <a:lnTo>
                  <a:pt x="0" y="0"/>
                </a:lnTo>
              </a:path>
            </a:pathLst>
          </a:custGeom>
          <a:ln w="19050">
            <a:solidFill>
              <a:srgbClr val="2A1F3D"/>
            </a:solidFill>
            <a:prstDash val="solid"/>
          </a:ln>
        </p:spPr>
      </p:sp>
      <p:sp>
        <p:nvSpPr>
          <p:cNvPr id="17" name="Shape 15"/>
          <p:cNvSpPr/>
          <p:nvPr/>
        </p:nvSpPr>
        <p:spPr>
          <a:xfrm>
            <a:off x="740664" y="1463040"/>
            <a:ext cx="36576" cy="91"/>
          </a:xfrm>
          <a:prstGeom prst="line">
            <a:avLst/>
          </a:prstGeom>
          <a:noFill/>
          <a:ln w="19050">
            <a:solidFill>
              <a:srgbClr val="2A1F3D"/>
            </a:solidFill>
            <a:prstDash val="solid"/>
          </a:ln>
        </p:spPr>
      </p:sp>
      <p:sp>
        <p:nvSpPr>
          <p:cNvPr id="18" name="Shape 16"/>
          <p:cNvSpPr/>
          <p:nvPr/>
        </p:nvSpPr>
        <p:spPr>
          <a:xfrm>
            <a:off x="1234440" y="1463040"/>
            <a:ext cx="36576" cy="91"/>
          </a:xfrm>
          <a:prstGeom prst="line">
            <a:avLst/>
          </a:prstGeom>
          <a:noFill/>
          <a:ln w="19050">
            <a:solidFill>
              <a:srgbClr val="2A1F3D"/>
            </a:solidFill>
            <a:prstDash val="solid"/>
          </a:ln>
        </p:spPr>
      </p:sp>
      <p:sp>
        <p:nvSpPr>
          <p:cNvPr id="19" name="Text 17"/>
          <p:cNvSpPr/>
          <p:nvPr/>
        </p:nvSpPr>
        <p:spPr>
          <a:xfrm>
            <a:off x="502920" y="2880360"/>
            <a:ext cx="1005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AgNO₃(aq)</a:t>
            </a:r>
            <a:endParaRPr lang="en-US" sz="1050" dirty="0"/>
          </a:p>
        </p:txBody>
      </p:sp>
      <p:sp>
        <p:nvSpPr>
          <p:cNvPr id="20" name="Text 18"/>
          <p:cNvSpPr/>
          <p:nvPr/>
        </p:nvSpPr>
        <p:spPr>
          <a:xfrm>
            <a:off x="1280160" y="2011680"/>
            <a:ext cx="274320" cy="256032"/>
          </a:xfrm>
          <a:prstGeom prst="rect">
            <a:avLst/>
          </a:prstGeom>
          <a:noFill/>
          <a:ln/>
        </p:spPr>
        <p:txBody>
          <a:bodyPr wrap="square" lIns="0" tIns="0" rIns="0" bIns="0" rtlCol="0" anchor="ctr"/>
          <a:lstStyle/>
          <a:p>
            <a:pPr algn="ctr" indent="0" marL="0">
              <a:buNone/>
            </a:pPr>
            <a:r>
              <a:rPr lang="en-US" sz="1600" b="1" dirty="0">
                <a:solidFill>
                  <a:srgbClr val="262B3A"/>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1600200" y="1463040"/>
            <a:ext cx="457200" cy="1371600"/>
          </a:xfrm>
          <a:custGeom>
            <a:avLst/>
            <a:gdLst/>
            <a:ahLst/>
            <a:cxnLst/>
            <a:rect l="l" t="t" r="r" b="b"/>
            <a:pathLst>
              <a:path w="457200" h="1371600">
                <a:moveTo>
                  <a:pt x="0" y="0"/>
                </a:moveTo>
                <a:lnTo>
                  <a:pt x="457200" y="0"/>
                </a:lnTo>
                <a:lnTo>
                  <a:pt x="457200" y="1143000"/>
                </a:lnTo>
                <a:lnTo>
                  <a:pt x="452808" y="1187598"/>
                </a:lnTo>
                <a:lnTo>
                  <a:pt x="439799" y="1230481"/>
                </a:lnTo>
                <a:lnTo>
                  <a:pt x="418674" y="1270003"/>
                </a:lnTo>
                <a:lnTo>
                  <a:pt x="390245" y="1304645"/>
                </a:lnTo>
                <a:lnTo>
                  <a:pt x="355603" y="1333074"/>
                </a:lnTo>
                <a:lnTo>
                  <a:pt x="316081" y="1354199"/>
                </a:lnTo>
                <a:lnTo>
                  <a:pt x="273198" y="1367208"/>
                </a:lnTo>
                <a:lnTo>
                  <a:pt x="228600" y="1371600"/>
                </a:lnTo>
                <a:lnTo>
                  <a:pt x="184002" y="1367208"/>
                </a:lnTo>
                <a:lnTo>
                  <a:pt x="141119" y="1354199"/>
                </a:lnTo>
                <a:lnTo>
                  <a:pt x="101597" y="1333074"/>
                </a:lnTo>
                <a:lnTo>
                  <a:pt x="66955" y="1304645"/>
                </a:lnTo>
                <a:lnTo>
                  <a:pt x="38526" y="1270003"/>
                </a:lnTo>
                <a:lnTo>
                  <a:pt x="17401" y="1230481"/>
                </a:lnTo>
                <a:lnTo>
                  <a:pt x="4392" y="1187598"/>
                </a:lnTo>
                <a:lnTo>
                  <a:pt x="0" y="1143000"/>
                </a:lnTo>
                <a:close/>
              </a:path>
            </a:pathLst>
          </a:custGeom>
          <a:solidFill>
            <a:srgbClr val="EEF5FB"/>
          </a:solidFill>
          <a:ln/>
        </p:spPr>
      </p:sp>
      <p:sp>
        <p:nvSpPr>
          <p:cNvPr id="22" name="Shape 20"/>
          <p:cNvSpPr/>
          <p:nvPr/>
        </p:nvSpPr>
        <p:spPr>
          <a:xfrm>
            <a:off x="1600200" y="2011680"/>
            <a:ext cx="457200" cy="822960"/>
          </a:xfrm>
          <a:custGeom>
            <a:avLst/>
            <a:gdLst/>
            <a:ahLst/>
            <a:cxnLst/>
            <a:rect l="l" t="t" r="r" b="b"/>
            <a:pathLst>
              <a:path w="457200" h="822960">
                <a:moveTo>
                  <a:pt x="0" y="0"/>
                </a:moveTo>
                <a:lnTo>
                  <a:pt x="457200" y="0"/>
                </a:lnTo>
                <a:lnTo>
                  <a:pt x="457200" y="594360"/>
                </a:lnTo>
                <a:lnTo>
                  <a:pt x="452808" y="638958"/>
                </a:lnTo>
                <a:lnTo>
                  <a:pt x="439799" y="681841"/>
                </a:lnTo>
                <a:lnTo>
                  <a:pt x="418674" y="721363"/>
                </a:lnTo>
                <a:lnTo>
                  <a:pt x="390245" y="756005"/>
                </a:lnTo>
                <a:lnTo>
                  <a:pt x="355603" y="784434"/>
                </a:lnTo>
                <a:lnTo>
                  <a:pt x="316081" y="805559"/>
                </a:lnTo>
                <a:lnTo>
                  <a:pt x="273198" y="818568"/>
                </a:lnTo>
                <a:lnTo>
                  <a:pt x="228600" y="822960"/>
                </a:lnTo>
                <a:lnTo>
                  <a:pt x="184002" y="818568"/>
                </a:lnTo>
                <a:lnTo>
                  <a:pt x="141119" y="805559"/>
                </a:lnTo>
                <a:lnTo>
                  <a:pt x="101597" y="784434"/>
                </a:lnTo>
                <a:lnTo>
                  <a:pt x="66955" y="756005"/>
                </a:lnTo>
                <a:lnTo>
                  <a:pt x="38526" y="721363"/>
                </a:lnTo>
                <a:lnTo>
                  <a:pt x="17401" y="681841"/>
                </a:lnTo>
                <a:lnTo>
                  <a:pt x="4392" y="638958"/>
                </a:lnTo>
                <a:lnTo>
                  <a:pt x="0" y="594360"/>
                </a:lnTo>
                <a:close/>
              </a:path>
            </a:pathLst>
          </a:custGeom>
          <a:solidFill>
            <a:srgbClr val="DCEAF7"/>
          </a:solidFill>
          <a:ln/>
        </p:spPr>
      </p:sp>
      <p:sp>
        <p:nvSpPr>
          <p:cNvPr id="23" name="Shape 21"/>
          <p:cNvSpPr/>
          <p:nvPr/>
        </p:nvSpPr>
        <p:spPr>
          <a:xfrm>
            <a:off x="1600200" y="1463040"/>
            <a:ext cx="91" cy="1143000"/>
          </a:xfrm>
          <a:prstGeom prst="line">
            <a:avLst/>
          </a:prstGeom>
          <a:noFill/>
          <a:ln w="19050">
            <a:solidFill>
              <a:srgbClr val="2A1F3D"/>
            </a:solidFill>
            <a:prstDash val="solid"/>
          </a:ln>
        </p:spPr>
      </p:sp>
      <p:sp>
        <p:nvSpPr>
          <p:cNvPr id="24" name="Shape 22"/>
          <p:cNvSpPr/>
          <p:nvPr/>
        </p:nvSpPr>
        <p:spPr>
          <a:xfrm>
            <a:off x="2057400" y="1463040"/>
            <a:ext cx="91" cy="1143000"/>
          </a:xfrm>
          <a:prstGeom prst="line">
            <a:avLst/>
          </a:prstGeom>
          <a:noFill/>
          <a:ln w="19050">
            <a:solidFill>
              <a:srgbClr val="2A1F3D"/>
            </a:solidFill>
            <a:prstDash val="solid"/>
          </a:ln>
        </p:spPr>
      </p:sp>
      <p:sp>
        <p:nvSpPr>
          <p:cNvPr id="25" name="Shape 23"/>
          <p:cNvSpPr/>
          <p:nvPr/>
        </p:nvSpPr>
        <p:spPr>
          <a:xfrm>
            <a:off x="1600200" y="2606040"/>
            <a:ext cx="457200" cy="228600"/>
          </a:xfrm>
          <a:custGeom>
            <a:avLst/>
            <a:gdLst/>
            <a:ahLst/>
            <a:cxnLst/>
            <a:rect l="l" t="t" r="r" b="b"/>
            <a:pathLst>
              <a:path w="457200" h="228600">
                <a:moveTo>
                  <a:pt x="457200" y="0"/>
                </a:moveTo>
                <a:lnTo>
                  <a:pt x="452808" y="44598"/>
                </a:lnTo>
                <a:lnTo>
                  <a:pt x="439799" y="87481"/>
                </a:lnTo>
                <a:lnTo>
                  <a:pt x="418674" y="127003"/>
                </a:lnTo>
                <a:lnTo>
                  <a:pt x="390245" y="161645"/>
                </a:lnTo>
                <a:lnTo>
                  <a:pt x="355603" y="190074"/>
                </a:lnTo>
                <a:lnTo>
                  <a:pt x="316081" y="211199"/>
                </a:lnTo>
                <a:lnTo>
                  <a:pt x="273198" y="224208"/>
                </a:lnTo>
                <a:lnTo>
                  <a:pt x="228600" y="228600"/>
                </a:lnTo>
                <a:lnTo>
                  <a:pt x="184002" y="224208"/>
                </a:lnTo>
                <a:lnTo>
                  <a:pt x="141119" y="211199"/>
                </a:lnTo>
                <a:lnTo>
                  <a:pt x="101597" y="190074"/>
                </a:lnTo>
                <a:lnTo>
                  <a:pt x="66955" y="161645"/>
                </a:lnTo>
                <a:lnTo>
                  <a:pt x="38526" y="127003"/>
                </a:lnTo>
                <a:lnTo>
                  <a:pt x="17401" y="87481"/>
                </a:lnTo>
                <a:lnTo>
                  <a:pt x="4392" y="44598"/>
                </a:lnTo>
                <a:lnTo>
                  <a:pt x="0" y="0"/>
                </a:lnTo>
              </a:path>
            </a:pathLst>
          </a:custGeom>
          <a:ln w="19050">
            <a:solidFill>
              <a:srgbClr val="2A1F3D"/>
            </a:solidFill>
            <a:prstDash val="solid"/>
          </a:ln>
        </p:spPr>
      </p:sp>
      <p:sp>
        <p:nvSpPr>
          <p:cNvPr id="26" name="Shape 24"/>
          <p:cNvSpPr/>
          <p:nvPr/>
        </p:nvSpPr>
        <p:spPr>
          <a:xfrm>
            <a:off x="1563624" y="1463040"/>
            <a:ext cx="36576" cy="91"/>
          </a:xfrm>
          <a:prstGeom prst="line">
            <a:avLst/>
          </a:prstGeom>
          <a:noFill/>
          <a:ln w="19050">
            <a:solidFill>
              <a:srgbClr val="2A1F3D"/>
            </a:solidFill>
            <a:prstDash val="solid"/>
          </a:ln>
        </p:spPr>
      </p:sp>
      <p:sp>
        <p:nvSpPr>
          <p:cNvPr id="27" name="Shape 25"/>
          <p:cNvSpPr/>
          <p:nvPr/>
        </p:nvSpPr>
        <p:spPr>
          <a:xfrm>
            <a:off x="2057400" y="1463040"/>
            <a:ext cx="36576" cy="91"/>
          </a:xfrm>
          <a:prstGeom prst="line">
            <a:avLst/>
          </a:prstGeom>
          <a:noFill/>
          <a:ln w="19050">
            <a:solidFill>
              <a:srgbClr val="2A1F3D"/>
            </a:solidFill>
            <a:prstDash val="solid"/>
          </a:ln>
        </p:spPr>
      </p:sp>
      <p:sp>
        <p:nvSpPr>
          <p:cNvPr id="28" name="Text 26"/>
          <p:cNvSpPr/>
          <p:nvPr/>
        </p:nvSpPr>
        <p:spPr>
          <a:xfrm>
            <a:off x="1325880" y="2880360"/>
            <a:ext cx="1005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NaCl(aq)</a:t>
            </a:r>
            <a:endParaRPr lang="en-US" sz="1050" dirty="0"/>
          </a:p>
        </p:txBody>
      </p:sp>
      <p:sp>
        <p:nvSpPr>
          <p:cNvPr id="29" name="Shape 27"/>
          <p:cNvSpPr/>
          <p:nvPr/>
        </p:nvSpPr>
        <p:spPr>
          <a:xfrm>
            <a:off x="2194560" y="2194560"/>
            <a:ext cx="411480" cy="91"/>
          </a:xfrm>
          <a:prstGeom prst="line">
            <a:avLst/>
          </a:prstGeom>
          <a:noFill/>
          <a:ln w="25400">
            <a:solidFill>
              <a:srgbClr val="2A1F3D"/>
            </a:solidFill>
            <a:prstDash val="solid"/>
            <a:tailEnd type="triangle"/>
          </a:ln>
        </p:spPr>
      </p:sp>
      <p:sp>
        <p:nvSpPr>
          <p:cNvPr id="30" name="Shape 28"/>
          <p:cNvSpPr/>
          <p:nvPr/>
        </p:nvSpPr>
        <p:spPr>
          <a:xfrm>
            <a:off x="2743200" y="1463040"/>
            <a:ext cx="457200" cy="1371600"/>
          </a:xfrm>
          <a:custGeom>
            <a:avLst/>
            <a:gdLst/>
            <a:ahLst/>
            <a:cxnLst/>
            <a:rect l="l" t="t" r="r" b="b"/>
            <a:pathLst>
              <a:path w="457200" h="1371600">
                <a:moveTo>
                  <a:pt x="0" y="0"/>
                </a:moveTo>
                <a:lnTo>
                  <a:pt x="457200" y="0"/>
                </a:lnTo>
                <a:lnTo>
                  <a:pt x="457200" y="1143000"/>
                </a:lnTo>
                <a:lnTo>
                  <a:pt x="452808" y="1187598"/>
                </a:lnTo>
                <a:lnTo>
                  <a:pt x="439799" y="1230481"/>
                </a:lnTo>
                <a:lnTo>
                  <a:pt x="418674" y="1270003"/>
                </a:lnTo>
                <a:lnTo>
                  <a:pt x="390245" y="1304645"/>
                </a:lnTo>
                <a:lnTo>
                  <a:pt x="355603" y="1333074"/>
                </a:lnTo>
                <a:lnTo>
                  <a:pt x="316081" y="1354199"/>
                </a:lnTo>
                <a:lnTo>
                  <a:pt x="273198" y="1367208"/>
                </a:lnTo>
                <a:lnTo>
                  <a:pt x="228600" y="1371600"/>
                </a:lnTo>
                <a:lnTo>
                  <a:pt x="184002" y="1367208"/>
                </a:lnTo>
                <a:lnTo>
                  <a:pt x="141119" y="1354199"/>
                </a:lnTo>
                <a:lnTo>
                  <a:pt x="101597" y="1333074"/>
                </a:lnTo>
                <a:lnTo>
                  <a:pt x="66955" y="1304645"/>
                </a:lnTo>
                <a:lnTo>
                  <a:pt x="38526" y="1270003"/>
                </a:lnTo>
                <a:lnTo>
                  <a:pt x="17401" y="1230481"/>
                </a:lnTo>
                <a:lnTo>
                  <a:pt x="4392" y="1187598"/>
                </a:lnTo>
                <a:lnTo>
                  <a:pt x="0" y="1143000"/>
                </a:lnTo>
                <a:close/>
              </a:path>
            </a:pathLst>
          </a:custGeom>
          <a:solidFill>
            <a:srgbClr val="EEF5FB"/>
          </a:solidFill>
          <a:ln/>
        </p:spPr>
      </p:sp>
      <p:sp>
        <p:nvSpPr>
          <p:cNvPr id="31" name="Shape 29"/>
          <p:cNvSpPr/>
          <p:nvPr/>
        </p:nvSpPr>
        <p:spPr>
          <a:xfrm>
            <a:off x="2743200" y="1805940"/>
            <a:ext cx="457200" cy="1028700"/>
          </a:xfrm>
          <a:custGeom>
            <a:avLst/>
            <a:gdLst/>
            <a:ahLst/>
            <a:cxnLst/>
            <a:rect l="l" t="t" r="r" b="b"/>
            <a:pathLst>
              <a:path w="457200" h="1028700">
                <a:moveTo>
                  <a:pt x="0" y="0"/>
                </a:moveTo>
                <a:lnTo>
                  <a:pt x="457200" y="0"/>
                </a:lnTo>
                <a:lnTo>
                  <a:pt x="457200" y="800100"/>
                </a:lnTo>
                <a:lnTo>
                  <a:pt x="452808" y="844698"/>
                </a:lnTo>
                <a:lnTo>
                  <a:pt x="439799" y="887581"/>
                </a:lnTo>
                <a:lnTo>
                  <a:pt x="418674" y="927103"/>
                </a:lnTo>
                <a:lnTo>
                  <a:pt x="390245" y="961745"/>
                </a:lnTo>
                <a:lnTo>
                  <a:pt x="355603" y="990174"/>
                </a:lnTo>
                <a:lnTo>
                  <a:pt x="316081" y="1011299"/>
                </a:lnTo>
                <a:lnTo>
                  <a:pt x="273198" y="1024308"/>
                </a:lnTo>
                <a:lnTo>
                  <a:pt x="228600" y="1028700"/>
                </a:lnTo>
                <a:lnTo>
                  <a:pt x="184002" y="1024308"/>
                </a:lnTo>
                <a:lnTo>
                  <a:pt x="141119" y="1011299"/>
                </a:lnTo>
                <a:lnTo>
                  <a:pt x="101597" y="990174"/>
                </a:lnTo>
                <a:lnTo>
                  <a:pt x="66955" y="961745"/>
                </a:lnTo>
                <a:lnTo>
                  <a:pt x="38526" y="927103"/>
                </a:lnTo>
                <a:lnTo>
                  <a:pt x="17401" y="887581"/>
                </a:lnTo>
                <a:lnTo>
                  <a:pt x="4392" y="844698"/>
                </a:lnTo>
                <a:lnTo>
                  <a:pt x="0" y="800100"/>
                </a:lnTo>
                <a:close/>
              </a:path>
            </a:pathLst>
          </a:custGeom>
          <a:solidFill>
            <a:srgbClr val="DCEAF7"/>
          </a:solidFill>
          <a:ln/>
        </p:spPr>
      </p:sp>
      <p:sp>
        <p:nvSpPr>
          <p:cNvPr id="32" name="Shape 30"/>
          <p:cNvSpPr/>
          <p:nvPr/>
        </p:nvSpPr>
        <p:spPr>
          <a:xfrm>
            <a:off x="2743200" y="2587752"/>
            <a:ext cx="457200" cy="246888"/>
          </a:xfrm>
          <a:custGeom>
            <a:avLst/>
            <a:gdLst/>
            <a:ahLst/>
            <a:cxnLst/>
            <a:rect l="l" t="t" r="r" b="b"/>
            <a:pathLst>
              <a:path w="457200" h="246888">
                <a:moveTo>
                  <a:pt x="0" y="0"/>
                </a:moveTo>
                <a:lnTo>
                  <a:pt x="457200" y="0"/>
                </a:lnTo>
                <a:lnTo>
                  <a:pt x="457200" y="18288"/>
                </a:lnTo>
                <a:lnTo>
                  <a:pt x="452808" y="62886"/>
                </a:lnTo>
                <a:lnTo>
                  <a:pt x="439799" y="105769"/>
                </a:lnTo>
                <a:lnTo>
                  <a:pt x="418674" y="145291"/>
                </a:lnTo>
                <a:lnTo>
                  <a:pt x="390245" y="179933"/>
                </a:lnTo>
                <a:lnTo>
                  <a:pt x="355603" y="208362"/>
                </a:lnTo>
                <a:lnTo>
                  <a:pt x="316081" y="229487"/>
                </a:lnTo>
                <a:lnTo>
                  <a:pt x="273198" y="242496"/>
                </a:lnTo>
                <a:lnTo>
                  <a:pt x="228600" y="246888"/>
                </a:lnTo>
                <a:lnTo>
                  <a:pt x="184002" y="242496"/>
                </a:lnTo>
                <a:lnTo>
                  <a:pt x="141119" y="229487"/>
                </a:lnTo>
                <a:lnTo>
                  <a:pt x="101597" y="208362"/>
                </a:lnTo>
                <a:lnTo>
                  <a:pt x="66955" y="179933"/>
                </a:lnTo>
                <a:lnTo>
                  <a:pt x="38526" y="145291"/>
                </a:lnTo>
                <a:lnTo>
                  <a:pt x="17401" y="105769"/>
                </a:lnTo>
                <a:lnTo>
                  <a:pt x="4392" y="62886"/>
                </a:lnTo>
                <a:lnTo>
                  <a:pt x="0" y="18288"/>
                </a:lnTo>
                <a:close/>
              </a:path>
            </a:pathLst>
          </a:custGeom>
          <a:solidFill>
            <a:srgbClr val="FFFFFF"/>
          </a:solidFill>
          <a:ln/>
        </p:spPr>
      </p:sp>
      <p:sp>
        <p:nvSpPr>
          <p:cNvPr id="33" name="Shape 31"/>
          <p:cNvSpPr/>
          <p:nvPr/>
        </p:nvSpPr>
        <p:spPr>
          <a:xfrm>
            <a:off x="2793492" y="2473452"/>
            <a:ext cx="45720" cy="45720"/>
          </a:xfrm>
          <a:prstGeom prst="ellipse">
            <a:avLst/>
          </a:prstGeom>
          <a:solidFill>
            <a:srgbClr val="FFFFFF"/>
          </a:solidFill>
          <a:ln w="6350">
            <a:solidFill>
              <a:srgbClr val="9AA3B0"/>
            </a:solidFill>
            <a:prstDash val="solid"/>
          </a:ln>
        </p:spPr>
      </p:sp>
      <p:sp>
        <p:nvSpPr>
          <p:cNvPr id="34" name="Shape 32"/>
          <p:cNvSpPr/>
          <p:nvPr/>
        </p:nvSpPr>
        <p:spPr>
          <a:xfrm>
            <a:off x="2897124" y="2226564"/>
            <a:ext cx="45720" cy="45720"/>
          </a:xfrm>
          <a:prstGeom prst="ellipse">
            <a:avLst/>
          </a:prstGeom>
          <a:solidFill>
            <a:srgbClr val="FFFFFF"/>
          </a:solidFill>
          <a:ln w="6350">
            <a:solidFill>
              <a:srgbClr val="9AA3B0"/>
            </a:solidFill>
            <a:prstDash val="solid"/>
          </a:ln>
        </p:spPr>
      </p:sp>
      <p:sp>
        <p:nvSpPr>
          <p:cNvPr id="35" name="Shape 33"/>
          <p:cNvSpPr/>
          <p:nvPr/>
        </p:nvSpPr>
        <p:spPr>
          <a:xfrm>
            <a:off x="3000756" y="2391156"/>
            <a:ext cx="45720" cy="45720"/>
          </a:xfrm>
          <a:prstGeom prst="ellipse">
            <a:avLst/>
          </a:prstGeom>
          <a:solidFill>
            <a:srgbClr val="FFFFFF"/>
          </a:solidFill>
          <a:ln w="6350">
            <a:solidFill>
              <a:srgbClr val="9AA3B0"/>
            </a:solidFill>
            <a:prstDash val="solid"/>
          </a:ln>
        </p:spPr>
      </p:sp>
      <p:sp>
        <p:nvSpPr>
          <p:cNvPr id="36" name="Shape 34"/>
          <p:cNvSpPr/>
          <p:nvPr/>
        </p:nvSpPr>
        <p:spPr>
          <a:xfrm>
            <a:off x="3104388" y="2144268"/>
            <a:ext cx="45720" cy="45720"/>
          </a:xfrm>
          <a:prstGeom prst="ellipse">
            <a:avLst/>
          </a:prstGeom>
          <a:solidFill>
            <a:srgbClr val="FFFFFF"/>
          </a:solidFill>
          <a:ln w="6350">
            <a:solidFill>
              <a:srgbClr val="9AA3B0"/>
            </a:solidFill>
            <a:prstDash val="solid"/>
          </a:ln>
        </p:spPr>
      </p:sp>
      <p:sp>
        <p:nvSpPr>
          <p:cNvPr id="37" name="Shape 35"/>
          <p:cNvSpPr/>
          <p:nvPr/>
        </p:nvSpPr>
        <p:spPr>
          <a:xfrm>
            <a:off x="2845308" y="2308860"/>
            <a:ext cx="45720" cy="45720"/>
          </a:xfrm>
          <a:prstGeom prst="ellipse">
            <a:avLst/>
          </a:prstGeom>
          <a:solidFill>
            <a:srgbClr val="FFFFFF"/>
          </a:solidFill>
          <a:ln w="6350">
            <a:solidFill>
              <a:srgbClr val="9AA3B0"/>
            </a:solidFill>
            <a:prstDash val="solid"/>
          </a:ln>
        </p:spPr>
      </p:sp>
      <p:sp>
        <p:nvSpPr>
          <p:cNvPr id="38" name="Shape 36"/>
          <p:cNvSpPr/>
          <p:nvPr/>
        </p:nvSpPr>
        <p:spPr>
          <a:xfrm>
            <a:off x="2948940" y="2473452"/>
            <a:ext cx="45720" cy="45720"/>
          </a:xfrm>
          <a:prstGeom prst="ellipse">
            <a:avLst/>
          </a:prstGeom>
          <a:solidFill>
            <a:srgbClr val="FFFFFF"/>
          </a:solidFill>
          <a:ln w="6350">
            <a:solidFill>
              <a:srgbClr val="9AA3B0"/>
            </a:solidFill>
            <a:prstDash val="solid"/>
          </a:ln>
        </p:spPr>
      </p:sp>
      <p:sp>
        <p:nvSpPr>
          <p:cNvPr id="39" name="Shape 37"/>
          <p:cNvSpPr/>
          <p:nvPr/>
        </p:nvSpPr>
        <p:spPr>
          <a:xfrm>
            <a:off x="3052572" y="2226564"/>
            <a:ext cx="45720" cy="45720"/>
          </a:xfrm>
          <a:prstGeom prst="ellipse">
            <a:avLst/>
          </a:prstGeom>
          <a:solidFill>
            <a:srgbClr val="FFFFFF"/>
          </a:solidFill>
          <a:ln w="6350">
            <a:solidFill>
              <a:srgbClr val="9AA3B0"/>
            </a:solidFill>
            <a:prstDash val="solid"/>
          </a:ln>
        </p:spPr>
      </p:sp>
      <p:sp>
        <p:nvSpPr>
          <p:cNvPr id="40" name="Shape 38"/>
          <p:cNvSpPr/>
          <p:nvPr/>
        </p:nvSpPr>
        <p:spPr>
          <a:xfrm>
            <a:off x="2743200" y="1463040"/>
            <a:ext cx="91" cy="1143000"/>
          </a:xfrm>
          <a:prstGeom prst="line">
            <a:avLst/>
          </a:prstGeom>
          <a:noFill/>
          <a:ln w="19050">
            <a:solidFill>
              <a:srgbClr val="2A1F3D"/>
            </a:solidFill>
            <a:prstDash val="solid"/>
          </a:ln>
        </p:spPr>
      </p:sp>
      <p:sp>
        <p:nvSpPr>
          <p:cNvPr id="41" name="Shape 39"/>
          <p:cNvSpPr/>
          <p:nvPr/>
        </p:nvSpPr>
        <p:spPr>
          <a:xfrm>
            <a:off x="3200400" y="1463040"/>
            <a:ext cx="91" cy="1143000"/>
          </a:xfrm>
          <a:prstGeom prst="line">
            <a:avLst/>
          </a:prstGeom>
          <a:noFill/>
          <a:ln w="19050">
            <a:solidFill>
              <a:srgbClr val="2A1F3D"/>
            </a:solidFill>
            <a:prstDash val="solid"/>
          </a:ln>
        </p:spPr>
      </p:sp>
      <p:sp>
        <p:nvSpPr>
          <p:cNvPr id="42" name="Shape 40"/>
          <p:cNvSpPr/>
          <p:nvPr/>
        </p:nvSpPr>
        <p:spPr>
          <a:xfrm>
            <a:off x="2743200" y="2606040"/>
            <a:ext cx="457200" cy="228600"/>
          </a:xfrm>
          <a:custGeom>
            <a:avLst/>
            <a:gdLst/>
            <a:ahLst/>
            <a:cxnLst/>
            <a:rect l="l" t="t" r="r" b="b"/>
            <a:pathLst>
              <a:path w="457200" h="228600">
                <a:moveTo>
                  <a:pt x="457200" y="0"/>
                </a:moveTo>
                <a:lnTo>
                  <a:pt x="452808" y="44598"/>
                </a:lnTo>
                <a:lnTo>
                  <a:pt x="439799" y="87481"/>
                </a:lnTo>
                <a:lnTo>
                  <a:pt x="418674" y="127003"/>
                </a:lnTo>
                <a:lnTo>
                  <a:pt x="390245" y="161645"/>
                </a:lnTo>
                <a:lnTo>
                  <a:pt x="355603" y="190074"/>
                </a:lnTo>
                <a:lnTo>
                  <a:pt x="316081" y="211199"/>
                </a:lnTo>
                <a:lnTo>
                  <a:pt x="273198" y="224208"/>
                </a:lnTo>
                <a:lnTo>
                  <a:pt x="228600" y="228600"/>
                </a:lnTo>
                <a:lnTo>
                  <a:pt x="184002" y="224208"/>
                </a:lnTo>
                <a:lnTo>
                  <a:pt x="141119" y="211199"/>
                </a:lnTo>
                <a:lnTo>
                  <a:pt x="101597" y="190074"/>
                </a:lnTo>
                <a:lnTo>
                  <a:pt x="66955" y="161645"/>
                </a:lnTo>
                <a:lnTo>
                  <a:pt x="38526" y="127003"/>
                </a:lnTo>
                <a:lnTo>
                  <a:pt x="17401" y="87481"/>
                </a:lnTo>
                <a:lnTo>
                  <a:pt x="4392" y="44598"/>
                </a:lnTo>
                <a:lnTo>
                  <a:pt x="0" y="0"/>
                </a:lnTo>
              </a:path>
            </a:pathLst>
          </a:custGeom>
          <a:ln w="19050">
            <a:solidFill>
              <a:srgbClr val="2A1F3D"/>
            </a:solidFill>
            <a:prstDash val="solid"/>
          </a:ln>
        </p:spPr>
      </p:sp>
      <p:sp>
        <p:nvSpPr>
          <p:cNvPr id="43" name="Shape 41"/>
          <p:cNvSpPr/>
          <p:nvPr/>
        </p:nvSpPr>
        <p:spPr>
          <a:xfrm>
            <a:off x="2706624" y="1463040"/>
            <a:ext cx="36576" cy="91"/>
          </a:xfrm>
          <a:prstGeom prst="line">
            <a:avLst/>
          </a:prstGeom>
          <a:noFill/>
          <a:ln w="19050">
            <a:solidFill>
              <a:srgbClr val="2A1F3D"/>
            </a:solidFill>
            <a:prstDash val="solid"/>
          </a:ln>
        </p:spPr>
      </p:sp>
      <p:sp>
        <p:nvSpPr>
          <p:cNvPr id="44" name="Shape 42"/>
          <p:cNvSpPr/>
          <p:nvPr/>
        </p:nvSpPr>
        <p:spPr>
          <a:xfrm>
            <a:off x="3200400" y="1463040"/>
            <a:ext cx="36576" cy="91"/>
          </a:xfrm>
          <a:prstGeom prst="line">
            <a:avLst/>
          </a:prstGeom>
          <a:noFill/>
          <a:ln w="19050">
            <a:solidFill>
              <a:srgbClr val="2A1F3D"/>
            </a:solidFill>
            <a:prstDash val="solid"/>
          </a:ln>
        </p:spPr>
      </p:sp>
      <p:sp>
        <p:nvSpPr>
          <p:cNvPr id="45" name="Text 43"/>
          <p:cNvSpPr/>
          <p:nvPr/>
        </p:nvSpPr>
        <p:spPr>
          <a:xfrm>
            <a:off x="2377440" y="2880360"/>
            <a:ext cx="11887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white</a:t>
            </a:r>
            <a:r>
              <a:rPr lang="en-US" sz="1050" dirty="0">
                <a:solidFill>
                  <a:srgbClr val="262B3A"/>
                </a:solidFill>
                <a:latin typeface="Calibri" pitchFamily="34" charset="0"/>
                <a:ea typeface="Calibri" pitchFamily="34" charset="-122"/>
                <a:cs typeface="Calibri" pitchFamily="34" charset="-120"/>
              </a:rPr>
              <a:t> AgCl(s)</a:t>
            </a:r>
            <a:endParaRPr lang="en-US" sz="1050" dirty="0"/>
          </a:p>
        </p:txBody>
      </p:sp>
      <p:sp>
        <p:nvSpPr>
          <p:cNvPr id="46" name="Shape 44"/>
          <p:cNvSpPr/>
          <p:nvPr/>
        </p:nvSpPr>
        <p:spPr>
          <a:xfrm>
            <a:off x="3703320" y="1348740"/>
            <a:ext cx="2011680" cy="1600200"/>
          </a:xfrm>
          <a:prstGeom prst="ellipse">
            <a:avLst/>
          </a:prstGeom>
          <a:solidFill>
            <a:srgbClr val="FFFFFF"/>
          </a:solidFill>
          <a:ln w="19050">
            <a:solidFill>
              <a:srgbClr val="6A3FA0"/>
            </a:solidFill>
            <a:prstDash val="solid"/>
          </a:ln>
        </p:spPr>
      </p:sp>
      <p:sp>
        <p:nvSpPr>
          <p:cNvPr id="47" name="Shape 45"/>
          <p:cNvSpPr/>
          <p:nvPr/>
        </p:nvSpPr>
        <p:spPr>
          <a:xfrm flipV="1">
            <a:off x="3200400" y="2377440"/>
            <a:ext cx="548640" cy="228600"/>
          </a:xfrm>
          <a:prstGeom prst="line">
            <a:avLst/>
          </a:prstGeom>
          <a:noFill/>
          <a:ln w="12700">
            <a:solidFill>
              <a:srgbClr val="6A3FA0"/>
            </a:solidFill>
            <a:prstDash val="dash"/>
          </a:ln>
        </p:spPr>
      </p:sp>
      <p:sp>
        <p:nvSpPr>
          <p:cNvPr id="48" name="Shape 46"/>
          <p:cNvSpPr/>
          <p:nvPr/>
        </p:nvSpPr>
        <p:spPr>
          <a:xfrm>
            <a:off x="4114800" y="2231136"/>
            <a:ext cx="329184" cy="329184"/>
          </a:xfrm>
          <a:prstGeom prst="ellipse">
            <a:avLst/>
          </a:prstGeom>
          <a:solidFill>
            <a:srgbClr val="E3E6EA"/>
          </a:solidFill>
          <a:ln w="12700">
            <a:solidFill>
              <a:srgbClr val="6B7385"/>
            </a:solidFill>
            <a:prstDash val="solid"/>
          </a:ln>
        </p:spPr>
      </p:sp>
      <p:sp>
        <p:nvSpPr>
          <p:cNvPr id="49" name="Text 47"/>
          <p:cNvSpPr/>
          <p:nvPr/>
        </p:nvSpPr>
        <p:spPr>
          <a:xfrm>
            <a:off x="4005072" y="2231136"/>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Ag⁺</a:t>
            </a:r>
            <a:endParaRPr lang="en-US" sz="1000" dirty="0"/>
          </a:p>
        </p:txBody>
      </p:sp>
      <p:sp>
        <p:nvSpPr>
          <p:cNvPr id="50" name="Shape 48"/>
          <p:cNvSpPr/>
          <p:nvPr/>
        </p:nvSpPr>
        <p:spPr>
          <a:xfrm>
            <a:off x="4443984" y="2231136"/>
            <a:ext cx="329184" cy="329184"/>
          </a:xfrm>
          <a:prstGeom prst="ellipse">
            <a:avLst/>
          </a:prstGeom>
          <a:solidFill>
            <a:srgbClr val="B9E0A8"/>
          </a:solidFill>
          <a:ln w="12700">
            <a:solidFill>
              <a:srgbClr val="3E7F2E"/>
            </a:solidFill>
            <a:prstDash val="solid"/>
          </a:ln>
        </p:spPr>
      </p:sp>
      <p:sp>
        <p:nvSpPr>
          <p:cNvPr id="51" name="Text 49"/>
          <p:cNvSpPr/>
          <p:nvPr/>
        </p:nvSpPr>
        <p:spPr>
          <a:xfrm>
            <a:off x="4334256" y="2231136"/>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52" name="Shape 50"/>
          <p:cNvSpPr/>
          <p:nvPr/>
        </p:nvSpPr>
        <p:spPr>
          <a:xfrm>
            <a:off x="4773168" y="2231136"/>
            <a:ext cx="329184" cy="329184"/>
          </a:xfrm>
          <a:prstGeom prst="ellipse">
            <a:avLst/>
          </a:prstGeom>
          <a:solidFill>
            <a:srgbClr val="E3E6EA"/>
          </a:solidFill>
          <a:ln w="12700">
            <a:solidFill>
              <a:srgbClr val="6B7385"/>
            </a:solidFill>
            <a:prstDash val="solid"/>
          </a:ln>
        </p:spPr>
      </p:sp>
      <p:sp>
        <p:nvSpPr>
          <p:cNvPr id="53" name="Text 51"/>
          <p:cNvSpPr/>
          <p:nvPr/>
        </p:nvSpPr>
        <p:spPr>
          <a:xfrm>
            <a:off x="4663440" y="2231136"/>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Ag⁺</a:t>
            </a:r>
            <a:endParaRPr lang="en-US" sz="1000" dirty="0"/>
          </a:p>
        </p:txBody>
      </p:sp>
      <p:sp>
        <p:nvSpPr>
          <p:cNvPr id="54" name="Shape 52"/>
          <p:cNvSpPr/>
          <p:nvPr/>
        </p:nvSpPr>
        <p:spPr>
          <a:xfrm>
            <a:off x="4114800" y="2560320"/>
            <a:ext cx="329184" cy="329184"/>
          </a:xfrm>
          <a:prstGeom prst="ellipse">
            <a:avLst/>
          </a:prstGeom>
          <a:solidFill>
            <a:srgbClr val="B9E0A8"/>
          </a:solidFill>
          <a:ln w="12700">
            <a:solidFill>
              <a:srgbClr val="3E7F2E"/>
            </a:solidFill>
            <a:prstDash val="solid"/>
          </a:ln>
        </p:spPr>
      </p:sp>
      <p:sp>
        <p:nvSpPr>
          <p:cNvPr id="55" name="Text 53"/>
          <p:cNvSpPr/>
          <p:nvPr/>
        </p:nvSpPr>
        <p:spPr>
          <a:xfrm>
            <a:off x="4005072" y="2560320"/>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56" name="Shape 54"/>
          <p:cNvSpPr/>
          <p:nvPr/>
        </p:nvSpPr>
        <p:spPr>
          <a:xfrm>
            <a:off x="4443984" y="2560320"/>
            <a:ext cx="329184" cy="329184"/>
          </a:xfrm>
          <a:prstGeom prst="ellipse">
            <a:avLst/>
          </a:prstGeom>
          <a:solidFill>
            <a:srgbClr val="E3E6EA"/>
          </a:solidFill>
          <a:ln w="12700">
            <a:solidFill>
              <a:srgbClr val="6B7385"/>
            </a:solidFill>
            <a:prstDash val="solid"/>
          </a:ln>
        </p:spPr>
      </p:sp>
      <p:sp>
        <p:nvSpPr>
          <p:cNvPr id="57" name="Text 55"/>
          <p:cNvSpPr/>
          <p:nvPr/>
        </p:nvSpPr>
        <p:spPr>
          <a:xfrm>
            <a:off x="4334256" y="2560320"/>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Ag⁺</a:t>
            </a:r>
            <a:endParaRPr lang="en-US" sz="1000" dirty="0"/>
          </a:p>
        </p:txBody>
      </p:sp>
      <p:sp>
        <p:nvSpPr>
          <p:cNvPr id="58" name="Shape 56"/>
          <p:cNvSpPr/>
          <p:nvPr/>
        </p:nvSpPr>
        <p:spPr>
          <a:xfrm>
            <a:off x="4773168" y="2560320"/>
            <a:ext cx="329184" cy="329184"/>
          </a:xfrm>
          <a:prstGeom prst="ellipse">
            <a:avLst/>
          </a:prstGeom>
          <a:solidFill>
            <a:srgbClr val="B9E0A8"/>
          </a:solidFill>
          <a:ln w="12700">
            <a:solidFill>
              <a:srgbClr val="3E7F2E"/>
            </a:solidFill>
            <a:prstDash val="solid"/>
          </a:ln>
        </p:spPr>
      </p:sp>
      <p:sp>
        <p:nvSpPr>
          <p:cNvPr id="59" name="Text 57"/>
          <p:cNvSpPr/>
          <p:nvPr/>
        </p:nvSpPr>
        <p:spPr>
          <a:xfrm>
            <a:off x="4663440" y="2560320"/>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60" name="Shape 58"/>
          <p:cNvSpPr/>
          <p:nvPr/>
        </p:nvSpPr>
        <p:spPr>
          <a:xfrm>
            <a:off x="4133088" y="1527048"/>
            <a:ext cx="329184" cy="329184"/>
          </a:xfrm>
          <a:prstGeom prst="ellipse">
            <a:avLst/>
          </a:prstGeom>
          <a:solidFill>
            <a:srgbClr val="F7E08A"/>
          </a:solidFill>
          <a:ln w="12700">
            <a:solidFill>
              <a:srgbClr val="9A7A1A"/>
            </a:solidFill>
            <a:prstDash val="solid"/>
          </a:ln>
        </p:spPr>
      </p:sp>
      <p:sp>
        <p:nvSpPr>
          <p:cNvPr id="61" name="Text 59"/>
          <p:cNvSpPr/>
          <p:nvPr/>
        </p:nvSpPr>
        <p:spPr>
          <a:xfrm>
            <a:off x="4023360" y="1527048"/>
            <a:ext cx="548640"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Na⁺</a:t>
            </a:r>
            <a:endParaRPr lang="en-US" sz="1000" dirty="0"/>
          </a:p>
        </p:txBody>
      </p:sp>
      <p:sp>
        <p:nvSpPr>
          <p:cNvPr id="62" name="Shape 60"/>
          <p:cNvSpPr/>
          <p:nvPr/>
        </p:nvSpPr>
        <p:spPr>
          <a:xfrm>
            <a:off x="4078224" y="1472184"/>
            <a:ext cx="438912" cy="438912"/>
          </a:xfrm>
          <a:prstGeom prst="ellipse">
            <a:avLst/>
          </a:prstGeom>
          <a:ln w="15875">
            <a:solidFill>
              <a:srgbClr val="C8414C"/>
            </a:solidFill>
            <a:prstDash val="dash"/>
          </a:ln>
        </p:spPr>
      </p:sp>
      <p:sp>
        <p:nvSpPr>
          <p:cNvPr id="63" name="Shape 61"/>
          <p:cNvSpPr/>
          <p:nvPr/>
        </p:nvSpPr>
        <p:spPr>
          <a:xfrm>
            <a:off x="4983480" y="1463040"/>
            <a:ext cx="365760" cy="365760"/>
          </a:xfrm>
          <a:prstGeom prst="ellipse">
            <a:avLst/>
          </a:prstGeom>
          <a:solidFill>
            <a:srgbClr val="D7C4EE"/>
          </a:solidFill>
          <a:ln w="12700">
            <a:solidFill>
              <a:srgbClr val="6A3FA0"/>
            </a:solidFill>
            <a:prstDash val="solid"/>
          </a:ln>
        </p:spPr>
      </p:sp>
      <p:sp>
        <p:nvSpPr>
          <p:cNvPr id="64" name="Text 62"/>
          <p:cNvSpPr/>
          <p:nvPr/>
        </p:nvSpPr>
        <p:spPr>
          <a:xfrm>
            <a:off x="4873752" y="1463040"/>
            <a:ext cx="585216" cy="36576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NO₃⁻</a:t>
            </a:r>
            <a:endParaRPr lang="en-US" sz="1000" dirty="0"/>
          </a:p>
        </p:txBody>
      </p:sp>
      <p:sp>
        <p:nvSpPr>
          <p:cNvPr id="65" name="Shape 63"/>
          <p:cNvSpPr/>
          <p:nvPr/>
        </p:nvSpPr>
        <p:spPr>
          <a:xfrm>
            <a:off x="4928616" y="1408176"/>
            <a:ext cx="475488" cy="475488"/>
          </a:xfrm>
          <a:prstGeom prst="ellipse">
            <a:avLst/>
          </a:prstGeom>
          <a:ln w="15875">
            <a:solidFill>
              <a:srgbClr val="C8414C"/>
            </a:solidFill>
            <a:prstDash val="dash"/>
          </a:ln>
        </p:spPr>
      </p:sp>
      <p:sp>
        <p:nvSpPr>
          <p:cNvPr id="66" name="Text 64"/>
          <p:cNvSpPr/>
          <p:nvPr/>
        </p:nvSpPr>
        <p:spPr>
          <a:xfrm>
            <a:off x="640080" y="3246120"/>
            <a:ext cx="5120640" cy="347472"/>
          </a:xfrm>
          <a:prstGeom prst="rect">
            <a:avLst/>
          </a:prstGeom>
          <a:noFill/>
          <a:ln/>
        </p:spPr>
        <p:txBody>
          <a:bodyPr wrap="square" lIns="0" tIns="0" rIns="0" bIns="0" rtlCol="0" anchor="ctr"/>
          <a:lstStyle/>
          <a:p>
            <a:pPr algn="ctr" indent="0" marL="0">
              <a:buNone/>
            </a:pPr>
            <a:r>
              <a:rPr lang="en-US" sz="1150" b="1" dirty="0">
                <a:solidFill>
                  <a:srgbClr val="2A1F3D"/>
                </a:solidFill>
                <a:latin typeface="Calibri" pitchFamily="34" charset="0"/>
                <a:ea typeface="Calibri" pitchFamily="34" charset="-122"/>
                <a:cs typeface="Calibri" pitchFamily="34" charset="-120"/>
              </a:rPr>
              <a:t>AgNO₃(aq)</a:t>
            </a:r>
            <a:r>
              <a:rPr lang="en-US" sz="1150" b="1" dirty="0">
                <a:solidFill>
                  <a:srgbClr val="2A1F3D"/>
                </a:solidFill>
                <a:latin typeface="Calibri" pitchFamily="34" charset="0"/>
                <a:ea typeface="Calibri" pitchFamily="34" charset="-122"/>
                <a:cs typeface="Calibri" pitchFamily="34" charset="-120"/>
              </a:rPr>
              <a:t> + </a:t>
            </a:r>
            <a:r>
              <a:rPr lang="en-US" sz="1150" b="1" dirty="0">
                <a:solidFill>
                  <a:srgbClr val="2A1F3D"/>
                </a:solidFill>
                <a:latin typeface="Calibri" pitchFamily="34" charset="0"/>
                <a:ea typeface="Calibri" pitchFamily="34" charset="-122"/>
                <a:cs typeface="Calibri" pitchFamily="34" charset="-120"/>
              </a:rPr>
              <a:t>NaCl(aq)</a:t>
            </a:r>
            <a:r>
              <a:rPr lang="en-US" sz="1150" b="1" dirty="0">
                <a:solidFill>
                  <a:srgbClr val="2A1F3D"/>
                </a:solidFill>
                <a:latin typeface="Calibri" pitchFamily="34" charset="0"/>
                <a:ea typeface="Calibri" pitchFamily="34" charset="-122"/>
                <a:cs typeface="Calibri" pitchFamily="34" charset="-120"/>
              </a:rPr>
              <a:t> → </a:t>
            </a:r>
            <a:r>
              <a:rPr lang="en-US" sz="1150" b="1" dirty="0">
                <a:solidFill>
                  <a:srgbClr val="2A1F3D"/>
                </a:solidFill>
                <a:latin typeface="Calibri" pitchFamily="34" charset="0"/>
                <a:ea typeface="Calibri" pitchFamily="34" charset="-122"/>
                <a:cs typeface="Calibri" pitchFamily="34" charset="-120"/>
              </a:rPr>
              <a:t>AgCl(s)</a:t>
            </a:r>
            <a:r>
              <a:rPr lang="en-US" sz="1150" b="1" dirty="0">
                <a:solidFill>
                  <a:srgbClr val="2A1F3D"/>
                </a:solidFill>
                <a:latin typeface="Calibri" pitchFamily="34" charset="0"/>
                <a:ea typeface="Calibri" pitchFamily="34" charset="-122"/>
                <a:cs typeface="Calibri" pitchFamily="34" charset="-120"/>
              </a:rPr>
              <a:t> + </a:t>
            </a:r>
            <a:r>
              <a:rPr lang="en-US" sz="1150" b="1" dirty="0">
                <a:solidFill>
                  <a:srgbClr val="2A1F3D"/>
                </a:solidFill>
                <a:latin typeface="Calibri" pitchFamily="34" charset="0"/>
                <a:ea typeface="Calibri" pitchFamily="34" charset="-122"/>
                <a:cs typeface="Calibri" pitchFamily="34" charset="-120"/>
              </a:rPr>
              <a:t>NaNO₃(aq)</a:t>
            </a:r>
            <a:endParaRPr lang="en-US" sz="1150" dirty="0"/>
          </a:p>
        </p:txBody>
      </p:sp>
      <p:sp>
        <p:nvSpPr>
          <p:cNvPr id="67" name="Text 65"/>
          <p:cNvSpPr/>
          <p:nvPr/>
        </p:nvSpPr>
        <p:spPr>
          <a:xfrm>
            <a:off x="548640" y="3703320"/>
            <a:ext cx="5303520" cy="347472"/>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Ag⁺(aq)</a:t>
            </a:r>
            <a:r>
              <a:rPr lang="en-US" sz="1100" b="1" dirty="0">
                <a:solidFill>
                  <a:srgbClr val="2A1F3D"/>
                </a:solidFill>
                <a:latin typeface="Calibri" pitchFamily="34" charset="0"/>
                <a:ea typeface="Calibri" pitchFamily="34" charset="-122"/>
                <a:cs typeface="Calibri" pitchFamily="34" charset="-120"/>
              </a:rPr>
              <a:t> + </a:t>
            </a:r>
            <a:r>
              <a:rPr lang="en-US" sz="1100" b="1" strike="sngStrike" dirty="0">
                <a:solidFill>
                  <a:srgbClr val="C8414C"/>
                </a:solidFill>
                <a:latin typeface="Calibri" pitchFamily="34" charset="0"/>
                <a:ea typeface="Calibri" pitchFamily="34" charset="-122"/>
                <a:cs typeface="Calibri" pitchFamily="34" charset="-120"/>
              </a:rPr>
              <a:t>NO₃⁻(aq)</a:t>
            </a:r>
            <a:r>
              <a:rPr lang="en-US" sz="1100" b="1" dirty="0">
                <a:solidFill>
                  <a:srgbClr val="2A1F3D"/>
                </a:solidFill>
                <a:latin typeface="Calibri" pitchFamily="34" charset="0"/>
                <a:ea typeface="Calibri" pitchFamily="34" charset="-122"/>
                <a:cs typeface="Calibri" pitchFamily="34" charset="-120"/>
              </a:rPr>
              <a:t> + </a:t>
            </a:r>
            <a:r>
              <a:rPr lang="en-US" sz="1100" b="1" strike="sngStrike" dirty="0">
                <a:solidFill>
                  <a:srgbClr val="C8414C"/>
                </a:solidFill>
                <a:latin typeface="Calibri" pitchFamily="34" charset="0"/>
                <a:ea typeface="Calibri" pitchFamily="34" charset="-122"/>
                <a:cs typeface="Calibri" pitchFamily="34" charset="-120"/>
              </a:rPr>
              <a:t>Na⁺(aq)</a:t>
            </a:r>
            <a:r>
              <a:rPr lang="en-US" sz="1100" b="1" dirty="0">
                <a:solidFill>
                  <a:srgbClr val="2A1F3D"/>
                </a:solidFill>
                <a:latin typeface="Calibri" pitchFamily="34" charset="0"/>
                <a:ea typeface="Calibri" pitchFamily="34" charset="-122"/>
                <a:cs typeface="Calibri" pitchFamily="34" charset="-120"/>
              </a:rPr>
              <a:t> + </a:t>
            </a:r>
            <a:r>
              <a:rPr lang="en-US" sz="1100" b="1" dirty="0">
                <a:solidFill>
                  <a:srgbClr val="2A1F3D"/>
                </a:solidFill>
                <a:latin typeface="Calibri" pitchFamily="34" charset="0"/>
                <a:ea typeface="Calibri" pitchFamily="34" charset="-122"/>
                <a:cs typeface="Calibri" pitchFamily="34" charset="-120"/>
              </a:rPr>
              <a:t>Cl⁻(aq)</a:t>
            </a:r>
            <a:r>
              <a:rPr lang="en-US" sz="1100" b="1" dirty="0">
                <a:solidFill>
                  <a:srgbClr val="2A1F3D"/>
                </a:solidFill>
                <a:latin typeface="Calibri" pitchFamily="34" charset="0"/>
                <a:ea typeface="Calibri" pitchFamily="34" charset="-122"/>
                <a:cs typeface="Calibri" pitchFamily="34" charset="-120"/>
              </a:rPr>
              <a:t> → </a:t>
            </a:r>
            <a:r>
              <a:rPr lang="en-US" sz="1100" b="1" dirty="0">
                <a:solidFill>
                  <a:srgbClr val="2A1F3D"/>
                </a:solidFill>
                <a:latin typeface="Calibri" pitchFamily="34" charset="0"/>
                <a:ea typeface="Calibri" pitchFamily="34" charset="-122"/>
                <a:cs typeface="Calibri" pitchFamily="34" charset="-120"/>
              </a:rPr>
              <a:t>AgCl(s)</a:t>
            </a:r>
            <a:r>
              <a:rPr lang="en-US" sz="1100" b="1" dirty="0">
                <a:solidFill>
                  <a:srgbClr val="2A1F3D"/>
                </a:solidFill>
                <a:latin typeface="Calibri" pitchFamily="34" charset="0"/>
                <a:ea typeface="Calibri" pitchFamily="34" charset="-122"/>
                <a:cs typeface="Calibri" pitchFamily="34" charset="-120"/>
              </a:rPr>
              <a:t> + </a:t>
            </a:r>
            <a:r>
              <a:rPr lang="en-US" sz="1100" b="1" strike="sngStrike" dirty="0">
                <a:solidFill>
                  <a:srgbClr val="C8414C"/>
                </a:solidFill>
                <a:latin typeface="Calibri" pitchFamily="34" charset="0"/>
                <a:ea typeface="Calibri" pitchFamily="34" charset="-122"/>
                <a:cs typeface="Calibri" pitchFamily="34" charset="-120"/>
              </a:rPr>
              <a:t>Na⁺(aq)</a:t>
            </a:r>
            <a:r>
              <a:rPr lang="en-US" sz="1100" b="1" dirty="0">
                <a:solidFill>
                  <a:srgbClr val="2A1F3D"/>
                </a:solidFill>
                <a:latin typeface="Calibri" pitchFamily="34" charset="0"/>
                <a:ea typeface="Calibri" pitchFamily="34" charset="-122"/>
                <a:cs typeface="Calibri" pitchFamily="34" charset="-120"/>
              </a:rPr>
              <a:t> + </a:t>
            </a:r>
            <a:r>
              <a:rPr lang="en-US" sz="1100" b="1" strike="sngStrike" dirty="0">
                <a:solidFill>
                  <a:srgbClr val="C8414C"/>
                </a:solidFill>
                <a:latin typeface="Calibri" pitchFamily="34" charset="0"/>
                <a:ea typeface="Calibri" pitchFamily="34" charset="-122"/>
                <a:cs typeface="Calibri" pitchFamily="34" charset="-120"/>
              </a:rPr>
              <a:t>NO₃⁻(aq)</a:t>
            </a:r>
            <a:endParaRPr lang="en-US" sz="1100" dirty="0"/>
          </a:p>
        </p:txBody>
      </p:sp>
      <p:sp>
        <p:nvSpPr>
          <p:cNvPr id="68" name="Shape 66"/>
          <p:cNvSpPr/>
          <p:nvPr/>
        </p:nvSpPr>
        <p:spPr>
          <a:xfrm>
            <a:off x="1280160" y="4206240"/>
            <a:ext cx="3840480" cy="457200"/>
          </a:xfrm>
          <a:prstGeom prst="roundRect">
            <a:avLst>
              <a:gd name="adj" fmla="val 10000"/>
            </a:avLst>
          </a:prstGeom>
          <a:solidFill>
            <a:srgbClr val="FBE3E4"/>
          </a:solidFill>
          <a:ln w="12700">
            <a:solidFill>
              <a:srgbClr val="C8414C"/>
            </a:solidFill>
            <a:prstDash val="solid"/>
          </a:ln>
        </p:spPr>
      </p:sp>
      <p:sp>
        <p:nvSpPr>
          <p:cNvPr id="69" name="Text 67"/>
          <p:cNvSpPr/>
          <p:nvPr/>
        </p:nvSpPr>
        <p:spPr>
          <a:xfrm>
            <a:off x="1353312" y="4206240"/>
            <a:ext cx="3694176" cy="457200"/>
          </a:xfrm>
          <a:prstGeom prst="rect">
            <a:avLst/>
          </a:prstGeom>
          <a:noFill/>
          <a:ln/>
        </p:spPr>
        <p:txBody>
          <a:bodyPr wrap="square" lIns="0" tIns="0" rIns="0" bIns="0" rtlCol="0" anchor="ctr"/>
          <a:lstStyle/>
          <a:p>
            <a:pPr algn="ctr" indent="0" marL="0">
              <a:buNone/>
            </a:pPr>
            <a:r>
              <a:rPr lang="en-US" sz="1400" b="1" dirty="0">
                <a:solidFill>
                  <a:srgbClr val="C8414C"/>
                </a:solidFill>
                <a:latin typeface="Calibri" pitchFamily="34" charset="0"/>
                <a:ea typeface="Calibri" pitchFamily="34" charset="-122"/>
                <a:cs typeface="Calibri" pitchFamily="34" charset="-120"/>
              </a:rPr>
              <a:t>Ag⁺(aq) + Cl⁻(aq) → AgCl(s)</a:t>
            </a:r>
            <a:endParaRPr lang="en-US" sz="1400" dirty="0"/>
          </a:p>
        </p:txBody>
      </p:sp>
      <p:sp>
        <p:nvSpPr>
          <p:cNvPr id="70" name="Text 68"/>
          <p:cNvSpPr/>
          <p:nvPr/>
        </p:nvSpPr>
        <p:spPr>
          <a:xfrm>
            <a:off x="640080" y="4754880"/>
            <a:ext cx="5120640" cy="256032"/>
          </a:xfrm>
          <a:prstGeom prst="rect">
            <a:avLst/>
          </a:prstGeom>
          <a:noFill/>
          <a:ln/>
        </p:spPr>
        <p:txBody>
          <a:bodyPr wrap="square" lIns="0" tIns="0" rIns="0" bIns="0" rtlCol="0" anchor="ctr"/>
          <a:lstStyle/>
          <a:p>
            <a:pPr algn="ctr" indent="0" marL="0">
              <a:buNone/>
            </a:pPr>
            <a:r>
              <a:rPr lang="en-US" sz="1050" i="1" dirty="0">
                <a:solidFill>
                  <a:srgbClr val="262B3A"/>
                </a:solidFill>
                <a:latin typeface="Calibri" pitchFamily="34" charset="0"/>
                <a:ea typeface="Calibri" pitchFamily="34" charset="-122"/>
                <a:cs typeface="Calibri" pitchFamily="34" charset="-120"/>
              </a:rPr>
              <a:t>ionic equation: only the ions that form the solid</a:t>
            </a:r>
            <a:endParaRPr lang="en-US" sz="1050" dirty="0"/>
          </a:p>
        </p:txBody>
      </p:sp>
      <p:sp>
        <p:nvSpPr>
          <p:cNvPr id="71" name="Shape 69"/>
          <p:cNvSpPr/>
          <p:nvPr/>
        </p:nvSpPr>
        <p:spPr>
          <a:xfrm>
            <a:off x="6217920" y="1188720"/>
            <a:ext cx="5562295" cy="2377440"/>
          </a:xfrm>
          <a:prstGeom prst="roundRect">
            <a:avLst>
              <a:gd name="adj" fmla="val 2308"/>
            </a:avLst>
          </a:prstGeom>
          <a:solidFill>
            <a:srgbClr val="F8F5FC"/>
          </a:solidFill>
          <a:ln w="9525">
            <a:solidFill>
              <a:srgbClr val="DDD3EC"/>
            </a:solidFill>
            <a:prstDash val="solid"/>
          </a:ln>
        </p:spPr>
      </p:sp>
      <p:sp>
        <p:nvSpPr>
          <p:cNvPr id="72" name="Text 7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What is a precipitate?</a:t>
            </a:r>
            <a:endParaRPr lang="en-US" sz="1300" dirty="0"/>
          </a:p>
        </p:txBody>
      </p:sp>
      <p:sp>
        <p:nvSpPr>
          <p:cNvPr id="73" name="Text 71"/>
          <p:cNvSpPr/>
          <p:nvPr/>
        </p:nvSpPr>
        <p:spPr>
          <a:xfrm>
            <a:off x="6382512" y="1609344"/>
            <a:ext cx="5233111" cy="188366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precipitate</a:t>
            </a:r>
            <a:r>
              <a:rPr lang="en-US" sz="1150" dirty="0">
                <a:solidFill>
                  <a:srgbClr val="262B3A"/>
                </a:solidFill>
                <a:latin typeface="Calibri" pitchFamily="34" charset="0"/>
                <a:ea typeface="Calibri" pitchFamily="34" charset="-122"/>
                <a:cs typeface="Calibri" pitchFamily="34" charset="-120"/>
              </a:rPr>
              <a:t> is an </a:t>
            </a:r>
            <a:r>
              <a:rPr lang="en-US" sz="1150" b="1" dirty="0">
                <a:solidFill>
                  <a:srgbClr val="262B3A"/>
                </a:solidFill>
                <a:latin typeface="Calibri" pitchFamily="34" charset="0"/>
                <a:ea typeface="Calibri" pitchFamily="34" charset="-122"/>
                <a:cs typeface="Calibri" pitchFamily="34" charset="-120"/>
              </a:rPr>
              <a:t>insoluble solid</a:t>
            </a:r>
            <a:r>
              <a:rPr lang="en-US" sz="1150" dirty="0">
                <a:solidFill>
                  <a:srgbClr val="262B3A"/>
                </a:solidFill>
                <a:latin typeface="Calibri" pitchFamily="34" charset="0"/>
                <a:ea typeface="Calibri" pitchFamily="34" charset="-122"/>
                <a:cs typeface="Calibri" pitchFamily="34" charset="-120"/>
              </a:rPr>
              <a:t> formed when two solutions are mixed.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Use the </a:t>
            </a:r>
            <a:r>
              <a:rPr lang="en-US" sz="1150" b="1" dirty="0">
                <a:solidFill>
                  <a:srgbClr val="262B3A"/>
                </a:solidFill>
                <a:latin typeface="Calibri" pitchFamily="34" charset="0"/>
                <a:ea typeface="Calibri" pitchFamily="34" charset="-122"/>
                <a:cs typeface="Calibri" pitchFamily="34" charset="-120"/>
              </a:rPr>
              <a:t>solubility rules</a:t>
            </a:r>
            <a:r>
              <a:rPr lang="en-US" sz="1150" dirty="0">
                <a:solidFill>
                  <a:srgbClr val="262B3A"/>
                </a:solidFill>
                <a:latin typeface="Calibri" pitchFamily="34" charset="0"/>
                <a:ea typeface="Calibri" pitchFamily="34" charset="-122"/>
                <a:cs typeface="Calibri" pitchFamily="34" charset="-120"/>
              </a:rPr>
              <a:t> to predict it, and </a:t>
            </a:r>
            <a:r>
              <a:rPr lang="en-US" sz="1150" b="1" dirty="0">
                <a:solidFill>
                  <a:srgbClr val="262B3A"/>
                </a:solidFill>
                <a:latin typeface="Calibri" pitchFamily="34" charset="0"/>
                <a:ea typeface="Calibri" pitchFamily="34" charset="-122"/>
                <a:cs typeface="Calibri" pitchFamily="34" charset="-120"/>
              </a:rPr>
              <a:t>name</a:t>
            </a:r>
            <a:r>
              <a:rPr lang="en-US" sz="1150" dirty="0">
                <a:solidFill>
                  <a:srgbClr val="262B3A"/>
                </a:solidFill>
                <a:latin typeface="Calibri" pitchFamily="34" charset="0"/>
                <a:ea typeface="Calibri" pitchFamily="34" charset="-122"/>
                <a:cs typeface="Calibri" pitchFamily="34" charset="-120"/>
              </a:rPr>
              <a:t> it.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Colours: AgCl </a:t>
            </a:r>
            <a:r>
              <a:rPr lang="en-US" sz="1150" b="1" dirty="0">
                <a:solidFill>
                  <a:srgbClr val="262B3A"/>
                </a:solidFill>
                <a:latin typeface="Calibri" pitchFamily="34" charset="0"/>
                <a:ea typeface="Calibri" pitchFamily="34" charset="-122"/>
                <a:cs typeface="Calibri" pitchFamily="34" charset="-120"/>
              </a:rPr>
              <a:t>white</a:t>
            </a:r>
            <a:r>
              <a:rPr lang="en-US" sz="1150" dirty="0">
                <a:solidFill>
                  <a:srgbClr val="262B3A"/>
                </a:solidFill>
                <a:latin typeface="Calibri" pitchFamily="34" charset="0"/>
                <a:ea typeface="Calibri" pitchFamily="34" charset="-122"/>
                <a:cs typeface="Calibri" pitchFamily="34" charset="-120"/>
              </a:rPr>
              <a:t>, BaSO₄ </a:t>
            </a:r>
            <a:r>
              <a:rPr lang="en-US" sz="1150" b="1" dirty="0">
                <a:solidFill>
                  <a:srgbClr val="262B3A"/>
                </a:solidFill>
                <a:latin typeface="Calibri" pitchFamily="34" charset="0"/>
                <a:ea typeface="Calibri" pitchFamily="34" charset="-122"/>
                <a:cs typeface="Calibri" pitchFamily="34" charset="-120"/>
              </a:rPr>
              <a:t>white</a:t>
            </a:r>
            <a:r>
              <a:rPr lang="en-US" sz="1150" dirty="0">
                <a:solidFill>
                  <a:srgbClr val="262B3A"/>
                </a:solidFill>
                <a:latin typeface="Calibri" pitchFamily="34" charset="0"/>
                <a:ea typeface="Calibri" pitchFamily="34" charset="-122"/>
                <a:cs typeface="Calibri" pitchFamily="34" charset="-120"/>
              </a:rPr>
              <a:t>, CaCO₃ </a:t>
            </a:r>
            <a:r>
              <a:rPr lang="en-US" sz="1150" b="1" dirty="0">
                <a:solidFill>
                  <a:srgbClr val="262B3A"/>
                </a:solidFill>
                <a:latin typeface="Calibri" pitchFamily="34" charset="0"/>
                <a:ea typeface="Calibri" pitchFamily="34" charset="-122"/>
                <a:cs typeface="Calibri" pitchFamily="34" charset="-120"/>
              </a:rPr>
              <a:t>white</a:t>
            </a:r>
            <a:r>
              <a:rPr lang="en-US" sz="1150" dirty="0">
                <a:solidFill>
                  <a:srgbClr val="262B3A"/>
                </a:solidFill>
                <a:latin typeface="Calibri" pitchFamily="34" charset="0"/>
                <a:ea typeface="Calibri" pitchFamily="34" charset="-122"/>
                <a:cs typeface="Calibri" pitchFamily="34" charset="-120"/>
              </a:rPr>
              <a:t>, Cu(OH)₂ </a:t>
            </a:r>
            <a:r>
              <a:rPr lang="en-US" sz="1150" b="1" dirty="0">
                <a:solidFill>
                  <a:srgbClr val="262B3A"/>
                </a:solidFill>
                <a:latin typeface="Calibri" pitchFamily="34" charset="0"/>
                <a:ea typeface="Calibri" pitchFamily="34" charset="-122"/>
                <a:cs typeface="Calibri" pitchFamily="34" charset="-120"/>
              </a:rPr>
              <a:t>blue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Ionic equation (HT): the two ions that make the solid → the solid </a:t>
            </a:r>
            <a:r>
              <a:rPr lang="en-US" sz="1150" b="1" dirty="0">
                <a:solidFill>
                  <a:srgbClr val="262B3A"/>
                </a:solidFill>
                <a:latin typeface="Calibri" pitchFamily="34" charset="0"/>
                <a:ea typeface="Calibri" pitchFamily="34" charset="-122"/>
                <a:cs typeface="Calibri" pitchFamily="34" charset="-120"/>
              </a:rPr>
              <a:t>(s)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74" name="Shape 72"/>
          <p:cNvSpPr/>
          <p:nvPr/>
        </p:nvSpPr>
        <p:spPr>
          <a:xfrm>
            <a:off x="6217920" y="3703320"/>
            <a:ext cx="5562295" cy="2011680"/>
          </a:xfrm>
          <a:prstGeom prst="roundRect">
            <a:avLst>
              <a:gd name="adj" fmla="val 2727"/>
            </a:avLst>
          </a:prstGeom>
          <a:solidFill>
            <a:srgbClr val="FFF4E0"/>
          </a:solidFill>
          <a:ln w="9525">
            <a:solidFill>
              <a:srgbClr val="F1D9A8"/>
            </a:solidFill>
            <a:prstDash val="solid"/>
          </a:ln>
        </p:spPr>
      </p:sp>
      <p:sp>
        <p:nvSpPr>
          <p:cNvPr id="75" name="Text 73"/>
          <p:cNvSpPr/>
          <p:nvPr/>
        </p:nvSpPr>
        <p:spPr>
          <a:xfrm>
            <a:off x="6382512" y="377647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(HT)</a:t>
            </a:r>
            <a:endParaRPr lang="en-US" sz="1300" dirty="0"/>
          </a:p>
        </p:txBody>
      </p:sp>
      <p:sp>
        <p:nvSpPr>
          <p:cNvPr id="76" name="Text 74"/>
          <p:cNvSpPr/>
          <p:nvPr/>
        </p:nvSpPr>
        <p:spPr>
          <a:xfrm>
            <a:off x="6382512" y="4087368"/>
            <a:ext cx="5233111" cy="15544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Barium chloride solution + sodium sulfate solution.</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Full   </a:t>
            </a:r>
            <a:r>
              <a:rPr lang="en-US" sz="1050" dirty="0">
                <a:solidFill>
                  <a:srgbClr val="262B3A"/>
                </a:solidFill>
                <a:latin typeface="Calibri" pitchFamily="34" charset="0"/>
                <a:ea typeface="Calibri" pitchFamily="34" charset="-122"/>
                <a:cs typeface="Calibri" pitchFamily="34" charset="-120"/>
              </a:rPr>
              <a:t>BaCl₂(aq) + Na₂SO₄(aq) → BaSO₄(s) + 2NaCl(aq)</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Ions   </a:t>
            </a:r>
            <a:r>
              <a:rPr lang="en-US" sz="1050" dirty="0">
                <a:solidFill>
                  <a:srgbClr val="262B3A"/>
                </a:solidFill>
                <a:latin typeface="Calibri" pitchFamily="34" charset="0"/>
                <a:ea typeface="Calibri" pitchFamily="34" charset="-122"/>
                <a:cs typeface="Calibri" pitchFamily="34" charset="-120"/>
              </a:rPr>
              <a:t>cancel 2Na⁺(aq) and 2Cl⁻(aq) (spectators)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Ionic   </a:t>
            </a:r>
            <a:r>
              <a:rPr lang="en-US" sz="1050" dirty="0">
                <a:solidFill>
                  <a:srgbClr val="262B3A"/>
                </a:solidFill>
                <a:latin typeface="Calibri" pitchFamily="34" charset="0"/>
                <a:ea typeface="Calibri" pitchFamily="34" charset="-122"/>
                <a:cs typeface="Calibri" pitchFamily="34" charset="-120"/>
              </a:rPr>
              <a:t>Ba²⁺(aq) + SO₄²⁻(aq) → BaSO₄(s)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4 Check   </a:t>
            </a:r>
            <a:r>
              <a:rPr lang="en-US" sz="1050" b="1" dirty="0">
                <a:solidFill>
                  <a:srgbClr val="C8414C"/>
                </a:solidFill>
                <a:latin typeface="Calibri" pitchFamily="34" charset="0"/>
                <a:ea typeface="Calibri" pitchFamily="34" charset="-122"/>
                <a:cs typeface="Calibri" pitchFamily="34" charset="-120"/>
              </a:rPr>
              <a:t>atoms Ba 1, O 4, S 1 on each side; charge 0 = 0 ✓</a:t>
            </a:r>
            <a:endParaRPr lang="en-US" sz="1050" dirty="0"/>
          </a:p>
        </p:txBody>
      </p:sp>
      <p:sp>
        <p:nvSpPr>
          <p:cNvPr id="77" name="Shape 75"/>
          <p:cNvSpPr/>
          <p:nvPr/>
        </p:nvSpPr>
        <p:spPr>
          <a:xfrm>
            <a:off x="411480" y="5833872"/>
            <a:ext cx="11368735" cy="530352"/>
          </a:xfrm>
          <a:prstGeom prst="rect">
            <a:avLst/>
          </a:prstGeom>
          <a:solidFill>
            <a:srgbClr val="FFF4E0"/>
          </a:solidFill>
          <a:ln w="6350">
            <a:solidFill>
              <a:srgbClr val="F1D9A8"/>
            </a:solidFill>
            <a:prstDash val="solid"/>
          </a:ln>
        </p:spPr>
      </p:sp>
      <p:sp>
        <p:nvSpPr>
          <p:cNvPr id="78" name="Shape 76"/>
          <p:cNvSpPr/>
          <p:nvPr/>
        </p:nvSpPr>
        <p:spPr>
          <a:xfrm>
            <a:off x="411480" y="5833872"/>
            <a:ext cx="82296" cy="530352"/>
          </a:xfrm>
          <a:prstGeom prst="rect">
            <a:avLst/>
          </a:prstGeom>
          <a:solidFill>
            <a:srgbClr val="E39A2F"/>
          </a:solidFill>
          <a:ln w="12700">
            <a:solidFill>
              <a:srgbClr val="E39A2F"/>
            </a:solidFill>
            <a:prstDash val="solid"/>
          </a:ln>
        </p:spPr>
      </p:sp>
      <p:sp>
        <p:nvSpPr>
          <p:cNvPr id="79" name="Text 7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HT: write the ionic equation, with state symbols, for the </a:t>
            </a:r>
            <a:r>
              <a:rPr lang="en-US" sz="1150" b="1" dirty="0">
                <a:solidFill>
                  <a:srgbClr val="262B3A"/>
                </a:solidFill>
                <a:latin typeface="Calibri" pitchFamily="34" charset="0"/>
                <a:ea typeface="Calibri" pitchFamily="34" charset="-122"/>
                <a:cs typeface="Calibri" pitchFamily="34" charset="-120"/>
              </a:rPr>
              <a:t>blue</a:t>
            </a:r>
            <a:r>
              <a:rPr lang="en-US" sz="1150" dirty="0">
                <a:solidFill>
                  <a:srgbClr val="262B3A"/>
                </a:solidFill>
                <a:latin typeface="Calibri" pitchFamily="34" charset="0"/>
                <a:ea typeface="Calibri" pitchFamily="34" charset="-122"/>
                <a:cs typeface="Calibri" pitchFamily="34" charset="-120"/>
              </a:rPr>
              <a:t> precipitate formed when copper sulfate solution is mixed with sodium hydroxide solution.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Making a pure, dry insoluble salt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3.21 • precipitate → filter → wash → dry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3.21  |  26</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making calcium carbonate from two solutions</a:t>
            </a:r>
            <a:endParaRPr lang="en-US" sz="1000" dirty="0"/>
          </a:p>
        </p:txBody>
      </p:sp>
      <p:sp>
        <p:nvSpPr>
          <p:cNvPr id="10" name="Shape 8"/>
          <p:cNvSpPr/>
          <p:nvPr/>
        </p:nvSpPr>
        <p:spPr>
          <a:xfrm>
            <a:off x="548640" y="1325880"/>
            <a:ext cx="2606040" cy="1965960"/>
          </a:xfrm>
          <a:prstGeom prst="roundRect">
            <a:avLst>
              <a:gd name="adj" fmla="val 2326"/>
            </a:avLst>
          </a:prstGeom>
          <a:solidFill>
            <a:srgbClr val="FFFFFF"/>
          </a:solidFill>
          <a:ln w="12700">
            <a:solidFill>
              <a:srgbClr val="DDD3EC"/>
            </a:solidFill>
            <a:prstDash val="solid"/>
          </a:ln>
        </p:spPr>
      </p:sp>
      <p:sp>
        <p:nvSpPr>
          <p:cNvPr id="11" name="Shape 9"/>
          <p:cNvSpPr/>
          <p:nvPr/>
        </p:nvSpPr>
        <p:spPr>
          <a:xfrm>
            <a:off x="3291840" y="1325880"/>
            <a:ext cx="2606040" cy="1965960"/>
          </a:xfrm>
          <a:prstGeom prst="roundRect">
            <a:avLst>
              <a:gd name="adj" fmla="val 2326"/>
            </a:avLst>
          </a:prstGeom>
          <a:solidFill>
            <a:srgbClr val="FFFFFF"/>
          </a:solidFill>
          <a:ln w="12700">
            <a:solidFill>
              <a:srgbClr val="DDD3EC"/>
            </a:solidFill>
            <a:prstDash val="solid"/>
          </a:ln>
        </p:spPr>
      </p:sp>
      <p:sp>
        <p:nvSpPr>
          <p:cNvPr id="12" name="Shape 10"/>
          <p:cNvSpPr/>
          <p:nvPr/>
        </p:nvSpPr>
        <p:spPr>
          <a:xfrm>
            <a:off x="548640" y="3364992"/>
            <a:ext cx="2606040" cy="1965960"/>
          </a:xfrm>
          <a:prstGeom prst="roundRect">
            <a:avLst>
              <a:gd name="adj" fmla="val 2326"/>
            </a:avLst>
          </a:prstGeom>
          <a:solidFill>
            <a:srgbClr val="FFFFFF"/>
          </a:solidFill>
          <a:ln w="12700">
            <a:solidFill>
              <a:srgbClr val="DDD3EC"/>
            </a:solidFill>
            <a:prstDash val="solid"/>
          </a:ln>
        </p:spPr>
      </p:sp>
      <p:sp>
        <p:nvSpPr>
          <p:cNvPr id="13" name="Shape 11"/>
          <p:cNvSpPr/>
          <p:nvPr/>
        </p:nvSpPr>
        <p:spPr>
          <a:xfrm>
            <a:off x="3291840" y="3364992"/>
            <a:ext cx="2606040" cy="1965960"/>
          </a:xfrm>
          <a:prstGeom prst="roundRect">
            <a:avLst>
              <a:gd name="adj" fmla="val 2326"/>
            </a:avLst>
          </a:prstGeom>
          <a:solidFill>
            <a:srgbClr val="FFFFFF"/>
          </a:solidFill>
          <a:ln w="12700">
            <a:solidFill>
              <a:srgbClr val="DDD3EC"/>
            </a:solidFill>
            <a:prstDash val="solid"/>
          </a:ln>
        </p:spPr>
      </p:sp>
      <p:sp>
        <p:nvSpPr>
          <p:cNvPr id="14" name="Shape 12"/>
          <p:cNvSpPr/>
          <p:nvPr/>
        </p:nvSpPr>
        <p:spPr>
          <a:xfrm>
            <a:off x="621792" y="1399032"/>
            <a:ext cx="310896" cy="310896"/>
          </a:xfrm>
          <a:prstGeom prst="ellipse">
            <a:avLst/>
          </a:prstGeom>
          <a:solidFill>
            <a:srgbClr val="6A3FA0"/>
          </a:solidFill>
          <a:ln w="19050">
            <a:solidFill>
              <a:srgbClr val="FFFFFF"/>
            </a:solidFill>
            <a:prstDash val="solid"/>
          </a:ln>
        </p:spPr>
      </p:sp>
      <p:sp>
        <p:nvSpPr>
          <p:cNvPr id="15" name="Text 13"/>
          <p:cNvSpPr/>
          <p:nvPr/>
        </p:nvSpPr>
        <p:spPr>
          <a:xfrm>
            <a:off x="621792" y="139903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4"/>
          <p:cNvSpPr/>
          <p:nvPr/>
        </p:nvSpPr>
        <p:spPr>
          <a:xfrm>
            <a:off x="987552" y="1380744"/>
            <a:ext cx="2103120" cy="384048"/>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mix</a:t>
            </a:r>
            <a:r>
              <a:rPr lang="en-US" sz="1050" dirty="0">
                <a:solidFill>
                  <a:srgbClr val="262B3A"/>
                </a:solidFill>
                <a:latin typeface="Calibri" pitchFamily="34" charset="0"/>
                <a:ea typeface="Calibri" pitchFamily="34" charset="-122"/>
                <a:cs typeface="Calibri" pitchFamily="34" charset="-120"/>
              </a:rPr>
              <a:t> the two solutions; stir</a:t>
            </a:r>
            <a:endParaRPr lang="en-US" sz="1050" dirty="0"/>
          </a:p>
        </p:txBody>
      </p:sp>
      <p:sp>
        <p:nvSpPr>
          <p:cNvPr id="17" name="Shape 15"/>
          <p:cNvSpPr/>
          <p:nvPr/>
        </p:nvSpPr>
        <p:spPr>
          <a:xfrm>
            <a:off x="3364992" y="1399032"/>
            <a:ext cx="310896" cy="310896"/>
          </a:xfrm>
          <a:prstGeom prst="ellipse">
            <a:avLst/>
          </a:prstGeom>
          <a:solidFill>
            <a:srgbClr val="6A3FA0"/>
          </a:solidFill>
          <a:ln w="19050">
            <a:solidFill>
              <a:srgbClr val="FFFFFF"/>
            </a:solidFill>
            <a:prstDash val="solid"/>
          </a:ln>
        </p:spPr>
      </p:sp>
      <p:sp>
        <p:nvSpPr>
          <p:cNvPr id="18" name="Text 16"/>
          <p:cNvSpPr/>
          <p:nvPr/>
        </p:nvSpPr>
        <p:spPr>
          <a:xfrm>
            <a:off x="3364992" y="139903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7"/>
          <p:cNvSpPr/>
          <p:nvPr/>
        </p:nvSpPr>
        <p:spPr>
          <a:xfrm>
            <a:off x="3730752" y="1380744"/>
            <a:ext cx="2103120" cy="384048"/>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filter</a:t>
            </a:r>
            <a:r>
              <a:rPr lang="en-US" sz="1050" dirty="0">
                <a:solidFill>
                  <a:srgbClr val="262B3A"/>
                </a:solidFill>
                <a:latin typeface="Calibri" pitchFamily="34" charset="0"/>
                <a:ea typeface="Calibri" pitchFamily="34" charset="-122"/>
                <a:cs typeface="Calibri" pitchFamily="34" charset="-120"/>
              </a:rPr>
              <a:t> to collect the precipitate</a:t>
            </a:r>
            <a:endParaRPr lang="en-US" sz="1050" dirty="0"/>
          </a:p>
        </p:txBody>
      </p:sp>
      <p:sp>
        <p:nvSpPr>
          <p:cNvPr id="20" name="Shape 18"/>
          <p:cNvSpPr/>
          <p:nvPr/>
        </p:nvSpPr>
        <p:spPr>
          <a:xfrm>
            <a:off x="621792" y="3438144"/>
            <a:ext cx="310896" cy="310896"/>
          </a:xfrm>
          <a:prstGeom prst="ellipse">
            <a:avLst/>
          </a:prstGeom>
          <a:solidFill>
            <a:srgbClr val="6A3FA0"/>
          </a:solidFill>
          <a:ln w="19050">
            <a:solidFill>
              <a:srgbClr val="FFFFFF"/>
            </a:solidFill>
            <a:prstDash val="solid"/>
          </a:ln>
        </p:spPr>
      </p:sp>
      <p:sp>
        <p:nvSpPr>
          <p:cNvPr id="21" name="Text 19"/>
          <p:cNvSpPr/>
          <p:nvPr/>
        </p:nvSpPr>
        <p:spPr>
          <a:xfrm>
            <a:off x="621792" y="34381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987552" y="3419856"/>
            <a:ext cx="2103120" cy="384048"/>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wash</a:t>
            </a:r>
            <a:r>
              <a:rPr lang="en-US" sz="1050" dirty="0">
                <a:solidFill>
                  <a:srgbClr val="262B3A"/>
                </a:solidFill>
                <a:latin typeface="Calibri" pitchFamily="34" charset="0"/>
                <a:ea typeface="Calibri" pitchFamily="34" charset="-122"/>
                <a:cs typeface="Calibri" pitchFamily="34" charset="-120"/>
              </a:rPr>
              <a:t> with distilled water</a:t>
            </a:r>
            <a:endParaRPr lang="en-US" sz="1050" dirty="0"/>
          </a:p>
        </p:txBody>
      </p:sp>
      <p:sp>
        <p:nvSpPr>
          <p:cNvPr id="23" name="Shape 21"/>
          <p:cNvSpPr/>
          <p:nvPr/>
        </p:nvSpPr>
        <p:spPr>
          <a:xfrm>
            <a:off x="3364992" y="3438144"/>
            <a:ext cx="310896" cy="310896"/>
          </a:xfrm>
          <a:prstGeom prst="ellipse">
            <a:avLst/>
          </a:prstGeom>
          <a:solidFill>
            <a:srgbClr val="6A3FA0"/>
          </a:solidFill>
          <a:ln w="19050">
            <a:solidFill>
              <a:srgbClr val="FFFFFF"/>
            </a:solidFill>
            <a:prstDash val="solid"/>
          </a:ln>
        </p:spPr>
      </p:sp>
      <p:sp>
        <p:nvSpPr>
          <p:cNvPr id="24" name="Text 22"/>
          <p:cNvSpPr/>
          <p:nvPr/>
        </p:nvSpPr>
        <p:spPr>
          <a:xfrm>
            <a:off x="3364992" y="34381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3730752" y="3419856"/>
            <a:ext cx="2103120" cy="384048"/>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dry</a:t>
            </a:r>
            <a:r>
              <a:rPr lang="en-US" sz="1050" dirty="0">
                <a:solidFill>
                  <a:srgbClr val="262B3A"/>
                </a:solidFill>
                <a:latin typeface="Calibri" pitchFamily="34" charset="0"/>
                <a:ea typeface="Calibri" pitchFamily="34" charset="-122"/>
                <a:cs typeface="Calibri" pitchFamily="34" charset="-120"/>
              </a:rPr>
              <a:t> in a warm oven or between filter papers</a:t>
            </a:r>
            <a:endParaRPr lang="en-US" sz="1050" dirty="0"/>
          </a:p>
        </p:txBody>
      </p:sp>
      <p:sp>
        <p:nvSpPr>
          <p:cNvPr id="26" name="Shape 24"/>
          <p:cNvSpPr/>
          <p:nvPr/>
        </p:nvSpPr>
        <p:spPr>
          <a:xfrm>
            <a:off x="1325880" y="2057400"/>
            <a:ext cx="1097280" cy="1051560"/>
          </a:xfrm>
          <a:prstGeom prst="rect">
            <a:avLst/>
          </a:prstGeom>
          <a:solidFill>
            <a:srgbClr val="EEF5FB"/>
          </a:solidFill>
          <a:ln/>
        </p:spPr>
      </p:sp>
      <p:sp>
        <p:nvSpPr>
          <p:cNvPr id="27" name="Shape 25"/>
          <p:cNvSpPr/>
          <p:nvPr/>
        </p:nvSpPr>
        <p:spPr>
          <a:xfrm>
            <a:off x="1325880" y="2425446"/>
            <a:ext cx="1097280" cy="683514"/>
          </a:xfrm>
          <a:prstGeom prst="rect">
            <a:avLst/>
          </a:prstGeom>
          <a:solidFill>
            <a:srgbClr val="DCEAF7"/>
          </a:solidFill>
          <a:ln/>
        </p:spPr>
      </p:sp>
      <p:sp>
        <p:nvSpPr>
          <p:cNvPr id="28" name="Shape 26"/>
          <p:cNvSpPr/>
          <p:nvPr/>
        </p:nvSpPr>
        <p:spPr>
          <a:xfrm>
            <a:off x="1325880" y="2425446"/>
            <a:ext cx="1097280" cy="91"/>
          </a:xfrm>
          <a:prstGeom prst="line">
            <a:avLst/>
          </a:prstGeom>
          <a:noFill/>
          <a:ln w="12700">
            <a:solidFill>
              <a:srgbClr val="5B9BD5"/>
            </a:solidFill>
            <a:prstDash val="solid"/>
          </a:ln>
        </p:spPr>
      </p:sp>
      <p:sp>
        <p:nvSpPr>
          <p:cNvPr id="29" name="Shape 27"/>
          <p:cNvSpPr/>
          <p:nvPr/>
        </p:nvSpPr>
        <p:spPr>
          <a:xfrm>
            <a:off x="1325880" y="2057400"/>
            <a:ext cx="91" cy="1051560"/>
          </a:xfrm>
          <a:prstGeom prst="line">
            <a:avLst/>
          </a:prstGeom>
          <a:noFill/>
          <a:ln w="19050">
            <a:solidFill>
              <a:srgbClr val="2A1F3D"/>
            </a:solidFill>
            <a:prstDash val="solid"/>
          </a:ln>
        </p:spPr>
      </p:sp>
      <p:sp>
        <p:nvSpPr>
          <p:cNvPr id="30" name="Shape 28"/>
          <p:cNvSpPr/>
          <p:nvPr/>
        </p:nvSpPr>
        <p:spPr>
          <a:xfrm>
            <a:off x="2423160" y="2057400"/>
            <a:ext cx="91" cy="1051560"/>
          </a:xfrm>
          <a:prstGeom prst="line">
            <a:avLst/>
          </a:prstGeom>
          <a:noFill/>
          <a:ln w="19050">
            <a:solidFill>
              <a:srgbClr val="2A1F3D"/>
            </a:solidFill>
            <a:prstDash val="solid"/>
          </a:ln>
        </p:spPr>
      </p:sp>
      <p:sp>
        <p:nvSpPr>
          <p:cNvPr id="31" name="Shape 29"/>
          <p:cNvSpPr/>
          <p:nvPr/>
        </p:nvSpPr>
        <p:spPr>
          <a:xfrm>
            <a:off x="1325880" y="3108960"/>
            <a:ext cx="1097280" cy="91"/>
          </a:xfrm>
          <a:prstGeom prst="line">
            <a:avLst/>
          </a:prstGeom>
          <a:noFill/>
          <a:ln w="19050">
            <a:solidFill>
              <a:srgbClr val="2A1F3D"/>
            </a:solidFill>
            <a:prstDash val="solid"/>
          </a:ln>
        </p:spPr>
      </p:sp>
      <p:sp>
        <p:nvSpPr>
          <p:cNvPr id="32" name="Shape 30"/>
          <p:cNvSpPr/>
          <p:nvPr/>
        </p:nvSpPr>
        <p:spPr>
          <a:xfrm>
            <a:off x="1271016" y="2057400"/>
            <a:ext cx="54864" cy="91"/>
          </a:xfrm>
          <a:prstGeom prst="line">
            <a:avLst/>
          </a:prstGeom>
          <a:noFill/>
          <a:ln w="19050">
            <a:solidFill>
              <a:srgbClr val="2A1F3D"/>
            </a:solidFill>
            <a:prstDash val="solid"/>
          </a:ln>
        </p:spPr>
      </p:sp>
      <p:sp>
        <p:nvSpPr>
          <p:cNvPr id="33" name="Shape 31"/>
          <p:cNvSpPr/>
          <p:nvPr/>
        </p:nvSpPr>
        <p:spPr>
          <a:xfrm>
            <a:off x="2423160" y="2057400"/>
            <a:ext cx="54864" cy="91"/>
          </a:xfrm>
          <a:prstGeom prst="line">
            <a:avLst/>
          </a:prstGeom>
          <a:noFill/>
          <a:ln w="19050">
            <a:solidFill>
              <a:srgbClr val="2A1F3D"/>
            </a:solidFill>
            <a:prstDash val="solid"/>
          </a:ln>
        </p:spPr>
      </p:sp>
      <p:sp>
        <p:nvSpPr>
          <p:cNvPr id="34" name="Shape 32"/>
          <p:cNvSpPr/>
          <p:nvPr/>
        </p:nvSpPr>
        <p:spPr>
          <a:xfrm>
            <a:off x="1376172" y="2976372"/>
            <a:ext cx="82296" cy="82296"/>
          </a:xfrm>
          <a:prstGeom prst="ellipse">
            <a:avLst/>
          </a:prstGeom>
          <a:solidFill>
            <a:srgbClr val="FFFFFF"/>
          </a:solidFill>
          <a:ln w="9525">
            <a:solidFill>
              <a:srgbClr val="9AA3B0"/>
            </a:solidFill>
            <a:prstDash val="solid"/>
          </a:ln>
        </p:spPr>
      </p:sp>
      <p:sp>
        <p:nvSpPr>
          <p:cNvPr id="35" name="Shape 33"/>
          <p:cNvSpPr/>
          <p:nvPr/>
        </p:nvSpPr>
        <p:spPr>
          <a:xfrm>
            <a:off x="1549908" y="2976372"/>
            <a:ext cx="82296" cy="82296"/>
          </a:xfrm>
          <a:prstGeom prst="ellipse">
            <a:avLst/>
          </a:prstGeom>
          <a:solidFill>
            <a:srgbClr val="FFFFFF"/>
          </a:solidFill>
          <a:ln w="9525">
            <a:solidFill>
              <a:srgbClr val="9AA3B0"/>
            </a:solidFill>
            <a:prstDash val="solid"/>
          </a:ln>
        </p:spPr>
      </p:sp>
      <p:sp>
        <p:nvSpPr>
          <p:cNvPr id="36" name="Shape 34"/>
          <p:cNvSpPr/>
          <p:nvPr/>
        </p:nvSpPr>
        <p:spPr>
          <a:xfrm>
            <a:off x="1723644" y="2976372"/>
            <a:ext cx="82296" cy="82296"/>
          </a:xfrm>
          <a:prstGeom prst="ellipse">
            <a:avLst/>
          </a:prstGeom>
          <a:solidFill>
            <a:srgbClr val="FFFFFF"/>
          </a:solidFill>
          <a:ln w="9525">
            <a:solidFill>
              <a:srgbClr val="9AA3B0"/>
            </a:solidFill>
            <a:prstDash val="solid"/>
          </a:ln>
        </p:spPr>
      </p:sp>
      <p:sp>
        <p:nvSpPr>
          <p:cNvPr id="37" name="Shape 35"/>
          <p:cNvSpPr/>
          <p:nvPr/>
        </p:nvSpPr>
        <p:spPr>
          <a:xfrm>
            <a:off x="1897380" y="2976372"/>
            <a:ext cx="82296" cy="82296"/>
          </a:xfrm>
          <a:prstGeom prst="ellipse">
            <a:avLst/>
          </a:prstGeom>
          <a:solidFill>
            <a:srgbClr val="FFFFFF"/>
          </a:solidFill>
          <a:ln w="9525">
            <a:solidFill>
              <a:srgbClr val="9AA3B0"/>
            </a:solidFill>
            <a:prstDash val="solid"/>
          </a:ln>
        </p:spPr>
      </p:sp>
      <p:sp>
        <p:nvSpPr>
          <p:cNvPr id="38" name="Shape 36"/>
          <p:cNvSpPr/>
          <p:nvPr/>
        </p:nvSpPr>
        <p:spPr>
          <a:xfrm>
            <a:off x="2071116" y="2976372"/>
            <a:ext cx="82296" cy="82296"/>
          </a:xfrm>
          <a:prstGeom prst="ellipse">
            <a:avLst/>
          </a:prstGeom>
          <a:solidFill>
            <a:srgbClr val="FFFFFF"/>
          </a:solidFill>
          <a:ln w="9525">
            <a:solidFill>
              <a:srgbClr val="9AA3B0"/>
            </a:solidFill>
            <a:prstDash val="solid"/>
          </a:ln>
        </p:spPr>
      </p:sp>
      <p:sp>
        <p:nvSpPr>
          <p:cNvPr id="39" name="Shape 37"/>
          <p:cNvSpPr/>
          <p:nvPr/>
        </p:nvSpPr>
        <p:spPr>
          <a:xfrm>
            <a:off x="2244852" y="2976372"/>
            <a:ext cx="82296" cy="82296"/>
          </a:xfrm>
          <a:prstGeom prst="ellipse">
            <a:avLst/>
          </a:prstGeom>
          <a:solidFill>
            <a:srgbClr val="FFFFFF"/>
          </a:solidFill>
          <a:ln w="9525">
            <a:solidFill>
              <a:srgbClr val="9AA3B0"/>
            </a:solidFill>
            <a:prstDash val="solid"/>
          </a:ln>
        </p:spPr>
      </p:sp>
      <p:sp>
        <p:nvSpPr>
          <p:cNvPr id="40" name="Shape 38"/>
          <p:cNvSpPr/>
          <p:nvPr/>
        </p:nvSpPr>
        <p:spPr>
          <a:xfrm>
            <a:off x="1376172" y="2903220"/>
            <a:ext cx="82296" cy="82296"/>
          </a:xfrm>
          <a:prstGeom prst="ellipse">
            <a:avLst/>
          </a:prstGeom>
          <a:solidFill>
            <a:srgbClr val="FFFFFF"/>
          </a:solidFill>
          <a:ln w="9525">
            <a:solidFill>
              <a:srgbClr val="9AA3B0"/>
            </a:solidFill>
            <a:prstDash val="solid"/>
          </a:ln>
        </p:spPr>
      </p:sp>
      <p:sp>
        <p:nvSpPr>
          <p:cNvPr id="41" name="Shape 39"/>
          <p:cNvSpPr/>
          <p:nvPr/>
        </p:nvSpPr>
        <p:spPr>
          <a:xfrm>
            <a:off x="1549908" y="2903220"/>
            <a:ext cx="82296" cy="82296"/>
          </a:xfrm>
          <a:prstGeom prst="ellipse">
            <a:avLst/>
          </a:prstGeom>
          <a:solidFill>
            <a:srgbClr val="FFFFFF"/>
          </a:solidFill>
          <a:ln w="9525">
            <a:solidFill>
              <a:srgbClr val="9AA3B0"/>
            </a:solidFill>
            <a:prstDash val="solid"/>
          </a:ln>
        </p:spPr>
      </p:sp>
      <p:sp>
        <p:nvSpPr>
          <p:cNvPr id="42" name="Shape 40"/>
          <p:cNvSpPr/>
          <p:nvPr/>
        </p:nvSpPr>
        <p:spPr>
          <a:xfrm>
            <a:off x="1723644" y="2903220"/>
            <a:ext cx="82296" cy="82296"/>
          </a:xfrm>
          <a:prstGeom prst="ellipse">
            <a:avLst/>
          </a:prstGeom>
          <a:solidFill>
            <a:srgbClr val="FFFFFF"/>
          </a:solidFill>
          <a:ln w="9525">
            <a:solidFill>
              <a:srgbClr val="9AA3B0"/>
            </a:solidFill>
            <a:prstDash val="solid"/>
          </a:ln>
        </p:spPr>
      </p:sp>
      <p:sp>
        <p:nvSpPr>
          <p:cNvPr id="43" name="Shape 41"/>
          <p:cNvSpPr/>
          <p:nvPr/>
        </p:nvSpPr>
        <p:spPr>
          <a:xfrm>
            <a:off x="1897380" y="2903220"/>
            <a:ext cx="82296" cy="82296"/>
          </a:xfrm>
          <a:prstGeom prst="ellipse">
            <a:avLst/>
          </a:prstGeom>
          <a:solidFill>
            <a:srgbClr val="FFFFFF"/>
          </a:solidFill>
          <a:ln w="9525">
            <a:solidFill>
              <a:srgbClr val="9AA3B0"/>
            </a:solidFill>
            <a:prstDash val="solid"/>
          </a:ln>
        </p:spPr>
      </p:sp>
      <p:sp>
        <p:nvSpPr>
          <p:cNvPr id="44" name="Shape 42"/>
          <p:cNvSpPr/>
          <p:nvPr/>
        </p:nvSpPr>
        <p:spPr>
          <a:xfrm>
            <a:off x="2071116" y="2903220"/>
            <a:ext cx="82296" cy="82296"/>
          </a:xfrm>
          <a:prstGeom prst="ellipse">
            <a:avLst/>
          </a:prstGeom>
          <a:solidFill>
            <a:srgbClr val="FFFFFF"/>
          </a:solidFill>
          <a:ln w="9525">
            <a:solidFill>
              <a:srgbClr val="9AA3B0"/>
            </a:solidFill>
            <a:prstDash val="solid"/>
          </a:ln>
        </p:spPr>
      </p:sp>
      <p:sp>
        <p:nvSpPr>
          <p:cNvPr id="45" name="Shape 43"/>
          <p:cNvSpPr/>
          <p:nvPr/>
        </p:nvSpPr>
        <p:spPr>
          <a:xfrm>
            <a:off x="2244852" y="2903220"/>
            <a:ext cx="82296" cy="82296"/>
          </a:xfrm>
          <a:prstGeom prst="ellipse">
            <a:avLst/>
          </a:prstGeom>
          <a:solidFill>
            <a:srgbClr val="FFFFFF"/>
          </a:solidFill>
          <a:ln w="9525">
            <a:solidFill>
              <a:srgbClr val="9AA3B0"/>
            </a:solidFill>
            <a:prstDash val="solid"/>
          </a:ln>
        </p:spPr>
      </p:sp>
      <p:sp>
        <p:nvSpPr>
          <p:cNvPr id="46" name="Shape 44"/>
          <p:cNvSpPr/>
          <p:nvPr/>
        </p:nvSpPr>
        <p:spPr>
          <a:xfrm>
            <a:off x="2377440" y="1600200"/>
            <a:ext cx="274320" cy="731520"/>
          </a:xfrm>
          <a:custGeom>
            <a:avLst/>
            <a:gdLst/>
            <a:ahLst/>
            <a:cxnLst/>
            <a:rect l="l" t="t" r="r" b="b"/>
            <a:pathLst>
              <a:path w="274320" h="731520">
                <a:moveTo>
                  <a:pt x="0" y="0"/>
                </a:moveTo>
                <a:lnTo>
                  <a:pt x="274320" y="0"/>
                </a:lnTo>
                <a:lnTo>
                  <a:pt x="274320" y="594360"/>
                </a:lnTo>
                <a:lnTo>
                  <a:pt x="271685" y="621119"/>
                </a:lnTo>
                <a:lnTo>
                  <a:pt x="263879" y="646849"/>
                </a:lnTo>
                <a:lnTo>
                  <a:pt x="251204" y="670562"/>
                </a:lnTo>
                <a:lnTo>
                  <a:pt x="234147" y="691347"/>
                </a:lnTo>
                <a:lnTo>
                  <a:pt x="213362" y="708404"/>
                </a:lnTo>
                <a:lnTo>
                  <a:pt x="189649" y="721079"/>
                </a:lnTo>
                <a:lnTo>
                  <a:pt x="163919" y="728885"/>
                </a:lnTo>
                <a:lnTo>
                  <a:pt x="137160" y="731520"/>
                </a:lnTo>
                <a:lnTo>
                  <a:pt x="110401" y="728885"/>
                </a:lnTo>
                <a:lnTo>
                  <a:pt x="84671" y="721079"/>
                </a:lnTo>
                <a:lnTo>
                  <a:pt x="60958" y="708404"/>
                </a:lnTo>
                <a:lnTo>
                  <a:pt x="40173" y="691347"/>
                </a:lnTo>
                <a:lnTo>
                  <a:pt x="23116" y="670562"/>
                </a:lnTo>
                <a:lnTo>
                  <a:pt x="10441" y="646849"/>
                </a:lnTo>
                <a:lnTo>
                  <a:pt x="2635" y="621119"/>
                </a:lnTo>
                <a:lnTo>
                  <a:pt x="0" y="594360"/>
                </a:lnTo>
                <a:close/>
              </a:path>
            </a:pathLst>
          </a:custGeom>
          <a:solidFill>
            <a:srgbClr val="EEF5FB"/>
          </a:solidFill>
          <a:ln/>
        </p:spPr>
      </p:sp>
      <p:sp>
        <p:nvSpPr>
          <p:cNvPr id="47" name="Shape 45"/>
          <p:cNvSpPr/>
          <p:nvPr/>
        </p:nvSpPr>
        <p:spPr>
          <a:xfrm>
            <a:off x="2377440" y="1965960"/>
            <a:ext cx="274320" cy="365760"/>
          </a:xfrm>
          <a:custGeom>
            <a:avLst/>
            <a:gdLst/>
            <a:ahLst/>
            <a:cxnLst/>
            <a:rect l="l" t="t" r="r" b="b"/>
            <a:pathLst>
              <a:path w="274320" h="365760">
                <a:moveTo>
                  <a:pt x="0" y="0"/>
                </a:moveTo>
                <a:lnTo>
                  <a:pt x="274320" y="0"/>
                </a:lnTo>
                <a:lnTo>
                  <a:pt x="274320" y="228600"/>
                </a:lnTo>
                <a:lnTo>
                  <a:pt x="271685" y="255359"/>
                </a:lnTo>
                <a:lnTo>
                  <a:pt x="263879" y="281089"/>
                </a:lnTo>
                <a:lnTo>
                  <a:pt x="251204" y="304802"/>
                </a:lnTo>
                <a:lnTo>
                  <a:pt x="234147" y="325587"/>
                </a:lnTo>
                <a:lnTo>
                  <a:pt x="213362" y="342644"/>
                </a:lnTo>
                <a:lnTo>
                  <a:pt x="189649" y="355319"/>
                </a:lnTo>
                <a:lnTo>
                  <a:pt x="163919" y="363125"/>
                </a:lnTo>
                <a:lnTo>
                  <a:pt x="137160" y="365760"/>
                </a:lnTo>
                <a:lnTo>
                  <a:pt x="110401" y="363125"/>
                </a:lnTo>
                <a:lnTo>
                  <a:pt x="84671" y="355319"/>
                </a:lnTo>
                <a:lnTo>
                  <a:pt x="60958" y="342644"/>
                </a:lnTo>
                <a:lnTo>
                  <a:pt x="40173" y="325587"/>
                </a:lnTo>
                <a:lnTo>
                  <a:pt x="23116" y="304802"/>
                </a:lnTo>
                <a:lnTo>
                  <a:pt x="10441" y="281089"/>
                </a:lnTo>
                <a:lnTo>
                  <a:pt x="2635" y="255359"/>
                </a:lnTo>
                <a:lnTo>
                  <a:pt x="0" y="228600"/>
                </a:lnTo>
                <a:close/>
              </a:path>
            </a:pathLst>
          </a:custGeom>
          <a:solidFill>
            <a:srgbClr val="DCEAF7"/>
          </a:solidFill>
          <a:ln/>
        </p:spPr>
      </p:sp>
      <p:sp>
        <p:nvSpPr>
          <p:cNvPr id="48" name="Shape 46"/>
          <p:cNvSpPr/>
          <p:nvPr/>
        </p:nvSpPr>
        <p:spPr>
          <a:xfrm>
            <a:off x="2377440" y="1600200"/>
            <a:ext cx="91" cy="594360"/>
          </a:xfrm>
          <a:prstGeom prst="line">
            <a:avLst/>
          </a:prstGeom>
          <a:noFill/>
          <a:ln w="19050">
            <a:solidFill>
              <a:srgbClr val="2A1F3D"/>
            </a:solidFill>
            <a:prstDash val="solid"/>
          </a:ln>
        </p:spPr>
      </p:sp>
      <p:sp>
        <p:nvSpPr>
          <p:cNvPr id="49" name="Shape 47"/>
          <p:cNvSpPr/>
          <p:nvPr/>
        </p:nvSpPr>
        <p:spPr>
          <a:xfrm>
            <a:off x="2651760" y="1600200"/>
            <a:ext cx="91" cy="594360"/>
          </a:xfrm>
          <a:prstGeom prst="line">
            <a:avLst/>
          </a:prstGeom>
          <a:noFill/>
          <a:ln w="19050">
            <a:solidFill>
              <a:srgbClr val="2A1F3D"/>
            </a:solidFill>
            <a:prstDash val="solid"/>
          </a:ln>
        </p:spPr>
      </p:sp>
      <p:sp>
        <p:nvSpPr>
          <p:cNvPr id="50" name="Shape 48"/>
          <p:cNvSpPr/>
          <p:nvPr/>
        </p:nvSpPr>
        <p:spPr>
          <a:xfrm>
            <a:off x="2377440" y="2194560"/>
            <a:ext cx="274320" cy="137160"/>
          </a:xfrm>
          <a:custGeom>
            <a:avLst/>
            <a:gdLst/>
            <a:ahLst/>
            <a:cxnLst/>
            <a:rect l="l" t="t" r="r" b="b"/>
            <a:pathLst>
              <a:path w="274320" h="137160">
                <a:moveTo>
                  <a:pt x="274320" y="0"/>
                </a:moveTo>
                <a:lnTo>
                  <a:pt x="271685" y="26759"/>
                </a:lnTo>
                <a:lnTo>
                  <a:pt x="263879" y="52489"/>
                </a:lnTo>
                <a:lnTo>
                  <a:pt x="251204" y="76202"/>
                </a:lnTo>
                <a:lnTo>
                  <a:pt x="234147" y="96987"/>
                </a:lnTo>
                <a:lnTo>
                  <a:pt x="213362" y="114044"/>
                </a:lnTo>
                <a:lnTo>
                  <a:pt x="189649" y="126719"/>
                </a:lnTo>
                <a:lnTo>
                  <a:pt x="163919" y="134525"/>
                </a:lnTo>
                <a:lnTo>
                  <a:pt x="137160" y="137160"/>
                </a:lnTo>
                <a:lnTo>
                  <a:pt x="110401" y="134525"/>
                </a:lnTo>
                <a:lnTo>
                  <a:pt x="84671" y="126719"/>
                </a:lnTo>
                <a:lnTo>
                  <a:pt x="60958" y="114044"/>
                </a:lnTo>
                <a:lnTo>
                  <a:pt x="40173" y="96987"/>
                </a:lnTo>
                <a:lnTo>
                  <a:pt x="23116" y="76202"/>
                </a:lnTo>
                <a:lnTo>
                  <a:pt x="10441" y="52489"/>
                </a:lnTo>
                <a:lnTo>
                  <a:pt x="2635" y="26759"/>
                </a:lnTo>
                <a:lnTo>
                  <a:pt x="0" y="0"/>
                </a:lnTo>
              </a:path>
            </a:pathLst>
          </a:custGeom>
          <a:ln w="19050">
            <a:solidFill>
              <a:srgbClr val="2A1F3D"/>
            </a:solidFill>
            <a:prstDash val="solid"/>
          </a:ln>
        </p:spPr>
      </p:sp>
      <p:sp>
        <p:nvSpPr>
          <p:cNvPr id="51" name="Shape 49"/>
          <p:cNvSpPr/>
          <p:nvPr/>
        </p:nvSpPr>
        <p:spPr>
          <a:xfrm>
            <a:off x="2340864" y="1600200"/>
            <a:ext cx="36576" cy="91"/>
          </a:xfrm>
          <a:prstGeom prst="line">
            <a:avLst/>
          </a:prstGeom>
          <a:noFill/>
          <a:ln w="19050">
            <a:solidFill>
              <a:srgbClr val="2A1F3D"/>
            </a:solidFill>
            <a:prstDash val="solid"/>
          </a:ln>
        </p:spPr>
      </p:sp>
      <p:sp>
        <p:nvSpPr>
          <p:cNvPr id="52" name="Shape 50"/>
          <p:cNvSpPr/>
          <p:nvPr/>
        </p:nvSpPr>
        <p:spPr>
          <a:xfrm>
            <a:off x="2651760" y="1600200"/>
            <a:ext cx="36576" cy="91"/>
          </a:xfrm>
          <a:prstGeom prst="line">
            <a:avLst/>
          </a:prstGeom>
          <a:noFill/>
          <a:ln w="19050">
            <a:solidFill>
              <a:srgbClr val="2A1F3D"/>
            </a:solidFill>
            <a:prstDash val="solid"/>
          </a:ln>
        </p:spPr>
      </p:sp>
      <p:sp>
        <p:nvSpPr>
          <p:cNvPr id="53" name="Shape 51"/>
          <p:cNvSpPr/>
          <p:nvPr/>
        </p:nvSpPr>
        <p:spPr>
          <a:xfrm>
            <a:off x="4114800" y="1828800"/>
            <a:ext cx="914400" cy="594360"/>
          </a:xfrm>
          <a:custGeom>
            <a:avLst/>
            <a:gdLst/>
            <a:ahLst/>
            <a:cxnLst/>
            <a:rect l="l" t="t" r="r" b="b"/>
            <a:pathLst>
              <a:path w="914400" h="594360">
                <a:moveTo>
                  <a:pt x="0" y="0"/>
                </a:moveTo>
                <a:lnTo>
                  <a:pt x="914400" y="0"/>
                </a:lnTo>
                <a:lnTo>
                  <a:pt x="502920" y="594360"/>
                </a:lnTo>
                <a:lnTo>
                  <a:pt x="411480" y="594360"/>
                </a:lnTo>
                <a:close/>
              </a:path>
            </a:pathLst>
          </a:custGeom>
          <a:solidFill>
            <a:srgbClr val="EEF5FB"/>
          </a:solidFill>
          <a:ln w="19050">
            <a:solidFill>
              <a:srgbClr val="2A1F3D"/>
            </a:solidFill>
            <a:prstDash val="solid"/>
          </a:ln>
        </p:spPr>
      </p:sp>
      <p:sp>
        <p:nvSpPr>
          <p:cNvPr id="54" name="Shape 52"/>
          <p:cNvSpPr/>
          <p:nvPr/>
        </p:nvSpPr>
        <p:spPr>
          <a:xfrm>
            <a:off x="4526280" y="2423160"/>
            <a:ext cx="91440" cy="292608"/>
          </a:xfrm>
          <a:prstGeom prst="rect">
            <a:avLst/>
          </a:prstGeom>
          <a:solidFill>
            <a:srgbClr val="EEF5FB"/>
          </a:solidFill>
          <a:ln w="15875">
            <a:solidFill>
              <a:srgbClr val="2A1F3D"/>
            </a:solidFill>
            <a:prstDash val="solid"/>
          </a:ln>
        </p:spPr>
      </p:sp>
      <p:sp>
        <p:nvSpPr>
          <p:cNvPr id="55" name="Shape 53"/>
          <p:cNvSpPr/>
          <p:nvPr/>
        </p:nvSpPr>
        <p:spPr>
          <a:xfrm>
            <a:off x="4178808" y="1856232"/>
            <a:ext cx="786384" cy="585216"/>
          </a:xfrm>
          <a:custGeom>
            <a:avLst/>
            <a:gdLst/>
            <a:ahLst/>
            <a:cxnLst/>
            <a:rect l="l" t="t" r="r" b="b"/>
            <a:pathLst>
              <a:path w="786384" h="585216">
                <a:moveTo>
                  <a:pt x="0" y="0"/>
                </a:moveTo>
                <a:lnTo>
                  <a:pt x="786384" y="0"/>
                </a:lnTo>
                <a:lnTo>
                  <a:pt x="393192" y="585216"/>
                </a:lnTo>
                <a:close/>
              </a:path>
            </a:pathLst>
          </a:custGeom>
          <a:solidFill>
            <a:srgbClr val="FFFFFF"/>
          </a:solidFill>
          <a:ln w="9525">
            <a:solidFill>
              <a:srgbClr val="9AA3B0"/>
            </a:solidFill>
            <a:prstDash val="solid"/>
          </a:ln>
        </p:spPr>
      </p:sp>
      <p:sp>
        <p:nvSpPr>
          <p:cNvPr id="56" name="Shape 54"/>
          <p:cNvSpPr/>
          <p:nvPr/>
        </p:nvSpPr>
        <p:spPr>
          <a:xfrm>
            <a:off x="4406859" y="2173529"/>
            <a:ext cx="330281" cy="249631"/>
          </a:xfrm>
          <a:custGeom>
            <a:avLst/>
            <a:gdLst/>
            <a:ahLst/>
            <a:cxnLst/>
            <a:rect l="l" t="t" r="r" b="b"/>
            <a:pathLst>
              <a:path w="330281" h="249631">
                <a:moveTo>
                  <a:pt x="0" y="0"/>
                </a:moveTo>
                <a:lnTo>
                  <a:pt x="330281" y="0"/>
                </a:lnTo>
                <a:lnTo>
                  <a:pt x="165141" y="249631"/>
                </a:lnTo>
                <a:close/>
              </a:path>
            </a:pathLst>
          </a:custGeom>
          <a:solidFill>
            <a:srgbClr val="E2E2E2"/>
          </a:solidFill>
          <a:ln w="6350">
            <a:solidFill>
              <a:srgbClr val="8A8F99"/>
            </a:solidFill>
            <a:prstDash val="solid"/>
          </a:ln>
        </p:spPr>
      </p:sp>
      <p:sp>
        <p:nvSpPr>
          <p:cNvPr id="57" name="Shape 55"/>
          <p:cNvSpPr/>
          <p:nvPr/>
        </p:nvSpPr>
        <p:spPr>
          <a:xfrm>
            <a:off x="4539996" y="2747772"/>
            <a:ext cx="64008" cy="64008"/>
          </a:xfrm>
          <a:prstGeom prst="ellipse">
            <a:avLst/>
          </a:prstGeom>
          <a:solidFill>
            <a:srgbClr val="DCEAF7"/>
          </a:solidFill>
          <a:ln w="9525">
            <a:solidFill>
              <a:srgbClr val="DCEAF7"/>
            </a:solidFill>
            <a:prstDash val="solid"/>
          </a:ln>
        </p:spPr>
      </p:sp>
      <p:sp>
        <p:nvSpPr>
          <p:cNvPr id="58" name="Shape 56"/>
          <p:cNvSpPr/>
          <p:nvPr/>
        </p:nvSpPr>
        <p:spPr>
          <a:xfrm>
            <a:off x="4160520" y="2743200"/>
            <a:ext cx="822960" cy="502920"/>
          </a:xfrm>
          <a:custGeom>
            <a:avLst/>
            <a:gdLst/>
            <a:ahLst/>
            <a:cxnLst/>
            <a:rect l="l" t="t" r="r" b="b"/>
            <a:pathLst>
              <a:path w="822960" h="502920">
                <a:moveTo>
                  <a:pt x="288036" y="0"/>
                </a:moveTo>
                <a:lnTo>
                  <a:pt x="288036" y="150876"/>
                </a:lnTo>
                <a:lnTo>
                  <a:pt x="0" y="502920"/>
                </a:lnTo>
                <a:lnTo>
                  <a:pt x="822960" y="502920"/>
                </a:lnTo>
                <a:lnTo>
                  <a:pt x="534924" y="150876"/>
                </a:lnTo>
                <a:lnTo>
                  <a:pt x="534924" y="0"/>
                </a:lnTo>
                <a:close/>
              </a:path>
            </a:pathLst>
          </a:custGeom>
          <a:solidFill>
            <a:srgbClr val="EEF5FB"/>
          </a:solidFill>
          <a:ln/>
        </p:spPr>
      </p:sp>
      <p:sp>
        <p:nvSpPr>
          <p:cNvPr id="59" name="Shape 57"/>
          <p:cNvSpPr/>
          <p:nvPr/>
        </p:nvSpPr>
        <p:spPr>
          <a:xfrm>
            <a:off x="4160520" y="3105302"/>
            <a:ext cx="822960" cy="140818"/>
          </a:xfrm>
          <a:custGeom>
            <a:avLst/>
            <a:gdLst/>
            <a:ahLst/>
            <a:cxnLst/>
            <a:rect l="l" t="t" r="r" b="b"/>
            <a:pathLst>
              <a:path w="822960" h="140818">
                <a:moveTo>
                  <a:pt x="115214" y="0"/>
                </a:moveTo>
                <a:lnTo>
                  <a:pt x="0" y="140818"/>
                </a:lnTo>
                <a:lnTo>
                  <a:pt x="822960" y="140818"/>
                </a:lnTo>
                <a:lnTo>
                  <a:pt x="707746" y="0"/>
                </a:lnTo>
                <a:close/>
              </a:path>
            </a:pathLst>
          </a:custGeom>
          <a:solidFill>
            <a:srgbClr val="DCEAF7"/>
          </a:solidFill>
          <a:ln/>
        </p:spPr>
      </p:sp>
      <p:sp>
        <p:nvSpPr>
          <p:cNvPr id="60" name="Shape 58"/>
          <p:cNvSpPr/>
          <p:nvPr/>
        </p:nvSpPr>
        <p:spPr>
          <a:xfrm>
            <a:off x="4275734" y="3105302"/>
            <a:ext cx="592531" cy="91"/>
          </a:xfrm>
          <a:prstGeom prst="line">
            <a:avLst/>
          </a:prstGeom>
          <a:noFill/>
          <a:ln w="12700">
            <a:solidFill>
              <a:srgbClr val="5B9BD5"/>
            </a:solidFill>
            <a:prstDash val="solid"/>
          </a:ln>
        </p:spPr>
      </p:sp>
      <p:sp>
        <p:nvSpPr>
          <p:cNvPr id="61" name="Shape 59"/>
          <p:cNvSpPr/>
          <p:nvPr/>
        </p:nvSpPr>
        <p:spPr>
          <a:xfrm>
            <a:off x="4160520" y="2743200"/>
            <a:ext cx="822960" cy="502920"/>
          </a:xfrm>
          <a:custGeom>
            <a:avLst/>
            <a:gdLst/>
            <a:ahLst/>
            <a:cxnLst/>
            <a:rect l="l" t="t" r="r" b="b"/>
            <a:pathLst>
              <a:path w="822960" h="502920">
                <a:moveTo>
                  <a:pt x="288036" y="0"/>
                </a:moveTo>
                <a:lnTo>
                  <a:pt x="288036" y="150876"/>
                </a:lnTo>
                <a:lnTo>
                  <a:pt x="0" y="502920"/>
                </a:lnTo>
                <a:lnTo>
                  <a:pt x="822960" y="502920"/>
                </a:lnTo>
                <a:lnTo>
                  <a:pt x="534924" y="150876"/>
                </a:lnTo>
                <a:lnTo>
                  <a:pt x="534924" y="0"/>
                </a:lnTo>
              </a:path>
            </a:pathLst>
          </a:custGeom>
          <a:ln w="19050">
            <a:solidFill>
              <a:srgbClr val="2A1F3D"/>
            </a:solidFill>
            <a:prstDash val="solid"/>
          </a:ln>
        </p:spPr>
      </p:sp>
      <p:sp>
        <p:nvSpPr>
          <p:cNvPr id="62" name="Shape 60"/>
          <p:cNvSpPr/>
          <p:nvPr/>
        </p:nvSpPr>
        <p:spPr>
          <a:xfrm>
            <a:off x="1143000" y="3886200"/>
            <a:ext cx="914400" cy="594360"/>
          </a:xfrm>
          <a:custGeom>
            <a:avLst/>
            <a:gdLst/>
            <a:ahLst/>
            <a:cxnLst/>
            <a:rect l="l" t="t" r="r" b="b"/>
            <a:pathLst>
              <a:path w="914400" h="594360">
                <a:moveTo>
                  <a:pt x="0" y="0"/>
                </a:moveTo>
                <a:lnTo>
                  <a:pt x="914400" y="0"/>
                </a:lnTo>
                <a:lnTo>
                  <a:pt x="502920" y="594360"/>
                </a:lnTo>
                <a:lnTo>
                  <a:pt x="411480" y="594360"/>
                </a:lnTo>
                <a:close/>
              </a:path>
            </a:pathLst>
          </a:custGeom>
          <a:solidFill>
            <a:srgbClr val="EEF5FB"/>
          </a:solidFill>
          <a:ln w="19050">
            <a:solidFill>
              <a:srgbClr val="2A1F3D"/>
            </a:solidFill>
            <a:prstDash val="solid"/>
          </a:ln>
        </p:spPr>
      </p:sp>
      <p:sp>
        <p:nvSpPr>
          <p:cNvPr id="63" name="Shape 61"/>
          <p:cNvSpPr/>
          <p:nvPr/>
        </p:nvSpPr>
        <p:spPr>
          <a:xfrm>
            <a:off x="1554480" y="4480560"/>
            <a:ext cx="91440" cy="292608"/>
          </a:xfrm>
          <a:prstGeom prst="rect">
            <a:avLst/>
          </a:prstGeom>
          <a:solidFill>
            <a:srgbClr val="EEF5FB"/>
          </a:solidFill>
          <a:ln w="15875">
            <a:solidFill>
              <a:srgbClr val="2A1F3D"/>
            </a:solidFill>
            <a:prstDash val="solid"/>
          </a:ln>
        </p:spPr>
      </p:sp>
      <p:sp>
        <p:nvSpPr>
          <p:cNvPr id="64" name="Shape 62"/>
          <p:cNvSpPr/>
          <p:nvPr/>
        </p:nvSpPr>
        <p:spPr>
          <a:xfrm>
            <a:off x="1207008" y="3913632"/>
            <a:ext cx="786384" cy="585216"/>
          </a:xfrm>
          <a:custGeom>
            <a:avLst/>
            <a:gdLst/>
            <a:ahLst/>
            <a:cxnLst/>
            <a:rect l="l" t="t" r="r" b="b"/>
            <a:pathLst>
              <a:path w="786384" h="585216">
                <a:moveTo>
                  <a:pt x="0" y="0"/>
                </a:moveTo>
                <a:lnTo>
                  <a:pt x="786384" y="0"/>
                </a:lnTo>
                <a:lnTo>
                  <a:pt x="393192" y="585216"/>
                </a:lnTo>
                <a:close/>
              </a:path>
            </a:pathLst>
          </a:custGeom>
          <a:solidFill>
            <a:srgbClr val="FFFFFF"/>
          </a:solidFill>
          <a:ln w="9525">
            <a:solidFill>
              <a:srgbClr val="9AA3B0"/>
            </a:solidFill>
            <a:prstDash val="solid"/>
          </a:ln>
        </p:spPr>
      </p:sp>
      <p:sp>
        <p:nvSpPr>
          <p:cNvPr id="65" name="Shape 63"/>
          <p:cNvSpPr/>
          <p:nvPr/>
        </p:nvSpPr>
        <p:spPr>
          <a:xfrm>
            <a:off x="1435059" y="4230929"/>
            <a:ext cx="330281" cy="249631"/>
          </a:xfrm>
          <a:custGeom>
            <a:avLst/>
            <a:gdLst/>
            <a:ahLst/>
            <a:cxnLst/>
            <a:rect l="l" t="t" r="r" b="b"/>
            <a:pathLst>
              <a:path w="330281" h="249631">
                <a:moveTo>
                  <a:pt x="0" y="0"/>
                </a:moveTo>
                <a:lnTo>
                  <a:pt x="330281" y="0"/>
                </a:lnTo>
                <a:lnTo>
                  <a:pt x="165141" y="249631"/>
                </a:lnTo>
                <a:close/>
              </a:path>
            </a:pathLst>
          </a:custGeom>
          <a:solidFill>
            <a:srgbClr val="E2E2E2"/>
          </a:solidFill>
          <a:ln w="6350">
            <a:solidFill>
              <a:srgbClr val="8A8F99"/>
            </a:solidFill>
            <a:prstDash val="solid"/>
          </a:ln>
        </p:spPr>
      </p:sp>
      <p:sp>
        <p:nvSpPr>
          <p:cNvPr id="66" name="Shape 64"/>
          <p:cNvSpPr/>
          <p:nvPr/>
        </p:nvSpPr>
        <p:spPr>
          <a:xfrm>
            <a:off x="2286000" y="3657600"/>
            <a:ext cx="502920" cy="502920"/>
          </a:xfrm>
          <a:custGeom>
            <a:avLst/>
            <a:gdLst/>
            <a:ahLst/>
            <a:cxnLst/>
            <a:rect l="l" t="t" r="r" b="b"/>
            <a:pathLst>
              <a:path w="502920" h="502920">
                <a:moveTo>
                  <a:pt x="45720" y="0"/>
                </a:moveTo>
                <a:lnTo>
                  <a:pt x="457200" y="0"/>
                </a:lnTo>
                <a:lnTo>
                  <a:pt x="502920" y="502920"/>
                </a:lnTo>
                <a:lnTo>
                  <a:pt x="0" y="502920"/>
                </a:lnTo>
                <a:close/>
              </a:path>
            </a:pathLst>
          </a:custGeom>
          <a:solidFill>
            <a:srgbClr val="E3F0FB"/>
          </a:solidFill>
          <a:ln w="12700">
            <a:solidFill>
              <a:srgbClr val="5B9BD5"/>
            </a:solidFill>
            <a:prstDash val="solid"/>
          </a:ln>
        </p:spPr>
      </p:sp>
      <p:sp>
        <p:nvSpPr>
          <p:cNvPr id="67" name="Shape 65"/>
          <p:cNvSpPr/>
          <p:nvPr/>
        </p:nvSpPr>
        <p:spPr>
          <a:xfrm flipH="1">
            <a:off x="2057400" y="3657600"/>
            <a:ext cx="320040" cy="320040"/>
          </a:xfrm>
          <a:prstGeom prst="line">
            <a:avLst/>
          </a:prstGeom>
          <a:noFill/>
          <a:ln w="19050">
            <a:solidFill>
              <a:srgbClr val="5B9BD5"/>
            </a:solidFill>
            <a:prstDash val="solid"/>
          </a:ln>
        </p:spPr>
      </p:sp>
      <p:sp>
        <p:nvSpPr>
          <p:cNvPr id="68" name="Shape 66"/>
          <p:cNvSpPr/>
          <p:nvPr/>
        </p:nvSpPr>
        <p:spPr>
          <a:xfrm>
            <a:off x="1956816" y="4041648"/>
            <a:ext cx="54864" cy="54864"/>
          </a:xfrm>
          <a:prstGeom prst="ellipse">
            <a:avLst/>
          </a:prstGeom>
          <a:solidFill>
            <a:srgbClr val="CFE4F7"/>
          </a:solidFill>
          <a:ln w="9525">
            <a:solidFill>
              <a:srgbClr val="5B9BD5"/>
            </a:solidFill>
            <a:prstDash val="solid"/>
          </a:ln>
        </p:spPr>
      </p:sp>
      <p:sp>
        <p:nvSpPr>
          <p:cNvPr id="69" name="Shape 67"/>
          <p:cNvSpPr/>
          <p:nvPr/>
        </p:nvSpPr>
        <p:spPr>
          <a:xfrm>
            <a:off x="1892808" y="4105656"/>
            <a:ext cx="54864" cy="54864"/>
          </a:xfrm>
          <a:prstGeom prst="ellipse">
            <a:avLst/>
          </a:prstGeom>
          <a:solidFill>
            <a:srgbClr val="CFE4F7"/>
          </a:solidFill>
          <a:ln w="9525">
            <a:solidFill>
              <a:srgbClr val="5B9BD5"/>
            </a:solidFill>
            <a:prstDash val="solid"/>
          </a:ln>
        </p:spPr>
      </p:sp>
      <p:sp>
        <p:nvSpPr>
          <p:cNvPr id="70" name="Text 68"/>
          <p:cNvSpPr/>
          <p:nvPr/>
        </p:nvSpPr>
        <p:spPr>
          <a:xfrm>
            <a:off x="2240280" y="4224528"/>
            <a:ext cx="868680" cy="36576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distilled water</a:t>
            </a:r>
            <a:endParaRPr lang="en-US" sz="1000" dirty="0"/>
          </a:p>
        </p:txBody>
      </p:sp>
      <p:sp>
        <p:nvSpPr>
          <p:cNvPr id="71" name="Shape 69"/>
          <p:cNvSpPr/>
          <p:nvPr/>
        </p:nvSpPr>
        <p:spPr>
          <a:xfrm>
            <a:off x="3703320" y="3886200"/>
            <a:ext cx="1737360" cy="1188720"/>
          </a:xfrm>
          <a:prstGeom prst="roundRect">
            <a:avLst>
              <a:gd name="adj" fmla="val 3846"/>
            </a:avLst>
          </a:prstGeom>
          <a:solidFill>
            <a:srgbClr val="F2E6D8"/>
          </a:solidFill>
          <a:ln w="19050">
            <a:solidFill>
              <a:srgbClr val="8A6A3A"/>
            </a:solidFill>
            <a:prstDash val="solid"/>
          </a:ln>
        </p:spPr>
      </p:sp>
      <p:sp>
        <p:nvSpPr>
          <p:cNvPr id="72" name="Shape 70"/>
          <p:cNvSpPr/>
          <p:nvPr/>
        </p:nvSpPr>
        <p:spPr>
          <a:xfrm>
            <a:off x="3931920" y="4572000"/>
            <a:ext cx="1280160" cy="73152"/>
          </a:xfrm>
          <a:prstGeom prst="rect">
            <a:avLst/>
          </a:prstGeom>
          <a:solidFill>
            <a:srgbClr val="FFFFFF"/>
          </a:solidFill>
          <a:ln w="12700">
            <a:solidFill>
              <a:srgbClr val="9AA3B0"/>
            </a:solidFill>
            <a:prstDash val="solid"/>
          </a:ln>
        </p:spPr>
      </p:sp>
      <p:sp>
        <p:nvSpPr>
          <p:cNvPr id="73" name="Shape 71"/>
          <p:cNvSpPr/>
          <p:nvPr/>
        </p:nvSpPr>
        <p:spPr>
          <a:xfrm>
            <a:off x="4027932" y="4485132"/>
            <a:ext cx="82296" cy="82296"/>
          </a:xfrm>
          <a:prstGeom prst="ellipse">
            <a:avLst/>
          </a:prstGeom>
          <a:solidFill>
            <a:srgbClr val="FFFFFF"/>
          </a:solidFill>
          <a:ln w="9525">
            <a:solidFill>
              <a:srgbClr val="9AA3B0"/>
            </a:solidFill>
            <a:prstDash val="solid"/>
          </a:ln>
        </p:spPr>
      </p:sp>
      <p:sp>
        <p:nvSpPr>
          <p:cNvPr id="74" name="Shape 72"/>
          <p:cNvSpPr/>
          <p:nvPr/>
        </p:nvSpPr>
        <p:spPr>
          <a:xfrm>
            <a:off x="4174236" y="4485132"/>
            <a:ext cx="82296" cy="82296"/>
          </a:xfrm>
          <a:prstGeom prst="ellipse">
            <a:avLst/>
          </a:prstGeom>
          <a:solidFill>
            <a:srgbClr val="FFFFFF"/>
          </a:solidFill>
          <a:ln w="9525">
            <a:solidFill>
              <a:srgbClr val="9AA3B0"/>
            </a:solidFill>
            <a:prstDash val="solid"/>
          </a:ln>
        </p:spPr>
      </p:sp>
      <p:sp>
        <p:nvSpPr>
          <p:cNvPr id="75" name="Shape 73"/>
          <p:cNvSpPr/>
          <p:nvPr/>
        </p:nvSpPr>
        <p:spPr>
          <a:xfrm>
            <a:off x="4320540" y="4485132"/>
            <a:ext cx="82296" cy="82296"/>
          </a:xfrm>
          <a:prstGeom prst="ellipse">
            <a:avLst/>
          </a:prstGeom>
          <a:solidFill>
            <a:srgbClr val="FFFFFF"/>
          </a:solidFill>
          <a:ln w="9525">
            <a:solidFill>
              <a:srgbClr val="9AA3B0"/>
            </a:solidFill>
            <a:prstDash val="solid"/>
          </a:ln>
        </p:spPr>
      </p:sp>
      <p:sp>
        <p:nvSpPr>
          <p:cNvPr id="76" name="Shape 74"/>
          <p:cNvSpPr/>
          <p:nvPr/>
        </p:nvSpPr>
        <p:spPr>
          <a:xfrm>
            <a:off x="4466844" y="4485132"/>
            <a:ext cx="82296" cy="82296"/>
          </a:xfrm>
          <a:prstGeom prst="ellipse">
            <a:avLst/>
          </a:prstGeom>
          <a:solidFill>
            <a:srgbClr val="FFFFFF"/>
          </a:solidFill>
          <a:ln w="9525">
            <a:solidFill>
              <a:srgbClr val="9AA3B0"/>
            </a:solidFill>
            <a:prstDash val="solid"/>
          </a:ln>
        </p:spPr>
      </p:sp>
      <p:sp>
        <p:nvSpPr>
          <p:cNvPr id="77" name="Shape 75"/>
          <p:cNvSpPr/>
          <p:nvPr/>
        </p:nvSpPr>
        <p:spPr>
          <a:xfrm>
            <a:off x="4613148" y="4485132"/>
            <a:ext cx="82296" cy="82296"/>
          </a:xfrm>
          <a:prstGeom prst="ellipse">
            <a:avLst/>
          </a:prstGeom>
          <a:solidFill>
            <a:srgbClr val="FFFFFF"/>
          </a:solidFill>
          <a:ln w="9525">
            <a:solidFill>
              <a:srgbClr val="9AA3B0"/>
            </a:solidFill>
            <a:prstDash val="solid"/>
          </a:ln>
        </p:spPr>
      </p:sp>
      <p:sp>
        <p:nvSpPr>
          <p:cNvPr id="78" name="Shape 76"/>
          <p:cNvSpPr/>
          <p:nvPr/>
        </p:nvSpPr>
        <p:spPr>
          <a:xfrm>
            <a:off x="4759452" y="4485132"/>
            <a:ext cx="82296" cy="82296"/>
          </a:xfrm>
          <a:prstGeom prst="ellipse">
            <a:avLst/>
          </a:prstGeom>
          <a:solidFill>
            <a:srgbClr val="FFFFFF"/>
          </a:solidFill>
          <a:ln w="9525">
            <a:solidFill>
              <a:srgbClr val="9AA3B0"/>
            </a:solidFill>
            <a:prstDash val="solid"/>
          </a:ln>
        </p:spPr>
      </p:sp>
      <p:sp>
        <p:nvSpPr>
          <p:cNvPr id="79" name="Shape 77"/>
          <p:cNvSpPr/>
          <p:nvPr/>
        </p:nvSpPr>
        <p:spPr>
          <a:xfrm>
            <a:off x="4905756" y="4485132"/>
            <a:ext cx="82296" cy="82296"/>
          </a:xfrm>
          <a:prstGeom prst="ellipse">
            <a:avLst/>
          </a:prstGeom>
          <a:solidFill>
            <a:srgbClr val="FFFFFF"/>
          </a:solidFill>
          <a:ln w="9525">
            <a:solidFill>
              <a:srgbClr val="9AA3B0"/>
            </a:solidFill>
            <a:prstDash val="solid"/>
          </a:ln>
        </p:spPr>
      </p:sp>
      <p:sp>
        <p:nvSpPr>
          <p:cNvPr id="80" name="Shape 78"/>
          <p:cNvSpPr/>
          <p:nvPr/>
        </p:nvSpPr>
        <p:spPr>
          <a:xfrm>
            <a:off x="5052060" y="4485132"/>
            <a:ext cx="82296" cy="82296"/>
          </a:xfrm>
          <a:prstGeom prst="ellipse">
            <a:avLst/>
          </a:prstGeom>
          <a:solidFill>
            <a:srgbClr val="FFFFFF"/>
          </a:solidFill>
          <a:ln w="9525">
            <a:solidFill>
              <a:srgbClr val="9AA3B0"/>
            </a:solidFill>
            <a:prstDash val="solid"/>
          </a:ln>
        </p:spPr>
      </p:sp>
      <p:sp>
        <p:nvSpPr>
          <p:cNvPr id="81" name="Shape 79"/>
          <p:cNvSpPr/>
          <p:nvPr/>
        </p:nvSpPr>
        <p:spPr>
          <a:xfrm flipV="1">
            <a:off x="4114800" y="4343400"/>
            <a:ext cx="45720" cy="45720"/>
          </a:xfrm>
          <a:prstGeom prst="line">
            <a:avLst/>
          </a:prstGeom>
          <a:noFill/>
          <a:ln w="15875">
            <a:solidFill>
              <a:srgbClr val="C8414C"/>
            </a:solidFill>
            <a:prstDash val="solid"/>
          </a:ln>
        </p:spPr>
      </p:sp>
      <p:sp>
        <p:nvSpPr>
          <p:cNvPr id="82" name="Shape 80"/>
          <p:cNvSpPr/>
          <p:nvPr/>
        </p:nvSpPr>
        <p:spPr>
          <a:xfrm flipH="1" flipV="1">
            <a:off x="4114800" y="4297680"/>
            <a:ext cx="45720" cy="45720"/>
          </a:xfrm>
          <a:prstGeom prst="line">
            <a:avLst/>
          </a:prstGeom>
          <a:noFill/>
          <a:ln w="15875">
            <a:solidFill>
              <a:srgbClr val="C8414C"/>
            </a:solidFill>
            <a:prstDash val="solid"/>
          </a:ln>
        </p:spPr>
      </p:sp>
      <p:sp>
        <p:nvSpPr>
          <p:cNvPr id="83" name="Shape 81"/>
          <p:cNvSpPr/>
          <p:nvPr/>
        </p:nvSpPr>
        <p:spPr>
          <a:xfrm flipH="1" flipV="1">
            <a:off x="4069080" y="4251960"/>
            <a:ext cx="45720" cy="45720"/>
          </a:xfrm>
          <a:prstGeom prst="line">
            <a:avLst/>
          </a:prstGeom>
          <a:noFill/>
          <a:ln w="15875">
            <a:solidFill>
              <a:srgbClr val="C8414C"/>
            </a:solidFill>
            <a:prstDash val="solid"/>
          </a:ln>
        </p:spPr>
      </p:sp>
      <p:sp>
        <p:nvSpPr>
          <p:cNvPr id="84" name="Shape 82"/>
          <p:cNvSpPr/>
          <p:nvPr/>
        </p:nvSpPr>
        <p:spPr>
          <a:xfrm flipV="1">
            <a:off x="4069080" y="4206240"/>
            <a:ext cx="45720" cy="45720"/>
          </a:xfrm>
          <a:prstGeom prst="line">
            <a:avLst/>
          </a:prstGeom>
          <a:noFill/>
          <a:ln w="15875">
            <a:solidFill>
              <a:srgbClr val="C8414C"/>
            </a:solidFill>
            <a:prstDash val="solid"/>
          </a:ln>
        </p:spPr>
      </p:sp>
      <p:sp>
        <p:nvSpPr>
          <p:cNvPr id="85" name="Shape 83"/>
          <p:cNvSpPr/>
          <p:nvPr/>
        </p:nvSpPr>
        <p:spPr>
          <a:xfrm flipV="1">
            <a:off x="4114800" y="4160520"/>
            <a:ext cx="45720" cy="45720"/>
          </a:xfrm>
          <a:prstGeom prst="line">
            <a:avLst/>
          </a:prstGeom>
          <a:noFill/>
          <a:ln w="15875">
            <a:solidFill>
              <a:srgbClr val="C8414C"/>
            </a:solidFill>
            <a:prstDash val="solid"/>
          </a:ln>
        </p:spPr>
      </p:sp>
      <p:sp>
        <p:nvSpPr>
          <p:cNvPr id="86" name="Shape 84"/>
          <p:cNvSpPr/>
          <p:nvPr/>
        </p:nvSpPr>
        <p:spPr>
          <a:xfrm flipH="1" flipV="1">
            <a:off x="4114800" y="4114800"/>
            <a:ext cx="45720" cy="45720"/>
          </a:xfrm>
          <a:prstGeom prst="line">
            <a:avLst/>
          </a:prstGeom>
          <a:noFill/>
          <a:ln w="15875">
            <a:solidFill>
              <a:srgbClr val="C8414C"/>
            </a:solidFill>
            <a:prstDash val="solid"/>
          </a:ln>
        </p:spPr>
      </p:sp>
      <p:sp>
        <p:nvSpPr>
          <p:cNvPr id="87" name="Shape 85"/>
          <p:cNvSpPr/>
          <p:nvPr/>
        </p:nvSpPr>
        <p:spPr>
          <a:xfrm flipH="1" flipV="1">
            <a:off x="4069080" y="4069080"/>
            <a:ext cx="45720" cy="45720"/>
          </a:xfrm>
          <a:prstGeom prst="line">
            <a:avLst/>
          </a:prstGeom>
          <a:noFill/>
          <a:ln w="15875">
            <a:solidFill>
              <a:srgbClr val="C8414C"/>
            </a:solidFill>
            <a:prstDash val="solid"/>
          </a:ln>
        </p:spPr>
      </p:sp>
      <p:sp>
        <p:nvSpPr>
          <p:cNvPr id="88" name="Shape 86"/>
          <p:cNvSpPr/>
          <p:nvPr/>
        </p:nvSpPr>
        <p:spPr>
          <a:xfrm flipV="1">
            <a:off x="4069080" y="4023360"/>
            <a:ext cx="45720" cy="45720"/>
          </a:xfrm>
          <a:prstGeom prst="line">
            <a:avLst/>
          </a:prstGeom>
          <a:noFill/>
          <a:ln w="15875">
            <a:solidFill>
              <a:srgbClr val="C8414C"/>
            </a:solidFill>
            <a:prstDash val="solid"/>
          </a:ln>
        </p:spPr>
      </p:sp>
      <p:sp>
        <p:nvSpPr>
          <p:cNvPr id="89" name="Shape 87"/>
          <p:cNvSpPr/>
          <p:nvPr/>
        </p:nvSpPr>
        <p:spPr>
          <a:xfrm flipV="1">
            <a:off x="4526280" y="4343400"/>
            <a:ext cx="45720" cy="45720"/>
          </a:xfrm>
          <a:prstGeom prst="line">
            <a:avLst/>
          </a:prstGeom>
          <a:noFill/>
          <a:ln w="15875">
            <a:solidFill>
              <a:srgbClr val="C8414C"/>
            </a:solidFill>
            <a:prstDash val="solid"/>
          </a:ln>
        </p:spPr>
      </p:sp>
      <p:sp>
        <p:nvSpPr>
          <p:cNvPr id="90" name="Shape 88"/>
          <p:cNvSpPr/>
          <p:nvPr/>
        </p:nvSpPr>
        <p:spPr>
          <a:xfrm flipH="1" flipV="1">
            <a:off x="4526280" y="4297680"/>
            <a:ext cx="45720" cy="45720"/>
          </a:xfrm>
          <a:prstGeom prst="line">
            <a:avLst/>
          </a:prstGeom>
          <a:noFill/>
          <a:ln w="15875">
            <a:solidFill>
              <a:srgbClr val="C8414C"/>
            </a:solidFill>
            <a:prstDash val="solid"/>
          </a:ln>
        </p:spPr>
      </p:sp>
      <p:sp>
        <p:nvSpPr>
          <p:cNvPr id="91" name="Shape 89"/>
          <p:cNvSpPr/>
          <p:nvPr/>
        </p:nvSpPr>
        <p:spPr>
          <a:xfrm flipH="1" flipV="1">
            <a:off x="4480560" y="4251960"/>
            <a:ext cx="45720" cy="45720"/>
          </a:xfrm>
          <a:prstGeom prst="line">
            <a:avLst/>
          </a:prstGeom>
          <a:noFill/>
          <a:ln w="15875">
            <a:solidFill>
              <a:srgbClr val="C8414C"/>
            </a:solidFill>
            <a:prstDash val="solid"/>
          </a:ln>
        </p:spPr>
      </p:sp>
      <p:sp>
        <p:nvSpPr>
          <p:cNvPr id="92" name="Shape 90"/>
          <p:cNvSpPr/>
          <p:nvPr/>
        </p:nvSpPr>
        <p:spPr>
          <a:xfrm flipV="1">
            <a:off x="4480560" y="4206240"/>
            <a:ext cx="45720" cy="45720"/>
          </a:xfrm>
          <a:prstGeom prst="line">
            <a:avLst/>
          </a:prstGeom>
          <a:noFill/>
          <a:ln w="15875">
            <a:solidFill>
              <a:srgbClr val="C8414C"/>
            </a:solidFill>
            <a:prstDash val="solid"/>
          </a:ln>
        </p:spPr>
      </p:sp>
      <p:sp>
        <p:nvSpPr>
          <p:cNvPr id="93" name="Shape 91"/>
          <p:cNvSpPr/>
          <p:nvPr/>
        </p:nvSpPr>
        <p:spPr>
          <a:xfrm flipV="1">
            <a:off x="4526280" y="4160520"/>
            <a:ext cx="45720" cy="45720"/>
          </a:xfrm>
          <a:prstGeom prst="line">
            <a:avLst/>
          </a:prstGeom>
          <a:noFill/>
          <a:ln w="15875">
            <a:solidFill>
              <a:srgbClr val="C8414C"/>
            </a:solidFill>
            <a:prstDash val="solid"/>
          </a:ln>
        </p:spPr>
      </p:sp>
      <p:sp>
        <p:nvSpPr>
          <p:cNvPr id="94" name="Shape 92"/>
          <p:cNvSpPr/>
          <p:nvPr/>
        </p:nvSpPr>
        <p:spPr>
          <a:xfrm flipH="1" flipV="1">
            <a:off x="4526280" y="4114800"/>
            <a:ext cx="45720" cy="45720"/>
          </a:xfrm>
          <a:prstGeom prst="line">
            <a:avLst/>
          </a:prstGeom>
          <a:noFill/>
          <a:ln w="15875">
            <a:solidFill>
              <a:srgbClr val="C8414C"/>
            </a:solidFill>
            <a:prstDash val="solid"/>
          </a:ln>
        </p:spPr>
      </p:sp>
      <p:sp>
        <p:nvSpPr>
          <p:cNvPr id="95" name="Shape 93"/>
          <p:cNvSpPr/>
          <p:nvPr/>
        </p:nvSpPr>
        <p:spPr>
          <a:xfrm flipH="1" flipV="1">
            <a:off x="4480560" y="4069080"/>
            <a:ext cx="45720" cy="45720"/>
          </a:xfrm>
          <a:prstGeom prst="line">
            <a:avLst/>
          </a:prstGeom>
          <a:noFill/>
          <a:ln w="15875">
            <a:solidFill>
              <a:srgbClr val="C8414C"/>
            </a:solidFill>
            <a:prstDash val="solid"/>
          </a:ln>
        </p:spPr>
      </p:sp>
      <p:sp>
        <p:nvSpPr>
          <p:cNvPr id="96" name="Shape 94"/>
          <p:cNvSpPr/>
          <p:nvPr/>
        </p:nvSpPr>
        <p:spPr>
          <a:xfrm flipV="1">
            <a:off x="4480560" y="4023360"/>
            <a:ext cx="45720" cy="45720"/>
          </a:xfrm>
          <a:prstGeom prst="line">
            <a:avLst/>
          </a:prstGeom>
          <a:noFill/>
          <a:ln w="15875">
            <a:solidFill>
              <a:srgbClr val="C8414C"/>
            </a:solidFill>
            <a:prstDash val="solid"/>
          </a:ln>
        </p:spPr>
      </p:sp>
      <p:sp>
        <p:nvSpPr>
          <p:cNvPr id="97" name="Shape 95"/>
          <p:cNvSpPr/>
          <p:nvPr/>
        </p:nvSpPr>
        <p:spPr>
          <a:xfrm flipV="1">
            <a:off x="4937760" y="4343400"/>
            <a:ext cx="45720" cy="45720"/>
          </a:xfrm>
          <a:prstGeom prst="line">
            <a:avLst/>
          </a:prstGeom>
          <a:noFill/>
          <a:ln w="15875">
            <a:solidFill>
              <a:srgbClr val="C8414C"/>
            </a:solidFill>
            <a:prstDash val="solid"/>
          </a:ln>
        </p:spPr>
      </p:sp>
      <p:sp>
        <p:nvSpPr>
          <p:cNvPr id="98" name="Shape 96"/>
          <p:cNvSpPr/>
          <p:nvPr/>
        </p:nvSpPr>
        <p:spPr>
          <a:xfrm flipH="1" flipV="1">
            <a:off x="4937760" y="4297680"/>
            <a:ext cx="45720" cy="45720"/>
          </a:xfrm>
          <a:prstGeom prst="line">
            <a:avLst/>
          </a:prstGeom>
          <a:noFill/>
          <a:ln w="15875">
            <a:solidFill>
              <a:srgbClr val="C8414C"/>
            </a:solidFill>
            <a:prstDash val="solid"/>
          </a:ln>
        </p:spPr>
      </p:sp>
      <p:sp>
        <p:nvSpPr>
          <p:cNvPr id="99" name="Shape 97"/>
          <p:cNvSpPr/>
          <p:nvPr/>
        </p:nvSpPr>
        <p:spPr>
          <a:xfrm flipH="1" flipV="1">
            <a:off x="4892040" y="4251960"/>
            <a:ext cx="45720" cy="45720"/>
          </a:xfrm>
          <a:prstGeom prst="line">
            <a:avLst/>
          </a:prstGeom>
          <a:noFill/>
          <a:ln w="15875">
            <a:solidFill>
              <a:srgbClr val="C8414C"/>
            </a:solidFill>
            <a:prstDash val="solid"/>
          </a:ln>
        </p:spPr>
      </p:sp>
      <p:sp>
        <p:nvSpPr>
          <p:cNvPr id="100" name="Shape 98"/>
          <p:cNvSpPr/>
          <p:nvPr/>
        </p:nvSpPr>
        <p:spPr>
          <a:xfrm flipV="1">
            <a:off x="4892040" y="4206240"/>
            <a:ext cx="45720" cy="45720"/>
          </a:xfrm>
          <a:prstGeom prst="line">
            <a:avLst/>
          </a:prstGeom>
          <a:noFill/>
          <a:ln w="15875">
            <a:solidFill>
              <a:srgbClr val="C8414C"/>
            </a:solidFill>
            <a:prstDash val="solid"/>
          </a:ln>
        </p:spPr>
      </p:sp>
      <p:sp>
        <p:nvSpPr>
          <p:cNvPr id="101" name="Shape 99"/>
          <p:cNvSpPr/>
          <p:nvPr/>
        </p:nvSpPr>
        <p:spPr>
          <a:xfrm flipV="1">
            <a:off x="4937760" y="4160520"/>
            <a:ext cx="45720" cy="45720"/>
          </a:xfrm>
          <a:prstGeom prst="line">
            <a:avLst/>
          </a:prstGeom>
          <a:noFill/>
          <a:ln w="15875">
            <a:solidFill>
              <a:srgbClr val="C8414C"/>
            </a:solidFill>
            <a:prstDash val="solid"/>
          </a:ln>
        </p:spPr>
      </p:sp>
      <p:sp>
        <p:nvSpPr>
          <p:cNvPr id="102" name="Shape 100"/>
          <p:cNvSpPr/>
          <p:nvPr/>
        </p:nvSpPr>
        <p:spPr>
          <a:xfrm flipH="1" flipV="1">
            <a:off x="4937760" y="4114800"/>
            <a:ext cx="45720" cy="45720"/>
          </a:xfrm>
          <a:prstGeom prst="line">
            <a:avLst/>
          </a:prstGeom>
          <a:noFill/>
          <a:ln w="15875">
            <a:solidFill>
              <a:srgbClr val="C8414C"/>
            </a:solidFill>
            <a:prstDash val="solid"/>
          </a:ln>
        </p:spPr>
      </p:sp>
      <p:sp>
        <p:nvSpPr>
          <p:cNvPr id="103" name="Shape 101"/>
          <p:cNvSpPr/>
          <p:nvPr/>
        </p:nvSpPr>
        <p:spPr>
          <a:xfrm flipH="1" flipV="1">
            <a:off x="4892040" y="4069080"/>
            <a:ext cx="45720" cy="45720"/>
          </a:xfrm>
          <a:prstGeom prst="line">
            <a:avLst/>
          </a:prstGeom>
          <a:noFill/>
          <a:ln w="15875">
            <a:solidFill>
              <a:srgbClr val="C8414C"/>
            </a:solidFill>
            <a:prstDash val="solid"/>
          </a:ln>
        </p:spPr>
      </p:sp>
      <p:sp>
        <p:nvSpPr>
          <p:cNvPr id="104" name="Shape 102"/>
          <p:cNvSpPr/>
          <p:nvPr/>
        </p:nvSpPr>
        <p:spPr>
          <a:xfrm flipV="1">
            <a:off x="4892040" y="4023360"/>
            <a:ext cx="45720" cy="45720"/>
          </a:xfrm>
          <a:prstGeom prst="line">
            <a:avLst/>
          </a:prstGeom>
          <a:noFill/>
          <a:ln w="15875">
            <a:solidFill>
              <a:srgbClr val="C8414C"/>
            </a:solidFill>
            <a:prstDash val="solid"/>
          </a:ln>
        </p:spPr>
      </p:sp>
      <p:sp>
        <p:nvSpPr>
          <p:cNvPr id="105" name="Text 103"/>
          <p:cNvSpPr/>
          <p:nvPr/>
        </p:nvSpPr>
        <p:spPr>
          <a:xfrm>
            <a:off x="3703320" y="5102352"/>
            <a:ext cx="173736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warm oven</a:t>
            </a:r>
            <a:endParaRPr lang="en-US" sz="1000" dirty="0"/>
          </a:p>
        </p:txBody>
      </p:sp>
      <p:sp>
        <p:nvSpPr>
          <p:cNvPr id="106" name="Shape 104"/>
          <p:cNvSpPr/>
          <p:nvPr/>
        </p:nvSpPr>
        <p:spPr>
          <a:xfrm>
            <a:off x="6217920" y="1188720"/>
            <a:ext cx="5562295" cy="2423160"/>
          </a:xfrm>
          <a:prstGeom prst="roundRect">
            <a:avLst>
              <a:gd name="adj" fmla="val 2264"/>
            </a:avLst>
          </a:prstGeom>
          <a:solidFill>
            <a:srgbClr val="F8F5FC"/>
          </a:solidFill>
          <a:ln w="9525">
            <a:solidFill>
              <a:srgbClr val="DDD3EC"/>
            </a:solidFill>
            <a:prstDash val="solid"/>
          </a:ln>
        </p:spPr>
      </p:sp>
      <p:sp>
        <p:nvSpPr>
          <p:cNvPr id="107" name="Text 10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108" name="Text 10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Mix solutions of </a:t>
            </a:r>
            <a:r>
              <a:rPr lang="en-US" sz="1150" b="1" dirty="0">
                <a:solidFill>
                  <a:srgbClr val="262B3A"/>
                </a:solidFill>
                <a:latin typeface="Calibri" pitchFamily="34" charset="0"/>
                <a:ea typeface="Calibri" pitchFamily="34" charset="-122"/>
                <a:cs typeface="Calibri" pitchFamily="34" charset="-120"/>
              </a:rPr>
              <a:t>two soluble salts</a:t>
            </a:r>
            <a:r>
              <a:rPr lang="en-US" sz="1150" dirty="0">
                <a:solidFill>
                  <a:srgbClr val="262B3A"/>
                </a:solidFill>
                <a:latin typeface="Calibri" pitchFamily="34" charset="0"/>
                <a:ea typeface="Calibri" pitchFamily="34" charset="-122"/>
                <a:cs typeface="Calibri" pitchFamily="34" charset="-120"/>
              </a:rPr>
              <a:t> that between them contain the ions of the insoluble salt.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Filter</a:t>
            </a:r>
            <a:r>
              <a:rPr lang="en-US" sz="1150" dirty="0">
                <a:solidFill>
                  <a:srgbClr val="262B3A"/>
                </a:solidFill>
                <a:latin typeface="Calibri" pitchFamily="34" charset="0"/>
                <a:ea typeface="Calibri" pitchFamily="34" charset="-122"/>
                <a:cs typeface="Calibri" pitchFamily="34" charset="-120"/>
              </a:rPr>
              <a:t>: the precipitate stays on the filter paper (residue).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Wash</a:t>
            </a:r>
            <a:r>
              <a:rPr lang="en-US" sz="1150" dirty="0">
                <a:solidFill>
                  <a:srgbClr val="262B3A"/>
                </a:solidFill>
                <a:latin typeface="Calibri" pitchFamily="34" charset="0"/>
                <a:ea typeface="Calibri" pitchFamily="34" charset="-122"/>
                <a:cs typeface="Calibri" pitchFamily="34" charset="-120"/>
              </a:rPr>
              <a:t> the residue with </a:t>
            </a:r>
            <a:r>
              <a:rPr lang="en-US" sz="1150" b="1" dirty="0">
                <a:solidFill>
                  <a:srgbClr val="262B3A"/>
                </a:solidFill>
                <a:latin typeface="Calibri" pitchFamily="34" charset="0"/>
                <a:ea typeface="Calibri" pitchFamily="34" charset="-122"/>
                <a:cs typeface="Calibri" pitchFamily="34" charset="-120"/>
              </a:rPr>
              <a:t>distilled water</a:t>
            </a:r>
            <a:r>
              <a:rPr lang="en-US" sz="1150" dirty="0">
                <a:solidFill>
                  <a:srgbClr val="262B3A"/>
                </a:solidFill>
                <a:latin typeface="Calibri" pitchFamily="34" charset="0"/>
                <a:ea typeface="Calibri" pitchFamily="34" charset="-122"/>
                <a:cs typeface="Calibri" pitchFamily="34" charset="-120"/>
              </a:rPr>
              <a:t> to remove the soluble spectator ions.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Dry</a:t>
            </a:r>
            <a:r>
              <a:rPr lang="en-US" sz="1150" dirty="0">
                <a:solidFill>
                  <a:srgbClr val="262B3A"/>
                </a:solidFill>
                <a:latin typeface="Calibri" pitchFamily="34" charset="0"/>
                <a:ea typeface="Calibri" pitchFamily="34" charset="-122"/>
                <a:cs typeface="Calibri" pitchFamily="34" charset="-120"/>
              </a:rPr>
              <a:t> in a warm oven or between filter papers.</a:t>
            </a:r>
            <a:endParaRPr lang="en-US" sz="1150" dirty="0"/>
          </a:p>
        </p:txBody>
      </p:sp>
      <p:sp>
        <p:nvSpPr>
          <p:cNvPr id="109" name="Shape 10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10" name="Text 10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Example: calcium carbonate</a:t>
            </a:r>
            <a:endParaRPr lang="en-US" sz="1300" dirty="0"/>
          </a:p>
        </p:txBody>
      </p:sp>
      <p:sp>
        <p:nvSpPr>
          <p:cNvPr id="111" name="Text 109"/>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Full   </a:t>
            </a:r>
            <a:r>
              <a:rPr lang="en-US" sz="1050" dirty="0">
                <a:solidFill>
                  <a:srgbClr val="262B3A"/>
                </a:solidFill>
                <a:latin typeface="Calibri" pitchFamily="34" charset="0"/>
                <a:ea typeface="Calibri" pitchFamily="34" charset="-122"/>
                <a:cs typeface="Calibri" pitchFamily="34" charset="-120"/>
              </a:rPr>
              <a:t>CaCl₂(aq) + Na₂CO₃(aq) → CaCO₃(s) + 2NaCl(aq)</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Ionic (HT)   </a:t>
            </a:r>
            <a:r>
              <a:rPr lang="en-US" sz="1050" dirty="0">
                <a:solidFill>
                  <a:srgbClr val="262B3A"/>
                </a:solidFill>
                <a:latin typeface="Calibri" pitchFamily="34" charset="0"/>
                <a:ea typeface="Calibri" pitchFamily="34" charset="-122"/>
                <a:cs typeface="Calibri" pitchFamily="34" charset="-120"/>
              </a:rPr>
              <a:t>Ca²⁺(aq) + CO₃²⁻(aq) → CaCO₃(s)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Wash   </a:t>
            </a:r>
            <a:r>
              <a:rPr lang="en-US" sz="1050" dirty="0">
                <a:solidFill>
                  <a:srgbClr val="262B3A"/>
                </a:solidFill>
                <a:latin typeface="Calibri" pitchFamily="34" charset="0"/>
                <a:ea typeface="Calibri" pitchFamily="34" charset="-122"/>
                <a:cs typeface="Calibri" pitchFamily="34" charset="-120"/>
              </a:rPr>
              <a:t>removes dissolved NaCl (Na⁺ and Cl⁻ spectators)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pure, dry CaCO₃(s) left on the paper</a:t>
            </a:r>
            <a:endParaRPr lang="en-US" sz="1050" dirty="0"/>
          </a:p>
        </p:txBody>
      </p:sp>
      <p:sp>
        <p:nvSpPr>
          <p:cNvPr id="112" name="Shape 110"/>
          <p:cNvSpPr/>
          <p:nvPr/>
        </p:nvSpPr>
        <p:spPr>
          <a:xfrm>
            <a:off x="411480" y="5833872"/>
            <a:ext cx="11368735" cy="530352"/>
          </a:xfrm>
          <a:prstGeom prst="rect">
            <a:avLst/>
          </a:prstGeom>
          <a:solidFill>
            <a:srgbClr val="FFF4E0"/>
          </a:solidFill>
          <a:ln w="6350">
            <a:solidFill>
              <a:srgbClr val="F1D9A8"/>
            </a:solidFill>
            <a:prstDash val="solid"/>
          </a:ln>
        </p:spPr>
      </p:sp>
      <p:sp>
        <p:nvSpPr>
          <p:cNvPr id="113" name="Shape 111"/>
          <p:cNvSpPr/>
          <p:nvPr/>
        </p:nvSpPr>
        <p:spPr>
          <a:xfrm>
            <a:off x="411480" y="5833872"/>
            <a:ext cx="82296" cy="530352"/>
          </a:xfrm>
          <a:prstGeom prst="rect">
            <a:avLst/>
          </a:prstGeom>
          <a:solidFill>
            <a:srgbClr val="E39A2F"/>
          </a:solidFill>
          <a:ln w="12700">
            <a:solidFill>
              <a:srgbClr val="E39A2F"/>
            </a:solidFill>
            <a:prstDash val="solid"/>
          </a:ln>
        </p:spPr>
      </p:sp>
      <p:sp>
        <p:nvSpPr>
          <p:cNvPr id="114" name="Text 11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the precipitate washed with </a:t>
            </a:r>
            <a:r>
              <a:rPr lang="en-US" sz="1150" b="1" dirty="0">
                <a:solidFill>
                  <a:srgbClr val="262B3A"/>
                </a:solidFill>
                <a:latin typeface="Calibri" pitchFamily="34" charset="0"/>
                <a:ea typeface="Calibri" pitchFamily="34" charset="-122"/>
                <a:cs typeface="Calibri" pitchFamily="34" charset="-120"/>
              </a:rPr>
              <a:t>distilled</a:t>
            </a:r>
            <a:r>
              <a:rPr lang="en-US" sz="1150" dirty="0">
                <a:solidFill>
                  <a:srgbClr val="262B3A"/>
                </a:solidFill>
                <a:latin typeface="Calibri" pitchFamily="34" charset="0"/>
                <a:ea typeface="Calibri" pitchFamily="34" charset="-122"/>
                <a:cs typeface="Calibri" pitchFamily="34" charset="-120"/>
              </a:rPr>
              <a:t> water and not tap water? Why is it dried in a </a:t>
            </a:r>
            <a:r>
              <a:rPr lang="en-US" sz="1150" b="1" dirty="0">
                <a:solidFill>
                  <a:srgbClr val="262B3A"/>
                </a:solidFill>
                <a:latin typeface="Calibri" pitchFamily="34" charset="0"/>
                <a:ea typeface="Calibri" pitchFamily="34" charset="-122"/>
                <a:cs typeface="Calibri" pitchFamily="34" charset="-120"/>
              </a:rPr>
              <a:t>warm</a:t>
            </a:r>
            <a:r>
              <a:rPr lang="en-US" sz="1150" dirty="0">
                <a:solidFill>
                  <a:srgbClr val="262B3A"/>
                </a:solidFill>
                <a:latin typeface="Calibri" pitchFamily="34" charset="0"/>
                <a:ea typeface="Calibri" pitchFamily="34" charset="-122"/>
                <a:cs typeface="Calibri" pitchFamily="34" charset="-120"/>
              </a:rPr>
              <a:t> oven rather than a very hot one?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3.19–3.21 and 0.4 • solubility, precipitates and insoluble salts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27</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the solubility rules to predict whether a precipitate forms when these solutions are mixed. Name any precipitate.</a:t>
            </a:r>
            <a:endParaRPr lang="en-US" sz="1250" dirty="0"/>
          </a:p>
          <a:p>
            <a:pPr indent="0" marL="0">
              <a:buNone/>
            </a:pPr>
            <a:r>
              <a:rPr lang="en-US" sz="1250" dirty="0">
                <a:solidFill>
                  <a:srgbClr val="262B3A"/>
                </a:solidFill>
                <a:latin typeface="Calibri" pitchFamily="34" charset="0"/>
                <a:ea typeface="Calibri" pitchFamily="34" charset="-122"/>
                <a:cs typeface="Calibri" pitchFamily="34" charset="-120"/>
              </a:rPr>
              <a:t>(i) lead nitrate + sodium chloride     (ii) potassium carbonate + sodium nitrate</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DD3EC"/>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Shape 14"/>
          <p:cNvSpPr/>
          <p:nvPr/>
        </p:nvSpPr>
        <p:spPr>
          <a:xfrm>
            <a:off x="2606040" y="2956560"/>
            <a:ext cx="411480" cy="274320"/>
          </a:xfrm>
          <a:prstGeom prst="roundRect">
            <a:avLst>
              <a:gd name="adj" fmla="val 50000"/>
            </a:avLst>
          </a:prstGeom>
          <a:solidFill>
            <a:srgbClr val="C8414C"/>
          </a:solidFill>
          <a:ln w="12700">
            <a:solidFill>
              <a:srgbClr val="C8414C"/>
            </a:solidFill>
            <a:prstDash val="solid"/>
          </a:ln>
        </p:spPr>
      </p:sp>
      <p:sp>
        <p:nvSpPr>
          <p:cNvPr id="17" name="Text 15"/>
          <p:cNvSpPr/>
          <p:nvPr/>
        </p:nvSpPr>
        <p:spPr>
          <a:xfrm>
            <a:off x="2606040" y="295656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8" name="Text 16"/>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the ionic equation, with state symbols, for the precipitate formed in (i).</a:t>
            </a:r>
            <a:endParaRPr lang="en-US" sz="1250" dirty="0"/>
          </a:p>
        </p:txBody>
      </p:sp>
      <p:sp>
        <p:nvSpPr>
          <p:cNvPr id="19" name="Text 17"/>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0" name="Shape 18"/>
          <p:cNvSpPr/>
          <p:nvPr/>
        </p:nvSpPr>
        <p:spPr>
          <a:xfrm>
            <a:off x="411480" y="4687824"/>
            <a:ext cx="11368735" cy="1594104"/>
          </a:xfrm>
          <a:prstGeom prst="roundRect">
            <a:avLst>
              <a:gd name="adj" fmla="val 2868"/>
            </a:avLst>
          </a:prstGeom>
          <a:solidFill>
            <a:srgbClr val="FFFFFF"/>
          </a:solidFill>
          <a:ln w="12700">
            <a:solidFill>
              <a:srgbClr val="DDD3EC"/>
            </a:solidFill>
            <a:prstDash val="solid"/>
          </a:ln>
        </p:spPr>
      </p:sp>
      <p:sp>
        <p:nvSpPr>
          <p:cNvPr id="21" name="Shape 19"/>
          <p:cNvSpPr/>
          <p:nvPr/>
        </p:nvSpPr>
        <p:spPr>
          <a:xfrm>
            <a:off x="411480" y="4687824"/>
            <a:ext cx="2103120" cy="292608"/>
          </a:xfrm>
          <a:prstGeom prst="rect">
            <a:avLst/>
          </a:prstGeom>
          <a:solidFill>
            <a:srgbClr val="F5A742"/>
          </a:solidFill>
          <a:ln w="12700">
            <a:solidFill>
              <a:srgbClr val="F5A742"/>
            </a:solidFill>
            <a:prstDash val="solid"/>
          </a:ln>
        </p:spPr>
      </p:sp>
      <p:sp>
        <p:nvSpPr>
          <p:cNvPr id="22" name="Text 20"/>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3" name="Text 21"/>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to obtain a </a:t>
            </a:r>
            <a:r>
              <a:rPr lang="en-US" sz="1250" b="1" dirty="0">
                <a:solidFill>
                  <a:srgbClr val="262B3A"/>
                </a:solidFill>
                <a:latin typeface="Calibri" pitchFamily="34" charset="0"/>
                <a:ea typeface="Calibri" pitchFamily="34" charset="-122"/>
                <a:cs typeface="Calibri" pitchFamily="34" charset="-120"/>
              </a:rPr>
              <a:t>pure, dry</a:t>
            </a:r>
            <a:r>
              <a:rPr lang="en-US" sz="1250" dirty="0">
                <a:solidFill>
                  <a:srgbClr val="262B3A"/>
                </a:solidFill>
                <a:latin typeface="Calibri" pitchFamily="34" charset="0"/>
                <a:ea typeface="Calibri" pitchFamily="34" charset="-122"/>
                <a:cs typeface="Calibri" pitchFamily="34" charset="-120"/>
              </a:rPr>
              <a:t> sample of the precipitate from the mixture.</a:t>
            </a:r>
            <a:endParaRPr lang="en-US" sz="1250" dirty="0"/>
          </a:p>
        </p:txBody>
      </p:sp>
      <p:sp>
        <p:nvSpPr>
          <p:cNvPr id="24" name="Text 22"/>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Electrolysis: ions on the move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3.22–3.24 • electrolytes, d.c. supply, cations to the cathode, anions to the anode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3.22–3.24  |  28</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copper chloride solution with inert (graphite) electrodes</a:t>
            </a:r>
            <a:endParaRPr lang="en-US" sz="1000" dirty="0"/>
          </a:p>
        </p:txBody>
      </p:sp>
      <p:sp>
        <p:nvSpPr>
          <p:cNvPr id="10" name="Shape 8"/>
          <p:cNvSpPr/>
          <p:nvPr/>
        </p:nvSpPr>
        <p:spPr>
          <a:xfrm>
            <a:off x="1417320" y="2743200"/>
            <a:ext cx="3017520" cy="2057400"/>
          </a:xfrm>
          <a:prstGeom prst="rect">
            <a:avLst/>
          </a:prstGeom>
          <a:solidFill>
            <a:srgbClr val="EEF5FB"/>
          </a:solidFill>
          <a:ln/>
        </p:spPr>
      </p:sp>
      <p:sp>
        <p:nvSpPr>
          <p:cNvPr id="11" name="Shape 9"/>
          <p:cNvSpPr/>
          <p:nvPr/>
        </p:nvSpPr>
        <p:spPr>
          <a:xfrm>
            <a:off x="1417320" y="3195828"/>
            <a:ext cx="3017520" cy="1604772"/>
          </a:xfrm>
          <a:prstGeom prst="rect">
            <a:avLst/>
          </a:prstGeom>
          <a:solidFill>
            <a:srgbClr val="BDE3E0"/>
          </a:solidFill>
          <a:ln/>
        </p:spPr>
      </p:sp>
      <p:sp>
        <p:nvSpPr>
          <p:cNvPr id="12" name="Shape 10"/>
          <p:cNvSpPr/>
          <p:nvPr/>
        </p:nvSpPr>
        <p:spPr>
          <a:xfrm>
            <a:off x="1417320" y="3195828"/>
            <a:ext cx="3017520" cy="91"/>
          </a:xfrm>
          <a:prstGeom prst="line">
            <a:avLst/>
          </a:prstGeom>
          <a:noFill/>
          <a:ln w="12700">
            <a:solidFill>
              <a:srgbClr val="3E8E7E"/>
            </a:solidFill>
            <a:prstDash val="solid"/>
          </a:ln>
        </p:spPr>
      </p:sp>
      <p:sp>
        <p:nvSpPr>
          <p:cNvPr id="13" name="Shape 11"/>
          <p:cNvSpPr/>
          <p:nvPr/>
        </p:nvSpPr>
        <p:spPr>
          <a:xfrm>
            <a:off x="1417320" y="2743200"/>
            <a:ext cx="91" cy="2057400"/>
          </a:xfrm>
          <a:prstGeom prst="line">
            <a:avLst/>
          </a:prstGeom>
          <a:noFill/>
          <a:ln w="19050">
            <a:solidFill>
              <a:srgbClr val="2A1F3D"/>
            </a:solidFill>
            <a:prstDash val="solid"/>
          </a:ln>
        </p:spPr>
      </p:sp>
      <p:sp>
        <p:nvSpPr>
          <p:cNvPr id="14" name="Shape 12"/>
          <p:cNvSpPr/>
          <p:nvPr/>
        </p:nvSpPr>
        <p:spPr>
          <a:xfrm>
            <a:off x="4434840" y="2743200"/>
            <a:ext cx="91" cy="2057400"/>
          </a:xfrm>
          <a:prstGeom prst="line">
            <a:avLst/>
          </a:prstGeom>
          <a:noFill/>
          <a:ln w="19050">
            <a:solidFill>
              <a:srgbClr val="2A1F3D"/>
            </a:solidFill>
            <a:prstDash val="solid"/>
          </a:ln>
        </p:spPr>
      </p:sp>
      <p:sp>
        <p:nvSpPr>
          <p:cNvPr id="15" name="Shape 13"/>
          <p:cNvSpPr/>
          <p:nvPr/>
        </p:nvSpPr>
        <p:spPr>
          <a:xfrm>
            <a:off x="1417320" y="4800600"/>
            <a:ext cx="3017520" cy="91"/>
          </a:xfrm>
          <a:prstGeom prst="line">
            <a:avLst/>
          </a:prstGeom>
          <a:noFill/>
          <a:ln w="19050">
            <a:solidFill>
              <a:srgbClr val="2A1F3D"/>
            </a:solidFill>
            <a:prstDash val="solid"/>
          </a:ln>
        </p:spPr>
      </p:sp>
      <p:sp>
        <p:nvSpPr>
          <p:cNvPr id="16" name="Shape 14"/>
          <p:cNvSpPr/>
          <p:nvPr/>
        </p:nvSpPr>
        <p:spPr>
          <a:xfrm>
            <a:off x="1362456" y="2743200"/>
            <a:ext cx="54864" cy="91"/>
          </a:xfrm>
          <a:prstGeom prst="line">
            <a:avLst/>
          </a:prstGeom>
          <a:noFill/>
          <a:ln w="19050">
            <a:solidFill>
              <a:srgbClr val="2A1F3D"/>
            </a:solidFill>
            <a:prstDash val="solid"/>
          </a:ln>
        </p:spPr>
      </p:sp>
      <p:sp>
        <p:nvSpPr>
          <p:cNvPr id="17" name="Shape 15"/>
          <p:cNvSpPr/>
          <p:nvPr/>
        </p:nvSpPr>
        <p:spPr>
          <a:xfrm>
            <a:off x="4434840" y="2743200"/>
            <a:ext cx="54864" cy="91"/>
          </a:xfrm>
          <a:prstGeom prst="line">
            <a:avLst/>
          </a:prstGeom>
          <a:noFill/>
          <a:ln w="19050">
            <a:solidFill>
              <a:srgbClr val="2A1F3D"/>
            </a:solidFill>
            <a:prstDash val="solid"/>
          </a:ln>
        </p:spPr>
      </p:sp>
      <p:sp>
        <p:nvSpPr>
          <p:cNvPr id="18" name="Shape 16"/>
          <p:cNvSpPr/>
          <p:nvPr/>
        </p:nvSpPr>
        <p:spPr>
          <a:xfrm>
            <a:off x="2158898" y="2423160"/>
            <a:ext cx="146304" cy="2103120"/>
          </a:xfrm>
          <a:prstGeom prst="rect">
            <a:avLst/>
          </a:prstGeom>
          <a:solidFill>
            <a:srgbClr val="4A4F5A"/>
          </a:solidFill>
          <a:ln w="12700">
            <a:solidFill>
              <a:srgbClr val="2A2F3A"/>
            </a:solidFill>
            <a:prstDash val="solid"/>
          </a:ln>
        </p:spPr>
      </p:sp>
      <p:sp>
        <p:nvSpPr>
          <p:cNvPr id="19" name="Shape 17"/>
          <p:cNvSpPr/>
          <p:nvPr/>
        </p:nvSpPr>
        <p:spPr>
          <a:xfrm>
            <a:off x="3546958" y="2423160"/>
            <a:ext cx="146304" cy="2103120"/>
          </a:xfrm>
          <a:prstGeom prst="rect">
            <a:avLst/>
          </a:prstGeom>
          <a:solidFill>
            <a:srgbClr val="4A4F5A"/>
          </a:solidFill>
          <a:ln w="12700">
            <a:solidFill>
              <a:srgbClr val="2A2F3A"/>
            </a:solidFill>
            <a:prstDash val="solid"/>
          </a:ln>
        </p:spPr>
      </p:sp>
      <p:sp>
        <p:nvSpPr>
          <p:cNvPr id="20" name="Shape 18"/>
          <p:cNvSpPr/>
          <p:nvPr/>
        </p:nvSpPr>
        <p:spPr>
          <a:xfrm>
            <a:off x="2460650" y="1600200"/>
            <a:ext cx="930859" cy="548640"/>
          </a:xfrm>
          <a:prstGeom prst="roundRect">
            <a:avLst>
              <a:gd name="adj" fmla="val 10000"/>
            </a:avLst>
          </a:prstGeom>
          <a:solidFill>
            <a:srgbClr val="E8EBF0"/>
          </a:solidFill>
          <a:ln w="15875">
            <a:solidFill>
              <a:srgbClr val="4A5568"/>
            </a:solidFill>
            <a:prstDash val="solid"/>
          </a:ln>
        </p:spPr>
      </p:sp>
      <p:sp>
        <p:nvSpPr>
          <p:cNvPr id="21" name="Text 19"/>
          <p:cNvSpPr/>
          <p:nvPr/>
        </p:nvSpPr>
        <p:spPr>
          <a:xfrm>
            <a:off x="2460650" y="1600200"/>
            <a:ext cx="930859" cy="54864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d.c. supply</a:t>
            </a:r>
            <a:endParaRPr lang="en-US" sz="1050" dirty="0"/>
          </a:p>
        </p:txBody>
      </p:sp>
      <p:sp>
        <p:nvSpPr>
          <p:cNvPr id="22" name="Shape 20"/>
          <p:cNvSpPr/>
          <p:nvPr/>
        </p:nvSpPr>
        <p:spPr>
          <a:xfrm>
            <a:off x="2259482" y="1783080"/>
            <a:ext cx="182880" cy="182880"/>
          </a:xfrm>
          <a:prstGeom prst="ellipse">
            <a:avLst/>
          </a:prstGeom>
          <a:solidFill>
            <a:srgbClr val="2A2F3A"/>
          </a:solidFill>
          <a:ln w="9525">
            <a:solidFill>
              <a:srgbClr val="2A2F3A"/>
            </a:solidFill>
            <a:prstDash val="solid"/>
          </a:ln>
        </p:spPr>
      </p:sp>
      <p:sp>
        <p:nvSpPr>
          <p:cNvPr id="23" name="Text 21"/>
          <p:cNvSpPr/>
          <p:nvPr/>
        </p:nvSpPr>
        <p:spPr>
          <a:xfrm>
            <a:off x="2259482" y="1764792"/>
            <a:ext cx="182880" cy="2011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4" name="Shape 22"/>
          <p:cNvSpPr/>
          <p:nvPr/>
        </p:nvSpPr>
        <p:spPr>
          <a:xfrm>
            <a:off x="3409798" y="1783080"/>
            <a:ext cx="182880" cy="182880"/>
          </a:xfrm>
          <a:prstGeom prst="ellipse">
            <a:avLst/>
          </a:prstGeom>
          <a:solidFill>
            <a:srgbClr val="C8414C"/>
          </a:solidFill>
          <a:ln w="9525">
            <a:solidFill>
              <a:srgbClr val="C8414C"/>
            </a:solidFill>
            <a:prstDash val="solid"/>
          </a:ln>
        </p:spPr>
      </p:sp>
      <p:sp>
        <p:nvSpPr>
          <p:cNvPr id="25" name="Text 23"/>
          <p:cNvSpPr/>
          <p:nvPr/>
        </p:nvSpPr>
        <p:spPr>
          <a:xfrm>
            <a:off x="3409798" y="1764792"/>
            <a:ext cx="182880" cy="2011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flipV="1">
            <a:off x="2232050" y="1874520"/>
            <a:ext cx="91" cy="548640"/>
          </a:xfrm>
          <a:prstGeom prst="line">
            <a:avLst/>
          </a:prstGeom>
          <a:noFill/>
          <a:ln w="19050">
            <a:solidFill>
              <a:srgbClr val="2A1F3D"/>
            </a:solidFill>
            <a:prstDash val="solid"/>
          </a:ln>
        </p:spPr>
      </p:sp>
      <p:sp>
        <p:nvSpPr>
          <p:cNvPr id="27" name="Shape 25"/>
          <p:cNvSpPr/>
          <p:nvPr/>
        </p:nvSpPr>
        <p:spPr>
          <a:xfrm>
            <a:off x="2232050" y="1874520"/>
            <a:ext cx="27432" cy="91"/>
          </a:xfrm>
          <a:prstGeom prst="line">
            <a:avLst/>
          </a:prstGeom>
          <a:noFill/>
          <a:ln w="19050">
            <a:solidFill>
              <a:srgbClr val="2A1F3D"/>
            </a:solidFill>
            <a:prstDash val="solid"/>
          </a:ln>
        </p:spPr>
      </p:sp>
      <p:sp>
        <p:nvSpPr>
          <p:cNvPr id="28" name="Shape 26"/>
          <p:cNvSpPr/>
          <p:nvPr/>
        </p:nvSpPr>
        <p:spPr>
          <a:xfrm flipV="1">
            <a:off x="3620110" y="1874520"/>
            <a:ext cx="91" cy="548640"/>
          </a:xfrm>
          <a:prstGeom prst="line">
            <a:avLst/>
          </a:prstGeom>
          <a:noFill/>
          <a:ln w="19050">
            <a:solidFill>
              <a:srgbClr val="2A1F3D"/>
            </a:solidFill>
            <a:prstDash val="solid"/>
          </a:ln>
        </p:spPr>
      </p:sp>
      <p:sp>
        <p:nvSpPr>
          <p:cNvPr id="29" name="Shape 27"/>
          <p:cNvSpPr/>
          <p:nvPr/>
        </p:nvSpPr>
        <p:spPr>
          <a:xfrm flipH="1">
            <a:off x="3592678" y="1874520"/>
            <a:ext cx="27432" cy="91"/>
          </a:xfrm>
          <a:prstGeom prst="line">
            <a:avLst/>
          </a:prstGeom>
          <a:noFill/>
          <a:ln w="19050">
            <a:solidFill>
              <a:srgbClr val="2A1F3D"/>
            </a:solidFill>
            <a:prstDash val="solid"/>
          </a:ln>
        </p:spPr>
      </p:sp>
      <p:sp>
        <p:nvSpPr>
          <p:cNvPr id="30" name="Text 28"/>
          <p:cNvSpPr/>
          <p:nvPr/>
        </p:nvSpPr>
        <p:spPr>
          <a:xfrm>
            <a:off x="878738" y="2414016"/>
            <a:ext cx="1207008" cy="256032"/>
          </a:xfrm>
          <a:prstGeom prst="rect">
            <a:avLst/>
          </a:prstGeom>
          <a:noFill/>
          <a:ln/>
        </p:spPr>
        <p:txBody>
          <a:bodyPr wrap="square" lIns="0" tIns="0" rIns="0" bIns="0" rtlCol="0" anchor="ctr"/>
          <a:lstStyle/>
          <a:p>
            <a:pPr algn="r" indent="0" marL="0">
              <a:buNone/>
            </a:pPr>
            <a:r>
              <a:rPr lang="en-US" sz="1050" b="1" dirty="0">
                <a:solidFill>
                  <a:srgbClr val="2A2F3A"/>
                </a:solidFill>
                <a:latin typeface="Calibri" pitchFamily="34" charset="0"/>
                <a:ea typeface="Calibri" pitchFamily="34" charset="-122"/>
                <a:cs typeface="Calibri" pitchFamily="34" charset="-120"/>
              </a:rPr>
              <a:t>cathode (−)</a:t>
            </a:r>
            <a:endParaRPr lang="en-US" sz="1050" dirty="0"/>
          </a:p>
        </p:txBody>
      </p:sp>
      <p:sp>
        <p:nvSpPr>
          <p:cNvPr id="31" name="Text 29"/>
          <p:cNvSpPr/>
          <p:nvPr/>
        </p:nvSpPr>
        <p:spPr>
          <a:xfrm>
            <a:off x="3766414" y="2414016"/>
            <a:ext cx="1207008"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anode (+)</a:t>
            </a:r>
            <a:endParaRPr lang="en-US" sz="1050" dirty="0"/>
          </a:p>
        </p:txBody>
      </p:sp>
      <p:sp>
        <p:nvSpPr>
          <p:cNvPr id="32" name="Shape 30"/>
          <p:cNvSpPr/>
          <p:nvPr/>
        </p:nvSpPr>
        <p:spPr>
          <a:xfrm>
            <a:off x="2615184" y="3255264"/>
            <a:ext cx="347472" cy="347472"/>
          </a:xfrm>
          <a:prstGeom prst="ellipse">
            <a:avLst/>
          </a:prstGeom>
          <a:solidFill>
            <a:srgbClr val="8EC9F0"/>
          </a:solidFill>
          <a:ln w="12700">
            <a:solidFill>
              <a:srgbClr val="1F5F99"/>
            </a:solidFill>
            <a:prstDash val="solid"/>
          </a:ln>
        </p:spPr>
      </p:sp>
      <p:sp>
        <p:nvSpPr>
          <p:cNvPr id="33" name="Text 31"/>
          <p:cNvSpPr/>
          <p:nvPr/>
        </p:nvSpPr>
        <p:spPr>
          <a:xfrm>
            <a:off x="2505456" y="3255264"/>
            <a:ext cx="566928" cy="347472"/>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Cu²⁺</a:t>
            </a:r>
            <a:endParaRPr lang="en-US" sz="1000" dirty="0"/>
          </a:p>
        </p:txBody>
      </p:sp>
      <p:sp>
        <p:nvSpPr>
          <p:cNvPr id="34" name="Shape 32"/>
          <p:cNvSpPr/>
          <p:nvPr/>
        </p:nvSpPr>
        <p:spPr>
          <a:xfrm flipH="1">
            <a:off x="2350922" y="3429000"/>
            <a:ext cx="236830" cy="91"/>
          </a:xfrm>
          <a:prstGeom prst="line">
            <a:avLst/>
          </a:prstGeom>
          <a:noFill/>
          <a:ln w="25400">
            <a:solidFill>
              <a:srgbClr val="1F5F99"/>
            </a:solidFill>
            <a:prstDash val="solid"/>
            <a:tailEnd type="triangle"/>
          </a:ln>
        </p:spPr>
      </p:sp>
      <p:sp>
        <p:nvSpPr>
          <p:cNvPr id="35" name="Shape 33"/>
          <p:cNvSpPr/>
          <p:nvPr/>
        </p:nvSpPr>
        <p:spPr>
          <a:xfrm>
            <a:off x="2523744" y="4169664"/>
            <a:ext cx="347472" cy="347472"/>
          </a:xfrm>
          <a:prstGeom prst="ellipse">
            <a:avLst/>
          </a:prstGeom>
          <a:solidFill>
            <a:srgbClr val="8EC9F0"/>
          </a:solidFill>
          <a:ln w="12700">
            <a:solidFill>
              <a:srgbClr val="1F5F99"/>
            </a:solidFill>
            <a:prstDash val="solid"/>
          </a:ln>
        </p:spPr>
      </p:sp>
      <p:sp>
        <p:nvSpPr>
          <p:cNvPr id="36" name="Text 34"/>
          <p:cNvSpPr/>
          <p:nvPr/>
        </p:nvSpPr>
        <p:spPr>
          <a:xfrm>
            <a:off x="2414016" y="4169664"/>
            <a:ext cx="566928" cy="347472"/>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Cu²⁺</a:t>
            </a:r>
            <a:endParaRPr lang="en-US" sz="1000" dirty="0"/>
          </a:p>
        </p:txBody>
      </p:sp>
      <p:sp>
        <p:nvSpPr>
          <p:cNvPr id="37" name="Shape 35"/>
          <p:cNvSpPr/>
          <p:nvPr/>
        </p:nvSpPr>
        <p:spPr>
          <a:xfrm flipH="1">
            <a:off x="2350922" y="4343400"/>
            <a:ext cx="145390" cy="91"/>
          </a:xfrm>
          <a:prstGeom prst="line">
            <a:avLst/>
          </a:prstGeom>
          <a:noFill/>
          <a:ln w="25400">
            <a:solidFill>
              <a:srgbClr val="1F5F99"/>
            </a:solidFill>
            <a:prstDash val="solid"/>
            <a:tailEnd type="triangle"/>
          </a:ln>
        </p:spPr>
      </p:sp>
      <p:sp>
        <p:nvSpPr>
          <p:cNvPr id="38" name="Shape 36"/>
          <p:cNvSpPr/>
          <p:nvPr/>
        </p:nvSpPr>
        <p:spPr>
          <a:xfrm>
            <a:off x="2999232" y="3090672"/>
            <a:ext cx="310896" cy="310896"/>
          </a:xfrm>
          <a:prstGeom prst="ellipse">
            <a:avLst/>
          </a:prstGeom>
          <a:solidFill>
            <a:srgbClr val="B9E0A8"/>
          </a:solidFill>
          <a:ln w="12700">
            <a:solidFill>
              <a:srgbClr val="3E7F2E"/>
            </a:solidFill>
            <a:prstDash val="solid"/>
          </a:ln>
        </p:spPr>
      </p:sp>
      <p:sp>
        <p:nvSpPr>
          <p:cNvPr id="39" name="Text 37"/>
          <p:cNvSpPr/>
          <p:nvPr/>
        </p:nvSpPr>
        <p:spPr>
          <a:xfrm>
            <a:off x="2889504" y="3090672"/>
            <a:ext cx="530352" cy="310896"/>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40" name="Shape 38"/>
          <p:cNvSpPr/>
          <p:nvPr/>
        </p:nvSpPr>
        <p:spPr>
          <a:xfrm>
            <a:off x="3337560" y="3246120"/>
            <a:ext cx="163678" cy="91"/>
          </a:xfrm>
          <a:prstGeom prst="line">
            <a:avLst/>
          </a:prstGeom>
          <a:noFill/>
          <a:ln w="25400">
            <a:solidFill>
              <a:srgbClr val="3E7F2E"/>
            </a:solidFill>
            <a:prstDash val="solid"/>
            <a:tailEnd type="triangle"/>
          </a:ln>
        </p:spPr>
      </p:sp>
      <p:sp>
        <p:nvSpPr>
          <p:cNvPr id="41" name="Shape 39"/>
          <p:cNvSpPr/>
          <p:nvPr/>
        </p:nvSpPr>
        <p:spPr>
          <a:xfrm>
            <a:off x="2999232" y="3730752"/>
            <a:ext cx="310896" cy="310896"/>
          </a:xfrm>
          <a:prstGeom prst="ellipse">
            <a:avLst/>
          </a:prstGeom>
          <a:solidFill>
            <a:srgbClr val="B9E0A8"/>
          </a:solidFill>
          <a:ln w="12700">
            <a:solidFill>
              <a:srgbClr val="3E7F2E"/>
            </a:solidFill>
            <a:prstDash val="solid"/>
          </a:ln>
        </p:spPr>
      </p:sp>
      <p:sp>
        <p:nvSpPr>
          <p:cNvPr id="42" name="Text 40"/>
          <p:cNvSpPr/>
          <p:nvPr/>
        </p:nvSpPr>
        <p:spPr>
          <a:xfrm>
            <a:off x="2889504" y="3730752"/>
            <a:ext cx="530352" cy="310896"/>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43" name="Shape 41"/>
          <p:cNvSpPr/>
          <p:nvPr/>
        </p:nvSpPr>
        <p:spPr>
          <a:xfrm>
            <a:off x="3337560" y="3886200"/>
            <a:ext cx="163678" cy="91"/>
          </a:xfrm>
          <a:prstGeom prst="line">
            <a:avLst/>
          </a:prstGeom>
          <a:noFill/>
          <a:ln w="25400">
            <a:solidFill>
              <a:srgbClr val="3E7F2E"/>
            </a:solidFill>
            <a:prstDash val="solid"/>
            <a:tailEnd type="triangle"/>
          </a:ln>
        </p:spPr>
      </p:sp>
      <p:sp>
        <p:nvSpPr>
          <p:cNvPr id="44" name="Shape 42"/>
          <p:cNvSpPr/>
          <p:nvPr/>
        </p:nvSpPr>
        <p:spPr>
          <a:xfrm>
            <a:off x="2999232" y="4325112"/>
            <a:ext cx="310896" cy="310896"/>
          </a:xfrm>
          <a:prstGeom prst="ellipse">
            <a:avLst/>
          </a:prstGeom>
          <a:solidFill>
            <a:srgbClr val="B9E0A8"/>
          </a:solidFill>
          <a:ln w="12700">
            <a:solidFill>
              <a:srgbClr val="3E7F2E"/>
            </a:solidFill>
            <a:prstDash val="solid"/>
          </a:ln>
        </p:spPr>
      </p:sp>
      <p:sp>
        <p:nvSpPr>
          <p:cNvPr id="45" name="Text 43"/>
          <p:cNvSpPr/>
          <p:nvPr/>
        </p:nvSpPr>
        <p:spPr>
          <a:xfrm>
            <a:off x="2889504" y="4325112"/>
            <a:ext cx="530352" cy="310896"/>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46" name="Shape 44"/>
          <p:cNvSpPr/>
          <p:nvPr/>
        </p:nvSpPr>
        <p:spPr>
          <a:xfrm>
            <a:off x="3337560" y="4480560"/>
            <a:ext cx="163678" cy="91"/>
          </a:xfrm>
          <a:prstGeom prst="line">
            <a:avLst/>
          </a:prstGeom>
          <a:noFill/>
          <a:ln w="25400">
            <a:solidFill>
              <a:srgbClr val="3E7F2E"/>
            </a:solidFill>
            <a:prstDash val="solid"/>
            <a:tailEnd type="triangle"/>
          </a:ln>
        </p:spPr>
      </p:sp>
      <p:sp>
        <p:nvSpPr>
          <p:cNvPr id="47" name="Shape 45"/>
          <p:cNvSpPr/>
          <p:nvPr/>
        </p:nvSpPr>
        <p:spPr>
          <a:xfrm>
            <a:off x="2542032" y="3730752"/>
            <a:ext cx="310896" cy="310896"/>
          </a:xfrm>
          <a:prstGeom prst="ellipse">
            <a:avLst/>
          </a:prstGeom>
          <a:solidFill>
            <a:srgbClr val="B9E0A8"/>
          </a:solidFill>
          <a:ln w="12700">
            <a:solidFill>
              <a:srgbClr val="3E7F2E"/>
            </a:solidFill>
            <a:prstDash val="solid"/>
          </a:ln>
        </p:spPr>
      </p:sp>
      <p:sp>
        <p:nvSpPr>
          <p:cNvPr id="48" name="Text 46"/>
          <p:cNvSpPr/>
          <p:nvPr/>
        </p:nvSpPr>
        <p:spPr>
          <a:xfrm>
            <a:off x="2432304" y="3730752"/>
            <a:ext cx="530352" cy="310896"/>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Cl⁻</a:t>
            </a:r>
            <a:endParaRPr lang="en-US" sz="1000" dirty="0"/>
          </a:p>
        </p:txBody>
      </p:sp>
      <p:sp>
        <p:nvSpPr>
          <p:cNvPr id="49" name="Text 47"/>
          <p:cNvSpPr/>
          <p:nvPr/>
        </p:nvSpPr>
        <p:spPr>
          <a:xfrm>
            <a:off x="502920" y="4864608"/>
            <a:ext cx="2651760" cy="256032"/>
          </a:xfrm>
          <a:prstGeom prst="rect">
            <a:avLst/>
          </a:prstGeom>
          <a:noFill/>
          <a:ln/>
        </p:spPr>
        <p:txBody>
          <a:bodyPr wrap="square" lIns="0" tIns="0" rIns="0" bIns="0" rtlCol="0" anchor="ctr"/>
          <a:lstStyle/>
          <a:p>
            <a:pPr algn="ctr" indent="0" marL="0">
              <a:buNone/>
            </a:pPr>
            <a:r>
              <a:rPr lang="en-US" sz="1050" b="1" dirty="0">
                <a:solidFill>
                  <a:srgbClr val="1F5F99"/>
                </a:solidFill>
                <a:latin typeface="Calibri" pitchFamily="34" charset="0"/>
                <a:ea typeface="Calibri" pitchFamily="34" charset="-122"/>
                <a:cs typeface="Calibri" pitchFamily="34" charset="-120"/>
              </a:rPr>
              <a:t>cations (+)</a:t>
            </a:r>
            <a:r>
              <a:rPr lang="en-US" sz="1050" dirty="0">
                <a:solidFill>
                  <a:srgbClr val="1F5F99"/>
                </a:solidFill>
                <a:latin typeface="Calibri" pitchFamily="34" charset="0"/>
                <a:ea typeface="Calibri" pitchFamily="34" charset="-122"/>
                <a:cs typeface="Calibri" pitchFamily="34" charset="-120"/>
              </a:rPr>
              <a:t> move to the </a:t>
            </a:r>
            <a:r>
              <a:rPr lang="en-US" sz="1050" b="1" dirty="0">
                <a:solidFill>
                  <a:srgbClr val="1F5F99"/>
                </a:solidFill>
                <a:latin typeface="Calibri" pitchFamily="34" charset="0"/>
                <a:ea typeface="Calibri" pitchFamily="34" charset="-122"/>
                <a:cs typeface="Calibri" pitchFamily="34" charset="-120"/>
              </a:rPr>
              <a:t>cathode (−)</a:t>
            </a:r>
            <a:endParaRPr lang="en-US" sz="1050" dirty="0"/>
          </a:p>
        </p:txBody>
      </p:sp>
      <p:sp>
        <p:nvSpPr>
          <p:cNvPr id="50" name="Text 48"/>
          <p:cNvSpPr/>
          <p:nvPr/>
        </p:nvSpPr>
        <p:spPr>
          <a:xfrm>
            <a:off x="3154680" y="4864608"/>
            <a:ext cx="2743200" cy="256032"/>
          </a:xfrm>
          <a:prstGeom prst="rect">
            <a:avLst/>
          </a:prstGeom>
          <a:noFill/>
          <a:ln/>
        </p:spPr>
        <p:txBody>
          <a:bodyPr wrap="square" lIns="0" tIns="0" rIns="0" bIns="0" rtlCol="0" anchor="ctr"/>
          <a:lstStyle/>
          <a:p>
            <a:pPr algn="ctr" indent="0" marL="0">
              <a:buNone/>
            </a:pPr>
            <a:r>
              <a:rPr lang="en-US" sz="1050" b="1" dirty="0">
                <a:solidFill>
                  <a:srgbClr val="3E7F2E"/>
                </a:solidFill>
                <a:latin typeface="Calibri" pitchFamily="34" charset="0"/>
                <a:ea typeface="Calibri" pitchFamily="34" charset="-122"/>
                <a:cs typeface="Calibri" pitchFamily="34" charset="-120"/>
              </a:rPr>
              <a:t>anions (−)</a:t>
            </a:r>
            <a:r>
              <a:rPr lang="en-US" sz="1050" dirty="0">
                <a:solidFill>
                  <a:srgbClr val="3E7F2E"/>
                </a:solidFill>
                <a:latin typeface="Calibri" pitchFamily="34" charset="0"/>
                <a:ea typeface="Calibri" pitchFamily="34" charset="-122"/>
                <a:cs typeface="Calibri" pitchFamily="34" charset="-120"/>
              </a:rPr>
              <a:t> move to the </a:t>
            </a:r>
            <a:r>
              <a:rPr lang="en-US" sz="1050" b="1" dirty="0">
                <a:solidFill>
                  <a:srgbClr val="3E7F2E"/>
                </a:solidFill>
                <a:latin typeface="Calibri" pitchFamily="34" charset="0"/>
                <a:ea typeface="Calibri" pitchFamily="34" charset="-122"/>
                <a:cs typeface="Calibri" pitchFamily="34" charset="-120"/>
              </a:rPr>
              <a:t>anode (+)</a:t>
            </a:r>
            <a:endParaRPr lang="en-US" sz="1050" dirty="0"/>
          </a:p>
        </p:txBody>
      </p:sp>
      <p:sp>
        <p:nvSpPr>
          <p:cNvPr id="51" name="Text 49"/>
          <p:cNvSpPr/>
          <p:nvPr/>
        </p:nvSpPr>
        <p:spPr>
          <a:xfrm>
            <a:off x="4526280" y="3063240"/>
            <a:ext cx="1417320" cy="384048"/>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graphite electrodes (inert)</a:t>
            </a:r>
            <a:endParaRPr lang="en-US" sz="1000" dirty="0"/>
          </a:p>
        </p:txBody>
      </p:sp>
      <p:sp>
        <p:nvSpPr>
          <p:cNvPr id="52" name="Shape 50"/>
          <p:cNvSpPr/>
          <p:nvPr/>
        </p:nvSpPr>
        <p:spPr>
          <a:xfrm>
            <a:off x="6217920" y="1188720"/>
            <a:ext cx="5562295" cy="2514600"/>
          </a:xfrm>
          <a:prstGeom prst="roundRect">
            <a:avLst>
              <a:gd name="adj" fmla="val 2182"/>
            </a:avLst>
          </a:prstGeom>
          <a:solidFill>
            <a:srgbClr val="F8F5FC"/>
          </a:solidFill>
          <a:ln w="9525">
            <a:solidFill>
              <a:srgbClr val="DDD3EC"/>
            </a:solidFill>
            <a:prstDash val="solid"/>
          </a:ln>
        </p:spPr>
      </p:sp>
      <p:sp>
        <p:nvSpPr>
          <p:cNvPr id="53" name="Text 5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Key ideas</a:t>
            </a:r>
            <a:endParaRPr lang="en-US" sz="1300" dirty="0"/>
          </a:p>
        </p:txBody>
      </p:sp>
      <p:sp>
        <p:nvSpPr>
          <p:cNvPr id="54" name="Text 52"/>
          <p:cNvSpPr/>
          <p:nvPr/>
        </p:nvSpPr>
        <p:spPr>
          <a:xfrm>
            <a:off x="6382512" y="1609344"/>
            <a:ext cx="5233111" cy="202082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An </a:t>
            </a:r>
            <a:r>
              <a:rPr lang="en-US" sz="1150" b="1" dirty="0">
                <a:solidFill>
                  <a:srgbClr val="262B3A"/>
                </a:solidFill>
                <a:latin typeface="Calibri" pitchFamily="34" charset="0"/>
                <a:ea typeface="Calibri" pitchFamily="34" charset="-122"/>
                <a:cs typeface="Calibri" pitchFamily="34" charset="-120"/>
              </a:rPr>
              <a:t>electrolyte</a:t>
            </a:r>
            <a:r>
              <a:rPr lang="en-US" sz="1150" dirty="0">
                <a:solidFill>
                  <a:srgbClr val="262B3A"/>
                </a:solidFill>
                <a:latin typeface="Calibri" pitchFamily="34" charset="0"/>
                <a:ea typeface="Calibri" pitchFamily="34" charset="-122"/>
                <a:cs typeface="Calibri" pitchFamily="34" charset="-120"/>
              </a:rPr>
              <a:t> is an </a:t>
            </a:r>
            <a:r>
              <a:rPr lang="en-US" sz="1150" b="1" dirty="0">
                <a:solidFill>
                  <a:srgbClr val="262B3A"/>
                </a:solidFill>
                <a:latin typeface="Calibri" pitchFamily="34" charset="0"/>
                <a:ea typeface="Calibri" pitchFamily="34" charset="-122"/>
                <a:cs typeface="Calibri" pitchFamily="34" charset="-120"/>
              </a:rPr>
              <a:t>ionic compound</a:t>
            </a:r>
            <a:r>
              <a:rPr lang="en-US" sz="1150" dirty="0">
                <a:solidFill>
                  <a:srgbClr val="262B3A"/>
                </a:solidFill>
                <a:latin typeface="Calibri" pitchFamily="34" charset="0"/>
                <a:ea typeface="Calibri" pitchFamily="34" charset="-122"/>
                <a:cs typeface="Calibri" pitchFamily="34" charset="-120"/>
              </a:rPr>
              <a:t> that is </a:t>
            </a:r>
            <a:r>
              <a:rPr lang="en-US" sz="1150" b="1" dirty="0">
                <a:solidFill>
                  <a:srgbClr val="262B3A"/>
                </a:solidFill>
                <a:latin typeface="Calibri" pitchFamily="34" charset="0"/>
                <a:ea typeface="Calibri" pitchFamily="34" charset="-122"/>
                <a:cs typeface="Calibri" pitchFamily="34" charset="-120"/>
              </a:rPr>
              <a:t>molten</a:t>
            </a:r>
            <a:r>
              <a:rPr lang="en-US" sz="1150" dirty="0">
                <a:solidFill>
                  <a:srgbClr val="262B3A"/>
                </a:solidFill>
                <a:latin typeface="Calibri" pitchFamily="34" charset="0"/>
                <a:ea typeface="Calibri" pitchFamily="34" charset="-122"/>
                <a:cs typeface="Calibri" pitchFamily="34" charset="-120"/>
              </a:rPr>
              <a:t> or </a:t>
            </a:r>
            <a:r>
              <a:rPr lang="en-US" sz="1150" b="1" dirty="0">
                <a:solidFill>
                  <a:srgbClr val="262B3A"/>
                </a:solidFill>
                <a:latin typeface="Calibri" pitchFamily="34" charset="0"/>
                <a:ea typeface="Calibri" pitchFamily="34" charset="-122"/>
                <a:cs typeface="Calibri" pitchFamily="34" charset="-120"/>
              </a:rPr>
              <a:t>dissolved in water</a:t>
            </a:r>
            <a:r>
              <a:rPr lang="en-US" sz="1150" dirty="0">
                <a:solidFill>
                  <a:srgbClr val="262B3A"/>
                </a:solidFill>
                <a:latin typeface="Calibri" pitchFamily="34" charset="0"/>
                <a:ea typeface="Calibri" pitchFamily="34" charset="-122"/>
                <a:cs typeface="Calibri" pitchFamily="34" charset="-120"/>
              </a:rPr>
              <a:t>: its ions can move.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Electrolysis</a:t>
            </a:r>
            <a:r>
              <a:rPr lang="en-US" sz="1150" dirty="0">
                <a:solidFill>
                  <a:srgbClr val="262B3A"/>
                </a:solidFill>
                <a:latin typeface="Calibri" pitchFamily="34" charset="0"/>
                <a:ea typeface="Calibri" pitchFamily="34" charset="-122"/>
                <a:cs typeface="Calibri" pitchFamily="34" charset="-120"/>
              </a:rPr>
              <a:t>: electrical energy from a </a:t>
            </a:r>
            <a:r>
              <a:rPr lang="en-US" sz="1150" b="1" dirty="0">
                <a:solidFill>
                  <a:srgbClr val="262B3A"/>
                </a:solidFill>
                <a:latin typeface="Calibri" pitchFamily="34" charset="0"/>
                <a:ea typeface="Calibri" pitchFamily="34" charset="-122"/>
                <a:cs typeface="Calibri" pitchFamily="34" charset="-120"/>
              </a:rPr>
              <a:t>direct current (d.c.)</a:t>
            </a:r>
            <a:r>
              <a:rPr lang="en-US" sz="1150" dirty="0">
                <a:solidFill>
                  <a:srgbClr val="262B3A"/>
                </a:solidFill>
                <a:latin typeface="Calibri" pitchFamily="34" charset="0"/>
                <a:ea typeface="Calibri" pitchFamily="34" charset="-122"/>
                <a:cs typeface="Calibri" pitchFamily="34" charset="-120"/>
              </a:rPr>
              <a:t> supply </a:t>
            </a:r>
            <a:r>
              <a:rPr lang="en-US" sz="1150" b="1" dirty="0">
                <a:solidFill>
                  <a:srgbClr val="262B3A"/>
                </a:solidFill>
                <a:latin typeface="Calibri" pitchFamily="34" charset="0"/>
                <a:ea typeface="Calibri" pitchFamily="34" charset="-122"/>
                <a:cs typeface="Calibri" pitchFamily="34" charset="-120"/>
              </a:rPr>
              <a:t>decomposes</a:t>
            </a:r>
            <a:r>
              <a:rPr lang="en-US" sz="1150" dirty="0">
                <a:solidFill>
                  <a:srgbClr val="262B3A"/>
                </a:solidFill>
                <a:latin typeface="Calibri" pitchFamily="34" charset="0"/>
                <a:ea typeface="Calibri" pitchFamily="34" charset="-122"/>
                <a:cs typeface="Calibri" pitchFamily="34" charset="-120"/>
              </a:rPr>
              <a:t> the electrolyte.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Cations</a:t>
            </a:r>
            <a:r>
              <a:rPr lang="en-US" sz="1150" dirty="0">
                <a:solidFill>
                  <a:srgbClr val="262B3A"/>
                </a:solidFill>
                <a:latin typeface="Calibri" pitchFamily="34" charset="0"/>
                <a:ea typeface="Calibri" pitchFamily="34" charset="-122"/>
                <a:cs typeface="Calibri" pitchFamily="34" charset="-120"/>
              </a:rPr>
              <a:t> (positive) move to the </a:t>
            </a:r>
            <a:r>
              <a:rPr lang="en-US" sz="1150" b="1" dirty="0">
                <a:solidFill>
                  <a:srgbClr val="262B3A"/>
                </a:solidFill>
                <a:latin typeface="Calibri" pitchFamily="34" charset="0"/>
                <a:ea typeface="Calibri" pitchFamily="34" charset="-122"/>
                <a:cs typeface="Calibri" pitchFamily="34" charset="-120"/>
              </a:rPr>
              <a:t>cathode</a:t>
            </a:r>
            <a:r>
              <a:rPr lang="en-US" sz="1150" dirty="0">
                <a:solidFill>
                  <a:srgbClr val="262B3A"/>
                </a:solidFill>
                <a:latin typeface="Calibri" pitchFamily="34" charset="0"/>
                <a:ea typeface="Calibri" pitchFamily="34" charset="-122"/>
                <a:cs typeface="Calibri" pitchFamily="34" charset="-120"/>
              </a:rPr>
              <a:t> (negative electrode).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Anions</a:t>
            </a:r>
            <a:r>
              <a:rPr lang="en-US" sz="1150" dirty="0">
                <a:solidFill>
                  <a:srgbClr val="262B3A"/>
                </a:solidFill>
                <a:latin typeface="Calibri" pitchFamily="34" charset="0"/>
                <a:ea typeface="Calibri" pitchFamily="34" charset="-122"/>
                <a:cs typeface="Calibri" pitchFamily="34" charset="-120"/>
              </a:rPr>
              <a:t> (negative) move to the </a:t>
            </a:r>
            <a:r>
              <a:rPr lang="en-US" sz="1150" b="1" dirty="0">
                <a:solidFill>
                  <a:srgbClr val="262B3A"/>
                </a:solidFill>
                <a:latin typeface="Calibri" pitchFamily="34" charset="0"/>
                <a:ea typeface="Calibri" pitchFamily="34" charset="-122"/>
                <a:cs typeface="Calibri" pitchFamily="34" charset="-120"/>
              </a:rPr>
              <a:t>anode</a:t>
            </a:r>
            <a:r>
              <a:rPr lang="en-US" sz="1150" dirty="0">
                <a:solidFill>
                  <a:srgbClr val="262B3A"/>
                </a:solidFill>
                <a:latin typeface="Calibri" pitchFamily="34" charset="0"/>
                <a:ea typeface="Calibri" pitchFamily="34" charset="-122"/>
                <a:cs typeface="Calibri" pitchFamily="34" charset="-120"/>
              </a:rPr>
              <a:t> (positive electrode).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PANIC</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P</a:t>
            </a:r>
            <a:r>
              <a:rPr lang="en-US" sz="1150" dirty="0">
                <a:solidFill>
                  <a:srgbClr val="262B3A"/>
                </a:solidFill>
                <a:latin typeface="Calibri" pitchFamily="34" charset="0"/>
                <a:ea typeface="Calibri" pitchFamily="34" charset="-122"/>
                <a:cs typeface="Calibri" pitchFamily="34" charset="-120"/>
              </a:rPr>
              <a:t>ositive </a:t>
            </a:r>
            <a:r>
              <a:rPr lang="en-US" sz="1150" b="1" dirty="0">
                <a:solidFill>
                  <a:srgbClr val="262B3A"/>
                </a:solidFill>
                <a:latin typeface="Calibri" pitchFamily="34" charset="0"/>
                <a:ea typeface="Calibri" pitchFamily="34" charset="-122"/>
                <a:cs typeface="Calibri" pitchFamily="34" charset="-120"/>
              </a:rPr>
              <a:t>A</a:t>
            </a:r>
            <a:r>
              <a:rPr lang="en-US" sz="1150" dirty="0">
                <a:solidFill>
                  <a:srgbClr val="262B3A"/>
                </a:solidFill>
                <a:latin typeface="Calibri" pitchFamily="34" charset="0"/>
                <a:ea typeface="Calibri" pitchFamily="34" charset="-122"/>
                <a:cs typeface="Calibri" pitchFamily="34" charset="-120"/>
              </a:rPr>
              <a:t>node, </a:t>
            </a:r>
            <a:r>
              <a:rPr lang="en-US" sz="1150" b="1" dirty="0">
                <a:solidFill>
                  <a:srgbClr val="262B3A"/>
                </a:solidFill>
                <a:latin typeface="Calibri" pitchFamily="34" charset="0"/>
                <a:ea typeface="Calibri" pitchFamily="34" charset="-122"/>
                <a:cs typeface="Calibri" pitchFamily="34" charset="-120"/>
              </a:rPr>
              <a:t>N</a:t>
            </a:r>
            <a:r>
              <a:rPr lang="en-US" sz="1150" dirty="0">
                <a:solidFill>
                  <a:srgbClr val="262B3A"/>
                </a:solidFill>
                <a:latin typeface="Calibri" pitchFamily="34" charset="0"/>
                <a:ea typeface="Calibri" pitchFamily="34" charset="-122"/>
                <a:cs typeface="Calibri" pitchFamily="34" charset="-120"/>
              </a:rPr>
              <a:t>egative </a:t>
            </a:r>
            <a:r>
              <a:rPr lang="en-US" sz="1150" b="1" dirty="0">
                <a:solidFill>
                  <a:srgbClr val="262B3A"/>
                </a:solidFill>
                <a:latin typeface="Calibri" pitchFamily="34" charset="0"/>
                <a:ea typeface="Calibri" pitchFamily="34" charset="-122"/>
                <a:cs typeface="Calibri" pitchFamily="34" charset="-120"/>
              </a:rPr>
              <a:t>I</a:t>
            </a:r>
            <a:r>
              <a:rPr lang="en-US" sz="1150" dirty="0">
                <a:solidFill>
                  <a:srgbClr val="262B3A"/>
                </a:solidFill>
                <a:latin typeface="Calibri" pitchFamily="34" charset="0"/>
                <a:ea typeface="Calibri" pitchFamily="34" charset="-122"/>
                <a:cs typeface="Calibri" pitchFamily="34" charset="-120"/>
              </a:rPr>
              <a:t>s </a:t>
            </a:r>
            <a:r>
              <a:rPr lang="en-US" sz="1150" b="1" dirty="0">
                <a:solidFill>
                  <a:srgbClr val="262B3A"/>
                </a:solidFill>
                <a:latin typeface="Calibri" pitchFamily="34" charset="0"/>
                <a:ea typeface="Calibri" pitchFamily="34" charset="-122"/>
                <a:cs typeface="Calibri" pitchFamily="34" charset="-120"/>
              </a:rPr>
              <a:t>C</a:t>
            </a:r>
            <a:r>
              <a:rPr lang="en-US" sz="1150" dirty="0">
                <a:solidFill>
                  <a:srgbClr val="262B3A"/>
                </a:solidFill>
                <a:latin typeface="Calibri" pitchFamily="34" charset="0"/>
                <a:ea typeface="Calibri" pitchFamily="34" charset="-122"/>
                <a:cs typeface="Calibri" pitchFamily="34" charset="-120"/>
              </a:rPr>
              <a:t>athode.</a:t>
            </a:r>
            <a:endParaRPr lang="en-US" sz="1150" dirty="0"/>
          </a:p>
        </p:txBody>
      </p:sp>
      <p:sp>
        <p:nvSpPr>
          <p:cNvPr id="55" name="Shape 53"/>
          <p:cNvSpPr/>
          <p:nvPr/>
        </p:nvSpPr>
        <p:spPr>
          <a:xfrm>
            <a:off x="6217920" y="3840480"/>
            <a:ext cx="5562295" cy="1874520"/>
          </a:xfrm>
          <a:prstGeom prst="roundRect">
            <a:avLst>
              <a:gd name="adj" fmla="val 2927"/>
            </a:avLst>
          </a:prstGeom>
          <a:solidFill>
            <a:srgbClr val="FFF4E0"/>
          </a:solidFill>
          <a:ln w="9525">
            <a:solidFill>
              <a:srgbClr val="F1D9A8"/>
            </a:solidFill>
            <a:prstDash val="solid"/>
          </a:ln>
        </p:spPr>
      </p:sp>
      <p:sp>
        <p:nvSpPr>
          <p:cNvPr id="56" name="Text 54"/>
          <p:cNvSpPr/>
          <p:nvPr/>
        </p:nvSpPr>
        <p:spPr>
          <a:xfrm>
            <a:off x="6382512" y="39136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Why not a solid?</a:t>
            </a:r>
            <a:endParaRPr lang="en-US" sz="1300" dirty="0"/>
          </a:p>
        </p:txBody>
      </p:sp>
      <p:sp>
        <p:nvSpPr>
          <p:cNvPr id="57" name="Text 55"/>
          <p:cNvSpPr/>
          <p:nvPr/>
        </p:nvSpPr>
        <p:spPr>
          <a:xfrm>
            <a:off x="6382512" y="4224528"/>
            <a:ext cx="5233111" cy="1417320"/>
          </a:xfrm>
          <a:prstGeom prst="rect">
            <a:avLst/>
          </a:prstGeom>
          <a:noFill/>
          <a:ln/>
        </p:spPr>
        <p:txBody>
          <a:bodyPr wrap="square" lIns="0" tIns="0" rIns="0" bIns="0" rtlCol="0" anchor="t"/>
          <a:lstStyle/>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Solid   </a:t>
            </a:r>
            <a:r>
              <a:rPr lang="en-US" sz="1050" dirty="0">
                <a:solidFill>
                  <a:srgbClr val="262B3A"/>
                </a:solidFill>
                <a:latin typeface="Calibri" pitchFamily="34" charset="0"/>
                <a:ea typeface="Calibri" pitchFamily="34" charset="-122"/>
                <a:cs typeface="Calibri" pitchFamily="34" charset="-120"/>
              </a:rPr>
              <a:t>ions held in fixed positions in the lattice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Molten   </a:t>
            </a:r>
            <a:r>
              <a:rPr lang="en-US" sz="1050" dirty="0">
                <a:solidFill>
                  <a:srgbClr val="262B3A"/>
                </a:solidFill>
                <a:latin typeface="Calibri" pitchFamily="34" charset="0"/>
                <a:ea typeface="Calibri" pitchFamily="34" charset="-122"/>
                <a:cs typeface="Calibri" pitchFamily="34" charset="-120"/>
              </a:rPr>
              <a:t>ions free to move → can carry charge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Dissolved   </a:t>
            </a:r>
            <a:r>
              <a:rPr lang="en-US" sz="1050" dirty="0">
                <a:solidFill>
                  <a:srgbClr val="262B3A"/>
                </a:solidFill>
                <a:latin typeface="Calibri" pitchFamily="34" charset="0"/>
                <a:ea typeface="Calibri" pitchFamily="34" charset="-122"/>
                <a:cs typeface="Calibri" pitchFamily="34" charset="-120"/>
              </a:rPr>
              <a:t>ions free to move in water</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electrolysis needs mobile ions</a:t>
            </a:r>
            <a:endParaRPr lang="en-US" sz="1050" dirty="0"/>
          </a:p>
        </p:txBody>
      </p:sp>
      <p:sp>
        <p:nvSpPr>
          <p:cNvPr id="58" name="Shape 56"/>
          <p:cNvSpPr/>
          <p:nvPr/>
        </p:nvSpPr>
        <p:spPr>
          <a:xfrm>
            <a:off x="411480" y="5833872"/>
            <a:ext cx="11368735" cy="530352"/>
          </a:xfrm>
          <a:prstGeom prst="rect">
            <a:avLst/>
          </a:prstGeom>
          <a:solidFill>
            <a:srgbClr val="FFF4E0"/>
          </a:solidFill>
          <a:ln w="6350">
            <a:solidFill>
              <a:srgbClr val="F1D9A8"/>
            </a:solidFill>
            <a:prstDash val="solid"/>
          </a:ln>
        </p:spPr>
      </p:sp>
      <p:sp>
        <p:nvSpPr>
          <p:cNvPr id="59" name="Shape 57"/>
          <p:cNvSpPr/>
          <p:nvPr/>
        </p:nvSpPr>
        <p:spPr>
          <a:xfrm>
            <a:off x="411480" y="5833872"/>
            <a:ext cx="82296" cy="530352"/>
          </a:xfrm>
          <a:prstGeom prst="rect">
            <a:avLst/>
          </a:prstGeom>
          <a:solidFill>
            <a:srgbClr val="E39A2F"/>
          </a:solidFill>
          <a:ln w="12700">
            <a:solidFill>
              <a:srgbClr val="E39A2F"/>
            </a:solidFill>
            <a:prstDash val="solid"/>
          </a:ln>
        </p:spPr>
      </p:sp>
      <p:sp>
        <p:nvSpPr>
          <p:cNvPr id="60" name="Text 5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a:t>
            </a:r>
            <a:r>
              <a:rPr lang="en-US" sz="1150" b="1" dirty="0">
                <a:solidFill>
                  <a:srgbClr val="262B3A"/>
                </a:solidFill>
                <a:latin typeface="Calibri" pitchFamily="34" charset="0"/>
                <a:ea typeface="Calibri" pitchFamily="34" charset="-122"/>
                <a:cs typeface="Calibri" pitchFamily="34" charset="-120"/>
              </a:rPr>
              <a:t>solid</a:t>
            </a:r>
            <a:r>
              <a:rPr lang="en-US" sz="1150" dirty="0">
                <a:solidFill>
                  <a:srgbClr val="262B3A"/>
                </a:solidFill>
                <a:latin typeface="Calibri" pitchFamily="34" charset="0"/>
                <a:ea typeface="Calibri" pitchFamily="34" charset="-122"/>
                <a:cs typeface="Calibri" pitchFamily="34" charset="-120"/>
              </a:rPr>
              <a:t> lead bromide cannot be electrolysed but </a:t>
            </a:r>
            <a:r>
              <a:rPr lang="en-US" sz="1150" b="1" dirty="0">
                <a:solidFill>
                  <a:srgbClr val="262B3A"/>
                </a:solidFill>
                <a:latin typeface="Calibri" pitchFamily="34" charset="0"/>
                <a:ea typeface="Calibri" pitchFamily="34" charset="-122"/>
                <a:cs typeface="Calibri" pitchFamily="34" charset="-120"/>
              </a:rPr>
              <a:t>molten</a:t>
            </a:r>
            <a:r>
              <a:rPr lang="en-US" sz="1150" dirty="0">
                <a:solidFill>
                  <a:srgbClr val="262B3A"/>
                </a:solidFill>
                <a:latin typeface="Calibri" pitchFamily="34" charset="0"/>
                <a:ea typeface="Calibri" pitchFamily="34" charset="-122"/>
                <a:cs typeface="Calibri" pitchFamily="34" charset="-120"/>
              </a:rPr>
              <a:t> lead bromide can. Which ion moves to the cathode?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Electrolysis of molten compounds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3.25e and 3.26 • molten lead bromide (demonstration); predicting binary products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3.25–3.26  |  29</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demonstration in a fume cupboard: bromine vapour is toxic</a:t>
            </a:r>
            <a:endParaRPr lang="en-US" sz="1000" dirty="0"/>
          </a:p>
        </p:txBody>
      </p:sp>
      <p:sp>
        <p:nvSpPr>
          <p:cNvPr id="10" name="Shape 8"/>
          <p:cNvSpPr/>
          <p:nvPr/>
        </p:nvSpPr>
        <p:spPr>
          <a:xfrm>
            <a:off x="1463040" y="4206240"/>
            <a:ext cx="1463040" cy="45720"/>
          </a:xfrm>
          <a:prstGeom prst="rect">
            <a:avLst/>
          </a:prstGeom>
          <a:solidFill>
            <a:srgbClr val="9AA3B0"/>
          </a:solidFill>
          <a:ln w="9525">
            <a:solidFill>
              <a:srgbClr val="5A6275"/>
            </a:solidFill>
            <a:prstDash val="solid"/>
          </a:ln>
        </p:spPr>
      </p:sp>
      <p:sp>
        <p:nvSpPr>
          <p:cNvPr id="11" name="Shape 9"/>
          <p:cNvSpPr/>
          <p:nvPr/>
        </p:nvSpPr>
        <p:spPr>
          <a:xfrm flipH="1">
            <a:off x="1463040" y="4251960"/>
            <a:ext cx="91440" cy="1097280"/>
          </a:xfrm>
          <a:prstGeom prst="line">
            <a:avLst/>
          </a:prstGeom>
          <a:noFill/>
          <a:ln w="25400">
            <a:solidFill>
              <a:srgbClr val="5A6275"/>
            </a:solidFill>
            <a:prstDash val="solid"/>
          </a:ln>
        </p:spPr>
      </p:sp>
      <p:sp>
        <p:nvSpPr>
          <p:cNvPr id="12" name="Shape 10"/>
          <p:cNvSpPr/>
          <p:nvPr/>
        </p:nvSpPr>
        <p:spPr>
          <a:xfrm>
            <a:off x="2834640" y="4251960"/>
            <a:ext cx="91440" cy="1097280"/>
          </a:xfrm>
          <a:prstGeom prst="line">
            <a:avLst/>
          </a:prstGeom>
          <a:noFill/>
          <a:ln w="25400">
            <a:solidFill>
              <a:srgbClr val="5A6275"/>
            </a:solidFill>
            <a:prstDash val="solid"/>
          </a:ln>
        </p:spPr>
      </p:sp>
      <p:sp>
        <p:nvSpPr>
          <p:cNvPr id="13" name="Shape 11"/>
          <p:cNvSpPr/>
          <p:nvPr/>
        </p:nvSpPr>
        <p:spPr>
          <a:xfrm>
            <a:off x="1965960" y="5276088"/>
            <a:ext cx="457200" cy="73152"/>
          </a:xfrm>
          <a:prstGeom prst="rect">
            <a:avLst/>
          </a:prstGeom>
          <a:solidFill>
            <a:srgbClr val="5A6275"/>
          </a:solidFill>
          <a:ln w="12700">
            <a:solidFill>
              <a:srgbClr val="3A4255"/>
            </a:solidFill>
            <a:prstDash val="solid"/>
          </a:ln>
        </p:spPr>
      </p:sp>
      <p:sp>
        <p:nvSpPr>
          <p:cNvPr id="14" name="Shape 12"/>
          <p:cNvSpPr/>
          <p:nvPr/>
        </p:nvSpPr>
        <p:spPr>
          <a:xfrm>
            <a:off x="2139696" y="4869180"/>
            <a:ext cx="109728" cy="406908"/>
          </a:xfrm>
          <a:prstGeom prst="rect">
            <a:avLst/>
          </a:prstGeom>
          <a:solidFill>
            <a:srgbClr val="8C96A8"/>
          </a:solidFill>
          <a:ln w="9525">
            <a:solidFill>
              <a:srgbClr val="5A6275"/>
            </a:solidFill>
            <a:prstDash val="solid"/>
          </a:ln>
        </p:spPr>
      </p:sp>
      <p:sp>
        <p:nvSpPr>
          <p:cNvPr id="15" name="Shape 13"/>
          <p:cNvSpPr/>
          <p:nvPr/>
        </p:nvSpPr>
        <p:spPr>
          <a:xfrm>
            <a:off x="2093976" y="4457700"/>
            <a:ext cx="201168" cy="411480"/>
          </a:xfrm>
          <a:prstGeom prst="triangle">
            <a:avLst/>
          </a:prstGeom>
          <a:solidFill>
            <a:srgbClr val="5B8DEF"/>
          </a:solidFill>
          <a:ln w="9525">
            <a:solidFill>
              <a:srgbClr val="2F5FBF"/>
            </a:solidFill>
            <a:prstDash val="solid"/>
          </a:ln>
        </p:spPr>
      </p:sp>
      <p:sp>
        <p:nvSpPr>
          <p:cNvPr id="16" name="Shape 14"/>
          <p:cNvSpPr/>
          <p:nvPr/>
        </p:nvSpPr>
        <p:spPr>
          <a:xfrm>
            <a:off x="2148840" y="4622292"/>
            <a:ext cx="91440" cy="246888"/>
          </a:xfrm>
          <a:prstGeom prst="triangle">
            <a:avLst/>
          </a:prstGeom>
          <a:solidFill>
            <a:srgbClr val="BFD4FB"/>
          </a:solidFill>
          <a:ln/>
        </p:spPr>
      </p:sp>
      <p:sp>
        <p:nvSpPr>
          <p:cNvPr id="17" name="Shape 15"/>
          <p:cNvSpPr/>
          <p:nvPr/>
        </p:nvSpPr>
        <p:spPr>
          <a:xfrm>
            <a:off x="1417320" y="3154680"/>
            <a:ext cx="1554480" cy="1024128"/>
          </a:xfrm>
          <a:custGeom>
            <a:avLst/>
            <a:gdLst/>
            <a:ahLst/>
            <a:cxnLst/>
            <a:rect l="l" t="t" r="r" b="b"/>
            <a:pathLst>
              <a:path w="1554480" h="1024128">
                <a:moveTo>
                  <a:pt x="0" y="0"/>
                </a:moveTo>
                <a:lnTo>
                  <a:pt x="1554480" y="0"/>
                </a:lnTo>
                <a:lnTo>
                  <a:pt x="1325880" y="1024128"/>
                </a:lnTo>
                <a:lnTo>
                  <a:pt x="228600" y="1024128"/>
                </a:lnTo>
                <a:close/>
              </a:path>
            </a:pathLst>
          </a:custGeom>
          <a:solidFill>
            <a:srgbClr val="E9E3D8"/>
          </a:solidFill>
          <a:ln w="19050">
            <a:solidFill>
              <a:srgbClr val="6B5A45"/>
            </a:solidFill>
            <a:prstDash val="solid"/>
          </a:ln>
        </p:spPr>
      </p:sp>
      <p:sp>
        <p:nvSpPr>
          <p:cNvPr id="18" name="Shape 16"/>
          <p:cNvSpPr/>
          <p:nvPr/>
        </p:nvSpPr>
        <p:spPr>
          <a:xfrm>
            <a:off x="1463040" y="3355848"/>
            <a:ext cx="1463040" cy="804672"/>
          </a:xfrm>
          <a:custGeom>
            <a:avLst/>
            <a:gdLst/>
            <a:ahLst/>
            <a:cxnLst/>
            <a:rect l="l" t="t" r="r" b="b"/>
            <a:pathLst>
              <a:path w="1463040" h="804672">
                <a:moveTo>
                  <a:pt x="0" y="0"/>
                </a:moveTo>
                <a:lnTo>
                  <a:pt x="1463040" y="0"/>
                </a:lnTo>
                <a:lnTo>
                  <a:pt x="1280160" y="804672"/>
                </a:lnTo>
                <a:lnTo>
                  <a:pt x="182880" y="804672"/>
                </a:lnTo>
                <a:close/>
              </a:path>
            </a:pathLst>
          </a:custGeom>
          <a:solidFill>
            <a:srgbClr val="F2C28A"/>
          </a:solidFill>
          <a:ln/>
        </p:spPr>
      </p:sp>
      <p:sp>
        <p:nvSpPr>
          <p:cNvPr id="19" name="Shape 17"/>
          <p:cNvSpPr/>
          <p:nvPr/>
        </p:nvSpPr>
        <p:spPr>
          <a:xfrm>
            <a:off x="1728216" y="2606040"/>
            <a:ext cx="109728" cy="1463040"/>
          </a:xfrm>
          <a:prstGeom prst="rect">
            <a:avLst/>
          </a:prstGeom>
          <a:solidFill>
            <a:srgbClr val="4A4F5A"/>
          </a:solidFill>
          <a:ln w="12700">
            <a:solidFill>
              <a:srgbClr val="2A2F3A"/>
            </a:solidFill>
            <a:prstDash val="solid"/>
          </a:ln>
        </p:spPr>
      </p:sp>
      <p:sp>
        <p:nvSpPr>
          <p:cNvPr id="20" name="Shape 18"/>
          <p:cNvSpPr/>
          <p:nvPr/>
        </p:nvSpPr>
        <p:spPr>
          <a:xfrm>
            <a:off x="2551176" y="2606040"/>
            <a:ext cx="109728" cy="1463040"/>
          </a:xfrm>
          <a:prstGeom prst="rect">
            <a:avLst/>
          </a:prstGeom>
          <a:solidFill>
            <a:srgbClr val="4A4F5A"/>
          </a:solidFill>
          <a:ln w="12700">
            <a:solidFill>
              <a:srgbClr val="2A2F3A"/>
            </a:solidFill>
            <a:prstDash val="solid"/>
          </a:ln>
        </p:spPr>
      </p:sp>
      <p:sp>
        <p:nvSpPr>
          <p:cNvPr id="21" name="Shape 19"/>
          <p:cNvSpPr/>
          <p:nvPr/>
        </p:nvSpPr>
        <p:spPr>
          <a:xfrm>
            <a:off x="1600200" y="4037076"/>
            <a:ext cx="365760" cy="118872"/>
          </a:xfrm>
          <a:prstGeom prst="ellipse">
            <a:avLst/>
          </a:prstGeom>
          <a:solidFill>
            <a:srgbClr val="B3B9C2"/>
          </a:solidFill>
          <a:ln w="12700">
            <a:solidFill>
              <a:srgbClr val="6B7385"/>
            </a:solidFill>
            <a:prstDash val="solid"/>
          </a:ln>
        </p:spPr>
      </p:sp>
      <p:sp>
        <p:nvSpPr>
          <p:cNvPr id="22" name="Shape 20"/>
          <p:cNvSpPr/>
          <p:nvPr/>
        </p:nvSpPr>
        <p:spPr>
          <a:xfrm>
            <a:off x="2862072" y="2763774"/>
            <a:ext cx="310896" cy="233172"/>
          </a:xfrm>
          <a:prstGeom prst="ellipse">
            <a:avLst/>
          </a:prstGeom>
          <a:solidFill>
            <a:srgbClr val="B5651D">
              <a:alpha val="55000"/>
            </a:srgbClr>
          </a:solidFill>
          <a:ln/>
        </p:spPr>
      </p:sp>
      <p:sp>
        <p:nvSpPr>
          <p:cNvPr id="23" name="Shape 21"/>
          <p:cNvSpPr/>
          <p:nvPr/>
        </p:nvSpPr>
        <p:spPr>
          <a:xfrm>
            <a:off x="3063240" y="2457450"/>
            <a:ext cx="274320" cy="205740"/>
          </a:xfrm>
          <a:prstGeom prst="ellipse">
            <a:avLst/>
          </a:prstGeom>
          <a:solidFill>
            <a:srgbClr val="B5651D">
              <a:alpha val="55000"/>
            </a:srgbClr>
          </a:solidFill>
          <a:ln/>
        </p:spPr>
      </p:sp>
      <p:sp>
        <p:nvSpPr>
          <p:cNvPr id="24" name="Shape 22"/>
          <p:cNvSpPr/>
          <p:nvPr/>
        </p:nvSpPr>
        <p:spPr>
          <a:xfrm>
            <a:off x="2898648" y="2196846"/>
            <a:ext cx="237744" cy="178308"/>
          </a:xfrm>
          <a:prstGeom prst="ellipse">
            <a:avLst/>
          </a:prstGeom>
          <a:solidFill>
            <a:srgbClr val="B5651D">
              <a:alpha val="55000"/>
            </a:srgbClr>
          </a:solidFill>
          <a:ln/>
        </p:spPr>
      </p:sp>
      <p:sp>
        <p:nvSpPr>
          <p:cNvPr id="25" name="Shape 23"/>
          <p:cNvSpPr/>
          <p:nvPr/>
        </p:nvSpPr>
        <p:spPr>
          <a:xfrm flipV="1">
            <a:off x="1783080" y="1783080"/>
            <a:ext cx="91" cy="822960"/>
          </a:xfrm>
          <a:prstGeom prst="line">
            <a:avLst/>
          </a:prstGeom>
          <a:noFill/>
          <a:ln w="19050">
            <a:solidFill>
              <a:srgbClr val="2A1F3D"/>
            </a:solidFill>
            <a:prstDash val="solid"/>
          </a:ln>
        </p:spPr>
      </p:sp>
      <p:sp>
        <p:nvSpPr>
          <p:cNvPr id="26" name="Shape 24"/>
          <p:cNvSpPr/>
          <p:nvPr/>
        </p:nvSpPr>
        <p:spPr>
          <a:xfrm flipH="1">
            <a:off x="1627632" y="1783080"/>
            <a:ext cx="155448" cy="91"/>
          </a:xfrm>
          <a:prstGeom prst="line">
            <a:avLst/>
          </a:prstGeom>
          <a:noFill/>
          <a:ln w="19050">
            <a:solidFill>
              <a:srgbClr val="2A1F3D"/>
            </a:solidFill>
            <a:prstDash val="solid"/>
          </a:ln>
        </p:spPr>
      </p:sp>
      <p:sp>
        <p:nvSpPr>
          <p:cNvPr id="27" name="Shape 25"/>
          <p:cNvSpPr/>
          <p:nvPr/>
        </p:nvSpPr>
        <p:spPr>
          <a:xfrm flipV="1">
            <a:off x="2606040" y="1783080"/>
            <a:ext cx="91" cy="822960"/>
          </a:xfrm>
          <a:prstGeom prst="line">
            <a:avLst/>
          </a:prstGeom>
          <a:noFill/>
          <a:ln w="19050">
            <a:solidFill>
              <a:srgbClr val="2A1F3D"/>
            </a:solidFill>
            <a:prstDash val="solid"/>
          </a:ln>
        </p:spPr>
      </p:sp>
      <p:sp>
        <p:nvSpPr>
          <p:cNvPr id="28" name="Shape 26"/>
          <p:cNvSpPr/>
          <p:nvPr/>
        </p:nvSpPr>
        <p:spPr>
          <a:xfrm>
            <a:off x="2606040" y="1783080"/>
            <a:ext cx="155448" cy="91"/>
          </a:xfrm>
          <a:prstGeom prst="line">
            <a:avLst/>
          </a:prstGeom>
          <a:noFill/>
          <a:ln w="19050">
            <a:solidFill>
              <a:srgbClr val="2A1F3D"/>
            </a:solidFill>
            <a:prstDash val="solid"/>
          </a:ln>
        </p:spPr>
      </p:sp>
      <p:sp>
        <p:nvSpPr>
          <p:cNvPr id="29" name="Shape 27"/>
          <p:cNvSpPr/>
          <p:nvPr/>
        </p:nvSpPr>
        <p:spPr>
          <a:xfrm>
            <a:off x="1737360" y="1508760"/>
            <a:ext cx="914400" cy="548640"/>
          </a:xfrm>
          <a:prstGeom prst="roundRect">
            <a:avLst>
              <a:gd name="adj" fmla="val 10000"/>
            </a:avLst>
          </a:prstGeom>
          <a:solidFill>
            <a:srgbClr val="E8EBF0"/>
          </a:solidFill>
          <a:ln w="15875">
            <a:solidFill>
              <a:srgbClr val="4A5568"/>
            </a:solidFill>
            <a:prstDash val="solid"/>
          </a:ln>
        </p:spPr>
      </p:sp>
      <p:sp>
        <p:nvSpPr>
          <p:cNvPr id="30" name="Text 28"/>
          <p:cNvSpPr/>
          <p:nvPr/>
        </p:nvSpPr>
        <p:spPr>
          <a:xfrm>
            <a:off x="1737360" y="1508760"/>
            <a:ext cx="914400" cy="54864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d.c. supply</a:t>
            </a:r>
            <a:endParaRPr lang="en-US" sz="1050" dirty="0"/>
          </a:p>
        </p:txBody>
      </p:sp>
      <p:sp>
        <p:nvSpPr>
          <p:cNvPr id="31" name="Shape 29"/>
          <p:cNvSpPr/>
          <p:nvPr/>
        </p:nvSpPr>
        <p:spPr>
          <a:xfrm>
            <a:off x="1536192" y="1691640"/>
            <a:ext cx="182880" cy="182880"/>
          </a:xfrm>
          <a:prstGeom prst="ellipse">
            <a:avLst/>
          </a:prstGeom>
          <a:solidFill>
            <a:srgbClr val="2A2F3A"/>
          </a:solidFill>
          <a:ln w="9525">
            <a:solidFill>
              <a:srgbClr val="2A2F3A"/>
            </a:solidFill>
            <a:prstDash val="solid"/>
          </a:ln>
        </p:spPr>
      </p:sp>
      <p:sp>
        <p:nvSpPr>
          <p:cNvPr id="32" name="Text 30"/>
          <p:cNvSpPr/>
          <p:nvPr/>
        </p:nvSpPr>
        <p:spPr>
          <a:xfrm>
            <a:off x="1536192" y="1673352"/>
            <a:ext cx="182880" cy="2011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2670048" y="1691640"/>
            <a:ext cx="182880" cy="182880"/>
          </a:xfrm>
          <a:prstGeom prst="ellipse">
            <a:avLst/>
          </a:prstGeom>
          <a:solidFill>
            <a:srgbClr val="C8414C"/>
          </a:solidFill>
          <a:ln w="9525">
            <a:solidFill>
              <a:srgbClr val="C8414C"/>
            </a:solidFill>
            <a:prstDash val="solid"/>
          </a:ln>
        </p:spPr>
      </p:sp>
      <p:sp>
        <p:nvSpPr>
          <p:cNvPr id="34" name="Text 32"/>
          <p:cNvSpPr/>
          <p:nvPr/>
        </p:nvSpPr>
        <p:spPr>
          <a:xfrm>
            <a:off x="2670048" y="1673352"/>
            <a:ext cx="182880" cy="2011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5" name="Shape 33"/>
          <p:cNvSpPr/>
          <p:nvPr/>
        </p:nvSpPr>
        <p:spPr>
          <a:xfrm>
            <a:off x="1783080" y="2057400"/>
            <a:ext cx="91" cy="128016"/>
          </a:xfrm>
          <a:prstGeom prst="line">
            <a:avLst/>
          </a:prstGeom>
          <a:noFill/>
          <a:ln w="19050">
            <a:solidFill>
              <a:srgbClr val="2A1F3D"/>
            </a:solidFill>
            <a:prstDash val="solid"/>
          </a:ln>
        </p:spPr>
      </p:sp>
      <p:sp>
        <p:nvSpPr>
          <p:cNvPr id="36" name="Shape 34"/>
          <p:cNvSpPr/>
          <p:nvPr/>
        </p:nvSpPr>
        <p:spPr>
          <a:xfrm>
            <a:off x="1783080" y="2432304"/>
            <a:ext cx="91" cy="128016"/>
          </a:xfrm>
          <a:prstGeom prst="line">
            <a:avLst/>
          </a:prstGeom>
          <a:noFill/>
          <a:ln w="19050">
            <a:solidFill>
              <a:srgbClr val="2A1F3D"/>
            </a:solidFill>
            <a:prstDash val="solid"/>
          </a:ln>
        </p:spPr>
      </p:sp>
      <p:sp>
        <p:nvSpPr>
          <p:cNvPr id="37" name="Shape 35"/>
          <p:cNvSpPr/>
          <p:nvPr/>
        </p:nvSpPr>
        <p:spPr>
          <a:xfrm>
            <a:off x="1659636" y="2185416"/>
            <a:ext cx="246888" cy="246888"/>
          </a:xfrm>
          <a:prstGeom prst="ellipse">
            <a:avLst/>
          </a:prstGeom>
          <a:solidFill>
            <a:srgbClr val="FFFFFF"/>
          </a:solidFill>
          <a:ln w="19050">
            <a:solidFill>
              <a:srgbClr val="2A1F3D"/>
            </a:solidFill>
            <a:prstDash val="solid"/>
          </a:ln>
        </p:spPr>
      </p:sp>
      <p:sp>
        <p:nvSpPr>
          <p:cNvPr id="38" name="Shape 36"/>
          <p:cNvSpPr/>
          <p:nvPr/>
        </p:nvSpPr>
        <p:spPr>
          <a:xfrm flipH="1">
            <a:off x="1695793" y="2221573"/>
            <a:ext cx="174575" cy="174575"/>
          </a:xfrm>
          <a:prstGeom prst="line">
            <a:avLst/>
          </a:prstGeom>
          <a:noFill/>
          <a:ln w="19050">
            <a:solidFill>
              <a:srgbClr val="2A1F3D"/>
            </a:solidFill>
            <a:prstDash val="solid"/>
          </a:ln>
        </p:spPr>
      </p:sp>
      <p:sp>
        <p:nvSpPr>
          <p:cNvPr id="39" name="Shape 37"/>
          <p:cNvSpPr/>
          <p:nvPr/>
        </p:nvSpPr>
        <p:spPr>
          <a:xfrm>
            <a:off x="1695793" y="2221573"/>
            <a:ext cx="174575" cy="174575"/>
          </a:xfrm>
          <a:prstGeom prst="line">
            <a:avLst/>
          </a:prstGeom>
          <a:noFill/>
          <a:ln w="19050">
            <a:solidFill>
              <a:srgbClr val="2A1F3D"/>
            </a:solidFill>
            <a:prstDash val="solid"/>
          </a:ln>
        </p:spPr>
      </p:sp>
      <p:sp>
        <p:nvSpPr>
          <p:cNvPr id="40" name="Text 38"/>
          <p:cNvSpPr/>
          <p:nvPr/>
        </p:nvSpPr>
        <p:spPr>
          <a:xfrm>
            <a:off x="502920" y="2194560"/>
            <a:ext cx="1097280" cy="256032"/>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lamp lights up</a:t>
            </a:r>
            <a:endParaRPr lang="en-US" sz="1000" dirty="0"/>
          </a:p>
        </p:txBody>
      </p:sp>
      <p:sp>
        <p:nvSpPr>
          <p:cNvPr id="41" name="Text 39"/>
          <p:cNvSpPr/>
          <p:nvPr/>
        </p:nvSpPr>
        <p:spPr>
          <a:xfrm>
            <a:off x="502920" y="2834640"/>
            <a:ext cx="1051560" cy="256032"/>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cathode (−)</a:t>
            </a:r>
            <a:endParaRPr lang="en-US" sz="1050" dirty="0"/>
          </a:p>
        </p:txBody>
      </p:sp>
      <p:sp>
        <p:nvSpPr>
          <p:cNvPr id="42" name="Text 40"/>
          <p:cNvSpPr/>
          <p:nvPr/>
        </p:nvSpPr>
        <p:spPr>
          <a:xfrm>
            <a:off x="457200" y="3703320"/>
            <a:ext cx="1005840" cy="256032"/>
          </a:xfrm>
          <a:prstGeom prst="rect">
            <a:avLst/>
          </a:prstGeom>
          <a:noFill/>
          <a:ln/>
        </p:spPr>
        <p:txBody>
          <a:bodyPr wrap="square" lIns="0" tIns="0" rIns="0" bIns="0" rtlCol="0" anchor="ctr"/>
          <a:lstStyle/>
          <a:p>
            <a:pPr algn="r" indent="0" marL="0">
              <a:buNone/>
            </a:pPr>
            <a:r>
              <a:rPr lang="en-US" sz="1050" b="1" dirty="0">
                <a:solidFill>
                  <a:srgbClr val="8A5A1A"/>
                </a:solidFill>
                <a:latin typeface="Calibri" pitchFamily="34" charset="0"/>
                <a:ea typeface="Calibri" pitchFamily="34" charset="-122"/>
                <a:cs typeface="Calibri" pitchFamily="34" charset="-120"/>
              </a:rPr>
              <a:t>molten PbBr₂</a:t>
            </a:r>
            <a:endParaRPr lang="en-US" sz="1050" dirty="0"/>
          </a:p>
        </p:txBody>
      </p:sp>
      <p:sp>
        <p:nvSpPr>
          <p:cNvPr id="43" name="Text 41"/>
          <p:cNvSpPr/>
          <p:nvPr/>
        </p:nvSpPr>
        <p:spPr>
          <a:xfrm>
            <a:off x="3429000" y="1298448"/>
            <a:ext cx="2468880" cy="256032"/>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Half equations (HT)</a:t>
            </a:r>
            <a:endParaRPr lang="en-US" sz="1100" dirty="0"/>
          </a:p>
        </p:txBody>
      </p:sp>
      <p:sp>
        <p:nvSpPr>
          <p:cNvPr id="44" name="Text 42"/>
          <p:cNvSpPr/>
          <p:nvPr/>
        </p:nvSpPr>
        <p:spPr>
          <a:xfrm>
            <a:off x="3429000" y="1572768"/>
            <a:ext cx="2468880" cy="438912"/>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Cathode (−)</a:t>
            </a:r>
            <a:r>
              <a:rPr lang="en-US" sz="1050" dirty="0">
                <a:solidFill>
                  <a:srgbClr val="262B3A"/>
                </a:solidFill>
                <a:latin typeface="Calibri" pitchFamily="34" charset="0"/>
                <a:ea typeface="Calibri" pitchFamily="34" charset="-122"/>
                <a:cs typeface="Calibri" pitchFamily="34" charset="-120"/>
              </a:rPr>
              <a:t>: grey </a:t>
            </a:r>
            <a:r>
              <a:rPr lang="en-US" sz="1050" b="1" dirty="0">
                <a:solidFill>
                  <a:srgbClr val="262B3A"/>
                </a:solidFill>
                <a:latin typeface="Calibri" pitchFamily="34" charset="0"/>
                <a:ea typeface="Calibri" pitchFamily="34" charset="-122"/>
                <a:cs typeface="Calibri" pitchFamily="34" charset="-120"/>
              </a:rPr>
              <a:t>lead</a:t>
            </a:r>
            <a:r>
              <a:rPr lang="en-US" sz="1050" dirty="0">
                <a:solidFill>
                  <a:srgbClr val="262B3A"/>
                </a:solidFill>
                <a:latin typeface="Calibri" pitchFamily="34" charset="0"/>
                <a:ea typeface="Calibri" pitchFamily="34" charset="-122"/>
                <a:cs typeface="Calibri" pitchFamily="34" charset="-120"/>
              </a:rPr>
              <a:t> collects under the electrode</a:t>
            </a:r>
            <a:endParaRPr lang="en-US" sz="1050" dirty="0"/>
          </a:p>
        </p:txBody>
      </p:sp>
      <p:sp>
        <p:nvSpPr>
          <p:cNvPr id="45" name="Shape 43"/>
          <p:cNvSpPr/>
          <p:nvPr/>
        </p:nvSpPr>
        <p:spPr>
          <a:xfrm>
            <a:off x="3429000" y="2011680"/>
            <a:ext cx="2468880" cy="384048"/>
          </a:xfrm>
          <a:prstGeom prst="roundRect">
            <a:avLst>
              <a:gd name="adj" fmla="val 11905"/>
            </a:avLst>
          </a:prstGeom>
          <a:solidFill>
            <a:srgbClr val="FBE3E4"/>
          </a:solidFill>
          <a:ln w="12700">
            <a:solidFill>
              <a:srgbClr val="E8B4B8"/>
            </a:solidFill>
            <a:prstDash val="solid"/>
          </a:ln>
        </p:spPr>
      </p:sp>
      <p:sp>
        <p:nvSpPr>
          <p:cNvPr id="46" name="Text 44"/>
          <p:cNvSpPr/>
          <p:nvPr/>
        </p:nvSpPr>
        <p:spPr>
          <a:xfrm>
            <a:off x="3502152" y="2011680"/>
            <a:ext cx="2322576" cy="38404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Pb²⁺(l) + 2e⁻ → Pb(l)</a:t>
            </a:r>
            <a:endParaRPr lang="en-US" sz="1100" dirty="0"/>
          </a:p>
        </p:txBody>
      </p:sp>
      <p:sp>
        <p:nvSpPr>
          <p:cNvPr id="47" name="Text 45"/>
          <p:cNvSpPr/>
          <p:nvPr/>
        </p:nvSpPr>
        <p:spPr>
          <a:xfrm>
            <a:off x="3429000" y="2514600"/>
            <a:ext cx="2468880" cy="438912"/>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Anode (+)</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262B3A"/>
                </a:solidFill>
                <a:latin typeface="Calibri" pitchFamily="34" charset="0"/>
                <a:ea typeface="Calibri" pitchFamily="34" charset="-122"/>
                <a:cs typeface="Calibri" pitchFamily="34" charset="-120"/>
              </a:rPr>
              <a:t>bromine</a:t>
            </a:r>
            <a:r>
              <a:rPr lang="en-US" sz="1050" dirty="0">
                <a:solidFill>
                  <a:srgbClr val="262B3A"/>
                </a:solidFill>
                <a:latin typeface="Calibri" pitchFamily="34" charset="0"/>
                <a:ea typeface="Calibri" pitchFamily="34" charset="-122"/>
                <a:cs typeface="Calibri" pitchFamily="34" charset="-120"/>
              </a:rPr>
              <a:t>, a red-brown vapour</a:t>
            </a:r>
            <a:endParaRPr lang="en-US" sz="1050" dirty="0"/>
          </a:p>
        </p:txBody>
      </p:sp>
      <p:sp>
        <p:nvSpPr>
          <p:cNvPr id="48" name="Shape 46"/>
          <p:cNvSpPr/>
          <p:nvPr/>
        </p:nvSpPr>
        <p:spPr>
          <a:xfrm>
            <a:off x="3429000" y="2953512"/>
            <a:ext cx="2468880" cy="384048"/>
          </a:xfrm>
          <a:prstGeom prst="roundRect">
            <a:avLst>
              <a:gd name="adj" fmla="val 11905"/>
            </a:avLst>
          </a:prstGeom>
          <a:solidFill>
            <a:srgbClr val="FBE3E4"/>
          </a:solidFill>
          <a:ln w="12700">
            <a:solidFill>
              <a:srgbClr val="E8B4B8"/>
            </a:solidFill>
            <a:prstDash val="solid"/>
          </a:ln>
        </p:spPr>
      </p:sp>
      <p:sp>
        <p:nvSpPr>
          <p:cNvPr id="49" name="Text 47"/>
          <p:cNvSpPr/>
          <p:nvPr/>
        </p:nvSpPr>
        <p:spPr>
          <a:xfrm>
            <a:off x="3502152" y="2953512"/>
            <a:ext cx="2322576" cy="38404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2Br⁻(l) → Br₂(g) + 2e⁻</a:t>
            </a:r>
            <a:endParaRPr lang="en-US" sz="1100" dirty="0"/>
          </a:p>
        </p:txBody>
      </p:sp>
      <p:sp>
        <p:nvSpPr>
          <p:cNvPr id="50" name="Text 48"/>
          <p:cNvSpPr/>
          <p:nvPr/>
        </p:nvSpPr>
        <p:spPr>
          <a:xfrm>
            <a:off x="3429000" y="3474720"/>
            <a:ext cx="246888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Overall:</a:t>
            </a:r>
            <a:endParaRPr lang="en-US" sz="1050" dirty="0"/>
          </a:p>
        </p:txBody>
      </p:sp>
      <p:sp>
        <p:nvSpPr>
          <p:cNvPr id="51" name="Shape 49"/>
          <p:cNvSpPr/>
          <p:nvPr/>
        </p:nvSpPr>
        <p:spPr>
          <a:xfrm>
            <a:off x="3429000" y="3749040"/>
            <a:ext cx="2468880" cy="384048"/>
          </a:xfrm>
          <a:prstGeom prst="roundRect">
            <a:avLst>
              <a:gd name="adj" fmla="val 11905"/>
            </a:avLst>
          </a:prstGeom>
          <a:solidFill>
            <a:srgbClr val="FFFFFF"/>
          </a:solidFill>
          <a:ln w="12700">
            <a:solidFill>
              <a:srgbClr val="DDD3EC"/>
            </a:solidFill>
            <a:prstDash val="solid"/>
          </a:ln>
        </p:spPr>
      </p:sp>
      <p:sp>
        <p:nvSpPr>
          <p:cNvPr id="52" name="Text 50"/>
          <p:cNvSpPr/>
          <p:nvPr/>
        </p:nvSpPr>
        <p:spPr>
          <a:xfrm>
            <a:off x="3502152" y="3749040"/>
            <a:ext cx="2322576" cy="38404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PbBr₂(l) → Pb(l) + Br₂(g)</a:t>
            </a:r>
            <a:endParaRPr lang="en-US" sz="1100" dirty="0"/>
          </a:p>
        </p:txBody>
      </p:sp>
      <p:sp>
        <p:nvSpPr>
          <p:cNvPr id="53" name="Text 51"/>
          <p:cNvSpPr/>
          <p:nvPr/>
        </p:nvSpPr>
        <p:spPr>
          <a:xfrm>
            <a:off x="3429000" y="4297680"/>
            <a:ext cx="2468880" cy="45720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Lead bromide must be </a:t>
            </a:r>
            <a:r>
              <a:rPr lang="en-US" sz="1050" b="1" dirty="0">
                <a:solidFill>
                  <a:srgbClr val="262B3A"/>
                </a:solidFill>
                <a:latin typeface="Calibri" pitchFamily="34" charset="0"/>
                <a:ea typeface="Calibri" pitchFamily="34" charset="-122"/>
                <a:cs typeface="Calibri" pitchFamily="34" charset="-120"/>
              </a:rPr>
              <a:t>molten</a:t>
            </a:r>
            <a:r>
              <a:rPr lang="en-US" sz="1050" dirty="0">
                <a:solidFill>
                  <a:srgbClr val="262B3A"/>
                </a:solidFill>
                <a:latin typeface="Calibri" pitchFamily="34" charset="0"/>
                <a:ea typeface="Calibri" pitchFamily="34" charset="-122"/>
                <a:cs typeface="Calibri" pitchFamily="34" charset="-120"/>
              </a:rPr>
              <a:t> (heated) so its ions can move.</a:t>
            </a:r>
            <a:endParaRPr lang="en-US" sz="1050" dirty="0"/>
          </a:p>
        </p:txBody>
      </p:sp>
      <p:sp>
        <p:nvSpPr>
          <p:cNvPr id="54" name="Shape 52"/>
          <p:cNvSpPr/>
          <p:nvPr/>
        </p:nvSpPr>
        <p:spPr>
          <a:xfrm>
            <a:off x="6217920" y="1188720"/>
            <a:ext cx="5562295" cy="2423160"/>
          </a:xfrm>
          <a:prstGeom prst="roundRect">
            <a:avLst>
              <a:gd name="adj" fmla="val 2264"/>
            </a:avLst>
          </a:prstGeom>
          <a:solidFill>
            <a:srgbClr val="F8F5FC"/>
          </a:solidFill>
          <a:ln w="9525">
            <a:solidFill>
              <a:srgbClr val="DDD3EC"/>
            </a:solidFill>
            <a:prstDash val="solid"/>
          </a:ln>
        </p:spPr>
      </p:sp>
      <p:sp>
        <p:nvSpPr>
          <p:cNvPr id="55" name="Text 5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Molten binary compounds</a:t>
            </a:r>
            <a:endParaRPr lang="en-US" sz="1300" dirty="0"/>
          </a:p>
        </p:txBody>
      </p:sp>
      <p:sp>
        <p:nvSpPr>
          <p:cNvPr id="56" name="Text 5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binary</a:t>
            </a:r>
            <a:r>
              <a:rPr lang="en-US" sz="1150" dirty="0">
                <a:solidFill>
                  <a:srgbClr val="262B3A"/>
                </a:solidFill>
                <a:latin typeface="Calibri" pitchFamily="34" charset="0"/>
                <a:ea typeface="Calibri" pitchFamily="34" charset="-122"/>
                <a:cs typeface="Calibri" pitchFamily="34" charset="-120"/>
              </a:rPr>
              <a:t> ionic compound contains just </a:t>
            </a:r>
            <a:r>
              <a:rPr lang="en-US" sz="1150" b="1" dirty="0">
                <a:solidFill>
                  <a:srgbClr val="262B3A"/>
                </a:solidFill>
                <a:latin typeface="Calibri" pitchFamily="34" charset="0"/>
                <a:ea typeface="Calibri" pitchFamily="34" charset="-122"/>
                <a:cs typeface="Calibri" pitchFamily="34" charset="-120"/>
              </a:rPr>
              <a:t>two elements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When molten: the </a:t>
            </a:r>
            <a:r>
              <a:rPr lang="en-US" sz="1150" b="1" dirty="0">
                <a:solidFill>
                  <a:srgbClr val="262B3A"/>
                </a:solidFill>
                <a:latin typeface="Calibri" pitchFamily="34" charset="0"/>
                <a:ea typeface="Calibri" pitchFamily="34" charset="-122"/>
                <a:cs typeface="Calibri" pitchFamily="34" charset="-120"/>
              </a:rPr>
              <a:t>metal</a:t>
            </a:r>
            <a:r>
              <a:rPr lang="en-US" sz="1150" dirty="0">
                <a:solidFill>
                  <a:srgbClr val="262B3A"/>
                </a:solidFill>
                <a:latin typeface="Calibri" pitchFamily="34" charset="0"/>
                <a:ea typeface="Calibri" pitchFamily="34" charset="-122"/>
                <a:cs typeface="Calibri" pitchFamily="34" charset="-120"/>
              </a:rPr>
              <a:t> forms at the </a:t>
            </a:r>
            <a:r>
              <a:rPr lang="en-US" sz="1150" b="1" dirty="0">
                <a:solidFill>
                  <a:srgbClr val="262B3A"/>
                </a:solidFill>
                <a:latin typeface="Calibri" pitchFamily="34" charset="0"/>
                <a:ea typeface="Calibri" pitchFamily="34" charset="-122"/>
                <a:cs typeface="Calibri" pitchFamily="34" charset="-120"/>
              </a:rPr>
              <a:t>cathode</a:t>
            </a:r>
            <a:r>
              <a:rPr lang="en-US" sz="1150" dirty="0">
                <a:solidFill>
                  <a:srgbClr val="262B3A"/>
                </a:solidFill>
                <a:latin typeface="Calibri" pitchFamily="34" charset="0"/>
                <a:ea typeface="Calibri" pitchFamily="34" charset="-122"/>
                <a:cs typeface="Calibri" pitchFamily="34" charset="-120"/>
              </a:rPr>
              <a:t>; the </a:t>
            </a:r>
            <a:r>
              <a:rPr lang="en-US" sz="1150" b="1" dirty="0">
                <a:solidFill>
                  <a:srgbClr val="262B3A"/>
                </a:solidFill>
                <a:latin typeface="Calibri" pitchFamily="34" charset="0"/>
                <a:ea typeface="Calibri" pitchFamily="34" charset="-122"/>
                <a:cs typeface="Calibri" pitchFamily="34" charset="-120"/>
              </a:rPr>
              <a:t>non-metal</a:t>
            </a:r>
            <a:r>
              <a:rPr lang="en-US" sz="1150" dirty="0">
                <a:solidFill>
                  <a:srgbClr val="262B3A"/>
                </a:solidFill>
                <a:latin typeface="Calibri" pitchFamily="34" charset="0"/>
                <a:ea typeface="Calibri" pitchFamily="34" charset="-122"/>
                <a:cs typeface="Calibri" pitchFamily="34" charset="-120"/>
              </a:rPr>
              <a:t> forms at the </a:t>
            </a:r>
            <a:r>
              <a:rPr lang="en-US" sz="1150" b="1" dirty="0">
                <a:solidFill>
                  <a:srgbClr val="262B3A"/>
                </a:solidFill>
                <a:latin typeface="Calibri" pitchFamily="34" charset="0"/>
                <a:ea typeface="Calibri" pitchFamily="34" charset="-122"/>
                <a:cs typeface="Calibri" pitchFamily="34" charset="-120"/>
              </a:rPr>
              <a:t>anode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Lead bromide is a </a:t>
            </a:r>
            <a:r>
              <a:rPr lang="en-US" sz="1150" b="1" dirty="0">
                <a:solidFill>
                  <a:srgbClr val="262B3A"/>
                </a:solidFill>
                <a:latin typeface="Calibri" pitchFamily="34" charset="0"/>
                <a:ea typeface="Calibri" pitchFamily="34" charset="-122"/>
                <a:cs typeface="Calibri" pitchFamily="34" charset="-120"/>
              </a:rPr>
              <a:t>teacher demonstration</a:t>
            </a:r>
            <a:r>
              <a:rPr lang="en-US" sz="1150" dirty="0">
                <a:solidFill>
                  <a:srgbClr val="262B3A"/>
                </a:solidFill>
                <a:latin typeface="Calibri" pitchFamily="34" charset="0"/>
                <a:ea typeface="Calibri" pitchFamily="34" charset="-122"/>
                <a:cs typeface="Calibri" pitchFamily="34" charset="-120"/>
              </a:rPr>
              <a:t> (toxic lead and bromine; fume cupboard).</a:t>
            </a:r>
            <a:endParaRPr lang="en-US" sz="1150" dirty="0"/>
          </a:p>
        </p:txBody>
      </p:sp>
      <p:sp>
        <p:nvSpPr>
          <p:cNvPr id="57" name="Shape 5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8" name="Text 5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Predict the products (3.26)</a:t>
            </a:r>
            <a:endParaRPr lang="en-US" sz="1300" dirty="0"/>
          </a:p>
        </p:txBody>
      </p:sp>
      <p:sp>
        <p:nvSpPr>
          <p:cNvPr id="59" name="Text 57"/>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ZnCl₂(l)   </a:t>
            </a:r>
            <a:r>
              <a:rPr lang="en-US" sz="1050" dirty="0">
                <a:solidFill>
                  <a:srgbClr val="262B3A"/>
                </a:solidFill>
                <a:latin typeface="Calibri" pitchFamily="34" charset="0"/>
                <a:ea typeface="Calibri" pitchFamily="34" charset="-122"/>
                <a:cs typeface="Calibri" pitchFamily="34" charset="-120"/>
              </a:rPr>
              <a:t>zinc at the cathode; chlorine at the anode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KI(l)   </a:t>
            </a:r>
            <a:r>
              <a:rPr lang="en-US" sz="1050" dirty="0">
                <a:solidFill>
                  <a:srgbClr val="262B3A"/>
                </a:solidFill>
                <a:latin typeface="Calibri" pitchFamily="34" charset="0"/>
                <a:ea typeface="Calibri" pitchFamily="34" charset="-122"/>
                <a:cs typeface="Calibri" pitchFamily="34" charset="-120"/>
              </a:rPr>
              <a:t>potassium at the cathode; iodine at the anode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Al₂O₃(l)   </a:t>
            </a:r>
            <a:r>
              <a:rPr lang="en-US" sz="1050" dirty="0">
                <a:solidFill>
                  <a:srgbClr val="262B3A"/>
                </a:solidFill>
                <a:latin typeface="Calibri" pitchFamily="34" charset="0"/>
                <a:ea typeface="Calibri" pitchFamily="34" charset="-122"/>
                <a:cs typeface="Calibri" pitchFamily="34" charset="-120"/>
              </a:rPr>
              <a:t>aluminium at the cathode; oxygen at the anode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metal ion gains electrons; non-metal ion loses electrons</a:t>
            </a:r>
            <a:endParaRPr lang="en-US" sz="1050" dirty="0"/>
          </a:p>
        </p:txBody>
      </p:sp>
      <p:sp>
        <p:nvSpPr>
          <p:cNvPr id="60" name="Shape 58"/>
          <p:cNvSpPr/>
          <p:nvPr/>
        </p:nvSpPr>
        <p:spPr>
          <a:xfrm>
            <a:off x="411480" y="5833872"/>
            <a:ext cx="11368735" cy="530352"/>
          </a:xfrm>
          <a:prstGeom prst="rect">
            <a:avLst/>
          </a:prstGeom>
          <a:solidFill>
            <a:srgbClr val="FFF4E0"/>
          </a:solidFill>
          <a:ln w="6350">
            <a:solidFill>
              <a:srgbClr val="F1D9A8"/>
            </a:solidFill>
            <a:prstDash val="solid"/>
          </a:ln>
        </p:spPr>
      </p:sp>
      <p:sp>
        <p:nvSpPr>
          <p:cNvPr id="61" name="Shape 59"/>
          <p:cNvSpPr/>
          <p:nvPr/>
        </p:nvSpPr>
        <p:spPr>
          <a:xfrm>
            <a:off x="411480" y="5833872"/>
            <a:ext cx="82296" cy="530352"/>
          </a:xfrm>
          <a:prstGeom prst="rect">
            <a:avLst/>
          </a:prstGeom>
          <a:solidFill>
            <a:srgbClr val="E39A2F"/>
          </a:solidFill>
          <a:ln w="12700">
            <a:solidFill>
              <a:srgbClr val="E39A2F"/>
            </a:solidFill>
            <a:prstDash val="solid"/>
          </a:ln>
        </p:spPr>
      </p:sp>
      <p:sp>
        <p:nvSpPr>
          <p:cNvPr id="62" name="Text 6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Predict the products at each electrode when </a:t>
            </a:r>
            <a:r>
              <a:rPr lang="en-US" sz="1150" b="1" dirty="0">
                <a:solidFill>
                  <a:srgbClr val="262B3A"/>
                </a:solidFill>
                <a:latin typeface="Calibri" pitchFamily="34" charset="0"/>
                <a:ea typeface="Calibri" pitchFamily="34" charset="-122"/>
                <a:cs typeface="Calibri" pitchFamily="34" charset="-120"/>
              </a:rPr>
              <a:t>molten sodium chloride</a:t>
            </a:r>
            <a:r>
              <a:rPr lang="en-US" sz="1150" dirty="0">
                <a:solidFill>
                  <a:srgbClr val="262B3A"/>
                </a:solidFill>
                <a:latin typeface="Calibri" pitchFamily="34" charset="0"/>
                <a:ea typeface="Calibri" pitchFamily="34" charset="-122"/>
                <a:cs typeface="Calibri" pitchFamily="34" charset="-120"/>
              </a:rPr>
              <a:t> is electrolysed. HT: write both half equations.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Electrolysis of aqueous solutions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3.25a–d • water adds H⁺ and OH⁻ ions: which ions are discharged?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3.25  |  30</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decision rules for inert electrodes</a:t>
            </a:r>
            <a:endParaRPr lang="en-US" sz="1000" dirty="0"/>
          </a:p>
        </p:txBody>
      </p:sp>
      <p:sp>
        <p:nvSpPr>
          <p:cNvPr id="10" name="Shape 8"/>
          <p:cNvSpPr/>
          <p:nvPr/>
        </p:nvSpPr>
        <p:spPr>
          <a:xfrm>
            <a:off x="548640" y="1325880"/>
            <a:ext cx="2606040" cy="566928"/>
          </a:xfrm>
          <a:prstGeom prst="roundRect">
            <a:avLst>
              <a:gd name="adj" fmla="val 9677"/>
            </a:avLst>
          </a:prstGeom>
          <a:solidFill>
            <a:srgbClr val="E3E8EE"/>
          </a:solidFill>
          <a:ln w="15875">
            <a:solidFill>
              <a:srgbClr val="2A2F3A"/>
            </a:solidFill>
            <a:prstDash val="solid"/>
          </a:ln>
        </p:spPr>
      </p:sp>
      <p:sp>
        <p:nvSpPr>
          <p:cNvPr id="11" name="Text 9"/>
          <p:cNvSpPr/>
          <p:nvPr/>
        </p:nvSpPr>
        <p:spPr>
          <a:xfrm>
            <a:off x="603504" y="1325880"/>
            <a:ext cx="2496312" cy="566928"/>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Cathode (−): H⁺ or metal ion?</a:t>
            </a:r>
            <a:endParaRPr lang="en-US" sz="1100" dirty="0"/>
          </a:p>
        </p:txBody>
      </p:sp>
      <p:sp>
        <p:nvSpPr>
          <p:cNvPr id="12" name="Shape 10"/>
          <p:cNvSpPr/>
          <p:nvPr/>
        </p:nvSpPr>
        <p:spPr>
          <a:xfrm>
            <a:off x="1847088" y="1892808"/>
            <a:ext cx="91" cy="210312"/>
          </a:xfrm>
          <a:prstGeom prst="line">
            <a:avLst/>
          </a:prstGeom>
          <a:noFill/>
          <a:ln w="19050">
            <a:solidFill>
              <a:srgbClr val="2A1F3D"/>
            </a:solidFill>
            <a:prstDash val="solid"/>
            <a:tailEnd type="triangle"/>
          </a:ln>
        </p:spPr>
      </p:sp>
      <p:sp>
        <p:nvSpPr>
          <p:cNvPr id="13" name="Shape 11"/>
          <p:cNvSpPr/>
          <p:nvPr/>
        </p:nvSpPr>
        <p:spPr>
          <a:xfrm>
            <a:off x="548640" y="2103120"/>
            <a:ext cx="2606040" cy="777240"/>
          </a:xfrm>
          <a:prstGeom prst="roundRect">
            <a:avLst>
              <a:gd name="adj" fmla="val 7059"/>
            </a:avLst>
          </a:prstGeom>
          <a:solidFill>
            <a:srgbClr val="FFFFFF"/>
          </a:solidFill>
          <a:ln w="15875">
            <a:solidFill>
              <a:srgbClr val="6A3FA0"/>
            </a:solidFill>
            <a:prstDash val="solid"/>
          </a:ln>
        </p:spPr>
      </p:sp>
      <p:sp>
        <p:nvSpPr>
          <p:cNvPr id="14" name="Text 12"/>
          <p:cNvSpPr/>
          <p:nvPr/>
        </p:nvSpPr>
        <p:spPr>
          <a:xfrm>
            <a:off x="603504" y="2103120"/>
            <a:ext cx="2496312" cy="77724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Is the metal </a:t>
            </a:r>
            <a:r>
              <a:rPr lang="en-US" sz="1050" b="1" dirty="0">
                <a:solidFill>
                  <a:srgbClr val="262B3A"/>
                </a:solidFill>
                <a:latin typeface="Calibri" pitchFamily="34" charset="0"/>
                <a:ea typeface="Calibri" pitchFamily="34" charset="-122"/>
                <a:cs typeface="Calibri" pitchFamily="34" charset="-120"/>
              </a:rPr>
              <a:t>more reactive</a:t>
            </a:r>
            <a:r>
              <a:rPr lang="en-US" sz="1050" dirty="0">
                <a:solidFill>
                  <a:srgbClr val="262B3A"/>
                </a:solidFill>
                <a:latin typeface="Calibri" pitchFamily="34" charset="0"/>
                <a:ea typeface="Calibri" pitchFamily="34" charset="-122"/>
                <a:cs typeface="Calibri" pitchFamily="34" charset="-120"/>
              </a:rPr>
              <a:t> than hydrogen?</a:t>
            </a:r>
            <a:endParaRPr lang="en-US" sz="1050" dirty="0"/>
          </a:p>
        </p:txBody>
      </p:sp>
      <p:sp>
        <p:nvSpPr>
          <p:cNvPr id="15" name="Shape 13"/>
          <p:cNvSpPr/>
          <p:nvPr/>
        </p:nvSpPr>
        <p:spPr>
          <a:xfrm>
            <a:off x="1188720" y="2880360"/>
            <a:ext cx="91" cy="320040"/>
          </a:xfrm>
          <a:prstGeom prst="line">
            <a:avLst/>
          </a:prstGeom>
          <a:noFill/>
          <a:ln w="19050">
            <a:solidFill>
              <a:srgbClr val="2E8B57"/>
            </a:solidFill>
            <a:prstDash val="solid"/>
            <a:tailEnd type="triangle"/>
          </a:ln>
        </p:spPr>
      </p:sp>
      <p:sp>
        <p:nvSpPr>
          <p:cNvPr id="16" name="Shape 14"/>
          <p:cNvSpPr/>
          <p:nvPr/>
        </p:nvSpPr>
        <p:spPr>
          <a:xfrm>
            <a:off x="2514600" y="2880360"/>
            <a:ext cx="91" cy="320040"/>
          </a:xfrm>
          <a:prstGeom prst="line">
            <a:avLst/>
          </a:prstGeom>
          <a:noFill/>
          <a:ln w="19050">
            <a:solidFill>
              <a:srgbClr val="C8414C"/>
            </a:solidFill>
            <a:prstDash val="solid"/>
            <a:tailEnd type="triangle"/>
          </a:ln>
        </p:spPr>
      </p:sp>
      <p:sp>
        <p:nvSpPr>
          <p:cNvPr id="17" name="Text 15"/>
          <p:cNvSpPr/>
          <p:nvPr/>
        </p:nvSpPr>
        <p:spPr>
          <a:xfrm>
            <a:off x="1261872" y="2926080"/>
            <a:ext cx="411480" cy="256032"/>
          </a:xfrm>
          <a:prstGeom prst="rect">
            <a:avLst/>
          </a:prstGeom>
          <a:noFill/>
          <a:ln/>
        </p:spPr>
        <p:txBody>
          <a:bodyPr wrap="square" lIns="0" tIns="0" rIns="0" bIns="0" rtlCol="0" anchor="ctr"/>
          <a:lstStyle/>
          <a:p>
            <a:pPr algn="l" indent="0" marL="0">
              <a:buNone/>
            </a:pPr>
            <a:r>
              <a:rPr lang="en-US" sz="1000" b="1" dirty="0">
                <a:solidFill>
                  <a:srgbClr val="2E8B57"/>
                </a:solidFill>
                <a:latin typeface="Calibri" pitchFamily="34" charset="0"/>
                <a:ea typeface="Calibri" pitchFamily="34" charset="-122"/>
                <a:cs typeface="Calibri" pitchFamily="34" charset="-120"/>
              </a:rPr>
              <a:t>yes</a:t>
            </a:r>
            <a:endParaRPr lang="en-US" sz="1000" dirty="0"/>
          </a:p>
        </p:txBody>
      </p:sp>
      <p:sp>
        <p:nvSpPr>
          <p:cNvPr id="18" name="Text 16"/>
          <p:cNvSpPr/>
          <p:nvPr/>
        </p:nvSpPr>
        <p:spPr>
          <a:xfrm>
            <a:off x="2587752" y="2926080"/>
            <a:ext cx="411480" cy="256032"/>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no</a:t>
            </a:r>
            <a:endParaRPr lang="en-US" sz="1000" dirty="0"/>
          </a:p>
        </p:txBody>
      </p:sp>
      <p:sp>
        <p:nvSpPr>
          <p:cNvPr id="19" name="Shape 17"/>
          <p:cNvSpPr/>
          <p:nvPr/>
        </p:nvSpPr>
        <p:spPr>
          <a:xfrm>
            <a:off x="548640" y="3200400"/>
            <a:ext cx="1261872" cy="1325880"/>
          </a:xfrm>
          <a:prstGeom prst="roundRect">
            <a:avLst>
              <a:gd name="adj" fmla="val 4348"/>
            </a:avLst>
          </a:prstGeom>
          <a:solidFill>
            <a:srgbClr val="E9F5EC"/>
          </a:solidFill>
          <a:ln w="15875">
            <a:solidFill>
              <a:srgbClr val="2E8B57"/>
            </a:solidFill>
            <a:prstDash val="solid"/>
          </a:ln>
        </p:spPr>
      </p:sp>
      <p:sp>
        <p:nvSpPr>
          <p:cNvPr id="20" name="Text 18"/>
          <p:cNvSpPr/>
          <p:nvPr/>
        </p:nvSpPr>
        <p:spPr>
          <a:xfrm>
            <a:off x="603504" y="3200400"/>
            <a:ext cx="1152144" cy="132588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hydrogen</a:t>
            </a:r>
            <a:r>
              <a:rPr lang="en-US" sz="1050" dirty="0">
                <a:solidFill>
                  <a:srgbClr val="262B3A"/>
                </a:solidFill>
                <a:latin typeface="Calibri" pitchFamily="34" charset="0"/>
                <a:ea typeface="Calibri" pitchFamily="34" charset="-122"/>
                <a:cs typeface="Calibri" pitchFamily="34" charset="-120"/>
              </a:rPr>
              <a:t>, H₂</a:t>
            </a:r>
            <a:endParaRPr lang="en-US" sz="1050" dirty="0"/>
          </a:p>
          <a:p>
            <a:pPr algn="ctr" indent="0" marL="0">
              <a:buNone/>
            </a:pPr>
            <a:r>
              <a:rPr lang="en-US" sz="1050" dirty="0">
                <a:solidFill>
                  <a:srgbClr val="262B3A"/>
                </a:solidFill>
                <a:latin typeface="Calibri" pitchFamily="34" charset="0"/>
                <a:ea typeface="Calibri" pitchFamily="34" charset="-122"/>
                <a:cs typeface="Calibri" pitchFamily="34" charset="-120"/>
              </a:rPr>
              <a:t>e.g. Na⁺, K⁺, Mg²⁺, Ca²⁺</a:t>
            </a:r>
            <a:endParaRPr lang="en-US" sz="1050" dirty="0"/>
          </a:p>
        </p:txBody>
      </p:sp>
      <p:sp>
        <p:nvSpPr>
          <p:cNvPr id="21" name="Shape 19"/>
          <p:cNvSpPr/>
          <p:nvPr/>
        </p:nvSpPr>
        <p:spPr>
          <a:xfrm>
            <a:off x="1892808" y="3200400"/>
            <a:ext cx="1261872" cy="1325880"/>
          </a:xfrm>
          <a:prstGeom prst="roundRect">
            <a:avLst>
              <a:gd name="adj" fmla="val 4348"/>
            </a:avLst>
          </a:prstGeom>
          <a:solidFill>
            <a:srgbClr val="FDEDE4"/>
          </a:solidFill>
          <a:ln w="15875">
            <a:solidFill>
              <a:srgbClr val="B8730A"/>
            </a:solidFill>
            <a:prstDash val="solid"/>
          </a:ln>
        </p:spPr>
      </p:sp>
      <p:sp>
        <p:nvSpPr>
          <p:cNvPr id="22" name="Text 20"/>
          <p:cNvSpPr/>
          <p:nvPr/>
        </p:nvSpPr>
        <p:spPr>
          <a:xfrm>
            <a:off x="1947672" y="3200400"/>
            <a:ext cx="1152144" cy="132588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the </a:t>
            </a:r>
            <a:r>
              <a:rPr lang="en-US" sz="1050" b="1" dirty="0">
                <a:solidFill>
                  <a:srgbClr val="262B3A"/>
                </a:solidFill>
                <a:latin typeface="Calibri" pitchFamily="34" charset="0"/>
                <a:ea typeface="Calibri" pitchFamily="34" charset="-122"/>
                <a:cs typeface="Calibri" pitchFamily="34" charset="-120"/>
              </a:rPr>
              <a:t>metal</a:t>
            </a:r>
            <a:endParaRPr lang="en-US" sz="1050" dirty="0"/>
          </a:p>
          <a:p>
            <a:pPr algn="ctr" indent="0" marL="0">
              <a:buNone/>
            </a:pPr>
            <a:r>
              <a:rPr lang="en-US" sz="1050" dirty="0">
                <a:solidFill>
                  <a:srgbClr val="262B3A"/>
                </a:solidFill>
                <a:latin typeface="Calibri" pitchFamily="34" charset="0"/>
                <a:ea typeface="Calibri" pitchFamily="34" charset="-122"/>
                <a:cs typeface="Calibri" pitchFamily="34" charset="-120"/>
              </a:rPr>
              <a:t>e.g. Cu²⁺ → Cu, Ag⁺ → Ag</a:t>
            </a:r>
            <a:endParaRPr lang="en-US" sz="1050" dirty="0"/>
          </a:p>
        </p:txBody>
      </p:sp>
      <p:sp>
        <p:nvSpPr>
          <p:cNvPr id="23" name="Shape 21"/>
          <p:cNvSpPr/>
          <p:nvPr/>
        </p:nvSpPr>
        <p:spPr>
          <a:xfrm>
            <a:off x="3246120" y="1325880"/>
            <a:ext cx="2606040" cy="566928"/>
          </a:xfrm>
          <a:prstGeom prst="roundRect">
            <a:avLst>
              <a:gd name="adj" fmla="val 9677"/>
            </a:avLst>
          </a:prstGeom>
          <a:solidFill>
            <a:srgbClr val="FBE3E4"/>
          </a:solidFill>
          <a:ln w="15875">
            <a:solidFill>
              <a:srgbClr val="C8414C"/>
            </a:solidFill>
            <a:prstDash val="solid"/>
          </a:ln>
        </p:spPr>
      </p:sp>
      <p:sp>
        <p:nvSpPr>
          <p:cNvPr id="24" name="Text 22"/>
          <p:cNvSpPr/>
          <p:nvPr/>
        </p:nvSpPr>
        <p:spPr>
          <a:xfrm>
            <a:off x="3300984" y="1325880"/>
            <a:ext cx="2496312" cy="566928"/>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Anode (+): OH⁻ or the anion?</a:t>
            </a:r>
            <a:endParaRPr lang="en-US" sz="1100" dirty="0"/>
          </a:p>
        </p:txBody>
      </p:sp>
      <p:sp>
        <p:nvSpPr>
          <p:cNvPr id="25" name="Shape 23"/>
          <p:cNvSpPr/>
          <p:nvPr/>
        </p:nvSpPr>
        <p:spPr>
          <a:xfrm>
            <a:off x="4544568" y="1892808"/>
            <a:ext cx="91" cy="210312"/>
          </a:xfrm>
          <a:prstGeom prst="line">
            <a:avLst/>
          </a:prstGeom>
          <a:noFill/>
          <a:ln w="19050">
            <a:solidFill>
              <a:srgbClr val="2A1F3D"/>
            </a:solidFill>
            <a:prstDash val="solid"/>
            <a:tailEnd type="triangle"/>
          </a:ln>
        </p:spPr>
      </p:sp>
      <p:sp>
        <p:nvSpPr>
          <p:cNvPr id="26" name="Shape 24"/>
          <p:cNvSpPr/>
          <p:nvPr/>
        </p:nvSpPr>
        <p:spPr>
          <a:xfrm>
            <a:off x="3246120" y="2103120"/>
            <a:ext cx="2606040" cy="777240"/>
          </a:xfrm>
          <a:prstGeom prst="roundRect">
            <a:avLst>
              <a:gd name="adj" fmla="val 7059"/>
            </a:avLst>
          </a:prstGeom>
          <a:solidFill>
            <a:srgbClr val="FFFFFF"/>
          </a:solidFill>
          <a:ln w="15875">
            <a:solidFill>
              <a:srgbClr val="6A3FA0"/>
            </a:solidFill>
            <a:prstDash val="solid"/>
          </a:ln>
        </p:spPr>
      </p:sp>
      <p:sp>
        <p:nvSpPr>
          <p:cNvPr id="27" name="Text 25"/>
          <p:cNvSpPr/>
          <p:nvPr/>
        </p:nvSpPr>
        <p:spPr>
          <a:xfrm>
            <a:off x="3300984" y="2103120"/>
            <a:ext cx="2496312" cy="77724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Is there a </a:t>
            </a:r>
            <a:r>
              <a:rPr lang="en-US" sz="1050" b="1" dirty="0">
                <a:solidFill>
                  <a:srgbClr val="262B3A"/>
                </a:solidFill>
                <a:latin typeface="Calibri" pitchFamily="34" charset="0"/>
                <a:ea typeface="Calibri" pitchFamily="34" charset="-122"/>
                <a:cs typeface="Calibri" pitchFamily="34" charset="-120"/>
              </a:rPr>
              <a:t>halide</a:t>
            </a:r>
            <a:r>
              <a:rPr lang="en-US" sz="1050" dirty="0">
                <a:solidFill>
                  <a:srgbClr val="262B3A"/>
                </a:solidFill>
                <a:latin typeface="Calibri" pitchFamily="34" charset="0"/>
                <a:ea typeface="Calibri" pitchFamily="34" charset="-122"/>
                <a:cs typeface="Calibri" pitchFamily="34" charset="-120"/>
              </a:rPr>
              <a:t> ion (Cl⁻, Br⁻, I⁻)?</a:t>
            </a:r>
            <a:endParaRPr lang="en-US" sz="1050" dirty="0"/>
          </a:p>
        </p:txBody>
      </p:sp>
      <p:sp>
        <p:nvSpPr>
          <p:cNvPr id="28" name="Shape 26"/>
          <p:cNvSpPr/>
          <p:nvPr/>
        </p:nvSpPr>
        <p:spPr>
          <a:xfrm>
            <a:off x="3886200" y="2880360"/>
            <a:ext cx="91" cy="320040"/>
          </a:xfrm>
          <a:prstGeom prst="line">
            <a:avLst/>
          </a:prstGeom>
          <a:noFill/>
          <a:ln w="19050">
            <a:solidFill>
              <a:srgbClr val="2E8B57"/>
            </a:solidFill>
            <a:prstDash val="solid"/>
            <a:tailEnd type="triangle"/>
          </a:ln>
        </p:spPr>
      </p:sp>
      <p:sp>
        <p:nvSpPr>
          <p:cNvPr id="29" name="Shape 27"/>
          <p:cNvSpPr/>
          <p:nvPr/>
        </p:nvSpPr>
        <p:spPr>
          <a:xfrm>
            <a:off x="5212080" y="2880360"/>
            <a:ext cx="91" cy="320040"/>
          </a:xfrm>
          <a:prstGeom prst="line">
            <a:avLst/>
          </a:prstGeom>
          <a:noFill/>
          <a:ln w="19050">
            <a:solidFill>
              <a:srgbClr val="C8414C"/>
            </a:solidFill>
            <a:prstDash val="solid"/>
            <a:tailEnd type="triangle"/>
          </a:ln>
        </p:spPr>
      </p:sp>
      <p:sp>
        <p:nvSpPr>
          <p:cNvPr id="30" name="Text 28"/>
          <p:cNvSpPr/>
          <p:nvPr/>
        </p:nvSpPr>
        <p:spPr>
          <a:xfrm>
            <a:off x="3959352" y="2926080"/>
            <a:ext cx="411480" cy="256032"/>
          </a:xfrm>
          <a:prstGeom prst="rect">
            <a:avLst/>
          </a:prstGeom>
          <a:noFill/>
          <a:ln/>
        </p:spPr>
        <p:txBody>
          <a:bodyPr wrap="square" lIns="0" tIns="0" rIns="0" bIns="0" rtlCol="0" anchor="ctr"/>
          <a:lstStyle/>
          <a:p>
            <a:pPr algn="l" indent="0" marL="0">
              <a:buNone/>
            </a:pPr>
            <a:r>
              <a:rPr lang="en-US" sz="1000" b="1" dirty="0">
                <a:solidFill>
                  <a:srgbClr val="2E8B57"/>
                </a:solidFill>
                <a:latin typeface="Calibri" pitchFamily="34" charset="0"/>
                <a:ea typeface="Calibri" pitchFamily="34" charset="-122"/>
                <a:cs typeface="Calibri" pitchFamily="34" charset="-120"/>
              </a:rPr>
              <a:t>yes</a:t>
            </a:r>
            <a:endParaRPr lang="en-US" sz="1000" dirty="0"/>
          </a:p>
        </p:txBody>
      </p:sp>
      <p:sp>
        <p:nvSpPr>
          <p:cNvPr id="31" name="Text 29"/>
          <p:cNvSpPr/>
          <p:nvPr/>
        </p:nvSpPr>
        <p:spPr>
          <a:xfrm>
            <a:off x="5285232" y="2926080"/>
            <a:ext cx="411480" cy="256032"/>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no</a:t>
            </a:r>
            <a:endParaRPr lang="en-US" sz="1000" dirty="0"/>
          </a:p>
        </p:txBody>
      </p:sp>
      <p:sp>
        <p:nvSpPr>
          <p:cNvPr id="32" name="Shape 30"/>
          <p:cNvSpPr/>
          <p:nvPr/>
        </p:nvSpPr>
        <p:spPr>
          <a:xfrm>
            <a:off x="3246120" y="3200400"/>
            <a:ext cx="1261872" cy="1325880"/>
          </a:xfrm>
          <a:prstGeom prst="roundRect">
            <a:avLst>
              <a:gd name="adj" fmla="val 4348"/>
            </a:avLst>
          </a:prstGeom>
          <a:solidFill>
            <a:srgbClr val="E9F5EC"/>
          </a:solidFill>
          <a:ln w="15875">
            <a:solidFill>
              <a:srgbClr val="2E8B57"/>
            </a:solidFill>
            <a:prstDash val="solid"/>
          </a:ln>
        </p:spPr>
      </p:sp>
      <p:sp>
        <p:nvSpPr>
          <p:cNvPr id="33" name="Text 31"/>
          <p:cNvSpPr/>
          <p:nvPr/>
        </p:nvSpPr>
        <p:spPr>
          <a:xfrm>
            <a:off x="3300984" y="3200400"/>
            <a:ext cx="1152144" cy="132588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the </a:t>
            </a:r>
            <a:r>
              <a:rPr lang="en-US" sz="1050" b="1" dirty="0">
                <a:solidFill>
                  <a:srgbClr val="262B3A"/>
                </a:solidFill>
                <a:latin typeface="Calibri" pitchFamily="34" charset="0"/>
                <a:ea typeface="Calibri" pitchFamily="34" charset="-122"/>
                <a:cs typeface="Calibri" pitchFamily="34" charset="-120"/>
              </a:rPr>
              <a:t>halogen</a:t>
            </a:r>
            <a:endParaRPr lang="en-US" sz="1050" dirty="0"/>
          </a:p>
          <a:p>
            <a:pPr algn="ctr" indent="0" marL="0">
              <a:buNone/>
            </a:pPr>
            <a:r>
              <a:rPr lang="en-US" sz="1050" dirty="0">
                <a:solidFill>
                  <a:srgbClr val="262B3A"/>
                </a:solidFill>
                <a:latin typeface="Calibri" pitchFamily="34" charset="0"/>
                <a:ea typeface="Calibri" pitchFamily="34" charset="-122"/>
                <a:cs typeface="Calibri" pitchFamily="34" charset="-120"/>
              </a:rPr>
              <a:t>Cl₂, Br₂ or I₂</a:t>
            </a:r>
            <a:endParaRPr lang="en-US" sz="1050" dirty="0"/>
          </a:p>
        </p:txBody>
      </p:sp>
      <p:sp>
        <p:nvSpPr>
          <p:cNvPr id="34" name="Shape 32"/>
          <p:cNvSpPr/>
          <p:nvPr/>
        </p:nvSpPr>
        <p:spPr>
          <a:xfrm>
            <a:off x="4590288" y="3200400"/>
            <a:ext cx="1261872" cy="1325880"/>
          </a:xfrm>
          <a:prstGeom prst="roundRect">
            <a:avLst>
              <a:gd name="adj" fmla="val 4348"/>
            </a:avLst>
          </a:prstGeom>
          <a:solidFill>
            <a:srgbClr val="FDEDE4"/>
          </a:solidFill>
          <a:ln w="15875">
            <a:solidFill>
              <a:srgbClr val="B8730A"/>
            </a:solidFill>
            <a:prstDash val="solid"/>
          </a:ln>
        </p:spPr>
      </p:sp>
      <p:sp>
        <p:nvSpPr>
          <p:cNvPr id="35" name="Text 33"/>
          <p:cNvSpPr/>
          <p:nvPr/>
        </p:nvSpPr>
        <p:spPr>
          <a:xfrm>
            <a:off x="4645152" y="3200400"/>
            <a:ext cx="1152144" cy="132588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oxygen</a:t>
            </a:r>
            <a:r>
              <a:rPr lang="en-US" sz="1050" dirty="0">
                <a:solidFill>
                  <a:srgbClr val="262B3A"/>
                </a:solidFill>
                <a:latin typeface="Calibri" pitchFamily="34" charset="0"/>
                <a:ea typeface="Calibri" pitchFamily="34" charset="-122"/>
                <a:cs typeface="Calibri" pitchFamily="34" charset="-120"/>
              </a:rPr>
              <a:t>, O₂ (from OH⁻)</a:t>
            </a:r>
            <a:endParaRPr lang="en-US" sz="1050" dirty="0"/>
          </a:p>
          <a:p>
            <a:pPr algn="ctr" indent="0" marL="0">
              <a:buNone/>
            </a:pPr>
            <a:r>
              <a:rPr lang="en-US" sz="1050" dirty="0">
                <a:solidFill>
                  <a:srgbClr val="262B3A"/>
                </a:solidFill>
                <a:latin typeface="Calibri" pitchFamily="34" charset="0"/>
                <a:ea typeface="Calibri" pitchFamily="34" charset="-122"/>
                <a:cs typeface="Calibri" pitchFamily="34" charset="-120"/>
              </a:rPr>
              <a:t>e.g. SO₄²⁻, NO₃⁻</a:t>
            </a:r>
            <a:endParaRPr lang="en-US" sz="1050" dirty="0"/>
          </a:p>
        </p:txBody>
      </p:sp>
      <p:sp>
        <p:nvSpPr>
          <p:cNvPr id="36" name="Text 34"/>
          <p:cNvSpPr/>
          <p:nvPr/>
        </p:nvSpPr>
        <p:spPr>
          <a:xfrm>
            <a:off x="548640" y="4663440"/>
            <a:ext cx="5303520" cy="274320"/>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Water provides the extra ions:  H₂O(l) ⇌ H⁺(aq) + OH⁻(aq)</a:t>
            </a:r>
            <a:endParaRPr lang="en-US" sz="1100" dirty="0"/>
          </a:p>
        </p:txBody>
      </p:sp>
      <p:sp>
        <p:nvSpPr>
          <p:cNvPr id="37" name="Text 35"/>
          <p:cNvSpPr/>
          <p:nvPr/>
        </p:nvSpPr>
        <p:spPr>
          <a:xfrm>
            <a:off x="548640" y="4956048"/>
            <a:ext cx="5303520" cy="256032"/>
          </a:xfrm>
          <a:prstGeom prst="rect">
            <a:avLst/>
          </a:prstGeom>
          <a:noFill/>
          <a:ln/>
        </p:spPr>
        <p:txBody>
          <a:bodyPr wrap="square" lIns="0" tIns="0" rIns="0" bIns="0" rtlCol="0" anchor="ctr"/>
          <a:lstStyle/>
          <a:p>
            <a:pPr algn="ctr" indent="0" marL="0">
              <a:buNone/>
            </a:pPr>
            <a:r>
              <a:rPr lang="en-US" sz="1050" i="1" dirty="0">
                <a:solidFill>
                  <a:srgbClr val="262B3A"/>
                </a:solidFill>
                <a:latin typeface="Calibri" pitchFamily="34" charset="0"/>
                <a:ea typeface="Calibri" pitchFamily="34" charset="-122"/>
                <a:cs typeface="Calibri" pitchFamily="34" charset="-120"/>
              </a:rPr>
              <a:t>Ions that are </a:t>
            </a:r>
            <a:r>
              <a:rPr lang="en-US" sz="1050" b="1" i="1" dirty="0">
                <a:solidFill>
                  <a:srgbClr val="262B3A"/>
                </a:solidFill>
                <a:latin typeface="Calibri" pitchFamily="34" charset="0"/>
                <a:ea typeface="Calibri" pitchFamily="34" charset="-122"/>
                <a:cs typeface="Calibri" pitchFamily="34" charset="-120"/>
              </a:rPr>
              <a:t>not</a:t>
            </a:r>
            <a:r>
              <a:rPr lang="en-US" sz="1050" i="1" dirty="0">
                <a:solidFill>
                  <a:srgbClr val="262B3A"/>
                </a:solidFill>
                <a:latin typeface="Calibri" pitchFamily="34" charset="0"/>
                <a:ea typeface="Calibri" pitchFamily="34" charset="-122"/>
                <a:cs typeface="Calibri" pitchFamily="34" charset="-120"/>
              </a:rPr>
              <a:t> discharged stay in the solution.</a:t>
            </a:r>
            <a:endParaRPr lang="en-US" sz="10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993392"/>
                <a:gridCol w="1097280"/>
                <a:gridCol w="1097280"/>
                <a:gridCol w="137160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Electrolyte (inert electrodes)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Cathode (−)</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Anode (+)</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Left in solution</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r>
              <a:tr h="402336">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a copper chloride solution</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copper</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chlorine</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water</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402336">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b sodium chloride solution</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hydrogen</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chlorine</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sodium hydroxide</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402336">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c sodium sulfate solution</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hydrogen</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oxygen</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sodium sulfate</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402336">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d water + sulfuric acid</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hydrogen</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oxygen</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sulfuric acid</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402336">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e molten lead bromide</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lead</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bromine</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bl>
          </a:graphicData>
        </a:graphic>
      </p:graphicFrame>
      <p:sp>
        <p:nvSpPr>
          <p:cNvPr id="39" name="Shape 36"/>
          <p:cNvSpPr/>
          <p:nvPr/>
        </p:nvSpPr>
        <p:spPr>
          <a:xfrm>
            <a:off x="6217920" y="3794760"/>
            <a:ext cx="5559552" cy="1920240"/>
          </a:xfrm>
          <a:prstGeom prst="roundRect">
            <a:avLst>
              <a:gd name="adj" fmla="val 2857"/>
            </a:avLst>
          </a:prstGeom>
          <a:solidFill>
            <a:srgbClr val="F8F5FC"/>
          </a:solidFill>
          <a:ln w="9525">
            <a:solidFill>
              <a:srgbClr val="DDD3EC"/>
            </a:solidFill>
            <a:prstDash val="solid"/>
          </a:ln>
        </p:spPr>
      </p:sp>
      <p:sp>
        <p:nvSpPr>
          <p:cNvPr id="40" name="Text 37"/>
          <p:cNvSpPr/>
          <p:nvPr/>
        </p:nvSpPr>
        <p:spPr>
          <a:xfrm>
            <a:off x="6382512" y="388620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Testing the gases</a:t>
            </a:r>
            <a:endParaRPr lang="en-US" sz="1300" dirty="0"/>
          </a:p>
        </p:txBody>
      </p:sp>
      <p:sp>
        <p:nvSpPr>
          <p:cNvPr id="41" name="Text 38"/>
          <p:cNvSpPr/>
          <p:nvPr/>
        </p:nvSpPr>
        <p:spPr>
          <a:xfrm>
            <a:off x="6382512" y="4215384"/>
            <a:ext cx="5230368" cy="142646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Hydrogen</a:t>
            </a:r>
            <a:r>
              <a:rPr lang="en-US" sz="1100" dirty="0">
                <a:solidFill>
                  <a:srgbClr val="262B3A"/>
                </a:solidFill>
                <a:latin typeface="Calibri" pitchFamily="34" charset="0"/>
                <a:ea typeface="Calibri" pitchFamily="34" charset="-122"/>
                <a:cs typeface="Calibri" pitchFamily="34" charset="-120"/>
              </a:rPr>
              <a:t>: lighted splint → squeaky pop.</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Oxygen</a:t>
            </a:r>
            <a:r>
              <a:rPr lang="en-US" sz="1100" dirty="0">
                <a:solidFill>
                  <a:srgbClr val="262B3A"/>
                </a:solidFill>
                <a:latin typeface="Calibri" pitchFamily="34" charset="0"/>
                <a:ea typeface="Calibri" pitchFamily="34" charset="-122"/>
                <a:cs typeface="Calibri" pitchFamily="34" charset="-120"/>
              </a:rPr>
              <a:t>: relights a </a:t>
            </a:r>
            <a:r>
              <a:rPr lang="en-US" sz="1100" b="1" dirty="0">
                <a:solidFill>
                  <a:srgbClr val="262B3A"/>
                </a:solidFill>
                <a:latin typeface="Calibri" pitchFamily="34" charset="0"/>
                <a:ea typeface="Calibri" pitchFamily="34" charset="-122"/>
                <a:cs typeface="Calibri" pitchFamily="34" charset="-120"/>
              </a:rPr>
              <a:t>glowing</a:t>
            </a:r>
            <a:r>
              <a:rPr lang="en-US" sz="1100" dirty="0">
                <a:solidFill>
                  <a:srgbClr val="262B3A"/>
                </a:solidFill>
                <a:latin typeface="Calibri" pitchFamily="34" charset="0"/>
                <a:ea typeface="Calibri" pitchFamily="34" charset="-122"/>
                <a:cs typeface="Calibri" pitchFamily="34" charset="-120"/>
              </a:rPr>
              <a:t> splint.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Chlorine</a:t>
            </a:r>
            <a:r>
              <a:rPr lang="en-US" sz="1100" dirty="0">
                <a:solidFill>
                  <a:srgbClr val="262B3A"/>
                </a:solidFill>
                <a:latin typeface="Calibri" pitchFamily="34" charset="0"/>
                <a:ea typeface="Calibri" pitchFamily="34" charset="-122"/>
                <a:cs typeface="Calibri" pitchFamily="34" charset="-120"/>
              </a:rPr>
              <a:t>: bleaches </a:t>
            </a:r>
            <a:r>
              <a:rPr lang="en-US" sz="1100" b="1" dirty="0">
                <a:solidFill>
                  <a:srgbClr val="262B3A"/>
                </a:solidFill>
                <a:latin typeface="Calibri" pitchFamily="34" charset="0"/>
                <a:ea typeface="Calibri" pitchFamily="34" charset="-122"/>
                <a:cs typeface="Calibri" pitchFamily="34" charset="-120"/>
              </a:rPr>
              <a:t>damp</a:t>
            </a:r>
            <a:r>
              <a:rPr lang="en-US" sz="1100" dirty="0">
                <a:solidFill>
                  <a:srgbClr val="262B3A"/>
                </a:solidFill>
                <a:latin typeface="Calibri" pitchFamily="34" charset="0"/>
                <a:ea typeface="Calibri" pitchFamily="34" charset="-122"/>
                <a:cs typeface="Calibri" pitchFamily="34" charset="-120"/>
              </a:rPr>
              <a:t> blue litmus paper (it may turn red first). Use a fume cupboard.</a:t>
            </a:r>
            <a:endParaRPr lang="en-US" sz="1100" dirty="0"/>
          </a:p>
        </p:txBody>
      </p:sp>
      <p:sp>
        <p:nvSpPr>
          <p:cNvPr id="42" name="Shape 39"/>
          <p:cNvSpPr/>
          <p:nvPr/>
        </p:nvSpPr>
        <p:spPr>
          <a:xfrm>
            <a:off x="411480" y="5833872"/>
            <a:ext cx="11368735" cy="530352"/>
          </a:xfrm>
          <a:prstGeom prst="rect">
            <a:avLst/>
          </a:prstGeom>
          <a:solidFill>
            <a:srgbClr val="FFF4E0"/>
          </a:solidFill>
          <a:ln w="6350">
            <a:solidFill>
              <a:srgbClr val="F1D9A8"/>
            </a:solidFill>
            <a:prstDash val="solid"/>
          </a:ln>
        </p:spPr>
      </p:sp>
      <p:sp>
        <p:nvSpPr>
          <p:cNvPr id="43" name="Shape 40"/>
          <p:cNvSpPr/>
          <p:nvPr/>
        </p:nvSpPr>
        <p:spPr>
          <a:xfrm>
            <a:off x="411480" y="5833872"/>
            <a:ext cx="82296" cy="530352"/>
          </a:xfrm>
          <a:prstGeom prst="rect">
            <a:avLst/>
          </a:prstGeom>
          <a:solidFill>
            <a:srgbClr val="E39A2F"/>
          </a:solidFill>
          <a:ln w="12700">
            <a:solidFill>
              <a:srgbClr val="E39A2F"/>
            </a:solidFill>
            <a:prstDash val="solid"/>
          </a:ln>
        </p:spPr>
      </p:sp>
      <p:sp>
        <p:nvSpPr>
          <p:cNvPr id="44" name="Text 4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Predict the products at each electrode for </a:t>
            </a:r>
            <a:r>
              <a:rPr lang="en-US" sz="1150" b="1" dirty="0">
                <a:solidFill>
                  <a:srgbClr val="262B3A"/>
                </a:solidFill>
                <a:latin typeface="Calibri" pitchFamily="34" charset="0"/>
                <a:ea typeface="Calibri" pitchFamily="34" charset="-122"/>
                <a:cs typeface="Calibri" pitchFamily="34" charset="-120"/>
              </a:rPr>
              <a:t>potassium bromide</a:t>
            </a:r>
            <a:r>
              <a:rPr lang="en-US" sz="1150" dirty="0">
                <a:solidFill>
                  <a:srgbClr val="262B3A"/>
                </a:solidFill>
                <a:latin typeface="Calibri" pitchFamily="34" charset="0"/>
                <a:ea typeface="Calibri" pitchFamily="34" charset="-122"/>
                <a:cs typeface="Calibri" pitchFamily="34" charset="-120"/>
              </a:rPr>
              <a:t> solution and for </a:t>
            </a:r>
            <a:r>
              <a:rPr lang="en-US" sz="1150" b="1" dirty="0">
                <a:solidFill>
                  <a:srgbClr val="262B3A"/>
                </a:solidFill>
                <a:latin typeface="Calibri" pitchFamily="34" charset="0"/>
                <a:ea typeface="Calibri" pitchFamily="34" charset="-122"/>
                <a:cs typeface="Calibri" pitchFamily="34" charset="-120"/>
              </a:rPr>
              <a:t>copper sulfate</a:t>
            </a:r>
            <a:r>
              <a:rPr lang="en-US" sz="1150" dirty="0">
                <a:solidFill>
                  <a:srgbClr val="262B3A"/>
                </a:solidFill>
                <a:latin typeface="Calibri" pitchFamily="34" charset="0"/>
                <a:ea typeface="Calibri" pitchFamily="34" charset="-122"/>
                <a:cs typeface="Calibri" pitchFamily="34" charset="-120"/>
              </a:rPr>
              <a:t> solution (inert electrodes).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Method: writing half equations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3.27 • ion → atom or molecule; balance atoms; add electrons to balance charge; check</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3.27 method  |  31</a:t>
            </a:r>
            <a:endParaRPr lang="en-US" sz="1000" dirty="0"/>
          </a:p>
        </p:txBody>
      </p:sp>
      <p:sp>
        <p:nvSpPr>
          <p:cNvPr id="10" name="Text 8"/>
          <p:cNvSpPr/>
          <p:nvPr/>
        </p:nvSpPr>
        <p:spPr>
          <a:xfrm>
            <a:off x="4480560" y="1170432"/>
            <a:ext cx="3566160" cy="310896"/>
          </a:xfrm>
          <a:prstGeom prst="rect">
            <a:avLst/>
          </a:prstGeom>
          <a:noFill/>
          <a:ln/>
        </p:spPr>
        <p:txBody>
          <a:bodyPr wrap="square" lIns="0" tIns="0" rIns="0" bIns="0" rtlCol="0" anchor="ctr"/>
          <a:lstStyle/>
          <a:p>
            <a:pPr algn="ctr" indent="0" marL="0">
              <a:buNone/>
            </a:pPr>
            <a:r>
              <a:rPr lang="en-US" sz="1200" b="1" dirty="0">
                <a:solidFill>
                  <a:srgbClr val="2A2F3A"/>
                </a:solidFill>
                <a:latin typeface="Calibri" pitchFamily="34" charset="0"/>
                <a:ea typeface="Calibri" pitchFamily="34" charset="-122"/>
                <a:cs typeface="Calibri" pitchFamily="34" charset="-120"/>
              </a:rPr>
              <a:t>Cathode (−)</a:t>
            </a:r>
            <a:r>
              <a:rPr lang="en-US" sz="1200" dirty="0">
                <a:solidFill>
                  <a:srgbClr val="2A2F3A"/>
                </a:solidFill>
                <a:latin typeface="Calibri" pitchFamily="34" charset="0"/>
                <a:ea typeface="Calibri" pitchFamily="34" charset="-122"/>
                <a:cs typeface="Calibri" pitchFamily="34" charset="-120"/>
              </a:rPr>
              <a:t>: H⁺ ions in NaCl(aq)</a:t>
            </a:r>
            <a:endParaRPr lang="en-US" sz="1200" dirty="0"/>
          </a:p>
        </p:txBody>
      </p:sp>
      <p:sp>
        <p:nvSpPr>
          <p:cNvPr id="11" name="Text 9"/>
          <p:cNvSpPr/>
          <p:nvPr/>
        </p:nvSpPr>
        <p:spPr>
          <a:xfrm>
            <a:off x="8183880" y="1170432"/>
            <a:ext cx="3593592" cy="310896"/>
          </a:xfrm>
          <a:prstGeom prst="rect">
            <a:avLst/>
          </a:prstGeom>
          <a:noFill/>
          <a:ln/>
        </p:spPr>
        <p:txBody>
          <a:bodyPr wrap="square" lIns="0" tIns="0" rIns="0" bIns="0" rtlCol="0" anchor="ctr"/>
          <a:lstStyle/>
          <a:p>
            <a:pPr algn="ctr" indent="0" marL="0">
              <a:buNone/>
            </a:pPr>
            <a:r>
              <a:rPr lang="en-US" sz="1200" b="1" dirty="0">
                <a:solidFill>
                  <a:srgbClr val="C8414C"/>
                </a:solidFill>
                <a:latin typeface="Calibri" pitchFamily="34" charset="0"/>
                <a:ea typeface="Calibri" pitchFamily="34" charset="-122"/>
                <a:cs typeface="Calibri" pitchFamily="34" charset="-120"/>
              </a:rPr>
              <a:t>Anode (+)</a:t>
            </a:r>
            <a:r>
              <a:rPr lang="en-US" sz="1200" dirty="0">
                <a:solidFill>
                  <a:srgbClr val="C8414C"/>
                </a:solidFill>
                <a:latin typeface="Calibri" pitchFamily="34" charset="0"/>
                <a:ea typeface="Calibri" pitchFamily="34" charset="-122"/>
                <a:cs typeface="Calibri" pitchFamily="34" charset="-120"/>
              </a:rPr>
              <a:t>: Cl⁻ ions in NaCl(aq)</a:t>
            </a:r>
            <a:endParaRPr lang="en-US" sz="1200" dirty="0"/>
          </a:p>
        </p:txBody>
      </p:sp>
      <p:sp>
        <p:nvSpPr>
          <p:cNvPr id="12" name="Shape 10"/>
          <p:cNvSpPr/>
          <p:nvPr/>
        </p:nvSpPr>
        <p:spPr>
          <a:xfrm>
            <a:off x="411480" y="1554480"/>
            <a:ext cx="3931920" cy="932688"/>
          </a:xfrm>
          <a:prstGeom prst="roundRect">
            <a:avLst>
              <a:gd name="adj" fmla="val 4902"/>
            </a:avLst>
          </a:prstGeom>
          <a:solidFill>
            <a:srgbClr val="F8F5FC"/>
          </a:solidFill>
          <a:ln w="12700">
            <a:solidFill>
              <a:srgbClr val="DDD3EC"/>
            </a:solidFill>
            <a:prstDash val="solid"/>
          </a:ln>
        </p:spPr>
      </p:sp>
      <p:sp>
        <p:nvSpPr>
          <p:cNvPr id="13" name="Shape 11"/>
          <p:cNvSpPr/>
          <p:nvPr/>
        </p:nvSpPr>
        <p:spPr>
          <a:xfrm>
            <a:off x="530352" y="1645920"/>
            <a:ext cx="365760" cy="365760"/>
          </a:xfrm>
          <a:prstGeom prst="ellipse">
            <a:avLst/>
          </a:prstGeom>
          <a:solidFill>
            <a:srgbClr val="6A3FA0"/>
          </a:solidFill>
          <a:ln w="19050">
            <a:solidFill>
              <a:srgbClr val="FFFFFF"/>
            </a:solidFill>
            <a:prstDash val="solid"/>
          </a:ln>
        </p:spPr>
      </p:sp>
      <p:sp>
        <p:nvSpPr>
          <p:cNvPr id="14" name="Text 12"/>
          <p:cNvSpPr/>
          <p:nvPr/>
        </p:nvSpPr>
        <p:spPr>
          <a:xfrm>
            <a:off x="530352" y="1645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3"/>
          <p:cNvSpPr/>
          <p:nvPr/>
        </p:nvSpPr>
        <p:spPr>
          <a:xfrm>
            <a:off x="1024128" y="1609344"/>
            <a:ext cx="3246120" cy="274320"/>
          </a:xfrm>
          <a:prstGeom prst="rect">
            <a:avLst/>
          </a:prstGeom>
          <a:noFill/>
          <a:ln/>
        </p:spPr>
        <p:txBody>
          <a:bodyPr wrap="square" lIns="0" tIns="0" rIns="0" bIns="0" rtlCol="0" anchor="ctr"/>
          <a:lstStyle/>
          <a:p>
            <a:pPr algn="l" indent="0" marL="0">
              <a:buNone/>
            </a:pPr>
            <a:r>
              <a:rPr lang="en-US" sz="1200" b="1" dirty="0">
                <a:solidFill>
                  <a:srgbClr val="2A1F3D"/>
                </a:solidFill>
                <a:latin typeface="Calibri" pitchFamily="34" charset="0"/>
                <a:ea typeface="Calibri" pitchFamily="34" charset="-122"/>
                <a:cs typeface="Calibri" pitchFamily="34" charset="-120"/>
              </a:rPr>
              <a:t>Write the ion and what it forms</a:t>
            </a:r>
            <a:endParaRPr lang="en-US" sz="1200" dirty="0"/>
          </a:p>
        </p:txBody>
      </p:sp>
      <p:sp>
        <p:nvSpPr>
          <p:cNvPr id="16" name="Text 14"/>
          <p:cNvSpPr/>
          <p:nvPr/>
        </p:nvSpPr>
        <p:spPr>
          <a:xfrm>
            <a:off x="1024128" y="1883664"/>
            <a:ext cx="3246120" cy="566928"/>
          </a:xfrm>
          <a:prstGeom prst="rect">
            <a:avLst/>
          </a:prstGeom>
          <a:noFill/>
          <a:ln/>
        </p:spPr>
        <p:txBody>
          <a:bodyPr wrap="square" lIns="0" tIns="0" rIns="0" bIns="0" rtlCol="0" anchor="t"/>
          <a:lstStyle/>
          <a:p>
            <a:pPr algn="l" indent="0" marL="0">
              <a:buNone/>
            </a:pPr>
            <a:r>
              <a:rPr lang="en-US" sz="1000" i="1" dirty="0">
                <a:solidFill>
                  <a:srgbClr val="6B7385"/>
                </a:solidFill>
                <a:latin typeface="Calibri" pitchFamily="34" charset="0"/>
                <a:ea typeface="Calibri" pitchFamily="34" charset="-122"/>
                <a:cs typeface="Calibri" pitchFamily="34" charset="-120"/>
              </a:rPr>
              <a:t>Cations form the element at the cathode; anions form the element at the anode. Gases are diatomic: H₂, O₂, Cl₂, Br₂.</a:t>
            </a:r>
            <a:endParaRPr lang="en-US" sz="1000" dirty="0"/>
          </a:p>
        </p:txBody>
      </p:sp>
      <p:sp>
        <p:nvSpPr>
          <p:cNvPr id="17" name="Shape 15"/>
          <p:cNvSpPr/>
          <p:nvPr/>
        </p:nvSpPr>
        <p:spPr>
          <a:xfrm>
            <a:off x="4480560" y="1554480"/>
            <a:ext cx="3566160" cy="932688"/>
          </a:xfrm>
          <a:prstGeom prst="roundRect">
            <a:avLst>
              <a:gd name="adj" fmla="val 4902"/>
            </a:avLst>
          </a:prstGeom>
          <a:solidFill>
            <a:srgbClr val="FFFFFF"/>
          </a:solidFill>
          <a:ln w="12700">
            <a:solidFill>
              <a:srgbClr val="DDD3EC"/>
            </a:solidFill>
            <a:prstDash val="solid"/>
          </a:ln>
        </p:spPr>
      </p:sp>
      <p:sp>
        <p:nvSpPr>
          <p:cNvPr id="18" name="Text 16"/>
          <p:cNvSpPr/>
          <p:nvPr/>
        </p:nvSpPr>
        <p:spPr>
          <a:xfrm>
            <a:off x="4572000" y="1554480"/>
            <a:ext cx="3383280" cy="932688"/>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H⁺(aq) → H₂(g)</a:t>
            </a:r>
            <a:endParaRPr lang="en-US" sz="1400" dirty="0"/>
          </a:p>
        </p:txBody>
      </p:sp>
      <p:sp>
        <p:nvSpPr>
          <p:cNvPr id="19" name="Shape 17"/>
          <p:cNvSpPr/>
          <p:nvPr/>
        </p:nvSpPr>
        <p:spPr>
          <a:xfrm>
            <a:off x="8183880" y="1554480"/>
            <a:ext cx="3593592" cy="932688"/>
          </a:xfrm>
          <a:prstGeom prst="roundRect">
            <a:avLst>
              <a:gd name="adj" fmla="val 4902"/>
            </a:avLst>
          </a:prstGeom>
          <a:solidFill>
            <a:srgbClr val="FFFFFF"/>
          </a:solidFill>
          <a:ln w="12700">
            <a:solidFill>
              <a:srgbClr val="DDD3EC"/>
            </a:solidFill>
            <a:prstDash val="solid"/>
          </a:ln>
        </p:spPr>
      </p:sp>
      <p:sp>
        <p:nvSpPr>
          <p:cNvPr id="20" name="Text 18"/>
          <p:cNvSpPr/>
          <p:nvPr/>
        </p:nvSpPr>
        <p:spPr>
          <a:xfrm>
            <a:off x="8275320" y="1554480"/>
            <a:ext cx="3410712" cy="932688"/>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Cl⁻(aq) → Cl₂(g)</a:t>
            </a:r>
            <a:endParaRPr lang="en-US" sz="1400" dirty="0"/>
          </a:p>
        </p:txBody>
      </p:sp>
      <p:sp>
        <p:nvSpPr>
          <p:cNvPr id="21" name="Shape 19"/>
          <p:cNvSpPr/>
          <p:nvPr/>
        </p:nvSpPr>
        <p:spPr>
          <a:xfrm>
            <a:off x="411480" y="2578608"/>
            <a:ext cx="3931920" cy="932688"/>
          </a:xfrm>
          <a:prstGeom prst="roundRect">
            <a:avLst>
              <a:gd name="adj" fmla="val 4902"/>
            </a:avLst>
          </a:prstGeom>
          <a:solidFill>
            <a:srgbClr val="F8F5FC"/>
          </a:solidFill>
          <a:ln w="12700">
            <a:solidFill>
              <a:srgbClr val="DDD3EC"/>
            </a:solidFill>
            <a:prstDash val="solid"/>
          </a:ln>
        </p:spPr>
      </p:sp>
      <p:sp>
        <p:nvSpPr>
          <p:cNvPr id="22" name="Shape 20"/>
          <p:cNvSpPr/>
          <p:nvPr/>
        </p:nvSpPr>
        <p:spPr>
          <a:xfrm>
            <a:off x="530352" y="2670048"/>
            <a:ext cx="365760" cy="365760"/>
          </a:xfrm>
          <a:prstGeom prst="ellipse">
            <a:avLst/>
          </a:prstGeom>
          <a:solidFill>
            <a:srgbClr val="6A3FA0"/>
          </a:solidFill>
          <a:ln w="19050">
            <a:solidFill>
              <a:srgbClr val="FFFFFF"/>
            </a:solidFill>
            <a:prstDash val="solid"/>
          </a:ln>
        </p:spPr>
      </p:sp>
      <p:sp>
        <p:nvSpPr>
          <p:cNvPr id="23" name="Text 21"/>
          <p:cNvSpPr/>
          <p:nvPr/>
        </p:nvSpPr>
        <p:spPr>
          <a:xfrm>
            <a:off x="530352" y="26700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4" name="Text 22"/>
          <p:cNvSpPr/>
          <p:nvPr/>
        </p:nvSpPr>
        <p:spPr>
          <a:xfrm>
            <a:off x="1024128" y="2633472"/>
            <a:ext cx="3246120" cy="274320"/>
          </a:xfrm>
          <a:prstGeom prst="rect">
            <a:avLst/>
          </a:prstGeom>
          <a:noFill/>
          <a:ln/>
        </p:spPr>
        <p:txBody>
          <a:bodyPr wrap="square" lIns="0" tIns="0" rIns="0" bIns="0" rtlCol="0" anchor="ctr"/>
          <a:lstStyle/>
          <a:p>
            <a:pPr algn="l" indent="0" marL="0">
              <a:buNone/>
            </a:pPr>
            <a:r>
              <a:rPr lang="en-US" sz="1200" b="1" dirty="0">
                <a:solidFill>
                  <a:srgbClr val="2A1F3D"/>
                </a:solidFill>
                <a:latin typeface="Calibri" pitchFamily="34" charset="0"/>
                <a:ea typeface="Calibri" pitchFamily="34" charset="-122"/>
                <a:cs typeface="Calibri" pitchFamily="34" charset="-120"/>
              </a:rPr>
              <a:t>Balance the atoms</a:t>
            </a:r>
            <a:endParaRPr lang="en-US" sz="1200" dirty="0"/>
          </a:p>
        </p:txBody>
      </p:sp>
      <p:sp>
        <p:nvSpPr>
          <p:cNvPr id="25" name="Text 23"/>
          <p:cNvSpPr/>
          <p:nvPr/>
        </p:nvSpPr>
        <p:spPr>
          <a:xfrm>
            <a:off x="1024128" y="2907792"/>
            <a:ext cx="3246120" cy="566928"/>
          </a:xfrm>
          <a:prstGeom prst="rect">
            <a:avLst/>
          </a:prstGeom>
          <a:noFill/>
          <a:ln/>
        </p:spPr>
        <p:txBody>
          <a:bodyPr wrap="square" lIns="0" tIns="0" rIns="0" bIns="0" rtlCol="0" anchor="t"/>
          <a:lstStyle/>
          <a:p>
            <a:pPr algn="l" indent="0" marL="0">
              <a:buNone/>
            </a:pPr>
            <a:r>
              <a:rPr lang="en-US" sz="1000" i="1" dirty="0">
                <a:solidFill>
                  <a:srgbClr val="6B7385"/>
                </a:solidFill>
                <a:latin typeface="Calibri" pitchFamily="34" charset="0"/>
                <a:ea typeface="Calibri" pitchFamily="34" charset="-122"/>
                <a:cs typeface="Calibri" pitchFamily="34" charset="-120"/>
              </a:rPr>
              <a:t>Put a number in front of the ion.</a:t>
            </a:r>
            <a:endParaRPr lang="en-US" sz="1000" dirty="0"/>
          </a:p>
        </p:txBody>
      </p:sp>
      <p:sp>
        <p:nvSpPr>
          <p:cNvPr id="26" name="Shape 24"/>
          <p:cNvSpPr/>
          <p:nvPr/>
        </p:nvSpPr>
        <p:spPr>
          <a:xfrm>
            <a:off x="4480560" y="2578608"/>
            <a:ext cx="3566160" cy="932688"/>
          </a:xfrm>
          <a:prstGeom prst="roundRect">
            <a:avLst>
              <a:gd name="adj" fmla="val 4902"/>
            </a:avLst>
          </a:prstGeom>
          <a:solidFill>
            <a:srgbClr val="FFFFFF"/>
          </a:solidFill>
          <a:ln w="12700">
            <a:solidFill>
              <a:srgbClr val="DDD3EC"/>
            </a:solidFill>
            <a:prstDash val="solid"/>
          </a:ln>
        </p:spPr>
      </p:sp>
      <p:sp>
        <p:nvSpPr>
          <p:cNvPr id="27" name="Text 25"/>
          <p:cNvSpPr/>
          <p:nvPr/>
        </p:nvSpPr>
        <p:spPr>
          <a:xfrm>
            <a:off x="4572000" y="2578608"/>
            <a:ext cx="3383280" cy="932688"/>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2H⁺(aq) → H₂(g)</a:t>
            </a:r>
            <a:endParaRPr lang="en-US" sz="1400" dirty="0"/>
          </a:p>
        </p:txBody>
      </p:sp>
      <p:sp>
        <p:nvSpPr>
          <p:cNvPr id="28" name="Shape 26"/>
          <p:cNvSpPr/>
          <p:nvPr/>
        </p:nvSpPr>
        <p:spPr>
          <a:xfrm>
            <a:off x="8183880" y="2578608"/>
            <a:ext cx="3593592" cy="932688"/>
          </a:xfrm>
          <a:prstGeom prst="roundRect">
            <a:avLst>
              <a:gd name="adj" fmla="val 4902"/>
            </a:avLst>
          </a:prstGeom>
          <a:solidFill>
            <a:srgbClr val="FFFFFF"/>
          </a:solidFill>
          <a:ln w="12700">
            <a:solidFill>
              <a:srgbClr val="DDD3EC"/>
            </a:solidFill>
            <a:prstDash val="solid"/>
          </a:ln>
        </p:spPr>
      </p:sp>
      <p:sp>
        <p:nvSpPr>
          <p:cNvPr id="29" name="Text 27"/>
          <p:cNvSpPr/>
          <p:nvPr/>
        </p:nvSpPr>
        <p:spPr>
          <a:xfrm>
            <a:off x="8275320" y="2578608"/>
            <a:ext cx="3410712" cy="932688"/>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2Cl⁻(aq) → Cl₂(g)</a:t>
            </a:r>
            <a:endParaRPr lang="en-US" sz="1400" dirty="0"/>
          </a:p>
        </p:txBody>
      </p:sp>
      <p:sp>
        <p:nvSpPr>
          <p:cNvPr id="30" name="Shape 28"/>
          <p:cNvSpPr/>
          <p:nvPr/>
        </p:nvSpPr>
        <p:spPr>
          <a:xfrm>
            <a:off x="411480" y="3602736"/>
            <a:ext cx="3931920" cy="932688"/>
          </a:xfrm>
          <a:prstGeom prst="roundRect">
            <a:avLst>
              <a:gd name="adj" fmla="val 4902"/>
            </a:avLst>
          </a:prstGeom>
          <a:solidFill>
            <a:srgbClr val="F8F5FC"/>
          </a:solidFill>
          <a:ln w="12700">
            <a:solidFill>
              <a:srgbClr val="DDD3EC"/>
            </a:solidFill>
            <a:prstDash val="solid"/>
          </a:ln>
        </p:spPr>
      </p:sp>
      <p:sp>
        <p:nvSpPr>
          <p:cNvPr id="31" name="Shape 29"/>
          <p:cNvSpPr/>
          <p:nvPr/>
        </p:nvSpPr>
        <p:spPr>
          <a:xfrm>
            <a:off x="530352" y="3694176"/>
            <a:ext cx="365760" cy="365760"/>
          </a:xfrm>
          <a:prstGeom prst="ellipse">
            <a:avLst/>
          </a:prstGeom>
          <a:solidFill>
            <a:srgbClr val="6A3FA0"/>
          </a:solidFill>
          <a:ln w="19050">
            <a:solidFill>
              <a:srgbClr val="FFFFFF"/>
            </a:solidFill>
            <a:prstDash val="solid"/>
          </a:ln>
        </p:spPr>
      </p:sp>
      <p:sp>
        <p:nvSpPr>
          <p:cNvPr id="32" name="Text 30"/>
          <p:cNvSpPr/>
          <p:nvPr/>
        </p:nvSpPr>
        <p:spPr>
          <a:xfrm>
            <a:off x="530352" y="36941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3" name="Text 31"/>
          <p:cNvSpPr/>
          <p:nvPr/>
        </p:nvSpPr>
        <p:spPr>
          <a:xfrm>
            <a:off x="1024128" y="3657600"/>
            <a:ext cx="3246120" cy="274320"/>
          </a:xfrm>
          <a:prstGeom prst="rect">
            <a:avLst/>
          </a:prstGeom>
          <a:noFill/>
          <a:ln/>
        </p:spPr>
        <p:txBody>
          <a:bodyPr wrap="square" lIns="0" tIns="0" rIns="0" bIns="0" rtlCol="0" anchor="ctr"/>
          <a:lstStyle/>
          <a:p>
            <a:pPr algn="l" indent="0" marL="0">
              <a:buNone/>
            </a:pPr>
            <a:r>
              <a:rPr lang="en-US" sz="1200" b="1" dirty="0">
                <a:solidFill>
                  <a:srgbClr val="2A1F3D"/>
                </a:solidFill>
                <a:latin typeface="Calibri" pitchFamily="34" charset="0"/>
                <a:ea typeface="Calibri" pitchFamily="34" charset="-122"/>
                <a:cs typeface="Calibri" pitchFamily="34" charset="-120"/>
              </a:rPr>
              <a:t>Add electrons to balance the charge</a:t>
            </a:r>
            <a:endParaRPr lang="en-US" sz="1200" dirty="0"/>
          </a:p>
        </p:txBody>
      </p:sp>
      <p:sp>
        <p:nvSpPr>
          <p:cNvPr id="34" name="Text 32"/>
          <p:cNvSpPr/>
          <p:nvPr/>
        </p:nvSpPr>
        <p:spPr>
          <a:xfrm>
            <a:off x="1024128" y="3931920"/>
            <a:ext cx="3246120" cy="566928"/>
          </a:xfrm>
          <a:prstGeom prst="rect">
            <a:avLst/>
          </a:prstGeom>
          <a:noFill/>
          <a:ln/>
        </p:spPr>
        <p:txBody>
          <a:bodyPr wrap="square" lIns="0" tIns="0" rIns="0" bIns="0" rtlCol="0" anchor="t"/>
          <a:lstStyle/>
          <a:p>
            <a:pPr algn="l" indent="0" marL="0">
              <a:buNone/>
            </a:pPr>
            <a:r>
              <a:rPr lang="en-US" sz="1000" i="1" dirty="0">
                <a:solidFill>
                  <a:srgbClr val="6B7385"/>
                </a:solidFill>
                <a:latin typeface="Calibri" pitchFamily="34" charset="0"/>
                <a:ea typeface="Calibri" pitchFamily="34" charset="-122"/>
                <a:cs typeface="Calibri" pitchFamily="34" charset="-120"/>
              </a:rPr>
              <a:t>Cathode: electrons on the LEFT (gained). Anode: electrons on the RIGHT (lost). No state symbol on e⁻.</a:t>
            </a:r>
            <a:endParaRPr lang="en-US" sz="1000" dirty="0"/>
          </a:p>
        </p:txBody>
      </p:sp>
      <p:sp>
        <p:nvSpPr>
          <p:cNvPr id="35" name="Shape 33"/>
          <p:cNvSpPr/>
          <p:nvPr/>
        </p:nvSpPr>
        <p:spPr>
          <a:xfrm>
            <a:off x="4480560" y="3602736"/>
            <a:ext cx="3566160" cy="932688"/>
          </a:xfrm>
          <a:prstGeom prst="roundRect">
            <a:avLst>
              <a:gd name="adj" fmla="val 4902"/>
            </a:avLst>
          </a:prstGeom>
          <a:solidFill>
            <a:srgbClr val="FFFFFF"/>
          </a:solidFill>
          <a:ln w="12700">
            <a:solidFill>
              <a:srgbClr val="DDD3EC"/>
            </a:solidFill>
            <a:prstDash val="solid"/>
          </a:ln>
        </p:spPr>
      </p:sp>
      <p:sp>
        <p:nvSpPr>
          <p:cNvPr id="36" name="Text 34"/>
          <p:cNvSpPr/>
          <p:nvPr/>
        </p:nvSpPr>
        <p:spPr>
          <a:xfrm>
            <a:off x="4572000" y="3602736"/>
            <a:ext cx="3383280" cy="932688"/>
          </a:xfrm>
          <a:prstGeom prst="rect">
            <a:avLst/>
          </a:prstGeom>
          <a:noFill/>
          <a:ln/>
        </p:spPr>
        <p:txBody>
          <a:bodyPr wrap="square" lIns="0" tIns="0" rIns="0" bIns="0" rtlCol="0" anchor="ctr"/>
          <a:lstStyle/>
          <a:p>
            <a:pPr algn="ctr" indent="0" marL="0">
              <a:buNone/>
            </a:pPr>
            <a:r>
              <a:rPr lang="en-US" sz="1400" b="1" dirty="0">
                <a:solidFill>
                  <a:srgbClr val="C8414C"/>
                </a:solidFill>
                <a:latin typeface="Calibri" pitchFamily="34" charset="0"/>
                <a:ea typeface="Calibri" pitchFamily="34" charset="-122"/>
                <a:cs typeface="Calibri" pitchFamily="34" charset="-120"/>
              </a:rPr>
              <a:t>2H⁺(aq) + 2e⁻ → H₂(g)</a:t>
            </a:r>
            <a:endParaRPr lang="en-US" sz="1400" dirty="0"/>
          </a:p>
        </p:txBody>
      </p:sp>
      <p:sp>
        <p:nvSpPr>
          <p:cNvPr id="37" name="Shape 35"/>
          <p:cNvSpPr/>
          <p:nvPr/>
        </p:nvSpPr>
        <p:spPr>
          <a:xfrm>
            <a:off x="8183880" y="3602736"/>
            <a:ext cx="3593592" cy="932688"/>
          </a:xfrm>
          <a:prstGeom prst="roundRect">
            <a:avLst>
              <a:gd name="adj" fmla="val 4902"/>
            </a:avLst>
          </a:prstGeom>
          <a:solidFill>
            <a:srgbClr val="FFFFFF"/>
          </a:solidFill>
          <a:ln w="12700">
            <a:solidFill>
              <a:srgbClr val="DDD3EC"/>
            </a:solidFill>
            <a:prstDash val="solid"/>
          </a:ln>
        </p:spPr>
      </p:sp>
      <p:sp>
        <p:nvSpPr>
          <p:cNvPr id="38" name="Text 36"/>
          <p:cNvSpPr/>
          <p:nvPr/>
        </p:nvSpPr>
        <p:spPr>
          <a:xfrm>
            <a:off x="8275320" y="3602736"/>
            <a:ext cx="3410712" cy="932688"/>
          </a:xfrm>
          <a:prstGeom prst="rect">
            <a:avLst/>
          </a:prstGeom>
          <a:noFill/>
          <a:ln/>
        </p:spPr>
        <p:txBody>
          <a:bodyPr wrap="square" lIns="0" tIns="0" rIns="0" bIns="0" rtlCol="0" anchor="ctr"/>
          <a:lstStyle/>
          <a:p>
            <a:pPr algn="ctr" indent="0" marL="0">
              <a:buNone/>
            </a:pPr>
            <a:r>
              <a:rPr lang="en-US" sz="1400" b="1" dirty="0">
                <a:solidFill>
                  <a:srgbClr val="C8414C"/>
                </a:solidFill>
                <a:latin typeface="Calibri" pitchFamily="34" charset="0"/>
                <a:ea typeface="Calibri" pitchFamily="34" charset="-122"/>
                <a:cs typeface="Calibri" pitchFamily="34" charset="-120"/>
              </a:rPr>
              <a:t>2Cl⁻(aq) → Cl₂(g) + 2e⁻</a:t>
            </a:r>
            <a:endParaRPr lang="en-US" sz="1400" dirty="0"/>
          </a:p>
        </p:txBody>
      </p:sp>
      <p:sp>
        <p:nvSpPr>
          <p:cNvPr id="39" name="Shape 37"/>
          <p:cNvSpPr/>
          <p:nvPr/>
        </p:nvSpPr>
        <p:spPr>
          <a:xfrm>
            <a:off x="411480" y="4626864"/>
            <a:ext cx="3931920" cy="932688"/>
          </a:xfrm>
          <a:prstGeom prst="roundRect">
            <a:avLst>
              <a:gd name="adj" fmla="val 4902"/>
            </a:avLst>
          </a:prstGeom>
          <a:solidFill>
            <a:srgbClr val="F8F5FC"/>
          </a:solidFill>
          <a:ln w="12700">
            <a:solidFill>
              <a:srgbClr val="DDD3EC"/>
            </a:solidFill>
            <a:prstDash val="solid"/>
          </a:ln>
        </p:spPr>
      </p:sp>
      <p:sp>
        <p:nvSpPr>
          <p:cNvPr id="40" name="Shape 38"/>
          <p:cNvSpPr/>
          <p:nvPr/>
        </p:nvSpPr>
        <p:spPr>
          <a:xfrm>
            <a:off x="530352" y="4718304"/>
            <a:ext cx="365760" cy="365760"/>
          </a:xfrm>
          <a:prstGeom prst="ellipse">
            <a:avLst/>
          </a:prstGeom>
          <a:solidFill>
            <a:srgbClr val="6A3FA0"/>
          </a:solidFill>
          <a:ln w="19050">
            <a:solidFill>
              <a:srgbClr val="FFFFFF"/>
            </a:solidFill>
            <a:prstDash val="solid"/>
          </a:ln>
        </p:spPr>
      </p:sp>
      <p:sp>
        <p:nvSpPr>
          <p:cNvPr id="41" name="Text 39"/>
          <p:cNvSpPr/>
          <p:nvPr/>
        </p:nvSpPr>
        <p:spPr>
          <a:xfrm>
            <a:off x="530352" y="47183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2" name="Text 40"/>
          <p:cNvSpPr/>
          <p:nvPr/>
        </p:nvSpPr>
        <p:spPr>
          <a:xfrm>
            <a:off x="1024128" y="4681728"/>
            <a:ext cx="3246120" cy="274320"/>
          </a:xfrm>
          <a:prstGeom prst="rect">
            <a:avLst/>
          </a:prstGeom>
          <a:noFill/>
          <a:ln/>
        </p:spPr>
        <p:txBody>
          <a:bodyPr wrap="square" lIns="0" tIns="0" rIns="0" bIns="0" rtlCol="0" anchor="ctr"/>
          <a:lstStyle/>
          <a:p>
            <a:pPr algn="l" indent="0" marL="0">
              <a:buNone/>
            </a:pPr>
            <a:r>
              <a:rPr lang="en-US" sz="1200" b="1" dirty="0">
                <a:solidFill>
                  <a:srgbClr val="2A1F3D"/>
                </a:solidFill>
                <a:latin typeface="Calibri" pitchFamily="34" charset="0"/>
                <a:ea typeface="Calibri" pitchFamily="34" charset="-122"/>
                <a:cs typeface="Calibri" pitchFamily="34" charset="-120"/>
              </a:rPr>
              <a:t>Check atoms AND charges; name it</a:t>
            </a:r>
            <a:endParaRPr lang="en-US" sz="1200" dirty="0"/>
          </a:p>
        </p:txBody>
      </p:sp>
      <p:sp>
        <p:nvSpPr>
          <p:cNvPr id="43" name="Text 41"/>
          <p:cNvSpPr/>
          <p:nvPr/>
        </p:nvSpPr>
        <p:spPr>
          <a:xfrm>
            <a:off x="1024128" y="4956048"/>
            <a:ext cx="3246120" cy="566928"/>
          </a:xfrm>
          <a:prstGeom prst="rect">
            <a:avLst/>
          </a:prstGeom>
          <a:noFill/>
          <a:ln/>
        </p:spPr>
        <p:txBody>
          <a:bodyPr wrap="square" lIns="0" tIns="0" rIns="0" bIns="0" rtlCol="0" anchor="t"/>
          <a:lstStyle/>
          <a:p>
            <a:pPr algn="l" indent="0" marL="0">
              <a:buNone/>
            </a:pPr>
            <a:r>
              <a:rPr lang="en-US" sz="1000" i="1" dirty="0">
                <a:solidFill>
                  <a:srgbClr val="6B7385"/>
                </a:solidFill>
                <a:latin typeface="Calibri" pitchFamily="34" charset="0"/>
                <a:ea typeface="Calibri" pitchFamily="34" charset="-122"/>
                <a:cs typeface="Calibri" pitchFamily="34" charset="-120"/>
              </a:rPr>
              <a:t>OIL RIG: Oxidation Is Loss, Reduction Is Gain (of electrons).</a:t>
            </a:r>
            <a:endParaRPr lang="en-US" sz="1000" dirty="0"/>
          </a:p>
        </p:txBody>
      </p:sp>
      <p:sp>
        <p:nvSpPr>
          <p:cNvPr id="44" name="Shape 42"/>
          <p:cNvSpPr/>
          <p:nvPr/>
        </p:nvSpPr>
        <p:spPr>
          <a:xfrm>
            <a:off x="4480560" y="4626864"/>
            <a:ext cx="3566160" cy="932688"/>
          </a:xfrm>
          <a:prstGeom prst="roundRect">
            <a:avLst>
              <a:gd name="adj" fmla="val 4902"/>
            </a:avLst>
          </a:prstGeom>
          <a:solidFill>
            <a:srgbClr val="FBE3E4"/>
          </a:solidFill>
          <a:ln w="12700">
            <a:solidFill>
              <a:srgbClr val="E8B4B8"/>
            </a:solidFill>
            <a:prstDash val="solid"/>
          </a:ln>
        </p:spPr>
      </p:sp>
      <p:sp>
        <p:nvSpPr>
          <p:cNvPr id="45" name="Text 43"/>
          <p:cNvSpPr/>
          <p:nvPr/>
        </p:nvSpPr>
        <p:spPr>
          <a:xfrm>
            <a:off x="4572000" y="4626864"/>
            <a:ext cx="3383280" cy="932688"/>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charge 0 = 0 ✓  → REDUCTION (gain)</a:t>
            </a:r>
            <a:endParaRPr lang="en-US" sz="1200" dirty="0"/>
          </a:p>
        </p:txBody>
      </p:sp>
      <p:sp>
        <p:nvSpPr>
          <p:cNvPr id="46" name="Shape 44"/>
          <p:cNvSpPr/>
          <p:nvPr/>
        </p:nvSpPr>
        <p:spPr>
          <a:xfrm>
            <a:off x="8183880" y="4626864"/>
            <a:ext cx="3593592" cy="932688"/>
          </a:xfrm>
          <a:prstGeom prst="roundRect">
            <a:avLst>
              <a:gd name="adj" fmla="val 4902"/>
            </a:avLst>
          </a:prstGeom>
          <a:solidFill>
            <a:srgbClr val="FBE3E4"/>
          </a:solidFill>
          <a:ln w="12700">
            <a:solidFill>
              <a:srgbClr val="E8B4B8"/>
            </a:solidFill>
            <a:prstDash val="solid"/>
          </a:ln>
        </p:spPr>
      </p:sp>
      <p:sp>
        <p:nvSpPr>
          <p:cNvPr id="47" name="Text 45"/>
          <p:cNvSpPr/>
          <p:nvPr/>
        </p:nvSpPr>
        <p:spPr>
          <a:xfrm>
            <a:off x="8275320" y="4626864"/>
            <a:ext cx="3410712" cy="932688"/>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charge −2 = −2 ✓  → OXIDATION (loss)</a:t>
            </a:r>
            <a:endParaRPr lang="en-US" sz="1200" dirty="0"/>
          </a:p>
        </p:txBody>
      </p:sp>
      <p:sp>
        <p:nvSpPr>
          <p:cNvPr id="48" name="Shape 46"/>
          <p:cNvSpPr/>
          <p:nvPr/>
        </p:nvSpPr>
        <p:spPr>
          <a:xfrm>
            <a:off x="411480" y="5833872"/>
            <a:ext cx="11368735" cy="530352"/>
          </a:xfrm>
          <a:prstGeom prst="rect">
            <a:avLst/>
          </a:prstGeom>
          <a:solidFill>
            <a:srgbClr val="FFF4E0"/>
          </a:solidFill>
          <a:ln w="6350">
            <a:solidFill>
              <a:srgbClr val="F1D9A8"/>
            </a:solidFill>
            <a:prstDash val="solid"/>
          </a:ln>
        </p:spPr>
      </p:sp>
      <p:sp>
        <p:nvSpPr>
          <p:cNvPr id="49" name="Shape 47"/>
          <p:cNvSpPr/>
          <p:nvPr/>
        </p:nvSpPr>
        <p:spPr>
          <a:xfrm>
            <a:off x="411480" y="5833872"/>
            <a:ext cx="82296" cy="530352"/>
          </a:xfrm>
          <a:prstGeom prst="rect">
            <a:avLst/>
          </a:prstGeom>
          <a:solidFill>
            <a:srgbClr val="E39A2F"/>
          </a:solidFill>
          <a:ln w="12700">
            <a:solidFill>
              <a:srgbClr val="E39A2F"/>
            </a:solidFill>
            <a:prstDash val="solid"/>
          </a:ln>
        </p:spPr>
      </p:sp>
      <p:sp>
        <p:nvSpPr>
          <p:cNvPr id="50" name="Text 4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You try: write the half equations at each electrode for </a:t>
            </a:r>
            <a:r>
              <a:rPr lang="en-US" sz="1150" b="1" dirty="0">
                <a:solidFill>
                  <a:srgbClr val="262B3A"/>
                </a:solidFill>
                <a:latin typeface="Calibri" pitchFamily="34" charset="0"/>
                <a:ea typeface="Calibri" pitchFamily="34" charset="-122"/>
                <a:cs typeface="Calibri" pitchFamily="34" charset="-120"/>
              </a:rPr>
              <a:t>molten zinc chloride</a:t>
            </a:r>
            <a:r>
              <a:rPr lang="en-US" sz="1150" dirty="0">
                <a:solidFill>
                  <a:srgbClr val="262B3A"/>
                </a:solidFill>
                <a:latin typeface="Calibri" pitchFamily="34" charset="0"/>
                <a:ea typeface="Calibri" pitchFamily="34" charset="-122"/>
                <a:cs typeface="Calibri" pitchFamily="34" charset="-120"/>
              </a:rPr>
              <a:t>. Which one is </a:t>
            </a:r>
            <a:r>
              <a:rPr lang="en-US" sz="1150" b="1" dirty="0">
                <a:solidFill>
                  <a:srgbClr val="262B3A"/>
                </a:solidFill>
                <a:latin typeface="Calibri" pitchFamily="34" charset="0"/>
                <a:ea typeface="Calibri" pitchFamily="34" charset="-122"/>
                <a:cs typeface="Calibri" pitchFamily="34" charset="-120"/>
              </a:rPr>
              <a:t>oxidation</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Half equations for aqueous solutions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3.25, 3.27 (HT) • oxygen from hydroxide ions; hydrogen from hydrogen ions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3.27  |  32</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water acidified with sulfuric acid; gases collected in test tubes</a:t>
            </a:r>
            <a:endParaRPr lang="en-US" sz="1000" dirty="0"/>
          </a:p>
        </p:txBody>
      </p:sp>
      <p:sp>
        <p:nvSpPr>
          <p:cNvPr id="12" name="Shape 10"/>
          <p:cNvSpPr/>
          <p:nvPr/>
        </p:nvSpPr>
        <p:spPr>
          <a:xfrm>
            <a:off x="685800" y="2240280"/>
            <a:ext cx="2377440" cy="1828800"/>
          </a:xfrm>
          <a:prstGeom prst="rect">
            <a:avLst/>
          </a:prstGeom>
          <a:solidFill>
            <a:srgbClr val="EEF5FB"/>
          </a:solidFill>
          <a:ln/>
        </p:spPr>
      </p:sp>
      <p:sp>
        <p:nvSpPr>
          <p:cNvPr id="13" name="Shape 11"/>
          <p:cNvSpPr/>
          <p:nvPr/>
        </p:nvSpPr>
        <p:spPr>
          <a:xfrm>
            <a:off x="685800" y="2606040"/>
            <a:ext cx="2377440" cy="1463040"/>
          </a:xfrm>
          <a:prstGeom prst="rect">
            <a:avLst/>
          </a:prstGeom>
          <a:solidFill>
            <a:srgbClr val="E3F0FB"/>
          </a:solidFill>
          <a:ln/>
        </p:spPr>
      </p:sp>
      <p:sp>
        <p:nvSpPr>
          <p:cNvPr id="14" name="Shape 12"/>
          <p:cNvSpPr/>
          <p:nvPr/>
        </p:nvSpPr>
        <p:spPr>
          <a:xfrm>
            <a:off x="685800" y="2606040"/>
            <a:ext cx="2377440" cy="91"/>
          </a:xfrm>
          <a:prstGeom prst="line">
            <a:avLst/>
          </a:prstGeom>
          <a:noFill/>
          <a:ln w="12700">
            <a:solidFill>
              <a:srgbClr val="5B9BD5"/>
            </a:solidFill>
            <a:prstDash val="solid"/>
          </a:ln>
        </p:spPr>
      </p:sp>
      <p:sp>
        <p:nvSpPr>
          <p:cNvPr id="15" name="Shape 13"/>
          <p:cNvSpPr/>
          <p:nvPr/>
        </p:nvSpPr>
        <p:spPr>
          <a:xfrm>
            <a:off x="685800" y="2240280"/>
            <a:ext cx="91" cy="1828800"/>
          </a:xfrm>
          <a:prstGeom prst="line">
            <a:avLst/>
          </a:prstGeom>
          <a:noFill/>
          <a:ln w="19050">
            <a:solidFill>
              <a:srgbClr val="2A1F3D"/>
            </a:solidFill>
            <a:prstDash val="solid"/>
          </a:ln>
        </p:spPr>
      </p:sp>
      <p:sp>
        <p:nvSpPr>
          <p:cNvPr id="16" name="Shape 14"/>
          <p:cNvSpPr/>
          <p:nvPr/>
        </p:nvSpPr>
        <p:spPr>
          <a:xfrm>
            <a:off x="3063240" y="2240280"/>
            <a:ext cx="91" cy="1828800"/>
          </a:xfrm>
          <a:prstGeom prst="line">
            <a:avLst/>
          </a:prstGeom>
          <a:noFill/>
          <a:ln w="19050">
            <a:solidFill>
              <a:srgbClr val="2A1F3D"/>
            </a:solidFill>
            <a:prstDash val="solid"/>
          </a:ln>
        </p:spPr>
      </p:sp>
      <p:sp>
        <p:nvSpPr>
          <p:cNvPr id="17" name="Shape 15"/>
          <p:cNvSpPr/>
          <p:nvPr/>
        </p:nvSpPr>
        <p:spPr>
          <a:xfrm>
            <a:off x="685800" y="4069080"/>
            <a:ext cx="2377440" cy="91"/>
          </a:xfrm>
          <a:prstGeom prst="line">
            <a:avLst/>
          </a:prstGeom>
          <a:noFill/>
          <a:ln w="19050">
            <a:solidFill>
              <a:srgbClr val="2A1F3D"/>
            </a:solidFill>
            <a:prstDash val="solid"/>
          </a:ln>
        </p:spPr>
      </p:sp>
      <p:sp>
        <p:nvSpPr>
          <p:cNvPr id="18" name="Shape 16"/>
          <p:cNvSpPr/>
          <p:nvPr/>
        </p:nvSpPr>
        <p:spPr>
          <a:xfrm>
            <a:off x="630936" y="2240280"/>
            <a:ext cx="54864" cy="91"/>
          </a:xfrm>
          <a:prstGeom prst="line">
            <a:avLst/>
          </a:prstGeom>
          <a:noFill/>
          <a:ln w="19050">
            <a:solidFill>
              <a:srgbClr val="2A1F3D"/>
            </a:solidFill>
            <a:prstDash val="solid"/>
          </a:ln>
        </p:spPr>
      </p:sp>
      <p:sp>
        <p:nvSpPr>
          <p:cNvPr id="19" name="Shape 17"/>
          <p:cNvSpPr/>
          <p:nvPr/>
        </p:nvSpPr>
        <p:spPr>
          <a:xfrm>
            <a:off x="3063240" y="2240280"/>
            <a:ext cx="54864" cy="91"/>
          </a:xfrm>
          <a:prstGeom prst="line">
            <a:avLst/>
          </a:prstGeom>
          <a:noFill/>
          <a:ln w="19050">
            <a:solidFill>
              <a:srgbClr val="2A1F3D"/>
            </a:solidFill>
            <a:prstDash val="solid"/>
          </a:ln>
        </p:spPr>
      </p:sp>
      <p:sp>
        <p:nvSpPr>
          <p:cNvPr id="20" name="Shape 18"/>
          <p:cNvSpPr/>
          <p:nvPr/>
        </p:nvSpPr>
        <p:spPr>
          <a:xfrm>
            <a:off x="1089965" y="1783080"/>
            <a:ext cx="475488" cy="2011680"/>
          </a:xfrm>
          <a:prstGeom prst="roundRect">
            <a:avLst>
              <a:gd name="adj" fmla="val 38462"/>
            </a:avLst>
          </a:prstGeom>
          <a:solidFill>
            <a:srgbClr val="E3F0FB"/>
          </a:solidFill>
          <a:ln/>
        </p:spPr>
      </p:sp>
      <p:sp>
        <p:nvSpPr>
          <p:cNvPr id="21" name="Shape 19"/>
          <p:cNvSpPr/>
          <p:nvPr/>
        </p:nvSpPr>
        <p:spPr>
          <a:xfrm>
            <a:off x="1089965" y="1783080"/>
            <a:ext cx="475488" cy="960120"/>
          </a:xfrm>
          <a:prstGeom prst="roundRect">
            <a:avLst>
              <a:gd name="adj" fmla="val 38462"/>
            </a:avLst>
          </a:prstGeom>
          <a:solidFill>
            <a:srgbClr val="FFFFFF"/>
          </a:solidFill>
          <a:ln/>
        </p:spPr>
      </p:sp>
      <p:sp>
        <p:nvSpPr>
          <p:cNvPr id="22" name="Shape 20"/>
          <p:cNvSpPr/>
          <p:nvPr/>
        </p:nvSpPr>
        <p:spPr>
          <a:xfrm>
            <a:off x="1089965" y="1965960"/>
            <a:ext cx="91" cy="1828800"/>
          </a:xfrm>
          <a:prstGeom prst="line">
            <a:avLst/>
          </a:prstGeom>
          <a:noFill/>
          <a:ln w="15875">
            <a:solidFill>
              <a:srgbClr val="2A1F3D"/>
            </a:solidFill>
            <a:prstDash val="solid"/>
          </a:ln>
        </p:spPr>
      </p:sp>
      <p:sp>
        <p:nvSpPr>
          <p:cNvPr id="23" name="Shape 21"/>
          <p:cNvSpPr/>
          <p:nvPr/>
        </p:nvSpPr>
        <p:spPr>
          <a:xfrm>
            <a:off x="1565453" y="1965960"/>
            <a:ext cx="91" cy="1828800"/>
          </a:xfrm>
          <a:prstGeom prst="line">
            <a:avLst/>
          </a:prstGeom>
          <a:noFill/>
          <a:ln w="15875">
            <a:solidFill>
              <a:srgbClr val="2A1F3D"/>
            </a:solidFill>
            <a:prstDash val="solid"/>
          </a:ln>
        </p:spPr>
      </p:sp>
      <p:sp>
        <p:nvSpPr>
          <p:cNvPr id="24" name="Shape 22"/>
          <p:cNvSpPr/>
          <p:nvPr/>
        </p:nvSpPr>
        <p:spPr>
          <a:xfrm>
            <a:off x="1089965" y="1783080"/>
            <a:ext cx="475488" cy="365760"/>
          </a:xfrm>
          <a:prstGeom prst="arc">
            <a:avLst>
              <a:gd name="adj1" fmla="val 10800000"/>
              <a:gd name="adj2" fmla="val 21600000"/>
            </a:avLst>
          </a:prstGeom>
          <a:noFill/>
          <a:ln w="15875">
            <a:solidFill>
              <a:srgbClr val="2A1F3D"/>
            </a:solidFill>
            <a:prstDash val="solid"/>
          </a:ln>
        </p:spPr>
      </p:sp>
      <p:sp>
        <p:nvSpPr>
          <p:cNvPr id="25" name="Text 23"/>
          <p:cNvSpPr/>
          <p:nvPr/>
        </p:nvSpPr>
        <p:spPr>
          <a:xfrm>
            <a:off x="1089965" y="1874520"/>
            <a:ext cx="475488" cy="27432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H₂</a:t>
            </a:r>
            <a:endParaRPr lang="en-US" sz="1100" dirty="0"/>
          </a:p>
        </p:txBody>
      </p:sp>
      <p:sp>
        <p:nvSpPr>
          <p:cNvPr id="26" name="Shape 24"/>
          <p:cNvSpPr/>
          <p:nvPr/>
        </p:nvSpPr>
        <p:spPr>
          <a:xfrm>
            <a:off x="1272845" y="3474720"/>
            <a:ext cx="109728" cy="777240"/>
          </a:xfrm>
          <a:prstGeom prst="rect">
            <a:avLst/>
          </a:prstGeom>
          <a:solidFill>
            <a:srgbClr val="4A4F5A"/>
          </a:solidFill>
          <a:ln w="12700">
            <a:solidFill>
              <a:srgbClr val="2A2F3A"/>
            </a:solidFill>
            <a:prstDash val="solid"/>
          </a:ln>
        </p:spPr>
      </p:sp>
      <p:sp>
        <p:nvSpPr>
          <p:cNvPr id="27" name="Shape 25"/>
          <p:cNvSpPr/>
          <p:nvPr/>
        </p:nvSpPr>
        <p:spPr>
          <a:xfrm>
            <a:off x="1227125" y="3264408"/>
            <a:ext cx="54864" cy="54864"/>
          </a:xfrm>
          <a:prstGeom prst="ellipse">
            <a:avLst/>
          </a:prstGeom>
          <a:solidFill>
            <a:srgbClr val="FFFFFF"/>
          </a:solidFill>
          <a:ln w="7620">
            <a:solidFill>
              <a:srgbClr val="5B9BD5"/>
            </a:solidFill>
            <a:prstDash val="solid"/>
          </a:ln>
        </p:spPr>
      </p:sp>
      <p:sp>
        <p:nvSpPr>
          <p:cNvPr id="28" name="Shape 26"/>
          <p:cNvSpPr/>
          <p:nvPr/>
        </p:nvSpPr>
        <p:spPr>
          <a:xfrm>
            <a:off x="1355141" y="3035808"/>
            <a:ext cx="54864" cy="54864"/>
          </a:xfrm>
          <a:prstGeom prst="ellipse">
            <a:avLst/>
          </a:prstGeom>
          <a:solidFill>
            <a:srgbClr val="FFFFFF"/>
          </a:solidFill>
          <a:ln w="7620">
            <a:solidFill>
              <a:srgbClr val="5B9BD5"/>
            </a:solidFill>
            <a:prstDash val="solid"/>
          </a:ln>
        </p:spPr>
      </p:sp>
      <p:sp>
        <p:nvSpPr>
          <p:cNvPr id="29" name="Shape 27"/>
          <p:cNvSpPr/>
          <p:nvPr/>
        </p:nvSpPr>
        <p:spPr>
          <a:xfrm>
            <a:off x="1263701" y="2807208"/>
            <a:ext cx="54864" cy="54864"/>
          </a:xfrm>
          <a:prstGeom prst="ellipse">
            <a:avLst/>
          </a:prstGeom>
          <a:solidFill>
            <a:srgbClr val="FFFFFF"/>
          </a:solidFill>
          <a:ln w="7620">
            <a:solidFill>
              <a:srgbClr val="5B9BD5"/>
            </a:solidFill>
            <a:prstDash val="solid"/>
          </a:ln>
        </p:spPr>
      </p:sp>
      <p:sp>
        <p:nvSpPr>
          <p:cNvPr id="30" name="Shape 28"/>
          <p:cNvSpPr/>
          <p:nvPr/>
        </p:nvSpPr>
        <p:spPr>
          <a:xfrm>
            <a:off x="2183587" y="1783080"/>
            <a:ext cx="475488" cy="2011680"/>
          </a:xfrm>
          <a:prstGeom prst="roundRect">
            <a:avLst>
              <a:gd name="adj" fmla="val 38462"/>
            </a:avLst>
          </a:prstGeom>
          <a:solidFill>
            <a:srgbClr val="E3F0FB"/>
          </a:solidFill>
          <a:ln/>
        </p:spPr>
      </p:sp>
      <p:sp>
        <p:nvSpPr>
          <p:cNvPr id="31" name="Shape 29"/>
          <p:cNvSpPr/>
          <p:nvPr/>
        </p:nvSpPr>
        <p:spPr>
          <a:xfrm>
            <a:off x="2183587" y="1783080"/>
            <a:ext cx="475488" cy="502920"/>
          </a:xfrm>
          <a:prstGeom prst="roundRect">
            <a:avLst>
              <a:gd name="adj" fmla="val 38462"/>
            </a:avLst>
          </a:prstGeom>
          <a:solidFill>
            <a:srgbClr val="FFFFFF"/>
          </a:solidFill>
          <a:ln/>
        </p:spPr>
      </p:sp>
      <p:sp>
        <p:nvSpPr>
          <p:cNvPr id="32" name="Shape 30"/>
          <p:cNvSpPr/>
          <p:nvPr/>
        </p:nvSpPr>
        <p:spPr>
          <a:xfrm>
            <a:off x="2183587" y="1965960"/>
            <a:ext cx="91" cy="1828800"/>
          </a:xfrm>
          <a:prstGeom prst="line">
            <a:avLst/>
          </a:prstGeom>
          <a:noFill/>
          <a:ln w="15875">
            <a:solidFill>
              <a:srgbClr val="2A1F3D"/>
            </a:solidFill>
            <a:prstDash val="solid"/>
          </a:ln>
        </p:spPr>
      </p:sp>
      <p:sp>
        <p:nvSpPr>
          <p:cNvPr id="33" name="Shape 31"/>
          <p:cNvSpPr/>
          <p:nvPr/>
        </p:nvSpPr>
        <p:spPr>
          <a:xfrm>
            <a:off x="2659075" y="1965960"/>
            <a:ext cx="91" cy="1828800"/>
          </a:xfrm>
          <a:prstGeom prst="line">
            <a:avLst/>
          </a:prstGeom>
          <a:noFill/>
          <a:ln w="15875">
            <a:solidFill>
              <a:srgbClr val="2A1F3D"/>
            </a:solidFill>
            <a:prstDash val="solid"/>
          </a:ln>
        </p:spPr>
      </p:sp>
      <p:sp>
        <p:nvSpPr>
          <p:cNvPr id="34" name="Shape 32"/>
          <p:cNvSpPr/>
          <p:nvPr/>
        </p:nvSpPr>
        <p:spPr>
          <a:xfrm>
            <a:off x="2183587" y="1783080"/>
            <a:ext cx="475488" cy="365760"/>
          </a:xfrm>
          <a:prstGeom prst="arc">
            <a:avLst>
              <a:gd name="adj1" fmla="val 10800000"/>
              <a:gd name="adj2" fmla="val 21600000"/>
            </a:avLst>
          </a:prstGeom>
          <a:noFill/>
          <a:ln w="15875">
            <a:solidFill>
              <a:srgbClr val="2A1F3D"/>
            </a:solidFill>
            <a:prstDash val="solid"/>
          </a:ln>
        </p:spPr>
      </p:sp>
      <p:sp>
        <p:nvSpPr>
          <p:cNvPr id="35" name="Text 33"/>
          <p:cNvSpPr/>
          <p:nvPr/>
        </p:nvSpPr>
        <p:spPr>
          <a:xfrm>
            <a:off x="2183587" y="1874520"/>
            <a:ext cx="475488" cy="27432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O₂</a:t>
            </a:r>
            <a:endParaRPr lang="en-US" sz="1100" dirty="0"/>
          </a:p>
        </p:txBody>
      </p:sp>
      <p:sp>
        <p:nvSpPr>
          <p:cNvPr id="36" name="Shape 34"/>
          <p:cNvSpPr/>
          <p:nvPr/>
        </p:nvSpPr>
        <p:spPr>
          <a:xfrm>
            <a:off x="2366467" y="3474720"/>
            <a:ext cx="109728" cy="777240"/>
          </a:xfrm>
          <a:prstGeom prst="rect">
            <a:avLst/>
          </a:prstGeom>
          <a:solidFill>
            <a:srgbClr val="4A4F5A"/>
          </a:solidFill>
          <a:ln w="12700">
            <a:solidFill>
              <a:srgbClr val="2A2F3A"/>
            </a:solidFill>
            <a:prstDash val="solid"/>
          </a:ln>
        </p:spPr>
      </p:sp>
      <p:sp>
        <p:nvSpPr>
          <p:cNvPr id="37" name="Shape 35"/>
          <p:cNvSpPr/>
          <p:nvPr/>
        </p:nvSpPr>
        <p:spPr>
          <a:xfrm>
            <a:off x="2320747" y="3264408"/>
            <a:ext cx="54864" cy="54864"/>
          </a:xfrm>
          <a:prstGeom prst="ellipse">
            <a:avLst/>
          </a:prstGeom>
          <a:solidFill>
            <a:srgbClr val="FFFFFF"/>
          </a:solidFill>
          <a:ln w="7620">
            <a:solidFill>
              <a:srgbClr val="5B9BD5"/>
            </a:solidFill>
            <a:prstDash val="solid"/>
          </a:ln>
        </p:spPr>
      </p:sp>
      <p:sp>
        <p:nvSpPr>
          <p:cNvPr id="38" name="Shape 36"/>
          <p:cNvSpPr/>
          <p:nvPr/>
        </p:nvSpPr>
        <p:spPr>
          <a:xfrm>
            <a:off x="2448763" y="3035808"/>
            <a:ext cx="54864" cy="54864"/>
          </a:xfrm>
          <a:prstGeom prst="ellipse">
            <a:avLst/>
          </a:prstGeom>
          <a:solidFill>
            <a:srgbClr val="FFFFFF"/>
          </a:solidFill>
          <a:ln w="7620">
            <a:solidFill>
              <a:srgbClr val="5B9BD5"/>
            </a:solidFill>
            <a:prstDash val="solid"/>
          </a:ln>
        </p:spPr>
      </p:sp>
      <p:sp>
        <p:nvSpPr>
          <p:cNvPr id="39" name="Shape 37"/>
          <p:cNvSpPr/>
          <p:nvPr/>
        </p:nvSpPr>
        <p:spPr>
          <a:xfrm>
            <a:off x="2357323" y="2807208"/>
            <a:ext cx="54864" cy="54864"/>
          </a:xfrm>
          <a:prstGeom prst="ellipse">
            <a:avLst/>
          </a:prstGeom>
          <a:solidFill>
            <a:srgbClr val="FFFFFF"/>
          </a:solidFill>
          <a:ln w="7620">
            <a:solidFill>
              <a:srgbClr val="5B9BD5"/>
            </a:solidFill>
            <a:prstDash val="solid"/>
          </a:ln>
        </p:spPr>
      </p:sp>
      <p:sp>
        <p:nvSpPr>
          <p:cNvPr id="40" name="Shape 38"/>
          <p:cNvSpPr/>
          <p:nvPr/>
        </p:nvSpPr>
        <p:spPr>
          <a:xfrm>
            <a:off x="1327709" y="4251960"/>
            <a:ext cx="91" cy="548640"/>
          </a:xfrm>
          <a:prstGeom prst="line">
            <a:avLst/>
          </a:prstGeom>
          <a:noFill/>
          <a:ln w="19050">
            <a:solidFill>
              <a:srgbClr val="2A1F3D"/>
            </a:solidFill>
            <a:prstDash val="solid"/>
          </a:ln>
        </p:spPr>
      </p:sp>
      <p:sp>
        <p:nvSpPr>
          <p:cNvPr id="41" name="Shape 39"/>
          <p:cNvSpPr/>
          <p:nvPr/>
        </p:nvSpPr>
        <p:spPr>
          <a:xfrm>
            <a:off x="2421331" y="4251960"/>
            <a:ext cx="91" cy="548640"/>
          </a:xfrm>
          <a:prstGeom prst="line">
            <a:avLst/>
          </a:prstGeom>
          <a:noFill/>
          <a:ln w="19050">
            <a:solidFill>
              <a:srgbClr val="2A1F3D"/>
            </a:solidFill>
            <a:prstDash val="solid"/>
          </a:ln>
        </p:spPr>
      </p:sp>
      <p:sp>
        <p:nvSpPr>
          <p:cNvPr id="42" name="Shape 40"/>
          <p:cNvSpPr/>
          <p:nvPr/>
        </p:nvSpPr>
        <p:spPr>
          <a:xfrm>
            <a:off x="1600200" y="4526280"/>
            <a:ext cx="548640" cy="548640"/>
          </a:xfrm>
          <a:prstGeom prst="roundRect">
            <a:avLst>
              <a:gd name="adj" fmla="val 10000"/>
            </a:avLst>
          </a:prstGeom>
          <a:solidFill>
            <a:srgbClr val="E8EBF0"/>
          </a:solidFill>
          <a:ln w="15875">
            <a:solidFill>
              <a:srgbClr val="4A5568"/>
            </a:solidFill>
            <a:prstDash val="solid"/>
          </a:ln>
        </p:spPr>
      </p:sp>
      <p:sp>
        <p:nvSpPr>
          <p:cNvPr id="43" name="Text 41"/>
          <p:cNvSpPr/>
          <p:nvPr/>
        </p:nvSpPr>
        <p:spPr>
          <a:xfrm>
            <a:off x="1600200" y="4526280"/>
            <a:ext cx="548640" cy="54864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d.c. supply</a:t>
            </a:r>
            <a:endParaRPr lang="en-US" sz="1050" dirty="0"/>
          </a:p>
        </p:txBody>
      </p:sp>
      <p:sp>
        <p:nvSpPr>
          <p:cNvPr id="44" name="Shape 42"/>
          <p:cNvSpPr/>
          <p:nvPr/>
        </p:nvSpPr>
        <p:spPr>
          <a:xfrm>
            <a:off x="1399032" y="4709160"/>
            <a:ext cx="182880" cy="182880"/>
          </a:xfrm>
          <a:prstGeom prst="ellipse">
            <a:avLst/>
          </a:prstGeom>
          <a:solidFill>
            <a:srgbClr val="2A2F3A"/>
          </a:solidFill>
          <a:ln w="9525">
            <a:solidFill>
              <a:srgbClr val="2A2F3A"/>
            </a:solidFill>
            <a:prstDash val="solid"/>
          </a:ln>
        </p:spPr>
      </p:sp>
      <p:sp>
        <p:nvSpPr>
          <p:cNvPr id="45" name="Text 43"/>
          <p:cNvSpPr/>
          <p:nvPr/>
        </p:nvSpPr>
        <p:spPr>
          <a:xfrm>
            <a:off x="1399032" y="4690872"/>
            <a:ext cx="182880" cy="2011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6" name="Shape 44"/>
          <p:cNvSpPr/>
          <p:nvPr/>
        </p:nvSpPr>
        <p:spPr>
          <a:xfrm>
            <a:off x="2167128" y="4709160"/>
            <a:ext cx="182880" cy="182880"/>
          </a:xfrm>
          <a:prstGeom prst="ellipse">
            <a:avLst/>
          </a:prstGeom>
          <a:solidFill>
            <a:srgbClr val="C8414C"/>
          </a:solidFill>
          <a:ln w="9525">
            <a:solidFill>
              <a:srgbClr val="C8414C"/>
            </a:solidFill>
            <a:prstDash val="solid"/>
          </a:ln>
        </p:spPr>
      </p:sp>
      <p:sp>
        <p:nvSpPr>
          <p:cNvPr id="47" name="Text 45"/>
          <p:cNvSpPr/>
          <p:nvPr/>
        </p:nvSpPr>
        <p:spPr>
          <a:xfrm>
            <a:off x="2167128" y="4690872"/>
            <a:ext cx="182880" cy="2011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8" name="Shape 46"/>
          <p:cNvSpPr/>
          <p:nvPr/>
        </p:nvSpPr>
        <p:spPr>
          <a:xfrm>
            <a:off x="1327709" y="4800600"/>
            <a:ext cx="71323" cy="91"/>
          </a:xfrm>
          <a:prstGeom prst="line">
            <a:avLst/>
          </a:prstGeom>
          <a:noFill/>
          <a:ln w="19050">
            <a:solidFill>
              <a:srgbClr val="2A1F3D"/>
            </a:solidFill>
            <a:prstDash val="solid"/>
          </a:ln>
        </p:spPr>
      </p:sp>
      <p:sp>
        <p:nvSpPr>
          <p:cNvPr id="49" name="Shape 47"/>
          <p:cNvSpPr/>
          <p:nvPr/>
        </p:nvSpPr>
        <p:spPr>
          <a:xfrm flipH="1">
            <a:off x="2350008" y="4800600"/>
            <a:ext cx="71323" cy="91"/>
          </a:xfrm>
          <a:prstGeom prst="line">
            <a:avLst/>
          </a:prstGeom>
          <a:noFill/>
          <a:ln w="19050">
            <a:solidFill>
              <a:srgbClr val="2A1F3D"/>
            </a:solidFill>
            <a:prstDash val="solid"/>
          </a:ln>
        </p:spPr>
      </p:sp>
      <p:sp>
        <p:nvSpPr>
          <p:cNvPr id="50" name="Text 48"/>
          <p:cNvSpPr/>
          <p:nvPr/>
        </p:nvSpPr>
        <p:spPr>
          <a:xfrm>
            <a:off x="411480" y="4114800"/>
            <a:ext cx="779069" cy="219456"/>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cathode (−)</a:t>
            </a:r>
            <a:endParaRPr lang="en-US" sz="1000" dirty="0"/>
          </a:p>
        </p:txBody>
      </p:sp>
      <p:sp>
        <p:nvSpPr>
          <p:cNvPr id="51" name="Text 49"/>
          <p:cNvSpPr/>
          <p:nvPr/>
        </p:nvSpPr>
        <p:spPr>
          <a:xfrm>
            <a:off x="2549347" y="4114800"/>
            <a:ext cx="777240" cy="219456"/>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anode (+)</a:t>
            </a:r>
            <a:endParaRPr lang="en-US" sz="1000" dirty="0"/>
          </a:p>
        </p:txBody>
      </p:sp>
      <p:sp>
        <p:nvSpPr>
          <p:cNvPr id="52" name="Text 50"/>
          <p:cNvSpPr/>
          <p:nvPr/>
        </p:nvSpPr>
        <p:spPr>
          <a:xfrm>
            <a:off x="3383280" y="1371600"/>
            <a:ext cx="251460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Cathode (−)</a:t>
            </a:r>
            <a:r>
              <a:rPr lang="en-US" sz="1050" dirty="0">
                <a:solidFill>
                  <a:srgbClr val="262B3A"/>
                </a:solidFill>
                <a:latin typeface="Calibri" pitchFamily="34" charset="0"/>
                <a:ea typeface="Calibri" pitchFamily="34" charset="-122"/>
                <a:cs typeface="Calibri" pitchFamily="34" charset="-120"/>
              </a:rPr>
              <a:t>: hydrogen</a:t>
            </a:r>
            <a:endParaRPr lang="en-US" sz="1050" dirty="0"/>
          </a:p>
        </p:txBody>
      </p:sp>
      <p:sp>
        <p:nvSpPr>
          <p:cNvPr id="53" name="Shape 51"/>
          <p:cNvSpPr/>
          <p:nvPr/>
        </p:nvSpPr>
        <p:spPr>
          <a:xfrm>
            <a:off x="3383280" y="1664208"/>
            <a:ext cx="2514600" cy="384048"/>
          </a:xfrm>
          <a:prstGeom prst="roundRect">
            <a:avLst>
              <a:gd name="adj" fmla="val 11905"/>
            </a:avLst>
          </a:prstGeom>
          <a:solidFill>
            <a:srgbClr val="FBE3E4"/>
          </a:solidFill>
          <a:ln w="12700">
            <a:solidFill>
              <a:srgbClr val="E8B4B8"/>
            </a:solidFill>
            <a:prstDash val="solid"/>
          </a:ln>
        </p:spPr>
      </p:sp>
      <p:sp>
        <p:nvSpPr>
          <p:cNvPr id="54" name="Text 52"/>
          <p:cNvSpPr/>
          <p:nvPr/>
        </p:nvSpPr>
        <p:spPr>
          <a:xfrm>
            <a:off x="3456432" y="1664208"/>
            <a:ext cx="2368296" cy="38404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2H⁺(aq) + 2e⁻ → H₂(g)</a:t>
            </a:r>
            <a:endParaRPr lang="en-US" sz="1100" dirty="0"/>
          </a:p>
        </p:txBody>
      </p:sp>
      <p:sp>
        <p:nvSpPr>
          <p:cNvPr id="55" name="Text 53"/>
          <p:cNvSpPr/>
          <p:nvPr/>
        </p:nvSpPr>
        <p:spPr>
          <a:xfrm>
            <a:off x="3383280" y="2240280"/>
            <a:ext cx="251460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Anode (+)</a:t>
            </a:r>
            <a:r>
              <a:rPr lang="en-US" sz="1050" dirty="0">
                <a:solidFill>
                  <a:srgbClr val="C8414C"/>
                </a:solidFill>
                <a:latin typeface="Calibri" pitchFamily="34" charset="0"/>
                <a:ea typeface="Calibri" pitchFamily="34" charset="-122"/>
                <a:cs typeface="Calibri" pitchFamily="34" charset="-120"/>
              </a:rPr>
              <a:t>: oxygen</a:t>
            </a:r>
            <a:endParaRPr lang="en-US" sz="1050" dirty="0"/>
          </a:p>
        </p:txBody>
      </p:sp>
      <p:sp>
        <p:nvSpPr>
          <p:cNvPr id="56" name="Shape 54"/>
          <p:cNvSpPr/>
          <p:nvPr/>
        </p:nvSpPr>
        <p:spPr>
          <a:xfrm>
            <a:off x="3383280" y="2532888"/>
            <a:ext cx="2514600" cy="384048"/>
          </a:xfrm>
          <a:prstGeom prst="roundRect">
            <a:avLst>
              <a:gd name="adj" fmla="val 11905"/>
            </a:avLst>
          </a:prstGeom>
          <a:solidFill>
            <a:srgbClr val="FBE3E4"/>
          </a:solidFill>
          <a:ln w="12700">
            <a:solidFill>
              <a:srgbClr val="E8B4B8"/>
            </a:solidFill>
            <a:prstDash val="solid"/>
          </a:ln>
        </p:spPr>
      </p:sp>
      <p:sp>
        <p:nvSpPr>
          <p:cNvPr id="57" name="Text 55"/>
          <p:cNvSpPr/>
          <p:nvPr/>
        </p:nvSpPr>
        <p:spPr>
          <a:xfrm>
            <a:off x="3456432" y="2532888"/>
            <a:ext cx="2368296" cy="384048"/>
          </a:xfrm>
          <a:prstGeom prst="rect">
            <a:avLst/>
          </a:prstGeom>
          <a:noFill/>
          <a:ln/>
        </p:spPr>
        <p:txBody>
          <a:bodyPr wrap="square" lIns="0" tIns="0" rIns="0" bIns="0" rtlCol="0" anchor="ctr"/>
          <a:lstStyle/>
          <a:p>
            <a:pPr algn="ctr" indent="0" marL="0">
              <a:buNone/>
            </a:pPr>
            <a:r>
              <a:rPr lang="en-US" sz="1050" b="1" dirty="0">
                <a:solidFill>
                  <a:srgbClr val="2A1F3D"/>
                </a:solidFill>
                <a:latin typeface="Calibri" pitchFamily="34" charset="0"/>
                <a:ea typeface="Calibri" pitchFamily="34" charset="-122"/>
                <a:cs typeface="Calibri" pitchFamily="34" charset="-120"/>
              </a:rPr>
              <a:t>4OH⁻(aq) → O₂(g) + 2H₂O(l) + 4e⁻</a:t>
            </a:r>
            <a:endParaRPr lang="en-US" sz="1050" dirty="0"/>
          </a:p>
        </p:txBody>
      </p:sp>
      <p:sp>
        <p:nvSpPr>
          <p:cNvPr id="58" name="Text 56"/>
          <p:cNvSpPr/>
          <p:nvPr/>
        </p:nvSpPr>
        <p:spPr>
          <a:xfrm>
            <a:off x="3383280" y="3108960"/>
            <a:ext cx="251460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Overall</a:t>
            </a:r>
            <a:endParaRPr lang="en-US" sz="1050" dirty="0"/>
          </a:p>
        </p:txBody>
      </p:sp>
      <p:sp>
        <p:nvSpPr>
          <p:cNvPr id="59" name="Shape 57"/>
          <p:cNvSpPr/>
          <p:nvPr/>
        </p:nvSpPr>
        <p:spPr>
          <a:xfrm>
            <a:off x="3383280" y="3401568"/>
            <a:ext cx="2514600" cy="384048"/>
          </a:xfrm>
          <a:prstGeom prst="roundRect">
            <a:avLst>
              <a:gd name="adj" fmla="val 11905"/>
            </a:avLst>
          </a:prstGeom>
          <a:solidFill>
            <a:srgbClr val="FFFFFF"/>
          </a:solidFill>
          <a:ln w="12700">
            <a:solidFill>
              <a:srgbClr val="DDD3EC"/>
            </a:solidFill>
            <a:prstDash val="solid"/>
          </a:ln>
        </p:spPr>
      </p:sp>
      <p:sp>
        <p:nvSpPr>
          <p:cNvPr id="60" name="Text 58"/>
          <p:cNvSpPr/>
          <p:nvPr/>
        </p:nvSpPr>
        <p:spPr>
          <a:xfrm>
            <a:off x="3456432" y="3401568"/>
            <a:ext cx="2368296" cy="38404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2H₂O(l) → 2H₂(g) + O₂(g)</a:t>
            </a:r>
            <a:endParaRPr lang="en-US" sz="1100" dirty="0"/>
          </a:p>
        </p:txBody>
      </p:sp>
      <p:sp>
        <p:nvSpPr>
          <p:cNvPr id="61" name="Text 59"/>
          <p:cNvSpPr/>
          <p:nvPr/>
        </p:nvSpPr>
        <p:spPr>
          <a:xfrm>
            <a:off x="3383280" y="3931920"/>
            <a:ext cx="2514600" cy="566928"/>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4 e⁻ make </a:t>
            </a:r>
            <a:r>
              <a:rPr lang="en-US" sz="1050" b="1" dirty="0">
                <a:solidFill>
                  <a:srgbClr val="262B3A"/>
                </a:solidFill>
                <a:latin typeface="Calibri" pitchFamily="34" charset="0"/>
                <a:ea typeface="Calibri" pitchFamily="34" charset="-122"/>
                <a:cs typeface="Calibri" pitchFamily="34" charset="-120"/>
              </a:rPr>
              <a:t>2 H₂</a:t>
            </a:r>
            <a:r>
              <a:rPr lang="en-US" sz="1050" dirty="0">
                <a:solidFill>
                  <a:srgbClr val="262B3A"/>
                </a:solidFill>
                <a:latin typeface="Calibri" pitchFamily="34" charset="0"/>
                <a:ea typeface="Calibri" pitchFamily="34" charset="-122"/>
                <a:cs typeface="Calibri" pitchFamily="34" charset="-120"/>
              </a:rPr>
              <a:t> but only </a:t>
            </a:r>
            <a:r>
              <a:rPr lang="en-US" sz="1050" b="1" dirty="0">
                <a:solidFill>
                  <a:srgbClr val="262B3A"/>
                </a:solidFill>
                <a:latin typeface="Calibri" pitchFamily="34" charset="0"/>
                <a:ea typeface="Calibri" pitchFamily="34" charset="-122"/>
                <a:cs typeface="Calibri" pitchFamily="34" charset="-120"/>
              </a:rPr>
              <a:t>1 O₂</a:t>
            </a:r>
            <a:r>
              <a:rPr lang="en-US" sz="1050" dirty="0">
                <a:solidFill>
                  <a:srgbClr val="262B3A"/>
                </a:solidFill>
                <a:latin typeface="Calibri" pitchFamily="34" charset="0"/>
                <a:ea typeface="Calibri" pitchFamily="34" charset="-122"/>
                <a:cs typeface="Calibri" pitchFamily="34" charset="-120"/>
              </a:rPr>
              <a:t> → volume ratio H₂ : O₂ = </a:t>
            </a:r>
            <a:r>
              <a:rPr lang="en-US" sz="1050" b="1" dirty="0">
                <a:solidFill>
                  <a:srgbClr val="262B3A"/>
                </a:solidFill>
                <a:latin typeface="Calibri" pitchFamily="34" charset="0"/>
                <a:ea typeface="Calibri" pitchFamily="34" charset="-122"/>
                <a:cs typeface="Calibri" pitchFamily="34" charset="-120"/>
              </a:rPr>
              <a:t>2 : 1</a:t>
            </a:r>
            <a:endParaRPr lang="en-US" sz="1050" dirty="0"/>
          </a:p>
        </p:txBody>
      </p:sp>
      <p:sp>
        <p:nvSpPr>
          <p:cNvPr id="62" name="Shape 60"/>
          <p:cNvSpPr/>
          <p:nvPr/>
        </p:nvSpPr>
        <p:spPr>
          <a:xfrm>
            <a:off x="6217920" y="1188720"/>
            <a:ext cx="5562295" cy="2423160"/>
          </a:xfrm>
          <a:prstGeom prst="roundRect">
            <a:avLst>
              <a:gd name="adj" fmla="val 2264"/>
            </a:avLst>
          </a:prstGeom>
          <a:solidFill>
            <a:srgbClr val="F8F5FC"/>
          </a:solidFill>
          <a:ln w="9525">
            <a:solidFill>
              <a:srgbClr val="DDD3EC"/>
            </a:solidFill>
            <a:prstDash val="solid"/>
          </a:ln>
        </p:spPr>
      </p:sp>
      <p:sp>
        <p:nvSpPr>
          <p:cNvPr id="63" name="Text 6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Hydroxide ions at the anode</a:t>
            </a:r>
            <a:endParaRPr lang="en-US" sz="1300" dirty="0"/>
          </a:p>
        </p:txBody>
      </p:sp>
      <p:sp>
        <p:nvSpPr>
          <p:cNvPr id="64" name="Text 62"/>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If there is </a:t>
            </a:r>
            <a:r>
              <a:rPr lang="en-US" sz="1150" b="1" dirty="0">
                <a:solidFill>
                  <a:srgbClr val="262B3A"/>
                </a:solidFill>
                <a:latin typeface="Calibri" pitchFamily="34" charset="0"/>
                <a:ea typeface="Calibri" pitchFamily="34" charset="-122"/>
                <a:cs typeface="Calibri" pitchFamily="34" charset="-120"/>
              </a:rPr>
              <a:t>no halide</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OH⁻</a:t>
            </a:r>
            <a:r>
              <a:rPr lang="en-US" sz="1150" dirty="0">
                <a:solidFill>
                  <a:srgbClr val="262B3A"/>
                </a:solidFill>
                <a:latin typeface="Calibri" pitchFamily="34" charset="0"/>
                <a:ea typeface="Calibri" pitchFamily="34" charset="-122"/>
                <a:cs typeface="Calibri" pitchFamily="34" charset="-120"/>
              </a:rPr>
              <a:t> ions (from water) are discharged at the anode: oxygen forms.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Balance it: </a:t>
            </a:r>
            <a:r>
              <a:rPr lang="en-US" sz="1150" b="1" dirty="0">
                <a:solidFill>
                  <a:srgbClr val="262B3A"/>
                </a:solidFill>
                <a:latin typeface="Calibri" pitchFamily="34" charset="0"/>
                <a:ea typeface="Calibri" pitchFamily="34" charset="-122"/>
                <a:cs typeface="Calibri" pitchFamily="34" charset="-120"/>
              </a:rPr>
              <a:t>4OH⁻ → O₂ + 2H₂O + 4e⁻</a:t>
            </a:r>
            <a:r>
              <a:rPr lang="en-US" sz="1150" dirty="0">
                <a:solidFill>
                  <a:srgbClr val="262B3A"/>
                </a:solidFill>
                <a:latin typeface="Calibri" pitchFamily="34" charset="0"/>
                <a:ea typeface="Calibri" pitchFamily="34" charset="-122"/>
                <a:cs typeface="Calibri" pitchFamily="34" charset="-120"/>
              </a:rPr>
              <a:t> (4 negative charges on each side).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Sodium sulfate solution and acidified water give the </a:t>
            </a:r>
            <a:r>
              <a:rPr lang="en-US" sz="1150" b="1" dirty="0">
                <a:solidFill>
                  <a:srgbClr val="262B3A"/>
                </a:solidFill>
                <a:latin typeface="Calibri" pitchFamily="34" charset="0"/>
                <a:ea typeface="Calibri" pitchFamily="34" charset="-122"/>
                <a:cs typeface="Calibri" pitchFamily="34" charset="-120"/>
              </a:rPr>
              <a:t>same</a:t>
            </a:r>
            <a:r>
              <a:rPr lang="en-US" sz="1150" dirty="0">
                <a:solidFill>
                  <a:srgbClr val="262B3A"/>
                </a:solidFill>
                <a:latin typeface="Calibri" pitchFamily="34" charset="0"/>
                <a:ea typeface="Calibri" pitchFamily="34" charset="-122"/>
                <a:cs typeface="Calibri" pitchFamily="34" charset="-120"/>
              </a:rPr>
              <a:t> products: H₂ and O₂.</a:t>
            </a:r>
            <a:endParaRPr lang="en-US" sz="1150" dirty="0"/>
          </a:p>
        </p:txBody>
      </p:sp>
      <p:sp>
        <p:nvSpPr>
          <p:cNvPr id="65" name="Shape 63"/>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6" name="Text 64"/>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sodium chloride solution</a:t>
            </a:r>
            <a:endParaRPr lang="en-US" sz="1300" dirty="0"/>
          </a:p>
        </p:txBody>
      </p:sp>
      <p:sp>
        <p:nvSpPr>
          <p:cNvPr id="67" name="Text 65"/>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Cathode   </a:t>
            </a:r>
            <a:r>
              <a:rPr lang="en-US" sz="1050" dirty="0">
                <a:solidFill>
                  <a:srgbClr val="262B3A"/>
                </a:solidFill>
                <a:latin typeface="Calibri" pitchFamily="34" charset="0"/>
                <a:ea typeface="Calibri" pitchFamily="34" charset="-122"/>
                <a:cs typeface="Calibri" pitchFamily="34" charset="-120"/>
              </a:rPr>
              <a:t>2H⁺(aq) + 2e⁻ → H₂(g)  (reduction)</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Anode   </a:t>
            </a:r>
            <a:r>
              <a:rPr lang="en-US" sz="1050" dirty="0">
                <a:solidFill>
                  <a:srgbClr val="262B3A"/>
                </a:solidFill>
                <a:latin typeface="Calibri" pitchFamily="34" charset="0"/>
                <a:ea typeface="Calibri" pitchFamily="34" charset="-122"/>
                <a:cs typeface="Calibri" pitchFamily="34" charset="-120"/>
              </a:rPr>
              <a:t>2Cl⁻(aq) → Cl₂(g) + 2e⁻  (oxidation)</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Left   </a:t>
            </a:r>
            <a:r>
              <a:rPr lang="en-US" sz="1050" dirty="0">
                <a:solidFill>
                  <a:srgbClr val="262B3A"/>
                </a:solidFill>
                <a:latin typeface="Calibri" pitchFamily="34" charset="0"/>
                <a:ea typeface="Calibri" pitchFamily="34" charset="-122"/>
                <a:cs typeface="Calibri" pitchFamily="34" charset="-120"/>
              </a:rPr>
              <a:t>Na⁺ and OH⁻ ions stay → sodium hydroxide solution</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4 Overall   </a:t>
            </a:r>
            <a:r>
              <a:rPr lang="en-US" sz="1050" b="1" dirty="0">
                <a:solidFill>
                  <a:srgbClr val="C8414C"/>
                </a:solidFill>
                <a:latin typeface="Calibri" pitchFamily="34" charset="0"/>
                <a:ea typeface="Calibri" pitchFamily="34" charset="-122"/>
                <a:cs typeface="Calibri" pitchFamily="34" charset="-120"/>
              </a:rPr>
              <a:t>2NaCl(aq) + 2H₂O(l) → 2NaOH(aq) + H₂(g) + Cl₂(g)</a:t>
            </a:r>
            <a:endParaRPr lang="en-US" sz="1050" dirty="0"/>
          </a:p>
        </p:txBody>
      </p:sp>
      <p:sp>
        <p:nvSpPr>
          <p:cNvPr id="68" name="Shape 66"/>
          <p:cNvSpPr/>
          <p:nvPr/>
        </p:nvSpPr>
        <p:spPr>
          <a:xfrm>
            <a:off x="411480" y="5833872"/>
            <a:ext cx="11368735" cy="530352"/>
          </a:xfrm>
          <a:prstGeom prst="rect">
            <a:avLst/>
          </a:prstGeom>
          <a:solidFill>
            <a:srgbClr val="FFF4E0"/>
          </a:solidFill>
          <a:ln w="6350">
            <a:solidFill>
              <a:srgbClr val="F1D9A8"/>
            </a:solidFill>
            <a:prstDash val="solid"/>
          </a:ln>
        </p:spPr>
      </p:sp>
      <p:sp>
        <p:nvSpPr>
          <p:cNvPr id="69" name="Shape 67"/>
          <p:cNvSpPr/>
          <p:nvPr/>
        </p:nvSpPr>
        <p:spPr>
          <a:xfrm>
            <a:off x="411480" y="5833872"/>
            <a:ext cx="82296" cy="530352"/>
          </a:xfrm>
          <a:prstGeom prst="rect">
            <a:avLst/>
          </a:prstGeom>
          <a:solidFill>
            <a:srgbClr val="E39A2F"/>
          </a:solidFill>
          <a:ln w="12700">
            <a:solidFill>
              <a:srgbClr val="E39A2F"/>
            </a:solidFill>
            <a:prstDash val="solid"/>
          </a:ln>
        </p:spPr>
      </p:sp>
      <p:sp>
        <p:nvSpPr>
          <p:cNvPr id="70" name="Text 6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In the electrolysis of acidified water, </a:t>
            </a:r>
            <a:r>
              <a:rPr lang="en-US" sz="1150" b="1" dirty="0">
                <a:solidFill>
                  <a:srgbClr val="262B3A"/>
                </a:solidFill>
                <a:latin typeface="Calibri" pitchFamily="34" charset="0"/>
                <a:ea typeface="Calibri" pitchFamily="34" charset="-122"/>
                <a:cs typeface="Calibri" pitchFamily="34" charset="-120"/>
              </a:rPr>
              <a:t>40 cm³</a:t>
            </a:r>
            <a:r>
              <a:rPr lang="en-US" sz="1150" dirty="0">
                <a:solidFill>
                  <a:srgbClr val="262B3A"/>
                </a:solidFill>
                <a:latin typeface="Calibri" pitchFamily="34" charset="0"/>
                <a:ea typeface="Calibri" pitchFamily="34" charset="-122"/>
                <a:cs typeface="Calibri" pitchFamily="34" charset="-120"/>
              </a:rPr>
              <a:t> of hydrogen is collected. Predict the volume of oxygen collected in the same time and explain using the half equations.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Oxidation and reduction: OIL RIG</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3.28 (HT) and 3.29 • electron loss and gain; reduction at the cathode, oxidation at the anode</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3.28–3.29  |  33</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magnesium gives two electrons to a copper(II) ion</a:t>
            </a:r>
            <a:endParaRPr lang="en-US" sz="1000" dirty="0"/>
          </a:p>
        </p:txBody>
      </p:sp>
      <p:sp>
        <p:nvSpPr>
          <p:cNvPr id="12" name="Shape 10"/>
          <p:cNvSpPr/>
          <p:nvPr/>
        </p:nvSpPr>
        <p:spPr>
          <a:xfrm>
            <a:off x="758952" y="1581912"/>
            <a:ext cx="585216" cy="585216"/>
          </a:xfrm>
          <a:prstGeom prst="ellipse">
            <a:avLst/>
          </a:prstGeom>
          <a:solidFill>
            <a:srgbClr val="C9CDD3"/>
          </a:solidFill>
          <a:ln w="19050">
            <a:solidFill>
              <a:srgbClr val="4A5262"/>
            </a:solidFill>
            <a:prstDash val="solid"/>
          </a:ln>
        </p:spPr>
      </p:sp>
      <p:sp>
        <p:nvSpPr>
          <p:cNvPr id="13" name="Text 11"/>
          <p:cNvSpPr/>
          <p:nvPr/>
        </p:nvSpPr>
        <p:spPr>
          <a:xfrm>
            <a:off x="758952" y="1719072"/>
            <a:ext cx="585216" cy="310896"/>
          </a:xfrm>
          <a:prstGeom prst="rect">
            <a:avLst/>
          </a:prstGeom>
          <a:noFill/>
          <a:ln/>
        </p:spPr>
        <p:txBody>
          <a:bodyPr wrap="square" lIns="0" tIns="0" rIns="0" bIns="0" rtlCol="0" anchor="ctr"/>
          <a:lstStyle/>
          <a:p>
            <a:pPr algn="ctr" indent="0" marL="0">
              <a:buNone/>
            </a:pPr>
            <a:r>
              <a:rPr lang="en-US" sz="1200" b="1" dirty="0">
                <a:solidFill>
                  <a:srgbClr val="262B3A"/>
                </a:solidFill>
                <a:latin typeface="Calibri" pitchFamily="34" charset="0"/>
                <a:ea typeface="Calibri" pitchFamily="34" charset="-122"/>
                <a:cs typeface="Calibri" pitchFamily="34" charset="-120"/>
              </a:rPr>
              <a:t>Mg</a:t>
            </a:r>
            <a:endParaRPr lang="en-US" sz="1200" dirty="0"/>
          </a:p>
        </p:txBody>
      </p:sp>
      <p:sp>
        <p:nvSpPr>
          <p:cNvPr id="14" name="Shape 12"/>
          <p:cNvSpPr/>
          <p:nvPr/>
        </p:nvSpPr>
        <p:spPr>
          <a:xfrm>
            <a:off x="1417320" y="1874520"/>
            <a:ext cx="822960" cy="91"/>
          </a:xfrm>
          <a:prstGeom prst="line">
            <a:avLst/>
          </a:prstGeom>
          <a:noFill/>
          <a:ln w="25400">
            <a:solidFill>
              <a:srgbClr val="2A1F3D"/>
            </a:solidFill>
            <a:prstDash val="solid"/>
            <a:tailEnd type="triangle"/>
          </a:ln>
        </p:spPr>
      </p:sp>
      <p:sp>
        <p:nvSpPr>
          <p:cNvPr id="15" name="Shape 13"/>
          <p:cNvSpPr/>
          <p:nvPr/>
        </p:nvSpPr>
        <p:spPr>
          <a:xfrm>
            <a:off x="2276856" y="1545336"/>
            <a:ext cx="658368" cy="658368"/>
          </a:xfrm>
          <a:prstGeom prst="ellipse">
            <a:avLst/>
          </a:prstGeom>
          <a:solidFill>
            <a:srgbClr val="E3E6EA"/>
          </a:solidFill>
          <a:ln w="19050">
            <a:solidFill>
              <a:srgbClr val="4A5262"/>
            </a:solidFill>
            <a:prstDash val="solid"/>
          </a:ln>
        </p:spPr>
      </p:sp>
      <p:sp>
        <p:nvSpPr>
          <p:cNvPr id="16" name="Text 14"/>
          <p:cNvSpPr/>
          <p:nvPr/>
        </p:nvSpPr>
        <p:spPr>
          <a:xfrm>
            <a:off x="2276856" y="1719072"/>
            <a:ext cx="658368" cy="310896"/>
          </a:xfrm>
          <a:prstGeom prst="rect">
            <a:avLst/>
          </a:prstGeom>
          <a:noFill/>
          <a:ln/>
        </p:spPr>
        <p:txBody>
          <a:bodyPr wrap="square" lIns="0" tIns="0" rIns="0" bIns="0" rtlCol="0" anchor="ctr"/>
          <a:lstStyle/>
          <a:p>
            <a:pPr algn="ctr" indent="0" marL="0">
              <a:buNone/>
            </a:pPr>
            <a:r>
              <a:rPr lang="en-US" sz="1200" b="1" dirty="0">
                <a:solidFill>
                  <a:srgbClr val="262B3A"/>
                </a:solidFill>
                <a:latin typeface="Calibri" pitchFamily="34" charset="0"/>
                <a:ea typeface="Calibri" pitchFamily="34" charset="-122"/>
                <a:cs typeface="Calibri" pitchFamily="34" charset="-120"/>
              </a:rPr>
              <a:t>Mg²⁺</a:t>
            </a:r>
            <a:endParaRPr lang="en-US" sz="1200" dirty="0"/>
          </a:p>
        </p:txBody>
      </p:sp>
      <p:sp>
        <p:nvSpPr>
          <p:cNvPr id="17" name="Shape 15"/>
          <p:cNvSpPr/>
          <p:nvPr/>
        </p:nvSpPr>
        <p:spPr>
          <a:xfrm>
            <a:off x="722376" y="3236976"/>
            <a:ext cx="658368" cy="658368"/>
          </a:xfrm>
          <a:prstGeom prst="ellipse">
            <a:avLst/>
          </a:prstGeom>
          <a:solidFill>
            <a:srgbClr val="8EC9F0"/>
          </a:solidFill>
          <a:ln w="19050">
            <a:solidFill>
              <a:srgbClr val="1F5F99"/>
            </a:solidFill>
            <a:prstDash val="solid"/>
          </a:ln>
        </p:spPr>
      </p:sp>
      <p:sp>
        <p:nvSpPr>
          <p:cNvPr id="18" name="Text 16"/>
          <p:cNvSpPr/>
          <p:nvPr/>
        </p:nvSpPr>
        <p:spPr>
          <a:xfrm>
            <a:off x="722376" y="3410712"/>
            <a:ext cx="658368" cy="310896"/>
          </a:xfrm>
          <a:prstGeom prst="rect">
            <a:avLst/>
          </a:prstGeom>
          <a:noFill/>
          <a:ln/>
        </p:spPr>
        <p:txBody>
          <a:bodyPr wrap="square" lIns="0" tIns="0" rIns="0" bIns="0" rtlCol="0" anchor="ctr"/>
          <a:lstStyle/>
          <a:p>
            <a:pPr algn="ctr" indent="0" marL="0">
              <a:buNone/>
            </a:pPr>
            <a:r>
              <a:rPr lang="en-US" sz="1200" b="1" dirty="0">
                <a:solidFill>
                  <a:srgbClr val="262B3A"/>
                </a:solidFill>
                <a:latin typeface="Calibri" pitchFamily="34" charset="0"/>
                <a:ea typeface="Calibri" pitchFamily="34" charset="-122"/>
                <a:cs typeface="Calibri" pitchFamily="34" charset="-120"/>
              </a:rPr>
              <a:t>Cu²⁺</a:t>
            </a:r>
            <a:endParaRPr lang="en-US" sz="1200" dirty="0"/>
          </a:p>
        </p:txBody>
      </p:sp>
      <p:sp>
        <p:nvSpPr>
          <p:cNvPr id="19" name="Shape 17"/>
          <p:cNvSpPr/>
          <p:nvPr/>
        </p:nvSpPr>
        <p:spPr>
          <a:xfrm>
            <a:off x="1463040" y="3566160"/>
            <a:ext cx="777240" cy="91"/>
          </a:xfrm>
          <a:prstGeom prst="line">
            <a:avLst/>
          </a:prstGeom>
          <a:noFill/>
          <a:ln w="25400">
            <a:solidFill>
              <a:srgbClr val="2A1F3D"/>
            </a:solidFill>
            <a:prstDash val="solid"/>
            <a:tailEnd type="triangle"/>
          </a:ln>
        </p:spPr>
      </p:sp>
      <p:sp>
        <p:nvSpPr>
          <p:cNvPr id="20" name="Shape 18"/>
          <p:cNvSpPr/>
          <p:nvPr/>
        </p:nvSpPr>
        <p:spPr>
          <a:xfrm>
            <a:off x="2313432" y="3273552"/>
            <a:ext cx="585216" cy="585216"/>
          </a:xfrm>
          <a:prstGeom prst="ellipse">
            <a:avLst/>
          </a:prstGeom>
          <a:solidFill>
            <a:srgbClr val="C8783A"/>
          </a:solidFill>
          <a:ln w="19050">
            <a:solidFill>
              <a:srgbClr val="8A4A1A"/>
            </a:solidFill>
            <a:prstDash val="solid"/>
          </a:ln>
        </p:spPr>
      </p:sp>
      <p:sp>
        <p:nvSpPr>
          <p:cNvPr id="21" name="Text 19"/>
          <p:cNvSpPr/>
          <p:nvPr/>
        </p:nvSpPr>
        <p:spPr>
          <a:xfrm>
            <a:off x="2313432" y="3410712"/>
            <a:ext cx="585216" cy="310896"/>
          </a:xfrm>
          <a:prstGeom prst="rect">
            <a:avLst/>
          </a:prstGeom>
          <a:noFill/>
          <a:ln/>
        </p:spPr>
        <p:txBody>
          <a:bodyPr wrap="square" lIns="0" tIns="0" rIns="0" bIns="0" rtlCol="0" anchor="ctr"/>
          <a:lstStyle/>
          <a:p>
            <a:pPr algn="ctr" indent="0" marL="0">
              <a:buNone/>
            </a:pPr>
            <a:r>
              <a:rPr lang="en-US" sz="1200" b="1" dirty="0">
                <a:solidFill>
                  <a:srgbClr val="262B3A"/>
                </a:solidFill>
                <a:latin typeface="Calibri" pitchFamily="34" charset="0"/>
                <a:ea typeface="Calibri" pitchFamily="34" charset="-122"/>
                <a:cs typeface="Calibri" pitchFamily="34" charset="-120"/>
              </a:rPr>
              <a:t>Cu</a:t>
            </a:r>
            <a:endParaRPr lang="en-US" sz="1200" dirty="0"/>
          </a:p>
        </p:txBody>
      </p:sp>
      <p:sp>
        <p:nvSpPr>
          <p:cNvPr id="22" name="Shape 20"/>
          <p:cNvSpPr/>
          <p:nvPr/>
        </p:nvSpPr>
        <p:spPr>
          <a:xfrm>
            <a:off x="3127248" y="1755648"/>
            <a:ext cx="237744" cy="237744"/>
          </a:xfrm>
          <a:prstGeom prst="ellipse">
            <a:avLst/>
          </a:prstGeom>
          <a:solidFill>
            <a:srgbClr val="F5D04A"/>
          </a:solidFill>
          <a:ln w="12700">
            <a:solidFill>
              <a:srgbClr val="B8950A"/>
            </a:solidFill>
            <a:prstDash val="solid"/>
          </a:ln>
        </p:spPr>
      </p:sp>
      <p:sp>
        <p:nvSpPr>
          <p:cNvPr id="23" name="Text 21"/>
          <p:cNvSpPr/>
          <p:nvPr/>
        </p:nvSpPr>
        <p:spPr>
          <a:xfrm>
            <a:off x="3127248" y="1764792"/>
            <a:ext cx="237744" cy="219456"/>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e⁻</a:t>
            </a:r>
            <a:endParaRPr lang="en-US" sz="1000" dirty="0"/>
          </a:p>
        </p:txBody>
      </p:sp>
      <p:sp>
        <p:nvSpPr>
          <p:cNvPr id="24" name="Shape 22"/>
          <p:cNvSpPr/>
          <p:nvPr/>
        </p:nvSpPr>
        <p:spPr>
          <a:xfrm>
            <a:off x="3447288" y="1755648"/>
            <a:ext cx="237744" cy="237744"/>
          </a:xfrm>
          <a:prstGeom prst="ellipse">
            <a:avLst/>
          </a:prstGeom>
          <a:solidFill>
            <a:srgbClr val="F5D04A"/>
          </a:solidFill>
          <a:ln w="12700">
            <a:solidFill>
              <a:srgbClr val="B8950A"/>
            </a:solidFill>
            <a:prstDash val="solid"/>
          </a:ln>
        </p:spPr>
      </p:sp>
      <p:sp>
        <p:nvSpPr>
          <p:cNvPr id="25" name="Text 23"/>
          <p:cNvSpPr/>
          <p:nvPr/>
        </p:nvSpPr>
        <p:spPr>
          <a:xfrm>
            <a:off x="3447288" y="1764792"/>
            <a:ext cx="237744" cy="219456"/>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e⁻</a:t>
            </a:r>
            <a:endParaRPr lang="en-US" sz="1000" dirty="0"/>
          </a:p>
        </p:txBody>
      </p:sp>
      <p:sp>
        <p:nvSpPr>
          <p:cNvPr id="26" name="Shape 24"/>
          <p:cNvSpPr/>
          <p:nvPr/>
        </p:nvSpPr>
        <p:spPr>
          <a:xfrm flipH="1">
            <a:off x="1965960" y="2103120"/>
            <a:ext cx="1417320" cy="1298448"/>
          </a:xfrm>
          <a:prstGeom prst="line">
            <a:avLst/>
          </a:prstGeom>
          <a:noFill/>
          <a:ln w="31750">
            <a:solidFill>
              <a:srgbClr val="B8950A"/>
            </a:solidFill>
            <a:prstDash val="dash"/>
            <a:tailEnd type="triangle"/>
          </a:ln>
        </p:spPr>
      </p:sp>
      <p:sp>
        <p:nvSpPr>
          <p:cNvPr id="27" name="Text 25"/>
          <p:cNvSpPr/>
          <p:nvPr/>
        </p:nvSpPr>
        <p:spPr>
          <a:xfrm>
            <a:off x="2926080" y="2697480"/>
            <a:ext cx="2011680" cy="256032"/>
          </a:xfrm>
          <a:prstGeom prst="rect">
            <a:avLst/>
          </a:prstGeom>
          <a:noFill/>
          <a:ln/>
        </p:spPr>
        <p:txBody>
          <a:bodyPr wrap="square" lIns="0" tIns="0" rIns="0" bIns="0" rtlCol="0" anchor="ctr"/>
          <a:lstStyle/>
          <a:p>
            <a:pPr algn="l" indent="0" marL="0">
              <a:buNone/>
            </a:pPr>
            <a:r>
              <a:rPr lang="en-US" sz="1050" b="1" dirty="0">
                <a:solidFill>
                  <a:srgbClr val="B8950A"/>
                </a:solidFill>
                <a:latin typeface="Calibri" pitchFamily="34" charset="0"/>
                <a:ea typeface="Calibri" pitchFamily="34" charset="-122"/>
                <a:cs typeface="Calibri" pitchFamily="34" charset="-120"/>
              </a:rPr>
              <a:t>2 electrons transferred</a:t>
            </a:r>
            <a:endParaRPr lang="en-US" sz="1050" dirty="0"/>
          </a:p>
        </p:txBody>
      </p:sp>
      <p:sp>
        <p:nvSpPr>
          <p:cNvPr id="28" name="Text 26"/>
          <p:cNvSpPr/>
          <p:nvPr/>
        </p:nvSpPr>
        <p:spPr>
          <a:xfrm>
            <a:off x="1417320" y="3246120"/>
            <a:ext cx="548640" cy="256032"/>
          </a:xfrm>
          <a:prstGeom prst="rect">
            <a:avLst/>
          </a:prstGeom>
          <a:noFill/>
          <a:ln/>
        </p:spPr>
        <p:txBody>
          <a:bodyPr wrap="square" lIns="0" tIns="0" rIns="0" bIns="0" rtlCol="0" anchor="ctr"/>
          <a:lstStyle/>
          <a:p>
            <a:pPr algn="ctr" indent="0" marL="0">
              <a:buNone/>
            </a:pPr>
            <a:r>
              <a:rPr lang="en-US" sz="1050" b="1" dirty="0">
                <a:solidFill>
                  <a:srgbClr val="B8950A"/>
                </a:solidFill>
                <a:latin typeface="Calibri" pitchFamily="34" charset="0"/>
                <a:ea typeface="Calibri" pitchFamily="34" charset="-122"/>
                <a:cs typeface="Calibri" pitchFamily="34" charset="-120"/>
              </a:rPr>
              <a:t>+ 2e⁻</a:t>
            </a:r>
            <a:endParaRPr lang="en-US" sz="1050" dirty="0"/>
          </a:p>
        </p:txBody>
      </p:sp>
      <p:sp>
        <p:nvSpPr>
          <p:cNvPr id="29" name="Text 27"/>
          <p:cNvSpPr/>
          <p:nvPr/>
        </p:nvSpPr>
        <p:spPr>
          <a:xfrm>
            <a:off x="640080" y="2286000"/>
            <a:ext cx="3017520" cy="256032"/>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OXIDATION</a:t>
            </a:r>
            <a:r>
              <a:rPr lang="en-US" sz="1100" dirty="0">
                <a:solidFill>
                  <a:srgbClr val="C8414C"/>
                </a:solidFill>
                <a:latin typeface="Calibri" pitchFamily="34" charset="0"/>
                <a:ea typeface="Calibri" pitchFamily="34" charset="-122"/>
                <a:cs typeface="Calibri" pitchFamily="34" charset="-120"/>
              </a:rPr>
              <a:t>: Mg </a:t>
            </a:r>
            <a:r>
              <a:rPr lang="en-US" sz="1100" b="1" dirty="0">
                <a:solidFill>
                  <a:srgbClr val="C8414C"/>
                </a:solidFill>
                <a:latin typeface="Calibri" pitchFamily="34" charset="0"/>
                <a:ea typeface="Calibri" pitchFamily="34" charset="-122"/>
                <a:cs typeface="Calibri" pitchFamily="34" charset="-120"/>
              </a:rPr>
              <a:t>loses</a:t>
            </a:r>
            <a:r>
              <a:rPr lang="en-US" sz="1100" dirty="0">
                <a:solidFill>
                  <a:srgbClr val="C8414C"/>
                </a:solidFill>
                <a:latin typeface="Calibri" pitchFamily="34" charset="0"/>
                <a:ea typeface="Calibri" pitchFamily="34" charset="-122"/>
                <a:cs typeface="Calibri" pitchFamily="34" charset="-120"/>
              </a:rPr>
              <a:t> electrons</a:t>
            </a:r>
            <a:endParaRPr lang="en-US" sz="1100" dirty="0"/>
          </a:p>
        </p:txBody>
      </p:sp>
      <p:sp>
        <p:nvSpPr>
          <p:cNvPr id="30" name="Text 28"/>
          <p:cNvSpPr/>
          <p:nvPr/>
        </p:nvSpPr>
        <p:spPr>
          <a:xfrm>
            <a:off x="640080" y="3977640"/>
            <a:ext cx="3017520" cy="256032"/>
          </a:xfrm>
          <a:prstGeom prst="rect">
            <a:avLst/>
          </a:prstGeom>
          <a:noFill/>
          <a:ln/>
        </p:spPr>
        <p:txBody>
          <a:bodyPr wrap="square" lIns="0" tIns="0" rIns="0" bIns="0" rtlCol="0" anchor="ctr"/>
          <a:lstStyle/>
          <a:p>
            <a:pPr algn="l" indent="0" marL="0">
              <a:buNone/>
            </a:pPr>
            <a:r>
              <a:rPr lang="en-US" sz="1100" b="1" dirty="0">
                <a:solidFill>
                  <a:srgbClr val="1F5F99"/>
                </a:solidFill>
                <a:latin typeface="Calibri" pitchFamily="34" charset="0"/>
                <a:ea typeface="Calibri" pitchFamily="34" charset="-122"/>
                <a:cs typeface="Calibri" pitchFamily="34" charset="-120"/>
              </a:rPr>
              <a:t>REDUCTION</a:t>
            </a:r>
            <a:r>
              <a:rPr lang="en-US" sz="1100" dirty="0">
                <a:solidFill>
                  <a:srgbClr val="1F5F99"/>
                </a:solidFill>
                <a:latin typeface="Calibri" pitchFamily="34" charset="0"/>
                <a:ea typeface="Calibri" pitchFamily="34" charset="-122"/>
                <a:cs typeface="Calibri" pitchFamily="34" charset="-120"/>
              </a:rPr>
              <a:t>: Cu²⁺ </a:t>
            </a:r>
            <a:r>
              <a:rPr lang="en-US" sz="1100" b="1" dirty="0">
                <a:solidFill>
                  <a:srgbClr val="1F5F99"/>
                </a:solidFill>
                <a:latin typeface="Calibri" pitchFamily="34" charset="0"/>
                <a:ea typeface="Calibri" pitchFamily="34" charset="-122"/>
                <a:cs typeface="Calibri" pitchFamily="34" charset="-120"/>
              </a:rPr>
              <a:t>gains</a:t>
            </a:r>
            <a:r>
              <a:rPr lang="en-US" sz="1100" dirty="0">
                <a:solidFill>
                  <a:srgbClr val="1F5F99"/>
                </a:solidFill>
                <a:latin typeface="Calibri" pitchFamily="34" charset="0"/>
                <a:ea typeface="Calibri" pitchFamily="34" charset="-122"/>
                <a:cs typeface="Calibri" pitchFamily="34" charset="-120"/>
              </a:rPr>
              <a:t> electrons</a:t>
            </a:r>
            <a:endParaRPr lang="en-US" sz="1100" dirty="0"/>
          </a:p>
        </p:txBody>
      </p:sp>
      <p:sp>
        <p:nvSpPr>
          <p:cNvPr id="31" name="Shape 29"/>
          <p:cNvSpPr/>
          <p:nvPr/>
        </p:nvSpPr>
        <p:spPr>
          <a:xfrm>
            <a:off x="640080" y="4434840"/>
            <a:ext cx="5120640" cy="841248"/>
          </a:xfrm>
          <a:prstGeom prst="roundRect">
            <a:avLst>
              <a:gd name="adj" fmla="val 6522"/>
            </a:avLst>
          </a:prstGeom>
          <a:solidFill>
            <a:srgbClr val="2E1A47"/>
          </a:solidFill>
          <a:ln/>
        </p:spPr>
      </p:sp>
      <p:sp>
        <p:nvSpPr>
          <p:cNvPr id="32" name="Text 30"/>
          <p:cNvSpPr/>
          <p:nvPr/>
        </p:nvSpPr>
        <p:spPr>
          <a:xfrm>
            <a:off x="777240" y="4434840"/>
            <a:ext cx="3291840" cy="841248"/>
          </a:xfrm>
          <a:prstGeom prst="rect">
            <a:avLst/>
          </a:prstGeom>
          <a:noFill/>
          <a:ln/>
        </p:spPr>
        <p:txBody>
          <a:bodyPr wrap="square" lIns="0" tIns="0" rIns="0" bIns="0" rtlCol="0" anchor="ctr"/>
          <a:lstStyle/>
          <a:p>
            <a:pPr indent="0" marL="0">
              <a:buNone/>
            </a:pPr>
            <a:r>
              <a:rPr lang="en-US" sz="2000" b="1" dirty="0">
                <a:solidFill>
                  <a:srgbClr val="F5D04A"/>
                </a:solidFill>
                <a:latin typeface="Georgia" pitchFamily="34" charset="0"/>
                <a:ea typeface="Georgia" pitchFamily="34" charset="-122"/>
                <a:cs typeface="Georgia" pitchFamily="34" charset="-120"/>
              </a:rPr>
              <a:t>OIL RIG</a:t>
            </a:r>
            <a:endParaRPr lang="en-US" sz="2000" dirty="0"/>
          </a:p>
          <a:p>
            <a:pPr indent="0" marL="0">
              <a:buNone/>
            </a:pPr>
            <a:r>
              <a:rPr lang="en-US" sz="1150" dirty="0">
                <a:solidFill>
                  <a:srgbClr val="FFFFFF"/>
                </a:solidFill>
                <a:latin typeface="Calibri" pitchFamily="34" charset="0"/>
                <a:ea typeface="Calibri" pitchFamily="34" charset="-122"/>
                <a:cs typeface="Calibri" pitchFamily="34" charset="-120"/>
              </a:rPr>
              <a:t>Oxidation Is Loss • Reduction Is Gain (of electrons)</a:t>
            </a:r>
            <a:endParaRPr lang="en-US" sz="2000" dirty="0"/>
          </a:p>
        </p:txBody>
      </p:sp>
      <p:sp>
        <p:nvSpPr>
          <p:cNvPr id="33" name="Text 31"/>
          <p:cNvSpPr/>
          <p:nvPr/>
        </p:nvSpPr>
        <p:spPr>
          <a:xfrm>
            <a:off x="4206240" y="4434840"/>
            <a:ext cx="1463040" cy="841248"/>
          </a:xfrm>
          <a:prstGeom prst="rect">
            <a:avLst/>
          </a:prstGeom>
          <a:noFill/>
          <a:ln/>
        </p:spPr>
        <p:txBody>
          <a:bodyPr wrap="square" lIns="0" tIns="0" rIns="0" bIns="0" rtlCol="0" anchor="ctr"/>
          <a:lstStyle/>
          <a:p>
            <a:pPr algn="ctr" indent="0" marL="0">
              <a:buNone/>
            </a:pPr>
            <a:r>
              <a:rPr lang="en-US" sz="1400" b="1" dirty="0">
                <a:solidFill>
                  <a:srgbClr val="F5D04A"/>
                </a:solidFill>
                <a:latin typeface="Calibri" pitchFamily="34" charset="0"/>
                <a:ea typeface="Calibri" pitchFamily="34" charset="-122"/>
                <a:cs typeface="Calibri" pitchFamily="34" charset="-120"/>
              </a:rPr>
              <a:t>RED CAT</a:t>
            </a:r>
            <a:endParaRPr lang="en-US" sz="1400" dirty="0"/>
          </a:p>
          <a:p>
            <a:pPr algn="ctr" indent="0" marL="0">
              <a:buNone/>
            </a:pPr>
            <a:r>
              <a:rPr lang="en-US" sz="1400" b="1" dirty="0">
                <a:solidFill>
                  <a:srgbClr val="F5D04A"/>
                </a:solidFill>
                <a:latin typeface="Calibri" pitchFamily="34" charset="0"/>
                <a:ea typeface="Calibri" pitchFamily="34" charset="-122"/>
                <a:cs typeface="Calibri" pitchFamily="34" charset="-120"/>
              </a:rPr>
              <a:t>AN OX</a:t>
            </a:r>
            <a:endParaRPr lang="en-US" sz="1400" dirty="0"/>
          </a:p>
        </p:txBody>
      </p:sp>
      <p:sp>
        <p:nvSpPr>
          <p:cNvPr id="34" name="Shape 32"/>
          <p:cNvSpPr/>
          <p:nvPr/>
        </p:nvSpPr>
        <p:spPr>
          <a:xfrm>
            <a:off x="6217920" y="1188720"/>
            <a:ext cx="5562295" cy="2331720"/>
          </a:xfrm>
          <a:prstGeom prst="roundRect">
            <a:avLst>
              <a:gd name="adj" fmla="val 2353"/>
            </a:avLst>
          </a:prstGeom>
          <a:solidFill>
            <a:srgbClr val="F8F5FC"/>
          </a:solidFill>
          <a:ln w="9525">
            <a:solidFill>
              <a:srgbClr val="DDD3EC"/>
            </a:solidFill>
            <a:prstDash val="solid"/>
          </a:ln>
        </p:spPr>
      </p:sp>
      <p:sp>
        <p:nvSpPr>
          <p:cNvPr id="35" name="Text 3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In terms of electrons</a:t>
            </a:r>
            <a:endParaRPr lang="en-US" sz="1300" dirty="0"/>
          </a:p>
        </p:txBody>
      </p:sp>
      <p:sp>
        <p:nvSpPr>
          <p:cNvPr id="36" name="Text 34"/>
          <p:cNvSpPr/>
          <p:nvPr/>
        </p:nvSpPr>
        <p:spPr>
          <a:xfrm>
            <a:off x="6382512" y="1609344"/>
            <a:ext cx="5233111" cy="183794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Oxidation</a:t>
            </a:r>
            <a:r>
              <a:rPr lang="en-US" sz="1150" dirty="0">
                <a:solidFill>
                  <a:srgbClr val="262B3A"/>
                </a:solidFill>
                <a:latin typeface="Calibri" pitchFamily="34" charset="0"/>
                <a:ea typeface="Calibri" pitchFamily="34" charset="-122"/>
                <a:cs typeface="Calibri" pitchFamily="34" charset="-120"/>
              </a:rPr>
              <a:t> is the </a:t>
            </a:r>
            <a:r>
              <a:rPr lang="en-US" sz="1150" b="1" dirty="0">
                <a:solidFill>
                  <a:srgbClr val="262B3A"/>
                </a:solidFill>
                <a:latin typeface="Calibri" pitchFamily="34" charset="0"/>
                <a:ea typeface="Calibri" pitchFamily="34" charset="-122"/>
                <a:cs typeface="Calibri" pitchFamily="34" charset="-120"/>
              </a:rPr>
              <a:t>loss</a:t>
            </a:r>
            <a:r>
              <a:rPr lang="en-US" sz="1150" dirty="0">
                <a:solidFill>
                  <a:srgbClr val="262B3A"/>
                </a:solidFill>
                <a:latin typeface="Calibri" pitchFamily="34" charset="0"/>
                <a:ea typeface="Calibri" pitchFamily="34" charset="-122"/>
                <a:cs typeface="Calibri" pitchFamily="34" charset="-120"/>
              </a:rPr>
              <a:t> of electrons (HT).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Reduction</a:t>
            </a:r>
            <a:r>
              <a:rPr lang="en-US" sz="1150" dirty="0">
                <a:solidFill>
                  <a:srgbClr val="262B3A"/>
                </a:solidFill>
                <a:latin typeface="Calibri" pitchFamily="34" charset="0"/>
                <a:ea typeface="Calibri" pitchFamily="34" charset="-122"/>
                <a:cs typeface="Calibri" pitchFamily="34" charset="-120"/>
              </a:rPr>
              <a:t> is the </a:t>
            </a:r>
            <a:r>
              <a:rPr lang="en-US" sz="1150" b="1" dirty="0">
                <a:solidFill>
                  <a:srgbClr val="262B3A"/>
                </a:solidFill>
                <a:latin typeface="Calibri" pitchFamily="34" charset="0"/>
                <a:ea typeface="Calibri" pitchFamily="34" charset="-122"/>
                <a:cs typeface="Calibri" pitchFamily="34" charset="-120"/>
              </a:rPr>
              <a:t>gain</a:t>
            </a:r>
            <a:r>
              <a:rPr lang="en-US" sz="1150" dirty="0">
                <a:solidFill>
                  <a:srgbClr val="262B3A"/>
                </a:solidFill>
                <a:latin typeface="Calibri" pitchFamily="34" charset="0"/>
                <a:ea typeface="Calibri" pitchFamily="34" charset="-122"/>
                <a:cs typeface="Calibri" pitchFamily="34" charset="-120"/>
              </a:rPr>
              <a:t> of electrons (HT).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electrolysis, </a:t>
            </a:r>
            <a:r>
              <a:rPr lang="en-US" sz="1150" b="1" dirty="0">
                <a:solidFill>
                  <a:srgbClr val="262B3A"/>
                </a:solidFill>
                <a:latin typeface="Calibri" pitchFamily="34" charset="0"/>
                <a:ea typeface="Calibri" pitchFamily="34" charset="-122"/>
                <a:cs typeface="Calibri" pitchFamily="34" charset="-120"/>
              </a:rPr>
              <a:t>reduction</a:t>
            </a:r>
            <a:r>
              <a:rPr lang="en-US" sz="1150" dirty="0">
                <a:solidFill>
                  <a:srgbClr val="262B3A"/>
                </a:solidFill>
                <a:latin typeface="Calibri" pitchFamily="34" charset="0"/>
                <a:ea typeface="Calibri" pitchFamily="34" charset="-122"/>
                <a:cs typeface="Calibri" pitchFamily="34" charset="-120"/>
              </a:rPr>
              <a:t> happens at the </a:t>
            </a:r>
            <a:r>
              <a:rPr lang="en-US" sz="1150" b="1" dirty="0">
                <a:solidFill>
                  <a:srgbClr val="262B3A"/>
                </a:solidFill>
                <a:latin typeface="Calibri" pitchFamily="34" charset="0"/>
                <a:ea typeface="Calibri" pitchFamily="34" charset="-122"/>
                <a:cs typeface="Calibri" pitchFamily="34" charset="-120"/>
              </a:rPr>
              <a:t>cathode</a:t>
            </a:r>
            <a:r>
              <a:rPr lang="en-US" sz="1150" dirty="0">
                <a:solidFill>
                  <a:srgbClr val="262B3A"/>
                </a:solidFill>
                <a:latin typeface="Calibri" pitchFamily="34" charset="0"/>
                <a:ea typeface="Calibri" pitchFamily="34" charset="-122"/>
                <a:cs typeface="Calibri" pitchFamily="34" charset="-120"/>
              </a:rPr>
              <a:t> (cations gain electrons) and </a:t>
            </a:r>
            <a:r>
              <a:rPr lang="en-US" sz="1150" b="1" dirty="0">
                <a:solidFill>
                  <a:srgbClr val="262B3A"/>
                </a:solidFill>
                <a:latin typeface="Calibri" pitchFamily="34" charset="0"/>
                <a:ea typeface="Calibri" pitchFamily="34" charset="-122"/>
                <a:cs typeface="Calibri" pitchFamily="34" charset="-120"/>
              </a:rPr>
              <a:t>oxidation</a:t>
            </a:r>
            <a:r>
              <a:rPr lang="en-US" sz="1150" dirty="0">
                <a:solidFill>
                  <a:srgbClr val="262B3A"/>
                </a:solidFill>
                <a:latin typeface="Calibri" pitchFamily="34" charset="0"/>
                <a:ea typeface="Calibri" pitchFamily="34" charset="-122"/>
                <a:cs typeface="Calibri" pitchFamily="34" charset="-120"/>
              </a:rPr>
              <a:t> at the </a:t>
            </a:r>
            <a:r>
              <a:rPr lang="en-US" sz="1150" b="1" dirty="0">
                <a:solidFill>
                  <a:srgbClr val="262B3A"/>
                </a:solidFill>
                <a:latin typeface="Calibri" pitchFamily="34" charset="0"/>
                <a:ea typeface="Calibri" pitchFamily="34" charset="-122"/>
                <a:cs typeface="Calibri" pitchFamily="34" charset="-120"/>
              </a:rPr>
              <a:t>anode</a:t>
            </a:r>
            <a:r>
              <a:rPr lang="en-US" sz="1150" dirty="0">
                <a:solidFill>
                  <a:srgbClr val="262B3A"/>
                </a:solidFill>
                <a:latin typeface="Calibri" pitchFamily="34" charset="0"/>
                <a:ea typeface="Calibri" pitchFamily="34" charset="-122"/>
                <a:cs typeface="Calibri" pitchFamily="34" charset="-120"/>
              </a:rPr>
              <a:t> (anions lose electrons).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Oxidation and reduction always happen </a:t>
            </a:r>
            <a:r>
              <a:rPr lang="en-US" sz="1150" b="1" dirty="0">
                <a:solidFill>
                  <a:srgbClr val="262B3A"/>
                </a:solidFill>
                <a:latin typeface="Calibri" pitchFamily="34" charset="0"/>
                <a:ea typeface="Calibri" pitchFamily="34" charset="-122"/>
                <a:cs typeface="Calibri" pitchFamily="34" charset="-120"/>
              </a:rPr>
              <a:t>together</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redox</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37" name="Shape 35"/>
          <p:cNvSpPr/>
          <p:nvPr/>
        </p:nvSpPr>
        <p:spPr>
          <a:xfrm>
            <a:off x="6217920" y="3657600"/>
            <a:ext cx="5562295" cy="2057400"/>
          </a:xfrm>
          <a:prstGeom prst="roundRect">
            <a:avLst>
              <a:gd name="adj" fmla="val 2667"/>
            </a:avLst>
          </a:prstGeom>
          <a:solidFill>
            <a:srgbClr val="FFF4E0"/>
          </a:solidFill>
          <a:ln w="9525">
            <a:solidFill>
              <a:srgbClr val="F1D9A8"/>
            </a:solidFill>
            <a:prstDash val="solid"/>
          </a:ln>
        </p:spPr>
      </p:sp>
      <p:sp>
        <p:nvSpPr>
          <p:cNvPr id="38" name="Text 36"/>
          <p:cNvSpPr/>
          <p:nvPr/>
        </p:nvSpPr>
        <p:spPr>
          <a:xfrm>
            <a:off x="6382512" y="37307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From ionic equation to half equations</a:t>
            </a:r>
            <a:endParaRPr lang="en-US" sz="1300" dirty="0"/>
          </a:p>
        </p:txBody>
      </p:sp>
      <p:sp>
        <p:nvSpPr>
          <p:cNvPr id="39" name="Text 37"/>
          <p:cNvSpPr/>
          <p:nvPr/>
        </p:nvSpPr>
        <p:spPr>
          <a:xfrm>
            <a:off x="6382512" y="4041648"/>
            <a:ext cx="5233111" cy="16002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Magnesium is added to copper sulfate solution.</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Full   </a:t>
            </a:r>
            <a:r>
              <a:rPr lang="en-US" sz="1050" dirty="0">
                <a:solidFill>
                  <a:srgbClr val="262B3A"/>
                </a:solidFill>
                <a:latin typeface="Calibri" pitchFamily="34" charset="0"/>
                <a:ea typeface="Calibri" pitchFamily="34" charset="-122"/>
                <a:cs typeface="Calibri" pitchFamily="34" charset="-120"/>
              </a:rPr>
              <a:t>Mg(s) + CuSO₄(aq) → MgSO₄(aq) + Cu(s)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Ionic   </a:t>
            </a:r>
            <a:r>
              <a:rPr lang="en-US" sz="1050" dirty="0">
                <a:solidFill>
                  <a:srgbClr val="262B3A"/>
                </a:solidFill>
                <a:latin typeface="Calibri" pitchFamily="34" charset="0"/>
                <a:ea typeface="Calibri" pitchFamily="34" charset="-122"/>
                <a:cs typeface="Calibri" pitchFamily="34" charset="-120"/>
              </a:rPr>
              <a:t>Mg(s) + Cu²⁺(aq) → Mg²⁺(aq) + Cu(s)  (SO₄²⁻ is a spectator)</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Halves   </a:t>
            </a:r>
            <a:r>
              <a:rPr lang="en-US" sz="1050" dirty="0">
                <a:solidFill>
                  <a:srgbClr val="262B3A"/>
                </a:solidFill>
                <a:latin typeface="Calibri" pitchFamily="34" charset="0"/>
                <a:ea typeface="Calibri" pitchFamily="34" charset="-122"/>
                <a:cs typeface="Calibri" pitchFamily="34" charset="-120"/>
              </a:rPr>
              <a:t>Mg(s) → Mg²⁺(aq) + 2e⁻  and  Cu²⁺(aq) + 2e⁻ → Cu(s)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Mg is oxidised (loses 2e⁻); Cu²⁺ is reduced (gains 2e⁻)</a:t>
            </a:r>
            <a:endParaRPr lang="en-US" sz="1050" dirty="0"/>
          </a:p>
        </p:txBody>
      </p:sp>
      <p:sp>
        <p:nvSpPr>
          <p:cNvPr id="40" name="Shape 38"/>
          <p:cNvSpPr/>
          <p:nvPr/>
        </p:nvSpPr>
        <p:spPr>
          <a:xfrm>
            <a:off x="411480" y="5833872"/>
            <a:ext cx="11368735" cy="530352"/>
          </a:xfrm>
          <a:prstGeom prst="rect">
            <a:avLst/>
          </a:prstGeom>
          <a:solidFill>
            <a:srgbClr val="FFF4E0"/>
          </a:solidFill>
          <a:ln w="6350">
            <a:solidFill>
              <a:srgbClr val="F1D9A8"/>
            </a:solidFill>
            <a:prstDash val="solid"/>
          </a:ln>
        </p:spPr>
      </p:sp>
      <p:sp>
        <p:nvSpPr>
          <p:cNvPr id="41" name="Shape 39"/>
          <p:cNvSpPr/>
          <p:nvPr/>
        </p:nvSpPr>
        <p:spPr>
          <a:xfrm>
            <a:off x="411480" y="5833872"/>
            <a:ext cx="82296" cy="530352"/>
          </a:xfrm>
          <a:prstGeom prst="rect">
            <a:avLst/>
          </a:prstGeom>
          <a:solidFill>
            <a:srgbClr val="E39A2F"/>
          </a:solidFill>
          <a:ln w="12700">
            <a:solidFill>
              <a:srgbClr val="E39A2F"/>
            </a:solidFill>
            <a:prstDash val="solid"/>
          </a:ln>
        </p:spPr>
      </p:sp>
      <p:sp>
        <p:nvSpPr>
          <p:cNvPr id="42" name="Text 4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In the electrolysis of molten lead bromide, which ion is </a:t>
            </a:r>
            <a:r>
              <a:rPr lang="en-US" sz="1150" b="1" dirty="0">
                <a:solidFill>
                  <a:srgbClr val="262B3A"/>
                </a:solidFill>
                <a:latin typeface="Calibri" pitchFamily="34" charset="0"/>
                <a:ea typeface="Calibri" pitchFamily="34" charset="-122"/>
                <a:cs typeface="Calibri" pitchFamily="34" charset="-120"/>
              </a:rPr>
              <a:t>reduced</a:t>
            </a:r>
            <a:r>
              <a:rPr lang="en-US" sz="1150" dirty="0">
                <a:solidFill>
                  <a:srgbClr val="262B3A"/>
                </a:solidFill>
                <a:latin typeface="Calibri" pitchFamily="34" charset="0"/>
                <a:ea typeface="Calibri" pitchFamily="34" charset="-122"/>
                <a:cs typeface="Calibri" pitchFamily="34" charset="-120"/>
              </a:rPr>
              <a:t> and which is </a:t>
            </a:r>
            <a:r>
              <a:rPr lang="en-US" sz="1150" b="1" dirty="0">
                <a:solidFill>
                  <a:srgbClr val="262B3A"/>
                </a:solidFill>
                <a:latin typeface="Calibri" pitchFamily="34" charset="0"/>
                <a:ea typeface="Calibri" pitchFamily="34" charset="-122"/>
                <a:cs typeface="Calibri" pitchFamily="34" charset="-120"/>
              </a:rPr>
              <a:t>oxidised</a:t>
            </a:r>
            <a:r>
              <a:rPr lang="en-US" sz="1150" dirty="0">
                <a:solidFill>
                  <a:srgbClr val="262B3A"/>
                </a:solidFill>
                <a:latin typeface="Calibri" pitchFamily="34" charset="0"/>
                <a:ea typeface="Calibri" pitchFamily="34" charset="-122"/>
                <a:cs typeface="Calibri" pitchFamily="34" charset="-120"/>
              </a:rPr>
              <a:t>? Explain in terms of electrons.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6</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3.22–3.29 • electrolysis and half equations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6  |  34</a:t>
            </a:r>
            <a:endParaRPr lang="en-US" sz="1000" dirty="0"/>
          </a:p>
        </p:txBody>
      </p:sp>
      <p:sp>
        <p:nvSpPr>
          <p:cNvPr id="10" name="Shape 8"/>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11" name="Shape 9"/>
          <p:cNvSpPr/>
          <p:nvPr/>
        </p:nvSpPr>
        <p:spPr>
          <a:xfrm>
            <a:off x="411480" y="1207008"/>
            <a:ext cx="2103120" cy="292608"/>
          </a:xfrm>
          <a:prstGeom prst="rect">
            <a:avLst/>
          </a:prstGeom>
          <a:solidFill>
            <a:srgbClr val="F5A742"/>
          </a:solidFill>
          <a:ln w="12700">
            <a:solidFill>
              <a:srgbClr val="F5A742"/>
            </a:solidFill>
            <a:prstDash val="solid"/>
          </a:ln>
        </p:spPr>
      </p:sp>
      <p:sp>
        <p:nvSpPr>
          <p:cNvPr id="12" name="Text 10"/>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3" name="Text 11"/>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Predict the products at the cathode and at the anode when </a:t>
            </a:r>
            <a:r>
              <a:rPr lang="en-US" sz="1250" b="1" dirty="0">
                <a:solidFill>
                  <a:srgbClr val="262B3A"/>
                </a:solidFill>
                <a:latin typeface="Calibri" pitchFamily="34" charset="0"/>
                <a:ea typeface="Calibri" pitchFamily="34" charset="-122"/>
                <a:cs typeface="Calibri" pitchFamily="34" charset="-120"/>
              </a:rPr>
              <a:t>molten zinc chloride</a:t>
            </a:r>
            <a:r>
              <a:rPr lang="en-US" sz="1250" dirty="0">
                <a:solidFill>
                  <a:srgbClr val="262B3A"/>
                </a:solidFill>
                <a:latin typeface="Calibri" pitchFamily="34" charset="0"/>
                <a:ea typeface="Calibri" pitchFamily="34" charset="-122"/>
                <a:cs typeface="Calibri" pitchFamily="34" charset="-120"/>
              </a:rPr>
              <a:t> is electrolysed.</a:t>
            </a:r>
            <a:endParaRPr lang="en-US" sz="1250" dirty="0"/>
          </a:p>
        </p:txBody>
      </p:sp>
      <p:sp>
        <p:nvSpPr>
          <p:cNvPr id="14" name="Text 12"/>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6" name="Shape 14"/>
          <p:cNvSpPr/>
          <p:nvPr/>
        </p:nvSpPr>
        <p:spPr>
          <a:xfrm>
            <a:off x="411480" y="2512314"/>
            <a:ext cx="2103120" cy="292608"/>
          </a:xfrm>
          <a:prstGeom prst="rect">
            <a:avLst/>
          </a:prstGeom>
          <a:solidFill>
            <a:srgbClr val="F5A742"/>
          </a:solidFill>
          <a:ln w="12700">
            <a:solidFill>
              <a:srgbClr val="F5A742"/>
            </a:solidFill>
            <a:prstDash val="solid"/>
          </a:ln>
        </p:spPr>
      </p:sp>
      <p:sp>
        <p:nvSpPr>
          <p:cNvPr id="17" name="Text 15"/>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8" name="Text 16"/>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Sodium chloride solution is electrolysed. Explain why </a:t>
            </a:r>
            <a:r>
              <a:rPr lang="en-US" sz="1250" b="1" dirty="0">
                <a:solidFill>
                  <a:srgbClr val="262B3A"/>
                </a:solidFill>
                <a:latin typeface="Calibri" pitchFamily="34" charset="0"/>
                <a:ea typeface="Calibri" pitchFamily="34" charset="-122"/>
                <a:cs typeface="Calibri" pitchFamily="34" charset="-120"/>
              </a:rPr>
              <a:t>hydrogen</a:t>
            </a:r>
            <a:r>
              <a:rPr lang="en-US" sz="1250" dirty="0">
                <a:solidFill>
                  <a:srgbClr val="262B3A"/>
                </a:solidFill>
                <a:latin typeface="Calibri" pitchFamily="34" charset="0"/>
                <a:ea typeface="Calibri" pitchFamily="34" charset="-122"/>
                <a:cs typeface="Calibri" pitchFamily="34" charset="-120"/>
              </a:rPr>
              <a:t>, not sodium, is produced at the cathode.</a:t>
            </a:r>
            <a:endParaRPr lang="en-US" sz="1250" dirty="0"/>
          </a:p>
        </p:txBody>
      </p:sp>
      <p:sp>
        <p:nvSpPr>
          <p:cNvPr id="19" name="Text 17"/>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0" name="Shape 18"/>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21" name="Shape 19"/>
          <p:cNvSpPr/>
          <p:nvPr/>
        </p:nvSpPr>
        <p:spPr>
          <a:xfrm>
            <a:off x="411480" y="3817620"/>
            <a:ext cx="2103120" cy="292608"/>
          </a:xfrm>
          <a:prstGeom prst="rect">
            <a:avLst/>
          </a:prstGeom>
          <a:solidFill>
            <a:srgbClr val="F5A742"/>
          </a:solidFill>
          <a:ln w="12700">
            <a:solidFill>
              <a:srgbClr val="F5A742"/>
            </a:solidFill>
            <a:prstDash val="solid"/>
          </a:ln>
        </p:spPr>
      </p:sp>
      <p:sp>
        <p:nvSpPr>
          <p:cNvPr id="22" name="Text 20"/>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3" name="Shape 21"/>
          <p:cNvSpPr/>
          <p:nvPr/>
        </p:nvSpPr>
        <p:spPr>
          <a:xfrm>
            <a:off x="2606040" y="3826764"/>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2606040" y="382676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Balance the anode half equation in the electrolysis of acidified water:   …OH⁻(aq) → O₂(g) + …H₂O(l) + …e⁻</a:t>
            </a:r>
            <a:endParaRPr lang="en-US" sz="1250" dirty="0"/>
          </a:p>
        </p:txBody>
      </p:sp>
      <p:sp>
        <p:nvSpPr>
          <p:cNvPr id="26" name="Text 24"/>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Shape 25"/>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8" name="Shape 26"/>
          <p:cNvSpPr/>
          <p:nvPr/>
        </p:nvSpPr>
        <p:spPr>
          <a:xfrm>
            <a:off x="411480" y="5122926"/>
            <a:ext cx="2103120" cy="292608"/>
          </a:xfrm>
          <a:prstGeom prst="rect">
            <a:avLst/>
          </a:prstGeom>
          <a:solidFill>
            <a:srgbClr val="F5A742"/>
          </a:solidFill>
          <a:ln w="12700">
            <a:solidFill>
              <a:srgbClr val="F5A742"/>
            </a:solidFill>
            <a:prstDash val="solid"/>
          </a:ln>
        </p:spPr>
      </p:sp>
      <p:sp>
        <p:nvSpPr>
          <p:cNvPr id="29" name="Text 27"/>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30" name="Shape 28"/>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31" name="Text 29"/>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2" name="Text 30"/>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Copper is formed at the cathode when copper sulfate solution is electrolysed. Write the half equation and explain why this is </a:t>
            </a:r>
            <a:r>
              <a:rPr lang="en-US" sz="1250" b="1" dirty="0">
                <a:solidFill>
                  <a:srgbClr val="262B3A"/>
                </a:solidFill>
                <a:latin typeface="Calibri" pitchFamily="34" charset="0"/>
                <a:ea typeface="Calibri" pitchFamily="34" charset="-122"/>
                <a:cs typeface="Calibri" pitchFamily="34" charset="-120"/>
              </a:rPr>
              <a:t>reduction</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3" name="Text 31"/>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Copper electrodes and purifying copper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3.30 • the impure anode dissolves; pure copper plates onto the cathode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3.30  |  35</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copper sulfate solution with an impure copper anode and a pure copper cathode</a:t>
            </a:r>
            <a:endParaRPr lang="en-US" sz="1000" dirty="0"/>
          </a:p>
        </p:txBody>
      </p:sp>
      <p:sp>
        <p:nvSpPr>
          <p:cNvPr id="10" name="Shape 8"/>
          <p:cNvSpPr/>
          <p:nvPr/>
        </p:nvSpPr>
        <p:spPr>
          <a:xfrm>
            <a:off x="1097280" y="2514600"/>
            <a:ext cx="3291840" cy="2057400"/>
          </a:xfrm>
          <a:prstGeom prst="rect">
            <a:avLst/>
          </a:prstGeom>
          <a:solidFill>
            <a:srgbClr val="EEF5FB"/>
          </a:solidFill>
          <a:ln/>
        </p:spPr>
      </p:sp>
      <p:sp>
        <p:nvSpPr>
          <p:cNvPr id="11" name="Shape 9"/>
          <p:cNvSpPr/>
          <p:nvPr/>
        </p:nvSpPr>
        <p:spPr>
          <a:xfrm>
            <a:off x="1097280" y="2967228"/>
            <a:ext cx="3291840" cy="1604772"/>
          </a:xfrm>
          <a:prstGeom prst="rect">
            <a:avLst/>
          </a:prstGeom>
          <a:solidFill>
            <a:srgbClr val="8EC9F0"/>
          </a:solidFill>
          <a:ln/>
        </p:spPr>
      </p:sp>
      <p:sp>
        <p:nvSpPr>
          <p:cNvPr id="12" name="Shape 10"/>
          <p:cNvSpPr/>
          <p:nvPr/>
        </p:nvSpPr>
        <p:spPr>
          <a:xfrm>
            <a:off x="1097280" y="2967228"/>
            <a:ext cx="3291840" cy="91"/>
          </a:xfrm>
          <a:prstGeom prst="line">
            <a:avLst/>
          </a:prstGeom>
          <a:noFill/>
          <a:ln w="12700">
            <a:solidFill>
              <a:srgbClr val="2F7FC1"/>
            </a:solidFill>
            <a:prstDash val="solid"/>
          </a:ln>
        </p:spPr>
      </p:sp>
      <p:sp>
        <p:nvSpPr>
          <p:cNvPr id="13" name="Shape 11"/>
          <p:cNvSpPr/>
          <p:nvPr/>
        </p:nvSpPr>
        <p:spPr>
          <a:xfrm>
            <a:off x="1097280" y="2514600"/>
            <a:ext cx="91" cy="2057400"/>
          </a:xfrm>
          <a:prstGeom prst="line">
            <a:avLst/>
          </a:prstGeom>
          <a:noFill/>
          <a:ln w="19050">
            <a:solidFill>
              <a:srgbClr val="2A1F3D"/>
            </a:solidFill>
            <a:prstDash val="solid"/>
          </a:ln>
        </p:spPr>
      </p:sp>
      <p:sp>
        <p:nvSpPr>
          <p:cNvPr id="14" name="Shape 12"/>
          <p:cNvSpPr/>
          <p:nvPr/>
        </p:nvSpPr>
        <p:spPr>
          <a:xfrm>
            <a:off x="4389120" y="2514600"/>
            <a:ext cx="91" cy="2057400"/>
          </a:xfrm>
          <a:prstGeom prst="line">
            <a:avLst/>
          </a:prstGeom>
          <a:noFill/>
          <a:ln w="19050">
            <a:solidFill>
              <a:srgbClr val="2A1F3D"/>
            </a:solidFill>
            <a:prstDash val="solid"/>
          </a:ln>
        </p:spPr>
      </p:sp>
      <p:sp>
        <p:nvSpPr>
          <p:cNvPr id="15" name="Shape 13"/>
          <p:cNvSpPr/>
          <p:nvPr/>
        </p:nvSpPr>
        <p:spPr>
          <a:xfrm>
            <a:off x="1097280" y="4572000"/>
            <a:ext cx="3291840" cy="91"/>
          </a:xfrm>
          <a:prstGeom prst="line">
            <a:avLst/>
          </a:prstGeom>
          <a:noFill/>
          <a:ln w="19050">
            <a:solidFill>
              <a:srgbClr val="2A1F3D"/>
            </a:solidFill>
            <a:prstDash val="solid"/>
          </a:ln>
        </p:spPr>
      </p:sp>
      <p:sp>
        <p:nvSpPr>
          <p:cNvPr id="16" name="Shape 14"/>
          <p:cNvSpPr/>
          <p:nvPr/>
        </p:nvSpPr>
        <p:spPr>
          <a:xfrm>
            <a:off x="1042416" y="2514600"/>
            <a:ext cx="54864" cy="91"/>
          </a:xfrm>
          <a:prstGeom prst="line">
            <a:avLst/>
          </a:prstGeom>
          <a:noFill/>
          <a:ln w="19050">
            <a:solidFill>
              <a:srgbClr val="2A1F3D"/>
            </a:solidFill>
            <a:prstDash val="solid"/>
          </a:ln>
        </p:spPr>
      </p:sp>
      <p:sp>
        <p:nvSpPr>
          <p:cNvPr id="17" name="Shape 15"/>
          <p:cNvSpPr/>
          <p:nvPr/>
        </p:nvSpPr>
        <p:spPr>
          <a:xfrm>
            <a:off x="4389120" y="2514600"/>
            <a:ext cx="54864" cy="91"/>
          </a:xfrm>
          <a:prstGeom prst="line">
            <a:avLst/>
          </a:prstGeom>
          <a:noFill/>
          <a:ln w="19050">
            <a:solidFill>
              <a:srgbClr val="2A1F3D"/>
            </a:solidFill>
            <a:prstDash val="solid"/>
          </a:ln>
        </p:spPr>
      </p:sp>
      <p:sp>
        <p:nvSpPr>
          <p:cNvPr id="18" name="Shape 16"/>
          <p:cNvSpPr/>
          <p:nvPr/>
        </p:nvSpPr>
        <p:spPr>
          <a:xfrm>
            <a:off x="1922069" y="2194560"/>
            <a:ext cx="128016" cy="1993392"/>
          </a:xfrm>
          <a:prstGeom prst="rect">
            <a:avLst/>
          </a:prstGeom>
          <a:solidFill>
            <a:srgbClr val="C8783A"/>
          </a:solidFill>
          <a:ln w="12700">
            <a:solidFill>
              <a:srgbClr val="8A4A1A"/>
            </a:solidFill>
            <a:prstDash val="solid"/>
          </a:ln>
        </p:spPr>
      </p:sp>
      <p:sp>
        <p:nvSpPr>
          <p:cNvPr id="19" name="Shape 17"/>
          <p:cNvSpPr/>
          <p:nvPr/>
        </p:nvSpPr>
        <p:spPr>
          <a:xfrm>
            <a:off x="3308299" y="2194560"/>
            <a:ext cx="384048" cy="1993392"/>
          </a:xfrm>
          <a:prstGeom prst="rect">
            <a:avLst/>
          </a:prstGeom>
          <a:solidFill>
            <a:srgbClr val="B58A60"/>
          </a:solidFill>
          <a:ln w="12700">
            <a:solidFill>
              <a:srgbClr val="6B4A2A"/>
            </a:solidFill>
            <a:prstDash val="solid"/>
          </a:ln>
        </p:spPr>
      </p:sp>
      <p:sp>
        <p:nvSpPr>
          <p:cNvPr id="20" name="Shape 18"/>
          <p:cNvSpPr/>
          <p:nvPr/>
        </p:nvSpPr>
        <p:spPr>
          <a:xfrm>
            <a:off x="2214677" y="1371600"/>
            <a:ext cx="1057046" cy="548640"/>
          </a:xfrm>
          <a:prstGeom prst="roundRect">
            <a:avLst>
              <a:gd name="adj" fmla="val 10000"/>
            </a:avLst>
          </a:prstGeom>
          <a:solidFill>
            <a:srgbClr val="E8EBF0"/>
          </a:solidFill>
          <a:ln w="15875">
            <a:solidFill>
              <a:srgbClr val="4A5568"/>
            </a:solidFill>
            <a:prstDash val="solid"/>
          </a:ln>
        </p:spPr>
      </p:sp>
      <p:sp>
        <p:nvSpPr>
          <p:cNvPr id="21" name="Text 19"/>
          <p:cNvSpPr/>
          <p:nvPr/>
        </p:nvSpPr>
        <p:spPr>
          <a:xfrm>
            <a:off x="2214677" y="1371600"/>
            <a:ext cx="1057046" cy="54864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d.c. supply</a:t>
            </a:r>
            <a:endParaRPr lang="en-US" sz="1050" dirty="0"/>
          </a:p>
        </p:txBody>
      </p:sp>
      <p:sp>
        <p:nvSpPr>
          <p:cNvPr id="22" name="Shape 20"/>
          <p:cNvSpPr/>
          <p:nvPr/>
        </p:nvSpPr>
        <p:spPr>
          <a:xfrm>
            <a:off x="2013509" y="1554480"/>
            <a:ext cx="182880" cy="182880"/>
          </a:xfrm>
          <a:prstGeom prst="ellipse">
            <a:avLst/>
          </a:prstGeom>
          <a:solidFill>
            <a:srgbClr val="2A2F3A"/>
          </a:solidFill>
          <a:ln w="9525">
            <a:solidFill>
              <a:srgbClr val="2A2F3A"/>
            </a:solidFill>
            <a:prstDash val="solid"/>
          </a:ln>
        </p:spPr>
      </p:sp>
      <p:sp>
        <p:nvSpPr>
          <p:cNvPr id="23" name="Text 21"/>
          <p:cNvSpPr/>
          <p:nvPr/>
        </p:nvSpPr>
        <p:spPr>
          <a:xfrm>
            <a:off x="2013509" y="1536192"/>
            <a:ext cx="182880" cy="2011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4" name="Shape 22"/>
          <p:cNvSpPr/>
          <p:nvPr/>
        </p:nvSpPr>
        <p:spPr>
          <a:xfrm>
            <a:off x="3290011" y="1554480"/>
            <a:ext cx="182880" cy="182880"/>
          </a:xfrm>
          <a:prstGeom prst="ellipse">
            <a:avLst/>
          </a:prstGeom>
          <a:solidFill>
            <a:srgbClr val="C8414C"/>
          </a:solidFill>
          <a:ln w="9525">
            <a:solidFill>
              <a:srgbClr val="C8414C"/>
            </a:solidFill>
            <a:prstDash val="solid"/>
          </a:ln>
        </p:spPr>
      </p:sp>
      <p:sp>
        <p:nvSpPr>
          <p:cNvPr id="25" name="Text 23"/>
          <p:cNvSpPr/>
          <p:nvPr/>
        </p:nvSpPr>
        <p:spPr>
          <a:xfrm>
            <a:off x="3290011" y="1536192"/>
            <a:ext cx="182880" cy="2011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flipV="1">
            <a:off x="1986077" y="1645920"/>
            <a:ext cx="91" cy="548640"/>
          </a:xfrm>
          <a:prstGeom prst="line">
            <a:avLst/>
          </a:prstGeom>
          <a:noFill/>
          <a:ln w="19050">
            <a:solidFill>
              <a:srgbClr val="2A1F3D"/>
            </a:solidFill>
            <a:prstDash val="solid"/>
          </a:ln>
        </p:spPr>
      </p:sp>
      <p:sp>
        <p:nvSpPr>
          <p:cNvPr id="27" name="Shape 25"/>
          <p:cNvSpPr/>
          <p:nvPr/>
        </p:nvSpPr>
        <p:spPr>
          <a:xfrm>
            <a:off x="1986077" y="1645920"/>
            <a:ext cx="27432" cy="91"/>
          </a:xfrm>
          <a:prstGeom prst="line">
            <a:avLst/>
          </a:prstGeom>
          <a:noFill/>
          <a:ln w="19050">
            <a:solidFill>
              <a:srgbClr val="2A1F3D"/>
            </a:solidFill>
            <a:prstDash val="solid"/>
          </a:ln>
        </p:spPr>
      </p:sp>
      <p:sp>
        <p:nvSpPr>
          <p:cNvPr id="28" name="Shape 26"/>
          <p:cNvSpPr/>
          <p:nvPr/>
        </p:nvSpPr>
        <p:spPr>
          <a:xfrm flipV="1">
            <a:off x="3500323" y="1645920"/>
            <a:ext cx="91" cy="548640"/>
          </a:xfrm>
          <a:prstGeom prst="line">
            <a:avLst/>
          </a:prstGeom>
          <a:noFill/>
          <a:ln w="19050">
            <a:solidFill>
              <a:srgbClr val="2A1F3D"/>
            </a:solidFill>
            <a:prstDash val="solid"/>
          </a:ln>
        </p:spPr>
      </p:sp>
      <p:sp>
        <p:nvSpPr>
          <p:cNvPr id="29" name="Shape 27"/>
          <p:cNvSpPr/>
          <p:nvPr/>
        </p:nvSpPr>
        <p:spPr>
          <a:xfrm flipH="1">
            <a:off x="3472891" y="1645920"/>
            <a:ext cx="27432" cy="91"/>
          </a:xfrm>
          <a:prstGeom prst="line">
            <a:avLst/>
          </a:prstGeom>
          <a:noFill/>
          <a:ln w="19050">
            <a:solidFill>
              <a:srgbClr val="2A1F3D"/>
            </a:solidFill>
            <a:prstDash val="solid"/>
          </a:ln>
        </p:spPr>
      </p:sp>
      <p:sp>
        <p:nvSpPr>
          <p:cNvPr id="30" name="Text 28"/>
          <p:cNvSpPr/>
          <p:nvPr/>
        </p:nvSpPr>
        <p:spPr>
          <a:xfrm>
            <a:off x="641909" y="1965960"/>
            <a:ext cx="1207008" cy="256032"/>
          </a:xfrm>
          <a:prstGeom prst="rect">
            <a:avLst/>
          </a:prstGeom>
          <a:noFill/>
          <a:ln/>
        </p:spPr>
        <p:txBody>
          <a:bodyPr wrap="square" lIns="0" tIns="0" rIns="0" bIns="0" rtlCol="0" anchor="ctr"/>
          <a:lstStyle/>
          <a:p>
            <a:pPr algn="r" indent="0" marL="0">
              <a:buNone/>
            </a:pPr>
            <a:r>
              <a:rPr lang="en-US" sz="1050" b="1" dirty="0">
                <a:solidFill>
                  <a:srgbClr val="2A2F3A"/>
                </a:solidFill>
                <a:latin typeface="Calibri" pitchFamily="34" charset="0"/>
                <a:ea typeface="Calibri" pitchFamily="34" charset="-122"/>
                <a:cs typeface="Calibri" pitchFamily="34" charset="-120"/>
              </a:rPr>
              <a:t>cathode (−)</a:t>
            </a:r>
            <a:endParaRPr lang="en-US" sz="1050" dirty="0"/>
          </a:p>
        </p:txBody>
      </p:sp>
      <p:sp>
        <p:nvSpPr>
          <p:cNvPr id="31" name="Text 29"/>
          <p:cNvSpPr/>
          <p:nvPr/>
        </p:nvSpPr>
        <p:spPr>
          <a:xfrm>
            <a:off x="3765499" y="1965960"/>
            <a:ext cx="1207008"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anode (+)</a:t>
            </a:r>
            <a:endParaRPr lang="en-US" sz="1050" dirty="0"/>
          </a:p>
        </p:txBody>
      </p:sp>
      <p:sp>
        <p:nvSpPr>
          <p:cNvPr id="32" name="Text 30"/>
          <p:cNvSpPr/>
          <p:nvPr/>
        </p:nvSpPr>
        <p:spPr>
          <a:xfrm>
            <a:off x="321869" y="2185416"/>
            <a:ext cx="1527048" cy="219456"/>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pure: gets </a:t>
            </a:r>
            <a:r>
              <a:rPr lang="en-US" sz="1000" b="1" dirty="0">
                <a:solidFill>
                  <a:srgbClr val="262B3A"/>
                </a:solidFill>
                <a:latin typeface="Calibri" pitchFamily="34" charset="0"/>
                <a:ea typeface="Calibri" pitchFamily="34" charset="-122"/>
                <a:cs typeface="Calibri" pitchFamily="34" charset="-120"/>
              </a:rPr>
              <a:t>thicker</a:t>
            </a:r>
            <a:endParaRPr lang="en-US" sz="1000" dirty="0"/>
          </a:p>
        </p:txBody>
      </p:sp>
      <p:sp>
        <p:nvSpPr>
          <p:cNvPr id="33" name="Text 31"/>
          <p:cNvSpPr/>
          <p:nvPr/>
        </p:nvSpPr>
        <p:spPr>
          <a:xfrm>
            <a:off x="3765499" y="2185416"/>
            <a:ext cx="1527048"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impure: </a:t>
            </a:r>
            <a:r>
              <a:rPr lang="en-US" sz="1000" b="1" dirty="0">
                <a:solidFill>
                  <a:srgbClr val="262B3A"/>
                </a:solidFill>
                <a:latin typeface="Calibri" pitchFamily="34" charset="0"/>
                <a:ea typeface="Calibri" pitchFamily="34" charset="-122"/>
                <a:cs typeface="Calibri" pitchFamily="34" charset="-120"/>
              </a:rPr>
              <a:t>dissolves</a:t>
            </a:r>
            <a:endParaRPr lang="en-US" sz="1000" dirty="0"/>
          </a:p>
        </p:txBody>
      </p:sp>
      <p:sp>
        <p:nvSpPr>
          <p:cNvPr id="34" name="Shape 32"/>
          <p:cNvSpPr/>
          <p:nvPr/>
        </p:nvSpPr>
        <p:spPr>
          <a:xfrm>
            <a:off x="3358591" y="3259836"/>
            <a:ext cx="64008" cy="64008"/>
          </a:xfrm>
          <a:prstGeom prst="ellipse">
            <a:avLst/>
          </a:prstGeom>
          <a:solidFill>
            <a:srgbClr val="3A3A3A"/>
          </a:solidFill>
          <a:ln w="9525">
            <a:solidFill>
              <a:srgbClr val="3A3A3A"/>
            </a:solidFill>
            <a:prstDash val="solid"/>
          </a:ln>
        </p:spPr>
      </p:sp>
      <p:sp>
        <p:nvSpPr>
          <p:cNvPr id="35" name="Shape 33"/>
          <p:cNvSpPr/>
          <p:nvPr/>
        </p:nvSpPr>
        <p:spPr>
          <a:xfrm>
            <a:off x="3541471" y="3717036"/>
            <a:ext cx="64008" cy="64008"/>
          </a:xfrm>
          <a:prstGeom prst="ellipse">
            <a:avLst/>
          </a:prstGeom>
          <a:solidFill>
            <a:srgbClr val="3A3A3A"/>
          </a:solidFill>
          <a:ln w="9525">
            <a:solidFill>
              <a:srgbClr val="3A3A3A"/>
            </a:solidFill>
            <a:prstDash val="solid"/>
          </a:ln>
        </p:spPr>
      </p:sp>
      <p:sp>
        <p:nvSpPr>
          <p:cNvPr id="36" name="Shape 34"/>
          <p:cNvSpPr/>
          <p:nvPr/>
        </p:nvSpPr>
        <p:spPr>
          <a:xfrm>
            <a:off x="3376879" y="3991356"/>
            <a:ext cx="64008" cy="64008"/>
          </a:xfrm>
          <a:prstGeom prst="ellipse">
            <a:avLst/>
          </a:prstGeom>
          <a:solidFill>
            <a:srgbClr val="3A3A3A"/>
          </a:solidFill>
          <a:ln w="9525">
            <a:solidFill>
              <a:srgbClr val="3A3A3A"/>
            </a:solidFill>
            <a:prstDash val="solid"/>
          </a:ln>
        </p:spPr>
      </p:sp>
      <p:sp>
        <p:nvSpPr>
          <p:cNvPr id="37" name="Shape 35"/>
          <p:cNvSpPr/>
          <p:nvPr/>
        </p:nvSpPr>
        <p:spPr>
          <a:xfrm>
            <a:off x="3043123" y="4389120"/>
            <a:ext cx="960120" cy="182880"/>
          </a:xfrm>
          <a:custGeom>
            <a:avLst/>
            <a:gdLst/>
            <a:ahLst/>
            <a:cxnLst/>
            <a:rect l="l" t="t" r="r" b="b"/>
            <a:pathLst>
              <a:path w="960120" h="182880">
                <a:moveTo>
                  <a:pt x="0" y="182880"/>
                </a:moveTo>
                <a:lnTo>
                  <a:pt x="228600" y="45720"/>
                </a:lnTo>
                <a:lnTo>
                  <a:pt x="548640" y="0"/>
                </a:lnTo>
                <a:lnTo>
                  <a:pt x="868680" y="73152"/>
                </a:lnTo>
                <a:lnTo>
                  <a:pt x="960120" y="182880"/>
                </a:lnTo>
                <a:close/>
              </a:path>
            </a:pathLst>
          </a:custGeom>
          <a:solidFill>
            <a:srgbClr val="6B5A45"/>
          </a:solidFill>
          <a:ln w="9525">
            <a:solidFill>
              <a:srgbClr val="3A3020"/>
            </a:solidFill>
            <a:prstDash val="solid"/>
          </a:ln>
        </p:spPr>
      </p:sp>
      <p:sp>
        <p:nvSpPr>
          <p:cNvPr id="38" name="Shape 36"/>
          <p:cNvSpPr/>
          <p:nvPr/>
        </p:nvSpPr>
        <p:spPr>
          <a:xfrm>
            <a:off x="2752344" y="3163824"/>
            <a:ext cx="347472" cy="347472"/>
          </a:xfrm>
          <a:prstGeom prst="ellipse">
            <a:avLst/>
          </a:prstGeom>
          <a:solidFill>
            <a:srgbClr val="8EC9F0"/>
          </a:solidFill>
          <a:ln w="12700">
            <a:solidFill>
              <a:srgbClr val="1F5F99"/>
            </a:solidFill>
            <a:prstDash val="solid"/>
          </a:ln>
        </p:spPr>
      </p:sp>
      <p:sp>
        <p:nvSpPr>
          <p:cNvPr id="39" name="Text 37"/>
          <p:cNvSpPr/>
          <p:nvPr/>
        </p:nvSpPr>
        <p:spPr>
          <a:xfrm>
            <a:off x="2642616" y="3163824"/>
            <a:ext cx="566928" cy="347472"/>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Cu²⁺</a:t>
            </a:r>
            <a:endParaRPr lang="en-US" sz="1000" dirty="0"/>
          </a:p>
        </p:txBody>
      </p:sp>
      <p:sp>
        <p:nvSpPr>
          <p:cNvPr id="40" name="Shape 38"/>
          <p:cNvSpPr/>
          <p:nvPr/>
        </p:nvSpPr>
        <p:spPr>
          <a:xfrm flipH="1">
            <a:off x="2095805" y="3337560"/>
            <a:ext cx="619963" cy="91"/>
          </a:xfrm>
          <a:prstGeom prst="line">
            <a:avLst/>
          </a:prstGeom>
          <a:noFill/>
          <a:ln w="25400">
            <a:solidFill>
              <a:srgbClr val="1F5F99"/>
            </a:solidFill>
            <a:prstDash val="solid"/>
            <a:tailEnd type="triangle"/>
          </a:ln>
        </p:spPr>
      </p:sp>
      <p:sp>
        <p:nvSpPr>
          <p:cNvPr id="41" name="Shape 39"/>
          <p:cNvSpPr/>
          <p:nvPr/>
        </p:nvSpPr>
        <p:spPr>
          <a:xfrm>
            <a:off x="2432304" y="3666744"/>
            <a:ext cx="347472" cy="347472"/>
          </a:xfrm>
          <a:prstGeom prst="ellipse">
            <a:avLst/>
          </a:prstGeom>
          <a:solidFill>
            <a:srgbClr val="8EC9F0"/>
          </a:solidFill>
          <a:ln w="12700">
            <a:solidFill>
              <a:srgbClr val="1F5F99"/>
            </a:solidFill>
            <a:prstDash val="solid"/>
          </a:ln>
        </p:spPr>
      </p:sp>
      <p:sp>
        <p:nvSpPr>
          <p:cNvPr id="42" name="Text 40"/>
          <p:cNvSpPr/>
          <p:nvPr/>
        </p:nvSpPr>
        <p:spPr>
          <a:xfrm>
            <a:off x="2322576" y="3666744"/>
            <a:ext cx="566928" cy="347472"/>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Cu²⁺</a:t>
            </a:r>
            <a:endParaRPr lang="en-US" sz="1000" dirty="0"/>
          </a:p>
        </p:txBody>
      </p:sp>
      <p:sp>
        <p:nvSpPr>
          <p:cNvPr id="43" name="Shape 41"/>
          <p:cNvSpPr/>
          <p:nvPr/>
        </p:nvSpPr>
        <p:spPr>
          <a:xfrm flipH="1">
            <a:off x="2095805" y="3840480"/>
            <a:ext cx="299923" cy="91"/>
          </a:xfrm>
          <a:prstGeom prst="line">
            <a:avLst/>
          </a:prstGeom>
          <a:noFill/>
          <a:ln w="25400">
            <a:solidFill>
              <a:srgbClr val="1F5F99"/>
            </a:solidFill>
            <a:prstDash val="solid"/>
            <a:tailEnd type="triangle"/>
          </a:ln>
        </p:spPr>
      </p:sp>
      <p:sp>
        <p:nvSpPr>
          <p:cNvPr id="44" name="Shape 42"/>
          <p:cNvSpPr/>
          <p:nvPr/>
        </p:nvSpPr>
        <p:spPr>
          <a:xfrm>
            <a:off x="2752344" y="4032504"/>
            <a:ext cx="347472" cy="347472"/>
          </a:xfrm>
          <a:prstGeom prst="ellipse">
            <a:avLst/>
          </a:prstGeom>
          <a:solidFill>
            <a:srgbClr val="8EC9F0"/>
          </a:solidFill>
          <a:ln w="12700">
            <a:solidFill>
              <a:srgbClr val="1F5F99"/>
            </a:solidFill>
            <a:prstDash val="solid"/>
          </a:ln>
        </p:spPr>
      </p:sp>
      <p:sp>
        <p:nvSpPr>
          <p:cNvPr id="45" name="Text 43"/>
          <p:cNvSpPr/>
          <p:nvPr/>
        </p:nvSpPr>
        <p:spPr>
          <a:xfrm>
            <a:off x="2642616" y="4032504"/>
            <a:ext cx="566928" cy="347472"/>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Cu²⁺</a:t>
            </a:r>
            <a:endParaRPr lang="en-US" sz="1000" dirty="0"/>
          </a:p>
        </p:txBody>
      </p:sp>
      <p:sp>
        <p:nvSpPr>
          <p:cNvPr id="46" name="Shape 44"/>
          <p:cNvSpPr/>
          <p:nvPr/>
        </p:nvSpPr>
        <p:spPr>
          <a:xfrm flipH="1">
            <a:off x="2095805" y="4206240"/>
            <a:ext cx="619963" cy="91"/>
          </a:xfrm>
          <a:prstGeom prst="line">
            <a:avLst/>
          </a:prstGeom>
          <a:noFill/>
          <a:ln w="25400">
            <a:solidFill>
              <a:srgbClr val="1F5F99"/>
            </a:solidFill>
            <a:prstDash val="solid"/>
            <a:tailEnd type="triangle"/>
          </a:ln>
        </p:spPr>
      </p:sp>
      <p:sp>
        <p:nvSpPr>
          <p:cNvPr id="47" name="Text 45"/>
          <p:cNvSpPr/>
          <p:nvPr/>
        </p:nvSpPr>
        <p:spPr>
          <a:xfrm>
            <a:off x="4526280" y="4343400"/>
            <a:ext cx="1371600" cy="237744"/>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anode sludge</a:t>
            </a:r>
            <a:endParaRPr lang="en-US" sz="1000" dirty="0"/>
          </a:p>
        </p:txBody>
      </p:sp>
      <p:sp>
        <p:nvSpPr>
          <p:cNvPr id="48" name="Shape 46"/>
          <p:cNvSpPr/>
          <p:nvPr/>
        </p:nvSpPr>
        <p:spPr>
          <a:xfrm flipH="1">
            <a:off x="3866083" y="4462272"/>
            <a:ext cx="632765" cy="36576"/>
          </a:xfrm>
          <a:prstGeom prst="line">
            <a:avLst/>
          </a:prstGeom>
          <a:noFill/>
          <a:ln w="9525">
            <a:solidFill>
              <a:srgbClr val="8A8F99"/>
            </a:solidFill>
            <a:prstDash val="solid"/>
          </a:ln>
        </p:spPr>
      </p:sp>
      <p:sp>
        <p:nvSpPr>
          <p:cNvPr id="49" name="Shape 47"/>
          <p:cNvSpPr/>
          <p:nvPr/>
        </p:nvSpPr>
        <p:spPr>
          <a:xfrm>
            <a:off x="548640" y="4892040"/>
            <a:ext cx="2606040" cy="384048"/>
          </a:xfrm>
          <a:prstGeom prst="roundRect">
            <a:avLst>
              <a:gd name="adj" fmla="val 11905"/>
            </a:avLst>
          </a:prstGeom>
          <a:solidFill>
            <a:srgbClr val="FBE3E4"/>
          </a:solidFill>
          <a:ln w="12700">
            <a:solidFill>
              <a:srgbClr val="E8B4B8"/>
            </a:solidFill>
            <a:prstDash val="solid"/>
          </a:ln>
        </p:spPr>
      </p:sp>
      <p:sp>
        <p:nvSpPr>
          <p:cNvPr id="50" name="Text 48"/>
          <p:cNvSpPr/>
          <p:nvPr/>
        </p:nvSpPr>
        <p:spPr>
          <a:xfrm>
            <a:off x="621792" y="4892040"/>
            <a:ext cx="2459736" cy="38404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Cu²⁺(aq) + 2e⁻ → Cu(s)</a:t>
            </a:r>
            <a:endParaRPr lang="en-US" sz="1100" dirty="0"/>
          </a:p>
        </p:txBody>
      </p:sp>
      <p:sp>
        <p:nvSpPr>
          <p:cNvPr id="51" name="Shape 49"/>
          <p:cNvSpPr/>
          <p:nvPr/>
        </p:nvSpPr>
        <p:spPr>
          <a:xfrm>
            <a:off x="3246120" y="4892040"/>
            <a:ext cx="2606040" cy="384048"/>
          </a:xfrm>
          <a:prstGeom prst="roundRect">
            <a:avLst>
              <a:gd name="adj" fmla="val 11905"/>
            </a:avLst>
          </a:prstGeom>
          <a:solidFill>
            <a:srgbClr val="FBE3E4"/>
          </a:solidFill>
          <a:ln w="12700">
            <a:solidFill>
              <a:srgbClr val="E8B4B8"/>
            </a:solidFill>
            <a:prstDash val="solid"/>
          </a:ln>
        </p:spPr>
      </p:sp>
      <p:sp>
        <p:nvSpPr>
          <p:cNvPr id="52" name="Text 50"/>
          <p:cNvSpPr/>
          <p:nvPr/>
        </p:nvSpPr>
        <p:spPr>
          <a:xfrm>
            <a:off x="3319272" y="4892040"/>
            <a:ext cx="2459736" cy="38404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Cu(s) → Cu²⁺(aq) + 2e⁻</a:t>
            </a:r>
            <a:endParaRPr lang="en-US" sz="1100" dirty="0"/>
          </a:p>
        </p:txBody>
      </p:sp>
      <p:sp>
        <p:nvSpPr>
          <p:cNvPr id="53" name="Shape 51"/>
          <p:cNvSpPr/>
          <p:nvPr/>
        </p:nvSpPr>
        <p:spPr>
          <a:xfrm>
            <a:off x="6217920" y="1188720"/>
            <a:ext cx="5562295" cy="2423160"/>
          </a:xfrm>
          <a:prstGeom prst="roundRect">
            <a:avLst>
              <a:gd name="adj" fmla="val 2264"/>
            </a:avLst>
          </a:prstGeom>
          <a:solidFill>
            <a:srgbClr val="F8F5FC"/>
          </a:solidFill>
          <a:ln w="9525">
            <a:solidFill>
              <a:srgbClr val="DDD3EC"/>
            </a:solidFill>
            <a:prstDash val="solid"/>
          </a:ln>
        </p:spPr>
      </p:sp>
      <p:sp>
        <p:nvSpPr>
          <p:cNvPr id="54" name="Text 5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What happens</a:t>
            </a:r>
            <a:endParaRPr lang="en-US" sz="1300" dirty="0"/>
          </a:p>
        </p:txBody>
      </p:sp>
      <p:sp>
        <p:nvSpPr>
          <p:cNvPr id="55" name="Text 53"/>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Anode (+)</a:t>
            </a:r>
            <a:r>
              <a:rPr lang="en-US" sz="1150" dirty="0">
                <a:solidFill>
                  <a:srgbClr val="262B3A"/>
                </a:solidFill>
                <a:latin typeface="Calibri" pitchFamily="34" charset="0"/>
                <a:ea typeface="Calibri" pitchFamily="34" charset="-122"/>
                <a:cs typeface="Calibri" pitchFamily="34" charset="-120"/>
              </a:rPr>
              <a:t>: copper </a:t>
            </a:r>
            <a:r>
              <a:rPr lang="en-US" sz="1150" b="1" dirty="0">
                <a:solidFill>
                  <a:srgbClr val="262B3A"/>
                </a:solidFill>
                <a:latin typeface="Calibri" pitchFamily="34" charset="0"/>
                <a:ea typeface="Calibri" pitchFamily="34" charset="-122"/>
                <a:cs typeface="Calibri" pitchFamily="34" charset="-120"/>
              </a:rPr>
              <a:t>atoms lose electrons</a:t>
            </a:r>
            <a:r>
              <a:rPr lang="en-US" sz="1150" dirty="0">
                <a:solidFill>
                  <a:srgbClr val="262B3A"/>
                </a:solidFill>
                <a:latin typeface="Calibri" pitchFamily="34" charset="0"/>
                <a:ea typeface="Calibri" pitchFamily="34" charset="-122"/>
                <a:cs typeface="Calibri" pitchFamily="34" charset="-120"/>
              </a:rPr>
              <a:t> and go into solution as </a:t>
            </a:r>
            <a:r>
              <a:rPr lang="en-US" sz="1150" b="1" dirty="0">
                <a:solidFill>
                  <a:srgbClr val="262B3A"/>
                </a:solidFill>
                <a:latin typeface="Calibri" pitchFamily="34" charset="0"/>
                <a:ea typeface="Calibri" pitchFamily="34" charset="-122"/>
                <a:cs typeface="Calibri" pitchFamily="34" charset="-120"/>
              </a:rPr>
              <a:t>Cu²⁺</a:t>
            </a:r>
            <a:r>
              <a:rPr lang="en-US" sz="1150" dirty="0">
                <a:solidFill>
                  <a:srgbClr val="262B3A"/>
                </a:solidFill>
                <a:latin typeface="Calibri" pitchFamily="34" charset="0"/>
                <a:ea typeface="Calibri" pitchFamily="34" charset="-122"/>
                <a:cs typeface="Calibri" pitchFamily="34" charset="-120"/>
              </a:rPr>
              <a:t> ions (oxidation). The anode gets </a:t>
            </a:r>
            <a:r>
              <a:rPr lang="en-US" sz="1150" b="1" dirty="0">
                <a:solidFill>
                  <a:srgbClr val="262B3A"/>
                </a:solidFill>
                <a:latin typeface="Calibri" pitchFamily="34" charset="0"/>
                <a:ea typeface="Calibri" pitchFamily="34" charset="-122"/>
                <a:cs typeface="Calibri" pitchFamily="34" charset="-120"/>
              </a:rPr>
              <a:t>thinner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Cathode (−)</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Cu²⁺</a:t>
            </a:r>
            <a:r>
              <a:rPr lang="en-US" sz="1150" dirty="0">
                <a:solidFill>
                  <a:srgbClr val="262B3A"/>
                </a:solidFill>
                <a:latin typeface="Calibri" pitchFamily="34" charset="0"/>
                <a:ea typeface="Calibri" pitchFamily="34" charset="-122"/>
                <a:cs typeface="Calibri" pitchFamily="34" charset="-120"/>
              </a:rPr>
              <a:t> ions </a:t>
            </a:r>
            <a:r>
              <a:rPr lang="en-US" sz="1150" b="1" dirty="0">
                <a:solidFill>
                  <a:srgbClr val="262B3A"/>
                </a:solidFill>
                <a:latin typeface="Calibri" pitchFamily="34" charset="0"/>
                <a:ea typeface="Calibri" pitchFamily="34" charset="-122"/>
                <a:cs typeface="Calibri" pitchFamily="34" charset="-120"/>
              </a:rPr>
              <a:t>gain electrons</a:t>
            </a:r>
            <a:r>
              <a:rPr lang="en-US" sz="1150" dirty="0">
                <a:solidFill>
                  <a:srgbClr val="262B3A"/>
                </a:solidFill>
                <a:latin typeface="Calibri" pitchFamily="34" charset="0"/>
                <a:ea typeface="Calibri" pitchFamily="34" charset="-122"/>
                <a:cs typeface="Calibri" pitchFamily="34" charset="-120"/>
              </a:rPr>
              <a:t> and are deposited as </a:t>
            </a:r>
            <a:r>
              <a:rPr lang="en-US" sz="1150" b="1" dirty="0">
                <a:solidFill>
                  <a:srgbClr val="262B3A"/>
                </a:solidFill>
                <a:latin typeface="Calibri" pitchFamily="34" charset="0"/>
                <a:ea typeface="Calibri" pitchFamily="34" charset="-122"/>
                <a:cs typeface="Calibri" pitchFamily="34" charset="-120"/>
              </a:rPr>
              <a:t>copper</a:t>
            </a:r>
            <a:r>
              <a:rPr lang="en-US" sz="1150" dirty="0">
                <a:solidFill>
                  <a:srgbClr val="262B3A"/>
                </a:solidFill>
                <a:latin typeface="Calibri" pitchFamily="34" charset="0"/>
                <a:ea typeface="Calibri" pitchFamily="34" charset="-122"/>
                <a:cs typeface="Calibri" pitchFamily="34" charset="-120"/>
              </a:rPr>
              <a:t> (reduction). The cathode gets </a:t>
            </a:r>
            <a:r>
              <a:rPr lang="en-US" sz="1150" b="1" dirty="0">
                <a:solidFill>
                  <a:srgbClr val="262B3A"/>
                </a:solidFill>
                <a:latin typeface="Calibri" pitchFamily="34" charset="0"/>
                <a:ea typeface="Calibri" pitchFamily="34" charset="-122"/>
                <a:cs typeface="Calibri" pitchFamily="34" charset="-120"/>
              </a:rPr>
              <a:t>heavier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Impurities do not dissolve and fall as </a:t>
            </a:r>
            <a:r>
              <a:rPr lang="en-US" sz="1150" b="1" dirty="0">
                <a:solidFill>
                  <a:srgbClr val="262B3A"/>
                </a:solidFill>
                <a:latin typeface="Calibri" pitchFamily="34" charset="0"/>
                <a:ea typeface="Calibri" pitchFamily="34" charset="-122"/>
                <a:cs typeface="Calibri" pitchFamily="34" charset="-120"/>
              </a:rPr>
              <a:t>anode sludge</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56" name="Shape 54"/>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7" name="Text 55"/>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Explaining the observations</a:t>
            </a:r>
            <a:endParaRPr lang="en-US" sz="1300" dirty="0"/>
          </a:p>
        </p:txBody>
      </p:sp>
      <p:sp>
        <p:nvSpPr>
          <p:cNvPr id="58" name="Text 56"/>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Mass   </a:t>
            </a:r>
            <a:r>
              <a:rPr lang="en-US" sz="1050" dirty="0">
                <a:solidFill>
                  <a:srgbClr val="262B3A"/>
                </a:solidFill>
                <a:latin typeface="Calibri" pitchFamily="34" charset="0"/>
                <a:ea typeface="Calibri" pitchFamily="34" charset="-122"/>
                <a:cs typeface="Calibri" pitchFamily="34" charset="-120"/>
              </a:rPr>
              <a:t>anode loses mass; cathode gains about the same mass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Colour   </a:t>
            </a:r>
            <a:r>
              <a:rPr lang="en-US" sz="1050" dirty="0">
                <a:solidFill>
                  <a:srgbClr val="262B3A"/>
                </a:solidFill>
                <a:latin typeface="Calibri" pitchFamily="34" charset="0"/>
                <a:ea typeface="Calibri" pitchFamily="34" charset="-122"/>
                <a:cs typeface="Calibri" pitchFamily="34" charset="-120"/>
              </a:rPr>
              <a:t>Cu²⁺ made at the anode = Cu²⁺ used at the cathode → blue stays the same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Purity   </a:t>
            </a:r>
            <a:r>
              <a:rPr lang="en-US" sz="1050" dirty="0">
                <a:solidFill>
                  <a:srgbClr val="262B3A"/>
                </a:solidFill>
                <a:latin typeface="Calibri" pitchFamily="34" charset="0"/>
                <a:ea typeface="Calibri" pitchFamily="34" charset="-122"/>
                <a:cs typeface="Calibri" pitchFamily="34" charset="-120"/>
              </a:rPr>
              <a:t>only copper is deposited on the cathode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copper moves from the impure anode to the pure cathode</a:t>
            </a:r>
            <a:endParaRPr lang="en-US" sz="1050" dirty="0"/>
          </a:p>
        </p:txBody>
      </p:sp>
      <p:sp>
        <p:nvSpPr>
          <p:cNvPr id="59" name="Shape 57"/>
          <p:cNvSpPr/>
          <p:nvPr/>
        </p:nvSpPr>
        <p:spPr>
          <a:xfrm>
            <a:off x="411480" y="5833872"/>
            <a:ext cx="11368735" cy="530352"/>
          </a:xfrm>
          <a:prstGeom prst="rect">
            <a:avLst/>
          </a:prstGeom>
          <a:solidFill>
            <a:srgbClr val="FFF4E0"/>
          </a:solidFill>
          <a:ln w="6350">
            <a:solidFill>
              <a:srgbClr val="F1D9A8"/>
            </a:solidFill>
            <a:prstDash val="solid"/>
          </a:ln>
        </p:spPr>
      </p:sp>
      <p:sp>
        <p:nvSpPr>
          <p:cNvPr id="60" name="Shape 58"/>
          <p:cNvSpPr/>
          <p:nvPr/>
        </p:nvSpPr>
        <p:spPr>
          <a:xfrm>
            <a:off x="411480" y="5833872"/>
            <a:ext cx="82296" cy="530352"/>
          </a:xfrm>
          <a:prstGeom prst="rect">
            <a:avLst/>
          </a:prstGeom>
          <a:solidFill>
            <a:srgbClr val="E39A2F"/>
          </a:solidFill>
          <a:ln w="12700">
            <a:solidFill>
              <a:srgbClr val="E39A2F"/>
            </a:solidFill>
            <a:prstDash val="solid"/>
          </a:ln>
        </p:spPr>
      </p:sp>
      <p:sp>
        <p:nvSpPr>
          <p:cNvPr id="61" name="Text 5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does the blue colour stay the same with </a:t>
            </a:r>
            <a:r>
              <a:rPr lang="en-US" sz="1150" b="1" dirty="0">
                <a:solidFill>
                  <a:srgbClr val="262B3A"/>
                </a:solidFill>
                <a:latin typeface="Calibri" pitchFamily="34" charset="0"/>
                <a:ea typeface="Calibri" pitchFamily="34" charset="-122"/>
                <a:cs typeface="Calibri" pitchFamily="34" charset="-120"/>
              </a:rPr>
              <a:t>copper</a:t>
            </a:r>
            <a:r>
              <a:rPr lang="en-US" sz="1150" dirty="0">
                <a:solidFill>
                  <a:srgbClr val="262B3A"/>
                </a:solidFill>
                <a:latin typeface="Calibri" pitchFamily="34" charset="0"/>
                <a:ea typeface="Calibri" pitchFamily="34" charset="-122"/>
                <a:cs typeface="Calibri" pitchFamily="34" charset="-120"/>
              </a:rPr>
              <a:t> electrodes but fade with </a:t>
            </a:r>
            <a:r>
              <a:rPr lang="en-US" sz="1150" b="1" dirty="0">
                <a:solidFill>
                  <a:srgbClr val="262B3A"/>
                </a:solidFill>
                <a:latin typeface="Calibri" pitchFamily="34" charset="0"/>
                <a:ea typeface="Calibri" pitchFamily="34" charset="-122"/>
                <a:cs typeface="Calibri" pitchFamily="34" charset="-120"/>
              </a:rPr>
              <a:t>graphite</a:t>
            </a:r>
            <a:r>
              <a:rPr lang="en-US" sz="1150" dirty="0">
                <a:solidFill>
                  <a:srgbClr val="262B3A"/>
                </a:solidFill>
                <a:latin typeface="Calibri" pitchFamily="34" charset="0"/>
                <a:ea typeface="Calibri" pitchFamily="34" charset="-122"/>
                <a:cs typeface="Calibri" pitchFamily="34" charset="-120"/>
              </a:rPr>
              <a:t> electrodes?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Core Practical: electrolysis of copper sulfate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3.31 • part 1 inert (graphite) electrodes; part 2 copper electrodes</a:t>
            </a:r>
            <a:endParaRPr lang="en-US" sz="1100" dirty="0"/>
          </a:p>
        </p:txBody>
      </p:sp>
      <p:sp>
        <p:nvSpPr>
          <p:cNvPr id="6" name="Shape 4"/>
          <p:cNvSpPr/>
          <p:nvPr/>
        </p:nvSpPr>
        <p:spPr>
          <a:xfrm>
            <a:off x="10408615" y="292608"/>
            <a:ext cx="1371600"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408615" y="29260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CP 3.31  |  36</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circuit for part 2: weighed copper electrodes, ammeter and variable resistor</a:t>
            </a:r>
            <a:endParaRPr lang="en-US" sz="1000" dirty="0"/>
          </a:p>
        </p:txBody>
      </p:sp>
      <p:sp>
        <p:nvSpPr>
          <p:cNvPr id="12" name="Shape 10"/>
          <p:cNvSpPr/>
          <p:nvPr/>
        </p:nvSpPr>
        <p:spPr>
          <a:xfrm>
            <a:off x="1051560" y="3063240"/>
            <a:ext cx="3840480" cy="1783080"/>
          </a:xfrm>
          <a:prstGeom prst="rect">
            <a:avLst/>
          </a:prstGeom>
          <a:solidFill>
            <a:srgbClr val="EEF5FB"/>
          </a:solidFill>
          <a:ln/>
        </p:spPr>
      </p:sp>
      <p:sp>
        <p:nvSpPr>
          <p:cNvPr id="13" name="Shape 11"/>
          <p:cNvSpPr/>
          <p:nvPr/>
        </p:nvSpPr>
        <p:spPr>
          <a:xfrm>
            <a:off x="1051560" y="3455518"/>
            <a:ext cx="3840480" cy="1390802"/>
          </a:xfrm>
          <a:prstGeom prst="rect">
            <a:avLst/>
          </a:prstGeom>
          <a:solidFill>
            <a:srgbClr val="8EC9F0"/>
          </a:solidFill>
          <a:ln/>
        </p:spPr>
      </p:sp>
      <p:sp>
        <p:nvSpPr>
          <p:cNvPr id="14" name="Shape 12"/>
          <p:cNvSpPr/>
          <p:nvPr/>
        </p:nvSpPr>
        <p:spPr>
          <a:xfrm>
            <a:off x="1051560" y="3455518"/>
            <a:ext cx="3840480" cy="91"/>
          </a:xfrm>
          <a:prstGeom prst="line">
            <a:avLst/>
          </a:prstGeom>
          <a:noFill/>
          <a:ln w="12700">
            <a:solidFill>
              <a:srgbClr val="2F7FC1"/>
            </a:solidFill>
            <a:prstDash val="solid"/>
          </a:ln>
        </p:spPr>
      </p:sp>
      <p:sp>
        <p:nvSpPr>
          <p:cNvPr id="15" name="Shape 13"/>
          <p:cNvSpPr/>
          <p:nvPr/>
        </p:nvSpPr>
        <p:spPr>
          <a:xfrm>
            <a:off x="1051560" y="3063240"/>
            <a:ext cx="91" cy="1783080"/>
          </a:xfrm>
          <a:prstGeom prst="line">
            <a:avLst/>
          </a:prstGeom>
          <a:noFill/>
          <a:ln w="19050">
            <a:solidFill>
              <a:srgbClr val="2A1F3D"/>
            </a:solidFill>
            <a:prstDash val="solid"/>
          </a:ln>
        </p:spPr>
      </p:sp>
      <p:sp>
        <p:nvSpPr>
          <p:cNvPr id="16" name="Shape 14"/>
          <p:cNvSpPr/>
          <p:nvPr/>
        </p:nvSpPr>
        <p:spPr>
          <a:xfrm>
            <a:off x="4892040" y="3063240"/>
            <a:ext cx="91" cy="1783080"/>
          </a:xfrm>
          <a:prstGeom prst="line">
            <a:avLst/>
          </a:prstGeom>
          <a:noFill/>
          <a:ln w="19050">
            <a:solidFill>
              <a:srgbClr val="2A1F3D"/>
            </a:solidFill>
            <a:prstDash val="solid"/>
          </a:ln>
        </p:spPr>
      </p:sp>
      <p:sp>
        <p:nvSpPr>
          <p:cNvPr id="17" name="Shape 15"/>
          <p:cNvSpPr/>
          <p:nvPr/>
        </p:nvSpPr>
        <p:spPr>
          <a:xfrm>
            <a:off x="1051560" y="4846320"/>
            <a:ext cx="3840480" cy="91"/>
          </a:xfrm>
          <a:prstGeom prst="line">
            <a:avLst/>
          </a:prstGeom>
          <a:noFill/>
          <a:ln w="19050">
            <a:solidFill>
              <a:srgbClr val="2A1F3D"/>
            </a:solidFill>
            <a:prstDash val="solid"/>
          </a:ln>
        </p:spPr>
      </p:sp>
      <p:sp>
        <p:nvSpPr>
          <p:cNvPr id="18" name="Shape 16"/>
          <p:cNvSpPr/>
          <p:nvPr/>
        </p:nvSpPr>
        <p:spPr>
          <a:xfrm>
            <a:off x="996696" y="3063240"/>
            <a:ext cx="54864" cy="91"/>
          </a:xfrm>
          <a:prstGeom prst="line">
            <a:avLst/>
          </a:prstGeom>
          <a:noFill/>
          <a:ln w="19050">
            <a:solidFill>
              <a:srgbClr val="2A1F3D"/>
            </a:solidFill>
            <a:prstDash val="solid"/>
          </a:ln>
        </p:spPr>
      </p:sp>
      <p:sp>
        <p:nvSpPr>
          <p:cNvPr id="19" name="Shape 17"/>
          <p:cNvSpPr/>
          <p:nvPr/>
        </p:nvSpPr>
        <p:spPr>
          <a:xfrm>
            <a:off x="4892040" y="3063240"/>
            <a:ext cx="54864" cy="91"/>
          </a:xfrm>
          <a:prstGeom prst="line">
            <a:avLst/>
          </a:prstGeom>
          <a:noFill/>
          <a:ln w="19050">
            <a:solidFill>
              <a:srgbClr val="2A1F3D"/>
            </a:solidFill>
            <a:prstDash val="solid"/>
          </a:ln>
        </p:spPr>
      </p:sp>
      <p:sp>
        <p:nvSpPr>
          <p:cNvPr id="20" name="Shape 18"/>
          <p:cNvSpPr/>
          <p:nvPr/>
        </p:nvSpPr>
        <p:spPr>
          <a:xfrm>
            <a:off x="2015338" y="2651760"/>
            <a:ext cx="146304" cy="1920240"/>
          </a:xfrm>
          <a:prstGeom prst="rect">
            <a:avLst/>
          </a:prstGeom>
          <a:solidFill>
            <a:srgbClr val="C8783A"/>
          </a:solidFill>
          <a:ln w="12700">
            <a:solidFill>
              <a:srgbClr val="8A4A1A"/>
            </a:solidFill>
            <a:prstDash val="solid"/>
          </a:ln>
        </p:spPr>
      </p:sp>
      <p:sp>
        <p:nvSpPr>
          <p:cNvPr id="21" name="Shape 19"/>
          <p:cNvSpPr/>
          <p:nvPr/>
        </p:nvSpPr>
        <p:spPr>
          <a:xfrm>
            <a:off x="3781958" y="2651760"/>
            <a:ext cx="146304" cy="1920240"/>
          </a:xfrm>
          <a:prstGeom prst="rect">
            <a:avLst/>
          </a:prstGeom>
          <a:solidFill>
            <a:srgbClr val="C8783A"/>
          </a:solidFill>
          <a:ln w="12700">
            <a:solidFill>
              <a:srgbClr val="8A4A1A"/>
            </a:solidFill>
            <a:prstDash val="solid"/>
          </a:ln>
        </p:spPr>
      </p:sp>
      <p:sp>
        <p:nvSpPr>
          <p:cNvPr id="22" name="Shape 20"/>
          <p:cNvSpPr/>
          <p:nvPr/>
        </p:nvSpPr>
        <p:spPr>
          <a:xfrm>
            <a:off x="2317090" y="1207008"/>
            <a:ext cx="1309421" cy="548640"/>
          </a:xfrm>
          <a:prstGeom prst="roundRect">
            <a:avLst>
              <a:gd name="adj" fmla="val 10000"/>
            </a:avLst>
          </a:prstGeom>
          <a:solidFill>
            <a:srgbClr val="E8EBF0"/>
          </a:solidFill>
          <a:ln w="15875">
            <a:solidFill>
              <a:srgbClr val="4A5568"/>
            </a:solidFill>
            <a:prstDash val="solid"/>
          </a:ln>
        </p:spPr>
      </p:sp>
      <p:sp>
        <p:nvSpPr>
          <p:cNvPr id="23" name="Text 21"/>
          <p:cNvSpPr/>
          <p:nvPr/>
        </p:nvSpPr>
        <p:spPr>
          <a:xfrm>
            <a:off x="2317090" y="1207008"/>
            <a:ext cx="1309421" cy="54864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d.c. supply</a:t>
            </a:r>
            <a:endParaRPr lang="en-US" sz="1050" dirty="0"/>
          </a:p>
        </p:txBody>
      </p:sp>
      <p:sp>
        <p:nvSpPr>
          <p:cNvPr id="24" name="Shape 22"/>
          <p:cNvSpPr/>
          <p:nvPr/>
        </p:nvSpPr>
        <p:spPr>
          <a:xfrm>
            <a:off x="2115922" y="1389888"/>
            <a:ext cx="182880" cy="182880"/>
          </a:xfrm>
          <a:prstGeom prst="ellipse">
            <a:avLst/>
          </a:prstGeom>
          <a:solidFill>
            <a:srgbClr val="2A2F3A"/>
          </a:solidFill>
          <a:ln w="9525">
            <a:solidFill>
              <a:srgbClr val="2A2F3A"/>
            </a:solidFill>
            <a:prstDash val="solid"/>
          </a:ln>
        </p:spPr>
      </p:sp>
      <p:sp>
        <p:nvSpPr>
          <p:cNvPr id="25" name="Text 23"/>
          <p:cNvSpPr/>
          <p:nvPr/>
        </p:nvSpPr>
        <p:spPr>
          <a:xfrm>
            <a:off x="2115922" y="1371600"/>
            <a:ext cx="182880" cy="2011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3644798" y="1389888"/>
            <a:ext cx="182880" cy="182880"/>
          </a:xfrm>
          <a:prstGeom prst="ellipse">
            <a:avLst/>
          </a:prstGeom>
          <a:solidFill>
            <a:srgbClr val="C8414C"/>
          </a:solidFill>
          <a:ln w="9525">
            <a:solidFill>
              <a:srgbClr val="C8414C"/>
            </a:solidFill>
            <a:prstDash val="solid"/>
          </a:ln>
        </p:spPr>
      </p:sp>
      <p:sp>
        <p:nvSpPr>
          <p:cNvPr id="27" name="Text 25"/>
          <p:cNvSpPr/>
          <p:nvPr/>
        </p:nvSpPr>
        <p:spPr>
          <a:xfrm>
            <a:off x="3644798" y="1371600"/>
            <a:ext cx="182880" cy="2011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8" name="Shape 26"/>
          <p:cNvSpPr/>
          <p:nvPr/>
        </p:nvSpPr>
        <p:spPr>
          <a:xfrm flipV="1">
            <a:off x="2088490" y="1481328"/>
            <a:ext cx="91" cy="1170432"/>
          </a:xfrm>
          <a:prstGeom prst="line">
            <a:avLst/>
          </a:prstGeom>
          <a:noFill/>
          <a:ln w="19050">
            <a:solidFill>
              <a:srgbClr val="2A1F3D"/>
            </a:solidFill>
            <a:prstDash val="solid"/>
          </a:ln>
        </p:spPr>
      </p:sp>
      <p:sp>
        <p:nvSpPr>
          <p:cNvPr id="29" name="Shape 27"/>
          <p:cNvSpPr/>
          <p:nvPr/>
        </p:nvSpPr>
        <p:spPr>
          <a:xfrm>
            <a:off x="2088490" y="1481328"/>
            <a:ext cx="27432" cy="91"/>
          </a:xfrm>
          <a:prstGeom prst="line">
            <a:avLst/>
          </a:prstGeom>
          <a:noFill/>
          <a:ln w="19050">
            <a:solidFill>
              <a:srgbClr val="2A1F3D"/>
            </a:solidFill>
            <a:prstDash val="solid"/>
          </a:ln>
        </p:spPr>
      </p:sp>
      <p:sp>
        <p:nvSpPr>
          <p:cNvPr id="30" name="Shape 28"/>
          <p:cNvSpPr/>
          <p:nvPr/>
        </p:nvSpPr>
        <p:spPr>
          <a:xfrm flipV="1">
            <a:off x="3855110" y="1481328"/>
            <a:ext cx="91" cy="1170432"/>
          </a:xfrm>
          <a:prstGeom prst="line">
            <a:avLst/>
          </a:prstGeom>
          <a:noFill/>
          <a:ln w="19050">
            <a:solidFill>
              <a:srgbClr val="2A1F3D"/>
            </a:solidFill>
            <a:prstDash val="solid"/>
          </a:ln>
        </p:spPr>
      </p:sp>
      <p:sp>
        <p:nvSpPr>
          <p:cNvPr id="31" name="Shape 29"/>
          <p:cNvSpPr/>
          <p:nvPr/>
        </p:nvSpPr>
        <p:spPr>
          <a:xfrm flipH="1">
            <a:off x="3827678" y="1481328"/>
            <a:ext cx="27432" cy="91"/>
          </a:xfrm>
          <a:prstGeom prst="line">
            <a:avLst/>
          </a:prstGeom>
          <a:noFill/>
          <a:ln w="19050">
            <a:solidFill>
              <a:srgbClr val="2A1F3D"/>
            </a:solidFill>
            <a:prstDash val="solid"/>
          </a:ln>
        </p:spPr>
      </p:sp>
      <p:sp>
        <p:nvSpPr>
          <p:cNvPr id="32" name="Text 30"/>
          <p:cNvSpPr/>
          <p:nvPr/>
        </p:nvSpPr>
        <p:spPr>
          <a:xfrm>
            <a:off x="735178" y="2734056"/>
            <a:ext cx="1207008" cy="256032"/>
          </a:xfrm>
          <a:prstGeom prst="rect">
            <a:avLst/>
          </a:prstGeom>
          <a:noFill/>
          <a:ln/>
        </p:spPr>
        <p:txBody>
          <a:bodyPr wrap="square" lIns="0" tIns="0" rIns="0" bIns="0" rtlCol="0" anchor="ctr"/>
          <a:lstStyle/>
          <a:p>
            <a:pPr algn="r" indent="0" marL="0">
              <a:buNone/>
            </a:pPr>
            <a:r>
              <a:rPr lang="en-US" sz="1050" b="1" dirty="0">
                <a:solidFill>
                  <a:srgbClr val="2A2F3A"/>
                </a:solidFill>
                <a:latin typeface="Calibri" pitchFamily="34" charset="0"/>
                <a:ea typeface="Calibri" pitchFamily="34" charset="-122"/>
                <a:cs typeface="Calibri" pitchFamily="34" charset="-120"/>
              </a:rPr>
              <a:t>cathode (−)</a:t>
            </a:r>
            <a:endParaRPr lang="en-US" sz="1050" dirty="0"/>
          </a:p>
        </p:txBody>
      </p:sp>
      <p:sp>
        <p:nvSpPr>
          <p:cNvPr id="33" name="Text 31"/>
          <p:cNvSpPr/>
          <p:nvPr/>
        </p:nvSpPr>
        <p:spPr>
          <a:xfrm>
            <a:off x="4001414" y="2734056"/>
            <a:ext cx="1207008"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anode (+)</a:t>
            </a:r>
            <a:endParaRPr lang="en-US" sz="1050" dirty="0"/>
          </a:p>
        </p:txBody>
      </p:sp>
      <p:sp>
        <p:nvSpPr>
          <p:cNvPr id="34" name="Shape 32"/>
          <p:cNvSpPr/>
          <p:nvPr/>
        </p:nvSpPr>
        <p:spPr>
          <a:xfrm flipV="1">
            <a:off x="2088490" y="2276856"/>
            <a:ext cx="91" cy="146304"/>
          </a:xfrm>
          <a:prstGeom prst="line">
            <a:avLst/>
          </a:prstGeom>
          <a:noFill/>
          <a:ln w="19050">
            <a:solidFill>
              <a:srgbClr val="2A1F3D"/>
            </a:solidFill>
            <a:prstDash val="solid"/>
          </a:ln>
        </p:spPr>
      </p:sp>
      <p:sp>
        <p:nvSpPr>
          <p:cNvPr id="35" name="Shape 33"/>
          <p:cNvSpPr/>
          <p:nvPr/>
        </p:nvSpPr>
        <p:spPr>
          <a:xfrm flipV="1">
            <a:off x="2088490" y="1783080"/>
            <a:ext cx="91" cy="146304"/>
          </a:xfrm>
          <a:prstGeom prst="line">
            <a:avLst/>
          </a:prstGeom>
          <a:noFill/>
          <a:ln w="19050">
            <a:solidFill>
              <a:srgbClr val="2A1F3D"/>
            </a:solidFill>
            <a:prstDash val="solid"/>
          </a:ln>
        </p:spPr>
      </p:sp>
      <p:sp>
        <p:nvSpPr>
          <p:cNvPr id="36" name="Shape 34"/>
          <p:cNvSpPr/>
          <p:nvPr/>
        </p:nvSpPr>
        <p:spPr>
          <a:xfrm>
            <a:off x="1914754" y="1929384"/>
            <a:ext cx="347472" cy="347472"/>
          </a:xfrm>
          <a:prstGeom prst="ellipse">
            <a:avLst/>
          </a:prstGeom>
          <a:solidFill>
            <a:srgbClr val="FFFFFF"/>
          </a:solidFill>
          <a:ln w="19050">
            <a:solidFill>
              <a:srgbClr val="2A1F3D"/>
            </a:solidFill>
            <a:prstDash val="solid"/>
          </a:ln>
        </p:spPr>
      </p:sp>
      <p:sp>
        <p:nvSpPr>
          <p:cNvPr id="37" name="Text 35"/>
          <p:cNvSpPr/>
          <p:nvPr/>
        </p:nvSpPr>
        <p:spPr>
          <a:xfrm>
            <a:off x="1905610" y="1920240"/>
            <a:ext cx="365760" cy="365760"/>
          </a:xfrm>
          <a:prstGeom prst="rect">
            <a:avLst/>
          </a:prstGeom>
          <a:noFill/>
          <a:ln/>
        </p:spPr>
        <p:txBody>
          <a:bodyPr wrap="square" lIns="0" tIns="0" rIns="0" bIns="0" rtlCol="0" anchor="ctr"/>
          <a:lstStyle/>
          <a:p>
            <a:pPr algn="ctr" indent="0" marL="0">
              <a:buNone/>
            </a:pPr>
            <a:r>
              <a:rPr lang="en-US" sz="1300" b="1" dirty="0">
                <a:solidFill>
                  <a:srgbClr val="2A1F3D"/>
                </a:solidFill>
                <a:latin typeface="Calibri" pitchFamily="34" charset="0"/>
                <a:ea typeface="Calibri" pitchFamily="34" charset="-122"/>
                <a:cs typeface="Calibri" pitchFamily="34" charset="-120"/>
              </a:rPr>
              <a:t>A</a:t>
            </a:r>
            <a:endParaRPr lang="en-US" sz="1300" dirty="0"/>
          </a:p>
        </p:txBody>
      </p:sp>
      <p:sp>
        <p:nvSpPr>
          <p:cNvPr id="38" name="Text 36"/>
          <p:cNvSpPr/>
          <p:nvPr/>
        </p:nvSpPr>
        <p:spPr>
          <a:xfrm>
            <a:off x="2362810" y="1984248"/>
            <a:ext cx="914400" cy="237744"/>
          </a:xfrm>
          <a:prstGeom prst="rect">
            <a:avLst/>
          </a:prstGeom>
          <a:noFill/>
          <a:ln/>
        </p:spPr>
        <p:txBody>
          <a:bodyPr wrap="square" lIns="0" tIns="0" rIns="0" bIns="0" rtlCol="0" anchor="ctr"/>
          <a:lstStyle/>
          <a:p>
            <a:pPr algn="l" indent="0" marL="0">
              <a:buNone/>
            </a:pPr>
            <a:r>
              <a:rPr lang="en-US" sz="1050" b="1" dirty="0">
                <a:solidFill>
                  <a:srgbClr val="2A1F3D"/>
                </a:solidFill>
                <a:latin typeface="Calibri" pitchFamily="34" charset="0"/>
                <a:ea typeface="Calibri" pitchFamily="34" charset="-122"/>
                <a:cs typeface="Calibri" pitchFamily="34" charset="-120"/>
              </a:rPr>
              <a:t>ammeter</a:t>
            </a:r>
            <a:endParaRPr lang="en-US" sz="1050" dirty="0"/>
          </a:p>
        </p:txBody>
      </p:sp>
      <p:sp>
        <p:nvSpPr>
          <p:cNvPr id="39" name="Shape 37"/>
          <p:cNvSpPr/>
          <p:nvPr/>
        </p:nvSpPr>
        <p:spPr>
          <a:xfrm flipV="1">
            <a:off x="3855110" y="2418588"/>
            <a:ext cx="91" cy="50292"/>
          </a:xfrm>
          <a:prstGeom prst="line">
            <a:avLst/>
          </a:prstGeom>
          <a:noFill/>
          <a:ln w="19050">
            <a:solidFill>
              <a:srgbClr val="2A1F3D"/>
            </a:solidFill>
            <a:prstDash val="solid"/>
          </a:ln>
        </p:spPr>
      </p:sp>
      <p:sp>
        <p:nvSpPr>
          <p:cNvPr id="40" name="Shape 38"/>
          <p:cNvSpPr/>
          <p:nvPr/>
        </p:nvSpPr>
        <p:spPr>
          <a:xfrm flipV="1">
            <a:off x="3855110" y="1874520"/>
            <a:ext cx="91" cy="50292"/>
          </a:xfrm>
          <a:prstGeom prst="line">
            <a:avLst/>
          </a:prstGeom>
          <a:noFill/>
          <a:ln w="19050">
            <a:solidFill>
              <a:srgbClr val="2A1F3D"/>
            </a:solidFill>
            <a:prstDash val="solid"/>
          </a:ln>
        </p:spPr>
      </p:sp>
      <p:sp>
        <p:nvSpPr>
          <p:cNvPr id="41" name="Shape 39"/>
          <p:cNvSpPr/>
          <p:nvPr/>
        </p:nvSpPr>
        <p:spPr>
          <a:xfrm>
            <a:off x="3763670" y="1924812"/>
            <a:ext cx="182880" cy="493776"/>
          </a:xfrm>
          <a:prstGeom prst="rect">
            <a:avLst/>
          </a:prstGeom>
          <a:solidFill>
            <a:srgbClr val="FFFFFF"/>
          </a:solidFill>
          <a:ln w="19050">
            <a:solidFill>
              <a:srgbClr val="2A1F3D"/>
            </a:solidFill>
            <a:prstDash val="solid"/>
          </a:ln>
        </p:spPr>
      </p:sp>
      <p:sp>
        <p:nvSpPr>
          <p:cNvPr id="42" name="Shape 40"/>
          <p:cNvSpPr/>
          <p:nvPr/>
        </p:nvSpPr>
        <p:spPr>
          <a:xfrm flipH="1" flipV="1">
            <a:off x="3635654" y="1860804"/>
            <a:ext cx="420624" cy="603504"/>
          </a:xfrm>
          <a:prstGeom prst="line">
            <a:avLst/>
          </a:prstGeom>
          <a:noFill/>
          <a:ln w="15875">
            <a:solidFill>
              <a:srgbClr val="2A1F3D"/>
            </a:solidFill>
            <a:prstDash val="solid"/>
            <a:tailEnd type="triangle"/>
          </a:ln>
        </p:spPr>
      </p:sp>
      <p:sp>
        <p:nvSpPr>
          <p:cNvPr id="43" name="Text 41"/>
          <p:cNvSpPr/>
          <p:nvPr/>
        </p:nvSpPr>
        <p:spPr>
          <a:xfrm>
            <a:off x="2556662" y="1965960"/>
            <a:ext cx="914400" cy="411480"/>
          </a:xfrm>
          <a:prstGeom prst="rect">
            <a:avLst/>
          </a:prstGeom>
          <a:noFill/>
          <a:ln/>
        </p:spPr>
        <p:txBody>
          <a:bodyPr wrap="square" lIns="0" tIns="0" rIns="0" bIns="0" rtlCol="0" anchor="ctr"/>
          <a:lstStyle/>
          <a:p>
            <a:pPr algn="r" indent="0" marL="0">
              <a:buNone/>
            </a:pPr>
            <a:r>
              <a:rPr lang="en-US" sz="1050" b="1" dirty="0">
                <a:solidFill>
                  <a:srgbClr val="2A1F3D"/>
                </a:solidFill>
                <a:latin typeface="Calibri" pitchFamily="34" charset="0"/>
                <a:ea typeface="Calibri" pitchFamily="34" charset="-122"/>
                <a:cs typeface="Calibri" pitchFamily="34" charset="-120"/>
              </a:rPr>
              <a:t>variable</a:t>
            </a:r>
            <a:endParaRPr lang="en-US" sz="1050" dirty="0"/>
          </a:p>
          <a:p>
            <a:pPr algn="r" indent="0" marL="0">
              <a:buNone/>
            </a:pPr>
            <a:r>
              <a:rPr lang="en-US" sz="1050" b="1" dirty="0">
                <a:solidFill>
                  <a:srgbClr val="2A1F3D"/>
                </a:solidFill>
                <a:latin typeface="Calibri" pitchFamily="34" charset="0"/>
                <a:ea typeface="Calibri" pitchFamily="34" charset="-122"/>
                <a:cs typeface="Calibri" pitchFamily="34" charset="-120"/>
              </a:rPr>
              <a:t>resistor</a:t>
            </a:r>
            <a:endParaRPr lang="en-US" sz="1050" dirty="0"/>
          </a:p>
        </p:txBody>
      </p:sp>
      <p:sp>
        <p:nvSpPr>
          <p:cNvPr id="44" name="Text 42"/>
          <p:cNvSpPr/>
          <p:nvPr/>
        </p:nvSpPr>
        <p:spPr>
          <a:xfrm>
            <a:off x="1051560" y="4892040"/>
            <a:ext cx="3840480" cy="256032"/>
          </a:xfrm>
          <a:prstGeom prst="rect">
            <a:avLst/>
          </a:prstGeom>
          <a:noFill/>
          <a:ln/>
        </p:spPr>
        <p:txBody>
          <a:bodyPr wrap="square" lIns="0" tIns="0" rIns="0" bIns="0" rtlCol="0" anchor="ctr"/>
          <a:lstStyle/>
          <a:p>
            <a:pPr algn="ctr" indent="0" marL="0">
              <a:buNone/>
            </a:pPr>
            <a:r>
              <a:rPr lang="en-US" sz="1050" b="1" dirty="0">
                <a:solidFill>
                  <a:srgbClr val="1F5F99"/>
                </a:solidFill>
                <a:latin typeface="Calibri" pitchFamily="34" charset="0"/>
                <a:ea typeface="Calibri" pitchFamily="34" charset="-122"/>
                <a:cs typeface="Calibri" pitchFamily="34" charset="-120"/>
              </a:rPr>
              <a:t>copper sulfate solution</a:t>
            </a:r>
            <a:endParaRPr lang="en-US" sz="1050" dirty="0"/>
          </a:p>
        </p:txBody>
      </p:sp>
      <p:sp>
        <p:nvSpPr>
          <p:cNvPr id="45" name="Shape 43"/>
          <p:cNvSpPr/>
          <p:nvPr/>
        </p:nvSpPr>
        <p:spPr>
          <a:xfrm>
            <a:off x="640080" y="5138928"/>
            <a:ext cx="5120640" cy="228600"/>
          </a:xfrm>
          <a:prstGeom prst="rect">
            <a:avLst/>
          </a:prstGeom>
          <a:ln/>
        </p:spPr>
      </p:sp>
      <p:sp>
        <p:nvSpPr>
          <p:cNvPr id="46" name="Shape 44"/>
          <p:cNvSpPr/>
          <p:nvPr/>
        </p:nvSpPr>
        <p:spPr>
          <a:xfrm>
            <a:off x="6217920" y="1188720"/>
            <a:ext cx="5562295" cy="2423160"/>
          </a:xfrm>
          <a:prstGeom prst="roundRect">
            <a:avLst>
              <a:gd name="adj" fmla="val 2264"/>
            </a:avLst>
          </a:prstGeom>
          <a:solidFill>
            <a:srgbClr val="F8F5FC"/>
          </a:solidFill>
          <a:ln w="9525">
            <a:solidFill>
              <a:srgbClr val="DDD3EC"/>
            </a:solidFill>
            <a:prstDash val="solid"/>
          </a:ln>
        </p:spPr>
      </p:sp>
      <p:sp>
        <p:nvSpPr>
          <p:cNvPr id="47" name="Text 4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48" name="Text 4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Part 1:</a:t>
            </a:r>
            <a:r>
              <a:rPr lang="en-US" sz="1150" dirty="0">
                <a:solidFill>
                  <a:srgbClr val="262B3A"/>
                </a:solidFill>
                <a:latin typeface="Calibri" pitchFamily="34" charset="0"/>
                <a:ea typeface="Calibri" pitchFamily="34" charset="-122"/>
                <a:cs typeface="Calibri" pitchFamily="34" charset="-120"/>
              </a:rPr>
              <a:t> graphite electrodes for a few minutes; observe each electrode; test the anode gas with a </a:t>
            </a:r>
            <a:r>
              <a:rPr lang="en-US" sz="1150" b="1" dirty="0">
                <a:solidFill>
                  <a:srgbClr val="262B3A"/>
                </a:solidFill>
                <a:latin typeface="Calibri" pitchFamily="34" charset="0"/>
                <a:ea typeface="Calibri" pitchFamily="34" charset="-122"/>
                <a:cs typeface="Calibri" pitchFamily="34" charset="-120"/>
              </a:rPr>
              <a:t>glowing splint</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Part 2:</a:t>
            </a:r>
            <a:r>
              <a:rPr lang="en-US" sz="1150" dirty="0">
                <a:solidFill>
                  <a:srgbClr val="262B3A"/>
                </a:solidFill>
                <a:latin typeface="Calibri" pitchFamily="34" charset="0"/>
                <a:ea typeface="Calibri" pitchFamily="34" charset="-122"/>
                <a:cs typeface="Calibri" pitchFamily="34" charset="-120"/>
              </a:rPr>
              <a:t> clean, dry and </a:t>
            </a:r>
            <a:r>
              <a:rPr lang="en-US" sz="1150" b="1" dirty="0">
                <a:solidFill>
                  <a:srgbClr val="262B3A"/>
                </a:solidFill>
                <a:latin typeface="Calibri" pitchFamily="34" charset="0"/>
                <a:ea typeface="Calibri" pitchFamily="34" charset="-122"/>
                <a:cs typeface="Calibri" pitchFamily="34" charset="-120"/>
              </a:rPr>
              <a:t>weigh</a:t>
            </a:r>
            <a:r>
              <a:rPr lang="en-US" sz="1150" dirty="0">
                <a:solidFill>
                  <a:srgbClr val="262B3A"/>
                </a:solidFill>
                <a:latin typeface="Calibri" pitchFamily="34" charset="0"/>
                <a:ea typeface="Calibri" pitchFamily="34" charset="-122"/>
                <a:cs typeface="Calibri" pitchFamily="34" charset="-120"/>
              </a:rPr>
              <a:t> two copper electrodes.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Set the current to </a:t>
            </a:r>
            <a:r>
              <a:rPr lang="en-US" sz="1150" b="1" dirty="0">
                <a:solidFill>
                  <a:srgbClr val="262B3A"/>
                </a:solidFill>
                <a:latin typeface="Calibri" pitchFamily="34" charset="0"/>
                <a:ea typeface="Calibri" pitchFamily="34" charset="-122"/>
                <a:cs typeface="Calibri" pitchFamily="34" charset="-120"/>
              </a:rPr>
              <a:t>0.20 A</a:t>
            </a:r>
            <a:r>
              <a:rPr lang="en-US" sz="1150" dirty="0">
                <a:solidFill>
                  <a:srgbClr val="262B3A"/>
                </a:solidFill>
                <a:latin typeface="Calibri" pitchFamily="34" charset="0"/>
                <a:ea typeface="Calibri" pitchFamily="34" charset="-122"/>
                <a:cs typeface="Calibri" pitchFamily="34" charset="-120"/>
              </a:rPr>
              <a:t> with the variable resistor; electrolyse for </a:t>
            </a:r>
            <a:r>
              <a:rPr lang="en-US" sz="1150" b="1" dirty="0">
                <a:solidFill>
                  <a:srgbClr val="262B3A"/>
                </a:solidFill>
                <a:latin typeface="Calibri" pitchFamily="34" charset="0"/>
                <a:ea typeface="Calibri" pitchFamily="34" charset="-122"/>
                <a:cs typeface="Calibri" pitchFamily="34" charset="-120"/>
              </a:rPr>
              <a:t>10 min</a:t>
            </a:r>
            <a:r>
              <a:rPr lang="en-US" sz="1150" dirty="0">
                <a:solidFill>
                  <a:srgbClr val="262B3A"/>
                </a:solidFill>
                <a:latin typeface="Calibri" pitchFamily="34" charset="0"/>
                <a:ea typeface="Calibri" pitchFamily="34" charset="-122"/>
                <a:cs typeface="Calibri" pitchFamily="34" charset="-120"/>
              </a:rPr>
              <a:t>, keeping the current constant.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Remove, rinse with distilled water then </a:t>
            </a:r>
            <a:r>
              <a:rPr lang="en-US" sz="1150" b="1" dirty="0">
                <a:solidFill>
                  <a:srgbClr val="262B3A"/>
                </a:solidFill>
                <a:latin typeface="Calibri" pitchFamily="34" charset="0"/>
                <a:ea typeface="Calibri" pitchFamily="34" charset="-122"/>
                <a:cs typeface="Calibri" pitchFamily="34" charset="-120"/>
              </a:rPr>
              <a:t>propanone</a:t>
            </a:r>
            <a:r>
              <a:rPr lang="en-US" sz="1150" dirty="0">
                <a:solidFill>
                  <a:srgbClr val="262B3A"/>
                </a:solidFill>
                <a:latin typeface="Calibri" pitchFamily="34" charset="0"/>
                <a:ea typeface="Calibri" pitchFamily="34" charset="-122"/>
                <a:cs typeface="Calibri" pitchFamily="34" charset="-120"/>
              </a:rPr>
              <a:t>, dry, </a:t>
            </a:r>
            <a:r>
              <a:rPr lang="en-US" sz="1150" b="1" dirty="0">
                <a:solidFill>
                  <a:srgbClr val="262B3A"/>
                </a:solidFill>
                <a:latin typeface="Calibri" pitchFamily="34" charset="0"/>
                <a:ea typeface="Calibri" pitchFamily="34" charset="-122"/>
                <a:cs typeface="Calibri" pitchFamily="34" charset="-120"/>
              </a:rPr>
              <a:t>reweigh</a:t>
            </a:r>
            <a:r>
              <a:rPr lang="en-US" sz="1150" dirty="0">
                <a:solidFill>
                  <a:srgbClr val="262B3A"/>
                </a:solidFill>
                <a:latin typeface="Calibri" pitchFamily="34" charset="0"/>
                <a:ea typeface="Calibri" pitchFamily="34" charset="-122"/>
                <a:cs typeface="Calibri" pitchFamily="34" charset="-120"/>
              </a:rPr>
              <a:t> both.</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Repeat with new electrodes at 0.40, 0.60, 0.80, 1.00 A.</a:t>
            </a:r>
            <a:endParaRPr lang="en-US" sz="1150" dirty="0"/>
          </a:p>
        </p:txBody>
      </p:sp>
      <p:sp>
        <p:nvSpPr>
          <p:cNvPr id="49" name="Shape 4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0" name="Text 4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Variables and safety</a:t>
            </a:r>
            <a:endParaRPr lang="en-US" sz="1300" dirty="0"/>
          </a:p>
        </p:txBody>
      </p:sp>
      <p:sp>
        <p:nvSpPr>
          <p:cNvPr id="51" name="Text 49"/>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IV   </a:t>
            </a:r>
            <a:r>
              <a:rPr lang="en-US" sz="1050" dirty="0">
                <a:solidFill>
                  <a:srgbClr val="262B3A"/>
                </a:solidFill>
                <a:latin typeface="Calibri" pitchFamily="34" charset="0"/>
                <a:ea typeface="Calibri" pitchFamily="34" charset="-122"/>
                <a:cs typeface="Calibri" pitchFamily="34" charset="-120"/>
              </a:rPr>
              <a:t>current (A)</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DV   </a:t>
            </a:r>
            <a:r>
              <a:rPr lang="en-US" sz="1050" dirty="0">
                <a:solidFill>
                  <a:srgbClr val="262B3A"/>
                </a:solidFill>
                <a:latin typeface="Calibri" pitchFamily="34" charset="0"/>
                <a:ea typeface="Calibri" pitchFamily="34" charset="-122"/>
                <a:cs typeface="Calibri" pitchFamily="34" charset="-120"/>
              </a:rPr>
              <a:t>change in mass of each electrode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Control   </a:t>
            </a:r>
            <a:r>
              <a:rPr lang="en-US" sz="1050" dirty="0">
                <a:solidFill>
                  <a:srgbClr val="262B3A"/>
                </a:solidFill>
                <a:latin typeface="Calibri" pitchFamily="34" charset="0"/>
                <a:ea typeface="Calibri" pitchFamily="34" charset="-122"/>
                <a:cs typeface="Calibri" pitchFamily="34" charset="-120"/>
              </a:rPr>
              <a:t>time; volume and concentration of CuSO₄; electrode size and spacing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4 Safety   </a:t>
            </a:r>
            <a:r>
              <a:rPr lang="en-US" sz="1050" b="1" dirty="0">
                <a:solidFill>
                  <a:srgbClr val="C8414C"/>
                </a:solidFill>
                <a:latin typeface="Calibri" pitchFamily="34" charset="0"/>
                <a:ea typeface="Calibri" pitchFamily="34" charset="-122"/>
                <a:cs typeface="Calibri" pitchFamily="34" charset="-120"/>
              </a:rPr>
              <a:t>CuSO₄ harmful; propanone highly flammable – no flames; eye protection</a:t>
            </a:r>
            <a:endParaRPr lang="en-US" sz="1050" dirty="0"/>
          </a:p>
        </p:txBody>
      </p:sp>
      <p:sp>
        <p:nvSpPr>
          <p:cNvPr id="52" name="Shape 50"/>
          <p:cNvSpPr/>
          <p:nvPr/>
        </p:nvSpPr>
        <p:spPr>
          <a:xfrm>
            <a:off x="411480" y="5833872"/>
            <a:ext cx="11368735" cy="530352"/>
          </a:xfrm>
          <a:prstGeom prst="rect">
            <a:avLst/>
          </a:prstGeom>
          <a:solidFill>
            <a:srgbClr val="FFF4E0"/>
          </a:solidFill>
          <a:ln w="6350">
            <a:solidFill>
              <a:srgbClr val="F1D9A8"/>
            </a:solidFill>
            <a:prstDash val="solid"/>
          </a:ln>
        </p:spPr>
      </p:sp>
      <p:sp>
        <p:nvSpPr>
          <p:cNvPr id="53" name="Shape 51"/>
          <p:cNvSpPr/>
          <p:nvPr/>
        </p:nvSpPr>
        <p:spPr>
          <a:xfrm>
            <a:off x="411480" y="5833872"/>
            <a:ext cx="82296" cy="530352"/>
          </a:xfrm>
          <a:prstGeom prst="rect">
            <a:avLst/>
          </a:prstGeom>
          <a:solidFill>
            <a:srgbClr val="E39A2F"/>
          </a:solidFill>
          <a:ln w="12700">
            <a:solidFill>
              <a:srgbClr val="E39A2F"/>
            </a:solidFill>
            <a:prstDash val="solid"/>
          </a:ln>
        </p:spPr>
      </p:sp>
      <p:sp>
        <p:nvSpPr>
          <p:cNvPr id="54" name="Text 5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are the copper electrodes rinsed with </a:t>
            </a:r>
            <a:r>
              <a:rPr lang="en-US" sz="1150" b="1" dirty="0">
                <a:solidFill>
                  <a:srgbClr val="262B3A"/>
                </a:solidFill>
                <a:latin typeface="Calibri" pitchFamily="34" charset="0"/>
                <a:ea typeface="Calibri" pitchFamily="34" charset="-122"/>
                <a:cs typeface="Calibri" pitchFamily="34" charset="-120"/>
              </a:rPr>
              <a:t>propanone</a:t>
            </a:r>
            <a:r>
              <a:rPr lang="en-US" sz="1150" dirty="0">
                <a:solidFill>
                  <a:srgbClr val="262B3A"/>
                </a:solidFill>
                <a:latin typeface="Calibri" pitchFamily="34" charset="0"/>
                <a:ea typeface="Calibri" pitchFamily="34" charset="-122"/>
                <a:cs typeface="Calibri" pitchFamily="34" charset="-120"/>
              </a:rPr>
              <a:t> and dried before reweighing? Why must the current be kept </a:t>
            </a:r>
            <a:r>
              <a:rPr lang="en-US" sz="1150" b="1" dirty="0">
                <a:solidFill>
                  <a:srgbClr val="262B3A"/>
                </a:solidFill>
                <a:latin typeface="Calibri" pitchFamily="34" charset="0"/>
                <a:ea typeface="Calibri" pitchFamily="34" charset="-122"/>
                <a:cs typeface="Calibri" pitchFamily="34" charset="-120"/>
              </a:rPr>
              <a:t>constant</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Core Practical: results and analysis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3.31 • sample results: copper electrodes, 10 minutes at each current</a:t>
            </a:r>
            <a:endParaRPr lang="en-US" sz="1100" dirty="0"/>
          </a:p>
        </p:txBody>
      </p:sp>
      <p:sp>
        <p:nvSpPr>
          <p:cNvPr id="6" name="Shape 4"/>
          <p:cNvSpPr/>
          <p:nvPr/>
        </p:nvSpPr>
        <p:spPr>
          <a:xfrm>
            <a:off x="10408615" y="292608"/>
            <a:ext cx="1371600"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408615" y="29260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CP 3.31  |  37</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sample data plotted to scale (model results)</a:t>
            </a:r>
            <a:endParaRPr lang="en-US" sz="1000" dirty="0"/>
          </a:p>
        </p:txBody>
      </p:sp>
      <p:sp>
        <p:nvSpPr>
          <p:cNvPr id="12" name="Shape 10"/>
          <p:cNvSpPr/>
          <p:nvPr/>
        </p:nvSpPr>
        <p:spPr>
          <a:xfrm>
            <a:off x="1371600" y="1417320"/>
            <a:ext cx="4343400" cy="3383280"/>
          </a:xfrm>
          <a:prstGeom prst="rect">
            <a:avLst/>
          </a:prstGeom>
          <a:solidFill>
            <a:srgbClr val="FFFFFF"/>
          </a:solidFill>
          <a:ln/>
        </p:spPr>
      </p:sp>
      <p:sp>
        <p:nvSpPr>
          <p:cNvPr id="13" name="Shape 11"/>
          <p:cNvSpPr/>
          <p:nvPr/>
        </p:nvSpPr>
        <p:spPr>
          <a:xfrm>
            <a:off x="1371600" y="1417320"/>
            <a:ext cx="91" cy="3383280"/>
          </a:xfrm>
          <a:prstGeom prst="line">
            <a:avLst/>
          </a:prstGeom>
          <a:noFill/>
          <a:ln w="6350">
            <a:solidFill>
              <a:srgbClr val="D6CBE8"/>
            </a:solidFill>
            <a:prstDash val="solid"/>
          </a:ln>
        </p:spPr>
      </p:sp>
      <p:sp>
        <p:nvSpPr>
          <p:cNvPr id="14" name="Shape 12"/>
          <p:cNvSpPr/>
          <p:nvPr/>
        </p:nvSpPr>
        <p:spPr>
          <a:xfrm>
            <a:off x="1805940" y="1417320"/>
            <a:ext cx="91" cy="3383280"/>
          </a:xfrm>
          <a:prstGeom prst="line">
            <a:avLst/>
          </a:prstGeom>
          <a:noFill/>
          <a:ln w="6350">
            <a:solidFill>
              <a:srgbClr val="EEE9F6"/>
            </a:solidFill>
            <a:prstDash val="solid"/>
          </a:ln>
        </p:spPr>
      </p:sp>
      <p:sp>
        <p:nvSpPr>
          <p:cNvPr id="15" name="Shape 13"/>
          <p:cNvSpPr/>
          <p:nvPr/>
        </p:nvSpPr>
        <p:spPr>
          <a:xfrm>
            <a:off x="2240280" y="1417320"/>
            <a:ext cx="91" cy="3383280"/>
          </a:xfrm>
          <a:prstGeom prst="line">
            <a:avLst/>
          </a:prstGeom>
          <a:noFill/>
          <a:ln w="6350">
            <a:solidFill>
              <a:srgbClr val="D6CBE8"/>
            </a:solidFill>
            <a:prstDash val="solid"/>
          </a:ln>
        </p:spPr>
      </p:sp>
      <p:sp>
        <p:nvSpPr>
          <p:cNvPr id="16" name="Shape 14"/>
          <p:cNvSpPr/>
          <p:nvPr/>
        </p:nvSpPr>
        <p:spPr>
          <a:xfrm>
            <a:off x="2674620" y="1417320"/>
            <a:ext cx="91" cy="3383280"/>
          </a:xfrm>
          <a:prstGeom prst="line">
            <a:avLst/>
          </a:prstGeom>
          <a:noFill/>
          <a:ln w="6350">
            <a:solidFill>
              <a:srgbClr val="EEE9F6"/>
            </a:solidFill>
            <a:prstDash val="solid"/>
          </a:ln>
        </p:spPr>
      </p:sp>
      <p:sp>
        <p:nvSpPr>
          <p:cNvPr id="17" name="Shape 15"/>
          <p:cNvSpPr/>
          <p:nvPr/>
        </p:nvSpPr>
        <p:spPr>
          <a:xfrm>
            <a:off x="3108960" y="1417320"/>
            <a:ext cx="91" cy="3383280"/>
          </a:xfrm>
          <a:prstGeom prst="line">
            <a:avLst/>
          </a:prstGeom>
          <a:noFill/>
          <a:ln w="6350">
            <a:solidFill>
              <a:srgbClr val="D6CBE8"/>
            </a:solidFill>
            <a:prstDash val="solid"/>
          </a:ln>
        </p:spPr>
      </p:sp>
      <p:sp>
        <p:nvSpPr>
          <p:cNvPr id="18" name="Shape 16"/>
          <p:cNvSpPr/>
          <p:nvPr/>
        </p:nvSpPr>
        <p:spPr>
          <a:xfrm>
            <a:off x="3543300" y="1417320"/>
            <a:ext cx="91" cy="3383280"/>
          </a:xfrm>
          <a:prstGeom prst="line">
            <a:avLst/>
          </a:prstGeom>
          <a:noFill/>
          <a:ln w="6350">
            <a:solidFill>
              <a:srgbClr val="EEE9F6"/>
            </a:solidFill>
            <a:prstDash val="solid"/>
          </a:ln>
        </p:spPr>
      </p:sp>
      <p:sp>
        <p:nvSpPr>
          <p:cNvPr id="19" name="Shape 17"/>
          <p:cNvSpPr/>
          <p:nvPr/>
        </p:nvSpPr>
        <p:spPr>
          <a:xfrm>
            <a:off x="3977640" y="1417320"/>
            <a:ext cx="91" cy="3383280"/>
          </a:xfrm>
          <a:prstGeom prst="line">
            <a:avLst/>
          </a:prstGeom>
          <a:noFill/>
          <a:ln w="6350">
            <a:solidFill>
              <a:srgbClr val="D6CBE8"/>
            </a:solidFill>
            <a:prstDash val="solid"/>
          </a:ln>
        </p:spPr>
      </p:sp>
      <p:sp>
        <p:nvSpPr>
          <p:cNvPr id="20" name="Shape 18"/>
          <p:cNvSpPr/>
          <p:nvPr/>
        </p:nvSpPr>
        <p:spPr>
          <a:xfrm>
            <a:off x="4411980" y="1417320"/>
            <a:ext cx="91" cy="3383280"/>
          </a:xfrm>
          <a:prstGeom prst="line">
            <a:avLst/>
          </a:prstGeom>
          <a:noFill/>
          <a:ln w="6350">
            <a:solidFill>
              <a:srgbClr val="EEE9F6"/>
            </a:solidFill>
            <a:prstDash val="solid"/>
          </a:ln>
        </p:spPr>
      </p:sp>
      <p:sp>
        <p:nvSpPr>
          <p:cNvPr id="21" name="Shape 19"/>
          <p:cNvSpPr/>
          <p:nvPr/>
        </p:nvSpPr>
        <p:spPr>
          <a:xfrm>
            <a:off x="4846320" y="1417320"/>
            <a:ext cx="91" cy="3383280"/>
          </a:xfrm>
          <a:prstGeom prst="line">
            <a:avLst/>
          </a:prstGeom>
          <a:noFill/>
          <a:ln w="6350">
            <a:solidFill>
              <a:srgbClr val="D6CBE8"/>
            </a:solidFill>
            <a:prstDash val="solid"/>
          </a:ln>
        </p:spPr>
      </p:sp>
      <p:sp>
        <p:nvSpPr>
          <p:cNvPr id="22" name="Shape 20"/>
          <p:cNvSpPr/>
          <p:nvPr/>
        </p:nvSpPr>
        <p:spPr>
          <a:xfrm>
            <a:off x="5280660" y="1417320"/>
            <a:ext cx="91" cy="3383280"/>
          </a:xfrm>
          <a:prstGeom prst="line">
            <a:avLst/>
          </a:prstGeom>
          <a:noFill/>
          <a:ln w="6350">
            <a:solidFill>
              <a:srgbClr val="EEE9F6"/>
            </a:solidFill>
            <a:prstDash val="solid"/>
          </a:ln>
        </p:spPr>
      </p:sp>
      <p:sp>
        <p:nvSpPr>
          <p:cNvPr id="23" name="Shape 21"/>
          <p:cNvSpPr/>
          <p:nvPr/>
        </p:nvSpPr>
        <p:spPr>
          <a:xfrm>
            <a:off x="5715000" y="1417320"/>
            <a:ext cx="91" cy="3383280"/>
          </a:xfrm>
          <a:prstGeom prst="line">
            <a:avLst/>
          </a:prstGeom>
          <a:noFill/>
          <a:ln w="6350">
            <a:solidFill>
              <a:srgbClr val="D6CBE8"/>
            </a:solidFill>
            <a:prstDash val="solid"/>
          </a:ln>
        </p:spPr>
      </p:sp>
      <p:sp>
        <p:nvSpPr>
          <p:cNvPr id="24" name="Shape 22"/>
          <p:cNvSpPr/>
          <p:nvPr/>
        </p:nvSpPr>
        <p:spPr>
          <a:xfrm>
            <a:off x="1371600" y="4800600"/>
            <a:ext cx="4343400" cy="91"/>
          </a:xfrm>
          <a:prstGeom prst="line">
            <a:avLst/>
          </a:prstGeom>
          <a:noFill/>
          <a:ln w="6350">
            <a:solidFill>
              <a:srgbClr val="D6CBE8"/>
            </a:solidFill>
            <a:prstDash val="solid"/>
          </a:ln>
        </p:spPr>
      </p:sp>
      <p:sp>
        <p:nvSpPr>
          <p:cNvPr id="25" name="Shape 23"/>
          <p:cNvSpPr/>
          <p:nvPr/>
        </p:nvSpPr>
        <p:spPr>
          <a:xfrm>
            <a:off x="1371600" y="4462272"/>
            <a:ext cx="4343400" cy="91"/>
          </a:xfrm>
          <a:prstGeom prst="line">
            <a:avLst/>
          </a:prstGeom>
          <a:noFill/>
          <a:ln w="6350">
            <a:solidFill>
              <a:srgbClr val="EEE9F6"/>
            </a:solidFill>
            <a:prstDash val="solid"/>
          </a:ln>
        </p:spPr>
      </p:sp>
      <p:sp>
        <p:nvSpPr>
          <p:cNvPr id="26" name="Shape 24"/>
          <p:cNvSpPr/>
          <p:nvPr/>
        </p:nvSpPr>
        <p:spPr>
          <a:xfrm>
            <a:off x="1371600" y="4123944"/>
            <a:ext cx="4343400" cy="91"/>
          </a:xfrm>
          <a:prstGeom prst="line">
            <a:avLst/>
          </a:prstGeom>
          <a:noFill/>
          <a:ln w="6350">
            <a:solidFill>
              <a:srgbClr val="D6CBE8"/>
            </a:solidFill>
            <a:prstDash val="solid"/>
          </a:ln>
        </p:spPr>
      </p:sp>
      <p:sp>
        <p:nvSpPr>
          <p:cNvPr id="27" name="Shape 25"/>
          <p:cNvSpPr/>
          <p:nvPr/>
        </p:nvSpPr>
        <p:spPr>
          <a:xfrm>
            <a:off x="1371600" y="3785616"/>
            <a:ext cx="4343400" cy="91"/>
          </a:xfrm>
          <a:prstGeom prst="line">
            <a:avLst/>
          </a:prstGeom>
          <a:noFill/>
          <a:ln w="6350">
            <a:solidFill>
              <a:srgbClr val="EEE9F6"/>
            </a:solidFill>
            <a:prstDash val="solid"/>
          </a:ln>
        </p:spPr>
      </p:sp>
      <p:sp>
        <p:nvSpPr>
          <p:cNvPr id="28" name="Shape 26"/>
          <p:cNvSpPr/>
          <p:nvPr/>
        </p:nvSpPr>
        <p:spPr>
          <a:xfrm>
            <a:off x="1371600" y="3447288"/>
            <a:ext cx="4343400" cy="91"/>
          </a:xfrm>
          <a:prstGeom prst="line">
            <a:avLst/>
          </a:prstGeom>
          <a:noFill/>
          <a:ln w="6350">
            <a:solidFill>
              <a:srgbClr val="D6CBE8"/>
            </a:solidFill>
            <a:prstDash val="solid"/>
          </a:ln>
        </p:spPr>
      </p:sp>
      <p:sp>
        <p:nvSpPr>
          <p:cNvPr id="29" name="Shape 27"/>
          <p:cNvSpPr/>
          <p:nvPr/>
        </p:nvSpPr>
        <p:spPr>
          <a:xfrm>
            <a:off x="1371600" y="3108960"/>
            <a:ext cx="4343400" cy="91"/>
          </a:xfrm>
          <a:prstGeom prst="line">
            <a:avLst/>
          </a:prstGeom>
          <a:noFill/>
          <a:ln w="6350">
            <a:solidFill>
              <a:srgbClr val="EEE9F6"/>
            </a:solidFill>
            <a:prstDash val="solid"/>
          </a:ln>
        </p:spPr>
      </p:sp>
      <p:sp>
        <p:nvSpPr>
          <p:cNvPr id="30" name="Shape 28"/>
          <p:cNvSpPr/>
          <p:nvPr/>
        </p:nvSpPr>
        <p:spPr>
          <a:xfrm>
            <a:off x="1371600" y="2770632"/>
            <a:ext cx="4343400" cy="91"/>
          </a:xfrm>
          <a:prstGeom prst="line">
            <a:avLst/>
          </a:prstGeom>
          <a:noFill/>
          <a:ln w="6350">
            <a:solidFill>
              <a:srgbClr val="D6CBE8"/>
            </a:solidFill>
            <a:prstDash val="solid"/>
          </a:ln>
        </p:spPr>
      </p:sp>
      <p:sp>
        <p:nvSpPr>
          <p:cNvPr id="31" name="Shape 29"/>
          <p:cNvSpPr/>
          <p:nvPr/>
        </p:nvSpPr>
        <p:spPr>
          <a:xfrm>
            <a:off x="1371600" y="2432304"/>
            <a:ext cx="4343400" cy="91"/>
          </a:xfrm>
          <a:prstGeom prst="line">
            <a:avLst/>
          </a:prstGeom>
          <a:noFill/>
          <a:ln w="6350">
            <a:solidFill>
              <a:srgbClr val="EEE9F6"/>
            </a:solidFill>
            <a:prstDash val="solid"/>
          </a:ln>
        </p:spPr>
      </p:sp>
      <p:sp>
        <p:nvSpPr>
          <p:cNvPr id="32" name="Shape 30"/>
          <p:cNvSpPr/>
          <p:nvPr/>
        </p:nvSpPr>
        <p:spPr>
          <a:xfrm>
            <a:off x="1371600" y="2093976"/>
            <a:ext cx="4343400" cy="91"/>
          </a:xfrm>
          <a:prstGeom prst="line">
            <a:avLst/>
          </a:prstGeom>
          <a:noFill/>
          <a:ln w="6350">
            <a:solidFill>
              <a:srgbClr val="D6CBE8"/>
            </a:solidFill>
            <a:prstDash val="solid"/>
          </a:ln>
        </p:spPr>
      </p:sp>
      <p:sp>
        <p:nvSpPr>
          <p:cNvPr id="33" name="Shape 31"/>
          <p:cNvSpPr/>
          <p:nvPr/>
        </p:nvSpPr>
        <p:spPr>
          <a:xfrm>
            <a:off x="1371600" y="1755648"/>
            <a:ext cx="4343400" cy="91"/>
          </a:xfrm>
          <a:prstGeom prst="line">
            <a:avLst/>
          </a:prstGeom>
          <a:noFill/>
          <a:ln w="6350">
            <a:solidFill>
              <a:srgbClr val="EEE9F6"/>
            </a:solidFill>
            <a:prstDash val="solid"/>
          </a:ln>
        </p:spPr>
      </p:sp>
      <p:sp>
        <p:nvSpPr>
          <p:cNvPr id="34" name="Shape 32"/>
          <p:cNvSpPr/>
          <p:nvPr/>
        </p:nvSpPr>
        <p:spPr>
          <a:xfrm>
            <a:off x="1371600" y="1417320"/>
            <a:ext cx="4343400" cy="91"/>
          </a:xfrm>
          <a:prstGeom prst="line">
            <a:avLst/>
          </a:prstGeom>
          <a:noFill/>
          <a:ln w="6350">
            <a:solidFill>
              <a:srgbClr val="D6CBE8"/>
            </a:solidFill>
            <a:prstDash val="solid"/>
          </a:ln>
        </p:spPr>
      </p:sp>
      <p:sp>
        <p:nvSpPr>
          <p:cNvPr id="35" name="Shape 33"/>
          <p:cNvSpPr/>
          <p:nvPr/>
        </p:nvSpPr>
        <p:spPr>
          <a:xfrm>
            <a:off x="1371600" y="4800600"/>
            <a:ext cx="4343400" cy="91"/>
          </a:xfrm>
          <a:prstGeom prst="line">
            <a:avLst/>
          </a:prstGeom>
          <a:noFill/>
          <a:ln w="19050">
            <a:solidFill>
              <a:srgbClr val="2A1F3D"/>
            </a:solidFill>
            <a:prstDash val="solid"/>
          </a:ln>
        </p:spPr>
      </p:sp>
      <p:sp>
        <p:nvSpPr>
          <p:cNvPr id="36" name="Shape 34"/>
          <p:cNvSpPr/>
          <p:nvPr/>
        </p:nvSpPr>
        <p:spPr>
          <a:xfrm flipV="1">
            <a:off x="1371600" y="1417320"/>
            <a:ext cx="91" cy="3383280"/>
          </a:xfrm>
          <a:prstGeom prst="line">
            <a:avLst/>
          </a:prstGeom>
          <a:noFill/>
          <a:ln w="19050">
            <a:solidFill>
              <a:srgbClr val="2A1F3D"/>
            </a:solidFill>
            <a:prstDash val="solid"/>
          </a:ln>
        </p:spPr>
      </p:sp>
      <p:sp>
        <p:nvSpPr>
          <p:cNvPr id="37" name="Shape 35"/>
          <p:cNvSpPr/>
          <p:nvPr/>
        </p:nvSpPr>
        <p:spPr>
          <a:xfrm>
            <a:off x="1371600" y="4800600"/>
            <a:ext cx="91" cy="54864"/>
          </a:xfrm>
          <a:prstGeom prst="line">
            <a:avLst/>
          </a:prstGeom>
          <a:noFill/>
          <a:ln w="12700">
            <a:solidFill>
              <a:srgbClr val="2A1F3D"/>
            </a:solidFill>
            <a:prstDash val="solid"/>
          </a:ln>
        </p:spPr>
      </p:sp>
      <p:sp>
        <p:nvSpPr>
          <p:cNvPr id="38" name="Text 36"/>
          <p:cNvSpPr/>
          <p:nvPr/>
        </p:nvSpPr>
        <p:spPr>
          <a:xfrm>
            <a:off x="109728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a:t>
            </a:r>
            <a:endParaRPr lang="en-US" sz="1000" dirty="0"/>
          </a:p>
        </p:txBody>
      </p:sp>
      <p:sp>
        <p:nvSpPr>
          <p:cNvPr id="39" name="Shape 37"/>
          <p:cNvSpPr/>
          <p:nvPr/>
        </p:nvSpPr>
        <p:spPr>
          <a:xfrm>
            <a:off x="2240280" y="4800600"/>
            <a:ext cx="91" cy="54864"/>
          </a:xfrm>
          <a:prstGeom prst="line">
            <a:avLst/>
          </a:prstGeom>
          <a:noFill/>
          <a:ln w="12700">
            <a:solidFill>
              <a:srgbClr val="2A1F3D"/>
            </a:solidFill>
            <a:prstDash val="solid"/>
          </a:ln>
        </p:spPr>
      </p:sp>
      <p:sp>
        <p:nvSpPr>
          <p:cNvPr id="40" name="Text 38"/>
          <p:cNvSpPr/>
          <p:nvPr/>
        </p:nvSpPr>
        <p:spPr>
          <a:xfrm>
            <a:off x="196596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a:t>
            </a:r>
            <a:endParaRPr lang="en-US" sz="1000" dirty="0"/>
          </a:p>
        </p:txBody>
      </p:sp>
      <p:sp>
        <p:nvSpPr>
          <p:cNvPr id="41" name="Shape 39"/>
          <p:cNvSpPr/>
          <p:nvPr/>
        </p:nvSpPr>
        <p:spPr>
          <a:xfrm>
            <a:off x="3108960" y="4800600"/>
            <a:ext cx="91" cy="54864"/>
          </a:xfrm>
          <a:prstGeom prst="line">
            <a:avLst/>
          </a:prstGeom>
          <a:noFill/>
          <a:ln w="12700">
            <a:solidFill>
              <a:srgbClr val="2A1F3D"/>
            </a:solidFill>
            <a:prstDash val="solid"/>
          </a:ln>
        </p:spPr>
      </p:sp>
      <p:sp>
        <p:nvSpPr>
          <p:cNvPr id="42" name="Text 40"/>
          <p:cNvSpPr/>
          <p:nvPr/>
        </p:nvSpPr>
        <p:spPr>
          <a:xfrm>
            <a:off x="283464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0.4</a:t>
            </a:r>
            <a:endParaRPr lang="en-US" sz="1000" dirty="0"/>
          </a:p>
        </p:txBody>
      </p:sp>
      <p:sp>
        <p:nvSpPr>
          <p:cNvPr id="43" name="Shape 41"/>
          <p:cNvSpPr/>
          <p:nvPr/>
        </p:nvSpPr>
        <p:spPr>
          <a:xfrm>
            <a:off x="3977640" y="4800600"/>
            <a:ext cx="91" cy="54864"/>
          </a:xfrm>
          <a:prstGeom prst="line">
            <a:avLst/>
          </a:prstGeom>
          <a:noFill/>
          <a:ln w="12700">
            <a:solidFill>
              <a:srgbClr val="2A1F3D"/>
            </a:solidFill>
            <a:prstDash val="solid"/>
          </a:ln>
        </p:spPr>
      </p:sp>
      <p:sp>
        <p:nvSpPr>
          <p:cNvPr id="44" name="Text 42"/>
          <p:cNvSpPr/>
          <p:nvPr/>
        </p:nvSpPr>
        <p:spPr>
          <a:xfrm>
            <a:off x="370332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0.6</a:t>
            </a:r>
            <a:endParaRPr lang="en-US" sz="1000" dirty="0"/>
          </a:p>
        </p:txBody>
      </p:sp>
      <p:sp>
        <p:nvSpPr>
          <p:cNvPr id="45" name="Shape 43"/>
          <p:cNvSpPr/>
          <p:nvPr/>
        </p:nvSpPr>
        <p:spPr>
          <a:xfrm>
            <a:off x="4846320" y="4800600"/>
            <a:ext cx="91" cy="54864"/>
          </a:xfrm>
          <a:prstGeom prst="line">
            <a:avLst/>
          </a:prstGeom>
          <a:noFill/>
          <a:ln w="12700">
            <a:solidFill>
              <a:srgbClr val="2A1F3D"/>
            </a:solidFill>
            <a:prstDash val="solid"/>
          </a:ln>
        </p:spPr>
      </p:sp>
      <p:sp>
        <p:nvSpPr>
          <p:cNvPr id="46" name="Text 44"/>
          <p:cNvSpPr/>
          <p:nvPr/>
        </p:nvSpPr>
        <p:spPr>
          <a:xfrm>
            <a:off x="457200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0.8</a:t>
            </a:r>
            <a:endParaRPr lang="en-US" sz="1000" dirty="0"/>
          </a:p>
        </p:txBody>
      </p:sp>
      <p:sp>
        <p:nvSpPr>
          <p:cNvPr id="47" name="Shape 45"/>
          <p:cNvSpPr/>
          <p:nvPr/>
        </p:nvSpPr>
        <p:spPr>
          <a:xfrm>
            <a:off x="5715000" y="4800600"/>
            <a:ext cx="91" cy="54864"/>
          </a:xfrm>
          <a:prstGeom prst="line">
            <a:avLst/>
          </a:prstGeom>
          <a:noFill/>
          <a:ln w="12700">
            <a:solidFill>
              <a:srgbClr val="2A1F3D"/>
            </a:solidFill>
            <a:prstDash val="solid"/>
          </a:ln>
        </p:spPr>
      </p:sp>
      <p:sp>
        <p:nvSpPr>
          <p:cNvPr id="48" name="Text 46"/>
          <p:cNvSpPr/>
          <p:nvPr/>
        </p:nvSpPr>
        <p:spPr>
          <a:xfrm>
            <a:off x="5440680" y="4855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49" name="Shape 47"/>
          <p:cNvSpPr/>
          <p:nvPr/>
        </p:nvSpPr>
        <p:spPr>
          <a:xfrm>
            <a:off x="1316736" y="4800600"/>
            <a:ext cx="54864" cy="91"/>
          </a:xfrm>
          <a:prstGeom prst="line">
            <a:avLst/>
          </a:prstGeom>
          <a:noFill/>
          <a:ln w="12700">
            <a:solidFill>
              <a:srgbClr val="2A1F3D"/>
            </a:solidFill>
            <a:prstDash val="solid"/>
          </a:ln>
        </p:spPr>
      </p:sp>
      <p:sp>
        <p:nvSpPr>
          <p:cNvPr id="50" name="Text 48"/>
          <p:cNvSpPr/>
          <p:nvPr/>
        </p:nvSpPr>
        <p:spPr>
          <a:xfrm>
            <a:off x="932688" y="4709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0.00</a:t>
            </a:r>
            <a:endParaRPr lang="en-US" sz="1000" dirty="0"/>
          </a:p>
        </p:txBody>
      </p:sp>
      <p:sp>
        <p:nvSpPr>
          <p:cNvPr id="51" name="Shape 49"/>
          <p:cNvSpPr/>
          <p:nvPr/>
        </p:nvSpPr>
        <p:spPr>
          <a:xfrm>
            <a:off x="1316736" y="4123944"/>
            <a:ext cx="54864" cy="91"/>
          </a:xfrm>
          <a:prstGeom prst="line">
            <a:avLst/>
          </a:prstGeom>
          <a:noFill/>
          <a:ln w="12700">
            <a:solidFill>
              <a:srgbClr val="2A1F3D"/>
            </a:solidFill>
            <a:prstDash val="solid"/>
          </a:ln>
        </p:spPr>
      </p:sp>
      <p:sp>
        <p:nvSpPr>
          <p:cNvPr id="52" name="Text 50"/>
          <p:cNvSpPr/>
          <p:nvPr/>
        </p:nvSpPr>
        <p:spPr>
          <a:xfrm>
            <a:off x="932688" y="403250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0.05</a:t>
            </a:r>
            <a:endParaRPr lang="en-US" sz="1000" dirty="0"/>
          </a:p>
        </p:txBody>
      </p:sp>
      <p:sp>
        <p:nvSpPr>
          <p:cNvPr id="53" name="Shape 51"/>
          <p:cNvSpPr/>
          <p:nvPr/>
        </p:nvSpPr>
        <p:spPr>
          <a:xfrm>
            <a:off x="1316736" y="3447288"/>
            <a:ext cx="54864" cy="91"/>
          </a:xfrm>
          <a:prstGeom prst="line">
            <a:avLst/>
          </a:prstGeom>
          <a:noFill/>
          <a:ln w="12700">
            <a:solidFill>
              <a:srgbClr val="2A1F3D"/>
            </a:solidFill>
            <a:prstDash val="solid"/>
          </a:ln>
        </p:spPr>
      </p:sp>
      <p:sp>
        <p:nvSpPr>
          <p:cNvPr id="54" name="Text 52"/>
          <p:cNvSpPr/>
          <p:nvPr/>
        </p:nvSpPr>
        <p:spPr>
          <a:xfrm>
            <a:off x="932688" y="335584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0.10</a:t>
            </a:r>
            <a:endParaRPr lang="en-US" sz="1000" dirty="0"/>
          </a:p>
        </p:txBody>
      </p:sp>
      <p:sp>
        <p:nvSpPr>
          <p:cNvPr id="55" name="Shape 53"/>
          <p:cNvSpPr/>
          <p:nvPr/>
        </p:nvSpPr>
        <p:spPr>
          <a:xfrm>
            <a:off x="1316736" y="2770632"/>
            <a:ext cx="54864" cy="91"/>
          </a:xfrm>
          <a:prstGeom prst="line">
            <a:avLst/>
          </a:prstGeom>
          <a:noFill/>
          <a:ln w="12700">
            <a:solidFill>
              <a:srgbClr val="2A1F3D"/>
            </a:solidFill>
            <a:prstDash val="solid"/>
          </a:ln>
        </p:spPr>
      </p:sp>
      <p:sp>
        <p:nvSpPr>
          <p:cNvPr id="56" name="Text 54"/>
          <p:cNvSpPr/>
          <p:nvPr/>
        </p:nvSpPr>
        <p:spPr>
          <a:xfrm>
            <a:off x="932688" y="267919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0.15</a:t>
            </a:r>
            <a:endParaRPr lang="en-US" sz="1000" dirty="0"/>
          </a:p>
        </p:txBody>
      </p:sp>
      <p:sp>
        <p:nvSpPr>
          <p:cNvPr id="57" name="Shape 55"/>
          <p:cNvSpPr/>
          <p:nvPr/>
        </p:nvSpPr>
        <p:spPr>
          <a:xfrm>
            <a:off x="1316736" y="2093976"/>
            <a:ext cx="54864" cy="91"/>
          </a:xfrm>
          <a:prstGeom prst="line">
            <a:avLst/>
          </a:prstGeom>
          <a:noFill/>
          <a:ln w="12700">
            <a:solidFill>
              <a:srgbClr val="2A1F3D"/>
            </a:solidFill>
            <a:prstDash val="solid"/>
          </a:ln>
        </p:spPr>
      </p:sp>
      <p:sp>
        <p:nvSpPr>
          <p:cNvPr id="58" name="Text 56"/>
          <p:cNvSpPr/>
          <p:nvPr/>
        </p:nvSpPr>
        <p:spPr>
          <a:xfrm>
            <a:off x="932688" y="200253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0.20</a:t>
            </a:r>
            <a:endParaRPr lang="en-US" sz="1000" dirty="0"/>
          </a:p>
        </p:txBody>
      </p:sp>
      <p:sp>
        <p:nvSpPr>
          <p:cNvPr id="59" name="Shape 57"/>
          <p:cNvSpPr/>
          <p:nvPr/>
        </p:nvSpPr>
        <p:spPr>
          <a:xfrm>
            <a:off x="1316736" y="1417320"/>
            <a:ext cx="54864" cy="91"/>
          </a:xfrm>
          <a:prstGeom prst="line">
            <a:avLst/>
          </a:prstGeom>
          <a:noFill/>
          <a:ln w="12700">
            <a:solidFill>
              <a:srgbClr val="2A1F3D"/>
            </a:solidFill>
            <a:prstDash val="solid"/>
          </a:ln>
        </p:spPr>
      </p:sp>
      <p:sp>
        <p:nvSpPr>
          <p:cNvPr id="60" name="Text 58"/>
          <p:cNvSpPr/>
          <p:nvPr/>
        </p:nvSpPr>
        <p:spPr>
          <a:xfrm>
            <a:off x="93268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0.25</a:t>
            </a:r>
            <a:endParaRPr lang="en-US" sz="1000" dirty="0"/>
          </a:p>
        </p:txBody>
      </p:sp>
      <p:sp>
        <p:nvSpPr>
          <p:cNvPr id="61" name="Text 59"/>
          <p:cNvSpPr/>
          <p:nvPr/>
        </p:nvSpPr>
        <p:spPr>
          <a:xfrm>
            <a:off x="1371600" y="5047488"/>
            <a:ext cx="43434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current / A</a:t>
            </a:r>
            <a:endParaRPr lang="en-US" sz="1050" dirty="0"/>
          </a:p>
        </p:txBody>
      </p:sp>
      <p:sp>
        <p:nvSpPr>
          <p:cNvPr id="62" name="Text 60"/>
          <p:cNvSpPr/>
          <p:nvPr/>
        </p:nvSpPr>
        <p:spPr>
          <a:xfrm rot="16200000">
            <a:off x="-886968" y="2980944"/>
            <a:ext cx="33832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change in mass / g</a:t>
            </a:r>
            <a:endParaRPr lang="en-US" sz="1050" dirty="0"/>
          </a:p>
        </p:txBody>
      </p:sp>
      <p:sp>
        <p:nvSpPr>
          <p:cNvPr id="63" name="Shape 61"/>
          <p:cNvSpPr/>
          <p:nvPr/>
        </p:nvSpPr>
        <p:spPr>
          <a:xfrm flipV="1">
            <a:off x="1371600" y="2129036"/>
            <a:ext cx="4343400" cy="2671564"/>
          </a:xfrm>
          <a:prstGeom prst="line">
            <a:avLst/>
          </a:prstGeom>
          <a:noFill/>
          <a:ln w="25400">
            <a:solidFill>
              <a:srgbClr val="8A4A1A"/>
            </a:solidFill>
            <a:prstDash val="solid"/>
          </a:ln>
        </p:spPr>
      </p:sp>
      <p:sp>
        <p:nvSpPr>
          <p:cNvPr id="64" name="Shape 62"/>
          <p:cNvSpPr/>
          <p:nvPr/>
        </p:nvSpPr>
        <p:spPr>
          <a:xfrm flipV="1">
            <a:off x="1371600" y="1958645"/>
            <a:ext cx="4343400" cy="2841955"/>
          </a:xfrm>
          <a:prstGeom prst="line">
            <a:avLst/>
          </a:prstGeom>
          <a:noFill/>
          <a:ln w="19050">
            <a:solidFill>
              <a:srgbClr val="6A3FA0"/>
            </a:solidFill>
            <a:prstDash val="dash"/>
          </a:ln>
        </p:spPr>
      </p:sp>
      <p:sp>
        <p:nvSpPr>
          <p:cNvPr id="65" name="Shape 63"/>
          <p:cNvSpPr/>
          <p:nvPr/>
        </p:nvSpPr>
        <p:spPr>
          <a:xfrm>
            <a:off x="2194560" y="4213555"/>
            <a:ext cx="91440" cy="91440"/>
          </a:xfrm>
          <a:prstGeom prst="line">
            <a:avLst/>
          </a:prstGeom>
          <a:noFill/>
          <a:ln w="15875">
            <a:solidFill>
              <a:srgbClr val="8A4A1A"/>
            </a:solidFill>
            <a:prstDash val="solid"/>
          </a:ln>
        </p:spPr>
      </p:sp>
      <p:sp>
        <p:nvSpPr>
          <p:cNvPr id="66" name="Shape 64"/>
          <p:cNvSpPr/>
          <p:nvPr/>
        </p:nvSpPr>
        <p:spPr>
          <a:xfrm flipV="1">
            <a:off x="2194560" y="4213555"/>
            <a:ext cx="91440" cy="91440"/>
          </a:xfrm>
          <a:prstGeom prst="line">
            <a:avLst/>
          </a:prstGeom>
          <a:noFill/>
          <a:ln w="15875">
            <a:solidFill>
              <a:srgbClr val="8A4A1A"/>
            </a:solidFill>
            <a:prstDash val="solid"/>
          </a:ln>
        </p:spPr>
      </p:sp>
      <p:sp>
        <p:nvSpPr>
          <p:cNvPr id="67" name="Shape 65"/>
          <p:cNvSpPr/>
          <p:nvPr/>
        </p:nvSpPr>
        <p:spPr>
          <a:xfrm>
            <a:off x="3063240" y="3672230"/>
            <a:ext cx="91440" cy="91440"/>
          </a:xfrm>
          <a:prstGeom prst="line">
            <a:avLst/>
          </a:prstGeom>
          <a:noFill/>
          <a:ln w="15875">
            <a:solidFill>
              <a:srgbClr val="8A4A1A"/>
            </a:solidFill>
            <a:prstDash val="solid"/>
          </a:ln>
        </p:spPr>
      </p:sp>
      <p:sp>
        <p:nvSpPr>
          <p:cNvPr id="68" name="Shape 66"/>
          <p:cNvSpPr/>
          <p:nvPr/>
        </p:nvSpPr>
        <p:spPr>
          <a:xfrm flipV="1">
            <a:off x="3063240" y="3672230"/>
            <a:ext cx="91440" cy="91440"/>
          </a:xfrm>
          <a:prstGeom prst="line">
            <a:avLst/>
          </a:prstGeom>
          <a:noFill/>
          <a:ln w="15875">
            <a:solidFill>
              <a:srgbClr val="8A4A1A"/>
            </a:solidFill>
            <a:prstDash val="solid"/>
          </a:ln>
        </p:spPr>
      </p:sp>
      <p:sp>
        <p:nvSpPr>
          <p:cNvPr id="69" name="Shape 67"/>
          <p:cNvSpPr/>
          <p:nvPr/>
        </p:nvSpPr>
        <p:spPr>
          <a:xfrm>
            <a:off x="3931920" y="3130906"/>
            <a:ext cx="91440" cy="91440"/>
          </a:xfrm>
          <a:prstGeom prst="line">
            <a:avLst/>
          </a:prstGeom>
          <a:noFill/>
          <a:ln w="15875">
            <a:solidFill>
              <a:srgbClr val="8A4A1A"/>
            </a:solidFill>
            <a:prstDash val="solid"/>
          </a:ln>
        </p:spPr>
      </p:sp>
      <p:sp>
        <p:nvSpPr>
          <p:cNvPr id="70" name="Shape 68"/>
          <p:cNvSpPr/>
          <p:nvPr/>
        </p:nvSpPr>
        <p:spPr>
          <a:xfrm flipV="1">
            <a:off x="3931920" y="3130906"/>
            <a:ext cx="91440" cy="91440"/>
          </a:xfrm>
          <a:prstGeom prst="line">
            <a:avLst/>
          </a:prstGeom>
          <a:noFill/>
          <a:ln w="15875">
            <a:solidFill>
              <a:srgbClr val="8A4A1A"/>
            </a:solidFill>
            <a:prstDash val="solid"/>
          </a:ln>
        </p:spPr>
      </p:sp>
      <p:sp>
        <p:nvSpPr>
          <p:cNvPr id="71" name="Shape 69"/>
          <p:cNvSpPr/>
          <p:nvPr/>
        </p:nvSpPr>
        <p:spPr>
          <a:xfrm>
            <a:off x="4800600" y="2589581"/>
            <a:ext cx="91440" cy="91440"/>
          </a:xfrm>
          <a:prstGeom prst="line">
            <a:avLst/>
          </a:prstGeom>
          <a:noFill/>
          <a:ln w="15875">
            <a:solidFill>
              <a:srgbClr val="8A4A1A"/>
            </a:solidFill>
            <a:prstDash val="solid"/>
          </a:ln>
        </p:spPr>
      </p:sp>
      <p:sp>
        <p:nvSpPr>
          <p:cNvPr id="72" name="Shape 70"/>
          <p:cNvSpPr/>
          <p:nvPr/>
        </p:nvSpPr>
        <p:spPr>
          <a:xfrm flipV="1">
            <a:off x="4800600" y="2589581"/>
            <a:ext cx="91440" cy="91440"/>
          </a:xfrm>
          <a:prstGeom prst="line">
            <a:avLst/>
          </a:prstGeom>
          <a:noFill/>
          <a:ln w="15875">
            <a:solidFill>
              <a:srgbClr val="8A4A1A"/>
            </a:solidFill>
            <a:prstDash val="solid"/>
          </a:ln>
        </p:spPr>
      </p:sp>
      <p:sp>
        <p:nvSpPr>
          <p:cNvPr id="73" name="Shape 71"/>
          <p:cNvSpPr/>
          <p:nvPr/>
        </p:nvSpPr>
        <p:spPr>
          <a:xfrm>
            <a:off x="5669280" y="2048256"/>
            <a:ext cx="91440" cy="91440"/>
          </a:xfrm>
          <a:prstGeom prst="line">
            <a:avLst/>
          </a:prstGeom>
          <a:noFill/>
          <a:ln w="15875">
            <a:solidFill>
              <a:srgbClr val="8A4A1A"/>
            </a:solidFill>
            <a:prstDash val="solid"/>
          </a:ln>
        </p:spPr>
      </p:sp>
      <p:sp>
        <p:nvSpPr>
          <p:cNvPr id="74" name="Shape 72"/>
          <p:cNvSpPr/>
          <p:nvPr/>
        </p:nvSpPr>
        <p:spPr>
          <a:xfrm flipV="1">
            <a:off x="5669280" y="2048256"/>
            <a:ext cx="91440" cy="91440"/>
          </a:xfrm>
          <a:prstGeom prst="line">
            <a:avLst/>
          </a:prstGeom>
          <a:noFill/>
          <a:ln w="15875">
            <a:solidFill>
              <a:srgbClr val="8A4A1A"/>
            </a:solidFill>
            <a:prstDash val="solid"/>
          </a:ln>
        </p:spPr>
      </p:sp>
      <p:sp>
        <p:nvSpPr>
          <p:cNvPr id="75" name="Shape 73"/>
          <p:cNvSpPr/>
          <p:nvPr/>
        </p:nvSpPr>
        <p:spPr>
          <a:xfrm>
            <a:off x="2194560" y="4213555"/>
            <a:ext cx="91440" cy="91440"/>
          </a:xfrm>
          <a:prstGeom prst="line">
            <a:avLst/>
          </a:prstGeom>
          <a:noFill/>
          <a:ln w="15875">
            <a:solidFill>
              <a:srgbClr val="6A3FA0"/>
            </a:solidFill>
            <a:prstDash val="solid"/>
          </a:ln>
        </p:spPr>
      </p:sp>
      <p:sp>
        <p:nvSpPr>
          <p:cNvPr id="76" name="Shape 74"/>
          <p:cNvSpPr/>
          <p:nvPr/>
        </p:nvSpPr>
        <p:spPr>
          <a:xfrm flipV="1">
            <a:off x="2194560" y="4213555"/>
            <a:ext cx="91440" cy="91440"/>
          </a:xfrm>
          <a:prstGeom prst="line">
            <a:avLst/>
          </a:prstGeom>
          <a:noFill/>
          <a:ln w="15875">
            <a:solidFill>
              <a:srgbClr val="6A3FA0"/>
            </a:solidFill>
            <a:prstDash val="solid"/>
          </a:ln>
        </p:spPr>
      </p:sp>
      <p:sp>
        <p:nvSpPr>
          <p:cNvPr id="77" name="Shape 75"/>
          <p:cNvSpPr/>
          <p:nvPr/>
        </p:nvSpPr>
        <p:spPr>
          <a:xfrm>
            <a:off x="3063240" y="3536899"/>
            <a:ext cx="91440" cy="91440"/>
          </a:xfrm>
          <a:prstGeom prst="line">
            <a:avLst/>
          </a:prstGeom>
          <a:noFill/>
          <a:ln w="15875">
            <a:solidFill>
              <a:srgbClr val="6A3FA0"/>
            </a:solidFill>
            <a:prstDash val="solid"/>
          </a:ln>
        </p:spPr>
      </p:sp>
      <p:sp>
        <p:nvSpPr>
          <p:cNvPr id="78" name="Shape 76"/>
          <p:cNvSpPr/>
          <p:nvPr/>
        </p:nvSpPr>
        <p:spPr>
          <a:xfrm flipV="1">
            <a:off x="3063240" y="3536899"/>
            <a:ext cx="91440" cy="91440"/>
          </a:xfrm>
          <a:prstGeom prst="line">
            <a:avLst/>
          </a:prstGeom>
          <a:noFill/>
          <a:ln w="15875">
            <a:solidFill>
              <a:srgbClr val="6A3FA0"/>
            </a:solidFill>
            <a:prstDash val="solid"/>
          </a:ln>
        </p:spPr>
      </p:sp>
      <p:sp>
        <p:nvSpPr>
          <p:cNvPr id="79" name="Shape 77"/>
          <p:cNvSpPr/>
          <p:nvPr/>
        </p:nvSpPr>
        <p:spPr>
          <a:xfrm>
            <a:off x="3931920" y="2995574"/>
            <a:ext cx="91440" cy="91440"/>
          </a:xfrm>
          <a:prstGeom prst="line">
            <a:avLst/>
          </a:prstGeom>
          <a:noFill/>
          <a:ln w="15875">
            <a:solidFill>
              <a:srgbClr val="6A3FA0"/>
            </a:solidFill>
            <a:prstDash val="solid"/>
          </a:ln>
        </p:spPr>
      </p:sp>
      <p:sp>
        <p:nvSpPr>
          <p:cNvPr id="80" name="Shape 78"/>
          <p:cNvSpPr/>
          <p:nvPr/>
        </p:nvSpPr>
        <p:spPr>
          <a:xfrm flipV="1">
            <a:off x="3931920" y="2995574"/>
            <a:ext cx="91440" cy="91440"/>
          </a:xfrm>
          <a:prstGeom prst="line">
            <a:avLst/>
          </a:prstGeom>
          <a:noFill/>
          <a:ln w="15875">
            <a:solidFill>
              <a:srgbClr val="6A3FA0"/>
            </a:solidFill>
            <a:prstDash val="solid"/>
          </a:ln>
        </p:spPr>
      </p:sp>
      <p:sp>
        <p:nvSpPr>
          <p:cNvPr id="81" name="Shape 79"/>
          <p:cNvSpPr/>
          <p:nvPr/>
        </p:nvSpPr>
        <p:spPr>
          <a:xfrm>
            <a:off x="4800600" y="2454250"/>
            <a:ext cx="91440" cy="91440"/>
          </a:xfrm>
          <a:prstGeom prst="line">
            <a:avLst/>
          </a:prstGeom>
          <a:noFill/>
          <a:ln w="15875">
            <a:solidFill>
              <a:srgbClr val="6A3FA0"/>
            </a:solidFill>
            <a:prstDash val="solid"/>
          </a:ln>
        </p:spPr>
      </p:sp>
      <p:sp>
        <p:nvSpPr>
          <p:cNvPr id="82" name="Shape 80"/>
          <p:cNvSpPr/>
          <p:nvPr/>
        </p:nvSpPr>
        <p:spPr>
          <a:xfrm flipV="1">
            <a:off x="4800600" y="2454250"/>
            <a:ext cx="91440" cy="91440"/>
          </a:xfrm>
          <a:prstGeom prst="line">
            <a:avLst/>
          </a:prstGeom>
          <a:noFill/>
          <a:ln w="15875">
            <a:solidFill>
              <a:srgbClr val="6A3FA0"/>
            </a:solidFill>
            <a:prstDash val="solid"/>
          </a:ln>
        </p:spPr>
      </p:sp>
      <p:sp>
        <p:nvSpPr>
          <p:cNvPr id="83" name="Shape 81"/>
          <p:cNvSpPr/>
          <p:nvPr/>
        </p:nvSpPr>
        <p:spPr>
          <a:xfrm>
            <a:off x="5669280" y="1912925"/>
            <a:ext cx="91440" cy="91440"/>
          </a:xfrm>
          <a:prstGeom prst="line">
            <a:avLst/>
          </a:prstGeom>
          <a:noFill/>
          <a:ln w="15875">
            <a:solidFill>
              <a:srgbClr val="6A3FA0"/>
            </a:solidFill>
            <a:prstDash val="solid"/>
          </a:ln>
        </p:spPr>
      </p:sp>
      <p:sp>
        <p:nvSpPr>
          <p:cNvPr id="84" name="Shape 82"/>
          <p:cNvSpPr/>
          <p:nvPr/>
        </p:nvSpPr>
        <p:spPr>
          <a:xfrm flipV="1">
            <a:off x="5669280" y="1912925"/>
            <a:ext cx="91440" cy="91440"/>
          </a:xfrm>
          <a:prstGeom prst="line">
            <a:avLst/>
          </a:prstGeom>
          <a:noFill/>
          <a:ln w="15875">
            <a:solidFill>
              <a:srgbClr val="6A3FA0"/>
            </a:solidFill>
            <a:prstDash val="solid"/>
          </a:ln>
        </p:spPr>
      </p:sp>
      <p:sp>
        <p:nvSpPr>
          <p:cNvPr id="85" name="Text 83"/>
          <p:cNvSpPr/>
          <p:nvPr/>
        </p:nvSpPr>
        <p:spPr>
          <a:xfrm>
            <a:off x="3326130" y="3853282"/>
            <a:ext cx="1645920" cy="256032"/>
          </a:xfrm>
          <a:prstGeom prst="rect">
            <a:avLst/>
          </a:prstGeom>
          <a:noFill/>
          <a:ln/>
        </p:spPr>
        <p:txBody>
          <a:bodyPr wrap="square" lIns="0" tIns="0" rIns="0" bIns="0" rtlCol="0" anchor="ctr"/>
          <a:lstStyle/>
          <a:p>
            <a:pPr algn="l" indent="0" marL="0">
              <a:buNone/>
            </a:pPr>
            <a:r>
              <a:rPr lang="en-US" sz="1050" b="1" dirty="0">
                <a:solidFill>
                  <a:srgbClr val="8A4A1A"/>
                </a:solidFill>
                <a:latin typeface="Calibri" pitchFamily="34" charset="0"/>
                <a:ea typeface="Calibri" pitchFamily="34" charset="-122"/>
                <a:cs typeface="Calibri" pitchFamily="34" charset="-120"/>
              </a:rPr>
              <a:t>cathode: mass gained</a:t>
            </a:r>
            <a:endParaRPr lang="en-US" sz="1050" dirty="0"/>
          </a:p>
        </p:txBody>
      </p:sp>
      <p:sp>
        <p:nvSpPr>
          <p:cNvPr id="86" name="Text 84"/>
          <p:cNvSpPr/>
          <p:nvPr/>
        </p:nvSpPr>
        <p:spPr>
          <a:xfrm>
            <a:off x="1805940" y="3041294"/>
            <a:ext cx="1463040" cy="256032"/>
          </a:xfrm>
          <a:prstGeom prst="rect">
            <a:avLst/>
          </a:prstGeom>
          <a:noFill/>
          <a:ln/>
        </p:spPr>
        <p:txBody>
          <a:bodyPr wrap="square" lIns="0" tIns="0" rIns="0" bIns="0" rtlCol="0" anchor="ctr"/>
          <a:lstStyle/>
          <a:p>
            <a:pPr algn="l" indent="0" marL="0">
              <a:buNone/>
            </a:pPr>
            <a:r>
              <a:rPr lang="en-US" sz="1050" b="1" dirty="0">
                <a:solidFill>
                  <a:srgbClr val="6A3FA0"/>
                </a:solidFill>
                <a:latin typeface="Calibri" pitchFamily="34" charset="0"/>
                <a:ea typeface="Calibri" pitchFamily="34" charset="-122"/>
                <a:cs typeface="Calibri" pitchFamily="34" charset="-120"/>
              </a:rPr>
              <a:t>anode: mass lost</a:t>
            </a:r>
            <a:endParaRPr lang="en-US" sz="10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737360"/>
                <a:gridCol w="1911096"/>
                <a:gridCol w="1911096"/>
              </a:tblGrid>
              <a:tr h="265176">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current / A</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cathode gain / g</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anode loss / g</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r>
              <a:tr h="265176">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0.20</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0.04</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0.04</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265176">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0.40</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0.08</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0.09</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265176">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0.60</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0.12</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0.13</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265176">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0.80</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0.16</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0.17</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265176">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0.20</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0.21</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bl>
          </a:graphicData>
        </a:graphic>
      </p:graphicFrame>
      <p:sp>
        <p:nvSpPr>
          <p:cNvPr id="88" name="Shape 85"/>
          <p:cNvSpPr/>
          <p:nvPr/>
        </p:nvSpPr>
        <p:spPr>
          <a:xfrm>
            <a:off x="6217920" y="2926080"/>
            <a:ext cx="5559552" cy="1325880"/>
          </a:xfrm>
          <a:prstGeom prst="roundRect">
            <a:avLst>
              <a:gd name="adj" fmla="val 4138"/>
            </a:avLst>
          </a:prstGeom>
          <a:solidFill>
            <a:srgbClr val="F8F5FC"/>
          </a:solidFill>
          <a:ln w="9525">
            <a:solidFill>
              <a:srgbClr val="DDD3EC"/>
            </a:solidFill>
            <a:prstDash val="solid"/>
          </a:ln>
        </p:spPr>
      </p:sp>
      <p:sp>
        <p:nvSpPr>
          <p:cNvPr id="89" name="Text 86"/>
          <p:cNvSpPr/>
          <p:nvPr/>
        </p:nvSpPr>
        <p:spPr>
          <a:xfrm>
            <a:off x="6382512" y="301752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Part 1: graphite electrodes</a:t>
            </a:r>
            <a:endParaRPr lang="en-US" sz="1300" dirty="0"/>
          </a:p>
        </p:txBody>
      </p:sp>
      <p:sp>
        <p:nvSpPr>
          <p:cNvPr id="90" name="Text 87"/>
          <p:cNvSpPr/>
          <p:nvPr/>
        </p:nvSpPr>
        <p:spPr>
          <a:xfrm>
            <a:off x="6382512" y="3346704"/>
            <a:ext cx="5230368" cy="83210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Cathode</a:t>
            </a:r>
            <a:r>
              <a:rPr lang="en-US" sz="1050" dirty="0">
                <a:solidFill>
                  <a:srgbClr val="262B3A"/>
                </a:solidFill>
                <a:latin typeface="Calibri" pitchFamily="34" charset="0"/>
                <a:ea typeface="Calibri" pitchFamily="34" charset="-122"/>
                <a:cs typeface="Calibri" pitchFamily="34" charset="-120"/>
              </a:rPr>
              <a:t>: pink-brown copper coating. </a:t>
            </a:r>
            <a:r>
              <a:rPr lang="en-US" sz="1050" b="1" dirty="0">
                <a:solidFill>
                  <a:srgbClr val="262B3A"/>
                </a:solidFill>
                <a:latin typeface="Calibri" pitchFamily="34" charset="0"/>
                <a:ea typeface="Calibri" pitchFamily="34" charset="-122"/>
                <a:cs typeface="Calibri" pitchFamily="34" charset="-120"/>
              </a:rPr>
              <a:t>Anode</a:t>
            </a:r>
            <a:r>
              <a:rPr lang="en-US" sz="1050" dirty="0">
                <a:solidFill>
                  <a:srgbClr val="262B3A"/>
                </a:solidFill>
                <a:latin typeface="Calibri" pitchFamily="34" charset="0"/>
                <a:ea typeface="Calibri" pitchFamily="34" charset="-122"/>
                <a:cs typeface="Calibri" pitchFamily="34" charset="-120"/>
              </a:rPr>
              <a:t>: bubbles of </a:t>
            </a:r>
            <a:r>
              <a:rPr lang="en-US" sz="1050" b="1" dirty="0">
                <a:solidFill>
                  <a:srgbClr val="262B3A"/>
                </a:solidFill>
                <a:latin typeface="Calibri" pitchFamily="34" charset="0"/>
                <a:ea typeface="Calibri" pitchFamily="34" charset="-122"/>
                <a:cs typeface="Calibri" pitchFamily="34" charset="-120"/>
              </a:rPr>
              <a:t>oxygen</a:t>
            </a:r>
            <a:r>
              <a:rPr lang="en-US" sz="1050" dirty="0">
                <a:solidFill>
                  <a:srgbClr val="262B3A"/>
                </a:solidFill>
                <a:latin typeface="Calibri" pitchFamily="34" charset="0"/>
                <a:ea typeface="Calibri" pitchFamily="34" charset="-122"/>
                <a:cs typeface="Calibri" pitchFamily="34" charset="-120"/>
              </a:rPr>
              <a:t> (relights a glowing splint).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Blue colour </a:t>
            </a:r>
            <a:r>
              <a:rPr lang="en-US" sz="1050" b="1" dirty="0">
                <a:solidFill>
                  <a:srgbClr val="262B3A"/>
                </a:solidFill>
                <a:latin typeface="Calibri" pitchFamily="34" charset="0"/>
                <a:ea typeface="Calibri" pitchFamily="34" charset="-122"/>
                <a:cs typeface="Calibri" pitchFamily="34" charset="-120"/>
              </a:rPr>
              <a:t>fades</a:t>
            </a:r>
            <a:r>
              <a:rPr lang="en-US" sz="1050" dirty="0">
                <a:solidFill>
                  <a:srgbClr val="262B3A"/>
                </a:solidFill>
                <a:latin typeface="Calibri" pitchFamily="34" charset="0"/>
                <a:ea typeface="Calibri" pitchFamily="34" charset="-122"/>
                <a:cs typeface="Calibri" pitchFamily="34" charset="-120"/>
              </a:rPr>
              <a:t>; H⁺ and SO₄²⁻ are left, so the solution becomes </a:t>
            </a:r>
            <a:r>
              <a:rPr lang="en-US" sz="1050" b="1" dirty="0">
                <a:solidFill>
                  <a:srgbClr val="262B3A"/>
                </a:solidFill>
                <a:latin typeface="Calibri" pitchFamily="34" charset="0"/>
                <a:ea typeface="Calibri" pitchFamily="34" charset="-122"/>
                <a:cs typeface="Calibri" pitchFamily="34" charset="-120"/>
              </a:rPr>
              <a:t>acidic</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91" name="Shape 88"/>
          <p:cNvSpPr/>
          <p:nvPr/>
        </p:nvSpPr>
        <p:spPr>
          <a:xfrm>
            <a:off x="6217920" y="4343400"/>
            <a:ext cx="5559552" cy="1371600"/>
          </a:xfrm>
          <a:prstGeom prst="roundRect">
            <a:avLst>
              <a:gd name="adj" fmla="val 4000"/>
            </a:avLst>
          </a:prstGeom>
          <a:solidFill>
            <a:srgbClr val="F8F5FC"/>
          </a:solidFill>
          <a:ln w="9525">
            <a:solidFill>
              <a:srgbClr val="DDD3EC"/>
            </a:solidFill>
            <a:prstDash val="solid"/>
          </a:ln>
        </p:spPr>
      </p:sp>
      <p:sp>
        <p:nvSpPr>
          <p:cNvPr id="92" name="Text 89"/>
          <p:cNvSpPr/>
          <p:nvPr/>
        </p:nvSpPr>
        <p:spPr>
          <a:xfrm>
            <a:off x="6382512" y="443484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Analysis and errors</a:t>
            </a:r>
            <a:endParaRPr lang="en-US" sz="1300" dirty="0"/>
          </a:p>
        </p:txBody>
      </p:sp>
      <p:sp>
        <p:nvSpPr>
          <p:cNvPr id="93" name="Text 90"/>
          <p:cNvSpPr/>
          <p:nvPr/>
        </p:nvSpPr>
        <p:spPr>
          <a:xfrm>
            <a:off x="6382512" y="4764024"/>
            <a:ext cx="5230368" cy="87782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Mass change is </a:t>
            </a:r>
            <a:r>
              <a:rPr lang="en-US" sz="1050" b="1" dirty="0">
                <a:solidFill>
                  <a:srgbClr val="262B3A"/>
                </a:solidFill>
                <a:latin typeface="Calibri" pitchFamily="34" charset="0"/>
                <a:ea typeface="Calibri" pitchFamily="34" charset="-122"/>
                <a:cs typeface="Calibri" pitchFamily="34" charset="-120"/>
              </a:rPr>
              <a:t>directly proportional</a:t>
            </a:r>
            <a:r>
              <a:rPr lang="en-US" sz="1050" dirty="0">
                <a:solidFill>
                  <a:srgbClr val="262B3A"/>
                </a:solidFill>
                <a:latin typeface="Calibri" pitchFamily="34" charset="0"/>
                <a:ea typeface="Calibri" pitchFamily="34" charset="-122"/>
                <a:cs typeface="Calibri" pitchFamily="34" charset="-120"/>
              </a:rPr>
              <a:t> to current: straight line through the origin.</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Anode loses slightly </a:t>
            </a:r>
            <a:r>
              <a:rPr lang="en-US" sz="1050" b="1" dirty="0">
                <a:solidFill>
                  <a:srgbClr val="262B3A"/>
                </a:solidFill>
                <a:latin typeface="Calibri" pitchFamily="34" charset="0"/>
                <a:ea typeface="Calibri" pitchFamily="34" charset="-122"/>
                <a:cs typeface="Calibri" pitchFamily="34" charset="-120"/>
              </a:rPr>
              <a:t>more</a:t>
            </a:r>
            <a:r>
              <a:rPr lang="en-US" sz="1050" dirty="0">
                <a:solidFill>
                  <a:srgbClr val="262B3A"/>
                </a:solidFill>
                <a:latin typeface="Calibri" pitchFamily="34" charset="0"/>
                <a:ea typeface="Calibri" pitchFamily="34" charset="-122"/>
                <a:cs typeface="Calibri" pitchFamily="34" charset="-120"/>
              </a:rPr>
              <a:t>: some copper flakes off; impurities. Electrodes not fully dry → mass too high.</a:t>
            </a:r>
            <a:endParaRPr lang="en-US" sz="1050" dirty="0"/>
          </a:p>
        </p:txBody>
      </p:sp>
      <p:sp>
        <p:nvSpPr>
          <p:cNvPr id="94" name="Shape 91"/>
          <p:cNvSpPr/>
          <p:nvPr/>
        </p:nvSpPr>
        <p:spPr>
          <a:xfrm>
            <a:off x="411480" y="5833872"/>
            <a:ext cx="11368735" cy="530352"/>
          </a:xfrm>
          <a:prstGeom prst="rect">
            <a:avLst/>
          </a:prstGeom>
          <a:solidFill>
            <a:srgbClr val="FFF4E0"/>
          </a:solidFill>
          <a:ln w="6350">
            <a:solidFill>
              <a:srgbClr val="F1D9A8"/>
            </a:solidFill>
            <a:prstDash val="solid"/>
          </a:ln>
        </p:spPr>
      </p:sp>
      <p:sp>
        <p:nvSpPr>
          <p:cNvPr id="95" name="Shape 92"/>
          <p:cNvSpPr/>
          <p:nvPr/>
        </p:nvSpPr>
        <p:spPr>
          <a:xfrm>
            <a:off x="411480" y="5833872"/>
            <a:ext cx="82296" cy="530352"/>
          </a:xfrm>
          <a:prstGeom prst="rect">
            <a:avLst/>
          </a:prstGeom>
          <a:solidFill>
            <a:srgbClr val="E39A2F"/>
          </a:solidFill>
          <a:ln w="12700">
            <a:solidFill>
              <a:srgbClr val="E39A2F"/>
            </a:solidFill>
            <a:prstDash val="solid"/>
          </a:ln>
        </p:spPr>
      </p:sp>
      <p:sp>
        <p:nvSpPr>
          <p:cNvPr id="96" name="Text 9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graph to find the mass of copper deposited at </a:t>
            </a:r>
            <a:r>
              <a:rPr lang="en-US" sz="1150" b="1" dirty="0">
                <a:solidFill>
                  <a:srgbClr val="262B3A"/>
                </a:solidFill>
                <a:latin typeface="Calibri" pitchFamily="34" charset="0"/>
                <a:ea typeface="Calibri" pitchFamily="34" charset="-122"/>
                <a:cs typeface="Calibri" pitchFamily="34" charset="-120"/>
              </a:rPr>
              <a:t>0.50 A</a:t>
            </a:r>
            <a:r>
              <a:rPr lang="en-US" sz="1150" dirty="0">
                <a:solidFill>
                  <a:srgbClr val="262B3A"/>
                </a:solidFill>
                <a:latin typeface="Calibri" pitchFamily="34" charset="0"/>
                <a:ea typeface="Calibri" pitchFamily="34" charset="-122"/>
                <a:cs typeface="Calibri" pitchFamily="34" charset="-120"/>
              </a:rPr>
              <a:t>. Why should the electrodes be handled only by their edges?</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7</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3.30–3.31 • copper electrodes and the Core Practical</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7  |  38</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mass of the copper </a:t>
            </a:r>
            <a:r>
              <a:rPr lang="en-US" sz="1250" b="1" dirty="0">
                <a:solidFill>
                  <a:srgbClr val="262B3A"/>
                </a:solidFill>
                <a:latin typeface="Calibri" pitchFamily="34" charset="0"/>
                <a:ea typeface="Calibri" pitchFamily="34" charset="-122"/>
                <a:cs typeface="Calibri" pitchFamily="34" charset="-120"/>
              </a:rPr>
              <a:t>cathode</a:t>
            </a:r>
            <a:r>
              <a:rPr lang="en-US" sz="1250" dirty="0">
                <a:solidFill>
                  <a:srgbClr val="262B3A"/>
                </a:solidFill>
                <a:latin typeface="Calibri" pitchFamily="34" charset="0"/>
                <a:ea typeface="Calibri" pitchFamily="34" charset="-122"/>
                <a:cs typeface="Calibri" pitchFamily="34" charset="-120"/>
              </a:rPr>
              <a:t> increases during electrolysis of copper sulfate solution.</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the purification of copper, state what happens to the </a:t>
            </a:r>
            <a:r>
              <a:rPr lang="en-US" sz="1250" b="1" dirty="0">
                <a:solidFill>
                  <a:srgbClr val="262B3A"/>
                </a:solidFill>
                <a:latin typeface="Calibri" pitchFamily="34" charset="0"/>
                <a:ea typeface="Calibri" pitchFamily="34" charset="-122"/>
                <a:cs typeface="Calibri" pitchFamily="34" charset="-120"/>
              </a:rPr>
              <a:t>impurities</a:t>
            </a:r>
            <a:r>
              <a:rPr lang="en-US" sz="1250" dirty="0">
                <a:solidFill>
                  <a:srgbClr val="262B3A"/>
                </a:solidFill>
                <a:latin typeface="Calibri" pitchFamily="34" charset="0"/>
                <a:ea typeface="Calibri" pitchFamily="34" charset="-122"/>
                <a:cs typeface="Calibri" pitchFamily="34" charset="-120"/>
              </a:rPr>
              <a:t> in the anode.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At </a:t>
            </a:r>
            <a:r>
              <a:rPr lang="en-US" sz="1250" b="1" dirty="0">
                <a:solidFill>
                  <a:srgbClr val="262B3A"/>
                </a:solidFill>
                <a:latin typeface="Calibri" pitchFamily="34" charset="0"/>
                <a:ea typeface="Calibri" pitchFamily="34" charset="-122"/>
                <a:cs typeface="Calibri" pitchFamily="34" charset="-120"/>
              </a:rPr>
              <a:t>0.40 A</a:t>
            </a:r>
            <a:r>
              <a:rPr lang="en-US" sz="1250" dirty="0">
                <a:solidFill>
                  <a:srgbClr val="262B3A"/>
                </a:solidFill>
                <a:latin typeface="Calibri" pitchFamily="34" charset="0"/>
                <a:ea typeface="Calibri" pitchFamily="34" charset="-122"/>
                <a:cs typeface="Calibri" pitchFamily="34" charset="-120"/>
              </a:rPr>
              <a:t> the cathode gained </a:t>
            </a:r>
            <a:r>
              <a:rPr lang="en-US" sz="1250" b="1" dirty="0">
                <a:solidFill>
                  <a:srgbClr val="262B3A"/>
                </a:solidFill>
                <a:latin typeface="Calibri" pitchFamily="34" charset="0"/>
                <a:ea typeface="Calibri" pitchFamily="34" charset="-122"/>
                <a:cs typeface="Calibri" pitchFamily="34" charset="-120"/>
              </a:rPr>
              <a:t>0.08 g</a:t>
            </a:r>
            <a:r>
              <a:rPr lang="en-US" sz="1250" dirty="0">
                <a:solidFill>
                  <a:srgbClr val="262B3A"/>
                </a:solidFill>
                <a:latin typeface="Calibri" pitchFamily="34" charset="0"/>
                <a:ea typeface="Calibri" pitchFamily="34" charset="-122"/>
                <a:cs typeface="Calibri" pitchFamily="34" charset="-120"/>
              </a:rPr>
              <a:t> in 10 minutes. Predict the mass gained at </a:t>
            </a:r>
            <a:r>
              <a:rPr lang="en-US" sz="1250" b="1" dirty="0">
                <a:solidFill>
                  <a:srgbClr val="262B3A"/>
                </a:solidFill>
                <a:latin typeface="Calibri" pitchFamily="34" charset="0"/>
                <a:ea typeface="Calibri" pitchFamily="34" charset="-122"/>
                <a:cs typeface="Calibri" pitchFamily="34" charset="-120"/>
              </a:rPr>
              <a:t>0.80 A</a:t>
            </a:r>
            <a:r>
              <a:rPr lang="en-US" sz="1250" dirty="0">
                <a:solidFill>
                  <a:srgbClr val="262B3A"/>
                </a:solidFill>
                <a:latin typeface="Calibri" pitchFamily="34" charset="0"/>
                <a:ea typeface="Calibri" pitchFamily="34" charset="-122"/>
                <a:cs typeface="Calibri" pitchFamily="34" charset="-120"/>
              </a:rPr>
              <a:t> in 10 minutes. Explain your prediction.</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Copper sulfate solution is electrolysed using </a:t>
            </a:r>
            <a:r>
              <a:rPr lang="en-US" sz="1250" b="1" dirty="0">
                <a:solidFill>
                  <a:srgbClr val="262B3A"/>
                </a:solidFill>
                <a:latin typeface="Calibri" pitchFamily="34" charset="0"/>
                <a:ea typeface="Calibri" pitchFamily="34" charset="-122"/>
                <a:cs typeface="Calibri" pitchFamily="34" charset="-120"/>
              </a:rPr>
              <a:t>graphite</a:t>
            </a:r>
            <a:r>
              <a:rPr lang="en-US" sz="1250" dirty="0">
                <a:solidFill>
                  <a:srgbClr val="262B3A"/>
                </a:solidFill>
                <a:latin typeface="Calibri" pitchFamily="34" charset="0"/>
                <a:ea typeface="Calibri" pitchFamily="34" charset="-122"/>
                <a:cs typeface="Calibri" pitchFamily="34" charset="-120"/>
              </a:rPr>
              <a:t> electrodes. Name the product at each electrode and explain why the solution becomes acidic.</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Summary: ionic and half equations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0.4, 3.14, 3.20, 3.27–3.30 • every equation checked for atoms and charges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Equation bank  |  39</a:t>
            </a:r>
            <a:endParaRPr lang="en-US" sz="1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5992" cy="914400"/>
        </p:xfrm>
        <a:graphic>
          <a:graphicData uri="http://schemas.openxmlformats.org/drawingml/2006/table">
            <a:tbl>
              <a:tblPr/>
              <a:tblGrid>
                <a:gridCol w="2560320"/>
                <a:gridCol w="5852160"/>
                <a:gridCol w="1463040"/>
                <a:gridCol w="1490472"/>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Equation</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Electrons</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Spec</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r>
              <a:tr h="365760">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Acid in water</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50" b="1" dirty="0">
                          <a:solidFill>
                            <a:srgbClr val="2A1F3D"/>
                          </a:solidFill>
                          <a:latin typeface="Calibri" pitchFamily="34" charset="0"/>
                          <a:ea typeface="Calibri" pitchFamily="34" charset="-122"/>
                          <a:cs typeface="Calibri" pitchFamily="34" charset="-120"/>
                        </a:rPr>
                        <a:t>HCl(aq) → H⁺(aq) + Cl⁻(aq)</a:t>
                      </a:r>
                      <a:endParaRPr lang="en-US" sz="12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6B73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6A3FA0"/>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365760">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Neutralisation (ionic)</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250" b="1" dirty="0">
                          <a:solidFill>
                            <a:srgbClr val="2A1F3D"/>
                          </a:solidFill>
                          <a:latin typeface="Calibri" pitchFamily="34" charset="0"/>
                          <a:ea typeface="Calibri" pitchFamily="34" charset="-122"/>
                          <a:cs typeface="Calibri" pitchFamily="34" charset="-120"/>
                        </a:rPr>
                        <a:t>H⁺(aq) + OH⁻(aq) → H₂O(l)</a:t>
                      </a:r>
                      <a:endParaRPr lang="en-US" sz="12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6B73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A3FA0"/>
                          </a:solidFill>
                          <a:latin typeface="Calibri" pitchFamily="34" charset="0"/>
                          <a:ea typeface="Calibri" pitchFamily="34" charset="-122"/>
                          <a:cs typeface="Calibri" pitchFamily="34" charset="-120"/>
                        </a:rPr>
                        <a:t>3.14, 0.4</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Metal + acid (ionic)</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50" b="1" dirty="0">
                          <a:solidFill>
                            <a:srgbClr val="2A1F3D"/>
                          </a:solidFill>
                          <a:latin typeface="Calibri" pitchFamily="34" charset="0"/>
                          <a:ea typeface="Calibri" pitchFamily="34" charset="-122"/>
                          <a:cs typeface="Calibri" pitchFamily="34" charset="-120"/>
                        </a:rPr>
                        <a:t>Mg(s) + 2H⁺(aq) → Mg²⁺(aq) + H₂(g)</a:t>
                      </a:r>
                      <a:endParaRPr lang="en-US" sz="12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6B7385"/>
                          </a:solidFill>
                          <a:latin typeface="Calibri" pitchFamily="34" charset="0"/>
                          <a:ea typeface="Calibri" pitchFamily="34" charset="-122"/>
                          <a:cs typeface="Calibri" pitchFamily="34" charset="-120"/>
                        </a:rPr>
                        <a:t>redox</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6A3FA0"/>
                          </a:solidFill>
                          <a:latin typeface="Calibri" pitchFamily="34" charset="0"/>
                          <a:ea typeface="Calibri" pitchFamily="34" charset="-122"/>
                          <a:cs typeface="Calibri" pitchFamily="34" charset="-120"/>
                        </a:rPr>
                        <a:t>3.11, 0.4</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365760">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Carbonate + acid (ionic)</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250" b="1" dirty="0">
                          <a:solidFill>
                            <a:srgbClr val="2A1F3D"/>
                          </a:solidFill>
                          <a:latin typeface="Calibri" pitchFamily="34" charset="0"/>
                          <a:ea typeface="Calibri" pitchFamily="34" charset="-122"/>
                          <a:cs typeface="Calibri" pitchFamily="34" charset="-120"/>
                        </a:rPr>
                        <a:t>CO₃²⁻(aq) + 2H⁺(aq) → H₂O(l) + CO₂(g)</a:t>
                      </a:r>
                      <a:endParaRPr lang="en-US" sz="12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6B73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A3FA0"/>
                          </a:solidFill>
                          <a:latin typeface="Calibri" pitchFamily="34" charset="0"/>
                          <a:ea typeface="Calibri" pitchFamily="34" charset="-122"/>
                          <a:cs typeface="Calibri" pitchFamily="34" charset="-120"/>
                        </a:rPr>
                        <a:t>3.11, 0.4</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Precipitation (ionic)</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50" b="1" dirty="0">
                          <a:solidFill>
                            <a:srgbClr val="2A1F3D"/>
                          </a:solidFill>
                          <a:latin typeface="Calibri" pitchFamily="34" charset="0"/>
                          <a:ea typeface="Calibri" pitchFamily="34" charset="-122"/>
                          <a:cs typeface="Calibri" pitchFamily="34" charset="-120"/>
                        </a:rPr>
                        <a:t>Ag⁺(aq) + Cl⁻(aq) → AgCl(s)</a:t>
                      </a:r>
                      <a:endParaRPr lang="en-US" sz="12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6B73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6A3FA0"/>
                          </a:solidFill>
                          <a:latin typeface="Calibri" pitchFamily="34" charset="0"/>
                          <a:ea typeface="Calibri" pitchFamily="34" charset="-122"/>
                          <a:cs typeface="Calibri" pitchFamily="34" charset="-120"/>
                        </a:rPr>
                        <a:t>3.20, 0.4</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365760">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Precipitation (ionic)</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250" b="1" dirty="0">
                          <a:solidFill>
                            <a:srgbClr val="2A1F3D"/>
                          </a:solidFill>
                          <a:latin typeface="Calibri" pitchFamily="34" charset="0"/>
                          <a:ea typeface="Calibri" pitchFamily="34" charset="-122"/>
                          <a:cs typeface="Calibri" pitchFamily="34" charset="-120"/>
                        </a:rPr>
                        <a:t>Ba²⁺(aq) + SO₄²⁻(aq) → BaSO₄(s)</a:t>
                      </a:r>
                      <a:endParaRPr lang="en-US" sz="12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6B73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A3FA0"/>
                          </a:solidFill>
                          <a:latin typeface="Calibri" pitchFamily="34" charset="0"/>
                          <a:ea typeface="Calibri" pitchFamily="34" charset="-122"/>
                          <a:cs typeface="Calibri" pitchFamily="34" charset="-120"/>
                        </a:rPr>
                        <a:t>3.20, 0.4</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Cathode: metal</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50" b="1" dirty="0">
                          <a:solidFill>
                            <a:srgbClr val="2A1F3D"/>
                          </a:solidFill>
                          <a:latin typeface="Calibri" pitchFamily="34" charset="0"/>
                          <a:ea typeface="Calibri" pitchFamily="34" charset="-122"/>
                          <a:cs typeface="Calibri" pitchFamily="34" charset="-120"/>
                        </a:rPr>
                        <a:t>Cu²⁺(aq) + 2e⁻ → Cu(s)</a:t>
                      </a:r>
                      <a:endParaRPr lang="en-US" sz="12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1F5F99"/>
                          </a:solidFill>
                          <a:latin typeface="Calibri" pitchFamily="34" charset="0"/>
                          <a:ea typeface="Calibri" pitchFamily="34" charset="-122"/>
                          <a:cs typeface="Calibri" pitchFamily="34" charset="-120"/>
                        </a:rPr>
                        <a:t>reduction</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6A3FA0"/>
                          </a:solidFill>
                          <a:latin typeface="Calibri" pitchFamily="34" charset="0"/>
                          <a:ea typeface="Calibri" pitchFamily="34" charset="-122"/>
                          <a:cs typeface="Calibri" pitchFamily="34" charset="-120"/>
                        </a:rPr>
                        <a:t>3.27</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365760">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Cathode: hydrogen</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250" b="1" dirty="0">
                          <a:solidFill>
                            <a:srgbClr val="2A1F3D"/>
                          </a:solidFill>
                          <a:latin typeface="Calibri" pitchFamily="34" charset="0"/>
                          <a:ea typeface="Calibri" pitchFamily="34" charset="-122"/>
                          <a:cs typeface="Calibri" pitchFamily="34" charset="-120"/>
                        </a:rPr>
                        <a:t>2H⁺(aq) + 2e⁻ → H₂(g)</a:t>
                      </a:r>
                      <a:endParaRPr lang="en-US" sz="12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5F99"/>
                          </a:solidFill>
                          <a:latin typeface="Calibri" pitchFamily="34" charset="0"/>
                          <a:ea typeface="Calibri" pitchFamily="34" charset="-122"/>
                          <a:cs typeface="Calibri" pitchFamily="34" charset="-120"/>
                        </a:rPr>
                        <a:t>reduction</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A3FA0"/>
                          </a:solidFill>
                          <a:latin typeface="Calibri" pitchFamily="34" charset="0"/>
                          <a:ea typeface="Calibri" pitchFamily="34" charset="-122"/>
                          <a:cs typeface="Calibri" pitchFamily="34" charset="-120"/>
                        </a:rPr>
                        <a:t>3.27</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Anode: halogen</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50" b="1" dirty="0">
                          <a:solidFill>
                            <a:srgbClr val="2A1F3D"/>
                          </a:solidFill>
                          <a:latin typeface="Calibri" pitchFamily="34" charset="0"/>
                          <a:ea typeface="Calibri" pitchFamily="34" charset="-122"/>
                          <a:cs typeface="Calibri" pitchFamily="34" charset="-120"/>
                        </a:rPr>
                        <a:t>2Cl⁻(aq) → Cl₂(g) + 2e⁻</a:t>
                      </a:r>
                      <a:endParaRPr lang="en-US" sz="12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oxidation</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6A3FA0"/>
                          </a:solidFill>
                          <a:latin typeface="Calibri" pitchFamily="34" charset="0"/>
                          <a:ea typeface="Calibri" pitchFamily="34" charset="-122"/>
                          <a:cs typeface="Calibri" pitchFamily="34" charset="-120"/>
                        </a:rPr>
                        <a:t>3.27</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365760">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Anode: oxygen</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250" b="1" dirty="0">
                          <a:solidFill>
                            <a:srgbClr val="2A1F3D"/>
                          </a:solidFill>
                          <a:latin typeface="Calibri" pitchFamily="34" charset="0"/>
                          <a:ea typeface="Calibri" pitchFamily="34" charset="-122"/>
                          <a:cs typeface="Calibri" pitchFamily="34" charset="-120"/>
                        </a:rPr>
                        <a:t>4OH⁻(aq) → O₂(g) + 2H₂O(l) + 4e⁻</a:t>
                      </a:r>
                      <a:endParaRPr lang="en-US" sz="12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oxidation</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A3FA0"/>
                          </a:solidFill>
                          <a:latin typeface="Calibri" pitchFamily="34" charset="0"/>
                          <a:ea typeface="Calibri" pitchFamily="34" charset="-122"/>
                          <a:cs typeface="Calibri" pitchFamily="34" charset="-120"/>
                        </a:rPr>
                        <a:t>3.27</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262B3A"/>
                          </a:solidFill>
                          <a:latin typeface="Calibri" pitchFamily="34" charset="0"/>
                          <a:ea typeface="Calibri" pitchFamily="34" charset="-122"/>
                          <a:cs typeface="Calibri" pitchFamily="34" charset="-120"/>
                        </a:rPr>
                        <a:t>Copper anode</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50" b="1" dirty="0">
                          <a:solidFill>
                            <a:srgbClr val="2A1F3D"/>
                          </a:solidFill>
                          <a:latin typeface="Calibri" pitchFamily="34" charset="0"/>
                          <a:ea typeface="Calibri" pitchFamily="34" charset="-122"/>
                          <a:cs typeface="Calibri" pitchFamily="34" charset="-120"/>
                        </a:rPr>
                        <a:t>Cu(s) → Cu²⁺(aq) + 2e⁻</a:t>
                      </a:r>
                      <a:endParaRPr lang="en-US" sz="12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oxidation</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6A3FA0"/>
                          </a:solidFill>
                          <a:latin typeface="Calibri" pitchFamily="34" charset="0"/>
                          <a:ea typeface="Calibri" pitchFamily="34" charset="-122"/>
                          <a:cs typeface="Calibri" pitchFamily="34" charset="-120"/>
                        </a:rPr>
                        <a:t>3.30</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bl>
          </a:graphicData>
        </a:graphic>
      </p:graphicFrame>
      <p:sp>
        <p:nvSpPr>
          <p:cNvPr id="11" name="Shape 8"/>
          <p:cNvSpPr/>
          <p:nvPr/>
        </p:nvSpPr>
        <p:spPr>
          <a:xfrm>
            <a:off x="411480" y="5833872"/>
            <a:ext cx="11368735" cy="530352"/>
          </a:xfrm>
          <a:prstGeom prst="rect">
            <a:avLst/>
          </a:prstGeom>
          <a:solidFill>
            <a:srgbClr val="FFF4E0"/>
          </a:solidFill>
          <a:ln w="6350">
            <a:solidFill>
              <a:srgbClr val="F1D9A8"/>
            </a:solidFill>
            <a:prstDash val="solid"/>
          </a:ln>
        </p:spPr>
      </p:sp>
      <p:sp>
        <p:nvSpPr>
          <p:cNvPr id="12" name="Shape 9"/>
          <p:cNvSpPr/>
          <p:nvPr/>
        </p:nvSpPr>
        <p:spPr>
          <a:xfrm>
            <a:off x="411480" y="5833872"/>
            <a:ext cx="82296" cy="530352"/>
          </a:xfrm>
          <a:prstGeom prst="rect">
            <a:avLst/>
          </a:prstGeom>
          <a:solidFill>
            <a:srgbClr val="E39A2F"/>
          </a:solidFill>
          <a:ln w="12700">
            <a:solidFill>
              <a:srgbClr val="E39A2F"/>
            </a:solidFill>
            <a:prstDash val="solid"/>
          </a:ln>
        </p:spPr>
      </p:sp>
      <p:sp>
        <p:nvSpPr>
          <p:cNvPr id="13" name="Text 1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Cover the Equation column. For each row, write the equation from memory, then check </a:t>
            </a:r>
            <a:r>
              <a:rPr lang="en-US" sz="1150" b="1" dirty="0">
                <a:solidFill>
                  <a:srgbClr val="262B3A"/>
                </a:solidFill>
                <a:latin typeface="Calibri" pitchFamily="34" charset="0"/>
                <a:ea typeface="Calibri" pitchFamily="34" charset="-122"/>
                <a:cs typeface="Calibri" pitchFamily="34" charset="-120"/>
              </a:rPr>
              <a:t>atoms</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charges</a:t>
            </a:r>
            <a:r>
              <a:rPr lang="en-US" sz="1150" dirty="0">
                <a:solidFill>
                  <a:srgbClr val="262B3A"/>
                </a:solidFill>
                <a:latin typeface="Calibri" pitchFamily="34" charset="0"/>
                <a:ea typeface="Calibri" pitchFamily="34" charset="-122"/>
                <a:cs typeface="Calibri" pitchFamily="34" charset="-120"/>
              </a:rPr>
              <a:t> on each side.</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Topic 3 Chemical changes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40</a:t>
            </a:r>
            <a:endParaRPr lang="en-US" sz="1000" dirty="0"/>
          </a:p>
        </p:txBody>
      </p:sp>
      <p:sp>
        <p:nvSpPr>
          <p:cNvPr id="8" name="Shape 6"/>
          <p:cNvSpPr/>
          <p:nvPr/>
        </p:nvSpPr>
        <p:spPr>
          <a:xfrm>
            <a:off x="411480" y="1188720"/>
            <a:ext cx="2739314" cy="1143000"/>
          </a:xfrm>
          <a:prstGeom prst="rect">
            <a:avLst/>
          </a:prstGeom>
          <a:solidFill>
            <a:srgbClr val="F8F5FC"/>
          </a:solidFill>
          <a:ln w="9525">
            <a:solidFill>
              <a:srgbClr val="DDD3EC"/>
            </a:solidFill>
            <a:prstDash val="solid"/>
          </a:ln>
        </p:spPr>
      </p:sp>
      <p:sp>
        <p:nvSpPr>
          <p:cNvPr id="9" name="Shape 7"/>
          <p:cNvSpPr/>
          <p:nvPr/>
        </p:nvSpPr>
        <p:spPr>
          <a:xfrm>
            <a:off x="411480" y="1188720"/>
            <a:ext cx="73152" cy="1143000"/>
          </a:xfrm>
          <a:prstGeom prst="rect">
            <a:avLst/>
          </a:prstGeom>
          <a:solidFill>
            <a:srgbClr val="6A3FA0"/>
          </a:solidFill>
          <a:ln w="12700">
            <a:solidFill>
              <a:srgbClr val="6A3FA0"/>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Acid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Source of H⁺ ions in solution; pH below 7.</a:t>
            </a:r>
            <a:endParaRPr lang="en-US" sz="1200" dirty="0"/>
          </a:p>
        </p:txBody>
      </p:sp>
      <p:sp>
        <p:nvSpPr>
          <p:cNvPr id="11" name="Shape 9"/>
          <p:cNvSpPr/>
          <p:nvPr/>
        </p:nvSpPr>
        <p:spPr>
          <a:xfrm>
            <a:off x="3287954" y="1188720"/>
            <a:ext cx="2739314" cy="1143000"/>
          </a:xfrm>
          <a:prstGeom prst="rect">
            <a:avLst/>
          </a:prstGeom>
          <a:solidFill>
            <a:srgbClr val="F8F5FC"/>
          </a:solidFill>
          <a:ln w="9525">
            <a:solidFill>
              <a:srgbClr val="DDD3EC"/>
            </a:solidFill>
            <a:prstDash val="solid"/>
          </a:ln>
        </p:spPr>
      </p:sp>
      <p:sp>
        <p:nvSpPr>
          <p:cNvPr id="12" name="Shape 10"/>
          <p:cNvSpPr/>
          <p:nvPr/>
        </p:nvSpPr>
        <p:spPr>
          <a:xfrm>
            <a:off x="3287954" y="1188720"/>
            <a:ext cx="73152" cy="1143000"/>
          </a:xfrm>
          <a:prstGeom prst="rect">
            <a:avLst/>
          </a:prstGeom>
          <a:solidFill>
            <a:srgbClr val="6A3FA0"/>
          </a:solidFill>
          <a:ln w="12700">
            <a:solidFill>
              <a:srgbClr val="6A3FA0"/>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Alkali</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Soluble base; source of OH⁻ ions in solution; pH above 7.</a:t>
            </a:r>
            <a:endParaRPr lang="en-US" sz="1200" dirty="0"/>
          </a:p>
        </p:txBody>
      </p:sp>
      <p:sp>
        <p:nvSpPr>
          <p:cNvPr id="14" name="Shape 12"/>
          <p:cNvSpPr/>
          <p:nvPr/>
        </p:nvSpPr>
        <p:spPr>
          <a:xfrm>
            <a:off x="6164428" y="1188720"/>
            <a:ext cx="2739314" cy="1143000"/>
          </a:xfrm>
          <a:prstGeom prst="rect">
            <a:avLst/>
          </a:prstGeom>
          <a:solidFill>
            <a:srgbClr val="F8F5FC"/>
          </a:solidFill>
          <a:ln w="9525">
            <a:solidFill>
              <a:srgbClr val="DDD3EC"/>
            </a:solidFill>
            <a:prstDash val="solid"/>
          </a:ln>
        </p:spPr>
      </p:sp>
      <p:sp>
        <p:nvSpPr>
          <p:cNvPr id="15" name="Shape 13"/>
          <p:cNvSpPr/>
          <p:nvPr/>
        </p:nvSpPr>
        <p:spPr>
          <a:xfrm>
            <a:off x="6164428" y="1188720"/>
            <a:ext cx="73152" cy="1143000"/>
          </a:xfrm>
          <a:prstGeom prst="rect">
            <a:avLst/>
          </a:prstGeom>
          <a:solidFill>
            <a:srgbClr val="6A3FA0"/>
          </a:solidFill>
          <a:ln w="12700">
            <a:solidFill>
              <a:srgbClr val="6A3FA0"/>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Base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Reacts with an acid to form a salt and water only.</a:t>
            </a:r>
            <a:endParaRPr lang="en-US" sz="1200" dirty="0"/>
          </a:p>
        </p:txBody>
      </p:sp>
      <p:sp>
        <p:nvSpPr>
          <p:cNvPr id="17" name="Shape 15"/>
          <p:cNvSpPr/>
          <p:nvPr/>
        </p:nvSpPr>
        <p:spPr>
          <a:xfrm>
            <a:off x="9040901" y="1188720"/>
            <a:ext cx="2739314" cy="1143000"/>
          </a:xfrm>
          <a:prstGeom prst="rect">
            <a:avLst/>
          </a:prstGeom>
          <a:solidFill>
            <a:srgbClr val="F8F5FC"/>
          </a:solidFill>
          <a:ln w="9525">
            <a:solidFill>
              <a:srgbClr val="DDD3EC"/>
            </a:solidFill>
            <a:prstDash val="solid"/>
          </a:ln>
        </p:spPr>
      </p:sp>
      <p:sp>
        <p:nvSpPr>
          <p:cNvPr id="18" name="Shape 16"/>
          <p:cNvSpPr/>
          <p:nvPr/>
        </p:nvSpPr>
        <p:spPr>
          <a:xfrm>
            <a:off x="9040901" y="1188720"/>
            <a:ext cx="73152" cy="1143000"/>
          </a:xfrm>
          <a:prstGeom prst="rect">
            <a:avLst/>
          </a:prstGeom>
          <a:solidFill>
            <a:srgbClr val="6A3FA0"/>
          </a:solidFill>
          <a:ln w="12700">
            <a:solidFill>
              <a:srgbClr val="6A3FA0"/>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Strong acid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Completely dissociates into ions in water.</a:t>
            </a:r>
            <a:endParaRPr lang="en-US" sz="1200" dirty="0"/>
          </a:p>
        </p:txBody>
      </p:sp>
      <p:sp>
        <p:nvSpPr>
          <p:cNvPr id="20" name="Shape 18"/>
          <p:cNvSpPr/>
          <p:nvPr/>
        </p:nvSpPr>
        <p:spPr>
          <a:xfrm>
            <a:off x="411480" y="2441448"/>
            <a:ext cx="2739314" cy="1143000"/>
          </a:xfrm>
          <a:prstGeom prst="rect">
            <a:avLst/>
          </a:prstGeom>
          <a:solidFill>
            <a:srgbClr val="F8F5FC"/>
          </a:solidFill>
          <a:ln w="9525">
            <a:solidFill>
              <a:srgbClr val="DDD3EC"/>
            </a:solidFill>
            <a:prstDash val="solid"/>
          </a:ln>
        </p:spPr>
      </p:sp>
      <p:sp>
        <p:nvSpPr>
          <p:cNvPr id="21" name="Shape 19"/>
          <p:cNvSpPr/>
          <p:nvPr/>
        </p:nvSpPr>
        <p:spPr>
          <a:xfrm>
            <a:off x="411480" y="2441448"/>
            <a:ext cx="73152" cy="1143000"/>
          </a:xfrm>
          <a:prstGeom prst="rect">
            <a:avLst/>
          </a:prstGeom>
          <a:solidFill>
            <a:srgbClr val="6A3FA0"/>
          </a:solidFill>
          <a:ln w="12700">
            <a:solidFill>
              <a:srgbClr val="6A3FA0"/>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Weak acid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Only partially dissociates into ions (reversible).</a:t>
            </a:r>
            <a:endParaRPr lang="en-US" sz="1200" dirty="0"/>
          </a:p>
        </p:txBody>
      </p:sp>
      <p:sp>
        <p:nvSpPr>
          <p:cNvPr id="23" name="Shape 21"/>
          <p:cNvSpPr/>
          <p:nvPr/>
        </p:nvSpPr>
        <p:spPr>
          <a:xfrm>
            <a:off x="3287954" y="2441448"/>
            <a:ext cx="2739314" cy="1143000"/>
          </a:xfrm>
          <a:prstGeom prst="rect">
            <a:avLst/>
          </a:prstGeom>
          <a:solidFill>
            <a:srgbClr val="F8F5FC"/>
          </a:solidFill>
          <a:ln w="9525">
            <a:solidFill>
              <a:srgbClr val="DDD3EC"/>
            </a:solidFill>
            <a:prstDash val="solid"/>
          </a:ln>
        </p:spPr>
      </p:sp>
      <p:sp>
        <p:nvSpPr>
          <p:cNvPr id="24" name="Shape 22"/>
          <p:cNvSpPr/>
          <p:nvPr/>
        </p:nvSpPr>
        <p:spPr>
          <a:xfrm>
            <a:off x="3287954" y="2441448"/>
            <a:ext cx="73152" cy="1143000"/>
          </a:xfrm>
          <a:prstGeom prst="rect">
            <a:avLst/>
          </a:prstGeom>
          <a:solidFill>
            <a:srgbClr val="6A3FA0"/>
          </a:solidFill>
          <a:ln w="12700">
            <a:solidFill>
              <a:srgbClr val="6A3FA0"/>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Concentrated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large amount of substance in a given volume of solution.</a:t>
            </a:r>
            <a:endParaRPr lang="en-US" sz="1200" dirty="0"/>
          </a:p>
        </p:txBody>
      </p:sp>
      <p:sp>
        <p:nvSpPr>
          <p:cNvPr id="26" name="Shape 24"/>
          <p:cNvSpPr/>
          <p:nvPr/>
        </p:nvSpPr>
        <p:spPr>
          <a:xfrm>
            <a:off x="6164428" y="2441448"/>
            <a:ext cx="2739314" cy="1143000"/>
          </a:xfrm>
          <a:prstGeom prst="rect">
            <a:avLst/>
          </a:prstGeom>
          <a:solidFill>
            <a:srgbClr val="F8F5FC"/>
          </a:solidFill>
          <a:ln w="9525">
            <a:solidFill>
              <a:srgbClr val="DDD3EC"/>
            </a:solidFill>
            <a:prstDash val="solid"/>
          </a:ln>
        </p:spPr>
      </p:sp>
      <p:sp>
        <p:nvSpPr>
          <p:cNvPr id="27" name="Shape 25"/>
          <p:cNvSpPr/>
          <p:nvPr/>
        </p:nvSpPr>
        <p:spPr>
          <a:xfrm>
            <a:off x="6164428" y="2441448"/>
            <a:ext cx="73152" cy="1143000"/>
          </a:xfrm>
          <a:prstGeom prst="rect">
            <a:avLst/>
          </a:prstGeom>
          <a:solidFill>
            <a:srgbClr val="6A3FA0"/>
          </a:solidFill>
          <a:ln w="12700">
            <a:solidFill>
              <a:srgbClr val="6A3FA0"/>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Neutralisation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Acid + base → salt + water; H⁺ + OH⁻ → H₂O.</a:t>
            </a:r>
            <a:endParaRPr lang="en-US" sz="1200" dirty="0"/>
          </a:p>
        </p:txBody>
      </p:sp>
      <p:sp>
        <p:nvSpPr>
          <p:cNvPr id="29" name="Shape 27"/>
          <p:cNvSpPr/>
          <p:nvPr/>
        </p:nvSpPr>
        <p:spPr>
          <a:xfrm>
            <a:off x="9040901" y="2441448"/>
            <a:ext cx="2739314" cy="1143000"/>
          </a:xfrm>
          <a:prstGeom prst="rect">
            <a:avLst/>
          </a:prstGeom>
          <a:solidFill>
            <a:srgbClr val="F8F5FC"/>
          </a:solidFill>
          <a:ln w="9525">
            <a:solidFill>
              <a:srgbClr val="DDD3EC"/>
            </a:solidFill>
            <a:prstDash val="solid"/>
          </a:ln>
        </p:spPr>
      </p:sp>
      <p:sp>
        <p:nvSpPr>
          <p:cNvPr id="30" name="Shape 28"/>
          <p:cNvSpPr/>
          <p:nvPr/>
        </p:nvSpPr>
        <p:spPr>
          <a:xfrm>
            <a:off x="9040901" y="2441448"/>
            <a:ext cx="73152" cy="1143000"/>
          </a:xfrm>
          <a:prstGeom prst="rect">
            <a:avLst/>
          </a:prstGeom>
          <a:solidFill>
            <a:srgbClr val="6A3FA0"/>
          </a:solidFill>
          <a:ln w="12700">
            <a:solidFill>
              <a:srgbClr val="6A3FA0"/>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Spectator 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Ion present that does not take part; same on both sides.</a:t>
            </a:r>
            <a:endParaRPr lang="en-US" sz="1200" dirty="0"/>
          </a:p>
        </p:txBody>
      </p:sp>
      <p:sp>
        <p:nvSpPr>
          <p:cNvPr id="32" name="Shape 30"/>
          <p:cNvSpPr/>
          <p:nvPr/>
        </p:nvSpPr>
        <p:spPr>
          <a:xfrm>
            <a:off x="411480" y="3694176"/>
            <a:ext cx="2739314" cy="1143000"/>
          </a:xfrm>
          <a:prstGeom prst="rect">
            <a:avLst/>
          </a:prstGeom>
          <a:solidFill>
            <a:srgbClr val="F8F5FC"/>
          </a:solidFill>
          <a:ln w="9525">
            <a:solidFill>
              <a:srgbClr val="DDD3EC"/>
            </a:solidFill>
            <a:prstDash val="solid"/>
          </a:ln>
        </p:spPr>
      </p:sp>
      <p:sp>
        <p:nvSpPr>
          <p:cNvPr id="33" name="Shape 31"/>
          <p:cNvSpPr/>
          <p:nvPr/>
        </p:nvSpPr>
        <p:spPr>
          <a:xfrm>
            <a:off x="411480" y="3694176"/>
            <a:ext cx="73152" cy="1143000"/>
          </a:xfrm>
          <a:prstGeom prst="rect">
            <a:avLst/>
          </a:prstGeom>
          <a:solidFill>
            <a:srgbClr val="6A3FA0"/>
          </a:solidFill>
          <a:ln w="12700">
            <a:solidFill>
              <a:srgbClr val="6A3FA0"/>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Ionic equation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Shows only the ions/particles that react, with states.</a:t>
            </a:r>
            <a:endParaRPr lang="en-US" sz="1200" dirty="0"/>
          </a:p>
        </p:txBody>
      </p:sp>
      <p:sp>
        <p:nvSpPr>
          <p:cNvPr id="35" name="Shape 33"/>
          <p:cNvSpPr/>
          <p:nvPr/>
        </p:nvSpPr>
        <p:spPr>
          <a:xfrm>
            <a:off x="3287954" y="3694176"/>
            <a:ext cx="2739314" cy="1143000"/>
          </a:xfrm>
          <a:prstGeom prst="rect">
            <a:avLst/>
          </a:prstGeom>
          <a:solidFill>
            <a:srgbClr val="F8F5FC"/>
          </a:solidFill>
          <a:ln w="9525">
            <a:solidFill>
              <a:srgbClr val="DDD3EC"/>
            </a:solidFill>
            <a:prstDash val="solid"/>
          </a:ln>
        </p:spPr>
      </p:sp>
      <p:sp>
        <p:nvSpPr>
          <p:cNvPr id="36" name="Shape 34"/>
          <p:cNvSpPr/>
          <p:nvPr/>
        </p:nvSpPr>
        <p:spPr>
          <a:xfrm>
            <a:off x="3287954" y="3694176"/>
            <a:ext cx="73152" cy="1143000"/>
          </a:xfrm>
          <a:prstGeom prst="rect">
            <a:avLst/>
          </a:prstGeom>
          <a:solidFill>
            <a:srgbClr val="6A3FA0"/>
          </a:solidFill>
          <a:ln w="12700">
            <a:solidFill>
              <a:srgbClr val="6A3FA0"/>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Precipitate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Insoluble solid formed when two solutions are mixed.</a:t>
            </a:r>
            <a:endParaRPr lang="en-US" sz="1200" dirty="0"/>
          </a:p>
        </p:txBody>
      </p:sp>
      <p:sp>
        <p:nvSpPr>
          <p:cNvPr id="38" name="Shape 36"/>
          <p:cNvSpPr/>
          <p:nvPr/>
        </p:nvSpPr>
        <p:spPr>
          <a:xfrm>
            <a:off x="6164428" y="3694176"/>
            <a:ext cx="2739314" cy="1143000"/>
          </a:xfrm>
          <a:prstGeom prst="rect">
            <a:avLst/>
          </a:prstGeom>
          <a:solidFill>
            <a:srgbClr val="F8F5FC"/>
          </a:solidFill>
          <a:ln w="9525">
            <a:solidFill>
              <a:srgbClr val="DDD3EC"/>
            </a:solidFill>
            <a:prstDash val="solid"/>
          </a:ln>
        </p:spPr>
      </p:sp>
      <p:sp>
        <p:nvSpPr>
          <p:cNvPr id="39" name="Shape 37"/>
          <p:cNvSpPr/>
          <p:nvPr/>
        </p:nvSpPr>
        <p:spPr>
          <a:xfrm>
            <a:off x="6164428" y="3694176"/>
            <a:ext cx="73152" cy="1143000"/>
          </a:xfrm>
          <a:prstGeom prst="rect">
            <a:avLst/>
          </a:prstGeom>
          <a:solidFill>
            <a:srgbClr val="6A3FA0"/>
          </a:solidFill>
          <a:ln w="12700">
            <a:solidFill>
              <a:srgbClr val="6A3FA0"/>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Titration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Finds exact volumes of acid and alkali that react, using an indicator.</a:t>
            </a:r>
            <a:endParaRPr lang="en-US" sz="1200" dirty="0"/>
          </a:p>
        </p:txBody>
      </p:sp>
      <p:sp>
        <p:nvSpPr>
          <p:cNvPr id="41" name="Shape 39"/>
          <p:cNvSpPr/>
          <p:nvPr/>
        </p:nvSpPr>
        <p:spPr>
          <a:xfrm>
            <a:off x="9040901" y="3694176"/>
            <a:ext cx="2739314" cy="1143000"/>
          </a:xfrm>
          <a:prstGeom prst="rect">
            <a:avLst/>
          </a:prstGeom>
          <a:solidFill>
            <a:srgbClr val="F8F5FC"/>
          </a:solidFill>
          <a:ln w="9525">
            <a:solidFill>
              <a:srgbClr val="DDD3EC"/>
            </a:solidFill>
            <a:prstDash val="solid"/>
          </a:ln>
        </p:spPr>
      </p:sp>
      <p:sp>
        <p:nvSpPr>
          <p:cNvPr id="42" name="Shape 40"/>
          <p:cNvSpPr/>
          <p:nvPr/>
        </p:nvSpPr>
        <p:spPr>
          <a:xfrm>
            <a:off x="9040901" y="3694176"/>
            <a:ext cx="73152" cy="1143000"/>
          </a:xfrm>
          <a:prstGeom prst="rect">
            <a:avLst/>
          </a:prstGeom>
          <a:solidFill>
            <a:srgbClr val="6A3FA0"/>
          </a:solidFill>
          <a:ln w="12700">
            <a:solidFill>
              <a:srgbClr val="6A3FA0"/>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Electrolyte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Ionic compound, molten or dissolved, that conducts and is decomposed.</a:t>
            </a:r>
            <a:endParaRPr lang="en-US" sz="1200" dirty="0"/>
          </a:p>
        </p:txBody>
      </p:sp>
      <p:sp>
        <p:nvSpPr>
          <p:cNvPr id="44" name="Shape 42"/>
          <p:cNvSpPr/>
          <p:nvPr/>
        </p:nvSpPr>
        <p:spPr>
          <a:xfrm>
            <a:off x="411480" y="4946904"/>
            <a:ext cx="2739314" cy="1143000"/>
          </a:xfrm>
          <a:prstGeom prst="rect">
            <a:avLst/>
          </a:prstGeom>
          <a:solidFill>
            <a:srgbClr val="F8F5FC"/>
          </a:solidFill>
          <a:ln w="9525">
            <a:solidFill>
              <a:srgbClr val="DDD3EC"/>
            </a:solidFill>
            <a:prstDash val="solid"/>
          </a:ln>
        </p:spPr>
      </p:sp>
      <p:sp>
        <p:nvSpPr>
          <p:cNvPr id="45" name="Shape 43"/>
          <p:cNvSpPr/>
          <p:nvPr/>
        </p:nvSpPr>
        <p:spPr>
          <a:xfrm>
            <a:off x="411480" y="4946904"/>
            <a:ext cx="73152" cy="1143000"/>
          </a:xfrm>
          <a:prstGeom prst="rect">
            <a:avLst/>
          </a:prstGeom>
          <a:solidFill>
            <a:srgbClr val="6A3FA0"/>
          </a:solidFill>
          <a:ln w="12700">
            <a:solidFill>
              <a:srgbClr val="6A3FA0"/>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Cathode / anode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Negative electrode (cations go there) / positive electrode (anions).</a:t>
            </a:r>
            <a:endParaRPr lang="en-US" sz="1200" dirty="0"/>
          </a:p>
        </p:txBody>
      </p:sp>
      <p:sp>
        <p:nvSpPr>
          <p:cNvPr id="47" name="Shape 45"/>
          <p:cNvSpPr/>
          <p:nvPr/>
        </p:nvSpPr>
        <p:spPr>
          <a:xfrm>
            <a:off x="3287954" y="4946904"/>
            <a:ext cx="2739314" cy="1143000"/>
          </a:xfrm>
          <a:prstGeom prst="rect">
            <a:avLst/>
          </a:prstGeom>
          <a:solidFill>
            <a:srgbClr val="F8F5FC"/>
          </a:solidFill>
          <a:ln w="9525">
            <a:solidFill>
              <a:srgbClr val="DDD3EC"/>
            </a:solidFill>
            <a:prstDash val="solid"/>
          </a:ln>
        </p:spPr>
      </p:sp>
      <p:sp>
        <p:nvSpPr>
          <p:cNvPr id="48" name="Shape 46"/>
          <p:cNvSpPr/>
          <p:nvPr/>
        </p:nvSpPr>
        <p:spPr>
          <a:xfrm>
            <a:off x="3287954" y="4946904"/>
            <a:ext cx="73152" cy="1143000"/>
          </a:xfrm>
          <a:prstGeom prst="rect">
            <a:avLst/>
          </a:prstGeom>
          <a:solidFill>
            <a:srgbClr val="6A3FA0"/>
          </a:solidFill>
          <a:ln w="12700">
            <a:solidFill>
              <a:srgbClr val="6A3FA0"/>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Half equation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Shows electrons gained or lost at one electrode.</a:t>
            </a:r>
            <a:endParaRPr lang="en-US" sz="1200" dirty="0"/>
          </a:p>
        </p:txBody>
      </p:sp>
      <p:sp>
        <p:nvSpPr>
          <p:cNvPr id="50" name="Shape 48"/>
          <p:cNvSpPr/>
          <p:nvPr/>
        </p:nvSpPr>
        <p:spPr>
          <a:xfrm>
            <a:off x="6164428" y="4946904"/>
            <a:ext cx="2739314" cy="1143000"/>
          </a:xfrm>
          <a:prstGeom prst="rect">
            <a:avLst/>
          </a:prstGeom>
          <a:solidFill>
            <a:srgbClr val="F8F5FC"/>
          </a:solidFill>
          <a:ln w="9525">
            <a:solidFill>
              <a:srgbClr val="DDD3EC"/>
            </a:solidFill>
            <a:prstDash val="solid"/>
          </a:ln>
        </p:spPr>
      </p:sp>
      <p:sp>
        <p:nvSpPr>
          <p:cNvPr id="51" name="Shape 49"/>
          <p:cNvSpPr/>
          <p:nvPr/>
        </p:nvSpPr>
        <p:spPr>
          <a:xfrm>
            <a:off x="6164428" y="4946904"/>
            <a:ext cx="73152" cy="1143000"/>
          </a:xfrm>
          <a:prstGeom prst="rect">
            <a:avLst/>
          </a:prstGeom>
          <a:solidFill>
            <a:srgbClr val="6A3FA0"/>
          </a:solidFill>
          <a:ln w="12700">
            <a:solidFill>
              <a:srgbClr val="6A3FA0"/>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Oxidation / reduction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Loss / gain of electrons: OIL RIG.</a:t>
            </a:r>
            <a:endParaRPr lang="en-US" sz="1200" dirty="0"/>
          </a:p>
        </p:txBody>
      </p:sp>
      <p:sp>
        <p:nvSpPr>
          <p:cNvPr id="53" name="Shape 51"/>
          <p:cNvSpPr/>
          <p:nvPr/>
        </p:nvSpPr>
        <p:spPr>
          <a:xfrm>
            <a:off x="9040901" y="4946904"/>
            <a:ext cx="2739314" cy="1143000"/>
          </a:xfrm>
          <a:prstGeom prst="rect">
            <a:avLst/>
          </a:prstGeom>
          <a:solidFill>
            <a:srgbClr val="F8F5FC"/>
          </a:solidFill>
          <a:ln w="9525">
            <a:solidFill>
              <a:srgbClr val="DDD3EC"/>
            </a:solidFill>
            <a:prstDash val="solid"/>
          </a:ln>
        </p:spPr>
      </p:sp>
      <p:sp>
        <p:nvSpPr>
          <p:cNvPr id="54" name="Shape 52"/>
          <p:cNvSpPr/>
          <p:nvPr/>
        </p:nvSpPr>
        <p:spPr>
          <a:xfrm>
            <a:off x="9040901" y="4946904"/>
            <a:ext cx="73152" cy="1143000"/>
          </a:xfrm>
          <a:prstGeom prst="rect">
            <a:avLst/>
          </a:prstGeom>
          <a:solidFill>
            <a:srgbClr val="6A3FA0"/>
          </a:solidFill>
          <a:ln w="12700">
            <a:solidFill>
              <a:srgbClr val="6A3FA0"/>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Anode sludge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Impurities left when an impure copper anode dissolves.</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0.4, 3.20, 3.22–3.29 • answer every part • 13 marks (parts c, d, e are HT)</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41</a:t>
            </a:r>
            <a:endParaRPr lang="en-US" sz="1000" dirty="0"/>
          </a:p>
        </p:txBody>
      </p:sp>
      <p:sp>
        <p:nvSpPr>
          <p:cNvPr id="10" name="Text 8"/>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student electrolyses </a:t>
            </a:r>
            <a:r>
              <a:rPr lang="en-US" sz="1200" b="1" i="1" dirty="0">
                <a:solidFill>
                  <a:srgbClr val="262B3A"/>
                </a:solidFill>
                <a:latin typeface="Calibri" pitchFamily="34" charset="0"/>
                <a:ea typeface="Calibri" pitchFamily="34" charset="-122"/>
                <a:cs typeface="Calibri" pitchFamily="34" charset="-120"/>
              </a:rPr>
              <a:t>copper chloride solution</a:t>
            </a:r>
            <a:r>
              <a:rPr lang="en-US" sz="1200" i="1" dirty="0">
                <a:solidFill>
                  <a:srgbClr val="262B3A"/>
                </a:solidFill>
                <a:latin typeface="Calibri" pitchFamily="34" charset="0"/>
                <a:ea typeface="Calibri" pitchFamily="34" charset="-122"/>
                <a:cs typeface="Calibri" pitchFamily="34" charset="-120"/>
              </a:rPr>
              <a:t>, CuCl₂(aq), using graphite electrodes. Then she tests copper chloride solution with sodium hydroxide solution.</a:t>
            </a:r>
            <a:endParaRPr lang="en-US" sz="1200" dirty="0"/>
          </a:p>
        </p:txBody>
      </p:sp>
      <p:sp>
        <p:nvSpPr>
          <p:cNvPr id="11" name="Shape 9"/>
          <p:cNvSpPr/>
          <p:nvPr/>
        </p:nvSpPr>
        <p:spPr>
          <a:xfrm>
            <a:off x="411480" y="1719072"/>
            <a:ext cx="5570068" cy="1441704"/>
          </a:xfrm>
          <a:prstGeom prst="roundRect">
            <a:avLst>
              <a:gd name="adj" fmla="val 3171"/>
            </a:avLst>
          </a:prstGeom>
          <a:solidFill>
            <a:srgbClr val="F8F5FC"/>
          </a:solidFill>
          <a:ln w="9525">
            <a:solidFill>
              <a:srgbClr val="DDD3EC"/>
            </a:solidFill>
            <a:prstDash val="solid"/>
          </a:ln>
        </p:spPr>
      </p:sp>
      <p:sp>
        <p:nvSpPr>
          <p:cNvPr id="12" name="Text 10"/>
          <p:cNvSpPr/>
          <p:nvPr/>
        </p:nvSpPr>
        <p:spPr>
          <a:xfrm>
            <a:off x="548640" y="1792224"/>
            <a:ext cx="5295748" cy="107594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Explain why </a:t>
            </a:r>
            <a:r>
              <a:rPr lang="en-US" sz="1200" b="1" dirty="0">
                <a:solidFill>
                  <a:srgbClr val="262B3A"/>
                </a:solidFill>
                <a:latin typeface="Calibri" pitchFamily="34" charset="0"/>
                <a:ea typeface="Calibri" pitchFamily="34" charset="-122"/>
                <a:cs typeface="Calibri" pitchFamily="34" charset="-120"/>
              </a:rPr>
              <a:t>solid</a:t>
            </a:r>
            <a:r>
              <a:rPr lang="en-US" sz="1200" dirty="0">
                <a:solidFill>
                  <a:srgbClr val="262B3A"/>
                </a:solidFill>
                <a:latin typeface="Calibri" pitchFamily="34" charset="0"/>
                <a:ea typeface="Calibri" pitchFamily="34" charset="-122"/>
                <a:cs typeface="Calibri" pitchFamily="34" charset="-120"/>
              </a:rPr>
              <a:t> copper chloride cannot be electrolysed.</a:t>
            </a:r>
            <a:endParaRPr lang="en-US" sz="1200" dirty="0"/>
          </a:p>
        </p:txBody>
      </p:sp>
      <p:sp>
        <p:nvSpPr>
          <p:cNvPr id="13" name="Text 11"/>
          <p:cNvSpPr/>
          <p:nvPr/>
        </p:nvSpPr>
        <p:spPr>
          <a:xfrm>
            <a:off x="4518508" y="28498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4" name="Shape 12"/>
          <p:cNvSpPr/>
          <p:nvPr/>
        </p:nvSpPr>
        <p:spPr>
          <a:xfrm>
            <a:off x="411480" y="3270504"/>
            <a:ext cx="5570068" cy="1441704"/>
          </a:xfrm>
          <a:prstGeom prst="roundRect">
            <a:avLst>
              <a:gd name="adj" fmla="val 3171"/>
            </a:avLst>
          </a:prstGeom>
          <a:solidFill>
            <a:srgbClr val="FFFFFF"/>
          </a:solidFill>
          <a:ln w="9525">
            <a:solidFill>
              <a:srgbClr val="DDD3EC"/>
            </a:solidFill>
            <a:prstDash val="solid"/>
          </a:ln>
        </p:spPr>
      </p:sp>
      <p:sp>
        <p:nvSpPr>
          <p:cNvPr id="15" name="Text 13"/>
          <p:cNvSpPr/>
          <p:nvPr/>
        </p:nvSpPr>
        <p:spPr>
          <a:xfrm>
            <a:off x="548640" y="3343656"/>
            <a:ext cx="5295748" cy="107594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Name the product formed at the </a:t>
            </a:r>
            <a:r>
              <a:rPr lang="en-US" sz="1200" b="1" dirty="0">
                <a:solidFill>
                  <a:srgbClr val="262B3A"/>
                </a:solidFill>
                <a:latin typeface="Calibri" pitchFamily="34" charset="0"/>
                <a:ea typeface="Calibri" pitchFamily="34" charset="-122"/>
                <a:cs typeface="Calibri" pitchFamily="34" charset="-120"/>
              </a:rPr>
              <a:t>cathode</a:t>
            </a:r>
            <a:r>
              <a:rPr lang="en-US" sz="1200" dirty="0">
                <a:solidFill>
                  <a:srgbClr val="262B3A"/>
                </a:solidFill>
                <a:latin typeface="Calibri" pitchFamily="34" charset="0"/>
                <a:ea typeface="Calibri" pitchFamily="34" charset="-122"/>
                <a:cs typeface="Calibri" pitchFamily="34" charset="-120"/>
              </a:rPr>
              <a:t> and at the </a:t>
            </a:r>
            <a:r>
              <a:rPr lang="en-US" sz="1200" b="1" dirty="0">
                <a:solidFill>
                  <a:srgbClr val="262B3A"/>
                </a:solidFill>
                <a:latin typeface="Calibri" pitchFamily="34" charset="0"/>
                <a:ea typeface="Calibri" pitchFamily="34" charset="-122"/>
                <a:cs typeface="Calibri" pitchFamily="34" charset="-120"/>
              </a:rPr>
              <a:t>anode</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4518508" y="44013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7" name="Shape 15"/>
          <p:cNvSpPr/>
          <p:nvPr/>
        </p:nvSpPr>
        <p:spPr>
          <a:xfrm>
            <a:off x="411480" y="4821936"/>
            <a:ext cx="5570068" cy="1441704"/>
          </a:xfrm>
          <a:prstGeom prst="roundRect">
            <a:avLst>
              <a:gd name="adj" fmla="val 3171"/>
            </a:avLst>
          </a:prstGeom>
          <a:solidFill>
            <a:srgbClr val="F8F5FC"/>
          </a:solidFill>
          <a:ln w="9525">
            <a:solidFill>
              <a:srgbClr val="DDD3EC"/>
            </a:solidFill>
            <a:prstDash val="solid"/>
          </a:ln>
        </p:spPr>
      </p:sp>
      <p:sp>
        <p:nvSpPr>
          <p:cNvPr id="18" name="Text 16"/>
          <p:cNvSpPr/>
          <p:nvPr/>
        </p:nvSpPr>
        <p:spPr>
          <a:xfrm>
            <a:off x="548640" y="4895088"/>
            <a:ext cx="4792828" cy="107594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Write the half equation for the reaction at the </a:t>
            </a:r>
            <a:r>
              <a:rPr lang="en-US" sz="1200" b="1" dirty="0">
                <a:solidFill>
                  <a:srgbClr val="262B3A"/>
                </a:solidFill>
                <a:latin typeface="Calibri" pitchFamily="34" charset="0"/>
                <a:ea typeface="Calibri" pitchFamily="34" charset="-122"/>
                <a:cs typeface="Calibri" pitchFamily="34" charset="-120"/>
              </a:rPr>
              <a:t>cathode</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5432908" y="4895088"/>
            <a:ext cx="411480" cy="274320"/>
          </a:xfrm>
          <a:prstGeom prst="roundRect">
            <a:avLst>
              <a:gd name="adj" fmla="val 50000"/>
            </a:avLst>
          </a:prstGeom>
          <a:solidFill>
            <a:srgbClr val="C8414C"/>
          </a:solidFill>
          <a:ln w="12700">
            <a:solidFill>
              <a:srgbClr val="C8414C"/>
            </a:solidFill>
            <a:prstDash val="solid"/>
          </a:ln>
        </p:spPr>
      </p:sp>
      <p:sp>
        <p:nvSpPr>
          <p:cNvPr id="20" name="Text 18"/>
          <p:cNvSpPr/>
          <p:nvPr/>
        </p:nvSpPr>
        <p:spPr>
          <a:xfrm>
            <a:off x="5432908" y="489508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1" name="Text 19"/>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2" name="Shape 20"/>
          <p:cNvSpPr/>
          <p:nvPr/>
        </p:nvSpPr>
        <p:spPr>
          <a:xfrm>
            <a:off x="6210148" y="1719072"/>
            <a:ext cx="5570068" cy="1297534"/>
          </a:xfrm>
          <a:prstGeom prst="roundRect">
            <a:avLst>
              <a:gd name="adj" fmla="val 3524"/>
            </a:avLst>
          </a:prstGeom>
          <a:solidFill>
            <a:srgbClr val="F8F5FC"/>
          </a:solidFill>
          <a:ln w="9525">
            <a:solidFill>
              <a:srgbClr val="DDD3EC"/>
            </a:solidFill>
            <a:prstDash val="solid"/>
          </a:ln>
        </p:spPr>
      </p:sp>
      <p:sp>
        <p:nvSpPr>
          <p:cNvPr id="23" name="Text 21"/>
          <p:cNvSpPr/>
          <p:nvPr/>
        </p:nvSpPr>
        <p:spPr>
          <a:xfrm>
            <a:off x="6347308" y="1792224"/>
            <a:ext cx="4792828" cy="93177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The anode reaction is  2Cl⁻(aq) → Cl₂(g) + 2e⁻. Explain why this reaction is </a:t>
            </a:r>
            <a:r>
              <a:rPr lang="en-US" sz="1200" b="1" dirty="0">
                <a:solidFill>
                  <a:srgbClr val="262B3A"/>
                </a:solidFill>
                <a:latin typeface="Calibri" pitchFamily="34" charset="0"/>
                <a:ea typeface="Calibri" pitchFamily="34" charset="-122"/>
                <a:cs typeface="Calibri" pitchFamily="34" charset="-120"/>
              </a:rPr>
              <a:t>oxidation</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4" name="Shape 22"/>
          <p:cNvSpPr/>
          <p:nvPr/>
        </p:nvSpPr>
        <p:spPr>
          <a:xfrm>
            <a:off x="11231575" y="1792224"/>
            <a:ext cx="411480" cy="274320"/>
          </a:xfrm>
          <a:prstGeom prst="roundRect">
            <a:avLst>
              <a:gd name="adj" fmla="val 50000"/>
            </a:avLst>
          </a:prstGeom>
          <a:solidFill>
            <a:srgbClr val="C8414C"/>
          </a:solidFill>
          <a:ln w="12700">
            <a:solidFill>
              <a:srgbClr val="C8414C"/>
            </a:solidFill>
            <a:prstDash val="solid"/>
          </a:ln>
        </p:spPr>
      </p:sp>
      <p:sp>
        <p:nvSpPr>
          <p:cNvPr id="25" name="Text 23"/>
          <p:cNvSpPr/>
          <p:nvPr/>
        </p:nvSpPr>
        <p:spPr>
          <a:xfrm>
            <a:off x="11231575" y="179222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6" name="Text 24"/>
          <p:cNvSpPr/>
          <p:nvPr/>
        </p:nvSpPr>
        <p:spPr>
          <a:xfrm>
            <a:off x="10317175" y="270571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Shape 25"/>
          <p:cNvSpPr/>
          <p:nvPr/>
        </p:nvSpPr>
        <p:spPr>
          <a:xfrm>
            <a:off x="6210148" y="3126334"/>
            <a:ext cx="5570068" cy="1668257"/>
          </a:xfrm>
          <a:prstGeom prst="roundRect">
            <a:avLst>
              <a:gd name="adj" fmla="val 2741"/>
            </a:avLst>
          </a:prstGeom>
          <a:solidFill>
            <a:srgbClr val="FFFFFF"/>
          </a:solidFill>
          <a:ln w="9525">
            <a:solidFill>
              <a:srgbClr val="DDD3EC"/>
            </a:solidFill>
            <a:prstDash val="solid"/>
          </a:ln>
        </p:spPr>
      </p:sp>
      <p:sp>
        <p:nvSpPr>
          <p:cNvPr id="28" name="Text 26"/>
          <p:cNvSpPr/>
          <p:nvPr/>
        </p:nvSpPr>
        <p:spPr>
          <a:xfrm>
            <a:off x="6347308" y="3199486"/>
            <a:ext cx="4792828" cy="1302497"/>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Sodium hydroxide solution is added to copper chloride solution. A </a:t>
            </a:r>
            <a:r>
              <a:rPr lang="en-US" sz="1200" b="1" dirty="0">
                <a:solidFill>
                  <a:srgbClr val="262B3A"/>
                </a:solidFill>
                <a:latin typeface="Calibri" pitchFamily="34" charset="0"/>
                <a:ea typeface="Calibri" pitchFamily="34" charset="-122"/>
                <a:cs typeface="Calibri" pitchFamily="34" charset="-120"/>
              </a:rPr>
              <a:t>blue precipitate</a:t>
            </a:r>
            <a:r>
              <a:rPr lang="en-US" sz="1200" dirty="0">
                <a:solidFill>
                  <a:srgbClr val="262B3A"/>
                </a:solidFill>
                <a:latin typeface="Calibri" pitchFamily="34" charset="0"/>
                <a:ea typeface="Calibri" pitchFamily="34" charset="-122"/>
                <a:cs typeface="Calibri" pitchFamily="34" charset="-120"/>
              </a:rPr>
              <a:t> forms. Name the precipitate and write the </a:t>
            </a:r>
            <a:r>
              <a:rPr lang="en-US" sz="1200" b="1" dirty="0">
                <a:solidFill>
                  <a:srgbClr val="262B3A"/>
                </a:solidFill>
                <a:latin typeface="Calibri" pitchFamily="34" charset="0"/>
                <a:ea typeface="Calibri" pitchFamily="34" charset="-122"/>
                <a:cs typeface="Calibri" pitchFamily="34" charset="-120"/>
              </a:rPr>
              <a:t>ionic equation</a:t>
            </a:r>
            <a:r>
              <a:rPr lang="en-US" sz="1200" dirty="0">
                <a:solidFill>
                  <a:srgbClr val="262B3A"/>
                </a:solidFill>
                <a:latin typeface="Calibri" pitchFamily="34" charset="0"/>
                <a:ea typeface="Calibri" pitchFamily="34" charset="-122"/>
                <a:cs typeface="Calibri" pitchFamily="34" charset="-120"/>
              </a:rPr>
              <a:t>, with state symbols.</a:t>
            </a:r>
            <a:endParaRPr lang="en-US" sz="1200" dirty="0"/>
          </a:p>
        </p:txBody>
      </p:sp>
      <p:sp>
        <p:nvSpPr>
          <p:cNvPr id="29" name="Shape 27"/>
          <p:cNvSpPr/>
          <p:nvPr/>
        </p:nvSpPr>
        <p:spPr>
          <a:xfrm>
            <a:off x="11231575" y="3199486"/>
            <a:ext cx="411480" cy="274320"/>
          </a:xfrm>
          <a:prstGeom prst="roundRect">
            <a:avLst>
              <a:gd name="adj" fmla="val 50000"/>
            </a:avLst>
          </a:prstGeom>
          <a:solidFill>
            <a:srgbClr val="C8414C"/>
          </a:solidFill>
          <a:ln w="12700">
            <a:solidFill>
              <a:srgbClr val="C8414C"/>
            </a:solidFill>
            <a:prstDash val="solid"/>
          </a:ln>
        </p:spPr>
      </p:sp>
      <p:sp>
        <p:nvSpPr>
          <p:cNvPr id="30" name="Text 28"/>
          <p:cNvSpPr/>
          <p:nvPr/>
        </p:nvSpPr>
        <p:spPr>
          <a:xfrm>
            <a:off x="11231575" y="319948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1" name="Text 29"/>
          <p:cNvSpPr/>
          <p:nvPr/>
        </p:nvSpPr>
        <p:spPr>
          <a:xfrm>
            <a:off x="10317175" y="4483695"/>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32" name="Shape 30"/>
          <p:cNvSpPr/>
          <p:nvPr/>
        </p:nvSpPr>
        <p:spPr>
          <a:xfrm>
            <a:off x="6210148" y="4904319"/>
            <a:ext cx="5570068" cy="1359321"/>
          </a:xfrm>
          <a:prstGeom prst="roundRect">
            <a:avLst>
              <a:gd name="adj" fmla="val 3363"/>
            </a:avLst>
          </a:prstGeom>
          <a:solidFill>
            <a:srgbClr val="F8F5FC"/>
          </a:solidFill>
          <a:ln w="9525">
            <a:solidFill>
              <a:srgbClr val="DDD3EC"/>
            </a:solidFill>
            <a:prstDash val="solid"/>
          </a:ln>
        </p:spPr>
      </p:sp>
      <p:sp>
        <p:nvSpPr>
          <p:cNvPr id="33" name="Text 31"/>
          <p:cNvSpPr/>
          <p:nvPr/>
        </p:nvSpPr>
        <p:spPr>
          <a:xfrm>
            <a:off x="6347308" y="4977471"/>
            <a:ext cx="5295748" cy="993561"/>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The student repeats the electrolysis with </a:t>
            </a:r>
            <a:r>
              <a:rPr lang="en-US" sz="1200" b="1" dirty="0">
                <a:solidFill>
                  <a:srgbClr val="262B3A"/>
                </a:solidFill>
                <a:latin typeface="Calibri" pitchFamily="34" charset="0"/>
                <a:ea typeface="Calibri" pitchFamily="34" charset="-122"/>
                <a:cs typeface="Calibri" pitchFamily="34" charset="-120"/>
              </a:rPr>
              <a:t>sodium chloride solution</a:t>
            </a:r>
            <a:r>
              <a:rPr lang="en-US" sz="1200" dirty="0">
                <a:solidFill>
                  <a:srgbClr val="262B3A"/>
                </a:solidFill>
                <a:latin typeface="Calibri" pitchFamily="34" charset="0"/>
                <a:ea typeface="Calibri" pitchFamily="34" charset="-122"/>
                <a:cs typeface="Calibri" pitchFamily="34" charset="-120"/>
              </a:rPr>
              <a:t>. Explain why hydrogen, not sodium, is produced at the cathode.</a:t>
            </a:r>
            <a:endParaRPr lang="en-US" sz="1200" dirty="0"/>
          </a:p>
        </p:txBody>
      </p:sp>
      <p:sp>
        <p:nvSpPr>
          <p:cNvPr id="34" name="Text 32"/>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5" name="Text 33"/>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5A3590"/>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5B3A8C"/>
          </a:solidFill>
          <a:ln w="12700">
            <a:solidFill>
              <a:srgbClr val="5B3A8C"/>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5A3590"/>
          </a:solidFill>
          <a:ln w="12700">
            <a:solidFill>
              <a:srgbClr val="5A3590"/>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DE6F8"/>
                </a:solidFill>
                <a:latin typeface="Calibri" pitchFamily="34" charset="0"/>
                <a:ea typeface="Calibri" pitchFamily="34" charset="-122"/>
                <a:cs typeface="Calibri" pitchFamily="34" charset="-120"/>
              </a:rPr>
              <a:t>Topic 3 Chemical changes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C3B4DA"/>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C3B4DA"/>
                </a:solidFill>
                <a:latin typeface="Calibri" pitchFamily="34" charset="0"/>
                <a:ea typeface="Calibri" pitchFamily="34" charset="-122"/>
                <a:cs typeface="Calibri" pitchFamily="34" charset="-120"/>
              </a:rPr>
              <a:t>Homework  |  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Chemistry (1CH0) | Topic 3 Chemical changes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43</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every question. Questions 2–4 are Higher tier; show state symbols in all equations.</a:t>
            </a:r>
            <a:endParaRPr lang="en-US" sz="1150" dirty="0"/>
          </a:p>
        </p:txBody>
      </p:sp>
      <p:sp>
        <p:nvSpPr>
          <p:cNvPr id="9" name="Shape 7"/>
          <p:cNvSpPr/>
          <p:nvPr/>
        </p:nvSpPr>
        <p:spPr>
          <a:xfrm>
            <a:off x="411480" y="1517904"/>
            <a:ext cx="5570068" cy="1127439"/>
          </a:xfrm>
          <a:prstGeom prst="roundRect">
            <a:avLst>
              <a:gd name="adj" fmla="val 4055"/>
            </a:avLst>
          </a:prstGeom>
          <a:solidFill>
            <a:srgbClr val="F8F5FC"/>
          </a:solidFill>
          <a:ln w="9525">
            <a:solidFill>
              <a:srgbClr val="DDD3EC"/>
            </a:solidFill>
            <a:prstDash val="solid"/>
          </a:ln>
        </p:spPr>
      </p:sp>
      <p:sp>
        <p:nvSpPr>
          <p:cNvPr id="10" name="Text 8"/>
          <p:cNvSpPr/>
          <p:nvPr/>
        </p:nvSpPr>
        <p:spPr>
          <a:xfrm>
            <a:off x="548640" y="1591056"/>
            <a:ext cx="5295748" cy="779967"/>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State the colour of </a:t>
            </a:r>
            <a:r>
              <a:rPr lang="en-US" sz="1150" b="1" dirty="0">
                <a:solidFill>
                  <a:srgbClr val="262B3A"/>
                </a:solidFill>
                <a:latin typeface="Calibri" pitchFamily="34" charset="0"/>
                <a:ea typeface="Calibri" pitchFamily="34" charset="-122"/>
                <a:cs typeface="Calibri" pitchFamily="34" charset="-120"/>
              </a:rPr>
              <a:t>phenolphthalein</a:t>
            </a:r>
            <a:r>
              <a:rPr lang="en-US" sz="1150" dirty="0">
                <a:solidFill>
                  <a:srgbClr val="262B3A"/>
                </a:solidFill>
                <a:latin typeface="Calibri" pitchFamily="34" charset="0"/>
                <a:ea typeface="Calibri" pitchFamily="34" charset="-122"/>
                <a:cs typeface="Calibri" pitchFamily="34" charset="-120"/>
              </a:rPr>
              <a:t> in sodium hydroxide solution.</a:t>
            </a:r>
            <a:endParaRPr lang="en-US" sz="1150" dirty="0"/>
          </a:p>
        </p:txBody>
      </p:sp>
      <p:sp>
        <p:nvSpPr>
          <p:cNvPr id="11" name="Text 9"/>
          <p:cNvSpPr/>
          <p:nvPr/>
        </p:nvSpPr>
        <p:spPr>
          <a:xfrm>
            <a:off x="4518508" y="2352735"/>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55071"/>
            <a:ext cx="5570068" cy="1449565"/>
          </a:xfrm>
          <a:prstGeom prst="roundRect">
            <a:avLst>
              <a:gd name="adj" fmla="val 3154"/>
            </a:avLst>
          </a:prstGeom>
          <a:solidFill>
            <a:srgbClr val="F8F5FC"/>
          </a:solidFill>
          <a:ln w="9525">
            <a:solidFill>
              <a:srgbClr val="DDD3EC"/>
            </a:solidFill>
            <a:prstDash val="solid"/>
          </a:ln>
        </p:spPr>
      </p:sp>
      <p:sp>
        <p:nvSpPr>
          <p:cNvPr id="13" name="Text 11"/>
          <p:cNvSpPr/>
          <p:nvPr/>
        </p:nvSpPr>
        <p:spPr>
          <a:xfrm>
            <a:off x="548640" y="2828223"/>
            <a:ext cx="4792828" cy="1102093"/>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The pH of a solution changes from </a:t>
            </a:r>
            <a:r>
              <a:rPr lang="en-US" sz="1150" b="1" dirty="0">
                <a:solidFill>
                  <a:srgbClr val="262B3A"/>
                </a:solidFill>
                <a:latin typeface="Calibri" pitchFamily="34" charset="0"/>
                <a:ea typeface="Calibri" pitchFamily="34" charset="-122"/>
                <a:cs typeface="Calibri" pitchFamily="34" charset="-120"/>
              </a:rPr>
              <a:t>2</a:t>
            </a:r>
            <a:r>
              <a:rPr lang="en-US" sz="1150" dirty="0">
                <a:solidFill>
                  <a:srgbClr val="262B3A"/>
                </a:solidFill>
                <a:latin typeface="Calibri" pitchFamily="34" charset="0"/>
                <a:ea typeface="Calibri" pitchFamily="34" charset="-122"/>
                <a:cs typeface="Calibri" pitchFamily="34" charset="-120"/>
              </a:rPr>
              <a:t> to </a:t>
            </a:r>
            <a:r>
              <a:rPr lang="en-US" sz="1150" b="1" dirty="0">
                <a:solidFill>
                  <a:srgbClr val="262B3A"/>
                </a:solidFill>
                <a:latin typeface="Calibri" pitchFamily="34" charset="0"/>
                <a:ea typeface="Calibri" pitchFamily="34" charset="-122"/>
                <a:cs typeface="Calibri" pitchFamily="34" charset="-120"/>
              </a:rPr>
              <a:t>4</a:t>
            </a:r>
            <a:r>
              <a:rPr lang="en-US" sz="1150" dirty="0">
                <a:solidFill>
                  <a:srgbClr val="262B3A"/>
                </a:solidFill>
                <a:latin typeface="Calibri" pitchFamily="34" charset="0"/>
                <a:ea typeface="Calibri" pitchFamily="34" charset="-122"/>
                <a:cs typeface="Calibri" pitchFamily="34" charset="-120"/>
              </a:rPr>
              <a:t>. Describe how the concentration of hydrogen ions has changed.</a:t>
            </a:r>
            <a:endParaRPr lang="en-US" sz="1150" dirty="0"/>
          </a:p>
        </p:txBody>
      </p:sp>
      <p:sp>
        <p:nvSpPr>
          <p:cNvPr id="14" name="Shape 12"/>
          <p:cNvSpPr/>
          <p:nvPr/>
        </p:nvSpPr>
        <p:spPr>
          <a:xfrm>
            <a:off x="5432908" y="2828223"/>
            <a:ext cx="411480" cy="274320"/>
          </a:xfrm>
          <a:prstGeom prst="roundRect">
            <a:avLst>
              <a:gd name="adj" fmla="val 50000"/>
            </a:avLst>
          </a:prstGeom>
          <a:solidFill>
            <a:srgbClr val="C8414C"/>
          </a:solidFill>
          <a:ln w="12700">
            <a:solidFill>
              <a:srgbClr val="C8414C"/>
            </a:solidFill>
            <a:prstDash val="solid"/>
          </a:ln>
        </p:spPr>
      </p:sp>
      <p:sp>
        <p:nvSpPr>
          <p:cNvPr id="15" name="Text 13"/>
          <p:cNvSpPr/>
          <p:nvPr/>
        </p:nvSpPr>
        <p:spPr>
          <a:xfrm>
            <a:off x="5432908" y="2828223"/>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6" name="Text 14"/>
          <p:cNvSpPr/>
          <p:nvPr/>
        </p:nvSpPr>
        <p:spPr>
          <a:xfrm>
            <a:off x="4518508" y="3912028"/>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7" name="Shape 15"/>
          <p:cNvSpPr/>
          <p:nvPr/>
        </p:nvSpPr>
        <p:spPr>
          <a:xfrm>
            <a:off x="411480" y="4314364"/>
            <a:ext cx="5570068" cy="2013284"/>
          </a:xfrm>
          <a:prstGeom prst="roundRect">
            <a:avLst>
              <a:gd name="adj" fmla="val 2271"/>
            </a:avLst>
          </a:prstGeom>
          <a:solidFill>
            <a:srgbClr val="F8F5FC"/>
          </a:solidFill>
          <a:ln w="9525">
            <a:solidFill>
              <a:srgbClr val="DDD3EC"/>
            </a:solidFill>
            <a:prstDash val="solid"/>
          </a:ln>
        </p:spPr>
      </p:sp>
      <p:sp>
        <p:nvSpPr>
          <p:cNvPr id="18" name="Text 16"/>
          <p:cNvSpPr/>
          <p:nvPr/>
        </p:nvSpPr>
        <p:spPr>
          <a:xfrm>
            <a:off x="548640" y="4387516"/>
            <a:ext cx="4792828" cy="1665812"/>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Zinc reacts with dilute sulfuric acid to form zinc sulfate solution and hydrogen. Write the balanced equation </a:t>
            </a:r>
            <a:r>
              <a:rPr lang="en-US" sz="1150" b="1" dirty="0">
                <a:solidFill>
                  <a:srgbClr val="262B3A"/>
                </a:solidFill>
                <a:latin typeface="Calibri" pitchFamily="34" charset="0"/>
                <a:ea typeface="Calibri" pitchFamily="34" charset="-122"/>
                <a:cs typeface="Calibri" pitchFamily="34" charset="-120"/>
              </a:rPr>
              <a:t>and</a:t>
            </a:r>
            <a:r>
              <a:rPr lang="en-US" sz="1150" dirty="0">
                <a:solidFill>
                  <a:srgbClr val="262B3A"/>
                </a:solidFill>
                <a:latin typeface="Calibri" pitchFamily="34" charset="0"/>
                <a:ea typeface="Calibri" pitchFamily="34" charset="-122"/>
                <a:cs typeface="Calibri" pitchFamily="34" charset="-120"/>
              </a:rPr>
              <a:t> the ionic equation, with state symbols.</a:t>
            </a:r>
            <a:endParaRPr lang="en-US" sz="1150" dirty="0"/>
          </a:p>
        </p:txBody>
      </p:sp>
      <p:sp>
        <p:nvSpPr>
          <p:cNvPr id="19" name="Shape 17"/>
          <p:cNvSpPr/>
          <p:nvPr/>
        </p:nvSpPr>
        <p:spPr>
          <a:xfrm>
            <a:off x="5432908" y="4387516"/>
            <a:ext cx="411480" cy="274320"/>
          </a:xfrm>
          <a:prstGeom prst="roundRect">
            <a:avLst>
              <a:gd name="adj" fmla="val 50000"/>
            </a:avLst>
          </a:prstGeom>
          <a:solidFill>
            <a:srgbClr val="C8414C"/>
          </a:solidFill>
          <a:ln w="12700">
            <a:solidFill>
              <a:srgbClr val="C8414C"/>
            </a:solidFill>
            <a:prstDash val="solid"/>
          </a:ln>
        </p:spPr>
      </p:sp>
      <p:sp>
        <p:nvSpPr>
          <p:cNvPr id="20" name="Text 18"/>
          <p:cNvSpPr/>
          <p:nvPr/>
        </p:nvSpPr>
        <p:spPr>
          <a:xfrm>
            <a:off x="5432908" y="438751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1" name="Text 19"/>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2" name="Shape 20"/>
          <p:cNvSpPr/>
          <p:nvPr/>
        </p:nvSpPr>
        <p:spPr>
          <a:xfrm>
            <a:off x="6210148" y="1517904"/>
            <a:ext cx="5570068" cy="1311511"/>
          </a:xfrm>
          <a:prstGeom prst="roundRect">
            <a:avLst>
              <a:gd name="adj" fmla="val 3486"/>
            </a:avLst>
          </a:prstGeom>
          <a:solidFill>
            <a:srgbClr val="F8F5FC"/>
          </a:solidFill>
          <a:ln w="9525">
            <a:solidFill>
              <a:srgbClr val="DDD3EC"/>
            </a:solidFill>
            <a:prstDash val="solid"/>
          </a:ln>
        </p:spPr>
      </p:sp>
      <p:sp>
        <p:nvSpPr>
          <p:cNvPr id="23" name="Text 21"/>
          <p:cNvSpPr/>
          <p:nvPr/>
        </p:nvSpPr>
        <p:spPr>
          <a:xfrm>
            <a:off x="6347308" y="1591056"/>
            <a:ext cx="4792828" cy="964039"/>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Molten potassium bromide is electrolysed. Write the half equation at each electrode and state which is </a:t>
            </a:r>
            <a:r>
              <a:rPr lang="en-US" sz="1150" b="1" dirty="0">
                <a:solidFill>
                  <a:srgbClr val="262B3A"/>
                </a:solidFill>
                <a:latin typeface="Calibri" pitchFamily="34" charset="0"/>
                <a:ea typeface="Calibri" pitchFamily="34" charset="-122"/>
                <a:cs typeface="Calibri" pitchFamily="34" charset="-120"/>
              </a:rPr>
              <a:t>oxidation</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4" name="Shape 22"/>
          <p:cNvSpPr/>
          <p:nvPr/>
        </p:nvSpPr>
        <p:spPr>
          <a:xfrm>
            <a:off x="11231575" y="1591056"/>
            <a:ext cx="411480" cy="274320"/>
          </a:xfrm>
          <a:prstGeom prst="roundRect">
            <a:avLst>
              <a:gd name="adj" fmla="val 50000"/>
            </a:avLst>
          </a:prstGeom>
          <a:solidFill>
            <a:srgbClr val="C8414C"/>
          </a:solidFill>
          <a:ln w="12700">
            <a:solidFill>
              <a:srgbClr val="C8414C"/>
            </a:solidFill>
            <a:prstDash val="solid"/>
          </a:ln>
        </p:spPr>
      </p:sp>
      <p:sp>
        <p:nvSpPr>
          <p:cNvPr id="25" name="Text 23"/>
          <p:cNvSpPr/>
          <p:nvPr/>
        </p:nvSpPr>
        <p:spPr>
          <a:xfrm>
            <a:off x="11231575" y="159105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6" name="Text 24"/>
          <p:cNvSpPr/>
          <p:nvPr/>
        </p:nvSpPr>
        <p:spPr>
          <a:xfrm>
            <a:off x="10317175" y="2536807"/>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7" name="Shape 25"/>
          <p:cNvSpPr/>
          <p:nvPr/>
        </p:nvSpPr>
        <p:spPr>
          <a:xfrm>
            <a:off x="6210148" y="2939143"/>
            <a:ext cx="5570068" cy="1245935"/>
          </a:xfrm>
          <a:prstGeom prst="roundRect">
            <a:avLst>
              <a:gd name="adj" fmla="val 3670"/>
            </a:avLst>
          </a:prstGeom>
          <a:solidFill>
            <a:srgbClr val="F8F5FC"/>
          </a:solidFill>
          <a:ln w="9525">
            <a:solidFill>
              <a:srgbClr val="DDD3EC"/>
            </a:solidFill>
            <a:prstDash val="solid"/>
          </a:ln>
        </p:spPr>
      </p:sp>
      <p:sp>
        <p:nvSpPr>
          <p:cNvPr id="28" name="Text 26"/>
          <p:cNvSpPr/>
          <p:nvPr/>
        </p:nvSpPr>
        <p:spPr>
          <a:xfrm>
            <a:off x="6347308" y="3012295"/>
            <a:ext cx="5295748" cy="898463"/>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Predict whether a precipitate forms; name any precipitate.</a:t>
            </a:r>
            <a:endParaRPr lang="en-US" sz="1150" dirty="0"/>
          </a:p>
          <a:p>
            <a:pPr indent="0" marL="0">
              <a:buNone/>
            </a:pPr>
            <a:r>
              <a:rPr lang="en-US" sz="1150" dirty="0">
                <a:solidFill>
                  <a:srgbClr val="262B3A"/>
                </a:solidFill>
                <a:latin typeface="Calibri" pitchFamily="34" charset="0"/>
                <a:ea typeface="Calibri" pitchFamily="34" charset="-122"/>
                <a:cs typeface="Calibri" pitchFamily="34" charset="-120"/>
              </a:rPr>
              <a:t>(a) barium nitrate + potassium sulfate   (b) sodium chloride + potassium nitrate</a:t>
            </a:r>
            <a:endParaRPr lang="en-US" sz="1150" dirty="0"/>
          </a:p>
        </p:txBody>
      </p:sp>
      <p:sp>
        <p:nvSpPr>
          <p:cNvPr id="29" name="Text 27"/>
          <p:cNvSpPr/>
          <p:nvPr/>
        </p:nvSpPr>
        <p:spPr>
          <a:xfrm>
            <a:off x="10317175" y="389247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0" name="Shape 28"/>
          <p:cNvSpPr/>
          <p:nvPr/>
        </p:nvSpPr>
        <p:spPr>
          <a:xfrm>
            <a:off x="6210148" y="4294806"/>
            <a:ext cx="5570068" cy="2032842"/>
          </a:xfrm>
          <a:prstGeom prst="roundRect">
            <a:avLst>
              <a:gd name="adj" fmla="val 2249"/>
            </a:avLst>
          </a:prstGeom>
          <a:solidFill>
            <a:srgbClr val="FFF4E0"/>
          </a:solidFill>
          <a:ln w="9525">
            <a:solidFill>
              <a:srgbClr val="F1D9A8"/>
            </a:solidFill>
            <a:prstDash val="solid"/>
          </a:ln>
        </p:spPr>
      </p:sp>
      <p:sp>
        <p:nvSpPr>
          <p:cNvPr id="31" name="Text 29"/>
          <p:cNvSpPr/>
          <p:nvPr/>
        </p:nvSpPr>
        <p:spPr>
          <a:xfrm>
            <a:off x="6347308" y="4367958"/>
            <a:ext cx="5295748" cy="1685370"/>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Describe how to prepare a pure, dry sample of </a:t>
            </a:r>
            <a:r>
              <a:rPr lang="en-US" sz="1150" b="1" dirty="0">
                <a:solidFill>
                  <a:srgbClr val="262B3A"/>
                </a:solidFill>
                <a:latin typeface="Calibri" pitchFamily="34" charset="0"/>
                <a:ea typeface="Calibri" pitchFamily="34" charset="-122"/>
                <a:cs typeface="Calibri" pitchFamily="34" charset="-120"/>
              </a:rPr>
              <a:t>hydrated copper sulfate crystals</a:t>
            </a:r>
            <a:r>
              <a:rPr lang="en-US" sz="1150" dirty="0">
                <a:solidFill>
                  <a:srgbClr val="262B3A"/>
                </a:solidFill>
                <a:latin typeface="Calibri" pitchFamily="34" charset="0"/>
                <a:ea typeface="Calibri" pitchFamily="34" charset="-122"/>
                <a:cs typeface="Calibri" pitchFamily="34" charset="-120"/>
              </a:rPr>
              <a:t> from copper oxide and dilute sulfuric acid. Explain the purpose of each step.</a:t>
            </a:r>
            <a:endParaRPr lang="en-US" sz="1150" dirty="0"/>
          </a:p>
        </p:txBody>
      </p:sp>
      <p:sp>
        <p:nvSpPr>
          <p:cNvPr id="32" name="Text 30"/>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Edexcel 1CH0 Topic 3 Chemical changes</dc:title>
  <dc:subject>PptxGenJS Presentation</dc:subject>
  <dc:creator>GCSE Chemistry</dc:creator>
  <cp:lastModifiedBy>GCSE Chemistry</cp:lastModifiedBy>
  <cp:revision>1</cp:revision>
  <dcterms:created xsi:type="dcterms:W3CDTF">2026-11-01T14:48:23Z</dcterms:created>
  <dcterms:modified xsi:type="dcterms:W3CDTF">2026-11-01T14:48:23Z</dcterms:modified>
</cp:coreProperties>
</file>