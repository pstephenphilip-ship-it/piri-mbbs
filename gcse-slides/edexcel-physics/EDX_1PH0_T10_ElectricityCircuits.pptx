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10 Electricity and circuits (Paper 2). Every statement 10.1–10.43 is also in Combined Science 1SC0, and no statement in this topic is marked H (Higher only) in our spec check – see SPEC_T10.md for confidence notes. Static electricity is Topic 11 (physics only) and is not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objectives are in both 1PH0 and Combined Science 1SC0. No Topic 10 statement is Higher-only in our spec check (medium confidence – see SPEC_T10.md), so there are no HT pills in this deck. Grade 7–9 stretch content is marked with a red STRETCH 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Physics-only statements: none (all of Topic 10 is shared with 1SC0). Higher-only statements: none found (medium confidence – check the bold H markers in the Pearson spec PDF before publishing; see SPEC_T10.md).
Static electricity is Topic 11 (physics only) and magnetism is Topic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2500 W; 180 s.
2. Proton +1, neutron 0, electron −1.
3. The thermal energy store of the water.
4. 400/500 = 0.8 (80%).
5. P = E/t = 600/20 = 30 W.
6. F = k × x = 50 × 0.04 = 2.0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see the panel. An LED is a diode with two arrows pointing OUT (it emits light).
Spec 10.2 lists cells, batteries, switches, voltmeters, ammeters, resistors, variable resistors, lamps, motors, diodes, thermistors, LDRs and LEDs. The fuse symbol is added for 10.41.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Series – removing one bulb breaks the single loop, so there is no current anywhere.
10.10: a closed circuit that includes a source of p.d. has a current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Q = 3.0 × 50 = 150 C. I = Q/t = 60/30 = 2.0 A.
10.1 atom structure (position, mass and charge of protons, neutrons and electrons) is included here because it explains why metals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[2]: Series: one loop / parallel: more than one branch or path (1); series: same current everywhere / one break stops all components; parallel: each branch works independently / same p.d. across each branch (1).
Q2 [2]: Current is the rate of flow of charge (1); carried by (free/delocalised) electrons (1).
Q3 [3]: t = 180 s (1); Q = I × t = 0.40 × 180 (1); = 72 C (1, unit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ammeter in series with the resistor (in the same loop); voltmeter in parallel, connected across the two ends of the resistor.
10.16: series circuits for testing and measuring – a single loop so the ammeter reading is the current in the component under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Q = E ÷ V = 90 ÷ 1.5 = 60 C.
The diagram previews the series rule: the supply p.d. is shared (6 V + 6 V = 12 V for identical lamps).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 = V ÷ I = 12 ÷ 0.50 = 24 Ω.
Table checked in node: 6.0/10 = 0.60 A, 6.0/20 = 0.30 A, 6.0/30 = 0.20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Ammeter in series with the lamp (1); voltmeter in parallel / across the lamp (1).
Q2 [3]: Q = E/V (1); = 540/9.0 (1); = 60 C (1).
Q3 [3]: R = V/I (1); = 6.0/0.25 (1); = 24 Ω (1, unit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 = 45 Ω; I = 9.0/45 = 0.20 A; V = 0.20 × 30 = 6.0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0.40 + 0.25 = 0.65 A; 3.0 V across each branch.
10.11: recall that current is conserved at a junction.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Total resistance decreases (another path for charge) so the current from the supply increases (each branch still has the full p.d.).
Stretch value checked: 6.0/0.90 = 6.667 Ω = 1/(1/10 + 1/20). Edexcel 10.14 asks for an explanation only; 1/R = 1/R₁ + 1/R₂ is not required at GCSE.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[4]: R = 60 Ω (1); I = 12/60 = 0.20 A (1); V = I × R = 0.20 × 40 (1); = 8.0 V (1).
Q2 [1]: 0.50 A (1).
Q3 [3]: Provides an extra path / branch for the charge (1); so more charge flows per second / total current increases (1); for the same p.d., so R = V/I is smaller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variable resistor changes the current (and so the p.d. across the test component) so a range of readings can be taken. The voltmeter must be in parallel across the component to measure the p.d. across it; in series it would stop the current (very high resistance).
Apparatus: battery or low-voltage d.c. supply, switch, variable resistor (rheostat), ammeter, voltmeter, resistor, 6 V filament lamp, connecting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IV = p.d. across the component; DV = current through it. Temperature is controlled because the resistance of a metal increases as it gets hotter, which would change the results for a fixed resistor.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2.0/0.20 = 10 Ω; 6.0/0.30 = 20 Ω. The resistance increases as the p.d. (and so the temperature of the filament) increases.
Sample data from models checked in node: resistor I = V/20; lamp I = V/(5 + 2.5V), rounded to 2 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resistor warms up so its resistance increases; at higher p.d.s the current would be lower than expected, so the line would curve slightly towards the p.d. axis instead of being straight.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7 marks)
Q1 [3]: Ammeter in series with the lamp (1); voltmeter in parallel across the lamp (1); variable resistor changes the current / p.d. so a range of readings can be taken (1).
Q2 [2]: R = V/I = 4.0/0.25 (1); = 16 Ω (1).
Q3 [2]: Current heats the resistor / it gets hot (1); its resistance would change / increase, so it would not be a fair test (temperature is a control variable)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S-shaped curve through the origin, flattening at high positive and negative p.d. As the current increases the filament gets hotter; ions vibrate more, electrons collide more, so resistance increases and the current rises less for each extra volt.
Models plotted: resistor I = V/20; lamp I = V/(5 + 2.5|V|).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Almost no current flows in the reverse direction, so the diode has a very high resistance in reverse (and a low resistance forward, above about 0.6 V).
Model: I = A(e^(V/0.045) − 1) mA, scaled so I(0.75 V) = 30 mA; I(0.6 V) = 1.07 mA, I(0.7 V) = 9.9 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Its resistance decreases (NTC) so the current through it increases (for the same p.d.). From the graph: about 22 kΩ at 5 °C to 10 kΩ at 25 °C.
Models: LDR R = 100 L^-0.7 kΩ; thermistor R = 10 e^(-(T-25)/25) kΩ.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Move a lamp to measured distances from the LDR (or use a light meter) in a darkened room. Control: the same lamp / same p.d. of supply / same LDR / no other light sources.
Worked check: 6.0/0.00050 = 12000 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7 marks)
Q1 [3]: Curve through the origin that gets less steep / S-shape (1); as current increases the filament gets hotter (1); so its resistance increases (ions vibrate more, more collisions) (1).
Q2 [2]: Current flows in one (forward) direction only / once p.d. above about 0.6 V (1); (almost) no current in the reverse direction – very high resistance (1).
Q3 [2]: Resistance decreases as temperature increases (1); any one: thermostat / fire alarm / temperature sensor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When the wire is hotter the ions vibrate more (with greater amplitude) (1), so the electrons collide with them more often / their flow is impeded more (1), so the resistance increases.
10.22 recall; 10.23 energy dissipated as thermal energy in the surroundings; 10.24 collisions between electrons and ions in the lattice.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Advantage – e.g. used in kettles/heaters/toasters, fuses. Disadvantage – e.g. energy wasted in wires/devices (reduces efficiency), overheating/fire risk.
10.25: ways of reducing unwanted energy transfer through low-resistance wires.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 = E ÷ t = 1800 ÷ 60 = 30 W.
Worked: 9.0 × 230 × 120 = 248400 J. Each second: 9.0 × 230 = 2070 J → 2070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 = 0.50² × 12 = 0.25 × 12 = 3.0 W.
Common error: 0.50 × 12 = 6 W (forgot to square). Hairdryer: 1150 W.
Stretch idea: a 10 A current in a cable of resistance 0.20 Ω wastes 10² × 0.20 = 20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7 marks)
Q1 [2]: Electrons collide with ions in the (metal) lattice (1); energy transferred to the ions / they vibrate more, so the thermal energy store / temperature increases (1).
Q2 [2]: P = I × V = 4.0 × 230 (1); = 920 W (1).
Q3 [3]: P = I²R = 2.0² × 15 = 60 W (1); t = 300 s (1); E = P × t = 60 × 300 = 18 000 J (1). Allow E = I × V × t with V = 30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battery d.c. (one direction) vs mains a.c. (changes direction); battery small p.d. (e.g. 1.5–12 V) vs mains about 230 V; mains 50 Hz.
The a.c. trace peaks at about 325 V: 230 V is the effective (r.m.s.) value – not needed at GCSE.
10.33 (energy from batteries and a.c. mains to motors and heating devices) is covered here and on the power-ratings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live – brown – about 230 V; neutral – blue – about 0 V; earth – green and yellow stripes – 0 V.
10.38 difference in potential between live and neutral; 10.39 danger of any connection between live and earth; 10.43 p.d. between live and earth about 230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If the fuse melted in the neutral wire, the appliance would still be connected to the live wire at 230 V, so touching it could still give a shock. In the live wire, a melted fuse disconnects the appliance from the high p.d.
Fuse calc: 2300/230 = 10 A → 13 A. (A 60 W lamp: 60/230 ≈ 0.26 A → 3 A fuse.)
Edexcel 10.41 says "fuses or circuit breakers"; no tier marker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 = P × t = 10 × 3600 = 36 000 J.
10.33: in different domestic devices energy is transferred from batteries and the a.c. mains to the energy of motors and heating devices. 10.40: power ratings and the changes in stored energy. Efficiency links back to Topic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7 (total 8 marks)
Q1 [2]: d.c.: charge flows in one direction only (1); a.c.: the direction of flow of charge changes / keeps reversing (1).
Q2 [2]: 50 Hz (1); about 230 V (1).
Q3 [4]: Earth wire connects the case to earth / provides a low-resistance path (1); a large current flows through the live and earth wires (1); the fuse melts / blows (1); this breaks the circuit / disconnects the live wire so the case is no longer live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self-check against the table. Recall list: Q = It, E = QV, V = IR, P = E/t, P = IV, P = I²R. Given on the Physics Equations List: E = I × V × t (spec 10.27 says “use”, not “recall and use”). See SPEC_T10.md for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[1]: variable resistor / rheostat (1).
(b) [2]: R = V/I = 3.0/0.20 (1); = 15 Ω (1).
(c) [2]: Q = I × t = 0.20 × 120 (1); = 24 C (1).
(d) [2]: E = Q × V = 24 × 3.0 (1); = 72 J (1). ECF from (c).
(e) [3]: Larger current makes the filament hotter (1); metal ions vibrate more (1); electrons collide with ions more often, so resistance increases (1).
(f) [3]: P = 0.30² × 20 (1); = 1.8 W (1); P = I × V = 0.30 × 6.0 = 1.8 W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potential difference = current × resistance / V = I × R (1).
2 [2]: I = Q/t = 150/60 (1); = 2.5 A (1).
3 [2]: So that when the switch is off / the fuse melts, the appliance is disconnected from the live wire / high p.d. (1); so there is no danger of a shock from touching it (1).
4 [3]: P = I × V = 8.0 × 230 (1); = 1840 W (1); 13 A fuse – just above the normal current of 8.0 A (1).
5 [3]: t = 600 s (1); E = 3.0 × 12 × 600 (1); = 21 600 J / 2.16 × 10⁴ J (1).
6 [6]: Levels-based mark scheme (6 marks). Answers are marked holistically; use the indicative content below.
Level 0 (0 marks): no rewardable material.
Level 1 (1–2 marks): demonstrates elements of physics understanding, some of which is inaccurate; understanding of scientific ideas lacks detail; presents an explanation with some structure and coherence.
Level 2 (3–4 marks): demonstrates physics understanding which is mostly relevant but may include some inaccuracies; understanding of scientific ideas is not fully detailed and/or developed; presents an explanation that has a structure which is mostly clear, coherent and logical.
Level 3 (5–6 marks): demonstrates accurate and relevant physics understanding throughout; understanding of the scientific ideas is detailed and fully developed; presents an explanation that has a well-developed structure which is clear, coherent and logical.
Indicative content:
 • Circuit: battery / power supply, switch, variable resistor, ammeter in series with the lamp, voltmeter in parallel across the lamp.
 • Adjust the variable resistor to change the p.d. across the lamp.
 • Record pairs of readings of p.d. and current (e.g. 6–8 values from 0 V to 6 V).
 • Reverse the supply connections to get negative values.
 • Repeat readings and calculate means; switch off between readings.
 • Plot a graph of current (y) against p.d. (x); draw a smooth curve of best fit.
 • Calculate R = V ÷ I at several points.
 • Graph is a curve that gets less steep / R increases as the p.d. increases.
 • Because the filament gets hotter, ions vibrate more, more collisions with electrons.
 • Safety: lamp gets hot – do not touch; low-voltage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73152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PEARSON EDEXCEL GCSE PHYSICS (1PH0)</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Topic 10  Electricity and Circuits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Current, potential difference, resistance, power and mains electricity</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Current  •  Potential difference  •  Resistance  •  I–V graphs  •  Power  •  Mains</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10.1–10.43 • Core Practical 10.17 (electrical circuits)</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Grade 7–9 stretch slides are marked</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Topic 10 of 15 • Paper 2</a:t>
            </a:r>
            <a:endParaRPr lang="en-US" sz="1400" dirty="0"/>
          </a:p>
        </p:txBody>
      </p:sp>
      <p:sp>
        <p:nvSpPr>
          <p:cNvPr id="19" name="Text 17"/>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Pearson Edexcel GCSE (9–1) Physics 1PH0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10.1–10.43 • by the end of this 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10.1–10.3, 10.10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atom</a:t>
            </a:r>
            <a:r>
              <a:rPr lang="en-US" sz="1200" dirty="0">
                <a:solidFill>
                  <a:srgbClr val="262B3A"/>
                </a:solidFill>
                <a:latin typeface="Calibri" pitchFamily="34" charset="0"/>
                <a:ea typeface="Calibri" pitchFamily="34" charset="-122"/>
                <a:cs typeface="Calibri" pitchFamily="34" charset="-120"/>
              </a:rPr>
              <a:t>, draw </a:t>
            </a:r>
            <a:r>
              <a:rPr lang="en-US" sz="1200" b="1" dirty="0">
                <a:solidFill>
                  <a:srgbClr val="262B3A"/>
                </a:solidFill>
                <a:latin typeface="Calibri" pitchFamily="34" charset="0"/>
                <a:ea typeface="Calibri" pitchFamily="34" charset="-122"/>
                <a:cs typeface="Calibri" pitchFamily="34" charset="-120"/>
              </a:rPr>
              <a:t>circuit diagrams</a:t>
            </a:r>
            <a:r>
              <a:rPr lang="en-US" sz="1200" dirty="0">
                <a:solidFill>
                  <a:srgbClr val="262B3A"/>
                </a:solidFill>
                <a:latin typeface="Calibri" pitchFamily="34" charset="0"/>
                <a:ea typeface="Calibri" pitchFamily="34" charset="-122"/>
                <a:cs typeface="Calibri" pitchFamily="34" charset="-120"/>
              </a:rPr>
              <a:t> with the correct symbols, and compare </a:t>
            </a:r>
            <a:r>
              <a:rPr lang="en-US" sz="1200" b="1" dirty="0">
                <a:solidFill>
                  <a:srgbClr val="262B3A"/>
                </a:solidFill>
                <a:latin typeface="Calibri" pitchFamily="34" charset="0"/>
                <a:ea typeface="Calibri" pitchFamily="34" charset="-122"/>
                <a:cs typeface="Calibri" pitchFamily="34" charset="-120"/>
              </a:rPr>
              <a:t>series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parallel</a:t>
            </a:r>
            <a:r>
              <a:rPr lang="en-US" sz="1200" dirty="0">
                <a:solidFill>
                  <a:srgbClr val="262B3A"/>
                </a:solidFill>
                <a:latin typeface="Calibri" pitchFamily="34" charset="0"/>
                <a:ea typeface="Calibri" pitchFamily="34" charset="-122"/>
                <a:cs typeface="Calibri" pitchFamily="34" charset="-120"/>
              </a:rPr>
              <a:t> circuits.</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10.4–10.9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current</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potential difference</a:t>
            </a:r>
            <a:r>
              <a:rPr lang="en-US" sz="1200" dirty="0">
                <a:solidFill>
                  <a:srgbClr val="262B3A"/>
                </a:solidFill>
                <a:latin typeface="Calibri" pitchFamily="34" charset="0"/>
                <a:ea typeface="Calibri" pitchFamily="34" charset="-122"/>
                <a:cs typeface="Calibri" pitchFamily="34" charset="-120"/>
              </a:rPr>
              <a:t>; use </a:t>
            </a:r>
            <a:r>
              <a:rPr lang="en-US" sz="1200" b="1" dirty="0">
                <a:solidFill>
                  <a:srgbClr val="262B3A"/>
                </a:solidFill>
                <a:latin typeface="Calibri" pitchFamily="34" charset="0"/>
                <a:ea typeface="Calibri" pitchFamily="34" charset="-122"/>
                <a:cs typeface="Calibri" pitchFamily="34" charset="-120"/>
              </a:rPr>
              <a:t>Q = I × t</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E = Q × V</a:t>
            </a:r>
            <a:r>
              <a:rPr lang="en-US" sz="1200" dirty="0">
                <a:solidFill>
                  <a:srgbClr val="262B3A"/>
                </a:solidFill>
                <a:latin typeface="Calibri" pitchFamily="34" charset="0"/>
                <a:ea typeface="Calibri" pitchFamily="34" charset="-122"/>
                <a:cs typeface="Calibri" pitchFamily="34" charset="-120"/>
              </a:rPr>
              <a:t>; connect ammeters and voltmeters.</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10.11–10.16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V = I × R</a:t>
            </a:r>
            <a:r>
              <a:rPr lang="en-US" sz="1200" dirty="0">
                <a:solidFill>
                  <a:srgbClr val="262B3A"/>
                </a:solidFill>
                <a:latin typeface="Calibri" pitchFamily="34" charset="0"/>
                <a:ea typeface="Calibri" pitchFamily="34" charset="-122"/>
                <a:cs typeface="Calibri" pitchFamily="34" charset="-120"/>
              </a:rPr>
              <a:t>; explain the current, p.d. and resistance rules for </a:t>
            </a:r>
            <a:r>
              <a:rPr lang="en-US" sz="1200" b="1" dirty="0">
                <a:solidFill>
                  <a:srgbClr val="262B3A"/>
                </a:solidFill>
                <a:latin typeface="Calibri" pitchFamily="34" charset="0"/>
                <a:ea typeface="Calibri" pitchFamily="34" charset="-122"/>
                <a:cs typeface="Calibri" pitchFamily="34" charset="-120"/>
              </a:rPr>
              <a:t>series and parallel</a:t>
            </a:r>
            <a:r>
              <a:rPr lang="en-US" sz="1200" dirty="0">
                <a:solidFill>
                  <a:srgbClr val="262B3A"/>
                </a:solidFill>
                <a:latin typeface="Calibri" pitchFamily="34" charset="0"/>
                <a:ea typeface="Calibri" pitchFamily="34" charset="-122"/>
                <a:cs typeface="Calibri" pitchFamily="34" charset="-120"/>
              </a:rPr>
              <a:t> circuits.</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10.17   </a:t>
            </a:r>
            <a:r>
              <a:rPr lang="en-US" sz="1200" b="1" dirty="0">
                <a:solidFill>
                  <a:srgbClr val="262B3A"/>
                </a:solidFill>
                <a:latin typeface="Calibri" pitchFamily="34" charset="0"/>
                <a:ea typeface="Calibri" pitchFamily="34" charset="-122"/>
                <a:cs typeface="Calibri" pitchFamily="34" charset="-120"/>
              </a:rPr>
              <a:t>Core Practical:</a:t>
            </a:r>
            <a:r>
              <a:rPr lang="en-US" sz="1200" dirty="0">
                <a:solidFill>
                  <a:srgbClr val="262B3A"/>
                </a:solidFill>
                <a:latin typeface="Calibri" pitchFamily="34" charset="0"/>
                <a:ea typeface="Calibri" pitchFamily="34" charset="-122"/>
                <a:cs typeface="Calibri" pitchFamily="34" charset="-120"/>
              </a:rPr>
              <a:t> construct circuits to investigate V, I and R for a resistor and a filament lamp; test series and parallel circuits.</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10.18–10.21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I–V graphs</a:t>
            </a:r>
            <a:r>
              <a:rPr lang="en-US" sz="1200" dirty="0">
                <a:solidFill>
                  <a:srgbClr val="262B3A"/>
                </a:solidFill>
                <a:latin typeface="Calibri" pitchFamily="34" charset="0"/>
                <a:ea typeface="Calibri" pitchFamily="34" charset="-122"/>
                <a:cs typeface="Calibri" pitchFamily="34" charset="-120"/>
              </a:rPr>
              <a:t> for a resistor, filament lamp and diode; describe </a:t>
            </a:r>
            <a:r>
              <a:rPr lang="en-US" sz="1200" b="1" dirty="0">
                <a:solidFill>
                  <a:srgbClr val="262B3A"/>
                </a:solidFill>
                <a:latin typeface="Calibri" pitchFamily="34" charset="0"/>
                <a:ea typeface="Calibri" pitchFamily="34" charset="-122"/>
                <a:cs typeface="Calibri" pitchFamily="34" charset="-120"/>
              </a:rPr>
              <a:t>LDRs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thermistors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10.22–10.26   </a:t>
            </a:r>
            <a:r>
              <a:rPr lang="en-US" sz="1200" dirty="0">
                <a:solidFill>
                  <a:srgbClr val="262B3A"/>
                </a:solidFill>
                <a:latin typeface="Calibri" pitchFamily="34" charset="0"/>
                <a:ea typeface="Calibri" pitchFamily="34" charset="-122"/>
                <a:cs typeface="Calibri" pitchFamily="34" charset="-120"/>
              </a:rPr>
              <a:t>Explain the </a:t>
            </a:r>
            <a:r>
              <a:rPr lang="en-US" sz="1200" b="1" dirty="0">
                <a:solidFill>
                  <a:srgbClr val="262B3A"/>
                </a:solidFill>
                <a:latin typeface="Calibri" pitchFamily="34" charset="0"/>
                <a:ea typeface="Calibri" pitchFamily="34" charset="-122"/>
                <a:cs typeface="Calibri" pitchFamily="34" charset="-120"/>
              </a:rPr>
              <a:t>heating effect</a:t>
            </a:r>
            <a:r>
              <a:rPr lang="en-US" sz="1200" dirty="0">
                <a:solidFill>
                  <a:srgbClr val="262B3A"/>
                </a:solidFill>
                <a:latin typeface="Calibri" pitchFamily="34" charset="0"/>
                <a:ea typeface="Calibri" pitchFamily="34" charset="-122"/>
                <a:cs typeface="Calibri" pitchFamily="34" charset="-120"/>
              </a:rPr>
              <a:t> of a current, ways to reduce it, and its advantages and disadvantages.</a:t>
            </a:r>
            <a:endParaRPr lang="en-US" sz="1100" dirty="0"/>
          </a:p>
        </p:txBody>
      </p:sp>
      <p:sp>
        <p:nvSpPr>
          <p:cNvPr id="26" name="Shape 24"/>
          <p:cNvSpPr/>
          <p:nvPr/>
        </p:nvSpPr>
        <p:spPr>
          <a:xfrm>
            <a:off x="6263640" y="3063240"/>
            <a:ext cx="457200" cy="457200"/>
          </a:xfrm>
          <a:prstGeom prst="ellipse">
            <a:avLst/>
          </a:prstGeom>
          <a:solidFill>
            <a:srgbClr val="2E5BD8"/>
          </a:solidFill>
          <a:ln w="12700">
            <a:solidFill>
              <a:srgbClr val="2E5BD8"/>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10.27–10.32   </a:t>
            </a:r>
            <a:r>
              <a:rPr lang="en-US" sz="1200" dirty="0">
                <a:solidFill>
                  <a:srgbClr val="262B3A"/>
                </a:solidFill>
                <a:latin typeface="Calibri" pitchFamily="34" charset="0"/>
                <a:ea typeface="Calibri" pitchFamily="34" charset="-122"/>
                <a:cs typeface="Calibri" pitchFamily="34" charset="-120"/>
              </a:rPr>
              <a:t>Calculate </a:t>
            </a:r>
            <a:r>
              <a:rPr lang="en-US" sz="1200" b="1" dirty="0">
                <a:solidFill>
                  <a:srgbClr val="262B3A"/>
                </a:solidFill>
                <a:latin typeface="Calibri" pitchFamily="34" charset="0"/>
                <a:ea typeface="Calibri" pitchFamily="34" charset="-122"/>
                <a:cs typeface="Calibri" pitchFamily="34" charset="-120"/>
              </a:rPr>
              <a:t>energy</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power</a:t>
            </a:r>
            <a:r>
              <a:rPr lang="en-US" sz="1200" dirty="0">
                <a:solidFill>
                  <a:srgbClr val="262B3A"/>
                </a:solidFill>
                <a:latin typeface="Calibri" pitchFamily="34" charset="0"/>
                <a:ea typeface="Calibri" pitchFamily="34" charset="-122"/>
                <a:cs typeface="Calibri" pitchFamily="34" charset="-120"/>
              </a:rPr>
              <a:t>: E = I × V × t, P = E ÷ t, P = I × V and P = I² × R.</a:t>
            </a:r>
            <a:endParaRPr lang="en-US" sz="1100" dirty="0"/>
          </a:p>
        </p:txBody>
      </p:sp>
      <p:sp>
        <p:nvSpPr>
          <p:cNvPr id="29" name="Shape 27"/>
          <p:cNvSpPr/>
          <p:nvPr/>
        </p:nvSpPr>
        <p:spPr>
          <a:xfrm>
            <a:off x="6263640" y="3931920"/>
            <a:ext cx="457200" cy="457200"/>
          </a:xfrm>
          <a:prstGeom prst="ellipse">
            <a:avLst/>
          </a:prstGeom>
          <a:solidFill>
            <a:srgbClr val="2E5BD8"/>
          </a:solidFill>
          <a:ln w="12700">
            <a:solidFill>
              <a:srgbClr val="2E5BD8"/>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10.33–10.43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a.c. and d.c.</a:t>
            </a:r>
            <a:r>
              <a:rPr lang="en-US" sz="1200" dirty="0">
                <a:solidFill>
                  <a:srgbClr val="262B3A"/>
                </a:solidFill>
                <a:latin typeface="Calibri" pitchFamily="34" charset="0"/>
                <a:ea typeface="Calibri" pitchFamily="34" charset="-122"/>
                <a:cs typeface="Calibri" pitchFamily="34" charset="-120"/>
              </a:rPr>
              <a:t>, UK mains (230 V, 50 Hz), live, neutral and earth wires, </a:t>
            </a:r>
            <a:r>
              <a:rPr lang="en-US" sz="1200" b="1" dirty="0">
                <a:solidFill>
                  <a:srgbClr val="262B3A"/>
                </a:solidFill>
                <a:latin typeface="Calibri" pitchFamily="34" charset="0"/>
                <a:ea typeface="Calibri" pitchFamily="34" charset="-122"/>
                <a:cs typeface="Calibri" pitchFamily="34" charset="-120"/>
              </a:rPr>
              <a:t>fuses</a:t>
            </a:r>
            <a:r>
              <a:rPr lang="en-US" sz="1200" dirty="0">
                <a:solidFill>
                  <a:srgbClr val="262B3A"/>
                </a:solidFill>
                <a:latin typeface="Calibri" pitchFamily="34" charset="0"/>
                <a:ea typeface="Calibri" pitchFamily="34" charset="-122"/>
                <a:cs typeface="Calibri" pitchFamily="34" charset="-120"/>
              </a:rPr>
              <a:t> and power ratings.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10.1–10.43 • Topic 10 is assessed on Paper 2</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188720"/>
            <a:ext cx="2103120" cy="640080"/>
          </a:xfrm>
          <a:prstGeom prst="roundRect">
            <a:avLst>
              <a:gd name="adj" fmla="val 8571"/>
            </a:avLst>
          </a:prstGeom>
          <a:solidFill>
            <a:srgbClr val="1A2340"/>
          </a:solidFill>
          <a:ln/>
        </p:spPr>
      </p:sp>
      <p:sp>
        <p:nvSpPr>
          <p:cNvPr id="9" name="Text 7"/>
          <p:cNvSpPr/>
          <p:nvPr/>
        </p:nvSpPr>
        <p:spPr>
          <a:xfrm>
            <a:off x="411480" y="1188720"/>
            <a:ext cx="21031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Topic 10</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Electricity and circuits</a:t>
            </a:r>
            <a:endParaRPr lang="en-US" sz="1200" dirty="0"/>
          </a:p>
        </p:txBody>
      </p:sp>
      <p:sp>
        <p:nvSpPr>
          <p:cNvPr id="10" name="Shape 8"/>
          <p:cNvSpPr/>
          <p:nvPr/>
        </p:nvSpPr>
        <p:spPr>
          <a:xfrm>
            <a:off x="914400" y="1828800"/>
            <a:ext cx="91" cy="3785616"/>
          </a:xfrm>
          <a:prstGeom prst="line">
            <a:avLst/>
          </a:prstGeom>
          <a:noFill/>
          <a:ln w="19050">
            <a:solidFill>
              <a:srgbClr val="2E5BD8"/>
            </a:solidFill>
            <a:prstDash val="solid"/>
          </a:ln>
        </p:spPr>
      </p:sp>
      <p:sp>
        <p:nvSpPr>
          <p:cNvPr id="11" name="Shape 9"/>
          <p:cNvSpPr/>
          <p:nvPr/>
        </p:nvSpPr>
        <p:spPr>
          <a:xfrm>
            <a:off x="914400" y="2212848"/>
            <a:ext cx="411480" cy="91"/>
          </a:xfrm>
          <a:prstGeom prst="line">
            <a:avLst/>
          </a:prstGeom>
          <a:noFill/>
          <a:ln w="19050">
            <a:solidFill>
              <a:srgbClr val="2E5BD8"/>
            </a:solidFill>
            <a:prstDash val="solid"/>
          </a:ln>
        </p:spPr>
      </p:sp>
      <p:sp>
        <p:nvSpPr>
          <p:cNvPr id="12" name="Shape 10"/>
          <p:cNvSpPr/>
          <p:nvPr/>
        </p:nvSpPr>
        <p:spPr>
          <a:xfrm>
            <a:off x="1325880" y="1965960"/>
            <a:ext cx="5120640" cy="493776"/>
          </a:xfrm>
          <a:prstGeom prst="roundRect">
            <a:avLst>
              <a:gd name="adj" fmla="val 9259"/>
            </a:avLst>
          </a:prstGeom>
          <a:solidFill>
            <a:srgbClr val="F5F8FE"/>
          </a:solidFill>
          <a:ln w="12700">
            <a:solidFill>
              <a:srgbClr val="D5DCEB"/>
            </a:solidFill>
            <a:prstDash val="solid"/>
          </a:ln>
        </p:spPr>
      </p:sp>
      <p:sp>
        <p:nvSpPr>
          <p:cNvPr id="13" name="Text 11"/>
          <p:cNvSpPr/>
          <p:nvPr/>
        </p:nvSpPr>
        <p:spPr>
          <a:xfrm>
            <a:off x="1463040" y="1965960"/>
            <a:ext cx="374904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10.1–10.3, 10.10   </a:t>
            </a:r>
            <a:r>
              <a:rPr lang="en-US" sz="1100" dirty="0">
                <a:solidFill>
                  <a:srgbClr val="262B3A"/>
                </a:solidFill>
                <a:latin typeface="Calibri" pitchFamily="34" charset="0"/>
                <a:ea typeface="Calibri" pitchFamily="34" charset="-122"/>
                <a:cs typeface="Calibri" pitchFamily="34" charset="-120"/>
              </a:rPr>
              <a:t>Atoms, circuit symbols, series and parallel</a:t>
            </a:r>
            <a:endParaRPr lang="en-US" sz="1100" dirty="0"/>
          </a:p>
        </p:txBody>
      </p:sp>
      <p:sp>
        <p:nvSpPr>
          <p:cNvPr id="14" name="Shape 12"/>
          <p:cNvSpPr/>
          <p:nvPr/>
        </p:nvSpPr>
        <p:spPr>
          <a:xfrm>
            <a:off x="5257800" y="2075688"/>
            <a:ext cx="109728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257800" y="207568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16" name="Shape 14"/>
          <p:cNvSpPr/>
          <p:nvPr/>
        </p:nvSpPr>
        <p:spPr>
          <a:xfrm>
            <a:off x="914400" y="2779776"/>
            <a:ext cx="411480" cy="91"/>
          </a:xfrm>
          <a:prstGeom prst="line">
            <a:avLst/>
          </a:prstGeom>
          <a:noFill/>
          <a:ln w="19050">
            <a:solidFill>
              <a:srgbClr val="2E5BD8"/>
            </a:solidFill>
            <a:prstDash val="solid"/>
          </a:ln>
        </p:spPr>
      </p:sp>
      <p:sp>
        <p:nvSpPr>
          <p:cNvPr id="17" name="Shape 15"/>
          <p:cNvSpPr/>
          <p:nvPr/>
        </p:nvSpPr>
        <p:spPr>
          <a:xfrm>
            <a:off x="1325880" y="2532888"/>
            <a:ext cx="5120640" cy="493776"/>
          </a:xfrm>
          <a:prstGeom prst="roundRect">
            <a:avLst>
              <a:gd name="adj" fmla="val 9259"/>
            </a:avLst>
          </a:prstGeom>
          <a:solidFill>
            <a:srgbClr val="F5F8FE"/>
          </a:solidFill>
          <a:ln w="12700">
            <a:solidFill>
              <a:srgbClr val="D5DCEB"/>
            </a:solidFill>
            <a:prstDash val="solid"/>
          </a:ln>
        </p:spPr>
      </p:sp>
      <p:sp>
        <p:nvSpPr>
          <p:cNvPr id="18" name="Text 16"/>
          <p:cNvSpPr/>
          <p:nvPr/>
        </p:nvSpPr>
        <p:spPr>
          <a:xfrm>
            <a:off x="1463040" y="2532888"/>
            <a:ext cx="374904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10.4–10.9   </a:t>
            </a:r>
            <a:r>
              <a:rPr lang="en-US" sz="1100" dirty="0">
                <a:solidFill>
                  <a:srgbClr val="262B3A"/>
                </a:solidFill>
                <a:latin typeface="Calibri" pitchFamily="34" charset="0"/>
                <a:ea typeface="Calibri" pitchFamily="34" charset="-122"/>
                <a:cs typeface="Calibri" pitchFamily="34" charset="-120"/>
              </a:rPr>
              <a:t>Charge, current, p.d.; Q = It, E = QV; meters</a:t>
            </a:r>
            <a:endParaRPr lang="en-US" sz="1100" dirty="0"/>
          </a:p>
        </p:txBody>
      </p:sp>
      <p:sp>
        <p:nvSpPr>
          <p:cNvPr id="19" name="Shape 17"/>
          <p:cNvSpPr/>
          <p:nvPr/>
        </p:nvSpPr>
        <p:spPr>
          <a:xfrm>
            <a:off x="5257800" y="2642616"/>
            <a:ext cx="109728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257800" y="264261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21" name="Shape 19"/>
          <p:cNvSpPr/>
          <p:nvPr/>
        </p:nvSpPr>
        <p:spPr>
          <a:xfrm>
            <a:off x="914400" y="3346704"/>
            <a:ext cx="411480" cy="91"/>
          </a:xfrm>
          <a:prstGeom prst="line">
            <a:avLst/>
          </a:prstGeom>
          <a:noFill/>
          <a:ln w="19050">
            <a:solidFill>
              <a:srgbClr val="2E5BD8"/>
            </a:solidFill>
            <a:prstDash val="solid"/>
          </a:ln>
        </p:spPr>
      </p:sp>
      <p:sp>
        <p:nvSpPr>
          <p:cNvPr id="22" name="Shape 20"/>
          <p:cNvSpPr/>
          <p:nvPr/>
        </p:nvSpPr>
        <p:spPr>
          <a:xfrm>
            <a:off x="1325880" y="3099816"/>
            <a:ext cx="5120640" cy="493776"/>
          </a:xfrm>
          <a:prstGeom prst="roundRect">
            <a:avLst>
              <a:gd name="adj" fmla="val 9259"/>
            </a:avLst>
          </a:prstGeom>
          <a:solidFill>
            <a:srgbClr val="F5F8FE"/>
          </a:solidFill>
          <a:ln w="12700">
            <a:solidFill>
              <a:srgbClr val="D5DCEB"/>
            </a:solidFill>
            <a:prstDash val="solid"/>
          </a:ln>
        </p:spPr>
      </p:sp>
      <p:sp>
        <p:nvSpPr>
          <p:cNvPr id="23" name="Text 21"/>
          <p:cNvSpPr/>
          <p:nvPr/>
        </p:nvSpPr>
        <p:spPr>
          <a:xfrm>
            <a:off x="1463040" y="3099816"/>
            <a:ext cx="374904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10.11–10.16   </a:t>
            </a:r>
            <a:r>
              <a:rPr lang="en-US" sz="1100" dirty="0">
                <a:solidFill>
                  <a:srgbClr val="262B3A"/>
                </a:solidFill>
                <a:latin typeface="Calibri" pitchFamily="34" charset="0"/>
                <a:ea typeface="Calibri" pitchFamily="34" charset="-122"/>
                <a:cs typeface="Calibri" pitchFamily="34" charset="-120"/>
              </a:rPr>
              <a:t>Resistance, V = IR, series and parallel rules</a:t>
            </a:r>
            <a:endParaRPr lang="en-US" sz="1100" dirty="0"/>
          </a:p>
        </p:txBody>
      </p:sp>
      <p:sp>
        <p:nvSpPr>
          <p:cNvPr id="24" name="Shape 22"/>
          <p:cNvSpPr/>
          <p:nvPr/>
        </p:nvSpPr>
        <p:spPr>
          <a:xfrm>
            <a:off x="5257800" y="3209544"/>
            <a:ext cx="109728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257800" y="320954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26" name="Shape 24"/>
          <p:cNvSpPr/>
          <p:nvPr/>
        </p:nvSpPr>
        <p:spPr>
          <a:xfrm>
            <a:off x="914400" y="3913632"/>
            <a:ext cx="411480" cy="91"/>
          </a:xfrm>
          <a:prstGeom prst="line">
            <a:avLst/>
          </a:prstGeom>
          <a:noFill/>
          <a:ln w="19050">
            <a:solidFill>
              <a:srgbClr val="2E5BD8"/>
            </a:solidFill>
            <a:prstDash val="solid"/>
          </a:ln>
        </p:spPr>
      </p:sp>
      <p:sp>
        <p:nvSpPr>
          <p:cNvPr id="27" name="Shape 25"/>
          <p:cNvSpPr/>
          <p:nvPr/>
        </p:nvSpPr>
        <p:spPr>
          <a:xfrm>
            <a:off x="1325880" y="3666744"/>
            <a:ext cx="5120640" cy="493776"/>
          </a:xfrm>
          <a:prstGeom prst="roundRect">
            <a:avLst>
              <a:gd name="adj" fmla="val 9259"/>
            </a:avLst>
          </a:prstGeom>
          <a:solidFill>
            <a:srgbClr val="F5F8FE"/>
          </a:solidFill>
          <a:ln w="12700">
            <a:solidFill>
              <a:srgbClr val="D5DCEB"/>
            </a:solidFill>
            <a:prstDash val="solid"/>
          </a:ln>
        </p:spPr>
      </p:sp>
      <p:sp>
        <p:nvSpPr>
          <p:cNvPr id="28" name="Text 26"/>
          <p:cNvSpPr/>
          <p:nvPr/>
        </p:nvSpPr>
        <p:spPr>
          <a:xfrm>
            <a:off x="1463040" y="3666744"/>
            <a:ext cx="374904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10.17   </a:t>
            </a:r>
            <a:r>
              <a:rPr lang="en-US" sz="1100" dirty="0">
                <a:solidFill>
                  <a:srgbClr val="262B3A"/>
                </a:solidFill>
                <a:latin typeface="Calibri" pitchFamily="34" charset="0"/>
                <a:ea typeface="Calibri" pitchFamily="34" charset="-122"/>
                <a:cs typeface="Calibri" pitchFamily="34" charset="-120"/>
              </a:rPr>
              <a:t>Core Practical: electrical circuits</a:t>
            </a:r>
            <a:endParaRPr lang="en-US" sz="1100" dirty="0"/>
          </a:p>
        </p:txBody>
      </p:sp>
      <p:sp>
        <p:nvSpPr>
          <p:cNvPr id="29" name="Shape 27"/>
          <p:cNvSpPr/>
          <p:nvPr/>
        </p:nvSpPr>
        <p:spPr>
          <a:xfrm>
            <a:off x="5257800" y="3776472"/>
            <a:ext cx="1097280" cy="274320"/>
          </a:xfrm>
          <a:prstGeom prst="roundRect">
            <a:avLst>
              <a:gd name="adj" fmla="val 50000"/>
            </a:avLst>
          </a:prstGeom>
          <a:solidFill>
            <a:srgbClr val="B8730A"/>
          </a:solidFill>
          <a:ln w="12700">
            <a:solidFill>
              <a:srgbClr val="B8730A"/>
            </a:solidFill>
            <a:prstDash val="solid"/>
          </a:ln>
        </p:spPr>
      </p:sp>
      <p:sp>
        <p:nvSpPr>
          <p:cNvPr id="30" name="Text 28"/>
          <p:cNvSpPr/>
          <p:nvPr/>
        </p:nvSpPr>
        <p:spPr>
          <a:xfrm>
            <a:off x="5257800" y="377647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31" name="Shape 29"/>
          <p:cNvSpPr/>
          <p:nvPr/>
        </p:nvSpPr>
        <p:spPr>
          <a:xfrm>
            <a:off x="914400" y="4480560"/>
            <a:ext cx="411480" cy="91"/>
          </a:xfrm>
          <a:prstGeom prst="line">
            <a:avLst/>
          </a:prstGeom>
          <a:noFill/>
          <a:ln w="19050">
            <a:solidFill>
              <a:srgbClr val="2E5BD8"/>
            </a:solidFill>
            <a:prstDash val="solid"/>
          </a:ln>
        </p:spPr>
      </p:sp>
      <p:sp>
        <p:nvSpPr>
          <p:cNvPr id="32" name="Shape 30"/>
          <p:cNvSpPr/>
          <p:nvPr/>
        </p:nvSpPr>
        <p:spPr>
          <a:xfrm>
            <a:off x="1325880" y="4233672"/>
            <a:ext cx="5120640" cy="493776"/>
          </a:xfrm>
          <a:prstGeom prst="roundRect">
            <a:avLst>
              <a:gd name="adj" fmla="val 9259"/>
            </a:avLst>
          </a:prstGeom>
          <a:solidFill>
            <a:srgbClr val="F5F8FE"/>
          </a:solidFill>
          <a:ln w="12700">
            <a:solidFill>
              <a:srgbClr val="D5DCEB"/>
            </a:solidFill>
            <a:prstDash val="solid"/>
          </a:ln>
        </p:spPr>
      </p:sp>
      <p:sp>
        <p:nvSpPr>
          <p:cNvPr id="33" name="Text 31"/>
          <p:cNvSpPr/>
          <p:nvPr/>
        </p:nvSpPr>
        <p:spPr>
          <a:xfrm>
            <a:off x="1463040" y="4233672"/>
            <a:ext cx="374904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10.18–10.21   </a:t>
            </a:r>
            <a:r>
              <a:rPr lang="en-US" sz="1100" dirty="0">
                <a:solidFill>
                  <a:srgbClr val="262B3A"/>
                </a:solidFill>
                <a:latin typeface="Calibri" pitchFamily="34" charset="0"/>
                <a:ea typeface="Calibri" pitchFamily="34" charset="-122"/>
                <a:cs typeface="Calibri" pitchFamily="34" charset="-120"/>
              </a:rPr>
              <a:t>I–V graphs, diodes, LDRs and thermistors</a:t>
            </a:r>
            <a:endParaRPr lang="en-US" sz="1100" dirty="0"/>
          </a:p>
        </p:txBody>
      </p:sp>
      <p:sp>
        <p:nvSpPr>
          <p:cNvPr id="34" name="Shape 32"/>
          <p:cNvSpPr/>
          <p:nvPr/>
        </p:nvSpPr>
        <p:spPr>
          <a:xfrm>
            <a:off x="5257800" y="4343400"/>
            <a:ext cx="1097280" cy="274320"/>
          </a:xfrm>
          <a:prstGeom prst="roundRect">
            <a:avLst>
              <a:gd name="adj" fmla="val 50000"/>
            </a:avLst>
          </a:prstGeom>
          <a:solidFill>
            <a:srgbClr val="2E5BD8"/>
          </a:solidFill>
          <a:ln w="12700">
            <a:solidFill>
              <a:srgbClr val="2E5BD8"/>
            </a:solidFill>
            <a:prstDash val="solid"/>
          </a:ln>
        </p:spPr>
      </p:sp>
      <p:sp>
        <p:nvSpPr>
          <p:cNvPr id="35" name="Text 33"/>
          <p:cNvSpPr/>
          <p:nvPr/>
        </p:nvSpPr>
        <p:spPr>
          <a:xfrm>
            <a:off x="5257800" y="434340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36" name="Shape 34"/>
          <p:cNvSpPr/>
          <p:nvPr/>
        </p:nvSpPr>
        <p:spPr>
          <a:xfrm>
            <a:off x="914400" y="5047488"/>
            <a:ext cx="411480" cy="91"/>
          </a:xfrm>
          <a:prstGeom prst="line">
            <a:avLst/>
          </a:prstGeom>
          <a:noFill/>
          <a:ln w="19050">
            <a:solidFill>
              <a:srgbClr val="2E5BD8"/>
            </a:solidFill>
            <a:prstDash val="solid"/>
          </a:ln>
        </p:spPr>
      </p:sp>
      <p:sp>
        <p:nvSpPr>
          <p:cNvPr id="37" name="Shape 35"/>
          <p:cNvSpPr/>
          <p:nvPr/>
        </p:nvSpPr>
        <p:spPr>
          <a:xfrm>
            <a:off x="1325880" y="4800600"/>
            <a:ext cx="5120640" cy="493776"/>
          </a:xfrm>
          <a:prstGeom prst="roundRect">
            <a:avLst>
              <a:gd name="adj" fmla="val 9259"/>
            </a:avLst>
          </a:prstGeom>
          <a:solidFill>
            <a:srgbClr val="F5F8FE"/>
          </a:solidFill>
          <a:ln w="12700">
            <a:solidFill>
              <a:srgbClr val="D5DCEB"/>
            </a:solidFill>
            <a:prstDash val="solid"/>
          </a:ln>
        </p:spPr>
      </p:sp>
      <p:sp>
        <p:nvSpPr>
          <p:cNvPr id="38" name="Text 36"/>
          <p:cNvSpPr/>
          <p:nvPr/>
        </p:nvSpPr>
        <p:spPr>
          <a:xfrm>
            <a:off x="1463040" y="4800600"/>
            <a:ext cx="374904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10.22–10.32   </a:t>
            </a:r>
            <a:r>
              <a:rPr lang="en-US" sz="1100" dirty="0">
                <a:solidFill>
                  <a:srgbClr val="262B3A"/>
                </a:solidFill>
                <a:latin typeface="Calibri" pitchFamily="34" charset="0"/>
                <a:ea typeface="Calibri" pitchFamily="34" charset="-122"/>
                <a:cs typeface="Calibri" pitchFamily="34" charset="-120"/>
              </a:rPr>
              <a:t>Heating effect, energy and power</a:t>
            </a:r>
            <a:endParaRPr lang="en-US" sz="1100" dirty="0"/>
          </a:p>
        </p:txBody>
      </p:sp>
      <p:sp>
        <p:nvSpPr>
          <p:cNvPr id="39" name="Shape 37"/>
          <p:cNvSpPr/>
          <p:nvPr/>
        </p:nvSpPr>
        <p:spPr>
          <a:xfrm>
            <a:off x="5257800" y="4910328"/>
            <a:ext cx="1097280" cy="274320"/>
          </a:xfrm>
          <a:prstGeom prst="roundRect">
            <a:avLst>
              <a:gd name="adj" fmla="val 50000"/>
            </a:avLst>
          </a:prstGeom>
          <a:solidFill>
            <a:srgbClr val="2E5BD8"/>
          </a:solidFill>
          <a:ln w="12700">
            <a:solidFill>
              <a:srgbClr val="2E5BD8"/>
            </a:solidFill>
            <a:prstDash val="solid"/>
          </a:ln>
        </p:spPr>
      </p:sp>
      <p:sp>
        <p:nvSpPr>
          <p:cNvPr id="40" name="Text 38"/>
          <p:cNvSpPr/>
          <p:nvPr/>
        </p:nvSpPr>
        <p:spPr>
          <a:xfrm>
            <a:off x="5257800" y="49103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41" name="Shape 39"/>
          <p:cNvSpPr/>
          <p:nvPr/>
        </p:nvSpPr>
        <p:spPr>
          <a:xfrm>
            <a:off x="914400" y="5614416"/>
            <a:ext cx="411480" cy="91"/>
          </a:xfrm>
          <a:prstGeom prst="line">
            <a:avLst/>
          </a:prstGeom>
          <a:noFill/>
          <a:ln w="19050">
            <a:solidFill>
              <a:srgbClr val="2E5BD8"/>
            </a:solidFill>
            <a:prstDash val="solid"/>
          </a:ln>
        </p:spPr>
      </p:sp>
      <p:sp>
        <p:nvSpPr>
          <p:cNvPr id="42" name="Shape 40"/>
          <p:cNvSpPr/>
          <p:nvPr/>
        </p:nvSpPr>
        <p:spPr>
          <a:xfrm>
            <a:off x="1325880" y="5367528"/>
            <a:ext cx="5120640" cy="493776"/>
          </a:xfrm>
          <a:prstGeom prst="roundRect">
            <a:avLst>
              <a:gd name="adj" fmla="val 9259"/>
            </a:avLst>
          </a:prstGeom>
          <a:solidFill>
            <a:srgbClr val="F5F8FE"/>
          </a:solidFill>
          <a:ln w="12700">
            <a:solidFill>
              <a:srgbClr val="D5DCEB"/>
            </a:solidFill>
            <a:prstDash val="solid"/>
          </a:ln>
        </p:spPr>
      </p:sp>
      <p:sp>
        <p:nvSpPr>
          <p:cNvPr id="43" name="Text 41"/>
          <p:cNvSpPr/>
          <p:nvPr/>
        </p:nvSpPr>
        <p:spPr>
          <a:xfrm>
            <a:off x="1463040" y="5367528"/>
            <a:ext cx="374904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10.33–10.43   </a:t>
            </a:r>
            <a:r>
              <a:rPr lang="en-US" sz="1100" dirty="0">
                <a:solidFill>
                  <a:srgbClr val="262B3A"/>
                </a:solidFill>
                <a:latin typeface="Calibri" pitchFamily="34" charset="0"/>
                <a:ea typeface="Calibri" pitchFamily="34" charset="-122"/>
                <a:cs typeface="Calibri" pitchFamily="34" charset="-120"/>
              </a:rPr>
              <a:t>a.c. and d.c., mains wiring and safety</a:t>
            </a:r>
            <a:endParaRPr lang="en-US" sz="1100" dirty="0"/>
          </a:p>
        </p:txBody>
      </p:sp>
      <p:sp>
        <p:nvSpPr>
          <p:cNvPr id="44" name="Shape 42"/>
          <p:cNvSpPr/>
          <p:nvPr/>
        </p:nvSpPr>
        <p:spPr>
          <a:xfrm>
            <a:off x="5257800" y="5477256"/>
            <a:ext cx="1097280" cy="274320"/>
          </a:xfrm>
          <a:prstGeom prst="roundRect">
            <a:avLst>
              <a:gd name="adj" fmla="val 50000"/>
            </a:avLst>
          </a:prstGeom>
          <a:solidFill>
            <a:srgbClr val="2E5BD8"/>
          </a:solidFill>
          <a:ln w="12700">
            <a:solidFill>
              <a:srgbClr val="2E5BD8"/>
            </a:solidFill>
            <a:prstDash val="solid"/>
          </a:ln>
        </p:spPr>
      </p:sp>
      <p:sp>
        <p:nvSpPr>
          <p:cNvPr id="45" name="Text 43"/>
          <p:cNvSpPr/>
          <p:nvPr/>
        </p:nvSpPr>
        <p:spPr>
          <a:xfrm>
            <a:off x="5257800" y="547725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46" name="Text 44"/>
          <p:cNvSpPr/>
          <p:nvPr/>
        </p:nvSpPr>
        <p:spPr>
          <a:xfrm>
            <a:off x="411480" y="6035040"/>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Topic 1 units • Topic 3 energy stores and efficiency • Topic 6 the atom • Topic 8 power</a:t>
            </a:r>
            <a:endParaRPr lang="en-US" sz="1050" dirty="0"/>
          </a:p>
        </p:txBody>
      </p:sp>
      <p:sp>
        <p:nvSpPr>
          <p:cNvPr id="47" name="Shape 45"/>
          <p:cNvSpPr/>
          <p:nvPr/>
        </p:nvSpPr>
        <p:spPr>
          <a:xfrm>
            <a:off x="6720840" y="1188720"/>
            <a:ext cx="5056632" cy="2514600"/>
          </a:xfrm>
          <a:prstGeom prst="roundRect">
            <a:avLst>
              <a:gd name="adj" fmla="val 2182"/>
            </a:avLst>
          </a:prstGeom>
          <a:solidFill>
            <a:srgbClr val="1F2A4A"/>
          </a:solidFill>
          <a:ln/>
        </p:spPr>
      </p:sp>
      <p:sp>
        <p:nvSpPr>
          <p:cNvPr id="48" name="Text 46"/>
          <p:cNvSpPr/>
          <p:nvPr/>
        </p:nvSpPr>
        <p:spPr>
          <a:xfrm>
            <a:off x="6903720" y="128016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How this is assessed</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1PH0 </a:t>
            </a:r>
            <a:r>
              <a:rPr lang="en-US" sz="1150" b="1" dirty="0">
                <a:solidFill>
                  <a:srgbClr val="E6ECFA"/>
                </a:solidFill>
                <a:latin typeface="Calibri" pitchFamily="34" charset="0"/>
                <a:ea typeface="Calibri" pitchFamily="34" charset="-122"/>
                <a:cs typeface="Calibri" pitchFamily="34" charset="-120"/>
              </a:rPr>
              <a:t>Paper 2</a:t>
            </a:r>
            <a:r>
              <a:rPr lang="en-US" sz="1150" dirty="0">
                <a:solidFill>
                  <a:srgbClr val="E6ECFA"/>
                </a:solidFill>
                <a:latin typeface="Calibri" pitchFamily="34" charset="0"/>
                <a:ea typeface="Calibri" pitchFamily="34" charset="-122"/>
                <a:cs typeface="Calibri" pitchFamily="34" charset="-120"/>
              </a:rPr>
              <a:t> (2F or 2H): 1 h 45 min, 100 marks, Topics 1 and 8–15.</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Combined Science 1SC0 </a:t>
            </a:r>
            <a:r>
              <a:rPr lang="en-US" sz="1150" b="1" dirty="0">
                <a:solidFill>
                  <a:srgbClr val="E6ECFA"/>
                </a:solidFill>
                <a:latin typeface="Calibri" pitchFamily="34" charset="0"/>
                <a:ea typeface="Calibri" pitchFamily="34" charset="-122"/>
                <a:cs typeface="Calibri" pitchFamily="34" charset="-120"/>
              </a:rPr>
              <a:t>Paper 6</a:t>
            </a:r>
            <a:r>
              <a:rPr lang="en-US" sz="1150" dirty="0">
                <a:solidFill>
                  <a:srgbClr val="E6ECFA"/>
                </a:solidFill>
                <a:latin typeface="Calibri" pitchFamily="34" charset="0"/>
                <a:ea typeface="Calibri" pitchFamily="34" charset="-122"/>
                <a:cs typeface="Calibri" pitchFamily="34" charset="-120"/>
              </a:rPr>
              <a:t> (Physics 2) tests the same Topic 10 statements.</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Equations: </a:t>
            </a:r>
            <a:r>
              <a:rPr lang="en-US" sz="1150" b="1" dirty="0">
                <a:solidFill>
                  <a:srgbClr val="E6ECFA"/>
                </a:solidFill>
                <a:latin typeface="Calibri" pitchFamily="34" charset="0"/>
                <a:ea typeface="Calibri" pitchFamily="34" charset="-122"/>
                <a:cs typeface="Calibri" pitchFamily="34" charset="-120"/>
              </a:rPr>
              <a:t>recall</a:t>
            </a:r>
            <a:r>
              <a:rPr lang="en-US" sz="1150" dirty="0">
                <a:solidFill>
                  <a:srgbClr val="E6ECFA"/>
                </a:solidFill>
                <a:latin typeface="Calibri" pitchFamily="34" charset="0"/>
                <a:ea typeface="Calibri" pitchFamily="34" charset="-122"/>
                <a:cs typeface="Calibri" pitchFamily="34" charset="-120"/>
              </a:rPr>
              <a:t> Q = It, E = QV, V = IR, P = E/t, P = IV, P = I²R; </a:t>
            </a:r>
            <a:r>
              <a:rPr lang="en-US" sz="1150" b="1" dirty="0">
                <a:solidFill>
                  <a:srgbClr val="E6ECFA"/>
                </a:solidFill>
                <a:latin typeface="Calibri" pitchFamily="34" charset="0"/>
                <a:ea typeface="Calibri" pitchFamily="34" charset="-122"/>
                <a:cs typeface="Calibri" pitchFamily="34" charset="-120"/>
              </a:rPr>
              <a:t>given</a:t>
            </a:r>
            <a:r>
              <a:rPr lang="en-US" sz="1150" dirty="0">
                <a:solidFill>
                  <a:srgbClr val="E6ECFA"/>
                </a:solidFill>
                <a:latin typeface="Calibri" pitchFamily="34" charset="0"/>
                <a:ea typeface="Calibri" pitchFamily="34" charset="-122"/>
                <a:cs typeface="Calibri" pitchFamily="34" charset="-120"/>
              </a:rPr>
              <a:t> E = IVt.</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Core Practical 10.17 can be examined in any style: circuits, method, results and errors.</a:t>
            </a:r>
            <a:endParaRPr lang="en-US" sz="1500" dirty="0"/>
          </a:p>
        </p:txBody>
      </p:sp>
      <p:sp>
        <p:nvSpPr>
          <p:cNvPr id="49" name="Shape 47"/>
          <p:cNvSpPr/>
          <p:nvPr/>
        </p:nvSpPr>
        <p:spPr>
          <a:xfrm>
            <a:off x="6720840" y="3840480"/>
            <a:ext cx="5056632" cy="2423160"/>
          </a:xfrm>
          <a:prstGeom prst="roundRect">
            <a:avLst>
              <a:gd name="adj" fmla="val 2264"/>
            </a:avLst>
          </a:prstGeom>
          <a:solidFill>
            <a:srgbClr val="FFF4E0"/>
          </a:solidFill>
          <a:ln w="12700">
            <a:solidFill>
              <a:srgbClr val="F1D9A8"/>
            </a:solidFill>
            <a:prstDash val="solid"/>
          </a:ln>
        </p:spPr>
      </p:sp>
      <p:sp>
        <p:nvSpPr>
          <p:cNvPr id="50" name="Text 48"/>
          <p:cNvSpPr/>
          <p:nvPr/>
        </p:nvSpPr>
        <p:spPr>
          <a:xfrm>
            <a:off x="6903720" y="3931920"/>
            <a:ext cx="4709160" cy="224028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courses and tiers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Combined (1SC0) classes skip nothing:</a:t>
            </a:r>
            <a:r>
              <a:rPr lang="en-US" sz="1150" dirty="0">
                <a:solidFill>
                  <a:srgbClr val="262B3A"/>
                </a:solidFill>
                <a:latin typeface="Calibri" pitchFamily="34" charset="0"/>
                <a:ea typeface="Calibri" pitchFamily="34" charset="-122"/>
                <a:cs typeface="Calibri" pitchFamily="34" charset="-120"/>
              </a:rPr>
              <a:t> there are no physics-only (P) statements in Topic 10.</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No HT pills:</a:t>
            </a:r>
            <a:r>
              <a:rPr lang="en-US" sz="1150" dirty="0">
                <a:solidFill>
                  <a:srgbClr val="262B3A"/>
                </a:solidFill>
                <a:latin typeface="Calibri" pitchFamily="34" charset="0"/>
                <a:ea typeface="Calibri" pitchFamily="34" charset="-122"/>
                <a:cs typeface="Calibri" pitchFamily="34" charset="-120"/>
              </a:rPr>
              <a:t> our spec check found no Higher-only (H) statements in this topic. Higher students still meet harder calculations.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GRADE 7–9 STRETCH</a:t>
            </a:r>
            <a:r>
              <a:rPr lang="en-US" sz="1150" dirty="0">
                <a:solidFill>
                  <a:srgbClr val="262B3A"/>
                </a:solidFill>
                <a:latin typeface="Calibri" pitchFamily="34" charset="0"/>
                <a:ea typeface="Calibri" pitchFamily="34" charset="-122"/>
                <a:cs typeface="Calibri" pitchFamily="34" charset="-120"/>
              </a:rPr>
              <a:t> pills mark extension, e.g. total resistance in parallel.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Topics 1, 3, 6, 8 and 15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1 • units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2.5 kW</a:t>
            </a:r>
            <a:r>
              <a:rPr lang="en-US" sz="1250" dirty="0">
                <a:solidFill>
                  <a:srgbClr val="262B3A"/>
                </a:solidFill>
                <a:latin typeface="Calibri" pitchFamily="34" charset="0"/>
                <a:ea typeface="Calibri" pitchFamily="34" charset="-122"/>
                <a:cs typeface="Calibri" pitchFamily="34" charset="-120"/>
              </a:rPr>
              <a:t> into watts and </a:t>
            </a:r>
            <a:r>
              <a:rPr lang="en-US" sz="1250" b="1" dirty="0">
                <a:solidFill>
                  <a:srgbClr val="262B3A"/>
                </a:solidFill>
                <a:latin typeface="Calibri" pitchFamily="34" charset="0"/>
                <a:ea typeface="Calibri" pitchFamily="34" charset="-122"/>
                <a:cs typeface="Calibri" pitchFamily="34" charset="-120"/>
              </a:rPr>
              <a:t>3 minutes</a:t>
            </a:r>
            <a:r>
              <a:rPr lang="en-US" sz="1250" dirty="0">
                <a:solidFill>
                  <a:srgbClr val="262B3A"/>
                </a:solidFill>
                <a:latin typeface="Calibri" pitchFamily="34" charset="0"/>
                <a:ea typeface="Calibri" pitchFamily="34" charset="-122"/>
                <a:cs typeface="Calibri" pitchFamily="34" charset="-120"/>
              </a:rPr>
              <a:t> into seconds.</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6 • the atom</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three particles</a:t>
            </a:r>
            <a:r>
              <a:rPr lang="en-US" sz="1250" dirty="0">
                <a:solidFill>
                  <a:srgbClr val="262B3A"/>
                </a:solidFill>
                <a:latin typeface="Calibri" pitchFamily="34" charset="0"/>
                <a:ea typeface="Calibri" pitchFamily="34" charset="-122"/>
                <a:cs typeface="Calibri" pitchFamily="34" charset="-120"/>
              </a:rPr>
              <a:t> in an atom and give the relative charge of each.</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3 • energy stores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electric kettle heats water. Which </a:t>
            </a:r>
            <a:r>
              <a:rPr lang="en-US" sz="1250" b="1" dirty="0">
                <a:solidFill>
                  <a:srgbClr val="262B3A"/>
                </a:solidFill>
                <a:latin typeface="Calibri" pitchFamily="34" charset="0"/>
                <a:ea typeface="Calibri" pitchFamily="34" charset="-122"/>
                <a:cs typeface="Calibri" pitchFamily="34" charset="-120"/>
              </a:rPr>
              <a:t>energy store</a:t>
            </a:r>
            <a:r>
              <a:rPr lang="en-US" sz="1250" dirty="0">
                <a:solidFill>
                  <a:srgbClr val="262B3A"/>
                </a:solidFill>
                <a:latin typeface="Calibri" pitchFamily="34" charset="0"/>
                <a:ea typeface="Calibri" pitchFamily="34" charset="-122"/>
                <a:cs typeface="Calibri" pitchFamily="34" charset="-120"/>
              </a:rPr>
              <a:t> increases?</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3 • efficiency</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motor is supplied with 500 J and transfers 400 J usefully. Calculate its </a:t>
            </a:r>
            <a:r>
              <a:rPr lang="en-US" sz="1250" b="1" dirty="0">
                <a:solidFill>
                  <a:srgbClr val="262B3A"/>
                </a:solidFill>
                <a:latin typeface="Calibri" pitchFamily="34" charset="0"/>
                <a:ea typeface="Calibri" pitchFamily="34" charset="-122"/>
                <a:cs typeface="Calibri" pitchFamily="34" charset="-120"/>
              </a:rPr>
              <a:t>efficiency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8 • power</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motor does 600 J of work in 20 s. Calculate its </a:t>
            </a:r>
            <a:r>
              <a:rPr lang="en-US" sz="1250" b="1" dirty="0">
                <a:solidFill>
                  <a:srgbClr val="262B3A"/>
                </a:solidFill>
                <a:latin typeface="Calibri" pitchFamily="34" charset="0"/>
                <a:ea typeface="Calibri" pitchFamily="34" charset="-122"/>
                <a:cs typeface="Calibri" pitchFamily="34" charset="-120"/>
              </a:rPr>
              <a:t>power</a:t>
            </a:r>
            <a:r>
              <a:rPr lang="en-US" sz="1250" dirty="0">
                <a:solidFill>
                  <a:srgbClr val="262B3A"/>
                </a:solidFill>
                <a:latin typeface="Calibri" pitchFamily="34" charset="0"/>
                <a:ea typeface="Calibri" pitchFamily="34" charset="-122"/>
                <a:cs typeface="Calibri" pitchFamily="34" charset="-120"/>
              </a:rPr>
              <a:t> and give the unit.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15 • springs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spring has k = 50 N/m. Calculate the force needed to stretch it by </a:t>
            </a:r>
            <a:r>
              <a:rPr lang="en-US" sz="1250" b="1" dirty="0">
                <a:solidFill>
                  <a:srgbClr val="262B3A"/>
                </a:solidFill>
                <a:latin typeface="Calibri" pitchFamily="34" charset="0"/>
                <a:ea typeface="Calibri" pitchFamily="34" charset="-122"/>
                <a:cs typeface="Calibri" pitchFamily="34" charset="-120"/>
              </a:rPr>
              <a:t>0.04 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Circuit symbols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10.2 • draw and use circuit diagrams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10.2  |  5</a:t>
            </a:r>
            <a:endParaRPr lang="en-US" sz="1000" dirty="0"/>
          </a:p>
        </p:txBody>
      </p:sp>
      <p:sp>
        <p:nvSpPr>
          <p:cNvPr id="8" name="Shape 6"/>
          <p:cNvSpPr/>
          <p:nvPr/>
        </p:nvSpPr>
        <p:spPr>
          <a:xfrm>
            <a:off x="411480" y="1188720"/>
            <a:ext cx="754380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72694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standard UK circuit symbols, as used by Edexcel</a:t>
            </a:r>
            <a:endParaRPr lang="en-US" sz="1000" dirty="0"/>
          </a:p>
        </p:txBody>
      </p:sp>
      <p:sp>
        <p:nvSpPr>
          <p:cNvPr id="10" name="Shape 8"/>
          <p:cNvSpPr/>
          <p:nvPr/>
        </p:nvSpPr>
        <p:spPr>
          <a:xfrm>
            <a:off x="731520" y="1691640"/>
            <a:ext cx="585216" cy="91"/>
          </a:xfrm>
          <a:prstGeom prst="line">
            <a:avLst/>
          </a:prstGeom>
          <a:noFill/>
          <a:ln w="19050">
            <a:solidFill>
              <a:srgbClr val="1A2340"/>
            </a:solidFill>
            <a:prstDash val="solid"/>
          </a:ln>
        </p:spPr>
      </p:sp>
      <p:sp>
        <p:nvSpPr>
          <p:cNvPr id="11" name="Shape 9"/>
          <p:cNvSpPr/>
          <p:nvPr/>
        </p:nvSpPr>
        <p:spPr>
          <a:xfrm>
            <a:off x="1426464" y="1691640"/>
            <a:ext cx="585216" cy="91"/>
          </a:xfrm>
          <a:prstGeom prst="line">
            <a:avLst/>
          </a:prstGeom>
          <a:noFill/>
          <a:ln w="19050">
            <a:solidFill>
              <a:srgbClr val="1A2340"/>
            </a:solidFill>
            <a:prstDash val="solid"/>
          </a:ln>
        </p:spPr>
      </p:sp>
      <p:sp>
        <p:nvSpPr>
          <p:cNvPr id="12" name="Shape 10"/>
          <p:cNvSpPr/>
          <p:nvPr/>
        </p:nvSpPr>
        <p:spPr>
          <a:xfrm>
            <a:off x="1316736" y="1490472"/>
            <a:ext cx="91" cy="402336"/>
          </a:xfrm>
          <a:prstGeom prst="line">
            <a:avLst/>
          </a:prstGeom>
          <a:noFill/>
          <a:ln w="19050">
            <a:solidFill>
              <a:srgbClr val="1A2340"/>
            </a:solidFill>
            <a:prstDash val="solid"/>
          </a:ln>
        </p:spPr>
      </p:sp>
      <p:sp>
        <p:nvSpPr>
          <p:cNvPr id="13" name="Shape 11"/>
          <p:cNvSpPr/>
          <p:nvPr/>
        </p:nvSpPr>
        <p:spPr>
          <a:xfrm>
            <a:off x="1426464" y="1591056"/>
            <a:ext cx="91" cy="201168"/>
          </a:xfrm>
          <a:prstGeom prst="line">
            <a:avLst/>
          </a:prstGeom>
          <a:noFill/>
          <a:ln w="57150">
            <a:solidFill>
              <a:srgbClr val="1A2340"/>
            </a:solidFill>
            <a:prstDash val="solid"/>
          </a:ln>
        </p:spPr>
      </p:sp>
      <p:sp>
        <p:nvSpPr>
          <p:cNvPr id="14" name="Text 12"/>
          <p:cNvSpPr/>
          <p:nvPr/>
        </p:nvSpPr>
        <p:spPr>
          <a:xfrm>
            <a:off x="548640" y="2020824"/>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cell</a:t>
            </a:r>
            <a:endParaRPr lang="en-US" sz="1100" dirty="0"/>
          </a:p>
        </p:txBody>
      </p:sp>
      <p:sp>
        <p:nvSpPr>
          <p:cNvPr id="15" name="Shape 13"/>
          <p:cNvSpPr/>
          <p:nvPr/>
        </p:nvSpPr>
        <p:spPr>
          <a:xfrm>
            <a:off x="2606040" y="1691640"/>
            <a:ext cx="484632" cy="91"/>
          </a:xfrm>
          <a:prstGeom prst="line">
            <a:avLst/>
          </a:prstGeom>
          <a:noFill/>
          <a:ln w="19050">
            <a:solidFill>
              <a:srgbClr val="1A2340"/>
            </a:solidFill>
            <a:prstDash val="solid"/>
          </a:ln>
        </p:spPr>
      </p:sp>
      <p:sp>
        <p:nvSpPr>
          <p:cNvPr id="16" name="Shape 14"/>
          <p:cNvSpPr/>
          <p:nvPr/>
        </p:nvSpPr>
        <p:spPr>
          <a:xfrm>
            <a:off x="3401568" y="1691640"/>
            <a:ext cx="484632" cy="91"/>
          </a:xfrm>
          <a:prstGeom prst="line">
            <a:avLst/>
          </a:prstGeom>
          <a:noFill/>
          <a:ln w="19050">
            <a:solidFill>
              <a:srgbClr val="1A2340"/>
            </a:solidFill>
            <a:prstDash val="solid"/>
          </a:ln>
        </p:spPr>
      </p:sp>
      <p:sp>
        <p:nvSpPr>
          <p:cNvPr id="17" name="Shape 15"/>
          <p:cNvSpPr/>
          <p:nvPr/>
        </p:nvSpPr>
        <p:spPr>
          <a:xfrm>
            <a:off x="3090672" y="1490472"/>
            <a:ext cx="91" cy="402336"/>
          </a:xfrm>
          <a:prstGeom prst="line">
            <a:avLst/>
          </a:prstGeom>
          <a:noFill/>
          <a:ln w="19050">
            <a:solidFill>
              <a:srgbClr val="1A2340"/>
            </a:solidFill>
            <a:prstDash val="solid"/>
          </a:ln>
        </p:spPr>
      </p:sp>
      <p:sp>
        <p:nvSpPr>
          <p:cNvPr id="18" name="Shape 16"/>
          <p:cNvSpPr/>
          <p:nvPr/>
        </p:nvSpPr>
        <p:spPr>
          <a:xfrm>
            <a:off x="3182112" y="1591056"/>
            <a:ext cx="91" cy="201168"/>
          </a:xfrm>
          <a:prstGeom prst="line">
            <a:avLst/>
          </a:prstGeom>
          <a:noFill/>
          <a:ln w="57150">
            <a:solidFill>
              <a:srgbClr val="1A2340"/>
            </a:solidFill>
            <a:prstDash val="solid"/>
          </a:ln>
        </p:spPr>
      </p:sp>
      <p:sp>
        <p:nvSpPr>
          <p:cNvPr id="19" name="Shape 17"/>
          <p:cNvSpPr/>
          <p:nvPr/>
        </p:nvSpPr>
        <p:spPr>
          <a:xfrm>
            <a:off x="3182112" y="1691640"/>
            <a:ext cx="128016" cy="91"/>
          </a:xfrm>
          <a:prstGeom prst="line">
            <a:avLst/>
          </a:prstGeom>
          <a:noFill/>
          <a:ln w="19050">
            <a:solidFill>
              <a:srgbClr val="1A2340"/>
            </a:solidFill>
            <a:prstDash val="solid"/>
          </a:ln>
        </p:spPr>
      </p:sp>
      <p:sp>
        <p:nvSpPr>
          <p:cNvPr id="20" name="Shape 18"/>
          <p:cNvSpPr/>
          <p:nvPr/>
        </p:nvSpPr>
        <p:spPr>
          <a:xfrm>
            <a:off x="3310128" y="1490472"/>
            <a:ext cx="91" cy="402336"/>
          </a:xfrm>
          <a:prstGeom prst="line">
            <a:avLst/>
          </a:prstGeom>
          <a:noFill/>
          <a:ln w="19050">
            <a:solidFill>
              <a:srgbClr val="1A2340"/>
            </a:solidFill>
            <a:prstDash val="solid"/>
          </a:ln>
        </p:spPr>
      </p:sp>
      <p:sp>
        <p:nvSpPr>
          <p:cNvPr id="21" name="Shape 19"/>
          <p:cNvSpPr/>
          <p:nvPr/>
        </p:nvSpPr>
        <p:spPr>
          <a:xfrm>
            <a:off x="3401568" y="1591056"/>
            <a:ext cx="91" cy="201168"/>
          </a:xfrm>
          <a:prstGeom prst="line">
            <a:avLst/>
          </a:prstGeom>
          <a:noFill/>
          <a:ln w="57150">
            <a:solidFill>
              <a:srgbClr val="1A2340"/>
            </a:solidFill>
            <a:prstDash val="solid"/>
          </a:ln>
        </p:spPr>
      </p:sp>
      <p:sp>
        <p:nvSpPr>
          <p:cNvPr id="22" name="Text 20"/>
          <p:cNvSpPr/>
          <p:nvPr/>
        </p:nvSpPr>
        <p:spPr>
          <a:xfrm>
            <a:off x="2423160" y="2020824"/>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battery (2 cells)</a:t>
            </a:r>
            <a:endParaRPr lang="en-US" sz="1100" dirty="0"/>
          </a:p>
        </p:txBody>
      </p:sp>
      <p:sp>
        <p:nvSpPr>
          <p:cNvPr id="23" name="Shape 21"/>
          <p:cNvSpPr/>
          <p:nvPr/>
        </p:nvSpPr>
        <p:spPr>
          <a:xfrm>
            <a:off x="4480560" y="1691640"/>
            <a:ext cx="475488" cy="91"/>
          </a:xfrm>
          <a:prstGeom prst="line">
            <a:avLst/>
          </a:prstGeom>
          <a:noFill/>
          <a:ln w="19050">
            <a:solidFill>
              <a:srgbClr val="1A2340"/>
            </a:solidFill>
            <a:prstDash val="solid"/>
          </a:ln>
        </p:spPr>
      </p:sp>
      <p:sp>
        <p:nvSpPr>
          <p:cNvPr id="24" name="Shape 22"/>
          <p:cNvSpPr/>
          <p:nvPr/>
        </p:nvSpPr>
        <p:spPr>
          <a:xfrm>
            <a:off x="5285232" y="1691640"/>
            <a:ext cx="475488" cy="91"/>
          </a:xfrm>
          <a:prstGeom prst="line">
            <a:avLst/>
          </a:prstGeom>
          <a:noFill/>
          <a:ln w="19050">
            <a:solidFill>
              <a:srgbClr val="1A2340"/>
            </a:solidFill>
            <a:prstDash val="solid"/>
          </a:ln>
        </p:spPr>
      </p:sp>
      <p:sp>
        <p:nvSpPr>
          <p:cNvPr id="25" name="Shape 23"/>
          <p:cNvSpPr/>
          <p:nvPr/>
        </p:nvSpPr>
        <p:spPr>
          <a:xfrm>
            <a:off x="4924044" y="1659636"/>
            <a:ext cx="64008" cy="64008"/>
          </a:xfrm>
          <a:prstGeom prst="ellipse">
            <a:avLst/>
          </a:prstGeom>
          <a:solidFill>
            <a:srgbClr val="1A2340"/>
          </a:solidFill>
          <a:ln w="12700">
            <a:solidFill>
              <a:srgbClr val="1A2340"/>
            </a:solidFill>
            <a:prstDash val="solid"/>
          </a:ln>
        </p:spPr>
      </p:sp>
      <p:sp>
        <p:nvSpPr>
          <p:cNvPr id="26" name="Shape 24"/>
          <p:cNvSpPr/>
          <p:nvPr/>
        </p:nvSpPr>
        <p:spPr>
          <a:xfrm>
            <a:off x="5253228" y="1659636"/>
            <a:ext cx="64008" cy="64008"/>
          </a:xfrm>
          <a:prstGeom prst="ellipse">
            <a:avLst/>
          </a:prstGeom>
          <a:solidFill>
            <a:srgbClr val="1A2340"/>
          </a:solidFill>
          <a:ln w="12700">
            <a:solidFill>
              <a:srgbClr val="1A2340"/>
            </a:solidFill>
            <a:prstDash val="solid"/>
          </a:ln>
        </p:spPr>
      </p:sp>
      <p:sp>
        <p:nvSpPr>
          <p:cNvPr id="27" name="Shape 25"/>
          <p:cNvSpPr/>
          <p:nvPr/>
        </p:nvSpPr>
        <p:spPr>
          <a:xfrm flipV="1">
            <a:off x="4956048" y="1508760"/>
            <a:ext cx="304495" cy="182880"/>
          </a:xfrm>
          <a:prstGeom prst="line">
            <a:avLst/>
          </a:prstGeom>
          <a:noFill/>
          <a:ln w="19050">
            <a:solidFill>
              <a:srgbClr val="1A2340"/>
            </a:solidFill>
            <a:prstDash val="solid"/>
          </a:ln>
        </p:spPr>
      </p:sp>
      <p:sp>
        <p:nvSpPr>
          <p:cNvPr id="28" name="Text 26"/>
          <p:cNvSpPr/>
          <p:nvPr/>
        </p:nvSpPr>
        <p:spPr>
          <a:xfrm>
            <a:off x="4297680" y="2020824"/>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switch (open)</a:t>
            </a:r>
            <a:endParaRPr lang="en-US" sz="1100" dirty="0"/>
          </a:p>
        </p:txBody>
      </p:sp>
      <p:sp>
        <p:nvSpPr>
          <p:cNvPr id="29" name="Shape 27"/>
          <p:cNvSpPr/>
          <p:nvPr/>
        </p:nvSpPr>
        <p:spPr>
          <a:xfrm>
            <a:off x="6355080" y="1691640"/>
            <a:ext cx="475488" cy="91"/>
          </a:xfrm>
          <a:prstGeom prst="line">
            <a:avLst/>
          </a:prstGeom>
          <a:noFill/>
          <a:ln w="19050">
            <a:solidFill>
              <a:srgbClr val="1A2340"/>
            </a:solidFill>
            <a:prstDash val="solid"/>
          </a:ln>
        </p:spPr>
      </p:sp>
      <p:sp>
        <p:nvSpPr>
          <p:cNvPr id="30" name="Shape 28"/>
          <p:cNvSpPr/>
          <p:nvPr/>
        </p:nvSpPr>
        <p:spPr>
          <a:xfrm>
            <a:off x="7159752" y="1691640"/>
            <a:ext cx="475488" cy="91"/>
          </a:xfrm>
          <a:prstGeom prst="line">
            <a:avLst/>
          </a:prstGeom>
          <a:noFill/>
          <a:ln w="19050">
            <a:solidFill>
              <a:srgbClr val="1A2340"/>
            </a:solidFill>
            <a:prstDash val="solid"/>
          </a:ln>
        </p:spPr>
      </p:sp>
      <p:sp>
        <p:nvSpPr>
          <p:cNvPr id="31" name="Shape 29"/>
          <p:cNvSpPr/>
          <p:nvPr/>
        </p:nvSpPr>
        <p:spPr>
          <a:xfrm>
            <a:off x="6798564" y="1659636"/>
            <a:ext cx="64008" cy="64008"/>
          </a:xfrm>
          <a:prstGeom prst="ellipse">
            <a:avLst/>
          </a:prstGeom>
          <a:solidFill>
            <a:srgbClr val="1A2340"/>
          </a:solidFill>
          <a:ln w="12700">
            <a:solidFill>
              <a:srgbClr val="1A2340"/>
            </a:solidFill>
            <a:prstDash val="solid"/>
          </a:ln>
        </p:spPr>
      </p:sp>
      <p:sp>
        <p:nvSpPr>
          <p:cNvPr id="32" name="Shape 30"/>
          <p:cNvSpPr/>
          <p:nvPr/>
        </p:nvSpPr>
        <p:spPr>
          <a:xfrm>
            <a:off x="7127748" y="1659636"/>
            <a:ext cx="64008" cy="64008"/>
          </a:xfrm>
          <a:prstGeom prst="ellipse">
            <a:avLst/>
          </a:prstGeom>
          <a:solidFill>
            <a:srgbClr val="1A2340"/>
          </a:solidFill>
          <a:ln w="12700">
            <a:solidFill>
              <a:srgbClr val="1A2340"/>
            </a:solidFill>
            <a:prstDash val="solid"/>
          </a:ln>
        </p:spPr>
      </p:sp>
      <p:sp>
        <p:nvSpPr>
          <p:cNvPr id="33" name="Shape 31"/>
          <p:cNvSpPr/>
          <p:nvPr/>
        </p:nvSpPr>
        <p:spPr>
          <a:xfrm>
            <a:off x="6830568" y="1691640"/>
            <a:ext cx="329184" cy="91"/>
          </a:xfrm>
          <a:prstGeom prst="line">
            <a:avLst/>
          </a:prstGeom>
          <a:noFill/>
          <a:ln w="19050">
            <a:solidFill>
              <a:srgbClr val="1A2340"/>
            </a:solidFill>
            <a:prstDash val="solid"/>
          </a:ln>
        </p:spPr>
      </p:sp>
      <p:sp>
        <p:nvSpPr>
          <p:cNvPr id="34" name="Text 32"/>
          <p:cNvSpPr/>
          <p:nvPr/>
        </p:nvSpPr>
        <p:spPr>
          <a:xfrm>
            <a:off x="6172200" y="2020824"/>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switch (closed)</a:t>
            </a:r>
            <a:endParaRPr lang="en-US" sz="1100" dirty="0"/>
          </a:p>
        </p:txBody>
      </p:sp>
      <p:sp>
        <p:nvSpPr>
          <p:cNvPr id="35" name="Shape 33"/>
          <p:cNvSpPr/>
          <p:nvPr/>
        </p:nvSpPr>
        <p:spPr>
          <a:xfrm>
            <a:off x="731520" y="2679192"/>
            <a:ext cx="475488" cy="91"/>
          </a:xfrm>
          <a:prstGeom prst="line">
            <a:avLst/>
          </a:prstGeom>
          <a:noFill/>
          <a:ln w="19050">
            <a:solidFill>
              <a:srgbClr val="1A2340"/>
            </a:solidFill>
            <a:prstDash val="solid"/>
          </a:ln>
        </p:spPr>
      </p:sp>
      <p:sp>
        <p:nvSpPr>
          <p:cNvPr id="36" name="Shape 34"/>
          <p:cNvSpPr/>
          <p:nvPr/>
        </p:nvSpPr>
        <p:spPr>
          <a:xfrm>
            <a:off x="1536192" y="2679192"/>
            <a:ext cx="475488" cy="91"/>
          </a:xfrm>
          <a:prstGeom prst="line">
            <a:avLst/>
          </a:prstGeom>
          <a:noFill/>
          <a:ln w="19050">
            <a:solidFill>
              <a:srgbClr val="1A2340"/>
            </a:solidFill>
            <a:prstDash val="solid"/>
          </a:ln>
        </p:spPr>
      </p:sp>
      <p:sp>
        <p:nvSpPr>
          <p:cNvPr id="37" name="Shape 35"/>
          <p:cNvSpPr/>
          <p:nvPr/>
        </p:nvSpPr>
        <p:spPr>
          <a:xfrm>
            <a:off x="1207008" y="2514600"/>
            <a:ext cx="329184" cy="329184"/>
          </a:xfrm>
          <a:prstGeom prst="ellipse">
            <a:avLst/>
          </a:prstGeom>
          <a:solidFill>
            <a:srgbClr val="FFFFFF"/>
          </a:solidFill>
          <a:ln w="19050">
            <a:solidFill>
              <a:srgbClr val="1A2340"/>
            </a:solidFill>
            <a:prstDash val="solid"/>
          </a:ln>
        </p:spPr>
      </p:sp>
      <p:sp>
        <p:nvSpPr>
          <p:cNvPr id="38" name="Shape 36"/>
          <p:cNvSpPr/>
          <p:nvPr/>
        </p:nvSpPr>
        <p:spPr>
          <a:xfrm>
            <a:off x="1255217" y="2562809"/>
            <a:ext cx="232766" cy="232766"/>
          </a:xfrm>
          <a:prstGeom prst="line">
            <a:avLst/>
          </a:prstGeom>
          <a:noFill/>
          <a:ln w="19050">
            <a:solidFill>
              <a:srgbClr val="1A2340"/>
            </a:solidFill>
            <a:prstDash val="solid"/>
          </a:ln>
        </p:spPr>
      </p:sp>
      <p:sp>
        <p:nvSpPr>
          <p:cNvPr id="39" name="Shape 37"/>
          <p:cNvSpPr/>
          <p:nvPr/>
        </p:nvSpPr>
        <p:spPr>
          <a:xfrm flipV="1">
            <a:off x="1255217" y="2562809"/>
            <a:ext cx="232766" cy="232766"/>
          </a:xfrm>
          <a:prstGeom prst="line">
            <a:avLst/>
          </a:prstGeom>
          <a:noFill/>
          <a:ln w="19050">
            <a:solidFill>
              <a:srgbClr val="1A2340"/>
            </a:solidFill>
            <a:prstDash val="solid"/>
          </a:ln>
        </p:spPr>
      </p:sp>
      <p:sp>
        <p:nvSpPr>
          <p:cNvPr id="40" name="Text 38"/>
          <p:cNvSpPr/>
          <p:nvPr/>
        </p:nvSpPr>
        <p:spPr>
          <a:xfrm>
            <a:off x="548640" y="3008376"/>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filament lamp</a:t>
            </a:r>
            <a:endParaRPr lang="en-US" sz="1100" dirty="0"/>
          </a:p>
        </p:txBody>
      </p:sp>
      <p:sp>
        <p:nvSpPr>
          <p:cNvPr id="41" name="Shape 39"/>
          <p:cNvSpPr/>
          <p:nvPr/>
        </p:nvSpPr>
        <p:spPr>
          <a:xfrm>
            <a:off x="2606040" y="2679192"/>
            <a:ext cx="393192" cy="91"/>
          </a:xfrm>
          <a:prstGeom prst="line">
            <a:avLst/>
          </a:prstGeom>
          <a:noFill/>
          <a:ln w="19050">
            <a:solidFill>
              <a:srgbClr val="1A2340"/>
            </a:solidFill>
            <a:prstDash val="solid"/>
          </a:ln>
        </p:spPr>
      </p:sp>
      <p:sp>
        <p:nvSpPr>
          <p:cNvPr id="42" name="Shape 40"/>
          <p:cNvSpPr/>
          <p:nvPr/>
        </p:nvSpPr>
        <p:spPr>
          <a:xfrm>
            <a:off x="3493008" y="2679192"/>
            <a:ext cx="393192" cy="91"/>
          </a:xfrm>
          <a:prstGeom prst="line">
            <a:avLst/>
          </a:prstGeom>
          <a:noFill/>
          <a:ln w="19050">
            <a:solidFill>
              <a:srgbClr val="1A2340"/>
            </a:solidFill>
            <a:prstDash val="solid"/>
          </a:ln>
        </p:spPr>
      </p:sp>
      <p:sp>
        <p:nvSpPr>
          <p:cNvPr id="43" name="Shape 41"/>
          <p:cNvSpPr/>
          <p:nvPr/>
        </p:nvSpPr>
        <p:spPr>
          <a:xfrm>
            <a:off x="2999232" y="2587752"/>
            <a:ext cx="493776" cy="182880"/>
          </a:xfrm>
          <a:prstGeom prst="rect">
            <a:avLst/>
          </a:prstGeom>
          <a:solidFill>
            <a:srgbClr val="FFFFFF"/>
          </a:solidFill>
          <a:ln w="19050">
            <a:solidFill>
              <a:srgbClr val="1A2340"/>
            </a:solidFill>
            <a:prstDash val="solid"/>
          </a:ln>
        </p:spPr>
      </p:sp>
      <p:sp>
        <p:nvSpPr>
          <p:cNvPr id="44" name="Text 42"/>
          <p:cNvSpPr/>
          <p:nvPr/>
        </p:nvSpPr>
        <p:spPr>
          <a:xfrm>
            <a:off x="2423160" y="3008376"/>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fixed resistor</a:t>
            </a:r>
            <a:endParaRPr lang="en-US" sz="1100" dirty="0"/>
          </a:p>
        </p:txBody>
      </p:sp>
      <p:sp>
        <p:nvSpPr>
          <p:cNvPr id="45" name="Shape 43"/>
          <p:cNvSpPr/>
          <p:nvPr/>
        </p:nvSpPr>
        <p:spPr>
          <a:xfrm>
            <a:off x="4480560" y="2679192"/>
            <a:ext cx="393192" cy="91"/>
          </a:xfrm>
          <a:prstGeom prst="line">
            <a:avLst/>
          </a:prstGeom>
          <a:noFill/>
          <a:ln w="19050">
            <a:solidFill>
              <a:srgbClr val="1A2340"/>
            </a:solidFill>
            <a:prstDash val="solid"/>
          </a:ln>
        </p:spPr>
      </p:sp>
      <p:sp>
        <p:nvSpPr>
          <p:cNvPr id="46" name="Shape 44"/>
          <p:cNvSpPr/>
          <p:nvPr/>
        </p:nvSpPr>
        <p:spPr>
          <a:xfrm>
            <a:off x="5367528" y="2679192"/>
            <a:ext cx="393192" cy="91"/>
          </a:xfrm>
          <a:prstGeom prst="line">
            <a:avLst/>
          </a:prstGeom>
          <a:noFill/>
          <a:ln w="19050">
            <a:solidFill>
              <a:srgbClr val="1A2340"/>
            </a:solidFill>
            <a:prstDash val="solid"/>
          </a:ln>
        </p:spPr>
      </p:sp>
      <p:sp>
        <p:nvSpPr>
          <p:cNvPr id="47" name="Shape 45"/>
          <p:cNvSpPr/>
          <p:nvPr/>
        </p:nvSpPr>
        <p:spPr>
          <a:xfrm>
            <a:off x="4873752" y="2587752"/>
            <a:ext cx="493776" cy="182880"/>
          </a:xfrm>
          <a:prstGeom prst="rect">
            <a:avLst/>
          </a:prstGeom>
          <a:solidFill>
            <a:srgbClr val="FFFFFF"/>
          </a:solidFill>
          <a:ln w="19050">
            <a:solidFill>
              <a:srgbClr val="1A2340"/>
            </a:solidFill>
            <a:prstDash val="solid"/>
          </a:ln>
        </p:spPr>
      </p:sp>
      <p:sp>
        <p:nvSpPr>
          <p:cNvPr id="48" name="Shape 46"/>
          <p:cNvSpPr/>
          <p:nvPr/>
        </p:nvSpPr>
        <p:spPr>
          <a:xfrm flipV="1">
            <a:off x="4828032" y="2459736"/>
            <a:ext cx="603504" cy="420624"/>
          </a:xfrm>
          <a:prstGeom prst="line">
            <a:avLst/>
          </a:prstGeom>
          <a:noFill/>
          <a:ln w="15875">
            <a:solidFill>
              <a:srgbClr val="1A2340"/>
            </a:solidFill>
            <a:prstDash val="solid"/>
            <a:tailEnd type="triangle"/>
          </a:ln>
        </p:spPr>
      </p:sp>
      <p:sp>
        <p:nvSpPr>
          <p:cNvPr id="49" name="Text 47"/>
          <p:cNvSpPr/>
          <p:nvPr/>
        </p:nvSpPr>
        <p:spPr>
          <a:xfrm>
            <a:off x="4297680" y="3008376"/>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variable resistor</a:t>
            </a:r>
            <a:endParaRPr lang="en-US" sz="1100" dirty="0"/>
          </a:p>
        </p:txBody>
      </p:sp>
      <p:sp>
        <p:nvSpPr>
          <p:cNvPr id="50" name="Shape 48"/>
          <p:cNvSpPr/>
          <p:nvPr/>
        </p:nvSpPr>
        <p:spPr>
          <a:xfrm>
            <a:off x="6355080" y="2679192"/>
            <a:ext cx="393192" cy="91"/>
          </a:xfrm>
          <a:prstGeom prst="line">
            <a:avLst/>
          </a:prstGeom>
          <a:noFill/>
          <a:ln w="19050">
            <a:solidFill>
              <a:srgbClr val="1A2340"/>
            </a:solidFill>
            <a:prstDash val="solid"/>
          </a:ln>
        </p:spPr>
      </p:sp>
      <p:sp>
        <p:nvSpPr>
          <p:cNvPr id="51" name="Shape 49"/>
          <p:cNvSpPr/>
          <p:nvPr/>
        </p:nvSpPr>
        <p:spPr>
          <a:xfrm>
            <a:off x="7242048" y="2679192"/>
            <a:ext cx="393192" cy="91"/>
          </a:xfrm>
          <a:prstGeom prst="line">
            <a:avLst/>
          </a:prstGeom>
          <a:noFill/>
          <a:ln w="19050">
            <a:solidFill>
              <a:srgbClr val="1A2340"/>
            </a:solidFill>
            <a:prstDash val="solid"/>
          </a:ln>
        </p:spPr>
      </p:sp>
      <p:sp>
        <p:nvSpPr>
          <p:cNvPr id="52" name="Shape 50"/>
          <p:cNvSpPr/>
          <p:nvPr/>
        </p:nvSpPr>
        <p:spPr>
          <a:xfrm>
            <a:off x="6748272" y="2596896"/>
            <a:ext cx="493776" cy="164592"/>
          </a:xfrm>
          <a:prstGeom prst="rect">
            <a:avLst/>
          </a:prstGeom>
          <a:solidFill>
            <a:srgbClr val="FFFFFF"/>
          </a:solidFill>
          <a:ln w="19050">
            <a:solidFill>
              <a:srgbClr val="1A2340"/>
            </a:solidFill>
            <a:prstDash val="solid"/>
          </a:ln>
        </p:spPr>
      </p:sp>
      <p:sp>
        <p:nvSpPr>
          <p:cNvPr id="53" name="Shape 51"/>
          <p:cNvSpPr/>
          <p:nvPr/>
        </p:nvSpPr>
        <p:spPr>
          <a:xfrm>
            <a:off x="6748272" y="2679192"/>
            <a:ext cx="493776" cy="91"/>
          </a:xfrm>
          <a:prstGeom prst="line">
            <a:avLst/>
          </a:prstGeom>
          <a:noFill/>
          <a:ln w="19050">
            <a:solidFill>
              <a:srgbClr val="1A2340"/>
            </a:solidFill>
            <a:prstDash val="solid"/>
          </a:ln>
        </p:spPr>
      </p:sp>
      <p:sp>
        <p:nvSpPr>
          <p:cNvPr id="54" name="Text 52"/>
          <p:cNvSpPr/>
          <p:nvPr/>
        </p:nvSpPr>
        <p:spPr>
          <a:xfrm>
            <a:off x="6172200" y="3008376"/>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fuse</a:t>
            </a:r>
            <a:endParaRPr lang="en-US" sz="1100" dirty="0"/>
          </a:p>
        </p:txBody>
      </p:sp>
      <p:sp>
        <p:nvSpPr>
          <p:cNvPr id="55" name="Shape 53"/>
          <p:cNvSpPr/>
          <p:nvPr/>
        </p:nvSpPr>
        <p:spPr>
          <a:xfrm>
            <a:off x="731520" y="3666744"/>
            <a:ext cx="466344" cy="91"/>
          </a:xfrm>
          <a:prstGeom prst="line">
            <a:avLst/>
          </a:prstGeom>
          <a:noFill/>
          <a:ln w="19050">
            <a:solidFill>
              <a:srgbClr val="1A2340"/>
            </a:solidFill>
            <a:prstDash val="solid"/>
          </a:ln>
        </p:spPr>
      </p:sp>
      <p:sp>
        <p:nvSpPr>
          <p:cNvPr id="56" name="Shape 54"/>
          <p:cNvSpPr/>
          <p:nvPr/>
        </p:nvSpPr>
        <p:spPr>
          <a:xfrm>
            <a:off x="1545336" y="3666744"/>
            <a:ext cx="466344" cy="91"/>
          </a:xfrm>
          <a:prstGeom prst="line">
            <a:avLst/>
          </a:prstGeom>
          <a:noFill/>
          <a:ln w="19050">
            <a:solidFill>
              <a:srgbClr val="1A2340"/>
            </a:solidFill>
            <a:prstDash val="solid"/>
          </a:ln>
        </p:spPr>
      </p:sp>
      <p:sp>
        <p:nvSpPr>
          <p:cNvPr id="57" name="Shape 55"/>
          <p:cNvSpPr/>
          <p:nvPr/>
        </p:nvSpPr>
        <p:spPr>
          <a:xfrm>
            <a:off x="1197864" y="3493008"/>
            <a:ext cx="347472" cy="347472"/>
          </a:xfrm>
          <a:prstGeom prst="ellipse">
            <a:avLst/>
          </a:prstGeom>
          <a:solidFill>
            <a:srgbClr val="FFFFFF"/>
          </a:solidFill>
          <a:ln w="19050">
            <a:solidFill>
              <a:srgbClr val="1A2340"/>
            </a:solidFill>
            <a:prstDash val="solid"/>
          </a:ln>
        </p:spPr>
      </p:sp>
      <p:sp>
        <p:nvSpPr>
          <p:cNvPr id="58" name="Text 56"/>
          <p:cNvSpPr/>
          <p:nvPr/>
        </p:nvSpPr>
        <p:spPr>
          <a:xfrm>
            <a:off x="1188720" y="3483864"/>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59" name="Text 57"/>
          <p:cNvSpPr/>
          <p:nvPr/>
        </p:nvSpPr>
        <p:spPr>
          <a:xfrm>
            <a:off x="548640" y="3995928"/>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ammeter</a:t>
            </a:r>
            <a:endParaRPr lang="en-US" sz="1100" dirty="0"/>
          </a:p>
        </p:txBody>
      </p:sp>
      <p:sp>
        <p:nvSpPr>
          <p:cNvPr id="60" name="Shape 58"/>
          <p:cNvSpPr/>
          <p:nvPr/>
        </p:nvSpPr>
        <p:spPr>
          <a:xfrm>
            <a:off x="2606040" y="3666744"/>
            <a:ext cx="466344" cy="91"/>
          </a:xfrm>
          <a:prstGeom prst="line">
            <a:avLst/>
          </a:prstGeom>
          <a:noFill/>
          <a:ln w="19050">
            <a:solidFill>
              <a:srgbClr val="1A2340"/>
            </a:solidFill>
            <a:prstDash val="solid"/>
          </a:ln>
        </p:spPr>
      </p:sp>
      <p:sp>
        <p:nvSpPr>
          <p:cNvPr id="61" name="Shape 59"/>
          <p:cNvSpPr/>
          <p:nvPr/>
        </p:nvSpPr>
        <p:spPr>
          <a:xfrm>
            <a:off x="3419856" y="3666744"/>
            <a:ext cx="466344" cy="91"/>
          </a:xfrm>
          <a:prstGeom prst="line">
            <a:avLst/>
          </a:prstGeom>
          <a:noFill/>
          <a:ln w="19050">
            <a:solidFill>
              <a:srgbClr val="1A2340"/>
            </a:solidFill>
            <a:prstDash val="solid"/>
          </a:ln>
        </p:spPr>
      </p:sp>
      <p:sp>
        <p:nvSpPr>
          <p:cNvPr id="62" name="Shape 60"/>
          <p:cNvSpPr/>
          <p:nvPr/>
        </p:nvSpPr>
        <p:spPr>
          <a:xfrm>
            <a:off x="3072384" y="3493008"/>
            <a:ext cx="347472" cy="347472"/>
          </a:xfrm>
          <a:prstGeom prst="ellipse">
            <a:avLst/>
          </a:prstGeom>
          <a:solidFill>
            <a:srgbClr val="FFFFFF"/>
          </a:solidFill>
          <a:ln w="19050">
            <a:solidFill>
              <a:srgbClr val="1A2340"/>
            </a:solidFill>
            <a:prstDash val="solid"/>
          </a:ln>
        </p:spPr>
      </p:sp>
      <p:sp>
        <p:nvSpPr>
          <p:cNvPr id="63" name="Text 61"/>
          <p:cNvSpPr/>
          <p:nvPr/>
        </p:nvSpPr>
        <p:spPr>
          <a:xfrm>
            <a:off x="3063240" y="3483864"/>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V</a:t>
            </a:r>
            <a:endParaRPr lang="en-US" sz="1300" dirty="0"/>
          </a:p>
        </p:txBody>
      </p:sp>
      <p:sp>
        <p:nvSpPr>
          <p:cNvPr id="64" name="Text 62"/>
          <p:cNvSpPr/>
          <p:nvPr/>
        </p:nvSpPr>
        <p:spPr>
          <a:xfrm>
            <a:off x="2423160" y="3995928"/>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voltmeter</a:t>
            </a:r>
            <a:endParaRPr lang="en-US" sz="1100" dirty="0"/>
          </a:p>
        </p:txBody>
      </p:sp>
      <p:sp>
        <p:nvSpPr>
          <p:cNvPr id="65" name="Shape 63"/>
          <p:cNvSpPr/>
          <p:nvPr/>
        </p:nvSpPr>
        <p:spPr>
          <a:xfrm>
            <a:off x="4480560" y="3666744"/>
            <a:ext cx="466344" cy="91"/>
          </a:xfrm>
          <a:prstGeom prst="line">
            <a:avLst/>
          </a:prstGeom>
          <a:noFill/>
          <a:ln w="19050">
            <a:solidFill>
              <a:srgbClr val="1A2340"/>
            </a:solidFill>
            <a:prstDash val="solid"/>
          </a:ln>
        </p:spPr>
      </p:sp>
      <p:sp>
        <p:nvSpPr>
          <p:cNvPr id="66" name="Shape 64"/>
          <p:cNvSpPr/>
          <p:nvPr/>
        </p:nvSpPr>
        <p:spPr>
          <a:xfrm>
            <a:off x="5294376" y="3666744"/>
            <a:ext cx="466344" cy="91"/>
          </a:xfrm>
          <a:prstGeom prst="line">
            <a:avLst/>
          </a:prstGeom>
          <a:noFill/>
          <a:ln w="19050">
            <a:solidFill>
              <a:srgbClr val="1A2340"/>
            </a:solidFill>
            <a:prstDash val="solid"/>
          </a:ln>
        </p:spPr>
      </p:sp>
      <p:sp>
        <p:nvSpPr>
          <p:cNvPr id="67" name="Shape 65"/>
          <p:cNvSpPr/>
          <p:nvPr/>
        </p:nvSpPr>
        <p:spPr>
          <a:xfrm>
            <a:off x="4946904" y="3493008"/>
            <a:ext cx="347472" cy="347472"/>
          </a:xfrm>
          <a:prstGeom prst="ellipse">
            <a:avLst/>
          </a:prstGeom>
          <a:solidFill>
            <a:srgbClr val="FFFFFF"/>
          </a:solidFill>
          <a:ln w="19050">
            <a:solidFill>
              <a:srgbClr val="1A2340"/>
            </a:solidFill>
            <a:prstDash val="solid"/>
          </a:ln>
        </p:spPr>
      </p:sp>
      <p:sp>
        <p:nvSpPr>
          <p:cNvPr id="68" name="Text 66"/>
          <p:cNvSpPr/>
          <p:nvPr/>
        </p:nvSpPr>
        <p:spPr>
          <a:xfrm>
            <a:off x="4937760" y="3483864"/>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M</a:t>
            </a:r>
            <a:endParaRPr lang="en-US" sz="1300" dirty="0"/>
          </a:p>
        </p:txBody>
      </p:sp>
      <p:sp>
        <p:nvSpPr>
          <p:cNvPr id="69" name="Text 67"/>
          <p:cNvSpPr/>
          <p:nvPr/>
        </p:nvSpPr>
        <p:spPr>
          <a:xfrm>
            <a:off x="4297680" y="3995928"/>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motor</a:t>
            </a:r>
            <a:endParaRPr lang="en-US" sz="1100" dirty="0"/>
          </a:p>
        </p:txBody>
      </p:sp>
      <p:sp>
        <p:nvSpPr>
          <p:cNvPr id="70" name="Shape 68"/>
          <p:cNvSpPr/>
          <p:nvPr/>
        </p:nvSpPr>
        <p:spPr>
          <a:xfrm>
            <a:off x="6355080" y="3666744"/>
            <a:ext cx="640080" cy="91"/>
          </a:xfrm>
          <a:prstGeom prst="line">
            <a:avLst/>
          </a:prstGeom>
          <a:noFill/>
          <a:ln w="19050">
            <a:solidFill>
              <a:srgbClr val="1A2340"/>
            </a:solidFill>
            <a:prstDash val="solid"/>
          </a:ln>
        </p:spPr>
      </p:sp>
      <p:sp>
        <p:nvSpPr>
          <p:cNvPr id="71" name="Shape 69"/>
          <p:cNvSpPr/>
          <p:nvPr/>
        </p:nvSpPr>
        <p:spPr>
          <a:xfrm>
            <a:off x="6995160" y="3666744"/>
            <a:ext cx="640080" cy="91"/>
          </a:xfrm>
          <a:prstGeom prst="line">
            <a:avLst/>
          </a:prstGeom>
          <a:noFill/>
          <a:ln w="19050">
            <a:solidFill>
              <a:srgbClr val="1A2340"/>
            </a:solidFill>
            <a:prstDash val="solid"/>
          </a:ln>
        </p:spPr>
      </p:sp>
      <p:sp>
        <p:nvSpPr>
          <p:cNvPr id="72" name="Shape 70"/>
          <p:cNvSpPr/>
          <p:nvPr/>
        </p:nvSpPr>
        <p:spPr>
          <a:xfrm rot="5400000">
            <a:off x="6862572" y="3561588"/>
            <a:ext cx="256032" cy="210312"/>
          </a:xfrm>
          <a:prstGeom prst="triangle">
            <a:avLst/>
          </a:prstGeom>
          <a:solidFill>
            <a:srgbClr val="1A2340"/>
          </a:solidFill>
          <a:ln w="12700">
            <a:solidFill>
              <a:srgbClr val="1A2340"/>
            </a:solidFill>
            <a:prstDash val="solid"/>
          </a:ln>
        </p:spPr>
      </p:sp>
      <p:sp>
        <p:nvSpPr>
          <p:cNvPr id="73" name="Shape 71"/>
          <p:cNvSpPr/>
          <p:nvPr/>
        </p:nvSpPr>
        <p:spPr>
          <a:xfrm>
            <a:off x="7095744" y="3538728"/>
            <a:ext cx="91" cy="256032"/>
          </a:xfrm>
          <a:prstGeom prst="line">
            <a:avLst/>
          </a:prstGeom>
          <a:noFill/>
          <a:ln w="25400">
            <a:solidFill>
              <a:srgbClr val="1A2340"/>
            </a:solidFill>
            <a:prstDash val="solid"/>
          </a:ln>
        </p:spPr>
      </p:sp>
      <p:sp>
        <p:nvSpPr>
          <p:cNvPr id="74" name="Text 72"/>
          <p:cNvSpPr/>
          <p:nvPr/>
        </p:nvSpPr>
        <p:spPr>
          <a:xfrm>
            <a:off x="6172200" y="3995928"/>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diode</a:t>
            </a:r>
            <a:endParaRPr lang="en-US" sz="1100" dirty="0"/>
          </a:p>
        </p:txBody>
      </p:sp>
      <p:sp>
        <p:nvSpPr>
          <p:cNvPr id="75" name="Shape 73"/>
          <p:cNvSpPr/>
          <p:nvPr/>
        </p:nvSpPr>
        <p:spPr>
          <a:xfrm>
            <a:off x="731520" y="4764024"/>
            <a:ext cx="640080" cy="91"/>
          </a:xfrm>
          <a:prstGeom prst="line">
            <a:avLst/>
          </a:prstGeom>
          <a:noFill/>
          <a:ln w="19050">
            <a:solidFill>
              <a:srgbClr val="1A2340"/>
            </a:solidFill>
            <a:prstDash val="solid"/>
          </a:ln>
        </p:spPr>
      </p:sp>
      <p:sp>
        <p:nvSpPr>
          <p:cNvPr id="76" name="Shape 74"/>
          <p:cNvSpPr/>
          <p:nvPr/>
        </p:nvSpPr>
        <p:spPr>
          <a:xfrm>
            <a:off x="1371600" y="4764024"/>
            <a:ext cx="640080" cy="91"/>
          </a:xfrm>
          <a:prstGeom prst="line">
            <a:avLst/>
          </a:prstGeom>
          <a:noFill/>
          <a:ln w="19050">
            <a:solidFill>
              <a:srgbClr val="1A2340"/>
            </a:solidFill>
            <a:prstDash val="solid"/>
          </a:ln>
        </p:spPr>
      </p:sp>
      <p:sp>
        <p:nvSpPr>
          <p:cNvPr id="77" name="Shape 75"/>
          <p:cNvSpPr/>
          <p:nvPr/>
        </p:nvSpPr>
        <p:spPr>
          <a:xfrm rot="5400000">
            <a:off x="1239012" y="4658868"/>
            <a:ext cx="256032" cy="210312"/>
          </a:xfrm>
          <a:prstGeom prst="triangle">
            <a:avLst/>
          </a:prstGeom>
          <a:solidFill>
            <a:srgbClr val="1A2340"/>
          </a:solidFill>
          <a:ln w="12700">
            <a:solidFill>
              <a:srgbClr val="1A2340"/>
            </a:solidFill>
            <a:prstDash val="solid"/>
          </a:ln>
        </p:spPr>
      </p:sp>
      <p:sp>
        <p:nvSpPr>
          <p:cNvPr id="78" name="Shape 76"/>
          <p:cNvSpPr/>
          <p:nvPr/>
        </p:nvSpPr>
        <p:spPr>
          <a:xfrm>
            <a:off x="1472184" y="4636008"/>
            <a:ext cx="91" cy="256032"/>
          </a:xfrm>
          <a:prstGeom prst="line">
            <a:avLst/>
          </a:prstGeom>
          <a:noFill/>
          <a:ln w="25400">
            <a:solidFill>
              <a:srgbClr val="1A2340"/>
            </a:solidFill>
            <a:prstDash val="solid"/>
          </a:ln>
        </p:spPr>
      </p:sp>
      <p:sp>
        <p:nvSpPr>
          <p:cNvPr id="79" name="Shape 77"/>
          <p:cNvSpPr/>
          <p:nvPr/>
        </p:nvSpPr>
        <p:spPr>
          <a:xfrm flipV="1">
            <a:off x="1353312" y="4379976"/>
            <a:ext cx="164592" cy="201168"/>
          </a:xfrm>
          <a:prstGeom prst="line">
            <a:avLst/>
          </a:prstGeom>
          <a:noFill/>
          <a:ln w="15875">
            <a:solidFill>
              <a:srgbClr val="1A2340"/>
            </a:solidFill>
            <a:prstDash val="solid"/>
            <a:tailEnd type="triangle"/>
          </a:ln>
        </p:spPr>
      </p:sp>
      <p:sp>
        <p:nvSpPr>
          <p:cNvPr id="80" name="Shape 78"/>
          <p:cNvSpPr/>
          <p:nvPr/>
        </p:nvSpPr>
        <p:spPr>
          <a:xfrm flipV="1">
            <a:off x="1481328" y="4379976"/>
            <a:ext cx="164592" cy="201168"/>
          </a:xfrm>
          <a:prstGeom prst="line">
            <a:avLst/>
          </a:prstGeom>
          <a:noFill/>
          <a:ln w="15875">
            <a:solidFill>
              <a:srgbClr val="1A2340"/>
            </a:solidFill>
            <a:prstDash val="solid"/>
            <a:tailEnd type="triangle"/>
          </a:ln>
        </p:spPr>
      </p:sp>
      <p:sp>
        <p:nvSpPr>
          <p:cNvPr id="81" name="Text 79"/>
          <p:cNvSpPr/>
          <p:nvPr/>
        </p:nvSpPr>
        <p:spPr>
          <a:xfrm>
            <a:off x="548640" y="5093208"/>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LED</a:t>
            </a:r>
            <a:endParaRPr lang="en-US" sz="1100" dirty="0"/>
          </a:p>
        </p:txBody>
      </p:sp>
      <p:sp>
        <p:nvSpPr>
          <p:cNvPr id="82" name="Shape 80"/>
          <p:cNvSpPr/>
          <p:nvPr/>
        </p:nvSpPr>
        <p:spPr>
          <a:xfrm>
            <a:off x="3026664" y="4544568"/>
            <a:ext cx="438912" cy="438912"/>
          </a:xfrm>
          <a:prstGeom prst="ellipse">
            <a:avLst/>
          </a:prstGeom>
          <a:solidFill>
            <a:srgbClr val="FFFFFF"/>
          </a:solidFill>
          <a:ln w="19050">
            <a:solidFill>
              <a:srgbClr val="1A2340"/>
            </a:solidFill>
            <a:prstDash val="solid"/>
          </a:ln>
        </p:spPr>
      </p:sp>
      <p:sp>
        <p:nvSpPr>
          <p:cNvPr id="83" name="Shape 81"/>
          <p:cNvSpPr/>
          <p:nvPr/>
        </p:nvSpPr>
        <p:spPr>
          <a:xfrm>
            <a:off x="2606040" y="4764024"/>
            <a:ext cx="493776" cy="91"/>
          </a:xfrm>
          <a:prstGeom prst="line">
            <a:avLst/>
          </a:prstGeom>
          <a:noFill/>
          <a:ln w="19050">
            <a:solidFill>
              <a:srgbClr val="1A2340"/>
            </a:solidFill>
            <a:prstDash val="solid"/>
          </a:ln>
        </p:spPr>
      </p:sp>
      <p:sp>
        <p:nvSpPr>
          <p:cNvPr id="84" name="Shape 82"/>
          <p:cNvSpPr/>
          <p:nvPr/>
        </p:nvSpPr>
        <p:spPr>
          <a:xfrm>
            <a:off x="3392424" y="4764024"/>
            <a:ext cx="493776" cy="91"/>
          </a:xfrm>
          <a:prstGeom prst="line">
            <a:avLst/>
          </a:prstGeom>
          <a:noFill/>
          <a:ln w="19050">
            <a:solidFill>
              <a:srgbClr val="1A2340"/>
            </a:solidFill>
            <a:prstDash val="solid"/>
          </a:ln>
        </p:spPr>
      </p:sp>
      <p:sp>
        <p:nvSpPr>
          <p:cNvPr id="85" name="Shape 83"/>
          <p:cNvSpPr/>
          <p:nvPr/>
        </p:nvSpPr>
        <p:spPr>
          <a:xfrm>
            <a:off x="3099816" y="4709160"/>
            <a:ext cx="292608" cy="109728"/>
          </a:xfrm>
          <a:prstGeom prst="rect">
            <a:avLst/>
          </a:prstGeom>
          <a:solidFill>
            <a:srgbClr val="FFFFFF"/>
          </a:solidFill>
          <a:ln w="19050">
            <a:solidFill>
              <a:srgbClr val="1A2340"/>
            </a:solidFill>
            <a:prstDash val="solid"/>
          </a:ln>
        </p:spPr>
      </p:sp>
      <p:sp>
        <p:nvSpPr>
          <p:cNvPr id="86" name="Shape 84"/>
          <p:cNvSpPr/>
          <p:nvPr/>
        </p:nvSpPr>
        <p:spPr>
          <a:xfrm>
            <a:off x="2894990" y="4310482"/>
            <a:ext cx="204826" cy="212141"/>
          </a:xfrm>
          <a:prstGeom prst="line">
            <a:avLst/>
          </a:prstGeom>
          <a:noFill/>
          <a:ln w="15875">
            <a:solidFill>
              <a:srgbClr val="1A2340"/>
            </a:solidFill>
            <a:prstDash val="solid"/>
            <a:tailEnd type="triangle"/>
          </a:ln>
        </p:spPr>
      </p:sp>
      <p:sp>
        <p:nvSpPr>
          <p:cNvPr id="87" name="Shape 85"/>
          <p:cNvSpPr/>
          <p:nvPr/>
        </p:nvSpPr>
        <p:spPr>
          <a:xfrm>
            <a:off x="3099816" y="4251960"/>
            <a:ext cx="175565" cy="241402"/>
          </a:xfrm>
          <a:prstGeom prst="line">
            <a:avLst/>
          </a:prstGeom>
          <a:noFill/>
          <a:ln w="15875">
            <a:solidFill>
              <a:srgbClr val="1A2340"/>
            </a:solidFill>
            <a:prstDash val="solid"/>
            <a:tailEnd type="triangle"/>
          </a:ln>
        </p:spPr>
      </p:sp>
      <p:sp>
        <p:nvSpPr>
          <p:cNvPr id="88" name="Text 86"/>
          <p:cNvSpPr/>
          <p:nvPr/>
        </p:nvSpPr>
        <p:spPr>
          <a:xfrm>
            <a:off x="2423160" y="5093208"/>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LDR</a:t>
            </a:r>
            <a:endParaRPr lang="en-US" sz="1100" dirty="0"/>
          </a:p>
        </p:txBody>
      </p:sp>
      <p:sp>
        <p:nvSpPr>
          <p:cNvPr id="89" name="Shape 87"/>
          <p:cNvSpPr/>
          <p:nvPr/>
        </p:nvSpPr>
        <p:spPr>
          <a:xfrm>
            <a:off x="4480560" y="4764024"/>
            <a:ext cx="393192" cy="91"/>
          </a:xfrm>
          <a:prstGeom prst="line">
            <a:avLst/>
          </a:prstGeom>
          <a:noFill/>
          <a:ln w="19050">
            <a:solidFill>
              <a:srgbClr val="1A2340"/>
            </a:solidFill>
            <a:prstDash val="solid"/>
          </a:ln>
        </p:spPr>
      </p:sp>
      <p:sp>
        <p:nvSpPr>
          <p:cNvPr id="90" name="Shape 88"/>
          <p:cNvSpPr/>
          <p:nvPr/>
        </p:nvSpPr>
        <p:spPr>
          <a:xfrm>
            <a:off x="5367528" y="4764024"/>
            <a:ext cx="393192" cy="91"/>
          </a:xfrm>
          <a:prstGeom prst="line">
            <a:avLst/>
          </a:prstGeom>
          <a:noFill/>
          <a:ln w="19050">
            <a:solidFill>
              <a:srgbClr val="1A2340"/>
            </a:solidFill>
            <a:prstDash val="solid"/>
          </a:ln>
        </p:spPr>
      </p:sp>
      <p:sp>
        <p:nvSpPr>
          <p:cNvPr id="91" name="Shape 89"/>
          <p:cNvSpPr/>
          <p:nvPr/>
        </p:nvSpPr>
        <p:spPr>
          <a:xfrm>
            <a:off x="4873752" y="4672584"/>
            <a:ext cx="493776" cy="182880"/>
          </a:xfrm>
          <a:prstGeom prst="rect">
            <a:avLst/>
          </a:prstGeom>
          <a:solidFill>
            <a:srgbClr val="FFFFFF"/>
          </a:solidFill>
          <a:ln w="19050">
            <a:solidFill>
              <a:srgbClr val="1A2340"/>
            </a:solidFill>
            <a:prstDash val="solid"/>
          </a:ln>
        </p:spPr>
      </p:sp>
      <p:sp>
        <p:nvSpPr>
          <p:cNvPr id="92" name="Shape 90"/>
          <p:cNvSpPr/>
          <p:nvPr/>
        </p:nvSpPr>
        <p:spPr>
          <a:xfrm>
            <a:off x="4736592" y="4956048"/>
            <a:ext cx="109728" cy="91"/>
          </a:xfrm>
          <a:prstGeom prst="line">
            <a:avLst/>
          </a:prstGeom>
          <a:noFill/>
          <a:ln w="19050">
            <a:solidFill>
              <a:srgbClr val="1A2340"/>
            </a:solidFill>
            <a:prstDash val="solid"/>
          </a:ln>
        </p:spPr>
      </p:sp>
      <p:sp>
        <p:nvSpPr>
          <p:cNvPr id="93" name="Shape 91"/>
          <p:cNvSpPr/>
          <p:nvPr/>
        </p:nvSpPr>
        <p:spPr>
          <a:xfrm flipV="1">
            <a:off x="4846320" y="4572000"/>
            <a:ext cx="548640" cy="384048"/>
          </a:xfrm>
          <a:prstGeom prst="line">
            <a:avLst/>
          </a:prstGeom>
          <a:noFill/>
          <a:ln w="19050">
            <a:solidFill>
              <a:srgbClr val="1A2340"/>
            </a:solidFill>
            <a:prstDash val="solid"/>
          </a:ln>
        </p:spPr>
      </p:sp>
      <p:sp>
        <p:nvSpPr>
          <p:cNvPr id="94" name="Text 92"/>
          <p:cNvSpPr/>
          <p:nvPr/>
        </p:nvSpPr>
        <p:spPr>
          <a:xfrm>
            <a:off x="4297680" y="5093208"/>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thermistor</a:t>
            </a:r>
            <a:endParaRPr lang="en-US" sz="1100" dirty="0"/>
          </a:p>
        </p:txBody>
      </p:sp>
      <p:sp>
        <p:nvSpPr>
          <p:cNvPr id="95" name="Shape 93"/>
          <p:cNvSpPr/>
          <p:nvPr/>
        </p:nvSpPr>
        <p:spPr>
          <a:xfrm>
            <a:off x="6355080" y="4764024"/>
            <a:ext cx="1280160" cy="91"/>
          </a:xfrm>
          <a:prstGeom prst="line">
            <a:avLst/>
          </a:prstGeom>
          <a:noFill/>
          <a:ln w="19050">
            <a:solidFill>
              <a:srgbClr val="1A2340"/>
            </a:solidFill>
            <a:prstDash val="solid"/>
          </a:ln>
        </p:spPr>
      </p:sp>
      <p:sp>
        <p:nvSpPr>
          <p:cNvPr id="96" name="Shape 94"/>
          <p:cNvSpPr/>
          <p:nvPr/>
        </p:nvSpPr>
        <p:spPr>
          <a:xfrm>
            <a:off x="6995160" y="4764024"/>
            <a:ext cx="91" cy="292608"/>
          </a:xfrm>
          <a:prstGeom prst="line">
            <a:avLst/>
          </a:prstGeom>
          <a:noFill/>
          <a:ln w="19050">
            <a:solidFill>
              <a:srgbClr val="1A2340"/>
            </a:solidFill>
            <a:prstDash val="solid"/>
          </a:ln>
        </p:spPr>
      </p:sp>
      <p:sp>
        <p:nvSpPr>
          <p:cNvPr id="97" name="Shape 95"/>
          <p:cNvSpPr/>
          <p:nvPr/>
        </p:nvSpPr>
        <p:spPr>
          <a:xfrm>
            <a:off x="6944868" y="4713732"/>
            <a:ext cx="100584" cy="100584"/>
          </a:xfrm>
          <a:prstGeom prst="ellipse">
            <a:avLst/>
          </a:prstGeom>
          <a:solidFill>
            <a:srgbClr val="1A2340"/>
          </a:solidFill>
          <a:ln w="6350">
            <a:solidFill>
              <a:srgbClr val="1A2340"/>
            </a:solidFill>
            <a:prstDash val="solid"/>
          </a:ln>
        </p:spPr>
      </p:sp>
      <p:sp>
        <p:nvSpPr>
          <p:cNvPr id="98" name="Text 96"/>
          <p:cNvSpPr/>
          <p:nvPr/>
        </p:nvSpPr>
        <p:spPr>
          <a:xfrm>
            <a:off x="6172200" y="5093208"/>
            <a:ext cx="164592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junction (dot)</a:t>
            </a:r>
            <a:endParaRPr lang="en-US" sz="1100" dirty="0"/>
          </a:p>
        </p:txBody>
      </p:sp>
      <p:sp>
        <p:nvSpPr>
          <p:cNvPr id="99" name="Shape 97"/>
          <p:cNvSpPr/>
          <p:nvPr/>
        </p:nvSpPr>
        <p:spPr>
          <a:xfrm>
            <a:off x="8183880" y="1188720"/>
            <a:ext cx="3593592" cy="4526280"/>
          </a:xfrm>
          <a:prstGeom prst="roundRect">
            <a:avLst>
              <a:gd name="adj" fmla="val 1527"/>
            </a:avLst>
          </a:prstGeom>
          <a:solidFill>
            <a:srgbClr val="F5F8FE"/>
          </a:solidFill>
          <a:ln w="9525">
            <a:solidFill>
              <a:srgbClr val="D5DCEB"/>
            </a:solidFill>
            <a:prstDash val="solid"/>
          </a:ln>
        </p:spPr>
      </p:sp>
      <p:sp>
        <p:nvSpPr>
          <p:cNvPr id="100" name="Text 98"/>
          <p:cNvSpPr/>
          <p:nvPr/>
        </p:nvSpPr>
        <p:spPr>
          <a:xfrm>
            <a:off x="8348472" y="1280160"/>
            <a:ext cx="326440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Drawing conventions</a:t>
            </a:r>
            <a:endParaRPr lang="en-US" sz="1300" dirty="0"/>
          </a:p>
        </p:txBody>
      </p:sp>
      <p:sp>
        <p:nvSpPr>
          <p:cNvPr id="101" name="Text 99"/>
          <p:cNvSpPr/>
          <p:nvPr/>
        </p:nvSpPr>
        <p:spPr>
          <a:xfrm>
            <a:off x="8348472" y="1609344"/>
            <a:ext cx="3264408" cy="403250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Draw wires as </a:t>
            </a:r>
            <a:r>
              <a:rPr lang="en-US" sz="1150" b="1" dirty="0">
                <a:solidFill>
                  <a:srgbClr val="262B3A"/>
                </a:solidFill>
                <a:latin typeface="Calibri" pitchFamily="34" charset="0"/>
                <a:ea typeface="Calibri" pitchFamily="34" charset="-122"/>
                <a:cs typeface="Calibri" pitchFamily="34" charset="-120"/>
              </a:rPr>
              <a:t>straight lines</a:t>
            </a:r>
            <a:r>
              <a:rPr lang="en-US" sz="1150" dirty="0">
                <a:solidFill>
                  <a:srgbClr val="262B3A"/>
                </a:solidFill>
                <a:latin typeface="Calibri" pitchFamily="34" charset="0"/>
                <a:ea typeface="Calibri" pitchFamily="34" charset="-122"/>
                <a:cs typeface="Calibri" pitchFamily="34" charset="-120"/>
              </a:rPr>
              <a:t> with square corners; use a ruler.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long thin line</a:t>
            </a:r>
            <a:r>
              <a:rPr lang="en-US" sz="1150" dirty="0">
                <a:solidFill>
                  <a:srgbClr val="262B3A"/>
                </a:solidFill>
                <a:latin typeface="Calibri" pitchFamily="34" charset="0"/>
                <a:ea typeface="Calibri" pitchFamily="34" charset="-122"/>
                <a:cs typeface="Calibri" pitchFamily="34" charset="-120"/>
              </a:rPr>
              <a:t> of a cell is the </a:t>
            </a:r>
            <a:r>
              <a:rPr lang="en-US" sz="1150" b="1" dirty="0">
                <a:solidFill>
                  <a:srgbClr val="262B3A"/>
                </a:solidFill>
                <a:latin typeface="Calibri" pitchFamily="34" charset="0"/>
                <a:ea typeface="Calibri" pitchFamily="34" charset="-122"/>
                <a:cs typeface="Calibri" pitchFamily="34" charset="-120"/>
              </a:rPr>
              <a:t>positive (+)</a:t>
            </a:r>
            <a:r>
              <a:rPr lang="en-US" sz="1150" dirty="0">
                <a:solidFill>
                  <a:srgbClr val="262B3A"/>
                </a:solidFill>
                <a:latin typeface="Calibri" pitchFamily="34" charset="0"/>
                <a:ea typeface="Calibri" pitchFamily="34" charset="-122"/>
                <a:cs typeface="Calibri" pitchFamily="34" charset="-120"/>
              </a:rPr>
              <a:t> terminal.</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dot</a:t>
            </a:r>
            <a:r>
              <a:rPr lang="en-US" sz="1150" dirty="0">
                <a:solidFill>
                  <a:srgbClr val="262B3A"/>
                </a:solidFill>
                <a:latin typeface="Calibri" pitchFamily="34" charset="0"/>
                <a:ea typeface="Calibri" pitchFamily="34" charset="-122"/>
                <a:cs typeface="Calibri" pitchFamily="34" charset="-120"/>
              </a:rPr>
              <a:t> shows a junction where wires join.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Ammeter: in </a:t>
            </a:r>
            <a:r>
              <a:rPr lang="en-US" sz="1150" b="1" dirty="0">
                <a:solidFill>
                  <a:srgbClr val="262B3A"/>
                </a:solidFill>
                <a:latin typeface="Calibri" pitchFamily="34" charset="0"/>
                <a:ea typeface="Calibri" pitchFamily="34" charset="-122"/>
                <a:cs typeface="Calibri" pitchFamily="34" charset="-120"/>
              </a:rPr>
              <a:t>series</a:t>
            </a:r>
            <a:r>
              <a:rPr lang="en-US" sz="1150" dirty="0">
                <a:solidFill>
                  <a:srgbClr val="262B3A"/>
                </a:solidFill>
                <a:latin typeface="Calibri" pitchFamily="34" charset="0"/>
                <a:ea typeface="Calibri" pitchFamily="34" charset="-122"/>
                <a:cs typeface="Calibri" pitchFamily="34" charset="-120"/>
              </a:rPr>
              <a:t>. Voltmeter: in </a:t>
            </a:r>
            <a:r>
              <a:rPr lang="en-US" sz="1150" b="1" dirty="0">
                <a:solidFill>
                  <a:srgbClr val="262B3A"/>
                </a:solidFill>
                <a:latin typeface="Calibri" pitchFamily="34" charset="0"/>
                <a:ea typeface="Calibri" pitchFamily="34" charset="-122"/>
                <a:cs typeface="Calibri" pitchFamily="34" charset="-120"/>
              </a:rPr>
              <a:t>parallel</a:t>
            </a:r>
            <a:r>
              <a:rPr lang="en-US" sz="1150" dirty="0">
                <a:solidFill>
                  <a:srgbClr val="262B3A"/>
                </a:solidFill>
                <a:latin typeface="Calibri" pitchFamily="34" charset="0"/>
                <a:ea typeface="Calibri" pitchFamily="34" charset="-122"/>
                <a:cs typeface="Calibri" pitchFamily="34" charset="-120"/>
              </a:rPr>
              <a:t> across a component.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diode triangle points in the direction of the </a:t>
            </a:r>
            <a:r>
              <a:rPr lang="en-US" sz="1150" b="1" dirty="0">
                <a:solidFill>
                  <a:srgbClr val="262B3A"/>
                </a:solidFill>
                <a:latin typeface="Calibri" pitchFamily="34" charset="0"/>
                <a:ea typeface="Calibri" pitchFamily="34" charset="-122"/>
                <a:cs typeface="Calibri" pitchFamily="34" charset="-120"/>
              </a:rPr>
              <a:t>conventional current</a:t>
            </a:r>
            <a:r>
              <a:rPr lang="en-US" sz="1150" dirty="0">
                <a:solidFill>
                  <a:srgbClr val="262B3A"/>
                </a:solidFill>
                <a:latin typeface="Calibri" pitchFamily="34" charset="0"/>
                <a:ea typeface="Calibri" pitchFamily="34" charset="-122"/>
                <a:cs typeface="Calibri" pitchFamily="34" charset="-120"/>
              </a:rPr>
              <a:t> it lets through.</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LDR arrows point </a:t>
            </a:r>
            <a:r>
              <a:rPr lang="en-US" sz="1150" b="1" dirty="0">
                <a:solidFill>
                  <a:srgbClr val="262B3A"/>
                </a:solidFill>
                <a:latin typeface="Calibri" pitchFamily="34" charset="0"/>
                <a:ea typeface="Calibri" pitchFamily="34" charset="-122"/>
                <a:cs typeface="Calibri" pitchFamily="34" charset="-120"/>
              </a:rPr>
              <a:t>in</a:t>
            </a:r>
            <a:r>
              <a:rPr lang="en-US" sz="1150" dirty="0">
                <a:solidFill>
                  <a:srgbClr val="262B3A"/>
                </a:solidFill>
                <a:latin typeface="Calibri" pitchFamily="34" charset="0"/>
                <a:ea typeface="Calibri" pitchFamily="34" charset="-122"/>
                <a:cs typeface="Calibri" pitchFamily="34" charset="-120"/>
              </a:rPr>
              <a:t> (light falls on it); LED arrows point </a:t>
            </a:r>
            <a:r>
              <a:rPr lang="en-US" sz="1150" b="1" dirty="0">
                <a:solidFill>
                  <a:srgbClr val="262B3A"/>
                </a:solidFill>
                <a:latin typeface="Calibri" pitchFamily="34" charset="0"/>
                <a:ea typeface="Calibri" pitchFamily="34" charset="-122"/>
                <a:cs typeface="Calibri" pitchFamily="34" charset="-120"/>
              </a:rPr>
              <a:t>out</a:t>
            </a:r>
            <a:r>
              <a:rPr lang="en-US" sz="1150" dirty="0">
                <a:solidFill>
                  <a:srgbClr val="262B3A"/>
                </a:solidFill>
                <a:latin typeface="Calibri" pitchFamily="34" charset="0"/>
                <a:ea typeface="Calibri" pitchFamily="34" charset="-122"/>
                <a:cs typeface="Calibri" pitchFamily="34" charset="-120"/>
              </a:rPr>
              <a:t> (it gives out light).</a:t>
            </a:r>
            <a:endParaRPr lang="en-US" sz="1150" dirty="0"/>
          </a:p>
        </p:txBody>
      </p:sp>
      <p:sp>
        <p:nvSpPr>
          <p:cNvPr id="102" name="Shape 100"/>
          <p:cNvSpPr/>
          <p:nvPr/>
        </p:nvSpPr>
        <p:spPr>
          <a:xfrm>
            <a:off x="411480" y="5833872"/>
            <a:ext cx="11368735" cy="530352"/>
          </a:xfrm>
          <a:prstGeom prst="rect">
            <a:avLst/>
          </a:prstGeom>
          <a:solidFill>
            <a:srgbClr val="FFF4E0"/>
          </a:solidFill>
          <a:ln w="6350">
            <a:solidFill>
              <a:srgbClr val="F1D9A8"/>
            </a:solidFill>
            <a:prstDash val="solid"/>
          </a:ln>
        </p:spPr>
      </p:sp>
      <p:sp>
        <p:nvSpPr>
          <p:cNvPr id="103" name="Shape 101"/>
          <p:cNvSpPr/>
          <p:nvPr/>
        </p:nvSpPr>
        <p:spPr>
          <a:xfrm>
            <a:off x="411480" y="5833872"/>
            <a:ext cx="82296" cy="530352"/>
          </a:xfrm>
          <a:prstGeom prst="rect">
            <a:avLst/>
          </a:prstGeom>
          <a:solidFill>
            <a:srgbClr val="E39A2F"/>
          </a:solidFill>
          <a:ln w="12700">
            <a:solidFill>
              <a:srgbClr val="E39A2F"/>
            </a:solidFill>
            <a:prstDash val="solid"/>
          </a:ln>
        </p:spPr>
      </p:sp>
      <p:sp>
        <p:nvSpPr>
          <p:cNvPr id="104" name="Text 10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Draw the symbols for a variable resistor, a thermistor and an LED. How is the LED symbol different from a diode?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Series and parallel circuits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10.3, 10.10 • one loop or several branches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10.3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battery and two identical lamps, connected two ways</a:t>
            </a:r>
            <a:endParaRPr lang="en-US" sz="1000" dirty="0"/>
          </a:p>
        </p:txBody>
      </p:sp>
      <p:sp>
        <p:nvSpPr>
          <p:cNvPr id="10" name="Text 8"/>
          <p:cNvSpPr/>
          <p:nvPr/>
        </p:nvSpPr>
        <p:spPr>
          <a:xfrm>
            <a:off x="594360" y="1298448"/>
            <a:ext cx="228600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Series: one loop</a:t>
            </a:r>
            <a:endParaRPr lang="en-US" sz="1200" dirty="0"/>
          </a:p>
        </p:txBody>
      </p:sp>
      <p:sp>
        <p:nvSpPr>
          <p:cNvPr id="11" name="Shape 9"/>
          <p:cNvSpPr/>
          <p:nvPr/>
        </p:nvSpPr>
        <p:spPr>
          <a:xfrm>
            <a:off x="1188720" y="1783080"/>
            <a:ext cx="850392" cy="91"/>
          </a:xfrm>
          <a:prstGeom prst="line">
            <a:avLst/>
          </a:prstGeom>
          <a:noFill/>
          <a:ln w="19050">
            <a:solidFill>
              <a:srgbClr val="1A2340"/>
            </a:solidFill>
            <a:prstDash val="solid"/>
          </a:ln>
        </p:spPr>
      </p:sp>
      <p:sp>
        <p:nvSpPr>
          <p:cNvPr id="12" name="Shape 10"/>
          <p:cNvSpPr/>
          <p:nvPr/>
        </p:nvSpPr>
        <p:spPr>
          <a:xfrm>
            <a:off x="2350008" y="1783080"/>
            <a:ext cx="850392" cy="91"/>
          </a:xfrm>
          <a:prstGeom prst="line">
            <a:avLst/>
          </a:prstGeom>
          <a:noFill/>
          <a:ln w="19050">
            <a:solidFill>
              <a:srgbClr val="1A2340"/>
            </a:solidFill>
            <a:prstDash val="solid"/>
          </a:ln>
        </p:spPr>
      </p:sp>
      <p:sp>
        <p:nvSpPr>
          <p:cNvPr id="13" name="Shape 11"/>
          <p:cNvSpPr/>
          <p:nvPr/>
        </p:nvSpPr>
        <p:spPr>
          <a:xfrm>
            <a:off x="2039112" y="1581912"/>
            <a:ext cx="91" cy="402336"/>
          </a:xfrm>
          <a:prstGeom prst="line">
            <a:avLst/>
          </a:prstGeom>
          <a:noFill/>
          <a:ln w="19050">
            <a:solidFill>
              <a:srgbClr val="1A2340"/>
            </a:solidFill>
            <a:prstDash val="solid"/>
          </a:ln>
        </p:spPr>
      </p:sp>
      <p:sp>
        <p:nvSpPr>
          <p:cNvPr id="14" name="Shape 12"/>
          <p:cNvSpPr/>
          <p:nvPr/>
        </p:nvSpPr>
        <p:spPr>
          <a:xfrm>
            <a:off x="2130552" y="1682496"/>
            <a:ext cx="91" cy="201168"/>
          </a:xfrm>
          <a:prstGeom prst="line">
            <a:avLst/>
          </a:prstGeom>
          <a:noFill/>
          <a:ln w="57150">
            <a:solidFill>
              <a:srgbClr val="1A2340"/>
            </a:solidFill>
            <a:prstDash val="solid"/>
          </a:ln>
        </p:spPr>
      </p:sp>
      <p:sp>
        <p:nvSpPr>
          <p:cNvPr id="15" name="Shape 13"/>
          <p:cNvSpPr/>
          <p:nvPr/>
        </p:nvSpPr>
        <p:spPr>
          <a:xfrm>
            <a:off x="2130552" y="1783080"/>
            <a:ext cx="128016" cy="91"/>
          </a:xfrm>
          <a:prstGeom prst="line">
            <a:avLst/>
          </a:prstGeom>
          <a:noFill/>
          <a:ln w="19050">
            <a:solidFill>
              <a:srgbClr val="1A2340"/>
            </a:solidFill>
            <a:prstDash val="solid"/>
          </a:ln>
        </p:spPr>
      </p:sp>
      <p:sp>
        <p:nvSpPr>
          <p:cNvPr id="16" name="Shape 14"/>
          <p:cNvSpPr/>
          <p:nvPr/>
        </p:nvSpPr>
        <p:spPr>
          <a:xfrm>
            <a:off x="2258568" y="1581912"/>
            <a:ext cx="91" cy="402336"/>
          </a:xfrm>
          <a:prstGeom prst="line">
            <a:avLst/>
          </a:prstGeom>
          <a:noFill/>
          <a:ln w="19050">
            <a:solidFill>
              <a:srgbClr val="1A2340"/>
            </a:solidFill>
            <a:prstDash val="solid"/>
          </a:ln>
        </p:spPr>
      </p:sp>
      <p:sp>
        <p:nvSpPr>
          <p:cNvPr id="17" name="Shape 15"/>
          <p:cNvSpPr/>
          <p:nvPr/>
        </p:nvSpPr>
        <p:spPr>
          <a:xfrm>
            <a:off x="2350008" y="1682496"/>
            <a:ext cx="91" cy="201168"/>
          </a:xfrm>
          <a:prstGeom prst="line">
            <a:avLst/>
          </a:prstGeom>
          <a:noFill/>
          <a:ln w="57150">
            <a:solidFill>
              <a:srgbClr val="1A2340"/>
            </a:solidFill>
            <a:prstDash val="solid"/>
          </a:ln>
        </p:spPr>
      </p:sp>
      <p:sp>
        <p:nvSpPr>
          <p:cNvPr id="18" name="Shape 16"/>
          <p:cNvSpPr/>
          <p:nvPr/>
        </p:nvSpPr>
        <p:spPr>
          <a:xfrm>
            <a:off x="3200400" y="1783080"/>
            <a:ext cx="841248" cy="91"/>
          </a:xfrm>
          <a:prstGeom prst="line">
            <a:avLst/>
          </a:prstGeom>
          <a:noFill/>
          <a:ln w="19050">
            <a:solidFill>
              <a:srgbClr val="1A2340"/>
            </a:solidFill>
            <a:prstDash val="solid"/>
          </a:ln>
        </p:spPr>
      </p:sp>
      <p:sp>
        <p:nvSpPr>
          <p:cNvPr id="19" name="Shape 17"/>
          <p:cNvSpPr/>
          <p:nvPr/>
        </p:nvSpPr>
        <p:spPr>
          <a:xfrm>
            <a:off x="4370832" y="1783080"/>
            <a:ext cx="841248" cy="91"/>
          </a:xfrm>
          <a:prstGeom prst="line">
            <a:avLst/>
          </a:prstGeom>
          <a:noFill/>
          <a:ln w="19050">
            <a:solidFill>
              <a:srgbClr val="1A2340"/>
            </a:solidFill>
            <a:prstDash val="solid"/>
          </a:ln>
        </p:spPr>
      </p:sp>
      <p:sp>
        <p:nvSpPr>
          <p:cNvPr id="20" name="Shape 18"/>
          <p:cNvSpPr/>
          <p:nvPr/>
        </p:nvSpPr>
        <p:spPr>
          <a:xfrm>
            <a:off x="4009644" y="1751076"/>
            <a:ext cx="64008" cy="64008"/>
          </a:xfrm>
          <a:prstGeom prst="ellipse">
            <a:avLst/>
          </a:prstGeom>
          <a:solidFill>
            <a:srgbClr val="1A2340"/>
          </a:solidFill>
          <a:ln w="12700">
            <a:solidFill>
              <a:srgbClr val="1A2340"/>
            </a:solidFill>
            <a:prstDash val="solid"/>
          </a:ln>
        </p:spPr>
      </p:sp>
      <p:sp>
        <p:nvSpPr>
          <p:cNvPr id="21" name="Shape 19"/>
          <p:cNvSpPr/>
          <p:nvPr/>
        </p:nvSpPr>
        <p:spPr>
          <a:xfrm>
            <a:off x="4338828" y="1751076"/>
            <a:ext cx="64008" cy="64008"/>
          </a:xfrm>
          <a:prstGeom prst="ellipse">
            <a:avLst/>
          </a:prstGeom>
          <a:solidFill>
            <a:srgbClr val="1A2340"/>
          </a:solidFill>
          <a:ln w="12700">
            <a:solidFill>
              <a:srgbClr val="1A2340"/>
            </a:solidFill>
            <a:prstDash val="solid"/>
          </a:ln>
        </p:spPr>
      </p:sp>
      <p:sp>
        <p:nvSpPr>
          <p:cNvPr id="22" name="Shape 20"/>
          <p:cNvSpPr/>
          <p:nvPr/>
        </p:nvSpPr>
        <p:spPr>
          <a:xfrm>
            <a:off x="4041648" y="1783080"/>
            <a:ext cx="329184" cy="91"/>
          </a:xfrm>
          <a:prstGeom prst="line">
            <a:avLst/>
          </a:prstGeom>
          <a:noFill/>
          <a:ln w="19050">
            <a:solidFill>
              <a:srgbClr val="1A2340"/>
            </a:solidFill>
            <a:prstDash val="solid"/>
          </a:ln>
        </p:spPr>
      </p:sp>
      <p:sp>
        <p:nvSpPr>
          <p:cNvPr id="23" name="Shape 21"/>
          <p:cNvSpPr/>
          <p:nvPr/>
        </p:nvSpPr>
        <p:spPr>
          <a:xfrm flipH="1">
            <a:off x="4370832" y="2834640"/>
            <a:ext cx="841248" cy="91"/>
          </a:xfrm>
          <a:prstGeom prst="line">
            <a:avLst/>
          </a:prstGeom>
          <a:noFill/>
          <a:ln w="19050">
            <a:solidFill>
              <a:srgbClr val="1A2340"/>
            </a:solidFill>
            <a:prstDash val="solid"/>
          </a:ln>
        </p:spPr>
      </p:sp>
      <p:sp>
        <p:nvSpPr>
          <p:cNvPr id="24" name="Shape 22"/>
          <p:cNvSpPr/>
          <p:nvPr/>
        </p:nvSpPr>
        <p:spPr>
          <a:xfrm flipH="1">
            <a:off x="3200400" y="2834640"/>
            <a:ext cx="841248" cy="91"/>
          </a:xfrm>
          <a:prstGeom prst="line">
            <a:avLst/>
          </a:prstGeom>
          <a:noFill/>
          <a:ln w="19050">
            <a:solidFill>
              <a:srgbClr val="1A2340"/>
            </a:solidFill>
            <a:prstDash val="solid"/>
          </a:ln>
        </p:spPr>
      </p:sp>
      <p:sp>
        <p:nvSpPr>
          <p:cNvPr id="25" name="Shape 23"/>
          <p:cNvSpPr/>
          <p:nvPr/>
        </p:nvSpPr>
        <p:spPr>
          <a:xfrm>
            <a:off x="4041648" y="2670048"/>
            <a:ext cx="329184" cy="329184"/>
          </a:xfrm>
          <a:prstGeom prst="ellipse">
            <a:avLst/>
          </a:prstGeom>
          <a:solidFill>
            <a:srgbClr val="FFFFFF"/>
          </a:solidFill>
          <a:ln w="19050">
            <a:solidFill>
              <a:srgbClr val="1A2340"/>
            </a:solidFill>
            <a:prstDash val="solid"/>
          </a:ln>
        </p:spPr>
      </p:sp>
      <p:sp>
        <p:nvSpPr>
          <p:cNvPr id="26" name="Shape 24"/>
          <p:cNvSpPr/>
          <p:nvPr/>
        </p:nvSpPr>
        <p:spPr>
          <a:xfrm flipH="1" flipV="1">
            <a:off x="4089857" y="2718257"/>
            <a:ext cx="232766" cy="232766"/>
          </a:xfrm>
          <a:prstGeom prst="line">
            <a:avLst/>
          </a:prstGeom>
          <a:noFill/>
          <a:ln w="19050">
            <a:solidFill>
              <a:srgbClr val="1A2340"/>
            </a:solidFill>
            <a:prstDash val="solid"/>
          </a:ln>
        </p:spPr>
      </p:sp>
      <p:sp>
        <p:nvSpPr>
          <p:cNvPr id="27" name="Shape 25"/>
          <p:cNvSpPr/>
          <p:nvPr/>
        </p:nvSpPr>
        <p:spPr>
          <a:xfrm flipH="1">
            <a:off x="4089857" y="2718257"/>
            <a:ext cx="232766" cy="232766"/>
          </a:xfrm>
          <a:prstGeom prst="line">
            <a:avLst/>
          </a:prstGeom>
          <a:noFill/>
          <a:ln w="19050">
            <a:solidFill>
              <a:srgbClr val="1A2340"/>
            </a:solidFill>
            <a:prstDash val="solid"/>
          </a:ln>
        </p:spPr>
      </p:sp>
      <p:sp>
        <p:nvSpPr>
          <p:cNvPr id="28" name="Text 26"/>
          <p:cNvSpPr/>
          <p:nvPr/>
        </p:nvSpPr>
        <p:spPr>
          <a:xfrm>
            <a:off x="3611880" y="238658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lamp 1</a:t>
            </a:r>
            <a:endParaRPr lang="en-US" sz="1050" dirty="0"/>
          </a:p>
        </p:txBody>
      </p:sp>
      <p:sp>
        <p:nvSpPr>
          <p:cNvPr id="29" name="Shape 27"/>
          <p:cNvSpPr/>
          <p:nvPr/>
        </p:nvSpPr>
        <p:spPr>
          <a:xfrm flipH="1">
            <a:off x="2359152" y="2834640"/>
            <a:ext cx="841248" cy="91"/>
          </a:xfrm>
          <a:prstGeom prst="line">
            <a:avLst/>
          </a:prstGeom>
          <a:noFill/>
          <a:ln w="19050">
            <a:solidFill>
              <a:srgbClr val="1A2340"/>
            </a:solidFill>
            <a:prstDash val="solid"/>
          </a:ln>
        </p:spPr>
      </p:sp>
      <p:sp>
        <p:nvSpPr>
          <p:cNvPr id="30" name="Shape 28"/>
          <p:cNvSpPr/>
          <p:nvPr/>
        </p:nvSpPr>
        <p:spPr>
          <a:xfrm flipH="1">
            <a:off x="1188720" y="2834640"/>
            <a:ext cx="841248" cy="91"/>
          </a:xfrm>
          <a:prstGeom prst="line">
            <a:avLst/>
          </a:prstGeom>
          <a:noFill/>
          <a:ln w="19050">
            <a:solidFill>
              <a:srgbClr val="1A2340"/>
            </a:solidFill>
            <a:prstDash val="solid"/>
          </a:ln>
        </p:spPr>
      </p:sp>
      <p:sp>
        <p:nvSpPr>
          <p:cNvPr id="31" name="Shape 29"/>
          <p:cNvSpPr/>
          <p:nvPr/>
        </p:nvSpPr>
        <p:spPr>
          <a:xfrm>
            <a:off x="2029968" y="2670048"/>
            <a:ext cx="329184" cy="329184"/>
          </a:xfrm>
          <a:prstGeom prst="ellipse">
            <a:avLst/>
          </a:prstGeom>
          <a:solidFill>
            <a:srgbClr val="FFFFFF"/>
          </a:solidFill>
          <a:ln w="19050">
            <a:solidFill>
              <a:srgbClr val="1A2340"/>
            </a:solidFill>
            <a:prstDash val="solid"/>
          </a:ln>
        </p:spPr>
      </p:sp>
      <p:sp>
        <p:nvSpPr>
          <p:cNvPr id="32" name="Shape 30"/>
          <p:cNvSpPr/>
          <p:nvPr/>
        </p:nvSpPr>
        <p:spPr>
          <a:xfrm flipH="1" flipV="1">
            <a:off x="2078177" y="2718257"/>
            <a:ext cx="232766" cy="232766"/>
          </a:xfrm>
          <a:prstGeom prst="line">
            <a:avLst/>
          </a:prstGeom>
          <a:noFill/>
          <a:ln w="19050">
            <a:solidFill>
              <a:srgbClr val="1A2340"/>
            </a:solidFill>
            <a:prstDash val="solid"/>
          </a:ln>
        </p:spPr>
      </p:sp>
      <p:sp>
        <p:nvSpPr>
          <p:cNvPr id="33" name="Shape 31"/>
          <p:cNvSpPr/>
          <p:nvPr/>
        </p:nvSpPr>
        <p:spPr>
          <a:xfrm flipH="1">
            <a:off x="2078177" y="2718257"/>
            <a:ext cx="232766" cy="232766"/>
          </a:xfrm>
          <a:prstGeom prst="line">
            <a:avLst/>
          </a:prstGeom>
          <a:noFill/>
          <a:ln w="19050">
            <a:solidFill>
              <a:srgbClr val="1A2340"/>
            </a:solidFill>
            <a:prstDash val="solid"/>
          </a:ln>
        </p:spPr>
      </p:sp>
      <p:sp>
        <p:nvSpPr>
          <p:cNvPr id="34" name="Text 32"/>
          <p:cNvSpPr/>
          <p:nvPr/>
        </p:nvSpPr>
        <p:spPr>
          <a:xfrm>
            <a:off x="1600200" y="238658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lamp 2</a:t>
            </a:r>
            <a:endParaRPr lang="en-US" sz="1050" dirty="0"/>
          </a:p>
        </p:txBody>
      </p:sp>
      <p:sp>
        <p:nvSpPr>
          <p:cNvPr id="35" name="Shape 33"/>
          <p:cNvSpPr/>
          <p:nvPr/>
        </p:nvSpPr>
        <p:spPr>
          <a:xfrm>
            <a:off x="1188720" y="1783080"/>
            <a:ext cx="91" cy="1051560"/>
          </a:xfrm>
          <a:prstGeom prst="line">
            <a:avLst/>
          </a:prstGeom>
          <a:noFill/>
          <a:ln w="19050">
            <a:solidFill>
              <a:srgbClr val="1A2340"/>
            </a:solidFill>
            <a:prstDash val="solid"/>
          </a:ln>
        </p:spPr>
      </p:sp>
      <p:sp>
        <p:nvSpPr>
          <p:cNvPr id="36" name="Shape 34"/>
          <p:cNvSpPr/>
          <p:nvPr/>
        </p:nvSpPr>
        <p:spPr>
          <a:xfrm>
            <a:off x="5212080" y="1783080"/>
            <a:ext cx="91" cy="1051560"/>
          </a:xfrm>
          <a:prstGeom prst="line">
            <a:avLst/>
          </a:prstGeom>
          <a:noFill/>
          <a:ln w="19050">
            <a:solidFill>
              <a:srgbClr val="1A2340"/>
            </a:solidFill>
            <a:prstDash val="solid"/>
          </a:ln>
        </p:spPr>
      </p:sp>
      <p:sp>
        <p:nvSpPr>
          <p:cNvPr id="37" name="Text 35"/>
          <p:cNvSpPr/>
          <p:nvPr/>
        </p:nvSpPr>
        <p:spPr>
          <a:xfrm>
            <a:off x="594360" y="3154680"/>
            <a:ext cx="228600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Parallel: two branches</a:t>
            </a:r>
            <a:endParaRPr lang="en-US" sz="1200" dirty="0"/>
          </a:p>
        </p:txBody>
      </p:sp>
      <p:sp>
        <p:nvSpPr>
          <p:cNvPr id="38" name="Shape 36"/>
          <p:cNvSpPr/>
          <p:nvPr/>
        </p:nvSpPr>
        <p:spPr>
          <a:xfrm>
            <a:off x="1188720" y="3611880"/>
            <a:ext cx="850392" cy="91"/>
          </a:xfrm>
          <a:prstGeom prst="line">
            <a:avLst/>
          </a:prstGeom>
          <a:noFill/>
          <a:ln w="19050">
            <a:solidFill>
              <a:srgbClr val="1A2340"/>
            </a:solidFill>
            <a:prstDash val="solid"/>
          </a:ln>
        </p:spPr>
      </p:sp>
      <p:sp>
        <p:nvSpPr>
          <p:cNvPr id="39" name="Shape 37"/>
          <p:cNvSpPr/>
          <p:nvPr/>
        </p:nvSpPr>
        <p:spPr>
          <a:xfrm>
            <a:off x="2350008" y="3611880"/>
            <a:ext cx="850392" cy="91"/>
          </a:xfrm>
          <a:prstGeom prst="line">
            <a:avLst/>
          </a:prstGeom>
          <a:noFill/>
          <a:ln w="19050">
            <a:solidFill>
              <a:srgbClr val="1A2340"/>
            </a:solidFill>
            <a:prstDash val="solid"/>
          </a:ln>
        </p:spPr>
      </p:sp>
      <p:sp>
        <p:nvSpPr>
          <p:cNvPr id="40" name="Shape 38"/>
          <p:cNvSpPr/>
          <p:nvPr/>
        </p:nvSpPr>
        <p:spPr>
          <a:xfrm>
            <a:off x="2039112" y="3410712"/>
            <a:ext cx="91" cy="402336"/>
          </a:xfrm>
          <a:prstGeom prst="line">
            <a:avLst/>
          </a:prstGeom>
          <a:noFill/>
          <a:ln w="19050">
            <a:solidFill>
              <a:srgbClr val="1A2340"/>
            </a:solidFill>
            <a:prstDash val="solid"/>
          </a:ln>
        </p:spPr>
      </p:sp>
      <p:sp>
        <p:nvSpPr>
          <p:cNvPr id="41" name="Shape 39"/>
          <p:cNvSpPr/>
          <p:nvPr/>
        </p:nvSpPr>
        <p:spPr>
          <a:xfrm>
            <a:off x="2130552" y="3511296"/>
            <a:ext cx="91" cy="201168"/>
          </a:xfrm>
          <a:prstGeom prst="line">
            <a:avLst/>
          </a:prstGeom>
          <a:noFill/>
          <a:ln w="57150">
            <a:solidFill>
              <a:srgbClr val="1A2340"/>
            </a:solidFill>
            <a:prstDash val="solid"/>
          </a:ln>
        </p:spPr>
      </p:sp>
      <p:sp>
        <p:nvSpPr>
          <p:cNvPr id="42" name="Shape 40"/>
          <p:cNvSpPr/>
          <p:nvPr/>
        </p:nvSpPr>
        <p:spPr>
          <a:xfrm>
            <a:off x="2130552" y="3611880"/>
            <a:ext cx="128016" cy="91"/>
          </a:xfrm>
          <a:prstGeom prst="line">
            <a:avLst/>
          </a:prstGeom>
          <a:noFill/>
          <a:ln w="19050">
            <a:solidFill>
              <a:srgbClr val="1A2340"/>
            </a:solidFill>
            <a:prstDash val="solid"/>
          </a:ln>
        </p:spPr>
      </p:sp>
      <p:sp>
        <p:nvSpPr>
          <p:cNvPr id="43" name="Shape 41"/>
          <p:cNvSpPr/>
          <p:nvPr/>
        </p:nvSpPr>
        <p:spPr>
          <a:xfrm>
            <a:off x="2258568" y="3410712"/>
            <a:ext cx="91" cy="402336"/>
          </a:xfrm>
          <a:prstGeom prst="line">
            <a:avLst/>
          </a:prstGeom>
          <a:noFill/>
          <a:ln w="19050">
            <a:solidFill>
              <a:srgbClr val="1A2340"/>
            </a:solidFill>
            <a:prstDash val="solid"/>
          </a:ln>
        </p:spPr>
      </p:sp>
      <p:sp>
        <p:nvSpPr>
          <p:cNvPr id="44" name="Shape 42"/>
          <p:cNvSpPr/>
          <p:nvPr/>
        </p:nvSpPr>
        <p:spPr>
          <a:xfrm>
            <a:off x="2350008" y="3511296"/>
            <a:ext cx="91" cy="201168"/>
          </a:xfrm>
          <a:prstGeom prst="line">
            <a:avLst/>
          </a:prstGeom>
          <a:noFill/>
          <a:ln w="57150">
            <a:solidFill>
              <a:srgbClr val="1A2340"/>
            </a:solidFill>
            <a:prstDash val="solid"/>
          </a:ln>
        </p:spPr>
      </p:sp>
      <p:sp>
        <p:nvSpPr>
          <p:cNvPr id="45" name="Shape 43"/>
          <p:cNvSpPr/>
          <p:nvPr/>
        </p:nvSpPr>
        <p:spPr>
          <a:xfrm>
            <a:off x="3200400" y="3611880"/>
            <a:ext cx="841248" cy="91"/>
          </a:xfrm>
          <a:prstGeom prst="line">
            <a:avLst/>
          </a:prstGeom>
          <a:noFill/>
          <a:ln w="19050">
            <a:solidFill>
              <a:srgbClr val="1A2340"/>
            </a:solidFill>
            <a:prstDash val="solid"/>
          </a:ln>
        </p:spPr>
      </p:sp>
      <p:sp>
        <p:nvSpPr>
          <p:cNvPr id="46" name="Shape 44"/>
          <p:cNvSpPr/>
          <p:nvPr/>
        </p:nvSpPr>
        <p:spPr>
          <a:xfrm>
            <a:off x="4370832" y="3611880"/>
            <a:ext cx="841248" cy="91"/>
          </a:xfrm>
          <a:prstGeom prst="line">
            <a:avLst/>
          </a:prstGeom>
          <a:noFill/>
          <a:ln w="19050">
            <a:solidFill>
              <a:srgbClr val="1A2340"/>
            </a:solidFill>
            <a:prstDash val="solid"/>
          </a:ln>
        </p:spPr>
      </p:sp>
      <p:sp>
        <p:nvSpPr>
          <p:cNvPr id="47" name="Shape 45"/>
          <p:cNvSpPr/>
          <p:nvPr/>
        </p:nvSpPr>
        <p:spPr>
          <a:xfrm>
            <a:off x="4009644" y="3579876"/>
            <a:ext cx="64008" cy="64008"/>
          </a:xfrm>
          <a:prstGeom prst="ellipse">
            <a:avLst/>
          </a:prstGeom>
          <a:solidFill>
            <a:srgbClr val="1A2340"/>
          </a:solidFill>
          <a:ln w="12700">
            <a:solidFill>
              <a:srgbClr val="1A2340"/>
            </a:solidFill>
            <a:prstDash val="solid"/>
          </a:ln>
        </p:spPr>
      </p:sp>
      <p:sp>
        <p:nvSpPr>
          <p:cNvPr id="48" name="Shape 46"/>
          <p:cNvSpPr/>
          <p:nvPr/>
        </p:nvSpPr>
        <p:spPr>
          <a:xfrm>
            <a:off x="4338828" y="3579876"/>
            <a:ext cx="64008" cy="64008"/>
          </a:xfrm>
          <a:prstGeom prst="ellipse">
            <a:avLst/>
          </a:prstGeom>
          <a:solidFill>
            <a:srgbClr val="1A2340"/>
          </a:solidFill>
          <a:ln w="12700">
            <a:solidFill>
              <a:srgbClr val="1A2340"/>
            </a:solidFill>
            <a:prstDash val="solid"/>
          </a:ln>
        </p:spPr>
      </p:sp>
      <p:sp>
        <p:nvSpPr>
          <p:cNvPr id="49" name="Shape 47"/>
          <p:cNvSpPr/>
          <p:nvPr/>
        </p:nvSpPr>
        <p:spPr>
          <a:xfrm>
            <a:off x="4041648" y="3611880"/>
            <a:ext cx="329184" cy="91"/>
          </a:xfrm>
          <a:prstGeom prst="line">
            <a:avLst/>
          </a:prstGeom>
          <a:noFill/>
          <a:ln w="19050">
            <a:solidFill>
              <a:srgbClr val="1A2340"/>
            </a:solidFill>
            <a:prstDash val="solid"/>
          </a:ln>
        </p:spPr>
      </p:sp>
      <p:sp>
        <p:nvSpPr>
          <p:cNvPr id="50" name="Shape 48"/>
          <p:cNvSpPr/>
          <p:nvPr/>
        </p:nvSpPr>
        <p:spPr>
          <a:xfrm>
            <a:off x="1188720" y="3611880"/>
            <a:ext cx="91" cy="1463040"/>
          </a:xfrm>
          <a:prstGeom prst="line">
            <a:avLst/>
          </a:prstGeom>
          <a:noFill/>
          <a:ln w="19050">
            <a:solidFill>
              <a:srgbClr val="1A2340"/>
            </a:solidFill>
            <a:prstDash val="solid"/>
          </a:ln>
        </p:spPr>
      </p:sp>
      <p:sp>
        <p:nvSpPr>
          <p:cNvPr id="51" name="Shape 49"/>
          <p:cNvSpPr/>
          <p:nvPr/>
        </p:nvSpPr>
        <p:spPr>
          <a:xfrm>
            <a:off x="5212080" y="3611880"/>
            <a:ext cx="91" cy="1463040"/>
          </a:xfrm>
          <a:prstGeom prst="line">
            <a:avLst/>
          </a:prstGeom>
          <a:noFill/>
          <a:ln w="19050">
            <a:solidFill>
              <a:srgbClr val="1A2340"/>
            </a:solidFill>
            <a:prstDash val="solid"/>
          </a:ln>
        </p:spPr>
      </p:sp>
      <p:sp>
        <p:nvSpPr>
          <p:cNvPr id="52" name="Shape 50"/>
          <p:cNvSpPr/>
          <p:nvPr/>
        </p:nvSpPr>
        <p:spPr>
          <a:xfrm>
            <a:off x="1188720" y="4343400"/>
            <a:ext cx="1847088" cy="91"/>
          </a:xfrm>
          <a:prstGeom prst="line">
            <a:avLst/>
          </a:prstGeom>
          <a:noFill/>
          <a:ln w="19050">
            <a:solidFill>
              <a:srgbClr val="1A2340"/>
            </a:solidFill>
            <a:prstDash val="solid"/>
          </a:ln>
        </p:spPr>
      </p:sp>
      <p:sp>
        <p:nvSpPr>
          <p:cNvPr id="53" name="Shape 51"/>
          <p:cNvSpPr/>
          <p:nvPr/>
        </p:nvSpPr>
        <p:spPr>
          <a:xfrm>
            <a:off x="3364992" y="4343400"/>
            <a:ext cx="1847088" cy="91"/>
          </a:xfrm>
          <a:prstGeom prst="line">
            <a:avLst/>
          </a:prstGeom>
          <a:noFill/>
          <a:ln w="19050">
            <a:solidFill>
              <a:srgbClr val="1A2340"/>
            </a:solidFill>
            <a:prstDash val="solid"/>
          </a:ln>
        </p:spPr>
      </p:sp>
      <p:sp>
        <p:nvSpPr>
          <p:cNvPr id="54" name="Shape 52"/>
          <p:cNvSpPr/>
          <p:nvPr/>
        </p:nvSpPr>
        <p:spPr>
          <a:xfrm>
            <a:off x="3035808" y="4178808"/>
            <a:ext cx="329184" cy="329184"/>
          </a:xfrm>
          <a:prstGeom prst="ellipse">
            <a:avLst/>
          </a:prstGeom>
          <a:solidFill>
            <a:srgbClr val="FFFFFF"/>
          </a:solidFill>
          <a:ln w="19050">
            <a:solidFill>
              <a:srgbClr val="1A2340"/>
            </a:solidFill>
            <a:prstDash val="solid"/>
          </a:ln>
        </p:spPr>
      </p:sp>
      <p:sp>
        <p:nvSpPr>
          <p:cNvPr id="55" name="Shape 53"/>
          <p:cNvSpPr/>
          <p:nvPr/>
        </p:nvSpPr>
        <p:spPr>
          <a:xfrm>
            <a:off x="3084017" y="4227017"/>
            <a:ext cx="232766" cy="232766"/>
          </a:xfrm>
          <a:prstGeom prst="line">
            <a:avLst/>
          </a:prstGeom>
          <a:noFill/>
          <a:ln w="19050">
            <a:solidFill>
              <a:srgbClr val="1A2340"/>
            </a:solidFill>
            <a:prstDash val="solid"/>
          </a:ln>
        </p:spPr>
      </p:sp>
      <p:sp>
        <p:nvSpPr>
          <p:cNvPr id="56" name="Shape 54"/>
          <p:cNvSpPr/>
          <p:nvPr/>
        </p:nvSpPr>
        <p:spPr>
          <a:xfrm flipV="1">
            <a:off x="3084017" y="4227017"/>
            <a:ext cx="232766" cy="232766"/>
          </a:xfrm>
          <a:prstGeom prst="line">
            <a:avLst/>
          </a:prstGeom>
          <a:noFill/>
          <a:ln w="19050">
            <a:solidFill>
              <a:srgbClr val="1A2340"/>
            </a:solidFill>
            <a:prstDash val="solid"/>
          </a:ln>
        </p:spPr>
      </p:sp>
      <p:sp>
        <p:nvSpPr>
          <p:cNvPr id="57" name="Text 55"/>
          <p:cNvSpPr/>
          <p:nvPr/>
        </p:nvSpPr>
        <p:spPr>
          <a:xfrm>
            <a:off x="2606040" y="389534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lamp 1</a:t>
            </a:r>
            <a:endParaRPr lang="en-US" sz="1050" dirty="0"/>
          </a:p>
        </p:txBody>
      </p:sp>
      <p:sp>
        <p:nvSpPr>
          <p:cNvPr id="58" name="Shape 56"/>
          <p:cNvSpPr/>
          <p:nvPr/>
        </p:nvSpPr>
        <p:spPr>
          <a:xfrm>
            <a:off x="1188720" y="5074920"/>
            <a:ext cx="1847088" cy="91"/>
          </a:xfrm>
          <a:prstGeom prst="line">
            <a:avLst/>
          </a:prstGeom>
          <a:noFill/>
          <a:ln w="19050">
            <a:solidFill>
              <a:srgbClr val="1A2340"/>
            </a:solidFill>
            <a:prstDash val="solid"/>
          </a:ln>
        </p:spPr>
      </p:sp>
      <p:sp>
        <p:nvSpPr>
          <p:cNvPr id="59" name="Shape 57"/>
          <p:cNvSpPr/>
          <p:nvPr/>
        </p:nvSpPr>
        <p:spPr>
          <a:xfrm>
            <a:off x="3364992" y="5074920"/>
            <a:ext cx="1847088" cy="91"/>
          </a:xfrm>
          <a:prstGeom prst="line">
            <a:avLst/>
          </a:prstGeom>
          <a:noFill/>
          <a:ln w="19050">
            <a:solidFill>
              <a:srgbClr val="1A2340"/>
            </a:solidFill>
            <a:prstDash val="solid"/>
          </a:ln>
        </p:spPr>
      </p:sp>
      <p:sp>
        <p:nvSpPr>
          <p:cNvPr id="60" name="Shape 58"/>
          <p:cNvSpPr/>
          <p:nvPr/>
        </p:nvSpPr>
        <p:spPr>
          <a:xfrm>
            <a:off x="3035808" y="4910328"/>
            <a:ext cx="329184" cy="329184"/>
          </a:xfrm>
          <a:prstGeom prst="ellipse">
            <a:avLst/>
          </a:prstGeom>
          <a:solidFill>
            <a:srgbClr val="FFFFFF"/>
          </a:solidFill>
          <a:ln w="19050">
            <a:solidFill>
              <a:srgbClr val="1A2340"/>
            </a:solidFill>
            <a:prstDash val="solid"/>
          </a:ln>
        </p:spPr>
      </p:sp>
      <p:sp>
        <p:nvSpPr>
          <p:cNvPr id="61" name="Shape 59"/>
          <p:cNvSpPr/>
          <p:nvPr/>
        </p:nvSpPr>
        <p:spPr>
          <a:xfrm>
            <a:off x="3084017" y="4958537"/>
            <a:ext cx="232766" cy="232766"/>
          </a:xfrm>
          <a:prstGeom prst="line">
            <a:avLst/>
          </a:prstGeom>
          <a:noFill/>
          <a:ln w="19050">
            <a:solidFill>
              <a:srgbClr val="1A2340"/>
            </a:solidFill>
            <a:prstDash val="solid"/>
          </a:ln>
        </p:spPr>
      </p:sp>
      <p:sp>
        <p:nvSpPr>
          <p:cNvPr id="62" name="Shape 60"/>
          <p:cNvSpPr/>
          <p:nvPr/>
        </p:nvSpPr>
        <p:spPr>
          <a:xfrm flipV="1">
            <a:off x="3084017" y="4958537"/>
            <a:ext cx="232766" cy="232766"/>
          </a:xfrm>
          <a:prstGeom prst="line">
            <a:avLst/>
          </a:prstGeom>
          <a:noFill/>
          <a:ln w="19050">
            <a:solidFill>
              <a:srgbClr val="1A2340"/>
            </a:solidFill>
            <a:prstDash val="solid"/>
          </a:ln>
        </p:spPr>
      </p:sp>
      <p:sp>
        <p:nvSpPr>
          <p:cNvPr id="63" name="Text 61"/>
          <p:cNvSpPr/>
          <p:nvPr/>
        </p:nvSpPr>
        <p:spPr>
          <a:xfrm>
            <a:off x="2606040" y="462686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lamp 2</a:t>
            </a:r>
            <a:endParaRPr lang="en-US" sz="1050" dirty="0"/>
          </a:p>
        </p:txBody>
      </p:sp>
      <p:sp>
        <p:nvSpPr>
          <p:cNvPr id="64" name="Shape 62"/>
          <p:cNvSpPr/>
          <p:nvPr/>
        </p:nvSpPr>
        <p:spPr>
          <a:xfrm>
            <a:off x="1138428" y="4293108"/>
            <a:ext cx="100584" cy="100584"/>
          </a:xfrm>
          <a:prstGeom prst="ellipse">
            <a:avLst/>
          </a:prstGeom>
          <a:solidFill>
            <a:srgbClr val="1A2340"/>
          </a:solidFill>
          <a:ln w="6350">
            <a:solidFill>
              <a:srgbClr val="1A2340"/>
            </a:solidFill>
            <a:prstDash val="solid"/>
          </a:ln>
        </p:spPr>
      </p:sp>
      <p:sp>
        <p:nvSpPr>
          <p:cNvPr id="65" name="Shape 63"/>
          <p:cNvSpPr/>
          <p:nvPr/>
        </p:nvSpPr>
        <p:spPr>
          <a:xfrm>
            <a:off x="5161788" y="4293108"/>
            <a:ext cx="100584" cy="100584"/>
          </a:xfrm>
          <a:prstGeom prst="ellipse">
            <a:avLst/>
          </a:prstGeom>
          <a:solidFill>
            <a:srgbClr val="1A2340"/>
          </a:solidFill>
          <a:ln w="6350">
            <a:solidFill>
              <a:srgbClr val="1A2340"/>
            </a:solidFill>
            <a:prstDash val="solid"/>
          </a:ln>
        </p:spPr>
      </p:sp>
      <p:sp>
        <p:nvSpPr>
          <p:cNvPr id="66" name="Shape 6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67" name="Text 6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ways to connect components</a:t>
            </a:r>
            <a:endParaRPr lang="en-US" sz="1300" dirty="0"/>
          </a:p>
        </p:txBody>
      </p:sp>
      <p:sp>
        <p:nvSpPr>
          <p:cNvPr id="68" name="Text 6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closed circuit</a:t>
            </a:r>
            <a:r>
              <a:rPr lang="en-US" sz="1150" dirty="0">
                <a:solidFill>
                  <a:srgbClr val="262B3A"/>
                </a:solidFill>
                <a:latin typeface="Calibri" pitchFamily="34" charset="0"/>
                <a:ea typeface="Calibri" pitchFamily="34" charset="-122"/>
                <a:cs typeface="Calibri" pitchFamily="34" charset="-120"/>
              </a:rPr>
              <a:t> with a source of p.d. (a cell or battery) has a </a:t>
            </a:r>
            <a:r>
              <a:rPr lang="en-US" sz="1150" b="1" dirty="0">
                <a:solidFill>
                  <a:srgbClr val="262B3A"/>
                </a:solidFill>
                <a:latin typeface="Calibri" pitchFamily="34" charset="0"/>
                <a:ea typeface="Calibri" pitchFamily="34" charset="-122"/>
                <a:cs typeface="Calibri" pitchFamily="34" charset="-120"/>
              </a:rPr>
              <a:t>current</a:t>
            </a:r>
            <a:r>
              <a:rPr lang="en-US" sz="1150" dirty="0">
                <a:solidFill>
                  <a:srgbClr val="262B3A"/>
                </a:solidFill>
                <a:latin typeface="Calibri" pitchFamily="34" charset="0"/>
                <a:ea typeface="Calibri" pitchFamily="34" charset="-122"/>
                <a:cs typeface="Calibri" pitchFamily="34" charset="-120"/>
              </a:rPr>
              <a:t> in it. Open the switch → no current.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Series:</a:t>
            </a:r>
            <a:r>
              <a:rPr lang="en-US" sz="1150" dirty="0">
                <a:solidFill>
                  <a:srgbClr val="262B3A"/>
                </a:solidFill>
                <a:latin typeface="Calibri" pitchFamily="34" charset="0"/>
                <a:ea typeface="Calibri" pitchFamily="34" charset="-122"/>
                <a:cs typeface="Calibri" pitchFamily="34" charset="-120"/>
              </a:rPr>
              <a:t> components in </a:t>
            </a:r>
            <a:r>
              <a:rPr lang="en-US" sz="1150" b="1" dirty="0">
                <a:solidFill>
                  <a:srgbClr val="262B3A"/>
                </a:solidFill>
                <a:latin typeface="Calibri" pitchFamily="34" charset="0"/>
                <a:ea typeface="Calibri" pitchFamily="34" charset="-122"/>
                <a:cs typeface="Calibri" pitchFamily="34" charset="-120"/>
              </a:rPr>
              <a:t>one loop</a:t>
            </a:r>
            <a:r>
              <a:rPr lang="en-US" sz="1150" dirty="0">
                <a:solidFill>
                  <a:srgbClr val="262B3A"/>
                </a:solidFill>
                <a:latin typeface="Calibri" pitchFamily="34" charset="0"/>
                <a:ea typeface="Calibri" pitchFamily="34" charset="-122"/>
                <a:cs typeface="Calibri" pitchFamily="34" charset="-120"/>
              </a:rPr>
              <a:t>. The same current passes through each one. One lamp breaks → all go off.</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Parallel:</a:t>
            </a:r>
            <a:r>
              <a:rPr lang="en-US" sz="1150" dirty="0">
                <a:solidFill>
                  <a:srgbClr val="262B3A"/>
                </a:solidFill>
                <a:latin typeface="Calibri" pitchFamily="34" charset="0"/>
                <a:ea typeface="Calibri" pitchFamily="34" charset="-122"/>
                <a:cs typeface="Calibri" pitchFamily="34" charset="-120"/>
              </a:rPr>
              <a:t> components on </a:t>
            </a:r>
            <a:r>
              <a:rPr lang="en-US" sz="1150" b="1" dirty="0">
                <a:solidFill>
                  <a:srgbClr val="262B3A"/>
                </a:solidFill>
                <a:latin typeface="Calibri" pitchFamily="34" charset="0"/>
                <a:ea typeface="Calibri" pitchFamily="34" charset="-122"/>
                <a:cs typeface="Calibri" pitchFamily="34" charset="-120"/>
              </a:rPr>
              <a:t>separate branches</a:t>
            </a:r>
            <a:r>
              <a:rPr lang="en-US" sz="1150" dirty="0">
                <a:solidFill>
                  <a:srgbClr val="262B3A"/>
                </a:solidFill>
                <a:latin typeface="Calibri" pitchFamily="34" charset="0"/>
                <a:ea typeface="Calibri" pitchFamily="34" charset="-122"/>
                <a:cs typeface="Calibri" pitchFamily="34" charset="-120"/>
              </a:rPr>
              <a:t>, each connected across the supply. Each branch can be switched on its own.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Homes are wired in </a:t>
            </a:r>
            <a:r>
              <a:rPr lang="en-US" sz="1150" b="1" dirty="0">
                <a:solidFill>
                  <a:srgbClr val="262B3A"/>
                </a:solidFill>
                <a:latin typeface="Calibri" pitchFamily="34" charset="0"/>
                <a:ea typeface="Calibri" pitchFamily="34" charset="-122"/>
                <a:cs typeface="Calibri" pitchFamily="34" charset="-120"/>
              </a:rPr>
              <a:t>parallel</a:t>
            </a:r>
            <a:r>
              <a:rPr lang="en-US" sz="1150" dirty="0">
                <a:solidFill>
                  <a:srgbClr val="262B3A"/>
                </a:solidFill>
                <a:latin typeface="Calibri" pitchFamily="34" charset="0"/>
                <a:ea typeface="Calibri" pitchFamily="34" charset="-122"/>
                <a:cs typeface="Calibri" pitchFamily="34" charset="-120"/>
              </a:rPr>
              <a:t>: each appliance gets the full mains p.d.</a:t>
            </a:r>
            <a:endParaRPr lang="en-US" sz="1150" dirty="0"/>
          </a:p>
        </p:txBody>
      </p:sp>
      <p:sp>
        <p:nvSpPr>
          <p:cNvPr id="69" name="Shape 6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0" name="Text 6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Compare the circuits</a:t>
            </a:r>
            <a:endParaRPr lang="en-US" sz="1300" dirty="0"/>
          </a:p>
        </p:txBody>
      </p:sp>
      <p:sp>
        <p:nvSpPr>
          <p:cNvPr id="71" name="Text 69"/>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One lamp “blows” (its filament breaks). What happens to the other lamp?</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Series   </a:t>
            </a:r>
            <a:r>
              <a:rPr lang="en-US" sz="1100" dirty="0">
                <a:solidFill>
                  <a:srgbClr val="262B3A"/>
                </a:solidFill>
                <a:latin typeface="Calibri" pitchFamily="34" charset="0"/>
                <a:ea typeface="Calibri" pitchFamily="34" charset="-122"/>
                <a:cs typeface="Calibri" pitchFamily="34" charset="-120"/>
              </a:rPr>
              <a:t>the only loop is broken → </a:t>
            </a:r>
            <a:r>
              <a:rPr lang="en-US" sz="1100" b="1" dirty="0">
                <a:solidFill>
                  <a:srgbClr val="262B3A"/>
                </a:solidFill>
                <a:latin typeface="Calibri" pitchFamily="34" charset="0"/>
                <a:ea typeface="Calibri" pitchFamily="34" charset="-122"/>
                <a:cs typeface="Calibri" pitchFamily="34" charset="-120"/>
              </a:rPr>
              <a:t>no current</a:t>
            </a:r>
            <a:r>
              <a:rPr lang="en-US" sz="1100" dirty="0">
                <a:solidFill>
                  <a:srgbClr val="262B3A"/>
                </a:solidFill>
                <a:latin typeface="Calibri" pitchFamily="34" charset="0"/>
                <a:ea typeface="Calibri" pitchFamily="34" charset="-122"/>
                <a:cs typeface="Calibri" pitchFamily="34" charset="-120"/>
              </a:rPr>
              <a:t> → other lamp goes </a:t>
            </a:r>
            <a:r>
              <a:rPr lang="en-US" sz="1100" b="1" dirty="0">
                <a:solidFill>
                  <a:srgbClr val="262B3A"/>
                </a:solidFill>
                <a:latin typeface="Calibri" pitchFamily="34" charset="0"/>
                <a:ea typeface="Calibri" pitchFamily="34" charset="-122"/>
                <a:cs typeface="Calibri" pitchFamily="34" charset="-120"/>
              </a:rPr>
              <a:t>off</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Parallel   </a:t>
            </a:r>
            <a:r>
              <a:rPr lang="en-US" sz="1100" dirty="0">
                <a:solidFill>
                  <a:srgbClr val="262B3A"/>
                </a:solidFill>
                <a:latin typeface="Calibri" pitchFamily="34" charset="0"/>
                <a:ea typeface="Calibri" pitchFamily="34" charset="-122"/>
                <a:cs typeface="Calibri" pitchFamily="34" charset="-120"/>
              </a:rPr>
              <a:t>the other branch is still a complete loop → it stays </a:t>
            </a:r>
            <a:r>
              <a:rPr lang="en-US" sz="1100" b="1" dirty="0">
                <a:solidFill>
                  <a:srgbClr val="262B3A"/>
                </a:solidFill>
                <a:latin typeface="Calibri" pitchFamily="34" charset="0"/>
                <a:ea typeface="Calibri" pitchFamily="34" charset="-122"/>
                <a:cs typeface="Calibri" pitchFamily="34" charset="-120"/>
              </a:rPr>
              <a:t>on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Why   </a:t>
            </a:r>
            <a:r>
              <a:rPr lang="en-US" sz="1100" dirty="0">
                <a:solidFill>
                  <a:srgbClr val="262B3A"/>
                </a:solidFill>
                <a:latin typeface="Calibri" pitchFamily="34" charset="0"/>
                <a:ea typeface="Calibri" pitchFamily="34" charset="-122"/>
                <a:cs typeface="Calibri" pitchFamily="34" charset="-120"/>
              </a:rPr>
              <a:t>a parallel circuit has more than one path for charge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use parallel when devices must work independently</a:t>
            </a:r>
            <a:endParaRPr lang="en-US" sz="1100" dirty="0"/>
          </a:p>
        </p:txBody>
      </p:sp>
      <p:sp>
        <p:nvSpPr>
          <p:cNvPr id="72" name="Shape 70"/>
          <p:cNvSpPr/>
          <p:nvPr/>
        </p:nvSpPr>
        <p:spPr>
          <a:xfrm>
            <a:off x="411480" y="5833872"/>
            <a:ext cx="11368735" cy="530352"/>
          </a:xfrm>
          <a:prstGeom prst="rect">
            <a:avLst/>
          </a:prstGeom>
          <a:solidFill>
            <a:srgbClr val="FFF4E0"/>
          </a:solidFill>
          <a:ln w="6350">
            <a:solidFill>
              <a:srgbClr val="F1D9A8"/>
            </a:solidFill>
            <a:prstDash val="solid"/>
          </a:ln>
        </p:spPr>
      </p:sp>
      <p:sp>
        <p:nvSpPr>
          <p:cNvPr id="73" name="Shape 71"/>
          <p:cNvSpPr/>
          <p:nvPr/>
        </p:nvSpPr>
        <p:spPr>
          <a:xfrm>
            <a:off x="411480" y="5833872"/>
            <a:ext cx="82296" cy="530352"/>
          </a:xfrm>
          <a:prstGeom prst="rect">
            <a:avLst/>
          </a:prstGeom>
          <a:solidFill>
            <a:srgbClr val="E39A2F"/>
          </a:solidFill>
          <a:ln w="12700">
            <a:solidFill>
              <a:srgbClr val="E39A2F"/>
            </a:solidFill>
            <a:prstDash val="solid"/>
          </a:ln>
        </p:spPr>
      </p:sp>
      <p:sp>
        <p:nvSpPr>
          <p:cNvPr id="74" name="Text 7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Fairy lights all go out when one bulb is removed. Are the bulbs in series or parallel? Explain.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Charge and current: Q = I × 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 10.8, 10.9 • current is the rate of flow of charge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10.8  |  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not to scale: in a metal wire the free electrons drift through the wire</a:t>
            </a:r>
            <a:endParaRPr lang="en-US" sz="1000" dirty="0"/>
          </a:p>
        </p:txBody>
      </p:sp>
      <p:sp>
        <p:nvSpPr>
          <p:cNvPr id="10" name="Shape 8"/>
          <p:cNvSpPr/>
          <p:nvPr/>
        </p:nvSpPr>
        <p:spPr>
          <a:xfrm>
            <a:off x="731520" y="1463040"/>
            <a:ext cx="1737360" cy="1737360"/>
          </a:xfrm>
          <a:prstGeom prst="ellipse">
            <a:avLst/>
          </a:prstGeom>
          <a:ln w="12700">
            <a:solidFill>
              <a:srgbClr val="6B7385"/>
            </a:solidFill>
            <a:prstDash val="dash"/>
          </a:ln>
        </p:spPr>
      </p:sp>
      <p:sp>
        <p:nvSpPr>
          <p:cNvPr id="11" name="Shape 9"/>
          <p:cNvSpPr/>
          <p:nvPr/>
        </p:nvSpPr>
        <p:spPr>
          <a:xfrm>
            <a:off x="1371600" y="2139696"/>
            <a:ext cx="237744" cy="237744"/>
          </a:xfrm>
          <a:prstGeom prst="ellipse">
            <a:avLst/>
          </a:prstGeom>
          <a:solidFill>
            <a:srgbClr val="C8414C"/>
          </a:solidFill>
          <a:ln w="9525">
            <a:solidFill>
              <a:srgbClr val="FFFFFF"/>
            </a:solidFill>
            <a:prstDash val="solid"/>
          </a:ln>
        </p:spPr>
      </p:sp>
      <p:sp>
        <p:nvSpPr>
          <p:cNvPr id="12" name="Shape 10"/>
          <p:cNvSpPr/>
          <p:nvPr/>
        </p:nvSpPr>
        <p:spPr>
          <a:xfrm>
            <a:off x="1572768" y="2121408"/>
            <a:ext cx="237744" cy="237744"/>
          </a:xfrm>
          <a:prstGeom prst="ellipse">
            <a:avLst/>
          </a:prstGeom>
          <a:solidFill>
            <a:srgbClr val="6B7385"/>
          </a:solidFill>
          <a:ln w="9525">
            <a:solidFill>
              <a:srgbClr val="FFFFFF"/>
            </a:solidFill>
            <a:prstDash val="solid"/>
          </a:ln>
        </p:spPr>
      </p:sp>
      <p:sp>
        <p:nvSpPr>
          <p:cNvPr id="13" name="Shape 11"/>
          <p:cNvSpPr/>
          <p:nvPr/>
        </p:nvSpPr>
        <p:spPr>
          <a:xfrm>
            <a:off x="1481328" y="2304288"/>
            <a:ext cx="237744" cy="237744"/>
          </a:xfrm>
          <a:prstGeom prst="ellipse">
            <a:avLst/>
          </a:prstGeom>
          <a:solidFill>
            <a:srgbClr val="C8414C"/>
          </a:solidFill>
          <a:ln w="9525">
            <a:solidFill>
              <a:srgbClr val="FFFFFF"/>
            </a:solidFill>
            <a:prstDash val="solid"/>
          </a:ln>
        </p:spPr>
      </p:sp>
      <p:sp>
        <p:nvSpPr>
          <p:cNvPr id="14" name="Shape 12"/>
          <p:cNvSpPr/>
          <p:nvPr/>
        </p:nvSpPr>
        <p:spPr>
          <a:xfrm>
            <a:off x="1353312" y="2322576"/>
            <a:ext cx="237744" cy="237744"/>
          </a:xfrm>
          <a:prstGeom prst="ellipse">
            <a:avLst/>
          </a:prstGeom>
          <a:solidFill>
            <a:srgbClr val="6B7385"/>
          </a:solidFill>
          <a:ln w="9525">
            <a:solidFill>
              <a:srgbClr val="FFFFFF"/>
            </a:solidFill>
            <a:prstDash val="solid"/>
          </a:ln>
        </p:spPr>
      </p:sp>
      <p:sp>
        <p:nvSpPr>
          <p:cNvPr id="15" name="Shape 13"/>
          <p:cNvSpPr/>
          <p:nvPr/>
        </p:nvSpPr>
        <p:spPr>
          <a:xfrm>
            <a:off x="1600200" y="2313432"/>
            <a:ext cx="237744" cy="237744"/>
          </a:xfrm>
          <a:prstGeom prst="ellipse">
            <a:avLst/>
          </a:prstGeom>
          <a:solidFill>
            <a:srgbClr val="C8414C"/>
          </a:solidFill>
          <a:ln w="9525">
            <a:solidFill>
              <a:srgbClr val="FFFFFF"/>
            </a:solidFill>
            <a:prstDash val="solid"/>
          </a:ln>
        </p:spPr>
      </p:sp>
      <p:sp>
        <p:nvSpPr>
          <p:cNvPr id="16" name="Shape 14"/>
          <p:cNvSpPr/>
          <p:nvPr/>
        </p:nvSpPr>
        <p:spPr>
          <a:xfrm>
            <a:off x="2386584" y="2249424"/>
            <a:ext cx="164592" cy="164592"/>
          </a:xfrm>
          <a:prstGeom prst="ellipse">
            <a:avLst/>
          </a:prstGeom>
          <a:solidFill>
            <a:srgbClr val="2E5BD8"/>
          </a:solidFill>
          <a:ln w="12700">
            <a:solidFill>
              <a:srgbClr val="2E5BD8"/>
            </a:solidFill>
            <a:prstDash val="solid"/>
          </a:ln>
        </p:spPr>
      </p:sp>
      <p:sp>
        <p:nvSpPr>
          <p:cNvPr id="17" name="Shape 15"/>
          <p:cNvSpPr/>
          <p:nvPr/>
        </p:nvSpPr>
        <p:spPr>
          <a:xfrm>
            <a:off x="905256" y="1636776"/>
            <a:ext cx="164592" cy="164592"/>
          </a:xfrm>
          <a:prstGeom prst="ellipse">
            <a:avLst/>
          </a:prstGeom>
          <a:solidFill>
            <a:srgbClr val="2E5BD8"/>
          </a:solidFill>
          <a:ln w="12700">
            <a:solidFill>
              <a:srgbClr val="2E5BD8"/>
            </a:solidFill>
            <a:prstDash val="solid"/>
          </a:ln>
        </p:spPr>
      </p:sp>
      <p:sp>
        <p:nvSpPr>
          <p:cNvPr id="18" name="Shape 16"/>
          <p:cNvSpPr/>
          <p:nvPr/>
        </p:nvSpPr>
        <p:spPr>
          <a:xfrm>
            <a:off x="1152144" y="3035808"/>
            <a:ext cx="164592" cy="164592"/>
          </a:xfrm>
          <a:prstGeom prst="ellipse">
            <a:avLst/>
          </a:prstGeom>
          <a:solidFill>
            <a:srgbClr val="2E5BD8"/>
          </a:solidFill>
          <a:ln w="12700">
            <a:solidFill>
              <a:srgbClr val="2E5BD8"/>
            </a:solidFill>
            <a:prstDash val="solid"/>
          </a:ln>
        </p:spPr>
      </p:sp>
      <p:sp>
        <p:nvSpPr>
          <p:cNvPr id="19" name="Text 17"/>
          <p:cNvSpPr/>
          <p:nvPr/>
        </p:nvSpPr>
        <p:spPr>
          <a:xfrm>
            <a:off x="2880360" y="1463040"/>
            <a:ext cx="292608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particle   charge   mass</a:t>
            </a:r>
            <a:endParaRPr lang="en-US" sz="1050" dirty="0"/>
          </a:p>
        </p:txBody>
      </p:sp>
      <p:sp>
        <p:nvSpPr>
          <p:cNvPr id="20" name="Shape 18"/>
          <p:cNvSpPr/>
          <p:nvPr/>
        </p:nvSpPr>
        <p:spPr>
          <a:xfrm>
            <a:off x="2880360" y="1856232"/>
            <a:ext cx="164592" cy="164592"/>
          </a:xfrm>
          <a:prstGeom prst="ellipse">
            <a:avLst/>
          </a:prstGeom>
          <a:solidFill>
            <a:srgbClr val="C8414C"/>
          </a:solidFill>
          <a:ln/>
        </p:spPr>
      </p:sp>
      <p:sp>
        <p:nvSpPr>
          <p:cNvPr id="21" name="Text 19"/>
          <p:cNvSpPr/>
          <p:nvPr/>
        </p:nvSpPr>
        <p:spPr>
          <a:xfrm>
            <a:off x="3108960" y="1792224"/>
            <a:ext cx="91440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proton</a:t>
            </a:r>
            <a:endParaRPr lang="en-US" sz="1050" dirty="0"/>
          </a:p>
        </p:txBody>
      </p:sp>
      <p:sp>
        <p:nvSpPr>
          <p:cNvPr id="22" name="Text 20"/>
          <p:cNvSpPr/>
          <p:nvPr/>
        </p:nvSpPr>
        <p:spPr>
          <a:xfrm>
            <a:off x="3931920" y="1792224"/>
            <a:ext cx="5486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a:t>
            </a:r>
            <a:endParaRPr lang="en-US" sz="1050" dirty="0"/>
          </a:p>
        </p:txBody>
      </p:sp>
      <p:sp>
        <p:nvSpPr>
          <p:cNvPr id="23" name="Text 21"/>
          <p:cNvSpPr/>
          <p:nvPr/>
        </p:nvSpPr>
        <p:spPr>
          <a:xfrm>
            <a:off x="4526280" y="1792224"/>
            <a:ext cx="128016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p>
        </p:txBody>
      </p:sp>
      <p:sp>
        <p:nvSpPr>
          <p:cNvPr id="24" name="Shape 22"/>
          <p:cNvSpPr/>
          <p:nvPr/>
        </p:nvSpPr>
        <p:spPr>
          <a:xfrm>
            <a:off x="2880360" y="2221992"/>
            <a:ext cx="164592" cy="164592"/>
          </a:xfrm>
          <a:prstGeom prst="ellipse">
            <a:avLst/>
          </a:prstGeom>
          <a:solidFill>
            <a:srgbClr val="6B7385"/>
          </a:solidFill>
          <a:ln/>
        </p:spPr>
      </p:sp>
      <p:sp>
        <p:nvSpPr>
          <p:cNvPr id="25" name="Text 23"/>
          <p:cNvSpPr/>
          <p:nvPr/>
        </p:nvSpPr>
        <p:spPr>
          <a:xfrm>
            <a:off x="3108960" y="2157984"/>
            <a:ext cx="91440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neutron</a:t>
            </a:r>
            <a:endParaRPr lang="en-US" sz="1050" dirty="0"/>
          </a:p>
        </p:txBody>
      </p:sp>
      <p:sp>
        <p:nvSpPr>
          <p:cNvPr id="26" name="Text 24"/>
          <p:cNvSpPr/>
          <p:nvPr/>
        </p:nvSpPr>
        <p:spPr>
          <a:xfrm>
            <a:off x="3931920" y="2157984"/>
            <a:ext cx="5486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0</a:t>
            </a:r>
            <a:endParaRPr lang="en-US" sz="1050" dirty="0"/>
          </a:p>
        </p:txBody>
      </p:sp>
      <p:sp>
        <p:nvSpPr>
          <p:cNvPr id="27" name="Text 25"/>
          <p:cNvSpPr/>
          <p:nvPr/>
        </p:nvSpPr>
        <p:spPr>
          <a:xfrm>
            <a:off x="4526280" y="2157984"/>
            <a:ext cx="128016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p>
        </p:txBody>
      </p:sp>
      <p:sp>
        <p:nvSpPr>
          <p:cNvPr id="28" name="Shape 26"/>
          <p:cNvSpPr/>
          <p:nvPr/>
        </p:nvSpPr>
        <p:spPr>
          <a:xfrm>
            <a:off x="2880360" y="2587752"/>
            <a:ext cx="164592" cy="164592"/>
          </a:xfrm>
          <a:prstGeom prst="ellipse">
            <a:avLst/>
          </a:prstGeom>
          <a:solidFill>
            <a:srgbClr val="2E5BD8"/>
          </a:solidFill>
          <a:ln/>
        </p:spPr>
      </p:sp>
      <p:sp>
        <p:nvSpPr>
          <p:cNvPr id="29" name="Text 27"/>
          <p:cNvSpPr/>
          <p:nvPr/>
        </p:nvSpPr>
        <p:spPr>
          <a:xfrm>
            <a:off x="3108960" y="2523744"/>
            <a:ext cx="91440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electron</a:t>
            </a:r>
            <a:endParaRPr lang="en-US" sz="1050" dirty="0"/>
          </a:p>
        </p:txBody>
      </p:sp>
      <p:sp>
        <p:nvSpPr>
          <p:cNvPr id="30" name="Text 28"/>
          <p:cNvSpPr/>
          <p:nvPr/>
        </p:nvSpPr>
        <p:spPr>
          <a:xfrm>
            <a:off x="3931920" y="2523744"/>
            <a:ext cx="5486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a:t>
            </a:r>
            <a:endParaRPr lang="en-US" sz="1050" dirty="0"/>
          </a:p>
        </p:txBody>
      </p:sp>
      <p:sp>
        <p:nvSpPr>
          <p:cNvPr id="31" name="Text 29"/>
          <p:cNvSpPr/>
          <p:nvPr/>
        </p:nvSpPr>
        <p:spPr>
          <a:xfrm>
            <a:off x="4526280" y="2523744"/>
            <a:ext cx="128016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very small</a:t>
            </a:r>
            <a:endParaRPr lang="en-US" sz="1050" dirty="0"/>
          </a:p>
        </p:txBody>
      </p:sp>
      <p:sp>
        <p:nvSpPr>
          <p:cNvPr id="32" name="Text 30"/>
          <p:cNvSpPr/>
          <p:nvPr/>
        </p:nvSpPr>
        <p:spPr>
          <a:xfrm>
            <a:off x="2880360" y="2926080"/>
            <a:ext cx="3017520" cy="25603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nucleus: protons + neutrons; electrons outside</a:t>
            </a:r>
            <a:endParaRPr lang="en-US" sz="1000" dirty="0"/>
          </a:p>
        </p:txBody>
      </p:sp>
      <p:sp>
        <p:nvSpPr>
          <p:cNvPr id="33" name="Shape 31"/>
          <p:cNvSpPr/>
          <p:nvPr/>
        </p:nvSpPr>
        <p:spPr>
          <a:xfrm>
            <a:off x="731520" y="3794760"/>
            <a:ext cx="5029200" cy="685800"/>
          </a:xfrm>
          <a:prstGeom prst="rect">
            <a:avLst/>
          </a:prstGeom>
          <a:solidFill>
            <a:srgbClr val="D9DEE8"/>
          </a:solidFill>
          <a:ln w="12700">
            <a:solidFill>
              <a:srgbClr val="8C96A8"/>
            </a:solidFill>
            <a:prstDash val="solid"/>
          </a:ln>
        </p:spPr>
      </p:sp>
      <p:sp>
        <p:nvSpPr>
          <p:cNvPr id="34" name="Shape 32"/>
          <p:cNvSpPr/>
          <p:nvPr/>
        </p:nvSpPr>
        <p:spPr>
          <a:xfrm>
            <a:off x="960120" y="3931920"/>
            <a:ext cx="146304" cy="146304"/>
          </a:xfrm>
          <a:prstGeom prst="ellipse">
            <a:avLst/>
          </a:prstGeom>
          <a:solidFill>
            <a:srgbClr val="2E5BD8"/>
          </a:solidFill>
          <a:ln w="12700">
            <a:solidFill>
              <a:srgbClr val="2E5BD8"/>
            </a:solidFill>
            <a:prstDash val="solid"/>
          </a:ln>
        </p:spPr>
      </p:sp>
      <p:sp>
        <p:nvSpPr>
          <p:cNvPr id="35" name="Shape 33"/>
          <p:cNvSpPr/>
          <p:nvPr/>
        </p:nvSpPr>
        <p:spPr>
          <a:xfrm>
            <a:off x="1508760" y="4087368"/>
            <a:ext cx="146304" cy="146304"/>
          </a:xfrm>
          <a:prstGeom prst="ellipse">
            <a:avLst/>
          </a:prstGeom>
          <a:solidFill>
            <a:srgbClr val="2E5BD8"/>
          </a:solidFill>
          <a:ln w="12700">
            <a:solidFill>
              <a:srgbClr val="2E5BD8"/>
            </a:solidFill>
            <a:prstDash val="solid"/>
          </a:ln>
        </p:spPr>
      </p:sp>
      <p:sp>
        <p:nvSpPr>
          <p:cNvPr id="36" name="Shape 34"/>
          <p:cNvSpPr/>
          <p:nvPr/>
        </p:nvSpPr>
        <p:spPr>
          <a:xfrm>
            <a:off x="2057400" y="4242816"/>
            <a:ext cx="146304" cy="146304"/>
          </a:xfrm>
          <a:prstGeom prst="ellipse">
            <a:avLst/>
          </a:prstGeom>
          <a:solidFill>
            <a:srgbClr val="2E5BD8"/>
          </a:solidFill>
          <a:ln w="12700">
            <a:solidFill>
              <a:srgbClr val="2E5BD8"/>
            </a:solidFill>
            <a:prstDash val="solid"/>
          </a:ln>
        </p:spPr>
      </p:sp>
      <p:sp>
        <p:nvSpPr>
          <p:cNvPr id="37" name="Shape 35"/>
          <p:cNvSpPr/>
          <p:nvPr/>
        </p:nvSpPr>
        <p:spPr>
          <a:xfrm>
            <a:off x="2606040" y="3931920"/>
            <a:ext cx="146304" cy="146304"/>
          </a:xfrm>
          <a:prstGeom prst="ellipse">
            <a:avLst/>
          </a:prstGeom>
          <a:solidFill>
            <a:srgbClr val="2E5BD8"/>
          </a:solidFill>
          <a:ln w="12700">
            <a:solidFill>
              <a:srgbClr val="2E5BD8"/>
            </a:solidFill>
            <a:prstDash val="solid"/>
          </a:ln>
        </p:spPr>
      </p:sp>
      <p:sp>
        <p:nvSpPr>
          <p:cNvPr id="38" name="Shape 36"/>
          <p:cNvSpPr/>
          <p:nvPr/>
        </p:nvSpPr>
        <p:spPr>
          <a:xfrm>
            <a:off x="3154680" y="4087368"/>
            <a:ext cx="146304" cy="146304"/>
          </a:xfrm>
          <a:prstGeom prst="ellipse">
            <a:avLst/>
          </a:prstGeom>
          <a:solidFill>
            <a:srgbClr val="2E5BD8"/>
          </a:solidFill>
          <a:ln w="12700">
            <a:solidFill>
              <a:srgbClr val="2E5BD8"/>
            </a:solidFill>
            <a:prstDash val="solid"/>
          </a:ln>
        </p:spPr>
      </p:sp>
      <p:sp>
        <p:nvSpPr>
          <p:cNvPr id="39" name="Shape 37"/>
          <p:cNvSpPr/>
          <p:nvPr/>
        </p:nvSpPr>
        <p:spPr>
          <a:xfrm>
            <a:off x="3703320" y="4242816"/>
            <a:ext cx="146304" cy="146304"/>
          </a:xfrm>
          <a:prstGeom prst="ellipse">
            <a:avLst/>
          </a:prstGeom>
          <a:solidFill>
            <a:srgbClr val="2E5BD8"/>
          </a:solidFill>
          <a:ln w="12700">
            <a:solidFill>
              <a:srgbClr val="2E5BD8"/>
            </a:solidFill>
            <a:prstDash val="solid"/>
          </a:ln>
        </p:spPr>
      </p:sp>
      <p:sp>
        <p:nvSpPr>
          <p:cNvPr id="40" name="Shape 38"/>
          <p:cNvSpPr/>
          <p:nvPr/>
        </p:nvSpPr>
        <p:spPr>
          <a:xfrm>
            <a:off x="4251960" y="3931920"/>
            <a:ext cx="146304" cy="146304"/>
          </a:xfrm>
          <a:prstGeom prst="ellipse">
            <a:avLst/>
          </a:prstGeom>
          <a:solidFill>
            <a:srgbClr val="2E5BD8"/>
          </a:solidFill>
          <a:ln w="12700">
            <a:solidFill>
              <a:srgbClr val="2E5BD8"/>
            </a:solidFill>
            <a:prstDash val="solid"/>
          </a:ln>
        </p:spPr>
      </p:sp>
      <p:sp>
        <p:nvSpPr>
          <p:cNvPr id="41" name="Shape 39"/>
          <p:cNvSpPr/>
          <p:nvPr/>
        </p:nvSpPr>
        <p:spPr>
          <a:xfrm>
            <a:off x="4800600" y="4087368"/>
            <a:ext cx="146304" cy="146304"/>
          </a:xfrm>
          <a:prstGeom prst="ellipse">
            <a:avLst/>
          </a:prstGeom>
          <a:solidFill>
            <a:srgbClr val="2E5BD8"/>
          </a:solidFill>
          <a:ln w="12700">
            <a:solidFill>
              <a:srgbClr val="2E5BD8"/>
            </a:solidFill>
            <a:prstDash val="solid"/>
          </a:ln>
        </p:spPr>
      </p:sp>
      <p:sp>
        <p:nvSpPr>
          <p:cNvPr id="42" name="Shape 40"/>
          <p:cNvSpPr/>
          <p:nvPr/>
        </p:nvSpPr>
        <p:spPr>
          <a:xfrm>
            <a:off x="5349240" y="4242816"/>
            <a:ext cx="146304" cy="146304"/>
          </a:xfrm>
          <a:prstGeom prst="ellipse">
            <a:avLst/>
          </a:prstGeom>
          <a:solidFill>
            <a:srgbClr val="2E5BD8"/>
          </a:solidFill>
          <a:ln w="12700">
            <a:solidFill>
              <a:srgbClr val="2E5BD8"/>
            </a:solidFill>
            <a:prstDash val="solid"/>
          </a:ln>
        </p:spPr>
      </p:sp>
      <p:sp>
        <p:nvSpPr>
          <p:cNvPr id="43" name="Shape 41"/>
          <p:cNvSpPr/>
          <p:nvPr/>
        </p:nvSpPr>
        <p:spPr>
          <a:xfrm flipH="1">
            <a:off x="2194560" y="3566160"/>
            <a:ext cx="2011680" cy="91"/>
          </a:xfrm>
          <a:prstGeom prst="line">
            <a:avLst/>
          </a:prstGeom>
          <a:noFill/>
          <a:ln w="31750">
            <a:solidFill>
              <a:srgbClr val="2E5BD8"/>
            </a:solidFill>
            <a:prstDash val="solid"/>
            <a:tailEnd type="triangle"/>
          </a:ln>
        </p:spPr>
      </p:sp>
      <p:sp>
        <p:nvSpPr>
          <p:cNvPr id="44" name="Text 42"/>
          <p:cNvSpPr/>
          <p:nvPr/>
        </p:nvSpPr>
        <p:spPr>
          <a:xfrm>
            <a:off x="731520" y="3429000"/>
            <a:ext cx="1463040" cy="256032"/>
          </a:xfrm>
          <a:prstGeom prst="rect">
            <a:avLst/>
          </a:prstGeom>
          <a:noFill/>
          <a:ln/>
        </p:spPr>
        <p:txBody>
          <a:bodyPr wrap="square" lIns="0" tIns="0" rIns="0" bIns="0" rtlCol="0" anchor="ctr"/>
          <a:lstStyle/>
          <a:p>
            <a:pPr algn="r" indent="0" marL="0">
              <a:buNone/>
            </a:pPr>
            <a:r>
              <a:rPr lang="en-US" sz="1050" b="1" dirty="0">
                <a:solidFill>
                  <a:srgbClr val="2E5BD8"/>
                </a:solidFill>
                <a:latin typeface="Calibri" pitchFamily="34" charset="0"/>
                <a:ea typeface="Calibri" pitchFamily="34" charset="-122"/>
                <a:cs typeface="Calibri" pitchFamily="34" charset="-120"/>
              </a:rPr>
              <a:t>electron flow</a:t>
            </a:r>
            <a:endParaRPr lang="en-US" sz="1050" dirty="0"/>
          </a:p>
        </p:txBody>
      </p:sp>
      <p:sp>
        <p:nvSpPr>
          <p:cNvPr id="45" name="Shape 43"/>
          <p:cNvSpPr/>
          <p:nvPr/>
        </p:nvSpPr>
        <p:spPr>
          <a:xfrm>
            <a:off x="2194560" y="4754880"/>
            <a:ext cx="2011680" cy="91"/>
          </a:xfrm>
          <a:prstGeom prst="line">
            <a:avLst/>
          </a:prstGeom>
          <a:noFill/>
          <a:ln w="31750">
            <a:solidFill>
              <a:srgbClr val="C8414C"/>
            </a:solidFill>
            <a:prstDash val="solid"/>
            <a:tailEnd type="triangle"/>
          </a:ln>
        </p:spPr>
      </p:sp>
      <p:sp>
        <p:nvSpPr>
          <p:cNvPr id="46" name="Text 44"/>
          <p:cNvSpPr/>
          <p:nvPr/>
        </p:nvSpPr>
        <p:spPr>
          <a:xfrm>
            <a:off x="4251960" y="4626864"/>
            <a:ext cx="1645920" cy="274320"/>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conventional current (+ to −)</a:t>
            </a:r>
            <a:endParaRPr lang="en-US" sz="1000" dirty="0"/>
          </a:p>
        </p:txBody>
      </p:sp>
      <p:sp>
        <p:nvSpPr>
          <p:cNvPr id="47" name="Text 45"/>
          <p:cNvSpPr/>
          <p:nvPr/>
        </p:nvSpPr>
        <p:spPr>
          <a:xfrm>
            <a:off x="731520" y="4617720"/>
            <a:ext cx="1417320" cy="256032"/>
          </a:xfrm>
          <a:prstGeom prst="rect">
            <a:avLst/>
          </a:prstGeom>
          <a:noFill/>
          <a:ln/>
        </p:spPr>
        <p:txBody>
          <a:bodyPr wrap="square" lIns="0" tIns="0" rIns="0" bIns="0" rtlCol="0" anchor="ctr"/>
          <a:lstStyle/>
          <a:p>
            <a:pPr algn="l" indent="0" marL="0">
              <a:buNone/>
            </a:pPr>
            <a:r>
              <a:rPr lang="en-US" sz="1050" i="1" dirty="0">
                <a:solidFill>
                  <a:srgbClr val="262B3A"/>
                </a:solidFill>
                <a:latin typeface="Calibri" pitchFamily="34" charset="0"/>
                <a:ea typeface="Calibri" pitchFamily="34" charset="-122"/>
                <a:cs typeface="Calibri" pitchFamily="34" charset="-120"/>
              </a:rPr>
              <a:t>metal wire</a:t>
            </a:r>
            <a:endParaRPr lang="en-US" sz="1050" dirty="0"/>
          </a:p>
        </p:txBody>
      </p:sp>
      <p:sp>
        <p:nvSpPr>
          <p:cNvPr id="48" name="Shape 4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9"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is an electric current?</a:t>
            </a:r>
            <a:endParaRPr lang="en-US" sz="1300" dirty="0"/>
          </a:p>
        </p:txBody>
      </p:sp>
      <p:sp>
        <p:nvSpPr>
          <p:cNvPr id="50" name="Text 4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Atoms have a </a:t>
            </a:r>
            <a:r>
              <a:rPr lang="en-US" sz="1150" b="1" dirty="0">
                <a:solidFill>
                  <a:srgbClr val="262B3A"/>
                </a:solidFill>
                <a:latin typeface="Calibri" pitchFamily="34" charset="0"/>
                <a:ea typeface="Calibri" pitchFamily="34" charset="-122"/>
                <a:cs typeface="Calibri" pitchFamily="34" charset="-120"/>
              </a:rPr>
              <a:t>nucleus</a:t>
            </a:r>
            <a:r>
              <a:rPr lang="en-US" sz="1150" dirty="0">
                <a:solidFill>
                  <a:srgbClr val="262B3A"/>
                </a:solidFill>
                <a:latin typeface="Calibri" pitchFamily="34" charset="0"/>
                <a:ea typeface="Calibri" pitchFamily="34" charset="-122"/>
                <a:cs typeface="Calibri" pitchFamily="34" charset="-120"/>
              </a:rPr>
              <a:t> (protons and neutrons) with </a:t>
            </a:r>
            <a:r>
              <a:rPr lang="en-US" sz="1150" b="1" dirty="0">
                <a:solidFill>
                  <a:srgbClr val="262B3A"/>
                </a:solidFill>
                <a:latin typeface="Calibri" pitchFamily="34" charset="0"/>
                <a:ea typeface="Calibri" pitchFamily="34" charset="-122"/>
                <a:cs typeface="Calibri" pitchFamily="34" charset="-120"/>
              </a:rPr>
              <a:t>electrons</a:t>
            </a:r>
            <a:r>
              <a:rPr lang="en-US" sz="1150" dirty="0">
                <a:solidFill>
                  <a:srgbClr val="262B3A"/>
                </a:solidFill>
                <a:latin typeface="Calibri" pitchFamily="34" charset="0"/>
                <a:ea typeface="Calibri" pitchFamily="34" charset="-122"/>
                <a:cs typeface="Calibri" pitchFamily="34" charset="-120"/>
              </a:rPr>
              <a:t> around it. Metals have </a:t>
            </a:r>
            <a:r>
              <a:rPr lang="en-US" sz="1150" b="1" dirty="0">
                <a:solidFill>
                  <a:srgbClr val="262B3A"/>
                </a:solidFill>
                <a:latin typeface="Calibri" pitchFamily="34" charset="0"/>
                <a:ea typeface="Calibri" pitchFamily="34" charset="-122"/>
                <a:cs typeface="Calibri" pitchFamily="34" charset="-120"/>
              </a:rPr>
              <a:t>free electrons</a:t>
            </a:r>
            <a:r>
              <a:rPr lang="en-US" sz="1150" dirty="0">
                <a:solidFill>
                  <a:srgbClr val="262B3A"/>
                </a:solidFill>
                <a:latin typeface="Calibri" pitchFamily="34" charset="0"/>
                <a:ea typeface="Calibri" pitchFamily="34" charset="-122"/>
                <a:cs typeface="Calibri" pitchFamily="34" charset="-120"/>
              </a:rPr>
              <a:t> that can move.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Current</a:t>
            </a:r>
            <a:r>
              <a:rPr lang="en-US" sz="1150" dirty="0">
                <a:solidFill>
                  <a:srgbClr val="262B3A"/>
                </a:solidFill>
                <a:latin typeface="Calibri" pitchFamily="34" charset="0"/>
                <a:ea typeface="Calibri" pitchFamily="34" charset="-122"/>
                <a:cs typeface="Calibri" pitchFamily="34" charset="-120"/>
              </a:rPr>
              <a:t> is the </a:t>
            </a:r>
            <a:r>
              <a:rPr lang="en-US" sz="1150" b="1" dirty="0">
                <a:solidFill>
                  <a:srgbClr val="262B3A"/>
                </a:solidFill>
                <a:latin typeface="Calibri" pitchFamily="34" charset="0"/>
                <a:ea typeface="Calibri" pitchFamily="34" charset="-122"/>
                <a:cs typeface="Calibri" pitchFamily="34" charset="-120"/>
              </a:rPr>
              <a:t>rate of flow of charge</a:t>
            </a:r>
            <a:r>
              <a:rPr lang="en-US" sz="1150" dirty="0">
                <a:solidFill>
                  <a:srgbClr val="262B3A"/>
                </a:solidFill>
                <a:latin typeface="Calibri" pitchFamily="34" charset="0"/>
                <a:ea typeface="Calibri" pitchFamily="34" charset="-122"/>
                <a:cs typeface="Calibri" pitchFamily="34" charset="-120"/>
              </a:rPr>
              <a:t>. In metals the charge is carried by </a:t>
            </a:r>
            <a:r>
              <a:rPr lang="en-US" sz="1150" b="1" dirty="0">
                <a:solidFill>
                  <a:srgbClr val="262B3A"/>
                </a:solidFill>
                <a:latin typeface="Calibri" pitchFamily="34" charset="0"/>
                <a:ea typeface="Calibri" pitchFamily="34" charset="-122"/>
                <a:cs typeface="Calibri" pitchFamily="34" charset="-120"/>
              </a:rPr>
              <a:t>electrons</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Q = I × t</a:t>
            </a:r>
            <a:r>
              <a:rPr lang="en-US" sz="1150" dirty="0">
                <a:solidFill>
                  <a:srgbClr val="262B3A"/>
                </a:solidFill>
                <a:latin typeface="Calibri" pitchFamily="34" charset="0"/>
                <a:ea typeface="Calibri" pitchFamily="34" charset="-122"/>
                <a:cs typeface="Calibri" pitchFamily="34" charset="-120"/>
              </a:rPr>
              <a:t>   charge (C) = current (A) × time (s)</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1 ampere (A) = 1 coulomb of charge passing a point each second.</a:t>
            </a:r>
            <a:endParaRPr lang="en-US" sz="1150" dirty="0"/>
          </a:p>
        </p:txBody>
      </p:sp>
      <p:sp>
        <p:nvSpPr>
          <p:cNvPr id="51" name="Shape 4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2" name="Text 5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3" name="Text 5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current of 0.25 A flows through a lamp for 2.0 minutes. Calculate the charge that flows.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Q = I × 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Convert   </a:t>
            </a:r>
            <a:r>
              <a:rPr lang="en-US" sz="1100" dirty="0">
                <a:solidFill>
                  <a:srgbClr val="262B3A"/>
                </a:solidFill>
                <a:latin typeface="Calibri" pitchFamily="34" charset="0"/>
                <a:ea typeface="Calibri" pitchFamily="34" charset="-122"/>
                <a:cs typeface="Calibri" pitchFamily="34" charset="-120"/>
              </a:rPr>
              <a:t>t = 2.0 × 60 = 120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Q = 0.25 A × 120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Q = 30 C</a:t>
            </a:r>
            <a:endParaRPr lang="en-US" sz="110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current of 3.0 A flows for 50 s. Calculate the charge that flows. Then: what current moves 60 C in 30 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10.1–10.3, 10.8–10.10 • circuits, charge and current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differences between a series circuit and a parallel circuit.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what is meant by an electric current, and state what carries the current in a metal wire.</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current of </a:t>
            </a:r>
            <a:r>
              <a:rPr lang="en-US" sz="1250" b="1" dirty="0">
                <a:solidFill>
                  <a:srgbClr val="262B3A"/>
                </a:solidFill>
                <a:latin typeface="Calibri" pitchFamily="34" charset="0"/>
                <a:ea typeface="Calibri" pitchFamily="34" charset="-122"/>
                <a:cs typeface="Calibri" pitchFamily="34" charset="-120"/>
              </a:rPr>
              <a:t>0.40 A</a:t>
            </a:r>
            <a:r>
              <a:rPr lang="en-US" sz="1250" dirty="0">
                <a:solidFill>
                  <a:srgbClr val="262B3A"/>
                </a:solidFill>
                <a:latin typeface="Calibri" pitchFamily="34" charset="0"/>
                <a:ea typeface="Calibri" pitchFamily="34" charset="-122"/>
                <a:cs typeface="Calibri" pitchFamily="34" charset="-120"/>
              </a:rPr>
              <a:t> flows through a motor for </a:t>
            </a:r>
            <a:r>
              <a:rPr lang="en-US" sz="1250" b="1" dirty="0">
                <a:solidFill>
                  <a:srgbClr val="262B3A"/>
                </a:solidFill>
                <a:latin typeface="Calibri" pitchFamily="34" charset="0"/>
                <a:ea typeface="Calibri" pitchFamily="34" charset="-122"/>
                <a:cs typeface="Calibri" pitchFamily="34" charset="-120"/>
              </a:rPr>
              <a:t>3.0 minutes</a:t>
            </a:r>
            <a:r>
              <a:rPr lang="en-US" sz="1250" dirty="0">
                <a:solidFill>
                  <a:srgbClr val="262B3A"/>
                </a:solidFill>
                <a:latin typeface="Calibri" pitchFamily="34" charset="0"/>
                <a:ea typeface="Calibri" pitchFamily="34" charset="-122"/>
                <a:cs typeface="Calibri" pitchFamily="34" charset="-120"/>
              </a:rPr>
              <a:t>. Calculate the charge that flows. Give the unit.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Measuring current and potential difference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10.4, 10.7, 10.16 • ammeters in series, voltmeters in parallel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10.4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voltmeter connects across the lamp at the two junction dots</a:t>
            </a:r>
            <a:endParaRPr lang="en-US" sz="1000" dirty="0"/>
          </a:p>
        </p:txBody>
      </p:sp>
      <p:sp>
        <p:nvSpPr>
          <p:cNvPr id="10" name="Shape 8"/>
          <p:cNvSpPr/>
          <p:nvPr/>
        </p:nvSpPr>
        <p:spPr>
          <a:xfrm>
            <a:off x="1188720" y="1828800"/>
            <a:ext cx="850392" cy="91"/>
          </a:xfrm>
          <a:prstGeom prst="line">
            <a:avLst/>
          </a:prstGeom>
          <a:noFill/>
          <a:ln w="19050">
            <a:solidFill>
              <a:srgbClr val="1A2340"/>
            </a:solidFill>
            <a:prstDash val="solid"/>
          </a:ln>
        </p:spPr>
      </p:sp>
      <p:sp>
        <p:nvSpPr>
          <p:cNvPr id="11" name="Shape 9"/>
          <p:cNvSpPr/>
          <p:nvPr/>
        </p:nvSpPr>
        <p:spPr>
          <a:xfrm>
            <a:off x="2350008" y="1828800"/>
            <a:ext cx="850392" cy="91"/>
          </a:xfrm>
          <a:prstGeom prst="line">
            <a:avLst/>
          </a:prstGeom>
          <a:noFill/>
          <a:ln w="19050">
            <a:solidFill>
              <a:srgbClr val="1A2340"/>
            </a:solidFill>
            <a:prstDash val="solid"/>
          </a:ln>
        </p:spPr>
      </p:sp>
      <p:sp>
        <p:nvSpPr>
          <p:cNvPr id="12" name="Shape 10"/>
          <p:cNvSpPr/>
          <p:nvPr/>
        </p:nvSpPr>
        <p:spPr>
          <a:xfrm>
            <a:off x="2039112" y="1627632"/>
            <a:ext cx="91" cy="402336"/>
          </a:xfrm>
          <a:prstGeom prst="line">
            <a:avLst/>
          </a:prstGeom>
          <a:noFill/>
          <a:ln w="19050">
            <a:solidFill>
              <a:srgbClr val="1A2340"/>
            </a:solidFill>
            <a:prstDash val="solid"/>
          </a:ln>
        </p:spPr>
      </p:sp>
      <p:sp>
        <p:nvSpPr>
          <p:cNvPr id="13" name="Shape 11"/>
          <p:cNvSpPr/>
          <p:nvPr/>
        </p:nvSpPr>
        <p:spPr>
          <a:xfrm>
            <a:off x="2130552" y="1728216"/>
            <a:ext cx="91" cy="201168"/>
          </a:xfrm>
          <a:prstGeom prst="line">
            <a:avLst/>
          </a:prstGeom>
          <a:noFill/>
          <a:ln w="57150">
            <a:solidFill>
              <a:srgbClr val="1A2340"/>
            </a:solidFill>
            <a:prstDash val="solid"/>
          </a:ln>
        </p:spPr>
      </p:sp>
      <p:sp>
        <p:nvSpPr>
          <p:cNvPr id="14" name="Shape 12"/>
          <p:cNvSpPr/>
          <p:nvPr/>
        </p:nvSpPr>
        <p:spPr>
          <a:xfrm>
            <a:off x="2130552" y="1828800"/>
            <a:ext cx="128016" cy="91"/>
          </a:xfrm>
          <a:prstGeom prst="line">
            <a:avLst/>
          </a:prstGeom>
          <a:noFill/>
          <a:ln w="19050">
            <a:solidFill>
              <a:srgbClr val="1A2340"/>
            </a:solidFill>
            <a:prstDash val="solid"/>
          </a:ln>
        </p:spPr>
      </p:sp>
      <p:sp>
        <p:nvSpPr>
          <p:cNvPr id="15" name="Shape 13"/>
          <p:cNvSpPr/>
          <p:nvPr/>
        </p:nvSpPr>
        <p:spPr>
          <a:xfrm>
            <a:off x="2258568" y="1627632"/>
            <a:ext cx="91" cy="402336"/>
          </a:xfrm>
          <a:prstGeom prst="line">
            <a:avLst/>
          </a:prstGeom>
          <a:noFill/>
          <a:ln w="19050">
            <a:solidFill>
              <a:srgbClr val="1A2340"/>
            </a:solidFill>
            <a:prstDash val="solid"/>
          </a:ln>
        </p:spPr>
      </p:sp>
      <p:sp>
        <p:nvSpPr>
          <p:cNvPr id="16" name="Shape 14"/>
          <p:cNvSpPr/>
          <p:nvPr/>
        </p:nvSpPr>
        <p:spPr>
          <a:xfrm>
            <a:off x="2350008" y="1728216"/>
            <a:ext cx="91" cy="201168"/>
          </a:xfrm>
          <a:prstGeom prst="line">
            <a:avLst/>
          </a:prstGeom>
          <a:noFill/>
          <a:ln w="57150">
            <a:solidFill>
              <a:srgbClr val="1A2340"/>
            </a:solidFill>
            <a:prstDash val="solid"/>
          </a:ln>
        </p:spPr>
      </p:sp>
      <p:sp>
        <p:nvSpPr>
          <p:cNvPr id="17" name="Text 15"/>
          <p:cNvSpPr/>
          <p:nvPr/>
        </p:nvSpPr>
        <p:spPr>
          <a:xfrm>
            <a:off x="1600200" y="138074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battery</a:t>
            </a:r>
            <a:endParaRPr lang="en-US" sz="1050" dirty="0"/>
          </a:p>
        </p:txBody>
      </p:sp>
      <p:sp>
        <p:nvSpPr>
          <p:cNvPr id="18" name="Shape 16"/>
          <p:cNvSpPr/>
          <p:nvPr/>
        </p:nvSpPr>
        <p:spPr>
          <a:xfrm>
            <a:off x="3200400" y="1828800"/>
            <a:ext cx="841248" cy="91"/>
          </a:xfrm>
          <a:prstGeom prst="line">
            <a:avLst/>
          </a:prstGeom>
          <a:noFill/>
          <a:ln w="19050">
            <a:solidFill>
              <a:srgbClr val="1A2340"/>
            </a:solidFill>
            <a:prstDash val="solid"/>
          </a:ln>
        </p:spPr>
      </p:sp>
      <p:sp>
        <p:nvSpPr>
          <p:cNvPr id="19" name="Shape 17"/>
          <p:cNvSpPr/>
          <p:nvPr/>
        </p:nvSpPr>
        <p:spPr>
          <a:xfrm>
            <a:off x="4370832" y="1828800"/>
            <a:ext cx="841248" cy="91"/>
          </a:xfrm>
          <a:prstGeom prst="line">
            <a:avLst/>
          </a:prstGeom>
          <a:noFill/>
          <a:ln w="19050">
            <a:solidFill>
              <a:srgbClr val="1A2340"/>
            </a:solidFill>
            <a:prstDash val="solid"/>
          </a:ln>
        </p:spPr>
      </p:sp>
      <p:sp>
        <p:nvSpPr>
          <p:cNvPr id="20" name="Shape 18"/>
          <p:cNvSpPr/>
          <p:nvPr/>
        </p:nvSpPr>
        <p:spPr>
          <a:xfrm>
            <a:off x="4009644" y="1796796"/>
            <a:ext cx="64008" cy="64008"/>
          </a:xfrm>
          <a:prstGeom prst="ellipse">
            <a:avLst/>
          </a:prstGeom>
          <a:solidFill>
            <a:srgbClr val="1A2340"/>
          </a:solidFill>
          <a:ln w="12700">
            <a:solidFill>
              <a:srgbClr val="1A2340"/>
            </a:solidFill>
            <a:prstDash val="solid"/>
          </a:ln>
        </p:spPr>
      </p:sp>
      <p:sp>
        <p:nvSpPr>
          <p:cNvPr id="21" name="Shape 19"/>
          <p:cNvSpPr/>
          <p:nvPr/>
        </p:nvSpPr>
        <p:spPr>
          <a:xfrm>
            <a:off x="4338828" y="1796796"/>
            <a:ext cx="64008" cy="64008"/>
          </a:xfrm>
          <a:prstGeom prst="ellipse">
            <a:avLst/>
          </a:prstGeom>
          <a:solidFill>
            <a:srgbClr val="1A2340"/>
          </a:solidFill>
          <a:ln w="12700">
            <a:solidFill>
              <a:srgbClr val="1A2340"/>
            </a:solidFill>
            <a:prstDash val="solid"/>
          </a:ln>
        </p:spPr>
      </p:sp>
      <p:sp>
        <p:nvSpPr>
          <p:cNvPr id="22" name="Shape 20"/>
          <p:cNvSpPr/>
          <p:nvPr/>
        </p:nvSpPr>
        <p:spPr>
          <a:xfrm>
            <a:off x="4041648" y="1828800"/>
            <a:ext cx="329184" cy="91"/>
          </a:xfrm>
          <a:prstGeom prst="line">
            <a:avLst/>
          </a:prstGeom>
          <a:noFill/>
          <a:ln w="19050">
            <a:solidFill>
              <a:srgbClr val="1A2340"/>
            </a:solidFill>
            <a:prstDash val="solid"/>
          </a:ln>
        </p:spPr>
      </p:sp>
      <p:sp>
        <p:nvSpPr>
          <p:cNvPr id="23" name="Text 21"/>
          <p:cNvSpPr/>
          <p:nvPr/>
        </p:nvSpPr>
        <p:spPr>
          <a:xfrm>
            <a:off x="3611880" y="1417320"/>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switch</a:t>
            </a:r>
            <a:endParaRPr lang="en-US" sz="1050" dirty="0"/>
          </a:p>
        </p:txBody>
      </p:sp>
      <p:sp>
        <p:nvSpPr>
          <p:cNvPr id="24" name="Shape 22"/>
          <p:cNvSpPr/>
          <p:nvPr/>
        </p:nvSpPr>
        <p:spPr>
          <a:xfrm>
            <a:off x="1188720" y="1828800"/>
            <a:ext cx="91" cy="740664"/>
          </a:xfrm>
          <a:prstGeom prst="line">
            <a:avLst/>
          </a:prstGeom>
          <a:noFill/>
          <a:ln w="19050">
            <a:solidFill>
              <a:srgbClr val="1A2340"/>
            </a:solidFill>
            <a:prstDash val="solid"/>
          </a:ln>
        </p:spPr>
      </p:sp>
      <p:sp>
        <p:nvSpPr>
          <p:cNvPr id="25" name="Shape 23"/>
          <p:cNvSpPr/>
          <p:nvPr/>
        </p:nvSpPr>
        <p:spPr>
          <a:xfrm>
            <a:off x="1188720" y="2916936"/>
            <a:ext cx="91" cy="740664"/>
          </a:xfrm>
          <a:prstGeom prst="line">
            <a:avLst/>
          </a:prstGeom>
          <a:noFill/>
          <a:ln w="19050">
            <a:solidFill>
              <a:srgbClr val="1A2340"/>
            </a:solidFill>
            <a:prstDash val="solid"/>
          </a:ln>
        </p:spPr>
      </p:sp>
      <p:sp>
        <p:nvSpPr>
          <p:cNvPr id="26" name="Shape 24"/>
          <p:cNvSpPr/>
          <p:nvPr/>
        </p:nvSpPr>
        <p:spPr>
          <a:xfrm>
            <a:off x="1014984" y="2569464"/>
            <a:ext cx="347472" cy="347472"/>
          </a:xfrm>
          <a:prstGeom prst="ellipse">
            <a:avLst/>
          </a:prstGeom>
          <a:solidFill>
            <a:srgbClr val="FFFFFF"/>
          </a:solidFill>
          <a:ln w="19050">
            <a:solidFill>
              <a:srgbClr val="1A2340"/>
            </a:solidFill>
            <a:prstDash val="solid"/>
          </a:ln>
        </p:spPr>
      </p:sp>
      <p:sp>
        <p:nvSpPr>
          <p:cNvPr id="27" name="Text 25"/>
          <p:cNvSpPr/>
          <p:nvPr/>
        </p:nvSpPr>
        <p:spPr>
          <a:xfrm>
            <a:off x="1005840" y="256032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28" name="Text 26"/>
          <p:cNvSpPr/>
          <p:nvPr/>
        </p:nvSpPr>
        <p:spPr>
          <a:xfrm>
            <a:off x="1517904" y="2514600"/>
            <a:ext cx="914400" cy="457200"/>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ammeter in series</a:t>
            </a:r>
            <a:endParaRPr lang="en-US" sz="1050" dirty="0"/>
          </a:p>
        </p:txBody>
      </p:sp>
      <p:sp>
        <p:nvSpPr>
          <p:cNvPr id="29" name="Shape 27"/>
          <p:cNvSpPr/>
          <p:nvPr/>
        </p:nvSpPr>
        <p:spPr>
          <a:xfrm>
            <a:off x="5212080" y="1828800"/>
            <a:ext cx="91" cy="1828800"/>
          </a:xfrm>
          <a:prstGeom prst="line">
            <a:avLst/>
          </a:prstGeom>
          <a:noFill/>
          <a:ln w="19050">
            <a:solidFill>
              <a:srgbClr val="1A2340"/>
            </a:solidFill>
            <a:prstDash val="solid"/>
          </a:ln>
        </p:spPr>
      </p:sp>
      <p:sp>
        <p:nvSpPr>
          <p:cNvPr id="30" name="Shape 28"/>
          <p:cNvSpPr/>
          <p:nvPr/>
        </p:nvSpPr>
        <p:spPr>
          <a:xfrm flipH="1">
            <a:off x="3364992" y="3657600"/>
            <a:ext cx="1847088" cy="91"/>
          </a:xfrm>
          <a:prstGeom prst="line">
            <a:avLst/>
          </a:prstGeom>
          <a:noFill/>
          <a:ln w="19050">
            <a:solidFill>
              <a:srgbClr val="1A2340"/>
            </a:solidFill>
            <a:prstDash val="solid"/>
          </a:ln>
        </p:spPr>
      </p:sp>
      <p:sp>
        <p:nvSpPr>
          <p:cNvPr id="31" name="Shape 29"/>
          <p:cNvSpPr/>
          <p:nvPr/>
        </p:nvSpPr>
        <p:spPr>
          <a:xfrm flipH="1">
            <a:off x="1188720" y="3657600"/>
            <a:ext cx="1847088" cy="91"/>
          </a:xfrm>
          <a:prstGeom prst="line">
            <a:avLst/>
          </a:prstGeom>
          <a:noFill/>
          <a:ln w="19050">
            <a:solidFill>
              <a:srgbClr val="1A2340"/>
            </a:solidFill>
            <a:prstDash val="solid"/>
          </a:ln>
        </p:spPr>
      </p:sp>
      <p:sp>
        <p:nvSpPr>
          <p:cNvPr id="32" name="Shape 30"/>
          <p:cNvSpPr/>
          <p:nvPr/>
        </p:nvSpPr>
        <p:spPr>
          <a:xfrm>
            <a:off x="3035808" y="3493008"/>
            <a:ext cx="329184" cy="329184"/>
          </a:xfrm>
          <a:prstGeom prst="ellipse">
            <a:avLst/>
          </a:prstGeom>
          <a:solidFill>
            <a:srgbClr val="FFFFFF"/>
          </a:solidFill>
          <a:ln w="19050">
            <a:solidFill>
              <a:srgbClr val="1A2340"/>
            </a:solidFill>
            <a:prstDash val="solid"/>
          </a:ln>
        </p:spPr>
      </p:sp>
      <p:sp>
        <p:nvSpPr>
          <p:cNvPr id="33" name="Shape 31"/>
          <p:cNvSpPr/>
          <p:nvPr/>
        </p:nvSpPr>
        <p:spPr>
          <a:xfrm flipH="1" flipV="1">
            <a:off x="3084017" y="3541217"/>
            <a:ext cx="232766" cy="232766"/>
          </a:xfrm>
          <a:prstGeom prst="line">
            <a:avLst/>
          </a:prstGeom>
          <a:noFill/>
          <a:ln w="19050">
            <a:solidFill>
              <a:srgbClr val="1A2340"/>
            </a:solidFill>
            <a:prstDash val="solid"/>
          </a:ln>
        </p:spPr>
      </p:sp>
      <p:sp>
        <p:nvSpPr>
          <p:cNvPr id="34" name="Shape 32"/>
          <p:cNvSpPr/>
          <p:nvPr/>
        </p:nvSpPr>
        <p:spPr>
          <a:xfrm flipH="1">
            <a:off x="3084017" y="3541217"/>
            <a:ext cx="232766" cy="232766"/>
          </a:xfrm>
          <a:prstGeom prst="line">
            <a:avLst/>
          </a:prstGeom>
          <a:noFill/>
          <a:ln w="19050">
            <a:solidFill>
              <a:srgbClr val="1A2340"/>
            </a:solidFill>
            <a:prstDash val="solid"/>
          </a:ln>
        </p:spPr>
      </p:sp>
      <p:sp>
        <p:nvSpPr>
          <p:cNvPr id="35" name="Text 33"/>
          <p:cNvSpPr/>
          <p:nvPr/>
        </p:nvSpPr>
        <p:spPr>
          <a:xfrm>
            <a:off x="2606040" y="3886200"/>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lamp</a:t>
            </a:r>
            <a:endParaRPr lang="en-US" sz="1050" dirty="0"/>
          </a:p>
        </p:txBody>
      </p:sp>
      <p:sp>
        <p:nvSpPr>
          <p:cNvPr id="36" name="Shape 34"/>
          <p:cNvSpPr/>
          <p:nvPr/>
        </p:nvSpPr>
        <p:spPr>
          <a:xfrm>
            <a:off x="2235708" y="3607308"/>
            <a:ext cx="100584" cy="100584"/>
          </a:xfrm>
          <a:prstGeom prst="ellipse">
            <a:avLst/>
          </a:prstGeom>
          <a:solidFill>
            <a:srgbClr val="1A2340"/>
          </a:solidFill>
          <a:ln w="6350">
            <a:solidFill>
              <a:srgbClr val="1A2340"/>
            </a:solidFill>
            <a:prstDash val="solid"/>
          </a:ln>
        </p:spPr>
      </p:sp>
      <p:sp>
        <p:nvSpPr>
          <p:cNvPr id="37" name="Shape 35"/>
          <p:cNvSpPr/>
          <p:nvPr/>
        </p:nvSpPr>
        <p:spPr>
          <a:xfrm>
            <a:off x="4064508" y="3607308"/>
            <a:ext cx="100584" cy="100584"/>
          </a:xfrm>
          <a:prstGeom prst="ellipse">
            <a:avLst/>
          </a:prstGeom>
          <a:solidFill>
            <a:srgbClr val="1A2340"/>
          </a:solidFill>
          <a:ln w="6350">
            <a:solidFill>
              <a:srgbClr val="1A2340"/>
            </a:solidFill>
            <a:prstDash val="solid"/>
          </a:ln>
        </p:spPr>
      </p:sp>
      <p:sp>
        <p:nvSpPr>
          <p:cNvPr id="38" name="Shape 36"/>
          <p:cNvSpPr/>
          <p:nvPr/>
        </p:nvSpPr>
        <p:spPr>
          <a:xfrm>
            <a:off x="2286000" y="3657600"/>
            <a:ext cx="91" cy="1005840"/>
          </a:xfrm>
          <a:prstGeom prst="line">
            <a:avLst/>
          </a:prstGeom>
          <a:noFill/>
          <a:ln w="19050">
            <a:solidFill>
              <a:srgbClr val="1A2340"/>
            </a:solidFill>
            <a:prstDash val="solid"/>
          </a:ln>
        </p:spPr>
      </p:sp>
      <p:sp>
        <p:nvSpPr>
          <p:cNvPr id="39" name="Shape 37"/>
          <p:cNvSpPr/>
          <p:nvPr/>
        </p:nvSpPr>
        <p:spPr>
          <a:xfrm>
            <a:off x="4114800" y="3657600"/>
            <a:ext cx="91" cy="1005840"/>
          </a:xfrm>
          <a:prstGeom prst="line">
            <a:avLst/>
          </a:prstGeom>
          <a:noFill/>
          <a:ln w="19050">
            <a:solidFill>
              <a:srgbClr val="1A2340"/>
            </a:solidFill>
            <a:prstDash val="solid"/>
          </a:ln>
        </p:spPr>
      </p:sp>
      <p:sp>
        <p:nvSpPr>
          <p:cNvPr id="40" name="Shape 38"/>
          <p:cNvSpPr/>
          <p:nvPr/>
        </p:nvSpPr>
        <p:spPr>
          <a:xfrm>
            <a:off x="2286000" y="4663440"/>
            <a:ext cx="740664" cy="91"/>
          </a:xfrm>
          <a:prstGeom prst="line">
            <a:avLst/>
          </a:prstGeom>
          <a:noFill/>
          <a:ln w="19050">
            <a:solidFill>
              <a:srgbClr val="1A2340"/>
            </a:solidFill>
            <a:prstDash val="solid"/>
          </a:ln>
        </p:spPr>
      </p:sp>
      <p:sp>
        <p:nvSpPr>
          <p:cNvPr id="41" name="Shape 39"/>
          <p:cNvSpPr/>
          <p:nvPr/>
        </p:nvSpPr>
        <p:spPr>
          <a:xfrm>
            <a:off x="3374136" y="4663440"/>
            <a:ext cx="740664" cy="91"/>
          </a:xfrm>
          <a:prstGeom prst="line">
            <a:avLst/>
          </a:prstGeom>
          <a:noFill/>
          <a:ln w="19050">
            <a:solidFill>
              <a:srgbClr val="1A2340"/>
            </a:solidFill>
            <a:prstDash val="solid"/>
          </a:ln>
        </p:spPr>
      </p:sp>
      <p:sp>
        <p:nvSpPr>
          <p:cNvPr id="42" name="Shape 40"/>
          <p:cNvSpPr/>
          <p:nvPr/>
        </p:nvSpPr>
        <p:spPr>
          <a:xfrm>
            <a:off x="3026664" y="4489704"/>
            <a:ext cx="347472" cy="347472"/>
          </a:xfrm>
          <a:prstGeom prst="ellipse">
            <a:avLst/>
          </a:prstGeom>
          <a:solidFill>
            <a:srgbClr val="FFFFFF"/>
          </a:solidFill>
          <a:ln w="19050">
            <a:solidFill>
              <a:srgbClr val="1A2340"/>
            </a:solidFill>
            <a:prstDash val="solid"/>
          </a:ln>
        </p:spPr>
      </p:sp>
      <p:sp>
        <p:nvSpPr>
          <p:cNvPr id="43" name="Text 41"/>
          <p:cNvSpPr/>
          <p:nvPr/>
        </p:nvSpPr>
        <p:spPr>
          <a:xfrm>
            <a:off x="3017520" y="448056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V</a:t>
            </a:r>
            <a:endParaRPr lang="en-US" sz="1300" dirty="0"/>
          </a:p>
        </p:txBody>
      </p:sp>
      <p:sp>
        <p:nvSpPr>
          <p:cNvPr id="44" name="Text 42"/>
          <p:cNvSpPr/>
          <p:nvPr/>
        </p:nvSpPr>
        <p:spPr>
          <a:xfrm>
            <a:off x="1737360" y="4910328"/>
            <a:ext cx="292608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voltmeter in parallel (across the lamp)</a:t>
            </a:r>
            <a:endParaRPr lang="en-US" sz="1050" dirty="0"/>
          </a:p>
        </p:txBody>
      </p:sp>
      <p:sp>
        <p:nvSpPr>
          <p:cNvPr id="45" name="Shape 43"/>
          <p:cNvSpPr/>
          <p:nvPr/>
        </p:nvSpPr>
        <p:spPr>
          <a:xfrm flipV="1">
            <a:off x="5623560" y="2103120"/>
            <a:ext cx="91" cy="914400"/>
          </a:xfrm>
          <a:prstGeom prst="line">
            <a:avLst/>
          </a:prstGeom>
          <a:noFill/>
          <a:ln w="25400">
            <a:solidFill>
              <a:srgbClr val="C8414C"/>
            </a:solidFill>
            <a:prstDash val="solid"/>
            <a:tailEnd type="triangle"/>
          </a:ln>
        </p:spPr>
      </p:sp>
      <p:sp>
        <p:nvSpPr>
          <p:cNvPr id="46" name="Text 44"/>
          <p:cNvSpPr/>
          <p:nvPr/>
        </p:nvSpPr>
        <p:spPr>
          <a:xfrm>
            <a:off x="5687568" y="2395728"/>
            <a:ext cx="274320" cy="256032"/>
          </a:xfrm>
          <a:prstGeom prst="rect">
            <a:avLst/>
          </a:prstGeom>
          <a:noFill/>
          <a:ln/>
        </p:spPr>
        <p:txBody>
          <a:bodyPr wrap="square" lIns="0" tIns="0" rIns="0" bIns="0" rtlCol="0" anchor="ctr"/>
          <a:lstStyle/>
          <a:p>
            <a:pPr algn="l" indent="0" marL="0">
              <a:buNone/>
            </a:pPr>
            <a:r>
              <a:rPr lang="en-US" sz="1300" b="1" dirty="0">
                <a:solidFill>
                  <a:srgbClr val="C8414C"/>
                </a:solidFill>
                <a:latin typeface="Calibri" pitchFamily="34" charset="0"/>
                <a:ea typeface="Calibri" pitchFamily="34" charset="-122"/>
                <a:cs typeface="Calibri" pitchFamily="34" charset="-120"/>
              </a:rPr>
              <a:t>I</a:t>
            </a:r>
            <a:endParaRPr lang="en-US" sz="1300" dirty="0"/>
          </a:p>
        </p:txBody>
      </p:sp>
      <p:sp>
        <p:nvSpPr>
          <p:cNvPr id="47" name="Shape 4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8" name="Text 4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Connecting the meters</a:t>
            </a:r>
            <a:endParaRPr lang="en-US" sz="1300" dirty="0"/>
          </a:p>
        </p:txBody>
      </p:sp>
      <p:sp>
        <p:nvSpPr>
          <p:cNvPr id="49" name="Text 4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Ammeter</a:t>
            </a:r>
            <a:r>
              <a:rPr lang="en-US" sz="1150" dirty="0">
                <a:solidFill>
                  <a:srgbClr val="262B3A"/>
                </a:solidFill>
                <a:latin typeface="Calibri" pitchFamily="34" charset="0"/>
                <a:ea typeface="Calibri" pitchFamily="34" charset="-122"/>
                <a:cs typeface="Calibri" pitchFamily="34" charset="-120"/>
              </a:rPr>
              <a:t> measures </a:t>
            </a:r>
            <a:r>
              <a:rPr lang="en-US" sz="1150" b="1" dirty="0">
                <a:solidFill>
                  <a:srgbClr val="262B3A"/>
                </a:solidFill>
                <a:latin typeface="Calibri" pitchFamily="34" charset="0"/>
                <a:ea typeface="Calibri" pitchFamily="34" charset="-122"/>
                <a:cs typeface="Calibri" pitchFamily="34" charset="-120"/>
              </a:rPr>
              <a:t>current</a:t>
            </a:r>
            <a:r>
              <a:rPr lang="en-US" sz="1150" dirty="0">
                <a:solidFill>
                  <a:srgbClr val="262B3A"/>
                </a:solidFill>
                <a:latin typeface="Calibri" pitchFamily="34" charset="0"/>
                <a:ea typeface="Calibri" pitchFamily="34" charset="-122"/>
                <a:cs typeface="Calibri" pitchFamily="34" charset="-120"/>
              </a:rPr>
              <a:t> in </a:t>
            </a:r>
            <a:r>
              <a:rPr lang="en-US" sz="1150" b="1" dirty="0">
                <a:solidFill>
                  <a:srgbClr val="262B3A"/>
                </a:solidFill>
                <a:latin typeface="Calibri" pitchFamily="34" charset="0"/>
                <a:ea typeface="Calibri" pitchFamily="34" charset="-122"/>
                <a:cs typeface="Calibri" pitchFamily="34" charset="-120"/>
              </a:rPr>
              <a:t>amps (A)</a:t>
            </a:r>
            <a:r>
              <a:rPr lang="en-US" sz="1150" dirty="0">
                <a:solidFill>
                  <a:srgbClr val="262B3A"/>
                </a:solidFill>
                <a:latin typeface="Calibri" pitchFamily="34" charset="0"/>
                <a:ea typeface="Calibri" pitchFamily="34" charset="-122"/>
                <a:cs typeface="Calibri" pitchFamily="34" charset="-120"/>
              </a:rPr>
              <a:t>. Connect it </a:t>
            </a:r>
            <a:r>
              <a:rPr lang="en-US" sz="1150" b="1" dirty="0">
                <a:solidFill>
                  <a:srgbClr val="262B3A"/>
                </a:solidFill>
                <a:latin typeface="Calibri" pitchFamily="34" charset="0"/>
                <a:ea typeface="Calibri" pitchFamily="34" charset="-122"/>
                <a:cs typeface="Calibri" pitchFamily="34" charset="-120"/>
              </a:rPr>
              <a:t>in series</a:t>
            </a:r>
            <a:r>
              <a:rPr lang="en-US" sz="1150" dirty="0">
                <a:solidFill>
                  <a:srgbClr val="262B3A"/>
                </a:solidFill>
                <a:latin typeface="Calibri" pitchFamily="34" charset="0"/>
                <a:ea typeface="Calibri" pitchFamily="34" charset="-122"/>
                <a:cs typeface="Calibri" pitchFamily="34" charset="-120"/>
              </a:rPr>
              <a:t> – the current must flow </a:t>
            </a:r>
            <a:r>
              <a:rPr lang="en-US" sz="1150" b="1" dirty="0">
                <a:solidFill>
                  <a:srgbClr val="262B3A"/>
                </a:solidFill>
                <a:latin typeface="Calibri" pitchFamily="34" charset="0"/>
                <a:ea typeface="Calibri" pitchFamily="34" charset="-122"/>
                <a:cs typeface="Calibri" pitchFamily="34" charset="-120"/>
              </a:rPr>
              <a:t>through</a:t>
            </a:r>
            <a:r>
              <a:rPr lang="en-US" sz="1150" dirty="0">
                <a:solidFill>
                  <a:srgbClr val="262B3A"/>
                </a:solidFill>
                <a:latin typeface="Calibri" pitchFamily="34" charset="0"/>
                <a:ea typeface="Calibri" pitchFamily="34" charset="-122"/>
                <a:cs typeface="Calibri" pitchFamily="34" charset="-120"/>
              </a:rPr>
              <a:t> it.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Voltmeter</a:t>
            </a:r>
            <a:r>
              <a:rPr lang="en-US" sz="1150" dirty="0">
                <a:solidFill>
                  <a:srgbClr val="262B3A"/>
                </a:solidFill>
                <a:latin typeface="Calibri" pitchFamily="34" charset="0"/>
                <a:ea typeface="Calibri" pitchFamily="34" charset="-122"/>
                <a:cs typeface="Calibri" pitchFamily="34" charset="-120"/>
              </a:rPr>
              <a:t> measures </a:t>
            </a:r>
            <a:r>
              <a:rPr lang="en-US" sz="1150" b="1" dirty="0">
                <a:solidFill>
                  <a:srgbClr val="262B3A"/>
                </a:solidFill>
                <a:latin typeface="Calibri" pitchFamily="34" charset="0"/>
                <a:ea typeface="Calibri" pitchFamily="34" charset="-122"/>
                <a:cs typeface="Calibri" pitchFamily="34" charset="-120"/>
              </a:rPr>
              <a:t>potential difference (p.d.)</a:t>
            </a:r>
            <a:r>
              <a:rPr lang="en-US" sz="1150" dirty="0">
                <a:solidFill>
                  <a:srgbClr val="262B3A"/>
                </a:solidFill>
                <a:latin typeface="Calibri" pitchFamily="34" charset="0"/>
                <a:ea typeface="Calibri" pitchFamily="34" charset="-122"/>
                <a:cs typeface="Calibri" pitchFamily="34" charset="-120"/>
              </a:rPr>
              <a:t> in </a:t>
            </a:r>
            <a:r>
              <a:rPr lang="en-US" sz="1150" b="1" dirty="0">
                <a:solidFill>
                  <a:srgbClr val="262B3A"/>
                </a:solidFill>
                <a:latin typeface="Calibri" pitchFamily="34" charset="0"/>
                <a:ea typeface="Calibri" pitchFamily="34" charset="-122"/>
                <a:cs typeface="Calibri" pitchFamily="34" charset="-120"/>
              </a:rPr>
              <a:t>volts (V)</a:t>
            </a:r>
            <a:r>
              <a:rPr lang="en-US" sz="1150" dirty="0">
                <a:solidFill>
                  <a:srgbClr val="262B3A"/>
                </a:solidFill>
                <a:latin typeface="Calibri" pitchFamily="34" charset="0"/>
                <a:ea typeface="Calibri" pitchFamily="34" charset="-122"/>
                <a:cs typeface="Calibri" pitchFamily="34" charset="-120"/>
              </a:rPr>
              <a:t>. Connect it </a:t>
            </a:r>
            <a:r>
              <a:rPr lang="en-US" sz="1150" b="1" dirty="0">
                <a:solidFill>
                  <a:srgbClr val="262B3A"/>
                </a:solidFill>
                <a:latin typeface="Calibri" pitchFamily="34" charset="0"/>
                <a:ea typeface="Calibri" pitchFamily="34" charset="-122"/>
                <a:cs typeface="Calibri" pitchFamily="34" charset="-120"/>
              </a:rPr>
              <a:t>in parallel</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across</a:t>
            </a:r>
            <a:r>
              <a:rPr lang="en-US" sz="1150" dirty="0">
                <a:solidFill>
                  <a:srgbClr val="262B3A"/>
                </a:solidFill>
                <a:latin typeface="Calibri" pitchFamily="34" charset="0"/>
                <a:ea typeface="Calibri" pitchFamily="34" charset="-122"/>
                <a:cs typeface="Calibri" pitchFamily="34" charset="-120"/>
              </a:rPr>
              <a:t> the component.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ammeter has very low resistance; a voltmeter has very high resistance, so neither changes the circuit much.</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series circuit used for testing, the current is the same everywhere, so the ammeter can go anywhere in the loop.</a:t>
            </a:r>
            <a:endParaRPr lang="en-US" sz="1150" dirty="0"/>
          </a:p>
        </p:txBody>
      </p:sp>
      <p:sp>
        <p:nvSpPr>
          <p:cNvPr id="50" name="Shape 4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1" name="Text 4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Common mistakes</a:t>
            </a:r>
            <a:endParaRPr lang="en-US" sz="1300" dirty="0"/>
          </a:p>
        </p:txBody>
      </p:sp>
      <p:sp>
        <p:nvSpPr>
          <p:cNvPr id="52" name="Text 50"/>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Spot what is wrong.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Voltmeter in series   </a:t>
            </a:r>
            <a:r>
              <a:rPr lang="en-US" sz="1100" dirty="0">
                <a:solidFill>
                  <a:srgbClr val="262B3A"/>
                </a:solidFill>
                <a:latin typeface="Calibri" pitchFamily="34" charset="0"/>
                <a:ea typeface="Calibri" pitchFamily="34" charset="-122"/>
                <a:cs typeface="Calibri" pitchFamily="34" charset="-120"/>
              </a:rPr>
              <a:t>almost no current flows → the lamp does not light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Ammeter in parallel   </a:t>
            </a:r>
            <a:r>
              <a:rPr lang="en-US" sz="1100" dirty="0">
                <a:solidFill>
                  <a:srgbClr val="262B3A"/>
                </a:solidFill>
                <a:latin typeface="Calibri" pitchFamily="34" charset="0"/>
                <a:ea typeface="Calibri" pitchFamily="34" charset="-122"/>
                <a:cs typeface="Calibri" pitchFamily="34" charset="-120"/>
              </a:rPr>
              <a:t>it short-circuits the component → very large current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trace the loop: does all the current pass through the ammeter?</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 in the loop, V across the component</a:t>
            </a:r>
            <a:endParaRPr lang="en-US" sz="1100" dirty="0"/>
          </a:p>
        </p:txBody>
      </p:sp>
      <p:sp>
        <p:nvSpPr>
          <p:cNvPr id="53" name="Shape 51"/>
          <p:cNvSpPr/>
          <p:nvPr/>
        </p:nvSpPr>
        <p:spPr>
          <a:xfrm>
            <a:off x="411480" y="5833872"/>
            <a:ext cx="11368735" cy="530352"/>
          </a:xfrm>
          <a:prstGeom prst="rect">
            <a:avLst/>
          </a:prstGeom>
          <a:solidFill>
            <a:srgbClr val="FFF4E0"/>
          </a:solidFill>
          <a:ln w="6350">
            <a:solidFill>
              <a:srgbClr val="F1D9A8"/>
            </a:solidFill>
            <a:prstDash val="solid"/>
          </a:ln>
        </p:spPr>
      </p:sp>
      <p:sp>
        <p:nvSpPr>
          <p:cNvPr id="54" name="Shape 52"/>
          <p:cNvSpPr/>
          <p:nvPr/>
        </p:nvSpPr>
        <p:spPr>
          <a:xfrm>
            <a:off x="411480" y="5833872"/>
            <a:ext cx="82296" cy="530352"/>
          </a:xfrm>
          <a:prstGeom prst="rect">
            <a:avLst/>
          </a:prstGeom>
          <a:solidFill>
            <a:srgbClr val="E39A2F"/>
          </a:solidFill>
          <a:ln w="12700">
            <a:solidFill>
              <a:srgbClr val="E39A2F"/>
            </a:solidFill>
            <a:prstDash val="solid"/>
          </a:ln>
        </p:spPr>
      </p:sp>
      <p:sp>
        <p:nvSpPr>
          <p:cNvPr id="55" name="Text 5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wants to measure the p.d. across a resistor and the current through it. Describe where each meter goes.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Potential difference: E = Q × V</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10.5, 10.6 • the volt is a joule per coulomb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10.5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energy per coulomb: gained in the battery, transferred in the lamps</a:t>
            </a:r>
            <a:endParaRPr lang="en-US" sz="1000" dirty="0"/>
          </a:p>
        </p:txBody>
      </p:sp>
      <p:sp>
        <p:nvSpPr>
          <p:cNvPr id="10" name="Shape 8"/>
          <p:cNvSpPr/>
          <p:nvPr/>
        </p:nvSpPr>
        <p:spPr>
          <a:xfrm>
            <a:off x="1280160" y="1920240"/>
            <a:ext cx="1764792" cy="91"/>
          </a:xfrm>
          <a:prstGeom prst="line">
            <a:avLst/>
          </a:prstGeom>
          <a:noFill/>
          <a:ln w="19050">
            <a:solidFill>
              <a:srgbClr val="1A2340"/>
            </a:solidFill>
            <a:prstDash val="solid"/>
          </a:ln>
        </p:spPr>
      </p:sp>
      <p:sp>
        <p:nvSpPr>
          <p:cNvPr id="11" name="Shape 9"/>
          <p:cNvSpPr/>
          <p:nvPr/>
        </p:nvSpPr>
        <p:spPr>
          <a:xfrm>
            <a:off x="3355848" y="1920240"/>
            <a:ext cx="1764792" cy="91"/>
          </a:xfrm>
          <a:prstGeom prst="line">
            <a:avLst/>
          </a:prstGeom>
          <a:noFill/>
          <a:ln w="19050">
            <a:solidFill>
              <a:srgbClr val="1A2340"/>
            </a:solidFill>
            <a:prstDash val="solid"/>
          </a:ln>
        </p:spPr>
      </p:sp>
      <p:sp>
        <p:nvSpPr>
          <p:cNvPr id="12" name="Shape 10"/>
          <p:cNvSpPr/>
          <p:nvPr/>
        </p:nvSpPr>
        <p:spPr>
          <a:xfrm>
            <a:off x="3044952" y="1719072"/>
            <a:ext cx="91" cy="402336"/>
          </a:xfrm>
          <a:prstGeom prst="line">
            <a:avLst/>
          </a:prstGeom>
          <a:noFill/>
          <a:ln w="19050">
            <a:solidFill>
              <a:srgbClr val="1A2340"/>
            </a:solidFill>
            <a:prstDash val="solid"/>
          </a:ln>
        </p:spPr>
      </p:sp>
      <p:sp>
        <p:nvSpPr>
          <p:cNvPr id="13" name="Shape 11"/>
          <p:cNvSpPr/>
          <p:nvPr/>
        </p:nvSpPr>
        <p:spPr>
          <a:xfrm>
            <a:off x="3136392" y="1819656"/>
            <a:ext cx="91" cy="201168"/>
          </a:xfrm>
          <a:prstGeom prst="line">
            <a:avLst/>
          </a:prstGeom>
          <a:noFill/>
          <a:ln w="57150">
            <a:solidFill>
              <a:srgbClr val="1A2340"/>
            </a:solidFill>
            <a:prstDash val="solid"/>
          </a:ln>
        </p:spPr>
      </p:sp>
      <p:sp>
        <p:nvSpPr>
          <p:cNvPr id="14" name="Shape 12"/>
          <p:cNvSpPr/>
          <p:nvPr/>
        </p:nvSpPr>
        <p:spPr>
          <a:xfrm>
            <a:off x="3136392" y="1920240"/>
            <a:ext cx="128016" cy="91"/>
          </a:xfrm>
          <a:prstGeom prst="line">
            <a:avLst/>
          </a:prstGeom>
          <a:noFill/>
          <a:ln w="19050">
            <a:solidFill>
              <a:srgbClr val="1A2340"/>
            </a:solidFill>
            <a:prstDash val="solid"/>
          </a:ln>
        </p:spPr>
      </p:sp>
      <p:sp>
        <p:nvSpPr>
          <p:cNvPr id="15" name="Shape 13"/>
          <p:cNvSpPr/>
          <p:nvPr/>
        </p:nvSpPr>
        <p:spPr>
          <a:xfrm>
            <a:off x="3264408" y="1719072"/>
            <a:ext cx="91" cy="402336"/>
          </a:xfrm>
          <a:prstGeom prst="line">
            <a:avLst/>
          </a:prstGeom>
          <a:noFill/>
          <a:ln w="19050">
            <a:solidFill>
              <a:srgbClr val="1A2340"/>
            </a:solidFill>
            <a:prstDash val="solid"/>
          </a:ln>
        </p:spPr>
      </p:sp>
      <p:sp>
        <p:nvSpPr>
          <p:cNvPr id="16" name="Shape 14"/>
          <p:cNvSpPr/>
          <p:nvPr/>
        </p:nvSpPr>
        <p:spPr>
          <a:xfrm>
            <a:off x="3355848" y="1819656"/>
            <a:ext cx="91" cy="201168"/>
          </a:xfrm>
          <a:prstGeom prst="line">
            <a:avLst/>
          </a:prstGeom>
          <a:noFill/>
          <a:ln w="57150">
            <a:solidFill>
              <a:srgbClr val="1A2340"/>
            </a:solidFill>
            <a:prstDash val="solid"/>
          </a:ln>
        </p:spPr>
      </p:sp>
      <p:sp>
        <p:nvSpPr>
          <p:cNvPr id="17" name="Text 15"/>
          <p:cNvSpPr/>
          <p:nvPr/>
        </p:nvSpPr>
        <p:spPr>
          <a:xfrm>
            <a:off x="2606040" y="147218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12 V battery</a:t>
            </a:r>
            <a:endParaRPr lang="en-US" sz="1050" dirty="0"/>
          </a:p>
        </p:txBody>
      </p:sp>
      <p:sp>
        <p:nvSpPr>
          <p:cNvPr id="18" name="Shape 16"/>
          <p:cNvSpPr/>
          <p:nvPr/>
        </p:nvSpPr>
        <p:spPr>
          <a:xfrm>
            <a:off x="1280160" y="1920240"/>
            <a:ext cx="91" cy="2011680"/>
          </a:xfrm>
          <a:prstGeom prst="line">
            <a:avLst/>
          </a:prstGeom>
          <a:noFill/>
          <a:ln w="19050">
            <a:solidFill>
              <a:srgbClr val="1A2340"/>
            </a:solidFill>
            <a:prstDash val="solid"/>
          </a:ln>
        </p:spPr>
      </p:sp>
      <p:sp>
        <p:nvSpPr>
          <p:cNvPr id="19" name="Shape 17"/>
          <p:cNvSpPr/>
          <p:nvPr/>
        </p:nvSpPr>
        <p:spPr>
          <a:xfrm>
            <a:off x="5120640" y="1920240"/>
            <a:ext cx="91" cy="2011680"/>
          </a:xfrm>
          <a:prstGeom prst="line">
            <a:avLst/>
          </a:prstGeom>
          <a:noFill/>
          <a:ln w="19050">
            <a:solidFill>
              <a:srgbClr val="1A2340"/>
            </a:solidFill>
            <a:prstDash val="solid"/>
          </a:ln>
        </p:spPr>
      </p:sp>
      <p:sp>
        <p:nvSpPr>
          <p:cNvPr id="20" name="Shape 18"/>
          <p:cNvSpPr/>
          <p:nvPr/>
        </p:nvSpPr>
        <p:spPr>
          <a:xfrm flipH="1">
            <a:off x="4325112" y="3931920"/>
            <a:ext cx="795528" cy="91"/>
          </a:xfrm>
          <a:prstGeom prst="line">
            <a:avLst/>
          </a:prstGeom>
          <a:noFill/>
          <a:ln w="19050">
            <a:solidFill>
              <a:srgbClr val="1A2340"/>
            </a:solidFill>
            <a:prstDash val="solid"/>
          </a:ln>
        </p:spPr>
      </p:sp>
      <p:sp>
        <p:nvSpPr>
          <p:cNvPr id="21" name="Shape 19"/>
          <p:cNvSpPr/>
          <p:nvPr/>
        </p:nvSpPr>
        <p:spPr>
          <a:xfrm flipH="1">
            <a:off x="3200400" y="3931920"/>
            <a:ext cx="795528" cy="91"/>
          </a:xfrm>
          <a:prstGeom prst="line">
            <a:avLst/>
          </a:prstGeom>
          <a:noFill/>
          <a:ln w="19050">
            <a:solidFill>
              <a:srgbClr val="1A2340"/>
            </a:solidFill>
            <a:prstDash val="solid"/>
          </a:ln>
        </p:spPr>
      </p:sp>
      <p:sp>
        <p:nvSpPr>
          <p:cNvPr id="22" name="Shape 20"/>
          <p:cNvSpPr/>
          <p:nvPr/>
        </p:nvSpPr>
        <p:spPr>
          <a:xfrm>
            <a:off x="3995928" y="3767328"/>
            <a:ext cx="329184" cy="329184"/>
          </a:xfrm>
          <a:prstGeom prst="ellipse">
            <a:avLst/>
          </a:prstGeom>
          <a:solidFill>
            <a:srgbClr val="FFFFFF"/>
          </a:solidFill>
          <a:ln w="19050">
            <a:solidFill>
              <a:srgbClr val="1A2340"/>
            </a:solidFill>
            <a:prstDash val="solid"/>
          </a:ln>
        </p:spPr>
      </p:sp>
      <p:sp>
        <p:nvSpPr>
          <p:cNvPr id="23" name="Shape 21"/>
          <p:cNvSpPr/>
          <p:nvPr/>
        </p:nvSpPr>
        <p:spPr>
          <a:xfrm flipH="1" flipV="1">
            <a:off x="4044137" y="3815537"/>
            <a:ext cx="232766" cy="232766"/>
          </a:xfrm>
          <a:prstGeom prst="line">
            <a:avLst/>
          </a:prstGeom>
          <a:noFill/>
          <a:ln w="19050">
            <a:solidFill>
              <a:srgbClr val="1A2340"/>
            </a:solidFill>
            <a:prstDash val="solid"/>
          </a:ln>
        </p:spPr>
      </p:sp>
      <p:sp>
        <p:nvSpPr>
          <p:cNvPr id="24" name="Shape 22"/>
          <p:cNvSpPr/>
          <p:nvPr/>
        </p:nvSpPr>
        <p:spPr>
          <a:xfrm flipH="1">
            <a:off x="4044137" y="3815537"/>
            <a:ext cx="232766" cy="232766"/>
          </a:xfrm>
          <a:prstGeom prst="line">
            <a:avLst/>
          </a:prstGeom>
          <a:noFill/>
          <a:ln w="19050">
            <a:solidFill>
              <a:srgbClr val="1A2340"/>
            </a:solidFill>
            <a:prstDash val="solid"/>
          </a:ln>
        </p:spPr>
      </p:sp>
      <p:sp>
        <p:nvSpPr>
          <p:cNvPr id="25" name="Text 23"/>
          <p:cNvSpPr/>
          <p:nvPr/>
        </p:nvSpPr>
        <p:spPr>
          <a:xfrm>
            <a:off x="3566160" y="4142232"/>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6 V</a:t>
            </a:r>
            <a:endParaRPr lang="en-US" sz="1050" dirty="0"/>
          </a:p>
        </p:txBody>
      </p:sp>
      <p:sp>
        <p:nvSpPr>
          <p:cNvPr id="26" name="Shape 24"/>
          <p:cNvSpPr/>
          <p:nvPr/>
        </p:nvSpPr>
        <p:spPr>
          <a:xfrm flipH="1">
            <a:off x="2404872" y="3931920"/>
            <a:ext cx="795528" cy="91"/>
          </a:xfrm>
          <a:prstGeom prst="line">
            <a:avLst/>
          </a:prstGeom>
          <a:noFill/>
          <a:ln w="19050">
            <a:solidFill>
              <a:srgbClr val="1A2340"/>
            </a:solidFill>
            <a:prstDash val="solid"/>
          </a:ln>
        </p:spPr>
      </p:sp>
      <p:sp>
        <p:nvSpPr>
          <p:cNvPr id="27" name="Shape 25"/>
          <p:cNvSpPr/>
          <p:nvPr/>
        </p:nvSpPr>
        <p:spPr>
          <a:xfrm flipH="1">
            <a:off x="1280160" y="3931920"/>
            <a:ext cx="795528" cy="91"/>
          </a:xfrm>
          <a:prstGeom prst="line">
            <a:avLst/>
          </a:prstGeom>
          <a:noFill/>
          <a:ln w="19050">
            <a:solidFill>
              <a:srgbClr val="1A2340"/>
            </a:solidFill>
            <a:prstDash val="solid"/>
          </a:ln>
        </p:spPr>
      </p:sp>
      <p:sp>
        <p:nvSpPr>
          <p:cNvPr id="28" name="Shape 26"/>
          <p:cNvSpPr/>
          <p:nvPr/>
        </p:nvSpPr>
        <p:spPr>
          <a:xfrm>
            <a:off x="2075688" y="3767328"/>
            <a:ext cx="329184" cy="329184"/>
          </a:xfrm>
          <a:prstGeom prst="ellipse">
            <a:avLst/>
          </a:prstGeom>
          <a:solidFill>
            <a:srgbClr val="FFFFFF"/>
          </a:solidFill>
          <a:ln w="19050">
            <a:solidFill>
              <a:srgbClr val="1A2340"/>
            </a:solidFill>
            <a:prstDash val="solid"/>
          </a:ln>
        </p:spPr>
      </p:sp>
      <p:sp>
        <p:nvSpPr>
          <p:cNvPr id="29" name="Shape 27"/>
          <p:cNvSpPr/>
          <p:nvPr/>
        </p:nvSpPr>
        <p:spPr>
          <a:xfrm flipH="1" flipV="1">
            <a:off x="2123897" y="3815537"/>
            <a:ext cx="232766" cy="232766"/>
          </a:xfrm>
          <a:prstGeom prst="line">
            <a:avLst/>
          </a:prstGeom>
          <a:noFill/>
          <a:ln w="19050">
            <a:solidFill>
              <a:srgbClr val="1A2340"/>
            </a:solidFill>
            <a:prstDash val="solid"/>
          </a:ln>
        </p:spPr>
      </p:sp>
      <p:sp>
        <p:nvSpPr>
          <p:cNvPr id="30" name="Shape 28"/>
          <p:cNvSpPr/>
          <p:nvPr/>
        </p:nvSpPr>
        <p:spPr>
          <a:xfrm flipH="1">
            <a:off x="2123897" y="3815537"/>
            <a:ext cx="232766" cy="232766"/>
          </a:xfrm>
          <a:prstGeom prst="line">
            <a:avLst/>
          </a:prstGeom>
          <a:noFill/>
          <a:ln w="19050">
            <a:solidFill>
              <a:srgbClr val="1A2340"/>
            </a:solidFill>
            <a:prstDash val="solid"/>
          </a:ln>
        </p:spPr>
      </p:sp>
      <p:sp>
        <p:nvSpPr>
          <p:cNvPr id="31" name="Text 29"/>
          <p:cNvSpPr/>
          <p:nvPr/>
        </p:nvSpPr>
        <p:spPr>
          <a:xfrm>
            <a:off x="1645920" y="4142232"/>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6 V</a:t>
            </a:r>
            <a:endParaRPr lang="en-US" sz="1050" dirty="0"/>
          </a:p>
        </p:txBody>
      </p:sp>
      <p:sp>
        <p:nvSpPr>
          <p:cNvPr id="32" name="Shape 30"/>
          <p:cNvSpPr/>
          <p:nvPr/>
        </p:nvSpPr>
        <p:spPr>
          <a:xfrm>
            <a:off x="2057400" y="2331720"/>
            <a:ext cx="2286000" cy="566928"/>
          </a:xfrm>
          <a:prstGeom prst="roundRect">
            <a:avLst>
              <a:gd name="adj" fmla="val 8065"/>
            </a:avLst>
          </a:prstGeom>
          <a:solidFill>
            <a:srgbClr val="E6F4EC"/>
          </a:solidFill>
          <a:ln w="12700">
            <a:solidFill>
              <a:srgbClr val="2E8B57"/>
            </a:solidFill>
            <a:prstDash val="solid"/>
          </a:ln>
        </p:spPr>
      </p:sp>
      <p:sp>
        <p:nvSpPr>
          <p:cNvPr id="33" name="Text 31"/>
          <p:cNvSpPr/>
          <p:nvPr/>
        </p:nvSpPr>
        <p:spPr>
          <a:xfrm>
            <a:off x="2057400" y="2331720"/>
            <a:ext cx="2286000" cy="566928"/>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each coulomb GAINS 12 J</a:t>
            </a:r>
            <a:endParaRPr lang="en-US" sz="1050" dirty="0"/>
          </a:p>
          <a:p>
            <a:pPr algn="ctr" indent="0" marL="0">
              <a:buNone/>
            </a:pPr>
            <a:r>
              <a:rPr lang="en-US" sz="1050" b="1" dirty="0">
                <a:solidFill>
                  <a:srgbClr val="2E8B57"/>
                </a:solidFill>
                <a:latin typeface="Calibri" pitchFamily="34" charset="0"/>
                <a:ea typeface="Calibri" pitchFamily="34" charset="-122"/>
                <a:cs typeface="Calibri" pitchFamily="34" charset="-120"/>
              </a:rPr>
              <a:t>in the battery</a:t>
            </a:r>
            <a:endParaRPr lang="en-US" sz="1050" dirty="0"/>
          </a:p>
        </p:txBody>
      </p:sp>
      <p:sp>
        <p:nvSpPr>
          <p:cNvPr id="34" name="Shape 32"/>
          <p:cNvSpPr/>
          <p:nvPr/>
        </p:nvSpPr>
        <p:spPr>
          <a:xfrm>
            <a:off x="1143000" y="4343400"/>
            <a:ext cx="4114800" cy="566928"/>
          </a:xfrm>
          <a:prstGeom prst="roundRect">
            <a:avLst>
              <a:gd name="adj" fmla="val 8065"/>
            </a:avLst>
          </a:prstGeom>
          <a:solidFill>
            <a:srgbClr val="FBE9EA"/>
          </a:solidFill>
          <a:ln w="12700">
            <a:solidFill>
              <a:srgbClr val="C8414C"/>
            </a:solidFill>
            <a:prstDash val="solid"/>
          </a:ln>
        </p:spPr>
      </p:sp>
      <p:sp>
        <p:nvSpPr>
          <p:cNvPr id="35" name="Text 33"/>
          <p:cNvSpPr/>
          <p:nvPr/>
        </p:nvSpPr>
        <p:spPr>
          <a:xfrm>
            <a:off x="1143000" y="4343400"/>
            <a:ext cx="4114800" cy="566928"/>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each coulomb TRANSFERS 6 J in each lamp</a:t>
            </a:r>
            <a:endParaRPr lang="en-US" sz="1050" dirty="0"/>
          </a:p>
          <a:p>
            <a:pPr algn="ctr" indent="0" marL="0">
              <a:buNone/>
            </a:pPr>
            <a:r>
              <a:rPr lang="en-US" sz="1050" b="1" dirty="0">
                <a:solidFill>
                  <a:srgbClr val="C8414C"/>
                </a:solidFill>
                <a:latin typeface="Calibri" pitchFamily="34" charset="0"/>
                <a:ea typeface="Calibri" pitchFamily="34" charset="-122"/>
                <a:cs typeface="Calibri" pitchFamily="34" charset="-120"/>
              </a:rPr>
              <a:t>6 J + 6 J = 12 J</a:t>
            </a:r>
            <a:endParaRPr lang="en-US" sz="1050" dirty="0"/>
          </a:p>
        </p:txBody>
      </p:sp>
      <p:sp>
        <p:nvSpPr>
          <p:cNvPr id="36" name="Shape 3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7" name="Text 3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Energy per unit charge</a:t>
            </a:r>
            <a:endParaRPr lang="en-US" sz="1300" dirty="0"/>
          </a:p>
        </p:txBody>
      </p:sp>
      <p:sp>
        <p:nvSpPr>
          <p:cNvPr id="38" name="Text 3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Potential difference</a:t>
            </a:r>
            <a:r>
              <a:rPr lang="en-US" sz="1150" dirty="0">
                <a:solidFill>
                  <a:srgbClr val="262B3A"/>
                </a:solidFill>
                <a:latin typeface="Calibri" pitchFamily="34" charset="0"/>
                <a:ea typeface="Calibri" pitchFamily="34" charset="-122"/>
                <a:cs typeface="Calibri" pitchFamily="34" charset="-120"/>
              </a:rPr>
              <a:t> = the </a:t>
            </a:r>
            <a:r>
              <a:rPr lang="en-US" sz="1150" b="1" dirty="0">
                <a:solidFill>
                  <a:srgbClr val="262B3A"/>
                </a:solidFill>
                <a:latin typeface="Calibri" pitchFamily="34" charset="0"/>
                <a:ea typeface="Calibri" pitchFamily="34" charset="-122"/>
                <a:cs typeface="Calibri" pitchFamily="34" charset="-120"/>
              </a:rPr>
              <a:t>energy transferred per unit charge</a:t>
            </a:r>
            <a:r>
              <a:rPr lang="en-US" sz="1150" dirty="0">
                <a:solidFill>
                  <a:srgbClr val="262B3A"/>
                </a:solidFill>
                <a:latin typeface="Calibri" pitchFamily="34" charset="0"/>
                <a:ea typeface="Calibri" pitchFamily="34" charset="-122"/>
                <a:cs typeface="Calibri" pitchFamily="34" charset="-120"/>
              </a:rPr>
              <a:t> passed. So </a:t>
            </a:r>
            <a:r>
              <a:rPr lang="en-US" sz="1150" b="1" dirty="0">
                <a:solidFill>
                  <a:srgbClr val="262B3A"/>
                </a:solidFill>
                <a:latin typeface="Calibri" pitchFamily="34" charset="0"/>
                <a:ea typeface="Calibri" pitchFamily="34" charset="-122"/>
                <a:cs typeface="Calibri" pitchFamily="34" charset="-120"/>
              </a:rPr>
              <a:t>1 volt = 1 joule per coulomb</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E = Q × V</a:t>
            </a:r>
            <a:r>
              <a:rPr lang="en-US" sz="1150" dirty="0">
                <a:solidFill>
                  <a:srgbClr val="262B3A"/>
                </a:solidFill>
                <a:latin typeface="Calibri" pitchFamily="34" charset="0"/>
                <a:ea typeface="Calibri" pitchFamily="34" charset="-122"/>
                <a:cs typeface="Calibri" pitchFamily="34" charset="-120"/>
              </a:rPr>
              <a:t>   energy transferred (J) = charge moved (C) × potential difference (V)</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12 V battery gives </a:t>
            </a:r>
            <a:r>
              <a:rPr lang="en-US" sz="1150" b="1" dirty="0">
                <a:solidFill>
                  <a:srgbClr val="262B3A"/>
                </a:solidFill>
                <a:latin typeface="Calibri" pitchFamily="34" charset="0"/>
                <a:ea typeface="Calibri" pitchFamily="34" charset="-122"/>
                <a:cs typeface="Calibri" pitchFamily="34" charset="-120"/>
              </a:rPr>
              <a:t>12 J</a:t>
            </a:r>
            <a:r>
              <a:rPr lang="en-US" sz="1150" dirty="0">
                <a:solidFill>
                  <a:srgbClr val="262B3A"/>
                </a:solidFill>
                <a:latin typeface="Calibri" pitchFamily="34" charset="0"/>
                <a:ea typeface="Calibri" pitchFamily="34" charset="-122"/>
                <a:cs typeface="Calibri" pitchFamily="34" charset="-120"/>
              </a:rPr>
              <a:t> to every coulomb; the components transfer it all.</a:t>
            </a:r>
            <a:endParaRPr lang="en-US" sz="1150" dirty="0"/>
          </a:p>
        </p:txBody>
      </p:sp>
      <p:sp>
        <p:nvSpPr>
          <p:cNvPr id="39" name="Shape 3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0" name="Text 3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1" name="Text 39"/>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12 V battery moves 40 C of charge round a circuit. Calculate the energy transferred.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E = Q ×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E = 40 C × 12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Units   </a:t>
            </a:r>
            <a:r>
              <a:rPr lang="en-US" sz="1100" dirty="0">
                <a:solidFill>
                  <a:srgbClr val="262B3A"/>
                </a:solidFill>
                <a:latin typeface="Calibri" pitchFamily="34" charset="0"/>
                <a:ea typeface="Calibri" pitchFamily="34" charset="-122"/>
                <a:cs typeface="Calibri" pitchFamily="34" charset="-120"/>
              </a:rPr>
              <a:t>C × V = C × J/C = J</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 = 480 J</a:t>
            </a:r>
            <a:endParaRPr lang="en-US" sz="1100" dirty="0"/>
          </a:p>
        </p:txBody>
      </p:sp>
      <p:sp>
        <p:nvSpPr>
          <p:cNvPr id="42" name="Shape 40"/>
          <p:cNvSpPr/>
          <p:nvPr/>
        </p:nvSpPr>
        <p:spPr>
          <a:xfrm>
            <a:off x="411480" y="5833872"/>
            <a:ext cx="11368735" cy="530352"/>
          </a:xfrm>
          <a:prstGeom prst="rect">
            <a:avLst/>
          </a:prstGeom>
          <a:solidFill>
            <a:srgbClr val="FFF4E0"/>
          </a:solidFill>
          <a:ln w="6350">
            <a:solidFill>
              <a:srgbClr val="F1D9A8"/>
            </a:solidFill>
            <a:prstDash val="solid"/>
          </a:ln>
        </p:spPr>
      </p:sp>
      <p:sp>
        <p:nvSpPr>
          <p:cNvPr id="43" name="Shape 41"/>
          <p:cNvSpPr/>
          <p:nvPr/>
        </p:nvSpPr>
        <p:spPr>
          <a:xfrm>
            <a:off x="411480" y="5833872"/>
            <a:ext cx="82296" cy="530352"/>
          </a:xfrm>
          <a:prstGeom prst="rect">
            <a:avLst/>
          </a:prstGeom>
          <a:solidFill>
            <a:srgbClr val="E39A2F"/>
          </a:solidFill>
          <a:ln w="12700">
            <a:solidFill>
              <a:srgbClr val="E39A2F"/>
            </a:solidFill>
            <a:prstDash val="solid"/>
          </a:ln>
        </p:spPr>
      </p:sp>
      <p:sp>
        <p:nvSpPr>
          <p:cNvPr id="44" name="Text 4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1.5 V cell transfers 90 J of energy. Calculate the charge that flowed.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Resistance: V = I × 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10.12, 10.13 • changing the resistance changes the current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10.13  |  11</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variable resistor controls the current through the lamp</a:t>
            </a:r>
            <a:endParaRPr lang="en-US" sz="1000" dirty="0"/>
          </a:p>
        </p:txBody>
      </p:sp>
      <p:sp>
        <p:nvSpPr>
          <p:cNvPr id="10" name="Shape 8"/>
          <p:cNvSpPr/>
          <p:nvPr/>
        </p:nvSpPr>
        <p:spPr>
          <a:xfrm>
            <a:off x="1188720" y="1737360"/>
            <a:ext cx="950976" cy="91"/>
          </a:xfrm>
          <a:prstGeom prst="line">
            <a:avLst/>
          </a:prstGeom>
          <a:noFill/>
          <a:ln w="19050">
            <a:solidFill>
              <a:srgbClr val="1A2340"/>
            </a:solidFill>
            <a:prstDash val="solid"/>
          </a:ln>
        </p:spPr>
      </p:sp>
      <p:sp>
        <p:nvSpPr>
          <p:cNvPr id="11" name="Shape 9"/>
          <p:cNvSpPr/>
          <p:nvPr/>
        </p:nvSpPr>
        <p:spPr>
          <a:xfrm>
            <a:off x="2249424" y="1737360"/>
            <a:ext cx="950976" cy="91"/>
          </a:xfrm>
          <a:prstGeom prst="line">
            <a:avLst/>
          </a:prstGeom>
          <a:noFill/>
          <a:ln w="19050">
            <a:solidFill>
              <a:srgbClr val="1A2340"/>
            </a:solidFill>
            <a:prstDash val="solid"/>
          </a:ln>
        </p:spPr>
      </p:sp>
      <p:sp>
        <p:nvSpPr>
          <p:cNvPr id="12" name="Shape 10"/>
          <p:cNvSpPr/>
          <p:nvPr/>
        </p:nvSpPr>
        <p:spPr>
          <a:xfrm>
            <a:off x="2139696" y="1536192"/>
            <a:ext cx="91" cy="402336"/>
          </a:xfrm>
          <a:prstGeom prst="line">
            <a:avLst/>
          </a:prstGeom>
          <a:noFill/>
          <a:ln w="19050">
            <a:solidFill>
              <a:srgbClr val="1A2340"/>
            </a:solidFill>
            <a:prstDash val="solid"/>
          </a:ln>
        </p:spPr>
      </p:sp>
      <p:sp>
        <p:nvSpPr>
          <p:cNvPr id="13" name="Shape 11"/>
          <p:cNvSpPr/>
          <p:nvPr/>
        </p:nvSpPr>
        <p:spPr>
          <a:xfrm>
            <a:off x="2249424" y="1636776"/>
            <a:ext cx="91" cy="201168"/>
          </a:xfrm>
          <a:prstGeom prst="line">
            <a:avLst/>
          </a:prstGeom>
          <a:noFill/>
          <a:ln w="57150">
            <a:solidFill>
              <a:srgbClr val="1A2340"/>
            </a:solidFill>
            <a:prstDash val="solid"/>
          </a:ln>
        </p:spPr>
      </p:sp>
      <p:sp>
        <p:nvSpPr>
          <p:cNvPr id="14" name="Text 12"/>
          <p:cNvSpPr/>
          <p:nvPr/>
        </p:nvSpPr>
        <p:spPr>
          <a:xfrm>
            <a:off x="1600200" y="128930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cell</a:t>
            </a:r>
            <a:endParaRPr lang="en-US" sz="1050" dirty="0"/>
          </a:p>
        </p:txBody>
      </p:sp>
      <p:sp>
        <p:nvSpPr>
          <p:cNvPr id="15" name="Shape 13"/>
          <p:cNvSpPr/>
          <p:nvPr/>
        </p:nvSpPr>
        <p:spPr>
          <a:xfrm>
            <a:off x="3200400" y="1737360"/>
            <a:ext cx="758952" cy="91"/>
          </a:xfrm>
          <a:prstGeom prst="line">
            <a:avLst/>
          </a:prstGeom>
          <a:noFill/>
          <a:ln w="19050">
            <a:solidFill>
              <a:srgbClr val="1A2340"/>
            </a:solidFill>
            <a:prstDash val="solid"/>
          </a:ln>
        </p:spPr>
      </p:sp>
      <p:sp>
        <p:nvSpPr>
          <p:cNvPr id="16" name="Shape 14"/>
          <p:cNvSpPr/>
          <p:nvPr/>
        </p:nvSpPr>
        <p:spPr>
          <a:xfrm>
            <a:off x="4453128" y="1737360"/>
            <a:ext cx="758952" cy="91"/>
          </a:xfrm>
          <a:prstGeom prst="line">
            <a:avLst/>
          </a:prstGeom>
          <a:noFill/>
          <a:ln w="19050">
            <a:solidFill>
              <a:srgbClr val="1A2340"/>
            </a:solidFill>
            <a:prstDash val="solid"/>
          </a:ln>
        </p:spPr>
      </p:sp>
      <p:sp>
        <p:nvSpPr>
          <p:cNvPr id="17" name="Shape 15"/>
          <p:cNvSpPr/>
          <p:nvPr/>
        </p:nvSpPr>
        <p:spPr>
          <a:xfrm>
            <a:off x="3959352" y="1645920"/>
            <a:ext cx="493776" cy="182880"/>
          </a:xfrm>
          <a:prstGeom prst="rect">
            <a:avLst/>
          </a:prstGeom>
          <a:solidFill>
            <a:srgbClr val="FFFFFF"/>
          </a:solidFill>
          <a:ln w="19050">
            <a:solidFill>
              <a:srgbClr val="1A2340"/>
            </a:solidFill>
            <a:prstDash val="solid"/>
          </a:ln>
        </p:spPr>
      </p:sp>
      <p:sp>
        <p:nvSpPr>
          <p:cNvPr id="18" name="Shape 16"/>
          <p:cNvSpPr/>
          <p:nvPr/>
        </p:nvSpPr>
        <p:spPr>
          <a:xfrm flipV="1">
            <a:off x="3913632" y="1517904"/>
            <a:ext cx="603504" cy="420624"/>
          </a:xfrm>
          <a:prstGeom prst="line">
            <a:avLst/>
          </a:prstGeom>
          <a:noFill/>
          <a:ln w="15875">
            <a:solidFill>
              <a:srgbClr val="1A2340"/>
            </a:solidFill>
            <a:prstDash val="solid"/>
            <a:tailEnd type="triangle"/>
          </a:ln>
        </p:spPr>
      </p:sp>
      <p:sp>
        <p:nvSpPr>
          <p:cNvPr id="19" name="Text 17"/>
          <p:cNvSpPr/>
          <p:nvPr/>
        </p:nvSpPr>
        <p:spPr>
          <a:xfrm>
            <a:off x="3383280" y="1271016"/>
            <a:ext cx="16459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variable resistor</a:t>
            </a:r>
            <a:endParaRPr lang="en-US" sz="1050" dirty="0"/>
          </a:p>
        </p:txBody>
      </p:sp>
      <p:sp>
        <p:nvSpPr>
          <p:cNvPr id="20" name="Shape 18"/>
          <p:cNvSpPr/>
          <p:nvPr/>
        </p:nvSpPr>
        <p:spPr>
          <a:xfrm>
            <a:off x="5212080" y="1737360"/>
            <a:ext cx="91" cy="1463040"/>
          </a:xfrm>
          <a:prstGeom prst="line">
            <a:avLst/>
          </a:prstGeom>
          <a:noFill/>
          <a:ln w="19050">
            <a:solidFill>
              <a:srgbClr val="1A2340"/>
            </a:solidFill>
            <a:prstDash val="solid"/>
          </a:ln>
        </p:spPr>
      </p:sp>
      <p:sp>
        <p:nvSpPr>
          <p:cNvPr id="21" name="Shape 19"/>
          <p:cNvSpPr/>
          <p:nvPr/>
        </p:nvSpPr>
        <p:spPr>
          <a:xfrm flipV="1">
            <a:off x="1188720" y="2642616"/>
            <a:ext cx="91" cy="557784"/>
          </a:xfrm>
          <a:prstGeom prst="line">
            <a:avLst/>
          </a:prstGeom>
          <a:noFill/>
          <a:ln w="19050">
            <a:solidFill>
              <a:srgbClr val="1A2340"/>
            </a:solidFill>
            <a:prstDash val="solid"/>
          </a:ln>
        </p:spPr>
      </p:sp>
      <p:sp>
        <p:nvSpPr>
          <p:cNvPr id="22" name="Shape 20"/>
          <p:cNvSpPr/>
          <p:nvPr/>
        </p:nvSpPr>
        <p:spPr>
          <a:xfrm flipV="1">
            <a:off x="1188720" y="1737360"/>
            <a:ext cx="91" cy="557784"/>
          </a:xfrm>
          <a:prstGeom prst="line">
            <a:avLst/>
          </a:prstGeom>
          <a:noFill/>
          <a:ln w="19050">
            <a:solidFill>
              <a:srgbClr val="1A2340"/>
            </a:solidFill>
            <a:prstDash val="solid"/>
          </a:ln>
        </p:spPr>
      </p:sp>
      <p:sp>
        <p:nvSpPr>
          <p:cNvPr id="23" name="Shape 21"/>
          <p:cNvSpPr/>
          <p:nvPr/>
        </p:nvSpPr>
        <p:spPr>
          <a:xfrm>
            <a:off x="1014984" y="2295144"/>
            <a:ext cx="347472" cy="347472"/>
          </a:xfrm>
          <a:prstGeom prst="ellipse">
            <a:avLst/>
          </a:prstGeom>
          <a:solidFill>
            <a:srgbClr val="FFFFFF"/>
          </a:solidFill>
          <a:ln w="19050">
            <a:solidFill>
              <a:srgbClr val="1A2340"/>
            </a:solidFill>
            <a:prstDash val="solid"/>
          </a:ln>
        </p:spPr>
      </p:sp>
      <p:sp>
        <p:nvSpPr>
          <p:cNvPr id="24" name="Text 22"/>
          <p:cNvSpPr/>
          <p:nvPr/>
        </p:nvSpPr>
        <p:spPr>
          <a:xfrm>
            <a:off x="1005840" y="228600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25" name="Shape 23"/>
          <p:cNvSpPr/>
          <p:nvPr/>
        </p:nvSpPr>
        <p:spPr>
          <a:xfrm flipH="1">
            <a:off x="3364992" y="3200400"/>
            <a:ext cx="1847088" cy="91"/>
          </a:xfrm>
          <a:prstGeom prst="line">
            <a:avLst/>
          </a:prstGeom>
          <a:noFill/>
          <a:ln w="19050">
            <a:solidFill>
              <a:srgbClr val="1A2340"/>
            </a:solidFill>
            <a:prstDash val="solid"/>
          </a:ln>
        </p:spPr>
      </p:sp>
      <p:sp>
        <p:nvSpPr>
          <p:cNvPr id="26" name="Shape 24"/>
          <p:cNvSpPr/>
          <p:nvPr/>
        </p:nvSpPr>
        <p:spPr>
          <a:xfrm flipH="1">
            <a:off x="1188720" y="3200400"/>
            <a:ext cx="1847088" cy="91"/>
          </a:xfrm>
          <a:prstGeom prst="line">
            <a:avLst/>
          </a:prstGeom>
          <a:noFill/>
          <a:ln w="19050">
            <a:solidFill>
              <a:srgbClr val="1A2340"/>
            </a:solidFill>
            <a:prstDash val="solid"/>
          </a:ln>
        </p:spPr>
      </p:sp>
      <p:sp>
        <p:nvSpPr>
          <p:cNvPr id="27" name="Shape 25"/>
          <p:cNvSpPr/>
          <p:nvPr/>
        </p:nvSpPr>
        <p:spPr>
          <a:xfrm>
            <a:off x="3035808" y="3035808"/>
            <a:ext cx="329184" cy="329184"/>
          </a:xfrm>
          <a:prstGeom prst="ellipse">
            <a:avLst/>
          </a:prstGeom>
          <a:solidFill>
            <a:srgbClr val="FFFFFF"/>
          </a:solidFill>
          <a:ln w="19050">
            <a:solidFill>
              <a:srgbClr val="1A2340"/>
            </a:solidFill>
            <a:prstDash val="solid"/>
          </a:ln>
        </p:spPr>
      </p:sp>
      <p:sp>
        <p:nvSpPr>
          <p:cNvPr id="28" name="Shape 26"/>
          <p:cNvSpPr/>
          <p:nvPr/>
        </p:nvSpPr>
        <p:spPr>
          <a:xfrm flipH="1" flipV="1">
            <a:off x="3084017" y="3084017"/>
            <a:ext cx="232766" cy="232766"/>
          </a:xfrm>
          <a:prstGeom prst="line">
            <a:avLst/>
          </a:prstGeom>
          <a:noFill/>
          <a:ln w="19050">
            <a:solidFill>
              <a:srgbClr val="1A2340"/>
            </a:solidFill>
            <a:prstDash val="solid"/>
          </a:ln>
        </p:spPr>
      </p:sp>
      <p:sp>
        <p:nvSpPr>
          <p:cNvPr id="29" name="Shape 27"/>
          <p:cNvSpPr/>
          <p:nvPr/>
        </p:nvSpPr>
        <p:spPr>
          <a:xfrm flipH="1">
            <a:off x="3084017" y="3084017"/>
            <a:ext cx="232766" cy="232766"/>
          </a:xfrm>
          <a:prstGeom prst="line">
            <a:avLst/>
          </a:prstGeom>
          <a:noFill/>
          <a:ln w="19050">
            <a:solidFill>
              <a:srgbClr val="1A2340"/>
            </a:solidFill>
            <a:prstDash val="solid"/>
          </a:ln>
        </p:spPr>
      </p:sp>
      <p:sp>
        <p:nvSpPr>
          <p:cNvPr id="30" name="Text 28"/>
          <p:cNvSpPr/>
          <p:nvPr/>
        </p:nvSpPr>
        <p:spPr>
          <a:xfrm>
            <a:off x="2606040" y="275234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lamp</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463040" y="3840480"/>
          <a:ext cx="3474720" cy="914400"/>
        </p:xfrm>
        <a:graphic>
          <a:graphicData uri="http://schemas.openxmlformats.org/drawingml/2006/table">
            <a:tbl>
              <a:tblPr/>
              <a:tblGrid>
                <a:gridCol w="1737360"/>
                <a:gridCol w="1737360"/>
              </a:tblGrid>
              <a:tr h="31089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 / Ω (total)</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 / A at 6.0 V</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10896">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0.60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0.30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10896">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32" name="Shape 2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3" name="Text 3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Resistance opposes the current</a:t>
            </a:r>
            <a:endParaRPr lang="en-US" sz="1300" dirty="0"/>
          </a:p>
        </p:txBody>
      </p:sp>
      <p:sp>
        <p:nvSpPr>
          <p:cNvPr id="34" name="Text 3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Resistance</a:t>
            </a:r>
            <a:r>
              <a:rPr lang="en-US" sz="1150" dirty="0">
                <a:solidFill>
                  <a:srgbClr val="262B3A"/>
                </a:solidFill>
                <a:latin typeface="Calibri" pitchFamily="34" charset="0"/>
                <a:ea typeface="Calibri" pitchFamily="34" charset="-122"/>
                <a:cs typeface="Calibri" pitchFamily="34" charset="-120"/>
              </a:rPr>
              <a:t> (ohms, Ω) is how much a component opposes the current.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Greater resistance → smaller current</a:t>
            </a:r>
            <a:r>
              <a:rPr lang="en-US" sz="1150" dirty="0">
                <a:solidFill>
                  <a:srgbClr val="262B3A"/>
                </a:solidFill>
                <a:latin typeface="Calibri" pitchFamily="34" charset="0"/>
                <a:ea typeface="Calibri" pitchFamily="34" charset="-122"/>
                <a:cs typeface="Calibri" pitchFamily="34" charset="-120"/>
              </a:rPr>
              <a:t> for the same p.d. A </a:t>
            </a:r>
            <a:r>
              <a:rPr lang="en-US" sz="1150" b="1" dirty="0">
                <a:solidFill>
                  <a:srgbClr val="262B3A"/>
                </a:solidFill>
                <a:latin typeface="Calibri" pitchFamily="34" charset="0"/>
                <a:ea typeface="Calibri" pitchFamily="34" charset="-122"/>
                <a:cs typeface="Calibri" pitchFamily="34" charset="-120"/>
              </a:rPr>
              <a:t>variable resistor</a:t>
            </a:r>
            <a:r>
              <a:rPr lang="en-US" sz="1150" dirty="0">
                <a:solidFill>
                  <a:srgbClr val="262B3A"/>
                </a:solidFill>
                <a:latin typeface="Calibri" pitchFamily="34" charset="0"/>
                <a:ea typeface="Calibri" pitchFamily="34" charset="-122"/>
                <a:cs typeface="Calibri" pitchFamily="34" charset="-120"/>
              </a:rPr>
              <a:t> lets you change the resistance, so you can control the current (e.g. dimming a lamp).</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V = I × R</a:t>
            </a:r>
            <a:r>
              <a:rPr lang="en-US" sz="1150" dirty="0">
                <a:solidFill>
                  <a:srgbClr val="262B3A"/>
                </a:solidFill>
                <a:latin typeface="Calibri" pitchFamily="34" charset="0"/>
                <a:ea typeface="Calibri" pitchFamily="34" charset="-122"/>
                <a:cs typeface="Calibri" pitchFamily="34" charset="-120"/>
              </a:rPr>
              <a:t>   potential difference (V) = current (A) × resistance (Ω)</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 Rearrange: I = V ÷ R, R = V ÷ I.</a:t>
            </a:r>
            <a:endParaRPr lang="en-US" sz="1150" dirty="0"/>
          </a:p>
        </p:txBody>
      </p:sp>
      <p:sp>
        <p:nvSpPr>
          <p:cNvPr id="35" name="Shape 3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6" name="Text 3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7" name="Text 34"/>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current of 0.20 A flows through a 30 Ω resistor. Calculate the p.d. across it.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V = I × R</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V = 0.20 A × 30 Ω</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bigger R or bigger I → bigger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V = 6.0 V</a:t>
            </a:r>
            <a:endParaRPr lang="en-US" sz="1100" dirty="0"/>
          </a:p>
        </p:txBody>
      </p:sp>
      <p:sp>
        <p:nvSpPr>
          <p:cNvPr id="38" name="Shape 35"/>
          <p:cNvSpPr/>
          <p:nvPr/>
        </p:nvSpPr>
        <p:spPr>
          <a:xfrm>
            <a:off x="411480" y="5833872"/>
            <a:ext cx="11368735" cy="530352"/>
          </a:xfrm>
          <a:prstGeom prst="rect">
            <a:avLst/>
          </a:prstGeom>
          <a:solidFill>
            <a:srgbClr val="FFF4E0"/>
          </a:solidFill>
          <a:ln w="6350">
            <a:solidFill>
              <a:srgbClr val="F1D9A8"/>
            </a:solidFill>
            <a:prstDash val="solid"/>
          </a:ln>
        </p:spPr>
      </p:sp>
      <p:sp>
        <p:nvSpPr>
          <p:cNvPr id="39" name="Shape 36"/>
          <p:cNvSpPr/>
          <p:nvPr/>
        </p:nvSpPr>
        <p:spPr>
          <a:xfrm>
            <a:off x="411480" y="5833872"/>
            <a:ext cx="82296" cy="530352"/>
          </a:xfrm>
          <a:prstGeom prst="rect">
            <a:avLst/>
          </a:prstGeom>
          <a:solidFill>
            <a:srgbClr val="E39A2F"/>
          </a:solidFill>
          <a:ln w="12700">
            <a:solidFill>
              <a:srgbClr val="E39A2F"/>
            </a:solidFill>
            <a:prstDash val="solid"/>
          </a:ln>
        </p:spPr>
      </p:sp>
      <p:sp>
        <p:nvSpPr>
          <p:cNvPr id="40" name="Text 3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lamp has a p.d. of 12 V across it and a current of 0.50 A through it. Calculate its resistance.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10.4–10.7, 10.12–10.13 • meters, p.d. and resistance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12</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how an </a:t>
            </a:r>
            <a:r>
              <a:rPr lang="en-US" sz="1250" b="1" dirty="0">
                <a:solidFill>
                  <a:srgbClr val="262B3A"/>
                </a:solidFill>
                <a:latin typeface="Calibri" pitchFamily="34" charset="0"/>
                <a:ea typeface="Calibri" pitchFamily="34" charset="-122"/>
                <a:cs typeface="Calibri" pitchFamily="34" charset="-120"/>
              </a:rPr>
              <a:t>ammeter</a:t>
            </a:r>
            <a:r>
              <a:rPr lang="en-US" sz="1250" dirty="0">
                <a:solidFill>
                  <a:srgbClr val="262B3A"/>
                </a:solidFill>
                <a:latin typeface="Calibri" pitchFamily="34" charset="0"/>
                <a:ea typeface="Calibri" pitchFamily="34" charset="-122"/>
                <a:cs typeface="Calibri" pitchFamily="34" charset="-120"/>
              </a:rPr>
              <a:t> and a </a:t>
            </a:r>
            <a:r>
              <a:rPr lang="en-US" sz="1250" b="1" dirty="0">
                <a:solidFill>
                  <a:srgbClr val="262B3A"/>
                </a:solidFill>
                <a:latin typeface="Calibri" pitchFamily="34" charset="0"/>
                <a:ea typeface="Calibri" pitchFamily="34" charset="-122"/>
                <a:cs typeface="Calibri" pitchFamily="34" charset="-120"/>
              </a:rPr>
              <a:t>voltmeter</a:t>
            </a:r>
            <a:r>
              <a:rPr lang="en-US" sz="1250" dirty="0">
                <a:solidFill>
                  <a:srgbClr val="262B3A"/>
                </a:solidFill>
                <a:latin typeface="Calibri" pitchFamily="34" charset="0"/>
                <a:ea typeface="Calibri" pitchFamily="34" charset="-122"/>
                <a:cs typeface="Calibri" pitchFamily="34" charset="-120"/>
              </a:rPr>
              <a:t> must be connected to measure the current through, and the p.d. across, a lamp.</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9.0 V</a:t>
            </a:r>
            <a:r>
              <a:rPr lang="en-US" sz="1250" dirty="0">
                <a:solidFill>
                  <a:srgbClr val="262B3A"/>
                </a:solidFill>
                <a:latin typeface="Calibri" pitchFamily="34" charset="0"/>
                <a:ea typeface="Calibri" pitchFamily="34" charset="-122"/>
                <a:cs typeface="Calibri" pitchFamily="34" charset="-120"/>
              </a:rPr>
              <a:t> battery transfers </a:t>
            </a:r>
            <a:r>
              <a:rPr lang="en-US" sz="1250" b="1" dirty="0">
                <a:solidFill>
                  <a:srgbClr val="262B3A"/>
                </a:solidFill>
                <a:latin typeface="Calibri" pitchFamily="34" charset="0"/>
                <a:ea typeface="Calibri" pitchFamily="34" charset="-122"/>
                <a:cs typeface="Calibri" pitchFamily="34" charset="-120"/>
              </a:rPr>
              <a:t>540 J</a:t>
            </a:r>
            <a:r>
              <a:rPr lang="en-US" sz="1250" dirty="0">
                <a:solidFill>
                  <a:srgbClr val="262B3A"/>
                </a:solidFill>
                <a:latin typeface="Calibri" pitchFamily="34" charset="0"/>
                <a:ea typeface="Calibri" pitchFamily="34" charset="-122"/>
                <a:cs typeface="Calibri" pitchFamily="34" charset="-120"/>
              </a:rPr>
              <a:t> of energy. Calculate the charge that flows. Use E = Q × V.</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p.d. across a lamp is </a:t>
            </a:r>
            <a:r>
              <a:rPr lang="en-US" sz="1250" b="1" dirty="0">
                <a:solidFill>
                  <a:srgbClr val="262B3A"/>
                </a:solidFill>
                <a:latin typeface="Calibri" pitchFamily="34" charset="0"/>
                <a:ea typeface="Calibri" pitchFamily="34" charset="-122"/>
                <a:cs typeface="Calibri" pitchFamily="34" charset="-120"/>
              </a:rPr>
              <a:t>6.0 V</a:t>
            </a:r>
            <a:r>
              <a:rPr lang="en-US" sz="1250" dirty="0">
                <a:solidFill>
                  <a:srgbClr val="262B3A"/>
                </a:solidFill>
                <a:latin typeface="Calibri" pitchFamily="34" charset="0"/>
                <a:ea typeface="Calibri" pitchFamily="34" charset="-122"/>
                <a:cs typeface="Calibri" pitchFamily="34" charset="-120"/>
              </a:rPr>
              <a:t> and the current is </a:t>
            </a:r>
            <a:r>
              <a:rPr lang="en-US" sz="1250" b="1" dirty="0">
                <a:solidFill>
                  <a:srgbClr val="262B3A"/>
                </a:solidFill>
                <a:latin typeface="Calibri" pitchFamily="34" charset="0"/>
                <a:ea typeface="Calibri" pitchFamily="34" charset="-122"/>
                <a:cs typeface="Calibri" pitchFamily="34" charset="-120"/>
              </a:rPr>
              <a:t>0.25 A</a:t>
            </a:r>
            <a:r>
              <a:rPr lang="en-US" sz="1250" dirty="0">
                <a:solidFill>
                  <a:srgbClr val="262B3A"/>
                </a:solidFill>
                <a:latin typeface="Calibri" pitchFamily="34" charset="0"/>
                <a:ea typeface="Calibri" pitchFamily="34" charset="-122"/>
                <a:cs typeface="Calibri" pitchFamily="34" charset="-120"/>
              </a:rPr>
              <a:t>. Calculate the resistance of the lamp. Give the unit.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Series circuits: current, p.d. and resistance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10.15 • calculate currents, potential differences and resistances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10.15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readings for a 6.0 V battery with 10 Ω and 20 Ω resistors in series</a:t>
            </a:r>
            <a:endParaRPr lang="en-US" sz="1000" dirty="0"/>
          </a:p>
        </p:txBody>
      </p:sp>
      <p:sp>
        <p:nvSpPr>
          <p:cNvPr id="10" name="Shape 8"/>
          <p:cNvSpPr/>
          <p:nvPr/>
        </p:nvSpPr>
        <p:spPr>
          <a:xfrm>
            <a:off x="1097280" y="1783080"/>
            <a:ext cx="1947672" cy="91"/>
          </a:xfrm>
          <a:prstGeom prst="line">
            <a:avLst/>
          </a:prstGeom>
          <a:noFill/>
          <a:ln w="19050">
            <a:solidFill>
              <a:srgbClr val="1A2340"/>
            </a:solidFill>
            <a:prstDash val="solid"/>
          </a:ln>
        </p:spPr>
      </p:sp>
      <p:sp>
        <p:nvSpPr>
          <p:cNvPr id="11" name="Shape 9"/>
          <p:cNvSpPr/>
          <p:nvPr/>
        </p:nvSpPr>
        <p:spPr>
          <a:xfrm>
            <a:off x="3355848" y="1783080"/>
            <a:ext cx="1947672" cy="91"/>
          </a:xfrm>
          <a:prstGeom prst="line">
            <a:avLst/>
          </a:prstGeom>
          <a:noFill/>
          <a:ln w="19050">
            <a:solidFill>
              <a:srgbClr val="1A2340"/>
            </a:solidFill>
            <a:prstDash val="solid"/>
          </a:ln>
        </p:spPr>
      </p:sp>
      <p:sp>
        <p:nvSpPr>
          <p:cNvPr id="12" name="Shape 10"/>
          <p:cNvSpPr/>
          <p:nvPr/>
        </p:nvSpPr>
        <p:spPr>
          <a:xfrm>
            <a:off x="3044952" y="1581912"/>
            <a:ext cx="91" cy="402336"/>
          </a:xfrm>
          <a:prstGeom prst="line">
            <a:avLst/>
          </a:prstGeom>
          <a:noFill/>
          <a:ln w="19050">
            <a:solidFill>
              <a:srgbClr val="1A2340"/>
            </a:solidFill>
            <a:prstDash val="solid"/>
          </a:ln>
        </p:spPr>
      </p:sp>
      <p:sp>
        <p:nvSpPr>
          <p:cNvPr id="13" name="Shape 11"/>
          <p:cNvSpPr/>
          <p:nvPr/>
        </p:nvSpPr>
        <p:spPr>
          <a:xfrm>
            <a:off x="3136392" y="1682496"/>
            <a:ext cx="91" cy="201168"/>
          </a:xfrm>
          <a:prstGeom prst="line">
            <a:avLst/>
          </a:prstGeom>
          <a:noFill/>
          <a:ln w="57150">
            <a:solidFill>
              <a:srgbClr val="1A2340"/>
            </a:solidFill>
            <a:prstDash val="solid"/>
          </a:ln>
        </p:spPr>
      </p:sp>
      <p:sp>
        <p:nvSpPr>
          <p:cNvPr id="14" name="Shape 12"/>
          <p:cNvSpPr/>
          <p:nvPr/>
        </p:nvSpPr>
        <p:spPr>
          <a:xfrm>
            <a:off x="3136392" y="1783080"/>
            <a:ext cx="128016" cy="91"/>
          </a:xfrm>
          <a:prstGeom prst="line">
            <a:avLst/>
          </a:prstGeom>
          <a:noFill/>
          <a:ln w="19050">
            <a:solidFill>
              <a:srgbClr val="1A2340"/>
            </a:solidFill>
            <a:prstDash val="solid"/>
          </a:ln>
        </p:spPr>
      </p:sp>
      <p:sp>
        <p:nvSpPr>
          <p:cNvPr id="15" name="Shape 13"/>
          <p:cNvSpPr/>
          <p:nvPr/>
        </p:nvSpPr>
        <p:spPr>
          <a:xfrm>
            <a:off x="3264408" y="1581912"/>
            <a:ext cx="91" cy="402336"/>
          </a:xfrm>
          <a:prstGeom prst="line">
            <a:avLst/>
          </a:prstGeom>
          <a:noFill/>
          <a:ln w="19050">
            <a:solidFill>
              <a:srgbClr val="1A2340"/>
            </a:solidFill>
            <a:prstDash val="solid"/>
          </a:ln>
        </p:spPr>
      </p:sp>
      <p:sp>
        <p:nvSpPr>
          <p:cNvPr id="16" name="Shape 14"/>
          <p:cNvSpPr/>
          <p:nvPr/>
        </p:nvSpPr>
        <p:spPr>
          <a:xfrm>
            <a:off x="3355848" y="1682496"/>
            <a:ext cx="91" cy="201168"/>
          </a:xfrm>
          <a:prstGeom prst="line">
            <a:avLst/>
          </a:prstGeom>
          <a:noFill/>
          <a:ln w="57150">
            <a:solidFill>
              <a:srgbClr val="1A2340"/>
            </a:solidFill>
            <a:prstDash val="solid"/>
          </a:ln>
        </p:spPr>
      </p:sp>
      <p:sp>
        <p:nvSpPr>
          <p:cNvPr id="17" name="Text 15"/>
          <p:cNvSpPr/>
          <p:nvPr/>
        </p:nvSpPr>
        <p:spPr>
          <a:xfrm>
            <a:off x="2606040" y="133502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6.0 V</a:t>
            </a:r>
            <a:endParaRPr lang="en-US" sz="1050" dirty="0"/>
          </a:p>
        </p:txBody>
      </p:sp>
      <p:sp>
        <p:nvSpPr>
          <p:cNvPr id="18" name="Shape 16"/>
          <p:cNvSpPr/>
          <p:nvPr/>
        </p:nvSpPr>
        <p:spPr>
          <a:xfrm>
            <a:off x="1097280" y="1783080"/>
            <a:ext cx="91" cy="534924"/>
          </a:xfrm>
          <a:prstGeom prst="line">
            <a:avLst/>
          </a:prstGeom>
          <a:noFill/>
          <a:ln w="19050">
            <a:solidFill>
              <a:srgbClr val="1A2340"/>
            </a:solidFill>
            <a:prstDash val="solid"/>
          </a:ln>
        </p:spPr>
      </p:sp>
      <p:sp>
        <p:nvSpPr>
          <p:cNvPr id="19" name="Shape 17"/>
          <p:cNvSpPr/>
          <p:nvPr/>
        </p:nvSpPr>
        <p:spPr>
          <a:xfrm>
            <a:off x="1097280" y="2665476"/>
            <a:ext cx="91" cy="534924"/>
          </a:xfrm>
          <a:prstGeom prst="line">
            <a:avLst/>
          </a:prstGeom>
          <a:noFill/>
          <a:ln w="19050">
            <a:solidFill>
              <a:srgbClr val="1A2340"/>
            </a:solidFill>
            <a:prstDash val="solid"/>
          </a:ln>
        </p:spPr>
      </p:sp>
      <p:sp>
        <p:nvSpPr>
          <p:cNvPr id="20" name="Shape 18"/>
          <p:cNvSpPr/>
          <p:nvPr/>
        </p:nvSpPr>
        <p:spPr>
          <a:xfrm>
            <a:off x="923544" y="2318004"/>
            <a:ext cx="347472" cy="347472"/>
          </a:xfrm>
          <a:prstGeom prst="ellipse">
            <a:avLst/>
          </a:prstGeom>
          <a:solidFill>
            <a:srgbClr val="FFFFFF"/>
          </a:solidFill>
          <a:ln w="19050">
            <a:solidFill>
              <a:srgbClr val="1A2340"/>
            </a:solidFill>
            <a:prstDash val="solid"/>
          </a:ln>
        </p:spPr>
      </p:sp>
      <p:sp>
        <p:nvSpPr>
          <p:cNvPr id="21" name="Text 19"/>
          <p:cNvSpPr/>
          <p:nvPr/>
        </p:nvSpPr>
        <p:spPr>
          <a:xfrm>
            <a:off x="914400" y="230886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22" name="Text 20"/>
          <p:cNvSpPr/>
          <p:nvPr/>
        </p:nvSpPr>
        <p:spPr>
          <a:xfrm>
            <a:off x="1371600" y="2372868"/>
            <a:ext cx="822960" cy="237744"/>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0.20 A</a:t>
            </a:r>
            <a:endParaRPr lang="en-US" sz="1050" dirty="0"/>
          </a:p>
        </p:txBody>
      </p:sp>
      <p:sp>
        <p:nvSpPr>
          <p:cNvPr id="23" name="Shape 21"/>
          <p:cNvSpPr/>
          <p:nvPr/>
        </p:nvSpPr>
        <p:spPr>
          <a:xfrm>
            <a:off x="5303520" y="1783080"/>
            <a:ext cx="91" cy="1417320"/>
          </a:xfrm>
          <a:prstGeom prst="line">
            <a:avLst/>
          </a:prstGeom>
          <a:noFill/>
          <a:ln w="19050">
            <a:solidFill>
              <a:srgbClr val="1A2340"/>
            </a:solidFill>
            <a:prstDash val="solid"/>
          </a:ln>
        </p:spPr>
      </p:sp>
      <p:sp>
        <p:nvSpPr>
          <p:cNvPr id="24" name="Shape 22"/>
          <p:cNvSpPr/>
          <p:nvPr/>
        </p:nvSpPr>
        <p:spPr>
          <a:xfrm>
            <a:off x="1097280" y="3200400"/>
            <a:ext cx="804672" cy="91"/>
          </a:xfrm>
          <a:prstGeom prst="line">
            <a:avLst/>
          </a:prstGeom>
          <a:noFill/>
          <a:ln w="19050">
            <a:solidFill>
              <a:srgbClr val="1A2340"/>
            </a:solidFill>
            <a:prstDash val="solid"/>
          </a:ln>
        </p:spPr>
      </p:sp>
      <p:sp>
        <p:nvSpPr>
          <p:cNvPr id="25" name="Shape 23"/>
          <p:cNvSpPr/>
          <p:nvPr/>
        </p:nvSpPr>
        <p:spPr>
          <a:xfrm>
            <a:off x="2395728" y="3200400"/>
            <a:ext cx="804672" cy="91"/>
          </a:xfrm>
          <a:prstGeom prst="line">
            <a:avLst/>
          </a:prstGeom>
          <a:noFill/>
          <a:ln w="19050">
            <a:solidFill>
              <a:srgbClr val="1A2340"/>
            </a:solidFill>
            <a:prstDash val="solid"/>
          </a:ln>
        </p:spPr>
      </p:sp>
      <p:sp>
        <p:nvSpPr>
          <p:cNvPr id="26" name="Shape 24"/>
          <p:cNvSpPr/>
          <p:nvPr/>
        </p:nvSpPr>
        <p:spPr>
          <a:xfrm>
            <a:off x="1901952" y="3108960"/>
            <a:ext cx="493776" cy="182880"/>
          </a:xfrm>
          <a:prstGeom prst="rect">
            <a:avLst/>
          </a:prstGeom>
          <a:solidFill>
            <a:srgbClr val="FFFFFF"/>
          </a:solidFill>
          <a:ln w="19050">
            <a:solidFill>
              <a:srgbClr val="1A2340"/>
            </a:solidFill>
            <a:prstDash val="solid"/>
          </a:ln>
        </p:spPr>
      </p:sp>
      <p:sp>
        <p:nvSpPr>
          <p:cNvPr id="27" name="Text 25"/>
          <p:cNvSpPr/>
          <p:nvPr/>
        </p:nvSpPr>
        <p:spPr>
          <a:xfrm>
            <a:off x="1554480" y="2807208"/>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10 Ω</a:t>
            </a:r>
            <a:endParaRPr lang="en-US" sz="1050" dirty="0"/>
          </a:p>
        </p:txBody>
      </p:sp>
      <p:sp>
        <p:nvSpPr>
          <p:cNvPr id="28" name="Shape 26"/>
          <p:cNvSpPr/>
          <p:nvPr/>
        </p:nvSpPr>
        <p:spPr>
          <a:xfrm>
            <a:off x="3200400" y="3200400"/>
            <a:ext cx="804672" cy="91"/>
          </a:xfrm>
          <a:prstGeom prst="line">
            <a:avLst/>
          </a:prstGeom>
          <a:noFill/>
          <a:ln w="19050">
            <a:solidFill>
              <a:srgbClr val="1A2340"/>
            </a:solidFill>
            <a:prstDash val="solid"/>
          </a:ln>
        </p:spPr>
      </p:sp>
      <p:sp>
        <p:nvSpPr>
          <p:cNvPr id="29" name="Shape 27"/>
          <p:cNvSpPr/>
          <p:nvPr/>
        </p:nvSpPr>
        <p:spPr>
          <a:xfrm>
            <a:off x="4498848" y="3200400"/>
            <a:ext cx="804672" cy="91"/>
          </a:xfrm>
          <a:prstGeom prst="line">
            <a:avLst/>
          </a:prstGeom>
          <a:noFill/>
          <a:ln w="19050">
            <a:solidFill>
              <a:srgbClr val="1A2340"/>
            </a:solidFill>
            <a:prstDash val="solid"/>
          </a:ln>
        </p:spPr>
      </p:sp>
      <p:sp>
        <p:nvSpPr>
          <p:cNvPr id="30" name="Shape 28"/>
          <p:cNvSpPr/>
          <p:nvPr/>
        </p:nvSpPr>
        <p:spPr>
          <a:xfrm>
            <a:off x="4005072" y="3108960"/>
            <a:ext cx="493776" cy="182880"/>
          </a:xfrm>
          <a:prstGeom prst="rect">
            <a:avLst/>
          </a:prstGeom>
          <a:solidFill>
            <a:srgbClr val="FFFFFF"/>
          </a:solidFill>
          <a:ln w="19050">
            <a:solidFill>
              <a:srgbClr val="1A2340"/>
            </a:solidFill>
            <a:prstDash val="solid"/>
          </a:ln>
        </p:spPr>
      </p:sp>
      <p:sp>
        <p:nvSpPr>
          <p:cNvPr id="31" name="Text 29"/>
          <p:cNvSpPr/>
          <p:nvPr/>
        </p:nvSpPr>
        <p:spPr>
          <a:xfrm>
            <a:off x="3657600" y="2807208"/>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20 Ω</a:t>
            </a:r>
            <a:endParaRPr lang="en-US" sz="1050" dirty="0"/>
          </a:p>
        </p:txBody>
      </p:sp>
      <p:sp>
        <p:nvSpPr>
          <p:cNvPr id="32" name="Shape 30"/>
          <p:cNvSpPr/>
          <p:nvPr/>
        </p:nvSpPr>
        <p:spPr>
          <a:xfrm>
            <a:off x="1549908" y="3150108"/>
            <a:ext cx="100584" cy="100584"/>
          </a:xfrm>
          <a:prstGeom prst="ellipse">
            <a:avLst/>
          </a:prstGeom>
          <a:solidFill>
            <a:srgbClr val="1A2340"/>
          </a:solidFill>
          <a:ln w="6350">
            <a:solidFill>
              <a:srgbClr val="1A2340"/>
            </a:solidFill>
            <a:prstDash val="solid"/>
          </a:ln>
        </p:spPr>
      </p:sp>
      <p:sp>
        <p:nvSpPr>
          <p:cNvPr id="33" name="Shape 31"/>
          <p:cNvSpPr/>
          <p:nvPr/>
        </p:nvSpPr>
        <p:spPr>
          <a:xfrm>
            <a:off x="2647188" y="3150108"/>
            <a:ext cx="100584" cy="100584"/>
          </a:xfrm>
          <a:prstGeom prst="ellipse">
            <a:avLst/>
          </a:prstGeom>
          <a:solidFill>
            <a:srgbClr val="1A2340"/>
          </a:solidFill>
          <a:ln w="6350">
            <a:solidFill>
              <a:srgbClr val="1A2340"/>
            </a:solidFill>
            <a:prstDash val="solid"/>
          </a:ln>
        </p:spPr>
      </p:sp>
      <p:sp>
        <p:nvSpPr>
          <p:cNvPr id="34" name="Shape 32"/>
          <p:cNvSpPr/>
          <p:nvPr/>
        </p:nvSpPr>
        <p:spPr>
          <a:xfrm>
            <a:off x="1600200" y="3200400"/>
            <a:ext cx="91" cy="960120"/>
          </a:xfrm>
          <a:prstGeom prst="line">
            <a:avLst/>
          </a:prstGeom>
          <a:noFill/>
          <a:ln w="19050">
            <a:solidFill>
              <a:srgbClr val="1A2340"/>
            </a:solidFill>
            <a:prstDash val="solid"/>
          </a:ln>
        </p:spPr>
      </p:sp>
      <p:sp>
        <p:nvSpPr>
          <p:cNvPr id="35" name="Shape 33"/>
          <p:cNvSpPr/>
          <p:nvPr/>
        </p:nvSpPr>
        <p:spPr>
          <a:xfrm>
            <a:off x="2697480" y="3200400"/>
            <a:ext cx="91" cy="960120"/>
          </a:xfrm>
          <a:prstGeom prst="line">
            <a:avLst/>
          </a:prstGeom>
          <a:noFill/>
          <a:ln w="19050">
            <a:solidFill>
              <a:srgbClr val="1A2340"/>
            </a:solidFill>
            <a:prstDash val="solid"/>
          </a:ln>
        </p:spPr>
      </p:sp>
      <p:sp>
        <p:nvSpPr>
          <p:cNvPr id="36" name="Shape 34"/>
          <p:cNvSpPr/>
          <p:nvPr/>
        </p:nvSpPr>
        <p:spPr>
          <a:xfrm>
            <a:off x="1600200" y="4160520"/>
            <a:ext cx="374904" cy="91"/>
          </a:xfrm>
          <a:prstGeom prst="line">
            <a:avLst/>
          </a:prstGeom>
          <a:noFill/>
          <a:ln w="19050">
            <a:solidFill>
              <a:srgbClr val="1A2340"/>
            </a:solidFill>
            <a:prstDash val="solid"/>
          </a:ln>
        </p:spPr>
      </p:sp>
      <p:sp>
        <p:nvSpPr>
          <p:cNvPr id="37" name="Shape 35"/>
          <p:cNvSpPr/>
          <p:nvPr/>
        </p:nvSpPr>
        <p:spPr>
          <a:xfrm>
            <a:off x="2322576" y="4160520"/>
            <a:ext cx="374904" cy="91"/>
          </a:xfrm>
          <a:prstGeom prst="line">
            <a:avLst/>
          </a:prstGeom>
          <a:noFill/>
          <a:ln w="19050">
            <a:solidFill>
              <a:srgbClr val="1A2340"/>
            </a:solidFill>
            <a:prstDash val="solid"/>
          </a:ln>
        </p:spPr>
      </p:sp>
      <p:sp>
        <p:nvSpPr>
          <p:cNvPr id="38" name="Shape 36"/>
          <p:cNvSpPr/>
          <p:nvPr/>
        </p:nvSpPr>
        <p:spPr>
          <a:xfrm>
            <a:off x="1975104" y="3986784"/>
            <a:ext cx="347472" cy="347472"/>
          </a:xfrm>
          <a:prstGeom prst="ellipse">
            <a:avLst/>
          </a:prstGeom>
          <a:solidFill>
            <a:srgbClr val="FFFFFF"/>
          </a:solidFill>
          <a:ln w="19050">
            <a:solidFill>
              <a:srgbClr val="1A2340"/>
            </a:solidFill>
            <a:prstDash val="solid"/>
          </a:ln>
        </p:spPr>
      </p:sp>
      <p:sp>
        <p:nvSpPr>
          <p:cNvPr id="39" name="Text 37"/>
          <p:cNvSpPr/>
          <p:nvPr/>
        </p:nvSpPr>
        <p:spPr>
          <a:xfrm>
            <a:off x="1965960" y="397764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V</a:t>
            </a:r>
            <a:endParaRPr lang="en-US" sz="1300" dirty="0"/>
          </a:p>
        </p:txBody>
      </p:sp>
      <p:sp>
        <p:nvSpPr>
          <p:cNvPr id="40" name="Text 38"/>
          <p:cNvSpPr/>
          <p:nvPr/>
        </p:nvSpPr>
        <p:spPr>
          <a:xfrm>
            <a:off x="1737360" y="4370832"/>
            <a:ext cx="822960" cy="23774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2.0 V</a:t>
            </a:r>
            <a:endParaRPr lang="en-US" sz="1050" dirty="0"/>
          </a:p>
        </p:txBody>
      </p:sp>
      <p:sp>
        <p:nvSpPr>
          <p:cNvPr id="41" name="Shape 39"/>
          <p:cNvSpPr/>
          <p:nvPr/>
        </p:nvSpPr>
        <p:spPr>
          <a:xfrm>
            <a:off x="3653028" y="3150108"/>
            <a:ext cx="100584" cy="100584"/>
          </a:xfrm>
          <a:prstGeom prst="ellipse">
            <a:avLst/>
          </a:prstGeom>
          <a:solidFill>
            <a:srgbClr val="1A2340"/>
          </a:solidFill>
          <a:ln w="6350">
            <a:solidFill>
              <a:srgbClr val="1A2340"/>
            </a:solidFill>
            <a:prstDash val="solid"/>
          </a:ln>
        </p:spPr>
      </p:sp>
      <p:sp>
        <p:nvSpPr>
          <p:cNvPr id="42" name="Shape 40"/>
          <p:cNvSpPr/>
          <p:nvPr/>
        </p:nvSpPr>
        <p:spPr>
          <a:xfrm>
            <a:off x="4750308" y="3150108"/>
            <a:ext cx="100584" cy="100584"/>
          </a:xfrm>
          <a:prstGeom prst="ellipse">
            <a:avLst/>
          </a:prstGeom>
          <a:solidFill>
            <a:srgbClr val="1A2340"/>
          </a:solidFill>
          <a:ln w="6350">
            <a:solidFill>
              <a:srgbClr val="1A2340"/>
            </a:solidFill>
            <a:prstDash val="solid"/>
          </a:ln>
        </p:spPr>
      </p:sp>
      <p:sp>
        <p:nvSpPr>
          <p:cNvPr id="43" name="Shape 41"/>
          <p:cNvSpPr/>
          <p:nvPr/>
        </p:nvSpPr>
        <p:spPr>
          <a:xfrm>
            <a:off x="3703320" y="3200400"/>
            <a:ext cx="91" cy="960120"/>
          </a:xfrm>
          <a:prstGeom prst="line">
            <a:avLst/>
          </a:prstGeom>
          <a:noFill/>
          <a:ln w="19050">
            <a:solidFill>
              <a:srgbClr val="1A2340"/>
            </a:solidFill>
            <a:prstDash val="solid"/>
          </a:ln>
        </p:spPr>
      </p:sp>
      <p:sp>
        <p:nvSpPr>
          <p:cNvPr id="44" name="Shape 42"/>
          <p:cNvSpPr/>
          <p:nvPr/>
        </p:nvSpPr>
        <p:spPr>
          <a:xfrm>
            <a:off x="4800600" y="3200400"/>
            <a:ext cx="91" cy="960120"/>
          </a:xfrm>
          <a:prstGeom prst="line">
            <a:avLst/>
          </a:prstGeom>
          <a:noFill/>
          <a:ln w="19050">
            <a:solidFill>
              <a:srgbClr val="1A2340"/>
            </a:solidFill>
            <a:prstDash val="solid"/>
          </a:ln>
        </p:spPr>
      </p:sp>
      <p:sp>
        <p:nvSpPr>
          <p:cNvPr id="45" name="Shape 43"/>
          <p:cNvSpPr/>
          <p:nvPr/>
        </p:nvSpPr>
        <p:spPr>
          <a:xfrm>
            <a:off x="3703320" y="4160520"/>
            <a:ext cx="374904" cy="91"/>
          </a:xfrm>
          <a:prstGeom prst="line">
            <a:avLst/>
          </a:prstGeom>
          <a:noFill/>
          <a:ln w="19050">
            <a:solidFill>
              <a:srgbClr val="1A2340"/>
            </a:solidFill>
            <a:prstDash val="solid"/>
          </a:ln>
        </p:spPr>
      </p:sp>
      <p:sp>
        <p:nvSpPr>
          <p:cNvPr id="46" name="Shape 44"/>
          <p:cNvSpPr/>
          <p:nvPr/>
        </p:nvSpPr>
        <p:spPr>
          <a:xfrm>
            <a:off x="4425696" y="4160520"/>
            <a:ext cx="374904" cy="91"/>
          </a:xfrm>
          <a:prstGeom prst="line">
            <a:avLst/>
          </a:prstGeom>
          <a:noFill/>
          <a:ln w="19050">
            <a:solidFill>
              <a:srgbClr val="1A2340"/>
            </a:solidFill>
            <a:prstDash val="solid"/>
          </a:ln>
        </p:spPr>
      </p:sp>
      <p:sp>
        <p:nvSpPr>
          <p:cNvPr id="47" name="Shape 45"/>
          <p:cNvSpPr/>
          <p:nvPr/>
        </p:nvSpPr>
        <p:spPr>
          <a:xfrm>
            <a:off x="4078224" y="3986784"/>
            <a:ext cx="347472" cy="347472"/>
          </a:xfrm>
          <a:prstGeom prst="ellipse">
            <a:avLst/>
          </a:prstGeom>
          <a:solidFill>
            <a:srgbClr val="FFFFFF"/>
          </a:solidFill>
          <a:ln w="19050">
            <a:solidFill>
              <a:srgbClr val="1A2340"/>
            </a:solidFill>
            <a:prstDash val="solid"/>
          </a:ln>
        </p:spPr>
      </p:sp>
      <p:sp>
        <p:nvSpPr>
          <p:cNvPr id="48" name="Text 46"/>
          <p:cNvSpPr/>
          <p:nvPr/>
        </p:nvSpPr>
        <p:spPr>
          <a:xfrm>
            <a:off x="4069080" y="397764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V</a:t>
            </a:r>
            <a:endParaRPr lang="en-US" sz="1300" dirty="0"/>
          </a:p>
        </p:txBody>
      </p:sp>
      <p:sp>
        <p:nvSpPr>
          <p:cNvPr id="49" name="Text 47"/>
          <p:cNvSpPr/>
          <p:nvPr/>
        </p:nvSpPr>
        <p:spPr>
          <a:xfrm>
            <a:off x="3840480" y="4370832"/>
            <a:ext cx="822960" cy="23774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4.0 V</a:t>
            </a:r>
            <a:endParaRPr lang="en-US" sz="1050" dirty="0"/>
          </a:p>
        </p:txBody>
      </p:sp>
      <p:sp>
        <p:nvSpPr>
          <p:cNvPr id="50" name="Text 48"/>
          <p:cNvSpPr/>
          <p:nvPr/>
        </p:nvSpPr>
        <p:spPr>
          <a:xfrm>
            <a:off x="640080" y="4754880"/>
            <a:ext cx="5120640" cy="29260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Total R = 10 Ω + 20 Ω = 30 Ω     2.0 V + 4.0 V = 6.0 V</a:t>
            </a:r>
            <a:endParaRPr lang="en-US" sz="1100" dirty="0"/>
          </a:p>
        </p:txBody>
      </p:sp>
      <p:sp>
        <p:nvSpPr>
          <p:cNvPr id="51" name="Shape 4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2" name="Text 5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Rules for series circuits</a:t>
            </a:r>
            <a:endParaRPr lang="en-US" sz="1300" dirty="0"/>
          </a:p>
        </p:txBody>
      </p:sp>
      <p:sp>
        <p:nvSpPr>
          <p:cNvPr id="53" name="Text 5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current is the same</a:t>
            </a:r>
            <a:r>
              <a:rPr lang="en-US" sz="1150" dirty="0">
                <a:solidFill>
                  <a:srgbClr val="262B3A"/>
                </a:solidFill>
                <a:latin typeface="Calibri" pitchFamily="34" charset="0"/>
                <a:ea typeface="Calibri" pitchFamily="34" charset="-122"/>
                <a:cs typeface="Calibri" pitchFamily="34" charset="-120"/>
              </a:rPr>
              <a:t> at every point (charge is not used up).</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supply p.d. is </a:t>
            </a:r>
            <a:r>
              <a:rPr lang="en-US" sz="1150" b="1" dirty="0">
                <a:solidFill>
                  <a:srgbClr val="262B3A"/>
                </a:solidFill>
                <a:latin typeface="Calibri" pitchFamily="34" charset="0"/>
                <a:ea typeface="Calibri" pitchFamily="34" charset="-122"/>
                <a:cs typeface="Calibri" pitchFamily="34" charset="-120"/>
              </a:rPr>
              <a:t>shared</a:t>
            </a:r>
            <a:r>
              <a:rPr lang="en-US" sz="1150" dirty="0">
                <a:solidFill>
                  <a:srgbClr val="262B3A"/>
                </a:solidFill>
                <a:latin typeface="Calibri" pitchFamily="34" charset="0"/>
                <a:ea typeface="Calibri" pitchFamily="34" charset="-122"/>
                <a:cs typeface="Calibri" pitchFamily="34" charset="-120"/>
              </a:rPr>
              <a:t> between the components: V = V₁ + V₂.</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Total resistance </a:t>
            </a:r>
            <a:r>
              <a:rPr lang="en-US" sz="1150" b="1" dirty="0">
                <a:solidFill>
                  <a:srgbClr val="262B3A"/>
                </a:solidFill>
                <a:latin typeface="Calibri" pitchFamily="34" charset="0"/>
                <a:ea typeface="Calibri" pitchFamily="34" charset="-122"/>
                <a:cs typeface="Calibri" pitchFamily="34" charset="-120"/>
              </a:rPr>
              <a:t>adds up</a:t>
            </a:r>
            <a:r>
              <a:rPr lang="en-US" sz="1150" dirty="0">
                <a:solidFill>
                  <a:srgbClr val="262B3A"/>
                </a:solidFill>
                <a:latin typeface="Calibri" pitchFamily="34" charset="0"/>
                <a:ea typeface="Calibri" pitchFamily="34" charset="-122"/>
                <a:cs typeface="Calibri" pitchFamily="34" charset="-120"/>
              </a:rPr>
              <a:t>: R = R₁ + R₂.</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bigger</a:t>
            </a:r>
            <a:r>
              <a:rPr lang="en-US" sz="1150" dirty="0">
                <a:solidFill>
                  <a:srgbClr val="262B3A"/>
                </a:solidFill>
                <a:latin typeface="Calibri" pitchFamily="34" charset="0"/>
                <a:ea typeface="Calibri" pitchFamily="34" charset="-122"/>
                <a:cs typeface="Calibri" pitchFamily="34" charset="-120"/>
              </a:rPr>
              <a:t> resistor gets the </a:t>
            </a:r>
            <a:r>
              <a:rPr lang="en-US" sz="1150" b="1" dirty="0">
                <a:solidFill>
                  <a:srgbClr val="262B3A"/>
                </a:solidFill>
                <a:latin typeface="Calibri" pitchFamily="34" charset="0"/>
                <a:ea typeface="Calibri" pitchFamily="34" charset="-122"/>
                <a:cs typeface="Calibri" pitchFamily="34" charset="-120"/>
              </a:rPr>
              <a:t>bigger share</a:t>
            </a:r>
            <a:r>
              <a:rPr lang="en-US" sz="1150" dirty="0">
                <a:solidFill>
                  <a:srgbClr val="262B3A"/>
                </a:solidFill>
                <a:latin typeface="Calibri" pitchFamily="34" charset="0"/>
                <a:ea typeface="Calibri" pitchFamily="34" charset="-122"/>
                <a:cs typeface="Calibri" pitchFamily="34" charset="-120"/>
              </a:rPr>
              <a:t> of the p.d. (V = I × R with the same I).</a:t>
            </a:r>
            <a:endParaRPr lang="en-US" sz="1150" dirty="0"/>
          </a:p>
        </p:txBody>
      </p:sp>
      <p:sp>
        <p:nvSpPr>
          <p:cNvPr id="54" name="Shape 5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5" name="Text 5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6" name="Text 54"/>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Find the current and the p.d. across each resistor in the circuit shown.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Total R   </a:t>
            </a:r>
            <a:r>
              <a:rPr lang="en-US" sz="1050" dirty="0">
                <a:solidFill>
                  <a:srgbClr val="262B3A"/>
                </a:solidFill>
                <a:latin typeface="Calibri" pitchFamily="34" charset="0"/>
                <a:ea typeface="Calibri" pitchFamily="34" charset="-122"/>
                <a:cs typeface="Calibri" pitchFamily="34" charset="-120"/>
              </a:rPr>
              <a:t>R = 10 + 20 = 30 Ω</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Current   </a:t>
            </a:r>
            <a:r>
              <a:rPr lang="en-US" sz="1050" dirty="0">
                <a:solidFill>
                  <a:srgbClr val="262B3A"/>
                </a:solidFill>
                <a:latin typeface="Calibri" pitchFamily="34" charset="0"/>
                <a:ea typeface="Calibri" pitchFamily="34" charset="-122"/>
                <a:cs typeface="Calibri" pitchFamily="34" charset="-120"/>
              </a:rPr>
              <a:t>I = V ÷ R = 6.0 ÷ 30 = 0.20 A</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p.d.s   </a:t>
            </a:r>
            <a:r>
              <a:rPr lang="en-US" sz="1050" dirty="0">
                <a:solidFill>
                  <a:srgbClr val="262B3A"/>
                </a:solidFill>
                <a:latin typeface="Calibri" pitchFamily="34" charset="0"/>
                <a:ea typeface="Calibri" pitchFamily="34" charset="-122"/>
                <a:cs typeface="Calibri" pitchFamily="34" charset="-120"/>
              </a:rPr>
              <a:t>V₁ = 0.20 × 10 = 2.0 V;  V₂ = 0.20 × 20 = 4.0 V</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0.20 A everywhere; 2.0 V + 4.0 V = 6.0 V ✓</a:t>
            </a:r>
            <a:endParaRPr lang="en-US" sz="1050" dirty="0"/>
          </a:p>
        </p:txBody>
      </p:sp>
      <p:sp>
        <p:nvSpPr>
          <p:cNvPr id="57" name="Shape 55"/>
          <p:cNvSpPr/>
          <p:nvPr/>
        </p:nvSpPr>
        <p:spPr>
          <a:xfrm>
            <a:off x="411480" y="5833872"/>
            <a:ext cx="11368735" cy="530352"/>
          </a:xfrm>
          <a:prstGeom prst="rect">
            <a:avLst/>
          </a:prstGeom>
          <a:solidFill>
            <a:srgbClr val="FFF4E0"/>
          </a:solidFill>
          <a:ln w="6350">
            <a:solidFill>
              <a:srgbClr val="F1D9A8"/>
            </a:solidFill>
            <a:prstDash val="solid"/>
          </a:ln>
        </p:spPr>
      </p:sp>
      <p:sp>
        <p:nvSpPr>
          <p:cNvPr id="58" name="Shape 56"/>
          <p:cNvSpPr/>
          <p:nvPr/>
        </p:nvSpPr>
        <p:spPr>
          <a:xfrm>
            <a:off x="411480" y="5833872"/>
            <a:ext cx="82296" cy="530352"/>
          </a:xfrm>
          <a:prstGeom prst="rect">
            <a:avLst/>
          </a:prstGeom>
          <a:solidFill>
            <a:srgbClr val="E39A2F"/>
          </a:solidFill>
          <a:ln w="12700">
            <a:solidFill>
              <a:srgbClr val="E39A2F"/>
            </a:solidFill>
            <a:prstDash val="solid"/>
          </a:ln>
        </p:spPr>
      </p:sp>
      <p:sp>
        <p:nvSpPr>
          <p:cNvPr id="59" name="Text 5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9.0 V battery is in series with a 15 Ω and a 30 Ω resistor. Calculate the current and the p.d. across the 30 Ω resistor.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Parallel circuits: currents add at junctions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10.11, 10.3 • current is conserved at a junction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10.11  |  14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6.0 V battery with 10 Ω and 20 Ω resistors on separate branches</a:t>
            </a:r>
            <a:endParaRPr lang="en-US" sz="1000" dirty="0"/>
          </a:p>
        </p:txBody>
      </p:sp>
      <p:sp>
        <p:nvSpPr>
          <p:cNvPr id="10" name="Shape 8"/>
          <p:cNvSpPr/>
          <p:nvPr/>
        </p:nvSpPr>
        <p:spPr>
          <a:xfrm>
            <a:off x="1188720" y="1691640"/>
            <a:ext cx="1856232" cy="91"/>
          </a:xfrm>
          <a:prstGeom prst="line">
            <a:avLst/>
          </a:prstGeom>
          <a:noFill/>
          <a:ln w="19050">
            <a:solidFill>
              <a:srgbClr val="1A2340"/>
            </a:solidFill>
            <a:prstDash val="solid"/>
          </a:ln>
        </p:spPr>
      </p:sp>
      <p:sp>
        <p:nvSpPr>
          <p:cNvPr id="11" name="Shape 9"/>
          <p:cNvSpPr/>
          <p:nvPr/>
        </p:nvSpPr>
        <p:spPr>
          <a:xfrm>
            <a:off x="3355848" y="1691640"/>
            <a:ext cx="1856232" cy="91"/>
          </a:xfrm>
          <a:prstGeom prst="line">
            <a:avLst/>
          </a:prstGeom>
          <a:noFill/>
          <a:ln w="19050">
            <a:solidFill>
              <a:srgbClr val="1A2340"/>
            </a:solidFill>
            <a:prstDash val="solid"/>
          </a:ln>
        </p:spPr>
      </p:sp>
      <p:sp>
        <p:nvSpPr>
          <p:cNvPr id="12" name="Shape 10"/>
          <p:cNvSpPr/>
          <p:nvPr/>
        </p:nvSpPr>
        <p:spPr>
          <a:xfrm>
            <a:off x="3044952" y="1490472"/>
            <a:ext cx="91" cy="402336"/>
          </a:xfrm>
          <a:prstGeom prst="line">
            <a:avLst/>
          </a:prstGeom>
          <a:noFill/>
          <a:ln w="19050">
            <a:solidFill>
              <a:srgbClr val="1A2340"/>
            </a:solidFill>
            <a:prstDash val="solid"/>
          </a:ln>
        </p:spPr>
      </p:sp>
      <p:sp>
        <p:nvSpPr>
          <p:cNvPr id="13" name="Shape 11"/>
          <p:cNvSpPr/>
          <p:nvPr/>
        </p:nvSpPr>
        <p:spPr>
          <a:xfrm>
            <a:off x="3136392" y="1591056"/>
            <a:ext cx="91" cy="201168"/>
          </a:xfrm>
          <a:prstGeom prst="line">
            <a:avLst/>
          </a:prstGeom>
          <a:noFill/>
          <a:ln w="57150">
            <a:solidFill>
              <a:srgbClr val="1A2340"/>
            </a:solidFill>
            <a:prstDash val="solid"/>
          </a:ln>
        </p:spPr>
      </p:sp>
      <p:sp>
        <p:nvSpPr>
          <p:cNvPr id="14" name="Shape 12"/>
          <p:cNvSpPr/>
          <p:nvPr/>
        </p:nvSpPr>
        <p:spPr>
          <a:xfrm>
            <a:off x="3136392" y="1691640"/>
            <a:ext cx="128016" cy="91"/>
          </a:xfrm>
          <a:prstGeom prst="line">
            <a:avLst/>
          </a:prstGeom>
          <a:noFill/>
          <a:ln w="19050">
            <a:solidFill>
              <a:srgbClr val="1A2340"/>
            </a:solidFill>
            <a:prstDash val="solid"/>
          </a:ln>
        </p:spPr>
      </p:sp>
      <p:sp>
        <p:nvSpPr>
          <p:cNvPr id="15" name="Shape 13"/>
          <p:cNvSpPr/>
          <p:nvPr/>
        </p:nvSpPr>
        <p:spPr>
          <a:xfrm>
            <a:off x="3264408" y="1490472"/>
            <a:ext cx="91" cy="402336"/>
          </a:xfrm>
          <a:prstGeom prst="line">
            <a:avLst/>
          </a:prstGeom>
          <a:noFill/>
          <a:ln w="19050">
            <a:solidFill>
              <a:srgbClr val="1A2340"/>
            </a:solidFill>
            <a:prstDash val="solid"/>
          </a:ln>
        </p:spPr>
      </p:sp>
      <p:sp>
        <p:nvSpPr>
          <p:cNvPr id="16" name="Shape 14"/>
          <p:cNvSpPr/>
          <p:nvPr/>
        </p:nvSpPr>
        <p:spPr>
          <a:xfrm>
            <a:off x="3355848" y="1591056"/>
            <a:ext cx="91" cy="201168"/>
          </a:xfrm>
          <a:prstGeom prst="line">
            <a:avLst/>
          </a:prstGeom>
          <a:noFill/>
          <a:ln w="57150">
            <a:solidFill>
              <a:srgbClr val="1A2340"/>
            </a:solidFill>
            <a:prstDash val="solid"/>
          </a:ln>
        </p:spPr>
      </p:sp>
      <p:sp>
        <p:nvSpPr>
          <p:cNvPr id="17" name="Text 15"/>
          <p:cNvSpPr/>
          <p:nvPr/>
        </p:nvSpPr>
        <p:spPr>
          <a:xfrm>
            <a:off x="2606040" y="124358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6.0 V</a:t>
            </a:r>
            <a:endParaRPr lang="en-US" sz="1050" dirty="0"/>
          </a:p>
        </p:txBody>
      </p:sp>
      <p:sp>
        <p:nvSpPr>
          <p:cNvPr id="18" name="Shape 16"/>
          <p:cNvSpPr/>
          <p:nvPr/>
        </p:nvSpPr>
        <p:spPr>
          <a:xfrm>
            <a:off x="1188720" y="1691640"/>
            <a:ext cx="91" cy="512064"/>
          </a:xfrm>
          <a:prstGeom prst="line">
            <a:avLst/>
          </a:prstGeom>
          <a:noFill/>
          <a:ln w="19050">
            <a:solidFill>
              <a:srgbClr val="1A2340"/>
            </a:solidFill>
            <a:prstDash val="solid"/>
          </a:ln>
        </p:spPr>
      </p:sp>
      <p:sp>
        <p:nvSpPr>
          <p:cNvPr id="19" name="Shape 17"/>
          <p:cNvSpPr/>
          <p:nvPr/>
        </p:nvSpPr>
        <p:spPr>
          <a:xfrm>
            <a:off x="1188720" y="2551176"/>
            <a:ext cx="91" cy="512064"/>
          </a:xfrm>
          <a:prstGeom prst="line">
            <a:avLst/>
          </a:prstGeom>
          <a:noFill/>
          <a:ln w="19050">
            <a:solidFill>
              <a:srgbClr val="1A2340"/>
            </a:solidFill>
            <a:prstDash val="solid"/>
          </a:ln>
        </p:spPr>
      </p:sp>
      <p:sp>
        <p:nvSpPr>
          <p:cNvPr id="20" name="Shape 18"/>
          <p:cNvSpPr/>
          <p:nvPr/>
        </p:nvSpPr>
        <p:spPr>
          <a:xfrm>
            <a:off x="1014984" y="2203704"/>
            <a:ext cx="347472" cy="347472"/>
          </a:xfrm>
          <a:prstGeom prst="ellipse">
            <a:avLst/>
          </a:prstGeom>
          <a:solidFill>
            <a:srgbClr val="FFFFFF"/>
          </a:solidFill>
          <a:ln w="19050">
            <a:solidFill>
              <a:srgbClr val="1A2340"/>
            </a:solidFill>
            <a:prstDash val="solid"/>
          </a:ln>
        </p:spPr>
      </p:sp>
      <p:sp>
        <p:nvSpPr>
          <p:cNvPr id="21" name="Text 19"/>
          <p:cNvSpPr/>
          <p:nvPr/>
        </p:nvSpPr>
        <p:spPr>
          <a:xfrm>
            <a:off x="1005840" y="219456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22" name="Text 20"/>
          <p:cNvSpPr/>
          <p:nvPr/>
        </p:nvSpPr>
        <p:spPr>
          <a:xfrm>
            <a:off x="1517904" y="2258568"/>
            <a:ext cx="822960" cy="237744"/>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0.90 A</a:t>
            </a:r>
            <a:endParaRPr lang="en-US" sz="1050" dirty="0"/>
          </a:p>
        </p:txBody>
      </p:sp>
      <p:sp>
        <p:nvSpPr>
          <p:cNvPr id="23" name="Shape 21"/>
          <p:cNvSpPr/>
          <p:nvPr/>
        </p:nvSpPr>
        <p:spPr>
          <a:xfrm>
            <a:off x="1188720" y="3063240"/>
            <a:ext cx="91" cy="1371600"/>
          </a:xfrm>
          <a:prstGeom prst="line">
            <a:avLst/>
          </a:prstGeom>
          <a:noFill/>
          <a:ln w="19050">
            <a:solidFill>
              <a:srgbClr val="1A2340"/>
            </a:solidFill>
            <a:prstDash val="solid"/>
          </a:ln>
        </p:spPr>
      </p:sp>
      <p:sp>
        <p:nvSpPr>
          <p:cNvPr id="24" name="Shape 22"/>
          <p:cNvSpPr/>
          <p:nvPr/>
        </p:nvSpPr>
        <p:spPr>
          <a:xfrm>
            <a:off x="5212080" y="1691640"/>
            <a:ext cx="91" cy="2743200"/>
          </a:xfrm>
          <a:prstGeom prst="line">
            <a:avLst/>
          </a:prstGeom>
          <a:noFill/>
          <a:ln w="19050">
            <a:solidFill>
              <a:srgbClr val="1A2340"/>
            </a:solidFill>
            <a:prstDash val="solid"/>
          </a:ln>
        </p:spPr>
      </p:sp>
      <p:sp>
        <p:nvSpPr>
          <p:cNvPr id="25" name="Shape 23"/>
          <p:cNvSpPr/>
          <p:nvPr/>
        </p:nvSpPr>
        <p:spPr>
          <a:xfrm>
            <a:off x="1188720" y="3063240"/>
            <a:ext cx="603504" cy="91"/>
          </a:xfrm>
          <a:prstGeom prst="line">
            <a:avLst/>
          </a:prstGeom>
          <a:noFill/>
          <a:ln w="19050">
            <a:solidFill>
              <a:srgbClr val="1A2340"/>
            </a:solidFill>
            <a:prstDash val="solid"/>
          </a:ln>
        </p:spPr>
      </p:sp>
      <p:sp>
        <p:nvSpPr>
          <p:cNvPr id="26" name="Shape 24"/>
          <p:cNvSpPr/>
          <p:nvPr/>
        </p:nvSpPr>
        <p:spPr>
          <a:xfrm>
            <a:off x="2139696" y="3063240"/>
            <a:ext cx="603504" cy="91"/>
          </a:xfrm>
          <a:prstGeom prst="line">
            <a:avLst/>
          </a:prstGeom>
          <a:noFill/>
          <a:ln w="19050">
            <a:solidFill>
              <a:srgbClr val="1A2340"/>
            </a:solidFill>
            <a:prstDash val="solid"/>
          </a:ln>
        </p:spPr>
      </p:sp>
      <p:sp>
        <p:nvSpPr>
          <p:cNvPr id="27" name="Shape 25"/>
          <p:cNvSpPr/>
          <p:nvPr/>
        </p:nvSpPr>
        <p:spPr>
          <a:xfrm>
            <a:off x="1792224" y="2889504"/>
            <a:ext cx="347472" cy="347472"/>
          </a:xfrm>
          <a:prstGeom prst="ellipse">
            <a:avLst/>
          </a:prstGeom>
          <a:solidFill>
            <a:srgbClr val="FFFFFF"/>
          </a:solidFill>
          <a:ln w="19050">
            <a:solidFill>
              <a:srgbClr val="1A2340"/>
            </a:solidFill>
            <a:prstDash val="solid"/>
          </a:ln>
        </p:spPr>
      </p:sp>
      <p:sp>
        <p:nvSpPr>
          <p:cNvPr id="28" name="Text 26"/>
          <p:cNvSpPr/>
          <p:nvPr/>
        </p:nvSpPr>
        <p:spPr>
          <a:xfrm>
            <a:off x="1783080" y="288036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29" name="Text 27"/>
          <p:cNvSpPr/>
          <p:nvPr/>
        </p:nvSpPr>
        <p:spPr>
          <a:xfrm>
            <a:off x="1554480" y="2615184"/>
            <a:ext cx="822960" cy="23774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0.60 A</a:t>
            </a:r>
            <a:endParaRPr lang="en-US" sz="1050" dirty="0"/>
          </a:p>
        </p:txBody>
      </p:sp>
      <p:sp>
        <p:nvSpPr>
          <p:cNvPr id="30" name="Shape 28"/>
          <p:cNvSpPr/>
          <p:nvPr/>
        </p:nvSpPr>
        <p:spPr>
          <a:xfrm>
            <a:off x="2743200" y="3063240"/>
            <a:ext cx="987552" cy="91"/>
          </a:xfrm>
          <a:prstGeom prst="line">
            <a:avLst/>
          </a:prstGeom>
          <a:noFill/>
          <a:ln w="19050">
            <a:solidFill>
              <a:srgbClr val="1A2340"/>
            </a:solidFill>
            <a:prstDash val="solid"/>
          </a:ln>
        </p:spPr>
      </p:sp>
      <p:sp>
        <p:nvSpPr>
          <p:cNvPr id="31" name="Shape 29"/>
          <p:cNvSpPr/>
          <p:nvPr/>
        </p:nvSpPr>
        <p:spPr>
          <a:xfrm>
            <a:off x="4224528" y="3063240"/>
            <a:ext cx="987552" cy="91"/>
          </a:xfrm>
          <a:prstGeom prst="line">
            <a:avLst/>
          </a:prstGeom>
          <a:noFill/>
          <a:ln w="19050">
            <a:solidFill>
              <a:srgbClr val="1A2340"/>
            </a:solidFill>
            <a:prstDash val="solid"/>
          </a:ln>
        </p:spPr>
      </p:sp>
      <p:sp>
        <p:nvSpPr>
          <p:cNvPr id="32" name="Shape 30"/>
          <p:cNvSpPr/>
          <p:nvPr/>
        </p:nvSpPr>
        <p:spPr>
          <a:xfrm>
            <a:off x="3730752" y="2971800"/>
            <a:ext cx="493776" cy="182880"/>
          </a:xfrm>
          <a:prstGeom prst="rect">
            <a:avLst/>
          </a:prstGeom>
          <a:solidFill>
            <a:srgbClr val="FFFFFF"/>
          </a:solidFill>
          <a:ln w="19050">
            <a:solidFill>
              <a:srgbClr val="1A2340"/>
            </a:solidFill>
            <a:prstDash val="solid"/>
          </a:ln>
        </p:spPr>
      </p:sp>
      <p:sp>
        <p:nvSpPr>
          <p:cNvPr id="33" name="Text 31"/>
          <p:cNvSpPr/>
          <p:nvPr/>
        </p:nvSpPr>
        <p:spPr>
          <a:xfrm>
            <a:off x="3383280" y="2670048"/>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10 Ω</a:t>
            </a:r>
            <a:endParaRPr lang="en-US" sz="1050" dirty="0"/>
          </a:p>
        </p:txBody>
      </p:sp>
      <p:sp>
        <p:nvSpPr>
          <p:cNvPr id="34" name="Shape 32"/>
          <p:cNvSpPr/>
          <p:nvPr/>
        </p:nvSpPr>
        <p:spPr>
          <a:xfrm>
            <a:off x="1188720" y="4434840"/>
            <a:ext cx="603504" cy="91"/>
          </a:xfrm>
          <a:prstGeom prst="line">
            <a:avLst/>
          </a:prstGeom>
          <a:noFill/>
          <a:ln w="19050">
            <a:solidFill>
              <a:srgbClr val="1A2340"/>
            </a:solidFill>
            <a:prstDash val="solid"/>
          </a:ln>
        </p:spPr>
      </p:sp>
      <p:sp>
        <p:nvSpPr>
          <p:cNvPr id="35" name="Shape 33"/>
          <p:cNvSpPr/>
          <p:nvPr/>
        </p:nvSpPr>
        <p:spPr>
          <a:xfrm>
            <a:off x="2139696" y="4434840"/>
            <a:ext cx="603504" cy="91"/>
          </a:xfrm>
          <a:prstGeom prst="line">
            <a:avLst/>
          </a:prstGeom>
          <a:noFill/>
          <a:ln w="19050">
            <a:solidFill>
              <a:srgbClr val="1A2340"/>
            </a:solidFill>
            <a:prstDash val="solid"/>
          </a:ln>
        </p:spPr>
      </p:sp>
      <p:sp>
        <p:nvSpPr>
          <p:cNvPr id="36" name="Shape 34"/>
          <p:cNvSpPr/>
          <p:nvPr/>
        </p:nvSpPr>
        <p:spPr>
          <a:xfrm>
            <a:off x="1792224" y="4261104"/>
            <a:ext cx="347472" cy="347472"/>
          </a:xfrm>
          <a:prstGeom prst="ellipse">
            <a:avLst/>
          </a:prstGeom>
          <a:solidFill>
            <a:srgbClr val="FFFFFF"/>
          </a:solidFill>
          <a:ln w="19050">
            <a:solidFill>
              <a:srgbClr val="1A2340"/>
            </a:solidFill>
            <a:prstDash val="solid"/>
          </a:ln>
        </p:spPr>
      </p:sp>
      <p:sp>
        <p:nvSpPr>
          <p:cNvPr id="37" name="Text 35"/>
          <p:cNvSpPr/>
          <p:nvPr/>
        </p:nvSpPr>
        <p:spPr>
          <a:xfrm>
            <a:off x="1783080" y="425196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38" name="Text 36"/>
          <p:cNvSpPr/>
          <p:nvPr/>
        </p:nvSpPr>
        <p:spPr>
          <a:xfrm>
            <a:off x="1554480" y="3986784"/>
            <a:ext cx="822960" cy="23774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0.30 A</a:t>
            </a:r>
            <a:endParaRPr lang="en-US" sz="1050" dirty="0"/>
          </a:p>
        </p:txBody>
      </p:sp>
      <p:sp>
        <p:nvSpPr>
          <p:cNvPr id="39" name="Shape 37"/>
          <p:cNvSpPr/>
          <p:nvPr/>
        </p:nvSpPr>
        <p:spPr>
          <a:xfrm>
            <a:off x="2743200" y="4434840"/>
            <a:ext cx="987552" cy="91"/>
          </a:xfrm>
          <a:prstGeom prst="line">
            <a:avLst/>
          </a:prstGeom>
          <a:noFill/>
          <a:ln w="19050">
            <a:solidFill>
              <a:srgbClr val="1A2340"/>
            </a:solidFill>
            <a:prstDash val="solid"/>
          </a:ln>
        </p:spPr>
      </p:sp>
      <p:sp>
        <p:nvSpPr>
          <p:cNvPr id="40" name="Shape 38"/>
          <p:cNvSpPr/>
          <p:nvPr/>
        </p:nvSpPr>
        <p:spPr>
          <a:xfrm>
            <a:off x="4224528" y="4434840"/>
            <a:ext cx="987552" cy="91"/>
          </a:xfrm>
          <a:prstGeom prst="line">
            <a:avLst/>
          </a:prstGeom>
          <a:noFill/>
          <a:ln w="19050">
            <a:solidFill>
              <a:srgbClr val="1A2340"/>
            </a:solidFill>
            <a:prstDash val="solid"/>
          </a:ln>
        </p:spPr>
      </p:sp>
      <p:sp>
        <p:nvSpPr>
          <p:cNvPr id="41" name="Shape 39"/>
          <p:cNvSpPr/>
          <p:nvPr/>
        </p:nvSpPr>
        <p:spPr>
          <a:xfrm>
            <a:off x="3730752" y="4343400"/>
            <a:ext cx="493776" cy="182880"/>
          </a:xfrm>
          <a:prstGeom prst="rect">
            <a:avLst/>
          </a:prstGeom>
          <a:solidFill>
            <a:srgbClr val="FFFFFF"/>
          </a:solidFill>
          <a:ln w="19050">
            <a:solidFill>
              <a:srgbClr val="1A2340"/>
            </a:solidFill>
            <a:prstDash val="solid"/>
          </a:ln>
        </p:spPr>
      </p:sp>
      <p:sp>
        <p:nvSpPr>
          <p:cNvPr id="42" name="Text 40"/>
          <p:cNvSpPr/>
          <p:nvPr/>
        </p:nvSpPr>
        <p:spPr>
          <a:xfrm>
            <a:off x="3383280" y="4041648"/>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20 Ω</a:t>
            </a:r>
            <a:endParaRPr lang="en-US" sz="1050" dirty="0"/>
          </a:p>
        </p:txBody>
      </p:sp>
      <p:sp>
        <p:nvSpPr>
          <p:cNvPr id="43" name="Shape 41"/>
          <p:cNvSpPr/>
          <p:nvPr/>
        </p:nvSpPr>
        <p:spPr>
          <a:xfrm>
            <a:off x="1138428" y="3012948"/>
            <a:ext cx="100584" cy="100584"/>
          </a:xfrm>
          <a:prstGeom prst="ellipse">
            <a:avLst/>
          </a:prstGeom>
          <a:solidFill>
            <a:srgbClr val="1A2340"/>
          </a:solidFill>
          <a:ln w="6350">
            <a:solidFill>
              <a:srgbClr val="1A2340"/>
            </a:solidFill>
            <a:prstDash val="solid"/>
          </a:ln>
        </p:spPr>
      </p:sp>
      <p:sp>
        <p:nvSpPr>
          <p:cNvPr id="44" name="Shape 42"/>
          <p:cNvSpPr/>
          <p:nvPr/>
        </p:nvSpPr>
        <p:spPr>
          <a:xfrm>
            <a:off x="5161788" y="3012948"/>
            <a:ext cx="100584" cy="100584"/>
          </a:xfrm>
          <a:prstGeom prst="ellipse">
            <a:avLst/>
          </a:prstGeom>
          <a:solidFill>
            <a:srgbClr val="1A2340"/>
          </a:solidFill>
          <a:ln w="6350">
            <a:solidFill>
              <a:srgbClr val="1A2340"/>
            </a:solidFill>
            <a:prstDash val="solid"/>
          </a:ln>
        </p:spPr>
      </p:sp>
      <p:sp>
        <p:nvSpPr>
          <p:cNvPr id="45" name="Text 43"/>
          <p:cNvSpPr/>
          <p:nvPr/>
        </p:nvSpPr>
        <p:spPr>
          <a:xfrm>
            <a:off x="640080" y="4800600"/>
            <a:ext cx="5120640" cy="29260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junction: 0.90 A in = 0.60 A + 0.30 A out</a:t>
            </a:r>
            <a:endParaRPr lang="en-US" sz="1100" dirty="0"/>
          </a:p>
        </p:txBody>
      </p:sp>
      <p:sp>
        <p:nvSpPr>
          <p:cNvPr id="46" name="Shape 4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7" name="Text 4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Rules for parallel circuits</a:t>
            </a:r>
            <a:endParaRPr lang="en-US" sz="1300" dirty="0"/>
          </a:p>
        </p:txBody>
      </p:sp>
      <p:sp>
        <p:nvSpPr>
          <p:cNvPr id="48" name="Text 4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Current is conserved at a junction</a:t>
            </a:r>
            <a:r>
              <a:rPr lang="en-US" sz="1150" dirty="0">
                <a:solidFill>
                  <a:srgbClr val="262B3A"/>
                </a:solidFill>
                <a:latin typeface="Calibri" pitchFamily="34" charset="0"/>
                <a:ea typeface="Calibri" pitchFamily="34" charset="-122"/>
                <a:cs typeface="Calibri" pitchFamily="34" charset="-120"/>
              </a:rPr>
              <a:t>: total current in = total current out. The branch currents </a:t>
            </a:r>
            <a:r>
              <a:rPr lang="en-US" sz="1150" b="1" dirty="0">
                <a:solidFill>
                  <a:srgbClr val="262B3A"/>
                </a:solidFill>
                <a:latin typeface="Calibri" pitchFamily="34" charset="0"/>
                <a:ea typeface="Calibri" pitchFamily="34" charset="-122"/>
                <a:cs typeface="Calibri" pitchFamily="34" charset="-120"/>
              </a:rPr>
              <a:t>add up</a:t>
            </a:r>
            <a:r>
              <a:rPr lang="en-US" sz="1150" dirty="0">
                <a:solidFill>
                  <a:srgbClr val="262B3A"/>
                </a:solidFill>
                <a:latin typeface="Calibri" pitchFamily="34" charset="0"/>
                <a:ea typeface="Calibri" pitchFamily="34" charset="-122"/>
                <a:cs typeface="Calibri" pitchFamily="34" charset="-120"/>
              </a:rPr>
              <a:t> to the supply current.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Each branch has the </a:t>
            </a:r>
            <a:r>
              <a:rPr lang="en-US" sz="1150" b="1" dirty="0">
                <a:solidFill>
                  <a:srgbClr val="262B3A"/>
                </a:solidFill>
                <a:latin typeface="Calibri" pitchFamily="34" charset="0"/>
                <a:ea typeface="Calibri" pitchFamily="34" charset="-122"/>
                <a:cs typeface="Calibri" pitchFamily="34" charset="-120"/>
              </a:rPr>
              <a:t>same p.d.</a:t>
            </a:r>
            <a:r>
              <a:rPr lang="en-US" sz="1150" dirty="0">
                <a:solidFill>
                  <a:srgbClr val="262B3A"/>
                </a:solidFill>
                <a:latin typeface="Calibri" pitchFamily="34" charset="0"/>
                <a:ea typeface="Calibri" pitchFamily="34" charset="-122"/>
                <a:cs typeface="Calibri" pitchFamily="34" charset="-120"/>
              </a:rPr>
              <a:t> as the supply (6.0 V across each resistor here).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branch with the </a:t>
            </a:r>
            <a:r>
              <a:rPr lang="en-US" sz="1150" b="1" dirty="0">
                <a:solidFill>
                  <a:srgbClr val="262B3A"/>
                </a:solidFill>
                <a:latin typeface="Calibri" pitchFamily="34" charset="0"/>
                <a:ea typeface="Calibri" pitchFamily="34" charset="-122"/>
                <a:cs typeface="Calibri" pitchFamily="34" charset="-120"/>
              </a:rPr>
              <a:t>smaller resistance</a:t>
            </a:r>
            <a:r>
              <a:rPr lang="en-US" sz="1150" dirty="0">
                <a:solidFill>
                  <a:srgbClr val="262B3A"/>
                </a:solidFill>
                <a:latin typeface="Calibri" pitchFamily="34" charset="0"/>
                <a:ea typeface="Calibri" pitchFamily="34" charset="-122"/>
                <a:cs typeface="Calibri" pitchFamily="34" charset="-120"/>
              </a:rPr>
              <a:t> takes the </a:t>
            </a:r>
            <a:r>
              <a:rPr lang="en-US" sz="1150" b="1" dirty="0">
                <a:solidFill>
                  <a:srgbClr val="262B3A"/>
                </a:solidFill>
                <a:latin typeface="Calibri" pitchFamily="34" charset="0"/>
                <a:ea typeface="Calibri" pitchFamily="34" charset="-122"/>
                <a:cs typeface="Calibri" pitchFamily="34" charset="-120"/>
              </a:rPr>
              <a:t>bigger current</a:t>
            </a:r>
            <a:r>
              <a:rPr lang="en-US" sz="1150" dirty="0">
                <a:solidFill>
                  <a:srgbClr val="262B3A"/>
                </a:solidFill>
                <a:latin typeface="Calibri" pitchFamily="34" charset="0"/>
                <a:ea typeface="Calibri" pitchFamily="34" charset="-122"/>
                <a:cs typeface="Calibri" pitchFamily="34" charset="-120"/>
              </a:rPr>
              <a:t> (I = V ÷ R).</a:t>
            </a:r>
            <a:endParaRPr lang="en-US" sz="1150" dirty="0"/>
          </a:p>
        </p:txBody>
      </p:sp>
      <p:sp>
        <p:nvSpPr>
          <p:cNvPr id="49" name="Shape 4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0" name="Text 4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1" name="Text 49"/>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Calculate each branch current and the supply current.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Branch 1   </a:t>
            </a:r>
            <a:r>
              <a:rPr lang="en-US" sz="1100" dirty="0">
                <a:solidFill>
                  <a:srgbClr val="262B3A"/>
                </a:solidFill>
                <a:latin typeface="Calibri" pitchFamily="34" charset="0"/>
                <a:ea typeface="Calibri" pitchFamily="34" charset="-122"/>
                <a:cs typeface="Calibri" pitchFamily="34" charset="-120"/>
              </a:rPr>
              <a:t>I₁ = 6.0 ÷ 10 = 0.60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Branch 2   </a:t>
            </a:r>
            <a:r>
              <a:rPr lang="en-US" sz="1100" dirty="0">
                <a:solidFill>
                  <a:srgbClr val="262B3A"/>
                </a:solidFill>
                <a:latin typeface="Calibri" pitchFamily="34" charset="0"/>
                <a:ea typeface="Calibri" pitchFamily="34" charset="-122"/>
                <a:cs typeface="Calibri" pitchFamily="34" charset="-120"/>
              </a:rPr>
              <a:t>I₂ = 6.0 ÷ 20 = 0.30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Junction   </a:t>
            </a:r>
            <a:r>
              <a:rPr lang="en-US" sz="1100" dirty="0">
                <a:solidFill>
                  <a:srgbClr val="262B3A"/>
                </a:solidFill>
                <a:latin typeface="Calibri" pitchFamily="34" charset="0"/>
                <a:ea typeface="Calibri" pitchFamily="34" charset="-122"/>
                <a:cs typeface="Calibri" pitchFamily="34" charset="-120"/>
              </a:rPr>
              <a:t>I = I₁ + I₂</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I = 0.90 A from the battery</a:t>
            </a:r>
            <a:endParaRPr lang="en-US" sz="110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Two branches carry 0.40 A and 0.25 A. What does an ammeter next to the battery read? What is the p.d. across each branch if the supply is 3.0 V?</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Why series adds resistance and parallel reduces it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10.14 • net resistance of two resistors</a:t>
            </a:r>
            <a:endParaRPr lang="en-US" sz="1100" dirty="0"/>
          </a:p>
        </p:txBody>
      </p:sp>
      <p:sp>
        <p:nvSpPr>
          <p:cNvPr id="6" name="Shape 4"/>
          <p:cNvSpPr/>
          <p:nvPr/>
        </p:nvSpPr>
        <p:spPr>
          <a:xfrm>
            <a:off x="10180015" y="292608"/>
            <a:ext cx="1600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7–9 STRETCH</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10.14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two resistors give a very different total resistance</a:t>
            </a:r>
            <a:endParaRPr lang="en-US" sz="1000" dirty="0"/>
          </a:p>
        </p:txBody>
      </p:sp>
      <p:sp>
        <p:nvSpPr>
          <p:cNvPr id="12" name="Text 10"/>
          <p:cNvSpPr/>
          <p:nvPr/>
        </p:nvSpPr>
        <p:spPr>
          <a:xfrm>
            <a:off x="594360" y="1298448"/>
            <a:ext cx="2743200" cy="256032"/>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Series: R = 30 Ω</a:t>
            </a:r>
            <a:endParaRPr lang="en-US" sz="1200" dirty="0"/>
          </a:p>
        </p:txBody>
      </p:sp>
      <p:sp>
        <p:nvSpPr>
          <p:cNvPr id="13" name="Shape 11"/>
          <p:cNvSpPr/>
          <p:nvPr/>
        </p:nvSpPr>
        <p:spPr>
          <a:xfrm>
            <a:off x="1188720" y="1874520"/>
            <a:ext cx="1856232" cy="91"/>
          </a:xfrm>
          <a:prstGeom prst="line">
            <a:avLst/>
          </a:prstGeom>
          <a:noFill/>
          <a:ln w="19050">
            <a:solidFill>
              <a:srgbClr val="1A2340"/>
            </a:solidFill>
            <a:prstDash val="solid"/>
          </a:ln>
        </p:spPr>
      </p:sp>
      <p:sp>
        <p:nvSpPr>
          <p:cNvPr id="14" name="Shape 12"/>
          <p:cNvSpPr/>
          <p:nvPr/>
        </p:nvSpPr>
        <p:spPr>
          <a:xfrm>
            <a:off x="3355848" y="1874520"/>
            <a:ext cx="1856232" cy="91"/>
          </a:xfrm>
          <a:prstGeom prst="line">
            <a:avLst/>
          </a:prstGeom>
          <a:noFill/>
          <a:ln w="19050">
            <a:solidFill>
              <a:srgbClr val="1A2340"/>
            </a:solidFill>
            <a:prstDash val="solid"/>
          </a:ln>
        </p:spPr>
      </p:sp>
      <p:sp>
        <p:nvSpPr>
          <p:cNvPr id="15" name="Shape 13"/>
          <p:cNvSpPr/>
          <p:nvPr/>
        </p:nvSpPr>
        <p:spPr>
          <a:xfrm>
            <a:off x="3044952" y="1673352"/>
            <a:ext cx="91" cy="402336"/>
          </a:xfrm>
          <a:prstGeom prst="line">
            <a:avLst/>
          </a:prstGeom>
          <a:noFill/>
          <a:ln w="19050">
            <a:solidFill>
              <a:srgbClr val="1A2340"/>
            </a:solidFill>
            <a:prstDash val="solid"/>
          </a:ln>
        </p:spPr>
      </p:sp>
      <p:sp>
        <p:nvSpPr>
          <p:cNvPr id="16" name="Shape 14"/>
          <p:cNvSpPr/>
          <p:nvPr/>
        </p:nvSpPr>
        <p:spPr>
          <a:xfrm>
            <a:off x="3136392" y="1773936"/>
            <a:ext cx="91" cy="201168"/>
          </a:xfrm>
          <a:prstGeom prst="line">
            <a:avLst/>
          </a:prstGeom>
          <a:noFill/>
          <a:ln w="57150">
            <a:solidFill>
              <a:srgbClr val="1A2340"/>
            </a:solidFill>
            <a:prstDash val="solid"/>
          </a:ln>
        </p:spPr>
      </p:sp>
      <p:sp>
        <p:nvSpPr>
          <p:cNvPr id="17" name="Shape 15"/>
          <p:cNvSpPr/>
          <p:nvPr/>
        </p:nvSpPr>
        <p:spPr>
          <a:xfrm>
            <a:off x="3136392" y="1874520"/>
            <a:ext cx="128016" cy="91"/>
          </a:xfrm>
          <a:prstGeom prst="line">
            <a:avLst/>
          </a:prstGeom>
          <a:noFill/>
          <a:ln w="19050">
            <a:solidFill>
              <a:srgbClr val="1A2340"/>
            </a:solidFill>
            <a:prstDash val="solid"/>
          </a:ln>
        </p:spPr>
      </p:sp>
      <p:sp>
        <p:nvSpPr>
          <p:cNvPr id="18" name="Shape 16"/>
          <p:cNvSpPr/>
          <p:nvPr/>
        </p:nvSpPr>
        <p:spPr>
          <a:xfrm>
            <a:off x="3264408" y="1673352"/>
            <a:ext cx="91" cy="402336"/>
          </a:xfrm>
          <a:prstGeom prst="line">
            <a:avLst/>
          </a:prstGeom>
          <a:noFill/>
          <a:ln w="19050">
            <a:solidFill>
              <a:srgbClr val="1A2340"/>
            </a:solidFill>
            <a:prstDash val="solid"/>
          </a:ln>
        </p:spPr>
      </p:sp>
      <p:sp>
        <p:nvSpPr>
          <p:cNvPr id="19" name="Shape 17"/>
          <p:cNvSpPr/>
          <p:nvPr/>
        </p:nvSpPr>
        <p:spPr>
          <a:xfrm>
            <a:off x="3355848" y="1773936"/>
            <a:ext cx="91" cy="201168"/>
          </a:xfrm>
          <a:prstGeom prst="line">
            <a:avLst/>
          </a:prstGeom>
          <a:noFill/>
          <a:ln w="57150">
            <a:solidFill>
              <a:srgbClr val="1A2340"/>
            </a:solidFill>
            <a:prstDash val="solid"/>
          </a:ln>
        </p:spPr>
      </p:sp>
      <p:sp>
        <p:nvSpPr>
          <p:cNvPr id="20" name="Text 18"/>
          <p:cNvSpPr/>
          <p:nvPr/>
        </p:nvSpPr>
        <p:spPr>
          <a:xfrm>
            <a:off x="2606040" y="1463040"/>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6.0 V</a:t>
            </a:r>
            <a:endParaRPr lang="en-US" sz="1050" dirty="0"/>
          </a:p>
        </p:txBody>
      </p:sp>
      <p:sp>
        <p:nvSpPr>
          <p:cNvPr id="21" name="Shape 19"/>
          <p:cNvSpPr/>
          <p:nvPr/>
        </p:nvSpPr>
        <p:spPr>
          <a:xfrm>
            <a:off x="1188720" y="1874520"/>
            <a:ext cx="91" cy="868680"/>
          </a:xfrm>
          <a:prstGeom prst="line">
            <a:avLst/>
          </a:prstGeom>
          <a:noFill/>
          <a:ln w="19050">
            <a:solidFill>
              <a:srgbClr val="1A2340"/>
            </a:solidFill>
            <a:prstDash val="solid"/>
          </a:ln>
        </p:spPr>
      </p:sp>
      <p:sp>
        <p:nvSpPr>
          <p:cNvPr id="22" name="Shape 20"/>
          <p:cNvSpPr/>
          <p:nvPr/>
        </p:nvSpPr>
        <p:spPr>
          <a:xfrm>
            <a:off x="5212080" y="1874520"/>
            <a:ext cx="91" cy="868680"/>
          </a:xfrm>
          <a:prstGeom prst="line">
            <a:avLst/>
          </a:prstGeom>
          <a:noFill/>
          <a:ln w="19050">
            <a:solidFill>
              <a:srgbClr val="1A2340"/>
            </a:solidFill>
            <a:prstDash val="solid"/>
          </a:ln>
        </p:spPr>
      </p:sp>
      <p:sp>
        <p:nvSpPr>
          <p:cNvPr id="23" name="Shape 21"/>
          <p:cNvSpPr/>
          <p:nvPr/>
        </p:nvSpPr>
        <p:spPr>
          <a:xfrm>
            <a:off x="1188720" y="2743200"/>
            <a:ext cx="758952" cy="91"/>
          </a:xfrm>
          <a:prstGeom prst="line">
            <a:avLst/>
          </a:prstGeom>
          <a:noFill/>
          <a:ln w="19050">
            <a:solidFill>
              <a:srgbClr val="1A2340"/>
            </a:solidFill>
            <a:prstDash val="solid"/>
          </a:ln>
        </p:spPr>
      </p:sp>
      <p:sp>
        <p:nvSpPr>
          <p:cNvPr id="24" name="Shape 22"/>
          <p:cNvSpPr/>
          <p:nvPr/>
        </p:nvSpPr>
        <p:spPr>
          <a:xfrm>
            <a:off x="2441448" y="2743200"/>
            <a:ext cx="758952" cy="91"/>
          </a:xfrm>
          <a:prstGeom prst="line">
            <a:avLst/>
          </a:prstGeom>
          <a:noFill/>
          <a:ln w="19050">
            <a:solidFill>
              <a:srgbClr val="1A2340"/>
            </a:solidFill>
            <a:prstDash val="solid"/>
          </a:ln>
        </p:spPr>
      </p:sp>
      <p:sp>
        <p:nvSpPr>
          <p:cNvPr id="25" name="Shape 23"/>
          <p:cNvSpPr/>
          <p:nvPr/>
        </p:nvSpPr>
        <p:spPr>
          <a:xfrm>
            <a:off x="1947672" y="2651760"/>
            <a:ext cx="493776" cy="182880"/>
          </a:xfrm>
          <a:prstGeom prst="rect">
            <a:avLst/>
          </a:prstGeom>
          <a:solidFill>
            <a:srgbClr val="FFFFFF"/>
          </a:solidFill>
          <a:ln w="19050">
            <a:solidFill>
              <a:srgbClr val="1A2340"/>
            </a:solidFill>
            <a:prstDash val="solid"/>
          </a:ln>
        </p:spPr>
      </p:sp>
      <p:sp>
        <p:nvSpPr>
          <p:cNvPr id="26" name="Text 24"/>
          <p:cNvSpPr/>
          <p:nvPr/>
        </p:nvSpPr>
        <p:spPr>
          <a:xfrm>
            <a:off x="1600200" y="2898648"/>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10 Ω</a:t>
            </a:r>
            <a:endParaRPr lang="en-US" sz="1050" dirty="0"/>
          </a:p>
        </p:txBody>
      </p:sp>
      <p:sp>
        <p:nvSpPr>
          <p:cNvPr id="27" name="Shape 25"/>
          <p:cNvSpPr/>
          <p:nvPr/>
        </p:nvSpPr>
        <p:spPr>
          <a:xfrm>
            <a:off x="3200400" y="2743200"/>
            <a:ext cx="758952" cy="91"/>
          </a:xfrm>
          <a:prstGeom prst="line">
            <a:avLst/>
          </a:prstGeom>
          <a:noFill/>
          <a:ln w="19050">
            <a:solidFill>
              <a:srgbClr val="1A2340"/>
            </a:solidFill>
            <a:prstDash val="solid"/>
          </a:ln>
        </p:spPr>
      </p:sp>
      <p:sp>
        <p:nvSpPr>
          <p:cNvPr id="28" name="Shape 26"/>
          <p:cNvSpPr/>
          <p:nvPr/>
        </p:nvSpPr>
        <p:spPr>
          <a:xfrm>
            <a:off x="4453128" y="2743200"/>
            <a:ext cx="758952" cy="91"/>
          </a:xfrm>
          <a:prstGeom prst="line">
            <a:avLst/>
          </a:prstGeom>
          <a:noFill/>
          <a:ln w="19050">
            <a:solidFill>
              <a:srgbClr val="1A2340"/>
            </a:solidFill>
            <a:prstDash val="solid"/>
          </a:ln>
        </p:spPr>
      </p:sp>
      <p:sp>
        <p:nvSpPr>
          <p:cNvPr id="29" name="Shape 27"/>
          <p:cNvSpPr/>
          <p:nvPr/>
        </p:nvSpPr>
        <p:spPr>
          <a:xfrm>
            <a:off x="3959352" y="2651760"/>
            <a:ext cx="493776" cy="182880"/>
          </a:xfrm>
          <a:prstGeom prst="rect">
            <a:avLst/>
          </a:prstGeom>
          <a:solidFill>
            <a:srgbClr val="FFFFFF"/>
          </a:solidFill>
          <a:ln w="19050">
            <a:solidFill>
              <a:srgbClr val="1A2340"/>
            </a:solidFill>
            <a:prstDash val="solid"/>
          </a:ln>
        </p:spPr>
      </p:sp>
      <p:sp>
        <p:nvSpPr>
          <p:cNvPr id="30" name="Text 28"/>
          <p:cNvSpPr/>
          <p:nvPr/>
        </p:nvSpPr>
        <p:spPr>
          <a:xfrm>
            <a:off x="3611880" y="2898648"/>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20 Ω</a:t>
            </a:r>
            <a:endParaRPr lang="en-US" sz="1050" dirty="0"/>
          </a:p>
        </p:txBody>
      </p:sp>
      <p:sp>
        <p:nvSpPr>
          <p:cNvPr id="31" name="Text 29"/>
          <p:cNvSpPr/>
          <p:nvPr/>
        </p:nvSpPr>
        <p:spPr>
          <a:xfrm>
            <a:off x="3246120" y="1298448"/>
            <a:ext cx="2651760" cy="256032"/>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I = 6.0 ÷ 30 = 0.20 A</a:t>
            </a:r>
            <a:endParaRPr lang="en-US" sz="1100" dirty="0"/>
          </a:p>
        </p:txBody>
      </p:sp>
      <p:sp>
        <p:nvSpPr>
          <p:cNvPr id="32" name="Text 30"/>
          <p:cNvSpPr/>
          <p:nvPr/>
        </p:nvSpPr>
        <p:spPr>
          <a:xfrm>
            <a:off x="594360" y="3246120"/>
            <a:ext cx="2743200" cy="25603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ea typeface="Calibri" pitchFamily="34" charset="-122"/>
                <a:cs typeface="Calibri" pitchFamily="34" charset="-120"/>
              </a:rPr>
              <a:t>Parallel: R ≈ 6.7 Ω</a:t>
            </a:r>
            <a:endParaRPr lang="en-US" sz="1200" dirty="0"/>
          </a:p>
        </p:txBody>
      </p:sp>
      <p:sp>
        <p:nvSpPr>
          <p:cNvPr id="33" name="Shape 31"/>
          <p:cNvSpPr/>
          <p:nvPr/>
        </p:nvSpPr>
        <p:spPr>
          <a:xfrm>
            <a:off x="1188720" y="3794760"/>
            <a:ext cx="1856232" cy="91"/>
          </a:xfrm>
          <a:prstGeom prst="line">
            <a:avLst/>
          </a:prstGeom>
          <a:noFill/>
          <a:ln w="19050">
            <a:solidFill>
              <a:srgbClr val="1A2340"/>
            </a:solidFill>
            <a:prstDash val="solid"/>
          </a:ln>
        </p:spPr>
      </p:sp>
      <p:sp>
        <p:nvSpPr>
          <p:cNvPr id="34" name="Shape 32"/>
          <p:cNvSpPr/>
          <p:nvPr/>
        </p:nvSpPr>
        <p:spPr>
          <a:xfrm>
            <a:off x="3355848" y="3794760"/>
            <a:ext cx="1856232" cy="91"/>
          </a:xfrm>
          <a:prstGeom prst="line">
            <a:avLst/>
          </a:prstGeom>
          <a:noFill/>
          <a:ln w="19050">
            <a:solidFill>
              <a:srgbClr val="1A2340"/>
            </a:solidFill>
            <a:prstDash val="solid"/>
          </a:ln>
        </p:spPr>
      </p:sp>
      <p:sp>
        <p:nvSpPr>
          <p:cNvPr id="35" name="Shape 33"/>
          <p:cNvSpPr/>
          <p:nvPr/>
        </p:nvSpPr>
        <p:spPr>
          <a:xfrm>
            <a:off x="3044952" y="3593592"/>
            <a:ext cx="91" cy="402336"/>
          </a:xfrm>
          <a:prstGeom prst="line">
            <a:avLst/>
          </a:prstGeom>
          <a:noFill/>
          <a:ln w="19050">
            <a:solidFill>
              <a:srgbClr val="1A2340"/>
            </a:solidFill>
            <a:prstDash val="solid"/>
          </a:ln>
        </p:spPr>
      </p:sp>
      <p:sp>
        <p:nvSpPr>
          <p:cNvPr id="36" name="Shape 34"/>
          <p:cNvSpPr/>
          <p:nvPr/>
        </p:nvSpPr>
        <p:spPr>
          <a:xfrm>
            <a:off x="3136392" y="3694176"/>
            <a:ext cx="91" cy="201168"/>
          </a:xfrm>
          <a:prstGeom prst="line">
            <a:avLst/>
          </a:prstGeom>
          <a:noFill/>
          <a:ln w="57150">
            <a:solidFill>
              <a:srgbClr val="1A2340"/>
            </a:solidFill>
            <a:prstDash val="solid"/>
          </a:ln>
        </p:spPr>
      </p:sp>
      <p:sp>
        <p:nvSpPr>
          <p:cNvPr id="37" name="Shape 35"/>
          <p:cNvSpPr/>
          <p:nvPr/>
        </p:nvSpPr>
        <p:spPr>
          <a:xfrm>
            <a:off x="3136392" y="3794760"/>
            <a:ext cx="128016" cy="91"/>
          </a:xfrm>
          <a:prstGeom prst="line">
            <a:avLst/>
          </a:prstGeom>
          <a:noFill/>
          <a:ln w="19050">
            <a:solidFill>
              <a:srgbClr val="1A2340"/>
            </a:solidFill>
            <a:prstDash val="solid"/>
          </a:ln>
        </p:spPr>
      </p:sp>
      <p:sp>
        <p:nvSpPr>
          <p:cNvPr id="38" name="Shape 36"/>
          <p:cNvSpPr/>
          <p:nvPr/>
        </p:nvSpPr>
        <p:spPr>
          <a:xfrm>
            <a:off x="3264408" y="3593592"/>
            <a:ext cx="91" cy="402336"/>
          </a:xfrm>
          <a:prstGeom prst="line">
            <a:avLst/>
          </a:prstGeom>
          <a:noFill/>
          <a:ln w="19050">
            <a:solidFill>
              <a:srgbClr val="1A2340"/>
            </a:solidFill>
            <a:prstDash val="solid"/>
          </a:ln>
        </p:spPr>
      </p:sp>
      <p:sp>
        <p:nvSpPr>
          <p:cNvPr id="39" name="Shape 37"/>
          <p:cNvSpPr/>
          <p:nvPr/>
        </p:nvSpPr>
        <p:spPr>
          <a:xfrm>
            <a:off x="3355848" y="3694176"/>
            <a:ext cx="91" cy="201168"/>
          </a:xfrm>
          <a:prstGeom prst="line">
            <a:avLst/>
          </a:prstGeom>
          <a:noFill/>
          <a:ln w="57150">
            <a:solidFill>
              <a:srgbClr val="1A2340"/>
            </a:solidFill>
            <a:prstDash val="solid"/>
          </a:ln>
        </p:spPr>
      </p:sp>
      <p:sp>
        <p:nvSpPr>
          <p:cNvPr id="40" name="Text 38"/>
          <p:cNvSpPr/>
          <p:nvPr/>
        </p:nvSpPr>
        <p:spPr>
          <a:xfrm>
            <a:off x="2606040" y="3383280"/>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6.0 V</a:t>
            </a:r>
            <a:endParaRPr lang="en-US" sz="1050" dirty="0"/>
          </a:p>
        </p:txBody>
      </p:sp>
      <p:sp>
        <p:nvSpPr>
          <p:cNvPr id="41" name="Shape 39"/>
          <p:cNvSpPr/>
          <p:nvPr/>
        </p:nvSpPr>
        <p:spPr>
          <a:xfrm>
            <a:off x="1188720" y="3794760"/>
            <a:ext cx="91" cy="1280160"/>
          </a:xfrm>
          <a:prstGeom prst="line">
            <a:avLst/>
          </a:prstGeom>
          <a:noFill/>
          <a:ln w="19050">
            <a:solidFill>
              <a:srgbClr val="1A2340"/>
            </a:solidFill>
            <a:prstDash val="solid"/>
          </a:ln>
        </p:spPr>
      </p:sp>
      <p:sp>
        <p:nvSpPr>
          <p:cNvPr id="42" name="Shape 40"/>
          <p:cNvSpPr/>
          <p:nvPr/>
        </p:nvSpPr>
        <p:spPr>
          <a:xfrm>
            <a:off x="5212080" y="3794760"/>
            <a:ext cx="91" cy="1280160"/>
          </a:xfrm>
          <a:prstGeom prst="line">
            <a:avLst/>
          </a:prstGeom>
          <a:noFill/>
          <a:ln w="19050">
            <a:solidFill>
              <a:srgbClr val="1A2340"/>
            </a:solidFill>
            <a:prstDash val="solid"/>
          </a:ln>
        </p:spPr>
      </p:sp>
      <p:sp>
        <p:nvSpPr>
          <p:cNvPr id="43" name="Shape 41"/>
          <p:cNvSpPr/>
          <p:nvPr/>
        </p:nvSpPr>
        <p:spPr>
          <a:xfrm>
            <a:off x="1188720" y="4434840"/>
            <a:ext cx="1764792" cy="91"/>
          </a:xfrm>
          <a:prstGeom prst="line">
            <a:avLst/>
          </a:prstGeom>
          <a:noFill/>
          <a:ln w="19050">
            <a:solidFill>
              <a:srgbClr val="1A2340"/>
            </a:solidFill>
            <a:prstDash val="solid"/>
          </a:ln>
        </p:spPr>
      </p:sp>
      <p:sp>
        <p:nvSpPr>
          <p:cNvPr id="44" name="Shape 42"/>
          <p:cNvSpPr/>
          <p:nvPr/>
        </p:nvSpPr>
        <p:spPr>
          <a:xfrm>
            <a:off x="3447288" y="4434840"/>
            <a:ext cx="1764792" cy="91"/>
          </a:xfrm>
          <a:prstGeom prst="line">
            <a:avLst/>
          </a:prstGeom>
          <a:noFill/>
          <a:ln w="19050">
            <a:solidFill>
              <a:srgbClr val="1A2340"/>
            </a:solidFill>
            <a:prstDash val="solid"/>
          </a:ln>
        </p:spPr>
      </p:sp>
      <p:sp>
        <p:nvSpPr>
          <p:cNvPr id="45" name="Shape 43"/>
          <p:cNvSpPr/>
          <p:nvPr/>
        </p:nvSpPr>
        <p:spPr>
          <a:xfrm>
            <a:off x="2953512" y="4343400"/>
            <a:ext cx="493776" cy="182880"/>
          </a:xfrm>
          <a:prstGeom prst="rect">
            <a:avLst/>
          </a:prstGeom>
          <a:solidFill>
            <a:srgbClr val="FFFFFF"/>
          </a:solidFill>
          <a:ln w="19050">
            <a:solidFill>
              <a:srgbClr val="1A2340"/>
            </a:solidFill>
            <a:prstDash val="solid"/>
          </a:ln>
        </p:spPr>
      </p:sp>
      <p:sp>
        <p:nvSpPr>
          <p:cNvPr id="46" name="Text 44"/>
          <p:cNvSpPr/>
          <p:nvPr/>
        </p:nvSpPr>
        <p:spPr>
          <a:xfrm>
            <a:off x="2926080" y="4133088"/>
            <a:ext cx="54864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10 Ω</a:t>
            </a:r>
            <a:endParaRPr lang="en-US" sz="1050" dirty="0"/>
          </a:p>
        </p:txBody>
      </p:sp>
      <p:sp>
        <p:nvSpPr>
          <p:cNvPr id="47" name="Shape 45"/>
          <p:cNvSpPr/>
          <p:nvPr/>
        </p:nvSpPr>
        <p:spPr>
          <a:xfrm>
            <a:off x="1188720" y="5074920"/>
            <a:ext cx="1764792" cy="91"/>
          </a:xfrm>
          <a:prstGeom prst="line">
            <a:avLst/>
          </a:prstGeom>
          <a:noFill/>
          <a:ln w="19050">
            <a:solidFill>
              <a:srgbClr val="1A2340"/>
            </a:solidFill>
            <a:prstDash val="solid"/>
          </a:ln>
        </p:spPr>
      </p:sp>
      <p:sp>
        <p:nvSpPr>
          <p:cNvPr id="48" name="Shape 46"/>
          <p:cNvSpPr/>
          <p:nvPr/>
        </p:nvSpPr>
        <p:spPr>
          <a:xfrm>
            <a:off x="3447288" y="5074920"/>
            <a:ext cx="1764792" cy="91"/>
          </a:xfrm>
          <a:prstGeom prst="line">
            <a:avLst/>
          </a:prstGeom>
          <a:noFill/>
          <a:ln w="19050">
            <a:solidFill>
              <a:srgbClr val="1A2340"/>
            </a:solidFill>
            <a:prstDash val="solid"/>
          </a:ln>
        </p:spPr>
      </p:sp>
      <p:sp>
        <p:nvSpPr>
          <p:cNvPr id="49" name="Shape 47"/>
          <p:cNvSpPr/>
          <p:nvPr/>
        </p:nvSpPr>
        <p:spPr>
          <a:xfrm>
            <a:off x="2953512" y="4983480"/>
            <a:ext cx="493776" cy="182880"/>
          </a:xfrm>
          <a:prstGeom prst="rect">
            <a:avLst/>
          </a:prstGeom>
          <a:solidFill>
            <a:srgbClr val="FFFFFF"/>
          </a:solidFill>
          <a:ln w="19050">
            <a:solidFill>
              <a:srgbClr val="1A2340"/>
            </a:solidFill>
            <a:prstDash val="solid"/>
          </a:ln>
        </p:spPr>
      </p:sp>
      <p:sp>
        <p:nvSpPr>
          <p:cNvPr id="50" name="Text 48"/>
          <p:cNvSpPr/>
          <p:nvPr/>
        </p:nvSpPr>
        <p:spPr>
          <a:xfrm>
            <a:off x="2926080" y="4773168"/>
            <a:ext cx="54864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20 Ω</a:t>
            </a:r>
            <a:endParaRPr lang="en-US" sz="1050" dirty="0"/>
          </a:p>
        </p:txBody>
      </p:sp>
      <p:sp>
        <p:nvSpPr>
          <p:cNvPr id="51" name="Shape 49"/>
          <p:cNvSpPr/>
          <p:nvPr/>
        </p:nvSpPr>
        <p:spPr>
          <a:xfrm>
            <a:off x="1138428" y="4384548"/>
            <a:ext cx="100584" cy="100584"/>
          </a:xfrm>
          <a:prstGeom prst="ellipse">
            <a:avLst/>
          </a:prstGeom>
          <a:solidFill>
            <a:srgbClr val="1A2340"/>
          </a:solidFill>
          <a:ln w="6350">
            <a:solidFill>
              <a:srgbClr val="1A2340"/>
            </a:solidFill>
            <a:prstDash val="solid"/>
          </a:ln>
        </p:spPr>
      </p:sp>
      <p:sp>
        <p:nvSpPr>
          <p:cNvPr id="52" name="Shape 50"/>
          <p:cNvSpPr/>
          <p:nvPr/>
        </p:nvSpPr>
        <p:spPr>
          <a:xfrm>
            <a:off x="5161788" y="4384548"/>
            <a:ext cx="100584" cy="100584"/>
          </a:xfrm>
          <a:prstGeom prst="ellipse">
            <a:avLst/>
          </a:prstGeom>
          <a:solidFill>
            <a:srgbClr val="1A2340"/>
          </a:solidFill>
          <a:ln w="6350">
            <a:solidFill>
              <a:srgbClr val="1A2340"/>
            </a:solidFill>
            <a:prstDash val="solid"/>
          </a:ln>
        </p:spPr>
      </p:sp>
      <p:sp>
        <p:nvSpPr>
          <p:cNvPr id="53" name="Text 51"/>
          <p:cNvSpPr/>
          <p:nvPr/>
        </p:nvSpPr>
        <p:spPr>
          <a:xfrm>
            <a:off x="3246120" y="3246120"/>
            <a:ext cx="2651760" cy="256032"/>
          </a:xfrm>
          <a:prstGeom prst="rect">
            <a:avLst/>
          </a:prstGeom>
          <a:noFill/>
          <a:ln/>
        </p:spPr>
        <p:txBody>
          <a:bodyPr wrap="square" lIns="0" tIns="0" rIns="0" bIns="0" rtlCol="0" anchor="ctr"/>
          <a:lstStyle/>
          <a:p>
            <a:pPr algn="r" indent="0" marL="0">
              <a:buNone/>
            </a:pPr>
            <a:r>
              <a:rPr lang="en-US" sz="1100" b="1" dirty="0">
                <a:solidFill>
                  <a:srgbClr val="2E8B57"/>
                </a:solidFill>
                <a:latin typeface="Calibri" pitchFamily="34" charset="0"/>
                <a:ea typeface="Calibri" pitchFamily="34" charset="-122"/>
                <a:cs typeface="Calibri" pitchFamily="34" charset="-120"/>
              </a:rPr>
              <a:t>I = 0.60 + 0.30 = 0.90 A</a:t>
            </a:r>
            <a:endParaRPr lang="en-US" sz="1100" dirty="0"/>
          </a:p>
        </p:txBody>
      </p:sp>
      <p:sp>
        <p:nvSpPr>
          <p:cNvPr id="54" name="Shape 5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5" name="Text 5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Explaining the rules</a:t>
            </a:r>
            <a:endParaRPr lang="en-US" sz="1300" dirty="0"/>
          </a:p>
        </p:txBody>
      </p:sp>
      <p:sp>
        <p:nvSpPr>
          <p:cNvPr id="56" name="Text 5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Series:</a:t>
            </a:r>
            <a:r>
              <a:rPr lang="en-US" sz="1150" dirty="0">
                <a:solidFill>
                  <a:srgbClr val="262B3A"/>
                </a:solidFill>
                <a:latin typeface="Calibri" pitchFamily="34" charset="0"/>
                <a:ea typeface="Calibri" pitchFamily="34" charset="-122"/>
                <a:cs typeface="Calibri" pitchFamily="34" charset="-120"/>
              </a:rPr>
              <a:t> the charge must pass through </a:t>
            </a:r>
            <a:r>
              <a:rPr lang="en-US" sz="1150" b="1" dirty="0">
                <a:solidFill>
                  <a:srgbClr val="262B3A"/>
                </a:solidFill>
                <a:latin typeface="Calibri" pitchFamily="34" charset="0"/>
                <a:ea typeface="Calibri" pitchFamily="34" charset="-122"/>
                <a:cs typeface="Calibri" pitchFamily="34" charset="-120"/>
              </a:rPr>
              <a:t>both</a:t>
            </a:r>
            <a:r>
              <a:rPr lang="en-US" sz="1150" dirty="0">
                <a:solidFill>
                  <a:srgbClr val="262B3A"/>
                </a:solidFill>
                <a:latin typeface="Calibri" pitchFamily="34" charset="0"/>
                <a:ea typeface="Calibri" pitchFamily="34" charset="-122"/>
                <a:cs typeface="Calibri" pitchFamily="34" charset="-120"/>
              </a:rPr>
              <a:t> resistors, one after the other. More to get through → </a:t>
            </a:r>
            <a:r>
              <a:rPr lang="en-US" sz="1150" b="1" dirty="0">
                <a:solidFill>
                  <a:srgbClr val="262B3A"/>
                </a:solidFill>
                <a:latin typeface="Calibri" pitchFamily="34" charset="0"/>
                <a:ea typeface="Calibri" pitchFamily="34" charset="-122"/>
                <a:cs typeface="Calibri" pitchFamily="34" charset="-120"/>
              </a:rPr>
              <a:t>less current</a:t>
            </a:r>
            <a:r>
              <a:rPr lang="en-US" sz="1150" dirty="0">
                <a:solidFill>
                  <a:srgbClr val="262B3A"/>
                </a:solidFill>
                <a:latin typeface="Calibri" pitchFamily="34" charset="0"/>
                <a:ea typeface="Calibri" pitchFamily="34" charset="-122"/>
                <a:cs typeface="Calibri" pitchFamily="34" charset="-120"/>
              </a:rPr>
              <a:t> for the same p.d. → total resistance </a:t>
            </a:r>
            <a:r>
              <a:rPr lang="en-US" sz="1150" b="1" dirty="0">
                <a:solidFill>
                  <a:srgbClr val="262B3A"/>
                </a:solidFill>
                <a:latin typeface="Calibri" pitchFamily="34" charset="0"/>
                <a:ea typeface="Calibri" pitchFamily="34" charset="-122"/>
                <a:cs typeface="Calibri" pitchFamily="34" charset="-120"/>
              </a:rPr>
              <a:t>increases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Parallel:</a:t>
            </a:r>
            <a:r>
              <a:rPr lang="en-US" sz="1150" dirty="0">
                <a:solidFill>
                  <a:srgbClr val="262B3A"/>
                </a:solidFill>
                <a:latin typeface="Calibri" pitchFamily="34" charset="0"/>
                <a:ea typeface="Calibri" pitchFamily="34" charset="-122"/>
                <a:cs typeface="Calibri" pitchFamily="34" charset="-120"/>
              </a:rPr>
              <a:t> adding a branch gives the charge an </a:t>
            </a:r>
            <a:r>
              <a:rPr lang="en-US" sz="1150" b="1" dirty="0">
                <a:solidFill>
                  <a:srgbClr val="262B3A"/>
                </a:solidFill>
                <a:latin typeface="Calibri" pitchFamily="34" charset="0"/>
                <a:ea typeface="Calibri" pitchFamily="34" charset="-122"/>
                <a:cs typeface="Calibri" pitchFamily="34" charset="-120"/>
              </a:rPr>
              <a:t>extra path</a:t>
            </a:r>
            <a:r>
              <a:rPr lang="en-US" sz="1150" dirty="0">
                <a:solidFill>
                  <a:srgbClr val="262B3A"/>
                </a:solidFill>
                <a:latin typeface="Calibri" pitchFamily="34" charset="0"/>
                <a:ea typeface="Calibri" pitchFamily="34" charset="-122"/>
                <a:cs typeface="Calibri" pitchFamily="34" charset="-120"/>
              </a:rPr>
              <a:t>. More charge can flow each second → </a:t>
            </a:r>
            <a:r>
              <a:rPr lang="en-US" sz="1150" b="1" dirty="0">
                <a:solidFill>
                  <a:srgbClr val="262B3A"/>
                </a:solidFill>
                <a:latin typeface="Calibri" pitchFamily="34" charset="0"/>
                <a:ea typeface="Calibri" pitchFamily="34" charset="-122"/>
                <a:cs typeface="Calibri" pitchFamily="34" charset="-120"/>
              </a:rPr>
              <a:t>more current</a:t>
            </a:r>
            <a:r>
              <a:rPr lang="en-US" sz="1150" dirty="0">
                <a:solidFill>
                  <a:srgbClr val="262B3A"/>
                </a:solidFill>
                <a:latin typeface="Calibri" pitchFamily="34" charset="0"/>
                <a:ea typeface="Calibri" pitchFamily="34" charset="-122"/>
                <a:cs typeface="Calibri" pitchFamily="34" charset="-120"/>
              </a:rPr>
              <a:t> from the supply for the same p.d. → total resistance </a:t>
            </a:r>
            <a:r>
              <a:rPr lang="en-US" sz="1150" b="1" dirty="0">
                <a:solidFill>
                  <a:srgbClr val="262B3A"/>
                </a:solidFill>
                <a:latin typeface="Calibri" pitchFamily="34" charset="0"/>
                <a:ea typeface="Calibri" pitchFamily="34" charset="-122"/>
                <a:cs typeface="Calibri" pitchFamily="34" charset="-120"/>
              </a:rPr>
              <a:t>decreases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total resistance in parallel is </a:t>
            </a:r>
            <a:r>
              <a:rPr lang="en-US" sz="1150" b="1" dirty="0">
                <a:solidFill>
                  <a:srgbClr val="262B3A"/>
                </a:solidFill>
                <a:latin typeface="Calibri" pitchFamily="34" charset="0"/>
                <a:ea typeface="Calibri" pitchFamily="34" charset="-122"/>
                <a:cs typeface="Calibri" pitchFamily="34" charset="-120"/>
              </a:rPr>
              <a:t>less than the smallest</a:t>
            </a:r>
            <a:r>
              <a:rPr lang="en-US" sz="1150" dirty="0">
                <a:solidFill>
                  <a:srgbClr val="262B3A"/>
                </a:solidFill>
                <a:latin typeface="Calibri" pitchFamily="34" charset="0"/>
                <a:ea typeface="Calibri" pitchFamily="34" charset="-122"/>
                <a:cs typeface="Calibri" pitchFamily="34" charset="-120"/>
              </a:rPr>
              <a:t> branch resistance.</a:t>
            </a:r>
            <a:endParaRPr lang="en-US" sz="1150" dirty="0"/>
          </a:p>
        </p:txBody>
      </p:sp>
      <p:sp>
        <p:nvSpPr>
          <p:cNvPr id="57" name="Shape 5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8" name="Text 5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Stretch: total resistance in parallel</a:t>
            </a:r>
            <a:endParaRPr lang="en-US" sz="1300" dirty="0"/>
          </a:p>
        </p:txBody>
      </p:sp>
      <p:sp>
        <p:nvSpPr>
          <p:cNvPr id="59" name="Text 5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Use the supply current to find the total resistance of the parallel circuit.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R = V ÷ I</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R = 6.0 V ÷ 0.90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less than 10 Ω, the smaller resistor ✓</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R = 6.7 Ω</a:t>
            </a:r>
            <a:endParaRPr lang="en-US" sz="1100" dirty="0"/>
          </a:p>
        </p:txBody>
      </p:sp>
      <p:sp>
        <p:nvSpPr>
          <p:cNvPr id="60" name="Shape 58"/>
          <p:cNvSpPr/>
          <p:nvPr/>
        </p:nvSpPr>
        <p:spPr>
          <a:xfrm>
            <a:off x="411480" y="5833872"/>
            <a:ext cx="11368735" cy="530352"/>
          </a:xfrm>
          <a:prstGeom prst="rect">
            <a:avLst/>
          </a:prstGeom>
          <a:solidFill>
            <a:srgbClr val="FFF4E0"/>
          </a:solidFill>
          <a:ln w="6350">
            <a:solidFill>
              <a:srgbClr val="F1D9A8"/>
            </a:solidFill>
            <a:prstDash val="solid"/>
          </a:ln>
        </p:spPr>
      </p:sp>
      <p:sp>
        <p:nvSpPr>
          <p:cNvPr id="61" name="Shape 59"/>
          <p:cNvSpPr/>
          <p:nvPr/>
        </p:nvSpPr>
        <p:spPr>
          <a:xfrm>
            <a:off x="411480" y="5833872"/>
            <a:ext cx="82296" cy="530352"/>
          </a:xfrm>
          <a:prstGeom prst="rect">
            <a:avLst/>
          </a:prstGeom>
          <a:solidFill>
            <a:srgbClr val="E39A2F"/>
          </a:solidFill>
          <a:ln w="12700">
            <a:solidFill>
              <a:srgbClr val="E39A2F"/>
            </a:solidFill>
            <a:prstDash val="solid"/>
          </a:ln>
        </p:spPr>
      </p:sp>
      <p:sp>
        <p:nvSpPr>
          <p:cNvPr id="62" name="Text 6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third resistor is added in parallel. Explain what happens to the total resistance and to the current from the supply.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10.11, 10.14, 10.15 • series and parallel rules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16</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12 V</a:t>
            </a:r>
            <a:r>
              <a:rPr lang="en-US" sz="1250" dirty="0">
                <a:solidFill>
                  <a:srgbClr val="262B3A"/>
                </a:solidFill>
                <a:latin typeface="Calibri" pitchFamily="34" charset="0"/>
                <a:ea typeface="Calibri" pitchFamily="34" charset="-122"/>
                <a:cs typeface="Calibri" pitchFamily="34" charset="-120"/>
              </a:rPr>
              <a:t> battery is connected in series with a </a:t>
            </a:r>
            <a:r>
              <a:rPr lang="en-US" sz="1250" b="1" dirty="0">
                <a:solidFill>
                  <a:srgbClr val="262B3A"/>
                </a:solidFill>
                <a:latin typeface="Calibri" pitchFamily="34" charset="0"/>
                <a:ea typeface="Calibri" pitchFamily="34" charset="-122"/>
                <a:cs typeface="Calibri" pitchFamily="34" charset="-120"/>
              </a:rPr>
              <a:t>40 Ω</a:t>
            </a:r>
            <a:r>
              <a:rPr lang="en-US" sz="1250" dirty="0">
                <a:solidFill>
                  <a:srgbClr val="262B3A"/>
                </a:solidFill>
                <a:latin typeface="Calibri" pitchFamily="34" charset="0"/>
                <a:ea typeface="Calibri" pitchFamily="34" charset="-122"/>
                <a:cs typeface="Calibri" pitchFamily="34" charset="-120"/>
              </a:rPr>
              <a:t> and a </a:t>
            </a:r>
            <a:r>
              <a:rPr lang="en-US" sz="1250" b="1" dirty="0">
                <a:solidFill>
                  <a:srgbClr val="262B3A"/>
                </a:solidFill>
                <a:latin typeface="Calibri" pitchFamily="34" charset="0"/>
                <a:ea typeface="Calibri" pitchFamily="34" charset="-122"/>
                <a:cs typeface="Calibri" pitchFamily="34" charset="-120"/>
              </a:rPr>
              <a:t>20 Ω</a:t>
            </a:r>
            <a:r>
              <a:rPr lang="en-US" sz="1250" dirty="0">
                <a:solidFill>
                  <a:srgbClr val="262B3A"/>
                </a:solidFill>
                <a:latin typeface="Calibri" pitchFamily="34" charset="0"/>
                <a:ea typeface="Calibri" pitchFamily="34" charset="-122"/>
                <a:cs typeface="Calibri" pitchFamily="34" charset="-120"/>
              </a:rPr>
              <a:t> resistor. Calculate the current in the circuit and the p.d. across the 40 Ω resistor.</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a parallel circuit, the branch currents are </a:t>
            </a:r>
            <a:r>
              <a:rPr lang="en-US" sz="1250" b="1" dirty="0">
                <a:solidFill>
                  <a:srgbClr val="262B3A"/>
                </a:solidFill>
                <a:latin typeface="Calibri" pitchFamily="34" charset="0"/>
                <a:ea typeface="Calibri" pitchFamily="34" charset="-122"/>
                <a:cs typeface="Calibri" pitchFamily="34" charset="-120"/>
              </a:rPr>
              <a:t>0.35 A</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0.15 A</a:t>
            </a:r>
            <a:r>
              <a:rPr lang="en-US" sz="1250" dirty="0">
                <a:solidFill>
                  <a:srgbClr val="262B3A"/>
                </a:solidFill>
                <a:latin typeface="Calibri" pitchFamily="34" charset="0"/>
                <a:ea typeface="Calibri" pitchFamily="34" charset="-122"/>
                <a:cs typeface="Calibri" pitchFamily="34" charset="-120"/>
              </a:rPr>
              <a:t>. State the current from the supply.</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adding a resistor </a:t>
            </a:r>
            <a:r>
              <a:rPr lang="en-US" sz="1250" b="1" dirty="0">
                <a:solidFill>
                  <a:srgbClr val="262B3A"/>
                </a:solidFill>
                <a:latin typeface="Calibri" pitchFamily="34" charset="0"/>
                <a:ea typeface="Calibri" pitchFamily="34" charset="-122"/>
                <a:cs typeface="Calibri" pitchFamily="34" charset="-120"/>
              </a:rPr>
              <a:t>in parallel</a:t>
            </a:r>
            <a:r>
              <a:rPr lang="en-US" sz="1250" dirty="0">
                <a:solidFill>
                  <a:srgbClr val="262B3A"/>
                </a:solidFill>
                <a:latin typeface="Calibri" pitchFamily="34" charset="0"/>
                <a:ea typeface="Calibri" pitchFamily="34" charset="-122"/>
                <a:cs typeface="Calibri" pitchFamily="34" charset="-120"/>
              </a:rPr>
              <a:t> with another resistor </a:t>
            </a:r>
            <a:r>
              <a:rPr lang="en-US" sz="1250" b="1" dirty="0">
                <a:solidFill>
                  <a:srgbClr val="262B3A"/>
                </a:solidFill>
                <a:latin typeface="Calibri" pitchFamily="34" charset="0"/>
                <a:ea typeface="Calibri" pitchFamily="34" charset="-122"/>
                <a:cs typeface="Calibri" pitchFamily="34" charset="-120"/>
              </a:rPr>
              <a:t>decreases</a:t>
            </a:r>
            <a:r>
              <a:rPr lang="en-US" sz="1250" dirty="0">
                <a:solidFill>
                  <a:srgbClr val="262B3A"/>
                </a:solidFill>
                <a:latin typeface="Calibri" pitchFamily="34" charset="0"/>
                <a:ea typeface="Calibri" pitchFamily="34" charset="-122"/>
                <a:cs typeface="Calibri" pitchFamily="34" charset="-120"/>
              </a:rPr>
              <a:t> the total resistance of a circuit.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Core Practical: circuit and method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10.17 • investigate V, I and R for a resistor and a filament lamp</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10.17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test component (resistor, then filament lamp) with ammeter and voltmeter</a:t>
            </a:r>
            <a:endParaRPr lang="en-US" sz="1000" dirty="0"/>
          </a:p>
        </p:txBody>
      </p:sp>
      <p:sp>
        <p:nvSpPr>
          <p:cNvPr id="12" name="Shape 10"/>
          <p:cNvSpPr/>
          <p:nvPr/>
        </p:nvSpPr>
        <p:spPr>
          <a:xfrm>
            <a:off x="1097280" y="1783080"/>
            <a:ext cx="896112" cy="91"/>
          </a:xfrm>
          <a:prstGeom prst="line">
            <a:avLst/>
          </a:prstGeom>
          <a:noFill/>
          <a:ln w="19050">
            <a:solidFill>
              <a:srgbClr val="1A2340"/>
            </a:solidFill>
            <a:prstDash val="solid"/>
          </a:ln>
        </p:spPr>
      </p:sp>
      <p:sp>
        <p:nvSpPr>
          <p:cNvPr id="13" name="Shape 11"/>
          <p:cNvSpPr/>
          <p:nvPr/>
        </p:nvSpPr>
        <p:spPr>
          <a:xfrm>
            <a:off x="2304288" y="1783080"/>
            <a:ext cx="896112" cy="91"/>
          </a:xfrm>
          <a:prstGeom prst="line">
            <a:avLst/>
          </a:prstGeom>
          <a:noFill/>
          <a:ln w="19050">
            <a:solidFill>
              <a:srgbClr val="1A2340"/>
            </a:solidFill>
            <a:prstDash val="solid"/>
          </a:ln>
        </p:spPr>
      </p:sp>
      <p:sp>
        <p:nvSpPr>
          <p:cNvPr id="14" name="Shape 12"/>
          <p:cNvSpPr/>
          <p:nvPr/>
        </p:nvSpPr>
        <p:spPr>
          <a:xfrm>
            <a:off x="1993392" y="1581912"/>
            <a:ext cx="91" cy="402336"/>
          </a:xfrm>
          <a:prstGeom prst="line">
            <a:avLst/>
          </a:prstGeom>
          <a:noFill/>
          <a:ln w="19050">
            <a:solidFill>
              <a:srgbClr val="1A2340"/>
            </a:solidFill>
            <a:prstDash val="solid"/>
          </a:ln>
        </p:spPr>
      </p:sp>
      <p:sp>
        <p:nvSpPr>
          <p:cNvPr id="15" name="Shape 13"/>
          <p:cNvSpPr/>
          <p:nvPr/>
        </p:nvSpPr>
        <p:spPr>
          <a:xfrm>
            <a:off x="2084832" y="1682496"/>
            <a:ext cx="91" cy="201168"/>
          </a:xfrm>
          <a:prstGeom prst="line">
            <a:avLst/>
          </a:prstGeom>
          <a:noFill/>
          <a:ln w="57150">
            <a:solidFill>
              <a:srgbClr val="1A2340"/>
            </a:solidFill>
            <a:prstDash val="solid"/>
          </a:ln>
        </p:spPr>
      </p:sp>
      <p:sp>
        <p:nvSpPr>
          <p:cNvPr id="16" name="Shape 14"/>
          <p:cNvSpPr/>
          <p:nvPr/>
        </p:nvSpPr>
        <p:spPr>
          <a:xfrm>
            <a:off x="2084832" y="1783080"/>
            <a:ext cx="128016" cy="91"/>
          </a:xfrm>
          <a:prstGeom prst="line">
            <a:avLst/>
          </a:prstGeom>
          <a:noFill/>
          <a:ln w="19050">
            <a:solidFill>
              <a:srgbClr val="1A2340"/>
            </a:solidFill>
            <a:prstDash val="solid"/>
          </a:ln>
        </p:spPr>
      </p:sp>
      <p:sp>
        <p:nvSpPr>
          <p:cNvPr id="17" name="Shape 15"/>
          <p:cNvSpPr/>
          <p:nvPr/>
        </p:nvSpPr>
        <p:spPr>
          <a:xfrm>
            <a:off x="2212848" y="1581912"/>
            <a:ext cx="91" cy="402336"/>
          </a:xfrm>
          <a:prstGeom prst="line">
            <a:avLst/>
          </a:prstGeom>
          <a:noFill/>
          <a:ln w="19050">
            <a:solidFill>
              <a:srgbClr val="1A2340"/>
            </a:solidFill>
            <a:prstDash val="solid"/>
          </a:ln>
        </p:spPr>
      </p:sp>
      <p:sp>
        <p:nvSpPr>
          <p:cNvPr id="18" name="Shape 16"/>
          <p:cNvSpPr/>
          <p:nvPr/>
        </p:nvSpPr>
        <p:spPr>
          <a:xfrm>
            <a:off x="2304288" y="1682496"/>
            <a:ext cx="91" cy="201168"/>
          </a:xfrm>
          <a:prstGeom prst="line">
            <a:avLst/>
          </a:prstGeom>
          <a:noFill/>
          <a:ln w="57150">
            <a:solidFill>
              <a:srgbClr val="1A2340"/>
            </a:solidFill>
            <a:prstDash val="solid"/>
          </a:ln>
        </p:spPr>
      </p:sp>
      <p:sp>
        <p:nvSpPr>
          <p:cNvPr id="19" name="Text 17"/>
          <p:cNvSpPr/>
          <p:nvPr/>
        </p:nvSpPr>
        <p:spPr>
          <a:xfrm>
            <a:off x="1554480" y="133502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battery</a:t>
            </a:r>
            <a:endParaRPr lang="en-US" sz="1050" dirty="0"/>
          </a:p>
        </p:txBody>
      </p:sp>
      <p:sp>
        <p:nvSpPr>
          <p:cNvPr id="20" name="Shape 18"/>
          <p:cNvSpPr/>
          <p:nvPr/>
        </p:nvSpPr>
        <p:spPr>
          <a:xfrm>
            <a:off x="3200400" y="1783080"/>
            <a:ext cx="886968" cy="91"/>
          </a:xfrm>
          <a:prstGeom prst="line">
            <a:avLst/>
          </a:prstGeom>
          <a:noFill/>
          <a:ln w="19050">
            <a:solidFill>
              <a:srgbClr val="1A2340"/>
            </a:solidFill>
            <a:prstDash val="solid"/>
          </a:ln>
        </p:spPr>
      </p:sp>
      <p:sp>
        <p:nvSpPr>
          <p:cNvPr id="21" name="Shape 19"/>
          <p:cNvSpPr/>
          <p:nvPr/>
        </p:nvSpPr>
        <p:spPr>
          <a:xfrm>
            <a:off x="4416552" y="1783080"/>
            <a:ext cx="886968" cy="91"/>
          </a:xfrm>
          <a:prstGeom prst="line">
            <a:avLst/>
          </a:prstGeom>
          <a:noFill/>
          <a:ln w="19050">
            <a:solidFill>
              <a:srgbClr val="1A2340"/>
            </a:solidFill>
            <a:prstDash val="solid"/>
          </a:ln>
        </p:spPr>
      </p:sp>
      <p:sp>
        <p:nvSpPr>
          <p:cNvPr id="22" name="Shape 20"/>
          <p:cNvSpPr/>
          <p:nvPr/>
        </p:nvSpPr>
        <p:spPr>
          <a:xfrm>
            <a:off x="4055364" y="1751076"/>
            <a:ext cx="64008" cy="64008"/>
          </a:xfrm>
          <a:prstGeom prst="ellipse">
            <a:avLst/>
          </a:prstGeom>
          <a:solidFill>
            <a:srgbClr val="1A2340"/>
          </a:solidFill>
          <a:ln w="12700">
            <a:solidFill>
              <a:srgbClr val="1A2340"/>
            </a:solidFill>
            <a:prstDash val="solid"/>
          </a:ln>
        </p:spPr>
      </p:sp>
      <p:sp>
        <p:nvSpPr>
          <p:cNvPr id="23" name="Shape 21"/>
          <p:cNvSpPr/>
          <p:nvPr/>
        </p:nvSpPr>
        <p:spPr>
          <a:xfrm>
            <a:off x="4384548" y="1751076"/>
            <a:ext cx="64008" cy="64008"/>
          </a:xfrm>
          <a:prstGeom prst="ellipse">
            <a:avLst/>
          </a:prstGeom>
          <a:solidFill>
            <a:srgbClr val="1A2340"/>
          </a:solidFill>
          <a:ln w="12700">
            <a:solidFill>
              <a:srgbClr val="1A2340"/>
            </a:solidFill>
            <a:prstDash val="solid"/>
          </a:ln>
        </p:spPr>
      </p:sp>
      <p:sp>
        <p:nvSpPr>
          <p:cNvPr id="24" name="Shape 22"/>
          <p:cNvSpPr/>
          <p:nvPr/>
        </p:nvSpPr>
        <p:spPr>
          <a:xfrm flipV="1">
            <a:off x="4087368" y="1600200"/>
            <a:ext cx="304495" cy="182880"/>
          </a:xfrm>
          <a:prstGeom prst="line">
            <a:avLst/>
          </a:prstGeom>
          <a:noFill/>
          <a:ln w="19050">
            <a:solidFill>
              <a:srgbClr val="1A2340"/>
            </a:solidFill>
            <a:prstDash val="solid"/>
          </a:ln>
        </p:spPr>
      </p:sp>
      <p:sp>
        <p:nvSpPr>
          <p:cNvPr id="25" name="Text 23"/>
          <p:cNvSpPr/>
          <p:nvPr/>
        </p:nvSpPr>
        <p:spPr>
          <a:xfrm>
            <a:off x="3657600" y="1371600"/>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switch</a:t>
            </a:r>
            <a:endParaRPr lang="en-US" sz="1050" dirty="0"/>
          </a:p>
        </p:txBody>
      </p:sp>
      <p:sp>
        <p:nvSpPr>
          <p:cNvPr id="26" name="Shape 24"/>
          <p:cNvSpPr/>
          <p:nvPr/>
        </p:nvSpPr>
        <p:spPr>
          <a:xfrm>
            <a:off x="5303520" y="1783080"/>
            <a:ext cx="91" cy="576072"/>
          </a:xfrm>
          <a:prstGeom prst="line">
            <a:avLst/>
          </a:prstGeom>
          <a:noFill/>
          <a:ln w="19050">
            <a:solidFill>
              <a:srgbClr val="1A2340"/>
            </a:solidFill>
            <a:prstDash val="solid"/>
          </a:ln>
        </p:spPr>
      </p:sp>
      <p:sp>
        <p:nvSpPr>
          <p:cNvPr id="27" name="Shape 25"/>
          <p:cNvSpPr/>
          <p:nvPr/>
        </p:nvSpPr>
        <p:spPr>
          <a:xfrm>
            <a:off x="5303520" y="2852928"/>
            <a:ext cx="91" cy="576072"/>
          </a:xfrm>
          <a:prstGeom prst="line">
            <a:avLst/>
          </a:prstGeom>
          <a:noFill/>
          <a:ln w="19050">
            <a:solidFill>
              <a:srgbClr val="1A2340"/>
            </a:solidFill>
            <a:prstDash val="solid"/>
          </a:ln>
        </p:spPr>
      </p:sp>
      <p:sp>
        <p:nvSpPr>
          <p:cNvPr id="28" name="Shape 26"/>
          <p:cNvSpPr/>
          <p:nvPr/>
        </p:nvSpPr>
        <p:spPr>
          <a:xfrm>
            <a:off x="5212080" y="2359152"/>
            <a:ext cx="182880" cy="493776"/>
          </a:xfrm>
          <a:prstGeom prst="rect">
            <a:avLst/>
          </a:prstGeom>
          <a:solidFill>
            <a:srgbClr val="FFFFFF"/>
          </a:solidFill>
          <a:ln w="19050">
            <a:solidFill>
              <a:srgbClr val="1A2340"/>
            </a:solidFill>
            <a:prstDash val="solid"/>
          </a:ln>
        </p:spPr>
      </p:sp>
      <p:sp>
        <p:nvSpPr>
          <p:cNvPr id="29" name="Shape 27"/>
          <p:cNvSpPr/>
          <p:nvPr/>
        </p:nvSpPr>
        <p:spPr>
          <a:xfrm>
            <a:off x="5102352" y="2313432"/>
            <a:ext cx="420624" cy="603504"/>
          </a:xfrm>
          <a:prstGeom prst="line">
            <a:avLst/>
          </a:prstGeom>
          <a:noFill/>
          <a:ln w="15875">
            <a:solidFill>
              <a:srgbClr val="1A2340"/>
            </a:solidFill>
            <a:prstDash val="solid"/>
            <a:tailEnd type="triangle"/>
          </a:ln>
        </p:spPr>
      </p:sp>
      <p:sp>
        <p:nvSpPr>
          <p:cNvPr id="30" name="Text 28"/>
          <p:cNvSpPr/>
          <p:nvPr/>
        </p:nvSpPr>
        <p:spPr>
          <a:xfrm>
            <a:off x="4096512" y="2377440"/>
            <a:ext cx="822960" cy="457200"/>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variable</a:t>
            </a:r>
            <a:endParaRPr lang="en-US" sz="1050" dirty="0"/>
          </a:p>
          <a:p>
            <a:pPr algn="r" indent="0" marL="0">
              <a:buNone/>
            </a:pPr>
            <a:r>
              <a:rPr lang="en-US" sz="1050" b="1" dirty="0">
                <a:solidFill>
                  <a:srgbClr val="1A2340"/>
                </a:solidFill>
                <a:latin typeface="Calibri" pitchFamily="34" charset="0"/>
                <a:ea typeface="Calibri" pitchFamily="34" charset="-122"/>
                <a:cs typeface="Calibri" pitchFamily="34" charset="-120"/>
              </a:rPr>
              <a:t>resistor</a:t>
            </a:r>
            <a:endParaRPr lang="en-US" sz="1050" dirty="0"/>
          </a:p>
        </p:txBody>
      </p:sp>
      <p:sp>
        <p:nvSpPr>
          <p:cNvPr id="31" name="Shape 29"/>
          <p:cNvSpPr/>
          <p:nvPr/>
        </p:nvSpPr>
        <p:spPr>
          <a:xfrm flipH="1">
            <a:off x="4270248" y="3429000"/>
            <a:ext cx="1033272" cy="91"/>
          </a:xfrm>
          <a:prstGeom prst="line">
            <a:avLst/>
          </a:prstGeom>
          <a:noFill/>
          <a:ln w="19050">
            <a:solidFill>
              <a:srgbClr val="1A2340"/>
            </a:solidFill>
            <a:prstDash val="solid"/>
          </a:ln>
        </p:spPr>
      </p:sp>
      <p:sp>
        <p:nvSpPr>
          <p:cNvPr id="32" name="Shape 30"/>
          <p:cNvSpPr/>
          <p:nvPr/>
        </p:nvSpPr>
        <p:spPr>
          <a:xfrm flipH="1">
            <a:off x="2743200" y="3429000"/>
            <a:ext cx="1033272" cy="91"/>
          </a:xfrm>
          <a:prstGeom prst="line">
            <a:avLst/>
          </a:prstGeom>
          <a:noFill/>
          <a:ln w="19050">
            <a:solidFill>
              <a:srgbClr val="1A2340"/>
            </a:solidFill>
            <a:prstDash val="solid"/>
          </a:ln>
        </p:spPr>
      </p:sp>
      <p:sp>
        <p:nvSpPr>
          <p:cNvPr id="33" name="Shape 31"/>
          <p:cNvSpPr/>
          <p:nvPr/>
        </p:nvSpPr>
        <p:spPr>
          <a:xfrm>
            <a:off x="3776472" y="3337560"/>
            <a:ext cx="493776" cy="182880"/>
          </a:xfrm>
          <a:prstGeom prst="rect">
            <a:avLst/>
          </a:prstGeom>
          <a:solidFill>
            <a:srgbClr val="FFFFFF"/>
          </a:solidFill>
          <a:ln w="19050">
            <a:solidFill>
              <a:srgbClr val="1A2340"/>
            </a:solidFill>
            <a:prstDash val="solid"/>
          </a:ln>
        </p:spPr>
      </p:sp>
      <p:sp>
        <p:nvSpPr>
          <p:cNvPr id="34" name="Text 32"/>
          <p:cNvSpPr/>
          <p:nvPr/>
        </p:nvSpPr>
        <p:spPr>
          <a:xfrm>
            <a:off x="3291840" y="3602736"/>
            <a:ext cx="146304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test component</a:t>
            </a:r>
            <a:endParaRPr lang="en-US" sz="1050" dirty="0"/>
          </a:p>
        </p:txBody>
      </p:sp>
      <p:sp>
        <p:nvSpPr>
          <p:cNvPr id="35" name="Shape 33"/>
          <p:cNvSpPr/>
          <p:nvPr/>
        </p:nvSpPr>
        <p:spPr>
          <a:xfrm flipH="1">
            <a:off x="2093976" y="3429000"/>
            <a:ext cx="649224" cy="91"/>
          </a:xfrm>
          <a:prstGeom prst="line">
            <a:avLst/>
          </a:prstGeom>
          <a:noFill/>
          <a:ln w="19050">
            <a:solidFill>
              <a:srgbClr val="1A2340"/>
            </a:solidFill>
            <a:prstDash val="solid"/>
          </a:ln>
        </p:spPr>
      </p:sp>
      <p:sp>
        <p:nvSpPr>
          <p:cNvPr id="36" name="Shape 34"/>
          <p:cNvSpPr/>
          <p:nvPr/>
        </p:nvSpPr>
        <p:spPr>
          <a:xfrm flipH="1">
            <a:off x="1097280" y="3429000"/>
            <a:ext cx="649224" cy="91"/>
          </a:xfrm>
          <a:prstGeom prst="line">
            <a:avLst/>
          </a:prstGeom>
          <a:noFill/>
          <a:ln w="19050">
            <a:solidFill>
              <a:srgbClr val="1A2340"/>
            </a:solidFill>
            <a:prstDash val="solid"/>
          </a:ln>
        </p:spPr>
      </p:sp>
      <p:sp>
        <p:nvSpPr>
          <p:cNvPr id="37" name="Shape 35"/>
          <p:cNvSpPr/>
          <p:nvPr/>
        </p:nvSpPr>
        <p:spPr>
          <a:xfrm>
            <a:off x="1746504" y="3255264"/>
            <a:ext cx="347472" cy="347472"/>
          </a:xfrm>
          <a:prstGeom prst="ellipse">
            <a:avLst/>
          </a:prstGeom>
          <a:solidFill>
            <a:srgbClr val="FFFFFF"/>
          </a:solidFill>
          <a:ln w="19050">
            <a:solidFill>
              <a:srgbClr val="1A2340"/>
            </a:solidFill>
            <a:prstDash val="solid"/>
          </a:ln>
        </p:spPr>
      </p:sp>
      <p:sp>
        <p:nvSpPr>
          <p:cNvPr id="38" name="Text 36"/>
          <p:cNvSpPr/>
          <p:nvPr/>
        </p:nvSpPr>
        <p:spPr>
          <a:xfrm>
            <a:off x="1737360" y="324612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39" name="Text 37"/>
          <p:cNvSpPr/>
          <p:nvPr/>
        </p:nvSpPr>
        <p:spPr>
          <a:xfrm>
            <a:off x="1325880" y="3675888"/>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ammeter</a:t>
            </a:r>
            <a:endParaRPr lang="en-US" sz="1050" dirty="0"/>
          </a:p>
        </p:txBody>
      </p:sp>
      <p:sp>
        <p:nvSpPr>
          <p:cNvPr id="40" name="Shape 38"/>
          <p:cNvSpPr/>
          <p:nvPr/>
        </p:nvSpPr>
        <p:spPr>
          <a:xfrm>
            <a:off x="1097280" y="1783080"/>
            <a:ext cx="91" cy="1645920"/>
          </a:xfrm>
          <a:prstGeom prst="line">
            <a:avLst/>
          </a:prstGeom>
          <a:noFill/>
          <a:ln w="19050">
            <a:solidFill>
              <a:srgbClr val="1A2340"/>
            </a:solidFill>
            <a:prstDash val="solid"/>
          </a:ln>
        </p:spPr>
      </p:sp>
      <p:sp>
        <p:nvSpPr>
          <p:cNvPr id="41" name="Shape 39"/>
          <p:cNvSpPr/>
          <p:nvPr/>
        </p:nvSpPr>
        <p:spPr>
          <a:xfrm>
            <a:off x="3378708" y="3378708"/>
            <a:ext cx="100584" cy="100584"/>
          </a:xfrm>
          <a:prstGeom prst="ellipse">
            <a:avLst/>
          </a:prstGeom>
          <a:solidFill>
            <a:srgbClr val="1A2340"/>
          </a:solidFill>
          <a:ln w="6350">
            <a:solidFill>
              <a:srgbClr val="1A2340"/>
            </a:solidFill>
            <a:prstDash val="solid"/>
          </a:ln>
        </p:spPr>
      </p:sp>
      <p:sp>
        <p:nvSpPr>
          <p:cNvPr id="42" name="Shape 40"/>
          <p:cNvSpPr/>
          <p:nvPr/>
        </p:nvSpPr>
        <p:spPr>
          <a:xfrm>
            <a:off x="4567428" y="3378708"/>
            <a:ext cx="100584" cy="100584"/>
          </a:xfrm>
          <a:prstGeom prst="ellipse">
            <a:avLst/>
          </a:prstGeom>
          <a:solidFill>
            <a:srgbClr val="1A2340"/>
          </a:solidFill>
          <a:ln w="6350">
            <a:solidFill>
              <a:srgbClr val="1A2340"/>
            </a:solidFill>
            <a:prstDash val="solid"/>
          </a:ln>
        </p:spPr>
      </p:sp>
      <p:sp>
        <p:nvSpPr>
          <p:cNvPr id="43" name="Shape 41"/>
          <p:cNvSpPr/>
          <p:nvPr/>
        </p:nvSpPr>
        <p:spPr>
          <a:xfrm>
            <a:off x="3429000" y="3429000"/>
            <a:ext cx="91" cy="1005840"/>
          </a:xfrm>
          <a:prstGeom prst="line">
            <a:avLst/>
          </a:prstGeom>
          <a:noFill/>
          <a:ln w="19050">
            <a:solidFill>
              <a:srgbClr val="1A2340"/>
            </a:solidFill>
            <a:prstDash val="solid"/>
          </a:ln>
        </p:spPr>
      </p:sp>
      <p:sp>
        <p:nvSpPr>
          <p:cNvPr id="44" name="Shape 42"/>
          <p:cNvSpPr/>
          <p:nvPr/>
        </p:nvSpPr>
        <p:spPr>
          <a:xfrm>
            <a:off x="4617720" y="3429000"/>
            <a:ext cx="91" cy="1005840"/>
          </a:xfrm>
          <a:prstGeom prst="line">
            <a:avLst/>
          </a:prstGeom>
          <a:noFill/>
          <a:ln w="19050">
            <a:solidFill>
              <a:srgbClr val="1A2340"/>
            </a:solidFill>
            <a:prstDash val="solid"/>
          </a:ln>
        </p:spPr>
      </p:sp>
      <p:sp>
        <p:nvSpPr>
          <p:cNvPr id="45" name="Shape 43"/>
          <p:cNvSpPr/>
          <p:nvPr/>
        </p:nvSpPr>
        <p:spPr>
          <a:xfrm>
            <a:off x="3429000" y="4434840"/>
            <a:ext cx="420624" cy="91"/>
          </a:xfrm>
          <a:prstGeom prst="line">
            <a:avLst/>
          </a:prstGeom>
          <a:noFill/>
          <a:ln w="19050">
            <a:solidFill>
              <a:srgbClr val="1A2340"/>
            </a:solidFill>
            <a:prstDash val="solid"/>
          </a:ln>
        </p:spPr>
      </p:sp>
      <p:sp>
        <p:nvSpPr>
          <p:cNvPr id="46" name="Shape 44"/>
          <p:cNvSpPr/>
          <p:nvPr/>
        </p:nvSpPr>
        <p:spPr>
          <a:xfrm>
            <a:off x="4197096" y="4434840"/>
            <a:ext cx="420624" cy="91"/>
          </a:xfrm>
          <a:prstGeom prst="line">
            <a:avLst/>
          </a:prstGeom>
          <a:noFill/>
          <a:ln w="19050">
            <a:solidFill>
              <a:srgbClr val="1A2340"/>
            </a:solidFill>
            <a:prstDash val="solid"/>
          </a:ln>
        </p:spPr>
      </p:sp>
      <p:sp>
        <p:nvSpPr>
          <p:cNvPr id="47" name="Shape 45"/>
          <p:cNvSpPr/>
          <p:nvPr/>
        </p:nvSpPr>
        <p:spPr>
          <a:xfrm>
            <a:off x="3849624" y="4261104"/>
            <a:ext cx="347472" cy="347472"/>
          </a:xfrm>
          <a:prstGeom prst="ellipse">
            <a:avLst/>
          </a:prstGeom>
          <a:solidFill>
            <a:srgbClr val="FFFFFF"/>
          </a:solidFill>
          <a:ln w="19050">
            <a:solidFill>
              <a:srgbClr val="1A2340"/>
            </a:solidFill>
            <a:prstDash val="solid"/>
          </a:ln>
        </p:spPr>
      </p:sp>
      <p:sp>
        <p:nvSpPr>
          <p:cNvPr id="48" name="Text 46"/>
          <p:cNvSpPr/>
          <p:nvPr/>
        </p:nvSpPr>
        <p:spPr>
          <a:xfrm>
            <a:off x="3840480" y="425196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V</a:t>
            </a:r>
            <a:endParaRPr lang="en-US" sz="1300" dirty="0"/>
          </a:p>
        </p:txBody>
      </p:sp>
      <p:sp>
        <p:nvSpPr>
          <p:cNvPr id="49" name="Text 47"/>
          <p:cNvSpPr/>
          <p:nvPr/>
        </p:nvSpPr>
        <p:spPr>
          <a:xfrm>
            <a:off x="3566160" y="3986784"/>
            <a:ext cx="91440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voltmeter</a:t>
            </a:r>
            <a:endParaRPr lang="en-US" sz="1050" dirty="0"/>
          </a:p>
        </p:txBody>
      </p:sp>
      <p:sp>
        <p:nvSpPr>
          <p:cNvPr id="50" name="Shape 48"/>
          <p:cNvSpPr/>
          <p:nvPr/>
        </p:nvSpPr>
        <p:spPr>
          <a:xfrm>
            <a:off x="685800" y="4160520"/>
            <a:ext cx="2194560" cy="822960"/>
          </a:xfrm>
          <a:prstGeom prst="roundRect">
            <a:avLst>
              <a:gd name="adj" fmla="val 5556"/>
            </a:avLst>
          </a:prstGeom>
          <a:solidFill>
            <a:srgbClr val="FFFFFF"/>
          </a:solidFill>
          <a:ln w="12700">
            <a:solidFill>
              <a:srgbClr val="D5DCEB"/>
            </a:solidFill>
            <a:prstDash val="solid"/>
          </a:ln>
        </p:spPr>
      </p:sp>
      <p:sp>
        <p:nvSpPr>
          <p:cNvPr id="51" name="Shape 49"/>
          <p:cNvSpPr/>
          <p:nvPr/>
        </p:nvSpPr>
        <p:spPr>
          <a:xfrm>
            <a:off x="960120" y="4663440"/>
            <a:ext cx="294437" cy="91"/>
          </a:xfrm>
          <a:prstGeom prst="line">
            <a:avLst/>
          </a:prstGeom>
          <a:noFill/>
          <a:ln w="19050">
            <a:solidFill>
              <a:srgbClr val="1A2340"/>
            </a:solidFill>
            <a:prstDash val="solid"/>
          </a:ln>
        </p:spPr>
      </p:sp>
      <p:sp>
        <p:nvSpPr>
          <p:cNvPr id="52" name="Shape 50"/>
          <p:cNvSpPr/>
          <p:nvPr/>
        </p:nvSpPr>
        <p:spPr>
          <a:xfrm>
            <a:off x="1534363" y="4663440"/>
            <a:ext cx="294437" cy="91"/>
          </a:xfrm>
          <a:prstGeom prst="line">
            <a:avLst/>
          </a:prstGeom>
          <a:noFill/>
          <a:ln w="19050">
            <a:solidFill>
              <a:srgbClr val="1A2340"/>
            </a:solidFill>
            <a:prstDash val="solid"/>
          </a:ln>
        </p:spPr>
      </p:sp>
      <p:sp>
        <p:nvSpPr>
          <p:cNvPr id="53" name="Shape 51"/>
          <p:cNvSpPr/>
          <p:nvPr/>
        </p:nvSpPr>
        <p:spPr>
          <a:xfrm>
            <a:off x="1254557" y="4523537"/>
            <a:ext cx="279806" cy="279806"/>
          </a:xfrm>
          <a:prstGeom prst="ellipse">
            <a:avLst/>
          </a:prstGeom>
          <a:solidFill>
            <a:srgbClr val="FFFFFF"/>
          </a:solidFill>
          <a:ln w="19050">
            <a:solidFill>
              <a:srgbClr val="1A2340"/>
            </a:solidFill>
            <a:prstDash val="solid"/>
          </a:ln>
        </p:spPr>
      </p:sp>
      <p:sp>
        <p:nvSpPr>
          <p:cNvPr id="54" name="Shape 52"/>
          <p:cNvSpPr/>
          <p:nvPr/>
        </p:nvSpPr>
        <p:spPr>
          <a:xfrm>
            <a:off x="1295534" y="4564514"/>
            <a:ext cx="197851" cy="197851"/>
          </a:xfrm>
          <a:prstGeom prst="line">
            <a:avLst/>
          </a:prstGeom>
          <a:noFill/>
          <a:ln w="19050">
            <a:solidFill>
              <a:srgbClr val="1A2340"/>
            </a:solidFill>
            <a:prstDash val="solid"/>
          </a:ln>
        </p:spPr>
      </p:sp>
      <p:sp>
        <p:nvSpPr>
          <p:cNvPr id="55" name="Shape 53"/>
          <p:cNvSpPr/>
          <p:nvPr/>
        </p:nvSpPr>
        <p:spPr>
          <a:xfrm flipV="1">
            <a:off x="1295534" y="4564514"/>
            <a:ext cx="197851" cy="197851"/>
          </a:xfrm>
          <a:prstGeom prst="line">
            <a:avLst/>
          </a:prstGeom>
          <a:noFill/>
          <a:ln w="19050">
            <a:solidFill>
              <a:srgbClr val="1A2340"/>
            </a:solidFill>
            <a:prstDash val="solid"/>
          </a:ln>
        </p:spPr>
      </p:sp>
      <p:sp>
        <p:nvSpPr>
          <p:cNvPr id="56" name="Text 54"/>
          <p:cNvSpPr/>
          <p:nvPr/>
        </p:nvSpPr>
        <p:spPr>
          <a:xfrm>
            <a:off x="731520" y="4187952"/>
            <a:ext cx="2103120" cy="256032"/>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then swap in a lamp:</a:t>
            </a:r>
            <a:endParaRPr lang="en-US" sz="1000" dirty="0"/>
          </a:p>
        </p:txBody>
      </p:sp>
      <p:sp>
        <p:nvSpPr>
          <p:cNvPr id="57" name="Text 55"/>
          <p:cNvSpPr/>
          <p:nvPr/>
        </p:nvSpPr>
        <p:spPr>
          <a:xfrm>
            <a:off x="1920240" y="4480560"/>
            <a:ext cx="914400"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filament</a:t>
            </a:r>
            <a:endParaRPr lang="en-US" sz="1000" dirty="0"/>
          </a:p>
          <a:p>
            <a:pPr algn="l" indent="0" marL="0">
              <a:buNone/>
            </a:pPr>
            <a:r>
              <a:rPr lang="en-US" sz="1000" dirty="0">
                <a:solidFill>
                  <a:srgbClr val="262B3A"/>
                </a:solidFill>
                <a:latin typeface="Calibri" pitchFamily="34" charset="0"/>
                <a:ea typeface="Calibri" pitchFamily="34" charset="-122"/>
                <a:cs typeface="Calibri" pitchFamily="34" charset="-120"/>
              </a:rPr>
              <a:t>lamp</a:t>
            </a:r>
            <a:endParaRPr lang="en-US" sz="1000" dirty="0"/>
          </a:p>
        </p:txBody>
      </p:sp>
      <p:sp>
        <p:nvSpPr>
          <p:cNvPr id="58" name="Shape 5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9" name="Text 5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 (part a)</a:t>
            </a:r>
            <a:endParaRPr lang="en-US" sz="1300" dirty="0"/>
          </a:p>
        </p:txBody>
      </p:sp>
      <p:sp>
        <p:nvSpPr>
          <p:cNvPr id="60" name="Text 5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Set up the circuit. Close the switch only while taking readings.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Adjust the </a:t>
            </a:r>
            <a:r>
              <a:rPr lang="en-US" sz="1150" b="1" dirty="0">
                <a:solidFill>
                  <a:srgbClr val="262B3A"/>
                </a:solidFill>
                <a:latin typeface="Calibri" pitchFamily="34" charset="0"/>
                <a:ea typeface="Calibri" pitchFamily="34" charset="-122"/>
                <a:cs typeface="Calibri" pitchFamily="34" charset="-120"/>
              </a:rPr>
              <a:t>variable resistor</a:t>
            </a:r>
            <a:r>
              <a:rPr lang="en-US" sz="1150" dirty="0">
                <a:solidFill>
                  <a:srgbClr val="262B3A"/>
                </a:solidFill>
                <a:latin typeface="Calibri" pitchFamily="34" charset="0"/>
                <a:ea typeface="Calibri" pitchFamily="34" charset="-122"/>
                <a:cs typeface="Calibri" pitchFamily="34" charset="-120"/>
              </a:rPr>
              <a:t> to change the current. Record the </a:t>
            </a:r>
            <a:r>
              <a:rPr lang="en-US" sz="1150" b="1" dirty="0">
                <a:solidFill>
                  <a:srgbClr val="262B3A"/>
                </a:solidFill>
                <a:latin typeface="Calibri" pitchFamily="34" charset="0"/>
                <a:ea typeface="Calibri" pitchFamily="34" charset="-122"/>
                <a:cs typeface="Calibri" pitchFamily="34" charset="-120"/>
              </a:rPr>
              <a:t>p.d.</a:t>
            </a:r>
            <a:r>
              <a:rPr lang="en-US" sz="1150" dirty="0">
                <a:solidFill>
                  <a:srgbClr val="262B3A"/>
                </a:solidFill>
                <a:latin typeface="Calibri" pitchFamily="34" charset="0"/>
                <a:ea typeface="Calibri" pitchFamily="34" charset="-122"/>
                <a:cs typeface="Calibri" pitchFamily="34" charset="-120"/>
              </a:rPr>
              <a:t> (voltmeter) and </a:t>
            </a:r>
            <a:r>
              <a:rPr lang="en-US" sz="1150" b="1" dirty="0">
                <a:solidFill>
                  <a:srgbClr val="262B3A"/>
                </a:solidFill>
                <a:latin typeface="Calibri" pitchFamily="34" charset="0"/>
                <a:ea typeface="Calibri" pitchFamily="34" charset="-122"/>
                <a:cs typeface="Calibri" pitchFamily="34" charset="-120"/>
              </a:rPr>
              <a:t>current</a:t>
            </a:r>
            <a:r>
              <a:rPr lang="en-US" sz="1150" dirty="0">
                <a:solidFill>
                  <a:srgbClr val="262B3A"/>
                </a:solidFill>
                <a:latin typeface="Calibri" pitchFamily="34" charset="0"/>
                <a:ea typeface="Calibri" pitchFamily="34" charset="-122"/>
                <a:cs typeface="Calibri" pitchFamily="34" charset="-120"/>
              </a:rPr>
              <a:t> (ammeter).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Take readings for about 6–8 different settings, from 0 V upwards.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Reverse the battery connections and repeat to get negative values.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Calculate </a:t>
            </a:r>
            <a:r>
              <a:rPr lang="en-US" sz="1150" b="1" dirty="0">
                <a:solidFill>
                  <a:srgbClr val="262B3A"/>
                </a:solidFill>
                <a:latin typeface="Calibri" pitchFamily="34" charset="0"/>
                <a:ea typeface="Calibri" pitchFamily="34" charset="-122"/>
                <a:cs typeface="Calibri" pitchFamily="34" charset="-120"/>
              </a:rPr>
              <a:t>R = V ÷ I</a:t>
            </a:r>
            <a:r>
              <a:rPr lang="en-US" sz="1150" dirty="0">
                <a:solidFill>
                  <a:srgbClr val="262B3A"/>
                </a:solidFill>
                <a:latin typeface="Calibri" pitchFamily="34" charset="0"/>
                <a:ea typeface="Calibri" pitchFamily="34" charset="-122"/>
                <a:cs typeface="Calibri" pitchFamily="34" charset="-120"/>
              </a:rPr>
              <a:t> for each pair. Repeat with a </a:t>
            </a:r>
            <a:r>
              <a:rPr lang="en-US" sz="1150" b="1" dirty="0">
                <a:solidFill>
                  <a:srgbClr val="262B3A"/>
                </a:solidFill>
                <a:latin typeface="Calibri" pitchFamily="34" charset="0"/>
                <a:ea typeface="Calibri" pitchFamily="34" charset="-122"/>
                <a:cs typeface="Calibri" pitchFamily="34" charset="-120"/>
              </a:rPr>
              <a:t>filament lamp</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Plot </a:t>
            </a:r>
            <a:r>
              <a:rPr lang="en-US" sz="1150" b="1" dirty="0">
                <a:solidFill>
                  <a:srgbClr val="262B3A"/>
                </a:solidFill>
                <a:latin typeface="Calibri" pitchFamily="34" charset="0"/>
                <a:ea typeface="Calibri" pitchFamily="34" charset="-122"/>
                <a:cs typeface="Calibri" pitchFamily="34" charset="-120"/>
              </a:rPr>
              <a:t>current (y-axis)</a:t>
            </a:r>
            <a:r>
              <a:rPr lang="en-US" sz="1150" dirty="0">
                <a:solidFill>
                  <a:srgbClr val="262B3A"/>
                </a:solidFill>
                <a:latin typeface="Calibri" pitchFamily="34" charset="0"/>
                <a:ea typeface="Calibri" pitchFamily="34" charset="-122"/>
                <a:cs typeface="Calibri" pitchFamily="34" charset="-120"/>
              </a:rPr>
              <a:t> against </a:t>
            </a:r>
            <a:r>
              <a:rPr lang="en-US" sz="1150" b="1" dirty="0">
                <a:solidFill>
                  <a:srgbClr val="262B3A"/>
                </a:solidFill>
                <a:latin typeface="Calibri" pitchFamily="34" charset="0"/>
                <a:ea typeface="Calibri" pitchFamily="34" charset="-122"/>
                <a:cs typeface="Calibri" pitchFamily="34" charset="-120"/>
              </a:rPr>
              <a:t>p.d. (x-axis)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61" name="Shape 5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2" name="Text 6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Tips for accurate results</a:t>
            </a:r>
            <a:endParaRPr lang="en-US" sz="1300" dirty="0"/>
          </a:p>
        </p:txBody>
      </p:sp>
      <p:sp>
        <p:nvSpPr>
          <p:cNvPr id="63" name="Text 61"/>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Switch off   </a:t>
            </a:r>
            <a:r>
              <a:rPr lang="en-US" sz="1100" dirty="0">
                <a:solidFill>
                  <a:srgbClr val="262B3A"/>
                </a:solidFill>
                <a:latin typeface="Calibri" pitchFamily="34" charset="0"/>
                <a:ea typeface="Calibri" pitchFamily="34" charset="-122"/>
                <a:cs typeface="Calibri" pitchFamily="34" charset="-120"/>
              </a:rPr>
              <a:t>between readings so the resistor does not warm up</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Zero   </a:t>
            </a:r>
            <a:r>
              <a:rPr lang="en-US" sz="1100" dirty="0">
                <a:solidFill>
                  <a:srgbClr val="262B3A"/>
                </a:solidFill>
                <a:latin typeface="Calibri" pitchFamily="34" charset="0"/>
                <a:ea typeface="Calibri" pitchFamily="34" charset="-122"/>
                <a:cs typeface="Calibri" pitchFamily="34" charset="-120"/>
              </a:rPr>
              <a:t>check meters read 0 with the switch open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Range   </a:t>
            </a:r>
            <a:r>
              <a:rPr lang="en-US" sz="1100" dirty="0">
                <a:solidFill>
                  <a:srgbClr val="262B3A"/>
                </a:solidFill>
                <a:latin typeface="Calibri" pitchFamily="34" charset="0"/>
                <a:ea typeface="Calibri" pitchFamily="34" charset="-122"/>
                <a:cs typeface="Calibri" pitchFamily="34" charset="-120"/>
              </a:rPr>
              <a:t>use a wide range of p.d. values, evenly spaced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repeat each reading and calculate a mean</a:t>
            </a:r>
            <a:endParaRPr lang="en-US" sz="1100" dirty="0"/>
          </a:p>
        </p:txBody>
      </p:sp>
      <p:sp>
        <p:nvSpPr>
          <p:cNvPr id="64" name="Shape 62"/>
          <p:cNvSpPr/>
          <p:nvPr/>
        </p:nvSpPr>
        <p:spPr>
          <a:xfrm>
            <a:off x="411480" y="5833872"/>
            <a:ext cx="11368735" cy="530352"/>
          </a:xfrm>
          <a:prstGeom prst="rect">
            <a:avLst/>
          </a:prstGeom>
          <a:solidFill>
            <a:srgbClr val="FFF4E0"/>
          </a:solidFill>
          <a:ln w="6350">
            <a:solidFill>
              <a:srgbClr val="F1D9A8"/>
            </a:solidFill>
            <a:prstDash val="solid"/>
          </a:ln>
        </p:spPr>
      </p:sp>
      <p:sp>
        <p:nvSpPr>
          <p:cNvPr id="65" name="Shape 63"/>
          <p:cNvSpPr/>
          <p:nvPr/>
        </p:nvSpPr>
        <p:spPr>
          <a:xfrm>
            <a:off x="411480" y="5833872"/>
            <a:ext cx="82296" cy="530352"/>
          </a:xfrm>
          <a:prstGeom prst="rect">
            <a:avLst/>
          </a:prstGeom>
          <a:solidFill>
            <a:srgbClr val="E39A2F"/>
          </a:solidFill>
          <a:ln w="12700">
            <a:solidFill>
              <a:srgbClr val="E39A2F"/>
            </a:solidFill>
            <a:prstDash val="solid"/>
          </a:ln>
        </p:spPr>
      </p:sp>
      <p:sp>
        <p:nvSpPr>
          <p:cNvPr id="66" name="Text 6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What is the variable resistor for in this circuit? Why is the voltmeter not in the main loop?</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Core Practical: variables and testing circuits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10.17 • part (b): test series and parallel circuits using resistors and filament lamps</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10.17  |  18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what you change, measure and keep the same in part (a)</a:t>
            </a:r>
            <a:endParaRPr lang="en-US" sz="1000" dirty="0"/>
          </a:p>
        </p:txBody>
      </p:sp>
      <p:sp>
        <p:nvSpPr>
          <p:cNvPr id="12" name="Shape 10"/>
          <p:cNvSpPr/>
          <p:nvPr/>
        </p:nvSpPr>
        <p:spPr>
          <a:xfrm>
            <a:off x="685800" y="1371600"/>
            <a:ext cx="5029200" cy="1051560"/>
          </a:xfrm>
          <a:prstGeom prst="roundRect">
            <a:avLst>
              <a:gd name="adj" fmla="val 5217"/>
            </a:avLst>
          </a:prstGeom>
          <a:solidFill>
            <a:srgbClr val="FFFFFF"/>
          </a:solidFill>
          <a:ln w="19050">
            <a:solidFill>
              <a:srgbClr val="2E5BD8"/>
            </a:solidFill>
            <a:prstDash val="solid"/>
          </a:ln>
        </p:spPr>
      </p:sp>
      <p:sp>
        <p:nvSpPr>
          <p:cNvPr id="13" name="Shape 11"/>
          <p:cNvSpPr/>
          <p:nvPr/>
        </p:nvSpPr>
        <p:spPr>
          <a:xfrm>
            <a:off x="685800" y="1371600"/>
            <a:ext cx="109728" cy="1051560"/>
          </a:xfrm>
          <a:prstGeom prst="rect">
            <a:avLst/>
          </a:prstGeom>
          <a:solidFill>
            <a:srgbClr val="2E5BD8"/>
          </a:solidFill>
          <a:ln/>
        </p:spPr>
      </p:sp>
      <p:sp>
        <p:nvSpPr>
          <p:cNvPr id="14" name="Text 12"/>
          <p:cNvSpPr/>
          <p:nvPr/>
        </p:nvSpPr>
        <p:spPr>
          <a:xfrm>
            <a:off x="914400" y="1426464"/>
            <a:ext cx="4663440" cy="941832"/>
          </a:xfrm>
          <a:prstGeom prst="rect">
            <a:avLst/>
          </a:prstGeom>
          <a:noFill/>
          <a:ln/>
        </p:spPr>
        <p:txBody>
          <a:bodyPr wrap="square" lIns="0" tIns="0" rIns="0" bIns="0" rtlCol="0" anchor="ctr"/>
          <a:lstStyle/>
          <a:p>
            <a:pPr indent="0" marL="0">
              <a:buNone/>
            </a:pPr>
            <a:r>
              <a:rPr lang="en-US" sz="1250" b="1" dirty="0">
                <a:solidFill>
                  <a:srgbClr val="2E5BD8"/>
                </a:solidFill>
                <a:latin typeface="Calibri" pitchFamily="34" charset="0"/>
                <a:ea typeface="Calibri" pitchFamily="34" charset="-122"/>
                <a:cs typeface="Calibri" pitchFamily="34" charset="-120"/>
              </a:rPr>
              <a:t>Independent variable (you change)</a:t>
            </a:r>
            <a:endParaRPr lang="en-US" sz="1250" dirty="0"/>
          </a:p>
          <a:p>
            <a:pPr indent="0" marL="0">
              <a:buNone/>
            </a:pPr>
            <a:r>
              <a:rPr lang="en-US" sz="1150" b="1" dirty="0">
                <a:solidFill>
                  <a:srgbClr val="262B3A"/>
                </a:solidFill>
                <a:latin typeface="Calibri" pitchFamily="34" charset="0"/>
                <a:ea typeface="Calibri" pitchFamily="34" charset="-122"/>
                <a:cs typeface="Calibri" pitchFamily="34" charset="-120"/>
              </a:rPr>
              <a:t>potential difference</a:t>
            </a:r>
            <a:r>
              <a:rPr lang="en-US" sz="1150" dirty="0">
                <a:solidFill>
                  <a:srgbClr val="262B3A"/>
                </a:solidFill>
                <a:latin typeface="Calibri" pitchFamily="34" charset="0"/>
                <a:ea typeface="Calibri" pitchFamily="34" charset="-122"/>
                <a:cs typeface="Calibri" pitchFamily="34" charset="-120"/>
              </a:rPr>
              <a:t> across the component (V), using the variable resistor</a:t>
            </a:r>
            <a:endParaRPr lang="en-US" sz="1250" dirty="0"/>
          </a:p>
        </p:txBody>
      </p:sp>
      <p:sp>
        <p:nvSpPr>
          <p:cNvPr id="15" name="Shape 13"/>
          <p:cNvSpPr/>
          <p:nvPr/>
        </p:nvSpPr>
        <p:spPr>
          <a:xfrm>
            <a:off x="3200400" y="2441448"/>
            <a:ext cx="91" cy="237744"/>
          </a:xfrm>
          <a:prstGeom prst="line">
            <a:avLst/>
          </a:prstGeom>
          <a:noFill/>
          <a:ln w="25400">
            <a:solidFill>
              <a:srgbClr val="6B7385"/>
            </a:solidFill>
            <a:prstDash val="solid"/>
            <a:tailEnd type="triangle"/>
          </a:ln>
        </p:spPr>
      </p:sp>
      <p:sp>
        <p:nvSpPr>
          <p:cNvPr id="16" name="Shape 14"/>
          <p:cNvSpPr/>
          <p:nvPr/>
        </p:nvSpPr>
        <p:spPr>
          <a:xfrm>
            <a:off x="685800" y="2697480"/>
            <a:ext cx="5029200" cy="1051560"/>
          </a:xfrm>
          <a:prstGeom prst="roundRect">
            <a:avLst>
              <a:gd name="adj" fmla="val 5217"/>
            </a:avLst>
          </a:prstGeom>
          <a:solidFill>
            <a:srgbClr val="FFFFFF"/>
          </a:solidFill>
          <a:ln w="19050">
            <a:solidFill>
              <a:srgbClr val="C8414C"/>
            </a:solidFill>
            <a:prstDash val="solid"/>
          </a:ln>
        </p:spPr>
      </p:sp>
      <p:sp>
        <p:nvSpPr>
          <p:cNvPr id="17" name="Shape 15"/>
          <p:cNvSpPr/>
          <p:nvPr/>
        </p:nvSpPr>
        <p:spPr>
          <a:xfrm>
            <a:off x="685800" y="2697480"/>
            <a:ext cx="109728" cy="1051560"/>
          </a:xfrm>
          <a:prstGeom prst="rect">
            <a:avLst/>
          </a:prstGeom>
          <a:solidFill>
            <a:srgbClr val="C8414C"/>
          </a:solidFill>
          <a:ln/>
        </p:spPr>
      </p:sp>
      <p:sp>
        <p:nvSpPr>
          <p:cNvPr id="18" name="Text 16"/>
          <p:cNvSpPr/>
          <p:nvPr/>
        </p:nvSpPr>
        <p:spPr>
          <a:xfrm>
            <a:off x="914400" y="2752344"/>
            <a:ext cx="4663440" cy="941832"/>
          </a:xfrm>
          <a:prstGeom prst="rect">
            <a:avLst/>
          </a:prstGeom>
          <a:noFill/>
          <a:ln/>
        </p:spPr>
        <p:txBody>
          <a:bodyPr wrap="square" lIns="0" tIns="0" rIns="0" bIns="0" rtlCol="0" anchor="ctr"/>
          <a:lstStyle/>
          <a:p>
            <a:pPr indent="0" marL="0">
              <a:buNone/>
            </a:pPr>
            <a:r>
              <a:rPr lang="en-US" sz="1250" b="1" dirty="0">
                <a:solidFill>
                  <a:srgbClr val="C8414C"/>
                </a:solidFill>
                <a:latin typeface="Calibri" pitchFamily="34" charset="0"/>
                <a:ea typeface="Calibri" pitchFamily="34" charset="-122"/>
                <a:cs typeface="Calibri" pitchFamily="34" charset="-120"/>
              </a:rPr>
              <a:t>Dependent variable (you measure)</a:t>
            </a:r>
            <a:endParaRPr lang="en-US" sz="1250" dirty="0"/>
          </a:p>
          <a:p>
            <a:pPr indent="0" marL="0">
              <a:buNone/>
            </a:pPr>
            <a:r>
              <a:rPr lang="en-US" sz="1150" b="1" dirty="0">
                <a:solidFill>
                  <a:srgbClr val="262B3A"/>
                </a:solidFill>
                <a:latin typeface="Calibri" pitchFamily="34" charset="0"/>
                <a:ea typeface="Calibri" pitchFamily="34" charset="-122"/>
                <a:cs typeface="Calibri" pitchFamily="34" charset="-120"/>
              </a:rPr>
              <a:t>current</a:t>
            </a:r>
            <a:r>
              <a:rPr lang="en-US" sz="1150" dirty="0">
                <a:solidFill>
                  <a:srgbClr val="262B3A"/>
                </a:solidFill>
                <a:latin typeface="Calibri" pitchFamily="34" charset="0"/>
                <a:ea typeface="Calibri" pitchFamily="34" charset="-122"/>
                <a:cs typeface="Calibri" pitchFamily="34" charset="-120"/>
              </a:rPr>
              <a:t> through the component (A)</a:t>
            </a:r>
            <a:endParaRPr lang="en-US" sz="1250" dirty="0"/>
          </a:p>
        </p:txBody>
      </p:sp>
      <p:sp>
        <p:nvSpPr>
          <p:cNvPr id="19" name="Shape 17"/>
          <p:cNvSpPr/>
          <p:nvPr/>
        </p:nvSpPr>
        <p:spPr>
          <a:xfrm>
            <a:off x="3200400" y="3767328"/>
            <a:ext cx="91" cy="237744"/>
          </a:xfrm>
          <a:prstGeom prst="line">
            <a:avLst/>
          </a:prstGeom>
          <a:noFill/>
          <a:ln w="25400">
            <a:solidFill>
              <a:srgbClr val="6B7385"/>
            </a:solidFill>
            <a:prstDash val="solid"/>
            <a:tailEnd type="triangle"/>
          </a:ln>
        </p:spPr>
      </p:sp>
      <p:sp>
        <p:nvSpPr>
          <p:cNvPr id="20" name="Shape 18"/>
          <p:cNvSpPr/>
          <p:nvPr/>
        </p:nvSpPr>
        <p:spPr>
          <a:xfrm>
            <a:off x="685800" y="4023360"/>
            <a:ext cx="5029200" cy="1051560"/>
          </a:xfrm>
          <a:prstGeom prst="roundRect">
            <a:avLst>
              <a:gd name="adj" fmla="val 5217"/>
            </a:avLst>
          </a:prstGeom>
          <a:solidFill>
            <a:srgbClr val="FFFFFF"/>
          </a:solidFill>
          <a:ln w="19050">
            <a:solidFill>
              <a:srgbClr val="2E8B57"/>
            </a:solidFill>
            <a:prstDash val="solid"/>
          </a:ln>
        </p:spPr>
      </p:sp>
      <p:sp>
        <p:nvSpPr>
          <p:cNvPr id="21" name="Shape 19"/>
          <p:cNvSpPr/>
          <p:nvPr/>
        </p:nvSpPr>
        <p:spPr>
          <a:xfrm>
            <a:off x="685800" y="4023360"/>
            <a:ext cx="109728" cy="1051560"/>
          </a:xfrm>
          <a:prstGeom prst="rect">
            <a:avLst/>
          </a:prstGeom>
          <a:solidFill>
            <a:srgbClr val="2E8B57"/>
          </a:solidFill>
          <a:ln/>
        </p:spPr>
      </p:sp>
      <p:sp>
        <p:nvSpPr>
          <p:cNvPr id="22" name="Text 20"/>
          <p:cNvSpPr/>
          <p:nvPr/>
        </p:nvSpPr>
        <p:spPr>
          <a:xfrm>
            <a:off x="914400" y="4078224"/>
            <a:ext cx="4663440" cy="941832"/>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Control variables (keep the same)</a:t>
            </a:r>
            <a:endParaRPr lang="en-US" sz="1250" dirty="0"/>
          </a:p>
          <a:p>
            <a:pPr indent="0" marL="0">
              <a:buNone/>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same component</a:t>
            </a:r>
            <a:r>
              <a:rPr lang="en-US" sz="1150" dirty="0">
                <a:solidFill>
                  <a:srgbClr val="262B3A"/>
                </a:solidFill>
                <a:latin typeface="Calibri" pitchFamily="34" charset="0"/>
                <a:ea typeface="Calibri" pitchFamily="34" charset="-122"/>
                <a:cs typeface="Calibri" pitchFamily="34" charset="-120"/>
              </a:rPr>
              <a:t> • its </a:t>
            </a:r>
            <a:r>
              <a:rPr lang="en-US" sz="1150" b="1" dirty="0">
                <a:solidFill>
                  <a:srgbClr val="262B3A"/>
                </a:solidFill>
                <a:latin typeface="Calibri" pitchFamily="34" charset="0"/>
                <a:ea typeface="Calibri" pitchFamily="34" charset="-122"/>
                <a:cs typeface="Calibri" pitchFamily="34" charset="-120"/>
              </a:rPr>
              <a:t>temperature</a:t>
            </a:r>
            <a:r>
              <a:rPr lang="en-US" sz="1150" dirty="0">
                <a:solidFill>
                  <a:srgbClr val="262B3A"/>
                </a:solidFill>
                <a:latin typeface="Calibri" pitchFamily="34" charset="0"/>
                <a:ea typeface="Calibri" pitchFamily="34" charset="-122"/>
                <a:cs typeface="Calibri" pitchFamily="34" charset="-120"/>
              </a:rPr>
              <a:t> (switch off between readings) • the same meters</a:t>
            </a:r>
            <a:endParaRPr lang="en-US" sz="1250" dirty="0"/>
          </a:p>
        </p:txBody>
      </p:sp>
      <p:sp>
        <p:nvSpPr>
          <p:cNvPr id="23" name="Shape 21"/>
          <p:cNvSpPr/>
          <p:nvPr/>
        </p:nvSpPr>
        <p:spPr>
          <a:xfrm>
            <a:off x="6217920" y="1188720"/>
            <a:ext cx="5562295" cy="2103120"/>
          </a:xfrm>
          <a:prstGeom prst="roundRect">
            <a:avLst>
              <a:gd name="adj" fmla="val 2609"/>
            </a:avLst>
          </a:prstGeom>
          <a:solidFill>
            <a:srgbClr val="F5F8FE"/>
          </a:solidFill>
          <a:ln w="9525">
            <a:solidFill>
              <a:srgbClr val="D5DCEB"/>
            </a:solidFill>
            <a:prstDash val="solid"/>
          </a:ln>
        </p:spPr>
      </p:sp>
      <p:sp>
        <p:nvSpPr>
          <p:cNvPr id="24" name="Text 2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Part (b): testing series and parallel</a:t>
            </a:r>
            <a:endParaRPr lang="en-US" sz="1300" dirty="0"/>
          </a:p>
        </p:txBody>
      </p:sp>
      <p:sp>
        <p:nvSpPr>
          <p:cNvPr id="25" name="Text 23"/>
          <p:cNvSpPr/>
          <p:nvPr/>
        </p:nvSpPr>
        <p:spPr>
          <a:xfrm>
            <a:off x="6382512" y="1609344"/>
            <a:ext cx="5233111" cy="16093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Build two lamps (or resistors) </a:t>
            </a:r>
            <a:r>
              <a:rPr lang="en-US" sz="1150" b="1" dirty="0">
                <a:solidFill>
                  <a:srgbClr val="262B3A"/>
                </a:solidFill>
                <a:latin typeface="Calibri" pitchFamily="34" charset="0"/>
                <a:ea typeface="Calibri" pitchFamily="34" charset="-122"/>
                <a:cs typeface="Calibri" pitchFamily="34" charset="-120"/>
              </a:rPr>
              <a:t>in series</a:t>
            </a:r>
            <a:r>
              <a:rPr lang="en-US" sz="1150" dirty="0">
                <a:solidFill>
                  <a:srgbClr val="262B3A"/>
                </a:solidFill>
                <a:latin typeface="Calibri" pitchFamily="34" charset="0"/>
                <a:ea typeface="Calibri" pitchFamily="34" charset="-122"/>
                <a:cs typeface="Calibri" pitchFamily="34" charset="-120"/>
              </a:rPr>
              <a:t>. Measure the current at different points and the p.d. across each one and across the supply.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Rebuild them </a:t>
            </a:r>
            <a:r>
              <a:rPr lang="en-US" sz="1150" b="1" dirty="0">
                <a:solidFill>
                  <a:srgbClr val="262B3A"/>
                </a:solidFill>
                <a:latin typeface="Calibri" pitchFamily="34" charset="0"/>
                <a:ea typeface="Calibri" pitchFamily="34" charset="-122"/>
                <a:cs typeface="Calibri" pitchFamily="34" charset="-120"/>
              </a:rPr>
              <a:t>in parallel</a:t>
            </a:r>
            <a:r>
              <a:rPr lang="en-US" sz="1150" dirty="0">
                <a:solidFill>
                  <a:srgbClr val="262B3A"/>
                </a:solidFill>
                <a:latin typeface="Calibri" pitchFamily="34" charset="0"/>
                <a:ea typeface="Calibri" pitchFamily="34" charset="-122"/>
                <a:cs typeface="Calibri" pitchFamily="34" charset="-120"/>
              </a:rPr>
              <a:t>. Measure the current in each branch and from the supply, and the p.d. across each branch.</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Compare with the rules: series – same current, p.d.s add; parallel – currents add, same p.d.</a:t>
            </a:r>
            <a:endParaRPr lang="en-US" sz="1150" dirty="0"/>
          </a:p>
        </p:txBody>
      </p:sp>
      <p:sp>
        <p:nvSpPr>
          <p:cNvPr id="26" name="Shape 24"/>
          <p:cNvSpPr/>
          <p:nvPr/>
        </p:nvSpPr>
        <p:spPr>
          <a:xfrm>
            <a:off x="6217920" y="3429000"/>
            <a:ext cx="5562295" cy="2286000"/>
          </a:xfrm>
          <a:prstGeom prst="roundRect">
            <a:avLst>
              <a:gd name="adj" fmla="val 2400"/>
            </a:avLst>
          </a:prstGeom>
          <a:solidFill>
            <a:srgbClr val="FFF4E0"/>
          </a:solidFill>
          <a:ln w="9525">
            <a:solidFill>
              <a:srgbClr val="F1D9A8"/>
            </a:solidFill>
            <a:prstDash val="solid"/>
          </a:ln>
        </p:spPr>
      </p:sp>
      <p:sp>
        <p:nvSpPr>
          <p:cNvPr id="27" name="Text 25"/>
          <p:cNvSpPr/>
          <p:nvPr/>
        </p:nvSpPr>
        <p:spPr>
          <a:xfrm>
            <a:off x="6382512" y="3502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Safety</a:t>
            </a:r>
            <a:endParaRPr lang="en-US" sz="1300" dirty="0"/>
          </a:p>
        </p:txBody>
      </p:sp>
      <p:sp>
        <p:nvSpPr>
          <p:cNvPr id="28" name="Text 26"/>
          <p:cNvSpPr/>
          <p:nvPr/>
        </p:nvSpPr>
        <p:spPr>
          <a:xfrm>
            <a:off x="6382512" y="3813048"/>
            <a:ext cx="5233111" cy="18288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Hazard → risk → control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Hot lamp   </a:t>
            </a:r>
            <a:r>
              <a:rPr lang="en-US" sz="1050" dirty="0">
                <a:solidFill>
                  <a:srgbClr val="262B3A"/>
                </a:solidFill>
                <a:latin typeface="Calibri" pitchFamily="34" charset="0"/>
                <a:ea typeface="Calibri" pitchFamily="34" charset="-122"/>
                <a:cs typeface="Calibri" pitchFamily="34" charset="-120"/>
              </a:rPr>
              <a:t>filament lamps and resistors get hot → burns; do not touch, switch off between readings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Short circuit   </a:t>
            </a:r>
            <a:r>
              <a:rPr lang="en-US" sz="1050" dirty="0">
                <a:solidFill>
                  <a:srgbClr val="262B3A"/>
                </a:solidFill>
                <a:latin typeface="Calibri" pitchFamily="34" charset="0"/>
                <a:ea typeface="Calibri" pitchFamily="34" charset="-122"/>
                <a:cs typeface="Calibri" pitchFamily="34" charset="-120"/>
              </a:rPr>
              <a:t>wires get very hot → check the circuit before switching 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Supply   </a:t>
            </a:r>
            <a:r>
              <a:rPr lang="en-US" sz="1050" dirty="0">
                <a:solidFill>
                  <a:srgbClr val="262B3A"/>
                </a:solidFill>
                <a:latin typeface="Calibri" pitchFamily="34" charset="0"/>
                <a:ea typeface="Calibri" pitchFamily="34" charset="-122"/>
                <a:cs typeface="Calibri" pitchFamily="34" charset="-120"/>
              </a:rPr>
              <a:t>use a low-voltage supply only (never mains)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switch off before changing any connection</a:t>
            </a:r>
            <a:endParaRPr lang="en-US" sz="1050" dirty="0"/>
          </a:p>
        </p:txBody>
      </p:sp>
      <p:sp>
        <p:nvSpPr>
          <p:cNvPr id="29" name="Shape 27"/>
          <p:cNvSpPr/>
          <p:nvPr/>
        </p:nvSpPr>
        <p:spPr>
          <a:xfrm>
            <a:off x="411480" y="5833872"/>
            <a:ext cx="11368735" cy="530352"/>
          </a:xfrm>
          <a:prstGeom prst="rect">
            <a:avLst/>
          </a:prstGeom>
          <a:solidFill>
            <a:srgbClr val="FFF4E0"/>
          </a:solidFill>
          <a:ln w="6350">
            <a:solidFill>
              <a:srgbClr val="F1D9A8"/>
            </a:solidFill>
            <a:prstDash val="solid"/>
          </a:ln>
        </p:spPr>
      </p:sp>
      <p:sp>
        <p:nvSpPr>
          <p:cNvPr id="30" name="Shape 28"/>
          <p:cNvSpPr/>
          <p:nvPr/>
        </p:nvSpPr>
        <p:spPr>
          <a:xfrm>
            <a:off x="411480" y="5833872"/>
            <a:ext cx="82296" cy="530352"/>
          </a:xfrm>
          <a:prstGeom prst="rect">
            <a:avLst/>
          </a:prstGeom>
          <a:solidFill>
            <a:srgbClr val="E39A2F"/>
          </a:solidFill>
          <a:ln w="12700">
            <a:solidFill>
              <a:srgbClr val="E39A2F"/>
            </a:solidFill>
            <a:prstDash val="solid"/>
          </a:ln>
        </p:spPr>
      </p:sp>
      <p:sp>
        <p:nvSpPr>
          <p:cNvPr id="31" name="Text 2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independent and dependent variables in part (a). Why is the temperature of the resistor a control variable?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Core Practical: results and graph</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10.17 • sample results for a resistor and a filament lamp</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10.17  |  19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data plotted to scale; current on the y-axis</a:t>
            </a:r>
            <a:endParaRPr lang="en-US" sz="1000" dirty="0"/>
          </a:p>
        </p:txBody>
      </p:sp>
      <p:sp>
        <p:nvSpPr>
          <p:cNvPr id="12" name="Shape 10"/>
          <p:cNvSpPr/>
          <p:nvPr/>
        </p:nvSpPr>
        <p:spPr>
          <a:xfrm>
            <a:off x="1280160" y="1417320"/>
            <a:ext cx="4434840" cy="3291840"/>
          </a:xfrm>
          <a:prstGeom prst="rect">
            <a:avLst/>
          </a:prstGeom>
          <a:solidFill>
            <a:srgbClr val="FFFFFF"/>
          </a:solidFill>
          <a:ln/>
        </p:spPr>
      </p:sp>
      <p:sp>
        <p:nvSpPr>
          <p:cNvPr id="13" name="Shape 11"/>
          <p:cNvSpPr/>
          <p:nvPr/>
        </p:nvSpPr>
        <p:spPr>
          <a:xfrm>
            <a:off x="1280160" y="1417320"/>
            <a:ext cx="91" cy="3291840"/>
          </a:xfrm>
          <a:prstGeom prst="line">
            <a:avLst/>
          </a:prstGeom>
          <a:noFill/>
          <a:ln w="6350">
            <a:solidFill>
              <a:srgbClr val="C9D3E6"/>
            </a:solidFill>
            <a:prstDash val="solid"/>
          </a:ln>
        </p:spPr>
      </p:sp>
      <p:sp>
        <p:nvSpPr>
          <p:cNvPr id="14" name="Shape 12"/>
          <p:cNvSpPr/>
          <p:nvPr/>
        </p:nvSpPr>
        <p:spPr>
          <a:xfrm>
            <a:off x="1649730" y="1417320"/>
            <a:ext cx="91" cy="3291840"/>
          </a:xfrm>
          <a:prstGeom prst="line">
            <a:avLst/>
          </a:prstGeom>
          <a:noFill/>
          <a:ln w="6350">
            <a:solidFill>
              <a:srgbClr val="E6EBF4"/>
            </a:solidFill>
            <a:prstDash val="solid"/>
          </a:ln>
        </p:spPr>
      </p:sp>
      <p:sp>
        <p:nvSpPr>
          <p:cNvPr id="15" name="Shape 13"/>
          <p:cNvSpPr/>
          <p:nvPr/>
        </p:nvSpPr>
        <p:spPr>
          <a:xfrm>
            <a:off x="2019300" y="1417320"/>
            <a:ext cx="91" cy="3291840"/>
          </a:xfrm>
          <a:prstGeom prst="line">
            <a:avLst/>
          </a:prstGeom>
          <a:noFill/>
          <a:ln w="6350">
            <a:solidFill>
              <a:srgbClr val="C9D3E6"/>
            </a:solidFill>
            <a:prstDash val="solid"/>
          </a:ln>
        </p:spPr>
      </p:sp>
      <p:sp>
        <p:nvSpPr>
          <p:cNvPr id="16" name="Shape 14"/>
          <p:cNvSpPr/>
          <p:nvPr/>
        </p:nvSpPr>
        <p:spPr>
          <a:xfrm>
            <a:off x="2388870" y="1417320"/>
            <a:ext cx="91" cy="3291840"/>
          </a:xfrm>
          <a:prstGeom prst="line">
            <a:avLst/>
          </a:prstGeom>
          <a:noFill/>
          <a:ln w="6350">
            <a:solidFill>
              <a:srgbClr val="E6EBF4"/>
            </a:solidFill>
            <a:prstDash val="solid"/>
          </a:ln>
        </p:spPr>
      </p:sp>
      <p:sp>
        <p:nvSpPr>
          <p:cNvPr id="17" name="Shape 15"/>
          <p:cNvSpPr/>
          <p:nvPr/>
        </p:nvSpPr>
        <p:spPr>
          <a:xfrm>
            <a:off x="2758440" y="1417320"/>
            <a:ext cx="91" cy="3291840"/>
          </a:xfrm>
          <a:prstGeom prst="line">
            <a:avLst/>
          </a:prstGeom>
          <a:noFill/>
          <a:ln w="6350">
            <a:solidFill>
              <a:srgbClr val="C9D3E6"/>
            </a:solidFill>
            <a:prstDash val="solid"/>
          </a:ln>
        </p:spPr>
      </p:sp>
      <p:sp>
        <p:nvSpPr>
          <p:cNvPr id="18" name="Shape 16"/>
          <p:cNvSpPr/>
          <p:nvPr/>
        </p:nvSpPr>
        <p:spPr>
          <a:xfrm>
            <a:off x="3128010" y="1417320"/>
            <a:ext cx="91" cy="3291840"/>
          </a:xfrm>
          <a:prstGeom prst="line">
            <a:avLst/>
          </a:prstGeom>
          <a:noFill/>
          <a:ln w="6350">
            <a:solidFill>
              <a:srgbClr val="E6EBF4"/>
            </a:solidFill>
            <a:prstDash val="solid"/>
          </a:ln>
        </p:spPr>
      </p:sp>
      <p:sp>
        <p:nvSpPr>
          <p:cNvPr id="19" name="Shape 17"/>
          <p:cNvSpPr/>
          <p:nvPr/>
        </p:nvSpPr>
        <p:spPr>
          <a:xfrm>
            <a:off x="3497580" y="1417320"/>
            <a:ext cx="91" cy="3291840"/>
          </a:xfrm>
          <a:prstGeom prst="line">
            <a:avLst/>
          </a:prstGeom>
          <a:noFill/>
          <a:ln w="6350">
            <a:solidFill>
              <a:srgbClr val="C9D3E6"/>
            </a:solidFill>
            <a:prstDash val="solid"/>
          </a:ln>
        </p:spPr>
      </p:sp>
      <p:sp>
        <p:nvSpPr>
          <p:cNvPr id="20" name="Shape 18"/>
          <p:cNvSpPr/>
          <p:nvPr/>
        </p:nvSpPr>
        <p:spPr>
          <a:xfrm>
            <a:off x="3867150" y="1417320"/>
            <a:ext cx="91" cy="3291840"/>
          </a:xfrm>
          <a:prstGeom prst="line">
            <a:avLst/>
          </a:prstGeom>
          <a:noFill/>
          <a:ln w="6350">
            <a:solidFill>
              <a:srgbClr val="E6EBF4"/>
            </a:solidFill>
            <a:prstDash val="solid"/>
          </a:ln>
        </p:spPr>
      </p:sp>
      <p:sp>
        <p:nvSpPr>
          <p:cNvPr id="21" name="Shape 19"/>
          <p:cNvSpPr/>
          <p:nvPr/>
        </p:nvSpPr>
        <p:spPr>
          <a:xfrm>
            <a:off x="4236720" y="1417320"/>
            <a:ext cx="91" cy="3291840"/>
          </a:xfrm>
          <a:prstGeom prst="line">
            <a:avLst/>
          </a:prstGeom>
          <a:noFill/>
          <a:ln w="6350">
            <a:solidFill>
              <a:srgbClr val="C9D3E6"/>
            </a:solidFill>
            <a:prstDash val="solid"/>
          </a:ln>
        </p:spPr>
      </p:sp>
      <p:sp>
        <p:nvSpPr>
          <p:cNvPr id="22" name="Shape 20"/>
          <p:cNvSpPr/>
          <p:nvPr/>
        </p:nvSpPr>
        <p:spPr>
          <a:xfrm>
            <a:off x="4606290" y="1417320"/>
            <a:ext cx="91" cy="3291840"/>
          </a:xfrm>
          <a:prstGeom prst="line">
            <a:avLst/>
          </a:prstGeom>
          <a:noFill/>
          <a:ln w="6350">
            <a:solidFill>
              <a:srgbClr val="E6EBF4"/>
            </a:solidFill>
            <a:prstDash val="solid"/>
          </a:ln>
        </p:spPr>
      </p:sp>
      <p:sp>
        <p:nvSpPr>
          <p:cNvPr id="23" name="Shape 21"/>
          <p:cNvSpPr/>
          <p:nvPr/>
        </p:nvSpPr>
        <p:spPr>
          <a:xfrm>
            <a:off x="4975860" y="1417320"/>
            <a:ext cx="91" cy="3291840"/>
          </a:xfrm>
          <a:prstGeom prst="line">
            <a:avLst/>
          </a:prstGeom>
          <a:noFill/>
          <a:ln w="6350">
            <a:solidFill>
              <a:srgbClr val="C9D3E6"/>
            </a:solidFill>
            <a:prstDash val="solid"/>
          </a:ln>
        </p:spPr>
      </p:sp>
      <p:sp>
        <p:nvSpPr>
          <p:cNvPr id="24" name="Shape 22"/>
          <p:cNvSpPr/>
          <p:nvPr/>
        </p:nvSpPr>
        <p:spPr>
          <a:xfrm>
            <a:off x="5345430" y="1417320"/>
            <a:ext cx="91" cy="3291840"/>
          </a:xfrm>
          <a:prstGeom prst="line">
            <a:avLst/>
          </a:prstGeom>
          <a:noFill/>
          <a:ln w="6350">
            <a:solidFill>
              <a:srgbClr val="E6EBF4"/>
            </a:solidFill>
            <a:prstDash val="solid"/>
          </a:ln>
        </p:spPr>
      </p:sp>
      <p:sp>
        <p:nvSpPr>
          <p:cNvPr id="25" name="Shape 23"/>
          <p:cNvSpPr/>
          <p:nvPr/>
        </p:nvSpPr>
        <p:spPr>
          <a:xfrm>
            <a:off x="5715000" y="1417320"/>
            <a:ext cx="91" cy="3291840"/>
          </a:xfrm>
          <a:prstGeom prst="line">
            <a:avLst/>
          </a:prstGeom>
          <a:noFill/>
          <a:ln w="6350">
            <a:solidFill>
              <a:srgbClr val="C9D3E6"/>
            </a:solidFill>
            <a:prstDash val="solid"/>
          </a:ln>
        </p:spPr>
      </p:sp>
      <p:sp>
        <p:nvSpPr>
          <p:cNvPr id="26" name="Shape 24"/>
          <p:cNvSpPr/>
          <p:nvPr/>
        </p:nvSpPr>
        <p:spPr>
          <a:xfrm>
            <a:off x="1280160" y="4709160"/>
            <a:ext cx="4434840" cy="91"/>
          </a:xfrm>
          <a:prstGeom prst="line">
            <a:avLst/>
          </a:prstGeom>
          <a:noFill/>
          <a:ln w="6350">
            <a:solidFill>
              <a:srgbClr val="C9D3E6"/>
            </a:solidFill>
            <a:prstDash val="solid"/>
          </a:ln>
        </p:spPr>
      </p:sp>
      <p:sp>
        <p:nvSpPr>
          <p:cNvPr id="27" name="Shape 25"/>
          <p:cNvSpPr/>
          <p:nvPr/>
        </p:nvSpPr>
        <p:spPr>
          <a:xfrm>
            <a:off x="1280160" y="4474029"/>
            <a:ext cx="4434840" cy="91"/>
          </a:xfrm>
          <a:prstGeom prst="line">
            <a:avLst/>
          </a:prstGeom>
          <a:noFill/>
          <a:ln w="6350">
            <a:solidFill>
              <a:srgbClr val="E6EBF4"/>
            </a:solidFill>
            <a:prstDash val="solid"/>
          </a:ln>
        </p:spPr>
      </p:sp>
      <p:sp>
        <p:nvSpPr>
          <p:cNvPr id="28" name="Shape 26"/>
          <p:cNvSpPr/>
          <p:nvPr/>
        </p:nvSpPr>
        <p:spPr>
          <a:xfrm>
            <a:off x="1280160" y="4238897"/>
            <a:ext cx="4434840" cy="91"/>
          </a:xfrm>
          <a:prstGeom prst="line">
            <a:avLst/>
          </a:prstGeom>
          <a:noFill/>
          <a:ln w="6350">
            <a:solidFill>
              <a:srgbClr val="C9D3E6"/>
            </a:solidFill>
            <a:prstDash val="solid"/>
          </a:ln>
        </p:spPr>
      </p:sp>
      <p:sp>
        <p:nvSpPr>
          <p:cNvPr id="29" name="Shape 27"/>
          <p:cNvSpPr/>
          <p:nvPr/>
        </p:nvSpPr>
        <p:spPr>
          <a:xfrm>
            <a:off x="1280160" y="4003766"/>
            <a:ext cx="4434840" cy="91"/>
          </a:xfrm>
          <a:prstGeom prst="line">
            <a:avLst/>
          </a:prstGeom>
          <a:noFill/>
          <a:ln w="6350">
            <a:solidFill>
              <a:srgbClr val="E6EBF4"/>
            </a:solidFill>
            <a:prstDash val="solid"/>
          </a:ln>
        </p:spPr>
      </p:sp>
      <p:sp>
        <p:nvSpPr>
          <p:cNvPr id="30" name="Shape 28"/>
          <p:cNvSpPr/>
          <p:nvPr/>
        </p:nvSpPr>
        <p:spPr>
          <a:xfrm>
            <a:off x="1280160" y="3768634"/>
            <a:ext cx="4434840" cy="91"/>
          </a:xfrm>
          <a:prstGeom prst="line">
            <a:avLst/>
          </a:prstGeom>
          <a:noFill/>
          <a:ln w="6350">
            <a:solidFill>
              <a:srgbClr val="C9D3E6"/>
            </a:solidFill>
            <a:prstDash val="solid"/>
          </a:ln>
        </p:spPr>
      </p:sp>
      <p:sp>
        <p:nvSpPr>
          <p:cNvPr id="31" name="Shape 29"/>
          <p:cNvSpPr/>
          <p:nvPr/>
        </p:nvSpPr>
        <p:spPr>
          <a:xfrm>
            <a:off x="1280160" y="3533503"/>
            <a:ext cx="4434840" cy="91"/>
          </a:xfrm>
          <a:prstGeom prst="line">
            <a:avLst/>
          </a:prstGeom>
          <a:noFill/>
          <a:ln w="6350">
            <a:solidFill>
              <a:srgbClr val="E6EBF4"/>
            </a:solidFill>
            <a:prstDash val="solid"/>
          </a:ln>
        </p:spPr>
      </p:sp>
      <p:sp>
        <p:nvSpPr>
          <p:cNvPr id="32" name="Shape 30"/>
          <p:cNvSpPr/>
          <p:nvPr/>
        </p:nvSpPr>
        <p:spPr>
          <a:xfrm>
            <a:off x="1280160" y="3298371"/>
            <a:ext cx="4434840" cy="91"/>
          </a:xfrm>
          <a:prstGeom prst="line">
            <a:avLst/>
          </a:prstGeom>
          <a:noFill/>
          <a:ln w="6350">
            <a:solidFill>
              <a:srgbClr val="C9D3E6"/>
            </a:solidFill>
            <a:prstDash val="solid"/>
          </a:ln>
        </p:spPr>
      </p:sp>
      <p:sp>
        <p:nvSpPr>
          <p:cNvPr id="33" name="Shape 31"/>
          <p:cNvSpPr/>
          <p:nvPr/>
        </p:nvSpPr>
        <p:spPr>
          <a:xfrm>
            <a:off x="1280160" y="3063240"/>
            <a:ext cx="4434840" cy="91"/>
          </a:xfrm>
          <a:prstGeom prst="line">
            <a:avLst/>
          </a:prstGeom>
          <a:noFill/>
          <a:ln w="6350">
            <a:solidFill>
              <a:srgbClr val="E6EBF4"/>
            </a:solidFill>
            <a:prstDash val="solid"/>
          </a:ln>
        </p:spPr>
      </p:sp>
      <p:sp>
        <p:nvSpPr>
          <p:cNvPr id="34" name="Shape 32"/>
          <p:cNvSpPr/>
          <p:nvPr/>
        </p:nvSpPr>
        <p:spPr>
          <a:xfrm>
            <a:off x="1280160" y="2828109"/>
            <a:ext cx="4434840" cy="91"/>
          </a:xfrm>
          <a:prstGeom prst="line">
            <a:avLst/>
          </a:prstGeom>
          <a:noFill/>
          <a:ln w="6350">
            <a:solidFill>
              <a:srgbClr val="C9D3E6"/>
            </a:solidFill>
            <a:prstDash val="solid"/>
          </a:ln>
        </p:spPr>
      </p:sp>
      <p:sp>
        <p:nvSpPr>
          <p:cNvPr id="35" name="Shape 33"/>
          <p:cNvSpPr/>
          <p:nvPr/>
        </p:nvSpPr>
        <p:spPr>
          <a:xfrm>
            <a:off x="1280160" y="2592977"/>
            <a:ext cx="4434840" cy="91"/>
          </a:xfrm>
          <a:prstGeom prst="line">
            <a:avLst/>
          </a:prstGeom>
          <a:noFill/>
          <a:ln w="6350">
            <a:solidFill>
              <a:srgbClr val="E6EBF4"/>
            </a:solidFill>
            <a:prstDash val="solid"/>
          </a:ln>
        </p:spPr>
      </p:sp>
      <p:sp>
        <p:nvSpPr>
          <p:cNvPr id="36" name="Shape 34"/>
          <p:cNvSpPr/>
          <p:nvPr/>
        </p:nvSpPr>
        <p:spPr>
          <a:xfrm>
            <a:off x="1280160" y="2357846"/>
            <a:ext cx="4434840" cy="91"/>
          </a:xfrm>
          <a:prstGeom prst="line">
            <a:avLst/>
          </a:prstGeom>
          <a:noFill/>
          <a:ln w="6350">
            <a:solidFill>
              <a:srgbClr val="C9D3E6"/>
            </a:solidFill>
            <a:prstDash val="solid"/>
          </a:ln>
        </p:spPr>
      </p:sp>
      <p:sp>
        <p:nvSpPr>
          <p:cNvPr id="37" name="Shape 35"/>
          <p:cNvSpPr/>
          <p:nvPr/>
        </p:nvSpPr>
        <p:spPr>
          <a:xfrm>
            <a:off x="1280160" y="2122714"/>
            <a:ext cx="4434840" cy="91"/>
          </a:xfrm>
          <a:prstGeom prst="line">
            <a:avLst/>
          </a:prstGeom>
          <a:noFill/>
          <a:ln w="6350">
            <a:solidFill>
              <a:srgbClr val="E6EBF4"/>
            </a:solidFill>
            <a:prstDash val="solid"/>
          </a:ln>
        </p:spPr>
      </p:sp>
      <p:sp>
        <p:nvSpPr>
          <p:cNvPr id="38" name="Shape 36"/>
          <p:cNvSpPr/>
          <p:nvPr/>
        </p:nvSpPr>
        <p:spPr>
          <a:xfrm>
            <a:off x="1280160" y="1887583"/>
            <a:ext cx="4434840" cy="91"/>
          </a:xfrm>
          <a:prstGeom prst="line">
            <a:avLst/>
          </a:prstGeom>
          <a:noFill/>
          <a:ln w="6350">
            <a:solidFill>
              <a:srgbClr val="C9D3E6"/>
            </a:solidFill>
            <a:prstDash val="solid"/>
          </a:ln>
        </p:spPr>
      </p:sp>
      <p:sp>
        <p:nvSpPr>
          <p:cNvPr id="39" name="Shape 37"/>
          <p:cNvSpPr/>
          <p:nvPr/>
        </p:nvSpPr>
        <p:spPr>
          <a:xfrm>
            <a:off x="1280160" y="1652451"/>
            <a:ext cx="4434840" cy="91"/>
          </a:xfrm>
          <a:prstGeom prst="line">
            <a:avLst/>
          </a:prstGeom>
          <a:noFill/>
          <a:ln w="6350">
            <a:solidFill>
              <a:srgbClr val="E6EBF4"/>
            </a:solidFill>
            <a:prstDash val="solid"/>
          </a:ln>
        </p:spPr>
      </p:sp>
      <p:sp>
        <p:nvSpPr>
          <p:cNvPr id="40" name="Shape 38"/>
          <p:cNvSpPr/>
          <p:nvPr/>
        </p:nvSpPr>
        <p:spPr>
          <a:xfrm>
            <a:off x="1280160" y="1417320"/>
            <a:ext cx="4434840" cy="91"/>
          </a:xfrm>
          <a:prstGeom prst="line">
            <a:avLst/>
          </a:prstGeom>
          <a:noFill/>
          <a:ln w="6350">
            <a:solidFill>
              <a:srgbClr val="C9D3E6"/>
            </a:solidFill>
            <a:prstDash val="solid"/>
          </a:ln>
        </p:spPr>
      </p:sp>
      <p:sp>
        <p:nvSpPr>
          <p:cNvPr id="41" name="Shape 39"/>
          <p:cNvSpPr/>
          <p:nvPr/>
        </p:nvSpPr>
        <p:spPr>
          <a:xfrm>
            <a:off x="1280160" y="4709160"/>
            <a:ext cx="4434840" cy="91"/>
          </a:xfrm>
          <a:prstGeom prst="line">
            <a:avLst/>
          </a:prstGeom>
          <a:noFill/>
          <a:ln w="19050">
            <a:solidFill>
              <a:srgbClr val="1A2340"/>
            </a:solidFill>
            <a:prstDash val="solid"/>
          </a:ln>
        </p:spPr>
      </p:sp>
      <p:sp>
        <p:nvSpPr>
          <p:cNvPr id="42" name="Shape 40"/>
          <p:cNvSpPr/>
          <p:nvPr/>
        </p:nvSpPr>
        <p:spPr>
          <a:xfrm flipV="1">
            <a:off x="1280160" y="1417320"/>
            <a:ext cx="91" cy="3291840"/>
          </a:xfrm>
          <a:prstGeom prst="line">
            <a:avLst/>
          </a:prstGeom>
          <a:noFill/>
          <a:ln w="19050">
            <a:solidFill>
              <a:srgbClr val="1A2340"/>
            </a:solidFill>
            <a:prstDash val="solid"/>
          </a:ln>
        </p:spPr>
      </p:sp>
      <p:sp>
        <p:nvSpPr>
          <p:cNvPr id="43" name="Shape 41"/>
          <p:cNvSpPr/>
          <p:nvPr/>
        </p:nvSpPr>
        <p:spPr>
          <a:xfrm>
            <a:off x="1280160" y="4709160"/>
            <a:ext cx="91" cy="54864"/>
          </a:xfrm>
          <a:prstGeom prst="line">
            <a:avLst/>
          </a:prstGeom>
          <a:noFill/>
          <a:ln w="12700">
            <a:solidFill>
              <a:srgbClr val="1A2340"/>
            </a:solidFill>
            <a:prstDash val="solid"/>
          </a:ln>
        </p:spPr>
      </p:sp>
      <p:sp>
        <p:nvSpPr>
          <p:cNvPr id="44" name="Text 42"/>
          <p:cNvSpPr/>
          <p:nvPr/>
        </p:nvSpPr>
        <p:spPr>
          <a:xfrm>
            <a:off x="1005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2019300" y="4709160"/>
            <a:ext cx="91" cy="54864"/>
          </a:xfrm>
          <a:prstGeom prst="line">
            <a:avLst/>
          </a:prstGeom>
          <a:noFill/>
          <a:ln w="12700">
            <a:solidFill>
              <a:srgbClr val="1A2340"/>
            </a:solidFill>
            <a:prstDash val="solid"/>
          </a:ln>
        </p:spPr>
      </p:sp>
      <p:sp>
        <p:nvSpPr>
          <p:cNvPr id="46" name="Text 44"/>
          <p:cNvSpPr/>
          <p:nvPr/>
        </p:nvSpPr>
        <p:spPr>
          <a:xfrm>
            <a:off x="17449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47" name="Shape 45"/>
          <p:cNvSpPr/>
          <p:nvPr/>
        </p:nvSpPr>
        <p:spPr>
          <a:xfrm>
            <a:off x="2758440" y="4709160"/>
            <a:ext cx="91" cy="54864"/>
          </a:xfrm>
          <a:prstGeom prst="line">
            <a:avLst/>
          </a:prstGeom>
          <a:noFill/>
          <a:ln w="12700">
            <a:solidFill>
              <a:srgbClr val="1A2340"/>
            </a:solidFill>
            <a:prstDash val="solid"/>
          </a:ln>
        </p:spPr>
      </p:sp>
      <p:sp>
        <p:nvSpPr>
          <p:cNvPr id="48" name="Text 46"/>
          <p:cNvSpPr/>
          <p:nvPr/>
        </p:nvSpPr>
        <p:spPr>
          <a:xfrm>
            <a:off x="24841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9" name="Shape 47"/>
          <p:cNvSpPr/>
          <p:nvPr/>
        </p:nvSpPr>
        <p:spPr>
          <a:xfrm>
            <a:off x="3497580" y="4709160"/>
            <a:ext cx="91" cy="54864"/>
          </a:xfrm>
          <a:prstGeom prst="line">
            <a:avLst/>
          </a:prstGeom>
          <a:noFill/>
          <a:ln w="12700">
            <a:solidFill>
              <a:srgbClr val="1A2340"/>
            </a:solidFill>
            <a:prstDash val="solid"/>
          </a:ln>
        </p:spPr>
      </p:sp>
      <p:sp>
        <p:nvSpPr>
          <p:cNvPr id="50" name="Text 48"/>
          <p:cNvSpPr/>
          <p:nvPr/>
        </p:nvSpPr>
        <p:spPr>
          <a:xfrm>
            <a:off x="32232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51" name="Shape 49"/>
          <p:cNvSpPr/>
          <p:nvPr/>
        </p:nvSpPr>
        <p:spPr>
          <a:xfrm>
            <a:off x="4236720" y="4709160"/>
            <a:ext cx="91" cy="54864"/>
          </a:xfrm>
          <a:prstGeom prst="line">
            <a:avLst/>
          </a:prstGeom>
          <a:noFill/>
          <a:ln w="12700">
            <a:solidFill>
              <a:srgbClr val="1A2340"/>
            </a:solidFill>
            <a:prstDash val="solid"/>
          </a:ln>
        </p:spPr>
      </p:sp>
      <p:sp>
        <p:nvSpPr>
          <p:cNvPr id="52" name="Text 50"/>
          <p:cNvSpPr/>
          <p:nvPr/>
        </p:nvSpPr>
        <p:spPr>
          <a:xfrm>
            <a:off x="39624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3" name="Shape 51"/>
          <p:cNvSpPr/>
          <p:nvPr/>
        </p:nvSpPr>
        <p:spPr>
          <a:xfrm>
            <a:off x="4975860" y="4709160"/>
            <a:ext cx="91" cy="54864"/>
          </a:xfrm>
          <a:prstGeom prst="line">
            <a:avLst/>
          </a:prstGeom>
          <a:noFill/>
          <a:ln w="12700">
            <a:solidFill>
              <a:srgbClr val="1A2340"/>
            </a:solidFill>
            <a:prstDash val="solid"/>
          </a:ln>
        </p:spPr>
      </p:sp>
      <p:sp>
        <p:nvSpPr>
          <p:cNvPr id="54" name="Text 52"/>
          <p:cNvSpPr/>
          <p:nvPr/>
        </p:nvSpPr>
        <p:spPr>
          <a:xfrm>
            <a:off x="47015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55" name="Shape 53"/>
          <p:cNvSpPr/>
          <p:nvPr/>
        </p:nvSpPr>
        <p:spPr>
          <a:xfrm>
            <a:off x="5715000" y="4709160"/>
            <a:ext cx="91" cy="54864"/>
          </a:xfrm>
          <a:prstGeom prst="line">
            <a:avLst/>
          </a:prstGeom>
          <a:noFill/>
          <a:ln w="12700">
            <a:solidFill>
              <a:srgbClr val="1A2340"/>
            </a:solidFill>
            <a:prstDash val="solid"/>
          </a:ln>
        </p:spPr>
      </p:sp>
      <p:sp>
        <p:nvSpPr>
          <p:cNvPr id="56" name="Text 54"/>
          <p:cNvSpPr/>
          <p:nvPr/>
        </p:nvSpPr>
        <p:spPr>
          <a:xfrm>
            <a:off x="5440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7" name="Shape 55"/>
          <p:cNvSpPr/>
          <p:nvPr/>
        </p:nvSpPr>
        <p:spPr>
          <a:xfrm>
            <a:off x="1225296" y="4709160"/>
            <a:ext cx="54864" cy="91"/>
          </a:xfrm>
          <a:prstGeom prst="line">
            <a:avLst/>
          </a:prstGeom>
          <a:noFill/>
          <a:ln w="12700">
            <a:solidFill>
              <a:srgbClr val="1A2340"/>
            </a:solidFill>
            <a:prstDash val="solid"/>
          </a:ln>
        </p:spPr>
      </p:sp>
      <p:sp>
        <p:nvSpPr>
          <p:cNvPr id="58" name="Text 56"/>
          <p:cNvSpPr/>
          <p:nvPr/>
        </p:nvSpPr>
        <p:spPr>
          <a:xfrm>
            <a:off x="84124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59" name="Shape 57"/>
          <p:cNvSpPr/>
          <p:nvPr/>
        </p:nvSpPr>
        <p:spPr>
          <a:xfrm>
            <a:off x="1225296" y="4238897"/>
            <a:ext cx="54864" cy="91"/>
          </a:xfrm>
          <a:prstGeom prst="line">
            <a:avLst/>
          </a:prstGeom>
          <a:noFill/>
          <a:ln w="12700">
            <a:solidFill>
              <a:srgbClr val="1A2340"/>
            </a:solidFill>
            <a:prstDash val="solid"/>
          </a:ln>
        </p:spPr>
      </p:sp>
      <p:sp>
        <p:nvSpPr>
          <p:cNvPr id="60" name="Text 58"/>
          <p:cNvSpPr/>
          <p:nvPr/>
        </p:nvSpPr>
        <p:spPr>
          <a:xfrm>
            <a:off x="841248" y="41474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p>
        </p:txBody>
      </p:sp>
      <p:sp>
        <p:nvSpPr>
          <p:cNvPr id="61" name="Shape 59"/>
          <p:cNvSpPr/>
          <p:nvPr/>
        </p:nvSpPr>
        <p:spPr>
          <a:xfrm>
            <a:off x="1225296" y="3768634"/>
            <a:ext cx="54864" cy="91"/>
          </a:xfrm>
          <a:prstGeom prst="line">
            <a:avLst/>
          </a:prstGeom>
          <a:noFill/>
          <a:ln w="12700">
            <a:solidFill>
              <a:srgbClr val="1A2340"/>
            </a:solidFill>
            <a:prstDash val="solid"/>
          </a:ln>
        </p:spPr>
      </p:sp>
      <p:sp>
        <p:nvSpPr>
          <p:cNvPr id="62" name="Text 60"/>
          <p:cNvSpPr/>
          <p:nvPr/>
        </p:nvSpPr>
        <p:spPr>
          <a:xfrm>
            <a:off x="841248" y="367719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p>
        </p:txBody>
      </p:sp>
      <p:sp>
        <p:nvSpPr>
          <p:cNvPr id="63" name="Shape 61"/>
          <p:cNvSpPr/>
          <p:nvPr/>
        </p:nvSpPr>
        <p:spPr>
          <a:xfrm>
            <a:off x="1225296" y="3298371"/>
            <a:ext cx="54864" cy="91"/>
          </a:xfrm>
          <a:prstGeom prst="line">
            <a:avLst/>
          </a:prstGeom>
          <a:noFill/>
          <a:ln w="12700">
            <a:solidFill>
              <a:srgbClr val="1A2340"/>
            </a:solidFill>
            <a:prstDash val="solid"/>
          </a:ln>
        </p:spPr>
      </p:sp>
      <p:sp>
        <p:nvSpPr>
          <p:cNvPr id="64" name="Text 62"/>
          <p:cNvSpPr/>
          <p:nvPr/>
        </p:nvSpPr>
        <p:spPr>
          <a:xfrm>
            <a:off x="841248" y="320693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0.15</a:t>
            </a:r>
            <a:endParaRPr lang="en-US" sz="1000" dirty="0"/>
          </a:p>
        </p:txBody>
      </p:sp>
      <p:sp>
        <p:nvSpPr>
          <p:cNvPr id="65" name="Shape 63"/>
          <p:cNvSpPr/>
          <p:nvPr/>
        </p:nvSpPr>
        <p:spPr>
          <a:xfrm>
            <a:off x="1225296" y="2828109"/>
            <a:ext cx="54864" cy="91"/>
          </a:xfrm>
          <a:prstGeom prst="line">
            <a:avLst/>
          </a:prstGeom>
          <a:noFill/>
          <a:ln w="12700">
            <a:solidFill>
              <a:srgbClr val="1A2340"/>
            </a:solidFill>
            <a:prstDash val="solid"/>
          </a:ln>
        </p:spPr>
      </p:sp>
      <p:sp>
        <p:nvSpPr>
          <p:cNvPr id="66" name="Text 64"/>
          <p:cNvSpPr/>
          <p:nvPr/>
        </p:nvSpPr>
        <p:spPr>
          <a:xfrm>
            <a:off x="841248" y="273666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p>
        </p:txBody>
      </p:sp>
      <p:sp>
        <p:nvSpPr>
          <p:cNvPr id="67" name="Shape 65"/>
          <p:cNvSpPr/>
          <p:nvPr/>
        </p:nvSpPr>
        <p:spPr>
          <a:xfrm>
            <a:off x="1225296" y="2357846"/>
            <a:ext cx="54864" cy="91"/>
          </a:xfrm>
          <a:prstGeom prst="line">
            <a:avLst/>
          </a:prstGeom>
          <a:noFill/>
          <a:ln w="12700">
            <a:solidFill>
              <a:srgbClr val="1A2340"/>
            </a:solidFill>
            <a:prstDash val="solid"/>
          </a:ln>
        </p:spPr>
      </p:sp>
      <p:sp>
        <p:nvSpPr>
          <p:cNvPr id="68" name="Text 66"/>
          <p:cNvSpPr/>
          <p:nvPr/>
        </p:nvSpPr>
        <p:spPr>
          <a:xfrm>
            <a:off x="841248" y="226640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0.25</a:t>
            </a:r>
            <a:endParaRPr lang="en-US" sz="1000" dirty="0"/>
          </a:p>
        </p:txBody>
      </p:sp>
      <p:sp>
        <p:nvSpPr>
          <p:cNvPr id="69" name="Shape 67"/>
          <p:cNvSpPr/>
          <p:nvPr/>
        </p:nvSpPr>
        <p:spPr>
          <a:xfrm>
            <a:off x="1225296" y="1887583"/>
            <a:ext cx="54864" cy="91"/>
          </a:xfrm>
          <a:prstGeom prst="line">
            <a:avLst/>
          </a:prstGeom>
          <a:noFill/>
          <a:ln w="12700">
            <a:solidFill>
              <a:srgbClr val="1A2340"/>
            </a:solidFill>
            <a:prstDash val="solid"/>
          </a:ln>
        </p:spPr>
      </p:sp>
      <p:sp>
        <p:nvSpPr>
          <p:cNvPr id="70" name="Text 68"/>
          <p:cNvSpPr/>
          <p:nvPr/>
        </p:nvSpPr>
        <p:spPr>
          <a:xfrm>
            <a:off x="841248" y="179614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0.30</a:t>
            </a:r>
            <a:endParaRPr lang="en-US" sz="1000" dirty="0"/>
          </a:p>
        </p:txBody>
      </p:sp>
      <p:sp>
        <p:nvSpPr>
          <p:cNvPr id="71" name="Shape 69"/>
          <p:cNvSpPr/>
          <p:nvPr/>
        </p:nvSpPr>
        <p:spPr>
          <a:xfrm>
            <a:off x="1225296" y="1417320"/>
            <a:ext cx="54864" cy="91"/>
          </a:xfrm>
          <a:prstGeom prst="line">
            <a:avLst/>
          </a:prstGeom>
          <a:noFill/>
          <a:ln w="12700">
            <a:solidFill>
              <a:srgbClr val="1A2340"/>
            </a:solidFill>
            <a:prstDash val="solid"/>
          </a:ln>
        </p:spPr>
      </p:sp>
      <p:sp>
        <p:nvSpPr>
          <p:cNvPr id="72" name="Text 70"/>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0.35</a:t>
            </a:r>
            <a:endParaRPr lang="en-US" sz="1000" dirty="0"/>
          </a:p>
        </p:txBody>
      </p:sp>
      <p:sp>
        <p:nvSpPr>
          <p:cNvPr id="73" name="Text 71"/>
          <p:cNvSpPr/>
          <p:nvPr/>
        </p:nvSpPr>
        <p:spPr>
          <a:xfrm>
            <a:off x="1280160" y="495604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potential difference / V</a:t>
            </a:r>
            <a:endParaRPr lang="en-US" sz="1050" dirty="0"/>
          </a:p>
        </p:txBody>
      </p:sp>
      <p:sp>
        <p:nvSpPr>
          <p:cNvPr id="74" name="Text 72"/>
          <p:cNvSpPr/>
          <p:nvPr/>
        </p:nvSpPr>
        <p:spPr>
          <a:xfrm rot="16200000">
            <a:off x="-93268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current / A</a:t>
            </a:r>
            <a:endParaRPr lang="en-US" sz="1050" dirty="0"/>
          </a:p>
        </p:txBody>
      </p:sp>
      <p:sp>
        <p:nvSpPr>
          <p:cNvPr id="75" name="Shape 73"/>
          <p:cNvSpPr/>
          <p:nvPr/>
        </p:nvSpPr>
        <p:spPr>
          <a:xfrm flipV="1">
            <a:off x="1280160" y="1887583"/>
            <a:ext cx="4434840" cy="2821577"/>
          </a:xfrm>
          <a:prstGeom prst="line">
            <a:avLst/>
          </a:prstGeom>
          <a:noFill/>
          <a:ln w="25400">
            <a:solidFill>
              <a:srgbClr val="2E5BD8"/>
            </a:solidFill>
            <a:prstDash val="solid"/>
          </a:ln>
        </p:spPr>
      </p:sp>
      <p:sp>
        <p:nvSpPr>
          <p:cNvPr id="76" name="Shape 74"/>
          <p:cNvSpPr/>
          <p:nvPr/>
        </p:nvSpPr>
        <p:spPr>
          <a:xfrm flipV="1">
            <a:off x="1280160" y="4446688"/>
            <a:ext cx="110871" cy="262472"/>
          </a:xfrm>
          <a:prstGeom prst="line">
            <a:avLst/>
          </a:prstGeom>
          <a:noFill/>
          <a:ln w="25400">
            <a:solidFill>
              <a:srgbClr val="C8414C"/>
            </a:solidFill>
            <a:prstDash val="solid"/>
          </a:ln>
        </p:spPr>
      </p:sp>
      <p:sp>
        <p:nvSpPr>
          <p:cNvPr id="77" name="Shape 75"/>
          <p:cNvSpPr/>
          <p:nvPr/>
        </p:nvSpPr>
        <p:spPr>
          <a:xfrm flipV="1">
            <a:off x="1391031" y="4218451"/>
            <a:ext cx="110871" cy="228237"/>
          </a:xfrm>
          <a:prstGeom prst="line">
            <a:avLst/>
          </a:prstGeom>
          <a:noFill/>
          <a:ln w="25400">
            <a:solidFill>
              <a:srgbClr val="C8414C"/>
            </a:solidFill>
            <a:prstDash val="solid"/>
          </a:ln>
        </p:spPr>
      </p:sp>
      <p:sp>
        <p:nvSpPr>
          <p:cNvPr id="78" name="Shape 76"/>
          <p:cNvSpPr/>
          <p:nvPr/>
        </p:nvSpPr>
        <p:spPr>
          <a:xfrm flipV="1">
            <a:off x="1501902" y="4018162"/>
            <a:ext cx="110871" cy="200289"/>
          </a:xfrm>
          <a:prstGeom prst="line">
            <a:avLst/>
          </a:prstGeom>
          <a:noFill/>
          <a:ln w="25400">
            <a:solidFill>
              <a:srgbClr val="C8414C"/>
            </a:solidFill>
            <a:prstDash val="solid"/>
          </a:ln>
        </p:spPr>
      </p:sp>
      <p:sp>
        <p:nvSpPr>
          <p:cNvPr id="79" name="Shape 77"/>
          <p:cNvSpPr/>
          <p:nvPr/>
        </p:nvSpPr>
        <p:spPr>
          <a:xfrm flipV="1">
            <a:off x="1612773" y="3840982"/>
            <a:ext cx="110871" cy="177179"/>
          </a:xfrm>
          <a:prstGeom prst="line">
            <a:avLst/>
          </a:prstGeom>
          <a:noFill/>
          <a:ln w="25400">
            <a:solidFill>
              <a:srgbClr val="C8414C"/>
            </a:solidFill>
            <a:prstDash val="solid"/>
          </a:ln>
        </p:spPr>
      </p:sp>
      <p:sp>
        <p:nvSpPr>
          <p:cNvPr id="80" name="Shape 78"/>
          <p:cNvSpPr/>
          <p:nvPr/>
        </p:nvSpPr>
        <p:spPr>
          <a:xfrm flipV="1">
            <a:off x="1723644" y="3683132"/>
            <a:ext cx="110871" cy="157850"/>
          </a:xfrm>
          <a:prstGeom prst="line">
            <a:avLst/>
          </a:prstGeom>
          <a:noFill/>
          <a:ln w="25400">
            <a:solidFill>
              <a:srgbClr val="C8414C"/>
            </a:solidFill>
            <a:prstDash val="solid"/>
          </a:ln>
        </p:spPr>
      </p:sp>
      <p:sp>
        <p:nvSpPr>
          <p:cNvPr id="81" name="Shape 79"/>
          <p:cNvSpPr/>
          <p:nvPr/>
        </p:nvSpPr>
        <p:spPr>
          <a:xfrm flipV="1">
            <a:off x="1834515" y="3541611"/>
            <a:ext cx="110871" cy="141521"/>
          </a:xfrm>
          <a:prstGeom prst="line">
            <a:avLst/>
          </a:prstGeom>
          <a:noFill/>
          <a:ln w="25400">
            <a:solidFill>
              <a:srgbClr val="C8414C"/>
            </a:solidFill>
            <a:prstDash val="solid"/>
          </a:ln>
        </p:spPr>
      </p:sp>
      <p:sp>
        <p:nvSpPr>
          <p:cNvPr id="82" name="Shape 80"/>
          <p:cNvSpPr/>
          <p:nvPr/>
        </p:nvSpPr>
        <p:spPr>
          <a:xfrm flipV="1">
            <a:off x="1945386" y="3414010"/>
            <a:ext cx="110871" cy="127601"/>
          </a:xfrm>
          <a:prstGeom prst="line">
            <a:avLst/>
          </a:prstGeom>
          <a:noFill/>
          <a:ln w="25400">
            <a:solidFill>
              <a:srgbClr val="C8414C"/>
            </a:solidFill>
            <a:prstDash val="solid"/>
          </a:ln>
        </p:spPr>
      </p:sp>
      <p:sp>
        <p:nvSpPr>
          <p:cNvPr id="83" name="Shape 81"/>
          <p:cNvSpPr/>
          <p:nvPr/>
        </p:nvSpPr>
        <p:spPr>
          <a:xfrm flipV="1">
            <a:off x="2056257" y="3298371"/>
            <a:ext cx="110871" cy="115638"/>
          </a:xfrm>
          <a:prstGeom prst="line">
            <a:avLst/>
          </a:prstGeom>
          <a:noFill/>
          <a:ln w="25400">
            <a:solidFill>
              <a:srgbClr val="C8414C"/>
            </a:solidFill>
            <a:prstDash val="solid"/>
          </a:ln>
        </p:spPr>
      </p:sp>
      <p:sp>
        <p:nvSpPr>
          <p:cNvPr id="84" name="Shape 82"/>
          <p:cNvSpPr/>
          <p:nvPr/>
        </p:nvSpPr>
        <p:spPr>
          <a:xfrm flipV="1">
            <a:off x="2167128" y="3193089"/>
            <a:ext cx="110871" cy="105283"/>
          </a:xfrm>
          <a:prstGeom prst="line">
            <a:avLst/>
          </a:prstGeom>
          <a:noFill/>
          <a:ln w="25400">
            <a:solidFill>
              <a:srgbClr val="C8414C"/>
            </a:solidFill>
            <a:prstDash val="solid"/>
          </a:ln>
        </p:spPr>
      </p:sp>
      <p:sp>
        <p:nvSpPr>
          <p:cNvPr id="85" name="Shape 83"/>
          <p:cNvSpPr/>
          <p:nvPr/>
        </p:nvSpPr>
        <p:spPr>
          <a:xfrm flipV="1">
            <a:off x="2277999" y="3096830"/>
            <a:ext cx="110871" cy="96258"/>
          </a:xfrm>
          <a:prstGeom prst="line">
            <a:avLst/>
          </a:prstGeom>
          <a:noFill/>
          <a:ln w="25400">
            <a:solidFill>
              <a:srgbClr val="C8414C"/>
            </a:solidFill>
            <a:prstDash val="solid"/>
          </a:ln>
        </p:spPr>
      </p:sp>
      <p:sp>
        <p:nvSpPr>
          <p:cNvPr id="86" name="Shape 84"/>
          <p:cNvSpPr/>
          <p:nvPr/>
        </p:nvSpPr>
        <p:spPr>
          <a:xfrm flipV="1">
            <a:off x="2388870" y="3008483"/>
            <a:ext cx="110871" cy="88347"/>
          </a:xfrm>
          <a:prstGeom prst="line">
            <a:avLst/>
          </a:prstGeom>
          <a:noFill/>
          <a:ln w="25400">
            <a:solidFill>
              <a:srgbClr val="C8414C"/>
            </a:solidFill>
            <a:prstDash val="solid"/>
          </a:ln>
        </p:spPr>
      </p:sp>
      <p:sp>
        <p:nvSpPr>
          <p:cNvPr id="87" name="Shape 85"/>
          <p:cNvSpPr/>
          <p:nvPr/>
        </p:nvSpPr>
        <p:spPr>
          <a:xfrm flipV="1">
            <a:off x="2499741" y="2927111"/>
            <a:ext cx="110871" cy="81372"/>
          </a:xfrm>
          <a:prstGeom prst="line">
            <a:avLst/>
          </a:prstGeom>
          <a:noFill/>
          <a:ln w="25400">
            <a:solidFill>
              <a:srgbClr val="C8414C"/>
            </a:solidFill>
            <a:prstDash val="solid"/>
          </a:ln>
        </p:spPr>
      </p:sp>
      <p:sp>
        <p:nvSpPr>
          <p:cNvPr id="88" name="Shape 86"/>
          <p:cNvSpPr/>
          <p:nvPr/>
        </p:nvSpPr>
        <p:spPr>
          <a:xfrm flipV="1">
            <a:off x="2610612" y="2851919"/>
            <a:ext cx="110871" cy="75192"/>
          </a:xfrm>
          <a:prstGeom prst="line">
            <a:avLst/>
          </a:prstGeom>
          <a:noFill/>
          <a:ln w="25400">
            <a:solidFill>
              <a:srgbClr val="C8414C"/>
            </a:solidFill>
            <a:prstDash val="solid"/>
          </a:ln>
        </p:spPr>
      </p:sp>
      <p:sp>
        <p:nvSpPr>
          <p:cNvPr id="89" name="Shape 87"/>
          <p:cNvSpPr/>
          <p:nvPr/>
        </p:nvSpPr>
        <p:spPr>
          <a:xfrm flipV="1">
            <a:off x="2721483" y="2782229"/>
            <a:ext cx="110871" cy="69690"/>
          </a:xfrm>
          <a:prstGeom prst="line">
            <a:avLst/>
          </a:prstGeom>
          <a:noFill/>
          <a:ln w="25400">
            <a:solidFill>
              <a:srgbClr val="C8414C"/>
            </a:solidFill>
            <a:prstDash val="solid"/>
          </a:ln>
        </p:spPr>
      </p:sp>
      <p:sp>
        <p:nvSpPr>
          <p:cNvPr id="90" name="Shape 88"/>
          <p:cNvSpPr/>
          <p:nvPr/>
        </p:nvSpPr>
        <p:spPr>
          <a:xfrm flipV="1">
            <a:off x="2832354" y="2717458"/>
            <a:ext cx="110871" cy="64771"/>
          </a:xfrm>
          <a:prstGeom prst="line">
            <a:avLst/>
          </a:prstGeom>
          <a:noFill/>
          <a:ln w="25400">
            <a:solidFill>
              <a:srgbClr val="C8414C"/>
            </a:solidFill>
            <a:prstDash val="solid"/>
          </a:ln>
        </p:spPr>
      </p:sp>
      <p:sp>
        <p:nvSpPr>
          <p:cNvPr id="91" name="Shape 89"/>
          <p:cNvSpPr/>
          <p:nvPr/>
        </p:nvSpPr>
        <p:spPr>
          <a:xfrm flipV="1">
            <a:off x="2943225" y="2657104"/>
            <a:ext cx="110871" cy="60355"/>
          </a:xfrm>
          <a:prstGeom prst="line">
            <a:avLst/>
          </a:prstGeom>
          <a:noFill/>
          <a:ln w="25400">
            <a:solidFill>
              <a:srgbClr val="C8414C"/>
            </a:solidFill>
            <a:prstDash val="solid"/>
          </a:ln>
        </p:spPr>
      </p:sp>
      <p:sp>
        <p:nvSpPr>
          <p:cNvPr id="92" name="Shape 90"/>
          <p:cNvSpPr/>
          <p:nvPr/>
        </p:nvSpPr>
        <p:spPr>
          <a:xfrm flipV="1">
            <a:off x="3054096" y="2600729"/>
            <a:ext cx="110871" cy="56375"/>
          </a:xfrm>
          <a:prstGeom prst="line">
            <a:avLst/>
          </a:prstGeom>
          <a:noFill/>
          <a:ln w="25400">
            <a:solidFill>
              <a:srgbClr val="C8414C"/>
            </a:solidFill>
            <a:prstDash val="solid"/>
          </a:ln>
        </p:spPr>
      </p:sp>
      <p:sp>
        <p:nvSpPr>
          <p:cNvPr id="93" name="Shape 91"/>
          <p:cNvSpPr/>
          <p:nvPr/>
        </p:nvSpPr>
        <p:spPr>
          <a:xfrm flipV="1">
            <a:off x="3164967" y="2547952"/>
            <a:ext cx="110871" cy="52777"/>
          </a:xfrm>
          <a:prstGeom prst="line">
            <a:avLst/>
          </a:prstGeom>
          <a:noFill/>
          <a:ln w="25400">
            <a:solidFill>
              <a:srgbClr val="C8414C"/>
            </a:solidFill>
            <a:prstDash val="solid"/>
          </a:ln>
        </p:spPr>
      </p:sp>
      <p:sp>
        <p:nvSpPr>
          <p:cNvPr id="94" name="Shape 92"/>
          <p:cNvSpPr/>
          <p:nvPr/>
        </p:nvSpPr>
        <p:spPr>
          <a:xfrm flipV="1">
            <a:off x="3275838" y="2498440"/>
            <a:ext cx="110871" cy="49512"/>
          </a:xfrm>
          <a:prstGeom prst="line">
            <a:avLst/>
          </a:prstGeom>
          <a:noFill/>
          <a:ln w="25400">
            <a:solidFill>
              <a:srgbClr val="C8414C"/>
            </a:solidFill>
            <a:prstDash val="solid"/>
          </a:ln>
        </p:spPr>
      </p:sp>
      <p:sp>
        <p:nvSpPr>
          <p:cNvPr id="95" name="Shape 93"/>
          <p:cNvSpPr/>
          <p:nvPr/>
        </p:nvSpPr>
        <p:spPr>
          <a:xfrm flipV="1">
            <a:off x="3386709" y="2451898"/>
            <a:ext cx="110871" cy="46541"/>
          </a:xfrm>
          <a:prstGeom prst="line">
            <a:avLst/>
          </a:prstGeom>
          <a:noFill/>
          <a:ln w="25400">
            <a:solidFill>
              <a:srgbClr val="C8414C"/>
            </a:solidFill>
            <a:prstDash val="solid"/>
          </a:ln>
        </p:spPr>
      </p:sp>
      <p:sp>
        <p:nvSpPr>
          <p:cNvPr id="96" name="Shape 94"/>
          <p:cNvSpPr/>
          <p:nvPr/>
        </p:nvSpPr>
        <p:spPr>
          <a:xfrm flipV="1">
            <a:off x="3497580" y="2408068"/>
            <a:ext cx="110871" cy="43830"/>
          </a:xfrm>
          <a:prstGeom prst="line">
            <a:avLst/>
          </a:prstGeom>
          <a:noFill/>
          <a:ln w="25400">
            <a:solidFill>
              <a:srgbClr val="C8414C"/>
            </a:solidFill>
            <a:prstDash val="solid"/>
          </a:ln>
        </p:spPr>
      </p:sp>
      <p:sp>
        <p:nvSpPr>
          <p:cNvPr id="97" name="Shape 95"/>
          <p:cNvSpPr/>
          <p:nvPr/>
        </p:nvSpPr>
        <p:spPr>
          <a:xfrm flipV="1">
            <a:off x="3608451" y="2366719"/>
            <a:ext cx="110871" cy="41349"/>
          </a:xfrm>
          <a:prstGeom prst="line">
            <a:avLst/>
          </a:prstGeom>
          <a:noFill/>
          <a:ln w="25400">
            <a:solidFill>
              <a:srgbClr val="C8414C"/>
            </a:solidFill>
            <a:prstDash val="solid"/>
          </a:ln>
        </p:spPr>
      </p:sp>
      <p:sp>
        <p:nvSpPr>
          <p:cNvPr id="98" name="Shape 96"/>
          <p:cNvSpPr/>
          <p:nvPr/>
        </p:nvSpPr>
        <p:spPr>
          <a:xfrm flipV="1">
            <a:off x="3719322" y="2327645"/>
            <a:ext cx="110871" cy="39073"/>
          </a:xfrm>
          <a:prstGeom prst="line">
            <a:avLst/>
          </a:prstGeom>
          <a:noFill/>
          <a:ln w="25400">
            <a:solidFill>
              <a:srgbClr val="C8414C"/>
            </a:solidFill>
            <a:prstDash val="solid"/>
          </a:ln>
        </p:spPr>
      </p:sp>
      <p:sp>
        <p:nvSpPr>
          <p:cNvPr id="99" name="Shape 97"/>
          <p:cNvSpPr/>
          <p:nvPr/>
        </p:nvSpPr>
        <p:spPr>
          <a:xfrm flipV="1">
            <a:off x="3830193" y="2290665"/>
            <a:ext cx="110871" cy="36980"/>
          </a:xfrm>
          <a:prstGeom prst="line">
            <a:avLst/>
          </a:prstGeom>
          <a:noFill/>
          <a:ln w="25400">
            <a:solidFill>
              <a:srgbClr val="C8414C"/>
            </a:solidFill>
            <a:prstDash val="solid"/>
          </a:ln>
        </p:spPr>
      </p:sp>
      <p:sp>
        <p:nvSpPr>
          <p:cNvPr id="100" name="Shape 98"/>
          <p:cNvSpPr/>
          <p:nvPr/>
        </p:nvSpPr>
        <p:spPr>
          <a:xfrm flipV="1">
            <a:off x="3941064" y="2255615"/>
            <a:ext cx="110871" cy="35051"/>
          </a:xfrm>
          <a:prstGeom prst="line">
            <a:avLst/>
          </a:prstGeom>
          <a:noFill/>
          <a:ln w="25400">
            <a:solidFill>
              <a:srgbClr val="C8414C"/>
            </a:solidFill>
            <a:prstDash val="solid"/>
          </a:ln>
        </p:spPr>
      </p:sp>
      <p:sp>
        <p:nvSpPr>
          <p:cNvPr id="101" name="Shape 99"/>
          <p:cNvSpPr/>
          <p:nvPr/>
        </p:nvSpPr>
        <p:spPr>
          <a:xfrm flipV="1">
            <a:off x="4051935" y="2222346"/>
            <a:ext cx="110871" cy="33268"/>
          </a:xfrm>
          <a:prstGeom prst="line">
            <a:avLst/>
          </a:prstGeom>
          <a:noFill/>
          <a:ln w="25400">
            <a:solidFill>
              <a:srgbClr val="C8414C"/>
            </a:solidFill>
            <a:prstDash val="solid"/>
          </a:ln>
        </p:spPr>
      </p:sp>
      <p:sp>
        <p:nvSpPr>
          <p:cNvPr id="102" name="Shape 100"/>
          <p:cNvSpPr/>
          <p:nvPr/>
        </p:nvSpPr>
        <p:spPr>
          <a:xfrm flipV="1">
            <a:off x="4162806" y="2190728"/>
            <a:ext cx="110871" cy="31619"/>
          </a:xfrm>
          <a:prstGeom prst="line">
            <a:avLst/>
          </a:prstGeom>
          <a:noFill/>
          <a:ln w="25400">
            <a:solidFill>
              <a:srgbClr val="C8414C"/>
            </a:solidFill>
            <a:prstDash val="solid"/>
          </a:ln>
        </p:spPr>
      </p:sp>
      <p:sp>
        <p:nvSpPr>
          <p:cNvPr id="103" name="Shape 101"/>
          <p:cNvSpPr/>
          <p:nvPr/>
        </p:nvSpPr>
        <p:spPr>
          <a:xfrm flipV="1">
            <a:off x="4273677" y="2160639"/>
            <a:ext cx="110871" cy="30089"/>
          </a:xfrm>
          <a:prstGeom prst="line">
            <a:avLst/>
          </a:prstGeom>
          <a:noFill/>
          <a:ln w="25400">
            <a:solidFill>
              <a:srgbClr val="C8414C"/>
            </a:solidFill>
            <a:prstDash val="solid"/>
          </a:ln>
        </p:spPr>
      </p:sp>
      <p:sp>
        <p:nvSpPr>
          <p:cNvPr id="104" name="Shape 102"/>
          <p:cNvSpPr/>
          <p:nvPr/>
        </p:nvSpPr>
        <p:spPr>
          <a:xfrm flipV="1">
            <a:off x="4384548" y="2131971"/>
            <a:ext cx="110871" cy="28667"/>
          </a:xfrm>
          <a:prstGeom prst="line">
            <a:avLst/>
          </a:prstGeom>
          <a:noFill/>
          <a:ln w="25400">
            <a:solidFill>
              <a:srgbClr val="C8414C"/>
            </a:solidFill>
            <a:prstDash val="solid"/>
          </a:ln>
        </p:spPr>
      </p:sp>
      <p:sp>
        <p:nvSpPr>
          <p:cNvPr id="105" name="Shape 103"/>
          <p:cNvSpPr/>
          <p:nvPr/>
        </p:nvSpPr>
        <p:spPr>
          <a:xfrm flipV="1">
            <a:off x="4495419" y="2104627"/>
            <a:ext cx="110871" cy="27344"/>
          </a:xfrm>
          <a:prstGeom prst="line">
            <a:avLst/>
          </a:prstGeom>
          <a:noFill/>
          <a:ln w="25400">
            <a:solidFill>
              <a:srgbClr val="C8414C"/>
            </a:solidFill>
            <a:prstDash val="solid"/>
          </a:ln>
        </p:spPr>
      </p:sp>
      <p:sp>
        <p:nvSpPr>
          <p:cNvPr id="106" name="Shape 104"/>
          <p:cNvSpPr/>
          <p:nvPr/>
        </p:nvSpPr>
        <p:spPr>
          <a:xfrm flipV="1">
            <a:off x="4606290" y="2078517"/>
            <a:ext cx="110871" cy="26111"/>
          </a:xfrm>
          <a:prstGeom prst="line">
            <a:avLst/>
          </a:prstGeom>
          <a:noFill/>
          <a:ln w="25400">
            <a:solidFill>
              <a:srgbClr val="C8414C"/>
            </a:solidFill>
            <a:prstDash val="solid"/>
          </a:ln>
        </p:spPr>
      </p:sp>
      <p:sp>
        <p:nvSpPr>
          <p:cNvPr id="107" name="Shape 105"/>
          <p:cNvSpPr/>
          <p:nvPr/>
        </p:nvSpPr>
        <p:spPr>
          <a:xfrm flipV="1">
            <a:off x="4717161" y="2053558"/>
            <a:ext cx="110871" cy="24959"/>
          </a:xfrm>
          <a:prstGeom prst="line">
            <a:avLst/>
          </a:prstGeom>
          <a:noFill/>
          <a:ln w="25400">
            <a:solidFill>
              <a:srgbClr val="C8414C"/>
            </a:solidFill>
            <a:prstDash val="solid"/>
          </a:ln>
        </p:spPr>
      </p:sp>
      <p:sp>
        <p:nvSpPr>
          <p:cNvPr id="108" name="Shape 106"/>
          <p:cNvSpPr/>
          <p:nvPr/>
        </p:nvSpPr>
        <p:spPr>
          <a:xfrm flipV="1">
            <a:off x="4828032" y="2029677"/>
            <a:ext cx="110871" cy="23881"/>
          </a:xfrm>
          <a:prstGeom prst="line">
            <a:avLst/>
          </a:prstGeom>
          <a:noFill/>
          <a:ln w="25400">
            <a:solidFill>
              <a:srgbClr val="C8414C"/>
            </a:solidFill>
            <a:prstDash val="solid"/>
          </a:ln>
        </p:spPr>
      </p:sp>
      <p:sp>
        <p:nvSpPr>
          <p:cNvPr id="109" name="Shape 107"/>
          <p:cNvSpPr/>
          <p:nvPr/>
        </p:nvSpPr>
        <p:spPr>
          <a:xfrm flipV="1">
            <a:off x="4938903" y="2006804"/>
            <a:ext cx="110871" cy="22872"/>
          </a:xfrm>
          <a:prstGeom prst="line">
            <a:avLst/>
          </a:prstGeom>
          <a:noFill/>
          <a:ln w="25400">
            <a:solidFill>
              <a:srgbClr val="C8414C"/>
            </a:solidFill>
            <a:prstDash val="solid"/>
          </a:ln>
        </p:spPr>
      </p:sp>
      <p:sp>
        <p:nvSpPr>
          <p:cNvPr id="110" name="Shape 108"/>
          <p:cNvSpPr/>
          <p:nvPr/>
        </p:nvSpPr>
        <p:spPr>
          <a:xfrm flipV="1">
            <a:off x="5049774" y="1984879"/>
            <a:ext cx="110871" cy="21926"/>
          </a:xfrm>
          <a:prstGeom prst="line">
            <a:avLst/>
          </a:prstGeom>
          <a:noFill/>
          <a:ln w="25400">
            <a:solidFill>
              <a:srgbClr val="C8414C"/>
            </a:solidFill>
            <a:prstDash val="solid"/>
          </a:ln>
        </p:spPr>
      </p:sp>
      <p:sp>
        <p:nvSpPr>
          <p:cNvPr id="111" name="Shape 109"/>
          <p:cNvSpPr/>
          <p:nvPr/>
        </p:nvSpPr>
        <p:spPr>
          <a:xfrm flipV="1">
            <a:off x="5160645" y="1963842"/>
            <a:ext cx="110871" cy="21037"/>
          </a:xfrm>
          <a:prstGeom prst="line">
            <a:avLst/>
          </a:prstGeom>
          <a:noFill/>
          <a:ln w="25400">
            <a:solidFill>
              <a:srgbClr val="C8414C"/>
            </a:solidFill>
            <a:prstDash val="solid"/>
          </a:ln>
        </p:spPr>
      </p:sp>
      <p:sp>
        <p:nvSpPr>
          <p:cNvPr id="112" name="Shape 110"/>
          <p:cNvSpPr/>
          <p:nvPr/>
        </p:nvSpPr>
        <p:spPr>
          <a:xfrm flipV="1">
            <a:off x="5271516" y="1943641"/>
            <a:ext cx="110871" cy="20201"/>
          </a:xfrm>
          <a:prstGeom prst="line">
            <a:avLst/>
          </a:prstGeom>
          <a:noFill/>
          <a:ln w="25400">
            <a:solidFill>
              <a:srgbClr val="C8414C"/>
            </a:solidFill>
            <a:prstDash val="solid"/>
          </a:ln>
        </p:spPr>
      </p:sp>
      <p:sp>
        <p:nvSpPr>
          <p:cNvPr id="113" name="Shape 111"/>
          <p:cNvSpPr/>
          <p:nvPr/>
        </p:nvSpPr>
        <p:spPr>
          <a:xfrm flipV="1">
            <a:off x="5382387" y="1924227"/>
            <a:ext cx="110871" cy="19414"/>
          </a:xfrm>
          <a:prstGeom prst="line">
            <a:avLst/>
          </a:prstGeom>
          <a:noFill/>
          <a:ln w="25400">
            <a:solidFill>
              <a:srgbClr val="C8414C"/>
            </a:solidFill>
            <a:prstDash val="solid"/>
          </a:ln>
        </p:spPr>
      </p:sp>
      <p:sp>
        <p:nvSpPr>
          <p:cNvPr id="114" name="Shape 112"/>
          <p:cNvSpPr/>
          <p:nvPr/>
        </p:nvSpPr>
        <p:spPr>
          <a:xfrm flipV="1">
            <a:off x="5493258" y="1905555"/>
            <a:ext cx="110871" cy="18672"/>
          </a:xfrm>
          <a:prstGeom prst="line">
            <a:avLst/>
          </a:prstGeom>
          <a:noFill/>
          <a:ln w="25400">
            <a:solidFill>
              <a:srgbClr val="C8414C"/>
            </a:solidFill>
            <a:prstDash val="solid"/>
          </a:ln>
        </p:spPr>
      </p:sp>
      <p:sp>
        <p:nvSpPr>
          <p:cNvPr id="115" name="Shape 113"/>
          <p:cNvSpPr/>
          <p:nvPr/>
        </p:nvSpPr>
        <p:spPr>
          <a:xfrm flipV="1">
            <a:off x="5604129" y="1887583"/>
            <a:ext cx="110871" cy="17972"/>
          </a:xfrm>
          <a:prstGeom prst="line">
            <a:avLst/>
          </a:prstGeom>
          <a:noFill/>
          <a:ln w="25400">
            <a:solidFill>
              <a:srgbClr val="C8414C"/>
            </a:solidFill>
            <a:prstDash val="solid"/>
          </a:ln>
        </p:spPr>
      </p:sp>
      <p:sp>
        <p:nvSpPr>
          <p:cNvPr id="116" name="Shape 114"/>
          <p:cNvSpPr/>
          <p:nvPr/>
        </p:nvSpPr>
        <p:spPr>
          <a:xfrm>
            <a:off x="1234440" y="4663440"/>
            <a:ext cx="91440" cy="91440"/>
          </a:xfrm>
          <a:prstGeom prst="line">
            <a:avLst/>
          </a:prstGeom>
          <a:noFill/>
          <a:ln w="15875">
            <a:solidFill>
              <a:srgbClr val="2E5BD8"/>
            </a:solidFill>
            <a:prstDash val="solid"/>
          </a:ln>
        </p:spPr>
      </p:sp>
      <p:sp>
        <p:nvSpPr>
          <p:cNvPr id="117" name="Shape 115"/>
          <p:cNvSpPr/>
          <p:nvPr/>
        </p:nvSpPr>
        <p:spPr>
          <a:xfrm flipV="1">
            <a:off x="1234440" y="4663440"/>
            <a:ext cx="91440" cy="91440"/>
          </a:xfrm>
          <a:prstGeom prst="line">
            <a:avLst/>
          </a:prstGeom>
          <a:noFill/>
          <a:ln w="15875">
            <a:solidFill>
              <a:srgbClr val="2E5BD8"/>
            </a:solidFill>
            <a:prstDash val="solid"/>
          </a:ln>
        </p:spPr>
      </p:sp>
      <p:sp>
        <p:nvSpPr>
          <p:cNvPr id="118" name="Shape 116"/>
          <p:cNvSpPr/>
          <p:nvPr/>
        </p:nvSpPr>
        <p:spPr>
          <a:xfrm>
            <a:off x="1973580" y="4193177"/>
            <a:ext cx="91440" cy="91440"/>
          </a:xfrm>
          <a:prstGeom prst="line">
            <a:avLst/>
          </a:prstGeom>
          <a:noFill/>
          <a:ln w="15875">
            <a:solidFill>
              <a:srgbClr val="2E5BD8"/>
            </a:solidFill>
            <a:prstDash val="solid"/>
          </a:ln>
        </p:spPr>
      </p:sp>
      <p:sp>
        <p:nvSpPr>
          <p:cNvPr id="119" name="Shape 117"/>
          <p:cNvSpPr/>
          <p:nvPr/>
        </p:nvSpPr>
        <p:spPr>
          <a:xfrm flipV="1">
            <a:off x="1973580" y="4193177"/>
            <a:ext cx="91440" cy="91440"/>
          </a:xfrm>
          <a:prstGeom prst="line">
            <a:avLst/>
          </a:prstGeom>
          <a:noFill/>
          <a:ln w="15875">
            <a:solidFill>
              <a:srgbClr val="2E5BD8"/>
            </a:solidFill>
            <a:prstDash val="solid"/>
          </a:ln>
        </p:spPr>
      </p:sp>
      <p:sp>
        <p:nvSpPr>
          <p:cNvPr id="120" name="Shape 118"/>
          <p:cNvSpPr/>
          <p:nvPr/>
        </p:nvSpPr>
        <p:spPr>
          <a:xfrm>
            <a:off x="2712720" y="3722914"/>
            <a:ext cx="91440" cy="91440"/>
          </a:xfrm>
          <a:prstGeom prst="line">
            <a:avLst/>
          </a:prstGeom>
          <a:noFill/>
          <a:ln w="15875">
            <a:solidFill>
              <a:srgbClr val="2E5BD8"/>
            </a:solidFill>
            <a:prstDash val="solid"/>
          </a:ln>
        </p:spPr>
      </p:sp>
      <p:sp>
        <p:nvSpPr>
          <p:cNvPr id="121" name="Shape 119"/>
          <p:cNvSpPr/>
          <p:nvPr/>
        </p:nvSpPr>
        <p:spPr>
          <a:xfrm flipV="1">
            <a:off x="2712720" y="3722914"/>
            <a:ext cx="91440" cy="91440"/>
          </a:xfrm>
          <a:prstGeom prst="line">
            <a:avLst/>
          </a:prstGeom>
          <a:noFill/>
          <a:ln w="15875">
            <a:solidFill>
              <a:srgbClr val="2E5BD8"/>
            </a:solidFill>
            <a:prstDash val="solid"/>
          </a:ln>
        </p:spPr>
      </p:sp>
      <p:sp>
        <p:nvSpPr>
          <p:cNvPr id="122" name="Shape 120"/>
          <p:cNvSpPr/>
          <p:nvPr/>
        </p:nvSpPr>
        <p:spPr>
          <a:xfrm>
            <a:off x="3451860" y="3252651"/>
            <a:ext cx="91440" cy="91440"/>
          </a:xfrm>
          <a:prstGeom prst="line">
            <a:avLst/>
          </a:prstGeom>
          <a:noFill/>
          <a:ln w="15875">
            <a:solidFill>
              <a:srgbClr val="2E5BD8"/>
            </a:solidFill>
            <a:prstDash val="solid"/>
          </a:ln>
        </p:spPr>
      </p:sp>
      <p:sp>
        <p:nvSpPr>
          <p:cNvPr id="123" name="Shape 121"/>
          <p:cNvSpPr/>
          <p:nvPr/>
        </p:nvSpPr>
        <p:spPr>
          <a:xfrm flipV="1">
            <a:off x="3451860" y="3252651"/>
            <a:ext cx="91440" cy="91440"/>
          </a:xfrm>
          <a:prstGeom prst="line">
            <a:avLst/>
          </a:prstGeom>
          <a:noFill/>
          <a:ln w="15875">
            <a:solidFill>
              <a:srgbClr val="2E5BD8"/>
            </a:solidFill>
            <a:prstDash val="solid"/>
          </a:ln>
        </p:spPr>
      </p:sp>
      <p:sp>
        <p:nvSpPr>
          <p:cNvPr id="124" name="Shape 122"/>
          <p:cNvSpPr/>
          <p:nvPr/>
        </p:nvSpPr>
        <p:spPr>
          <a:xfrm>
            <a:off x="4191000" y="2782389"/>
            <a:ext cx="91440" cy="91440"/>
          </a:xfrm>
          <a:prstGeom prst="line">
            <a:avLst/>
          </a:prstGeom>
          <a:noFill/>
          <a:ln w="15875">
            <a:solidFill>
              <a:srgbClr val="2E5BD8"/>
            </a:solidFill>
            <a:prstDash val="solid"/>
          </a:ln>
        </p:spPr>
      </p:sp>
      <p:sp>
        <p:nvSpPr>
          <p:cNvPr id="125" name="Shape 123"/>
          <p:cNvSpPr/>
          <p:nvPr/>
        </p:nvSpPr>
        <p:spPr>
          <a:xfrm flipV="1">
            <a:off x="4191000" y="2782389"/>
            <a:ext cx="91440" cy="91440"/>
          </a:xfrm>
          <a:prstGeom prst="line">
            <a:avLst/>
          </a:prstGeom>
          <a:noFill/>
          <a:ln w="15875">
            <a:solidFill>
              <a:srgbClr val="2E5BD8"/>
            </a:solidFill>
            <a:prstDash val="solid"/>
          </a:ln>
        </p:spPr>
      </p:sp>
      <p:sp>
        <p:nvSpPr>
          <p:cNvPr id="126" name="Shape 124"/>
          <p:cNvSpPr/>
          <p:nvPr/>
        </p:nvSpPr>
        <p:spPr>
          <a:xfrm>
            <a:off x="4930140" y="2312126"/>
            <a:ext cx="91440" cy="91440"/>
          </a:xfrm>
          <a:prstGeom prst="line">
            <a:avLst/>
          </a:prstGeom>
          <a:noFill/>
          <a:ln w="15875">
            <a:solidFill>
              <a:srgbClr val="2E5BD8"/>
            </a:solidFill>
            <a:prstDash val="solid"/>
          </a:ln>
        </p:spPr>
      </p:sp>
      <p:sp>
        <p:nvSpPr>
          <p:cNvPr id="127" name="Shape 125"/>
          <p:cNvSpPr/>
          <p:nvPr/>
        </p:nvSpPr>
        <p:spPr>
          <a:xfrm flipV="1">
            <a:off x="4930140" y="2312126"/>
            <a:ext cx="91440" cy="91440"/>
          </a:xfrm>
          <a:prstGeom prst="line">
            <a:avLst/>
          </a:prstGeom>
          <a:noFill/>
          <a:ln w="15875">
            <a:solidFill>
              <a:srgbClr val="2E5BD8"/>
            </a:solidFill>
            <a:prstDash val="solid"/>
          </a:ln>
        </p:spPr>
      </p:sp>
      <p:sp>
        <p:nvSpPr>
          <p:cNvPr id="128" name="Shape 126"/>
          <p:cNvSpPr/>
          <p:nvPr/>
        </p:nvSpPr>
        <p:spPr>
          <a:xfrm>
            <a:off x="5669280" y="1841863"/>
            <a:ext cx="91440" cy="91440"/>
          </a:xfrm>
          <a:prstGeom prst="line">
            <a:avLst/>
          </a:prstGeom>
          <a:noFill/>
          <a:ln w="15875">
            <a:solidFill>
              <a:srgbClr val="2E5BD8"/>
            </a:solidFill>
            <a:prstDash val="solid"/>
          </a:ln>
        </p:spPr>
      </p:sp>
      <p:sp>
        <p:nvSpPr>
          <p:cNvPr id="129" name="Shape 127"/>
          <p:cNvSpPr/>
          <p:nvPr/>
        </p:nvSpPr>
        <p:spPr>
          <a:xfrm flipV="1">
            <a:off x="5669280" y="1841863"/>
            <a:ext cx="91440" cy="91440"/>
          </a:xfrm>
          <a:prstGeom prst="line">
            <a:avLst/>
          </a:prstGeom>
          <a:noFill/>
          <a:ln w="15875">
            <a:solidFill>
              <a:srgbClr val="2E5BD8"/>
            </a:solidFill>
            <a:prstDash val="solid"/>
          </a:ln>
        </p:spPr>
      </p:sp>
      <p:sp>
        <p:nvSpPr>
          <p:cNvPr id="130" name="Shape 128"/>
          <p:cNvSpPr/>
          <p:nvPr/>
        </p:nvSpPr>
        <p:spPr>
          <a:xfrm>
            <a:off x="1234440" y="4663440"/>
            <a:ext cx="91440" cy="91440"/>
          </a:xfrm>
          <a:prstGeom prst="line">
            <a:avLst/>
          </a:prstGeom>
          <a:noFill/>
          <a:ln w="15875">
            <a:solidFill>
              <a:srgbClr val="C8414C"/>
            </a:solidFill>
            <a:prstDash val="solid"/>
          </a:ln>
        </p:spPr>
      </p:sp>
      <p:sp>
        <p:nvSpPr>
          <p:cNvPr id="131" name="Shape 129"/>
          <p:cNvSpPr/>
          <p:nvPr/>
        </p:nvSpPr>
        <p:spPr>
          <a:xfrm flipV="1">
            <a:off x="1234440" y="4663440"/>
            <a:ext cx="91440" cy="91440"/>
          </a:xfrm>
          <a:prstGeom prst="line">
            <a:avLst/>
          </a:prstGeom>
          <a:noFill/>
          <a:ln w="15875">
            <a:solidFill>
              <a:srgbClr val="C8414C"/>
            </a:solidFill>
            <a:prstDash val="solid"/>
          </a:ln>
        </p:spPr>
      </p:sp>
      <p:sp>
        <p:nvSpPr>
          <p:cNvPr id="132" name="Shape 130"/>
          <p:cNvSpPr/>
          <p:nvPr/>
        </p:nvSpPr>
        <p:spPr>
          <a:xfrm>
            <a:off x="1973580" y="3440757"/>
            <a:ext cx="91440" cy="91440"/>
          </a:xfrm>
          <a:prstGeom prst="line">
            <a:avLst/>
          </a:prstGeom>
          <a:noFill/>
          <a:ln w="15875">
            <a:solidFill>
              <a:srgbClr val="C8414C"/>
            </a:solidFill>
            <a:prstDash val="solid"/>
          </a:ln>
        </p:spPr>
      </p:sp>
      <p:sp>
        <p:nvSpPr>
          <p:cNvPr id="133" name="Shape 131"/>
          <p:cNvSpPr/>
          <p:nvPr/>
        </p:nvSpPr>
        <p:spPr>
          <a:xfrm flipV="1">
            <a:off x="1973580" y="3440757"/>
            <a:ext cx="91440" cy="91440"/>
          </a:xfrm>
          <a:prstGeom prst="line">
            <a:avLst/>
          </a:prstGeom>
          <a:noFill/>
          <a:ln w="15875">
            <a:solidFill>
              <a:srgbClr val="C8414C"/>
            </a:solidFill>
            <a:prstDash val="solid"/>
          </a:ln>
        </p:spPr>
      </p:sp>
      <p:sp>
        <p:nvSpPr>
          <p:cNvPr id="134" name="Shape 132"/>
          <p:cNvSpPr/>
          <p:nvPr/>
        </p:nvSpPr>
        <p:spPr>
          <a:xfrm>
            <a:off x="2712720" y="2782389"/>
            <a:ext cx="91440" cy="91440"/>
          </a:xfrm>
          <a:prstGeom prst="line">
            <a:avLst/>
          </a:prstGeom>
          <a:noFill/>
          <a:ln w="15875">
            <a:solidFill>
              <a:srgbClr val="C8414C"/>
            </a:solidFill>
            <a:prstDash val="solid"/>
          </a:ln>
        </p:spPr>
      </p:sp>
      <p:sp>
        <p:nvSpPr>
          <p:cNvPr id="135" name="Shape 133"/>
          <p:cNvSpPr/>
          <p:nvPr/>
        </p:nvSpPr>
        <p:spPr>
          <a:xfrm flipV="1">
            <a:off x="2712720" y="2782389"/>
            <a:ext cx="91440" cy="91440"/>
          </a:xfrm>
          <a:prstGeom prst="line">
            <a:avLst/>
          </a:prstGeom>
          <a:noFill/>
          <a:ln w="15875">
            <a:solidFill>
              <a:srgbClr val="C8414C"/>
            </a:solidFill>
            <a:prstDash val="solid"/>
          </a:ln>
        </p:spPr>
      </p:sp>
      <p:sp>
        <p:nvSpPr>
          <p:cNvPr id="136" name="Shape 134"/>
          <p:cNvSpPr/>
          <p:nvPr/>
        </p:nvSpPr>
        <p:spPr>
          <a:xfrm>
            <a:off x="3451860" y="2406178"/>
            <a:ext cx="91440" cy="91440"/>
          </a:xfrm>
          <a:prstGeom prst="line">
            <a:avLst/>
          </a:prstGeom>
          <a:noFill/>
          <a:ln w="15875">
            <a:solidFill>
              <a:srgbClr val="C8414C"/>
            </a:solidFill>
            <a:prstDash val="solid"/>
          </a:ln>
        </p:spPr>
      </p:sp>
      <p:sp>
        <p:nvSpPr>
          <p:cNvPr id="137" name="Shape 135"/>
          <p:cNvSpPr/>
          <p:nvPr/>
        </p:nvSpPr>
        <p:spPr>
          <a:xfrm flipV="1">
            <a:off x="3451860" y="2406178"/>
            <a:ext cx="91440" cy="91440"/>
          </a:xfrm>
          <a:prstGeom prst="line">
            <a:avLst/>
          </a:prstGeom>
          <a:noFill/>
          <a:ln w="15875">
            <a:solidFill>
              <a:srgbClr val="C8414C"/>
            </a:solidFill>
            <a:prstDash val="solid"/>
          </a:ln>
        </p:spPr>
      </p:sp>
      <p:sp>
        <p:nvSpPr>
          <p:cNvPr id="138" name="Shape 136"/>
          <p:cNvSpPr/>
          <p:nvPr/>
        </p:nvSpPr>
        <p:spPr>
          <a:xfrm>
            <a:off x="4191000" y="2124021"/>
            <a:ext cx="91440" cy="91440"/>
          </a:xfrm>
          <a:prstGeom prst="line">
            <a:avLst/>
          </a:prstGeom>
          <a:noFill/>
          <a:ln w="15875">
            <a:solidFill>
              <a:srgbClr val="C8414C"/>
            </a:solidFill>
            <a:prstDash val="solid"/>
          </a:ln>
        </p:spPr>
      </p:sp>
      <p:sp>
        <p:nvSpPr>
          <p:cNvPr id="139" name="Shape 137"/>
          <p:cNvSpPr/>
          <p:nvPr/>
        </p:nvSpPr>
        <p:spPr>
          <a:xfrm flipV="1">
            <a:off x="4191000" y="2124021"/>
            <a:ext cx="91440" cy="91440"/>
          </a:xfrm>
          <a:prstGeom prst="line">
            <a:avLst/>
          </a:prstGeom>
          <a:noFill/>
          <a:ln w="15875">
            <a:solidFill>
              <a:srgbClr val="C8414C"/>
            </a:solidFill>
            <a:prstDash val="solid"/>
          </a:ln>
        </p:spPr>
      </p:sp>
      <p:sp>
        <p:nvSpPr>
          <p:cNvPr id="140" name="Shape 138"/>
          <p:cNvSpPr/>
          <p:nvPr/>
        </p:nvSpPr>
        <p:spPr>
          <a:xfrm>
            <a:off x="4930140" y="1935915"/>
            <a:ext cx="91440" cy="91440"/>
          </a:xfrm>
          <a:prstGeom prst="line">
            <a:avLst/>
          </a:prstGeom>
          <a:noFill/>
          <a:ln w="15875">
            <a:solidFill>
              <a:srgbClr val="C8414C"/>
            </a:solidFill>
            <a:prstDash val="solid"/>
          </a:ln>
        </p:spPr>
      </p:sp>
      <p:sp>
        <p:nvSpPr>
          <p:cNvPr id="141" name="Shape 139"/>
          <p:cNvSpPr/>
          <p:nvPr/>
        </p:nvSpPr>
        <p:spPr>
          <a:xfrm flipV="1">
            <a:off x="4930140" y="1935915"/>
            <a:ext cx="91440" cy="91440"/>
          </a:xfrm>
          <a:prstGeom prst="line">
            <a:avLst/>
          </a:prstGeom>
          <a:noFill/>
          <a:ln w="15875">
            <a:solidFill>
              <a:srgbClr val="C8414C"/>
            </a:solidFill>
            <a:prstDash val="solid"/>
          </a:ln>
        </p:spPr>
      </p:sp>
      <p:sp>
        <p:nvSpPr>
          <p:cNvPr id="142" name="Shape 140"/>
          <p:cNvSpPr/>
          <p:nvPr/>
        </p:nvSpPr>
        <p:spPr>
          <a:xfrm>
            <a:off x="5669280" y="1841863"/>
            <a:ext cx="91440" cy="91440"/>
          </a:xfrm>
          <a:prstGeom prst="line">
            <a:avLst/>
          </a:prstGeom>
          <a:noFill/>
          <a:ln w="15875">
            <a:solidFill>
              <a:srgbClr val="C8414C"/>
            </a:solidFill>
            <a:prstDash val="solid"/>
          </a:ln>
        </p:spPr>
      </p:sp>
      <p:sp>
        <p:nvSpPr>
          <p:cNvPr id="143" name="Shape 141"/>
          <p:cNvSpPr/>
          <p:nvPr/>
        </p:nvSpPr>
        <p:spPr>
          <a:xfrm flipV="1">
            <a:off x="5669280" y="1841863"/>
            <a:ext cx="91440" cy="91440"/>
          </a:xfrm>
          <a:prstGeom prst="line">
            <a:avLst/>
          </a:prstGeom>
          <a:noFill/>
          <a:ln w="15875">
            <a:solidFill>
              <a:srgbClr val="C8414C"/>
            </a:solidFill>
            <a:prstDash val="solid"/>
          </a:ln>
        </p:spPr>
      </p:sp>
      <p:sp>
        <p:nvSpPr>
          <p:cNvPr id="144" name="Text 142"/>
          <p:cNvSpPr/>
          <p:nvPr/>
        </p:nvSpPr>
        <p:spPr>
          <a:xfrm>
            <a:off x="3719322" y="3439450"/>
            <a:ext cx="128016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resistor</a:t>
            </a:r>
            <a:endParaRPr lang="en-US" sz="1100" dirty="0"/>
          </a:p>
        </p:txBody>
      </p:sp>
      <p:sp>
        <p:nvSpPr>
          <p:cNvPr id="145" name="Text 143"/>
          <p:cNvSpPr/>
          <p:nvPr/>
        </p:nvSpPr>
        <p:spPr>
          <a:xfrm>
            <a:off x="2019300" y="2357846"/>
            <a:ext cx="137160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filament lamp</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234440"/>
                <a:gridCol w="1463040"/>
                <a:gridCol w="1371600"/>
                <a:gridCol w="1490472"/>
              </a:tblGrid>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p.d. / V</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 resistor / A</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 lamp / A</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 lamp / Ω</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0.05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0.13</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7.7</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0.20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0.15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0.24</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0.20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0.27</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0.25</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0.29</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329184">
                <a:tc>
                  <a:txBody>
                    <a:bodyPr/>
                    <a:lstStyle/>
                    <a:p>
                      <a:pPr algn="ctr" indent="0" marL="0">
                        <a:buNone/>
                      </a:pPr>
                      <a:r>
                        <a:rPr lang="en-US" sz="1150" b="1" dirty="0">
                          <a:solidFill>
                            <a:srgbClr val="262B3A"/>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0.30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262B3A"/>
                          </a:solidFill>
                          <a:latin typeface="Calibri" pitchFamily="34" charset="0"/>
                          <a:ea typeface="Calibri" pitchFamily="34" charset="-122"/>
                          <a:cs typeface="Calibri" pitchFamily="34" charset="-120"/>
                        </a:rPr>
                        <a:t>0.30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50" dirty="0">
                          <a:solidFill>
                            <a:srgbClr val="C8414C"/>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147" name="Shape 144"/>
          <p:cNvSpPr/>
          <p:nvPr/>
        </p:nvSpPr>
        <p:spPr>
          <a:xfrm>
            <a:off x="6217920" y="3977640"/>
            <a:ext cx="5559552" cy="1737360"/>
          </a:xfrm>
          <a:prstGeom prst="roundRect">
            <a:avLst>
              <a:gd name="adj" fmla="val 3158"/>
            </a:avLst>
          </a:prstGeom>
          <a:solidFill>
            <a:srgbClr val="F5F8FE"/>
          </a:solidFill>
          <a:ln w="9525">
            <a:solidFill>
              <a:srgbClr val="D5DCEB"/>
            </a:solidFill>
            <a:prstDash val="solid"/>
          </a:ln>
        </p:spPr>
      </p:sp>
      <p:sp>
        <p:nvSpPr>
          <p:cNvPr id="148" name="Text 145"/>
          <p:cNvSpPr/>
          <p:nvPr/>
        </p:nvSpPr>
        <p:spPr>
          <a:xfrm>
            <a:off x="6382512" y="406908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149" name="Text 146"/>
          <p:cNvSpPr/>
          <p:nvPr/>
        </p:nvSpPr>
        <p:spPr>
          <a:xfrm>
            <a:off x="6382512" y="4398264"/>
            <a:ext cx="5230368" cy="12435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Resistor:</a:t>
            </a:r>
            <a:r>
              <a:rPr lang="en-US" sz="1100" dirty="0">
                <a:solidFill>
                  <a:srgbClr val="262B3A"/>
                </a:solidFill>
                <a:latin typeface="Calibri" pitchFamily="34" charset="0"/>
                <a:ea typeface="Calibri" pitchFamily="34" charset="-122"/>
                <a:cs typeface="Calibri" pitchFamily="34" charset="-120"/>
              </a:rPr>
              <a:t> straight line through the origin, so I ∝ V and R is constant: 6.0 ÷ 0.30 = </a:t>
            </a:r>
            <a:r>
              <a:rPr lang="en-US" sz="1100" b="1" dirty="0">
                <a:solidFill>
                  <a:srgbClr val="262B3A"/>
                </a:solidFill>
                <a:latin typeface="Calibri" pitchFamily="34" charset="0"/>
                <a:ea typeface="Calibri" pitchFamily="34" charset="-122"/>
                <a:cs typeface="Calibri" pitchFamily="34" charset="-120"/>
              </a:rPr>
              <a:t>20 Ω</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Lamp:</a:t>
            </a:r>
            <a:r>
              <a:rPr lang="en-US" sz="1100" dirty="0">
                <a:solidFill>
                  <a:srgbClr val="262B3A"/>
                </a:solidFill>
                <a:latin typeface="Calibri" pitchFamily="34" charset="0"/>
                <a:ea typeface="Calibri" pitchFamily="34" charset="-122"/>
                <a:cs typeface="Calibri" pitchFamily="34" charset="-120"/>
              </a:rPr>
              <a:t> the curve gets less steep; R rises from about </a:t>
            </a:r>
            <a:r>
              <a:rPr lang="en-US" sz="1100" b="1" dirty="0">
                <a:solidFill>
                  <a:srgbClr val="262B3A"/>
                </a:solidFill>
                <a:latin typeface="Calibri" pitchFamily="34" charset="0"/>
                <a:ea typeface="Calibri" pitchFamily="34" charset="-122"/>
                <a:cs typeface="Calibri" pitchFamily="34" charset="-120"/>
              </a:rPr>
              <a:t>7.7 Ω to 20 Ω</a:t>
            </a:r>
            <a:r>
              <a:rPr lang="en-US" sz="1100" dirty="0">
                <a:solidFill>
                  <a:srgbClr val="262B3A"/>
                </a:solidFill>
                <a:latin typeface="Calibri" pitchFamily="34" charset="0"/>
                <a:ea typeface="Calibri" pitchFamily="34" charset="-122"/>
                <a:cs typeface="Calibri" pitchFamily="34" charset="-120"/>
              </a:rPr>
              <a:t> as the filament heats up.</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 lamp = V ÷ I, rounded to 2 significant figures.</a:t>
            </a:r>
            <a:endParaRPr lang="en-US" sz="1100" dirty="0"/>
          </a:p>
        </p:txBody>
      </p:sp>
      <p:sp>
        <p:nvSpPr>
          <p:cNvPr id="150" name="Shape 147"/>
          <p:cNvSpPr/>
          <p:nvPr/>
        </p:nvSpPr>
        <p:spPr>
          <a:xfrm>
            <a:off x="411480" y="5833872"/>
            <a:ext cx="11368735" cy="530352"/>
          </a:xfrm>
          <a:prstGeom prst="rect">
            <a:avLst/>
          </a:prstGeom>
          <a:solidFill>
            <a:srgbClr val="FFF4E0"/>
          </a:solidFill>
          <a:ln w="6350">
            <a:solidFill>
              <a:srgbClr val="F1D9A8"/>
            </a:solidFill>
            <a:prstDash val="solid"/>
          </a:ln>
        </p:spPr>
      </p:sp>
      <p:sp>
        <p:nvSpPr>
          <p:cNvPr id="151" name="Shape 148"/>
          <p:cNvSpPr/>
          <p:nvPr/>
        </p:nvSpPr>
        <p:spPr>
          <a:xfrm>
            <a:off x="411480" y="5833872"/>
            <a:ext cx="82296" cy="530352"/>
          </a:xfrm>
          <a:prstGeom prst="rect">
            <a:avLst/>
          </a:prstGeom>
          <a:solidFill>
            <a:srgbClr val="E39A2F"/>
          </a:solidFill>
          <a:ln w="12700">
            <a:solidFill>
              <a:srgbClr val="E39A2F"/>
            </a:solidFill>
            <a:prstDash val="solid"/>
          </a:ln>
        </p:spPr>
      </p:sp>
      <p:sp>
        <p:nvSpPr>
          <p:cNvPr id="152" name="Text 14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to calculate the resistance of the lamp at 2.0 V and at 6.0 V. What happens to its resistance?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Core Practical: errors and improvements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10.17 • evaluating the method</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10.17  |  20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common sources of error in the circuits practical</a:t>
            </a:r>
            <a:endParaRPr lang="en-US" sz="1000" dirty="0"/>
          </a:p>
        </p:txBody>
      </p:sp>
      <p:sp>
        <p:nvSpPr>
          <p:cNvPr id="12" name="Shape 10"/>
          <p:cNvSpPr/>
          <p:nvPr/>
        </p:nvSpPr>
        <p:spPr>
          <a:xfrm>
            <a:off x="868680" y="1508760"/>
            <a:ext cx="2103120" cy="1463040"/>
          </a:xfrm>
          <a:prstGeom prst="roundRect">
            <a:avLst>
              <a:gd name="adj" fmla="val 3750"/>
            </a:avLst>
          </a:prstGeom>
          <a:solidFill>
            <a:srgbClr val="3B4252"/>
          </a:solidFill>
          <a:ln w="19050">
            <a:solidFill>
              <a:srgbClr val="1F2430"/>
            </a:solidFill>
            <a:prstDash val="solid"/>
          </a:ln>
        </p:spPr>
      </p:sp>
      <p:sp>
        <p:nvSpPr>
          <p:cNvPr id="13" name="Shape 11"/>
          <p:cNvSpPr/>
          <p:nvPr/>
        </p:nvSpPr>
        <p:spPr>
          <a:xfrm>
            <a:off x="1051560" y="1691640"/>
            <a:ext cx="1737360" cy="685800"/>
          </a:xfrm>
          <a:prstGeom prst="rect">
            <a:avLst/>
          </a:prstGeom>
          <a:solidFill>
            <a:srgbClr val="C9E3B5"/>
          </a:solidFill>
          <a:ln w="12700">
            <a:solidFill>
              <a:srgbClr val="6B7385"/>
            </a:solidFill>
            <a:prstDash val="solid"/>
          </a:ln>
        </p:spPr>
      </p:sp>
      <p:sp>
        <p:nvSpPr>
          <p:cNvPr id="14" name="Text 12"/>
          <p:cNvSpPr/>
          <p:nvPr/>
        </p:nvSpPr>
        <p:spPr>
          <a:xfrm>
            <a:off x="1051560" y="1691640"/>
            <a:ext cx="1737360" cy="685800"/>
          </a:xfrm>
          <a:prstGeom prst="rect">
            <a:avLst/>
          </a:prstGeom>
          <a:noFill/>
          <a:ln/>
        </p:spPr>
        <p:txBody>
          <a:bodyPr wrap="square" lIns="0" tIns="0" rIns="0" bIns="0" rtlCol="0" anchor="ctr"/>
          <a:lstStyle/>
          <a:p>
            <a:pPr algn="ctr" indent="0" marL="0">
              <a:buNone/>
            </a:pPr>
            <a:r>
              <a:rPr lang="en-US" sz="3000" b="1" dirty="0">
                <a:solidFill>
                  <a:srgbClr val="1F2430"/>
                </a:solidFill>
                <a:latin typeface="Consolas" pitchFamily="34" charset="0"/>
                <a:ea typeface="Consolas" pitchFamily="34" charset="-122"/>
                <a:cs typeface="Consolas" pitchFamily="34" charset="-120"/>
              </a:rPr>
              <a:t>0.02</a:t>
            </a:r>
            <a:endParaRPr lang="en-US" sz="3000" dirty="0"/>
          </a:p>
        </p:txBody>
      </p:sp>
      <p:sp>
        <p:nvSpPr>
          <p:cNvPr id="15" name="Text 13"/>
          <p:cNvSpPr/>
          <p:nvPr/>
        </p:nvSpPr>
        <p:spPr>
          <a:xfrm>
            <a:off x="868680" y="2514600"/>
            <a:ext cx="21031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(switch open)</a:t>
            </a:r>
            <a:endParaRPr lang="en-US" sz="1100" dirty="0"/>
          </a:p>
        </p:txBody>
      </p:sp>
      <p:sp>
        <p:nvSpPr>
          <p:cNvPr id="16" name="Text 14"/>
          <p:cNvSpPr/>
          <p:nvPr/>
        </p:nvSpPr>
        <p:spPr>
          <a:xfrm>
            <a:off x="3154680" y="1600200"/>
            <a:ext cx="2651760" cy="1097280"/>
          </a:xfrm>
          <a:prstGeom prst="rect">
            <a:avLst/>
          </a:prstGeom>
          <a:noFill/>
          <a:ln/>
        </p:spPr>
        <p:txBody>
          <a:bodyPr wrap="square" lIns="0" tIns="0" rIns="0" bIns="0" rtlCol="0" anchor="t"/>
          <a:lstStyle/>
          <a:p>
            <a:pPr algn="l" indent="0" marL="0">
              <a:buNone/>
            </a:pPr>
            <a:r>
              <a:rPr lang="en-US" sz="1100" dirty="0">
                <a:solidFill>
                  <a:srgbClr val="262B3A"/>
                </a:solidFill>
                <a:latin typeface="Calibri" pitchFamily="34" charset="0"/>
                <a:ea typeface="Calibri" pitchFamily="34" charset="-122"/>
                <a:cs typeface="Calibri" pitchFamily="34" charset="-120"/>
              </a:rPr>
              <a:t>Zero error: the meter reads 0.02 A with no current. Subtract 0.02 A from every reading, or reset the zero.</a:t>
            </a:r>
            <a:endParaRPr lang="en-US" sz="1100" dirty="0"/>
          </a:p>
        </p:txBody>
      </p:sp>
      <p:sp>
        <p:nvSpPr>
          <p:cNvPr id="17" name="Shape 15"/>
          <p:cNvSpPr/>
          <p:nvPr/>
        </p:nvSpPr>
        <p:spPr>
          <a:xfrm>
            <a:off x="914400" y="4069080"/>
            <a:ext cx="684886" cy="91"/>
          </a:xfrm>
          <a:prstGeom prst="line">
            <a:avLst/>
          </a:prstGeom>
          <a:noFill/>
          <a:ln w="19050">
            <a:solidFill>
              <a:srgbClr val="1A2340"/>
            </a:solidFill>
            <a:prstDash val="solid"/>
          </a:ln>
        </p:spPr>
      </p:sp>
      <p:sp>
        <p:nvSpPr>
          <p:cNvPr id="18" name="Shape 16"/>
          <p:cNvSpPr/>
          <p:nvPr/>
        </p:nvSpPr>
        <p:spPr>
          <a:xfrm>
            <a:off x="2241194" y="4069080"/>
            <a:ext cx="684886" cy="91"/>
          </a:xfrm>
          <a:prstGeom prst="line">
            <a:avLst/>
          </a:prstGeom>
          <a:noFill/>
          <a:ln w="19050">
            <a:solidFill>
              <a:srgbClr val="1A2340"/>
            </a:solidFill>
            <a:prstDash val="solid"/>
          </a:ln>
        </p:spPr>
      </p:sp>
      <p:sp>
        <p:nvSpPr>
          <p:cNvPr id="19" name="Shape 17"/>
          <p:cNvSpPr/>
          <p:nvPr/>
        </p:nvSpPr>
        <p:spPr>
          <a:xfrm>
            <a:off x="1599286" y="3950208"/>
            <a:ext cx="641909" cy="237744"/>
          </a:xfrm>
          <a:prstGeom prst="rect">
            <a:avLst/>
          </a:prstGeom>
          <a:solidFill>
            <a:srgbClr val="FFFFFF"/>
          </a:solidFill>
          <a:ln w="19050">
            <a:solidFill>
              <a:srgbClr val="1A2340"/>
            </a:solidFill>
            <a:prstDash val="solid"/>
          </a:ln>
        </p:spPr>
      </p:sp>
      <p:sp>
        <p:nvSpPr>
          <p:cNvPr id="20" name="Shape 18"/>
          <p:cNvSpPr/>
          <p:nvPr/>
        </p:nvSpPr>
        <p:spPr>
          <a:xfrm flipV="1">
            <a:off x="1600200" y="3712464"/>
            <a:ext cx="54864" cy="82296"/>
          </a:xfrm>
          <a:prstGeom prst="line">
            <a:avLst/>
          </a:prstGeom>
          <a:noFill/>
          <a:ln w="19050">
            <a:solidFill>
              <a:srgbClr val="C8414C"/>
            </a:solidFill>
            <a:prstDash val="solid"/>
          </a:ln>
        </p:spPr>
      </p:sp>
      <p:sp>
        <p:nvSpPr>
          <p:cNvPr id="21" name="Shape 19"/>
          <p:cNvSpPr/>
          <p:nvPr/>
        </p:nvSpPr>
        <p:spPr>
          <a:xfrm flipH="1" flipV="1">
            <a:off x="1600200" y="3630168"/>
            <a:ext cx="54864" cy="82296"/>
          </a:xfrm>
          <a:prstGeom prst="line">
            <a:avLst/>
          </a:prstGeom>
          <a:noFill/>
          <a:ln w="19050">
            <a:solidFill>
              <a:srgbClr val="C8414C"/>
            </a:solidFill>
            <a:prstDash val="solid"/>
          </a:ln>
        </p:spPr>
      </p:sp>
      <p:sp>
        <p:nvSpPr>
          <p:cNvPr id="22" name="Shape 20"/>
          <p:cNvSpPr/>
          <p:nvPr/>
        </p:nvSpPr>
        <p:spPr>
          <a:xfrm flipH="1" flipV="1">
            <a:off x="1545336" y="3547872"/>
            <a:ext cx="54864" cy="82296"/>
          </a:xfrm>
          <a:prstGeom prst="line">
            <a:avLst/>
          </a:prstGeom>
          <a:noFill/>
          <a:ln w="19050">
            <a:solidFill>
              <a:srgbClr val="C8414C"/>
            </a:solidFill>
            <a:prstDash val="solid"/>
          </a:ln>
        </p:spPr>
      </p:sp>
      <p:sp>
        <p:nvSpPr>
          <p:cNvPr id="23" name="Shape 21"/>
          <p:cNvSpPr/>
          <p:nvPr/>
        </p:nvSpPr>
        <p:spPr>
          <a:xfrm flipV="1">
            <a:off x="1545336" y="3465576"/>
            <a:ext cx="54864" cy="82296"/>
          </a:xfrm>
          <a:prstGeom prst="line">
            <a:avLst/>
          </a:prstGeom>
          <a:noFill/>
          <a:ln w="19050">
            <a:solidFill>
              <a:srgbClr val="C8414C"/>
            </a:solidFill>
            <a:prstDash val="solid"/>
          </a:ln>
        </p:spPr>
      </p:sp>
      <p:sp>
        <p:nvSpPr>
          <p:cNvPr id="24" name="Shape 22"/>
          <p:cNvSpPr/>
          <p:nvPr/>
        </p:nvSpPr>
        <p:spPr>
          <a:xfrm flipV="1">
            <a:off x="1600200" y="3383280"/>
            <a:ext cx="54864" cy="82296"/>
          </a:xfrm>
          <a:prstGeom prst="line">
            <a:avLst/>
          </a:prstGeom>
          <a:noFill/>
          <a:ln w="19050">
            <a:solidFill>
              <a:srgbClr val="C8414C"/>
            </a:solidFill>
            <a:prstDash val="solid"/>
          </a:ln>
        </p:spPr>
      </p:sp>
      <p:sp>
        <p:nvSpPr>
          <p:cNvPr id="25" name="Shape 23"/>
          <p:cNvSpPr/>
          <p:nvPr/>
        </p:nvSpPr>
        <p:spPr>
          <a:xfrm flipH="1" flipV="1">
            <a:off x="1600200" y="3300984"/>
            <a:ext cx="54864" cy="82296"/>
          </a:xfrm>
          <a:prstGeom prst="line">
            <a:avLst/>
          </a:prstGeom>
          <a:noFill/>
          <a:ln w="19050">
            <a:solidFill>
              <a:srgbClr val="C8414C"/>
            </a:solidFill>
            <a:prstDash val="solid"/>
          </a:ln>
        </p:spPr>
      </p:sp>
      <p:sp>
        <p:nvSpPr>
          <p:cNvPr id="26" name="Shape 24"/>
          <p:cNvSpPr/>
          <p:nvPr/>
        </p:nvSpPr>
        <p:spPr>
          <a:xfrm flipH="1" flipV="1">
            <a:off x="1545336" y="3218688"/>
            <a:ext cx="54864" cy="82296"/>
          </a:xfrm>
          <a:prstGeom prst="line">
            <a:avLst/>
          </a:prstGeom>
          <a:noFill/>
          <a:ln w="19050">
            <a:solidFill>
              <a:srgbClr val="C8414C"/>
            </a:solidFill>
            <a:prstDash val="solid"/>
          </a:ln>
        </p:spPr>
      </p:sp>
      <p:sp>
        <p:nvSpPr>
          <p:cNvPr id="27" name="Shape 25"/>
          <p:cNvSpPr/>
          <p:nvPr/>
        </p:nvSpPr>
        <p:spPr>
          <a:xfrm flipV="1">
            <a:off x="1545336" y="3136392"/>
            <a:ext cx="54864" cy="82296"/>
          </a:xfrm>
          <a:prstGeom prst="line">
            <a:avLst/>
          </a:prstGeom>
          <a:noFill/>
          <a:ln w="19050">
            <a:solidFill>
              <a:srgbClr val="C8414C"/>
            </a:solidFill>
            <a:prstDash val="solid"/>
          </a:ln>
        </p:spPr>
      </p:sp>
      <p:sp>
        <p:nvSpPr>
          <p:cNvPr id="28" name="Shape 26"/>
          <p:cNvSpPr/>
          <p:nvPr/>
        </p:nvSpPr>
        <p:spPr>
          <a:xfrm flipV="1">
            <a:off x="1920240" y="3712464"/>
            <a:ext cx="54864" cy="82296"/>
          </a:xfrm>
          <a:prstGeom prst="line">
            <a:avLst/>
          </a:prstGeom>
          <a:noFill/>
          <a:ln w="19050">
            <a:solidFill>
              <a:srgbClr val="C8414C"/>
            </a:solidFill>
            <a:prstDash val="solid"/>
          </a:ln>
        </p:spPr>
      </p:sp>
      <p:sp>
        <p:nvSpPr>
          <p:cNvPr id="29" name="Shape 27"/>
          <p:cNvSpPr/>
          <p:nvPr/>
        </p:nvSpPr>
        <p:spPr>
          <a:xfrm flipH="1" flipV="1">
            <a:off x="1920240" y="3630168"/>
            <a:ext cx="54864" cy="82296"/>
          </a:xfrm>
          <a:prstGeom prst="line">
            <a:avLst/>
          </a:prstGeom>
          <a:noFill/>
          <a:ln w="19050">
            <a:solidFill>
              <a:srgbClr val="C8414C"/>
            </a:solidFill>
            <a:prstDash val="solid"/>
          </a:ln>
        </p:spPr>
      </p:sp>
      <p:sp>
        <p:nvSpPr>
          <p:cNvPr id="30" name="Shape 28"/>
          <p:cNvSpPr/>
          <p:nvPr/>
        </p:nvSpPr>
        <p:spPr>
          <a:xfrm flipH="1" flipV="1">
            <a:off x="1865376" y="3547872"/>
            <a:ext cx="54864" cy="82296"/>
          </a:xfrm>
          <a:prstGeom prst="line">
            <a:avLst/>
          </a:prstGeom>
          <a:noFill/>
          <a:ln w="19050">
            <a:solidFill>
              <a:srgbClr val="C8414C"/>
            </a:solidFill>
            <a:prstDash val="solid"/>
          </a:ln>
        </p:spPr>
      </p:sp>
      <p:sp>
        <p:nvSpPr>
          <p:cNvPr id="31" name="Shape 29"/>
          <p:cNvSpPr/>
          <p:nvPr/>
        </p:nvSpPr>
        <p:spPr>
          <a:xfrm flipV="1">
            <a:off x="1865376" y="3465576"/>
            <a:ext cx="54864" cy="82296"/>
          </a:xfrm>
          <a:prstGeom prst="line">
            <a:avLst/>
          </a:prstGeom>
          <a:noFill/>
          <a:ln w="19050">
            <a:solidFill>
              <a:srgbClr val="C8414C"/>
            </a:solidFill>
            <a:prstDash val="solid"/>
          </a:ln>
        </p:spPr>
      </p:sp>
      <p:sp>
        <p:nvSpPr>
          <p:cNvPr id="32" name="Shape 30"/>
          <p:cNvSpPr/>
          <p:nvPr/>
        </p:nvSpPr>
        <p:spPr>
          <a:xfrm flipV="1">
            <a:off x="1920240" y="3383280"/>
            <a:ext cx="54864" cy="82296"/>
          </a:xfrm>
          <a:prstGeom prst="line">
            <a:avLst/>
          </a:prstGeom>
          <a:noFill/>
          <a:ln w="19050">
            <a:solidFill>
              <a:srgbClr val="C8414C"/>
            </a:solidFill>
            <a:prstDash val="solid"/>
          </a:ln>
        </p:spPr>
      </p:sp>
      <p:sp>
        <p:nvSpPr>
          <p:cNvPr id="33" name="Shape 31"/>
          <p:cNvSpPr/>
          <p:nvPr/>
        </p:nvSpPr>
        <p:spPr>
          <a:xfrm flipH="1" flipV="1">
            <a:off x="1920240" y="3300984"/>
            <a:ext cx="54864" cy="82296"/>
          </a:xfrm>
          <a:prstGeom prst="line">
            <a:avLst/>
          </a:prstGeom>
          <a:noFill/>
          <a:ln w="19050">
            <a:solidFill>
              <a:srgbClr val="C8414C"/>
            </a:solidFill>
            <a:prstDash val="solid"/>
          </a:ln>
        </p:spPr>
      </p:sp>
      <p:sp>
        <p:nvSpPr>
          <p:cNvPr id="34" name="Shape 32"/>
          <p:cNvSpPr/>
          <p:nvPr/>
        </p:nvSpPr>
        <p:spPr>
          <a:xfrm flipH="1" flipV="1">
            <a:off x="1865376" y="3218688"/>
            <a:ext cx="54864" cy="82296"/>
          </a:xfrm>
          <a:prstGeom prst="line">
            <a:avLst/>
          </a:prstGeom>
          <a:noFill/>
          <a:ln w="19050">
            <a:solidFill>
              <a:srgbClr val="C8414C"/>
            </a:solidFill>
            <a:prstDash val="solid"/>
          </a:ln>
        </p:spPr>
      </p:sp>
      <p:sp>
        <p:nvSpPr>
          <p:cNvPr id="35" name="Shape 33"/>
          <p:cNvSpPr/>
          <p:nvPr/>
        </p:nvSpPr>
        <p:spPr>
          <a:xfrm flipV="1">
            <a:off x="1865376" y="3136392"/>
            <a:ext cx="54864" cy="82296"/>
          </a:xfrm>
          <a:prstGeom prst="line">
            <a:avLst/>
          </a:prstGeom>
          <a:noFill/>
          <a:ln w="19050">
            <a:solidFill>
              <a:srgbClr val="C8414C"/>
            </a:solidFill>
            <a:prstDash val="solid"/>
          </a:ln>
        </p:spPr>
      </p:sp>
      <p:sp>
        <p:nvSpPr>
          <p:cNvPr id="36" name="Shape 34"/>
          <p:cNvSpPr/>
          <p:nvPr/>
        </p:nvSpPr>
        <p:spPr>
          <a:xfrm flipV="1">
            <a:off x="2240280" y="3712464"/>
            <a:ext cx="54864" cy="82296"/>
          </a:xfrm>
          <a:prstGeom prst="line">
            <a:avLst/>
          </a:prstGeom>
          <a:noFill/>
          <a:ln w="19050">
            <a:solidFill>
              <a:srgbClr val="C8414C"/>
            </a:solidFill>
            <a:prstDash val="solid"/>
          </a:ln>
        </p:spPr>
      </p:sp>
      <p:sp>
        <p:nvSpPr>
          <p:cNvPr id="37" name="Shape 35"/>
          <p:cNvSpPr/>
          <p:nvPr/>
        </p:nvSpPr>
        <p:spPr>
          <a:xfrm flipH="1" flipV="1">
            <a:off x="2240280" y="3630168"/>
            <a:ext cx="54864" cy="82296"/>
          </a:xfrm>
          <a:prstGeom prst="line">
            <a:avLst/>
          </a:prstGeom>
          <a:noFill/>
          <a:ln w="19050">
            <a:solidFill>
              <a:srgbClr val="C8414C"/>
            </a:solidFill>
            <a:prstDash val="solid"/>
          </a:ln>
        </p:spPr>
      </p:sp>
      <p:sp>
        <p:nvSpPr>
          <p:cNvPr id="38" name="Shape 36"/>
          <p:cNvSpPr/>
          <p:nvPr/>
        </p:nvSpPr>
        <p:spPr>
          <a:xfrm flipH="1" flipV="1">
            <a:off x="2185416" y="3547872"/>
            <a:ext cx="54864" cy="82296"/>
          </a:xfrm>
          <a:prstGeom prst="line">
            <a:avLst/>
          </a:prstGeom>
          <a:noFill/>
          <a:ln w="19050">
            <a:solidFill>
              <a:srgbClr val="C8414C"/>
            </a:solidFill>
            <a:prstDash val="solid"/>
          </a:ln>
        </p:spPr>
      </p:sp>
      <p:sp>
        <p:nvSpPr>
          <p:cNvPr id="39" name="Shape 37"/>
          <p:cNvSpPr/>
          <p:nvPr/>
        </p:nvSpPr>
        <p:spPr>
          <a:xfrm flipV="1">
            <a:off x="2185416" y="3465576"/>
            <a:ext cx="54864" cy="82296"/>
          </a:xfrm>
          <a:prstGeom prst="line">
            <a:avLst/>
          </a:prstGeom>
          <a:noFill/>
          <a:ln w="19050">
            <a:solidFill>
              <a:srgbClr val="C8414C"/>
            </a:solidFill>
            <a:prstDash val="solid"/>
          </a:ln>
        </p:spPr>
      </p:sp>
      <p:sp>
        <p:nvSpPr>
          <p:cNvPr id="40" name="Shape 38"/>
          <p:cNvSpPr/>
          <p:nvPr/>
        </p:nvSpPr>
        <p:spPr>
          <a:xfrm flipV="1">
            <a:off x="2240280" y="3383280"/>
            <a:ext cx="54864" cy="82296"/>
          </a:xfrm>
          <a:prstGeom prst="line">
            <a:avLst/>
          </a:prstGeom>
          <a:noFill/>
          <a:ln w="19050">
            <a:solidFill>
              <a:srgbClr val="C8414C"/>
            </a:solidFill>
            <a:prstDash val="solid"/>
          </a:ln>
        </p:spPr>
      </p:sp>
      <p:sp>
        <p:nvSpPr>
          <p:cNvPr id="41" name="Shape 39"/>
          <p:cNvSpPr/>
          <p:nvPr/>
        </p:nvSpPr>
        <p:spPr>
          <a:xfrm flipH="1" flipV="1">
            <a:off x="2240280" y="3300984"/>
            <a:ext cx="54864" cy="82296"/>
          </a:xfrm>
          <a:prstGeom prst="line">
            <a:avLst/>
          </a:prstGeom>
          <a:noFill/>
          <a:ln w="19050">
            <a:solidFill>
              <a:srgbClr val="C8414C"/>
            </a:solidFill>
            <a:prstDash val="solid"/>
          </a:ln>
        </p:spPr>
      </p:sp>
      <p:sp>
        <p:nvSpPr>
          <p:cNvPr id="42" name="Shape 40"/>
          <p:cNvSpPr/>
          <p:nvPr/>
        </p:nvSpPr>
        <p:spPr>
          <a:xfrm flipH="1" flipV="1">
            <a:off x="2185416" y="3218688"/>
            <a:ext cx="54864" cy="82296"/>
          </a:xfrm>
          <a:prstGeom prst="line">
            <a:avLst/>
          </a:prstGeom>
          <a:noFill/>
          <a:ln w="19050">
            <a:solidFill>
              <a:srgbClr val="C8414C"/>
            </a:solidFill>
            <a:prstDash val="solid"/>
          </a:ln>
        </p:spPr>
      </p:sp>
      <p:sp>
        <p:nvSpPr>
          <p:cNvPr id="43" name="Shape 41"/>
          <p:cNvSpPr/>
          <p:nvPr/>
        </p:nvSpPr>
        <p:spPr>
          <a:xfrm flipV="1">
            <a:off x="2185416" y="3136392"/>
            <a:ext cx="54864" cy="82296"/>
          </a:xfrm>
          <a:prstGeom prst="line">
            <a:avLst/>
          </a:prstGeom>
          <a:noFill/>
          <a:ln w="19050">
            <a:solidFill>
              <a:srgbClr val="C8414C"/>
            </a:solidFill>
            <a:prstDash val="solid"/>
          </a:ln>
        </p:spPr>
      </p:sp>
      <p:sp>
        <p:nvSpPr>
          <p:cNvPr id="44" name="Text 42"/>
          <p:cNvSpPr/>
          <p:nvPr/>
        </p:nvSpPr>
        <p:spPr>
          <a:xfrm>
            <a:off x="3154680" y="3383280"/>
            <a:ext cx="2651760" cy="1280160"/>
          </a:xfrm>
          <a:prstGeom prst="rect">
            <a:avLst/>
          </a:prstGeom>
          <a:noFill/>
          <a:ln/>
        </p:spPr>
        <p:txBody>
          <a:bodyPr wrap="square" lIns="0" tIns="0" rIns="0" bIns="0" rtlCol="0" anchor="t"/>
          <a:lstStyle/>
          <a:p>
            <a:pPr algn="l" indent="0" marL="0">
              <a:buNone/>
            </a:pPr>
            <a:r>
              <a:rPr lang="en-US" sz="1100" dirty="0">
                <a:solidFill>
                  <a:srgbClr val="262B3A"/>
                </a:solidFill>
                <a:latin typeface="Calibri" pitchFamily="34" charset="0"/>
                <a:ea typeface="Calibri" pitchFamily="34" charset="-122"/>
                <a:cs typeface="Calibri" pitchFamily="34" charset="-120"/>
              </a:rPr>
              <a:t>Heating: current warms the resistor, so its resistance rises during the experiment. Switch off between readings; use small currents.</a:t>
            </a:r>
            <a:endParaRPr lang="en-US" sz="1100" dirty="0"/>
          </a:p>
        </p:txBody>
      </p:sp>
      <p:sp>
        <p:nvSpPr>
          <p:cNvPr id="45" name="Text 43"/>
          <p:cNvSpPr/>
          <p:nvPr/>
        </p:nvSpPr>
        <p:spPr>
          <a:xfrm>
            <a:off x="868680" y="4572000"/>
            <a:ext cx="4937760" cy="45720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Digital meters: no parallax error, but the last digit may flicker → record the mean value.</a:t>
            </a:r>
            <a:endParaRPr lang="en-US" sz="1050" dirty="0"/>
          </a:p>
        </p:txBody>
      </p:sp>
      <p:sp>
        <p:nvSpPr>
          <p:cNvPr id="46" name="Shape 4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7" name="Text 4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Sources of error</a:t>
            </a:r>
            <a:endParaRPr lang="en-US" sz="1300" dirty="0"/>
          </a:p>
        </p:txBody>
      </p:sp>
      <p:sp>
        <p:nvSpPr>
          <p:cNvPr id="48" name="Text 4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Zero error</a:t>
            </a:r>
            <a:r>
              <a:rPr lang="en-US" sz="1150" dirty="0">
                <a:solidFill>
                  <a:srgbClr val="262B3A"/>
                </a:solidFill>
                <a:latin typeface="Calibri" pitchFamily="34" charset="0"/>
                <a:ea typeface="Calibri" pitchFamily="34" charset="-122"/>
                <a:cs typeface="Calibri" pitchFamily="34" charset="-120"/>
              </a:rPr>
              <a:t> on a meter → a systematic error in every reading; check with the switch open.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Temperature rise</a:t>
            </a:r>
            <a:r>
              <a:rPr lang="en-US" sz="1150" dirty="0">
                <a:solidFill>
                  <a:srgbClr val="262B3A"/>
                </a:solidFill>
                <a:latin typeface="Calibri" pitchFamily="34" charset="0"/>
                <a:ea typeface="Calibri" pitchFamily="34" charset="-122"/>
                <a:cs typeface="Calibri" pitchFamily="34" charset="-120"/>
              </a:rPr>
              <a:t> of the resistor or wires → resistance changes; switch off between readings.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Resolution</a:t>
            </a:r>
            <a:r>
              <a:rPr lang="en-US" sz="1150" dirty="0">
                <a:solidFill>
                  <a:srgbClr val="262B3A"/>
                </a:solidFill>
                <a:latin typeface="Calibri" pitchFamily="34" charset="0"/>
                <a:ea typeface="Calibri" pitchFamily="34" charset="-122"/>
                <a:cs typeface="Calibri" pitchFamily="34" charset="-120"/>
              </a:rPr>
              <a:t> of the meters: an ammeter reading to 0.01 A gives poor precision for small currents.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Poor connections</a:t>
            </a:r>
            <a:r>
              <a:rPr lang="en-US" sz="1150" dirty="0">
                <a:solidFill>
                  <a:srgbClr val="262B3A"/>
                </a:solidFill>
                <a:latin typeface="Calibri" pitchFamily="34" charset="0"/>
                <a:ea typeface="Calibri" pitchFamily="34" charset="-122"/>
                <a:cs typeface="Calibri" pitchFamily="34" charset="-120"/>
              </a:rPr>
              <a:t> add extra resistance → check that all leads are tight.</a:t>
            </a:r>
            <a:endParaRPr lang="en-US" sz="1150" dirty="0"/>
          </a:p>
        </p:txBody>
      </p:sp>
      <p:sp>
        <p:nvSpPr>
          <p:cNvPr id="49" name="Shape 4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0" name="Text 4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Improving the investigation</a:t>
            </a:r>
            <a:endParaRPr lang="en-US" sz="1300" dirty="0"/>
          </a:p>
        </p:txBody>
      </p:sp>
      <p:sp>
        <p:nvSpPr>
          <p:cNvPr id="51" name="Text 49"/>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Repeat   </a:t>
            </a:r>
            <a:r>
              <a:rPr lang="en-US" sz="1050" dirty="0">
                <a:solidFill>
                  <a:srgbClr val="262B3A"/>
                </a:solidFill>
                <a:latin typeface="Calibri" pitchFamily="34" charset="0"/>
                <a:ea typeface="Calibri" pitchFamily="34" charset="-122"/>
                <a:cs typeface="Calibri" pitchFamily="34" charset="-120"/>
              </a:rPr>
              <a:t>take each reading 3 times and calculate a mean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More points   </a:t>
            </a:r>
            <a:r>
              <a:rPr lang="en-US" sz="1050" dirty="0">
                <a:solidFill>
                  <a:srgbClr val="262B3A"/>
                </a:solidFill>
                <a:latin typeface="Calibri" pitchFamily="34" charset="0"/>
                <a:ea typeface="Calibri" pitchFamily="34" charset="-122"/>
                <a:cs typeface="Calibri" pitchFamily="34" charset="-120"/>
              </a:rPr>
              <a:t>take more readings where the lamp graph curves most</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Precision   </a:t>
            </a:r>
            <a:r>
              <a:rPr lang="en-US" sz="1050" dirty="0">
                <a:solidFill>
                  <a:srgbClr val="262B3A"/>
                </a:solidFill>
                <a:latin typeface="Calibri" pitchFamily="34" charset="0"/>
                <a:ea typeface="Calibri" pitchFamily="34" charset="-122"/>
                <a:cs typeface="Calibri" pitchFamily="34" charset="-120"/>
              </a:rPr>
              <a:t>use meters with a higher resolution (e.g. mA range)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more reliable values of R and a better curve of best fit</a:t>
            </a:r>
            <a:endParaRPr lang="en-US" sz="10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leaves the current switched on for the whole experiment with the fixed resistor. How might the graph change?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10.17 • Core Practical: electrical circuits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21</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investigates how the current through a filament lamp depends on the p.d. across it. Describe where the ammeter and voltmeter are connected, and state the purpose of the </a:t>
            </a:r>
            <a:r>
              <a:rPr lang="en-US" sz="1250" b="1" dirty="0">
                <a:solidFill>
                  <a:srgbClr val="262B3A"/>
                </a:solidFill>
                <a:latin typeface="Calibri" pitchFamily="34" charset="0"/>
                <a:ea typeface="Calibri" pitchFamily="34" charset="-122"/>
                <a:cs typeface="Calibri" pitchFamily="34" charset="-120"/>
              </a:rPr>
              <a:t>variable resistor</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At </a:t>
            </a:r>
            <a:r>
              <a:rPr lang="en-US" sz="1250" b="1" dirty="0">
                <a:solidFill>
                  <a:srgbClr val="262B3A"/>
                </a:solidFill>
                <a:latin typeface="Calibri" pitchFamily="34" charset="0"/>
                <a:ea typeface="Calibri" pitchFamily="34" charset="-122"/>
                <a:cs typeface="Calibri" pitchFamily="34" charset="-120"/>
              </a:rPr>
              <a:t>4.0 V</a:t>
            </a:r>
            <a:r>
              <a:rPr lang="en-US" sz="1250" dirty="0">
                <a:solidFill>
                  <a:srgbClr val="262B3A"/>
                </a:solidFill>
                <a:latin typeface="Calibri" pitchFamily="34" charset="0"/>
                <a:ea typeface="Calibri" pitchFamily="34" charset="-122"/>
                <a:cs typeface="Calibri" pitchFamily="34" charset="-120"/>
              </a:rPr>
              <a:t> the current through the lamp is </a:t>
            </a:r>
            <a:r>
              <a:rPr lang="en-US" sz="1250" b="1" dirty="0">
                <a:solidFill>
                  <a:srgbClr val="262B3A"/>
                </a:solidFill>
                <a:latin typeface="Calibri" pitchFamily="34" charset="0"/>
                <a:ea typeface="Calibri" pitchFamily="34" charset="-122"/>
                <a:cs typeface="Calibri" pitchFamily="34" charset="-120"/>
              </a:rPr>
              <a:t>0.25 A</a:t>
            </a:r>
            <a:r>
              <a:rPr lang="en-US" sz="1250" dirty="0">
                <a:solidFill>
                  <a:srgbClr val="262B3A"/>
                </a:solidFill>
                <a:latin typeface="Calibri" pitchFamily="34" charset="0"/>
                <a:ea typeface="Calibri" pitchFamily="34" charset="-122"/>
                <a:cs typeface="Calibri" pitchFamily="34" charset="-120"/>
              </a:rPr>
              <a:t>. Calculate the resistance of the lamp.</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student should switch off the circuit between readings when investigating a fixed resistor.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I–V graphs: fixed resistor and filament lamp</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10.18 • how current varies with p.d., and what this means for resistance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10.18  |  22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drawn to scale: 20 Ω resistor and a 6 V, 0.3 A filament lamp</a:t>
            </a:r>
            <a:endParaRPr lang="en-US" sz="1000" dirty="0"/>
          </a:p>
        </p:txBody>
      </p:sp>
      <p:sp>
        <p:nvSpPr>
          <p:cNvPr id="10" name="Shape 8"/>
          <p:cNvSpPr/>
          <p:nvPr/>
        </p:nvSpPr>
        <p:spPr>
          <a:xfrm>
            <a:off x="914400" y="1371600"/>
            <a:ext cx="4846320" cy="3657600"/>
          </a:xfrm>
          <a:prstGeom prst="rect">
            <a:avLst/>
          </a:prstGeom>
          <a:solidFill>
            <a:srgbClr val="FFFFFF"/>
          </a:solidFill>
          <a:ln/>
        </p:spPr>
      </p:sp>
      <p:sp>
        <p:nvSpPr>
          <p:cNvPr id="11" name="Shape 9"/>
          <p:cNvSpPr/>
          <p:nvPr/>
        </p:nvSpPr>
        <p:spPr>
          <a:xfrm>
            <a:off x="914400" y="1371600"/>
            <a:ext cx="91" cy="3657600"/>
          </a:xfrm>
          <a:prstGeom prst="line">
            <a:avLst/>
          </a:prstGeom>
          <a:noFill/>
          <a:ln w="6350">
            <a:solidFill>
              <a:srgbClr val="C9D3E6"/>
            </a:solidFill>
            <a:prstDash val="solid"/>
          </a:ln>
        </p:spPr>
      </p:sp>
      <p:sp>
        <p:nvSpPr>
          <p:cNvPr id="12" name="Shape 10"/>
          <p:cNvSpPr/>
          <p:nvPr/>
        </p:nvSpPr>
        <p:spPr>
          <a:xfrm>
            <a:off x="1318260" y="1371600"/>
            <a:ext cx="91" cy="3657600"/>
          </a:xfrm>
          <a:prstGeom prst="line">
            <a:avLst/>
          </a:prstGeom>
          <a:noFill/>
          <a:ln w="6350">
            <a:solidFill>
              <a:srgbClr val="E6EBF4"/>
            </a:solidFill>
            <a:prstDash val="solid"/>
          </a:ln>
        </p:spPr>
      </p:sp>
      <p:sp>
        <p:nvSpPr>
          <p:cNvPr id="13" name="Shape 11"/>
          <p:cNvSpPr/>
          <p:nvPr/>
        </p:nvSpPr>
        <p:spPr>
          <a:xfrm>
            <a:off x="1722120" y="1371600"/>
            <a:ext cx="91" cy="3657600"/>
          </a:xfrm>
          <a:prstGeom prst="line">
            <a:avLst/>
          </a:prstGeom>
          <a:noFill/>
          <a:ln w="6350">
            <a:solidFill>
              <a:srgbClr val="C9D3E6"/>
            </a:solidFill>
            <a:prstDash val="solid"/>
          </a:ln>
        </p:spPr>
      </p:sp>
      <p:sp>
        <p:nvSpPr>
          <p:cNvPr id="14" name="Shape 12"/>
          <p:cNvSpPr/>
          <p:nvPr/>
        </p:nvSpPr>
        <p:spPr>
          <a:xfrm>
            <a:off x="2125980" y="1371600"/>
            <a:ext cx="91" cy="3657600"/>
          </a:xfrm>
          <a:prstGeom prst="line">
            <a:avLst/>
          </a:prstGeom>
          <a:noFill/>
          <a:ln w="6350">
            <a:solidFill>
              <a:srgbClr val="E6EBF4"/>
            </a:solidFill>
            <a:prstDash val="solid"/>
          </a:ln>
        </p:spPr>
      </p:sp>
      <p:sp>
        <p:nvSpPr>
          <p:cNvPr id="15" name="Shape 13"/>
          <p:cNvSpPr/>
          <p:nvPr/>
        </p:nvSpPr>
        <p:spPr>
          <a:xfrm>
            <a:off x="2529840" y="1371600"/>
            <a:ext cx="91" cy="3657600"/>
          </a:xfrm>
          <a:prstGeom prst="line">
            <a:avLst/>
          </a:prstGeom>
          <a:noFill/>
          <a:ln w="6350">
            <a:solidFill>
              <a:srgbClr val="C9D3E6"/>
            </a:solidFill>
            <a:prstDash val="solid"/>
          </a:ln>
        </p:spPr>
      </p:sp>
      <p:sp>
        <p:nvSpPr>
          <p:cNvPr id="16" name="Shape 14"/>
          <p:cNvSpPr/>
          <p:nvPr/>
        </p:nvSpPr>
        <p:spPr>
          <a:xfrm>
            <a:off x="2933700" y="1371600"/>
            <a:ext cx="91" cy="3657600"/>
          </a:xfrm>
          <a:prstGeom prst="line">
            <a:avLst/>
          </a:prstGeom>
          <a:noFill/>
          <a:ln w="6350">
            <a:solidFill>
              <a:srgbClr val="E6EBF4"/>
            </a:solidFill>
            <a:prstDash val="solid"/>
          </a:ln>
        </p:spPr>
      </p:sp>
      <p:sp>
        <p:nvSpPr>
          <p:cNvPr id="17" name="Shape 15"/>
          <p:cNvSpPr/>
          <p:nvPr/>
        </p:nvSpPr>
        <p:spPr>
          <a:xfrm>
            <a:off x="3337560" y="1371600"/>
            <a:ext cx="91" cy="3657600"/>
          </a:xfrm>
          <a:prstGeom prst="line">
            <a:avLst/>
          </a:prstGeom>
          <a:noFill/>
          <a:ln w="6350">
            <a:solidFill>
              <a:srgbClr val="C9D3E6"/>
            </a:solidFill>
            <a:prstDash val="solid"/>
          </a:ln>
        </p:spPr>
      </p:sp>
      <p:sp>
        <p:nvSpPr>
          <p:cNvPr id="18" name="Shape 16"/>
          <p:cNvSpPr/>
          <p:nvPr/>
        </p:nvSpPr>
        <p:spPr>
          <a:xfrm>
            <a:off x="3741420" y="1371600"/>
            <a:ext cx="91" cy="3657600"/>
          </a:xfrm>
          <a:prstGeom prst="line">
            <a:avLst/>
          </a:prstGeom>
          <a:noFill/>
          <a:ln w="6350">
            <a:solidFill>
              <a:srgbClr val="E6EBF4"/>
            </a:solidFill>
            <a:prstDash val="solid"/>
          </a:ln>
        </p:spPr>
      </p:sp>
      <p:sp>
        <p:nvSpPr>
          <p:cNvPr id="19" name="Shape 17"/>
          <p:cNvSpPr/>
          <p:nvPr/>
        </p:nvSpPr>
        <p:spPr>
          <a:xfrm>
            <a:off x="4145280" y="1371600"/>
            <a:ext cx="91" cy="3657600"/>
          </a:xfrm>
          <a:prstGeom prst="line">
            <a:avLst/>
          </a:prstGeom>
          <a:noFill/>
          <a:ln w="6350">
            <a:solidFill>
              <a:srgbClr val="C9D3E6"/>
            </a:solidFill>
            <a:prstDash val="solid"/>
          </a:ln>
        </p:spPr>
      </p:sp>
      <p:sp>
        <p:nvSpPr>
          <p:cNvPr id="20" name="Shape 18"/>
          <p:cNvSpPr/>
          <p:nvPr/>
        </p:nvSpPr>
        <p:spPr>
          <a:xfrm>
            <a:off x="4549140" y="1371600"/>
            <a:ext cx="91" cy="3657600"/>
          </a:xfrm>
          <a:prstGeom prst="line">
            <a:avLst/>
          </a:prstGeom>
          <a:noFill/>
          <a:ln w="6350">
            <a:solidFill>
              <a:srgbClr val="E6EBF4"/>
            </a:solidFill>
            <a:prstDash val="solid"/>
          </a:ln>
        </p:spPr>
      </p:sp>
      <p:sp>
        <p:nvSpPr>
          <p:cNvPr id="21" name="Shape 19"/>
          <p:cNvSpPr/>
          <p:nvPr/>
        </p:nvSpPr>
        <p:spPr>
          <a:xfrm>
            <a:off x="4953000" y="1371600"/>
            <a:ext cx="91" cy="3657600"/>
          </a:xfrm>
          <a:prstGeom prst="line">
            <a:avLst/>
          </a:prstGeom>
          <a:noFill/>
          <a:ln w="6350">
            <a:solidFill>
              <a:srgbClr val="C9D3E6"/>
            </a:solidFill>
            <a:prstDash val="solid"/>
          </a:ln>
        </p:spPr>
      </p:sp>
      <p:sp>
        <p:nvSpPr>
          <p:cNvPr id="22" name="Shape 20"/>
          <p:cNvSpPr/>
          <p:nvPr/>
        </p:nvSpPr>
        <p:spPr>
          <a:xfrm>
            <a:off x="5356860" y="1371600"/>
            <a:ext cx="91" cy="3657600"/>
          </a:xfrm>
          <a:prstGeom prst="line">
            <a:avLst/>
          </a:prstGeom>
          <a:noFill/>
          <a:ln w="6350">
            <a:solidFill>
              <a:srgbClr val="E6EBF4"/>
            </a:solidFill>
            <a:prstDash val="solid"/>
          </a:ln>
        </p:spPr>
      </p:sp>
      <p:sp>
        <p:nvSpPr>
          <p:cNvPr id="23" name="Shape 21"/>
          <p:cNvSpPr/>
          <p:nvPr/>
        </p:nvSpPr>
        <p:spPr>
          <a:xfrm>
            <a:off x="5760720" y="1371600"/>
            <a:ext cx="91" cy="3657600"/>
          </a:xfrm>
          <a:prstGeom prst="line">
            <a:avLst/>
          </a:prstGeom>
          <a:noFill/>
          <a:ln w="6350">
            <a:solidFill>
              <a:srgbClr val="C9D3E6"/>
            </a:solidFill>
            <a:prstDash val="solid"/>
          </a:ln>
        </p:spPr>
      </p:sp>
      <p:sp>
        <p:nvSpPr>
          <p:cNvPr id="24" name="Shape 22"/>
          <p:cNvSpPr/>
          <p:nvPr/>
        </p:nvSpPr>
        <p:spPr>
          <a:xfrm>
            <a:off x="914400" y="5029200"/>
            <a:ext cx="4846320" cy="91"/>
          </a:xfrm>
          <a:prstGeom prst="line">
            <a:avLst/>
          </a:prstGeom>
          <a:noFill/>
          <a:ln w="6350">
            <a:solidFill>
              <a:srgbClr val="C9D3E6"/>
            </a:solidFill>
            <a:prstDash val="solid"/>
          </a:ln>
        </p:spPr>
      </p:sp>
      <p:sp>
        <p:nvSpPr>
          <p:cNvPr id="25" name="Shape 23"/>
          <p:cNvSpPr/>
          <p:nvPr/>
        </p:nvSpPr>
        <p:spPr>
          <a:xfrm>
            <a:off x="914400" y="4767943"/>
            <a:ext cx="4846320" cy="91"/>
          </a:xfrm>
          <a:prstGeom prst="line">
            <a:avLst/>
          </a:prstGeom>
          <a:noFill/>
          <a:ln w="6350">
            <a:solidFill>
              <a:srgbClr val="E6EBF4"/>
            </a:solidFill>
            <a:prstDash val="solid"/>
          </a:ln>
        </p:spPr>
      </p:sp>
      <p:sp>
        <p:nvSpPr>
          <p:cNvPr id="26" name="Shape 24"/>
          <p:cNvSpPr/>
          <p:nvPr/>
        </p:nvSpPr>
        <p:spPr>
          <a:xfrm>
            <a:off x="914400" y="4506686"/>
            <a:ext cx="4846320" cy="91"/>
          </a:xfrm>
          <a:prstGeom prst="line">
            <a:avLst/>
          </a:prstGeom>
          <a:noFill/>
          <a:ln w="6350">
            <a:solidFill>
              <a:srgbClr val="C9D3E6"/>
            </a:solidFill>
            <a:prstDash val="solid"/>
          </a:ln>
        </p:spPr>
      </p:sp>
      <p:sp>
        <p:nvSpPr>
          <p:cNvPr id="27" name="Shape 25"/>
          <p:cNvSpPr/>
          <p:nvPr/>
        </p:nvSpPr>
        <p:spPr>
          <a:xfrm>
            <a:off x="914400" y="4245429"/>
            <a:ext cx="4846320" cy="91"/>
          </a:xfrm>
          <a:prstGeom prst="line">
            <a:avLst/>
          </a:prstGeom>
          <a:noFill/>
          <a:ln w="6350">
            <a:solidFill>
              <a:srgbClr val="E6EBF4"/>
            </a:solidFill>
            <a:prstDash val="solid"/>
          </a:ln>
        </p:spPr>
      </p:sp>
      <p:sp>
        <p:nvSpPr>
          <p:cNvPr id="28" name="Shape 26"/>
          <p:cNvSpPr/>
          <p:nvPr/>
        </p:nvSpPr>
        <p:spPr>
          <a:xfrm>
            <a:off x="914400" y="3984171"/>
            <a:ext cx="4846320" cy="91"/>
          </a:xfrm>
          <a:prstGeom prst="line">
            <a:avLst/>
          </a:prstGeom>
          <a:noFill/>
          <a:ln w="6350">
            <a:solidFill>
              <a:srgbClr val="C9D3E6"/>
            </a:solidFill>
            <a:prstDash val="solid"/>
          </a:ln>
        </p:spPr>
      </p:sp>
      <p:sp>
        <p:nvSpPr>
          <p:cNvPr id="29" name="Shape 27"/>
          <p:cNvSpPr/>
          <p:nvPr/>
        </p:nvSpPr>
        <p:spPr>
          <a:xfrm>
            <a:off x="914400" y="3722914"/>
            <a:ext cx="4846320" cy="91"/>
          </a:xfrm>
          <a:prstGeom prst="line">
            <a:avLst/>
          </a:prstGeom>
          <a:noFill/>
          <a:ln w="6350">
            <a:solidFill>
              <a:srgbClr val="E6EBF4"/>
            </a:solidFill>
            <a:prstDash val="solid"/>
          </a:ln>
        </p:spPr>
      </p:sp>
      <p:sp>
        <p:nvSpPr>
          <p:cNvPr id="30" name="Shape 28"/>
          <p:cNvSpPr/>
          <p:nvPr/>
        </p:nvSpPr>
        <p:spPr>
          <a:xfrm>
            <a:off x="914400" y="3461657"/>
            <a:ext cx="4846320" cy="91"/>
          </a:xfrm>
          <a:prstGeom prst="line">
            <a:avLst/>
          </a:prstGeom>
          <a:noFill/>
          <a:ln w="6350">
            <a:solidFill>
              <a:srgbClr val="C9D3E6"/>
            </a:solidFill>
            <a:prstDash val="solid"/>
          </a:ln>
        </p:spPr>
      </p:sp>
      <p:sp>
        <p:nvSpPr>
          <p:cNvPr id="31" name="Shape 29"/>
          <p:cNvSpPr/>
          <p:nvPr/>
        </p:nvSpPr>
        <p:spPr>
          <a:xfrm>
            <a:off x="914400" y="3200400"/>
            <a:ext cx="4846320" cy="91"/>
          </a:xfrm>
          <a:prstGeom prst="line">
            <a:avLst/>
          </a:prstGeom>
          <a:noFill/>
          <a:ln w="6350">
            <a:solidFill>
              <a:srgbClr val="E6EBF4"/>
            </a:solidFill>
            <a:prstDash val="solid"/>
          </a:ln>
        </p:spPr>
      </p:sp>
      <p:sp>
        <p:nvSpPr>
          <p:cNvPr id="32" name="Shape 30"/>
          <p:cNvSpPr/>
          <p:nvPr/>
        </p:nvSpPr>
        <p:spPr>
          <a:xfrm>
            <a:off x="914400" y="2939143"/>
            <a:ext cx="4846320" cy="91"/>
          </a:xfrm>
          <a:prstGeom prst="line">
            <a:avLst/>
          </a:prstGeom>
          <a:noFill/>
          <a:ln w="6350">
            <a:solidFill>
              <a:srgbClr val="C9D3E6"/>
            </a:solidFill>
            <a:prstDash val="solid"/>
          </a:ln>
        </p:spPr>
      </p:sp>
      <p:sp>
        <p:nvSpPr>
          <p:cNvPr id="33" name="Shape 31"/>
          <p:cNvSpPr/>
          <p:nvPr/>
        </p:nvSpPr>
        <p:spPr>
          <a:xfrm>
            <a:off x="914400" y="2677886"/>
            <a:ext cx="4846320" cy="91"/>
          </a:xfrm>
          <a:prstGeom prst="line">
            <a:avLst/>
          </a:prstGeom>
          <a:noFill/>
          <a:ln w="6350">
            <a:solidFill>
              <a:srgbClr val="E6EBF4"/>
            </a:solidFill>
            <a:prstDash val="solid"/>
          </a:ln>
        </p:spPr>
      </p:sp>
      <p:sp>
        <p:nvSpPr>
          <p:cNvPr id="34" name="Shape 32"/>
          <p:cNvSpPr/>
          <p:nvPr/>
        </p:nvSpPr>
        <p:spPr>
          <a:xfrm>
            <a:off x="914400" y="2416629"/>
            <a:ext cx="4846320" cy="91"/>
          </a:xfrm>
          <a:prstGeom prst="line">
            <a:avLst/>
          </a:prstGeom>
          <a:noFill/>
          <a:ln w="6350">
            <a:solidFill>
              <a:srgbClr val="C9D3E6"/>
            </a:solidFill>
            <a:prstDash val="solid"/>
          </a:ln>
        </p:spPr>
      </p:sp>
      <p:sp>
        <p:nvSpPr>
          <p:cNvPr id="35" name="Shape 33"/>
          <p:cNvSpPr/>
          <p:nvPr/>
        </p:nvSpPr>
        <p:spPr>
          <a:xfrm>
            <a:off x="914400" y="2155371"/>
            <a:ext cx="4846320" cy="91"/>
          </a:xfrm>
          <a:prstGeom prst="line">
            <a:avLst/>
          </a:prstGeom>
          <a:noFill/>
          <a:ln w="6350">
            <a:solidFill>
              <a:srgbClr val="E6EBF4"/>
            </a:solidFill>
            <a:prstDash val="solid"/>
          </a:ln>
        </p:spPr>
      </p:sp>
      <p:sp>
        <p:nvSpPr>
          <p:cNvPr id="36" name="Shape 34"/>
          <p:cNvSpPr/>
          <p:nvPr/>
        </p:nvSpPr>
        <p:spPr>
          <a:xfrm>
            <a:off x="914400" y="1894114"/>
            <a:ext cx="4846320" cy="91"/>
          </a:xfrm>
          <a:prstGeom prst="line">
            <a:avLst/>
          </a:prstGeom>
          <a:noFill/>
          <a:ln w="6350">
            <a:solidFill>
              <a:srgbClr val="C9D3E6"/>
            </a:solidFill>
            <a:prstDash val="solid"/>
          </a:ln>
        </p:spPr>
      </p:sp>
      <p:sp>
        <p:nvSpPr>
          <p:cNvPr id="37" name="Shape 35"/>
          <p:cNvSpPr/>
          <p:nvPr/>
        </p:nvSpPr>
        <p:spPr>
          <a:xfrm>
            <a:off x="914400" y="1632857"/>
            <a:ext cx="4846320" cy="91"/>
          </a:xfrm>
          <a:prstGeom prst="line">
            <a:avLst/>
          </a:prstGeom>
          <a:noFill/>
          <a:ln w="6350">
            <a:solidFill>
              <a:srgbClr val="E6EBF4"/>
            </a:solidFill>
            <a:prstDash val="solid"/>
          </a:ln>
        </p:spPr>
      </p:sp>
      <p:sp>
        <p:nvSpPr>
          <p:cNvPr id="38" name="Shape 36"/>
          <p:cNvSpPr/>
          <p:nvPr/>
        </p:nvSpPr>
        <p:spPr>
          <a:xfrm>
            <a:off x="914400" y="1371600"/>
            <a:ext cx="4846320" cy="91"/>
          </a:xfrm>
          <a:prstGeom prst="line">
            <a:avLst/>
          </a:prstGeom>
          <a:noFill/>
          <a:ln w="6350">
            <a:solidFill>
              <a:srgbClr val="C9D3E6"/>
            </a:solidFill>
            <a:prstDash val="solid"/>
          </a:ln>
        </p:spPr>
      </p:sp>
      <p:sp>
        <p:nvSpPr>
          <p:cNvPr id="39" name="Shape 37"/>
          <p:cNvSpPr/>
          <p:nvPr/>
        </p:nvSpPr>
        <p:spPr>
          <a:xfrm>
            <a:off x="914400" y="3200400"/>
            <a:ext cx="4846320" cy="91"/>
          </a:xfrm>
          <a:prstGeom prst="line">
            <a:avLst/>
          </a:prstGeom>
          <a:noFill/>
          <a:ln w="19050">
            <a:solidFill>
              <a:srgbClr val="1A2340"/>
            </a:solidFill>
            <a:prstDash val="solid"/>
          </a:ln>
        </p:spPr>
      </p:sp>
      <p:sp>
        <p:nvSpPr>
          <p:cNvPr id="40" name="Shape 38"/>
          <p:cNvSpPr/>
          <p:nvPr/>
        </p:nvSpPr>
        <p:spPr>
          <a:xfrm flipV="1">
            <a:off x="3337560" y="1371600"/>
            <a:ext cx="91" cy="3657600"/>
          </a:xfrm>
          <a:prstGeom prst="line">
            <a:avLst/>
          </a:prstGeom>
          <a:noFill/>
          <a:ln w="19050">
            <a:solidFill>
              <a:srgbClr val="1A2340"/>
            </a:solidFill>
            <a:prstDash val="solid"/>
          </a:ln>
        </p:spPr>
      </p:sp>
      <p:sp>
        <p:nvSpPr>
          <p:cNvPr id="41" name="Shape 39"/>
          <p:cNvSpPr/>
          <p:nvPr/>
        </p:nvSpPr>
        <p:spPr>
          <a:xfrm>
            <a:off x="914400" y="3200400"/>
            <a:ext cx="91" cy="54864"/>
          </a:xfrm>
          <a:prstGeom prst="line">
            <a:avLst/>
          </a:prstGeom>
          <a:noFill/>
          <a:ln w="12700">
            <a:solidFill>
              <a:srgbClr val="1A2340"/>
            </a:solidFill>
            <a:prstDash val="solid"/>
          </a:ln>
        </p:spPr>
      </p:sp>
      <p:sp>
        <p:nvSpPr>
          <p:cNvPr id="42" name="Text 40"/>
          <p:cNvSpPr/>
          <p:nvPr/>
        </p:nvSpPr>
        <p:spPr>
          <a:xfrm>
            <a:off x="640080" y="32552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43" name="Shape 41"/>
          <p:cNvSpPr/>
          <p:nvPr/>
        </p:nvSpPr>
        <p:spPr>
          <a:xfrm>
            <a:off x="1722120" y="3200400"/>
            <a:ext cx="91" cy="54864"/>
          </a:xfrm>
          <a:prstGeom prst="line">
            <a:avLst/>
          </a:prstGeom>
          <a:noFill/>
          <a:ln w="12700">
            <a:solidFill>
              <a:srgbClr val="1A2340"/>
            </a:solidFill>
            <a:prstDash val="solid"/>
          </a:ln>
        </p:spPr>
      </p:sp>
      <p:sp>
        <p:nvSpPr>
          <p:cNvPr id="44" name="Text 42"/>
          <p:cNvSpPr/>
          <p:nvPr/>
        </p:nvSpPr>
        <p:spPr>
          <a:xfrm>
            <a:off x="1447800" y="32552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5" name="Shape 43"/>
          <p:cNvSpPr/>
          <p:nvPr/>
        </p:nvSpPr>
        <p:spPr>
          <a:xfrm>
            <a:off x="2529840" y="3200400"/>
            <a:ext cx="91" cy="54864"/>
          </a:xfrm>
          <a:prstGeom prst="line">
            <a:avLst/>
          </a:prstGeom>
          <a:noFill/>
          <a:ln w="12700">
            <a:solidFill>
              <a:srgbClr val="1A2340"/>
            </a:solidFill>
            <a:prstDash val="solid"/>
          </a:ln>
        </p:spPr>
      </p:sp>
      <p:sp>
        <p:nvSpPr>
          <p:cNvPr id="46" name="Text 44"/>
          <p:cNvSpPr/>
          <p:nvPr/>
        </p:nvSpPr>
        <p:spPr>
          <a:xfrm>
            <a:off x="2255520" y="32552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4145280" y="3200400"/>
            <a:ext cx="91" cy="54864"/>
          </a:xfrm>
          <a:prstGeom prst="line">
            <a:avLst/>
          </a:prstGeom>
          <a:noFill/>
          <a:ln w="12700">
            <a:solidFill>
              <a:srgbClr val="1A2340"/>
            </a:solidFill>
            <a:prstDash val="solid"/>
          </a:ln>
        </p:spPr>
      </p:sp>
      <p:sp>
        <p:nvSpPr>
          <p:cNvPr id="48" name="Text 46"/>
          <p:cNvSpPr/>
          <p:nvPr/>
        </p:nvSpPr>
        <p:spPr>
          <a:xfrm>
            <a:off x="3870960" y="32552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9" name="Shape 47"/>
          <p:cNvSpPr/>
          <p:nvPr/>
        </p:nvSpPr>
        <p:spPr>
          <a:xfrm>
            <a:off x="4953000" y="3200400"/>
            <a:ext cx="91" cy="54864"/>
          </a:xfrm>
          <a:prstGeom prst="line">
            <a:avLst/>
          </a:prstGeom>
          <a:noFill/>
          <a:ln w="12700">
            <a:solidFill>
              <a:srgbClr val="1A2340"/>
            </a:solidFill>
            <a:prstDash val="solid"/>
          </a:ln>
        </p:spPr>
      </p:sp>
      <p:sp>
        <p:nvSpPr>
          <p:cNvPr id="50" name="Text 48"/>
          <p:cNvSpPr/>
          <p:nvPr/>
        </p:nvSpPr>
        <p:spPr>
          <a:xfrm>
            <a:off x="4678680" y="32552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1" name="Shape 49"/>
          <p:cNvSpPr/>
          <p:nvPr/>
        </p:nvSpPr>
        <p:spPr>
          <a:xfrm>
            <a:off x="5760720" y="3200400"/>
            <a:ext cx="91" cy="54864"/>
          </a:xfrm>
          <a:prstGeom prst="line">
            <a:avLst/>
          </a:prstGeom>
          <a:noFill/>
          <a:ln w="12700">
            <a:solidFill>
              <a:srgbClr val="1A2340"/>
            </a:solidFill>
            <a:prstDash val="solid"/>
          </a:ln>
        </p:spPr>
      </p:sp>
      <p:sp>
        <p:nvSpPr>
          <p:cNvPr id="52" name="Text 50"/>
          <p:cNvSpPr/>
          <p:nvPr/>
        </p:nvSpPr>
        <p:spPr>
          <a:xfrm>
            <a:off x="5486400" y="32552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3" name="Shape 51"/>
          <p:cNvSpPr/>
          <p:nvPr/>
        </p:nvSpPr>
        <p:spPr>
          <a:xfrm>
            <a:off x="3282696" y="5029200"/>
            <a:ext cx="54864" cy="91"/>
          </a:xfrm>
          <a:prstGeom prst="line">
            <a:avLst/>
          </a:prstGeom>
          <a:noFill/>
          <a:ln w="12700">
            <a:solidFill>
              <a:srgbClr val="1A2340"/>
            </a:solidFill>
            <a:prstDash val="solid"/>
          </a:ln>
        </p:spPr>
      </p:sp>
      <p:sp>
        <p:nvSpPr>
          <p:cNvPr id="54" name="Text 52"/>
          <p:cNvSpPr/>
          <p:nvPr/>
        </p:nvSpPr>
        <p:spPr>
          <a:xfrm>
            <a:off x="2880360" y="493776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-0.3</a:t>
            </a:r>
            <a:endParaRPr lang="en-US" sz="1000" dirty="0"/>
          </a:p>
        </p:txBody>
      </p:sp>
      <p:sp>
        <p:nvSpPr>
          <p:cNvPr id="55" name="Shape 53"/>
          <p:cNvSpPr/>
          <p:nvPr/>
        </p:nvSpPr>
        <p:spPr>
          <a:xfrm>
            <a:off x="3282696" y="4506686"/>
            <a:ext cx="54864" cy="91"/>
          </a:xfrm>
          <a:prstGeom prst="line">
            <a:avLst/>
          </a:prstGeom>
          <a:noFill/>
          <a:ln w="12700">
            <a:solidFill>
              <a:srgbClr val="1A2340"/>
            </a:solidFill>
            <a:prstDash val="solid"/>
          </a:ln>
        </p:spPr>
      </p:sp>
      <p:sp>
        <p:nvSpPr>
          <p:cNvPr id="56" name="Text 54"/>
          <p:cNvSpPr/>
          <p:nvPr/>
        </p:nvSpPr>
        <p:spPr>
          <a:xfrm>
            <a:off x="2880360" y="4415246"/>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57" name="Shape 55"/>
          <p:cNvSpPr/>
          <p:nvPr/>
        </p:nvSpPr>
        <p:spPr>
          <a:xfrm>
            <a:off x="3282696" y="3984171"/>
            <a:ext cx="54864" cy="91"/>
          </a:xfrm>
          <a:prstGeom prst="line">
            <a:avLst/>
          </a:prstGeom>
          <a:noFill/>
          <a:ln w="12700">
            <a:solidFill>
              <a:srgbClr val="1A2340"/>
            </a:solidFill>
            <a:prstDash val="solid"/>
          </a:ln>
        </p:spPr>
      </p:sp>
      <p:sp>
        <p:nvSpPr>
          <p:cNvPr id="58" name="Text 56"/>
          <p:cNvSpPr/>
          <p:nvPr/>
        </p:nvSpPr>
        <p:spPr>
          <a:xfrm>
            <a:off x="2880360" y="3892731"/>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a:t>
            </a:r>
            <a:endParaRPr lang="en-US" sz="1000" dirty="0"/>
          </a:p>
        </p:txBody>
      </p:sp>
      <p:sp>
        <p:nvSpPr>
          <p:cNvPr id="59" name="Shape 57"/>
          <p:cNvSpPr/>
          <p:nvPr/>
        </p:nvSpPr>
        <p:spPr>
          <a:xfrm>
            <a:off x="3282696" y="3461657"/>
            <a:ext cx="54864" cy="91"/>
          </a:xfrm>
          <a:prstGeom prst="line">
            <a:avLst/>
          </a:prstGeom>
          <a:noFill/>
          <a:ln w="12700">
            <a:solidFill>
              <a:srgbClr val="1A2340"/>
            </a:solidFill>
            <a:prstDash val="solid"/>
          </a:ln>
        </p:spPr>
      </p:sp>
      <p:sp>
        <p:nvSpPr>
          <p:cNvPr id="60" name="Text 58"/>
          <p:cNvSpPr/>
          <p:nvPr/>
        </p:nvSpPr>
        <p:spPr>
          <a:xfrm>
            <a:off x="2880360" y="3370217"/>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61" name="Shape 59"/>
          <p:cNvSpPr/>
          <p:nvPr/>
        </p:nvSpPr>
        <p:spPr>
          <a:xfrm>
            <a:off x="3282696" y="2939143"/>
            <a:ext cx="54864" cy="91"/>
          </a:xfrm>
          <a:prstGeom prst="line">
            <a:avLst/>
          </a:prstGeom>
          <a:noFill/>
          <a:ln w="12700">
            <a:solidFill>
              <a:srgbClr val="1A2340"/>
            </a:solidFill>
            <a:prstDash val="solid"/>
          </a:ln>
        </p:spPr>
      </p:sp>
      <p:sp>
        <p:nvSpPr>
          <p:cNvPr id="62" name="Text 60"/>
          <p:cNvSpPr/>
          <p:nvPr/>
        </p:nvSpPr>
        <p:spPr>
          <a:xfrm>
            <a:off x="2880360" y="2847703"/>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a:t>
            </a:r>
            <a:endParaRPr lang="en-US" sz="1000" dirty="0"/>
          </a:p>
        </p:txBody>
      </p:sp>
      <p:sp>
        <p:nvSpPr>
          <p:cNvPr id="63" name="Shape 61"/>
          <p:cNvSpPr/>
          <p:nvPr/>
        </p:nvSpPr>
        <p:spPr>
          <a:xfrm>
            <a:off x="3282696" y="2416629"/>
            <a:ext cx="54864" cy="91"/>
          </a:xfrm>
          <a:prstGeom prst="line">
            <a:avLst/>
          </a:prstGeom>
          <a:noFill/>
          <a:ln w="12700">
            <a:solidFill>
              <a:srgbClr val="1A2340"/>
            </a:solidFill>
            <a:prstDash val="solid"/>
          </a:ln>
        </p:spPr>
      </p:sp>
      <p:sp>
        <p:nvSpPr>
          <p:cNvPr id="64" name="Text 62"/>
          <p:cNvSpPr/>
          <p:nvPr/>
        </p:nvSpPr>
        <p:spPr>
          <a:xfrm>
            <a:off x="2880360" y="2325189"/>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65" name="Shape 63"/>
          <p:cNvSpPr/>
          <p:nvPr/>
        </p:nvSpPr>
        <p:spPr>
          <a:xfrm>
            <a:off x="3282696" y="1894114"/>
            <a:ext cx="54864" cy="91"/>
          </a:xfrm>
          <a:prstGeom prst="line">
            <a:avLst/>
          </a:prstGeom>
          <a:noFill/>
          <a:ln w="12700">
            <a:solidFill>
              <a:srgbClr val="1A2340"/>
            </a:solidFill>
            <a:prstDash val="solid"/>
          </a:ln>
        </p:spPr>
      </p:sp>
      <p:sp>
        <p:nvSpPr>
          <p:cNvPr id="66" name="Text 64"/>
          <p:cNvSpPr/>
          <p:nvPr/>
        </p:nvSpPr>
        <p:spPr>
          <a:xfrm>
            <a:off x="2880360" y="1802674"/>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0.3</a:t>
            </a:r>
            <a:endParaRPr lang="en-US" sz="1000" dirty="0"/>
          </a:p>
        </p:txBody>
      </p:sp>
      <p:sp>
        <p:nvSpPr>
          <p:cNvPr id="67" name="Shape 65"/>
          <p:cNvSpPr/>
          <p:nvPr/>
        </p:nvSpPr>
        <p:spPr>
          <a:xfrm>
            <a:off x="3282696" y="1371600"/>
            <a:ext cx="54864" cy="91"/>
          </a:xfrm>
          <a:prstGeom prst="line">
            <a:avLst/>
          </a:prstGeom>
          <a:noFill/>
          <a:ln w="12700">
            <a:solidFill>
              <a:srgbClr val="1A2340"/>
            </a:solidFill>
            <a:prstDash val="solid"/>
          </a:ln>
        </p:spPr>
      </p:sp>
      <p:sp>
        <p:nvSpPr>
          <p:cNvPr id="68" name="Text 66"/>
          <p:cNvSpPr/>
          <p:nvPr/>
        </p:nvSpPr>
        <p:spPr>
          <a:xfrm>
            <a:off x="2880360" y="128016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69" name="Text 67"/>
          <p:cNvSpPr/>
          <p:nvPr/>
        </p:nvSpPr>
        <p:spPr>
          <a:xfrm>
            <a:off x="3063240" y="3236976"/>
            <a:ext cx="219456"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70" name="Text 68"/>
          <p:cNvSpPr/>
          <p:nvPr/>
        </p:nvSpPr>
        <p:spPr>
          <a:xfrm>
            <a:off x="4846320" y="2926080"/>
            <a:ext cx="91440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p.d. / V</a:t>
            </a:r>
            <a:endParaRPr lang="en-US" sz="1050" dirty="0"/>
          </a:p>
        </p:txBody>
      </p:sp>
      <p:sp>
        <p:nvSpPr>
          <p:cNvPr id="71" name="Text 69"/>
          <p:cNvSpPr/>
          <p:nvPr/>
        </p:nvSpPr>
        <p:spPr>
          <a:xfrm>
            <a:off x="3410712" y="1389888"/>
            <a:ext cx="201168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current / A</a:t>
            </a:r>
            <a:endParaRPr lang="en-US" sz="1050" dirty="0"/>
          </a:p>
        </p:txBody>
      </p:sp>
      <p:sp>
        <p:nvSpPr>
          <p:cNvPr id="72" name="Shape 70"/>
          <p:cNvSpPr/>
          <p:nvPr/>
        </p:nvSpPr>
        <p:spPr>
          <a:xfrm flipV="1">
            <a:off x="914400" y="1632857"/>
            <a:ext cx="4846320" cy="3135086"/>
          </a:xfrm>
          <a:prstGeom prst="line">
            <a:avLst/>
          </a:prstGeom>
          <a:noFill/>
          <a:ln w="31750">
            <a:solidFill>
              <a:srgbClr val="2E5BD8"/>
            </a:solidFill>
            <a:prstDash val="solid"/>
          </a:ln>
        </p:spPr>
      </p:sp>
      <p:sp>
        <p:nvSpPr>
          <p:cNvPr id="73" name="Shape 71"/>
          <p:cNvSpPr/>
          <p:nvPr/>
        </p:nvSpPr>
        <p:spPr>
          <a:xfrm flipV="1">
            <a:off x="914400" y="4754545"/>
            <a:ext cx="80772" cy="13398"/>
          </a:xfrm>
          <a:prstGeom prst="line">
            <a:avLst/>
          </a:prstGeom>
          <a:noFill/>
          <a:ln w="31750">
            <a:solidFill>
              <a:srgbClr val="C8414C"/>
            </a:solidFill>
            <a:prstDash val="solid"/>
          </a:ln>
        </p:spPr>
      </p:sp>
      <p:sp>
        <p:nvSpPr>
          <p:cNvPr id="74" name="Shape 72"/>
          <p:cNvSpPr/>
          <p:nvPr/>
        </p:nvSpPr>
        <p:spPr>
          <a:xfrm flipV="1">
            <a:off x="995172" y="4740442"/>
            <a:ext cx="80772" cy="14103"/>
          </a:xfrm>
          <a:prstGeom prst="line">
            <a:avLst/>
          </a:prstGeom>
          <a:noFill/>
          <a:ln w="31750">
            <a:solidFill>
              <a:srgbClr val="C8414C"/>
            </a:solidFill>
            <a:prstDash val="solid"/>
          </a:ln>
        </p:spPr>
      </p:sp>
      <p:sp>
        <p:nvSpPr>
          <p:cNvPr id="75" name="Shape 73"/>
          <p:cNvSpPr/>
          <p:nvPr/>
        </p:nvSpPr>
        <p:spPr>
          <a:xfrm flipV="1">
            <a:off x="1075944" y="4725577"/>
            <a:ext cx="80772" cy="14865"/>
          </a:xfrm>
          <a:prstGeom prst="line">
            <a:avLst/>
          </a:prstGeom>
          <a:noFill/>
          <a:ln w="31750">
            <a:solidFill>
              <a:srgbClr val="C8414C"/>
            </a:solidFill>
            <a:prstDash val="solid"/>
          </a:ln>
        </p:spPr>
      </p:sp>
      <p:sp>
        <p:nvSpPr>
          <p:cNvPr id="76" name="Shape 74"/>
          <p:cNvSpPr/>
          <p:nvPr/>
        </p:nvSpPr>
        <p:spPr>
          <a:xfrm flipV="1">
            <a:off x="1156716" y="4709886"/>
            <a:ext cx="80772" cy="15691"/>
          </a:xfrm>
          <a:prstGeom prst="line">
            <a:avLst/>
          </a:prstGeom>
          <a:noFill/>
          <a:ln w="31750">
            <a:solidFill>
              <a:srgbClr val="C8414C"/>
            </a:solidFill>
            <a:prstDash val="solid"/>
          </a:ln>
        </p:spPr>
      </p:sp>
      <p:sp>
        <p:nvSpPr>
          <p:cNvPr id="77" name="Shape 75"/>
          <p:cNvSpPr/>
          <p:nvPr/>
        </p:nvSpPr>
        <p:spPr>
          <a:xfrm flipV="1">
            <a:off x="1237488" y="4693298"/>
            <a:ext cx="80772" cy="16588"/>
          </a:xfrm>
          <a:prstGeom prst="line">
            <a:avLst/>
          </a:prstGeom>
          <a:noFill/>
          <a:ln w="31750">
            <a:solidFill>
              <a:srgbClr val="C8414C"/>
            </a:solidFill>
            <a:prstDash val="solid"/>
          </a:ln>
        </p:spPr>
      </p:sp>
      <p:sp>
        <p:nvSpPr>
          <p:cNvPr id="78" name="Shape 76"/>
          <p:cNvSpPr/>
          <p:nvPr/>
        </p:nvSpPr>
        <p:spPr>
          <a:xfrm flipV="1">
            <a:off x="1318260" y="4675734"/>
            <a:ext cx="80772" cy="17564"/>
          </a:xfrm>
          <a:prstGeom prst="line">
            <a:avLst/>
          </a:prstGeom>
          <a:noFill/>
          <a:ln w="31750">
            <a:solidFill>
              <a:srgbClr val="C8414C"/>
            </a:solidFill>
            <a:prstDash val="solid"/>
          </a:ln>
        </p:spPr>
      </p:sp>
      <p:sp>
        <p:nvSpPr>
          <p:cNvPr id="79" name="Shape 77"/>
          <p:cNvSpPr/>
          <p:nvPr/>
        </p:nvSpPr>
        <p:spPr>
          <a:xfrm flipV="1">
            <a:off x="1399032" y="4657106"/>
            <a:ext cx="80772" cy="18628"/>
          </a:xfrm>
          <a:prstGeom prst="line">
            <a:avLst/>
          </a:prstGeom>
          <a:noFill/>
          <a:ln w="31750">
            <a:solidFill>
              <a:srgbClr val="C8414C"/>
            </a:solidFill>
            <a:prstDash val="solid"/>
          </a:ln>
        </p:spPr>
      </p:sp>
      <p:sp>
        <p:nvSpPr>
          <p:cNvPr id="80" name="Shape 78"/>
          <p:cNvSpPr/>
          <p:nvPr/>
        </p:nvSpPr>
        <p:spPr>
          <a:xfrm flipV="1">
            <a:off x="1479804" y="4637314"/>
            <a:ext cx="80772" cy="19792"/>
          </a:xfrm>
          <a:prstGeom prst="line">
            <a:avLst/>
          </a:prstGeom>
          <a:noFill/>
          <a:ln w="31750">
            <a:solidFill>
              <a:srgbClr val="C8414C"/>
            </a:solidFill>
            <a:prstDash val="solid"/>
          </a:ln>
        </p:spPr>
      </p:sp>
      <p:sp>
        <p:nvSpPr>
          <p:cNvPr id="81" name="Shape 79"/>
          <p:cNvSpPr/>
          <p:nvPr/>
        </p:nvSpPr>
        <p:spPr>
          <a:xfrm flipV="1">
            <a:off x="1560576" y="4616245"/>
            <a:ext cx="80772" cy="21069"/>
          </a:xfrm>
          <a:prstGeom prst="line">
            <a:avLst/>
          </a:prstGeom>
          <a:noFill/>
          <a:ln w="31750">
            <a:solidFill>
              <a:srgbClr val="C8414C"/>
            </a:solidFill>
            <a:prstDash val="solid"/>
          </a:ln>
        </p:spPr>
      </p:sp>
      <p:sp>
        <p:nvSpPr>
          <p:cNvPr id="82" name="Shape 80"/>
          <p:cNvSpPr/>
          <p:nvPr/>
        </p:nvSpPr>
        <p:spPr>
          <a:xfrm flipV="1">
            <a:off x="1641348" y="4593771"/>
            <a:ext cx="80772" cy="22474"/>
          </a:xfrm>
          <a:prstGeom prst="line">
            <a:avLst/>
          </a:prstGeom>
          <a:noFill/>
          <a:ln w="31750">
            <a:solidFill>
              <a:srgbClr val="C8414C"/>
            </a:solidFill>
            <a:prstDash val="solid"/>
          </a:ln>
        </p:spPr>
      </p:sp>
      <p:sp>
        <p:nvSpPr>
          <p:cNvPr id="83" name="Shape 81"/>
          <p:cNvSpPr/>
          <p:nvPr/>
        </p:nvSpPr>
        <p:spPr>
          <a:xfrm flipV="1">
            <a:off x="1722120" y="4569748"/>
            <a:ext cx="80772" cy="24024"/>
          </a:xfrm>
          <a:prstGeom prst="line">
            <a:avLst/>
          </a:prstGeom>
          <a:noFill/>
          <a:ln w="31750">
            <a:solidFill>
              <a:srgbClr val="C8414C"/>
            </a:solidFill>
            <a:prstDash val="solid"/>
          </a:ln>
        </p:spPr>
      </p:sp>
      <p:sp>
        <p:nvSpPr>
          <p:cNvPr id="84" name="Shape 82"/>
          <p:cNvSpPr/>
          <p:nvPr/>
        </p:nvSpPr>
        <p:spPr>
          <a:xfrm flipV="1">
            <a:off x="1802892" y="4544008"/>
            <a:ext cx="80772" cy="25740"/>
          </a:xfrm>
          <a:prstGeom prst="line">
            <a:avLst/>
          </a:prstGeom>
          <a:noFill/>
          <a:ln w="31750">
            <a:solidFill>
              <a:srgbClr val="C8414C"/>
            </a:solidFill>
            <a:prstDash val="solid"/>
          </a:ln>
        </p:spPr>
      </p:sp>
      <p:sp>
        <p:nvSpPr>
          <p:cNvPr id="85" name="Shape 83"/>
          <p:cNvSpPr/>
          <p:nvPr/>
        </p:nvSpPr>
        <p:spPr>
          <a:xfrm flipV="1">
            <a:off x="1883664" y="4516362"/>
            <a:ext cx="80772" cy="27646"/>
          </a:xfrm>
          <a:prstGeom prst="line">
            <a:avLst/>
          </a:prstGeom>
          <a:noFill/>
          <a:ln w="31750">
            <a:solidFill>
              <a:srgbClr val="C8414C"/>
            </a:solidFill>
            <a:prstDash val="solid"/>
          </a:ln>
        </p:spPr>
      </p:sp>
      <p:sp>
        <p:nvSpPr>
          <p:cNvPr id="86" name="Shape 84"/>
          <p:cNvSpPr/>
          <p:nvPr/>
        </p:nvSpPr>
        <p:spPr>
          <a:xfrm flipV="1">
            <a:off x="1964436" y="4486589"/>
            <a:ext cx="80772" cy="29773"/>
          </a:xfrm>
          <a:prstGeom prst="line">
            <a:avLst/>
          </a:prstGeom>
          <a:noFill/>
          <a:ln w="31750">
            <a:solidFill>
              <a:srgbClr val="C8414C"/>
            </a:solidFill>
            <a:prstDash val="solid"/>
          </a:ln>
        </p:spPr>
      </p:sp>
      <p:sp>
        <p:nvSpPr>
          <p:cNvPr id="87" name="Shape 85"/>
          <p:cNvSpPr/>
          <p:nvPr/>
        </p:nvSpPr>
        <p:spPr>
          <a:xfrm flipV="1">
            <a:off x="2045208" y="4454434"/>
            <a:ext cx="80772" cy="32155"/>
          </a:xfrm>
          <a:prstGeom prst="line">
            <a:avLst/>
          </a:prstGeom>
          <a:noFill/>
          <a:ln w="31750">
            <a:solidFill>
              <a:srgbClr val="C8414C"/>
            </a:solidFill>
            <a:prstDash val="solid"/>
          </a:ln>
        </p:spPr>
      </p:sp>
      <p:sp>
        <p:nvSpPr>
          <p:cNvPr id="88" name="Shape 86"/>
          <p:cNvSpPr/>
          <p:nvPr/>
        </p:nvSpPr>
        <p:spPr>
          <a:xfrm flipV="1">
            <a:off x="2125980" y="4419600"/>
            <a:ext cx="80772" cy="34834"/>
          </a:xfrm>
          <a:prstGeom prst="line">
            <a:avLst/>
          </a:prstGeom>
          <a:noFill/>
          <a:ln w="31750">
            <a:solidFill>
              <a:srgbClr val="C8414C"/>
            </a:solidFill>
            <a:prstDash val="solid"/>
          </a:ln>
        </p:spPr>
      </p:sp>
      <p:sp>
        <p:nvSpPr>
          <p:cNvPr id="89" name="Shape 87"/>
          <p:cNvSpPr/>
          <p:nvPr/>
        </p:nvSpPr>
        <p:spPr>
          <a:xfrm flipV="1">
            <a:off x="2206752" y="4381737"/>
            <a:ext cx="80772" cy="37863"/>
          </a:xfrm>
          <a:prstGeom prst="line">
            <a:avLst/>
          </a:prstGeom>
          <a:noFill/>
          <a:ln w="31750">
            <a:solidFill>
              <a:srgbClr val="C8414C"/>
            </a:solidFill>
            <a:prstDash val="solid"/>
          </a:ln>
        </p:spPr>
      </p:sp>
      <p:sp>
        <p:nvSpPr>
          <p:cNvPr id="90" name="Shape 88"/>
          <p:cNvSpPr/>
          <p:nvPr/>
        </p:nvSpPr>
        <p:spPr>
          <a:xfrm flipV="1">
            <a:off x="2287524" y="4340431"/>
            <a:ext cx="80772" cy="41305"/>
          </a:xfrm>
          <a:prstGeom prst="line">
            <a:avLst/>
          </a:prstGeom>
          <a:noFill/>
          <a:ln w="31750">
            <a:solidFill>
              <a:srgbClr val="C8414C"/>
            </a:solidFill>
            <a:prstDash val="solid"/>
          </a:ln>
        </p:spPr>
      </p:sp>
      <p:sp>
        <p:nvSpPr>
          <p:cNvPr id="91" name="Shape 89"/>
          <p:cNvSpPr/>
          <p:nvPr/>
        </p:nvSpPr>
        <p:spPr>
          <a:xfrm flipV="1">
            <a:off x="2368296" y="4295192"/>
            <a:ext cx="80772" cy="45239"/>
          </a:xfrm>
          <a:prstGeom prst="line">
            <a:avLst/>
          </a:prstGeom>
          <a:noFill/>
          <a:ln w="31750">
            <a:solidFill>
              <a:srgbClr val="C8414C"/>
            </a:solidFill>
            <a:prstDash val="solid"/>
          </a:ln>
        </p:spPr>
      </p:sp>
      <p:sp>
        <p:nvSpPr>
          <p:cNvPr id="92" name="Shape 90"/>
          <p:cNvSpPr/>
          <p:nvPr/>
        </p:nvSpPr>
        <p:spPr>
          <a:xfrm flipV="1">
            <a:off x="2449068" y="4245429"/>
            <a:ext cx="80772" cy="49763"/>
          </a:xfrm>
          <a:prstGeom prst="line">
            <a:avLst/>
          </a:prstGeom>
          <a:noFill/>
          <a:ln w="31750">
            <a:solidFill>
              <a:srgbClr val="C8414C"/>
            </a:solidFill>
            <a:prstDash val="solid"/>
          </a:ln>
        </p:spPr>
      </p:sp>
      <p:sp>
        <p:nvSpPr>
          <p:cNvPr id="93" name="Shape 91"/>
          <p:cNvSpPr/>
          <p:nvPr/>
        </p:nvSpPr>
        <p:spPr>
          <a:xfrm flipV="1">
            <a:off x="2529840" y="4190427"/>
            <a:ext cx="80772" cy="55002"/>
          </a:xfrm>
          <a:prstGeom prst="line">
            <a:avLst/>
          </a:prstGeom>
          <a:noFill/>
          <a:ln w="31750">
            <a:solidFill>
              <a:srgbClr val="C8414C"/>
            </a:solidFill>
            <a:prstDash val="solid"/>
          </a:ln>
        </p:spPr>
      </p:sp>
      <p:sp>
        <p:nvSpPr>
          <p:cNvPr id="94" name="Shape 92"/>
          <p:cNvSpPr/>
          <p:nvPr/>
        </p:nvSpPr>
        <p:spPr>
          <a:xfrm flipV="1">
            <a:off x="2610612" y="4129314"/>
            <a:ext cx="80772" cy="61113"/>
          </a:xfrm>
          <a:prstGeom prst="line">
            <a:avLst/>
          </a:prstGeom>
          <a:noFill/>
          <a:ln w="31750">
            <a:solidFill>
              <a:srgbClr val="C8414C"/>
            </a:solidFill>
            <a:prstDash val="solid"/>
          </a:ln>
        </p:spPr>
      </p:sp>
      <p:sp>
        <p:nvSpPr>
          <p:cNvPr id="95" name="Shape 93"/>
          <p:cNvSpPr/>
          <p:nvPr/>
        </p:nvSpPr>
        <p:spPr>
          <a:xfrm flipV="1">
            <a:off x="2691384" y="4061012"/>
            <a:ext cx="80772" cy="68303"/>
          </a:xfrm>
          <a:prstGeom prst="line">
            <a:avLst/>
          </a:prstGeom>
          <a:noFill/>
          <a:ln w="31750">
            <a:solidFill>
              <a:srgbClr val="C8414C"/>
            </a:solidFill>
            <a:prstDash val="solid"/>
          </a:ln>
        </p:spPr>
      </p:sp>
      <p:sp>
        <p:nvSpPr>
          <p:cNvPr id="96" name="Shape 94"/>
          <p:cNvSpPr/>
          <p:nvPr/>
        </p:nvSpPr>
        <p:spPr>
          <a:xfrm flipV="1">
            <a:off x="2772156" y="3984171"/>
            <a:ext cx="80772" cy="76840"/>
          </a:xfrm>
          <a:prstGeom prst="line">
            <a:avLst/>
          </a:prstGeom>
          <a:noFill/>
          <a:ln w="31750">
            <a:solidFill>
              <a:srgbClr val="C8414C"/>
            </a:solidFill>
            <a:prstDash val="solid"/>
          </a:ln>
        </p:spPr>
      </p:sp>
      <p:sp>
        <p:nvSpPr>
          <p:cNvPr id="97" name="Shape 95"/>
          <p:cNvSpPr/>
          <p:nvPr/>
        </p:nvSpPr>
        <p:spPr>
          <a:xfrm flipV="1">
            <a:off x="2852928" y="3897086"/>
            <a:ext cx="80772" cy="87086"/>
          </a:xfrm>
          <a:prstGeom prst="line">
            <a:avLst/>
          </a:prstGeom>
          <a:noFill/>
          <a:ln w="31750">
            <a:solidFill>
              <a:srgbClr val="C8414C"/>
            </a:solidFill>
            <a:prstDash val="solid"/>
          </a:ln>
        </p:spPr>
      </p:sp>
      <p:sp>
        <p:nvSpPr>
          <p:cNvPr id="98" name="Shape 96"/>
          <p:cNvSpPr/>
          <p:nvPr/>
        </p:nvSpPr>
        <p:spPr>
          <a:xfrm flipV="1">
            <a:off x="2933700" y="3797559"/>
            <a:ext cx="80772" cy="99527"/>
          </a:xfrm>
          <a:prstGeom prst="line">
            <a:avLst/>
          </a:prstGeom>
          <a:noFill/>
          <a:ln w="31750">
            <a:solidFill>
              <a:srgbClr val="C8414C"/>
            </a:solidFill>
            <a:prstDash val="solid"/>
          </a:ln>
        </p:spPr>
      </p:sp>
      <p:sp>
        <p:nvSpPr>
          <p:cNvPr id="99" name="Shape 97"/>
          <p:cNvSpPr/>
          <p:nvPr/>
        </p:nvSpPr>
        <p:spPr>
          <a:xfrm flipV="1">
            <a:off x="3014472" y="3682721"/>
            <a:ext cx="80772" cy="114838"/>
          </a:xfrm>
          <a:prstGeom prst="line">
            <a:avLst/>
          </a:prstGeom>
          <a:noFill/>
          <a:ln w="31750">
            <a:solidFill>
              <a:srgbClr val="C8414C"/>
            </a:solidFill>
            <a:prstDash val="solid"/>
          </a:ln>
        </p:spPr>
      </p:sp>
      <p:sp>
        <p:nvSpPr>
          <p:cNvPr id="100" name="Shape 98"/>
          <p:cNvSpPr/>
          <p:nvPr/>
        </p:nvSpPr>
        <p:spPr>
          <a:xfrm flipV="1">
            <a:off x="3095244" y="3548743"/>
            <a:ext cx="80772" cy="133978"/>
          </a:xfrm>
          <a:prstGeom prst="line">
            <a:avLst/>
          </a:prstGeom>
          <a:noFill/>
          <a:ln w="31750">
            <a:solidFill>
              <a:srgbClr val="C8414C"/>
            </a:solidFill>
            <a:prstDash val="solid"/>
          </a:ln>
        </p:spPr>
      </p:sp>
      <p:sp>
        <p:nvSpPr>
          <p:cNvPr id="101" name="Shape 99"/>
          <p:cNvSpPr/>
          <p:nvPr/>
        </p:nvSpPr>
        <p:spPr>
          <a:xfrm flipV="1">
            <a:off x="3176016" y="3390405"/>
            <a:ext cx="80772" cy="158338"/>
          </a:xfrm>
          <a:prstGeom prst="line">
            <a:avLst/>
          </a:prstGeom>
          <a:noFill/>
          <a:ln w="31750">
            <a:solidFill>
              <a:srgbClr val="C8414C"/>
            </a:solidFill>
            <a:prstDash val="solid"/>
          </a:ln>
        </p:spPr>
      </p:sp>
      <p:sp>
        <p:nvSpPr>
          <p:cNvPr id="102" name="Shape 100"/>
          <p:cNvSpPr/>
          <p:nvPr/>
        </p:nvSpPr>
        <p:spPr>
          <a:xfrm flipV="1">
            <a:off x="3256788" y="3200400"/>
            <a:ext cx="80772" cy="190005"/>
          </a:xfrm>
          <a:prstGeom prst="line">
            <a:avLst/>
          </a:prstGeom>
          <a:noFill/>
          <a:ln w="31750">
            <a:solidFill>
              <a:srgbClr val="C8414C"/>
            </a:solidFill>
            <a:prstDash val="solid"/>
          </a:ln>
        </p:spPr>
      </p:sp>
      <p:sp>
        <p:nvSpPr>
          <p:cNvPr id="103" name="Shape 101"/>
          <p:cNvSpPr/>
          <p:nvPr/>
        </p:nvSpPr>
        <p:spPr>
          <a:xfrm flipV="1">
            <a:off x="3337560" y="3010395"/>
            <a:ext cx="80772" cy="190005"/>
          </a:xfrm>
          <a:prstGeom prst="line">
            <a:avLst/>
          </a:prstGeom>
          <a:noFill/>
          <a:ln w="31750">
            <a:solidFill>
              <a:srgbClr val="C8414C"/>
            </a:solidFill>
            <a:prstDash val="solid"/>
          </a:ln>
        </p:spPr>
      </p:sp>
      <p:sp>
        <p:nvSpPr>
          <p:cNvPr id="104" name="Shape 102"/>
          <p:cNvSpPr/>
          <p:nvPr/>
        </p:nvSpPr>
        <p:spPr>
          <a:xfrm flipV="1">
            <a:off x="3418332" y="2852057"/>
            <a:ext cx="80772" cy="158338"/>
          </a:xfrm>
          <a:prstGeom prst="line">
            <a:avLst/>
          </a:prstGeom>
          <a:noFill/>
          <a:ln w="31750">
            <a:solidFill>
              <a:srgbClr val="C8414C"/>
            </a:solidFill>
            <a:prstDash val="solid"/>
          </a:ln>
        </p:spPr>
      </p:sp>
      <p:sp>
        <p:nvSpPr>
          <p:cNvPr id="105" name="Shape 103"/>
          <p:cNvSpPr/>
          <p:nvPr/>
        </p:nvSpPr>
        <p:spPr>
          <a:xfrm flipV="1">
            <a:off x="3499104" y="2718079"/>
            <a:ext cx="80772" cy="133978"/>
          </a:xfrm>
          <a:prstGeom prst="line">
            <a:avLst/>
          </a:prstGeom>
          <a:noFill/>
          <a:ln w="31750">
            <a:solidFill>
              <a:srgbClr val="C8414C"/>
            </a:solidFill>
            <a:prstDash val="solid"/>
          </a:ln>
        </p:spPr>
      </p:sp>
      <p:sp>
        <p:nvSpPr>
          <p:cNvPr id="106" name="Shape 104"/>
          <p:cNvSpPr/>
          <p:nvPr/>
        </p:nvSpPr>
        <p:spPr>
          <a:xfrm flipV="1">
            <a:off x="3579876" y="2603241"/>
            <a:ext cx="80772" cy="114838"/>
          </a:xfrm>
          <a:prstGeom prst="line">
            <a:avLst/>
          </a:prstGeom>
          <a:noFill/>
          <a:ln w="31750">
            <a:solidFill>
              <a:srgbClr val="C8414C"/>
            </a:solidFill>
            <a:prstDash val="solid"/>
          </a:ln>
        </p:spPr>
      </p:sp>
      <p:sp>
        <p:nvSpPr>
          <p:cNvPr id="107" name="Shape 105"/>
          <p:cNvSpPr/>
          <p:nvPr/>
        </p:nvSpPr>
        <p:spPr>
          <a:xfrm flipV="1">
            <a:off x="3660648" y="2503714"/>
            <a:ext cx="80772" cy="99527"/>
          </a:xfrm>
          <a:prstGeom prst="line">
            <a:avLst/>
          </a:prstGeom>
          <a:noFill/>
          <a:ln w="31750">
            <a:solidFill>
              <a:srgbClr val="C8414C"/>
            </a:solidFill>
            <a:prstDash val="solid"/>
          </a:ln>
        </p:spPr>
      </p:sp>
      <p:sp>
        <p:nvSpPr>
          <p:cNvPr id="108" name="Shape 106"/>
          <p:cNvSpPr/>
          <p:nvPr/>
        </p:nvSpPr>
        <p:spPr>
          <a:xfrm flipV="1">
            <a:off x="3741420" y="2416629"/>
            <a:ext cx="80772" cy="87086"/>
          </a:xfrm>
          <a:prstGeom prst="line">
            <a:avLst/>
          </a:prstGeom>
          <a:noFill/>
          <a:ln w="31750">
            <a:solidFill>
              <a:srgbClr val="C8414C"/>
            </a:solidFill>
            <a:prstDash val="solid"/>
          </a:ln>
        </p:spPr>
      </p:sp>
      <p:sp>
        <p:nvSpPr>
          <p:cNvPr id="109" name="Shape 107"/>
          <p:cNvSpPr/>
          <p:nvPr/>
        </p:nvSpPr>
        <p:spPr>
          <a:xfrm flipV="1">
            <a:off x="3822192" y="2339788"/>
            <a:ext cx="80772" cy="76840"/>
          </a:xfrm>
          <a:prstGeom prst="line">
            <a:avLst/>
          </a:prstGeom>
          <a:noFill/>
          <a:ln w="31750">
            <a:solidFill>
              <a:srgbClr val="C8414C"/>
            </a:solidFill>
            <a:prstDash val="solid"/>
          </a:ln>
        </p:spPr>
      </p:sp>
      <p:sp>
        <p:nvSpPr>
          <p:cNvPr id="110" name="Shape 108"/>
          <p:cNvSpPr/>
          <p:nvPr/>
        </p:nvSpPr>
        <p:spPr>
          <a:xfrm flipV="1">
            <a:off x="3902964" y="2271486"/>
            <a:ext cx="80772" cy="68303"/>
          </a:xfrm>
          <a:prstGeom prst="line">
            <a:avLst/>
          </a:prstGeom>
          <a:noFill/>
          <a:ln w="31750">
            <a:solidFill>
              <a:srgbClr val="C8414C"/>
            </a:solidFill>
            <a:prstDash val="solid"/>
          </a:ln>
        </p:spPr>
      </p:sp>
      <p:sp>
        <p:nvSpPr>
          <p:cNvPr id="111" name="Shape 109"/>
          <p:cNvSpPr/>
          <p:nvPr/>
        </p:nvSpPr>
        <p:spPr>
          <a:xfrm flipV="1">
            <a:off x="3983736" y="2210373"/>
            <a:ext cx="80772" cy="61113"/>
          </a:xfrm>
          <a:prstGeom prst="line">
            <a:avLst/>
          </a:prstGeom>
          <a:noFill/>
          <a:ln w="31750">
            <a:solidFill>
              <a:srgbClr val="C8414C"/>
            </a:solidFill>
            <a:prstDash val="solid"/>
          </a:ln>
        </p:spPr>
      </p:sp>
      <p:sp>
        <p:nvSpPr>
          <p:cNvPr id="112" name="Shape 110"/>
          <p:cNvSpPr/>
          <p:nvPr/>
        </p:nvSpPr>
        <p:spPr>
          <a:xfrm flipV="1">
            <a:off x="4064508" y="2155371"/>
            <a:ext cx="80772" cy="55002"/>
          </a:xfrm>
          <a:prstGeom prst="line">
            <a:avLst/>
          </a:prstGeom>
          <a:noFill/>
          <a:ln w="31750">
            <a:solidFill>
              <a:srgbClr val="C8414C"/>
            </a:solidFill>
            <a:prstDash val="solid"/>
          </a:ln>
        </p:spPr>
      </p:sp>
      <p:sp>
        <p:nvSpPr>
          <p:cNvPr id="113" name="Shape 111"/>
          <p:cNvSpPr/>
          <p:nvPr/>
        </p:nvSpPr>
        <p:spPr>
          <a:xfrm flipV="1">
            <a:off x="4145280" y="2105608"/>
            <a:ext cx="80772" cy="49763"/>
          </a:xfrm>
          <a:prstGeom prst="line">
            <a:avLst/>
          </a:prstGeom>
          <a:noFill/>
          <a:ln w="31750">
            <a:solidFill>
              <a:srgbClr val="C8414C"/>
            </a:solidFill>
            <a:prstDash val="solid"/>
          </a:ln>
        </p:spPr>
      </p:sp>
      <p:sp>
        <p:nvSpPr>
          <p:cNvPr id="114" name="Shape 112"/>
          <p:cNvSpPr/>
          <p:nvPr/>
        </p:nvSpPr>
        <p:spPr>
          <a:xfrm flipV="1">
            <a:off x="4226052" y="2060369"/>
            <a:ext cx="80772" cy="45239"/>
          </a:xfrm>
          <a:prstGeom prst="line">
            <a:avLst/>
          </a:prstGeom>
          <a:noFill/>
          <a:ln w="31750">
            <a:solidFill>
              <a:srgbClr val="C8414C"/>
            </a:solidFill>
            <a:prstDash val="solid"/>
          </a:ln>
        </p:spPr>
      </p:sp>
      <p:sp>
        <p:nvSpPr>
          <p:cNvPr id="115" name="Shape 113"/>
          <p:cNvSpPr/>
          <p:nvPr/>
        </p:nvSpPr>
        <p:spPr>
          <a:xfrm flipV="1">
            <a:off x="4306824" y="2019063"/>
            <a:ext cx="80772" cy="41305"/>
          </a:xfrm>
          <a:prstGeom prst="line">
            <a:avLst/>
          </a:prstGeom>
          <a:noFill/>
          <a:ln w="31750">
            <a:solidFill>
              <a:srgbClr val="C8414C"/>
            </a:solidFill>
            <a:prstDash val="solid"/>
          </a:ln>
        </p:spPr>
      </p:sp>
      <p:sp>
        <p:nvSpPr>
          <p:cNvPr id="116" name="Shape 114"/>
          <p:cNvSpPr/>
          <p:nvPr/>
        </p:nvSpPr>
        <p:spPr>
          <a:xfrm flipV="1">
            <a:off x="4387596" y="1981200"/>
            <a:ext cx="80772" cy="37863"/>
          </a:xfrm>
          <a:prstGeom prst="line">
            <a:avLst/>
          </a:prstGeom>
          <a:noFill/>
          <a:ln w="31750">
            <a:solidFill>
              <a:srgbClr val="C8414C"/>
            </a:solidFill>
            <a:prstDash val="solid"/>
          </a:ln>
        </p:spPr>
      </p:sp>
      <p:sp>
        <p:nvSpPr>
          <p:cNvPr id="117" name="Shape 115"/>
          <p:cNvSpPr/>
          <p:nvPr/>
        </p:nvSpPr>
        <p:spPr>
          <a:xfrm flipV="1">
            <a:off x="4468368" y="1946366"/>
            <a:ext cx="80772" cy="34834"/>
          </a:xfrm>
          <a:prstGeom prst="line">
            <a:avLst/>
          </a:prstGeom>
          <a:noFill/>
          <a:ln w="31750">
            <a:solidFill>
              <a:srgbClr val="C8414C"/>
            </a:solidFill>
            <a:prstDash val="solid"/>
          </a:ln>
        </p:spPr>
      </p:sp>
      <p:sp>
        <p:nvSpPr>
          <p:cNvPr id="118" name="Shape 116"/>
          <p:cNvSpPr/>
          <p:nvPr/>
        </p:nvSpPr>
        <p:spPr>
          <a:xfrm flipV="1">
            <a:off x="4549140" y="1914211"/>
            <a:ext cx="80772" cy="32155"/>
          </a:xfrm>
          <a:prstGeom prst="line">
            <a:avLst/>
          </a:prstGeom>
          <a:noFill/>
          <a:ln w="31750">
            <a:solidFill>
              <a:srgbClr val="C8414C"/>
            </a:solidFill>
            <a:prstDash val="solid"/>
          </a:ln>
        </p:spPr>
      </p:sp>
      <p:sp>
        <p:nvSpPr>
          <p:cNvPr id="119" name="Shape 117"/>
          <p:cNvSpPr/>
          <p:nvPr/>
        </p:nvSpPr>
        <p:spPr>
          <a:xfrm flipV="1">
            <a:off x="4629912" y="1884438"/>
            <a:ext cx="80772" cy="29773"/>
          </a:xfrm>
          <a:prstGeom prst="line">
            <a:avLst/>
          </a:prstGeom>
          <a:noFill/>
          <a:ln w="31750">
            <a:solidFill>
              <a:srgbClr val="C8414C"/>
            </a:solidFill>
            <a:prstDash val="solid"/>
          </a:ln>
        </p:spPr>
      </p:sp>
      <p:sp>
        <p:nvSpPr>
          <p:cNvPr id="120" name="Shape 118"/>
          <p:cNvSpPr/>
          <p:nvPr/>
        </p:nvSpPr>
        <p:spPr>
          <a:xfrm flipV="1">
            <a:off x="4710684" y="1856792"/>
            <a:ext cx="80772" cy="27646"/>
          </a:xfrm>
          <a:prstGeom prst="line">
            <a:avLst/>
          </a:prstGeom>
          <a:noFill/>
          <a:ln w="31750">
            <a:solidFill>
              <a:srgbClr val="C8414C"/>
            </a:solidFill>
            <a:prstDash val="solid"/>
          </a:ln>
        </p:spPr>
      </p:sp>
      <p:sp>
        <p:nvSpPr>
          <p:cNvPr id="121" name="Shape 119"/>
          <p:cNvSpPr/>
          <p:nvPr/>
        </p:nvSpPr>
        <p:spPr>
          <a:xfrm flipV="1">
            <a:off x="4791456" y="1831052"/>
            <a:ext cx="80772" cy="25740"/>
          </a:xfrm>
          <a:prstGeom prst="line">
            <a:avLst/>
          </a:prstGeom>
          <a:noFill/>
          <a:ln w="31750">
            <a:solidFill>
              <a:srgbClr val="C8414C"/>
            </a:solidFill>
            <a:prstDash val="solid"/>
          </a:ln>
        </p:spPr>
      </p:sp>
      <p:sp>
        <p:nvSpPr>
          <p:cNvPr id="122" name="Shape 120"/>
          <p:cNvSpPr/>
          <p:nvPr/>
        </p:nvSpPr>
        <p:spPr>
          <a:xfrm flipV="1">
            <a:off x="4872228" y="1807029"/>
            <a:ext cx="80772" cy="24024"/>
          </a:xfrm>
          <a:prstGeom prst="line">
            <a:avLst/>
          </a:prstGeom>
          <a:noFill/>
          <a:ln w="31750">
            <a:solidFill>
              <a:srgbClr val="C8414C"/>
            </a:solidFill>
            <a:prstDash val="solid"/>
          </a:ln>
        </p:spPr>
      </p:sp>
      <p:sp>
        <p:nvSpPr>
          <p:cNvPr id="123" name="Shape 121"/>
          <p:cNvSpPr/>
          <p:nvPr/>
        </p:nvSpPr>
        <p:spPr>
          <a:xfrm flipV="1">
            <a:off x="4953000" y="1784555"/>
            <a:ext cx="80772" cy="22474"/>
          </a:xfrm>
          <a:prstGeom prst="line">
            <a:avLst/>
          </a:prstGeom>
          <a:noFill/>
          <a:ln w="31750">
            <a:solidFill>
              <a:srgbClr val="C8414C"/>
            </a:solidFill>
            <a:prstDash val="solid"/>
          </a:ln>
        </p:spPr>
      </p:sp>
      <p:sp>
        <p:nvSpPr>
          <p:cNvPr id="124" name="Shape 122"/>
          <p:cNvSpPr/>
          <p:nvPr/>
        </p:nvSpPr>
        <p:spPr>
          <a:xfrm flipV="1">
            <a:off x="5033772" y="1763486"/>
            <a:ext cx="80772" cy="21069"/>
          </a:xfrm>
          <a:prstGeom prst="line">
            <a:avLst/>
          </a:prstGeom>
          <a:noFill/>
          <a:ln w="31750">
            <a:solidFill>
              <a:srgbClr val="C8414C"/>
            </a:solidFill>
            <a:prstDash val="solid"/>
          </a:ln>
        </p:spPr>
      </p:sp>
      <p:sp>
        <p:nvSpPr>
          <p:cNvPr id="125" name="Shape 123"/>
          <p:cNvSpPr/>
          <p:nvPr/>
        </p:nvSpPr>
        <p:spPr>
          <a:xfrm flipV="1">
            <a:off x="5114544" y="1743694"/>
            <a:ext cx="80772" cy="19792"/>
          </a:xfrm>
          <a:prstGeom prst="line">
            <a:avLst/>
          </a:prstGeom>
          <a:noFill/>
          <a:ln w="31750">
            <a:solidFill>
              <a:srgbClr val="C8414C"/>
            </a:solidFill>
            <a:prstDash val="solid"/>
          </a:ln>
        </p:spPr>
      </p:sp>
      <p:sp>
        <p:nvSpPr>
          <p:cNvPr id="126" name="Shape 124"/>
          <p:cNvSpPr/>
          <p:nvPr/>
        </p:nvSpPr>
        <p:spPr>
          <a:xfrm flipV="1">
            <a:off x="5195316" y="1725066"/>
            <a:ext cx="80772" cy="18628"/>
          </a:xfrm>
          <a:prstGeom prst="line">
            <a:avLst/>
          </a:prstGeom>
          <a:noFill/>
          <a:ln w="31750">
            <a:solidFill>
              <a:srgbClr val="C8414C"/>
            </a:solidFill>
            <a:prstDash val="solid"/>
          </a:ln>
        </p:spPr>
      </p:sp>
      <p:sp>
        <p:nvSpPr>
          <p:cNvPr id="127" name="Shape 125"/>
          <p:cNvSpPr/>
          <p:nvPr/>
        </p:nvSpPr>
        <p:spPr>
          <a:xfrm flipV="1">
            <a:off x="5276088" y="1707502"/>
            <a:ext cx="80772" cy="17564"/>
          </a:xfrm>
          <a:prstGeom prst="line">
            <a:avLst/>
          </a:prstGeom>
          <a:noFill/>
          <a:ln w="31750">
            <a:solidFill>
              <a:srgbClr val="C8414C"/>
            </a:solidFill>
            <a:prstDash val="solid"/>
          </a:ln>
        </p:spPr>
      </p:sp>
      <p:sp>
        <p:nvSpPr>
          <p:cNvPr id="128" name="Shape 126"/>
          <p:cNvSpPr/>
          <p:nvPr/>
        </p:nvSpPr>
        <p:spPr>
          <a:xfrm flipV="1">
            <a:off x="5356860" y="1690914"/>
            <a:ext cx="80772" cy="16588"/>
          </a:xfrm>
          <a:prstGeom prst="line">
            <a:avLst/>
          </a:prstGeom>
          <a:noFill/>
          <a:ln w="31750">
            <a:solidFill>
              <a:srgbClr val="C8414C"/>
            </a:solidFill>
            <a:prstDash val="solid"/>
          </a:ln>
        </p:spPr>
      </p:sp>
      <p:sp>
        <p:nvSpPr>
          <p:cNvPr id="129" name="Shape 127"/>
          <p:cNvSpPr/>
          <p:nvPr/>
        </p:nvSpPr>
        <p:spPr>
          <a:xfrm flipV="1">
            <a:off x="5437632" y="1675223"/>
            <a:ext cx="80772" cy="15691"/>
          </a:xfrm>
          <a:prstGeom prst="line">
            <a:avLst/>
          </a:prstGeom>
          <a:noFill/>
          <a:ln w="31750">
            <a:solidFill>
              <a:srgbClr val="C8414C"/>
            </a:solidFill>
            <a:prstDash val="solid"/>
          </a:ln>
        </p:spPr>
      </p:sp>
      <p:sp>
        <p:nvSpPr>
          <p:cNvPr id="130" name="Shape 128"/>
          <p:cNvSpPr/>
          <p:nvPr/>
        </p:nvSpPr>
        <p:spPr>
          <a:xfrm flipV="1">
            <a:off x="5518404" y="1660358"/>
            <a:ext cx="80772" cy="14865"/>
          </a:xfrm>
          <a:prstGeom prst="line">
            <a:avLst/>
          </a:prstGeom>
          <a:noFill/>
          <a:ln w="31750">
            <a:solidFill>
              <a:srgbClr val="C8414C"/>
            </a:solidFill>
            <a:prstDash val="solid"/>
          </a:ln>
        </p:spPr>
      </p:sp>
      <p:sp>
        <p:nvSpPr>
          <p:cNvPr id="131" name="Shape 129"/>
          <p:cNvSpPr/>
          <p:nvPr/>
        </p:nvSpPr>
        <p:spPr>
          <a:xfrm flipV="1">
            <a:off x="5599176" y="1646255"/>
            <a:ext cx="80772" cy="14103"/>
          </a:xfrm>
          <a:prstGeom prst="line">
            <a:avLst/>
          </a:prstGeom>
          <a:noFill/>
          <a:ln w="31750">
            <a:solidFill>
              <a:srgbClr val="C8414C"/>
            </a:solidFill>
            <a:prstDash val="solid"/>
          </a:ln>
        </p:spPr>
      </p:sp>
      <p:sp>
        <p:nvSpPr>
          <p:cNvPr id="132" name="Shape 130"/>
          <p:cNvSpPr/>
          <p:nvPr/>
        </p:nvSpPr>
        <p:spPr>
          <a:xfrm flipV="1">
            <a:off x="5679948" y="1632857"/>
            <a:ext cx="80772" cy="13398"/>
          </a:xfrm>
          <a:prstGeom prst="line">
            <a:avLst/>
          </a:prstGeom>
          <a:noFill/>
          <a:ln w="31750">
            <a:solidFill>
              <a:srgbClr val="C8414C"/>
            </a:solidFill>
            <a:prstDash val="solid"/>
          </a:ln>
        </p:spPr>
      </p:sp>
      <p:sp>
        <p:nvSpPr>
          <p:cNvPr id="133" name="Text 131"/>
          <p:cNvSpPr/>
          <p:nvPr/>
        </p:nvSpPr>
        <p:spPr>
          <a:xfrm>
            <a:off x="4387596" y="2808514"/>
            <a:ext cx="146304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fixed resistor</a:t>
            </a:r>
            <a:endParaRPr lang="en-US" sz="1100" dirty="0"/>
          </a:p>
        </p:txBody>
      </p:sp>
      <p:sp>
        <p:nvSpPr>
          <p:cNvPr id="134" name="Text 132"/>
          <p:cNvSpPr/>
          <p:nvPr/>
        </p:nvSpPr>
        <p:spPr>
          <a:xfrm>
            <a:off x="3579876" y="1632857"/>
            <a:ext cx="146304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filament lamp</a:t>
            </a:r>
            <a:endParaRPr lang="en-US" sz="1100" dirty="0"/>
          </a:p>
        </p:txBody>
      </p:sp>
      <p:sp>
        <p:nvSpPr>
          <p:cNvPr id="135" name="Text 133"/>
          <p:cNvSpPr/>
          <p:nvPr/>
        </p:nvSpPr>
        <p:spPr>
          <a:xfrm>
            <a:off x="3822192" y="3931920"/>
            <a:ext cx="2377440" cy="36576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reversed p.d. → same shape, upside down</a:t>
            </a:r>
            <a:endParaRPr lang="en-US" sz="1000" dirty="0"/>
          </a:p>
        </p:txBody>
      </p:sp>
      <p:sp>
        <p:nvSpPr>
          <p:cNvPr id="136" name="Shape 13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37" name="Text 13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Reading the I–V graphs</a:t>
            </a:r>
            <a:endParaRPr lang="en-US" sz="1300" dirty="0"/>
          </a:p>
        </p:txBody>
      </p:sp>
      <p:sp>
        <p:nvSpPr>
          <p:cNvPr id="138" name="Text 13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Fixed resistor</a:t>
            </a:r>
            <a:r>
              <a:rPr lang="en-US" sz="1150" dirty="0">
                <a:solidFill>
                  <a:srgbClr val="262B3A"/>
                </a:solidFill>
                <a:latin typeface="Calibri" pitchFamily="34" charset="0"/>
                <a:ea typeface="Calibri" pitchFamily="34" charset="-122"/>
                <a:cs typeface="Calibri" pitchFamily="34" charset="-120"/>
              </a:rPr>
              <a:t> (constant temperature): a </a:t>
            </a:r>
            <a:r>
              <a:rPr lang="en-US" sz="1150" b="1" dirty="0">
                <a:solidFill>
                  <a:srgbClr val="262B3A"/>
                </a:solidFill>
                <a:latin typeface="Calibri" pitchFamily="34" charset="0"/>
                <a:ea typeface="Calibri" pitchFamily="34" charset="-122"/>
                <a:cs typeface="Calibri" pitchFamily="34" charset="-120"/>
              </a:rPr>
              <a:t>straight line through the origin</a:t>
            </a:r>
            <a:r>
              <a:rPr lang="en-US" sz="1150" dirty="0">
                <a:solidFill>
                  <a:srgbClr val="262B3A"/>
                </a:solidFill>
                <a:latin typeface="Calibri" pitchFamily="34" charset="0"/>
                <a:ea typeface="Calibri" pitchFamily="34" charset="-122"/>
                <a:cs typeface="Calibri" pitchFamily="34" charset="-120"/>
              </a:rPr>
              <a:t>. Current ∝ p.d., so </a:t>
            </a:r>
            <a:r>
              <a:rPr lang="en-US" sz="1150" b="1" dirty="0">
                <a:solidFill>
                  <a:srgbClr val="262B3A"/>
                </a:solidFill>
                <a:latin typeface="Calibri" pitchFamily="34" charset="0"/>
                <a:ea typeface="Calibri" pitchFamily="34" charset="-122"/>
                <a:cs typeface="Calibri" pitchFamily="34" charset="-120"/>
              </a:rPr>
              <a:t>R is constant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Filament lamp:</a:t>
            </a:r>
            <a:r>
              <a:rPr lang="en-US" sz="1150" dirty="0">
                <a:solidFill>
                  <a:srgbClr val="262B3A"/>
                </a:solidFill>
                <a:latin typeface="Calibri" pitchFamily="34" charset="0"/>
                <a:ea typeface="Calibri" pitchFamily="34" charset="-122"/>
                <a:cs typeface="Calibri" pitchFamily="34" charset="-120"/>
              </a:rPr>
              <a:t> an </a:t>
            </a:r>
            <a:r>
              <a:rPr lang="en-US" sz="1150" b="1" dirty="0">
                <a:solidFill>
                  <a:srgbClr val="262B3A"/>
                </a:solidFill>
                <a:latin typeface="Calibri" pitchFamily="34" charset="0"/>
                <a:ea typeface="Calibri" pitchFamily="34" charset="-122"/>
                <a:cs typeface="Calibri" pitchFamily="34" charset="-120"/>
              </a:rPr>
              <a:t>S-shaped curve</a:t>
            </a:r>
            <a:r>
              <a:rPr lang="en-US" sz="1150" dirty="0">
                <a:solidFill>
                  <a:srgbClr val="262B3A"/>
                </a:solidFill>
                <a:latin typeface="Calibri" pitchFamily="34" charset="0"/>
                <a:ea typeface="Calibri" pitchFamily="34" charset="-122"/>
                <a:cs typeface="Calibri" pitchFamily="34" charset="-120"/>
              </a:rPr>
              <a:t> through the origin. It gets </a:t>
            </a:r>
            <a:r>
              <a:rPr lang="en-US" sz="1150" b="1" dirty="0">
                <a:solidFill>
                  <a:srgbClr val="262B3A"/>
                </a:solidFill>
                <a:latin typeface="Calibri" pitchFamily="34" charset="0"/>
                <a:ea typeface="Calibri" pitchFamily="34" charset="-122"/>
                <a:cs typeface="Calibri" pitchFamily="34" charset="-120"/>
              </a:rPr>
              <a:t>less steep</a:t>
            </a:r>
            <a:r>
              <a:rPr lang="en-US" sz="1150" dirty="0">
                <a:solidFill>
                  <a:srgbClr val="262B3A"/>
                </a:solidFill>
                <a:latin typeface="Calibri" pitchFamily="34" charset="0"/>
                <a:ea typeface="Calibri" pitchFamily="34" charset="-122"/>
                <a:cs typeface="Calibri" pitchFamily="34" charset="-120"/>
              </a:rPr>
              <a:t> as the p.d. increases.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Why: a bigger current makes the filament </a:t>
            </a:r>
            <a:r>
              <a:rPr lang="en-US" sz="1150" b="1" dirty="0">
                <a:solidFill>
                  <a:srgbClr val="262B3A"/>
                </a:solidFill>
                <a:latin typeface="Calibri" pitchFamily="34" charset="0"/>
                <a:ea typeface="Calibri" pitchFamily="34" charset="-122"/>
                <a:cs typeface="Calibri" pitchFamily="34" charset="-120"/>
              </a:rPr>
              <a:t>hotter</a:t>
            </a:r>
            <a:r>
              <a:rPr lang="en-US" sz="1150" dirty="0">
                <a:solidFill>
                  <a:srgbClr val="262B3A"/>
                </a:solidFill>
                <a:latin typeface="Calibri" pitchFamily="34" charset="0"/>
                <a:ea typeface="Calibri" pitchFamily="34" charset="-122"/>
                <a:cs typeface="Calibri" pitchFamily="34" charset="-120"/>
              </a:rPr>
              <a:t>. The metal ions </a:t>
            </a:r>
            <a:r>
              <a:rPr lang="en-US" sz="1150" b="1" dirty="0">
                <a:solidFill>
                  <a:srgbClr val="262B3A"/>
                </a:solidFill>
                <a:latin typeface="Calibri" pitchFamily="34" charset="0"/>
                <a:ea typeface="Calibri" pitchFamily="34" charset="-122"/>
                <a:cs typeface="Calibri" pitchFamily="34" charset="-120"/>
              </a:rPr>
              <a:t>vibrate more</a:t>
            </a:r>
            <a:r>
              <a:rPr lang="en-US" sz="1150" dirty="0">
                <a:solidFill>
                  <a:srgbClr val="262B3A"/>
                </a:solidFill>
                <a:latin typeface="Calibri" pitchFamily="34" charset="0"/>
                <a:ea typeface="Calibri" pitchFamily="34" charset="-122"/>
                <a:cs typeface="Calibri" pitchFamily="34" charset="-120"/>
              </a:rPr>
              <a:t>, electrons collide with them more often, so </a:t>
            </a:r>
            <a:r>
              <a:rPr lang="en-US" sz="1150" b="1" dirty="0">
                <a:solidFill>
                  <a:srgbClr val="262B3A"/>
                </a:solidFill>
                <a:latin typeface="Calibri" pitchFamily="34" charset="0"/>
                <a:ea typeface="Calibri" pitchFamily="34" charset="-122"/>
                <a:cs typeface="Calibri" pitchFamily="34" charset="-120"/>
              </a:rPr>
              <a:t>resistance increases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Find R at any point using </a:t>
            </a:r>
            <a:r>
              <a:rPr lang="en-US" sz="1150" b="1" dirty="0">
                <a:solidFill>
                  <a:srgbClr val="262B3A"/>
                </a:solidFill>
                <a:latin typeface="Calibri" pitchFamily="34" charset="0"/>
                <a:ea typeface="Calibri" pitchFamily="34" charset="-122"/>
                <a:cs typeface="Calibri" pitchFamily="34" charset="-120"/>
              </a:rPr>
              <a:t>R = V ÷ I</a:t>
            </a:r>
            <a:r>
              <a:rPr lang="en-US" sz="1150" dirty="0">
                <a:solidFill>
                  <a:srgbClr val="262B3A"/>
                </a:solidFill>
                <a:latin typeface="Calibri" pitchFamily="34" charset="0"/>
                <a:ea typeface="Calibri" pitchFamily="34" charset="-122"/>
                <a:cs typeface="Calibri" pitchFamily="34" charset="-120"/>
              </a:rPr>
              <a:t> (not the gradient).</a:t>
            </a:r>
            <a:endParaRPr lang="en-US" sz="1150" dirty="0"/>
          </a:p>
        </p:txBody>
      </p:sp>
      <p:sp>
        <p:nvSpPr>
          <p:cNvPr id="139" name="Shape 13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40" name="Text 13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41" name="Text 139"/>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Use the graph: the lamp has I = 0.20 A at 2.0 V and I = 0.30 A at 6.0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At 2.0 V   </a:t>
            </a:r>
            <a:r>
              <a:rPr lang="en-US" sz="1100" dirty="0">
                <a:solidFill>
                  <a:srgbClr val="262B3A"/>
                </a:solidFill>
                <a:latin typeface="Calibri" pitchFamily="34" charset="0"/>
                <a:ea typeface="Calibri" pitchFamily="34" charset="-122"/>
                <a:cs typeface="Calibri" pitchFamily="34" charset="-120"/>
              </a:rPr>
              <a:t>R = 2.0 ÷ 0.20 = 10 Ω</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At 6.0 V   </a:t>
            </a:r>
            <a:r>
              <a:rPr lang="en-US" sz="1100" dirty="0">
                <a:solidFill>
                  <a:srgbClr val="262B3A"/>
                </a:solidFill>
                <a:latin typeface="Calibri" pitchFamily="34" charset="0"/>
                <a:ea typeface="Calibri" pitchFamily="34" charset="-122"/>
                <a:cs typeface="Calibri" pitchFamily="34" charset="-120"/>
              </a:rPr>
              <a:t>R = 6.0 ÷ 0.30 = 20 Ω</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Compare   </a:t>
            </a:r>
            <a:r>
              <a:rPr lang="en-US" sz="1100" dirty="0">
                <a:solidFill>
                  <a:srgbClr val="262B3A"/>
                </a:solidFill>
                <a:latin typeface="Calibri" pitchFamily="34" charset="0"/>
                <a:ea typeface="Calibri" pitchFamily="34" charset="-122"/>
                <a:cs typeface="Calibri" pitchFamily="34" charset="-120"/>
              </a:rPr>
              <a:t>resistor: 6.0 ÷ 0.30 = 20 Ω at every point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lamp resistance doubles as it heats up</a:t>
            </a:r>
            <a:endParaRPr lang="en-US" sz="1100" dirty="0"/>
          </a:p>
        </p:txBody>
      </p:sp>
      <p:sp>
        <p:nvSpPr>
          <p:cNvPr id="142" name="Shape 140"/>
          <p:cNvSpPr/>
          <p:nvPr/>
        </p:nvSpPr>
        <p:spPr>
          <a:xfrm>
            <a:off x="411480" y="5833872"/>
            <a:ext cx="11368735" cy="530352"/>
          </a:xfrm>
          <a:prstGeom prst="rect">
            <a:avLst/>
          </a:prstGeom>
          <a:solidFill>
            <a:srgbClr val="FFF4E0"/>
          </a:solidFill>
          <a:ln w="6350">
            <a:solidFill>
              <a:srgbClr val="F1D9A8"/>
            </a:solidFill>
            <a:prstDash val="solid"/>
          </a:ln>
        </p:spPr>
      </p:sp>
      <p:sp>
        <p:nvSpPr>
          <p:cNvPr id="143" name="Shape 141"/>
          <p:cNvSpPr/>
          <p:nvPr/>
        </p:nvSpPr>
        <p:spPr>
          <a:xfrm>
            <a:off x="411480" y="5833872"/>
            <a:ext cx="82296" cy="530352"/>
          </a:xfrm>
          <a:prstGeom prst="rect">
            <a:avLst/>
          </a:prstGeom>
          <a:solidFill>
            <a:srgbClr val="E39A2F"/>
          </a:solidFill>
          <a:ln w="12700">
            <a:solidFill>
              <a:srgbClr val="E39A2F"/>
            </a:solidFill>
            <a:prstDash val="solid"/>
          </a:ln>
        </p:spPr>
      </p:sp>
      <p:sp>
        <p:nvSpPr>
          <p:cNvPr id="144" name="Text 14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Sketch the I–V graph of a filament lamp. Explain why it is not a straight line.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I–V graph: the diode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10.18 • current flows in one direction only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10.18  |  23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drawn to scale for a silicon diode: it conducts above about 0.6 V forward</a:t>
            </a:r>
            <a:endParaRPr lang="en-US" sz="1000" dirty="0"/>
          </a:p>
        </p:txBody>
      </p:sp>
      <p:sp>
        <p:nvSpPr>
          <p:cNvPr id="10" name="Shape 8"/>
          <p:cNvSpPr/>
          <p:nvPr/>
        </p:nvSpPr>
        <p:spPr>
          <a:xfrm>
            <a:off x="914400" y="1371600"/>
            <a:ext cx="4846320" cy="3657600"/>
          </a:xfrm>
          <a:prstGeom prst="rect">
            <a:avLst/>
          </a:prstGeom>
          <a:solidFill>
            <a:srgbClr val="FFFFFF"/>
          </a:solidFill>
          <a:ln/>
        </p:spPr>
      </p:sp>
      <p:sp>
        <p:nvSpPr>
          <p:cNvPr id="11" name="Shape 9"/>
          <p:cNvSpPr/>
          <p:nvPr/>
        </p:nvSpPr>
        <p:spPr>
          <a:xfrm>
            <a:off x="914400" y="1371600"/>
            <a:ext cx="91" cy="3657600"/>
          </a:xfrm>
          <a:prstGeom prst="line">
            <a:avLst/>
          </a:prstGeom>
          <a:noFill/>
          <a:ln w="6350">
            <a:solidFill>
              <a:srgbClr val="C9D3E6"/>
            </a:solidFill>
            <a:prstDash val="solid"/>
          </a:ln>
        </p:spPr>
      </p:sp>
      <p:sp>
        <p:nvSpPr>
          <p:cNvPr id="12" name="Shape 10"/>
          <p:cNvSpPr/>
          <p:nvPr/>
        </p:nvSpPr>
        <p:spPr>
          <a:xfrm>
            <a:off x="1156716" y="1371600"/>
            <a:ext cx="91" cy="3657600"/>
          </a:xfrm>
          <a:prstGeom prst="line">
            <a:avLst/>
          </a:prstGeom>
          <a:noFill/>
          <a:ln w="6350">
            <a:solidFill>
              <a:srgbClr val="E6EBF4"/>
            </a:solidFill>
            <a:prstDash val="solid"/>
          </a:ln>
        </p:spPr>
      </p:sp>
      <p:sp>
        <p:nvSpPr>
          <p:cNvPr id="13" name="Shape 11"/>
          <p:cNvSpPr/>
          <p:nvPr/>
        </p:nvSpPr>
        <p:spPr>
          <a:xfrm>
            <a:off x="1399032" y="1371600"/>
            <a:ext cx="91" cy="3657600"/>
          </a:xfrm>
          <a:prstGeom prst="line">
            <a:avLst/>
          </a:prstGeom>
          <a:noFill/>
          <a:ln w="6350">
            <a:solidFill>
              <a:srgbClr val="C9D3E6"/>
            </a:solidFill>
            <a:prstDash val="solid"/>
          </a:ln>
        </p:spPr>
      </p:sp>
      <p:sp>
        <p:nvSpPr>
          <p:cNvPr id="14" name="Shape 12"/>
          <p:cNvSpPr/>
          <p:nvPr/>
        </p:nvSpPr>
        <p:spPr>
          <a:xfrm>
            <a:off x="1641348" y="1371600"/>
            <a:ext cx="91" cy="3657600"/>
          </a:xfrm>
          <a:prstGeom prst="line">
            <a:avLst/>
          </a:prstGeom>
          <a:noFill/>
          <a:ln w="6350">
            <a:solidFill>
              <a:srgbClr val="E6EBF4"/>
            </a:solidFill>
            <a:prstDash val="solid"/>
          </a:ln>
        </p:spPr>
      </p:sp>
      <p:sp>
        <p:nvSpPr>
          <p:cNvPr id="15" name="Shape 13"/>
          <p:cNvSpPr/>
          <p:nvPr/>
        </p:nvSpPr>
        <p:spPr>
          <a:xfrm>
            <a:off x="1883664" y="1371600"/>
            <a:ext cx="91" cy="3657600"/>
          </a:xfrm>
          <a:prstGeom prst="line">
            <a:avLst/>
          </a:prstGeom>
          <a:noFill/>
          <a:ln w="6350">
            <a:solidFill>
              <a:srgbClr val="C9D3E6"/>
            </a:solidFill>
            <a:prstDash val="solid"/>
          </a:ln>
        </p:spPr>
      </p:sp>
      <p:sp>
        <p:nvSpPr>
          <p:cNvPr id="16" name="Shape 14"/>
          <p:cNvSpPr/>
          <p:nvPr/>
        </p:nvSpPr>
        <p:spPr>
          <a:xfrm>
            <a:off x="2125980" y="1371600"/>
            <a:ext cx="91" cy="3657600"/>
          </a:xfrm>
          <a:prstGeom prst="line">
            <a:avLst/>
          </a:prstGeom>
          <a:noFill/>
          <a:ln w="6350">
            <a:solidFill>
              <a:srgbClr val="E6EBF4"/>
            </a:solidFill>
            <a:prstDash val="solid"/>
          </a:ln>
        </p:spPr>
      </p:sp>
      <p:sp>
        <p:nvSpPr>
          <p:cNvPr id="17" name="Shape 15"/>
          <p:cNvSpPr/>
          <p:nvPr/>
        </p:nvSpPr>
        <p:spPr>
          <a:xfrm>
            <a:off x="2368296" y="1371600"/>
            <a:ext cx="91" cy="3657600"/>
          </a:xfrm>
          <a:prstGeom prst="line">
            <a:avLst/>
          </a:prstGeom>
          <a:noFill/>
          <a:ln w="6350">
            <a:solidFill>
              <a:srgbClr val="C9D3E6"/>
            </a:solidFill>
            <a:prstDash val="solid"/>
          </a:ln>
        </p:spPr>
      </p:sp>
      <p:sp>
        <p:nvSpPr>
          <p:cNvPr id="18" name="Shape 16"/>
          <p:cNvSpPr/>
          <p:nvPr/>
        </p:nvSpPr>
        <p:spPr>
          <a:xfrm>
            <a:off x="2610612" y="1371600"/>
            <a:ext cx="91" cy="3657600"/>
          </a:xfrm>
          <a:prstGeom prst="line">
            <a:avLst/>
          </a:prstGeom>
          <a:noFill/>
          <a:ln w="6350">
            <a:solidFill>
              <a:srgbClr val="E6EBF4"/>
            </a:solidFill>
            <a:prstDash val="solid"/>
          </a:ln>
        </p:spPr>
      </p:sp>
      <p:sp>
        <p:nvSpPr>
          <p:cNvPr id="19" name="Shape 17"/>
          <p:cNvSpPr/>
          <p:nvPr/>
        </p:nvSpPr>
        <p:spPr>
          <a:xfrm>
            <a:off x="2852928" y="1371600"/>
            <a:ext cx="91" cy="3657600"/>
          </a:xfrm>
          <a:prstGeom prst="line">
            <a:avLst/>
          </a:prstGeom>
          <a:noFill/>
          <a:ln w="6350">
            <a:solidFill>
              <a:srgbClr val="C9D3E6"/>
            </a:solidFill>
            <a:prstDash val="solid"/>
          </a:ln>
        </p:spPr>
      </p:sp>
      <p:sp>
        <p:nvSpPr>
          <p:cNvPr id="20" name="Shape 18"/>
          <p:cNvSpPr/>
          <p:nvPr/>
        </p:nvSpPr>
        <p:spPr>
          <a:xfrm>
            <a:off x="3095244" y="1371600"/>
            <a:ext cx="91" cy="3657600"/>
          </a:xfrm>
          <a:prstGeom prst="line">
            <a:avLst/>
          </a:prstGeom>
          <a:noFill/>
          <a:ln w="6350">
            <a:solidFill>
              <a:srgbClr val="E6EBF4"/>
            </a:solidFill>
            <a:prstDash val="solid"/>
          </a:ln>
        </p:spPr>
      </p:sp>
      <p:sp>
        <p:nvSpPr>
          <p:cNvPr id="21" name="Shape 19"/>
          <p:cNvSpPr/>
          <p:nvPr/>
        </p:nvSpPr>
        <p:spPr>
          <a:xfrm>
            <a:off x="3337560" y="1371600"/>
            <a:ext cx="91" cy="3657600"/>
          </a:xfrm>
          <a:prstGeom prst="line">
            <a:avLst/>
          </a:prstGeom>
          <a:noFill/>
          <a:ln w="6350">
            <a:solidFill>
              <a:srgbClr val="C9D3E6"/>
            </a:solidFill>
            <a:prstDash val="solid"/>
          </a:ln>
        </p:spPr>
      </p:sp>
      <p:sp>
        <p:nvSpPr>
          <p:cNvPr id="22" name="Shape 20"/>
          <p:cNvSpPr/>
          <p:nvPr/>
        </p:nvSpPr>
        <p:spPr>
          <a:xfrm>
            <a:off x="3579876" y="1371600"/>
            <a:ext cx="91" cy="3657600"/>
          </a:xfrm>
          <a:prstGeom prst="line">
            <a:avLst/>
          </a:prstGeom>
          <a:noFill/>
          <a:ln w="6350">
            <a:solidFill>
              <a:srgbClr val="E6EBF4"/>
            </a:solidFill>
            <a:prstDash val="solid"/>
          </a:ln>
        </p:spPr>
      </p:sp>
      <p:sp>
        <p:nvSpPr>
          <p:cNvPr id="23" name="Shape 21"/>
          <p:cNvSpPr/>
          <p:nvPr/>
        </p:nvSpPr>
        <p:spPr>
          <a:xfrm>
            <a:off x="3822192" y="1371600"/>
            <a:ext cx="91" cy="3657600"/>
          </a:xfrm>
          <a:prstGeom prst="line">
            <a:avLst/>
          </a:prstGeom>
          <a:noFill/>
          <a:ln w="6350">
            <a:solidFill>
              <a:srgbClr val="C9D3E6"/>
            </a:solidFill>
            <a:prstDash val="solid"/>
          </a:ln>
        </p:spPr>
      </p:sp>
      <p:sp>
        <p:nvSpPr>
          <p:cNvPr id="24" name="Shape 22"/>
          <p:cNvSpPr/>
          <p:nvPr/>
        </p:nvSpPr>
        <p:spPr>
          <a:xfrm>
            <a:off x="4064508" y="1371600"/>
            <a:ext cx="91" cy="3657600"/>
          </a:xfrm>
          <a:prstGeom prst="line">
            <a:avLst/>
          </a:prstGeom>
          <a:noFill/>
          <a:ln w="6350">
            <a:solidFill>
              <a:srgbClr val="E6EBF4"/>
            </a:solidFill>
            <a:prstDash val="solid"/>
          </a:ln>
        </p:spPr>
      </p:sp>
      <p:sp>
        <p:nvSpPr>
          <p:cNvPr id="25" name="Shape 23"/>
          <p:cNvSpPr/>
          <p:nvPr/>
        </p:nvSpPr>
        <p:spPr>
          <a:xfrm>
            <a:off x="4306824" y="1371600"/>
            <a:ext cx="91" cy="3657600"/>
          </a:xfrm>
          <a:prstGeom prst="line">
            <a:avLst/>
          </a:prstGeom>
          <a:noFill/>
          <a:ln w="6350">
            <a:solidFill>
              <a:srgbClr val="C9D3E6"/>
            </a:solidFill>
            <a:prstDash val="solid"/>
          </a:ln>
        </p:spPr>
      </p:sp>
      <p:sp>
        <p:nvSpPr>
          <p:cNvPr id="26" name="Shape 24"/>
          <p:cNvSpPr/>
          <p:nvPr/>
        </p:nvSpPr>
        <p:spPr>
          <a:xfrm>
            <a:off x="4549140" y="1371600"/>
            <a:ext cx="91" cy="3657600"/>
          </a:xfrm>
          <a:prstGeom prst="line">
            <a:avLst/>
          </a:prstGeom>
          <a:noFill/>
          <a:ln w="6350">
            <a:solidFill>
              <a:srgbClr val="E6EBF4"/>
            </a:solidFill>
            <a:prstDash val="solid"/>
          </a:ln>
        </p:spPr>
      </p:sp>
      <p:sp>
        <p:nvSpPr>
          <p:cNvPr id="27" name="Shape 25"/>
          <p:cNvSpPr/>
          <p:nvPr/>
        </p:nvSpPr>
        <p:spPr>
          <a:xfrm>
            <a:off x="4791456" y="1371600"/>
            <a:ext cx="91" cy="3657600"/>
          </a:xfrm>
          <a:prstGeom prst="line">
            <a:avLst/>
          </a:prstGeom>
          <a:noFill/>
          <a:ln w="6350">
            <a:solidFill>
              <a:srgbClr val="C9D3E6"/>
            </a:solidFill>
            <a:prstDash val="solid"/>
          </a:ln>
        </p:spPr>
      </p:sp>
      <p:sp>
        <p:nvSpPr>
          <p:cNvPr id="28" name="Shape 26"/>
          <p:cNvSpPr/>
          <p:nvPr/>
        </p:nvSpPr>
        <p:spPr>
          <a:xfrm>
            <a:off x="5033772" y="1371600"/>
            <a:ext cx="91" cy="3657600"/>
          </a:xfrm>
          <a:prstGeom prst="line">
            <a:avLst/>
          </a:prstGeom>
          <a:noFill/>
          <a:ln w="6350">
            <a:solidFill>
              <a:srgbClr val="E6EBF4"/>
            </a:solidFill>
            <a:prstDash val="solid"/>
          </a:ln>
        </p:spPr>
      </p:sp>
      <p:sp>
        <p:nvSpPr>
          <p:cNvPr id="29" name="Shape 27"/>
          <p:cNvSpPr/>
          <p:nvPr/>
        </p:nvSpPr>
        <p:spPr>
          <a:xfrm>
            <a:off x="5276088" y="1371600"/>
            <a:ext cx="91" cy="3657600"/>
          </a:xfrm>
          <a:prstGeom prst="line">
            <a:avLst/>
          </a:prstGeom>
          <a:noFill/>
          <a:ln w="6350">
            <a:solidFill>
              <a:srgbClr val="C9D3E6"/>
            </a:solidFill>
            <a:prstDash val="solid"/>
          </a:ln>
        </p:spPr>
      </p:sp>
      <p:sp>
        <p:nvSpPr>
          <p:cNvPr id="30" name="Shape 28"/>
          <p:cNvSpPr/>
          <p:nvPr/>
        </p:nvSpPr>
        <p:spPr>
          <a:xfrm>
            <a:off x="5518404" y="1371600"/>
            <a:ext cx="91" cy="3657600"/>
          </a:xfrm>
          <a:prstGeom prst="line">
            <a:avLst/>
          </a:prstGeom>
          <a:noFill/>
          <a:ln w="6350">
            <a:solidFill>
              <a:srgbClr val="E6EBF4"/>
            </a:solidFill>
            <a:prstDash val="solid"/>
          </a:ln>
        </p:spPr>
      </p:sp>
      <p:sp>
        <p:nvSpPr>
          <p:cNvPr id="31" name="Shape 29"/>
          <p:cNvSpPr/>
          <p:nvPr/>
        </p:nvSpPr>
        <p:spPr>
          <a:xfrm>
            <a:off x="5760720" y="1371600"/>
            <a:ext cx="91" cy="3657600"/>
          </a:xfrm>
          <a:prstGeom prst="line">
            <a:avLst/>
          </a:prstGeom>
          <a:noFill/>
          <a:ln w="6350">
            <a:solidFill>
              <a:srgbClr val="C9D3E6"/>
            </a:solidFill>
            <a:prstDash val="solid"/>
          </a:ln>
        </p:spPr>
      </p:sp>
      <p:sp>
        <p:nvSpPr>
          <p:cNvPr id="32" name="Shape 30"/>
          <p:cNvSpPr/>
          <p:nvPr/>
        </p:nvSpPr>
        <p:spPr>
          <a:xfrm>
            <a:off x="914400" y="5029200"/>
            <a:ext cx="4846320" cy="91"/>
          </a:xfrm>
          <a:prstGeom prst="line">
            <a:avLst/>
          </a:prstGeom>
          <a:noFill/>
          <a:ln w="6350">
            <a:solidFill>
              <a:srgbClr val="C9D3E6"/>
            </a:solidFill>
            <a:prstDash val="solid"/>
          </a:ln>
        </p:spPr>
      </p:sp>
      <p:sp>
        <p:nvSpPr>
          <p:cNvPr id="33" name="Shape 31"/>
          <p:cNvSpPr/>
          <p:nvPr/>
        </p:nvSpPr>
        <p:spPr>
          <a:xfrm>
            <a:off x="914400" y="4663440"/>
            <a:ext cx="4846320" cy="91"/>
          </a:xfrm>
          <a:prstGeom prst="line">
            <a:avLst/>
          </a:prstGeom>
          <a:noFill/>
          <a:ln w="6350">
            <a:solidFill>
              <a:srgbClr val="E6EBF4"/>
            </a:solidFill>
            <a:prstDash val="solid"/>
          </a:ln>
        </p:spPr>
      </p:sp>
      <p:sp>
        <p:nvSpPr>
          <p:cNvPr id="34" name="Shape 32"/>
          <p:cNvSpPr/>
          <p:nvPr/>
        </p:nvSpPr>
        <p:spPr>
          <a:xfrm>
            <a:off x="914400" y="4297680"/>
            <a:ext cx="4846320" cy="91"/>
          </a:xfrm>
          <a:prstGeom prst="line">
            <a:avLst/>
          </a:prstGeom>
          <a:noFill/>
          <a:ln w="6350">
            <a:solidFill>
              <a:srgbClr val="C9D3E6"/>
            </a:solidFill>
            <a:prstDash val="solid"/>
          </a:ln>
        </p:spPr>
      </p:sp>
      <p:sp>
        <p:nvSpPr>
          <p:cNvPr id="35" name="Shape 33"/>
          <p:cNvSpPr/>
          <p:nvPr/>
        </p:nvSpPr>
        <p:spPr>
          <a:xfrm>
            <a:off x="914400" y="3931920"/>
            <a:ext cx="4846320" cy="91"/>
          </a:xfrm>
          <a:prstGeom prst="line">
            <a:avLst/>
          </a:prstGeom>
          <a:noFill/>
          <a:ln w="6350">
            <a:solidFill>
              <a:srgbClr val="E6EBF4"/>
            </a:solidFill>
            <a:prstDash val="solid"/>
          </a:ln>
        </p:spPr>
      </p:sp>
      <p:sp>
        <p:nvSpPr>
          <p:cNvPr id="36" name="Shape 34"/>
          <p:cNvSpPr/>
          <p:nvPr/>
        </p:nvSpPr>
        <p:spPr>
          <a:xfrm>
            <a:off x="914400" y="3566160"/>
            <a:ext cx="4846320" cy="91"/>
          </a:xfrm>
          <a:prstGeom prst="line">
            <a:avLst/>
          </a:prstGeom>
          <a:noFill/>
          <a:ln w="6350">
            <a:solidFill>
              <a:srgbClr val="C9D3E6"/>
            </a:solidFill>
            <a:prstDash val="solid"/>
          </a:ln>
        </p:spPr>
      </p:sp>
      <p:sp>
        <p:nvSpPr>
          <p:cNvPr id="37" name="Shape 35"/>
          <p:cNvSpPr/>
          <p:nvPr/>
        </p:nvSpPr>
        <p:spPr>
          <a:xfrm>
            <a:off x="914400" y="3200400"/>
            <a:ext cx="4846320" cy="91"/>
          </a:xfrm>
          <a:prstGeom prst="line">
            <a:avLst/>
          </a:prstGeom>
          <a:noFill/>
          <a:ln w="6350">
            <a:solidFill>
              <a:srgbClr val="E6EBF4"/>
            </a:solidFill>
            <a:prstDash val="solid"/>
          </a:ln>
        </p:spPr>
      </p:sp>
      <p:sp>
        <p:nvSpPr>
          <p:cNvPr id="38" name="Shape 36"/>
          <p:cNvSpPr/>
          <p:nvPr/>
        </p:nvSpPr>
        <p:spPr>
          <a:xfrm>
            <a:off x="914400" y="2834640"/>
            <a:ext cx="4846320" cy="91"/>
          </a:xfrm>
          <a:prstGeom prst="line">
            <a:avLst/>
          </a:prstGeom>
          <a:noFill/>
          <a:ln w="6350">
            <a:solidFill>
              <a:srgbClr val="C9D3E6"/>
            </a:solidFill>
            <a:prstDash val="solid"/>
          </a:ln>
        </p:spPr>
      </p:sp>
      <p:sp>
        <p:nvSpPr>
          <p:cNvPr id="39" name="Shape 37"/>
          <p:cNvSpPr/>
          <p:nvPr/>
        </p:nvSpPr>
        <p:spPr>
          <a:xfrm>
            <a:off x="914400" y="2468880"/>
            <a:ext cx="4846320" cy="91"/>
          </a:xfrm>
          <a:prstGeom prst="line">
            <a:avLst/>
          </a:prstGeom>
          <a:noFill/>
          <a:ln w="6350">
            <a:solidFill>
              <a:srgbClr val="E6EBF4"/>
            </a:solidFill>
            <a:prstDash val="solid"/>
          </a:ln>
        </p:spPr>
      </p:sp>
      <p:sp>
        <p:nvSpPr>
          <p:cNvPr id="40" name="Shape 38"/>
          <p:cNvSpPr/>
          <p:nvPr/>
        </p:nvSpPr>
        <p:spPr>
          <a:xfrm>
            <a:off x="914400" y="2103120"/>
            <a:ext cx="4846320" cy="91"/>
          </a:xfrm>
          <a:prstGeom prst="line">
            <a:avLst/>
          </a:prstGeom>
          <a:noFill/>
          <a:ln w="6350">
            <a:solidFill>
              <a:srgbClr val="C9D3E6"/>
            </a:solidFill>
            <a:prstDash val="solid"/>
          </a:ln>
        </p:spPr>
      </p:sp>
      <p:sp>
        <p:nvSpPr>
          <p:cNvPr id="41" name="Shape 39"/>
          <p:cNvSpPr/>
          <p:nvPr/>
        </p:nvSpPr>
        <p:spPr>
          <a:xfrm>
            <a:off x="914400" y="1737360"/>
            <a:ext cx="4846320" cy="91"/>
          </a:xfrm>
          <a:prstGeom prst="line">
            <a:avLst/>
          </a:prstGeom>
          <a:noFill/>
          <a:ln w="6350">
            <a:solidFill>
              <a:srgbClr val="E6EBF4"/>
            </a:solidFill>
            <a:prstDash val="solid"/>
          </a:ln>
        </p:spPr>
      </p:sp>
      <p:sp>
        <p:nvSpPr>
          <p:cNvPr id="42" name="Shape 40"/>
          <p:cNvSpPr/>
          <p:nvPr/>
        </p:nvSpPr>
        <p:spPr>
          <a:xfrm>
            <a:off x="914400" y="1371600"/>
            <a:ext cx="4846320" cy="91"/>
          </a:xfrm>
          <a:prstGeom prst="line">
            <a:avLst/>
          </a:prstGeom>
          <a:noFill/>
          <a:ln w="6350">
            <a:solidFill>
              <a:srgbClr val="C9D3E6"/>
            </a:solidFill>
            <a:prstDash val="solid"/>
          </a:ln>
        </p:spPr>
      </p:sp>
      <p:sp>
        <p:nvSpPr>
          <p:cNvPr id="43" name="Shape 41"/>
          <p:cNvSpPr/>
          <p:nvPr/>
        </p:nvSpPr>
        <p:spPr>
          <a:xfrm>
            <a:off x="914400" y="4297680"/>
            <a:ext cx="4846320" cy="91"/>
          </a:xfrm>
          <a:prstGeom prst="line">
            <a:avLst/>
          </a:prstGeom>
          <a:noFill/>
          <a:ln w="19050">
            <a:solidFill>
              <a:srgbClr val="1A2340"/>
            </a:solidFill>
            <a:prstDash val="solid"/>
          </a:ln>
        </p:spPr>
      </p:sp>
      <p:sp>
        <p:nvSpPr>
          <p:cNvPr id="44" name="Shape 42"/>
          <p:cNvSpPr/>
          <p:nvPr/>
        </p:nvSpPr>
        <p:spPr>
          <a:xfrm flipV="1">
            <a:off x="3337560" y="1371600"/>
            <a:ext cx="91" cy="3657600"/>
          </a:xfrm>
          <a:prstGeom prst="line">
            <a:avLst/>
          </a:prstGeom>
          <a:noFill/>
          <a:ln w="19050">
            <a:solidFill>
              <a:srgbClr val="1A2340"/>
            </a:solidFill>
            <a:prstDash val="solid"/>
          </a:ln>
        </p:spPr>
      </p:sp>
      <p:sp>
        <p:nvSpPr>
          <p:cNvPr id="45" name="Shape 43"/>
          <p:cNvSpPr/>
          <p:nvPr/>
        </p:nvSpPr>
        <p:spPr>
          <a:xfrm>
            <a:off x="914400" y="4297680"/>
            <a:ext cx="91" cy="54864"/>
          </a:xfrm>
          <a:prstGeom prst="line">
            <a:avLst/>
          </a:prstGeom>
          <a:noFill/>
          <a:ln w="12700">
            <a:solidFill>
              <a:srgbClr val="1A2340"/>
            </a:solidFill>
            <a:prstDash val="solid"/>
          </a:ln>
        </p:spPr>
      </p:sp>
      <p:sp>
        <p:nvSpPr>
          <p:cNvPr id="46" name="Text 44"/>
          <p:cNvSpPr/>
          <p:nvPr/>
        </p:nvSpPr>
        <p:spPr>
          <a:xfrm>
            <a:off x="640080"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7" name="Shape 45"/>
          <p:cNvSpPr/>
          <p:nvPr/>
        </p:nvSpPr>
        <p:spPr>
          <a:xfrm>
            <a:off x="1399032" y="4297680"/>
            <a:ext cx="91" cy="54864"/>
          </a:xfrm>
          <a:prstGeom prst="line">
            <a:avLst/>
          </a:prstGeom>
          <a:noFill/>
          <a:ln w="12700">
            <a:solidFill>
              <a:srgbClr val="1A2340"/>
            </a:solidFill>
            <a:prstDash val="solid"/>
          </a:ln>
        </p:spPr>
      </p:sp>
      <p:sp>
        <p:nvSpPr>
          <p:cNvPr id="48" name="Text 46"/>
          <p:cNvSpPr/>
          <p:nvPr/>
        </p:nvSpPr>
        <p:spPr>
          <a:xfrm>
            <a:off x="1124712"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-0.8</a:t>
            </a:r>
            <a:endParaRPr lang="en-US" sz="1000" dirty="0"/>
          </a:p>
        </p:txBody>
      </p:sp>
      <p:sp>
        <p:nvSpPr>
          <p:cNvPr id="49" name="Shape 47"/>
          <p:cNvSpPr/>
          <p:nvPr/>
        </p:nvSpPr>
        <p:spPr>
          <a:xfrm>
            <a:off x="1883664" y="4297680"/>
            <a:ext cx="91" cy="54864"/>
          </a:xfrm>
          <a:prstGeom prst="line">
            <a:avLst/>
          </a:prstGeom>
          <a:noFill/>
          <a:ln w="12700">
            <a:solidFill>
              <a:srgbClr val="1A2340"/>
            </a:solidFill>
            <a:prstDash val="solid"/>
          </a:ln>
        </p:spPr>
      </p:sp>
      <p:sp>
        <p:nvSpPr>
          <p:cNvPr id="50" name="Text 48"/>
          <p:cNvSpPr/>
          <p:nvPr/>
        </p:nvSpPr>
        <p:spPr>
          <a:xfrm>
            <a:off x="1609344"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51" name="Shape 49"/>
          <p:cNvSpPr/>
          <p:nvPr/>
        </p:nvSpPr>
        <p:spPr>
          <a:xfrm>
            <a:off x="2368296" y="4297680"/>
            <a:ext cx="91" cy="54864"/>
          </a:xfrm>
          <a:prstGeom prst="line">
            <a:avLst/>
          </a:prstGeom>
          <a:noFill/>
          <a:ln w="12700">
            <a:solidFill>
              <a:srgbClr val="1A2340"/>
            </a:solidFill>
            <a:prstDash val="solid"/>
          </a:ln>
        </p:spPr>
      </p:sp>
      <p:sp>
        <p:nvSpPr>
          <p:cNvPr id="52" name="Text 50"/>
          <p:cNvSpPr/>
          <p:nvPr/>
        </p:nvSpPr>
        <p:spPr>
          <a:xfrm>
            <a:off x="2093976"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53" name="Shape 51"/>
          <p:cNvSpPr/>
          <p:nvPr/>
        </p:nvSpPr>
        <p:spPr>
          <a:xfrm>
            <a:off x="2852928" y="4297680"/>
            <a:ext cx="91" cy="54864"/>
          </a:xfrm>
          <a:prstGeom prst="line">
            <a:avLst/>
          </a:prstGeom>
          <a:noFill/>
          <a:ln w="12700">
            <a:solidFill>
              <a:srgbClr val="1A2340"/>
            </a:solidFill>
            <a:prstDash val="solid"/>
          </a:ln>
        </p:spPr>
      </p:sp>
      <p:sp>
        <p:nvSpPr>
          <p:cNvPr id="54" name="Text 52"/>
          <p:cNvSpPr/>
          <p:nvPr/>
        </p:nvSpPr>
        <p:spPr>
          <a:xfrm>
            <a:off x="2578608"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55" name="Shape 53"/>
          <p:cNvSpPr/>
          <p:nvPr/>
        </p:nvSpPr>
        <p:spPr>
          <a:xfrm>
            <a:off x="3822192" y="4297680"/>
            <a:ext cx="91" cy="54864"/>
          </a:xfrm>
          <a:prstGeom prst="line">
            <a:avLst/>
          </a:prstGeom>
          <a:noFill/>
          <a:ln w="12700">
            <a:solidFill>
              <a:srgbClr val="1A2340"/>
            </a:solidFill>
            <a:prstDash val="solid"/>
          </a:ln>
        </p:spPr>
      </p:sp>
      <p:sp>
        <p:nvSpPr>
          <p:cNvPr id="56" name="Text 54"/>
          <p:cNvSpPr/>
          <p:nvPr/>
        </p:nvSpPr>
        <p:spPr>
          <a:xfrm>
            <a:off x="3547872"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57" name="Shape 55"/>
          <p:cNvSpPr/>
          <p:nvPr/>
        </p:nvSpPr>
        <p:spPr>
          <a:xfrm>
            <a:off x="4306824" y="4297680"/>
            <a:ext cx="91" cy="54864"/>
          </a:xfrm>
          <a:prstGeom prst="line">
            <a:avLst/>
          </a:prstGeom>
          <a:noFill/>
          <a:ln w="12700">
            <a:solidFill>
              <a:srgbClr val="1A2340"/>
            </a:solidFill>
            <a:prstDash val="solid"/>
          </a:ln>
        </p:spPr>
      </p:sp>
      <p:sp>
        <p:nvSpPr>
          <p:cNvPr id="58" name="Text 56"/>
          <p:cNvSpPr/>
          <p:nvPr/>
        </p:nvSpPr>
        <p:spPr>
          <a:xfrm>
            <a:off x="4032504"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59" name="Shape 57"/>
          <p:cNvSpPr/>
          <p:nvPr/>
        </p:nvSpPr>
        <p:spPr>
          <a:xfrm>
            <a:off x="4791456" y="4297680"/>
            <a:ext cx="91" cy="54864"/>
          </a:xfrm>
          <a:prstGeom prst="line">
            <a:avLst/>
          </a:prstGeom>
          <a:noFill/>
          <a:ln w="12700">
            <a:solidFill>
              <a:srgbClr val="1A2340"/>
            </a:solidFill>
            <a:prstDash val="solid"/>
          </a:ln>
        </p:spPr>
      </p:sp>
      <p:sp>
        <p:nvSpPr>
          <p:cNvPr id="60" name="Text 58"/>
          <p:cNvSpPr/>
          <p:nvPr/>
        </p:nvSpPr>
        <p:spPr>
          <a:xfrm>
            <a:off x="4517136"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61" name="Shape 59"/>
          <p:cNvSpPr/>
          <p:nvPr/>
        </p:nvSpPr>
        <p:spPr>
          <a:xfrm>
            <a:off x="5276088" y="4297680"/>
            <a:ext cx="91" cy="54864"/>
          </a:xfrm>
          <a:prstGeom prst="line">
            <a:avLst/>
          </a:prstGeom>
          <a:noFill/>
          <a:ln w="12700">
            <a:solidFill>
              <a:srgbClr val="1A2340"/>
            </a:solidFill>
            <a:prstDash val="solid"/>
          </a:ln>
        </p:spPr>
      </p:sp>
      <p:sp>
        <p:nvSpPr>
          <p:cNvPr id="62" name="Text 60"/>
          <p:cNvSpPr/>
          <p:nvPr/>
        </p:nvSpPr>
        <p:spPr>
          <a:xfrm>
            <a:off x="5001768"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0.8</a:t>
            </a:r>
            <a:endParaRPr lang="en-US" sz="1000" dirty="0"/>
          </a:p>
        </p:txBody>
      </p:sp>
      <p:sp>
        <p:nvSpPr>
          <p:cNvPr id="63" name="Shape 61"/>
          <p:cNvSpPr/>
          <p:nvPr/>
        </p:nvSpPr>
        <p:spPr>
          <a:xfrm>
            <a:off x="5760720" y="4297680"/>
            <a:ext cx="91" cy="54864"/>
          </a:xfrm>
          <a:prstGeom prst="line">
            <a:avLst/>
          </a:prstGeom>
          <a:noFill/>
          <a:ln w="12700">
            <a:solidFill>
              <a:srgbClr val="1A2340"/>
            </a:solidFill>
            <a:prstDash val="solid"/>
          </a:ln>
        </p:spPr>
      </p:sp>
      <p:sp>
        <p:nvSpPr>
          <p:cNvPr id="64" name="Text 62"/>
          <p:cNvSpPr/>
          <p:nvPr/>
        </p:nvSpPr>
        <p:spPr>
          <a:xfrm>
            <a:off x="5486400" y="4352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5" name="Shape 63"/>
          <p:cNvSpPr/>
          <p:nvPr/>
        </p:nvSpPr>
        <p:spPr>
          <a:xfrm>
            <a:off x="3282696" y="5029200"/>
            <a:ext cx="54864" cy="91"/>
          </a:xfrm>
          <a:prstGeom prst="line">
            <a:avLst/>
          </a:prstGeom>
          <a:noFill/>
          <a:ln w="12700">
            <a:solidFill>
              <a:srgbClr val="1A2340"/>
            </a:solidFill>
            <a:prstDash val="solid"/>
          </a:ln>
        </p:spPr>
      </p:sp>
      <p:sp>
        <p:nvSpPr>
          <p:cNvPr id="66" name="Text 64"/>
          <p:cNvSpPr/>
          <p:nvPr/>
        </p:nvSpPr>
        <p:spPr>
          <a:xfrm>
            <a:off x="2880360" y="493776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7" name="Shape 65"/>
          <p:cNvSpPr/>
          <p:nvPr/>
        </p:nvSpPr>
        <p:spPr>
          <a:xfrm>
            <a:off x="3282696" y="3566160"/>
            <a:ext cx="54864" cy="91"/>
          </a:xfrm>
          <a:prstGeom prst="line">
            <a:avLst/>
          </a:prstGeom>
          <a:noFill/>
          <a:ln w="12700">
            <a:solidFill>
              <a:srgbClr val="1A2340"/>
            </a:solidFill>
            <a:prstDash val="solid"/>
          </a:ln>
        </p:spPr>
      </p:sp>
      <p:sp>
        <p:nvSpPr>
          <p:cNvPr id="68" name="Text 66"/>
          <p:cNvSpPr/>
          <p:nvPr/>
        </p:nvSpPr>
        <p:spPr>
          <a:xfrm>
            <a:off x="2880360" y="347472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9" name="Shape 67"/>
          <p:cNvSpPr/>
          <p:nvPr/>
        </p:nvSpPr>
        <p:spPr>
          <a:xfrm>
            <a:off x="3282696" y="2834640"/>
            <a:ext cx="54864" cy="91"/>
          </a:xfrm>
          <a:prstGeom prst="line">
            <a:avLst/>
          </a:prstGeom>
          <a:noFill/>
          <a:ln w="12700">
            <a:solidFill>
              <a:srgbClr val="1A2340"/>
            </a:solidFill>
            <a:prstDash val="solid"/>
          </a:ln>
        </p:spPr>
      </p:sp>
      <p:sp>
        <p:nvSpPr>
          <p:cNvPr id="70" name="Text 68"/>
          <p:cNvSpPr/>
          <p:nvPr/>
        </p:nvSpPr>
        <p:spPr>
          <a:xfrm>
            <a:off x="2880360" y="274320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71" name="Shape 69"/>
          <p:cNvSpPr/>
          <p:nvPr/>
        </p:nvSpPr>
        <p:spPr>
          <a:xfrm>
            <a:off x="3282696" y="2103120"/>
            <a:ext cx="54864" cy="91"/>
          </a:xfrm>
          <a:prstGeom prst="line">
            <a:avLst/>
          </a:prstGeom>
          <a:noFill/>
          <a:ln w="12700">
            <a:solidFill>
              <a:srgbClr val="1A2340"/>
            </a:solidFill>
            <a:prstDash val="solid"/>
          </a:ln>
        </p:spPr>
      </p:sp>
      <p:sp>
        <p:nvSpPr>
          <p:cNvPr id="72" name="Text 70"/>
          <p:cNvSpPr/>
          <p:nvPr/>
        </p:nvSpPr>
        <p:spPr>
          <a:xfrm>
            <a:off x="2880360" y="201168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73" name="Shape 71"/>
          <p:cNvSpPr/>
          <p:nvPr/>
        </p:nvSpPr>
        <p:spPr>
          <a:xfrm>
            <a:off x="3282696" y="1371600"/>
            <a:ext cx="54864" cy="91"/>
          </a:xfrm>
          <a:prstGeom prst="line">
            <a:avLst/>
          </a:prstGeom>
          <a:noFill/>
          <a:ln w="12700">
            <a:solidFill>
              <a:srgbClr val="1A2340"/>
            </a:solidFill>
            <a:prstDash val="solid"/>
          </a:ln>
        </p:spPr>
      </p:sp>
      <p:sp>
        <p:nvSpPr>
          <p:cNvPr id="74" name="Text 72"/>
          <p:cNvSpPr/>
          <p:nvPr/>
        </p:nvSpPr>
        <p:spPr>
          <a:xfrm>
            <a:off x="2880360" y="128016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75" name="Text 73"/>
          <p:cNvSpPr/>
          <p:nvPr/>
        </p:nvSpPr>
        <p:spPr>
          <a:xfrm>
            <a:off x="3063240" y="4334256"/>
            <a:ext cx="219456"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76" name="Text 74"/>
          <p:cNvSpPr/>
          <p:nvPr/>
        </p:nvSpPr>
        <p:spPr>
          <a:xfrm>
            <a:off x="4846320" y="4023360"/>
            <a:ext cx="91440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p.d. / V</a:t>
            </a:r>
            <a:endParaRPr lang="en-US" sz="1050" dirty="0"/>
          </a:p>
        </p:txBody>
      </p:sp>
      <p:sp>
        <p:nvSpPr>
          <p:cNvPr id="77" name="Text 75"/>
          <p:cNvSpPr/>
          <p:nvPr/>
        </p:nvSpPr>
        <p:spPr>
          <a:xfrm>
            <a:off x="3410712" y="1389888"/>
            <a:ext cx="201168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current / mA</a:t>
            </a:r>
            <a:endParaRPr lang="en-US" sz="1050" dirty="0"/>
          </a:p>
        </p:txBody>
      </p:sp>
      <p:sp>
        <p:nvSpPr>
          <p:cNvPr id="78" name="Shape 76"/>
          <p:cNvSpPr/>
          <p:nvPr/>
        </p:nvSpPr>
        <p:spPr>
          <a:xfrm>
            <a:off x="914400" y="4297680"/>
            <a:ext cx="2423160" cy="91"/>
          </a:xfrm>
          <a:prstGeom prst="line">
            <a:avLst/>
          </a:prstGeom>
          <a:noFill/>
          <a:ln w="38100">
            <a:solidFill>
              <a:srgbClr val="C8414C"/>
            </a:solidFill>
            <a:prstDash val="solid"/>
          </a:ln>
        </p:spPr>
      </p:sp>
      <p:sp>
        <p:nvSpPr>
          <p:cNvPr id="79" name="Shape 77"/>
          <p:cNvSpPr/>
          <p:nvPr/>
        </p:nvSpPr>
        <p:spPr>
          <a:xfrm flipV="1">
            <a:off x="3337560" y="4297680"/>
            <a:ext cx="30693" cy="0"/>
          </a:xfrm>
          <a:prstGeom prst="line">
            <a:avLst/>
          </a:prstGeom>
          <a:noFill/>
          <a:ln w="31750">
            <a:solidFill>
              <a:srgbClr val="C8414C"/>
            </a:solidFill>
            <a:prstDash val="solid"/>
          </a:ln>
        </p:spPr>
      </p:sp>
      <p:sp>
        <p:nvSpPr>
          <p:cNvPr id="80" name="Shape 78"/>
          <p:cNvSpPr/>
          <p:nvPr/>
        </p:nvSpPr>
        <p:spPr>
          <a:xfrm flipV="1">
            <a:off x="3368253" y="4297680"/>
            <a:ext cx="30693" cy="0"/>
          </a:xfrm>
          <a:prstGeom prst="line">
            <a:avLst/>
          </a:prstGeom>
          <a:noFill/>
          <a:ln w="31750">
            <a:solidFill>
              <a:srgbClr val="C8414C"/>
            </a:solidFill>
            <a:prstDash val="solid"/>
          </a:ln>
        </p:spPr>
      </p:sp>
      <p:sp>
        <p:nvSpPr>
          <p:cNvPr id="81" name="Shape 79"/>
          <p:cNvSpPr/>
          <p:nvPr/>
        </p:nvSpPr>
        <p:spPr>
          <a:xfrm flipV="1">
            <a:off x="3398947" y="4297680"/>
            <a:ext cx="30693" cy="0"/>
          </a:xfrm>
          <a:prstGeom prst="line">
            <a:avLst/>
          </a:prstGeom>
          <a:noFill/>
          <a:ln w="31750">
            <a:solidFill>
              <a:srgbClr val="C8414C"/>
            </a:solidFill>
            <a:prstDash val="solid"/>
          </a:ln>
        </p:spPr>
      </p:sp>
      <p:sp>
        <p:nvSpPr>
          <p:cNvPr id="82" name="Shape 80"/>
          <p:cNvSpPr/>
          <p:nvPr/>
        </p:nvSpPr>
        <p:spPr>
          <a:xfrm flipV="1">
            <a:off x="3429640" y="4297680"/>
            <a:ext cx="30693" cy="0"/>
          </a:xfrm>
          <a:prstGeom prst="line">
            <a:avLst/>
          </a:prstGeom>
          <a:noFill/>
          <a:ln w="31750">
            <a:solidFill>
              <a:srgbClr val="C8414C"/>
            </a:solidFill>
            <a:prstDash val="solid"/>
          </a:ln>
        </p:spPr>
      </p:sp>
      <p:sp>
        <p:nvSpPr>
          <p:cNvPr id="83" name="Shape 81"/>
          <p:cNvSpPr/>
          <p:nvPr/>
        </p:nvSpPr>
        <p:spPr>
          <a:xfrm flipV="1">
            <a:off x="3460333" y="4297680"/>
            <a:ext cx="30693" cy="0"/>
          </a:xfrm>
          <a:prstGeom prst="line">
            <a:avLst/>
          </a:prstGeom>
          <a:noFill/>
          <a:ln w="31750">
            <a:solidFill>
              <a:srgbClr val="C8414C"/>
            </a:solidFill>
            <a:prstDash val="solid"/>
          </a:ln>
        </p:spPr>
      </p:sp>
      <p:sp>
        <p:nvSpPr>
          <p:cNvPr id="84" name="Shape 82"/>
          <p:cNvSpPr/>
          <p:nvPr/>
        </p:nvSpPr>
        <p:spPr>
          <a:xfrm flipV="1">
            <a:off x="3491027" y="4297679"/>
            <a:ext cx="30693" cy="0"/>
          </a:xfrm>
          <a:prstGeom prst="line">
            <a:avLst/>
          </a:prstGeom>
          <a:noFill/>
          <a:ln w="31750">
            <a:solidFill>
              <a:srgbClr val="C8414C"/>
            </a:solidFill>
            <a:prstDash val="solid"/>
          </a:ln>
        </p:spPr>
      </p:sp>
      <p:sp>
        <p:nvSpPr>
          <p:cNvPr id="85" name="Shape 83"/>
          <p:cNvSpPr/>
          <p:nvPr/>
        </p:nvSpPr>
        <p:spPr>
          <a:xfrm flipV="1">
            <a:off x="3521720" y="4297679"/>
            <a:ext cx="30693" cy="0"/>
          </a:xfrm>
          <a:prstGeom prst="line">
            <a:avLst/>
          </a:prstGeom>
          <a:noFill/>
          <a:ln w="31750">
            <a:solidFill>
              <a:srgbClr val="C8414C"/>
            </a:solidFill>
            <a:prstDash val="solid"/>
          </a:ln>
        </p:spPr>
      </p:sp>
      <p:sp>
        <p:nvSpPr>
          <p:cNvPr id="86" name="Shape 84"/>
          <p:cNvSpPr/>
          <p:nvPr/>
        </p:nvSpPr>
        <p:spPr>
          <a:xfrm flipV="1">
            <a:off x="3552414" y="4297679"/>
            <a:ext cx="30693" cy="0"/>
          </a:xfrm>
          <a:prstGeom prst="line">
            <a:avLst/>
          </a:prstGeom>
          <a:noFill/>
          <a:ln w="31750">
            <a:solidFill>
              <a:srgbClr val="C8414C"/>
            </a:solidFill>
            <a:prstDash val="solid"/>
          </a:ln>
        </p:spPr>
      </p:sp>
      <p:sp>
        <p:nvSpPr>
          <p:cNvPr id="87" name="Shape 85"/>
          <p:cNvSpPr/>
          <p:nvPr/>
        </p:nvSpPr>
        <p:spPr>
          <a:xfrm flipV="1">
            <a:off x="3583107" y="4297679"/>
            <a:ext cx="30693" cy="0"/>
          </a:xfrm>
          <a:prstGeom prst="line">
            <a:avLst/>
          </a:prstGeom>
          <a:noFill/>
          <a:ln w="31750">
            <a:solidFill>
              <a:srgbClr val="C8414C"/>
            </a:solidFill>
            <a:prstDash val="solid"/>
          </a:ln>
        </p:spPr>
      </p:sp>
      <p:sp>
        <p:nvSpPr>
          <p:cNvPr id="88" name="Shape 86"/>
          <p:cNvSpPr/>
          <p:nvPr/>
        </p:nvSpPr>
        <p:spPr>
          <a:xfrm flipV="1">
            <a:off x="3613800" y="4297678"/>
            <a:ext cx="30693" cy="1"/>
          </a:xfrm>
          <a:prstGeom prst="line">
            <a:avLst/>
          </a:prstGeom>
          <a:noFill/>
          <a:ln w="31750">
            <a:solidFill>
              <a:srgbClr val="C8414C"/>
            </a:solidFill>
            <a:prstDash val="solid"/>
          </a:ln>
        </p:spPr>
      </p:sp>
      <p:sp>
        <p:nvSpPr>
          <p:cNvPr id="89" name="Shape 87"/>
          <p:cNvSpPr/>
          <p:nvPr/>
        </p:nvSpPr>
        <p:spPr>
          <a:xfrm flipV="1">
            <a:off x="3644494" y="4297677"/>
            <a:ext cx="30693" cy="1"/>
          </a:xfrm>
          <a:prstGeom prst="line">
            <a:avLst/>
          </a:prstGeom>
          <a:noFill/>
          <a:ln w="31750">
            <a:solidFill>
              <a:srgbClr val="C8414C"/>
            </a:solidFill>
            <a:prstDash val="solid"/>
          </a:ln>
        </p:spPr>
      </p:sp>
      <p:sp>
        <p:nvSpPr>
          <p:cNvPr id="90" name="Shape 88"/>
          <p:cNvSpPr/>
          <p:nvPr/>
        </p:nvSpPr>
        <p:spPr>
          <a:xfrm flipV="1">
            <a:off x="3675187" y="4297676"/>
            <a:ext cx="30693" cy="1"/>
          </a:xfrm>
          <a:prstGeom prst="line">
            <a:avLst/>
          </a:prstGeom>
          <a:noFill/>
          <a:ln w="31750">
            <a:solidFill>
              <a:srgbClr val="C8414C"/>
            </a:solidFill>
            <a:prstDash val="solid"/>
          </a:ln>
        </p:spPr>
      </p:sp>
      <p:sp>
        <p:nvSpPr>
          <p:cNvPr id="91" name="Shape 89"/>
          <p:cNvSpPr/>
          <p:nvPr/>
        </p:nvSpPr>
        <p:spPr>
          <a:xfrm flipV="1">
            <a:off x="3705880" y="4297675"/>
            <a:ext cx="30693" cy="1"/>
          </a:xfrm>
          <a:prstGeom prst="line">
            <a:avLst/>
          </a:prstGeom>
          <a:noFill/>
          <a:ln w="31750">
            <a:solidFill>
              <a:srgbClr val="C8414C"/>
            </a:solidFill>
            <a:prstDash val="solid"/>
          </a:ln>
        </p:spPr>
      </p:sp>
      <p:sp>
        <p:nvSpPr>
          <p:cNvPr id="92" name="Shape 90"/>
          <p:cNvSpPr/>
          <p:nvPr/>
        </p:nvSpPr>
        <p:spPr>
          <a:xfrm flipV="1">
            <a:off x="3736574" y="4297674"/>
            <a:ext cx="30693" cy="2"/>
          </a:xfrm>
          <a:prstGeom prst="line">
            <a:avLst/>
          </a:prstGeom>
          <a:noFill/>
          <a:ln w="31750">
            <a:solidFill>
              <a:srgbClr val="C8414C"/>
            </a:solidFill>
            <a:prstDash val="solid"/>
          </a:ln>
        </p:spPr>
      </p:sp>
      <p:sp>
        <p:nvSpPr>
          <p:cNvPr id="93" name="Shape 91"/>
          <p:cNvSpPr/>
          <p:nvPr/>
        </p:nvSpPr>
        <p:spPr>
          <a:xfrm flipV="1">
            <a:off x="3767267" y="4297671"/>
            <a:ext cx="30693" cy="2"/>
          </a:xfrm>
          <a:prstGeom prst="line">
            <a:avLst/>
          </a:prstGeom>
          <a:noFill/>
          <a:ln w="31750">
            <a:solidFill>
              <a:srgbClr val="C8414C"/>
            </a:solidFill>
            <a:prstDash val="solid"/>
          </a:ln>
        </p:spPr>
      </p:sp>
      <p:sp>
        <p:nvSpPr>
          <p:cNvPr id="94" name="Shape 92"/>
          <p:cNvSpPr/>
          <p:nvPr/>
        </p:nvSpPr>
        <p:spPr>
          <a:xfrm flipV="1">
            <a:off x="3797960" y="4297669"/>
            <a:ext cx="30693" cy="3"/>
          </a:xfrm>
          <a:prstGeom prst="line">
            <a:avLst/>
          </a:prstGeom>
          <a:noFill/>
          <a:ln w="31750">
            <a:solidFill>
              <a:srgbClr val="C8414C"/>
            </a:solidFill>
            <a:prstDash val="solid"/>
          </a:ln>
        </p:spPr>
      </p:sp>
      <p:sp>
        <p:nvSpPr>
          <p:cNvPr id="95" name="Shape 93"/>
          <p:cNvSpPr/>
          <p:nvPr/>
        </p:nvSpPr>
        <p:spPr>
          <a:xfrm flipV="1">
            <a:off x="3828654" y="4297665"/>
            <a:ext cx="30693" cy="4"/>
          </a:xfrm>
          <a:prstGeom prst="line">
            <a:avLst/>
          </a:prstGeom>
          <a:noFill/>
          <a:ln w="31750">
            <a:solidFill>
              <a:srgbClr val="C8414C"/>
            </a:solidFill>
            <a:prstDash val="solid"/>
          </a:ln>
        </p:spPr>
      </p:sp>
      <p:sp>
        <p:nvSpPr>
          <p:cNvPr id="96" name="Shape 94"/>
          <p:cNvSpPr/>
          <p:nvPr/>
        </p:nvSpPr>
        <p:spPr>
          <a:xfrm flipV="1">
            <a:off x="3859347" y="4297660"/>
            <a:ext cx="30693" cy="5"/>
          </a:xfrm>
          <a:prstGeom prst="line">
            <a:avLst/>
          </a:prstGeom>
          <a:noFill/>
          <a:ln w="31750">
            <a:solidFill>
              <a:srgbClr val="C8414C"/>
            </a:solidFill>
            <a:prstDash val="solid"/>
          </a:ln>
        </p:spPr>
      </p:sp>
      <p:sp>
        <p:nvSpPr>
          <p:cNvPr id="97" name="Shape 95"/>
          <p:cNvSpPr/>
          <p:nvPr/>
        </p:nvSpPr>
        <p:spPr>
          <a:xfrm flipV="1">
            <a:off x="3890040" y="4297653"/>
            <a:ext cx="30693" cy="7"/>
          </a:xfrm>
          <a:prstGeom prst="line">
            <a:avLst/>
          </a:prstGeom>
          <a:noFill/>
          <a:ln w="31750">
            <a:solidFill>
              <a:srgbClr val="C8414C"/>
            </a:solidFill>
            <a:prstDash val="solid"/>
          </a:ln>
        </p:spPr>
      </p:sp>
      <p:sp>
        <p:nvSpPr>
          <p:cNvPr id="98" name="Shape 96"/>
          <p:cNvSpPr/>
          <p:nvPr/>
        </p:nvSpPr>
        <p:spPr>
          <a:xfrm flipV="1">
            <a:off x="3920734" y="4297645"/>
            <a:ext cx="30693" cy="9"/>
          </a:xfrm>
          <a:prstGeom prst="line">
            <a:avLst/>
          </a:prstGeom>
          <a:noFill/>
          <a:ln w="31750">
            <a:solidFill>
              <a:srgbClr val="C8414C"/>
            </a:solidFill>
            <a:prstDash val="solid"/>
          </a:ln>
        </p:spPr>
      </p:sp>
      <p:sp>
        <p:nvSpPr>
          <p:cNvPr id="99" name="Shape 97"/>
          <p:cNvSpPr/>
          <p:nvPr/>
        </p:nvSpPr>
        <p:spPr>
          <a:xfrm flipV="1">
            <a:off x="3951427" y="4297633"/>
            <a:ext cx="30693" cy="11"/>
          </a:xfrm>
          <a:prstGeom prst="line">
            <a:avLst/>
          </a:prstGeom>
          <a:noFill/>
          <a:ln w="31750">
            <a:solidFill>
              <a:srgbClr val="C8414C"/>
            </a:solidFill>
            <a:prstDash val="solid"/>
          </a:ln>
        </p:spPr>
      </p:sp>
      <p:sp>
        <p:nvSpPr>
          <p:cNvPr id="100" name="Shape 98"/>
          <p:cNvSpPr/>
          <p:nvPr/>
        </p:nvSpPr>
        <p:spPr>
          <a:xfrm flipV="1">
            <a:off x="3982121" y="4297618"/>
            <a:ext cx="30693" cy="15"/>
          </a:xfrm>
          <a:prstGeom prst="line">
            <a:avLst/>
          </a:prstGeom>
          <a:noFill/>
          <a:ln w="31750">
            <a:solidFill>
              <a:srgbClr val="C8414C"/>
            </a:solidFill>
            <a:prstDash val="solid"/>
          </a:ln>
        </p:spPr>
      </p:sp>
      <p:sp>
        <p:nvSpPr>
          <p:cNvPr id="101" name="Shape 99"/>
          <p:cNvSpPr/>
          <p:nvPr/>
        </p:nvSpPr>
        <p:spPr>
          <a:xfrm flipV="1">
            <a:off x="4012814" y="4297598"/>
            <a:ext cx="30693" cy="20"/>
          </a:xfrm>
          <a:prstGeom prst="line">
            <a:avLst/>
          </a:prstGeom>
          <a:noFill/>
          <a:ln w="31750">
            <a:solidFill>
              <a:srgbClr val="C8414C"/>
            </a:solidFill>
            <a:prstDash val="solid"/>
          </a:ln>
        </p:spPr>
      </p:sp>
      <p:sp>
        <p:nvSpPr>
          <p:cNvPr id="102" name="Shape 100"/>
          <p:cNvSpPr/>
          <p:nvPr/>
        </p:nvSpPr>
        <p:spPr>
          <a:xfrm flipV="1">
            <a:off x="4043507" y="4297571"/>
            <a:ext cx="30693" cy="27"/>
          </a:xfrm>
          <a:prstGeom prst="line">
            <a:avLst/>
          </a:prstGeom>
          <a:noFill/>
          <a:ln w="31750">
            <a:solidFill>
              <a:srgbClr val="C8414C"/>
            </a:solidFill>
            <a:prstDash val="solid"/>
          </a:ln>
        </p:spPr>
      </p:sp>
      <p:sp>
        <p:nvSpPr>
          <p:cNvPr id="103" name="Shape 101"/>
          <p:cNvSpPr/>
          <p:nvPr/>
        </p:nvSpPr>
        <p:spPr>
          <a:xfrm flipV="1">
            <a:off x="4074201" y="4297536"/>
            <a:ext cx="30693" cy="35"/>
          </a:xfrm>
          <a:prstGeom prst="line">
            <a:avLst/>
          </a:prstGeom>
          <a:noFill/>
          <a:ln w="31750">
            <a:solidFill>
              <a:srgbClr val="C8414C"/>
            </a:solidFill>
            <a:prstDash val="solid"/>
          </a:ln>
        </p:spPr>
      </p:sp>
      <p:sp>
        <p:nvSpPr>
          <p:cNvPr id="104" name="Shape 102"/>
          <p:cNvSpPr/>
          <p:nvPr/>
        </p:nvSpPr>
        <p:spPr>
          <a:xfrm flipV="1">
            <a:off x="4104894" y="4297489"/>
            <a:ext cx="30693" cy="47"/>
          </a:xfrm>
          <a:prstGeom prst="line">
            <a:avLst/>
          </a:prstGeom>
          <a:noFill/>
          <a:ln w="31750">
            <a:solidFill>
              <a:srgbClr val="C8414C"/>
            </a:solidFill>
            <a:prstDash val="solid"/>
          </a:ln>
        </p:spPr>
      </p:sp>
      <p:sp>
        <p:nvSpPr>
          <p:cNvPr id="105" name="Shape 103"/>
          <p:cNvSpPr/>
          <p:nvPr/>
        </p:nvSpPr>
        <p:spPr>
          <a:xfrm flipV="1">
            <a:off x="4135587" y="4297427"/>
            <a:ext cx="30693" cy="62"/>
          </a:xfrm>
          <a:prstGeom prst="line">
            <a:avLst/>
          </a:prstGeom>
          <a:noFill/>
          <a:ln w="31750">
            <a:solidFill>
              <a:srgbClr val="C8414C"/>
            </a:solidFill>
            <a:prstDash val="solid"/>
          </a:ln>
        </p:spPr>
      </p:sp>
      <p:sp>
        <p:nvSpPr>
          <p:cNvPr id="106" name="Shape 104"/>
          <p:cNvSpPr/>
          <p:nvPr/>
        </p:nvSpPr>
        <p:spPr>
          <a:xfrm flipV="1">
            <a:off x="4166281" y="4297344"/>
            <a:ext cx="30693" cy="82"/>
          </a:xfrm>
          <a:prstGeom prst="line">
            <a:avLst/>
          </a:prstGeom>
          <a:noFill/>
          <a:ln w="31750">
            <a:solidFill>
              <a:srgbClr val="C8414C"/>
            </a:solidFill>
            <a:prstDash val="solid"/>
          </a:ln>
        </p:spPr>
      </p:sp>
      <p:sp>
        <p:nvSpPr>
          <p:cNvPr id="107" name="Shape 105"/>
          <p:cNvSpPr/>
          <p:nvPr/>
        </p:nvSpPr>
        <p:spPr>
          <a:xfrm flipV="1">
            <a:off x="4196974" y="4297235"/>
            <a:ext cx="30693" cy="109"/>
          </a:xfrm>
          <a:prstGeom prst="line">
            <a:avLst/>
          </a:prstGeom>
          <a:noFill/>
          <a:ln w="31750">
            <a:solidFill>
              <a:srgbClr val="C8414C"/>
            </a:solidFill>
            <a:prstDash val="solid"/>
          </a:ln>
        </p:spPr>
      </p:sp>
      <p:sp>
        <p:nvSpPr>
          <p:cNvPr id="108" name="Shape 106"/>
          <p:cNvSpPr/>
          <p:nvPr/>
        </p:nvSpPr>
        <p:spPr>
          <a:xfrm flipV="1">
            <a:off x="4227667" y="4297091"/>
            <a:ext cx="30693" cy="145"/>
          </a:xfrm>
          <a:prstGeom prst="line">
            <a:avLst/>
          </a:prstGeom>
          <a:noFill/>
          <a:ln w="31750">
            <a:solidFill>
              <a:srgbClr val="C8414C"/>
            </a:solidFill>
            <a:prstDash val="solid"/>
          </a:ln>
        </p:spPr>
      </p:sp>
      <p:sp>
        <p:nvSpPr>
          <p:cNvPr id="109" name="Shape 107"/>
          <p:cNvSpPr/>
          <p:nvPr/>
        </p:nvSpPr>
        <p:spPr>
          <a:xfrm flipV="1">
            <a:off x="4258361" y="4296899"/>
            <a:ext cx="30693" cy="192"/>
          </a:xfrm>
          <a:prstGeom prst="line">
            <a:avLst/>
          </a:prstGeom>
          <a:noFill/>
          <a:ln w="31750">
            <a:solidFill>
              <a:srgbClr val="C8414C"/>
            </a:solidFill>
            <a:prstDash val="solid"/>
          </a:ln>
        </p:spPr>
      </p:sp>
      <p:sp>
        <p:nvSpPr>
          <p:cNvPr id="110" name="Shape 108"/>
          <p:cNvSpPr/>
          <p:nvPr/>
        </p:nvSpPr>
        <p:spPr>
          <a:xfrm flipV="1">
            <a:off x="4289054" y="4296645"/>
            <a:ext cx="30693" cy="254"/>
          </a:xfrm>
          <a:prstGeom prst="line">
            <a:avLst/>
          </a:prstGeom>
          <a:noFill/>
          <a:ln w="31750">
            <a:solidFill>
              <a:srgbClr val="C8414C"/>
            </a:solidFill>
            <a:prstDash val="solid"/>
          </a:ln>
        </p:spPr>
      </p:sp>
      <p:sp>
        <p:nvSpPr>
          <p:cNvPr id="111" name="Shape 109"/>
          <p:cNvSpPr/>
          <p:nvPr/>
        </p:nvSpPr>
        <p:spPr>
          <a:xfrm flipV="1">
            <a:off x="4319748" y="4296309"/>
            <a:ext cx="30693" cy="336"/>
          </a:xfrm>
          <a:prstGeom prst="line">
            <a:avLst/>
          </a:prstGeom>
          <a:noFill/>
          <a:ln w="31750">
            <a:solidFill>
              <a:srgbClr val="C8414C"/>
            </a:solidFill>
            <a:prstDash val="solid"/>
          </a:ln>
        </p:spPr>
      </p:sp>
      <p:sp>
        <p:nvSpPr>
          <p:cNvPr id="112" name="Shape 110"/>
          <p:cNvSpPr/>
          <p:nvPr/>
        </p:nvSpPr>
        <p:spPr>
          <a:xfrm flipV="1">
            <a:off x="4350441" y="4295863"/>
            <a:ext cx="30693" cy="446"/>
          </a:xfrm>
          <a:prstGeom prst="line">
            <a:avLst/>
          </a:prstGeom>
          <a:noFill/>
          <a:ln w="31750">
            <a:solidFill>
              <a:srgbClr val="C8414C"/>
            </a:solidFill>
            <a:prstDash val="solid"/>
          </a:ln>
        </p:spPr>
      </p:sp>
      <p:sp>
        <p:nvSpPr>
          <p:cNvPr id="113" name="Shape 111"/>
          <p:cNvSpPr/>
          <p:nvPr/>
        </p:nvSpPr>
        <p:spPr>
          <a:xfrm flipV="1">
            <a:off x="4381134" y="4295272"/>
            <a:ext cx="30693" cy="591"/>
          </a:xfrm>
          <a:prstGeom prst="line">
            <a:avLst/>
          </a:prstGeom>
          <a:noFill/>
          <a:ln w="31750">
            <a:solidFill>
              <a:srgbClr val="C8414C"/>
            </a:solidFill>
            <a:prstDash val="solid"/>
          </a:ln>
        </p:spPr>
      </p:sp>
      <p:sp>
        <p:nvSpPr>
          <p:cNvPr id="114" name="Shape 112"/>
          <p:cNvSpPr/>
          <p:nvPr/>
        </p:nvSpPr>
        <p:spPr>
          <a:xfrm flipV="1">
            <a:off x="4411828" y="4294489"/>
            <a:ext cx="30693" cy="783"/>
          </a:xfrm>
          <a:prstGeom prst="line">
            <a:avLst/>
          </a:prstGeom>
          <a:noFill/>
          <a:ln w="31750">
            <a:solidFill>
              <a:srgbClr val="C8414C"/>
            </a:solidFill>
            <a:prstDash val="solid"/>
          </a:ln>
        </p:spPr>
      </p:sp>
      <p:sp>
        <p:nvSpPr>
          <p:cNvPr id="115" name="Shape 113"/>
          <p:cNvSpPr/>
          <p:nvPr/>
        </p:nvSpPr>
        <p:spPr>
          <a:xfrm flipV="1">
            <a:off x="4442521" y="4293451"/>
            <a:ext cx="30693" cy="1037"/>
          </a:xfrm>
          <a:prstGeom prst="line">
            <a:avLst/>
          </a:prstGeom>
          <a:noFill/>
          <a:ln w="31750">
            <a:solidFill>
              <a:srgbClr val="C8414C"/>
            </a:solidFill>
            <a:prstDash val="solid"/>
          </a:ln>
        </p:spPr>
      </p:sp>
      <p:sp>
        <p:nvSpPr>
          <p:cNvPr id="116" name="Shape 114"/>
          <p:cNvSpPr/>
          <p:nvPr/>
        </p:nvSpPr>
        <p:spPr>
          <a:xfrm flipV="1">
            <a:off x="4473214" y="4292077"/>
            <a:ext cx="30693" cy="1375"/>
          </a:xfrm>
          <a:prstGeom prst="line">
            <a:avLst/>
          </a:prstGeom>
          <a:noFill/>
          <a:ln w="31750">
            <a:solidFill>
              <a:srgbClr val="C8414C"/>
            </a:solidFill>
            <a:prstDash val="solid"/>
          </a:ln>
        </p:spPr>
      </p:sp>
      <p:sp>
        <p:nvSpPr>
          <p:cNvPr id="117" name="Shape 115"/>
          <p:cNvSpPr/>
          <p:nvPr/>
        </p:nvSpPr>
        <p:spPr>
          <a:xfrm flipV="1">
            <a:off x="4503908" y="4290255"/>
            <a:ext cx="30693" cy="1822"/>
          </a:xfrm>
          <a:prstGeom prst="line">
            <a:avLst/>
          </a:prstGeom>
          <a:noFill/>
          <a:ln w="31750">
            <a:solidFill>
              <a:srgbClr val="C8414C"/>
            </a:solidFill>
            <a:prstDash val="solid"/>
          </a:ln>
        </p:spPr>
      </p:sp>
      <p:sp>
        <p:nvSpPr>
          <p:cNvPr id="118" name="Shape 116"/>
          <p:cNvSpPr/>
          <p:nvPr/>
        </p:nvSpPr>
        <p:spPr>
          <a:xfrm flipV="1">
            <a:off x="4534601" y="4287841"/>
            <a:ext cx="30693" cy="2414"/>
          </a:xfrm>
          <a:prstGeom prst="line">
            <a:avLst/>
          </a:prstGeom>
          <a:noFill/>
          <a:ln w="31750">
            <a:solidFill>
              <a:srgbClr val="C8414C"/>
            </a:solidFill>
            <a:prstDash val="solid"/>
          </a:ln>
        </p:spPr>
      </p:sp>
      <p:sp>
        <p:nvSpPr>
          <p:cNvPr id="119" name="Shape 117"/>
          <p:cNvSpPr/>
          <p:nvPr/>
        </p:nvSpPr>
        <p:spPr>
          <a:xfrm flipV="1">
            <a:off x="4565294" y="4284643"/>
            <a:ext cx="30693" cy="3198"/>
          </a:xfrm>
          <a:prstGeom prst="line">
            <a:avLst/>
          </a:prstGeom>
          <a:noFill/>
          <a:ln w="31750">
            <a:solidFill>
              <a:srgbClr val="C8414C"/>
            </a:solidFill>
            <a:prstDash val="solid"/>
          </a:ln>
        </p:spPr>
      </p:sp>
      <p:sp>
        <p:nvSpPr>
          <p:cNvPr id="120" name="Shape 118"/>
          <p:cNvSpPr/>
          <p:nvPr/>
        </p:nvSpPr>
        <p:spPr>
          <a:xfrm flipV="1">
            <a:off x="4595988" y="4280405"/>
            <a:ext cx="30693" cy="4238"/>
          </a:xfrm>
          <a:prstGeom prst="line">
            <a:avLst/>
          </a:prstGeom>
          <a:noFill/>
          <a:ln w="31750">
            <a:solidFill>
              <a:srgbClr val="C8414C"/>
            </a:solidFill>
            <a:prstDash val="solid"/>
          </a:ln>
        </p:spPr>
      </p:sp>
      <p:sp>
        <p:nvSpPr>
          <p:cNvPr id="121" name="Shape 119"/>
          <p:cNvSpPr/>
          <p:nvPr/>
        </p:nvSpPr>
        <p:spPr>
          <a:xfrm flipV="1">
            <a:off x="4626681" y="4274788"/>
            <a:ext cx="30693" cy="5616"/>
          </a:xfrm>
          <a:prstGeom prst="line">
            <a:avLst/>
          </a:prstGeom>
          <a:noFill/>
          <a:ln w="31750">
            <a:solidFill>
              <a:srgbClr val="C8414C"/>
            </a:solidFill>
            <a:prstDash val="solid"/>
          </a:ln>
        </p:spPr>
      </p:sp>
      <p:sp>
        <p:nvSpPr>
          <p:cNvPr id="122" name="Shape 120"/>
          <p:cNvSpPr/>
          <p:nvPr/>
        </p:nvSpPr>
        <p:spPr>
          <a:xfrm flipV="1">
            <a:off x="4657374" y="4267347"/>
            <a:ext cx="30693" cy="7442"/>
          </a:xfrm>
          <a:prstGeom prst="line">
            <a:avLst/>
          </a:prstGeom>
          <a:noFill/>
          <a:ln w="31750">
            <a:solidFill>
              <a:srgbClr val="C8414C"/>
            </a:solidFill>
            <a:prstDash val="solid"/>
          </a:ln>
        </p:spPr>
      </p:sp>
      <p:sp>
        <p:nvSpPr>
          <p:cNvPr id="123" name="Shape 121"/>
          <p:cNvSpPr/>
          <p:nvPr/>
        </p:nvSpPr>
        <p:spPr>
          <a:xfrm flipV="1">
            <a:off x="4688068" y="4257485"/>
            <a:ext cx="30693" cy="9861"/>
          </a:xfrm>
          <a:prstGeom prst="line">
            <a:avLst/>
          </a:prstGeom>
          <a:noFill/>
          <a:ln w="31750">
            <a:solidFill>
              <a:srgbClr val="C8414C"/>
            </a:solidFill>
            <a:prstDash val="solid"/>
          </a:ln>
        </p:spPr>
      </p:sp>
      <p:sp>
        <p:nvSpPr>
          <p:cNvPr id="124" name="Shape 122"/>
          <p:cNvSpPr/>
          <p:nvPr/>
        </p:nvSpPr>
        <p:spPr>
          <a:xfrm flipV="1">
            <a:off x="4718761" y="4244418"/>
            <a:ext cx="30693" cy="13067"/>
          </a:xfrm>
          <a:prstGeom prst="line">
            <a:avLst/>
          </a:prstGeom>
          <a:noFill/>
          <a:ln w="31750">
            <a:solidFill>
              <a:srgbClr val="C8414C"/>
            </a:solidFill>
            <a:prstDash val="solid"/>
          </a:ln>
        </p:spPr>
      </p:sp>
      <p:sp>
        <p:nvSpPr>
          <p:cNvPr id="125" name="Shape 123"/>
          <p:cNvSpPr/>
          <p:nvPr/>
        </p:nvSpPr>
        <p:spPr>
          <a:xfrm flipV="1">
            <a:off x="4749455" y="4227103"/>
            <a:ext cx="30693" cy="17315"/>
          </a:xfrm>
          <a:prstGeom prst="line">
            <a:avLst/>
          </a:prstGeom>
          <a:noFill/>
          <a:ln w="31750">
            <a:solidFill>
              <a:srgbClr val="C8414C"/>
            </a:solidFill>
            <a:prstDash val="solid"/>
          </a:ln>
        </p:spPr>
      </p:sp>
      <p:sp>
        <p:nvSpPr>
          <p:cNvPr id="126" name="Shape 124"/>
          <p:cNvSpPr/>
          <p:nvPr/>
        </p:nvSpPr>
        <p:spPr>
          <a:xfrm flipV="1">
            <a:off x="4780148" y="4204160"/>
            <a:ext cx="30693" cy="22944"/>
          </a:xfrm>
          <a:prstGeom prst="line">
            <a:avLst/>
          </a:prstGeom>
          <a:noFill/>
          <a:ln w="31750">
            <a:solidFill>
              <a:srgbClr val="C8414C"/>
            </a:solidFill>
            <a:prstDash val="solid"/>
          </a:ln>
        </p:spPr>
      </p:sp>
      <p:sp>
        <p:nvSpPr>
          <p:cNvPr id="127" name="Shape 125"/>
          <p:cNvSpPr/>
          <p:nvPr/>
        </p:nvSpPr>
        <p:spPr>
          <a:xfrm flipV="1">
            <a:off x="4810841" y="4173757"/>
            <a:ext cx="30693" cy="30403"/>
          </a:xfrm>
          <a:prstGeom prst="line">
            <a:avLst/>
          </a:prstGeom>
          <a:noFill/>
          <a:ln w="31750">
            <a:solidFill>
              <a:srgbClr val="C8414C"/>
            </a:solidFill>
            <a:prstDash val="solid"/>
          </a:ln>
        </p:spPr>
      </p:sp>
      <p:sp>
        <p:nvSpPr>
          <p:cNvPr id="128" name="Shape 126"/>
          <p:cNvSpPr/>
          <p:nvPr/>
        </p:nvSpPr>
        <p:spPr>
          <a:xfrm flipV="1">
            <a:off x="4841535" y="4133470"/>
            <a:ext cx="30693" cy="40286"/>
          </a:xfrm>
          <a:prstGeom prst="line">
            <a:avLst/>
          </a:prstGeom>
          <a:noFill/>
          <a:ln w="31750">
            <a:solidFill>
              <a:srgbClr val="C8414C"/>
            </a:solidFill>
            <a:prstDash val="solid"/>
          </a:ln>
        </p:spPr>
      </p:sp>
      <p:sp>
        <p:nvSpPr>
          <p:cNvPr id="129" name="Shape 127"/>
          <p:cNvSpPr/>
          <p:nvPr/>
        </p:nvSpPr>
        <p:spPr>
          <a:xfrm flipV="1">
            <a:off x="4872228" y="4080087"/>
            <a:ext cx="30693" cy="53383"/>
          </a:xfrm>
          <a:prstGeom prst="line">
            <a:avLst/>
          </a:prstGeom>
          <a:noFill/>
          <a:ln w="31750">
            <a:solidFill>
              <a:srgbClr val="C8414C"/>
            </a:solidFill>
            <a:prstDash val="solid"/>
          </a:ln>
        </p:spPr>
      </p:sp>
      <p:sp>
        <p:nvSpPr>
          <p:cNvPr id="130" name="Shape 128"/>
          <p:cNvSpPr/>
          <p:nvPr/>
        </p:nvSpPr>
        <p:spPr>
          <a:xfrm flipV="1">
            <a:off x="4902921" y="4009350"/>
            <a:ext cx="30693" cy="70738"/>
          </a:xfrm>
          <a:prstGeom prst="line">
            <a:avLst/>
          </a:prstGeom>
          <a:noFill/>
          <a:ln w="31750">
            <a:solidFill>
              <a:srgbClr val="C8414C"/>
            </a:solidFill>
            <a:prstDash val="solid"/>
          </a:ln>
        </p:spPr>
      </p:sp>
      <p:sp>
        <p:nvSpPr>
          <p:cNvPr id="131" name="Shape 129"/>
          <p:cNvSpPr/>
          <p:nvPr/>
        </p:nvSpPr>
        <p:spPr>
          <a:xfrm flipV="1">
            <a:off x="4933615" y="3915616"/>
            <a:ext cx="30693" cy="93734"/>
          </a:xfrm>
          <a:prstGeom prst="line">
            <a:avLst/>
          </a:prstGeom>
          <a:noFill/>
          <a:ln w="31750">
            <a:solidFill>
              <a:srgbClr val="C8414C"/>
            </a:solidFill>
            <a:prstDash val="solid"/>
          </a:ln>
        </p:spPr>
      </p:sp>
      <p:sp>
        <p:nvSpPr>
          <p:cNvPr id="132" name="Shape 130"/>
          <p:cNvSpPr/>
          <p:nvPr/>
        </p:nvSpPr>
        <p:spPr>
          <a:xfrm flipV="1">
            <a:off x="4964308" y="3791410"/>
            <a:ext cx="30693" cy="124206"/>
          </a:xfrm>
          <a:prstGeom prst="line">
            <a:avLst/>
          </a:prstGeom>
          <a:noFill/>
          <a:ln w="31750">
            <a:solidFill>
              <a:srgbClr val="C8414C"/>
            </a:solidFill>
            <a:prstDash val="solid"/>
          </a:ln>
        </p:spPr>
      </p:sp>
      <p:sp>
        <p:nvSpPr>
          <p:cNvPr id="133" name="Shape 131"/>
          <p:cNvSpPr/>
          <p:nvPr/>
        </p:nvSpPr>
        <p:spPr>
          <a:xfrm flipV="1">
            <a:off x="4995001" y="3626826"/>
            <a:ext cx="30693" cy="164584"/>
          </a:xfrm>
          <a:prstGeom prst="line">
            <a:avLst/>
          </a:prstGeom>
          <a:noFill/>
          <a:ln w="31750">
            <a:solidFill>
              <a:srgbClr val="C8414C"/>
            </a:solidFill>
            <a:prstDash val="solid"/>
          </a:ln>
        </p:spPr>
      </p:sp>
      <p:sp>
        <p:nvSpPr>
          <p:cNvPr id="134" name="Shape 132"/>
          <p:cNvSpPr/>
          <p:nvPr/>
        </p:nvSpPr>
        <p:spPr>
          <a:xfrm flipV="1">
            <a:off x="5025695" y="3408737"/>
            <a:ext cx="30693" cy="218089"/>
          </a:xfrm>
          <a:prstGeom prst="line">
            <a:avLst/>
          </a:prstGeom>
          <a:noFill/>
          <a:ln w="31750">
            <a:solidFill>
              <a:srgbClr val="C8414C"/>
            </a:solidFill>
            <a:prstDash val="solid"/>
          </a:ln>
        </p:spPr>
      </p:sp>
      <p:sp>
        <p:nvSpPr>
          <p:cNvPr id="135" name="Shape 133"/>
          <p:cNvSpPr/>
          <p:nvPr/>
        </p:nvSpPr>
        <p:spPr>
          <a:xfrm flipV="1">
            <a:off x="5056388" y="3119749"/>
            <a:ext cx="30693" cy="288988"/>
          </a:xfrm>
          <a:prstGeom prst="line">
            <a:avLst/>
          </a:prstGeom>
          <a:noFill/>
          <a:ln w="31750">
            <a:solidFill>
              <a:srgbClr val="C8414C"/>
            </a:solidFill>
            <a:prstDash val="solid"/>
          </a:ln>
        </p:spPr>
      </p:sp>
      <p:sp>
        <p:nvSpPr>
          <p:cNvPr id="136" name="Shape 134"/>
          <p:cNvSpPr/>
          <p:nvPr/>
        </p:nvSpPr>
        <p:spPr>
          <a:xfrm flipV="1">
            <a:off x="5087082" y="2736814"/>
            <a:ext cx="30693" cy="382935"/>
          </a:xfrm>
          <a:prstGeom prst="line">
            <a:avLst/>
          </a:prstGeom>
          <a:noFill/>
          <a:ln w="31750">
            <a:solidFill>
              <a:srgbClr val="C8414C"/>
            </a:solidFill>
            <a:prstDash val="solid"/>
          </a:ln>
        </p:spPr>
      </p:sp>
      <p:sp>
        <p:nvSpPr>
          <p:cNvPr id="137" name="Shape 135"/>
          <p:cNvSpPr/>
          <p:nvPr/>
        </p:nvSpPr>
        <p:spPr>
          <a:xfrm flipV="1">
            <a:off x="5117775" y="2229390"/>
            <a:ext cx="30693" cy="507424"/>
          </a:xfrm>
          <a:prstGeom prst="line">
            <a:avLst/>
          </a:prstGeom>
          <a:noFill/>
          <a:ln w="31750">
            <a:solidFill>
              <a:srgbClr val="C8414C"/>
            </a:solidFill>
            <a:prstDash val="solid"/>
          </a:ln>
        </p:spPr>
      </p:sp>
      <p:sp>
        <p:nvSpPr>
          <p:cNvPr id="138" name="Shape 136"/>
          <p:cNvSpPr/>
          <p:nvPr/>
        </p:nvSpPr>
        <p:spPr>
          <a:xfrm flipV="1">
            <a:off x="5148468" y="1557006"/>
            <a:ext cx="30693" cy="672384"/>
          </a:xfrm>
          <a:prstGeom prst="line">
            <a:avLst/>
          </a:prstGeom>
          <a:noFill/>
          <a:ln w="31750">
            <a:solidFill>
              <a:srgbClr val="C8414C"/>
            </a:solidFill>
            <a:prstDash val="solid"/>
          </a:ln>
        </p:spPr>
      </p:sp>
      <p:sp>
        <p:nvSpPr>
          <p:cNvPr id="139" name="Shape 137"/>
          <p:cNvSpPr/>
          <p:nvPr/>
        </p:nvSpPr>
        <p:spPr>
          <a:xfrm flipV="1">
            <a:off x="4791456" y="2395728"/>
            <a:ext cx="91" cy="1901952"/>
          </a:xfrm>
          <a:prstGeom prst="line">
            <a:avLst/>
          </a:prstGeom>
          <a:noFill/>
          <a:ln w="12700">
            <a:solidFill>
              <a:srgbClr val="6B7385"/>
            </a:solidFill>
            <a:prstDash val="dash"/>
          </a:ln>
        </p:spPr>
      </p:sp>
      <p:sp>
        <p:nvSpPr>
          <p:cNvPr id="140" name="Text 138"/>
          <p:cNvSpPr/>
          <p:nvPr/>
        </p:nvSpPr>
        <p:spPr>
          <a:xfrm>
            <a:off x="3602736" y="2212848"/>
            <a:ext cx="1188720" cy="256032"/>
          </a:xfrm>
          <a:prstGeom prst="rect">
            <a:avLst/>
          </a:prstGeom>
          <a:noFill/>
          <a:ln/>
        </p:spPr>
        <p:txBody>
          <a:bodyPr wrap="square" lIns="0" tIns="0" rIns="0" bIns="0" rtlCol="0" anchor="ctr"/>
          <a:lstStyle/>
          <a:p>
            <a:pPr algn="r" indent="0" marL="0">
              <a:buNone/>
            </a:pPr>
            <a:r>
              <a:rPr lang="en-US" sz="1050" b="1" dirty="0">
                <a:solidFill>
                  <a:srgbClr val="6B7385"/>
                </a:solidFill>
                <a:latin typeface="Calibri" pitchFamily="34" charset="0"/>
                <a:ea typeface="Calibri" pitchFamily="34" charset="-122"/>
                <a:cs typeface="Calibri" pitchFamily="34" charset="-120"/>
              </a:rPr>
              <a:t>≈ 0.6 V</a:t>
            </a:r>
            <a:endParaRPr lang="en-US" sz="1050" dirty="0"/>
          </a:p>
        </p:txBody>
      </p:sp>
      <p:sp>
        <p:nvSpPr>
          <p:cNvPr id="141" name="Text 139"/>
          <p:cNvSpPr/>
          <p:nvPr/>
        </p:nvSpPr>
        <p:spPr>
          <a:xfrm>
            <a:off x="1035558" y="3712464"/>
            <a:ext cx="2103120" cy="411480"/>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reverse: almost no current</a:t>
            </a:r>
            <a:endParaRPr lang="en-US" sz="1050" dirty="0"/>
          </a:p>
          <a:p>
            <a:pPr algn="l" indent="0" marL="0">
              <a:buNone/>
            </a:pPr>
            <a:r>
              <a:rPr lang="en-US" sz="1050" b="1" dirty="0">
                <a:solidFill>
                  <a:srgbClr val="C8414C"/>
                </a:solidFill>
                <a:latin typeface="Calibri" pitchFamily="34" charset="0"/>
                <a:ea typeface="Calibri" pitchFamily="34" charset="-122"/>
                <a:cs typeface="Calibri" pitchFamily="34" charset="-120"/>
              </a:rPr>
              <a:t>(very high resistance)</a:t>
            </a:r>
            <a:endParaRPr lang="en-US" sz="1050" dirty="0"/>
          </a:p>
        </p:txBody>
      </p:sp>
      <p:sp>
        <p:nvSpPr>
          <p:cNvPr id="142" name="Text 140"/>
          <p:cNvSpPr/>
          <p:nvPr/>
        </p:nvSpPr>
        <p:spPr>
          <a:xfrm>
            <a:off x="3458718" y="2980944"/>
            <a:ext cx="1463040" cy="411480"/>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forward: low</a:t>
            </a:r>
            <a:endParaRPr lang="en-US" sz="1050" dirty="0"/>
          </a:p>
          <a:p>
            <a:pPr algn="l" indent="0" marL="0">
              <a:buNone/>
            </a:pPr>
            <a:r>
              <a:rPr lang="en-US" sz="1050" b="1" dirty="0">
                <a:solidFill>
                  <a:srgbClr val="C8414C"/>
                </a:solidFill>
                <a:latin typeface="Calibri" pitchFamily="34" charset="0"/>
                <a:ea typeface="Calibri" pitchFamily="34" charset="-122"/>
                <a:cs typeface="Calibri" pitchFamily="34" charset="-120"/>
              </a:rPr>
              <a:t>resistance</a:t>
            </a:r>
            <a:endParaRPr lang="en-US" sz="1050" dirty="0"/>
          </a:p>
        </p:txBody>
      </p:sp>
      <p:sp>
        <p:nvSpPr>
          <p:cNvPr id="143" name="Shape 141"/>
          <p:cNvSpPr/>
          <p:nvPr/>
        </p:nvSpPr>
        <p:spPr>
          <a:xfrm>
            <a:off x="1156716" y="2468880"/>
            <a:ext cx="726948" cy="91"/>
          </a:xfrm>
          <a:prstGeom prst="line">
            <a:avLst/>
          </a:prstGeom>
          <a:noFill/>
          <a:ln w="19050">
            <a:solidFill>
              <a:srgbClr val="1A2340"/>
            </a:solidFill>
            <a:prstDash val="solid"/>
          </a:ln>
        </p:spPr>
      </p:sp>
      <p:sp>
        <p:nvSpPr>
          <p:cNvPr id="144" name="Shape 142"/>
          <p:cNvSpPr/>
          <p:nvPr/>
        </p:nvSpPr>
        <p:spPr>
          <a:xfrm>
            <a:off x="1883664" y="2468880"/>
            <a:ext cx="726948" cy="91"/>
          </a:xfrm>
          <a:prstGeom prst="line">
            <a:avLst/>
          </a:prstGeom>
          <a:noFill/>
          <a:ln w="19050">
            <a:solidFill>
              <a:srgbClr val="1A2340"/>
            </a:solidFill>
            <a:prstDash val="solid"/>
          </a:ln>
        </p:spPr>
      </p:sp>
      <p:sp>
        <p:nvSpPr>
          <p:cNvPr id="145" name="Shape 143"/>
          <p:cNvSpPr/>
          <p:nvPr/>
        </p:nvSpPr>
        <p:spPr>
          <a:xfrm rot="5400000">
            <a:off x="1751076" y="2363724"/>
            <a:ext cx="256032" cy="210312"/>
          </a:xfrm>
          <a:prstGeom prst="triangle">
            <a:avLst/>
          </a:prstGeom>
          <a:solidFill>
            <a:srgbClr val="1A2340"/>
          </a:solidFill>
          <a:ln w="12700">
            <a:solidFill>
              <a:srgbClr val="1A2340"/>
            </a:solidFill>
            <a:prstDash val="solid"/>
          </a:ln>
        </p:spPr>
      </p:sp>
      <p:sp>
        <p:nvSpPr>
          <p:cNvPr id="146" name="Shape 144"/>
          <p:cNvSpPr/>
          <p:nvPr/>
        </p:nvSpPr>
        <p:spPr>
          <a:xfrm>
            <a:off x="1984248" y="2340864"/>
            <a:ext cx="91" cy="256032"/>
          </a:xfrm>
          <a:prstGeom prst="line">
            <a:avLst/>
          </a:prstGeom>
          <a:noFill/>
          <a:ln w="25400">
            <a:solidFill>
              <a:srgbClr val="1A2340"/>
            </a:solidFill>
            <a:prstDash val="solid"/>
          </a:ln>
        </p:spPr>
      </p:sp>
      <p:sp>
        <p:nvSpPr>
          <p:cNvPr id="147" name="Text 145"/>
          <p:cNvSpPr/>
          <p:nvPr/>
        </p:nvSpPr>
        <p:spPr>
          <a:xfrm>
            <a:off x="1335024" y="2075688"/>
            <a:ext cx="109728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forward →</a:t>
            </a:r>
            <a:endParaRPr lang="en-US" sz="1050" dirty="0"/>
          </a:p>
        </p:txBody>
      </p:sp>
      <p:sp>
        <p:nvSpPr>
          <p:cNvPr id="148" name="Shape 14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49" name="Text 1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 one-way valve for current</a:t>
            </a:r>
            <a:endParaRPr lang="en-US" sz="1300" dirty="0"/>
          </a:p>
        </p:txBody>
      </p:sp>
      <p:sp>
        <p:nvSpPr>
          <p:cNvPr id="150" name="Text 14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the </a:t>
            </a:r>
            <a:r>
              <a:rPr lang="en-US" sz="1150" b="1" dirty="0">
                <a:solidFill>
                  <a:srgbClr val="262B3A"/>
                </a:solidFill>
                <a:latin typeface="Calibri" pitchFamily="34" charset="0"/>
                <a:ea typeface="Calibri" pitchFamily="34" charset="-122"/>
                <a:cs typeface="Calibri" pitchFamily="34" charset="-120"/>
              </a:rPr>
              <a:t>reverse</a:t>
            </a:r>
            <a:r>
              <a:rPr lang="en-US" sz="1150" dirty="0">
                <a:solidFill>
                  <a:srgbClr val="262B3A"/>
                </a:solidFill>
                <a:latin typeface="Calibri" pitchFamily="34" charset="0"/>
                <a:ea typeface="Calibri" pitchFamily="34" charset="-122"/>
                <a:cs typeface="Calibri" pitchFamily="34" charset="-120"/>
              </a:rPr>
              <a:t> direction the diode has a </a:t>
            </a:r>
            <a:r>
              <a:rPr lang="en-US" sz="1150" b="1" dirty="0">
                <a:solidFill>
                  <a:srgbClr val="262B3A"/>
                </a:solidFill>
                <a:latin typeface="Calibri" pitchFamily="34" charset="0"/>
                <a:ea typeface="Calibri" pitchFamily="34" charset="-122"/>
                <a:cs typeface="Calibri" pitchFamily="34" charset="-120"/>
              </a:rPr>
              <a:t>very high resistance</a:t>
            </a:r>
            <a:r>
              <a:rPr lang="en-US" sz="1150" dirty="0">
                <a:solidFill>
                  <a:srgbClr val="262B3A"/>
                </a:solidFill>
                <a:latin typeface="Calibri" pitchFamily="34" charset="0"/>
                <a:ea typeface="Calibri" pitchFamily="34" charset="-122"/>
                <a:cs typeface="Calibri" pitchFamily="34" charset="-120"/>
              </a:rPr>
              <a:t>: almost </a:t>
            </a:r>
            <a:r>
              <a:rPr lang="en-US" sz="1150" b="1" dirty="0">
                <a:solidFill>
                  <a:srgbClr val="262B3A"/>
                </a:solidFill>
                <a:latin typeface="Calibri" pitchFamily="34" charset="0"/>
                <a:ea typeface="Calibri" pitchFamily="34" charset="-122"/>
                <a:cs typeface="Calibri" pitchFamily="34" charset="-120"/>
              </a:rPr>
              <a:t>no current</a:t>
            </a:r>
            <a:r>
              <a:rPr lang="en-US" sz="1150" dirty="0">
                <a:solidFill>
                  <a:srgbClr val="262B3A"/>
                </a:solidFill>
                <a:latin typeface="Calibri" pitchFamily="34" charset="0"/>
                <a:ea typeface="Calibri" pitchFamily="34" charset="-122"/>
                <a:cs typeface="Calibri" pitchFamily="34" charset="-120"/>
              </a:rPr>
              <a:t> flows.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the </a:t>
            </a:r>
            <a:r>
              <a:rPr lang="en-US" sz="1150" b="1" dirty="0">
                <a:solidFill>
                  <a:srgbClr val="262B3A"/>
                </a:solidFill>
                <a:latin typeface="Calibri" pitchFamily="34" charset="0"/>
                <a:ea typeface="Calibri" pitchFamily="34" charset="-122"/>
                <a:cs typeface="Calibri" pitchFamily="34" charset="-120"/>
              </a:rPr>
              <a:t>forward</a:t>
            </a:r>
            <a:r>
              <a:rPr lang="en-US" sz="1150" dirty="0">
                <a:solidFill>
                  <a:srgbClr val="262B3A"/>
                </a:solidFill>
                <a:latin typeface="Calibri" pitchFamily="34" charset="0"/>
                <a:ea typeface="Calibri" pitchFamily="34" charset="-122"/>
                <a:cs typeface="Calibri" pitchFamily="34" charset="-120"/>
              </a:rPr>
              <a:t> direction there is very little current until about </a:t>
            </a:r>
            <a:r>
              <a:rPr lang="en-US" sz="1150" b="1" dirty="0">
                <a:solidFill>
                  <a:srgbClr val="262B3A"/>
                </a:solidFill>
                <a:latin typeface="Calibri" pitchFamily="34" charset="0"/>
                <a:ea typeface="Calibri" pitchFamily="34" charset="-122"/>
                <a:cs typeface="Calibri" pitchFamily="34" charset="-120"/>
              </a:rPr>
              <a:t>0.6 V</a:t>
            </a:r>
            <a:r>
              <a:rPr lang="en-US" sz="1150" dirty="0">
                <a:solidFill>
                  <a:srgbClr val="262B3A"/>
                </a:solidFill>
                <a:latin typeface="Calibri" pitchFamily="34" charset="0"/>
                <a:ea typeface="Calibri" pitchFamily="34" charset="-122"/>
                <a:cs typeface="Calibri" pitchFamily="34" charset="-120"/>
              </a:rPr>
              <a:t>; then the current </a:t>
            </a:r>
            <a:r>
              <a:rPr lang="en-US" sz="1150" b="1" dirty="0">
                <a:solidFill>
                  <a:srgbClr val="262B3A"/>
                </a:solidFill>
                <a:latin typeface="Calibri" pitchFamily="34" charset="0"/>
                <a:ea typeface="Calibri" pitchFamily="34" charset="-122"/>
                <a:cs typeface="Calibri" pitchFamily="34" charset="-120"/>
              </a:rPr>
              <a:t>rises steeply</a:t>
            </a:r>
            <a:r>
              <a:rPr lang="en-US" sz="1150" dirty="0">
                <a:solidFill>
                  <a:srgbClr val="262B3A"/>
                </a:solidFill>
                <a:latin typeface="Calibri" pitchFamily="34" charset="0"/>
                <a:ea typeface="Calibri" pitchFamily="34" charset="-122"/>
                <a:cs typeface="Calibri" pitchFamily="34" charset="-120"/>
              </a:rPr>
              <a:t> – the resistance becomes </a:t>
            </a:r>
            <a:r>
              <a:rPr lang="en-US" sz="1150" b="1" dirty="0">
                <a:solidFill>
                  <a:srgbClr val="262B3A"/>
                </a:solidFill>
                <a:latin typeface="Calibri" pitchFamily="34" charset="0"/>
                <a:ea typeface="Calibri" pitchFamily="34" charset="-122"/>
                <a:cs typeface="Calibri" pitchFamily="34" charset="-120"/>
              </a:rPr>
              <a:t>low</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Uses: protecting circuits from a battery connected the wrong way; changing a.c. into d.c.</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t>
            </a:r>
            <a:r>
              <a:rPr lang="en-US" sz="1150" b="1" dirty="0">
                <a:solidFill>
                  <a:srgbClr val="262B3A"/>
                </a:solidFill>
                <a:latin typeface="Calibri" pitchFamily="34" charset="0"/>
                <a:ea typeface="Calibri" pitchFamily="34" charset="-122"/>
                <a:cs typeface="Calibri" pitchFamily="34" charset="-120"/>
              </a:rPr>
              <a:t>LED</a:t>
            </a:r>
            <a:r>
              <a:rPr lang="en-US" sz="1150" dirty="0">
                <a:solidFill>
                  <a:srgbClr val="262B3A"/>
                </a:solidFill>
                <a:latin typeface="Calibri" pitchFamily="34" charset="0"/>
                <a:ea typeface="Calibri" pitchFamily="34" charset="-122"/>
                <a:cs typeface="Calibri" pitchFamily="34" charset="-120"/>
              </a:rPr>
              <a:t> is a diode that gives out light when a forward current flows.</a:t>
            </a:r>
            <a:endParaRPr lang="en-US" sz="1150" dirty="0"/>
          </a:p>
        </p:txBody>
      </p:sp>
      <p:sp>
        <p:nvSpPr>
          <p:cNvPr id="151" name="Shape 14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52" name="Text 15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Compare the three graphs</a:t>
            </a:r>
            <a:endParaRPr lang="en-US" sz="1300" dirty="0"/>
          </a:p>
        </p:txBody>
      </p:sp>
      <p:sp>
        <p:nvSpPr>
          <p:cNvPr id="153" name="Text 15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Which component…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Constant R   </a:t>
            </a:r>
            <a:r>
              <a:rPr lang="en-US" sz="1100" dirty="0">
                <a:solidFill>
                  <a:srgbClr val="262B3A"/>
                </a:solidFill>
                <a:latin typeface="Calibri" pitchFamily="34" charset="0"/>
                <a:ea typeface="Calibri" pitchFamily="34" charset="-122"/>
                <a:cs typeface="Calibri" pitchFamily="34" charset="-120"/>
              </a:rPr>
              <a:t>fixed resistor: straight line through origin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 rises with I   </a:t>
            </a:r>
            <a:r>
              <a:rPr lang="en-US" sz="1100" dirty="0">
                <a:solidFill>
                  <a:srgbClr val="262B3A"/>
                </a:solidFill>
                <a:latin typeface="Calibri" pitchFamily="34" charset="0"/>
                <a:ea typeface="Calibri" pitchFamily="34" charset="-122"/>
                <a:cs typeface="Calibri" pitchFamily="34" charset="-120"/>
              </a:rPr>
              <a:t>filament lamp: S-curve that flattens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One direction   </a:t>
            </a:r>
            <a:r>
              <a:rPr lang="en-US" sz="1100" dirty="0">
                <a:solidFill>
                  <a:srgbClr val="262B3A"/>
                </a:solidFill>
                <a:latin typeface="Calibri" pitchFamily="34" charset="0"/>
                <a:ea typeface="Calibri" pitchFamily="34" charset="-122"/>
                <a:cs typeface="Calibri" pitchFamily="34" charset="-120"/>
              </a:rPr>
              <a:t>diode: zero in reverse, steep after ≈ 0.6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R = V ÷ I at each point tells you the resistance</a:t>
            </a:r>
            <a:endParaRPr lang="en-US" sz="1100" dirty="0"/>
          </a:p>
        </p:txBody>
      </p:sp>
      <p:sp>
        <p:nvSpPr>
          <p:cNvPr id="154" name="Shape 152"/>
          <p:cNvSpPr/>
          <p:nvPr/>
        </p:nvSpPr>
        <p:spPr>
          <a:xfrm>
            <a:off x="411480" y="5833872"/>
            <a:ext cx="11368735" cy="530352"/>
          </a:xfrm>
          <a:prstGeom prst="rect">
            <a:avLst/>
          </a:prstGeom>
          <a:solidFill>
            <a:srgbClr val="FFF4E0"/>
          </a:solidFill>
          <a:ln w="6350">
            <a:solidFill>
              <a:srgbClr val="F1D9A8"/>
            </a:solidFill>
            <a:prstDash val="solid"/>
          </a:ln>
        </p:spPr>
      </p:sp>
      <p:sp>
        <p:nvSpPr>
          <p:cNvPr id="155" name="Shape 153"/>
          <p:cNvSpPr/>
          <p:nvPr/>
        </p:nvSpPr>
        <p:spPr>
          <a:xfrm>
            <a:off x="411480" y="5833872"/>
            <a:ext cx="82296" cy="530352"/>
          </a:xfrm>
          <a:prstGeom prst="rect">
            <a:avLst/>
          </a:prstGeom>
          <a:solidFill>
            <a:srgbClr val="E39A2F"/>
          </a:solidFill>
          <a:ln w="12700">
            <a:solidFill>
              <a:srgbClr val="E39A2F"/>
            </a:solidFill>
            <a:prstDash val="solid"/>
          </a:ln>
        </p:spPr>
      </p:sp>
      <p:sp>
        <p:nvSpPr>
          <p:cNvPr id="156" name="Text 1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Describe what happens to the current through a diode when the p.d. across it is reversed. What does this tell you about its resistance?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Sensors: LDRs and thermistors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10.19, 10.20 • resistance that depends on light or temperature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10.19  |  24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typical curves, drawn to scale for one LDR and one NTC thermistor</a:t>
            </a:r>
            <a:endParaRPr lang="en-US" sz="1000" dirty="0"/>
          </a:p>
        </p:txBody>
      </p:sp>
      <p:sp>
        <p:nvSpPr>
          <p:cNvPr id="10" name="Shape 8"/>
          <p:cNvSpPr/>
          <p:nvPr/>
        </p:nvSpPr>
        <p:spPr>
          <a:xfrm>
            <a:off x="1188720" y="1463040"/>
            <a:ext cx="1783080" cy="2377440"/>
          </a:xfrm>
          <a:prstGeom prst="rect">
            <a:avLst/>
          </a:prstGeom>
          <a:solidFill>
            <a:srgbClr val="FFFFFF"/>
          </a:solidFill>
          <a:ln/>
        </p:spPr>
      </p:sp>
      <p:sp>
        <p:nvSpPr>
          <p:cNvPr id="11" name="Shape 9"/>
          <p:cNvSpPr/>
          <p:nvPr/>
        </p:nvSpPr>
        <p:spPr>
          <a:xfrm>
            <a:off x="1188720" y="1463040"/>
            <a:ext cx="91" cy="2377440"/>
          </a:xfrm>
          <a:prstGeom prst="line">
            <a:avLst/>
          </a:prstGeom>
          <a:noFill/>
          <a:ln w="6350">
            <a:solidFill>
              <a:srgbClr val="C9D3E6"/>
            </a:solidFill>
            <a:prstDash val="solid"/>
          </a:ln>
        </p:spPr>
      </p:sp>
      <p:sp>
        <p:nvSpPr>
          <p:cNvPr id="12" name="Shape 10"/>
          <p:cNvSpPr/>
          <p:nvPr/>
        </p:nvSpPr>
        <p:spPr>
          <a:xfrm>
            <a:off x="1634490" y="1463040"/>
            <a:ext cx="91" cy="2377440"/>
          </a:xfrm>
          <a:prstGeom prst="line">
            <a:avLst/>
          </a:prstGeom>
          <a:noFill/>
          <a:ln w="6350">
            <a:solidFill>
              <a:srgbClr val="C9D3E6"/>
            </a:solidFill>
            <a:prstDash val="solid"/>
          </a:ln>
        </p:spPr>
      </p:sp>
      <p:sp>
        <p:nvSpPr>
          <p:cNvPr id="13" name="Shape 11"/>
          <p:cNvSpPr/>
          <p:nvPr/>
        </p:nvSpPr>
        <p:spPr>
          <a:xfrm>
            <a:off x="2080260" y="1463040"/>
            <a:ext cx="91" cy="2377440"/>
          </a:xfrm>
          <a:prstGeom prst="line">
            <a:avLst/>
          </a:prstGeom>
          <a:noFill/>
          <a:ln w="6350">
            <a:solidFill>
              <a:srgbClr val="C9D3E6"/>
            </a:solidFill>
            <a:prstDash val="solid"/>
          </a:ln>
        </p:spPr>
      </p:sp>
      <p:sp>
        <p:nvSpPr>
          <p:cNvPr id="14" name="Shape 12"/>
          <p:cNvSpPr/>
          <p:nvPr/>
        </p:nvSpPr>
        <p:spPr>
          <a:xfrm>
            <a:off x="2526030" y="1463040"/>
            <a:ext cx="91" cy="2377440"/>
          </a:xfrm>
          <a:prstGeom prst="line">
            <a:avLst/>
          </a:prstGeom>
          <a:noFill/>
          <a:ln w="6350">
            <a:solidFill>
              <a:srgbClr val="C9D3E6"/>
            </a:solidFill>
            <a:prstDash val="solid"/>
          </a:ln>
        </p:spPr>
      </p:sp>
      <p:sp>
        <p:nvSpPr>
          <p:cNvPr id="15" name="Shape 13"/>
          <p:cNvSpPr/>
          <p:nvPr/>
        </p:nvSpPr>
        <p:spPr>
          <a:xfrm>
            <a:off x="2971800" y="1463040"/>
            <a:ext cx="91" cy="2377440"/>
          </a:xfrm>
          <a:prstGeom prst="line">
            <a:avLst/>
          </a:prstGeom>
          <a:noFill/>
          <a:ln w="6350">
            <a:solidFill>
              <a:srgbClr val="C9D3E6"/>
            </a:solidFill>
            <a:prstDash val="solid"/>
          </a:ln>
        </p:spPr>
      </p:sp>
      <p:sp>
        <p:nvSpPr>
          <p:cNvPr id="16" name="Shape 14"/>
          <p:cNvSpPr/>
          <p:nvPr/>
        </p:nvSpPr>
        <p:spPr>
          <a:xfrm>
            <a:off x="1188720" y="3840480"/>
            <a:ext cx="1783080" cy="91"/>
          </a:xfrm>
          <a:prstGeom prst="line">
            <a:avLst/>
          </a:prstGeom>
          <a:noFill/>
          <a:ln w="6350">
            <a:solidFill>
              <a:srgbClr val="C9D3E6"/>
            </a:solidFill>
            <a:prstDash val="solid"/>
          </a:ln>
        </p:spPr>
      </p:sp>
      <p:sp>
        <p:nvSpPr>
          <p:cNvPr id="17" name="Shape 15"/>
          <p:cNvSpPr/>
          <p:nvPr/>
        </p:nvSpPr>
        <p:spPr>
          <a:xfrm>
            <a:off x="1188720" y="3364992"/>
            <a:ext cx="1783080" cy="91"/>
          </a:xfrm>
          <a:prstGeom prst="line">
            <a:avLst/>
          </a:prstGeom>
          <a:noFill/>
          <a:ln w="6350">
            <a:solidFill>
              <a:srgbClr val="C9D3E6"/>
            </a:solidFill>
            <a:prstDash val="solid"/>
          </a:ln>
        </p:spPr>
      </p:sp>
      <p:sp>
        <p:nvSpPr>
          <p:cNvPr id="18" name="Shape 16"/>
          <p:cNvSpPr/>
          <p:nvPr/>
        </p:nvSpPr>
        <p:spPr>
          <a:xfrm>
            <a:off x="1188720" y="2889504"/>
            <a:ext cx="1783080" cy="91"/>
          </a:xfrm>
          <a:prstGeom prst="line">
            <a:avLst/>
          </a:prstGeom>
          <a:noFill/>
          <a:ln w="6350">
            <a:solidFill>
              <a:srgbClr val="C9D3E6"/>
            </a:solidFill>
            <a:prstDash val="solid"/>
          </a:ln>
        </p:spPr>
      </p:sp>
      <p:sp>
        <p:nvSpPr>
          <p:cNvPr id="19" name="Shape 17"/>
          <p:cNvSpPr/>
          <p:nvPr/>
        </p:nvSpPr>
        <p:spPr>
          <a:xfrm>
            <a:off x="1188720" y="2414016"/>
            <a:ext cx="1783080" cy="91"/>
          </a:xfrm>
          <a:prstGeom prst="line">
            <a:avLst/>
          </a:prstGeom>
          <a:noFill/>
          <a:ln w="6350">
            <a:solidFill>
              <a:srgbClr val="C9D3E6"/>
            </a:solidFill>
            <a:prstDash val="solid"/>
          </a:ln>
        </p:spPr>
      </p:sp>
      <p:sp>
        <p:nvSpPr>
          <p:cNvPr id="20" name="Shape 18"/>
          <p:cNvSpPr/>
          <p:nvPr/>
        </p:nvSpPr>
        <p:spPr>
          <a:xfrm>
            <a:off x="1188720" y="1938528"/>
            <a:ext cx="1783080" cy="91"/>
          </a:xfrm>
          <a:prstGeom prst="line">
            <a:avLst/>
          </a:prstGeom>
          <a:noFill/>
          <a:ln w="6350">
            <a:solidFill>
              <a:srgbClr val="C9D3E6"/>
            </a:solidFill>
            <a:prstDash val="solid"/>
          </a:ln>
        </p:spPr>
      </p:sp>
      <p:sp>
        <p:nvSpPr>
          <p:cNvPr id="21" name="Shape 19"/>
          <p:cNvSpPr/>
          <p:nvPr/>
        </p:nvSpPr>
        <p:spPr>
          <a:xfrm>
            <a:off x="1188720" y="1463040"/>
            <a:ext cx="1783080" cy="91"/>
          </a:xfrm>
          <a:prstGeom prst="line">
            <a:avLst/>
          </a:prstGeom>
          <a:noFill/>
          <a:ln w="6350">
            <a:solidFill>
              <a:srgbClr val="C9D3E6"/>
            </a:solidFill>
            <a:prstDash val="solid"/>
          </a:ln>
        </p:spPr>
      </p:sp>
      <p:sp>
        <p:nvSpPr>
          <p:cNvPr id="22" name="Shape 20"/>
          <p:cNvSpPr/>
          <p:nvPr/>
        </p:nvSpPr>
        <p:spPr>
          <a:xfrm>
            <a:off x="1188720" y="3840480"/>
            <a:ext cx="1783080" cy="91"/>
          </a:xfrm>
          <a:prstGeom prst="line">
            <a:avLst/>
          </a:prstGeom>
          <a:noFill/>
          <a:ln w="19050">
            <a:solidFill>
              <a:srgbClr val="1A2340"/>
            </a:solidFill>
            <a:prstDash val="solid"/>
          </a:ln>
        </p:spPr>
      </p:sp>
      <p:sp>
        <p:nvSpPr>
          <p:cNvPr id="23" name="Shape 21"/>
          <p:cNvSpPr/>
          <p:nvPr/>
        </p:nvSpPr>
        <p:spPr>
          <a:xfrm flipV="1">
            <a:off x="1188720" y="1463040"/>
            <a:ext cx="91" cy="2377440"/>
          </a:xfrm>
          <a:prstGeom prst="line">
            <a:avLst/>
          </a:prstGeom>
          <a:noFill/>
          <a:ln w="19050">
            <a:solidFill>
              <a:srgbClr val="1A2340"/>
            </a:solidFill>
            <a:prstDash val="solid"/>
          </a:ln>
        </p:spPr>
      </p:sp>
      <p:sp>
        <p:nvSpPr>
          <p:cNvPr id="24" name="Shape 22"/>
          <p:cNvSpPr/>
          <p:nvPr/>
        </p:nvSpPr>
        <p:spPr>
          <a:xfrm>
            <a:off x="1188720" y="3840480"/>
            <a:ext cx="91" cy="54864"/>
          </a:xfrm>
          <a:prstGeom prst="line">
            <a:avLst/>
          </a:prstGeom>
          <a:noFill/>
          <a:ln w="12700">
            <a:solidFill>
              <a:srgbClr val="1A2340"/>
            </a:solidFill>
            <a:prstDash val="solid"/>
          </a:ln>
        </p:spPr>
      </p:sp>
      <p:sp>
        <p:nvSpPr>
          <p:cNvPr id="25" name="Text 23"/>
          <p:cNvSpPr/>
          <p:nvPr/>
        </p:nvSpPr>
        <p:spPr>
          <a:xfrm>
            <a:off x="91440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6" name="Shape 24"/>
          <p:cNvSpPr/>
          <p:nvPr/>
        </p:nvSpPr>
        <p:spPr>
          <a:xfrm>
            <a:off x="1634490" y="3840480"/>
            <a:ext cx="91" cy="54864"/>
          </a:xfrm>
          <a:prstGeom prst="line">
            <a:avLst/>
          </a:prstGeom>
          <a:noFill/>
          <a:ln w="12700">
            <a:solidFill>
              <a:srgbClr val="1A2340"/>
            </a:solidFill>
            <a:prstDash val="solid"/>
          </a:ln>
        </p:spPr>
      </p:sp>
      <p:sp>
        <p:nvSpPr>
          <p:cNvPr id="27" name="Text 25"/>
          <p:cNvSpPr/>
          <p:nvPr/>
        </p:nvSpPr>
        <p:spPr>
          <a:xfrm>
            <a:off x="136017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28" name="Shape 26"/>
          <p:cNvSpPr/>
          <p:nvPr/>
        </p:nvSpPr>
        <p:spPr>
          <a:xfrm>
            <a:off x="2080260" y="3840480"/>
            <a:ext cx="91" cy="54864"/>
          </a:xfrm>
          <a:prstGeom prst="line">
            <a:avLst/>
          </a:prstGeom>
          <a:noFill/>
          <a:ln w="12700">
            <a:solidFill>
              <a:srgbClr val="1A2340"/>
            </a:solidFill>
            <a:prstDash val="solid"/>
          </a:ln>
        </p:spPr>
      </p:sp>
      <p:sp>
        <p:nvSpPr>
          <p:cNvPr id="29" name="Text 27"/>
          <p:cNvSpPr/>
          <p:nvPr/>
        </p:nvSpPr>
        <p:spPr>
          <a:xfrm>
            <a:off x="180594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500</a:t>
            </a:r>
            <a:endParaRPr lang="en-US" sz="1000" dirty="0"/>
          </a:p>
        </p:txBody>
      </p:sp>
      <p:sp>
        <p:nvSpPr>
          <p:cNvPr id="30" name="Shape 28"/>
          <p:cNvSpPr/>
          <p:nvPr/>
        </p:nvSpPr>
        <p:spPr>
          <a:xfrm>
            <a:off x="2526030" y="3840480"/>
            <a:ext cx="91" cy="54864"/>
          </a:xfrm>
          <a:prstGeom prst="line">
            <a:avLst/>
          </a:prstGeom>
          <a:noFill/>
          <a:ln w="12700">
            <a:solidFill>
              <a:srgbClr val="1A2340"/>
            </a:solidFill>
            <a:prstDash val="solid"/>
          </a:ln>
        </p:spPr>
      </p:sp>
      <p:sp>
        <p:nvSpPr>
          <p:cNvPr id="31" name="Text 29"/>
          <p:cNvSpPr/>
          <p:nvPr/>
        </p:nvSpPr>
        <p:spPr>
          <a:xfrm>
            <a:off x="225171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750</a:t>
            </a:r>
            <a:endParaRPr lang="en-US" sz="1000" dirty="0"/>
          </a:p>
        </p:txBody>
      </p:sp>
      <p:sp>
        <p:nvSpPr>
          <p:cNvPr id="32" name="Shape 30"/>
          <p:cNvSpPr/>
          <p:nvPr/>
        </p:nvSpPr>
        <p:spPr>
          <a:xfrm>
            <a:off x="2971800" y="3840480"/>
            <a:ext cx="91" cy="54864"/>
          </a:xfrm>
          <a:prstGeom prst="line">
            <a:avLst/>
          </a:prstGeom>
          <a:noFill/>
          <a:ln w="12700">
            <a:solidFill>
              <a:srgbClr val="1A2340"/>
            </a:solidFill>
            <a:prstDash val="solid"/>
          </a:ln>
        </p:spPr>
      </p:sp>
      <p:sp>
        <p:nvSpPr>
          <p:cNvPr id="33" name="Text 31"/>
          <p:cNvSpPr/>
          <p:nvPr/>
        </p:nvSpPr>
        <p:spPr>
          <a:xfrm>
            <a:off x="269748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1000</a:t>
            </a:r>
            <a:endParaRPr lang="en-US" sz="1000" dirty="0"/>
          </a:p>
        </p:txBody>
      </p:sp>
      <p:sp>
        <p:nvSpPr>
          <p:cNvPr id="34" name="Shape 32"/>
          <p:cNvSpPr/>
          <p:nvPr/>
        </p:nvSpPr>
        <p:spPr>
          <a:xfrm>
            <a:off x="1133856" y="3840480"/>
            <a:ext cx="54864" cy="91"/>
          </a:xfrm>
          <a:prstGeom prst="line">
            <a:avLst/>
          </a:prstGeom>
          <a:noFill/>
          <a:ln w="12700">
            <a:solidFill>
              <a:srgbClr val="1A2340"/>
            </a:solidFill>
            <a:prstDash val="solid"/>
          </a:ln>
        </p:spPr>
      </p:sp>
      <p:sp>
        <p:nvSpPr>
          <p:cNvPr id="35" name="Text 33"/>
          <p:cNvSpPr/>
          <p:nvPr/>
        </p:nvSpPr>
        <p:spPr>
          <a:xfrm>
            <a:off x="749808" y="37490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6" name="Shape 34"/>
          <p:cNvSpPr/>
          <p:nvPr/>
        </p:nvSpPr>
        <p:spPr>
          <a:xfrm>
            <a:off x="1133856" y="3364992"/>
            <a:ext cx="54864" cy="91"/>
          </a:xfrm>
          <a:prstGeom prst="line">
            <a:avLst/>
          </a:prstGeom>
          <a:noFill/>
          <a:ln w="12700">
            <a:solidFill>
              <a:srgbClr val="1A2340"/>
            </a:solidFill>
            <a:prstDash val="solid"/>
          </a:ln>
        </p:spPr>
      </p:sp>
      <p:sp>
        <p:nvSpPr>
          <p:cNvPr id="37" name="Text 35"/>
          <p:cNvSpPr/>
          <p:nvPr/>
        </p:nvSpPr>
        <p:spPr>
          <a:xfrm>
            <a:off x="749808" y="32735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38" name="Shape 36"/>
          <p:cNvSpPr/>
          <p:nvPr/>
        </p:nvSpPr>
        <p:spPr>
          <a:xfrm>
            <a:off x="1133856" y="2889504"/>
            <a:ext cx="54864" cy="91"/>
          </a:xfrm>
          <a:prstGeom prst="line">
            <a:avLst/>
          </a:prstGeom>
          <a:noFill/>
          <a:ln w="12700">
            <a:solidFill>
              <a:srgbClr val="1A2340"/>
            </a:solidFill>
            <a:prstDash val="solid"/>
          </a:ln>
        </p:spPr>
      </p:sp>
      <p:sp>
        <p:nvSpPr>
          <p:cNvPr id="39" name="Text 37"/>
          <p:cNvSpPr/>
          <p:nvPr/>
        </p:nvSpPr>
        <p:spPr>
          <a:xfrm>
            <a:off x="749808" y="279806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0" name="Shape 38"/>
          <p:cNvSpPr/>
          <p:nvPr/>
        </p:nvSpPr>
        <p:spPr>
          <a:xfrm>
            <a:off x="1133856" y="2414016"/>
            <a:ext cx="54864" cy="91"/>
          </a:xfrm>
          <a:prstGeom prst="line">
            <a:avLst/>
          </a:prstGeom>
          <a:noFill/>
          <a:ln w="12700">
            <a:solidFill>
              <a:srgbClr val="1A2340"/>
            </a:solidFill>
            <a:prstDash val="solid"/>
          </a:ln>
        </p:spPr>
      </p:sp>
      <p:sp>
        <p:nvSpPr>
          <p:cNvPr id="41" name="Text 39"/>
          <p:cNvSpPr/>
          <p:nvPr/>
        </p:nvSpPr>
        <p:spPr>
          <a:xfrm>
            <a:off x="749808" y="232257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2" name="Shape 40"/>
          <p:cNvSpPr/>
          <p:nvPr/>
        </p:nvSpPr>
        <p:spPr>
          <a:xfrm>
            <a:off x="1133856" y="1938528"/>
            <a:ext cx="54864" cy="91"/>
          </a:xfrm>
          <a:prstGeom prst="line">
            <a:avLst/>
          </a:prstGeom>
          <a:noFill/>
          <a:ln w="12700">
            <a:solidFill>
              <a:srgbClr val="1A2340"/>
            </a:solidFill>
            <a:prstDash val="solid"/>
          </a:ln>
        </p:spPr>
      </p:sp>
      <p:sp>
        <p:nvSpPr>
          <p:cNvPr id="43" name="Text 41"/>
          <p:cNvSpPr/>
          <p:nvPr/>
        </p:nvSpPr>
        <p:spPr>
          <a:xfrm>
            <a:off x="749808" y="184708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4" name="Shape 42"/>
          <p:cNvSpPr/>
          <p:nvPr/>
        </p:nvSpPr>
        <p:spPr>
          <a:xfrm>
            <a:off x="1133856" y="1463040"/>
            <a:ext cx="54864" cy="91"/>
          </a:xfrm>
          <a:prstGeom prst="line">
            <a:avLst/>
          </a:prstGeom>
          <a:noFill/>
          <a:ln w="12700">
            <a:solidFill>
              <a:srgbClr val="1A2340"/>
            </a:solidFill>
            <a:prstDash val="solid"/>
          </a:ln>
        </p:spPr>
      </p:sp>
      <p:sp>
        <p:nvSpPr>
          <p:cNvPr id="45" name="Text 43"/>
          <p:cNvSpPr/>
          <p:nvPr/>
        </p:nvSpPr>
        <p:spPr>
          <a:xfrm>
            <a:off x="74980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6" name="Text 44"/>
          <p:cNvSpPr/>
          <p:nvPr/>
        </p:nvSpPr>
        <p:spPr>
          <a:xfrm>
            <a:off x="1188720" y="4087368"/>
            <a:ext cx="1783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light intensity / lux</a:t>
            </a:r>
            <a:endParaRPr lang="en-US" sz="1050" dirty="0"/>
          </a:p>
        </p:txBody>
      </p:sp>
      <p:sp>
        <p:nvSpPr>
          <p:cNvPr id="47" name="Text 45"/>
          <p:cNvSpPr/>
          <p:nvPr/>
        </p:nvSpPr>
        <p:spPr>
          <a:xfrm rot="16200000">
            <a:off x="-566928" y="2523744"/>
            <a:ext cx="23774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resistance / kΩ</a:t>
            </a:r>
            <a:endParaRPr lang="en-US" sz="1050" dirty="0"/>
          </a:p>
        </p:txBody>
      </p:sp>
      <p:sp>
        <p:nvSpPr>
          <p:cNvPr id="48" name="Shape 46"/>
          <p:cNvSpPr/>
          <p:nvPr/>
        </p:nvSpPr>
        <p:spPr>
          <a:xfrm>
            <a:off x="1206551" y="1943033"/>
            <a:ext cx="29421" cy="938272"/>
          </a:xfrm>
          <a:prstGeom prst="line">
            <a:avLst/>
          </a:prstGeom>
          <a:noFill/>
          <a:ln w="31750">
            <a:solidFill>
              <a:srgbClr val="2E5BD8"/>
            </a:solidFill>
            <a:prstDash val="solid"/>
          </a:ln>
        </p:spPr>
      </p:sp>
      <p:sp>
        <p:nvSpPr>
          <p:cNvPr id="49" name="Shape 47"/>
          <p:cNvSpPr/>
          <p:nvPr/>
        </p:nvSpPr>
        <p:spPr>
          <a:xfrm>
            <a:off x="1235972" y="2881306"/>
            <a:ext cx="29421" cy="275669"/>
          </a:xfrm>
          <a:prstGeom prst="line">
            <a:avLst/>
          </a:prstGeom>
          <a:noFill/>
          <a:ln w="31750">
            <a:solidFill>
              <a:srgbClr val="2E5BD8"/>
            </a:solidFill>
            <a:prstDash val="solid"/>
          </a:ln>
        </p:spPr>
      </p:sp>
      <p:sp>
        <p:nvSpPr>
          <p:cNvPr id="50" name="Shape 48"/>
          <p:cNvSpPr/>
          <p:nvPr/>
        </p:nvSpPr>
        <p:spPr>
          <a:xfrm>
            <a:off x="1265392" y="3156975"/>
            <a:ext cx="29421" cy="138993"/>
          </a:xfrm>
          <a:prstGeom prst="line">
            <a:avLst/>
          </a:prstGeom>
          <a:noFill/>
          <a:ln w="31750">
            <a:solidFill>
              <a:srgbClr val="2E5BD8"/>
            </a:solidFill>
            <a:prstDash val="solid"/>
          </a:ln>
        </p:spPr>
      </p:sp>
      <p:sp>
        <p:nvSpPr>
          <p:cNvPr id="51" name="Shape 49"/>
          <p:cNvSpPr/>
          <p:nvPr/>
        </p:nvSpPr>
        <p:spPr>
          <a:xfrm>
            <a:off x="1294813" y="3295968"/>
            <a:ext cx="29421" cy="85737"/>
          </a:xfrm>
          <a:prstGeom prst="line">
            <a:avLst/>
          </a:prstGeom>
          <a:noFill/>
          <a:ln w="31750">
            <a:solidFill>
              <a:srgbClr val="2E5BD8"/>
            </a:solidFill>
            <a:prstDash val="solid"/>
          </a:ln>
        </p:spPr>
      </p:sp>
      <p:sp>
        <p:nvSpPr>
          <p:cNvPr id="52" name="Shape 50"/>
          <p:cNvSpPr/>
          <p:nvPr/>
        </p:nvSpPr>
        <p:spPr>
          <a:xfrm>
            <a:off x="1324234" y="3381705"/>
            <a:ext cx="29421" cy="58950"/>
          </a:xfrm>
          <a:prstGeom prst="line">
            <a:avLst/>
          </a:prstGeom>
          <a:noFill/>
          <a:ln w="31750">
            <a:solidFill>
              <a:srgbClr val="2E5BD8"/>
            </a:solidFill>
            <a:prstDash val="solid"/>
          </a:ln>
        </p:spPr>
      </p:sp>
      <p:sp>
        <p:nvSpPr>
          <p:cNvPr id="53" name="Shape 51"/>
          <p:cNvSpPr/>
          <p:nvPr/>
        </p:nvSpPr>
        <p:spPr>
          <a:xfrm>
            <a:off x="1353655" y="3440655"/>
            <a:ext cx="29421" cy="43398"/>
          </a:xfrm>
          <a:prstGeom prst="line">
            <a:avLst/>
          </a:prstGeom>
          <a:noFill/>
          <a:ln w="31750">
            <a:solidFill>
              <a:srgbClr val="2E5BD8"/>
            </a:solidFill>
            <a:prstDash val="solid"/>
          </a:ln>
        </p:spPr>
      </p:sp>
      <p:sp>
        <p:nvSpPr>
          <p:cNvPr id="54" name="Shape 52"/>
          <p:cNvSpPr/>
          <p:nvPr/>
        </p:nvSpPr>
        <p:spPr>
          <a:xfrm>
            <a:off x="1383076" y="3484053"/>
            <a:ext cx="29421" cy="33489"/>
          </a:xfrm>
          <a:prstGeom prst="line">
            <a:avLst/>
          </a:prstGeom>
          <a:noFill/>
          <a:ln w="31750">
            <a:solidFill>
              <a:srgbClr val="2E5BD8"/>
            </a:solidFill>
            <a:prstDash val="solid"/>
          </a:ln>
        </p:spPr>
      </p:sp>
      <p:sp>
        <p:nvSpPr>
          <p:cNvPr id="55" name="Shape 53"/>
          <p:cNvSpPr/>
          <p:nvPr/>
        </p:nvSpPr>
        <p:spPr>
          <a:xfrm>
            <a:off x="1412497" y="3517542"/>
            <a:ext cx="29421" cy="26750"/>
          </a:xfrm>
          <a:prstGeom prst="line">
            <a:avLst/>
          </a:prstGeom>
          <a:noFill/>
          <a:ln w="31750">
            <a:solidFill>
              <a:srgbClr val="2E5BD8"/>
            </a:solidFill>
            <a:prstDash val="solid"/>
          </a:ln>
        </p:spPr>
      </p:sp>
      <p:sp>
        <p:nvSpPr>
          <p:cNvPr id="56" name="Shape 54"/>
          <p:cNvSpPr/>
          <p:nvPr/>
        </p:nvSpPr>
        <p:spPr>
          <a:xfrm>
            <a:off x="1441917" y="3544292"/>
            <a:ext cx="29421" cy="21937"/>
          </a:xfrm>
          <a:prstGeom prst="line">
            <a:avLst/>
          </a:prstGeom>
          <a:noFill/>
          <a:ln w="31750">
            <a:solidFill>
              <a:srgbClr val="2E5BD8"/>
            </a:solidFill>
            <a:prstDash val="solid"/>
          </a:ln>
        </p:spPr>
      </p:sp>
      <p:sp>
        <p:nvSpPr>
          <p:cNvPr id="57" name="Shape 55"/>
          <p:cNvSpPr/>
          <p:nvPr/>
        </p:nvSpPr>
        <p:spPr>
          <a:xfrm>
            <a:off x="1471338" y="3566228"/>
            <a:ext cx="29421" cy="18368"/>
          </a:xfrm>
          <a:prstGeom prst="line">
            <a:avLst/>
          </a:prstGeom>
          <a:noFill/>
          <a:ln w="31750">
            <a:solidFill>
              <a:srgbClr val="2E5BD8"/>
            </a:solidFill>
            <a:prstDash val="solid"/>
          </a:ln>
        </p:spPr>
      </p:sp>
      <p:sp>
        <p:nvSpPr>
          <p:cNvPr id="58" name="Shape 56"/>
          <p:cNvSpPr/>
          <p:nvPr/>
        </p:nvSpPr>
        <p:spPr>
          <a:xfrm>
            <a:off x="1500759" y="3584596"/>
            <a:ext cx="29421" cy="15641"/>
          </a:xfrm>
          <a:prstGeom prst="line">
            <a:avLst/>
          </a:prstGeom>
          <a:noFill/>
          <a:ln w="31750">
            <a:solidFill>
              <a:srgbClr val="2E5BD8"/>
            </a:solidFill>
            <a:prstDash val="solid"/>
          </a:ln>
        </p:spPr>
      </p:sp>
      <p:sp>
        <p:nvSpPr>
          <p:cNvPr id="59" name="Shape 57"/>
          <p:cNvSpPr/>
          <p:nvPr/>
        </p:nvSpPr>
        <p:spPr>
          <a:xfrm>
            <a:off x="1530180" y="3600237"/>
            <a:ext cx="29421" cy="13505"/>
          </a:xfrm>
          <a:prstGeom prst="line">
            <a:avLst/>
          </a:prstGeom>
          <a:noFill/>
          <a:ln w="31750">
            <a:solidFill>
              <a:srgbClr val="2E5BD8"/>
            </a:solidFill>
            <a:prstDash val="solid"/>
          </a:ln>
        </p:spPr>
      </p:sp>
      <p:sp>
        <p:nvSpPr>
          <p:cNvPr id="60" name="Shape 58"/>
          <p:cNvSpPr/>
          <p:nvPr/>
        </p:nvSpPr>
        <p:spPr>
          <a:xfrm>
            <a:off x="1559601" y="3613742"/>
            <a:ext cx="29421" cy="11798"/>
          </a:xfrm>
          <a:prstGeom prst="line">
            <a:avLst/>
          </a:prstGeom>
          <a:noFill/>
          <a:ln w="31750">
            <a:solidFill>
              <a:srgbClr val="2E5BD8"/>
            </a:solidFill>
            <a:prstDash val="solid"/>
          </a:ln>
        </p:spPr>
      </p:sp>
      <p:sp>
        <p:nvSpPr>
          <p:cNvPr id="61" name="Shape 59"/>
          <p:cNvSpPr/>
          <p:nvPr/>
        </p:nvSpPr>
        <p:spPr>
          <a:xfrm>
            <a:off x="1589021" y="3625540"/>
            <a:ext cx="29421" cy="10410"/>
          </a:xfrm>
          <a:prstGeom prst="line">
            <a:avLst/>
          </a:prstGeom>
          <a:noFill/>
          <a:ln w="31750">
            <a:solidFill>
              <a:srgbClr val="2E5BD8"/>
            </a:solidFill>
            <a:prstDash val="solid"/>
          </a:ln>
        </p:spPr>
      </p:sp>
      <p:sp>
        <p:nvSpPr>
          <p:cNvPr id="62" name="Shape 60"/>
          <p:cNvSpPr/>
          <p:nvPr/>
        </p:nvSpPr>
        <p:spPr>
          <a:xfrm>
            <a:off x="1618442" y="3635950"/>
            <a:ext cx="29421" cy="9265"/>
          </a:xfrm>
          <a:prstGeom prst="line">
            <a:avLst/>
          </a:prstGeom>
          <a:noFill/>
          <a:ln w="31750">
            <a:solidFill>
              <a:srgbClr val="2E5BD8"/>
            </a:solidFill>
            <a:prstDash val="solid"/>
          </a:ln>
        </p:spPr>
      </p:sp>
      <p:sp>
        <p:nvSpPr>
          <p:cNvPr id="63" name="Shape 61"/>
          <p:cNvSpPr/>
          <p:nvPr/>
        </p:nvSpPr>
        <p:spPr>
          <a:xfrm>
            <a:off x="1647863" y="3645215"/>
            <a:ext cx="29421" cy="8307"/>
          </a:xfrm>
          <a:prstGeom prst="line">
            <a:avLst/>
          </a:prstGeom>
          <a:noFill/>
          <a:ln w="31750">
            <a:solidFill>
              <a:srgbClr val="2E5BD8"/>
            </a:solidFill>
            <a:prstDash val="solid"/>
          </a:ln>
        </p:spPr>
      </p:sp>
      <p:sp>
        <p:nvSpPr>
          <p:cNvPr id="64" name="Shape 62"/>
          <p:cNvSpPr/>
          <p:nvPr/>
        </p:nvSpPr>
        <p:spPr>
          <a:xfrm>
            <a:off x="1677284" y="3653522"/>
            <a:ext cx="29421" cy="7498"/>
          </a:xfrm>
          <a:prstGeom prst="line">
            <a:avLst/>
          </a:prstGeom>
          <a:noFill/>
          <a:ln w="31750">
            <a:solidFill>
              <a:srgbClr val="2E5BD8"/>
            </a:solidFill>
            <a:prstDash val="solid"/>
          </a:ln>
        </p:spPr>
      </p:sp>
      <p:sp>
        <p:nvSpPr>
          <p:cNvPr id="65" name="Shape 63"/>
          <p:cNvSpPr/>
          <p:nvPr/>
        </p:nvSpPr>
        <p:spPr>
          <a:xfrm>
            <a:off x="1706705" y="3661020"/>
            <a:ext cx="29421" cy="6807"/>
          </a:xfrm>
          <a:prstGeom prst="line">
            <a:avLst/>
          </a:prstGeom>
          <a:noFill/>
          <a:ln w="31750">
            <a:solidFill>
              <a:srgbClr val="2E5BD8"/>
            </a:solidFill>
            <a:prstDash val="solid"/>
          </a:ln>
        </p:spPr>
      </p:sp>
      <p:sp>
        <p:nvSpPr>
          <p:cNvPr id="66" name="Shape 64"/>
          <p:cNvSpPr/>
          <p:nvPr/>
        </p:nvSpPr>
        <p:spPr>
          <a:xfrm>
            <a:off x="1736126" y="3667828"/>
            <a:ext cx="29421" cy="6212"/>
          </a:xfrm>
          <a:prstGeom prst="line">
            <a:avLst/>
          </a:prstGeom>
          <a:noFill/>
          <a:ln w="31750">
            <a:solidFill>
              <a:srgbClr val="2E5BD8"/>
            </a:solidFill>
            <a:prstDash val="solid"/>
          </a:ln>
        </p:spPr>
      </p:sp>
      <p:sp>
        <p:nvSpPr>
          <p:cNvPr id="67" name="Shape 65"/>
          <p:cNvSpPr/>
          <p:nvPr/>
        </p:nvSpPr>
        <p:spPr>
          <a:xfrm>
            <a:off x="1765546" y="3674040"/>
            <a:ext cx="29421" cy="5696"/>
          </a:xfrm>
          <a:prstGeom prst="line">
            <a:avLst/>
          </a:prstGeom>
          <a:noFill/>
          <a:ln w="31750">
            <a:solidFill>
              <a:srgbClr val="2E5BD8"/>
            </a:solidFill>
            <a:prstDash val="solid"/>
          </a:ln>
        </p:spPr>
      </p:sp>
      <p:sp>
        <p:nvSpPr>
          <p:cNvPr id="68" name="Shape 66"/>
          <p:cNvSpPr/>
          <p:nvPr/>
        </p:nvSpPr>
        <p:spPr>
          <a:xfrm>
            <a:off x="1794967" y="3679736"/>
            <a:ext cx="29421" cy="5245"/>
          </a:xfrm>
          <a:prstGeom prst="line">
            <a:avLst/>
          </a:prstGeom>
          <a:noFill/>
          <a:ln w="31750">
            <a:solidFill>
              <a:srgbClr val="2E5BD8"/>
            </a:solidFill>
            <a:prstDash val="solid"/>
          </a:ln>
        </p:spPr>
      </p:sp>
      <p:sp>
        <p:nvSpPr>
          <p:cNvPr id="69" name="Shape 67"/>
          <p:cNvSpPr/>
          <p:nvPr/>
        </p:nvSpPr>
        <p:spPr>
          <a:xfrm>
            <a:off x="1824388" y="3684981"/>
            <a:ext cx="29421" cy="4848"/>
          </a:xfrm>
          <a:prstGeom prst="line">
            <a:avLst/>
          </a:prstGeom>
          <a:noFill/>
          <a:ln w="31750">
            <a:solidFill>
              <a:srgbClr val="2E5BD8"/>
            </a:solidFill>
            <a:prstDash val="solid"/>
          </a:ln>
        </p:spPr>
      </p:sp>
      <p:sp>
        <p:nvSpPr>
          <p:cNvPr id="70" name="Shape 68"/>
          <p:cNvSpPr/>
          <p:nvPr/>
        </p:nvSpPr>
        <p:spPr>
          <a:xfrm>
            <a:off x="1853809" y="3689829"/>
            <a:ext cx="29421" cy="4496"/>
          </a:xfrm>
          <a:prstGeom prst="line">
            <a:avLst/>
          </a:prstGeom>
          <a:noFill/>
          <a:ln w="31750">
            <a:solidFill>
              <a:srgbClr val="2E5BD8"/>
            </a:solidFill>
            <a:prstDash val="solid"/>
          </a:ln>
        </p:spPr>
      </p:sp>
      <p:sp>
        <p:nvSpPr>
          <p:cNvPr id="71" name="Shape 69"/>
          <p:cNvSpPr/>
          <p:nvPr/>
        </p:nvSpPr>
        <p:spPr>
          <a:xfrm>
            <a:off x="1883230" y="3694325"/>
            <a:ext cx="29421" cy="4184"/>
          </a:xfrm>
          <a:prstGeom prst="line">
            <a:avLst/>
          </a:prstGeom>
          <a:noFill/>
          <a:ln w="31750">
            <a:solidFill>
              <a:srgbClr val="2E5BD8"/>
            </a:solidFill>
            <a:prstDash val="solid"/>
          </a:ln>
        </p:spPr>
      </p:sp>
      <p:sp>
        <p:nvSpPr>
          <p:cNvPr id="72" name="Shape 70"/>
          <p:cNvSpPr/>
          <p:nvPr/>
        </p:nvSpPr>
        <p:spPr>
          <a:xfrm>
            <a:off x="1912650" y="3698508"/>
            <a:ext cx="29421" cy="3904"/>
          </a:xfrm>
          <a:prstGeom prst="line">
            <a:avLst/>
          </a:prstGeom>
          <a:noFill/>
          <a:ln w="31750">
            <a:solidFill>
              <a:srgbClr val="2E5BD8"/>
            </a:solidFill>
            <a:prstDash val="solid"/>
          </a:ln>
        </p:spPr>
      </p:sp>
      <p:sp>
        <p:nvSpPr>
          <p:cNvPr id="73" name="Shape 71"/>
          <p:cNvSpPr/>
          <p:nvPr/>
        </p:nvSpPr>
        <p:spPr>
          <a:xfrm>
            <a:off x="1942071" y="3702413"/>
            <a:ext cx="29421" cy="3653"/>
          </a:xfrm>
          <a:prstGeom prst="line">
            <a:avLst/>
          </a:prstGeom>
          <a:noFill/>
          <a:ln w="31750">
            <a:solidFill>
              <a:srgbClr val="2E5BD8"/>
            </a:solidFill>
            <a:prstDash val="solid"/>
          </a:ln>
        </p:spPr>
      </p:sp>
      <p:sp>
        <p:nvSpPr>
          <p:cNvPr id="74" name="Shape 72"/>
          <p:cNvSpPr/>
          <p:nvPr/>
        </p:nvSpPr>
        <p:spPr>
          <a:xfrm>
            <a:off x="1971492" y="3706066"/>
            <a:ext cx="29421" cy="3427"/>
          </a:xfrm>
          <a:prstGeom prst="line">
            <a:avLst/>
          </a:prstGeom>
          <a:noFill/>
          <a:ln w="31750">
            <a:solidFill>
              <a:srgbClr val="2E5BD8"/>
            </a:solidFill>
            <a:prstDash val="solid"/>
          </a:ln>
        </p:spPr>
      </p:sp>
      <p:sp>
        <p:nvSpPr>
          <p:cNvPr id="75" name="Shape 73"/>
          <p:cNvSpPr/>
          <p:nvPr/>
        </p:nvSpPr>
        <p:spPr>
          <a:xfrm>
            <a:off x="2000913" y="3709493"/>
            <a:ext cx="29421" cy="3222"/>
          </a:xfrm>
          <a:prstGeom prst="line">
            <a:avLst/>
          </a:prstGeom>
          <a:noFill/>
          <a:ln w="31750">
            <a:solidFill>
              <a:srgbClr val="2E5BD8"/>
            </a:solidFill>
            <a:prstDash val="solid"/>
          </a:ln>
        </p:spPr>
      </p:sp>
      <p:sp>
        <p:nvSpPr>
          <p:cNvPr id="76" name="Shape 74"/>
          <p:cNvSpPr/>
          <p:nvPr/>
        </p:nvSpPr>
        <p:spPr>
          <a:xfrm>
            <a:off x="2030334" y="3712716"/>
            <a:ext cx="29421" cy="3036"/>
          </a:xfrm>
          <a:prstGeom prst="line">
            <a:avLst/>
          </a:prstGeom>
          <a:noFill/>
          <a:ln w="31750">
            <a:solidFill>
              <a:srgbClr val="2E5BD8"/>
            </a:solidFill>
            <a:prstDash val="solid"/>
          </a:ln>
        </p:spPr>
      </p:sp>
      <p:sp>
        <p:nvSpPr>
          <p:cNvPr id="77" name="Shape 75"/>
          <p:cNvSpPr/>
          <p:nvPr/>
        </p:nvSpPr>
        <p:spPr>
          <a:xfrm>
            <a:off x="2059755" y="3715752"/>
            <a:ext cx="29421" cy="2867"/>
          </a:xfrm>
          <a:prstGeom prst="line">
            <a:avLst/>
          </a:prstGeom>
          <a:noFill/>
          <a:ln w="31750">
            <a:solidFill>
              <a:srgbClr val="2E5BD8"/>
            </a:solidFill>
            <a:prstDash val="solid"/>
          </a:ln>
        </p:spPr>
      </p:sp>
      <p:sp>
        <p:nvSpPr>
          <p:cNvPr id="78" name="Shape 76"/>
          <p:cNvSpPr/>
          <p:nvPr/>
        </p:nvSpPr>
        <p:spPr>
          <a:xfrm>
            <a:off x="2089175" y="3718619"/>
            <a:ext cx="29421" cy="2712"/>
          </a:xfrm>
          <a:prstGeom prst="line">
            <a:avLst/>
          </a:prstGeom>
          <a:noFill/>
          <a:ln w="31750">
            <a:solidFill>
              <a:srgbClr val="2E5BD8"/>
            </a:solidFill>
            <a:prstDash val="solid"/>
          </a:ln>
        </p:spPr>
      </p:sp>
      <p:sp>
        <p:nvSpPr>
          <p:cNvPr id="79" name="Shape 77"/>
          <p:cNvSpPr/>
          <p:nvPr/>
        </p:nvSpPr>
        <p:spPr>
          <a:xfrm>
            <a:off x="2118596" y="3721331"/>
            <a:ext cx="29421" cy="2570"/>
          </a:xfrm>
          <a:prstGeom prst="line">
            <a:avLst/>
          </a:prstGeom>
          <a:noFill/>
          <a:ln w="31750">
            <a:solidFill>
              <a:srgbClr val="2E5BD8"/>
            </a:solidFill>
            <a:prstDash val="solid"/>
          </a:ln>
        </p:spPr>
      </p:sp>
      <p:sp>
        <p:nvSpPr>
          <p:cNvPr id="80" name="Shape 78"/>
          <p:cNvSpPr/>
          <p:nvPr/>
        </p:nvSpPr>
        <p:spPr>
          <a:xfrm>
            <a:off x="2148017" y="3723901"/>
            <a:ext cx="29421" cy="2439"/>
          </a:xfrm>
          <a:prstGeom prst="line">
            <a:avLst/>
          </a:prstGeom>
          <a:noFill/>
          <a:ln w="31750">
            <a:solidFill>
              <a:srgbClr val="2E5BD8"/>
            </a:solidFill>
            <a:prstDash val="solid"/>
          </a:ln>
        </p:spPr>
      </p:sp>
      <p:sp>
        <p:nvSpPr>
          <p:cNvPr id="81" name="Shape 79"/>
          <p:cNvSpPr/>
          <p:nvPr/>
        </p:nvSpPr>
        <p:spPr>
          <a:xfrm>
            <a:off x="2177438" y="3726340"/>
            <a:ext cx="29421" cy="2319"/>
          </a:xfrm>
          <a:prstGeom prst="line">
            <a:avLst/>
          </a:prstGeom>
          <a:noFill/>
          <a:ln w="31750">
            <a:solidFill>
              <a:srgbClr val="2E5BD8"/>
            </a:solidFill>
            <a:prstDash val="solid"/>
          </a:ln>
        </p:spPr>
      </p:sp>
      <p:sp>
        <p:nvSpPr>
          <p:cNvPr id="82" name="Shape 80"/>
          <p:cNvSpPr/>
          <p:nvPr/>
        </p:nvSpPr>
        <p:spPr>
          <a:xfrm>
            <a:off x="2206859" y="3728659"/>
            <a:ext cx="29421" cy="2208"/>
          </a:xfrm>
          <a:prstGeom prst="line">
            <a:avLst/>
          </a:prstGeom>
          <a:noFill/>
          <a:ln w="31750">
            <a:solidFill>
              <a:srgbClr val="2E5BD8"/>
            </a:solidFill>
            <a:prstDash val="solid"/>
          </a:ln>
        </p:spPr>
      </p:sp>
      <p:sp>
        <p:nvSpPr>
          <p:cNvPr id="83" name="Shape 81"/>
          <p:cNvSpPr/>
          <p:nvPr/>
        </p:nvSpPr>
        <p:spPr>
          <a:xfrm>
            <a:off x="2236280" y="3730866"/>
            <a:ext cx="29421" cy="2105"/>
          </a:xfrm>
          <a:prstGeom prst="line">
            <a:avLst/>
          </a:prstGeom>
          <a:noFill/>
          <a:ln w="31750">
            <a:solidFill>
              <a:srgbClr val="2E5BD8"/>
            </a:solidFill>
            <a:prstDash val="solid"/>
          </a:ln>
        </p:spPr>
      </p:sp>
      <p:sp>
        <p:nvSpPr>
          <p:cNvPr id="84" name="Shape 82"/>
          <p:cNvSpPr/>
          <p:nvPr/>
        </p:nvSpPr>
        <p:spPr>
          <a:xfrm>
            <a:off x="2265700" y="3732971"/>
            <a:ext cx="29421" cy="2009"/>
          </a:xfrm>
          <a:prstGeom prst="line">
            <a:avLst/>
          </a:prstGeom>
          <a:noFill/>
          <a:ln w="31750">
            <a:solidFill>
              <a:srgbClr val="2E5BD8"/>
            </a:solidFill>
            <a:prstDash val="solid"/>
          </a:ln>
        </p:spPr>
      </p:sp>
      <p:sp>
        <p:nvSpPr>
          <p:cNvPr id="85" name="Shape 83"/>
          <p:cNvSpPr/>
          <p:nvPr/>
        </p:nvSpPr>
        <p:spPr>
          <a:xfrm>
            <a:off x="2295121" y="3734981"/>
            <a:ext cx="29421" cy="1920"/>
          </a:xfrm>
          <a:prstGeom prst="line">
            <a:avLst/>
          </a:prstGeom>
          <a:noFill/>
          <a:ln w="31750">
            <a:solidFill>
              <a:srgbClr val="2E5BD8"/>
            </a:solidFill>
            <a:prstDash val="solid"/>
          </a:ln>
        </p:spPr>
      </p:sp>
      <p:sp>
        <p:nvSpPr>
          <p:cNvPr id="86" name="Shape 84"/>
          <p:cNvSpPr/>
          <p:nvPr/>
        </p:nvSpPr>
        <p:spPr>
          <a:xfrm>
            <a:off x="2324542" y="3736901"/>
            <a:ext cx="29421" cy="1838"/>
          </a:xfrm>
          <a:prstGeom prst="line">
            <a:avLst/>
          </a:prstGeom>
          <a:noFill/>
          <a:ln w="31750">
            <a:solidFill>
              <a:srgbClr val="2E5BD8"/>
            </a:solidFill>
            <a:prstDash val="solid"/>
          </a:ln>
        </p:spPr>
      </p:sp>
      <p:sp>
        <p:nvSpPr>
          <p:cNvPr id="87" name="Shape 85"/>
          <p:cNvSpPr/>
          <p:nvPr/>
        </p:nvSpPr>
        <p:spPr>
          <a:xfrm>
            <a:off x="2353963" y="3738739"/>
            <a:ext cx="29421" cy="1760"/>
          </a:xfrm>
          <a:prstGeom prst="line">
            <a:avLst/>
          </a:prstGeom>
          <a:noFill/>
          <a:ln w="31750">
            <a:solidFill>
              <a:srgbClr val="2E5BD8"/>
            </a:solidFill>
            <a:prstDash val="solid"/>
          </a:ln>
        </p:spPr>
      </p:sp>
      <p:sp>
        <p:nvSpPr>
          <p:cNvPr id="88" name="Shape 86"/>
          <p:cNvSpPr/>
          <p:nvPr/>
        </p:nvSpPr>
        <p:spPr>
          <a:xfrm>
            <a:off x="2383384" y="3740499"/>
            <a:ext cx="29421" cy="1688"/>
          </a:xfrm>
          <a:prstGeom prst="line">
            <a:avLst/>
          </a:prstGeom>
          <a:noFill/>
          <a:ln w="31750">
            <a:solidFill>
              <a:srgbClr val="2E5BD8"/>
            </a:solidFill>
            <a:prstDash val="solid"/>
          </a:ln>
        </p:spPr>
      </p:sp>
      <p:sp>
        <p:nvSpPr>
          <p:cNvPr id="89" name="Shape 87"/>
          <p:cNvSpPr/>
          <p:nvPr/>
        </p:nvSpPr>
        <p:spPr>
          <a:xfrm>
            <a:off x="2412804" y="3742187"/>
            <a:ext cx="29421" cy="1621"/>
          </a:xfrm>
          <a:prstGeom prst="line">
            <a:avLst/>
          </a:prstGeom>
          <a:noFill/>
          <a:ln w="31750">
            <a:solidFill>
              <a:srgbClr val="2E5BD8"/>
            </a:solidFill>
            <a:prstDash val="solid"/>
          </a:ln>
        </p:spPr>
      </p:sp>
      <p:sp>
        <p:nvSpPr>
          <p:cNvPr id="90" name="Shape 88"/>
          <p:cNvSpPr/>
          <p:nvPr/>
        </p:nvSpPr>
        <p:spPr>
          <a:xfrm>
            <a:off x="2442225" y="3743808"/>
            <a:ext cx="29421" cy="1557"/>
          </a:xfrm>
          <a:prstGeom prst="line">
            <a:avLst/>
          </a:prstGeom>
          <a:noFill/>
          <a:ln w="31750">
            <a:solidFill>
              <a:srgbClr val="2E5BD8"/>
            </a:solidFill>
            <a:prstDash val="solid"/>
          </a:ln>
        </p:spPr>
      </p:sp>
      <p:sp>
        <p:nvSpPr>
          <p:cNvPr id="91" name="Shape 89"/>
          <p:cNvSpPr/>
          <p:nvPr/>
        </p:nvSpPr>
        <p:spPr>
          <a:xfrm>
            <a:off x="2471646" y="3745365"/>
            <a:ext cx="29421" cy="1498"/>
          </a:xfrm>
          <a:prstGeom prst="line">
            <a:avLst/>
          </a:prstGeom>
          <a:noFill/>
          <a:ln w="31750">
            <a:solidFill>
              <a:srgbClr val="2E5BD8"/>
            </a:solidFill>
            <a:prstDash val="solid"/>
          </a:ln>
        </p:spPr>
      </p:sp>
      <p:sp>
        <p:nvSpPr>
          <p:cNvPr id="92" name="Shape 90"/>
          <p:cNvSpPr/>
          <p:nvPr/>
        </p:nvSpPr>
        <p:spPr>
          <a:xfrm>
            <a:off x="2501067" y="3746863"/>
            <a:ext cx="29421" cy="1442"/>
          </a:xfrm>
          <a:prstGeom prst="line">
            <a:avLst/>
          </a:prstGeom>
          <a:noFill/>
          <a:ln w="31750">
            <a:solidFill>
              <a:srgbClr val="2E5BD8"/>
            </a:solidFill>
            <a:prstDash val="solid"/>
          </a:ln>
        </p:spPr>
      </p:sp>
      <p:sp>
        <p:nvSpPr>
          <p:cNvPr id="93" name="Shape 91"/>
          <p:cNvSpPr/>
          <p:nvPr/>
        </p:nvSpPr>
        <p:spPr>
          <a:xfrm>
            <a:off x="2530488" y="3748305"/>
            <a:ext cx="29421" cy="1389"/>
          </a:xfrm>
          <a:prstGeom prst="line">
            <a:avLst/>
          </a:prstGeom>
          <a:noFill/>
          <a:ln w="31750">
            <a:solidFill>
              <a:srgbClr val="2E5BD8"/>
            </a:solidFill>
            <a:prstDash val="solid"/>
          </a:ln>
        </p:spPr>
      </p:sp>
      <p:sp>
        <p:nvSpPr>
          <p:cNvPr id="94" name="Shape 92"/>
          <p:cNvSpPr/>
          <p:nvPr/>
        </p:nvSpPr>
        <p:spPr>
          <a:xfrm>
            <a:off x="2559909" y="3749694"/>
            <a:ext cx="29421" cy="1339"/>
          </a:xfrm>
          <a:prstGeom prst="line">
            <a:avLst/>
          </a:prstGeom>
          <a:noFill/>
          <a:ln w="31750">
            <a:solidFill>
              <a:srgbClr val="2E5BD8"/>
            </a:solidFill>
            <a:prstDash val="solid"/>
          </a:ln>
        </p:spPr>
      </p:sp>
      <p:sp>
        <p:nvSpPr>
          <p:cNvPr id="95" name="Shape 93"/>
          <p:cNvSpPr/>
          <p:nvPr/>
        </p:nvSpPr>
        <p:spPr>
          <a:xfrm>
            <a:off x="2589329" y="3751033"/>
            <a:ext cx="29421" cy="1292"/>
          </a:xfrm>
          <a:prstGeom prst="line">
            <a:avLst/>
          </a:prstGeom>
          <a:noFill/>
          <a:ln w="31750">
            <a:solidFill>
              <a:srgbClr val="2E5BD8"/>
            </a:solidFill>
            <a:prstDash val="solid"/>
          </a:ln>
        </p:spPr>
      </p:sp>
      <p:sp>
        <p:nvSpPr>
          <p:cNvPr id="96" name="Shape 94"/>
          <p:cNvSpPr/>
          <p:nvPr/>
        </p:nvSpPr>
        <p:spPr>
          <a:xfrm>
            <a:off x="2618750" y="3752325"/>
            <a:ext cx="29421" cy="1248"/>
          </a:xfrm>
          <a:prstGeom prst="line">
            <a:avLst/>
          </a:prstGeom>
          <a:noFill/>
          <a:ln w="31750">
            <a:solidFill>
              <a:srgbClr val="2E5BD8"/>
            </a:solidFill>
            <a:prstDash val="solid"/>
          </a:ln>
        </p:spPr>
      </p:sp>
      <p:sp>
        <p:nvSpPr>
          <p:cNvPr id="97" name="Shape 95"/>
          <p:cNvSpPr/>
          <p:nvPr/>
        </p:nvSpPr>
        <p:spPr>
          <a:xfrm>
            <a:off x="2648171" y="3753573"/>
            <a:ext cx="29421" cy="1206"/>
          </a:xfrm>
          <a:prstGeom prst="line">
            <a:avLst/>
          </a:prstGeom>
          <a:noFill/>
          <a:ln w="31750">
            <a:solidFill>
              <a:srgbClr val="2E5BD8"/>
            </a:solidFill>
            <a:prstDash val="solid"/>
          </a:ln>
        </p:spPr>
      </p:sp>
      <p:sp>
        <p:nvSpPr>
          <p:cNvPr id="98" name="Shape 96"/>
          <p:cNvSpPr/>
          <p:nvPr/>
        </p:nvSpPr>
        <p:spPr>
          <a:xfrm>
            <a:off x="2677592" y="3754778"/>
            <a:ext cx="29421" cy="1166"/>
          </a:xfrm>
          <a:prstGeom prst="line">
            <a:avLst/>
          </a:prstGeom>
          <a:noFill/>
          <a:ln w="31750">
            <a:solidFill>
              <a:srgbClr val="2E5BD8"/>
            </a:solidFill>
            <a:prstDash val="solid"/>
          </a:ln>
        </p:spPr>
      </p:sp>
      <p:sp>
        <p:nvSpPr>
          <p:cNvPr id="99" name="Shape 97"/>
          <p:cNvSpPr/>
          <p:nvPr/>
        </p:nvSpPr>
        <p:spPr>
          <a:xfrm>
            <a:off x="2707013" y="3755944"/>
            <a:ext cx="29421" cy="1128"/>
          </a:xfrm>
          <a:prstGeom prst="line">
            <a:avLst/>
          </a:prstGeom>
          <a:noFill/>
          <a:ln w="31750">
            <a:solidFill>
              <a:srgbClr val="2E5BD8"/>
            </a:solidFill>
            <a:prstDash val="solid"/>
          </a:ln>
        </p:spPr>
      </p:sp>
      <p:sp>
        <p:nvSpPr>
          <p:cNvPr id="100" name="Shape 98"/>
          <p:cNvSpPr/>
          <p:nvPr/>
        </p:nvSpPr>
        <p:spPr>
          <a:xfrm>
            <a:off x="2736433" y="3757072"/>
            <a:ext cx="29421" cy="1092"/>
          </a:xfrm>
          <a:prstGeom prst="line">
            <a:avLst/>
          </a:prstGeom>
          <a:noFill/>
          <a:ln w="31750">
            <a:solidFill>
              <a:srgbClr val="2E5BD8"/>
            </a:solidFill>
            <a:prstDash val="solid"/>
          </a:ln>
        </p:spPr>
      </p:sp>
      <p:sp>
        <p:nvSpPr>
          <p:cNvPr id="101" name="Shape 99"/>
          <p:cNvSpPr/>
          <p:nvPr/>
        </p:nvSpPr>
        <p:spPr>
          <a:xfrm>
            <a:off x="2765854" y="3758165"/>
            <a:ext cx="29421" cy="1058"/>
          </a:xfrm>
          <a:prstGeom prst="line">
            <a:avLst/>
          </a:prstGeom>
          <a:noFill/>
          <a:ln w="31750">
            <a:solidFill>
              <a:srgbClr val="2E5BD8"/>
            </a:solidFill>
            <a:prstDash val="solid"/>
          </a:ln>
        </p:spPr>
      </p:sp>
      <p:sp>
        <p:nvSpPr>
          <p:cNvPr id="102" name="Shape 100"/>
          <p:cNvSpPr/>
          <p:nvPr/>
        </p:nvSpPr>
        <p:spPr>
          <a:xfrm>
            <a:off x="2795275" y="3759223"/>
            <a:ext cx="29421" cy="1026"/>
          </a:xfrm>
          <a:prstGeom prst="line">
            <a:avLst/>
          </a:prstGeom>
          <a:noFill/>
          <a:ln w="31750">
            <a:solidFill>
              <a:srgbClr val="2E5BD8"/>
            </a:solidFill>
            <a:prstDash val="solid"/>
          </a:ln>
        </p:spPr>
      </p:sp>
      <p:sp>
        <p:nvSpPr>
          <p:cNvPr id="103" name="Shape 101"/>
          <p:cNvSpPr/>
          <p:nvPr/>
        </p:nvSpPr>
        <p:spPr>
          <a:xfrm>
            <a:off x="2824696" y="3760248"/>
            <a:ext cx="29421" cy="995"/>
          </a:xfrm>
          <a:prstGeom prst="line">
            <a:avLst/>
          </a:prstGeom>
          <a:noFill/>
          <a:ln w="31750">
            <a:solidFill>
              <a:srgbClr val="2E5BD8"/>
            </a:solidFill>
            <a:prstDash val="solid"/>
          </a:ln>
        </p:spPr>
      </p:sp>
      <p:sp>
        <p:nvSpPr>
          <p:cNvPr id="104" name="Shape 102"/>
          <p:cNvSpPr/>
          <p:nvPr/>
        </p:nvSpPr>
        <p:spPr>
          <a:xfrm>
            <a:off x="2854117" y="3761243"/>
            <a:ext cx="29421" cy="965"/>
          </a:xfrm>
          <a:prstGeom prst="line">
            <a:avLst/>
          </a:prstGeom>
          <a:noFill/>
          <a:ln w="31750">
            <a:solidFill>
              <a:srgbClr val="2E5BD8"/>
            </a:solidFill>
            <a:prstDash val="solid"/>
          </a:ln>
        </p:spPr>
      </p:sp>
      <p:sp>
        <p:nvSpPr>
          <p:cNvPr id="105" name="Shape 103"/>
          <p:cNvSpPr/>
          <p:nvPr/>
        </p:nvSpPr>
        <p:spPr>
          <a:xfrm>
            <a:off x="2883538" y="3762209"/>
            <a:ext cx="29421" cy="937"/>
          </a:xfrm>
          <a:prstGeom prst="line">
            <a:avLst/>
          </a:prstGeom>
          <a:noFill/>
          <a:ln w="31750">
            <a:solidFill>
              <a:srgbClr val="2E5BD8"/>
            </a:solidFill>
            <a:prstDash val="solid"/>
          </a:ln>
        </p:spPr>
      </p:sp>
      <p:sp>
        <p:nvSpPr>
          <p:cNvPr id="106" name="Shape 104"/>
          <p:cNvSpPr/>
          <p:nvPr/>
        </p:nvSpPr>
        <p:spPr>
          <a:xfrm>
            <a:off x="2912958" y="3763146"/>
            <a:ext cx="29421" cy="910"/>
          </a:xfrm>
          <a:prstGeom prst="line">
            <a:avLst/>
          </a:prstGeom>
          <a:noFill/>
          <a:ln w="31750">
            <a:solidFill>
              <a:srgbClr val="2E5BD8"/>
            </a:solidFill>
            <a:prstDash val="solid"/>
          </a:ln>
        </p:spPr>
      </p:sp>
      <p:sp>
        <p:nvSpPr>
          <p:cNvPr id="107" name="Shape 105"/>
          <p:cNvSpPr/>
          <p:nvPr/>
        </p:nvSpPr>
        <p:spPr>
          <a:xfrm>
            <a:off x="2942379" y="3764056"/>
            <a:ext cx="29421" cy="885"/>
          </a:xfrm>
          <a:prstGeom prst="line">
            <a:avLst/>
          </a:prstGeom>
          <a:noFill/>
          <a:ln w="31750">
            <a:solidFill>
              <a:srgbClr val="2E5BD8"/>
            </a:solidFill>
            <a:prstDash val="solid"/>
          </a:ln>
        </p:spPr>
      </p:sp>
      <p:sp>
        <p:nvSpPr>
          <p:cNvPr id="108" name="Shape 106"/>
          <p:cNvSpPr/>
          <p:nvPr/>
        </p:nvSpPr>
        <p:spPr>
          <a:xfrm>
            <a:off x="3977640" y="1463040"/>
            <a:ext cx="1783080" cy="2377440"/>
          </a:xfrm>
          <a:prstGeom prst="rect">
            <a:avLst/>
          </a:prstGeom>
          <a:solidFill>
            <a:srgbClr val="FFFFFF"/>
          </a:solidFill>
          <a:ln/>
        </p:spPr>
      </p:sp>
      <p:sp>
        <p:nvSpPr>
          <p:cNvPr id="109" name="Shape 107"/>
          <p:cNvSpPr/>
          <p:nvPr/>
        </p:nvSpPr>
        <p:spPr>
          <a:xfrm>
            <a:off x="3977640" y="1463040"/>
            <a:ext cx="91" cy="2377440"/>
          </a:xfrm>
          <a:prstGeom prst="line">
            <a:avLst/>
          </a:prstGeom>
          <a:noFill/>
          <a:ln w="6350">
            <a:solidFill>
              <a:srgbClr val="C9D3E6"/>
            </a:solidFill>
            <a:prstDash val="solid"/>
          </a:ln>
        </p:spPr>
      </p:sp>
      <p:sp>
        <p:nvSpPr>
          <p:cNvPr id="110" name="Shape 108"/>
          <p:cNvSpPr/>
          <p:nvPr/>
        </p:nvSpPr>
        <p:spPr>
          <a:xfrm>
            <a:off x="4423410" y="1463040"/>
            <a:ext cx="91" cy="2377440"/>
          </a:xfrm>
          <a:prstGeom prst="line">
            <a:avLst/>
          </a:prstGeom>
          <a:noFill/>
          <a:ln w="6350">
            <a:solidFill>
              <a:srgbClr val="C9D3E6"/>
            </a:solidFill>
            <a:prstDash val="solid"/>
          </a:ln>
        </p:spPr>
      </p:sp>
      <p:sp>
        <p:nvSpPr>
          <p:cNvPr id="111" name="Shape 109"/>
          <p:cNvSpPr/>
          <p:nvPr/>
        </p:nvSpPr>
        <p:spPr>
          <a:xfrm>
            <a:off x="4869180" y="1463040"/>
            <a:ext cx="91" cy="2377440"/>
          </a:xfrm>
          <a:prstGeom prst="line">
            <a:avLst/>
          </a:prstGeom>
          <a:noFill/>
          <a:ln w="6350">
            <a:solidFill>
              <a:srgbClr val="C9D3E6"/>
            </a:solidFill>
            <a:prstDash val="solid"/>
          </a:ln>
        </p:spPr>
      </p:sp>
      <p:sp>
        <p:nvSpPr>
          <p:cNvPr id="112" name="Shape 110"/>
          <p:cNvSpPr/>
          <p:nvPr/>
        </p:nvSpPr>
        <p:spPr>
          <a:xfrm>
            <a:off x="5314950" y="1463040"/>
            <a:ext cx="91" cy="2377440"/>
          </a:xfrm>
          <a:prstGeom prst="line">
            <a:avLst/>
          </a:prstGeom>
          <a:noFill/>
          <a:ln w="6350">
            <a:solidFill>
              <a:srgbClr val="C9D3E6"/>
            </a:solidFill>
            <a:prstDash val="solid"/>
          </a:ln>
        </p:spPr>
      </p:sp>
      <p:sp>
        <p:nvSpPr>
          <p:cNvPr id="113" name="Shape 111"/>
          <p:cNvSpPr/>
          <p:nvPr/>
        </p:nvSpPr>
        <p:spPr>
          <a:xfrm>
            <a:off x="5760720" y="1463040"/>
            <a:ext cx="91" cy="2377440"/>
          </a:xfrm>
          <a:prstGeom prst="line">
            <a:avLst/>
          </a:prstGeom>
          <a:noFill/>
          <a:ln w="6350">
            <a:solidFill>
              <a:srgbClr val="C9D3E6"/>
            </a:solidFill>
            <a:prstDash val="solid"/>
          </a:ln>
        </p:spPr>
      </p:sp>
      <p:sp>
        <p:nvSpPr>
          <p:cNvPr id="114" name="Shape 112"/>
          <p:cNvSpPr/>
          <p:nvPr/>
        </p:nvSpPr>
        <p:spPr>
          <a:xfrm>
            <a:off x="3977640" y="3840480"/>
            <a:ext cx="1783080" cy="91"/>
          </a:xfrm>
          <a:prstGeom prst="line">
            <a:avLst/>
          </a:prstGeom>
          <a:noFill/>
          <a:ln w="6350">
            <a:solidFill>
              <a:srgbClr val="C9D3E6"/>
            </a:solidFill>
            <a:prstDash val="solid"/>
          </a:ln>
        </p:spPr>
      </p:sp>
      <p:sp>
        <p:nvSpPr>
          <p:cNvPr id="115" name="Shape 113"/>
          <p:cNvSpPr/>
          <p:nvPr/>
        </p:nvSpPr>
        <p:spPr>
          <a:xfrm>
            <a:off x="3977640" y="3048000"/>
            <a:ext cx="1783080" cy="91"/>
          </a:xfrm>
          <a:prstGeom prst="line">
            <a:avLst/>
          </a:prstGeom>
          <a:noFill/>
          <a:ln w="6350">
            <a:solidFill>
              <a:srgbClr val="C9D3E6"/>
            </a:solidFill>
            <a:prstDash val="solid"/>
          </a:ln>
        </p:spPr>
      </p:sp>
      <p:sp>
        <p:nvSpPr>
          <p:cNvPr id="116" name="Shape 114"/>
          <p:cNvSpPr/>
          <p:nvPr/>
        </p:nvSpPr>
        <p:spPr>
          <a:xfrm>
            <a:off x="3977640" y="2255520"/>
            <a:ext cx="1783080" cy="91"/>
          </a:xfrm>
          <a:prstGeom prst="line">
            <a:avLst/>
          </a:prstGeom>
          <a:noFill/>
          <a:ln w="6350">
            <a:solidFill>
              <a:srgbClr val="C9D3E6"/>
            </a:solidFill>
            <a:prstDash val="solid"/>
          </a:ln>
        </p:spPr>
      </p:sp>
      <p:sp>
        <p:nvSpPr>
          <p:cNvPr id="117" name="Shape 115"/>
          <p:cNvSpPr/>
          <p:nvPr/>
        </p:nvSpPr>
        <p:spPr>
          <a:xfrm>
            <a:off x="3977640" y="1463040"/>
            <a:ext cx="1783080" cy="91"/>
          </a:xfrm>
          <a:prstGeom prst="line">
            <a:avLst/>
          </a:prstGeom>
          <a:noFill/>
          <a:ln w="6350">
            <a:solidFill>
              <a:srgbClr val="C9D3E6"/>
            </a:solidFill>
            <a:prstDash val="solid"/>
          </a:ln>
        </p:spPr>
      </p:sp>
      <p:sp>
        <p:nvSpPr>
          <p:cNvPr id="118" name="Shape 116"/>
          <p:cNvSpPr/>
          <p:nvPr/>
        </p:nvSpPr>
        <p:spPr>
          <a:xfrm>
            <a:off x="3977640" y="3840480"/>
            <a:ext cx="1783080" cy="91"/>
          </a:xfrm>
          <a:prstGeom prst="line">
            <a:avLst/>
          </a:prstGeom>
          <a:noFill/>
          <a:ln w="19050">
            <a:solidFill>
              <a:srgbClr val="1A2340"/>
            </a:solidFill>
            <a:prstDash val="solid"/>
          </a:ln>
        </p:spPr>
      </p:sp>
      <p:sp>
        <p:nvSpPr>
          <p:cNvPr id="119" name="Shape 117"/>
          <p:cNvSpPr/>
          <p:nvPr/>
        </p:nvSpPr>
        <p:spPr>
          <a:xfrm flipV="1">
            <a:off x="3977640" y="1463040"/>
            <a:ext cx="91" cy="2377440"/>
          </a:xfrm>
          <a:prstGeom prst="line">
            <a:avLst/>
          </a:prstGeom>
          <a:noFill/>
          <a:ln w="19050">
            <a:solidFill>
              <a:srgbClr val="1A2340"/>
            </a:solidFill>
            <a:prstDash val="solid"/>
          </a:ln>
        </p:spPr>
      </p:sp>
      <p:sp>
        <p:nvSpPr>
          <p:cNvPr id="120" name="Shape 118"/>
          <p:cNvSpPr/>
          <p:nvPr/>
        </p:nvSpPr>
        <p:spPr>
          <a:xfrm>
            <a:off x="3977640" y="3840480"/>
            <a:ext cx="91" cy="54864"/>
          </a:xfrm>
          <a:prstGeom prst="line">
            <a:avLst/>
          </a:prstGeom>
          <a:noFill/>
          <a:ln w="12700">
            <a:solidFill>
              <a:srgbClr val="1A2340"/>
            </a:solidFill>
            <a:prstDash val="solid"/>
          </a:ln>
        </p:spPr>
      </p:sp>
      <p:sp>
        <p:nvSpPr>
          <p:cNvPr id="121" name="Text 119"/>
          <p:cNvSpPr/>
          <p:nvPr/>
        </p:nvSpPr>
        <p:spPr>
          <a:xfrm>
            <a:off x="370332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22" name="Shape 120"/>
          <p:cNvSpPr/>
          <p:nvPr/>
        </p:nvSpPr>
        <p:spPr>
          <a:xfrm>
            <a:off x="4423410" y="3840480"/>
            <a:ext cx="91" cy="54864"/>
          </a:xfrm>
          <a:prstGeom prst="line">
            <a:avLst/>
          </a:prstGeom>
          <a:noFill/>
          <a:ln w="12700">
            <a:solidFill>
              <a:srgbClr val="1A2340"/>
            </a:solidFill>
            <a:prstDash val="solid"/>
          </a:ln>
        </p:spPr>
      </p:sp>
      <p:sp>
        <p:nvSpPr>
          <p:cNvPr id="123" name="Text 121"/>
          <p:cNvSpPr/>
          <p:nvPr/>
        </p:nvSpPr>
        <p:spPr>
          <a:xfrm>
            <a:off x="414909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124" name="Shape 122"/>
          <p:cNvSpPr/>
          <p:nvPr/>
        </p:nvSpPr>
        <p:spPr>
          <a:xfrm>
            <a:off x="4869180" y="3840480"/>
            <a:ext cx="91" cy="54864"/>
          </a:xfrm>
          <a:prstGeom prst="line">
            <a:avLst/>
          </a:prstGeom>
          <a:noFill/>
          <a:ln w="12700">
            <a:solidFill>
              <a:srgbClr val="1A2340"/>
            </a:solidFill>
            <a:prstDash val="solid"/>
          </a:ln>
        </p:spPr>
      </p:sp>
      <p:sp>
        <p:nvSpPr>
          <p:cNvPr id="125" name="Text 123"/>
          <p:cNvSpPr/>
          <p:nvPr/>
        </p:nvSpPr>
        <p:spPr>
          <a:xfrm>
            <a:off x="459486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126" name="Shape 124"/>
          <p:cNvSpPr/>
          <p:nvPr/>
        </p:nvSpPr>
        <p:spPr>
          <a:xfrm>
            <a:off x="5314950" y="3840480"/>
            <a:ext cx="91" cy="54864"/>
          </a:xfrm>
          <a:prstGeom prst="line">
            <a:avLst/>
          </a:prstGeom>
          <a:noFill/>
          <a:ln w="12700">
            <a:solidFill>
              <a:srgbClr val="1A2340"/>
            </a:solidFill>
            <a:prstDash val="solid"/>
          </a:ln>
        </p:spPr>
      </p:sp>
      <p:sp>
        <p:nvSpPr>
          <p:cNvPr id="127" name="Text 125"/>
          <p:cNvSpPr/>
          <p:nvPr/>
        </p:nvSpPr>
        <p:spPr>
          <a:xfrm>
            <a:off x="504063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75</a:t>
            </a:r>
            <a:endParaRPr lang="en-US" sz="1000" dirty="0"/>
          </a:p>
        </p:txBody>
      </p:sp>
      <p:sp>
        <p:nvSpPr>
          <p:cNvPr id="128" name="Shape 126"/>
          <p:cNvSpPr/>
          <p:nvPr/>
        </p:nvSpPr>
        <p:spPr>
          <a:xfrm>
            <a:off x="5760720" y="3840480"/>
            <a:ext cx="91" cy="54864"/>
          </a:xfrm>
          <a:prstGeom prst="line">
            <a:avLst/>
          </a:prstGeom>
          <a:noFill/>
          <a:ln w="12700">
            <a:solidFill>
              <a:srgbClr val="1A2340"/>
            </a:solidFill>
            <a:prstDash val="solid"/>
          </a:ln>
        </p:spPr>
      </p:sp>
      <p:sp>
        <p:nvSpPr>
          <p:cNvPr id="129" name="Text 127"/>
          <p:cNvSpPr/>
          <p:nvPr/>
        </p:nvSpPr>
        <p:spPr>
          <a:xfrm>
            <a:off x="5486400" y="38953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130" name="Shape 128"/>
          <p:cNvSpPr/>
          <p:nvPr/>
        </p:nvSpPr>
        <p:spPr>
          <a:xfrm>
            <a:off x="3922776" y="3840480"/>
            <a:ext cx="54864" cy="91"/>
          </a:xfrm>
          <a:prstGeom prst="line">
            <a:avLst/>
          </a:prstGeom>
          <a:noFill/>
          <a:ln w="12700">
            <a:solidFill>
              <a:srgbClr val="1A2340"/>
            </a:solidFill>
            <a:prstDash val="solid"/>
          </a:ln>
        </p:spPr>
      </p:sp>
      <p:sp>
        <p:nvSpPr>
          <p:cNvPr id="131" name="Text 129"/>
          <p:cNvSpPr/>
          <p:nvPr/>
        </p:nvSpPr>
        <p:spPr>
          <a:xfrm>
            <a:off x="3538728" y="37490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32" name="Shape 130"/>
          <p:cNvSpPr/>
          <p:nvPr/>
        </p:nvSpPr>
        <p:spPr>
          <a:xfrm>
            <a:off x="3922776" y="3048000"/>
            <a:ext cx="54864" cy="91"/>
          </a:xfrm>
          <a:prstGeom prst="line">
            <a:avLst/>
          </a:prstGeom>
          <a:noFill/>
          <a:ln w="12700">
            <a:solidFill>
              <a:srgbClr val="1A2340"/>
            </a:solidFill>
            <a:prstDash val="solid"/>
          </a:ln>
        </p:spPr>
      </p:sp>
      <p:sp>
        <p:nvSpPr>
          <p:cNvPr id="133" name="Text 131"/>
          <p:cNvSpPr/>
          <p:nvPr/>
        </p:nvSpPr>
        <p:spPr>
          <a:xfrm>
            <a:off x="3538728" y="29565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34" name="Shape 132"/>
          <p:cNvSpPr/>
          <p:nvPr/>
        </p:nvSpPr>
        <p:spPr>
          <a:xfrm>
            <a:off x="3922776" y="2255520"/>
            <a:ext cx="54864" cy="91"/>
          </a:xfrm>
          <a:prstGeom prst="line">
            <a:avLst/>
          </a:prstGeom>
          <a:noFill/>
          <a:ln w="12700">
            <a:solidFill>
              <a:srgbClr val="1A2340"/>
            </a:solidFill>
            <a:prstDash val="solid"/>
          </a:ln>
        </p:spPr>
      </p:sp>
      <p:sp>
        <p:nvSpPr>
          <p:cNvPr id="135" name="Text 133"/>
          <p:cNvSpPr/>
          <p:nvPr/>
        </p:nvSpPr>
        <p:spPr>
          <a:xfrm>
            <a:off x="3538728" y="2164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136" name="Shape 134"/>
          <p:cNvSpPr/>
          <p:nvPr/>
        </p:nvSpPr>
        <p:spPr>
          <a:xfrm>
            <a:off x="3922776" y="1463040"/>
            <a:ext cx="54864" cy="91"/>
          </a:xfrm>
          <a:prstGeom prst="line">
            <a:avLst/>
          </a:prstGeom>
          <a:noFill/>
          <a:ln w="12700">
            <a:solidFill>
              <a:srgbClr val="1A2340"/>
            </a:solidFill>
            <a:prstDash val="solid"/>
          </a:ln>
        </p:spPr>
      </p:sp>
      <p:sp>
        <p:nvSpPr>
          <p:cNvPr id="137" name="Text 135"/>
          <p:cNvSpPr/>
          <p:nvPr/>
        </p:nvSpPr>
        <p:spPr>
          <a:xfrm>
            <a:off x="353872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138" name="Text 136"/>
          <p:cNvSpPr/>
          <p:nvPr/>
        </p:nvSpPr>
        <p:spPr>
          <a:xfrm>
            <a:off x="3977640" y="4087368"/>
            <a:ext cx="1783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139" name="Text 137"/>
          <p:cNvSpPr/>
          <p:nvPr/>
        </p:nvSpPr>
        <p:spPr>
          <a:xfrm rot="16200000">
            <a:off x="2221992" y="2523744"/>
            <a:ext cx="23774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resistance / kΩ</a:t>
            </a:r>
            <a:endParaRPr lang="en-US" sz="1050" dirty="0"/>
          </a:p>
        </p:txBody>
      </p:sp>
      <p:sp>
        <p:nvSpPr>
          <p:cNvPr id="140" name="Shape 138"/>
          <p:cNvSpPr/>
          <p:nvPr/>
        </p:nvSpPr>
        <p:spPr>
          <a:xfrm>
            <a:off x="3977640" y="1686296"/>
            <a:ext cx="35662" cy="165622"/>
          </a:xfrm>
          <a:prstGeom prst="line">
            <a:avLst/>
          </a:prstGeom>
          <a:noFill/>
          <a:ln w="31750">
            <a:solidFill>
              <a:srgbClr val="C8414C"/>
            </a:solidFill>
            <a:prstDash val="solid"/>
          </a:ln>
        </p:spPr>
      </p:sp>
      <p:sp>
        <p:nvSpPr>
          <p:cNvPr id="141" name="Shape 139"/>
          <p:cNvSpPr/>
          <p:nvPr/>
        </p:nvSpPr>
        <p:spPr>
          <a:xfrm>
            <a:off x="4013302" y="1851918"/>
            <a:ext cx="35662" cy="152888"/>
          </a:xfrm>
          <a:prstGeom prst="line">
            <a:avLst/>
          </a:prstGeom>
          <a:noFill/>
          <a:ln w="31750">
            <a:solidFill>
              <a:srgbClr val="C8414C"/>
            </a:solidFill>
            <a:prstDash val="solid"/>
          </a:ln>
        </p:spPr>
      </p:sp>
      <p:sp>
        <p:nvSpPr>
          <p:cNvPr id="142" name="Shape 140"/>
          <p:cNvSpPr/>
          <p:nvPr/>
        </p:nvSpPr>
        <p:spPr>
          <a:xfrm>
            <a:off x="4048963" y="2004805"/>
            <a:ext cx="35662" cy="141133"/>
          </a:xfrm>
          <a:prstGeom prst="line">
            <a:avLst/>
          </a:prstGeom>
          <a:noFill/>
          <a:ln w="31750">
            <a:solidFill>
              <a:srgbClr val="C8414C"/>
            </a:solidFill>
            <a:prstDash val="solid"/>
          </a:ln>
        </p:spPr>
      </p:sp>
      <p:sp>
        <p:nvSpPr>
          <p:cNvPr id="143" name="Shape 141"/>
          <p:cNvSpPr/>
          <p:nvPr/>
        </p:nvSpPr>
        <p:spPr>
          <a:xfrm>
            <a:off x="4084625" y="2145939"/>
            <a:ext cx="35662" cy="130283"/>
          </a:xfrm>
          <a:prstGeom prst="line">
            <a:avLst/>
          </a:prstGeom>
          <a:noFill/>
          <a:ln w="31750">
            <a:solidFill>
              <a:srgbClr val="C8414C"/>
            </a:solidFill>
            <a:prstDash val="solid"/>
          </a:ln>
        </p:spPr>
      </p:sp>
      <p:sp>
        <p:nvSpPr>
          <p:cNvPr id="144" name="Shape 142"/>
          <p:cNvSpPr/>
          <p:nvPr/>
        </p:nvSpPr>
        <p:spPr>
          <a:xfrm>
            <a:off x="4120286" y="2276221"/>
            <a:ext cx="35662" cy="120266"/>
          </a:xfrm>
          <a:prstGeom prst="line">
            <a:avLst/>
          </a:prstGeom>
          <a:noFill/>
          <a:ln w="31750">
            <a:solidFill>
              <a:srgbClr val="C8414C"/>
            </a:solidFill>
            <a:prstDash val="solid"/>
          </a:ln>
        </p:spPr>
      </p:sp>
      <p:sp>
        <p:nvSpPr>
          <p:cNvPr id="145" name="Shape 143"/>
          <p:cNvSpPr/>
          <p:nvPr/>
        </p:nvSpPr>
        <p:spPr>
          <a:xfrm>
            <a:off x="4155948" y="2396487"/>
            <a:ext cx="35662" cy="111019"/>
          </a:xfrm>
          <a:prstGeom prst="line">
            <a:avLst/>
          </a:prstGeom>
          <a:noFill/>
          <a:ln w="31750">
            <a:solidFill>
              <a:srgbClr val="C8414C"/>
            </a:solidFill>
            <a:prstDash val="solid"/>
          </a:ln>
        </p:spPr>
      </p:sp>
      <p:sp>
        <p:nvSpPr>
          <p:cNvPr id="146" name="Shape 144"/>
          <p:cNvSpPr/>
          <p:nvPr/>
        </p:nvSpPr>
        <p:spPr>
          <a:xfrm>
            <a:off x="4191610" y="2507507"/>
            <a:ext cx="35662" cy="102484"/>
          </a:xfrm>
          <a:prstGeom prst="line">
            <a:avLst/>
          </a:prstGeom>
          <a:noFill/>
          <a:ln w="31750">
            <a:solidFill>
              <a:srgbClr val="C8414C"/>
            </a:solidFill>
            <a:prstDash val="solid"/>
          </a:ln>
        </p:spPr>
      </p:sp>
      <p:sp>
        <p:nvSpPr>
          <p:cNvPr id="147" name="Shape 145"/>
          <p:cNvSpPr/>
          <p:nvPr/>
        </p:nvSpPr>
        <p:spPr>
          <a:xfrm>
            <a:off x="4227271" y="2609991"/>
            <a:ext cx="35662" cy="94605"/>
          </a:xfrm>
          <a:prstGeom prst="line">
            <a:avLst/>
          </a:prstGeom>
          <a:noFill/>
          <a:ln w="31750">
            <a:solidFill>
              <a:srgbClr val="C8414C"/>
            </a:solidFill>
            <a:prstDash val="solid"/>
          </a:ln>
        </p:spPr>
      </p:sp>
      <p:sp>
        <p:nvSpPr>
          <p:cNvPr id="148" name="Shape 146"/>
          <p:cNvSpPr/>
          <p:nvPr/>
        </p:nvSpPr>
        <p:spPr>
          <a:xfrm>
            <a:off x="4262933" y="2704595"/>
            <a:ext cx="35662" cy="87331"/>
          </a:xfrm>
          <a:prstGeom prst="line">
            <a:avLst/>
          </a:prstGeom>
          <a:noFill/>
          <a:ln w="31750">
            <a:solidFill>
              <a:srgbClr val="C8414C"/>
            </a:solidFill>
            <a:prstDash val="solid"/>
          </a:ln>
        </p:spPr>
      </p:sp>
      <p:sp>
        <p:nvSpPr>
          <p:cNvPr id="149" name="Shape 147"/>
          <p:cNvSpPr/>
          <p:nvPr/>
        </p:nvSpPr>
        <p:spPr>
          <a:xfrm>
            <a:off x="4298594" y="2791926"/>
            <a:ext cx="35662" cy="80617"/>
          </a:xfrm>
          <a:prstGeom prst="line">
            <a:avLst/>
          </a:prstGeom>
          <a:noFill/>
          <a:ln w="31750">
            <a:solidFill>
              <a:srgbClr val="C8414C"/>
            </a:solidFill>
            <a:prstDash val="solid"/>
          </a:ln>
        </p:spPr>
      </p:sp>
      <p:sp>
        <p:nvSpPr>
          <p:cNvPr id="150" name="Shape 148"/>
          <p:cNvSpPr/>
          <p:nvPr/>
        </p:nvSpPr>
        <p:spPr>
          <a:xfrm>
            <a:off x="4334256" y="2872543"/>
            <a:ext cx="35662" cy="74419"/>
          </a:xfrm>
          <a:prstGeom prst="line">
            <a:avLst/>
          </a:prstGeom>
          <a:noFill/>
          <a:ln w="31750">
            <a:solidFill>
              <a:srgbClr val="C8414C"/>
            </a:solidFill>
            <a:prstDash val="solid"/>
          </a:ln>
        </p:spPr>
      </p:sp>
      <p:sp>
        <p:nvSpPr>
          <p:cNvPr id="151" name="Shape 149"/>
          <p:cNvSpPr/>
          <p:nvPr/>
        </p:nvSpPr>
        <p:spPr>
          <a:xfrm>
            <a:off x="4369918" y="2946961"/>
            <a:ext cx="35662" cy="68697"/>
          </a:xfrm>
          <a:prstGeom prst="line">
            <a:avLst/>
          </a:prstGeom>
          <a:noFill/>
          <a:ln w="31750">
            <a:solidFill>
              <a:srgbClr val="C8414C"/>
            </a:solidFill>
            <a:prstDash val="solid"/>
          </a:ln>
        </p:spPr>
      </p:sp>
      <p:sp>
        <p:nvSpPr>
          <p:cNvPr id="152" name="Shape 150"/>
          <p:cNvSpPr/>
          <p:nvPr/>
        </p:nvSpPr>
        <p:spPr>
          <a:xfrm>
            <a:off x="4405579" y="3015658"/>
            <a:ext cx="35662" cy="63415"/>
          </a:xfrm>
          <a:prstGeom prst="line">
            <a:avLst/>
          </a:prstGeom>
          <a:noFill/>
          <a:ln w="31750">
            <a:solidFill>
              <a:srgbClr val="C8414C"/>
            </a:solidFill>
            <a:prstDash val="solid"/>
          </a:ln>
        </p:spPr>
      </p:sp>
      <p:sp>
        <p:nvSpPr>
          <p:cNvPr id="153" name="Shape 151"/>
          <p:cNvSpPr/>
          <p:nvPr/>
        </p:nvSpPr>
        <p:spPr>
          <a:xfrm>
            <a:off x="4441241" y="3079074"/>
            <a:ext cx="35662" cy="58540"/>
          </a:xfrm>
          <a:prstGeom prst="line">
            <a:avLst/>
          </a:prstGeom>
          <a:noFill/>
          <a:ln w="31750">
            <a:solidFill>
              <a:srgbClr val="C8414C"/>
            </a:solidFill>
            <a:prstDash val="solid"/>
          </a:ln>
        </p:spPr>
      </p:sp>
      <p:sp>
        <p:nvSpPr>
          <p:cNvPr id="154" name="Shape 152"/>
          <p:cNvSpPr/>
          <p:nvPr/>
        </p:nvSpPr>
        <p:spPr>
          <a:xfrm>
            <a:off x="4476902" y="3137613"/>
            <a:ext cx="35662" cy="54039"/>
          </a:xfrm>
          <a:prstGeom prst="line">
            <a:avLst/>
          </a:prstGeom>
          <a:noFill/>
          <a:ln w="31750">
            <a:solidFill>
              <a:srgbClr val="C8414C"/>
            </a:solidFill>
            <a:prstDash val="solid"/>
          </a:ln>
        </p:spPr>
      </p:sp>
      <p:sp>
        <p:nvSpPr>
          <p:cNvPr id="155" name="Shape 153"/>
          <p:cNvSpPr/>
          <p:nvPr/>
        </p:nvSpPr>
        <p:spPr>
          <a:xfrm>
            <a:off x="4512564" y="3191652"/>
            <a:ext cx="35662" cy="49884"/>
          </a:xfrm>
          <a:prstGeom prst="line">
            <a:avLst/>
          </a:prstGeom>
          <a:noFill/>
          <a:ln w="31750">
            <a:solidFill>
              <a:srgbClr val="C8414C"/>
            </a:solidFill>
            <a:prstDash val="solid"/>
          </a:ln>
        </p:spPr>
      </p:sp>
      <p:sp>
        <p:nvSpPr>
          <p:cNvPr id="156" name="Shape 154"/>
          <p:cNvSpPr/>
          <p:nvPr/>
        </p:nvSpPr>
        <p:spPr>
          <a:xfrm>
            <a:off x="4548226" y="3241537"/>
            <a:ext cx="35662" cy="46049"/>
          </a:xfrm>
          <a:prstGeom prst="line">
            <a:avLst/>
          </a:prstGeom>
          <a:noFill/>
          <a:ln w="31750">
            <a:solidFill>
              <a:srgbClr val="C8414C"/>
            </a:solidFill>
            <a:prstDash val="solid"/>
          </a:ln>
        </p:spPr>
      </p:sp>
      <p:sp>
        <p:nvSpPr>
          <p:cNvPr id="157" name="Shape 155"/>
          <p:cNvSpPr/>
          <p:nvPr/>
        </p:nvSpPr>
        <p:spPr>
          <a:xfrm>
            <a:off x="4583887" y="3287585"/>
            <a:ext cx="35662" cy="42509"/>
          </a:xfrm>
          <a:prstGeom prst="line">
            <a:avLst/>
          </a:prstGeom>
          <a:noFill/>
          <a:ln w="31750">
            <a:solidFill>
              <a:srgbClr val="C8414C"/>
            </a:solidFill>
            <a:prstDash val="solid"/>
          </a:ln>
        </p:spPr>
      </p:sp>
      <p:sp>
        <p:nvSpPr>
          <p:cNvPr id="158" name="Shape 156"/>
          <p:cNvSpPr/>
          <p:nvPr/>
        </p:nvSpPr>
        <p:spPr>
          <a:xfrm>
            <a:off x="4619549" y="3330094"/>
            <a:ext cx="35662" cy="39240"/>
          </a:xfrm>
          <a:prstGeom prst="line">
            <a:avLst/>
          </a:prstGeom>
          <a:noFill/>
          <a:ln w="31750">
            <a:solidFill>
              <a:srgbClr val="C8414C"/>
            </a:solidFill>
            <a:prstDash val="solid"/>
          </a:ln>
        </p:spPr>
      </p:sp>
      <p:sp>
        <p:nvSpPr>
          <p:cNvPr id="159" name="Shape 157"/>
          <p:cNvSpPr/>
          <p:nvPr/>
        </p:nvSpPr>
        <p:spPr>
          <a:xfrm>
            <a:off x="4655210" y="3369334"/>
            <a:ext cx="35662" cy="36223"/>
          </a:xfrm>
          <a:prstGeom prst="line">
            <a:avLst/>
          </a:prstGeom>
          <a:noFill/>
          <a:ln w="31750">
            <a:solidFill>
              <a:srgbClr val="C8414C"/>
            </a:solidFill>
            <a:prstDash val="solid"/>
          </a:ln>
        </p:spPr>
      </p:sp>
      <p:sp>
        <p:nvSpPr>
          <p:cNvPr id="160" name="Shape 158"/>
          <p:cNvSpPr/>
          <p:nvPr/>
        </p:nvSpPr>
        <p:spPr>
          <a:xfrm>
            <a:off x="4690872" y="3405558"/>
            <a:ext cx="35662" cy="33438"/>
          </a:xfrm>
          <a:prstGeom prst="line">
            <a:avLst/>
          </a:prstGeom>
          <a:noFill/>
          <a:ln w="31750">
            <a:solidFill>
              <a:srgbClr val="C8414C"/>
            </a:solidFill>
            <a:prstDash val="solid"/>
          </a:ln>
        </p:spPr>
      </p:sp>
      <p:sp>
        <p:nvSpPr>
          <p:cNvPr id="161" name="Shape 159"/>
          <p:cNvSpPr/>
          <p:nvPr/>
        </p:nvSpPr>
        <p:spPr>
          <a:xfrm>
            <a:off x="4726534" y="3438996"/>
            <a:ext cx="35662" cy="30868"/>
          </a:xfrm>
          <a:prstGeom prst="line">
            <a:avLst/>
          </a:prstGeom>
          <a:noFill/>
          <a:ln w="31750">
            <a:solidFill>
              <a:srgbClr val="C8414C"/>
            </a:solidFill>
            <a:prstDash val="solid"/>
          </a:ln>
        </p:spPr>
      </p:sp>
      <p:sp>
        <p:nvSpPr>
          <p:cNvPr id="162" name="Shape 160"/>
          <p:cNvSpPr/>
          <p:nvPr/>
        </p:nvSpPr>
        <p:spPr>
          <a:xfrm>
            <a:off x="4762195" y="3469864"/>
            <a:ext cx="35662" cy="28494"/>
          </a:xfrm>
          <a:prstGeom prst="line">
            <a:avLst/>
          </a:prstGeom>
          <a:noFill/>
          <a:ln w="31750">
            <a:solidFill>
              <a:srgbClr val="C8414C"/>
            </a:solidFill>
            <a:prstDash val="solid"/>
          </a:ln>
        </p:spPr>
      </p:sp>
      <p:sp>
        <p:nvSpPr>
          <p:cNvPr id="163" name="Shape 161"/>
          <p:cNvSpPr/>
          <p:nvPr/>
        </p:nvSpPr>
        <p:spPr>
          <a:xfrm>
            <a:off x="4797857" y="3498358"/>
            <a:ext cx="35662" cy="26304"/>
          </a:xfrm>
          <a:prstGeom prst="line">
            <a:avLst/>
          </a:prstGeom>
          <a:noFill/>
          <a:ln w="31750">
            <a:solidFill>
              <a:srgbClr val="C8414C"/>
            </a:solidFill>
            <a:prstDash val="solid"/>
          </a:ln>
        </p:spPr>
      </p:sp>
      <p:sp>
        <p:nvSpPr>
          <p:cNvPr id="164" name="Shape 162"/>
          <p:cNvSpPr/>
          <p:nvPr/>
        </p:nvSpPr>
        <p:spPr>
          <a:xfrm>
            <a:off x="4833518" y="3524662"/>
            <a:ext cx="35662" cy="24281"/>
          </a:xfrm>
          <a:prstGeom prst="line">
            <a:avLst/>
          </a:prstGeom>
          <a:noFill/>
          <a:ln w="31750">
            <a:solidFill>
              <a:srgbClr val="C8414C"/>
            </a:solidFill>
            <a:prstDash val="solid"/>
          </a:ln>
        </p:spPr>
      </p:sp>
      <p:sp>
        <p:nvSpPr>
          <p:cNvPr id="165" name="Shape 163"/>
          <p:cNvSpPr/>
          <p:nvPr/>
        </p:nvSpPr>
        <p:spPr>
          <a:xfrm>
            <a:off x="4869180" y="3548943"/>
            <a:ext cx="35662" cy="22414"/>
          </a:xfrm>
          <a:prstGeom prst="line">
            <a:avLst/>
          </a:prstGeom>
          <a:noFill/>
          <a:ln w="31750">
            <a:solidFill>
              <a:srgbClr val="C8414C"/>
            </a:solidFill>
            <a:prstDash val="solid"/>
          </a:ln>
        </p:spPr>
      </p:sp>
      <p:sp>
        <p:nvSpPr>
          <p:cNvPr id="166" name="Shape 164"/>
          <p:cNvSpPr/>
          <p:nvPr/>
        </p:nvSpPr>
        <p:spPr>
          <a:xfrm>
            <a:off x="4904842" y="3571357"/>
            <a:ext cx="35662" cy="20691"/>
          </a:xfrm>
          <a:prstGeom prst="line">
            <a:avLst/>
          </a:prstGeom>
          <a:noFill/>
          <a:ln w="31750">
            <a:solidFill>
              <a:srgbClr val="C8414C"/>
            </a:solidFill>
            <a:prstDash val="solid"/>
          </a:ln>
        </p:spPr>
      </p:sp>
      <p:sp>
        <p:nvSpPr>
          <p:cNvPr id="167" name="Shape 165"/>
          <p:cNvSpPr/>
          <p:nvPr/>
        </p:nvSpPr>
        <p:spPr>
          <a:xfrm>
            <a:off x="4940503" y="3592048"/>
            <a:ext cx="35662" cy="19100"/>
          </a:xfrm>
          <a:prstGeom prst="line">
            <a:avLst/>
          </a:prstGeom>
          <a:noFill/>
          <a:ln w="31750">
            <a:solidFill>
              <a:srgbClr val="C8414C"/>
            </a:solidFill>
            <a:prstDash val="solid"/>
          </a:ln>
        </p:spPr>
      </p:sp>
      <p:sp>
        <p:nvSpPr>
          <p:cNvPr id="168" name="Shape 166"/>
          <p:cNvSpPr/>
          <p:nvPr/>
        </p:nvSpPr>
        <p:spPr>
          <a:xfrm>
            <a:off x="4976165" y="3611149"/>
            <a:ext cx="35662" cy="17632"/>
          </a:xfrm>
          <a:prstGeom prst="line">
            <a:avLst/>
          </a:prstGeom>
          <a:noFill/>
          <a:ln w="31750">
            <a:solidFill>
              <a:srgbClr val="C8414C"/>
            </a:solidFill>
            <a:prstDash val="solid"/>
          </a:ln>
        </p:spPr>
      </p:sp>
      <p:sp>
        <p:nvSpPr>
          <p:cNvPr id="169" name="Shape 167"/>
          <p:cNvSpPr/>
          <p:nvPr/>
        </p:nvSpPr>
        <p:spPr>
          <a:xfrm>
            <a:off x="5011826" y="3628781"/>
            <a:ext cx="35662" cy="16276"/>
          </a:xfrm>
          <a:prstGeom prst="line">
            <a:avLst/>
          </a:prstGeom>
          <a:noFill/>
          <a:ln w="31750">
            <a:solidFill>
              <a:srgbClr val="C8414C"/>
            </a:solidFill>
            <a:prstDash val="solid"/>
          </a:ln>
        </p:spPr>
      </p:sp>
      <p:sp>
        <p:nvSpPr>
          <p:cNvPr id="170" name="Shape 168"/>
          <p:cNvSpPr/>
          <p:nvPr/>
        </p:nvSpPr>
        <p:spPr>
          <a:xfrm>
            <a:off x="5047488" y="3645057"/>
            <a:ext cx="35662" cy="15025"/>
          </a:xfrm>
          <a:prstGeom prst="line">
            <a:avLst/>
          </a:prstGeom>
          <a:noFill/>
          <a:ln w="31750">
            <a:solidFill>
              <a:srgbClr val="C8414C"/>
            </a:solidFill>
            <a:prstDash val="solid"/>
          </a:ln>
        </p:spPr>
      </p:sp>
      <p:sp>
        <p:nvSpPr>
          <p:cNvPr id="171" name="Shape 169"/>
          <p:cNvSpPr/>
          <p:nvPr/>
        </p:nvSpPr>
        <p:spPr>
          <a:xfrm>
            <a:off x="5083150" y="3660082"/>
            <a:ext cx="35662" cy="13870"/>
          </a:xfrm>
          <a:prstGeom prst="line">
            <a:avLst/>
          </a:prstGeom>
          <a:noFill/>
          <a:ln w="31750">
            <a:solidFill>
              <a:srgbClr val="C8414C"/>
            </a:solidFill>
            <a:prstDash val="solid"/>
          </a:ln>
        </p:spPr>
      </p:sp>
      <p:sp>
        <p:nvSpPr>
          <p:cNvPr id="172" name="Shape 170"/>
          <p:cNvSpPr/>
          <p:nvPr/>
        </p:nvSpPr>
        <p:spPr>
          <a:xfrm>
            <a:off x="5118811" y="3673951"/>
            <a:ext cx="35662" cy="12803"/>
          </a:xfrm>
          <a:prstGeom prst="line">
            <a:avLst/>
          </a:prstGeom>
          <a:noFill/>
          <a:ln w="31750">
            <a:solidFill>
              <a:srgbClr val="C8414C"/>
            </a:solidFill>
            <a:prstDash val="solid"/>
          </a:ln>
        </p:spPr>
      </p:sp>
      <p:sp>
        <p:nvSpPr>
          <p:cNvPr id="173" name="Shape 171"/>
          <p:cNvSpPr/>
          <p:nvPr/>
        </p:nvSpPr>
        <p:spPr>
          <a:xfrm>
            <a:off x="5154473" y="3686755"/>
            <a:ext cx="35662" cy="11819"/>
          </a:xfrm>
          <a:prstGeom prst="line">
            <a:avLst/>
          </a:prstGeom>
          <a:noFill/>
          <a:ln w="31750">
            <a:solidFill>
              <a:srgbClr val="C8414C"/>
            </a:solidFill>
            <a:prstDash val="solid"/>
          </a:ln>
        </p:spPr>
      </p:sp>
      <p:sp>
        <p:nvSpPr>
          <p:cNvPr id="174" name="Shape 172"/>
          <p:cNvSpPr/>
          <p:nvPr/>
        </p:nvSpPr>
        <p:spPr>
          <a:xfrm>
            <a:off x="5190134" y="3698574"/>
            <a:ext cx="35662" cy="10910"/>
          </a:xfrm>
          <a:prstGeom prst="line">
            <a:avLst/>
          </a:prstGeom>
          <a:noFill/>
          <a:ln w="31750">
            <a:solidFill>
              <a:srgbClr val="C8414C"/>
            </a:solidFill>
            <a:prstDash val="solid"/>
          </a:ln>
        </p:spPr>
      </p:sp>
      <p:sp>
        <p:nvSpPr>
          <p:cNvPr id="175" name="Shape 173"/>
          <p:cNvSpPr/>
          <p:nvPr/>
        </p:nvSpPr>
        <p:spPr>
          <a:xfrm>
            <a:off x="5225796" y="3709484"/>
            <a:ext cx="35662" cy="10071"/>
          </a:xfrm>
          <a:prstGeom prst="line">
            <a:avLst/>
          </a:prstGeom>
          <a:noFill/>
          <a:ln w="31750">
            <a:solidFill>
              <a:srgbClr val="C8414C"/>
            </a:solidFill>
            <a:prstDash val="solid"/>
          </a:ln>
        </p:spPr>
      </p:sp>
      <p:sp>
        <p:nvSpPr>
          <p:cNvPr id="176" name="Shape 174"/>
          <p:cNvSpPr/>
          <p:nvPr/>
        </p:nvSpPr>
        <p:spPr>
          <a:xfrm>
            <a:off x="5261458" y="3719555"/>
            <a:ext cx="35662" cy="9297"/>
          </a:xfrm>
          <a:prstGeom prst="line">
            <a:avLst/>
          </a:prstGeom>
          <a:noFill/>
          <a:ln w="31750">
            <a:solidFill>
              <a:srgbClr val="C8414C"/>
            </a:solidFill>
            <a:prstDash val="solid"/>
          </a:ln>
        </p:spPr>
      </p:sp>
      <p:sp>
        <p:nvSpPr>
          <p:cNvPr id="177" name="Shape 175"/>
          <p:cNvSpPr/>
          <p:nvPr/>
        </p:nvSpPr>
        <p:spPr>
          <a:xfrm>
            <a:off x="5297119" y="3728853"/>
            <a:ext cx="35662" cy="8582"/>
          </a:xfrm>
          <a:prstGeom prst="line">
            <a:avLst/>
          </a:prstGeom>
          <a:noFill/>
          <a:ln w="31750">
            <a:solidFill>
              <a:srgbClr val="C8414C"/>
            </a:solidFill>
            <a:prstDash val="solid"/>
          </a:ln>
        </p:spPr>
      </p:sp>
      <p:sp>
        <p:nvSpPr>
          <p:cNvPr id="178" name="Shape 176"/>
          <p:cNvSpPr/>
          <p:nvPr/>
        </p:nvSpPr>
        <p:spPr>
          <a:xfrm>
            <a:off x="5332781" y="3737435"/>
            <a:ext cx="35662" cy="7922"/>
          </a:xfrm>
          <a:prstGeom prst="line">
            <a:avLst/>
          </a:prstGeom>
          <a:noFill/>
          <a:ln w="31750">
            <a:solidFill>
              <a:srgbClr val="C8414C"/>
            </a:solidFill>
            <a:prstDash val="solid"/>
          </a:ln>
        </p:spPr>
      </p:sp>
      <p:sp>
        <p:nvSpPr>
          <p:cNvPr id="179" name="Shape 177"/>
          <p:cNvSpPr/>
          <p:nvPr/>
        </p:nvSpPr>
        <p:spPr>
          <a:xfrm>
            <a:off x="5368442" y="3745357"/>
            <a:ext cx="35662" cy="7313"/>
          </a:xfrm>
          <a:prstGeom prst="line">
            <a:avLst/>
          </a:prstGeom>
          <a:noFill/>
          <a:ln w="31750">
            <a:solidFill>
              <a:srgbClr val="C8414C"/>
            </a:solidFill>
            <a:prstDash val="solid"/>
          </a:ln>
        </p:spPr>
      </p:sp>
      <p:sp>
        <p:nvSpPr>
          <p:cNvPr id="180" name="Shape 178"/>
          <p:cNvSpPr/>
          <p:nvPr/>
        </p:nvSpPr>
        <p:spPr>
          <a:xfrm>
            <a:off x="5404104" y="3752671"/>
            <a:ext cx="35662" cy="6751"/>
          </a:xfrm>
          <a:prstGeom prst="line">
            <a:avLst/>
          </a:prstGeom>
          <a:noFill/>
          <a:ln w="31750">
            <a:solidFill>
              <a:srgbClr val="C8414C"/>
            </a:solidFill>
            <a:prstDash val="solid"/>
          </a:ln>
        </p:spPr>
      </p:sp>
      <p:sp>
        <p:nvSpPr>
          <p:cNvPr id="181" name="Shape 179"/>
          <p:cNvSpPr/>
          <p:nvPr/>
        </p:nvSpPr>
        <p:spPr>
          <a:xfrm>
            <a:off x="5439766" y="3759422"/>
            <a:ext cx="35662" cy="6232"/>
          </a:xfrm>
          <a:prstGeom prst="line">
            <a:avLst/>
          </a:prstGeom>
          <a:noFill/>
          <a:ln w="31750">
            <a:solidFill>
              <a:srgbClr val="C8414C"/>
            </a:solidFill>
            <a:prstDash val="solid"/>
          </a:ln>
        </p:spPr>
      </p:sp>
      <p:sp>
        <p:nvSpPr>
          <p:cNvPr id="182" name="Shape 180"/>
          <p:cNvSpPr/>
          <p:nvPr/>
        </p:nvSpPr>
        <p:spPr>
          <a:xfrm>
            <a:off x="5475427" y="3765654"/>
            <a:ext cx="35662" cy="5753"/>
          </a:xfrm>
          <a:prstGeom prst="line">
            <a:avLst/>
          </a:prstGeom>
          <a:noFill/>
          <a:ln w="31750">
            <a:solidFill>
              <a:srgbClr val="C8414C"/>
            </a:solidFill>
            <a:prstDash val="solid"/>
          </a:ln>
        </p:spPr>
      </p:sp>
      <p:sp>
        <p:nvSpPr>
          <p:cNvPr id="183" name="Shape 181"/>
          <p:cNvSpPr/>
          <p:nvPr/>
        </p:nvSpPr>
        <p:spPr>
          <a:xfrm>
            <a:off x="5511089" y="3771407"/>
            <a:ext cx="35662" cy="5311"/>
          </a:xfrm>
          <a:prstGeom prst="line">
            <a:avLst/>
          </a:prstGeom>
          <a:noFill/>
          <a:ln w="31750">
            <a:solidFill>
              <a:srgbClr val="C8414C"/>
            </a:solidFill>
            <a:prstDash val="solid"/>
          </a:ln>
        </p:spPr>
      </p:sp>
      <p:sp>
        <p:nvSpPr>
          <p:cNvPr id="184" name="Shape 182"/>
          <p:cNvSpPr/>
          <p:nvPr/>
        </p:nvSpPr>
        <p:spPr>
          <a:xfrm>
            <a:off x="5546750" y="3776717"/>
            <a:ext cx="35662" cy="4902"/>
          </a:xfrm>
          <a:prstGeom prst="line">
            <a:avLst/>
          </a:prstGeom>
          <a:noFill/>
          <a:ln w="31750">
            <a:solidFill>
              <a:srgbClr val="C8414C"/>
            </a:solidFill>
            <a:prstDash val="solid"/>
          </a:ln>
        </p:spPr>
      </p:sp>
      <p:sp>
        <p:nvSpPr>
          <p:cNvPr id="185" name="Shape 183"/>
          <p:cNvSpPr/>
          <p:nvPr/>
        </p:nvSpPr>
        <p:spPr>
          <a:xfrm>
            <a:off x="5582412" y="3781620"/>
            <a:ext cx="35662" cy="4525"/>
          </a:xfrm>
          <a:prstGeom prst="line">
            <a:avLst/>
          </a:prstGeom>
          <a:noFill/>
          <a:ln w="31750">
            <a:solidFill>
              <a:srgbClr val="C8414C"/>
            </a:solidFill>
            <a:prstDash val="solid"/>
          </a:ln>
        </p:spPr>
      </p:sp>
      <p:sp>
        <p:nvSpPr>
          <p:cNvPr id="186" name="Shape 184"/>
          <p:cNvSpPr/>
          <p:nvPr/>
        </p:nvSpPr>
        <p:spPr>
          <a:xfrm>
            <a:off x="5618074" y="3786145"/>
            <a:ext cx="35662" cy="4177"/>
          </a:xfrm>
          <a:prstGeom prst="line">
            <a:avLst/>
          </a:prstGeom>
          <a:noFill/>
          <a:ln w="31750">
            <a:solidFill>
              <a:srgbClr val="C8414C"/>
            </a:solidFill>
            <a:prstDash val="solid"/>
          </a:ln>
        </p:spPr>
      </p:sp>
      <p:sp>
        <p:nvSpPr>
          <p:cNvPr id="187" name="Shape 185"/>
          <p:cNvSpPr/>
          <p:nvPr/>
        </p:nvSpPr>
        <p:spPr>
          <a:xfrm>
            <a:off x="5653735" y="3790323"/>
            <a:ext cx="35662" cy="3856"/>
          </a:xfrm>
          <a:prstGeom prst="line">
            <a:avLst/>
          </a:prstGeom>
          <a:noFill/>
          <a:ln w="31750">
            <a:solidFill>
              <a:srgbClr val="C8414C"/>
            </a:solidFill>
            <a:prstDash val="solid"/>
          </a:ln>
        </p:spPr>
      </p:sp>
      <p:sp>
        <p:nvSpPr>
          <p:cNvPr id="188" name="Shape 186"/>
          <p:cNvSpPr/>
          <p:nvPr/>
        </p:nvSpPr>
        <p:spPr>
          <a:xfrm>
            <a:off x="5689397" y="3794179"/>
            <a:ext cx="35662" cy="3560"/>
          </a:xfrm>
          <a:prstGeom prst="line">
            <a:avLst/>
          </a:prstGeom>
          <a:noFill/>
          <a:ln w="31750">
            <a:solidFill>
              <a:srgbClr val="C8414C"/>
            </a:solidFill>
            <a:prstDash val="solid"/>
          </a:ln>
        </p:spPr>
      </p:sp>
      <p:sp>
        <p:nvSpPr>
          <p:cNvPr id="189" name="Shape 187"/>
          <p:cNvSpPr/>
          <p:nvPr/>
        </p:nvSpPr>
        <p:spPr>
          <a:xfrm>
            <a:off x="5725058" y="3797739"/>
            <a:ext cx="35662" cy="3286"/>
          </a:xfrm>
          <a:prstGeom prst="line">
            <a:avLst/>
          </a:prstGeom>
          <a:noFill/>
          <a:ln w="31750">
            <a:solidFill>
              <a:srgbClr val="C8414C"/>
            </a:solidFill>
            <a:prstDash val="solid"/>
          </a:ln>
        </p:spPr>
      </p:sp>
      <p:sp>
        <p:nvSpPr>
          <p:cNvPr id="190" name="Text 188"/>
          <p:cNvSpPr/>
          <p:nvPr/>
        </p:nvSpPr>
        <p:spPr>
          <a:xfrm>
            <a:off x="1188720" y="1252728"/>
            <a:ext cx="1783080" cy="256032"/>
          </a:xfrm>
          <a:prstGeom prst="rect">
            <a:avLst/>
          </a:prstGeom>
          <a:noFill/>
          <a:ln/>
        </p:spPr>
        <p:txBody>
          <a:bodyPr wrap="square" lIns="0" tIns="0" rIns="0" bIns="0" rtlCol="0" anchor="ctr"/>
          <a:lstStyle/>
          <a:p>
            <a:pPr algn="ctr" indent="0" marL="0">
              <a:buNone/>
            </a:pPr>
            <a:r>
              <a:rPr lang="en-US" sz="1200" b="1" dirty="0">
                <a:solidFill>
                  <a:srgbClr val="2E5BD8"/>
                </a:solidFill>
                <a:latin typeface="Calibri" pitchFamily="34" charset="0"/>
                <a:ea typeface="Calibri" pitchFamily="34" charset="-122"/>
                <a:cs typeface="Calibri" pitchFamily="34" charset="-120"/>
              </a:rPr>
              <a:t>LDR</a:t>
            </a:r>
            <a:endParaRPr lang="en-US" sz="1200" dirty="0"/>
          </a:p>
        </p:txBody>
      </p:sp>
      <p:sp>
        <p:nvSpPr>
          <p:cNvPr id="191" name="Text 189"/>
          <p:cNvSpPr/>
          <p:nvPr/>
        </p:nvSpPr>
        <p:spPr>
          <a:xfrm>
            <a:off x="3977640" y="1252728"/>
            <a:ext cx="1783080" cy="256032"/>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Thermistor (NTC)</a:t>
            </a:r>
            <a:endParaRPr lang="en-US" sz="1200" dirty="0"/>
          </a:p>
        </p:txBody>
      </p:sp>
      <p:sp>
        <p:nvSpPr>
          <p:cNvPr id="192" name="Shape 190"/>
          <p:cNvSpPr/>
          <p:nvPr/>
        </p:nvSpPr>
        <p:spPr>
          <a:xfrm>
            <a:off x="1824228" y="4613148"/>
            <a:ext cx="466344" cy="466344"/>
          </a:xfrm>
          <a:prstGeom prst="ellipse">
            <a:avLst/>
          </a:prstGeom>
          <a:solidFill>
            <a:srgbClr val="FFFFFF"/>
          </a:solidFill>
          <a:ln w="19050">
            <a:solidFill>
              <a:srgbClr val="1A2340"/>
            </a:solidFill>
            <a:prstDash val="solid"/>
          </a:ln>
        </p:spPr>
      </p:sp>
      <p:sp>
        <p:nvSpPr>
          <p:cNvPr id="193" name="Shape 191"/>
          <p:cNvSpPr/>
          <p:nvPr/>
        </p:nvSpPr>
        <p:spPr>
          <a:xfrm>
            <a:off x="1280160" y="4846320"/>
            <a:ext cx="621792" cy="91"/>
          </a:xfrm>
          <a:prstGeom prst="line">
            <a:avLst/>
          </a:prstGeom>
          <a:noFill/>
          <a:ln w="19050">
            <a:solidFill>
              <a:srgbClr val="1A2340"/>
            </a:solidFill>
            <a:prstDash val="solid"/>
          </a:ln>
        </p:spPr>
      </p:sp>
      <p:sp>
        <p:nvSpPr>
          <p:cNvPr id="194" name="Shape 192"/>
          <p:cNvSpPr/>
          <p:nvPr/>
        </p:nvSpPr>
        <p:spPr>
          <a:xfrm>
            <a:off x="2212848" y="4846320"/>
            <a:ext cx="621792" cy="91"/>
          </a:xfrm>
          <a:prstGeom prst="line">
            <a:avLst/>
          </a:prstGeom>
          <a:noFill/>
          <a:ln w="19050">
            <a:solidFill>
              <a:srgbClr val="1A2340"/>
            </a:solidFill>
            <a:prstDash val="solid"/>
          </a:ln>
        </p:spPr>
      </p:sp>
      <p:sp>
        <p:nvSpPr>
          <p:cNvPr id="195" name="Shape 193"/>
          <p:cNvSpPr/>
          <p:nvPr/>
        </p:nvSpPr>
        <p:spPr>
          <a:xfrm>
            <a:off x="1901952" y="4788027"/>
            <a:ext cx="310896" cy="116586"/>
          </a:xfrm>
          <a:prstGeom prst="rect">
            <a:avLst/>
          </a:prstGeom>
          <a:solidFill>
            <a:srgbClr val="FFFFFF"/>
          </a:solidFill>
          <a:ln w="19050">
            <a:solidFill>
              <a:srgbClr val="1A2340"/>
            </a:solidFill>
            <a:prstDash val="solid"/>
          </a:ln>
        </p:spPr>
      </p:sp>
      <p:sp>
        <p:nvSpPr>
          <p:cNvPr id="196" name="Shape 194"/>
          <p:cNvSpPr/>
          <p:nvPr/>
        </p:nvSpPr>
        <p:spPr>
          <a:xfrm>
            <a:off x="1684325" y="4364431"/>
            <a:ext cx="217627" cy="225400"/>
          </a:xfrm>
          <a:prstGeom prst="line">
            <a:avLst/>
          </a:prstGeom>
          <a:noFill/>
          <a:ln w="15875">
            <a:solidFill>
              <a:srgbClr val="1A2340"/>
            </a:solidFill>
            <a:prstDash val="solid"/>
            <a:tailEnd type="triangle"/>
          </a:ln>
        </p:spPr>
      </p:sp>
      <p:sp>
        <p:nvSpPr>
          <p:cNvPr id="197" name="Shape 195"/>
          <p:cNvSpPr/>
          <p:nvPr/>
        </p:nvSpPr>
        <p:spPr>
          <a:xfrm>
            <a:off x="1901952" y="4302252"/>
            <a:ext cx="186538" cy="256489"/>
          </a:xfrm>
          <a:prstGeom prst="line">
            <a:avLst/>
          </a:prstGeom>
          <a:noFill/>
          <a:ln w="15875">
            <a:solidFill>
              <a:srgbClr val="1A2340"/>
            </a:solidFill>
            <a:prstDash val="solid"/>
            <a:tailEnd type="triangle"/>
          </a:ln>
        </p:spPr>
      </p:sp>
      <p:sp>
        <p:nvSpPr>
          <p:cNvPr id="198" name="Shape 196"/>
          <p:cNvSpPr/>
          <p:nvPr/>
        </p:nvSpPr>
        <p:spPr>
          <a:xfrm>
            <a:off x="4023360" y="4846320"/>
            <a:ext cx="530352" cy="91"/>
          </a:xfrm>
          <a:prstGeom prst="line">
            <a:avLst/>
          </a:prstGeom>
          <a:noFill/>
          <a:ln w="19050">
            <a:solidFill>
              <a:srgbClr val="1A2340"/>
            </a:solidFill>
            <a:prstDash val="solid"/>
          </a:ln>
        </p:spPr>
      </p:sp>
      <p:sp>
        <p:nvSpPr>
          <p:cNvPr id="199" name="Shape 197"/>
          <p:cNvSpPr/>
          <p:nvPr/>
        </p:nvSpPr>
        <p:spPr>
          <a:xfrm>
            <a:off x="5047488" y="4846320"/>
            <a:ext cx="530352" cy="91"/>
          </a:xfrm>
          <a:prstGeom prst="line">
            <a:avLst/>
          </a:prstGeom>
          <a:noFill/>
          <a:ln w="19050">
            <a:solidFill>
              <a:srgbClr val="1A2340"/>
            </a:solidFill>
            <a:prstDash val="solid"/>
          </a:ln>
        </p:spPr>
      </p:sp>
      <p:sp>
        <p:nvSpPr>
          <p:cNvPr id="200" name="Shape 198"/>
          <p:cNvSpPr/>
          <p:nvPr/>
        </p:nvSpPr>
        <p:spPr>
          <a:xfrm>
            <a:off x="4553712" y="4754880"/>
            <a:ext cx="493776" cy="182880"/>
          </a:xfrm>
          <a:prstGeom prst="rect">
            <a:avLst/>
          </a:prstGeom>
          <a:solidFill>
            <a:srgbClr val="FFFFFF"/>
          </a:solidFill>
          <a:ln w="19050">
            <a:solidFill>
              <a:srgbClr val="1A2340"/>
            </a:solidFill>
            <a:prstDash val="solid"/>
          </a:ln>
        </p:spPr>
      </p:sp>
      <p:sp>
        <p:nvSpPr>
          <p:cNvPr id="201" name="Shape 199"/>
          <p:cNvSpPr/>
          <p:nvPr/>
        </p:nvSpPr>
        <p:spPr>
          <a:xfrm>
            <a:off x="4416552" y="5038344"/>
            <a:ext cx="109728" cy="91"/>
          </a:xfrm>
          <a:prstGeom prst="line">
            <a:avLst/>
          </a:prstGeom>
          <a:noFill/>
          <a:ln w="19050">
            <a:solidFill>
              <a:srgbClr val="1A2340"/>
            </a:solidFill>
            <a:prstDash val="solid"/>
          </a:ln>
        </p:spPr>
      </p:sp>
      <p:sp>
        <p:nvSpPr>
          <p:cNvPr id="202" name="Shape 200"/>
          <p:cNvSpPr/>
          <p:nvPr/>
        </p:nvSpPr>
        <p:spPr>
          <a:xfrm flipV="1">
            <a:off x="4526280" y="4654296"/>
            <a:ext cx="548640" cy="384048"/>
          </a:xfrm>
          <a:prstGeom prst="line">
            <a:avLst/>
          </a:prstGeom>
          <a:noFill/>
          <a:ln w="19050">
            <a:solidFill>
              <a:srgbClr val="1A2340"/>
            </a:solidFill>
            <a:prstDash val="solid"/>
          </a:ln>
        </p:spPr>
      </p:sp>
      <p:sp>
        <p:nvSpPr>
          <p:cNvPr id="203" name="Shape 20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04" name="Text 20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sensing components</a:t>
            </a:r>
            <a:endParaRPr lang="en-US" sz="1300" dirty="0"/>
          </a:p>
        </p:txBody>
      </p:sp>
      <p:sp>
        <p:nvSpPr>
          <p:cNvPr id="205" name="Text 20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LDR (light-dependent resistor):</a:t>
            </a:r>
            <a:r>
              <a:rPr lang="en-US" sz="1150" dirty="0">
                <a:solidFill>
                  <a:srgbClr val="262B3A"/>
                </a:solidFill>
                <a:latin typeface="Calibri" pitchFamily="34" charset="0"/>
                <a:ea typeface="Calibri" pitchFamily="34" charset="-122"/>
                <a:cs typeface="Calibri" pitchFamily="34" charset="-120"/>
              </a:rPr>
              <a:t> resistance </a:t>
            </a:r>
            <a:r>
              <a:rPr lang="en-US" sz="1150" b="1" dirty="0">
                <a:solidFill>
                  <a:srgbClr val="262B3A"/>
                </a:solidFill>
                <a:latin typeface="Calibri" pitchFamily="34" charset="0"/>
                <a:ea typeface="Calibri" pitchFamily="34" charset="-122"/>
                <a:cs typeface="Calibri" pitchFamily="34" charset="-120"/>
              </a:rPr>
              <a:t>decreases</a:t>
            </a:r>
            <a:r>
              <a:rPr lang="en-US" sz="1150" dirty="0">
                <a:solidFill>
                  <a:srgbClr val="262B3A"/>
                </a:solidFill>
                <a:latin typeface="Calibri" pitchFamily="34" charset="0"/>
                <a:ea typeface="Calibri" pitchFamily="34" charset="-122"/>
                <a:cs typeface="Calibri" pitchFamily="34" charset="-120"/>
              </a:rPr>
              <a:t> as </a:t>
            </a:r>
            <a:r>
              <a:rPr lang="en-US" sz="1150" b="1" dirty="0">
                <a:solidFill>
                  <a:srgbClr val="262B3A"/>
                </a:solidFill>
                <a:latin typeface="Calibri" pitchFamily="34" charset="0"/>
                <a:ea typeface="Calibri" pitchFamily="34" charset="-122"/>
                <a:cs typeface="Calibri" pitchFamily="34" charset="-120"/>
              </a:rPr>
              <a:t>light intensity increases</a:t>
            </a:r>
            <a:r>
              <a:rPr lang="en-US" sz="1150" dirty="0">
                <a:solidFill>
                  <a:srgbClr val="262B3A"/>
                </a:solidFill>
                <a:latin typeface="Calibri" pitchFamily="34" charset="0"/>
                <a:ea typeface="Calibri" pitchFamily="34" charset="-122"/>
                <a:cs typeface="Calibri" pitchFamily="34" charset="-120"/>
              </a:rPr>
              <a:t>. High resistance in the dark.</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Uses: street lights and security lights that switch on when it gets dark.</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Thermistor (NTC):</a:t>
            </a:r>
            <a:r>
              <a:rPr lang="en-US" sz="1150" dirty="0">
                <a:solidFill>
                  <a:srgbClr val="262B3A"/>
                </a:solidFill>
                <a:latin typeface="Calibri" pitchFamily="34" charset="0"/>
                <a:ea typeface="Calibri" pitchFamily="34" charset="-122"/>
                <a:cs typeface="Calibri" pitchFamily="34" charset="-120"/>
              </a:rPr>
              <a:t> resistance </a:t>
            </a:r>
            <a:r>
              <a:rPr lang="en-US" sz="1150" b="1" dirty="0">
                <a:solidFill>
                  <a:srgbClr val="262B3A"/>
                </a:solidFill>
                <a:latin typeface="Calibri" pitchFamily="34" charset="0"/>
                <a:ea typeface="Calibri" pitchFamily="34" charset="-122"/>
                <a:cs typeface="Calibri" pitchFamily="34" charset="-120"/>
              </a:rPr>
              <a:t>decreases</a:t>
            </a:r>
            <a:r>
              <a:rPr lang="en-US" sz="1150" dirty="0">
                <a:solidFill>
                  <a:srgbClr val="262B3A"/>
                </a:solidFill>
                <a:latin typeface="Calibri" pitchFamily="34" charset="0"/>
                <a:ea typeface="Calibri" pitchFamily="34" charset="-122"/>
                <a:cs typeface="Calibri" pitchFamily="34" charset="-120"/>
              </a:rPr>
              <a:t> as </a:t>
            </a:r>
            <a:r>
              <a:rPr lang="en-US" sz="1150" b="1" dirty="0">
                <a:solidFill>
                  <a:srgbClr val="262B3A"/>
                </a:solidFill>
                <a:latin typeface="Calibri" pitchFamily="34" charset="0"/>
                <a:ea typeface="Calibri" pitchFamily="34" charset="-122"/>
                <a:cs typeface="Calibri" pitchFamily="34" charset="-120"/>
              </a:rPr>
              <a:t>temperature increases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Uses: thermostats, fire alarms, car engine and oven temperature sensors.</a:t>
            </a:r>
            <a:endParaRPr lang="en-US" sz="1150" dirty="0"/>
          </a:p>
        </p:txBody>
      </p:sp>
      <p:sp>
        <p:nvSpPr>
          <p:cNvPr id="206" name="Shape 20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07" name="Text 20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Read the graphs</a:t>
            </a:r>
            <a:endParaRPr lang="en-US" sz="1300" dirty="0"/>
          </a:p>
        </p:txBody>
      </p:sp>
      <p:sp>
        <p:nvSpPr>
          <p:cNvPr id="208" name="Text 206"/>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What happens to the current through each sensor connected to a fixed p.d.?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LDR in bright light   </a:t>
            </a:r>
            <a:r>
              <a:rPr lang="en-US" sz="1100" dirty="0">
                <a:solidFill>
                  <a:srgbClr val="262B3A"/>
                </a:solidFill>
                <a:latin typeface="Calibri" pitchFamily="34" charset="0"/>
                <a:ea typeface="Calibri" pitchFamily="34" charset="-122"/>
                <a:cs typeface="Calibri" pitchFamily="34" charset="-120"/>
              </a:rPr>
              <a:t>R falls → current </a:t>
            </a:r>
            <a:r>
              <a:rPr lang="en-US" sz="1100" b="1" dirty="0">
                <a:solidFill>
                  <a:srgbClr val="262B3A"/>
                </a:solidFill>
                <a:latin typeface="Calibri" pitchFamily="34" charset="0"/>
                <a:ea typeface="Calibri" pitchFamily="34" charset="-122"/>
                <a:cs typeface="Calibri" pitchFamily="34" charset="-120"/>
              </a:rPr>
              <a:t>increases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Thermistor heated   </a:t>
            </a:r>
            <a:r>
              <a:rPr lang="en-US" sz="1100" dirty="0">
                <a:solidFill>
                  <a:srgbClr val="262B3A"/>
                </a:solidFill>
                <a:latin typeface="Calibri" pitchFamily="34" charset="0"/>
                <a:ea typeface="Calibri" pitchFamily="34" charset="-122"/>
                <a:cs typeface="Calibri" pitchFamily="34" charset="-120"/>
              </a:rPr>
              <a:t>R falls → current </a:t>
            </a:r>
            <a:r>
              <a:rPr lang="en-US" sz="1100" b="1" dirty="0">
                <a:solidFill>
                  <a:srgbClr val="262B3A"/>
                </a:solidFill>
                <a:latin typeface="Calibri" pitchFamily="34" charset="0"/>
                <a:ea typeface="Calibri" pitchFamily="34" charset="-122"/>
                <a:cs typeface="Calibri" pitchFamily="34" charset="-120"/>
              </a:rPr>
              <a:t>increases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Dark / cold   </a:t>
            </a:r>
            <a:r>
              <a:rPr lang="en-US" sz="1100" dirty="0">
                <a:solidFill>
                  <a:srgbClr val="262B3A"/>
                </a:solidFill>
                <a:latin typeface="Calibri" pitchFamily="34" charset="0"/>
                <a:ea typeface="Calibri" pitchFamily="34" charset="-122"/>
                <a:cs typeface="Calibri" pitchFamily="34" charset="-120"/>
              </a:rPr>
              <a:t>R high → current small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the current can be used to switch a lamp, heater or alarm</a:t>
            </a:r>
            <a:endParaRPr lang="en-US" sz="1100" dirty="0"/>
          </a:p>
        </p:txBody>
      </p:sp>
      <p:sp>
        <p:nvSpPr>
          <p:cNvPr id="209" name="Shape 207"/>
          <p:cNvSpPr/>
          <p:nvPr/>
        </p:nvSpPr>
        <p:spPr>
          <a:xfrm>
            <a:off x="411480" y="5833872"/>
            <a:ext cx="11368735" cy="530352"/>
          </a:xfrm>
          <a:prstGeom prst="rect">
            <a:avLst/>
          </a:prstGeom>
          <a:solidFill>
            <a:srgbClr val="FFF4E0"/>
          </a:solidFill>
          <a:ln w="6350">
            <a:solidFill>
              <a:srgbClr val="F1D9A8"/>
            </a:solidFill>
            <a:prstDash val="solid"/>
          </a:ln>
        </p:spPr>
      </p:sp>
      <p:sp>
        <p:nvSpPr>
          <p:cNvPr id="210" name="Shape 208"/>
          <p:cNvSpPr/>
          <p:nvPr/>
        </p:nvSpPr>
        <p:spPr>
          <a:xfrm>
            <a:off x="411480" y="5833872"/>
            <a:ext cx="82296" cy="530352"/>
          </a:xfrm>
          <a:prstGeom prst="rect">
            <a:avLst/>
          </a:prstGeom>
          <a:solidFill>
            <a:srgbClr val="E39A2F"/>
          </a:solidFill>
          <a:ln w="12700">
            <a:solidFill>
              <a:srgbClr val="E39A2F"/>
            </a:solidFill>
            <a:prstDash val="solid"/>
          </a:ln>
        </p:spPr>
      </p:sp>
      <p:sp>
        <p:nvSpPr>
          <p:cNvPr id="211" name="Text 20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thermistor is moved from a fridge (5 °C) into a warm room (25 °C). Describe what happens to its resistance and to the current through it.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Using circuits to explore resistance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10.21 • filament lamps, diodes, thermistors and LDRs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10.21  |  25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thermistor in a water bath: measure V and I at each temperature</a:t>
            </a:r>
            <a:endParaRPr lang="en-US" sz="1000" dirty="0"/>
          </a:p>
        </p:txBody>
      </p:sp>
      <p:sp>
        <p:nvSpPr>
          <p:cNvPr id="10" name="Shape 8"/>
          <p:cNvSpPr/>
          <p:nvPr/>
        </p:nvSpPr>
        <p:spPr>
          <a:xfrm>
            <a:off x="1463040" y="3612794"/>
            <a:ext cx="2194560" cy="1462126"/>
          </a:xfrm>
          <a:prstGeom prst="rect">
            <a:avLst/>
          </a:prstGeom>
          <a:solidFill>
            <a:srgbClr val="BFD9F2"/>
          </a:solidFill>
          <a:ln/>
        </p:spPr>
      </p:sp>
      <p:sp>
        <p:nvSpPr>
          <p:cNvPr id="11" name="Shape 9"/>
          <p:cNvSpPr/>
          <p:nvPr/>
        </p:nvSpPr>
        <p:spPr>
          <a:xfrm>
            <a:off x="1463040" y="3291840"/>
            <a:ext cx="91" cy="1783080"/>
          </a:xfrm>
          <a:prstGeom prst="line">
            <a:avLst/>
          </a:prstGeom>
          <a:noFill/>
          <a:ln w="25400">
            <a:solidFill>
              <a:srgbClr val="1A2340"/>
            </a:solidFill>
            <a:prstDash val="solid"/>
          </a:ln>
        </p:spPr>
      </p:sp>
      <p:sp>
        <p:nvSpPr>
          <p:cNvPr id="12" name="Shape 10"/>
          <p:cNvSpPr/>
          <p:nvPr/>
        </p:nvSpPr>
        <p:spPr>
          <a:xfrm>
            <a:off x="3657600" y="3291840"/>
            <a:ext cx="91" cy="1783080"/>
          </a:xfrm>
          <a:prstGeom prst="line">
            <a:avLst/>
          </a:prstGeom>
          <a:noFill/>
          <a:ln w="25400">
            <a:solidFill>
              <a:srgbClr val="1A2340"/>
            </a:solidFill>
            <a:prstDash val="solid"/>
          </a:ln>
        </p:spPr>
      </p:sp>
      <p:sp>
        <p:nvSpPr>
          <p:cNvPr id="13" name="Shape 11"/>
          <p:cNvSpPr/>
          <p:nvPr/>
        </p:nvSpPr>
        <p:spPr>
          <a:xfrm>
            <a:off x="1463040" y="5074920"/>
            <a:ext cx="2194560" cy="91"/>
          </a:xfrm>
          <a:prstGeom prst="line">
            <a:avLst/>
          </a:prstGeom>
          <a:noFill/>
          <a:ln w="25400">
            <a:solidFill>
              <a:srgbClr val="1A2340"/>
            </a:solidFill>
            <a:prstDash val="solid"/>
          </a:ln>
        </p:spPr>
      </p:sp>
      <p:sp>
        <p:nvSpPr>
          <p:cNvPr id="14" name="Shape 12"/>
          <p:cNvSpPr/>
          <p:nvPr/>
        </p:nvSpPr>
        <p:spPr>
          <a:xfrm>
            <a:off x="1463040" y="3612794"/>
            <a:ext cx="2194560" cy="91"/>
          </a:xfrm>
          <a:prstGeom prst="line">
            <a:avLst/>
          </a:prstGeom>
          <a:noFill/>
          <a:ln w="15875">
            <a:solidFill>
              <a:srgbClr val="5B9BD5"/>
            </a:solidFill>
            <a:prstDash val="solid"/>
          </a:ln>
        </p:spPr>
      </p:sp>
      <p:sp>
        <p:nvSpPr>
          <p:cNvPr id="15" name="Shape 13"/>
          <p:cNvSpPr/>
          <p:nvPr/>
        </p:nvSpPr>
        <p:spPr>
          <a:xfrm>
            <a:off x="914400" y="1600200"/>
            <a:ext cx="690372" cy="91"/>
          </a:xfrm>
          <a:prstGeom prst="line">
            <a:avLst/>
          </a:prstGeom>
          <a:noFill/>
          <a:ln w="19050">
            <a:solidFill>
              <a:srgbClr val="1A2340"/>
            </a:solidFill>
            <a:prstDash val="solid"/>
          </a:ln>
        </p:spPr>
      </p:sp>
      <p:sp>
        <p:nvSpPr>
          <p:cNvPr id="16" name="Shape 14"/>
          <p:cNvSpPr/>
          <p:nvPr/>
        </p:nvSpPr>
        <p:spPr>
          <a:xfrm>
            <a:off x="1915668" y="1600200"/>
            <a:ext cx="690372" cy="91"/>
          </a:xfrm>
          <a:prstGeom prst="line">
            <a:avLst/>
          </a:prstGeom>
          <a:noFill/>
          <a:ln w="19050">
            <a:solidFill>
              <a:srgbClr val="1A2340"/>
            </a:solidFill>
            <a:prstDash val="solid"/>
          </a:ln>
        </p:spPr>
      </p:sp>
      <p:sp>
        <p:nvSpPr>
          <p:cNvPr id="17" name="Shape 15"/>
          <p:cNvSpPr/>
          <p:nvPr/>
        </p:nvSpPr>
        <p:spPr>
          <a:xfrm>
            <a:off x="1604772" y="1399032"/>
            <a:ext cx="91" cy="402336"/>
          </a:xfrm>
          <a:prstGeom prst="line">
            <a:avLst/>
          </a:prstGeom>
          <a:noFill/>
          <a:ln w="19050">
            <a:solidFill>
              <a:srgbClr val="1A2340"/>
            </a:solidFill>
            <a:prstDash val="solid"/>
          </a:ln>
        </p:spPr>
      </p:sp>
      <p:sp>
        <p:nvSpPr>
          <p:cNvPr id="18" name="Shape 16"/>
          <p:cNvSpPr/>
          <p:nvPr/>
        </p:nvSpPr>
        <p:spPr>
          <a:xfrm>
            <a:off x="1696212" y="1499616"/>
            <a:ext cx="91" cy="201168"/>
          </a:xfrm>
          <a:prstGeom prst="line">
            <a:avLst/>
          </a:prstGeom>
          <a:noFill/>
          <a:ln w="57150">
            <a:solidFill>
              <a:srgbClr val="1A2340"/>
            </a:solidFill>
            <a:prstDash val="solid"/>
          </a:ln>
        </p:spPr>
      </p:sp>
      <p:sp>
        <p:nvSpPr>
          <p:cNvPr id="19" name="Shape 17"/>
          <p:cNvSpPr/>
          <p:nvPr/>
        </p:nvSpPr>
        <p:spPr>
          <a:xfrm>
            <a:off x="1696212" y="1600200"/>
            <a:ext cx="128016" cy="91"/>
          </a:xfrm>
          <a:prstGeom prst="line">
            <a:avLst/>
          </a:prstGeom>
          <a:noFill/>
          <a:ln w="19050">
            <a:solidFill>
              <a:srgbClr val="1A2340"/>
            </a:solidFill>
            <a:prstDash val="solid"/>
          </a:ln>
        </p:spPr>
      </p:sp>
      <p:sp>
        <p:nvSpPr>
          <p:cNvPr id="20" name="Shape 18"/>
          <p:cNvSpPr/>
          <p:nvPr/>
        </p:nvSpPr>
        <p:spPr>
          <a:xfrm>
            <a:off x="1824228" y="1399032"/>
            <a:ext cx="91" cy="402336"/>
          </a:xfrm>
          <a:prstGeom prst="line">
            <a:avLst/>
          </a:prstGeom>
          <a:noFill/>
          <a:ln w="19050">
            <a:solidFill>
              <a:srgbClr val="1A2340"/>
            </a:solidFill>
            <a:prstDash val="solid"/>
          </a:ln>
        </p:spPr>
      </p:sp>
      <p:sp>
        <p:nvSpPr>
          <p:cNvPr id="21" name="Shape 19"/>
          <p:cNvSpPr/>
          <p:nvPr/>
        </p:nvSpPr>
        <p:spPr>
          <a:xfrm>
            <a:off x="1915668" y="1499616"/>
            <a:ext cx="91" cy="201168"/>
          </a:xfrm>
          <a:prstGeom prst="line">
            <a:avLst/>
          </a:prstGeom>
          <a:noFill/>
          <a:ln w="57150">
            <a:solidFill>
              <a:srgbClr val="1A2340"/>
            </a:solidFill>
            <a:prstDash val="solid"/>
          </a:ln>
        </p:spPr>
      </p:sp>
      <p:sp>
        <p:nvSpPr>
          <p:cNvPr id="22" name="Text 20"/>
          <p:cNvSpPr/>
          <p:nvPr/>
        </p:nvSpPr>
        <p:spPr>
          <a:xfrm>
            <a:off x="1165860" y="115214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battery</a:t>
            </a:r>
            <a:endParaRPr lang="en-US" sz="1050" dirty="0"/>
          </a:p>
        </p:txBody>
      </p:sp>
      <p:sp>
        <p:nvSpPr>
          <p:cNvPr id="23" name="Shape 21"/>
          <p:cNvSpPr/>
          <p:nvPr/>
        </p:nvSpPr>
        <p:spPr>
          <a:xfrm>
            <a:off x="2606040" y="1600200"/>
            <a:ext cx="672084" cy="91"/>
          </a:xfrm>
          <a:prstGeom prst="line">
            <a:avLst/>
          </a:prstGeom>
          <a:noFill/>
          <a:ln w="19050">
            <a:solidFill>
              <a:srgbClr val="1A2340"/>
            </a:solidFill>
            <a:prstDash val="solid"/>
          </a:ln>
        </p:spPr>
      </p:sp>
      <p:sp>
        <p:nvSpPr>
          <p:cNvPr id="24" name="Shape 22"/>
          <p:cNvSpPr/>
          <p:nvPr/>
        </p:nvSpPr>
        <p:spPr>
          <a:xfrm>
            <a:off x="3625596" y="1600200"/>
            <a:ext cx="672084" cy="91"/>
          </a:xfrm>
          <a:prstGeom prst="line">
            <a:avLst/>
          </a:prstGeom>
          <a:noFill/>
          <a:ln w="19050">
            <a:solidFill>
              <a:srgbClr val="1A2340"/>
            </a:solidFill>
            <a:prstDash val="solid"/>
          </a:ln>
        </p:spPr>
      </p:sp>
      <p:sp>
        <p:nvSpPr>
          <p:cNvPr id="25" name="Shape 23"/>
          <p:cNvSpPr/>
          <p:nvPr/>
        </p:nvSpPr>
        <p:spPr>
          <a:xfrm>
            <a:off x="3278124" y="1426464"/>
            <a:ext cx="347472" cy="347472"/>
          </a:xfrm>
          <a:prstGeom prst="ellipse">
            <a:avLst/>
          </a:prstGeom>
          <a:solidFill>
            <a:srgbClr val="FFFFFF"/>
          </a:solidFill>
          <a:ln w="19050">
            <a:solidFill>
              <a:srgbClr val="1A2340"/>
            </a:solidFill>
            <a:prstDash val="solid"/>
          </a:ln>
        </p:spPr>
      </p:sp>
      <p:sp>
        <p:nvSpPr>
          <p:cNvPr id="26" name="Text 24"/>
          <p:cNvSpPr/>
          <p:nvPr/>
        </p:nvSpPr>
        <p:spPr>
          <a:xfrm>
            <a:off x="3268980" y="141732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27" name="Text 25"/>
          <p:cNvSpPr/>
          <p:nvPr/>
        </p:nvSpPr>
        <p:spPr>
          <a:xfrm>
            <a:off x="2857500" y="115214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ammeter</a:t>
            </a:r>
            <a:endParaRPr lang="en-US" sz="1050" dirty="0"/>
          </a:p>
        </p:txBody>
      </p:sp>
      <p:sp>
        <p:nvSpPr>
          <p:cNvPr id="28" name="Shape 26"/>
          <p:cNvSpPr/>
          <p:nvPr/>
        </p:nvSpPr>
        <p:spPr>
          <a:xfrm>
            <a:off x="914400" y="1600200"/>
            <a:ext cx="91" cy="1371600"/>
          </a:xfrm>
          <a:prstGeom prst="line">
            <a:avLst/>
          </a:prstGeom>
          <a:noFill/>
          <a:ln w="19050">
            <a:solidFill>
              <a:srgbClr val="1A2340"/>
            </a:solidFill>
            <a:prstDash val="solid"/>
          </a:ln>
        </p:spPr>
      </p:sp>
      <p:sp>
        <p:nvSpPr>
          <p:cNvPr id="29" name="Shape 27"/>
          <p:cNvSpPr/>
          <p:nvPr/>
        </p:nvSpPr>
        <p:spPr>
          <a:xfrm>
            <a:off x="914400" y="2971800"/>
            <a:ext cx="914400" cy="91"/>
          </a:xfrm>
          <a:prstGeom prst="line">
            <a:avLst/>
          </a:prstGeom>
          <a:noFill/>
          <a:ln w="19050">
            <a:solidFill>
              <a:srgbClr val="1A2340"/>
            </a:solidFill>
            <a:prstDash val="solid"/>
          </a:ln>
        </p:spPr>
      </p:sp>
      <p:sp>
        <p:nvSpPr>
          <p:cNvPr id="30" name="Shape 28"/>
          <p:cNvSpPr/>
          <p:nvPr/>
        </p:nvSpPr>
        <p:spPr>
          <a:xfrm>
            <a:off x="1828800" y="2971800"/>
            <a:ext cx="91" cy="1325880"/>
          </a:xfrm>
          <a:prstGeom prst="line">
            <a:avLst/>
          </a:prstGeom>
          <a:noFill/>
          <a:ln w="19050">
            <a:solidFill>
              <a:srgbClr val="1A2340"/>
            </a:solidFill>
            <a:prstDash val="solid"/>
          </a:ln>
        </p:spPr>
      </p:sp>
      <p:sp>
        <p:nvSpPr>
          <p:cNvPr id="31" name="Shape 29"/>
          <p:cNvSpPr/>
          <p:nvPr/>
        </p:nvSpPr>
        <p:spPr>
          <a:xfrm>
            <a:off x="4297680" y="1600200"/>
            <a:ext cx="91" cy="1371600"/>
          </a:xfrm>
          <a:prstGeom prst="line">
            <a:avLst/>
          </a:prstGeom>
          <a:noFill/>
          <a:ln w="19050">
            <a:solidFill>
              <a:srgbClr val="1A2340"/>
            </a:solidFill>
            <a:prstDash val="solid"/>
          </a:ln>
        </p:spPr>
      </p:sp>
      <p:sp>
        <p:nvSpPr>
          <p:cNvPr id="32" name="Shape 30"/>
          <p:cNvSpPr/>
          <p:nvPr/>
        </p:nvSpPr>
        <p:spPr>
          <a:xfrm flipH="1">
            <a:off x="3291840" y="2971800"/>
            <a:ext cx="1005840" cy="91"/>
          </a:xfrm>
          <a:prstGeom prst="line">
            <a:avLst/>
          </a:prstGeom>
          <a:noFill/>
          <a:ln w="19050">
            <a:solidFill>
              <a:srgbClr val="1A2340"/>
            </a:solidFill>
            <a:prstDash val="solid"/>
          </a:ln>
        </p:spPr>
      </p:sp>
      <p:sp>
        <p:nvSpPr>
          <p:cNvPr id="33" name="Shape 31"/>
          <p:cNvSpPr/>
          <p:nvPr/>
        </p:nvSpPr>
        <p:spPr>
          <a:xfrm>
            <a:off x="3291840" y="2971800"/>
            <a:ext cx="91" cy="1325880"/>
          </a:xfrm>
          <a:prstGeom prst="line">
            <a:avLst/>
          </a:prstGeom>
          <a:noFill/>
          <a:ln w="19050">
            <a:solidFill>
              <a:srgbClr val="1A2340"/>
            </a:solidFill>
            <a:prstDash val="solid"/>
          </a:ln>
        </p:spPr>
      </p:sp>
      <p:sp>
        <p:nvSpPr>
          <p:cNvPr id="34" name="Shape 32"/>
          <p:cNvSpPr/>
          <p:nvPr/>
        </p:nvSpPr>
        <p:spPr>
          <a:xfrm>
            <a:off x="1778508" y="2921508"/>
            <a:ext cx="100584" cy="100584"/>
          </a:xfrm>
          <a:prstGeom prst="ellipse">
            <a:avLst/>
          </a:prstGeom>
          <a:solidFill>
            <a:srgbClr val="1A2340"/>
          </a:solidFill>
          <a:ln w="6350">
            <a:solidFill>
              <a:srgbClr val="1A2340"/>
            </a:solidFill>
            <a:prstDash val="solid"/>
          </a:ln>
        </p:spPr>
      </p:sp>
      <p:sp>
        <p:nvSpPr>
          <p:cNvPr id="35" name="Shape 33"/>
          <p:cNvSpPr/>
          <p:nvPr/>
        </p:nvSpPr>
        <p:spPr>
          <a:xfrm>
            <a:off x="3241548" y="2921508"/>
            <a:ext cx="100584" cy="100584"/>
          </a:xfrm>
          <a:prstGeom prst="ellipse">
            <a:avLst/>
          </a:prstGeom>
          <a:solidFill>
            <a:srgbClr val="1A2340"/>
          </a:solidFill>
          <a:ln w="6350">
            <a:solidFill>
              <a:srgbClr val="1A2340"/>
            </a:solidFill>
            <a:prstDash val="solid"/>
          </a:ln>
        </p:spPr>
      </p:sp>
      <p:sp>
        <p:nvSpPr>
          <p:cNvPr id="36" name="Shape 34"/>
          <p:cNvSpPr/>
          <p:nvPr/>
        </p:nvSpPr>
        <p:spPr>
          <a:xfrm flipV="1">
            <a:off x="1828800" y="2331720"/>
            <a:ext cx="91" cy="640080"/>
          </a:xfrm>
          <a:prstGeom prst="line">
            <a:avLst/>
          </a:prstGeom>
          <a:noFill/>
          <a:ln w="19050">
            <a:solidFill>
              <a:srgbClr val="1A2340"/>
            </a:solidFill>
            <a:prstDash val="solid"/>
          </a:ln>
        </p:spPr>
      </p:sp>
      <p:sp>
        <p:nvSpPr>
          <p:cNvPr id="37" name="Shape 35"/>
          <p:cNvSpPr/>
          <p:nvPr/>
        </p:nvSpPr>
        <p:spPr>
          <a:xfrm flipV="1">
            <a:off x="3291840" y="2331720"/>
            <a:ext cx="91" cy="640080"/>
          </a:xfrm>
          <a:prstGeom prst="line">
            <a:avLst/>
          </a:prstGeom>
          <a:noFill/>
          <a:ln w="19050">
            <a:solidFill>
              <a:srgbClr val="1A2340"/>
            </a:solidFill>
            <a:prstDash val="solid"/>
          </a:ln>
        </p:spPr>
      </p:sp>
      <p:sp>
        <p:nvSpPr>
          <p:cNvPr id="38" name="Shape 36"/>
          <p:cNvSpPr/>
          <p:nvPr/>
        </p:nvSpPr>
        <p:spPr>
          <a:xfrm>
            <a:off x="1828800" y="2331720"/>
            <a:ext cx="557784" cy="91"/>
          </a:xfrm>
          <a:prstGeom prst="line">
            <a:avLst/>
          </a:prstGeom>
          <a:noFill/>
          <a:ln w="19050">
            <a:solidFill>
              <a:srgbClr val="1A2340"/>
            </a:solidFill>
            <a:prstDash val="solid"/>
          </a:ln>
        </p:spPr>
      </p:sp>
      <p:sp>
        <p:nvSpPr>
          <p:cNvPr id="39" name="Shape 37"/>
          <p:cNvSpPr/>
          <p:nvPr/>
        </p:nvSpPr>
        <p:spPr>
          <a:xfrm>
            <a:off x="2734056" y="2331720"/>
            <a:ext cx="557784" cy="91"/>
          </a:xfrm>
          <a:prstGeom prst="line">
            <a:avLst/>
          </a:prstGeom>
          <a:noFill/>
          <a:ln w="19050">
            <a:solidFill>
              <a:srgbClr val="1A2340"/>
            </a:solidFill>
            <a:prstDash val="solid"/>
          </a:ln>
        </p:spPr>
      </p:sp>
      <p:sp>
        <p:nvSpPr>
          <p:cNvPr id="40" name="Shape 38"/>
          <p:cNvSpPr/>
          <p:nvPr/>
        </p:nvSpPr>
        <p:spPr>
          <a:xfrm>
            <a:off x="2386584" y="2157984"/>
            <a:ext cx="347472" cy="347472"/>
          </a:xfrm>
          <a:prstGeom prst="ellipse">
            <a:avLst/>
          </a:prstGeom>
          <a:solidFill>
            <a:srgbClr val="FFFFFF"/>
          </a:solidFill>
          <a:ln w="19050">
            <a:solidFill>
              <a:srgbClr val="1A2340"/>
            </a:solidFill>
            <a:prstDash val="solid"/>
          </a:ln>
        </p:spPr>
      </p:sp>
      <p:sp>
        <p:nvSpPr>
          <p:cNvPr id="41" name="Text 39"/>
          <p:cNvSpPr/>
          <p:nvPr/>
        </p:nvSpPr>
        <p:spPr>
          <a:xfrm>
            <a:off x="2377440" y="214884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V</a:t>
            </a:r>
            <a:endParaRPr lang="en-US" sz="1300" dirty="0"/>
          </a:p>
        </p:txBody>
      </p:sp>
      <p:sp>
        <p:nvSpPr>
          <p:cNvPr id="42" name="Text 40"/>
          <p:cNvSpPr/>
          <p:nvPr/>
        </p:nvSpPr>
        <p:spPr>
          <a:xfrm>
            <a:off x="1965960" y="188366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voltmeter</a:t>
            </a:r>
            <a:endParaRPr lang="en-US" sz="1050" dirty="0"/>
          </a:p>
        </p:txBody>
      </p:sp>
      <p:sp>
        <p:nvSpPr>
          <p:cNvPr id="43" name="Shape 41"/>
          <p:cNvSpPr/>
          <p:nvPr/>
        </p:nvSpPr>
        <p:spPr>
          <a:xfrm>
            <a:off x="1828800" y="4297680"/>
            <a:ext cx="484632" cy="91"/>
          </a:xfrm>
          <a:prstGeom prst="line">
            <a:avLst/>
          </a:prstGeom>
          <a:noFill/>
          <a:ln w="19050">
            <a:solidFill>
              <a:srgbClr val="1A2340"/>
            </a:solidFill>
            <a:prstDash val="solid"/>
          </a:ln>
        </p:spPr>
      </p:sp>
      <p:sp>
        <p:nvSpPr>
          <p:cNvPr id="44" name="Shape 42"/>
          <p:cNvSpPr/>
          <p:nvPr/>
        </p:nvSpPr>
        <p:spPr>
          <a:xfrm>
            <a:off x="2807208" y="4297680"/>
            <a:ext cx="484632" cy="91"/>
          </a:xfrm>
          <a:prstGeom prst="line">
            <a:avLst/>
          </a:prstGeom>
          <a:noFill/>
          <a:ln w="19050">
            <a:solidFill>
              <a:srgbClr val="1A2340"/>
            </a:solidFill>
            <a:prstDash val="solid"/>
          </a:ln>
        </p:spPr>
      </p:sp>
      <p:sp>
        <p:nvSpPr>
          <p:cNvPr id="45" name="Shape 43"/>
          <p:cNvSpPr/>
          <p:nvPr/>
        </p:nvSpPr>
        <p:spPr>
          <a:xfrm>
            <a:off x="2313432" y="4206240"/>
            <a:ext cx="493776" cy="182880"/>
          </a:xfrm>
          <a:prstGeom prst="rect">
            <a:avLst/>
          </a:prstGeom>
          <a:solidFill>
            <a:srgbClr val="FFFFFF"/>
          </a:solidFill>
          <a:ln w="19050">
            <a:solidFill>
              <a:srgbClr val="1A2340"/>
            </a:solidFill>
            <a:prstDash val="solid"/>
          </a:ln>
        </p:spPr>
      </p:sp>
      <p:sp>
        <p:nvSpPr>
          <p:cNvPr id="46" name="Shape 44"/>
          <p:cNvSpPr/>
          <p:nvPr/>
        </p:nvSpPr>
        <p:spPr>
          <a:xfrm>
            <a:off x="2176272" y="4489704"/>
            <a:ext cx="109728" cy="91"/>
          </a:xfrm>
          <a:prstGeom prst="line">
            <a:avLst/>
          </a:prstGeom>
          <a:noFill/>
          <a:ln w="19050">
            <a:solidFill>
              <a:srgbClr val="1A2340"/>
            </a:solidFill>
            <a:prstDash val="solid"/>
          </a:ln>
        </p:spPr>
      </p:sp>
      <p:sp>
        <p:nvSpPr>
          <p:cNvPr id="47" name="Shape 45"/>
          <p:cNvSpPr/>
          <p:nvPr/>
        </p:nvSpPr>
        <p:spPr>
          <a:xfrm flipV="1">
            <a:off x="2286000" y="4105656"/>
            <a:ext cx="548640" cy="384048"/>
          </a:xfrm>
          <a:prstGeom prst="line">
            <a:avLst/>
          </a:prstGeom>
          <a:noFill/>
          <a:ln w="19050">
            <a:solidFill>
              <a:srgbClr val="1A2340"/>
            </a:solidFill>
            <a:prstDash val="solid"/>
          </a:ln>
        </p:spPr>
      </p:sp>
      <p:sp>
        <p:nvSpPr>
          <p:cNvPr id="48" name="Text 46"/>
          <p:cNvSpPr/>
          <p:nvPr/>
        </p:nvSpPr>
        <p:spPr>
          <a:xfrm>
            <a:off x="1965960" y="4526280"/>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thermistor</a:t>
            </a:r>
            <a:endParaRPr lang="en-US" sz="1050" dirty="0"/>
          </a:p>
        </p:txBody>
      </p:sp>
      <p:sp>
        <p:nvSpPr>
          <p:cNvPr id="49" name="Shape 47"/>
          <p:cNvSpPr/>
          <p:nvPr/>
        </p:nvSpPr>
        <p:spPr>
          <a:xfrm>
            <a:off x="2496312" y="2880360"/>
            <a:ext cx="109728" cy="1051560"/>
          </a:xfrm>
          <a:prstGeom prst="roundRect">
            <a:avLst>
              <a:gd name="adj" fmla="val 41667"/>
            </a:avLst>
          </a:prstGeom>
          <a:solidFill>
            <a:srgbClr val="FFFFFF"/>
          </a:solidFill>
          <a:ln w="12700">
            <a:solidFill>
              <a:srgbClr val="6B7385"/>
            </a:solidFill>
            <a:prstDash val="solid"/>
          </a:ln>
        </p:spPr>
      </p:sp>
      <p:sp>
        <p:nvSpPr>
          <p:cNvPr id="50" name="Shape 48"/>
          <p:cNvSpPr/>
          <p:nvPr/>
        </p:nvSpPr>
        <p:spPr>
          <a:xfrm>
            <a:off x="2459736" y="3858768"/>
            <a:ext cx="182880" cy="182880"/>
          </a:xfrm>
          <a:prstGeom prst="ellipse">
            <a:avLst/>
          </a:prstGeom>
          <a:solidFill>
            <a:srgbClr val="C8414C"/>
          </a:solidFill>
          <a:ln w="9525">
            <a:solidFill>
              <a:srgbClr val="6B7385"/>
            </a:solidFill>
            <a:prstDash val="solid"/>
          </a:ln>
        </p:spPr>
      </p:sp>
      <p:sp>
        <p:nvSpPr>
          <p:cNvPr id="51" name="Shape 49"/>
          <p:cNvSpPr/>
          <p:nvPr/>
        </p:nvSpPr>
        <p:spPr>
          <a:xfrm>
            <a:off x="2523744" y="3291840"/>
            <a:ext cx="54864" cy="594360"/>
          </a:xfrm>
          <a:prstGeom prst="rect">
            <a:avLst/>
          </a:prstGeom>
          <a:solidFill>
            <a:srgbClr val="C8414C"/>
          </a:solidFill>
          <a:ln/>
        </p:spPr>
      </p:sp>
      <p:sp>
        <p:nvSpPr>
          <p:cNvPr id="52" name="Text 50"/>
          <p:cNvSpPr/>
          <p:nvPr/>
        </p:nvSpPr>
        <p:spPr>
          <a:xfrm>
            <a:off x="3794760" y="3886200"/>
            <a:ext cx="2011680" cy="457200"/>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thermometer</a:t>
            </a:r>
            <a:endParaRPr lang="en-US" sz="1000" dirty="0"/>
          </a:p>
          <a:p>
            <a:pPr algn="l" indent="0" marL="0">
              <a:buNone/>
            </a:pPr>
            <a:r>
              <a:rPr lang="en-US" sz="1000" dirty="0">
                <a:solidFill>
                  <a:srgbClr val="1A2340"/>
                </a:solidFill>
                <a:latin typeface="Calibri" pitchFamily="34" charset="0"/>
                <a:ea typeface="Calibri" pitchFamily="34" charset="-122"/>
                <a:cs typeface="Calibri" pitchFamily="34" charset="-120"/>
              </a:rPr>
              <a:t>water: heat with a kettle or add ice</a:t>
            </a:r>
            <a:endParaRPr lang="en-US" sz="1000" dirty="0"/>
          </a:p>
        </p:txBody>
      </p:sp>
      <p:sp>
        <p:nvSpPr>
          <p:cNvPr id="53" name="Shape 51"/>
          <p:cNvSpPr/>
          <p:nvPr/>
        </p:nvSpPr>
        <p:spPr>
          <a:xfrm>
            <a:off x="2633472" y="3063240"/>
            <a:ext cx="1115568" cy="886968"/>
          </a:xfrm>
          <a:prstGeom prst="line">
            <a:avLst/>
          </a:prstGeom>
          <a:noFill/>
          <a:ln w="9525">
            <a:solidFill>
              <a:srgbClr val="6B7385"/>
            </a:solidFill>
            <a:prstDash val="solid"/>
          </a:ln>
        </p:spPr>
      </p:sp>
      <p:sp>
        <p:nvSpPr>
          <p:cNvPr id="54" name="Shape 5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5" name="Text 5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Designing the circuit</a:t>
            </a:r>
            <a:endParaRPr lang="en-US" sz="1300" dirty="0"/>
          </a:p>
        </p:txBody>
      </p:sp>
      <p:sp>
        <p:nvSpPr>
          <p:cNvPr id="56" name="Text 5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a </a:t>
            </a:r>
            <a:r>
              <a:rPr lang="en-US" sz="1150" b="1" dirty="0">
                <a:solidFill>
                  <a:srgbClr val="262B3A"/>
                </a:solidFill>
                <a:latin typeface="Calibri" pitchFamily="34" charset="0"/>
                <a:ea typeface="Calibri" pitchFamily="34" charset="-122"/>
                <a:cs typeface="Calibri" pitchFamily="34" charset="-120"/>
              </a:rPr>
              <a:t>series circuit</a:t>
            </a:r>
            <a:r>
              <a:rPr lang="en-US" sz="1150" dirty="0">
                <a:solidFill>
                  <a:srgbClr val="262B3A"/>
                </a:solidFill>
                <a:latin typeface="Calibri" pitchFamily="34" charset="0"/>
                <a:ea typeface="Calibri" pitchFamily="34" charset="-122"/>
                <a:cs typeface="Calibri" pitchFamily="34" charset="-120"/>
              </a:rPr>
              <a:t> with an </a:t>
            </a:r>
            <a:r>
              <a:rPr lang="en-US" sz="1150" b="1" dirty="0">
                <a:solidFill>
                  <a:srgbClr val="262B3A"/>
                </a:solidFill>
                <a:latin typeface="Calibri" pitchFamily="34" charset="0"/>
                <a:ea typeface="Calibri" pitchFamily="34" charset="-122"/>
                <a:cs typeface="Calibri" pitchFamily="34" charset="-120"/>
              </a:rPr>
              <a:t>ammeter</a:t>
            </a:r>
            <a:r>
              <a:rPr lang="en-US" sz="1150" dirty="0">
                <a:solidFill>
                  <a:srgbClr val="262B3A"/>
                </a:solidFill>
                <a:latin typeface="Calibri" pitchFamily="34" charset="0"/>
                <a:ea typeface="Calibri" pitchFamily="34" charset="-122"/>
                <a:cs typeface="Calibri" pitchFamily="34" charset="-120"/>
              </a:rPr>
              <a:t>, and a </a:t>
            </a:r>
            <a:r>
              <a:rPr lang="en-US" sz="1150" b="1" dirty="0">
                <a:solidFill>
                  <a:srgbClr val="262B3A"/>
                </a:solidFill>
                <a:latin typeface="Calibri" pitchFamily="34" charset="0"/>
                <a:ea typeface="Calibri" pitchFamily="34" charset="-122"/>
                <a:cs typeface="Calibri" pitchFamily="34" charset="-120"/>
              </a:rPr>
              <a:t>voltmeter across</a:t>
            </a:r>
            <a:r>
              <a:rPr lang="en-US" sz="1150" dirty="0">
                <a:solidFill>
                  <a:srgbClr val="262B3A"/>
                </a:solidFill>
                <a:latin typeface="Calibri" pitchFamily="34" charset="0"/>
                <a:ea typeface="Calibri" pitchFamily="34" charset="-122"/>
                <a:cs typeface="Calibri" pitchFamily="34" charset="-120"/>
              </a:rPr>
              <a:t> the device. Calculate </a:t>
            </a:r>
            <a:r>
              <a:rPr lang="en-US" sz="1150" b="1" dirty="0">
                <a:solidFill>
                  <a:srgbClr val="262B3A"/>
                </a:solidFill>
                <a:latin typeface="Calibri" pitchFamily="34" charset="0"/>
                <a:ea typeface="Calibri" pitchFamily="34" charset="-122"/>
                <a:cs typeface="Calibri" pitchFamily="34" charset="-120"/>
              </a:rPr>
              <a:t>R = V ÷ I</a:t>
            </a:r>
            <a:r>
              <a:rPr lang="en-US" sz="1150" dirty="0">
                <a:solidFill>
                  <a:srgbClr val="262B3A"/>
                </a:solidFill>
                <a:latin typeface="Calibri" pitchFamily="34" charset="0"/>
                <a:ea typeface="Calibri" pitchFamily="34" charset="-122"/>
                <a:cs typeface="Calibri" pitchFamily="34" charset="-120"/>
              </a:rPr>
              <a:t> for each condition.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Thermistor:</a:t>
            </a:r>
            <a:r>
              <a:rPr lang="en-US" sz="1150" dirty="0">
                <a:solidFill>
                  <a:srgbClr val="262B3A"/>
                </a:solidFill>
                <a:latin typeface="Calibri" pitchFamily="34" charset="0"/>
                <a:ea typeface="Calibri" pitchFamily="34" charset="-122"/>
                <a:cs typeface="Calibri" pitchFamily="34" charset="-120"/>
              </a:rPr>
              <a:t> put it in water at different temperatures (measured with a thermometer).</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LDR:</a:t>
            </a:r>
            <a:r>
              <a:rPr lang="en-US" sz="1150" dirty="0">
                <a:solidFill>
                  <a:srgbClr val="262B3A"/>
                </a:solidFill>
                <a:latin typeface="Calibri" pitchFamily="34" charset="0"/>
                <a:ea typeface="Calibri" pitchFamily="34" charset="-122"/>
                <a:cs typeface="Calibri" pitchFamily="34" charset="-120"/>
              </a:rPr>
              <a:t> change the light intensity, e.g. move a lamp to different distances, in a darkened room.</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Filament lamp and diode:</a:t>
            </a:r>
            <a:r>
              <a:rPr lang="en-US" sz="1150" dirty="0">
                <a:solidFill>
                  <a:srgbClr val="262B3A"/>
                </a:solidFill>
                <a:latin typeface="Calibri" pitchFamily="34" charset="0"/>
                <a:ea typeface="Calibri" pitchFamily="34" charset="-122"/>
                <a:cs typeface="Calibri" pitchFamily="34" charset="-120"/>
              </a:rPr>
              <a:t> use a variable resistor to change the p.d.; reverse the supply to test the other direction.</a:t>
            </a:r>
            <a:endParaRPr lang="en-US" sz="1150" dirty="0"/>
          </a:p>
        </p:txBody>
      </p:sp>
      <p:sp>
        <p:nvSpPr>
          <p:cNvPr id="57" name="Shape 5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8" name="Text 5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9" name="Text 5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At 20 °C the voltmeter reads 6.0 V and the ammeter reads 0.50 mA.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Convert   </a:t>
            </a:r>
            <a:r>
              <a:rPr lang="en-US" sz="1100" dirty="0">
                <a:solidFill>
                  <a:srgbClr val="262B3A"/>
                </a:solidFill>
                <a:latin typeface="Calibri" pitchFamily="34" charset="0"/>
                <a:ea typeface="Calibri" pitchFamily="34" charset="-122"/>
                <a:cs typeface="Calibri" pitchFamily="34" charset="-120"/>
              </a:rPr>
              <a:t>I = 0.50 mA = 0.00050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Equation   </a:t>
            </a:r>
            <a:r>
              <a:rPr lang="en-US" sz="1100" dirty="0">
                <a:solidFill>
                  <a:srgbClr val="262B3A"/>
                </a:solidFill>
                <a:latin typeface="Calibri" pitchFamily="34" charset="0"/>
                <a:ea typeface="Calibri" pitchFamily="34" charset="-122"/>
                <a:cs typeface="Calibri" pitchFamily="34" charset="-120"/>
              </a:rPr>
              <a:t>R = V ÷ I</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R = 6.0 ÷ 0.00050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R = 12 000 Ω (12 kΩ)</a:t>
            </a:r>
            <a:endParaRPr lang="en-US" sz="1100" dirty="0"/>
          </a:p>
        </p:txBody>
      </p:sp>
      <p:sp>
        <p:nvSpPr>
          <p:cNvPr id="60" name="Shape 58"/>
          <p:cNvSpPr/>
          <p:nvPr/>
        </p:nvSpPr>
        <p:spPr>
          <a:xfrm>
            <a:off x="411480" y="5833872"/>
            <a:ext cx="11368735" cy="530352"/>
          </a:xfrm>
          <a:prstGeom prst="rect">
            <a:avLst/>
          </a:prstGeom>
          <a:solidFill>
            <a:srgbClr val="FFF4E0"/>
          </a:solidFill>
          <a:ln w="6350">
            <a:solidFill>
              <a:srgbClr val="F1D9A8"/>
            </a:solidFill>
            <a:prstDash val="solid"/>
          </a:ln>
        </p:spPr>
      </p:sp>
      <p:sp>
        <p:nvSpPr>
          <p:cNvPr id="61" name="Shape 59"/>
          <p:cNvSpPr/>
          <p:nvPr/>
        </p:nvSpPr>
        <p:spPr>
          <a:xfrm>
            <a:off x="411480" y="5833872"/>
            <a:ext cx="82296" cy="530352"/>
          </a:xfrm>
          <a:prstGeom prst="rect">
            <a:avLst/>
          </a:prstGeom>
          <a:solidFill>
            <a:srgbClr val="E39A2F"/>
          </a:solidFill>
          <a:ln w="12700">
            <a:solidFill>
              <a:srgbClr val="E39A2F"/>
            </a:solidFill>
            <a:prstDash val="solid"/>
          </a:ln>
        </p:spPr>
      </p:sp>
      <p:sp>
        <p:nvSpPr>
          <p:cNvPr id="62" name="Text 6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Describe how you would change the light intensity on an LDR fairly. Name one control variable.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10.18–10.21 • I–V graphs and sensors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26</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shape of the I–V graph for a </a:t>
            </a:r>
            <a:r>
              <a:rPr lang="en-US" sz="1250" b="1" dirty="0">
                <a:solidFill>
                  <a:srgbClr val="262B3A"/>
                </a:solidFill>
                <a:latin typeface="Calibri" pitchFamily="34" charset="0"/>
                <a:ea typeface="Calibri" pitchFamily="34" charset="-122"/>
                <a:cs typeface="Calibri" pitchFamily="34" charset="-120"/>
              </a:rPr>
              <a:t>filament lamp</a:t>
            </a:r>
            <a:r>
              <a:rPr lang="en-US" sz="1250" dirty="0">
                <a:solidFill>
                  <a:srgbClr val="262B3A"/>
                </a:solidFill>
                <a:latin typeface="Calibri" pitchFamily="34" charset="0"/>
                <a:ea typeface="Calibri" pitchFamily="34" charset="-122"/>
                <a:cs typeface="Calibri" pitchFamily="34" charset="-120"/>
              </a:rPr>
              <a:t> and explain why it has this shape.</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the current through a </a:t>
            </a:r>
            <a:r>
              <a:rPr lang="en-US" sz="1250" b="1" dirty="0">
                <a:solidFill>
                  <a:srgbClr val="262B3A"/>
                </a:solidFill>
                <a:latin typeface="Calibri" pitchFamily="34" charset="0"/>
                <a:ea typeface="Calibri" pitchFamily="34" charset="-122"/>
                <a:cs typeface="Calibri" pitchFamily="34" charset="-120"/>
              </a:rPr>
              <a:t>diode</a:t>
            </a:r>
            <a:r>
              <a:rPr lang="en-US" sz="1250" dirty="0">
                <a:solidFill>
                  <a:srgbClr val="262B3A"/>
                </a:solidFill>
                <a:latin typeface="Calibri" pitchFamily="34" charset="0"/>
                <a:ea typeface="Calibri" pitchFamily="34" charset="-122"/>
                <a:cs typeface="Calibri" pitchFamily="34" charset="-120"/>
              </a:rPr>
              <a:t> depends on the direction of the p.d. across it.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the resistance of a </a:t>
            </a:r>
            <a:r>
              <a:rPr lang="en-US" sz="1250" b="1" dirty="0">
                <a:solidFill>
                  <a:srgbClr val="262B3A"/>
                </a:solidFill>
                <a:latin typeface="Calibri" pitchFamily="34" charset="0"/>
                <a:ea typeface="Calibri" pitchFamily="34" charset="-122"/>
                <a:cs typeface="Calibri" pitchFamily="34" charset="-120"/>
              </a:rPr>
              <a:t>thermistor</a:t>
            </a:r>
            <a:r>
              <a:rPr lang="en-US" sz="1250" dirty="0">
                <a:solidFill>
                  <a:srgbClr val="262B3A"/>
                </a:solidFill>
                <a:latin typeface="Calibri" pitchFamily="34" charset="0"/>
                <a:ea typeface="Calibri" pitchFamily="34" charset="-122"/>
                <a:cs typeface="Calibri" pitchFamily="34" charset="-120"/>
              </a:rPr>
              <a:t> changes with temperature, and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use of a thermistor.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The heating effect of an electric current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10.22, 10.23, 10.24 • collisions between electrons and 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10.22  |  27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model of a metal: positive ions in a lattice, free electrons moving through</a:t>
            </a:r>
            <a:endParaRPr lang="en-US" sz="1000" dirty="0"/>
          </a:p>
        </p:txBody>
      </p:sp>
      <p:sp>
        <p:nvSpPr>
          <p:cNvPr id="10" name="Shape 8"/>
          <p:cNvSpPr/>
          <p:nvPr/>
        </p:nvSpPr>
        <p:spPr>
          <a:xfrm>
            <a:off x="896112" y="1490472"/>
            <a:ext cx="402336" cy="402336"/>
          </a:xfrm>
          <a:prstGeom prst="ellipse">
            <a:avLst/>
          </a:prstGeom>
          <a:solidFill>
            <a:srgbClr val="F5C27A"/>
          </a:solidFill>
          <a:ln w="12700">
            <a:solidFill>
              <a:srgbClr val="B8730A"/>
            </a:solidFill>
            <a:prstDash val="solid"/>
          </a:ln>
        </p:spPr>
      </p:sp>
      <p:sp>
        <p:nvSpPr>
          <p:cNvPr id="11" name="Text 9"/>
          <p:cNvSpPr/>
          <p:nvPr/>
        </p:nvSpPr>
        <p:spPr>
          <a:xfrm>
            <a:off x="896112" y="1490472"/>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1700784" y="1490472"/>
            <a:ext cx="402336" cy="402336"/>
          </a:xfrm>
          <a:prstGeom prst="ellipse">
            <a:avLst/>
          </a:prstGeom>
          <a:solidFill>
            <a:srgbClr val="F5C27A"/>
          </a:solidFill>
          <a:ln w="12700">
            <a:solidFill>
              <a:srgbClr val="B8730A"/>
            </a:solidFill>
            <a:prstDash val="solid"/>
          </a:ln>
        </p:spPr>
      </p:sp>
      <p:sp>
        <p:nvSpPr>
          <p:cNvPr id="13" name="Text 11"/>
          <p:cNvSpPr/>
          <p:nvPr/>
        </p:nvSpPr>
        <p:spPr>
          <a:xfrm>
            <a:off x="1700784" y="1490472"/>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2505456" y="1490472"/>
            <a:ext cx="402336" cy="402336"/>
          </a:xfrm>
          <a:prstGeom prst="ellipse">
            <a:avLst/>
          </a:prstGeom>
          <a:solidFill>
            <a:srgbClr val="F5C27A"/>
          </a:solidFill>
          <a:ln w="12700">
            <a:solidFill>
              <a:srgbClr val="B8730A"/>
            </a:solidFill>
            <a:prstDash val="solid"/>
          </a:ln>
        </p:spPr>
      </p:sp>
      <p:sp>
        <p:nvSpPr>
          <p:cNvPr id="15" name="Text 13"/>
          <p:cNvSpPr/>
          <p:nvPr/>
        </p:nvSpPr>
        <p:spPr>
          <a:xfrm>
            <a:off x="2505456" y="1490472"/>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310128" y="1490472"/>
            <a:ext cx="402336" cy="402336"/>
          </a:xfrm>
          <a:prstGeom prst="ellipse">
            <a:avLst/>
          </a:prstGeom>
          <a:solidFill>
            <a:srgbClr val="F5C27A"/>
          </a:solidFill>
          <a:ln w="12700">
            <a:solidFill>
              <a:srgbClr val="B8730A"/>
            </a:solidFill>
            <a:prstDash val="solid"/>
          </a:ln>
        </p:spPr>
      </p:sp>
      <p:sp>
        <p:nvSpPr>
          <p:cNvPr id="17" name="Text 15"/>
          <p:cNvSpPr/>
          <p:nvPr/>
        </p:nvSpPr>
        <p:spPr>
          <a:xfrm>
            <a:off x="3310128" y="1490472"/>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4114800" y="1490472"/>
            <a:ext cx="402336" cy="402336"/>
          </a:xfrm>
          <a:prstGeom prst="ellipse">
            <a:avLst/>
          </a:prstGeom>
          <a:solidFill>
            <a:srgbClr val="F5C27A"/>
          </a:solidFill>
          <a:ln w="12700">
            <a:solidFill>
              <a:srgbClr val="B8730A"/>
            </a:solidFill>
            <a:prstDash val="solid"/>
          </a:ln>
        </p:spPr>
      </p:sp>
      <p:sp>
        <p:nvSpPr>
          <p:cNvPr id="19" name="Text 17"/>
          <p:cNvSpPr/>
          <p:nvPr/>
        </p:nvSpPr>
        <p:spPr>
          <a:xfrm>
            <a:off x="4114800" y="1490472"/>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4919472" y="1490472"/>
            <a:ext cx="402336" cy="402336"/>
          </a:xfrm>
          <a:prstGeom prst="ellipse">
            <a:avLst/>
          </a:prstGeom>
          <a:solidFill>
            <a:srgbClr val="F5C27A"/>
          </a:solidFill>
          <a:ln w="12700">
            <a:solidFill>
              <a:srgbClr val="B8730A"/>
            </a:solidFill>
            <a:prstDash val="solid"/>
          </a:ln>
        </p:spPr>
      </p:sp>
      <p:sp>
        <p:nvSpPr>
          <p:cNvPr id="21" name="Text 19"/>
          <p:cNvSpPr/>
          <p:nvPr/>
        </p:nvSpPr>
        <p:spPr>
          <a:xfrm>
            <a:off x="4919472" y="1490472"/>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896112" y="2295144"/>
            <a:ext cx="402336" cy="402336"/>
          </a:xfrm>
          <a:prstGeom prst="ellipse">
            <a:avLst/>
          </a:prstGeom>
          <a:solidFill>
            <a:srgbClr val="F5C27A"/>
          </a:solidFill>
          <a:ln w="12700">
            <a:solidFill>
              <a:srgbClr val="B8730A"/>
            </a:solidFill>
            <a:prstDash val="solid"/>
          </a:ln>
        </p:spPr>
      </p:sp>
      <p:sp>
        <p:nvSpPr>
          <p:cNvPr id="23" name="Text 21"/>
          <p:cNvSpPr/>
          <p:nvPr/>
        </p:nvSpPr>
        <p:spPr>
          <a:xfrm>
            <a:off x="896112" y="2295144"/>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1700784" y="2295144"/>
            <a:ext cx="402336" cy="402336"/>
          </a:xfrm>
          <a:prstGeom prst="ellipse">
            <a:avLst/>
          </a:prstGeom>
          <a:solidFill>
            <a:srgbClr val="F5C27A"/>
          </a:solidFill>
          <a:ln w="12700">
            <a:solidFill>
              <a:srgbClr val="B8730A"/>
            </a:solidFill>
            <a:prstDash val="solid"/>
          </a:ln>
        </p:spPr>
      </p:sp>
      <p:sp>
        <p:nvSpPr>
          <p:cNvPr id="25" name="Text 23"/>
          <p:cNvSpPr/>
          <p:nvPr/>
        </p:nvSpPr>
        <p:spPr>
          <a:xfrm>
            <a:off x="1700784" y="2295144"/>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2505456" y="2295144"/>
            <a:ext cx="402336" cy="402336"/>
          </a:xfrm>
          <a:prstGeom prst="ellipse">
            <a:avLst/>
          </a:prstGeom>
          <a:solidFill>
            <a:srgbClr val="F5C27A"/>
          </a:solidFill>
          <a:ln w="12700">
            <a:solidFill>
              <a:srgbClr val="B8730A"/>
            </a:solidFill>
            <a:prstDash val="solid"/>
          </a:ln>
        </p:spPr>
      </p:sp>
      <p:sp>
        <p:nvSpPr>
          <p:cNvPr id="27" name="Text 25"/>
          <p:cNvSpPr/>
          <p:nvPr/>
        </p:nvSpPr>
        <p:spPr>
          <a:xfrm>
            <a:off x="2505456" y="2295144"/>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3310128" y="2295144"/>
            <a:ext cx="402336" cy="402336"/>
          </a:xfrm>
          <a:prstGeom prst="ellipse">
            <a:avLst/>
          </a:prstGeom>
          <a:solidFill>
            <a:srgbClr val="F5C27A"/>
          </a:solidFill>
          <a:ln w="12700">
            <a:solidFill>
              <a:srgbClr val="B8730A"/>
            </a:solidFill>
            <a:prstDash val="solid"/>
          </a:ln>
        </p:spPr>
      </p:sp>
      <p:sp>
        <p:nvSpPr>
          <p:cNvPr id="29" name="Text 27"/>
          <p:cNvSpPr/>
          <p:nvPr/>
        </p:nvSpPr>
        <p:spPr>
          <a:xfrm>
            <a:off x="3310128" y="2295144"/>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4114800" y="2295144"/>
            <a:ext cx="402336" cy="402336"/>
          </a:xfrm>
          <a:prstGeom prst="ellipse">
            <a:avLst/>
          </a:prstGeom>
          <a:solidFill>
            <a:srgbClr val="F5C27A"/>
          </a:solidFill>
          <a:ln w="12700">
            <a:solidFill>
              <a:srgbClr val="B8730A"/>
            </a:solidFill>
            <a:prstDash val="solid"/>
          </a:ln>
        </p:spPr>
      </p:sp>
      <p:sp>
        <p:nvSpPr>
          <p:cNvPr id="31" name="Text 29"/>
          <p:cNvSpPr/>
          <p:nvPr/>
        </p:nvSpPr>
        <p:spPr>
          <a:xfrm>
            <a:off x="4114800" y="2295144"/>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4919472" y="2295144"/>
            <a:ext cx="402336" cy="402336"/>
          </a:xfrm>
          <a:prstGeom prst="ellipse">
            <a:avLst/>
          </a:prstGeom>
          <a:solidFill>
            <a:srgbClr val="F5C27A"/>
          </a:solidFill>
          <a:ln w="12700">
            <a:solidFill>
              <a:srgbClr val="B8730A"/>
            </a:solidFill>
            <a:prstDash val="solid"/>
          </a:ln>
        </p:spPr>
      </p:sp>
      <p:sp>
        <p:nvSpPr>
          <p:cNvPr id="33" name="Text 31"/>
          <p:cNvSpPr/>
          <p:nvPr/>
        </p:nvSpPr>
        <p:spPr>
          <a:xfrm>
            <a:off x="4919472" y="2295144"/>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34" name="Shape 32"/>
          <p:cNvSpPr/>
          <p:nvPr/>
        </p:nvSpPr>
        <p:spPr>
          <a:xfrm>
            <a:off x="896112" y="3099816"/>
            <a:ext cx="402336" cy="402336"/>
          </a:xfrm>
          <a:prstGeom prst="ellipse">
            <a:avLst/>
          </a:prstGeom>
          <a:solidFill>
            <a:srgbClr val="F5C27A"/>
          </a:solidFill>
          <a:ln w="12700">
            <a:solidFill>
              <a:srgbClr val="B8730A"/>
            </a:solidFill>
            <a:prstDash val="solid"/>
          </a:ln>
        </p:spPr>
      </p:sp>
      <p:sp>
        <p:nvSpPr>
          <p:cNvPr id="35" name="Text 33"/>
          <p:cNvSpPr/>
          <p:nvPr/>
        </p:nvSpPr>
        <p:spPr>
          <a:xfrm>
            <a:off x="896112" y="3099816"/>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1700784" y="3099816"/>
            <a:ext cx="402336" cy="402336"/>
          </a:xfrm>
          <a:prstGeom prst="ellipse">
            <a:avLst/>
          </a:prstGeom>
          <a:solidFill>
            <a:srgbClr val="F5C27A"/>
          </a:solidFill>
          <a:ln w="12700">
            <a:solidFill>
              <a:srgbClr val="B8730A"/>
            </a:solidFill>
            <a:prstDash val="solid"/>
          </a:ln>
        </p:spPr>
      </p:sp>
      <p:sp>
        <p:nvSpPr>
          <p:cNvPr id="37" name="Text 35"/>
          <p:cNvSpPr/>
          <p:nvPr/>
        </p:nvSpPr>
        <p:spPr>
          <a:xfrm>
            <a:off x="1700784" y="3099816"/>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38" name="Shape 36"/>
          <p:cNvSpPr/>
          <p:nvPr/>
        </p:nvSpPr>
        <p:spPr>
          <a:xfrm>
            <a:off x="2505456" y="3099816"/>
            <a:ext cx="402336" cy="402336"/>
          </a:xfrm>
          <a:prstGeom prst="ellipse">
            <a:avLst/>
          </a:prstGeom>
          <a:solidFill>
            <a:srgbClr val="F5C27A"/>
          </a:solidFill>
          <a:ln w="12700">
            <a:solidFill>
              <a:srgbClr val="B8730A"/>
            </a:solidFill>
            <a:prstDash val="solid"/>
          </a:ln>
        </p:spPr>
      </p:sp>
      <p:sp>
        <p:nvSpPr>
          <p:cNvPr id="39" name="Text 37"/>
          <p:cNvSpPr/>
          <p:nvPr/>
        </p:nvSpPr>
        <p:spPr>
          <a:xfrm>
            <a:off x="2505456" y="3099816"/>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40" name="Shape 38"/>
          <p:cNvSpPr/>
          <p:nvPr/>
        </p:nvSpPr>
        <p:spPr>
          <a:xfrm>
            <a:off x="3310128" y="3099816"/>
            <a:ext cx="402336" cy="402336"/>
          </a:xfrm>
          <a:prstGeom prst="ellipse">
            <a:avLst/>
          </a:prstGeom>
          <a:solidFill>
            <a:srgbClr val="F5C27A"/>
          </a:solidFill>
          <a:ln w="12700">
            <a:solidFill>
              <a:srgbClr val="B8730A"/>
            </a:solidFill>
            <a:prstDash val="solid"/>
          </a:ln>
        </p:spPr>
      </p:sp>
      <p:sp>
        <p:nvSpPr>
          <p:cNvPr id="41" name="Text 39"/>
          <p:cNvSpPr/>
          <p:nvPr/>
        </p:nvSpPr>
        <p:spPr>
          <a:xfrm>
            <a:off x="3310128" y="3099816"/>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42" name="Shape 40"/>
          <p:cNvSpPr/>
          <p:nvPr/>
        </p:nvSpPr>
        <p:spPr>
          <a:xfrm>
            <a:off x="4114800" y="3099816"/>
            <a:ext cx="402336" cy="402336"/>
          </a:xfrm>
          <a:prstGeom prst="ellipse">
            <a:avLst/>
          </a:prstGeom>
          <a:solidFill>
            <a:srgbClr val="F5C27A"/>
          </a:solidFill>
          <a:ln w="12700">
            <a:solidFill>
              <a:srgbClr val="B8730A"/>
            </a:solidFill>
            <a:prstDash val="solid"/>
          </a:ln>
        </p:spPr>
      </p:sp>
      <p:sp>
        <p:nvSpPr>
          <p:cNvPr id="43" name="Text 41"/>
          <p:cNvSpPr/>
          <p:nvPr/>
        </p:nvSpPr>
        <p:spPr>
          <a:xfrm>
            <a:off x="4114800" y="3099816"/>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44" name="Shape 42"/>
          <p:cNvSpPr/>
          <p:nvPr/>
        </p:nvSpPr>
        <p:spPr>
          <a:xfrm>
            <a:off x="4919472" y="3099816"/>
            <a:ext cx="402336" cy="402336"/>
          </a:xfrm>
          <a:prstGeom prst="ellipse">
            <a:avLst/>
          </a:prstGeom>
          <a:solidFill>
            <a:srgbClr val="F5C27A"/>
          </a:solidFill>
          <a:ln w="12700">
            <a:solidFill>
              <a:srgbClr val="B8730A"/>
            </a:solidFill>
            <a:prstDash val="solid"/>
          </a:ln>
        </p:spPr>
      </p:sp>
      <p:sp>
        <p:nvSpPr>
          <p:cNvPr id="45" name="Text 43"/>
          <p:cNvSpPr/>
          <p:nvPr/>
        </p:nvSpPr>
        <p:spPr>
          <a:xfrm>
            <a:off x="4919472" y="3099816"/>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46" name="Shape 44"/>
          <p:cNvSpPr/>
          <p:nvPr/>
        </p:nvSpPr>
        <p:spPr>
          <a:xfrm>
            <a:off x="896112" y="3904488"/>
            <a:ext cx="402336" cy="402336"/>
          </a:xfrm>
          <a:prstGeom prst="ellipse">
            <a:avLst/>
          </a:prstGeom>
          <a:solidFill>
            <a:srgbClr val="F5C27A"/>
          </a:solidFill>
          <a:ln w="12700">
            <a:solidFill>
              <a:srgbClr val="B8730A"/>
            </a:solidFill>
            <a:prstDash val="solid"/>
          </a:ln>
        </p:spPr>
      </p:sp>
      <p:sp>
        <p:nvSpPr>
          <p:cNvPr id="47" name="Text 45"/>
          <p:cNvSpPr/>
          <p:nvPr/>
        </p:nvSpPr>
        <p:spPr>
          <a:xfrm>
            <a:off x="896112" y="3904488"/>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48" name="Shape 46"/>
          <p:cNvSpPr/>
          <p:nvPr/>
        </p:nvSpPr>
        <p:spPr>
          <a:xfrm>
            <a:off x="1700784" y="3904488"/>
            <a:ext cx="402336" cy="402336"/>
          </a:xfrm>
          <a:prstGeom prst="ellipse">
            <a:avLst/>
          </a:prstGeom>
          <a:solidFill>
            <a:srgbClr val="F5C27A"/>
          </a:solidFill>
          <a:ln w="12700">
            <a:solidFill>
              <a:srgbClr val="B8730A"/>
            </a:solidFill>
            <a:prstDash val="solid"/>
          </a:ln>
        </p:spPr>
      </p:sp>
      <p:sp>
        <p:nvSpPr>
          <p:cNvPr id="49" name="Text 47"/>
          <p:cNvSpPr/>
          <p:nvPr/>
        </p:nvSpPr>
        <p:spPr>
          <a:xfrm>
            <a:off x="1700784" y="3904488"/>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50" name="Shape 48"/>
          <p:cNvSpPr/>
          <p:nvPr/>
        </p:nvSpPr>
        <p:spPr>
          <a:xfrm>
            <a:off x="2505456" y="3904488"/>
            <a:ext cx="402336" cy="402336"/>
          </a:xfrm>
          <a:prstGeom prst="ellipse">
            <a:avLst/>
          </a:prstGeom>
          <a:solidFill>
            <a:srgbClr val="F5C27A"/>
          </a:solidFill>
          <a:ln w="12700">
            <a:solidFill>
              <a:srgbClr val="B8730A"/>
            </a:solidFill>
            <a:prstDash val="solid"/>
          </a:ln>
        </p:spPr>
      </p:sp>
      <p:sp>
        <p:nvSpPr>
          <p:cNvPr id="51" name="Text 49"/>
          <p:cNvSpPr/>
          <p:nvPr/>
        </p:nvSpPr>
        <p:spPr>
          <a:xfrm>
            <a:off x="2505456" y="3904488"/>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52" name="Shape 50"/>
          <p:cNvSpPr/>
          <p:nvPr/>
        </p:nvSpPr>
        <p:spPr>
          <a:xfrm>
            <a:off x="3310128" y="3904488"/>
            <a:ext cx="402336" cy="402336"/>
          </a:xfrm>
          <a:prstGeom prst="ellipse">
            <a:avLst/>
          </a:prstGeom>
          <a:solidFill>
            <a:srgbClr val="F5C27A"/>
          </a:solidFill>
          <a:ln w="12700">
            <a:solidFill>
              <a:srgbClr val="B8730A"/>
            </a:solidFill>
            <a:prstDash val="solid"/>
          </a:ln>
        </p:spPr>
      </p:sp>
      <p:sp>
        <p:nvSpPr>
          <p:cNvPr id="53" name="Text 51"/>
          <p:cNvSpPr/>
          <p:nvPr/>
        </p:nvSpPr>
        <p:spPr>
          <a:xfrm>
            <a:off x="3310128" y="3904488"/>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54" name="Shape 52"/>
          <p:cNvSpPr/>
          <p:nvPr/>
        </p:nvSpPr>
        <p:spPr>
          <a:xfrm>
            <a:off x="4114800" y="3904488"/>
            <a:ext cx="402336" cy="402336"/>
          </a:xfrm>
          <a:prstGeom prst="ellipse">
            <a:avLst/>
          </a:prstGeom>
          <a:solidFill>
            <a:srgbClr val="F5C27A"/>
          </a:solidFill>
          <a:ln w="12700">
            <a:solidFill>
              <a:srgbClr val="B8730A"/>
            </a:solidFill>
            <a:prstDash val="solid"/>
          </a:ln>
        </p:spPr>
      </p:sp>
      <p:sp>
        <p:nvSpPr>
          <p:cNvPr id="55" name="Text 53"/>
          <p:cNvSpPr/>
          <p:nvPr/>
        </p:nvSpPr>
        <p:spPr>
          <a:xfrm>
            <a:off x="4114800" y="3904488"/>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56" name="Shape 54"/>
          <p:cNvSpPr/>
          <p:nvPr/>
        </p:nvSpPr>
        <p:spPr>
          <a:xfrm>
            <a:off x="4919472" y="3904488"/>
            <a:ext cx="402336" cy="402336"/>
          </a:xfrm>
          <a:prstGeom prst="ellipse">
            <a:avLst/>
          </a:prstGeom>
          <a:solidFill>
            <a:srgbClr val="F5C27A"/>
          </a:solidFill>
          <a:ln w="12700">
            <a:solidFill>
              <a:srgbClr val="B8730A"/>
            </a:solidFill>
            <a:prstDash val="solid"/>
          </a:ln>
        </p:spPr>
      </p:sp>
      <p:sp>
        <p:nvSpPr>
          <p:cNvPr id="57" name="Text 55"/>
          <p:cNvSpPr/>
          <p:nvPr/>
        </p:nvSpPr>
        <p:spPr>
          <a:xfrm>
            <a:off x="4919472" y="3904488"/>
            <a:ext cx="402336" cy="402336"/>
          </a:xfrm>
          <a:prstGeom prst="rect">
            <a:avLst/>
          </a:prstGeom>
          <a:noFill/>
          <a:ln/>
        </p:spPr>
        <p:txBody>
          <a:bodyPr wrap="square" lIns="0" tIns="0" rIns="0" bIns="0" rtlCol="0" anchor="ctr"/>
          <a:lstStyle/>
          <a:p>
            <a:pPr algn="ctr" indent="0" marL="0">
              <a:buNone/>
            </a:pPr>
            <a:r>
              <a:rPr lang="en-US" sz="1400" b="1" dirty="0">
                <a:solidFill>
                  <a:srgbClr val="B8730A"/>
                </a:solidFill>
                <a:latin typeface="Calibri" pitchFamily="34" charset="0"/>
                <a:ea typeface="Calibri" pitchFamily="34" charset="-122"/>
                <a:cs typeface="Calibri" pitchFamily="34" charset="-120"/>
              </a:rPr>
              <a:t>+</a:t>
            </a:r>
            <a:endParaRPr lang="en-US" sz="1400" dirty="0"/>
          </a:p>
        </p:txBody>
      </p:sp>
      <p:sp>
        <p:nvSpPr>
          <p:cNvPr id="58" name="Shape 56"/>
          <p:cNvSpPr/>
          <p:nvPr/>
        </p:nvSpPr>
        <p:spPr>
          <a:xfrm flipH="1">
            <a:off x="3153766" y="3300984"/>
            <a:ext cx="108814" cy="91"/>
          </a:xfrm>
          <a:prstGeom prst="line">
            <a:avLst/>
          </a:prstGeom>
          <a:noFill/>
          <a:ln w="25400">
            <a:solidFill>
              <a:srgbClr val="C8414C"/>
            </a:solidFill>
            <a:prstDash val="solid"/>
          </a:ln>
        </p:spPr>
      </p:sp>
      <p:sp>
        <p:nvSpPr>
          <p:cNvPr id="59" name="Shape 57"/>
          <p:cNvSpPr/>
          <p:nvPr/>
        </p:nvSpPr>
        <p:spPr>
          <a:xfrm>
            <a:off x="3760013" y="3300984"/>
            <a:ext cx="108814" cy="91"/>
          </a:xfrm>
          <a:prstGeom prst="line">
            <a:avLst/>
          </a:prstGeom>
          <a:noFill/>
          <a:ln w="25400">
            <a:solidFill>
              <a:srgbClr val="C8414C"/>
            </a:solidFill>
            <a:prstDash val="solid"/>
          </a:ln>
        </p:spPr>
      </p:sp>
      <p:sp>
        <p:nvSpPr>
          <p:cNvPr id="60" name="Shape 58"/>
          <p:cNvSpPr/>
          <p:nvPr/>
        </p:nvSpPr>
        <p:spPr>
          <a:xfrm flipV="1">
            <a:off x="3511296" y="2943454"/>
            <a:ext cx="91" cy="108814"/>
          </a:xfrm>
          <a:prstGeom prst="line">
            <a:avLst/>
          </a:prstGeom>
          <a:noFill/>
          <a:ln w="25400">
            <a:solidFill>
              <a:srgbClr val="C8414C"/>
            </a:solidFill>
            <a:prstDash val="solid"/>
          </a:ln>
        </p:spPr>
      </p:sp>
      <p:sp>
        <p:nvSpPr>
          <p:cNvPr id="61" name="Shape 59"/>
          <p:cNvSpPr/>
          <p:nvPr/>
        </p:nvSpPr>
        <p:spPr>
          <a:xfrm>
            <a:off x="3511296" y="3549701"/>
            <a:ext cx="91" cy="108814"/>
          </a:xfrm>
          <a:prstGeom prst="line">
            <a:avLst/>
          </a:prstGeom>
          <a:noFill/>
          <a:ln w="25400">
            <a:solidFill>
              <a:srgbClr val="C8414C"/>
            </a:solidFill>
            <a:prstDash val="solid"/>
          </a:ln>
        </p:spPr>
      </p:sp>
      <p:sp>
        <p:nvSpPr>
          <p:cNvPr id="62" name="Shape 60"/>
          <p:cNvSpPr/>
          <p:nvPr/>
        </p:nvSpPr>
        <p:spPr>
          <a:xfrm>
            <a:off x="777240" y="2103120"/>
            <a:ext cx="731520" cy="91"/>
          </a:xfrm>
          <a:prstGeom prst="line">
            <a:avLst/>
          </a:prstGeom>
          <a:noFill/>
          <a:ln w="22225">
            <a:solidFill>
              <a:srgbClr val="2E5BD8"/>
            </a:solidFill>
            <a:prstDash val="solid"/>
            <a:tailEnd type="triangle"/>
          </a:ln>
        </p:spPr>
      </p:sp>
      <p:sp>
        <p:nvSpPr>
          <p:cNvPr id="63" name="Shape 61"/>
          <p:cNvSpPr/>
          <p:nvPr/>
        </p:nvSpPr>
        <p:spPr>
          <a:xfrm>
            <a:off x="1508760" y="2103120"/>
            <a:ext cx="365760" cy="411480"/>
          </a:xfrm>
          <a:prstGeom prst="line">
            <a:avLst/>
          </a:prstGeom>
          <a:noFill/>
          <a:ln w="22225">
            <a:solidFill>
              <a:srgbClr val="2E5BD8"/>
            </a:solidFill>
            <a:prstDash val="solid"/>
            <a:tailEnd type="triangle"/>
          </a:ln>
        </p:spPr>
      </p:sp>
      <p:sp>
        <p:nvSpPr>
          <p:cNvPr id="64" name="Shape 62"/>
          <p:cNvSpPr/>
          <p:nvPr/>
        </p:nvSpPr>
        <p:spPr>
          <a:xfrm>
            <a:off x="1874520" y="2514600"/>
            <a:ext cx="822960" cy="182880"/>
          </a:xfrm>
          <a:prstGeom prst="line">
            <a:avLst/>
          </a:prstGeom>
          <a:noFill/>
          <a:ln w="22225">
            <a:solidFill>
              <a:srgbClr val="2E5BD8"/>
            </a:solidFill>
            <a:prstDash val="solid"/>
            <a:tailEnd type="triangle"/>
          </a:ln>
        </p:spPr>
      </p:sp>
      <p:sp>
        <p:nvSpPr>
          <p:cNvPr id="65" name="Shape 63"/>
          <p:cNvSpPr/>
          <p:nvPr/>
        </p:nvSpPr>
        <p:spPr>
          <a:xfrm>
            <a:off x="2697480" y="2697480"/>
            <a:ext cx="457200" cy="320040"/>
          </a:xfrm>
          <a:prstGeom prst="line">
            <a:avLst/>
          </a:prstGeom>
          <a:noFill/>
          <a:ln w="22225">
            <a:solidFill>
              <a:srgbClr val="2E5BD8"/>
            </a:solidFill>
            <a:prstDash val="solid"/>
            <a:tailEnd type="triangle"/>
          </a:ln>
        </p:spPr>
      </p:sp>
      <p:sp>
        <p:nvSpPr>
          <p:cNvPr id="66" name="Shape 64"/>
          <p:cNvSpPr/>
          <p:nvPr/>
        </p:nvSpPr>
        <p:spPr>
          <a:xfrm>
            <a:off x="3154680" y="3017520"/>
            <a:ext cx="731520" cy="731520"/>
          </a:xfrm>
          <a:prstGeom prst="line">
            <a:avLst/>
          </a:prstGeom>
          <a:noFill/>
          <a:ln w="22225">
            <a:solidFill>
              <a:srgbClr val="2E5BD8"/>
            </a:solidFill>
            <a:prstDash val="solid"/>
            <a:tailEnd type="triangle"/>
          </a:ln>
        </p:spPr>
      </p:sp>
      <p:sp>
        <p:nvSpPr>
          <p:cNvPr id="67" name="Shape 65"/>
          <p:cNvSpPr/>
          <p:nvPr/>
        </p:nvSpPr>
        <p:spPr>
          <a:xfrm flipV="1">
            <a:off x="3886200" y="3657600"/>
            <a:ext cx="1005840" cy="91440"/>
          </a:xfrm>
          <a:prstGeom prst="line">
            <a:avLst/>
          </a:prstGeom>
          <a:noFill/>
          <a:ln w="22225">
            <a:solidFill>
              <a:srgbClr val="2E5BD8"/>
            </a:solidFill>
            <a:prstDash val="solid"/>
            <a:tailEnd type="triangle"/>
          </a:ln>
        </p:spPr>
      </p:sp>
      <p:sp>
        <p:nvSpPr>
          <p:cNvPr id="68" name="Shape 66"/>
          <p:cNvSpPr/>
          <p:nvPr/>
        </p:nvSpPr>
        <p:spPr>
          <a:xfrm>
            <a:off x="4892040" y="3657600"/>
            <a:ext cx="731520" cy="365760"/>
          </a:xfrm>
          <a:prstGeom prst="line">
            <a:avLst/>
          </a:prstGeom>
          <a:noFill/>
          <a:ln w="22225">
            <a:solidFill>
              <a:srgbClr val="2E5BD8"/>
            </a:solidFill>
            <a:prstDash val="solid"/>
            <a:tailEnd type="triangle"/>
          </a:ln>
        </p:spPr>
      </p:sp>
      <p:sp>
        <p:nvSpPr>
          <p:cNvPr id="69" name="Shape 67"/>
          <p:cNvSpPr/>
          <p:nvPr/>
        </p:nvSpPr>
        <p:spPr>
          <a:xfrm>
            <a:off x="1435608" y="2834640"/>
            <a:ext cx="128016" cy="128016"/>
          </a:xfrm>
          <a:prstGeom prst="ellipse">
            <a:avLst/>
          </a:prstGeom>
          <a:solidFill>
            <a:srgbClr val="2E5BD8"/>
          </a:solidFill>
          <a:ln w="12700">
            <a:solidFill>
              <a:srgbClr val="2E5BD8"/>
            </a:solidFill>
            <a:prstDash val="solid"/>
          </a:ln>
        </p:spPr>
      </p:sp>
      <p:sp>
        <p:nvSpPr>
          <p:cNvPr id="70" name="Shape 68"/>
          <p:cNvSpPr/>
          <p:nvPr/>
        </p:nvSpPr>
        <p:spPr>
          <a:xfrm>
            <a:off x="4251960" y="2029968"/>
            <a:ext cx="128016" cy="128016"/>
          </a:xfrm>
          <a:prstGeom prst="ellipse">
            <a:avLst/>
          </a:prstGeom>
          <a:solidFill>
            <a:srgbClr val="2E5BD8"/>
          </a:solidFill>
          <a:ln w="12700">
            <a:solidFill>
              <a:srgbClr val="2E5BD8"/>
            </a:solidFill>
            <a:prstDash val="solid"/>
          </a:ln>
        </p:spPr>
      </p:sp>
      <p:sp>
        <p:nvSpPr>
          <p:cNvPr id="71" name="Shape 69"/>
          <p:cNvSpPr/>
          <p:nvPr/>
        </p:nvSpPr>
        <p:spPr>
          <a:xfrm>
            <a:off x="2240280" y="3639312"/>
            <a:ext cx="128016" cy="128016"/>
          </a:xfrm>
          <a:prstGeom prst="ellipse">
            <a:avLst/>
          </a:prstGeom>
          <a:solidFill>
            <a:srgbClr val="2E5BD8"/>
          </a:solidFill>
          <a:ln w="12700">
            <a:solidFill>
              <a:srgbClr val="2E5BD8"/>
            </a:solidFill>
            <a:prstDash val="solid"/>
          </a:ln>
        </p:spPr>
      </p:sp>
      <p:sp>
        <p:nvSpPr>
          <p:cNvPr id="72" name="Shape 70"/>
          <p:cNvSpPr/>
          <p:nvPr/>
        </p:nvSpPr>
        <p:spPr>
          <a:xfrm>
            <a:off x="5056632" y="2834640"/>
            <a:ext cx="128016" cy="128016"/>
          </a:xfrm>
          <a:prstGeom prst="ellipse">
            <a:avLst/>
          </a:prstGeom>
          <a:solidFill>
            <a:srgbClr val="2E5BD8"/>
          </a:solidFill>
          <a:ln w="12700">
            <a:solidFill>
              <a:srgbClr val="2E5BD8"/>
            </a:solidFill>
            <a:prstDash val="solid"/>
          </a:ln>
        </p:spPr>
      </p:sp>
      <p:sp>
        <p:nvSpPr>
          <p:cNvPr id="73" name="Shape 71"/>
          <p:cNvSpPr/>
          <p:nvPr/>
        </p:nvSpPr>
        <p:spPr>
          <a:xfrm>
            <a:off x="1435608" y="3639312"/>
            <a:ext cx="128016" cy="128016"/>
          </a:xfrm>
          <a:prstGeom prst="ellipse">
            <a:avLst/>
          </a:prstGeom>
          <a:solidFill>
            <a:srgbClr val="2E5BD8"/>
          </a:solidFill>
          <a:ln w="12700">
            <a:solidFill>
              <a:srgbClr val="2E5BD8"/>
            </a:solidFill>
            <a:prstDash val="solid"/>
          </a:ln>
        </p:spPr>
      </p:sp>
      <p:sp>
        <p:nvSpPr>
          <p:cNvPr id="74" name="Shape 72"/>
          <p:cNvSpPr/>
          <p:nvPr/>
        </p:nvSpPr>
        <p:spPr>
          <a:xfrm>
            <a:off x="3044952" y="2029968"/>
            <a:ext cx="128016" cy="128016"/>
          </a:xfrm>
          <a:prstGeom prst="ellipse">
            <a:avLst/>
          </a:prstGeom>
          <a:solidFill>
            <a:srgbClr val="2E5BD8"/>
          </a:solidFill>
          <a:ln w="12700">
            <a:solidFill>
              <a:srgbClr val="2E5BD8"/>
            </a:solidFill>
            <a:prstDash val="solid"/>
          </a:ln>
        </p:spPr>
      </p:sp>
      <p:sp>
        <p:nvSpPr>
          <p:cNvPr id="75" name="Text 73"/>
          <p:cNvSpPr/>
          <p:nvPr/>
        </p:nvSpPr>
        <p:spPr>
          <a:xfrm>
            <a:off x="685800" y="4754880"/>
            <a:ext cx="228600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free electron (−)</a:t>
            </a:r>
            <a:endParaRPr lang="en-US" sz="1050" dirty="0"/>
          </a:p>
        </p:txBody>
      </p:sp>
      <p:sp>
        <p:nvSpPr>
          <p:cNvPr id="76" name="Text 74"/>
          <p:cNvSpPr/>
          <p:nvPr/>
        </p:nvSpPr>
        <p:spPr>
          <a:xfrm>
            <a:off x="2743200" y="4754880"/>
            <a:ext cx="310896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ion vibrates more → metal heats up</a:t>
            </a:r>
            <a:endParaRPr lang="en-US" sz="1050" dirty="0"/>
          </a:p>
        </p:txBody>
      </p:sp>
      <p:sp>
        <p:nvSpPr>
          <p:cNvPr id="77" name="Shape 7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78" name="Text 7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a current heats a wire</a:t>
            </a:r>
            <a:endParaRPr lang="en-US" sz="1300" dirty="0"/>
          </a:p>
        </p:txBody>
      </p:sp>
      <p:sp>
        <p:nvSpPr>
          <p:cNvPr id="79" name="Text 7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When there is a current in a resistor, energy is transferred that </a:t>
            </a:r>
            <a:r>
              <a:rPr lang="en-US" sz="1150" b="1" dirty="0">
                <a:solidFill>
                  <a:srgbClr val="262B3A"/>
                </a:solidFill>
                <a:latin typeface="Calibri" pitchFamily="34" charset="0"/>
                <a:ea typeface="Calibri" pitchFamily="34" charset="-122"/>
                <a:cs typeface="Calibri" pitchFamily="34" charset="-120"/>
              </a:rPr>
              <a:t>heats the resistor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current does </a:t>
            </a:r>
            <a:r>
              <a:rPr lang="en-US" sz="1150" b="1" dirty="0">
                <a:solidFill>
                  <a:srgbClr val="262B3A"/>
                </a:solidFill>
                <a:latin typeface="Calibri" pitchFamily="34" charset="0"/>
                <a:ea typeface="Calibri" pitchFamily="34" charset="-122"/>
                <a:cs typeface="Calibri" pitchFamily="34" charset="-120"/>
              </a:rPr>
              <a:t>work against the resistance</a:t>
            </a:r>
            <a:r>
              <a:rPr lang="en-US" sz="1150" dirty="0">
                <a:solidFill>
                  <a:srgbClr val="262B3A"/>
                </a:solidFill>
                <a:latin typeface="Calibri" pitchFamily="34" charset="0"/>
                <a:ea typeface="Calibri" pitchFamily="34" charset="-122"/>
                <a:cs typeface="Calibri" pitchFamily="34" charset="-120"/>
              </a:rPr>
              <a:t>. Energy is </a:t>
            </a:r>
            <a:r>
              <a:rPr lang="en-US" sz="1150" b="1" dirty="0">
                <a:solidFill>
                  <a:srgbClr val="262B3A"/>
                </a:solidFill>
                <a:latin typeface="Calibri" pitchFamily="34" charset="0"/>
                <a:ea typeface="Calibri" pitchFamily="34" charset="-122"/>
                <a:cs typeface="Calibri" pitchFamily="34" charset="-120"/>
              </a:rPr>
              <a:t>dissipated</a:t>
            </a:r>
            <a:r>
              <a:rPr lang="en-US" sz="1150" dirty="0">
                <a:solidFill>
                  <a:srgbClr val="262B3A"/>
                </a:solidFill>
                <a:latin typeface="Calibri" pitchFamily="34" charset="0"/>
                <a:ea typeface="Calibri" pitchFamily="34" charset="-122"/>
                <a:cs typeface="Calibri" pitchFamily="34" charset="-120"/>
              </a:rPr>
              <a:t> as </a:t>
            </a:r>
            <a:r>
              <a:rPr lang="en-US" sz="1150" b="1" dirty="0">
                <a:solidFill>
                  <a:srgbClr val="262B3A"/>
                </a:solidFill>
                <a:latin typeface="Calibri" pitchFamily="34" charset="0"/>
                <a:ea typeface="Calibri" pitchFamily="34" charset="-122"/>
                <a:cs typeface="Calibri" pitchFamily="34" charset="-120"/>
              </a:rPr>
              <a:t>thermal energy</a:t>
            </a:r>
            <a:r>
              <a:rPr lang="en-US" sz="1150" dirty="0">
                <a:solidFill>
                  <a:srgbClr val="262B3A"/>
                </a:solidFill>
                <a:latin typeface="Calibri" pitchFamily="34" charset="0"/>
                <a:ea typeface="Calibri" pitchFamily="34" charset="-122"/>
                <a:cs typeface="Calibri" pitchFamily="34" charset="-120"/>
              </a:rPr>
              <a:t> to the surroundings.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Model: moving </a:t>
            </a:r>
            <a:r>
              <a:rPr lang="en-US" sz="1150" b="1" dirty="0">
                <a:solidFill>
                  <a:srgbClr val="262B3A"/>
                </a:solidFill>
                <a:latin typeface="Calibri" pitchFamily="34" charset="0"/>
                <a:ea typeface="Calibri" pitchFamily="34" charset="-122"/>
                <a:cs typeface="Calibri" pitchFamily="34" charset="-120"/>
              </a:rPr>
              <a:t>electrons collide</a:t>
            </a:r>
            <a:r>
              <a:rPr lang="en-US" sz="1150" dirty="0">
                <a:solidFill>
                  <a:srgbClr val="262B3A"/>
                </a:solidFill>
                <a:latin typeface="Calibri" pitchFamily="34" charset="0"/>
                <a:ea typeface="Calibri" pitchFamily="34" charset="-122"/>
                <a:cs typeface="Calibri" pitchFamily="34" charset="-120"/>
              </a:rPr>
              <a:t> with the </a:t>
            </a:r>
            <a:r>
              <a:rPr lang="en-US" sz="1150" b="1" dirty="0">
                <a:solidFill>
                  <a:srgbClr val="262B3A"/>
                </a:solidFill>
                <a:latin typeface="Calibri" pitchFamily="34" charset="0"/>
                <a:ea typeface="Calibri" pitchFamily="34" charset="-122"/>
                <a:cs typeface="Calibri" pitchFamily="34" charset="-120"/>
              </a:rPr>
              <a:t>ions in the lattice</a:t>
            </a:r>
            <a:r>
              <a:rPr lang="en-US" sz="1150" dirty="0">
                <a:solidFill>
                  <a:srgbClr val="262B3A"/>
                </a:solidFill>
                <a:latin typeface="Calibri" pitchFamily="34" charset="0"/>
                <a:ea typeface="Calibri" pitchFamily="34" charset="-122"/>
                <a:cs typeface="Calibri" pitchFamily="34" charset="-120"/>
              </a:rPr>
              <a:t>. They transfer energy to the ions, which </a:t>
            </a:r>
            <a:r>
              <a:rPr lang="en-US" sz="1150" b="1" dirty="0">
                <a:solidFill>
                  <a:srgbClr val="262B3A"/>
                </a:solidFill>
                <a:latin typeface="Calibri" pitchFamily="34" charset="0"/>
                <a:ea typeface="Calibri" pitchFamily="34" charset="-122"/>
                <a:cs typeface="Calibri" pitchFamily="34" charset="-120"/>
              </a:rPr>
              <a:t>vibrate more</a:t>
            </a:r>
            <a:r>
              <a:rPr lang="en-US" sz="1150" dirty="0">
                <a:solidFill>
                  <a:srgbClr val="262B3A"/>
                </a:solidFill>
                <a:latin typeface="Calibri" pitchFamily="34" charset="0"/>
                <a:ea typeface="Calibri" pitchFamily="34" charset="-122"/>
                <a:cs typeface="Calibri" pitchFamily="34" charset="-120"/>
              </a:rPr>
              <a:t> → the temperature rises.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Hotter ions vibrate more, so collisions happen more often → resistance increases (filament lamp).</a:t>
            </a:r>
            <a:endParaRPr lang="en-US" sz="1150" dirty="0"/>
          </a:p>
        </p:txBody>
      </p:sp>
      <p:sp>
        <p:nvSpPr>
          <p:cNvPr id="80" name="Shape 7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1" name="Text 7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it in steps</a:t>
            </a:r>
            <a:endParaRPr lang="en-US" sz="1300" dirty="0"/>
          </a:p>
        </p:txBody>
      </p:sp>
      <p:sp>
        <p:nvSpPr>
          <p:cNvPr id="82" name="Text 80"/>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Explain why a resistor gets hot when there is a current in it.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Electrons   </a:t>
            </a:r>
            <a:r>
              <a:rPr lang="en-US" sz="1100" dirty="0">
                <a:solidFill>
                  <a:srgbClr val="262B3A"/>
                </a:solidFill>
                <a:latin typeface="Calibri" pitchFamily="34" charset="0"/>
                <a:ea typeface="Calibri" pitchFamily="34" charset="-122"/>
                <a:cs typeface="Calibri" pitchFamily="34" charset="-120"/>
              </a:rPr>
              <a:t>the current is a flow of electrons through the metal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Collisions   </a:t>
            </a:r>
            <a:r>
              <a:rPr lang="en-US" sz="1100" dirty="0">
                <a:solidFill>
                  <a:srgbClr val="262B3A"/>
                </a:solidFill>
                <a:latin typeface="Calibri" pitchFamily="34" charset="0"/>
                <a:ea typeface="Calibri" pitchFamily="34" charset="-122"/>
                <a:cs typeface="Calibri" pitchFamily="34" charset="-120"/>
              </a:rPr>
              <a:t>electrons collide with the lattice ions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Energy   </a:t>
            </a:r>
            <a:r>
              <a:rPr lang="en-US" sz="1100" dirty="0">
                <a:solidFill>
                  <a:srgbClr val="262B3A"/>
                </a:solidFill>
                <a:latin typeface="Calibri" pitchFamily="34" charset="0"/>
                <a:ea typeface="Calibri" pitchFamily="34" charset="-122"/>
                <a:cs typeface="Calibri" pitchFamily="34" charset="-120"/>
              </a:rPr>
              <a:t>energy is transferred to the ions, which vibrate more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the thermal energy store of the resistor increases → it heats up</a:t>
            </a:r>
            <a:endParaRPr lang="en-US" sz="1100" dirty="0"/>
          </a:p>
        </p:txBody>
      </p:sp>
      <p:sp>
        <p:nvSpPr>
          <p:cNvPr id="83" name="Shape 81"/>
          <p:cNvSpPr/>
          <p:nvPr/>
        </p:nvSpPr>
        <p:spPr>
          <a:xfrm>
            <a:off x="411480" y="5833872"/>
            <a:ext cx="11368735" cy="530352"/>
          </a:xfrm>
          <a:prstGeom prst="rect">
            <a:avLst/>
          </a:prstGeom>
          <a:solidFill>
            <a:srgbClr val="FFF4E0"/>
          </a:solidFill>
          <a:ln w="6350">
            <a:solidFill>
              <a:srgbClr val="F1D9A8"/>
            </a:solidFill>
            <a:prstDash val="solid"/>
          </a:ln>
        </p:spPr>
      </p:sp>
      <p:sp>
        <p:nvSpPr>
          <p:cNvPr id="84" name="Shape 82"/>
          <p:cNvSpPr/>
          <p:nvPr/>
        </p:nvSpPr>
        <p:spPr>
          <a:xfrm>
            <a:off x="411480" y="5833872"/>
            <a:ext cx="82296" cy="530352"/>
          </a:xfrm>
          <a:prstGeom prst="rect">
            <a:avLst/>
          </a:prstGeom>
          <a:solidFill>
            <a:srgbClr val="E39A2F"/>
          </a:solidFill>
          <a:ln w="12700">
            <a:solidFill>
              <a:srgbClr val="E39A2F"/>
            </a:solidFill>
            <a:prstDash val="solid"/>
          </a:ln>
        </p:spPr>
      </p:sp>
      <p:sp>
        <p:nvSpPr>
          <p:cNvPr id="85" name="Text 8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lattice model to explain why the resistance of a metal wire increases when it gets hot.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The heating effect: useful or a problem?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10.25, 10.26 • reducing unwanted energy transfer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10.26  |  28</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low-resistance wires waste less energy as heat</a:t>
            </a:r>
            <a:endParaRPr lang="en-US" sz="1000" dirty="0"/>
          </a:p>
        </p:txBody>
      </p:sp>
      <p:sp>
        <p:nvSpPr>
          <p:cNvPr id="10" name="Text 8"/>
          <p:cNvSpPr/>
          <p:nvPr/>
        </p:nvSpPr>
        <p:spPr>
          <a:xfrm>
            <a:off x="640080" y="1325880"/>
            <a:ext cx="237744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thin, long, high R</a:t>
            </a:r>
            <a:endParaRPr lang="en-US" sz="1100" dirty="0"/>
          </a:p>
        </p:txBody>
      </p:sp>
      <p:sp>
        <p:nvSpPr>
          <p:cNvPr id="11" name="Shape 9"/>
          <p:cNvSpPr/>
          <p:nvPr/>
        </p:nvSpPr>
        <p:spPr>
          <a:xfrm>
            <a:off x="822960" y="1645920"/>
            <a:ext cx="2011680" cy="109728"/>
          </a:xfrm>
          <a:prstGeom prst="rect">
            <a:avLst/>
          </a:prstGeom>
          <a:solidFill>
            <a:srgbClr val="B87333"/>
          </a:solidFill>
          <a:ln w="12700">
            <a:solidFill>
              <a:srgbClr val="8A5A2B"/>
            </a:solidFill>
            <a:prstDash val="solid"/>
          </a:ln>
        </p:spPr>
      </p:sp>
      <p:sp>
        <p:nvSpPr>
          <p:cNvPr id="12" name="Text 10"/>
          <p:cNvSpPr/>
          <p:nvPr/>
        </p:nvSpPr>
        <p:spPr>
          <a:xfrm>
            <a:off x="3200400" y="1325880"/>
            <a:ext cx="256032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thick, short copper, low R</a:t>
            </a:r>
            <a:endParaRPr lang="en-US" sz="1100" dirty="0"/>
          </a:p>
        </p:txBody>
      </p:sp>
      <p:sp>
        <p:nvSpPr>
          <p:cNvPr id="13" name="Shape 11"/>
          <p:cNvSpPr/>
          <p:nvPr/>
        </p:nvSpPr>
        <p:spPr>
          <a:xfrm>
            <a:off x="3474720" y="1572768"/>
            <a:ext cx="2011680" cy="292608"/>
          </a:xfrm>
          <a:prstGeom prst="rect">
            <a:avLst/>
          </a:prstGeom>
          <a:solidFill>
            <a:srgbClr val="D4884A"/>
          </a:solidFill>
          <a:ln w="12700">
            <a:solidFill>
              <a:srgbClr val="8A5A2B"/>
            </a:solidFill>
            <a:prstDash val="solid"/>
          </a:ln>
        </p:spPr>
      </p:sp>
      <p:sp>
        <p:nvSpPr>
          <p:cNvPr id="14" name="Text 12"/>
          <p:cNvSpPr/>
          <p:nvPr/>
        </p:nvSpPr>
        <p:spPr>
          <a:xfrm>
            <a:off x="640080" y="1874520"/>
            <a:ext cx="2377440" cy="256032"/>
          </a:xfrm>
          <a:prstGeom prst="rect">
            <a:avLst/>
          </a:prstGeom>
          <a:noFill/>
          <a:ln/>
        </p:spPr>
        <p:txBody>
          <a:bodyPr wrap="square" lIns="0" tIns="0" rIns="0" bIns="0" rtlCol="0" anchor="ctr"/>
          <a:lstStyle/>
          <a:p>
            <a:pPr algn="ctr" indent="0" marL="0">
              <a:buNone/>
            </a:pPr>
            <a:r>
              <a:rPr lang="en-US" sz="1000" i="1" dirty="0">
                <a:solidFill>
                  <a:srgbClr val="C8414C"/>
                </a:solidFill>
                <a:latin typeface="Calibri" pitchFamily="34" charset="0"/>
                <a:ea typeface="Calibri" pitchFamily="34" charset="-122"/>
                <a:cs typeface="Calibri" pitchFamily="34" charset="-120"/>
              </a:rPr>
              <a:t>more heating, more energy wasted</a:t>
            </a:r>
            <a:endParaRPr lang="en-US" sz="1000" dirty="0"/>
          </a:p>
        </p:txBody>
      </p:sp>
      <p:sp>
        <p:nvSpPr>
          <p:cNvPr id="15" name="Text 13"/>
          <p:cNvSpPr/>
          <p:nvPr/>
        </p:nvSpPr>
        <p:spPr>
          <a:xfrm>
            <a:off x="3200400" y="1874520"/>
            <a:ext cx="2560320" cy="256032"/>
          </a:xfrm>
          <a:prstGeom prst="rect">
            <a:avLst/>
          </a:prstGeom>
          <a:noFill/>
          <a:ln/>
        </p:spPr>
        <p:txBody>
          <a:bodyPr wrap="square" lIns="0" tIns="0" rIns="0" bIns="0" rtlCol="0" anchor="ctr"/>
          <a:lstStyle/>
          <a:p>
            <a:pPr algn="ctr" indent="0" marL="0">
              <a:buNone/>
            </a:pPr>
            <a:r>
              <a:rPr lang="en-US" sz="1000" i="1" dirty="0">
                <a:solidFill>
                  <a:srgbClr val="2E8B57"/>
                </a:solidFill>
                <a:latin typeface="Calibri" pitchFamily="34" charset="0"/>
                <a:ea typeface="Calibri" pitchFamily="34" charset="-122"/>
                <a:cs typeface="Calibri" pitchFamily="34" charset="-120"/>
              </a:rPr>
              <a:t>less heating, less energy wasted</a:t>
            </a:r>
            <a:endParaRPr lang="en-US" sz="1000" dirty="0"/>
          </a:p>
        </p:txBody>
      </p:sp>
      <p:sp>
        <p:nvSpPr>
          <p:cNvPr id="16" name="Shape 14"/>
          <p:cNvSpPr/>
          <p:nvPr/>
        </p:nvSpPr>
        <p:spPr>
          <a:xfrm>
            <a:off x="685800" y="2331720"/>
            <a:ext cx="2514600" cy="2697480"/>
          </a:xfrm>
          <a:prstGeom prst="roundRect">
            <a:avLst>
              <a:gd name="adj" fmla="val 1818"/>
            </a:avLst>
          </a:prstGeom>
          <a:solidFill>
            <a:srgbClr val="E6F4EC"/>
          </a:solidFill>
          <a:ln w="15875">
            <a:solidFill>
              <a:srgbClr val="2E8B57"/>
            </a:solidFill>
            <a:prstDash val="solid"/>
          </a:ln>
        </p:spPr>
      </p:sp>
      <p:sp>
        <p:nvSpPr>
          <p:cNvPr id="17" name="Text 15"/>
          <p:cNvSpPr/>
          <p:nvPr/>
        </p:nvSpPr>
        <p:spPr>
          <a:xfrm>
            <a:off x="795528" y="2395728"/>
            <a:ext cx="2331720" cy="2560320"/>
          </a:xfrm>
          <a:prstGeom prst="rect">
            <a:avLst/>
          </a:prstGeom>
          <a:noFill/>
          <a:ln/>
        </p:spPr>
        <p:txBody>
          <a:bodyPr wrap="square" lIns="0" tIns="0" rIns="0" bIns="0" rtlCol="0" anchor="t"/>
          <a:lstStyle/>
          <a:p>
            <a:pPr indent="0" marL="0">
              <a:buNone/>
            </a:pPr>
            <a:r>
              <a:rPr lang="en-US" sz="1200" b="1" dirty="0">
                <a:solidFill>
                  <a:srgbClr val="2E8B57"/>
                </a:solidFill>
                <a:latin typeface="Calibri" pitchFamily="34" charset="0"/>
                <a:ea typeface="Calibri" pitchFamily="34" charset="-122"/>
                <a:cs typeface="Calibri" pitchFamily="34" charset="-120"/>
              </a:rPr>
              <a:t>Advantages (useful)</a:t>
            </a:r>
            <a:endParaRPr lang="en-US" sz="120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kettles, toasters and electric heaters</a:t>
            </a:r>
            <a:endParaRPr lang="en-US" sz="120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hair dryers and irons</a:t>
            </a:r>
            <a:endParaRPr lang="en-US" sz="120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filament of a lamp glows</a:t>
            </a:r>
            <a:endParaRPr lang="en-US" sz="120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fuse melts to break a circuit</a:t>
            </a:r>
            <a:endParaRPr lang="en-US" sz="1200" dirty="0"/>
          </a:p>
        </p:txBody>
      </p:sp>
      <p:sp>
        <p:nvSpPr>
          <p:cNvPr id="18" name="Shape 16"/>
          <p:cNvSpPr/>
          <p:nvPr/>
        </p:nvSpPr>
        <p:spPr>
          <a:xfrm>
            <a:off x="3291840" y="2331720"/>
            <a:ext cx="2514600" cy="2697480"/>
          </a:xfrm>
          <a:prstGeom prst="roundRect">
            <a:avLst>
              <a:gd name="adj" fmla="val 1818"/>
            </a:avLst>
          </a:prstGeom>
          <a:solidFill>
            <a:srgbClr val="FBE9EA"/>
          </a:solidFill>
          <a:ln w="15875">
            <a:solidFill>
              <a:srgbClr val="C8414C"/>
            </a:solidFill>
            <a:prstDash val="solid"/>
          </a:ln>
        </p:spPr>
      </p:sp>
      <p:sp>
        <p:nvSpPr>
          <p:cNvPr id="19" name="Text 17"/>
          <p:cNvSpPr/>
          <p:nvPr/>
        </p:nvSpPr>
        <p:spPr>
          <a:xfrm>
            <a:off x="3401568" y="2395728"/>
            <a:ext cx="2331720" cy="2560320"/>
          </a:xfrm>
          <a:prstGeom prst="rect">
            <a:avLst/>
          </a:prstGeom>
          <a:noFill/>
          <a:ln/>
        </p:spPr>
        <p:txBody>
          <a:bodyPr wrap="square" lIns="0" tIns="0" rIns="0" bIns="0" rtlCol="0" anchor="t"/>
          <a:lstStyle/>
          <a:p>
            <a:pPr indent="0" marL="0">
              <a:buNone/>
            </a:pPr>
            <a:r>
              <a:rPr lang="en-US" sz="1200" b="1" dirty="0">
                <a:solidFill>
                  <a:srgbClr val="C8414C"/>
                </a:solidFill>
                <a:latin typeface="Calibri" pitchFamily="34" charset="0"/>
                <a:ea typeface="Calibri" pitchFamily="34" charset="-122"/>
                <a:cs typeface="Calibri" pitchFamily="34" charset="-120"/>
              </a:rPr>
              <a:t>Disadvantages</a:t>
            </a:r>
            <a:endParaRPr lang="en-US" sz="120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energy wasted in wires and devices</a:t>
            </a:r>
            <a:endParaRPr lang="en-US" sz="120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lower efficiency</a:t>
            </a:r>
            <a:endParaRPr lang="en-US" sz="120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components can overheat and fail</a:t>
            </a:r>
            <a:endParaRPr lang="en-US" sz="120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risk of fire; cooling fans or vents may be needed</a:t>
            </a:r>
            <a:endParaRPr lang="en-US" sz="1200" dirty="0"/>
          </a:p>
        </p:txBody>
      </p:sp>
      <p:sp>
        <p:nvSpPr>
          <p:cNvPr id="20" name="Shape 1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1" name="Text 1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Reducing unwanted heating</a:t>
            </a:r>
            <a:endParaRPr lang="en-US" sz="1300" dirty="0"/>
          </a:p>
        </p:txBody>
      </p:sp>
      <p:sp>
        <p:nvSpPr>
          <p:cNvPr id="22" name="Text 2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Unwanted heating in connecting wires wastes energy. Use </a:t>
            </a:r>
            <a:r>
              <a:rPr lang="en-US" sz="1150" b="1" dirty="0">
                <a:solidFill>
                  <a:srgbClr val="262B3A"/>
                </a:solidFill>
                <a:latin typeface="Calibri" pitchFamily="34" charset="0"/>
                <a:ea typeface="Calibri" pitchFamily="34" charset="-122"/>
                <a:cs typeface="Calibri" pitchFamily="34" charset="-120"/>
              </a:rPr>
              <a:t>low-resistance wires</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thick</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short</a:t>
            </a:r>
            <a:r>
              <a:rPr lang="en-US" sz="1150" dirty="0">
                <a:solidFill>
                  <a:srgbClr val="262B3A"/>
                </a:solidFill>
                <a:latin typeface="Calibri" pitchFamily="34" charset="0"/>
                <a:ea typeface="Calibri" pitchFamily="34" charset="-122"/>
                <a:cs typeface="Calibri" pitchFamily="34" charset="-120"/>
              </a:rPr>
              <a:t>, made of a good conductor such as </a:t>
            </a:r>
            <a:r>
              <a:rPr lang="en-US" sz="1150" b="1" dirty="0">
                <a:solidFill>
                  <a:srgbClr val="262B3A"/>
                </a:solidFill>
                <a:latin typeface="Calibri" pitchFamily="34" charset="0"/>
                <a:ea typeface="Calibri" pitchFamily="34" charset="-122"/>
                <a:cs typeface="Calibri" pitchFamily="34" charset="-120"/>
              </a:rPr>
              <a:t>copper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Lower resistance → less energy dissipated per second for the same current (P = I² × 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Other ways: lubricate moving parts in motors; use LEDs instead of filament lamps.</a:t>
            </a:r>
            <a:endParaRPr lang="en-US" sz="1150" dirty="0"/>
          </a:p>
        </p:txBody>
      </p:sp>
      <p:sp>
        <p:nvSpPr>
          <p:cNvPr id="23" name="Shape 2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4" name="Text 2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Think it through</a:t>
            </a:r>
            <a:endParaRPr lang="en-US" sz="1300" dirty="0"/>
          </a:p>
        </p:txBody>
      </p:sp>
      <p:sp>
        <p:nvSpPr>
          <p:cNvPr id="25" name="Text 2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Why do the cables for an electric cooker have thicker copper wires than a lamp cable?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Current   </a:t>
            </a:r>
            <a:r>
              <a:rPr lang="en-US" sz="1100" dirty="0">
                <a:solidFill>
                  <a:srgbClr val="262B3A"/>
                </a:solidFill>
                <a:latin typeface="Calibri" pitchFamily="34" charset="0"/>
                <a:ea typeface="Calibri" pitchFamily="34" charset="-122"/>
                <a:cs typeface="Calibri" pitchFamily="34" charset="-120"/>
              </a:rPr>
              <a:t>a cooker draws a much larger current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Heating   </a:t>
            </a:r>
            <a:r>
              <a:rPr lang="en-US" sz="1100" dirty="0">
                <a:solidFill>
                  <a:srgbClr val="262B3A"/>
                </a:solidFill>
                <a:latin typeface="Calibri" pitchFamily="34" charset="0"/>
                <a:ea typeface="Calibri" pitchFamily="34" charset="-122"/>
                <a:cs typeface="Calibri" pitchFamily="34" charset="-120"/>
              </a:rPr>
              <a:t>a large current in a wire causes a lot of heating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Fix   </a:t>
            </a:r>
            <a:r>
              <a:rPr lang="en-US" sz="1100" dirty="0">
                <a:solidFill>
                  <a:srgbClr val="262B3A"/>
                </a:solidFill>
                <a:latin typeface="Calibri" pitchFamily="34" charset="0"/>
                <a:ea typeface="Calibri" pitchFamily="34" charset="-122"/>
                <a:cs typeface="Calibri" pitchFamily="34" charset="-120"/>
              </a:rPr>
              <a:t>a thicker wire has a lower resistance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less heating → cable does not overheat; less energy wasted</a:t>
            </a:r>
            <a:endParaRPr lang="en-US" sz="1100" dirty="0"/>
          </a:p>
        </p:txBody>
      </p:sp>
      <p:sp>
        <p:nvSpPr>
          <p:cNvPr id="26" name="Shape 24"/>
          <p:cNvSpPr/>
          <p:nvPr/>
        </p:nvSpPr>
        <p:spPr>
          <a:xfrm>
            <a:off x="411480" y="5833872"/>
            <a:ext cx="11368735" cy="530352"/>
          </a:xfrm>
          <a:prstGeom prst="rect">
            <a:avLst/>
          </a:prstGeom>
          <a:solidFill>
            <a:srgbClr val="FFF4E0"/>
          </a:solidFill>
          <a:ln w="6350">
            <a:solidFill>
              <a:srgbClr val="F1D9A8"/>
            </a:solidFill>
            <a:prstDash val="solid"/>
          </a:ln>
        </p:spPr>
      </p:sp>
      <p:sp>
        <p:nvSpPr>
          <p:cNvPr id="27" name="Shape 25"/>
          <p:cNvSpPr/>
          <p:nvPr/>
        </p:nvSpPr>
        <p:spPr>
          <a:xfrm>
            <a:off x="411480" y="5833872"/>
            <a:ext cx="82296" cy="530352"/>
          </a:xfrm>
          <a:prstGeom prst="rect">
            <a:avLst/>
          </a:prstGeom>
          <a:solidFill>
            <a:srgbClr val="E39A2F"/>
          </a:solidFill>
          <a:ln w="12700">
            <a:solidFill>
              <a:srgbClr val="E39A2F"/>
            </a:solidFill>
            <a:prstDash val="solid"/>
          </a:ln>
        </p:spPr>
      </p:sp>
      <p:sp>
        <p:nvSpPr>
          <p:cNvPr id="28" name="Text 2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one advantage and one disadvantage of the heating effect of an electric current.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Energy and power: E = I × V × t and P = E ÷ 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10.27, 10.28, 10.29 • power is energy transferred per second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10.27  |  29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energy transferred by an electric kettle each second</a:t>
            </a:r>
            <a:endParaRPr lang="en-US" sz="1000" dirty="0"/>
          </a:p>
        </p:txBody>
      </p:sp>
      <p:sp>
        <p:nvSpPr>
          <p:cNvPr id="10" name="Shape 8"/>
          <p:cNvSpPr/>
          <p:nvPr/>
        </p:nvSpPr>
        <p:spPr>
          <a:xfrm>
            <a:off x="731520" y="1463040"/>
            <a:ext cx="1920240" cy="822960"/>
          </a:xfrm>
          <a:prstGeom prst="roundRect">
            <a:avLst>
              <a:gd name="adj" fmla="val 6667"/>
            </a:avLst>
          </a:prstGeom>
          <a:solidFill>
            <a:srgbClr val="FFFFFF"/>
          </a:solidFill>
          <a:ln w="15875">
            <a:solidFill>
              <a:srgbClr val="2E5BD8"/>
            </a:solidFill>
            <a:prstDash val="solid"/>
          </a:ln>
        </p:spPr>
      </p:sp>
      <p:sp>
        <p:nvSpPr>
          <p:cNvPr id="11" name="Text 9"/>
          <p:cNvSpPr/>
          <p:nvPr/>
        </p:nvSpPr>
        <p:spPr>
          <a:xfrm>
            <a:off x="731520" y="1463040"/>
            <a:ext cx="1920240" cy="822960"/>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mains supply</a:t>
            </a:r>
            <a:endParaRPr lang="en-US" sz="1100" dirty="0"/>
          </a:p>
          <a:p>
            <a:pPr algn="ctr" indent="0" marL="0">
              <a:buNone/>
            </a:pPr>
            <a:r>
              <a:rPr lang="en-US" sz="1100" b="1" dirty="0">
                <a:solidFill>
                  <a:srgbClr val="2E5BD8"/>
                </a:solidFill>
                <a:latin typeface="Calibri" pitchFamily="34" charset="0"/>
                <a:ea typeface="Calibri" pitchFamily="34" charset="-122"/>
                <a:cs typeface="Calibri" pitchFamily="34" charset="-120"/>
              </a:rPr>
              <a:t>230 V</a:t>
            </a:r>
            <a:endParaRPr lang="en-US" sz="1100" dirty="0"/>
          </a:p>
        </p:txBody>
      </p:sp>
      <p:sp>
        <p:nvSpPr>
          <p:cNvPr id="12" name="Shape 10"/>
          <p:cNvSpPr/>
          <p:nvPr/>
        </p:nvSpPr>
        <p:spPr>
          <a:xfrm>
            <a:off x="3566160" y="1463040"/>
            <a:ext cx="2103120" cy="822960"/>
          </a:xfrm>
          <a:prstGeom prst="roundRect">
            <a:avLst>
              <a:gd name="adj" fmla="val 6667"/>
            </a:avLst>
          </a:prstGeom>
          <a:solidFill>
            <a:srgbClr val="FFFFFF"/>
          </a:solidFill>
          <a:ln w="15875">
            <a:solidFill>
              <a:srgbClr val="1A2340"/>
            </a:solidFill>
            <a:prstDash val="solid"/>
          </a:ln>
        </p:spPr>
      </p:sp>
      <p:sp>
        <p:nvSpPr>
          <p:cNvPr id="13" name="Text 11"/>
          <p:cNvSpPr/>
          <p:nvPr/>
        </p:nvSpPr>
        <p:spPr>
          <a:xfrm>
            <a:off x="3566160" y="1463040"/>
            <a:ext cx="2103120" cy="822960"/>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kettle element</a:t>
            </a:r>
            <a:endParaRPr lang="en-US" sz="1100" dirty="0"/>
          </a:p>
          <a:p>
            <a:pPr algn="ctr" indent="0" marL="0">
              <a:buNone/>
            </a:pPr>
            <a:r>
              <a:rPr lang="en-US" sz="1100" b="1" dirty="0">
                <a:solidFill>
                  <a:srgbClr val="1A2340"/>
                </a:solidFill>
                <a:latin typeface="Calibri" pitchFamily="34" charset="0"/>
                <a:ea typeface="Calibri" pitchFamily="34" charset="-122"/>
                <a:cs typeface="Calibri" pitchFamily="34" charset="-120"/>
              </a:rPr>
              <a:t>I = 9.0 A</a:t>
            </a:r>
            <a:endParaRPr lang="en-US" sz="1100" dirty="0"/>
          </a:p>
        </p:txBody>
      </p:sp>
      <p:sp>
        <p:nvSpPr>
          <p:cNvPr id="14" name="Shape 12"/>
          <p:cNvSpPr/>
          <p:nvPr/>
        </p:nvSpPr>
        <p:spPr>
          <a:xfrm>
            <a:off x="2697480" y="1874520"/>
            <a:ext cx="822960" cy="91"/>
          </a:xfrm>
          <a:prstGeom prst="line">
            <a:avLst/>
          </a:prstGeom>
          <a:noFill/>
          <a:ln w="38100">
            <a:solidFill>
              <a:srgbClr val="2E5BD8"/>
            </a:solidFill>
            <a:prstDash val="solid"/>
            <a:tailEnd type="triangle"/>
          </a:ln>
        </p:spPr>
      </p:sp>
      <p:sp>
        <p:nvSpPr>
          <p:cNvPr id="15" name="Text 13"/>
          <p:cNvSpPr/>
          <p:nvPr/>
        </p:nvSpPr>
        <p:spPr>
          <a:xfrm>
            <a:off x="2560320" y="1965960"/>
            <a:ext cx="1097280" cy="384048"/>
          </a:xfrm>
          <a:prstGeom prst="rect">
            <a:avLst/>
          </a:prstGeom>
          <a:noFill/>
          <a:ln/>
        </p:spPr>
        <p:txBody>
          <a:bodyPr wrap="square" lIns="0" tIns="0" rIns="0" bIns="0" rtlCol="0" anchor="ctr"/>
          <a:lstStyle/>
          <a:p>
            <a:pPr algn="ctr" indent="0" marL="0">
              <a:buNone/>
            </a:pPr>
            <a:r>
              <a:rPr lang="en-US" sz="1000" dirty="0">
                <a:solidFill>
                  <a:srgbClr val="2E5BD8"/>
                </a:solidFill>
                <a:latin typeface="Calibri" pitchFamily="34" charset="0"/>
                <a:ea typeface="Calibri" pitchFamily="34" charset="-122"/>
                <a:cs typeface="Calibri" pitchFamily="34" charset="-120"/>
              </a:rPr>
              <a:t>electrical</a:t>
            </a:r>
            <a:endParaRPr lang="en-US" sz="1000" dirty="0"/>
          </a:p>
          <a:p>
            <a:pPr algn="ctr" indent="0" marL="0">
              <a:buNone/>
            </a:pPr>
            <a:r>
              <a:rPr lang="en-US" sz="1000" dirty="0">
                <a:solidFill>
                  <a:srgbClr val="2E5BD8"/>
                </a:solidFill>
                <a:latin typeface="Calibri" pitchFamily="34" charset="0"/>
                <a:ea typeface="Calibri" pitchFamily="34" charset="-122"/>
                <a:cs typeface="Calibri" pitchFamily="34" charset="-120"/>
              </a:rPr>
              <a:t>work</a:t>
            </a:r>
            <a:endParaRPr lang="en-US" sz="1000" dirty="0"/>
          </a:p>
        </p:txBody>
      </p:sp>
      <p:sp>
        <p:nvSpPr>
          <p:cNvPr id="16" name="Shape 14"/>
          <p:cNvSpPr/>
          <p:nvPr/>
        </p:nvSpPr>
        <p:spPr>
          <a:xfrm>
            <a:off x="3291840" y="2880360"/>
            <a:ext cx="2651760" cy="822960"/>
          </a:xfrm>
          <a:prstGeom prst="roundRect">
            <a:avLst>
              <a:gd name="adj" fmla="val 6667"/>
            </a:avLst>
          </a:prstGeom>
          <a:solidFill>
            <a:srgbClr val="E6F4EC"/>
          </a:solidFill>
          <a:ln w="15875">
            <a:solidFill>
              <a:srgbClr val="2E8B57"/>
            </a:solidFill>
            <a:prstDash val="solid"/>
          </a:ln>
        </p:spPr>
      </p:sp>
      <p:sp>
        <p:nvSpPr>
          <p:cNvPr id="17" name="Text 15"/>
          <p:cNvSpPr/>
          <p:nvPr/>
        </p:nvSpPr>
        <p:spPr>
          <a:xfrm>
            <a:off x="3291840" y="2880360"/>
            <a:ext cx="2651760" cy="82296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thermal energy store</a:t>
            </a:r>
            <a:endParaRPr lang="en-US" sz="1100" dirty="0"/>
          </a:p>
          <a:p>
            <a:pPr algn="ctr" indent="0" marL="0">
              <a:buNone/>
            </a:pPr>
            <a:r>
              <a:rPr lang="en-US" sz="1100" b="1" dirty="0">
                <a:solidFill>
                  <a:srgbClr val="2E8B57"/>
                </a:solidFill>
                <a:latin typeface="Calibri" pitchFamily="34" charset="0"/>
                <a:ea typeface="Calibri" pitchFamily="34" charset="-122"/>
                <a:cs typeface="Calibri" pitchFamily="34" charset="-120"/>
              </a:rPr>
              <a:t>of the water (useful)</a:t>
            </a:r>
            <a:endParaRPr lang="en-US" sz="1100" dirty="0"/>
          </a:p>
        </p:txBody>
      </p:sp>
      <p:sp>
        <p:nvSpPr>
          <p:cNvPr id="18" name="Shape 16"/>
          <p:cNvSpPr/>
          <p:nvPr/>
        </p:nvSpPr>
        <p:spPr>
          <a:xfrm>
            <a:off x="731520" y="2880360"/>
            <a:ext cx="2194560" cy="822960"/>
          </a:xfrm>
          <a:prstGeom prst="roundRect">
            <a:avLst>
              <a:gd name="adj" fmla="val 6667"/>
            </a:avLst>
          </a:prstGeom>
          <a:solidFill>
            <a:srgbClr val="FBE9EA"/>
          </a:solidFill>
          <a:ln w="15875">
            <a:solidFill>
              <a:srgbClr val="C8414C"/>
            </a:solidFill>
            <a:prstDash val="solid"/>
          </a:ln>
        </p:spPr>
      </p:sp>
      <p:sp>
        <p:nvSpPr>
          <p:cNvPr id="19" name="Text 17"/>
          <p:cNvSpPr/>
          <p:nvPr/>
        </p:nvSpPr>
        <p:spPr>
          <a:xfrm>
            <a:off x="731520" y="2880360"/>
            <a:ext cx="2194560" cy="82296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thermal store of the</a:t>
            </a:r>
            <a:endParaRPr lang="en-US" sz="1100" dirty="0"/>
          </a:p>
          <a:p>
            <a:pPr algn="ctr" indent="0" marL="0">
              <a:buNone/>
            </a:pPr>
            <a:r>
              <a:rPr lang="en-US" sz="1100" b="1" dirty="0">
                <a:solidFill>
                  <a:srgbClr val="C8414C"/>
                </a:solidFill>
                <a:latin typeface="Calibri" pitchFamily="34" charset="0"/>
                <a:ea typeface="Calibri" pitchFamily="34" charset="-122"/>
                <a:cs typeface="Calibri" pitchFamily="34" charset="-120"/>
              </a:rPr>
              <a:t>surroundings (wasted)</a:t>
            </a:r>
            <a:endParaRPr lang="en-US" sz="1100" dirty="0"/>
          </a:p>
        </p:txBody>
      </p:sp>
      <p:sp>
        <p:nvSpPr>
          <p:cNvPr id="20" name="Shape 18"/>
          <p:cNvSpPr/>
          <p:nvPr/>
        </p:nvSpPr>
        <p:spPr>
          <a:xfrm>
            <a:off x="4617720" y="2331720"/>
            <a:ext cx="91" cy="502920"/>
          </a:xfrm>
          <a:prstGeom prst="line">
            <a:avLst/>
          </a:prstGeom>
          <a:noFill/>
          <a:ln w="38100">
            <a:solidFill>
              <a:srgbClr val="2E8B57"/>
            </a:solidFill>
            <a:prstDash val="solid"/>
            <a:tailEnd type="triangle"/>
          </a:ln>
        </p:spPr>
      </p:sp>
      <p:sp>
        <p:nvSpPr>
          <p:cNvPr id="21" name="Shape 19"/>
          <p:cNvSpPr/>
          <p:nvPr/>
        </p:nvSpPr>
        <p:spPr>
          <a:xfrm flipH="1">
            <a:off x="2651760" y="2331720"/>
            <a:ext cx="1188720" cy="502920"/>
          </a:xfrm>
          <a:prstGeom prst="line">
            <a:avLst/>
          </a:prstGeom>
          <a:noFill/>
          <a:ln w="25400">
            <a:solidFill>
              <a:srgbClr val="C8414C"/>
            </a:solidFill>
            <a:prstDash val="solid"/>
            <a:tailEnd type="triangle"/>
          </a:ln>
        </p:spPr>
      </p:sp>
      <p:sp>
        <p:nvSpPr>
          <p:cNvPr id="22" name="Shape 20"/>
          <p:cNvSpPr/>
          <p:nvPr/>
        </p:nvSpPr>
        <p:spPr>
          <a:xfrm>
            <a:off x="731520" y="4023360"/>
            <a:ext cx="5212080" cy="1005840"/>
          </a:xfrm>
          <a:prstGeom prst="roundRect">
            <a:avLst>
              <a:gd name="adj" fmla="val 4545"/>
            </a:avLst>
          </a:prstGeom>
          <a:solidFill>
            <a:srgbClr val="FFFFFF"/>
          </a:solidFill>
          <a:ln w="12700">
            <a:solidFill>
              <a:srgbClr val="D5DCEB"/>
            </a:solidFill>
            <a:prstDash val="solid"/>
          </a:ln>
        </p:spPr>
      </p:sp>
      <p:sp>
        <p:nvSpPr>
          <p:cNvPr id="23" name="Text 21"/>
          <p:cNvSpPr/>
          <p:nvPr/>
        </p:nvSpPr>
        <p:spPr>
          <a:xfrm>
            <a:off x="868680" y="4069080"/>
            <a:ext cx="4937760" cy="914400"/>
          </a:xfrm>
          <a:prstGeom prst="rect">
            <a:avLst/>
          </a:prstGeom>
          <a:noFill/>
          <a:ln/>
        </p:spPr>
        <p:txBody>
          <a:bodyPr wrap="square" lIns="0" tIns="0" rIns="0" bIns="0" rtlCol="0" anchor="ctr"/>
          <a:lstStyle/>
          <a:p>
            <a:pPr indent="0" marL="0">
              <a:buNone/>
            </a:pPr>
            <a:r>
              <a:rPr lang="en-US" sz="1200" b="1" dirty="0">
                <a:solidFill>
                  <a:srgbClr val="1A2340"/>
                </a:solidFill>
                <a:latin typeface="Calibri" pitchFamily="34" charset="0"/>
                <a:ea typeface="Calibri" pitchFamily="34" charset="-122"/>
                <a:cs typeface="Calibri" pitchFamily="34" charset="-120"/>
              </a:rPr>
              <a:t>Each second: </a:t>
            </a:r>
            <a:r>
              <a:rPr lang="en-US" sz="1200" dirty="0">
                <a:solidFill>
                  <a:srgbClr val="262B3A"/>
                </a:solidFill>
                <a:latin typeface="Calibri" pitchFamily="34" charset="0"/>
                <a:ea typeface="Calibri" pitchFamily="34" charset="-122"/>
                <a:cs typeface="Calibri" pitchFamily="34" charset="-120"/>
              </a:rPr>
              <a:t>E = 9.0 A × 230 V × 1 s = 2070 J</a:t>
            </a:r>
            <a:endParaRPr lang="en-US" sz="1200" dirty="0"/>
          </a:p>
          <a:p>
            <a:pPr indent="0" marL="0">
              <a:buNone/>
            </a:pPr>
            <a:r>
              <a:rPr lang="en-US" sz="1200" dirty="0">
                <a:solidFill>
                  <a:srgbClr val="262B3A"/>
                </a:solidFill>
                <a:latin typeface="Calibri" pitchFamily="34" charset="0"/>
                <a:ea typeface="Calibri" pitchFamily="34" charset="-122"/>
                <a:cs typeface="Calibri" pitchFamily="34" charset="-120"/>
              </a:rPr>
              <a:t>so the power is </a:t>
            </a:r>
            <a:endParaRPr lang="en-US" sz="1200" dirty="0"/>
          </a:p>
          <a:p>
            <a:pPr indent="0" marL="0">
              <a:buNone/>
            </a:pPr>
            <a:r>
              <a:rPr lang="en-US" sz="1200" b="1" dirty="0">
                <a:solidFill>
                  <a:srgbClr val="2E5BD8"/>
                </a:solidFill>
                <a:latin typeface="Calibri" pitchFamily="34" charset="0"/>
                <a:ea typeface="Calibri" pitchFamily="34" charset="-122"/>
                <a:cs typeface="Calibri" pitchFamily="34" charset="-120"/>
              </a:rPr>
              <a:t>P = 2070 W (about 2.1 kW)</a:t>
            </a:r>
            <a:endParaRPr lang="en-US" sz="1200" dirty="0"/>
          </a:p>
        </p:txBody>
      </p:sp>
      <p:sp>
        <p:nvSpPr>
          <p:cNvPr id="24" name="Shape 2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5" name="Text 2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Energy and power equations</a:t>
            </a:r>
            <a:endParaRPr lang="en-US" sz="1300" dirty="0"/>
          </a:p>
        </p:txBody>
      </p:sp>
      <p:sp>
        <p:nvSpPr>
          <p:cNvPr id="26" name="Text 24"/>
          <p:cNvSpPr/>
          <p:nvPr/>
        </p:nvSpPr>
        <p:spPr>
          <a:xfrm>
            <a:off x="6382512" y="1609344"/>
            <a:ext cx="5233111" cy="1929384"/>
          </a:xfrm>
          <a:prstGeom prst="rect">
            <a:avLst/>
          </a:prstGeom>
          <a:noFill/>
          <a:ln/>
        </p:spPr>
        <p:txBody>
          <a:bodyPr wrap="square" lIns="0" tIns="0" rIns="0" bIns="0" rtlCol="0" anchor="t"/>
          <a:lstStyle/>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E = I × V × t</a:t>
            </a:r>
            <a:r>
              <a:rPr lang="en-US" sz="1150" dirty="0">
                <a:solidFill>
                  <a:srgbClr val="262B3A"/>
                </a:solidFill>
                <a:latin typeface="Calibri" pitchFamily="34" charset="0"/>
                <a:ea typeface="Calibri" pitchFamily="34" charset="-122"/>
                <a:cs typeface="Calibri" pitchFamily="34" charset="-120"/>
              </a:rPr>
              <a:t>   energy transferred (J) = current (A) × p.d. (V) × time (s)</a:t>
            </a:r>
            <a:endParaRPr lang="en-US" sz="1150" dirty="0"/>
          </a:p>
          <a:p>
            <a:pPr indent="0" marL="0">
              <a:spcAft>
                <a:spcPts val="300"/>
              </a:spcAft>
              <a:buNone/>
            </a:pPr>
            <a:r>
              <a:rPr lang="en-US" sz="1050" b="1" dirty="0">
                <a:solidFill>
                  <a:srgbClr val="2E8B57"/>
                </a:solidFill>
                <a:latin typeface="Calibri" pitchFamily="34" charset="0"/>
                <a:ea typeface="Calibri" pitchFamily="34" charset="-122"/>
                <a:cs typeface="Calibri" pitchFamily="34" charset="-120"/>
              </a:rPr>
              <a:t>GIVEN on the Physics Equations List – select and use it.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Power</a:t>
            </a:r>
            <a:r>
              <a:rPr lang="en-US" sz="1150" dirty="0">
                <a:solidFill>
                  <a:srgbClr val="262B3A"/>
                </a:solidFill>
                <a:latin typeface="Calibri" pitchFamily="34" charset="0"/>
                <a:ea typeface="Calibri" pitchFamily="34" charset="-122"/>
                <a:cs typeface="Calibri" pitchFamily="34" charset="-120"/>
              </a:rPr>
              <a:t> is the </a:t>
            </a:r>
            <a:r>
              <a:rPr lang="en-US" sz="1150" b="1" dirty="0">
                <a:solidFill>
                  <a:srgbClr val="262B3A"/>
                </a:solidFill>
                <a:latin typeface="Calibri" pitchFamily="34" charset="0"/>
                <a:ea typeface="Calibri" pitchFamily="34" charset="-122"/>
                <a:cs typeface="Calibri" pitchFamily="34" charset="-120"/>
              </a:rPr>
              <a:t>energy transferred per second</a:t>
            </a:r>
            <a:r>
              <a:rPr lang="en-US" sz="1150" dirty="0">
                <a:solidFill>
                  <a:srgbClr val="262B3A"/>
                </a:solidFill>
                <a:latin typeface="Calibri" pitchFamily="34" charset="0"/>
                <a:ea typeface="Calibri" pitchFamily="34" charset="-122"/>
                <a:cs typeface="Calibri" pitchFamily="34" charset="-120"/>
              </a:rPr>
              <a:t>, measured in </a:t>
            </a:r>
            <a:r>
              <a:rPr lang="en-US" sz="1150" b="1" dirty="0">
                <a:solidFill>
                  <a:srgbClr val="262B3A"/>
                </a:solidFill>
                <a:latin typeface="Calibri" pitchFamily="34" charset="0"/>
                <a:ea typeface="Calibri" pitchFamily="34" charset="-122"/>
                <a:cs typeface="Calibri" pitchFamily="34" charset="-120"/>
              </a:rPr>
              <a:t>watts (W)</a:t>
            </a:r>
            <a:r>
              <a:rPr lang="en-US" sz="1150" dirty="0">
                <a:solidFill>
                  <a:srgbClr val="262B3A"/>
                </a:solidFill>
                <a:latin typeface="Calibri" pitchFamily="34" charset="0"/>
                <a:ea typeface="Calibri" pitchFamily="34" charset="-122"/>
                <a:cs typeface="Calibri" pitchFamily="34" charset="-120"/>
              </a:rPr>
              <a:t>. 1 W = 1 J/s.</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P = E ÷ t</a:t>
            </a:r>
            <a:r>
              <a:rPr lang="en-US" sz="1150" dirty="0">
                <a:solidFill>
                  <a:srgbClr val="262B3A"/>
                </a:solidFill>
                <a:latin typeface="Calibri" pitchFamily="34" charset="0"/>
                <a:ea typeface="Calibri" pitchFamily="34" charset="-122"/>
                <a:cs typeface="Calibri" pitchFamily="34" charset="-120"/>
              </a:rPr>
              <a:t>   power (W) = energy transferred (J) ÷ time taken (s)</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a:t>
            </a:r>
            <a:endParaRPr lang="en-US" sz="1150" dirty="0"/>
          </a:p>
        </p:txBody>
      </p:sp>
      <p:sp>
        <p:nvSpPr>
          <p:cNvPr id="27" name="Shape 2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8" name="Text 2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29" name="Text 2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The kettle (9.0 A, 230 V) is switched on for 2.0 minutes. Calculate the energy transferred.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E = I × V × 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Convert   </a:t>
            </a:r>
            <a:r>
              <a:rPr lang="en-US" sz="1100" dirty="0">
                <a:solidFill>
                  <a:srgbClr val="262B3A"/>
                </a:solidFill>
                <a:latin typeface="Calibri" pitchFamily="34" charset="0"/>
                <a:ea typeface="Calibri" pitchFamily="34" charset="-122"/>
                <a:cs typeface="Calibri" pitchFamily="34" charset="-120"/>
              </a:rPr>
              <a:t>t = 2.0 × 60 = 120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E = 9.0 × 230 × 120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 = 248 400 J ≈ 2.5 × 10⁵ J</a:t>
            </a:r>
            <a:endParaRPr lang="en-US" sz="1100" dirty="0"/>
          </a:p>
        </p:txBody>
      </p:sp>
      <p:sp>
        <p:nvSpPr>
          <p:cNvPr id="30" name="Shape 28"/>
          <p:cNvSpPr/>
          <p:nvPr/>
        </p:nvSpPr>
        <p:spPr>
          <a:xfrm>
            <a:off x="411480" y="5833872"/>
            <a:ext cx="11368735" cy="530352"/>
          </a:xfrm>
          <a:prstGeom prst="rect">
            <a:avLst/>
          </a:prstGeom>
          <a:solidFill>
            <a:srgbClr val="FFF4E0"/>
          </a:solidFill>
          <a:ln w="6350">
            <a:solidFill>
              <a:srgbClr val="F1D9A8"/>
            </a:solidFill>
            <a:prstDash val="solid"/>
          </a:ln>
        </p:spPr>
      </p:sp>
      <p:sp>
        <p:nvSpPr>
          <p:cNvPr id="31" name="Shape 29"/>
          <p:cNvSpPr/>
          <p:nvPr/>
        </p:nvSpPr>
        <p:spPr>
          <a:xfrm>
            <a:off x="411480" y="5833872"/>
            <a:ext cx="82296" cy="530352"/>
          </a:xfrm>
          <a:prstGeom prst="rect">
            <a:avLst/>
          </a:prstGeom>
          <a:solidFill>
            <a:srgbClr val="E39A2F"/>
          </a:solidFill>
          <a:ln w="12700">
            <a:solidFill>
              <a:srgbClr val="E39A2F"/>
            </a:solidFill>
            <a:prstDash val="solid"/>
          </a:ln>
        </p:spPr>
      </p:sp>
      <p:sp>
        <p:nvSpPr>
          <p:cNvPr id="32" name="Text 3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lamp transfers 1800 J of energy in 60 s. Calculate its power. Give the unit.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Electrical power: P = I × V and P = I² × 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10.30, 10.31, 10.32 • power depends on current and p.d.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10.31  |  30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measuring the power of a heater: P = ammeter reading × voltmeter reading</a:t>
            </a:r>
            <a:endParaRPr lang="en-US" sz="1000" dirty="0"/>
          </a:p>
        </p:txBody>
      </p:sp>
      <p:sp>
        <p:nvSpPr>
          <p:cNvPr id="10" name="Shape 8"/>
          <p:cNvSpPr/>
          <p:nvPr/>
        </p:nvSpPr>
        <p:spPr>
          <a:xfrm>
            <a:off x="1188720" y="1691640"/>
            <a:ext cx="850392" cy="91"/>
          </a:xfrm>
          <a:prstGeom prst="line">
            <a:avLst/>
          </a:prstGeom>
          <a:noFill/>
          <a:ln w="19050">
            <a:solidFill>
              <a:srgbClr val="1A2340"/>
            </a:solidFill>
            <a:prstDash val="solid"/>
          </a:ln>
        </p:spPr>
      </p:sp>
      <p:sp>
        <p:nvSpPr>
          <p:cNvPr id="11" name="Shape 9"/>
          <p:cNvSpPr/>
          <p:nvPr/>
        </p:nvSpPr>
        <p:spPr>
          <a:xfrm>
            <a:off x="2350008" y="1691640"/>
            <a:ext cx="850392" cy="91"/>
          </a:xfrm>
          <a:prstGeom prst="line">
            <a:avLst/>
          </a:prstGeom>
          <a:noFill/>
          <a:ln w="19050">
            <a:solidFill>
              <a:srgbClr val="1A2340"/>
            </a:solidFill>
            <a:prstDash val="solid"/>
          </a:ln>
        </p:spPr>
      </p:sp>
      <p:sp>
        <p:nvSpPr>
          <p:cNvPr id="12" name="Shape 10"/>
          <p:cNvSpPr/>
          <p:nvPr/>
        </p:nvSpPr>
        <p:spPr>
          <a:xfrm>
            <a:off x="2039112" y="1490472"/>
            <a:ext cx="91" cy="402336"/>
          </a:xfrm>
          <a:prstGeom prst="line">
            <a:avLst/>
          </a:prstGeom>
          <a:noFill/>
          <a:ln w="19050">
            <a:solidFill>
              <a:srgbClr val="1A2340"/>
            </a:solidFill>
            <a:prstDash val="solid"/>
          </a:ln>
        </p:spPr>
      </p:sp>
      <p:sp>
        <p:nvSpPr>
          <p:cNvPr id="13" name="Shape 11"/>
          <p:cNvSpPr/>
          <p:nvPr/>
        </p:nvSpPr>
        <p:spPr>
          <a:xfrm>
            <a:off x="2130552" y="1591056"/>
            <a:ext cx="91" cy="201168"/>
          </a:xfrm>
          <a:prstGeom prst="line">
            <a:avLst/>
          </a:prstGeom>
          <a:noFill/>
          <a:ln w="57150">
            <a:solidFill>
              <a:srgbClr val="1A2340"/>
            </a:solidFill>
            <a:prstDash val="solid"/>
          </a:ln>
        </p:spPr>
      </p:sp>
      <p:sp>
        <p:nvSpPr>
          <p:cNvPr id="14" name="Shape 12"/>
          <p:cNvSpPr/>
          <p:nvPr/>
        </p:nvSpPr>
        <p:spPr>
          <a:xfrm>
            <a:off x="2130552" y="1691640"/>
            <a:ext cx="128016" cy="91"/>
          </a:xfrm>
          <a:prstGeom prst="line">
            <a:avLst/>
          </a:prstGeom>
          <a:noFill/>
          <a:ln w="19050">
            <a:solidFill>
              <a:srgbClr val="1A2340"/>
            </a:solidFill>
            <a:prstDash val="solid"/>
          </a:ln>
        </p:spPr>
      </p:sp>
      <p:sp>
        <p:nvSpPr>
          <p:cNvPr id="15" name="Shape 13"/>
          <p:cNvSpPr/>
          <p:nvPr/>
        </p:nvSpPr>
        <p:spPr>
          <a:xfrm>
            <a:off x="2258568" y="1490472"/>
            <a:ext cx="91" cy="402336"/>
          </a:xfrm>
          <a:prstGeom prst="line">
            <a:avLst/>
          </a:prstGeom>
          <a:noFill/>
          <a:ln w="19050">
            <a:solidFill>
              <a:srgbClr val="1A2340"/>
            </a:solidFill>
            <a:prstDash val="solid"/>
          </a:ln>
        </p:spPr>
      </p:sp>
      <p:sp>
        <p:nvSpPr>
          <p:cNvPr id="16" name="Shape 14"/>
          <p:cNvSpPr/>
          <p:nvPr/>
        </p:nvSpPr>
        <p:spPr>
          <a:xfrm>
            <a:off x="2350008" y="1591056"/>
            <a:ext cx="91" cy="201168"/>
          </a:xfrm>
          <a:prstGeom prst="line">
            <a:avLst/>
          </a:prstGeom>
          <a:noFill/>
          <a:ln w="57150">
            <a:solidFill>
              <a:srgbClr val="1A2340"/>
            </a:solidFill>
            <a:prstDash val="solid"/>
          </a:ln>
        </p:spPr>
      </p:sp>
      <p:sp>
        <p:nvSpPr>
          <p:cNvPr id="17" name="Text 15"/>
          <p:cNvSpPr/>
          <p:nvPr/>
        </p:nvSpPr>
        <p:spPr>
          <a:xfrm>
            <a:off x="1600200" y="1243584"/>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12 V supply</a:t>
            </a:r>
            <a:endParaRPr lang="en-US" sz="1050" dirty="0"/>
          </a:p>
        </p:txBody>
      </p:sp>
      <p:sp>
        <p:nvSpPr>
          <p:cNvPr id="18" name="Shape 16"/>
          <p:cNvSpPr/>
          <p:nvPr/>
        </p:nvSpPr>
        <p:spPr>
          <a:xfrm>
            <a:off x="3200400" y="1691640"/>
            <a:ext cx="832104" cy="91"/>
          </a:xfrm>
          <a:prstGeom prst="line">
            <a:avLst/>
          </a:prstGeom>
          <a:noFill/>
          <a:ln w="19050">
            <a:solidFill>
              <a:srgbClr val="1A2340"/>
            </a:solidFill>
            <a:prstDash val="solid"/>
          </a:ln>
        </p:spPr>
      </p:sp>
      <p:sp>
        <p:nvSpPr>
          <p:cNvPr id="19" name="Shape 17"/>
          <p:cNvSpPr/>
          <p:nvPr/>
        </p:nvSpPr>
        <p:spPr>
          <a:xfrm>
            <a:off x="4379976" y="1691640"/>
            <a:ext cx="832104" cy="91"/>
          </a:xfrm>
          <a:prstGeom prst="line">
            <a:avLst/>
          </a:prstGeom>
          <a:noFill/>
          <a:ln w="19050">
            <a:solidFill>
              <a:srgbClr val="1A2340"/>
            </a:solidFill>
            <a:prstDash val="solid"/>
          </a:ln>
        </p:spPr>
      </p:sp>
      <p:sp>
        <p:nvSpPr>
          <p:cNvPr id="20" name="Shape 18"/>
          <p:cNvSpPr/>
          <p:nvPr/>
        </p:nvSpPr>
        <p:spPr>
          <a:xfrm>
            <a:off x="4032504" y="1517904"/>
            <a:ext cx="347472" cy="347472"/>
          </a:xfrm>
          <a:prstGeom prst="ellipse">
            <a:avLst/>
          </a:prstGeom>
          <a:solidFill>
            <a:srgbClr val="FFFFFF"/>
          </a:solidFill>
          <a:ln w="19050">
            <a:solidFill>
              <a:srgbClr val="1A2340"/>
            </a:solidFill>
            <a:prstDash val="solid"/>
          </a:ln>
        </p:spPr>
      </p:sp>
      <p:sp>
        <p:nvSpPr>
          <p:cNvPr id="21" name="Text 19"/>
          <p:cNvSpPr/>
          <p:nvPr/>
        </p:nvSpPr>
        <p:spPr>
          <a:xfrm>
            <a:off x="4023360" y="150876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22" name="Text 20"/>
          <p:cNvSpPr/>
          <p:nvPr/>
        </p:nvSpPr>
        <p:spPr>
          <a:xfrm>
            <a:off x="3611880" y="1243584"/>
            <a:ext cx="1188720" cy="23774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3.0 A</a:t>
            </a:r>
            <a:endParaRPr lang="en-US" sz="1050" dirty="0"/>
          </a:p>
        </p:txBody>
      </p:sp>
      <p:sp>
        <p:nvSpPr>
          <p:cNvPr id="23" name="Shape 21"/>
          <p:cNvSpPr/>
          <p:nvPr/>
        </p:nvSpPr>
        <p:spPr>
          <a:xfrm>
            <a:off x="1188720" y="1691640"/>
            <a:ext cx="91" cy="1280160"/>
          </a:xfrm>
          <a:prstGeom prst="line">
            <a:avLst/>
          </a:prstGeom>
          <a:noFill/>
          <a:ln w="19050">
            <a:solidFill>
              <a:srgbClr val="1A2340"/>
            </a:solidFill>
            <a:prstDash val="solid"/>
          </a:ln>
        </p:spPr>
      </p:sp>
      <p:sp>
        <p:nvSpPr>
          <p:cNvPr id="24" name="Shape 22"/>
          <p:cNvSpPr/>
          <p:nvPr/>
        </p:nvSpPr>
        <p:spPr>
          <a:xfrm>
            <a:off x="5212080" y="1691640"/>
            <a:ext cx="91" cy="1280160"/>
          </a:xfrm>
          <a:prstGeom prst="line">
            <a:avLst/>
          </a:prstGeom>
          <a:noFill/>
          <a:ln w="19050">
            <a:solidFill>
              <a:srgbClr val="1A2340"/>
            </a:solidFill>
            <a:prstDash val="solid"/>
          </a:ln>
        </p:spPr>
      </p:sp>
      <p:sp>
        <p:nvSpPr>
          <p:cNvPr id="25" name="Shape 23"/>
          <p:cNvSpPr/>
          <p:nvPr/>
        </p:nvSpPr>
        <p:spPr>
          <a:xfrm flipH="1">
            <a:off x="3447288" y="2971800"/>
            <a:ext cx="1764792" cy="91"/>
          </a:xfrm>
          <a:prstGeom prst="line">
            <a:avLst/>
          </a:prstGeom>
          <a:noFill/>
          <a:ln w="19050">
            <a:solidFill>
              <a:srgbClr val="1A2340"/>
            </a:solidFill>
            <a:prstDash val="solid"/>
          </a:ln>
        </p:spPr>
      </p:sp>
      <p:sp>
        <p:nvSpPr>
          <p:cNvPr id="26" name="Shape 24"/>
          <p:cNvSpPr/>
          <p:nvPr/>
        </p:nvSpPr>
        <p:spPr>
          <a:xfrm flipH="1">
            <a:off x="1188720" y="2971800"/>
            <a:ext cx="1764792" cy="91"/>
          </a:xfrm>
          <a:prstGeom prst="line">
            <a:avLst/>
          </a:prstGeom>
          <a:noFill/>
          <a:ln w="19050">
            <a:solidFill>
              <a:srgbClr val="1A2340"/>
            </a:solidFill>
            <a:prstDash val="solid"/>
          </a:ln>
        </p:spPr>
      </p:sp>
      <p:sp>
        <p:nvSpPr>
          <p:cNvPr id="27" name="Shape 25"/>
          <p:cNvSpPr/>
          <p:nvPr/>
        </p:nvSpPr>
        <p:spPr>
          <a:xfrm>
            <a:off x="2953512" y="2880360"/>
            <a:ext cx="493776" cy="182880"/>
          </a:xfrm>
          <a:prstGeom prst="rect">
            <a:avLst/>
          </a:prstGeom>
          <a:solidFill>
            <a:srgbClr val="FFFFFF"/>
          </a:solidFill>
          <a:ln w="19050">
            <a:solidFill>
              <a:srgbClr val="1A2340"/>
            </a:solidFill>
            <a:prstDash val="solid"/>
          </a:ln>
        </p:spPr>
      </p:sp>
      <p:sp>
        <p:nvSpPr>
          <p:cNvPr id="28" name="Text 26"/>
          <p:cNvSpPr/>
          <p:nvPr/>
        </p:nvSpPr>
        <p:spPr>
          <a:xfrm>
            <a:off x="2468880" y="3127248"/>
            <a:ext cx="146304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heater 4.0 Ω</a:t>
            </a:r>
            <a:endParaRPr lang="en-US" sz="1050" dirty="0"/>
          </a:p>
        </p:txBody>
      </p:sp>
      <p:sp>
        <p:nvSpPr>
          <p:cNvPr id="29" name="Shape 27"/>
          <p:cNvSpPr/>
          <p:nvPr/>
        </p:nvSpPr>
        <p:spPr>
          <a:xfrm>
            <a:off x="2327148" y="2921508"/>
            <a:ext cx="100584" cy="100584"/>
          </a:xfrm>
          <a:prstGeom prst="ellipse">
            <a:avLst/>
          </a:prstGeom>
          <a:solidFill>
            <a:srgbClr val="1A2340"/>
          </a:solidFill>
          <a:ln w="6350">
            <a:solidFill>
              <a:srgbClr val="1A2340"/>
            </a:solidFill>
            <a:prstDash val="solid"/>
          </a:ln>
        </p:spPr>
      </p:sp>
      <p:sp>
        <p:nvSpPr>
          <p:cNvPr id="30" name="Shape 28"/>
          <p:cNvSpPr/>
          <p:nvPr/>
        </p:nvSpPr>
        <p:spPr>
          <a:xfrm>
            <a:off x="3973068" y="2921508"/>
            <a:ext cx="100584" cy="100584"/>
          </a:xfrm>
          <a:prstGeom prst="ellipse">
            <a:avLst/>
          </a:prstGeom>
          <a:solidFill>
            <a:srgbClr val="1A2340"/>
          </a:solidFill>
          <a:ln w="6350">
            <a:solidFill>
              <a:srgbClr val="1A2340"/>
            </a:solidFill>
            <a:prstDash val="solid"/>
          </a:ln>
        </p:spPr>
      </p:sp>
      <p:sp>
        <p:nvSpPr>
          <p:cNvPr id="31" name="Shape 29"/>
          <p:cNvSpPr/>
          <p:nvPr/>
        </p:nvSpPr>
        <p:spPr>
          <a:xfrm>
            <a:off x="2377440" y="2971800"/>
            <a:ext cx="91" cy="822960"/>
          </a:xfrm>
          <a:prstGeom prst="line">
            <a:avLst/>
          </a:prstGeom>
          <a:noFill/>
          <a:ln w="19050">
            <a:solidFill>
              <a:srgbClr val="1A2340"/>
            </a:solidFill>
            <a:prstDash val="solid"/>
          </a:ln>
        </p:spPr>
      </p:sp>
      <p:sp>
        <p:nvSpPr>
          <p:cNvPr id="32" name="Shape 30"/>
          <p:cNvSpPr/>
          <p:nvPr/>
        </p:nvSpPr>
        <p:spPr>
          <a:xfrm>
            <a:off x="4023360" y="2971800"/>
            <a:ext cx="91" cy="822960"/>
          </a:xfrm>
          <a:prstGeom prst="line">
            <a:avLst/>
          </a:prstGeom>
          <a:noFill/>
          <a:ln w="19050">
            <a:solidFill>
              <a:srgbClr val="1A2340"/>
            </a:solidFill>
            <a:prstDash val="solid"/>
          </a:ln>
        </p:spPr>
      </p:sp>
      <p:sp>
        <p:nvSpPr>
          <p:cNvPr id="33" name="Shape 31"/>
          <p:cNvSpPr/>
          <p:nvPr/>
        </p:nvSpPr>
        <p:spPr>
          <a:xfrm>
            <a:off x="2377440" y="3794760"/>
            <a:ext cx="649224" cy="91"/>
          </a:xfrm>
          <a:prstGeom prst="line">
            <a:avLst/>
          </a:prstGeom>
          <a:noFill/>
          <a:ln w="19050">
            <a:solidFill>
              <a:srgbClr val="1A2340"/>
            </a:solidFill>
            <a:prstDash val="solid"/>
          </a:ln>
        </p:spPr>
      </p:sp>
      <p:sp>
        <p:nvSpPr>
          <p:cNvPr id="34" name="Shape 32"/>
          <p:cNvSpPr/>
          <p:nvPr/>
        </p:nvSpPr>
        <p:spPr>
          <a:xfrm>
            <a:off x="3374136" y="3794760"/>
            <a:ext cx="649224" cy="91"/>
          </a:xfrm>
          <a:prstGeom prst="line">
            <a:avLst/>
          </a:prstGeom>
          <a:noFill/>
          <a:ln w="19050">
            <a:solidFill>
              <a:srgbClr val="1A2340"/>
            </a:solidFill>
            <a:prstDash val="solid"/>
          </a:ln>
        </p:spPr>
      </p:sp>
      <p:sp>
        <p:nvSpPr>
          <p:cNvPr id="35" name="Shape 33"/>
          <p:cNvSpPr/>
          <p:nvPr/>
        </p:nvSpPr>
        <p:spPr>
          <a:xfrm>
            <a:off x="3026664" y="3621024"/>
            <a:ext cx="347472" cy="347472"/>
          </a:xfrm>
          <a:prstGeom prst="ellipse">
            <a:avLst/>
          </a:prstGeom>
          <a:solidFill>
            <a:srgbClr val="FFFFFF"/>
          </a:solidFill>
          <a:ln w="19050">
            <a:solidFill>
              <a:srgbClr val="1A2340"/>
            </a:solidFill>
            <a:prstDash val="solid"/>
          </a:ln>
        </p:spPr>
      </p:sp>
      <p:sp>
        <p:nvSpPr>
          <p:cNvPr id="36" name="Text 34"/>
          <p:cNvSpPr/>
          <p:nvPr/>
        </p:nvSpPr>
        <p:spPr>
          <a:xfrm>
            <a:off x="3017520" y="3611880"/>
            <a:ext cx="365760" cy="36576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V</a:t>
            </a:r>
            <a:endParaRPr lang="en-US" sz="1300" dirty="0"/>
          </a:p>
        </p:txBody>
      </p:sp>
      <p:sp>
        <p:nvSpPr>
          <p:cNvPr id="37" name="Text 35"/>
          <p:cNvSpPr/>
          <p:nvPr/>
        </p:nvSpPr>
        <p:spPr>
          <a:xfrm>
            <a:off x="2606040" y="4005072"/>
            <a:ext cx="1188720" cy="23774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12 V</a:t>
            </a:r>
            <a:endParaRPr lang="en-US" sz="1050" dirty="0"/>
          </a:p>
        </p:txBody>
      </p:sp>
      <p:sp>
        <p:nvSpPr>
          <p:cNvPr id="38" name="Shape 36"/>
          <p:cNvSpPr/>
          <p:nvPr/>
        </p:nvSpPr>
        <p:spPr>
          <a:xfrm>
            <a:off x="731520" y="4343400"/>
            <a:ext cx="5212080" cy="868680"/>
          </a:xfrm>
          <a:prstGeom prst="roundRect">
            <a:avLst>
              <a:gd name="adj" fmla="val 5263"/>
            </a:avLst>
          </a:prstGeom>
          <a:solidFill>
            <a:srgbClr val="FFFFFF"/>
          </a:solidFill>
          <a:ln w="12700">
            <a:solidFill>
              <a:srgbClr val="D5DCEB"/>
            </a:solidFill>
            <a:prstDash val="solid"/>
          </a:ln>
        </p:spPr>
      </p:sp>
      <p:sp>
        <p:nvSpPr>
          <p:cNvPr id="39" name="Text 37"/>
          <p:cNvSpPr/>
          <p:nvPr/>
        </p:nvSpPr>
        <p:spPr>
          <a:xfrm>
            <a:off x="868680" y="4370832"/>
            <a:ext cx="4937760" cy="822960"/>
          </a:xfrm>
          <a:prstGeom prst="rect">
            <a:avLst/>
          </a:prstGeom>
          <a:noFill/>
          <a:ln/>
        </p:spPr>
        <p:txBody>
          <a:bodyPr wrap="square" lIns="0" tIns="0" rIns="0" bIns="0" rtlCol="0" anchor="ctr"/>
          <a:lstStyle/>
          <a:p>
            <a:pPr indent="0" marL="0">
              <a:buNone/>
            </a:pPr>
            <a:r>
              <a:rPr lang="en-US" sz="1150" b="1" dirty="0">
                <a:solidFill>
                  <a:srgbClr val="1A2340"/>
                </a:solidFill>
                <a:latin typeface="Calibri" pitchFamily="34" charset="0"/>
                <a:ea typeface="Calibri" pitchFamily="34" charset="-122"/>
                <a:cs typeface="Calibri" pitchFamily="34" charset="-120"/>
              </a:rPr>
              <a:t>Where P = I²R comes from:  </a:t>
            </a:r>
            <a:r>
              <a:rPr lang="en-US" sz="1150" dirty="0">
                <a:solidFill>
                  <a:srgbClr val="262B3A"/>
                </a:solidFill>
                <a:latin typeface="Calibri" pitchFamily="34" charset="0"/>
                <a:ea typeface="Calibri" pitchFamily="34" charset="-122"/>
                <a:cs typeface="Calibri" pitchFamily="34" charset="-120"/>
              </a:rPr>
              <a:t>P = I × V and V = I × R, so P = I × (I × R) = I² × R</a:t>
            </a:r>
            <a:endParaRPr lang="en-US" sz="1150" dirty="0"/>
          </a:p>
        </p:txBody>
      </p:sp>
      <p:sp>
        <p:nvSpPr>
          <p:cNvPr id="40" name="Shape 3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1" name="Text 3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Power in a circuit device</a:t>
            </a:r>
            <a:endParaRPr lang="en-US" sz="1300" dirty="0"/>
          </a:p>
        </p:txBody>
      </p:sp>
      <p:sp>
        <p:nvSpPr>
          <p:cNvPr id="42" name="Text 4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power of a device = the rate at which </a:t>
            </a:r>
            <a:r>
              <a:rPr lang="en-US" sz="1150" b="1" dirty="0">
                <a:solidFill>
                  <a:srgbClr val="262B3A"/>
                </a:solidFill>
                <a:latin typeface="Calibri" pitchFamily="34" charset="0"/>
                <a:ea typeface="Calibri" pitchFamily="34" charset="-122"/>
                <a:cs typeface="Calibri" pitchFamily="34" charset="-120"/>
              </a:rPr>
              <a:t>energy is transferred from the supply</a:t>
            </a:r>
            <a:r>
              <a:rPr lang="en-US" sz="1150" dirty="0">
                <a:solidFill>
                  <a:srgbClr val="262B3A"/>
                </a:solidFill>
                <a:latin typeface="Calibri" pitchFamily="34" charset="0"/>
                <a:ea typeface="Calibri" pitchFamily="34" charset="-122"/>
                <a:cs typeface="Calibri" pitchFamily="34" charset="-120"/>
              </a:rPr>
              <a:t> to it. It depends on the </a:t>
            </a:r>
            <a:r>
              <a:rPr lang="en-US" sz="1150" b="1" dirty="0">
                <a:solidFill>
                  <a:srgbClr val="262B3A"/>
                </a:solidFill>
                <a:latin typeface="Calibri" pitchFamily="34" charset="0"/>
                <a:ea typeface="Calibri" pitchFamily="34" charset="-122"/>
                <a:cs typeface="Calibri" pitchFamily="34" charset="-120"/>
              </a:rPr>
              <a:t>current</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p.d.</a:t>
            </a:r>
            <a:r>
              <a:rPr lang="en-US" sz="1150" dirty="0">
                <a:solidFill>
                  <a:srgbClr val="262B3A"/>
                </a:solidFill>
                <a:latin typeface="Calibri" pitchFamily="34" charset="0"/>
                <a:ea typeface="Calibri" pitchFamily="34" charset="-122"/>
                <a:cs typeface="Calibri" pitchFamily="34" charset="-120"/>
              </a:rPr>
              <a:t> across it.</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P = I × V</a:t>
            </a:r>
            <a:r>
              <a:rPr lang="en-US" sz="1150" dirty="0">
                <a:solidFill>
                  <a:srgbClr val="262B3A"/>
                </a:solidFill>
                <a:latin typeface="Calibri" pitchFamily="34" charset="0"/>
                <a:ea typeface="Calibri" pitchFamily="34" charset="-122"/>
                <a:cs typeface="Calibri" pitchFamily="34" charset="-120"/>
              </a:rPr>
              <a:t>   electrical power (W) = current (A) × potential difference (V)</a:t>
            </a:r>
            <a:endParaRPr lang="en-US" sz="1150" dirty="0"/>
          </a:p>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P = I² × R</a:t>
            </a:r>
            <a:r>
              <a:rPr lang="en-US" sz="1150" dirty="0">
                <a:solidFill>
                  <a:srgbClr val="262B3A"/>
                </a:solidFill>
                <a:latin typeface="Calibri" pitchFamily="34" charset="0"/>
                <a:ea typeface="Calibri" pitchFamily="34" charset="-122"/>
                <a:cs typeface="Calibri" pitchFamily="34" charset="-120"/>
              </a:rPr>
              <a:t>   electrical power (W) = current² (A²) × resistance (Ω)</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learn both equations.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hairdryer on 230 V taking 5.0 A: P = 5.0 × 230 = </a:t>
            </a:r>
            <a:r>
              <a:rPr lang="en-US" sz="1150" b="1" dirty="0">
                <a:solidFill>
                  <a:srgbClr val="262B3A"/>
                </a:solidFill>
                <a:latin typeface="Calibri" pitchFamily="34" charset="0"/>
                <a:ea typeface="Calibri" pitchFamily="34" charset="-122"/>
                <a:cs typeface="Calibri" pitchFamily="34" charset="-120"/>
              </a:rPr>
              <a:t>1150 W</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43" name="Shape 4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4" name="Text 4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5" name="Text 4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current of 3.0 A flows through a 4.0 Ω heater. Calculate its power.</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P = I² × R</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P = 3.0² × 4.0 = 9.0 × 4.0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V = 3.0 × 4.0 = 12 V; P = 3.0 × 12 = 36 W ✓</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P = 36 W</a:t>
            </a:r>
            <a:endParaRPr lang="en-US" sz="1100" dirty="0"/>
          </a:p>
        </p:txBody>
      </p:sp>
      <p:sp>
        <p:nvSpPr>
          <p:cNvPr id="46" name="Shape 44"/>
          <p:cNvSpPr/>
          <p:nvPr/>
        </p:nvSpPr>
        <p:spPr>
          <a:xfrm>
            <a:off x="411480" y="5833872"/>
            <a:ext cx="11368735" cy="530352"/>
          </a:xfrm>
          <a:prstGeom prst="rect">
            <a:avLst/>
          </a:prstGeom>
          <a:solidFill>
            <a:srgbClr val="FFF4E0"/>
          </a:solidFill>
          <a:ln w="6350">
            <a:solidFill>
              <a:srgbClr val="F1D9A8"/>
            </a:solidFill>
            <a:prstDash val="solid"/>
          </a:ln>
        </p:spPr>
      </p:sp>
      <p:sp>
        <p:nvSpPr>
          <p:cNvPr id="47" name="Shape 45"/>
          <p:cNvSpPr/>
          <p:nvPr/>
        </p:nvSpPr>
        <p:spPr>
          <a:xfrm>
            <a:off x="411480" y="5833872"/>
            <a:ext cx="82296" cy="530352"/>
          </a:xfrm>
          <a:prstGeom prst="rect">
            <a:avLst/>
          </a:prstGeom>
          <a:solidFill>
            <a:srgbClr val="E39A2F"/>
          </a:solidFill>
          <a:ln w="12700">
            <a:solidFill>
              <a:srgbClr val="E39A2F"/>
            </a:solidFill>
            <a:prstDash val="solid"/>
          </a:ln>
        </p:spPr>
      </p:sp>
      <p:sp>
        <p:nvSpPr>
          <p:cNvPr id="48" name="Text 4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current of 0.50 A flows through a 12 Ω resistor. Calculate the power. Square the current first!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10.22–10.32 • heating, energy and power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31</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wire gets hot when there is a current in it.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hairdryer takes a current of </a:t>
            </a:r>
            <a:r>
              <a:rPr lang="en-US" sz="1250" b="1" dirty="0">
                <a:solidFill>
                  <a:srgbClr val="262B3A"/>
                </a:solidFill>
                <a:latin typeface="Calibri" pitchFamily="34" charset="0"/>
                <a:ea typeface="Calibri" pitchFamily="34" charset="-122"/>
                <a:cs typeface="Calibri" pitchFamily="34" charset="-120"/>
              </a:rPr>
              <a:t>4.0 A</a:t>
            </a:r>
            <a:r>
              <a:rPr lang="en-US" sz="1250" dirty="0">
                <a:solidFill>
                  <a:srgbClr val="262B3A"/>
                </a:solidFill>
                <a:latin typeface="Calibri" pitchFamily="34" charset="0"/>
                <a:ea typeface="Calibri" pitchFamily="34" charset="-122"/>
                <a:cs typeface="Calibri" pitchFamily="34" charset="-120"/>
              </a:rPr>
              <a:t> from the </a:t>
            </a:r>
            <a:r>
              <a:rPr lang="en-US" sz="1250" b="1" dirty="0">
                <a:solidFill>
                  <a:srgbClr val="262B3A"/>
                </a:solidFill>
                <a:latin typeface="Calibri" pitchFamily="34" charset="0"/>
                <a:ea typeface="Calibri" pitchFamily="34" charset="-122"/>
                <a:cs typeface="Calibri" pitchFamily="34" charset="-120"/>
              </a:rPr>
              <a:t>230 V</a:t>
            </a:r>
            <a:r>
              <a:rPr lang="en-US" sz="1250" dirty="0">
                <a:solidFill>
                  <a:srgbClr val="262B3A"/>
                </a:solidFill>
                <a:latin typeface="Calibri" pitchFamily="34" charset="0"/>
                <a:ea typeface="Calibri" pitchFamily="34" charset="-122"/>
                <a:cs typeface="Calibri" pitchFamily="34" charset="-120"/>
              </a:rPr>
              <a:t> mains. Calculate its power.</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current of </a:t>
            </a:r>
            <a:r>
              <a:rPr lang="en-US" sz="1250" b="1" dirty="0">
                <a:solidFill>
                  <a:srgbClr val="262B3A"/>
                </a:solidFill>
                <a:latin typeface="Calibri" pitchFamily="34" charset="0"/>
                <a:ea typeface="Calibri" pitchFamily="34" charset="-122"/>
                <a:cs typeface="Calibri" pitchFamily="34" charset="-120"/>
              </a:rPr>
              <a:t>2.0 A</a:t>
            </a:r>
            <a:r>
              <a:rPr lang="en-US" sz="1250" dirty="0">
                <a:solidFill>
                  <a:srgbClr val="262B3A"/>
                </a:solidFill>
                <a:latin typeface="Calibri" pitchFamily="34" charset="0"/>
                <a:ea typeface="Calibri" pitchFamily="34" charset="-122"/>
                <a:cs typeface="Calibri" pitchFamily="34" charset="-120"/>
              </a:rPr>
              <a:t> passes through a </a:t>
            </a:r>
            <a:r>
              <a:rPr lang="en-US" sz="1250" b="1" dirty="0">
                <a:solidFill>
                  <a:srgbClr val="262B3A"/>
                </a:solidFill>
                <a:latin typeface="Calibri" pitchFamily="34" charset="0"/>
                <a:ea typeface="Calibri" pitchFamily="34" charset="-122"/>
                <a:cs typeface="Calibri" pitchFamily="34" charset="-120"/>
              </a:rPr>
              <a:t>15 Ω</a:t>
            </a:r>
            <a:r>
              <a:rPr lang="en-US" sz="1250" dirty="0">
                <a:solidFill>
                  <a:srgbClr val="262B3A"/>
                </a:solidFill>
                <a:latin typeface="Calibri" pitchFamily="34" charset="0"/>
                <a:ea typeface="Calibri" pitchFamily="34" charset="-122"/>
                <a:cs typeface="Calibri" pitchFamily="34" charset="-120"/>
              </a:rPr>
              <a:t> resistor for </a:t>
            </a:r>
            <a:r>
              <a:rPr lang="en-US" sz="1250" b="1" dirty="0">
                <a:solidFill>
                  <a:srgbClr val="262B3A"/>
                </a:solidFill>
                <a:latin typeface="Calibri" pitchFamily="34" charset="0"/>
                <a:ea typeface="Calibri" pitchFamily="34" charset="-122"/>
                <a:cs typeface="Calibri" pitchFamily="34" charset="-120"/>
              </a:rPr>
              <a:t>5.0 minutes</a:t>
            </a:r>
            <a:r>
              <a:rPr lang="en-US" sz="1250" dirty="0">
                <a:solidFill>
                  <a:srgbClr val="262B3A"/>
                </a:solidFill>
                <a:latin typeface="Calibri" pitchFamily="34" charset="0"/>
                <a:ea typeface="Calibri" pitchFamily="34" charset="-122"/>
                <a:cs typeface="Calibri" pitchFamily="34" charset="-120"/>
              </a:rPr>
              <a:t>. Calculate the power and the energy transferred.</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Direct and alternating current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10.34–10.37 • d.c. from cells, a.c. from the mains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10.34  |  32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to scale: a 12 V battery (top) and the UK mains, 50 Hz (bottom)</a:t>
            </a:r>
            <a:endParaRPr lang="en-US" sz="1000" dirty="0"/>
          </a:p>
        </p:txBody>
      </p:sp>
      <p:sp>
        <p:nvSpPr>
          <p:cNvPr id="10" name="Shape 8"/>
          <p:cNvSpPr/>
          <p:nvPr/>
        </p:nvSpPr>
        <p:spPr>
          <a:xfrm>
            <a:off x="1371600" y="1371600"/>
            <a:ext cx="4297680" cy="1143000"/>
          </a:xfrm>
          <a:prstGeom prst="rect">
            <a:avLst/>
          </a:prstGeom>
          <a:solidFill>
            <a:srgbClr val="FFFFFF"/>
          </a:solidFill>
          <a:ln/>
        </p:spPr>
      </p:sp>
      <p:sp>
        <p:nvSpPr>
          <p:cNvPr id="11" name="Shape 9"/>
          <p:cNvSpPr/>
          <p:nvPr/>
        </p:nvSpPr>
        <p:spPr>
          <a:xfrm>
            <a:off x="1371600" y="1371600"/>
            <a:ext cx="91" cy="1143000"/>
          </a:xfrm>
          <a:prstGeom prst="line">
            <a:avLst/>
          </a:prstGeom>
          <a:noFill/>
          <a:ln w="6350">
            <a:solidFill>
              <a:srgbClr val="C9D3E6"/>
            </a:solidFill>
            <a:prstDash val="solid"/>
          </a:ln>
        </p:spPr>
      </p:sp>
      <p:sp>
        <p:nvSpPr>
          <p:cNvPr id="12" name="Shape 10"/>
          <p:cNvSpPr/>
          <p:nvPr/>
        </p:nvSpPr>
        <p:spPr>
          <a:xfrm>
            <a:off x="2446020" y="1371600"/>
            <a:ext cx="91" cy="1143000"/>
          </a:xfrm>
          <a:prstGeom prst="line">
            <a:avLst/>
          </a:prstGeom>
          <a:noFill/>
          <a:ln w="6350">
            <a:solidFill>
              <a:srgbClr val="C9D3E6"/>
            </a:solidFill>
            <a:prstDash val="solid"/>
          </a:ln>
        </p:spPr>
      </p:sp>
      <p:sp>
        <p:nvSpPr>
          <p:cNvPr id="13" name="Shape 11"/>
          <p:cNvSpPr/>
          <p:nvPr/>
        </p:nvSpPr>
        <p:spPr>
          <a:xfrm>
            <a:off x="3520440" y="1371600"/>
            <a:ext cx="91" cy="1143000"/>
          </a:xfrm>
          <a:prstGeom prst="line">
            <a:avLst/>
          </a:prstGeom>
          <a:noFill/>
          <a:ln w="6350">
            <a:solidFill>
              <a:srgbClr val="C9D3E6"/>
            </a:solidFill>
            <a:prstDash val="solid"/>
          </a:ln>
        </p:spPr>
      </p:sp>
      <p:sp>
        <p:nvSpPr>
          <p:cNvPr id="14" name="Shape 12"/>
          <p:cNvSpPr/>
          <p:nvPr/>
        </p:nvSpPr>
        <p:spPr>
          <a:xfrm>
            <a:off x="4594860" y="1371600"/>
            <a:ext cx="91" cy="1143000"/>
          </a:xfrm>
          <a:prstGeom prst="line">
            <a:avLst/>
          </a:prstGeom>
          <a:noFill/>
          <a:ln w="6350">
            <a:solidFill>
              <a:srgbClr val="C9D3E6"/>
            </a:solidFill>
            <a:prstDash val="solid"/>
          </a:ln>
        </p:spPr>
      </p:sp>
      <p:sp>
        <p:nvSpPr>
          <p:cNvPr id="15" name="Shape 13"/>
          <p:cNvSpPr/>
          <p:nvPr/>
        </p:nvSpPr>
        <p:spPr>
          <a:xfrm>
            <a:off x="5669280" y="1371600"/>
            <a:ext cx="91" cy="1143000"/>
          </a:xfrm>
          <a:prstGeom prst="line">
            <a:avLst/>
          </a:prstGeom>
          <a:noFill/>
          <a:ln w="6350">
            <a:solidFill>
              <a:srgbClr val="C9D3E6"/>
            </a:solidFill>
            <a:prstDash val="solid"/>
          </a:ln>
        </p:spPr>
      </p:sp>
      <p:sp>
        <p:nvSpPr>
          <p:cNvPr id="16" name="Shape 14"/>
          <p:cNvSpPr/>
          <p:nvPr/>
        </p:nvSpPr>
        <p:spPr>
          <a:xfrm>
            <a:off x="1371600" y="2514600"/>
            <a:ext cx="4297680" cy="91"/>
          </a:xfrm>
          <a:prstGeom prst="line">
            <a:avLst/>
          </a:prstGeom>
          <a:noFill/>
          <a:ln w="6350">
            <a:solidFill>
              <a:srgbClr val="C9D3E6"/>
            </a:solidFill>
            <a:prstDash val="solid"/>
          </a:ln>
        </p:spPr>
      </p:sp>
      <p:sp>
        <p:nvSpPr>
          <p:cNvPr id="17" name="Shape 15"/>
          <p:cNvSpPr/>
          <p:nvPr/>
        </p:nvSpPr>
        <p:spPr>
          <a:xfrm>
            <a:off x="1371600" y="2133600"/>
            <a:ext cx="4297680" cy="91"/>
          </a:xfrm>
          <a:prstGeom prst="line">
            <a:avLst/>
          </a:prstGeom>
          <a:noFill/>
          <a:ln w="6350">
            <a:solidFill>
              <a:srgbClr val="C9D3E6"/>
            </a:solidFill>
            <a:prstDash val="solid"/>
          </a:ln>
        </p:spPr>
      </p:sp>
      <p:sp>
        <p:nvSpPr>
          <p:cNvPr id="18" name="Shape 16"/>
          <p:cNvSpPr/>
          <p:nvPr/>
        </p:nvSpPr>
        <p:spPr>
          <a:xfrm>
            <a:off x="1371600" y="1752600"/>
            <a:ext cx="4297680" cy="91"/>
          </a:xfrm>
          <a:prstGeom prst="line">
            <a:avLst/>
          </a:prstGeom>
          <a:noFill/>
          <a:ln w="6350">
            <a:solidFill>
              <a:srgbClr val="C9D3E6"/>
            </a:solidFill>
            <a:prstDash val="solid"/>
          </a:ln>
        </p:spPr>
      </p:sp>
      <p:sp>
        <p:nvSpPr>
          <p:cNvPr id="19" name="Shape 17"/>
          <p:cNvSpPr/>
          <p:nvPr/>
        </p:nvSpPr>
        <p:spPr>
          <a:xfrm>
            <a:off x="1371600" y="1371600"/>
            <a:ext cx="4297680" cy="91"/>
          </a:xfrm>
          <a:prstGeom prst="line">
            <a:avLst/>
          </a:prstGeom>
          <a:noFill/>
          <a:ln w="6350">
            <a:solidFill>
              <a:srgbClr val="C9D3E6"/>
            </a:solidFill>
            <a:prstDash val="solid"/>
          </a:ln>
        </p:spPr>
      </p:sp>
      <p:sp>
        <p:nvSpPr>
          <p:cNvPr id="20" name="Shape 18"/>
          <p:cNvSpPr/>
          <p:nvPr/>
        </p:nvSpPr>
        <p:spPr>
          <a:xfrm>
            <a:off x="1371600" y="2514600"/>
            <a:ext cx="4297680" cy="91"/>
          </a:xfrm>
          <a:prstGeom prst="line">
            <a:avLst/>
          </a:prstGeom>
          <a:noFill/>
          <a:ln w="19050">
            <a:solidFill>
              <a:srgbClr val="1A2340"/>
            </a:solidFill>
            <a:prstDash val="solid"/>
          </a:ln>
        </p:spPr>
      </p:sp>
      <p:sp>
        <p:nvSpPr>
          <p:cNvPr id="21" name="Shape 19"/>
          <p:cNvSpPr/>
          <p:nvPr/>
        </p:nvSpPr>
        <p:spPr>
          <a:xfrm flipV="1">
            <a:off x="1371600" y="1371600"/>
            <a:ext cx="91" cy="1143000"/>
          </a:xfrm>
          <a:prstGeom prst="line">
            <a:avLst/>
          </a:prstGeom>
          <a:noFill/>
          <a:ln w="19050">
            <a:solidFill>
              <a:srgbClr val="1A2340"/>
            </a:solidFill>
            <a:prstDash val="solid"/>
          </a:ln>
        </p:spPr>
      </p:sp>
      <p:sp>
        <p:nvSpPr>
          <p:cNvPr id="22" name="Shape 20"/>
          <p:cNvSpPr/>
          <p:nvPr/>
        </p:nvSpPr>
        <p:spPr>
          <a:xfrm>
            <a:off x="1371600" y="2514600"/>
            <a:ext cx="91" cy="54864"/>
          </a:xfrm>
          <a:prstGeom prst="line">
            <a:avLst/>
          </a:prstGeom>
          <a:noFill/>
          <a:ln w="12700">
            <a:solidFill>
              <a:srgbClr val="1A2340"/>
            </a:solidFill>
            <a:prstDash val="solid"/>
          </a:ln>
        </p:spPr>
      </p:sp>
      <p:sp>
        <p:nvSpPr>
          <p:cNvPr id="23" name="Text 21"/>
          <p:cNvSpPr/>
          <p:nvPr/>
        </p:nvSpPr>
        <p:spPr>
          <a:xfrm>
            <a:off x="109728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4" name="Shape 22"/>
          <p:cNvSpPr/>
          <p:nvPr/>
        </p:nvSpPr>
        <p:spPr>
          <a:xfrm>
            <a:off x="2446020" y="2514600"/>
            <a:ext cx="91" cy="54864"/>
          </a:xfrm>
          <a:prstGeom prst="line">
            <a:avLst/>
          </a:prstGeom>
          <a:noFill/>
          <a:ln w="12700">
            <a:solidFill>
              <a:srgbClr val="1A2340"/>
            </a:solidFill>
            <a:prstDash val="solid"/>
          </a:ln>
        </p:spPr>
      </p:sp>
      <p:sp>
        <p:nvSpPr>
          <p:cNvPr id="25" name="Text 23"/>
          <p:cNvSpPr/>
          <p:nvPr/>
        </p:nvSpPr>
        <p:spPr>
          <a:xfrm>
            <a:off x="217170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26" name="Shape 24"/>
          <p:cNvSpPr/>
          <p:nvPr/>
        </p:nvSpPr>
        <p:spPr>
          <a:xfrm>
            <a:off x="3520440" y="2514600"/>
            <a:ext cx="91" cy="54864"/>
          </a:xfrm>
          <a:prstGeom prst="line">
            <a:avLst/>
          </a:prstGeom>
          <a:noFill/>
          <a:ln w="12700">
            <a:solidFill>
              <a:srgbClr val="1A2340"/>
            </a:solidFill>
            <a:prstDash val="solid"/>
          </a:ln>
        </p:spPr>
      </p:sp>
      <p:sp>
        <p:nvSpPr>
          <p:cNvPr id="27" name="Text 25"/>
          <p:cNvSpPr/>
          <p:nvPr/>
        </p:nvSpPr>
        <p:spPr>
          <a:xfrm>
            <a:off x="324612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28" name="Shape 26"/>
          <p:cNvSpPr/>
          <p:nvPr/>
        </p:nvSpPr>
        <p:spPr>
          <a:xfrm>
            <a:off x="4594860" y="2514600"/>
            <a:ext cx="91" cy="54864"/>
          </a:xfrm>
          <a:prstGeom prst="line">
            <a:avLst/>
          </a:prstGeom>
          <a:noFill/>
          <a:ln w="12700">
            <a:solidFill>
              <a:srgbClr val="1A2340"/>
            </a:solidFill>
            <a:prstDash val="solid"/>
          </a:ln>
        </p:spPr>
      </p:sp>
      <p:sp>
        <p:nvSpPr>
          <p:cNvPr id="29" name="Text 27"/>
          <p:cNvSpPr/>
          <p:nvPr/>
        </p:nvSpPr>
        <p:spPr>
          <a:xfrm>
            <a:off x="432054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30" name="Shape 28"/>
          <p:cNvSpPr/>
          <p:nvPr/>
        </p:nvSpPr>
        <p:spPr>
          <a:xfrm>
            <a:off x="5669280" y="2514600"/>
            <a:ext cx="91" cy="54864"/>
          </a:xfrm>
          <a:prstGeom prst="line">
            <a:avLst/>
          </a:prstGeom>
          <a:noFill/>
          <a:ln w="12700">
            <a:solidFill>
              <a:srgbClr val="1A2340"/>
            </a:solidFill>
            <a:prstDash val="solid"/>
          </a:ln>
        </p:spPr>
      </p:sp>
      <p:sp>
        <p:nvSpPr>
          <p:cNvPr id="31" name="Text 29"/>
          <p:cNvSpPr/>
          <p:nvPr/>
        </p:nvSpPr>
        <p:spPr>
          <a:xfrm>
            <a:off x="539496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32" name="Shape 30"/>
          <p:cNvSpPr/>
          <p:nvPr/>
        </p:nvSpPr>
        <p:spPr>
          <a:xfrm>
            <a:off x="1316736" y="2514600"/>
            <a:ext cx="54864" cy="91"/>
          </a:xfrm>
          <a:prstGeom prst="line">
            <a:avLst/>
          </a:prstGeom>
          <a:noFill/>
          <a:ln w="12700">
            <a:solidFill>
              <a:srgbClr val="1A2340"/>
            </a:solidFill>
            <a:prstDash val="solid"/>
          </a:ln>
        </p:spPr>
      </p:sp>
      <p:sp>
        <p:nvSpPr>
          <p:cNvPr id="33" name="Text 31"/>
          <p:cNvSpPr/>
          <p:nvPr/>
        </p:nvSpPr>
        <p:spPr>
          <a:xfrm>
            <a:off x="932688" y="2423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4" name="Shape 32"/>
          <p:cNvSpPr/>
          <p:nvPr/>
        </p:nvSpPr>
        <p:spPr>
          <a:xfrm>
            <a:off x="1316736" y="2133600"/>
            <a:ext cx="54864" cy="91"/>
          </a:xfrm>
          <a:prstGeom prst="line">
            <a:avLst/>
          </a:prstGeom>
          <a:noFill/>
          <a:ln w="12700">
            <a:solidFill>
              <a:srgbClr val="1A2340"/>
            </a:solidFill>
            <a:prstDash val="solid"/>
          </a:ln>
        </p:spPr>
      </p:sp>
      <p:sp>
        <p:nvSpPr>
          <p:cNvPr id="35" name="Text 33"/>
          <p:cNvSpPr/>
          <p:nvPr/>
        </p:nvSpPr>
        <p:spPr>
          <a:xfrm>
            <a:off x="932688" y="2042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36" name="Shape 34"/>
          <p:cNvSpPr/>
          <p:nvPr/>
        </p:nvSpPr>
        <p:spPr>
          <a:xfrm>
            <a:off x="1316736" y="1752600"/>
            <a:ext cx="54864" cy="91"/>
          </a:xfrm>
          <a:prstGeom prst="line">
            <a:avLst/>
          </a:prstGeom>
          <a:noFill/>
          <a:ln w="12700">
            <a:solidFill>
              <a:srgbClr val="1A2340"/>
            </a:solidFill>
            <a:prstDash val="solid"/>
          </a:ln>
        </p:spPr>
      </p:sp>
      <p:sp>
        <p:nvSpPr>
          <p:cNvPr id="37" name="Text 35"/>
          <p:cNvSpPr/>
          <p:nvPr/>
        </p:nvSpPr>
        <p:spPr>
          <a:xfrm>
            <a:off x="932688" y="1661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38" name="Shape 36"/>
          <p:cNvSpPr/>
          <p:nvPr/>
        </p:nvSpPr>
        <p:spPr>
          <a:xfrm>
            <a:off x="1316736" y="1371600"/>
            <a:ext cx="54864" cy="91"/>
          </a:xfrm>
          <a:prstGeom prst="line">
            <a:avLst/>
          </a:prstGeom>
          <a:noFill/>
          <a:ln w="12700">
            <a:solidFill>
              <a:srgbClr val="1A2340"/>
            </a:solidFill>
            <a:prstDash val="solid"/>
          </a:ln>
        </p:spPr>
      </p:sp>
      <p:sp>
        <p:nvSpPr>
          <p:cNvPr id="39" name="Text 37"/>
          <p:cNvSpPr/>
          <p:nvPr/>
        </p:nvSpPr>
        <p:spPr>
          <a:xfrm>
            <a:off x="93268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0" name="Text 38"/>
          <p:cNvSpPr/>
          <p:nvPr/>
        </p:nvSpPr>
        <p:spPr>
          <a:xfrm>
            <a:off x="1371600" y="2761488"/>
            <a:ext cx="42976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ms</a:t>
            </a:r>
            <a:endParaRPr lang="en-US" sz="1050" dirty="0"/>
          </a:p>
        </p:txBody>
      </p:sp>
      <p:sp>
        <p:nvSpPr>
          <p:cNvPr id="41" name="Text 39"/>
          <p:cNvSpPr/>
          <p:nvPr/>
        </p:nvSpPr>
        <p:spPr>
          <a:xfrm rot="16200000">
            <a:off x="233172" y="1815084"/>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p.d. / V</a:t>
            </a:r>
            <a:endParaRPr lang="en-US" sz="1050" dirty="0"/>
          </a:p>
        </p:txBody>
      </p:sp>
      <p:sp>
        <p:nvSpPr>
          <p:cNvPr id="42" name="Shape 40"/>
          <p:cNvSpPr/>
          <p:nvPr/>
        </p:nvSpPr>
        <p:spPr>
          <a:xfrm>
            <a:off x="1371600" y="1600200"/>
            <a:ext cx="4297680" cy="91"/>
          </a:xfrm>
          <a:prstGeom prst="line">
            <a:avLst/>
          </a:prstGeom>
          <a:noFill/>
          <a:ln w="31750">
            <a:solidFill>
              <a:srgbClr val="2E5BD8"/>
            </a:solidFill>
            <a:prstDash val="solid"/>
          </a:ln>
        </p:spPr>
      </p:sp>
      <p:sp>
        <p:nvSpPr>
          <p:cNvPr id="43" name="Text 41"/>
          <p:cNvSpPr/>
          <p:nvPr/>
        </p:nvSpPr>
        <p:spPr>
          <a:xfrm>
            <a:off x="3735324" y="1325880"/>
            <a:ext cx="164592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d.c.: 12 V, constant</a:t>
            </a:r>
            <a:endParaRPr lang="en-US" sz="1050" dirty="0"/>
          </a:p>
        </p:txBody>
      </p:sp>
      <p:sp>
        <p:nvSpPr>
          <p:cNvPr id="44" name="Shape 42"/>
          <p:cNvSpPr/>
          <p:nvPr/>
        </p:nvSpPr>
        <p:spPr>
          <a:xfrm>
            <a:off x="1371600" y="3383280"/>
            <a:ext cx="4023360" cy="1737360"/>
          </a:xfrm>
          <a:prstGeom prst="rect">
            <a:avLst/>
          </a:prstGeom>
          <a:solidFill>
            <a:srgbClr val="FFFFFF"/>
          </a:solidFill>
          <a:ln/>
        </p:spPr>
      </p:sp>
      <p:sp>
        <p:nvSpPr>
          <p:cNvPr id="45" name="Shape 43"/>
          <p:cNvSpPr/>
          <p:nvPr/>
        </p:nvSpPr>
        <p:spPr>
          <a:xfrm>
            <a:off x="1371600" y="3383280"/>
            <a:ext cx="91" cy="1737360"/>
          </a:xfrm>
          <a:prstGeom prst="line">
            <a:avLst/>
          </a:prstGeom>
          <a:noFill/>
          <a:ln w="6350">
            <a:solidFill>
              <a:srgbClr val="C9D3E6"/>
            </a:solidFill>
            <a:prstDash val="solid"/>
          </a:ln>
        </p:spPr>
      </p:sp>
      <p:sp>
        <p:nvSpPr>
          <p:cNvPr id="46" name="Shape 44"/>
          <p:cNvSpPr/>
          <p:nvPr/>
        </p:nvSpPr>
        <p:spPr>
          <a:xfrm>
            <a:off x="1874520" y="3383280"/>
            <a:ext cx="91" cy="1737360"/>
          </a:xfrm>
          <a:prstGeom prst="line">
            <a:avLst/>
          </a:prstGeom>
          <a:noFill/>
          <a:ln w="6350">
            <a:solidFill>
              <a:srgbClr val="E6EBF4"/>
            </a:solidFill>
            <a:prstDash val="solid"/>
          </a:ln>
        </p:spPr>
      </p:sp>
      <p:sp>
        <p:nvSpPr>
          <p:cNvPr id="47" name="Shape 45"/>
          <p:cNvSpPr/>
          <p:nvPr/>
        </p:nvSpPr>
        <p:spPr>
          <a:xfrm>
            <a:off x="2377440" y="3383280"/>
            <a:ext cx="91" cy="1737360"/>
          </a:xfrm>
          <a:prstGeom prst="line">
            <a:avLst/>
          </a:prstGeom>
          <a:noFill/>
          <a:ln w="6350">
            <a:solidFill>
              <a:srgbClr val="C9D3E6"/>
            </a:solidFill>
            <a:prstDash val="solid"/>
          </a:ln>
        </p:spPr>
      </p:sp>
      <p:sp>
        <p:nvSpPr>
          <p:cNvPr id="48" name="Shape 46"/>
          <p:cNvSpPr/>
          <p:nvPr/>
        </p:nvSpPr>
        <p:spPr>
          <a:xfrm>
            <a:off x="2880360" y="3383280"/>
            <a:ext cx="91" cy="1737360"/>
          </a:xfrm>
          <a:prstGeom prst="line">
            <a:avLst/>
          </a:prstGeom>
          <a:noFill/>
          <a:ln w="6350">
            <a:solidFill>
              <a:srgbClr val="E6EBF4"/>
            </a:solidFill>
            <a:prstDash val="solid"/>
          </a:ln>
        </p:spPr>
      </p:sp>
      <p:sp>
        <p:nvSpPr>
          <p:cNvPr id="49" name="Shape 47"/>
          <p:cNvSpPr/>
          <p:nvPr/>
        </p:nvSpPr>
        <p:spPr>
          <a:xfrm>
            <a:off x="3383280" y="3383280"/>
            <a:ext cx="91" cy="1737360"/>
          </a:xfrm>
          <a:prstGeom prst="line">
            <a:avLst/>
          </a:prstGeom>
          <a:noFill/>
          <a:ln w="6350">
            <a:solidFill>
              <a:srgbClr val="C9D3E6"/>
            </a:solidFill>
            <a:prstDash val="solid"/>
          </a:ln>
        </p:spPr>
      </p:sp>
      <p:sp>
        <p:nvSpPr>
          <p:cNvPr id="50" name="Shape 48"/>
          <p:cNvSpPr/>
          <p:nvPr/>
        </p:nvSpPr>
        <p:spPr>
          <a:xfrm>
            <a:off x="3886200" y="3383280"/>
            <a:ext cx="91" cy="1737360"/>
          </a:xfrm>
          <a:prstGeom prst="line">
            <a:avLst/>
          </a:prstGeom>
          <a:noFill/>
          <a:ln w="6350">
            <a:solidFill>
              <a:srgbClr val="E6EBF4"/>
            </a:solidFill>
            <a:prstDash val="solid"/>
          </a:ln>
        </p:spPr>
      </p:sp>
      <p:sp>
        <p:nvSpPr>
          <p:cNvPr id="51" name="Shape 49"/>
          <p:cNvSpPr/>
          <p:nvPr/>
        </p:nvSpPr>
        <p:spPr>
          <a:xfrm>
            <a:off x="4389120" y="3383280"/>
            <a:ext cx="91" cy="1737360"/>
          </a:xfrm>
          <a:prstGeom prst="line">
            <a:avLst/>
          </a:prstGeom>
          <a:noFill/>
          <a:ln w="6350">
            <a:solidFill>
              <a:srgbClr val="C9D3E6"/>
            </a:solidFill>
            <a:prstDash val="solid"/>
          </a:ln>
        </p:spPr>
      </p:sp>
      <p:sp>
        <p:nvSpPr>
          <p:cNvPr id="52" name="Shape 50"/>
          <p:cNvSpPr/>
          <p:nvPr/>
        </p:nvSpPr>
        <p:spPr>
          <a:xfrm>
            <a:off x="4892040" y="3383280"/>
            <a:ext cx="91" cy="1737360"/>
          </a:xfrm>
          <a:prstGeom prst="line">
            <a:avLst/>
          </a:prstGeom>
          <a:noFill/>
          <a:ln w="6350">
            <a:solidFill>
              <a:srgbClr val="E6EBF4"/>
            </a:solidFill>
            <a:prstDash val="solid"/>
          </a:ln>
        </p:spPr>
      </p:sp>
      <p:sp>
        <p:nvSpPr>
          <p:cNvPr id="53" name="Shape 51"/>
          <p:cNvSpPr/>
          <p:nvPr/>
        </p:nvSpPr>
        <p:spPr>
          <a:xfrm>
            <a:off x="5394960" y="3383280"/>
            <a:ext cx="91" cy="1737360"/>
          </a:xfrm>
          <a:prstGeom prst="line">
            <a:avLst/>
          </a:prstGeom>
          <a:noFill/>
          <a:ln w="6350">
            <a:solidFill>
              <a:srgbClr val="C9D3E6"/>
            </a:solidFill>
            <a:prstDash val="solid"/>
          </a:ln>
        </p:spPr>
      </p:sp>
      <p:sp>
        <p:nvSpPr>
          <p:cNvPr id="54" name="Shape 52"/>
          <p:cNvSpPr/>
          <p:nvPr/>
        </p:nvSpPr>
        <p:spPr>
          <a:xfrm>
            <a:off x="1371600" y="5120640"/>
            <a:ext cx="4023360" cy="91"/>
          </a:xfrm>
          <a:prstGeom prst="line">
            <a:avLst/>
          </a:prstGeom>
          <a:noFill/>
          <a:ln w="6350">
            <a:solidFill>
              <a:srgbClr val="C9D3E6"/>
            </a:solidFill>
            <a:prstDash val="solid"/>
          </a:ln>
        </p:spPr>
      </p:sp>
      <p:sp>
        <p:nvSpPr>
          <p:cNvPr id="55" name="Shape 53"/>
          <p:cNvSpPr/>
          <p:nvPr/>
        </p:nvSpPr>
        <p:spPr>
          <a:xfrm>
            <a:off x="1371600" y="4903470"/>
            <a:ext cx="4023360" cy="91"/>
          </a:xfrm>
          <a:prstGeom prst="line">
            <a:avLst/>
          </a:prstGeom>
          <a:noFill/>
          <a:ln w="6350">
            <a:solidFill>
              <a:srgbClr val="E6EBF4"/>
            </a:solidFill>
            <a:prstDash val="solid"/>
          </a:ln>
        </p:spPr>
      </p:sp>
      <p:sp>
        <p:nvSpPr>
          <p:cNvPr id="56" name="Shape 54"/>
          <p:cNvSpPr/>
          <p:nvPr/>
        </p:nvSpPr>
        <p:spPr>
          <a:xfrm>
            <a:off x="1371600" y="4686300"/>
            <a:ext cx="4023360" cy="91"/>
          </a:xfrm>
          <a:prstGeom prst="line">
            <a:avLst/>
          </a:prstGeom>
          <a:noFill/>
          <a:ln w="6350">
            <a:solidFill>
              <a:srgbClr val="C9D3E6"/>
            </a:solidFill>
            <a:prstDash val="solid"/>
          </a:ln>
        </p:spPr>
      </p:sp>
      <p:sp>
        <p:nvSpPr>
          <p:cNvPr id="57" name="Shape 55"/>
          <p:cNvSpPr/>
          <p:nvPr/>
        </p:nvSpPr>
        <p:spPr>
          <a:xfrm>
            <a:off x="1371600" y="4469130"/>
            <a:ext cx="4023360" cy="91"/>
          </a:xfrm>
          <a:prstGeom prst="line">
            <a:avLst/>
          </a:prstGeom>
          <a:noFill/>
          <a:ln w="6350">
            <a:solidFill>
              <a:srgbClr val="E6EBF4"/>
            </a:solidFill>
            <a:prstDash val="solid"/>
          </a:ln>
        </p:spPr>
      </p:sp>
      <p:sp>
        <p:nvSpPr>
          <p:cNvPr id="58" name="Shape 56"/>
          <p:cNvSpPr/>
          <p:nvPr/>
        </p:nvSpPr>
        <p:spPr>
          <a:xfrm>
            <a:off x="1371600" y="4251960"/>
            <a:ext cx="4023360" cy="91"/>
          </a:xfrm>
          <a:prstGeom prst="line">
            <a:avLst/>
          </a:prstGeom>
          <a:noFill/>
          <a:ln w="6350">
            <a:solidFill>
              <a:srgbClr val="C9D3E6"/>
            </a:solidFill>
            <a:prstDash val="solid"/>
          </a:ln>
        </p:spPr>
      </p:sp>
      <p:sp>
        <p:nvSpPr>
          <p:cNvPr id="59" name="Shape 57"/>
          <p:cNvSpPr/>
          <p:nvPr/>
        </p:nvSpPr>
        <p:spPr>
          <a:xfrm>
            <a:off x="1371600" y="4034790"/>
            <a:ext cx="4023360" cy="91"/>
          </a:xfrm>
          <a:prstGeom prst="line">
            <a:avLst/>
          </a:prstGeom>
          <a:noFill/>
          <a:ln w="6350">
            <a:solidFill>
              <a:srgbClr val="E6EBF4"/>
            </a:solidFill>
            <a:prstDash val="solid"/>
          </a:ln>
        </p:spPr>
      </p:sp>
      <p:sp>
        <p:nvSpPr>
          <p:cNvPr id="60" name="Shape 58"/>
          <p:cNvSpPr/>
          <p:nvPr/>
        </p:nvSpPr>
        <p:spPr>
          <a:xfrm>
            <a:off x="1371600" y="3817620"/>
            <a:ext cx="4023360" cy="91"/>
          </a:xfrm>
          <a:prstGeom prst="line">
            <a:avLst/>
          </a:prstGeom>
          <a:noFill/>
          <a:ln w="6350">
            <a:solidFill>
              <a:srgbClr val="C9D3E6"/>
            </a:solidFill>
            <a:prstDash val="solid"/>
          </a:ln>
        </p:spPr>
      </p:sp>
      <p:sp>
        <p:nvSpPr>
          <p:cNvPr id="61" name="Shape 59"/>
          <p:cNvSpPr/>
          <p:nvPr/>
        </p:nvSpPr>
        <p:spPr>
          <a:xfrm>
            <a:off x="1371600" y="3600450"/>
            <a:ext cx="4023360" cy="91"/>
          </a:xfrm>
          <a:prstGeom prst="line">
            <a:avLst/>
          </a:prstGeom>
          <a:noFill/>
          <a:ln w="6350">
            <a:solidFill>
              <a:srgbClr val="E6EBF4"/>
            </a:solidFill>
            <a:prstDash val="solid"/>
          </a:ln>
        </p:spPr>
      </p:sp>
      <p:sp>
        <p:nvSpPr>
          <p:cNvPr id="62" name="Shape 60"/>
          <p:cNvSpPr/>
          <p:nvPr/>
        </p:nvSpPr>
        <p:spPr>
          <a:xfrm>
            <a:off x="1371600" y="3383280"/>
            <a:ext cx="4023360" cy="91"/>
          </a:xfrm>
          <a:prstGeom prst="line">
            <a:avLst/>
          </a:prstGeom>
          <a:noFill/>
          <a:ln w="6350">
            <a:solidFill>
              <a:srgbClr val="C9D3E6"/>
            </a:solidFill>
            <a:prstDash val="solid"/>
          </a:ln>
        </p:spPr>
      </p:sp>
      <p:sp>
        <p:nvSpPr>
          <p:cNvPr id="63" name="Shape 61"/>
          <p:cNvSpPr/>
          <p:nvPr/>
        </p:nvSpPr>
        <p:spPr>
          <a:xfrm>
            <a:off x="1371600" y="4251960"/>
            <a:ext cx="4023360" cy="91"/>
          </a:xfrm>
          <a:prstGeom prst="line">
            <a:avLst/>
          </a:prstGeom>
          <a:noFill/>
          <a:ln w="19050">
            <a:solidFill>
              <a:srgbClr val="1A2340"/>
            </a:solidFill>
            <a:prstDash val="solid"/>
          </a:ln>
        </p:spPr>
      </p:sp>
      <p:sp>
        <p:nvSpPr>
          <p:cNvPr id="64" name="Shape 62"/>
          <p:cNvSpPr/>
          <p:nvPr/>
        </p:nvSpPr>
        <p:spPr>
          <a:xfrm flipV="1">
            <a:off x="1371600" y="3383280"/>
            <a:ext cx="91" cy="1737360"/>
          </a:xfrm>
          <a:prstGeom prst="line">
            <a:avLst/>
          </a:prstGeom>
          <a:noFill/>
          <a:ln w="19050">
            <a:solidFill>
              <a:srgbClr val="1A2340"/>
            </a:solidFill>
            <a:prstDash val="solid"/>
          </a:ln>
        </p:spPr>
      </p:sp>
      <p:sp>
        <p:nvSpPr>
          <p:cNvPr id="65" name="Shape 63"/>
          <p:cNvSpPr/>
          <p:nvPr/>
        </p:nvSpPr>
        <p:spPr>
          <a:xfrm>
            <a:off x="1371600" y="4251960"/>
            <a:ext cx="91" cy="54864"/>
          </a:xfrm>
          <a:prstGeom prst="line">
            <a:avLst/>
          </a:prstGeom>
          <a:noFill/>
          <a:ln w="12700">
            <a:solidFill>
              <a:srgbClr val="1A2340"/>
            </a:solidFill>
            <a:prstDash val="solid"/>
          </a:ln>
        </p:spPr>
      </p:sp>
      <p:sp>
        <p:nvSpPr>
          <p:cNvPr id="66" name="Text 64"/>
          <p:cNvSpPr/>
          <p:nvPr/>
        </p:nvSpPr>
        <p:spPr>
          <a:xfrm>
            <a:off x="1097280" y="43068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7" name="Shape 65"/>
          <p:cNvSpPr/>
          <p:nvPr/>
        </p:nvSpPr>
        <p:spPr>
          <a:xfrm>
            <a:off x="2377440" y="4251960"/>
            <a:ext cx="91" cy="54864"/>
          </a:xfrm>
          <a:prstGeom prst="line">
            <a:avLst/>
          </a:prstGeom>
          <a:noFill/>
          <a:ln w="12700">
            <a:solidFill>
              <a:srgbClr val="1A2340"/>
            </a:solidFill>
            <a:prstDash val="solid"/>
          </a:ln>
        </p:spPr>
      </p:sp>
      <p:sp>
        <p:nvSpPr>
          <p:cNvPr id="68" name="Text 66"/>
          <p:cNvSpPr/>
          <p:nvPr/>
        </p:nvSpPr>
        <p:spPr>
          <a:xfrm>
            <a:off x="2103120" y="43068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9" name="Shape 67"/>
          <p:cNvSpPr/>
          <p:nvPr/>
        </p:nvSpPr>
        <p:spPr>
          <a:xfrm>
            <a:off x="3383280" y="4251960"/>
            <a:ext cx="91" cy="54864"/>
          </a:xfrm>
          <a:prstGeom prst="line">
            <a:avLst/>
          </a:prstGeom>
          <a:noFill/>
          <a:ln w="12700">
            <a:solidFill>
              <a:srgbClr val="1A2340"/>
            </a:solidFill>
            <a:prstDash val="solid"/>
          </a:ln>
        </p:spPr>
      </p:sp>
      <p:sp>
        <p:nvSpPr>
          <p:cNvPr id="70" name="Text 68"/>
          <p:cNvSpPr/>
          <p:nvPr/>
        </p:nvSpPr>
        <p:spPr>
          <a:xfrm>
            <a:off x="3108960" y="43068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71" name="Shape 69"/>
          <p:cNvSpPr/>
          <p:nvPr/>
        </p:nvSpPr>
        <p:spPr>
          <a:xfrm>
            <a:off x="4389120" y="4251960"/>
            <a:ext cx="91" cy="54864"/>
          </a:xfrm>
          <a:prstGeom prst="line">
            <a:avLst/>
          </a:prstGeom>
          <a:noFill/>
          <a:ln w="12700">
            <a:solidFill>
              <a:srgbClr val="1A2340"/>
            </a:solidFill>
            <a:prstDash val="solid"/>
          </a:ln>
        </p:spPr>
      </p:sp>
      <p:sp>
        <p:nvSpPr>
          <p:cNvPr id="72" name="Text 70"/>
          <p:cNvSpPr/>
          <p:nvPr/>
        </p:nvSpPr>
        <p:spPr>
          <a:xfrm>
            <a:off x="4114800" y="43068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73" name="Shape 71"/>
          <p:cNvSpPr/>
          <p:nvPr/>
        </p:nvSpPr>
        <p:spPr>
          <a:xfrm>
            <a:off x="5394960" y="4251960"/>
            <a:ext cx="91" cy="54864"/>
          </a:xfrm>
          <a:prstGeom prst="line">
            <a:avLst/>
          </a:prstGeom>
          <a:noFill/>
          <a:ln w="12700">
            <a:solidFill>
              <a:srgbClr val="1A2340"/>
            </a:solidFill>
            <a:prstDash val="solid"/>
          </a:ln>
        </p:spPr>
      </p:sp>
      <p:sp>
        <p:nvSpPr>
          <p:cNvPr id="74" name="Text 72"/>
          <p:cNvSpPr/>
          <p:nvPr/>
        </p:nvSpPr>
        <p:spPr>
          <a:xfrm>
            <a:off x="5120640" y="43068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75" name="Shape 73"/>
          <p:cNvSpPr/>
          <p:nvPr/>
        </p:nvSpPr>
        <p:spPr>
          <a:xfrm>
            <a:off x="1316736" y="5120640"/>
            <a:ext cx="54864" cy="91"/>
          </a:xfrm>
          <a:prstGeom prst="line">
            <a:avLst/>
          </a:prstGeom>
          <a:noFill/>
          <a:ln w="12700">
            <a:solidFill>
              <a:srgbClr val="1A2340"/>
            </a:solidFill>
            <a:prstDash val="solid"/>
          </a:ln>
        </p:spPr>
      </p:sp>
      <p:sp>
        <p:nvSpPr>
          <p:cNvPr id="76" name="Text 74"/>
          <p:cNvSpPr/>
          <p:nvPr/>
        </p:nvSpPr>
        <p:spPr>
          <a:xfrm>
            <a:off x="914400" y="502920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77" name="Shape 75"/>
          <p:cNvSpPr/>
          <p:nvPr/>
        </p:nvSpPr>
        <p:spPr>
          <a:xfrm>
            <a:off x="1316736" y="4686300"/>
            <a:ext cx="54864" cy="91"/>
          </a:xfrm>
          <a:prstGeom prst="line">
            <a:avLst/>
          </a:prstGeom>
          <a:noFill/>
          <a:ln w="12700">
            <a:solidFill>
              <a:srgbClr val="1A2340"/>
            </a:solidFill>
            <a:prstDash val="solid"/>
          </a:ln>
        </p:spPr>
      </p:sp>
      <p:sp>
        <p:nvSpPr>
          <p:cNvPr id="78" name="Text 76"/>
          <p:cNvSpPr/>
          <p:nvPr/>
        </p:nvSpPr>
        <p:spPr>
          <a:xfrm>
            <a:off x="914400" y="459486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79" name="Shape 77"/>
          <p:cNvSpPr/>
          <p:nvPr/>
        </p:nvSpPr>
        <p:spPr>
          <a:xfrm>
            <a:off x="1316736" y="3817620"/>
            <a:ext cx="54864" cy="91"/>
          </a:xfrm>
          <a:prstGeom prst="line">
            <a:avLst/>
          </a:prstGeom>
          <a:noFill/>
          <a:ln w="12700">
            <a:solidFill>
              <a:srgbClr val="1A2340"/>
            </a:solidFill>
            <a:prstDash val="solid"/>
          </a:ln>
        </p:spPr>
      </p:sp>
      <p:sp>
        <p:nvSpPr>
          <p:cNvPr id="80" name="Text 78"/>
          <p:cNvSpPr/>
          <p:nvPr/>
        </p:nvSpPr>
        <p:spPr>
          <a:xfrm>
            <a:off x="914400" y="372618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81" name="Shape 79"/>
          <p:cNvSpPr/>
          <p:nvPr/>
        </p:nvSpPr>
        <p:spPr>
          <a:xfrm>
            <a:off x="1316736" y="3383280"/>
            <a:ext cx="54864" cy="91"/>
          </a:xfrm>
          <a:prstGeom prst="line">
            <a:avLst/>
          </a:prstGeom>
          <a:noFill/>
          <a:ln w="12700">
            <a:solidFill>
              <a:srgbClr val="1A2340"/>
            </a:solidFill>
            <a:prstDash val="solid"/>
          </a:ln>
        </p:spPr>
      </p:sp>
      <p:sp>
        <p:nvSpPr>
          <p:cNvPr id="82" name="Text 80"/>
          <p:cNvSpPr/>
          <p:nvPr/>
        </p:nvSpPr>
        <p:spPr>
          <a:xfrm>
            <a:off x="914400" y="3291840"/>
            <a:ext cx="384048"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83" name="Shape 81"/>
          <p:cNvSpPr/>
          <p:nvPr/>
        </p:nvSpPr>
        <p:spPr>
          <a:xfrm flipV="1">
            <a:off x="1371600" y="4141548"/>
            <a:ext cx="50292" cy="110412"/>
          </a:xfrm>
          <a:prstGeom prst="line">
            <a:avLst/>
          </a:prstGeom>
          <a:noFill/>
          <a:ln w="31750">
            <a:solidFill>
              <a:srgbClr val="C8414C"/>
            </a:solidFill>
            <a:prstDash val="solid"/>
          </a:ln>
        </p:spPr>
      </p:sp>
      <p:sp>
        <p:nvSpPr>
          <p:cNvPr id="84" name="Shape 82"/>
          <p:cNvSpPr/>
          <p:nvPr/>
        </p:nvSpPr>
        <p:spPr>
          <a:xfrm flipV="1">
            <a:off x="1421892" y="4033855"/>
            <a:ext cx="50292" cy="107693"/>
          </a:xfrm>
          <a:prstGeom prst="line">
            <a:avLst/>
          </a:prstGeom>
          <a:noFill/>
          <a:ln w="31750">
            <a:solidFill>
              <a:srgbClr val="C8414C"/>
            </a:solidFill>
            <a:prstDash val="solid"/>
          </a:ln>
        </p:spPr>
      </p:sp>
      <p:sp>
        <p:nvSpPr>
          <p:cNvPr id="85" name="Shape 83"/>
          <p:cNvSpPr/>
          <p:nvPr/>
        </p:nvSpPr>
        <p:spPr>
          <a:xfrm flipV="1">
            <a:off x="1472184" y="3931532"/>
            <a:ext cx="50292" cy="102323"/>
          </a:xfrm>
          <a:prstGeom prst="line">
            <a:avLst/>
          </a:prstGeom>
          <a:noFill/>
          <a:ln w="31750">
            <a:solidFill>
              <a:srgbClr val="C8414C"/>
            </a:solidFill>
            <a:prstDash val="solid"/>
          </a:ln>
        </p:spPr>
      </p:sp>
      <p:sp>
        <p:nvSpPr>
          <p:cNvPr id="86" name="Shape 84"/>
          <p:cNvSpPr/>
          <p:nvPr/>
        </p:nvSpPr>
        <p:spPr>
          <a:xfrm flipV="1">
            <a:off x="1522476" y="3837100"/>
            <a:ext cx="50292" cy="94433"/>
          </a:xfrm>
          <a:prstGeom prst="line">
            <a:avLst/>
          </a:prstGeom>
          <a:noFill/>
          <a:ln w="31750">
            <a:solidFill>
              <a:srgbClr val="C8414C"/>
            </a:solidFill>
            <a:prstDash val="solid"/>
          </a:ln>
        </p:spPr>
      </p:sp>
      <p:sp>
        <p:nvSpPr>
          <p:cNvPr id="87" name="Shape 85"/>
          <p:cNvSpPr/>
          <p:nvPr/>
        </p:nvSpPr>
        <p:spPr>
          <a:xfrm flipV="1">
            <a:off x="1572768" y="3752882"/>
            <a:ext cx="50292" cy="84217"/>
          </a:xfrm>
          <a:prstGeom prst="line">
            <a:avLst/>
          </a:prstGeom>
          <a:noFill/>
          <a:ln w="31750">
            <a:solidFill>
              <a:srgbClr val="C8414C"/>
            </a:solidFill>
            <a:prstDash val="solid"/>
          </a:ln>
        </p:spPr>
      </p:sp>
      <p:sp>
        <p:nvSpPr>
          <p:cNvPr id="88" name="Shape 86"/>
          <p:cNvSpPr/>
          <p:nvPr/>
        </p:nvSpPr>
        <p:spPr>
          <a:xfrm flipV="1">
            <a:off x="1623060" y="3680954"/>
            <a:ext cx="50292" cy="71928"/>
          </a:xfrm>
          <a:prstGeom prst="line">
            <a:avLst/>
          </a:prstGeom>
          <a:noFill/>
          <a:ln w="31750">
            <a:solidFill>
              <a:srgbClr val="C8414C"/>
            </a:solidFill>
            <a:prstDash val="solid"/>
          </a:ln>
        </p:spPr>
      </p:sp>
      <p:sp>
        <p:nvSpPr>
          <p:cNvPr id="89" name="Shape 87"/>
          <p:cNvSpPr/>
          <p:nvPr/>
        </p:nvSpPr>
        <p:spPr>
          <a:xfrm flipV="1">
            <a:off x="1673352" y="3623085"/>
            <a:ext cx="50292" cy="57868"/>
          </a:xfrm>
          <a:prstGeom prst="line">
            <a:avLst/>
          </a:prstGeom>
          <a:noFill/>
          <a:ln w="31750">
            <a:solidFill>
              <a:srgbClr val="C8414C"/>
            </a:solidFill>
            <a:prstDash val="solid"/>
          </a:ln>
        </p:spPr>
      </p:sp>
      <p:sp>
        <p:nvSpPr>
          <p:cNvPr id="90" name="Shape 88"/>
          <p:cNvSpPr/>
          <p:nvPr/>
        </p:nvSpPr>
        <p:spPr>
          <a:xfrm flipV="1">
            <a:off x="1723644" y="3580702"/>
            <a:ext cx="50292" cy="42383"/>
          </a:xfrm>
          <a:prstGeom prst="line">
            <a:avLst/>
          </a:prstGeom>
          <a:noFill/>
          <a:ln w="31750">
            <a:solidFill>
              <a:srgbClr val="C8414C"/>
            </a:solidFill>
            <a:prstDash val="solid"/>
          </a:ln>
        </p:spPr>
      </p:sp>
      <p:sp>
        <p:nvSpPr>
          <p:cNvPr id="91" name="Shape 89"/>
          <p:cNvSpPr/>
          <p:nvPr/>
        </p:nvSpPr>
        <p:spPr>
          <a:xfrm flipV="1">
            <a:off x="1773936" y="3554847"/>
            <a:ext cx="50292" cy="25855"/>
          </a:xfrm>
          <a:prstGeom prst="line">
            <a:avLst/>
          </a:prstGeom>
          <a:noFill/>
          <a:ln w="31750">
            <a:solidFill>
              <a:srgbClr val="C8414C"/>
            </a:solidFill>
            <a:prstDash val="solid"/>
          </a:ln>
        </p:spPr>
      </p:sp>
      <p:sp>
        <p:nvSpPr>
          <p:cNvPr id="92" name="Shape 90"/>
          <p:cNvSpPr/>
          <p:nvPr/>
        </p:nvSpPr>
        <p:spPr>
          <a:xfrm flipV="1">
            <a:off x="1824228" y="3546158"/>
            <a:ext cx="50292" cy="8690"/>
          </a:xfrm>
          <a:prstGeom prst="line">
            <a:avLst/>
          </a:prstGeom>
          <a:noFill/>
          <a:ln w="31750">
            <a:solidFill>
              <a:srgbClr val="C8414C"/>
            </a:solidFill>
            <a:prstDash val="solid"/>
          </a:ln>
        </p:spPr>
      </p:sp>
      <p:sp>
        <p:nvSpPr>
          <p:cNvPr id="93" name="Shape 91"/>
          <p:cNvSpPr/>
          <p:nvPr/>
        </p:nvSpPr>
        <p:spPr>
          <a:xfrm>
            <a:off x="1874520" y="3546158"/>
            <a:ext cx="50292" cy="8690"/>
          </a:xfrm>
          <a:prstGeom prst="line">
            <a:avLst/>
          </a:prstGeom>
          <a:noFill/>
          <a:ln w="31750">
            <a:solidFill>
              <a:srgbClr val="C8414C"/>
            </a:solidFill>
            <a:prstDash val="solid"/>
          </a:ln>
        </p:spPr>
      </p:sp>
      <p:sp>
        <p:nvSpPr>
          <p:cNvPr id="94" name="Shape 92"/>
          <p:cNvSpPr/>
          <p:nvPr/>
        </p:nvSpPr>
        <p:spPr>
          <a:xfrm>
            <a:off x="1924812" y="3554847"/>
            <a:ext cx="50292" cy="25855"/>
          </a:xfrm>
          <a:prstGeom prst="line">
            <a:avLst/>
          </a:prstGeom>
          <a:noFill/>
          <a:ln w="31750">
            <a:solidFill>
              <a:srgbClr val="C8414C"/>
            </a:solidFill>
            <a:prstDash val="solid"/>
          </a:ln>
        </p:spPr>
      </p:sp>
      <p:sp>
        <p:nvSpPr>
          <p:cNvPr id="95" name="Shape 93"/>
          <p:cNvSpPr/>
          <p:nvPr/>
        </p:nvSpPr>
        <p:spPr>
          <a:xfrm>
            <a:off x="1975104" y="3580702"/>
            <a:ext cx="50292" cy="42383"/>
          </a:xfrm>
          <a:prstGeom prst="line">
            <a:avLst/>
          </a:prstGeom>
          <a:noFill/>
          <a:ln w="31750">
            <a:solidFill>
              <a:srgbClr val="C8414C"/>
            </a:solidFill>
            <a:prstDash val="solid"/>
          </a:ln>
        </p:spPr>
      </p:sp>
      <p:sp>
        <p:nvSpPr>
          <p:cNvPr id="96" name="Shape 94"/>
          <p:cNvSpPr/>
          <p:nvPr/>
        </p:nvSpPr>
        <p:spPr>
          <a:xfrm>
            <a:off x="2025396" y="3623085"/>
            <a:ext cx="50292" cy="57868"/>
          </a:xfrm>
          <a:prstGeom prst="line">
            <a:avLst/>
          </a:prstGeom>
          <a:noFill/>
          <a:ln w="31750">
            <a:solidFill>
              <a:srgbClr val="C8414C"/>
            </a:solidFill>
            <a:prstDash val="solid"/>
          </a:ln>
        </p:spPr>
      </p:sp>
      <p:sp>
        <p:nvSpPr>
          <p:cNvPr id="97" name="Shape 95"/>
          <p:cNvSpPr/>
          <p:nvPr/>
        </p:nvSpPr>
        <p:spPr>
          <a:xfrm>
            <a:off x="2075688" y="3680954"/>
            <a:ext cx="50292" cy="71928"/>
          </a:xfrm>
          <a:prstGeom prst="line">
            <a:avLst/>
          </a:prstGeom>
          <a:noFill/>
          <a:ln w="31750">
            <a:solidFill>
              <a:srgbClr val="C8414C"/>
            </a:solidFill>
            <a:prstDash val="solid"/>
          </a:ln>
        </p:spPr>
      </p:sp>
      <p:sp>
        <p:nvSpPr>
          <p:cNvPr id="98" name="Shape 96"/>
          <p:cNvSpPr/>
          <p:nvPr/>
        </p:nvSpPr>
        <p:spPr>
          <a:xfrm>
            <a:off x="2125980" y="3752882"/>
            <a:ext cx="50292" cy="84217"/>
          </a:xfrm>
          <a:prstGeom prst="line">
            <a:avLst/>
          </a:prstGeom>
          <a:noFill/>
          <a:ln w="31750">
            <a:solidFill>
              <a:srgbClr val="C8414C"/>
            </a:solidFill>
            <a:prstDash val="solid"/>
          </a:ln>
        </p:spPr>
      </p:sp>
      <p:sp>
        <p:nvSpPr>
          <p:cNvPr id="99" name="Shape 97"/>
          <p:cNvSpPr/>
          <p:nvPr/>
        </p:nvSpPr>
        <p:spPr>
          <a:xfrm>
            <a:off x="2176272" y="3837100"/>
            <a:ext cx="50292" cy="94433"/>
          </a:xfrm>
          <a:prstGeom prst="line">
            <a:avLst/>
          </a:prstGeom>
          <a:noFill/>
          <a:ln w="31750">
            <a:solidFill>
              <a:srgbClr val="C8414C"/>
            </a:solidFill>
            <a:prstDash val="solid"/>
          </a:ln>
        </p:spPr>
      </p:sp>
      <p:sp>
        <p:nvSpPr>
          <p:cNvPr id="100" name="Shape 98"/>
          <p:cNvSpPr/>
          <p:nvPr/>
        </p:nvSpPr>
        <p:spPr>
          <a:xfrm>
            <a:off x="2226564" y="3931532"/>
            <a:ext cx="50292" cy="102323"/>
          </a:xfrm>
          <a:prstGeom prst="line">
            <a:avLst/>
          </a:prstGeom>
          <a:noFill/>
          <a:ln w="31750">
            <a:solidFill>
              <a:srgbClr val="C8414C"/>
            </a:solidFill>
            <a:prstDash val="solid"/>
          </a:ln>
        </p:spPr>
      </p:sp>
      <p:sp>
        <p:nvSpPr>
          <p:cNvPr id="101" name="Shape 99"/>
          <p:cNvSpPr/>
          <p:nvPr/>
        </p:nvSpPr>
        <p:spPr>
          <a:xfrm>
            <a:off x="2276856" y="4033855"/>
            <a:ext cx="50292" cy="107693"/>
          </a:xfrm>
          <a:prstGeom prst="line">
            <a:avLst/>
          </a:prstGeom>
          <a:noFill/>
          <a:ln w="31750">
            <a:solidFill>
              <a:srgbClr val="C8414C"/>
            </a:solidFill>
            <a:prstDash val="solid"/>
          </a:ln>
        </p:spPr>
      </p:sp>
      <p:sp>
        <p:nvSpPr>
          <p:cNvPr id="102" name="Shape 100"/>
          <p:cNvSpPr/>
          <p:nvPr/>
        </p:nvSpPr>
        <p:spPr>
          <a:xfrm>
            <a:off x="2327148" y="4141548"/>
            <a:ext cx="50292" cy="110412"/>
          </a:xfrm>
          <a:prstGeom prst="line">
            <a:avLst/>
          </a:prstGeom>
          <a:noFill/>
          <a:ln w="31750">
            <a:solidFill>
              <a:srgbClr val="C8414C"/>
            </a:solidFill>
            <a:prstDash val="solid"/>
          </a:ln>
        </p:spPr>
      </p:sp>
      <p:sp>
        <p:nvSpPr>
          <p:cNvPr id="103" name="Shape 101"/>
          <p:cNvSpPr/>
          <p:nvPr/>
        </p:nvSpPr>
        <p:spPr>
          <a:xfrm>
            <a:off x="2377440" y="4251960"/>
            <a:ext cx="50292" cy="110412"/>
          </a:xfrm>
          <a:prstGeom prst="line">
            <a:avLst/>
          </a:prstGeom>
          <a:noFill/>
          <a:ln w="31750">
            <a:solidFill>
              <a:srgbClr val="C8414C"/>
            </a:solidFill>
            <a:prstDash val="solid"/>
          </a:ln>
        </p:spPr>
      </p:sp>
      <p:sp>
        <p:nvSpPr>
          <p:cNvPr id="104" name="Shape 102"/>
          <p:cNvSpPr/>
          <p:nvPr/>
        </p:nvSpPr>
        <p:spPr>
          <a:xfrm>
            <a:off x="2427732" y="4362372"/>
            <a:ext cx="50292" cy="107693"/>
          </a:xfrm>
          <a:prstGeom prst="line">
            <a:avLst/>
          </a:prstGeom>
          <a:noFill/>
          <a:ln w="31750">
            <a:solidFill>
              <a:srgbClr val="C8414C"/>
            </a:solidFill>
            <a:prstDash val="solid"/>
          </a:ln>
        </p:spPr>
      </p:sp>
      <p:sp>
        <p:nvSpPr>
          <p:cNvPr id="105" name="Shape 103"/>
          <p:cNvSpPr/>
          <p:nvPr/>
        </p:nvSpPr>
        <p:spPr>
          <a:xfrm>
            <a:off x="2478024" y="4470065"/>
            <a:ext cx="50292" cy="102323"/>
          </a:xfrm>
          <a:prstGeom prst="line">
            <a:avLst/>
          </a:prstGeom>
          <a:noFill/>
          <a:ln w="31750">
            <a:solidFill>
              <a:srgbClr val="C8414C"/>
            </a:solidFill>
            <a:prstDash val="solid"/>
          </a:ln>
        </p:spPr>
      </p:sp>
      <p:sp>
        <p:nvSpPr>
          <p:cNvPr id="106" name="Shape 104"/>
          <p:cNvSpPr/>
          <p:nvPr/>
        </p:nvSpPr>
        <p:spPr>
          <a:xfrm>
            <a:off x="2528316" y="4572388"/>
            <a:ext cx="50292" cy="94433"/>
          </a:xfrm>
          <a:prstGeom prst="line">
            <a:avLst/>
          </a:prstGeom>
          <a:noFill/>
          <a:ln w="31750">
            <a:solidFill>
              <a:srgbClr val="C8414C"/>
            </a:solidFill>
            <a:prstDash val="solid"/>
          </a:ln>
        </p:spPr>
      </p:sp>
      <p:sp>
        <p:nvSpPr>
          <p:cNvPr id="107" name="Shape 105"/>
          <p:cNvSpPr/>
          <p:nvPr/>
        </p:nvSpPr>
        <p:spPr>
          <a:xfrm>
            <a:off x="2578608" y="4666820"/>
            <a:ext cx="50292" cy="84217"/>
          </a:xfrm>
          <a:prstGeom prst="line">
            <a:avLst/>
          </a:prstGeom>
          <a:noFill/>
          <a:ln w="31750">
            <a:solidFill>
              <a:srgbClr val="C8414C"/>
            </a:solidFill>
            <a:prstDash val="solid"/>
          </a:ln>
        </p:spPr>
      </p:sp>
      <p:sp>
        <p:nvSpPr>
          <p:cNvPr id="108" name="Shape 106"/>
          <p:cNvSpPr/>
          <p:nvPr/>
        </p:nvSpPr>
        <p:spPr>
          <a:xfrm>
            <a:off x="2628900" y="4751038"/>
            <a:ext cx="50292" cy="71928"/>
          </a:xfrm>
          <a:prstGeom prst="line">
            <a:avLst/>
          </a:prstGeom>
          <a:noFill/>
          <a:ln w="31750">
            <a:solidFill>
              <a:srgbClr val="C8414C"/>
            </a:solidFill>
            <a:prstDash val="solid"/>
          </a:ln>
        </p:spPr>
      </p:sp>
      <p:sp>
        <p:nvSpPr>
          <p:cNvPr id="109" name="Shape 107"/>
          <p:cNvSpPr/>
          <p:nvPr/>
        </p:nvSpPr>
        <p:spPr>
          <a:xfrm>
            <a:off x="2679192" y="4822966"/>
            <a:ext cx="50292" cy="57868"/>
          </a:xfrm>
          <a:prstGeom prst="line">
            <a:avLst/>
          </a:prstGeom>
          <a:noFill/>
          <a:ln w="31750">
            <a:solidFill>
              <a:srgbClr val="C8414C"/>
            </a:solidFill>
            <a:prstDash val="solid"/>
          </a:ln>
        </p:spPr>
      </p:sp>
      <p:sp>
        <p:nvSpPr>
          <p:cNvPr id="110" name="Shape 108"/>
          <p:cNvSpPr/>
          <p:nvPr/>
        </p:nvSpPr>
        <p:spPr>
          <a:xfrm>
            <a:off x="2729484" y="4880835"/>
            <a:ext cx="50292" cy="42383"/>
          </a:xfrm>
          <a:prstGeom prst="line">
            <a:avLst/>
          </a:prstGeom>
          <a:noFill/>
          <a:ln w="31750">
            <a:solidFill>
              <a:srgbClr val="C8414C"/>
            </a:solidFill>
            <a:prstDash val="solid"/>
          </a:ln>
        </p:spPr>
      </p:sp>
      <p:sp>
        <p:nvSpPr>
          <p:cNvPr id="111" name="Shape 109"/>
          <p:cNvSpPr/>
          <p:nvPr/>
        </p:nvSpPr>
        <p:spPr>
          <a:xfrm>
            <a:off x="2779776" y="4923218"/>
            <a:ext cx="50292" cy="25855"/>
          </a:xfrm>
          <a:prstGeom prst="line">
            <a:avLst/>
          </a:prstGeom>
          <a:noFill/>
          <a:ln w="31750">
            <a:solidFill>
              <a:srgbClr val="C8414C"/>
            </a:solidFill>
            <a:prstDash val="solid"/>
          </a:ln>
        </p:spPr>
      </p:sp>
      <p:sp>
        <p:nvSpPr>
          <p:cNvPr id="112" name="Shape 110"/>
          <p:cNvSpPr/>
          <p:nvPr/>
        </p:nvSpPr>
        <p:spPr>
          <a:xfrm>
            <a:off x="2830068" y="4949073"/>
            <a:ext cx="50292" cy="8690"/>
          </a:xfrm>
          <a:prstGeom prst="line">
            <a:avLst/>
          </a:prstGeom>
          <a:noFill/>
          <a:ln w="31750">
            <a:solidFill>
              <a:srgbClr val="C8414C"/>
            </a:solidFill>
            <a:prstDash val="solid"/>
          </a:ln>
        </p:spPr>
      </p:sp>
      <p:sp>
        <p:nvSpPr>
          <p:cNvPr id="113" name="Shape 111"/>
          <p:cNvSpPr/>
          <p:nvPr/>
        </p:nvSpPr>
        <p:spPr>
          <a:xfrm flipV="1">
            <a:off x="2880360" y="4949073"/>
            <a:ext cx="50292" cy="8690"/>
          </a:xfrm>
          <a:prstGeom prst="line">
            <a:avLst/>
          </a:prstGeom>
          <a:noFill/>
          <a:ln w="31750">
            <a:solidFill>
              <a:srgbClr val="C8414C"/>
            </a:solidFill>
            <a:prstDash val="solid"/>
          </a:ln>
        </p:spPr>
      </p:sp>
      <p:sp>
        <p:nvSpPr>
          <p:cNvPr id="114" name="Shape 112"/>
          <p:cNvSpPr/>
          <p:nvPr/>
        </p:nvSpPr>
        <p:spPr>
          <a:xfrm flipV="1">
            <a:off x="2930652" y="4923218"/>
            <a:ext cx="50292" cy="25855"/>
          </a:xfrm>
          <a:prstGeom prst="line">
            <a:avLst/>
          </a:prstGeom>
          <a:noFill/>
          <a:ln w="31750">
            <a:solidFill>
              <a:srgbClr val="C8414C"/>
            </a:solidFill>
            <a:prstDash val="solid"/>
          </a:ln>
        </p:spPr>
      </p:sp>
      <p:sp>
        <p:nvSpPr>
          <p:cNvPr id="115" name="Shape 113"/>
          <p:cNvSpPr/>
          <p:nvPr/>
        </p:nvSpPr>
        <p:spPr>
          <a:xfrm flipV="1">
            <a:off x="2980944" y="4880835"/>
            <a:ext cx="50292" cy="42383"/>
          </a:xfrm>
          <a:prstGeom prst="line">
            <a:avLst/>
          </a:prstGeom>
          <a:noFill/>
          <a:ln w="31750">
            <a:solidFill>
              <a:srgbClr val="C8414C"/>
            </a:solidFill>
            <a:prstDash val="solid"/>
          </a:ln>
        </p:spPr>
      </p:sp>
      <p:sp>
        <p:nvSpPr>
          <p:cNvPr id="116" name="Shape 114"/>
          <p:cNvSpPr/>
          <p:nvPr/>
        </p:nvSpPr>
        <p:spPr>
          <a:xfrm flipV="1">
            <a:off x="3031236" y="4822966"/>
            <a:ext cx="50292" cy="57868"/>
          </a:xfrm>
          <a:prstGeom prst="line">
            <a:avLst/>
          </a:prstGeom>
          <a:noFill/>
          <a:ln w="31750">
            <a:solidFill>
              <a:srgbClr val="C8414C"/>
            </a:solidFill>
            <a:prstDash val="solid"/>
          </a:ln>
        </p:spPr>
      </p:sp>
      <p:sp>
        <p:nvSpPr>
          <p:cNvPr id="117" name="Shape 115"/>
          <p:cNvSpPr/>
          <p:nvPr/>
        </p:nvSpPr>
        <p:spPr>
          <a:xfrm flipV="1">
            <a:off x="3081528" y="4751038"/>
            <a:ext cx="50292" cy="71928"/>
          </a:xfrm>
          <a:prstGeom prst="line">
            <a:avLst/>
          </a:prstGeom>
          <a:noFill/>
          <a:ln w="31750">
            <a:solidFill>
              <a:srgbClr val="C8414C"/>
            </a:solidFill>
            <a:prstDash val="solid"/>
          </a:ln>
        </p:spPr>
      </p:sp>
      <p:sp>
        <p:nvSpPr>
          <p:cNvPr id="118" name="Shape 116"/>
          <p:cNvSpPr/>
          <p:nvPr/>
        </p:nvSpPr>
        <p:spPr>
          <a:xfrm flipV="1">
            <a:off x="3131820" y="4666820"/>
            <a:ext cx="50292" cy="84217"/>
          </a:xfrm>
          <a:prstGeom prst="line">
            <a:avLst/>
          </a:prstGeom>
          <a:noFill/>
          <a:ln w="31750">
            <a:solidFill>
              <a:srgbClr val="C8414C"/>
            </a:solidFill>
            <a:prstDash val="solid"/>
          </a:ln>
        </p:spPr>
      </p:sp>
      <p:sp>
        <p:nvSpPr>
          <p:cNvPr id="119" name="Shape 117"/>
          <p:cNvSpPr/>
          <p:nvPr/>
        </p:nvSpPr>
        <p:spPr>
          <a:xfrm flipV="1">
            <a:off x="3182112" y="4572388"/>
            <a:ext cx="50292" cy="94433"/>
          </a:xfrm>
          <a:prstGeom prst="line">
            <a:avLst/>
          </a:prstGeom>
          <a:noFill/>
          <a:ln w="31750">
            <a:solidFill>
              <a:srgbClr val="C8414C"/>
            </a:solidFill>
            <a:prstDash val="solid"/>
          </a:ln>
        </p:spPr>
      </p:sp>
      <p:sp>
        <p:nvSpPr>
          <p:cNvPr id="120" name="Shape 118"/>
          <p:cNvSpPr/>
          <p:nvPr/>
        </p:nvSpPr>
        <p:spPr>
          <a:xfrm flipV="1">
            <a:off x="3232404" y="4470065"/>
            <a:ext cx="50292" cy="102323"/>
          </a:xfrm>
          <a:prstGeom prst="line">
            <a:avLst/>
          </a:prstGeom>
          <a:noFill/>
          <a:ln w="31750">
            <a:solidFill>
              <a:srgbClr val="C8414C"/>
            </a:solidFill>
            <a:prstDash val="solid"/>
          </a:ln>
        </p:spPr>
      </p:sp>
      <p:sp>
        <p:nvSpPr>
          <p:cNvPr id="121" name="Shape 119"/>
          <p:cNvSpPr/>
          <p:nvPr/>
        </p:nvSpPr>
        <p:spPr>
          <a:xfrm flipV="1">
            <a:off x="3282696" y="4362372"/>
            <a:ext cx="50292" cy="107693"/>
          </a:xfrm>
          <a:prstGeom prst="line">
            <a:avLst/>
          </a:prstGeom>
          <a:noFill/>
          <a:ln w="31750">
            <a:solidFill>
              <a:srgbClr val="C8414C"/>
            </a:solidFill>
            <a:prstDash val="solid"/>
          </a:ln>
        </p:spPr>
      </p:sp>
      <p:sp>
        <p:nvSpPr>
          <p:cNvPr id="122" name="Shape 120"/>
          <p:cNvSpPr/>
          <p:nvPr/>
        </p:nvSpPr>
        <p:spPr>
          <a:xfrm flipV="1">
            <a:off x="3332988" y="4251960"/>
            <a:ext cx="50292" cy="110412"/>
          </a:xfrm>
          <a:prstGeom prst="line">
            <a:avLst/>
          </a:prstGeom>
          <a:noFill/>
          <a:ln w="31750">
            <a:solidFill>
              <a:srgbClr val="C8414C"/>
            </a:solidFill>
            <a:prstDash val="solid"/>
          </a:ln>
        </p:spPr>
      </p:sp>
      <p:sp>
        <p:nvSpPr>
          <p:cNvPr id="123" name="Shape 121"/>
          <p:cNvSpPr/>
          <p:nvPr/>
        </p:nvSpPr>
        <p:spPr>
          <a:xfrm flipV="1">
            <a:off x="3383280" y="4141548"/>
            <a:ext cx="50292" cy="110412"/>
          </a:xfrm>
          <a:prstGeom prst="line">
            <a:avLst/>
          </a:prstGeom>
          <a:noFill/>
          <a:ln w="31750">
            <a:solidFill>
              <a:srgbClr val="C8414C"/>
            </a:solidFill>
            <a:prstDash val="solid"/>
          </a:ln>
        </p:spPr>
      </p:sp>
      <p:sp>
        <p:nvSpPr>
          <p:cNvPr id="124" name="Shape 122"/>
          <p:cNvSpPr/>
          <p:nvPr/>
        </p:nvSpPr>
        <p:spPr>
          <a:xfrm flipV="1">
            <a:off x="3433572" y="4033855"/>
            <a:ext cx="50292" cy="107693"/>
          </a:xfrm>
          <a:prstGeom prst="line">
            <a:avLst/>
          </a:prstGeom>
          <a:noFill/>
          <a:ln w="31750">
            <a:solidFill>
              <a:srgbClr val="C8414C"/>
            </a:solidFill>
            <a:prstDash val="solid"/>
          </a:ln>
        </p:spPr>
      </p:sp>
      <p:sp>
        <p:nvSpPr>
          <p:cNvPr id="125" name="Shape 123"/>
          <p:cNvSpPr/>
          <p:nvPr/>
        </p:nvSpPr>
        <p:spPr>
          <a:xfrm flipV="1">
            <a:off x="3483864" y="3931532"/>
            <a:ext cx="50292" cy="102323"/>
          </a:xfrm>
          <a:prstGeom prst="line">
            <a:avLst/>
          </a:prstGeom>
          <a:noFill/>
          <a:ln w="31750">
            <a:solidFill>
              <a:srgbClr val="C8414C"/>
            </a:solidFill>
            <a:prstDash val="solid"/>
          </a:ln>
        </p:spPr>
      </p:sp>
      <p:sp>
        <p:nvSpPr>
          <p:cNvPr id="126" name="Shape 124"/>
          <p:cNvSpPr/>
          <p:nvPr/>
        </p:nvSpPr>
        <p:spPr>
          <a:xfrm flipV="1">
            <a:off x="3534156" y="3837100"/>
            <a:ext cx="50292" cy="94433"/>
          </a:xfrm>
          <a:prstGeom prst="line">
            <a:avLst/>
          </a:prstGeom>
          <a:noFill/>
          <a:ln w="31750">
            <a:solidFill>
              <a:srgbClr val="C8414C"/>
            </a:solidFill>
            <a:prstDash val="solid"/>
          </a:ln>
        </p:spPr>
      </p:sp>
      <p:sp>
        <p:nvSpPr>
          <p:cNvPr id="127" name="Shape 125"/>
          <p:cNvSpPr/>
          <p:nvPr/>
        </p:nvSpPr>
        <p:spPr>
          <a:xfrm flipV="1">
            <a:off x="3584448" y="3752882"/>
            <a:ext cx="50292" cy="84217"/>
          </a:xfrm>
          <a:prstGeom prst="line">
            <a:avLst/>
          </a:prstGeom>
          <a:noFill/>
          <a:ln w="31750">
            <a:solidFill>
              <a:srgbClr val="C8414C"/>
            </a:solidFill>
            <a:prstDash val="solid"/>
          </a:ln>
        </p:spPr>
      </p:sp>
      <p:sp>
        <p:nvSpPr>
          <p:cNvPr id="128" name="Shape 126"/>
          <p:cNvSpPr/>
          <p:nvPr/>
        </p:nvSpPr>
        <p:spPr>
          <a:xfrm flipV="1">
            <a:off x="3634740" y="3680954"/>
            <a:ext cx="50292" cy="71928"/>
          </a:xfrm>
          <a:prstGeom prst="line">
            <a:avLst/>
          </a:prstGeom>
          <a:noFill/>
          <a:ln w="31750">
            <a:solidFill>
              <a:srgbClr val="C8414C"/>
            </a:solidFill>
            <a:prstDash val="solid"/>
          </a:ln>
        </p:spPr>
      </p:sp>
      <p:sp>
        <p:nvSpPr>
          <p:cNvPr id="129" name="Shape 127"/>
          <p:cNvSpPr/>
          <p:nvPr/>
        </p:nvSpPr>
        <p:spPr>
          <a:xfrm flipV="1">
            <a:off x="3685032" y="3623085"/>
            <a:ext cx="50292" cy="57868"/>
          </a:xfrm>
          <a:prstGeom prst="line">
            <a:avLst/>
          </a:prstGeom>
          <a:noFill/>
          <a:ln w="31750">
            <a:solidFill>
              <a:srgbClr val="C8414C"/>
            </a:solidFill>
            <a:prstDash val="solid"/>
          </a:ln>
        </p:spPr>
      </p:sp>
      <p:sp>
        <p:nvSpPr>
          <p:cNvPr id="130" name="Shape 128"/>
          <p:cNvSpPr/>
          <p:nvPr/>
        </p:nvSpPr>
        <p:spPr>
          <a:xfrm flipV="1">
            <a:off x="3735324" y="3580702"/>
            <a:ext cx="50292" cy="42383"/>
          </a:xfrm>
          <a:prstGeom prst="line">
            <a:avLst/>
          </a:prstGeom>
          <a:noFill/>
          <a:ln w="31750">
            <a:solidFill>
              <a:srgbClr val="C8414C"/>
            </a:solidFill>
            <a:prstDash val="solid"/>
          </a:ln>
        </p:spPr>
      </p:sp>
      <p:sp>
        <p:nvSpPr>
          <p:cNvPr id="131" name="Shape 129"/>
          <p:cNvSpPr/>
          <p:nvPr/>
        </p:nvSpPr>
        <p:spPr>
          <a:xfrm flipV="1">
            <a:off x="3785616" y="3554847"/>
            <a:ext cx="50292" cy="25855"/>
          </a:xfrm>
          <a:prstGeom prst="line">
            <a:avLst/>
          </a:prstGeom>
          <a:noFill/>
          <a:ln w="31750">
            <a:solidFill>
              <a:srgbClr val="C8414C"/>
            </a:solidFill>
            <a:prstDash val="solid"/>
          </a:ln>
        </p:spPr>
      </p:sp>
      <p:sp>
        <p:nvSpPr>
          <p:cNvPr id="132" name="Shape 130"/>
          <p:cNvSpPr/>
          <p:nvPr/>
        </p:nvSpPr>
        <p:spPr>
          <a:xfrm flipV="1">
            <a:off x="3835908" y="3546158"/>
            <a:ext cx="50292" cy="8690"/>
          </a:xfrm>
          <a:prstGeom prst="line">
            <a:avLst/>
          </a:prstGeom>
          <a:noFill/>
          <a:ln w="31750">
            <a:solidFill>
              <a:srgbClr val="C8414C"/>
            </a:solidFill>
            <a:prstDash val="solid"/>
          </a:ln>
        </p:spPr>
      </p:sp>
      <p:sp>
        <p:nvSpPr>
          <p:cNvPr id="133" name="Shape 131"/>
          <p:cNvSpPr/>
          <p:nvPr/>
        </p:nvSpPr>
        <p:spPr>
          <a:xfrm>
            <a:off x="3886200" y="3546158"/>
            <a:ext cx="50292" cy="8690"/>
          </a:xfrm>
          <a:prstGeom prst="line">
            <a:avLst/>
          </a:prstGeom>
          <a:noFill/>
          <a:ln w="31750">
            <a:solidFill>
              <a:srgbClr val="C8414C"/>
            </a:solidFill>
            <a:prstDash val="solid"/>
          </a:ln>
        </p:spPr>
      </p:sp>
      <p:sp>
        <p:nvSpPr>
          <p:cNvPr id="134" name="Shape 132"/>
          <p:cNvSpPr/>
          <p:nvPr/>
        </p:nvSpPr>
        <p:spPr>
          <a:xfrm>
            <a:off x="3936492" y="3554847"/>
            <a:ext cx="50292" cy="25855"/>
          </a:xfrm>
          <a:prstGeom prst="line">
            <a:avLst/>
          </a:prstGeom>
          <a:noFill/>
          <a:ln w="31750">
            <a:solidFill>
              <a:srgbClr val="C8414C"/>
            </a:solidFill>
            <a:prstDash val="solid"/>
          </a:ln>
        </p:spPr>
      </p:sp>
      <p:sp>
        <p:nvSpPr>
          <p:cNvPr id="135" name="Shape 133"/>
          <p:cNvSpPr/>
          <p:nvPr/>
        </p:nvSpPr>
        <p:spPr>
          <a:xfrm>
            <a:off x="3986784" y="3580702"/>
            <a:ext cx="50292" cy="42383"/>
          </a:xfrm>
          <a:prstGeom prst="line">
            <a:avLst/>
          </a:prstGeom>
          <a:noFill/>
          <a:ln w="31750">
            <a:solidFill>
              <a:srgbClr val="C8414C"/>
            </a:solidFill>
            <a:prstDash val="solid"/>
          </a:ln>
        </p:spPr>
      </p:sp>
      <p:sp>
        <p:nvSpPr>
          <p:cNvPr id="136" name="Shape 134"/>
          <p:cNvSpPr/>
          <p:nvPr/>
        </p:nvSpPr>
        <p:spPr>
          <a:xfrm>
            <a:off x="4037076" y="3623085"/>
            <a:ext cx="50292" cy="57868"/>
          </a:xfrm>
          <a:prstGeom prst="line">
            <a:avLst/>
          </a:prstGeom>
          <a:noFill/>
          <a:ln w="31750">
            <a:solidFill>
              <a:srgbClr val="C8414C"/>
            </a:solidFill>
            <a:prstDash val="solid"/>
          </a:ln>
        </p:spPr>
      </p:sp>
      <p:sp>
        <p:nvSpPr>
          <p:cNvPr id="137" name="Shape 135"/>
          <p:cNvSpPr/>
          <p:nvPr/>
        </p:nvSpPr>
        <p:spPr>
          <a:xfrm>
            <a:off x="4087368" y="3680954"/>
            <a:ext cx="50292" cy="71928"/>
          </a:xfrm>
          <a:prstGeom prst="line">
            <a:avLst/>
          </a:prstGeom>
          <a:noFill/>
          <a:ln w="31750">
            <a:solidFill>
              <a:srgbClr val="C8414C"/>
            </a:solidFill>
            <a:prstDash val="solid"/>
          </a:ln>
        </p:spPr>
      </p:sp>
      <p:sp>
        <p:nvSpPr>
          <p:cNvPr id="138" name="Shape 136"/>
          <p:cNvSpPr/>
          <p:nvPr/>
        </p:nvSpPr>
        <p:spPr>
          <a:xfrm>
            <a:off x="4137660" y="3752882"/>
            <a:ext cx="50292" cy="84217"/>
          </a:xfrm>
          <a:prstGeom prst="line">
            <a:avLst/>
          </a:prstGeom>
          <a:noFill/>
          <a:ln w="31750">
            <a:solidFill>
              <a:srgbClr val="C8414C"/>
            </a:solidFill>
            <a:prstDash val="solid"/>
          </a:ln>
        </p:spPr>
      </p:sp>
      <p:sp>
        <p:nvSpPr>
          <p:cNvPr id="139" name="Shape 137"/>
          <p:cNvSpPr/>
          <p:nvPr/>
        </p:nvSpPr>
        <p:spPr>
          <a:xfrm>
            <a:off x="4187952" y="3837100"/>
            <a:ext cx="50292" cy="94433"/>
          </a:xfrm>
          <a:prstGeom prst="line">
            <a:avLst/>
          </a:prstGeom>
          <a:noFill/>
          <a:ln w="31750">
            <a:solidFill>
              <a:srgbClr val="C8414C"/>
            </a:solidFill>
            <a:prstDash val="solid"/>
          </a:ln>
        </p:spPr>
      </p:sp>
      <p:sp>
        <p:nvSpPr>
          <p:cNvPr id="140" name="Shape 138"/>
          <p:cNvSpPr/>
          <p:nvPr/>
        </p:nvSpPr>
        <p:spPr>
          <a:xfrm>
            <a:off x="4238244" y="3931532"/>
            <a:ext cx="50292" cy="102323"/>
          </a:xfrm>
          <a:prstGeom prst="line">
            <a:avLst/>
          </a:prstGeom>
          <a:noFill/>
          <a:ln w="31750">
            <a:solidFill>
              <a:srgbClr val="C8414C"/>
            </a:solidFill>
            <a:prstDash val="solid"/>
          </a:ln>
        </p:spPr>
      </p:sp>
      <p:sp>
        <p:nvSpPr>
          <p:cNvPr id="141" name="Shape 139"/>
          <p:cNvSpPr/>
          <p:nvPr/>
        </p:nvSpPr>
        <p:spPr>
          <a:xfrm>
            <a:off x="4288536" y="4033855"/>
            <a:ext cx="50292" cy="107693"/>
          </a:xfrm>
          <a:prstGeom prst="line">
            <a:avLst/>
          </a:prstGeom>
          <a:noFill/>
          <a:ln w="31750">
            <a:solidFill>
              <a:srgbClr val="C8414C"/>
            </a:solidFill>
            <a:prstDash val="solid"/>
          </a:ln>
        </p:spPr>
      </p:sp>
      <p:sp>
        <p:nvSpPr>
          <p:cNvPr id="142" name="Shape 140"/>
          <p:cNvSpPr/>
          <p:nvPr/>
        </p:nvSpPr>
        <p:spPr>
          <a:xfrm>
            <a:off x="4338828" y="4141548"/>
            <a:ext cx="50292" cy="110412"/>
          </a:xfrm>
          <a:prstGeom prst="line">
            <a:avLst/>
          </a:prstGeom>
          <a:noFill/>
          <a:ln w="31750">
            <a:solidFill>
              <a:srgbClr val="C8414C"/>
            </a:solidFill>
            <a:prstDash val="solid"/>
          </a:ln>
        </p:spPr>
      </p:sp>
      <p:sp>
        <p:nvSpPr>
          <p:cNvPr id="143" name="Shape 141"/>
          <p:cNvSpPr/>
          <p:nvPr/>
        </p:nvSpPr>
        <p:spPr>
          <a:xfrm>
            <a:off x="4389120" y="4251960"/>
            <a:ext cx="50292" cy="110412"/>
          </a:xfrm>
          <a:prstGeom prst="line">
            <a:avLst/>
          </a:prstGeom>
          <a:noFill/>
          <a:ln w="31750">
            <a:solidFill>
              <a:srgbClr val="C8414C"/>
            </a:solidFill>
            <a:prstDash val="solid"/>
          </a:ln>
        </p:spPr>
      </p:sp>
      <p:sp>
        <p:nvSpPr>
          <p:cNvPr id="144" name="Shape 142"/>
          <p:cNvSpPr/>
          <p:nvPr/>
        </p:nvSpPr>
        <p:spPr>
          <a:xfrm>
            <a:off x="4439412" y="4362372"/>
            <a:ext cx="50292" cy="107693"/>
          </a:xfrm>
          <a:prstGeom prst="line">
            <a:avLst/>
          </a:prstGeom>
          <a:noFill/>
          <a:ln w="31750">
            <a:solidFill>
              <a:srgbClr val="C8414C"/>
            </a:solidFill>
            <a:prstDash val="solid"/>
          </a:ln>
        </p:spPr>
      </p:sp>
      <p:sp>
        <p:nvSpPr>
          <p:cNvPr id="145" name="Shape 143"/>
          <p:cNvSpPr/>
          <p:nvPr/>
        </p:nvSpPr>
        <p:spPr>
          <a:xfrm>
            <a:off x="4489704" y="4470065"/>
            <a:ext cx="50292" cy="102323"/>
          </a:xfrm>
          <a:prstGeom prst="line">
            <a:avLst/>
          </a:prstGeom>
          <a:noFill/>
          <a:ln w="31750">
            <a:solidFill>
              <a:srgbClr val="C8414C"/>
            </a:solidFill>
            <a:prstDash val="solid"/>
          </a:ln>
        </p:spPr>
      </p:sp>
      <p:sp>
        <p:nvSpPr>
          <p:cNvPr id="146" name="Shape 144"/>
          <p:cNvSpPr/>
          <p:nvPr/>
        </p:nvSpPr>
        <p:spPr>
          <a:xfrm>
            <a:off x="4539996" y="4572388"/>
            <a:ext cx="50292" cy="94433"/>
          </a:xfrm>
          <a:prstGeom prst="line">
            <a:avLst/>
          </a:prstGeom>
          <a:noFill/>
          <a:ln w="31750">
            <a:solidFill>
              <a:srgbClr val="C8414C"/>
            </a:solidFill>
            <a:prstDash val="solid"/>
          </a:ln>
        </p:spPr>
      </p:sp>
      <p:sp>
        <p:nvSpPr>
          <p:cNvPr id="147" name="Shape 145"/>
          <p:cNvSpPr/>
          <p:nvPr/>
        </p:nvSpPr>
        <p:spPr>
          <a:xfrm>
            <a:off x="4590288" y="4666820"/>
            <a:ext cx="50292" cy="84217"/>
          </a:xfrm>
          <a:prstGeom prst="line">
            <a:avLst/>
          </a:prstGeom>
          <a:noFill/>
          <a:ln w="31750">
            <a:solidFill>
              <a:srgbClr val="C8414C"/>
            </a:solidFill>
            <a:prstDash val="solid"/>
          </a:ln>
        </p:spPr>
      </p:sp>
      <p:sp>
        <p:nvSpPr>
          <p:cNvPr id="148" name="Shape 146"/>
          <p:cNvSpPr/>
          <p:nvPr/>
        </p:nvSpPr>
        <p:spPr>
          <a:xfrm>
            <a:off x="4640580" y="4751038"/>
            <a:ext cx="50292" cy="71928"/>
          </a:xfrm>
          <a:prstGeom prst="line">
            <a:avLst/>
          </a:prstGeom>
          <a:noFill/>
          <a:ln w="31750">
            <a:solidFill>
              <a:srgbClr val="C8414C"/>
            </a:solidFill>
            <a:prstDash val="solid"/>
          </a:ln>
        </p:spPr>
      </p:sp>
      <p:sp>
        <p:nvSpPr>
          <p:cNvPr id="149" name="Shape 147"/>
          <p:cNvSpPr/>
          <p:nvPr/>
        </p:nvSpPr>
        <p:spPr>
          <a:xfrm>
            <a:off x="4690872" y="4822966"/>
            <a:ext cx="50292" cy="57868"/>
          </a:xfrm>
          <a:prstGeom prst="line">
            <a:avLst/>
          </a:prstGeom>
          <a:noFill/>
          <a:ln w="31750">
            <a:solidFill>
              <a:srgbClr val="C8414C"/>
            </a:solidFill>
            <a:prstDash val="solid"/>
          </a:ln>
        </p:spPr>
      </p:sp>
      <p:sp>
        <p:nvSpPr>
          <p:cNvPr id="150" name="Shape 148"/>
          <p:cNvSpPr/>
          <p:nvPr/>
        </p:nvSpPr>
        <p:spPr>
          <a:xfrm>
            <a:off x="4741164" y="4880835"/>
            <a:ext cx="50292" cy="42383"/>
          </a:xfrm>
          <a:prstGeom prst="line">
            <a:avLst/>
          </a:prstGeom>
          <a:noFill/>
          <a:ln w="31750">
            <a:solidFill>
              <a:srgbClr val="C8414C"/>
            </a:solidFill>
            <a:prstDash val="solid"/>
          </a:ln>
        </p:spPr>
      </p:sp>
      <p:sp>
        <p:nvSpPr>
          <p:cNvPr id="151" name="Shape 149"/>
          <p:cNvSpPr/>
          <p:nvPr/>
        </p:nvSpPr>
        <p:spPr>
          <a:xfrm>
            <a:off x="4791456" y="4923218"/>
            <a:ext cx="50292" cy="25855"/>
          </a:xfrm>
          <a:prstGeom prst="line">
            <a:avLst/>
          </a:prstGeom>
          <a:noFill/>
          <a:ln w="31750">
            <a:solidFill>
              <a:srgbClr val="C8414C"/>
            </a:solidFill>
            <a:prstDash val="solid"/>
          </a:ln>
        </p:spPr>
      </p:sp>
      <p:sp>
        <p:nvSpPr>
          <p:cNvPr id="152" name="Shape 150"/>
          <p:cNvSpPr/>
          <p:nvPr/>
        </p:nvSpPr>
        <p:spPr>
          <a:xfrm>
            <a:off x="4841748" y="4949073"/>
            <a:ext cx="50292" cy="8690"/>
          </a:xfrm>
          <a:prstGeom prst="line">
            <a:avLst/>
          </a:prstGeom>
          <a:noFill/>
          <a:ln w="31750">
            <a:solidFill>
              <a:srgbClr val="C8414C"/>
            </a:solidFill>
            <a:prstDash val="solid"/>
          </a:ln>
        </p:spPr>
      </p:sp>
      <p:sp>
        <p:nvSpPr>
          <p:cNvPr id="153" name="Shape 151"/>
          <p:cNvSpPr/>
          <p:nvPr/>
        </p:nvSpPr>
        <p:spPr>
          <a:xfrm flipV="1">
            <a:off x="4892040" y="4949073"/>
            <a:ext cx="50292" cy="8690"/>
          </a:xfrm>
          <a:prstGeom prst="line">
            <a:avLst/>
          </a:prstGeom>
          <a:noFill/>
          <a:ln w="31750">
            <a:solidFill>
              <a:srgbClr val="C8414C"/>
            </a:solidFill>
            <a:prstDash val="solid"/>
          </a:ln>
        </p:spPr>
      </p:sp>
      <p:sp>
        <p:nvSpPr>
          <p:cNvPr id="154" name="Shape 152"/>
          <p:cNvSpPr/>
          <p:nvPr/>
        </p:nvSpPr>
        <p:spPr>
          <a:xfrm flipV="1">
            <a:off x="4942332" y="4923218"/>
            <a:ext cx="50292" cy="25855"/>
          </a:xfrm>
          <a:prstGeom prst="line">
            <a:avLst/>
          </a:prstGeom>
          <a:noFill/>
          <a:ln w="31750">
            <a:solidFill>
              <a:srgbClr val="C8414C"/>
            </a:solidFill>
            <a:prstDash val="solid"/>
          </a:ln>
        </p:spPr>
      </p:sp>
      <p:sp>
        <p:nvSpPr>
          <p:cNvPr id="155" name="Shape 153"/>
          <p:cNvSpPr/>
          <p:nvPr/>
        </p:nvSpPr>
        <p:spPr>
          <a:xfrm flipV="1">
            <a:off x="4992624" y="4880835"/>
            <a:ext cx="50292" cy="42383"/>
          </a:xfrm>
          <a:prstGeom prst="line">
            <a:avLst/>
          </a:prstGeom>
          <a:noFill/>
          <a:ln w="31750">
            <a:solidFill>
              <a:srgbClr val="C8414C"/>
            </a:solidFill>
            <a:prstDash val="solid"/>
          </a:ln>
        </p:spPr>
      </p:sp>
      <p:sp>
        <p:nvSpPr>
          <p:cNvPr id="156" name="Shape 154"/>
          <p:cNvSpPr/>
          <p:nvPr/>
        </p:nvSpPr>
        <p:spPr>
          <a:xfrm flipV="1">
            <a:off x="5042916" y="4822966"/>
            <a:ext cx="50292" cy="57868"/>
          </a:xfrm>
          <a:prstGeom prst="line">
            <a:avLst/>
          </a:prstGeom>
          <a:noFill/>
          <a:ln w="31750">
            <a:solidFill>
              <a:srgbClr val="C8414C"/>
            </a:solidFill>
            <a:prstDash val="solid"/>
          </a:ln>
        </p:spPr>
      </p:sp>
      <p:sp>
        <p:nvSpPr>
          <p:cNvPr id="157" name="Shape 155"/>
          <p:cNvSpPr/>
          <p:nvPr/>
        </p:nvSpPr>
        <p:spPr>
          <a:xfrm flipV="1">
            <a:off x="5093208" y="4751038"/>
            <a:ext cx="50292" cy="71928"/>
          </a:xfrm>
          <a:prstGeom prst="line">
            <a:avLst/>
          </a:prstGeom>
          <a:noFill/>
          <a:ln w="31750">
            <a:solidFill>
              <a:srgbClr val="C8414C"/>
            </a:solidFill>
            <a:prstDash val="solid"/>
          </a:ln>
        </p:spPr>
      </p:sp>
      <p:sp>
        <p:nvSpPr>
          <p:cNvPr id="158" name="Shape 156"/>
          <p:cNvSpPr/>
          <p:nvPr/>
        </p:nvSpPr>
        <p:spPr>
          <a:xfrm flipV="1">
            <a:off x="5143500" y="4666820"/>
            <a:ext cx="50292" cy="84217"/>
          </a:xfrm>
          <a:prstGeom prst="line">
            <a:avLst/>
          </a:prstGeom>
          <a:noFill/>
          <a:ln w="31750">
            <a:solidFill>
              <a:srgbClr val="C8414C"/>
            </a:solidFill>
            <a:prstDash val="solid"/>
          </a:ln>
        </p:spPr>
      </p:sp>
      <p:sp>
        <p:nvSpPr>
          <p:cNvPr id="159" name="Shape 157"/>
          <p:cNvSpPr/>
          <p:nvPr/>
        </p:nvSpPr>
        <p:spPr>
          <a:xfrm flipV="1">
            <a:off x="5193792" y="4572388"/>
            <a:ext cx="50292" cy="94433"/>
          </a:xfrm>
          <a:prstGeom prst="line">
            <a:avLst/>
          </a:prstGeom>
          <a:noFill/>
          <a:ln w="31750">
            <a:solidFill>
              <a:srgbClr val="C8414C"/>
            </a:solidFill>
            <a:prstDash val="solid"/>
          </a:ln>
        </p:spPr>
      </p:sp>
      <p:sp>
        <p:nvSpPr>
          <p:cNvPr id="160" name="Shape 158"/>
          <p:cNvSpPr/>
          <p:nvPr/>
        </p:nvSpPr>
        <p:spPr>
          <a:xfrm flipV="1">
            <a:off x="5244084" y="4470065"/>
            <a:ext cx="50292" cy="102323"/>
          </a:xfrm>
          <a:prstGeom prst="line">
            <a:avLst/>
          </a:prstGeom>
          <a:noFill/>
          <a:ln w="31750">
            <a:solidFill>
              <a:srgbClr val="C8414C"/>
            </a:solidFill>
            <a:prstDash val="solid"/>
          </a:ln>
        </p:spPr>
      </p:sp>
      <p:sp>
        <p:nvSpPr>
          <p:cNvPr id="161" name="Shape 159"/>
          <p:cNvSpPr/>
          <p:nvPr/>
        </p:nvSpPr>
        <p:spPr>
          <a:xfrm flipV="1">
            <a:off x="5294376" y="4362372"/>
            <a:ext cx="50292" cy="107693"/>
          </a:xfrm>
          <a:prstGeom prst="line">
            <a:avLst/>
          </a:prstGeom>
          <a:noFill/>
          <a:ln w="31750">
            <a:solidFill>
              <a:srgbClr val="C8414C"/>
            </a:solidFill>
            <a:prstDash val="solid"/>
          </a:ln>
        </p:spPr>
      </p:sp>
      <p:sp>
        <p:nvSpPr>
          <p:cNvPr id="162" name="Shape 160"/>
          <p:cNvSpPr/>
          <p:nvPr/>
        </p:nvSpPr>
        <p:spPr>
          <a:xfrm flipV="1">
            <a:off x="5344668" y="4251960"/>
            <a:ext cx="50292" cy="110412"/>
          </a:xfrm>
          <a:prstGeom prst="line">
            <a:avLst/>
          </a:prstGeom>
          <a:noFill/>
          <a:ln w="31750">
            <a:solidFill>
              <a:srgbClr val="C8414C"/>
            </a:solidFill>
            <a:prstDash val="solid"/>
          </a:ln>
        </p:spPr>
      </p:sp>
      <p:sp>
        <p:nvSpPr>
          <p:cNvPr id="163" name="Shape 161"/>
          <p:cNvSpPr/>
          <p:nvPr/>
        </p:nvSpPr>
        <p:spPr>
          <a:xfrm>
            <a:off x="1371600" y="5033772"/>
            <a:ext cx="2011680" cy="91"/>
          </a:xfrm>
          <a:prstGeom prst="line">
            <a:avLst/>
          </a:prstGeom>
          <a:noFill/>
          <a:ln w="12700">
            <a:solidFill>
              <a:srgbClr val="1A2340"/>
            </a:solidFill>
            <a:prstDash val="solid"/>
            <a:headEnd type="triangle"/>
            <a:tailEnd type="triangle"/>
          </a:ln>
        </p:spPr>
      </p:sp>
      <p:sp>
        <p:nvSpPr>
          <p:cNvPr id="164" name="Text 162"/>
          <p:cNvSpPr/>
          <p:nvPr/>
        </p:nvSpPr>
        <p:spPr>
          <a:xfrm>
            <a:off x="1623060" y="4759452"/>
            <a:ext cx="1463040" cy="256032"/>
          </a:xfrm>
          <a:prstGeom prst="rect">
            <a:avLst/>
          </a:prstGeom>
          <a:noFill/>
          <a:ln/>
        </p:spPr>
        <p:txBody>
          <a:bodyPr wrap="square" lIns="0" tIns="0" rIns="0" bIns="0" rtlCol="0" anchor="ctr"/>
          <a:lstStyle/>
          <a:p>
            <a:pPr algn="l" indent="0" marL="0">
              <a:buNone/>
            </a:pPr>
            <a:r>
              <a:rPr lang="en-US" sz="1000" b="1" dirty="0">
                <a:solidFill>
                  <a:srgbClr val="1A2340"/>
                </a:solidFill>
                <a:latin typeface="Calibri" pitchFamily="34" charset="0"/>
                <a:ea typeface="Calibri" pitchFamily="34" charset="-122"/>
                <a:cs typeface="Calibri" pitchFamily="34" charset="-120"/>
              </a:rPr>
              <a:t>one cycle = 20 ms</a:t>
            </a:r>
            <a:endParaRPr lang="en-US" sz="1000" dirty="0"/>
          </a:p>
        </p:txBody>
      </p:sp>
      <p:sp>
        <p:nvSpPr>
          <p:cNvPr id="165" name="Text 163"/>
          <p:cNvSpPr/>
          <p:nvPr/>
        </p:nvSpPr>
        <p:spPr>
          <a:xfrm>
            <a:off x="1444752" y="3108960"/>
            <a:ext cx="109728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p.d. / V</a:t>
            </a:r>
            <a:endParaRPr lang="en-US" sz="1050" dirty="0"/>
          </a:p>
        </p:txBody>
      </p:sp>
      <p:sp>
        <p:nvSpPr>
          <p:cNvPr id="166" name="Text 164"/>
          <p:cNvSpPr/>
          <p:nvPr/>
        </p:nvSpPr>
        <p:spPr>
          <a:xfrm>
            <a:off x="5431536" y="3794760"/>
            <a:ext cx="548640" cy="384048"/>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time</a:t>
            </a:r>
            <a:endParaRPr lang="en-US" sz="1000" dirty="0"/>
          </a:p>
          <a:p>
            <a:pPr algn="l" indent="0" marL="0">
              <a:buNone/>
            </a:pPr>
            <a:r>
              <a:rPr lang="en-US" sz="1000" b="1" dirty="0">
                <a:solidFill>
                  <a:srgbClr val="262B3A"/>
                </a:solidFill>
                <a:latin typeface="Calibri" pitchFamily="34" charset="0"/>
                <a:ea typeface="Calibri" pitchFamily="34" charset="-122"/>
                <a:cs typeface="Calibri" pitchFamily="34" charset="-120"/>
              </a:rPr>
              <a:t>/ ms</a:t>
            </a:r>
            <a:endParaRPr lang="en-US" sz="1000" dirty="0"/>
          </a:p>
        </p:txBody>
      </p:sp>
      <p:sp>
        <p:nvSpPr>
          <p:cNvPr id="167" name="Text 165"/>
          <p:cNvSpPr/>
          <p:nvPr/>
        </p:nvSpPr>
        <p:spPr>
          <a:xfrm>
            <a:off x="3108960" y="3108960"/>
            <a:ext cx="256032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a.c.: direction keeps changing</a:t>
            </a:r>
            <a:endParaRPr lang="en-US" sz="1050" dirty="0"/>
          </a:p>
        </p:txBody>
      </p:sp>
      <p:sp>
        <p:nvSpPr>
          <p:cNvPr id="168" name="Shape 16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69" name="Text 16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kinds of supply</a:t>
            </a:r>
            <a:endParaRPr lang="en-US" sz="1300" dirty="0"/>
          </a:p>
        </p:txBody>
      </p:sp>
      <p:sp>
        <p:nvSpPr>
          <p:cNvPr id="170" name="Text 16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Direct current (d.c.):</a:t>
            </a:r>
            <a:r>
              <a:rPr lang="en-US" sz="1150" dirty="0">
                <a:solidFill>
                  <a:srgbClr val="262B3A"/>
                </a:solidFill>
                <a:latin typeface="Calibri" pitchFamily="34" charset="0"/>
                <a:ea typeface="Calibri" pitchFamily="34" charset="-122"/>
                <a:cs typeface="Calibri" pitchFamily="34" charset="-120"/>
              </a:rPr>
              <a:t> charge moves in </a:t>
            </a:r>
            <a:r>
              <a:rPr lang="en-US" sz="1150" b="1" dirty="0">
                <a:solidFill>
                  <a:srgbClr val="262B3A"/>
                </a:solidFill>
                <a:latin typeface="Calibri" pitchFamily="34" charset="0"/>
                <a:ea typeface="Calibri" pitchFamily="34" charset="-122"/>
                <a:cs typeface="Calibri" pitchFamily="34" charset="-120"/>
              </a:rPr>
              <a:t>one direction only</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Cells and batteries</a:t>
            </a:r>
            <a:r>
              <a:rPr lang="en-US" sz="1150" dirty="0">
                <a:solidFill>
                  <a:srgbClr val="262B3A"/>
                </a:solidFill>
                <a:latin typeface="Calibri" pitchFamily="34" charset="0"/>
                <a:ea typeface="Calibri" pitchFamily="34" charset="-122"/>
                <a:cs typeface="Calibri" pitchFamily="34" charset="-120"/>
              </a:rPr>
              <a:t> supply d.c.</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Alternating current (a.c.):</a:t>
            </a:r>
            <a:r>
              <a:rPr lang="en-US" sz="1150" dirty="0">
                <a:solidFill>
                  <a:srgbClr val="262B3A"/>
                </a:solidFill>
                <a:latin typeface="Calibri" pitchFamily="34" charset="0"/>
                <a:ea typeface="Calibri" pitchFamily="34" charset="-122"/>
                <a:cs typeface="Calibri" pitchFamily="34" charset="-120"/>
              </a:rPr>
              <a:t> the movement of charge </a:t>
            </a:r>
            <a:r>
              <a:rPr lang="en-US" sz="1150" b="1" dirty="0">
                <a:solidFill>
                  <a:srgbClr val="262B3A"/>
                </a:solidFill>
                <a:latin typeface="Calibri" pitchFamily="34" charset="0"/>
                <a:ea typeface="Calibri" pitchFamily="34" charset="-122"/>
                <a:cs typeface="Calibri" pitchFamily="34" charset="-120"/>
              </a:rPr>
              <a:t>changes direction</a:t>
            </a:r>
            <a:r>
              <a:rPr lang="en-US" sz="1150" dirty="0">
                <a:solidFill>
                  <a:srgbClr val="262B3A"/>
                </a:solidFill>
                <a:latin typeface="Calibri" pitchFamily="34" charset="0"/>
                <a:ea typeface="Calibri" pitchFamily="34" charset="-122"/>
                <a:cs typeface="Calibri" pitchFamily="34" charset="-120"/>
              </a:rPr>
              <a:t> many times a second, because the </a:t>
            </a:r>
            <a:r>
              <a:rPr lang="en-US" sz="1150" b="1" dirty="0">
                <a:solidFill>
                  <a:srgbClr val="262B3A"/>
                </a:solidFill>
                <a:latin typeface="Calibri" pitchFamily="34" charset="0"/>
                <a:ea typeface="Calibri" pitchFamily="34" charset="-122"/>
                <a:cs typeface="Calibri" pitchFamily="34" charset="-120"/>
              </a:rPr>
              <a:t>p.d. alternates</a:t>
            </a:r>
            <a:r>
              <a:rPr lang="en-US" sz="1150" dirty="0">
                <a:solidFill>
                  <a:srgbClr val="262B3A"/>
                </a:solidFill>
                <a:latin typeface="Calibri" pitchFamily="34" charset="0"/>
                <a:ea typeface="Calibri" pitchFamily="34" charset="-122"/>
                <a:cs typeface="Calibri" pitchFamily="34" charset="-120"/>
              </a:rPr>
              <a:t> between positive and negative.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UK mains: </a:t>
            </a:r>
            <a:r>
              <a:rPr lang="en-US" sz="1150" b="1" dirty="0">
                <a:solidFill>
                  <a:srgbClr val="262B3A"/>
                </a:solidFill>
                <a:latin typeface="Calibri" pitchFamily="34" charset="0"/>
                <a:ea typeface="Calibri" pitchFamily="34" charset="-122"/>
                <a:cs typeface="Calibri" pitchFamily="34" charset="-120"/>
              </a:rPr>
              <a:t>a.c.</a:t>
            </a:r>
            <a:r>
              <a:rPr lang="en-US" sz="1150" dirty="0">
                <a:solidFill>
                  <a:srgbClr val="262B3A"/>
                </a:solidFill>
                <a:latin typeface="Calibri" pitchFamily="34" charset="0"/>
                <a:ea typeface="Calibri" pitchFamily="34" charset="-122"/>
                <a:cs typeface="Calibri" pitchFamily="34" charset="-120"/>
              </a:rPr>
              <a:t>, frequency </a:t>
            </a:r>
            <a:r>
              <a:rPr lang="en-US" sz="1150" b="1" dirty="0">
                <a:solidFill>
                  <a:srgbClr val="262B3A"/>
                </a:solidFill>
                <a:latin typeface="Calibri" pitchFamily="34" charset="0"/>
                <a:ea typeface="Calibri" pitchFamily="34" charset="-122"/>
                <a:cs typeface="Calibri" pitchFamily="34" charset="-120"/>
              </a:rPr>
              <a:t>50 Hz</a:t>
            </a:r>
            <a:r>
              <a:rPr lang="en-US" sz="1150" dirty="0">
                <a:solidFill>
                  <a:srgbClr val="262B3A"/>
                </a:solidFill>
                <a:latin typeface="Calibri" pitchFamily="34" charset="0"/>
                <a:ea typeface="Calibri" pitchFamily="34" charset="-122"/>
                <a:cs typeface="Calibri" pitchFamily="34" charset="-120"/>
              </a:rPr>
              <a:t>, p.d. </a:t>
            </a:r>
            <a:r>
              <a:rPr lang="en-US" sz="1150" b="1" dirty="0">
                <a:solidFill>
                  <a:srgbClr val="262B3A"/>
                </a:solidFill>
                <a:latin typeface="Calibri" pitchFamily="34" charset="0"/>
                <a:ea typeface="Calibri" pitchFamily="34" charset="-122"/>
                <a:cs typeface="Calibri" pitchFamily="34" charset="-120"/>
              </a:rPr>
              <a:t>about 230 V</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Mains a.c. is used to transfer energy to motors and heaters in the home; batteries supply portable devices.</a:t>
            </a:r>
            <a:endParaRPr lang="en-US" sz="1150" dirty="0"/>
          </a:p>
        </p:txBody>
      </p:sp>
      <p:sp>
        <p:nvSpPr>
          <p:cNvPr id="171" name="Shape 16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72" name="Text 17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73" name="Text 17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The UK mains has a frequency of 50 Hz. How long does one cycle take?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Meaning   </a:t>
            </a:r>
            <a:r>
              <a:rPr lang="en-US" sz="1100" dirty="0">
                <a:solidFill>
                  <a:srgbClr val="262B3A"/>
                </a:solidFill>
                <a:latin typeface="Calibri" pitchFamily="34" charset="0"/>
                <a:ea typeface="Calibri" pitchFamily="34" charset="-122"/>
                <a:cs typeface="Calibri" pitchFamily="34" charset="-120"/>
              </a:rPr>
              <a:t>50 Hz = 50 cycles every second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Equation   </a:t>
            </a:r>
            <a:r>
              <a:rPr lang="en-US" sz="1100" dirty="0">
                <a:solidFill>
                  <a:srgbClr val="262B3A"/>
                </a:solidFill>
                <a:latin typeface="Calibri" pitchFamily="34" charset="0"/>
                <a:ea typeface="Calibri" pitchFamily="34" charset="-122"/>
                <a:cs typeface="Calibri" pitchFamily="34" charset="-120"/>
              </a:rPr>
              <a:t>time for one cycle T = 1 ÷ f</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T = 1 ÷ 50 Hz</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T = 0.020 s (20 ms)</a:t>
            </a:r>
            <a:endParaRPr lang="en-US" sz="1100" dirty="0"/>
          </a:p>
        </p:txBody>
      </p:sp>
      <p:sp>
        <p:nvSpPr>
          <p:cNvPr id="174" name="Shape 172"/>
          <p:cNvSpPr/>
          <p:nvPr/>
        </p:nvSpPr>
        <p:spPr>
          <a:xfrm>
            <a:off x="411480" y="5833872"/>
            <a:ext cx="11368735" cy="530352"/>
          </a:xfrm>
          <a:prstGeom prst="rect">
            <a:avLst/>
          </a:prstGeom>
          <a:solidFill>
            <a:srgbClr val="FFF4E0"/>
          </a:solidFill>
          <a:ln w="6350">
            <a:solidFill>
              <a:srgbClr val="F1D9A8"/>
            </a:solidFill>
            <a:prstDash val="solid"/>
          </a:ln>
        </p:spPr>
      </p:sp>
      <p:sp>
        <p:nvSpPr>
          <p:cNvPr id="175" name="Shape 173"/>
          <p:cNvSpPr/>
          <p:nvPr/>
        </p:nvSpPr>
        <p:spPr>
          <a:xfrm>
            <a:off x="411480" y="5833872"/>
            <a:ext cx="82296" cy="530352"/>
          </a:xfrm>
          <a:prstGeom prst="rect">
            <a:avLst/>
          </a:prstGeom>
          <a:solidFill>
            <a:srgbClr val="E39A2F"/>
          </a:solidFill>
          <a:ln w="12700">
            <a:solidFill>
              <a:srgbClr val="E39A2F"/>
            </a:solidFill>
            <a:prstDash val="solid"/>
          </a:ln>
        </p:spPr>
      </p:sp>
      <p:sp>
        <p:nvSpPr>
          <p:cNvPr id="176" name="Text 17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State two differences between the supply from a battery and the UK mains supply.</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Mains wiring: live, neutral and earth</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10.38, 10.39, 10.43 • the three wires in a UK plug</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10.38  |  33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inside a UK three-pin plug (back removed)</a:t>
            </a:r>
            <a:endParaRPr lang="en-US" sz="1000" dirty="0"/>
          </a:p>
        </p:txBody>
      </p:sp>
      <p:sp>
        <p:nvSpPr>
          <p:cNvPr id="10" name="Shape 8"/>
          <p:cNvSpPr/>
          <p:nvPr/>
        </p:nvSpPr>
        <p:spPr>
          <a:xfrm>
            <a:off x="1280160" y="1417320"/>
            <a:ext cx="2697480" cy="3611880"/>
          </a:xfrm>
          <a:prstGeom prst="roundRect">
            <a:avLst>
              <a:gd name="adj" fmla="val 3390"/>
            </a:avLst>
          </a:prstGeom>
          <a:solidFill>
            <a:srgbClr val="E4E7EE"/>
          </a:solidFill>
          <a:ln w="19050">
            <a:solidFill>
              <a:srgbClr val="6B7385"/>
            </a:solidFill>
            <a:prstDash val="solid"/>
          </a:ln>
        </p:spPr>
      </p:sp>
      <p:sp>
        <p:nvSpPr>
          <p:cNvPr id="11" name="Shape 9"/>
          <p:cNvSpPr/>
          <p:nvPr/>
        </p:nvSpPr>
        <p:spPr>
          <a:xfrm>
            <a:off x="2514600" y="1645920"/>
            <a:ext cx="274320" cy="777240"/>
          </a:xfrm>
          <a:prstGeom prst="rect">
            <a:avLst/>
          </a:prstGeom>
          <a:solidFill>
            <a:srgbClr val="D9B64A"/>
          </a:solidFill>
          <a:ln w="12700">
            <a:solidFill>
              <a:srgbClr val="9A7B22"/>
            </a:solidFill>
            <a:prstDash val="solid"/>
          </a:ln>
        </p:spPr>
      </p:sp>
      <p:sp>
        <p:nvSpPr>
          <p:cNvPr id="12" name="Shape 10"/>
          <p:cNvSpPr/>
          <p:nvPr/>
        </p:nvSpPr>
        <p:spPr>
          <a:xfrm>
            <a:off x="1554480" y="3291840"/>
            <a:ext cx="731520" cy="274320"/>
          </a:xfrm>
          <a:prstGeom prst="rect">
            <a:avLst/>
          </a:prstGeom>
          <a:solidFill>
            <a:srgbClr val="D9B64A"/>
          </a:solidFill>
          <a:ln w="12700">
            <a:solidFill>
              <a:srgbClr val="9A7B22"/>
            </a:solidFill>
            <a:prstDash val="solid"/>
          </a:ln>
        </p:spPr>
      </p:sp>
      <p:sp>
        <p:nvSpPr>
          <p:cNvPr id="13" name="Shape 11"/>
          <p:cNvSpPr/>
          <p:nvPr/>
        </p:nvSpPr>
        <p:spPr>
          <a:xfrm>
            <a:off x="3017520" y="3291840"/>
            <a:ext cx="731520" cy="274320"/>
          </a:xfrm>
          <a:prstGeom prst="rect">
            <a:avLst/>
          </a:prstGeom>
          <a:solidFill>
            <a:srgbClr val="D9B64A"/>
          </a:solidFill>
          <a:ln w="12700">
            <a:solidFill>
              <a:srgbClr val="9A7B22"/>
            </a:solidFill>
            <a:prstDash val="solid"/>
          </a:ln>
        </p:spPr>
      </p:sp>
      <p:sp>
        <p:nvSpPr>
          <p:cNvPr id="14" name="Shape 12"/>
          <p:cNvSpPr/>
          <p:nvPr/>
        </p:nvSpPr>
        <p:spPr>
          <a:xfrm>
            <a:off x="3218688" y="2148840"/>
            <a:ext cx="329184" cy="914400"/>
          </a:xfrm>
          <a:prstGeom prst="rect">
            <a:avLst/>
          </a:prstGeom>
          <a:solidFill>
            <a:srgbClr val="FFFFFF"/>
          </a:solidFill>
          <a:ln w="12700">
            <a:solidFill>
              <a:srgbClr val="6B7385"/>
            </a:solidFill>
            <a:prstDash val="solid"/>
          </a:ln>
        </p:spPr>
      </p:sp>
      <p:sp>
        <p:nvSpPr>
          <p:cNvPr id="15" name="Shape 13"/>
          <p:cNvSpPr/>
          <p:nvPr/>
        </p:nvSpPr>
        <p:spPr>
          <a:xfrm>
            <a:off x="3218688" y="2148840"/>
            <a:ext cx="329184" cy="128016"/>
          </a:xfrm>
          <a:prstGeom prst="rect">
            <a:avLst/>
          </a:prstGeom>
          <a:solidFill>
            <a:srgbClr val="9AA3B5"/>
          </a:solidFill>
          <a:ln/>
        </p:spPr>
      </p:sp>
      <p:sp>
        <p:nvSpPr>
          <p:cNvPr id="16" name="Shape 14"/>
          <p:cNvSpPr/>
          <p:nvPr/>
        </p:nvSpPr>
        <p:spPr>
          <a:xfrm>
            <a:off x="3218688" y="2935224"/>
            <a:ext cx="329184" cy="128016"/>
          </a:xfrm>
          <a:prstGeom prst="rect">
            <a:avLst/>
          </a:prstGeom>
          <a:solidFill>
            <a:srgbClr val="9AA3B5"/>
          </a:solidFill>
          <a:ln/>
        </p:spPr>
      </p:sp>
      <p:sp>
        <p:nvSpPr>
          <p:cNvPr id="17" name="Shape 15"/>
          <p:cNvSpPr/>
          <p:nvPr/>
        </p:nvSpPr>
        <p:spPr>
          <a:xfrm>
            <a:off x="2331720" y="4343400"/>
            <a:ext cx="640080" cy="960120"/>
          </a:xfrm>
          <a:prstGeom prst="rect">
            <a:avLst/>
          </a:prstGeom>
          <a:solidFill>
            <a:srgbClr val="5A6275"/>
          </a:solidFill>
          <a:ln/>
        </p:spPr>
      </p:sp>
      <p:sp>
        <p:nvSpPr>
          <p:cNvPr id="18" name="Shape 16"/>
          <p:cNvSpPr/>
          <p:nvPr/>
        </p:nvSpPr>
        <p:spPr>
          <a:xfrm>
            <a:off x="2103120" y="4407408"/>
            <a:ext cx="1097280" cy="146304"/>
          </a:xfrm>
          <a:prstGeom prst="rect">
            <a:avLst/>
          </a:prstGeom>
          <a:solidFill>
            <a:srgbClr val="2B3240"/>
          </a:solidFill>
          <a:ln/>
        </p:spPr>
      </p:sp>
      <p:sp>
        <p:nvSpPr>
          <p:cNvPr id="19" name="Shape 17"/>
          <p:cNvSpPr/>
          <p:nvPr/>
        </p:nvSpPr>
        <p:spPr>
          <a:xfrm flipV="1">
            <a:off x="2514600" y="3931920"/>
            <a:ext cx="91" cy="411480"/>
          </a:xfrm>
          <a:prstGeom prst="line">
            <a:avLst/>
          </a:prstGeom>
          <a:noFill/>
          <a:ln w="50800">
            <a:solidFill>
              <a:srgbClr val="2E5BD8"/>
            </a:solidFill>
            <a:prstDash val="solid"/>
          </a:ln>
        </p:spPr>
      </p:sp>
      <p:sp>
        <p:nvSpPr>
          <p:cNvPr id="20" name="Shape 18"/>
          <p:cNvSpPr/>
          <p:nvPr/>
        </p:nvSpPr>
        <p:spPr>
          <a:xfrm flipH="1">
            <a:off x="1920240" y="3931920"/>
            <a:ext cx="594360" cy="91"/>
          </a:xfrm>
          <a:prstGeom prst="line">
            <a:avLst/>
          </a:prstGeom>
          <a:noFill/>
          <a:ln w="50800">
            <a:solidFill>
              <a:srgbClr val="2E5BD8"/>
            </a:solidFill>
            <a:prstDash val="solid"/>
          </a:ln>
        </p:spPr>
      </p:sp>
      <p:sp>
        <p:nvSpPr>
          <p:cNvPr id="21" name="Shape 19"/>
          <p:cNvSpPr/>
          <p:nvPr/>
        </p:nvSpPr>
        <p:spPr>
          <a:xfrm flipV="1">
            <a:off x="1920240" y="3566160"/>
            <a:ext cx="91" cy="365760"/>
          </a:xfrm>
          <a:prstGeom prst="line">
            <a:avLst/>
          </a:prstGeom>
          <a:noFill/>
          <a:ln w="50800">
            <a:solidFill>
              <a:srgbClr val="2E5BD8"/>
            </a:solidFill>
            <a:prstDash val="solid"/>
          </a:ln>
        </p:spPr>
      </p:sp>
      <p:sp>
        <p:nvSpPr>
          <p:cNvPr id="22" name="Shape 20"/>
          <p:cNvSpPr/>
          <p:nvPr/>
        </p:nvSpPr>
        <p:spPr>
          <a:xfrm flipV="1">
            <a:off x="2788920" y="3931920"/>
            <a:ext cx="91" cy="411480"/>
          </a:xfrm>
          <a:prstGeom prst="line">
            <a:avLst/>
          </a:prstGeom>
          <a:noFill/>
          <a:ln w="50800">
            <a:solidFill>
              <a:srgbClr val="8B5A2B"/>
            </a:solidFill>
            <a:prstDash val="solid"/>
          </a:ln>
        </p:spPr>
      </p:sp>
      <p:sp>
        <p:nvSpPr>
          <p:cNvPr id="23" name="Shape 21"/>
          <p:cNvSpPr/>
          <p:nvPr/>
        </p:nvSpPr>
        <p:spPr>
          <a:xfrm>
            <a:off x="2788920" y="3931920"/>
            <a:ext cx="594360" cy="91"/>
          </a:xfrm>
          <a:prstGeom prst="line">
            <a:avLst/>
          </a:prstGeom>
          <a:noFill/>
          <a:ln w="50800">
            <a:solidFill>
              <a:srgbClr val="8B5A2B"/>
            </a:solidFill>
            <a:prstDash val="solid"/>
          </a:ln>
        </p:spPr>
      </p:sp>
      <p:sp>
        <p:nvSpPr>
          <p:cNvPr id="24" name="Shape 22"/>
          <p:cNvSpPr/>
          <p:nvPr/>
        </p:nvSpPr>
        <p:spPr>
          <a:xfrm flipV="1">
            <a:off x="3383280" y="3566160"/>
            <a:ext cx="91" cy="365760"/>
          </a:xfrm>
          <a:prstGeom prst="line">
            <a:avLst/>
          </a:prstGeom>
          <a:noFill/>
          <a:ln w="50800">
            <a:solidFill>
              <a:srgbClr val="8B5A2B"/>
            </a:solidFill>
            <a:prstDash val="solid"/>
          </a:ln>
        </p:spPr>
      </p:sp>
      <p:sp>
        <p:nvSpPr>
          <p:cNvPr id="25" name="Shape 23"/>
          <p:cNvSpPr/>
          <p:nvPr/>
        </p:nvSpPr>
        <p:spPr>
          <a:xfrm flipV="1">
            <a:off x="2651760" y="2423160"/>
            <a:ext cx="91" cy="1920240"/>
          </a:xfrm>
          <a:prstGeom prst="line">
            <a:avLst/>
          </a:prstGeom>
          <a:noFill/>
          <a:ln w="57150">
            <a:solidFill>
              <a:srgbClr val="2E8B57"/>
            </a:solidFill>
            <a:prstDash val="solid"/>
          </a:ln>
        </p:spPr>
      </p:sp>
      <p:sp>
        <p:nvSpPr>
          <p:cNvPr id="26" name="Shape 24"/>
          <p:cNvSpPr/>
          <p:nvPr/>
        </p:nvSpPr>
        <p:spPr>
          <a:xfrm flipV="1">
            <a:off x="2651760" y="2423160"/>
            <a:ext cx="91" cy="1920240"/>
          </a:xfrm>
          <a:prstGeom prst="line">
            <a:avLst/>
          </a:prstGeom>
          <a:noFill/>
          <a:ln w="57150">
            <a:solidFill>
              <a:srgbClr val="F2D43D"/>
            </a:solidFill>
            <a:prstDash val="solid"/>
          </a:ln>
        </p:spPr>
      </p:sp>
      <p:sp>
        <p:nvSpPr>
          <p:cNvPr id="27" name="Shape 25"/>
          <p:cNvSpPr/>
          <p:nvPr/>
        </p:nvSpPr>
        <p:spPr>
          <a:xfrm flipV="1">
            <a:off x="2788920" y="1600200"/>
            <a:ext cx="1325880" cy="320040"/>
          </a:xfrm>
          <a:prstGeom prst="line">
            <a:avLst/>
          </a:prstGeom>
          <a:noFill/>
          <a:ln w="9525">
            <a:solidFill>
              <a:srgbClr val="6B7385"/>
            </a:solidFill>
            <a:prstDash val="solid"/>
          </a:ln>
        </p:spPr>
      </p:sp>
      <p:sp>
        <p:nvSpPr>
          <p:cNvPr id="28" name="Text 26"/>
          <p:cNvSpPr/>
          <p:nvPr/>
        </p:nvSpPr>
        <p:spPr>
          <a:xfrm>
            <a:off x="4160520" y="1417320"/>
            <a:ext cx="1783080" cy="365760"/>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earth (green/yellow)</a:t>
            </a:r>
            <a:endParaRPr lang="en-US" sz="1050" dirty="0"/>
          </a:p>
          <a:p>
            <a:pPr algn="l" indent="0" marL="0">
              <a:buNone/>
            </a:pPr>
            <a:r>
              <a:rPr lang="en-US" sz="1050" b="1" dirty="0">
                <a:solidFill>
                  <a:srgbClr val="2E8B57"/>
                </a:solidFill>
                <a:latin typeface="Calibri" pitchFamily="34" charset="0"/>
                <a:ea typeface="Calibri" pitchFamily="34" charset="-122"/>
                <a:cs typeface="Calibri" pitchFamily="34" charset="-120"/>
              </a:rPr>
              <a:t>0 V</a:t>
            </a:r>
            <a:endParaRPr lang="en-US" sz="1050" dirty="0"/>
          </a:p>
        </p:txBody>
      </p:sp>
      <p:sp>
        <p:nvSpPr>
          <p:cNvPr id="29" name="Shape 27"/>
          <p:cNvSpPr/>
          <p:nvPr/>
        </p:nvSpPr>
        <p:spPr>
          <a:xfrm flipV="1">
            <a:off x="3547872" y="2377440"/>
            <a:ext cx="566928" cy="182880"/>
          </a:xfrm>
          <a:prstGeom prst="line">
            <a:avLst/>
          </a:prstGeom>
          <a:noFill/>
          <a:ln w="9525">
            <a:solidFill>
              <a:srgbClr val="6B7385"/>
            </a:solidFill>
            <a:prstDash val="solid"/>
          </a:ln>
        </p:spPr>
      </p:sp>
      <p:sp>
        <p:nvSpPr>
          <p:cNvPr id="30" name="Text 28"/>
          <p:cNvSpPr/>
          <p:nvPr/>
        </p:nvSpPr>
        <p:spPr>
          <a:xfrm>
            <a:off x="4160520" y="2194560"/>
            <a:ext cx="1783080" cy="365760"/>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fuse (in the live wire)</a:t>
            </a:r>
            <a:endParaRPr lang="en-US" sz="1050" dirty="0"/>
          </a:p>
        </p:txBody>
      </p:sp>
      <p:sp>
        <p:nvSpPr>
          <p:cNvPr id="31" name="Shape 29"/>
          <p:cNvSpPr/>
          <p:nvPr/>
        </p:nvSpPr>
        <p:spPr>
          <a:xfrm flipV="1">
            <a:off x="3749040" y="3154680"/>
            <a:ext cx="365760" cy="274320"/>
          </a:xfrm>
          <a:prstGeom prst="line">
            <a:avLst/>
          </a:prstGeom>
          <a:noFill/>
          <a:ln w="9525">
            <a:solidFill>
              <a:srgbClr val="6B7385"/>
            </a:solidFill>
            <a:prstDash val="solid"/>
          </a:ln>
        </p:spPr>
      </p:sp>
      <p:sp>
        <p:nvSpPr>
          <p:cNvPr id="32" name="Text 30"/>
          <p:cNvSpPr/>
          <p:nvPr/>
        </p:nvSpPr>
        <p:spPr>
          <a:xfrm>
            <a:off x="4160520" y="2971800"/>
            <a:ext cx="1783080" cy="365760"/>
          </a:xfrm>
          <a:prstGeom prst="rect">
            <a:avLst/>
          </a:prstGeom>
          <a:noFill/>
          <a:ln/>
        </p:spPr>
        <p:txBody>
          <a:bodyPr wrap="square" lIns="0" tIns="0" rIns="0" bIns="0" rtlCol="0" anchor="ctr"/>
          <a:lstStyle/>
          <a:p>
            <a:pPr algn="l" indent="0" marL="0">
              <a:buNone/>
            </a:pPr>
            <a:r>
              <a:rPr lang="en-US" sz="1050" b="1" dirty="0">
                <a:solidFill>
                  <a:srgbClr val="8B5A2B"/>
                </a:solidFill>
                <a:latin typeface="Calibri" pitchFamily="34" charset="0"/>
                <a:ea typeface="Calibri" pitchFamily="34" charset="-122"/>
                <a:cs typeface="Calibri" pitchFamily="34" charset="-120"/>
              </a:rPr>
              <a:t>live (brown)</a:t>
            </a:r>
            <a:endParaRPr lang="en-US" sz="1050" dirty="0"/>
          </a:p>
          <a:p>
            <a:pPr algn="l" indent="0" marL="0">
              <a:buNone/>
            </a:pPr>
            <a:r>
              <a:rPr lang="en-US" sz="1050" b="1" dirty="0">
                <a:solidFill>
                  <a:srgbClr val="8B5A2B"/>
                </a:solidFill>
                <a:latin typeface="Calibri" pitchFamily="34" charset="0"/>
                <a:ea typeface="Calibri" pitchFamily="34" charset="-122"/>
                <a:cs typeface="Calibri" pitchFamily="34" charset="-120"/>
              </a:rPr>
              <a:t>about 230 V</a:t>
            </a:r>
            <a:endParaRPr lang="en-US" sz="1050" dirty="0"/>
          </a:p>
        </p:txBody>
      </p:sp>
      <p:sp>
        <p:nvSpPr>
          <p:cNvPr id="33" name="Shape 31"/>
          <p:cNvSpPr/>
          <p:nvPr/>
        </p:nvSpPr>
        <p:spPr>
          <a:xfrm flipH="1">
            <a:off x="1097280" y="3429000"/>
            <a:ext cx="457200" cy="91"/>
          </a:xfrm>
          <a:prstGeom prst="line">
            <a:avLst/>
          </a:prstGeom>
          <a:noFill/>
          <a:ln w="9525">
            <a:solidFill>
              <a:srgbClr val="6B7385"/>
            </a:solidFill>
            <a:prstDash val="solid"/>
          </a:ln>
        </p:spPr>
      </p:sp>
      <p:sp>
        <p:nvSpPr>
          <p:cNvPr id="34" name="Text 32"/>
          <p:cNvSpPr/>
          <p:nvPr/>
        </p:nvSpPr>
        <p:spPr>
          <a:xfrm>
            <a:off x="502920" y="3611880"/>
            <a:ext cx="1097280" cy="411480"/>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neutral (blue)</a:t>
            </a:r>
            <a:endParaRPr lang="en-US" sz="1050" dirty="0"/>
          </a:p>
          <a:p>
            <a:pPr algn="l" indent="0" marL="0">
              <a:buNone/>
            </a:pPr>
            <a:r>
              <a:rPr lang="en-US" sz="1050" b="1" dirty="0">
                <a:solidFill>
                  <a:srgbClr val="2E5BD8"/>
                </a:solidFill>
                <a:latin typeface="Calibri" pitchFamily="34" charset="0"/>
                <a:ea typeface="Calibri" pitchFamily="34" charset="-122"/>
                <a:cs typeface="Calibri" pitchFamily="34" charset="-120"/>
              </a:rPr>
              <a:t>close to 0 V</a:t>
            </a:r>
            <a:endParaRPr lang="en-US" sz="1050" dirty="0"/>
          </a:p>
        </p:txBody>
      </p:sp>
      <p:sp>
        <p:nvSpPr>
          <p:cNvPr id="35" name="Shape 33"/>
          <p:cNvSpPr/>
          <p:nvPr/>
        </p:nvSpPr>
        <p:spPr>
          <a:xfrm flipV="1">
            <a:off x="3200400" y="4343400"/>
            <a:ext cx="914400" cy="137160"/>
          </a:xfrm>
          <a:prstGeom prst="line">
            <a:avLst/>
          </a:prstGeom>
          <a:noFill/>
          <a:ln w="9525">
            <a:solidFill>
              <a:srgbClr val="6B7385"/>
            </a:solidFill>
            <a:prstDash val="solid"/>
          </a:ln>
        </p:spPr>
      </p:sp>
      <p:sp>
        <p:nvSpPr>
          <p:cNvPr id="36" name="Text 34"/>
          <p:cNvSpPr/>
          <p:nvPr/>
        </p:nvSpPr>
        <p:spPr>
          <a:xfrm>
            <a:off x="4160520" y="4160520"/>
            <a:ext cx="1783080" cy="365760"/>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cable grip</a:t>
            </a:r>
            <a:endParaRPr lang="en-US" sz="1050" dirty="0"/>
          </a:p>
        </p:txBody>
      </p:sp>
      <p:sp>
        <p:nvSpPr>
          <p:cNvPr id="37" name="Shape 35"/>
          <p:cNvSpPr/>
          <p:nvPr/>
        </p:nvSpPr>
        <p:spPr>
          <a:xfrm>
            <a:off x="6217920" y="1188720"/>
            <a:ext cx="5562295" cy="2514600"/>
          </a:xfrm>
          <a:prstGeom prst="roundRect">
            <a:avLst>
              <a:gd name="adj" fmla="val 2182"/>
            </a:avLst>
          </a:prstGeom>
          <a:solidFill>
            <a:srgbClr val="F5F8FE"/>
          </a:solidFill>
          <a:ln w="9525">
            <a:solidFill>
              <a:srgbClr val="D5DCEB"/>
            </a:solidFill>
            <a:prstDash val="solid"/>
          </a:ln>
        </p:spPr>
      </p:sp>
      <p:sp>
        <p:nvSpPr>
          <p:cNvPr id="38" name="Text 3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The three wires</a:t>
            </a:r>
            <a:endParaRPr lang="en-US" sz="1300" dirty="0"/>
          </a:p>
        </p:txBody>
      </p:sp>
      <p:sp>
        <p:nvSpPr>
          <p:cNvPr id="39" name="Text 37"/>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Live (brown):</a:t>
            </a:r>
            <a:r>
              <a:rPr lang="en-US" sz="1100" dirty="0">
                <a:solidFill>
                  <a:srgbClr val="262B3A"/>
                </a:solidFill>
                <a:latin typeface="Calibri" pitchFamily="34" charset="0"/>
                <a:ea typeface="Calibri" pitchFamily="34" charset="-122"/>
                <a:cs typeface="Calibri" pitchFamily="34" charset="-120"/>
              </a:rPr>
              <a:t> carries the alternating p.d. from the supply. The p.d. between </a:t>
            </a:r>
            <a:r>
              <a:rPr lang="en-US" sz="1100" b="1" dirty="0">
                <a:solidFill>
                  <a:srgbClr val="262B3A"/>
                </a:solidFill>
                <a:latin typeface="Calibri" pitchFamily="34" charset="0"/>
                <a:ea typeface="Calibri" pitchFamily="34" charset="-122"/>
                <a:cs typeface="Calibri" pitchFamily="34" charset="-120"/>
              </a:rPr>
              <a:t>live and earth</a:t>
            </a:r>
            <a:r>
              <a:rPr lang="en-US" sz="1100" dirty="0">
                <a:solidFill>
                  <a:srgbClr val="262B3A"/>
                </a:solidFill>
                <a:latin typeface="Calibri" pitchFamily="34" charset="0"/>
                <a:ea typeface="Calibri" pitchFamily="34" charset="-122"/>
                <a:cs typeface="Calibri" pitchFamily="34" charset="-120"/>
              </a:rPr>
              <a:t> is about </a:t>
            </a:r>
            <a:r>
              <a:rPr lang="en-US" sz="1100" b="1" dirty="0">
                <a:solidFill>
                  <a:srgbClr val="262B3A"/>
                </a:solidFill>
                <a:latin typeface="Calibri" pitchFamily="34" charset="0"/>
                <a:ea typeface="Calibri" pitchFamily="34" charset="-122"/>
                <a:cs typeface="Calibri" pitchFamily="34" charset="-120"/>
              </a:rPr>
              <a:t>230 V</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Neutral (blue):</a:t>
            </a:r>
            <a:r>
              <a:rPr lang="en-US" sz="1100" dirty="0">
                <a:solidFill>
                  <a:srgbClr val="262B3A"/>
                </a:solidFill>
                <a:latin typeface="Calibri" pitchFamily="34" charset="0"/>
                <a:ea typeface="Calibri" pitchFamily="34" charset="-122"/>
                <a:cs typeface="Calibri" pitchFamily="34" charset="-120"/>
              </a:rPr>
              <a:t> completes the circuit; it is at (or close to) </a:t>
            </a:r>
            <a:r>
              <a:rPr lang="en-US" sz="1100" b="1" dirty="0">
                <a:solidFill>
                  <a:srgbClr val="262B3A"/>
                </a:solidFill>
                <a:latin typeface="Calibri" pitchFamily="34" charset="0"/>
                <a:ea typeface="Calibri" pitchFamily="34" charset="-122"/>
                <a:cs typeface="Calibri" pitchFamily="34" charset="-120"/>
              </a:rPr>
              <a:t>0 V</a:t>
            </a:r>
            <a:r>
              <a:rPr lang="en-US" sz="1100" dirty="0">
                <a:solidFill>
                  <a:srgbClr val="262B3A"/>
                </a:solidFill>
                <a:latin typeface="Calibri" pitchFamily="34" charset="0"/>
                <a:ea typeface="Calibri" pitchFamily="34" charset="-122"/>
                <a:cs typeface="Calibri" pitchFamily="34" charset="-120"/>
              </a:rPr>
              <a:t>. So there is a large p.d. between live and neutral.</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Earth (green/yellow):</a:t>
            </a:r>
            <a:r>
              <a:rPr lang="en-US" sz="1100" dirty="0">
                <a:solidFill>
                  <a:srgbClr val="262B3A"/>
                </a:solidFill>
                <a:latin typeface="Calibri" pitchFamily="34" charset="0"/>
                <a:ea typeface="Calibri" pitchFamily="34" charset="-122"/>
                <a:cs typeface="Calibri" pitchFamily="34" charset="-120"/>
              </a:rPr>
              <a:t> a safety wire at 0 V, connected to metal cases. It carries a current only if there is a fault.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live wire can be dangerous </a:t>
            </a:r>
            <a:r>
              <a:rPr lang="en-US" sz="1100" b="1" dirty="0">
                <a:solidFill>
                  <a:srgbClr val="262B3A"/>
                </a:solidFill>
                <a:latin typeface="Calibri" pitchFamily="34" charset="0"/>
                <a:ea typeface="Calibri" pitchFamily="34" charset="-122"/>
                <a:cs typeface="Calibri" pitchFamily="34" charset="-120"/>
              </a:rPr>
              <a:t>even when the switch is off</a:t>
            </a:r>
            <a:r>
              <a:rPr lang="en-US" sz="1100" dirty="0">
                <a:solidFill>
                  <a:srgbClr val="262B3A"/>
                </a:solidFill>
                <a:latin typeface="Calibri" pitchFamily="34" charset="0"/>
                <a:ea typeface="Calibri" pitchFamily="34" charset="-122"/>
                <a:cs typeface="Calibri" pitchFamily="34" charset="-120"/>
              </a:rPr>
              <a:t> (e.g. a switch wrongly fitted in the neutral). Touching it connects the live wire to </a:t>
            </a:r>
            <a:r>
              <a:rPr lang="en-US" sz="1100" b="1" dirty="0">
                <a:solidFill>
                  <a:srgbClr val="262B3A"/>
                </a:solidFill>
                <a:latin typeface="Calibri" pitchFamily="34" charset="0"/>
                <a:ea typeface="Calibri" pitchFamily="34" charset="-122"/>
                <a:cs typeface="Calibri" pitchFamily="34" charset="-120"/>
              </a:rPr>
              <a:t>earth through your body</a:t>
            </a:r>
            <a:r>
              <a:rPr lang="en-US" sz="1100" dirty="0">
                <a:solidFill>
                  <a:srgbClr val="262B3A"/>
                </a:solidFill>
                <a:latin typeface="Calibri" pitchFamily="34" charset="0"/>
                <a:ea typeface="Calibri" pitchFamily="34" charset="-122"/>
                <a:cs typeface="Calibri" pitchFamily="34" charset="-120"/>
              </a:rPr>
              <a:t> → a large current → electric shock.</a:t>
            </a:r>
            <a:endParaRPr lang="en-US" sz="1100" dirty="0"/>
          </a:p>
        </p:txBody>
      </p:sp>
      <p:sp>
        <p:nvSpPr>
          <p:cNvPr id="40" name="Shape 38"/>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41" name="Text 39"/>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it in steps</a:t>
            </a:r>
            <a:endParaRPr lang="en-US" sz="1300" dirty="0"/>
          </a:p>
        </p:txBody>
      </p:sp>
      <p:sp>
        <p:nvSpPr>
          <p:cNvPr id="42" name="Text 40"/>
          <p:cNvSpPr/>
          <p:nvPr/>
        </p:nvSpPr>
        <p:spPr>
          <a:xfrm>
            <a:off x="6382512" y="4224528"/>
            <a:ext cx="5233111"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can touching a live wire kill you, even if the appliance is switched off?</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p.d.   </a:t>
            </a:r>
            <a:r>
              <a:rPr lang="en-US" sz="1050" dirty="0">
                <a:solidFill>
                  <a:srgbClr val="262B3A"/>
                </a:solidFill>
                <a:latin typeface="Calibri" pitchFamily="34" charset="0"/>
                <a:ea typeface="Calibri" pitchFamily="34" charset="-122"/>
                <a:cs typeface="Calibri" pitchFamily="34" charset="-120"/>
              </a:rPr>
              <a:t>the live wire is at about 230 V; you and the ground are at 0 V</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Path   </a:t>
            </a:r>
            <a:r>
              <a:rPr lang="en-US" sz="1050" dirty="0">
                <a:solidFill>
                  <a:srgbClr val="262B3A"/>
                </a:solidFill>
                <a:latin typeface="Calibri" pitchFamily="34" charset="0"/>
                <a:ea typeface="Calibri" pitchFamily="34" charset="-122"/>
                <a:cs typeface="Calibri" pitchFamily="34" charset="-120"/>
              </a:rPr>
              <a:t>your body connects the live wire to earth</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Current   </a:t>
            </a:r>
            <a:r>
              <a:rPr lang="en-US" sz="1050" dirty="0">
                <a:solidFill>
                  <a:srgbClr val="262B3A"/>
                </a:solidFill>
                <a:latin typeface="Calibri" pitchFamily="34" charset="0"/>
                <a:ea typeface="Calibri" pitchFamily="34" charset="-122"/>
                <a:cs typeface="Calibri" pitchFamily="34" charset="-120"/>
              </a:rPr>
              <a:t>a large current flows through you to earth</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electric shock – possibly fatal</a:t>
            </a:r>
            <a:endParaRPr lang="en-US" sz="1050" dirty="0"/>
          </a:p>
        </p:txBody>
      </p:sp>
      <p:sp>
        <p:nvSpPr>
          <p:cNvPr id="43" name="Shape 41"/>
          <p:cNvSpPr/>
          <p:nvPr/>
        </p:nvSpPr>
        <p:spPr>
          <a:xfrm>
            <a:off x="411480" y="5833872"/>
            <a:ext cx="11368735" cy="530352"/>
          </a:xfrm>
          <a:prstGeom prst="rect">
            <a:avLst/>
          </a:prstGeom>
          <a:solidFill>
            <a:srgbClr val="FFF4E0"/>
          </a:solidFill>
          <a:ln w="6350">
            <a:solidFill>
              <a:srgbClr val="F1D9A8"/>
            </a:solidFill>
            <a:prstDash val="solid"/>
          </a:ln>
        </p:spPr>
      </p:sp>
      <p:sp>
        <p:nvSpPr>
          <p:cNvPr id="44" name="Shape 42"/>
          <p:cNvSpPr/>
          <p:nvPr/>
        </p:nvSpPr>
        <p:spPr>
          <a:xfrm>
            <a:off x="411480" y="5833872"/>
            <a:ext cx="82296" cy="530352"/>
          </a:xfrm>
          <a:prstGeom prst="rect">
            <a:avLst/>
          </a:prstGeom>
          <a:solidFill>
            <a:srgbClr val="E39A2F"/>
          </a:solidFill>
          <a:ln w="12700">
            <a:solidFill>
              <a:srgbClr val="E39A2F"/>
            </a:solidFill>
            <a:prstDash val="solid"/>
          </a:ln>
        </p:spPr>
      </p:sp>
      <p:sp>
        <p:nvSpPr>
          <p:cNvPr id="45" name="Text 4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State the colour of the live, neutral and earth wires and the p.d. of each relative to earth.</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Fuses, circuit breakers and the earth wire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10.41, 10.42 • how a fault is made safe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10.41  |  34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fault: the live wire touches the metal case of a heater</a:t>
            </a:r>
            <a:endParaRPr lang="en-US" sz="1000" dirty="0"/>
          </a:p>
        </p:txBody>
      </p:sp>
      <p:sp>
        <p:nvSpPr>
          <p:cNvPr id="10" name="Shape 8"/>
          <p:cNvSpPr/>
          <p:nvPr/>
        </p:nvSpPr>
        <p:spPr>
          <a:xfrm>
            <a:off x="685800" y="1600200"/>
            <a:ext cx="777240" cy="2926080"/>
          </a:xfrm>
          <a:prstGeom prst="roundRect">
            <a:avLst>
              <a:gd name="adj" fmla="val 5882"/>
            </a:avLst>
          </a:prstGeom>
          <a:solidFill>
            <a:srgbClr val="1F2A4A"/>
          </a:solidFill>
          <a:ln/>
        </p:spPr>
      </p:sp>
      <p:sp>
        <p:nvSpPr>
          <p:cNvPr id="11" name="Text 9"/>
          <p:cNvSpPr/>
          <p:nvPr/>
        </p:nvSpPr>
        <p:spPr>
          <a:xfrm>
            <a:off x="685800" y="1371600"/>
            <a:ext cx="777240" cy="219456"/>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mains</a:t>
            </a:r>
            <a:endParaRPr lang="en-US" sz="1050" dirty="0"/>
          </a:p>
        </p:txBody>
      </p:sp>
      <p:sp>
        <p:nvSpPr>
          <p:cNvPr id="12" name="Text 10"/>
          <p:cNvSpPr/>
          <p:nvPr/>
        </p:nvSpPr>
        <p:spPr>
          <a:xfrm>
            <a:off x="685800" y="1883664"/>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t>
            </a:r>
            <a:endParaRPr lang="en-US" sz="1200" dirty="0"/>
          </a:p>
        </p:txBody>
      </p:sp>
      <p:sp>
        <p:nvSpPr>
          <p:cNvPr id="13" name="Text 11"/>
          <p:cNvSpPr/>
          <p:nvPr/>
        </p:nvSpPr>
        <p:spPr>
          <a:xfrm>
            <a:off x="685800" y="2980944"/>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p>
        </p:txBody>
      </p:sp>
      <p:sp>
        <p:nvSpPr>
          <p:cNvPr id="14" name="Text 12"/>
          <p:cNvSpPr/>
          <p:nvPr/>
        </p:nvSpPr>
        <p:spPr>
          <a:xfrm>
            <a:off x="685800" y="3986784"/>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a:t>
            </a:r>
            <a:endParaRPr lang="en-US" sz="1200" dirty="0"/>
          </a:p>
        </p:txBody>
      </p:sp>
      <p:sp>
        <p:nvSpPr>
          <p:cNvPr id="15" name="Shape 13"/>
          <p:cNvSpPr/>
          <p:nvPr/>
        </p:nvSpPr>
        <p:spPr>
          <a:xfrm>
            <a:off x="3794760" y="1600200"/>
            <a:ext cx="1965960" cy="3063240"/>
          </a:xfrm>
          <a:prstGeom prst="rect">
            <a:avLst/>
          </a:prstGeom>
          <a:solidFill>
            <a:srgbClr val="DDE2EA"/>
          </a:solidFill>
          <a:ln w="38100">
            <a:solidFill>
              <a:srgbClr val="5A6275"/>
            </a:solidFill>
            <a:prstDash val="solid"/>
          </a:ln>
        </p:spPr>
      </p:sp>
      <p:sp>
        <p:nvSpPr>
          <p:cNvPr id="16" name="Text 14"/>
          <p:cNvSpPr/>
          <p:nvPr/>
        </p:nvSpPr>
        <p:spPr>
          <a:xfrm>
            <a:off x="3794760" y="1627632"/>
            <a:ext cx="1965960" cy="228600"/>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metal case</a:t>
            </a:r>
            <a:endParaRPr lang="en-US" sz="1050" dirty="0"/>
          </a:p>
        </p:txBody>
      </p:sp>
      <p:sp>
        <p:nvSpPr>
          <p:cNvPr id="17" name="Shape 15"/>
          <p:cNvSpPr/>
          <p:nvPr/>
        </p:nvSpPr>
        <p:spPr>
          <a:xfrm>
            <a:off x="1463040" y="2011680"/>
            <a:ext cx="278892" cy="91"/>
          </a:xfrm>
          <a:prstGeom prst="line">
            <a:avLst/>
          </a:prstGeom>
          <a:noFill/>
          <a:ln w="19050">
            <a:solidFill>
              <a:srgbClr val="1A2340"/>
            </a:solidFill>
            <a:prstDash val="solid"/>
          </a:ln>
        </p:spPr>
      </p:sp>
      <p:sp>
        <p:nvSpPr>
          <p:cNvPr id="18" name="Shape 16"/>
          <p:cNvSpPr/>
          <p:nvPr/>
        </p:nvSpPr>
        <p:spPr>
          <a:xfrm>
            <a:off x="2235708" y="2011680"/>
            <a:ext cx="278892" cy="91"/>
          </a:xfrm>
          <a:prstGeom prst="line">
            <a:avLst/>
          </a:prstGeom>
          <a:noFill/>
          <a:ln w="19050">
            <a:solidFill>
              <a:srgbClr val="1A2340"/>
            </a:solidFill>
            <a:prstDash val="solid"/>
          </a:ln>
        </p:spPr>
      </p:sp>
      <p:sp>
        <p:nvSpPr>
          <p:cNvPr id="19" name="Shape 17"/>
          <p:cNvSpPr/>
          <p:nvPr/>
        </p:nvSpPr>
        <p:spPr>
          <a:xfrm>
            <a:off x="1741932" y="1929384"/>
            <a:ext cx="493776" cy="164592"/>
          </a:xfrm>
          <a:prstGeom prst="rect">
            <a:avLst/>
          </a:prstGeom>
          <a:solidFill>
            <a:srgbClr val="FFFFFF"/>
          </a:solidFill>
          <a:ln w="19050">
            <a:solidFill>
              <a:srgbClr val="1A2340"/>
            </a:solidFill>
            <a:prstDash val="solid"/>
          </a:ln>
        </p:spPr>
      </p:sp>
      <p:sp>
        <p:nvSpPr>
          <p:cNvPr id="20" name="Shape 18"/>
          <p:cNvSpPr/>
          <p:nvPr/>
        </p:nvSpPr>
        <p:spPr>
          <a:xfrm>
            <a:off x="1741932" y="2011680"/>
            <a:ext cx="493776" cy="91"/>
          </a:xfrm>
          <a:prstGeom prst="line">
            <a:avLst/>
          </a:prstGeom>
          <a:noFill/>
          <a:ln w="19050">
            <a:solidFill>
              <a:srgbClr val="1A2340"/>
            </a:solidFill>
            <a:prstDash val="solid"/>
          </a:ln>
        </p:spPr>
      </p:sp>
      <p:sp>
        <p:nvSpPr>
          <p:cNvPr id="21" name="Text 19"/>
          <p:cNvSpPr/>
          <p:nvPr/>
        </p:nvSpPr>
        <p:spPr>
          <a:xfrm>
            <a:off x="1394460" y="1618488"/>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fuse</a:t>
            </a:r>
            <a:endParaRPr lang="en-US" sz="1050" dirty="0"/>
          </a:p>
        </p:txBody>
      </p:sp>
      <p:sp>
        <p:nvSpPr>
          <p:cNvPr id="22" name="Shape 20"/>
          <p:cNvSpPr/>
          <p:nvPr/>
        </p:nvSpPr>
        <p:spPr>
          <a:xfrm>
            <a:off x="2514600" y="2011680"/>
            <a:ext cx="338328" cy="91"/>
          </a:xfrm>
          <a:prstGeom prst="line">
            <a:avLst/>
          </a:prstGeom>
          <a:noFill/>
          <a:ln w="19050">
            <a:solidFill>
              <a:srgbClr val="1A2340"/>
            </a:solidFill>
            <a:prstDash val="solid"/>
          </a:ln>
        </p:spPr>
      </p:sp>
      <p:sp>
        <p:nvSpPr>
          <p:cNvPr id="23" name="Shape 21"/>
          <p:cNvSpPr/>
          <p:nvPr/>
        </p:nvSpPr>
        <p:spPr>
          <a:xfrm>
            <a:off x="3182112" y="2011680"/>
            <a:ext cx="338328" cy="91"/>
          </a:xfrm>
          <a:prstGeom prst="line">
            <a:avLst/>
          </a:prstGeom>
          <a:noFill/>
          <a:ln w="19050">
            <a:solidFill>
              <a:srgbClr val="1A2340"/>
            </a:solidFill>
            <a:prstDash val="solid"/>
          </a:ln>
        </p:spPr>
      </p:sp>
      <p:sp>
        <p:nvSpPr>
          <p:cNvPr id="24" name="Shape 22"/>
          <p:cNvSpPr/>
          <p:nvPr/>
        </p:nvSpPr>
        <p:spPr>
          <a:xfrm>
            <a:off x="2820924" y="1979676"/>
            <a:ext cx="64008" cy="64008"/>
          </a:xfrm>
          <a:prstGeom prst="ellipse">
            <a:avLst/>
          </a:prstGeom>
          <a:solidFill>
            <a:srgbClr val="1A2340"/>
          </a:solidFill>
          <a:ln w="12700">
            <a:solidFill>
              <a:srgbClr val="1A2340"/>
            </a:solidFill>
            <a:prstDash val="solid"/>
          </a:ln>
        </p:spPr>
      </p:sp>
      <p:sp>
        <p:nvSpPr>
          <p:cNvPr id="25" name="Shape 23"/>
          <p:cNvSpPr/>
          <p:nvPr/>
        </p:nvSpPr>
        <p:spPr>
          <a:xfrm>
            <a:off x="3150108" y="1979676"/>
            <a:ext cx="64008" cy="64008"/>
          </a:xfrm>
          <a:prstGeom prst="ellipse">
            <a:avLst/>
          </a:prstGeom>
          <a:solidFill>
            <a:srgbClr val="1A2340"/>
          </a:solidFill>
          <a:ln w="12700">
            <a:solidFill>
              <a:srgbClr val="1A2340"/>
            </a:solidFill>
            <a:prstDash val="solid"/>
          </a:ln>
        </p:spPr>
      </p:sp>
      <p:sp>
        <p:nvSpPr>
          <p:cNvPr id="26" name="Shape 24"/>
          <p:cNvSpPr/>
          <p:nvPr/>
        </p:nvSpPr>
        <p:spPr>
          <a:xfrm>
            <a:off x="2852928" y="2011680"/>
            <a:ext cx="329184" cy="91"/>
          </a:xfrm>
          <a:prstGeom prst="line">
            <a:avLst/>
          </a:prstGeom>
          <a:noFill/>
          <a:ln w="19050">
            <a:solidFill>
              <a:srgbClr val="1A2340"/>
            </a:solidFill>
            <a:prstDash val="solid"/>
          </a:ln>
        </p:spPr>
      </p:sp>
      <p:sp>
        <p:nvSpPr>
          <p:cNvPr id="27" name="Text 25"/>
          <p:cNvSpPr/>
          <p:nvPr/>
        </p:nvSpPr>
        <p:spPr>
          <a:xfrm>
            <a:off x="2423160" y="1600200"/>
            <a:ext cx="1188720" cy="237744"/>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switch</a:t>
            </a:r>
            <a:endParaRPr lang="en-US" sz="1050" dirty="0"/>
          </a:p>
        </p:txBody>
      </p:sp>
      <p:sp>
        <p:nvSpPr>
          <p:cNvPr id="28" name="Shape 26"/>
          <p:cNvSpPr/>
          <p:nvPr/>
        </p:nvSpPr>
        <p:spPr>
          <a:xfrm>
            <a:off x="3520440" y="2011680"/>
            <a:ext cx="1508760" cy="91"/>
          </a:xfrm>
          <a:prstGeom prst="line">
            <a:avLst/>
          </a:prstGeom>
          <a:noFill/>
          <a:ln w="25400">
            <a:solidFill>
              <a:srgbClr val="8B5A2B"/>
            </a:solidFill>
            <a:prstDash val="solid"/>
          </a:ln>
        </p:spPr>
      </p:sp>
      <p:sp>
        <p:nvSpPr>
          <p:cNvPr id="29" name="Shape 27"/>
          <p:cNvSpPr/>
          <p:nvPr/>
        </p:nvSpPr>
        <p:spPr>
          <a:xfrm>
            <a:off x="5029200" y="2011680"/>
            <a:ext cx="91" cy="301752"/>
          </a:xfrm>
          <a:prstGeom prst="line">
            <a:avLst/>
          </a:prstGeom>
          <a:noFill/>
          <a:ln w="19050">
            <a:solidFill>
              <a:srgbClr val="1A2340"/>
            </a:solidFill>
            <a:prstDash val="solid"/>
          </a:ln>
        </p:spPr>
      </p:sp>
      <p:sp>
        <p:nvSpPr>
          <p:cNvPr id="30" name="Shape 28"/>
          <p:cNvSpPr/>
          <p:nvPr/>
        </p:nvSpPr>
        <p:spPr>
          <a:xfrm>
            <a:off x="5029200" y="2807208"/>
            <a:ext cx="91" cy="301752"/>
          </a:xfrm>
          <a:prstGeom prst="line">
            <a:avLst/>
          </a:prstGeom>
          <a:noFill/>
          <a:ln w="19050">
            <a:solidFill>
              <a:srgbClr val="1A2340"/>
            </a:solidFill>
            <a:prstDash val="solid"/>
          </a:ln>
        </p:spPr>
      </p:sp>
      <p:sp>
        <p:nvSpPr>
          <p:cNvPr id="31" name="Shape 29"/>
          <p:cNvSpPr/>
          <p:nvPr/>
        </p:nvSpPr>
        <p:spPr>
          <a:xfrm>
            <a:off x="4937760" y="2313432"/>
            <a:ext cx="182880" cy="493776"/>
          </a:xfrm>
          <a:prstGeom prst="rect">
            <a:avLst/>
          </a:prstGeom>
          <a:solidFill>
            <a:srgbClr val="FFFFFF"/>
          </a:solidFill>
          <a:ln w="19050">
            <a:solidFill>
              <a:srgbClr val="1A2340"/>
            </a:solidFill>
            <a:prstDash val="solid"/>
          </a:ln>
        </p:spPr>
      </p:sp>
      <p:sp>
        <p:nvSpPr>
          <p:cNvPr id="32" name="Text 30"/>
          <p:cNvSpPr/>
          <p:nvPr/>
        </p:nvSpPr>
        <p:spPr>
          <a:xfrm>
            <a:off x="3931920" y="2354580"/>
            <a:ext cx="822960" cy="411480"/>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heating</a:t>
            </a:r>
            <a:endParaRPr lang="en-US" sz="1050" dirty="0"/>
          </a:p>
          <a:p>
            <a:pPr algn="r" indent="0" marL="0">
              <a:buNone/>
            </a:pPr>
            <a:r>
              <a:rPr lang="en-US" sz="1050" b="1" dirty="0">
                <a:solidFill>
                  <a:srgbClr val="1A2340"/>
                </a:solidFill>
                <a:latin typeface="Calibri" pitchFamily="34" charset="0"/>
                <a:ea typeface="Calibri" pitchFamily="34" charset="-122"/>
                <a:cs typeface="Calibri" pitchFamily="34" charset="-120"/>
              </a:rPr>
              <a:t>element</a:t>
            </a:r>
            <a:endParaRPr lang="en-US" sz="1050" dirty="0"/>
          </a:p>
        </p:txBody>
      </p:sp>
      <p:sp>
        <p:nvSpPr>
          <p:cNvPr id="33" name="Shape 31"/>
          <p:cNvSpPr/>
          <p:nvPr/>
        </p:nvSpPr>
        <p:spPr>
          <a:xfrm>
            <a:off x="1463040" y="3108960"/>
            <a:ext cx="3566160" cy="91"/>
          </a:xfrm>
          <a:prstGeom prst="line">
            <a:avLst/>
          </a:prstGeom>
          <a:noFill/>
          <a:ln w="25400">
            <a:solidFill>
              <a:srgbClr val="2E5BD8"/>
            </a:solidFill>
            <a:prstDash val="solid"/>
          </a:ln>
        </p:spPr>
      </p:sp>
      <p:sp>
        <p:nvSpPr>
          <p:cNvPr id="34" name="Shape 32"/>
          <p:cNvSpPr/>
          <p:nvPr/>
        </p:nvSpPr>
        <p:spPr>
          <a:xfrm>
            <a:off x="1463040" y="4114800"/>
            <a:ext cx="2331720" cy="91"/>
          </a:xfrm>
          <a:prstGeom prst="line">
            <a:avLst/>
          </a:prstGeom>
          <a:noFill/>
          <a:ln w="31750">
            <a:solidFill>
              <a:srgbClr val="2E8B57"/>
            </a:solidFill>
            <a:prstDash val="solid"/>
          </a:ln>
        </p:spPr>
      </p:sp>
      <p:sp>
        <p:nvSpPr>
          <p:cNvPr id="35" name="Shape 33"/>
          <p:cNvSpPr/>
          <p:nvPr/>
        </p:nvSpPr>
        <p:spPr>
          <a:xfrm>
            <a:off x="3744468" y="4064508"/>
            <a:ext cx="100584" cy="100584"/>
          </a:xfrm>
          <a:prstGeom prst="ellipse">
            <a:avLst/>
          </a:prstGeom>
          <a:solidFill>
            <a:srgbClr val="1A2340"/>
          </a:solidFill>
          <a:ln w="6350">
            <a:solidFill>
              <a:srgbClr val="1A2340"/>
            </a:solidFill>
            <a:prstDash val="solid"/>
          </a:ln>
        </p:spPr>
      </p:sp>
      <p:sp>
        <p:nvSpPr>
          <p:cNvPr id="36" name="Text 34"/>
          <p:cNvSpPr/>
          <p:nvPr/>
        </p:nvSpPr>
        <p:spPr>
          <a:xfrm>
            <a:off x="1554480" y="3154680"/>
            <a:ext cx="1280160" cy="256032"/>
          </a:xfrm>
          <a:prstGeom prst="rect">
            <a:avLst/>
          </a:prstGeom>
          <a:noFill/>
          <a:ln/>
        </p:spPr>
        <p:txBody>
          <a:bodyPr wrap="square" lIns="0" tIns="0" rIns="0" bIns="0" rtlCol="0" anchor="ctr"/>
          <a:lstStyle/>
          <a:p>
            <a:pPr algn="l" indent="0" marL="0">
              <a:buNone/>
            </a:pPr>
            <a:r>
              <a:rPr lang="en-US" sz="1000" b="1" dirty="0">
                <a:solidFill>
                  <a:srgbClr val="2E5BD8"/>
                </a:solidFill>
                <a:latin typeface="Calibri" pitchFamily="34" charset="0"/>
                <a:ea typeface="Calibri" pitchFamily="34" charset="-122"/>
                <a:cs typeface="Calibri" pitchFamily="34" charset="-120"/>
              </a:rPr>
              <a:t>neutral</a:t>
            </a:r>
            <a:endParaRPr lang="en-US" sz="1000" dirty="0"/>
          </a:p>
        </p:txBody>
      </p:sp>
      <p:sp>
        <p:nvSpPr>
          <p:cNvPr id="37" name="Text 35"/>
          <p:cNvSpPr/>
          <p:nvPr/>
        </p:nvSpPr>
        <p:spPr>
          <a:xfrm>
            <a:off x="1554480" y="4160520"/>
            <a:ext cx="1280160" cy="256032"/>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earth</a:t>
            </a:r>
            <a:endParaRPr lang="en-US" sz="1000" dirty="0"/>
          </a:p>
        </p:txBody>
      </p:sp>
      <p:sp>
        <p:nvSpPr>
          <p:cNvPr id="38" name="Shape 36"/>
          <p:cNvSpPr/>
          <p:nvPr/>
        </p:nvSpPr>
        <p:spPr>
          <a:xfrm flipH="1" flipV="1">
            <a:off x="4114800" y="1783080"/>
            <a:ext cx="91440" cy="228600"/>
          </a:xfrm>
          <a:prstGeom prst="line">
            <a:avLst/>
          </a:prstGeom>
          <a:noFill/>
          <a:ln w="31750">
            <a:solidFill>
              <a:srgbClr val="C8414C"/>
            </a:solidFill>
            <a:prstDash val="solid"/>
          </a:ln>
        </p:spPr>
      </p:sp>
      <p:sp>
        <p:nvSpPr>
          <p:cNvPr id="39" name="Shape 37"/>
          <p:cNvSpPr/>
          <p:nvPr/>
        </p:nvSpPr>
        <p:spPr>
          <a:xfrm flipV="1">
            <a:off x="4114800" y="1737360"/>
            <a:ext cx="182880" cy="45720"/>
          </a:xfrm>
          <a:prstGeom prst="line">
            <a:avLst/>
          </a:prstGeom>
          <a:noFill/>
          <a:ln w="31750">
            <a:solidFill>
              <a:srgbClr val="C8414C"/>
            </a:solidFill>
            <a:prstDash val="solid"/>
          </a:ln>
        </p:spPr>
      </p:sp>
      <p:sp>
        <p:nvSpPr>
          <p:cNvPr id="40" name="Shape 38"/>
          <p:cNvSpPr/>
          <p:nvPr/>
        </p:nvSpPr>
        <p:spPr>
          <a:xfrm flipH="1" flipV="1">
            <a:off x="4206240" y="1600200"/>
            <a:ext cx="91440" cy="137160"/>
          </a:xfrm>
          <a:prstGeom prst="line">
            <a:avLst/>
          </a:prstGeom>
          <a:noFill/>
          <a:ln w="31750">
            <a:solidFill>
              <a:srgbClr val="C8414C"/>
            </a:solidFill>
            <a:prstDash val="solid"/>
          </a:ln>
        </p:spPr>
      </p:sp>
      <p:sp>
        <p:nvSpPr>
          <p:cNvPr id="41" name="Text 39"/>
          <p:cNvSpPr/>
          <p:nvPr/>
        </p:nvSpPr>
        <p:spPr>
          <a:xfrm>
            <a:off x="3429000" y="1188720"/>
            <a:ext cx="2377440" cy="256032"/>
          </a:xfrm>
          <a:prstGeom prst="rect">
            <a:avLst/>
          </a:prstGeom>
          <a:noFill/>
          <a:ln/>
        </p:spPr>
        <p:txBody>
          <a:bodyPr wrap="square" lIns="0" tIns="0" rIns="0" bIns="0" rtlCol="0" anchor="ctr"/>
          <a:lstStyle/>
          <a:p>
            <a:pPr algn="r" indent="0" marL="0">
              <a:buNone/>
            </a:pPr>
            <a:r>
              <a:rPr lang="en-US" sz="1050" b="1" dirty="0">
                <a:solidFill>
                  <a:srgbClr val="C8414C"/>
                </a:solidFill>
                <a:latin typeface="Calibri" pitchFamily="34" charset="0"/>
                <a:ea typeface="Calibri" pitchFamily="34" charset="-122"/>
                <a:cs typeface="Calibri" pitchFamily="34" charset="-120"/>
              </a:rPr>
              <a:t>FAULT: live touches case</a:t>
            </a:r>
            <a:endParaRPr lang="en-US" sz="1050" dirty="0"/>
          </a:p>
        </p:txBody>
      </p:sp>
      <p:sp>
        <p:nvSpPr>
          <p:cNvPr id="42" name="Shape 40"/>
          <p:cNvSpPr/>
          <p:nvPr/>
        </p:nvSpPr>
        <p:spPr>
          <a:xfrm flipH="1">
            <a:off x="1828800" y="4343400"/>
            <a:ext cx="1737360" cy="91"/>
          </a:xfrm>
          <a:prstGeom prst="line">
            <a:avLst/>
          </a:prstGeom>
          <a:noFill/>
          <a:ln w="38100">
            <a:solidFill>
              <a:srgbClr val="C8414C"/>
            </a:solidFill>
            <a:prstDash val="solid"/>
            <a:tailEnd type="triangle"/>
          </a:ln>
        </p:spPr>
      </p:sp>
      <p:sp>
        <p:nvSpPr>
          <p:cNvPr id="43" name="Text 41"/>
          <p:cNvSpPr/>
          <p:nvPr/>
        </p:nvSpPr>
        <p:spPr>
          <a:xfrm>
            <a:off x="685800" y="4754880"/>
            <a:ext cx="5120640" cy="411480"/>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large current flows to earth → fuse melts → live disconnected</a:t>
            </a:r>
            <a:endParaRPr lang="en-US" sz="1050" dirty="0"/>
          </a:p>
        </p:txBody>
      </p:sp>
      <p:sp>
        <p:nvSpPr>
          <p:cNvPr id="44" name="Shape 4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5" name="Text 4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Making a fault safe</a:t>
            </a:r>
            <a:endParaRPr lang="en-US" sz="1300" dirty="0"/>
          </a:p>
        </p:txBody>
      </p:sp>
      <p:sp>
        <p:nvSpPr>
          <p:cNvPr id="46" name="Text 4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Earth wire:</a:t>
            </a:r>
            <a:r>
              <a:rPr lang="en-US" sz="1150" dirty="0">
                <a:solidFill>
                  <a:srgbClr val="262B3A"/>
                </a:solidFill>
                <a:latin typeface="Calibri" pitchFamily="34" charset="0"/>
                <a:ea typeface="Calibri" pitchFamily="34" charset="-122"/>
                <a:cs typeface="Calibri" pitchFamily="34" charset="-120"/>
              </a:rPr>
              <a:t> connects the metal case to earth. If the live wire touches the case, a </a:t>
            </a:r>
            <a:r>
              <a:rPr lang="en-US" sz="1150" b="1" dirty="0">
                <a:solidFill>
                  <a:srgbClr val="262B3A"/>
                </a:solidFill>
                <a:latin typeface="Calibri" pitchFamily="34" charset="0"/>
                <a:ea typeface="Calibri" pitchFamily="34" charset="-122"/>
                <a:cs typeface="Calibri" pitchFamily="34" charset="-120"/>
              </a:rPr>
              <a:t>large current</a:t>
            </a:r>
            <a:r>
              <a:rPr lang="en-US" sz="1150" dirty="0">
                <a:solidFill>
                  <a:srgbClr val="262B3A"/>
                </a:solidFill>
                <a:latin typeface="Calibri" pitchFamily="34" charset="0"/>
                <a:ea typeface="Calibri" pitchFamily="34" charset="-122"/>
                <a:cs typeface="Calibri" pitchFamily="34" charset="-120"/>
              </a:rPr>
              <a:t> flows to earth through this low-resistance path.</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Fuse:</a:t>
            </a:r>
            <a:r>
              <a:rPr lang="en-US" sz="1150" dirty="0">
                <a:solidFill>
                  <a:srgbClr val="262B3A"/>
                </a:solidFill>
                <a:latin typeface="Calibri" pitchFamily="34" charset="0"/>
                <a:ea typeface="Calibri" pitchFamily="34" charset="-122"/>
                <a:cs typeface="Calibri" pitchFamily="34" charset="-120"/>
              </a:rPr>
              <a:t> a thin wire that </a:t>
            </a:r>
            <a:r>
              <a:rPr lang="en-US" sz="1150" b="1" dirty="0">
                <a:solidFill>
                  <a:srgbClr val="262B3A"/>
                </a:solidFill>
                <a:latin typeface="Calibri" pitchFamily="34" charset="0"/>
                <a:ea typeface="Calibri" pitchFamily="34" charset="-122"/>
                <a:cs typeface="Calibri" pitchFamily="34" charset="-120"/>
              </a:rPr>
              <a:t>melts</a:t>
            </a:r>
            <a:r>
              <a:rPr lang="en-US" sz="1150" dirty="0">
                <a:solidFill>
                  <a:srgbClr val="262B3A"/>
                </a:solidFill>
                <a:latin typeface="Calibri" pitchFamily="34" charset="0"/>
                <a:ea typeface="Calibri" pitchFamily="34" charset="-122"/>
                <a:cs typeface="Calibri" pitchFamily="34" charset="-120"/>
              </a:rPr>
              <a:t> when the current is too large, breaking the circuit. </a:t>
            </a:r>
            <a:r>
              <a:rPr lang="en-US" sz="1150" b="1" dirty="0">
                <a:solidFill>
                  <a:srgbClr val="262B3A"/>
                </a:solidFill>
                <a:latin typeface="Calibri" pitchFamily="34" charset="0"/>
                <a:ea typeface="Calibri" pitchFamily="34" charset="-122"/>
                <a:cs typeface="Calibri" pitchFamily="34" charset="-120"/>
              </a:rPr>
              <a:t>Circuit breaker:</a:t>
            </a:r>
            <a:r>
              <a:rPr lang="en-US" sz="1150" dirty="0">
                <a:solidFill>
                  <a:srgbClr val="262B3A"/>
                </a:solidFill>
                <a:latin typeface="Calibri" pitchFamily="34" charset="0"/>
                <a:ea typeface="Calibri" pitchFamily="34" charset="-122"/>
                <a:cs typeface="Calibri" pitchFamily="34" charset="-120"/>
              </a:rPr>
              <a:t> a switch that </a:t>
            </a:r>
            <a:r>
              <a:rPr lang="en-US" sz="1150" b="1" dirty="0">
                <a:solidFill>
                  <a:srgbClr val="262B3A"/>
                </a:solidFill>
                <a:latin typeface="Calibri" pitchFamily="34" charset="0"/>
                <a:ea typeface="Calibri" pitchFamily="34" charset="-122"/>
                <a:cs typeface="Calibri" pitchFamily="34" charset="-120"/>
              </a:rPr>
              <a:t>trips</a:t>
            </a:r>
            <a:r>
              <a:rPr lang="en-US" sz="1150" dirty="0">
                <a:solidFill>
                  <a:srgbClr val="262B3A"/>
                </a:solidFill>
                <a:latin typeface="Calibri" pitchFamily="34" charset="0"/>
                <a:ea typeface="Calibri" pitchFamily="34" charset="-122"/>
                <a:cs typeface="Calibri" pitchFamily="34" charset="-120"/>
              </a:rPr>
              <a:t> automatically – it acts faster and can be reset.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Switches and fuses go in the </a:t>
            </a:r>
            <a:r>
              <a:rPr lang="en-US" sz="1150" b="1" dirty="0">
                <a:solidFill>
                  <a:srgbClr val="262B3A"/>
                </a:solidFill>
                <a:latin typeface="Calibri" pitchFamily="34" charset="0"/>
                <a:ea typeface="Calibri" pitchFamily="34" charset="-122"/>
                <a:cs typeface="Calibri" pitchFamily="34" charset="-120"/>
              </a:rPr>
              <a:t>live wire</a:t>
            </a:r>
            <a:r>
              <a:rPr lang="en-US" sz="1150" dirty="0">
                <a:solidFill>
                  <a:srgbClr val="262B3A"/>
                </a:solidFill>
                <a:latin typeface="Calibri" pitchFamily="34" charset="0"/>
                <a:ea typeface="Calibri" pitchFamily="34" charset="-122"/>
                <a:cs typeface="Calibri" pitchFamily="34" charset="-120"/>
              </a:rPr>
              <a:t>, so that when they open, the appliance is </a:t>
            </a:r>
            <a:r>
              <a:rPr lang="en-US" sz="1150" b="1" dirty="0">
                <a:solidFill>
                  <a:srgbClr val="262B3A"/>
                </a:solidFill>
                <a:latin typeface="Calibri" pitchFamily="34" charset="0"/>
                <a:ea typeface="Calibri" pitchFamily="34" charset="-122"/>
                <a:cs typeface="Calibri" pitchFamily="34" charset="-120"/>
              </a:rPr>
              <a:t>disconnected from the high p.d.</a:t>
            </a:r>
            <a:endParaRPr lang="en-US" sz="1150" dirty="0"/>
          </a:p>
        </p:txBody>
      </p:sp>
      <p:sp>
        <p:nvSpPr>
          <p:cNvPr id="47" name="Shape 4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8" name="Text 4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choosing a fuse</a:t>
            </a:r>
            <a:endParaRPr lang="en-US" sz="1300" dirty="0"/>
          </a:p>
        </p:txBody>
      </p:sp>
      <p:sp>
        <p:nvSpPr>
          <p:cNvPr id="49" name="Text 4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2.3 kW kettle runs on 230 V. Fuses: 3 A, 5 A, 13 A. Which fuse?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P = I × V, so I = P ÷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Substitute   </a:t>
            </a:r>
            <a:r>
              <a:rPr lang="en-US" sz="1100" dirty="0">
                <a:solidFill>
                  <a:srgbClr val="262B3A"/>
                </a:solidFill>
                <a:latin typeface="Calibri" pitchFamily="34" charset="0"/>
                <a:ea typeface="Calibri" pitchFamily="34" charset="-122"/>
                <a:cs typeface="Calibri" pitchFamily="34" charset="-120"/>
              </a:rPr>
              <a:t>I = 2300 W ÷ 230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Current   </a:t>
            </a:r>
            <a:r>
              <a:rPr lang="en-US" sz="1100" dirty="0">
                <a:solidFill>
                  <a:srgbClr val="262B3A"/>
                </a:solidFill>
                <a:latin typeface="Calibri" pitchFamily="34" charset="0"/>
                <a:ea typeface="Calibri" pitchFamily="34" charset="-122"/>
                <a:cs typeface="Calibri" pitchFamily="34" charset="-120"/>
              </a:rPr>
              <a:t>I = 10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choose the </a:t>
            </a:r>
            <a:r>
              <a:rPr lang="en-US" sz="1100" b="1" dirty="0">
                <a:solidFill>
                  <a:srgbClr val="C8414C"/>
                </a:solidFill>
                <a:latin typeface="Calibri" pitchFamily="34" charset="0"/>
                <a:ea typeface="Calibri" pitchFamily="34" charset="-122"/>
                <a:cs typeface="Calibri" pitchFamily="34" charset="-120"/>
              </a:rPr>
              <a:t>13 A</a:t>
            </a:r>
            <a:r>
              <a:rPr lang="en-US" sz="1100" b="1" dirty="0">
                <a:solidFill>
                  <a:srgbClr val="C8414C"/>
                </a:solidFill>
                <a:latin typeface="Calibri" pitchFamily="34" charset="0"/>
                <a:ea typeface="Calibri" pitchFamily="34" charset="-122"/>
                <a:cs typeface="Calibri" pitchFamily="34" charset="-120"/>
              </a:rPr>
              <a:t> fuse (just above 10 A)</a:t>
            </a:r>
            <a:endParaRPr lang="en-US" sz="1100" dirty="0"/>
          </a:p>
        </p:txBody>
      </p:sp>
      <p:sp>
        <p:nvSpPr>
          <p:cNvPr id="50" name="Shape 48"/>
          <p:cNvSpPr/>
          <p:nvPr/>
        </p:nvSpPr>
        <p:spPr>
          <a:xfrm>
            <a:off x="411480" y="5833872"/>
            <a:ext cx="11368735" cy="530352"/>
          </a:xfrm>
          <a:prstGeom prst="rect">
            <a:avLst/>
          </a:prstGeom>
          <a:solidFill>
            <a:srgbClr val="FFF4E0"/>
          </a:solidFill>
          <a:ln w="6350">
            <a:solidFill>
              <a:srgbClr val="F1D9A8"/>
            </a:solidFill>
            <a:prstDash val="solid"/>
          </a:ln>
        </p:spPr>
      </p:sp>
      <p:sp>
        <p:nvSpPr>
          <p:cNvPr id="51" name="Shape 49"/>
          <p:cNvSpPr/>
          <p:nvPr/>
        </p:nvSpPr>
        <p:spPr>
          <a:xfrm>
            <a:off x="411480" y="5833872"/>
            <a:ext cx="82296" cy="530352"/>
          </a:xfrm>
          <a:prstGeom prst="rect">
            <a:avLst/>
          </a:prstGeom>
          <a:solidFill>
            <a:srgbClr val="E39A2F"/>
          </a:solidFill>
          <a:ln w="12700">
            <a:solidFill>
              <a:srgbClr val="E39A2F"/>
            </a:solidFill>
            <a:prstDash val="solid"/>
          </a:ln>
        </p:spPr>
      </p:sp>
      <p:sp>
        <p:nvSpPr>
          <p:cNvPr id="52" name="Text 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fuse must be in the live wire and not the neutral wire.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Power ratings of domestic appliances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10.33, 10.40 • energy transferred from the mains or batteries to useful stores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10.40  |  35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bar lengths drawn to scale (typical power ratings)</a:t>
            </a:r>
            <a:endParaRPr lang="en-US" sz="1000" dirty="0"/>
          </a:p>
        </p:txBody>
      </p:sp>
      <p:sp>
        <p:nvSpPr>
          <p:cNvPr id="10" name="Text 8"/>
          <p:cNvSpPr/>
          <p:nvPr/>
        </p:nvSpPr>
        <p:spPr>
          <a:xfrm>
            <a:off x="594360" y="1325880"/>
            <a:ext cx="1417320" cy="256032"/>
          </a:xfrm>
          <a:prstGeom prst="rect">
            <a:avLst/>
          </a:prstGeom>
          <a:noFill/>
          <a:ln/>
        </p:spPr>
        <p:txBody>
          <a:bodyPr wrap="square" lIns="0" tIns="0" rIns="0" bIns="0" rtlCol="0" anchor="ctr"/>
          <a:lstStyle/>
          <a:p>
            <a:pPr algn="r" indent="0" marL="0">
              <a:buNone/>
            </a:pPr>
            <a:r>
              <a:rPr lang="en-US" sz="1050" b="1" dirty="0">
                <a:solidFill>
                  <a:srgbClr val="1A2340"/>
                </a:solidFill>
                <a:latin typeface="Calibri" pitchFamily="34" charset="0"/>
                <a:ea typeface="Calibri" pitchFamily="34" charset="-122"/>
                <a:cs typeface="Calibri" pitchFamily="34" charset="-120"/>
              </a:rPr>
              <a:t>appliance</a:t>
            </a:r>
            <a:endParaRPr lang="en-US" sz="1050" dirty="0"/>
          </a:p>
        </p:txBody>
      </p:sp>
      <p:sp>
        <p:nvSpPr>
          <p:cNvPr id="11" name="Text 9"/>
          <p:cNvSpPr/>
          <p:nvPr/>
        </p:nvSpPr>
        <p:spPr>
          <a:xfrm>
            <a:off x="2194560" y="1325880"/>
            <a:ext cx="146304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power / W</a:t>
            </a:r>
            <a:endParaRPr lang="en-US" sz="1050" dirty="0"/>
          </a:p>
        </p:txBody>
      </p:sp>
      <p:sp>
        <p:nvSpPr>
          <p:cNvPr id="12" name="Text 10"/>
          <p:cNvSpPr/>
          <p:nvPr/>
        </p:nvSpPr>
        <p:spPr>
          <a:xfrm>
            <a:off x="4069080" y="1325880"/>
            <a:ext cx="187452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energy goes mainly to…</a:t>
            </a:r>
            <a:endParaRPr lang="en-US" sz="1050" dirty="0"/>
          </a:p>
        </p:txBody>
      </p:sp>
      <p:sp>
        <p:nvSpPr>
          <p:cNvPr id="13" name="Text 11"/>
          <p:cNvSpPr/>
          <p:nvPr/>
        </p:nvSpPr>
        <p:spPr>
          <a:xfrm>
            <a:off x="594360" y="1691640"/>
            <a:ext cx="141732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kettle</a:t>
            </a:r>
            <a:endParaRPr lang="en-US" sz="1050" dirty="0"/>
          </a:p>
        </p:txBody>
      </p:sp>
      <p:sp>
        <p:nvSpPr>
          <p:cNvPr id="14" name="Shape 12"/>
          <p:cNvSpPr/>
          <p:nvPr/>
        </p:nvSpPr>
        <p:spPr>
          <a:xfrm>
            <a:off x="2057400" y="1719072"/>
            <a:ext cx="1463040" cy="219456"/>
          </a:xfrm>
          <a:prstGeom prst="rect">
            <a:avLst/>
          </a:prstGeom>
          <a:solidFill>
            <a:srgbClr val="C8414C"/>
          </a:solidFill>
          <a:ln/>
        </p:spPr>
      </p:sp>
      <p:sp>
        <p:nvSpPr>
          <p:cNvPr id="15" name="Text 13"/>
          <p:cNvSpPr/>
          <p:nvPr/>
        </p:nvSpPr>
        <p:spPr>
          <a:xfrm>
            <a:off x="3575304" y="1691640"/>
            <a:ext cx="5486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2300</a:t>
            </a:r>
            <a:endParaRPr lang="en-US" sz="1000" dirty="0"/>
          </a:p>
        </p:txBody>
      </p:sp>
      <p:sp>
        <p:nvSpPr>
          <p:cNvPr id="16" name="Text 14"/>
          <p:cNvSpPr/>
          <p:nvPr/>
        </p:nvSpPr>
        <p:spPr>
          <a:xfrm>
            <a:off x="4069080" y="1691640"/>
            <a:ext cx="1874520" cy="256032"/>
          </a:xfrm>
          <a:prstGeom prst="rect">
            <a:avLst/>
          </a:prstGeom>
          <a:noFill/>
          <a:ln/>
        </p:spPr>
        <p:txBody>
          <a:bodyPr wrap="square" lIns="0" tIns="0" rIns="0" bIns="0" rtlCol="0" anchor="ctr"/>
          <a:lstStyle/>
          <a:p>
            <a:pPr algn="l" indent="0" marL="0">
              <a:buNone/>
            </a:pPr>
            <a:r>
              <a:rPr lang="en-US" sz="1000" dirty="0">
                <a:solidFill>
                  <a:srgbClr val="2E8B57"/>
                </a:solidFill>
                <a:latin typeface="Calibri" pitchFamily="34" charset="0"/>
                <a:ea typeface="Calibri" pitchFamily="34" charset="-122"/>
                <a:cs typeface="Calibri" pitchFamily="34" charset="-120"/>
              </a:rPr>
              <a:t>thermal store of water</a:t>
            </a:r>
            <a:endParaRPr lang="en-US" sz="1000" dirty="0"/>
          </a:p>
        </p:txBody>
      </p:sp>
      <p:sp>
        <p:nvSpPr>
          <p:cNvPr id="17" name="Text 15"/>
          <p:cNvSpPr/>
          <p:nvPr/>
        </p:nvSpPr>
        <p:spPr>
          <a:xfrm>
            <a:off x="594360" y="2194560"/>
            <a:ext cx="141732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hairdryer</a:t>
            </a:r>
            <a:endParaRPr lang="en-US" sz="1050" dirty="0"/>
          </a:p>
        </p:txBody>
      </p:sp>
      <p:sp>
        <p:nvSpPr>
          <p:cNvPr id="18" name="Shape 16"/>
          <p:cNvSpPr/>
          <p:nvPr/>
        </p:nvSpPr>
        <p:spPr>
          <a:xfrm>
            <a:off x="2057400" y="2221992"/>
            <a:ext cx="763325" cy="219456"/>
          </a:xfrm>
          <a:prstGeom prst="rect">
            <a:avLst/>
          </a:prstGeom>
          <a:solidFill>
            <a:srgbClr val="2E5BD8"/>
          </a:solidFill>
          <a:ln/>
        </p:spPr>
      </p:sp>
      <p:sp>
        <p:nvSpPr>
          <p:cNvPr id="19" name="Text 17"/>
          <p:cNvSpPr/>
          <p:nvPr/>
        </p:nvSpPr>
        <p:spPr>
          <a:xfrm>
            <a:off x="2875589" y="2194560"/>
            <a:ext cx="5486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1200</a:t>
            </a:r>
            <a:endParaRPr lang="en-US" sz="1000" dirty="0"/>
          </a:p>
        </p:txBody>
      </p:sp>
      <p:sp>
        <p:nvSpPr>
          <p:cNvPr id="20" name="Text 18"/>
          <p:cNvSpPr/>
          <p:nvPr/>
        </p:nvSpPr>
        <p:spPr>
          <a:xfrm>
            <a:off x="4069080" y="2194560"/>
            <a:ext cx="1874520" cy="256032"/>
          </a:xfrm>
          <a:prstGeom prst="rect">
            <a:avLst/>
          </a:prstGeom>
          <a:noFill/>
          <a:ln/>
        </p:spPr>
        <p:txBody>
          <a:bodyPr wrap="square" lIns="0" tIns="0" rIns="0" bIns="0" rtlCol="0" anchor="ctr"/>
          <a:lstStyle/>
          <a:p>
            <a:pPr algn="l" indent="0" marL="0">
              <a:buNone/>
            </a:pPr>
            <a:r>
              <a:rPr lang="en-US" sz="1000" dirty="0">
                <a:solidFill>
                  <a:srgbClr val="2E8B57"/>
                </a:solidFill>
                <a:latin typeface="Calibri" pitchFamily="34" charset="0"/>
                <a:ea typeface="Calibri" pitchFamily="34" charset="-122"/>
                <a:cs typeface="Calibri" pitchFamily="34" charset="-120"/>
              </a:rPr>
              <a:t>thermal + kinetic (motor)</a:t>
            </a:r>
            <a:endParaRPr lang="en-US" sz="1000" dirty="0"/>
          </a:p>
        </p:txBody>
      </p:sp>
      <p:sp>
        <p:nvSpPr>
          <p:cNvPr id="21" name="Text 19"/>
          <p:cNvSpPr/>
          <p:nvPr/>
        </p:nvSpPr>
        <p:spPr>
          <a:xfrm>
            <a:off x="594360" y="2697480"/>
            <a:ext cx="141732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microwave</a:t>
            </a:r>
            <a:endParaRPr lang="en-US" sz="1050" dirty="0"/>
          </a:p>
        </p:txBody>
      </p:sp>
      <p:sp>
        <p:nvSpPr>
          <p:cNvPr id="22" name="Shape 20"/>
          <p:cNvSpPr/>
          <p:nvPr/>
        </p:nvSpPr>
        <p:spPr>
          <a:xfrm>
            <a:off x="2057400" y="2724912"/>
            <a:ext cx="508883" cy="219456"/>
          </a:xfrm>
          <a:prstGeom prst="rect">
            <a:avLst/>
          </a:prstGeom>
          <a:solidFill>
            <a:srgbClr val="2E5BD8"/>
          </a:solidFill>
          <a:ln/>
        </p:spPr>
      </p:sp>
      <p:sp>
        <p:nvSpPr>
          <p:cNvPr id="23" name="Text 21"/>
          <p:cNvSpPr/>
          <p:nvPr/>
        </p:nvSpPr>
        <p:spPr>
          <a:xfrm>
            <a:off x="2621147" y="2697480"/>
            <a:ext cx="5486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800</a:t>
            </a:r>
            <a:endParaRPr lang="en-US" sz="1000" dirty="0"/>
          </a:p>
        </p:txBody>
      </p:sp>
      <p:sp>
        <p:nvSpPr>
          <p:cNvPr id="24" name="Text 22"/>
          <p:cNvSpPr/>
          <p:nvPr/>
        </p:nvSpPr>
        <p:spPr>
          <a:xfrm>
            <a:off x="4069080" y="2697480"/>
            <a:ext cx="1874520" cy="256032"/>
          </a:xfrm>
          <a:prstGeom prst="rect">
            <a:avLst/>
          </a:prstGeom>
          <a:noFill/>
          <a:ln/>
        </p:spPr>
        <p:txBody>
          <a:bodyPr wrap="square" lIns="0" tIns="0" rIns="0" bIns="0" rtlCol="0" anchor="ctr"/>
          <a:lstStyle/>
          <a:p>
            <a:pPr algn="l" indent="0" marL="0">
              <a:buNone/>
            </a:pPr>
            <a:r>
              <a:rPr lang="en-US" sz="1000" dirty="0">
                <a:solidFill>
                  <a:srgbClr val="2E8B57"/>
                </a:solidFill>
                <a:latin typeface="Calibri" pitchFamily="34" charset="0"/>
                <a:ea typeface="Calibri" pitchFamily="34" charset="-122"/>
                <a:cs typeface="Calibri" pitchFamily="34" charset="-120"/>
              </a:rPr>
              <a:t>thermal store of food</a:t>
            </a:r>
            <a:endParaRPr lang="en-US" sz="1000" dirty="0"/>
          </a:p>
        </p:txBody>
      </p:sp>
      <p:sp>
        <p:nvSpPr>
          <p:cNvPr id="25" name="Text 23"/>
          <p:cNvSpPr/>
          <p:nvPr/>
        </p:nvSpPr>
        <p:spPr>
          <a:xfrm>
            <a:off x="594360" y="3200400"/>
            <a:ext cx="141732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vacuum cleaner</a:t>
            </a:r>
            <a:endParaRPr lang="en-US" sz="1050" dirty="0"/>
          </a:p>
        </p:txBody>
      </p:sp>
      <p:sp>
        <p:nvSpPr>
          <p:cNvPr id="26" name="Shape 24"/>
          <p:cNvSpPr/>
          <p:nvPr/>
        </p:nvSpPr>
        <p:spPr>
          <a:xfrm>
            <a:off x="2057400" y="3227832"/>
            <a:ext cx="381663" cy="219456"/>
          </a:xfrm>
          <a:prstGeom prst="rect">
            <a:avLst/>
          </a:prstGeom>
          <a:solidFill>
            <a:srgbClr val="2E5BD8"/>
          </a:solidFill>
          <a:ln/>
        </p:spPr>
      </p:sp>
      <p:sp>
        <p:nvSpPr>
          <p:cNvPr id="27" name="Text 25"/>
          <p:cNvSpPr/>
          <p:nvPr/>
        </p:nvSpPr>
        <p:spPr>
          <a:xfrm>
            <a:off x="2493927" y="3200400"/>
            <a:ext cx="5486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600</a:t>
            </a:r>
            <a:endParaRPr lang="en-US" sz="1000" dirty="0"/>
          </a:p>
        </p:txBody>
      </p:sp>
      <p:sp>
        <p:nvSpPr>
          <p:cNvPr id="28" name="Text 26"/>
          <p:cNvSpPr/>
          <p:nvPr/>
        </p:nvSpPr>
        <p:spPr>
          <a:xfrm>
            <a:off x="4069080" y="3200400"/>
            <a:ext cx="1874520" cy="256032"/>
          </a:xfrm>
          <a:prstGeom prst="rect">
            <a:avLst/>
          </a:prstGeom>
          <a:noFill/>
          <a:ln/>
        </p:spPr>
        <p:txBody>
          <a:bodyPr wrap="square" lIns="0" tIns="0" rIns="0" bIns="0" rtlCol="0" anchor="ctr"/>
          <a:lstStyle/>
          <a:p>
            <a:pPr algn="l" indent="0" marL="0">
              <a:buNone/>
            </a:pPr>
            <a:r>
              <a:rPr lang="en-US" sz="1000" dirty="0">
                <a:solidFill>
                  <a:srgbClr val="2E8B57"/>
                </a:solidFill>
                <a:latin typeface="Calibri" pitchFamily="34" charset="0"/>
                <a:ea typeface="Calibri" pitchFamily="34" charset="-122"/>
                <a:cs typeface="Calibri" pitchFamily="34" charset="-120"/>
              </a:rPr>
              <a:t>kinetic store of the motor</a:t>
            </a:r>
            <a:endParaRPr lang="en-US" sz="1000" dirty="0"/>
          </a:p>
        </p:txBody>
      </p:sp>
      <p:sp>
        <p:nvSpPr>
          <p:cNvPr id="29" name="Text 27"/>
          <p:cNvSpPr/>
          <p:nvPr/>
        </p:nvSpPr>
        <p:spPr>
          <a:xfrm>
            <a:off x="594360" y="3703320"/>
            <a:ext cx="141732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television</a:t>
            </a:r>
            <a:endParaRPr lang="en-US" sz="1050" dirty="0"/>
          </a:p>
        </p:txBody>
      </p:sp>
      <p:sp>
        <p:nvSpPr>
          <p:cNvPr id="30" name="Shape 28"/>
          <p:cNvSpPr/>
          <p:nvPr/>
        </p:nvSpPr>
        <p:spPr>
          <a:xfrm>
            <a:off x="2057400" y="3730752"/>
            <a:ext cx="63610" cy="219456"/>
          </a:xfrm>
          <a:prstGeom prst="rect">
            <a:avLst/>
          </a:prstGeom>
          <a:solidFill>
            <a:srgbClr val="2E5BD8"/>
          </a:solidFill>
          <a:ln/>
        </p:spPr>
      </p:sp>
      <p:sp>
        <p:nvSpPr>
          <p:cNvPr id="31" name="Text 29"/>
          <p:cNvSpPr/>
          <p:nvPr/>
        </p:nvSpPr>
        <p:spPr>
          <a:xfrm>
            <a:off x="2175874" y="3703320"/>
            <a:ext cx="5486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100</a:t>
            </a:r>
            <a:endParaRPr lang="en-US" sz="1000" dirty="0"/>
          </a:p>
        </p:txBody>
      </p:sp>
      <p:sp>
        <p:nvSpPr>
          <p:cNvPr id="32" name="Text 30"/>
          <p:cNvSpPr/>
          <p:nvPr/>
        </p:nvSpPr>
        <p:spPr>
          <a:xfrm>
            <a:off x="4069080" y="3703320"/>
            <a:ext cx="1874520" cy="256032"/>
          </a:xfrm>
          <a:prstGeom prst="rect">
            <a:avLst/>
          </a:prstGeom>
          <a:noFill/>
          <a:ln/>
        </p:spPr>
        <p:txBody>
          <a:bodyPr wrap="square" lIns="0" tIns="0" rIns="0" bIns="0" rtlCol="0" anchor="ctr"/>
          <a:lstStyle/>
          <a:p>
            <a:pPr algn="l" indent="0" marL="0">
              <a:buNone/>
            </a:pPr>
            <a:r>
              <a:rPr lang="en-US" sz="1000" dirty="0">
                <a:solidFill>
                  <a:srgbClr val="2E8B57"/>
                </a:solidFill>
                <a:latin typeface="Calibri" pitchFamily="34" charset="0"/>
                <a:ea typeface="Calibri" pitchFamily="34" charset="-122"/>
                <a:cs typeface="Calibri" pitchFamily="34" charset="-120"/>
              </a:rPr>
              <a:t>light and sound (radiation)</a:t>
            </a:r>
            <a:endParaRPr lang="en-US" sz="1000" dirty="0"/>
          </a:p>
        </p:txBody>
      </p:sp>
      <p:sp>
        <p:nvSpPr>
          <p:cNvPr id="33" name="Text 31"/>
          <p:cNvSpPr/>
          <p:nvPr/>
        </p:nvSpPr>
        <p:spPr>
          <a:xfrm>
            <a:off x="594360" y="4206240"/>
            <a:ext cx="141732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LED lamp</a:t>
            </a:r>
            <a:endParaRPr lang="en-US" sz="1050" dirty="0"/>
          </a:p>
        </p:txBody>
      </p:sp>
      <p:sp>
        <p:nvSpPr>
          <p:cNvPr id="34" name="Shape 32"/>
          <p:cNvSpPr/>
          <p:nvPr/>
        </p:nvSpPr>
        <p:spPr>
          <a:xfrm>
            <a:off x="2057400" y="4233672"/>
            <a:ext cx="18288" cy="219456"/>
          </a:xfrm>
          <a:prstGeom prst="rect">
            <a:avLst/>
          </a:prstGeom>
          <a:solidFill>
            <a:srgbClr val="2E5BD8"/>
          </a:solidFill>
          <a:ln/>
        </p:spPr>
      </p:sp>
      <p:sp>
        <p:nvSpPr>
          <p:cNvPr id="35" name="Text 33"/>
          <p:cNvSpPr/>
          <p:nvPr/>
        </p:nvSpPr>
        <p:spPr>
          <a:xfrm>
            <a:off x="2118625" y="4206240"/>
            <a:ext cx="5486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10</a:t>
            </a:r>
            <a:endParaRPr lang="en-US" sz="1000" dirty="0"/>
          </a:p>
        </p:txBody>
      </p:sp>
      <p:sp>
        <p:nvSpPr>
          <p:cNvPr id="36" name="Text 34"/>
          <p:cNvSpPr/>
          <p:nvPr/>
        </p:nvSpPr>
        <p:spPr>
          <a:xfrm>
            <a:off x="4069080" y="4206240"/>
            <a:ext cx="1874520" cy="256032"/>
          </a:xfrm>
          <a:prstGeom prst="rect">
            <a:avLst/>
          </a:prstGeom>
          <a:noFill/>
          <a:ln/>
        </p:spPr>
        <p:txBody>
          <a:bodyPr wrap="square" lIns="0" tIns="0" rIns="0" bIns="0" rtlCol="0" anchor="ctr"/>
          <a:lstStyle/>
          <a:p>
            <a:pPr algn="l" indent="0" marL="0">
              <a:buNone/>
            </a:pPr>
            <a:r>
              <a:rPr lang="en-US" sz="1000" dirty="0">
                <a:solidFill>
                  <a:srgbClr val="2E8B57"/>
                </a:solidFill>
                <a:latin typeface="Calibri" pitchFamily="34" charset="0"/>
                <a:ea typeface="Calibri" pitchFamily="34" charset="-122"/>
                <a:cs typeface="Calibri" pitchFamily="34" charset="-120"/>
              </a:rPr>
              <a:t>light (radiation)</a:t>
            </a:r>
            <a:endParaRPr lang="en-US" sz="1000" dirty="0"/>
          </a:p>
        </p:txBody>
      </p:sp>
      <p:sp>
        <p:nvSpPr>
          <p:cNvPr id="37" name="Text 35"/>
          <p:cNvSpPr/>
          <p:nvPr/>
        </p:nvSpPr>
        <p:spPr>
          <a:xfrm>
            <a:off x="594360" y="4709160"/>
            <a:ext cx="141732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phone charger</a:t>
            </a:r>
            <a:endParaRPr lang="en-US" sz="1050" dirty="0"/>
          </a:p>
        </p:txBody>
      </p:sp>
      <p:sp>
        <p:nvSpPr>
          <p:cNvPr id="38" name="Shape 36"/>
          <p:cNvSpPr/>
          <p:nvPr/>
        </p:nvSpPr>
        <p:spPr>
          <a:xfrm>
            <a:off x="2057400" y="4736592"/>
            <a:ext cx="18288" cy="219456"/>
          </a:xfrm>
          <a:prstGeom prst="rect">
            <a:avLst/>
          </a:prstGeom>
          <a:solidFill>
            <a:srgbClr val="2E5BD8"/>
          </a:solidFill>
          <a:ln/>
        </p:spPr>
      </p:sp>
      <p:sp>
        <p:nvSpPr>
          <p:cNvPr id="39" name="Text 37"/>
          <p:cNvSpPr/>
          <p:nvPr/>
        </p:nvSpPr>
        <p:spPr>
          <a:xfrm>
            <a:off x="2115445" y="4709160"/>
            <a:ext cx="548640" cy="256032"/>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5</a:t>
            </a:r>
            <a:endParaRPr lang="en-US" sz="1000" dirty="0"/>
          </a:p>
        </p:txBody>
      </p:sp>
      <p:sp>
        <p:nvSpPr>
          <p:cNvPr id="40" name="Text 38"/>
          <p:cNvSpPr/>
          <p:nvPr/>
        </p:nvSpPr>
        <p:spPr>
          <a:xfrm>
            <a:off x="4069080" y="4709160"/>
            <a:ext cx="1874520" cy="256032"/>
          </a:xfrm>
          <a:prstGeom prst="rect">
            <a:avLst/>
          </a:prstGeom>
          <a:noFill/>
          <a:ln/>
        </p:spPr>
        <p:txBody>
          <a:bodyPr wrap="square" lIns="0" tIns="0" rIns="0" bIns="0" rtlCol="0" anchor="ctr"/>
          <a:lstStyle/>
          <a:p>
            <a:pPr algn="l" indent="0" marL="0">
              <a:buNone/>
            </a:pPr>
            <a:r>
              <a:rPr lang="en-US" sz="1000" dirty="0">
                <a:solidFill>
                  <a:srgbClr val="2E8B57"/>
                </a:solidFill>
                <a:latin typeface="Calibri" pitchFamily="34" charset="0"/>
                <a:ea typeface="Calibri" pitchFamily="34" charset="-122"/>
                <a:cs typeface="Calibri" pitchFamily="34" charset="-120"/>
              </a:rPr>
              <a:t>chemical store of battery</a:t>
            </a:r>
            <a:endParaRPr lang="en-US" sz="1000" dirty="0"/>
          </a:p>
        </p:txBody>
      </p:sp>
      <p:sp>
        <p:nvSpPr>
          <p:cNvPr id="41" name="Shape 3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2" name="Text 4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a power rating tells you</a:t>
            </a:r>
            <a:endParaRPr lang="en-US" sz="1300" dirty="0"/>
          </a:p>
        </p:txBody>
      </p:sp>
      <p:sp>
        <p:nvSpPr>
          <p:cNvPr id="43" name="Text 4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power rating</a:t>
            </a:r>
            <a:r>
              <a:rPr lang="en-US" sz="1150" dirty="0">
                <a:solidFill>
                  <a:srgbClr val="262B3A"/>
                </a:solidFill>
                <a:latin typeface="Calibri" pitchFamily="34" charset="0"/>
                <a:ea typeface="Calibri" pitchFamily="34" charset="-122"/>
                <a:cs typeface="Calibri" pitchFamily="34" charset="-120"/>
              </a:rPr>
              <a:t> is the energy transferred per second when the appliance is used: a 2300 W kettle transfers </a:t>
            </a:r>
            <a:r>
              <a:rPr lang="en-US" sz="1150" b="1" dirty="0">
                <a:solidFill>
                  <a:srgbClr val="262B3A"/>
                </a:solidFill>
                <a:latin typeface="Calibri" pitchFamily="34" charset="0"/>
                <a:ea typeface="Calibri" pitchFamily="34" charset="-122"/>
                <a:cs typeface="Calibri" pitchFamily="34" charset="-120"/>
              </a:rPr>
              <a:t>2300 J every second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Higher power → more energy transferred from the supply to the appliance’s </a:t>
            </a:r>
            <a:r>
              <a:rPr lang="en-US" sz="1150" b="1" dirty="0">
                <a:solidFill>
                  <a:srgbClr val="262B3A"/>
                </a:solidFill>
                <a:latin typeface="Calibri" pitchFamily="34" charset="0"/>
                <a:ea typeface="Calibri" pitchFamily="34" charset="-122"/>
                <a:cs typeface="Calibri" pitchFamily="34" charset="-120"/>
              </a:rPr>
              <a:t>useful stores</a:t>
            </a:r>
            <a:r>
              <a:rPr lang="en-US" sz="1150" dirty="0">
                <a:solidFill>
                  <a:srgbClr val="262B3A"/>
                </a:solidFill>
                <a:latin typeface="Calibri" pitchFamily="34" charset="0"/>
                <a:ea typeface="Calibri" pitchFamily="34" charset="-122"/>
                <a:cs typeface="Calibri" pitchFamily="34" charset="-120"/>
              </a:rPr>
              <a:t> (and wasted to the surroundings) in the same time.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Energy transferred = power × time (E = P × t). Mains devices use a.c.; portable devices are powered by batteries (d.c.).</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Efficiency</a:t>
            </a:r>
            <a:r>
              <a:rPr lang="en-US" sz="1150" dirty="0">
                <a:solidFill>
                  <a:srgbClr val="262B3A"/>
                </a:solidFill>
                <a:latin typeface="Calibri" pitchFamily="34" charset="0"/>
                <a:ea typeface="Calibri" pitchFamily="34" charset="-122"/>
                <a:cs typeface="Calibri" pitchFamily="34" charset="-120"/>
              </a:rPr>
              <a:t> = useful energy transferred ÷ total energy supplied.</a:t>
            </a:r>
            <a:endParaRPr lang="en-US" sz="1150" dirty="0"/>
          </a:p>
        </p:txBody>
      </p:sp>
      <p:sp>
        <p:nvSpPr>
          <p:cNvPr id="44" name="Shape 4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5" name="Text 4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6" name="Text 44"/>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2000 W heater is used for 30 minutes. A 2000 W kettle transfers 1800 J usefully each second.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Energy   </a:t>
            </a:r>
            <a:r>
              <a:rPr lang="en-US" sz="1100" dirty="0">
                <a:solidFill>
                  <a:srgbClr val="262B3A"/>
                </a:solidFill>
                <a:latin typeface="Calibri" pitchFamily="34" charset="0"/>
                <a:ea typeface="Calibri" pitchFamily="34" charset="-122"/>
                <a:cs typeface="Calibri" pitchFamily="34" charset="-120"/>
              </a:rPr>
              <a:t>E = P × t = 2000 × (30 × 60)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Result   </a:t>
            </a:r>
            <a:r>
              <a:rPr lang="en-US" sz="1100" dirty="0">
                <a:solidFill>
                  <a:srgbClr val="262B3A"/>
                </a:solidFill>
                <a:latin typeface="Calibri" pitchFamily="34" charset="0"/>
                <a:ea typeface="Calibri" pitchFamily="34" charset="-122"/>
                <a:cs typeface="Calibri" pitchFamily="34" charset="-120"/>
              </a:rPr>
              <a:t>E = 3.6 × 10⁶ J</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Efficiency   </a:t>
            </a:r>
            <a:r>
              <a:rPr lang="en-US" sz="1100" dirty="0">
                <a:solidFill>
                  <a:srgbClr val="262B3A"/>
                </a:solidFill>
                <a:latin typeface="Calibri" pitchFamily="34" charset="0"/>
                <a:ea typeface="Calibri" pitchFamily="34" charset="-122"/>
                <a:cs typeface="Calibri" pitchFamily="34" charset="-120"/>
              </a:rPr>
              <a:t>kettle = 1800 ÷ 2000</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efficiency = 0.9 (90%)</a:t>
            </a:r>
            <a:endParaRPr lang="en-US" sz="1100" dirty="0"/>
          </a:p>
        </p:txBody>
      </p:sp>
      <p:sp>
        <p:nvSpPr>
          <p:cNvPr id="47" name="Shape 45"/>
          <p:cNvSpPr/>
          <p:nvPr/>
        </p:nvSpPr>
        <p:spPr>
          <a:xfrm>
            <a:off x="411480" y="5833872"/>
            <a:ext cx="11368735" cy="530352"/>
          </a:xfrm>
          <a:prstGeom prst="rect">
            <a:avLst/>
          </a:prstGeom>
          <a:solidFill>
            <a:srgbClr val="FFF4E0"/>
          </a:solidFill>
          <a:ln w="6350">
            <a:solidFill>
              <a:srgbClr val="F1D9A8"/>
            </a:solidFill>
            <a:prstDash val="solid"/>
          </a:ln>
        </p:spPr>
      </p:sp>
      <p:sp>
        <p:nvSpPr>
          <p:cNvPr id="48" name="Shape 46"/>
          <p:cNvSpPr/>
          <p:nvPr/>
        </p:nvSpPr>
        <p:spPr>
          <a:xfrm>
            <a:off x="411480" y="5833872"/>
            <a:ext cx="82296" cy="530352"/>
          </a:xfrm>
          <a:prstGeom prst="rect">
            <a:avLst/>
          </a:prstGeom>
          <a:solidFill>
            <a:srgbClr val="E39A2F"/>
          </a:solidFill>
          <a:ln w="12700">
            <a:solidFill>
              <a:srgbClr val="E39A2F"/>
            </a:solidFill>
            <a:prstDash val="solid"/>
          </a:ln>
        </p:spPr>
      </p:sp>
      <p:sp>
        <p:nvSpPr>
          <p:cNvPr id="49" name="Text 4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energy transferred by a 10 W LED lamp left on for 1 hour.</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7</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10.33–10.43 • a.c., d.c. and mains safety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7  |  36</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difference between </a:t>
            </a:r>
            <a:r>
              <a:rPr lang="en-US" sz="1250" b="1" dirty="0">
                <a:solidFill>
                  <a:srgbClr val="262B3A"/>
                </a:solidFill>
                <a:latin typeface="Calibri" pitchFamily="34" charset="0"/>
                <a:ea typeface="Calibri" pitchFamily="34" charset="-122"/>
                <a:cs typeface="Calibri" pitchFamily="34" charset="-120"/>
              </a:rPr>
              <a:t>direct current</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alternating current</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the </a:t>
            </a:r>
            <a:r>
              <a:rPr lang="en-US" sz="1250" b="1" dirty="0">
                <a:solidFill>
                  <a:srgbClr val="262B3A"/>
                </a:solidFill>
                <a:latin typeface="Calibri" pitchFamily="34" charset="0"/>
                <a:ea typeface="Calibri" pitchFamily="34" charset="-122"/>
                <a:cs typeface="Calibri" pitchFamily="34" charset="-120"/>
              </a:rPr>
              <a:t>frequency</a:t>
            </a:r>
            <a:r>
              <a:rPr lang="en-US" sz="1250" dirty="0">
                <a:solidFill>
                  <a:srgbClr val="262B3A"/>
                </a:solidFill>
                <a:latin typeface="Calibri" pitchFamily="34" charset="0"/>
                <a:ea typeface="Calibri" pitchFamily="34" charset="-122"/>
                <a:cs typeface="Calibri" pitchFamily="34" charset="-120"/>
              </a:rPr>
              <a:t> and the </a:t>
            </a:r>
            <a:r>
              <a:rPr lang="en-US" sz="1250" b="1" dirty="0">
                <a:solidFill>
                  <a:srgbClr val="262B3A"/>
                </a:solidFill>
                <a:latin typeface="Calibri" pitchFamily="34" charset="0"/>
                <a:ea typeface="Calibri" pitchFamily="34" charset="-122"/>
                <a:cs typeface="Calibri" pitchFamily="34" charset="-120"/>
              </a:rPr>
              <a:t>potential difference</a:t>
            </a:r>
            <a:r>
              <a:rPr lang="en-US" sz="1250" dirty="0">
                <a:solidFill>
                  <a:srgbClr val="262B3A"/>
                </a:solidFill>
                <a:latin typeface="Calibri" pitchFamily="34" charset="0"/>
                <a:ea typeface="Calibri" pitchFamily="34" charset="-122"/>
                <a:cs typeface="Calibri" pitchFamily="34" charset="-120"/>
              </a:rPr>
              <a:t> of the UK domestic mains supply.</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live wire inside a metal toaster comes loose and touches the metal case. Explain how the </a:t>
            </a:r>
            <a:r>
              <a:rPr lang="en-US" sz="1250" b="1" dirty="0">
                <a:solidFill>
                  <a:srgbClr val="262B3A"/>
                </a:solidFill>
                <a:latin typeface="Calibri" pitchFamily="34" charset="0"/>
                <a:ea typeface="Calibri" pitchFamily="34" charset="-122"/>
                <a:cs typeface="Calibri" pitchFamily="34" charset="-120"/>
              </a:rPr>
              <a:t>earth wire</a:t>
            </a:r>
            <a:r>
              <a:rPr lang="en-US" sz="1250" dirty="0">
                <a:solidFill>
                  <a:srgbClr val="262B3A"/>
                </a:solidFill>
                <a:latin typeface="Calibri" pitchFamily="34" charset="0"/>
                <a:ea typeface="Calibri" pitchFamily="34" charset="-122"/>
                <a:cs typeface="Calibri" pitchFamily="34" charset="-120"/>
              </a:rPr>
              <a:t> and the </a:t>
            </a:r>
            <a:r>
              <a:rPr lang="en-US" sz="1250" b="1" dirty="0">
                <a:solidFill>
                  <a:srgbClr val="262B3A"/>
                </a:solidFill>
                <a:latin typeface="Calibri" pitchFamily="34" charset="0"/>
                <a:ea typeface="Calibri" pitchFamily="34" charset="-122"/>
                <a:cs typeface="Calibri" pitchFamily="34" charset="-120"/>
              </a:rPr>
              <a:t>fuse</a:t>
            </a:r>
            <a:r>
              <a:rPr lang="en-US" sz="1250" dirty="0">
                <a:solidFill>
                  <a:srgbClr val="262B3A"/>
                </a:solidFill>
                <a:latin typeface="Calibri" pitchFamily="34" charset="0"/>
                <a:ea typeface="Calibri" pitchFamily="34" charset="-122"/>
                <a:cs typeface="Calibri" pitchFamily="34" charset="-120"/>
              </a:rPr>
              <a:t> protect the user.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10 equations • RECALL = learn it; GIVEN = on the Physics Equations List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37</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Q = I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charge (C) = current (A) × time (s)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E = Q × V</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energy transferred (J) = charge moved (C) × potential difference (V)</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V = I × R</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potential difference (V) = current (A) × resistance (Ω)</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10.13</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E = I × V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energy transferred (J) = current (A) × potential difference (V) × time (s)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10.27</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E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power (W) = energy transferred (J) ÷ time taken (s)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10.29</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I × V</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electrical power (W) = current (A) × potential difference (V)</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10.31</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I² × R</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electrical power (W) = current squared (A²) × resistance (Ω)</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10.32</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Cover the middle column. For each equation, say every quantity and its unit aloud.</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10 Electricity and circuits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38</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Electric current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Rate of flow of charge, in amps (A); carried by electrons in metals.</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Charge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Measured in coulombs (C): Q = I × t.</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Potential difference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transferred per unit charge; 1 V = 1 J/C.</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Resistance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Opposition to current, in ohms (Ω): R = V ÷ I.</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Series circuit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One loop: same current everywhere; p.d. is shared; resistances add.</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Parallel circuit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Separate branches: same p.d. on each; branch currents add.</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Ammeter / voltmeter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Ammeter in series (current); voltmeter in parallel (p.d.).</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Filament lamp</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Resistance increases as it gets hotter: curved I–V graph.</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Diode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Lets current flow in one direction only; very high resistance in reverse.</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LDR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Light-dependent resistor: resistance falls as light intensity rises.</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Thermistor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NTC: resistance falls as temperature rises.</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Power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transferred per second, in watts (W): P = I × V.</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Direct current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d.c.: charge flows in one direction only (cells, batteries).</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Alternating current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a.c.: direction keeps changing; UK mains 230 V, 50 Hz.</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Fuse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Thin wire in the live wire that melts if the current is too large.</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Earth wire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Green/yellow safety wire connecting metal cases to earth (0 V).</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10.6–10.18, 10.31–10.32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39</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investigates a </a:t>
            </a:r>
            <a:r>
              <a:rPr lang="en-US" sz="1200" b="1" i="1" dirty="0">
                <a:solidFill>
                  <a:srgbClr val="262B3A"/>
                </a:solidFill>
                <a:latin typeface="Calibri" pitchFamily="34" charset="0"/>
                <a:ea typeface="Calibri" pitchFamily="34" charset="-122"/>
                <a:cs typeface="Calibri" pitchFamily="34" charset="-120"/>
              </a:rPr>
              <a:t>filament lamp</a:t>
            </a:r>
            <a:r>
              <a:rPr lang="en-US" sz="1200" i="1" dirty="0">
                <a:solidFill>
                  <a:srgbClr val="262B3A"/>
                </a:solidFill>
                <a:latin typeface="Calibri" pitchFamily="34" charset="0"/>
                <a:ea typeface="Calibri" pitchFamily="34" charset="-122"/>
                <a:cs typeface="Calibri" pitchFamily="34" charset="-120"/>
              </a:rPr>
              <a:t> using a battery, a variable resistor, an ammeter and a voltmeter. At </a:t>
            </a:r>
            <a:r>
              <a:rPr lang="en-US" sz="1200" b="1" i="1" dirty="0">
                <a:solidFill>
                  <a:srgbClr val="262B3A"/>
                </a:solidFill>
                <a:latin typeface="Calibri" pitchFamily="34" charset="0"/>
                <a:ea typeface="Calibri" pitchFamily="34" charset="-122"/>
                <a:cs typeface="Calibri" pitchFamily="34" charset="-120"/>
              </a:rPr>
              <a:t>3.0 V</a:t>
            </a:r>
            <a:r>
              <a:rPr lang="en-US" sz="1200" i="1" dirty="0">
                <a:solidFill>
                  <a:srgbClr val="262B3A"/>
                </a:solidFill>
                <a:latin typeface="Calibri" pitchFamily="34" charset="0"/>
                <a:ea typeface="Calibri" pitchFamily="34" charset="-122"/>
                <a:cs typeface="Calibri" pitchFamily="34" charset="-120"/>
              </a:rPr>
              <a:t> the current is </a:t>
            </a:r>
            <a:r>
              <a:rPr lang="en-US" sz="1200" b="1" i="1" dirty="0">
                <a:solidFill>
                  <a:srgbClr val="262B3A"/>
                </a:solidFill>
                <a:latin typeface="Calibri" pitchFamily="34" charset="0"/>
                <a:ea typeface="Calibri" pitchFamily="34" charset="-122"/>
                <a:cs typeface="Calibri" pitchFamily="34" charset="-120"/>
              </a:rPr>
              <a:t>0.20 A</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441704"/>
          </a:xfrm>
          <a:prstGeom prst="roundRect">
            <a:avLst>
              <a:gd name="adj" fmla="val 3171"/>
            </a:avLst>
          </a:prstGeom>
          <a:solidFill>
            <a:srgbClr val="F5F8FE"/>
          </a:solidFill>
          <a:ln w="9525">
            <a:solidFill>
              <a:srgbClr val="D5DCEB"/>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component the student adjusts to change the current in the circuit.</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D5DCEB"/>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resistance of the lamp when the p.d. is 3.0 V.</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5F8FE"/>
          </a:solidFill>
          <a:ln w="9525">
            <a:solidFill>
              <a:srgbClr val="D5DCEB"/>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Calculate the charge that flows through the lamp in </a:t>
            </a:r>
            <a:r>
              <a:rPr lang="en-US" sz="1200" b="1" dirty="0">
                <a:solidFill>
                  <a:srgbClr val="262B3A"/>
                </a:solidFill>
                <a:latin typeface="Calibri" pitchFamily="34" charset="0"/>
                <a:ea typeface="Calibri" pitchFamily="34" charset="-122"/>
                <a:cs typeface="Calibri" pitchFamily="34" charset="-120"/>
              </a:rPr>
              <a:t>2.0 minutes</a:t>
            </a:r>
            <a:r>
              <a:rPr lang="en-US" sz="1200" dirty="0">
                <a:solidFill>
                  <a:srgbClr val="262B3A"/>
                </a:solidFill>
                <a:latin typeface="Calibri" pitchFamily="34" charset="0"/>
                <a:ea typeface="Calibri" pitchFamily="34" charset="-122"/>
                <a:cs typeface="Calibri" pitchFamily="34" charset="-120"/>
              </a:rPr>
              <a:t> at 0.20 A.</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235746"/>
          </a:xfrm>
          <a:prstGeom prst="roundRect">
            <a:avLst>
              <a:gd name="adj" fmla="val 3700"/>
            </a:avLst>
          </a:prstGeom>
          <a:solidFill>
            <a:srgbClr val="F5F8FE"/>
          </a:solidFill>
          <a:ln w="9525">
            <a:solidFill>
              <a:srgbClr val="D5DCEB"/>
            </a:solidFill>
            <a:prstDash val="solid"/>
          </a:ln>
        </p:spPr>
      </p:sp>
      <p:sp>
        <p:nvSpPr>
          <p:cNvPr id="19" name="Text 17"/>
          <p:cNvSpPr/>
          <p:nvPr/>
        </p:nvSpPr>
        <p:spPr>
          <a:xfrm>
            <a:off x="6347308" y="1792224"/>
            <a:ext cx="5295748" cy="869986"/>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Calculate the energy transferred to the lamp by this charge. Use your answer to (c).</a:t>
            </a:r>
            <a:endParaRPr lang="en-US" sz="1200" dirty="0"/>
          </a:p>
        </p:txBody>
      </p:sp>
      <p:sp>
        <p:nvSpPr>
          <p:cNvPr id="20" name="Text 18"/>
          <p:cNvSpPr/>
          <p:nvPr/>
        </p:nvSpPr>
        <p:spPr>
          <a:xfrm>
            <a:off x="10317175" y="264392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064546"/>
            <a:ext cx="5570068" cy="1544683"/>
          </a:xfrm>
          <a:prstGeom prst="roundRect">
            <a:avLst>
              <a:gd name="adj" fmla="val 2960"/>
            </a:avLst>
          </a:prstGeom>
          <a:solidFill>
            <a:srgbClr val="FFFFFF"/>
          </a:solidFill>
          <a:ln w="9525">
            <a:solidFill>
              <a:srgbClr val="D5DCEB"/>
            </a:solidFill>
            <a:prstDash val="solid"/>
          </a:ln>
        </p:spPr>
      </p:sp>
      <p:sp>
        <p:nvSpPr>
          <p:cNvPr id="22" name="Text 20"/>
          <p:cNvSpPr/>
          <p:nvPr/>
        </p:nvSpPr>
        <p:spPr>
          <a:xfrm>
            <a:off x="6347308" y="3137698"/>
            <a:ext cx="5295748" cy="1178923"/>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At 6.0 V the current is 0.30 A, so the resistance is now 20 Ω. Explain why the resistance of the lamp has increased.</a:t>
            </a:r>
            <a:endParaRPr lang="en-US" sz="1200" dirty="0"/>
          </a:p>
        </p:txBody>
      </p:sp>
      <p:sp>
        <p:nvSpPr>
          <p:cNvPr id="23" name="Text 21"/>
          <p:cNvSpPr/>
          <p:nvPr/>
        </p:nvSpPr>
        <p:spPr>
          <a:xfrm>
            <a:off x="10317175" y="429833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4718957"/>
            <a:ext cx="5570068" cy="1544683"/>
          </a:xfrm>
          <a:prstGeom prst="roundRect">
            <a:avLst>
              <a:gd name="adj" fmla="val 2960"/>
            </a:avLst>
          </a:prstGeom>
          <a:solidFill>
            <a:srgbClr val="F5F8FE"/>
          </a:solidFill>
          <a:ln w="9525">
            <a:solidFill>
              <a:srgbClr val="D5DCEB"/>
            </a:solidFill>
            <a:prstDash val="solid"/>
          </a:ln>
        </p:spPr>
      </p:sp>
      <p:sp>
        <p:nvSpPr>
          <p:cNvPr id="25" name="Text 23"/>
          <p:cNvSpPr/>
          <p:nvPr/>
        </p:nvSpPr>
        <p:spPr>
          <a:xfrm>
            <a:off x="6347308" y="4792109"/>
            <a:ext cx="5295748" cy="1178923"/>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Calculate the power of the lamp at 6.0 V using P = I² × R. Show that P = I × V gives the same answer.</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Topic 10 Electricity and circuits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10 Electricity and circuits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41</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every question. Show your working for calculations.</a:t>
            </a:r>
            <a:endParaRPr lang="en-US" sz="1150" dirty="0"/>
          </a:p>
        </p:txBody>
      </p:sp>
      <p:sp>
        <p:nvSpPr>
          <p:cNvPr id="9" name="Shape 7"/>
          <p:cNvSpPr/>
          <p:nvPr/>
        </p:nvSpPr>
        <p:spPr>
          <a:xfrm>
            <a:off x="411480" y="1517904"/>
            <a:ext cx="5570068" cy="1530096"/>
          </a:xfrm>
          <a:prstGeom prst="roundRect">
            <a:avLst>
              <a:gd name="adj" fmla="val 2988"/>
            </a:avLst>
          </a:prstGeom>
          <a:solidFill>
            <a:srgbClr val="F5F8FE"/>
          </a:solidFill>
          <a:ln w="9525">
            <a:solidFill>
              <a:srgbClr val="D5DCEB"/>
            </a:solidFill>
            <a:prstDash val="solid"/>
          </a:ln>
        </p:spPr>
      </p:sp>
      <p:sp>
        <p:nvSpPr>
          <p:cNvPr id="10" name="Text 8"/>
          <p:cNvSpPr/>
          <p:nvPr/>
        </p:nvSpPr>
        <p:spPr>
          <a:xfrm>
            <a:off x="548640" y="1591056"/>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Write down the equation that links potential difference, current and resistance.</a:t>
            </a:r>
            <a:endParaRPr lang="en-US" sz="1150" dirty="0"/>
          </a:p>
        </p:txBody>
      </p:sp>
      <p:sp>
        <p:nvSpPr>
          <p:cNvPr id="11" name="Text 9"/>
          <p:cNvSpPr/>
          <p:nvPr/>
        </p:nvSpPr>
        <p:spPr>
          <a:xfrm>
            <a:off x="4518508" y="275539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3157728"/>
            <a:ext cx="5570068" cy="1530096"/>
          </a:xfrm>
          <a:prstGeom prst="roundRect">
            <a:avLst>
              <a:gd name="adj" fmla="val 2988"/>
            </a:avLst>
          </a:prstGeom>
          <a:solidFill>
            <a:srgbClr val="F5F8FE"/>
          </a:solidFill>
          <a:ln w="9525">
            <a:solidFill>
              <a:srgbClr val="D5DCEB"/>
            </a:solidFill>
            <a:prstDash val="solid"/>
          </a:ln>
        </p:spPr>
      </p:sp>
      <p:sp>
        <p:nvSpPr>
          <p:cNvPr id="13" name="Text 11"/>
          <p:cNvSpPr/>
          <p:nvPr/>
        </p:nvSpPr>
        <p:spPr>
          <a:xfrm>
            <a:off x="548640" y="3230880"/>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charge of </a:t>
            </a:r>
            <a:r>
              <a:rPr lang="en-US" sz="1150" b="1" dirty="0">
                <a:solidFill>
                  <a:srgbClr val="262B3A"/>
                </a:solidFill>
                <a:latin typeface="Calibri" pitchFamily="34" charset="0"/>
                <a:ea typeface="Calibri" pitchFamily="34" charset="-122"/>
                <a:cs typeface="Calibri" pitchFamily="34" charset="-120"/>
              </a:rPr>
              <a:t>150 C</a:t>
            </a:r>
            <a:r>
              <a:rPr lang="en-US" sz="1150" dirty="0">
                <a:solidFill>
                  <a:srgbClr val="262B3A"/>
                </a:solidFill>
                <a:latin typeface="Calibri" pitchFamily="34" charset="0"/>
                <a:ea typeface="Calibri" pitchFamily="34" charset="-122"/>
                <a:cs typeface="Calibri" pitchFamily="34" charset="-120"/>
              </a:rPr>
              <a:t> passes through a heater in </a:t>
            </a:r>
            <a:r>
              <a:rPr lang="en-US" sz="1150" b="1" dirty="0">
                <a:solidFill>
                  <a:srgbClr val="262B3A"/>
                </a:solidFill>
                <a:latin typeface="Calibri" pitchFamily="34" charset="0"/>
                <a:ea typeface="Calibri" pitchFamily="34" charset="-122"/>
                <a:cs typeface="Calibri" pitchFamily="34" charset="-120"/>
              </a:rPr>
              <a:t>60 s</a:t>
            </a:r>
            <a:r>
              <a:rPr lang="en-US" sz="1150" dirty="0">
                <a:solidFill>
                  <a:srgbClr val="262B3A"/>
                </a:solidFill>
                <a:latin typeface="Calibri" pitchFamily="34" charset="0"/>
                <a:ea typeface="Calibri" pitchFamily="34" charset="-122"/>
                <a:cs typeface="Calibri" pitchFamily="34" charset="-120"/>
              </a:rPr>
              <a:t>. Calculate the current.</a:t>
            </a:r>
            <a:endParaRPr lang="en-US" sz="1150" dirty="0"/>
          </a:p>
        </p:txBody>
      </p:sp>
      <p:sp>
        <p:nvSpPr>
          <p:cNvPr id="14" name="Text 12"/>
          <p:cNvSpPr/>
          <p:nvPr/>
        </p:nvSpPr>
        <p:spPr>
          <a:xfrm>
            <a:off x="4518508" y="439521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797552"/>
            <a:ext cx="5570068" cy="1530096"/>
          </a:xfrm>
          <a:prstGeom prst="roundRect">
            <a:avLst>
              <a:gd name="adj" fmla="val 2988"/>
            </a:avLst>
          </a:prstGeom>
          <a:solidFill>
            <a:srgbClr val="F5F8FE"/>
          </a:solidFill>
          <a:ln w="9525">
            <a:solidFill>
              <a:srgbClr val="D5DCEB"/>
            </a:solidFill>
            <a:prstDash val="solid"/>
          </a:ln>
        </p:spPr>
      </p:sp>
      <p:sp>
        <p:nvSpPr>
          <p:cNvPr id="16" name="Text 14"/>
          <p:cNvSpPr/>
          <p:nvPr/>
        </p:nvSpPr>
        <p:spPr>
          <a:xfrm>
            <a:off x="548640" y="4870704"/>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Explain why switches and fuses are connected in the </a:t>
            </a:r>
            <a:r>
              <a:rPr lang="en-US" sz="1150" b="1" dirty="0">
                <a:solidFill>
                  <a:srgbClr val="262B3A"/>
                </a:solidFill>
                <a:latin typeface="Calibri" pitchFamily="34" charset="0"/>
                <a:ea typeface="Calibri" pitchFamily="34" charset="-122"/>
                <a:cs typeface="Calibri" pitchFamily="34" charset="-120"/>
              </a:rPr>
              <a:t>live</a:t>
            </a:r>
            <a:r>
              <a:rPr lang="en-US" sz="1150" dirty="0">
                <a:solidFill>
                  <a:srgbClr val="262B3A"/>
                </a:solidFill>
                <a:latin typeface="Calibri" pitchFamily="34" charset="0"/>
                <a:ea typeface="Calibri" pitchFamily="34" charset="-122"/>
                <a:cs typeface="Calibri" pitchFamily="34" charset="-120"/>
              </a:rPr>
              <a:t> wire of an appliance.</a:t>
            </a:r>
            <a:endParaRPr lang="en-US" sz="1150" dirty="0"/>
          </a:p>
        </p:txBody>
      </p:sp>
      <p:sp>
        <p:nvSpPr>
          <p:cNvPr id="17" name="Text 15"/>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517904"/>
            <a:ext cx="5570068" cy="997889"/>
          </a:xfrm>
          <a:prstGeom prst="roundRect">
            <a:avLst>
              <a:gd name="adj" fmla="val 4582"/>
            </a:avLst>
          </a:prstGeom>
          <a:solidFill>
            <a:srgbClr val="F5F8FE"/>
          </a:solidFill>
          <a:ln w="9525">
            <a:solidFill>
              <a:srgbClr val="D5DCEB"/>
            </a:solidFill>
            <a:prstDash val="solid"/>
          </a:ln>
        </p:spPr>
      </p:sp>
      <p:sp>
        <p:nvSpPr>
          <p:cNvPr id="19" name="Text 17"/>
          <p:cNvSpPr/>
          <p:nvPr/>
        </p:nvSpPr>
        <p:spPr>
          <a:xfrm>
            <a:off x="6347308" y="1591056"/>
            <a:ext cx="5295748" cy="65041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kettle takes </a:t>
            </a:r>
            <a:r>
              <a:rPr lang="en-US" sz="1150" b="1" dirty="0">
                <a:solidFill>
                  <a:srgbClr val="262B3A"/>
                </a:solidFill>
                <a:latin typeface="Calibri" pitchFamily="34" charset="0"/>
                <a:ea typeface="Calibri" pitchFamily="34" charset="-122"/>
                <a:cs typeface="Calibri" pitchFamily="34" charset="-120"/>
              </a:rPr>
              <a:t>8.0 A</a:t>
            </a:r>
            <a:r>
              <a:rPr lang="en-US" sz="1150" dirty="0">
                <a:solidFill>
                  <a:srgbClr val="262B3A"/>
                </a:solidFill>
                <a:latin typeface="Calibri" pitchFamily="34" charset="0"/>
                <a:ea typeface="Calibri" pitchFamily="34" charset="-122"/>
                <a:cs typeface="Calibri" pitchFamily="34" charset="-120"/>
              </a:rPr>
              <a:t> from the </a:t>
            </a:r>
            <a:r>
              <a:rPr lang="en-US" sz="1150" b="1" dirty="0">
                <a:solidFill>
                  <a:srgbClr val="262B3A"/>
                </a:solidFill>
                <a:latin typeface="Calibri" pitchFamily="34" charset="0"/>
                <a:ea typeface="Calibri" pitchFamily="34" charset="-122"/>
                <a:cs typeface="Calibri" pitchFamily="34" charset="-120"/>
              </a:rPr>
              <a:t>230 V</a:t>
            </a:r>
            <a:r>
              <a:rPr lang="en-US" sz="1150" dirty="0">
                <a:solidFill>
                  <a:srgbClr val="262B3A"/>
                </a:solidFill>
                <a:latin typeface="Calibri" pitchFamily="34" charset="0"/>
                <a:ea typeface="Calibri" pitchFamily="34" charset="-122"/>
                <a:cs typeface="Calibri" pitchFamily="34" charset="-120"/>
              </a:rPr>
              <a:t> mains. Calculate its power, and choose a fuse: 3 A, 5 A or 13 A.</a:t>
            </a:r>
            <a:endParaRPr lang="en-US" sz="1150" dirty="0"/>
          </a:p>
        </p:txBody>
      </p:sp>
      <p:sp>
        <p:nvSpPr>
          <p:cNvPr id="20" name="Text 18"/>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1" name="Shape 19"/>
          <p:cNvSpPr/>
          <p:nvPr/>
        </p:nvSpPr>
        <p:spPr>
          <a:xfrm>
            <a:off x="6210148" y="2625521"/>
            <a:ext cx="5570068" cy="997889"/>
          </a:xfrm>
          <a:prstGeom prst="roundRect">
            <a:avLst>
              <a:gd name="adj" fmla="val 4582"/>
            </a:avLst>
          </a:prstGeom>
          <a:solidFill>
            <a:srgbClr val="F5F8FE"/>
          </a:solidFill>
          <a:ln w="9525">
            <a:solidFill>
              <a:srgbClr val="D5DCEB"/>
            </a:solidFill>
            <a:prstDash val="solid"/>
          </a:ln>
        </p:spPr>
      </p:sp>
      <p:sp>
        <p:nvSpPr>
          <p:cNvPr id="22" name="Text 20"/>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A 12 V car heater takes a current of </a:t>
            </a:r>
            <a:r>
              <a:rPr lang="en-US" sz="1150" b="1" dirty="0">
                <a:solidFill>
                  <a:srgbClr val="262B3A"/>
                </a:solidFill>
                <a:latin typeface="Calibri" pitchFamily="34" charset="0"/>
                <a:ea typeface="Calibri" pitchFamily="34" charset="-122"/>
                <a:cs typeface="Calibri" pitchFamily="34" charset="-120"/>
              </a:rPr>
              <a:t>3.0 A</a:t>
            </a:r>
            <a:r>
              <a:rPr lang="en-US" sz="1150" dirty="0">
                <a:solidFill>
                  <a:srgbClr val="262B3A"/>
                </a:solidFill>
                <a:latin typeface="Calibri" pitchFamily="34" charset="0"/>
                <a:ea typeface="Calibri" pitchFamily="34" charset="-122"/>
                <a:cs typeface="Calibri" pitchFamily="34" charset="-120"/>
              </a:rPr>
              <a:t> for </a:t>
            </a:r>
            <a:r>
              <a:rPr lang="en-US" sz="1150" b="1" dirty="0">
                <a:solidFill>
                  <a:srgbClr val="262B3A"/>
                </a:solidFill>
                <a:latin typeface="Calibri" pitchFamily="34" charset="0"/>
                <a:ea typeface="Calibri" pitchFamily="34" charset="-122"/>
                <a:cs typeface="Calibri" pitchFamily="34" charset="-120"/>
              </a:rPr>
              <a:t>10 minutes</a:t>
            </a:r>
            <a:r>
              <a:rPr lang="en-US" sz="1150" dirty="0">
                <a:solidFill>
                  <a:srgbClr val="262B3A"/>
                </a:solidFill>
                <a:latin typeface="Calibri" pitchFamily="34" charset="0"/>
                <a:ea typeface="Calibri" pitchFamily="34" charset="-122"/>
                <a:cs typeface="Calibri" pitchFamily="34" charset="-120"/>
              </a:rPr>
              <a:t>. Calculate the energy transferred. Use E = I × V × t.</a:t>
            </a:r>
            <a:endParaRPr lang="en-US" sz="1150" dirty="0"/>
          </a:p>
        </p:txBody>
      </p:sp>
      <p:sp>
        <p:nvSpPr>
          <p:cNvPr id="23" name="Text 21"/>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5" name="Text 23"/>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Describe how you would investigate how the current through a filament lamp varies with the potential difference across it. Explain how you would use your results to show how the resistance of the lamp changes.</a:t>
            </a:r>
            <a:endParaRPr lang="en-US" sz="1150" dirty="0"/>
          </a:p>
        </p:txBody>
      </p:sp>
      <p:sp>
        <p:nvSpPr>
          <p:cNvPr id="26" name="Text 24"/>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Edexcel 1PH0 Topic 10 Electricity and circuits</dc:title>
  <dc:subject>PptxGenJS Presentation</dc:subject>
  <dc:creator>GCSE Physics</dc:creator>
  <cp:lastModifiedBy>GCSE Physics</cp:lastModifiedBy>
  <cp:revision>1</cp:revision>
  <dcterms:created xsi:type="dcterms:W3CDTF">2026-10-25T22:44:38Z</dcterms:created>
  <dcterms:modified xsi:type="dcterms:W3CDTF">2026-10-25T22:44:38Z</dcterms:modified>
</cp:coreProperties>
</file>