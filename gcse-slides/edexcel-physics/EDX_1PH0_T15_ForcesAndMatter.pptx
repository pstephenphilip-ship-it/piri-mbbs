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notesMasterIdLst>
    <p:notesMasterId r:id="rId3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Topic 15 Forces and matter (Paper 2). Statements 15.1–15.6 are shared with Combined Science 1SC0; 15.7P–15.17P are physics only. g = 10 N/kg is used throughout, as in Edexcel papers.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Objectives 6–8 are physics only (1PH0). The HT pills mark objectives that contain Higher-only statements (15.13P–15.17P, medium confidence – see SPEC_T15.md). 15.12P (describe) is for both tiers.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Physics-only statements: 15.7P, 15.8P, 15.9P, 15.10P, 15.11P, 15.12P, 15.13P, 15.14P, 15.15P, 15.16P, 15.17P. Combined Science classes stop after slide 18 (recap 3) and go straight to the equations, key words, full question (a)–(e) and homework Q1–Q3 and Q7.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
1. 0.35 m; 2500 N.
2. 4.0 × 10⁻⁴ m².
3. 7 N to the right.
4. Any two: friction, air resistance/drag, normal contact (reaction) force, tension, upthrust.
5. ρ = m/V = 0.60/0.00050 = 1200 kg/m³.
6. Particles move randomly and collide with the walls; each collision exerts a force on the wall; pressure = total force per unit area.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CHECK ANSWER: One force on its own would make the clay accelerate/move in that direction (resultant force); to squash it you need two forces acting in opposite directions on different parts (e.g. hands pushing from both sides, or hand and table).
Teaching: demonstrate with a spring on a smooth bench pulled from one end – it slides rather than stretches.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CHECK ANSWER: Inelastic – the bumper does not return to its original shape when the force is removed.
Note: Edexcel 15.2 uses “elastic and inelastic distortion”; students may also see “plastic”.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CHECK ANSWER: F = k × x = 25 × 0.12 = 3.0 N (1 mark for converting 12 cm to 0.12 m).
Worked example checked in node: 4.0/0.16 = 25 N/m.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MARK SCHEME — Recap 1 (total 8 marks)
Q1 [2]: One force alone would make the band accelerate/move (1); two forces in opposite directions acting at different points stretch it / change its shape (1).
Q2 [3]: Elastic: returns to original shape/length when force removed (1); inelastic: does not return / permanent change of shape (1); one correct example of each, e.g. spring / modelling clay (1).
Q3 [3]: k = F/x (1); = 6.0/0.15 (1); = 40 N/m (1, unit needed).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CHECK ANSWER: 2.0 N (from F = 40 × 0.05); limit of proportionality at 6 N (x = 0.15 m).
Graph drawn to scale: linear F = 40x to (0.15 m, 6.0 N), then curving (non-linear).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CHECK ANSWER: E = 0.5 × 200 × 0.050² = 0.25000000000000006 J.
Common error: forgetting to square x, or squaring (k × x).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CHECK ANSWER: x = √(2 × 1.0 ÷ 50) = √0.040 = 0.20 m.
Area under the curve computed numerically in node: 1.578 J = 31.6 squares of 0.05 J (accept 1.5–1.7 J).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MARK SCHEME — Recap 2 (total 7 marks)
Q1 [2]: Straight line through the origin / F directly proportional to x (1); limit of proportionality is where the line stops being straight / starts to curve (1).
Q2 [2]: E = 0.5 × 30 × 0.20² (1); = 0.60 J (1).
Q3 [3]: x² = 2E/k (1); = 2 × 0.36/50 = 0.0144 (1); x = 0.12 m (1).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CHECK ANSWER: To avoid parallax error, so the reading is accurate.
Equipment: clamp stand, two bosses and clamps, G-clamp, spring, metre rule, pointer (e.g. splint taped to spring), 100 g mass hanger and slotted masses, safety goggles.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CHECK ANSWER: Independent = force (weight added); dependent = extension.
Control: same spring, same temperature, rule kept vertical.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CHECK ANSWER: 16.1 cm = 0.161 m; yes (k × x = 25 × 0.161 = 4.0 N).
Sample data: lengths 6, 10.1, 13.9, 18, 22.1, 25.9, 30, 36.5 cm for 0–7 N. Extensions 0, 4.1, 7.9, 12, 16.1, 19.9, 24, 30.5 cm. Plotted to scale (force on y-axis).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CHECK ANSWER: E = 0.5 × 25 × 0.16² = 0.32 J (or area ½ × 4.0 × 0.16 = 0.32 J).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CHECK ANSWER: Still a straight line (in the linear region) with the same gradient, but it would NOT pass through the origin – it would cross the length axis at the original length.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MARK SCHEME — Recap 3 (total 9 marks)
Q1 [3]: IV: force/weight/mass added (1); DV: extension (1); CV: same spring / same original length / same temperature (1).
Q2 [2]: Readings of length/extension would be inaccurate (systematic error) (1); use a set square/plumb line to make the rule vertical (1).
Q3 [4]: k = 5.0/0.20 (1) = 25 N/m (1); work done = ½ × 5.0 × 0.20 or ½ × 25 × 0.20² (1) = 0.50 J (1).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CHECK ANSWER: p = F/A = 20 ÷ 1.0 × 10⁻⁷ = 2.0 × 10^8 Pa (2.0 × 10⁸ Pa).
Check: snowshoes 600/0.30 = 2000 Pa; boots 600/0.040 = 15000 Pa.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CHECK ANSWER: F = 1.0 × 10⁵ × 0.0040 = 400 N. It does not break because air pushes equally on all sides (the air inside/behind exerts an equal pressure), so there is no resultant force.
F20 check: 50000 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CHECK ANSWER: At the top of a mountain there is less air above (shorter column), so the weight of air above each m² is less (1); the air is also less dense so there are fewer particle collisions per second per unit area (1) → lower pressure.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MARK SCHEME — Recap 4 (total 7 marks)
Q1 [2]: Sharp blade has a smaller area in contact (1); so pressure is greater for the same force (p = F/A) (1).
Q2 [2]: p = 750/0.025 (1); = 30 000 Pa / 3.0 × 10⁴ Pa (1).
Q3 [3]: Less air above / shorter column of air (1); so smaller weight of air acting on each unit area (1); air less dense so fewer collisions with surfaces per second (1).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CHECK ANSWER: In the sea – sea water is denser, so a column of the same height has a greater mass/weight, giving greater pressure.
Tier note: describing (15.12P) is both tiers; explaining in terms of weight of liquid above (15.13P) is Higher (medium confidence).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CHECK ANSWER: P = 0.40 × 800 × 10 = 3200 Pa.
Extra: pressure difference between 2.0 m and 5.0 m in fresh water = 3.0 × 1000 × 10 = 30000 Pa.
Worked: 123600 Pa; total 223600 Pa.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MARK SCHEME — Recap 5 (total 7 marks)
Q1 [2]: Pressure increases with depth (1); pressure increases with density (1).
Q2 [2]: P = 8.0 × 1000 × 10 (1); = 80 000 Pa / 8.0 × 10⁴ Pa (1).
Q3 [3]: Δh = 4.0 m (1); Δp = 4.0 × 1030 × 10 (1); = 41 200 Pa / 4.12 × 10⁴ Pa (1). Allow calculating both pressures and subtracting (30 900 and 72 100 Pa).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CHECK ANSWER: mass of water displaced = 1000 × 0.00030 = 0.30 kg; weight = 0.30 × 10 = 3 N = upthrust.
Pressure check: top face at 0.30 m: 3000 Pa × 0.010 m² = 30 N; bottom at 0.50 m: 5000 Pa × 0.010 m² = 50 N; net 20 N 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CHECK ANSWER: Floats – less dense than water. Fraction submerged = 600/1000 = 0.6 (60%) – stretch.
Boat: W = 12000 N, displaced volume 1.2 m³.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MARK SCHEME — Recap 6 (total 9 marks)
Q1 [3]: Pressure increases with depth (1); so pressure on the bottom surface is greater than on the top (1); giving a greater upward force than downward force / resultant upward force = upthrust (1).
Q2 [3]: mass of water displaced = 1000 × 0.0050 = 5.0 kg (1); weight = 5.0 × 10 (1); upthrust = 50 N (1).
Q3 [3]: Upthrust = weight of water displaced (1); the block displaces only a small volume so upthrust &lt; weight (1); the ship’s hollow shape displaces a large volume of water so the upthrust can equal its weight / its average density is less than water (1).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CHECK: self-check against the table. Edexcel recall list includes F = k × x and p = F/A; the equations list gives E = ½kx² and P = hρg. (W = mg and ρ = m/V are recall equations from earlier topics, used here for upthrust and floating.)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as a cover-and-recall activity: hide the definitions, students say them, then reveal. Terms 10–16 are physics only (15.7P–15.17P).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MARK SCHEME — full question (total 13 marks)
(a) [1]: elastic (distortion) (1).
(b) [1]: 20.0 − 8.0 = 12.0 cm = 0.12 m (1).
(c) [2]: k = F/x = 3.0/0.12 (1); = 25 N/m (1).
(d) [2]: E = 0.5 × 25 × 0.12² (1); = 0.18 J (1). ECF from (c).
(e) [3]: k = gradient of the straight part of the graph (1); draw a large triangle, ΔF ÷ Δx (1); limit of proportionality where the line stops being straight / curves (1).
(f) [4]: upthrust = weight of water displaced = 1000 × 4.0 × 10⁻⁵ × 10 (1) = 0.40 N (1); force on spring = 3.0 − 0.40 = 2.6 N (1); x = 2.6/25 = 0.104 m (≈ 0.10 m) (1). ECF from (c).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MARK SCHEME — homework (total 17 marks)
1 [1]: force = spring constant × extension / F = k × x (1).
2 [2]: F = 80 × 0.050 (1); = 4.0 N (1).
3 [2]: E = 0.5 × 80 × 0.050² (1); = 0.10 J (1).
4 [2]: p = 1200/0.60 (1); = 2000 Pa (1).
5 [2]: P = 2.5 × 1000 × 10 (1); = 25 000 Pa (1).
6 [2]: upthrust (= weight of air displaced) is greater than the weight of the balloon (1); so there is a resultant upward force (1). Allow: balloon less dense than air.
7 [6]: Levels-based mark scheme (6 marks). Answers are marked holistically; use the indicative content below.
Level 0 (0 marks): no rewardable material.
Level 1 (1–2 marks): demonstrates elements of physics understanding, some of which is inaccurate; understanding of scientific ideas lacks detail; presents an explanation with some structure and coherence.
Level 2 (3–4 marks): demonstrates physics understanding which is mostly relevant but may include some inaccuracies; understanding of scientific ideas is not fully detailed and/or developed; presents an explanation that has a structure which is mostly clear, coherent and logical.
Level 3 (5–6 marks): demonstrates accurate and relevant physics understanding throughout; understanding of the scientific ideas is detailed and fully developed; presents an explanation that has a well-developed structure which is clear, coherent and logical.
Indicative content:
 • Clamp the spring to a clamp stand; set up a vertical metre rule next to it (clamp stand fixed with a G-clamp).
 • Measure the original (unloaded) length using a pointer, eye level with the pointer.
 • Add masses (e.g. 100 g = 1.0 N) one at a time and record the new length each time.
 • Calculate extension = new length − original length; convert to metres.
 • Repeat / remove masses to check the spring returns to original length; take several readings.
 • Plot a graph of force (y) against extension (x); draw a line of best fit.
 • Spring constant = gradient of the straight (linear) part of the graph.
 • Work done = area under the force–extension graph (or E = ½kx² in the linear region).
 • Safety: goggles; keep feet clear of falling masses; do not exceed the elastic limit.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0" y="-1463040"/>
            <a:ext cx="6035040" cy="6035040"/>
          </a:xfrm>
          <a:prstGeom prst="ellipse">
            <a:avLst/>
          </a:prstGeom>
          <a:solidFill>
            <a:srgbClr val="2B4C9B"/>
          </a:solidFill>
          <a:ln w="12700">
            <a:solidFill>
              <a:srgbClr val="2B4C9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26880" y="2377440"/>
            <a:ext cx="4937760" cy="4937760"/>
          </a:xfrm>
          <a:prstGeom prst="ellipse">
            <a:avLst/>
          </a:prstGeom>
          <a:solidFill>
            <a:srgbClr val="3A63C9">
              <a:alpha val="85000"/>
            </a:srgbClr>
          </a:solidFill>
          <a:ln w="12700">
            <a:solidFill>
              <a:srgbClr val="3A63C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A63C9"/>
          </a:solidFill>
          <a:ln w="12700">
            <a:solidFill>
              <a:srgbClr val="3A63C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822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9FB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EDEXCEL GCSE PHYSICS (1PH0)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132588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Topic 15  Forces and Matter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31520" y="23774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9D5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Distortion, springs, pressure in fluids, upthrust and floating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31520" y="3017520"/>
            <a:ext cx="2011680" cy="0"/>
          </a:xfrm>
          <a:prstGeom prst="line">
            <a:avLst/>
          </a:prstGeom>
          <a:noFill/>
          <a:ln w="31750">
            <a:solidFill>
              <a:srgbClr val="F5A7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3154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  •  Inelastic  •  Spring constant  •  Limit of proportionality  •  Pressure  •  Upthrust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3886200"/>
            <a:ext cx="457200" cy="457200"/>
          </a:xfrm>
          <a:prstGeom prst="ellipse">
            <a:avLst/>
          </a:prstGeom>
          <a:solidFill>
            <a:srgbClr val="3A63C9"/>
          </a:solidFill>
          <a:ln w="12700">
            <a:solidFill>
              <a:srgbClr val="9FB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371600" y="388620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Specification 15.1–15.17 • Core Practical 15.6 (springs)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1520" y="4507992"/>
            <a:ext cx="457200" cy="457200"/>
          </a:xfrm>
          <a:prstGeom prst="ellipse">
            <a:avLst/>
          </a:prstGeom>
          <a:solidFill>
            <a:srgbClr val="3A63C9"/>
          </a:solidFill>
          <a:ln w="12700">
            <a:solidFill>
              <a:srgbClr val="9FB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4507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371600" y="4507992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&amp; Foundation in one deck • HT pill = Higher tier only • P = physics only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1520" y="5129784"/>
            <a:ext cx="457200" cy="457200"/>
          </a:xfrm>
          <a:prstGeom prst="ellipse">
            <a:avLst/>
          </a:prstGeom>
          <a:solidFill>
            <a:srgbClr val="3A63C9"/>
          </a:solidFill>
          <a:ln w="12700">
            <a:solidFill>
              <a:srgbClr val="9FB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51297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371600" y="5129784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15 of 15 • Paper 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31520" y="6172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9B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Edexcel GCSE (9–1) Physics 1PH0 • teacher deck • mark schemes and answers in the speaker notes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EEF2FA"/>
          </a:solidFill>
          <a:ln w="12700">
            <a:solidFill>
              <a:srgbClr val="EEF2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87552"/>
            <a:ext cx="12191695" cy="27432"/>
          </a:xfrm>
          <a:prstGeom prst="rect">
            <a:avLst/>
          </a:prstGeom>
          <a:solidFill>
            <a:srgbClr val="D3DCF0"/>
          </a:solidFill>
          <a:ln w="12700">
            <a:solidFill>
              <a:srgbClr val="D3DC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18872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objectives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11480" y="6400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E5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Specification 15.1–15.17 • by the end of this topic you can…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6473952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Edexcel GCSE (9–1) Physics (1PH0) | Topic 15 Forces and matter | Higher &amp; Foundation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784080" y="647395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  |  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02920" y="1325880"/>
            <a:ext cx="457200" cy="457200"/>
          </a:xfrm>
          <a:prstGeom prst="ellipse">
            <a:avLst/>
          </a:prstGeom>
          <a:solidFill>
            <a:srgbClr val="2E5BD8"/>
          </a:solidFill>
          <a:ln w="12700">
            <a:solidFill>
              <a:srgbClr val="2E5B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97280" y="128016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E5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15.1   </a:t>
            </a:r>
            <a:r>
              <a:rPr lang="en-US" sz="120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why stretching, bending or compressing an object needs </a:t>
            </a:r>
            <a:r>
              <a:rPr lang="en-US" sz="1200" b="1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than one force</a:t>
            </a:r>
            <a:r>
              <a:rPr lang="en-US" sz="120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2194560"/>
            <a:ext cx="457200" cy="457200"/>
          </a:xfrm>
          <a:prstGeom prst="ellipse">
            <a:avLst/>
          </a:prstGeom>
          <a:solidFill>
            <a:srgbClr val="2E5BD8"/>
          </a:solidFill>
          <a:ln w="12700">
            <a:solidFill>
              <a:srgbClr val="2E5B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97280" y="214884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E5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15.2   </a:t>
            </a:r>
            <a:r>
              <a:rPr lang="en-US" sz="120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difference between </a:t>
            </a:r>
            <a:r>
              <a:rPr lang="en-US" sz="1200" b="1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</a:t>
            </a:r>
            <a:r>
              <a:rPr lang="en-US" sz="120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r>
              <a:rPr lang="en-US" sz="1200" b="1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inelastic</a:t>
            </a:r>
            <a:r>
              <a:rPr lang="en-US" sz="120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distortion.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3063240"/>
            <a:ext cx="457200" cy="457200"/>
          </a:xfrm>
          <a:prstGeom prst="ellipse">
            <a:avLst/>
          </a:prstGeom>
          <a:solidFill>
            <a:srgbClr val="2E5BD8"/>
          </a:solidFill>
          <a:ln w="12700">
            <a:solidFill>
              <a:srgbClr val="2E5B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97280" y="301752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E5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15.3, 15.5   </a:t>
            </a:r>
            <a:r>
              <a:rPr lang="en-US" sz="120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and use </a:t>
            </a:r>
            <a:r>
              <a:rPr lang="en-US" sz="1200" b="1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= k × x</a:t>
            </a:r>
            <a:r>
              <a:rPr lang="en-US" sz="120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describe linear and non-linear force–extension graphs and the </a:t>
            </a:r>
            <a:r>
              <a:rPr lang="en-US" sz="1200" b="1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 of proportionality</a:t>
            </a:r>
            <a:r>
              <a:rPr lang="en-US" sz="120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" y="3931920"/>
            <a:ext cx="457200" cy="457200"/>
          </a:xfrm>
          <a:prstGeom prst="ellipse">
            <a:avLst/>
          </a:prstGeom>
          <a:solidFill>
            <a:srgbClr val="2E5BD8"/>
          </a:solidFill>
          <a:ln w="12700">
            <a:solidFill>
              <a:srgbClr val="2E5B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97280" y="388620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E5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15.4   </a:t>
            </a:r>
            <a:r>
              <a:rPr lang="en-US" sz="120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the </a:t>
            </a:r>
            <a:r>
              <a:rPr lang="en-US" sz="1200" b="1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done</a:t>
            </a:r>
            <a:r>
              <a:rPr lang="en-US" sz="120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stretching a spring: E = ½ × k × x² and the area under the graph.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63640" y="1325880"/>
            <a:ext cx="457200" cy="457200"/>
          </a:xfrm>
          <a:prstGeom prst="ellipse">
            <a:avLst/>
          </a:prstGeom>
          <a:solidFill>
            <a:srgbClr val="2E5BD8"/>
          </a:solidFill>
          <a:ln w="12700">
            <a:solidFill>
              <a:srgbClr val="2E5B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63640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858000" y="128016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E5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15.6   </a:t>
            </a:r>
            <a:r>
              <a:rPr lang="en-US" sz="1200" b="1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Practical:</a:t>
            </a:r>
            <a:r>
              <a:rPr lang="en-US" sz="120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investigate the extension and work done when applying forces to a spring.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263640" y="2194560"/>
            <a:ext cx="457200" cy="457200"/>
          </a:xfrm>
          <a:prstGeom prst="ellipse">
            <a:avLst/>
          </a:prstGeom>
          <a:solidFill>
            <a:srgbClr val="2E5BD8"/>
          </a:solidFill>
          <a:ln w="12700">
            <a:solidFill>
              <a:srgbClr val="2E5B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6364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858000" y="214884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E5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15.7P–15.11P   </a:t>
            </a:r>
            <a:r>
              <a:rPr lang="en-US" sz="120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</a:t>
            </a:r>
            <a:r>
              <a:rPr lang="en-US" sz="1200" b="1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</a:t>
            </a:r>
            <a:r>
              <a:rPr lang="en-US" sz="120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(p = F/A), pressure in fluids and why </a:t>
            </a:r>
            <a:r>
              <a:rPr lang="en-US" sz="1200" b="1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atmospheric pressure</a:t>
            </a:r>
            <a:r>
              <a:rPr lang="en-US" sz="120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falls with height.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263640" y="3063240"/>
            <a:ext cx="457200" cy="457200"/>
          </a:xfrm>
          <a:prstGeom prst="ellipse">
            <a:avLst/>
          </a:prstGeom>
          <a:solidFill>
            <a:srgbClr val="2E5BD8"/>
          </a:solidFill>
          <a:ln w="12700">
            <a:solidFill>
              <a:srgbClr val="2E5B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6364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858000" y="301752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E5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15.12P–15.14P   </a:t>
            </a:r>
            <a:r>
              <a:rPr lang="en-US" sz="120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and explain how liquid pressure depends on </a:t>
            </a:r>
            <a:r>
              <a:rPr lang="en-US" sz="1200" b="1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and density</a:t>
            </a:r>
            <a:r>
              <a:rPr lang="en-US" sz="120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use P = h × ρ × g.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1018520" y="3502152"/>
            <a:ext cx="411480" cy="274320"/>
          </a:xfrm>
          <a:prstGeom prst="roundRect">
            <a:avLst>
              <a:gd name="adj" fmla="val 50000"/>
            </a:avLst>
          </a:prstGeom>
          <a:solidFill>
            <a:srgbClr val="C8414C"/>
          </a:solidFill>
          <a:ln w="12700">
            <a:solidFill>
              <a:srgbClr val="C8414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1018520" y="35021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263640" y="3931920"/>
            <a:ext cx="457200" cy="457200"/>
          </a:xfrm>
          <a:prstGeom prst="ellipse">
            <a:avLst/>
          </a:prstGeom>
          <a:solidFill>
            <a:srgbClr val="2E5BD8"/>
          </a:solidFill>
          <a:ln w="12700">
            <a:solidFill>
              <a:srgbClr val="2E5BD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63640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858000" y="388620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E5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15.15P–15.17P   </a:t>
            </a:r>
            <a:r>
              <a:rPr lang="en-US" sz="120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</a:t>
            </a:r>
            <a:r>
              <a:rPr lang="en-US" sz="1200" b="1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upthrust</a:t>
            </a:r>
            <a:r>
              <a:rPr lang="en-US" sz="120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relate it to the weight of fluid displaced, and explain floating and sinking.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1018520" y="4370832"/>
            <a:ext cx="411480" cy="274320"/>
          </a:xfrm>
          <a:prstGeom prst="roundRect">
            <a:avLst>
              <a:gd name="adj" fmla="val 50000"/>
            </a:avLst>
          </a:prstGeom>
          <a:solidFill>
            <a:srgbClr val="C8414C"/>
          </a:solidFill>
          <a:ln w="12700">
            <a:solidFill>
              <a:srgbClr val="C8414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1018520" y="437083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EEF2FA"/>
          </a:solidFill>
          <a:ln w="12700">
            <a:solidFill>
              <a:srgbClr val="EEF2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87552"/>
            <a:ext cx="12191695" cy="27432"/>
          </a:xfrm>
          <a:prstGeom prst="rect">
            <a:avLst/>
          </a:prstGeom>
          <a:solidFill>
            <a:srgbClr val="D3DCF0"/>
          </a:solidFill>
          <a:ln w="12700">
            <a:solidFill>
              <a:srgbClr val="D3DC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18872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this fits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11480" y="6400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E5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Specification 15.1–15.17 • Topic 15 is the last topic on Paper 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6473952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Edexcel GCSE (9–1) Physics (1PH0) | Topic 15 Forces and matter | Higher &amp; Foundation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784080" y="647395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 |  3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1480" y="1234440"/>
            <a:ext cx="2103120" cy="685800"/>
          </a:xfrm>
          <a:prstGeom prst="roundRect">
            <a:avLst>
              <a:gd name="adj" fmla="val 8000"/>
            </a:avLst>
          </a:prstGeom>
          <a:solidFill>
            <a:srgbClr val="1A2340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123444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15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Forces and matter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14400" y="1920240"/>
            <a:ext cx="91" cy="3959352"/>
          </a:xfrm>
          <a:prstGeom prst="line">
            <a:avLst/>
          </a:prstGeom>
          <a:noFill/>
          <a:ln w="19050">
            <a:solidFill>
              <a:srgbClr val="2E5B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2377440"/>
            <a:ext cx="411480" cy="91"/>
          </a:xfrm>
          <a:prstGeom prst="line">
            <a:avLst/>
          </a:prstGeom>
          <a:noFill/>
          <a:ln w="19050">
            <a:solidFill>
              <a:srgbClr val="2E5B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325880" y="2103120"/>
            <a:ext cx="5120640" cy="566928"/>
          </a:xfrm>
          <a:prstGeom prst="roundRect">
            <a:avLst>
              <a:gd name="adj" fmla="val 8065"/>
            </a:avLst>
          </a:prstGeom>
          <a:solidFill>
            <a:srgbClr val="F5F8FE"/>
          </a:solidFill>
          <a:ln w="12700">
            <a:solidFill>
              <a:srgbClr val="D5DC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63040" y="2103120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5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15.1–15.2   </a:t>
            </a:r>
            <a:r>
              <a:rPr lang="en-US" sz="110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Forces that change shape; elastic and inelastic distortion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257800" y="2249424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2E5BD8"/>
          </a:solidFill>
          <a:ln w="12700">
            <a:solidFill>
              <a:srgbClr val="2E5B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57800" y="224942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COURSES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14400" y="3063240"/>
            <a:ext cx="411480" cy="91"/>
          </a:xfrm>
          <a:prstGeom prst="line">
            <a:avLst/>
          </a:prstGeom>
          <a:noFill/>
          <a:ln w="19050">
            <a:solidFill>
              <a:srgbClr val="2E5BD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325880" y="2788920"/>
            <a:ext cx="5120640" cy="566928"/>
          </a:xfrm>
          <a:prstGeom prst="roundRect">
            <a:avLst>
              <a:gd name="adj" fmla="val 8065"/>
            </a:avLst>
          </a:prstGeom>
          <a:solidFill>
            <a:srgbClr val="F5F8FE"/>
          </a:solidFill>
          <a:ln w="12700">
            <a:solidFill>
              <a:srgbClr val="D5DC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63040" y="2788920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5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15.3–15.5   </a:t>
            </a:r>
            <a:r>
              <a:rPr lang="en-US" sz="110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= k × x, limit of proportionality, energy stored E = ½kx²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257800" y="2935224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2E5BD8"/>
          </a:solidFill>
          <a:ln w="12700">
            <a:solidFill>
              <a:srgbClr val="2E5B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57800" y="293522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COURSES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914400" y="3749040"/>
            <a:ext cx="411480" cy="91"/>
          </a:xfrm>
          <a:prstGeom prst="line">
            <a:avLst/>
          </a:prstGeom>
          <a:noFill/>
          <a:ln w="19050">
            <a:solidFill>
              <a:srgbClr val="2E5BD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325880" y="3474720"/>
            <a:ext cx="5120640" cy="566928"/>
          </a:xfrm>
          <a:prstGeom prst="roundRect">
            <a:avLst>
              <a:gd name="adj" fmla="val 8065"/>
            </a:avLst>
          </a:prstGeom>
          <a:solidFill>
            <a:srgbClr val="F5F8FE"/>
          </a:solidFill>
          <a:ln w="12700">
            <a:solidFill>
              <a:srgbClr val="D5DC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63040" y="3474720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5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15.6   </a:t>
            </a:r>
            <a:r>
              <a:rPr lang="en-US" sz="110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Practical: extension and work done for a spring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257800" y="3621024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B8730A"/>
          </a:solidFill>
          <a:ln w="12700">
            <a:solidFill>
              <a:srgbClr val="B8730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57800" y="362102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COURSES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14400" y="4434840"/>
            <a:ext cx="411480" cy="91"/>
          </a:xfrm>
          <a:prstGeom prst="line">
            <a:avLst/>
          </a:prstGeom>
          <a:noFill/>
          <a:ln w="19050">
            <a:solidFill>
              <a:srgbClr val="2E5BD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325880" y="4160520"/>
            <a:ext cx="5120640" cy="566928"/>
          </a:xfrm>
          <a:prstGeom prst="roundRect">
            <a:avLst>
              <a:gd name="adj" fmla="val 8065"/>
            </a:avLst>
          </a:prstGeom>
          <a:solidFill>
            <a:srgbClr val="F5F8FE"/>
          </a:solidFill>
          <a:ln w="12700">
            <a:solidFill>
              <a:srgbClr val="D5DC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63040" y="4160520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5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15.7P–15.11P   </a:t>
            </a:r>
            <a:r>
              <a:rPr lang="en-US" sz="110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 p = F/A, fluids, atmospheric pressure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257800" y="4306824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C8414C"/>
          </a:solidFill>
          <a:ln w="12700">
            <a:solidFill>
              <a:srgbClr val="C8414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257800" y="430682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 ONLY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914400" y="5120640"/>
            <a:ext cx="411480" cy="91"/>
          </a:xfrm>
          <a:prstGeom prst="line">
            <a:avLst/>
          </a:prstGeom>
          <a:noFill/>
          <a:ln w="19050">
            <a:solidFill>
              <a:srgbClr val="2E5BD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325880" y="4846320"/>
            <a:ext cx="5120640" cy="566928"/>
          </a:xfrm>
          <a:prstGeom prst="roundRect">
            <a:avLst>
              <a:gd name="adj" fmla="val 8065"/>
            </a:avLst>
          </a:prstGeom>
          <a:solidFill>
            <a:srgbClr val="F5F8FE"/>
          </a:solidFill>
          <a:ln w="12700">
            <a:solidFill>
              <a:srgbClr val="D5DC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63040" y="4846320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5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15.12P–15.14P   </a:t>
            </a:r>
            <a:r>
              <a:rPr lang="en-US" sz="110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 in liquids, P = h × ρ × g (HT)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257800" y="4992624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C8414C"/>
          </a:solidFill>
          <a:ln w="12700">
            <a:solidFill>
              <a:srgbClr val="C8414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57800" y="499262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 ONLY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914400" y="5806440"/>
            <a:ext cx="411480" cy="91"/>
          </a:xfrm>
          <a:prstGeom prst="line">
            <a:avLst/>
          </a:prstGeom>
          <a:noFill/>
          <a:ln w="19050">
            <a:solidFill>
              <a:srgbClr val="2E5BD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325880" y="5532120"/>
            <a:ext cx="5120640" cy="566928"/>
          </a:xfrm>
          <a:prstGeom prst="roundRect">
            <a:avLst>
              <a:gd name="adj" fmla="val 8065"/>
            </a:avLst>
          </a:prstGeom>
          <a:solidFill>
            <a:srgbClr val="F5F8FE"/>
          </a:solidFill>
          <a:ln w="12700">
            <a:solidFill>
              <a:srgbClr val="D5DC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463040" y="5532120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5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15.15P–15.17P   </a:t>
            </a:r>
            <a:r>
              <a:rPr lang="en-US" sz="110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Upthrust, floating and sinking (HT)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257800" y="5678424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C8414C"/>
          </a:solidFill>
          <a:ln w="12700">
            <a:solidFill>
              <a:srgbClr val="C8414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257800" y="567842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 ONLY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11480" y="5961888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Earlier links: Topic 1 units • Topic 2 weight W = mg • Topic 8 work done • Topic 9 forces • Topic 14 density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6720840" y="1234440"/>
            <a:ext cx="5056632" cy="2423160"/>
          </a:xfrm>
          <a:prstGeom prst="roundRect">
            <a:avLst>
              <a:gd name="adj" fmla="val 2264"/>
            </a:avLst>
          </a:prstGeom>
          <a:solidFill>
            <a:srgbClr val="1F2A4A"/>
          </a:solidFill>
          <a:ln/>
        </p:spPr>
      </p:sp>
      <p:sp>
        <p:nvSpPr>
          <p:cNvPr id="43" name="Text 41"/>
          <p:cNvSpPr/>
          <p:nvPr/>
        </p:nvSpPr>
        <p:spPr>
          <a:xfrm>
            <a:off x="6903720" y="1325880"/>
            <a:ext cx="470916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this is assessed</a:t>
            </a:r>
            <a:endParaRPr lang="en-US" sz="150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150" dirty="0">
                <a:solidFill>
                  <a:srgbClr val="E6E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1PH0 </a:t>
            </a:r>
            <a:r>
              <a:rPr lang="en-US" sz="1150" b="1" dirty="0">
                <a:solidFill>
                  <a:srgbClr val="E6E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2</a:t>
            </a:r>
            <a:r>
              <a:rPr lang="en-US" sz="1150" dirty="0">
                <a:solidFill>
                  <a:srgbClr val="E6E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(2F or 2H): 1 h 45 min, 100 marks, Topics 1 and 8–15.</a:t>
            </a:r>
            <a:endParaRPr lang="en-US" sz="150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150" dirty="0">
                <a:solidFill>
                  <a:srgbClr val="E6E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Science 1SC0 </a:t>
            </a:r>
            <a:r>
              <a:rPr lang="en-US" sz="1150" b="1" dirty="0">
                <a:solidFill>
                  <a:srgbClr val="E6E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6</a:t>
            </a:r>
            <a:r>
              <a:rPr lang="en-US" sz="1150" dirty="0">
                <a:solidFill>
                  <a:srgbClr val="E6E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(Physics 2) also tests 15.1–15.6.</a:t>
            </a:r>
            <a:endParaRPr lang="en-US" sz="150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150" dirty="0">
                <a:solidFill>
                  <a:srgbClr val="E6E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Equations: </a:t>
            </a:r>
            <a:r>
              <a:rPr lang="en-US" sz="1150" b="1" dirty="0">
                <a:solidFill>
                  <a:srgbClr val="E6E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r>
              <a:rPr lang="en-US" sz="1150" dirty="0">
                <a:solidFill>
                  <a:srgbClr val="E6E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 = k × x and p = F/A; </a:t>
            </a:r>
            <a:r>
              <a:rPr lang="en-US" sz="1150" b="1" dirty="0">
                <a:solidFill>
                  <a:srgbClr val="E6E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</a:t>
            </a:r>
            <a:r>
              <a:rPr lang="en-US" sz="1150" dirty="0">
                <a:solidFill>
                  <a:srgbClr val="E6E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= ½kx² and P = hρg.</a:t>
            </a:r>
            <a:endParaRPr lang="en-US" sz="150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150" dirty="0">
                <a:solidFill>
                  <a:srgbClr val="E6E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Practical 15.6 can be examined in any style, including method and analysis.</a:t>
            </a:r>
            <a:endParaRPr lang="en-US" sz="1500" dirty="0"/>
          </a:p>
        </p:txBody>
      </p:sp>
      <p:sp>
        <p:nvSpPr>
          <p:cNvPr id="44" name="Shape 42"/>
          <p:cNvSpPr/>
          <p:nvPr/>
        </p:nvSpPr>
        <p:spPr>
          <a:xfrm>
            <a:off x="6720840" y="3794760"/>
            <a:ext cx="5056632" cy="2468880"/>
          </a:xfrm>
          <a:prstGeom prst="roundRect">
            <a:avLst>
              <a:gd name="adj" fmla="val 2222"/>
            </a:avLst>
          </a:prstGeom>
          <a:solidFill>
            <a:srgbClr val="FFF4E0"/>
          </a:solidFill>
          <a:ln w="12700">
            <a:solidFill>
              <a:srgbClr val="F1D9A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903720" y="3886200"/>
            <a:ext cx="4709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B873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deck for both tiers</a:t>
            </a:r>
            <a:endParaRPr lang="en-US" sz="150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15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 every slide to Foundation; </a:t>
            </a:r>
            <a:r>
              <a:rPr lang="en-US" sz="1150" b="1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</a:t>
            </a:r>
            <a:r>
              <a:rPr lang="en-US" sz="115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pills mark Higher-only content.</a:t>
            </a:r>
            <a:endParaRPr lang="en-US" sz="150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150" b="1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(1SC0) classes skip slides 19–28</a:t>
            </a:r>
            <a:r>
              <a:rPr lang="en-US" sz="115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(all 15.7P–15.17P pressure and upthrust content), full question part (f) and homework Q4–Q6.</a:t>
            </a:r>
            <a:endParaRPr lang="en-US" sz="150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15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topic is </a:t>
            </a:r>
            <a:r>
              <a:rPr lang="en-US" sz="1150" b="1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r>
              <a:rPr lang="en-US" sz="115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physics-only: 15.1–15.6 are in both courses.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EEF2FA"/>
          </a:solidFill>
          <a:ln w="12700">
            <a:solidFill>
              <a:srgbClr val="EEF2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87552"/>
            <a:ext cx="12191695" cy="27432"/>
          </a:xfrm>
          <a:prstGeom prst="rect">
            <a:avLst/>
          </a:prstGeom>
          <a:solidFill>
            <a:srgbClr val="D3DCF0"/>
          </a:solidFill>
          <a:ln w="12700">
            <a:solidFill>
              <a:srgbClr val="D3DC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18872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Retrieval starter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11480" y="6400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E5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from Topics 1, 9 and 14 • 6 minutes • no notes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6473952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Edexcel GCSE (9–1) Physics (1PH0) | Topic 15 Forces and matter | Higher &amp; Foundation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784080" y="647395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  |  4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1480" y="1234440"/>
            <a:ext cx="3657600" cy="2011680"/>
          </a:xfrm>
          <a:prstGeom prst="roundRect">
            <a:avLst>
              <a:gd name="adj" fmla="val 2727"/>
            </a:avLst>
          </a:prstGeom>
          <a:solidFill>
            <a:srgbClr val="F5F8FE"/>
          </a:solidFill>
          <a:ln w="9525">
            <a:solidFill>
              <a:srgbClr val="D5DC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371600"/>
            <a:ext cx="438912" cy="438912"/>
          </a:xfrm>
          <a:prstGeom prst="ellipse">
            <a:avLst/>
          </a:prstGeom>
          <a:solidFill>
            <a:srgbClr val="2E5BD8"/>
          </a:solidFill>
          <a:ln w="12700">
            <a:solidFill>
              <a:srgbClr val="2E5B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3716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97280" y="141732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2E5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• units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94360" y="192024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</a:t>
            </a:r>
            <a:r>
              <a:rPr lang="en-US" sz="1250" b="1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cm</a:t>
            </a:r>
            <a:r>
              <a:rPr lang="en-US" sz="125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into metres and </a:t>
            </a:r>
            <a:r>
              <a:rPr lang="en-US" sz="1250" b="1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 kN</a:t>
            </a:r>
            <a:r>
              <a:rPr lang="en-US" sz="125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into newtons.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251960" y="1234440"/>
            <a:ext cx="3657600" cy="2011680"/>
          </a:xfrm>
          <a:prstGeom prst="roundRect">
            <a:avLst>
              <a:gd name="adj" fmla="val 2727"/>
            </a:avLst>
          </a:prstGeom>
          <a:solidFill>
            <a:srgbClr val="F5F8FE"/>
          </a:solidFill>
          <a:ln w="9525">
            <a:solidFill>
              <a:srgbClr val="D5DC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89120" y="1371600"/>
            <a:ext cx="438912" cy="438912"/>
          </a:xfrm>
          <a:prstGeom prst="ellipse">
            <a:avLst/>
          </a:prstGeom>
          <a:solidFill>
            <a:srgbClr val="2E5BD8"/>
          </a:solidFill>
          <a:ln w="12700">
            <a:solidFill>
              <a:srgbClr val="2E5B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0" y="13716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937760" y="141732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2E5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• standard form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434840" y="192024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</a:t>
            </a:r>
            <a:r>
              <a:rPr lang="en-US" sz="1250" b="1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0.00040 m²</a:t>
            </a:r>
            <a:r>
              <a:rPr lang="en-US" sz="125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standard form.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092440" y="1234440"/>
            <a:ext cx="3657600" cy="2011680"/>
          </a:xfrm>
          <a:prstGeom prst="roundRect">
            <a:avLst>
              <a:gd name="adj" fmla="val 2727"/>
            </a:avLst>
          </a:prstGeom>
          <a:solidFill>
            <a:srgbClr val="F5F8FE"/>
          </a:solidFill>
          <a:ln w="9525">
            <a:solidFill>
              <a:srgbClr val="D5DC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29600" y="1371600"/>
            <a:ext cx="438912" cy="438912"/>
          </a:xfrm>
          <a:prstGeom prst="ellipse">
            <a:avLst/>
          </a:prstGeom>
          <a:solidFill>
            <a:srgbClr val="2E5BD8"/>
          </a:solidFill>
          <a:ln w="12700">
            <a:solidFill>
              <a:srgbClr val="2E5B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0" y="13716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778240" y="141732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2E5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9 • resultant force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275320" y="192024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box has 12 N acting to the right and 5 N acting to the left. Give the size and direction of the </a:t>
            </a:r>
            <a:r>
              <a:rPr lang="en-US" sz="1250" b="1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resultant force</a:t>
            </a:r>
            <a:r>
              <a:rPr lang="en-US" sz="125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411480" y="3429000"/>
            <a:ext cx="3657600" cy="2011680"/>
          </a:xfrm>
          <a:prstGeom prst="roundRect">
            <a:avLst>
              <a:gd name="adj" fmla="val 2727"/>
            </a:avLst>
          </a:prstGeom>
          <a:solidFill>
            <a:srgbClr val="F5F8FE"/>
          </a:solidFill>
          <a:ln w="9525">
            <a:solidFill>
              <a:srgbClr val="D5DC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3566160"/>
            <a:ext cx="438912" cy="438912"/>
          </a:xfrm>
          <a:prstGeom prst="ellipse">
            <a:avLst/>
          </a:prstGeom>
          <a:solidFill>
            <a:srgbClr val="2E5BD8"/>
          </a:solidFill>
          <a:ln w="12700">
            <a:solidFill>
              <a:srgbClr val="2E5B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35661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097280" y="361188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2E5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9 • contact forces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94360" y="411480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Gravity is a non-contact force. Name </a:t>
            </a:r>
            <a:r>
              <a:rPr lang="en-US" sz="1250" b="1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contact forces</a:t>
            </a:r>
            <a:r>
              <a:rPr lang="en-US" sz="125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4251960" y="3429000"/>
            <a:ext cx="3657600" cy="2011680"/>
          </a:xfrm>
          <a:prstGeom prst="roundRect">
            <a:avLst>
              <a:gd name="adj" fmla="val 2727"/>
            </a:avLst>
          </a:prstGeom>
          <a:solidFill>
            <a:srgbClr val="F5F8FE"/>
          </a:solidFill>
          <a:ln w="9525">
            <a:solidFill>
              <a:srgbClr val="D5DCE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389120" y="3566160"/>
            <a:ext cx="438912" cy="438912"/>
          </a:xfrm>
          <a:prstGeom prst="ellipse">
            <a:avLst/>
          </a:prstGeom>
          <a:solidFill>
            <a:srgbClr val="2E5BD8"/>
          </a:solidFill>
          <a:ln w="12700">
            <a:solidFill>
              <a:srgbClr val="2E5BD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89120" y="35661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4937760" y="361188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2E5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14 • density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434840" y="411480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block has mass 0.60 kg and volume 0.00050 m³. Calculate its </a:t>
            </a:r>
            <a:r>
              <a:rPr lang="en-US" sz="1250" b="1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density</a:t>
            </a:r>
            <a:r>
              <a:rPr lang="en-US" sz="125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8092440" y="3429000"/>
            <a:ext cx="3657600" cy="2011680"/>
          </a:xfrm>
          <a:prstGeom prst="roundRect">
            <a:avLst>
              <a:gd name="adj" fmla="val 2727"/>
            </a:avLst>
          </a:prstGeom>
          <a:solidFill>
            <a:srgbClr val="F5F8FE"/>
          </a:solidFill>
          <a:ln w="9525">
            <a:solidFill>
              <a:srgbClr val="D5DCE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229600" y="3566160"/>
            <a:ext cx="438912" cy="438912"/>
          </a:xfrm>
          <a:prstGeom prst="ellipse">
            <a:avLst/>
          </a:prstGeom>
          <a:solidFill>
            <a:srgbClr val="2E5BD8"/>
          </a:solidFill>
          <a:ln w="12700">
            <a:solidFill>
              <a:srgbClr val="2E5BD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229600" y="35661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8778240" y="361188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2E5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14 • gas pressure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8275320" y="411480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how the particles of a gas exert a </a:t>
            </a:r>
            <a:r>
              <a:rPr lang="en-US" sz="1250" b="1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</a:t>
            </a:r>
            <a:r>
              <a:rPr lang="en-US" sz="125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the walls of its container.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411480" y="5715000"/>
            <a:ext cx="11368735" cy="548640"/>
          </a:xfrm>
          <a:prstGeom prst="rect">
            <a:avLst/>
          </a:prstGeom>
          <a:solidFill>
            <a:srgbClr val="EEF2FA"/>
          </a:solidFill>
          <a:ln w="12700">
            <a:solidFill>
              <a:srgbClr val="D5DC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0080" y="571500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5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Self-mark   </a:t>
            </a:r>
            <a:r>
              <a:rPr lang="en-US" sz="120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and mark from the answers.  6/6 secure  •  4–5 nearly there  •  0–3 revisit the topic notes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EEF2FA"/>
          </a:solidFill>
          <a:ln w="12700">
            <a:solidFill>
              <a:srgbClr val="EEF2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87552"/>
            <a:ext cx="12191695" cy="27432"/>
          </a:xfrm>
          <a:prstGeom prst="rect">
            <a:avLst/>
          </a:prstGeom>
          <a:solidFill>
            <a:srgbClr val="D3DCF0"/>
          </a:solidFill>
          <a:ln w="12700">
            <a:solidFill>
              <a:srgbClr val="D3DC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18872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Changing shape needs more than one force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11480" y="6400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E5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Specification 15.1 • stretching, compressing and bending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6473952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Edexcel GCSE (9–1) Physics (1PH0) | Topic 15 Forces and matter | Higher &amp; Foundation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784080" y="647395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15.1  |  5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1480" y="1188720"/>
            <a:ext cx="5577840" cy="4526280"/>
          </a:xfrm>
          <a:prstGeom prst="roundRect">
            <a:avLst>
              <a:gd name="adj" fmla="val 1616"/>
            </a:avLst>
          </a:prstGeom>
          <a:solidFill>
            <a:srgbClr val="EEF1F8"/>
          </a:solidFill>
          <a:ln w="9525">
            <a:solidFill>
              <a:srgbClr val="DCE2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5404104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diagram — force arrows show the forces acting on each object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" y="13716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Stretching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103120" y="1965960"/>
            <a:ext cx="109728" cy="91"/>
          </a:xfrm>
          <a:prstGeom prst="line">
            <a:avLst/>
          </a:prstGeom>
          <a:noFill/>
          <a:ln w="22225">
            <a:solidFill>
              <a:srgbClr val="4A556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V="1">
            <a:off x="2212848" y="1828800"/>
            <a:ext cx="104648" cy="137160"/>
          </a:xfrm>
          <a:prstGeom prst="line">
            <a:avLst/>
          </a:prstGeom>
          <a:noFill/>
          <a:ln w="22225">
            <a:solidFill>
              <a:srgbClr val="4A556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317496" y="1828800"/>
            <a:ext cx="104648" cy="274320"/>
          </a:xfrm>
          <a:prstGeom prst="line">
            <a:avLst/>
          </a:prstGeom>
          <a:noFill/>
          <a:ln w="22225">
            <a:solidFill>
              <a:srgbClr val="4A556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flipV="1">
            <a:off x="2422144" y="1828800"/>
            <a:ext cx="104648" cy="274320"/>
          </a:xfrm>
          <a:prstGeom prst="line">
            <a:avLst/>
          </a:prstGeom>
          <a:noFill/>
          <a:ln w="22225">
            <a:solidFill>
              <a:srgbClr val="4A556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26792" y="1828800"/>
            <a:ext cx="104648" cy="274320"/>
          </a:xfrm>
          <a:prstGeom prst="line">
            <a:avLst/>
          </a:prstGeom>
          <a:noFill/>
          <a:ln w="22225">
            <a:solidFill>
              <a:srgbClr val="4A556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flipV="1">
            <a:off x="2631440" y="1828800"/>
            <a:ext cx="104648" cy="274320"/>
          </a:xfrm>
          <a:prstGeom prst="line">
            <a:avLst/>
          </a:prstGeom>
          <a:noFill/>
          <a:ln w="22225">
            <a:solidFill>
              <a:srgbClr val="4A556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36088" y="1828800"/>
            <a:ext cx="104648" cy="274320"/>
          </a:xfrm>
          <a:prstGeom prst="line">
            <a:avLst/>
          </a:prstGeom>
          <a:noFill/>
          <a:ln w="22225">
            <a:solidFill>
              <a:srgbClr val="4A556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flipV="1">
            <a:off x="2840736" y="1828800"/>
            <a:ext cx="104648" cy="274320"/>
          </a:xfrm>
          <a:prstGeom prst="line">
            <a:avLst/>
          </a:prstGeom>
          <a:noFill/>
          <a:ln w="22225">
            <a:solidFill>
              <a:srgbClr val="4A556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945384" y="1828800"/>
            <a:ext cx="104648" cy="274320"/>
          </a:xfrm>
          <a:prstGeom prst="line">
            <a:avLst/>
          </a:prstGeom>
          <a:noFill/>
          <a:ln w="22225">
            <a:solidFill>
              <a:srgbClr val="4A556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flipV="1">
            <a:off x="3050032" y="1828800"/>
            <a:ext cx="104648" cy="274320"/>
          </a:xfrm>
          <a:prstGeom prst="line">
            <a:avLst/>
          </a:prstGeom>
          <a:noFill/>
          <a:ln w="22225">
            <a:solidFill>
              <a:srgbClr val="4A556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154680" y="1828800"/>
            <a:ext cx="104648" cy="274320"/>
          </a:xfrm>
          <a:prstGeom prst="line">
            <a:avLst/>
          </a:prstGeom>
          <a:noFill/>
          <a:ln w="22225">
            <a:solidFill>
              <a:srgbClr val="4A556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flipV="1">
            <a:off x="3259328" y="1828800"/>
            <a:ext cx="104648" cy="274320"/>
          </a:xfrm>
          <a:prstGeom prst="line">
            <a:avLst/>
          </a:prstGeom>
          <a:noFill/>
          <a:ln w="22225">
            <a:solidFill>
              <a:srgbClr val="4A556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363976" y="1828800"/>
            <a:ext cx="104648" cy="274320"/>
          </a:xfrm>
          <a:prstGeom prst="line">
            <a:avLst/>
          </a:prstGeom>
          <a:noFill/>
          <a:ln w="22225">
            <a:solidFill>
              <a:srgbClr val="4A556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flipV="1">
            <a:off x="3468624" y="1828800"/>
            <a:ext cx="104648" cy="274320"/>
          </a:xfrm>
          <a:prstGeom prst="line">
            <a:avLst/>
          </a:prstGeom>
          <a:noFill/>
          <a:ln w="22225">
            <a:solidFill>
              <a:srgbClr val="4A556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573272" y="1828800"/>
            <a:ext cx="104648" cy="274320"/>
          </a:xfrm>
          <a:prstGeom prst="line">
            <a:avLst/>
          </a:prstGeom>
          <a:noFill/>
          <a:ln w="22225">
            <a:solidFill>
              <a:srgbClr val="4A556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flipV="1">
            <a:off x="3677920" y="1828800"/>
            <a:ext cx="104648" cy="274320"/>
          </a:xfrm>
          <a:prstGeom prst="line">
            <a:avLst/>
          </a:prstGeom>
          <a:noFill/>
          <a:ln w="22225">
            <a:solidFill>
              <a:srgbClr val="4A556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782568" y="1828800"/>
            <a:ext cx="104648" cy="274320"/>
          </a:xfrm>
          <a:prstGeom prst="line">
            <a:avLst/>
          </a:prstGeom>
          <a:noFill/>
          <a:ln w="22225">
            <a:solidFill>
              <a:srgbClr val="4A556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flipV="1">
            <a:off x="3887216" y="1828800"/>
            <a:ext cx="104648" cy="274320"/>
          </a:xfrm>
          <a:prstGeom prst="line">
            <a:avLst/>
          </a:prstGeom>
          <a:noFill/>
          <a:ln w="22225">
            <a:solidFill>
              <a:srgbClr val="4A556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991864" y="1828800"/>
            <a:ext cx="104648" cy="137160"/>
          </a:xfrm>
          <a:prstGeom prst="line">
            <a:avLst/>
          </a:prstGeom>
          <a:noFill/>
          <a:ln w="22225">
            <a:solidFill>
              <a:srgbClr val="4A556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096512" y="1965960"/>
            <a:ext cx="109728" cy="91"/>
          </a:xfrm>
          <a:prstGeom prst="line">
            <a:avLst/>
          </a:prstGeom>
          <a:noFill/>
          <a:ln w="22225">
            <a:solidFill>
              <a:srgbClr val="4A556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 flipH="1">
            <a:off x="1417320" y="1965960"/>
            <a:ext cx="685800" cy="91"/>
          </a:xfrm>
          <a:prstGeom prst="line">
            <a:avLst/>
          </a:prstGeom>
          <a:noFill/>
          <a:ln w="38100">
            <a:solidFill>
              <a:srgbClr val="C8414C"/>
            </a:solidFill>
            <a:prstDash val="solid"/>
            <a:tailEnd type="triangle"/>
          </a:ln>
        </p:spPr>
      </p:sp>
      <p:sp>
        <p:nvSpPr>
          <p:cNvPr id="32" name="Text 30"/>
          <p:cNvSpPr/>
          <p:nvPr/>
        </p:nvSpPr>
        <p:spPr>
          <a:xfrm>
            <a:off x="822960" y="1828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8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206240" y="1965960"/>
            <a:ext cx="685800" cy="91"/>
          </a:xfrm>
          <a:prstGeom prst="line">
            <a:avLst/>
          </a:prstGeom>
          <a:noFill/>
          <a:ln w="38100">
            <a:solidFill>
              <a:srgbClr val="C8414C"/>
            </a:solidFill>
            <a:prstDash val="solid"/>
            <a:tailEnd type="triangle"/>
          </a:ln>
        </p:spPr>
      </p:sp>
      <p:sp>
        <p:nvSpPr>
          <p:cNvPr id="34" name="Text 32"/>
          <p:cNvSpPr/>
          <p:nvPr/>
        </p:nvSpPr>
        <p:spPr>
          <a:xfrm>
            <a:off x="4937760" y="1828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8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94360" y="25146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Compressing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2606040" y="3108960"/>
            <a:ext cx="95098" cy="91"/>
          </a:xfrm>
          <a:prstGeom prst="line">
            <a:avLst/>
          </a:prstGeom>
          <a:noFill/>
          <a:ln w="22225">
            <a:solidFill>
              <a:srgbClr val="4A556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 flipV="1">
            <a:off x="2701138" y="2953512"/>
            <a:ext cx="55474" cy="155448"/>
          </a:xfrm>
          <a:prstGeom prst="line">
            <a:avLst/>
          </a:prstGeom>
          <a:noFill/>
          <a:ln w="22225">
            <a:solidFill>
              <a:srgbClr val="4A556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756611" y="2953512"/>
            <a:ext cx="55474" cy="310896"/>
          </a:xfrm>
          <a:prstGeom prst="line">
            <a:avLst/>
          </a:prstGeom>
          <a:noFill/>
          <a:ln w="22225">
            <a:solidFill>
              <a:srgbClr val="4A556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 flipV="1">
            <a:off x="2812085" y="2953512"/>
            <a:ext cx="55474" cy="310896"/>
          </a:xfrm>
          <a:prstGeom prst="line">
            <a:avLst/>
          </a:prstGeom>
          <a:noFill/>
          <a:ln w="22225">
            <a:solidFill>
              <a:srgbClr val="4A556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867558" y="2953512"/>
            <a:ext cx="55474" cy="310896"/>
          </a:xfrm>
          <a:prstGeom prst="line">
            <a:avLst/>
          </a:prstGeom>
          <a:noFill/>
          <a:ln w="22225">
            <a:solidFill>
              <a:srgbClr val="4A556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 flipV="1">
            <a:off x="2923032" y="2953512"/>
            <a:ext cx="55474" cy="310896"/>
          </a:xfrm>
          <a:prstGeom prst="line">
            <a:avLst/>
          </a:prstGeom>
          <a:noFill/>
          <a:ln w="22225">
            <a:solidFill>
              <a:srgbClr val="4A556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978506" y="2953512"/>
            <a:ext cx="55474" cy="310896"/>
          </a:xfrm>
          <a:prstGeom prst="line">
            <a:avLst/>
          </a:prstGeom>
          <a:noFill/>
          <a:ln w="22225">
            <a:solidFill>
              <a:srgbClr val="4A556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 flipV="1">
            <a:off x="3033979" y="2953512"/>
            <a:ext cx="55474" cy="310896"/>
          </a:xfrm>
          <a:prstGeom prst="line">
            <a:avLst/>
          </a:prstGeom>
          <a:noFill/>
          <a:ln w="22225">
            <a:solidFill>
              <a:srgbClr val="4A556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089453" y="2953512"/>
            <a:ext cx="55474" cy="310896"/>
          </a:xfrm>
          <a:prstGeom prst="line">
            <a:avLst/>
          </a:prstGeom>
          <a:noFill/>
          <a:ln w="22225">
            <a:solidFill>
              <a:srgbClr val="4A556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 flipV="1">
            <a:off x="3144926" y="2953512"/>
            <a:ext cx="55474" cy="310896"/>
          </a:xfrm>
          <a:prstGeom prst="line">
            <a:avLst/>
          </a:prstGeom>
          <a:noFill/>
          <a:ln w="22225">
            <a:solidFill>
              <a:srgbClr val="4A556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200400" y="2953512"/>
            <a:ext cx="55474" cy="310896"/>
          </a:xfrm>
          <a:prstGeom prst="line">
            <a:avLst/>
          </a:prstGeom>
          <a:noFill/>
          <a:ln w="22225">
            <a:solidFill>
              <a:srgbClr val="4A556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 flipV="1">
            <a:off x="3255874" y="2953512"/>
            <a:ext cx="55474" cy="310896"/>
          </a:xfrm>
          <a:prstGeom prst="line">
            <a:avLst/>
          </a:prstGeom>
          <a:noFill/>
          <a:ln w="22225">
            <a:solidFill>
              <a:srgbClr val="4A556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311347" y="2953512"/>
            <a:ext cx="55474" cy="310896"/>
          </a:xfrm>
          <a:prstGeom prst="line">
            <a:avLst/>
          </a:prstGeom>
          <a:noFill/>
          <a:ln w="22225">
            <a:solidFill>
              <a:srgbClr val="4A5568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 flipV="1">
            <a:off x="3366821" y="2953512"/>
            <a:ext cx="55474" cy="310896"/>
          </a:xfrm>
          <a:prstGeom prst="line">
            <a:avLst/>
          </a:prstGeom>
          <a:noFill/>
          <a:ln w="22225">
            <a:solidFill>
              <a:srgbClr val="4A556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422294" y="2953512"/>
            <a:ext cx="55474" cy="310896"/>
          </a:xfrm>
          <a:prstGeom prst="line">
            <a:avLst/>
          </a:prstGeom>
          <a:noFill/>
          <a:ln w="22225">
            <a:solidFill>
              <a:srgbClr val="4A556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 flipV="1">
            <a:off x="3477768" y="2953512"/>
            <a:ext cx="55474" cy="310896"/>
          </a:xfrm>
          <a:prstGeom prst="line">
            <a:avLst/>
          </a:prstGeom>
          <a:noFill/>
          <a:ln w="22225">
            <a:solidFill>
              <a:srgbClr val="4A556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533242" y="2953512"/>
            <a:ext cx="55474" cy="310896"/>
          </a:xfrm>
          <a:prstGeom prst="line">
            <a:avLst/>
          </a:prstGeom>
          <a:noFill/>
          <a:ln w="22225">
            <a:solidFill>
              <a:srgbClr val="4A5568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 flipV="1">
            <a:off x="3588715" y="2953512"/>
            <a:ext cx="55474" cy="310896"/>
          </a:xfrm>
          <a:prstGeom prst="line">
            <a:avLst/>
          </a:prstGeom>
          <a:noFill/>
          <a:ln w="22225">
            <a:solidFill>
              <a:srgbClr val="4A5568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644189" y="2953512"/>
            <a:ext cx="55474" cy="155448"/>
          </a:xfrm>
          <a:prstGeom prst="line">
            <a:avLst/>
          </a:prstGeom>
          <a:noFill/>
          <a:ln w="22225">
            <a:solidFill>
              <a:srgbClr val="4A5568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699662" y="3108960"/>
            <a:ext cx="95098" cy="91"/>
          </a:xfrm>
          <a:prstGeom prst="line">
            <a:avLst/>
          </a:prstGeom>
          <a:noFill/>
          <a:ln w="22225">
            <a:solidFill>
              <a:srgbClr val="4A5568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874520" y="3108960"/>
            <a:ext cx="713232" cy="91"/>
          </a:xfrm>
          <a:prstGeom prst="line">
            <a:avLst/>
          </a:prstGeom>
          <a:noFill/>
          <a:ln w="38100">
            <a:solidFill>
              <a:srgbClr val="C8414C"/>
            </a:solidFill>
            <a:prstDash val="solid"/>
            <a:tailEnd type="triangle"/>
          </a:ln>
        </p:spPr>
      </p:sp>
      <p:sp>
        <p:nvSpPr>
          <p:cNvPr id="57" name="Text 55"/>
          <p:cNvSpPr/>
          <p:nvPr/>
        </p:nvSpPr>
        <p:spPr>
          <a:xfrm>
            <a:off x="1371600" y="298094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8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 flipH="1">
            <a:off x="3813048" y="3108960"/>
            <a:ext cx="713232" cy="91"/>
          </a:xfrm>
          <a:prstGeom prst="line">
            <a:avLst/>
          </a:prstGeom>
          <a:noFill/>
          <a:ln w="38100">
            <a:solidFill>
              <a:srgbClr val="C8414C"/>
            </a:solidFill>
            <a:prstDash val="solid"/>
            <a:tailEnd type="triangle"/>
          </a:ln>
        </p:spPr>
      </p:sp>
      <p:sp>
        <p:nvSpPr>
          <p:cNvPr id="59" name="Text 57"/>
          <p:cNvSpPr/>
          <p:nvPr/>
        </p:nvSpPr>
        <p:spPr>
          <a:xfrm>
            <a:off x="4572000" y="298094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8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594360" y="36576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Bending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1737360" y="4343400"/>
            <a:ext cx="155448" cy="40052"/>
          </a:xfrm>
          <a:prstGeom prst="line">
            <a:avLst/>
          </a:prstGeom>
          <a:noFill/>
          <a:ln w="76200">
            <a:solidFill>
              <a:srgbClr val="C99A5B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892808" y="4383452"/>
            <a:ext cx="155448" cy="39066"/>
          </a:xfrm>
          <a:prstGeom prst="line">
            <a:avLst/>
          </a:prstGeom>
          <a:noFill/>
          <a:ln w="76200">
            <a:solidFill>
              <a:srgbClr val="C99A5B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048256" y="4422518"/>
            <a:ext cx="155448" cy="37118"/>
          </a:xfrm>
          <a:prstGeom prst="line">
            <a:avLst/>
          </a:prstGeom>
          <a:noFill/>
          <a:ln w="76200">
            <a:solidFill>
              <a:srgbClr val="C99A5B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2203704" y="4459636"/>
            <a:ext cx="155448" cy="34256"/>
          </a:xfrm>
          <a:prstGeom prst="line">
            <a:avLst/>
          </a:prstGeom>
          <a:noFill/>
          <a:ln w="76200">
            <a:solidFill>
              <a:srgbClr val="C99A5B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2359152" y="4493892"/>
            <a:ext cx="155448" cy="30550"/>
          </a:xfrm>
          <a:prstGeom prst="line">
            <a:avLst/>
          </a:prstGeom>
          <a:noFill/>
          <a:ln w="76200">
            <a:solidFill>
              <a:srgbClr val="C99A5B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2514600" y="4524442"/>
            <a:ext cx="155448" cy="26092"/>
          </a:xfrm>
          <a:prstGeom prst="line">
            <a:avLst/>
          </a:prstGeom>
          <a:noFill/>
          <a:ln w="76200">
            <a:solidFill>
              <a:srgbClr val="C99A5B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670048" y="4550534"/>
            <a:ext cx="155448" cy="20992"/>
          </a:xfrm>
          <a:prstGeom prst="line">
            <a:avLst/>
          </a:prstGeom>
          <a:noFill/>
          <a:ln w="76200">
            <a:solidFill>
              <a:srgbClr val="C99A5B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825496" y="4571526"/>
            <a:ext cx="155448" cy="15375"/>
          </a:xfrm>
          <a:prstGeom prst="line">
            <a:avLst/>
          </a:prstGeom>
          <a:noFill/>
          <a:ln w="76200">
            <a:solidFill>
              <a:srgbClr val="C99A5B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2980944" y="4586901"/>
            <a:ext cx="155448" cy="9379"/>
          </a:xfrm>
          <a:prstGeom prst="line">
            <a:avLst/>
          </a:prstGeom>
          <a:noFill/>
          <a:ln w="76200">
            <a:solidFill>
              <a:srgbClr val="C99A5B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3136392" y="4596280"/>
            <a:ext cx="155448" cy="3152"/>
          </a:xfrm>
          <a:prstGeom prst="line">
            <a:avLst/>
          </a:prstGeom>
          <a:noFill/>
          <a:ln w="76200">
            <a:solidFill>
              <a:srgbClr val="C99A5B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 flipV="1">
            <a:off x="3291840" y="4596280"/>
            <a:ext cx="155448" cy="3152"/>
          </a:xfrm>
          <a:prstGeom prst="line">
            <a:avLst/>
          </a:prstGeom>
          <a:noFill/>
          <a:ln w="76200">
            <a:solidFill>
              <a:srgbClr val="C99A5B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 flipV="1">
            <a:off x="3447288" y="4586901"/>
            <a:ext cx="155448" cy="9379"/>
          </a:xfrm>
          <a:prstGeom prst="line">
            <a:avLst/>
          </a:prstGeom>
          <a:noFill/>
          <a:ln w="76200">
            <a:solidFill>
              <a:srgbClr val="C99A5B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 flipV="1">
            <a:off x="3602736" y="4571526"/>
            <a:ext cx="155448" cy="15375"/>
          </a:xfrm>
          <a:prstGeom prst="line">
            <a:avLst/>
          </a:prstGeom>
          <a:noFill/>
          <a:ln w="76200">
            <a:solidFill>
              <a:srgbClr val="C99A5B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 flipV="1">
            <a:off x="3758184" y="4550534"/>
            <a:ext cx="155448" cy="20992"/>
          </a:xfrm>
          <a:prstGeom prst="line">
            <a:avLst/>
          </a:prstGeom>
          <a:noFill/>
          <a:ln w="76200">
            <a:solidFill>
              <a:srgbClr val="C99A5B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 flipV="1">
            <a:off x="3913632" y="4524442"/>
            <a:ext cx="155448" cy="26092"/>
          </a:xfrm>
          <a:prstGeom prst="line">
            <a:avLst/>
          </a:prstGeom>
          <a:noFill/>
          <a:ln w="76200">
            <a:solidFill>
              <a:srgbClr val="C99A5B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 flipV="1">
            <a:off x="4069080" y="4493892"/>
            <a:ext cx="155448" cy="30550"/>
          </a:xfrm>
          <a:prstGeom prst="line">
            <a:avLst/>
          </a:prstGeom>
          <a:noFill/>
          <a:ln w="76200">
            <a:solidFill>
              <a:srgbClr val="C99A5B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 flipV="1">
            <a:off x="4224528" y="4459636"/>
            <a:ext cx="155448" cy="34256"/>
          </a:xfrm>
          <a:prstGeom prst="line">
            <a:avLst/>
          </a:prstGeom>
          <a:noFill/>
          <a:ln w="76200">
            <a:solidFill>
              <a:srgbClr val="C99A5B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 flipV="1">
            <a:off x="4379976" y="4422518"/>
            <a:ext cx="155448" cy="37118"/>
          </a:xfrm>
          <a:prstGeom prst="line">
            <a:avLst/>
          </a:prstGeom>
          <a:noFill/>
          <a:ln w="76200">
            <a:solidFill>
              <a:srgbClr val="C99A5B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 flipV="1">
            <a:off x="4535424" y="4383452"/>
            <a:ext cx="155448" cy="39066"/>
          </a:xfrm>
          <a:prstGeom prst="line">
            <a:avLst/>
          </a:prstGeom>
          <a:noFill/>
          <a:ln w="76200">
            <a:solidFill>
              <a:srgbClr val="C99A5B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 flipV="1">
            <a:off x="4690872" y="4343400"/>
            <a:ext cx="155448" cy="40052"/>
          </a:xfrm>
          <a:prstGeom prst="line">
            <a:avLst/>
          </a:prstGeom>
          <a:noFill/>
          <a:ln w="76200">
            <a:solidFill>
              <a:srgbClr val="C99A5B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1600200" y="4389120"/>
            <a:ext cx="329184" cy="292608"/>
          </a:xfrm>
          <a:prstGeom prst="triangle">
            <a:avLst/>
          </a:prstGeom>
          <a:solidFill>
            <a:srgbClr val="5A6275"/>
          </a:solidFill>
          <a:ln w="12700">
            <a:solidFill>
              <a:srgbClr val="5A6275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4663440" y="4389120"/>
            <a:ext cx="329184" cy="292608"/>
          </a:xfrm>
          <a:prstGeom prst="triangle">
            <a:avLst/>
          </a:prstGeom>
          <a:solidFill>
            <a:srgbClr val="5A6275"/>
          </a:solidFill>
          <a:ln w="12700">
            <a:solidFill>
              <a:srgbClr val="5A6275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3291840" y="3794760"/>
            <a:ext cx="91" cy="731520"/>
          </a:xfrm>
          <a:prstGeom prst="line">
            <a:avLst/>
          </a:prstGeom>
          <a:noFill/>
          <a:ln w="38100">
            <a:solidFill>
              <a:srgbClr val="C8414C"/>
            </a:solidFill>
            <a:prstDash val="solid"/>
            <a:tailEnd type="triangle"/>
          </a:ln>
        </p:spPr>
      </p:sp>
      <p:sp>
        <p:nvSpPr>
          <p:cNvPr id="84" name="Text 82"/>
          <p:cNvSpPr/>
          <p:nvPr/>
        </p:nvSpPr>
        <p:spPr>
          <a:xfrm>
            <a:off x="3383280" y="376732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8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</a:t>
            </a:r>
            <a:endParaRPr lang="en-US" sz="1100" dirty="0"/>
          </a:p>
        </p:txBody>
      </p:sp>
      <p:sp>
        <p:nvSpPr>
          <p:cNvPr id="85" name="Shape 83"/>
          <p:cNvSpPr/>
          <p:nvPr/>
        </p:nvSpPr>
        <p:spPr>
          <a:xfrm flipV="1">
            <a:off x="1764792" y="4709160"/>
            <a:ext cx="91" cy="548640"/>
          </a:xfrm>
          <a:prstGeom prst="line">
            <a:avLst/>
          </a:prstGeom>
          <a:noFill/>
          <a:ln w="38100">
            <a:solidFill>
              <a:srgbClr val="2E5BD8"/>
            </a:solidFill>
            <a:prstDash val="solid"/>
            <a:tailEnd type="triangle"/>
          </a:ln>
        </p:spPr>
      </p:sp>
      <p:sp>
        <p:nvSpPr>
          <p:cNvPr id="86" name="Shape 84"/>
          <p:cNvSpPr/>
          <p:nvPr/>
        </p:nvSpPr>
        <p:spPr>
          <a:xfrm flipV="1">
            <a:off x="4828032" y="4709160"/>
            <a:ext cx="91" cy="548640"/>
          </a:xfrm>
          <a:prstGeom prst="line">
            <a:avLst/>
          </a:prstGeom>
          <a:noFill/>
          <a:ln w="38100">
            <a:solidFill>
              <a:srgbClr val="2E5BD8"/>
            </a:solidFill>
            <a:prstDash val="solid"/>
            <a:tailEnd type="triangle"/>
          </a:ln>
        </p:spPr>
      </p:sp>
      <p:sp>
        <p:nvSpPr>
          <p:cNvPr id="87" name="Text 85"/>
          <p:cNvSpPr/>
          <p:nvPr/>
        </p:nvSpPr>
        <p:spPr>
          <a:xfrm>
            <a:off x="1874520" y="502920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E5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forces from both ends</a:t>
            </a:r>
            <a:endParaRPr lang="en-US" sz="1050" dirty="0"/>
          </a:p>
        </p:txBody>
      </p:sp>
      <p:sp>
        <p:nvSpPr>
          <p:cNvPr id="88" name="Shape 86"/>
          <p:cNvSpPr/>
          <p:nvPr/>
        </p:nvSpPr>
        <p:spPr>
          <a:xfrm>
            <a:off x="6217920" y="1188720"/>
            <a:ext cx="5562295" cy="2423160"/>
          </a:xfrm>
          <a:prstGeom prst="roundRect">
            <a:avLst>
              <a:gd name="adj" fmla="val 2264"/>
            </a:avLst>
          </a:prstGeom>
          <a:solidFill>
            <a:srgbClr val="F5F8FE"/>
          </a:solidFill>
          <a:ln w="9525">
            <a:solidFill>
              <a:srgbClr val="D5DCEB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6382512" y="1280160"/>
            <a:ext cx="523311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one force is not enough</a:t>
            </a:r>
            <a:endParaRPr lang="en-US" sz="1300" dirty="0"/>
          </a:p>
        </p:txBody>
      </p:sp>
      <p:sp>
        <p:nvSpPr>
          <p:cNvPr id="90" name="Text 88"/>
          <p:cNvSpPr/>
          <p:nvPr/>
        </p:nvSpPr>
        <p:spPr>
          <a:xfrm>
            <a:off x="6382512" y="1609344"/>
            <a:ext cx="5233111" cy="1929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15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</a:t>
            </a:r>
            <a:r>
              <a:rPr lang="en-US" sz="1150" b="1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stretch</a:t>
            </a:r>
            <a:r>
              <a:rPr lang="en-US" sz="115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150" b="1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</a:t>
            </a:r>
            <a:r>
              <a:rPr lang="en-US" sz="115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or </a:t>
            </a:r>
            <a:r>
              <a:rPr lang="en-US" sz="1150" b="1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bend</a:t>
            </a:r>
            <a:r>
              <a:rPr lang="en-US" sz="115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 object you need </a:t>
            </a:r>
            <a:r>
              <a:rPr lang="en-US" sz="1150" b="1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least two forces</a:t>
            </a:r>
            <a:r>
              <a:rPr lang="en-US" sz="115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acting on it in different places.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15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only </a:t>
            </a:r>
            <a:r>
              <a:rPr lang="en-US" sz="1150" b="1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</a:t>
            </a:r>
            <a:r>
              <a:rPr lang="en-US" sz="115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force, the object would just </a:t>
            </a:r>
            <a:r>
              <a:rPr lang="en-US" sz="1150" b="1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accelerate</a:t>
            </a:r>
            <a:r>
              <a:rPr lang="en-US" sz="115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the direction of that force (resultant force) instead of changing shape.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15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spring held at one end: your hand pulls one way, the support pulls back the other way.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15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Bending a ruler needs </a:t>
            </a:r>
            <a:r>
              <a:rPr lang="en-US" sz="1150" b="1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</a:t>
            </a:r>
            <a:r>
              <a:rPr lang="en-US" sz="115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forces: a push in the middle and support forces at each end.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15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Distortion = a change in </a:t>
            </a:r>
            <a:r>
              <a:rPr lang="en-US" sz="1150" b="1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</a:t>
            </a:r>
            <a:r>
              <a:rPr lang="en-US" sz="115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(stretched, squashed, bent or twisted).</a:t>
            </a:r>
            <a:endParaRPr lang="en-US" sz="1150" dirty="0"/>
          </a:p>
        </p:txBody>
      </p:sp>
      <p:sp>
        <p:nvSpPr>
          <p:cNvPr id="91" name="Shape 89"/>
          <p:cNvSpPr/>
          <p:nvPr/>
        </p:nvSpPr>
        <p:spPr>
          <a:xfrm>
            <a:off x="6217920" y="3749040"/>
            <a:ext cx="5562295" cy="1965960"/>
          </a:xfrm>
          <a:prstGeom prst="roundRect">
            <a:avLst>
              <a:gd name="adj" fmla="val 2791"/>
            </a:avLst>
          </a:prstGeom>
          <a:solidFill>
            <a:srgbClr val="FFF4E0"/>
          </a:solidFill>
          <a:ln w="9525">
            <a:solidFill>
              <a:srgbClr val="F1D9A8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6382512" y="3822192"/>
            <a:ext cx="523311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7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it through</a:t>
            </a:r>
            <a:endParaRPr lang="en-US" sz="1300" dirty="0"/>
          </a:p>
        </p:txBody>
      </p:sp>
      <p:sp>
        <p:nvSpPr>
          <p:cNvPr id="93" name="Text 91"/>
          <p:cNvSpPr/>
          <p:nvPr/>
        </p:nvSpPr>
        <p:spPr>
          <a:xfrm>
            <a:off x="6382512" y="4133088"/>
            <a:ext cx="5233111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spring hangs from a clamp. A 2 N weight hangs from its lower end and the spring is still.</a:t>
            </a:r>
            <a:endParaRPr lang="en-US" sz="1100" dirty="0"/>
          </a:p>
          <a:p>
            <a:pPr indent="0" marL="0">
              <a:spcBef>
                <a:spcPts val="200"/>
              </a:spcBef>
              <a:buNone/>
            </a:pPr>
            <a:r>
              <a:rPr lang="en-US" sz="1100" b="1" dirty="0">
                <a:solidFill>
                  <a:srgbClr val="2E5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Forces   </a:t>
            </a:r>
            <a:r>
              <a:rPr lang="en-US" sz="110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of the load pulls the bottom end </a:t>
            </a:r>
            <a:r>
              <a:rPr lang="en-US" sz="1100" b="1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</a:t>
            </a:r>
            <a:r>
              <a:rPr lang="en-US" sz="110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(2 N)</a:t>
            </a:r>
            <a:endParaRPr lang="en-US" sz="1100" dirty="0"/>
          </a:p>
          <a:p>
            <a:pPr indent="0" marL="0">
              <a:spcBef>
                <a:spcPts val="200"/>
              </a:spcBef>
              <a:buNone/>
            </a:pPr>
            <a:r>
              <a:rPr lang="en-US" sz="1100" b="1" dirty="0">
                <a:solidFill>
                  <a:srgbClr val="2E5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Second force   </a:t>
            </a:r>
            <a:r>
              <a:rPr lang="en-US" sz="110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clamp pulls the top end </a:t>
            </a:r>
            <a:r>
              <a:rPr lang="en-US" sz="1100" b="1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</a:t>
            </a:r>
            <a:r>
              <a:rPr lang="en-US" sz="110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(2 N)</a:t>
            </a:r>
            <a:endParaRPr lang="en-US" sz="1100" dirty="0"/>
          </a:p>
          <a:p>
            <a:pPr indent="0" marL="0">
              <a:spcBef>
                <a:spcPts val="200"/>
              </a:spcBef>
              <a:buNone/>
            </a:pPr>
            <a:r>
              <a:rPr lang="en-US" sz="1100" b="1" dirty="0">
                <a:solidFill>
                  <a:srgbClr val="2E5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Result   </a:t>
            </a:r>
            <a:r>
              <a:rPr lang="en-US" sz="110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 and opposite forces → no acceleration, but the spring is </a:t>
            </a:r>
            <a:r>
              <a:rPr lang="en-US" sz="1100" b="1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stretched</a:t>
            </a:r>
            <a:endParaRPr lang="en-US" sz="1100" dirty="0"/>
          </a:p>
          <a:p>
            <a:pPr indent="0" marL="0">
              <a:spcBef>
                <a:spcPts val="200"/>
              </a:spcBef>
              <a:buNone/>
            </a:pPr>
            <a:r>
              <a:rPr lang="en-US" sz="1100" b="1" dirty="0">
                <a:solidFill>
                  <a:srgbClr val="2E5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Answer   </a:t>
            </a:r>
            <a:r>
              <a:rPr lang="en-US" sz="1100" b="1" dirty="0">
                <a:solidFill>
                  <a:srgbClr val="C8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forces at different points → the spring changes shape</a:t>
            </a:r>
            <a:endParaRPr lang="en-US" sz="1100" dirty="0"/>
          </a:p>
        </p:txBody>
      </p:sp>
      <p:sp>
        <p:nvSpPr>
          <p:cNvPr id="94" name="Shape 92"/>
          <p:cNvSpPr/>
          <p:nvPr/>
        </p:nvSpPr>
        <p:spPr>
          <a:xfrm>
            <a:off x="411480" y="5833872"/>
            <a:ext cx="11368735" cy="530352"/>
          </a:xfrm>
          <a:prstGeom prst="rect">
            <a:avLst/>
          </a:prstGeom>
          <a:solidFill>
            <a:srgbClr val="FFF4E0"/>
          </a:solidFill>
          <a:ln w="6350">
            <a:solidFill>
              <a:srgbClr val="F1D9A8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411480" y="5833872"/>
            <a:ext cx="82296" cy="530352"/>
          </a:xfrm>
          <a:prstGeom prst="rect">
            <a:avLst/>
          </a:prstGeom>
          <a:solidFill>
            <a:srgbClr val="E39A2F"/>
          </a:solidFill>
          <a:ln w="12700">
            <a:solidFill>
              <a:srgbClr val="E39A2F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640080" y="5833872"/>
            <a:ext cx="1100297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7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   </a:t>
            </a:r>
            <a:r>
              <a:rPr lang="en-US" sz="115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why you cannot squash a ball of modelling clay with just one force.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EEF2FA"/>
          </a:solidFill>
          <a:ln w="12700">
            <a:solidFill>
              <a:srgbClr val="EEF2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87552"/>
            <a:ext cx="12191695" cy="27432"/>
          </a:xfrm>
          <a:prstGeom prst="rect">
            <a:avLst/>
          </a:prstGeom>
          <a:solidFill>
            <a:srgbClr val="D3DCF0"/>
          </a:solidFill>
          <a:ln w="12700">
            <a:solidFill>
              <a:srgbClr val="D3DC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18872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Elastic and inelastic distortion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11480" y="6400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E5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Specification 15.2 • does the object go back to its original shape?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6473952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Edexcel GCSE (9–1) Physics (1PH0) | Topic 15 Forces and matter | Higher &amp; Foundation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784080" y="647395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15.2  |  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1480" y="1188720"/>
            <a:ext cx="5577840" cy="4526280"/>
          </a:xfrm>
          <a:prstGeom prst="roundRect">
            <a:avLst>
              <a:gd name="adj" fmla="val 1616"/>
            </a:avLst>
          </a:prstGeom>
          <a:solidFill>
            <a:srgbClr val="EEF1F8"/>
          </a:solidFill>
          <a:ln w="9525">
            <a:solidFill>
              <a:srgbClr val="DCE2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5404104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diagram — the same spring before, during and after loading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0080" y="1371600"/>
            <a:ext cx="5120640" cy="109728"/>
          </a:xfrm>
          <a:prstGeom prst="rect">
            <a:avLst/>
          </a:prstGeom>
          <a:solidFill>
            <a:srgbClr val="5A6275"/>
          </a:solidFill>
          <a:ln/>
        </p:spPr>
      </p:sp>
      <p:sp>
        <p:nvSpPr>
          <p:cNvPr id="11" name="Shape 9"/>
          <p:cNvSpPr/>
          <p:nvPr/>
        </p:nvSpPr>
        <p:spPr>
          <a:xfrm>
            <a:off x="1600200" y="1481328"/>
            <a:ext cx="91" cy="95098"/>
          </a:xfrm>
          <a:prstGeom prst="line">
            <a:avLst/>
          </a:prstGeom>
          <a:noFill/>
          <a:ln w="22225">
            <a:solidFill>
              <a:srgbClr val="4A556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00200" y="1576426"/>
            <a:ext cx="146304" cy="49926"/>
          </a:xfrm>
          <a:prstGeom prst="line">
            <a:avLst/>
          </a:prstGeom>
          <a:noFill/>
          <a:ln w="22225">
            <a:solidFill>
              <a:srgbClr val="4A556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H="1">
            <a:off x="1453896" y="1626352"/>
            <a:ext cx="292608" cy="49926"/>
          </a:xfrm>
          <a:prstGeom prst="line">
            <a:avLst/>
          </a:prstGeom>
          <a:noFill/>
          <a:ln w="22225">
            <a:solidFill>
              <a:srgbClr val="4A556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453896" y="1676278"/>
            <a:ext cx="292608" cy="49926"/>
          </a:xfrm>
          <a:prstGeom prst="line">
            <a:avLst/>
          </a:prstGeom>
          <a:noFill/>
          <a:ln w="22225">
            <a:solidFill>
              <a:srgbClr val="4A556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flipH="1">
            <a:off x="1453896" y="1726204"/>
            <a:ext cx="292608" cy="49926"/>
          </a:xfrm>
          <a:prstGeom prst="line">
            <a:avLst/>
          </a:prstGeom>
          <a:noFill/>
          <a:ln w="22225">
            <a:solidFill>
              <a:srgbClr val="4A556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453896" y="1776131"/>
            <a:ext cx="292608" cy="49926"/>
          </a:xfrm>
          <a:prstGeom prst="line">
            <a:avLst/>
          </a:prstGeom>
          <a:noFill/>
          <a:ln w="22225">
            <a:solidFill>
              <a:srgbClr val="4A556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flipH="1">
            <a:off x="1453896" y="1826057"/>
            <a:ext cx="292608" cy="49926"/>
          </a:xfrm>
          <a:prstGeom prst="line">
            <a:avLst/>
          </a:prstGeom>
          <a:noFill/>
          <a:ln w="22225">
            <a:solidFill>
              <a:srgbClr val="4A556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453896" y="1875983"/>
            <a:ext cx="292608" cy="49926"/>
          </a:xfrm>
          <a:prstGeom prst="line">
            <a:avLst/>
          </a:prstGeom>
          <a:noFill/>
          <a:ln w="22225">
            <a:solidFill>
              <a:srgbClr val="4A556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flipH="1">
            <a:off x="1453896" y="1925909"/>
            <a:ext cx="292608" cy="49926"/>
          </a:xfrm>
          <a:prstGeom prst="line">
            <a:avLst/>
          </a:prstGeom>
          <a:noFill/>
          <a:ln w="22225">
            <a:solidFill>
              <a:srgbClr val="4A556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453896" y="1975836"/>
            <a:ext cx="292608" cy="49926"/>
          </a:xfrm>
          <a:prstGeom prst="line">
            <a:avLst/>
          </a:prstGeom>
          <a:noFill/>
          <a:ln w="22225">
            <a:solidFill>
              <a:srgbClr val="4A556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flipH="1">
            <a:off x="1453896" y="2025762"/>
            <a:ext cx="292608" cy="49926"/>
          </a:xfrm>
          <a:prstGeom prst="line">
            <a:avLst/>
          </a:prstGeom>
          <a:noFill/>
          <a:ln w="22225">
            <a:solidFill>
              <a:srgbClr val="4A556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53896" y="2075688"/>
            <a:ext cx="292608" cy="49926"/>
          </a:xfrm>
          <a:prstGeom prst="line">
            <a:avLst/>
          </a:prstGeom>
          <a:noFill/>
          <a:ln w="22225">
            <a:solidFill>
              <a:srgbClr val="4A556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flipH="1">
            <a:off x="1453896" y="2125614"/>
            <a:ext cx="292608" cy="49926"/>
          </a:xfrm>
          <a:prstGeom prst="line">
            <a:avLst/>
          </a:prstGeom>
          <a:noFill/>
          <a:ln w="22225">
            <a:solidFill>
              <a:srgbClr val="4A556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453896" y="2175540"/>
            <a:ext cx="292608" cy="49926"/>
          </a:xfrm>
          <a:prstGeom prst="line">
            <a:avLst/>
          </a:prstGeom>
          <a:noFill/>
          <a:ln w="22225">
            <a:solidFill>
              <a:srgbClr val="4A556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flipH="1">
            <a:off x="1453896" y="2225467"/>
            <a:ext cx="292608" cy="49926"/>
          </a:xfrm>
          <a:prstGeom prst="line">
            <a:avLst/>
          </a:prstGeom>
          <a:noFill/>
          <a:ln w="22225">
            <a:solidFill>
              <a:srgbClr val="4A556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453896" y="2275393"/>
            <a:ext cx="292608" cy="49926"/>
          </a:xfrm>
          <a:prstGeom prst="line">
            <a:avLst/>
          </a:prstGeom>
          <a:noFill/>
          <a:ln w="22225">
            <a:solidFill>
              <a:srgbClr val="4A556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 flipH="1">
            <a:off x="1453896" y="2325319"/>
            <a:ext cx="292608" cy="49926"/>
          </a:xfrm>
          <a:prstGeom prst="line">
            <a:avLst/>
          </a:prstGeom>
          <a:noFill/>
          <a:ln w="22225">
            <a:solidFill>
              <a:srgbClr val="4A556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453896" y="2375245"/>
            <a:ext cx="292608" cy="49926"/>
          </a:xfrm>
          <a:prstGeom prst="line">
            <a:avLst/>
          </a:prstGeom>
          <a:noFill/>
          <a:ln w="22225">
            <a:solidFill>
              <a:srgbClr val="4A556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flipH="1">
            <a:off x="1453896" y="2425172"/>
            <a:ext cx="292608" cy="49926"/>
          </a:xfrm>
          <a:prstGeom prst="line">
            <a:avLst/>
          </a:prstGeom>
          <a:noFill/>
          <a:ln w="22225">
            <a:solidFill>
              <a:srgbClr val="4A556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453896" y="2475098"/>
            <a:ext cx="292608" cy="49926"/>
          </a:xfrm>
          <a:prstGeom prst="line">
            <a:avLst/>
          </a:prstGeom>
          <a:noFill/>
          <a:ln w="22225">
            <a:solidFill>
              <a:srgbClr val="4A556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 flipH="1">
            <a:off x="1600200" y="2525024"/>
            <a:ext cx="146304" cy="49926"/>
          </a:xfrm>
          <a:prstGeom prst="line">
            <a:avLst/>
          </a:prstGeom>
          <a:noFill/>
          <a:ln w="22225">
            <a:solidFill>
              <a:srgbClr val="4A556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600200" y="2574950"/>
            <a:ext cx="91" cy="95098"/>
          </a:xfrm>
          <a:prstGeom prst="line">
            <a:avLst/>
          </a:prstGeom>
          <a:noFill/>
          <a:ln w="22225">
            <a:solidFill>
              <a:srgbClr val="4A556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697480" y="1481328"/>
            <a:ext cx="91" cy="109728"/>
          </a:xfrm>
          <a:prstGeom prst="line">
            <a:avLst/>
          </a:prstGeom>
          <a:noFill/>
          <a:ln w="22225">
            <a:solidFill>
              <a:srgbClr val="4A556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697480" y="1591056"/>
            <a:ext cx="146304" cy="80467"/>
          </a:xfrm>
          <a:prstGeom prst="line">
            <a:avLst/>
          </a:prstGeom>
          <a:noFill/>
          <a:ln w="22225">
            <a:solidFill>
              <a:srgbClr val="4A556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 flipH="1">
            <a:off x="2551176" y="1671523"/>
            <a:ext cx="292608" cy="80467"/>
          </a:xfrm>
          <a:prstGeom prst="line">
            <a:avLst/>
          </a:prstGeom>
          <a:noFill/>
          <a:ln w="22225">
            <a:solidFill>
              <a:srgbClr val="4A556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551176" y="1751990"/>
            <a:ext cx="292608" cy="80467"/>
          </a:xfrm>
          <a:prstGeom prst="line">
            <a:avLst/>
          </a:prstGeom>
          <a:noFill/>
          <a:ln w="22225">
            <a:solidFill>
              <a:srgbClr val="4A556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 flipH="1">
            <a:off x="2551176" y="1832458"/>
            <a:ext cx="292608" cy="80467"/>
          </a:xfrm>
          <a:prstGeom prst="line">
            <a:avLst/>
          </a:prstGeom>
          <a:noFill/>
          <a:ln w="22225">
            <a:solidFill>
              <a:srgbClr val="4A556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551176" y="1912925"/>
            <a:ext cx="292608" cy="80467"/>
          </a:xfrm>
          <a:prstGeom prst="line">
            <a:avLst/>
          </a:prstGeom>
          <a:noFill/>
          <a:ln w="22225">
            <a:solidFill>
              <a:srgbClr val="4A556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 flipH="1">
            <a:off x="2551176" y="1993392"/>
            <a:ext cx="292608" cy="80467"/>
          </a:xfrm>
          <a:prstGeom prst="line">
            <a:avLst/>
          </a:prstGeom>
          <a:noFill/>
          <a:ln w="22225">
            <a:solidFill>
              <a:srgbClr val="4A556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551176" y="2073859"/>
            <a:ext cx="292608" cy="80467"/>
          </a:xfrm>
          <a:prstGeom prst="line">
            <a:avLst/>
          </a:prstGeom>
          <a:noFill/>
          <a:ln w="22225">
            <a:solidFill>
              <a:srgbClr val="4A556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 flipH="1">
            <a:off x="2551176" y="2154326"/>
            <a:ext cx="292608" cy="80467"/>
          </a:xfrm>
          <a:prstGeom prst="line">
            <a:avLst/>
          </a:prstGeom>
          <a:noFill/>
          <a:ln w="22225">
            <a:solidFill>
              <a:srgbClr val="4A556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551176" y="2234794"/>
            <a:ext cx="292608" cy="80467"/>
          </a:xfrm>
          <a:prstGeom prst="line">
            <a:avLst/>
          </a:prstGeom>
          <a:noFill/>
          <a:ln w="22225">
            <a:solidFill>
              <a:srgbClr val="4A556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 flipH="1">
            <a:off x="2551176" y="2315261"/>
            <a:ext cx="292608" cy="80467"/>
          </a:xfrm>
          <a:prstGeom prst="line">
            <a:avLst/>
          </a:prstGeom>
          <a:noFill/>
          <a:ln w="22225">
            <a:solidFill>
              <a:srgbClr val="4A556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551176" y="2395728"/>
            <a:ext cx="292608" cy="80467"/>
          </a:xfrm>
          <a:prstGeom prst="line">
            <a:avLst/>
          </a:prstGeom>
          <a:noFill/>
          <a:ln w="22225">
            <a:solidFill>
              <a:srgbClr val="4A556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 flipH="1">
            <a:off x="2551176" y="2476195"/>
            <a:ext cx="292608" cy="80467"/>
          </a:xfrm>
          <a:prstGeom prst="line">
            <a:avLst/>
          </a:prstGeom>
          <a:noFill/>
          <a:ln w="22225">
            <a:solidFill>
              <a:srgbClr val="4A556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551176" y="2556662"/>
            <a:ext cx="292608" cy="80467"/>
          </a:xfrm>
          <a:prstGeom prst="line">
            <a:avLst/>
          </a:prstGeom>
          <a:noFill/>
          <a:ln w="22225">
            <a:solidFill>
              <a:srgbClr val="4A556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 flipH="1">
            <a:off x="2551176" y="2637130"/>
            <a:ext cx="292608" cy="80467"/>
          </a:xfrm>
          <a:prstGeom prst="line">
            <a:avLst/>
          </a:prstGeom>
          <a:noFill/>
          <a:ln w="22225">
            <a:solidFill>
              <a:srgbClr val="4A556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551176" y="2717597"/>
            <a:ext cx="292608" cy="80467"/>
          </a:xfrm>
          <a:prstGeom prst="line">
            <a:avLst/>
          </a:prstGeom>
          <a:noFill/>
          <a:ln w="22225">
            <a:solidFill>
              <a:srgbClr val="4A5568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 flipH="1">
            <a:off x="2551176" y="2798064"/>
            <a:ext cx="292608" cy="80467"/>
          </a:xfrm>
          <a:prstGeom prst="line">
            <a:avLst/>
          </a:prstGeom>
          <a:noFill/>
          <a:ln w="22225">
            <a:solidFill>
              <a:srgbClr val="4A556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551176" y="2878531"/>
            <a:ext cx="292608" cy="80467"/>
          </a:xfrm>
          <a:prstGeom prst="line">
            <a:avLst/>
          </a:prstGeom>
          <a:noFill/>
          <a:ln w="22225">
            <a:solidFill>
              <a:srgbClr val="4A556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 flipH="1">
            <a:off x="2551176" y="2958998"/>
            <a:ext cx="292608" cy="80467"/>
          </a:xfrm>
          <a:prstGeom prst="line">
            <a:avLst/>
          </a:prstGeom>
          <a:noFill/>
          <a:ln w="22225">
            <a:solidFill>
              <a:srgbClr val="4A556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551176" y="3039466"/>
            <a:ext cx="292608" cy="80467"/>
          </a:xfrm>
          <a:prstGeom prst="line">
            <a:avLst/>
          </a:prstGeom>
          <a:noFill/>
          <a:ln w="22225">
            <a:solidFill>
              <a:srgbClr val="4A5568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 flipH="1">
            <a:off x="2697480" y="3119933"/>
            <a:ext cx="146304" cy="80467"/>
          </a:xfrm>
          <a:prstGeom prst="line">
            <a:avLst/>
          </a:prstGeom>
          <a:noFill/>
          <a:ln w="22225">
            <a:solidFill>
              <a:srgbClr val="4A5568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697480" y="3200400"/>
            <a:ext cx="91" cy="109728"/>
          </a:xfrm>
          <a:prstGeom prst="line">
            <a:avLst/>
          </a:prstGeom>
          <a:noFill/>
          <a:ln w="22225">
            <a:solidFill>
              <a:srgbClr val="4A5568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2697480" y="3310128"/>
            <a:ext cx="91" cy="182880"/>
          </a:xfrm>
          <a:prstGeom prst="line">
            <a:avLst/>
          </a:prstGeom>
          <a:noFill/>
          <a:ln w="25400">
            <a:solidFill>
              <a:srgbClr val="5A6275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468880" y="3493008"/>
            <a:ext cx="457200" cy="109728"/>
          </a:xfrm>
          <a:prstGeom prst="rect">
            <a:avLst/>
          </a:prstGeom>
          <a:solidFill>
            <a:srgbClr val="969FB1"/>
          </a:solidFill>
          <a:ln w="6350">
            <a:solidFill>
              <a:srgbClr val="4A526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2468880" y="3602736"/>
            <a:ext cx="457200" cy="109728"/>
          </a:xfrm>
          <a:prstGeom prst="rect">
            <a:avLst/>
          </a:prstGeom>
          <a:solidFill>
            <a:srgbClr val="7C8598"/>
          </a:solidFill>
          <a:ln w="6350">
            <a:solidFill>
              <a:srgbClr val="4A526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468880" y="3712464"/>
            <a:ext cx="457200" cy="109728"/>
          </a:xfrm>
          <a:prstGeom prst="rect">
            <a:avLst/>
          </a:prstGeom>
          <a:solidFill>
            <a:srgbClr val="969FB1"/>
          </a:solidFill>
          <a:ln w="6350">
            <a:solidFill>
              <a:srgbClr val="4A526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2423160" y="3822192"/>
            <a:ext cx="548640" cy="64008"/>
          </a:xfrm>
          <a:prstGeom prst="rect">
            <a:avLst/>
          </a:prstGeom>
          <a:solidFill>
            <a:srgbClr val="4A5262"/>
          </a:solidFill>
          <a:ln w="12700">
            <a:solidFill>
              <a:srgbClr val="4A526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3794760" y="1481328"/>
            <a:ext cx="91" cy="95098"/>
          </a:xfrm>
          <a:prstGeom prst="line">
            <a:avLst/>
          </a:prstGeom>
          <a:noFill/>
          <a:ln w="22225">
            <a:solidFill>
              <a:srgbClr val="4A5568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3794760" y="1576426"/>
            <a:ext cx="146304" cy="49926"/>
          </a:xfrm>
          <a:prstGeom prst="line">
            <a:avLst/>
          </a:prstGeom>
          <a:noFill/>
          <a:ln w="22225">
            <a:solidFill>
              <a:srgbClr val="4A5568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 flipH="1">
            <a:off x="3648456" y="1626352"/>
            <a:ext cx="292608" cy="49926"/>
          </a:xfrm>
          <a:prstGeom prst="line">
            <a:avLst/>
          </a:prstGeom>
          <a:noFill/>
          <a:ln w="22225">
            <a:solidFill>
              <a:srgbClr val="4A5568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3648456" y="1676278"/>
            <a:ext cx="292608" cy="49926"/>
          </a:xfrm>
          <a:prstGeom prst="line">
            <a:avLst/>
          </a:prstGeom>
          <a:noFill/>
          <a:ln w="22225">
            <a:solidFill>
              <a:srgbClr val="4A5568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 flipH="1">
            <a:off x="3648456" y="1726204"/>
            <a:ext cx="292608" cy="49926"/>
          </a:xfrm>
          <a:prstGeom prst="line">
            <a:avLst/>
          </a:prstGeom>
          <a:noFill/>
          <a:ln w="22225">
            <a:solidFill>
              <a:srgbClr val="4A5568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3648456" y="1776131"/>
            <a:ext cx="292608" cy="49926"/>
          </a:xfrm>
          <a:prstGeom prst="line">
            <a:avLst/>
          </a:prstGeom>
          <a:noFill/>
          <a:ln w="22225">
            <a:solidFill>
              <a:srgbClr val="4A5568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 flipH="1">
            <a:off x="3648456" y="1826057"/>
            <a:ext cx="292608" cy="49926"/>
          </a:xfrm>
          <a:prstGeom prst="line">
            <a:avLst/>
          </a:prstGeom>
          <a:noFill/>
          <a:ln w="22225">
            <a:solidFill>
              <a:srgbClr val="4A5568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3648456" y="1875983"/>
            <a:ext cx="292608" cy="49926"/>
          </a:xfrm>
          <a:prstGeom prst="line">
            <a:avLst/>
          </a:prstGeom>
          <a:noFill/>
          <a:ln w="22225">
            <a:solidFill>
              <a:srgbClr val="4A5568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 flipH="1">
            <a:off x="3648456" y="1925909"/>
            <a:ext cx="292608" cy="49926"/>
          </a:xfrm>
          <a:prstGeom prst="line">
            <a:avLst/>
          </a:prstGeom>
          <a:noFill/>
          <a:ln w="22225">
            <a:solidFill>
              <a:srgbClr val="4A5568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3648456" y="1975836"/>
            <a:ext cx="292608" cy="49926"/>
          </a:xfrm>
          <a:prstGeom prst="line">
            <a:avLst/>
          </a:prstGeom>
          <a:noFill/>
          <a:ln w="22225">
            <a:solidFill>
              <a:srgbClr val="4A5568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 flipH="1">
            <a:off x="3648456" y="2025762"/>
            <a:ext cx="292608" cy="49926"/>
          </a:xfrm>
          <a:prstGeom prst="line">
            <a:avLst/>
          </a:prstGeom>
          <a:noFill/>
          <a:ln w="22225">
            <a:solidFill>
              <a:srgbClr val="4A5568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3648456" y="2075688"/>
            <a:ext cx="292608" cy="49926"/>
          </a:xfrm>
          <a:prstGeom prst="line">
            <a:avLst/>
          </a:prstGeom>
          <a:noFill/>
          <a:ln w="22225">
            <a:solidFill>
              <a:srgbClr val="4A5568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 flipH="1">
            <a:off x="3648456" y="2125614"/>
            <a:ext cx="292608" cy="49926"/>
          </a:xfrm>
          <a:prstGeom prst="line">
            <a:avLst/>
          </a:prstGeom>
          <a:noFill/>
          <a:ln w="22225">
            <a:solidFill>
              <a:srgbClr val="4A5568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3648456" y="2175540"/>
            <a:ext cx="292608" cy="49926"/>
          </a:xfrm>
          <a:prstGeom prst="line">
            <a:avLst/>
          </a:prstGeom>
          <a:noFill/>
          <a:ln w="22225">
            <a:solidFill>
              <a:srgbClr val="4A5568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 flipH="1">
            <a:off x="3648456" y="2225467"/>
            <a:ext cx="292608" cy="49926"/>
          </a:xfrm>
          <a:prstGeom prst="line">
            <a:avLst/>
          </a:prstGeom>
          <a:noFill/>
          <a:ln w="22225">
            <a:solidFill>
              <a:srgbClr val="4A5568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3648456" y="2275393"/>
            <a:ext cx="292608" cy="49926"/>
          </a:xfrm>
          <a:prstGeom prst="line">
            <a:avLst/>
          </a:prstGeom>
          <a:noFill/>
          <a:ln w="22225">
            <a:solidFill>
              <a:srgbClr val="4A5568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 flipH="1">
            <a:off x="3648456" y="2325319"/>
            <a:ext cx="292608" cy="49926"/>
          </a:xfrm>
          <a:prstGeom prst="line">
            <a:avLst/>
          </a:prstGeom>
          <a:noFill/>
          <a:ln w="22225">
            <a:solidFill>
              <a:srgbClr val="4A5568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3648456" y="2375245"/>
            <a:ext cx="292608" cy="49926"/>
          </a:xfrm>
          <a:prstGeom prst="line">
            <a:avLst/>
          </a:prstGeom>
          <a:noFill/>
          <a:ln w="22225">
            <a:solidFill>
              <a:srgbClr val="4A5568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 flipH="1">
            <a:off x="3648456" y="2425172"/>
            <a:ext cx="292608" cy="49926"/>
          </a:xfrm>
          <a:prstGeom prst="line">
            <a:avLst/>
          </a:prstGeom>
          <a:noFill/>
          <a:ln w="22225">
            <a:solidFill>
              <a:srgbClr val="4A5568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3648456" y="2475098"/>
            <a:ext cx="292608" cy="49926"/>
          </a:xfrm>
          <a:prstGeom prst="line">
            <a:avLst/>
          </a:prstGeom>
          <a:noFill/>
          <a:ln w="22225">
            <a:solidFill>
              <a:srgbClr val="4A5568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 flipH="1">
            <a:off x="3794760" y="2525024"/>
            <a:ext cx="146304" cy="49926"/>
          </a:xfrm>
          <a:prstGeom prst="line">
            <a:avLst/>
          </a:prstGeom>
          <a:noFill/>
          <a:ln w="22225">
            <a:solidFill>
              <a:srgbClr val="4A5568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3794760" y="2574950"/>
            <a:ext cx="91" cy="95098"/>
          </a:xfrm>
          <a:prstGeom prst="line">
            <a:avLst/>
          </a:prstGeom>
          <a:noFill/>
          <a:ln w="22225">
            <a:solidFill>
              <a:srgbClr val="4A5568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5029200" y="1481328"/>
            <a:ext cx="91" cy="109728"/>
          </a:xfrm>
          <a:prstGeom prst="line">
            <a:avLst/>
          </a:prstGeom>
          <a:noFill/>
          <a:ln w="22225">
            <a:solidFill>
              <a:srgbClr val="4A5568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5029200" y="1591056"/>
            <a:ext cx="109728" cy="73609"/>
          </a:xfrm>
          <a:prstGeom prst="line">
            <a:avLst/>
          </a:prstGeom>
          <a:noFill/>
          <a:ln w="22225">
            <a:solidFill>
              <a:srgbClr val="4A5568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 flipH="1">
            <a:off x="4919472" y="1664665"/>
            <a:ext cx="219456" cy="73609"/>
          </a:xfrm>
          <a:prstGeom prst="line">
            <a:avLst/>
          </a:prstGeom>
          <a:noFill/>
          <a:ln w="22225">
            <a:solidFill>
              <a:srgbClr val="4A5568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4919472" y="1738274"/>
            <a:ext cx="219456" cy="73609"/>
          </a:xfrm>
          <a:prstGeom prst="line">
            <a:avLst/>
          </a:prstGeom>
          <a:noFill/>
          <a:ln w="22225">
            <a:solidFill>
              <a:srgbClr val="4A5568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 flipH="1">
            <a:off x="4919472" y="1811884"/>
            <a:ext cx="219456" cy="73609"/>
          </a:xfrm>
          <a:prstGeom prst="line">
            <a:avLst/>
          </a:prstGeom>
          <a:noFill/>
          <a:ln w="22225">
            <a:solidFill>
              <a:srgbClr val="4A5568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4919472" y="1885493"/>
            <a:ext cx="219456" cy="73609"/>
          </a:xfrm>
          <a:prstGeom prst="line">
            <a:avLst/>
          </a:prstGeom>
          <a:noFill/>
          <a:ln w="22225">
            <a:solidFill>
              <a:srgbClr val="4A5568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 flipH="1">
            <a:off x="4919472" y="1959102"/>
            <a:ext cx="219456" cy="73609"/>
          </a:xfrm>
          <a:prstGeom prst="line">
            <a:avLst/>
          </a:prstGeom>
          <a:noFill/>
          <a:ln w="22225">
            <a:solidFill>
              <a:srgbClr val="4A5568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4919472" y="2032711"/>
            <a:ext cx="219456" cy="73609"/>
          </a:xfrm>
          <a:prstGeom prst="line">
            <a:avLst/>
          </a:prstGeom>
          <a:noFill/>
          <a:ln w="22225">
            <a:solidFill>
              <a:srgbClr val="4A5568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 flipH="1">
            <a:off x="4919472" y="2106320"/>
            <a:ext cx="219456" cy="73609"/>
          </a:xfrm>
          <a:prstGeom prst="line">
            <a:avLst/>
          </a:prstGeom>
          <a:noFill/>
          <a:ln w="22225">
            <a:solidFill>
              <a:srgbClr val="4A5568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4919472" y="2179930"/>
            <a:ext cx="219456" cy="73609"/>
          </a:xfrm>
          <a:prstGeom prst="line">
            <a:avLst/>
          </a:prstGeom>
          <a:noFill/>
          <a:ln w="22225">
            <a:solidFill>
              <a:srgbClr val="4A5568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 flipH="1">
            <a:off x="4919472" y="2253539"/>
            <a:ext cx="219456" cy="73609"/>
          </a:xfrm>
          <a:prstGeom prst="line">
            <a:avLst/>
          </a:prstGeom>
          <a:noFill/>
          <a:ln w="22225">
            <a:solidFill>
              <a:srgbClr val="4A5568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4919472" y="2327148"/>
            <a:ext cx="219456" cy="73609"/>
          </a:xfrm>
          <a:prstGeom prst="line">
            <a:avLst/>
          </a:prstGeom>
          <a:noFill/>
          <a:ln w="22225">
            <a:solidFill>
              <a:srgbClr val="4A5568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 flipH="1">
            <a:off x="4919472" y="2400757"/>
            <a:ext cx="219456" cy="73609"/>
          </a:xfrm>
          <a:prstGeom prst="line">
            <a:avLst/>
          </a:prstGeom>
          <a:noFill/>
          <a:ln w="22225">
            <a:solidFill>
              <a:srgbClr val="4A5568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4919472" y="2474366"/>
            <a:ext cx="219456" cy="73609"/>
          </a:xfrm>
          <a:prstGeom prst="line">
            <a:avLst/>
          </a:prstGeom>
          <a:noFill/>
          <a:ln w="22225">
            <a:solidFill>
              <a:srgbClr val="4A5568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 flipH="1">
            <a:off x="4919472" y="2547976"/>
            <a:ext cx="219456" cy="73609"/>
          </a:xfrm>
          <a:prstGeom prst="line">
            <a:avLst/>
          </a:prstGeom>
          <a:noFill/>
          <a:ln w="22225">
            <a:solidFill>
              <a:srgbClr val="4A5568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4919472" y="2621585"/>
            <a:ext cx="219456" cy="73609"/>
          </a:xfrm>
          <a:prstGeom prst="line">
            <a:avLst/>
          </a:prstGeom>
          <a:noFill/>
          <a:ln w="22225">
            <a:solidFill>
              <a:srgbClr val="4A5568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 flipH="1">
            <a:off x="4919472" y="2695194"/>
            <a:ext cx="219456" cy="73609"/>
          </a:xfrm>
          <a:prstGeom prst="line">
            <a:avLst/>
          </a:prstGeom>
          <a:noFill/>
          <a:ln w="22225">
            <a:solidFill>
              <a:srgbClr val="4A5568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4919472" y="2768803"/>
            <a:ext cx="219456" cy="73609"/>
          </a:xfrm>
          <a:prstGeom prst="line">
            <a:avLst/>
          </a:prstGeom>
          <a:noFill/>
          <a:ln w="22225">
            <a:solidFill>
              <a:srgbClr val="4A5568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 flipH="1">
            <a:off x="4919472" y="2842412"/>
            <a:ext cx="219456" cy="73609"/>
          </a:xfrm>
          <a:prstGeom prst="line">
            <a:avLst/>
          </a:prstGeom>
          <a:noFill/>
          <a:ln w="22225">
            <a:solidFill>
              <a:srgbClr val="4A5568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4919472" y="2916022"/>
            <a:ext cx="219456" cy="73609"/>
          </a:xfrm>
          <a:prstGeom prst="line">
            <a:avLst/>
          </a:prstGeom>
          <a:noFill/>
          <a:ln w="22225">
            <a:solidFill>
              <a:srgbClr val="4A5568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 flipH="1">
            <a:off x="5029200" y="2989631"/>
            <a:ext cx="109728" cy="73609"/>
          </a:xfrm>
          <a:prstGeom prst="line">
            <a:avLst/>
          </a:prstGeom>
          <a:noFill/>
          <a:ln w="22225">
            <a:solidFill>
              <a:srgbClr val="4A5568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5029200" y="3063240"/>
            <a:ext cx="91" cy="109728"/>
          </a:xfrm>
          <a:prstGeom prst="line">
            <a:avLst/>
          </a:prstGeom>
          <a:noFill/>
          <a:ln w="22225">
            <a:solidFill>
              <a:srgbClr val="4A5568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640080" y="2670048"/>
            <a:ext cx="5120640" cy="91"/>
          </a:xfrm>
          <a:prstGeom prst="line">
            <a:avLst/>
          </a:prstGeom>
          <a:noFill/>
          <a:ln w="12700">
            <a:solidFill>
              <a:srgbClr val="2E5BD8"/>
            </a:solidFill>
            <a:prstDash val="dash"/>
          </a:ln>
        </p:spPr>
      </p:sp>
      <p:sp>
        <p:nvSpPr>
          <p:cNvPr id="105" name="Text 103"/>
          <p:cNvSpPr/>
          <p:nvPr/>
        </p:nvSpPr>
        <p:spPr>
          <a:xfrm>
            <a:off x="548640" y="2167128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2E5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</a:t>
            </a:r>
            <a:endParaRPr lang="en-US" sz="1000" dirty="0"/>
          </a:p>
          <a:p>
            <a:pPr algn="l" indent="0" marL="0">
              <a:buNone/>
            </a:pPr>
            <a:r>
              <a:rPr lang="en-US" sz="1000" i="1" dirty="0">
                <a:solidFill>
                  <a:srgbClr val="2E5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</a:t>
            </a:r>
            <a:endParaRPr lang="en-US" sz="1000" dirty="0"/>
          </a:p>
        </p:txBody>
      </p:sp>
      <p:sp>
        <p:nvSpPr>
          <p:cNvPr id="106" name="Text 104"/>
          <p:cNvSpPr/>
          <p:nvPr/>
        </p:nvSpPr>
        <p:spPr>
          <a:xfrm>
            <a:off x="978408" y="3931920"/>
            <a:ext cx="12435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No load</a:t>
            </a:r>
            <a:endParaRPr lang="en-US" sz="1050" dirty="0"/>
          </a:p>
        </p:txBody>
      </p:sp>
      <p:sp>
        <p:nvSpPr>
          <p:cNvPr id="107" name="Text 105"/>
          <p:cNvSpPr/>
          <p:nvPr/>
        </p:nvSpPr>
        <p:spPr>
          <a:xfrm>
            <a:off x="2075688" y="3931920"/>
            <a:ext cx="12435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Load added: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stretches</a:t>
            </a:r>
            <a:endParaRPr lang="en-US" sz="1050" dirty="0"/>
          </a:p>
        </p:txBody>
      </p:sp>
      <p:sp>
        <p:nvSpPr>
          <p:cNvPr id="108" name="Text 106"/>
          <p:cNvSpPr/>
          <p:nvPr/>
        </p:nvSpPr>
        <p:spPr>
          <a:xfrm>
            <a:off x="3172968" y="3931920"/>
            <a:ext cx="12435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Load removed: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length</a:t>
            </a:r>
            <a:endParaRPr lang="en-US" sz="1050" dirty="0"/>
          </a:p>
        </p:txBody>
      </p:sp>
      <p:sp>
        <p:nvSpPr>
          <p:cNvPr id="109" name="Text 107"/>
          <p:cNvSpPr/>
          <p:nvPr/>
        </p:nvSpPr>
        <p:spPr>
          <a:xfrm>
            <a:off x="4407408" y="3931920"/>
            <a:ext cx="12435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8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Overstretched,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C8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removed: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C8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stays longer</a:t>
            </a:r>
            <a:endParaRPr lang="en-US" sz="1050" dirty="0"/>
          </a:p>
        </p:txBody>
      </p:sp>
      <p:sp>
        <p:nvSpPr>
          <p:cNvPr id="110" name="Shape 108"/>
          <p:cNvSpPr/>
          <p:nvPr/>
        </p:nvSpPr>
        <p:spPr>
          <a:xfrm>
            <a:off x="960120" y="4617720"/>
            <a:ext cx="3429000" cy="502920"/>
          </a:xfrm>
          <a:prstGeom prst="roundRect">
            <a:avLst>
              <a:gd name="adj" fmla="val 9091"/>
            </a:avLst>
          </a:prstGeom>
          <a:solidFill>
            <a:srgbClr val="E6F4EC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960120" y="461772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</a:t>
            </a:r>
            <a:endParaRPr lang="en-US" sz="1200" dirty="0"/>
          </a:p>
        </p:txBody>
      </p:sp>
      <p:sp>
        <p:nvSpPr>
          <p:cNvPr id="112" name="Shape 110"/>
          <p:cNvSpPr/>
          <p:nvPr/>
        </p:nvSpPr>
        <p:spPr>
          <a:xfrm>
            <a:off x="4480560" y="4617720"/>
            <a:ext cx="1188720" cy="502920"/>
          </a:xfrm>
          <a:prstGeom prst="roundRect">
            <a:avLst>
              <a:gd name="adj" fmla="val 9091"/>
            </a:avLst>
          </a:prstGeom>
          <a:solidFill>
            <a:srgbClr val="FBE9EA"/>
          </a:solidFill>
          <a:ln w="12700">
            <a:solidFill>
              <a:srgbClr val="C8414C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4480560" y="461772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INELASTIC</a:t>
            </a:r>
            <a:endParaRPr lang="en-US" sz="1200" dirty="0"/>
          </a:p>
        </p:txBody>
      </p:sp>
      <p:sp>
        <p:nvSpPr>
          <p:cNvPr id="114" name="Shape 112"/>
          <p:cNvSpPr/>
          <p:nvPr/>
        </p:nvSpPr>
        <p:spPr>
          <a:xfrm>
            <a:off x="6217920" y="1188720"/>
            <a:ext cx="5562295" cy="2423160"/>
          </a:xfrm>
          <a:prstGeom prst="roundRect">
            <a:avLst>
              <a:gd name="adj" fmla="val 2264"/>
            </a:avLst>
          </a:prstGeom>
          <a:solidFill>
            <a:srgbClr val="F5F8FE"/>
          </a:solidFill>
          <a:ln w="9525">
            <a:solidFill>
              <a:srgbClr val="D5DCEB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6382512" y="1280160"/>
            <a:ext cx="523311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kinds of distortion</a:t>
            </a:r>
            <a:endParaRPr lang="en-US" sz="1300" dirty="0"/>
          </a:p>
        </p:txBody>
      </p:sp>
      <p:sp>
        <p:nvSpPr>
          <p:cNvPr id="116" name="Text 114"/>
          <p:cNvSpPr/>
          <p:nvPr/>
        </p:nvSpPr>
        <p:spPr>
          <a:xfrm>
            <a:off x="6382512" y="1609344"/>
            <a:ext cx="5233111" cy="1929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150" b="1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 distortion:</a:t>
            </a:r>
            <a:r>
              <a:rPr lang="en-US" sz="115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object returns to its </a:t>
            </a:r>
            <a:r>
              <a:rPr lang="en-US" sz="1150" b="1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shape and size</a:t>
            </a:r>
            <a:r>
              <a:rPr lang="en-US" sz="115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when the forces are removed (e.g. a spring or elastic band used gently).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150" b="1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Inelastic (plastic) distortion:</a:t>
            </a:r>
            <a:r>
              <a:rPr lang="en-US" sz="115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object does </a:t>
            </a:r>
            <a:r>
              <a:rPr lang="en-US" sz="1150" b="1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r>
              <a:rPr lang="en-US" sz="115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return to its original shape when the forces are removed – it is permanently changed (e.g. modelling clay, an overstretched spring).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15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spring loaded too far goes past its </a:t>
            </a:r>
            <a:r>
              <a:rPr lang="en-US" sz="1150" b="1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 limit</a:t>
            </a:r>
            <a:r>
              <a:rPr lang="en-US" sz="115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it then distorts inelastically.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15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Test: remove the load and measure the length again. Same as before → elastic.</a:t>
            </a:r>
            <a:endParaRPr lang="en-US" sz="1150" dirty="0"/>
          </a:p>
        </p:txBody>
      </p:sp>
      <p:sp>
        <p:nvSpPr>
          <p:cNvPr id="117" name="Shape 115"/>
          <p:cNvSpPr/>
          <p:nvPr/>
        </p:nvSpPr>
        <p:spPr>
          <a:xfrm>
            <a:off x="6217920" y="3749040"/>
            <a:ext cx="5562295" cy="1965960"/>
          </a:xfrm>
          <a:prstGeom prst="roundRect">
            <a:avLst>
              <a:gd name="adj" fmla="val 2791"/>
            </a:avLst>
          </a:prstGeom>
          <a:solidFill>
            <a:srgbClr val="FFF4E0"/>
          </a:solidFill>
          <a:ln w="9525">
            <a:solidFill>
              <a:srgbClr val="F1D9A8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6382512" y="3822192"/>
            <a:ext cx="523311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7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the examples</a:t>
            </a:r>
            <a:endParaRPr lang="en-US" sz="1300" dirty="0"/>
          </a:p>
        </p:txBody>
      </p:sp>
      <p:sp>
        <p:nvSpPr>
          <p:cNvPr id="119" name="Text 117"/>
          <p:cNvSpPr/>
          <p:nvPr/>
        </p:nvSpPr>
        <p:spPr>
          <a:xfrm>
            <a:off x="6382512" y="4133088"/>
            <a:ext cx="5233111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whether each distortion is elastic or inelastic.</a:t>
            </a:r>
            <a:endParaRPr lang="en-US" sz="1100" dirty="0"/>
          </a:p>
          <a:p>
            <a:pPr indent="0" marL="0">
              <a:spcBef>
                <a:spcPts val="200"/>
              </a:spcBef>
              <a:buNone/>
            </a:pPr>
            <a:r>
              <a:rPr lang="en-US" sz="1100" b="1" dirty="0">
                <a:solidFill>
                  <a:srgbClr val="2E5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Trampoline   </a:t>
            </a:r>
            <a:r>
              <a:rPr lang="en-US" sz="110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springs return to shape → </a:t>
            </a:r>
            <a:r>
              <a:rPr lang="en-US" sz="1100" b="1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</a:t>
            </a:r>
            <a:endParaRPr lang="en-US" sz="1100" dirty="0"/>
          </a:p>
          <a:p>
            <a:pPr indent="0" marL="0">
              <a:spcBef>
                <a:spcPts val="200"/>
              </a:spcBef>
              <a:buNone/>
            </a:pPr>
            <a:r>
              <a:rPr lang="en-US" sz="1100" b="1" dirty="0">
                <a:solidFill>
                  <a:srgbClr val="2E5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Crushed can   </a:t>
            </a:r>
            <a:r>
              <a:rPr lang="en-US" sz="110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stays crushed → </a:t>
            </a:r>
            <a:r>
              <a:rPr lang="en-US" sz="1100" b="1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inelastic</a:t>
            </a:r>
            <a:endParaRPr lang="en-US" sz="1100" dirty="0"/>
          </a:p>
          <a:p>
            <a:pPr indent="0" marL="0">
              <a:spcBef>
                <a:spcPts val="200"/>
              </a:spcBef>
              <a:buNone/>
            </a:pPr>
            <a:r>
              <a:rPr lang="en-US" sz="1100" b="1" dirty="0">
                <a:solidFill>
                  <a:srgbClr val="2E5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Bow string   </a:t>
            </a:r>
            <a:r>
              <a:rPr lang="en-US" sz="110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when released → </a:t>
            </a:r>
            <a:r>
              <a:rPr lang="en-US" sz="1100" b="1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</a:t>
            </a:r>
            <a:endParaRPr lang="en-US" sz="1100" dirty="0"/>
          </a:p>
          <a:p>
            <a:pPr indent="0" marL="0">
              <a:spcBef>
                <a:spcPts val="200"/>
              </a:spcBef>
              <a:buNone/>
            </a:pPr>
            <a:r>
              <a:rPr lang="en-US" sz="1100" b="1" dirty="0">
                <a:solidFill>
                  <a:srgbClr val="2E5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Answer   </a:t>
            </a:r>
            <a:r>
              <a:rPr lang="en-US" sz="1100" b="1" dirty="0">
                <a:solidFill>
                  <a:srgbClr val="C8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 = returns to original shape; inelastic = permanent change</a:t>
            </a:r>
            <a:endParaRPr lang="en-US" sz="1100" dirty="0"/>
          </a:p>
        </p:txBody>
      </p:sp>
      <p:sp>
        <p:nvSpPr>
          <p:cNvPr id="120" name="Shape 118"/>
          <p:cNvSpPr/>
          <p:nvPr/>
        </p:nvSpPr>
        <p:spPr>
          <a:xfrm>
            <a:off x="411480" y="5833872"/>
            <a:ext cx="11368735" cy="530352"/>
          </a:xfrm>
          <a:prstGeom prst="rect">
            <a:avLst/>
          </a:prstGeom>
          <a:solidFill>
            <a:srgbClr val="FFF4E0"/>
          </a:solidFill>
          <a:ln w="6350">
            <a:solidFill>
              <a:srgbClr val="F1D9A8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411480" y="5833872"/>
            <a:ext cx="82296" cy="530352"/>
          </a:xfrm>
          <a:prstGeom prst="rect">
            <a:avLst/>
          </a:prstGeom>
          <a:solidFill>
            <a:srgbClr val="E39A2F"/>
          </a:solidFill>
          <a:ln w="12700">
            <a:solidFill>
              <a:srgbClr val="E39A2F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640080" y="5833872"/>
            <a:ext cx="1100297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7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   </a:t>
            </a:r>
            <a:r>
              <a:rPr lang="en-US" sz="115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car bumper dents in a crash and stays dented. Is this elastic or inelastic distortion? Give a reason.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EEF2FA"/>
          </a:solidFill>
          <a:ln w="12700">
            <a:solidFill>
              <a:srgbClr val="EEF2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87552"/>
            <a:ext cx="12191695" cy="27432"/>
          </a:xfrm>
          <a:prstGeom prst="rect">
            <a:avLst/>
          </a:prstGeom>
          <a:solidFill>
            <a:srgbClr val="D3DCF0"/>
          </a:solidFill>
          <a:ln w="12700">
            <a:solidFill>
              <a:srgbClr val="D3DC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18872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Force and extension: F = k × x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11480" y="6400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E5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Specification 15.3 • recall and use the equation for linear elastic distortion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6473952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Edexcel GCSE (9–1) Physics (1PH0) | Topic 15 Forces and matter | Higher &amp; Foundation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784080" y="647395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15.3  |  7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1480" y="1188720"/>
            <a:ext cx="5577840" cy="4526280"/>
          </a:xfrm>
          <a:prstGeom prst="roundRect">
            <a:avLst>
              <a:gd name="adj" fmla="val 1616"/>
            </a:avLst>
          </a:prstGeom>
          <a:solidFill>
            <a:srgbClr val="EEF1F8"/>
          </a:solidFill>
          <a:ln w="9525">
            <a:solidFill>
              <a:srgbClr val="DCE2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5404104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diagram — extension = new length − original length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31520" y="1417320"/>
            <a:ext cx="4937760" cy="109728"/>
          </a:xfrm>
          <a:prstGeom prst="rect">
            <a:avLst/>
          </a:prstGeom>
          <a:solidFill>
            <a:srgbClr val="5A6275"/>
          </a:solidFill>
          <a:ln/>
        </p:spPr>
      </p:sp>
      <p:sp>
        <p:nvSpPr>
          <p:cNvPr id="11" name="Shape 9"/>
          <p:cNvSpPr/>
          <p:nvPr/>
        </p:nvSpPr>
        <p:spPr>
          <a:xfrm>
            <a:off x="1737360" y="1527048"/>
            <a:ext cx="91" cy="102413"/>
          </a:xfrm>
          <a:prstGeom prst="line">
            <a:avLst/>
          </a:prstGeom>
          <a:noFill/>
          <a:ln w="22225">
            <a:solidFill>
              <a:srgbClr val="4A556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0" y="1629461"/>
            <a:ext cx="146304" cy="53767"/>
          </a:xfrm>
          <a:prstGeom prst="line">
            <a:avLst/>
          </a:prstGeom>
          <a:noFill/>
          <a:ln w="22225">
            <a:solidFill>
              <a:srgbClr val="4A556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H="1">
            <a:off x="1591056" y="1683228"/>
            <a:ext cx="292608" cy="53767"/>
          </a:xfrm>
          <a:prstGeom prst="line">
            <a:avLst/>
          </a:prstGeom>
          <a:noFill/>
          <a:ln w="22225">
            <a:solidFill>
              <a:srgbClr val="4A556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91056" y="1736994"/>
            <a:ext cx="292608" cy="53767"/>
          </a:xfrm>
          <a:prstGeom prst="line">
            <a:avLst/>
          </a:prstGeom>
          <a:noFill/>
          <a:ln w="22225">
            <a:solidFill>
              <a:srgbClr val="4A556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flipH="1">
            <a:off x="1591056" y="1790761"/>
            <a:ext cx="292608" cy="53767"/>
          </a:xfrm>
          <a:prstGeom prst="line">
            <a:avLst/>
          </a:prstGeom>
          <a:noFill/>
          <a:ln w="22225">
            <a:solidFill>
              <a:srgbClr val="4A556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591056" y="1844528"/>
            <a:ext cx="292608" cy="53767"/>
          </a:xfrm>
          <a:prstGeom prst="line">
            <a:avLst/>
          </a:prstGeom>
          <a:noFill/>
          <a:ln w="22225">
            <a:solidFill>
              <a:srgbClr val="4A556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flipH="1">
            <a:off x="1591056" y="1898294"/>
            <a:ext cx="292608" cy="53767"/>
          </a:xfrm>
          <a:prstGeom prst="line">
            <a:avLst/>
          </a:prstGeom>
          <a:noFill/>
          <a:ln w="22225">
            <a:solidFill>
              <a:srgbClr val="4A556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591056" y="1952061"/>
            <a:ext cx="292608" cy="53767"/>
          </a:xfrm>
          <a:prstGeom prst="line">
            <a:avLst/>
          </a:prstGeom>
          <a:noFill/>
          <a:ln w="22225">
            <a:solidFill>
              <a:srgbClr val="4A556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flipH="1">
            <a:off x="1591056" y="2005828"/>
            <a:ext cx="292608" cy="53767"/>
          </a:xfrm>
          <a:prstGeom prst="line">
            <a:avLst/>
          </a:prstGeom>
          <a:noFill/>
          <a:ln w="22225">
            <a:solidFill>
              <a:srgbClr val="4A556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591056" y="2059595"/>
            <a:ext cx="292608" cy="53767"/>
          </a:xfrm>
          <a:prstGeom prst="line">
            <a:avLst/>
          </a:prstGeom>
          <a:noFill/>
          <a:ln w="22225">
            <a:solidFill>
              <a:srgbClr val="4A556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flipH="1">
            <a:off x="1591056" y="2113361"/>
            <a:ext cx="292608" cy="53767"/>
          </a:xfrm>
          <a:prstGeom prst="line">
            <a:avLst/>
          </a:prstGeom>
          <a:noFill/>
          <a:ln w="22225">
            <a:solidFill>
              <a:srgbClr val="4A556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591056" y="2167128"/>
            <a:ext cx="292608" cy="53767"/>
          </a:xfrm>
          <a:prstGeom prst="line">
            <a:avLst/>
          </a:prstGeom>
          <a:noFill/>
          <a:ln w="22225">
            <a:solidFill>
              <a:srgbClr val="4A556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flipH="1">
            <a:off x="1591056" y="2220895"/>
            <a:ext cx="292608" cy="53767"/>
          </a:xfrm>
          <a:prstGeom prst="line">
            <a:avLst/>
          </a:prstGeom>
          <a:noFill/>
          <a:ln w="22225">
            <a:solidFill>
              <a:srgbClr val="4A556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591056" y="2274661"/>
            <a:ext cx="292608" cy="53767"/>
          </a:xfrm>
          <a:prstGeom prst="line">
            <a:avLst/>
          </a:prstGeom>
          <a:noFill/>
          <a:ln w="22225">
            <a:solidFill>
              <a:srgbClr val="4A556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flipH="1">
            <a:off x="1591056" y="2328428"/>
            <a:ext cx="292608" cy="53767"/>
          </a:xfrm>
          <a:prstGeom prst="line">
            <a:avLst/>
          </a:prstGeom>
          <a:noFill/>
          <a:ln w="22225">
            <a:solidFill>
              <a:srgbClr val="4A556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591056" y="2382195"/>
            <a:ext cx="292608" cy="53767"/>
          </a:xfrm>
          <a:prstGeom prst="line">
            <a:avLst/>
          </a:prstGeom>
          <a:noFill/>
          <a:ln w="22225">
            <a:solidFill>
              <a:srgbClr val="4A556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 flipH="1">
            <a:off x="1591056" y="2435962"/>
            <a:ext cx="292608" cy="53767"/>
          </a:xfrm>
          <a:prstGeom prst="line">
            <a:avLst/>
          </a:prstGeom>
          <a:noFill/>
          <a:ln w="22225">
            <a:solidFill>
              <a:srgbClr val="4A556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591056" y="2489728"/>
            <a:ext cx="292608" cy="53767"/>
          </a:xfrm>
          <a:prstGeom prst="line">
            <a:avLst/>
          </a:prstGeom>
          <a:noFill/>
          <a:ln w="22225">
            <a:solidFill>
              <a:srgbClr val="4A556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flipH="1">
            <a:off x="1591056" y="2543495"/>
            <a:ext cx="292608" cy="53767"/>
          </a:xfrm>
          <a:prstGeom prst="line">
            <a:avLst/>
          </a:prstGeom>
          <a:noFill/>
          <a:ln w="22225">
            <a:solidFill>
              <a:srgbClr val="4A556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591056" y="2597262"/>
            <a:ext cx="292608" cy="53767"/>
          </a:xfrm>
          <a:prstGeom prst="line">
            <a:avLst/>
          </a:prstGeom>
          <a:noFill/>
          <a:ln w="22225">
            <a:solidFill>
              <a:srgbClr val="4A556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 flipH="1">
            <a:off x="1737360" y="2651028"/>
            <a:ext cx="146304" cy="53767"/>
          </a:xfrm>
          <a:prstGeom prst="line">
            <a:avLst/>
          </a:prstGeom>
          <a:noFill/>
          <a:ln w="22225">
            <a:solidFill>
              <a:srgbClr val="4A556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737360" y="2704795"/>
            <a:ext cx="91" cy="102413"/>
          </a:xfrm>
          <a:prstGeom prst="line">
            <a:avLst/>
          </a:prstGeom>
          <a:noFill/>
          <a:ln w="22225">
            <a:solidFill>
              <a:srgbClr val="4A556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931920" y="1527048"/>
            <a:ext cx="91" cy="109728"/>
          </a:xfrm>
          <a:prstGeom prst="line">
            <a:avLst/>
          </a:prstGeom>
          <a:noFill/>
          <a:ln w="22225">
            <a:solidFill>
              <a:srgbClr val="4A556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931920" y="1636776"/>
            <a:ext cx="146304" cy="103327"/>
          </a:xfrm>
          <a:prstGeom prst="line">
            <a:avLst/>
          </a:prstGeom>
          <a:noFill/>
          <a:ln w="22225">
            <a:solidFill>
              <a:srgbClr val="4A556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 flipH="1">
            <a:off x="3785616" y="1740103"/>
            <a:ext cx="292608" cy="103327"/>
          </a:xfrm>
          <a:prstGeom prst="line">
            <a:avLst/>
          </a:prstGeom>
          <a:noFill/>
          <a:ln w="22225">
            <a:solidFill>
              <a:srgbClr val="4A556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785616" y="1843430"/>
            <a:ext cx="292608" cy="103327"/>
          </a:xfrm>
          <a:prstGeom prst="line">
            <a:avLst/>
          </a:prstGeom>
          <a:noFill/>
          <a:ln w="22225">
            <a:solidFill>
              <a:srgbClr val="4A556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 flipH="1">
            <a:off x="3785616" y="1946758"/>
            <a:ext cx="292608" cy="103327"/>
          </a:xfrm>
          <a:prstGeom prst="line">
            <a:avLst/>
          </a:prstGeom>
          <a:noFill/>
          <a:ln w="22225">
            <a:solidFill>
              <a:srgbClr val="4A556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785616" y="2050085"/>
            <a:ext cx="292608" cy="103327"/>
          </a:xfrm>
          <a:prstGeom prst="line">
            <a:avLst/>
          </a:prstGeom>
          <a:noFill/>
          <a:ln w="22225">
            <a:solidFill>
              <a:srgbClr val="4A556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 flipH="1">
            <a:off x="3785616" y="2153412"/>
            <a:ext cx="292608" cy="103327"/>
          </a:xfrm>
          <a:prstGeom prst="line">
            <a:avLst/>
          </a:prstGeom>
          <a:noFill/>
          <a:ln w="22225">
            <a:solidFill>
              <a:srgbClr val="4A556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785616" y="2256739"/>
            <a:ext cx="292608" cy="103327"/>
          </a:xfrm>
          <a:prstGeom prst="line">
            <a:avLst/>
          </a:prstGeom>
          <a:noFill/>
          <a:ln w="22225">
            <a:solidFill>
              <a:srgbClr val="4A556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 flipH="1">
            <a:off x="3785616" y="2360066"/>
            <a:ext cx="292608" cy="103327"/>
          </a:xfrm>
          <a:prstGeom prst="line">
            <a:avLst/>
          </a:prstGeom>
          <a:noFill/>
          <a:ln w="22225">
            <a:solidFill>
              <a:srgbClr val="4A556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785616" y="2463394"/>
            <a:ext cx="292608" cy="103327"/>
          </a:xfrm>
          <a:prstGeom prst="line">
            <a:avLst/>
          </a:prstGeom>
          <a:noFill/>
          <a:ln w="22225">
            <a:solidFill>
              <a:srgbClr val="4A556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 flipH="1">
            <a:off x="3785616" y="2566721"/>
            <a:ext cx="292608" cy="103327"/>
          </a:xfrm>
          <a:prstGeom prst="line">
            <a:avLst/>
          </a:prstGeom>
          <a:noFill/>
          <a:ln w="22225">
            <a:solidFill>
              <a:srgbClr val="4A556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785616" y="2670048"/>
            <a:ext cx="292608" cy="103327"/>
          </a:xfrm>
          <a:prstGeom prst="line">
            <a:avLst/>
          </a:prstGeom>
          <a:noFill/>
          <a:ln w="22225">
            <a:solidFill>
              <a:srgbClr val="4A556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 flipH="1">
            <a:off x="3785616" y="2773375"/>
            <a:ext cx="292608" cy="103327"/>
          </a:xfrm>
          <a:prstGeom prst="line">
            <a:avLst/>
          </a:prstGeom>
          <a:noFill/>
          <a:ln w="22225">
            <a:solidFill>
              <a:srgbClr val="4A556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785616" y="2876702"/>
            <a:ext cx="292608" cy="103327"/>
          </a:xfrm>
          <a:prstGeom prst="line">
            <a:avLst/>
          </a:prstGeom>
          <a:noFill/>
          <a:ln w="22225">
            <a:solidFill>
              <a:srgbClr val="4A556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 flipH="1">
            <a:off x="3785616" y="2980030"/>
            <a:ext cx="292608" cy="103327"/>
          </a:xfrm>
          <a:prstGeom prst="line">
            <a:avLst/>
          </a:prstGeom>
          <a:noFill/>
          <a:ln w="22225">
            <a:solidFill>
              <a:srgbClr val="4A556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785616" y="3083357"/>
            <a:ext cx="292608" cy="103327"/>
          </a:xfrm>
          <a:prstGeom prst="line">
            <a:avLst/>
          </a:prstGeom>
          <a:noFill/>
          <a:ln w="22225">
            <a:solidFill>
              <a:srgbClr val="4A5568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 flipH="1">
            <a:off x="3785616" y="3186684"/>
            <a:ext cx="292608" cy="103327"/>
          </a:xfrm>
          <a:prstGeom prst="line">
            <a:avLst/>
          </a:prstGeom>
          <a:noFill/>
          <a:ln w="22225">
            <a:solidFill>
              <a:srgbClr val="4A556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85616" y="3290011"/>
            <a:ext cx="292608" cy="103327"/>
          </a:xfrm>
          <a:prstGeom prst="line">
            <a:avLst/>
          </a:prstGeom>
          <a:noFill/>
          <a:ln w="22225">
            <a:solidFill>
              <a:srgbClr val="4A556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 flipH="1">
            <a:off x="3785616" y="3393338"/>
            <a:ext cx="292608" cy="103327"/>
          </a:xfrm>
          <a:prstGeom prst="line">
            <a:avLst/>
          </a:prstGeom>
          <a:noFill/>
          <a:ln w="22225">
            <a:solidFill>
              <a:srgbClr val="4A556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785616" y="3496666"/>
            <a:ext cx="292608" cy="103327"/>
          </a:xfrm>
          <a:prstGeom prst="line">
            <a:avLst/>
          </a:prstGeom>
          <a:noFill/>
          <a:ln w="22225">
            <a:solidFill>
              <a:srgbClr val="4A5568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 flipH="1">
            <a:off x="3931920" y="3599993"/>
            <a:ext cx="146304" cy="103327"/>
          </a:xfrm>
          <a:prstGeom prst="line">
            <a:avLst/>
          </a:prstGeom>
          <a:noFill/>
          <a:ln w="22225">
            <a:solidFill>
              <a:srgbClr val="4A5568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931920" y="3703320"/>
            <a:ext cx="91" cy="109728"/>
          </a:xfrm>
          <a:prstGeom prst="line">
            <a:avLst/>
          </a:prstGeom>
          <a:noFill/>
          <a:ln w="22225">
            <a:solidFill>
              <a:srgbClr val="4A5568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931920" y="3813048"/>
            <a:ext cx="91" cy="182880"/>
          </a:xfrm>
          <a:prstGeom prst="line">
            <a:avLst/>
          </a:prstGeom>
          <a:noFill/>
          <a:ln w="25400">
            <a:solidFill>
              <a:srgbClr val="5A6275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3703320" y="3995928"/>
            <a:ext cx="457200" cy="109728"/>
          </a:xfrm>
          <a:prstGeom prst="rect">
            <a:avLst/>
          </a:prstGeom>
          <a:solidFill>
            <a:srgbClr val="969FB1"/>
          </a:solidFill>
          <a:ln w="6350">
            <a:solidFill>
              <a:srgbClr val="4A526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3703320" y="4105656"/>
            <a:ext cx="457200" cy="109728"/>
          </a:xfrm>
          <a:prstGeom prst="rect">
            <a:avLst/>
          </a:prstGeom>
          <a:solidFill>
            <a:srgbClr val="7C8598"/>
          </a:solidFill>
          <a:ln w="6350">
            <a:solidFill>
              <a:srgbClr val="4A526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703320" y="4215384"/>
            <a:ext cx="457200" cy="109728"/>
          </a:xfrm>
          <a:prstGeom prst="rect">
            <a:avLst/>
          </a:prstGeom>
          <a:solidFill>
            <a:srgbClr val="969FB1"/>
          </a:solidFill>
          <a:ln w="6350">
            <a:solidFill>
              <a:srgbClr val="4A526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657600" y="4325112"/>
            <a:ext cx="548640" cy="64008"/>
          </a:xfrm>
          <a:prstGeom prst="rect">
            <a:avLst/>
          </a:prstGeom>
          <a:solidFill>
            <a:srgbClr val="4A5262"/>
          </a:solidFill>
          <a:ln w="12700">
            <a:solidFill>
              <a:srgbClr val="4A526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914400" y="2807208"/>
            <a:ext cx="4480560" cy="91"/>
          </a:xfrm>
          <a:prstGeom prst="line">
            <a:avLst/>
          </a:prstGeom>
          <a:noFill/>
          <a:ln w="12700">
            <a:solidFill>
              <a:srgbClr val="2E5BD8"/>
            </a:solidFill>
            <a:prstDash val="dash"/>
          </a:ln>
        </p:spPr>
      </p:sp>
      <p:sp>
        <p:nvSpPr>
          <p:cNvPr id="61" name="Shape 59"/>
          <p:cNvSpPr/>
          <p:nvPr/>
        </p:nvSpPr>
        <p:spPr>
          <a:xfrm>
            <a:off x="3291840" y="3813048"/>
            <a:ext cx="2103120" cy="91"/>
          </a:xfrm>
          <a:prstGeom prst="line">
            <a:avLst/>
          </a:prstGeom>
          <a:noFill/>
          <a:ln w="12700">
            <a:solidFill>
              <a:srgbClr val="2E5BD8"/>
            </a:solidFill>
            <a:prstDash val="dash"/>
          </a:ln>
        </p:spPr>
      </p:sp>
      <p:sp>
        <p:nvSpPr>
          <p:cNvPr id="62" name="Shape 60"/>
          <p:cNvSpPr/>
          <p:nvPr/>
        </p:nvSpPr>
        <p:spPr>
          <a:xfrm>
            <a:off x="1188720" y="1545336"/>
            <a:ext cx="91" cy="1261872"/>
          </a:xfrm>
          <a:prstGeom prst="line">
            <a:avLst/>
          </a:prstGeom>
          <a:noFill/>
          <a:ln w="19050">
            <a:solidFill>
              <a:srgbClr val="2E5BD8"/>
            </a:solidFill>
            <a:prstDash val="solid"/>
            <a:headEnd type="triangle"/>
            <a:tailEnd type="triangle"/>
          </a:ln>
        </p:spPr>
      </p:sp>
      <p:sp>
        <p:nvSpPr>
          <p:cNvPr id="63" name="Text 61"/>
          <p:cNvSpPr/>
          <p:nvPr/>
        </p:nvSpPr>
        <p:spPr>
          <a:xfrm>
            <a:off x="502920" y="1892808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E5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</a:t>
            </a:r>
            <a:endParaRPr lang="en-US" sz="1050" dirty="0"/>
          </a:p>
          <a:p>
            <a:pPr algn="r" indent="0" marL="0">
              <a:buNone/>
            </a:pPr>
            <a:r>
              <a:rPr lang="en-US" sz="1050" b="1" dirty="0">
                <a:solidFill>
                  <a:srgbClr val="2E5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</a:t>
            </a:r>
            <a:endParaRPr lang="en-US" sz="1050" dirty="0"/>
          </a:p>
        </p:txBody>
      </p:sp>
      <p:sp>
        <p:nvSpPr>
          <p:cNvPr id="64" name="Shape 62"/>
          <p:cNvSpPr/>
          <p:nvPr/>
        </p:nvSpPr>
        <p:spPr>
          <a:xfrm>
            <a:off x="5074920" y="2807208"/>
            <a:ext cx="91" cy="1005840"/>
          </a:xfrm>
          <a:prstGeom prst="line">
            <a:avLst/>
          </a:prstGeom>
          <a:noFill/>
          <a:ln w="22225">
            <a:solidFill>
              <a:srgbClr val="C8414C"/>
            </a:solidFill>
            <a:prstDash val="solid"/>
            <a:headEnd type="triangle"/>
            <a:tailEnd type="triangle"/>
          </a:ln>
        </p:spPr>
      </p:sp>
      <p:sp>
        <p:nvSpPr>
          <p:cNvPr id="65" name="Text 63"/>
          <p:cNvSpPr/>
          <p:nvPr/>
        </p:nvSpPr>
        <p:spPr>
          <a:xfrm>
            <a:off x="5138928" y="317296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8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400" dirty="0"/>
          </a:p>
        </p:txBody>
      </p:sp>
      <p:sp>
        <p:nvSpPr>
          <p:cNvPr id="66" name="Text 64"/>
          <p:cNvSpPr/>
          <p:nvPr/>
        </p:nvSpPr>
        <p:spPr>
          <a:xfrm>
            <a:off x="4526280" y="385876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C8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</a:t>
            </a:r>
            <a:endParaRPr lang="en-US" sz="1050" dirty="0"/>
          </a:p>
        </p:txBody>
      </p:sp>
      <p:sp>
        <p:nvSpPr>
          <p:cNvPr id="67" name="Shape 65"/>
          <p:cNvSpPr/>
          <p:nvPr/>
        </p:nvSpPr>
        <p:spPr>
          <a:xfrm>
            <a:off x="3931920" y="4434840"/>
            <a:ext cx="91" cy="594360"/>
          </a:xfrm>
          <a:prstGeom prst="line">
            <a:avLst/>
          </a:prstGeom>
          <a:noFill/>
          <a:ln w="38100">
            <a:solidFill>
              <a:srgbClr val="C8414C"/>
            </a:solidFill>
            <a:prstDash val="solid"/>
            <a:tailEnd type="triangle"/>
          </a:ln>
        </p:spPr>
      </p:sp>
      <p:sp>
        <p:nvSpPr>
          <p:cNvPr id="68" name="Text 66"/>
          <p:cNvSpPr/>
          <p:nvPr/>
        </p:nvSpPr>
        <p:spPr>
          <a:xfrm>
            <a:off x="3108960" y="505663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(weight of load)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1097280" y="411480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load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6217920" y="1188720"/>
            <a:ext cx="5562295" cy="2423160"/>
          </a:xfrm>
          <a:prstGeom prst="roundRect">
            <a:avLst>
              <a:gd name="adj" fmla="val 2264"/>
            </a:avLst>
          </a:prstGeom>
          <a:solidFill>
            <a:srgbClr val="F5F8FE"/>
          </a:solidFill>
          <a:ln w="9525">
            <a:solidFill>
              <a:srgbClr val="D5DCEB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382512" y="1280160"/>
            <a:ext cx="523311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spring equation</a:t>
            </a:r>
            <a:endParaRPr lang="en-US" sz="1300" dirty="0"/>
          </a:p>
        </p:txBody>
      </p:sp>
      <p:sp>
        <p:nvSpPr>
          <p:cNvPr id="72" name="Text 70"/>
          <p:cNvSpPr/>
          <p:nvPr/>
        </p:nvSpPr>
        <p:spPr>
          <a:xfrm>
            <a:off x="6382512" y="1609344"/>
            <a:ext cx="5233111" cy="1929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2E5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= k × x</a:t>
            </a:r>
            <a:r>
              <a:rPr lang="en-US" sz="115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force exerted on a spring (N) = spring constant (N/m) × extension (m)</a:t>
            </a: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C8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RECALL: you must learn this equation (it is not on the equation sheet).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150" b="1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 x</a:t>
            </a:r>
            <a:r>
              <a:rPr lang="en-US" sz="115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new length − original length. Convert cm to m: ÷ 100.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150" b="1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constant k</a:t>
            </a:r>
            <a:r>
              <a:rPr lang="en-US" sz="115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tells you how stiff the spring is: a bigger k needs a bigger force for each metre of extension.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15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true while F and x are </a:t>
            </a:r>
            <a:r>
              <a:rPr lang="en-US" sz="1150" b="1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proportional</a:t>
            </a:r>
            <a:r>
              <a:rPr lang="en-US" sz="115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(the linear region).</a:t>
            </a:r>
            <a:endParaRPr lang="en-US" sz="1150" dirty="0"/>
          </a:p>
        </p:txBody>
      </p:sp>
      <p:sp>
        <p:nvSpPr>
          <p:cNvPr id="73" name="Shape 71"/>
          <p:cNvSpPr/>
          <p:nvPr/>
        </p:nvSpPr>
        <p:spPr>
          <a:xfrm>
            <a:off x="6217920" y="3749040"/>
            <a:ext cx="5562295" cy="1965960"/>
          </a:xfrm>
          <a:prstGeom prst="roundRect">
            <a:avLst>
              <a:gd name="adj" fmla="val 2791"/>
            </a:avLst>
          </a:prstGeom>
          <a:solidFill>
            <a:srgbClr val="FFF4E0"/>
          </a:solidFill>
          <a:ln w="9525">
            <a:solidFill>
              <a:srgbClr val="F1D9A8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382512" y="3822192"/>
            <a:ext cx="523311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7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300" dirty="0"/>
          </a:p>
        </p:txBody>
      </p:sp>
      <p:sp>
        <p:nvSpPr>
          <p:cNvPr id="75" name="Text 73"/>
          <p:cNvSpPr/>
          <p:nvPr/>
        </p:nvSpPr>
        <p:spPr>
          <a:xfrm>
            <a:off x="6382512" y="4133088"/>
            <a:ext cx="5233111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4.0 N force stretches a spring by 16 cm. Calculate the spring constant.</a:t>
            </a:r>
            <a:endParaRPr lang="en-US" sz="1100" dirty="0"/>
          </a:p>
          <a:p>
            <a:pPr indent="0" marL="0">
              <a:spcBef>
                <a:spcPts val="200"/>
              </a:spcBef>
              <a:buNone/>
            </a:pPr>
            <a:r>
              <a:rPr lang="en-US" sz="1100" b="1" dirty="0">
                <a:solidFill>
                  <a:srgbClr val="2E5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Equation   </a:t>
            </a:r>
            <a:r>
              <a:rPr lang="en-US" sz="110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= k × x</a:t>
            </a:r>
            <a:endParaRPr lang="en-US" sz="1100" dirty="0"/>
          </a:p>
          <a:p>
            <a:pPr indent="0" marL="0">
              <a:spcBef>
                <a:spcPts val="200"/>
              </a:spcBef>
              <a:buNone/>
            </a:pPr>
            <a:r>
              <a:rPr lang="en-US" sz="1100" b="1" dirty="0">
                <a:solidFill>
                  <a:srgbClr val="2E5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Rearrange   </a:t>
            </a:r>
            <a:r>
              <a:rPr lang="en-US" sz="110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F ÷ x</a:t>
            </a:r>
            <a:endParaRPr lang="en-US" sz="1100" dirty="0"/>
          </a:p>
          <a:p>
            <a:pPr indent="0" marL="0">
              <a:spcBef>
                <a:spcPts val="200"/>
              </a:spcBef>
              <a:buNone/>
            </a:pPr>
            <a:r>
              <a:rPr lang="en-US" sz="1100" b="1" dirty="0">
                <a:solidFill>
                  <a:srgbClr val="2E5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Substitute   </a:t>
            </a:r>
            <a:r>
              <a:rPr lang="en-US" sz="110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4.0 N ÷ 0.16 m</a:t>
            </a:r>
            <a:endParaRPr lang="en-US" sz="1100" dirty="0"/>
          </a:p>
          <a:p>
            <a:pPr indent="0" marL="0">
              <a:spcBef>
                <a:spcPts val="200"/>
              </a:spcBef>
              <a:buNone/>
            </a:pPr>
            <a:r>
              <a:rPr lang="en-US" sz="1100" b="1" dirty="0">
                <a:solidFill>
                  <a:srgbClr val="2E5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Answer   </a:t>
            </a:r>
            <a:r>
              <a:rPr lang="en-US" sz="1100" b="1" dirty="0">
                <a:solidFill>
                  <a:srgbClr val="C8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25 N/m</a:t>
            </a:r>
            <a:endParaRPr lang="en-US" sz="1100" dirty="0"/>
          </a:p>
        </p:txBody>
      </p:sp>
      <p:sp>
        <p:nvSpPr>
          <p:cNvPr id="76" name="Shape 74"/>
          <p:cNvSpPr/>
          <p:nvPr/>
        </p:nvSpPr>
        <p:spPr>
          <a:xfrm>
            <a:off x="411480" y="5833872"/>
            <a:ext cx="11368735" cy="530352"/>
          </a:xfrm>
          <a:prstGeom prst="rect">
            <a:avLst/>
          </a:prstGeom>
          <a:solidFill>
            <a:srgbClr val="FFF4E0"/>
          </a:solidFill>
          <a:ln w="6350">
            <a:solidFill>
              <a:srgbClr val="F1D9A8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411480" y="5833872"/>
            <a:ext cx="82296" cy="530352"/>
          </a:xfrm>
          <a:prstGeom prst="rect">
            <a:avLst/>
          </a:prstGeom>
          <a:solidFill>
            <a:srgbClr val="E39A2F"/>
          </a:solidFill>
          <a:ln w="12700">
            <a:solidFill>
              <a:srgbClr val="E39A2F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640080" y="5833872"/>
            <a:ext cx="1100297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7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   </a:t>
            </a:r>
            <a:r>
              <a:rPr lang="en-US" sz="115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spring has k = 25 N/m. What force is needed to stretch it by 12 cm?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EEF2FA"/>
          </a:solidFill>
          <a:ln w="12700">
            <a:solidFill>
              <a:srgbClr val="EEF2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87552"/>
            <a:ext cx="12191695" cy="27432"/>
          </a:xfrm>
          <a:prstGeom prst="rect">
            <a:avLst/>
          </a:prstGeom>
          <a:solidFill>
            <a:srgbClr val="D3DCF0"/>
          </a:solidFill>
          <a:ln w="12700">
            <a:solidFill>
              <a:srgbClr val="D3DC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18872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Exam practice: recap 1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11480" y="6400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E5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Specification 15.1–15.3 • forces, distortion and F = k × x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6473952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Edexcel GCSE (9–1) Physics (1PH0) | Topic 15 Forces and matter | Higher &amp; Foundation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784080" y="647395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1  |  8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1480" y="1207008"/>
            <a:ext cx="11368735" cy="1594104"/>
          </a:xfrm>
          <a:prstGeom prst="roundRect">
            <a:avLst>
              <a:gd name="adj" fmla="val 2868"/>
            </a:avLst>
          </a:prstGeom>
          <a:solidFill>
            <a:srgbClr val="FFFFFF"/>
          </a:solidFill>
          <a:ln w="12700">
            <a:solidFill>
              <a:srgbClr val="D5DC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1207008"/>
            <a:ext cx="2103120" cy="292608"/>
          </a:xfrm>
          <a:prstGeom prst="rect">
            <a:avLst/>
          </a:prstGeom>
          <a:solidFill>
            <a:srgbClr val="F5A742"/>
          </a:solidFill>
          <a:ln w="12700">
            <a:solidFill>
              <a:srgbClr val="F5A7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20700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EXAM-STYLE QUESTION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40080" y="1572768"/>
            <a:ext cx="9539935" cy="1155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why </a:t>
            </a:r>
            <a:r>
              <a:rPr lang="en-US" sz="1250" b="1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</a:t>
            </a:r>
            <a:r>
              <a:rPr lang="en-US" sz="125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forces are needed to stretch an elastic band.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0317175" y="2417064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5A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 marks]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11480" y="2947416"/>
            <a:ext cx="11368735" cy="1594104"/>
          </a:xfrm>
          <a:prstGeom prst="roundRect">
            <a:avLst>
              <a:gd name="adj" fmla="val 2868"/>
            </a:avLst>
          </a:prstGeom>
          <a:solidFill>
            <a:srgbClr val="FFFFFF"/>
          </a:solidFill>
          <a:ln w="12700">
            <a:solidFill>
              <a:srgbClr val="D5DC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" y="2947416"/>
            <a:ext cx="2103120" cy="292608"/>
          </a:xfrm>
          <a:prstGeom prst="rect">
            <a:avLst/>
          </a:prstGeom>
          <a:solidFill>
            <a:srgbClr val="F5A742"/>
          </a:solidFill>
          <a:ln w="12700">
            <a:solidFill>
              <a:srgbClr val="F5A74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947416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EXAM-STYLE QUESTION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40080" y="3313176"/>
            <a:ext cx="9539935" cy="1155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difference between </a:t>
            </a:r>
            <a:r>
              <a:rPr lang="en-US" sz="1250" b="1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</a:t>
            </a:r>
            <a:r>
              <a:rPr lang="en-US" sz="125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r>
              <a:rPr lang="en-US" sz="1250" b="1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inelastic</a:t>
            </a:r>
            <a:r>
              <a:rPr lang="en-US" sz="125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distortion. Give </a:t>
            </a:r>
            <a:r>
              <a:rPr lang="en-US" sz="1250" b="1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</a:t>
            </a:r>
            <a:r>
              <a:rPr lang="en-US" sz="125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example of each.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0317175" y="4157472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5A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 marks]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11480" y="4687824"/>
            <a:ext cx="11368735" cy="1594104"/>
          </a:xfrm>
          <a:prstGeom prst="roundRect">
            <a:avLst>
              <a:gd name="adj" fmla="val 2868"/>
            </a:avLst>
          </a:prstGeom>
          <a:solidFill>
            <a:srgbClr val="FFFFFF"/>
          </a:solidFill>
          <a:ln w="12700">
            <a:solidFill>
              <a:srgbClr val="D5DC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1480" y="4687824"/>
            <a:ext cx="2103120" cy="292608"/>
          </a:xfrm>
          <a:prstGeom prst="rect">
            <a:avLst/>
          </a:prstGeom>
          <a:solidFill>
            <a:srgbClr val="F5A742"/>
          </a:solidFill>
          <a:ln w="12700">
            <a:solidFill>
              <a:srgbClr val="F5A74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4687824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EXAM-STYLE QUESTION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40080" y="5053584"/>
            <a:ext cx="9539935" cy="1155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force of </a:t>
            </a:r>
            <a:r>
              <a:rPr lang="en-US" sz="1250" b="1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6.0 N</a:t>
            </a:r>
            <a:r>
              <a:rPr lang="en-US" sz="125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stretches a spring by </a:t>
            </a:r>
            <a:r>
              <a:rPr lang="en-US" sz="1250" b="1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cm</a:t>
            </a:r>
            <a:r>
              <a:rPr lang="en-US" sz="125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Calculate the spring constant of the spring. Give the unit.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0317175" y="589788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5A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 marks]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EEF2FA"/>
          </a:solidFill>
          <a:ln w="12700">
            <a:solidFill>
              <a:srgbClr val="EEF2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87552"/>
            <a:ext cx="12191695" cy="27432"/>
          </a:xfrm>
          <a:prstGeom prst="rect">
            <a:avLst/>
          </a:prstGeom>
          <a:solidFill>
            <a:srgbClr val="D3DCF0"/>
          </a:solidFill>
          <a:ln w="12700">
            <a:solidFill>
              <a:srgbClr val="D3DC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18872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Linear and non-linear force–extension graphs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11480" y="6400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E5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Specification 15.5, 15.3 • the limit of proportionality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6473952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Edexcel GCSE (9–1) Physics (1PH0) | Topic 15 Forces and matter | Higher &amp; Foundation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784080" y="647395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15.5  |  9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1480" y="1188720"/>
            <a:ext cx="5577840" cy="4526280"/>
          </a:xfrm>
          <a:prstGeom prst="roundRect">
            <a:avLst>
              <a:gd name="adj" fmla="val 1616"/>
            </a:avLst>
          </a:prstGeom>
          <a:solidFill>
            <a:srgbClr val="EEF1F8"/>
          </a:solidFill>
          <a:ln w="9525">
            <a:solidFill>
              <a:srgbClr val="DCE2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5404104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diagram — drawn to scale for a spring with k = 40 N/m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325880" y="1417320"/>
            <a:ext cx="4389120" cy="3291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1325880" y="1417320"/>
            <a:ext cx="91" cy="3291840"/>
          </a:xfrm>
          <a:prstGeom prst="line">
            <a:avLst/>
          </a:prstGeom>
          <a:noFill/>
          <a:ln w="6350">
            <a:solidFill>
              <a:srgbClr val="C9D3E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72184" y="1417320"/>
            <a:ext cx="91" cy="3291840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618488" y="1417320"/>
            <a:ext cx="91" cy="3291840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764792" y="1417320"/>
            <a:ext cx="91" cy="3291840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11096" y="1417320"/>
            <a:ext cx="91" cy="3291840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057400" y="1417320"/>
            <a:ext cx="91" cy="3291840"/>
          </a:xfrm>
          <a:prstGeom prst="line">
            <a:avLst/>
          </a:prstGeom>
          <a:noFill/>
          <a:ln w="6350">
            <a:solidFill>
              <a:srgbClr val="C9D3E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03704" y="1417320"/>
            <a:ext cx="91" cy="3291840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350008" y="1417320"/>
            <a:ext cx="91" cy="3291840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496312" y="1417320"/>
            <a:ext cx="91" cy="3291840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642616" y="1417320"/>
            <a:ext cx="91" cy="3291840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88920" y="1417320"/>
            <a:ext cx="91" cy="3291840"/>
          </a:xfrm>
          <a:prstGeom prst="line">
            <a:avLst/>
          </a:prstGeom>
          <a:noFill/>
          <a:ln w="6350">
            <a:solidFill>
              <a:srgbClr val="C9D3E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935224" y="1417320"/>
            <a:ext cx="91" cy="3291840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081528" y="1417320"/>
            <a:ext cx="91" cy="3291840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27832" y="1417320"/>
            <a:ext cx="91" cy="3291840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374136" y="1417320"/>
            <a:ext cx="91" cy="3291840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520440" y="1417320"/>
            <a:ext cx="91" cy="3291840"/>
          </a:xfrm>
          <a:prstGeom prst="line">
            <a:avLst/>
          </a:prstGeom>
          <a:noFill/>
          <a:ln w="6350">
            <a:solidFill>
              <a:srgbClr val="C9D3E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66744" y="1417320"/>
            <a:ext cx="91" cy="3291840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813048" y="1417320"/>
            <a:ext cx="91" cy="3291840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959352" y="1417320"/>
            <a:ext cx="91" cy="3291840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105656" y="1417320"/>
            <a:ext cx="91" cy="3291840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251960" y="1417320"/>
            <a:ext cx="91" cy="3291840"/>
          </a:xfrm>
          <a:prstGeom prst="line">
            <a:avLst/>
          </a:prstGeom>
          <a:noFill/>
          <a:ln w="6350">
            <a:solidFill>
              <a:srgbClr val="C9D3E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398264" y="1417320"/>
            <a:ext cx="91" cy="3291840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44568" y="1417320"/>
            <a:ext cx="91" cy="3291840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690872" y="1417320"/>
            <a:ext cx="91" cy="3291840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837176" y="1417320"/>
            <a:ext cx="91" cy="3291840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983480" y="1417320"/>
            <a:ext cx="91" cy="3291840"/>
          </a:xfrm>
          <a:prstGeom prst="line">
            <a:avLst/>
          </a:prstGeom>
          <a:noFill/>
          <a:ln w="6350">
            <a:solidFill>
              <a:srgbClr val="C9D3E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129784" y="1417320"/>
            <a:ext cx="91" cy="3291840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276088" y="1417320"/>
            <a:ext cx="91" cy="3291840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422392" y="1417320"/>
            <a:ext cx="91" cy="3291840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568696" y="1417320"/>
            <a:ext cx="91" cy="3291840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715000" y="1417320"/>
            <a:ext cx="91" cy="3291840"/>
          </a:xfrm>
          <a:prstGeom prst="line">
            <a:avLst/>
          </a:prstGeom>
          <a:noFill/>
          <a:ln w="6350">
            <a:solidFill>
              <a:srgbClr val="C9D3E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325880" y="4709160"/>
            <a:ext cx="4389120" cy="91"/>
          </a:xfrm>
          <a:prstGeom prst="line">
            <a:avLst/>
          </a:prstGeom>
          <a:noFill/>
          <a:ln w="6350">
            <a:solidFill>
              <a:srgbClr val="C9D3E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325880" y="4636008"/>
            <a:ext cx="4389120" cy="91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325880" y="4562856"/>
            <a:ext cx="4389120" cy="91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325880" y="4489704"/>
            <a:ext cx="4389120" cy="91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325880" y="4416552"/>
            <a:ext cx="4389120" cy="91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325880" y="4343400"/>
            <a:ext cx="4389120" cy="91"/>
          </a:xfrm>
          <a:prstGeom prst="line">
            <a:avLst/>
          </a:prstGeom>
          <a:noFill/>
          <a:ln w="6350">
            <a:solidFill>
              <a:srgbClr val="C9D3E6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325880" y="4270248"/>
            <a:ext cx="4389120" cy="91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325880" y="4197096"/>
            <a:ext cx="4389120" cy="91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325880" y="4123944"/>
            <a:ext cx="4389120" cy="91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325880" y="4050792"/>
            <a:ext cx="4389120" cy="91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325880" y="3977640"/>
            <a:ext cx="4389120" cy="91"/>
          </a:xfrm>
          <a:prstGeom prst="line">
            <a:avLst/>
          </a:prstGeom>
          <a:noFill/>
          <a:ln w="6350">
            <a:solidFill>
              <a:srgbClr val="C9D3E6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325880" y="3904488"/>
            <a:ext cx="4389120" cy="91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325880" y="3831336"/>
            <a:ext cx="4389120" cy="91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325880" y="3758184"/>
            <a:ext cx="4389120" cy="91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325880" y="3685032"/>
            <a:ext cx="4389120" cy="91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325880" y="3611880"/>
            <a:ext cx="4389120" cy="91"/>
          </a:xfrm>
          <a:prstGeom prst="line">
            <a:avLst/>
          </a:prstGeom>
          <a:noFill/>
          <a:ln w="6350">
            <a:solidFill>
              <a:srgbClr val="C9D3E6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325880" y="3538728"/>
            <a:ext cx="4389120" cy="91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325880" y="3465576"/>
            <a:ext cx="4389120" cy="91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325880" y="3392424"/>
            <a:ext cx="4389120" cy="91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325880" y="3319272"/>
            <a:ext cx="4389120" cy="91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325880" y="3246120"/>
            <a:ext cx="4389120" cy="91"/>
          </a:xfrm>
          <a:prstGeom prst="line">
            <a:avLst/>
          </a:prstGeom>
          <a:noFill/>
          <a:ln w="6350">
            <a:solidFill>
              <a:srgbClr val="C9D3E6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325880" y="3172968"/>
            <a:ext cx="4389120" cy="91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325880" y="3099816"/>
            <a:ext cx="4389120" cy="91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325880" y="3026664"/>
            <a:ext cx="4389120" cy="91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325880" y="2953512"/>
            <a:ext cx="4389120" cy="91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325880" y="2880360"/>
            <a:ext cx="4389120" cy="91"/>
          </a:xfrm>
          <a:prstGeom prst="line">
            <a:avLst/>
          </a:prstGeom>
          <a:noFill/>
          <a:ln w="6350">
            <a:solidFill>
              <a:srgbClr val="C9D3E6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325880" y="2807208"/>
            <a:ext cx="4389120" cy="91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325880" y="2734056"/>
            <a:ext cx="4389120" cy="91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1325880" y="2660904"/>
            <a:ext cx="4389120" cy="91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325880" y="2587752"/>
            <a:ext cx="4389120" cy="91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1325880" y="2514600"/>
            <a:ext cx="4389120" cy="91"/>
          </a:xfrm>
          <a:prstGeom prst="line">
            <a:avLst/>
          </a:prstGeom>
          <a:noFill/>
          <a:ln w="6350">
            <a:solidFill>
              <a:srgbClr val="C9D3E6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1325880" y="2441448"/>
            <a:ext cx="4389120" cy="91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325880" y="2368296"/>
            <a:ext cx="4389120" cy="91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325880" y="2295144"/>
            <a:ext cx="4389120" cy="91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1325880" y="2221992"/>
            <a:ext cx="4389120" cy="91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1325880" y="2148840"/>
            <a:ext cx="4389120" cy="91"/>
          </a:xfrm>
          <a:prstGeom prst="line">
            <a:avLst/>
          </a:prstGeom>
          <a:noFill/>
          <a:ln w="6350">
            <a:solidFill>
              <a:srgbClr val="C9D3E6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1325880" y="2075688"/>
            <a:ext cx="4389120" cy="91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1325880" y="2002536"/>
            <a:ext cx="4389120" cy="91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1325880" y="1929384"/>
            <a:ext cx="4389120" cy="91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1325880" y="1856232"/>
            <a:ext cx="4389120" cy="91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1325880" y="1783080"/>
            <a:ext cx="4389120" cy="91"/>
          </a:xfrm>
          <a:prstGeom prst="line">
            <a:avLst/>
          </a:prstGeom>
          <a:noFill/>
          <a:ln w="6350">
            <a:solidFill>
              <a:srgbClr val="C9D3E6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1325880" y="1709928"/>
            <a:ext cx="4389120" cy="91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1325880" y="1636776"/>
            <a:ext cx="4389120" cy="91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1325880" y="1563624"/>
            <a:ext cx="4389120" cy="91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1325880" y="1490472"/>
            <a:ext cx="4389120" cy="91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1325880" y="1417320"/>
            <a:ext cx="4389120" cy="91"/>
          </a:xfrm>
          <a:prstGeom prst="line">
            <a:avLst/>
          </a:prstGeom>
          <a:noFill/>
          <a:ln w="6350">
            <a:solidFill>
              <a:srgbClr val="C9D3E6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1325880" y="4709160"/>
            <a:ext cx="4389120" cy="91"/>
          </a:xfrm>
          <a:prstGeom prst="line">
            <a:avLst/>
          </a:prstGeom>
          <a:noFill/>
          <a:ln w="19050">
            <a:solidFill>
              <a:srgbClr val="1A2340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 flipV="1">
            <a:off x="1325880" y="1417320"/>
            <a:ext cx="91" cy="3291840"/>
          </a:xfrm>
          <a:prstGeom prst="line">
            <a:avLst/>
          </a:prstGeom>
          <a:noFill/>
          <a:ln w="19050">
            <a:solidFill>
              <a:srgbClr val="1A2340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1325880" y="4709160"/>
            <a:ext cx="91" cy="54864"/>
          </a:xfrm>
          <a:prstGeom prst="line">
            <a:avLst/>
          </a:prstGeom>
          <a:noFill/>
          <a:ln w="12700">
            <a:solidFill>
              <a:srgbClr val="1A234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1051560" y="476402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</a:t>
            </a:r>
            <a:endParaRPr lang="en-US" sz="1000" dirty="0"/>
          </a:p>
        </p:txBody>
      </p:sp>
      <p:sp>
        <p:nvSpPr>
          <p:cNvPr id="92" name="Shape 90"/>
          <p:cNvSpPr/>
          <p:nvPr/>
        </p:nvSpPr>
        <p:spPr>
          <a:xfrm>
            <a:off x="2057400" y="4709160"/>
            <a:ext cx="91" cy="54864"/>
          </a:xfrm>
          <a:prstGeom prst="line">
            <a:avLst/>
          </a:prstGeom>
          <a:noFill/>
          <a:ln w="12700">
            <a:solidFill>
              <a:srgbClr val="1A2340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1783080" y="476402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0.05</a:t>
            </a:r>
            <a:endParaRPr lang="en-US" sz="1000" dirty="0"/>
          </a:p>
        </p:txBody>
      </p:sp>
      <p:sp>
        <p:nvSpPr>
          <p:cNvPr id="94" name="Shape 92"/>
          <p:cNvSpPr/>
          <p:nvPr/>
        </p:nvSpPr>
        <p:spPr>
          <a:xfrm>
            <a:off x="2788920" y="4709160"/>
            <a:ext cx="91" cy="54864"/>
          </a:xfrm>
          <a:prstGeom prst="line">
            <a:avLst/>
          </a:prstGeom>
          <a:noFill/>
          <a:ln w="12700">
            <a:solidFill>
              <a:srgbClr val="1A2340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2514600" y="476402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0.10</a:t>
            </a:r>
            <a:endParaRPr lang="en-US" sz="1000" dirty="0"/>
          </a:p>
        </p:txBody>
      </p:sp>
      <p:sp>
        <p:nvSpPr>
          <p:cNvPr id="96" name="Shape 94"/>
          <p:cNvSpPr/>
          <p:nvPr/>
        </p:nvSpPr>
        <p:spPr>
          <a:xfrm>
            <a:off x="3520440" y="4709160"/>
            <a:ext cx="91" cy="54864"/>
          </a:xfrm>
          <a:prstGeom prst="line">
            <a:avLst/>
          </a:prstGeom>
          <a:noFill/>
          <a:ln w="12700">
            <a:solidFill>
              <a:srgbClr val="1A2340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3246120" y="476402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0.15</a:t>
            </a:r>
            <a:endParaRPr lang="en-US" sz="1000" dirty="0"/>
          </a:p>
        </p:txBody>
      </p:sp>
      <p:sp>
        <p:nvSpPr>
          <p:cNvPr id="98" name="Shape 96"/>
          <p:cNvSpPr/>
          <p:nvPr/>
        </p:nvSpPr>
        <p:spPr>
          <a:xfrm>
            <a:off x="4251960" y="4709160"/>
            <a:ext cx="91" cy="54864"/>
          </a:xfrm>
          <a:prstGeom prst="line">
            <a:avLst/>
          </a:prstGeom>
          <a:noFill/>
          <a:ln w="12700">
            <a:solidFill>
              <a:srgbClr val="1A2340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3977640" y="476402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0.20</a:t>
            </a:r>
            <a:endParaRPr lang="en-US" sz="1000" dirty="0"/>
          </a:p>
        </p:txBody>
      </p:sp>
      <p:sp>
        <p:nvSpPr>
          <p:cNvPr id="100" name="Shape 98"/>
          <p:cNvSpPr/>
          <p:nvPr/>
        </p:nvSpPr>
        <p:spPr>
          <a:xfrm>
            <a:off x="4983480" y="4709160"/>
            <a:ext cx="91" cy="54864"/>
          </a:xfrm>
          <a:prstGeom prst="line">
            <a:avLst/>
          </a:prstGeom>
          <a:noFill/>
          <a:ln w="12700">
            <a:solidFill>
              <a:srgbClr val="1A2340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4709160" y="476402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0.25</a:t>
            </a:r>
            <a:endParaRPr lang="en-US" sz="1000" dirty="0"/>
          </a:p>
        </p:txBody>
      </p:sp>
      <p:sp>
        <p:nvSpPr>
          <p:cNvPr id="102" name="Shape 100"/>
          <p:cNvSpPr/>
          <p:nvPr/>
        </p:nvSpPr>
        <p:spPr>
          <a:xfrm>
            <a:off x="5715000" y="4709160"/>
            <a:ext cx="91" cy="54864"/>
          </a:xfrm>
          <a:prstGeom prst="line">
            <a:avLst/>
          </a:prstGeom>
          <a:noFill/>
          <a:ln w="12700">
            <a:solidFill>
              <a:srgbClr val="1A2340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5440680" y="476402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0.30</a:t>
            </a:r>
            <a:endParaRPr lang="en-US" sz="1000" dirty="0"/>
          </a:p>
        </p:txBody>
      </p:sp>
      <p:sp>
        <p:nvSpPr>
          <p:cNvPr id="104" name="Shape 102"/>
          <p:cNvSpPr/>
          <p:nvPr/>
        </p:nvSpPr>
        <p:spPr>
          <a:xfrm>
            <a:off x="1271016" y="4709160"/>
            <a:ext cx="54864" cy="91"/>
          </a:xfrm>
          <a:prstGeom prst="line">
            <a:avLst/>
          </a:prstGeom>
          <a:noFill/>
          <a:ln w="12700">
            <a:solidFill>
              <a:srgbClr val="1A2340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886968" y="46177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106" name="Shape 104"/>
          <p:cNvSpPr/>
          <p:nvPr/>
        </p:nvSpPr>
        <p:spPr>
          <a:xfrm>
            <a:off x="1271016" y="4343400"/>
            <a:ext cx="54864" cy="91"/>
          </a:xfrm>
          <a:prstGeom prst="line">
            <a:avLst/>
          </a:prstGeom>
          <a:noFill/>
          <a:ln w="12700">
            <a:solidFill>
              <a:srgbClr val="1A2340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886968" y="425196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08" name="Shape 106"/>
          <p:cNvSpPr/>
          <p:nvPr/>
        </p:nvSpPr>
        <p:spPr>
          <a:xfrm>
            <a:off x="1271016" y="3977640"/>
            <a:ext cx="54864" cy="91"/>
          </a:xfrm>
          <a:prstGeom prst="line">
            <a:avLst/>
          </a:prstGeom>
          <a:noFill/>
          <a:ln w="12700">
            <a:solidFill>
              <a:srgbClr val="1A2340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886968" y="38862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10" name="Shape 108"/>
          <p:cNvSpPr/>
          <p:nvPr/>
        </p:nvSpPr>
        <p:spPr>
          <a:xfrm>
            <a:off x="1271016" y="3611880"/>
            <a:ext cx="54864" cy="91"/>
          </a:xfrm>
          <a:prstGeom prst="line">
            <a:avLst/>
          </a:prstGeom>
          <a:noFill/>
          <a:ln w="12700">
            <a:solidFill>
              <a:srgbClr val="1A2340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886968" y="352044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12" name="Shape 110"/>
          <p:cNvSpPr/>
          <p:nvPr/>
        </p:nvSpPr>
        <p:spPr>
          <a:xfrm>
            <a:off x="1271016" y="3246120"/>
            <a:ext cx="54864" cy="91"/>
          </a:xfrm>
          <a:prstGeom prst="line">
            <a:avLst/>
          </a:prstGeom>
          <a:noFill/>
          <a:ln w="12700">
            <a:solidFill>
              <a:srgbClr val="1A2340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886968" y="315468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14" name="Shape 112"/>
          <p:cNvSpPr/>
          <p:nvPr/>
        </p:nvSpPr>
        <p:spPr>
          <a:xfrm>
            <a:off x="1271016" y="2880360"/>
            <a:ext cx="54864" cy="91"/>
          </a:xfrm>
          <a:prstGeom prst="line">
            <a:avLst/>
          </a:prstGeom>
          <a:noFill/>
          <a:ln w="12700">
            <a:solidFill>
              <a:srgbClr val="1A2340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886968" y="27889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116" name="Shape 114"/>
          <p:cNvSpPr/>
          <p:nvPr/>
        </p:nvSpPr>
        <p:spPr>
          <a:xfrm>
            <a:off x="1271016" y="2514600"/>
            <a:ext cx="54864" cy="91"/>
          </a:xfrm>
          <a:prstGeom prst="line">
            <a:avLst/>
          </a:prstGeom>
          <a:noFill/>
          <a:ln w="12700">
            <a:solidFill>
              <a:srgbClr val="1A2340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886968" y="242316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118" name="Shape 116"/>
          <p:cNvSpPr/>
          <p:nvPr/>
        </p:nvSpPr>
        <p:spPr>
          <a:xfrm>
            <a:off x="1271016" y="2148840"/>
            <a:ext cx="54864" cy="91"/>
          </a:xfrm>
          <a:prstGeom prst="line">
            <a:avLst/>
          </a:prstGeom>
          <a:noFill/>
          <a:ln w="12700">
            <a:solidFill>
              <a:srgbClr val="1A2340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886968" y="20574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120" name="Shape 118"/>
          <p:cNvSpPr/>
          <p:nvPr/>
        </p:nvSpPr>
        <p:spPr>
          <a:xfrm>
            <a:off x="1271016" y="1783080"/>
            <a:ext cx="54864" cy="91"/>
          </a:xfrm>
          <a:prstGeom prst="line">
            <a:avLst/>
          </a:prstGeom>
          <a:noFill/>
          <a:ln w="12700">
            <a:solidFill>
              <a:srgbClr val="1A2340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886968" y="169164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122" name="Shape 120"/>
          <p:cNvSpPr/>
          <p:nvPr/>
        </p:nvSpPr>
        <p:spPr>
          <a:xfrm>
            <a:off x="1271016" y="1417320"/>
            <a:ext cx="54864" cy="91"/>
          </a:xfrm>
          <a:prstGeom prst="line">
            <a:avLst/>
          </a:prstGeom>
          <a:noFill/>
          <a:ln w="12700">
            <a:solidFill>
              <a:srgbClr val="1A2340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886968" y="132588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124" name="Text 122"/>
          <p:cNvSpPr/>
          <p:nvPr/>
        </p:nvSpPr>
        <p:spPr>
          <a:xfrm>
            <a:off x="1325880" y="495604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 / m</a:t>
            </a:r>
            <a:endParaRPr lang="en-US" sz="1050" dirty="0"/>
          </a:p>
        </p:txBody>
      </p:sp>
      <p:sp>
        <p:nvSpPr>
          <p:cNvPr id="125" name="Text 123"/>
          <p:cNvSpPr/>
          <p:nvPr/>
        </p:nvSpPr>
        <p:spPr>
          <a:xfrm rot="16200000">
            <a:off x="-886968" y="293522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 / N</a:t>
            </a:r>
            <a:endParaRPr lang="en-US" sz="1050" dirty="0"/>
          </a:p>
        </p:txBody>
      </p:sp>
      <p:sp>
        <p:nvSpPr>
          <p:cNvPr id="126" name="Shape 124"/>
          <p:cNvSpPr/>
          <p:nvPr/>
        </p:nvSpPr>
        <p:spPr>
          <a:xfrm flipV="1">
            <a:off x="1325880" y="4343400"/>
            <a:ext cx="365760" cy="365760"/>
          </a:xfrm>
          <a:prstGeom prst="line">
            <a:avLst/>
          </a:prstGeom>
          <a:noFill/>
          <a:ln w="31750">
            <a:solidFill>
              <a:srgbClr val="2E5BD8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 flipV="1">
            <a:off x="1691640" y="3977640"/>
            <a:ext cx="365760" cy="365760"/>
          </a:xfrm>
          <a:prstGeom prst="line">
            <a:avLst/>
          </a:prstGeom>
          <a:noFill/>
          <a:ln w="31750">
            <a:solidFill>
              <a:srgbClr val="2E5BD8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 flipV="1">
            <a:off x="2057400" y="3611880"/>
            <a:ext cx="365760" cy="365760"/>
          </a:xfrm>
          <a:prstGeom prst="line">
            <a:avLst/>
          </a:prstGeom>
          <a:noFill/>
          <a:ln w="31750">
            <a:solidFill>
              <a:srgbClr val="2E5BD8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 flipV="1">
            <a:off x="2423160" y="3246120"/>
            <a:ext cx="365760" cy="365760"/>
          </a:xfrm>
          <a:prstGeom prst="line">
            <a:avLst/>
          </a:prstGeom>
          <a:noFill/>
          <a:ln w="31750">
            <a:solidFill>
              <a:srgbClr val="2E5BD8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 flipV="1">
            <a:off x="2788920" y="2880360"/>
            <a:ext cx="365760" cy="365760"/>
          </a:xfrm>
          <a:prstGeom prst="line">
            <a:avLst/>
          </a:prstGeom>
          <a:noFill/>
          <a:ln w="31750">
            <a:solidFill>
              <a:srgbClr val="2E5BD8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 flipV="1">
            <a:off x="3154680" y="2514600"/>
            <a:ext cx="365760" cy="365760"/>
          </a:xfrm>
          <a:prstGeom prst="line">
            <a:avLst/>
          </a:prstGeom>
          <a:noFill/>
          <a:ln w="31750">
            <a:solidFill>
              <a:srgbClr val="2E5BD8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 flipV="1">
            <a:off x="3520440" y="2444413"/>
            <a:ext cx="73152" cy="70187"/>
          </a:xfrm>
          <a:prstGeom prst="line">
            <a:avLst/>
          </a:prstGeom>
          <a:noFill/>
          <a:ln w="31750">
            <a:solidFill>
              <a:srgbClr val="C8414C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 flipV="1">
            <a:off x="3593592" y="2379838"/>
            <a:ext cx="73152" cy="64575"/>
          </a:xfrm>
          <a:prstGeom prst="line">
            <a:avLst/>
          </a:prstGeom>
          <a:noFill/>
          <a:ln w="31750">
            <a:solidFill>
              <a:srgbClr val="C8414C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 flipV="1">
            <a:off x="3666744" y="2320426"/>
            <a:ext cx="73152" cy="59412"/>
          </a:xfrm>
          <a:prstGeom prst="line">
            <a:avLst/>
          </a:prstGeom>
          <a:noFill/>
          <a:ln w="31750">
            <a:solidFill>
              <a:srgbClr val="C8414C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 flipV="1">
            <a:off x="3739896" y="2265764"/>
            <a:ext cx="73152" cy="54662"/>
          </a:xfrm>
          <a:prstGeom prst="line">
            <a:avLst/>
          </a:prstGeom>
          <a:noFill/>
          <a:ln w="31750">
            <a:solidFill>
              <a:srgbClr val="C8414C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 flipV="1">
            <a:off x="3813048" y="2215473"/>
            <a:ext cx="73152" cy="50291"/>
          </a:xfrm>
          <a:prstGeom prst="line">
            <a:avLst/>
          </a:prstGeom>
          <a:noFill/>
          <a:ln w="31750">
            <a:solidFill>
              <a:srgbClr val="C8414C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 flipV="1">
            <a:off x="3886200" y="2169203"/>
            <a:ext cx="73152" cy="46270"/>
          </a:xfrm>
          <a:prstGeom prst="line">
            <a:avLst/>
          </a:prstGeom>
          <a:noFill/>
          <a:ln w="31750">
            <a:solidFill>
              <a:srgbClr val="C8414C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 flipV="1">
            <a:off x="3959352" y="2126633"/>
            <a:ext cx="73152" cy="42571"/>
          </a:xfrm>
          <a:prstGeom prst="line">
            <a:avLst/>
          </a:prstGeom>
          <a:noFill/>
          <a:ln w="31750">
            <a:solidFill>
              <a:srgbClr val="C8414C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 flipV="1">
            <a:off x="4032504" y="2087466"/>
            <a:ext cx="73152" cy="39167"/>
          </a:xfrm>
          <a:prstGeom prst="line">
            <a:avLst/>
          </a:prstGeom>
          <a:noFill/>
          <a:ln w="31750">
            <a:solidFill>
              <a:srgbClr val="C8414C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 flipV="1">
            <a:off x="4105656" y="2051431"/>
            <a:ext cx="73152" cy="36035"/>
          </a:xfrm>
          <a:prstGeom prst="line">
            <a:avLst/>
          </a:prstGeom>
          <a:noFill/>
          <a:ln w="31750">
            <a:solidFill>
              <a:srgbClr val="C8414C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 flipV="1">
            <a:off x="4178808" y="2018277"/>
            <a:ext cx="73152" cy="33154"/>
          </a:xfrm>
          <a:prstGeom prst="line">
            <a:avLst/>
          </a:prstGeom>
          <a:noFill/>
          <a:ln w="31750">
            <a:solidFill>
              <a:srgbClr val="C8414C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 flipV="1">
            <a:off x="4251960" y="1987774"/>
            <a:ext cx="73152" cy="30503"/>
          </a:xfrm>
          <a:prstGeom prst="line">
            <a:avLst/>
          </a:prstGeom>
          <a:noFill/>
          <a:ln w="31750">
            <a:solidFill>
              <a:srgbClr val="C8414C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 flipV="1">
            <a:off x="4325112" y="1959709"/>
            <a:ext cx="73152" cy="28064"/>
          </a:xfrm>
          <a:prstGeom prst="line">
            <a:avLst/>
          </a:prstGeom>
          <a:noFill/>
          <a:ln w="31750">
            <a:solidFill>
              <a:srgbClr val="C8414C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 flipV="1">
            <a:off x="4398264" y="1933889"/>
            <a:ext cx="73152" cy="25820"/>
          </a:xfrm>
          <a:prstGeom prst="line">
            <a:avLst/>
          </a:prstGeom>
          <a:noFill/>
          <a:ln w="31750">
            <a:solidFill>
              <a:srgbClr val="C8414C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 flipV="1">
            <a:off x="4471416" y="1910133"/>
            <a:ext cx="73152" cy="23756"/>
          </a:xfrm>
          <a:prstGeom prst="line">
            <a:avLst/>
          </a:prstGeom>
          <a:noFill/>
          <a:ln w="31750">
            <a:solidFill>
              <a:srgbClr val="C8414C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 flipV="1">
            <a:off x="4544568" y="1888277"/>
            <a:ext cx="73152" cy="21856"/>
          </a:xfrm>
          <a:prstGeom prst="line">
            <a:avLst/>
          </a:prstGeom>
          <a:noFill/>
          <a:ln w="31750">
            <a:solidFill>
              <a:srgbClr val="C8414C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 flipV="1">
            <a:off x="4617720" y="1868168"/>
            <a:ext cx="73152" cy="20109"/>
          </a:xfrm>
          <a:prstGeom prst="line">
            <a:avLst/>
          </a:prstGeom>
          <a:noFill/>
          <a:ln w="31750">
            <a:solidFill>
              <a:srgbClr val="C8414C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 flipV="1">
            <a:off x="4690872" y="1849667"/>
            <a:ext cx="73152" cy="18501"/>
          </a:xfrm>
          <a:prstGeom prst="line">
            <a:avLst/>
          </a:prstGeom>
          <a:noFill/>
          <a:ln w="31750">
            <a:solidFill>
              <a:srgbClr val="C8414C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 flipV="1">
            <a:off x="4764024" y="1832645"/>
            <a:ext cx="73152" cy="17022"/>
          </a:xfrm>
          <a:prstGeom prst="line">
            <a:avLst/>
          </a:prstGeom>
          <a:noFill/>
          <a:ln w="31750">
            <a:solidFill>
              <a:srgbClr val="C8414C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 flipV="1">
            <a:off x="4837176" y="1816984"/>
            <a:ext cx="73152" cy="15661"/>
          </a:xfrm>
          <a:prstGeom prst="line">
            <a:avLst/>
          </a:prstGeom>
          <a:noFill/>
          <a:ln w="31750">
            <a:solidFill>
              <a:srgbClr val="C8414C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 flipV="1">
            <a:off x="4910328" y="1802576"/>
            <a:ext cx="73152" cy="14409"/>
          </a:xfrm>
          <a:prstGeom prst="line">
            <a:avLst/>
          </a:prstGeom>
          <a:noFill/>
          <a:ln w="31750">
            <a:solidFill>
              <a:srgbClr val="C8414C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 flipV="1">
            <a:off x="4983480" y="1789319"/>
            <a:ext cx="73152" cy="13257"/>
          </a:xfrm>
          <a:prstGeom prst="line">
            <a:avLst/>
          </a:prstGeom>
          <a:noFill/>
          <a:ln w="31750">
            <a:solidFill>
              <a:srgbClr val="C8414C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 flipV="1">
            <a:off x="5056632" y="1777122"/>
            <a:ext cx="73152" cy="12197"/>
          </a:xfrm>
          <a:prstGeom prst="line">
            <a:avLst/>
          </a:prstGeom>
          <a:noFill/>
          <a:ln w="31750">
            <a:solidFill>
              <a:srgbClr val="C8414C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 flipV="1">
            <a:off x="5129784" y="1765901"/>
            <a:ext cx="73152" cy="11221"/>
          </a:xfrm>
          <a:prstGeom prst="line">
            <a:avLst/>
          </a:prstGeom>
          <a:noFill/>
          <a:ln w="31750">
            <a:solidFill>
              <a:srgbClr val="C8414C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 flipV="1">
            <a:off x="5202936" y="1755577"/>
            <a:ext cx="73152" cy="10324"/>
          </a:xfrm>
          <a:prstGeom prst="line">
            <a:avLst/>
          </a:prstGeom>
          <a:noFill/>
          <a:ln w="31750">
            <a:solidFill>
              <a:srgbClr val="C8414C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 flipV="1">
            <a:off x="5276088" y="1746078"/>
            <a:ext cx="73152" cy="9499"/>
          </a:xfrm>
          <a:prstGeom prst="line">
            <a:avLst/>
          </a:prstGeom>
          <a:noFill/>
          <a:ln w="31750">
            <a:solidFill>
              <a:srgbClr val="C8414C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 flipV="1">
            <a:off x="5349240" y="1737339"/>
            <a:ext cx="73152" cy="8739"/>
          </a:xfrm>
          <a:prstGeom prst="line">
            <a:avLst/>
          </a:prstGeom>
          <a:noFill/>
          <a:ln w="31750">
            <a:solidFill>
              <a:srgbClr val="C8414C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 flipV="1">
            <a:off x="5422392" y="1729298"/>
            <a:ext cx="73152" cy="8041"/>
          </a:xfrm>
          <a:prstGeom prst="line">
            <a:avLst/>
          </a:prstGeom>
          <a:noFill/>
          <a:ln w="31750">
            <a:solidFill>
              <a:srgbClr val="C8414C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 flipV="1">
            <a:off x="5495544" y="1721900"/>
            <a:ext cx="73152" cy="7398"/>
          </a:xfrm>
          <a:prstGeom prst="line">
            <a:avLst/>
          </a:prstGeom>
          <a:noFill/>
          <a:ln w="31750">
            <a:solidFill>
              <a:srgbClr val="C8414C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 flipV="1">
            <a:off x="5568696" y="1715094"/>
            <a:ext cx="73152" cy="6806"/>
          </a:xfrm>
          <a:prstGeom prst="line">
            <a:avLst/>
          </a:prstGeom>
          <a:noFill/>
          <a:ln w="31750">
            <a:solidFill>
              <a:srgbClr val="C8414C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 flipV="1">
            <a:off x="5641848" y="1708832"/>
            <a:ext cx="73152" cy="6262"/>
          </a:xfrm>
          <a:prstGeom prst="line">
            <a:avLst/>
          </a:prstGeom>
          <a:noFill/>
          <a:ln w="31750">
            <a:solidFill>
              <a:srgbClr val="C8414C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3438144" y="2432304"/>
            <a:ext cx="164592" cy="16459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A2340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2834640" y="1947672"/>
            <a:ext cx="576072" cy="475488"/>
          </a:xfrm>
          <a:prstGeom prst="line">
            <a:avLst/>
          </a:prstGeom>
          <a:noFill/>
          <a:ln w="15875">
            <a:solidFill>
              <a:srgbClr val="1A2340"/>
            </a:solidFill>
            <a:prstDash val="solid"/>
            <a:tailEnd type="triangle"/>
          </a:ln>
        </p:spPr>
      </p:sp>
      <p:sp>
        <p:nvSpPr>
          <p:cNvPr id="164" name="Text 162"/>
          <p:cNvSpPr/>
          <p:nvPr/>
        </p:nvSpPr>
        <p:spPr>
          <a:xfrm>
            <a:off x="1508760" y="1673352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 of proportionality</a:t>
            </a:r>
            <a:endParaRPr lang="en-US" sz="1050" dirty="0"/>
          </a:p>
        </p:txBody>
      </p:sp>
      <p:sp>
        <p:nvSpPr>
          <p:cNvPr id="165" name="Text 163"/>
          <p:cNvSpPr/>
          <p:nvPr/>
        </p:nvSpPr>
        <p:spPr>
          <a:xfrm>
            <a:off x="1874520" y="330098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E5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</a:t>
            </a:r>
            <a:endParaRPr lang="en-US" sz="1100" dirty="0"/>
          </a:p>
        </p:txBody>
      </p:sp>
      <p:sp>
        <p:nvSpPr>
          <p:cNvPr id="166" name="Text 164"/>
          <p:cNvSpPr/>
          <p:nvPr/>
        </p:nvSpPr>
        <p:spPr>
          <a:xfrm>
            <a:off x="4544568" y="193852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8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non-linear</a:t>
            </a:r>
            <a:endParaRPr lang="en-US" sz="1100" dirty="0"/>
          </a:p>
        </p:txBody>
      </p:sp>
      <p:sp>
        <p:nvSpPr>
          <p:cNvPr id="167" name="Shape 165"/>
          <p:cNvSpPr/>
          <p:nvPr/>
        </p:nvSpPr>
        <p:spPr>
          <a:xfrm>
            <a:off x="6217920" y="1188720"/>
            <a:ext cx="5562295" cy="2423160"/>
          </a:xfrm>
          <a:prstGeom prst="roundRect">
            <a:avLst>
              <a:gd name="adj" fmla="val 2264"/>
            </a:avLst>
          </a:prstGeom>
          <a:solidFill>
            <a:srgbClr val="F5F8FE"/>
          </a:solidFill>
          <a:ln w="9525">
            <a:solidFill>
              <a:srgbClr val="D5DCEB"/>
            </a:solidFill>
            <a:prstDash val="solid"/>
          </a:ln>
        </p:spPr>
      </p:sp>
      <p:sp>
        <p:nvSpPr>
          <p:cNvPr id="168" name="Text 166"/>
          <p:cNvSpPr/>
          <p:nvPr/>
        </p:nvSpPr>
        <p:spPr>
          <a:xfrm>
            <a:off x="6382512" y="1280160"/>
            <a:ext cx="523311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graph</a:t>
            </a:r>
            <a:endParaRPr lang="en-US" sz="1300" dirty="0"/>
          </a:p>
        </p:txBody>
      </p:sp>
      <p:sp>
        <p:nvSpPr>
          <p:cNvPr id="169" name="Text 167"/>
          <p:cNvSpPr/>
          <p:nvPr/>
        </p:nvSpPr>
        <p:spPr>
          <a:xfrm>
            <a:off x="6382512" y="1609344"/>
            <a:ext cx="5233111" cy="1929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150" b="1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</a:t>
            </a:r>
            <a:r>
              <a:rPr lang="en-US" sz="115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region: a straight line through the origin, so F ∝ x. Double the force → double the extension.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15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</a:t>
            </a:r>
            <a:r>
              <a:rPr lang="en-US" sz="1150" b="1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</a:t>
            </a:r>
            <a:r>
              <a:rPr lang="en-US" sz="115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a force–extension graph (force on the y-axis) = </a:t>
            </a:r>
            <a:r>
              <a:rPr lang="en-US" sz="1150" b="1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constant k</a:t>
            </a:r>
            <a:r>
              <a:rPr lang="en-US" sz="115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150" b="1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 of proportionality:</a:t>
            </a:r>
            <a:r>
              <a:rPr lang="en-US" sz="115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point beyond which force and extension are no longer proportional – the line starts to curve.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150" b="1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Non-linear</a:t>
            </a:r>
            <a:r>
              <a:rPr lang="en-US" sz="115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region: the extension increases by more for each extra newton; F = k × x no longer applies.</a:t>
            </a:r>
            <a:endParaRPr lang="en-US" sz="1150" dirty="0"/>
          </a:p>
        </p:txBody>
      </p:sp>
      <p:sp>
        <p:nvSpPr>
          <p:cNvPr id="170" name="Shape 168"/>
          <p:cNvSpPr/>
          <p:nvPr/>
        </p:nvSpPr>
        <p:spPr>
          <a:xfrm>
            <a:off x="6217920" y="3749040"/>
            <a:ext cx="5562295" cy="1965960"/>
          </a:xfrm>
          <a:prstGeom prst="roundRect">
            <a:avLst>
              <a:gd name="adj" fmla="val 2791"/>
            </a:avLst>
          </a:prstGeom>
          <a:solidFill>
            <a:srgbClr val="FFF4E0"/>
          </a:solidFill>
          <a:ln w="9525">
            <a:solidFill>
              <a:srgbClr val="F1D9A8"/>
            </a:solidFill>
            <a:prstDash val="solid"/>
          </a:ln>
        </p:spPr>
      </p:sp>
      <p:sp>
        <p:nvSpPr>
          <p:cNvPr id="171" name="Text 169"/>
          <p:cNvSpPr/>
          <p:nvPr/>
        </p:nvSpPr>
        <p:spPr>
          <a:xfrm>
            <a:off x="6382512" y="3822192"/>
            <a:ext cx="523311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7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example: k from the graph</a:t>
            </a:r>
            <a:endParaRPr lang="en-US" sz="1300" dirty="0"/>
          </a:p>
        </p:txBody>
      </p:sp>
      <p:sp>
        <p:nvSpPr>
          <p:cNvPr id="172" name="Text 170"/>
          <p:cNvSpPr/>
          <p:nvPr/>
        </p:nvSpPr>
        <p:spPr>
          <a:xfrm>
            <a:off x="6382512" y="4133088"/>
            <a:ext cx="5233111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straight part of the graph to find the spring constant.</a:t>
            </a:r>
            <a:endParaRPr lang="en-US" sz="1100" dirty="0"/>
          </a:p>
          <a:p>
            <a:pPr indent="0" marL="0">
              <a:spcBef>
                <a:spcPts val="200"/>
              </a:spcBef>
              <a:buNone/>
            </a:pPr>
            <a:r>
              <a:rPr lang="en-US" sz="1100" b="1" dirty="0">
                <a:solidFill>
                  <a:srgbClr val="2E5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Read   </a:t>
            </a:r>
            <a:r>
              <a:rPr lang="en-US" sz="110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x = 0.10 m, F = 4.0 N</a:t>
            </a:r>
            <a:endParaRPr lang="en-US" sz="1100" dirty="0"/>
          </a:p>
          <a:p>
            <a:pPr indent="0" marL="0">
              <a:spcBef>
                <a:spcPts val="200"/>
              </a:spcBef>
              <a:buNone/>
            </a:pPr>
            <a:r>
              <a:rPr lang="en-US" sz="1100" b="1" dirty="0">
                <a:solidFill>
                  <a:srgbClr val="2E5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Equation   </a:t>
            </a:r>
            <a:r>
              <a:rPr lang="en-US" sz="110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F ÷ x (= gradient)</a:t>
            </a:r>
            <a:endParaRPr lang="en-US" sz="1100" dirty="0"/>
          </a:p>
          <a:p>
            <a:pPr indent="0" marL="0">
              <a:spcBef>
                <a:spcPts val="200"/>
              </a:spcBef>
              <a:buNone/>
            </a:pPr>
            <a:r>
              <a:rPr lang="en-US" sz="1100" b="1" dirty="0">
                <a:solidFill>
                  <a:srgbClr val="2E5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Substitute   </a:t>
            </a:r>
            <a:r>
              <a:rPr lang="en-US" sz="110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4.0 N ÷ 0.10 m</a:t>
            </a:r>
            <a:endParaRPr lang="en-US" sz="1100" dirty="0"/>
          </a:p>
          <a:p>
            <a:pPr indent="0" marL="0">
              <a:spcBef>
                <a:spcPts val="200"/>
              </a:spcBef>
              <a:buNone/>
            </a:pPr>
            <a:r>
              <a:rPr lang="en-US" sz="1100" b="1" dirty="0">
                <a:solidFill>
                  <a:srgbClr val="2E5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Answer   </a:t>
            </a:r>
            <a:r>
              <a:rPr lang="en-US" sz="1100" b="1" dirty="0">
                <a:solidFill>
                  <a:srgbClr val="C8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40 N/m</a:t>
            </a:r>
            <a:endParaRPr lang="en-US" sz="1100" dirty="0"/>
          </a:p>
        </p:txBody>
      </p:sp>
      <p:sp>
        <p:nvSpPr>
          <p:cNvPr id="173" name="Shape 171"/>
          <p:cNvSpPr/>
          <p:nvPr/>
        </p:nvSpPr>
        <p:spPr>
          <a:xfrm>
            <a:off x="411480" y="5833872"/>
            <a:ext cx="11368735" cy="530352"/>
          </a:xfrm>
          <a:prstGeom prst="rect">
            <a:avLst/>
          </a:prstGeom>
          <a:solidFill>
            <a:srgbClr val="FFF4E0"/>
          </a:solidFill>
          <a:ln w="6350">
            <a:solidFill>
              <a:srgbClr val="F1D9A8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411480" y="5833872"/>
            <a:ext cx="82296" cy="530352"/>
          </a:xfrm>
          <a:prstGeom prst="rect">
            <a:avLst/>
          </a:prstGeom>
          <a:solidFill>
            <a:srgbClr val="E39A2F"/>
          </a:solidFill>
          <a:ln w="12700">
            <a:solidFill>
              <a:srgbClr val="E39A2F"/>
            </a:solidFill>
            <a:prstDash val="solid"/>
          </a:ln>
        </p:spPr>
      </p:sp>
      <p:sp>
        <p:nvSpPr>
          <p:cNvPr id="175" name="Text 173"/>
          <p:cNvSpPr/>
          <p:nvPr/>
        </p:nvSpPr>
        <p:spPr>
          <a:xfrm>
            <a:off x="640080" y="5833872"/>
            <a:ext cx="1100297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7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   </a:t>
            </a:r>
            <a:r>
              <a:rPr lang="en-US" sz="115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graph: what force gives an extension of 0.05 m? What is the force at the limit of proportionality?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EEF2FA"/>
          </a:solidFill>
          <a:ln w="12700">
            <a:solidFill>
              <a:srgbClr val="EEF2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87552"/>
            <a:ext cx="12191695" cy="27432"/>
          </a:xfrm>
          <a:prstGeom prst="rect">
            <a:avLst/>
          </a:prstGeom>
          <a:solidFill>
            <a:srgbClr val="D3DCF0"/>
          </a:solidFill>
          <a:ln w="12700">
            <a:solidFill>
              <a:srgbClr val="D3DC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18872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 done in stretching a spring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11480" y="6400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E5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Specification 15.4 • energy stored = area under the force–extension graph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6473952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Edexcel GCSE (9–1) Physics (1PH0) | Topic 15 Forces and matter | Higher &amp; Foundation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784080" y="647395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15.4  |  10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1480" y="1188720"/>
            <a:ext cx="5577840" cy="4526280"/>
          </a:xfrm>
          <a:prstGeom prst="roundRect">
            <a:avLst>
              <a:gd name="adj" fmla="val 1616"/>
            </a:avLst>
          </a:prstGeom>
          <a:solidFill>
            <a:srgbClr val="EEF1F8"/>
          </a:solidFill>
          <a:ln w="9525">
            <a:solidFill>
              <a:srgbClr val="DCE2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5404104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diagram — shaded area = work done = energy stored (k = 40 N/m)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325880" y="1417320"/>
            <a:ext cx="4389120" cy="3291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1325880" y="1417320"/>
            <a:ext cx="91" cy="3291840"/>
          </a:xfrm>
          <a:prstGeom prst="line">
            <a:avLst/>
          </a:prstGeom>
          <a:noFill/>
          <a:ln w="6350">
            <a:solidFill>
              <a:srgbClr val="C9D3E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545336" y="1417320"/>
            <a:ext cx="91" cy="3291840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764792" y="1417320"/>
            <a:ext cx="91" cy="3291840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84248" y="1417320"/>
            <a:ext cx="91" cy="3291840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03704" y="1417320"/>
            <a:ext cx="91" cy="3291840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423160" y="1417320"/>
            <a:ext cx="91" cy="3291840"/>
          </a:xfrm>
          <a:prstGeom prst="line">
            <a:avLst/>
          </a:prstGeom>
          <a:noFill/>
          <a:ln w="6350">
            <a:solidFill>
              <a:srgbClr val="C9D3E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642616" y="1417320"/>
            <a:ext cx="91" cy="3291840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862072" y="1417320"/>
            <a:ext cx="91" cy="3291840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081528" y="1417320"/>
            <a:ext cx="91" cy="3291840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300984" y="1417320"/>
            <a:ext cx="91" cy="3291840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520440" y="1417320"/>
            <a:ext cx="91" cy="3291840"/>
          </a:xfrm>
          <a:prstGeom prst="line">
            <a:avLst/>
          </a:prstGeom>
          <a:noFill/>
          <a:ln w="6350">
            <a:solidFill>
              <a:srgbClr val="C9D3E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739896" y="1417320"/>
            <a:ext cx="91" cy="3291840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959352" y="1417320"/>
            <a:ext cx="91" cy="3291840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178808" y="1417320"/>
            <a:ext cx="91" cy="3291840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398264" y="1417320"/>
            <a:ext cx="91" cy="3291840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17720" y="1417320"/>
            <a:ext cx="91" cy="3291840"/>
          </a:xfrm>
          <a:prstGeom prst="line">
            <a:avLst/>
          </a:prstGeom>
          <a:noFill/>
          <a:ln w="6350">
            <a:solidFill>
              <a:srgbClr val="C9D3E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37176" y="1417320"/>
            <a:ext cx="91" cy="3291840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056632" y="1417320"/>
            <a:ext cx="91" cy="3291840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276088" y="1417320"/>
            <a:ext cx="91" cy="3291840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95544" y="1417320"/>
            <a:ext cx="91" cy="3291840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715000" y="1417320"/>
            <a:ext cx="91" cy="3291840"/>
          </a:xfrm>
          <a:prstGeom prst="line">
            <a:avLst/>
          </a:prstGeom>
          <a:noFill/>
          <a:ln w="6350">
            <a:solidFill>
              <a:srgbClr val="C9D3E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325880" y="4709160"/>
            <a:ext cx="4389120" cy="91"/>
          </a:xfrm>
          <a:prstGeom prst="line">
            <a:avLst/>
          </a:prstGeom>
          <a:noFill/>
          <a:ln w="6350">
            <a:solidFill>
              <a:srgbClr val="C9D3E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325880" y="4626864"/>
            <a:ext cx="4389120" cy="91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325880" y="4544568"/>
            <a:ext cx="4389120" cy="91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325880" y="4462272"/>
            <a:ext cx="4389120" cy="91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325880" y="4379976"/>
            <a:ext cx="4389120" cy="91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325880" y="4297680"/>
            <a:ext cx="4389120" cy="91"/>
          </a:xfrm>
          <a:prstGeom prst="line">
            <a:avLst/>
          </a:prstGeom>
          <a:noFill/>
          <a:ln w="6350">
            <a:solidFill>
              <a:srgbClr val="C9D3E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325880" y="4215384"/>
            <a:ext cx="4389120" cy="91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325880" y="4133088"/>
            <a:ext cx="4389120" cy="91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325880" y="4050792"/>
            <a:ext cx="4389120" cy="91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325880" y="3968496"/>
            <a:ext cx="4389120" cy="91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325880" y="3886200"/>
            <a:ext cx="4389120" cy="91"/>
          </a:xfrm>
          <a:prstGeom prst="line">
            <a:avLst/>
          </a:prstGeom>
          <a:noFill/>
          <a:ln w="6350">
            <a:solidFill>
              <a:srgbClr val="C9D3E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325880" y="3803904"/>
            <a:ext cx="4389120" cy="91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325880" y="3721608"/>
            <a:ext cx="4389120" cy="91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325880" y="3639312"/>
            <a:ext cx="4389120" cy="91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325880" y="3557016"/>
            <a:ext cx="4389120" cy="91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325880" y="3474720"/>
            <a:ext cx="4389120" cy="91"/>
          </a:xfrm>
          <a:prstGeom prst="line">
            <a:avLst/>
          </a:prstGeom>
          <a:noFill/>
          <a:ln w="6350">
            <a:solidFill>
              <a:srgbClr val="C9D3E6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325880" y="3392424"/>
            <a:ext cx="4389120" cy="91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325880" y="3310128"/>
            <a:ext cx="4389120" cy="91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325880" y="3227832"/>
            <a:ext cx="4389120" cy="91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325880" y="3145536"/>
            <a:ext cx="4389120" cy="91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325880" y="3063240"/>
            <a:ext cx="4389120" cy="91"/>
          </a:xfrm>
          <a:prstGeom prst="line">
            <a:avLst/>
          </a:prstGeom>
          <a:noFill/>
          <a:ln w="6350">
            <a:solidFill>
              <a:srgbClr val="C9D3E6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325880" y="2980944"/>
            <a:ext cx="4389120" cy="91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325880" y="2898648"/>
            <a:ext cx="4389120" cy="91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325880" y="2816352"/>
            <a:ext cx="4389120" cy="91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325880" y="2734056"/>
            <a:ext cx="4389120" cy="91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325880" y="2651760"/>
            <a:ext cx="4389120" cy="91"/>
          </a:xfrm>
          <a:prstGeom prst="line">
            <a:avLst/>
          </a:prstGeom>
          <a:noFill/>
          <a:ln w="6350">
            <a:solidFill>
              <a:srgbClr val="C9D3E6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325880" y="2569464"/>
            <a:ext cx="4389120" cy="91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325880" y="2487168"/>
            <a:ext cx="4389120" cy="91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325880" y="2404872"/>
            <a:ext cx="4389120" cy="91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325880" y="2322576"/>
            <a:ext cx="4389120" cy="91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325880" y="2240280"/>
            <a:ext cx="4389120" cy="91"/>
          </a:xfrm>
          <a:prstGeom prst="line">
            <a:avLst/>
          </a:prstGeom>
          <a:noFill/>
          <a:ln w="6350">
            <a:solidFill>
              <a:srgbClr val="C9D3E6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325880" y="2157984"/>
            <a:ext cx="4389120" cy="91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325880" y="2075688"/>
            <a:ext cx="4389120" cy="91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325880" y="1993392"/>
            <a:ext cx="4389120" cy="91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325880" y="1911096"/>
            <a:ext cx="4389120" cy="91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325880" y="1828800"/>
            <a:ext cx="4389120" cy="91"/>
          </a:xfrm>
          <a:prstGeom prst="line">
            <a:avLst/>
          </a:prstGeom>
          <a:noFill/>
          <a:ln w="6350">
            <a:solidFill>
              <a:srgbClr val="C9D3E6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325880" y="1746504"/>
            <a:ext cx="4389120" cy="91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325880" y="1664208"/>
            <a:ext cx="4389120" cy="91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1325880" y="1581912"/>
            <a:ext cx="4389120" cy="91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325880" y="1499616"/>
            <a:ext cx="4389120" cy="91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1325880" y="1417320"/>
            <a:ext cx="4389120" cy="91"/>
          </a:xfrm>
          <a:prstGeom prst="line">
            <a:avLst/>
          </a:prstGeom>
          <a:noFill/>
          <a:ln w="6350">
            <a:solidFill>
              <a:srgbClr val="C9D3E6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1325880" y="4709160"/>
            <a:ext cx="4389120" cy="91"/>
          </a:xfrm>
          <a:prstGeom prst="line">
            <a:avLst/>
          </a:prstGeom>
          <a:noFill/>
          <a:ln w="19050">
            <a:solidFill>
              <a:srgbClr val="1A2340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 flipV="1">
            <a:off x="1325880" y="1417320"/>
            <a:ext cx="91" cy="3291840"/>
          </a:xfrm>
          <a:prstGeom prst="line">
            <a:avLst/>
          </a:prstGeom>
          <a:noFill/>
          <a:ln w="19050">
            <a:solidFill>
              <a:srgbClr val="1A2340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325880" y="4709160"/>
            <a:ext cx="91" cy="54864"/>
          </a:xfrm>
          <a:prstGeom prst="line">
            <a:avLst/>
          </a:prstGeom>
          <a:noFill/>
          <a:ln w="12700">
            <a:solidFill>
              <a:srgbClr val="1A234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1051560" y="476402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2423160" y="4709160"/>
            <a:ext cx="91" cy="54864"/>
          </a:xfrm>
          <a:prstGeom prst="line">
            <a:avLst/>
          </a:prstGeom>
          <a:noFill/>
          <a:ln w="12700">
            <a:solidFill>
              <a:srgbClr val="1A234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2148840" y="476402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0.05</a:t>
            </a:r>
            <a:endParaRPr lang="en-US" sz="1000" dirty="0"/>
          </a:p>
        </p:txBody>
      </p:sp>
      <p:sp>
        <p:nvSpPr>
          <p:cNvPr id="79" name="Shape 77"/>
          <p:cNvSpPr/>
          <p:nvPr/>
        </p:nvSpPr>
        <p:spPr>
          <a:xfrm>
            <a:off x="3520440" y="4709160"/>
            <a:ext cx="91" cy="54864"/>
          </a:xfrm>
          <a:prstGeom prst="line">
            <a:avLst/>
          </a:prstGeom>
          <a:noFill/>
          <a:ln w="12700">
            <a:solidFill>
              <a:srgbClr val="1A234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3246120" y="476402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0.10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4617720" y="4709160"/>
            <a:ext cx="91" cy="54864"/>
          </a:xfrm>
          <a:prstGeom prst="line">
            <a:avLst/>
          </a:prstGeom>
          <a:noFill/>
          <a:ln w="12700">
            <a:solidFill>
              <a:srgbClr val="1A234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4343400" y="476402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0.15</a:t>
            </a:r>
            <a:endParaRPr lang="en-US" sz="1000" dirty="0"/>
          </a:p>
        </p:txBody>
      </p:sp>
      <p:sp>
        <p:nvSpPr>
          <p:cNvPr id="83" name="Shape 81"/>
          <p:cNvSpPr/>
          <p:nvPr/>
        </p:nvSpPr>
        <p:spPr>
          <a:xfrm>
            <a:off x="5715000" y="4709160"/>
            <a:ext cx="91" cy="54864"/>
          </a:xfrm>
          <a:prstGeom prst="line">
            <a:avLst/>
          </a:prstGeom>
          <a:noFill/>
          <a:ln w="12700">
            <a:solidFill>
              <a:srgbClr val="1A234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5440680" y="476402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0.20</a:t>
            </a:r>
            <a:endParaRPr lang="en-US" sz="1000" dirty="0"/>
          </a:p>
        </p:txBody>
      </p:sp>
      <p:sp>
        <p:nvSpPr>
          <p:cNvPr id="85" name="Shape 83"/>
          <p:cNvSpPr/>
          <p:nvPr/>
        </p:nvSpPr>
        <p:spPr>
          <a:xfrm>
            <a:off x="1271016" y="4709160"/>
            <a:ext cx="54864" cy="91"/>
          </a:xfrm>
          <a:prstGeom prst="line">
            <a:avLst/>
          </a:prstGeom>
          <a:noFill/>
          <a:ln w="12700">
            <a:solidFill>
              <a:srgbClr val="1A234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886968" y="46177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87" name="Shape 85"/>
          <p:cNvSpPr/>
          <p:nvPr/>
        </p:nvSpPr>
        <p:spPr>
          <a:xfrm>
            <a:off x="1271016" y="4297680"/>
            <a:ext cx="54864" cy="91"/>
          </a:xfrm>
          <a:prstGeom prst="line">
            <a:avLst/>
          </a:prstGeom>
          <a:noFill/>
          <a:ln w="12700">
            <a:solidFill>
              <a:srgbClr val="1A2340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886968" y="420624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89" name="Shape 87"/>
          <p:cNvSpPr/>
          <p:nvPr/>
        </p:nvSpPr>
        <p:spPr>
          <a:xfrm>
            <a:off x="1271016" y="3886200"/>
            <a:ext cx="54864" cy="91"/>
          </a:xfrm>
          <a:prstGeom prst="line">
            <a:avLst/>
          </a:prstGeom>
          <a:noFill/>
          <a:ln w="12700">
            <a:solidFill>
              <a:srgbClr val="1A2340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886968" y="379476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91" name="Shape 89"/>
          <p:cNvSpPr/>
          <p:nvPr/>
        </p:nvSpPr>
        <p:spPr>
          <a:xfrm>
            <a:off x="1271016" y="3474720"/>
            <a:ext cx="54864" cy="91"/>
          </a:xfrm>
          <a:prstGeom prst="line">
            <a:avLst/>
          </a:prstGeom>
          <a:noFill/>
          <a:ln w="12700">
            <a:solidFill>
              <a:srgbClr val="1A2340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886968" y="338328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93" name="Shape 91"/>
          <p:cNvSpPr/>
          <p:nvPr/>
        </p:nvSpPr>
        <p:spPr>
          <a:xfrm>
            <a:off x="1271016" y="3063240"/>
            <a:ext cx="54864" cy="91"/>
          </a:xfrm>
          <a:prstGeom prst="line">
            <a:avLst/>
          </a:prstGeom>
          <a:noFill/>
          <a:ln w="12700">
            <a:solidFill>
              <a:srgbClr val="1A2340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886968" y="29718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95" name="Shape 93"/>
          <p:cNvSpPr/>
          <p:nvPr/>
        </p:nvSpPr>
        <p:spPr>
          <a:xfrm>
            <a:off x="1271016" y="2651760"/>
            <a:ext cx="54864" cy="91"/>
          </a:xfrm>
          <a:prstGeom prst="line">
            <a:avLst/>
          </a:prstGeom>
          <a:noFill/>
          <a:ln w="12700">
            <a:solidFill>
              <a:srgbClr val="1A2340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886968" y="25603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97" name="Shape 95"/>
          <p:cNvSpPr/>
          <p:nvPr/>
        </p:nvSpPr>
        <p:spPr>
          <a:xfrm>
            <a:off x="1271016" y="2240280"/>
            <a:ext cx="54864" cy="91"/>
          </a:xfrm>
          <a:prstGeom prst="line">
            <a:avLst/>
          </a:prstGeom>
          <a:noFill/>
          <a:ln w="12700">
            <a:solidFill>
              <a:srgbClr val="1A2340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886968" y="214884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99" name="Shape 97"/>
          <p:cNvSpPr/>
          <p:nvPr/>
        </p:nvSpPr>
        <p:spPr>
          <a:xfrm>
            <a:off x="1271016" y="1828800"/>
            <a:ext cx="54864" cy="91"/>
          </a:xfrm>
          <a:prstGeom prst="line">
            <a:avLst/>
          </a:prstGeom>
          <a:noFill/>
          <a:ln w="12700">
            <a:solidFill>
              <a:srgbClr val="1A2340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886968" y="173736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101" name="Shape 99"/>
          <p:cNvSpPr/>
          <p:nvPr/>
        </p:nvSpPr>
        <p:spPr>
          <a:xfrm>
            <a:off x="1271016" y="1417320"/>
            <a:ext cx="54864" cy="91"/>
          </a:xfrm>
          <a:prstGeom prst="line">
            <a:avLst/>
          </a:prstGeom>
          <a:noFill/>
          <a:ln w="12700">
            <a:solidFill>
              <a:srgbClr val="1A2340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886968" y="132588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103" name="Text 101"/>
          <p:cNvSpPr/>
          <p:nvPr/>
        </p:nvSpPr>
        <p:spPr>
          <a:xfrm>
            <a:off x="1325880" y="495604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 / m</a:t>
            </a:r>
            <a:endParaRPr lang="en-US" sz="1050" dirty="0"/>
          </a:p>
        </p:txBody>
      </p:sp>
      <p:sp>
        <p:nvSpPr>
          <p:cNvPr id="104" name="Text 102"/>
          <p:cNvSpPr/>
          <p:nvPr/>
        </p:nvSpPr>
        <p:spPr>
          <a:xfrm rot="16200000">
            <a:off x="-886968" y="293522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 / N</a:t>
            </a:r>
            <a:endParaRPr lang="en-US" sz="1050" dirty="0"/>
          </a:p>
        </p:txBody>
      </p:sp>
      <p:sp>
        <p:nvSpPr>
          <p:cNvPr id="105" name="Shape 103"/>
          <p:cNvSpPr/>
          <p:nvPr/>
        </p:nvSpPr>
        <p:spPr>
          <a:xfrm flipH="1">
            <a:off x="1325880" y="2240280"/>
            <a:ext cx="3291840" cy="2468880"/>
          </a:xfrm>
          <a:prstGeom prst="rtTriangle">
            <a:avLst/>
          </a:prstGeom>
          <a:solidFill>
            <a:srgbClr val="F5A742">
              <a:alpha val="45000"/>
            </a:srgbClr>
          </a:solidFill>
          <a:ln/>
        </p:spPr>
      </p:sp>
      <p:sp>
        <p:nvSpPr>
          <p:cNvPr id="106" name="Shape 104"/>
          <p:cNvSpPr/>
          <p:nvPr/>
        </p:nvSpPr>
        <p:spPr>
          <a:xfrm flipV="1">
            <a:off x="1325880" y="2240280"/>
            <a:ext cx="3291840" cy="2468880"/>
          </a:xfrm>
          <a:prstGeom prst="line">
            <a:avLst/>
          </a:prstGeom>
          <a:noFill/>
          <a:ln w="31750">
            <a:solidFill>
              <a:srgbClr val="2E5BD8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4617720" y="2240280"/>
            <a:ext cx="91" cy="2468880"/>
          </a:xfrm>
          <a:prstGeom prst="line">
            <a:avLst/>
          </a:prstGeom>
          <a:noFill/>
          <a:ln w="12700">
            <a:solidFill>
              <a:srgbClr val="1A2340"/>
            </a:solidFill>
            <a:prstDash val="dash"/>
          </a:ln>
        </p:spPr>
      </p:sp>
      <p:sp>
        <p:nvSpPr>
          <p:cNvPr id="108" name="Text 106"/>
          <p:cNvSpPr/>
          <p:nvPr/>
        </p:nvSpPr>
        <p:spPr>
          <a:xfrm>
            <a:off x="3191256" y="405079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87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= ½ × F × x</a:t>
            </a:r>
            <a:endParaRPr lang="en-US" sz="1100" dirty="0"/>
          </a:p>
        </p:txBody>
      </p:sp>
      <p:sp>
        <p:nvSpPr>
          <p:cNvPr id="109" name="Text 107"/>
          <p:cNvSpPr/>
          <p:nvPr/>
        </p:nvSpPr>
        <p:spPr>
          <a:xfrm>
            <a:off x="4663440" y="211683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E5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(0.15 m, 6.0 N)</a:t>
            </a:r>
            <a:endParaRPr lang="en-US" sz="1050" dirty="0"/>
          </a:p>
        </p:txBody>
      </p:sp>
      <p:sp>
        <p:nvSpPr>
          <p:cNvPr id="110" name="Shape 108"/>
          <p:cNvSpPr/>
          <p:nvPr/>
        </p:nvSpPr>
        <p:spPr>
          <a:xfrm>
            <a:off x="6217920" y="1188720"/>
            <a:ext cx="5562295" cy="2423160"/>
          </a:xfrm>
          <a:prstGeom prst="roundRect">
            <a:avLst>
              <a:gd name="adj" fmla="val 2264"/>
            </a:avLst>
          </a:prstGeom>
          <a:solidFill>
            <a:srgbClr val="F5F8FE"/>
          </a:solidFill>
          <a:ln w="9525">
            <a:solidFill>
              <a:srgbClr val="D5DCEB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6382512" y="1280160"/>
            <a:ext cx="523311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stored in a stretched spring</a:t>
            </a:r>
            <a:endParaRPr lang="en-US" sz="1300" dirty="0"/>
          </a:p>
        </p:txBody>
      </p:sp>
      <p:sp>
        <p:nvSpPr>
          <p:cNvPr id="112" name="Text 110"/>
          <p:cNvSpPr/>
          <p:nvPr/>
        </p:nvSpPr>
        <p:spPr>
          <a:xfrm>
            <a:off x="6382512" y="1609344"/>
            <a:ext cx="5233111" cy="1929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15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is done on a spring to stretch it. If the distortion is </a:t>
            </a:r>
            <a:r>
              <a:rPr lang="en-US" sz="1150" b="1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</a:t>
            </a:r>
            <a:r>
              <a:rPr lang="en-US" sz="115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the energy is stored as </a:t>
            </a:r>
            <a:r>
              <a:rPr lang="en-US" sz="1150" b="1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 potential energy</a:t>
            </a:r>
            <a:r>
              <a:rPr lang="en-US" sz="115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2E5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= ½ × k × x²</a:t>
            </a:r>
            <a:r>
              <a:rPr lang="en-US" sz="115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energy transferred in stretching (J) = 0.5 × spring constant (N/m) × (extension (m))²</a:t>
            </a: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on the Physics Equations List – you must be able to select and use it.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15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done = </a:t>
            </a:r>
            <a:r>
              <a:rPr lang="en-US" sz="1150" b="1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under the force–extension graph</a:t>
            </a:r>
            <a:r>
              <a:rPr lang="en-US" sz="115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(a triangle in the linear region).</a:t>
            </a:r>
            <a:endParaRPr lang="en-US" sz="1150" dirty="0"/>
          </a:p>
        </p:txBody>
      </p:sp>
      <p:sp>
        <p:nvSpPr>
          <p:cNvPr id="113" name="Shape 111"/>
          <p:cNvSpPr/>
          <p:nvPr/>
        </p:nvSpPr>
        <p:spPr>
          <a:xfrm>
            <a:off x="6217920" y="3749040"/>
            <a:ext cx="5562295" cy="1965960"/>
          </a:xfrm>
          <a:prstGeom prst="roundRect">
            <a:avLst>
              <a:gd name="adj" fmla="val 2791"/>
            </a:avLst>
          </a:prstGeom>
          <a:solidFill>
            <a:srgbClr val="FFF4E0"/>
          </a:solidFill>
          <a:ln w="9525">
            <a:solidFill>
              <a:srgbClr val="F1D9A8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6382512" y="3822192"/>
            <a:ext cx="523311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7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300" dirty="0"/>
          </a:p>
        </p:txBody>
      </p:sp>
      <p:sp>
        <p:nvSpPr>
          <p:cNvPr id="115" name="Text 113"/>
          <p:cNvSpPr/>
          <p:nvPr/>
        </p:nvSpPr>
        <p:spPr>
          <a:xfrm>
            <a:off x="6382512" y="4133088"/>
            <a:ext cx="5233111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spring (k = 40 N/m) is stretched by 0.15 m. Calculate the energy stored.</a:t>
            </a:r>
            <a:endParaRPr lang="en-US" sz="1100" dirty="0"/>
          </a:p>
          <a:p>
            <a:pPr indent="0" marL="0">
              <a:spcBef>
                <a:spcPts val="200"/>
              </a:spcBef>
              <a:buNone/>
            </a:pPr>
            <a:r>
              <a:rPr lang="en-US" sz="1100" b="1" dirty="0">
                <a:solidFill>
                  <a:srgbClr val="2E5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Equation   </a:t>
            </a:r>
            <a:r>
              <a:rPr lang="en-US" sz="110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= ½ × k × x²</a:t>
            </a:r>
            <a:endParaRPr lang="en-US" sz="1100" dirty="0"/>
          </a:p>
          <a:p>
            <a:pPr indent="0" marL="0">
              <a:spcBef>
                <a:spcPts val="200"/>
              </a:spcBef>
              <a:buNone/>
            </a:pPr>
            <a:r>
              <a:rPr lang="en-US" sz="1100" b="1" dirty="0">
                <a:solidFill>
                  <a:srgbClr val="2E5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Substitute   </a:t>
            </a:r>
            <a:r>
              <a:rPr lang="en-US" sz="110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= 0.5 × 40 × 0.15²</a:t>
            </a:r>
            <a:endParaRPr lang="en-US" sz="1100" dirty="0"/>
          </a:p>
          <a:p>
            <a:pPr indent="0" marL="0">
              <a:spcBef>
                <a:spcPts val="200"/>
              </a:spcBef>
              <a:buNone/>
            </a:pPr>
            <a:r>
              <a:rPr lang="en-US" sz="1100" b="1" dirty="0">
                <a:solidFill>
                  <a:srgbClr val="2E5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Check   </a:t>
            </a:r>
            <a:r>
              <a:rPr lang="en-US" sz="110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= ½ × 6.0 N × 0.15 m</a:t>
            </a:r>
            <a:endParaRPr lang="en-US" sz="1100" dirty="0"/>
          </a:p>
          <a:p>
            <a:pPr indent="0" marL="0">
              <a:spcBef>
                <a:spcPts val="200"/>
              </a:spcBef>
              <a:buNone/>
            </a:pPr>
            <a:r>
              <a:rPr lang="en-US" sz="1100" b="1" dirty="0">
                <a:solidFill>
                  <a:srgbClr val="2E5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Answer   </a:t>
            </a:r>
            <a:r>
              <a:rPr lang="en-US" sz="1100" b="1" dirty="0">
                <a:solidFill>
                  <a:srgbClr val="C8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= 0.45 J</a:t>
            </a:r>
            <a:endParaRPr lang="en-US" sz="1100" dirty="0"/>
          </a:p>
        </p:txBody>
      </p:sp>
      <p:sp>
        <p:nvSpPr>
          <p:cNvPr id="116" name="Shape 114"/>
          <p:cNvSpPr/>
          <p:nvPr/>
        </p:nvSpPr>
        <p:spPr>
          <a:xfrm>
            <a:off x="411480" y="5833872"/>
            <a:ext cx="11368735" cy="530352"/>
          </a:xfrm>
          <a:prstGeom prst="rect">
            <a:avLst/>
          </a:prstGeom>
          <a:solidFill>
            <a:srgbClr val="FFF4E0"/>
          </a:solidFill>
          <a:ln w="6350">
            <a:solidFill>
              <a:srgbClr val="F1D9A8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411480" y="5833872"/>
            <a:ext cx="82296" cy="530352"/>
          </a:xfrm>
          <a:prstGeom prst="rect">
            <a:avLst/>
          </a:prstGeom>
          <a:solidFill>
            <a:srgbClr val="E39A2F"/>
          </a:solidFill>
          <a:ln w="12700">
            <a:solidFill>
              <a:srgbClr val="E39A2F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640080" y="5833872"/>
            <a:ext cx="1100297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7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   </a:t>
            </a:r>
            <a:r>
              <a:rPr lang="en-US" sz="115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spring with k = 200 N/m is stretched by 5.0 cm. Calculate the energy stored.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EEF2FA"/>
          </a:solidFill>
          <a:ln w="12700">
            <a:solidFill>
              <a:srgbClr val="EEF2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87552"/>
            <a:ext cx="12191695" cy="27432"/>
          </a:xfrm>
          <a:prstGeom prst="rect">
            <a:avLst/>
          </a:prstGeom>
          <a:solidFill>
            <a:srgbClr val="D3DCF0"/>
          </a:solidFill>
          <a:ln w="12700">
            <a:solidFill>
              <a:srgbClr val="D3DC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18872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 done beyond the limit of proportionality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11480" y="6400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E5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Specification 15.4, 15.5 • rearranging E = ½kx² and counting squares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0180015" y="292608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C8414C"/>
          </a:solidFill>
          <a:ln w="12700">
            <a:solidFill>
              <a:srgbClr val="C841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180015" y="29260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7–9 STRETCH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6473952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Edexcel GCSE (9–1) Physics (1PH0) | Topic 15 Forces and matter | Higher &amp; Foundation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784080" y="647395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15.4 stretch  |  11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11480" y="1188720"/>
            <a:ext cx="5577840" cy="4526280"/>
          </a:xfrm>
          <a:prstGeom prst="roundRect">
            <a:avLst>
              <a:gd name="adj" fmla="val 1616"/>
            </a:avLst>
          </a:prstGeom>
          <a:solidFill>
            <a:srgbClr val="EEF1F8"/>
          </a:solidFill>
          <a:ln w="9525">
            <a:solidFill>
              <a:srgbClr val="DCE2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5404104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diagram — area under the whole curve, estimated by counting squares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325880" y="1417320"/>
            <a:ext cx="4389120" cy="3291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1325880" y="1417320"/>
            <a:ext cx="91" cy="3291840"/>
          </a:xfrm>
          <a:prstGeom prst="line">
            <a:avLst/>
          </a:prstGeom>
          <a:noFill/>
          <a:ln w="6350">
            <a:solidFill>
              <a:srgbClr val="C9D3E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472184" y="1417320"/>
            <a:ext cx="91" cy="3291840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618488" y="1417320"/>
            <a:ext cx="91" cy="3291840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764792" y="1417320"/>
            <a:ext cx="91" cy="3291840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911096" y="1417320"/>
            <a:ext cx="91" cy="3291840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057400" y="1417320"/>
            <a:ext cx="91" cy="3291840"/>
          </a:xfrm>
          <a:prstGeom prst="line">
            <a:avLst/>
          </a:prstGeom>
          <a:noFill/>
          <a:ln w="6350">
            <a:solidFill>
              <a:srgbClr val="C9D3E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03704" y="1417320"/>
            <a:ext cx="91" cy="3291840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350008" y="1417320"/>
            <a:ext cx="91" cy="3291840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496312" y="1417320"/>
            <a:ext cx="91" cy="3291840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642616" y="1417320"/>
            <a:ext cx="91" cy="3291840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88920" y="1417320"/>
            <a:ext cx="91" cy="3291840"/>
          </a:xfrm>
          <a:prstGeom prst="line">
            <a:avLst/>
          </a:prstGeom>
          <a:noFill/>
          <a:ln w="6350">
            <a:solidFill>
              <a:srgbClr val="C9D3E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935224" y="1417320"/>
            <a:ext cx="91" cy="3291840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081528" y="1417320"/>
            <a:ext cx="91" cy="3291840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27832" y="1417320"/>
            <a:ext cx="91" cy="3291840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374136" y="1417320"/>
            <a:ext cx="91" cy="3291840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520440" y="1417320"/>
            <a:ext cx="91" cy="3291840"/>
          </a:xfrm>
          <a:prstGeom prst="line">
            <a:avLst/>
          </a:prstGeom>
          <a:noFill/>
          <a:ln w="6350">
            <a:solidFill>
              <a:srgbClr val="C9D3E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666744" y="1417320"/>
            <a:ext cx="91" cy="3291840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813048" y="1417320"/>
            <a:ext cx="91" cy="3291840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959352" y="1417320"/>
            <a:ext cx="91" cy="3291840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105656" y="1417320"/>
            <a:ext cx="91" cy="3291840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251960" y="1417320"/>
            <a:ext cx="91" cy="3291840"/>
          </a:xfrm>
          <a:prstGeom prst="line">
            <a:avLst/>
          </a:prstGeom>
          <a:noFill/>
          <a:ln w="6350">
            <a:solidFill>
              <a:srgbClr val="C9D3E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398264" y="1417320"/>
            <a:ext cx="91" cy="3291840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544568" y="1417320"/>
            <a:ext cx="91" cy="3291840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690872" y="1417320"/>
            <a:ext cx="91" cy="3291840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837176" y="1417320"/>
            <a:ext cx="91" cy="3291840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983480" y="1417320"/>
            <a:ext cx="91" cy="3291840"/>
          </a:xfrm>
          <a:prstGeom prst="line">
            <a:avLst/>
          </a:prstGeom>
          <a:noFill/>
          <a:ln w="6350">
            <a:solidFill>
              <a:srgbClr val="C9D3E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129784" y="1417320"/>
            <a:ext cx="91" cy="3291840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276088" y="1417320"/>
            <a:ext cx="91" cy="3291840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422392" y="1417320"/>
            <a:ext cx="91" cy="3291840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568696" y="1417320"/>
            <a:ext cx="91" cy="3291840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15000" y="1417320"/>
            <a:ext cx="91" cy="3291840"/>
          </a:xfrm>
          <a:prstGeom prst="line">
            <a:avLst/>
          </a:prstGeom>
          <a:noFill/>
          <a:ln w="6350">
            <a:solidFill>
              <a:srgbClr val="C9D3E6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325880" y="4709160"/>
            <a:ext cx="4389120" cy="91"/>
          </a:xfrm>
          <a:prstGeom prst="line">
            <a:avLst/>
          </a:prstGeom>
          <a:noFill/>
          <a:ln w="6350">
            <a:solidFill>
              <a:srgbClr val="C9D3E6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325880" y="4636008"/>
            <a:ext cx="4389120" cy="91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325880" y="4562856"/>
            <a:ext cx="4389120" cy="91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325880" y="4489704"/>
            <a:ext cx="4389120" cy="91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325880" y="4416552"/>
            <a:ext cx="4389120" cy="91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325880" y="4343400"/>
            <a:ext cx="4389120" cy="91"/>
          </a:xfrm>
          <a:prstGeom prst="line">
            <a:avLst/>
          </a:prstGeom>
          <a:noFill/>
          <a:ln w="6350">
            <a:solidFill>
              <a:srgbClr val="C9D3E6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325880" y="4270248"/>
            <a:ext cx="4389120" cy="91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325880" y="4197096"/>
            <a:ext cx="4389120" cy="91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325880" y="4123944"/>
            <a:ext cx="4389120" cy="91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325880" y="4050792"/>
            <a:ext cx="4389120" cy="91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325880" y="3977640"/>
            <a:ext cx="4389120" cy="91"/>
          </a:xfrm>
          <a:prstGeom prst="line">
            <a:avLst/>
          </a:prstGeom>
          <a:noFill/>
          <a:ln w="6350">
            <a:solidFill>
              <a:srgbClr val="C9D3E6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325880" y="3904488"/>
            <a:ext cx="4389120" cy="91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325880" y="3831336"/>
            <a:ext cx="4389120" cy="91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325880" y="3758184"/>
            <a:ext cx="4389120" cy="91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325880" y="3685032"/>
            <a:ext cx="4389120" cy="91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325880" y="3611880"/>
            <a:ext cx="4389120" cy="91"/>
          </a:xfrm>
          <a:prstGeom prst="line">
            <a:avLst/>
          </a:prstGeom>
          <a:noFill/>
          <a:ln w="6350">
            <a:solidFill>
              <a:srgbClr val="C9D3E6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325880" y="3538728"/>
            <a:ext cx="4389120" cy="91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325880" y="3465576"/>
            <a:ext cx="4389120" cy="91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325880" y="3392424"/>
            <a:ext cx="4389120" cy="91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325880" y="3319272"/>
            <a:ext cx="4389120" cy="91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325880" y="3246120"/>
            <a:ext cx="4389120" cy="91"/>
          </a:xfrm>
          <a:prstGeom prst="line">
            <a:avLst/>
          </a:prstGeom>
          <a:noFill/>
          <a:ln w="6350">
            <a:solidFill>
              <a:srgbClr val="C9D3E6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325880" y="3172968"/>
            <a:ext cx="4389120" cy="91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325880" y="3099816"/>
            <a:ext cx="4389120" cy="91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325880" y="3026664"/>
            <a:ext cx="4389120" cy="91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325880" y="2953512"/>
            <a:ext cx="4389120" cy="91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325880" y="2880360"/>
            <a:ext cx="4389120" cy="91"/>
          </a:xfrm>
          <a:prstGeom prst="line">
            <a:avLst/>
          </a:prstGeom>
          <a:noFill/>
          <a:ln w="6350">
            <a:solidFill>
              <a:srgbClr val="C9D3E6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1325880" y="2807208"/>
            <a:ext cx="4389120" cy="91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325880" y="2734056"/>
            <a:ext cx="4389120" cy="91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1325880" y="2660904"/>
            <a:ext cx="4389120" cy="91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1325880" y="2587752"/>
            <a:ext cx="4389120" cy="91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325880" y="2514600"/>
            <a:ext cx="4389120" cy="91"/>
          </a:xfrm>
          <a:prstGeom prst="line">
            <a:avLst/>
          </a:prstGeom>
          <a:noFill/>
          <a:ln w="6350">
            <a:solidFill>
              <a:srgbClr val="C9D3E6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325880" y="2441448"/>
            <a:ext cx="4389120" cy="91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1325880" y="2368296"/>
            <a:ext cx="4389120" cy="91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1325880" y="2295144"/>
            <a:ext cx="4389120" cy="91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1325880" y="2221992"/>
            <a:ext cx="4389120" cy="91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1325880" y="2148840"/>
            <a:ext cx="4389120" cy="91"/>
          </a:xfrm>
          <a:prstGeom prst="line">
            <a:avLst/>
          </a:prstGeom>
          <a:noFill/>
          <a:ln w="6350">
            <a:solidFill>
              <a:srgbClr val="C9D3E6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1325880" y="2075688"/>
            <a:ext cx="4389120" cy="91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1325880" y="2002536"/>
            <a:ext cx="4389120" cy="91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1325880" y="1929384"/>
            <a:ext cx="4389120" cy="91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1325880" y="1856232"/>
            <a:ext cx="4389120" cy="91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1325880" y="1783080"/>
            <a:ext cx="4389120" cy="91"/>
          </a:xfrm>
          <a:prstGeom prst="line">
            <a:avLst/>
          </a:prstGeom>
          <a:noFill/>
          <a:ln w="6350">
            <a:solidFill>
              <a:srgbClr val="C9D3E6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1325880" y="1709928"/>
            <a:ext cx="4389120" cy="91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1325880" y="1636776"/>
            <a:ext cx="4389120" cy="91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1325880" y="1563624"/>
            <a:ext cx="4389120" cy="91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1325880" y="1490472"/>
            <a:ext cx="4389120" cy="91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1325880" y="1417320"/>
            <a:ext cx="4389120" cy="91"/>
          </a:xfrm>
          <a:prstGeom prst="line">
            <a:avLst/>
          </a:prstGeom>
          <a:noFill/>
          <a:ln w="6350">
            <a:solidFill>
              <a:srgbClr val="C9D3E6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1325880" y="4709160"/>
            <a:ext cx="4389120" cy="91"/>
          </a:xfrm>
          <a:prstGeom prst="line">
            <a:avLst/>
          </a:prstGeom>
          <a:noFill/>
          <a:ln w="19050">
            <a:solidFill>
              <a:srgbClr val="1A2340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 flipV="1">
            <a:off x="1325880" y="1417320"/>
            <a:ext cx="91" cy="3291840"/>
          </a:xfrm>
          <a:prstGeom prst="line">
            <a:avLst/>
          </a:prstGeom>
          <a:noFill/>
          <a:ln w="19050">
            <a:solidFill>
              <a:srgbClr val="1A2340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1325880" y="4709160"/>
            <a:ext cx="91" cy="54864"/>
          </a:xfrm>
          <a:prstGeom prst="line">
            <a:avLst/>
          </a:prstGeom>
          <a:noFill/>
          <a:ln w="12700">
            <a:solidFill>
              <a:srgbClr val="1A2340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1051560" y="476402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</a:t>
            </a:r>
            <a:endParaRPr lang="en-US" sz="1000" dirty="0"/>
          </a:p>
        </p:txBody>
      </p:sp>
      <p:sp>
        <p:nvSpPr>
          <p:cNvPr id="94" name="Shape 92"/>
          <p:cNvSpPr/>
          <p:nvPr/>
        </p:nvSpPr>
        <p:spPr>
          <a:xfrm>
            <a:off x="2057400" y="4709160"/>
            <a:ext cx="91" cy="54864"/>
          </a:xfrm>
          <a:prstGeom prst="line">
            <a:avLst/>
          </a:prstGeom>
          <a:noFill/>
          <a:ln w="12700">
            <a:solidFill>
              <a:srgbClr val="1A2340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1783080" y="476402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0.05</a:t>
            </a:r>
            <a:endParaRPr lang="en-US" sz="1000" dirty="0"/>
          </a:p>
        </p:txBody>
      </p:sp>
      <p:sp>
        <p:nvSpPr>
          <p:cNvPr id="96" name="Shape 94"/>
          <p:cNvSpPr/>
          <p:nvPr/>
        </p:nvSpPr>
        <p:spPr>
          <a:xfrm>
            <a:off x="2788920" y="4709160"/>
            <a:ext cx="91" cy="54864"/>
          </a:xfrm>
          <a:prstGeom prst="line">
            <a:avLst/>
          </a:prstGeom>
          <a:noFill/>
          <a:ln w="12700">
            <a:solidFill>
              <a:srgbClr val="1A2340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2514600" y="476402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0.10</a:t>
            </a:r>
            <a:endParaRPr lang="en-US" sz="1000" dirty="0"/>
          </a:p>
        </p:txBody>
      </p:sp>
      <p:sp>
        <p:nvSpPr>
          <p:cNvPr id="98" name="Shape 96"/>
          <p:cNvSpPr/>
          <p:nvPr/>
        </p:nvSpPr>
        <p:spPr>
          <a:xfrm>
            <a:off x="3520440" y="4709160"/>
            <a:ext cx="91" cy="54864"/>
          </a:xfrm>
          <a:prstGeom prst="line">
            <a:avLst/>
          </a:prstGeom>
          <a:noFill/>
          <a:ln w="12700">
            <a:solidFill>
              <a:srgbClr val="1A2340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3246120" y="476402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0.15</a:t>
            </a:r>
            <a:endParaRPr lang="en-US" sz="1000" dirty="0"/>
          </a:p>
        </p:txBody>
      </p:sp>
      <p:sp>
        <p:nvSpPr>
          <p:cNvPr id="100" name="Shape 98"/>
          <p:cNvSpPr/>
          <p:nvPr/>
        </p:nvSpPr>
        <p:spPr>
          <a:xfrm>
            <a:off x="4251960" y="4709160"/>
            <a:ext cx="91" cy="54864"/>
          </a:xfrm>
          <a:prstGeom prst="line">
            <a:avLst/>
          </a:prstGeom>
          <a:noFill/>
          <a:ln w="12700">
            <a:solidFill>
              <a:srgbClr val="1A2340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3977640" y="476402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0.20</a:t>
            </a:r>
            <a:endParaRPr lang="en-US" sz="1000" dirty="0"/>
          </a:p>
        </p:txBody>
      </p:sp>
      <p:sp>
        <p:nvSpPr>
          <p:cNvPr id="102" name="Shape 100"/>
          <p:cNvSpPr/>
          <p:nvPr/>
        </p:nvSpPr>
        <p:spPr>
          <a:xfrm>
            <a:off x="4983480" y="4709160"/>
            <a:ext cx="91" cy="54864"/>
          </a:xfrm>
          <a:prstGeom prst="line">
            <a:avLst/>
          </a:prstGeom>
          <a:noFill/>
          <a:ln w="12700">
            <a:solidFill>
              <a:srgbClr val="1A2340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4709160" y="476402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0.25</a:t>
            </a:r>
            <a:endParaRPr lang="en-US" sz="1000" dirty="0"/>
          </a:p>
        </p:txBody>
      </p:sp>
      <p:sp>
        <p:nvSpPr>
          <p:cNvPr id="104" name="Shape 102"/>
          <p:cNvSpPr/>
          <p:nvPr/>
        </p:nvSpPr>
        <p:spPr>
          <a:xfrm>
            <a:off x="5715000" y="4709160"/>
            <a:ext cx="91" cy="54864"/>
          </a:xfrm>
          <a:prstGeom prst="line">
            <a:avLst/>
          </a:prstGeom>
          <a:noFill/>
          <a:ln w="12700">
            <a:solidFill>
              <a:srgbClr val="1A2340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5440680" y="476402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0.30</a:t>
            </a:r>
            <a:endParaRPr lang="en-US" sz="1000" dirty="0"/>
          </a:p>
        </p:txBody>
      </p:sp>
      <p:sp>
        <p:nvSpPr>
          <p:cNvPr id="106" name="Shape 104"/>
          <p:cNvSpPr/>
          <p:nvPr/>
        </p:nvSpPr>
        <p:spPr>
          <a:xfrm>
            <a:off x="1271016" y="4709160"/>
            <a:ext cx="54864" cy="91"/>
          </a:xfrm>
          <a:prstGeom prst="line">
            <a:avLst/>
          </a:prstGeom>
          <a:noFill/>
          <a:ln w="12700">
            <a:solidFill>
              <a:srgbClr val="1A2340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886968" y="46177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108" name="Shape 106"/>
          <p:cNvSpPr/>
          <p:nvPr/>
        </p:nvSpPr>
        <p:spPr>
          <a:xfrm>
            <a:off x="1271016" y="4343400"/>
            <a:ext cx="54864" cy="91"/>
          </a:xfrm>
          <a:prstGeom prst="line">
            <a:avLst/>
          </a:prstGeom>
          <a:noFill/>
          <a:ln w="12700">
            <a:solidFill>
              <a:srgbClr val="1A2340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886968" y="425196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10" name="Shape 108"/>
          <p:cNvSpPr/>
          <p:nvPr/>
        </p:nvSpPr>
        <p:spPr>
          <a:xfrm>
            <a:off x="1271016" y="3977640"/>
            <a:ext cx="54864" cy="91"/>
          </a:xfrm>
          <a:prstGeom prst="line">
            <a:avLst/>
          </a:prstGeom>
          <a:noFill/>
          <a:ln w="12700">
            <a:solidFill>
              <a:srgbClr val="1A2340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886968" y="38862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12" name="Shape 110"/>
          <p:cNvSpPr/>
          <p:nvPr/>
        </p:nvSpPr>
        <p:spPr>
          <a:xfrm>
            <a:off x="1271016" y="3611880"/>
            <a:ext cx="54864" cy="91"/>
          </a:xfrm>
          <a:prstGeom prst="line">
            <a:avLst/>
          </a:prstGeom>
          <a:noFill/>
          <a:ln w="12700">
            <a:solidFill>
              <a:srgbClr val="1A2340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886968" y="352044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14" name="Shape 112"/>
          <p:cNvSpPr/>
          <p:nvPr/>
        </p:nvSpPr>
        <p:spPr>
          <a:xfrm>
            <a:off x="1271016" y="3246120"/>
            <a:ext cx="54864" cy="91"/>
          </a:xfrm>
          <a:prstGeom prst="line">
            <a:avLst/>
          </a:prstGeom>
          <a:noFill/>
          <a:ln w="12700">
            <a:solidFill>
              <a:srgbClr val="1A2340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886968" y="315468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16" name="Shape 114"/>
          <p:cNvSpPr/>
          <p:nvPr/>
        </p:nvSpPr>
        <p:spPr>
          <a:xfrm>
            <a:off x="1271016" y="2880360"/>
            <a:ext cx="54864" cy="91"/>
          </a:xfrm>
          <a:prstGeom prst="line">
            <a:avLst/>
          </a:prstGeom>
          <a:noFill/>
          <a:ln w="12700">
            <a:solidFill>
              <a:srgbClr val="1A2340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886968" y="27889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118" name="Shape 116"/>
          <p:cNvSpPr/>
          <p:nvPr/>
        </p:nvSpPr>
        <p:spPr>
          <a:xfrm>
            <a:off x="1271016" y="2514600"/>
            <a:ext cx="54864" cy="91"/>
          </a:xfrm>
          <a:prstGeom prst="line">
            <a:avLst/>
          </a:prstGeom>
          <a:noFill/>
          <a:ln w="12700">
            <a:solidFill>
              <a:srgbClr val="1A2340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886968" y="242316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120" name="Shape 118"/>
          <p:cNvSpPr/>
          <p:nvPr/>
        </p:nvSpPr>
        <p:spPr>
          <a:xfrm>
            <a:off x="1271016" y="2148840"/>
            <a:ext cx="54864" cy="91"/>
          </a:xfrm>
          <a:prstGeom prst="line">
            <a:avLst/>
          </a:prstGeom>
          <a:noFill/>
          <a:ln w="12700">
            <a:solidFill>
              <a:srgbClr val="1A2340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886968" y="20574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122" name="Shape 120"/>
          <p:cNvSpPr/>
          <p:nvPr/>
        </p:nvSpPr>
        <p:spPr>
          <a:xfrm>
            <a:off x="1271016" y="1783080"/>
            <a:ext cx="54864" cy="91"/>
          </a:xfrm>
          <a:prstGeom prst="line">
            <a:avLst/>
          </a:prstGeom>
          <a:noFill/>
          <a:ln w="12700">
            <a:solidFill>
              <a:srgbClr val="1A2340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886968" y="169164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124" name="Shape 122"/>
          <p:cNvSpPr/>
          <p:nvPr/>
        </p:nvSpPr>
        <p:spPr>
          <a:xfrm>
            <a:off x="1271016" y="1417320"/>
            <a:ext cx="54864" cy="91"/>
          </a:xfrm>
          <a:prstGeom prst="line">
            <a:avLst/>
          </a:prstGeom>
          <a:noFill/>
          <a:ln w="12700">
            <a:solidFill>
              <a:srgbClr val="1A2340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886968" y="132588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126" name="Text 124"/>
          <p:cNvSpPr/>
          <p:nvPr/>
        </p:nvSpPr>
        <p:spPr>
          <a:xfrm>
            <a:off x="1325880" y="495604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 / m</a:t>
            </a:r>
            <a:endParaRPr lang="en-US" sz="1050" dirty="0"/>
          </a:p>
        </p:txBody>
      </p:sp>
      <p:sp>
        <p:nvSpPr>
          <p:cNvPr id="127" name="Text 125"/>
          <p:cNvSpPr/>
          <p:nvPr/>
        </p:nvSpPr>
        <p:spPr>
          <a:xfrm rot="16200000">
            <a:off x="-886968" y="293522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 / N</a:t>
            </a:r>
            <a:endParaRPr lang="en-US" sz="1050" dirty="0"/>
          </a:p>
        </p:txBody>
      </p:sp>
      <p:sp>
        <p:nvSpPr>
          <p:cNvPr id="128" name="Shape 126"/>
          <p:cNvSpPr/>
          <p:nvPr/>
        </p:nvSpPr>
        <p:spPr>
          <a:xfrm>
            <a:off x="1325880" y="4636008"/>
            <a:ext cx="146304" cy="73152"/>
          </a:xfrm>
          <a:prstGeom prst="rect">
            <a:avLst/>
          </a:prstGeom>
          <a:solidFill>
            <a:srgbClr val="F5A742">
              <a:alpha val="40000"/>
            </a:srgbClr>
          </a:solidFill>
          <a:ln/>
        </p:spPr>
      </p:sp>
      <p:sp>
        <p:nvSpPr>
          <p:cNvPr id="129" name="Shape 127"/>
          <p:cNvSpPr/>
          <p:nvPr/>
        </p:nvSpPr>
        <p:spPr>
          <a:xfrm>
            <a:off x="1472184" y="4489704"/>
            <a:ext cx="146304" cy="219456"/>
          </a:xfrm>
          <a:prstGeom prst="rect">
            <a:avLst/>
          </a:prstGeom>
          <a:solidFill>
            <a:srgbClr val="F5A742">
              <a:alpha val="40000"/>
            </a:srgbClr>
          </a:solidFill>
          <a:ln/>
        </p:spPr>
      </p:sp>
      <p:sp>
        <p:nvSpPr>
          <p:cNvPr id="130" name="Shape 128"/>
          <p:cNvSpPr/>
          <p:nvPr/>
        </p:nvSpPr>
        <p:spPr>
          <a:xfrm>
            <a:off x="1618488" y="4343400"/>
            <a:ext cx="146304" cy="365760"/>
          </a:xfrm>
          <a:prstGeom prst="rect">
            <a:avLst/>
          </a:prstGeom>
          <a:solidFill>
            <a:srgbClr val="F5A742">
              <a:alpha val="40000"/>
            </a:srgbClr>
          </a:solidFill>
          <a:ln/>
        </p:spPr>
      </p:sp>
      <p:sp>
        <p:nvSpPr>
          <p:cNvPr id="131" name="Shape 129"/>
          <p:cNvSpPr/>
          <p:nvPr/>
        </p:nvSpPr>
        <p:spPr>
          <a:xfrm>
            <a:off x="1764792" y="4197096"/>
            <a:ext cx="146304" cy="512064"/>
          </a:xfrm>
          <a:prstGeom prst="rect">
            <a:avLst/>
          </a:prstGeom>
          <a:solidFill>
            <a:srgbClr val="F5A742">
              <a:alpha val="40000"/>
            </a:srgbClr>
          </a:solidFill>
          <a:ln/>
        </p:spPr>
      </p:sp>
      <p:sp>
        <p:nvSpPr>
          <p:cNvPr id="132" name="Shape 130"/>
          <p:cNvSpPr/>
          <p:nvPr/>
        </p:nvSpPr>
        <p:spPr>
          <a:xfrm>
            <a:off x="1911096" y="4050792"/>
            <a:ext cx="146304" cy="658368"/>
          </a:xfrm>
          <a:prstGeom prst="rect">
            <a:avLst/>
          </a:prstGeom>
          <a:solidFill>
            <a:srgbClr val="F5A742">
              <a:alpha val="40000"/>
            </a:srgbClr>
          </a:solidFill>
          <a:ln/>
        </p:spPr>
      </p:sp>
      <p:sp>
        <p:nvSpPr>
          <p:cNvPr id="133" name="Shape 131"/>
          <p:cNvSpPr/>
          <p:nvPr/>
        </p:nvSpPr>
        <p:spPr>
          <a:xfrm>
            <a:off x="2057400" y="3904488"/>
            <a:ext cx="146304" cy="804672"/>
          </a:xfrm>
          <a:prstGeom prst="rect">
            <a:avLst/>
          </a:prstGeom>
          <a:solidFill>
            <a:srgbClr val="F5A742">
              <a:alpha val="40000"/>
            </a:srgbClr>
          </a:solidFill>
          <a:ln/>
        </p:spPr>
      </p:sp>
      <p:sp>
        <p:nvSpPr>
          <p:cNvPr id="134" name="Shape 132"/>
          <p:cNvSpPr/>
          <p:nvPr/>
        </p:nvSpPr>
        <p:spPr>
          <a:xfrm>
            <a:off x="2203704" y="3758184"/>
            <a:ext cx="146304" cy="950976"/>
          </a:xfrm>
          <a:prstGeom prst="rect">
            <a:avLst/>
          </a:prstGeom>
          <a:solidFill>
            <a:srgbClr val="F5A742">
              <a:alpha val="40000"/>
            </a:srgbClr>
          </a:solidFill>
          <a:ln/>
        </p:spPr>
      </p:sp>
      <p:sp>
        <p:nvSpPr>
          <p:cNvPr id="135" name="Shape 133"/>
          <p:cNvSpPr/>
          <p:nvPr/>
        </p:nvSpPr>
        <p:spPr>
          <a:xfrm>
            <a:off x="2350008" y="3611880"/>
            <a:ext cx="146304" cy="1097280"/>
          </a:xfrm>
          <a:prstGeom prst="rect">
            <a:avLst/>
          </a:prstGeom>
          <a:solidFill>
            <a:srgbClr val="F5A742">
              <a:alpha val="40000"/>
            </a:srgbClr>
          </a:solidFill>
          <a:ln/>
        </p:spPr>
      </p:sp>
      <p:sp>
        <p:nvSpPr>
          <p:cNvPr id="136" name="Shape 134"/>
          <p:cNvSpPr/>
          <p:nvPr/>
        </p:nvSpPr>
        <p:spPr>
          <a:xfrm>
            <a:off x="2496312" y="3465576"/>
            <a:ext cx="146304" cy="1243584"/>
          </a:xfrm>
          <a:prstGeom prst="rect">
            <a:avLst/>
          </a:prstGeom>
          <a:solidFill>
            <a:srgbClr val="F5A742">
              <a:alpha val="40000"/>
            </a:srgbClr>
          </a:solidFill>
          <a:ln/>
        </p:spPr>
      </p:sp>
      <p:sp>
        <p:nvSpPr>
          <p:cNvPr id="137" name="Shape 135"/>
          <p:cNvSpPr/>
          <p:nvPr/>
        </p:nvSpPr>
        <p:spPr>
          <a:xfrm>
            <a:off x="2642616" y="3319272"/>
            <a:ext cx="146304" cy="1389888"/>
          </a:xfrm>
          <a:prstGeom prst="rect">
            <a:avLst/>
          </a:prstGeom>
          <a:solidFill>
            <a:srgbClr val="F5A742">
              <a:alpha val="40000"/>
            </a:srgbClr>
          </a:solidFill>
          <a:ln/>
        </p:spPr>
      </p:sp>
      <p:sp>
        <p:nvSpPr>
          <p:cNvPr id="138" name="Shape 136"/>
          <p:cNvSpPr/>
          <p:nvPr/>
        </p:nvSpPr>
        <p:spPr>
          <a:xfrm>
            <a:off x="2788920" y="3172968"/>
            <a:ext cx="146304" cy="1536192"/>
          </a:xfrm>
          <a:prstGeom prst="rect">
            <a:avLst/>
          </a:prstGeom>
          <a:solidFill>
            <a:srgbClr val="F5A742">
              <a:alpha val="40000"/>
            </a:srgbClr>
          </a:solidFill>
          <a:ln/>
        </p:spPr>
      </p:sp>
      <p:sp>
        <p:nvSpPr>
          <p:cNvPr id="139" name="Shape 137"/>
          <p:cNvSpPr/>
          <p:nvPr/>
        </p:nvSpPr>
        <p:spPr>
          <a:xfrm>
            <a:off x="2935224" y="3026664"/>
            <a:ext cx="146304" cy="1682496"/>
          </a:xfrm>
          <a:prstGeom prst="rect">
            <a:avLst/>
          </a:prstGeom>
          <a:solidFill>
            <a:srgbClr val="F5A742">
              <a:alpha val="40000"/>
            </a:srgbClr>
          </a:solidFill>
          <a:ln/>
        </p:spPr>
      </p:sp>
      <p:sp>
        <p:nvSpPr>
          <p:cNvPr id="140" name="Shape 138"/>
          <p:cNvSpPr/>
          <p:nvPr/>
        </p:nvSpPr>
        <p:spPr>
          <a:xfrm>
            <a:off x="3081528" y="2880360"/>
            <a:ext cx="146304" cy="1828800"/>
          </a:xfrm>
          <a:prstGeom prst="rect">
            <a:avLst/>
          </a:prstGeom>
          <a:solidFill>
            <a:srgbClr val="F5A742">
              <a:alpha val="40000"/>
            </a:srgbClr>
          </a:solidFill>
          <a:ln/>
        </p:spPr>
      </p:sp>
      <p:sp>
        <p:nvSpPr>
          <p:cNvPr id="141" name="Shape 139"/>
          <p:cNvSpPr/>
          <p:nvPr/>
        </p:nvSpPr>
        <p:spPr>
          <a:xfrm>
            <a:off x="3227832" y="2734056"/>
            <a:ext cx="146304" cy="1975104"/>
          </a:xfrm>
          <a:prstGeom prst="rect">
            <a:avLst/>
          </a:prstGeom>
          <a:solidFill>
            <a:srgbClr val="F5A742">
              <a:alpha val="40000"/>
            </a:srgbClr>
          </a:solidFill>
          <a:ln/>
        </p:spPr>
      </p:sp>
      <p:sp>
        <p:nvSpPr>
          <p:cNvPr id="142" name="Shape 140"/>
          <p:cNvSpPr/>
          <p:nvPr/>
        </p:nvSpPr>
        <p:spPr>
          <a:xfrm>
            <a:off x="3374136" y="2587752"/>
            <a:ext cx="146304" cy="2121408"/>
          </a:xfrm>
          <a:prstGeom prst="rect">
            <a:avLst/>
          </a:prstGeom>
          <a:solidFill>
            <a:srgbClr val="F5A742">
              <a:alpha val="40000"/>
            </a:srgbClr>
          </a:solidFill>
          <a:ln/>
        </p:spPr>
      </p:sp>
      <p:sp>
        <p:nvSpPr>
          <p:cNvPr id="143" name="Shape 141"/>
          <p:cNvSpPr/>
          <p:nvPr/>
        </p:nvSpPr>
        <p:spPr>
          <a:xfrm>
            <a:off x="3520440" y="2444413"/>
            <a:ext cx="146304" cy="2264747"/>
          </a:xfrm>
          <a:prstGeom prst="rect">
            <a:avLst/>
          </a:prstGeom>
          <a:solidFill>
            <a:srgbClr val="F5A742">
              <a:alpha val="40000"/>
            </a:srgbClr>
          </a:solidFill>
          <a:ln/>
        </p:spPr>
      </p:sp>
      <p:sp>
        <p:nvSpPr>
          <p:cNvPr id="144" name="Shape 142"/>
          <p:cNvSpPr/>
          <p:nvPr/>
        </p:nvSpPr>
        <p:spPr>
          <a:xfrm>
            <a:off x="3666744" y="2320426"/>
            <a:ext cx="146304" cy="2388734"/>
          </a:xfrm>
          <a:prstGeom prst="rect">
            <a:avLst/>
          </a:prstGeom>
          <a:solidFill>
            <a:srgbClr val="F5A742">
              <a:alpha val="40000"/>
            </a:srgbClr>
          </a:solidFill>
          <a:ln/>
        </p:spPr>
      </p:sp>
      <p:sp>
        <p:nvSpPr>
          <p:cNvPr id="145" name="Shape 143"/>
          <p:cNvSpPr/>
          <p:nvPr/>
        </p:nvSpPr>
        <p:spPr>
          <a:xfrm>
            <a:off x="3813048" y="2215473"/>
            <a:ext cx="146304" cy="2493687"/>
          </a:xfrm>
          <a:prstGeom prst="rect">
            <a:avLst/>
          </a:prstGeom>
          <a:solidFill>
            <a:srgbClr val="F5A742">
              <a:alpha val="40000"/>
            </a:srgbClr>
          </a:solidFill>
          <a:ln/>
        </p:spPr>
      </p:sp>
      <p:sp>
        <p:nvSpPr>
          <p:cNvPr id="146" name="Shape 144"/>
          <p:cNvSpPr/>
          <p:nvPr/>
        </p:nvSpPr>
        <p:spPr>
          <a:xfrm>
            <a:off x="3959352" y="2126633"/>
            <a:ext cx="146304" cy="2582527"/>
          </a:xfrm>
          <a:prstGeom prst="rect">
            <a:avLst/>
          </a:prstGeom>
          <a:solidFill>
            <a:srgbClr val="F5A742">
              <a:alpha val="40000"/>
            </a:srgbClr>
          </a:solidFill>
          <a:ln/>
        </p:spPr>
      </p:sp>
      <p:sp>
        <p:nvSpPr>
          <p:cNvPr id="147" name="Shape 145"/>
          <p:cNvSpPr/>
          <p:nvPr/>
        </p:nvSpPr>
        <p:spPr>
          <a:xfrm>
            <a:off x="4105656" y="2051431"/>
            <a:ext cx="146304" cy="2657729"/>
          </a:xfrm>
          <a:prstGeom prst="rect">
            <a:avLst/>
          </a:prstGeom>
          <a:solidFill>
            <a:srgbClr val="F5A742">
              <a:alpha val="40000"/>
            </a:srgbClr>
          </a:solidFill>
          <a:ln/>
        </p:spPr>
      </p:sp>
      <p:sp>
        <p:nvSpPr>
          <p:cNvPr id="148" name="Shape 146"/>
          <p:cNvSpPr/>
          <p:nvPr/>
        </p:nvSpPr>
        <p:spPr>
          <a:xfrm>
            <a:off x="4251960" y="1987774"/>
            <a:ext cx="146304" cy="2721386"/>
          </a:xfrm>
          <a:prstGeom prst="rect">
            <a:avLst/>
          </a:prstGeom>
          <a:solidFill>
            <a:srgbClr val="F5A742">
              <a:alpha val="40000"/>
            </a:srgbClr>
          </a:solidFill>
          <a:ln/>
        </p:spPr>
      </p:sp>
      <p:sp>
        <p:nvSpPr>
          <p:cNvPr id="149" name="Shape 147"/>
          <p:cNvSpPr/>
          <p:nvPr/>
        </p:nvSpPr>
        <p:spPr>
          <a:xfrm>
            <a:off x="4398264" y="1933889"/>
            <a:ext cx="146304" cy="2775271"/>
          </a:xfrm>
          <a:prstGeom prst="rect">
            <a:avLst/>
          </a:prstGeom>
          <a:solidFill>
            <a:srgbClr val="F5A742">
              <a:alpha val="40000"/>
            </a:srgbClr>
          </a:solidFill>
          <a:ln/>
        </p:spPr>
      </p:sp>
      <p:sp>
        <p:nvSpPr>
          <p:cNvPr id="150" name="Shape 148"/>
          <p:cNvSpPr/>
          <p:nvPr/>
        </p:nvSpPr>
        <p:spPr>
          <a:xfrm>
            <a:off x="4544568" y="1888277"/>
            <a:ext cx="146304" cy="2820883"/>
          </a:xfrm>
          <a:prstGeom prst="rect">
            <a:avLst/>
          </a:prstGeom>
          <a:solidFill>
            <a:srgbClr val="F5A742">
              <a:alpha val="40000"/>
            </a:srgbClr>
          </a:solidFill>
          <a:ln/>
        </p:spPr>
      </p:sp>
      <p:sp>
        <p:nvSpPr>
          <p:cNvPr id="151" name="Shape 149"/>
          <p:cNvSpPr/>
          <p:nvPr/>
        </p:nvSpPr>
        <p:spPr>
          <a:xfrm>
            <a:off x="4690872" y="1849667"/>
            <a:ext cx="146304" cy="2859493"/>
          </a:xfrm>
          <a:prstGeom prst="rect">
            <a:avLst/>
          </a:prstGeom>
          <a:solidFill>
            <a:srgbClr val="F5A742">
              <a:alpha val="40000"/>
            </a:srgbClr>
          </a:solidFill>
          <a:ln/>
        </p:spPr>
      </p:sp>
      <p:sp>
        <p:nvSpPr>
          <p:cNvPr id="152" name="Shape 150"/>
          <p:cNvSpPr/>
          <p:nvPr/>
        </p:nvSpPr>
        <p:spPr>
          <a:xfrm>
            <a:off x="4837176" y="1816984"/>
            <a:ext cx="146304" cy="2892176"/>
          </a:xfrm>
          <a:prstGeom prst="rect">
            <a:avLst/>
          </a:prstGeom>
          <a:solidFill>
            <a:srgbClr val="F5A742">
              <a:alpha val="40000"/>
            </a:srgbClr>
          </a:solidFill>
          <a:ln/>
        </p:spPr>
      </p:sp>
      <p:sp>
        <p:nvSpPr>
          <p:cNvPr id="153" name="Shape 151"/>
          <p:cNvSpPr/>
          <p:nvPr/>
        </p:nvSpPr>
        <p:spPr>
          <a:xfrm>
            <a:off x="4983480" y="1789319"/>
            <a:ext cx="146304" cy="2919841"/>
          </a:xfrm>
          <a:prstGeom prst="rect">
            <a:avLst/>
          </a:prstGeom>
          <a:solidFill>
            <a:srgbClr val="F5A742">
              <a:alpha val="40000"/>
            </a:srgbClr>
          </a:solidFill>
          <a:ln/>
        </p:spPr>
      </p:sp>
      <p:sp>
        <p:nvSpPr>
          <p:cNvPr id="154" name="Shape 152"/>
          <p:cNvSpPr/>
          <p:nvPr/>
        </p:nvSpPr>
        <p:spPr>
          <a:xfrm>
            <a:off x="5129784" y="1765901"/>
            <a:ext cx="146304" cy="2943259"/>
          </a:xfrm>
          <a:prstGeom prst="rect">
            <a:avLst/>
          </a:prstGeom>
          <a:solidFill>
            <a:srgbClr val="F5A742">
              <a:alpha val="40000"/>
            </a:srgbClr>
          </a:solidFill>
          <a:ln/>
        </p:spPr>
      </p:sp>
      <p:sp>
        <p:nvSpPr>
          <p:cNvPr id="155" name="Shape 153"/>
          <p:cNvSpPr/>
          <p:nvPr/>
        </p:nvSpPr>
        <p:spPr>
          <a:xfrm>
            <a:off x="5276088" y="1746078"/>
            <a:ext cx="146304" cy="2963082"/>
          </a:xfrm>
          <a:prstGeom prst="rect">
            <a:avLst/>
          </a:prstGeom>
          <a:solidFill>
            <a:srgbClr val="F5A742">
              <a:alpha val="40000"/>
            </a:srgbClr>
          </a:solidFill>
          <a:ln/>
        </p:spPr>
      </p:sp>
      <p:sp>
        <p:nvSpPr>
          <p:cNvPr id="156" name="Shape 154"/>
          <p:cNvSpPr/>
          <p:nvPr/>
        </p:nvSpPr>
        <p:spPr>
          <a:xfrm>
            <a:off x="5422392" y="1729298"/>
            <a:ext cx="146304" cy="2979862"/>
          </a:xfrm>
          <a:prstGeom prst="rect">
            <a:avLst/>
          </a:prstGeom>
          <a:solidFill>
            <a:srgbClr val="F5A742">
              <a:alpha val="40000"/>
            </a:srgbClr>
          </a:solidFill>
          <a:ln/>
        </p:spPr>
      </p:sp>
      <p:sp>
        <p:nvSpPr>
          <p:cNvPr id="157" name="Shape 155"/>
          <p:cNvSpPr/>
          <p:nvPr/>
        </p:nvSpPr>
        <p:spPr>
          <a:xfrm>
            <a:off x="5568696" y="1715094"/>
            <a:ext cx="146304" cy="2994066"/>
          </a:xfrm>
          <a:prstGeom prst="rect">
            <a:avLst/>
          </a:prstGeom>
          <a:solidFill>
            <a:srgbClr val="F5A742">
              <a:alpha val="40000"/>
            </a:srgbClr>
          </a:solidFill>
          <a:ln/>
        </p:spPr>
      </p:sp>
      <p:sp>
        <p:nvSpPr>
          <p:cNvPr id="158" name="Shape 156"/>
          <p:cNvSpPr/>
          <p:nvPr/>
        </p:nvSpPr>
        <p:spPr>
          <a:xfrm flipV="1">
            <a:off x="1325880" y="4343400"/>
            <a:ext cx="365760" cy="365760"/>
          </a:xfrm>
          <a:prstGeom prst="line">
            <a:avLst/>
          </a:prstGeom>
          <a:noFill/>
          <a:ln w="31750">
            <a:solidFill>
              <a:srgbClr val="2E5BD8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 flipV="1">
            <a:off x="1691640" y="3977640"/>
            <a:ext cx="365760" cy="365760"/>
          </a:xfrm>
          <a:prstGeom prst="line">
            <a:avLst/>
          </a:prstGeom>
          <a:noFill/>
          <a:ln w="31750">
            <a:solidFill>
              <a:srgbClr val="2E5BD8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 flipV="1">
            <a:off x="2057400" y="3611880"/>
            <a:ext cx="365760" cy="365760"/>
          </a:xfrm>
          <a:prstGeom prst="line">
            <a:avLst/>
          </a:prstGeom>
          <a:noFill/>
          <a:ln w="31750">
            <a:solidFill>
              <a:srgbClr val="2E5BD8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 flipV="1">
            <a:off x="2423160" y="3246120"/>
            <a:ext cx="365760" cy="365760"/>
          </a:xfrm>
          <a:prstGeom prst="line">
            <a:avLst/>
          </a:prstGeom>
          <a:noFill/>
          <a:ln w="31750">
            <a:solidFill>
              <a:srgbClr val="2E5BD8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 flipV="1">
            <a:off x="2788920" y="2880360"/>
            <a:ext cx="365760" cy="365760"/>
          </a:xfrm>
          <a:prstGeom prst="line">
            <a:avLst/>
          </a:prstGeom>
          <a:noFill/>
          <a:ln w="31750">
            <a:solidFill>
              <a:srgbClr val="2E5BD8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 flipV="1">
            <a:off x="3154680" y="2514600"/>
            <a:ext cx="365760" cy="365760"/>
          </a:xfrm>
          <a:prstGeom prst="line">
            <a:avLst/>
          </a:prstGeom>
          <a:noFill/>
          <a:ln w="31750">
            <a:solidFill>
              <a:srgbClr val="2E5BD8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 flipV="1">
            <a:off x="3520440" y="2444413"/>
            <a:ext cx="73152" cy="70187"/>
          </a:xfrm>
          <a:prstGeom prst="line">
            <a:avLst/>
          </a:prstGeom>
          <a:noFill/>
          <a:ln w="31750">
            <a:solidFill>
              <a:srgbClr val="C8414C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 flipV="1">
            <a:off x="3593592" y="2379838"/>
            <a:ext cx="73152" cy="64575"/>
          </a:xfrm>
          <a:prstGeom prst="line">
            <a:avLst/>
          </a:prstGeom>
          <a:noFill/>
          <a:ln w="31750">
            <a:solidFill>
              <a:srgbClr val="C8414C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 flipV="1">
            <a:off x="3666744" y="2320426"/>
            <a:ext cx="73152" cy="59412"/>
          </a:xfrm>
          <a:prstGeom prst="line">
            <a:avLst/>
          </a:prstGeom>
          <a:noFill/>
          <a:ln w="31750">
            <a:solidFill>
              <a:srgbClr val="C8414C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 flipV="1">
            <a:off x="3739896" y="2265764"/>
            <a:ext cx="73152" cy="54662"/>
          </a:xfrm>
          <a:prstGeom prst="line">
            <a:avLst/>
          </a:prstGeom>
          <a:noFill/>
          <a:ln w="31750">
            <a:solidFill>
              <a:srgbClr val="C8414C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 flipV="1">
            <a:off x="3813048" y="2215473"/>
            <a:ext cx="73152" cy="50291"/>
          </a:xfrm>
          <a:prstGeom prst="line">
            <a:avLst/>
          </a:prstGeom>
          <a:noFill/>
          <a:ln w="31750">
            <a:solidFill>
              <a:srgbClr val="C8414C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 flipV="1">
            <a:off x="3886200" y="2169203"/>
            <a:ext cx="73152" cy="46270"/>
          </a:xfrm>
          <a:prstGeom prst="line">
            <a:avLst/>
          </a:prstGeom>
          <a:noFill/>
          <a:ln w="31750">
            <a:solidFill>
              <a:srgbClr val="C8414C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 flipV="1">
            <a:off x="3959352" y="2126633"/>
            <a:ext cx="73152" cy="42571"/>
          </a:xfrm>
          <a:prstGeom prst="line">
            <a:avLst/>
          </a:prstGeom>
          <a:noFill/>
          <a:ln w="31750">
            <a:solidFill>
              <a:srgbClr val="C8414C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 flipV="1">
            <a:off x="4032504" y="2087466"/>
            <a:ext cx="73152" cy="39167"/>
          </a:xfrm>
          <a:prstGeom prst="line">
            <a:avLst/>
          </a:prstGeom>
          <a:noFill/>
          <a:ln w="31750">
            <a:solidFill>
              <a:srgbClr val="C8414C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 flipV="1">
            <a:off x="4105656" y="2051431"/>
            <a:ext cx="73152" cy="36035"/>
          </a:xfrm>
          <a:prstGeom prst="line">
            <a:avLst/>
          </a:prstGeom>
          <a:noFill/>
          <a:ln w="31750">
            <a:solidFill>
              <a:srgbClr val="C8414C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 flipV="1">
            <a:off x="4178808" y="2018277"/>
            <a:ext cx="73152" cy="33154"/>
          </a:xfrm>
          <a:prstGeom prst="line">
            <a:avLst/>
          </a:prstGeom>
          <a:noFill/>
          <a:ln w="31750">
            <a:solidFill>
              <a:srgbClr val="C8414C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 flipV="1">
            <a:off x="4251960" y="1987774"/>
            <a:ext cx="73152" cy="30503"/>
          </a:xfrm>
          <a:prstGeom prst="line">
            <a:avLst/>
          </a:prstGeom>
          <a:noFill/>
          <a:ln w="31750">
            <a:solidFill>
              <a:srgbClr val="C8414C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 flipV="1">
            <a:off x="4325112" y="1959709"/>
            <a:ext cx="73152" cy="28064"/>
          </a:xfrm>
          <a:prstGeom prst="line">
            <a:avLst/>
          </a:prstGeom>
          <a:noFill/>
          <a:ln w="31750">
            <a:solidFill>
              <a:srgbClr val="C8414C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 flipV="1">
            <a:off x="4398264" y="1933889"/>
            <a:ext cx="73152" cy="25820"/>
          </a:xfrm>
          <a:prstGeom prst="line">
            <a:avLst/>
          </a:prstGeom>
          <a:noFill/>
          <a:ln w="31750">
            <a:solidFill>
              <a:srgbClr val="C8414C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 flipV="1">
            <a:off x="4471416" y="1910133"/>
            <a:ext cx="73152" cy="23756"/>
          </a:xfrm>
          <a:prstGeom prst="line">
            <a:avLst/>
          </a:prstGeom>
          <a:noFill/>
          <a:ln w="31750">
            <a:solidFill>
              <a:srgbClr val="C8414C"/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 flipV="1">
            <a:off x="4544568" y="1888277"/>
            <a:ext cx="73152" cy="21856"/>
          </a:xfrm>
          <a:prstGeom prst="line">
            <a:avLst/>
          </a:prstGeom>
          <a:noFill/>
          <a:ln w="31750">
            <a:solidFill>
              <a:srgbClr val="C8414C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 flipV="1">
            <a:off x="4617720" y="1868168"/>
            <a:ext cx="73152" cy="20109"/>
          </a:xfrm>
          <a:prstGeom prst="line">
            <a:avLst/>
          </a:prstGeom>
          <a:noFill/>
          <a:ln w="31750">
            <a:solidFill>
              <a:srgbClr val="C8414C"/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 flipV="1">
            <a:off x="4690872" y="1849667"/>
            <a:ext cx="73152" cy="18501"/>
          </a:xfrm>
          <a:prstGeom prst="line">
            <a:avLst/>
          </a:prstGeom>
          <a:noFill/>
          <a:ln w="31750">
            <a:solidFill>
              <a:srgbClr val="C8414C"/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 flipV="1">
            <a:off x="4764024" y="1832645"/>
            <a:ext cx="73152" cy="17022"/>
          </a:xfrm>
          <a:prstGeom prst="line">
            <a:avLst/>
          </a:prstGeom>
          <a:noFill/>
          <a:ln w="31750">
            <a:solidFill>
              <a:srgbClr val="C8414C"/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 flipV="1">
            <a:off x="4837176" y="1816984"/>
            <a:ext cx="73152" cy="15661"/>
          </a:xfrm>
          <a:prstGeom prst="line">
            <a:avLst/>
          </a:prstGeom>
          <a:noFill/>
          <a:ln w="31750">
            <a:solidFill>
              <a:srgbClr val="C8414C"/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 flipV="1">
            <a:off x="4910328" y="1802576"/>
            <a:ext cx="73152" cy="14409"/>
          </a:xfrm>
          <a:prstGeom prst="line">
            <a:avLst/>
          </a:prstGeom>
          <a:noFill/>
          <a:ln w="31750">
            <a:solidFill>
              <a:srgbClr val="C8414C"/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 flipV="1">
            <a:off x="4983480" y="1789319"/>
            <a:ext cx="73152" cy="13257"/>
          </a:xfrm>
          <a:prstGeom prst="line">
            <a:avLst/>
          </a:prstGeom>
          <a:noFill/>
          <a:ln w="31750">
            <a:solidFill>
              <a:srgbClr val="C8414C"/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 flipV="1">
            <a:off x="5056632" y="1777122"/>
            <a:ext cx="73152" cy="12197"/>
          </a:xfrm>
          <a:prstGeom prst="line">
            <a:avLst/>
          </a:prstGeom>
          <a:noFill/>
          <a:ln w="31750">
            <a:solidFill>
              <a:srgbClr val="C8414C"/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 flipV="1">
            <a:off x="5129784" y="1765901"/>
            <a:ext cx="73152" cy="11221"/>
          </a:xfrm>
          <a:prstGeom prst="line">
            <a:avLst/>
          </a:prstGeom>
          <a:noFill/>
          <a:ln w="31750">
            <a:solidFill>
              <a:srgbClr val="C8414C"/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 flipV="1">
            <a:off x="5202936" y="1755577"/>
            <a:ext cx="73152" cy="10324"/>
          </a:xfrm>
          <a:prstGeom prst="line">
            <a:avLst/>
          </a:prstGeom>
          <a:noFill/>
          <a:ln w="31750">
            <a:solidFill>
              <a:srgbClr val="C8414C"/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 flipV="1">
            <a:off x="5276088" y="1746078"/>
            <a:ext cx="73152" cy="9499"/>
          </a:xfrm>
          <a:prstGeom prst="line">
            <a:avLst/>
          </a:prstGeom>
          <a:noFill/>
          <a:ln w="31750">
            <a:solidFill>
              <a:srgbClr val="C8414C"/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 flipV="1">
            <a:off x="5349240" y="1737339"/>
            <a:ext cx="73152" cy="8739"/>
          </a:xfrm>
          <a:prstGeom prst="line">
            <a:avLst/>
          </a:prstGeom>
          <a:noFill/>
          <a:ln w="31750">
            <a:solidFill>
              <a:srgbClr val="C8414C"/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 flipV="1">
            <a:off x="5422392" y="1729298"/>
            <a:ext cx="73152" cy="8041"/>
          </a:xfrm>
          <a:prstGeom prst="line">
            <a:avLst/>
          </a:prstGeom>
          <a:noFill/>
          <a:ln w="31750">
            <a:solidFill>
              <a:srgbClr val="C8414C"/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 flipV="1">
            <a:off x="5495544" y="1721900"/>
            <a:ext cx="73152" cy="7398"/>
          </a:xfrm>
          <a:prstGeom prst="line">
            <a:avLst/>
          </a:prstGeom>
          <a:noFill/>
          <a:ln w="31750">
            <a:solidFill>
              <a:srgbClr val="C8414C"/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 flipV="1">
            <a:off x="5568696" y="1715094"/>
            <a:ext cx="73152" cy="6806"/>
          </a:xfrm>
          <a:prstGeom prst="line">
            <a:avLst/>
          </a:prstGeom>
          <a:noFill/>
          <a:ln w="31750">
            <a:solidFill>
              <a:srgbClr val="C8414C"/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 flipV="1">
            <a:off x="5641848" y="1708832"/>
            <a:ext cx="73152" cy="6262"/>
          </a:xfrm>
          <a:prstGeom prst="line">
            <a:avLst/>
          </a:prstGeom>
          <a:noFill/>
          <a:ln w="31750">
            <a:solidFill>
              <a:srgbClr val="C8414C"/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1325880" y="1417320"/>
            <a:ext cx="731520" cy="365760"/>
          </a:xfrm>
          <a:prstGeom prst="rect">
            <a:avLst/>
          </a:prstGeom>
          <a:ln w="19050">
            <a:solidFill>
              <a:srgbClr val="1A2340"/>
            </a:solidFill>
            <a:prstDash val="solid"/>
          </a:ln>
        </p:spPr>
      </p:sp>
      <p:sp>
        <p:nvSpPr>
          <p:cNvPr id="195" name="Text 193"/>
          <p:cNvSpPr/>
          <p:nvPr/>
        </p:nvSpPr>
        <p:spPr>
          <a:xfrm>
            <a:off x="2103120" y="138988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square = 0.05 m × 1 N = 0.05 J</a:t>
            </a:r>
            <a:endParaRPr lang="en-US" sz="1050" dirty="0"/>
          </a:p>
        </p:txBody>
      </p:sp>
      <p:sp>
        <p:nvSpPr>
          <p:cNvPr id="196" name="Shape 194"/>
          <p:cNvSpPr/>
          <p:nvPr/>
        </p:nvSpPr>
        <p:spPr>
          <a:xfrm>
            <a:off x="6217920" y="1188720"/>
            <a:ext cx="5562295" cy="2423160"/>
          </a:xfrm>
          <a:prstGeom prst="roundRect">
            <a:avLst>
              <a:gd name="adj" fmla="val 2264"/>
            </a:avLst>
          </a:prstGeom>
          <a:solidFill>
            <a:srgbClr val="F5F8FE"/>
          </a:solidFill>
          <a:ln w="9525">
            <a:solidFill>
              <a:srgbClr val="D5DCEB"/>
            </a:solidFill>
            <a:prstDash val="solid"/>
          </a:ln>
        </p:spPr>
      </p:sp>
      <p:sp>
        <p:nvSpPr>
          <p:cNvPr id="197" name="Text 195"/>
          <p:cNvSpPr/>
          <p:nvPr/>
        </p:nvSpPr>
        <p:spPr>
          <a:xfrm>
            <a:off x="6382512" y="1280160"/>
            <a:ext cx="523311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Grade 7–9 skills</a:t>
            </a:r>
            <a:endParaRPr lang="en-US" sz="1300" dirty="0"/>
          </a:p>
        </p:txBody>
      </p:sp>
      <p:sp>
        <p:nvSpPr>
          <p:cNvPr id="198" name="Text 196"/>
          <p:cNvSpPr/>
          <p:nvPr/>
        </p:nvSpPr>
        <p:spPr>
          <a:xfrm>
            <a:off x="6382512" y="1609344"/>
            <a:ext cx="5233111" cy="1929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150" b="1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Rearranging E = ½kx²:</a:t>
            </a:r>
            <a:r>
              <a:rPr lang="en-US" sz="115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x² = 2E ÷ k, so x = √(2E ÷ k). Square-root as the last step.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15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the limit of proportionality, E = ½kx² does </a:t>
            </a:r>
            <a:r>
              <a:rPr lang="en-US" sz="1150" b="1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r>
              <a:rPr lang="en-US" sz="115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apply – use the </a:t>
            </a:r>
            <a:r>
              <a:rPr lang="en-US" sz="1150" b="1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under the curve</a:t>
            </a:r>
            <a:r>
              <a:rPr lang="en-US" sz="115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15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squares: about </a:t>
            </a:r>
            <a:r>
              <a:rPr lang="en-US" sz="1150" b="1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squares</a:t>
            </a:r>
            <a:r>
              <a:rPr lang="en-US" sz="115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× 0.05 J ≈ </a:t>
            </a:r>
            <a:r>
              <a:rPr lang="en-US" sz="1150" b="1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 J</a:t>
            </a:r>
            <a:r>
              <a:rPr lang="en-US" sz="115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work done up to 0.30 m.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15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part-squares as halves; state the value of one square first.</a:t>
            </a:r>
            <a:endParaRPr lang="en-US" sz="1150" dirty="0"/>
          </a:p>
        </p:txBody>
      </p:sp>
      <p:sp>
        <p:nvSpPr>
          <p:cNvPr id="199" name="Shape 197"/>
          <p:cNvSpPr/>
          <p:nvPr/>
        </p:nvSpPr>
        <p:spPr>
          <a:xfrm>
            <a:off x="6217920" y="3749040"/>
            <a:ext cx="5562295" cy="1965960"/>
          </a:xfrm>
          <a:prstGeom prst="roundRect">
            <a:avLst>
              <a:gd name="adj" fmla="val 2791"/>
            </a:avLst>
          </a:prstGeom>
          <a:solidFill>
            <a:srgbClr val="FFF4E0"/>
          </a:solidFill>
          <a:ln w="9525">
            <a:solidFill>
              <a:srgbClr val="F1D9A8"/>
            </a:solidFill>
            <a:prstDash val="solid"/>
          </a:ln>
        </p:spPr>
      </p:sp>
      <p:sp>
        <p:nvSpPr>
          <p:cNvPr id="200" name="Text 198"/>
          <p:cNvSpPr/>
          <p:nvPr/>
        </p:nvSpPr>
        <p:spPr>
          <a:xfrm>
            <a:off x="6382512" y="3822192"/>
            <a:ext cx="523311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7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(rearranging)</a:t>
            </a:r>
            <a:endParaRPr lang="en-US" sz="1300" dirty="0"/>
          </a:p>
        </p:txBody>
      </p:sp>
      <p:sp>
        <p:nvSpPr>
          <p:cNvPr id="201" name="Text 199"/>
          <p:cNvSpPr/>
          <p:nvPr/>
        </p:nvSpPr>
        <p:spPr>
          <a:xfrm>
            <a:off x="6382512" y="4133088"/>
            <a:ext cx="5233111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spring with k = 40 N/m stores 0.20 J. Calculate its extension.</a:t>
            </a:r>
            <a:endParaRPr lang="en-US" sz="1100" dirty="0"/>
          </a:p>
          <a:p>
            <a:pPr indent="0" marL="0">
              <a:spcBef>
                <a:spcPts val="200"/>
              </a:spcBef>
              <a:buNone/>
            </a:pPr>
            <a:r>
              <a:rPr lang="en-US" sz="1100" b="1" dirty="0">
                <a:solidFill>
                  <a:srgbClr val="2E5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Equation   </a:t>
            </a:r>
            <a:r>
              <a:rPr lang="en-US" sz="110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= ½ × k × x²</a:t>
            </a:r>
            <a:endParaRPr lang="en-US" sz="1100" dirty="0"/>
          </a:p>
          <a:p>
            <a:pPr indent="0" marL="0">
              <a:spcBef>
                <a:spcPts val="200"/>
              </a:spcBef>
              <a:buNone/>
            </a:pPr>
            <a:r>
              <a:rPr lang="en-US" sz="1100" b="1" dirty="0">
                <a:solidFill>
                  <a:srgbClr val="2E5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Rearrange   </a:t>
            </a:r>
            <a:r>
              <a:rPr lang="en-US" sz="110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= √(2E ÷ k)</a:t>
            </a:r>
            <a:endParaRPr lang="en-US" sz="1100" dirty="0"/>
          </a:p>
          <a:p>
            <a:pPr indent="0" marL="0">
              <a:spcBef>
                <a:spcPts val="200"/>
              </a:spcBef>
              <a:buNone/>
            </a:pPr>
            <a:r>
              <a:rPr lang="en-US" sz="1100" b="1" dirty="0">
                <a:solidFill>
                  <a:srgbClr val="2E5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Substitute   </a:t>
            </a:r>
            <a:r>
              <a:rPr lang="en-US" sz="110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= √(2 × 0.20 ÷ 40) = √0.010</a:t>
            </a:r>
            <a:endParaRPr lang="en-US" sz="1100" dirty="0"/>
          </a:p>
          <a:p>
            <a:pPr indent="0" marL="0">
              <a:spcBef>
                <a:spcPts val="200"/>
              </a:spcBef>
              <a:buNone/>
            </a:pPr>
            <a:r>
              <a:rPr lang="en-US" sz="1100" b="1" dirty="0">
                <a:solidFill>
                  <a:srgbClr val="2E5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Answer   </a:t>
            </a:r>
            <a:r>
              <a:rPr lang="en-US" sz="1100" b="1" dirty="0">
                <a:solidFill>
                  <a:srgbClr val="C8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= 0.10 m (10 cm)</a:t>
            </a:r>
            <a:endParaRPr lang="en-US" sz="1100" dirty="0"/>
          </a:p>
        </p:txBody>
      </p:sp>
      <p:sp>
        <p:nvSpPr>
          <p:cNvPr id="202" name="Shape 200"/>
          <p:cNvSpPr/>
          <p:nvPr/>
        </p:nvSpPr>
        <p:spPr>
          <a:xfrm>
            <a:off x="411480" y="5833872"/>
            <a:ext cx="11368735" cy="530352"/>
          </a:xfrm>
          <a:prstGeom prst="rect">
            <a:avLst/>
          </a:prstGeom>
          <a:solidFill>
            <a:srgbClr val="FFF4E0"/>
          </a:solidFill>
          <a:ln w="6350">
            <a:solidFill>
              <a:srgbClr val="F1D9A8"/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411480" y="5833872"/>
            <a:ext cx="82296" cy="530352"/>
          </a:xfrm>
          <a:prstGeom prst="rect">
            <a:avLst/>
          </a:prstGeom>
          <a:solidFill>
            <a:srgbClr val="E39A2F"/>
          </a:solidFill>
          <a:ln w="12700">
            <a:solidFill>
              <a:srgbClr val="E39A2F"/>
            </a:solidFill>
            <a:prstDash val="solid"/>
          </a:ln>
        </p:spPr>
      </p:sp>
      <p:sp>
        <p:nvSpPr>
          <p:cNvPr id="204" name="Text 202"/>
          <p:cNvSpPr/>
          <p:nvPr/>
        </p:nvSpPr>
        <p:spPr>
          <a:xfrm>
            <a:off x="640080" y="5833872"/>
            <a:ext cx="1100297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7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   </a:t>
            </a:r>
            <a:r>
              <a:rPr lang="en-US" sz="115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spring with k = 50 N/m stores 1.0 J of energy. Calculate its extension.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EEF2FA"/>
          </a:solidFill>
          <a:ln w="12700">
            <a:solidFill>
              <a:srgbClr val="EEF2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87552"/>
            <a:ext cx="12191695" cy="27432"/>
          </a:xfrm>
          <a:prstGeom prst="rect">
            <a:avLst/>
          </a:prstGeom>
          <a:solidFill>
            <a:srgbClr val="D3DCF0"/>
          </a:solidFill>
          <a:ln w="12700">
            <a:solidFill>
              <a:srgbClr val="D3DC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18872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Exam practice: recap 2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11480" y="6400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E5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Specification 15.3–15.5 • graphs and energy stored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6473952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Edexcel GCSE (9–1) Physics (1PH0) | Topic 15 Forces and matter | Higher &amp; Foundation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784080" y="647395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2  |  12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1480" y="1207008"/>
            <a:ext cx="11368735" cy="1594104"/>
          </a:xfrm>
          <a:prstGeom prst="roundRect">
            <a:avLst>
              <a:gd name="adj" fmla="val 2868"/>
            </a:avLst>
          </a:prstGeom>
          <a:solidFill>
            <a:srgbClr val="FFFFFF"/>
          </a:solidFill>
          <a:ln w="12700">
            <a:solidFill>
              <a:srgbClr val="D5DC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1207008"/>
            <a:ext cx="2103120" cy="292608"/>
          </a:xfrm>
          <a:prstGeom prst="rect">
            <a:avLst/>
          </a:prstGeom>
          <a:solidFill>
            <a:srgbClr val="F5A742"/>
          </a:solidFill>
          <a:ln w="12700">
            <a:solidFill>
              <a:srgbClr val="F5A7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20700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EXAM-STYLE QUESTION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40080" y="1572768"/>
            <a:ext cx="9539935" cy="1155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how a force–extension graph shows that a spring obeys F = k × x, and how you could find the </a:t>
            </a:r>
            <a:r>
              <a:rPr lang="en-US" sz="1250" b="1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 of proportionality</a:t>
            </a:r>
            <a:r>
              <a:rPr lang="en-US" sz="125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from it.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0317175" y="2417064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5A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 marks]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11480" y="2947416"/>
            <a:ext cx="11368735" cy="1594104"/>
          </a:xfrm>
          <a:prstGeom prst="roundRect">
            <a:avLst>
              <a:gd name="adj" fmla="val 2868"/>
            </a:avLst>
          </a:prstGeom>
          <a:solidFill>
            <a:srgbClr val="FFFFFF"/>
          </a:solidFill>
          <a:ln w="12700">
            <a:solidFill>
              <a:srgbClr val="D5DC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" y="2947416"/>
            <a:ext cx="2103120" cy="292608"/>
          </a:xfrm>
          <a:prstGeom prst="rect">
            <a:avLst/>
          </a:prstGeom>
          <a:solidFill>
            <a:srgbClr val="F5A742"/>
          </a:solidFill>
          <a:ln w="12700">
            <a:solidFill>
              <a:srgbClr val="F5A74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947416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EXAM-STYLE QUESTION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40080" y="3313176"/>
            <a:ext cx="9539935" cy="1155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spring has a spring constant of </a:t>
            </a:r>
            <a:r>
              <a:rPr lang="en-US" sz="1250" b="1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N/m</a:t>
            </a:r>
            <a:r>
              <a:rPr lang="en-US" sz="125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It is stretched by </a:t>
            </a:r>
            <a:r>
              <a:rPr lang="en-US" sz="1250" b="1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0.20 m</a:t>
            </a:r>
            <a:r>
              <a:rPr lang="en-US" sz="125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Calculate the energy stored in the spring. Use E = ½ × k × x².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0317175" y="4157472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5A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 marks]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11480" y="4687824"/>
            <a:ext cx="11368735" cy="1594104"/>
          </a:xfrm>
          <a:prstGeom prst="roundRect">
            <a:avLst>
              <a:gd name="adj" fmla="val 2868"/>
            </a:avLst>
          </a:prstGeom>
          <a:solidFill>
            <a:srgbClr val="FFFFFF"/>
          </a:solidFill>
          <a:ln w="12700">
            <a:solidFill>
              <a:srgbClr val="D5DC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1480" y="4687824"/>
            <a:ext cx="2103120" cy="292608"/>
          </a:xfrm>
          <a:prstGeom prst="rect">
            <a:avLst/>
          </a:prstGeom>
          <a:solidFill>
            <a:srgbClr val="F5A742"/>
          </a:solidFill>
          <a:ln w="12700">
            <a:solidFill>
              <a:srgbClr val="F5A74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4687824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EXAM-STYLE QUESTION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40080" y="5053584"/>
            <a:ext cx="9539935" cy="1155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spring with spring constant </a:t>
            </a:r>
            <a:r>
              <a:rPr lang="en-US" sz="1250" b="1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N/m</a:t>
            </a:r>
            <a:r>
              <a:rPr lang="en-US" sz="125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stores </a:t>
            </a:r>
            <a:r>
              <a:rPr lang="en-US" sz="1250" b="1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0.36 J</a:t>
            </a:r>
            <a:r>
              <a:rPr lang="en-US" sz="125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Calculate the extension of the spring.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0317175" y="589788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5A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 marks]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EEF2FA"/>
          </a:solidFill>
          <a:ln w="12700">
            <a:solidFill>
              <a:srgbClr val="EEF2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87552"/>
            <a:ext cx="12191695" cy="27432"/>
          </a:xfrm>
          <a:prstGeom prst="rect">
            <a:avLst/>
          </a:prstGeom>
          <a:solidFill>
            <a:srgbClr val="D3DCF0"/>
          </a:solidFill>
          <a:ln w="12700">
            <a:solidFill>
              <a:srgbClr val="D3DC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18872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Practical: springs – apparatus and method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11480" y="6400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E5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Specification 15.6 • investigate the extension and work done when applying forces to a spring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0408615" y="292608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B8730A"/>
          </a:solidFill>
          <a:ln w="12700">
            <a:solidFill>
              <a:srgbClr val="B8730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408615" y="2926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PRACTICAL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6473952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Edexcel GCSE (9–1) Physics (1PH0) | Topic 15 Forces and matter | Higher &amp; Foundation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784080" y="647395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15.6  |  13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11480" y="1188720"/>
            <a:ext cx="5577840" cy="4526280"/>
          </a:xfrm>
          <a:prstGeom prst="roundRect">
            <a:avLst>
              <a:gd name="adj" fmla="val 1616"/>
            </a:avLst>
          </a:prstGeom>
          <a:solidFill>
            <a:srgbClr val="EEF1F8"/>
          </a:solidFill>
          <a:ln w="9525">
            <a:solidFill>
              <a:srgbClr val="DCE2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5404104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diagram — clamp stand, spring, metre rule and slotted masses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94360" y="5074920"/>
            <a:ext cx="5212080" cy="73152"/>
          </a:xfrm>
          <a:prstGeom prst="rect">
            <a:avLst/>
          </a:prstGeom>
          <a:solidFill>
            <a:srgbClr val="B0B7C6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0" y="4965192"/>
            <a:ext cx="1371600" cy="109728"/>
          </a:xfrm>
          <a:prstGeom prst="rect">
            <a:avLst/>
          </a:prstGeom>
          <a:solidFill>
            <a:srgbClr val="5A6275"/>
          </a:solidFill>
          <a:ln w="12700">
            <a:solidFill>
              <a:srgbClr val="4A526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43584" y="1417320"/>
            <a:ext cx="73152" cy="3547872"/>
          </a:xfrm>
          <a:prstGeom prst="rect">
            <a:avLst/>
          </a:prstGeom>
          <a:solidFill>
            <a:srgbClr val="8C96A8"/>
          </a:solidFill>
          <a:ln w="12700">
            <a:solidFill>
              <a:srgbClr val="6B738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97864" y="1618488"/>
            <a:ext cx="164592" cy="146304"/>
          </a:xfrm>
          <a:prstGeom prst="rect">
            <a:avLst/>
          </a:prstGeom>
          <a:solidFill>
            <a:srgbClr val="4A5262"/>
          </a:solidFill>
          <a:ln w="12700">
            <a:solidFill>
              <a:srgbClr val="4A526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80160" y="1664208"/>
            <a:ext cx="1965960" cy="54864"/>
          </a:xfrm>
          <a:prstGeom prst="rect">
            <a:avLst/>
          </a:prstGeom>
          <a:solidFill>
            <a:srgbClr val="8C96A8"/>
          </a:solidFill>
          <a:ln w="12700">
            <a:solidFill>
              <a:srgbClr val="6B738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97864" y="4434840"/>
            <a:ext cx="164592" cy="146304"/>
          </a:xfrm>
          <a:prstGeom prst="rect">
            <a:avLst/>
          </a:prstGeom>
          <a:solidFill>
            <a:srgbClr val="4A5262"/>
          </a:solidFill>
          <a:ln w="12700">
            <a:solidFill>
              <a:srgbClr val="4A526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80160" y="4480560"/>
            <a:ext cx="2377440" cy="54864"/>
          </a:xfrm>
          <a:prstGeom prst="rect">
            <a:avLst/>
          </a:prstGeom>
          <a:solidFill>
            <a:srgbClr val="8C96A8"/>
          </a:solidFill>
          <a:ln w="12700">
            <a:solidFill>
              <a:srgbClr val="6B738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0" y="1965960"/>
            <a:ext cx="292608" cy="2971800"/>
          </a:xfrm>
          <a:prstGeom prst="rect">
            <a:avLst/>
          </a:prstGeom>
          <a:solidFill>
            <a:srgbClr val="F6E7B8"/>
          </a:solidFill>
          <a:ln w="9525">
            <a:solidFill>
              <a:srgbClr val="B79B4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0" y="2011680"/>
            <a:ext cx="146304" cy="91"/>
          </a:xfrm>
          <a:prstGeom prst="line">
            <a:avLst/>
          </a:prstGeom>
          <a:noFill/>
          <a:ln w="9525">
            <a:solidFill>
              <a:srgbClr val="6B5A2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0" y="2107692"/>
            <a:ext cx="73152" cy="91"/>
          </a:xfrm>
          <a:prstGeom prst="line">
            <a:avLst/>
          </a:prstGeom>
          <a:noFill/>
          <a:ln w="9525">
            <a:solidFill>
              <a:srgbClr val="6B5A2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0" y="2203704"/>
            <a:ext cx="73152" cy="91"/>
          </a:xfrm>
          <a:prstGeom prst="line">
            <a:avLst/>
          </a:prstGeom>
          <a:noFill/>
          <a:ln w="9525">
            <a:solidFill>
              <a:srgbClr val="6B5A2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57600" y="2299716"/>
            <a:ext cx="73152" cy="91"/>
          </a:xfrm>
          <a:prstGeom prst="line">
            <a:avLst/>
          </a:prstGeom>
          <a:noFill/>
          <a:ln w="9525">
            <a:solidFill>
              <a:srgbClr val="6B5A2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0" y="2395728"/>
            <a:ext cx="73152" cy="91"/>
          </a:xfrm>
          <a:prstGeom prst="line">
            <a:avLst/>
          </a:prstGeom>
          <a:noFill/>
          <a:ln w="9525">
            <a:solidFill>
              <a:srgbClr val="6B5A2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0" y="2491740"/>
            <a:ext cx="146304" cy="91"/>
          </a:xfrm>
          <a:prstGeom prst="line">
            <a:avLst/>
          </a:prstGeom>
          <a:noFill/>
          <a:ln w="9525">
            <a:solidFill>
              <a:srgbClr val="6B5A2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7600" y="2587752"/>
            <a:ext cx="73152" cy="91"/>
          </a:xfrm>
          <a:prstGeom prst="line">
            <a:avLst/>
          </a:prstGeom>
          <a:noFill/>
          <a:ln w="9525">
            <a:solidFill>
              <a:srgbClr val="6B5A2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0" y="2683764"/>
            <a:ext cx="73152" cy="91"/>
          </a:xfrm>
          <a:prstGeom prst="line">
            <a:avLst/>
          </a:prstGeom>
          <a:noFill/>
          <a:ln w="9525">
            <a:solidFill>
              <a:srgbClr val="6B5A2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657600" y="2779776"/>
            <a:ext cx="73152" cy="91"/>
          </a:xfrm>
          <a:prstGeom prst="line">
            <a:avLst/>
          </a:prstGeom>
          <a:noFill/>
          <a:ln w="9525">
            <a:solidFill>
              <a:srgbClr val="6B5A2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657600" y="2875788"/>
            <a:ext cx="73152" cy="91"/>
          </a:xfrm>
          <a:prstGeom prst="line">
            <a:avLst/>
          </a:prstGeom>
          <a:noFill/>
          <a:ln w="9525">
            <a:solidFill>
              <a:srgbClr val="6B5A2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0" y="2971800"/>
            <a:ext cx="146304" cy="91"/>
          </a:xfrm>
          <a:prstGeom prst="line">
            <a:avLst/>
          </a:prstGeom>
          <a:noFill/>
          <a:ln w="9525">
            <a:solidFill>
              <a:srgbClr val="6B5A2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657600" y="3067812"/>
            <a:ext cx="73152" cy="91"/>
          </a:xfrm>
          <a:prstGeom prst="line">
            <a:avLst/>
          </a:prstGeom>
          <a:noFill/>
          <a:ln w="9525">
            <a:solidFill>
              <a:srgbClr val="6B5A2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657600" y="3163824"/>
            <a:ext cx="73152" cy="91"/>
          </a:xfrm>
          <a:prstGeom prst="line">
            <a:avLst/>
          </a:prstGeom>
          <a:noFill/>
          <a:ln w="9525">
            <a:solidFill>
              <a:srgbClr val="6B5A2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657600" y="3259836"/>
            <a:ext cx="73152" cy="91"/>
          </a:xfrm>
          <a:prstGeom prst="line">
            <a:avLst/>
          </a:prstGeom>
          <a:noFill/>
          <a:ln w="9525">
            <a:solidFill>
              <a:srgbClr val="6B5A2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657600" y="3355848"/>
            <a:ext cx="73152" cy="91"/>
          </a:xfrm>
          <a:prstGeom prst="line">
            <a:avLst/>
          </a:prstGeom>
          <a:noFill/>
          <a:ln w="9525">
            <a:solidFill>
              <a:srgbClr val="6B5A2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657600" y="3451860"/>
            <a:ext cx="146304" cy="91"/>
          </a:xfrm>
          <a:prstGeom prst="line">
            <a:avLst/>
          </a:prstGeom>
          <a:noFill/>
          <a:ln w="9525">
            <a:solidFill>
              <a:srgbClr val="6B5A2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657600" y="3547872"/>
            <a:ext cx="73152" cy="91"/>
          </a:xfrm>
          <a:prstGeom prst="line">
            <a:avLst/>
          </a:prstGeom>
          <a:noFill/>
          <a:ln w="9525">
            <a:solidFill>
              <a:srgbClr val="6B5A2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0" y="3643884"/>
            <a:ext cx="73152" cy="91"/>
          </a:xfrm>
          <a:prstGeom prst="line">
            <a:avLst/>
          </a:prstGeom>
          <a:noFill/>
          <a:ln w="9525">
            <a:solidFill>
              <a:srgbClr val="6B5A2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657600" y="3739896"/>
            <a:ext cx="73152" cy="91"/>
          </a:xfrm>
          <a:prstGeom prst="line">
            <a:avLst/>
          </a:prstGeom>
          <a:noFill/>
          <a:ln w="9525">
            <a:solidFill>
              <a:srgbClr val="6B5A2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657600" y="3835908"/>
            <a:ext cx="73152" cy="91"/>
          </a:xfrm>
          <a:prstGeom prst="line">
            <a:avLst/>
          </a:prstGeom>
          <a:noFill/>
          <a:ln w="9525">
            <a:solidFill>
              <a:srgbClr val="6B5A2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657600" y="3931920"/>
            <a:ext cx="146304" cy="91"/>
          </a:xfrm>
          <a:prstGeom prst="line">
            <a:avLst/>
          </a:prstGeom>
          <a:noFill/>
          <a:ln w="9525">
            <a:solidFill>
              <a:srgbClr val="6B5A2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657600" y="4027932"/>
            <a:ext cx="73152" cy="91"/>
          </a:xfrm>
          <a:prstGeom prst="line">
            <a:avLst/>
          </a:prstGeom>
          <a:noFill/>
          <a:ln w="9525">
            <a:solidFill>
              <a:srgbClr val="6B5A2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657600" y="4123944"/>
            <a:ext cx="73152" cy="91"/>
          </a:xfrm>
          <a:prstGeom prst="line">
            <a:avLst/>
          </a:prstGeom>
          <a:noFill/>
          <a:ln w="9525">
            <a:solidFill>
              <a:srgbClr val="6B5A2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657600" y="4219956"/>
            <a:ext cx="73152" cy="91"/>
          </a:xfrm>
          <a:prstGeom prst="line">
            <a:avLst/>
          </a:prstGeom>
          <a:noFill/>
          <a:ln w="9525">
            <a:solidFill>
              <a:srgbClr val="6B5A2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657600" y="4315968"/>
            <a:ext cx="73152" cy="91"/>
          </a:xfrm>
          <a:prstGeom prst="line">
            <a:avLst/>
          </a:prstGeom>
          <a:noFill/>
          <a:ln w="9525">
            <a:solidFill>
              <a:srgbClr val="6B5A2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657600" y="4411980"/>
            <a:ext cx="146304" cy="91"/>
          </a:xfrm>
          <a:prstGeom prst="line">
            <a:avLst/>
          </a:prstGeom>
          <a:noFill/>
          <a:ln w="9525">
            <a:solidFill>
              <a:srgbClr val="6B5A2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657600" y="4507992"/>
            <a:ext cx="73152" cy="91"/>
          </a:xfrm>
          <a:prstGeom prst="line">
            <a:avLst/>
          </a:prstGeom>
          <a:noFill/>
          <a:ln w="9525">
            <a:solidFill>
              <a:srgbClr val="6B5A2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657600" y="4604004"/>
            <a:ext cx="73152" cy="91"/>
          </a:xfrm>
          <a:prstGeom prst="line">
            <a:avLst/>
          </a:prstGeom>
          <a:noFill/>
          <a:ln w="9525">
            <a:solidFill>
              <a:srgbClr val="6B5A2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657600" y="4700016"/>
            <a:ext cx="73152" cy="91"/>
          </a:xfrm>
          <a:prstGeom prst="line">
            <a:avLst/>
          </a:prstGeom>
          <a:noFill/>
          <a:ln w="9525">
            <a:solidFill>
              <a:srgbClr val="6B5A2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657600" y="4796028"/>
            <a:ext cx="73152" cy="91"/>
          </a:xfrm>
          <a:prstGeom prst="line">
            <a:avLst/>
          </a:prstGeom>
          <a:noFill/>
          <a:ln w="9525">
            <a:solidFill>
              <a:srgbClr val="6B5A2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657600" y="4892040"/>
            <a:ext cx="146304" cy="91"/>
          </a:xfrm>
          <a:prstGeom prst="line">
            <a:avLst/>
          </a:prstGeom>
          <a:noFill/>
          <a:ln w="9525">
            <a:solidFill>
              <a:srgbClr val="6B5A2A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246120" y="1719072"/>
            <a:ext cx="91" cy="98755"/>
          </a:xfrm>
          <a:prstGeom prst="line">
            <a:avLst/>
          </a:prstGeom>
          <a:noFill/>
          <a:ln w="22225">
            <a:solidFill>
              <a:srgbClr val="4A556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246120" y="1817827"/>
            <a:ext cx="137160" cy="51846"/>
          </a:xfrm>
          <a:prstGeom prst="line">
            <a:avLst/>
          </a:prstGeom>
          <a:noFill/>
          <a:ln w="22225">
            <a:solidFill>
              <a:srgbClr val="4A5568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 flipH="1">
            <a:off x="3108960" y="1869674"/>
            <a:ext cx="274320" cy="51846"/>
          </a:xfrm>
          <a:prstGeom prst="line">
            <a:avLst/>
          </a:prstGeom>
          <a:noFill/>
          <a:ln w="22225">
            <a:solidFill>
              <a:srgbClr val="4A5568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108960" y="1921520"/>
            <a:ext cx="274320" cy="51846"/>
          </a:xfrm>
          <a:prstGeom prst="line">
            <a:avLst/>
          </a:prstGeom>
          <a:noFill/>
          <a:ln w="22225">
            <a:solidFill>
              <a:srgbClr val="4A5568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 flipH="1">
            <a:off x="3108960" y="1973367"/>
            <a:ext cx="274320" cy="51846"/>
          </a:xfrm>
          <a:prstGeom prst="line">
            <a:avLst/>
          </a:prstGeom>
          <a:noFill/>
          <a:ln w="22225">
            <a:solidFill>
              <a:srgbClr val="4A5568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3108960" y="2025213"/>
            <a:ext cx="274320" cy="51846"/>
          </a:xfrm>
          <a:prstGeom prst="line">
            <a:avLst/>
          </a:prstGeom>
          <a:noFill/>
          <a:ln w="22225">
            <a:solidFill>
              <a:srgbClr val="4A5568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 flipH="1">
            <a:off x="3108960" y="2077060"/>
            <a:ext cx="274320" cy="51846"/>
          </a:xfrm>
          <a:prstGeom prst="line">
            <a:avLst/>
          </a:prstGeom>
          <a:noFill/>
          <a:ln w="22225">
            <a:solidFill>
              <a:srgbClr val="4A5568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108960" y="2128906"/>
            <a:ext cx="274320" cy="51846"/>
          </a:xfrm>
          <a:prstGeom prst="line">
            <a:avLst/>
          </a:prstGeom>
          <a:noFill/>
          <a:ln w="22225">
            <a:solidFill>
              <a:srgbClr val="4A5568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 flipH="1">
            <a:off x="3108960" y="2180753"/>
            <a:ext cx="274320" cy="51846"/>
          </a:xfrm>
          <a:prstGeom prst="line">
            <a:avLst/>
          </a:prstGeom>
          <a:noFill/>
          <a:ln w="22225">
            <a:solidFill>
              <a:srgbClr val="4A5568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3108960" y="2232599"/>
            <a:ext cx="274320" cy="51846"/>
          </a:xfrm>
          <a:prstGeom prst="line">
            <a:avLst/>
          </a:prstGeom>
          <a:noFill/>
          <a:ln w="22225">
            <a:solidFill>
              <a:srgbClr val="4A5568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 flipH="1">
            <a:off x="3108960" y="2284446"/>
            <a:ext cx="274320" cy="51846"/>
          </a:xfrm>
          <a:prstGeom prst="line">
            <a:avLst/>
          </a:prstGeom>
          <a:noFill/>
          <a:ln w="22225">
            <a:solidFill>
              <a:srgbClr val="4A5568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3108960" y="2336292"/>
            <a:ext cx="274320" cy="51846"/>
          </a:xfrm>
          <a:prstGeom prst="line">
            <a:avLst/>
          </a:prstGeom>
          <a:noFill/>
          <a:ln w="22225">
            <a:solidFill>
              <a:srgbClr val="4A5568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 flipH="1">
            <a:off x="3108960" y="2388138"/>
            <a:ext cx="274320" cy="51846"/>
          </a:xfrm>
          <a:prstGeom prst="line">
            <a:avLst/>
          </a:prstGeom>
          <a:noFill/>
          <a:ln w="22225">
            <a:solidFill>
              <a:srgbClr val="4A5568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3108960" y="2439985"/>
            <a:ext cx="274320" cy="51846"/>
          </a:xfrm>
          <a:prstGeom prst="line">
            <a:avLst/>
          </a:prstGeom>
          <a:noFill/>
          <a:ln w="22225">
            <a:solidFill>
              <a:srgbClr val="4A5568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 flipH="1">
            <a:off x="3108960" y="2491831"/>
            <a:ext cx="274320" cy="51846"/>
          </a:xfrm>
          <a:prstGeom prst="line">
            <a:avLst/>
          </a:prstGeom>
          <a:noFill/>
          <a:ln w="22225">
            <a:solidFill>
              <a:srgbClr val="4A5568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3108960" y="2543678"/>
            <a:ext cx="274320" cy="51846"/>
          </a:xfrm>
          <a:prstGeom prst="line">
            <a:avLst/>
          </a:prstGeom>
          <a:noFill/>
          <a:ln w="22225">
            <a:solidFill>
              <a:srgbClr val="4A5568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 flipH="1">
            <a:off x="3108960" y="2595524"/>
            <a:ext cx="274320" cy="51846"/>
          </a:xfrm>
          <a:prstGeom prst="line">
            <a:avLst/>
          </a:prstGeom>
          <a:noFill/>
          <a:ln w="22225">
            <a:solidFill>
              <a:srgbClr val="4A5568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3108960" y="2647371"/>
            <a:ext cx="274320" cy="51846"/>
          </a:xfrm>
          <a:prstGeom prst="line">
            <a:avLst/>
          </a:prstGeom>
          <a:noFill/>
          <a:ln w="22225">
            <a:solidFill>
              <a:srgbClr val="4A5568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 flipH="1">
            <a:off x="3108960" y="2699217"/>
            <a:ext cx="274320" cy="51846"/>
          </a:xfrm>
          <a:prstGeom prst="line">
            <a:avLst/>
          </a:prstGeom>
          <a:noFill/>
          <a:ln w="22225">
            <a:solidFill>
              <a:srgbClr val="4A5568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3108960" y="2751064"/>
            <a:ext cx="274320" cy="51846"/>
          </a:xfrm>
          <a:prstGeom prst="line">
            <a:avLst/>
          </a:prstGeom>
          <a:noFill/>
          <a:ln w="22225">
            <a:solidFill>
              <a:srgbClr val="4A5568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 flipH="1">
            <a:off x="3246120" y="2802910"/>
            <a:ext cx="137160" cy="51846"/>
          </a:xfrm>
          <a:prstGeom prst="line">
            <a:avLst/>
          </a:prstGeom>
          <a:noFill/>
          <a:ln w="22225">
            <a:solidFill>
              <a:srgbClr val="4A5568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3246120" y="2854757"/>
            <a:ext cx="91" cy="98755"/>
          </a:xfrm>
          <a:prstGeom prst="line">
            <a:avLst/>
          </a:prstGeom>
          <a:noFill/>
          <a:ln w="22225">
            <a:solidFill>
              <a:srgbClr val="4A5568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3246120" y="2953512"/>
            <a:ext cx="457200" cy="91"/>
          </a:xfrm>
          <a:prstGeom prst="line">
            <a:avLst/>
          </a:prstGeom>
          <a:noFill/>
          <a:ln w="25400">
            <a:solidFill>
              <a:srgbClr val="C8414C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3246120" y="2953512"/>
            <a:ext cx="91" cy="182880"/>
          </a:xfrm>
          <a:prstGeom prst="line">
            <a:avLst/>
          </a:prstGeom>
          <a:noFill/>
          <a:ln w="25400">
            <a:solidFill>
              <a:srgbClr val="5A6275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3017520" y="3136392"/>
            <a:ext cx="457200" cy="109728"/>
          </a:xfrm>
          <a:prstGeom prst="rect">
            <a:avLst/>
          </a:prstGeom>
          <a:solidFill>
            <a:srgbClr val="969FB1"/>
          </a:solidFill>
          <a:ln w="6350">
            <a:solidFill>
              <a:srgbClr val="4A5262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3017520" y="3246120"/>
            <a:ext cx="457200" cy="109728"/>
          </a:xfrm>
          <a:prstGeom prst="rect">
            <a:avLst/>
          </a:prstGeom>
          <a:solidFill>
            <a:srgbClr val="7C8598"/>
          </a:solidFill>
          <a:ln w="6350">
            <a:solidFill>
              <a:srgbClr val="4A5262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3017520" y="3355848"/>
            <a:ext cx="457200" cy="109728"/>
          </a:xfrm>
          <a:prstGeom prst="rect">
            <a:avLst/>
          </a:prstGeom>
          <a:solidFill>
            <a:srgbClr val="969FB1"/>
          </a:solidFill>
          <a:ln w="6350">
            <a:solidFill>
              <a:srgbClr val="4A5262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3017520" y="3465576"/>
            <a:ext cx="457200" cy="109728"/>
          </a:xfrm>
          <a:prstGeom prst="rect">
            <a:avLst/>
          </a:prstGeom>
          <a:solidFill>
            <a:srgbClr val="7C8598"/>
          </a:solidFill>
          <a:ln w="6350">
            <a:solidFill>
              <a:srgbClr val="4A5262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2971800" y="3575304"/>
            <a:ext cx="548640" cy="64008"/>
          </a:xfrm>
          <a:prstGeom prst="rect">
            <a:avLst/>
          </a:prstGeom>
          <a:solidFill>
            <a:srgbClr val="4A5262"/>
          </a:solidFill>
          <a:ln w="12700">
            <a:solidFill>
              <a:srgbClr val="4A5262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685800" y="4892040"/>
            <a:ext cx="320040" cy="182880"/>
          </a:xfrm>
          <a:prstGeom prst="rect">
            <a:avLst/>
          </a:prstGeom>
          <a:solidFill>
            <a:srgbClr val="4A5262"/>
          </a:solidFill>
          <a:ln/>
        </p:spPr>
      </p:sp>
      <p:sp>
        <p:nvSpPr>
          <p:cNvPr id="81" name="Shape 79"/>
          <p:cNvSpPr/>
          <p:nvPr/>
        </p:nvSpPr>
        <p:spPr>
          <a:xfrm flipV="1">
            <a:off x="3383280" y="1783080"/>
            <a:ext cx="1188720" cy="411480"/>
          </a:xfrm>
          <a:prstGeom prst="line">
            <a:avLst/>
          </a:prstGeom>
          <a:noFill/>
          <a:ln w="9525">
            <a:solidFill>
              <a:srgbClr val="6B7385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4617720" y="165506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</a:t>
            </a:r>
            <a:endParaRPr lang="en-US" sz="1050" dirty="0"/>
          </a:p>
        </p:txBody>
      </p:sp>
      <p:sp>
        <p:nvSpPr>
          <p:cNvPr id="83" name="Shape 81"/>
          <p:cNvSpPr/>
          <p:nvPr/>
        </p:nvSpPr>
        <p:spPr>
          <a:xfrm flipV="1">
            <a:off x="3986784" y="2743200"/>
            <a:ext cx="585216" cy="457200"/>
          </a:xfrm>
          <a:prstGeom prst="line">
            <a:avLst/>
          </a:prstGeom>
          <a:noFill/>
          <a:ln w="9525">
            <a:solidFill>
              <a:srgbClr val="6B7385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4617720" y="261518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metre rule</a:t>
            </a:r>
            <a:endParaRPr lang="en-US" sz="1050" dirty="0"/>
          </a:p>
        </p:txBody>
      </p:sp>
      <p:sp>
        <p:nvSpPr>
          <p:cNvPr id="85" name="Shape 83"/>
          <p:cNvSpPr/>
          <p:nvPr/>
        </p:nvSpPr>
        <p:spPr>
          <a:xfrm>
            <a:off x="3703320" y="2953512"/>
            <a:ext cx="868680" cy="201168"/>
          </a:xfrm>
          <a:prstGeom prst="line">
            <a:avLst/>
          </a:prstGeom>
          <a:noFill/>
          <a:ln w="9525">
            <a:solidFill>
              <a:srgbClr val="6B7385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4617720" y="302666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pointer</a:t>
            </a:r>
            <a:endParaRPr lang="en-US" sz="1050" dirty="0"/>
          </a:p>
        </p:txBody>
      </p:sp>
      <p:sp>
        <p:nvSpPr>
          <p:cNvPr id="87" name="Shape 85"/>
          <p:cNvSpPr/>
          <p:nvPr/>
        </p:nvSpPr>
        <p:spPr>
          <a:xfrm>
            <a:off x="3520440" y="3474720"/>
            <a:ext cx="1051560" cy="320040"/>
          </a:xfrm>
          <a:prstGeom prst="line">
            <a:avLst/>
          </a:prstGeom>
          <a:noFill/>
          <a:ln w="9525">
            <a:solidFill>
              <a:srgbClr val="6B7385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4617720" y="366674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slotted masses</a:t>
            </a:r>
            <a:endParaRPr lang="en-US" sz="1050" dirty="0"/>
          </a:p>
        </p:txBody>
      </p:sp>
      <p:sp>
        <p:nvSpPr>
          <p:cNvPr id="89" name="Shape 87"/>
          <p:cNvSpPr/>
          <p:nvPr/>
        </p:nvSpPr>
        <p:spPr>
          <a:xfrm flipV="1">
            <a:off x="1280160" y="3291840"/>
            <a:ext cx="822960" cy="274320"/>
          </a:xfrm>
          <a:prstGeom prst="line">
            <a:avLst/>
          </a:prstGeom>
          <a:noFill/>
          <a:ln w="9525">
            <a:solidFill>
              <a:srgbClr val="6B7385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2148840" y="316382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clamp stand</a:t>
            </a:r>
            <a:endParaRPr lang="en-US" sz="1050" dirty="0"/>
          </a:p>
        </p:txBody>
      </p:sp>
      <p:sp>
        <p:nvSpPr>
          <p:cNvPr id="91" name="Shape 89"/>
          <p:cNvSpPr/>
          <p:nvPr/>
        </p:nvSpPr>
        <p:spPr>
          <a:xfrm flipV="1">
            <a:off x="841248" y="4754880"/>
            <a:ext cx="621792" cy="182880"/>
          </a:xfrm>
          <a:prstGeom prst="line">
            <a:avLst/>
          </a:prstGeom>
          <a:noFill/>
          <a:ln w="9525">
            <a:solidFill>
              <a:srgbClr val="6B7385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1508760" y="462686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G-clamp</a:t>
            </a:r>
            <a:endParaRPr lang="en-US" sz="1050" dirty="0"/>
          </a:p>
        </p:txBody>
      </p:sp>
      <p:sp>
        <p:nvSpPr>
          <p:cNvPr id="93" name="Shape 91"/>
          <p:cNvSpPr/>
          <p:nvPr/>
        </p:nvSpPr>
        <p:spPr>
          <a:xfrm>
            <a:off x="6217920" y="1188720"/>
            <a:ext cx="5562295" cy="2423160"/>
          </a:xfrm>
          <a:prstGeom prst="roundRect">
            <a:avLst>
              <a:gd name="adj" fmla="val 2264"/>
            </a:avLst>
          </a:prstGeom>
          <a:solidFill>
            <a:srgbClr val="F5F8FE"/>
          </a:solidFill>
          <a:ln w="9525">
            <a:solidFill>
              <a:srgbClr val="D5DCEB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6382512" y="1280160"/>
            <a:ext cx="523311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300" dirty="0"/>
          </a:p>
        </p:txBody>
      </p:sp>
      <p:sp>
        <p:nvSpPr>
          <p:cNvPr id="95" name="Text 93"/>
          <p:cNvSpPr/>
          <p:nvPr/>
        </p:nvSpPr>
        <p:spPr>
          <a:xfrm>
            <a:off x="6382512" y="1609344"/>
            <a:ext cx="5233111" cy="1929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15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Clamp the spring and a vertical metre rule to the stand. Fix a </a:t>
            </a:r>
            <a:r>
              <a:rPr lang="en-US" sz="1150" b="1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pointer</a:t>
            </a:r>
            <a:r>
              <a:rPr lang="en-US" sz="115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the bottom of the spring.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15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the pointer reading with no masses: the </a:t>
            </a:r>
            <a:r>
              <a:rPr lang="en-US" sz="1150" b="1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length</a:t>
            </a:r>
            <a:r>
              <a:rPr lang="en-US" sz="115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15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100 g mass (weight 1.0 N). Read the new length with your </a:t>
            </a:r>
            <a:r>
              <a:rPr lang="en-US" sz="1150" b="1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eye level</a:t>
            </a:r>
            <a:r>
              <a:rPr lang="en-US" sz="115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 the pointer.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15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Repeat, adding 1.0 N each time, up to about 7 N. </a:t>
            </a:r>
            <a:r>
              <a:rPr lang="en-US" sz="1150" b="1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</a:t>
            </a:r>
            <a:r>
              <a:rPr lang="en-US" sz="115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length − original length.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15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the masses one at a time to check the spring returns to its original length (elastic).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15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 </a:t>
            </a:r>
            <a:r>
              <a:rPr lang="en-US" sz="1150" b="1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 (y) against extension (x)</a:t>
            </a:r>
            <a:r>
              <a:rPr lang="en-US" sz="115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draw a line of best fit.</a:t>
            </a:r>
            <a:endParaRPr lang="en-US" sz="1150" dirty="0"/>
          </a:p>
        </p:txBody>
      </p:sp>
      <p:sp>
        <p:nvSpPr>
          <p:cNvPr id="96" name="Shape 94"/>
          <p:cNvSpPr/>
          <p:nvPr/>
        </p:nvSpPr>
        <p:spPr>
          <a:xfrm>
            <a:off x="6217920" y="3749040"/>
            <a:ext cx="5562295" cy="1965960"/>
          </a:xfrm>
          <a:prstGeom prst="roundRect">
            <a:avLst>
              <a:gd name="adj" fmla="val 2791"/>
            </a:avLst>
          </a:prstGeom>
          <a:solidFill>
            <a:srgbClr val="FFF4E0"/>
          </a:solidFill>
          <a:ln w="9525">
            <a:solidFill>
              <a:srgbClr val="F1D9A8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6382512" y="3822192"/>
            <a:ext cx="523311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7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Tips for accurate results</a:t>
            </a:r>
            <a:endParaRPr lang="en-US" sz="1300" dirty="0"/>
          </a:p>
        </p:txBody>
      </p:sp>
      <p:sp>
        <p:nvSpPr>
          <p:cNvPr id="98" name="Text 96"/>
          <p:cNvSpPr/>
          <p:nvPr/>
        </p:nvSpPr>
        <p:spPr>
          <a:xfrm>
            <a:off x="6382512" y="4133088"/>
            <a:ext cx="5233111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Bef>
                <a:spcPts val="200"/>
              </a:spcBef>
              <a:buNone/>
            </a:pPr>
            <a:r>
              <a:rPr lang="en-US" sz="1100" b="1" dirty="0">
                <a:solidFill>
                  <a:srgbClr val="2E5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Zero   </a:t>
            </a:r>
            <a:r>
              <a:rPr lang="en-US" sz="110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the original length </a:t>
            </a:r>
            <a:r>
              <a:rPr lang="en-US" sz="1100" b="1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r>
              <a:rPr lang="en-US" sz="110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loading</a:t>
            </a:r>
            <a:endParaRPr lang="en-US" sz="1100" dirty="0"/>
          </a:p>
          <a:p>
            <a:pPr indent="0" marL="0">
              <a:spcBef>
                <a:spcPts val="200"/>
              </a:spcBef>
              <a:buNone/>
            </a:pPr>
            <a:r>
              <a:rPr lang="en-US" sz="1100" b="1" dirty="0">
                <a:solidFill>
                  <a:srgbClr val="2E5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Eye level   </a:t>
            </a:r>
            <a:r>
              <a:rPr lang="en-US" sz="110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avoids parallax error when reading the rule</a:t>
            </a:r>
            <a:endParaRPr lang="en-US" sz="1100" dirty="0"/>
          </a:p>
          <a:p>
            <a:pPr indent="0" marL="0">
              <a:spcBef>
                <a:spcPts val="200"/>
              </a:spcBef>
              <a:buNone/>
            </a:pPr>
            <a:r>
              <a:rPr lang="en-US" sz="1100" b="1" dirty="0">
                <a:solidFill>
                  <a:srgbClr val="2E5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Wait   </a:t>
            </a:r>
            <a:r>
              <a:rPr lang="en-US" sz="110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the spring stop bouncing before you read</a:t>
            </a:r>
            <a:endParaRPr lang="en-US" sz="1100" dirty="0"/>
          </a:p>
          <a:p>
            <a:pPr indent="0" marL="0">
              <a:spcBef>
                <a:spcPts val="200"/>
              </a:spcBef>
              <a:buNone/>
            </a:pPr>
            <a:r>
              <a:rPr lang="en-US" sz="1100" b="1" dirty="0">
                <a:solidFill>
                  <a:srgbClr val="2E5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Answer   </a:t>
            </a:r>
            <a:r>
              <a:rPr lang="en-US" sz="1100" b="1" dirty="0">
                <a:solidFill>
                  <a:srgbClr val="C8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rule is vertical (use a set square)</a:t>
            </a:r>
            <a:endParaRPr lang="en-US" sz="1100" dirty="0"/>
          </a:p>
        </p:txBody>
      </p:sp>
      <p:sp>
        <p:nvSpPr>
          <p:cNvPr id="99" name="Shape 97"/>
          <p:cNvSpPr/>
          <p:nvPr/>
        </p:nvSpPr>
        <p:spPr>
          <a:xfrm>
            <a:off x="411480" y="5833872"/>
            <a:ext cx="11368735" cy="530352"/>
          </a:xfrm>
          <a:prstGeom prst="rect">
            <a:avLst/>
          </a:prstGeom>
          <a:solidFill>
            <a:srgbClr val="FFF4E0"/>
          </a:solidFill>
          <a:ln w="6350">
            <a:solidFill>
              <a:srgbClr val="F1D9A8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411480" y="5833872"/>
            <a:ext cx="82296" cy="530352"/>
          </a:xfrm>
          <a:prstGeom prst="rect">
            <a:avLst/>
          </a:prstGeom>
          <a:solidFill>
            <a:srgbClr val="E39A2F"/>
          </a:solidFill>
          <a:ln w="12700">
            <a:solidFill>
              <a:srgbClr val="E39A2F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640080" y="5833872"/>
            <a:ext cx="1100297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7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   </a:t>
            </a:r>
            <a:r>
              <a:rPr lang="en-US" sz="115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should you read the metre rule with your eye level with the pointer?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EEF2FA"/>
          </a:solidFill>
          <a:ln w="12700">
            <a:solidFill>
              <a:srgbClr val="EEF2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87552"/>
            <a:ext cx="12191695" cy="27432"/>
          </a:xfrm>
          <a:prstGeom prst="rect">
            <a:avLst/>
          </a:prstGeom>
          <a:solidFill>
            <a:srgbClr val="D3DCF0"/>
          </a:solidFill>
          <a:ln w="12700">
            <a:solidFill>
              <a:srgbClr val="D3DC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18872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Practical: variables and safety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11480" y="6400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E5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Specification 15.6 • planning a fair test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0408615" y="292608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B8730A"/>
          </a:solidFill>
          <a:ln w="12700">
            <a:solidFill>
              <a:srgbClr val="B8730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408615" y="2926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PRACTICAL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6473952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Edexcel GCSE (9–1) Physics (1PH0) | Topic 15 Forces and matter | Higher &amp; Foundation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784080" y="647395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15.6  |  14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11480" y="1188720"/>
            <a:ext cx="5577840" cy="4526280"/>
          </a:xfrm>
          <a:prstGeom prst="roundRect">
            <a:avLst>
              <a:gd name="adj" fmla="val 1616"/>
            </a:avLst>
          </a:prstGeom>
          <a:solidFill>
            <a:srgbClr val="EEF1F8"/>
          </a:solidFill>
          <a:ln w="9525">
            <a:solidFill>
              <a:srgbClr val="DCE2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5404104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diagram — what you change, measure and keep the same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85800" y="1371600"/>
            <a:ext cx="502920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9050">
            <a:solidFill>
              <a:srgbClr val="2E5BD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1371600"/>
            <a:ext cx="109728" cy="1051560"/>
          </a:xfrm>
          <a:prstGeom prst="rect">
            <a:avLst/>
          </a:prstGeom>
          <a:solidFill>
            <a:srgbClr val="2E5BD8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1426464"/>
            <a:ext cx="466344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5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variable (you change)</a:t>
            </a:r>
            <a:endParaRPr lang="en-US" sz="1250" dirty="0"/>
          </a:p>
          <a:p>
            <a:pPr indent="0" marL="0">
              <a:buNone/>
            </a:pPr>
            <a:r>
              <a:rPr lang="en-US" sz="1150" b="1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</a:t>
            </a:r>
            <a:r>
              <a:rPr lang="en-US" sz="115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the spring (weight of the masses, N)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200400" y="2441448"/>
            <a:ext cx="91" cy="237744"/>
          </a:xfrm>
          <a:prstGeom prst="line">
            <a:avLst/>
          </a:prstGeom>
          <a:noFill/>
          <a:ln w="25400">
            <a:solidFill>
              <a:srgbClr val="6B7385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85800" y="2697480"/>
            <a:ext cx="502920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9050">
            <a:solidFill>
              <a:srgbClr val="C8414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" y="2697480"/>
            <a:ext cx="109728" cy="1051560"/>
          </a:xfrm>
          <a:prstGeom prst="rect">
            <a:avLst/>
          </a:prstGeom>
          <a:solidFill>
            <a:srgbClr val="C8414C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2752344"/>
            <a:ext cx="466344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8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Dependent variable (you measure)</a:t>
            </a:r>
            <a:endParaRPr lang="en-US" sz="1250" dirty="0"/>
          </a:p>
          <a:p>
            <a:pPr indent="0" marL="0">
              <a:buNone/>
            </a:pPr>
            <a:r>
              <a:rPr lang="en-US" sz="1150" b="1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</a:t>
            </a:r>
            <a:r>
              <a:rPr lang="en-US" sz="115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the spring (m), from the length readings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200400" y="3767328"/>
            <a:ext cx="91" cy="237744"/>
          </a:xfrm>
          <a:prstGeom prst="line">
            <a:avLst/>
          </a:prstGeom>
          <a:noFill/>
          <a:ln w="25400">
            <a:solidFill>
              <a:srgbClr val="6B7385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85800" y="4023360"/>
            <a:ext cx="502920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5800" y="4023360"/>
            <a:ext cx="109728" cy="1051560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4078224"/>
            <a:ext cx="466344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variables (keep the same)</a:t>
            </a:r>
            <a:endParaRPr lang="en-US" sz="1250" dirty="0"/>
          </a:p>
          <a:p>
            <a:pPr indent="0" marL="0">
              <a:buNone/>
            </a:pPr>
            <a:r>
              <a:rPr lang="en-US" sz="115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</a:t>
            </a:r>
            <a:r>
              <a:rPr lang="en-US" sz="1150" b="1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spring</a:t>
            </a:r>
            <a:r>
              <a:rPr lang="en-US" sz="115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• same starting position of the rule • same g / mass size steps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217920" y="1188720"/>
            <a:ext cx="5562295" cy="2057400"/>
          </a:xfrm>
          <a:prstGeom prst="roundRect">
            <a:avLst>
              <a:gd name="adj" fmla="val 2667"/>
            </a:avLst>
          </a:prstGeom>
          <a:solidFill>
            <a:srgbClr val="F5F8FE"/>
          </a:solidFill>
          <a:ln w="9525">
            <a:solidFill>
              <a:srgbClr val="D5DC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82512" y="1280160"/>
            <a:ext cx="523311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plan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382512" y="1609344"/>
            <a:ext cx="5233111" cy="1563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15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your graph to find </a:t>
            </a:r>
            <a:r>
              <a:rPr lang="en-US" sz="1150" b="1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r>
              <a:rPr lang="en-US" sz="115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from the gradient of the straight part.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15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</a:t>
            </a:r>
            <a:r>
              <a:rPr lang="en-US" sz="1150" b="1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done</a:t>
            </a:r>
            <a:r>
              <a:rPr lang="en-US" sz="115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from the area under the graph (or E = ½kx² in the linear region).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15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</a:t>
            </a:r>
            <a:r>
              <a:rPr lang="en-US" sz="1150" b="1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 of proportionality</a:t>
            </a:r>
            <a:r>
              <a:rPr lang="en-US" sz="115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where the line starts to curve.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217920" y="3383280"/>
            <a:ext cx="5562295" cy="2331720"/>
          </a:xfrm>
          <a:prstGeom prst="roundRect">
            <a:avLst>
              <a:gd name="adj" fmla="val 2353"/>
            </a:avLst>
          </a:prstGeom>
          <a:solidFill>
            <a:srgbClr val="FFF4E0"/>
          </a:solidFill>
          <a:ln w="9525">
            <a:solidFill>
              <a:srgbClr val="F1D9A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82512" y="3456432"/>
            <a:ext cx="523311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7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382512" y="3767328"/>
            <a:ext cx="5233111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Hazard → risk → control</a:t>
            </a:r>
            <a:endParaRPr lang="en-US" sz="1050" dirty="0"/>
          </a:p>
          <a:p>
            <a:pPr indent="0" marL="0">
              <a:spcBef>
                <a:spcPts val="200"/>
              </a:spcBef>
              <a:buNone/>
            </a:pPr>
            <a:r>
              <a:rPr lang="en-US" sz="1050" b="1" dirty="0">
                <a:solidFill>
                  <a:srgbClr val="2E5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Masses   </a:t>
            </a:r>
            <a:r>
              <a:rPr lang="en-US" sz="105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fall on feet → keep feet clear; tray or cushion below</a:t>
            </a:r>
            <a:endParaRPr lang="en-US" sz="1050" dirty="0"/>
          </a:p>
          <a:p>
            <a:pPr indent="0" marL="0">
              <a:spcBef>
                <a:spcPts val="200"/>
              </a:spcBef>
              <a:buNone/>
            </a:pPr>
            <a:r>
              <a:rPr lang="en-US" sz="1050" b="1" dirty="0">
                <a:solidFill>
                  <a:srgbClr val="2E5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Spring   </a:t>
            </a:r>
            <a:r>
              <a:rPr lang="en-US" sz="105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snap back into eyes → wear </a:t>
            </a:r>
            <a:r>
              <a:rPr lang="en-US" sz="1050" b="1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goggles</a:t>
            </a:r>
            <a:endParaRPr lang="en-US" sz="1050" dirty="0"/>
          </a:p>
          <a:p>
            <a:pPr indent="0" marL="0">
              <a:spcBef>
                <a:spcPts val="200"/>
              </a:spcBef>
              <a:buNone/>
            </a:pPr>
            <a:r>
              <a:rPr lang="en-US" sz="1050" b="1" dirty="0">
                <a:solidFill>
                  <a:srgbClr val="2E5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Stand   </a:t>
            </a:r>
            <a:r>
              <a:rPr lang="en-US" sz="105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topple → clamp it to the bench with a G-clamp</a:t>
            </a:r>
            <a:endParaRPr lang="en-US" sz="1050" dirty="0"/>
          </a:p>
          <a:p>
            <a:pPr indent="0" marL="0">
              <a:spcBef>
                <a:spcPts val="200"/>
              </a:spcBef>
              <a:buNone/>
            </a:pPr>
            <a:r>
              <a:rPr lang="en-US" sz="1050" b="1" dirty="0">
                <a:solidFill>
                  <a:srgbClr val="2E5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Answer   </a:t>
            </a:r>
            <a:r>
              <a:rPr lang="en-US" sz="1050" b="1" dirty="0">
                <a:solidFill>
                  <a:srgbClr val="C8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overload: stop when the spring stays stretched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11480" y="5833872"/>
            <a:ext cx="11368735" cy="530352"/>
          </a:xfrm>
          <a:prstGeom prst="rect">
            <a:avLst/>
          </a:prstGeom>
          <a:solidFill>
            <a:srgbClr val="FFF4E0"/>
          </a:solidFill>
          <a:ln w="6350">
            <a:solidFill>
              <a:srgbClr val="F1D9A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11480" y="5833872"/>
            <a:ext cx="82296" cy="530352"/>
          </a:xfrm>
          <a:prstGeom prst="rect">
            <a:avLst/>
          </a:prstGeom>
          <a:solidFill>
            <a:srgbClr val="E39A2F"/>
          </a:solidFill>
          <a:ln w="12700">
            <a:solidFill>
              <a:srgbClr val="E39A2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" y="5833872"/>
            <a:ext cx="1100297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7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   </a:t>
            </a:r>
            <a:r>
              <a:rPr lang="en-US" sz="115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independent variable and the dependent variable in this investigation.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EEF2FA"/>
          </a:solidFill>
          <a:ln w="12700">
            <a:solidFill>
              <a:srgbClr val="EEF2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87552"/>
            <a:ext cx="12191695" cy="27432"/>
          </a:xfrm>
          <a:prstGeom prst="rect">
            <a:avLst/>
          </a:prstGeom>
          <a:solidFill>
            <a:srgbClr val="D3DCF0"/>
          </a:solidFill>
          <a:ln w="12700">
            <a:solidFill>
              <a:srgbClr val="D3DC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18872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Practical: results and graph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11480" y="6400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E5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Specification 15.6 • sample results for one spring (g = 10 N/kg)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0408615" y="292608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B8730A"/>
          </a:solidFill>
          <a:ln w="12700">
            <a:solidFill>
              <a:srgbClr val="B8730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408615" y="2926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PRACTICAL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6473952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Edexcel GCSE (9–1) Physics (1PH0) | Topic 15 Forces and matter | Higher &amp; Foundation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784080" y="647395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15.6  |  15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11480" y="1188720"/>
            <a:ext cx="5577840" cy="4526280"/>
          </a:xfrm>
          <a:prstGeom prst="roundRect">
            <a:avLst>
              <a:gd name="adj" fmla="val 1616"/>
            </a:avLst>
          </a:prstGeom>
          <a:solidFill>
            <a:srgbClr val="EEF1F8"/>
          </a:solidFill>
          <a:ln w="9525">
            <a:solidFill>
              <a:srgbClr val="DCE2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5404104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diagram — sample data plotted to scale; best-fit line through the linear points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325880" y="1417320"/>
            <a:ext cx="4389120" cy="3291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1325880" y="1417320"/>
            <a:ext cx="91" cy="3291840"/>
          </a:xfrm>
          <a:prstGeom prst="line">
            <a:avLst/>
          </a:prstGeom>
          <a:noFill/>
          <a:ln w="6350">
            <a:solidFill>
              <a:srgbClr val="C9D3E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463040" y="1417320"/>
            <a:ext cx="91" cy="3291840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600200" y="1417320"/>
            <a:ext cx="91" cy="3291840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737360" y="1417320"/>
            <a:ext cx="91" cy="3291840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874520" y="1417320"/>
            <a:ext cx="91" cy="3291840"/>
          </a:xfrm>
          <a:prstGeom prst="line">
            <a:avLst/>
          </a:prstGeom>
          <a:noFill/>
          <a:ln w="6350">
            <a:solidFill>
              <a:srgbClr val="C9D3E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011680" y="1417320"/>
            <a:ext cx="91" cy="3291840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148840" y="1417320"/>
            <a:ext cx="91" cy="3291840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86000" y="1417320"/>
            <a:ext cx="91" cy="3291840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423160" y="1417320"/>
            <a:ext cx="91" cy="3291840"/>
          </a:xfrm>
          <a:prstGeom prst="line">
            <a:avLst/>
          </a:prstGeom>
          <a:noFill/>
          <a:ln w="6350">
            <a:solidFill>
              <a:srgbClr val="C9D3E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60320" y="1417320"/>
            <a:ext cx="91" cy="3291840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697480" y="1417320"/>
            <a:ext cx="91" cy="3291840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834640" y="1417320"/>
            <a:ext cx="91" cy="3291840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71800" y="1417320"/>
            <a:ext cx="91" cy="3291840"/>
          </a:xfrm>
          <a:prstGeom prst="line">
            <a:avLst/>
          </a:prstGeom>
          <a:noFill/>
          <a:ln w="6350">
            <a:solidFill>
              <a:srgbClr val="C9D3E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108960" y="1417320"/>
            <a:ext cx="91" cy="3291840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46120" y="1417320"/>
            <a:ext cx="91" cy="3291840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383280" y="1417320"/>
            <a:ext cx="91" cy="3291840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520440" y="1417320"/>
            <a:ext cx="91" cy="3291840"/>
          </a:xfrm>
          <a:prstGeom prst="line">
            <a:avLst/>
          </a:prstGeom>
          <a:noFill/>
          <a:ln w="6350">
            <a:solidFill>
              <a:srgbClr val="C9D3E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0" y="1417320"/>
            <a:ext cx="91" cy="3291840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794760" y="1417320"/>
            <a:ext cx="91" cy="3291840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931920" y="1417320"/>
            <a:ext cx="91" cy="3291840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069080" y="1417320"/>
            <a:ext cx="91" cy="3291840"/>
          </a:xfrm>
          <a:prstGeom prst="line">
            <a:avLst/>
          </a:prstGeom>
          <a:noFill/>
          <a:ln w="6350">
            <a:solidFill>
              <a:srgbClr val="C9D3E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206240" y="1417320"/>
            <a:ext cx="91" cy="3291840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343400" y="1417320"/>
            <a:ext cx="91" cy="3291840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480560" y="1417320"/>
            <a:ext cx="91" cy="3291840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617720" y="1417320"/>
            <a:ext cx="91" cy="3291840"/>
          </a:xfrm>
          <a:prstGeom prst="line">
            <a:avLst/>
          </a:prstGeom>
          <a:noFill/>
          <a:ln w="6350">
            <a:solidFill>
              <a:srgbClr val="C9D3E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754880" y="1417320"/>
            <a:ext cx="91" cy="3291840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892040" y="1417320"/>
            <a:ext cx="91" cy="3291840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029200" y="1417320"/>
            <a:ext cx="91" cy="3291840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166360" y="1417320"/>
            <a:ext cx="91" cy="3291840"/>
          </a:xfrm>
          <a:prstGeom prst="line">
            <a:avLst/>
          </a:prstGeom>
          <a:noFill/>
          <a:ln w="6350">
            <a:solidFill>
              <a:srgbClr val="C9D3E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303520" y="1417320"/>
            <a:ext cx="91" cy="3291840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440680" y="1417320"/>
            <a:ext cx="91" cy="3291840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577840" y="1417320"/>
            <a:ext cx="91" cy="3291840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715000" y="1417320"/>
            <a:ext cx="91" cy="3291840"/>
          </a:xfrm>
          <a:prstGeom prst="line">
            <a:avLst/>
          </a:prstGeom>
          <a:noFill/>
          <a:ln w="6350">
            <a:solidFill>
              <a:srgbClr val="C9D3E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325880" y="4709160"/>
            <a:ext cx="4389120" cy="91"/>
          </a:xfrm>
          <a:prstGeom prst="line">
            <a:avLst/>
          </a:prstGeom>
          <a:noFill/>
          <a:ln w="6350">
            <a:solidFill>
              <a:srgbClr val="C9D3E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325880" y="4606290"/>
            <a:ext cx="4389120" cy="91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325880" y="4503420"/>
            <a:ext cx="4389120" cy="91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325880" y="4400550"/>
            <a:ext cx="4389120" cy="91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325880" y="4297680"/>
            <a:ext cx="4389120" cy="91"/>
          </a:xfrm>
          <a:prstGeom prst="line">
            <a:avLst/>
          </a:prstGeom>
          <a:noFill/>
          <a:ln w="6350">
            <a:solidFill>
              <a:srgbClr val="C9D3E6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325880" y="4194810"/>
            <a:ext cx="4389120" cy="91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325880" y="4091940"/>
            <a:ext cx="4389120" cy="91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325880" y="3989070"/>
            <a:ext cx="4389120" cy="91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325880" y="3886200"/>
            <a:ext cx="4389120" cy="91"/>
          </a:xfrm>
          <a:prstGeom prst="line">
            <a:avLst/>
          </a:prstGeom>
          <a:noFill/>
          <a:ln w="6350">
            <a:solidFill>
              <a:srgbClr val="C9D3E6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325880" y="3783330"/>
            <a:ext cx="4389120" cy="91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325880" y="3680460"/>
            <a:ext cx="4389120" cy="91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325880" y="3577590"/>
            <a:ext cx="4389120" cy="91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325880" y="3474720"/>
            <a:ext cx="4389120" cy="91"/>
          </a:xfrm>
          <a:prstGeom prst="line">
            <a:avLst/>
          </a:prstGeom>
          <a:noFill/>
          <a:ln w="6350">
            <a:solidFill>
              <a:srgbClr val="C9D3E6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325880" y="3371850"/>
            <a:ext cx="4389120" cy="91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325880" y="3268980"/>
            <a:ext cx="4389120" cy="91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325880" y="3166110"/>
            <a:ext cx="4389120" cy="91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325880" y="3063240"/>
            <a:ext cx="4389120" cy="91"/>
          </a:xfrm>
          <a:prstGeom prst="line">
            <a:avLst/>
          </a:prstGeom>
          <a:noFill/>
          <a:ln w="6350">
            <a:solidFill>
              <a:srgbClr val="C9D3E6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325880" y="2960370"/>
            <a:ext cx="4389120" cy="91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325880" y="2857500"/>
            <a:ext cx="4389120" cy="91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325880" y="2754630"/>
            <a:ext cx="4389120" cy="91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325880" y="2651760"/>
            <a:ext cx="4389120" cy="91"/>
          </a:xfrm>
          <a:prstGeom prst="line">
            <a:avLst/>
          </a:prstGeom>
          <a:noFill/>
          <a:ln w="6350">
            <a:solidFill>
              <a:srgbClr val="C9D3E6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325880" y="2548890"/>
            <a:ext cx="4389120" cy="91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325880" y="2446020"/>
            <a:ext cx="4389120" cy="91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325880" y="2343150"/>
            <a:ext cx="4389120" cy="91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1325880" y="2240280"/>
            <a:ext cx="4389120" cy="91"/>
          </a:xfrm>
          <a:prstGeom prst="line">
            <a:avLst/>
          </a:prstGeom>
          <a:noFill/>
          <a:ln w="6350">
            <a:solidFill>
              <a:srgbClr val="C9D3E6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325880" y="2137410"/>
            <a:ext cx="4389120" cy="91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1325880" y="2034540"/>
            <a:ext cx="4389120" cy="91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1325880" y="1931670"/>
            <a:ext cx="4389120" cy="91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325880" y="1828800"/>
            <a:ext cx="4389120" cy="91"/>
          </a:xfrm>
          <a:prstGeom prst="line">
            <a:avLst/>
          </a:prstGeom>
          <a:noFill/>
          <a:ln w="6350">
            <a:solidFill>
              <a:srgbClr val="C9D3E6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325880" y="1725930"/>
            <a:ext cx="4389120" cy="91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1325880" y="1623060"/>
            <a:ext cx="4389120" cy="91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1325880" y="1520190"/>
            <a:ext cx="4389120" cy="91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1325880" y="1417320"/>
            <a:ext cx="4389120" cy="91"/>
          </a:xfrm>
          <a:prstGeom prst="line">
            <a:avLst/>
          </a:prstGeom>
          <a:noFill/>
          <a:ln w="6350">
            <a:solidFill>
              <a:srgbClr val="C9D3E6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1325880" y="4709160"/>
            <a:ext cx="4389120" cy="91"/>
          </a:xfrm>
          <a:prstGeom prst="line">
            <a:avLst/>
          </a:prstGeom>
          <a:noFill/>
          <a:ln w="19050">
            <a:solidFill>
              <a:srgbClr val="1A2340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 flipV="1">
            <a:off x="1325880" y="1417320"/>
            <a:ext cx="91" cy="3291840"/>
          </a:xfrm>
          <a:prstGeom prst="line">
            <a:avLst/>
          </a:prstGeom>
          <a:noFill/>
          <a:ln w="19050">
            <a:solidFill>
              <a:srgbClr val="1A2340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1325880" y="4709160"/>
            <a:ext cx="91" cy="54864"/>
          </a:xfrm>
          <a:prstGeom prst="line">
            <a:avLst/>
          </a:prstGeom>
          <a:noFill/>
          <a:ln w="12700">
            <a:solidFill>
              <a:srgbClr val="1A234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1051560" y="476402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</a:t>
            </a:r>
            <a:endParaRPr lang="en-US" sz="1000" dirty="0"/>
          </a:p>
        </p:txBody>
      </p:sp>
      <p:sp>
        <p:nvSpPr>
          <p:cNvPr id="83" name="Shape 81"/>
          <p:cNvSpPr/>
          <p:nvPr/>
        </p:nvSpPr>
        <p:spPr>
          <a:xfrm>
            <a:off x="1874520" y="4709160"/>
            <a:ext cx="91" cy="54864"/>
          </a:xfrm>
          <a:prstGeom prst="line">
            <a:avLst/>
          </a:prstGeom>
          <a:noFill/>
          <a:ln w="12700">
            <a:solidFill>
              <a:srgbClr val="1A234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1600200" y="476402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0.04</a:t>
            </a:r>
            <a:endParaRPr lang="en-US" sz="1000" dirty="0"/>
          </a:p>
        </p:txBody>
      </p:sp>
      <p:sp>
        <p:nvSpPr>
          <p:cNvPr id="85" name="Shape 83"/>
          <p:cNvSpPr/>
          <p:nvPr/>
        </p:nvSpPr>
        <p:spPr>
          <a:xfrm>
            <a:off x="2423160" y="4709160"/>
            <a:ext cx="91" cy="54864"/>
          </a:xfrm>
          <a:prstGeom prst="line">
            <a:avLst/>
          </a:prstGeom>
          <a:noFill/>
          <a:ln w="12700">
            <a:solidFill>
              <a:srgbClr val="1A234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2148840" y="476402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0.08</a:t>
            </a:r>
            <a:endParaRPr lang="en-US" sz="1000" dirty="0"/>
          </a:p>
        </p:txBody>
      </p:sp>
      <p:sp>
        <p:nvSpPr>
          <p:cNvPr id="87" name="Shape 85"/>
          <p:cNvSpPr/>
          <p:nvPr/>
        </p:nvSpPr>
        <p:spPr>
          <a:xfrm>
            <a:off x="2971800" y="4709160"/>
            <a:ext cx="91" cy="54864"/>
          </a:xfrm>
          <a:prstGeom prst="line">
            <a:avLst/>
          </a:prstGeom>
          <a:noFill/>
          <a:ln w="12700">
            <a:solidFill>
              <a:srgbClr val="1A2340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2697480" y="476402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0.12</a:t>
            </a:r>
            <a:endParaRPr lang="en-US" sz="1000" dirty="0"/>
          </a:p>
        </p:txBody>
      </p:sp>
      <p:sp>
        <p:nvSpPr>
          <p:cNvPr id="89" name="Shape 87"/>
          <p:cNvSpPr/>
          <p:nvPr/>
        </p:nvSpPr>
        <p:spPr>
          <a:xfrm>
            <a:off x="3520440" y="4709160"/>
            <a:ext cx="91" cy="54864"/>
          </a:xfrm>
          <a:prstGeom prst="line">
            <a:avLst/>
          </a:prstGeom>
          <a:noFill/>
          <a:ln w="12700">
            <a:solidFill>
              <a:srgbClr val="1A2340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3246120" y="476402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0.16</a:t>
            </a:r>
            <a:endParaRPr lang="en-US" sz="1000" dirty="0"/>
          </a:p>
        </p:txBody>
      </p:sp>
      <p:sp>
        <p:nvSpPr>
          <p:cNvPr id="91" name="Shape 89"/>
          <p:cNvSpPr/>
          <p:nvPr/>
        </p:nvSpPr>
        <p:spPr>
          <a:xfrm>
            <a:off x="4069080" y="4709160"/>
            <a:ext cx="91" cy="54864"/>
          </a:xfrm>
          <a:prstGeom prst="line">
            <a:avLst/>
          </a:prstGeom>
          <a:noFill/>
          <a:ln w="12700">
            <a:solidFill>
              <a:srgbClr val="1A2340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3794760" y="476402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0.20</a:t>
            </a:r>
            <a:endParaRPr lang="en-US" sz="1000" dirty="0"/>
          </a:p>
        </p:txBody>
      </p:sp>
      <p:sp>
        <p:nvSpPr>
          <p:cNvPr id="93" name="Shape 91"/>
          <p:cNvSpPr/>
          <p:nvPr/>
        </p:nvSpPr>
        <p:spPr>
          <a:xfrm>
            <a:off x="4617720" y="4709160"/>
            <a:ext cx="91" cy="54864"/>
          </a:xfrm>
          <a:prstGeom prst="line">
            <a:avLst/>
          </a:prstGeom>
          <a:noFill/>
          <a:ln w="12700">
            <a:solidFill>
              <a:srgbClr val="1A2340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4343400" y="476402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0.24</a:t>
            </a:r>
            <a:endParaRPr lang="en-US" sz="1000" dirty="0"/>
          </a:p>
        </p:txBody>
      </p:sp>
      <p:sp>
        <p:nvSpPr>
          <p:cNvPr id="95" name="Shape 93"/>
          <p:cNvSpPr/>
          <p:nvPr/>
        </p:nvSpPr>
        <p:spPr>
          <a:xfrm>
            <a:off x="5166360" y="4709160"/>
            <a:ext cx="91" cy="54864"/>
          </a:xfrm>
          <a:prstGeom prst="line">
            <a:avLst/>
          </a:prstGeom>
          <a:noFill/>
          <a:ln w="12700">
            <a:solidFill>
              <a:srgbClr val="1A2340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4892040" y="476402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0.28</a:t>
            </a:r>
            <a:endParaRPr lang="en-US" sz="1000" dirty="0"/>
          </a:p>
        </p:txBody>
      </p:sp>
      <p:sp>
        <p:nvSpPr>
          <p:cNvPr id="97" name="Shape 95"/>
          <p:cNvSpPr/>
          <p:nvPr/>
        </p:nvSpPr>
        <p:spPr>
          <a:xfrm>
            <a:off x="5715000" y="4709160"/>
            <a:ext cx="91" cy="54864"/>
          </a:xfrm>
          <a:prstGeom prst="line">
            <a:avLst/>
          </a:prstGeom>
          <a:noFill/>
          <a:ln w="12700">
            <a:solidFill>
              <a:srgbClr val="1A2340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5440680" y="476402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0.32</a:t>
            </a:r>
            <a:endParaRPr lang="en-US" sz="1000" dirty="0"/>
          </a:p>
        </p:txBody>
      </p:sp>
      <p:sp>
        <p:nvSpPr>
          <p:cNvPr id="99" name="Shape 97"/>
          <p:cNvSpPr/>
          <p:nvPr/>
        </p:nvSpPr>
        <p:spPr>
          <a:xfrm>
            <a:off x="1271016" y="4709160"/>
            <a:ext cx="54864" cy="91"/>
          </a:xfrm>
          <a:prstGeom prst="line">
            <a:avLst/>
          </a:prstGeom>
          <a:noFill/>
          <a:ln w="12700">
            <a:solidFill>
              <a:srgbClr val="1A2340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886968" y="46177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101" name="Shape 99"/>
          <p:cNvSpPr/>
          <p:nvPr/>
        </p:nvSpPr>
        <p:spPr>
          <a:xfrm>
            <a:off x="1271016" y="4297680"/>
            <a:ext cx="54864" cy="91"/>
          </a:xfrm>
          <a:prstGeom prst="line">
            <a:avLst/>
          </a:prstGeom>
          <a:noFill/>
          <a:ln w="12700">
            <a:solidFill>
              <a:srgbClr val="1A2340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886968" y="420624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03" name="Shape 101"/>
          <p:cNvSpPr/>
          <p:nvPr/>
        </p:nvSpPr>
        <p:spPr>
          <a:xfrm>
            <a:off x="1271016" y="3886200"/>
            <a:ext cx="54864" cy="91"/>
          </a:xfrm>
          <a:prstGeom prst="line">
            <a:avLst/>
          </a:prstGeom>
          <a:noFill/>
          <a:ln w="12700">
            <a:solidFill>
              <a:srgbClr val="1A2340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886968" y="379476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05" name="Shape 103"/>
          <p:cNvSpPr/>
          <p:nvPr/>
        </p:nvSpPr>
        <p:spPr>
          <a:xfrm>
            <a:off x="1271016" y="3474720"/>
            <a:ext cx="54864" cy="91"/>
          </a:xfrm>
          <a:prstGeom prst="line">
            <a:avLst/>
          </a:prstGeom>
          <a:noFill/>
          <a:ln w="12700">
            <a:solidFill>
              <a:srgbClr val="1A2340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886968" y="338328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07" name="Shape 105"/>
          <p:cNvSpPr/>
          <p:nvPr/>
        </p:nvSpPr>
        <p:spPr>
          <a:xfrm>
            <a:off x="1271016" y="3063240"/>
            <a:ext cx="54864" cy="91"/>
          </a:xfrm>
          <a:prstGeom prst="line">
            <a:avLst/>
          </a:prstGeom>
          <a:noFill/>
          <a:ln w="12700">
            <a:solidFill>
              <a:srgbClr val="1A2340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886968" y="29718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09" name="Shape 107"/>
          <p:cNvSpPr/>
          <p:nvPr/>
        </p:nvSpPr>
        <p:spPr>
          <a:xfrm>
            <a:off x="1271016" y="2651760"/>
            <a:ext cx="54864" cy="91"/>
          </a:xfrm>
          <a:prstGeom prst="line">
            <a:avLst/>
          </a:prstGeom>
          <a:noFill/>
          <a:ln w="12700">
            <a:solidFill>
              <a:srgbClr val="1A2340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886968" y="25603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111" name="Shape 109"/>
          <p:cNvSpPr/>
          <p:nvPr/>
        </p:nvSpPr>
        <p:spPr>
          <a:xfrm>
            <a:off x="1271016" y="2240280"/>
            <a:ext cx="54864" cy="91"/>
          </a:xfrm>
          <a:prstGeom prst="line">
            <a:avLst/>
          </a:prstGeom>
          <a:noFill/>
          <a:ln w="12700">
            <a:solidFill>
              <a:srgbClr val="1A2340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886968" y="214884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113" name="Shape 111"/>
          <p:cNvSpPr/>
          <p:nvPr/>
        </p:nvSpPr>
        <p:spPr>
          <a:xfrm>
            <a:off x="1271016" y="1828800"/>
            <a:ext cx="54864" cy="91"/>
          </a:xfrm>
          <a:prstGeom prst="line">
            <a:avLst/>
          </a:prstGeom>
          <a:noFill/>
          <a:ln w="12700">
            <a:solidFill>
              <a:srgbClr val="1A2340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886968" y="173736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115" name="Shape 113"/>
          <p:cNvSpPr/>
          <p:nvPr/>
        </p:nvSpPr>
        <p:spPr>
          <a:xfrm>
            <a:off x="1271016" y="1417320"/>
            <a:ext cx="54864" cy="91"/>
          </a:xfrm>
          <a:prstGeom prst="line">
            <a:avLst/>
          </a:prstGeom>
          <a:noFill/>
          <a:ln w="12700">
            <a:solidFill>
              <a:srgbClr val="1A2340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886968" y="132588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117" name="Text 115"/>
          <p:cNvSpPr/>
          <p:nvPr/>
        </p:nvSpPr>
        <p:spPr>
          <a:xfrm>
            <a:off x="1325880" y="495604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 / m</a:t>
            </a:r>
            <a:endParaRPr lang="en-US" sz="1050" dirty="0"/>
          </a:p>
        </p:txBody>
      </p:sp>
      <p:sp>
        <p:nvSpPr>
          <p:cNvPr id="118" name="Text 116"/>
          <p:cNvSpPr/>
          <p:nvPr/>
        </p:nvSpPr>
        <p:spPr>
          <a:xfrm rot="16200000">
            <a:off x="-886968" y="293522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 / N</a:t>
            </a:r>
            <a:endParaRPr lang="en-US" sz="1050" dirty="0"/>
          </a:p>
        </p:txBody>
      </p:sp>
      <p:sp>
        <p:nvSpPr>
          <p:cNvPr id="119" name="Shape 117"/>
          <p:cNvSpPr/>
          <p:nvPr/>
        </p:nvSpPr>
        <p:spPr>
          <a:xfrm>
            <a:off x="1280160" y="4663440"/>
            <a:ext cx="91440" cy="91440"/>
          </a:xfrm>
          <a:prstGeom prst="line">
            <a:avLst/>
          </a:prstGeom>
          <a:noFill/>
          <a:ln w="15875">
            <a:solidFill>
              <a:srgbClr val="1A2340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 flipV="1">
            <a:off x="1280160" y="4663440"/>
            <a:ext cx="91440" cy="91440"/>
          </a:xfrm>
          <a:prstGeom prst="line">
            <a:avLst/>
          </a:prstGeom>
          <a:noFill/>
          <a:ln w="15875">
            <a:solidFill>
              <a:srgbClr val="1A2340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1842516" y="4251960"/>
            <a:ext cx="91440" cy="91440"/>
          </a:xfrm>
          <a:prstGeom prst="line">
            <a:avLst/>
          </a:prstGeom>
          <a:noFill/>
          <a:ln w="15875">
            <a:solidFill>
              <a:srgbClr val="1A2340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 flipV="1">
            <a:off x="1842516" y="4251960"/>
            <a:ext cx="91440" cy="91440"/>
          </a:xfrm>
          <a:prstGeom prst="line">
            <a:avLst/>
          </a:prstGeom>
          <a:noFill/>
          <a:ln w="15875">
            <a:solidFill>
              <a:srgbClr val="1A2340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2363724" y="3840480"/>
            <a:ext cx="91440" cy="91440"/>
          </a:xfrm>
          <a:prstGeom prst="line">
            <a:avLst/>
          </a:prstGeom>
          <a:noFill/>
          <a:ln w="15875">
            <a:solidFill>
              <a:srgbClr val="1A2340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 flipV="1">
            <a:off x="2363724" y="3840480"/>
            <a:ext cx="91440" cy="91440"/>
          </a:xfrm>
          <a:prstGeom prst="line">
            <a:avLst/>
          </a:prstGeom>
          <a:noFill/>
          <a:ln w="15875">
            <a:solidFill>
              <a:srgbClr val="1A2340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2926080" y="3429000"/>
            <a:ext cx="91440" cy="91440"/>
          </a:xfrm>
          <a:prstGeom prst="line">
            <a:avLst/>
          </a:prstGeom>
          <a:noFill/>
          <a:ln w="15875">
            <a:solidFill>
              <a:srgbClr val="1A2340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 flipV="1">
            <a:off x="2926080" y="3429000"/>
            <a:ext cx="91440" cy="91440"/>
          </a:xfrm>
          <a:prstGeom prst="line">
            <a:avLst/>
          </a:prstGeom>
          <a:noFill/>
          <a:ln w="15875">
            <a:solidFill>
              <a:srgbClr val="1A2340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3488436" y="3017520"/>
            <a:ext cx="91440" cy="91440"/>
          </a:xfrm>
          <a:prstGeom prst="line">
            <a:avLst/>
          </a:prstGeom>
          <a:noFill/>
          <a:ln w="15875">
            <a:solidFill>
              <a:srgbClr val="1A2340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 flipV="1">
            <a:off x="3488436" y="3017520"/>
            <a:ext cx="91440" cy="91440"/>
          </a:xfrm>
          <a:prstGeom prst="line">
            <a:avLst/>
          </a:prstGeom>
          <a:noFill/>
          <a:ln w="15875">
            <a:solidFill>
              <a:srgbClr val="1A2340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4009644" y="2606040"/>
            <a:ext cx="91440" cy="91440"/>
          </a:xfrm>
          <a:prstGeom prst="line">
            <a:avLst/>
          </a:prstGeom>
          <a:noFill/>
          <a:ln w="15875">
            <a:solidFill>
              <a:srgbClr val="1A2340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 flipV="1">
            <a:off x="4009644" y="2606040"/>
            <a:ext cx="91440" cy="91440"/>
          </a:xfrm>
          <a:prstGeom prst="line">
            <a:avLst/>
          </a:prstGeom>
          <a:noFill/>
          <a:ln w="15875">
            <a:solidFill>
              <a:srgbClr val="1A2340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4572000" y="2194560"/>
            <a:ext cx="91440" cy="91440"/>
          </a:xfrm>
          <a:prstGeom prst="line">
            <a:avLst/>
          </a:prstGeom>
          <a:noFill/>
          <a:ln w="15875">
            <a:solidFill>
              <a:srgbClr val="1A2340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 flipV="1">
            <a:off x="4572000" y="2194560"/>
            <a:ext cx="91440" cy="91440"/>
          </a:xfrm>
          <a:prstGeom prst="line">
            <a:avLst/>
          </a:prstGeom>
          <a:noFill/>
          <a:ln w="15875">
            <a:solidFill>
              <a:srgbClr val="1A2340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5463540" y="1783080"/>
            <a:ext cx="91440" cy="91440"/>
          </a:xfrm>
          <a:prstGeom prst="line">
            <a:avLst/>
          </a:prstGeom>
          <a:noFill/>
          <a:ln w="15875">
            <a:solidFill>
              <a:srgbClr val="1A2340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 flipV="1">
            <a:off x="5463540" y="1783080"/>
            <a:ext cx="91440" cy="91440"/>
          </a:xfrm>
          <a:prstGeom prst="line">
            <a:avLst/>
          </a:prstGeom>
          <a:noFill/>
          <a:ln w="15875">
            <a:solidFill>
              <a:srgbClr val="1A2340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 flipV="1">
            <a:off x="1325880" y="2240280"/>
            <a:ext cx="3291840" cy="2468880"/>
          </a:xfrm>
          <a:prstGeom prst="line">
            <a:avLst/>
          </a:prstGeom>
          <a:noFill/>
          <a:ln w="25400">
            <a:solidFill>
              <a:srgbClr val="2E5BD8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 flipV="1">
            <a:off x="4617720" y="2067458"/>
            <a:ext cx="274320" cy="172822"/>
          </a:xfrm>
          <a:prstGeom prst="line">
            <a:avLst/>
          </a:prstGeom>
          <a:noFill/>
          <a:ln w="25400">
            <a:solidFill>
              <a:srgbClr val="C8414C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 flipV="1">
            <a:off x="4892040" y="1931670"/>
            <a:ext cx="274320" cy="135788"/>
          </a:xfrm>
          <a:prstGeom prst="line">
            <a:avLst/>
          </a:prstGeom>
          <a:noFill/>
          <a:ln w="25400">
            <a:solidFill>
              <a:srgbClr val="C8414C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 flipV="1">
            <a:off x="5166360" y="1828800"/>
            <a:ext cx="342900" cy="102870"/>
          </a:xfrm>
          <a:prstGeom prst="line">
            <a:avLst/>
          </a:prstGeom>
          <a:noFill/>
          <a:ln w="25400">
            <a:solidFill>
              <a:srgbClr val="C8414C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4544568" y="2167128"/>
            <a:ext cx="146304" cy="146304"/>
          </a:xfrm>
          <a:prstGeom prst="ellipse">
            <a:avLst/>
          </a:prstGeom>
          <a:ln w="19050">
            <a:solidFill>
              <a:srgbClr val="1A2340"/>
            </a:solidFill>
            <a:prstDash val="solid"/>
          </a:ln>
        </p:spPr>
      </p:sp>
      <p:sp>
        <p:nvSpPr>
          <p:cNvPr id="140" name="Text 138"/>
          <p:cNvSpPr/>
          <p:nvPr/>
        </p:nvSpPr>
        <p:spPr>
          <a:xfrm>
            <a:off x="4754880" y="2816352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 of</a:t>
            </a:r>
            <a:endParaRPr lang="en-US" sz="1050" dirty="0"/>
          </a:p>
          <a:p>
            <a:pPr algn="l" indent="0" marL="0">
              <a:buNone/>
            </a:pPr>
            <a:r>
              <a:rPr lang="en-US" sz="1050" b="1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proportionality</a:t>
            </a:r>
            <a:endParaRPr lang="en-US" sz="1050" dirty="0"/>
          </a:p>
        </p:txBody>
      </p:sp>
      <p:sp>
        <p:nvSpPr>
          <p:cNvPr id="141" name="Shape 139"/>
          <p:cNvSpPr/>
          <p:nvPr/>
        </p:nvSpPr>
        <p:spPr>
          <a:xfrm flipH="1" flipV="1">
            <a:off x="4672584" y="2313432"/>
            <a:ext cx="219456" cy="502920"/>
          </a:xfrm>
          <a:prstGeom prst="line">
            <a:avLst/>
          </a:prstGeom>
          <a:noFill/>
          <a:ln w="12700">
            <a:solidFill>
              <a:srgbClr val="1A2340"/>
            </a:solidFill>
            <a:prstDash val="solid"/>
            <a:tailEnd type="triangle"/>
          </a:ln>
        </p:spPr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1188720"/>
          <a:ext cx="5559552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371600"/>
                <a:gridCol w="1463040"/>
                <a:gridCol w="1444752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Force / 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Length / cm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Extension / cm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Extension / 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4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6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6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6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6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6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6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6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6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6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6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6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6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0.079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6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6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6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6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0.120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6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6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6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6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0.161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6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6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6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6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0.199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6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6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6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6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0.240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C8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C8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36.5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C8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C8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0.305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A"/>
                    </a:solidFill>
                  </a:tcPr>
                </a:tc>
              </a:tr>
            </a:tbl>
          </a:graphicData>
        </a:graphic>
      </p:graphicFrame>
      <p:sp>
        <p:nvSpPr>
          <p:cNvPr id="143" name="Shape 140"/>
          <p:cNvSpPr/>
          <p:nvPr/>
        </p:nvSpPr>
        <p:spPr>
          <a:xfrm>
            <a:off x="6217920" y="4279392"/>
            <a:ext cx="5559552" cy="1435608"/>
          </a:xfrm>
          <a:prstGeom prst="roundRect">
            <a:avLst>
              <a:gd name="adj" fmla="val 3822"/>
            </a:avLst>
          </a:prstGeom>
          <a:solidFill>
            <a:srgbClr val="F5F8FE"/>
          </a:solidFill>
          <a:ln w="9525">
            <a:solidFill>
              <a:srgbClr val="D5DCEB"/>
            </a:solidFill>
            <a:prstDash val="solid"/>
          </a:ln>
        </p:spPr>
      </p:sp>
      <p:sp>
        <p:nvSpPr>
          <p:cNvPr id="144" name="Text 141"/>
          <p:cNvSpPr/>
          <p:nvPr/>
        </p:nvSpPr>
        <p:spPr>
          <a:xfrm>
            <a:off x="6382512" y="4370832"/>
            <a:ext cx="5230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results show</a:t>
            </a:r>
            <a:endParaRPr lang="en-US" sz="1300" dirty="0"/>
          </a:p>
        </p:txBody>
      </p:sp>
      <p:sp>
        <p:nvSpPr>
          <p:cNvPr id="145" name="Text 142"/>
          <p:cNvSpPr/>
          <p:nvPr/>
        </p:nvSpPr>
        <p:spPr>
          <a:xfrm>
            <a:off x="6382512" y="4700016"/>
            <a:ext cx="5230368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10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</a:t>
            </a:r>
            <a:r>
              <a:rPr lang="en-US" sz="1100" b="1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6.0 N</a:t>
            </a:r>
            <a:r>
              <a:rPr lang="en-US" sz="110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points lie on a straight line through the origin: F ∝ x.</a:t>
            </a:r>
            <a:endParaRPr lang="en-US" sz="110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10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</a:t>
            </a:r>
            <a:r>
              <a:rPr lang="en-US" sz="1100" b="1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7.0 N</a:t>
            </a:r>
            <a:r>
              <a:rPr lang="en-US" sz="110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point (red) is off the line: the spring has passed its limit of proportionality.</a:t>
            </a:r>
            <a:endParaRPr lang="en-US" sz="110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10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length = 6.0 cm. Each extension = length − 6.0 cm.</a:t>
            </a:r>
            <a:endParaRPr lang="en-US" sz="1100" dirty="0"/>
          </a:p>
        </p:txBody>
      </p:sp>
      <p:sp>
        <p:nvSpPr>
          <p:cNvPr id="146" name="Shape 143"/>
          <p:cNvSpPr/>
          <p:nvPr/>
        </p:nvSpPr>
        <p:spPr>
          <a:xfrm>
            <a:off x="411480" y="5833872"/>
            <a:ext cx="11368735" cy="530352"/>
          </a:xfrm>
          <a:prstGeom prst="rect">
            <a:avLst/>
          </a:prstGeom>
          <a:solidFill>
            <a:srgbClr val="FFF4E0"/>
          </a:solidFill>
          <a:ln w="6350">
            <a:solidFill>
              <a:srgbClr val="F1D9A8"/>
            </a:solidFill>
            <a:prstDash val="solid"/>
          </a:ln>
        </p:spPr>
      </p:sp>
      <p:sp>
        <p:nvSpPr>
          <p:cNvPr id="147" name="Shape 144"/>
          <p:cNvSpPr/>
          <p:nvPr/>
        </p:nvSpPr>
        <p:spPr>
          <a:xfrm>
            <a:off x="411480" y="5833872"/>
            <a:ext cx="82296" cy="530352"/>
          </a:xfrm>
          <a:prstGeom prst="rect">
            <a:avLst/>
          </a:prstGeom>
          <a:solidFill>
            <a:srgbClr val="E39A2F"/>
          </a:solidFill>
          <a:ln w="12700">
            <a:solidFill>
              <a:srgbClr val="E39A2F"/>
            </a:solidFill>
            <a:prstDash val="solid"/>
          </a:ln>
        </p:spPr>
      </p:sp>
      <p:sp>
        <p:nvSpPr>
          <p:cNvPr id="148" name="Text 145"/>
          <p:cNvSpPr/>
          <p:nvPr/>
        </p:nvSpPr>
        <p:spPr>
          <a:xfrm>
            <a:off x="640080" y="5833872"/>
            <a:ext cx="1100297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7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   </a:t>
            </a:r>
            <a:r>
              <a:rPr lang="en-US" sz="115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table: what is the extension, in metres, when the force is 4.0 N? Is this point on the straight line?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EEF2FA"/>
          </a:solidFill>
          <a:ln w="12700">
            <a:solidFill>
              <a:srgbClr val="EEF2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87552"/>
            <a:ext cx="12191695" cy="27432"/>
          </a:xfrm>
          <a:prstGeom prst="rect">
            <a:avLst/>
          </a:prstGeom>
          <a:solidFill>
            <a:srgbClr val="D3DCF0"/>
          </a:solidFill>
          <a:ln w="12700">
            <a:solidFill>
              <a:srgbClr val="D3DC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18872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Practical: spring constant and work done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11480" y="6400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E5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Specification 15.6, 15.4 • analysing the graph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0408615" y="292608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B8730A"/>
          </a:solidFill>
          <a:ln w="12700">
            <a:solidFill>
              <a:srgbClr val="B8730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408615" y="2926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PRACTICAL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6473952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Edexcel GCSE (9–1) Physics (1PH0) | Topic 15 Forces and matter | Higher &amp; Foundation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784080" y="647395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15.6  |  16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11480" y="1188720"/>
            <a:ext cx="5577840" cy="4526280"/>
          </a:xfrm>
          <a:prstGeom prst="roundRect">
            <a:avLst>
              <a:gd name="adj" fmla="val 1616"/>
            </a:avLst>
          </a:prstGeom>
          <a:solidFill>
            <a:srgbClr val="EEF1F8"/>
          </a:solidFill>
          <a:ln w="9525">
            <a:solidFill>
              <a:srgbClr val="DCE2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5404104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diagram — gradient triangle and shaded area on the best-fit line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325880" y="1417320"/>
            <a:ext cx="4389120" cy="3291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1325880" y="1417320"/>
            <a:ext cx="91" cy="3291840"/>
          </a:xfrm>
          <a:prstGeom prst="line">
            <a:avLst/>
          </a:prstGeom>
          <a:noFill/>
          <a:ln w="6350">
            <a:solidFill>
              <a:srgbClr val="C9D3E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463040" y="1417320"/>
            <a:ext cx="91" cy="3291840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600200" y="1417320"/>
            <a:ext cx="91" cy="3291840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737360" y="1417320"/>
            <a:ext cx="91" cy="3291840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874520" y="1417320"/>
            <a:ext cx="91" cy="3291840"/>
          </a:xfrm>
          <a:prstGeom prst="line">
            <a:avLst/>
          </a:prstGeom>
          <a:noFill/>
          <a:ln w="6350">
            <a:solidFill>
              <a:srgbClr val="C9D3E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011680" y="1417320"/>
            <a:ext cx="91" cy="3291840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148840" y="1417320"/>
            <a:ext cx="91" cy="3291840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86000" y="1417320"/>
            <a:ext cx="91" cy="3291840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423160" y="1417320"/>
            <a:ext cx="91" cy="3291840"/>
          </a:xfrm>
          <a:prstGeom prst="line">
            <a:avLst/>
          </a:prstGeom>
          <a:noFill/>
          <a:ln w="6350">
            <a:solidFill>
              <a:srgbClr val="C9D3E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60320" y="1417320"/>
            <a:ext cx="91" cy="3291840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697480" y="1417320"/>
            <a:ext cx="91" cy="3291840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834640" y="1417320"/>
            <a:ext cx="91" cy="3291840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71800" y="1417320"/>
            <a:ext cx="91" cy="3291840"/>
          </a:xfrm>
          <a:prstGeom prst="line">
            <a:avLst/>
          </a:prstGeom>
          <a:noFill/>
          <a:ln w="6350">
            <a:solidFill>
              <a:srgbClr val="C9D3E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108960" y="1417320"/>
            <a:ext cx="91" cy="3291840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46120" y="1417320"/>
            <a:ext cx="91" cy="3291840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383280" y="1417320"/>
            <a:ext cx="91" cy="3291840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520440" y="1417320"/>
            <a:ext cx="91" cy="3291840"/>
          </a:xfrm>
          <a:prstGeom prst="line">
            <a:avLst/>
          </a:prstGeom>
          <a:noFill/>
          <a:ln w="6350">
            <a:solidFill>
              <a:srgbClr val="C9D3E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0" y="1417320"/>
            <a:ext cx="91" cy="3291840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794760" y="1417320"/>
            <a:ext cx="91" cy="3291840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931920" y="1417320"/>
            <a:ext cx="91" cy="3291840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069080" y="1417320"/>
            <a:ext cx="91" cy="3291840"/>
          </a:xfrm>
          <a:prstGeom prst="line">
            <a:avLst/>
          </a:prstGeom>
          <a:noFill/>
          <a:ln w="6350">
            <a:solidFill>
              <a:srgbClr val="C9D3E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206240" y="1417320"/>
            <a:ext cx="91" cy="3291840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343400" y="1417320"/>
            <a:ext cx="91" cy="3291840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480560" y="1417320"/>
            <a:ext cx="91" cy="3291840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617720" y="1417320"/>
            <a:ext cx="91" cy="3291840"/>
          </a:xfrm>
          <a:prstGeom prst="line">
            <a:avLst/>
          </a:prstGeom>
          <a:noFill/>
          <a:ln w="6350">
            <a:solidFill>
              <a:srgbClr val="C9D3E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754880" y="1417320"/>
            <a:ext cx="91" cy="3291840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892040" y="1417320"/>
            <a:ext cx="91" cy="3291840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029200" y="1417320"/>
            <a:ext cx="91" cy="3291840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166360" y="1417320"/>
            <a:ext cx="91" cy="3291840"/>
          </a:xfrm>
          <a:prstGeom prst="line">
            <a:avLst/>
          </a:prstGeom>
          <a:noFill/>
          <a:ln w="6350">
            <a:solidFill>
              <a:srgbClr val="C9D3E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303520" y="1417320"/>
            <a:ext cx="91" cy="3291840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440680" y="1417320"/>
            <a:ext cx="91" cy="3291840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577840" y="1417320"/>
            <a:ext cx="91" cy="3291840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715000" y="1417320"/>
            <a:ext cx="91" cy="3291840"/>
          </a:xfrm>
          <a:prstGeom prst="line">
            <a:avLst/>
          </a:prstGeom>
          <a:noFill/>
          <a:ln w="6350">
            <a:solidFill>
              <a:srgbClr val="C9D3E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325880" y="4709160"/>
            <a:ext cx="4389120" cy="91"/>
          </a:xfrm>
          <a:prstGeom prst="line">
            <a:avLst/>
          </a:prstGeom>
          <a:noFill/>
          <a:ln w="6350">
            <a:solidFill>
              <a:srgbClr val="C9D3E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325880" y="4606290"/>
            <a:ext cx="4389120" cy="91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325880" y="4503420"/>
            <a:ext cx="4389120" cy="91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325880" y="4400550"/>
            <a:ext cx="4389120" cy="91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325880" y="4297680"/>
            <a:ext cx="4389120" cy="91"/>
          </a:xfrm>
          <a:prstGeom prst="line">
            <a:avLst/>
          </a:prstGeom>
          <a:noFill/>
          <a:ln w="6350">
            <a:solidFill>
              <a:srgbClr val="C9D3E6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325880" y="4194810"/>
            <a:ext cx="4389120" cy="91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325880" y="4091940"/>
            <a:ext cx="4389120" cy="91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325880" y="3989070"/>
            <a:ext cx="4389120" cy="91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325880" y="3886200"/>
            <a:ext cx="4389120" cy="91"/>
          </a:xfrm>
          <a:prstGeom prst="line">
            <a:avLst/>
          </a:prstGeom>
          <a:noFill/>
          <a:ln w="6350">
            <a:solidFill>
              <a:srgbClr val="C9D3E6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325880" y="3783330"/>
            <a:ext cx="4389120" cy="91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325880" y="3680460"/>
            <a:ext cx="4389120" cy="91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325880" y="3577590"/>
            <a:ext cx="4389120" cy="91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325880" y="3474720"/>
            <a:ext cx="4389120" cy="91"/>
          </a:xfrm>
          <a:prstGeom prst="line">
            <a:avLst/>
          </a:prstGeom>
          <a:noFill/>
          <a:ln w="6350">
            <a:solidFill>
              <a:srgbClr val="C9D3E6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325880" y="3371850"/>
            <a:ext cx="4389120" cy="91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325880" y="3268980"/>
            <a:ext cx="4389120" cy="91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325880" y="3166110"/>
            <a:ext cx="4389120" cy="91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325880" y="3063240"/>
            <a:ext cx="4389120" cy="91"/>
          </a:xfrm>
          <a:prstGeom prst="line">
            <a:avLst/>
          </a:prstGeom>
          <a:noFill/>
          <a:ln w="6350">
            <a:solidFill>
              <a:srgbClr val="C9D3E6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325880" y="2960370"/>
            <a:ext cx="4389120" cy="91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325880" y="2857500"/>
            <a:ext cx="4389120" cy="91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325880" y="2754630"/>
            <a:ext cx="4389120" cy="91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325880" y="2651760"/>
            <a:ext cx="4389120" cy="91"/>
          </a:xfrm>
          <a:prstGeom prst="line">
            <a:avLst/>
          </a:prstGeom>
          <a:noFill/>
          <a:ln w="6350">
            <a:solidFill>
              <a:srgbClr val="C9D3E6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325880" y="2548890"/>
            <a:ext cx="4389120" cy="91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325880" y="2446020"/>
            <a:ext cx="4389120" cy="91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325880" y="2343150"/>
            <a:ext cx="4389120" cy="91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1325880" y="2240280"/>
            <a:ext cx="4389120" cy="91"/>
          </a:xfrm>
          <a:prstGeom prst="line">
            <a:avLst/>
          </a:prstGeom>
          <a:noFill/>
          <a:ln w="6350">
            <a:solidFill>
              <a:srgbClr val="C9D3E6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325880" y="2137410"/>
            <a:ext cx="4389120" cy="91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1325880" y="2034540"/>
            <a:ext cx="4389120" cy="91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1325880" y="1931670"/>
            <a:ext cx="4389120" cy="91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325880" y="1828800"/>
            <a:ext cx="4389120" cy="91"/>
          </a:xfrm>
          <a:prstGeom prst="line">
            <a:avLst/>
          </a:prstGeom>
          <a:noFill/>
          <a:ln w="6350">
            <a:solidFill>
              <a:srgbClr val="C9D3E6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325880" y="1725930"/>
            <a:ext cx="4389120" cy="91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1325880" y="1623060"/>
            <a:ext cx="4389120" cy="91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1325880" y="1520190"/>
            <a:ext cx="4389120" cy="91"/>
          </a:xfrm>
          <a:prstGeom prst="line">
            <a:avLst/>
          </a:prstGeom>
          <a:noFill/>
          <a:ln w="6350">
            <a:solidFill>
              <a:srgbClr val="E6EBF4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1325880" y="1417320"/>
            <a:ext cx="4389120" cy="91"/>
          </a:xfrm>
          <a:prstGeom prst="line">
            <a:avLst/>
          </a:prstGeom>
          <a:noFill/>
          <a:ln w="6350">
            <a:solidFill>
              <a:srgbClr val="C9D3E6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1325880" y="4709160"/>
            <a:ext cx="4389120" cy="91"/>
          </a:xfrm>
          <a:prstGeom prst="line">
            <a:avLst/>
          </a:prstGeom>
          <a:noFill/>
          <a:ln w="19050">
            <a:solidFill>
              <a:srgbClr val="1A2340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 flipV="1">
            <a:off x="1325880" y="1417320"/>
            <a:ext cx="91" cy="3291840"/>
          </a:xfrm>
          <a:prstGeom prst="line">
            <a:avLst/>
          </a:prstGeom>
          <a:noFill/>
          <a:ln w="19050">
            <a:solidFill>
              <a:srgbClr val="1A2340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1325880" y="4709160"/>
            <a:ext cx="91" cy="54864"/>
          </a:xfrm>
          <a:prstGeom prst="line">
            <a:avLst/>
          </a:prstGeom>
          <a:noFill/>
          <a:ln w="12700">
            <a:solidFill>
              <a:srgbClr val="1A234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1051560" y="476402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</a:t>
            </a:r>
            <a:endParaRPr lang="en-US" sz="1000" dirty="0"/>
          </a:p>
        </p:txBody>
      </p:sp>
      <p:sp>
        <p:nvSpPr>
          <p:cNvPr id="83" name="Shape 81"/>
          <p:cNvSpPr/>
          <p:nvPr/>
        </p:nvSpPr>
        <p:spPr>
          <a:xfrm>
            <a:off x="1874520" y="4709160"/>
            <a:ext cx="91" cy="54864"/>
          </a:xfrm>
          <a:prstGeom prst="line">
            <a:avLst/>
          </a:prstGeom>
          <a:noFill/>
          <a:ln w="12700">
            <a:solidFill>
              <a:srgbClr val="1A234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1600200" y="476402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0.04</a:t>
            </a:r>
            <a:endParaRPr lang="en-US" sz="1000" dirty="0"/>
          </a:p>
        </p:txBody>
      </p:sp>
      <p:sp>
        <p:nvSpPr>
          <p:cNvPr id="85" name="Shape 83"/>
          <p:cNvSpPr/>
          <p:nvPr/>
        </p:nvSpPr>
        <p:spPr>
          <a:xfrm>
            <a:off x="2423160" y="4709160"/>
            <a:ext cx="91" cy="54864"/>
          </a:xfrm>
          <a:prstGeom prst="line">
            <a:avLst/>
          </a:prstGeom>
          <a:noFill/>
          <a:ln w="12700">
            <a:solidFill>
              <a:srgbClr val="1A234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2148840" y="476402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0.08</a:t>
            </a:r>
            <a:endParaRPr lang="en-US" sz="1000" dirty="0"/>
          </a:p>
        </p:txBody>
      </p:sp>
      <p:sp>
        <p:nvSpPr>
          <p:cNvPr id="87" name="Shape 85"/>
          <p:cNvSpPr/>
          <p:nvPr/>
        </p:nvSpPr>
        <p:spPr>
          <a:xfrm>
            <a:off x="2971800" y="4709160"/>
            <a:ext cx="91" cy="54864"/>
          </a:xfrm>
          <a:prstGeom prst="line">
            <a:avLst/>
          </a:prstGeom>
          <a:noFill/>
          <a:ln w="12700">
            <a:solidFill>
              <a:srgbClr val="1A2340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2697480" y="476402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0.12</a:t>
            </a:r>
            <a:endParaRPr lang="en-US" sz="1000" dirty="0"/>
          </a:p>
        </p:txBody>
      </p:sp>
      <p:sp>
        <p:nvSpPr>
          <p:cNvPr id="89" name="Shape 87"/>
          <p:cNvSpPr/>
          <p:nvPr/>
        </p:nvSpPr>
        <p:spPr>
          <a:xfrm>
            <a:off x="3520440" y="4709160"/>
            <a:ext cx="91" cy="54864"/>
          </a:xfrm>
          <a:prstGeom prst="line">
            <a:avLst/>
          </a:prstGeom>
          <a:noFill/>
          <a:ln w="12700">
            <a:solidFill>
              <a:srgbClr val="1A2340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3246120" y="476402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0.16</a:t>
            </a:r>
            <a:endParaRPr lang="en-US" sz="1000" dirty="0"/>
          </a:p>
        </p:txBody>
      </p:sp>
      <p:sp>
        <p:nvSpPr>
          <p:cNvPr id="91" name="Shape 89"/>
          <p:cNvSpPr/>
          <p:nvPr/>
        </p:nvSpPr>
        <p:spPr>
          <a:xfrm>
            <a:off x="4069080" y="4709160"/>
            <a:ext cx="91" cy="54864"/>
          </a:xfrm>
          <a:prstGeom prst="line">
            <a:avLst/>
          </a:prstGeom>
          <a:noFill/>
          <a:ln w="12700">
            <a:solidFill>
              <a:srgbClr val="1A2340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3794760" y="476402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0.20</a:t>
            </a:r>
            <a:endParaRPr lang="en-US" sz="1000" dirty="0"/>
          </a:p>
        </p:txBody>
      </p:sp>
      <p:sp>
        <p:nvSpPr>
          <p:cNvPr id="93" name="Shape 91"/>
          <p:cNvSpPr/>
          <p:nvPr/>
        </p:nvSpPr>
        <p:spPr>
          <a:xfrm>
            <a:off x="4617720" y="4709160"/>
            <a:ext cx="91" cy="54864"/>
          </a:xfrm>
          <a:prstGeom prst="line">
            <a:avLst/>
          </a:prstGeom>
          <a:noFill/>
          <a:ln w="12700">
            <a:solidFill>
              <a:srgbClr val="1A2340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4343400" y="476402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0.24</a:t>
            </a:r>
            <a:endParaRPr lang="en-US" sz="1000" dirty="0"/>
          </a:p>
        </p:txBody>
      </p:sp>
      <p:sp>
        <p:nvSpPr>
          <p:cNvPr id="95" name="Shape 93"/>
          <p:cNvSpPr/>
          <p:nvPr/>
        </p:nvSpPr>
        <p:spPr>
          <a:xfrm>
            <a:off x="5166360" y="4709160"/>
            <a:ext cx="91" cy="54864"/>
          </a:xfrm>
          <a:prstGeom prst="line">
            <a:avLst/>
          </a:prstGeom>
          <a:noFill/>
          <a:ln w="12700">
            <a:solidFill>
              <a:srgbClr val="1A2340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4892040" y="476402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0.28</a:t>
            </a:r>
            <a:endParaRPr lang="en-US" sz="1000" dirty="0"/>
          </a:p>
        </p:txBody>
      </p:sp>
      <p:sp>
        <p:nvSpPr>
          <p:cNvPr id="97" name="Shape 95"/>
          <p:cNvSpPr/>
          <p:nvPr/>
        </p:nvSpPr>
        <p:spPr>
          <a:xfrm>
            <a:off x="5715000" y="4709160"/>
            <a:ext cx="91" cy="54864"/>
          </a:xfrm>
          <a:prstGeom prst="line">
            <a:avLst/>
          </a:prstGeom>
          <a:noFill/>
          <a:ln w="12700">
            <a:solidFill>
              <a:srgbClr val="1A2340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5440680" y="476402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0.32</a:t>
            </a:r>
            <a:endParaRPr lang="en-US" sz="1000" dirty="0"/>
          </a:p>
        </p:txBody>
      </p:sp>
      <p:sp>
        <p:nvSpPr>
          <p:cNvPr id="99" name="Shape 97"/>
          <p:cNvSpPr/>
          <p:nvPr/>
        </p:nvSpPr>
        <p:spPr>
          <a:xfrm>
            <a:off x="1271016" y="4709160"/>
            <a:ext cx="54864" cy="91"/>
          </a:xfrm>
          <a:prstGeom prst="line">
            <a:avLst/>
          </a:prstGeom>
          <a:noFill/>
          <a:ln w="12700">
            <a:solidFill>
              <a:srgbClr val="1A2340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886968" y="46177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101" name="Shape 99"/>
          <p:cNvSpPr/>
          <p:nvPr/>
        </p:nvSpPr>
        <p:spPr>
          <a:xfrm>
            <a:off x="1271016" y="4297680"/>
            <a:ext cx="54864" cy="91"/>
          </a:xfrm>
          <a:prstGeom prst="line">
            <a:avLst/>
          </a:prstGeom>
          <a:noFill/>
          <a:ln w="12700">
            <a:solidFill>
              <a:srgbClr val="1A2340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886968" y="420624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03" name="Shape 101"/>
          <p:cNvSpPr/>
          <p:nvPr/>
        </p:nvSpPr>
        <p:spPr>
          <a:xfrm>
            <a:off x="1271016" y="3886200"/>
            <a:ext cx="54864" cy="91"/>
          </a:xfrm>
          <a:prstGeom prst="line">
            <a:avLst/>
          </a:prstGeom>
          <a:noFill/>
          <a:ln w="12700">
            <a:solidFill>
              <a:srgbClr val="1A2340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886968" y="379476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05" name="Shape 103"/>
          <p:cNvSpPr/>
          <p:nvPr/>
        </p:nvSpPr>
        <p:spPr>
          <a:xfrm>
            <a:off x="1271016" y="3474720"/>
            <a:ext cx="54864" cy="91"/>
          </a:xfrm>
          <a:prstGeom prst="line">
            <a:avLst/>
          </a:prstGeom>
          <a:noFill/>
          <a:ln w="12700">
            <a:solidFill>
              <a:srgbClr val="1A2340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886968" y="338328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07" name="Shape 105"/>
          <p:cNvSpPr/>
          <p:nvPr/>
        </p:nvSpPr>
        <p:spPr>
          <a:xfrm>
            <a:off x="1271016" y="3063240"/>
            <a:ext cx="54864" cy="91"/>
          </a:xfrm>
          <a:prstGeom prst="line">
            <a:avLst/>
          </a:prstGeom>
          <a:noFill/>
          <a:ln w="12700">
            <a:solidFill>
              <a:srgbClr val="1A2340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886968" y="29718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09" name="Shape 107"/>
          <p:cNvSpPr/>
          <p:nvPr/>
        </p:nvSpPr>
        <p:spPr>
          <a:xfrm>
            <a:off x="1271016" y="2651760"/>
            <a:ext cx="54864" cy="91"/>
          </a:xfrm>
          <a:prstGeom prst="line">
            <a:avLst/>
          </a:prstGeom>
          <a:noFill/>
          <a:ln w="12700">
            <a:solidFill>
              <a:srgbClr val="1A2340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886968" y="25603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111" name="Shape 109"/>
          <p:cNvSpPr/>
          <p:nvPr/>
        </p:nvSpPr>
        <p:spPr>
          <a:xfrm>
            <a:off x="1271016" y="2240280"/>
            <a:ext cx="54864" cy="91"/>
          </a:xfrm>
          <a:prstGeom prst="line">
            <a:avLst/>
          </a:prstGeom>
          <a:noFill/>
          <a:ln w="12700">
            <a:solidFill>
              <a:srgbClr val="1A2340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886968" y="214884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113" name="Shape 111"/>
          <p:cNvSpPr/>
          <p:nvPr/>
        </p:nvSpPr>
        <p:spPr>
          <a:xfrm>
            <a:off x="1271016" y="1828800"/>
            <a:ext cx="54864" cy="91"/>
          </a:xfrm>
          <a:prstGeom prst="line">
            <a:avLst/>
          </a:prstGeom>
          <a:noFill/>
          <a:ln w="12700">
            <a:solidFill>
              <a:srgbClr val="1A2340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886968" y="173736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115" name="Shape 113"/>
          <p:cNvSpPr/>
          <p:nvPr/>
        </p:nvSpPr>
        <p:spPr>
          <a:xfrm>
            <a:off x="1271016" y="1417320"/>
            <a:ext cx="54864" cy="91"/>
          </a:xfrm>
          <a:prstGeom prst="line">
            <a:avLst/>
          </a:prstGeom>
          <a:noFill/>
          <a:ln w="12700">
            <a:solidFill>
              <a:srgbClr val="1A2340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886968" y="132588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117" name="Text 115"/>
          <p:cNvSpPr/>
          <p:nvPr/>
        </p:nvSpPr>
        <p:spPr>
          <a:xfrm>
            <a:off x="1325880" y="495604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 / m</a:t>
            </a:r>
            <a:endParaRPr lang="en-US" sz="1050" dirty="0"/>
          </a:p>
        </p:txBody>
      </p:sp>
      <p:sp>
        <p:nvSpPr>
          <p:cNvPr id="118" name="Text 116"/>
          <p:cNvSpPr/>
          <p:nvPr/>
        </p:nvSpPr>
        <p:spPr>
          <a:xfrm rot="16200000">
            <a:off x="-886968" y="293522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 / N</a:t>
            </a:r>
            <a:endParaRPr lang="en-US" sz="1050" dirty="0"/>
          </a:p>
        </p:txBody>
      </p:sp>
      <p:sp>
        <p:nvSpPr>
          <p:cNvPr id="119" name="Shape 117"/>
          <p:cNvSpPr/>
          <p:nvPr/>
        </p:nvSpPr>
        <p:spPr>
          <a:xfrm flipH="1">
            <a:off x="1325880" y="2240280"/>
            <a:ext cx="3291840" cy="2468880"/>
          </a:xfrm>
          <a:prstGeom prst="rtTriangle">
            <a:avLst/>
          </a:prstGeom>
          <a:solidFill>
            <a:srgbClr val="F5A742">
              <a:alpha val="40000"/>
            </a:srgbClr>
          </a:solidFill>
          <a:ln/>
        </p:spPr>
      </p:sp>
      <p:sp>
        <p:nvSpPr>
          <p:cNvPr id="120" name="Shape 118"/>
          <p:cNvSpPr/>
          <p:nvPr/>
        </p:nvSpPr>
        <p:spPr>
          <a:xfrm flipV="1">
            <a:off x="1325880" y="2240280"/>
            <a:ext cx="3291840" cy="2468880"/>
          </a:xfrm>
          <a:prstGeom prst="line">
            <a:avLst/>
          </a:prstGeom>
          <a:noFill/>
          <a:ln w="31750">
            <a:solidFill>
              <a:srgbClr val="2E5BD8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1280160" y="4663440"/>
            <a:ext cx="91440" cy="91440"/>
          </a:xfrm>
          <a:prstGeom prst="line">
            <a:avLst/>
          </a:prstGeom>
          <a:noFill/>
          <a:ln w="15875">
            <a:solidFill>
              <a:srgbClr val="1A2340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 flipV="1">
            <a:off x="1280160" y="4663440"/>
            <a:ext cx="91440" cy="91440"/>
          </a:xfrm>
          <a:prstGeom prst="line">
            <a:avLst/>
          </a:prstGeom>
          <a:noFill/>
          <a:ln w="15875">
            <a:solidFill>
              <a:srgbClr val="1A2340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1842516" y="4251960"/>
            <a:ext cx="91440" cy="91440"/>
          </a:xfrm>
          <a:prstGeom prst="line">
            <a:avLst/>
          </a:prstGeom>
          <a:noFill/>
          <a:ln w="15875">
            <a:solidFill>
              <a:srgbClr val="1A2340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 flipV="1">
            <a:off x="1842516" y="4251960"/>
            <a:ext cx="91440" cy="91440"/>
          </a:xfrm>
          <a:prstGeom prst="line">
            <a:avLst/>
          </a:prstGeom>
          <a:noFill/>
          <a:ln w="15875">
            <a:solidFill>
              <a:srgbClr val="1A2340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2363724" y="3840480"/>
            <a:ext cx="91440" cy="91440"/>
          </a:xfrm>
          <a:prstGeom prst="line">
            <a:avLst/>
          </a:prstGeom>
          <a:noFill/>
          <a:ln w="15875">
            <a:solidFill>
              <a:srgbClr val="1A2340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 flipV="1">
            <a:off x="2363724" y="3840480"/>
            <a:ext cx="91440" cy="91440"/>
          </a:xfrm>
          <a:prstGeom prst="line">
            <a:avLst/>
          </a:prstGeom>
          <a:noFill/>
          <a:ln w="15875">
            <a:solidFill>
              <a:srgbClr val="1A2340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2926080" y="3429000"/>
            <a:ext cx="91440" cy="91440"/>
          </a:xfrm>
          <a:prstGeom prst="line">
            <a:avLst/>
          </a:prstGeom>
          <a:noFill/>
          <a:ln w="15875">
            <a:solidFill>
              <a:srgbClr val="1A2340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 flipV="1">
            <a:off x="2926080" y="3429000"/>
            <a:ext cx="91440" cy="91440"/>
          </a:xfrm>
          <a:prstGeom prst="line">
            <a:avLst/>
          </a:prstGeom>
          <a:noFill/>
          <a:ln w="15875">
            <a:solidFill>
              <a:srgbClr val="1A2340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3488436" y="3017520"/>
            <a:ext cx="91440" cy="91440"/>
          </a:xfrm>
          <a:prstGeom prst="line">
            <a:avLst/>
          </a:prstGeom>
          <a:noFill/>
          <a:ln w="15875">
            <a:solidFill>
              <a:srgbClr val="1A2340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 flipV="1">
            <a:off x="3488436" y="3017520"/>
            <a:ext cx="91440" cy="91440"/>
          </a:xfrm>
          <a:prstGeom prst="line">
            <a:avLst/>
          </a:prstGeom>
          <a:noFill/>
          <a:ln w="15875">
            <a:solidFill>
              <a:srgbClr val="1A2340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4009644" y="2606040"/>
            <a:ext cx="91440" cy="91440"/>
          </a:xfrm>
          <a:prstGeom prst="line">
            <a:avLst/>
          </a:prstGeom>
          <a:noFill/>
          <a:ln w="15875">
            <a:solidFill>
              <a:srgbClr val="1A2340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 flipV="1">
            <a:off x="4009644" y="2606040"/>
            <a:ext cx="91440" cy="91440"/>
          </a:xfrm>
          <a:prstGeom prst="line">
            <a:avLst/>
          </a:prstGeom>
          <a:noFill/>
          <a:ln w="15875">
            <a:solidFill>
              <a:srgbClr val="1A2340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4572000" y="2194560"/>
            <a:ext cx="91440" cy="91440"/>
          </a:xfrm>
          <a:prstGeom prst="line">
            <a:avLst/>
          </a:prstGeom>
          <a:noFill/>
          <a:ln w="15875">
            <a:solidFill>
              <a:srgbClr val="1A2340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 flipV="1">
            <a:off x="4572000" y="2194560"/>
            <a:ext cx="91440" cy="91440"/>
          </a:xfrm>
          <a:prstGeom prst="line">
            <a:avLst/>
          </a:prstGeom>
          <a:noFill/>
          <a:ln w="15875">
            <a:solidFill>
              <a:srgbClr val="1A2340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1874520" y="4297680"/>
            <a:ext cx="2743200" cy="91"/>
          </a:xfrm>
          <a:prstGeom prst="line">
            <a:avLst/>
          </a:prstGeom>
          <a:noFill/>
          <a:ln w="19050">
            <a:solidFill>
              <a:srgbClr val="C8414C"/>
            </a:solidFill>
            <a:prstDash val="dash"/>
          </a:ln>
        </p:spPr>
      </p:sp>
      <p:sp>
        <p:nvSpPr>
          <p:cNvPr id="136" name="Shape 134"/>
          <p:cNvSpPr/>
          <p:nvPr/>
        </p:nvSpPr>
        <p:spPr>
          <a:xfrm flipV="1">
            <a:off x="4617720" y="2240280"/>
            <a:ext cx="91" cy="2057400"/>
          </a:xfrm>
          <a:prstGeom prst="line">
            <a:avLst/>
          </a:prstGeom>
          <a:noFill/>
          <a:ln w="19050">
            <a:solidFill>
              <a:srgbClr val="C8414C"/>
            </a:solidFill>
            <a:prstDash val="dash"/>
          </a:ln>
        </p:spPr>
      </p:sp>
      <p:sp>
        <p:nvSpPr>
          <p:cNvPr id="137" name="Text 135"/>
          <p:cNvSpPr/>
          <p:nvPr/>
        </p:nvSpPr>
        <p:spPr>
          <a:xfrm>
            <a:off x="2697480" y="432511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8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Δx = 0.20 m</a:t>
            </a:r>
            <a:endParaRPr lang="en-US" sz="1050" dirty="0"/>
          </a:p>
        </p:txBody>
      </p:sp>
      <p:sp>
        <p:nvSpPr>
          <p:cNvPr id="138" name="Text 136"/>
          <p:cNvSpPr/>
          <p:nvPr/>
        </p:nvSpPr>
        <p:spPr>
          <a:xfrm>
            <a:off x="4663440" y="322783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8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ΔF = 5.0 N</a:t>
            </a:r>
            <a:endParaRPr lang="en-US" sz="1050" dirty="0"/>
          </a:p>
        </p:txBody>
      </p:sp>
      <p:sp>
        <p:nvSpPr>
          <p:cNvPr id="139" name="Text 137"/>
          <p:cNvSpPr/>
          <p:nvPr/>
        </p:nvSpPr>
        <p:spPr>
          <a:xfrm>
            <a:off x="2971800" y="392734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B87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= work done</a:t>
            </a:r>
            <a:endParaRPr lang="en-US" sz="1050" dirty="0"/>
          </a:p>
        </p:txBody>
      </p:sp>
      <p:sp>
        <p:nvSpPr>
          <p:cNvPr id="140" name="Shape 138"/>
          <p:cNvSpPr/>
          <p:nvPr/>
        </p:nvSpPr>
        <p:spPr>
          <a:xfrm>
            <a:off x="6217920" y="1188720"/>
            <a:ext cx="5562295" cy="2331720"/>
          </a:xfrm>
          <a:prstGeom prst="roundRect">
            <a:avLst>
              <a:gd name="adj" fmla="val 2353"/>
            </a:avLst>
          </a:prstGeom>
          <a:solidFill>
            <a:srgbClr val="F5F8FE"/>
          </a:solidFill>
          <a:ln w="9525">
            <a:solidFill>
              <a:srgbClr val="D5DCEB"/>
            </a:solidFill>
            <a:prstDash val="solid"/>
          </a:ln>
        </p:spPr>
      </p:sp>
      <p:sp>
        <p:nvSpPr>
          <p:cNvPr id="141" name="Text 139"/>
          <p:cNvSpPr/>
          <p:nvPr/>
        </p:nvSpPr>
        <p:spPr>
          <a:xfrm>
            <a:off x="6382512" y="1280160"/>
            <a:ext cx="523311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k and the work done</a:t>
            </a:r>
            <a:endParaRPr lang="en-US" sz="1300" dirty="0"/>
          </a:p>
        </p:txBody>
      </p:sp>
      <p:sp>
        <p:nvSpPr>
          <p:cNvPr id="142" name="Text 140"/>
          <p:cNvSpPr/>
          <p:nvPr/>
        </p:nvSpPr>
        <p:spPr>
          <a:xfrm>
            <a:off x="6382512" y="1609344"/>
            <a:ext cx="5233111" cy="1837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150" b="1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gradient</a:t>
            </a:r>
            <a:r>
              <a:rPr lang="en-US" sz="115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ΔF ÷ Δx. Use a large triangle on the line of best fit, not two data points.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15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= 5.0 N ÷ 0.20 m = </a:t>
            </a:r>
            <a:r>
              <a:rPr lang="en-US" sz="1150" b="1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N/m</a:t>
            </a:r>
            <a:r>
              <a:rPr lang="en-US" sz="115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150" b="1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done</a:t>
            </a:r>
            <a:r>
              <a:rPr lang="en-US" sz="115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stretching the spring to 6.0 N = area under the line = ½ × 6.0 N × 0.24 m.</a:t>
            </a:r>
            <a:endParaRPr lang="en-US" sz="1150" dirty="0"/>
          </a:p>
        </p:txBody>
      </p:sp>
      <p:sp>
        <p:nvSpPr>
          <p:cNvPr id="143" name="Shape 141"/>
          <p:cNvSpPr/>
          <p:nvPr/>
        </p:nvSpPr>
        <p:spPr>
          <a:xfrm>
            <a:off x="6217920" y="3657600"/>
            <a:ext cx="5562295" cy="2057400"/>
          </a:xfrm>
          <a:prstGeom prst="roundRect">
            <a:avLst>
              <a:gd name="adj" fmla="val 2667"/>
            </a:avLst>
          </a:prstGeom>
          <a:solidFill>
            <a:srgbClr val="FFF4E0"/>
          </a:solidFill>
          <a:ln w="9525">
            <a:solidFill>
              <a:srgbClr val="F1D9A8"/>
            </a:solidFill>
            <a:prstDash val="solid"/>
          </a:ln>
        </p:spPr>
      </p:sp>
      <p:sp>
        <p:nvSpPr>
          <p:cNvPr id="144" name="Text 142"/>
          <p:cNvSpPr/>
          <p:nvPr/>
        </p:nvSpPr>
        <p:spPr>
          <a:xfrm>
            <a:off x="6382512" y="3730752"/>
            <a:ext cx="523311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7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example: work done</a:t>
            </a:r>
            <a:endParaRPr lang="en-US" sz="1300" dirty="0"/>
          </a:p>
        </p:txBody>
      </p:sp>
      <p:sp>
        <p:nvSpPr>
          <p:cNvPr id="145" name="Text 143"/>
          <p:cNvSpPr/>
          <p:nvPr/>
        </p:nvSpPr>
        <p:spPr>
          <a:xfrm>
            <a:off x="6382512" y="4041648"/>
            <a:ext cx="5233111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the work done stretching the spring by 0.24 m (k = 25 N/m).</a:t>
            </a:r>
            <a:endParaRPr lang="en-US" sz="1100" dirty="0"/>
          </a:p>
          <a:p>
            <a:pPr indent="0" marL="0">
              <a:spcBef>
                <a:spcPts val="200"/>
              </a:spcBef>
              <a:buNone/>
            </a:pPr>
            <a:r>
              <a:rPr lang="en-US" sz="1100" b="1" dirty="0">
                <a:solidFill>
                  <a:srgbClr val="2E5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Equation   </a:t>
            </a:r>
            <a:r>
              <a:rPr lang="en-US" sz="110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= ½ × k × x²</a:t>
            </a:r>
            <a:endParaRPr lang="en-US" sz="1100" dirty="0"/>
          </a:p>
          <a:p>
            <a:pPr indent="0" marL="0">
              <a:spcBef>
                <a:spcPts val="200"/>
              </a:spcBef>
              <a:buNone/>
            </a:pPr>
            <a:r>
              <a:rPr lang="en-US" sz="1100" b="1" dirty="0">
                <a:solidFill>
                  <a:srgbClr val="2E5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Substitute   </a:t>
            </a:r>
            <a:r>
              <a:rPr lang="en-US" sz="110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= 0.5 × 25 × 0.24²</a:t>
            </a:r>
            <a:endParaRPr lang="en-US" sz="1100" dirty="0"/>
          </a:p>
          <a:p>
            <a:pPr indent="0" marL="0">
              <a:spcBef>
                <a:spcPts val="200"/>
              </a:spcBef>
              <a:buNone/>
            </a:pPr>
            <a:r>
              <a:rPr lang="en-US" sz="1100" b="1" dirty="0">
                <a:solidFill>
                  <a:srgbClr val="2E5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Check   </a:t>
            </a:r>
            <a:r>
              <a:rPr lang="en-US" sz="110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= ½ × 6.0 × 0.24 = 0.72 J ✓</a:t>
            </a:r>
            <a:endParaRPr lang="en-US" sz="1100" dirty="0"/>
          </a:p>
          <a:p>
            <a:pPr indent="0" marL="0">
              <a:spcBef>
                <a:spcPts val="200"/>
              </a:spcBef>
              <a:buNone/>
            </a:pPr>
            <a:r>
              <a:rPr lang="en-US" sz="1100" b="1" dirty="0">
                <a:solidFill>
                  <a:srgbClr val="2E5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Answer   </a:t>
            </a:r>
            <a:r>
              <a:rPr lang="en-US" sz="1100" b="1" dirty="0">
                <a:solidFill>
                  <a:srgbClr val="C8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= 0.72 J</a:t>
            </a:r>
            <a:endParaRPr lang="en-US" sz="1100" dirty="0"/>
          </a:p>
        </p:txBody>
      </p:sp>
      <p:sp>
        <p:nvSpPr>
          <p:cNvPr id="146" name="Shape 144"/>
          <p:cNvSpPr/>
          <p:nvPr/>
        </p:nvSpPr>
        <p:spPr>
          <a:xfrm>
            <a:off x="411480" y="5833872"/>
            <a:ext cx="11368735" cy="530352"/>
          </a:xfrm>
          <a:prstGeom prst="rect">
            <a:avLst/>
          </a:prstGeom>
          <a:solidFill>
            <a:srgbClr val="FFF4E0"/>
          </a:solidFill>
          <a:ln w="6350">
            <a:solidFill>
              <a:srgbClr val="F1D9A8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411480" y="5833872"/>
            <a:ext cx="82296" cy="530352"/>
          </a:xfrm>
          <a:prstGeom prst="rect">
            <a:avLst/>
          </a:prstGeom>
          <a:solidFill>
            <a:srgbClr val="E39A2F"/>
          </a:solidFill>
          <a:ln w="12700">
            <a:solidFill>
              <a:srgbClr val="E39A2F"/>
            </a:solidFill>
            <a:prstDash val="solid"/>
          </a:ln>
        </p:spPr>
      </p:sp>
      <p:sp>
        <p:nvSpPr>
          <p:cNvPr id="148" name="Text 146"/>
          <p:cNvSpPr/>
          <p:nvPr/>
        </p:nvSpPr>
        <p:spPr>
          <a:xfrm>
            <a:off x="640080" y="5833872"/>
            <a:ext cx="1100297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7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   </a:t>
            </a:r>
            <a:r>
              <a:rPr lang="en-US" sz="115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the work done when the same spring is stretched to 0.16 m.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EEF2FA"/>
          </a:solidFill>
          <a:ln w="12700">
            <a:solidFill>
              <a:srgbClr val="EEF2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87552"/>
            <a:ext cx="12191695" cy="27432"/>
          </a:xfrm>
          <a:prstGeom prst="rect">
            <a:avLst/>
          </a:prstGeom>
          <a:solidFill>
            <a:srgbClr val="D3DCF0"/>
          </a:solidFill>
          <a:ln w="12700">
            <a:solidFill>
              <a:srgbClr val="D3DC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18872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Practical: errors and improvements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11480" y="6400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E5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Specification 15.6 • evaluating the method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0408615" y="292608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B8730A"/>
          </a:solidFill>
          <a:ln w="12700">
            <a:solidFill>
              <a:srgbClr val="B8730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408615" y="2926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PRACTICAL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6473952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Edexcel GCSE (9–1) Physics (1PH0) | Topic 15 Forces and matter | Higher &amp; Foundation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784080" y="647395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15.6  |  17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11480" y="1188720"/>
            <a:ext cx="5577840" cy="4526280"/>
          </a:xfrm>
          <a:prstGeom prst="roundRect">
            <a:avLst>
              <a:gd name="adj" fmla="val 1616"/>
            </a:avLst>
          </a:prstGeom>
          <a:solidFill>
            <a:srgbClr val="EEF1F8"/>
          </a:solidFill>
          <a:ln w="9525">
            <a:solidFill>
              <a:srgbClr val="DCE2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5404104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diagram — parallax: the reading depends on where your eye is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926080" y="1508760"/>
            <a:ext cx="292608" cy="3246120"/>
          </a:xfrm>
          <a:prstGeom prst="rect">
            <a:avLst/>
          </a:prstGeom>
          <a:solidFill>
            <a:srgbClr val="F6E7B8"/>
          </a:solidFill>
          <a:ln w="9525">
            <a:solidFill>
              <a:srgbClr val="B79B4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26080" y="1554480"/>
            <a:ext cx="146304" cy="91"/>
          </a:xfrm>
          <a:prstGeom prst="line">
            <a:avLst/>
          </a:prstGeom>
          <a:noFill/>
          <a:ln w="9525">
            <a:solidFill>
              <a:srgbClr val="6B5A2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926080" y="1659636"/>
            <a:ext cx="73152" cy="91"/>
          </a:xfrm>
          <a:prstGeom prst="line">
            <a:avLst/>
          </a:prstGeom>
          <a:noFill/>
          <a:ln w="9525">
            <a:solidFill>
              <a:srgbClr val="6B5A2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926080" y="1764792"/>
            <a:ext cx="73152" cy="91"/>
          </a:xfrm>
          <a:prstGeom prst="line">
            <a:avLst/>
          </a:prstGeom>
          <a:noFill/>
          <a:ln w="9525">
            <a:solidFill>
              <a:srgbClr val="6B5A2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926080" y="1869948"/>
            <a:ext cx="73152" cy="91"/>
          </a:xfrm>
          <a:prstGeom prst="line">
            <a:avLst/>
          </a:prstGeom>
          <a:noFill/>
          <a:ln w="9525">
            <a:solidFill>
              <a:srgbClr val="6B5A2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926080" y="1975104"/>
            <a:ext cx="73152" cy="91"/>
          </a:xfrm>
          <a:prstGeom prst="line">
            <a:avLst/>
          </a:prstGeom>
          <a:noFill/>
          <a:ln w="9525">
            <a:solidFill>
              <a:srgbClr val="6B5A2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926080" y="2080260"/>
            <a:ext cx="146304" cy="91"/>
          </a:xfrm>
          <a:prstGeom prst="line">
            <a:avLst/>
          </a:prstGeom>
          <a:noFill/>
          <a:ln w="9525">
            <a:solidFill>
              <a:srgbClr val="6B5A2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926080" y="2185416"/>
            <a:ext cx="73152" cy="91"/>
          </a:xfrm>
          <a:prstGeom prst="line">
            <a:avLst/>
          </a:prstGeom>
          <a:noFill/>
          <a:ln w="9525">
            <a:solidFill>
              <a:srgbClr val="6B5A2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926080" y="2290572"/>
            <a:ext cx="73152" cy="91"/>
          </a:xfrm>
          <a:prstGeom prst="line">
            <a:avLst/>
          </a:prstGeom>
          <a:noFill/>
          <a:ln w="9525">
            <a:solidFill>
              <a:srgbClr val="6B5A2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926080" y="2395728"/>
            <a:ext cx="73152" cy="91"/>
          </a:xfrm>
          <a:prstGeom prst="line">
            <a:avLst/>
          </a:prstGeom>
          <a:noFill/>
          <a:ln w="9525">
            <a:solidFill>
              <a:srgbClr val="6B5A2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926080" y="2500884"/>
            <a:ext cx="73152" cy="91"/>
          </a:xfrm>
          <a:prstGeom prst="line">
            <a:avLst/>
          </a:prstGeom>
          <a:noFill/>
          <a:ln w="9525">
            <a:solidFill>
              <a:srgbClr val="6B5A2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926080" y="2606040"/>
            <a:ext cx="146304" cy="91"/>
          </a:xfrm>
          <a:prstGeom prst="line">
            <a:avLst/>
          </a:prstGeom>
          <a:noFill/>
          <a:ln w="9525">
            <a:solidFill>
              <a:srgbClr val="6B5A2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926080" y="2711196"/>
            <a:ext cx="73152" cy="91"/>
          </a:xfrm>
          <a:prstGeom prst="line">
            <a:avLst/>
          </a:prstGeom>
          <a:noFill/>
          <a:ln w="9525">
            <a:solidFill>
              <a:srgbClr val="6B5A2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26080" y="2816352"/>
            <a:ext cx="73152" cy="91"/>
          </a:xfrm>
          <a:prstGeom prst="line">
            <a:avLst/>
          </a:prstGeom>
          <a:noFill/>
          <a:ln w="9525">
            <a:solidFill>
              <a:srgbClr val="6B5A2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926080" y="2921508"/>
            <a:ext cx="73152" cy="91"/>
          </a:xfrm>
          <a:prstGeom prst="line">
            <a:avLst/>
          </a:prstGeom>
          <a:noFill/>
          <a:ln w="9525">
            <a:solidFill>
              <a:srgbClr val="6B5A2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926080" y="3026664"/>
            <a:ext cx="73152" cy="91"/>
          </a:xfrm>
          <a:prstGeom prst="line">
            <a:avLst/>
          </a:prstGeom>
          <a:noFill/>
          <a:ln w="9525">
            <a:solidFill>
              <a:srgbClr val="6B5A2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926080" y="3131820"/>
            <a:ext cx="146304" cy="91"/>
          </a:xfrm>
          <a:prstGeom prst="line">
            <a:avLst/>
          </a:prstGeom>
          <a:noFill/>
          <a:ln w="9525">
            <a:solidFill>
              <a:srgbClr val="6B5A2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926080" y="3236976"/>
            <a:ext cx="73152" cy="91"/>
          </a:xfrm>
          <a:prstGeom prst="line">
            <a:avLst/>
          </a:prstGeom>
          <a:noFill/>
          <a:ln w="9525">
            <a:solidFill>
              <a:srgbClr val="6B5A2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926080" y="3342132"/>
            <a:ext cx="73152" cy="91"/>
          </a:xfrm>
          <a:prstGeom prst="line">
            <a:avLst/>
          </a:prstGeom>
          <a:noFill/>
          <a:ln w="9525">
            <a:solidFill>
              <a:srgbClr val="6B5A2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926080" y="3447288"/>
            <a:ext cx="73152" cy="91"/>
          </a:xfrm>
          <a:prstGeom prst="line">
            <a:avLst/>
          </a:prstGeom>
          <a:noFill/>
          <a:ln w="9525">
            <a:solidFill>
              <a:srgbClr val="6B5A2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926080" y="3552444"/>
            <a:ext cx="73152" cy="91"/>
          </a:xfrm>
          <a:prstGeom prst="line">
            <a:avLst/>
          </a:prstGeom>
          <a:noFill/>
          <a:ln w="9525">
            <a:solidFill>
              <a:srgbClr val="6B5A2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926080" y="3657600"/>
            <a:ext cx="146304" cy="91"/>
          </a:xfrm>
          <a:prstGeom prst="line">
            <a:avLst/>
          </a:prstGeom>
          <a:noFill/>
          <a:ln w="9525">
            <a:solidFill>
              <a:srgbClr val="6B5A2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926080" y="3762756"/>
            <a:ext cx="73152" cy="91"/>
          </a:xfrm>
          <a:prstGeom prst="line">
            <a:avLst/>
          </a:prstGeom>
          <a:noFill/>
          <a:ln w="9525">
            <a:solidFill>
              <a:srgbClr val="6B5A2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926080" y="3867912"/>
            <a:ext cx="73152" cy="91"/>
          </a:xfrm>
          <a:prstGeom prst="line">
            <a:avLst/>
          </a:prstGeom>
          <a:noFill/>
          <a:ln w="9525">
            <a:solidFill>
              <a:srgbClr val="6B5A2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926080" y="3973068"/>
            <a:ext cx="73152" cy="91"/>
          </a:xfrm>
          <a:prstGeom prst="line">
            <a:avLst/>
          </a:prstGeom>
          <a:noFill/>
          <a:ln w="9525">
            <a:solidFill>
              <a:srgbClr val="6B5A2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926080" y="4078224"/>
            <a:ext cx="73152" cy="91"/>
          </a:xfrm>
          <a:prstGeom prst="line">
            <a:avLst/>
          </a:prstGeom>
          <a:noFill/>
          <a:ln w="9525">
            <a:solidFill>
              <a:srgbClr val="6B5A2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926080" y="4183380"/>
            <a:ext cx="146304" cy="91"/>
          </a:xfrm>
          <a:prstGeom prst="line">
            <a:avLst/>
          </a:prstGeom>
          <a:noFill/>
          <a:ln w="9525">
            <a:solidFill>
              <a:srgbClr val="6B5A2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926080" y="4288536"/>
            <a:ext cx="73152" cy="91"/>
          </a:xfrm>
          <a:prstGeom prst="line">
            <a:avLst/>
          </a:prstGeom>
          <a:noFill/>
          <a:ln w="9525">
            <a:solidFill>
              <a:srgbClr val="6B5A2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926080" y="4393692"/>
            <a:ext cx="73152" cy="91"/>
          </a:xfrm>
          <a:prstGeom prst="line">
            <a:avLst/>
          </a:prstGeom>
          <a:noFill/>
          <a:ln w="9525">
            <a:solidFill>
              <a:srgbClr val="6B5A2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926080" y="4498848"/>
            <a:ext cx="73152" cy="91"/>
          </a:xfrm>
          <a:prstGeom prst="line">
            <a:avLst/>
          </a:prstGeom>
          <a:noFill/>
          <a:ln w="9525">
            <a:solidFill>
              <a:srgbClr val="6B5A2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926080" y="4604004"/>
            <a:ext cx="73152" cy="91"/>
          </a:xfrm>
          <a:prstGeom prst="line">
            <a:avLst/>
          </a:prstGeom>
          <a:noFill/>
          <a:ln w="9525">
            <a:solidFill>
              <a:srgbClr val="6B5A2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926080" y="4709160"/>
            <a:ext cx="146304" cy="91"/>
          </a:xfrm>
          <a:prstGeom prst="line">
            <a:avLst/>
          </a:prstGeom>
          <a:noFill/>
          <a:ln w="9525">
            <a:solidFill>
              <a:srgbClr val="6B5A2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103120" y="3108960"/>
            <a:ext cx="1143000" cy="91"/>
          </a:xfrm>
          <a:prstGeom prst="line">
            <a:avLst/>
          </a:prstGeom>
          <a:noFill/>
          <a:ln w="31750">
            <a:solidFill>
              <a:srgbClr val="C8414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188720" y="299008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C8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pointer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4645152" y="1892808"/>
            <a:ext cx="402336" cy="23774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8414C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782312" y="1947672"/>
            <a:ext cx="128016" cy="128016"/>
          </a:xfrm>
          <a:prstGeom prst="ellipse">
            <a:avLst/>
          </a:prstGeom>
          <a:solidFill>
            <a:srgbClr val="C8414C"/>
          </a:solidFill>
          <a:ln w="12700">
            <a:solidFill>
              <a:srgbClr val="C8414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297680" y="214884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8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high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 flipH="1">
            <a:off x="2926080" y="2011680"/>
            <a:ext cx="1719072" cy="1353312"/>
          </a:xfrm>
          <a:prstGeom prst="line">
            <a:avLst/>
          </a:prstGeom>
          <a:noFill/>
          <a:ln w="12700">
            <a:solidFill>
              <a:srgbClr val="C8414C"/>
            </a:solidFill>
            <a:prstDash val="dash"/>
          </a:ln>
        </p:spPr>
      </p:sp>
      <p:sp>
        <p:nvSpPr>
          <p:cNvPr id="50" name="Shape 48"/>
          <p:cNvSpPr/>
          <p:nvPr/>
        </p:nvSpPr>
        <p:spPr>
          <a:xfrm>
            <a:off x="4645152" y="2990088"/>
            <a:ext cx="402336" cy="23774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82312" y="3044952"/>
            <a:ext cx="128016" cy="128016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297680" y="32461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eye level ✓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 flipH="1">
            <a:off x="3246120" y="3108960"/>
            <a:ext cx="1399032" cy="91"/>
          </a:xfrm>
          <a:prstGeom prst="line">
            <a:avLst/>
          </a:prstGeom>
          <a:noFill/>
          <a:ln w="12700">
            <a:solidFill>
              <a:srgbClr val="2E8B57"/>
            </a:solidFill>
            <a:prstDash val="dash"/>
          </a:ln>
        </p:spPr>
      </p:sp>
      <p:sp>
        <p:nvSpPr>
          <p:cNvPr id="54" name="Shape 52"/>
          <p:cNvSpPr/>
          <p:nvPr/>
        </p:nvSpPr>
        <p:spPr>
          <a:xfrm>
            <a:off x="4645152" y="4087368"/>
            <a:ext cx="402336" cy="23774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8414C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782312" y="4142232"/>
            <a:ext cx="128016" cy="128016"/>
          </a:xfrm>
          <a:prstGeom prst="ellipse">
            <a:avLst/>
          </a:prstGeom>
          <a:solidFill>
            <a:srgbClr val="C8414C"/>
          </a:solidFill>
          <a:ln w="12700">
            <a:solidFill>
              <a:srgbClr val="C8414C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297680" y="434340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8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low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 flipH="1" flipV="1">
            <a:off x="2926080" y="2852928"/>
            <a:ext cx="1719072" cy="1353312"/>
          </a:xfrm>
          <a:prstGeom prst="line">
            <a:avLst/>
          </a:prstGeom>
          <a:noFill/>
          <a:ln w="12700">
            <a:solidFill>
              <a:srgbClr val="C8414C"/>
            </a:solidFill>
            <a:prstDash val="dash"/>
          </a:ln>
        </p:spPr>
      </p:sp>
      <p:sp>
        <p:nvSpPr>
          <p:cNvPr id="58" name="Shape 56"/>
          <p:cNvSpPr/>
          <p:nvPr/>
        </p:nvSpPr>
        <p:spPr>
          <a:xfrm>
            <a:off x="6217920" y="1188720"/>
            <a:ext cx="5562295" cy="2423160"/>
          </a:xfrm>
          <a:prstGeom prst="roundRect">
            <a:avLst>
              <a:gd name="adj" fmla="val 2264"/>
            </a:avLst>
          </a:prstGeom>
          <a:solidFill>
            <a:srgbClr val="F5F8FE"/>
          </a:solidFill>
          <a:ln w="9525">
            <a:solidFill>
              <a:srgbClr val="D5DCE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382512" y="1280160"/>
            <a:ext cx="523311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of error</a:t>
            </a:r>
            <a:endParaRPr lang="en-US" sz="1300" dirty="0"/>
          </a:p>
        </p:txBody>
      </p:sp>
      <p:sp>
        <p:nvSpPr>
          <p:cNvPr id="60" name="Text 58"/>
          <p:cNvSpPr/>
          <p:nvPr/>
        </p:nvSpPr>
        <p:spPr>
          <a:xfrm>
            <a:off x="6382512" y="1609344"/>
            <a:ext cx="5233111" cy="1929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150" b="1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Parallax error:</a:t>
            </a:r>
            <a:r>
              <a:rPr lang="en-US" sz="115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reading the rule from above or below → read at eye level, or use a pointer close to the rule.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150" b="1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not vertical</a:t>
            </a:r>
            <a:r>
              <a:rPr lang="en-US" sz="115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check with a set square or plumb line.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150" b="1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still oscillating</a:t>
            </a:r>
            <a:r>
              <a:rPr lang="en-US" sz="115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wait until it is still before reading.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150" b="1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error:</a:t>
            </a:r>
            <a:r>
              <a:rPr lang="en-US" sz="115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extension must be measured from the unloaded length, not from 0 on the rule.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150" b="1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Overloading</a:t>
            </a:r>
            <a:r>
              <a:rPr lang="en-US" sz="115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past the elastic limit permanently stretches the spring – later results are not repeatable.</a:t>
            </a:r>
            <a:endParaRPr lang="en-US" sz="1150" dirty="0"/>
          </a:p>
        </p:txBody>
      </p:sp>
      <p:sp>
        <p:nvSpPr>
          <p:cNvPr id="61" name="Shape 59"/>
          <p:cNvSpPr/>
          <p:nvPr/>
        </p:nvSpPr>
        <p:spPr>
          <a:xfrm>
            <a:off x="6217920" y="3749040"/>
            <a:ext cx="5562295" cy="1965960"/>
          </a:xfrm>
          <a:prstGeom prst="roundRect">
            <a:avLst>
              <a:gd name="adj" fmla="val 2791"/>
            </a:avLst>
          </a:prstGeom>
          <a:solidFill>
            <a:srgbClr val="FFF4E0"/>
          </a:solidFill>
          <a:ln w="9525">
            <a:solidFill>
              <a:srgbClr val="F1D9A8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382512" y="3822192"/>
            <a:ext cx="523311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7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Improving the investigation</a:t>
            </a:r>
            <a:endParaRPr lang="en-US" sz="1300" dirty="0"/>
          </a:p>
        </p:txBody>
      </p:sp>
      <p:sp>
        <p:nvSpPr>
          <p:cNvPr id="63" name="Text 61"/>
          <p:cNvSpPr/>
          <p:nvPr/>
        </p:nvSpPr>
        <p:spPr>
          <a:xfrm>
            <a:off x="6382512" y="4133088"/>
            <a:ext cx="5233111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Bef>
                <a:spcPts val="200"/>
              </a:spcBef>
              <a:buNone/>
            </a:pPr>
            <a:r>
              <a:rPr lang="en-US" sz="1050" b="1" dirty="0">
                <a:solidFill>
                  <a:srgbClr val="2E5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Repeat   </a:t>
            </a:r>
            <a:r>
              <a:rPr lang="en-US" sz="105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readings loading and unloading; calculate a mean</a:t>
            </a:r>
            <a:endParaRPr lang="en-US" sz="1050" dirty="0"/>
          </a:p>
          <a:p>
            <a:pPr indent="0" marL="0">
              <a:spcBef>
                <a:spcPts val="200"/>
              </a:spcBef>
              <a:buNone/>
            </a:pPr>
            <a:r>
              <a:rPr lang="en-US" sz="1050" b="1" dirty="0">
                <a:solidFill>
                  <a:srgbClr val="2E5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Range   </a:t>
            </a:r>
            <a:r>
              <a:rPr lang="en-US" sz="105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more, smaller force steps near the limit of proportionality</a:t>
            </a:r>
            <a:endParaRPr lang="en-US" sz="1050" dirty="0"/>
          </a:p>
          <a:p>
            <a:pPr indent="0" marL="0">
              <a:spcBef>
                <a:spcPts val="200"/>
              </a:spcBef>
              <a:buNone/>
            </a:pPr>
            <a:r>
              <a:rPr lang="en-US" sz="1050" b="1" dirty="0">
                <a:solidFill>
                  <a:srgbClr val="2E5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Precision   </a:t>
            </a:r>
            <a:r>
              <a:rPr lang="en-US" sz="105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rule with mm marks or a travelling microscope</a:t>
            </a:r>
            <a:endParaRPr lang="en-US" sz="1050" dirty="0"/>
          </a:p>
          <a:p>
            <a:pPr indent="0" marL="0">
              <a:spcBef>
                <a:spcPts val="200"/>
              </a:spcBef>
              <a:buNone/>
            </a:pPr>
            <a:r>
              <a:rPr lang="en-US" sz="1050" b="1" dirty="0">
                <a:solidFill>
                  <a:srgbClr val="2E5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Answer   </a:t>
            </a:r>
            <a:r>
              <a:rPr lang="en-US" sz="1050" b="1" dirty="0">
                <a:solidFill>
                  <a:srgbClr val="C8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data points → more reliable gradient (k)</a:t>
            </a:r>
            <a:endParaRPr lang="en-US" sz="1050" dirty="0"/>
          </a:p>
        </p:txBody>
      </p:sp>
      <p:sp>
        <p:nvSpPr>
          <p:cNvPr id="64" name="Shape 62"/>
          <p:cNvSpPr/>
          <p:nvPr/>
        </p:nvSpPr>
        <p:spPr>
          <a:xfrm>
            <a:off x="411480" y="5833872"/>
            <a:ext cx="11368735" cy="530352"/>
          </a:xfrm>
          <a:prstGeom prst="rect">
            <a:avLst/>
          </a:prstGeom>
          <a:solidFill>
            <a:srgbClr val="FFF4E0"/>
          </a:solidFill>
          <a:ln w="6350">
            <a:solidFill>
              <a:srgbClr val="F1D9A8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11480" y="5833872"/>
            <a:ext cx="82296" cy="530352"/>
          </a:xfrm>
          <a:prstGeom prst="rect">
            <a:avLst/>
          </a:prstGeom>
          <a:solidFill>
            <a:srgbClr val="E39A2F"/>
          </a:solidFill>
          <a:ln w="12700">
            <a:solidFill>
              <a:srgbClr val="E39A2F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40080" y="5833872"/>
            <a:ext cx="1100297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7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   </a:t>
            </a:r>
            <a:r>
              <a:rPr lang="en-US" sz="115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student measured the length of the spring instead of the extension. How would the graph of force against length look?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EEF2FA"/>
          </a:solidFill>
          <a:ln w="12700">
            <a:solidFill>
              <a:srgbClr val="EEF2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87552"/>
            <a:ext cx="12191695" cy="27432"/>
          </a:xfrm>
          <a:prstGeom prst="rect">
            <a:avLst/>
          </a:prstGeom>
          <a:solidFill>
            <a:srgbClr val="D3DCF0"/>
          </a:solidFill>
          <a:ln w="12700">
            <a:solidFill>
              <a:srgbClr val="D3DC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18872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Exam practice: recap 3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11480" y="6400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E5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Specification 15.6 • Core Practical: springs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6473952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Edexcel GCSE (9–1) Physics (1PH0) | Topic 15 Forces and matter | Higher &amp; Foundation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784080" y="647395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3  |  18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1480" y="1207008"/>
            <a:ext cx="11368735" cy="1594104"/>
          </a:xfrm>
          <a:prstGeom prst="roundRect">
            <a:avLst>
              <a:gd name="adj" fmla="val 2868"/>
            </a:avLst>
          </a:prstGeom>
          <a:solidFill>
            <a:srgbClr val="FFFFFF"/>
          </a:solidFill>
          <a:ln w="12700">
            <a:solidFill>
              <a:srgbClr val="D5DC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1207008"/>
            <a:ext cx="2103120" cy="292608"/>
          </a:xfrm>
          <a:prstGeom prst="rect">
            <a:avLst/>
          </a:prstGeom>
          <a:solidFill>
            <a:srgbClr val="F5A742"/>
          </a:solidFill>
          <a:ln w="12700">
            <a:solidFill>
              <a:srgbClr val="F5A7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20700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EXAM-STYLE QUESTION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40080" y="1572768"/>
            <a:ext cx="9539935" cy="1155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spring investigation, name the </a:t>
            </a:r>
            <a:r>
              <a:rPr lang="en-US" sz="1250" b="1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</a:t>
            </a:r>
            <a:r>
              <a:rPr lang="en-US" sz="125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variable, the </a:t>
            </a:r>
            <a:r>
              <a:rPr lang="en-US" sz="1250" b="1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dependent</a:t>
            </a:r>
            <a:r>
              <a:rPr lang="en-US" sz="125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variable and </a:t>
            </a:r>
            <a:r>
              <a:rPr lang="en-US" sz="1250" b="1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control</a:t>
            </a:r>
            <a:r>
              <a:rPr lang="en-US" sz="125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variable.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0317175" y="2417064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5A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 marks]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11480" y="2947416"/>
            <a:ext cx="11368735" cy="1594104"/>
          </a:xfrm>
          <a:prstGeom prst="roundRect">
            <a:avLst>
              <a:gd name="adj" fmla="val 2868"/>
            </a:avLst>
          </a:prstGeom>
          <a:solidFill>
            <a:srgbClr val="FFFFFF"/>
          </a:solidFill>
          <a:ln w="12700">
            <a:solidFill>
              <a:srgbClr val="D5DC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" y="2947416"/>
            <a:ext cx="2103120" cy="292608"/>
          </a:xfrm>
          <a:prstGeom prst="rect">
            <a:avLst/>
          </a:prstGeom>
          <a:solidFill>
            <a:srgbClr val="F5A742"/>
          </a:solidFill>
          <a:ln w="12700">
            <a:solidFill>
              <a:srgbClr val="F5A74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947416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EXAM-STYLE QUESTION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40080" y="3313176"/>
            <a:ext cx="9539935" cy="1155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student did not check that the metre rule was vertical. Explain how this affects the readings and how to fix it.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0317175" y="4157472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5A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 marks]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11480" y="4687824"/>
            <a:ext cx="11368735" cy="1594104"/>
          </a:xfrm>
          <a:prstGeom prst="roundRect">
            <a:avLst>
              <a:gd name="adj" fmla="val 2868"/>
            </a:avLst>
          </a:prstGeom>
          <a:solidFill>
            <a:srgbClr val="FFFFFF"/>
          </a:solidFill>
          <a:ln w="12700">
            <a:solidFill>
              <a:srgbClr val="D5DC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1480" y="4687824"/>
            <a:ext cx="2103120" cy="292608"/>
          </a:xfrm>
          <a:prstGeom prst="rect">
            <a:avLst/>
          </a:prstGeom>
          <a:solidFill>
            <a:srgbClr val="F5A742"/>
          </a:solidFill>
          <a:ln w="12700">
            <a:solidFill>
              <a:srgbClr val="F5A74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4687824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EXAM-STYLE QUESTION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40080" y="5053584"/>
            <a:ext cx="9539935" cy="1155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student’s graph, a force of </a:t>
            </a:r>
            <a:r>
              <a:rPr lang="en-US" sz="1250" b="1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5.0 N</a:t>
            </a:r>
            <a:r>
              <a:rPr lang="en-US" sz="125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gives an extension of </a:t>
            </a:r>
            <a:r>
              <a:rPr lang="en-US" sz="1250" b="1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0.20 m</a:t>
            </a:r>
            <a:r>
              <a:rPr lang="en-US" sz="125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the linear region. Calculate the spring constant and the work done in stretching the spring to this extension.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0317175" y="589788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5A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 marks]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EEF2FA"/>
          </a:solidFill>
          <a:ln w="12700">
            <a:solidFill>
              <a:srgbClr val="EEF2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87552"/>
            <a:ext cx="12191695" cy="27432"/>
          </a:xfrm>
          <a:prstGeom prst="rect">
            <a:avLst/>
          </a:prstGeom>
          <a:solidFill>
            <a:srgbClr val="D3DCF0"/>
          </a:solidFill>
          <a:ln w="12700">
            <a:solidFill>
              <a:srgbClr val="D3DC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18872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Pressure, force and area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11480" y="6400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E5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Specification 15.10P, 15.11P • pressure = force normal to surface ÷ area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0591495" y="292608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2E5BD8"/>
          </a:solidFill>
          <a:ln w="12700">
            <a:solidFill>
              <a:srgbClr val="2E5B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91495" y="29260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 ONLY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6473952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Edexcel GCSE (9–1) Physics (1PH0) | Topic 15 Forces and matter | Higher &amp; Foundation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784080" y="647395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15.10P  |  19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11480" y="1188720"/>
            <a:ext cx="5577840" cy="4526280"/>
          </a:xfrm>
          <a:prstGeom prst="roundRect">
            <a:avLst>
              <a:gd name="adj" fmla="val 1616"/>
            </a:avLst>
          </a:prstGeom>
          <a:solidFill>
            <a:srgbClr val="EEF1F8"/>
          </a:solidFill>
          <a:ln w="9525">
            <a:solidFill>
              <a:srgbClr val="DCE2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5404104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diagram — same weight, different area: the snow is pressed less by a large area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0080" y="3657600"/>
            <a:ext cx="5120640" cy="1280160"/>
          </a:xfrm>
          <a:prstGeom prst="rect">
            <a:avLst/>
          </a:prstGeom>
          <a:solidFill>
            <a:srgbClr val="F4F7FB"/>
          </a:solidFill>
          <a:ln w="12700">
            <a:solidFill>
              <a:srgbClr val="B9C4D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3584448"/>
            <a:ext cx="2011680" cy="146304"/>
          </a:xfrm>
          <a:prstGeom prst="rect">
            <a:avLst/>
          </a:prstGeom>
          <a:solidFill>
            <a:srgbClr val="7C8598"/>
          </a:solidFill>
          <a:ln/>
        </p:spPr>
      </p:sp>
      <p:sp>
        <p:nvSpPr>
          <p:cNvPr id="14" name="Shape 12"/>
          <p:cNvSpPr/>
          <p:nvPr/>
        </p:nvSpPr>
        <p:spPr>
          <a:xfrm>
            <a:off x="1600200" y="2194560"/>
            <a:ext cx="640080" cy="1389888"/>
          </a:xfrm>
          <a:prstGeom prst="rect">
            <a:avLst/>
          </a:prstGeom>
          <a:solidFill>
            <a:srgbClr val="5A6275"/>
          </a:solidFill>
          <a:ln/>
        </p:spPr>
      </p:sp>
      <p:sp>
        <p:nvSpPr>
          <p:cNvPr id="15" name="Shape 13"/>
          <p:cNvSpPr/>
          <p:nvPr/>
        </p:nvSpPr>
        <p:spPr>
          <a:xfrm>
            <a:off x="1920240" y="2286000"/>
            <a:ext cx="91" cy="822960"/>
          </a:xfrm>
          <a:prstGeom prst="line">
            <a:avLst/>
          </a:prstGeom>
          <a:noFill/>
          <a:ln w="38100">
            <a:solidFill>
              <a:srgbClr val="C8414C"/>
            </a:solidFill>
            <a:prstDash val="solid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822960" y="187452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600 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22960" y="38404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snowshoe 0.30 m²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2000 Pa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886200" y="3584448"/>
            <a:ext cx="457200" cy="685800"/>
          </a:xfrm>
          <a:prstGeom prst="rect">
            <a:avLst/>
          </a:prstGeom>
          <a:solidFill>
            <a:srgbClr val="DCE3EF"/>
          </a:solidFill>
          <a:ln/>
        </p:spPr>
      </p:sp>
      <p:sp>
        <p:nvSpPr>
          <p:cNvPr id="19" name="Shape 17"/>
          <p:cNvSpPr/>
          <p:nvPr/>
        </p:nvSpPr>
        <p:spPr>
          <a:xfrm>
            <a:off x="3886200" y="3246120"/>
            <a:ext cx="457200" cy="1024128"/>
          </a:xfrm>
          <a:prstGeom prst="rect">
            <a:avLst/>
          </a:prstGeom>
          <a:solidFill>
            <a:srgbClr val="5A6275"/>
          </a:solidFill>
          <a:ln/>
        </p:spPr>
      </p:sp>
      <p:sp>
        <p:nvSpPr>
          <p:cNvPr id="20" name="Shape 18"/>
          <p:cNvSpPr/>
          <p:nvPr/>
        </p:nvSpPr>
        <p:spPr>
          <a:xfrm>
            <a:off x="3794760" y="4114800"/>
            <a:ext cx="640080" cy="146304"/>
          </a:xfrm>
          <a:prstGeom prst="rect">
            <a:avLst/>
          </a:prstGeom>
          <a:solidFill>
            <a:srgbClr val="7C8598"/>
          </a:solidFill>
          <a:ln/>
        </p:spPr>
      </p:sp>
      <p:sp>
        <p:nvSpPr>
          <p:cNvPr id="21" name="Shape 19"/>
          <p:cNvSpPr/>
          <p:nvPr/>
        </p:nvSpPr>
        <p:spPr>
          <a:xfrm>
            <a:off x="4114800" y="2194560"/>
            <a:ext cx="91" cy="868680"/>
          </a:xfrm>
          <a:prstGeom prst="line">
            <a:avLst/>
          </a:prstGeom>
          <a:noFill/>
          <a:ln w="38100">
            <a:solidFill>
              <a:srgbClr val="C8414C"/>
            </a:solidFill>
            <a:prstDash val="solid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3108960" y="187452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600 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108960" y="43434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 0.040 m²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15 000 Pa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17920" y="1188720"/>
            <a:ext cx="5562295" cy="2423160"/>
          </a:xfrm>
          <a:prstGeom prst="roundRect">
            <a:avLst>
              <a:gd name="adj" fmla="val 2264"/>
            </a:avLst>
          </a:prstGeom>
          <a:solidFill>
            <a:srgbClr val="F5F8FE"/>
          </a:solidFill>
          <a:ln w="9525">
            <a:solidFill>
              <a:srgbClr val="D5DC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82512" y="1280160"/>
            <a:ext cx="523311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pressure means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382512" y="1609344"/>
            <a:ext cx="5233111" cy="1929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2E5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F ÷ A</a:t>
            </a:r>
            <a:r>
              <a:rPr lang="en-US" sz="115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pressure (Pa) = force normal to a surface (N) ÷ area of that surface (m²)</a:t>
            </a: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C8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RECALL: you must learn this equation. 1 Pa = 1 N/m².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150" b="1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area → low pressure:</a:t>
            </a:r>
            <a:r>
              <a:rPr lang="en-US" sz="115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snowshoes, tractor tyres, wide straps on a bag.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150" b="1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area → high pressure:</a:t>
            </a:r>
            <a:r>
              <a:rPr lang="en-US" sz="115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knife edges, drawing pins, nails, stiletto heels.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15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force must be </a:t>
            </a:r>
            <a:r>
              <a:rPr lang="en-US" sz="1150" b="1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r>
              <a:rPr lang="en-US" sz="115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(at 90°) to the surface.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217920" y="3749040"/>
            <a:ext cx="5562295" cy="1965960"/>
          </a:xfrm>
          <a:prstGeom prst="roundRect">
            <a:avLst>
              <a:gd name="adj" fmla="val 2791"/>
            </a:avLst>
          </a:prstGeom>
          <a:solidFill>
            <a:srgbClr val="FFF4E0"/>
          </a:solidFill>
          <a:ln w="9525">
            <a:solidFill>
              <a:srgbClr val="F1D9A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82512" y="3822192"/>
            <a:ext cx="523311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7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382512" y="4133088"/>
            <a:ext cx="5233111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walker of weight 600 N stands on boots of total area 0.040 m². Calculate the pressure.</a:t>
            </a:r>
            <a:endParaRPr lang="en-US" sz="1100" dirty="0"/>
          </a:p>
          <a:p>
            <a:pPr indent="0" marL="0">
              <a:spcBef>
                <a:spcPts val="200"/>
              </a:spcBef>
              <a:buNone/>
            </a:pPr>
            <a:r>
              <a:rPr lang="en-US" sz="1100" b="1" dirty="0">
                <a:solidFill>
                  <a:srgbClr val="2E5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Equation   </a:t>
            </a:r>
            <a:r>
              <a:rPr lang="en-US" sz="110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F ÷ A</a:t>
            </a:r>
            <a:endParaRPr lang="en-US" sz="1100" dirty="0"/>
          </a:p>
          <a:p>
            <a:pPr indent="0" marL="0">
              <a:spcBef>
                <a:spcPts val="200"/>
              </a:spcBef>
              <a:buNone/>
            </a:pPr>
            <a:r>
              <a:rPr lang="en-US" sz="1100" b="1" dirty="0">
                <a:solidFill>
                  <a:srgbClr val="2E5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Rearrange   </a:t>
            </a:r>
            <a:r>
              <a:rPr lang="en-US" sz="110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600 N ÷ 0.040 m²</a:t>
            </a:r>
            <a:endParaRPr lang="en-US" sz="1100" dirty="0"/>
          </a:p>
          <a:p>
            <a:pPr indent="0" marL="0">
              <a:spcBef>
                <a:spcPts val="200"/>
              </a:spcBef>
              <a:buNone/>
            </a:pPr>
            <a:r>
              <a:rPr lang="en-US" sz="1100" b="1" dirty="0">
                <a:solidFill>
                  <a:srgbClr val="2E5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Units   </a:t>
            </a:r>
            <a:r>
              <a:rPr lang="en-US" sz="110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÷ m² = Pa</a:t>
            </a:r>
            <a:endParaRPr lang="en-US" sz="1100" dirty="0"/>
          </a:p>
          <a:p>
            <a:pPr indent="0" marL="0">
              <a:spcBef>
                <a:spcPts val="200"/>
              </a:spcBef>
              <a:buNone/>
            </a:pPr>
            <a:r>
              <a:rPr lang="en-US" sz="1100" b="1" dirty="0">
                <a:solidFill>
                  <a:srgbClr val="2E5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Answer   </a:t>
            </a:r>
            <a:r>
              <a:rPr lang="en-US" sz="1100" b="1" dirty="0">
                <a:solidFill>
                  <a:srgbClr val="C8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15 000 Pa (1.5 × 10⁴ Pa)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11480" y="5833872"/>
            <a:ext cx="11368735" cy="530352"/>
          </a:xfrm>
          <a:prstGeom prst="rect">
            <a:avLst/>
          </a:prstGeom>
          <a:solidFill>
            <a:srgbClr val="FFF4E0"/>
          </a:solidFill>
          <a:ln w="6350">
            <a:solidFill>
              <a:srgbClr val="F1D9A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11480" y="5833872"/>
            <a:ext cx="82296" cy="530352"/>
          </a:xfrm>
          <a:prstGeom prst="rect">
            <a:avLst/>
          </a:prstGeom>
          <a:solidFill>
            <a:srgbClr val="E39A2F"/>
          </a:solidFill>
          <a:ln w="12700">
            <a:solidFill>
              <a:srgbClr val="E39A2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" y="5833872"/>
            <a:ext cx="1100297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7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   </a:t>
            </a:r>
            <a:r>
              <a:rPr lang="en-US" sz="115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drawing pin is pushed with 20 N. Its point has area 1.0 × 10⁻⁷ m². Calculate the pressure under the point.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EEF2FA"/>
          </a:solidFill>
          <a:ln w="12700">
            <a:solidFill>
              <a:srgbClr val="EEF2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87552"/>
            <a:ext cx="12191695" cy="27432"/>
          </a:xfrm>
          <a:prstGeom prst="rect">
            <a:avLst/>
          </a:prstGeom>
          <a:solidFill>
            <a:srgbClr val="D3DCF0"/>
          </a:solidFill>
          <a:ln w="12700">
            <a:solidFill>
              <a:srgbClr val="D3DC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18872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Pressure in fluids acts in all directions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11480" y="6400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E5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Specification 15.8P, 15.9P • fluid pressure gives a force normal to any surface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0591495" y="292608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2E5BD8"/>
          </a:solidFill>
          <a:ln w="12700">
            <a:solidFill>
              <a:srgbClr val="2E5B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91495" y="29260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 ONLY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6473952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Edexcel GCSE (9–1) Physics (1PH0) | Topic 15 Forces and matter | Higher &amp; Foundation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784080" y="647395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15.9P  |  20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11480" y="1188720"/>
            <a:ext cx="5577840" cy="4526280"/>
          </a:xfrm>
          <a:prstGeom prst="roundRect">
            <a:avLst>
              <a:gd name="adj" fmla="val 1616"/>
            </a:avLst>
          </a:prstGeom>
          <a:solidFill>
            <a:srgbClr val="EEF1F8"/>
          </a:solidFill>
          <a:ln w="9525">
            <a:solidFill>
              <a:srgbClr val="DCE2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5404104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diagram — arrows show forces from water pressure, always at 90° to each surface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14400" y="2217420"/>
            <a:ext cx="4480560" cy="2811780"/>
          </a:xfrm>
          <a:prstGeom prst="rect">
            <a:avLst/>
          </a:prstGeom>
          <a:solidFill>
            <a:srgbClr val="BFD9F2"/>
          </a:solidFill>
          <a:ln/>
        </p:spPr>
      </p:sp>
      <p:sp>
        <p:nvSpPr>
          <p:cNvPr id="13" name="Shape 11"/>
          <p:cNvSpPr/>
          <p:nvPr/>
        </p:nvSpPr>
        <p:spPr>
          <a:xfrm>
            <a:off x="914400" y="1600200"/>
            <a:ext cx="91" cy="3429000"/>
          </a:xfrm>
          <a:prstGeom prst="line">
            <a:avLst/>
          </a:prstGeom>
          <a:noFill/>
          <a:ln w="25400">
            <a:solidFill>
              <a:srgbClr val="1A234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394960" y="1600200"/>
            <a:ext cx="91" cy="3429000"/>
          </a:xfrm>
          <a:prstGeom prst="line">
            <a:avLst/>
          </a:prstGeom>
          <a:noFill/>
          <a:ln w="25400">
            <a:solidFill>
              <a:srgbClr val="1A234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5029200"/>
            <a:ext cx="4480560" cy="91"/>
          </a:xfrm>
          <a:prstGeom prst="line">
            <a:avLst/>
          </a:prstGeom>
          <a:noFill/>
          <a:ln w="25400">
            <a:solidFill>
              <a:srgbClr val="1A234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2217420"/>
            <a:ext cx="4480560" cy="91"/>
          </a:xfrm>
          <a:prstGeom prst="line">
            <a:avLst/>
          </a:prstGeom>
          <a:noFill/>
          <a:ln w="15875">
            <a:solidFill>
              <a:srgbClr val="5B9BD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63040" y="1833372"/>
            <a:ext cx="91" cy="347472"/>
          </a:xfrm>
          <a:prstGeom prst="line">
            <a:avLst/>
          </a:prstGeom>
          <a:noFill/>
          <a:ln w="25400">
            <a:solidFill>
              <a:srgbClr val="2E5BD8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2560320" y="1833372"/>
            <a:ext cx="91" cy="347472"/>
          </a:xfrm>
          <a:prstGeom prst="line">
            <a:avLst/>
          </a:prstGeom>
          <a:noFill/>
          <a:ln w="25400">
            <a:solidFill>
              <a:srgbClr val="2E5BD8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3657600" y="1833372"/>
            <a:ext cx="91" cy="347472"/>
          </a:xfrm>
          <a:prstGeom prst="line">
            <a:avLst/>
          </a:prstGeom>
          <a:noFill/>
          <a:ln w="25400">
            <a:solidFill>
              <a:srgbClr val="2E5BD8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4754880" y="1833372"/>
            <a:ext cx="91" cy="347472"/>
          </a:xfrm>
          <a:prstGeom prst="line">
            <a:avLst/>
          </a:prstGeom>
          <a:noFill/>
          <a:ln w="25400">
            <a:solidFill>
              <a:srgbClr val="2E5BD8"/>
            </a:solidFill>
            <a:prstDash val="solid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914400" y="129844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E5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atmospheric pressure acts on the surface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932688" y="2651760"/>
            <a:ext cx="164592" cy="91"/>
          </a:xfrm>
          <a:prstGeom prst="line">
            <a:avLst/>
          </a:prstGeom>
          <a:noFill/>
          <a:ln w="25400">
            <a:solidFill>
              <a:srgbClr val="C8414C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 flipH="1">
            <a:off x="5212080" y="2651760"/>
            <a:ext cx="164592" cy="91"/>
          </a:xfrm>
          <a:prstGeom prst="line">
            <a:avLst/>
          </a:prstGeom>
          <a:noFill/>
          <a:ln w="25400">
            <a:solidFill>
              <a:srgbClr val="C8414C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932688" y="3291840"/>
            <a:ext cx="246888" cy="91"/>
          </a:xfrm>
          <a:prstGeom prst="line">
            <a:avLst/>
          </a:prstGeom>
          <a:noFill/>
          <a:ln w="25400">
            <a:solidFill>
              <a:srgbClr val="C8414C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 flipH="1">
            <a:off x="5129784" y="3291840"/>
            <a:ext cx="246888" cy="91"/>
          </a:xfrm>
          <a:prstGeom prst="line">
            <a:avLst/>
          </a:prstGeom>
          <a:noFill/>
          <a:ln w="25400">
            <a:solidFill>
              <a:srgbClr val="C8414C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932688" y="3931920"/>
            <a:ext cx="329184" cy="91"/>
          </a:xfrm>
          <a:prstGeom prst="line">
            <a:avLst/>
          </a:prstGeom>
          <a:noFill/>
          <a:ln w="25400">
            <a:solidFill>
              <a:srgbClr val="C8414C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 flipH="1">
            <a:off x="5047488" y="3931920"/>
            <a:ext cx="329184" cy="91"/>
          </a:xfrm>
          <a:prstGeom prst="line">
            <a:avLst/>
          </a:prstGeom>
          <a:noFill/>
          <a:ln w="25400">
            <a:solidFill>
              <a:srgbClr val="C8414C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32688" y="4572000"/>
            <a:ext cx="411480" cy="91"/>
          </a:xfrm>
          <a:prstGeom prst="line">
            <a:avLst/>
          </a:prstGeom>
          <a:noFill/>
          <a:ln w="25400">
            <a:solidFill>
              <a:srgbClr val="C8414C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 flipH="1">
            <a:off x="4965192" y="4572000"/>
            <a:ext cx="411480" cy="91"/>
          </a:xfrm>
          <a:prstGeom prst="line">
            <a:avLst/>
          </a:prstGeom>
          <a:noFill/>
          <a:ln w="25400">
            <a:solidFill>
              <a:srgbClr val="C8414C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 flipV="1">
            <a:off x="1828800" y="4572000"/>
            <a:ext cx="91" cy="438912"/>
          </a:xfrm>
          <a:prstGeom prst="line">
            <a:avLst/>
          </a:prstGeom>
          <a:noFill/>
          <a:ln w="25400">
            <a:solidFill>
              <a:srgbClr val="C8414C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 flipV="1">
            <a:off x="3154680" y="4572000"/>
            <a:ext cx="91" cy="438912"/>
          </a:xfrm>
          <a:prstGeom prst="line">
            <a:avLst/>
          </a:prstGeom>
          <a:noFill/>
          <a:ln w="25400">
            <a:solidFill>
              <a:srgbClr val="C8414C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 flipV="1">
            <a:off x="4480560" y="4572000"/>
            <a:ext cx="91" cy="438912"/>
          </a:xfrm>
          <a:prstGeom prst="line">
            <a:avLst/>
          </a:prstGeom>
          <a:noFill/>
          <a:ln w="25400">
            <a:solidFill>
              <a:srgbClr val="C8414C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2807208" y="3172968"/>
            <a:ext cx="694944" cy="694944"/>
          </a:xfrm>
          <a:prstGeom prst="ellipse">
            <a:avLst/>
          </a:prstGeom>
          <a:solidFill>
            <a:srgbClr val="E8C27A"/>
          </a:solidFill>
          <a:ln w="12700">
            <a:solidFill>
              <a:srgbClr val="8A6A3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 flipH="1">
            <a:off x="3520440" y="3520440"/>
            <a:ext cx="365760" cy="91"/>
          </a:xfrm>
          <a:prstGeom prst="line">
            <a:avLst/>
          </a:prstGeom>
          <a:noFill/>
          <a:ln w="22225">
            <a:solidFill>
              <a:srgbClr val="C8414C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 flipH="1" flipV="1">
            <a:off x="3413311" y="3779071"/>
            <a:ext cx="286063" cy="286063"/>
          </a:xfrm>
          <a:prstGeom prst="line">
            <a:avLst/>
          </a:prstGeom>
          <a:noFill/>
          <a:ln w="22225">
            <a:solidFill>
              <a:srgbClr val="C8414C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 flipV="1">
            <a:off x="3154680" y="3886200"/>
            <a:ext cx="91" cy="420624"/>
          </a:xfrm>
          <a:prstGeom prst="line">
            <a:avLst/>
          </a:prstGeom>
          <a:noFill/>
          <a:ln w="22225">
            <a:solidFill>
              <a:srgbClr val="C8414C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 flipV="1">
            <a:off x="2609985" y="3779071"/>
            <a:ext cx="286063" cy="286063"/>
          </a:xfrm>
          <a:prstGeom prst="line">
            <a:avLst/>
          </a:prstGeom>
          <a:noFill/>
          <a:ln w="22225">
            <a:solidFill>
              <a:srgbClr val="C8414C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2423160" y="3520440"/>
            <a:ext cx="365760" cy="91"/>
          </a:xfrm>
          <a:prstGeom prst="line">
            <a:avLst/>
          </a:prstGeom>
          <a:noFill/>
          <a:ln w="22225">
            <a:solidFill>
              <a:srgbClr val="C8414C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2664849" y="3030609"/>
            <a:ext cx="231199" cy="231199"/>
          </a:xfrm>
          <a:prstGeom prst="line">
            <a:avLst/>
          </a:prstGeom>
          <a:noFill/>
          <a:ln w="22225">
            <a:solidFill>
              <a:srgbClr val="C8414C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3154680" y="2843784"/>
            <a:ext cx="91" cy="310896"/>
          </a:xfrm>
          <a:prstGeom prst="line">
            <a:avLst/>
          </a:prstGeom>
          <a:noFill/>
          <a:ln w="22225">
            <a:solidFill>
              <a:srgbClr val="C8414C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 flipH="1">
            <a:off x="3413311" y="3030609"/>
            <a:ext cx="231199" cy="231199"/>
          </a:xfrm>
          <a:prstGeom prst="line">
            <a:avLst/>
          </a:prstGeom>
          <a:noFill/>
          <a:ln w="22225">
            <a:solidFill>
              <a:srgbClr val="C8414C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6217920" y="1188720"/>
            <a:ext cx="5562295" cy="2423160"/>
          </a:xfrm>
          <a:prstGeom prst="roundRect">
            <a:avLst>
              <a:gd name="adj" fmla="val 2264"/>
            </a:avLst>
          </a:prstGeom>
          <a:solidFill>
            <a:srgbClr val="F5F8FE"/>
          </a:solidFill>
          <a:ln w="9525">
            <a:solidFill>
              <a:srgbClr val="D5DCE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82512" y="1280160"/>
            <a:ext cx="523311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Fluids push on every surface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6382512" y="1609344"/>
            <a:ext cx="5233111" cy="1929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15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150" b="1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fluid</a:t>
            </a:r>
            <a:r>
              <a:rPr lang="en-US" sz="115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a liquid or a gas – its particles can flow.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15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Particles collide with any surface in the fluid, so fluid pressure causes a force </a:t>
            </a:r>
            <a:r>
              <a:rPr lang="en-US" sz="1150" b="1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(at 90°) to any surface</a:t>
            </a:r>
            <a:r>
              <a:rPr lang="en-US" sz="115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in </a:t>
            </a:r>
            <a:r>
              <a:rPr lang="en-US" sz="1150" b="1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directions</a:t>
            </a:r>
            <a:r>
              <a:rPr lang="en-US" sz="115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15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pressure at a point in a liquid is due to the </a:t>
            </a:r>
            <a:r>
              <a:rPr lang="en-US" sz="1150" b="1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of the liquid above</a:t>
            </a:r>
            <a:r>
              <a:rPr lang="en-US" sz="115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it </a:t>
            </a:r>
            <a:r>
              <a:rPr lang="en-US" sz="1150" b="1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</a:t>
            </a:r>
            <a:r>
              <a:rPr lang="en-US" sz="115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</a:t>
            </a:r>
            <a:r>
              <a:rPr lang="en-US" sz="1150" b="1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atmospheric pressure</a:t>
            </a:r>
            <a:r>
              <a:rPr lang="en-US" sz="115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the liquid surface.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15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Deeper down the arrows are longer: pressure increases with depth.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6217920" y="3749040"/>
            <a:ext cx="5562295" cy="1965960"/>
          </a:xfrm>
          <a:prstGeom prst="roundRect">
            <a:avLst>
              <a:gd name="adj" fmla="val 2791"/>
            </a:avLst>
          </a:prstGeom>
          <a:solidFill>
            <a:srgbClr val="FFF4E0"/>
          </a:solidFill>
          <a:ln w="9525">
            <a:solidFill>
              <a:srgbClr val="F1D9A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382512" y="3822192"/>
            <a:ext cx="523311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7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(rearranging p = F/A)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6382512" y="4133088"/>
            <a:ext cx="5233111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Atmospheric pressure is 1.0 × 10⁵ Pa. Calculate the force it exerts on a table top of area 0.50 m².</a:t>
            </a:r>
            <a:endParaRPr lang="en-US" sz="1100" dirty="0"/>
          </a:p>
          <a:p>
            <a:pPr indent="0" marL="0">
              <a:spcBef>
                <a:spcPts val="200"/>
              </a:spcBef>
              <a:buNone/>
            </a:pPr>
            <a:r>
              <a:rPr lang="en-US" sz="1100" b="1" dirty="0">
                <a:solidFill>
                  <a:srgbClr val="2E5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Equation   </a:t>
            </a:r>
            <a:r>
              <a:rPr lang="en-US" sz="110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F ÷ A</a:t>
            </a:r>
            <a:endParaRPr lang="en-US" sz="1100" dirty="0"/>
          </a:p>
          <a:p>
            <a:pPr indent="0" marL="0">
              <a:spcBef>
                <a:spcPts val="200"/>
              </a:spcBef>
              <a:buNone/>
            </a:pPr>
            <a:r>
              <a:rPr lang="en-US" sz="1100" b="1" dirty="0">
                <a:solidFill>
                  <a:srgbClr val="2E5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Rearrange   </a:t>
            </a:r>
            <a:r>
              <a:rPr lang="en-US" sz="110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= p × A</a:t>
            </a:r>
            <a:endParaRPr lang="en-US" sz="1100" dirty="0"/>
          </a:p>
          <a:p>
            <a:pPr indent="0" marL="0">
              <a:spcBef>
                <a:spcPts val="200"/>
              </a:spcBef>
              <a:buNone/>
            </a:pPr>
            <a:r>
              <a:rPr lang="en-US" sz="1100" b="1" dirty="0">
                <a:solidFill>
                  <a:srgbClr val="2E5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Substitute   </a:t>
            </a:r>
            <a:r>
              <a:rPr lang="en-US" sz="110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= 1.0 × 10⁵ Pa × 0.50 m²</a:t>
            </a:r>
            <a:endParaRPr lang="en-US" sz="1100" dirty="0"/>
          </a:p>
          <a:p>
            <a:pPr indent="0" marL="0">
              <a:spcBef>
                <a:spcPts val="200"/>
              </a:spcBef>
              <a:buNone/>
            </a:pPr>
            <a:r>
              <a:rPr lang="en-US" sz="1100" b="1" dirty="0">
                <a:solidFill>
                  <a:srgbClr val="2E5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Answer   </a:t>
            </a:r>
            <a:r>
              <a:rPr lang="en-US" sz="1100" b="1" dirty="0">
                <a:solidFill>
                  <a:srgbClr val="C8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= 5.0 × 10⁴ N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411480" y="5833872"/>
            <a:ext cx="11368735" cy="530352"/>
          </a:xfrm>
          <a:prstGeom prst="rect">
            <a:avLst/>
          </a:prstGeom>
          <a:solidFill>
            <a:srgbClr val="FFF4E0"/>
          </a:solidFill>
          <a:ln w="6350">
            <a:solidFill>
              <a:srgbClr val="F1D9A8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11480" y="5833872"/>
            <a:ext cx="82296" cy="530352"/>
          </a:xfrm>
          <a:prstGeom prst="rect">
            <a:avLst/>
          </a:prstGeom>
          <a:solidFill>
            <a:srgbClr val="E39A2F"/>
          </a:solidFill>
          <a:ln w="12700">
            <a:solidFill>
              <a:srgbClr val="E39A2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40080" y="5833872"/>
            <a:ext cx="1100297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7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   </a:t>
            </a:r>
            <a:r>
              <a:rPr lang="en-US" sz="115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the force of the atmosphere (1.0 × 10⁵ Pa) on a phone screen of area 0.0040 m². Why does the screen not break?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EEF2FA"/>
          </a:solidFill>
          <a:ln w="12700">
            <a:solidFill>
              <a:srgbClr val="EEF2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87552"/>
            <a:ext cx="12191695" cy="27432"/>
          </a:xfrm>
          <a:prstGeom prst="rect">
            <a:avLst/>
          </a:prstGeom>
          <a:solidFill>
            <a:srgbClr val="D3DCF0"/>
          </a:solidFill>
          <a:ln w="12700">
            <a:solidFill>
              <a:srgbClr val="D3DC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18872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Atmospheric pressure and height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11480" y="6400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E5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Specification 15.7P • a simple model of the Earth’s atmosphere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0591495" y="292608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2E5BD8"/>
          </a:solidFill>
          <a:ln w="12700">
            <a:solidFill>
              <a:srgbClr val="2E5B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91495" y="29260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 ONLY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6473952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Edexcel GCSE (9–1) Physics (1PH0) | Topic 15 Forces and matter | Higher &amp; Foundation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784080" y="647395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15.7P  |  21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11480" y="1188720"/>
            <a:ext cx="5577840" cy="4526280"/>
          </a:xfrm>
          <a:prstGeom prst="roundRect">
            <a:avLst>
              <a:gd name="adj" fmla="val 1616"/>
            </a:avLst>
          </a:prstGeom>
          <a:solidFill>
            <a:srgbClr val="EEF1F8"/>
          </a:solidFill>
          <a:ln w="9525">
            <a:solidFill>
              <a:srgbClr val="DCE2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5404104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diagram — air gets less dense with height; the dots are not to scale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0080" y="1371600"/>
            <a:ext cx="5120640" cy="3749040"/>
          </a:xfrm>
          <a:prstGeom prst="rect">
            <a:avLst/>
          </a:prstGeom>
          <a:solidFill>
            <a:srgbClr val="E3ECFA"/>
          </a:solidFill>
          <a:ln/>
        </p:spPr>
      </p:sp>
      <p:sp>
        <p:nvSpPr>
          <p:cNvPr id="13" name="Shape 11"/>
          <p:cNvSpPr/>
          <p:nvPr/>
        </p:nvSpPr>
        <p:spPr>
          <a:xfrm>
            <a:off x="3130650" y="4928797"/>
            <a:ext cx="64008" cy="64008"/>
          </a:xfrm>
          <a:prstGeom prst="ellipse">
            <a:avLst/>
          </a:prstGeom>
          <a:solidFill>
            <a:srgbClr val="2E5BD8"/>
          </a:solidFill>
          <a:ln/>
        </p:spPr>
      </p:sp>
      <p:sp>
        <p:nvSpPr>
          <p:cNvPr id="14" name="Shape 12"/>
          <p:cNvSpPr/>
          <p:nvPr/>
        </p:nvSpPr>
        <p:spPr>
          <a:xfrm>
            <a:off x="1296428" y="4856373"/>
            <a:ext cx="64008" cy="64008"/>
          </a:xfrm>
          <a:prstGeom prst="ellipse">
            <a:avLst/>
          </a:prstGeom>
          <a:solidFill>
            <a:srgbClr val="2E5BD8"/>
          </a:solidFill>
          <a:ln/>
        </p:spPr>
      </p:sp>
      <p:sp>
        <p:nvSpPr>
          <p:cNvPr id="15" name="Shape 13"/>
          <p:cNvSpPr/>
          <p:nvPr/>
        </p:nvSpPr>
        <p:spPr>
          <a:xfrm>
            <a:off x="2899720" y="4916359"/>
            <a:ext cx="64008" cy="64008"/>
          </a:xfrm>
          <a:prstGeom prst="ellipse">
            <a:avLst/>
          </a:prstGeom>
          <a:solidFill>
            <a:srgbClr val="2E5BD8"/>
          </a:solidFill>
          <a:ln/>
        </p:spPr>
      </p:sp>
      <p:sp>
        <p:nvSpPr>
          <p:cNvPr id="16" name="Shape 14"/>
          <p:cNvSpPr/>
          <p:nvPr/>
        </p:nvSpPr>
        <p:spPr>
          <a:xfrm>
            <a:off x="1115829" y="5001510"/>
            <a:ext cx="64008" cy="64008"/>
          </a:xfrm>
          <a:prstGeom prst="ellipse">
            <a:avLst/>
          </a:prstGeom>
          <a:solidFill>
            <a:srgbClr val="2E5BD8"/>
          </a:solidFill>
          <a:ln/>
        </p:spPr>
      </p:sp>
      <p:sp>
        <p:nvSpPr>
          <p:cNvPr id="17" name="Shape 15"/>
          <p:cNvSpPr/>
          <p:nvPr/>
        </p:nvSpPr>
        <p:spPr>
          <a:xfrm>
            <a:off x="3614988" y="4894514"/>
            <a:ext cx="64008" cy="64008"/>
          </a:xfrm>
          <a:prstGeom prst="ellipse">
            <a:avLst/>
          </a:prstGeom>
          <a:solidFill>
            <a:srgbClr val="2E5BD8"/>
          </a:solidFill>
          <a:ln/>
        </p:spPr>
      </p:sp>
      <p:sp>
        <p:nvSpPr>
          <p:cNvPr id="18" name="Shape 16"/>
          <p:cNvSpPr/>
          <p:nvPr/>
        </p:nvSpPr>
        <p:spPr>
          <a:xfrm>
            <a:off x="2123008" y="4979195"/>
            <a:ext cx="64008" cy="64008"/>
          </a:xfrm>
          <a:prstGeom prst="ellipse">
            <a:avLst/>
          </a:prstGeom>
          <a:solidFill>
            <a:srgbClr val="2E5BD8"/>
          </a:solidFill>
          <a:ln/>
        </p:spPr>
      </p:sp>
      <p:sp>
        <p:nvSpPr>
          <p:cNvPr id="19" name="Shape 17"/>
          <p:cNvSpPr/>
          <p:nvPr/>
        </p:nvSpPr>
        <p:spPr>
          <a:xfrm>
            <a:off x="3947751" y="4818107"/>
            <a:ext cx="64008" cy="64008"/>
          </a:xfrm>
          <a:prstGeom prst="ellipse">
            <a:avLst/>
          </a:prstGeom>
          <a:solidFill>
            <a:srgbClr val="2E5BD8"/>
          </a:solidFill>
          <a:ln/>
        </p:spPr>
      </p:sp>
      <p:sp>
        <p:nvSpPr>
          <p:cNvPr id="20" name="Shape 18"/>
          <p:cNvSpPr/>
          <p:nvPr/>
        </p:nvSpPr>
        <p:spPr>
          <a:xfrm>
            <a:off x="3170452" y="4854339"/>
            <a:ext cx="64008" cy="64008"/>
          </a:xfrm>
          <a:prstGeom prst="ellipse">
            <a:avLst/>
          </a:prstGeom>
          <a:solidFill>
            <a:srgbClr val="2E5BD8"/>
          </a:solidFill>
          <a:ln/>
        </p:spPr>
      </p:sp>
      <p:sp>
        <p:nvSpPr>
          <p:cNvPr id="21" name="Shape 19"/>
          <p:cNvSpPr/>
          <p:nvPr/>
        </p:nvSpPr>
        <p:spPr>
          <a:xfrm>
            <a:off x="4018800" y="4836714"/>
            <a:ext cx="64008" cy="64008"/>
          </a:xfrm>
          <a:prstGeom prst="ellipse">
            <a:avLst/>
          </a:prstGeom>
          <a:solidFill>
            <a:srgbClr val="2E5BD8"/>
          </a:solidFill>
          <a:ln/>
        </p:spPr>
      </p:sp>
      <p:sp>
        <p:nvSpPr>
          <p:cNvPr id="22" name="Shape 20"/>
          <p:cNvSpPr/>
          <p:nvPr/>
        </p:nvSpPr>
        <p:spPr>
          <a:xfrm>
            <a:off x="3473017" y="4911987"/>
            <a:ext cx="64008" cy="64008"/>
          </a:xfrm>
          <a:prstGeom prst="ellipse">
            <a:avLst/>
          </a:prstGeom>
          <a:solidFill>
            <a:srgbClr val="2E5BD8"/>
          </a:solidFill>
          <a:ln/>
        </p:spPr>
      </p:sp>
      <p:sp>
        <p:nvSpPr>
          <p:cNvPr id="23" name="Shape 21"/>
          <p:cNvSpPr/>
          <p:nvPr/>
        </p:nvSpPr>
        <p:spPr>
          <a:xfrm>
            <a:off x="1593499" y="4812047"/>
            <a:ext cx="64008" cy="64008"/>
          </a:xfrm>
          <a:prstGeom prst="ellipse">
            <a:avLst/>
          </a:prstGeom>
          <a:solidFill>
            <a:srgbClr val="2E5BD8"/>
          </a:solidFill>
          <a:ln/>
        </p:spPr>
      </p:sp>
      <p:sp>
        <p:nvSpPr>
          <p:cNvPr id="24" name="Shape 22"/>
          <p:cNvSpPr/>
          <p:nvPr/>
        </p:nvSpPr>
        <p:spPr>
          <a:xfrm>
            <a:off x="5325734" y="5022316"/>
            <a:ext cx="64008" cy="64008"/>
          </a:xfrm>
          <a:prstGeom prst="ellipse">
            <a:avLst/>
          </a:prstGeom>
          <a:solidFill>
            <a:srgbClr val="2E5BD8"/>
          </a:solidFill>
          <a:ln/>
        </p:spPr>
      </p:sp>
      <p:sp>
        <p:nvSpPr>
          <p:cNvPr id="25" name="Shape 23"/>
          <p:cNvSpPr/>
          <p:nvPr/>
        </p:nvSpPr>
        <p:spPr>
          <a:xfrm>
            <a:off x="1322306" y="4902150"/>
            <a:ext cx="64008" cy="64008"/>
          </a:xfrm>
          <a:prstGeom prst="ellipse">
            <a:avLst/>
          </a:prstGeom>
          <a:solidFill>
            <a:srgbClr val="2E5BD8"/>
          </a:solidFill>
          <a:ln/>
        </p:spPr>
      </p:sp>
      <p:sp>
        <p:nvSpPr>
          <p:cNvPr id="26" name="Shape 24"/>
          <p:cNvSpPr/>
          <p:nvPr/>
        </p:nvSpPr>
        <p:spPr>
          <a:xfrm>
            <a:off x="5406849" y="4843838"/>
            <a:ext cx="64008" cy="64008"/>
          </a:xfrm>
          <a:prstGeom prst="ellipse">
            <a:avLst/>
          </a:prstGeom>
          <a:solidFill>
            <a:srgbClr val="2E5BD8"/>
          </a:solidFill>
          <a:ln/>
        </p:spPr>
      </p:sp>
      <p:sp>
        <p:nvSpPr>
          <p:cNvPr id="27" name="Shape 25"/>
          <p:cNvSpPr/>
          <p:nvPr/>
        </p:nvSpPr>
        <p:spPr>
          <a:xfrm>
            <a:off x="2782452" y="4926402"/>
            <a:ext cx="64008" cy="64008"/>
          </a:xfrm>
          <a:prstGeom prst="ellipse">
            <a:avLst/>
          </a:prstGeom>
          <a:solidFill>
            <a:srgbClr val="2E5BD8"/>
          </a:solidFill>
          <a:ln/>
        </p:spPr>
      </p:sp>
      <p:sp>
        <p:nvSpPr>
          <p:cNvPr id="28" name="Shape 26"/>
          <p:cNvSpPr/>
          <p:nvPr/>
        </p:nvSpPr>
        <p:spPr>
          <a:xfrm>
            <a:off x="4018338" y="4864797"/>
            <a:ext cx="64008" cy="64008"/>
          </a:xfrm>
          <a:prstGeom prst="ellipse">
            <a:avLst/>
          </a:prstGeom>
          <a:solidFill>
            <a:srgbClr val="2E5BD8"/>
          </a:solidFill>
          <a:ln/>
        </p:spPr>
      </p:sp>
      <p:sp>
        <p:nvSpPr>
          <p:cNvPr id="29" name="Shape 27"/>
          <p:cNvSpPr/>
          <p:nvPr/>
        </p:nvSpPr>
        <p:spPr>
          <a:xfrm>
            <a:off x="1565063" y="5025912"/>
            <a:ext cx="64008" cy="64008"/>
          </a:xfrm>
          <a:prstGeom prst="ellipse">
            <a:avLst/>
          </a:prstGeom>
          <a:solidFill>
            <a:srgbClr val="2E5BD8"/>
          </a:solidFill>
          <a:ln/>
        </p:spPr>
      </p:sp>
      <p:sp>
        <p:nvSpPr>
          <p:cNvPr id="30" name="Shape 28"/>
          <p:cNvSpPr/>
          <p:nvPr/>
        </p:nvSpPr>
        <p:spPr>
          <a:xfrm>
            <a:off x="2911674" y="4853770"/>
            <a:ext cx="64008" cy="64008"/>
          </a:xfrm>
          <a:prstGeom prst="ellipse">
            <a:avLst/>
          </a:prstGeom>
          <a:solidFill>
            <a:srgbClr val="2E5BD8"/>
          </a:solidFill>
          <a:ln/>
        </p:spPr>
      </p:sp>
      <p:sp>
        <p:nvSpPr>
          <p:cNvPr id="31" name="Shape 29"/>
          <p:cNvSpPr/>
          <p:nvPr/>
        </p:nvSpPr>
        <p:spPr>
          <a:xfrm>
            <a:off x="3407714" y="4876127"/>
            <a:ext cx="64008" cy="64008"/>
          </a:xfrm>
          <a:prstGeom prst="ellipse">
            <a:avLst/>
          </a:prstGeom>
          <a:solidFill>
            <a:srgbClr val="2E5BD8"/>
          </a:solidFill>
          <a:ln/>
        </p:spPr>
      </p:sp>
      <p:sp>
        <p:nvSpPr>
          <p:cNvPr id="32" name="Shape 30"/>
          <p:cNvSpPr/>
          <p:nvPr/>
        </p:nvSpPr>
        <p:spPr>
          <a:xfrm>
            <a:off x="1482899" y="4977270"/>
            <a:ext cx="64008" cy="64008"/>
          </a:xfrm>
          <a:prstGeom prst="ellipse">
            <a:avLst/>
          </a:prstGeom>
          <a:solidFill>
            <a:srgbClr val="2E5BD8"/>
          </a:solidFill>
          <a:ln/>
        </p:spPr>
      </p:sp>
      <p:sp>
        <p:nvSpPr>
          <p:cNvPr id="33" name="Shape 31"/>
          <p:cNvSpPr/>
          <p:nvPr/>
        </p:nvSpPr>
        <p:spPr>
          <a:xfrm>
            <a:off x="2452038" y="4880623"/>
            <a:ext cx="64008" cy="64008"/>
          </a:xfrm>
          <a:prstGeom prst="ellipse">
            <a:avLst/>
          </a:prstGeom>
          <a:solidFill>
            <a:srgbClr val="2E5BD8"/>
          </a:solidFill>
          <a:ln/>
        </p:spPr>
      </p:sp>
      <p:sp>
        <p:nvSpPr>
          <p:cNvPr id="34" name="Shape 32"/>
          <p:cNvSpPr/>
          <p:nvPr/>
        </p:nvSpPr>
        <p:spPr>
          <a:xfrm>
            <a:off x="1121113" y="5012340"/>
            <a:ext cx="64008" cy="64008"/>
          </a:xfrm>
          <a:prstGeom prst="ellipse">
            <a:avLst/>
          </a:prstGeom>
          <a:solidFill>
            <a:srgbClr val="2E5BD8"/>
          </a:solidFill>
          <a:ln/>
        </p:spPr>
      </p:sp>
      <p:sp>
        <p:nvSpPr>
          <p:cNvPr id="35" name="Shape 33"/>
          <p:cNvSpPr/>
          <p:nvPr/>
        </p:nvSpPr>
        <p:spPr>
          <a:xfrm>
            <a:off x="1899000" y="4664383"/>
            <a:ext cx="64008" cy="64008"/>
          </a:xfrm>
          <a:prstGeom prst="ellipse">
            <a:avLst/>
          </a:prstGeom>
          <a:solidFill>
            <a:srgbClr val="2E5BD8"/>
          </a:solidFill>
          <a:ln/>
        </p:spPr>
      </p:sp>
      <p:sp>
        <p:nvSpPr>
          <p:cNvPr id="36" name="Shape 34"/>
          <p:cNvSpPr/>
          <p:nvPr/>
        </p:nvSpPr>
        <p:spPr>
          <a:xfrm>
            <a:off x="3034226" y="4516230"/>
            <a:ext cx="64008" cy="64008"/>
          </a:xfrm>
          <a:prstGeom prst="ellipse">
            <a:avLst/>
          </a:prstGeom>
          <a:solidFill>
            <a:srgbClr val="2E5BD8"/>
          </a:solidFill>
          <a:ln/>
        </p:spPr>
      </p:sp>
      <p:sp>
        <p:nvSpPr>
          <p:cNvPr id="37" name="Shape 35"/>
          <p:cNvSpPr/>
          <p:nvPr/>
        </p:nvSpPr>
        <p:spPr>
          <a:xfrm>
            <a:off x="3681256" y="4554109"/>
            <a:ext cx="64008" cy="64008"/>
          </a:xfrm>
          <a:prstGeom prst="ellipse">
            <a:avLst/>
          </a:prstGeom>
          <a:solidFill>
            <a:srgbClr val="2E5BD8"/>
          </a:solidFill>
          <a:ln/>
        </p:spPr>
      </p:sp>
      <p:sp>
        <p:nvSpPr>
          <p:cNvPr id="38" name="Shape 36"/>
          <p:cNvSpPr/>
          <p:nvPr/>
        </p:nvSpPr>
        <p:spPr>
          <a:xfrm>
            <a:off x="4444043" y="4611508"/>
            <a:ext cx="64008" cy="64008"/>
          </a:xfrm>
          <a:prstGeom prst="ellipse">
            <a:avLst/>
          </a:prstGeom>
          <a:solidFill>
            <a:srgbClr val="2E5BD8"/>
          </a:solidFill>
          <a:ln/>
        </p:spPr>
      </p:sp>
      <p:sp>
        <p:nvSpPr>
          <p:cNvPr id="39" name="Shape 37"/>
          <p:cNvSpPr/>
          <p:nvPr/>
        </p:nvSpPr>
        <p:spPr>
          <a:xfrm>
            <a:off x="1396878" y="4513449"/>
            <a:ext cx="64008" cy="64008"/>
          </a:xfrm>
          <a:prstGeom prst="ellipse">
            <a:avLst/>
          </a:prstGeom>
          <a:solidFill>
            <a:srgbClr val="2E5BD8"/>
          </a:solidFill>
          <a:ln/>
        </p:spPr>
      </p:sp>
      <p:sp>
        <p:nvSpPr>
          <p:cNvPr id="40" name="Shape 38"/>
          <p:cNvSpPr/>
          <p:nvPr/>
        </p:nvSpPr>
        <p:spPr>
          <a:xfrm>
            <a:off x="2934741" y="4482889"/>
            <a:ext cx="64008" cy="64008"/>
          </a:xfrm>
          <a:prstGeom prst="ellipse">
            <a:avLst/>
          </a:prstGeom>
          <a:solidFill>
            <a:srgbClr val="2E5BD8"/>
          </a:solidFill>
          <a:ln/>
        </p:spPr>
      </p:sp>
      <p:sp>
        <p:nvSpPr>
          <p:cNvPr id="41" name="Shape 39"/>
          <p:cNvSpPr/>
          <p:nvPr/>
        </p:nvSpPr>
        <p:spPr>
          <a:xfrm>
            <a:off x="964630" y="4556516"/>
            <a:ext cx="64008" cy="64008"/>
          </a:xfrm>
          <a:prstGeom prst="ellipse">
            <a:avLst/>
          </a:prstGeom>
          <a:solidFill>
            <a:srgbClr val="2E5BD8"/>
          </a:solidFill>
          <a:ln/>
        </p:spPr>
      </p:sp>
      <p:sp>
        <p:nvSpPr>
          <p:cNvPr id="42" name="Shape 40"/>
          <p:cNvSpPr/>
          <p:nvPr/>
        </p:nvSpPr>
        <p:spPr>
          <a:xfrm>
            <a:off x="4062712" y="4610152"/>
            <a:ext cx="64008" cy="64008"/>
          </a:xfrm>
          <a:prstGeom prst="ellipse">
            <a:avLst/>
          </a:prstGeom>
          <a:solidFill>
            <a:srgbClr val="2E5BD8"/>
          </a:solidFill>
          <a:ln/>
        </p:spPr>
      </p:sp>
      <p:sp>
        <p:nvSpPr>
          <p:cNvPr id="43" name="Shape 41"/>
          <p:cNvSpPr/>
          <p:nvPr/>
        </p:nvSpPr>
        <p:spPr>
          <a:xfrm>
            <a:off x="5404291" y="4536552"/>
            <a:ext cx="64008" cy="64008"/>
          </a:xfrm>
          <a:prstGeom prst="ellipse">
            <a:avLst/>
          </a:prstGeom>
          <a:solidFill>
            <a:srgbClr val="2E5BD8"/>
          </a:solidFill>
          <a:ln/>
        </p:spPr>
      </p:sp>
      <p:sp>
        <p:nvSpPr>
          <p:cNvPr id="44" name="Shape 42"/>
          <p:cNvSpPr/>
          <p:nvPr/>
        </p:nvSpPr>
        <p:spPr>
          <a:xfrm>
            <a:off x="2875520" y="4575607"/>
            <a:ext cx="64008" cy="64008"/>
          </a:xfrm>
          <a:prstGeom prst="ellipse">
            <a:avLst/>
          </a:prstGeom>
          <a:solidFill>
            <a:srgbClr val="2E5BD8"/>
          </a:solidFill>
          <a:ln/>
        </p:spPr>
      </p:sp>
      <p:sp>
        <p:nvSpPr>
          <p:cNvPr id="45" name="Shape 43"/>
          <p:cNvSpPr/>
          <p:nvPr/>
        </p:nvSpPr>
        <p:spPr>
          <a:xfrm>
            <a:off x="2878330" y="4653937"/>
            <a:ext cx="64008" cy="64008"/>
          </a:xfrm>
          <a:prstGeom prst="ellipse">
            <a:avLst/>
          </a:prstGeom>
          <a:solidFill>
            <a:srgbClr val="2E5BD8"/>
          </a:solidFill>
          <a:ln/>
        </p:spPr>
      </p:sp>
      <p:sp>
        <p:nvSpPr>
          <p:cNvPr id="46" name="Shape 44"/>
          <p:cNvSpPr/>
          <p:nvPr/>
        </p:nvSpPr>
        <p:spPr>
          <a:xfrm>
            <a:off x="2936503" y="4562699"/>
            <a:ext cx="64008" cy="64008"/>
          </a:xfrm>
          <a:prstGeom prst="ellipse">
            <a:avLst/>
          </a:prstGeom>
          <a:solidFill>
            <a:srgbClr val="2E5BD8"/>
          </a:solidFill>
          <a:ln/>
        </p:spPr>
      </p:sp>
      <p:sp>
        <p:nvSpPr>
          <p:cNvPr id="47" name="Shape 45"/>
          <p:cNvSpPr/>
          <p:nvPr/>
        </p:nvSpPr>
        <p:spPr>
          <a:xfrm>
            <a:off x="2023314" y="4516381"/>
            <a:ext cx="64008" cy="64008"/>
          </a:xfrm>
          <a:prstGeom prst="ellipse">
            <a:avLst/>
          </a:prstGeom>
          <a:solidFill>
            <a:srgbClr val="2E5BD8"/>
          </a:solidFill>
          <a:ln/>
        </p:spPr>
      </p:sp>
      <p:sp>
        <p:nvSpPr>
          <p:cNvPr id="48" name="Shape 46"/>
          <p:cNvSpPr/>
          <p:nvPr/>
        </p:nvSpPr>
        <p:spPr>
          <a:xfrm>
            <a:off x="4366452" y="4492406"/>
            <a:ext cx="64008" cy="64008"/>
          </a:xfrm>
          <a:prstGeom prst="ellipse">
            <a:avLst/>
          </a:prstGeom>
          <a:solidFill>
            <a:srgbClr val="2E5BD8"/>
          </a:solidFill>
          <a:ln/>
        </p:spPr>
      </p:sp>
      <p:sp>
        <p:nvSpPr>
          <p:cNvPr id="49" name="Shape 47"/>
          <p:cNvSpPr/>
          <p:nvPr/>
        </p:nvSpPr>
        <p:spPr>
          <a:xfrm>
            <a:off x="2054099" y="4637529"/>
            <a:ext cx="64008" cy="64008"/>
          </a:xfrm>
          <a:prstGeom prst="ellipse">
            <a:avLst/>
          </a:prstGeom>
          <a:solidFill>
            <a:srgbClr val="2E5BD8"/>
          </a:solidFill>
          <a:ln/>
        </p:spPr>
      </p:sp>
      <p:sp>
        <p:nvSpPr>
          <p:cNvPr id="50" name="Shape 48"/>
          <p:cNvSpPr/>
          <p:nvPr/>
        </p:nvSpPr>
        <p:spPr>
          <a:xfrm>
            <a:off x="4930731" y="4683639"/>
            <a:ext cx="64008" cy="64008"/>
          </a:xfrm>
          <a:prstGeom prst="ellipse">
            <a:avLst/>
          </a:prstGeom>
          <a:solidFill>
            <a:srgbClr val="2E5BD8"/>
          </a:solidFill>
          <a:ln/>
        </p:spPr>
      </p:sp>
      <p:sp>
        <p:nvSpPr>
          <p:cNvPr id="51" name="Shape 49"/>
          <p:cNvSpPr/>
          <p:nvPr/>
        </p:nvSpPr>
        <p:spPr>
          <a:xfrm>
            <a:off x="5265716" y="4320630"/>
            <a:ext cx="64008" cy="64008"/>
          </a:xfrm>
          <a:prstGeom prst="ellipse">
            <a:avLst/>
          </a:prstGeom>
          <a:solidFill>
            <a:srgbClr val="2E5BD8"/>
          </a:solidFill>
          <a:ln/>
        </p:spPr>
      </p:sp>
      <p:sp>
        <p:nvSpPr>
          <p:cNvPr id="52" name="Shape 50"/>
          <p:cNvSpPr/>
          <p:nvPr/>
        </p:nvSpPr>
        <p:spPr>
          <a:xfrm>
            <a:off x="4387758" y="4270314"/>
            <a:ext cx="64008" cy="64008"/>
          </a:xfrm>
          <a:prstGeom prst="ellipse">
            <a:avLst/>
          </a:prstGeom>
          <a:solidFill>
            <a:srgbClr val="2E5BD8"/>
          </a:solidFill>
          <a:ln/>
        </p:spPr>
      </p:sp>
      <p:sp>
        <p:nvSpPr>
          <p:cNvPr id="53" name="Shape 51"/>
          <p:cNvSpPr/>
          <p:nvPr/>
        </p:nvSpPr>
        <p:spPr>
          <a:xfrm>
            <a:off x="3444371" y="4129452"/>
            <a:ext cx="64008" cy="64008"/>
          </a:xfrm>
          <a:prstGeom prst="ellipse">
            <a:avLst/>
          </a:prstGeom>
          <a:solidFill>
            <a:srgbClr val="2E5BD8"/>
          </a:solidFill>
          <a:ln/>
        </p:spPr>
      </p:sp>
      <p:sp>
        <p:nvSpPr>
          <p:cNvPr id="54" name="Shape 52"/>
          <p:cNvSpPr/>
          <p:nvPr/>
        </p:nvSpPr>
        <p:spPr>
          <a:xfrm>
            <a:off x="2314764" y="4205666"/>
            <a:ext cx="64008" cy="64008"/>
          </a:xfrm>
          <a:prstGeom prst="ellipse">
            <a:avLst/>
          </a:prstGeom>
          <a:solidFill>
            <a:srgbClr val="2E5BD8"/>
          </a:solidFill>
          <a:ln/>
        </p:spPr>
      </p:sp>
      <p:sp>
        <p:nvSpPr>
          <p:cNvPr id="55" name="Shape 53"/>
          <p:cNvSpPr/>
          <p:nvPr/>
        </p:nvSpPr>
        <p:spPr>
          <a:xfrm>
            <a:off x="1784080" y="4213911"/>
            <a:ext cx="64008" cy="64008"/>
          </a:xfrm>
          <a:prstGeom prst="ellipse">
            <a:avLst/>
          </a:prstGeom>
          <a:solidFill>
            <a:srgbClr val="2E5BD8"/>
          </a:solidFill>
          <a:ln/>
        </p:spPr>
      </p:sp>
      <p:sp>
        <p:nvSpPr>
          <p:cNvPr id="56" name="Shape 54"/>
          <p:cNvSpPr/>
          <p:nvPr/>
        </p:nvSpPr>
        <p:spPr>
          <a:xfrm>
            <a:off x="4086954" y="4292477"/>
            <a:ext cx="64008" cy="64008"/>
          </a:xfrm>
          <a:prstGeom prst="ellipse">
            <a:avLst/>
          </a:prstGeom>
          <a:solidFill>
            <a:srgbClr val="2E5BD8"/>
          </a:solidFill>
          <a:ln/>
        </p:spPr>
      </p:sp>
      <p:sp>
        <p:nvSpPr>
          <p:cNvPr id="57" name="Shape 55"/>
          <p:cNvSpPr/>
          <p:nvPr/>
        </p:nvSpPr>
        <p:spPr>
          <a:xfrm>
            <a:off x="2036316" y="4342585"/>
            <a:ext cx="64008" cy="64008"/>
          </a:xfrm>
          <a:prstGeom prst="ellipse">
            <a:avLst/>
          </a:prstGeom>
          <a:solidFill>
            <a:srgbClr val="2E5BD8"/>
          </a:solidFill>
          <a:ln/>
        </p:spPr>
      </p:sp>
      <p:sp>
        <p:nvSpPr>
          <p:cNvPr id="58" name="Shape 56"/>
          <p:cNvSpPr/>
          <p:nvPr/>
        </p:nvSpPr>
        <p:spPr>
          <a:xfrm>
            <a:off x="765786" y="4206191"/>
            <a:ext cx="64008" cy="64008"/>
          </a:xfrm>
          <a:prstGeom prst="ellipse">
            <a:avLst/>
          </a:prstGeom>
          <a:solidFill>
            <a:srgbClr val="2E5BD8"/>
          </a:solidFill>
          <a:ln/>
        </p:spPr>
      </p:sp>
      <p:sp>
        <p:nvSpPr>
          <p:cNvPr id="59" name="Shape 57"/>
          <p:cNvSpPr/>
          <p:nvPr/>
        </p:nvSpPr>
        <p:spPr>
          <a:xfrm>
            <a:off x="3597121" y="4224785"/>
            <a:ext cx="64008" cy="64008"/>
          </a:xfrm>
          <a:prstGeom prst="ellipse">
            <a:avLst/>
          </a:prstGeom>
          <a:solidFill>
            <a:srgbClr val="2E5BD8"/>
          </a:solidFill>
          <a:ln/>
        </p:spPr>
      </p:sp>
      <p:sp>
        <p:nvSpPr>
          <p:cNvPr id="60" name="Shape 58"/>
          <p:cNvSpPr/>
          <p:nvPr/>
        </p:nvSpPr>
        <p:spPr>
          <a:xfrm>
            <a:off x="1169010" y="4350387"/>
            <a:ext cx="64008" cy="64008"/>
          </a:xfrm>
          <a:prstGeom prst="ellipse">
            <a:avLst/>
          </a:prstGeom>
          <a:solidFill>
            <a:srgbClr val="2E5BD8"/>
          </a:solidFill>
          <a:ln/>
        </p:spPr>
      </p:sp>
      <p:sp>
        <p:nvSpPr>
          <p:cNvPr id="61" name="Shape 59"/>
          <p:cNvSpPr/>
          <p:nvPr/>
        </p:nvSpPr>
        <p:spPr>
          <a:xfrm>
            <a:off x="2963555" y="4323355"/>
            <a:ext cx="64008" cy="64008"/>
          </a:xfrm>
          <a:prstGeom prst="ellipse">
            <a:avLst/>
          </a:prstGeom>
          <a:solidFill>
            <a:srgbClr val="2E5BD8"/>
          </a:solidFill>
          <a:ln/>
        </p:spPr>
      </p:sp>
      <p:sp>
        <p:nvSpPr>
          <p:cNvPr id="62" name="Shape 60"/>
          <p:cNvSpPr/>
          <p:nvPr/>
        </p:nvSpPr>
        <p:spPr>
          <a:xfrm>
            <a:off x="3605552" y="4231176"/>
            <a:ext cx="64008" cy="64008"/>
          </a:xfrm>
          <a:prstGeom prst="ellipse">
            <a:avLst/>
          </a:prstGeom>
          <a:solidFill>
            <a:srgbClr val="2E5BD8"/>
          </a:solidFill>
          <a:ln/>
        </p:spPr>
      </p:sp>
      <p:sp>
        <p:nvSpPr>
          <p:cNvPr id="63" name="Shape 61"/>
          <p:cNvSpPr/>
          <p:nvPr/>
        </p:nvSpPr>
        <p:spPr>
          <a:xfrm>
            <a:off x="1343528" y="3966945"/>
            <a:ext cx="64008" cy="64008"/>
          </a:xfrm>
          <a:prstGeom prst="ellipse">
            <a:avLst/>
          </a:prstGeom>
          <a:solidFill>
            <a:srgbClr val="2E5BD8"/>
          </a:solidFill>
          <a:ln/>
        </p:spPr>
      </p:sp>
      <p:sp>
        <p:nvSpPr>
          <p:cNvPr id="64" name="Shape 62"/>
          <p:cNvSpPr/>
          <p:nvPr/>
        </p:nvSpPr>
        <p:spPr>
          <a:xfrm>
            <a:off x="5116028" y="3846073"/>
            <a:ext cx="64008" cy="64008"/>
          </a:xfrm>
          <a:prstGeom prst="ellipse">
            <a:avLst/>
          </a:prstGeom>
          <a:solidFill>
            <a:srgbClr val="2E5BD8"/>
          </a:solidFill>
          <a:ln/>
        </p:spPr>
      </p:sp>
      <p:sp>
        <p:nvSpPr>
          <p:cNvPr id="65" name="Shape 63"/>
          <p:cNvSpPr/>
          <p:nvPr/>
        </p:nvSpPr>
        <p:spPr>
          <a:xfrm>
            <a:off x="850885" y="3820922"/>
            <a:ext cx="64008" cy="64008"/>
          </a:xfrm>
          <a:prstGeom prst="ellipse">
            <a:avLst/>
          </a:prstGeom>
          <a:solidFill>
            <a:srgbClr val="2E5BD8"/>
          </a:solidFill>
          <a:ln/>
        </p:spPr>
      </p:sp>
      <p:sp>
        <p:nvSpPr>
          <p:cNvPr id="66" name="Shape 64"/>
          <p:cNvSpPr/>
          <p:nvPr/>
        </p:nvSpPr>
        <p:spPr>
          <a:xfrm>
            <a:off x="4190550" y="3945114"/>
            <a:ext cx="64008" cy="64008"/>
          </a:xfrm>
          <a:prstGeom prst="ellipse">
            <a:avLst/>
          </a:prstGeom>
          <a:solidFill>
            <a:srgbClr val="2E5BD8"/>
          </a:solidFill>
          <a:ln/>
        </p:spPr>
      </p:sp>
      <p:sp>
        <p:nvSpPr>
          <p:cNvPr id="67" name="Shape 65"/>
          <p:cNvSpPr/>
          <p:nvPr/>
        </p:nvSpPr>
        <p:spPr>
          <a:xfrm>
            <a:off x="3961843" y="3984403"/>
            <a:ext cx="64008" cy="64008"/>
          </a:xfrm>
          <a:prstGeom prst="ellipse">
            <a:avLst/>
          </a:prstGeom>
          <a:solidFill>
            <a:srgbClr val="2E5BD8"/>
          </a:solidFill>
          <a:ln/>
        </p:spPr>
      </p:sp>
      <p:sp>
        <p:nvSpPr>
          <p:cNvPr id="68" name="Shape 66"/>
          <p:cNvSpPr/>
          <p:nvPr/>
        </p:nvSpPr>
        <p:spPr>
          <a:xfrm>
            <a:off x="1855842" y="3975480"/>
            <a:ext cx="64008" cy="64008"/>
          </a:xfrm>
          <a:prstGeom prst="ellipse">
            <a:avLst/>
          </a:prstGeom>
          <a:solidFill>
            <a:srgbClr val="2E5BD8"/>
          </a:solidFill>
          <a:ln/>
        </p:spPr>
      </p:sp>
      <p:sp>
        <p:nvSpPr>
          <p:cNvPr id="69" name="Shape 67"/>
          <p:cNvSpPr/>
          <p:nvPr/>
        </p:nvSpPr>
        <p:spPr>
          <a:xfrm>
            <a:off x="1556674" y="3794166"/>
            <a:ext cx="64008" cy="64008"/>
          </a:xfrm>
          <a:prstGeom prst="ellipse">
            <a:avLst/>
          </a:prstGeom>
          <a:solidFill>
            <a:srgbClr val="2E5BD8"/>
          </a:solidFill>
          <a:ln/>
        </p:spPr>
      </p:sp>
      <p:sp>
        <p:nvSpPr>
          <p:cNvPr id="70" name="Shape 68"/>
          <p:cNvSpPr/>
          <p:nvPr/>
        </p:nvSpPr>
        <p:spPr>
          <a:xfrm>
            <a:off x="1131682" y="3790417"/>
            <a:ext cx="64008" cy="64008"/>
          </a:xfrm>
          <a:prstGeom prst="ellipse">
            <a:avLst/>
          </a:prstGeom>
          <a:solidFill>
            <a:srgbClr val="2E5BD8"/>
          </a:solidFill>
          <a:ln/>
        </p:spPr>
      </p:sp>
      <p:sp>
        <p:nvSpPr>
          <p:cNvPr id="71" name="Shape 69"/>
          <p:cNvSpPr/>
          <p:nvPr/>
        </p:nvSpPr>
        <p:spPr>
          <a:xfrm>
            <a:off x="3359062" y="3975521"/>
            <a:ext cx="64008" cy="64008"/>
          </a:xfrm>
          <a:prstGeom prst="ellipse">
            <a:avLst/>
          </a:prstGeom>
          <a:solidFill>
            <a:srgbClr val="2E5BD8"/>
          </a:solidFill>
          <a:ln/>
        </p:spPr>
      </p:sp>
      <p:sp>
        <p:nvSpPr>
          <p:cNvPr id="72" name="Shape 70"/>
          <p:cNvSpPr/>
          <p:nvPr/>
        </p:nvSpPr>
        <p:spPr>
          <a:xfrm>
            <a:off x="4856662" y="3480574"/>
            <a:ext cx="64008" cy="64008"/>
          </a:xfrm>
          <a:prstGeom prst="ellipse">
            <a:avLst/>
          </a:prstGeom>
          <a:solidFill>
            <a:srgbClr val="2E5BD8"/>
          </a:solidFill>
          <a:ln/>
        </p:spPr>
      </p:sp>
      <p:sp>
        <p:nvSpPr>
          <p:cNvPr id="73" name="Shape 71"/>
          <p:cNvSpPr/>
          <p:nvPr/>
        </p:nvSpPr>
        <p:spPr>
          <a:xfrm>
            <a:off x="3148265" y="3459185"/>
            <a:ext cx="64008" cy="64008"/>
          </a:xfrm>
          <a:prstGeom prst="ellipse">
            <a:avLst/>
          </a:prstGeom>
          <a:solidFill>
            <a:srgbClr val="2E5BD8"/>
          </a:solidFill>
          <a:ln/>
        </p:spPr>
      </p:sp>
      <p:sp>
        <p:nvSpPr>
          <p:cNvPr id="74" name="Shape 72"/>
          <p:cNvSpPr/>
          <p:nvPr/>
        </p:nvSpPr>
        <p:spPr>
          <a:xfrm>
            <a:off x="2099186" y="3558918"/>
            <a:ext cx="64008" cy="64008"/>
          </a:xfrm>
          <a:prstGeom prst="ellipse">
            <a:avLst/>
          </a:prstGeom>
          <a:solidFill>
            <a:srgbClr val="2E5BD8"/>
          </a:solidFill>
          <a:ln/>
        </p:spPr>
      </p:sp>
      <p:sp>
        <p:nvSpPr>
          <p:cNvPr id="75" name="Shape 73"/>
          <p:cNvSpPr/>
          <p:nvPr/>
        </p:nvSpPr>
        <p:spPr>
          <a:xfrm>
            <a:off x="1045074" y="3528592"/>
            <a:ext cx="64008" cy="64008"/>
          </a:xfrm>
          <a:prstGeom prst="ellipse">
            <a:avLst/>
          </a:prstGeom>
          <a:solidFill>
            <a:srgbClr val="2E5BD8"/>
          </a:solidFill>
          <a:ln/>
        </p:spPr>
      </p:sp>
      <p:sp>
        <p:nvSpPr>
          <p:cNvPr id="76" name="Shape 74"/>
          <p:cNvSpPr/>
          <p:nvPr/>
        </p:nvSpPr>
        <p:spPr>
          <a:xfrm>
            <a:off x="1858191" y="3514965"/>
            <a:ext cx="64008" cy="64008"/>
          </a:xfrm>
          <a:prstGeom prst="ellipse">
            <a:avLst/>
          </a:prstGeom>
          <a:solidFill>
            <a:srgbClr val="2E5BD8"/>
          </a:solidFill>
          <a:ln/>
        </p:spPr>
      </p:sp>
      <p:sp>
        <p:nvSpPr>
          <p:cNvPr id="77" name="Shape 75"/>
          <p:cNvSpPr/>
          <p:nvPr/>
        </p:nvSpPr>
        <p:spPr>
          <a:xfrm>
            <a:off x="4598933" y="3478525"/>
            <a:ext cx="64008" cy="64008"/>
          </a:xfrm>
          <a:prstGeom prst="ellipse">
            <a:avLst/>
          </a:prstGeom>
          <a:solidFill>
            <a:srgbClr val="2E5BD8"/>
          </a:solidFill>
          <a:ln/>
        </p:spPr>
      </p:sp>
      <p:sp>
        <p:nvSpPr>
          <p:cNvPr id="78" name="Shape 76"/>
          <p:cNvSpPr/>
          <p:nvPr/>
        </p:nvSpPr>
        <p:spPr>
          <a:xfrm>
            <a:off x="1536668" y="3109167"/>
            <a:ext cx="64008" cy="64008"/>
          </a:xfrm>
          <a:prstGeom prst="ellipse">
            <a:avLst/>
          </a:prstGeom>
          <a:solidFill>
            <a:srgbClr val="2E5BD8"/>
          </a:solidFill>
          <a:ln/>
        </p:spPr>
      </p:sp>
      <p:sp>
        <p:nvSpPr>
          <p:cNvPr id="79" name="Shape 77"/>
          <p:cNvSpPr/>
          <p:nvPr/>
        </p:nvSpPr>
        <p:spPr>
          <a:xfrm>
            <a:off x="3784180" y="3128701"/>
            <a:ext cx="64008" cy="64008"/>
          </a:xfrm>
          <a:prstGeom prst="ellipse">
            <a:avLst/>
          </a:prstGeom>
          <a:solidFill>
            <a:srgbClr val="2E5BD8"/>
          </a:solidFill>
          <a:ln/>
        </p:spPr>
      </p:sp>
      <p:sp>
        <p:nvSpPr>
          <p:cNvPr id="80" name="Shape 78"/>
          <p:cNvSpPr/>
          <p:nvPr/>
        </p:nvSpPr>
        <p:spPr>
          <a:xfrm>
            <a:off x="2704903" y="3133889"/>
            <a:ext cx="64008" cy="64008"/>
          </a:xfrm>
          <a:prstGeom prst="ellipse">
            <a:avLst/>
          </a:prstGeom>
          <a:solidFill>
            <a:srgbClr val="2E5BD8"/>
          </a:solidFill>
          <a:ln/>
        </p:spPr>
      </p:sp>
      <p:sp>
        <p:nvSpPr>
          <p:cNvPr id="81" name="Shape 79"/>
          <p:cNvSpPr/>
          <p:nvPr/>
        </p:nvSpPr>
        <p:spPr>
          <a:xfrm>
            <a:off x="3070086" y="3203752"/>
            <a:ext cx="64008" cy="64008"/>
          </a:xfrm>
          <a:prstGeom prst="ellipse">
            <a:avLst/>
          </a:prstGeom>
          <a:solidFill>
            <a:srgbClr val="2E5BD8"/>
          </a:solidFill>
          <a:ln/>
        </p:spPr>
      </p:sp>
      <p:sp>
        <p:nvSpPr>
          <p:cNvPr id="82" name="Shape 80"/>
          <p:cNvSpPr/>
          <p:nvPr/>
        </p:nvSpPr>
        <p:spPr>
          <a:xfrm>
            <a:off x="772832" y="3281848"/>
            <a:ext cx="64008" cy="64008"/>
          </a:xfrm>
          <a:prstGeom prst="ellipse">
            <a:avLst/>
          </a:prstGeom>
          <a:solidFill>
            <a:srgbClr val="2E5BD8"/>
          </a:solidFill>
          <a:ln/>
        </p:spPr>
      </p:sp>
      <p:sp>
        <p:nvSpPr>
          <p:cNvPr id="83" name="Shape 81"/>
          <p:cNvSpPr/>
          <p:nvPr/>
        </p:nvSpPr>
        <p:spPr>
          <a:xfrm>
            <a:off x="2939816" y="2939535"/>
            <a:ext cx="64008" cy="64008"/>
          </a:xfrm>
          <a:prstGeom prst="ellipse">
            <a:avLst/>
          </a:prstGeom>
          <a:solidFill>
            <a:srgbClr val="2E5BD8"/>
          </a:solidFill>
          <a:ln/>
        </p:spPr>
      </p:sp>
      <p:sp>
        <p:nvSpPr>
          <p:cNvPr id="84" name="Shape 82"/>
          <p:cNvSpPr/>
          <p:nvPr/>
        </p:nvSpPr>
        <p:spPr>
          <a:xfrm>
            <a:off x="2383968" y="2983293"/>
            <a:ext cx="64008" cy="64008"/>
          </a:xfrm>
          <a:prstGeom prst="ellipse">
            <a:avLst/>
          </a:prstGeom>
          <a:solidFill>
            <a:srgbClr val="2E5BD8"/>
          </a:solidFill>
          <a:ln/>
        </p:spPr>
      </p:sp>
      <p:sp>
        <p:nvSpPr>
          <p:cNvPr id="85" name="Shape 83"/>
          <p:cNvSpPr/>
          <p:nvPr/>
        </p:nvSpPr>
        <p:spPr>
          <a:xfrm>
            <a:off x="4238908" y="2916750"/>
            <a:ext cx="64008" cy="64008"/>
          </a:xfrm>
          <a:prstGeom prst="ellipse">
            <a:avLst/>
          </a:prstGeom>
          <a:solidFill>
            <a:srgbClr val="2E5BD8"/>
          </a:solidFill>
          <a:ln/>
        </p:spPr>
      </p:sp>
      <p:sp>
        <p:nvSpPr>
          <p:cNvPr id="86" name="Shape 84"/>
          <p:cNvSpPr/>
          <p:nvPr/>
        </p:nvSpPr>
        <p:spPr>
          <a:xfrm>
            <a:off x="2042313" y="2514465"/>
            <a:ext cx="64008" cy="64008"/>
          </a:xfrm>
          <a:prstGeom prst="ellipse">
            <a:avLst/>
          </a:prstGeom>
          <a:solidFill>
            <a:srgbClr val="2E5BD8"/>
          </a:solidFill>
          <a:ln/>
        </p:spPr>
      </p:sp>
      <p:sp>
        <p:nvSpPr>
          <p:cNvPr id="87" name="Shape 85"/>
          <p:cNvSpPr/>
          <p:nvPr/>
        </p:nvSpPr>
        <p:spPr>
          <a:xfrm>
            <a:off x="1108992" y="2633718"/>
            <a:ext cx="64008" cy="64008"/>
          </a:xfrm>
          <a:prstGeom prst="ellipse">
            <a:avLst/>
          </a:prstGeom>
          <a:solidFill>
            <a:srgbClr val="2E5BD8"/>
          </a:solidFill>
          <a:ln/>
        </p:spPr>
      </p:sp>
      <p:sp>
        <p:nvSpPr>
          <p:cNvPr id="88" name="Shape 86"/>
          <p:cNvSpPr/>
          <p:nvPr/>
        </p:nvSpPr>
        <p:spPr>
          <a:xfrm>
            <a:off x="1136967" y="2109607"/>
            <a:ext cx="64008" cy="64008"/>
          </a:xfrm>
          <a:prstGeom prst="ellipse">
            <a:avLst/>
          </a:prstGeom>
          <a:solidFill>
            <a:srgbClr val="2E5BD8"/>
          </a:solidFill>
          <a:ln/>
        </p:spPr>
      </p:sp>
      <p:sp>
        <p:nvSpPr>
          <p:cNvPr id="89" name="Shape 87"/>
          <p:cNvSpPr/>
          <p:nvPr/>
        </p:nvSpPr>
        <p:spPr>
          <a:xfrm>
            <a:off x="1643073" y="2163478"/>
            <a:ext cx="64008" cy="64008"/>
          </a:xfrm>
          <a:prstGeom prst="ellipse">
            <a:avLst/>
          </a:prstGeom>
          <a:solidFill>
            <a:srgbClr val="2E5BD8"/>
          </a:solidFill>
          <a:ln/>
        </p:spPr>
      </p:sp>
      <p:sp>
        <p:nvSpPr>
          <p:cNvPr id="90" name="Shape 88"/>
          <p:cNvSpPr/>
          <p:nvPr/>
        </p:nvSpPr>
        <p:spPr>
          <a:xfrm>
            <a:off x="875840" y="1892897"/>
            <a:ext cx="64008" cy="64008"/>
          </a:xfrm>
          <a:prstGeom prst="ellipse">
            <a:avLst/>
          </a:prstGeom>
          <a:solidFill>
            <a:srgbClr val="2E5BD8"/>
          </a:solidFill>
          <a:ln/>
        </p:spPr>
      </p:sp>
      <p:sp>
        <p:nvSpPr>
          <p:cNvPr id="91" name="Shape 89"/>
          <p:cNvSpPr/>
          <p:nvPr/>
        </p:nvSpPr>
        <p:spPr>
          <a:xfrm>
            <a:off x="640080" y="4983480"/>
            <a:ext cx="5120640" cy="137160"/>
          </a:xfrm>
          <a:prstGeom prst="rect">
            <a:avLst/>
          </a:prstGeom>
          <a:solidFill>
            <a:srgbClr val="6F8F5A"/>
          </a:solidFill>
          <a:ln/>
        </p:spPr>
      </p:sp>
      <p:sp>
        <p:nvSpPr>
          <p:cNvPr id="92" name="Shape 90"/>
          <p:cNvSpPr/>
          <p:nvPr/>
        </p:nvSpPr>
        <p:spPr>
          <a:xfrm>
            <a:off x="3108960" y="2926080"/>
            <a:ext cx="2560320" cy="2075688"/>
          </a:xfrm>
          <a:prstGeom prst="triangle">
            <a:avLst/>
          </a:prstGeom>
          <a:solidFill>
            <a:srgbClr val="8A7F72"/>
          </a:solidFill>
          <a:ln w="12700">
            <a:solidFill>
              <a:srgbClr val="6B6258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1188720" y="1463040"/>
            <a:ext cx="640080" cy="3520440"/>
          </a:xfrm>
          <a:prstGeom prst="rect">
            <a:avLst/>
          </a:prstGeom>
          <a:ln w="22225">
            <a:solidFill>
              <a:srgbClr val="C8414C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4069080" y="1463040"/>
            <a:ext cx="640080" cy="1463040"/>
          </a:xfrm>
          <a:prstGeom prst="rect">
            <a:avLst/>
          </a:prstGeom>
          <a:ln w="22225">
            <a:solidFill>
              <a:srgbClr val="C8414C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1865376" y="4114800"/>
            <a:ext cx="1097280" cy="749808"/>
          </a:xfrm>
          <a:prstGeom prst="roundRect">
            <a:avLst>
              <a:gd name="adj" fmla="val 6098"/>
            </a:avLst>
          </a:prstGeom>
          <a:solidFill>
            <a:srgbClr val="FFFFFF">
              <a:alpha val="90000"/>
            </a:srgbClr>
          </a:solidFill>
          <a:ln/>
        </p:spPr>
      </p:sp>
      <p:sp>
        <p:nvSpPr>
          <p:cNvPr id="96" name="Shape 94"/>
          <p:cNvSpPr/>
          <p:nvPr/>
        </p:nvSpPr>
        <p:spPr>
          <a:xfrm>
            <a:off x="4727448" y="1463040"/>
            <a:ext cx="987552" cy="749808"/>
          </a:xfrm>
          <a:prstGeom prst="roundRect">
            <a:avLst>
              <a:gd name="adj" fmla="val 6098"/>
            </a:avLst>
          </a:prstGeom>
          <a:solidFill>
            <a:srgbClr val="FFFFFF">
              <a:alpha val="90000"/>
            </a:srgbClr>
          </a:solidFill>
          <a:ln/>
        </p:spPr>
      </p:sp>
      <p:sp>
        <p:nvSpPr>
          <p:cNvPr id="97" name="Text 95"/>
          <p:cNvSpPr/>
          <p:nvPr/>
        </p:nvSpPr>
        <p:spPr>
          <a:xfrm>
            <a:off x="1901952" y="416052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8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 level:</a:t>
            </a:r>
            <a:endParaRPr lang="en-US" sz="1050" dirty="0"/>
          </a:p>
          <a:p>
            <a:pPr algn="l" indent="0" marL="0">
              <a:buNone/>
            </a:pPr>
            <a:r>
              <a:rPr lang="en-US" sz="1050" b="1" dirty="0">
                <a:solidFill>
                  <a:srgbClr val="C8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 column</a:t>
            </a:r>
            <a:endParaRPr lang="en-US" sz="1050" dirty="0"/>
          </a:p>
          <a:p>
            <a:pPr algn="l" indent="0" marL="0">
              <a:buNone/>
            </a:pPr>
            <a:r>
              <a:rPr lang="en-US" sz="1050" b="1" dirty="0">
                <a:solidFill>
                  <a:srgbClr val="C8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air above</a:t>
            </a:r>
            <a:endParaRPr lang="en-US" sz="1050" dirty="0"/>
          </a:p>
        </p:txBody>
      </p:sp>
      <p:sp>
        <p:nvSpPr>
          <p:cNvPr id="98" name="Text 96"/>
          <p:cNvSpPr/>
          <p:nvPr/>
        </p:nvSpPr>
        <p:spPr>
          <a:xfrm>
            <a:off x="4754880" y="1508760"/>
            <a:ext cx="1005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8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mountain:</a:t>
            </a:r>
            <a:endParaRPr lang="en-US" sz="1050" dirty="0"/>
          </a:p>
          <a:p>
            <a:pPr algn="l" indent="0" marL="0">
              <a:buNone/>
            </a:pPr>
            <a:r>
              <a:rPr lang="en-US" sz="1050" b="1" dirty="0">
                <a:solidFill>
                  <a:srgbClr val="C8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shorter</a:t>
            </a:r>
            <a:endParaRPr lang="en-US" sz="1050" dirty="0"/>
          </a:p>
          <a:p>
            <a:pPr algn="l" indent="0" marL="0">
              <a:buNone/>
            </a:pPr>
            <a:r>
              <a:rPr lang="en-US" sz="1050" b="1" dirty="0">
                <a:solidFill>
                  <a:srgbClr val="C8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</a:t>
            </a:r>
            <a:endParaRPr lang="en-US" sz="1050" dirty="0"/>
          </a:p>
        </p:txBody>
      </p:sp>
      <p:sp>
        <p:nvSpPr>
          <p:cNvPr id="99" name="Shape 97"/>
          <p:cNvSpPr/>
          <p:nvPr/>
        </p:nvSpPr>
        <p:spPr>
          <a:xfrm>
            <a:off x="6217920" y="1188720"/>
            <a:ext cx="5562295" cy="2423160"/>
          </a:xfrm>
          <a:prstGeom prst="roundRect">
            <a:avLst>
              <a:gd name="adj" fmla="val 2264"/>
            </a:avLst>
          </a:prstGeom>
          <a:solidFill>
            <a:srgbClr val="F5F8FE"/>
          </a:solidFill>
          <a:ln w="9525">
            <a:solidFill>
              <a:srgbClr val="D5DCEB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6382512" y="1280160"/>
            <a:ext cx="523311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pressure falls as you go up</a:t>
            </a:r>
            <a:endParaRPr lang="en-US" sz="1300" dirty="0"/>
          </a:p>
        </p:txBody>
      </p:sp>
      <p:sp>
        <p:nvSpPr>
          <p:cNvPr id="101" name="Text 99"/>
          <p:cNvSpPr/>
          <p:nvPr/>
        </p:nvSpPr>
        <p:spPr>
          <a:xfrm>
            <a:off x="6382512" y="1609344"/>
            <a:ext cx="5233111" cy="1929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15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atmosphere is a thin layer of air around the Earth, held by gravity. It gets </a:t>
            </a:r>
            <a:r>
              <a:rPr lang="en-US" sz="1150" b="1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dense</a:t>
            </a:r>
            <a:r>
              <a:rPr lang="en-US" sz="115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 height.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15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Atmospheric pressure is caused by air particles colliding with surfaces – or think of it as the </a:t>
            </a:r>
            <a:r>
              <a:rPr lang="en-US" sz="1150" b="1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of the column of air</a:t>
            </a:r>
            <a:r>
              <a:rPr lang="en-US" sz="115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above each square metre.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15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up there is </a:t>
            </a:r>
            <a:r>
              <a:rPr lang="en-US" sz="1150" b="1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air above</a:t>
            </a:r>
            <a:r>
              <a:rPr lang="en-US" sz="115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you, so less weight pushing down, and the air is less dense (fewer collisions) → </a:t>
            </a:r>
            <a:r>
              <a:rPr lang="en-US" sz="1150" b="1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pressure</a:t>
            </a:r>
            <a:r>
              <a:rPr lang="en-US" sz="115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15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sea level atmospheric pressure ≈ </a:t>
            </a:r>
            <a:r>
              <a:rPr lang="en-US" sz="1150" b="1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100 000 Pa</a:t>
            </a:r>
            <a:r>
              <a:rPr lang="en-US" sz="115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(1.0 × 10⁵ Pa); at the top of Everest it is about a third of this.</a:t>
            </a:r>
            <a:endParaRPr lang="en-US" sz="1150" dirty="0"/>
          </a:p>
        </p:txBody>
      </p:sp>
      <p:sp>
        <p:nvSpPr>
          <p:cNvPr id="102" name="Shape 100"/>
          <p:cNvSpPr/>
          <p:nvPr/>
        </p:nvSpPr>
        <p:spPr>
          <a:xfrm>
            <a:off x="6217920" y="3749040"/>
            <a:ext cx="5562295" cy="1965960"/>
          </a:xfrm>
          <a:prstGeom prst="roundRect">
            <a:avLst>
              <a:gd name="adj" fmla="val 2791"/>
            </a:avLst>
          </a:prstGeom>
          <a:solidFill>
            <a:srgbClr val="FFF4E0"/>
          </a:solidFill>
          <a:ln w="9525">
            <a:solidFill>
              <a:srgbClr val="F1D9A8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6382512" y="3822192"/>
            <a:ext cx="523311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7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it in steps</a:t>
            </a:r>
            <a:endParaRPr lang="en-US" sz="1300" dirty="0"/>
          </a:p>
        </p:txBody>
      </p:sp>
      <p:sp>
        <p:nvSpPr>
          <p:cNvPr id="104" name="Text 102"/>
          <p:cNvSpPr/>
          <p:nvPr/>
        </p:nvSpPr>
        <p:spPr>
          <a:xfrm>
            <a:off x="6382512" y="4133088"/>
            <a:ext cx="5233111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 your ears “pop” when a plane climbs?</a:t>
            </a:r>
            <a:endParaRPr lang="en-US" sz="1100" dirty="0"/>
          </a:p>
          <a:p>
            <a:pPr indent="0" marL="0">
              <a:spcBef>
                <a:spcPts val="200"/>
              </a:spcBef>
              <a:buNone/>
            </a:pPr>
            <a:r>
              <a:rPr lang="en-US" sz="1100" b="1" dirty="0">
                <a:solidFill>
                  <a:srgbClr val="2E5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Height   </a:t>
            </a:r>
            <a:r>
              <a:rPr lang="en-US" sz="110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plane climbs, so less air above</a:t>
            </a:r>
            <a:endParaRPr lang="en-US" sz="1100" dirty="0"/>
          </a:p>
          <a:p>
            <a:pPr indent="0" marL="0">
              <a:spcBef>
                <a:spcPts val="200"/>
              </a:spcBef>
              <a:buNone/>
            </a:pPr>
            <a:r>
              <a:rPr lang="en-US" sz="1100" b="1" dirty="0">
                <a:solidFill>
                  <a:srgbClr val="2E5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Pressure   </a:t>
            </a:r>
            <a:r>
              <a:rPr lang="en-US" sz="110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atmospheric pressure outside the ear falls</a:t>
            </a:r>
            <a:endParaRPr lang="en-US" sz="1100" dirty="0"/>
          </a:p>
          <a:p>
            <a:pPr indent="0" marL="0">
              <a:spcBef>
                <a:spcPts val="200"/>
              </a:spcBef>
              <a:buNone/>
            </a:pPr>
            <a:r>
              <a:rPr lang="en-US" sz="1100" b="1" dirty="0">
                <a:solidFill>
                  <a:srgbClr val="2E5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Imbalance   </a:t>
            </a:r>
            <a:r>
              <a:rPr lang="en-US" sz="110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in the middle ear is at higher pressure, pushing the eardrum out</a:t>
            </a:r>
            <a:endParaRPr lang="en-US" sz="1100" dirty="0"/>
          </a:p>
          <a:p>
            <a:pPr indent="0" marL="0">
              <a:spcBef>
                <a:spcPts val="200"/>
              </a:spcBef>
              <a:buNone/>
            </a:pPr>
            <a:r>
              <a:rPr lang="en-US" sz="1100" b="1" dirty="0">
                <a:solidFill>
                  <a:srgbClr val="2E5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Answer   </a:t>
            </a:r>
            <a:r>
              <a:rPr lang="en-US" sz="1100" b="1" dirty="0">
                <a:solidFill>
                  <a:srgbClr val="C8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pressures equalise → “pop”</a:t>
            </a:r>
            <a:endParaRPr lang="en-US" sz="1100" dirty="0"/>
          </a:p>
        </p:txBody>
      </p:sp>
      <p:sp>
        <p:nvSpPr>
          <p:cNvPr id="105" name="Shape 103"/>
          <p:cNvSpPr/>
          <p:nvPr/>
        </p:nvSpPr>
        <p:spPr>
          <a:xfrm>
            <a:off x="411480" y="5833872"/>
            <a:ext cx="11368735" cy="530352"/>
          </a:xfrm>
          <a:prstGeom prst="rect">
            <a:avLst/>
          </a:prstGeom>
          <a:solidFill>
            <a:srgbClr val="FFF4E0"/>
          </a:solidFill>
          <a:ln w="6350">
            <a:solidFill>
              <a:srgbClr val="F1D9A8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411480" y="5833872"/>
            <a:ext cx="82296" cy="530352"/>
          </a:xfrm>
          <a:prstGeom prst="rect">
            <a:avLst/>
          </a:prstGeom>
          <a:solidFill>
            <a:srgbClr val="E39A2F"/>
          </a:solidFill>
          <a:ln w="12700">
            <a:solidFill>
              <a:srgbClr val="E39A2F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640080" y="5833872"/>
            <a:ext cx="1100297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7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   </a:t>
            </a:r>
            <a:r>
              <a:rPr lang="en-US" sz="115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Explain, using the model of the atmosphere, why atmospheric pressure is lower at the top of a mountain than at sea level.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EEF2FA"/>
          </a:solidFill>
          <a:ln w="12700">
            <a:solidFill>
              <a:srgbClr val="EEF2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87552"/>
            <a:ext cx="12191695" cy="27432"/>
          </a:xfrm>
          <a:prstGeom prst="rect">
            <a:avLst/>
          </a:prstGeom>
          <a:solidFill>
            <a:srgbClr val="D3DCF0"/>
          </a:solidFill>
          <a:ln w="12700">
            <a:solidFill>
              <a:srgbClr val="D3DC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18872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Exam practice: recap 4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11480" y="6400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E5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Specification 15.7P–15.11P • pressure, fluids and the atmosphere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6473952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Edexcel GCSE (9–1) Physics (1PH0) | Topic 15 Forces and matter | Higher &amp; Foundation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784080" y="647395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4  |  22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1480" y="1207008"/>
            <a:ext cx="11368735" cy="1594104"/>
          </a:xfrm>
          <a:prstGeom prst="roundRect">
            <a:avLst>
              <a:gd name="adj" fmla="val 2868"/>
            </a:avLst>
          </a:prstGeom>
          <a:solidFill>
            <a:srgbClr val="FFFFFF"/>
          </a:solidFill>
          <a:ln w="12700">
            <a:solidFill>
              <a:srgbClr val="D5DC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1207008"/>
            <a:ext cx="2103120" cy="292608"/>
          </a:xfrm>
          <a:prstGeom prst="rect">
            <a:avLst/>
          </a:prstGeom>
          <a:solidFill>
            <a:srgbClr val="F5A742"/>
          </a:solidFill>
          <a:ln w="12700">
            <a:solidFill>
              <a:srgbClr val="F5A7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20700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EXAM-STYLE QUESTION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40080" y="1572768"/>
            <a:ext cx="9539935" cy="1155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why a </a:t>
            </a:r>
            <a:r>
              <a:rPr lang="en-US" sz="1250" b="1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</a:t>
            </a:r>
            <a:r>
              <a:rPr lang="en-US" sz="125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knife cuts more easily than a blunt knife pushed with the same force.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0317175" y="2417064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5A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 marks]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11480" y="2947416"/>
            <a:ext cx="11368735" cy="1594104"/>
          </a:xfrm>
          <a:prstGeom prst="roundRect">
            <a:avLst>
              <a:gd name="adj" fmla="val 2868"/>
            </a:avLst>
          </a:prstGeom>
          <a:solidFill>
            <a:srgbClr val="FFFFFF"/>
          </a:solidFill>
          <a:ln w="12700">
            <a:solidFill>
              <a:srgbClr val="D5DC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" y="2947416"/>
            <a:ext cx="2103120" cy="292608"/>
          </a:xfrm>
          <a:prstGeom prst="rect">
            <a:avLst/>
          </a:prstGeom>
          <a:solidFill>
            <a:srgbClr val="F5A742"/>
          </a:solidFill>
          <a:ln w="12700">
            <a:solidFill>
              <a:srgbClr val="F5A74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947416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EXAM-STYLE QUESTION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40080" y="3313176"/>
            <a:ext cx="9539935" cy="1155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crate exerts a force of </a:t>
            </a:r>
            <a:r>
              <a:rPr lang="en-US" sz="1250" b="1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750 N</a:t>
            </a:r>
            <a:r>
              <a:rPr lang="en-US" sz="125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the floor. The area in contact is </a:t>
            </a:r>
            <a:r>
              <a:rPr lang="en-US" sz="1250" b="1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0.025 m²</a:t>
            </a:r>
            <a:r>
              <a:rPr lang="en-US" sz="125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Calculate the pressure on the floor.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0317175" y="4157472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5A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 marks]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11480" y="4687824"/>
            <a:ext cx="11368735" cy="1594104"/>
          </a:xfrm>
          <a:prstGeom prst="roundRect">
            <a:avLst>
              <a:gd name="adj" fmla="val 2868"/>
            </a:avLst>
          </a:prstGeom>
          <a:solidFill>
            <a:srgbClr val="FFFFFF"/>
          </a:solidFill>
          <a:ln w="12700">
            <a:solidFill>
              <a:srgbClr val="D5DC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1480" y="4687824"/>
            <a:ext cx="2103120" cy="292608"/>
          </a:xfrm>
          <a:prstGeom prst="rect">
            <a:avLst/>
          </a:prstGeom>
          <a:solidFill>
            <a:srgbClr val="F5A742"/>
          </a:solidFill>
          <a:ln w="12700">
            <a:solidFill>
              <a:srgbClr val="F5A74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4687824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EXAM-STYLE QUESTION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40080" y="5053584"/>
            <a:ext cx="9539935" cy="1155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why atmospheric pressure </a:t>
            </a:r>
            <a:r>
              <a:rPr lang="en-US" sz="1250" b="1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decreases</a:t>
            </a:r>
            <a:r>
              <a:rPr lang="en-US" sz="125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as height above the Earth’s surface increases.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0317175" y="589788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5A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 marks]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EEF2FA"/>
          </a:solidFill>
          <a:ln w="12700">
            <a:solidFill>
              <a:srgbClr val="EEF2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87552"/>
            <a:ext cx="12191695" cy="27432"/>
          </a:xfrm>
          <a:prstGeom prst="rect">
            <a:avLst/>
          </a:prstGeom>
          <a:solidFill>
            <a:srgbClr val="D3DCF0"/>
          </a:solidFill>
          <a:ln w="12700">
            <a:solidFill>
              <a:srgbClr val="D3DC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18872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Liquid pressure increases with depth and density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11480" y="6400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E5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Specification 15.12P, 15.13P • describe and explain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1323015" y="292608"/>
            <a:ext cx="457200" cy="274320"/>
          </a:xfrm>
          <a:prstGeom prst="roundRect">
            <a:avLst>
              <a:gd name="adj" fmla="val 50000"/>
            </a:avLst>
          </a:prstGeom>
          <a:solidFill>
            <a:srgbClr val="C8414C"/>
          </a:solidFill>
          <a:ln w="12700">
            <a:solidFill>
              <a:srgbClr val="C841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323015" y="2926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0042855" y="292608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2E5BD8"/>
          </a:solidFill>
          <a:ln w="12700">
            <a:solidFill>
              <a:srgbClr val="2E5B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42855" y="29260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 ONLY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6473952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Edexcel GCSE (9–1) Physics (1PH0) | Topic 15 Forces and matter | Higher &amp; Foundation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784080" y="647395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15.12P  |  23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1480" y="1188720"/>
            <a:ext cx="5577840" cy="4526280"/>
          </a:xfrm>
          <a:prstGeom prst="roundRect">
            <a:avLst>
              <a:gd name="adj" fmla="val 1616"/>
            </a:avLst>
          </a:prstGeom>
          <a:solidFill>
            <a:srgbClr val="EEF1F8"/>
          </a:solidFill>
          <a:ln w="9525">
            <a:solidFill>
              <a:srgbClr val="DCE2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5404104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diagram — water spurts further from the deeper holes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14400" y="1741018"/>
            <a:ext cx="1463040" cy="3196742"/>
          </a:xfrm>
          <a:prstGeom prst="rect">
            <a:avLst/>
          </a:prstGeom>
          <a:solidFill>
            <a:srgbClr val="BFD9F2"/>
          </a:solidFill>
          <a:ln/>
        </p:spPr>
      </p:sp>
      <p:sp>
        <p:nvSpPr>
          <p:cNvPr id="15" name="Shape 13"/>
          <p:cNvSpPr/>
          <p:nvPr/>
        </p:nvSpPr>
        <p:spPr>
          <a:xfrm>
            <a:off x="914400" y="1463040"/>
            <a:ext cx="91" cy="3474720"/>
          </a:xfrm>
          <a:prstGeom prst="line">
            <a:avLst/>
          </a:prstGeom>
          <a:noFill/>
          <a:ln w="25400">
            <a:solidFill>
              <a:srgbClr val="1A234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377440" y="1463040"/>
            <a:ext cx="91" cy="3474720"/>
          </a:xfrm>
          <a:prstGeom prst="line">
            <a:avLst/>
          </a:prstGeom>
          <a:noFill/>
          <a:ln w="25400">
            <a:solidFill>
              <a:srgbClr val="1A234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" y="4937760"/>
            <a:ext cx="1463040" cy="91"/>
          </a:xfrm>
          <a:prstGeom prst="line">
            <a:avLst/>
          </a:prstGeom>
          <a:noFill/>
          <a:ln w="25400">
            <a:solidFill>
              <a:srgbClr val="1A234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4400" y="1741018"/>
            <a:ext cx="1463040" cy="91"/>
          </a:xfrm>
          <a:prstGeom prst="line">
            <a:avLst/>
          </a:prstGeom>
          <a:noFill/>
          <a:ln w="15875">
            <a:solidFill>
              <a:srgbClr val="5B9BD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377440" y="2194560"/>
            <a:ext cx="93838" cy="5771"/>
          </a:xfrm>
          <a:prstGeom prst="line">
            <a:avLst/>
          </a:prstGeom>
          <a:noFill/>
          <a:ln w="38100">
            <a:solidFill>
              <a:srgbClr val="5B9BD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471278" y="2200331"/>
            <a:ext cx="93838" cy="17313"/>
          </a:xfrm>
          <a:prstGeom prst="line">
            <a:avLst/>
          </a:prstGeom>
          <a:noFill/>
          <a:ln w="38100">
            <a:solidFill>
              <a:srgbClr val="5B9BD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65116" y="2217644"/>
            <a:ext cx="93838" cy="28855"/>
          </a:xfrm>
          <a:prstGeom prst="line">
            <a:avLst/>
          </a:prstGeom>
          <a:noFill/>
          <a:ln w="38100">
            <a:solidFill>
              <a:srgbClr val="5B9BD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658954" y="2246500"/>
            <a:ext cx="93838" cy="40398"/>
          </a:xfrm>
          <a:prstGeom prst="line">
            <a:avLst/>
          </a:prstGeom>
          <a:noFill/>
          <a:ln w="38100">
            <a:solidFill>
              <a:srgbClr val="5B9BD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52792" y="2286897"/>
            <a:ext cx="93838" cy="51940"/>
          </a:xfrm>
          <a:prstGeom prst="line">
            <a:avLst/>
          </a:prstGeom>
          <a:noFill/>
          <a:ln w="38100">
            <a:solidFill>
              <a:srgbClr val="5B9BD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846630" y="2338837"/>
            <a:ext cx="93838" cy="63482"/>
          </a:xfrm>
          <a:prstGeom prst="line">
            <a:avLst/>
          </a:prstGeom>
          <a:noFill/>
          <a:ln w="38100">
            <a:solidFill>
              <a:srgbClr val="5B9BD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40469" y="2402319"/>
            <a:ext cx="93838" cy="75024"/>
          </a:xfrm>
          <a:prstGeom prst="line">
            <a:avLst/>
          </a:prstGeom>
          <a:noFill/>
          <a:ln w="38100">
            <a:solidFill>
              <a:srgbClr val="5B9BD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034307" y="2477343"/>
            <a:ext cx="93838" cy="86566"/>
          </a:xfrm>
          <a:prstGeom prst="line">
            <a:avLst/>
          </a:prstGeom>
          <a:noFill/>
          <a:ln w="38100">
            <a:solidFill>
              <a:srgbClr val="5B9BD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128145" y="2563909"/>
            <a:ext cx="93838" cy="98108"/>
          </a:xfrm>
          <a:prstGeom prst="line">
            <a:avLst/>
          </a:prstGeom>
          <a:noFill/>
          <a:ln w="38100">
            <a:solidFill>
              <a:srgbClr val="5B9BD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21983" y="2662018"/>
            <a:ext cx="93838" cy="109651"/>
          </a:xfrm>
          <a:prstGeom prst="line">
            <a:avLst/>
          </a:prstGeom>
          <a:noFill/>
          <a:ln w="38100">
            <a:solidFill>
              <a:srgbClr val="5B9BD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315821" y="2771668"/>
            <a:ext cx="93838" cy="121193"/>
          </a:xfrm>
          <a:prstGeom prst="line">
            <a:avLst/>
          </a:prstGeom>
          <a:noFill/>
          <a:ln w="38100">
            <a:solidFill>
              <a:srgbClr val="5B9BD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409659" y="2892861"/>
            <a:ext cx="93838" cy="132735"/>
          </a:xfrm>
          <a:prstGeom prst="line">
            <a:avLst/>
          </a:prstGeom>
          <a:noFill/>
          <a:ln w="38100">
            <a:solidFill>
              <a:srgbClr val="5B9BD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503497" y="3025596"/>
            <a:ext cx="93838" cy="144277"/>
          </a:xfrm>
          <a:prstGeom prst="line">
            <a:avLst/>
          </a:prstGeom>
          <a:noFill/>
          <a:ln w="38100">
            <a:solidFill>
              <a:srgbClr val="5B9BD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597335" y="3169873"/>
            <a:ext cx="93838" cy="155819"/>
          </a:xfrm>
          <a:prstGeom prst="line">
            <a:avLst/>
          </a:prstGeom>
          <a:noFill/>
          <a:ln w="38100">
            <a:solidFill>
              <a:srgbClr val="5B9BD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322576" y="2139696"/>
            <a:ext cx="109728" cy="109728"/>
          </a:xfrm>
          <a:prstGeom prst="ellipse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68680" y="206654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shallow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2377440" y="3108960"/>
            <a:ext cx="162969" cy="3323"/>
          </a:xfrm>
          <a:prstGeom prst="line">
            <a:avLst/>
          </a:prstGeom>
          <a:noFill/>
          <a:ln w="38100">
            <a:solidFill>
              <a:srgbClr val="5B9BD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540409" y="3112283"/>
            <a:ext cx="162969" cy="9969"/>
          </a:xfrm>
          <a:prstGeom prst="line">
            <a:avLst/>
          </a:prstGeom>
          <a:noFill/>
          <a:ln w="38100">
            <a:solidFill>
              <a:srgbClr val="5B9BD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703377" y="3122252"/>
            <a:ext cx="162969" cy="16615"/>
          </a:xfrm>
          <a:prstGeom prst="line">
            <a:avLst/>
          </a:prstGeom>
          <a:noFill/>
          <a:ln w="38100">
            <a:solidFill>
              <a:srgbClr val="5B9BD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866346" y="3138867"/>
            <a:ext cx="162969" cy="23261"/>
          </a:xfrm>
          <a:prstGeom prst="line">
            <a:avLst/>
          </a:prstGeom>
          <a:noFill/>
          <a:ln w="38100">
            <a:solidFill>
              <a:srgbClr val="5B9BD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029315" y="3162128"/>
            <a:ext cx="162969" cy="29907"/>
          </a:xfrm>
          <a:prstGeom prst="line">
            <a:avLst/>
          </a:prstGeom>
          <a:noFill/>
          <a:ln w="38100">
            <a:solidFill>
              <a:srgbClr val="5B9BD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192283" y="3192035"/>
            <a:ext cx="162969" cy="36553"/>
          </a:xfrm>
          <a:prstGeom prst="line">
            <a:avLst/>
          </a:prstGeom>
          <a:noFill/>
          <a:ln w="38100">
            <a:solidFill>
              <a:srgbClr val="5B9BD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355252" y="3228589"/>
            <a:ext cx="162969" cy="43199"/>
          </a:xfrm>
          <a:prstGeom prst="line">
            <a:avLst/>
          </a:prstGeom>
          <a:noFill/>
          <a:ln w="38100">
            <a:solidFill>
              <a:srgbClr val="5B9BD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518221" y="3271788"/>
            <a:ext cx="162969" cy="49845"/>
          </a:xfrm>
          <a:prstGeom prst="line">
            <a:avLst/>
          </a:prstGeom>
          <a:noFill/>
          <a:ln w="38100">
            <a:solidFill>
              <a:srgbClr val="5B9BD5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681189" y="3321633"/>
            <a:ext cx="162969" cy="56491"/>
          </a:xfrm>
          <a:prstGeom prst="line">
            <a:avLst/>
          </a:prstGeom>
          <a:noFill/>
          <a:ln w="38100">
            <a:solidFill>
              <a:srgbClr val="5B9BD5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844158" y="3378124"/>
            <a:ext cx="162969" cy="63137"/>
          </a:xfrm>
          <a:prstGeom prst="line">
            <a:avLst/>
          </a:prstGeom>
          <a:noFill/>
          <a:ln w="38100">
            <a:solidFill>
              <a:srgbClr val="5B9BD5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007127" y="3441261"/>
            <a:ext cx="162969" cy="69783"/>
          </a:xfrm>
          <a:prstGeom prst="line">
            <a:avLst/>
          </a:prstGeom>
          <a:noFill/>
          <a:ln w="38100">
            <a:solidFill>
              <a:srgbClr val="5B9BD5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170095" y="3511045"/>
            <a:ext cx="162969" cy="76429"/>
          </a:xfrm>
          <a:prstGeom prst="line">
            <a:avLst/>
          </a:prstGeom>
          <a:noFill/>
          <a:ln w="38100">
            <a:solidFill>
              <a:srgbClr val="5B9BD5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333064" y="3587474"/>
            <a:ext cx="162969" cy="83075"/>
          </a:xfrm>
          <a:prstGeom prst="line">
            <a:avLst/>
          </a:prstGeom>
          <a:noFill/>
          <a:ln w="38100">
            <a:solidFill>
              <a:srgbClr val="5B9BD5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496033" y="3670549"/>
            <a:ext cx="162969" cy="89721"/>
          </a:xfrm>
          <a:prstGeom prst="line">
            <a:avLst/>
          </a:prstGeom>
          <a:noFill/>
          <a:ln w="38100">
            <a:solidFill>
              <a:srgbClr val="5B9BD5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322576" y="3054096"/>
            <a:ext cx="109728" cy="109728"/>
          </a:xfrm>
          <a:prstGeom prst="ellipse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68680" y="298094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2377440" y="4023360"/>
            <a:ext cx="210504" cy="2573"/>
          </a:xfrm>
          <a:prstGeom prst="line">
            <a:avLst/>
          </a:prstGeom>
          <a:noFill/>
          <a:ln w="38100">
            <a:solidFill>
              <a:srgbClr val="5B9BD5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587944" y="4025933"/>
            <a:ext cx="210504" cy="7718"/>
          </a:xfrm>
          <a:prstGeom prst="line">
            <a:avLst/>
          </a:prstGeom>
          <a:noFill/>
          <a:ln w="38100">
            <a:solidFill>
              <a:srgbClr val="5B9BD5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798448" y="4033650"/>
            <a:ext cx="210504" cy="12863"/>
          </a:xfrm>
          <a:prstGeom prst="line">
            <a:avLst/>
          </a:prstGeom>
          <a:noFill/>
          <a:ln w="38100">
            <a:solidFill>
              <a:srgbClr val="5B9BD5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008952" y="4046514"/>
            <a:ext cx="210504" cy="18008"/>
          </a:xfrm>
          <a:prstGeom prst="line">
            <a:avLst/>
          </a:prstGeom>
          <a:noFill/>
          <a:ln w="38100">
            <a:solidFill>
              <a:srgbClr val="5B9BD5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219457" y="4064522"/>
            <a:ext cx="210504" cy="23154"/>
          </a:xfrm>
          <a:prstGeom prst="line">
            <a:avLst/>
          </a:prstGeom>
          <a:noFill/>
          <a:ln w="38100">
            <a:solidFill>
              <a:srgbClr val="5B9BD5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3429961" y="4087676"/>
            <a:ext cx="210504" cy="28299"/>
          </a:xfrm>
          <a:prstGeom prst="line">
            <a:avLst/>
          </a:prstGeom>
          <a:noFill/>
          <a:ln w="38100">
            <a:solidFill>
              <a:srgbClr val="5B9BD5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3640465" y="4115974"/>
            <a:ext cx="210504" cy="33444"/>
          </a:xfrm>
          <a:prstGeom prst="line">
            <a:avLst/>
          </a:prstGeom>
          <a:noFill/>
          <a:ln w="38100">
            <a:solidFill>
              <a:srgbClr val="5B9BD5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850969" y="4149418"/>
            <a:ext cx="210504" cy="38589"/>
          </a:xfrm>
          <a:prstGeom prst="line">
            <a:avLst/>
          </a:prstGeom>
          <a:noFill/>
          <a:ln w="38100">
            <a:solidFill>
              <a:srgbClr val="5B9BD5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061473" y="4188008"/>
            <a:ext cx="210504" cy="43735"/>
          </a:xfrm>
          <a:prstGeom prst="line">
            <a:avLst/>
          </a:prstGeom>
          <a:noFill/>
          <a:ln w="38100">
            <a:solidFill>
              <a:srgbClr val="5B9BD5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271977" y="4231742"/>
            <a:ext cx="210504" cy="48880"/>
          </a:xfrm>
          <a:prstGeom prst="line">
            <a:avLst/>
          </a:prstGeom>
          <a:noFill/>
          <a:ln w="38100">
            <a:solidFill>
              <a:srgbClr val="5B9BD5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482481" y="4280622"/>
            <a:ext cx="210504" cy="54025"/>
          </a:xfrm>
          <a:prstGeom prst="line">
            <a:avLst/>
          </a:prstGeom>
          <a:noFill/>
          <a:ln w="38100">
            <a:solidFill>
              <a:srgbClr val="5B9BD5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692986" y="4334647"/>
            <a:ext cx="210504" cy="59170"/>
          </a:xfrm>
          <a:prstGeom prst="line">
            <a:avLst/>
          </a:prstGeom>
          <a:noFill/>
          <a:ln w="38100">
            <a:solidFill>
              <a:srgbClr val="5B9BD5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903490" y="4393817"/>
            <a:ext cx="210504" cy="64316"/>
          </a:xfrm>
          <a:prstGeom prst="line">
            <a:avLst/>
          </a:prstGeom>
          <a:noFill/>
          <a:ln w="38100">
            <a:solidFill>
              <a:srgbClr val="5B9BD5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5113994" y="4458133"/>
            <a:ext cx="210504" cy="69461"/>
          </a:xfrm>
          <a:prstGeom prst="line">
            <a:avLst/>
          </a:prstGeom>
          <a:noFill/>
          <a:ln w="38100">
            <a:solidFill>
              <a:srgbClr val="5B9BD5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2322576" y="3968496"/>
            <a:ext cx="109728" cy="109728"/>
          </a:xfrm>
          <a:prstGeom prst="ellipse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68680" y="389534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</a:t>
            </a:r>
            <a:endParaRPr lang="en-US" sz="1050" dirty="0"/>
          </a:p>
        </p:txBody>
      </p:sp>
      <p:sp>
        <p:nvSpPr>
          <p:cNvPr id="67" name="Shape 65"/>
          <p:cNvSpPr/>
          <p:nvPr/>
        </p:nvSpPr>
        <p:spPr>
          <a:xfrm>
            <a:off x="640080" y="4937760"/>
            <a:ext cx="5120640" cy="73152"/>
          </a:xfrm>
          <a:prstGeom prst="rect">
            <a:avLst/>
          </a:prstGeom>
          <a:solidFill>
            <a:srgbClr val="B0B7C6"/>
          </a:solidFill>
          <a:ln/>
        </p:spPr>
      </p:sp>
      <p:sp>
        <p:nvSpPr>
          <p:cNvPr id="68" name="Shape 66"/>
          <p:cNvSpPr/>
          <p:nvPr/>
        </p:nvSpPr>
        <p:spPr>
          <a:xfrm>
            <a:off x="6217920" y="1188720"/>
            <a:ext cx="5562295" cy="2423160"/>
          </a:xfrm>
          <a:prstGeom prst="roundRect">
            <a:avLst>
              <a:gd name="adj" fmla="val 2264"/>
            </a:avLst>
          </a:prstGeom>
          <a:solidFill>
            <a:srgbClr val="F5F8FE"/>
          </a:solidFill>
          <a:ln w="9525">
            <a:solidFill>
              <a:srgbClr val="D5DCEB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382512" y="1280160"/>
            <a:ext cx="523311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affects liquid pressure?</a:t>
            </a:r>
            <a:endParaRPr lang="en-US" sz="1300" dirty="0"/>
          </a:p>
        </p:txBody>
      </p:sp>
      <p:sp>
        <p:nvSpPr>
          <p:cNvPr id="70" name="Text 68"/>
          <p:cNvSpPr/>
          <p:nvPr/>
        </p:nvSpPr>
        <p:spPr>
          <a:xfrm>
            <a:off x="6382512" y="1609344"/>
            <a:ext cx="5233111" cy="1929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150" b="1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Depth:</a:t>
            </a:r>
            <a:r>
              <a:rPr lang="en-US" sz="115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deeper you go, the greater the pressure.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150" b="1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Density:</a:t>
            </a:r>
            <a:r>
              <a:rPr lang="en-US" sz="115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at the same depth, a denser liquid gives a greater pressure (sea water &gt; fresh water).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150" b="1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(HT):</a:t>
            </a:r>
            <a:r>
              <a:rPr lang="en-US" sz="115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at greater depth there is a </a:t>
            </a:r>
            <a:r>
              <a:rPr lang="en-US" sz="1150" b="1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column of liquid above</a:t>
            </a:r>
            <a:r>
              <a:rPr lang="en-US" sz="115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so a greater </a:t>
            </a:r>
            <a:r>
              <a:rPr lang="en-US" sz="1150" b="1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</a:t>
            </a:r>
            <a:r>
              <a:rPr lang="en-US" sz="115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liquid pushes on each m² below it.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150" b="1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(HT):</a:t>
            </a:r>
            <a:r>
              <a:rPr lang="en-US" sz="115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denser liquid has more </a:t>
            </a:r>
            <a:r>
              <a:rPr lang="en-US" sz="1150" b="1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</a:t>
            </a:r>
            <a:r>
              <a:rPr lang="en-US" sz="115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the same column, so a greater weight → greater pressure.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15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Dams are built thicker at the bottom; divers must not rise too quickly.</a:t>
            </a:r>
            <a:endParaRPr lang="en-US" sz="1150" dirty="0"/>
          </a:p>
        </p:txBody>
      </p:sp>
      <p:sp>
        <p:nvSpPr>
          <p:cNvPr id="71" name="Shape 69"/>
          <p:cNvSpPr/>
          <p:nvPr/>
        </p:nvSpPr>
        <p:spPr>
          <a:xfrm>
            <a:off x="6217920" y="3749040"/>
            <a:ext cx="5562295" cy="1965960"/>
          </a:xfrm>
          <a:prstGeom prst="roundRect">
            <a:avLst>
              <a:gd name="adj" fmla="val 2791"/>
            </a:avLst>
          </a:prstGeom>
          <a:solidFill>
            <a:srgbClr val="FFF4E0"/>
          </a:solidFill>
          <a:ln w="9525">
            <a:solidFill>
              <a:srgbClr val="F1D9A8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382512" y="3822192"/>
            <a:ext cx="523311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7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an observation</a:t>
            </a:r>
            <a:endParaRPr lang="en-US" sz="1300" dirty="0"/>
          </a:p>
        </p:txBody>
      </p:sp>
      <p:sp>
        <p:nvSpPr>
          <p:cNvPr id="73" name="Text 71"/>
          <p:cNvSpPr/>
          <p:nvPr/>
        </p:nvSpPr>
        <p:spPr>
          <a:xfrm>
            <a:off x="6382512" y="4133088"/>
            <a:ext cx="5233111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water spurt furthest from the lowest hole?</a:t>
            </a:r>
            <a:endParaRPr lang="en-US" sz="1100" dirty="0"/>
          </a:p>
          <a:p>
            <a:pPr indent="0" marL="0">
              <a:spcBef>
                <a:spcPts val="200"/>
              </a:spcBef>
              <a:buNone/>
            </a:pPr>
            <a:r>
              <a:rPr lang="en-US" sz="1100" b="1" dirty="0">
                <a:solidFill>
                  <a:srgbClr val="2E5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Depth   </a:t>
            </a:r>
            <a:r>
              <a:rPr lang="en-US" sz="110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lowest hole has the most water above it</a:t>
            </a:r>
            <a:endParaRPr lang="en-US" sz="1100" dirty="0"/>
          </a:p>
          <a:p>
            <a:pPr indent="0" marL="0">
              <a:spcBef>
                <a:spcPts val="200"/>
              </a:spcBef>
              <a:buNone/>
            </a:pPr>
            <a:r>
              <a:rPr lang="en-US" sz="1100" b="1" dirty="0">
                <a:solidFill>
                  <a:srgbClr val="2E5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Weight   </a:t>
            </a:r>
            <a:r>
              <a:rPr lang="en-US" sz="110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weight of water above each m²</a:t>
            </a:r>
            <a:endParaRPr lang="en-US" sz="1100" dirty="0"/>
          </a:p>
          <a:p>
            <a:pPr indent="0" marL="0">
              <a:spcBef>
                <a:spcPts val="200"/>
              </a:spcBef>
              <a:buNone/>
            </a:pPr>
            <a:r>
              <a:rPr lang="en-US" sz="1100" b="1" dirty="0">
                <a:solidFill>
                  <a:srgbClr val="2E5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Pressure   </a:t>
            </a:r>
            <a:r>
              <a:rPr lang="en-US" sz="110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greatest pressure at the lowest hole</a:t>
            </a:r>
            <a:endParaRPr lang="en-US" sz="1100" dirty="0"/>
          </a:p>
          <a:p>
            <a:pPr indent="0" marL="0">
              <a:spcBef>
                <a:spcPts val="200"/>
              </a:spcBef>
              <a:buNone/>
            </a:pPr>
            <a:r>
              <a:rPr lang="en-US" sz="1100" b="1" dirty="0">
                <a:solidFill>
                  <a:srgbClr val="2E5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Answer   </a:t>
            </a:r>
            <a:r>
              <a:rPr lang="en-US" sz="1100" b="1" dirty="0">
                <a:solidFill>
                  <a:srgbClr val="C8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is pushed out fastest, so travels furthest</a:t>
            </a:r>
            <a:endParaRPr lang="en-US" sz="1100" dirty="0"/>
          </a:p>
        </p:txBody>
      </p:sp>
      <p:sp>
        <p:nvSpPr>
          <p:cNvPr id="74" name="Shape 72"/>
          <p:cNvSpPr/>
          <p:nvPr/>
        </p:nvSpPr>
        <p:spPr>
          <a:xfrm>
            <a:off x="411480" y="5833872"/>
            <a:ext cx="11368735" cy="530352"/>
          </a:xfrm>
          <a:prstGeom prst="rect">
            <a:avLst/>
          </a:prstGeom>
          <a:solidFill>
            <a:srgbClr val="FFF4E0"/>
          </a:solidFill>
          <a:ln w="6350">
            <a:solidFill>
              <a:srgbClr val="F1D9A8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411480" y="5833872"/>
            <a:ext cx="82296" cy="530352"/>
          </a:xfrm>
          <a:prstGeom prst="rect">
            <a:avLst/>
          </a:prstGeom>
          <a:solidFill>
            <a:srgbClr val="E39A2F"/>
          </a:solidFill>
          <a:ln w="12700">
            <a:solidFill>
              <a:srgbClr val="E39A2F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40080" y="5833872"/>
            <a:ext cx="1100297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7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   </a:t>
            </a:r>
            <a:r>
              <a:rPr lang="en-US" sz="115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diver is at the same depth in a freshwater lake and in the sea. Where is the pressure greater, and why?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EEF2FA"/>
          </a:solidFill>
          <a:ln w="12700">
            <a:solidFill>
              <a:srgbClr val="EEF2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87552"/>
            <a:ext cx="12191695" cy="27432"/>
          </a:xfrm>
          <a:prstGeom prst="rect">
            <a:avLst/>
          </a:prstGeom>
          <a:solidFill>
            <a:srgbClr val="D3DCF0"/>
          </a:solidFill>
          <a:ln w="12700">
            <a:solidFill>
              <a:srgbClr val="D3DC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18872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Calculating pressure in a liquid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11480" y="6400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E5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Specification 15.14P • P = h × ρ × g, and pressure differences between depths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1323015" y="292608"/>
            <a:ext cx="457200" cy="274320"/>
          </a:xfrm>
          <a:prstGeom prst="roundRect">
            <a:avLst>
              <a:gd name="adj" fmla="val 50000"/>
            </a:avLst>
          </a:prstGeom>
          <a:solidFill>
            <a:srgbClr val="C8414C"/>
          </a:solidFill>
          <a:ln w="12700">
            <a:solidFill>
              <a:srgbClr val="C841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323015" y="2926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0042855" y="292608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2E5BD8"/>
          </a:solidFill>
          <a:ln w="12700">
            <a:solidFill>
              <a:srgbClr val="2E5B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42855" y="29260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 ONLY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6473952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Edexcel GCSE (9–1) Physics (1PH0) | Topic 15 Forces and matter | Higher &amp; Foundation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784080" y="647395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15.14P  |  24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1480" y="1188720"/>
            <a:ext cx="5577840" cy="4526280"/>
          </a:xfrm>
          <a:prstGeom prst="roundRect">
            <a:avLst>
              <a:gd name="adj" fmla="val 1616"/>
            </a:avLst>
          </a:prstGeom>
          <a:solidFill>
            <a:srgbClr val="EEF1F8"/>
          </a:solidFill>
          <a:ln w="9525">
            <a:solidFill>
              <a:srgbClr val="DCE2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5404104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diagram — a column of liquid of height h resting on area A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22960" y="1639062"/>
            <a:ext cx="4663440" cy="3344418"/>
          </a:xfrm>
          <a:prstGeom prst="rect">
            <a:avLst/>
          </a:prstGeom>
          <a:solidFill>
            <a:srgbClr val="BFD9F2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1463040"/>
            <a:ext cx="91" cy="3520440"/>
          </a:xfrm>
          <a:prstGeom prst="line">
            <a:avLst/>
          </a:prstGeom>
          <a:noFill/>
          <a:ln w="25400">
            <a:solidFill>
              <a:srgbClr val="1A234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0" y="1463040"/>
            <a:ext cx="91" cy="3520440"/>
          </a:xfrm>
          <a:prstGeom prst="line">
            <a:avLst/>
          </a:prstGeom>
          <a:noFill/>
          <a:ln w="25400">
            <a:solidFill>
              <a:srgbClr val="1A234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" y="4983480"/>
            <a:ext cx="4663440" cy="91"/>
          </a:xfrm>
          <a:prstGeom prst="line">
            <a:avLst/>
          </a:prstGeom>
          <a:noFill/>
          <a:ln w="25400">
            <a:solidFill>
              <a:srgbClr val="1A234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2960" y="1639062"/>
            <a:ext cx="4663440" cy="91"/>
          </a:xfrm>
          <a:prstGeom prst="line">
            <a:avLst/>
          </a:prstGeom>
          <a:noFill/>
          <a:ln w="15875">
            <a:solidFill>
              <a:srgbClr val="5B9BD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103120" y="1645920"/>
            <a:ext cx="1280160" cy="3017520"/>
          </a:xfrm>
          <a:prstGeom prst="rect">
            <a:avLst/>
          </a:prstGeom>
          <a:solidFill>
            <a:srgbClr val="8DB8E6"/>
          </a:solidFill>
          <a:ln w="15875">
            <a:solidFill>
              <a:srgbClr val="1A234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103120" y="4526280"/>
            <a:ext cx="1280160" cy="274320"/>
          </a:xfrm>
          <a:prstGeom prst="ellipse">
            <a:avLst/>
          </a:prstGeom>
          <a:solidFill>
            <a:srgbClr val="5B9BD5"/>
          </a:solidFill>
          <a:ln w="15875">
            <a:solidFill>
              <a:srgbClr val="1A234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103120" y="454456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A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1737360" y="1645920"/>
            <a:ext cx="91" cy="3017520"/>
          </a:xfrm>
          <a:prstGeom prst="line">
            <a:avLst/>
          </a:prstGeom>
          <a:noFill/>
          <a:ln w="22225">
            <a:solidFill>
              <a:srgbClr val="C8414C"/>
            </a:solidFill>
            <a:prstDash val="solid"/>
            <a:headEnd type="triangle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1234440" y="30175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8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2743200" y="2743200"/>
            <a:ext cx="91" cy="1188720"/>
          </a:xfrm>
          <a:prstGeom prst="line">
            <a:avLst/>
          </a:prstGeom>
          <a:noFill/>
          <a:ln w="38100">
            <a:solidFill>
              <a:srgbClr val="C8414C"/>
            </a:solidFill>
            <a:prstDash val="solid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2286000" y="39593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566160" y="18288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of column</a:t>
            </a:r>
            <a:endParaRPr lang="en-US" sz="1050" dirty="0"/>
          </a:p>
          <a:p>
            <a:pPr algn="l" indent="0" marL="0">
              <a:buNone/>
            </a:pPr>
            <a:r>
              <a:rPr lang="en-US" sz="105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m × g = (h × A × ρ) × g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566160" y="32918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E5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weight ÷ A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2E5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h × ρ × 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217920" y="1188720"/>
            <a:ext cx="5562295" cy="2286000"/>
          </a:xfrm>
          <a:prstGeom prst="roundRect">
            <a:avLst>
              <a:gd name="adj" fmla="val 2400"/>
            </a:avLst>
          </a:prstGeom>
          <a:solidFill>
            <a:srgbClr val="F5F8FE"/>
          </a:solidFill>
          <a:ln w="9525">
            <a:solidFill>
              <a:srgbClr val="D5DC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82512" y="1280160"/>
            <a:ext cx="523311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column equation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382512" y="1609344"/>
            <a:ext cx="5233111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2E5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h × ρ × g</a:t>
            </a:r>
            <a:r>
              <a:rPr lang="en-US" sz="115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pressure due to a column of liquid (Pa) = height of column (m) × density of liquid (kg/m³) × gravitational field strength (N/kg)</a:t>
            </a: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on the Physics Equations List.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15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pressure due to the </a:t>
            </a:r>
            <a:r>
              <a:rPr lang="en-US" sz="1150" b="1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 only</a:t>
            </a:r>
            <a:r>
              <a:rPr lang="en-US" sz="115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Total pressure = this + atmospheric pressure.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150" b="1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 difference</a:t>
            </a:r>
            <a:r>
              <a:rPr lang="en-US" sz="115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between two depths: Δp = Δh × ρ × g.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217920" y="3611880"/>
            <a:ext cx="5562295" cy="2103120"/>
          </a:xfrm>
          <a:prstGeom prst="roundRect">
            <a:avLst>
              <a:gd name="adj" fmla="val 2609"/>
            </a:avLst>
          </a:prstGeom>
          <a:solidFill>
            <a:srgbClr val="FFF4E0"/>
          </a:solidFill>
          <a:ln w="9525">
            <a:solidFill>
              <a:srgbClr val="F1D9A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82512" y="3685032"/>
            <a:ext cx="523311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7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382512" y="3995928"/>
            <a:ext cx="5233111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diver is 12 m deep in sea water (ρ = 1030 kg/m³, g = 10 N/kg). Calculate the pressure due to the water.</a:t>
            </a:r>
            <a:endParaRPr lang="en-US" sz="1050" dirty="0"/>
          </a:p>
          <a:p>
            <a:pPr indent="0" marL="0">
              <a:spcBef>
                <a:spcPts val="200"/>
              </a:spcBef>
              <a:buNone/>
            </a:pPr>
            <a:r>
              <a:rPr lang="en-US" sz="1050" b="1" dirty="0">
                <a:solidFill>
                  <a:srgbClr val="2E5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Equation   </a:t>
            </a:r>
            <a:r>
              <a:rPr lang="en-US" sz="105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h × ρ × g</a:t>
            </a:r>
            <a:endParaRPr lang="en-US" sz="1050" dirty="0"/>
          </a:p>
          <a:p>
            <a:pPr indent="0" marL="0">
              <a:spcBef>
                <a:spcPts val="200"/>
              </a:spcBef>
              <a:buNone/>
            </a:pPr>
            <a:r>
              <a:rPr lang="en-US" sz="1050" b="1" dirty="0">
                <a:solidFill>
                  <a:srgbClr val="2E5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Substitute   </a:t>
            </a:r>
            <a:r>
              <a:rPr lang="en-US" sz="105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12 × 1030 × 10</a:t>
            </a:r>
            <a:endParaRPr lang="en-US" sz="1050" dirty="0"/>
          </a:p>
          <a:p>
            <a:pPr indent="0" marL="0">
              <a:spcBef>
                <a:spcPts val="200"/>
              </a:spcBef>
              <a:buNone/>
            </a:pPr>
            <a:r>
              <a:rPr lang="en-US" sz="1050" b="1" dirty="0">
                <a:solidFill>
                  <a:srgbClr val="2E5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Total   </a:t>
            </a:r>
            <a:r>
              <a:rPr lang="en-US" sz="105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+ 1.0 × 10⁵ Pa (air) = 2.24 × 10⁵ Pa</a:t>
            </a:r>
            <a:endParaRPr lang="en-US" sz="1050" dirty="0"/>
          </a:p>
          <a:p>
            <a:pPr indent="0" marL="0">
              <a:spcBef>
                <a:spcPts val="200"/>
              </a:spcBef>
              <a:buNone/>
            </a:pPr>
            <a:r>
              <a:rPr lang="en-US" sz="1050" b="1" dirty="0">
                <a:solidFill>
                  <a:srgbClr val="2E5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Answer   </a:t>
            </a:r>
            <a:r>
              <a:rPr lang="en-US" sz="1050" b="1" dirty="0">
                <a:solidFill>
                  <a:srgbClr val="C8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123 600 Pa ≈ 1.24 × 10⁵ Pa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11480" y="5833872"/>
            <a:ext cx="11368735" cy="530352"/>
          </a:xfrm>
          <a:prstGeom prst="rect">
            <a:avLst/>
          </a:prstGeom>
          <a:solidFill>
            <a:srgbClr val="FFF4E0"/>
          </a:solidFill>
          <a:ln w="6350">
            <a:solidFill>
              <a:srgbClr val="F1D9A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11480" y="5833872"/>
            <a:ext cx="82296" cy="530352"/>
          </a:xfrm>
          <a:prstGeom prst="rect">
            <a:avLst/>
          </a:prstGeom>
          <a:solidFill>
            <a:srgbClr val="E39A2F"/>
          </a:solidFill>
          <a:ln w="12700">
            <a:solidFill>
              <a:srgbClr val="E39A2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" y="5833872"/>
            <a:ext cx="1100297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7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   </a:t>
            </a:r>
            <a:r>
              <a:rPr lang="en-US" sz="115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the pressure at the bottom of 0.40 m of oil (density 800 kg/m³, g = 10 N/kg).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EEF2FA"/>
          </a:solidFill>
          <a:ln w="12700">
            <a:solidFill>
              <a:srgbClr val="EEF2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87552"/>
            <a:ext cx="12191695" cy="27432"/>
          </a:xfrm>
          <a:prstGeom prst="rect">
            <a:avLst/>
          </a:prstGeom>
          <a:solidFill>
            <a:srgbClr val="D3DCF0"/>
          </a:solidFill>
          <a:ln w="12700">
            <a:solidFill>
              <a:srgbClr val="D3DC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18872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Exam practice: recap 5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11480" y="6400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E5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Specification 15.12P–15.14P • pressure in liquids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6473952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Edexcel GCSE (9–1) Physics (1PH0) | Topic 15 Forces and matter | Higher &amp; Foundation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784080" y="647395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5  |  25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1480" y="1207008"/>
            <a:ext cx="11368735" cy="1594104"/>
          </a:xfrm>
          <a:prstGeom prst="roundRect">
            <a:avLst>
              <a:gd name="adj" fmla="val 2868"/>
            </a:avLst>
          </a:prstGeom>
          <a:solidFill>
            <a:srgbClr val="FFFFFF"/>
          </a:solidFill>
          <a:ln w="12700">
            <a:solidFill>
              <a:srgbClr val="D5DC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1207008"/>
            <a:ext cx="2103120" cy="292608"/>
          </a:xfrm>
          <a:prstGeom prst="rect">
            <a:avLst/>
          </a:prstGeom>
          <a:solidFill>
            <a:srgbClr val="F5A742"/>
          </a:solidFill>
          <a:ln w="12700">
            <a:solidFill>
              <a:srgbClr val="F5A7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20700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EXAM-STYLE QUESTION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40080" y="1572768"/>
            <a:ext cx="9539935" cy="1155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how the pressure in a liquid depends on the </a:t>
            </a:r>
            <a:r>
              <a:rPr lang="en-US" sz="1250" b="1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</a:t>
            </a:r>
            <a:r>
              <a:rPr lang="en-US" sz="125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the </a:t>
            </a:r>
            <a:r>
              <a:rPr lang="en-US" sz="1250" b="1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density</a:t>
            </a:r>
            <a:r>
              <a:rPr lang="en-US" sz="125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the liquid.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0317175" y="2417064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5A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 marks]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11480" y="2947416"/>
            <a:ext cx="11368735" cy="1594104"/>
          </a:xfrm>
          <a:prstGeom prst="roundRect">
            <a:avLst>
              <a:gd name="adj" fmla="val 2868"/>
            </a:avLst>
          </a:prstGeom>
          <a:solidFill>
            <a:srgbClr val="FFFFFF"/>
          </a:solidFill>
          <a:ln w="12700">
            <a:solidFill>
              <a:srgbClr val="D5DC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" y="2947416"/>
            <a:ext cx="2103120" cy="292608"/>
          </a:xfrm>
          <a:prstGeom prst="rect">
            <a:avLst/>
          </a:prstGeom>
          <a:solidFill>
            <a:srgbClr val="F5A742"/>
          </a:solidFill>
          <a:ln w="12700">
            <a:solidFill>
              <a:srgbClr val="F5A74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947416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EXAM-STYLE QUESTION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606040" y="2956560"/>
            <a:ext cx="411480" cy="274320"/>
          </a:xfrm>
          <a:prstGeom prst="roundRect">
            <a:avLst>
              <a:gd name="adj" fmla="val 50000"/>
            </a:avLst>
          </a:prstGeom>
          <a:solidFill>
            <a:srgbClr val="C8414C"/>
          </a:solidFill>
          <a:ln w="12700">
            <a:solidFill>
              <a:srgbClr val="C8414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06040" y="295656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0080" y="3313176"/>
            <a:ext cx="9539935" cy="1155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the pressure due to the water at a depth of </a:t>
            </a:r>
            <a:r>
              <a:rPr lang="en-US" sz="1250" b="1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8.0 m</a:t>
            </a:r>
            <a:r>
              <a:rPr lang="en-US" sz="125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a lake. Density of water = 1000 kg/m³, g = 10 N/kg.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0317175" y="4157472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5A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 marks]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11480" y="4687824"/>
            <a:ext cx="11368735" cy="1594104"/>
          </a:xfrm>
          <a:prstGeom prst="roundRect">
            <a:avLst>
              <a:gd name="adj" fmla="val 2868"/>
            </a:avLst>
          </a:prstGeom>
          <a:solidFill>
            <a:srgbClr val="FFFFFF"/>
          </a:solidFill>
          <a:ln w="12700">
            <a:solidFill>
              <a:srgbClr val="D5DC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11480" y="4687824"/>
            <a:ext cx="2103120" cy="292608"/>
          </a:xfrm>
          <a:prstGeom prst="rect">
            <a:avLst/>
          </a:prstGeom>
          <a:solidFill>
            <a:srgbClr val="F5A742"/>
          </a:solidFill>
          <a:ln w="12700">
            <a:solidFill>
              <a:srgbClr val="F5A74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4687824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EXAM-STYLE QUESTION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606040" y="4696968"/>
            <a:ext cx="411480" cy="274320"/>
          </a:xfrm>
          <a:prstGeom prst="roundRect">
            <a:avLst>
              <a:gd name="adj" fmla="val 50000"/>
            </a:avLst>
          </a:prstGeom>
          <a:solidFill>
            <a:srgbClr val="C8414C"/>
          </a:solidFill>
          <a:ln w="12700">
            <a:solidFill>
              <a:srgbClr val="C8414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606040" y="469696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0080" y="5053584"/>
            <a:ext cx="9539935" cy="1155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the </a:t>
            </a:r>
            <a:r>
              <a:rPr lang="en-US" sz="1250" b="1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difference</a:t>
            </a:r>
            <a:r>
              <a:rPr lang="en-US" sz="125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pressure between depths of </a:t>
            </a:r>
            <a:r>
              <a:rPr lang="en-US" sz="1250" b="1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 m</a:t>
            </a:r>
            <a:r>
              <a:rPr lang="en-US" sz="125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r>
              <a:rPr lang="en-US" sz="1250" b="1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7.0 m</a:t>
            </a:r>
            <a:r>
              <a:rPr lang="en-US" sz="125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sea water of density </a:t>
            </a:r>
            <a:r>
              <a:rPr lang="en-US" sz="1250" b="1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1030 kg/m³</a:t>
            </a:r>
            <a:r>
              <a:rPr lang="en-US" sz="125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g = 10 N/kg.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10317175" y="589788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5A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 marks]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EEF2FA"/>
          </a:solidFill>
          <a:ln w="12700">
            <a:solidFill>
              <a:srgbClr val="EEF2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87552"/>
            <a:ext cx="12191695" cy="27432"/>
          </a:xfrm>
          <a:prstGeom prst="rect">
            <a:avLst/>
          </a:prstGeom>
          <a:solidFill>
            <a:srgbClr val="D3DCF0"/>
          </a:solidFill>
          <a:ln w="12700">
            <a:solidFill>
              <a:srgbClr val="D3DC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18872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Upthrust: the upward force from a fluid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11480" y="6400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E5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Specification 15.15P, 15.16P • upthrust = weight of fluid displaced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1323015" y="292608"/>
            <a:ext cx="457200" cy="274320"/>
          </a:xfrm>
          <a:prstGeom prst="roundRect">
            <a:avLst>
              <a:gd name="adj" fmla="val 50000"/>
            </a:avLst>
          </a:prstGeom>
          <a:solidFill>
            <a:srgbClr val="C8414C"/>
          </a:solidFill>
          <a:ln w="12700">
            <a:solidFill>
              <a:srgbClr val="C841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323015" y="2926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0042855" y="292608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2E5BD8"/>
          </a:solidFill>
          <a:ln w="12700">
            <a:solidFill>
              <a:srgbClr val="2E5B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42855" y="29260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 ONLY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6473952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Edexcel GCSE (9–1) Physics (1PH0) | Topic 15 Forces and matter | Higher &amp; Foundation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784080" y="647395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15.15P  |  26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1480" y="1188720"/>
            <a:ext cx="5577840" cy="4526280"/>
          </a:xfrm>
          <a:prstGeom prst="roundRect">
            <a:avLst>
              <a:gd name="adj" fmla="val 1616"/>
            </a:avLst>
          </a:prstGeom>
          <a:solidFill>
            <a:srgbClr val="EEF1F8"/>
          </a:solidFill>
          <a:ln w="9525">
            <a:solidFill>
              <a:srgbClr val="DCE2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5404104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diagram — block 0.10 m × 0.10 m × 0.20 m held under water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22960" y="1778508"/>
            <a:ext cx="4663440" cy="3250692"/>
          </a:xfrm>
          <a:prstGeom prst="rect">
            <a:avLst/>
          </a:prstGeom>
          <a:solidFill>
            <a:srgbClr val="BFD9F2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1417320"/>
            <a:ext cx="91" cy="3611880"/>
          </a:xfrm>
          <a:prstGeom prst="line">
            <a:avLst/>
          </a:prstGeom>
          <a:noFill/>
          <a:ln w="25400">
            <a:solidFill>
              <a:srgbClr val="1A234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0" y="1417320"/>
            <a:ext cx="91" cy="3611880"/>
          </a:xfrm>
          <a:prstGeom prst="line">
            <a:avLst/>
          </a:prstGeom>
          <a:noFill/>
          <a:ln w="25400">
            <a:solidFill>
              <a:srgbClr val="1A234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" y="5029200"/>
            <a:ext cx="4663440" cy="91"/>
          </a:xfrm>
          <a:prstGeom prst="line">
            <a:avLst/>
          </a:prstGeom>
          <a:noFill/>
          <a:ln w="25400">
            <a:solidFill>
              <a:srgbClr val="1A234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2960" y="1778508"/>
            <a:ext cx="4663440" cy="91"/>
          </a:xfrm>
          <a:prstGeom prst="line">
            <a:avLst/>
          </a:prstGeom>
          <a:noFill/>
          <a:ln w="15875">
            <a:solidFill>
              <a:srgbClr val="5B9BD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60320" y="2514600"/>
            <a:ext cx="1097280" cy="1463040"/>
          </a:xfrm>
          <a:prstGeom prst="rect">
            <a:avLst/>
          </a:prstGeom>
          <a:solidFill>
            <a:srgbClr val="C99A5B"/>
          </a:solidFill>
          <a:ln w="15875">
            <a:solidFill>
              <a:srgbClr val="8A6A3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834640" y="2103120"/>
            <a:ext cx="91" cy="393192"/>
          </a:xfrm>
          <a:prstGeom prst="line">
            <a:avLst/>
          </a:prstGeom>
          <a:noFill/>
          <a:ln w="28575">
            <a:solidFill>
              <a:srgbClr val="C8414C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 flipV="1">
            <a:off x="2834640" y="3995928"/>
            <a:ext cx="91" cy="758952"/>
          </a:xfrm>
          <a:prstGeom prst="line">
            <a:avLst/>
          </a:prstGeom>
          <a:noFill/>
          <a:ln w="28575">
            <a:solidFill>
              <a:srgbClr val="C8414C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3383280" y="2103120"/>
            <a:ext cx="91" cy="393192"/>
          </a:xfrm>
          <a:prstGeom prst="line">
            <a:avLst/>
          </a:prstGeom>
          <a:noFill/>
          <a:ln w="28575">
            <a:solidFill>
              <a:srgbClr val="C8414C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 flipV="1">
            <a:off x="3383280" y="3995928"/>
            <a:ext cx="91" cy="758952"/>
          </a:xfrm>
          <a:prstGeom prst="line">
            <a:avLst/>
          </a:prstGeom>
          <a:noFill/>
          <a:ln w="28575">
            <a:solidFill>
              <a:srgbClr val="C8414C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2057400" y="2971800"/>
            <a:ext cx="484632" cy="91"/>
          </a:xfrm>
          <a:prstGeom prst="line">
            <a:avLst/>
          </a:prstGeom>
          <a:noFill/>
          <a:ln w="22225">
            <a:solidFill>
              <a:srgbClr val="6B7385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 flipH="1">
            <a:off x="3675888" y="2971800"/>
            <a:ext cx="484632" cy="91"/>
          </a:xfrm>
          <a:prstGeom prst="line">
            <a:avLst/>
          </a:prstGeom>
          <a:noFill/>
          <a:ln w="22225">
            <a:solidFill>
              <a:srgbClr val="6B7385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2057400" y="3520440"/>
            <a:ext cx="484632" cy="91"/>
          </a:xfrm>
          <a:prstGeom prst="line">
            <a:avLst/>
          </a:prstGeom>
          <a:noFill/>
          <a:ln w="22225">
            <a:solidFill>
              <a:srgbClr val="6B7385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 flipH="1">
            <a:off x="3675888" y="3520440"/>
            <a:ext cx="484632" cy="91"/>
          </a:xfrm>
          <a:prstGeom prst="line">
            <a:avLst/>
          </a:prstGeom>
          <a:noFill/>
          <a:ln w="22225">
            <a:solidFill>
              <a:srgbClr val="6B7385"/>
            </a:solidFill>
            <a:prstDash val="solid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3749040" y="201168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8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top: 3000 Pa → 30 N down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749040" y="425196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8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bottom: 5000 Pa → 50 N up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868680" y="308152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sides cancel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868680" y="182422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0.30 m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2103120" y="1778508"/>
            <a:ext cx="91" cy="736092"/>
          </a:xfrm>
          <a:prstGeom prst="line">
            <a:avLst/>
          </a:prstGeom>
          <a:noFill/>
          <a:ln w="12700">
            <a:solidFill>
              <a:srgbClr val="1A2340"/>
            </a:solidFill>
            <a:prstDash val="dash"/>
            <a:headEnd type="triangle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6217920" y="1188720"/>
            <a:ext cx="5562295" cy="2331720"/>
          </a:xfrm>
          <a:prstGeom prst="roundRect">
            <a:avLst>
              <a:gd name="adj" fmla="val 2353"/>
            </a:avLst>
          </a:prstGeom>
          <a:solidFill>
            <a:srgbClr val="F5F8FE"/>
          </a:solidFill>
          <a:ln w="9525">
            <a:solidFill>
              <a:srgbClr val="D5DC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82512" y="1280160"/>
            <a:ext cx="523311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upthrust comes from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382512" y="1609344"/>
            <a:ext cx="5233111" cy="1837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15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 increases with depth, so the pressure on the </a:t>
            </a:r>
            <a:r>
              <a:rPr lang="en-US" sz="1150" b="1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</a:t>
            </a:r>
            <a:r>
              <a:rPr lang="en-US" sz="115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an object is </a:t>
            </a:r>
            <a:r>
              <a:rPr lang="en-US" sz="1150" b="1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</a:t>
            </a:r>
            <a:r>
              <a:rPr lang="en-US" sz="115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than on its </a:t>
            </a:r>
            <a:r>
              <a:rPr lang="en-US" sz="1150" b="1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</a:t>
            </a:r>
            <a:r>
              <a:rPr lang="en-US" sz="115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15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gives a </a:t>
            </a:r>
            <a:r>
              <a:rPr lang="en-US" sz="1150" b="1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resultant upward force</a:t>
            </a:r>
            <a:r>
              <a:rPr lang="en-US" sz="115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the </a:t>
            </a:r>
            <a:r>
              <a:rPr lang="en-US" sz="1150" b="1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upthrust</a:t>
            </a:r>
            <a:r>
              <a:rPr lang="en-US" sz="115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Side forces cancel.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15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acts on objects </a:t>
            </a:r>
            <a:r>
              <a:rPr lang="en-US" sz="1150" b="1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immersed</a:t>
            </a:r>
            <a:r>
              <a:rPr lang="en-US" sz="115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a liquid or gas, and on objects </a:t>
            </a:r>
            <a:r>
              <a:rPr lang="en-US" sz="1150" b="1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partly immersed</a:t>
            </a:r>
            <a:r>
              <a:rPr lang="en-US" sz="115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a liquid (boats).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150" b="1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Upthrust = weight of fluid displaced</a:t>
            </a:r>
            <a:r>
              <a:rPr lang="en-US" sz="115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(the fluid pushed out of the way).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6217920" y="3657600"/>
            <a:ext cx="5562295" cy="2057400"/>
          </a:xfrm>
          <a:prstGeom prst="roundRect">
            <a:avLst>
              <a:gd name="adj" fmla="val 2667"/>
            </a:avLst>
          </a:prstGeom>
          <a:solidFill>
            <a:srgbClr val="FFF4E0"/>
          </a:solidFill>
          <a:ln w="9525">
            <a:solidFill>
              <a:srgbClr val="F1D9A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82512" y="3730752"/>
            <a:ext cx="523311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7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382512" y="4041648"/>
            <a:ext cx="5233111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block (volume 0.0020 m³) is fully under water (ρ = 1000 kg/m³, g = 10 N/kg). Calculate the upthrust.</a:t>
            </a:r>
            <a:endParaRPr lang="en-US" sz="1050" dirty="0"/>
          </a:p>
          <a:p>
            <a:pPr indent="0" marL="0">
              <a:spcBef>
                <a:spcPts val="200"/>
              </a:spcBef>
              <a:buNone/>
            </a:pPr>
            <a:r>
              <a:rPr lang="en-US" sz="1050" b="1" dirty="0">
                <a:solidFill>
                  <a:srgbClr val="2E5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Mass displaced   </a:t>
            </a:r>
            <a:r>
              <a:rPr lang="en-US" sz="105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= ρ × V = 1000 × 0.0020 = 2.0 kg</a:t>
            </a:r>
            <a:endParaRPr lang="en-US" sz="1050" dirty="0"/>
          </a:p>
          <a:p>
            <a:pPr indent="0" marL="0">
              <a:spcBef>
                <a:spcPts val="200"/>
              </a:spcBef>
              <a:buNone/>
            </a:pPr>
            <a:r>
              <a:rPr lang="en-US" sz="1050" b="1" dirty="0">
                <a:solidFill>
                  <a:srgbClr val="2E5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Weight   </a:t>
            </a:r>
            <a:r>
              <a:rPr lang="en-US" sz="105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= m × g = 2.0 × 10</a:t>
            </a:r>
            <a:endParaRPr lang="en-US" sz="1050" dirty="0"/>
          </a:p>
          <a:p>
            <a:pPr indent="0" marL="0">
              <a:spcBef>
                <a:spcPts val="200"/>
              </a:spcBef>
              <a:buNone/>
            </a:pPr>
            <a:r>
              <a:rPr lang="en-US" sz="1050" b="1" dirty="0">
                <a:solidFill>
                  <a:srgbClr val="2E5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Check   </a:t>
            </a:r>
            <a:r>
              <a:rPr lang="en-US" sz="105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 forces: 50 N − 30 N = 20 N ✓</a:t>
            </a:r>
            <a:endParaRPr lang="en-US" sz="1050" dirty="0"/>
          </a:p>
          <a:p>
            <a:pPr indent="0" marL="0">
              <a:spcBef>
                <a:spcPts val="200"/>
              </a:spcBef>
              <a:buNone/>
            </a:pPr>
            <a:r>
              <a:rPr lang="en-US" sz="1050" b="1" dirty="0">
                <a:solidFill>
                  <a:srgbClr val="2E5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Answer   </a:t>
            </a:r>
            <a:r>
              <a:rPr lang="en-US" sz="1050" b="1" dirty="0">
                <a:solidFill>
                  <a:srgbClr val="C8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upthrust = 20 N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11480" y="5833872"/>
            <a:ext cx="11368735" cy="530352"/>
          </a:xfrm>
          <a:prstGeom prst="rect">
            <a:avLst/>
          </a:prstGeom>
          <a:solidFill>
            <a:srgbClr val="FFF4E0"/>
          </a:solidFill>
          <a:ln w="6350">
            <a:solidFill>
              <a:srgbClr val="F1D9A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11480" y="5833872"/>
            <a:ext cx="82296" cy="530352"/>
          </a:xfrm>
          <a:prstGeom prst="rect">
            <a:avLst/>
          </a:prstGeom>
          <a:solidFill>
            <a:srgbClr val="E39A2F"/>
          </a:solidFill>
          <a:ln w="12700">
            <a:solidFill>
              <a:srgbClr val="E39A2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0080" y="5833872"/>
            <a:ext cx="1100297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7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   </a:t>
            </a:r>
            <a:r>
              <a:rPr lang="en-US" sz="115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stone of volume 0.00030 m³ is fully under water (ρ = 1000 kg/m³). Calculate the upthrust on it (g = 10 N/kg).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EEF2FA"/>
          </a:solidFill>
          <a:ln w="12700">
            <a:solidFill>
              <a:srgbClr val="EEF2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87552"/>
            <a:ext cx="12191695" cy="27432"/>
          </a:xfrm>
          <a:prstGeom prst="rect">
            <a:avLst/>
          </a:prstGeom>
          <a:solidFill>
            <a:srgbClr val="D3DCF0"/>
          </a:solidFill>
          <a:ln w="12700">
            <a:solidFill>
              <a:srgbClr val="D3DC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18872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Floating and sinking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11480" y="6400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E5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Specification 15.17P • comparing upthrust, weight and density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1323015" y="292608"/>
            <a:ext cx="457200" cy="274320"/>
          </a:xfrm>
          <a:prstGeom prst="roundRect">
            <a:avLst>
              <a:gd name="adj" fmla="val 50000"/>
            </a:avLst>
          </a:prstGeom>
          <a:solidFill>
            <a:srgbClr val="C8414C"/>
          </a:solidFill>
          <a:ln w="12700">
            <a:solidFill>
              <a:srgbClr val="C841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323015" y="2926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0042855" y="292608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2E5BD8"/>
          </a:solidFill>
          <a:ln w="12700">
            <a:solidFill>
              <a:srgbClr val="2E5B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42855" y="29260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 ONLY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6473952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Edexcel GCSE (9–1) Physics (1PH0) | Topic 15 Forces and matter | Higher &amp; Foundation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784080" y="647395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15.17P  |  27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1480" y="1188720"/>
            <a:ext cx="5577840" cy="4526280"/>
          </a:xfrm>
          <a:prstGeom prst="roundRect">
            <a:avLst>
              <a:gd name="adj" fmla="val 1616"/>
            </a:avLst>
          </a:prstGeom>
          <a:solidFill>
            <a:srgbClr val="EEF1F8"/>
          </a:solidFill>
          <a:ln w="9525">
            <a:solidFill>
              <a:srgbClr val="DCE2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5404104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diagram — force arrows drawn to show relative sizes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" y="2344522"/>
            <a:ext cx="4846320" cy="2638958"/>
          </a:xfrm>
          <a:prstGeom prst="rect">
            <a:avLst/>
          </a:prstGeom>
          <a:solidFill>
            <a:srgbClr val="BFD9F2"/>
          </a:solidFill>
          <a:ln/>
        </p:spPr>
      </p:sp>
      <p:sp>
        <p:nvSpPr>
          <p:cNvPr id="15" name="Shape 13"/>
          <p:cNvSpPr/>
          <p:nvPr/>
        </p:nvSpPr>
        <p:spPr>
          <a:xfrm>
            <a:off x="731520" y="1600200"/>
            <a:ext cx="91" cy="3383280"/>
          </a:xfrm>
          <a:prstGeom prst="line">
            <a:avLst/>
          </a:prstGeom>
          <a:noFill/>
          <a:ln w="25400">
            <a:solidFill>
              <a:srgbClr val="1A234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577840" y="1600200"/>
            <a:ext cx="91" cy="3383280"/>
          </a:xfrm>
          <a:prstGeom prst="line">
            <a:avLst/>
          </a:prstGeom>
          <a:noFill/>
          <a:ln w="25400">
            <a:solidFill>
              <a:srgbClr val="1A234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" y="4983480"/>
            <a:ext cx="4846320" cy="91"/>
          </a:xfrm>
          <a:prstGeom prst="line">
            <a:avLst/>
          </a:prstGeom>
          <a:noFill/>
          <a:ln w="25400">
            <a:solidFill>
              <a:srgbClr val="1A234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" y="2344522"/>
            <a:ext cx="4846320" cy="91"/>
          </a:xfrm>
          <a:prstGeom prst="line">
            <a:avLst/>
          </a:prstGeom>
          <a:noFill/>
          <a:ln w="15875">
            <a:solidFill>
              <a:srgbClr val="5B9BD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34440" y="2051914"/>
            <a:ext cx="1005840" cy="731520"/>
          </a:xfrm>
          <a:prstGeom prst="rect">
            <a:avLst/>
          </a:prstGeom>
          <a:solidFill>
            <a:srgbClr val="C99A5B"/>
          </a:solidFill>
          <a:ln w="12700">
            <a:solidFill>
              <a:srgbClr val="8A6A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34440" y="2051914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wood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1417320" y="2417674"/>
            <a:ext cx="91" cy="777240"/>
          </a:xfrm>
          <a:prstGeom prst="line">
            <a:avLst/>
          </a:prstGeom>
          <a:noFill/>
          <a:ln w="38100">
            <a:solidFill>
              <a:srgbClr val="C8414C"/>
            </a:solidFill>
            <a:prstDash val="solid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868680" y="305775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8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 flipV="1">
            <a:off x="2057400" y="2783434"/>
            <a:ext cx="91" cy="777240"/>
          </a:xfrm>
          <a:prstGeom prst="line">
            <a:avLst/>
          </a:prstGeom>
          <a:noFill/>
          <a:ln w="38100">
            <a:solidFill>
              <a:srgbClr val="2E5BD8"/>
            </a:solidFill>
            <a:prstDash val="solid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2148840" y="333207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E5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14400" y="457200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floats: U = W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0" y="2880360"/>
            <a:ext cx="822960" cy="640080"/>
          </a:xfrm>
          <a:prstGeom prst="rect">
            <a:avLst/>
          </a:prstGeom>
          <a:solidFill>
            <a:srgbClr val="7C8598"/>
          </a:solidFill>
          <a:ln w="12700">
            <a:solidFill>
              <a:srgbClr val="4A526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0" y="288036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stone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931920" y="3529584"/>
            <a:ext cx="91" cy="905256"/>
          </a:xfrm>
          <a:prstGeom prst="line">
            <a:avLst/>
          </a:prstGeom>
          <a:noFill/>
          <a:ln w="38100">
            <a:solidFill>
              <a:srgbClr val="C8414C"/>
            </a:solidFill>
            <a:prstDash val="solid"/>
            <a:tailEnd type="triangle"/>
          </a:ln>
        </p:spPr>
      </p:sp>
      <p:sp>
        <p:nvSpPr>
          <p:cNvPr id="29" name="Text 27"/>
          <p:cNvSpPr/>
          <p:nvPr/>
        </p:nvSpPr>
        <p:spPr>
          <a:xfrm>
            <a:off x="3337560" y="42062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8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 flipV="1">
            <a:off x="4206240" y="3529584"/>
            <a:ext cx="91" cy="402336"/>
          </a:xfrm>
          <a:prstGeom prst="line">
            <a:avLst/>
          </a:prstGeom>
          <a:noFill/>
          <a:ln w="38100">
            <a:solidFill>
              <a:srgbClr val="2E5BD8"/>
            </a:solidFill>
            <a:prstDash val="solid"/>
            <a:tailEnd type="triangle"/>
          </a:ln>
        </p:spPr>
      </p:sp>
      <p:sp>
        <p:nvSpPr>
          <p:cNvPr id="31" name="Text 29"/>
          <p:cNvSpPr/>
          <p:nvPr/>
        </p:nvSpPr>
        <p:spPr>
          <a:xfrm>
            <a:off x="4279392" y="365760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E5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291840" y="457200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sinks: U &lt; W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217920" y="1188720"/>
            <a:ext cx="5562295" cy="2286000"/>
          </a:xfrm>
          <a:prstGeom prst="roundRect">
            <a:avLst>
              <a:gd name="adj" fmla="val 2400"/>
            </a:avLst>
          </a:prstGeom>
          <a:solidFill>
            <a:srgbClr val="F5F8FE"/>
          </a:solidFill>
          <a:ln w="9525">
            <a:solidFill>
              <a:srgbClr val="D5DC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82512" y="1280160"/>
            <a:ext cx="523311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 it float?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382512" y="1609344"/>
            <a:ext cx="5233111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15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object </a:t>
            </a:r>
            <a:r>
              <a:rPr lang="en-US" sz="1150" b="1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floats</a:t>
            </a:r>
            <a:r>
              <a:rPr lang="en-US" sz="115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if it can displace a weight of fluid </a:t>
            </a:r>
            <a:r>
              <a:rPr lang="en-US" sz="1150" b="1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 to its own weight</a:t>
            </a:r>
            <a:r>
              <a:rPr lang="en-US" sz="115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before it is fully submerged: upthrust = weight.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15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</a:t>
            </a:r>
            <a:r>
              <a:rPr lang="en-US" sz="1150" b="1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sinks</a:t>
            </a:r>
            <a:r>
              <a:rPr lang="en-US" sz="115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if its weight is greater than the upthrust when fully submerged.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15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densities: object </a:t>
            </a:r>
            <a:r>
              <a:rPr lang="en-US" sz="1150" b="1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dense</a:t>
            </a:r>
            <a:r>
              <a:rPr lang="en-US" sz="115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than the fluid → floats; </a:t>
            </a:r>
            <a:r>
              <a:rPr lang="en-US" sz="1150" b="1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denser</a:t>
            </a:r>
            <a:r>
              <a:rPr lang="en-US" sz="115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sinks.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15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steel ship floats because its hollow shape displaces a large volume of water, so its average density is less than water’s.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6217920" y="3611880"/>
            <a:ext cx="5562295" cy="2103120"/>
          </a:xfrm>
          <a:prstGeom prst="roundRect">
            <a:avLst>
              <a:gd name="adj" fmla="val 2609"/>
            </a:avLst>
          </a:prstGeom>
          <a:solidFill>
            <a:srgbClr val="FFF4E0"/>
          </a:solidFill>
          <a:ln w="9525">
            <a:solidFill>
              <a:srgbClr val="F1D9A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82512" y="3685032"/>
            <a:ext cx="523311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7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382512" y="3995928"/>
            <a:ext cx="5233111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boat of mass 1200 kg floats in fresh water (ρ = 1000 kg/m³, g = 10 N/kg). What volume of water does it displace?</a:t>
            </a:r>
            <a:endParaRPr lang="en-US" sz="1050" dirty="0"/>
          </a:p>
          <a:p>
            <a:pPr indent="0" marL="0">
              <a:spcBef>
                <a:spcPts val="200"/>
              </a:spcBef>
              <a:buNone/>
            </a:pPr>
            <a:r>
              <a:rPr lang="en-US" sz="1050" b="1" dirty="0">
                <a:solidFill>
                  <a:srgbClr val="2E5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Weight   </a:t>
            </a:r>
            <a:r>
              <a:rPr lang="en-US" sz="105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= 1200 × 10 = 12 000 N = upthrust</a:t>
            </a:r>
            <a:endParaRPr lang="en-US" sz="1050" dirty="0"/>
          </a:p>
          <a:p>
            <a:pPr indent="0" marL="0">
              <a:spcBef>
                <a:spcPts val="200"/>
              </a:spcBef>
              <a:buNone/>
            </a:pPr>
            <a:r>
              <a:rPr lang="en-US" sz="1050" b="1" dirty="0">
                <a:solidFill>
                  <a:srgbClr val="2E5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Mass of water   </a:t>
            </a:r>
            <a:r>
              <a:rPr lang="en-US" sz="105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displaced mass = 1200 kg</a:t>
            </a:r>
            <a:endParaRPr lang="en-US" sz="1050" dirty="0"/>
          </a:p>
          <a:p>
            <a:pPr indent="0" marL="0">
              <a:spcBef>
                <a:spcPts val="200"/>
              </a:spcBef>
              <a:buNone/>
            </a:pPr>
            <a:r>
              <a:rPr lang="en-US" sz="1050" b="1" dirty="0">
                <a:solidFill>
                  <a:srgbClr val="2E5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Volume   </a:t>
            </a:r>
            <a:r>
              <a:rPr lang="en-US" sz="105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= m ÷ ρ = 1200 ÷ 1000</a:t>
            </a:r>
            <a:endParaRPr lang="en-US" sz="1050" dirty="0"/>
          </a:p>
          <a:p>
            <a:pPr indent="0" marL="0">
              <a:spcBef>
                <a:spcPts val="200"/>
              </a:spcBef>
              <a:buNone/>
            </a:pPr>
            <a:r>
              <a:rPr lang="en-US" sz="1050" b="1" dirty="0">
                <a:solidFill>
                  <a:srgbClr val="2E5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Answer   </a:t>
            </a:r>
            <a:r>
              <a:rPr lang="en-US" sz="1050" b="1" dirty="0">
                <a:solidFill>
                  <a:srgbClr val="C8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= 1.2 m³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11480" y="5833872"/>
            <a:ext cx="11368735" cy="530352"/>
          </a:xfrm>
          <a:prstGeom prst="rect">
            <a:avLst/>
          </a:prstGeom>
          <a:solidFill>
            <a:srgbClr val="FFF4E0"/>
          </a:solidFill>
          <a:ln w="6350">
            <a:solidFill>
              <a:srgbClr val="F1D9A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11480" y="5833872"/>
            <a:ext cx="82296" cy="530352"/>
          </a:xfrm>
          <a:prstGeom prst="rect">
            <a:avLst/>
          </a:prstGeom>
          <a:solidFill>
            <a:srgbClr val="E39A2F"/>
          </a:solidFill>
          <a:ln w="12700">
            <a:solidFill>
              <a:srgbClr val="E39A2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0080" y="5833872"/>
            <a:ext cx="1100297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7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   </a:t>
            </a:r>
            <a:r>
              <a:rPr lang="en-US" sz="115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block has density 600 kg/m³. Will it float or sink in water (1000 kg/m³)? What fraction of it will be under water?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EEF2FA"/>
          </a:solidFill>
          <a:ln w="12700">
            <a:solidFill>
              <a:srgbClr val="EEF2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87552"/>
            <a:ext cx="12191695" cy="27432"/>
          </a:xfrm>
          <a:prstGeom prst="rect">
            <a:avLst/>
          </a:prstGeom>
          <a:solidFill>
            <a:srgbClr val="D3DCF0"/>
          </a:solidFill>
          <a:ln w="12700">
            <a:solidFill>
              <a:srgbClr val="D3DC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18872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Exam practice: recap 6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11480" y="6400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E5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Specification 15.15P–15.17P • upthrust, floating and sinking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6473952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Edexcel GCSE (9–1) Physics (1PH0) | Topic 15 Forces and matter | Higher &amp; Foundation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784080" y="647395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6  |  28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1480" y="1207008"/>
            <a:ext cx="11368735" cy="1594104"/>
          </a:xfrm>
          <a:prstGeom prst="roundRect">
            <a:avLst>
              <a:gd name="adj" fmla="val 2868"/>
            </a:avLst>
          </a:prstGeom>
          <a:solidFill>
            <a:srgbClr val="FFFFFF"/>
          </a:solidFill>
          <a:ln w="12700">
            <a:solidFill>
              <a:srgbClr val="D5DC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1207008"/>
            <a:ext cx="2103120" cy="292608"/>
          </a:xfrm>
          <a:prstGeom prst="rect">
            <a:avLst/>
          </a:prstGeom>
          <a:solidFill>
            <a:srgbClr val="F5A742"/>
          </a:solidFill>
          <a:ln w="12700">
            <a:solidFill>
              <a:srgbClr val="F5A7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20700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EXAM-STYLE QUESTION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606040" y="1216152"/>
            <a:ext cx="411480" cy="274320"/>
          </a:xfrm>
          <a:prstGeom prst="roundRect">
            <a:avLst>
              <a:gd name="adj" fmla="val 50000"/>
            </a:avLst>
          </a:prstGeom>
          <a:solidFill>
            <a:srgbClr val="C8414C"/>
          </a:solidFill>
          <a:ln w="12700">
            <a:solidFill>
              <a:srgbClr val="C841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06040" y="12161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1572768"/>
            <a:ext cx="9539935" cy="1155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why an object submerged in water experiences an </a:t>
            </a:r>
            <a:r>
              <a:rPr lang="en-US" sz="1250" b="1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upward</a:t>
            </a:r>
            <a:r>
              <a:rPr lang="en-US" sz="125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force.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0317175" y="2417064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5A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 marks]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11480" y="2947416"/>
            <a:ext cx="11368735" cy="1594104"/>
          </a:xfrm>
          <a:prstGeom prst="roundRect">
            <a:avLst>
              <a:gd name="adj" fmla="val 2868"/>
            </a:avLst>
          </a:prstGeom>
          <a:solidFill>
            <a:srgbClr val="FFFFFF"/>
          </a:solidFill>
          <a:ln w="12700">
            <a:solidFill>
              <a:srgbClr val="D5DC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" y="2947416"/>
            <a:ext cx="2103120" cy="292608"/>
          </a:xfrm>
          <a:prstGeom prst="rect">
            <a:avLst/>
          </a:prstGeom>
          <a:solidFill>
            <a:srgbClr val="F5A742"/>
          </a:solidFill>
          <a:ln w="12700">
            <a:solidFill>
              <a:srgbClr val="F5A74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2947416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EXAM-STYLE QUESTION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606040" y="2956560"/>
            <a:ext cx="411480" cy="274320"/>
          </a:xfrm>
          <a:prstGeom prst="roundRect">
            <a:avLst>
              <a:gd name="adj" fmla="val 50000"/>
            </a:avLst>
          </a:prstGeom>
          <a:solidFill>
            <a:srgbClr val="C8414C"/>
          </a:solidFill>
          <a:ln w="12700">
            <a:solidFill>
              <a:srgbClr val="C8414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606040" y="295656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0080" y="3313176"/>
            <a:ext cx="9539935" cy="1155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object of volume </a:t>
            </a:r>
            <a:r>
              <a:rPr lang="en-US" sz="1250" b="1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0.0050 m³</a:t>
            </a:r>
            <a:r>
              <a:rPr lang="en-US" sz="125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fully submerged in water (density 1000 kg/m³). Calculate the upthrust on it. g = 10 N/kg.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0317175" y="4157472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5A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 marks]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11480" y="4687824"/>
            <a:ext cx="11368735" cy="1594104"/>
          </a:xfrm>
          <a:prstGeom prst="roundRect">
            <a:avLst>
              <a:gd name="adj" fmla="val 2868"/>
            </a:avLst>
          </a:prstGeom>
          <a:solidFill>
            <a:srgbClr val="FFFFFF"/>
          </a:solidFill>
          <a:ln w="12700">
            <a:solidFill>
              <a:srgbClr val="D5DC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11480" y="4687824"/>
            <a:ext cx="2103120" cy="292608"/>
          </a:xfrm>
          <a:prstGeom prst="rect">
            <a:avLst/>
          </a:prstGeom>
          <a:solidFill>
            <a:srgbClr val="F5A742"/>
          </a:solidFill>
          <a:ln w="12700">
            <a:solidFill>
              <a:srgbClr val="F5A74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4687824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EXAM-STYLE QUESTION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606040" y="4696968"/>
            <a:ext cx="411480" cy="274320"/>
          </a:xfrm>
          <a:prstGeom prst="roundRect">
            <a:avLst>
              <a:gd name="adj" fmla="val 50000"/>
            </a:avLst>
          </a:prstGeom>
          <a:solidFill>
            <a:srgbClr val="C8414C"/>
          </a:solidFill>
          <a:ln w="12700">
            <a:solidFill>
              <a:srgbClr val="C8414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06040" y="469696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0080" y="5053584"/>
            <a:ext cx="9539935" cy="1155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solid steel block sinks in water but a steel ship floats. Explain why.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10317175" y="589788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5A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 marks]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EEF2FA"/>
          </a:solidFill>
          <a:ln w="12700">
            <a:solidFill>
              <a:srgbClr val="EEF2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87552"/>
            <a:ext cx="12191695" cy="27432"/>
          </a:xfrm>
          <a:prstGeom prst="rect">
            <a:avLst/>
          </a:prstGeom>
          <a:solidFill>
            <a:srgbClr val="D3DCF0"/>
          </a:solidFill>
          <a:ln w="12700">
            <a:solidFill>
              <a:srgbClr val="D3DC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18872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Summary: equations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11480" y="6400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E5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15 equations • RECALL = learn it; GIVEN = on the Physics Equations List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6473952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Edexcel GCSE (9–1) Physics (1PH0) | Topic 15 Forces and matter | Higher &amp; Foundation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784080" y="647395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Equations  |  29</a:t>
            </a:r>
            <a:endParaRPr lang="en-US" sz="10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234440"/>
          <a:ext cx="1136873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6172200"/>
                <a:gridCol w="1463040"/>
                <a:gridCol w="1356055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words (units)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 or given?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4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2340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F = k × x</a:t>
                      </a:r>
                      <a:endParaRPr lang="en-US" sz="1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force exerted on a spring (N) = spring constant (N/m) × extension (m)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8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E5B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2340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E = ½ × k × x²</a:t>
                      </a:r>
                      <a:endParaRPr lang="en-US" sz="1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energy transferred in stretching (J) = 0.5 × spring constant (N/m) × (extension (m))²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GIVEN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E5B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2340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p = F / A</a:t>
                      </a:r>
                      <a:endParaRPr lang="en-US" sz="1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pressure (Pa) = force normal to surface (N) / area of surface (m²)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8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E5B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15.11P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2340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P = h × ρ × g</a:t>
                      </a:r>
                      <a:endParaRPr lang="en-US" sz="1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pressure due to a column of liquid (Pa) = height of column (m) × density of liquid (kg/m³) × g (N/kg)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GIVEN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E5B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15.14P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2340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W = m × g</a:t>
                      </a:r>
                      <a:endParaRPr lang="en-US" sz="1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 (N) = mass (kg) × gravitational field strength (N/kg)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8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E5B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 2 / 15.16P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2340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ρ = m / V</a:t>
                      </a:r>
                      <a:endParaRPr lang="en-US" sz="1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density (kg/m³) = mass (kg) / volume (m³)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8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E5B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 14 / 15.17P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411480" y="5833872"/>
            <a:ext cx="11368735" cy="530352"/>
          </a:xfrm>
          <a:prstGeom prst="rect">
            <a:avLst/>
          </a:prstGeom>
          <a:solidFill>
            <a:srgbClr val="FFF4E0"/>
          </a:solidFill>
          <a:ln w="6350">
            <a:solidFill>
              <a:srgbClr val="F1D9A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11480" y="5833872"/>
            <a:ext cx="82296" cy="530352"/>
          </a:xfrm>
          <a:prstGeom prst="rect">
            <a:avLst/>
          </a:prstGeom>
          <a:solidFill>
            <a:srgbClr val="E39A2F"/>
          </a:solidFill>
          <a:ln w="12700">
            <a:solidFill>
              <a:srgbClr val="E39A2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0080" y="5833872"/>
            <a:ext cx="1100297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7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   </a:t>
            </a:r>
            <a:r>
              <a:rPr lang="en-US" sz="115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 the middle column. For each equation, say every quantity and its unit aloud.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EEF2FA"/>
          </a:solidFill>
          <a:ln w="12700">
            <a:solidFill>
              <a:srgbClr val="EEF2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87552"/>
            <a:ext cx="12191695" cy="27432"/>
          </a:xfrm>
          <a:prstGeom prst="rect">
            <a:avLst/>
          </a:prstGeom>
          <a:solidFill>
            <a:srgbClr val="D3DCF0"/>
          </a:solidFill>
          <a:ln w="12700">
            <a:solidFill>
              <a:srgbClr val="D3DC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18872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Summary: key words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11480" y="6400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E5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15 Forces and matter • learn these definitions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6473952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Edexcel GCSE (9–1) Physics (1PH0) | Topic 15 Forces and matter | Higher &amp; Foundation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784080" y="647395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words  |  30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1480" y="1188720"/>
            <a:ext cx="2739314" cy="1143000"/>
          </a:xfrm>
          <a:prstGeom prst="rect">
            <a:avLst/>
          </a:prstGeom>
          <a:solidFill>
            <a:srgbClr val="F5F8FE"/>
          </a:solidFill>
          <a:ln w="9525">
            <a:solidFill>
              <a:srgbClr val="D5DC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1188720"/>
            <a:ext cx="73152" cy="1143000"/>
          </a:xfrm>
          <a:prstGeom prst="rect">
            <a:avLst/>
          </a:prstGeom>
          <a:solidFill>
            <a:srgbClr val="2E5BD8"/>
          </a:solidFill>
          <a:ln w="12700">
            <a:solidFill>
              <a:srgbClr val="2E5B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6072" y="1243584"/>
            <a:ext cx="250157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Distortion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change in the shape of an object: stretching, compressing or bending.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87954" y="1188720"/>
            <a:ext cx="2739314" cy="1143000"/>
          </a:xfrm>
          <a:prstGeom prst="rect">
            <a:avLst/>
          </a:prstGeom>
          <a:solidFill>
            <a:srgbClr val="F5F8FE"/>
          </a:solidFill>
          <a:ln w="9525">
            <a:solidFill>
              <a:srgbClr val="D5DC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87954" y="1188720"/>
            <a:ext cx="73152" cy="1143000"/>
          </a:xfrm>
          <a:prstGeom prst="rect">
            <a:avLst/>
          </a:prstGeom>
          <a:solidFill>
            <a:srgbClr val="2E5BD8"/>
          </a:solidFill>
          <a:ln w="12700">
            <a:solidFill>
              <a:srgbClr val="2E5B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52546" y="1243584"/>
            <a:ext cx="250157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 distortion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object returns to its original shape when the forces are removed.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64428" y="1188720"/>
            <a:ext cx="2739314" cy="1143000"/>
          </a:xfrm>
          <a:prstGeom prst="rect">
            <a:avLst/>
          </a:prstGeom>
          <a:solidFill>
            <a:srgbClr val="F5F8FE"/>
          </a:solidFill>
          <a:ln w="9525">
            <a:solidFill>
              <a:srgbClr val="D5DC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64428" y="1188720"/>
            <a:ext cx="73152" cy="1143000"/>
          </a:xfrm>
          <a:prstGeom prst="rect">
            <a:avLst/>
          </a:prstGeom>
          <a:solidFill>
            <a:srgbClr val="2E5BD8"/>
          </a:solidFill>
          <a:ln w="12700">
            <a:solidFill>
              <a:srgbClr val="2E5B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29020" y="1243584"/>
            <a:ext cx="250157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Inelastic distortion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object does not return to its original shape; the change is permanent.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040901" y="1188720"/>
            <a:ext cx="2739314" cy="1143000"/>
          </a:xfrm>
          <a:prstGeom prst="rect">
            <a:avLst/>
          </a:prstGeom>
          <a:solidFill>
            <a:srgbClr val="F5F8FE"/>
          </a:solidFill>
          <a:ln w="9525">
            <a:solidFill>
              <a:srgbClr val="D5DC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40901" y="1188720"/>
            <a:ext cx="73152" cy="1143000"/>
          </a:xfrm>
          <a:prstGeom prst="rect">
            <a:avLst/>
          </a:prstGeom>
          <a:solidFill>
            <a:srgbClr val="2E5BD8"/>
          </a:solidFill>
          <a:ln w="12700">
            <a:solidFill>
              <a:srgbClr val="2E5B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05493" y="1243584"/>
            <a:ext cx="250157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in length of a spring: new length − original length (m).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11480" y="2441448"/>
            <a:ext cx="2739314" cy="1143000"/>
          </a:xfrm>
          <a:prstGeom prst="rect">
            <a:avLst/>
          </a:prstGeom>
          <a:solidFill>
            <a:srgbClr val="F5F8FE"/>
          </a:solidFill>
          <a:ln w="9525">
            <a:solidFill>
              <a:srgbClr val="D5DC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11480" y="2441448"/>
            <a:ext cx="73152" cy="1143000"/>
          </a:xfrm>
          <a:prstGeom prst="rect">
            <a:avLst/>
          </a:prstGeom>
          <a:solidFill>
            <a:srgbClr val="2E5BD8"/>
          </a:solidFill>
          <a:ln w="12700">
            <a:solidFill>
              <a:srgbClr val="2E5B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76072" y="2496312"/>
            <a:ext cx="250157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constant, k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 needed per metre of extension (N/m); a measure of stiffness.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287954" y="2441448"/>
            <a:ext cx="2739314" cy="1143000"/>
          </a:xfrm>
          <a:prstGeom prst="rect">
            <a:avLst/>
          </a:prstGeom>
          <a:solidFill>
            <a:srgbClr val="F5F8FE"/>
          </a:solidFill>
          <a:ln w="9525">
            <a:solidFill>
              <a:srgbClr val="D5DC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87954" y="2441448"/>
            <a:ext cx="73152" cy="1143000"/>
          </a:xfrm>
          <a:prstGeom prst="rect">
            <a:avLst/>
          </a:prstGeom>
          <a:solidFill>
            <a:srgbClr val="2E5BD8"/>
          </a:solidFill>
          <a:ln w="12700">
            <a:solidFill>
              <a:srgbClr val="2E5B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52546" y="2496312"/>
            <a:ext cx="250157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 of proportionality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beyond which force and extension are no longer proportional.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164428" y="2441448"/>
            <a:ext cx="2739314" cy="1143000"/>
          </a:xfrm>
          <a:prstGeom prst="rect">
            <a:avLst/>
          </a:prstGeom>
          <a:solidFill>
            <a:srgbClr val="F5F8FE"/>
          </a:solidFill>
          <a:ln w="9525">
            <a:solidFill>
              <a:srgbClr val="D5DCE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164428" y="2441448"/>
            <a:ext cx="73152" cy="1143000"/>
          </a:xfrm>
          <a:prstGeom prst="rect">
            <a:avLst/>
          </a:prstGeom>
          <a:solidFill>
            <a:srgbClr val="2E5BD8"/>
          </a:solidFill>
          <a:ln w="12700">
            <a:solidFill>
              <a:srgbClr val="2E5BD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29020" y="2496312"/>
            <a:ext cx="250157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relationship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Straight-line graph through the origin: F directly proportional to x.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9040901" y="2441448"/>
            <a:ext cx="2739314" cy="1143000"/>
          </a:xfrm>
          <a:prstGeom prst="rect">
            <a:avLst/>
          </a:prstGeom>
          <a:solidFill>
            <a:srgbClr val="F5F8FE"/>
          </a:solidFill>
          <a:ln w="9525">
            <a:solidFill>
              <a:srgbClr val="D5DCE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040901" y="2441448"/>
            <a:ext cx="73152" cy="1143000"/>
          </a:xfrm>
          <a:prstGeom prst="rect">
            <a:avLst/>
          </a:prstGeom>
          <a:solidFill>
            <a:srgbClr val="2E5BD8"/>
          </a:solidFill>
          <a:ln w="12700">
            <a:solidFill>
              <a:srgbClr val="2E5BD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205493" y="2496312"/>
            <a:ext cx="250157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 potential energy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stored in a stretched or compressed elastic object: E = ½kx².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11480" y="3694176"/>
            <a:ext cx="2739314" cy="1143000"/>
          </a:xfrm>
          <a:prstGeom prst="rect">
            <a:avLst/>
          </a:prstGeom>
          <a:solidFill>
            <a:srgbClr val="F5F8FE"/>
          </a:solidFill>
          <a:ln w="9525">
            <a:solidFill>
              <a:srgbClr val="D5DCE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11480" y="3694176"/>
            <a:ext cx="73152" cy="1143000"/>
          </a:xfrm>
          <a:prstGeom prst="rect">
            <a:avLst/>
          </a:prstGeom>
          <a:solidFill>
            <a:srgbClr val="2E5BD8"/>
          </a:solidFill>
          <a:ln w="12700">
            <a:solidFill>
              <a:srgbClr val="2E5BD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76072" y="3749040"/>
            <a:ext cx="250157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done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transferred by a force; for a spring, the area under the F–x graph.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287954" y="3694176"/>
            <a:ext cx="2739314" cy="1143000"/>
          </a:xfrm>
          <a:prstGeom prst="rect">
            <a:avLst/>
          </a:prstGeom>
          <a:solidFill>
            <a:srgbClr val="F5F8FE"/>
          </a:solidFill>
          <a:ln w="9525">
            <a:solidFill>
              <a:srgbClr val="D5DCE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287954" y="3694176"/>
            <a:ext cx="73152" cy="1143000"/>
          </a:xfrm>
          <a:prstGeom prst="rect">
            <a:avLst/>
          </a:prstGeom>
          <a:solidFill>
            <a:srgbClr val="2E5BD8"/>
          </a:solidFill>
          <a:ln w="12700">
            <a:solidFill>
              <a:srgbClr val="2E5BD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452546" y="3749040"/>
            <a:ext cx="250157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 normal to a surface per unit area: p = F/A, in pascals (Pa).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164428" y="3694176"/>
            <a:ext cx="2739314" cy="1143000"/>
          </a:xfrm>
          <a:prstGeom prst="rect">
            <a:avLst/>
          </a:prstGeom>
          <a:solidFill>
            <a:srgbClr val="F5F8FE"/>
          </a:solidFill>
          <a:ln w="9525">
            <a:solidFill>
              <a:srgbClr val="D5DCE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164428" y="3694176"/>
            <a:ext cx="73152" cy="1143000"/>
          </a:xfrm>
          <a:prstGeom prst="rect">
            <a:avLst/>
          </a:prstGeom>
          <a:solidFill>
            <a:srgbClr val="2E5BD8"/>
          </a:solidFill>
          <a:ln w="12700">
            <a:solidFill>
              <a:srgbClr val="2E5BD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29020" y="3749040"/>
            <a:ext cx="250157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Fluid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liquid or a gas; its pressure acts in all directions, normal to surfaces.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9040901" y="3694176"/>
            <a:ext cx="2739314" cy="1143000"/>
          </a:xfrm>
          <a:prstGeom prst="rect">
            <a:avLst/>
          </a:prstGeom>
          <a:solidFill>
            <a:srgbClr val="F5F8FE"/>
          </a:solidFill>
          <a:ln w="9525">
            <a:solidFill>
              <a:srgbClr val="D5DCE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040901" y="3694176"/>
            <a:ext cx="73152" cy="1143000"/>
          </a:xfrm>
          <a:prstGeom prst="rect">
            <a:avLst/>
          </a:prstGeom>
          <a:solidFill>
            <a:srgbClr val="2E5BD8"/>
          </a:solidFill>
          <a:ln w="12700">
            <a:solidFill>
              <a:srgbClr val="2E5BD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205493" y="3749040"/>
            <a:ext cx="250157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Atmospheric pressure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 due to the air above; about 1.0 × 10⁵ Pa at sea level; falls with height.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411480" y="4946904"/>
            <a:ext cx="2739314" cy="1143000"/>
          </a:xfrm>
          <a:prstGeom prst="rect">
            <a:avLst/>
          </a:prstGeom>
          <a:solidFill>
            <a:srgbClr val="F5F8FE"/>
          </a:solidFill>
          <a:ln w="9525">
            <a:solidFill>
              <a:srgbClr val="D5DCE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11480" y="4946904"/>
            <a:ext cx="73152" cy="1143000"/>
          </a:xfrm>
          <a:prstGeom prst="rect">
            <a:avLst/>
          </a:prstGeom>
          <a:solidFill>
            <a:srgbClr val="2E5BD8"/>
          </a:solidFill>
          <a:ln w="12700">
            <a:solidFill>
              <a:srgbClr val="2E5BD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76072" y="5001768"/>
            <a:ext cx="250157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Density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 per unit volume: ρ = m/V (kg/m³).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3287954" y="4946904"/>
            <a:ext cx="2739314" cy="1143000"/>
          </a:xfrm>
          <a:prstGeom prst="rect">
            <a:avLst/>
          </a:prstGeom>
          <a:solidFill>
            <a:srgbClr val="F5F8FE"/>
          </a:solidFill>
          <a:ln w="9525">
            <a:solidFill>
              <a:srgbClr val="D5DCEB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287954" y="4946904"/>
            <a:ext cx="73152" cy="1143000"/>
          </a:xfrm>
          <a:prstGeom prst="rect">
            <a:avLst/>
          </a:prstGeom>
          <a:solidFill>
            <a:srgbClr val="2E5BD8"/>
          </a:solidFill>
          <a:ln w="12700">
            <a:solidFill>
              <a:srgbClr val="2E5BD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452546" y="5001768"/>
            <a:ext cx="250157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Upthrust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Resultant upward force on an object in a fluid, due to greater pressure below.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6164428" y="4946904"/>
            <a:ext cx="2739314" cy="1143000"/>
          </a:xfrm>
          <a:prstGeom prst="rect">
            <a:avLst/>
          </a:prstGeom>
          <a:solidFill>
            <a:srgbClr val="F5F8FE"/>
          </a:solidFill>
          <a:ln w="9525">
            <a:solidFill>
              <a:srgbClr val="D5DCEB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164428" y="4946904"/>
            <a:ext cx="73152" cy="1143000"/>
          </a:xfrm>
          <a:prstGeom prst="rect">
            <a:avLst/>
          </a:prstGeom>
          <a:solidFill>
            <a:srgbClr val="2E5BD8"/>
          </a:solidFill>
          <a:ln w="12700">
            <a:solidFill>
              <a:srgbClr val="2E5BD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329020" y="5001768"/>
            <a:ext cx="250157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Displaced fluid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Fluid pushed aside by an object; its weight equals the upthrust.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9040901" y="4946904"/>
            <a:ext cx="2739314" cy="1143000"/>
          </a:xfrm>
          <a:prstGeom prst="rect">
            <a:avLst/>
          </a:prstGeom>
          <a:solidFill>
            <a:srgbClr val="F5F8FE"/>
          </a:solidFill>
          <a:ln w="9525">
            <a:solidFill>
              <a:srgbClr val="D5DCEB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9040901" y="4946904"/>
            <a:ext cx="73152" cy="1143000"/>
          </a:xfrm>
          <a:prstGeom prst="rect">
            <a:avLst/>
          </a:prstGeom>
          <a:solidFill>
            <a:srgbClr val="2E5BD8"/>
          </a:solidFill>
          <a:ln w="12700">
            <a:solidFill>
              <a:srgbClr val="2E5BD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205493" y="5001768"/>
            <a:ext cx="250157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Floating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Upthrust equals weight; the object is less dense than the fluid.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EEF2FA"/>
          </a:solidFill>
          <a:ln w="12700">
            <a:solidFill>
              <a:srgbClr val="EEF2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87552"/>
            <a:ext cx="12191695" cy="27432"/>
          </a:xfrm>
          <a:prstGeom prst="rect">
            <a:avLst/>
          </a:prstGeom>
          <a:solidFill>
            <a:srgbClr val="D3DCF0"/>
          </a:solidFill>
          <a:ln w="12700">
            <a:solidFill>
              <a:srgbClr val="D3DC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18872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 exam question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11480" y="6400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E5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Specification 15.2–15.6, 15.16P • answer every part • 13 marks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1323015" y="292608"/>
            <a:ext cx="457200" cy="274320"/>
          </a:xfrm>
          <a:prstGeom prst="roundRect">
            <a:avLst>
              <a:gd name="adj" fmla="val 50000"/>
            </a:avLst>
          </a:prstGeom>
          <a:solidFill>
            <a:srgbClr val="C8414C"/>
          </a:solidFill>
          <a:ln w="12700">
            <a:solidFill>
              <a:srgbClr val="C841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323015" y="2926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6473952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Edexcel GCSE (9–1) Physics (1PH0) | Topic 15 Forces and matter | Higher &amp; Foundation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784080" y="647395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question  |  31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1143000"/>
            <a:ext cx="113687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student investigates a spring. The spring’s length is </a:t>
            </a:r>
            <a:r>
              <a:rPr lang="en-US" sz="1200" b="1" i="1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8.0 cm</a:t>
            </a:r>
            <a:r>
              <a:rPr lang="en-US" sz="1200" i="1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 no load. When a weight of </a:t>
            </a:r>
            <a:r>
              <a:rPr lang="en-US" sz="1200" b="1" i="1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 N</a:t>
            </a:r>
            <a:r>
              <a:rPr lang="en-US" sz="1200" i="1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hangs from it, its length is </a:t>
            </a:r>
            <a:r>
              <a:rPr lang="en-US" sz="1200" b="1" i="1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20.0 cm</a:t>
            </a:r>
            <a:r>
              <a:rPr lang="en-US" sz="1200" i="1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The spring does not pass its limit of proportionality.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11480" y="1719072"/>
            <a:ext cx="5570068" cy="1441704"/>
          </a:xfrm>
          <a:prstGeom prst="roundRect">
            <a:avLst>
              <a:gd name="adj" fmla="val 3171"/>
            </a:avLst>
          </a:prstGeom>
          <a:solidFill>
            <a:srgbClr val="F5F8FE"/>
          </a:solidFill>
          <a:ln w="9525">
            <a:solidFill>
              <a:srgbClr val="D5DC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1792224"/>
            <a:ext cx="5295748" cy="1075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E5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 </a:t>
            </a:r>
            <a:r>
              <a:rPr lang="en-US" sz="120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type of distortion in which the spring returns to its original length when the weight is removed.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18508" y="284988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5A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 mark]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11480" y="3270504"/>
            <a:ext cx="5570068" cy="1441704"/>
          </a:xfrm>
          <a:prstGeom prst="roundRect">
            <a:avLst>
              <a:gd name="adj" fmla="val 3171"/>
            </a:avLst>
          </a:prstGeom>
          <a:solidFill>
            <a:srgbClr val="FFFFFF"/>
          </a:solidFill>
          <a:ln w="9525">
            <a:solidFill>
              <a:srgbClr val="D5DC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343656"/>
            <a:ext cx="5295748" cy="1075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E5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(b)  </a:t>
            </a:r>
            <a:r>
              <a:rPr lang="en-US" sz="120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the extension of the spring in metres.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18508" y="4401312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5A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 mark]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11480" y="4821936"/>
            <a:ext cx="5570068" cy="1441704"/>
          </a:xfrm>
          <a:prstGeom prst="roundRect">
            <a:avLst>
              <a:gd name="adj" fmla="val 3171"/>
            </a:avLst>
          </a:prstGeom>
          <a:solidFill>
            <a:srgbClr val="F5F8FE"/>
          </a:solidFill>
          <a:ln w="9525">
            <a:solidFill>
              <a:srgbClr val="D5DC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4895088"/>
            <a:ext cx="5295748" cy="1075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E5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(c)  </a:t>
            </a:r>
            <a:r>
              <a:rPr lang="en-US" sz="120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the spring constant of the spring.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18508" y="5952744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5A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 marks]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10148" y="1719072"/>
            <a:ext cx="5570068" cy="1201420"/>
          </a:xfrm>
          <a:prstGeom prst="roundRect">
            <a:avLst>
              <a:gd name="adj" fmla="val 3805"/>
            </a:avLst>
          </a:prstGeom>
          <a:solidFill>
            <a:srgbClr val="F5F8FE"/>
          </a:solidFill>
          <a:ln w="9525">
            <a:solidFill>
              <a:srgbClr val="D5DC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47308" y="1792224"/>
            <a:ext cx="5295748" cy="835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E5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(d)  </a:t>
            </a:r>
            <a:r>
              <a:rPr lang="en-US" sz="120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the energy stored in the spring. Use the equation E = ½ × k × x².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317175" y="2609596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5A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 marks]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210148" y="3030220"/>
            <a:ext cx="5570068" cy="1501775"/>
          </a:xfrm>
          <a:prstGeom prst="roundRect">
            <a:avLst>
              <a:gd name="adj" fmla="val 3044"/>
            </a:avLst>
          </a:prstGeom>
          <a:solidFill>
            <a:srgbClr val="FFFFFF"/>
          </a:solidFill>
          <a:ln w="9525">
            <a:solidFill>
              <a:srgbClr val="D5DC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47308" y="3103372"/>
            <a:ext cx="5295748" cy="11360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E5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(e)  </a:t>
            </a:r>
            <a:r>
              <a:rPr lang="en-US" sz="120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student adds more weights and plots a force–extension graph. Describe how she could use the graph to find the spring constant and to tell whether the spring has gone past its limit of proportionality.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317175" y="4221099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5A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 marks]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210148" y="4641723"/>
            <a:ext cx="5570068" cy="1621917"/>
          </a:xfrm>
          <a:prstGeom prst="roundRect">
            <a:avLst>
              <a:gd name="adj" fmla="val 2819"/>
            </a:avLst>
          </a:prstGeom>
          <a:solidFill>
            <a:srgbClr val="F5F8FE"/>
          </a:solidFill>
          <a:ln w="9525">
            <a:solidFill>
              <a:srgbClr val="D5DC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47308" y="4714875"/>
            <a:ext cx="4792828" cy="12561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E5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(f)  </a:t>
            </a:r>
            <a:r>
              <a:rPr lang="en-US" sz="120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(Physics only) The 3.0 N weight has a volume of 4.0 × 10⁻⁵ m³. It is lowered until it is fully under water while still hanging from the spring. Water density = 1000 kg/m³, g = 10 N/kg. Calculate the new extension of the spring.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11231575" y="4714875"/>
            <a:ext cx="411480" cy="274320"/>
          </a:xfrm>
          <a:prstGeom prst="roundRect">
            <a:avLst>
              <a:gd name="adj" fmla="val 50000"/>
            </a:avLst>
          </a:prstGeom>
          <a:solidFill>
            <a:srgbClr val="C8414C"/>
          </a:solidFill>
          <a:ln w="12700">
            <a:solidFill>
              <a:srgbClr val="C8414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1231575" y="4714875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0317175" y="5952744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5A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 marks]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448495" y="6236208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B87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13 marks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3A63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1097280"/>
            <a:ext cx="5029200" cy="5029200"/>
          </a:xfrm>
          <a:prstGeom prst="ellipse">
            <a:avLst/>
          </a:prstGeom>
          <a:solidFill>
            <a:srgbClr val="2B4C9B"/>
          </a:solidFill>
          <a:ln w="12700">
            <a:solidFill>
              <a:srgbClr val="2B4C9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2148840"/>
            <a:ext cx="1463040" cy="14630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-2700000">
            <a:off x="1143000" y="2779776"/>
            <a:ext cx="914400" cy="201168"/>
          </a:xfrm>
          <a:prstGeom prst="rect">
            <a:avLst/>
          </a:prstGeom>
          <a:solidFill>
            <a:srgbClr val="3A63C9"/>
          </a:solidFill>
          <a:ln w="12700">
            <a:solidFill>
              <a:srgbClr val="3A63C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3500000">
            <a:off x="1161288" y="3044952"/>
            <a:ext cx="201168" cy="219456"/>
          </a:xfrm>
          <a:prstGeom prst="triangle">
            <a:avLst/>
          </a:prstGeom>
          <a:solidFill>
            <a:srgbClr val="F5A742"/>
          </a:solidFill>
          <a:ln w="12700">
            <a:solidFill>
              <a:srgbClr val="F5A74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-2700000">
            <a:off x="1947672" y="2377440"/>
            <a:ext cx="182880" cy="201168"/>
          </a:xfrm>
          <a:prstGeom prst="rect">
            <a:avLst/>
          </a:prstGeom>
          <a:solidFill>
            <a:srgbClr val="C8414C"/>
          </a:solidFill>
          <a:ln w="12700">
            <a:solidFill>
              <a:srgbClr val="C841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0" y="210312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2743200" y="31089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1E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15 Forces and matter • 17 marks • about 30 minutes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11480" y="6473952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Edexcel GCSE (9–1) Physics (1PH0) | Topic 15 Forces and matter | Higher &amp; Foundation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784080" y="647395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  |  32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EEF2FA"/>
          </a:solidFill>
          <a:ln w="12700">
            <a:solidFill>
              <a:srgbClr val="EEF2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87552"/>
            <a:ext cx="12191695" cy="27432"/>
          </a:xfrm>
          <a:prstGeom prst="rect">
            <a:avLst/>
          </a:prstGeom>
          <a:solidFill>
            <a:srgbClr val="D3DCF0"/>
          </a:solidFill>
          <a:ln w="12700">
            <a:solidFill>
              <a:srgbClr val="D3DC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18872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11480" y="6400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E5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in full sentences • show all working • 17 marks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1323015" y="292608"/>
            <a:ext cx="457200" cy="274320"/>
          </a:xfrm>
          <a:prstGeom prst="roundRect">
            <a:avLst>
              <a:gd name="adj" fmla="val 50000"/>
            </a:avLst>
          </a:prstGeom>
          <a:solidFill>
            <a:srgbClr val="C8414C"/>
          </a:solidFill>
          <a:ln w="12700">
            <a:solidFill>
              <a:srgbClr val="C841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323015" y="2926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6473952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Edexcel GCSE (9–1) Physics (1PH0) | Topic 15 Forces and matter | Higher &amp; Foundation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784080" y="647395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  |  33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1115568"/>
            <a:ext cx="1136873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Science (1SC0) students: answer Q1–Q3 and Q7 only (11 marks).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11480" y="1517904"/>
            <a:ext cx="5570068" cy="1120140"/>
          </a:xfrm>
          <a:prstGeom prst="roundRect">
            <a:avLst>
              <a:gd name="adj" fmla="val 4082"/>
            </a:avLst>
          </a:prstGeom>
          <a:solidFill>
            <a:srgbClr val="F5F8FE"/>
          </a:solidFill>
          <a:ln w="9525">
            <a:solidFill>
              <a:srgbClr val="D5DC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1591056"/>
            <a:ext cx="5295748" cy="7726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E5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</a:t>
            </a:r>
            <a:r>
              <a:rPr lang="en-US" sz="115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down the equation that links force, spring constant and extension.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518508" y="2345436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5A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 mark]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11480" y="2747772"/>
            <a:ext cx="5570068" cy="1120140"/>
          </a:xfrm>
          <a:prstGeom prst="roundRect">
            <a:avLst>
              <a:gd name="adj" fmla="val 4082"/>
            </a:avLst>
          </a:prstGeom>
          <a:solidFill>
            <a:srgbClr val="F5F8FE"/>
          </a:solidFill>
          <a:ln w="9525">
            <a:solidFill>
              <a:srgbClr val="D5DC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820924"/>
            <a:ext cx="5295748" cy="7726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E5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</a:t>
            </a:r>
            <a:r>
              <a:rPr lang="en-US" sz="115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spring has a spring constant of </a:t>
            </a:r>
            <a:r>
              <a:rPr lang="en-US" sz="1150" b="1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N/m</a:t>
            </a:r>
            <a:r>
              <a:rPr lang="en-US" sz="115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Calculate the force needed to stretch it by </a:t>
            </a:r>
            <a:r>
              <a:rPr lang="en-US" sz="1150" b="1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5.0 cm</a:t>
            </a:r>
            <a:r>
              <a:rPr lang="en-US" sz="115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18508" y="3575304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5A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 marks]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11480" y="3977640"/>
            <a:ext cx="5570068" cy="1120140"/>
          </a:xfrm>
          <a:prstGeom prst="roundRect">
            <a:avLst>
              <a:gd name="adj" fmla="val 4082"/>
            </a:avLst>
          </a:prstGeom>
          <a:solidFill>
            <a:srgbClr val="F5F8FE"/>
          </a:solidFill>
          <a:ln w="9525">
            <a:solidFill>
              <a:srgbClr val="D5DC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4050792"/>
            <a:ext cx="5295748" cy="7726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E5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</a:t>
            </a:r>
            <a:r>
              <a:rPr lang="en-US" sz="115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the energy stored in the spring in Q2. Use E = ½ × k × x².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518508" y="4805172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5A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 marks]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11480" y="5207508"/>
            <a:ext cx="5570068" cy="1120140"/>
          </a:xfrm>
          <a:prstGeom prst="roundRect">
            <a:avLst>
              <a:gd name="adj" fmla="val 4082"/>
            </a:avLst>
          </a:prstGeom>
          <a:solidFill>
            <a:srgbClr val="F5F8FE"/>
          </a:solidFill>
          <a:ln w="9525">
            <a:solidFill>
              <a:srgbClr val="D5DC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5280660"/>
            <a:ext cx="5295748" cy="7726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E5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</a:t>
            </a:r>
            <a:r>
              <a:rPr lang="en-US" sz="115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(Physics only) A box of weight </a:t>
            </a:r>
            <a:r>
              <a:rPr lang="en-US" sz="1150" b="1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1200 N</a:t>
            </a:r>
            <a:r>
              <a:rPr lang="en-US" sz="115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rests on a base of area </a:t>
            </a:r>
            <a:r>
              <a:rPr lang="en-US" sz="1150" b="1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0.60 m²</a:t>
            </a:r>
            <a:r>
              <a:rPr lang="en-US" sz="115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Calculate the pressure on the floor.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518508" y="6035040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5A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 marks]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210148" y="1517904"/>
            <a:ext cx="5570068" cy="1067509"/>
          </a:xfrm>
          <a:prstGeom prst="roundRect">
            <a:avLst>
              <a:gd name="adj" fmla="val 4283"/>
            </a:avLst>
          </a:prstGeom>
          <a:solidFill>
            <a:srgbClr val="F5F8FE"/>
          </a:solidFill>
          <a:ln w="9525">
            <a:solidFill>
              <a:srgbClr val="D5DC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47308" y="1591056"/>
            <a:ext cx="4792828" cy="7200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E5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</a:t>
            </a:r>
            <a:r>
              <a:rPr lang="en-US" sz="115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(Physics only) Calculate the pressure due to the water at the bottom of a pool </a:t>
            </a:r>
            <a:r>
              <a:rPr lang="en-US" sz="1150" b="1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 m</a:t>
            </a:r>
            <a:r>
              <a:rPr lang="en-US" sz="115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deep. ρ = 1000 kg/m³, g = 10 N/kg.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11231575" y="1591056"/>
            <a:ext cx="411480" cy="274320"/>
          </a:xfrm>
          <a:prstGeom prst="roundRect">
            <a:avLst>
              <a:gd name="adj" fmla="val 50000"/>
            </a:avLst>
          </a:prstGeom>
          <a:solidFill>
            <a:srgbClr val="C8414C"/>
          </a:solidFill>
          <a:ln w="12700">
            <a:solidFill>
              <a:srgbClr val="C8414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1231575" y="159105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0317175" y="2292805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5A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 marks]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210148" y="2695141"/>
            <a:ext cx="5570068" cy="1067509"/>
          </a:xfrm>
          <a:prstGeom prst="roundRect">
            <a:avLst>
              <a:gd name="adj" fmla="val 4283"/>
            </a:avLst>
          </a:prstGeom>
          <a:solidFill>
            <a:srgbClr val="F5F8FE"/>
          </a:solidFill>
          <a:ln w="9525">
            <a:solidFill>
              <a:srgbClr val="D5DC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47308" y="2768293"/>
            <a:ext cx="4792828" cy="7200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E5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</a:t>
            </a:r>
            <a:r>
              <a:rPr lang="en-US" sz="115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(Physics only) A helium balloon rises when it is let go. Use the ideas of upthrust and weight to explain why.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11231575" y="2768293"/>
            <a:ext cx="411480" cy="274320"/>
          </a:xfrm>
          <a:prstGeom prst="roundRect">
            <a:avLst>
              <a:gd name="adj" fmla="val 50000"/>
            </a:avLst>
          </a:prstGeom>
          <a:solidFill>
            <a:srgbClr val="C8414C"/>
          </a:solidFill>
          <a:ln w="12700">
            <a:solidFill>
              <a:srgbClr val="C8414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1231575" y="2768293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0317175" y="3470042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5A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 marks]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210148" y="3872378"/>
            <a:ext cx="5570068" cy="2455270"/>
          </a:xfrm>
          <a:prstGeom prst="roundRect">
            <a:avLst>
              <a:gd name="adj" fmla="val 1862"/>
            </a:avLst>
          </a:prstGeom>
          <a:solidFill>
            <a:srgbClr val="FFF4E0"/>
          </a:solidFill>
          <a:ln w="9525">
            <a:solidFill>
              <a:srgbClr val="F1D9A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47308" y="3945530"/>
            <a:ext cx="5295748" cy="2107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E5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 </a:t>
            </a:r>
            <a:r>
              <a:rPr lang="en-US" sz="1150" dirty="0">
                <a:solidFill>
                  <a:srgbClr val="26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how to carry out an investigation to find the spring constant of a spring and the work done in stretching it. Include how you would use your results.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10317175" y="6035040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5A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 marks]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Edexcel 1PH0 Topic 15 Forces and matter</dc:title>
  <dc:subject>PptxGenJS Presentation</dc:subject>
  <dc:creator>GCSE Physics</dc:creator>
  <cp:lastModifiedBy>GCSE Physics</cp:lastModifiedBy>
  <cp:revision>1</cp:revision>
  <dcterms:created xsi:type="dcterms:W3CDTF">2026-10-25T22:25:54Z</dcterms:created>
  <dcterms:modified xsi:type="dcterms:W3CDTF">2026-10-25T22:25:54Z</dcterms:modified>
</cp:coreProperties>
</file>