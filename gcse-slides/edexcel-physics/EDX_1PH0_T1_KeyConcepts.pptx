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1 Key concepts of physics is a maths-skills toolkit: SI units (1.1), prefixes (1.2), converting units (1.3), significant figures and standard form (1.4). It is examined on BOTH papers and is identical in Combined Science 1SC0. There are no H statements, no equations of its own and no Core Practical. The measurement slides (19–21) cover the Working Scientifically / practical skills in the specification, which are assessed throughout both papers. See SPEC_T1.md for confidence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HT pills: Topic 1 has no Higher-only statements. WS = Working Scientifically section of the specification (codes as in the DfE subject content; see SPEC_T1.md). These are skills assessed across both papers, not Topic 1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Physics-only statements: none (Topic 1 1.1–1.4 is shared with 1SC0). Higher-only (H): none. Core Practical: none.
The measurement slides (reading scales, resolution, means and anomalies, accuracy and precision, errors) come from the Working Scientifically section of the spec and the maths skills appendix, not from Topic 1 itself. Orders of magnitude is Working Scientifically 4c (“use prefixes and powers of ten for orders of magnitude”) and maths skill 2h. See SPEC_T1.md.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Newton (N); joule (J).
2. 150 ÷ 30 = 5 m/s.
3. 3400; 0.0034.
4. 3.5 (1 d.p.); 3.5 (2 s.f.). Point out that they happen to agree here but usually do not, e.g. 0.03476 → 0.0 (1 d.p.) but 0.035 (2 s.f.).
5. 100; 1000; 10 000.
6. 60 × 60 = 3600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kilogram, kg (b) ampere, A (c) kelvin, K.
Common errors: writing “amps” as the symbol (it is A), and thinking the gram is the SI unit of mass. Degrees Celsius are allowed for temperatures in practical work, but the SI unit is the kelvin (Topic 14 links °C and K).
Spec 1.1 refers to the list of SI units in the specification appendix (“SI units in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 W = 1 J/s (one joule per second). 1 N = 1 kg × 1 m/s² = 1 kg m/s².
The equations on the tiles come from later topics (Topics 2, 8, 10, 15); students only need to recall the unit names and symbols here. Stretch: show 1 J = 1 kg m²/s² (from E = F ×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[3]: (i) kilogram / kg (1); (ii) kelvin / K (1); (iii) watt / W (1). Do not accept gram or °C.
Q2 [2]: N/m² (1); pascal / Pa (1).
Q3 [2]: The hour is not the SI unit of time / kilometre has a prefix (SI uses metres and seconds) (1); m/s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2.4 × 10⁹ Hz (b) 5.2 × 10⁻⁷ m (c) 2 × 10⁶ W.
Ladder drawn to scale: 0.2 in per power of ten, so centi and milli rungs sit close together (one power apart). Edexcel 1.2 lists exactly these seven prefixes; others (tera, pico) are not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 = 0.40 × 10⁻³ A, R = 15 × 10³ Ω; V = I × R = 0.40 × 10⁻³ × 15 × 10³ = 6.0 V. (The milli and kilo cancel.)
Kettle: 2200 × 180 = 396 000 J (asserted in node); data given to 2 s.f., so 4.0 × 10⁵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54 ÷ 3.6 = 15 m/s; 15 × 60 = 900 s; d = s × t (Topic 2, RECALL) = 15 × 900 = 13 500 m (1.35 × 10⁴ m).
Common error: multiplying by 3.6 instead of dividing. Check: 1 m/s = 3.6 km/h, so the number in m/s is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[2]: 2.5 × 3600 = 9000 s (1); 0.065 A = 65 mA (1).
Q2 [3]: t = 4.5 × 60 = 270 s (1); E = 800 × 270 (1); = 216 000 J / 2.2 × 10⁵ J (1). Answer 3600 (no time conversion) scores 1 for substitution only if the method is shown.
Q3 [2]: 108 × 1000 ÷ 3600 or 108 ÷ 3.6 (1); = 30 m/s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V = 200 ÷ 10⁶ = 2.0 × 10⁻⁴ m³; m = 0.540 kg; ρ = 0.540 ÷ 2.0 × 10⁻⁴ = 2 700 kg/m³ (aluminium).
Common error: dividing cm² by 100 or cm³ by 100. The cube is drawn in perspective and not to scale; the square grid shows 100 squares of 10 cm × 10 cm = 100 cm² each.
p = F ÷ A is physics-only (15.11P); Combined classes can use the density example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 = 5.0 × 7200 = 36 000 J (3.6 × 10⁴ J); in kWh: 0.0050 kW × 2.0 h = 0.010 kWh.
Note for teachers: “kWh” is not named in the 1PH0 Topic 1 statements; it is included as a unit-conversion example under 1.3 (convert between different units) and as a link to power ratings in Topic 10. Treat it as useful practice rather than a named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6.4 × 10⁶ m (b) 4.5 × 10⁻⁵ s (c) 0.0021 A.
Common errors: writing 64 × 10⁵ (A must be less than 10); typing “× 10 ^ 8” on a calculator without brackets; reading a calculator display 5.2E-07 as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7 marks)
Q1 [2]: 3.6 × 10⁶ J (1); 1.5 × 10⁻³ m² (1).
Q2 [3]: A = 20 ÷ 10⁴ = 2.0 × 10⁻³ m² (1); p = 60 ÷ 2.0 × 10⁻³ (1); = 30 000 Pa / 3.0 × 10⁴ Pa (1).
Q3 [2]: 0.150 kW × 4.0 h = 0.60 kWh (1); 0.60 × 3.6 × 10⁶ = 2.16 × 10⁶ J / 2.2 × 10⁶ J (1). Allow 150 × 14 400 = 2 160 000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 9.58 = 10.438… m/s → 10.4 m/s (3 s.f.) → 10 m/s (2 s.f.).
Examiner reports for 1PH0 note candidates confusing significant figures with decimal places. Edexcel usually accepts 2 or 3 s.f. unless the question states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1.3 × 10⁷ ÷ 1.7 = 7.6 × 10⁶ ≈ 10⁷, so about 7 orders of magnitude.
Worked example checked in node: 10⁻⁴ ÷ 10⁻¹⁰ = 1e+6.
Positions on the log scale use log₁₀ of each size: nucleus 1.6 × 10⁻¹⁵ m, atom 10⁻¹⁰ m, virus 10⁻⁷ m, red blood cell 8 × 10⁻⁶ m, person 1.7 m, Everest 8.8 × 10³ m, Earth 1.3 × 10⁷ m, Earth–Sun 1.5 × 10¹¹ m, Milky Way about 10²¹ m. Orders of magnitude are in the Working Scientifically section (4c) and maths skills (2h), not a numbered Topic 1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7 marks)
Q1 [1]: 3 (1).
Q2 [3]: R = 9.0 ÷ 0.26 (1); = 34.6… Ω (1); = 35 Ω to 2 s.f. (1).
Q3 [3]: 0.1 mm = 1 × 10⁻⁴ m and 0.1 nm = 1 × 10⁻¹⁰ m (1); 10⁻⁴ ÷ 10⁻¹⁰ (1); = 10⁶ / one million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4.3 − 1.0 = 3.3 cm (resolution 1 mm = 0.1 cm). B: 36 cm³ (resolution 1 cm³). C: 23 °C (resolution 1 °C). D: 0.65 A (resolution 0.05 A).
Practical skills: this is the Working Scientifically section (2f, apparatus and techniques) and is examined throughout both papers. It is not a numbered Topic 1 statement. Drawn readings checked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Human reaction time (about 0.2 s) when starting and stopping the watch is much larger than the 0.01 s resolution, so the real uncertainty is bigger. Improve with light gates and a data logger, or time a longer event / several repeats.
These are Working Scientifically skills (2f measurements, 3c analysis) and maths skill 2b (arithmetic means), assessed across both papers; they are not Topic 1 statements. Mean and half-range checked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Systematic (the same shift every time). The readings can still be precise (close together) but they are not accurate.
Top-right target: tight group shifted from the centre = precise but not accurate (systematic error). Bottom-left: spread around the centre so the mean is near the true value = accurate on average but not precise (random error). These are Working Scientifically 3g skills, not Topic 1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7 marks)
Q1 [2]: Read the bottom of the meniscus (1); with eye level with the surface / cylinder on a flat surface, to avoid parallax (1).
Q2 [2]: 5.9 cm is the anomaly (1); mean = (4.2 + 4.4 + 4.3) ÷ 3 = 4.3 cm (1).
Q3 [3]: Random: unpredictable scatter / readings vary either side of the true value; reduced by repeating and taking a mean (1). Systematic: all readings shifted by the same amount in the same direction (1). Examples, one each (1): random, e.g. reaction time with a stopwatch / reading a scale by eye; systematic, e.g. zero error / wrongly calibrated 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self-check against the table. Every equation used here is on the RECALL list (none is on the Physics Equations List). E = P × t is the rearranged form of P = E ÷ t. p = F ÷ A is physics only (15.11P). Topic 1 itself introduces no equations; see SPEC_T1.md.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 No terms are Higher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second / s (1); watt / W (1).
(b) [1]: 2.0 × 10³ W (1).
(c) [3]: t = 150 s (1); E = 2000 × 150 (1); = 300 000 J / 3.0 × 10⁵ J (1). ECF from (b).
(d) [2]: 300 000 ÷ 3.6 × 10⁶ (1); = 0.083 kWh (1). Allow 0.0833. Alternative: 2.0 kW × (150 ÷ 3600) h. ECF from (c).
(e) [3]: 175 s identified as anomaly (1); (152 + 149 + 151) ÷ 3 = 150.67 (1); = 151 s (3 s.f., to match the data) (1).
(f) [2]: Systematic error / zero error (1); every reading is too high by the same amount, so the results are not accurate (but can still be precise); repeating does not remove 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[2]: (i) 5.2 × 10⁻⁴ m (1); (ii) 4.8 × 10⁶ W (1).
2 [2]: (i) 36 ÷ 3.6 = 10 m/s (1); (ii) 0.25 × 3600 = 900 s (1).
3 [3]: I = 0.120 A and t = 300 s (1); Q = 0.120 × 300 (1); = 36 C (1).
4 [4]: V = 4.0 × 5.0 × 10 = 200 cm³ (1); = 2.0 × 10⁻⁴ m³ (1); ρ = 1.6 ÷ 2.0 × 10⁻⁴ (1); = 8000 kg/m³ (1). Alternative: convert each length to m first (0.040 × 0.050 × 0.10).
5 [6]: Levels-based mark scheme (6 marks). Answers are marked holistically; use the indicative content below.
Level 0 (0 marks): no rewardable material.
Level 1 (1–2 marks): demonstrates elements of physics understanding, some of which is inaccurate; understanding of scientific ideas lacks detail; presents an explanation with some structure and coherence.
Level 2 (3–4 marks): demonstrates physics understanding which is mostly relevant but may include some inaccuracies; understanding of scientific ideas is not fully detailed and/or developed; presents an explanation that has a structure which is mostly clear, coherent and logical.
Level 3 (5–6 marks): demonstrates accurate and relevant physics understanding throughout; understanding of the scientific ideas is detailed and fully developed; presents an explanation that has a well-developed structure which is clear, coherent and logical.
Indicative content:
 • One sheet (about 0.1 mm) is thinner than the ruler’s resolution of 1 mm, so it cannot be measured directly.
 • Measure the thickness of a large stack, e.g. 100 sheets, squeezed flat; count the sheets.
 • Thickness of one sheet = stack thickness ÷ number of sheets (e.g. 9.0 mm ÷ 100 = 0.090 mm).
 • A thicker stack makes the 1 mm resolution a smaller fraction of the reading → lower percentage uncertainty / more accurate.
 • Read the ruler at eye level / perpendicular to avoid parallax; place the zero mark (not the worn end) at the bottom of the stack to avoid a zero error.
 • Repeat with different stacks or at different places; identify any anomalies and calculate a mean → reduces random error.
 • Repeat readings that are close together show the result is precise.
 • Possible use of a micrometer or vernier callipers (higher resolution) as an improvement.
Level 3 responses link the stack method to resolution AND address both accuracy (zero error, parallax) and precision (repeats,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73152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PEARSON EDEXCEL GCSE PHYSICS (1PH0)</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Topic 1  Key Concepts of Physics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SI units, prefixes, converting units, standard form and significant figures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SI units  •  Prefixes  •  Converting units  •  Standard form  •  Significant figures  •  Measurement</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1.1–1.4 • no Core Practical: measurement skills instead</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statements in Topic 1</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Topic 1 of 15 • assessed on Papers 1 and 2</a:t>
            </a:r>
            <a:endParaRPr lang="en-US" sz="1400" dirty="0"/>
          </a:p>
        </p:txBody>
      </p:sp>
      <p:sp>
        <p:nvSpPr>
          <p:cNvPr id="19" name="Text 17"/>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Pearson Edexcel GCSE (9–1) Physics 1PH0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1.1–1.4 plus Working Scientifically skills • by the end of this 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1.1   </a:t>
            </a:r>
            <a:r>
              <a:rPr lang="en-US" sz="1200" dirty="0">
                <a:solidFill>
                  <a:srgbClr val="262B3A"/>
                </a:solidFill>
                <a:latin typeface="Calibri" pitchFamily="34" charset="0"/>
                <a:ea typeface="Calibri" pitchFamily="34" charset="-122"/>
                <a:cs typeface="Calibri" pitchFamily="34" charset="-120"/>
              </a:rPr>
              <a:t>Recall and use the </a:t>
            </a:r>
            <a:r>
              <a:rPr lang="en-US" sz="1200" b="1" dirty="0">
                <a:solidFill>
                  <a:srgbClr val="262B3A"/>
                </a:solidFill>
                <a:latin typeface="Calibri" pitchFamily="34" charset="0"/>
                <a:ea typeface="Calibri" pitchFamily="34" charset="-122"/>
                <a:cs typeface="Calibri" pitchFamily="34" charset="-120"/>
              </a:rPr>
              <a:t>seven SI base units</a:t>
            </a:r>
            <a:r>
              <a:rPr lang="en-US" sz="1200" dirty="0">
                <a:solidFill>
                  <a:srgbClr val="262B3A"/>
                </a:solidFill>
                <a:latin typeface="Calibri" pitchFamily="34" charset="0"/>
                <a:ea typeface="Calibri" pitchFamily="34" charset="-122"/>
                <a:cs typeface="Calibri" pitchFamily="34" charset="-120"/>
              </a:rPr>
              <a:t> and the main </a:t>
            </a:r>
            <a:r>
              <a:rPr lang="en-US" sz="1200" b="1" dirty="0">
                <a:solidFill>
                  <a:srgbClr val="262B3A"/>
                </a:solidFill>
                <a:latin typeface="Calibri" pitchFamily="34" charset="0"/>
                <a:ea typeface="Calibri" pitchFamily="34" charset="-122"/>
                <a:cs typeface="Calibri" pitchFamily="34" charset="-120"/>
              </a:rPr>
              <a:t>derived units</a:t>
            </a:r>
            <a:r>
              <a:rPr lang="en-US" sz="1200" dirty="0">
                <a:solidFill>
                  <a:srgbClr val="262B3A"/>
                </a:solidFill>
                <a:latin typeface="Calibri" pitchFamily="34" charset="0"/>
                <a:ea typeface="Calibri" pitchFamily="34" charset="-122"/>
                <a:cs typeface="Calibri" pitchFamily="34" charset="-120"/>
              </a:rPr>
              <a:t> (N, J, W, Pa, C, V, Ω, Hz).</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1.2   </a:t>
            </a:r>
            <a:r>
              <a:rPr lang="en-US" sz="1200" dirty="0">
                <a:solidFill>
                  <a:srgbClr val="262B3A"/>
                </a:solidFill>
                <a:latin typeface="Calibri" pitchFamily="34" charset="0"/>
                <a:ea typeface="Calibri" pitchFamily="34" charset="-122"/>
                <a:cs typeface="Calibri" pitchFamily="34" charset="-120"/>
              </a:rPr>
              <a:t>Recall and use the </a:t>
            </a:r>
            <a:r>
              <a:rPr lang="en-US" sz="1200" b="1" dirty="0">
                <a:solidFill>
                  <a:srgbClr val="262B3A"/>
                </a:solidFill>
                <a:latin typeface="Calibri" pitchFamily="34" charset="0"/>
                <a:ea typeface="Calibri" pitchFamily="34" charset="-122"/>
                <a:cs typeface="Calibri" pitchFamily="34" charset="-120"/>
              </a:rPr>
              <a:t>prefixes</a:t>
            </a:r>
            <a:r>
              <a:rPr lang="en-US" sz="1200" dirty="0">
                <a:solidFill>
                  <a:srgbClr val="262B3A"/>
                </a:solidFill>
                <a:latin typeface="Calibri" pitchFamily="34" charset="0"/>
                <a:ea typeface="Calibri" pitchFamily="34" charset="-122"/>
                <a:cs typeface="Calibri" pitchFamily="34" charset="-120"/>
              </a:rPr>
              <a:t> giga, mega, kilo, centi, milli, micro and nano as </a:t>
            </a:r>
            <a:r>
              <a:rPr lang="en-US" sz="1200" b="1" dirty="0">
                <a:solidFill>
                  <a:srgbClr val="262B3A"/>
                </a:solidFill>
                <a:latin typeface="Calibri" pitchFamily="34" charset="0"/>
                <a:ea typeface="Calibri" pitchFamily="34" charset="-122"/>
                <a:cs typeface="Calibri" pitchFamily="34" charset="-120"/>
              </a:rPr>
              <a:t>powers of ten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1.3   </a:t>
            </a:r>
            <a:r>
              <a:rPr lang="en-US" sz="1200" dirty="0">
                <a:solidFill>
                  <a:srgbClr val="262B3A"/>
                </a:solidFill>
                <a:latin typeface="Calibri" pitchFamily="34" charset="0"/>
                <a:ea typeface="Calibri" pitchFamily="34" charset="-122"/>
                <a:cs typeface="Calibri" pitchFamily="34" charset="-120"/>
              </a:rPr>
              <a:t>Convert </a:t>
            </a:r>
            <a:r>
              <a:rPr lang="en-US" sz="1200" b="1" dirty="0">
                <a:solidFill>
                  <a:srgbClr val="262B3A"/>
                </a:solidFill>
                <a:latin typeface="Calibri" pitchFamily="34" charset="0"/>
                <a:ea typeface="Calibri" pitchFamily="34" charset="-122"/>
                <a:cs typeface="Calibri" pitchFamily="34" charset="-120"/>
              </a:rPr>
              <a:t>time</a:t>
            </a:r>
            <a:r>
              <a:rPr lang="en-US" sz="1200" dirty="0">
                <a:solidFill>
                  <a:srgbClr val="262B3A"/>
                </a:solidFill>
                <a:latin typeface="Calibri" pitchFamily="34" charset="0"/>
                <a:ea typeface="Calibri" pitchFamily="34" charset="-122"/>
                <a:cs typeface="Calibri" pitchFamily="34" charset="-120"/>
              </a:rPr>
              <a:t> (hours, minutes, seconds) and </a:t>
            </a:r>
            <a:r>
              <a:rPr lang="en-US" sz="1200" b="1" dirty="0">
                <a:solidFill>
                  <a:srgbClr val="262B3A"/>
                </a:solidFill>
                <a:latin typeface="Calibri" pitchFamily="34" charset="0"/>
                <a:ea typeface="Calibri" pitchFamily="34" charset="-122"/>
                <a:cs typeface="Calibri" pitchFamily="34" charset="-120"/>
              </a:rPr>
              <a:t>speed</a:t>
            </a:r>
            <a:r>
              <a:rPr lang="en-US" sz="1200" dirty="0">
                <a:solidFill>
                  <a:srgbClr val="262B3A"/>
                </a:solidFill>
                <a:latin typeface="Calibri" pitchFamily="34" charset="0"/>
                <a:ea typeface="Calibri" pitchFamily="34" charset="-122"/>
                <a:cs typeface="Calibri" pitchFamily="34" charset="-120"/>
              </a:rPr>
              <a:t> (km/h to m/s).</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1.3   </a:t>
            </a:r>
            <a:r>
              <a:rPr lang="en-US" sz="1200" dirty="0">
                <a:solidFill>
                  <a:srgbClr val="262B3A"/>
                </a:solidFill>
                <a:latin typeface="Calibri" pitchFamily="34" charset="0"/>
                <a:ea typeface="Calibri" pitchFamily="34" charset="-122"/>
                <a:cs typeface="Calibri" pitchFamily="34" charset="-120"/>
              </a:rPr>
              <a:t>Convert </a:t>
            </a:r>
            <a:r>
              <a:rPr lang="en-US" sz="1200" b="1" dirty="0">
                <a:solidFill>
                  <a:srgbClr val="262B3A"/>
                </a:solidFill>
                <a:latin typeface="Calibri" pitchFamily="34" charset="0"/>
                <a:ea typeface="Calibri" pitchFamily="34" charset="-122"/>
                <a:cs typeface="Calibri" pitchFamily="34" charset="-120"/>
              </a:rPr>
              <a:t>areas and volumes</a:t>
            </a:r>
            <a:r>
              <a:rPr lang="en-US" sz="1200" dirty="0">
                <a:solidFill>
                  <a:srgbClr val="262B3A"/>
                </a:solidFill>
                <a:latin typeface="Calibri" pitchFamily="34" charset="0"/>
                <a:ea typeface="Calibri" pitchFamily="34" charset="-122"/>
                <a:cs typeface="Calibri" pitchFamily="34" charset="-120"/>
              </a:rPr>
              <a:t> (cm², cm³ to m², m³) and </a:t>
            </a:r>
            <a:r>
              <a:rPr lang="en-US" sz="1200" b="1" dirty="0">
                <a:solidFill>
                  <a:srgbClr val="262B3A"/>
                </a:solidFill>
                <a:latin typeface="Calibri" pitchFamily="34" charset="0"/>
                <a:ea typeface="Calibri" pitchFamily="34" charset="-122"/>
                <a:cs typeface="Calibri" pitchFamily="34" charset="-120"/>
              </a:rPr>
              <a:t>energy</a:t>
            </a:r>
            <a:r>
              <a:rPr lang="en-US" sz="1200" dirty="0">
                <a:solidFill>
                  <a:srgbClr val="262B3A"/>
                </a:solidFill>
                <a:latin typeface="Calibri" pitchFamily="34" charset="0"/>
                <a:ea typeface="Calibri" pitchFamily="34" charset="-122"/>
                <a:cs typeface="Calibri" pitchFamily="34" charset="-120"/>
              </a:rPr>
              <a:t> (kWh to J).</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1.4   </a:t>
            </a:r>
            <a:r>
              <a:rPr lang="en-US" sz="1200" dirty="0">
                <a:solidFill>
                  <a:srgbClr val="262B3A"/>
                </a:solidFill>
                <a:latin typeface="Calibri" pitchFamily="34" charset="0"/>
                <a:ea typeface="Calibri" pitchFamily="34" charset="-122"/>
                <a:cs typeface="Calibri" pitchFamily="34" charset="-120"/>
              </a:rPr>
              <a:t>Write and calculate with numbers in </a:t>
            </a:r>
            <a:r>
              <a:rPr lang="en-US" sz="1200" b="1" dirty="0">
                <a:solidFill>
                  <a:srgbClr val="262B3A"/>
                </a:solidFill>
                <a:latin typeface="Calibri" pitchFamily="34" charset="0"/>
                <a:ea typeface="Calibri" pitchFamily="34" charset="-122"/>
                <a:cs typeface="Calibri" pitchFamily="34" charset="-120"/>
              </a:rPr>
              <a:t>standard form</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1.4   </a:t>
            </a:r>
            <a:r>
              <a:rPr lang="en-US" sz="1200" dirty="0">
                <a:solidFill>
                  <a:srgbClr val="262B3A"/>
                </a:solidFill>
                <a:latin typeface="Calibri" pitchFamily="34" charset="0"/>
                <a:ea typeface="Calibri" pitchFamily="34" charset="-122"/>
                <a:cs typeface="Calibri" pitchFamily="34" charset="-120"/>
              </a:rPr>
              <a:t>Give answers to a sensible number of </a:t>
            </a:r>
            <a:r>
              <a:rPr lang="en-US" sz="1200" b="1" dirty="0">
                <a:solidFill>
                  <a:srgbClr val="262B3A"/>
                </a:solidFill>
                <a:latin typeface="Calibri" pitchFamily="34" charset="0"/>
                <a:ea typeface="Calibri" pitchFamily="34" charset="-122"/>
                <a:cs typeface="Calibri" pitchFamily="34" charset="-120"/>
              </a:rPr>
              <a:t>significant figures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WS 4c   </a:t>
            </a:r>
            <a:r>
              <a:rPr lang="en-US" sz="1200" dirty="0">
                <a:solidFill>
                  <a:srgbClr val="262B3A"/>
                </a:solidFill>
                <a:latin typeface="Calibri" pitchFamily="34" charset="0"/>
                <a:ea typeface="Calibri" pitchFamily="34" charset="-122"/>
                <a:cs typeface="Calibri" pitchFamily="34" charset="-120"/>
              </a:rPr>
              <a:t>Use powers of ten to make </a:t>
            </a:r>
            <a:r>
              <a:rPr lang="en-US" sz="1200" b="1" dirty="0">
                <a:solidFill>
                  <a:srgbClr val="262B3A"/>
                </a:solidFill>
                <a:latin typeface="Calibri" pitchFamily="34" charset="0"/>
                <a:ea typeface="Calibri" pitchFamily="34" charset="-122"/>
                <a:cs typeface="Calibri" pitchFamily="34" charset="-120"/>
              </a:rPr>
              <a:t>estimates</a:t>
            </a:r>
            <a:r>
              <a:rPr lang="en-US" sz="1200" dirty="0">
                <a:solidFill>
                  <a:srgbClr val="262B3A"/>
                </a:solidFill>
                <a:latin typeface="Calibri" pitchFamily="34" charset="0"/>
                <a:ea typeface="Calibri" pitchFamily="34" charset="-122"/>
                <a:cs typeface="Calibri" pitchFamily="34" charset="-120"/>
              </a:rPr>
              <a:t> and compare </a:t>
            </a:r>
            <a:r>
              <a:rPr lang="en-US" sz="1200" b="1" dirty="0">
                <a:solidFill>
                  <a:srgbClr val="262B3A"/>
                </a:solidFill>
                <a:latin typeface="Calibri" pitchFamily="34" charset="0"/>
                <a:ea typeface="Calibri" pitchFamily="34" charset="-122"/>
                <a:cs typeface="Calibri" pitchFamily="34" charset="-120"/>
              </a:rPr>
              <a:t>orders of magnitude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WS 2f, 3g   </a:t>
            </a:r>
            <a:r>
              <a:rPr lang="en-US" sz="1200" dirty="0">
                <a:solidFill>
                  <a:srgbClr val="262B3A"/>
                </a:solidFill>
                <a:latin typeface="Calibri" pitchFamily="34" charset="0"/>
                <a:ea typeface="Calibri" pitchFamily="34" charset="-122"/>
                <a:cs typeface="Calibri" pitchFamily="34" charset="-120"/>
              </a:rPr>
              <a:t>Read </a:t>
            </a:r>
            <a:r>
              <a:rPr lang="en-US" sz="1200" b="1" dirty="0">
                <a:solidFill>
                  <a:srgbClr val="262B3A"/>
                </a:solidFill>
                <a:latin typeface="Calibri" pitchFamily="34" charset="0"/>
                <a:ea typeface="Calibri" pitchFamily="34" charset="-122"/>
                <a:cs typeface="Calibri" pitchFamily="34" charset="-120"/>
              </a:rPr>
              <a:t>scales</a:t>
            </a:r>
            <a:r>
              <a:rPr lang="en-US" sz="1200" dirty="0">
                <a:solidFill>
                  <a:srgbClr val="262B3A"/>
                </a:solidFill>
                <a:latin typeface="Calibri" pitchFamily="34" charset="0"/>
                <a:ea typeface="Calibri" pitchFamily="34" charset="-122"/>
                <a:cs typeface="Calibri" pitchFamily="34" charset="-120"/>
              </a:rPr>
              <a:t>; use </a:t>
            </a:r>
            <a:r>
              <a:rPr lang="en-US" sz="1200" b="1" dirty="0">
                <a:solidFill>
                  <a:srgbClr val="262B3A"/>
                </a:solidFill>
                <a:latin typeface="Calibri" pitchFamily="34" charset="0"/>
                <a:ea typeface="Calibri" pitchFamily="34" charset="-122"/>
                <a:cs typeface="Calibri" pitchFamily="34" charset="-120"/>
              </a:rPr>
              <a:t>resolution</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means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anomalies</a:t>
            </a:r>
            <a:r>
              <a:rPr lang="en-US" sz="1200" dirty="0">
                <a:solidFill>
                  <a:srgbClr val="262B3A"/>
                </a:solidFill>
                <a:latin typeface="Calibri" pitchFamily="34" charset="0"/>
                <a:ea typeface="Calibri" pitchFamily="34" charset="-122"/>
                <a:cs typeface="Calibri" pitchFamily="34" charset="-120"/>
              </a:rPr>
              <a:t>; explain </a:t>
            </a:r>
            <a:r>
              <a:rPr lang="en-US" sz="1200" b="1" dirty="0">
                <a:solidFill>
                  <a:srgbClr val="262B3A"/>
                </a:solidFill>
                <a:latin typeface="Calibri" pitchFamily="34" charset="0"/>
                <a:ea typeface="Calibri" pitchFamily="34" charset="-122"/>
                <a:cs typeface="Calibri" pitchFamily="34" charset="-120"/>
              </a:rPr>
              <a:t>accuracy, precision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random and systematic error</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1.1–1.4 • Topic 1 is assessed on Paper 1 and Paper 2</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188720"/>
            <a:ext cx="2103120" cy="640080"/>
          </a:xfrm>
          <a:prstGeom prst="roundRect">
            <a:avLst>
              <a:gd name="adj" fmla="val 8571"/>
            </a:avLst>
          </a:prstGeom>
          <a:solidFill>
            <a:srgbClr val="1A2340"/>
          </a:solidFill>
          <a:ln/>
        </p:spPr>
      </p:sp>
      <p:sp>
        <p:nvSpPr>
          <p:cNvPr id="9" name="Text 7"/>
          <p:cNvSpPr/>
          <p:nvPr/>
        </p:nvSpPr>
        <p:spPr>
          <a:xfrm>
            <a:off x="411480" y="1188720"/>
            <a:ext cx="210312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Topic 1</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Key concepts</a:t>
            </a:r>
            <a:endParaRPr lang="en-US" sz="1200" dirty="0"/>
          </a:p>
        </p:txBody>
      </p:sp>
      <p:sp>
        <p:nvSpPr>
          <p:cNvPr id="10" name="Shape 8"/>
          <p:cNvSpPr/>
          <p:nvPr/>
        </p:nvSpPr>
        <p:spPr>
          <a:xfrm>
            <a:off x="914400" y="1828800"/>
            <a:ext cx="91" cy="3785616"/>
          </a:xfrm>
          <a:prstGeom prst="line">
            <a:avLst/>
          </a:prstGeom>
          <a:noFill/>
          <a:ln w="19050">
            <a:solidFill>
              <a:srgbClr val="2E5BD8"/>
            </a:solidFill>
            <a:prstDash val="solid"/>
          </a:ln>
        </p:spPr>
      </p:sp>
      <p:sp>
        <p:nvSpPr>
          <p:cNvPr id="11" name="Shape 9"/>
          <p:cNvSpPr/>
          <p:nvPr/>
        </p:nvSpPr>
        <p:spPr>
          <a:xfrm>
            <a:off x="914400" y="2212848"/>
            <a:ext cx="411480" cy="91"/>
          </a:xfrm>
          <a:prstGeom prst="line">
            <a:avLst/>
          </a:prstGeom>
          <a:noFill/>
          <a:ln w="19050">
            <a:solidFill>
              <a:srgbClr val="2E5BD8"/>
            </a:solidFill>
            <a:prstDash val="solid"/>
          </a:ln>
        </p:spPr>
      </p:sp>
      <p:sp>
        <p:nvSpPr>
          <p:cNvPr id="12" name="Shape 10"/>
          <p:cNvSpPr/>
          <p:nvPr/>
        </p:nvSpPr>
        <p:spPr>
          <a:xfrm>
            <a:off x="1325880" y="1965960"/>
            <a:ext cx="5120640" cy="493776"/>
          </a:xfrm>
          <a:prstGeom prst="roundRect">
            <a:avLst>
              <a:gd name="adj" fmla="val 9259"/>
            </a:avLst>
          </a:prstGeom>
          <a:solidFill>
            <a:srgbClr val="F5F8FE"/>
          </a:solidFill>
          <a:ln w="12700">
            <a:solidFill>
              <a:srgbClr val="D5DCEB"/>
            </a:solidFill>
            <a:prstDash val="solid"/>
          </a:ln>
        </p:spPr>
      </p:sp>
      <p:sp>
        <p:nvSpPr>
          <p:cNvPr id="13" name="Text 11"/>
          <p:cNvSpPr/>
          <p:nvPr/>
        </p:nvSpPr>
        <p:spPr>
          <a:xfrm>
            <a:off x="1463040" y="1965960"/>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1.1   </a:t>
            </a:r>
            <a:r>
              <a:rPr lang="en-US" sz="1100" dirty="0">
                <a:solidFill>
                  <a:srgbClr val="262B3A"/>
                </a:solidFill>
                <a:latin typeface="Calibri" pitchFamily="34" charset="0"/>
                <a:ea typeface="Calibri" pitchFamily="34" charset="-122"/>
                <a:cs typeface="Calibri" pitchFamily="34" charset="-120"/>
              </a:rPr>
              <a:t>SI base units and derived units</a:t>
            </a:r>
            <a:endParaRPr lang="en-US" sz="1100" dirty="0"/>
          </a:p>
        </p:txBody>
      </p:sp>
      <p:sp>
        <p:nvSpPr>
          <p:cNvPr id="14" name="Shape 12"/>
          <p:cNvSpPr/>
          <p:nvPr/>
        </p:nvSpPr>
        <p:spPr>
          <a:xfrm>
            <a:off x="5166360" y="2075688"/>
            <a:ext cx="118872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166360" y="207568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2779776"/>
            <a:ext cx="411480" cy="91"/>
          </a:xfrm>
          <a:prstGeom prst="line">
            <a:avLst/>
          </a:prstGeom>
          <a:noFill/>
          <a:ln w="19050">
            <a:solidFill>
              <a:srgbClr val="2E5BD8"/>
            </a:solidFill>
            <a:prstDash val="solid"/>
          </a:ln>
        </p:spPr>
      </p:sp>
      <p:sp>
        <p:nvSpPr>
          <p:cNvPr id="17" name="Shape 15"/>
          <p:cNvSpPr/>
          <p:nvPr/>
        </p:nvSpPr>
        <p:spPr>
          <a:xfrm>
            <a:off x="1325880" y="2532888"/>
            <a:ext cx="5120640" cy="493776"/>
          </a:xfrm>
          <a:prstGeom prst="roundRect">
            <a:avLst>
              <a:gd name="adj" fmla="val 9259"/>
            </a:avLst>
          </a:prstGeom>
          <a:solidFill>
            <a:srgbClr val="F5F8FE"/>
          </a:solidFill>
          <a:ln w="12700">
            <a:solidFill>
              <a:srgbClr val="D5DCEB"/>
            </a:solidFill>
            <a:prstDash val="solid"/>
          </a:ln>
        </p:spPr>
      </p:sp>
      <p:sp>
        <p:nvSpPr>
          <p:cNvPr id="18" name="Text 16"/>
          <p:cNvSpPr/>
          <p:nvPr/>
        </p:nvSpPr>
        <p:spPr>
          <a:xfrm>
            <a:off x="1463040" y="2532888"/>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1.2   </a:t>
            </a:r>
            <a:r>
              <a:rPr lang="en-US" sz="1100" dirty="0">
                <a:solidFill>
                  <a:srgbClr val="262B3A"/>
                </a:solidFill>
                <a:latin typeface="Calibri" pitchFamily="34" charset="0"/>
                <a:ea typeface="Calibri" pitchFamily="34" charset="-122"/>
                <a:cs typeface="Calibri" pitchFamily="34" charset="-120"/>
              </a:rPr>
              <a:t>Prefixes from giga to nano</a:t>
            </a:r>
            <a:endParaRPr lang="en-US" sz="1100" dirty="0"/>
          </a:p>
        </p:txBody>
      </p:sp>
      <p:sp>
        <p:nvSpPr>
          <p:cNvPr id="19" name="Shape 17"/>
          <p:cNvSpPr/>
          <p:nvPr/>
        </p:nvSpPr>
        <p:spPr>
          <a:xfrm>
            <a:off x="5166360" y="2642616"/>
            <a:ext cx="118872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166360" y="264261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346704"/>
            <a:ext cx="411480" cy="91"/>
          </a:xfrm>
          <a:prstGeom prst="line">
            <a:avLst/>
          </a:prstGeom>
          <a:noFill/>
          <a:ln w="19050">
            <a:solidFill>
              <a:srgbClr val="2E5BD8"/>
            </a:solidFill>
            <a:prstDash val="solid"/>
          </a:ln>
        </p:spPr>
      </p:sp>
      <p:sp>
        <p:nvSpPr>
          <p:cNvPr id="22" name="Shape 20"/>
          <p:cNvSpPr/>
          <p:nvPr/>
        </p:nvSpPr>
        <p:spPr>
          <a:xfrm>
            <a:off x="1325880" y="3099816"/>
            <a:ext cx="5120640" cy="493776"/>
          </a:xfrm>
          <a:prstGeom prst="roundRect">
            <a:avLst>
              <a:gd name="adj" fmla="val 9259"/>
            </a:avLst>
          </a:prstGeom>
          <a:solidFill>
            <a:srgbClr val="F5F8FE"/>
          </a:solidFill>
          <a:ln w="12700">
            <a:solidFill>
              <a:srgbClr val="D5DCEB"/>
            </a:solidFill>
            <a:prstDash val="solid"/>
          </a:ln>
        </p:spPr>
      </p:sp>
      <p:sp>
        <p:nvSpPr>
          <p:cNvPr id="23" name="Text 21"/>
          <p:cNvSpPr/>
          <p:nvPr/>
        </p:nvSpPr>
        <p:spPr>
          <a:xfrm>
            <a:off x="1463040" y="3099816"/>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1.3   </a:t>
            </a:r>
            <a:r>
              <a:rPr lang="en-US" sz="1100" dirty="0">
                <a:solidFill>
                  <a:srgbClr val="262B3A"/>
                </a:solidFill>
                <a:latin typeface="Calibri" pitchFamily="34" charset="0"/>
                <a:ea typeface="Calibri" pitchFamily="34" charset="-122"/>
                <a:cs typeface="Calibri" pitchFamily="34" charset="-120"/>
              </a:rPr>
              <a:t>Converting units (time, speed, area, volume, energy)</a:t>
            </a:r>
            <a:endParaRPr lang="en-US" sz="1100" dirty="0"/>
          </a:p>
        </p:txBody>
      </p:sp>
      <p:sp>
        <p:nvSpPr>
          <p:cNvPr id="24" name="Shape 22"/>
          <p:cNvSpPr/>
          <p:nvPr/>
        </p:nvSpPr>
        <p:spPr>
          <a:xfrm>
            <a:off x="5166360" y="3209544"/>
            <a:ext cx="118872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166360" y="3209544"/>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3913632"/>
            <a:ext cx="411480" cy="91"/>
          </a:xfrm>
          <a:prstGeom prst="line">
            <a:avLst/>
          </a:prstGeom>
          <a:noFill/>
          <a:ln w="19050">
            <a:solidFill>
              <a:srgbClr val="2E5BD8"/>
            </a:solidFill>
            <a:prstDash val="solid"/>
          </a:ln>
        </p:spPr>
      </p:sp>
      <p:sp>
        <p:nvSpPr>
          <p:cNvPr id="27" name="Shape 25"/>
          <p:cNvSpPr/>
          <p:nvPr/>
        </p:nvSpPr>
        <p:spPr>
          <a:xfrm>
            <a:off x="1325880" y="3666744"/>
            <a:ext cx="5120640" cy="493776"/>
          </a:xfrm>
          <a:prstGeom prst="roundRect">
            <a:avLst>
              <a:gd name="adj" fmla="val 9259"/>
            </a:avLst>
          </a:prstGeom>
          <a:solidFill>
            <a:srgbClr val="F5F8FE"/>
          </a:solidFill>
          <a:ln w="12700">
            <a:solidFill>
              <a:srgbClr val="D5DCEB"/>
            </a:solidFill>
            <a:prstDash val="solid"/>
          </a:ln>
        </p:spPr>
      </p:sp>
      <p:sp>
        <p:nvSpPr>
          <p:cNvPr id="28" name="Text 26"/>
          <p:cNvSpPr/>
          <p:nvPr/>
        </p:nvSpPr>
        <p:spPr>
          <a:xfrm>
            <a:off x="1463040" y="3666744"/>
            <a:ext cx="3657600" cy="493776"/>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1.4   </a:t>
            </a:r>
            <a:r>
              <a:rPr lang="en-US" sz="1100" dirty="0">
                <a:solidFill>
                  <a:srgbClr val="262B3A"/>
                </a:solidFill>
                <a:latin typeface="Calibri" pitchFamily="34" charset="0"/>
                <a:ea typeface="Calibri" pitchFamily="34" charset="-122"/>
                <a:cs typeface="Calibri" pitchFamily="34" charset="-120"/>
              </a:rPr>
              <a:t>Significant figures and standard form</a:t>
            </a:r>
            <a:endParaRPr lang="en-US" sz="1100" dirty="0"/>
          </a:p>
        </p:txBody>
      </p:sp>
      <p:sp>
        <p:nvSpPr>
          <p:cNvPr id="29" name="Shape 27"/>
          <p:cNvSpPr/>
          <p:nvPr/>
        </p:nvSpPr>
        <p:spPr>
          <a:xfrm>
            <a:off x="5166360" y="3776472"/>
            <a:ext cx="1188720" cy="274320"/>
          </a:xfrm>
          <a:prstGeom prst="roundRect">
            <a:avLst>
              <a:gd name="adj" fmla="val 50000"/>
            </a:avLst>
          </a:prstGeom>
          <a:solidFill>
            <a:srgbClr val="2E5BD8"/>
          </a:solidFill>
          <a:ln w="12700">
            <a:solidFill>
              <a:srgbClr val="2E5BD8"/>
            </a:solidFill>
            <a:prstDash val="solid"/>
          </a:ln>
        </p:spPr>
      </p:sp>
      <p:sp>
        <p:nvSpPr>
          <p:cNvPr id="30" name="Text 28"/>
          <p:cNvSpPr/>
          <p:nvPr/>
        </p:nvSpPr>
        <p:spPr>
          <a:xfrm>
            <a:off x="5166360" y="3776472"/>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4480560"/>
            <a:ext cx="411480" cy="91"/>
          </a:xfrm>
          <a:prstGeom prst="line">
            <a:avLst/>
          </a:prstGeom>
          <a:noFill/>
          <a:ln w="19050">
            <a:solidFill>
              <a:srgbClr val="2E5BD8"/>
            </a:solidFill>
            <a:prstDash val="solid"/>
          </a:ln>
        </p:spPr>
      </p:sp>
      <p:sp>
        <p:nvSpPr>
          <p:cNvPr id="32" name="Shape 30"/>
          <p:cNvSpPr/>
          <p:nvPr/>
        </p:nvSpPr>
        <p:spPr>
          <a:xfrm>
            <a:off x="1325880" y="4233672"/>
            <a:ext cx="5120640" cy="493776"/>
          </a:xfrm>
          <a:prstGeom prst="roundRect">
            <a:avLst>
              <a:gd name="adj" fmla="val 9259"/>
            </a:avLst>
          </a:prstGeom>
          <a:solidFill>
            <a:srgbClr val="F5F8FE"/>
          </a:solidFill>
          <a:ln w="12700">
            <a:solidFill>
              <a:srgbClr val="D5DCEB"/>
            </a:solidFill>
            <a:prstDash val="solid"/>
          </a:ln>
        </p:spPr>
      </p:sp>
      <p:sp>
        <p:nvSpPr>
          <p:cNvPr id="33" name="Text 31"/>
          <p:cNvSpPr/>
          <p:nvPr/>
        </p:nvSpPr>
        <p:spPr>
          <a:xfrm>
            <a:off x="1463040" y="4233672"/>
            <a:ext cx="3657600" cy="493776"/>
          </a:xfrm>
          <a:prstGeom prst="rect">
            <a:avLst/>
          </a:prstGeom>
          <a:noFill/>
          <a:ln/>
        </p:spPr>
        <p:txBody>
          <a:bodyPr wrap="square" lIns="0" tIns="0" rIns="0" bIns="0"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WS 4c   </a:t>
            </a:r>
            <a:r>
              <a:rPr lang="en-US" sz="1100" dirty="0">
                <a:solidFill>
                  <a:srgbClr val="262B3A"/>
                </a:solidFill>
                <a:latin typeface="Calibri" pitchFamily="34" charset="0"/>
                <a:ea typeface="Calibri" pitchFamily="34" charset="-122"/>
                <a:cs typeface="Calibri" pitchFamily="34" charset="-120"/>
              </a:rPr>
              <a:t>Powers of ten and orders of magnitude</a:t>
            </a:r>
            <a:endParaRPr lang="en-US" sz="1100" dirty="0"/>
          </a:p>
        </p:txBody>
      </p:sp>
      <p:sp>
        <p:nvSpPr>
          <p:cNvPr id="34" name="Shape 32"/>
          <p:cNvSpPr/>
          <p:nvPr/>
        </p:nvSpPr>
        <p:spPr>
          <a:xfrm>
            <a:off x="5166360" y="4343400"/>
            <a:ext cx="1188720" cy="274320"/>
          </a:xfrm>
          <a:prstGeom prst="roundRect">
            <a:avLst>
              <a:gd name="adj" fmla="val 50000"/>
            </a:avLst>
          </a:prstGeom>
          <a:solidFill>
            <a:srgbClr val="2E8B57"/>
          </a:solidFill>
          <a:ln w="12700">
            <a:solidFill>
              <a:srgbClr val="2E8B57"/>
            </a:solidFill>
            <a:prstDash val="solid"/>
          </a:ln>
        </p:spPr>
      </p:sp>
      <p:sp>
        <p:nvSpPr>
          <p:cNvPr id="35" name="Text 33"/>
          <p:cNvSpPr/>
          <p:nvPr/>
        </p:nvSpPr>
        <p:spPr>
          <a:xfrm>
            <a:off x="5166360" y="434340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WS SKILL</a:t>
            </a:r>
            <a:endParaRPr lang="en-US" sz="1000" dirty="0"/>
          </a:p>
        </p:txBody>
      </p:sp>
      <p:sp>
        <p:nvSpPr>
          <p:cNvPr id="36" name="Shape 34"/>
          <p:cNvSpPr/>
          <p:nvPr/>
        </p:nvSpPr>
        <p:spPr>
          <a:xfrm>
            <a:off x="914400" y="5047488"/>
            <a:ext cx="411480" cy="91"/>
          </a:xfrm>
          <a:prstGeom prst="line">
            <a:avLst/>
          </a:prstGeom>
          <a:noFill/>
          <a:ln w="19050">
            <a:solidFill>
              <a:srgbClr val="2E5BD8"/>
            </a:solidFill>
            <a:prstDash val="solid"/>
          </a:ln>
        </p:spPr>
      </p:sp>
      <p:sp>
        <p:nvSpPr>
          <p:cNvPr id="37" name="Shape 35"/>
          <p:cNvSpPr/>
          <p:nvPr/>
        </p:nvSpPr>
        <p:spPr>
          <a:xfrm>
            <a:off x="1325880" y="4800600"/>
            <a:ext cx="5120640" cy="493776"/>
          </a:xfrm>
          <a:prstGeom prst="roundRect">
            <a:avLst>
              <a:gd name="adj" fmla="val 9259"/>
            </a:avLst>
          </a:prstGeom>
          <a:solidFill>
            <a:srgbClr val="F5F8FE"/>
          </a:solidFill>
          <a:ln w="12700">
            <a:solidFill>
              <a:srgbClr val="D5DCEB"/>
            </a:solidFill>
            <a:prstDash val="solid"/>
          </a:ln>
        </p:spPr>
      </p:sp>
      <p:sp>
        <p:nvSpPr>
          <p:cNvPr id="38" name="Text 36"/>
          <p:cNvSpPr/>
          <p:nvPr/>
        </p:nvSpPr>
        <p:spPr>
          <a:xfrm>
            <a:off x="1463040" y="4800600"/>
            <a:ext cx="3657600" cy="493776"/>
          </a:xfrm>
          <a:prstGeom prst="rect">
            <a:avLst/>
          </a:prstGeom>
          <a:noFill/>
          <a:ln/>
        </p:spPr>
        <p:txBody>
          <a:bodyPr wrap="square" lIns="0" tIns="0" rIns="0" bIns="0"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WS 2f   </a:t>
            </a:r>
            <a:r>
              <a:rPr lang="en-US" sz="1100" dirty="0">
                <a:solidFill>
                  <a:srgbClr val="262B3A"/>
                </a:solidFill>
                <a:latin typeface="Calibri" pitchFamily="34" charset="0"/>
                <a:ea typeface="Calibri" pitchFamily="34" charset="-122"/>
                <a:cs typeface="Calibri" pitchFamily="34" charset="-120"/>
              </a:rPr>
              <a:t>Reading scales, resolution, means, anomalies</a:t>
            </a:r>
            <a:endParaRPr lang="en-US" sz="1100" dirty="0"/>
          </a:p>
        </p:txBody>
      </p:sp>
      <p:sp>
        <p:nvSpPr>
          <p:cNvPr id="39" name="Shape 37"/>
          <p:cNvSpPr/>
          <p:nvPr/>
        </p:nvSpPr>
        <p:spPr>
          <a:xfrm>
            <a:off x="5166360" y="4910328"/>
            <a:ext cx="1188720" cy="274320"/>
          </a:xfrm>
          <a:prstGeom prst="roundRect">
            <a:avLst>
              <a:gd name="adj" fmla="val 50000"/>
            </a:avLst>
          </a:prstGeom>
          <a:solidFill>
            <a:srgbClr val="2E8B57"/>
          </a:solidFill>
          <a:ln w="12700">
            <a:solidFill>
              <a:srgbClr val="2E8B57"/>
            </a:solidFill>
            <a:prstDash val="solid"/>
          </a:ln>
        </p:spPr>
      </p:sp>
      <p:sp>
        <p:nvSpPr>
          <p:cNvPr id="40" name="Text 38"/>
          <p:cNvSpPr/>
          <p:nvPr/>
        </p:nvSpPr>
        <p:spPr>
          <a:xfrm>
            <a:off x="5166360" y="4910328"/>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WS SKILL</a:t>
            </a:r>
            <a:endParaRPr lang="en-US" sz="1000" dirty="0"/>
          </a:p>
        </p:txBody>
      </p:sp>
      <p:sp>
        <p:nvSpPr>
          <p:cNvPr id="41" name="Shape 39"/>
          <p:cNvSpPr/>
          <p:nvPr/>
        </p:nvSpPr>
        <p:spPr>
          <a:xfrm>
            <a:off x="914400" y="5614416"/>
            <a:ext cx="411480" cy="91"/>
          </a:xfrm>
          <a:prstGeom prst="line">
            <a:avLst/>
          </a:prstGeom>
          <a:noFill/>
          <a:ln w="19050">
            <a:solidFill>
              <a:srgbClr val="2E5BD8"/>
            </a:solidFill>
            <a:prstDash val="solid"/>
          </a:ln>
        </p:spPr>
      </p:sp>
      <p:sp>
        <p:nvSpPr>
          <p:cNvPr id="42" name="Shape 40"/>
          <p:cNvSpPr/>
          <p:nvPr/>
        </p:nvSpPr>
        <p:spPr>
          <a:xfrm>
            <a:off x="1325880" y="5367528"/>
            <a:ext cx="5120640" cy="493776"/>
          </a:xfrm>
          <a:prstGeom prst="roundRect">
            <a:avLst>
              <a:gd name="adj" fmla="val 9259"/>
            </a:avLst>
          </a:prstGeom>
          <a:solidFill>
            <a:srgbClr val="F5F8FE"/>
          </a:solidFill>
          <a:ln w="12700">
            <a:solidFill>
              <a:srgbClr val="D5DCEB"/>
            </a:solidFill>
            <a:prstDash val="solid"/>
          </a:ln>
        </p:spPr>
      </p:sp>
      <p:sp>
        <p:nvSpPr>
          <p:cNvPr id="43" name="Text 41"/>
          <p:cNvSpPr/>
          <p:nvPr/>
        </p:nvSpPr>
        <p:spPr>
          <a:xfrm>
            <a:off x="1463040" y="5367528"/>
            <a:ext cx="3657600" cy="493776"/>
          </a:xfrm>
          <a:prstGeom prst="rect">
            <a:avLst/>
          </a:prstGeom>
          <a:noFill/>
          <a:ln/>
        </p:spPr>
        <p:txBody>
          <a:bodyPr wrap="square" lIns="0" tIns="0" rIns="0" bIns="0" rtlCol="0" anchor="ctr"/>
          <a:lstStyle/>
          <a:p>
            <a:pPr indent="0" marL="0">
              <a:buNone/>
            </a:pPr>
            <a:r>
              <a:rPr lang="en-US" sz="1100" b="1" dirty="0">
                <a:solidFill>
                  <a:srgbClr val="2E8B57"/>
                </a:solidFill>
                <a:latin typeface="Calibri" pitchFamily="34" charset="0"/>
                <a:ea typeface="Calibri" pitchFamily="34" charset="-122"/>
                <a:cs typeface="Calibri" pitchFamily="34" charset="-120"/>
              </a:rPr>
              <a:t>WS 3g   </a:t>
            </a:r>
            <a:r>
              <a:rPr lang="en-US" sz="1100" dirty="0">
                <a:solidFill>
                  <a:srgbClr val="262B3A"/>
                </a:solidFill>
                <a:latin typeface="Calibri" pitchFamily="34" charset="0"/>
                <a:ea typeface="Calibri" pitchFamily="34" charset="-122"/>
                <a:cs typeface="Calibri" pitchFamily="34" charset="-120"/>
              </a:rPr>
              <a:t>Accuracy, precision, random and systematic error</a:t>
            </a:r>
            <a:endParaRPr lang="en-US" sz="1100" dirty="0"/>
          </a:p>
        </p:txBody>
      </p:sp>
      <p:sp>
        <p:nvSpPr>
          <p:cNvPr id="44" name="Shape 42"/>
          <p:cNvSpPr/>
          <p:nvPr/>
        </p:nvSpPr>
        <p:spPr>
          <a:xfrm>
            <a:off x="5166360" y="5477256"/>
            <a:ext cx="1188720" cy="274320"/>
          </a:xfrm>
          <a:prstGeom prst="roundRect">
            <a:avLst>
              <a:gd name="adj" fmla="val 50000"/>
            </a:avLst>
          </a:prstGeom>
          <a:solidFill>
            <a:srgbClr val="2E8B57"/>
          </a:solidFill>
          <a:ln w="12700">
            <a:solidFill>
              <a:srgbClr val="2E8B57"/>
            </a:solidFill>
            <a:prstDash val="solid"/>
          </a:ln>
        </p:spPr>
      </p:sp>
      <p:sp>
        <p:nvSpPr>
          <p:cNvPr id="45" name="Text 43"/>
          <p:cNvSpPr/>
          <p:nvPr/>
        </p:nvSpPr>
        <p:spPr>
          <a:xfrm>
            <a:off x="5166360" y="5477256"/>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WS SKILL</a:t>
            </a:r>
            <a:endParaRPr lang="en-US" sz="1000" dirty="0"/>
          </a:p>
        </p:txBody>
      </p:sp>
      <p:sp>
        <p:nvSpPr>
          <p:cNvPr id="46" name="Text 44"/>
          <p:cNvSpPr/>
          <p:nvPr/>
        </p:nvSpPr>
        <p:spPr>
          <a:xfrm>
            <a:off x="411480" y="6035040"/>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Used everywhere: Topic 2 speed • Topic 4 waves • Topic 10 circuits • Topic 14 density • Topic 15 pressure</a:t>
            </a:r>
            <a:endParaRPr lang="en-US" sz="1050" dirty="0"/>
          </a:p>
        </p:txBody>
      </p:sp>
      <p:sp>
        <p:nvSpPr>
          <p:cNvPr id="47" name="Shape 45"/>
          <p:cNvSpPr/>
          <p:nvPr/>
        </p:nvSpPr>
        <p:spPr>
          <a:xfrm>
            <a:off x="6720840" y="1188720"/>
            <a:ext cx="5056632" cy="2514600"/>
          </a:xfrm>
          <a:prstGeom prst="roundRect">
            <a:avLst>
              <a:gd name="adj" fmla="val 2182"/>
            </a:avLst>
          </a:prstGeom>
          <a:solidFill>
            <a:srgbClr val="1F2A4A"/>
          </a:solidFill>
          <a:ln/>
        </p:spPr>
      </p:sp>
      <p:sp>
        <p:nvSpPr>
          <p:cNvPr id="48" name="Text 46"/>
          <p:cNvSpPr/>
          <p:nvPr/>
        </p:nvSpPr>
        <p:spPr>
          <a:xfrm>
            <a:off x="6903720" y="128016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How this is assessed</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Topic 1 is tested on </a:t>
            </a:r>
            <a:r>
              <a:rPr lang="en-US" sz="1150" b="1" dirty="0">
                <a:solidFill>
                  <a:srgbClr val="E6ECFA"/>
                </a:solidFill>
                <a:latin typeface="Calibri" pitchFamily="34" charset="0"/>
                <a:ea typeface="Calibri" pitchFamily="34" charset="-122"/>
                <a:cs typeface="Calibri" pitchFamily="34" charset="-120"/>
              </a:rPr>
              <a:t>both</a:t>
            </a:r>
            <a:r>
              <a:rPr lang="en-US" sz="1150" dirty="0">
                <a:solidFill>
                  <a:srgbClr val="E6ECFA"/>
                </a:solidFill>
                <a:latin typeface="Calibri" pitchFamily="34" charset="0"/>
                <a:ea typeface="Calibri" pitchFamily="34" charset="-122"/>
                <a:cs typeface="Calibri" pitchFamily="34" charset="-120"/>
              </a:rPr>
              <a:t> 1PH0 papers (1F/1H and 2F/2H), usually inside questions on other topics.</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There are </a:t>
            </a:r>
            <a:r>
              <a:rPr lang="en-US" sz="1150" b="1" dirty="0">
                <a:solidFill>
                  <a:srgbClr val="E6ECFA"/>
                </a:solidFill>
                <a:latin typeface="Calibri" pitchFamily="34" charset="0"/>
                <a:ea typeface="Calibri" pitchFamily="34" charset="-122"/>
                <a:cs typeface="Calibri" pitchFamily="34" charset="-120"/>
              </a:rPr>
              <a:t>no new equations</a:t>
            </a:r>
            <a:r>
              <a:rPr lang="en-US" sz="1150" dirty="0">
                <a:solidFill>
                  <a:srgbClr val="E6ECFA"/>
                </a:solidFill>
                <a:latin typeface="Calibri" pitchFamily="34" charset="0"/>
                <a:ea typeface="Calibri" pitchFamily="34" charset="-122"/>
                <a:cs typeface="Calibri" pitchFamily="34" charset="-120"/>
              </a:rPr>
              <a:t> to recall in Topic 1 and </a:t>
            </a:r>
            <a:r>
              <a:rPr lang="en-US" sz="1150" b="1" dirty="0">
                <a:solidFill>
                  <a:srgbClr val="E6ECFA"/>
                </a:solidFill>
                <a:latin typeface="Calibri" pitchFamily="34" charset="0"/>
                <a:ea typeface="Calibri" pitchFamily="34" charset="-122"/>
                <a:cs typeface="Calibri" pitchFamily="34" charset="-120"/>
              </a:rPr>
              <a:t>no Core Practical</a:t>
            </a:r>
            <a:r>
              <a:rPr lang="en-US" sz="1150" dirty="0">
                <a:solidFill>
                  <a:srgbClr val="E6ECF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Marks are often lost for a </a:t>
            </a:r>
            <a:r>
              <a:rPr lang="en-US" sz="1150" b="1" dirty="0">
                <a:solidFill>
                  <a:srgbClr val="E6ECFA"/>
                </a:solidFill>
                <a:latin typeface="Calibri" pitchFamily="34" charset="0"/>
                <a:ea typeface="Calibri" pitchFamily="34" charset="-122"/>
                <a:cs typeface="Calibri" pitchFamily="34" charset="-120"/>
              </a:rPr>
              <a:t>missing unit</a:t>
            </a:r>
            <a:r>
              <a:rPr lang="en-US" sz="1150" dirty="0">
                <a:solidFill>
                  <a:srgbClr val="E6ECFA"/>
                </a:solidFill>
                <a:latin typeface="Calibri" pitchFamily="34" charset="0"/>
                <a:ea typeface="Calibri" pitchFamily="34" charset="-122"/>
                <a:cs typeface="Calibri" pitchFamily="34" charset="-120"/>
              </a:rPr>
              <a:t>, an </a:t>
            </a:r>
            <a:r>
              <a:rPr lang="en-US" sz="1150" b="1" dirty="0">
                <a:solidFill>
                  <a:srgbClr val="E6ECFA"/>
                </a:solidFill>
                <a:latin typeface="Calibri" pitchFamily="34" charset="0"/>
                <a:ea typeface="Calibri" pitchFamily="34" charset="-122"/>
                <a:cs typeface="Calibri" pitchFamily="34" charset="-120"/>
              </a:rPr>
              <a:t>unconverted prefix</a:t>
            </a:r>
            <a:r>
              <a:rPr lang="en-US" sz="1150" dirty="0">
                <a:solidFill>
                  <a:srgbClr val="E6ECFA"/>
                </a:solidFill>
                <a:latin typeface="Calibri" pitchFamily="34" charset="0"/>
                <a:ea typeface="Calibri" pitchFamily="34" charset="-122"/>
                <a:cs typeface="Calibri" pitchFamily="34" charset="-120"/>
              </a:rPr>
              <a:t> or too many </a:t>
            </a:r>
            <a:r>
              <a:rPr lang="en-US" sz="1150" b="1" dirty="0">
                <a:solidFill>
                  <a:srgbClr val="E6ECFA"/>
                </a:solidFill>
                <a:latin typeface="Calibri" pitchFamily="34" charset="0"/>
                <a:ea typeface="Calibri" pitchFamily="34" charset="-122"/>
                <a:cs typeface="Calibri" pitchFamily="34" charset="-120"/>
              </a:rPr>
              <a:t>significant figures</a:t>
            </a:r>
            <a:r>
              <a:rPr lang="en-US" sz="1150" dirty="0">
                <a:solidFill>
                  <a:srgbClr val="E6ECFA"/>
                </a:solidFill>
                <a:latin typeface="Calibri" pitchFamily="34" charset="0"/>
                <a:ea typeface="Calibri" pitchFamily="34" charset="-122"/>
                <a:cs typeface="Calibri" pitchFamily="34" charset="-120"/>
              </a:rPr>
              <a:t>.</a:t>
            </a:r>
            <a:endParaRPr lang="en-US" sz="1500" dirty="0"/>
          </a:p>
        </p:txBody>
      </p:sp>
      <p:sp>
        <p:nvSpPr>
          <p:cNvPr id="49" name="Shape 47"/>
          <p:cNvSpPr/>
          <p:nvPr/>
        </p:nvSpPr>
        <p:spPr>
          <a:xfrm>
            <a:off x="6720840" y="3840480"/>
            <a:ext cx="5056632" cy="2423160"/>
          </a:xfrm>
          <a:prstGeom prst="roundRect">
            <a:avLst>
              <a:gd name="adj" fmla="val 2264"/>
            </a:avLst>
          </a:prstGeom>
          <a:solidFill>
            <a:srgbClr val="FFF4E0"/>
          </a:solidFill>
          <a:ln w="12700">
            <a:solidFill>
              <a:srgbClr val="F1D9A8"/>
            </a:solidFill>
            <a:prstDash val="solid"/>
          </a:ln>
        </p:spPr>
      </p:sp>
      <p:sp>
        <p:nvSpPr>
          <p:cNvPr id="50" name="Text 48"/>
          <p:cNvSpPr/>
          <p:nvPr/>
        </p:nvSpPr>
        <p:spPr>
          <a:xfrm>
            <a:off x="6903720" y="3931920"/>
            <a:ext cx="4709160" cy="224028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courses and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 physics-only statements:</a:t>
            </a:r>
            <a:r>
              <a:rPr lang="en-US" sz="1150" dirty="0">
                <a:solidFill>
                  <a:srgbClr val="262B3A"/>
                </a:solidFill>
                <a:latin typeface="Calibri" pitchFamily="34" charset="0"/>
                <a:ea typeface="Calibri" pitchFamily="34" charset="-122"/>
                <a:cs typeface="Calibri" pitchFamily="34" charset="-120"/>
              </a:rPr>
              <a:t> Topic 1 is the same in Combined Science 1SC0, so Combined classes skip nothing.</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No HT statements:</a:t>
            </a:r>
            <a:r>
              <a:rPr lang="en-US" sz="1150" dirty="0">
                <a:solidFill>
                  <a:srgbClr val="262B3A"/>
                </a:solidFill>
                <a:latin typeface="Calibri" pitchFamily="34" charset="0"/>
                <a:ea typeface="Calibri" pitchFamily="34" charset="-122"/>
                <a:cs typeface="Calibri" pitchFamily="34" charset="-120"/>
              </a:rPr>
              <a:t> every slide is for both tiers.</a:t>
            </a:r>
            <a:endParaRPr lang="en-US" sz="150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Green pills</a:t>
            </a:r>
            <a:r>
              <a:rPr lang="en-US" sz="1150" dirty="0">
                <a:solidFill>
                  <a:srgbClr val="262B3A"/>
                </a:solidFill>
                <a:latin typeface="Calibri" pitchFamily="34" charset="0"/>
                <a:ea typeface="Calibri" pitchFamily="34" charset="-122"/>
                <a:cs typeface="Calibri" pitchFamily="34" charset="-120"/>
              </a:rPr>
              <a:t> mark Working Scientifically skills from the specification’s skills section. They are examinable, but they are not Topic 1 statements.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Key Stage 3 science and maths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forces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a:t>
            </a:r>
            <a:r>
              <a:rPr lang="en-US" sz="1250" b="1" dirty="0">
                <a:solidFill>
                  <a:srgbClr val="262B3A"/>
                </a:solidFill>
                <a:latin typeface="Calibri" pitchFamily="34" charset="0"/>
                <a:ea typeface="Calibri" pitchFamily="34" charset="-122"/>
                <a:cs typeface="Calibri" pitchFamily="34" charset="-120"/>
              </a:rPr>
              <a:t>unit of force</a:t>
            </a:r>
            <a:r>
              <a:rPr lang="en-US" sz="1250" dirty="0">
                <a:solidFill>
                  <a:srgbClr val="262B3A"/>
                </a:solidFill>
                <a:latin typeface="Calibri" pitchFamily="34" charset="0"/>
                <a:ea typeface="Calibri" pitchFamily="34" charset="-122"/>
                <a:cs typeface="Calibri" pitchFamily="34" charset="-120"/>
              </a:rPr>
              <a:t>? What is the unit of </a:t>
            </a:r>
            <a:r>
              <a:rPr lang="en-US" sz="1250" b="1" dirty="0">
                <a:solidFill>
                  <a:srgbClr val="262B3A"/>
                </a:solidFill>
                <a:latin typeface="Calibri" pitchFamily="34" charset="0"/>
                <a:ea typeface="Calibri" pitchFamily="34" charset="-122"/>
                <a:cs typeface="Calibri" pitchFamily="34" charset="-120"/>
              </a:rPr>
              <a:t>energy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speed</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cyclist travels </a:t>
            </a:r>
            <a:r>
              <a:rPr lang="en-US" sz="1250" b="1" dirty="0">
                <a:solidFill>
                  <a:srgbClr val="262B3A"/>
                </a:solidFill>
                <a:latin typeface="Calibri" pitchFamily="34" charset="0"/>
                <a:ea typeface="Calibri" pitchFamily="34" charset="-122"/>
                <a:cs typeface="Calibri" pitchFamily="34" charset="-120"/>
              </a:rPr>
              <a:t>150 m</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30 s</a:t>
            </a:r>
            <a:r>
              <a:rPr lang="en-US" sz="1250" dirty="0">
                <a:solidFill>
                  <a:srgbClr val="262B3A"/>
                </a:solidFill>
                <a:latin typeface="Calibri" pitchFamily="34" charset="0"/>
                <a:ea typeface="Calibri" pitchFamily="34" charset="-122"/>
                <a:cs typeface="Calibri" pitchFamily="34" charset="-120"/>
              </a:rPr>
              <a:t>. Calculate the speed and give the unit.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maths • multiplying</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Work out </a:t>
            </a:r>
            <a:r>
              <a:rPr lang="en-US" sz="1250" b="1" dirty="0">
                <a:solidFill>
                  <a:srgbClr val="262B3A"/>
                </a:solidFill>
                <a:latin typeface="Calibri" pitchFamily="34" charset="0"/>
                <a:ea typeface="Calibri" pitchFamily="34" charset="-122"/>
                <a:cs typeface="Calibri" pitchFamily="34" charset="-120"/>
              </a:rPr>
              <a:t>3.4 × 1000</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3.4 ÷ 1000</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maths • rounding</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Round </a:t>
            </a:r>
            <a:r>
              <a:rPr lang="en-US" sz="1250" b="1" dirty="0">
                <a:solidFill>
                  <a:srgbClr val="262B3A"/>
                </a:solidFill>
                <a:latin typeface="Calibri" pitchFamily="34" charset="0"/>
                <a:ea typeface="Calibri" pitchFamily="34" charset="-122"/>
                <a:cs typeface="Calibri" pitchFamily="34" charset="-120"/>
              </a:rPr>
              <a:t>3.476</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1 decimal place</a:t>
            </a:r>
            <a:r>
              <a:rPr lang="en-US" sz="1250" dirty="0">
                <a:solidFill>
                  <a:srgbClr val="262B3A"/>
                </a:solidFill>
                <a:latin typeface="Calibri" pitchFamily="34" charset="0"/>
                <a:ea typeface="Calibri" pitchFamily="34" charset="-122"/>
                <a:cs typeface="Calibri" pitchFamily="34" charset="-120"/>
              </a:rPr>
              <a:t> and to </a:t>
            </a:r>
            <a:r>
              <a:rPr lang="en-US" sz="1250" b="1" dirty="0">
                <a:solidFill>
                  <a:srgbClr val="262B3A"/>
                </a:solidFill>
                <a:latin typeface="Calibri" pitchFamily="34" charset="0"/>
                <a:ea typeface="Calibri" pitchFamily="34" charset="-122"/>
                <a:cs typeface="Calibri" pitchFamily="34" charset="-120"/>
              </a:rPr>
              <a:t>2 significant figures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maths • powers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Work out </a:t>
            </a:r>
            <a:r>
              <a:rPr lang="en-US" sz="1250" b="1" dirty="0">
                <a:solidFill>
                  <a:srgbClr val="262B3A"/>
                </a:solidFill>
                <a:latin typeface="Calibri" pitchFamily="34" charset="0"/>
                <a:ea typeface="Calibri" pitchFamily="34" charset="-122"/>
                <a:cs typeface="Calibri" pitchFamily="34" charset="-120"/>
              </a:rPr>
              <a:t>10²</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10³</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100²</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KS3 • time</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How many </a:t>
            </a:r>
            <a:r>
              <a:rPr lang="en-US" sz="1250" b="1" dirty="0">
                <a:solidFill>
                  <a:srgbClr val="262B3A"/>
                </a:solidFill>
                <a:latin typeface="Calibri" pitchFamily="34" charset="0"/>
                <a:ea typeface="Calibri" pitchFamily="34" charset="-122"/>
                <a:cs typeface="Calibri" pitchFamily="34" charset="-120"/>
              </a:rPr>
              <a:t>seconds</a:t>
            </a:r>
            <a:r>
              <a:rPr lang="en-US" sz="1250" dirty="0">
                <a:solidFill>
                  <a:srgbClr val="262B3A"/>
                </a:solidFill>
                <a:latin typeface="Calibri" pitchFamily="34" charset="0"/>
                <a:ea typeface="Calibri" pitchFamily="34" charset="-122"/>
                <a:cs typeface="Calibri" pitchFamily="34" charset="-120"/>
              </a:rPr>
              <a:t> are there in </a:t>
            </a:r>
            <a:r>
              <a:rPr lang="en-US" sz="1250" b="1" dirty="0">
                <a:solidFill>
                  <a:srgbClr val="262B3A"/>
                </a:solidFill>
                <a:latin typeface="Calibri" pitchFamily="34" charset="0"/>
                <a:ea typeface="Calibri" pitchFamily="34" charset="-122"/>
                <a:cs typeface="Calibri" pitchFamily="34" charset="-120"/>
              </a:rPr>
              <a:t>1 hour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SI base units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1.1 • recall and use the SI unit for physical quantities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seven SI base units; every other unit is built from these</a:t>
            </a:r>
            <a:endParaRPr lang="en-US" sz="1000" dirty="0"/>
          </a:p>
        </p:txBody>
      </p:sp>
      <p:sp>
        <p:nvSpPr>
          <p:cNvPr id="10" name="Shape 8"/>
          <p:cNvSpPr/>
          <p:nvPr/>
        </p:nvSpPr>
        <p:spPr>
          <a:xfrm>
            <a:off x="640080" y="1371600"/>
            <a:ext cx="2194560" cy="365760"/>
          </a:xfrm>
          <a:prstGeom prst="rect">
            <a:avLst/>
          </a:prstGeom>
          <a:solidFill>
            <a:srgbClr val="1A2340"/>
          </a:solidFill>
          <a:ln/>
        </p:spPr>
      </p:sp>
      <p:sp>
        <p:nvSpPr>
          <p:cNvPr id="11" name="Text 9"/>
          <p:cNvSpPr/>
          <p:nvPr/>
        </p:nvSpPr>
        <p:spPr>
          <a:xfrm>
            <a:off x="640080" y="1371600"/>
            <a:ext cx="21945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Quantity</a:t>
            </a:r>
            <a:endParaRPr lang="en-US" sz="1150" dirty="0"/>
          </a:p>
        </p:txBody>
      </p:sp>
      <p:sp>
        <p:nvSpPr>
          <p:cNvPr id="12" name="Shape 10"/>
          <p:cNvSpPr/>
          <p:nvPr/>
        </p:nvSpPr>
        <p:spPr>
          <a:xfrm>
            <a:off x="2880360" y="1371600"/>
            <a:ext cx="1554480" cy="365760"/>
          </a:xfrm>
          <a:prstGeom prst="rect">
            <a:avLst/>
          </a:prstGeom>
          <a:solidFill>
            <a:srgbClr val="1A2340"/>
          </a:solidFill>
          <a:ln/>
        </p:spPr>
      </p:sp>
      <p:sp>
        <p:nvSpPr>
          <p:cNvPr id="13" name="Text 11"/>
          <p:cNvSpPr/>
          <p:nvPr/>
        </p:nvSpPr>
        <p:spPr>
          <a:xfrm>
            <a:off x="2880360" y="1371600"/>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SI base unit</a:t>
            </a:r>
            <a:endParaRPr lang="en-US" sz="1150" dirty="0"/>
          </a:p>
        </p:txBody>
      </p:sp>
      <p:sp>
        <p:nvSpPr>
          <p:cNvPr id="14" name="Shape 12"/>
          <p:cNvSpPr/>
          <p:nvPr/>
        </p:nvSpPr>
        <p:spPr>
          <a:xfrm>
            <a:off x="4480560" y="1371600"/>
            <a:ext cx="1143000" cy="365760"/>
          </a:xfrm>
          <a:prstGeom prst="rect">
            <a:avLst/>
          </a:prstGeom>
          <a:solidFill>
            <a:srgbClr val="1A2340"/>
          </a:solidFill>
          <a:ln/>
        </p:spPr>
      </p:sp>
      <p:sp>
        <p:nvSpPr>
          <p:cNvPr id="15" name="Text 13"/>
          <p:cNvSpPr/>
          <p:nvPr/>
        </p:nvSpPr>
        <p:spPr>
          <a:xfrm>
            <a:off x="4480560" y="1371600"/>
            <a:ext cx="114300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Symbol</a:t>
            </a:r>
            <a:endParaRPr lang="en-US" sz="1150" dirty="0"/>
          </a:p>
        </p:txBody>
      </p:sp>
      <p:sp>
        <p:nvSpPr>
          <p:cNvPr id="16" name="Shape 14"/>
          <p:cNvSpPr/>
          <p:nvPr/>
        </p:nvSpPr>
        <p:spPr>
          <a:xfrm>
            <a:off x="640080" y="1792224"/>
            <a:ext cx="2194560" cy="420624"/>
          </a:xfrm>
          <a:prstGeom prst="rect">
            <a:avLst/>
          </a:prstGeom>
          <a:solidFill>
            <a:srgbClr val="FFFFFF"/>
          </a:solidFill>
          <a:ln w="9525">
            <a:solidFill>
              <a:srgbClr val="D5DCEB"/>
            </a:solidFill>
            <a:prstDash val="solid"/>
          </a:ln>
        </p:spPr>
      </p:sp>
      <p:sp>
        <p:nvSpPr>
          <p:cNvPr id="17" name="Text 15"/>
          <p:cNvSpPr/>
          <p:nvPr/>
        </p:nvSpPr>
        <p:spPr>
          <a:xfrm>
            <a:off x="640080" y="1792224"/>
            <a:ext cx="2194560" cy="420624"/>
          </a:xfrm>
          <a:prstGeom prst="rect">
            <a:avLst/>
          </a:prstGeom>
          <a:noFill/>
          <a:ln/>
        </p:spPr>
        <p:txBody>
          <a:bodyPr wrap="square" lIns="0" tIns="0" rIns="0" bIns="0" rtlCol="0" anchor="ctr"/>
          <a:lstStyle/>
          <a:p>
            <a:pPr algn="ctr" indent="0" marL="0">
              <a:buNone/>
            </a:pPr>
            <a:r>
              <a:rPr lang="en-US" sz="1200" dirty="0">
                <a:solidFill>
                  <a:srgbClr val="1A2340"/>
                </a:solidFill>
                <a:latin typeface="Calibri" pitchFamily="34" charset="0"/>
                <a:ea typeface="Calibri" pitchFamily="34" charset="-122"/>
                <a:cs typeface="Calibri" pitchFamily="34" charset="-120"/>
              </a:rPr>
              <a:t>length</a:t>
            </a:r>
            <a:endParaRPr lang="en-US" sz="1200" dirty="0"/>
          </a:p>
        </p:txBody>
      </p:sp>
      <p:sp>
        <p:nvSpPr>
          <p:cNvPr id="18" name="Shape 16"/>
          <p:cNvSpPr/>
          <p:nvPr/>
        </p:nvSpPr>
        <p:spPr>
          <a:xfrm>
            <a:off x="2880360" y="1792224"/>
            <a:ext cx="1554480" cy="420624"/>
          </a:xfrm>
          <a:prstGeom prst="rect">
            <a:avLst/>
          </a:prstGeom>
          <a:solidFill>
            <a:srgbClr val="FFFFFF"/>
          </a:solidFill>
          <a:ln w="9525">
            <a:solidFill>
              <a:srgbClr val="D5DCEB"/>
            </a:solidFill>
            <a:prstDash val="solid"/>
          </a:ln>
        </p:spPr>
      </p:sp>
      <p:sp>
        <p:nvSpPr>
          <p:cNvPr id="19" name="Text 17"/>
          <p:cNvSpPr/>
          <p:nvPr/>
        </p:nvSpPr>
        <p:spPr>
          <a:xfrm>
            <a:off x="2880360" y="1792224"/>
            <a:ext cx="1554480" cy="420624"/>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metre</a:t>
            </a:r>
            <a:endParaRPr lang="en-US" sz="1200" dirty="0"/>
          </a:p>
        </p:txBody>
      </p:sp>
      <p:sp>
        <p:nvSpPr>
          <p:cNvPr id="20" name="Shape 18"/>
          <p:cNvSpPr/>
          <p:nvPr/>
        </p:nvSpPr>
        <p:spPr>
          <a:xfrm>
            <a:off x="4480560" y="1792224"/>
            <a:ext cx="1143000" cy="420624"/>
          </a:xfrm>
          <a:prstGeom prst="rect">
            <a:avLst/>
          </a:prstGeom>
          <a:solidFill>
            <a:srgbClr val="DCE6FB"/>
          </a:solidFill>
          <a:ln w="9525">
            <a:solidFill>
              <a:srgbClr val="D5DCEB"/>
            </a:solidFill>
            <a:prstDash val="solid"/>
          </a:ln>
        </p:spPr>
      </p:sp>
      <p:sp>
        <p:nvSpPr>
          <p:cNvPr id="21" name="Text 19"/>
          <p:cNvSpPr/>
          <p:nvPr/>
        </p:nvSpPr>
        <p:spPr>
          <a:xfrm>
            <a:off x="4480560" y="1792224"/>
            <a:ext cx="1143000" cy="420624"/>
          </a:xfrm>
          <a:prstGeom prst="rect">
            <a:avLst/>
          </a:prstGeom>
          <a:noFill/>
          <a:ln/>
        </p:spPr>
        <p:txBody>
          <a:bodyPr wrap="square" lIns="0" tIns="0" rIns="0" bIns="0" rtlCol="0" anchor="ctr"/>
          <a:lstStyle/>
          <a:p>
            <a:pPr algn="ctr" indent="0" marL="0">
              <a:buNone/>
            </a:pPr>
            <a:r>
              <a:rPr lang="en-US" sz="1500" b="1" dirty="0">
                <a:solidFill>
                  <a:srgbClr val="2E5BD8"/>
                </a:solidFill>
                <a:latin typeface="Calibri" pitchFamily="34" charset="0"/>
                <a:ea typeface="Calibri" pitchFamily="34" charset="-122"/>
                <a:cs typeface="Calibri" pitchFamily="34" charset="-120"/>
              </a:rPr>
              <a:t>m</a:t>
            </a:r>
            <a:endParaRPr lang="en-US" sz="1500" dirty="0"/>
          </a:p>
        </p:txBody>
      </p:sp>
      <p:sp>
        <p:nvSpPr>
          <p:cNvPr id="22" name="Shape 20"/>
          <p:cNvSpPr/>
          <p:nvPr/>
        </p:nvSpPr>
        <p:spPr>
          <a:xfrm>
            <a:off x="640080" y="2267712"/>
            <a:ext cx="2194560" cy="420624"/>
          </a:xfrm>
          <a:prstGeom prst="rect">
            <a:avLst/>
          </a:prstGeom>
          <a:solidFill>
            <a:srgbClr val="FFFFFF"/>
          </a:solidFill>
          <a:ln w="9525">
            <a:solidFill>
              <a:srgbClr val="D5DCEB"/>
            </a:solidFill>
            <a:prstDash val="solid"/>
          </a:ln>
        </p:spPr>
      </p:sp>
      <p:sp>
        <p:nvSpPr>
          <p:cNvPr id="23" name="Text 21"/>
          <p:cNvSpPr/>
          <p:nvPr/>
        </p:nvSpPr>
        <p:spPr>
          <a:xfrm>
            <a:off x="640080" y="2267712"/>
            <a:ext cx="2194560" cy="420624"/>
          </a:xfrm>
          <a:prstGeom prst="rect">
            <a:avLst/>
          </a:prstGeom>
          <a:noFill/>
          <a:ln/>
        </p:spPr>
        <p:txBody>
          <a:bodyPr wrap="square" lIns="0" tIns="0" rIns="0" bIns="0" rtlCol="0" anchor="ctr"/>
          <a:lstStyle/>
          <a:p>
            <a:pPr algn="ctr" indent="0" marL="0">
              <a:buNone/>
            </a:pPr>
            <a:r>
              <a:rPr lang="en-US" sz="1200" dirty="0">
                <a:solidFill>
                  <a:srgbClr val="1A2340"/>
                </a:solidFill>
                <a:latin typeface="Calibri" pitchFamily="34" charset="0"/>
                <a:ea typeface="Calibri" pitchFamily="34" charset="-122"/>
                <a:cs typeface="Calibri" pitchFamily="34" charset="-120"/>
              </a:rPr>
              <a:t>mass</a:t>
            </a:r>
            <a:endParaRPr lang="en-US" sz="1200" dirty="0"/>
          </a:p>
        </p:txBody>
      </p:sp>
      <p:sp>
        <p:nvSpPr>
          <p:cNvPr id="24" name="Shape 22"/>
          <p:cNvSpPr/>
          <p:nvPr/>
        </p:nvSpPr>
        <p:spPr>
          <a:xfrm>
            <a:off x="2880360" y="2267712"/>
            <a:ext cx="1554480" cy="420624"/>
          </a:xfrm>
          <a:prstGeom prst="rect">
            <a:avLst/>
          </a:prstGeom>
          <a:solidFill>
            <a:srgbClr val="FFFFFF"/>
          </a:solidFill>
          <a:ln w="9525">
            <a:solidFill>
              <a:srgbClr val="D5DCEB"/>
            </a:solidFill>
            <a:prstDash val="solid"/>
          </a:ln>
        </p:spPr>
      </p:sp>
      <p:sp>
        <p:nvSpPr>
          <p:cNvPr id="25" name="Text 23"/>
          <p:cNvSpPr/>
          <p:nvPr/>
        </p:nvSpPr>
        <p:spPr>
          <a:xfrm>
            <a:off x="2880360" y="2267712"/>
            <a:ext cx="1554480" cy="420624"/>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kilogram</a:t>
            </a:r>
            <a:endParaRPr lang="en-US" sz="1200" dirty="0"/>
          </a:p>
        </p:txBody>
      </p:sp>
      <p:sp>
        <p:nvSpPr>
          <p:cNvPr id="26" name="Shape 24"/>
          <p:cNvSpPr/>
          <p:nvPr/>
        </p:nvSpPr>
        <p:spPr>
          <a:xfrm>
            <a:off x="4480560" y="2267712"/>
            <a:ext cx="1143000" cy="420624"/>
          </a:xfrm>
          <a:prstGeom prst="rect">
            <a:avLst/>
          </a:prstGeom>
          <a:solidFill>
            <a:srgbClr val="DCE6FB"/>
          </a:solidFill>
          <a:ln w="9525">
            <a:solidFill>
              <a:srgbClr val="D5DCEB"/>
            </a:solidFill>
            <a:prstDash val="solid"/>
          </a:ln>
        </p:spPr>
      </p:sp>
      <p:sp>
        <p:nvSpPr>
          <p:cNvPr id="27" name="Text 25"/>
          <p:cNvSpPr/>
          <p:nvPr/>
        </p:nvSpPr>
        <p:spPr>
          <a:xfrm>
            <a:off x="4480560" y="2267712"/>
            <a:ext cx="1143000" cy="420624"/>
          </a:xfrm>
          <a:prstGeom prst="rect">
            <a:avLst/>
          </a:prstGeom>
          <a:noFill/>
          <a:ln/>
        </p:spPr>
        <p:txBody>
          <a:bodyPr wrap="square" lIns="0" tIns="0" rIns="0" bIns="0" rtlCol="0" anchor="ctr"/>
          <a:lstStyle/>
          <a:p>
            <a:pPr algn="ctr" indent="0" marL="0">
              <a:buNone/>
            </a:pPr>
            <a:r>
              <a:rPr lang="en-US" sz="1500" b="1" dirty="0">
                <a:solidFill>
                  <a:srgbClr val="2E5BD8"/>
                </a:solidFill>
                <a:latin typeface="Calibri" pitchFamily="34" charset="0"/>
                <a:ea typeface="Calibri" pitchFamily="34" charset="-122"/>
                <a:cs typeface="Calibri" pitchFamily="34" charset="-120"/>
              </a:rPr>
              <a:t>kg</a:t>
            </a:r>
            <a:endParaRPr lang="en-US" sz="1500" dirty="0"/>
          </a:p>
        </p:txBody>
      </p:sp>
      <p:sp>
        <p:nvSpPr>
          <p:cNvPr id="28" name="Shape 26"/>
          <p:cNvSpPr/>
          <p:nvPr/>
        </p:nvSpPr>
        <p:spPr>
          <a:xfrm>
            <a:off x="640080" y="2743200"/>
            <a:ext cx="2194560" cy="420624"/>
          </a:xfrm>
          <a:prstGeom prst="rect">
            <a:avLst/>
          </a:prstGeom>
          <a:solidFill>
            <a:srgbClr val="FFFFFF"/>
          </a:solidFill>
          <a:ln w="9525">
            <a:solidFill>
              <a:srgbClr val="D5DCEB"/>
            </a:solidFill>
            <a:prstDash val="solid"/>
          </a:ln>
        </p:spPr>
      </p:sp>
      <p:sp>
        <p:nvSpPr>
          <p:cNvPr id="29" name="Text 27"/>
          <p:cNvSpPr/>
          <p:nvPr/>
        </p:nvSpPr>
        <p:spPr>
          <a:xfrm>
            <a:off x="640080" y="2743200"/>
            <a:ext cx="2194560" cy="420624"/>
          </a:xfrm>
          <a:prstGeom prst="rect">
            <a:avLst/>
          </a:prstGeom>
          <a:noFill/>
          <a:ln/>
        </p:spPr>
        <p:txBody>
          <a:bodyPr wrap="square" lIns="0" tIns="0" rIns="0" bIns="0" rtlCol="0" anchor="ctr"/>
          <a:lstStyle/>
          <a:p>
            <a:pPr algn="ctr" indent="0" marL="0">
              <a:buNone/>
            </a:pPr>
            <a:r>
              <a:rPr lang="en-US" sz="1200" dirty="0">
                <a:solidFill>
                  <a:srgbClr val="1A2340"/>
                </a:solidFill>
                <a:latin typeface="Calibri" pitchFamily="34" charset="0"/>
                <a:ea typeface="Calibri" pitchFamily="34" charset="-122"/>
                <a:cs typeface="Calibri" pitchFamily="34" charset="-120"/>
              </a:rPr>
              <a:t>time</a:t>
            </a:r>
            <a:endParaRPr lang="en-US" sz="1200" dirty="0"/>
          </a:p>
        </p:txBody>
      </p:sp>
      <p:sp>
        <p:nvSpPr>
          <p:cNvPr id="30" name="Shape 28"/>
          <p:cNvSpPr/>
          <p:nvPr/>
        </p:nvSpPr>
        <p:spPr>
          <a:xfrm>
            <a:off x="2880360" y="2743200"/>
            <a:ext cx="1554480" cy="420624"/>
          </a:xfrm>
          <a:prstGeom prst="rect">
            <a:avLst/>
          </a:prstGeom>
          <a:solidFill>
            <a:srgbClr val="FFFFFF"/>
          </a:solidFill>
          <a:ln w="9525">
            <a:solidFill>
              <a:srgbClr val="D5DCEB"/>
            </a:solidFill>
            <a:prstDash val="solid"/>
          </a:ln>
        </p:spPr>
      </p:sp>
      <p:sp>
        <p:nvSpPr>
          <p:cNvPr id="31" name="Text 29"/>
          <p:cNvSpPr/>
          <p:nvPr/>
        </p:nvSpPr>
        <p:spPr>
          <a:xfrm>
            <a:off x="2880360" y="2743200"/>
            <a:ext cx="1554480" cy="420624"/>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second</a:t>
            </a:r>
            <a:endParaRPr lang="en-US" sz="1200" dirty="0"/>
          </a:p>
        </p:txBody>
      </p:sp>
      <p:sp>
        <p:nvSpPr>
          <p:cNvPr id="32" name="Shape 30"/>
          <p:cNvSpPr/>
          <p:nvPr/>
        </p:nvSpPr>
        <p:spPr>
          <a:xfrm>
            <a:off x="4480560" y="2743200"/>
            <a:ext cx="1143000" cy="420624"/>
          </a:xfrm>
          <a:prstGeom prst="rect">
            <a:avLst/>
          </a:prstGeom>
          <a:solidFill>
            <a:srgbClr val="DCE6FB"/>
          </a:solidFill>
          <a:ln w="9525">
            <a:solidFill>
              <a:srgbClr val="D5DCEB"/>
            </a:solidFill>
            <a:prstDash val="solid"/>
          </a:ln>
        </p:spPr>
      </p:sp>
      <p:sp>
        <p:nvSpPr>
          <p:cNvPr id="33" name="Text 31"/>
          <p:cNvSpPr/>
          <p:nvPr/>
        </p:nvSpPr>
        <p:spPr>
          <a:xfrm>
            <a:off x="4480560" y="2743200"/>
            <a:ext cx="1143000" cy="420624"/>
          </a:xfrm>
          <a:prstGeom prst="rect">
            <a:avLst/>
          </a:prstGeom>
          <a:noFill/>
          <a:ln/>
        </p:spPr>
        <p:txBody>
          <a:bodyPr wrap="square" lIns="0" tIns="0" rIns="0" bIns="0" rtlCol="0" anchor="ctr"/>
          <a:lstStyle/>
          <a:p>
            <a:pPr algn="ctr" indent="0" marL="0">
              <a:buNone/>
            </a:pPr>
            <a:r>
              <a:rPr lang="en-US" sz="1500" b="1" dirty="0">
                <a:solidFill>
                  <a:srgbClr val="2E5BD8"/>
                </a:solidFill>
                <a:latin typeface="Calibri" pitchFamily="34" charset="0"/>
                <a:ea typeface="Calibri" pitchFamily="34" charset="-122"/>
                <a:cs typeface="Calibri" pitchFamily="34" charset="-120"/>
              </a:rPr>
              <a:t>s</a:t>
            </a:r>
            <a:endParaRPr lang="en-US" sz="1500" dirty="0"/>
          </a:p>
        </p:txBody>
      </p:sp>
      <p:sp>
        <p:nvSpPr>
          <p:cNvPr id="34" name="Shape 32"/>
          <p:cNvSpPr/>
          <p:nvPr/>
        </p:nvSpPr>
        <p:spPr>
          <a:xfrm>
            <a:off x="640080" y="3218688"/>
            <a:ext cx="2194560" cy="420624"/>
          </a:xfrm>
          <a:prstGeom prst="rect">
            <a:avLst/>
          </a:prstGeom>
          <a:solidFill>
            <a:srgbClr val="FFFFFF"/>
          </a:solidFill>
          <a:ln w="9525">
            <a:solidFill>
              <a:srgbClr val="D5DCEB"/>
            </a:solidFill>
            <a:prstDash val="solid"/>
          </a:ln>
        </p:spPr>
      </p:sp>
      <p:sp>
        <p:nvSpPr>
          <p:cNvPr id="35" name="Text 33"/>
          <p:cNvSpPr/>
          <p:nvPr/>
        </p:nvSpPr>
        <p:spPr>
          <a:xfrm>
            <a:off x="640080" y="3218688"/>
            <a:ext cx="2194560" cy="420624"/>
          </a:xfrm>
          <a:prstGeom prst="rect">
            <a:avLst/>
          </a:prstGeom>
          <a:noFill/>
          <a:ln/>
        </p:spPr>
        <p:txBody>
          <a:bodyPr wrap="square" lIns="0" tIns="0" rIns="0" bIns="0" rtlCol="0" anchor="ctr"/>
          <a:lstStyle/>
          <a:p>
            <a:pPr algn="ctr" indent="0" marL="0">
              <a:buNone/>
            </a:pPr>
            <a:r>
              <a:rPr lang="en-US" sz="1200" dirty="0">
                <a:solidFill>
                  <a:srgbClr val="1A2340"/>
                </a:solidFill>
                <a:latin typeface="Calibri" pitchFamily="34" charset="0"/>
                <a:ea typeface="Calibri" pitchFamily="34" charset="-122"/>
                <a:cs typeface="Calibri" pitchFamily="34" charset="-120"/>
              </a:rPr>
              <a:t>electric current</a:t>
            </a:r>
            <a:endParaRPr lang="en-US" sz="1200" dirty="0"/>
          </a:p>
        </p:txBody>
      </p:sp>
      <p:sp>
        <p:nvSpPr>
          <p:cNvPr id="36" name="Shape 34"/>
          <p:cNvSpPr/>
          <p:nvPr/>
        </p:nvSpPr>
        <p:spPr>
          <a:xfrm>
            <a:off x="2880360" y="3218688"/>
            <a:ext cx="1554480" cy="420624"/>
          </a:xfrm>
          <a:prstGeom prst="rect">
            <a:avLst/>
          </a:prstGeom>
          <a:solidFill>
            <a:srgbClr val="FFFFFF"/>
          </a:solidFill>
          <a:ln w="9525">
            <a:solidFill>
              <a:srgbClr val="D5DCEB"/>
            </a:solidFill>
            <a:prstDash val="solid"/>
          </a:ln>
        </p:spPr>
      </p:sp>
      <p:sp>
        <p:nvSpPr>
          <p:cNvPr id="37" name="Text 35"/>
          <p:cNvSpPr/>
          <p:nvPr/>
        </p:nvSpPr>
        <p:spPr>
          <a:xfrm>
            <a:off x="2880360" y="3218688"/>
            <a:ext cx="1554480" cy="420624"/>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ampere</a:t>
            </a:r>
            <a:endParaRPr lang="en-US" sz="1200" dirty="0"/>
          </a:p>
        </p:txBody>
      </p:sp>
      <p:sp>
        <p:nvSpPr>
          <p:cNvPr id="38" name="Shape 36"/>
          <p:cNvSpPr/>
          <p:nvPr/>
        </p:nvSpPr>
        <p:spPr>
          <a:xfrm>
            <a:off x="4480560" y="3218688"/>
            <a:ext cx="1143000" cy="420624"/>
          </a:xfrm>
          <a:prstGeom prst="rect">
            <a:avLst/>
          </a:prstGeom>
          <a:solidFill>
            <a:srgbClr val="DCE6FB"/>
          </a:solidFill>
          <a:ln w="9525">
            <a:solidFill>
              <a:srgbClr val="D5DCEB"/>
            </a:solidFill>
            <a:prstDash val="solid"/>
          </a:ln>
        </p:spPr>
      </p:sp>
      <p:sp>
        <p:nvSpPr>
          <p:cNvPr id="39" name="Text 37"/>
          <p:cNvSpPr/>
          <p:nvPr/>
        </p:nvSpPr>
        <p:spPr>
          <a:xfrm>
            <a:off x="4480560" y="3218688"/>
            <a:ext cx="1143000" cy="420624"/>
          </a:xfrm>
          <a:prstGeom prst="rect">
            <a:avLst/>
          </a:prstGeom>
          <a:noFill/>
          <a:ln/>
        </p:spPr>
        <p:txBody>
          <a:bodyPr wrap="square" lIns="0" tIns="0" rIns="0" bIns="0" rtlCol="0" anchor="ctr"/>
          <a:lstStyle/>
          <a:p>
            <a:pPr algn="ctr" indent="0" marL="0">
              <a:buNone/>
            </a:pPr>
            <a:r>
              <a:rPr lang="en-US" sz="1500" b="1" dirty="0">
                <a:solidFill>
                  <a:srgbClr val="2E5BD8"/>
                </a:solidFill>
                <a:latin typeface="Calibri" pitchFamily="34" charset="0"/>
                <a:ea typeface="Calibri" pitchFamily="34" charset="-122"/>
                <a:cs typeface="Calibri" pitchFamily="34" charset="-120"/>
              </a:rPr>
              <a:t>A</a:t>
            </a:r>
            <a:endParaRPr lang="en-US" sz="1500" dirty="0"/>
          </a:p>
        </p:txBody>
      </p:sp>
      <p:sp>
        <p:nvSpPr>
          <p:cNvPr id="40" name="Shape 38"/>
          <p:cNvSpPr/>
          <p:nvPr/>
        </p:nvSpPr>
        <p:spPr>
          <a:xfrm>
            <a:off x="640080" y="3694176"/>
            <a:ext cx="2194560" cy="420624"/>
          </a:xfrm>
          <a:prstGeom prst="rect">
            <a:avLst/>
          </a:prstGeom>
          <a:solidFill>
            <a:srgbClr val="FFFFFF"/>
          </a:solidFill>
          <a:ln w="9525">
            <a:solidFill>
              <a:srgbClr val="D5DCEB"/>
            </a:solidFill>
            <a:prstDash val="solid"/>
          </a:ln>
        </p:spPr>
      </p:sp>
      <p:sp>
        <p:nvSpPr>
          <p:cNvPr id="41" name="Text 39"/>
          <p:cNvSpPr/>
          <p:nvPr/>
        </p:nvSpPr>
        <p:spPr>
          <a:xfrm>
            <a:off x="640080" y="3694176"/>
            <a:ext cx="2194560" cy="420624"/>
          </a:xfrm>
          <a:prstGeom prst="rect">
            <a:avLst/>
          </a:prstGeom>
          <a:noFill/>
          <a:ln/>
        </p:spPr>
        <p:txBody>
          <a:bodyPr wrap="square" lIns="0" tIns="0" rIns="0" bIns="0" rtlCol="0" anchor="ctr"/>
          <a:lstStyle/>
          <a:p>
            <a:pPr algn="ctr" indent="0" marL="0">
              <a:buNone/>
            </a:pPr>
            <a:r>
              <a:rPr lang="en-US" sz="1200" dirty="0">
                <a:solidFill>
                  <a:srgbClr val="1A2340"/>
                </a:solidFill>
                <a:latin typeface="Calibri" pitchFamily="34" charset="0"/>
                <a:ea typeface="Calibri" pitchFamily="34" charset="-122"/>
                <a:cs typeface="Calibri" pitchFamily="34" charset="-120"/>
              </a:rPr>
              <a:t>temperature</a:t>
            </a:r>
            <a:endParaRPr lang="en-US" sz="1200" dirty="0"/>
          </a:p>
        </p:txBody>
      </p:sp>
      <p:sp>
        <p:nvSpPr>
          <p:cNvPr id="42" name="Shape 40"/>
          <p:cNvSpPr/>
          <p:nvPr/>
        </p:nvSpPr>
        <p:spPr>
          <a:xfrm>
            <a:off x="2880360" y="3694176"/>
            <a:ext cx="1554480" cy="420624"/>
          </a:xfrm>
          <a:prstGeom prst="rect">
            <a:avLst/>
          </a:prstGeom>
          <a:solidFill>
            <a:srgbClr val="FFFFFF"/>
          </a:solidFill>
          <a:ln w="9525">
            <a:solidFill>
              <a:srgbClr val="D5DCEB"/>
            </a:solidFill>
            <a:prstDash val="solid"/>
          </a:ln>
        </p:spPr>
      </p:sp>
      <p:sp>
        <p:nvSpPr>
          <p:cNvPr id="43" name="Text 41"/>
          <p:cNvSpPr/>
          <p:nvPr/>
        </p:nvSpPr>
        <p:spPr>
          <a:xfrm>
            <a:off x="2880360" y="3694176"/>
            <a:ext cx="1554480" cy="420624"/>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kelvin</a:t>
            </a:r>
            <a:endParaRPr lang="en-US" sz="1200" dirty="0"/>
          </a:p>
        </p:txBody>
      </p:sp>
      <p:sp>
        <p:nvSpPr>
          <p:cNvPr id="44" name="Shape 42"/>
          <p:cNvSpPr/>
          <p:nvPr/>
        </p:nvSpPr>
        <p:spPr>
          <a:xfrm>
            <a:off x="4480560" y="3694176"/>
            <a:ext cx="1143000" cy="420624"/>
          </a:xfrm>
          <a:prstGeom prst="rect">
            <a:avLst/>
          </a:prstGeom>
          <a:solidFill>
            <a:srgbClr val="DCE6FB"/>
          </a:solidFill>
          <a:ln w="9525">
            <a:solidFill>
              <a:srgbClr val="D5DCEB"/>
            </a:solidFill>
            <a:prstDash val="solid"/>
          </a:ln>
        </p:spPr>
      </p:sp>
      <p:sp>
        <p:nvSpPr>
          <p:cNvPr id="45" name="Text 43"/>
          <p:cNvSpPr/>
          <p:nvPr/>
        </p:nvSpPr>
        <p:spPr>
          <a:xfrm>
            <a:off x="4480560" y="3694176"/>
            <a:ext cx="1143000" cy="420624"/>
          </a:xfrm>
          <a:prstGeom prst="rect">
            <a:avLst/>
          </a:prstGeom>
          <a:noFill/>
          <a:ln/>
        </p:spPr>
        <p:txBody>
          <a:bodyPr wrap="square" lIns="0" tIns="0" rIns="0" bIns="0" rtlCol="0" anchor="ctr"/>
          <a:lstStyle/>
          <a:p>
            <a:pPr algn="ctr" indent="0" marL="0">
              <a:buNone/>
            </a:pPr>
            <a:r>
              <a:rPr lang="en-US" sz="1500" b="1" dirty="0">
                <a:solidFill>
                  <a:srgbClr val="2E5BD8"/>
                </a:solidFill>
                <a:latin typeface="Calibri" pitchFamily="34" charset="0"/>
                <a:ea typeface="Calibri" pitchFamily="34" charset="-122"/>
                <a:cs typeface="Calibri" pitchFamily="34" charset="-120"/>
              </a:rPr>
              <a:t>K</a:t>
            </a:r>
            <a:endParaRPr lang="en-US" sz="1500" dirty="0"/>
          </a:p>
        </p:txBody>
      </p:sp>
      <p:sp>
        <p:nvSpPr>
          <p:cNvPr id="46" name="Shape 44"/>
          <p:cNvSpPr/>
          <p:nvPr/>
        </p:nvSpPr>
        <p:spPr>
          <a:xfrm>
            <a:off x="640080" y="4169664"/>
            <a:ext cx="2194560" cy="420624"/>
          </a:xfrm>
          <a:prstGeom prst="rect">
            <a:avLst/>
          </a:prstGeom>
          <a:solidFill>
            <a:srgbClr val="F2F3F6"/>
          </a:solidFill>
          <a:ln w="9525">
            <a:solidFill>
              <a:srgbClr val="D5DCEB"/>
            </a:solidFill>
            <a:prstDash val="solid"/>
          </a:ln>
        </p:spPr>
      </p:sp>
      <p:sp>
        <p:nvSpPr>
          <p:cNvPr id="47" name="Text 45"/>
          <p:cNvSpPr/>
          <p:nvPr/>
        </p:nvSpPr>
        <p:spPr>
          <a:xfrm>
            <a:off x="640080" y="4169664"/>
            <a:ext cx="2194560" cy="420624"/>
          </a:xfrm>
          <a:prstGeom prst="rect">
            <a:avLst/>
          </a:prstGeom>
          <a:noFill/>
          <a:ln/>
        </p:spPr>
        <p:txBody>
          <a:bodyPr wrap="square" lIns="0" tIns="0" rIns="0" bIns="0" rtlCol="0" anchor="ctr"/>
          <a:lstStyle/>
          <a:p>
            <a:pPr algn="ctr" indent="0" marL="0">
              <a:buNone/>
            </a:pPr>
            <a:r>
              <a:rPr lang="en-US" sz="1200" dirty="0">
                <a:solidFill>
                  <a:srgbClr val="9AA1B0"/>
                </a:solidFill>
                <a:latin typeface="Calibri" pitchFamily="34" charset="0"/>
                <a:ea typeface="Calibri" pitchFamily="34" charset="-122"/>
                <a:cs typeface="Calibri" pitchFamily="34" charset="-120"/>
              </a:rPr>
              <a:t>amount of substance</a:t>
            </a:r>
            <a:endParaRPr lang="en-US" sz="1200" dirty="0"/>
          </a:p>
        </p:txBody>
      </p:sp>
      <p:sp>
        <p:nvSpPr>
          <p:cNvPr id="48" name="Shape 46"/>
          <p:cNvSpPr/>
          <p:nvPr/>
        </p:nvSpPr>
        <p:spPr>
          <a:xfrm>
            <a:off x="2880360" y="4169664"/>
            <a:ext cx="1554480" cy="420624"/>
          </a:xfrm>
          <a:prstGeom prst="rect">
            <a:avLst/>
          </a:prstGeom>
          <a:solidFill>
            <a:srgbClr val="F2F3F6"/>
          </a:solidFill>
          <a:ln w="9525">
            <a:solidFill>
              <a:srgbClr val="D5DCEB"/>
            </a:solidFill>
            <a:prstDash val="solid"/>
          </a:ln>
        </p:spPr>
      </p:sp>
      <p:sp>
        <p:nvSpPr>
          <p:cNvPr id="49" name="Text 47"/>
          <p:cNvSpPr/>
          <p:nvPr/>
        </p:nvSpPr>
        <p:spPr>
          <a:xfrm>
            <a:off x="2880360" y="4169664"/>
            <a:ext cx="1554480" cy="420624"/>
          </a:xfrm>
          <a:prstGeom prst="rect">
            <a:avLst/>
          </a:prstGeom>
          <a:noFill/>
          <a:ln/>
        </p:spPr>
        <p:txBody>
          <a:bodyPr wrap="square" lIns="0" tIns="0" rIns="0" bIns="0" rtlCol="0" anchor="ctr"/>
          <a:lstStyle/>
          <a:p>
            <a:pPr algn="ctr" indent="0" marL="0">
              <a:buNone/>
            </a:pPr>
            <a:r>
              <a:rPr lang="en-US" sz="1200" b="1" dirty="0">
                <a:solidFill>
                  <a:srgbClr val="9AA1B0"/>
                </a:solidFill>
                <a:latin typeface="Calibri" pitchFamily="34" charset="0"/>
                <a:ea typeface="Calibri" pitchFamily="34" charset="-122"/>
                <a:cs typeface="Calibri" pitchFamily="34" charset="-120"/>
              </a:rPr>
              <a:t>mole</a:t>
            </a:r>
            <a:endParaRPr lang="en-US" sz="1200" dirty="0"/>
          </a:p>
        </p:txBody>
      </p:sp>
      <p:sp>
        <p:nvSpPr>
          <p:cNvPr id="50" name="Shape 48"/>
          <p:cNvSpPr/>
          <p:nvPr/>
        </p:nvSpPr>
        <p:spPr>
          <a:xfrm>
            <a:off x="4480560" y="4169664"/>
            <a:ext cx="1143000" cy="420624"/>
          </a:xfrm>
          <a:prstGeom prst="rect">
            <a:avLst/>
          </a:prstGeom>
          <a:solidFill>
            <a:srgbClr val="F2F3F6"/>
          </a:solidFill>
          <a:ln w="9525">
            <a:solidFill>
              <a:srgbClr val="D5DCEB"/>
            </a:solidFill>
            <a:prstDash val="solid"/>
          </a:ln>
        </p:spPr>
      </p:sp>
      <p:sp>
        <p:nvSpPr>
          <p:cNvPr id="51" name="Text 49"/>
          <p:cNvSpPr/>
          <p:nvPr/>
        </p:nvSpPr>
        <p:spPr>
          <a:xfrm>
            <a:off x="4480560" y="4169664"/>
            <a:ext cx="1143000" cy="420624"/>
          </a:xfrm>
          <a:prstGeom prst="rect">
            <a:avLst/>
          </a:prstGeom>
          <a:noFill/>
          <a:ln/>
        </p:spPr>
        <p:txBody>
          <a:bodyPr wrap="square" lIns="0" tIns="0" rIns="0" bIns="0" rtlCol="0" anchor="ctr"/>
          <a:lstStyle/>
          <a:p>
            <a:pPr algn="ctr" indent="0" marL="0">
              <a:buNone/>
            </a:pPr>
            <a:r>
              <a:rPr lang="en-US" sz="1500" b="1" dirty="0">
                <a:solidFill>
                  <a:srgbClr val="9AA1B0"/>
                </a:solidFill>
                <a:latin typeface="Calibri" pitchFamily="34" charset="0"/>
                <a:ea typeface="Calibri" pitchFamily="34" charset="-122"/>
                <a:cs typeface="Calibri" pitchFamily="34" charset="-120"/>
              </a:rPr>
              <a:t>mol</a:t>
            </a:r>
            <a:endParaRPr lang="en-US" sz="1500" dirty="0"/>
          </a:p>
        </p:txBody>
      </p:sp>
      <p:sp>
        <p:nvSpPr>
          <p:cNvPr id="52" name="Shape 50"/>
          <p:cNvSpPr/>
          <p:nvPr/>
        </p:nvSpPr>
        <p:spPr>
          <a:xfrm>
            <a:off x="640080" y="4645152"/>
            <a:ext cx="2194560" cy="420624"/>
          </a:xfrm>
          <a:prstGeom prst="rect">
            <a:avLst/>
          </a:prstGeom>
          <a:solidFill>
            <a:srgbClr val="F2F3F6"/>
          </a:solidFill>
          <a:ln w="9525">
            <a:solidFill>
              <a:srgbClr val="D5DCEB"/>
            </a:solidFill>
            <a:prstDash val="solid"/>
          </a:ln>
        </p:spPr>
      </p:sp>
      <p:sp>
        <p:nvSpPr>
          <p:cNvPr id="53" name="Text 51"/>
          <p:cNvSpPr/>
          <p:nvPr/>
        </p:nvSpPr>
        <p:spPr>
          <a:xfrm>
            <a:off x="640080" y="4645152"/>
            <a:ext cx="2194560" cy="420624"/>
          </a:xfrm>
          <a:prstGeom prst="rect">
            <a:avLst/>
          </a:prstGeom>
          <a:noFill/>
          <a:ln/>
        </p:spPr>
        <p:txBody>
          <a:bodyPr wrap="square" lIns="0" tIns="0" rIns="0" bIns="0" rtlCol="0" anchor="ctr"/>
          <a:lstStyle/>
          <a:p>
            <a:pPr algn="ctr" indent="0" marL="0">
              <a:buNone/>
            </a:pPr>
            <a:r>
              <a:rPr lang="en-US" sz="1200" dirty="0">
                <a:solidFill>
                  <a:srgbClr val="9AA1B0"/>
                </a:solidFill>
                <a:latin typeface="Calibri" pitchFamily="34" charset="0"/>
                <a:ea typeface="Calibri" pitchFamily="34" charset="-122"/>
                <a:cs typeface="Calibri" pitchFamily="34" charset="-120"/>
              </a:rPr>
              <a:t>luminous intensity</a:t>
            </a:r>
            <a:endParaRPr lang="en-US" sz="1200" dirty="0"/>
          </a:p>
        </p:txBody>
      </p:sp>
      <p:sp>
        <p:nvSpPr>
          <p:cNvPr id="54" name="Shape 52"/>
          <p:cNvSpPr/>
          <p:nvPr/>
        </p:nvSpPr>
        <p:spPr>
          <a:xfrm>
            <a:off x="2880360" y="4645152"/>
            <a:ext cx="1554480" cy="420624"/>
          </a:xfrm>
          <a:prstGeom prst="rect">
            <a:avLst/>
          </a:prstGeom>
          <a:solidFill>
            <a:srgbClr val="F2F3F6"/>
          </a:solidFill>
          <a:ln w="9525">
            <a:solidFill>
              <a:srgbClr val="D5DCEB"/>
            </a:solidFill>
            <a:prstDash val="solid"/>
          </a:ln>
        </p:spPr>
      </p:sp>
      <p:sp>
        <p:nvSpPr>
          <p:cNvPr id="55" name="Text 53"/>
          <p:cNvSpPr/>
          <p:nvPr/>
        </p:nvSpPr>
        <p:spPr>
          <a:xfrm>
            <a:off x="2880360" y="4645152"/>
            <a:ext cx="1554480" cy="420624"/>
          </a:xfrm>
          <a:prstGeom prst="rect">
            <a:avLst/>
          </a:prstGeom>
          <a:noFill/>
          <a:ln/>
        </p:spPr>
        <p:txBody>
          <a:bodyPr wrap="square" lIns="0" tIns="0" rIns="0" bIns="0" rtlCol="0" anchor="ctr"/>
          <a:lstStyle/>
          <a:p>
            <a:pPr algn="ctr" indent="0" marL="0">
              <a:buNone/>
            </a:pPr>
            <a:r>
              <a:rPr lang="en-US" sz="1200" b="1" dirty="0">
                <a:solidFill>
                  <a:srgbClr val="9AA1B0"/>
                </a:solidFill>
                <a:latin typeface="Calibri" pitchFamily="34" charset="0"/>
                <a:ea typeface="Calibri" pitchFamily="34" charset="-122"/>
                <a:cs typeface="Calibri" pitchFamily="34" charset="-120"/>
              </a:rPr>
              <a:t>candela</a:t>
            </a:r>
            <a:endParaRPr lang="en-US" sz="1200" dirty="0"/>
          </a:p>
        </p:txBody>
      </p:sp>
      <p:sp>
        <p:nvSpPr>
          <p:cNvPr id="56" name="Shape 54"/>
          <p:cNvSpPr/>
          <p:nvPr/>
        </p:nvSpPr>
        <p:spPr>
          <a:xfrm>
            <a:off x="4480560" y="4645152"/>
            <a:ext cx="1143000" cy="420624"/>
          </a:xfrm>
          <a:prstGeom prst="rect">
            <a:avLst/>
          </a:prstGeom>
          <a:solidFill>
            <a:srgbClr val="F2F3F6"/>
          </a:solidFill>
          <a:ln w="9525">
            <a:solidFill>
              <a:srgbClr val="D5DCEB"/>
            </a:solidFill>
            <a:prstDash val="solid"/>
          </a:ln>
        </p:spPr>
      </p:sp>
      <p:sp>
        <p:nvSpPr>
          <p:cNvPr id="57" name="Text 55"/>
          <p:cNvSpPr/>
          <p:nvPr/>
        </p:nvSpPr>
        <p:spPr>
          <a:xfrm>
            <a:off x="4480560" y="4645152"/>
            <a:ext cx="1143000" cy="420624"/>
          </a:xfrm>
          <a:prstGeom prst="rect">
            <a:avLst/>
          </a:prstGeom>
          <a:noFill/>
          <a:ln/>
        </p:spPr>
        <p:txBody>
          <a:bodyPr wrap="square" lIns="0" tIns="0" rIns="0" bIns="0" rtlCol="0" anchor="ctr"/>
          <a:lstStyle/>
          <a:p>
            <a:pPr algn="ctr" indent="0" marL="0">
              <a:buNone/>
            </a:pPr>
            <a:r>
              <a:rPr lang="en-US" sz="1500" b="1" dirty="0">
                <a:solidFill>
                  <a:srgbClr val="9AA1B0"/>
                </a:solidFill>
                <a:latin typeface="Calibri" pitchFamily="34" charset="0"/>
                <a:ea typeface="Calibri" pitchFamily="34" charset="-122"/>
                <a:cs typeface="Calibri" pitchFamily="34" charset="-120"/>
              </a:rPr>
              <a:t>cd</a:t>
            </a:r>
            <a:endParaRPr lang="en-US" sz="1500" dirty="0"/>
          </a:p>
        </p:txBody>
      </p:sp>
      <p:sp>
        <p:nvSpPr>
          <p:cNvPr id="58" name="Text 56"/>
          <p:cNvSpPr/>
          <p:nvPr/>
        </p:nvSpPr>
        <p:spPr>
          <a:xfrm>
            <a:off x="640080" y="5138928"/>
            <a:ext cx="49834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grey rows: SI base units you will not need in GCSE physics calculations</a:t>
            </a:r>
            <a:endParaRPr lang="en-US" sz="1000" dirty="0"/>
          </a:p>
        </p:txBody>
      </p:sp>
      <p:sp>
        <p:nvSpPr>
          <p:cNvPr id="59" name="Shape 57"/>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Base units: the building blocks</a:t>
            </a:r>
            <a:endParaRPr lang="en-US" sz="1300" dirty="0"/>
          </a:p>
        </p:txBody>
      </p:sp>
      <p:sp>
        <p:nvSpPr>
          <p:cNvPr id="61" name="Text 59"/>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Scientists everywhere use the </a:t>
            </a:r>
            <a:r>
              <a:rPr lang="en-US" sz="1150" b="1" dirty="0">
                <a:solidFill>
                  <a:srgbClr val="262B3A"/>
                </a:solidFill>
                <a:latin typeface="Calibri" pitchFamily="34" charset="0"/>
                <a:ea typeface="Calibri" pitchFamily="34" charset="-122"/>
                <a:cs typeface="Calibri" pitchFamily="34" charset="-120"/>
              </a:rPr>
              <a:t>SI system</a:t>
            </a:r>
            <a:r>
              <a:rPr lang="en-US" sz="1150" dirty="0">
                <a:solidFill>
                  <a:srgbClr val="262B3A"/>
                </a:solidFill>
                <a:latin typeface="Calibri" pitchFamily="34" charset="0"/>
                <a:ea typeface="Calibri" pitchFamily="34" charset="-122"/>
                <a:cs typeface="Calibri" pitchFamily="34" charset="-120"/>
              </a:rPr>
              <a:t> (Système International), so results can be shared and compared.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There are </a:t>
            </a:r>
            <a:r>
              <a:rPr lang="en-US" sz="1150" b="1" dirty="0">
                <a:solidFill>
                  <a:srgbClr val="262B3A"/>
                </a:solidFill>
                <a:latin typeface="Calibri" pitchFamily="34" charset="0"/>
                <a:ea typeface="Calibri" pitchFamily="34" charset="-122"/>
                <a:cs typeface="Calibri" pitchFamily="34" charset="-120"/>
              </a:rPr>
              <a:t>seven base units</a:t>
            </a:r>
            <a:r>
              <a:rPr lang="en-US" sz="1150" dirty="0">
                <a:solidFill>
                  <a:srgbClr val="262B3A"/>
                </a:solidFill>
                <a:latin typeface="Calibri" pitchFamily="34" charset="0"/>
                <a:ea typeface="Calibri" pitchFamily="34" charset="-122"/>
                <a:cs typeface="Calibri" pitchFamily="34" charset="-120"/>
              </a:rPr>
              <a:t>. In GCSE physics you use </a:t>
            </a:r>
            <a:r>
              <a:rPr lang="en-US" sz="1150" b="1" dirty="0">
                <a:solidFill>
                  <a:srgbClr val="262B3A"/>
                </a:solidFill>
                <a:latin typeface="Calibri" pitchFamily="34" charset="0"/>
                <a:ea typeface="Calibri" pitchFamily="34" charset="-122"/>
                <a:cs typeface="Calibri" pitchFamily="34" charset="-120"/>
              </a:rPr>
              <a:t>m, kg, s, A and K</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kilogram</a:t>
            </a:r>
            <a:r>
              <a:rPr lang="en-US" sz="1150" dirty="0">
                <a:solidFill>
                  <a:srgbClr val="262B3A"/>
                </a:solidFill>
                <a:latin typeface="Calibri" pitchFamily="34" charset="0"/>
                <a:ea typeface="Calibri" pitchFamily="34" charset="-122"/>
                <a:cs typeface="Calibri" pitchFamily="34" charset="-120"/>
              </a:rPr>
              <a:t> is the only base unit with a prefix built in: 1 kg = 1000 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Always put data into SI units </a:t>
            </a:r>
            <a:r>
              <a:rPr lang="en-US" sz="1150" b="1" dirty="0">
                <a:solidFill>
                  <a:srgbClr val="262B3A"/>
                </a:solidFill>
                <a:latin typeface="Calibri" pitchFamily="34" charset="0"/>
                <a:ea typeface="Calibri" pitchFamily="34" charset="-122"/>
                <a:cs typeface="Calibri" pitchFamily="34" charset="-120"/>
              </a:rPr>
              <a:t>before</a:t>
            </a:r>
            <a:r>
              <a:rPr lang="en-US" sz="1150" dirty="0">
                <a:solidFill>
                  <a:srgbClr val="262B3A"/>
                </a:solidFill>
                <a:latin typeface="Calibri" pitchFamily="34" charset="0"/>
                <a:ea typeface="Calibri" pitchFamily="34" charset="-122"/>
                <a:cs typeface="Calibri" pitchFamily="34" charset="-120"/>
              </a:rPr>
              <a:t> substituting into an equation.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Write the unit symbol after every answer: </a:t>
            </a:r>
            <a:r>
              <a:rPr lang="en-US" sz="1150" b="1" dirty="0">
                <a:solidFill>
                  <a:srgbClr val="262B3A"/>
                </a:solidFill>
                <a:latin typeface="Calibri" pitchFamily="34" charset="0"/>
                <a:ea typeface="Calibri" pitchFamily="34" charset="-122"/>
                <a:cs typeface="Calibri" pitchFamily="34" charset="-120"/>
              </a:rPr>
              <a:t>no unit, no mark</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62" name="Shape 60"/>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3" name="Text 61"/>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64" name="Text 62"/>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light gate measures a time of 500 ms. Write this in the SI base unit.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Identify   </a:t>
            </a:r>
            <a:r>
              <a:rPr lang="en-US" sz="1100" dirty="0">
                <a:solidFill>
                  <a:srgbClr val="262B3A"/>
                </a:solidFill>
                <a:latin typeface="Calibri" pitchFamily="34" charset="0"/>
                <a:ea typeface="Calibri" pitchFamily="34" charset="-122"/>
                <a:cs typeface="Calibri" pitchFamily="34" charset="-120"/>
              </a:rPr>
              <a:t>ms = millisecond; milli means × 10⁻³</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Convert   </a:t>
            </a:r>
            <a:r>
              <a:rPr lang="en-US" sz="1100" dirty="0">
                <a:solidFill>
                  <a:srgbClr val="262B3A"/>
                </a:solidFill>
                <a:latin typeface="Calibri" pitchFamily="34" charset="0"/>
                <a:ea typeface="Calibri" pitchFamily="34" charset="-122"/>
                <a:cs typeface="Calibri" pitchFamily="34" charset="-120"/>
              </a:rPr>
              <a:t>t = 500 × 10⁻³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t = 0.5 s</a:t>
            </a:r>
            <a:endParaRPr lang="en-US" sz="110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the SI unit and symbol for: (a) the mass of a car (b) the current in a lamp (c) the temperature of a gas.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Derived units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1.1 • units made by combining base units, many with special names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derived unit comes from the equation that defines the quantity</a:t>
            </a:r>
            <a:endParaRPr lang="en-US" sz="1000" dirty="0"/>
          </a:p>
        </p:txBody>
      </p:sp>
      <p:sp>
        <p:nvSpPr>
          <p:cNvPr id="10" name="Shape 8"/>
          <p:cNvSpPr/>
          <p:nvPr/>
        </p:nvSpPr>
        <p:spPr>
          <a:xfrm>
            <a:off x="566928" y="1353312"/>
            <a:ext cx="2578608" cy="896112"/>
          </a:xfrm>
          <a:prstGeom prst="roundRect">
            <a:avLst>
              <a:gd name="adj" fmla="val 6122"/>
            </a:avLst>
          </a:prstGeom>
          <a:solidFill>
            <a:srgbClr val="FFFFFF"/>
          </a:solidFill>
          <a:ln w="12700">
            <a:solidFill>
              <a:srgbClr val="D5DCEB"/>
            </a:solidFill>
            <a:prstDash val="solid"/>
          </a:ln>
        </p:spPr>
      </p:sp>
      <p:sp>
        <p:nvSpPr>
          <p:cNvPr id="11" name="Shape 9"/>
          <p:cNvSpPr/>
          <p:nvPr/>
        </p:nvSpPr>
        <p:spPr>
          <a:xfrm>
            <a:off x="658368" y="1508760"/>
            <a:ext cx="585216" cy="585216"/>
          </a:xfrm>
          <a:prstGeom prst="ellipse">
            <a:avLst/>
          </a:prstGeom>
          <a:solidFill>
            <a:srgbClr val="2E5BD8"/>
          </a:solidFill>
          <a:ln w="12700">
            <a:solidFill>
              <a:srgbClr val="2E5BD8"/>
            </a:solidFill>
            <a:prstDash val="solid"/>
          </a:ln>
        </p:spPr>
      </p:sp>
      <p:sp>
        <p:nvSpPr>
          <p:cNvPr id="12" name="Text 10"/>
          <p:cNvSpPr/>
          <p:nvPr/>
        </p:nvSpPr>
        <p:spPr>
          <a:xfrm>
            <a:off x="658368" y="150876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N</a:t>
            </a:r>
            <a:endParaRPr lang="en-US" sz="1700" dirty="0"/>
          </a:p>
        </p:txBody>
      </p:sp>
      <p:sp>
        <p:nvSpPr>
          <p:cNvPr id="13" name="Text 11"/>
          <p:cNvSpPr/>
          <p:nvPr/>
        </p:nvSpPr>
        <p:spPr>
          <a:xfrm>
            <a:off x="1316736" y="1408176"/>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newton • force</a:t>
            </a:r>
            <a:endParaRPr lang="en-US" sz="1050" dirty="0"/>
          </a:p>
        </p:txBody>
      </p:sp>
      <p:sp>
        <p:nvSpPr>
          <p:cNvPr id="14" name="Text 12"/>
          <p:cNvSpPr/>
          <p:nvPr/>
        </p:nvSpPr>
        <p:spPr>
          <a:xfrm>
            <a:off x="1316736" y="1664208"/>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kg m/s²</a:t>
            </a:r>
            <a:endParaRPr lang="en-US" sz="1300" dirty="0"/>
          </a:p>
        </p:txBody>
      </p:sp>
      <p:sp>
        <p:nvSpPr>
          <p:cNvPr id="15" name="Text 13"/>
          <p:cNvSpPr/>
          <p:nvPr/>
        </p:nvSpPr>
        <p:spPr>
          <a:xfrm>
            <a:off x="1316736" y="1938528"/>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F = m × a</a:t>
            </a:r>
            <a:endParaRPr lang="en-US" sz="1000" dirty="0"/>
          </a:p>
        </p:txBody>
      </p:sp>
      <p:sp>
        <p:nvSpPr>
          <p:cNvPr id="16" name="Shape 14"/>
          <p:cNvSpPr/>
          <p:nvPr/>
        </p:nvSpPr>
        <p:spPr>
          <a:xfrm>
            <a:off x="3264408" y="1353312"/>
            <a:ext cx="2578608" cy="896112"/>
          </a:xfrm>
          <a:prstGeom prst="roundRect">
            <a:avLst>
              <a:gd name="adj" fmla="val 6122"/>
            </a:avLst>
          </a:prstGeom>
          <a:solidFill>
            <a:srgbClr val="FFFFFF"/>
          </a:solidFill>
          <a:ln w="12700">
            <a:solidFill>
              <a:srgbClr val="D5DCEB"/>
            </a:solidFill>
            <a:prstDash val="solid"/>
          </a:ln>
        </p:spPr>
      </p:sp>
      <p:sp>
        <p:nvSpPr>
          <p:cNvPr id="17" name="Shape 15"/>
          <p:cNvSpPr/>
          <p:nvPr/>
        </p:nvSpPr>
        <p:spPr>
          <a:xfrm>
            <a:off x="3355848" y="1508760"/>
            <a:ext cx="585216" cy="585216"/>
          </a:xfrm>
          <a:prstGeom prst="ellipse">
            <a:avLst/>
          </a:prstGeom>
          <a:solidFill>
            <a:srgbClr val="2E5BD8"/>
          </a:solidFill>
          <a:ln w="12700">
            <a:solidFill>
              <a:srgbClr val="2E5BD8"/>
            </a:solidFill>
            <a:prstDash val="solid"/>
          </a:ln>
        </p:spPr>
      </p:sp>
      <p:sp>
        <p:nvSpPr>
          <p:cNvPr id="18" name="Text 16"/>
          <p:cNvSpPr/>
          <p:nvPr/>
        </p:nvSpPr>
        <p:spPr>
          <a:xfrm>
            <a:off x="3355848" y="150876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J</a:t>
            </a:r>
            <a:endParaRPr lang="en-US" sz="1700" dirty="0"/>
          </a:p>
        </p:txBody>
      </p:sp>
      <p:sp>
        <p:nvSpPr>
          <p:cNvPr id="19" name="Text 17"/>
          <p:cNvSpPr/>
          <p:nvPr/>
        </p:nvSpPr>
        <p:spPr>
          <a:xfrm>
            <a:off x="4014216" y="1408176"/>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joule • energy</a:t>
            </a:r>
            <a:endParaRPr lang="en-US" sz="1050" dirty="0"/>
          </a:p>
        </p:txBody>
      </p:sp>
      <p:sp>
        <p:nvSpPr>
          <p:cNvPr id="20" name="Text 18"/>
          <p:cNvSpPr/>
          <p:nvPr/>
        </p:nvSpPr>
        <p:spPr>
          <a:xfrm>
            <a:off x="4014216" y="1664208"/>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N m</a:t>
            </a:r>
            <a:endParaRPr lang="en-US" sz="1300" dirty="0"/>
          </a:p>
        </p:txBody>
      </p:sp>
      <p:sp>
        <p:nvSpPr>
          <p:cNvPr id="21" name="Text 19"/>
          <p:cNvSpPr/>
          <p:nvPr/>
        </p:nvSpPr>
        <p:spPr>
          <a:xfrm>
            <a:off x="4014216" y="1938528"/>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E = F × d</a:t>
            </a:r>
            <a:endParaRPr lang="en-US" sz="1000" dirty="0"/>
          </a:p>
        </p:txBody>
      </p:sp>
      <p:sp>
        <p:nvSpPr>
          <p:cNvPr id="22" name="Shape 20"/>
          <p:cNvSpPr/>
          <p:nvPr/>
        </p:nvSpPr>
        <p:spPr>
          <a:xfrm>
            <a:off x="566928" y="2340864"/>
            <a:ext cx="2578608" cy="896112"/>
          </a:xfrm>
          <a:prstGeom prst="roundRect">
            <a:avLst>
              <a:gd name="adj" fmla="val 6122"/>
            </a:avLst>
          </a:prstGeom>
          <a:solidFill>
            <a:srgbClr val="FFFFFF"/>
          </a:solidFill>
          <a:ln w="12700">
            <a:solidFill>
              <a:srgbClr val="D5DCEB"/>
            </a:solidFill>
            <a:prstDash val="solid"/>
          </a:ln>
        </p:spPr>
      </p:sp>
      <p:sp>
        <p:nvSpPr>
          <p:cNvPr id="23" name="Shape 21"/>
          <p:cNvSpPr/>
          <p:nvPr/>
        </p:nvSpPr>
        <p:spPr>
          <a:xfrm>
            <a:off x="658368" y="2496312"/>
            <a:ext cx="585216" cy="585216"/>
          </a:xfrm>
          <a:prstGeom prst="ellipse">
            <a:avLst/>
          </a:prstGeom>
          <a:solidFill>
            <a:srgbClr val="2E5BD8"/>
          </a:solidFill>
          <a:ln w="12700">
            <a:solidFill>
              <a:srgbClr val="2E5BD8"/>
            </a:solidFill>
            <a:prstDash val="solid"/>
          </a:ln>
        </p:spPr>
      </p:sp>
      <p:sp>
        <p:nvSpPr>
          <p:cNvPr id="24" name="Text 22"/>
          <p:cNvSpPr/>
          <p:nvPr/>
        </p:nvSpPr>
        <p:spPr>
          <a:xfrm>
            <a:off x="658368" y="2496312"/>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W</a:t>
            </a:r>
            <a:endParaRPr lang="en-US" sz="1700" dirty="0"/>
          </a:p>
        </p:txBody>
      </p:sp>
      <p:sp>
        <p:nvSpPr>
          <p:cNvPr id="25" name="Text 23"/>
          <p:cNvSpPr/>
          <p:nvPr/>
        </p:nvSpPr>
        <p:spPr>
          <a:xfrm>
            <a:off x="1316736" y="2395728"/>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watt • power</a:t>
            </a:r>
            <a:endParaRPr lang="en-US" sz="1050" dirty="0"/>
          </a:p>
        </p:txBody>
      </p:sp>
      <p:sp>
        <p:nvSpPr>
          <p:cNvPr id="26" name="Text 24"/>
          <p:cNvSpPr/>
          <p:nvPr/>
        </p:nvSpPr>
        <p:spPr>
          <a:xfrm>
            <a:off x="1316736" y="2651760"/>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J/s</a:t>
            </a:r>
            <a:endParaRPr lang="en-US" sz="1300" dirty="0"/>
          </a:p>
        </p:txBody>
      </p:sp>
      <p:sp>
        <p:nvSpPr>
          <p:cNvPr id="27" name="Text 25"/>
          <p:cNvSpPr/>
          <p:nvPr/>
        </p:nvSpPr>
        <p:spPr>
          <a:xfrm>
            <a:off x="1316736" y="2926080"/>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P = E ÷ t</a:t>
            </a:r>
            <a:endParaRPr lang="en-US" sz="1000" dirty="0"/>
          </a:p>
        </p:txBody>
      </p:sp>
      <p:sp>
        <p:nvSpPr>
          <p:cNvPr id="28" name="Shape 26"/>
          <p:cNvSpPr/>
          <p:nvPr/>
        </p:nvSpPr>
        <p:spPr>
          <a:xfrm>
            <a:off x="3264408" y="2340864"/>
            <a:ext cx="2578608" cy="896112"/>
          </a:xfrm>
          <a:prstGeom prst="roundRect">
            <a:avLst>
              <a:gd name="adj" fmla="val 6122"/>
            </a:avLst>
          </a:prstGeom>
          <a:solidFill>
            <a:srgbClr val="FFFFFF"/>
          </a:solidFill>
          <a:ln w="12700">
            <a:solidFill>
              <a:srgbClr val="D5DCEB"/>
            </a:solidFill>
            <a:prstDash val="solid"/>
          </a:ln>
        </p:spPr>
      </p:sp>
      <p:sp>
        <p:nvSpPr>
          <p:cNvPr id="29" name="Shape 27"/>
          <p:cNvSpPr/>
          <p:nvPr/>
        </p:nvSpPr>
        <p:spPr>
          <a:xfrm>
            <a:off x="3355848" y="2496312"/>
            <a:ext cx="585216" cy="585216"/>
          </a:xfrm>
          <a:prstGeom prst="ellipse">
            <a:avLst/>
          </a:prstGeom>
          <a:solidFill>
            <a:srgbClr val="2E5BD8"/>
          </a:solidFill>
          <a:ln w="12700">
            <a:solidFill>
              <a:srgbClr val="2E5BD8"/>
            </a:solidFill>
            <a:prstDash val="solid"/>
          </a:ln>
        </p:spPr>
      </p:sp>
      <p:sp>
        <p:nvSpPr>
          <p:cNvPr id="30" name="Text 28"/>
          <p:cNvSpPr/>
          <p:nvPr/>
        </p:nvSpPr>
        <p:spPr>
          <a:xfrm>
            <a:off x="3355848" y="249631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a:t>
            </a:r>
            <a:endParaRPr lang="en-US" sz="1400" dirty="0"/>
          </a:p>
        </p:txBody>
      </p:sp>
      <p:sp>
        <p:nvSpPr>
          <p:cNvPr id="31" name="Text 29"/>
          <p:cNvSpPr/>
          <p:nvPr/>
        </p:nvSpPr>
        <p:spPr>
          <a:xfrm>
            <a:off x="4014216" y="2395728"/>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pascal • pressure</a:t>
            </a:r>
            <a:endParaRPr lang="en-US" sz="1050" dirty="0"/>
          </a:p>
        </p:txBody>
      </p:sp>
      <p:sp>
        <p:nvSpPr>
          <p:cNvPr id="32" name="Text 30"/>
          <p:cNvSpPr/>
          <p:nvPr/>
        </p:nvSpPr>
        <p:spPr>
          <a:xfrm>
            <a:off x="4014216" y="2651760"/>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N/m²</a:t>
            </a:r>
            <a:endParaRPr lang="en-US" sz="1300" dirty="0"/>
          </a:p>
        </p:txBody>
      </p:sp>
      <p:sp>
        <p:nvSpPr>
          <p:cNvPr id="33" name="Text 31"/>
          <p:cNvSpPr/>
          <p:nvPr/>
        </p:nvSpPr>
        <p:spPr>
          <a:xfrm>
            <a:off x="4014216" y="2926080"/>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p = F ÷ A</a:t>
            </a:r>
            <a:endParaRPr lang="en-US" sz="1000" dirty="0"/>
          </a:p>
        </p:txBody>
      </p:sp>
      <p:sp>
        <p:nvSpPr>
          <p:cNvPr id="34" name="Shape 32"/>
          <p:cNvSpPr/>
          <p:nvPr/>
        </p:nvSpPr>
        <p:spPr>
          <a:xfrm>
            <a:off x="566928" y="3328416"/>
            <a:ext cx="2578608" cy="896112"/>
          </a:xfrm>
          <a:prstGeom prst="roundRect">
            <a:avLst>
              <a:gd name="adj" fmla="val 6122"/>
            </a:avLst>
          </a:prstGeom>
          <a:solidFill>
            <a:srgbClr val="FFFFFF"/>
          </a:solidFill>
          <a:ln w="12700">
            <a:solidFill>
              <a:srgbClr val="D5DCEB"/>
            </a:solidFill>
            <a:prstDash val="solid"/>
          </a:ln>
        </p:spPr>
      </p:sp>
      <p:sp>
        <p:nvSpPr>
          <p:cNvPr id="35" name="Shape 33"/>
          <p:cNvSpPr/>
          <p:nvPr/>
        </p:nvSpPr>
        <p:spPr>
          <a:xfrm>
            <a:off x="658368" y="3483864"/>
            <a:ext cx="585216" cy="585216"/>
          </a:xfrm>
          <a:prstGeom prst="ellipse">
            <a:avLst/>
          </a:prstGeom>
          <a:solidFill>
            <a:srgbClr val="2E5BD8"/>
          </a:solidFill>
          <a:ln w="12700">
            <a:solidFill>
              <a:srgbClr val="2E5BD8"/>
            </a:solidFill>
            <a:prstDash val="solid"/>
          </a:ln>
        </p:spPr>
      </p:sp>
      <p:sp>
        <p:nvSpPr>
          <p:cNvPr id="36" name="Text 34"/>
          <p:cNvSpPr/>
          <p:nvPr/>
        </p:nvSpPr>
        <p:spPr>
          <a:xfrm>
            <a:off x="658368" y="3483864"/>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C</a:t>
            </a:r>
            <a:endParaRPr lang="en-US" sz="1700" dirty="0"/>
          </a:p>
        </p:txBody>
      </p:sp>
      <p:sp>
        <p:nvSpPr>
          <p:cNvPr id="37" name="Text 35"/>
          <p:cNvSpPr/>
          <p:nvPr/>
        </p:nvSpPr>
        <p:spPr>
          <a:xfrm>
            <a:off x="1316736" y="3383280"/>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coulomb • charge</a:t>
            </a:r>
            <a:endParaRPr lang="en-US" sz="1050" dirty="0"/>
          </a:p>
        </p:txBody>
      </p:sp>
      <p:sp>
        <p:nvSpPr>
          <p:cNvPr id="38" name="Text 36"/>
          <p:cNvSpPr/>
          <p:nvPr/>
        </p:nvSpPr>
        <p:spPr>
          <a:xfrm>
            <a:off x="1316736" y="3639312"/>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A s</a:t>
            </a:r>
            <a:endParaRPr lang="en-US" sz="1300" dirty="0"/>
          </a:p>
        </p:txBody>
      </p:sp>
      <p:sp>
        <p:nvSpPr>
          <p:cNvPr id="39" name="Text 37"/>
          <p:cNvSpPr/>
          <p:nvPr/>
        </p:nvSpPr>
        <p:spPr>
          <a:xfrm>
            <a:off x="1316736" y="3913632"/>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Q = I × t</a:t>
            </a:r>
            <a:endParaRPr lang="en-US" sz="1000" dirty="0"/>
          </a:p>
        </p:txBody>
      </p:sp>
      <p:sp>
        <p:nvSpPr>
          <p:cNvPr id="40" name="Shape 38"/>
          <p:cNvSpPr/>
          <p:nvPr/>
        </p:nvSpPr>
        <p:spPr>
          <a:xfrm>
            <a:off x="3264408" y="3328416"/>
            <a:ext cx="2578608" cy="896112"/>
          </a:xfrm>
          <a:prstGeom prst="roundRect">
            <a:avLst>
              <a:gd name="adj" fmla="val 6122"/>
            </a:avLst>
          </a:prstGeom>
          <a:solidFill>
            <a:srgbClr val="FFFFFF"/>
          </a:solidFill>
          <a:ln w="12700">
            <a:solidFill>
              <a:srgbClr val="D5DCEB"/>
            </a:solidFill>
            <a:prstDash val="solid"/>
          </a:ln>
        </p:spPr>
      </p:sp>
      <p:sp>
        <p:nvSpPr>
          <p:cNvPr id="41" name="Shape 39"/>
          <p:cNvSpPr/>
          <p:nvPr/>
        </p:nvSpPr>
        <p:spPr>
          <a:xfrm>
            <a:off x="3355848" y="3483864"/>
            <a:ext cx="585216" cy="585216"/>
          </a:xfrm>
          <a:prstGeom prst="ellipse">
            <a:avLst/>
          </a:prstGeom>
          <a:solidFill>
            <a:srgbClr val="2E5BD8"/>
          </a:solidFill>
          <a:ln w="12700">
            <a:solidFill>
              <a:srgbClr val="2E5BD8"/>
            </a:solidFill>
            <a:prstDash val="solid"/>
          </a:ln>
        </p:spPr>
      </p:sp>
      <p:sp>
        <p:nvSpPr>
          <p:cNvPr id="42" name="Text 40"/>
          <p:cNvSpPr/>
          <p:nvPr/>
        </p:nvSpPr>
        <p:spPr>
          <a:xfrm>
            <a:off x="3355848" y="3483864"/>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V</a:t>
            </a:r>
            <a:endParaRPr lang="en-US" sz="1700" dirty="0"/>
          </a:p>
        </p:txBody>
      </p:sp>
      <p:sp>
        <p:nvSpPr>
          <p:cNvPr id="43" name="Text 41"/>
          <p:cNvSpPr/>
          <p:nvPr/>
        </p:nvSpPr>
        <p:spPr>
          <a:xfrm>
            <a:off x="4014216" y="3383280"/>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volt • potential difference</a:t>
            </a:r>
            <a:endParaRPr lang="en-US" sz="1050" dirty="0"/>
          </a:p>
        </p:txBody>
      </p:sp>
      <p:sp>
        <p:nvSpPr>
          <p:cNvPr id="44" name="Text 42"/>
          <p:cNvSpPr/>
          <p:nvPr/>
        </p:nvSpPr>
        <p:spPr>
          <a:xfrm>
            <a:off x="4014216" y="3639312"/>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J/C</a:t>
            </a:r>
            <a:endParaRPr lang="en-US" sz="1300" dirty="0"/>
          </a:p>
        </p:txBody>
      </p:sp>
      <p:sp>
        <p:nvSpPr>
          <p:cNvPr id="45" name="Text 43"/>
          <p:cNvSpPr/>
          <p:nvPr/>
        </p:nvSpPr>
        <p:spPr>
          <a:xfrm>
            <a:off x="4014216" y="3913632"/>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E = Q × V</a:t>
            </a:r>
            <a:endParaRPr lang="en-US" sz="1000" dirty="0"/>
          </a:p>
        </p:txBody>
      </p:sp>
      <p:sp>
        <p:nvSpPr>
          <p:cNvPr id="46" name="Shape 44"/>
          <p:cNvSpPr/>
          <p:nvPr/>
        </p:nvSpPr>
        <p:spPr>
          <a:xfrm>
            <a:off x="566928" y="4315968"/>
            <a:ext cx="2578608" cy="896112"/>
          </a:xfrm>
          <a:prstGeom prst="roundRect">
            <a:avLst>
              <a:gd name="adj" fmla="val 6122"/>
            </a:avLst>
          </a:prstGeom>
          <a:solidFill>
            <a:srgbClr val="FFFFFF"/>
          </a:solidFill>
          <a:ln w="12700">
            <a:solidFill>
              <a:srgbClr val="D5DCEB"/>
            </a:solidFill>
            <a:prstDash val="solid"/>
          </a:ln>
        </p:spPr>
      </p:sp>
      <p:sp>
        <p:nvSpPr>
          <p:cNvPr id="47" name="Shape 45"/>
          <p:cNvSpPr/>
          <p:nvPr/>
        </p:nvSpPr>
        <p:spPr>
          <a:xfrm>
            <a:off x="658368" y="4471416"/>
            <a:ext cx="585216" cy="585216"/>
          </a:xfrm>
          <a:prstGeom prst="ellipse">
            <a:avLst/>
          </a:prstGeom>
          <a:solidFill>
            <a:srgbClr val="2E5BD8"/>
          </a:solidFill>
          <a:ln w="12700">
            <a:solidFill>
              <a:srgbClr val="2E5BD8"/>
            </a:solidFill>
            <a:prstDash val="solid"/>
          </a:ln>
        </p:spPr>
      </p:sp>
      <p:sp>
        <p:nvSpPr>
          <p:cNvPr id="48" name="Text 46"/>
          <p:cNvSpPr/>
          <p:nvPr/>
        </p:nvSpPr>
        <p:spPr>
          <a:xfrm>
            <a:off x="658368" y="4471416"/>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Ω</a:t>
            </a:r>
            <a:endParaRPr lang="en-US" sz="1700" dirty="0"/>
          </a:p>
        </p:txBody>
      </p:sp>
      <p:sp>
        <p:nvSpPr>
          <p:cNvPr id="49" name="Text 47"/>
          <p:cNvSpPr/>
          <p:nvPr/>
        </p:nvSpPr>
        <p:spPr>
          <a:xfrm>
            <a:off x="1316736" y="4370832"/>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ohm • resistance</a:t>
            </a:r>
            <a:endParaRPr lang="en-US" sz="1050" dirty="0"/>
          </a:p>
        </p:txBody>
      </p:sp>
      <p:sp>
        <p:nvSpPr>
          <p:cNvPr id="50" name="Text 48"/>
          <p:cNvSpPr/>
          <p:nvPr/>
        </p:nvSpPr>
        <p:spPr>
          <a:xfrm>
            <a:off x="1316736" y="4626864"/>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V/A</a:t>
            </a:r>
            <a:endParaRPr lang="en-US" sz="1300" dirty="0"/>
          </a:p>
        </p:txBody>
      </p:sp>
      <p:sp>
        <p:nvSpPr>
          <p:cNvPr id="51" name="Text 49"/>
          <p:cNvSpPr/>
          <p:nvPr/>
        </p:nvSpPr>
        <p:spPr>
          <a:xfrm>
            <a:off x="1316736" y="4901184"/>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from V = I × R</a:t>
            </a:r>
            <a:endParaRPr lang="en-US" sz="1000" dirty="0"/>
          </a:p>
        </p:txBody>
      </p:sp>
      <p:sp>
        <p:nvSpPr>
          <p:cNvPr id="52" name="Shape 50"/>
          <p:cNvSpPr/>
          <p:nvPr/>
        </p:nvSpPr>
        <p:spPr>
          <a:xfrm>
            <a:off x="3264408" y="4315968"/>
            <a:ext cx="2578608" cy="896112"/>
          </a:xfrm>
          <a:prstGeom prst="roundRect">
            <a:avLst>
              <a:gd name="adj" fmla="val 6122"/>
            </a:avLst>
          </a:prstGeom>
          <a:solidFill>
            <a:srgbClr val="FFFFFF"/>
          </a:solidFill>
          <a:ln w="12700">
            <a:solidFill>
              <a:srgbClr val="D5DCEB"/>
            </a:solidFill>
            <a:prstDash val="solid"/>
          </a:ln>
        </p:spPr>
      </p:sp>
      <p:sp>
        <p:nvSpPr>
          <p:cNvPr id="53" name="Shape 51"/>
          <p:cNvSpPr/>
          <p:nvPr/>
        </p:nvSpPr>
        <p:spPr>
          <a:xfrm>
            <a:off x="3355848" y="4471416"/>
            <a:ext cx="585216" cy="585216"/>
          </a:xfrm>
          <a:prstGeom prst="ellipse">
            <a:avLst/>
          </a:prstGeom>
          <a:solidFill>
            <a:srgbClr val="2E5BD8"/>
          </a:solidFill>
          <a:ln w="12700">
            <a:solidFill>
              <a:srgbClr val="2E5BD8"/>
            </a:solidFill>
            <a:prstDash val="solid"/>
          </a:ln>
        </p:spPr>
      </p:sp>
      <p:sp>
        <p:nvSpPr>
          <p:cNvPr id="54" name="Text 52"/>
          <p:cNvSpPr/>
          <p:nvPr/>
        </p:nvSpPr>
        <p:spPr>
          <a:xfrm>
            <a:off x="3355848" y="4471416"/>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Hz</a:t>
            </a:r>
            <a:endParaRPr lang="en-US" sz="1400" dirty="0"/>
          </a:p>
        </p:txBody>
      </p:sp>
      <p:sp>
        <p:nvSpPr>
          <p:cNvPr id="55" name="Text 53"/>
          <p:cNvSpPr/>
          <p:nvPr/>
        </p:nvSpPr>
        <p:spPr>
          <a:xfrm>
            <a:off x="4014216" y="4370832"/>
            <a:ext cx="1773936"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hertz • frequency</a:t>
            </a:r>
            <a:endParaRPr lang="en-US" sz="1050" dirty="0"/>
          </a:p>
        </p:txBody>
      </p:sp>
      <p:sp>
        <p:nvSpPr>
          <p:cNvPr id="56" name="Text 54"/>
          <p:cNvSpPr/>
          <p:nvPr/>
        </p:nvSpPr>
        <p:spPr>
          <a:xfrm>
            <a:off x="4014216" y="4626864"/>
            <a:ext cx="1773936" cy="274320"/>
          </a:xfrm>
          <a:prstGeom prst="rect">
            <a:avLst/>
          </a:prstGeom>
          <a:noFill/>
          <a:ln/>
        </p:spPr>
        <p:txBody>
          <a:bodyPr wrap="square" lIns="0" tIns="0" rIns="0" bIns="0" rtlCol="0" anchor="ctr"/>
          <a:lstStyle/>
          <a:p>
            <a:pPr algn="l" indent="0" marL="0">
              <a:buNone/>
            </a:pPr>
            <a:r>
              <a:rPr lang="en-US" sz="1300" b="1" dirty="0">
                <a:solidFill>
                  <a:srgbClr val="2E5BD8"/>
                </a:solidFill>
                <a:latin typeface="Calibri" pitchFamily="34" charset="0"/>
                <a:ea typeface="Calibri" pitchFamily="34" charset="-122"/>
                <a:cs typeface="Calibri" pitchFamily="34" charset="-120"/>
              </a:rPr>
              <a:t>= 1/s</a:t>
            </a:r>
            <a:endParaRPr lang="en-US" sz="1300" dirty="0"/>
          </a:p>
        </p:txBody>
      </p:sp>
      <p:sp>
        <p:nvSpPr>
          <p:cNvPr id="57" name="Text 55"/>
          <p:cNvSpPr/>
          <p:nvPr/>
        </p:nvSpPr>
        <p:spPr>
          <a:xfrm>
            <a:off x="4014216" y="4901184"/>
            <a:ext cx="1773936" cy="237744"/>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waves per second</a:t>
            </a:r>
            <a:endParaRPr lang="en-US" sz="1000" dirty="0"/>
          </a:p>
        </p:txBody>
      </p:sp>
      <p:sp>
        <p:nvSpPr>
          <p:cNvPr id="58" name="Shape 5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59" name="Text 5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Building units from equations</a:t>
            </a:r>
            <a:endParaRPr lang="en-US" sz="1300" dirty="0"/>
          </a:p>
        </p:txBody>
      </p:sp>
      <p:sp>
        <p:nvSpPr>
          <p:cNvPr id="60" name="Text 5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derived unit</a:t>
            </a:r>
            <a:r>
              <a:rPr lang="en-US" sz="1150" dirty="0">
                <a:solidFill>
                  <a:srgbClr val="262B3A"/>
                </a:solidFill>
                <a:latin typeface="Calibri" pitchFamily="34" charset="0"/>
                <a:ea typeface="Calibri" pitchFamily="34" charset="-122"/>
                <a:cs typeface="Calibri" pitchFamily="34" charset="-120"/>
              </a:rPr>
              <a:t> is a combination of base units, e.g. speed in </a:t>
            </a:r>
            <a:r>
              <a:rPr lang="en-US" sz="1150" b="1" dirty="0">
                <a:solidFill>
                  <a:srgbClr val="262B3A"/>
                </a:solidFill>
                <a:latin typeface="Calibri" pitchFamily="34" charset="0"/>
                <a:ea typeface="Calibri" pitchFamily="34" charset="-122"/>
                <a:cs typeface="Calibri" pitchFamily="34" charset="-120"/>
              </a:rPr>
              <a:t>m/s</a:t>
            </a:r>
            <a:r>
              <a:rPr lang="en-US" sz="1150" dirty="0">
                <a:solidFill>
                  <a:srgbClr val="262B3A"/>
                </a:solidFill>
                <a:latin typeface="Calibri" pitchFamily="34" charset="0"/>
                <a:ea typeface="Calibri" pitchFamily="34" charset="-122"/>
                <a:cs typeface="Calibri" pitchFamily="34" charset="-120"/>
              </a:rPr>
              <a:t>, density in </a:t>
            </a:r>
            <a:r>
              <a:rPr lang="en-US" sz="1150" b="1" dirty="0">
                <a:solidFill>
                  <a:srgbClr val="262B3A"/>
                </a:solidFill>
                <a:latin typeface="Calibri" pitchFamily="34" charset="0"/>
                <a:ea typeface="Calibri" pitchFamily="34" charset="-122"/>
                <a:cs typeface="Calibri" pitchFamily="34" charset="-120"/>
              </a:rPr>
              <a:t>kg/m³</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Some derived units have a </a:t>
            </a:r>
            <a:r>
              <a:rPr lang="en-US" sz="1150" b="1" dirty="0">
                <a:solidFill>
                  <a:srgbClr val="262B3A"/>
                </a:solidFill>
                <a:latin typeface="Calibri" pitchFamily="34" charset="0"/>
                <a:ea typeface="Calibri" pitchFamily="34" charset="-122"/>
                <a:cs typeface="Calibri" pitchFamily="34" charset="-120"/>
              </a:rPr>
              <a:t>special name</a:t>
            </a:r>
            <a:r>
              <a:rPr lang="en-US" sz="1150" dirty="0">
                <a:solidFill>
                  <a:srgbClr val="262B3A"/>
                </a:solidFill>
                <a:latin typeface="Calibri" pitchFamily="34" charset="0"/>
                <a:ea typeface="Calibri" pitchFamily="34" charset="-122"/>
                <a:cs typeface="Calibri" pitchFamily="34" charset="-120"/>
              </a:rPr>
              <a:t>, often after a scientist: newton, joule, watt, pascal, coulomb, volt, ohm, hertz.</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To find the unit of a quantity, </a:t>
            </a:r>
            <a:r>
              <a:rPr lang="en-US" sz="1150" b="1" dirty="0">
                <a:solidFill>
                  <a:srgbClr val="262B3A"/>
                </a:solidFill>
                <a:latin typeface="Calibri" pitchFamily="34" charset="0"/>
                <a:ea typeface="Calibri" pitchFamily="34" charset="-122"/>
                <a:cs typeface="Calibri" pitchFamily="34" charset="-120"/>
              </a:rPr>
              <a:t>put the units into its equation</a:t>
            </a:r>
            <a:r>
              <a:rPr lang="en-US" sz="1150" dirty="0">
                <a:solidFill>
                  <a:srgbClr val="262B3A"/>
                </a:solidFill>
                <a:latin typeface="Calibri" pitchFamily="34" charset="0"/>
                <a:ea typeface="Calibri" pitchFamily="34" charset="-122"/>
                <a:cs typeface="Calibri" pitchFamily="34" charset="-120"/>
              </a:rPr>
              <a:t> and simplify.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Units with names of people use a </a:t>
            </a:r>
            <a:r>
              <a:rPr lang="en-US" sz="1150" b="1" dirty="0">
                <a:solidFill>
                  <a:srgbClr val="262B3A"/>
                </a:solidFill>
                <a:latin typeface="Calibri" pitchFamily="34" charset="0"/>
                <a:ea typeface="Calibri" pitchFamily="34" charset="-122"/>
                <a:cs typeface="Calibri" pitchFamily="34" charset="-120"/>
              </a:rPr>
              <a:t>capital letter symbol</a:t>
            </a:r>
            <a:r>
              <a:rPr lang="en-US" sz="1150" dirty="0">
                <a:solidFill>
                  <a:srgbClr val="262B3A"/>
                </a:solidFill>
                <a:latin typeface="Calibri" pitchFamily="34" charset="0"/>
                <a:ea typeface="Calibri" pitchFamily="34" charset="-122"/>
                <a:cs typeface="Calibri" pitchFamily="34" charset="-120"/>
              </a:rPr>
              <a:t> (N, J, W, Pa) but a </a:t>
            </a:r>
            <a:r>
              <a:rPr lang="en-US" sz="1150" b="1" dirty="0">
                <a:solidFill>
                  <a:srgbClr val="262B3A"/>
                </a:solidFill>
                <a:latin typeface="Calibri" pitchFamily="34" charset="0"/>
                <a:ea typeface="Calibri" pitchFamily="34" charset="-122"/>
                <a:cs typeface="Calibri" pitchFamily="34" charset="-120"/>
              </a:rPr>
              <a:t>small letter</a:t>
            </a:r>
            <a:r>
              <a:rPr lang="en-US" sz="1150" dirty="0">
                <a:solidFill>
                  <a:srgbClr val="262B3A"/>
                </a:solidFill>
                <a:latin typeface="Calibri" pitchFamily="34" charset="0"/>
                <a:ea typeface="Calibri" pitchFamily="34" charset="-122"/>
                <a:cs typeface="Calibri" pitchFamily="34" charset="-120"/>
              </a:rPr>
              <a:t> when written as a word (newton).</a:t>
            </a:r>
            <a:endParaRPr lang="en-US" sz="1150" dirty="0"/>
          </a:p>
        </p:txBody>
      </p:sp>
      <p:sp>
        <p:nvSpPr>
          <p:cNvPr id="61" name="Shape 5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62" name="Text 6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63" name="Text 6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Find the SI unit of density from ρ = m ÷ V.</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density = mass ÷ volume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Units in   </a:t>
            </a:r>
            <a:r>
              <a:rPr lang="en-US" sz="1100" dirty="0">
                <a:solidFill>
                  <a:srgbClr val="262B3A"/>
                </a:solidFill>
                <a:latin typeface="Calibri" pitchFamily="34" charset="0"/>
                <a:ea typeface="Calibri" pitchFamily="34" charset="-122"/>
                <a:cs typeface="Calibri" pitchFamily="34" charset="-120"/>
              </a:rPr>
              <a:t>unit = kg ÷ m³</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unit of density = kg/m³</a:t>
            </a:r>
            <a:endParaRPr lang="en-US" sz="110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P = E ÷ t to write the watt in terms of joules and seconds. Use F = m × a to write the newton in SI base units.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1.1 • SI base units and derived units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the SI unit of: (i) </a:t>
            </a:r>
            <a:r>
              <a:rPr lang="en-US" sz="1250" b="1" dirty="0">
                <a:solidFill>
                  <a:srgbClr val="262B3A"/>
                </a:solidFill>
                <a:latin typeface="Calibri" pitchFamily="34" charset="0"/>
                <a:ea typeface="Calibri" pitchFamily="34" charset="-122"/>
                <a:cs typeface="Calibri" pitchFamily="34" charset="-120"/>
              </a:rPr>
              <a:t>mass</a:t>
            </a:r>
            <a:r>
              <a:rPr lang="en-US" sz="1250" dirty="0">
                <a:solidFill>
                  <a:srgbClr val="262B3A"/>
                </a:solidFill>
                <a:latin typeface="Calibri" pitchFamily="34" charset="0"/>
                <a:ea typeface="Calibri" pitchFamily="34" charset="-122"/>
                <a:cs typeface="Calibri" pitchFamily="34" charset="-120"/>
              </a:rPr>
              <a:t> (ii) </a:t>
            </a:r>
            <a:r>
              <a:rPr lang="en-US" sz="1250" b="1" dirty="0">
                <a:solidFill>
                  <a:srgbClr val="262B3A"/>
                </a:solidFill>
                <a:latin typeface="Calibri" pitchFamily="34" charset="0"/>
                <a:ea typeface="Calibri" pitchFamily="34" charset="-122"/>
                <a:cs typeface="Calibri" pitchFamily="34" charset="-120"/>
              </a:rPr>
              <a:t>temperature</a:t>
            </a:r>
            <a:r>
              <a:rPr lang="en-US" sz="1250" dirty="0">
                <a:solidFill>
                  <a:srgbClr val="262B3A"/>
                </a:solidFill>
                <a:latin typeface="Calibri" pitchFamily="34" charset="0"/>
                <a:ea typeface="Calibri" pitchFamily="34" charset="-122"/>
                <a:cs typeface="Calibri" pitchFamily="34" charset="-120"/>
              </a:rPr>
              <a:t> (iii) </a:t>
            </a:r>
            <a:r>
              <a:rPr lang="en-US" sz="1250" b="1" dirty="0">
                <a:solidFill>
                  <a:srgbClr val="262B3A"/>
                </a:solidFill>
                <a:latin typeface="Calibri" pitchFamily="34" charset="0"/>
                <a:ea typeface="Calibri" pitchFamily="34" charset="-122"/>
                <a:cs typeface="Calibri" pitchFamily="34" charset="-120"/>
              </a:rPr>
              <a:t>power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Pressure is calculated using </a:t>
            </a:r>
            <a:r>
              <a:rPr lang="en-US" sz="1250" b="1" dirty="0">
                <a:solidFill>
                  <a:srgbClr val="262B3A"/>
                </a:solidFill>
                <a:latin typeface="Calibri" pitchFamily="34" charset="0"/>
                <a:ea typeface="Calibri" pitchFamily="34" charset="-122"/>
                <a:cs typeface="Calibri" pitchFamily="34" charset="-120"/>
              </a:rPr>
              <a:t>p = F ÷ A</a:t>
            </a:r>
            <a:r>
              <a:rPr lang="en-US" sz="1250" dirty="0">
                <a:solidFill>
                  <a:srgbClr val="262B3A"/>
                </a:solidFill>
                <a:latin typeface="Calibri" pitchFamily="34" charset="0"/>
                <a:ea typeface="Calibri" pitchFamily="34" charset="-122"/>
                <a:cs typeface="Calibri" pitchFamily="34" charset="-120"/>
              </a:rPr>
              <a:t>. Use this equation to give the unit of pressure in terms of </a:t>
            </a:r>
            <a:r>
              <a:rPr lang="en-US" sz="1250" b="1" dirty="0">
                <a:solidFill>
                  <a:srgbClr val="262B3A"/>
                </a:solidFill>
                <a:latin typeface="Calibri" pitchFamily="34" charset="0"/>
                <a:ea typeface="Calibri" pitchFamily="34" charset="-122"/>
                <a:cs typeface="Calibri" pitchFamily="34" charset="-120"/>
              </a:rPr>
              <a:t>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m</a:t>
            </a:r>
            <a:r>
              <a:rPr lang="en-US" sz="1250" dirty="0">
                <a:solidFill>
                  <a:srgbClr val="262B3A"/>
                </a:solidFill>
                <a:latin typeface="Calibri" pitchFamily="34" charset="0"/>
                <a:ea typeface="Calibri" pitchFamily="34" charset="-122"/>
                <a:cs typeface="Calibri" pitchFamily="34" charset="-120"/>
              </a:rPr>
              <a:t>, and give the </a:t>
            </a:r>
            <a:r>
              <a:rPr lang="en-US" sz="1250" b="1" dirty="0">
                <a:solidFill>
                  <a:srgbClr val="262B3A"/>
                </a:solidFill>
                <a:latin typeface="Calibri" pitchFamily="34" charset="0"/>
                <a:ea typeface="Calibri" pitchFamily="34" charset="-122"/>
                <a:cs typeface="Calibri" pitchFamily="34" charset="-120"/>
              </a:rPr>
              <a:t>special name</a:t>
            </a:r>
            <a:r>
              <a:rPr lang="en-US" sz="1250" dirty="0">
                <a:solidFill>
                  <a:srgbClr val="262B3A"/>
                </a:solidFill>
                <a:latin typeface="Calibri" pitchFamily="34" charset="0"/>
                <a:ea typeface="Calibri" pitchFamily="34" charset="-122"/>
                <a:cs typeface="Calibri" pitchFamily="34" charset="-120"/>
              </a:rPr>
              <a:t> of this unit.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car’s speedometer shows speed in </a:t>
            </a:r>
            <a:r>
              <a:rPr lang="en-US" sz="1250" b="1" dirty="0">
                <a:solidFill>
                  <a:srgbClr val="262B3A"/>
                </a:solidFill>
                <a:latin typeface="Calibri" pitchFamily="34" charset="0"/>
                <a:ea typeface="Calibri" pitchFamily="34" charset="-122"/>
                <a:cs typeface="Calibri" pitchFamily="34" charset="-120"/>
              </a:rPr>
              <a:t>km/h</a:t>
            </a:r>
            <a:r>
              <a:rPr lang="en-US" sz="1250" dirty="0">
                <a:solidFill>
                  <a:srgbClr val="262B3A"/>
                </a:solidFill>
                <a:latin typeface="Calibri" pitchFamily="34" charset="0"/>
                <a:ea typeface="Calibri" pitchFamily="34" charset="-122"/>
                <a:cs typeface="Calibri" pitchFamily="34" charset="-120"/>
              </a:rPr>
              <a:t>. Explain why km/h is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the SI unit of speed, and give the SI unit.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Prefixes: the powers-of-ten ladder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1.2 • giga (G), mega (M), kilo (k), centi (c), milli (m), micro (μ), nano (n)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1.2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rungs drawn to scale: each step up the ladder is × 10</a:t>
            </a:r>
            <a:endParaRPr lang="en-US" sz="1000" dirty="0"/>
          </a:p>
        </p:txBody>
      </p:sp>
      <p:sp>
        <p:nvSpPr>
          <p:cNvPr id="10" name="Text 8"/>
          <p:cNvSpPr/>
          <p:nvPr/>
        </p:nvSpPr>
        <p:spPr>
          <a:xfrm>
            <a:off x="502920" y="1280160"/>
            <a:ext cx="868680" cy="256032"/>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power</a:t>
            </a:r>
            <a:endParaRPr lang="en-US" sz="1050" dirty="0"/>
          </a:p>
        </p:txBody>
      </p:sp>
      <p:sp>
        <p:nvSpPr>
          <p:cNvPr id="11" name="Text 9"/>
          <p:cNvSpPr/>
          <p:nvPr/>
        </p:nvSpPr>
        <p:spPr>
          <a:xfrm>
            <a:off x="1691640" y="1280160"/>
            <a:ext cx="1234440" cy="256032"/>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prefix</a:t>
            </a:r>
            <a:endParaRPr lang="en-US" sz="1050" dirty="0"/>
          </a:p>
        </p:txBody>
      </p:sp>
      <p:sp>
        <p:nvSpPr>
          <p:cNvPr id="12" name="Text 10"/>
          <p:cNvSpPr/>
          <p:nvPr/>
        </p:nvSpPr>
        <p:spPr>
          <a:xfrm>
            <a:off x="2971800" y="1280160"/>
            <a:ext cx="1600200" cy="256032"/>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multiply by</a:t>
            </a:r>
            <a:endParaRPr lang="en-US" sz="1050" dirty="0"/>
          </a:p>
        </p:txBody>
      </p:sp>
      <p:sp>
        <p:nvSpPr>
          <p:cNvPr id="13" name="Text 11"/>
          <p:cNvSpPr/>
          <p:nvPr/>
        </p:nvSpPr>
        <p:spPr>
          <a:xfrm>
            <a:off x="4572000" y="1280160"/>
            <a:ext cx="1325880" cy="256032"/>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example</a:t>
            </a:r>
            <a:endParaRPr lang="en-US" sz="1050" dirty="0"/>
          </a:p>
        </p:txBody>
      </p:sp>
      <p:sp>
        <p:nvSpPr>
          <p:cNvPr id="14" name="Shape 12"/>
          <p:cNvSpPr/>
          <p:nvPr/>
        </p:nvSpPr>
        <p:spPr>
          <a:xfrm>
            <a:off x="1417320" y="1600200"/>
            <a:ext cx="91" cy="3520440"/>
          </a:xfrm>
          <a:prstGeom prst="line">
            <a:avLst/>
          </a:prstGeom>
          <a:noFill/>
          <a:ln w="31750">
            <a:solidFill>
              <a:srgbClr val="1A2340"/>
            </a:solidFill>
            <a:prstDash val="solid"/>
          </a:ln>
        </p:spPr>
      </p:sp>
      <p:sp>
        <p:nvSpPr>
          <p:cNvPr id="15" name="Shape 13"/>
          <p:cNvSpPr/>
          <p:nvPr/>
        </p:nvSpPr>
        <p:spPr>
          <a:xfrm>
            <a:off x="1362456" y="5029200"/>
            <a:ext cx="109728" cy="91"/>
          </a:xfrm>
          <a:prstGeom prst="line">
            <a:avLst/>
          </a:prstGeom>
          <a:noFill/>
          <a:ln w="9525">
            <a:solidFill>
              <a:srgbClr val="8C96A8"/>
            </a:solidFill>
            <a:prstDash val="solid"/>
          </a:ln>
        </p:spPr>
      </p:sp>
      <p:sp>
        <p:nvSpPr>
          <p:cNvPr id="16" name="Shape 14"/>
          <p:cNvSpPr/>
          <p:nvPr/>
        </p:nvSpPr>
        <p:spPr>
          <a:xfrm>
            <a:off x="1362456" y="4843780"/>
            <a:ext cx="109728" cy="91"/>
          </a:xfrm>
          <a:prstGeom prst="line">
            <a:avLst/>
          </a:prstGeom>
          <a:noFill/>
          <a:ln w="9525">
            <a:solidFill>
              <a:srgbClr val="8C96A8"/>
            </a:solidFill>
            <a:prstDash val="solid"/>
          </a:ln>
        </p:spPr>
      </p:sp>
      <p:sp>
        <p:nvSpPr>
          <p:cNvPr id="17" name="Shape 15"/>
          <p:cNvSpPr/>
          <p:nvPr/>
        </p:nvSpPr>
        <p:spPr>
          <a:xfrm>
            <a:off x="1362456" y="4658360"/>
            <a:ext cx="109728" cy="91"/>
          </a:xfrm>
          <a:prstGeom prst="line">
            <a:avLst/>
          </a:prstGeom>
          <a:noFill/>
          <a:ln w="9525">
            <a:solidFill>
              <a:srgbClr val="8C96A8"/>
            </a:solidFill>
            <a:prstDash val="solid"/>
          </a:ln>
        </p:spPr>
      </p:sp>
      <p:sp>
        <p:nvSpPr>
          <p:cNvPr id="18" name="Shape 16"/>
          <p:cNvSpPr/>
          <p:nvPr/>
        </p:nvSpPr>
        <p:spPr>
          <a:xfrm>
            <a:off x="1362456" y="4472940"/>
            <a:ext cx="109728" cy="91"/>
          </a:xfrm>
          <a:prstGeom prst="line">
            <a:avLst/>
          </a:prstGeom>
          <a:noFill/>
          <a:ln w="9525">
            <a:solidFill>
              <a:srgbClr val="8C96A8"/>
            </a:solidFill>
            <a:prstDash val="solid"/>
          </a:ln>
        </p:spPr>
      </p:sp>
      <p:sp>
        <p:nvSpPr>
          <p:cNvPr id="19" name="Shape 17"/>
          <p:cNvSpPr/>
          <p:nvPr/>
        </p:nvSpPr>
        <p:spPr>
          <a:xfrm>
            <a:off x="1362456" y="4287520"/>
            <a:ext cx="109728" cy="91"/>
          </a:xfrm>
          <a:prstGeom prst="line">
            <a:avLst/>
          </a:prstGeom>
          <a:noFill/>
          <a:ln w="9525">
            <a:solidFill>
              <a:srgbClr val="8C96A8"/>
            </a:solidFill>
            <a:prstDash val="solid"/>
          </a:ln>
        </p:spPr>
      </p:sp>
      <p:sp>
        <p:nvSpPr>
          <p:cNvPr id="20" name="Shape 18"/>
          <p:cNvSpPr/>
          <p:nvPr/>
        </p:nvSpPr>
        <p:spPr>
          <a:xfrm>
            <a:off x="1362456" y="4102100"/>
            <a:ext cx="109728" cy="91"/>
          </a:xfrm>
          <a:prstGeom prst="line">
            <a:avLst/>
          </a:prstGeom>
          <a:noFill/>
          <a:ln w="9525">
            <a:solidFill>
              <a:srgbClr val="8C96A8"/>
            </a:solidFill>
            <a:prstDash val="solid"/>
          </a:ln>
        </p:spPr>
      </p:sp>
      <p:sp>
        <p:nvSpPr>
          <p:cNvPr id="21" name="Shape 19"/>
          <p:cNvSpPr/>
          <p:nvPr/>
        </p:nvSpPr>
        <p:spPr>
          <a:xfrm>
            <a:off x="1362456" y="3916680"/>
            <a:ext cx="109728" cy="91"/>
          </a:xfrm>
          <a:prstGeom prst="line">
            <a:avLst/>
          </a:prstGeom>
          <a:noFill/>
          <a:ln w="9525">
            <a:solidFill>
              <a:srgbClr val="8C96A8"/>
            </a:solidFill>
            <a:prstDash val="solid"/>
          </a:ln>
        </p:spPr>
      </p:sp>
      <p:sp>
        <p:nvSpPr>
          <p:cNvPr id="22" name="Shape 20"/>
          <p:cNvSpPr/>
          <p:nvPr/>
        </p:nvSpPr>
        <p:spPr>
          <a:xfrm>
            <a:off x="1362456" y="3731260"/>
            <a:ext cx="109728" cy="91"/>
          </a:xfrm>
          <a:prstGeom prst="line">
            <a:avLst/>
          </a:prstGeom>
          <a:noFill/>
          <a:ln w="9525">
            <a:solidFill>
              <a:srgbClr val="8C96A8"/>
            </a:solidFill>
            <a:prstDash val="solid"/>
          </a:ln>
        </p:spPr>
      </p:sp>
      <p:sp>
        <p:nvSpPr>
          <p:cNvPr id="23" name="Shape 21"/>
          <p:cNvSpPr/>
          <p:nvPr/>
        </p:nvSpPr>
        <p:spPr>
          <a:xfrm>
            <a:off x="1362456" y="3545840"/>
            <a:ext cx="109728" cy="91"/>
          </a:xfrm>
          <a:prstGeom prst="line">
            <a:avLst/>
          </a:prstGeom>
          <a:noFill/>
          <a:ln w="9525">
            <a:solidFill>
              <a:srgbClr val="8C96A8"/>
            </a:solidFill>
            <a:prstDash val="solid"/>
          </a:ln>
        </p:spPr>
      </p:sp>
      <p:sp>
        <p:nvSpPr>
          <p:cNvPr id="24" name="Shape 22"/>
          <p:cNvSpPr/>
          <p:nvPr/>
        </p:nvSpPr>
        <p:spPr>
          <a:xfrm>
            <a:off x="1362456" y="3360420"/>
            <a:ext cx="109728" cy="91"/>
          </a:xfrm>
          <a:prstGeom prst="line">
            <a:avLst/>
          </a:prstGeom>
          <a:noFill/>
          <a:ln w="9525">
            <a:solidFill>
              <a:srgbClr val="8C96A8"/>
            </a:solidFill>
            <a:prstDash val="solid"/>
          </a:ln>
        </p:spPr>
      </p:sp>
      <p:sp>
        <p:nvSpPr>
          <p:cNvPr id="25" name="Shape 23"/>
          <p:cNvSpPr/>
          <p:nvPr/>
        </p:nvSpPr>
        <p:spPr>
          <a:xfrm>
            <a:off x="1362456" y="3175000"/>
            <a:ext cx="109728" cy="91"/>
          </a:xfrm>
          <a:prstGeom prst="line">
            <a:avLst/>
          </a:prstGeom>
          <a:noFill/>
          <a:ln w="9525">
            <a:solidFill>
              <a:srgbClr val="8C96A8"/>
            </a:solidFill>
            <a:prstDash val="solid"/>
          </a:ln>
        </p:spPr>
      </p:sp>
      <p:sp>
        <p:nvSpPr>
          <p:cNvPr id="26" name="Shape 24"/>
          <p:cNvSpPr/>
          <p:nvPr/>
        </p:nvSpPr>
        <p:spPr>
          <a:xfrm>
            <a:off x="1362456" y="2989580"/>
            <a:ext cx="109728" cy="91"/>
          </a:xfrm>
          <a:prstGeom prst="line">
            <a:avLst/>
          </a:prstGeom>
          <a:noFill/>
          <a:ln w="9525">
            <a:solidFill>
              <a:srgbClr val="8C96A8"/>
            </a:solidFill>
            <a:prstDash val="solid"/>
          </a:ln>
        </p:spPr>
      </p:sp>
      <p:sp>
        <p:nvSpPr>
          <p:cNvPr id="27" name="Shape 25"/>
          <p:cNvSpPr/>
          <p:nvPr/>
        </p:nvSpPr>
        <p:spPr>
          <a:xfrm>
            <a:off x="1362456" y="2804160"/>
            <a:ext cx="109728" cy="91"/>
          </a:xfrm>
          <a:prstGeom prst="line">
            <a:avLst/>
          </a:prstGeom>
          <a:noFill/>
          <a:ln w="9525">
            <a:solidFill>
              <a:srgbClr val="8C96A8"/>
            </a:solidFill>
            <a:prstDash val="solid"/>
          </a:ln>
        </p:spPr>
      </p:sp>
      <p:sp>
        <p:nvSpPr>
          <p:cNvPr id="28" name="Shape 26"/>
          <p:cNvSpPr/>
          <p:nvPr/>
        </p:nvSpPr>
        <p:spPr>
          <a:xfrm>
            <a:off x="1362456" y="2618740"/>
            <a:ext cx="109728" cy="91"/>
          </a:xfrm>
          <a:prstGeom prst="line">
            <a:avLst/>
          </a:prstGeom>
          <a:noFill/>
          <a:ln w="9525">
            <a:solidFill>
              <a:srgbClr val="8C96A8"/>
            </a:solidFill>
            <a:prstDash val="solid"/>
          </a:ln>
        </p:spPr>
      </p:sp>
      <p:sp>
        <p:nvSpPr>
          <p:cNvPr id="29" name="Shape 27"/>
          <p:cNvSpPr/>
          <p:nvPr/>
        </p:nvSpPr>
        <p:spPr>
          <a:xfrm>
            <a:off x="1362456" y="2433320"/>
            <a:ext cx="109728" cy="91"/>
          </a:xfrm>
          <a:prstGeom prst="line">
            <a:avLst/>
          </a:prstGeom>
          <a:noFill/>
          <a:ln w="9525">
            <a:solidFill>
              <a:srgbClr val="8C96A8"/>
            </a:solidFill>
            <a:prstDash val="solid"/>
          </a:ln>
        </p:spPr>
      </p:sp>
      <p:sp>
        <p:nvSpPr>
          <p:cNvPr id="30" name="Shape 28"/>
          <p:cNvSpPr/>
          <p:nvPr/>
        </p:nvSpPr>
        <p:spPr>
          <a:xfrm>
            <a:off x="1362456" y="2247900"/>
            <a:ext cx="109728" cy="91"/>
          </a:xfrm>
          <a:prstGeom prst="line">
            <a:avLst/>
          </a:prstGeom>
          <a:noFill/>
          <a:ln w="9525">
            <a:solidFill>
              <a:srgbClr val="8C96A8"/>
            </a:solidFill>
            <a:prstDash val="solid"/>
          </a:ln>
        </p:spPr>
      </p:sp>
      <p:sp>
        <p:nvSpPr>
          <p:cNvPr id="31" name="Shape 29"/>
          <p:cNvSpPr/>
          <p:nvPr/>
        </p:nvSpPr>
        <p:spPr>
          <a:xfrm>
            <a:off x="1362456" y="2062480"/>
            <a:ext cx="109728" cy="91"/>
          </a:xfrm>
          <a:prstGeom prst="line">
            <a:avLst/>
          </a:prstGeom>
          <a:noFill/>
          <a:ln w="9525">
            <a:solidFill>
              <a:srgbClr val="8C96A8"/>
            </a:solidFill>
            <a:prstDash val="solid"/>
          </a:ln>
        </p:spPr>
      </p:sp>
      <p:sp>
        <p:nvSpPr>
          <p:cNvPr id="32" name="Shape 30"/>
          <p:cNvSpPr/>
          <p:nvPr/>
        </p:nvSpPr>
        <p:spPr>
          <a:xfrm>
            <a:off x="1362456" y="1877060"/>
            <a:ext cx="109728" cy="91"/>
          </a:xfrm>
          <a:prstGeom prst="line">
            <a:avLst/>
          </a:prstGeom>
          <a:noFill/>
          <a:ln w="9525">
            <a:solidFill>
              <a:srgbClr val="8C96A8"/>
            </a:solidFill>
            <a:prstDash val="solid"/>
          </a:ln>
        </p:spPr>
      </p:sp>
      <p:sp>
        <p:nvSpPr>
          <p:cNvPr id="33" name="Shape 31"/>
          <p:cNvSpPr/>
          <p:nvPr/>
        </p:nvSpPr>
        <p:spPr>
          <a:xfrm>
            <a:off x="1362456" y="1691640"/>
            <a:ext cx="109728" cy="91"/>
          </a:xfrm>
          <a:prstGeom prst="line">
            <a:avLst/>
          </a:prstGeom>
          <a:noFill/>
          <a:ln w="9525">
            <a:solidFill>
              <a:srgbClr val="8C96A8"/>
            </a:solidFill>
            <a:prstDash val="solid"/>
          </a:ln>
        </p:spPr>
      </p:sp>
      <p:sp>
        <p:nvSpPr>
          <p:cNvPr id="34" name="Shape 32"/>
          <p:cNvSpPr/>
          <p:nvPr/>
        </p:nvSpPr>
        <p:spPr>
          <a:xfrm>
            <a:off x="1353312" y="1627632"/>
            <a:ext cx="128016" cy="128016"/>
          </a:xfrm>
          <a:prstGeom prst="ellipse">
            <a:avLst/>
          </a:prstGeom>
          <a:solidFill>
            <a:srgbClr val="2E5BD8"/>
          </a:solidFill>
          <a:ln w="9525">
            <a:solidFill>
              <a:srgbClr val="FFFFFF"/>
            </a:solidFill>
            <a:prstDash val="solid"/>
          </a:ln>
        </p:spPr>
      </p:sp>
      <p:sp>
        <p:nvSpPr>
          <p:cNvPr id="35" name="Text 33"/>
          <p:cNvSpPr/>
          <p:nvPr/>
        </p:nvSpPr>
        <p:spPr>
          <a:xfrm>
            <a:off x="502920" y="159105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10⁹</a:t>
            </a:r>
            <a:endParaRPr lang="en-US" sz="1200" dirty="0"/>
          </a:p>
        </p:txBody>
      </p:sp>
      <p:sp>
        <p:nvSpPr>
          <p:cNvPr id="36" name="Shape 34"/>
          <p:cNvSpPr/>
          <p:nvPr/>
        </p:nvSpPr>
        <p:spPr>
          <a:xfrm>
            <a:off x="1481328" y="1691640"/>
            <a:ext cx="210312" cy="91"/>
          </a:xfrm>
          <a:prstGeom prst="line">
            <a:avLst/>
          </a:prstGeom>
          <a:noFill/>
          <a:ln w="12700">
            <a:solidFill>
              <a:srgbClr val="2E5BD8"/>
            </a:solidFill>
            <a:prstDash val="solid"/>
          </a:ln>
        </p:spPr>
      </p:sp>
      <p:sp>
        <p:nvSpPr>
          <p:cNvPr id="37" name="Shape 35"/>
          <p:cNvSpPr/>
          <p:nvPr/>
        </p:nvSpPr>
        <p:spPr>
          <a:xfrm>
            <a:off x="1691640" y="1600200"/>
            <a:ext cx="1234440" cy="182880"/>
          </a:xfrm>
          <a:prstGeom prst="rect">
            <a:avLst/>
          </a:prstGeom>
          <a:solidFill>
            <a:srgbClr val="DCE6FB"/>
          </a:solidFill>
          <a:ln/>
        </p:spPr>
      </p:sp>
      <p:sp>
        <p:nvSpPr>
          <p:cNvPr id="38" name="Text 36"/>
          <p:cNvSpPr/>
          <p:nvPr/>
        </p:nvSpPr>
        <p:spPr>
          <a:xfrm>
            <a:off x="1691640" y="159105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giga   G</a:t>
            </a:r>
            <a:endParaRPr lang="en-US" sz="1100" dirty="0"/>
          </a:p>
        </p:txBody>
      </p:sp>
      <p:sp>
        <p:nvSpPr>
          <p:cNvPr id="39" name="Text 37"/>
          <p:cNvSpPr/>
          <p:nvPr/>
        </p:nvSpPr>
        <p:spPr>
          <a:xfrm>
            <a:off x="2971800" y="159105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1 000 000 000</a:t>
            </a:r>
            <a:endParaRPr lang="en-US" sz="1050" dirty="0"/>
          </a:p>
        </p:txBody>
      </p:sp>
      <p:sp>
        <p:nvSpPr>
          <p:cNvPr id="40" name="Text 38"/>
          <p:cNvSpPr/>
          <p:nvPr/>
        </p:nvSpPr>
        <p:spPr>
          <a:xfrm>
            <a:off x="4572000" y="159105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2.4 GHz Wi-Fi</a:t>
            </a:r>
            <a:endParaRPr lang="en-US" sz="1000" dirty="0"/>
          </a:p>
        </p:txBody>
      </p:sp>
      <p:sp>
        <p:nvSpPr>
          <p:cNvPr id="41" name="Shape 39"/>
          <p:cNvSpPr/>
          <p:nvPr/>
        </p:nvSpPr>
        <p:spPr>
          <a:xfrm>
            <a:off x="1353312" y="2183892"/>
            <a:ext cx="128016" cy="128016"/>
          </a:xfrm>
          <a:prstGeom prst="ellipse">
            <a:avLst/>
          </a:prstGeom>
          <a:solidFill>
            <a:srgbClr val="2E5BD8"/>
          </a:solidFill>
          <a:ln w="9525">
            <a:solidFill>
              <a:srgbClr val="FFFFFF"/>
            </a:solidFill>
            <a:prstDash val="solid"/>
          </a:ln>
        </p:spPr>
      </p:sp>
      <p:sp>
        <p:nvSpPr>
          <p:cNvPr id="42" name="Text 40"/>
          <p:cNvSpPr/>
          <p:nvPr/>
        </p:nvSpPr>
        <p:spPr>
          <a:xfrm>
            <a:off x="502920" y="214731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10⁶</a:t>
            </a:r>
            <a:endParaRPr lang="en-US" sz="1200" dirty="0"/>
          </a:p>
        </p:txBody>
      </p:sp>
      <p:sp>
        <p:nvSpPr>
          <p:cNvPr id="43" name="Shape 41"/>
          <p:cNvSpPr/>
          <p:nvPr/>
        </p:nvSpPr>
        <p:spPr>
          <a:xfrm>
            <a:off x="1481328" y="2247900"/>
            <a:ext cx="210312" cy="91"/>
          </a:xfrm>
          <a:prstGeom prst="line">
            <a:avLst/>
          </a:prstGeom>
          <a:noFill/>
          <a:ln w="12700">
            <a:solidFill>
              <a:srgbClr val="2E5BD8"/>
            </a:solidFill>
            <a:prstDash val="solid"/>
          </a:ln>
        </p:spPr>
      </p:sp>
      <p:sp>
        <p:nvSpPr>
          <p:cNvPr id="44" name="Shape 42"/>
          <p:cNvSpPr/>
          <p:nvPr/>
        </p:nvSpPr>
        <p:spPr>
          <a:xfrm>
            <a:off x="1691640" y="2156460"/>
            <a:ext cx="1234440" cy="182880"/>
          </a:xfrm>
          <a:prstGeom prst="rect">
            <a:avLst/>
          </a:prstGeom>
          <a:solidFill>
            <a:srgbClr val="DCE6FB"/>
          </a:solidFill>
          <a:ln/>
        </p:spPr>
      </p:sp>
      <p:sp>
        <p:nvSpPr>
          <p:cNvPr id="45" name="Text 43"/>
          <p:cNvSpPr/>
          <p:nvPr/>
        </p:nvSpPr>
        <p:spPr>
          <a:xfrm>
            <a:off x="1691640" y="214731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mega   M</a:t>
            </a:r>
            <a:endParaRPr lang="en-US" sz="1100" dirty="0"/>
          </a:p>
        </p:txBody>
      </p:sp>
      <p:sp>
        <p:nvSpPr>
          <p:cNvPr id="46" name="Text 44"/>
          <p:cNvSpPr/>
          <p:nvPr/>
        </p:nvSpPr>
        <p:spPr>
          <a:xfrm>
            <a:off x="2971800" y="214731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1 000 000</a:t>
            </a:r>
            <a:endParaRPr lang="en-US" sz="1050" dirty="0"/>
          </a:p>
        </p:txBody>
      </p:sp>
      <p:sp>
        <p:nvSpPr>
          <p:cNvPr id="47" name="Text 45"/>
          <p:cNvSpPr/>
          <p:nvPr/>
        </p:nvSpPr>
        <p:spPr>
          <a:xfrm>
            <a:off x="4572000" y="214731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2 MW wind turbine</a:t>
            </a:r>
            <a:endParaRPr lang="en-US" sz="1000" dirty="0"/>
          </a:p>
        </p:txBody>
      </p:sp>
      <p:sp>
        <p:nvSpPr>
          <p:cNvPr id="48" name="Shape 46"/>
          <p:cNvSpPr/>
          <p:nvPr/>
        </p:nvSpPr>
        <p:spPr>
          <a:xfrm>
            <a:off x="1353312" y="2740152"/>
            <a:ext cx="128016" cy="128016"/>
          </a:xfrm>
          <a:prstGeom prst="ellipse">
            <a:avLst/>
          </a:prstGeom>
          <a:solidFill>
            <a:srgbClr val="2E5BD8"/>
          </a:solidFill>
          <a:ln w="9525">
            <a:solidFill>
              <a:srgbClr val="FFFFFF"/>
            </a:solidFill>
            <a:prstDash val="solid"/>
          </a:ln>
        </p:spPr>
      </p:sp>
      <p:sp>
        <p:nvSpPr>
          <p:cNvPr id="49" name="Text 47"/>
          <p:cNvSpPr/>
          <p:nvPr/>
        </p:nvSpPr>
        <p:spPr>
          <a:xfrm>
            <a:off x="502920" y="270357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10³</a:t>
            </a:r>
            <a:endParaRPr lang="en-US" sz="1200" dirty="0"/>
          </a:p>
        </p:txBody>
      </p:sp>
      <p:sp>
        <p:nvSpPr>
          <p:cNvPr id="50" name="Shape 48"/>
          <p:cNvSpPr/>
          <p:nvPr/>
        </p:nvSpPr>
        <p:spPr>
          <a:xfrm>
            <a:off x="1481328" y="2804160"/>
            <a:ext cx="210312" cy="91"/>
          </a:xfrm>
          <a:prstGeom prst="line">
            <a:avLst/>
          </a:prstGeom>
          <a:noFill/>
          <a:ln w="12700">
            <a:solidFill>
              <a:srgbClr val="2E5BD8"/>
            </a:solidFill>
            <a:prstDash val="solid"/>
          </a:ln>
        </p:spPr>
      </p:sp>
      <p:sp>
        <p:nvSpPr>
          <p:cNvPr id="51" name="Shape 49"/>
          <p:cNvSpPr/>
          <p:nvPr/>
        </p:nvSpPr>
        <p:spPr>
          <a:xfrm>
            <a:off x="1691640" y="2712720"/>
            <a:ext cx="1234440" cy="182880"/>
          </a:xfrm>
          <a:prstGeom prst="rect">
            <a:avLst/>
          </a:prstGeom>
          <a:solidFill>
            <a:srgbClr val="DCE6FB"/>
          </a:solidFill>
          <a:ln/>
        </p:spPr>
      </p:sp>
      <p:sp>
        <p:nvSpPr>
          <p:cNvPr id="52" name="Text 50"/>
          <p:cNvSpPr/>
          <p:nvPr/>
        </p:nvSpPr>
        <p:spPr>
          <a:xfrm>
            <a:off x="1691640" y="270357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kilo   k</a:t>
            </a:r>
            <a:endParaRPr lang="en-US" sz="1100" dirty="0"/>
          </a:p>
        </p:txBody>
      </p:sp>
      <p:sp>
        <p:nvSpPr>
          <p:cNvPr id="53" name="Text 51"/>
          <p:cNvSpPr/>
          <p:nvPr/>
        </p:nvSpPr>
        <p:spPr>
          <a:xfrm>
            <a:off x="2971800" y="270357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1000</a:t>
            </a:r>
            <a:endParaRPr lang="en-US" sz="1050" dirty="0"/>
          </a:p>
        </p:txBody>
      </p:sp>
      <p:sp>
        <p:nvSpPr>
          <p:cNvPr id="54" name="Text 52"/>
          <p:cNvSpPr/>
          <p:nvPr/>
        </p:nvSpPr>
        <p:spPr>
          <a:xfrm>
            <a:off x="4572000" y="270357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4.7 kΩ resistor</a:t>
            </a:r>
            <a:endParaRPr lang="en-US" sz="1000" dirty="0"/>
          </a:p>
        </p:txBody>
      </p:sp>
      <p:sp>
        <p:nvSpPr>
          <p:cNvPr id="55" name="Shape 53"/>
          <p:cNvSpPr/>
          <p:nvPr/>
        </p:nvSpPr>
        <p:spPr>
          <a:xfrm>
            <a:off x="1353312" y="3296412"/>
            <a:ext cx="128016" cy="128016"/>
          </a:xfrm>
          <a:prstGeom prst="ellipse">
            <a:avLst/>
          </a:prstGeom>
          <a:solidFill>
            <a:srgbClr val="1A2340"/>
          </a:solidFill>
          <a:ln w="9525">
            <a:solidFill>
              <a:srgbClr val="FFFFFF"/>
            </a:solidFill>
            <a:prstDash val="solid"/>
          </a:ln>
        </p:spPr>
      </p:sp>
      <p:sp>
        <p:nvSpPr>
          <p:cNvPr id="56" name="Text 54"/>
          <p:cNvSpPr/>
          <p:nvPr/>
        </p:nvSpPr>
        <p:spPr>
          <a:xfrm>
            <a:off x="502920" y="325983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10⁰</a:t>
            </a:r>
            <a:endParaRPr lang="en-US" sz="1200" dirty="0"/>
          </a:p>
        </p:txBody>
      </p:sp>
      <p:sp>
        <p:nvSpPr>
          <p:cNvPr id="57" name="Shape 55"/>
          <p:cNvSpPr/>
          <p:nvPr/>
        </p:nvSpPr>
        <p:spPr>
          <a:xfrm>
            <a:off x="1481328" y="3360420"/>
            <a:ext cx="210312" cy="91"/>
          </a:xfrm>
          <a:prstGeom prst="line">
            <a:avLst/>
          </a:prstGeom>
          <a:noFill/>
          <a:ln w="12700">
            <a:solidFill>
              <a:srgbClr val="2E5BD8"/>
            </a:solidFill>
            <a:prstDash val="solid"/>
          </a:ln>
        </p:spPr>
      </p:sp>
      <p:sp>
        <p:nvSpPr>
          <p:cNvPr id="58" name="Shape 56"/>
          <p:cNvSpPr/>
          <p:nvPr/>
        </p:nvSpPr>
        <p:spPr>
          <a:xfrm>
            <a:off x="1691640" y="3268980"/>
            <a:ext cx="1234440" cy="182880"/>
          </a:xfrm>
          <a:prstGeom prst="rect">
            <a:avLst/>
          </a:prstGeom>
          <a:solidFill>
            <a:srgbClr val="E9ECF2"/>
          </a:solidFill>
          <a:ln/>
        </p:spPr>
      </p:sp>
      <p:sp>
        <p:nvSpPr>
          <p:cNvPr id="59" name="Text 57"/>
          <p:cNvSpPr/>
          <p:nvPr/>
        </p:nvSpPr>
        <p:spPr>
          <a:xfrm>
            <a:off x="1691640" y="3259836"/>
            <a:ext cx="1234440" cy="201168"/>
          </a:xfrm>
          <a:prstGeom prst="rect">
            <a:avLst/>
          </a:prstGeom>
          <a:noFill/>
          <a:ln/>
        </p:spPr>
        <p:txBody>
          <a:bodyPr wrap="square" lIns="0" tIns="0" rIns="0" bIns="0" rtlCol="0" anchor="ctr"/>
          <a:lstStyle/>
          <a:p>
            <a:pPr algn="ctr" indent="0" marL="0">
              <a:buNone/>
            </a:pPr>
            <a:r>
              <a:rPr lang="en-US" sz="1100" b="1" dirty="0">
                <a:solidFill>
                  <a:srgbClr val="6B7385"/>
                </a:solidFill>
                <a:latin typeface="Calibri" pitchFamily="34" charset="0"/>
                <a:ea typeface="Calibri" pitchFamily="34" charset="-122"/>
                <a:cs typeface="Calibri" pitchFamily="34" charset="-120"/>
              </a:rPr>
              <a:t>base unit</a:t>
            </a:r>
            <a:endParaRPr lang="en-US" sz="1100" dirty="0"/>
          </a:p>
        </p:txBody>
      </p:sp>
      <p:sp>
        <p:nvSpPr>
          <p:cNvPr id="60" name="Text 58"/>
          <p:cNvSpPr/>
          <p:nvPr/>
        </p:nvSpPr>
        <p:spPr>
          <a:xfrm>
            <a:off x="2971800" y="325983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1</a:t>
            </a:r>
            <a:endParaRPr lang="en-US" sz="1050" dirty="0"/>
          </a:p>
        </p:txBody>
      </p:sp>
      <p:sp>
        <p:nvSpPr>
          <p:cNvPr id="61" name="Text 59"/>
          <p:cNvSpPr/>
          <p:nvPr/>
        </p:nvSpPr>
        <p:spPr>
          <a:xfrm>
            <a:off x="4572000" y="325983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1 m, 1 s, 1 A</a:t>
            </a:r>
            <a:endParaRPr lang="en-US" sz="1000" dirty="0"/>
          </a:p>
        </p:txBody>
      </p:sp>
      <p:sp>
        <p:nvSpPr>
          <p:cNvPr id="62" name="Shape 60"/>
          <p:cNvSpPr/>
          <p:nvPr/>
        </p:nvSpPr>
        <p:spPr>
          <a:xfrm>
            <a:off x="1353312" y="3667252"/>
            <a:ext cx="128016" cy="128016"/>
          </a:xfrm>
          <a:prstGeom prst="ellipse">
            <a:avLst/>
          </a:prstGeom>
          <a:solidFill>
            <a:srgbClr val="2E5BD8"/>
          </a:solidFill>
          <a:ln w="9525">
            <a:solidFill>
              <a:srgbClr val="FFFFFF"/>
            </a:solidFill>
            <a:prstDash val="solid"/>
          </a:ln>
        </p:spPr>
      </p:sp>
      <p:sp>
        <p:nvSpPr>
          <p:cNvPr id="63" name="Text 61"/>
          <p:cNvSpPr/>
          <p:nvPr/>
        </p:nvSpPr>
        <p:spPr>
          <a:xfrm>
            <a:off x="502920" y="363067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10⁻²</a:t>
            </a:r>
            <a:endParaRPr lang="en-US" sz="1200" dirty="0"/>
          </a:p>
        </p:txBody>
      </p:sp>
      <p:sp>
        <p:nvSpPr>
          <p:cNvPr id="64" name="Shape 62"/>
          <p:cNvSpPr/>
          <p:nvPr/>
        </p:nvSpPr>
        <p:spPr>
          <a:xfrm>
            <a:off x="1481328" y="3731260"/>
            <a:ext cx="210312" cy="91"/>
          </a:xfrm>
          <a:prstGeom prst="line">
            <a:avLst/>
          </a:prstGeom>
          <a:noFill/>
          <a:ln w="12700">
            <a:solidFill>
              <a:srgbClr val="2E5BD8"/>
            </a:solidFill>
            <a:prstDash val="solid"/>
          </a:ln>
        </p:spPr>
      </p:sp>
      <p:sp>
        <p:nvSpPr>
          <p:cNvPr id="65" name="Shape 63"/>
          <p:cNvSpPr/>
          <p:nvPr/>
        </p:nvSpPr>
        <p:spPr>
          <a:xfrm>
            <a:off x="1691640" y="3639820"/>
            <a:ext cx="1234440" cy="182880"/>
          </a:xfrm>
          <a:prstGeom prst="rect">
            <a:avLst/>
          </a:prstGeom>
          <a:solidFill>
            <a:srgbClr val="DCE6FB"/>
          </a:solidFill>
          <a:ln/>
        </p:spPr>
      </p:sp>
      <p:sp>
        <p:nvSpPr>
          <p:cNvPr id="66" name="Text 64"/>
          <p:cNvSpPr/>
          <p:nvPr/>
        </p:nvSpPr>
        <p:spPr>
          <a:xfrm>
            <a:off x="1691640" y="363067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centi   c</a:t>
            </a:r>
            <a:endParaRPr lang="en-US" sz="1100" dirty="0"/>
          </a:p>
        </p:txBody>
      </p:sp>
      <p:sp>
        <p:nvSpPr>
          <p:cNvPr id="67" name="Text 65"/>
          <p:cNvSpPr/>
          <p:nvPr/>
        </p:nvSpPr>
        <p:spPr>
          <a:xfrm>
            <a:off x="2971800" y="363067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0.01</a:t>
            </a:r>
            <a:endParaRPr lang="en-US" sz="1050" dirty="0"/>
          </a:p>
        </p:txBody>
      </p:sp>
      <p:sp>
        <p:nvSpPr>
          <p:cNvPr id="68" name="Text 66"/>
          <p:cNvSpPr/>
          <p:nvPr/>
        </p:nvSpPr>
        <p:spPr>
          <a:xfrm>
            <a:off x="4572000" y="363067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15 cm pencil</a:t>
            </a:r>
            <a:endParaRPr lang="en-US" sz="1000" dirty="0"/>
          </a:p>
        </p:txBody>
      </p:sp>
      <p:sp>
        <p:nvSpPr>
          <p:cNvPr id="69" name="Shape 67"/>
          <p:cNvSpPr/>
          <p:nvPr/>
        </p:nvSpPr>
        <p:spPr>
          <a:xfrm>
            <a:off x="1353312" y="3852672"/>
            <a:ext cx="128016" cy="128016"/>
          </a:xfrm>
          <a:prstGeom prst="ellipse">
            <a:avLst/>
          </a:prstGeom>
          <a:solidFill>
            <a:srgbClr val="2E5BD8"/>
          </a:solidFill>
          <a:ln w="9525">
            <a:solidFill>
              <a:srgbClr val="FFFFFF"/>
            </a:solidFill>
            <a:prstDash val="solid"/>
          </a:ln>
        </p:spPr>
      </p:sp>
      <p:sp>
        <p:nvSpPr>
          <p:cNvPr id="70" name="Text 68"/>
          <p:cNvSpPr/>
          <p:nvPr/>
        </p:nvSpPr>
        <p:spPr>
          <a:xfrm>
            <a:off x="502920" y="381609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10⁻³</a:t>
            </a:r>
            <a:endParaRPr lang="en-US" sz="1200" dirty="0"/>
          </a:p>
        </p:txBody>
      </p:sp>
      <p:sp>
        <p:nvSpPr>
          <p:cNvPr id="71" name="Shape 69"/>
          <p:cNvSpPr/>
          <p:nvPr/>
        </p:nvSpPr>
        <p:spPr>
          <a:xfrm>
            <a:off x="1481328" y="3916680"/>
            <a:ext cx="210312" cy="91"/>
          </a:xfrm>
          <a:prstGeom prst="line">
            <a:avLst/>
          </a:prstGeom>
          <a:noFill/>
          <a:ln w="12700">
            <a:solidFill>
              <a:srgbClr val="2E5BD8"/>
            </a:solidFill>
            <a:prstDash val="solid"/>
          </a:ln>
        </p:spPr>
      </p:sp>
      <p:sp>
        <p:nvSpPr>
          <p:cNvPr id="72" name="Shape 70"/>
          <p:cNvSpPr/>
          <p:nvPr/>
        </p:nvSpPr>
        <p:spPr>
          <a:xfrm>
            <a:off x="1691640" y="3825240"/>
            <a:ext cx="1234440" cy="182880"/>
          </a:xfrm>
          <a:prstGeom prst="rect">
            <a:avLst/>
          </a:prstGeom>
          <a:solidFill>
            <a:srgbClr val="DCE6FB"/>
          </a:solidFill>
          <a:ln/>
        </p:spPr>
      </p:sp>
      <p:sp>
        <p:nvSpPr>
          <p:cNvPr id="73" name="Text 71"/>
          <p:cNvSpPr/>
          <p:nvPr/>
        </p:nvSpPr>
        <p:spPr>
          <a:xfrm>
            <a:off x="1691640" y="381609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milli   m</a:t>
            </a:r>
            <a:endParaRPr lang="en-US" sz="1100" dirty="0"/>
          </a:p>
        </p:txBody>
      </p:sp>
      <p:sp>
        <p:nvSpPr>
          <p:cNvPr id="74" name="Text 72"/>
          <p:cNvSpPr/>
          <p:nvPr/>
        </p:nvSpPr>
        <p:spPr>
          <a:xfrm>
            <a:off x="2971800" y="381609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0.001</a:t>
            </a:r>
            <a:endParaRPr lang="en-US" sz="1050" dirty="0"/>
          </a:p>
        </p:txBody>
      </p:sp>
      <p:sp>
        <p:nvSpPr>
          <p:cNvPr id="75" name="Text 73"/>
          <p:cNvSpPr/>
          <p:nvPr/>
        </p:nvSpPr>
        <p:spPr>
          <a:xfrm>
            <a:off x="4572000" y="381609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350 mA current</a:t>
            </a:r>
            <a:endParaRPr lang="en-US" sz="1000" dirty="0"/>
          </a:p>
        </p:txBody>
      </p:sp>
      <p:sp>
        <p:nvSpPr>
          <p:cNvPr id="76" name="Shape 74"/>
          <p:cNvSpPr/>
          <p:nvPr/>
        </p:nvSpPr>
        <p:spPr>
          <a:xfrm>
            <a:off x="1353312" y="4408932"/>
            <a:ext cx="128016" cy="128016"/>
          </a:xfrm>
          <a:prstGeom prst="ellipse">
            <a:avLst/>
          </a:prstGeom>
          <a:solidFill>
            <a:srgbClr val="2E5BD8"/>
          </a:solidFill>
          <a:ln w="9525">
            <a:solidFill>
              <a:srgbClr val="FFFFFF"/>
            </a:solidFill>
            <a:prstDash val="solid"/>
          </a:ln>
        </p:spPr>
      </p:sp>
      <p:sp>
        <p:nvSpPr>
          <p:cNvPr id="77" name="Text 75"/>
          <p:cNvSpPr/>
          <p:nvPr/>
        </p:nvSpPr>
        <p:spPr>
          <a:xfrm>
            <a:off x="502920" y="437235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10⁻⁶</a:t>
            </a:r>
            <a:endParaRPr lang="en-US" sz="1200" dirty="0"/>
          </a:p>
        </p:txBody>
      </p:sp>
      <p:sp>
        <p:nvSpPr>
          <p:cNvPr id="78" name="Shape 76"/>
          <p:cNvSpPr/>
          <p:nvPr/>
        </p:nvSpPr>
        <p:spPr>
          <a:xfrm>
            <a:off x="1481328" y="4472940"/>
            <a:ext cx="210312" cy="91"/>
          </a:xfrm>
          <a:prstGeom prst="line">
            <a:avLst/>
          </a:prstGeom>
          <a:noFill/>
          <a:ln w="12700">
            <a:solidFill>
              <a:srgbClr val="2E5BD8"/>
            </a:solidFill>
            <a:prstDash val="solid"/>
          </a:ln>
        </p:spPr>
      </p:sp>
      <p:sp>
        <p:nvSpPr>
          <p:cNvPr id="79" name="Shape 77"/>
          <p:cNvSpPr/>
          <p:nvPr/>
        </p:nvSpPr>
        <p:spPr>
          <a:xfrm>
            <a:off x="1691640" y="4381500"/>
            <a:ext cx="1234440" cy="182880"/>
          </a:xfrm>
          <a:prstGeom prst="rect">
            <a:avLst/>
          </a:prstGeom>
          <a:solidFill>
            <a:srgbClr val="DCE6FB"/>
          </a:solidFill>
          <a:ln/>
        </p:spPr>
      </p:sp>
      <p:sp>
        <p:nvSpPr>
          <p:cNvPr id="80" name="Text 78"/>
          <p:cNvSpPr/>
          <p:nvPr/>
        </p:nvSpPr>
        <p:spPr>
          <a:xfrm>
            <a:off x="1691640" y="437235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micro   μ</a:t>
            </a:r>
            <a:endParaRPr lang="en-US" sz="1100" dirty="0"/>
          </a:p>
        </p:txBody>
      </p:sp>
      <p:sp>
        <p:nvSpPr>
          <p:cNvPr id="81" name="Text 79"/>
          <p:cNvSpPr/>
          <p:nvPr/>
        </p:nvSpPr>
        <p:spPr>
          <a:xfrm>
            <a:off x="2971800" y="437235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0.000 001</a:t>
            </a:r>
            <a:endParaRPr lang="en-US" sz="1050" dirty="0"/>
          </a:p>
        </p:txBody>
      </p:sp>
      <p:sp>
        <p:nvSpPr>
          <p:cNvPr id="82" name="Text 80"/>
          <p:cNvSpPr/>
          <p:nvPr/>
        </p:nvSpPr>
        <p:spPr>
          <a:xfrm>
            <a:off x="4572000" y="437235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7 μm red cell</a:t>
            </a:r>
            <a:endParaRPr lang="en-US" sz="1000" dirty="0"/>
          </a:p>
        </p:txBody>
      </p:sp>
      <p:sp>
        <p:nvSpPr>
          <p:cNvPr id="83" name="Shape 81"/>
          <p:cNvSpPr/>
          <p:nvPr/>
        </p:nvSpPr>
        <p:spPr>
          <a:xfrm>
            <a:off x="1353312" y="4965192"/>
            <a:ext cx="128016" cy="128016"/>
          </a:xfrm>
          <a:prstGeom prst="ellipse">
            <a:avLst/>
          </a:prstGeom>
          <a:solidFill>
            <a:srgbClr val="2E5BD8"/>
          </a:solidFill>
          <a:ln w="9525">
            <a:solidFill>
              <a:srgbClr val="FFFFFF"/>
            </a:solidFill>
            <a:prstDash val="solid"/>
          </a:ln>
        </p:spPr>
      </p:sp>
      <p:sp>
        <p:nvSpPr>
          <p:cNvPr id="84" name="Text 82"/>
          <p:cNvSpPr/>
          <p:nvPr/>
        </p:nvSpPr>
        <p:spPr>
          <a:xfrm>
            <a:off x="502920" y="4928616"/>
            <a:ext cx="822960" cy="201168"/>
          </a:xfrm>
          <a:prstGeom prst="rect">
            <a:avLst/>
          </a:prstGeom>
          <a:noFill/>
          <a:ln/>
        </p:spPr>
        <p:txBody>
          <a:bodyPr wrap="square" lIns="0" tIns="0" rIns="0" bIns="0" rtlCol="0" anchor="ctr"/>
          <a:lstStyle/>
          <a:p>
            <a:pPr algn="r" indent="0" marL="0">
              <a:buNone/>
            </a:pPr>
            <a:r>
              <a:rPr lang="en-US" sz="1200" b="1" dirty="0">
                <a:solidFill>
                  <a:srgbClr val="1A2340"/>
                </a:solidFill>
                <a:latin typeface="Calibri" pitchFamily="34" charset="0"/>
                <a:ea typeface="Calibri" pitchFamily="34" charset="-122"/>
                <a:cs typeface="Calibri" pitchFamily="34" charset="-120"/>
              </a:rPr>
              <a:t>10⁻⁹</a:t>
            </a:r>
            <a:endParaRPr lang="en-US" sz="1200" dirty="0"/>
          </a:p>
        </p:txBody>
      </p:sp>
      <p:sp>
        <p:nvSpPr>
          <p:cNvPr id="85" name="Shape 83"/>
          <p:cNvSpPr/>
          <p:nvPr/>
        </p:nvSpPr>
        <p:spPr>
          <a:xfrm>
            <a:off x="1481328" y="5029200"/>
            <a:ext cx="210312" cy="91"/>
          </a:xfrm>
          <a:prstGeom prst="line">
            <a:avLst/>
          </a:prstGeom>
          <a:noFill/>
          <a:ln w="12700">
            <a:solidFill>
              <a:srgbClr val="2E5BD8"/>
            </a:solidFill>
            <a:prstDash val="solid"/>
          </a:ln>
        </p:spPr>
      </p:sp>
      <p:sp>
        <p:nvSpPr>
          <p:cNvPr id="86" name="Shape 84"/>
          <p:cNvSpPr/>
          <p:nvPr/>
        </p:nvSpPr>
        <p:spPr>
          <a:xfrm>
            <a:off x="1691640" y="4937760"/>
            <a:ext cx="1234440" cy="182880"/>
          </a:xfrm>
          <a:prstGeom prst="rect">
            <a:avLst/>
          </a:prstGeom>
          <a:solidFill>
            <a:srgbClr val="DCE6FB"/>
          </a:solidFill>
          <a:ln/>
        </p:spPr>
      </p:sp>
      <p:sp>
        <p:nvSpPr>
          <p:cNvPr id="87" name="Text 85"/>
          <p:cNvSpPr/>
          <p:nvPr/>
        </p:nvSpPr>
        <p:spPr>
          <a:xfrm>
            <a:off x="1691640" y="4928616"/>
            <a:ext cx="1234440" cy="201168"/>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nano   n</a:t>
            </a:r>
            <a:endParaRPr lang="en-US" sz="1100" dirty="0"/>
          </a:p>
        </p:txBody>
      </p:sp>
      <p:sp>
        <p:nvSpPr>
          <p:cNvPr id="88" name="Text 86"/>
          <p:cNvSpPr/>
          <p:nvPr/>
        </p:nvSpPr>
        <p:spPr>
          <a:xfrm>
            <a:off x="2971800" y="4928616"/>
            <a:ext cx="1600200" cy="20116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 0.000 000 001</a:t>
            </a:r>
            <a:endParaRPr lang="en-US" sz="1050" dirty="0"/>
          </a:p>
        </p:txBody>
      </p:sp>
      <p:sp>
        <p:nvSpPr>
          <p:cNvPr id="89" name="Text 87"/>
          <p:cNvSpPr/>
          <p:nvPr/>
        </p:nvSpPr>
        <p:spPr>
          <a:xfrm>
            <a:off x="4572000" y="4928616"/>
            <a:ext cx="1371600" cy="201168"/>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520 nm green light</a:t>
            </a:r>
            <a:endParaRPr lang="en-US" sz="1000" dirty="0"/>
          </a:p>
        </p:txBody>
      </p:sp>
      <p:sp>
        <p:nvSpPr>
          <p:cNvPr id="90" name="Shape 88"/>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91" name="Text 8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 prefix is a multiplier</a:t>
            </a:r>
            <a:endParaRPr lang="en-US" sz="1300" dirty="0"/>
          </a:p>
        </p:txBody>
      </p:sp>
      <p:sp>
        <p:nvSpPr>
          <p:cNvPr id="92" name="Text 90"/>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prefix in front of a unit </a:t>
            </a:r>
            <a:r>
              <a:rPr lang="en-US" sz="1150" b="1" dirty="0">
                <a:solidFill>
                  <a:srgbClr val="262B3A"/>
                </a:solidFill>
                <a:latin typeface="Calibri" pitchFamily="34" charset="0"/>
                <a:ea typeface="Calibri" pitchFamily="34" charset="-122"/>
                <a:cs typeface="Calibri" pitchFamily="34" charset="-120"/>
              </a:rPr>
              <a:t>multiplies</a:t>
            </a:r>
            <a:r>
              <a:rPr lang="en-US" sz="1150" dirty="0">
                <a:solidFill>
                  <a:srgbClr val="262B3A"/>
                </a:solidFill>
                <a:latin typeface="Calibri" pitchFamily="34" charset="0"/>
                <a:ea typeface="Calibri" pitchFamily="34" charset="-122"/>
                <a:cs typeface="Calibri" pitchFamily="34" charset="-120"/>
              </a:rPr>
              <a:t> it by a power of ten: 1 </a:t>
            </a:r>
            <a:r>
              <a:rPr lang="en-US" sz="1150" b="1" dirty="0">
                <a:solidFill>
                  <a:srgbClr val="262B3A"/>
                </a:solidFill>
                <a:latin typeface="Calibri" pitchFamily="34" charset="0"/>
                <a:ea typeface="Calibri" pitchFamily="34" charset="-122"/>
                <a:cs typeface="Calibri" pitchFamily="34" charset="-120"/>
              </a:rPr>
              <a:t>k</a:t>
            </a:r>
            <a:r>
              <a:rPr lang="en-US" sz="1150" dirty="0">
                <a:solidFill>
                  <a:srgbClr val="262B3A"/>
                </a:solidFill>
                <a:latin typeface="Calibri" pitchFamily="34" charset="0"/>
                <a:ea typeface="Calibri" pitchFamily="34" charset="-122"/>
                <a:cs typeface="Calibri" pitchFamily="34" charset="-120"/>
              </a:rPr>
              <a:t>m = 1 × 10³ m = 1000 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To remove a prefix, </a:t>
            </a:r>
            <a:r>
              <a:rPr lang="en-US" sz="1150" b="1" dirty="0">
                <a:solidFill>
                  <a:srgbClr val="262B3A"/>
                </a:solidFill>
                <a:latin typeface="Calibri" pitchFamily="34" charset="0"/>
                <a:ea typeface="Calibri" pitchFamily="34" charset="-122"/>
                <a:cs typeface="Calibri" pitchFamily="34" charset="-120"/>
              </a:rPr>
              <a:t>replace it with its power of ten</a:t>
            </a:r>
            <a:r>
              <a:rPr lang="en-US" sz="1150" dirty="0">
                <a:solidFill>
                  <a:srgbClr val="262B3A"/>
                </a:solidFill>
                <a:latin typeface="Calibri" pitchFamily="34" charset="0"/>
                <a:ea typeface="Calibri" pitchFamily="34" charset="-122"/>
                <a:cs typeface="Calibri" pitchFamily="34" charset="-120"/>
              </a:rPr>
              <a:t>: 350 </a:t>
            </a:r>
            <a:r>
              <a:rPr lang="en-US" sz="1150" b="1" dirty="0">
                <a:solidFill>
                  <a:srgbClr val="262B3A"/>
                </a:solidFill>
                <a:latin typeface="Calibri" pitchFamily="34" charset="0"/>
                <a:ea typeface="Calibri" pitchFamily="34" charset="-122"/>
                <a:cs typeface="Calibri" pitchFamily="34" charset="-120"/>
              </a:rPr>
              <a:t>m</a:t>
            </a:r>
            <a:r>
              <a:rPr lang="en-US" sz="1150" dirty="0">
                <a:solidFill>
                  <a:srgbClr val="262B3A"/>
                </a:solidFill>
                <a:latin typeface="Calibri" pitchFamily="34" charset="0"/>
                <a:ea typeface="Calibri" pitchFamily="34" charset="-122"/>
                <a:cs typeface="Calibri" pitchFamily="34" charset="-120"/>
              </a:rPr>
              <a:t>A = 350 × 10⁻³ A = 0.35 A.</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Careful: </a:t>
            </a:r>
            <a:r>
              <a:rPr lang="en-US" sz="1150" b="1" dirty="0">
                <a:solidFill>
                  <a:srgbClr val="262B3A"/>
                </a:solidFill>
                <a:latin typeface="Calibri" pitchFamily="34" charset="0"/>
                <a:ea typeface="Calibri" pitchFamily="34" charset="-122"/>
                <a:cs typeface="Calibri" pitchFamily="34" charset="-120"/>
              </a:rPr>
              <a:t>m</a:t>
            </a:r>
            <a:r>
              <a:rPr lang="en-US" sz="1150" dirty="0">
                <a:solidFill>
                  <a:srgbClr val="262B3A"/>
                </a:solidFill>
                <a:latin typeface="Calibri" pitchFamily="34" charset="0"/>
                <a:ea typeface="Calibri" pitchFamily="34" charset="-122"/>
                <a:cs typeface="Calibri" pitchFamily="34" charset="-120"/>
              </a:rPr>
              <a:t> means milli as a prefix (mA) but </a:t>
            </a:r>
            <a:r>
              <a:rPr lang="en-US" sz="1150" b="1" dirty="0">
                <a:solidFill>
                  <a:srgbClr val="262B3A"/>
                </a:solidFill>
                <a:latin typeface="Calibri" pitchFamily="34" charset="0"/>
                <a:ea typeface="Calibri" pitchFamily="34" charset="-122"/>
                <a:cs typeface="Calibri" pitchFamily="34" charset="-120"/>
              </a:rPr>
              <a:t>metre</a:t>
            </a:r>
            <a:r>
              <a:rPr lang="en-US" sz="1150" dirty="0">
                <a:solidFill>
                  <a:srgbClr val="262B3A"/>
                </a:solidFill>
                <a:latin typeface="Calibri" pitchFamily="34" charset="0"/>
                <a:ea typeface="Calibri" pitchFamily="34" charset="-122"/>
                <a:cs typeface="Calibri" pitchFamily="34" charset="-120"/>
              </a:rPr>
              <a:t> as a unit (m). </a:t>
            </a:r>
            <a:r>
              <a:rPr lang="en-US" sz="1150" b="1" dirty="0">
                <a:solidFill>
                  <a:srgbClr val="262B3A"/>
                </a:solidFill>
                <a:latin typeface="Calibri" pitchFamily="34" charset="0"/>
                <a:ea typeface="Calibri" pitchFamily="34" charset="-122"/>
                <a:cs typeface="Calibri" pitchFamily="34" charset="-120"/>
              </a:rPr>
              <a:t>M</a:t>
            </a:r>
            <a:r>
              <a:rPr lang="en-US" sz="1150" dirty="0">
                <a:solidFill>
                  <a:srgbClr val="262B3A"/>
                </a:solidFill>
                <a:latin typeface="Calibri" pitchFamily="34" charset="0"/>
                <a:ea typeface="Calibri" pitchFamily="34" charset="-122"/>
                <a:cs typeface="Calibri" pitchFamily="34" charset="-120"/>
              </a:rPr>
              <a:t> (mega) and </a:t>
            </a:r>
            <a:r>
              <a:rPr lang="en-US" sz="1150" b="1" dirty="0">
                <a:solidFill>
                  <a:srgbClr val="262B3A"/>
                </a:solidFill>
                <a:latin typeface="Calibri" pitchFamily="34" charset="0"/>
                <a:ea typeface="Calibri" pitchFamily="34" charset="-122"/>
                <a:cs typeface="Calibri" pitchFamily="34" charset="-120"/>
              </a:rPr>
              <a:t>m</a:t>
            </a:r>
            <a:r>
              <a:rPr lang="en-US" sz="1150" dirty="0">
                <a:solidFill>
                  <a:srgbClr val="262B3A"/>
                </a:solidFill>
                <a:latin typeface="Calibri" pitchFamily="34" charset="0"/>
                <a:ea typeface="Calibri" pitchFamily="34" charset="-122"/>
                <a:cs typeface="Calibri" pitchFamily="34" charset="-120"/>
              </a:rPr>
              <a:t> (milli) differ by 10⁹.</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Learn all seven prefixes: they are </a:t>
            </a:r>
            <a:r>
              <a:rPr lang="en-US" sz="1150" b="1" dirty="0">
                <a:solidFill>
                  <a:srgbClr val="262B3A"/>
                </a:solidFill>
                <a:latin typeface="Calibri" pitchFamily="34" charset="0"/>
                <a:ea typeface="Calibri" pitchFamily="34" charset="-122"/>
                <a:cs typeface="Calibri" pitchFamily="34" charset="-120"/>
              </a:rPr>
              <a:t>not given</a:t>
            </a:r>
            <a:r>
              <a:rPr lang="en-US" sz="1150" dirty="0">
                <a:solidFill>
                  <a:srgbClr val="262B3A"/>
                </a:solidFill>
                <a:latin typeface="Calibri" pitchFamily="34" charset="0"/>
                <a:ea typeface="Calibri" pitchFamily="34" charset="-122"/>
                <a:cs typeface="Calibri" pitchFamily="34" charset="-120"/>
              </a:rPr>
              <a:t> in the exam.</a:t>
            </a:r>
            <a:endParaRPr lang="en-US" sz="1150" dirty="0"/>
          </a:p>
        </p:txBody>
      </p:sp>
      <p:sp>
        <p:nvSpPr>
          <p:cNvPr id="93" name="Shape 91"/>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94" name="Text 92"/>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examples</a:t>
            </a:r>
            <a:endParaRPr lang="en-US" sz="1300" dirty="0"/>
          </a:p>
        </p:txBody>
      </p:sp>
      <p:sp>
        <p:nvSpPr>
          <p:cNvPr id="95" name="Text 93"/>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Write 4.7 kΩ in ohms and 350 mA in amperes.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kilo   </a:t>
            </a:r>
            <a:r>
              <a:rPr lang="en-US" sz="1100" dirty="0">
                <a:solidFill>
                  <a:srgbClr val="262B3A"/>
                </a:solidFill>
                <a:latin typeface="Calibri" pitchFamily="34" charset="0"/>
                <a:ea typeface="Calibri" pitchFamily="34" charset="-122"/>
                <a:cs typeface="Calibri" pitchFamily="34" charset="-120"/>
              </a:rPr>
              <a:t>k = × 10³ so 4.7 kΩ = 4.7 × 10³ Ω = 4700 Ω</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milli   </a:t>
            </a:r>
            <a:r>
              <a:rPr lang="en-US" sz="1100" dirty="0">
                <a:solidFill>
                  <a:srgbClr val="262B3A"/>
                </a:solidFill>
                <a:latin typeface="Calibri" pitchFamily="34" charset="0"/>
                <a:ea typeface="Calibri" pitchFamily="34" charset="-122"/>
                <a:cs typeface="Calibri" pitchFamily="34" charset="-120"/>
              </a:rPr>
              <a:t>m = × 10⁻³ so 350 mA = 350 × 10⁻³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4700 Ω and 0.35 A</a:t>
            </a:r>
            <a:endParaRPr lang="en-US" sz="1100" dirty="0"/>
          </a:p>
        </p:txBody>
      </p:sp>
      <p:sp>
        <p:nvSpPr>
          <p:cNvPr id="96" name="Shape 94"/>
          <p:cNvSpPr/>
          <p:nvPr/>
        </p:nvSpPr>
        <p:spPr>
          <a:xfrm>
            <a:off x="411480" y="5833872"/>
            <a:ext cx="11368735" cy="530352"/>
          </a:xfrm>
          <a:prstGeom prst="rect">
            <a:avLst/>
          </a:prstGeom>
          <a:solidFill>
            <a:srgbClr val="FFF4E0"/>
          </a:solidFill>
          <a:ln w="6350">
            <a:solidFill>
              <a:srgbClr val="F1D9A8"/>
            </a:solidFill>
            <a:prstDash val="solid"/>
          </a:ln>
        </p:spPr>
      </p:sp>
      <p:sp>
        <p:nvSpPr>
          <p:cNvPr id="97" name="Shape 95"/>
          <p:cNvSpPr/>
          <p:nvPr/>
        </p:nvSpPr>
        <p:spPr>
          <a:xfrm>
            <a:off x="411480" y="5833872"/>
            <a:ext cx="82296" cy="530352"/>
          </a:xfrm>
          <a:prstGeom prst="rect">
            <a:avLst/>
          </a:prstGeom>
          <a:solidFill>
            <a:srgbClr val="E39A2F"/>
          </a:solidFill>
          <a:ln w="12700">
            <a:solidFill>
              <a:srgbClr val="E39A2F"/>
            </a:solidFill>
            <a:prstDash val="solid"/>
          </a:ln>
        </p:spPr>
      </p:sp>
      <p:sp>
        <p:nvSpPr>
          <p:cNvPr id="98" name="Text 9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Write in SI units, in standard form: (a) the frequency 2.4 GHz (b) the wavelength 520 nm (c) the power 2 MW.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Prefixes in calculations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1.2, 1.3 • convert to SI units first, then substitute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1.2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kettle (2.2 kW) switched on for 3.0 minutes</a:t>
            </a:r>
            <a:endParaRPr lang="en-US" sz="1000" dirty="0"/>
          </a:p>
        </p:txBody>
      </p:sp>
      <p:sp>
        <p:nvSpPr>
          <p:cNvPr id="10" name="Shape 8"/>
          <p:cNvSpPr/>
          <p:nvPr/>
        </p:nvSpPr>
        <p:spPr>
          <a:xfrm>
            <a:off x="685800" y="1371600"/>
            <a:ext cx="5029200" cy="621792"/>
          </a:xfrm>
          <a:prstGeom prst="roundRect">
            <a:avLst>
              <a:gd name="adj" fmla="val 8824"/>
            </a:avLst>
          </a:prstGeom>
          <a:solidFill>
            <a:srgbClr val="FFFFFF"/>
          </a:solidFill>
          <a:ln w="15875">
            <a:solidFill>
              <a:srgbClr val="2E5BD8"/>
            </a:solidFill>
            <a:prstDash val="solid"/>
          </a:ln>
        </p:spPr>
      </p:sp>
      <p:sp>
        <p:nvSpPr>
          <p:cNvPr id="11" name="Text 9"/>
          <p:cNvSpPr/>
          <p:nvPr/>
        </p:nvSpPr>
        <p:spPr>
          <a:xfrm>
            <a:off x="822960" y="1408176"/>
            <a:ext cx="4754880" cy="237744"/>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1  Write down the data</a:t>
            </a:r>
            <a:endParaRPr lang="en-US" sz="1050" dirty="0"/>
          </a:p>
        </p:txBody>
      </p:sp>
      <p:sp>
        <p:nvSpPr>
          <p:cNvPr id="12" name="Text 10"/>
          <p:cNvSpPr/>
          <p:nvPr/>
        </p:nvSpPr>
        <p:spPr>
          <a:xfrm>
            <a:off x="822960" y="1655064"/>
            <a:ext cx="4754880" cy="292608"/>
          </a:xfrm>
          <a:prstGeom prst="rect">
            <a:avLst/>
          </a:prstGeom>
          <a:noFill/>
          <a:ln/>
        </p:spPr>
        <p:txBody>
          <a:bodyPr wrap="square" lIns="0" tIns="0" rIns="0" bIns="0" rtlCol="0" anchor="ctr"/>
          <a:lstStyle/>
          <a:p>
            <a:pPr algn="l" indent="0" marL="0">
              <a:buNone/>
            </a:pPr>
            <a:r>
              <a:rPr lang="en-US" sz="1250" b="1" dirty="0">
                <a:solidFill>
                  <a:srgbClr val="1A2340"/>
                </a:solidFill>
                <a:latin typeface="Calibri" pitchFamily="34" charset="0"/>
                <a:ea typeface="Calibri" pitchFamily="34" charset="-122"/>
                <a:cs typeface="Calibri" pitchFamily="34" charset="-120"/>
              </a:rPr>
              <a:t>P = 2.2 kW      t = 3.0 min</a:t>
            </a:r>
            <a:endParaRPr lang="en-US" sz="1250" dirty="0"/>
          </a:p>
        </p:txBody>
      </p:sp>
      <p:sp>
        <p:nvSpPr>
          <p:cNvPr id="13" name="Shape 11"/>
          <p:cNvSpPr/>
          <p:nvPr/>
        </p:nvSpPr>
        <p:spPr>
          <a:xfrm>
            <a:off x="3200400" y="1993392"/>
            <a:ext cx="91" cy="164592"/>
          </a:xfrm>
          <a:prstGeom prst="line">
            <a:avLst/>
          </a:prstGeom>
          <a:noFill/>
          <a:ln w="22225">
            <a:solidFill>
              <a:srgbClr val="2E5BD8"/>
            </a:solidFill>
            <a:prstDash val="solid"/>
            <a:tailEnd type="triangle"/>
          </a:ln>
        </p:spPr>
      </p:sp>
      <p:sp>
        <p:nvSpPr>
          <p:cNvPr id="14" name="Shape 12"/>
          <p:cNvSpPr/>
          <p:nvPr/>
        </p:nvSpPr>
        <p:spPr>
          <a:xfrm>
            <a:off x="685800" y="2157984"/>
            <a:ext cx="5029200" cy="621792"/>
          </a:xfrm>
          <a:prstGeom prst="roundRect">
            <a:avLst>
              <a:gd name="adj" fmla="val 8824"/>
            </a:avLst>
          </a:prstGeom>
          <a:solidFill>
            <a:srgbClr val="DCE6FB"/>
          </a:solidFill>
          <a:ln w="15875">
            <a:solidFill>
              <a:srgbClr val="2E5BD8"/>
            </a:solidFill>
            <a:prstDash val="solid"/>
          </a:ln>
        </p:spPr>
      </p:sp>
      <p:sp>
        <p:nvSpPr>
          <p:cNvPr id="15" name="Text 13"/>
          <p:cNvSpPr/>
          <p:nvPr/>
        </p:nvSpPr>
        <p:spPr>
          <a:xfrm>
            <a:off x="822960" y="2194560"/>
            <a:ext cx="4754880" cy="237744"/>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2  Convert to SI units</a:t>
            </a:r>
            <a:endParaRPr lang="en-US" sz="1050" dirty="0"/>
          </a:p>
        </p:txBody>
      </p:sp>
      <p:sp>
        <p:nvSpPr>
          <p:cNvPr id="16" name="Text 14"/>
          <p:cNvSpPr/>
          <p:nvPr/>
        </p:nvSpPr>
        <p:spPr>
          <a:xfrm>
            <a:off x="822960" y="2441448"/>
            <a:ext cx="4754880" cy="292608"/>
          </a:xfrm>
          <a:prstGeom prst="rect">
            <a:avLst/>
          </a:prstGeom>
          <a:noFill/>
          <a:ln/>
        </p:spPr>
        <p:txBody>
          <a:bodyPr wrap="square" lIns="0" tIns="0" rIns="0" bIns="0" rtlCol="0" anchor="ctr"/>
          <a:lstStyle/>
          <a:p>
            <a:pPr algn="l" indent="0" marL="0">
              <a:buNone/>
            </a:pPr>
            <a:r>
              <a:rPr lang="en-US" sz="1250" b="1" dirty="0">
                <a:solidFill>
                  <a:srgbClr val="1A2340"/>
                </a:solidFill>
                <a:latin typeface="Calibri" pitchFamily="34" charset="0"/>
                <a:ea typeface="Calibri" pitchFamily="34" charset="-122"/>
                <a:cs typeface="Calibri" pitchFamily="34" charset="-120"/>
              </a:rPr>
              <a:t>P = 2.2 × 10³ W = 2200 W      t = 3.0 × 60 = 180 s</a:t>
            </a:r>
            <a:endParaRPr lang="en-US" sz="1250" dirty="0"/>
          </a:p>
        </p:txBody>
      </p:sp>
      <p:sp>
        <p:nvSpPr>
          <p:cNvPr id="17" name="Shape 15"/>
          <p:cNvSpPr/>
          <p:nvPr/>
        </p:nvSpPr>
        <p:spPr>
          <a:xfrm>
            <a:off x="3200400" y="2779776"/>
            <a:ext cx="91" cy="164592"/>
          </a:xfrm>
          <a:prstGeom prst="line">
            <a:avLst/>
          </a:prstGeom>
          <a:noFill/>
          <a:ln w="22225">
            <a:solidFill>
              <a:srgbClr val="2E5BD8"/>
            </a:solidFill>
            <a:prstDash val="solid"/>
            <a:tailEnd type="triangle"/>
          </a:ln>
        </p:spPr>
      </p:sp>
      <p:sp>
        <p:nvSpPr>
          <p:cNvPr id="18" name="Shape 16"/>
          <p:cNvSpPr/>
          <p:nvPr/>
        </p:nvSpPr>
        <p:spPr>
          <a:xfrm>
            <a:off x="685800" y="2944368"/>
            <a:ext cx="5029200" cy="621792"/>
          </a:xfrm>
          <a:prstGeom prst="roundRect">
            <a:avLst>
              <a:gd name="adj" fmla="val 8824"/>
            </a:avLst>
          </a:prstGeom>
          <a:solidFill>
            <a:srgbClr val="FFFFFF"/>
          </a:solidFill>
          <a:ln w="15875">
            <a:solidFill>
              <a:srgbClr val="2E5BD8"/>
            </a:solidFill>
            <a:prstDash val="solid"/>
          </a:ln>
        </p:spPr>
      </p:sp>
      <p:sp>
        <p:nvSpPr>
          <p:cNvPr id="19" name="Text 17"/>
          <p:cNvSpPr/>
          <p:nvPr/>
        </p:nvSpPr>
        <p:spPr>
          <a:xfrm>
            <a:off x="822960" y="2980944"/>
            <a:ext cx="4754880" cy="237744"/>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3  Equation, then substitute</a:t>
            </a:r>
            <a:endParaRPr lang="en-US" sz="1050" dirty="0"/>
          </a:p>
        </p:txBody>
      </p:sp>
      <p:sp>
        <p:nvSpPr>
          <p:cNvPr id="20" name="Text 18"/>
          <p:cNvSpPr/>
          <p:nvPr/>
        </p:nvSpPr>
        <p:spPr>
          <a:xfrm>
            <a:off x="822960" y="3227832"/>
            <a:ext cx="4754880" cy="292608"/>
          </a:xfrm>
          <a:prstGeom prst="rect">
            <a:avLst/>
          </a:prstGeom>
          <a:noFill/>
          <a:ln/>
        </p:spPr>
        <p:txBody>
          <a:bodyPr wrap="square" lIns="0" tIns="0" rIns="0" bIns="0" rtlCol="0" anchor="ctr"/>
          <a:lstStyle/>
          <a:p>
            <a:pPr algn="l" indent="0" marL="0">
              <a:buNone/>
            </a:pPr>
            <a:r>
              <a:rPr lang="en-US" sz="1250" b="1" dirty="0">
                <a:solidFill>
                  <a:srgbClr val="1A2340"/>
                </a:solidFill>
                <a:latin typeface="Calibri" pitchFamily="34" charset="0"/>
                <a:ea typeface="Calibri" pitchFamily="34" charset="-122"/>
                <a:cs typeface="Calibri" pitchFamily="34" charset="-120"/>
              </a:rPr>
              <a:t>E = P × t = 2200 W × 180 s</a:t>
            </a:r>
            <a:endParaRPr lang="en-US" sz="1250" dirty="0"/>
          </a:p>
        </p:txBody>
      </p:sp>
      <p:sp>
        <p:nvSpPr>
          <p:cNvPr id="21" name="Shape 19"/>
          <p:cNvSpPr/>
          <p:nvPr/>
        </p:nvSpPr>
        <p:spPr>
          <a:xfrm>
            <a:off x="3200400" y="3566160"/>
            <a:ext cx="91" cy="164592"/>
          </a:xfrm>
          <a:prstGeom prst="line">
            <a:avLst/>
          </a:prstGeom>
          <a:noFill/>
          <a:ln w="22225">
            <a:solidFill>
              <a:srgbClr val="2E5BD8"/>
            </a:solidFill>
            <a:prstDash val="solid"/>
            <a:tailEnd type="triangle"/>
          </a:ln>
        </p:spPr>
      </p:sp>
      <p:sp>
        <p:nvSpPr>
          <p:cNvPr id="22" name="Shape 20"/>
          <p:cNvSpPr/>
          <p:nvPr/>
        </p:nvSpPr>
        <p:spPr>
          <a:xfrm>
            <a:off x="685800" y="3730752"/>
            <a:ext cx="5029200" cy="621792"/>
          </a:xfrm>
          <a:prstGeom prst="roundRect">
            <a:avLst>
              <a:gd name="adj" fmla="val 8824"/>
            </a:avLst>
          </a:prstGeom>
          <a:solidFill>
            <a:srgbClr val="FDE7D0"/>
          </a:solidFill>
          <a:ln w="15875">
            <a:solidFill>
              <a:srgbClr val="2E5BD8"/>
            </a:solidFill>
            <a:prstDash val="solid"/>
          </a:ln>
        </p:spPr>
      </p:sp>
      <p:sp>
        <p:nvSpPr>
          <p:cNvPr id="23" name="Text 21"/>
          <p:cNvSpPr/>
          <p:nvPr/>
        </p:nvSpPr>
        <p:spPr>
          <a:xfrm>
            <a:off x="822960" y="3767328"/>
            <a:ext cx="4754880" cy="237744"/>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4  Answer with unit and s.f.</a:t>
            </a:r>
            <a:endParaRPr lang="en-US" sz="1050" dirty="0"/>
          </a:p>
        </p:txBody>
      </p:sp>
      <p:sp>
        <p:nvSpPr>
          <p:cNvPr id="24" name="Text 22"/>
          <p:cNvSpPr/>
          <p:nvPr/>
        </p:nvSpPr>
        <p:spPr>
          <a:xfrm>
            <a:off x="822960" y="4014216"/>
            <a:ext cx="4754880" cy="292608"/>
          </a:xfrm>
          <a:prstGeom prst="rect">
            <a:avLst/>
          </a:prstGeom>
          <a:noFill/>
          <a:ln/>
        </p:spPr>
        <p:txBody>
          <a:bodyPr wrap="square" lIns="0" tIns="0" rIns="0" bIns="0" rtlCol="0" anchor="ctr"/>
          <a:lstStyle/>
          <a:p>
            <a:pPr algn="l" indent="0" marL="0">
              <a:buNone/>
            </a:pPr>
            <a:r>
              <a:rPr lang="en-US" sz="1250" b="1" dirty="0">
                <a:solidFill>
                  <a:srgbClr val="C8414C"/>
                </a:solidFill>
                <a:latin typeface="Calibri" pitchFamily="34" charset="0"/>
                <a:ea typeface="Calibri" pitchFamily="34" charset="-122"/>
                <a:cs typeface="Calibri" pitchFamily="34" charset="-120"/>
              </a:rPr>
              <a:t>E = 396 000 J = 4.0 × 10⁵ J (2 s.f.)</a:t>
            </a:r>
            <a:endParaRPr lang="en-US" sz="1250" dirty="0"/>
          </a:p>
        </p:txBody>
      </p:sp>
      <p:sp>
        <p:nvSpPr>
          <p:cNvPr id="25" name="Shape 23"/>
          <p:cNvSpPr/>
          <p:nvPr/>
        </p:nvSpPr>
        <p:spPr>
          <a:xfrm>
            <a:off x="3200400" y="4352544"/>
            <a:ext cx="91" cy="164592"/>
          </a:xfrm>
          <a:prstGeom prst="line">
            <a:avLst/>
          </a:prstGeom>
          <a:noFill/>
          <a:ln w="22225">
            <a:solidFill>
              <a:srgbClr val="2E5BD8"/>
            </a:solidFill>
            <a:prstDash val="solid"/>
            <a:tailEnd type="triangle"/>
          </a:ln>
        </p:spPr>
      </p:sp>
      <p:sp>
        <p:nvSpPr>
          <p:cNvPr id="26" name="Shape 24"/>
          <p:cNvSpPr/>
          <p:nvPr/>
        </p:nvSpPr>
        <p:spPr>
          <a:xfrm>
            <a:off x="685800" y="4517136"/>
            <a:ext cx="5029200" cy="621792"/>
          </a:xfrm>
          <a:prstGeom prst="roundRect">
            <a:avLst>
              <a:gd name="adj" fmla="val 8824"/>
            </a:avLst>
          </a:prstGeom>
          <a:solidFill>
            <a:srgbClr val="FFFFFF"/>
          </a:solidFill>
          <a:ln w="15875">
            <a:solidFill>
              <a:srgbClr val="2E5BD8"/>
            </a:solidFill>
            <a:prstDash val="solid"/>
          </a:ln>
        </p:spPr>
      </p:sp>
      <p:sp>
        <p:nvSpPr>
          <p:cNvPr id="27" name="Text 25"/>
          <p:cNvSpPr/>
          <p:nvPr/>
        </p:nvSpPr>
        <p:spPr>
          <a:xfrm>
            <a:off x="822960" y="4553712"/>
            <a:ext cx="4754880" cy="237744"/>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5  Optional: add a prefix</a:t>
            </a:r>
            <a:endParaRPr lang="en-US" sz="1050" dirty="0"/>
          </a:p>
        </p:txBody>
      </p:sp>
      <p:sp>
        <p:nvSpPr>
          <p:cNvPr id="28" name="Text 26"/>
          <p:cNvSpPr/>
          <p:nvPr/>
        </p:nvSpPr>
        <p:spPr>
          <a:xfrm>
            <a:off x="822960" y="4800600"/>
            <a:ext cx="4754880" cy="292608"/>
          </a:xfrm>
          <a:prstGeom prst="rect">
            <a:avLst/>
          </a:prstGeom>
          <a:noFill/>
          <a:ln/>
        </p:spPr>
        <p:txBody>
          <a:bodyPr wrap="square" lIns="0" tIns="0" rIns="0" bIns="0" rtlCol="0" anchor="ctr"/>
          <a:lstStyle/>
          <a:p>
            <a:pPr algn="l" indent="0" marL="0">
              <a:buNone/>
            </a:pPr>
            <a:r>
              <a:rPr lang="en-US" sz="1250" b="1" dirty="0">
                <a:solidFill>
                  <a:srgbClr val="1A2340"/>
                </a:solidFill>
                <a:latin typeface="Calibri" pitchFamily="34" charset="0"/>
                <a:ea typeface="Calibri" pitchFamily="34" charset="-122"/>
                <a:cs typeface="Calibri" pitchFamily="34" charset="-120"/>
              </a:rPr>
              <a:t>E = 400 kJ</a:t>
            </a:r>
            <a:endParaRPr lang="en-US" sz="1250" dirty="0"/>
          </a:p>
        </p:txBody>
      </p:sp>
      <p:sp>
        <p:nvSpPr>
          <p:cNvPr id="29" name="Shape 27"/>
          <p:cNvSpPr/>
          <p:nvPr/>
        </p:nvSpPr>
        <p:spPr>
          <a:xfrm>
            <a:off x="6217920" y="1188720"/>
            <a:ext cx="5562295" cy="2148840"/>
          </a:xfrm>
          <a:prstGeom prst="roundRect">
            <a:avLst>
              <a:gd name="adj" fmla="val 2553"/>
            </a:avLst>
          </a:prstGeom>
          <a:solidFill>
            <a:srgbClr val="F5F8FE"/>
          </a:solidFill>
          <a:ln w="9525">
            <a:solidFill>
              <a:srgbClr val="D5DCEB"/>
            </a:solidFill>
            <a:prstDash val="solid"/>
          </a:ln>
        </p:spPr>
      </p:sp>
      <p:sp>
        <p:nvSpPr>
          <p:cNvPr id="30" name="Text 2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convert first?</a:t>
            </a:r>
            <a:endParaRPr lang="en-US" sz="1300" dirty="0"/>
          </a:p>
        </p:txBody>
      </p:sp>
      <p:sp>
        <p:nvSpPr>
          <p:cNvPr id="31" name="Text 29"/>
          <p:cNvSpPr/>
          <p:nvPr/>
        </p:nvSpPr>
        <p:spPr>
          <a:xfrm>
            <a:off x="6382512" y="1609344"/>
            <a:ext cx="5233111" cy="165506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Physics equations only give the right answer when </a:t>
            </a:r>
            <a:r>
              <a:rPr lang="en-US" sz="1150" b="1" dirty="0">
                <a:solidFill>
                  <a:srgbClr val="262B3A"/>
                </a:solidFill>
                <a:latin typeface="Calibri" pitchFamily="34" charset="0"/>
                <a:ea typeface="Calibri" pitchFamily="34" charset="-122"/>
                <a:cs typeface="Calibri" pitchFamily="34" charset="-120"/>
              </a:rPr>
              <a:t>every quantity is in SI units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Using 2.2 (kW) × 3.0 (min) gives 6.6 – not an energy in joules.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 = P × t links energy, power and time (P = E ÷ t, Topic 10 – </a:t>
            </a:r>
            <a:r>
              <a:rPr lang="en-US" sz="1150" b="1" dirty="0">
                <a:solidFill>
                  <a:srgbClr val="262B3A"/>
                </a:solidFill>
                <a:latin typeface="Calibri" pitchFamily="34" charset="0"/>
                <a:ea typeface="Calibri" pitchFamily="34" charset="-122"/>
                <a:cs typeface="Calibri" pitchFamily="34" charset="-120"/>
              </a:rPr>
              <a:t>RECALL</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2" name="Shape 30"/>
          <p:cNvSpPr/>
          <p:nvPr/>
        </p:nvSpPr>
        <p:spPr>
          <a:xfrm>
            <a:off x="6217920" y="3474720"/>
            <a:ext cx="5562295" cy="2240280"/>
          </a:xfrm>
          <a:prstGeom prst="roundRect">
            <a:avLst>
              <a:gd name="adj" fmla="val 2449"/>
            </a:avLst>
          </a:prstGeom>
          <a:solidFill>
            <a:srgbClr val="FFF4E0"/>
          </a:solidFill>
          <a:ln w="9525">
            <a:solidFill>
              <a:srgbClr val="F1D9A8"/>
            </a:solidFill>
            <a:prstDash val="solid"/>
          </a:ln>
        </p:spPr>
      </p:sp>
      <p:sp>
        <p:nvSpPr>
          <p:cNvPr id="33" name="Text 31"/>
          <p:cNvSpPr/>
          <p:nvPr/>
        </p:nvSpPr>
        <p:spPr>
          <a:xfrm>
            <a:off x="6382512" y="35478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34" name="Text 32"/>
          <p:cNvSpPr/>
          <p:nvPr/>
        </p:nvSpPr>
        <p:spPr>
          <a:xfrm>
            <a:off x="6382512" y="3858768"/>
            <a:ext cx="5233111" cy="178308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current of 250 mA passes through a 48 Ω resistor. Calculate the potential difference across it.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Convert   </a:t>
            </a:r>
            <a:r>
              <a:rPr lang="en-US" sz="1100" dirty="0">
                <a:solidFill>
                  <a:srgbClr val="262B3A"/>
                </a:solidFill>
                <a:latin typeface="Calibri" pitchFamily="34" charset="0"/>
                <a:ea typeface="Calibri" pitchFamily="34" charset="-122"/>
                <a:cs typeface="Calibri" pitchFamily="34" charset="-120"/>
              </a:rPr>
              <a:t>I = 250 mA = 0.250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V = I × R (Topic 10, RECALL)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V = 0.250 A × 48 Ω</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V = 12 V</a:t>
            </a:r>
            <a:endParaRPr lang="en-US" sz="110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current of 0.40 mA passes through a 15 kΩ resistor. Calculate the potential difference across the resistor.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Converting units: time and speed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1.3 • be able to convert between different units, including hours to seconds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1.3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multiply going to a smaller unit; divide going to a bigger unit</a:t>
            </a:r>
            <a:endParaRPr lang="en-US" sz="1000" dirty="0"/>
          </a:p>
        </p:txBody>
      </p:sp>
      <p:sp>
        <p:nvSpPr>
          <p:cNvPr id="10" name="Text 8"/>
          <p:cNvSpPr/>
          <p:nvPr/>
        </p:nvSpPr>
        <p:spPr>
          <a:xfrm>
            <a:off x="640080" y="1298448"/>
            <a:ext cx="51206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Time</a:t>
            </a:r>
            <a:endParaRPr lang="en-US" sz="1200" dirty="0"/>
          </a:p>
        </p:txBody>
      </p:sp>
      <p:sp>
        <p:nvSpPr>
          <p:cNvPr id="11" name="Shape 9"/>
          <p:cNvSpPr/>
          <p:nvPr/>
        </p:nvSpPr>
        <p:spPr>
          <a:xfrm>
            <a:off x="731520" y="1783080"/>
            <a:ext cx="1280160" cy="502920"/>
          </a:xfrm>
          <a:prstGeom prst="roundRect">
            <a:avLst>
              <a:gd name="adj" fmla="val 10909"/>
            </a:avLst>
          </a:prstGeom>
          <a:solidFill>
            <a:srgbClr val="FFFFFF"/>
          </a:solidFill>
          <a:ln w="15875">
            <a:solidFill>
              <a:srgbClr val="2E5BD8"/>
            </a:solidFill>
            <a:prstDash val="solid"/>
          </a:ln>
        </p:spPr>
      </p:sp>
      <p:sp>
        <p:nvSpPr>
          <p:cNvPr id="12" name="Text 10"/>
          <p:cNvSpPr/>
          <p:nvPr/>
        </p:nvSpPr>
        <p:spPr>
          <a:xfrm>
            <a:off x="731520" y="1783080"/>
            <a:ext cx="1280160" cy="50292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hours</a:t>
            </a:r>
            <a:endParaRPr lang="en-US" sz="1200" dirty="0"/>
          </a:p>
        </p:txBody>
      </p:sp>
      <p:sp>
        <p:nvSpPr>
          <p:cNvPr id="13" name="Shape 11"/>
          <p:cNvSpPr/>
          <p:nvPr/>
        </p:nvSpPr>
        <p:spPr>
          <a:xfrm>
            <a:off x="2606040" y="1783080"/>
            <a:ext cx="1280160" cy="502920"/>
          </a:xfrm>
          <a:prstGeom prst="roundRect">
            <a:avLst>
              <a:gd name="adj" fmla="val 10909"/>
            </a:avLst>
          </a:prstGeom>
          <a:solidFill>
            <a:srgbClr val="FFFFFF"/>
          </a:solidFill>
          <a:ln w="15875">
            <a:solidFill>
              <a:srgbClr val="2E5BD8"/>
            </a:solidFill>
            <a:prstDash val="solid"/>
          </a:ln>
        </p:spPr>
      </p:sp>
      <p:sp>
        <p:nvSpPr>
          <p:cNvPr id="14" name="Text 12"/>
          <p:cNvSpPr/>
          <p:nvPr/>
        </p:nvSpPr>
        <p:spPr>
          <a:xfrm>
            <a:off x="2606040" y="1783080"/>
            <a:ext cx="1280160" cy="50292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minutes</a:t>
            </a:r>
            <a:endParaRPr lang="en-US" sz="1200" dirty="0"/>
          </a:p>
        </p:txBody>
      </p:sp>
      <p:sp>
        <p:nvSpPr>
          <p:cNvPr id="15" name="Shape 13"/>
          <p:cNvSpPr/>
          <p:nvPr/>
        </p:nvSpPr>
        <p:spPr>
          <a:xfrm>
            <a:off x="4480560" y="1783080"/>
            <a:ext cx="1280160" cy="502920"/>
          </a:xfrm>
          <a:prstGeom prst="roundRect">
            <a:avLst>
              <a:gd name="adj" fmla="val 10909"/>
            </a:avLst>
          </a:prstGeom>
          <a:solidFill>
            <a:srgbClr val="FFFFFF"/>
          </a:solidFill>
          <a:ln w="15875">
            <a:solidFill>
              <a:srgbClr val="2E5BD8"/>
            </a:solidFill>
            <a:prstDash val="solid"/>
          </a:ln>
        </p:spPr>
      </p:sp>
      <p:sp>
        <p:nvSpPr>
          <p:cNvPr id="16" name="Text 14"/>
          <p:cNvSpPr/>
          <p:nvPr/>
        </p:nvSpPr>
        <p:spPr>
          <a:xfrm>
            <a:off x="4480560" y="1783080"/>
            <a:ext cx="1280160" cy="50292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seconds</a:t>
            </a:r>
            <a:endParaRPr lang="en-US" sz="1200" dirty="0"/>
          </a:p>
        </p:txBody>
      </p:sp>
      <p:sp>
        <p:nvSpPr>
          <p:cNvPr id="17" name="Shape 15"/>
          <p:cNvSpPr/>
          <p:nvPr/>
        </p:nvSpPr>
        <p:spPr>
          <a:xfrm>
            <a:off x="2057400" y="1901952"/>
            <a:ext cx="502920" cy="91"/>
          </a:xfrm>
          <a:prstGeom prst="line">
            <a:avLst/>
          </a:prstGeom>
          <a:noFill/>
          <a:ln w="25400">
            <a:solidFill>
              <a:srgbClr val="2E8B57"/>
            </a:solidFill>
            <a:prstDash val="solid"/>
            <a:tailEnd type="triangle"/>
          </a:ln>
        </p:spPr>
      </p:sp>
      <p:sp>
        <p:nvSpPr>
          <p:cNvPr id="18" name="Text 16"/>
          <p:cNvSpPr/>
          <p:nvPr/>
        </p:nvSpPr>
        <p:spPr>
          <a:xfrm>
            <a:off x="2011680" y="1591056"/>
            <a:ext cx="59436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 60</a:t>
            </a:r>
            <a:endParaRPr lang="en-US" sz="1100" dirty="0"/>
          </a:p>
        </p:txBody>
      </p:sp>
      <p:sp>
        <p:nvSpPr>
          <p:cNvPr id="19" name="Shape 17"/>
          <p:cNvSpPr/>
          <p:nvPr/>
        </p:nvSpPr>
        <p:spPr>
          <a:xfrm flipH="1">
            <a:off x="2057400" y="2176272"/>
            <a:ext cx="502920" cy="91"/>
          </a:xfrm>
          <a:prstGeom prst="line">
            <a:avLst/>
          </a:prstGeom>
          <a:noFill/>
          <a:ln w="25400">
            <a:solidFill>
              <a:srgbClr val="C8414C"/>
            </a:solidFill>
            <a:prstDash val="solid"/>
            <a:tailEnd type="triangle"/>
          </a:ln>
        </p:spPr>
      </p:sp>
      <p:sp>
        <p:nvSpPr>
          <p:cNvPr id="20" name="Text 18"/>
          <p:cNvSpPr/>
          <p:nvPr/>
        </p:nvSpPr>
        <p:spPr>
          <a:xfrm>
            <a:off x="2011680" y="2286000"/>
            <a:ext cx="59436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 60</a:t>
            </a:r>
            <a:endParaRPr lang="en-US" sz="1100" dirty="0"/>
          </a:p>
        </p:txBody>
      </p:sp>
      <p:sp>
        <p:nvSpPr>
          <p:cNvPr id="21" name="Shape 19"/>
          <p:cNvSpPr/>
          <p:nvPr/>
        </p:nvSpPr>
        <p:spPr>
          <a:xfrm>
            <a:off x="3931920" y="1901952"/>
            <a:ext cx="502920" cy="91"/>
          </a:xfrm>
          <a:prstGeom prst="line">
            <a:avLst/>
          </a:prstGeom>
          <a:noFill/>
          <a:ln w="25400">
            <a:solidFill>
              <a:srgbClr val="2E8B57"/>
            </a:solidFill>
            <a:prstDash val="solid"/>
            <a:tailEnd type="triangle"/>
          </a:ln>
        </p:spPr>
      </p:sp>
      <p:sp>
        <p:nvSpPr>
          <p:cNvPr id="22" name="Text 20"/>
          <p:cNvSpPr/>
          <p:nvPr/>
        </p:nvSpPr>
        <p:spPr>
          <a:xfrm>
            <a:off x="3886200" y="1591056"/>
            <a:ext cx="59436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 60</a:t>
            </a:r>
            <a:endParaRPr lang="en-US" sz="1100" dirty="0"/>
          </a:p>
        </p:txBody>
      </p:sp>
      <p:sp>
        <p:nvSpPr>
          <p:cNvPr id="23" name="Shape 21"/>
          <p:cNvSpPr/>
          <p:nvPr/>
        </p:nvSpPr>
        <p:spPr>
          <a:xfrm flipH="1">
            <a:off x="3931920" y="2176272"/>
            <a:ext cx="502920" cy="91"/>
          </a:xfrm>
          <a:prstGeom prst="line">
            <a:avLst/>
          </a:prstGeom>
          <a:noFill/>
          <a:ln w="25400">
            <a:solidFill>
              <a:srgbClr val="C8414C"/>
            </a:solidFill>
            <a:prstDash val="solid"/>
            <a:tailEnd type="triangle"/>
          </a:ln>
        </p:spPr>
      </p:sp>
      <p:sp>
        <p:nvSpPr>
          <p:cNvPr id="24" name="Text 22"/>
          <p:cNvSpPr/>
          <p:nvPr/>
        </p:nvSpPr>
        <p:spPr>
          <a:xfrm>
            <a:off x="3886200" y="2286000"/>
            <a:ext cx="59436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 60</a:t>
            </a:r>
            <a:endParaRPr lang="en-US" sz="1100" dirty="0"/>
          </a:p>
        </p:txBody>
      </p:sp>
      <p:sp>
        <p:nvSpPr>
          <p:cNvPr id="25" name="Text 23"/>
          <p:cNvSpPr/>
          <p:nvPr/>
        </p:nvSpPr>
        <p:spPr>
          <a:xfrm>
            <a:off x="640080" y="2606040"/>
            <a:ext cx="5120640" cy="256032"/>
          </a:xfrm>
          <a:prstGeom prst="rect">
            <a:avLst/>
          </a:prstGeom>
          <a:noFill/>
          <a:ln/>
        </p:spPr>
        <p:txBody>
          <a:bodyPr wrap="square" lIns="0" tIns="0" rIns="0" bIns="0" rtlCol="0" anchor="ctr"/>
          <a:lstStyle/>
          <a:p>
            <a:pPr algn="ctr" indent="0" marL="0">
              <a:buNone/>
            </a:pPr>
            <a:r>
              <a:rPr lang="en-US" sz="1200" b="1" dirty="0">
                <a:solidFill>
                  <a:srgbClr val="2E5BD8"/>
                </a:solidFill>
                <a:latin typeface="Calibri" pitchFamily="34" charset="0"/>
                <a:ea typeface="Calibri" pitchFamily="34" charset="-122"/>
                <a:cs typeface="Calibri" pitchFamily="34" charset="-120"/>
              </a:rPr>
              <a:t>1 h = 60 min = 3600 s</a:t>
            </a:r>
            <a:endParaRPr lang="en-US" sz="1200" dirty="0"/>
          </a:p>
        </p:txBody>
      </p:sp>
      <p:sp>
        <p:nvSpPr>
          <p:cNvPr id="26" name="Shape 24"/>
          <p:cNvSpPr/>
          <p:nvPr/>
        </p:nvSpPr>
        <p:spPr>
          <a:xfrm>
            <a:off x="640080" y="2971800"/>
            <a:ext cx="5120640" cy="91"/>
          </a:xfrm>
          <a:prstGeom prst="line">
            <a:avLst/>
          </a:prstGeom>
          <a:noFill/>
          <a:ln w="12700">
            <a:solidFill>
              <a:srgbClr val="D5DCEB"/>
            </a:solidFill>
            <a:prstDash val="solid"/>
          </a:ln>
        </p:spPr>
      </p:sp>
      <p:sp>
        <p:nvSpPr>
          <p:cNvPr id="27" name="Text 25"/>
          <p:cNvSpPr/>
          <p:nvPr/>
        </p:nvSpPr>
        <p:spPr>
          <a:xfrm>
            <a:off x="640080" y="3063240"/>
            <a:ext cx="5120640" cy="256032"/>
          </a:xfrm>
          <a:prstGeom prst="rect">
            <a:avLst/>
          </a:prstGeom>
          <a:noFill/>
          <a:ln/>
        </p:spPr>
        <p:txBody>
          <a:bodyPr wrap="square" lIns="0" tIns="0" rIns="0" bIns="0" rtlCol="0" anchor="ctr"/>
          <a:lstStyle/>
          <a:p>
            <a:pPr algn="l" indent="0" marL="0">
              <a:buNone/>
            </a:pPr>
            <a:r>
              <a:rPr lang="en-US" sz="1200" b="1" dirty="0">
                <a:solidFill>
                  <a:srgbClr val="1A2340"/>
                </a:solidFill>
                <a:latin typeface="Calibri" pitchFamily="34" charset="0"/>
                <a:ea typeface="Calibri" pitchFamily="34" charset="-122"/>
                <a:cs typeface="Calibri" pitchFamily="34" charset="-120"/>
              </a:rPr>
              <a:t>Speed</a:t>
            </a:r>
            <a:endParaRPr lang="en-US" sz="1200" dirty="0"/>
          </a:p>
        </p:txBody>
      </p:sp>
      <p:sp>
        <p:nvSpPr>
          <p:cNvPr id="28" name="Shape 26"/>
          <p:cNvSpPr/>
          <p:nvPr/>
        </p:nvSpPr>
        <p:spPr>
          <a:xfrm>
            <a:off x="731520" y="3566160"/>
            <a:ext cx="1280160" cy="502920"/>
          </a:xfrm>
          <a:prstGeom prst="roundRect">
            <a:avLst>
              <a:gd name="adj" fmla="val 10909"/>
            </a:avLst>
          </a:prstGeom>
          <a:solidFill>
            <a:srgbClr val="FFFFFF"/>
          </a:solidFill>
          <a:ln w="15875">
            <a:solidFill>
              <a:srgbClr val="2E5BD8"/>
            </a:solidFill>
            <a:prstDash val="solid"/>
          </a:ln>
        </p:spPr>
      </p:sp>
      <p:sp>
        <p:nvSpPr>
          <p:cNvPr id="29" name="Text 27"/>
          <p:cNvSpPr/>
          <p:nvPr/>
        </p:nvSpPr>
        <p:spPr>
          <a:xfrm>
            <a:off x="731520" y="3566160"/>
            <a:ext cx="1280160" cy="50292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km/h</a:t>
            </a:r>
            <a:endParaRPr lang="en-US" sz="1200" dirty="0"/>
          </a:p>
        </p:txBody>
      </p:sp>
      <p:sp>
        <p:nvSpPr>
          <p:cNvPr id="30" name="Shape 28"/>
          <p:cNvSpPr/>
          <p:nvPr/>
        </p:nvSpPr>
        <p:spPr>
          <a:xfrm>
            <a:off x="2606040" y="3566160"/>
            <a:ext cx="1280160" cy="502920"/>
          </a:xfrm>
          <a:prstGeom prst="roundRect">
            <a:avLst>
              <a:gd name="adj" fmla="val 10909"/>
            </a:avLst>
          </a:prstGeom>
          <a:solidFill>
            <a:srgbClr val="FFFFFF"/>
          </a:solidFill>
          <a:ln w="15875">
            <a:solidFill>
              <a:srgbClr val="2E5BD8"/>
            </a:solidFill>
            <a:prstDash val="solid"/>
          </a:ln>
        </p:spPr>
      </p:sp>
      <p:sp>
        <p:nvSpPr>
          <p:cNvPr id="31" name="Text 29"/>
          <p:cNvSpPr/>
          <p:nvPr/>
        </p:nvSpPr>
        <p:spPr>
          <a:xfrm>
            <a:off x="2606040" y="3566160"/>
            <a:ext cx="1280160" cy="50292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m/h</a:t>
            </a:r>
            <a:endParaRPr lang="en-US" sz="1200" dirty="0"/>
          </a:p>
        </p:txBody>
      </p:sp>
      <p:sp>
        <p:nvSpPr>
          <p:cNvPr id="32" name="Shape 30"/>
          <p:cNvSpPr/>
          <p:nvPr/>
        </p:nvSpPr>
        <p:spPr>
          <a:xfrm>
            <a:off x="4480560" y="3566160"/>
            <a:ext cx="1280160" cy="502920"/>
          </a:xfrm>
          <a:prstGeom prst="roundRect">
            <a:avLst>
              <a:gd name="adj" fmla="val 10909"/>
            </a:avLst>
          </a:prstGeom>
          <a:solidFill>
            <a:srgbClr val="FFFFFF"/>
          </a:solidFill>
          <a:ln w="15875">
            <a:solidFill>
              <a:srgbClr val="2E5BD8"/>
            </a:solidFill>
            <a:prstDash val="solid"/>
          </a:ln>
        </p:spPr>
      </p:sp>
      <p:sp>
        <p:nvSpPr>
          <p:cNvPr id="33" name="Text 31"/>
          <p:cNvSpPr/>
          <p:nvPr/>
        </p:nvSpPr>
        <p:spPr>
          <a:xfrm>
            <a:off x="4480560" y="3566160"/>
            <a:ext cx="1280160" cy="50292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m/s</a:t>
            </a:r>
            <a:endParaRPr lang="en-US" sz="1200" dirty="0"/>
          </a:p>
        </p:txBody>
      </p:sp>
      <p:sp>
        <p:nvSpPr>
          <p:cNvPr id="34" name="Shape 32"/>
          <p:cNvSpPr/>
          <p:nvPr/>
        </p:nvSpPr>
        <p:spPr>
          <a:xfrm>
            <a:off x="2057400" y="3685032"/>
            <a:ext cx="502920" cy="91"/>
          </a:xfrm>
          <a:prstGeom prst="line">
            <a:avLst/>
          </a:prstGeom>
          <a:noFill/>
          <a:ln w="25400">
            <a:solidFill>
              <a:srgbClr val="2E8B57"/>
            </a:solidFill>
            <a:prstDash val="solid"/>
            <a:tailEnd type="triangle"/>
          </a:ln>
        </p:spPr>
      </p:sp>
      <p:sp>
        <p:nvSpPr>
          <p:cNvPr id="35" name="Text 33"/>
          <p:cNvSpPr/>
          <p:nvPr/>
        </p:nvSpPr>
        <p:spPr>
          <a:xfrm>
            <a:off x="1965960" y="3374136"/>
            <a:ext cx="68580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 1000</a:t>
            </a:r>
            <a:endParaRPr lang="en-US" sz="1100" dirty="0"/>
          </a:p>
        </p:txBody>
      </p:sp>
      <p:sp>
        <p:nvSpPr>
          <p:cNvPr id="36" name="Shape 34"/>
          <p:cNvSpPr/>
          <p:nvPr/>
        </p:nvSpPr>
        <p:spPr>
          <a:xfrm flipH="1">
            <a:off x="2057400" y="3959352"/>
            <a:ext cx="502920" cy="91"/>
          </a:xfrm>
          <a:prstGeom prst="line">
            <a:avLst/>
          </a:prstGeom>
          <a:noFill/>
          <a:ln w="25400">
            <a:solidFill>
              <a:srgbClr val="C8414C"/>
            </a:solidFill>
            <a:prstDash val="solid"/>
            <a:tailEnd type="triangle"/>
          </a:ln>
        </p:spPr>
      </p:sp>
      <p:sp>
        <p:nvSpPr>
          <p:cNvPr id="37" name="Text 35"/>
          <p:cNvSpPr/>
          <p:nvPr/>
        </p:nvSpPr>
        <p:spPr>
          <a:xfrm>
            <a:off x="1965960" y="4069080"/>
            <a:ext cx="6858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 1000</a:t>
            </a:r>
            <a:endParaRPr lang="en-US" sz="1100" dirty="0"/>
          </a:p>
        </p:txBody>
      </p:sp>
      <p:sp>
        <p:nvSpPr>
          <p:cNvPr id="38" name="Shape 36"/>
          <p:cNvSpPr/>
          <p:nvPr/>
        </p:nvSpPr>
        <p:spPr>
          <a:xfrm>
            <a:off x="3931920" y="3685032"/>
            <a:ext cx="502920" cy="91"/>
          </a:xfrm>
          <a:prstGeom prst="line">
            <a:avLst/>
          </a:prstGeom>
          <a:noFill/>
          <a:ln w="25400">
            <a:solidFill>
              <a:srgbClr val="C8414C"/>
            </a:solidFill>
            <a:prstDash val="solid"/>
            <a:tailEnd type="triangle"/>
          </a:ln>
        </p:spPr>
      </p:sp>
      <p:sp>
        <p:nvSpPr>
          <p:cNvPr id="39" name="Text 37"/>
          <p:cNvSpPr/>
          <p:nvPr/>
        </p:nvSpPr>
        <p:spPr>
          <a:xfrm>
            <a:off x="3840480" y="3374136"/>
            <a:ext cx="6858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 3600</a:t>
            </a:r>
            <a:endParaRPr lang="en-US" sz="1100" dirty="0"/>
          </a:p>
        </p:txBody>
      </p:sp>
      <p:sp>
        <p:nvSpPr>
          <p:cNvPr id="40" name="Shape 38"/>
          <p:cNvSpPr/>
          <p:nvPr/>
        </p:nvSpPr>
        <p:spPr>
          <a:xfrm flipH="1">
            <a:off x="3931920" y="3959352"/>
            <a:ext cx="502920" cy="91"/>
          </a:xfrm>
          <a:prstGeom prst="line">
            <a:avLst/>
          </a:prstGeom>
          <a:noFill/>
          <a:ln w="25400">
            <a:solidFill>
              <a:srgbClr val="2E8B57"/>
            </a:solidFill>
            <a:prstDash val="solid"/>
            <a:tailEnd type="triangle"/>
          </a:ln>
        </p:spPr>
      </p:sp>
      <p:sp>
        <p:nvSpPr>
          <p:cNvPr id="41" name="Text 39"/>
          <p:cNvSpPr/>
          <p:nvPr/>
        </p:nvSpPr>
        <p:spPr>
          <a:xfrm>
            <a:off x="3840480" y="4069080"/>
            <a:ext cx="68580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 3600</a:t>
            </a:r>
            <a:endParaRPr lang="en-US" sz="1100" dirty="0"/>
          </a:p>
        </p:txBody>
      </p:sp>
      <p:sp>
        <p:nvSpPr>
          <p:cNvPr id="42" name="Shape 40"/>
          <p:cNvSpPr/>
          <p:nvPr/>
        </p:nvSpPr>
        <p:spPr>
          <a:xfrm>
            <a:off x="1371600" y="4069080"/>
            <a:ext cx="91" cy="548640"/>
          </a:xfrm>
          <a:prstGeom prst="line">
            <a:avLst/>
          </a:prstGeom>
          <a:noFill/>
          <a:ln w="19050">
            <a:solidFill>
              <a:srgbClr val="2E5BD8"/>
            </a:solidFill>
            <a:prstDash val="solid"/>
          </a:ln>
        </p:spPr>
      </p:sp>
      <p:sp>
        <p:nvSpPr>
          <p:cNvPr id="43" name="Shape 41"/>
          <p:cNvSpPr/>
          <p:nvPr/>
        </p:nvSpPr>
        <p:spPr>
          <a:xfrm>
            <a:off x="1371600" y="4617720"/>
            <a:ext cx="3749040" cy="91"/>
          </a:xfrm>
          <a:prstGeom prst="line">
            <a:avLst/>
          </a:prstGeom>
          <a:noFill/>
          <a:ln w="19050">
            <a:solidFill>
              <a:srgbClr val="2E5BD8"/>
            </a:solidFill>
            <a:prstDash val="solid"/>
          </a:ln>
        </p:spPr>
      </p:sp>
      <p:sp>
        <p:nvSpPr>
          <p:cNvPr id="44" name="Shape 42"/>
          <p:cNvSpPr/>
          <p:nvPr/>
        </p:nvSpPr>
        <p:spPr>
          <a:xfrm flipV="1">
            <a:off x="5120640" y="4087368"/>
            <a:ext cx="91" cy="530352"/>
          </a:xfrm>
          <a:prstGeom prst="line">
            <a:avLst/>
          </a:prstGeom>
          <a:noFill/>
          <a:ln w="19050">
            <a:solidFill>
              <a:srgbClr val="2E5BD8"/>
            </a:solidFill>
            <a:prstDash val="solid"/>
            <a:tailEnd type="triangle"/>
          </a:ln>
        </p:spPr>
      </p:sp>
      <p:sp>
        <p:nvSpPr>
          <p:cNvPr id="45" name="Shape 43"/>
          <p:cNvSpPr/>
          <p:nvPr/>
        </p:nvSpPr>
        <p:spPr>
          <a:xfrm>
            <a:off x="2331720" y="4507992"/>
            <a:ext cx="1828800" cy="237744"/>
          </a:xfrm>
          <a:prstGeom prst="rect">
            <a:avLst/>
          </a:prstGeom>
          <a:solidFill>
            <a:srgbClr val="EEF1F8"/>
          </a:solidFill>
          <a:ln/>
        </p:spPr>
      </p:sp>
      <p:sp>
        <p:nvSpPr>
          <p:cNvPr id="46" name="Text 44"/>
          <p:cNvSpPr/>
          <p:nvPr/>
        </p:nvSpPr>
        <p:spPr>
          <a:xfrm>
            <a:off x="2331720" y="4498848"/>
            <a:ext cx="182880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shortcut: ÷ 3.6</a:t>
            </a:r>
            <a:endParaRPr lang="en-US" sz="1150" dirty="0"/>
          </a:p>
        </p:txBody>
      </p:sp>
      <p:sp>
        <p:nvSpPr>
          <p:cNvPr id="47" name="Text 45"/>
          <p:cNvSpPr/>
          <p:nvPr/>
        </p:nvSpPr>
        <p:spPr>
          <a:xfrm>
            <a:off x="640080" y="4846320"/>
            <a:ext cx="51206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green arrows: multiply   •   red arrows: divide</a:t>
            </a:r>
            <a:endParaRPr lang="en-US" sz="1050" dirty="0"/>
          </a:p>
        </p:txBody>
      </p:sp>
      <p:sp>
        <p:nvSpPr>
          <p:cNvPr id="48" name="Shape 46"/>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Multiply or divide?</a:t>
            </a:r>
            <a:endParaRPr lang="en-US" sz="1300" dirty="0"/>
          </a:p>
        </p:txBody>
      </p:sp>
      <p:sp>
        <p:nvSpPr>
          <p:cNvPr id="50" name="Text 48"/>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Going to a </a:t>
            </a:r>
            <a:r>
              <a:rPr lang="en-US" sz="1150" b="1" dirty="0">
                <a:solidFill>
                  <a:srgbClr val="262B3A"/>
                </a:solidFill>
                <a:latin typeface="Calibri" pitchFamily="34" charset="0"/>
                <a:ea typeface="Calibri" pitchFamily="34" charset="-122"/>
                <a:cs typeface="Calibri" pitchFamily="34" charset="-120"/>
              </a:rPr>
              <a:t>smaller unit</a:t>
            </a:r>
            <a:r>
              <a:rPr lang="en-US" sz="1150" dirty="0">
                <a:solidFill>
                  <a:srgbClr val="262B3A"/>
                </a:solidFill>
                <a:latin typeface="Calibri" pitchFamily="34" charset="0"/>
                <a:ea typeface="Calibri" pitchFamily="34" charset="-122"/>
                <a:cs typeface="Calibri" pitchFamily="34" charset="-120"/>
              </a:rPr>
              <a:t> (h → s): you need </a:t>
            </a:r>
            <a:r>
              <a:rPr lang="en-US" sz="1150" b="1" dirty="0">
                <a:solidFill>
                  <a:srgbClr val="262B3A"/>
                </a:solidFill>
                <a:latin typeface="Calibri" pitchFamily="34" charset="0"/>
                <a:ea typeface="Calibri" pitchFamily="34" charset="-122"/>
                <a:cs typeface="Calibri" pitchFamily="34" charset="-120"/>
              </a:rPr>
              <a:t>more</a:t>
            </a:r>
            <a:r>
              <a:rPr lang="en-US" sz="1150" dirty="0">
                <a:solidFill>
                  <a:srgbClr val="262B3A"/>
                </a:solidFill>
                <a:latin typeface="Calibri" pitchFamily="34" charset="0"/>
                <a:ea typeface="Calibri" pitchFamily="34" charset="-122"/>
                <a:cs typeface="Calibri" pitchFamily="34" charset="-120"/>
              </a:rPr>
              <a:t> of them, so </a:t>
            </a:r>
            <a:r>
              <a:rPr lang="en-US" sz="1150" b="1" dirty="0">
                <a:solidFill>
                  <a:srgbClr val="262B3A"/>
                </a:solidFill>
                <a:latin typeface="Calibri" pitchFamily="34" charset="0"/>
                <a:ea typeface="Calibri" pitchFamily="34" charset="-122"/>
                <a:cs typeface="Calibri" pitchFamily="34" charset="-120"/>
              </a:rPr>
              <a:t>multiply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Going to a </a:t>
            </a:r>
            <a:r>
              <a:rPr lang="en-US" sz="1150" b="1" dirty="0">
                <a:solidFill>
                  <a:srgbClr val="262B3A"/>
                </a:solidFill>
                <a:latin typeface="Calibri" pitchFamily="34" charset="0"/>
                <a:ea typeface="Calibri" pitchFamily="34" charset="-122"/>
                <a:cs typeface="Calibri" pitchFamily="34" charset="-120"/>
              </a:rPr>
              <a:t>bigger unit</a:t>
            </a:r>
            <a:r>
              <a:rPr lang="en-US" sz="1150" dirty="0">
                <a:solidFill>
                  <a:srgbClr val="262B3A"/>
                </a:solidFill>
                <a:latin typeface="Calibri" pitchFamily="34" charset="0"/>
                <a:ea typeface="Calibri" pitchFamily="34" charset="-122"/>
                <a:cs typeface="Calibri" pitchFamily="34" charset="-120"/>
              </a:rPr>
              <a:t> (s → h): you need </a:t>
            </a:r>
            <a:r>
              <a:rPr lang="en-US" sz="1150" b="1" dirty="0">
                <a:solidFill>
                  <a:srgbClr val="262B3A"/>
                </a:solidFill>
                <a:latin typeface="Calibri" pitchFamily="34" charset="0"/>
                <a:ea typeface="Calibri" pitchFamily="34" charset="-122"/>
                <a:cs typeface="Calibri" pitchFamily="34" charset="-120"/>
              </a:rPr>
              <a:t>fewer</a:t>
            </a:r>
            <a:r>
              <a:rPr lang="en-US" sz="1150" dirty="0">
                <a:solidFill>
                  <a:srgbClr val="262B3A"/>
                </a:solidFill>
                <a:latin typeface="Calibri" pitchFamily="34" charset="0"/>
                <a:ea typeface="Calibri" pitchFamily="34" charset="-122"/>
                <a:cs typeface="Calibri" pitchFamily="34" charset="-120"/>
              </a:rPr>
              <a:t>, so </a:t>
            </a:r>
            <a:r>
              <a:rPr lang="en-US" sz="1150" b="1" dirty="0">
                <a:solidFill>
                  <a:srgbClr val="262B3A"/>
                </a:solidFill>
                <a:latin typeface="Calibri" pitchFamily="34" charset="0"/>
                <a:ea typeface="Calibri" pitchFamily="34" charset="-122"/>
                <a:cs typeface="Calibri" pitchFamily="34" charset="-120"/>
              </a:rPr>
              <a:t>divide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km/h → m/s:</a:t>
            </a:r>
            <a:r>
              <a:rPr lang="en-US" sz="1150" dirty="0">
                <a:solidFill>
                  <a:srgbClr val="262B3A"/>
                </a:solidFill>
                <a:latin typeface="Calibri" pitchFamily="34" charset="0"/>
                <a:ea typeface="Calibri" pitchFamily="34" charset="-122"/>
                <a:cs typeface="Calibri" pitchFamily="34" charset="-120"/>
              </a:rPr>
              <a:t> × 1000 (km → m), then ÷ 3600 (per hour → per second). Overall </a:t>
            </a:r>
            <a:r>
              <a:rPr lang="en-US" sz="1150" b="1" dirty="0">
                <a:solidFill>
                  <a:srgbClr val="262B3A"/>
                </a:solidFill>
                <a:latin typeface="Calibri" pitchFamily="34" charset="0"/>
                <a:ea typeface="Calibri" pitchFamily="34" charset="-122"/>
                <a:cs typeface="Calibri" pitchFamily="34" charset="-120"/>
              </a:rPr>
              <a:t>÷ 3.6</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Sense check: m/s values are </a:t>
            </a:r>
            <a:r>
              <a:rPr lang="en-US" sz="1150" b="1" dirty="0">
                <a:solidFill>
                  <a:srgbClr val="262B3A"/>
                </a:solidFill>
                <a:latin typeface="Calibri" pitchFamily="34" charset="0"/>
                <a:ea typeface="Calibri" pitchFamily="34" charset="-122"/>
                <a:cs typeface="Calibri" pitchFamily="34" charset="-120"/>
              </a:rPr>
              <a:t>smaller</a:t>
            </a:r>
            <a:r>
              <a:rPr lang="en-US" sz="1150" dirty="0">
                <a:solidFill>
                  <a:srgbClr val="262B3A"/>
                </a:solidFill>
                <a:latin typeface="Calibri" pitchFamily="34" charset="0"/>
                <a:ea typeface="Calibri" pitchFamily="34" charset="-122"/>
                <a:cs typeface="Calibri" pitchFamily="34" charset="-120"/>
              </a:rPr>
              <a:t> than km/h values.</a:t>
            </a:r>
            <a:endParaRPr lang="en-US" sz="1150" dirty="0"/>
          </a:p>
        </p:txBody>
      </p:sp>
      <p:sp>
        <p:nvSpPr>
          <p:cNvPr id="51" name="Shape 49"/>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2" name="Text 50"/>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3" name="Text 51"/>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car travels at 72 km/h. Convert this speed to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Distance   </a:t>
            </a:r>
            <a:r>
              <a:rPr lang="en-US" sz="1100" dirty="0">
                <a:solidFill>
                  <a:srgbClr val="262B3A"/>
                </a:solidFill>
                <a:latin typeface="Calibri" pitchFamily="34" charset="0"/>
                <a:ea typeface="Calibri" pitchFamily="34" charset="-122"/>
                <a:cs typeface="Calibri" pitchFamily="34" charset="-120"/>
              </a:rPr>
              <a:t>72 km = 72 × 1000 = 72 000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Time   </a:t>
            </a:r>
            <a:r>
              <a:rPr lang="en-US" sz="1100" dirty="0">
                <a:solidFill>
                  <a:srgbClr val="262B3A"/>
                </a:solidFill>
                <a:latin typeface="Calibri" pitchFamily="34" charset="0"/>
                <a:ea typeface="Calibri" pitchFamily="34" charset="-122"/>
                <a:cs typeface="Calibri" pitchFamily="34" charset="-120"/>
              </a:rPr>
              <a:t>1 h = 3600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Divide   </a:t>
            </a:r>
            <a:r>
              <a:rPr lang="en-US" sz="1100" dirty="0">
                <a:solidFill>
                  <a:srgbClr val="262B3A"/>
                </a:solidFill>
                <a:latin typeface="Calibri" pitchFamily="34" charset="0"/>
                <a:ea typeface="Calibri" pitchFamily="34" charset="-122"/>
                <a:cs typeface="Calibri" pitchFamily="34" charset="-120"/>
              </a:rPr>
              <a:t>speed = 72 000 m ÷ 3600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speed = 20 m/s</a:t>
            </a:r>
            <a:endParaRPr lang="en-US" sz="110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car travels at 54 km/h for 15 minutes. Convert the speed to m/s and the time to s, then calculate the distance in metres.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1.2, 1.3 • prefixes and converting units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Convert </a:t>
            </a:r>
            <a:r>
              <a:rPr lang="en-US" sz="1250" b="1" dirty="0">
                <a:solidFill>
                  <a:srgbClr val="262B3A"/>
                </a:solidFill>
                <a:latin typeface="Calibri" pitchFamily="34" charset="0"/>
                <a:ea typeface="Calibri" pitchFamily="34" charset="-122"/>
                <a:cs typeface="Calibri" pitchFamily="34" charset="-120"/>
              </a:rPr>
              <a:t>2.5 hours</a:t>
            </a:r>
            <a:r>
              <a:rPr lang="en-US" sz="1250" dirty="0">
                <a:solidFill>
                  <a:srgbClr val="262B3A"/>
                </a:solidFill>
                <a:latin typeface="Calibri" pitchFamily="34" charset="0"/>
                <a:ea typeface="Calibri" pitchFamily="34" charset="-122"/>
                <a:cs typeface="Calibri" pitchFamily="34" charset="-120"/>
              </a:rPr>
              <a:t> into seconds. Then write a current of </a:t>
            </a:r>
            <a:r>
              <a:rPr lang="en-US" sz="1250" b="1" dirty="0">
                <a:solidFill>
                  <a:srgbClr val="262B3A"/>
                </a:solidFill>
                <a:latin typeface="Calibri" pitchFamily="34" charset="0"/>
                <a:ea typeface="Calibri" pitchFamily="34" charset="-122"/>
                <a:cs typeface="Calibri" pitchFamily="34" charset="-120"/>
              </a:rPr>
              <a:t>0.065 A</a:t>
            </a:r>
            <a:r>
              <a:rPr lang="en-US" sz="1250" dirty="0">
                <a:solidFill>
                  <a:srgbClr val="262B3A"/>
                </a:solidFill>
                <a:latin typeface="Calibri" pitchFamily="34" charset="0"/>
                <a:ea typeface="Calibri" pitchFamily="34" charset="-122"/>
                <a:cs typeface="Calibri" pitchFamily="34" charset="-120"/>
              </a:rPr>
              <a:t> in milliamperes.</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microwave oven of power </a:t>
            </a:r>
            <a:r>
              <a:rPr lang="en-US" sz="1250" b="1" dirty="0">
                <a:solidFill>
                  <a:srgbClr val="262B3A"/>
                </a:solidFill>
                <a:latin typeface="Calibri" pitchFamily="34" charset="0"/>
                <a:ea typeface="Calibri" pitchFamily="34" charset="-122"/>
                <a:cs typeface="Calibri" pitchFamily="34" charset="-120"/>
              </a:rPr>
              <a:t>800 W</a:t>
            </a:r>
            <a:r>
              <a:rPr lang="en-US" sz="1250" dirty="0">
                <a:solidFill>
                  <a:srgbClr val="262B3A"/>
                </a:solidFill>
                <a:latin typeface="Calibri" pitchFamily="34" charset="0"/>
                <a:ea typeface="Calibri" pitchFamily="34" charset="-122"/>
                <a:cs typeface="Calibri" pitchFamily="34" charset="-120"/>
              </a:rPr>
              <a:t> is used for </a:t>
            </a:r>
            <a:r>
              <a:rPr lang="en-US" sz="1250" b="1" dirty="0">
                <a:solidFill>
                  <a:srgbClr val="262B3A"/>
                </a:solidFill>
                <a:latin typeface="Calibri" pitchFamily="34" charset="0"/>
                <a:ea typeface="Calibri" pitchFamily="34" charset="-122"/>
                <a:cs typeface="Calibri" pitchFamily="34" charset="-120"/>
              </a:rPr>
              <a:t>4.5 minutes</a:t>
            </a:r>
            <a:r>
              <a:rPr lang="en-US" sz="1250" dirty="0">
                <a:solidFill>
                  <a:srgbClr val="262B3A"/>
                </a:solidFill>
                <a:latin typeface="Calibri" pitchFamily="34" charset="0"/>
                <a:ea typeface="Calibri" pitchFamily="34" charset="-122"/>
                <a:cs typeface="Calibri" pitchFamily="34" charset="-120"/>
              </a:rPr>
              <a:t>. Calculate the energy transferred. Use </a:t>
            </a:r>
            <a:r>
              <a:rPr lang="en-US" sz="1250" b="1" dirty="0">
                <a:solidFill>
                  <a:srgbClr val="262B3A"/>
                </a:solidFill>
                <a:latin typeface="Calibri" pitchFamily="34" charset="0"/>
                <a:ea typeface="Calibri" pitchFamily="34" charset="-122"/>
                <a:cs typeface="Calibri" pitchFamily="34" charset="-120"/>
              </a:rPr>
              <a:t>E = P × t</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cheetah can run at </a:t>
            </a:r>
            <a:r>
              <a:rPr lang="en-US" sz="1250" b="1" dirty="0">
                <a:solidFill>
                  <a:srgbClr val="262B3A"/>
                </a:solidFill>
                <a:latin typeface="Calibri" pitchFamily="34" charset="0"/>
                <a:ea typeface="Calibri" pitchFamily="34" charset="-122"/>
                <a:cs typeface="Calibri" pitchFamily="34" charset="-120"/>
              </a:rPr>
              <a:t>108 km/h</a:t>
            </a:r>
            <a:r>
              <a:rPr lang="en-US" sz="1250" dirty="0">
                <a:solidFill>
                  <a:srgbClr val="262B3A"/>
                </a:solidFill>
                <a:latin typeface="Calibri" pitchFamily="34" charset="0"/>
                <a:ea typeface="Calibri" pitchFamily="34" charset="-122"/>
                <a:cs typeface="Calibri" pitchFamily="34" charset="-120"/>
              </a:rPr>
              <a:t>. Calculate this speed in m/s. Show your working.</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Converting areas and volumes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1.3 • squared and cubed units: convert the length, then square or cube it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1.3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not to scale: 1 m = 100 cm along every edge</a:t>
            </a:r>
            <a:endParaRPr lang="en-US" sz="1000" dirty="0"/>
          </a:p>
        </p:txBody>
      </p:sp>
      <p:sp>
        <p:nvSpPr>
          <p:cNvPr id="10" name="Shape 8"/>
          <p:cNvSpPr/>
          <p:nvPr/>
        </p:nvSpPr>
        <p:spPr>
          <a:xfrm>
            <a:off x="868680" y="1600200"/>
            <a:ext cx="2011680" cy="2011680"/>
          </a:xfrm>
          <a:prstGeom prst="rect">
            <a:avLst/>
          </a:prstGeom>
          <a:solidFill>
            <a:srgbClr val="DCE6FB"/>
          </a:solidFill>
          <a:ln w="25400">
            <a:solidFill>
              <a:srgbClr val="2E5BD8"/>
            </a:solidFill>
            <a:prstDash val="solid"/>
          </a:ln>
        </p:spPr>
      </p:sp>
      <p:sp>
        <p:nvSpPr>
          <p:cNvPr id="11" name="Shape 9"/>
          <p:cNvSpPr/>
          <p:nvPr/>
        </p:nvSpPr>
        <p:spPr>
          <a:xfrm>
            <a:off x="1069848" y="1600200"/>
            <a:ext cx="91" cy="2011680"/>
          </a:xfrm>
          <a:prstGeom prst="line">
            <a:avLst/>
          </a:prstGeom>
          <a:noFill/>
          <a:ln w="6350">
            <a:solidFill>
              <a:srgbClr val="9FB8F0"/>
            </a:solidFill>
            <a:prstDash val="solid"/>
          </a:ln>
        </p:spPr>
      </p:sp>
      <p:sp>
        <p:nvSpPr>
          <p:cNvPr id="12" name="Shape 10"/>
          <p:cNvSpPr/>
          <p:nvPr/>
        </p:nvSpPr>
        <p:spPr>
          <a:xfrm>
            <a:off x="868680" y="1801368"/>
            <a:ext cx="2011680" cy="91"/>
          </a:xfrm>
          <a:prstGeom prst="line">
            <a:avLst/>
          </a:prstGeom>
          <a:noFill/>
          <a:ln w="6350">
            <a:solidFill>
              <a:srgbClr val="9FB8F0"/>
            </a:solidFill>
            <a:prstDash val="solid"/>
          </a:ln>
        </p:spPr>
      </p:sp>
      <p:sp>
        <p:nvSpPr>
          <p:cNvPr id="13" name="Shape 11"/>
          <p:cNvSpPr/>
          <p:nvPr/>
        </p:nvSpPr>
        <p:spPr>
          <a:xfrm>
            <a:off x="1271016" y="1600200"/>
            <a:ext cx="91" cy="2011680"/>
          </a:xfrm>
          <a:prstGeom prst="line">
            <a:avLst/>
          </a:prstGeom>
          <a:noFill/>
          <a:ln w="6350">
            <a:solidFill>
              <a:srgbClr val="9FB8F0"/>
            </a:solidFill>
            <a:prstDash val="solid"/>
          </a:ln>
        </p:spPr>
      </p:sp>
      <p:sp>
        <p:nvSpPr>
          <p:cNvPr id="14" name="Shape 12"/>
          <p:cNvSpPr/>
          <p:nvPr/>
        </p:nvSpPr>
        <p:spPr>
          <a:xfrm>
            <a:off x="868680" y="2002536"/>
            <a:ext cx="2011680" cy="91"/>
          </a:xfrm>
          <a:prstGeom prst="line">
            <a:avLst/>
          </a:prstGeom>
          <a:noFill/>
          <a:ln w="6350">
            <a:solidFill>
              <a:srgbClr val="9FB8F0"/>
            </a:solidFill>
            <a:prstDash val="solid"/>
          </a:ln>
        </p:spPr>
      </p:sp>
      <p:sp>
        <p:nvSpPr>
          <p:cNvPr id="15" name="Shape 13"/>
          <p:cNvSpPr/>
          <p:nvPr/>
        </p:nvSpPr>
        <p:spPr>
          <a:xfrm>
            <a:off x="1472184" y="1600200"/>
            <a:ext cx="91" cy="2011680"/>
          </a:xfrm>
          <a:prstGeom prst="line">
            <a:avLst/>
          </a:prstGeom>
          <a:noFill/>
          <a:ln w="6350">
            <a:solidFill>
              <a:srgbClr val="9FB8F0"/>
            </a:solidFill>
            <a:prstDash val="solid"/>
          </a:ln>
        </p:spPr>
      </p:sp>
      <p:sp>
        <p:nvSpPr>
          <p:cNvPr id="16" name="Shape 14"/>
          <p:cNvSpPr/>
          <p:nvPr/>
        </p:nvSpPr>
        <p:spPr>
          <a:xfrm>
            <a:off x="868680" y="2203704"/>
            <a:ext cx="2011680" cy="91"/>
          </a:xfrm>
          <a:prstGeom prst="line">
            <a:avLst/>
          </a:prstGeom>
          <a:noFill/>
          <a:ln w="6350">
            <a:solidFill>
              <a:srgbClr val="9FB8F0"/>
            </a:solidFill>
            <a:prstDash val="solid"/>
          </a:ln>
        </p:spPr>
      </p:sp>
      <p:sp>
        <p:nvSpPr>
          <p:cNvPr id="17" name="Shape 15"/>
          <p:cNvSpPr/>
          <p:nvPr/>
        </p:nvSpPr>
        <p:spPr>
          <a:xfrm>
            <a:off x="1673352" y="1600200"/>
            <a:ext cx="91" cy="2011680"/>
          </a:xfrm>
          <a:prstGeom prst="line">
            <a:avLst/>
          </a:prstGeom>
          <a:noFill/>
          <a:ln w="6350">
            <a:solidFill>
              <a:srgbClr val="9FB8F0"/>
            </a:solidFill>
            <a:prstDash val="solid"/>
          </a:ln>
        </p:spPr>
      </p:sp>
      <p:sp>
        <p:nvSpPr>
          <p:cNvPr id="18" name="Shape 16"/>
          <p:cNvSpPr/>
          <p:nvPr/>
        </p:nvSpPr>
        <p:spPr>
          <a:xfrm>
            <a:off x="868680" y="2404872"/>
            <a:ext cx="2011680" cy="91"/>
          </a:xfrm>
          <a:prstGeom prst="line">
            <a:avLst/>
          </a:prstGeom>
          <a:noFill/>
          <a:ln w="6350">
            <a:solidFill>
              <a:srgbClr val="9FB8F0"/>
            </a:solidFill>
            <a:prstDash val="solid"/>
          </a:ln>
        </p:spPr>
      </p:sp>
      <p:sp>
        <p:nvSpPr>
          <p:cNvPr id="19" name="Shape 17"/>
          <p:cNvSpPr/>
          <p:nvPr/>
        </p:nvSpPr>
        <p:spPr>
          <a:xfrm>
            <a:off x="1874520" y="1600200"/>
            <a:ext cx="91" cy="2011680"/>
          </a:xfrm>
          <a:prstGeom prst="line">
            <a:avLst/>
          </a:prstGeom>
          <a:noFill/>
          <a:ln w="6350">
            <a:solidFill>
              <a:srgbClr val="9FB8F0"/>
            </a:solidFill>
            <a:prstDash val="solid"/>
          </a:ln>
        </p:spPr>
      </p:sp>
      <p:sp>
        <p:nvSpPr>
          <p:cNvPr id="20" name="Shape 18"/>
          <p:cNvSpPr/>
          <p:nvPr/>
        </p:nvSpPr>
        <p:spPr>
          <a:xfrm>
            <a:off x="868680" y="2606040"/>
            <a:ext cx="2011680" cy="91"/>
          </a:xfrm>
          <a:prstGeom prst="line">
            <a:avLst/>
          </a:prstGeom>
          <a:noFill/>
          <a:ln w="6350">
            <a:solidFill>
              <a:srgbClr val="9FB8F0"/>
            </a:solidFill>
            <a:prstDash val="solid"/>
          </a:ln>
        </p:spPr>
      </p:sp>
      <p:sp>
        <p:nvSpPr>
          <p:cNvPr id="21" name="Shape 19"/>
          <p:cNvSpPr/>
          <p:nvPr/>
        </p:nvSpPr>
        <p:spPr>
          <a:xfrm>
            <a:off x="2075688" y="1600200"/>
            <a:ext cx="91" cy="2011680"/>
          </a:xfrm>
          <a:prstGeom prst="line">
            <a:avLst/>
          </a:prstGeom>
          <a:noFill/>
          <a:ln w="6350">
            <a:solidFill>
              <a:srgbClr val="9FB8F0"/>
            </a:solidFill>
            <a:prstDash val="solid"/>
          </a:ln>
        </p:spPr>
      </p:sp>
      <p:sp>
        <p:nvSpPr>
          <p:cNvPr id="22" name="Shape 20"/>
          <p:cNvSpPr/>
          <p:nvPr/>
        </p:nvSpPr>
        <p:spPr>
          <a:xfrm>
            <a:off x="868680" y="2807208"/>
            <a:ext cx="2011680" cy="91"/>
          </a:xfrm>
          <a:prstGeom prst="line">
            <a:avLst/>
          </a:prstGeom>
          <a:noFill/>
          <a:ln w="6350">
            <a:solidFill>
              <a:srgbClr val="9FB8F0"/>
            </a:solidFill>
            <a:prstDash val="solid"/>
          </a:ln>
        </p:spPr>
      </p:sp>
      <p:sp>
        <p:nvSpPr>
          <p:cNvPr id="23" name="Shape 21"/>
          <p:cNvSpPr/>
          <p:nvPr/>
        </p:nvSpPr>
        <p:spPr>
          <a:xfrm>
            <a:off x="2276856" y="1600200"/>
            <a:ext cx="91" cy="2011680"/>
          </a:xfrm>
          <a:prstGeom prst="line">
            <a:avLst/>
          </a:prstGeom>
          <a:noFill/>
          <a:ln w="6350">
            <a:solidFill>
              <a:srgbClr val="9FB8F0"/>
            </a:solidFill>
            <a:prstDash val="solid"/>
          </a:ln>
        </p:spPr>
      </p:sp>
      <p:sp>
        <p:nvSpPr>
          <p:cNvPr id="24" name="Shape 22"/>
          <p:cNvSpPr/>
          <p:nvPr/>
        </p:nvSpPr>
        <p:spPr>
          <a:xfrm>
            <a:off x="868680" y="3008376"/>
            <a:ext cx="2011680" cy="91"/>
          </a:xfrm>
          <a:prstGeom prst="line">
            <a:avLst/>
          </a:prstGeom>
          <a:noFill/>
          <a:ln w="6350">
            <a:solidFill>
              <a:srgbClr val="9FB8F0"/>
            </a:solidFill>
            <a:prstDash val="solid"/>
          </a:ln>
        </p:spPr>
      </p:sp>
      <p:sp>
        <p:nvSpPr>
          <p:cNvPr id="25" name="Shape 23"/>
          <p:cNvSpPr/>
          <p:nvPr/>
        </p:nvSpPr>
        <p:spPr>
          <a:xfrm>
            <a:off x="2478024" y="1600200"/>
            <a:ext cx="91" cy="2011680"/>
          </a:xfrm>
          <a:prstGeom prst="line">
            <a:avLst/>
          </a:prstGeom>
          <a:noFill/>
          <a:ln w="6350">
            <a:solidFill>
              <a:srgbClr val="9FB8F0"/>
            </a:solidFill>
            <a:prstDash val="solid"/>
          </a:ln>
        </p:spPr>
      </p:sp>
      <p:sp>
        <p:nvSpPr>
          <p:cNvPr id="26" name="Shape 24"/>
          <p:cNvSpPr/>
          <p:nvPr/>
        </p:nvSpPr>
        <p:spPr>
          <a:xfrm>
            <a:off x="868680" y="3209544"/>
            <a:ext cx="2011680" cy="91"/>
          </a:xfrm>
          <a:prstGeom prst="line">
            <a:avLst/>
          </a:prstGeom>
          <a:noFill/>
          <a:ln w="6350">
            <a:solidFill>
              <a:srgbClr val="9FB8F0"/>
            </a:solidFill>
            <a:prstDash val="solid"/>
          </a:ln>
        </p:spPr>
      </p:sp>
      <p:sp>
        <p:nvSpPr>
          <p:cNvPr id="27" name="Shape 25"/>
          <p:cNvSpPr/>
          <p:nvPr/>
        </p:nvSpPr>
        <p:spPr>
          <a:xfrm>
            <a:off x="2679192" y="1600200"/>
            <a:ext cx="91" cy="2011680"/>
          </a:xfrm>
          <a:prstGeom prst="line">
            <a:avLst/>
          </a:prstGeom>
          <a:noFill/>
          <a:ln w="6350">
            <a:solidFill>
              <a:srgbClr val="9FB8F0"/>
            </a:solidFill>
            <a:prstDash val="solid"/>
          </a:ln>
        </p:spPr>
      </p:sp>
      <p:sp>
        <p:nvSpPr>
          <p:cNvPr id="28" name="Shape 26"/>
          <p:cNvSpPr/>
          <p:nvPr/>
        </p:nvSpPr>
        <p:spPr>
          <a:xfrm>
            <a:off x="868680" y="3410712"/>
            <a:ext cx="2011680" cy="91"/>
          </a:xfrm>
          <a:prstGeom prst="line">
            <a:avLst/>
          </a:prstGeom>
          <a:noFill/>
          <a:ln w="6350">
            <a:solidFill>
              <a:srgbClr val="9FB8F0"/>
            </a:solidFill>
            <a:prstDash val="solid"/>
          </a:ln>
        </p:spPr>
      </p:sp>
      <p:sp>
        <p:nvSpPr>
          <p:cNvPr id="29" name="Text 27"/>
          <p:cNvSpPr/>
          <p:nvPr/>
        </p:nvSpPr>
        <p:spPr>
          <a:xfrm>
            <a:off x="868680" y="1307592"/>
            <a:ext cx="201168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1 m = 100 cm</a:t>
            </a:r>
            <a:endParaRPr lang="en-US" sz="1100" dirty="0"/>
          </a:p>
        </p:txBody>
      </p:sp>
      <p:sp>
        <p:nvSpPr>
          <p:cNvPr id="30" name="Text 28"/>
          <p:cNvSpPr/>
          <p:nvPr/>
        </p:nvSpPr>
        <p:spPr>
          <a:xfrm>
            <a:off x="0" y="2478024"/>
            <a:ext cx="822960" cy="256032"/>
          </a:xfrm>
          <a:prstGeom prst="rect">
            <a:avLst/>
          </a:prstGeom>
          <a:noFill/>
          <a:ln/>
        </p:spPr>
        <p:txBody>
          <a:bodyPr wrap="square" lIns="0" tIns="0" rIns="0" bIns="0" rtlCol="0" anchor="ctr"/>
          <a:lstStyle/>
          <a:p>
            <a:pPr algn="r" indent="0" marL="0">
              <a:buNone/>
            </a:pPr>
            <a:r>
              <a:rPr lang="en-US" sz="1100" b="1" dirty="0">
                <a:solidFill>
                  <a:srgbClr val="2E5BD8"/>
                </a:solidFill>
                <a:latin typeface="Calibri" pitchFamily="34" charset="0"/>
                <a:ea typeface="Calibri" pitchFamily="34" charset="-122"/>
                <a:cs typeface="Calibri" pitchFamily="34" charset="-120"/>
              </a:rPr>
              <a:t>100 cm</a:t>
            </a:r>
            <a:endParaRPr lang="en-US" sz="1100" dirty="0"/>
          </a:p>
        </p:txBody>
      </p:sp>
      <p:sp>
        <p:nvSpPr>
          <p:cNvPr id="31" name="Text 29"/>
          <p:cNvSpPr/>
          <p:nvPr/>
        </p:nvSpPr>
        <p:spPr>
          <a:xfrm>
            <a:off x="685800" y="3685032"/>
            <a:ext cx="2377440" cy="457200"/>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1 m² = 100 × 100 cm²</a:t>
            </a:r>
            <a:endParaRPr lang="en-US" sz="1150" dirty="0"/>
          </a:p>
          <a:p>
            <a:pPr algn="ctr" indent="0" marL="0">
              <a:buNone/>
            </a:pPr>
            <a:r>
              <a:rPr lang="en-US" sz="1150" b="1" dirty="0">
                <a:solidFill>
                  <a:srgbClr val="1A2340"/>
                </a:solidFill>
                <a:latin typeface="Calibri" pitchFamily="34" charset="0"/>
                <a:ea typeface="Calibri" pitchFamily="34" charset="-122"/>
                <a:cs typeface="Calibri" pitchFamily="34" charset="-120"/>
              </a:rPr>
              <a:t>= 10 000 cm² = 10⁴ cm²</a:t>
            </a:r>
            <a:endParaRPr lang="en-US" sz="1150" dirty="0"/>
          </a:p>
        </p:txBody>
      </p:sp>
      <p:sp>
        <p:nvSpPr>
          <p:cNvPr id="32" name="Shape 30"/>
          <p:cNvSpPr/>
          <p:nvPr/>
        </p:nvSpPr>
        <p:spPr>
          <a:xfrm>
            <a:off x="3886200" y="2103120"/>
            <a:ext cx="1371600" cy="1371600"/>
          </a:xfrm>
          <a:prstGeom prst="rect">
            <a:avLst/>
          </a:prstGeom>
          <a:solidFill>
            <a:srgbClr val="DCE6FB"/>
          </a:solidFill>
          <a:ln/>
        </p:spPr>
      </p:sp>
      <p:sp>
        <p:nvSpPr>
          <p:cNvPr id="33" name="Shape 31"/>
          <p:cNvSpPr/>
          <p:nvPr/>
        </p:nvSpPr>
        <p:spPr>
          <a:xfrm>
            <a:off x="3886200" y="2103120"/>
            <a:ext cx="1371600" cy="91"/>
          </a:xfrm>
          <a:prstGeom prst="line">
            <a:avLst/>
          </a:prstGeom>
          <a:noFill/>
          <a:ln w="25400">
            <a:solidFill>
              <a:srgbClr val="2E5BD8"/>
            </a:solidFill>
            <a:prstDash val="solid"/>
          </a:ln>
        </p:spPr>
      </p:sp>
      <p:sp>
        <p:nvSpPr>
          <p:cNvPr id="34" name="Shape 32"/>
          <p:cNvSpPr/>
          <p:nvPr/>
        </p:nvSpPr>
        <p:spPr>
          <a:xfrm>
            <a:off x="5257800" y="2103120"/>
            <a:ext cx="91" cy="1371600"/>
          </a:xfrm>
          <a:prstGeom prst="line">
            <a:avLst/>
          </a:prstGeom>
          <a:noFill/>
          <a:ln w="25400">
            <a:solidFill>
              <a:srgbClr val="2E5BD8"/>
            </a:solidFill>
            <a:prstDash val="solid"/>
          </a:ln>
        </p:spPr>
      </p:sp>
      <p:sp>
        <p:nvSpPr>
          <p:cNvPr id="35" name="Shape 33"/>
          <p:cNvSpPr/>
          <p:nvPr/>
        </p:nvSpPr>
        <p:spPr>
          <a:xfrm flipH="1">
            <a:off x="3886200" y="3474720"/>
            <a:ext cx="1371600" cy="91"/>
          </a:xfrm>
          <a:prstGeom prst="line">
            <a:avLst/>
          </a:prstGeom>
          <a:noFill/>
          <a:ln w="25400">
            <a:solidFill>
              <a:srgbClr val="2E5BD8"/>
            </a:solidFill>
            <a:prstDash val="solid"/>
          </a:ln>
        </p:spPr>
      </p:sp>
      <p:sp>
        <p:nvSpPr>
          <p:cNvPr id="36" name="Shape 34"/>
          <p:cNvSpPr/>
          <p:nvPr/>
        </p:nvSpPr>
        <p:spPr>
          <a:xfrm flipV="1">
            <a:off x="3886200" y="2103120"/>
            <a:ext cx="91" cy="1371600"/>
          </a:xfrm>
          <a:prstGeom prst="line">
            <a:avLst/>
          </a:prstGeom>
          <a:noFill/>
          <a:ln w="25400">
            <a:solidFill>
              <a:srgbClr val="2E5BD8"/>
            </a:solidFill>
            <a:prstDash val="solid"/>
          </a:ln>
        </p:spPr>
      </p:sp>
      <p:sp>
        <p:nvSpPr>
          <p:cNvPr id="37" name="Shape 35"/>
          <p:cNvSpPr/>
          <p:nvPr/>
        </p:nvSpPr>
        <p:spPr>
          <a:xfrm>
            <a:off x="4389120" y="1600200"/>
            <a:ext cx="1371600" cy="91"/>
          </a:xfrm>
          <a:prstGeom prst="line">
            <a:avLst/>
          </a:prstGeom>
          <a:noFill/>
          <a:ln w="25400">
            <a:solidFill>
              <a:srgbClr val="2E5BD8"/>
            </a:solidFill>
            <a:prstDash val="solid"/>
          </a:ln>
        </p:spPr>
      </p:sp>
      <p:sp>
        <p:nvSpPr>
          <p:cNvPr id="38" name="Shape 36"/>
          <p:cNvSpPr/>
          <p:nvPr/>
        </p:nvSpPr>
        <p:spPr>
          <a:xfrm>
            <a:off x="5760720" y="1600200"/>
            <a:ext cx="91" cy="1371600"/>
          </a:xfrm>
          <a:prstGeom prst="line">
            <a:avLst/>
          </a:prstGeom>
          <a:noFill/>
          <a:ln w="25400">
            <a:solidFill>
              <a:srgbClr val="2E5BD8"/>
            </a:solidFill>
            <a:prstDash val="solid"/>
          </a:ln>
        </p:spPr>
      </p:sp>
      <p:sp>
        <p:nvSpPr>
          <p:cNvPr id="39" name="Shape 37"/>
          <p:cNvSpPr/>
          <p:nvPr/>
        </p:nvSpPr>
        <p:spPr>
          <a:xfrm flipV="1">
            <a:off x="3886200" y="1600200"/>
            <a:ext cx="502920" cy="502920"/>
          </a:xfrm>
          <a:prstGeom prst="line">
            <a:avLst/>
          </a:prstGeom>
          <a:noFill/>
          <a:ln w="25400">
            <a:solidFill>
              <a:srgbClr val="2E5BD8"/>
            </a:solidFill>
            <a:prstDash val="solid"/>
          </a:ln>
        </p:spPr>
      </p:sp>
      <p:sp>
        <p:nvSpPr>
          <p:cNvPr id="40" name="Shape 38"/>
          <p:cNvSpPr/>
          <p:nvPr/>
        </p:nvSpPr>
        <p:spPr>
          <a:xfrm flipV="1">
            <a:off x="5257800" y="1600200"/>
            <a:ext cx="502920" cy="502920"/>
          </a:xfrm>
          <a:prstGeom prst="line">
            <a:avLst/>
          </a:prstGeom>
          <a:noFill/>
          <a:ln w="25400">
            <a:solidFill>
              <a:srgbClr val="2E5BD8"/>
            </a:solidFill>
            <a:prstDash val="solid"/>
          </a:ln>
        </p:spPr>
      </p:sp>
      <p:sp>
        <p:nvSpPr>
          <p:cNvPr id="41" name="Shape 39"/>
          <p:cNvSpPr/>
          <p:nvPr/>
        </p:nvSpPr>
        <p:spPr>
          <a:xfrm flipV="1">
            <a:off x="5257800" y="2971800"/>
            <a:ext cx="502920" cy="502920"/>
          </a:xfrm>
          <a:prstGeom prst="line">
            <a:avLst/>
          </a:prstGeom>
          <a:noFill/>
          <a:ln w="25400">
            <a:solidFill>
              <a:srgbClr val="2E5BD8"/>
            </a:solidFill>
            <a:prstDash val="solid"/>
          </a:ln>
        </p:spPr>
      </p:sp>
      <p:sp>
        <p:nvSpPr>
          <p:cNvPr id="42" name="Shape 40"/>
          <p:cNvSpPr/>
          <p:nvPr/>
        </p:nvSpPr>
        <p:spPr>
          <a:xfrm flipH="1">
            <a:off x="4389120" y="2971800"/>
            <a:ext cx="1371600" cy="91"/>
          </a:xfrm>
          <a:prstGeom prst="line">
            <a:avLst/>
          </a:prstGeom>
          <a:noFill/>
          <a:ln w="12700">
            <a:solidFill>
              <a:srgbClr val="9FB8F0"/>
            </a:solidFill>
            <a:prstDash val="dash"/>
          </a:ln>
        </p:spPr>
      </p:sp>
      <p:sp>
        <p:nvSpPr>
          <p:cNvPr id="43" name="Shape 41"/>
          <p:cNvSpPr/>
          <p:nvPr/>
        </p:nvSpPr>
        <p:spPr>
          <a:xfrm flipV="1">
            <a:off x="4389120" y="1600200"/>
            <a:ext cx="91" cy="1371600"/>
          </a:xfrm>
          <a:prstGeom prst="line">
            <a:avLst/>
          </a:prstGeom>
          <a:noFill/>
          <a:ln w="12700">
            <a:solidFill>
              <a:srgbClr val="9FB8F0"/>
            </a:solidFill>
            <a:prstDash val="dash"/>
          </a:ln>
        </p:spPr>
      </p:sp>
      <p:sp>
        <p:nvSpPr>
          <p:cNvPr id="44" name="Shape 42"/>
          <p:cNvSpPr/>
          <p:nvPr/>
        </p:nvSpPr>
        <p:spPr>
          <a:xfrm flipH="1">
            <a:off x="3886200" y="2971800"/>
            <a:ext cx="502920" cy="502920"/>
          </a:xfrm>
          <a:prstGeom prst="line">
            <a:avLst/>
          </a:prstGeom>
          <a:noFill/>
          <a:ln w="12700">
            <a:solidFill>
              <a:srgbClr val="9FB8F0"/>
            </a:solidFill>
            <a:prstDash val="dash"/>
          </a:ln>
        </p:spPr>
      </p:sp>
      <p:sp>
        <p:nvSpPr>
          <p:cNvPr id="45" name="Text 43"/>
          <p:cNvSpPr/>
          <p:nvPr/>
        </p:nvSpPr>
        <p:spPr>
          <a:xfrm>
            <a:off x="3886200" y="3511296"/>
            <a:ext cx="1371600" cy="256032"/>
          </a:xfrm>
          <a:prstGeom prst="rect">
            <a:avLst/>
          </a:prstGeom>
          <a:noFill/>
          <a:ln/>
        </p:spPr>
        <p:txBody>
          <a:bodyPr wrap="square" lIns="0" tIns="0" rIns="0" bIns="0" rtlCol="0" anchor="ctr"/>
          <a:lstStyle/>
          <a:p>
            <a:pPr algn="ctr" indent="0" marL="0">
              <a:buNone/>
            </a:pPr>
            <a:r>
              <a:rPr lang="en-US" sz="1100" b="1" dirty="0">
                <a:solidFill>
                  <a:srgbClr val="2E5BD8"/>
                </a:solidFill>
                <a:latin typeface="Calibri" pitchFamily="34" charset="0"/>
                <a:ea typeface="Calibri" pitchFamily="34" charset="-122"/>
                <a:cs typeface="Calibri" pitchFamily="34" charset="-120"/>
              </a:rPr>
              <a:t>100 cm</a:t>
            </a:r>
            <a:endParaRPr lang="en-US" sz="1100" dirty="0"/>
          </a:p>
        </p:txBody>
      </p:sp>
      <p:sp>
        <p:nvSpPr>
          <p:cNvPr id="46" name="Text 44"/>
          <p:cNvSpPr/>
          <p:nvPr/>
        </p:nvSpPr>
        <p:spPr>
          <a:xfrm>
            <a:off x="3017520" y="2660904"/>
            <a:ext cx="822960" cy="256032"/>
          </a:xfrm>
          <a:prstGeom prst="rect">
            <a:avLst/>
          </a:prstGeom>
          <a:noFill/>
          <a:ln/>
        </p:spPr>
        <p:txBody>
          <a:bodyPr wrap="square" lIns="0" tIns="0" rIns="0" bIns="0" rtlCol="0" anchor="ctr"/>
          <a:lstStyle/>
          <a:p>
            <a:pPr algn="r" indent="0" marL="0">
              <a:buNone/>
            </a:pPr>
            <a:r>
              <a:rPr lang="en-US" sz="1100" b="1" dirty="0">
                <a:solidFill>
                  <a:srgbClr val="2E5BD8"/>
                </a:solidFill>
                <a:latin typeface="Calibri" pitchFamily="34" charset="0"/>
                <a:ea typeface="Calibri" pitchFamily="34" charset="-122"/>
                <a:cs typeface="Calibri" pitchFamily="34" charset="-120"/>
              </a:rPr>
              <a:t>100 cm</a:t>
            </a:r>
            <a:endParaRPr lang="en-US" sz="1100" dirty="0"/>
          </a:p>
        </p:txBody>
      </p:sp>
      <p:sp>
        <p:nvSpPr>
          <p:cNvPr id="47" name="Text 45"/>
          <p:cNvSpPr/>
          <p:nvPr/>
        </p:nvSpPr>
        <p:spPr>
          <a:xfrm>
            <a:off x="3566160" y="3767328"/>
            <a:ext cx="2468880" cy="457200"/>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1 m³ = 100 × 100 × 100 cm³</a:t>
            </a:r>
            <a:endParaRPr lang="en-US" sz="1150" dirty="0"/>
          </a:p>
          <a:p>
            <a:pPr algn="ctr" indent="0" marL="0">
              <a:buNone/>
            </a:pPr>
            <a:r>
              <a:rPr lang="en-US" sz="1150" b="1" dirty="0">
                <a:solidFill>
                  <a:srgbClr val="1A2340"/>
                </a:solidFill>
                <a:latin typeface="Calibri" pitchFamily="34" charset="0"/>
                <a:ea typeface="Calibri" pitchFamily="34" charset="-122"/>
                <a:cs typeface="Calibri" pitchFamily="34" charset="-120"/>
              </a:rPr>
              <a:t>= 10⁶ cm³</a:t>
            </a:r>
            <a:endParaRPr lang="en-US" sz="1150" dirty="0"/>
          </a:p>
        </p:txBody>
      </p:sp>
      <p:sp>
        <p:nvSpPr>
          <p:cNvPr id="48" name="Shape 46"/>
          <p:cNvSpPr/>
          <p:nvPr/>
        </p:nvSpPr>
        <p:spPr>
          <a:xfrm>
            <a:off x="685800" y="4572000"/>
            <a:ext cx="1591056" cy="548640"/>
          </a:xfrm>
          <a:prstGeom prst="roundRect">
            <a:avLst>
              <a:gd name="adj" fmla="val 10000"/>
            </a:avLst>
          </a:prstGeom>
          <a:solidFill>
            <a:srgbClr val="FFFFFF"/>
          </a:solidFill>
          <a:ln w="15875">
            <a:solidFill>
              <a:srgbClr val="C8414C"/>
            </a:solidFill>
            <a:prstDash val="solid"/>
          </a:ln>
        </p:spPr>
      </p:sp>
      <p:sp>
        <p:nvSpPr>
          <p:cNvPr id="49" name="Text 47"/>
          <p:cNvSpPr/>
          <p:nvPr/>
        </p:nvSpPr>
        <p:spPr>
          <a:xfrm>
            <a:off x="685800" y="4590288"/>
            <a:ext cx="1591056"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cm² → m²</a:t>
            </a:r>
            <a:endParaRPr lang="en-US" sz="1150" dirty="0"/>
          </a:p>
        </p:txBody>
      </p:sp>
      <p:sp>
        <p:nvSpPr>
          <p:cNvPr id="50" name="Text 48"/>
          <p:cNvSpPr/>
          <p:nvPr/>
        </p:nvSpPr>
        <p:spPr>
          <a:xfrm>
            <a:off x="685800" y="4837176"/>
            <a:ext cx="1591056" cy="256032"/>
          </a:xfrm>
          <a:prstGeom prst="rect">
            <a:avLst/>
          </a:prstGeom>
          <a:noFill/>
          <a:ln/>
        </p:spPr>
        <p:txBody>
          <a:bodyPr wrap="square" lIns="0" tIns="0" rIns="0" bIns="0" rtlCol="0" anchor="ctr"/>
          <a:lstStyle/>
          <a:p>
            <a:pPr algn="ctr" indent="0" marL="0">
              <a:buNone/>
            </a:pPr>
            <a:r>
              <a:rPr lang="en-US" sz="1250" b="1" dirty="0">
                <a:solidFill>
                  <a:srgbClr val="C8414C"/>
                </a:solidFill>
                <a:latin typeface="Calibri" pitchFamily="34" charset="0"/>
                <a:ea typeface="Calibri" pitchFamily="34" charset="-122"/>
                <a:cs typeface="Calibri" pitchFamily="34" charset="-120"/>
              </a:rPr>
              <a:t>÷ 10⁴</a:t>
            </a:r>
            <a:endParaRPr lang="en-US" sz="1250" dirty="0"/>
          </a:p>
        </p:txBody>
      </p:sp>
      <p:sp>
        <p:nvSpPr>
          <p:cNvPr id="51" name="Shape 49"/>
          <p:cNvSpPr/>
          <p:nvPr/>
        </p:nvSpPr>
        <p:spPr>
          <a:xfrm>
            <a:off x="2386584" y="4572000"/>
            <a:ext cx="1591056" cy="548640"/>
          </a:xfrm>
          <a:prstGeom prst="roundRect">
            <a:avLst>
              <a:gd name="adj" fmla="val 10000"/>
            </a:avLst>
          </a:prstGeom>
          <a:solidFill>
            <a:srgbClr val="FFFFFF"/>
          </a:solidFill>
          <a:ln w="15875">
            <a:solidFill>
              <a:srgbClr val="C8414C"/>
            </a:solidFill>
            <a:prstDash val="solid"/>
          </a:ln>
        </p:spPr>
      </p:sp>
      <p:sp>
        <p:nvSpPr>
          <p:cNvPr id="52" name="Text 50"/>
          <p:cNvSpPr/>
          <p:nvPr/>
        </p:nvSpPr>
        <p:spPr>
          <a:xfrm>
            <a:off x="2386584" y="4590288"/>
            <a:ext cx="1591056"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mm² → m²</a:t>
            </a:r>
            <a:endParaRPr lang="en-US" sz="1150" dirty="0"/>
          </a:p>
        </p:txBody>
      </p:sp>
      <p:sp>
        <p:nvSpPr>
          <p:cNvPr id="53" name="Text 51"/>
          <p:cNvSpPr/>
          <p:nvPr/>
        </p:nvSpPr>
        <p:spPr>
          <a:xfrm>
            <a:off x="2386584" y="4837176"/>
            <a:ext cx="1591056" cy="256032"/>
          </a:xfrm>
          <a:prstGeom prst="rect">
            <a:avLst/>
          </a:prstGeom>
          <a:noFill/>
          <a:ln/>
        </p:spPr>
        <p:txBody>
          <a:bodyPr wrap="square" lIns="0" tIns="0" rIns="0" bIns="0" rtlCol="0" anchor="ctr"/>
          <a:lstStyle/>
          <a:p>
            <a:pPr algn="ctr" indent="0" marL="0">
              <a:buNone/>
            </a:pPr>
            <a:r>
              <a:rPr lang="en-US" sz="1250" b="1" dirty="0">
                <a:solidFill>
                  <a:srgbClr val="C8414C"/>
                </a:solidFill>
                <a:latin typeface="Calibri" pitchFamily="34" charset="0"/>
                <a:ea typeface="Calibri" pitchFamily="34" charset="-122"/>
                <a:cs typeface="Calibri" pitchFamily="34" charset="-120"/>
              </a:rPr>
              <a:t>÷ 10⁶</a:t>
            </a:r>
            <a:endParaRPr lang="en-US" sz="1250" dirty="0"/>
          </a:p>
        </p:txBody>
      </p:sp>
      <p:sp>
        <p:nvSpPr>
          <p:cNvPr id="54" name="Shape 52"/>
          <p:cNvSpPr/>
          <p:nvPr/>
        </p:nvSpPr>
        <p:spPr>
          <a:xfrm>
            <a:off x="4087368" y="4572000"/>
            <a:ext cx="1591056" cy="548640"/>
          </a:xfrm>
          <a:prstGeom prst="roundRect">
            <a:avLst>
              <a:gd name="adj" fmla="val 10000"/>
            </a:avLst>
          </a:prstGeom>
          <a:solidFill>
            <a:srgbClr val="FFFFFF"/>
          </a:solidFill>
          <a:ln w="15875">
            <a:solidFill>
              <a:srgbClr val="C8414C"/>
            </a:solidFill>
            <a:prstDash val="solid"/>
          </a:ln>
        </p:spPr>
      </p:sp>
      <p:sp>
        <p:nvSpPr>
          <p:cNvPr id="55" name="Text 53"/>
          <p:cNvSpPr/>
          <p:nvPr/>
        </p:nvSpPr>
        <p:spPr>
          <a:xfrm>
            <a:off x="4087368" y="4590288"/>
            <a:ext cx="1591056" cy="256032"/>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cm³ → m³</a:t>
            </a:r>
            <a:endParaRPr lang="en-US" sz="1150" dirty="0"/>
          </a:p>
        </p:txBody>
      </p:sp>
      <p:sp>
        <p:nvSpPr>
          <p:cNvPr id="56" name="Text 54"/>
          <p:cNvSpPr/>
          <p:nvPr/>
        </p:nvSpPr>
        <p:spPr>
          <a:xfrm>
            <a:off x="4087368" y="4837176"/>
            <a:ext cx="1591056" cy="256032"/>
          </a:xfrm>
          <a:prstGeom prst="rect">
            <a:avLst/>
          </a:prstGeom>
          <a:noFill/>
          <a:ln/>
        </p:spPr>
        <p:txBody>
          <a:bodyPr wrap="square" lIns="0" tIns="0" rIns="0" bIns="0" rtlCol="0" anchor="ctr"/>
          <a:lstStyle/>
          <a:p>
            <a:pPr algn="ctr" indent="0" marL="0">
              <a:buNone/>
            </a:pPr>
            <a:r>
              <a:rPr lang="en-US" sz="1250" b="1" dirty="0">
                <a:solidFill>
                  <a:srgbClr val="C8414C"/>
                </a:solidFill>
                <a:latin typeface="Calibri" pitchFamily="34" charset="0"/>
                <a:ea typeface="Calibri" pitchFamily="34" charset="-122"/>
                <a:cs typeface="Calibri" pitchFamily="34" charset="-120"/>
              </a:rPr>
              <a:t>÷ 10⁶</a:t>
            </a:r>
            <a:endParaRPr lang="en-US" sz="1250" dirty="0"/>
          </a:p>
        </p:txBody>
      </p:sp>
      <p:sp>
        <p:nvSpPr>
          <p:cNvPr id="57" name="Shape 55"/>
          <p:cNvSpPr/>
          <p:nvPr/>
        </p:nvSpPr>
        <p:spPr>
          <a:xfrm>
            <a:off x="6217920" y="1188720"/>
            <a:ext cx="5562295" cy="2103120"/>
          </a:xfrm>
          <a:prstGeom prst="roundRect">
            <a:avLst>
              <a:gd name="adj" fmla="val 2609"/>
            </a:avLst>
          </a:prstGeom>
          <a:solidFill>
            <a:srgbClr val="F5F8FE"/>
          </a:solidFill>
          <a:ln w="9525">
            <a:solidFill>
              <a:srgbClr val="D5DCEB"/>
            </a:solidFill>
            <a:prstDash val="solid"/>
          </a:ln>
        </p:spPr>
      </p:sp>
      <p:sp>
        <p:nvSpPr>
          <p:cNvPr id="58" name="Text 5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Square the conversion factor for areas, cube it for volumes</a:t>
            </a:r>
            <a:endParaRPr lang="en-US" sz="1300" dirty="0"/>
          </a:p>
        </p:txBody>
      </p:sp>
      <p:sp>
        <p:nvSpPr>
          <p:cNvPr id="59" name="Text 57"/>
          <p:cNvSpPr/>
          <p:nvPr/>
        </p:nvSpPr>
        <p:spPr>
          <a:xfrm>
            <a:off x="6382512" y="1609344"/>
            <a:ext cx="5233111" cy="16093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1 m = 100 cm, but </a:t>
            </a:r>
            <a:r>
              <a:rPr lang="en-US" sz="1150" b="1" dirty="0">
                <a:solidFill>
                  <a:srgbClr val="262B3A"/>
                </a:solidFill>
                <a:latin typeface="Calibri" pitchFamily="34" charset="0"/>
                <a:ea typeface="Calibri" pitchFamily="34" charset="-122"/>
                <a:cs typeface="Calibri" pitchFamily="34" charset="-120"/>
              </a:rPr>
              <a:t>1 m² = 10 000 cm²</a:t>
            </a:r>
            <a:r>
              <a:rPr lang="en-US" sz="1150" dirty="0">
                <a:solidFill>
                  <a:srgbClr val="262B3A"/>
                </a:solidFill>
                <a:latin typeface="Calibri" pitchFamily="34" charset="0"/>
                <a:ea typeface="Calibri" pitchFamily="34" charset="-122"/>
                <a:cs typeface="Calibri" pitchFamily="34" charset="-120"/>
              </a:rPr>
              <a:t> (not 100 cm²) and </a:t>
            </a:r>
            <a:r>
              <a:rPr lang="en-US" sz="1150" b="1" dirty="0">
                <a:solidFill>
                  <a:srgbClr val="262B3A"/>
                </a:solidFill>
                <a:latin typeface="Calibri" pitchFamily="34" charset="0"/>
                <a:ea typeface="Calibri" pitchFamily="34" charset="-122"/>
                <a:cs typeface="Calibri" pitchFamily="34" charset="-120"/>
              </a:rPr>
              <a:t>1 m³ = 1 000 000 cm³</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Safest method: </a:t>
            </a:r>
            <a:r>
              <a:rPr lang="en-US" sz="1150" b="1" dirty="0">
                <a:solidFill>
                  <a:srgbClr val="262B3A"/>
                </a:solidFill>
                <a:latin typeface="Calibri" pitchFamily="34" charset="0"/>
                <a:ea typeface="Calibri" pitchFamily="34" charset="-122"/>
                <a:cs typeface="Calibri" pitchFamily="34" charset="-120"/>
              </a:rPr>
              <a:t>convert each length to metres first</a:t>
            </a:r>
            <a:r>
              <a:rPr lang="en-US" sz="1150" dirty="0">
                <a:solidFill>
                  <a:srgbClr val="262B3A"/>
                </a:solidFill>
                <a:latin typeface="Calibri" pitchFamily="34" charset="0"/>
                <a:ea typeface="Calibri" pitchFamily="34" charset="-122"/>
                <a:cs typeface="Calibri" pitchFamily="34" charset="-120"/>
              </a:rPr>
              <a:t>, then multiply.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1 cm³ = 1 ml; 1 litre = 1000 cm³ = 10⁻³ m³.</a:t>
            </a:r>
            <a:endParaRPr lang="en-US" sz="1150" dirty="0"/>
          </a:p>
        </p:txBody>
      </p:sp>
      <p:sp>
        <p:nvSpPr>
          <p:cNvPr id="60" name="Shape 58"/>
          <p:cNvSpPr/>
          <p:nvPr/>
        </p:nvSpPr>
        <p:spPr>
          <a:xfrm>
            <a:off x="6217920" y="3429000"/>
            <a:ext cx="5562295" cy="2286000"/>
          </a:xfrm>
          <a:prstGeom prst="roundRect">
            <a:avLst>
              <a:gd name="adj" fmla="val 2400"/>
            </a:avLst>
          </a:prstGeom>
          <a:solidFill>
            <a:srgbClr val="FFF4E0"/>
          </a:solidFill>
          <a:ln w="9525">
            <a:solidFill>
              <a:srgbClr val="F1D9A8"/>
            </a:solidFill>
            <a:prstDash val="solid"/>
          </a:ln>
        </p:spPr>
      </p:sp>
      <p:sp>
        <p:nvSpPr>
          <p:cNvPr id="61" name="Text 59"/>
          <p:cNvSpPr/>
          <p:nvPr/>
        </p:nvSpPr>
        <p:spPr>
          <a:xfrm>
            <a:off x="6382512" y="3502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62" name="Text 60"/>
          <p:cNvSpPr/>
          <p:nvPr/>
        </p:nvSpPr>
        <p:spPr>
          <a:xfrm>
            <a:off x="6382512" y="3813048"/>
            <a:ext cx="5233111" cy="182880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force of 600 N acts on an area of 25 cm². Calculate the pressure. (p = F ÷ A, Topic 15, RECALL)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Convert   </a:t>
            </a:r>
            <a:r>
              <a:rPr lang="en-US" sz="1100" dirty="0">
                <a:solidFill>
                  <a:srgbClr val="262B3A"/>
                </a:solidFill>
                <a:latin typeface="Calibri" pitchFamily="34" charset="0"/>
                <a:ea typeface="Calibri" pitchFamily="34" charset="-122"/>
                <a:cs typeface="Calibri" pitchFamily="34" charset="-120"/>
              </a:rPr>
              <a:t>A = 25 ÷ 10⁴ = 2.5 × 10⁻³ m²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Equation   </a:t>
            </a:r>
            <a:r>
              <a:rPr lang="en-US" sz="1100" dirty="0">
                <a:solidFill>
                  <a:srgbClr val="262B3A"/>
                </a:solidFill>
                <a:latin typeface="Calibri" pitchFamily="34" charset="0"/>
                <a:ea typeface="Calibri" pitchFamily="34" charset="-122"/>
                <a:cs typeface="Calibri" pitchFamily="34" charset="-120"/>
              </a:rPr>
              <a:t>p = F ÷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p = 600 N ÷ 2.5 × 10⁻³ m²</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p = 240 000 Pa = 2.4 × 10⁵ Pa</a:t>
            </a:r>
            <a:endParaRPr lang="en-US" sz="1100" dirty="0"/>
          </a:p>
        </p:txBody>
      </p:sp>
      <p:sp>
        <p:nvSpPr>
          <p:cNvPr id="63" name="Shape 61"/>
          <p:cNvSpPr/>
          <p:nvPr/>
        </p:nvSpPr>
        <p:spPr>
          <a:xfrm>
            <a:off x="411480" y="5833872"/>
            <a:ext cx="11368735" cy="530352"/>
          </a:xfrm>
          <a:prstGeom prst="rect">
            <a:avLst/>
          </a:prstGeom>
          <a:solidFill>
            <a:srgbClr val="FFF4E0"/>
          </a:solidFill>
          <a:ln w="6350">
            <a:solidFill>
              <a:srgbClr val="F1D9A8"/>
            </a:solidFill>
            <a:prstDash val="solid"/>
          </a:ln>
        </p:spPr>
      </p:sp>
      <p:sp>
        <p:nvSpPr>
          <p:cNvPr id="64" name="Shape 62"/>
          <p:cNvSpPr/>
          <p:nvPr/>
        </p:nvSpPr>
        <p:spPr>
          <a:xfrm>
            <a:off x="411480" y="5833872"/>
            <a:ext cx="82296" cy="530352"/>
          </a:xfrm>
          <a:prstGeom prst="rect">
            <a:avLst/>
          </a:prstGeom>
          <a:solidFill>
            <a:srgbClr val="E39A2F"/>
          </a:solidFill>
          <a:ln w="12700">
            <a:solidFill>
              <a:srgbClr val="E39A2F"/>
            </a:solidFill>
            <a:prstDash val="solid"/>
          </a:ln>
        </p:spPr>
      </p:sp>
      <p:sp>
        <p:nvSpPr>
          <p:cNvPr id="65" name="Text 6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metal block has a volume of 200 cm³ and a mass of 540 g. Calculate its density in kg/m³. (ρ = m ÷ V)</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Converting energy: kilowatt-hours to joules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1.3 • the kWh is the energy unit on electricity bills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1.3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home electricity meter counts kilowatt-hours</a:t>
            </a:r>
            <a:endParaRPr lang="en-US" sz="1000" dirty="0"/>
          </a:p>
        </p:txBody>
      </p:sp>
      <p:sp>
        <p:nvSpPr>
          <p:cNvPr id="10" name="Shape 8"/>
          <p:cNvSpPr/>
          <p:nvPr/>
        </p:nvSpPr>
        <p:spPr>
          <a:xfrm>
            <a:off x="1051560" y="1371600"/>
            <a:ext cx="4297680" cy="1325880"/>
          </a:xfrm>
          <a:prstGeom prst="roundRect">
            <a:avLst>
              <a:gd name="adj" fmla="val 5517"/>
            </a:avLst>
          </a:prstGeom>
          <a:solidFill>
            <a:srgbClr val="2F3747"/>
          </a:solidFill>
          <a:ln w="12700">
            <a:solidFill>
              <a:srgbClr val="1F2430"/>
            </a:solidFill>
            <a:prstDash val="solid"/>
          </a:ln>
        </p:spPr>
      </p:sp>
      <p:sp>
        <p:nvSpPr>
          <p:cNvPr id="11" name="Text 9"/>
          <p:cNvSpPr/>
          <p:nvPr/>
        </p:nvSpPr>
        <p:spPr>
          <a:xfrm>
            <a:off x="1051560" y="1426464"/>
            <a:ext cx="4297680" cy="219456"/>
          </a:xfrm>
          <a:prstGeom prst="rect">
            <a:avLst/>
          </a:prstGeom>
          <a:noFill/>
          <a:ln/>
        </p:spPr>
        <p:txBody>
          <a:bodyPr wrap="square" lIns="0" tIns="0" rIns="0" bIns="0" rtlCol="0" anchor="ctr"/>
          <a:lstStyle/>
          <a:p>
            <a:pPr algn="ctr" indent="0" marL="0">
              <a:buNone/>
            </a:pPr>
            <a:r>
              <a:rPr lang="en-US" sz="1050" b="1" dirty="0">
                <a:solidFill>
                  <a:srgbClr val="C9D5F2"/>
                </a:solidFill>
                <a:latin typeface="Calibri" pitchFamily="34" charset="0"/>
                <a:ea typeface="Calibri" pitchFamily="34" charset="-122"/>
                <a:cs typeface="Calibri" pitchFamily="34" charset="-120"/>
              </a:rPr>
              <a:t>ELECTRICITY METER</a:t>
            </a:r>
            <a:endParaRPr lang="en-US" sz="1050" dirty="0"/>
          </a:p>
        </p:txBody>
      </p:sp>
      <p:sp>
        <p:nvSpPr>
          <p:cNvPr id="12" name="Shape 10"/>
          <p:cNvSpPr/>
          <p:nvPr/>
        </p:nvSpPr>
        <p:spPr>
          <a:xfrm>
            <a:off x="1463040" y="1719072"/>
            <a:ext cx="457200" cy="640080"/>
          </a:xfrm>
          <a:prstGeom prst="rect">
            <a:avLst/>
          </a:prstGeom>
          <a:solidFill>
            <a:srgbClr val="FFFFFF"/>
          </a:solidFill>
          <a:ln w="12700">
            <a:solidFill>
              <a:srgbClr val="1F2430"/>
            </a:solidFill>
            <a:prstDash val="solid"/>
          </a:ln>
        </p:spPr>
      </p:sp>
      <p:sp>
        <p:nvSpPr>
          <p:cNvPr id="13" name="Text 11"/>
          <p:cNvSpPr/>
          <p:nvPr/>
        </p:nvSpPr>
        <p:spPr>
          <a:xfrm>
            <a:off x="1463040" y="1719072"/>
            <a:ext cx="457200" cy="640080"/>
          </a:xfrm>
          <a:prstGeom prst="rect">
            <a:avLst/>
          </a:prstGeom>
          <a:noFill/>
          <a:ln/>
        </p:spPr>
        <p:txBody>
          <a:bodyPr wrap="square" lIns="0" tIns="0" rIns="0" bIns="0" rtlCol="0" anchor="ctr"/>
          <a:lstStyle/>
          <a:p>
            <a:pPr algn="ctr" indent="0" marL="0">
              <a:buNone/>
            </a:pPr>
            <a:r>
              <a:rPr lang="en-US" sz="2400" b="1" dirty="0">
                <a:solidFill>
                  <a:srgbClr val="1A2340"/>
                </a:solidFill>
                <a:latin typeface="Calibri" pitchFamily="34" charset="0"/>
                <a:ea typeface="Calibri" pitchFamily="34" charset="-122"/>
                <a:cs typeface="Calibri" pitchFamily="34" charset="-120"/>
              </a:rPr>
              <a:t>0</a:t>
            </a:r>
            <a:endParaRPr lang="en-US" sz="2400" dirty="0"/>
          </a:p>
        </p:txBody>
      </p:sp>
      <p:sp>
        <p:nvSpPr>
          <p:cNvPr id="14" name="Shape 12"/>
          <p:cNvSpPr/>
          <p:nvPr/>
        </p:nvSpPr>
        <p:spPr>
          <a:xfrm>
            <a:off x="2011680" y="1719072"/>
            <a:ext cx="457200" cy="640080"/>
          </a:xfrm>
          <a:prstGeom prst="rect">
            <a:avLst/>
          </a:prstGeom>
          <a:solidFill>
            <a:srgbClr val="FFFFFF"/>
          </a:solidFill>
          <a:ln w="12700">
            <a:solidFill>
              <a:srgbClr val="1F2430"/>
            </a:solidFill>
            <a:prstDash val="solid"/>
          </a:ln>
        </p:spPr>
      </p:sp>
      <p:sp>
        <p:nvSpPr>
          <p:cNvPr id="15" name="Text 13"/>
          <p:cNvSpPr/>
          <p:nvPr/>
        </p:nvSpPr>
        <p:spPr>
          <a:xfrm>
            <a:off x="2011680" y="1719072"/>
            <a:ext cx="457200" cy="640080"/>
          </a:xfrm>
          <a:prstGeom prst="rect">
            <a:avLst/>
          </a:prstGeom>
          <a:noFill/>
          <a:ln/>
        </p:spPr>
        <p:txBody>
          <a:bodyPr wrap="square" lIns="0" tIns="0" rIns="0" bIns="0" rtlCol="0" anchor="ctr"/>
          <a:lstStyle/>
          <a:p>
            <a:pPr algn="ctr" indent="0" marL="0">
              <a:buNone/>
            </a:pPr>
            <a:r>
              <a:rPr lang="en-US" sz="2400" b="1" dirty="0">
                <a:solidFill>
                  <a:srgbClr val="1A2340"/>
                </a:solidFill>
                <a:latin typeface="Calibri" pitchFamily="34" charset="0"/>
                <a:ea typeface="Calibri" pitchFamily="34" charset="-122"/>
                <a:cs typeface="Calibri" pitchFamily="34" charset="-120"/>
              </a:rPr>
              <a:t>4</a:t>
            </a:r>
            <a:endParaRPr lang="en-US" sz="2400" dirty="0"/>
          </a:p>
        </p:txBody>
      </p:sp>
      <p:sp>
        <p:nvSpPr>
          <p:cNvPr id="16" name="Shape 14"/>
          <p:cNvSpPr/>
          <p:nvPr/>
        </p:nvSpPr>
        <p:spPr>
          <a:xfrm>
            <a:off x="2560320" y="1719072"/>
            <a:ext cx="457200" cy="640080"/>
          </a:xfrm>
          <a:prstGeom prst="rect">
            <a:avLst/>
          </a:prstGeom>
          <a:solidFill>
            <a:srgbClr val="FFFFFF"/>
          </a:solidFill>
          <a:ln w="12700">
            <a:solidFill>
              <a:srgbClr val="1F2430"/>
            </a:solidFill>
            <a:prstDash val="solid"/>
          </a:ln>
        </p:spPr>
      </p:sp>
      <p:sp>
        <p:nvSpPr>
          <p:cNvPr id="17" name="Text 15"/>
          <p:cNvSpPr/>
          <p:nvPr/>
        </p:nvSpPr>
        <p:spPr>
          <a:xfrm>
            <a:off x="2560320" y="1719072"/>
            <a:ext cx="457200" cy="640080"/>
          </a:xfrm>
          <a:prstGeom prst="rect">
            <a:avLst/>
          </a:prstGeom>
          <a:noFill/>
          <a:ln/>
        </p:spPr>
        <p:txBody>
          <a:bodyPr wrap="square" lIns="0" tIns="0" rIns="0" bIns="0" rtlCol="0" anchor="ctr"/>
          <a:lstStyle/>
          <a:p>
            <a:pPr algn="ctr" indent="0" marL="0">
              <a:buNone/>
            </a:pPr>
            <a:r>
              <a:rPr lang="en-US" sz="2400" b="1" dirty="0">
                <a:solidFill>
                  <a:srgbClr val="1A2340"/>
                </a:solidFill>
                <a:latin typeface="Calibri" pitchFamily="34" charset="0"/>
                <a:ea typeface="Calibri" pitchFamily="34" charset="-122"/>
                <a:cs typeface="Calibri" pitchFamily="34" charset="-120"/>
              </a:rPr>
              <a:t>5</a:t>
            </a:r>
            <a:endParaRPr lang="en-US" sz="2400" dirty="0"/>
          </a:p>
        </p:txBody>
      </p:sp>
      <p:sp>
        <p:nvSpPr>
          <p:cNvPr id="18" name="Shape 16"/>
          <p:cNvSpPr/>
          <p:nvPr/>
        </p:nvSpPr>
        <p:spPr>
          <a:xfrm>
            <a:off x="3108960" y="1719072"/>
            <a:ext cx="457200" cy="640080"/>
          </a:xfrm>
          <a:prstGeom prst="rect">
            <a:avLst/>
          </a:prstGeom>
          <a:solidFill>
            <a:srgbClr val="FFFFFF"/>
          </a:solidFill>
          <a:ln w="12700">
            <a:solidFill>
              <a:srgbClr val="1F2430"/>
            </a:solidFill>
            <a:prstDash val="solid"/>
          </a:ln>
        </p:spPr>
      </p:sp>
      <p:sp>
        <p:nvSpPr>
          <p:cNvPr id="19" name="Text 17"/>
          <p:cNvSpPr/>
          <p:nvPr/>
        </p:nvSpPr>
        <p:spPr>
          <a:xfrm>
            <a:off x="3108960" y="1719072"/>
            <a:ext cx="457200" cy="640080"/>
          </a:xfrm>
          <a:prstGeom prst="rect">
            <a:avLst/>
          </a:prstGeom>
          <a:noFill/>
          <a:ln/>
        </p:spPr>
        <p:txBody>
          <a:bodyPr wrap="square" lIns="0" tIns="0" rIns="0" bIns="0" rtlCol="0" anchor="ctr"/>
          <a:lstStyle/>
          <a:p>
            <a:pPr algn="ctr" indent="0" marL="0">
              <a:buNone/>
            </a:pPr>
            <a:r>
              <a:rPr lang="en-US" sz="2400" b="1" dirty="0">
                <a:solidFill>
                  <a:srgbClr val="1A2340"/>
                </a:solidFill>
                <a:latin typeface="Calibri" pitchFamily="34" charset="0"/>
                <a:ea typeface="Calibri" pitchFamily="34" charset="-122"/>
                <a:cs typeface="Calibri" pitchFamily="34" charset="-120"/>
              </a:rPr>
              <a:t>2</a:t>
            </a:r>
            <a:endParaRPr lang="en-US" sz="2400" dirty="0"/>
          </a:p>
        </p:txBody>
      </p:sp>
      <p:sp>
        <p:nvSpPr>
          <p:cNvPr id="20" name="Shape 18"/>
          <p:cNvSpPr/>
          <p:nvPr/>
        </p:nvSpPr>
        <p:spPr>
          <a:xfrm>
            <a:off x="3657600" y="1719072"/>
            <a:ext cx="457200" cy="640080"/>
          </a:xfrm>
          <a:prstGeom prst="rect">
            <a:avLst/>
          </a:prstGeom>
          <a:solidFill>
            <a:srgbClr val="C8414C"/>
          </a:solidFill>
          <a:ln w="12700">
            <a:solidFill>
              <a:srgbClr val="1F2430"/>
            </a:solidFill>
            <a:prstDash val="solid"/>
          </a:ln>
        </p:spPr>
      </p:sp>
      <p:sp>
        <p:nvSpPr>
          <p:cNvPr id="21" name="Text 19"/>
          <p:cNvSpPr/>
          <p:nvPr/>
        </p:nvSpPr>
        <p:spPr>
          <a:xfrm>
            <a:off x="3657600" y="1719072"/>
            <a:ext cx="45720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22" name="Text 20"/>
          <p:cNvSpPr/>
          <p:nvPr/>
        </p:nvSpPr>
        <p:spPr>
          <a:xfrm>
            <a:off x="4251960" y="1920240"/>
            <a:ext cx="1005840" cy="25603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kWh</a:t>
            </a:r>
            <a:endParaRPr lang="en-US" sz="1600" dirty="0"/>
          </a:p>
        </p:txBody>
      </p:sp>
      <p:sp>
        <p:nvSpPr>
          <p:cNvPr id="23" name="Shape 21"/>
          <p:cNvSpPr/>
          <p:nvPr/>
        </p:nvSpPr>
        <p:spPr>
          <a:xfrm>
            <a:off x="640080" y="3063240"/>
            <a:ext cx="1143000" cy="548640"/>
          </a:xfrm>
          <a:prstGeom prst="roundRect">
            <a:avLst>
              <a:gd name="adj" fmla="val 10000"/>
            </a:avLst>
          </a:prstGeom>
          <a:solidFill>
            <a:srgbClr val="FDE7D0"/>
          </a:solidFill>
          <a:ln w="15875">
            <a:solidFill>
              <a:srgbClr val="B8730A"/>
            </a:solidFill>
            <a:prstDash val="solid"/>
          </a:ln>
        </p:spPr>
      </p:sp>
      <p:sp>
        <p:nvSpPr>
          <p:cNvPr id="24" name="Text 22"/>
          <p:cNvSpPr/>
          <p:nvPr/>
        </p:nvSpPr>
        <p:spPr>
          <a:xfrm>
            <a:off x="640080" y="3063240"/>
            <a:ext cx="1143000" cy="548640"/>
          </a:xfrm>
          <a:prstGeom prst="rect">
            <a:avLst/>
          </a:prstGeom>
          <a:noFill/>
          <a:ln/>
        </p:spPr>
        <p:txBody>
          <a:bodyPr wrap="square" lIns="0" tIns="0" rIns="0" bIns="0" rtlCol="0" anchor="ctr"/>
          <a:lstStyle/>
          <a:p>
            <a:pPr algn="ctr" indent="0" marL="0">
              <a:buNone/>
            </a:pPr>
            <a:r>
              <a:rPr lang="en-US" sz="1200" b="1" dirty="0">
                <a:solidFill>
                  <a:srgbClr val="1A2340"/>
                </a:solidFill>
                <a:latin typeface="Calibri" pitchFamily="34" charset="0"/>
                <a:ea typeface="Calibri" pitchFamily="34" charset="-122"/>
                <a:cs typeface="Calibri" pitchFamily="34" charset="-120"/>
              </a:rPr>
              <a:t>1 kWh</a:t>
            </a:r>
            <a:endParaRPr lang="en-US" sz="1200" dirty="0"/>
          </a:p>
        </p:txBody>
      </p:sp>
      <p:sp>
        <p:nvSpPr>
          <p:cNvPr id="25" name="Shape 23"/>
          <p:cNvSpPr/>
          <p:nvPr/>
        </p:nvSpPr>
        <p:spPr>
          <a:xfrm>
            <a:off x="1828800" y="3337560"/>
            <a:ext cx="320040" cy="91"/>
          </a:xfrm>
          <a:prstGeom prst="line">
            <a:avLst/>
          </a:prstGeom>
          <a:noFill/>
          <a:ln w="25400">
            <a:solidFill>
              <a:srgbClr val="2E5BD8"/>
            </a:solidFill>
            <a:prstDash val="solid"/>
            <a:tailEnd type="triangle"/>
          </a:ln>
        </p:spPr>
      </p:sp>
      <p:sp>
        <p:nvSpPr>
          <p:cNvPr id="26" name="Shape 24"/>
          <p:cNvSpPr/>
          <p:nvPr/>
        </p:nvSpPr>
        <p:spPr>
          <a:xfrm>
            <a:off x="2194560" y="3063240"/>
            <a:ext cx="1600200" cy="548640"/>
          </a:xfrm>
          <a:prstGeom prst="roundRect">
            <a:avLst>
              <a:gd name="adj" fmla="val 10000"/>
            </a:avLst>
          </a:prstGeom>
          <a:solidFill>
            <a:srgbClr val="FFFFFF"/>
          </a:solidFill>
          <a:ln w="15875">
            <a:solidFill>
              <a:srgbClr val="2E5BD8"/>
            </a:solidFill>
            <a:prstDash val="solid"/>
          </a:ln>
        </p:spPr>
      </p:sp>
      <p:sp>
        <p:nvSpPr>
          <p:cNvPr id="27" name="Text 25"/>
          <p:cNvSpPr/>
          <p:nvPr/>
        </p:nvSpPr>
        <p:spPr>
          <a:xfrm>
            <a:off x="2194560" y="3063240"/>
            <a:ext cx="1600200" cy="548640"/>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1 kW for 1 h</a:t>
            </a:r>
            <a:endParaRPr lang="en-US" sz="1150" dirty="0"/>
          </a:p>
        </p:txBody>
      </p:sp>
      <p:sp>
        <p:nvSpPr>
          <p:cNvPr id="28" name="Shape 26"/>
          <p:cNvSpPr/>
          <p:nvPr/>
        </p:nvSpPr>
        <p:spPr>
          <a:xfrm>
            <a:off x="3840480" y="3337560"/>
            <a:ext cx="320040" cy="91"/>
          </a:xfrm>
          <a:prstGeom prst="line">
            <a:avLst/>
          </a:prstGeom>
          <a:noFill/>
          <a:ln w="25400">
            <a:solidFill>
              <a:srgbClr val="2E5BD8"/>
            </a:solidFill>
            <a:prstDash val="solid"/>
            <a:tailEnd type="triangle"/>
          </a:ln>
        </p:spPr>
      </p:sp>
      <p:sp>
        <p:nvSpPr>
          <p:cNvPr id="29" name="Shape 27"/>
          <p:cNvSpPr/>
          <p:nvPr/>
        </p:nvSpPr>
        <p:spPr>
          <a:xfrm>
            <a:off x="4206240" y="3063240"/>
            <a:ext cx="1554480" cy="548640"/>
          </a:xfrm>
          <a:prstGeom prst="roundRect">
            <a:avLst>
              <a:gd name="adj" fmla="val 10000"/>
            </a:avLst>
          </a:prstGeom>
          <a:solidFill>
            <a:srgbClr val="FFFFFF"/>
          </a:solidFill>
          <a:ln w="15875">
            <a:solidFill>
              <a:srgbClr val="2E5BD8"/>
            </a:solidFill>
            <a:prstDash val="solid"/>
          </a:ln>
        </p:spPr>
      </p:sp>
      <p:sp>
        <p:nvSpPr>
          <p:cNvPr id="30" name="Text 28"/>
          <p:cNvSpPr/>
          <p:nvPr/>
        </p:nvSpPr>
        <p:spPr>
          <a:xfrm>
            <a:off x="4206240" y="3063240"/>
            <a:ext cx="1554480" cy="548640"/>
          </a:xfrm>
          <a:prstGeom prst="rect">
            <a:avLst/>
          </a:prstGeom>
          <a:noFill/>
          <a:ln/>
        </p:spPr>
        <p:txBody>
          <a:bodyPr wrap="square" lIns="0" tIns="0" rIns="0" bIns="0" rtlCol="0" anchor="ctr"/>
          <a:lstStyle/>
          <a:p>
            <a:pPr algn="ctr" indent="0" marL="0">
              <a:buNone/>
            </a:pPr>
            <a:r>
              <a:rPr lang="en-US" sz="1150" b="1" dirty="0">
                <a:solidFill>
                  <a:srgbClr val="1A2340"/>
                </a:solidFill>
                <a:latin typeface="Calibri" pitchFamily="34" charset="0"/>
                <a:ea typeface="Calibri" pitchFamily="34" charset="-122"/>
                <a:cs typeface="Calibri" pitchFamily="34" charset="-120"/>
              </a:rPr>
              <a:t>1000 W × 3600 s</a:t>
            </a:r>
            <a:endParaRPr lang="en-US" sz="1150" dirty="0"/>
          </a:p>
        </p:txBody>
      </p:sp>
      <p:sp>
        <p:nvSpPr>
          <p:cNvPr id="31" name="Shape 29"/>
          <p:cNvSpPr/>
          <p:nvPr/>
        </p:nvSpPr>
        <p:spPr>
          <a:xfrm>
            <a:off x="4983480" y="3630168"/>
            <a:ext cx="91" cy="301752"/>
          </a:xfrm>
          <a:prstGeom prst="line">
            <a:avLst/>
          </a:prstGeom>
          <a:noFill/>
          <a:ln w="25400">
            <a:solidFill>
              <a:srgbClr val="2E5BD8"/>
            </a:solidFill>
            <a:prstDash val="solid"/>
            <a:tailEnd type="triangle"/>
          </a:ln>
        </p:spPr>
      </p:sp>
      <p:sp>
        <p:nvSpPr>
          <p:cNvPr id="32" name="Shape 30"/>
          <p:cNvSpPr/>
          <p:nvPr/>
        </p:nvSpPr>
        <p:spPr>
          <a:xfrm>
            <a:off x="2194560" y="3977640"/>
            <a:ext cx="3566160" cy="548640"/>
          </a:xfrm>
          <a:prstGeom prst="roundRect">
            <a:avLst>
              <a:gd name="adj" fmla="val 10000"/>
            </a:avLst>
          </a:prstGeom>
          <a:solidFill>
            <a:srgbClr val="DCE6FB"/>
          </a:solidFill>
          <a:ln w="15875">
            <a:solidFill>
              <a:srgbClr val="2E5BD8"/>
            </a:solidFill>
            <a:prstDash val="solid"/>
          </a:ln>
        </p:spPr>
      </p:sp>
      <p:sp>
        <p:nvSpPr>
          <p:cNvPr id="33" name="Text 31"/>
          <p:cNvSpPr/>
          <p:nvPr/>
        </p:nvSpPr>
        <p:spPr>
          <a:xfrm>
            <a:off x="2194560" y="3977640"/>
            <a:ext cx="3566160" cy="54864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 3 600 000 J = 3.6 × 10⁶ J</a:t>
            </a:r>
            <a:endParaRPr lang="en-US" sz="1300" dirty="0"/>
          </a:p>
        </p:txBody>
      </p:sp>
      <p:sp>
        <p:nvSpPr>
          <p:cNvPr id="34" name="Shape 32"/>
          <p:cNvSpPr/>
          <p:nvPr/>
        </p:nvSpPr>
        <p:spPr>
          <a:xfrm>
            <a:off x="777240" y="4892040"/>
            <a:ext cx="2286000" cy="91"/>
          </a:xfrm>
          <a:prstGeom prst="line">
            <a:avLst/>
          </a:prstGeom>
          <a:noFill/>
          <a:ln w="31750">
            <a:solidFill>
              <a:srgbClr val="2E8B57"/>
            </a:solidFill>
            <a:prstDash val="solid"/>
            <a:tailEnd type="triangle"/>
          </a:ln>
        </p:spPr>
      </p:sp>
      <p:sp>
        <p:nvSpPr>
          <p:cNvPr id="35" name="Text 33"/>
          <p:cNvSpPr/>
          <p:nvPr/>
        </p:nvSpPr>
        <p:spPr>
          <a:xfrm>
            <a:off x="777240" y="4599432"/>
            <a:ext cx="2286000" cy="256032"/>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kWh → J:  × 3.6 × 10⁶</a:t>
            </a:r>
            <a:endParaRPr lang="en-US" sz="1100" dirty="0"/>
          </a:p>
        </p:txBody>
      </p:sp>
      <p:sp>
        <p:nvSpPr>
          <p:cNvPr id="36" name="Shape 34"/>
          <p:cNvSpPr/>
          <p:nvPr/>
        </p:nvSpPr>
        <p:spPr>
          <a:xfrm flipH="1">
            <a:off x="3337560" y="4892040"/>
            <a:ext cx="2286000" cy="91"/>
          </a:xfrm>
          <a:prstGeom prst="line">
            <a:avLst/>
          </a:prstGeom>
          <a:noFill/>
          <a:ln w="31750">
            <a:solidFill>
              <a:srgbClr val="C8414C"/>
            </a:solidFill>
            <a:prstDash val="solid"/>
            <a:tailEnd type="triangle"/>
          </a:ln>
        </p:spPr>
      </p:sp>
      <p:sp>
        <p:nvSpPr>
          <p:cNvPr id="37" name="Text 35"/>
          <p:cNvSpPr/>
          <p:nvPr/>
        </p:nvSpPr>
        <p:spPr>
          <a:xfrm>
            <a:off x="3337560" y="4599432"/>
            <a:ext cx="228600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J → kWh:  ÷ 3.6 × 10⁶</a:t>
            </a:r>
            <a:endParaRPr lang="en-US" sz="1100" dirty="0"/>
          </a:p>
        </p:txBody>
      </p:sp>
      <p:sp>
        <p:nvSpPr>
          <p:cNvPr id="38" name="Shape 36"/>
          <p:cNvSpPr/>
          <p:nvPr/>
        </p:nvSpPr>
        <p:spPr>
          <a:xfrm>
            <a:off x="6217920" y="1188720"/>
            <a:ext cx="5562295" cy="2240280"/>
          </a:xfrm>
          <a:prstGeom prst="roundRect">
            <a:avLst>
              <a:gd name="adj" fmla="val 2449"/>
            </a:avLst>
          </a:prstGeom>
          <a:solidFill>
            <a:srgbClr val="F5F8FE"/>
          </a:solidFill>
          <a:ln w="9525">
            <a:solidFill>
              <a:srgbClr val="D5DCEB"/>
            </a:solidFill>
            <a:prstDash val="solid"/>
          </a:ln>
        </p:spPr>
      </p:sp>
      <p:sp>
        <p:nvSpPr>
          <p:cNvPr id="39" name="Text 3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One kilowatt for one hour</a:t>
            </a:r>
            <a:endParaRPr lang="en-US" sz="1300" dirty="0"/>
          </a:p>
        </p:txBody>
      </p:sp>
      <p:sp>
        <p:nvSpPr>
          <p:cNvPr id="40" name="Text 38"/>
          <p:cNvSpPr/>
          <p:nvPr/>
        </p:nvSpPr>
        <p:spPr>
          <a:xfrm>
            <a:off x="6382512" y="1609344"/>
            <a:ext cx="5233111" cy="1746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kilowatt-hour (kWh)</a:t>
            </a:r>
            <a:r>
              <a:rPr lang="en-US" sz="1150" dirty="0">
                <a:solidFill>
                  <a:srgbClr val="262B3A"/>
                </a:solidFill>
                <a:latin typeface="Calibri" pitchFamily="34" charset="0"/>
                <a:ea typeface="Calibri" pitchFamily="34" charset="-122"/>
                <a:cs typeface="Calibri" pitchFamily="34" charset="-120"/>
              </a:rPr>
              <a:t> is the energy transferred by a </a:t>
            </a:r>
            <a:r>
              <a:rPr lang="en-US" sz="1150" b="1" dirty="0">
                <a:solidFill>
                  <a:srgbClr val="262B3A"/>
                </a:solidFill>
                <a:latin typeface="Calibri" pitchFamily="34" charset="0"/>
                <a:ea typeface="Calibri" pitchFamily="34" charset="-122"/>
                <a:cs typeface="Calibri" pitchFamily="34" charset="-120"/>
              </a:rPr>
              <a:t>1 kW</a:t>
            </a:r>
            <a:r>
              <a:rPr lang="en-US" sz="1150" dirty="0">
                <a:solidFill>
                  <a:srgbClr val="262B3A"/>
                </a:solidFill>
                <a:latin typeface="Calibri" pitchFamily="34" charset="0"/>
                <a:ea typeface="Calibri" pitchFamily="34" charset="-122"/>
                <a:cs typeface="Calibri" pitchFamily="34" charset="-120"/>
              </a:rPr>
              <a:t> appliance in </a:t>
            </a:r>
            <a:r>
              <a:rPr lang="en-US" sz="1150" b="1" dirty="0">
                <a:solidFill>
                  <a:srgbClr val="262B3A"/>
                </a:solidFill>
                <a:latin typeface="Calibri" pitchFamily="34" charset="0"/>
                <a:ea typeface="Calibri" pitchFamily="34" charset="-122"/>
                <a:cs typeface="Calibri" pitchFamily="34" charset="-120"/>
              </a:rPr>
              <a:t>1 hour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is </a:t>
            </a:r>
            <a:r>
              <a:rPr lang="en-US" sz="1150" b="1" dirty="0">
                <a:solidFill>
                  <a:srgbClr val="262B3A"/>
                </a:solidFill>
                <a:latin typeface="Calibri" pitchFamily="34" charset="0"/>
                <a:ea typeface="Calibri" pitchFamily="34" charset="-122"/>
                <a:cs typeface="Calibri" pitchFamily="34" charset="-120"/>
              </a:rPr>
              <a:t>not an SI unit</a:t>
            </a:r>
            <a:r>
              <a:rPr lang="en-US" sz="1150" dirty="0">
                <a:solidFill>
                  <a:srgbClr val="262B3A"/>
                </a:solidFill>
                <a:latin typeface="Calibri" pitchFamily="34" charset="0"/>
                <a:ea typeface="Calibri" pitchFamily="34" charset="-122"/>
                <a:cs typeface="Calibri" pitchFamily="34" charset="-120"/>
              </a:rPr>
              <a:t>. The SI unit of energy is the </a:t>
            </a:r>
            <a:r>
              <a:rPr lang="en-US" sz="1150" b="1" dirty="0">
                <a:solidFill>
                  <a:srgbClr val="262B3A"/>
                </a:solidFill>
                <a:latin typeface="Calibri" pitchFamily="34" charset="0"/>
                <a:ea typeface="Calibri" pitchFamily="34" charset="-122"/>
                <a:cs typeface="Calibri" pitchFamily="34" charset="-120"/>
              </a:rPr>
              <a:t>joule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1 kWh = 1000 W × 3600 s = 3.6 × 10⁶ J</a:t>
            </a:r>
            <a:r>
              <a:rPr lang="en-US" sz="1150" dirty="0">
                <a:solidFill>
                  <a:srgbClr val="262B3A"/>
                </a:solidFill>
                <a:latin typeface="Calibri" pitchFamily="34" charset="0"/>
                <a:ea typeface="Calibri" pitchFamily="34" charset="-122"/>
                <a:cs typeface="Calibri" pitchFamily="34" charset="-120"/>
              </a:rPr>
              <a:t>. Work this out each time rather than learning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Energy in kWh = power in </a:t>
            </a:r>
            <a:r>
              <a:rPr lang="en-US" sz="1150" b="1" dirty="0">
                <a:solidFill>
                  <a:srgbClr val="262B3A"/>
                </a:solidFill>
                <a:latin typeface="Calibri" pitchFamily="34" charset="0"/>
                <a:ea typeface="Calibri" pitchFamily="34" charset="-122"/>
                <a:cs typeface="Calibri" pitchFamily="34" charset="-120"/>
              </a:rPr>
              <a:t>kW</a:t>
            </a:r>
            <a:r>
              <a:rPr lang="en-US" sz="1150" dirty="0">
                <a:solidFill>
                  <a:srgbClr val="262B3A"/>
                </a:solidFill>
                <a:latin typeface="Calibri" pitchFamily="34" charset="0"/>
                <a:ea typeface="Calibri" pitchFamily="34" charset="-122"/>
                <a:cs typeface="Calibri" pitchFamily="34" charset="-120"/>
              </a:rPr>
              <a:t> × time in </a:t>
            </a:r>
            <a:r>
              <a:rPr lang="en-US" sz="1150" b="1" dirty="0">
                <a:solidFill>
                  <a:srgbClr val="262B3A"/>
                </a:solidFill>
                <a:latin typeface="Calibri" pitchFamily="34" charset="0"/>
                <a:ea typeface="Calibri" pitchFamily="34" charset="-122"/>
                <a:cs typeface="Calibri" pitchFamily="34" charset="-120"/>
              </a:rPr>
              <a:t>hours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41" name="Shape 39"/>
          <p:cNvSpPr/>
          <p:nvPr/>
        </p:nvSpPr>
        <p:spPr>
          <a:xfrm>
            <a:off x="6217920" y="3566160"/>
            <a:ext cx="5562295" cy="2148840"/>
          </a:xfrm>
          <a:prstGeom prst="roundRect">
            <a:avLst>
              <a:gd name="adj" fmla="val 2553"/>
            </a:avLst>
          </a:prstGeom>
          <a:solidFill>
            <a:srgbClr val="FFF4E0"/>
          </a:solidFill>
          <a:ln w="9525">
            <a:solidFill>
              <a:srgbClr val="F1D9A8"/>
            </a:solidFill>
            <a:prstDash val="solid"/>
          </a:ln>
        </p:spPr>
      </p:sp>
      <p:sp>
        <p:nvSpPr>
          <p:cNvPr id="42" name="Text 40"/>
          <p:cNvSpPr/>
          <p:nvPr/>
        </p:nvSpPr>
        <p:spPr>
          <a:xfrm>
            <a:off x="6382512" y="36393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43" name="Text 41"/>
          <p:cNvSpPr/>
          <p:nvPr/>
        </p:nvSpPr>
        <p:spPr>
          <a:xfrm>
            <a:off x="6382512" y="3950208"/>
            <a:ext cx="5233111" cy="169164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2.0 kW heater is on for 3.0 hours. Calculate the energy transferred in kWh and in J.</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kWh   </a:t>
            </a:r>
            <a:r>
              <a:rPr lang="en-US" sz="1100" dirty="0">
                <a:solidFill>
                  <a:srgbClr val="262B3A"/>
                </a:solidFill>
                <a:latin typeface="Calibri" pitchFamily="34" charset="0"/>
                <a:ea typeface="Calibri" pitchFamily="34" charset="-122"/>
                <a:cs typeface="Calibri" pitchFamily="34" charset="-120"/>
              </a:rPr>
              <a:t>E = 2.0 kW × 3.0 h = 6.0 kWh</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Convert   </a:t>
            </a:r>
            <a:r>
              <a:rPr lang="en-US" sz="1100" dirty="0">
                <a:solidFill>
                  <a:srgbClr val="262B3A"/>
                </a:solidFill>
                <a:latin typeface="Calibri" pitchFamily="34" charset="0"/>
                <a:ea typeface="Calibri" pitchFamily="34" charset="-122"/>
                <a:cs typeface="Calibri" pitchFamily="34" charset="-120"/>
              </a:rPr>
              <a:t>E = 6.0 × 3.6 × 10⁶ J = 21 600 000 J</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or 2000 W × 10 800 s = the same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E = 2.2 × 10⁷ J (2 s.f.)</a:t>
            </a:r>
            <a:endParaRPr lang="en-US" sz="1100" dirty="0"/>
          </a:p>
        </p:txBody>
      </p:sp>
      <p:sp>
        <p:nvSpPr>
          <p:cNvPr id="44" name="Shape 42"/>
          <p:cNvSpPr/>
          <p:nvPr/>
        </p:nvSpPr>
        <p:spPr>
          <a:xfrm>
            <a:off x="411480" y="5833872"/>
            <a:ext cx="11368735" cy="530352"/>
          </a:xfrm>
          <a:prstGeom prst="rect">
            <a:avLst/>
          </a:prstGeom>
          <a:solidFill>
            <a:srgbClr val="FFF4E0"/>
          </a:solidFill>
          <a:ln w="6350">
            <a:solidFill>
              <a:srgbClr val="F1D9A8"/>
            </a:solidFill>
            <a:prstDash val="solid"/>
          </a:ln>
        </p:spPr>
      </p:sp>
      <p:sp>
        <p:nvSpPr>
          <p:cNvPr id="45" name="Shape 43"/>
          <p:cNvSpPr/>
          <p:nvPr/>
        </p:nvSpPr>
        <p:spPr>
          <a:xfrm>
            <a:off x="411480" y="5833872"/>
            <a:ext cx="82296" cy="530352"/>
          </a:xfrm>
          <a:prstGeom prst="rect">
            <a:avLst/>
          </a:prstGeom>
          <a:solidFill>
            <a:srgbClr val="E39A2F"/>
          </a:solidFill>
          <a:ln w="12700">
            <a:solidFill>
              <a:srgbClr val="E39A2F"/>
            </a:solidFill>
            <a:prstDash val="solid"/>
          </a:ln>
        </p:spPr>
      </p:sp>
      <p:sp>
        <p:nvSpPr>
          <p:cNvPr id="46" name="Text 4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phone charger has a power of 5.0 W and is used for 2.0 hours. Calculate the energy transferred in joules and in kWh.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Standard form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1.4 • use significant figures and standard form where appropriate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1.4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count the places the decimal point moves</a:t>
            </a:r>
            <a:endParaRPr lang="en-US" sz="1000" dirty="0"/>
          </a:p>
        </p:txBody>
      </p:sp>
      <p:sp>
        <p:nvSpPr>
          <p:cNvPr id="10" name="Text 8"/>
          <p:cNvSpPr/>
          <p:nvPr/>
        </p:nvSpPr>
        <p:spPr>
          <a:xfrm>
            <a:off x="640080" y="1298448"/>
            <a:ext cx="512064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A big number: the speed of light</a:t>
            </a:r>
            <a:endParaRPr lang="en-US" sz="1150" dirty="0"/>
          </a:p>
        </p:txBody>
      </p:sp>
      <p:sp>
        <p:nvSpPr>
          <p:cNvPr id="11" name="Shape 9"/>
          <p:cNvSpPr/>
          <p:nvPr/>
        </p:nvSpPr>
        <p:spPr>
          <a:xfrm>
            <a:off x="685800" y="1874520"/>
            <a:ext cx="338328" cy="384048"/>
          </a:xfrm>
          <a:prstGeom prst="rect">
            <a:avLst/>
          </a:prstGeom>
          <a:solidFill>
            <a:srgbClr val="DCE6FB"/>
          </a:solidFill>
          <a:ln w="9525">
            <a:solidFill>
              <a:srgbClr val="D5DCEB"/>
            </a:solidFill>
            <a:prstDash val="solid"/>
          </a:ln>
        </p:spPr>
      </p:sp>
      <p:sp>
        <p:nvSpPr>
          <p:cNvPr id="12" name="Text 10"/>
          <p:cNvSpPr/>
          <p:nvPr/>
        </p:nvSpPr>
        <p:spPr>
          <a:xfrm>
            <a:off x="685800" y="1874520"/>
            <a:ext cx="338328"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3</a:t>
            </a:r>
            <a:endParaRPr lang="en-US" sz="1600" dirty="0"/>
          </a:p>
        </p:txBody>
      </p:sp>
      <p:sp>
        <p:nvSpPr>
          <p:cNvPr id="13" name="Shape 11"/>
          <p:cNvSpPr/>
          <p:nvPr/>
        </p:nvSpPr>
        <p:spPr>
          <a:xfrm>
            <a:off x="1051560" y="1874520"/>
            <a:ext cx="338328" cy="384048"/>
          </a:xfrm>
          <a:prstGeom prst="rect">
            <a:avLst/>
          </a:prstGeom>
          <a:solidFill>
            <a:srgbClr val="FFFFFF"/>
          </a:solidFill>
          <a:ln w="9525">
            <a:solidFill>
              <a:srgbClr val="D5DCEB"/>
            </a:solidFill>
            <a:prstDash val="solid"/>
          </a:ln>
        </p:spPr>
      </p:sp>
      <p:sp>
        <p:nvSpPr>
          <p:cNvPr id="14" name="Text 12"/>
          <p:cNvSpPr/>
          <p:nvPr/>
        </p:nvSpPr>
        <p:spPr>
          <a:xfrm>
            <a:off x="105156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15" name="Shape 13"/>
          <p:cNvSpPr/>
          <p:nvPr/>
        </p:nvSpPr>
        <p:spPr>
          <a:xfrm>
            <a:off x="1417320" y="1874520"/>
            <a:ext cx="338328" cy="384048"/>
          </a:xfrm>
          <a:prstGeom prst="rect">
            <a:avLst/>
          </a:prstGeom>
          <a:solidFill>
            <a:srgbClr val="FFFFFF"/>
          </a:solidFill>
          <a:ln w="9525">
            <a:solidFill>
              <a:srgbClr val="D5DCEB"/>
            </a:solidFill>
            <a:prstDash val="solid"/>
          </a:ln>
        </p:spPr>
      </p:sp>
      <p:sp>
        <p:nvSpPr>
          <p:cNvPr id="16" name="Text 14"/>
          <p:cNvSpPr/>
          <p:nvPr/>
        </p:nvSpPr>
        <p:spPr>
          <a:xfrm>
            <a:off x="141732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17" name="Shape 15"/>
          <p:cNvSpPr/>
          <p:nvPr/>
        </p:nvSpPr>
        <p:spPr>
          <a:xfrm>
            <a:off x="1783080" y="1874520"/>
            <a:ext cx="338328" cy="384048"/>
          </a:xfrm>
          <a:prstGeom prst="rect">
            <a:avLst/>
          </a:prstGeom>
          <a:solidFill>
            <a:srgbClr val="FFFFFF"/>
          </a:solidFill>
          <a:ln w="9525">
            <a:solidFill>
              <a:srgbClr val="D5DCEB"/>
            </a:solidFill>
            <a:prstDash val="solid"/>
          </a:ln>
        </p:spPr>
      </p:sp>
      <p:sp>
        <p:nvSpPr>
          <p:cNvPr id="18" name="Text 16"/>
          <p:cNvSpPr/>
          <p:nvPr/>
        </p:nvSpPr>
        <p:spPr>
          <a:xfrm>
            <a:off x="178308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19" name="Shape 17"/>
          <p:cNvSpPr/>
          <p:nvPr/>
        </p:nvSpPr>
        <p:spPr>
          <a:xfrm>
            <a:off x="2148840" y="1874520"/>
            <a:ext cx="338328" cy="384048"/>
          </a:xfrm>
          <a:prstGeom prst="rect">
            <a:avLst/>
          </a:prstGeom>
          <a:solidFill>
            <a:srgbClr val="FFFFFF"/>
          </a:solidFill>
          <a:ln w="9525">
            <a:solidFill>
              <a:srgbClr val="D5DCEB"/>
            </a:solidFill>
            <a:prstDash val="solid"/>
          </a:ln>
        </p:spPr>
      </p:sp>
      <p:sp>
        <p:nvSpPr>
          <p:cNvPr id="20" name="Text 18"/>
          <p:cNvSpPr/>
          <p:nvPr/>
        </p:nvSpPr>
        <p:spPr>
          <a:xfrm>
            <a:off x="214884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21" name="Shape 19"/>
          <p:cNvSpPr/>
          <p:nvPr/>
        </p:nvSpPr>
        <p:spPr>
          <a:xfrm>
            <a:off x="2514600" y="1874520"/>
            <a:ext cx="338328" cy="384048"/>
          </a:xfrm>
          <a:prstGeom prst="rect">
            <a:avLst/>
          </a:prstGeom>
          <a:solidFill>
            <a:srgbClr val="FFFFFF"/>
          </a:solidFill>
          <a:ln w="9525">
            <a:solidFill>
              <a:srgbClr val="D5DCEB"/>
            </a:solidFill>
            <a:prstDash val="solid"/>
          </a:ln>
        </p:spPr>
      </p:sp>
      <p:sp>
        <p:nvSpPr>
          <p:cNvPr id="22" name="Text 20"/>
          <p:cNvSpPr/>
          <p:nvPr/>
        </p:nvSpPr>
        <p:spPr>
          <a:xfrm>
            <a:off x="251460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23" name="Shape 21"/>
          <p:cNvSpPr/>
          <p:nvPr/>
        </p:nvSpPr>
        <p:spPr>
          <a:xfrm>
            <a:off x="2880360" y="1874520"/>
            <a:ext cx="338328" cy="384048"/>
          </a:xfrm>
          <a:prstGeom prst="rect">
            <a:avLst/>
          </a:prstGeom>
          <a:solidFill>
            <a:srgbClr val="FFFFFF"/>
          </a:solidFill>
          <a:ln w="9525">
            <a:solidFill>
              <a:srgbClr val="D5DCEB"/>
            </a:solidFill>
            <a:prstDash val="solid"/>
          </a:ln>
        </p:spPr>
      </p:sp>
      <p:sp>
        <p:nvSpPr>
          <p:cNvPr id="24" name="Text 22"/>
          <p:cNvSpPr/>
          <p:nvPr/>
        </p:nvSpPr>
        <p:spPr>
          <a:xfrm>
            <a:off x="288036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25" name="Shape 23"/>
          <p:cNvSpPr/>
          <p:nvPr/>
        </p:nvSpPr>
        <p:spPr>
          <a:xfrm>
            <a:off x="3246120" y="1874520"/>
            <a:ext cx="338328" cy="384048"/>
          </a:xfrm>
          <a:prstGeom prst="rect">
            <a:avLst/>
          </a:prstGeom>
          <a:solidFill>
            <a:srgbClr val="FFFFFF"/>
          </a:solidFill>
          <a:ln w="9525">
            <a:solidFill>
              <a:srgbClr val="D5DCEB"/>
            </a:solidFill>
            <a:prstDash val="solid"/>
          </a:ln>
        </p:spPr>
      </p:sp>
      <p:sp>
        <p:nvSpPr>
          <p:cNvPr id="26" name="Text 24"/>
          <p:cNvSpPr/>
          <p:nvPr/>
        </p:nvSpPr>
        <p:spPr>
          <a:xfrm>
            <a:off x="324612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27" name="Shape 25"/>
          <p:cNvSpPr/>
          <p:nvPr/>
        </p:nvSpPr>
        <p:spPr>
          <a:xfrm>
            <a:off x="3611880" y="1874520"/>
            <a:ext cx="338328" cy="384048"/>
          </a:xfrm>
          <a:prstGeom prst="rect">
            <a:avLst/>
          </a:prstGeom>
          <a:solidFill>
            <a:srgbClr val="FFFFFF"/>
          </a:solidFill>
          <a:ln w="9525">
            <a:solidFill>
              <a:srgbClr val="D5DCEB"/>
            </a:solidFill>
            <a:prstDash val="solid"/>
          </a:ln>
        </p:spPr>
      </p:sp>
      <p:sp>
        <p:nvSpPr>
          <p:cNvPr id="28" name="Text 26"/>
          <p:cNvSpPr/>
          <p:nvPr/>
        </p:nvSpPr>
        <p:spPr>
          <a:xfrm>
            <a:off x="3611880" y="1874520"/>
            <a:ext cx="338328"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0</a:t>
            </a:r>
            <a:endParaRPr lang="en-US" sz="1600" dirty="0"/>
          </a:p>
        </p:txBody>
      </p:sp>
      <p:sp>
        <p:nvSpPr>
          <p:cNvPr id="29" name="Shape 27"/>
          <p:cNvSpPr/>
          <p:nvPr/>
        </p:nvSpPr>
        <p:spPr>
          <a:xfrm>
            <a:off x="3922776" y="2157984"/>
            <a:ext cx="73152" cy="73152"/>
          </a:xfrm>
          <a:prstGeom prst="ellipse">
            <a:avLst/>
          </a:prstGeom>
          <a:solidFill>
            <a:srgbClr val="1A2340"/>
          </a:solidFill>
          <a:ln w="12700">
            <a:solidFill>
              <a:srgbClr val="1A2340"/>
            </a:solidFill>
            <a:prstDash val="solid"/>
          </a:ln>
        </p:spPr>
      </p:sp>
      <p:sp>
        <p:nvSpPr>
          <p:cNvPr id="30" name="Shape 28"/>
          <p:cNvSpPr/>
          <p:nvPr/>
        </p:nvSpPr>
        <p:spPr>
          <a:xfrm flipH="1" flipV="1">
            <a:off x="3781044" y="1664208"/>
            <a:ext cx="182880" cy="182880"/>
          </a:xfrm>
          <a:prstGeom prst="line">
            <a:avLst/>
          </a:prstGeom>
          <a:noFill/>
          <a:ln w="15875">
            <a:solidFill>
              <a:srgbClr val="C8414C"/>
            </a:solidFill>
            <a:prstDash val="solid"/>
          </a:ln>
        </p:spPr>
      </p:sp>
      <p:sp>
        <p:nvSpPr>
          <p:cNvPr id="31" name="Shape 29"/>
          <p:cNvSpPr/>
          <p:nvPr/>
        </p:nvSpPr>
        <p:spPr>
          <a:xfrm flipH="1">
            <a:off x="3598164" y="1664208"/>
            <a:ext cx="182880" cy="182880"/>
          </a:xfrm>
          <a:prstGeom prst="line">
            <a:avLst/>
          </a:prstGeom>
          <a:noFill/>
          <a:ln w="15875">
            <a:solidFill>
              <a:srgbClr val="C8414C"/>
            </a:solidFill>
            <a:prstDash val="solid"/>
            <a:tailEnd type="triangle"/>
          </a:ln>
        </p:spPr>
      </p:sp>
      <p:sp>
        <p:nvSpPr>
          <p:cNvPr id="32" name="Shape 30"/>
          <p:cNvSpPr/>
          <p:nvPr/>
        </p:nvSpPr>
        <p:spPr>
          <a:xfrm flipH="1" flipV="1">
            <a:off x="3415284" y="1664208"/>
            <a:ext cx="182880" cy="182880"/>
          </a:xfrm>
          <a:prstGeom prst="line">
            <a:avLst/>
          </a:prstGeom>
          <a:noFill/>
          <a:ln w="15875">
            <a:solidFill>
              <a:srgbClr val="C8414C"/>
            </a:solidFill>
            <a:prstDash val="solid"/>
          </a:ln>
        </p:spPr>
      </p:sp>
      <p:sp>
        <p:nvSpPr>
          <p:cNvPr id="33" name="Shape 31"/>
          <p:cNvSpPr/>
          <p:nvPr/>
        </p:nvSpPr>
        <p:spPr>
          <a:xfrm flipH="1">
            <a:off x="3232404" y="1664208"/>
            <a:ext cx="182880" cy="182880"/>
          </a:xfrm>
          <a:prstGeom prst="line">
            <a:avLst/>
          </a:prstGeom>
          <a:noFill/>
          <a:ln w="15875">
            <a:solidFill>
              <a:srgbClr val="C8414C"/>
            </a:solidFill>
            <a:prstDash val="solid"/>
            <a:tailEnd type="triangle"/>
          </a:ln>
        </p:spPr>
      </p:sp>
      <p:sp>
        <p:nvSpPr>
          <p:cNvPr id="34" name="Shape 32"/>
          <p:cNvSpPr/>
          <p:nvPr/>
        </p:nvSpPr>
        <p:spPr>
          <a:xfrm flipH="1" flipV="1">
            <a:off x="3049524" y="1664208"/>
            <a:ext cx="182880" cy="182880"/>
          </a:xfrm>
          <a:prstGeom prst="line">
            <a:avLst/>
          </a:prstGeom>
          <a:noFill/>
          <a:ln w="15875">
            <a:solidFill>
              <a:srgbClr val="C8414C"/>
            </a:solidFill>
            <a:prstDash val="solid"/>
          </a:ln>
        </p:spPr>
      </p:sp>
      <p:sp>
        <p:nvSpPr>
          <p:cNvPr id="35" name="Shape 33"/>
          <p:cNvSpPr/>
          <p:nvPr/>
        </p:nvSpPr>
        <p:spPr>
          <a:xfrm flipH="1">
            <a:off x="2866644" y="1664208"/>
            <a:ext cx="182880" cy="182880"/>
          </a:xfrm>
          <a:prstGeom prst="line">
            <a:avLst/>
          </a:prstGeom>
          <a:noFill/>
          <a:ln w="15875">
            <a:solidFill>
              <a:srgbClr val="C8414C"/>
            </a:solidFill>
            <a:prstDash val="solid"/>
            <a:tailEnd type="triangle"/>
          </a:ln>
        </p:spPr>
      </p:sp>
      <p:sp>
        <p:nvSpPr>
          <p:cNvPr id="36" name="Shape 34"/>
          <p:cNvSpPr/>
          <p:nvPr/>
        </p:nvSpPr>
        <p:spPr>
          <a:xfrm flipH="1" flipV="1">
            <a:off x="2683764" y="1664208"/>
            <a:ext cx="182880" cy="182880"/>
          </a:xfrm>
          <a:prstGeom prst="line">
            <a:avLst/>
          </a:prstGeom>
          <a:noFill/>
          <a:ln w="15875">
            <a:solidFill>
              <a:srgbClr val="C8414C"/>
            </a:solidFill>
            <a:prstDash val="solid"/>
          </a:ln>
        </p:spPr>
      </p:sp>
      <p:sp>
        <p:nvSpPr>
          <p:cNvPr id="37" name="Shape 35"/>
          <p:cNvSpPr/>
          <p:nvPr/>
        </p:nvSpPr>
        <p:spPr>
          <a:xfrm flipH="1">
            <a:off x="2500884" y="1664208"/>
            <a:ext cx="182880" cy="182880"/>
          </a:xfrm>
          <a:prstGeom prst="line">
            <a:avLst/>
          </a:prstGeom>
          <a:noFill/>
          <a:ln w="15875">
            <a:solidFill>
              <a:srgbClr val="C8414C"/>
            </a:solidFill>
            <a:prstDash val="solid"/>
            <a:tailEnd type="triangle"/>
          </a:ln>
        </p:spPr>
      </p:sp>
      <p:sp>
        <p:nvSpPr>
          <p:cNvPr id="38" name="Shape 36"/>
          <p:cNvSpPr/>
          <p:nvPr/>
        </p:nvSpPr>
        <p:spPr>
          <a:xfrm flipH="1" flipV="1">
            <a:off x="2318004" y="1664208"/>
            <a:ext cx="182880" cy="182880"/>
          </a:xfrm>
          <a:prstGeom prst="line">
            <a:avLst/>
          </a:prstGeom>
          <a:noFill/>
          <a:ln w="15875">
            <a:solidFill>
              <a:srgbClr val="C8414C"/>
            </a:solidFill>
            <a:prstDash val="solid"/>
          </a:ln>
        </p:spPr>
      </p:sp>
      <p:sp>
        <p:nvSpPr>
          <p:cNvPr id="39" name="Shape 37"/>
          <p:cNvSpPr/>
          <p:nvPr/>
        </p:nvSpPr>
        <p:spPr>
          <a:xfrm flipH="1">
            <a:off x="2135124" y="1664208"/>
            <a:ext cx="182880" cy="182880"/>
          </a:xfrm>
          <a:prstGeom prst="line">
            <a:avLst/>
          </a:prstGeom>
          <a:noFill/>
          <a:ln w="15875">
            <a:solidFill>
              <a:srgbClr val="C8414C"/>
            </a:solidFill>
            <a:prstDash val="solid"/>
            <a:tailEnd type="triangle"/>
          </a:ln>
        </p:spPr>
      </p:sp>
      <p:sp>
        <p:nvSpPr>
          <p:cNvPr id="40" name="Shape 38"/>
          <p:cNvSpPr/>
          <p:nvPr/>
        </p:nvSpPr>
        <p:spPr>
          <a:xfrm flipH="1" flipV="1">
            <a:off x="1952244" y="1664208"/>
            <a:ext cx="182880" cy="182880"/>
          </a:xfrm>
          <a:prstGeom prst="line">
            <a:avLst/>
          </a:prstGeom>
          <a:noFill/>
          <a:ln w="15875">
            <a:solidFill>
              <a:srgbClr val="C8414C"/>
            </a:solidFill>
            <a:prstDash val="solid"/>
          </a:ln>
        </p:spPr>
      </p:sp>
      <p:sp>
        <p:nvSpPr>
          <p:cNvPr id="41" name="Shape 39"/>
          <p:cNvSpPr/>
          <p:nvPr/>
        </p:nvSpPr>
        <p:spPr>
          <a:xfrm flipH="1">
            <a:off x="1769364" y="1664208"/>
            <a:ext cx="182880" cy="182880"/>
          </a:xfrm>
          <a:prstGeom prst="line">
            <a:avLst/>
          </a:prstGeom>
          <a:noFill/>
          <a:ln w="15875">
            <a:solidFill>
              <a:srgbClr val="C8414C"/>
            </a:solidFill>
            <a:prstDash val="solid"/>
            <a:tailEnd type="triangle"/>
          </a:ln>
        </p:spPr>
      </p:sp>
      <p:sp>
        <p:nvSpPr>
          <p:cNvPr id="42" name="Shape 40"/>
          <p:cNvSpPr/>
          <p:nvPr/>
        </p:nvSpPr>
        <p:spPr>
          <a:xfrm flipH="1" flipV="1">
            <a:off x="1586484" y="1664208"/>
            <a:ext cx="182880" cy="182880"/>
          </a:xfrm>
          <a:prstGeom prst="line">
            <a:avLst/>
          </a:prstGeom>
          <a:noFill/>
          <a:ln w="15875">
            <a:solidFill>
              <a:srgbClr val="C8414C"/>
            </a:solidFill>
            <a:prstDash val="solid"/>
          </a:ln>
        </p:spPr>
      </p:sp>
      <p:sp>
        <p:nvSpPr>
          <p:cNvPr id="43" name="Shape 41"/>
          <p:cNvSpPr/>
          <p:nvPr/>
        </p:nvSpPr>
        <p:spPr>
          <a:xfrm flipH="1">
            <a:off x="1403604" y="1664208"/>
            <a:ext cx="182880" cy="182880"/>
          </a:xfrm>
          <a:prstGeom prst="line">
            <a:avLst/>
          </a:prstGeom>
          <a:noFill/>
          <a:ln w="15875">
            <a:solidFill>
              <a:srgbClr val="C8414C"/>
            </a:solidFill>
            <a:prstDash val="solid"/>
            <a:tailEnd type="triangle"/>
          </a:ln>
        </p:spPr>
      </p:sp>
      <p:sp>
        <p:nvSpPr>
          <p:cNvPr id="44" name="Shape 42"/>
          <p:cNvSpPr/>
          <p:nvPr/>
        </p:nvSpPr>
        <p:spPr>
          <a:xfrm flipH="1" flipV="1">
            <a:off x="1220724" y="1664208"/>
            <a:ext cx="182880" cy="182880"/>
          </a:xfrm>
          <a:prstGeom prst="line">
            <a:avLst/>
          </a:prstGeom>
          <a:noFill/>
          <a:ln w="15875">
            <a:solidFill>
              <a:srgbClr val="C8414C"/>
            </a:solidFill>
            <a:prstDash val="solid"/>
          </a:ln>
        </p:spPr>
      </p:sp>
      <p:sp>
        <p:nvSpPr>
          <p:cNvPr id="45" name="Shape 43"/>
          <p:cNvSpPr/>
          <p:nvPr/>
        </p:nvSpPr>
        <p:spPr>
          <a:xfrm flipH="1">
            <a:off x="1037844" y="1664208"/>
            <a:ext cx="182880" cy="182880"/>
          </a:xfrm>
          <a:prstGeom prst="line">
            <a:avLst/>
          </a:prstGeom>
          <a:noFill/>
          <a:ln w="15875">
            <a:solidFill>
              <a:srgbClr val="C8414C"/>
            </a:solidFill>
            <a:prstDash val="solid"/>
            <a:tailEnd type="triangle"/>
          </a:ln>
        </p:spPr>
      </p:sp>
      <p:sp>
        <p:nvSpPr>
          <p:cNvPr id="46" name="Text 44"/>
          <p:cNvSpPr/>
          <p:nvPr/>
        </p:nvSpPr>
        <p:spPr>
          <a:xfrm>
            <a:off x="685800" y="2304288"/>
            <a:ext cx="38404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point moves 8 places left →  power +8</a:t>
            </a:r>
            <a:endParaRPr lang="en-US" sz="1050" dirty="0"/>
          </a:p>
        </p:txBody>
      </p:sp>
      <p:sp>
        <p:nvSpPr>
          <p:cNvPr id="47" name="Text 45"/>
          <p:cNvSpPr/>
          <p:nvPr/>
        </p:nvSpPr>
        <p:spPr>
          <a:xfrm>
            <a:off x="4206240" y="1901952"/>
            <a:ext cx="1645920" cy="329184"/>
          </a:xfrm>
          <a:prstGeom prst="rect">
            <a:avLst/>
          </a:prstGeom>
          <a:noFill/>
          <a:ln/>
        </p:spPr>
        <p:txBody>
          <a:bodyPr wrap="square" lIns="0" tIns="0" rIns="0" bIns="0" rtlCol="0" anchor="ctr"/>
          <a:lstStyle/>
          <a:p>
            <a:pPr algn="l" indent="0" marL="0">
              <a:buNone/>
            </a:pPr>
            <a:r>
              <a:rPr lang="en-US" sz="1400" b="1" dirty="0">
                <a:solidFill>
                  <a:srgbClr val="2E5BD8"/>
                </a:solidFill>
                <a:latin typeface="Calibri" pitchFamily="34" charset="0"/>
                <a:ea typeface="Calibri" pitchFamily="34" charset="-122"/>
                <a:cs typeface="Calibri" pitchFamily="34" charset="-120"/>
              </a:rPr>
              <a:t>= 3.0 × 10⁸ m/s</a:t>
            </a:r>
            <a:endParaRPr lang="en-US" sz="1400" dirty="0"/>
          </a:p>
        </p:txBody>
      </p:sp>
      <p:sp>
        <p:nvSpPr>
          <p:cNvPr id="48" name="Text 46"/>
          <p:cNvSpPr/>
          <p:nvPr/>
        </p:nvSpPr>
        <p:spPr>
          <a:xfrm>
            <a:off x="640080" y="2606040"/>
            <a:ext cx="512064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A small number: the wavelength of green light</a:t>
            </a:r>
            <a:endParaRPr lang="en-US" sz="1150" dirty="0"/>
          </a:p>
        </p:txBody>
      </p:sp>
      <p:sp>
        <p:nvSpPr>
          <p:cNvPr id="49" name="Shape 47"/>
          <p:cNvSpPr/>
          <p:nvPr/>
        </p:nvSpPr>
        <p:spPr>
          <a:xfrm>
            <a:off x="685800" y="2880360"/>
            <a:ext cx="338328" cy="384048"/>
          </a:xfrm>
          <a:prstGeom prst="rect">
            <a:avLst/>
          </a:prstGeom>
          <a:solidFill>
            <a:srgbClr val="EEF0F4"/>
          </a:solidFill>
          <a:ln w="9525">
            <a:solidFill>
              <a:srgbClr val="C3C8D3"/>
            </a:solidFill>
            <a:prstDash val="solid"/>
          </a:ln>
        </p:spPr>
      </p:sp>
      <p:sp>
        <p:nvSpPr>
          <p:cNvPr id="50" name="Text 48"/>
          <p:cNvSpPr/>
          <p:nvPr/>
        </p:nvSpPr>
        <p:spPr>
          <a:xfrm>
            <a:off x="68580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51" name="Shape 49"/>
          <p:cNvSpPr/>
          <p:nvPr/>
        </p:nvSpPr>
        <p:spPr>
          <a:xfrm>
            <a:off x="1051560" y="2880360"/>
            <a:ext cx="338328" cy="384048"/>
          </a:xfrm>
          <a:prstGeom prst="rect">
            <a:avLst/>
          </a:prstGeom>
          <a:solidFill>
            <a:srgbClr val="EEF0F4"/>
          </a:solidFill>
          <a:ln w="9525">
            <a:solidFill>
              <a:srgbClr val="C3C8D3"/>
            </a:solidFill>
            <a:prstDash val="solid"/>
          </a:ln>
        </p:spPr>
      </p:sp>
      <p:sp>
        <p:nvSpPr>
          <p:cNvPr id="52" name="Text 50"/>
          <p:cNvSpPr/>
          <p:nvPr/>
        </p:nvSpPr>
        <p:spPr>
          <a:xfrm>
            <a:off x="105156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a:t>
            </a:r>
            <a:endParaRPr lang="en-US" sz="1600" dirty="0"/>
          </a:p>
        </p:txBody>
      </p:sp>
      <p:sp>
        <p:nvSpPr>
          <p:cNvPr id="53" name="Shape 51"/>
          <p:cNvSpPr/>
          <p:nvPr/>
        </p:nvSpPr>
        <p:spPr>
          <a:xfrm>
            <a:off x="1417320" y="2880360"/>
            <a:ext cx="338328" cy="384048"/>
          </a:xfrm>
          <a:prstGeom prst="rect">
            <a:avLst/>
          </a:prstGeom>
          <a:solidFill>
            <a:srgbClr val="EEF0F4"/>
          </a:solidFill>
          <a:ln w="9525">
            <a:solidFill>
              <a:srgbClr val="C3C8D3"/>
            </a:solidFill>
            <a:prstDash val="solid"/>
          </a:ln>
        </p:spPr>
      </p:sp>
      <p:sp>
        <p:nvSpPr>
          <p:cNvPr id="54" name="Text 52"/>
          <p:cNvSpPr/>
          <p:nvPr/>
        </p:nvSpPr>
        <p:spPr>
          <a:xfrm>
            <a:off x="141732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55" name="Shape 53"/>
          <p:cNvSpPr/>
          <p:nvPr/>
        </p:nvSpPr>
        <p:spPr>
          <a:xfrm>
            <a:off x="1783080" y="2880360"/>
            <a:ext cx="338328" cy="384048"/>
          </a:xfrm>
          <a:prstGeom prst="rect">
            <a:avLst/>
          </a:prstGeom>
          <a:solidFill>
            <a:srgbClr val="EEF0F4"/>
          </a:solidFill>
          <a:ln w="9525">
            <a:solidFill>
              <a:srgbClr val="C3C8D3"/>
            </a:solidFill>
            <a:prstDash val="solid"/>
          </a:ln>
        </p:spPr>
      </p:sp>
      <p:sp>
        <p:nvSpPr>
          <p:cNvPr id="56" name="Text 54"/>
          <p:cNvSpPr/>
          <p:nvPr/>
        </p:nvSpPr>
        <p:spPr>
          <a:xfrm>
            <a:off x="178308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57" name="Shape 55"/>
          <p:cNvSpPr/>
          <p:nvPr/>
        </p:nvSpPr>
        <p:spPr>
          <a:xfrm>
            <a:off x="2148840" y="2880360"/>
            <a:ext cx="338328" cy="384048"/>
          </a:xfrm>
          <a:prstGeom prst="rect">
            <a:avLst/>
          </a:prstGeom>
          <a:solidFill>
            <a:srgbClr val="EEF0F4"/>
          </a:solidFill>
          <a:ln w="9525">
            <a:solidFill>
              <a:srgbClr val="C3C8D3"/>
            </a:solidFill>
            <a:prstDash val="solid"/>
          </a:ln>
        </p:spPr>
      </p:sp>
      <p:sp>
        <p:nvSpPr>
          <p:cNvPr id="58" name="Text 56"/>
          <p:cNvSpPr/>
          <p:nvPr/>
        </p:nvSpPr>
        <p:spPr>
          <a:xfrm>
            <a:off x="214884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59" name="Shape 57"/>
          <p:cNvSpPr/>
          <p:nvPr/>
        </p:nvSpPr>
        <p:spPr>
          <a:xfrm>
            <a:off x="2514600" y="2880360"/>
            <a:ext cx="338328" cy="384048"/>
          </a:xfrm>
          <a:prstGeom prst="rect">
            <a:avLst/>
          </a:prstGeom>
          <a:solidFill>
            <a:srgbClr val="EEF0F4"/>
          </a:solidFill>
          <a:ln w="9525">
            <a:solidFill>
              <a:srgbClr val="C3C8D3"/>
            </a:solidFill>
            <a:prstDash val="solid"/>
          </a:ln>
        </p:spPr>
      </p:sp>
      <p:sp>
        <p:nvSpPr>
          <p:cNvPr id="60" name="Text 58"/>
          <p:cNvSpPr/>
          <p:nvPr/>
        </p:nvSpPr>
        <p:spPr>
          <a:xfrm>
            <a:off x="251460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61" name="Shape 59"/>
          <p:cNvSpPr/>
          <p:nvPr/>
        </p:nvSpPr>
        <p:spPr>
          <a:xfrm>
            <a:off x="2880360" y="2880360"/>
            <a:ext cx="338328" cy="384048"/>
          </a:xfrm>
          <a:prstGeom prst="rect">
            <a:avLst/>
          </a:prstGeom>
          <a:solidFill>
            <a:srgbClr val="EEF0F4"/>
          </a:solidFill>
          <a:ln w="9525">
            <a:solidFill>
              <a:srgbClr val="C3C8D3"/>
            </a:solidFill>
            <a:prstDash val="solid"/>
          </a:ln>
        </p:spPr>
      </p:sp>
      <p:sp>
        <p:nvSpPr>
          <p:cNvPr id="62" name="Text 60"/>
          <p:cNvSpPr/>
          <p:nvPr/>
        </p:nvSpPr>
        <p:spPr>
          <a:xfrm>
            <a:off x="288036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63" name="Shape 61"/>
          <p:cNvSpPr/>
          <p:nvPr/>
        </p:nvSpPr>
        <p:spPr>
          <a:xfrm>
            <a:off x="3246120" y="2880360"/>
            <a:ext cx="338328" cy="384048"/>
          </a:xfrm>
          <a:prstGeom prst="rect">
            <a:avLst/>
          </a:prstGeom>
          <a:solidFill>
            <a:srgbClr val="EEF0F4"/>
          </a:solidFill>
          <a:ln w="9525">
            <a:solidFill>
              <a:srgbClr val="C3C8D3"/>
            </a:solidFill>
            <a:prstDash val="solid"/>
          </a:ln>
        </p:spPr>
      </p:sp>
      <p:sp>
        <p:nvSpPr>
          <p:cNvPr id="64" name="Text 62"/>
          <p:cNvSpPr/>
          <p:nvPr/>
        </p:nvSpPr>
        <p:spPr>
          <a:xfrm>
            <a:off x="3246120" y="2880360"/>
            <a:ext cx="338328"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65" name="Shape 63"/>
          <p:cNvSpPr/>
          <p:nvPr/>
        </p:nvSpPr>
        <p:spPr>
          <a:xfrm>
            <a:off x="3611880" y="2880360"/>
            <a:ext cx="338328" cy="384048"/>
          </a:xfrm>
          <a:prstGeom prst="rect">
            <a:avLst/>
          </a:prstGeom>
          <a:solidFill>
            <a:srgbClr val="DCE6FB"/>
          </a:solidFill>
          <a:ln w="9525">
            <a:solidFill>
              <a:srgbClr val="D5DCEB"/>
            </a:solidFill>
            <a:prstDash val="solid"/>
          </a:ln>
        </p:spPr>
      </p:sp>
      <p:sp>
        <p:nvSpPr>
          <p:cNvPr id="66" name="Text 64"/>
          <p:cNvSpPr/>
          <p:nvPr/>
        </p:nvSpPr>
        <p:spPr>
          <a:xfrm>
            <a:off x="3611880" y="2880360"/>
            <a:ext cx="338328"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5</a:t>
            </a:r>
            <a:endParaRPr lang="en-US" sz="1600" dirty="0"/>
          </a:p>
        </p:txBody>
      </p:sp>
      <p:sp>
        <p:nvSpPr>
          <p:cNvPr id="67" name="Shape 65"/>
          <p:cNvSpPr/>
          <p:nvPr/>
        </p:nvSpPr>
        <p:spPr>
          <a:xfrm>
            <a:off x="3977640" y="2880360"/>
            <a:ext cx="338328" cy="384048"/>
          </a:xfrm>
          <a:prstGeom prst="rect">
            <a:avLst/>
          </a:prstGeom>
          <a:solidFill>
            <a:srgbClr val="DCE6FB"/>
          </a:solidFill>
          <a:ln w="9525">
            <a:solidFill>
              <a:srgbClr val="D5DCEB"/>
            </a:solidFill>
            <a:prstDash val="solid"/>
          </a:ln>
        </p:spPr>
      </p:sp>
      <p:sp>
        <p:nvSpPr>
          <p:cNvPr id="68" name="Text 66"/>
          <p:cNvSpPr/>
          <p:nvPr/>
        </p:nvSpPr>
        <p:spPr>
          <a:xfrm>
            <a:off x="3977640" y="2880360"/>
            <a:ext cx="338328"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2</a:t>
            </a:r>
            <a:endParaRPr lang="en-US" sz="1600" dirty="0"/>
          </a:p>
        </p:txBody>
      </p:sp>
      <p:sp>
        <p:nvSpPr>
          <p:cNvPr id="69" name="Shape 67"/>
          <p:cNvSpPr/>
          <p:nvPr/>
        </p:nvSpPr>
        <p:spPr>
          <a:xfrm>
            <a:off x="1220724" y="3291840"/>
            <a:ext cx="274320" cy="182880"/>
          </a:xfrm>
          <a:prstGeom prst="line">
            <a:avLst/>
          </a:prstGeom>
          <a:noFill/>
          <a:ln w="15875">
            <a:solidFill>
              <a:srgbClr val="C8414C"/>
            </a:solidFill>
            <a:prstDash val="solid"/>
          </a:ln>
        </p:spPr>
      </p:sp>
      <p:sp>
        <p:nvSpPr>
          <p:cNvPr id="70" name="Shape 68"/>
          <p:cNvSpPr/>
          <p:nvPr/>
        </p:nvSpPr>
        <p:spPr>
          <a:xfrm flipV="1">
            <a:off x="1495044" y="3291840"/>
            <a:ext cx="274320" cy="182880"/>
          </a:xfrm>
          <a:prstGeom prst="line">
            <a:avLst/>
          </a:prstGeom>
          <a:noFill/>
          <a:ln w="15875">
            <a:solidFill>
              <a:srgbClr val="C8414C"/>
            </a:solidFill>
            <a:prstDash val="solid"/>
            <a:tailEnd type="triangle"/>
          </a:ln>
        </p:spPr>
      </p:sp>
      <p:sp>
        <p:nvSpPr>
          <p:cNvPr id="71" name="Shape 69"/>
          <p:cNvSpPr/>
          <p:nvPr/>
        </p:nvSpPr>
        <p:spPr>
          <a:xfrm>
            <a:off x="1769364" y="3291840"/>
            <a:ext cx="182880" cy="182880"/>
          </a:xfrm>
          <a:prstGeom prst="line">
            <a:avLst/>
          </a:prstGeom>
          <a:noFill/>
          <a:ln w="15875">
            <a:solidFill>
              <a:srgbClr val="C8414C"/>
            </a:solidFill>
            <a:prstDash val="solid"/>
          </a:ln>
        </p:spPr>
      </p:sp>
      <p:sp>
        <p:nvSpPr>
          <p:cNvPr id="72" name="Shape 70"/>
          <p:cNvSpPr/>
          <p:nvPr/>
        </p:nvSpPr>
        <p:spPr>
          <a:xfrm flipV="1">
            <a:off x="1952244" y="3291840"/>
            <a:ext cx="182880" cy="182880"/>
          </a:xfrm>
          <a:prstGeom prst="line">
            <a:avLst/>
          </a:prstGeom>
          <a:noFill/>
          <a:ln w="15875">
            <a:solidFill>
              <a:srgbClr val="C8414C"/>
            </a:solidFill>
            <a:prstDash val="solid"/>
            <a:tailEnd type="triangle"/>
          </a:ln>
        </p:spPr>
      </p:sp>
      <p:sp>
        <p:nvSpPr>
          <p:cNvPr id="73" name="Shape 71"/>
          <p:cNvSpPr/>
          <p:nvPr/>
        </p:nvSpPr>
        <p:spPr>
          <a:xfrm>
            <a:off x="2135124" y="3291840"/>
            <a:ext cx="182880" cy="182880"/>
          </a:xfrm>
          <a:prstGeom prst="line">
            <a:avLst/>
          </a:prstGeom>
          <a:noFill/>
          <a:ln w="15875">
            <a:solidFill>
              <a:srgbClr val="C8414C"/>
            </a:solidFill>
            <a:prstDash val="solid"/>
          </a:ln>
        </p:spPr>
      </p:sp>
      <p:sp>
        <p:nvSpPr>
          <p:cNvPr id="74" name="Shape 72"/>
          <p:cNvSpPr/>
          <p:nvPr/>
        </p:nvSpPr>
        <p:spPr>
          <a:xfrm flipV="1">
            <a:off x="2318004" y="3291840"/>
            <a:ext cx="182880" cy="182880"/>
          </a:xfrm>
          <a:prstGeom prst="line">
            <a:avLst/>
          </a:prstGeom>
          <a:noFill/>
          <a:ln w="15875">
            <a:solidFill>
              <a:srgbClr val="C8414C"/>
            </a:solidFill>
            <a:prstDash val="solid"/>
            <a:tailEnd type="triangle"/>
          </a:ln>
        </p:spPr>
      </p:sp>
      <p:sp>
        <p:nvSpPr>
          <p:cNvPr id="75" name="Shape 73"/>
          <p:cNvSpPr/>
          <p:nvPr/>
        </p:nvSpPr>
        <p:spPr>
          <a:xfrm>
            <a:off x="2500884" y="3291840"/>
            <a:ext cx="182880" cy="182880"/>
          </a:xfrm>
          <a:prstGeom prst="line">
            <a:avLst/>
          </a:prstGeom>
          <a:noFill/>
          <a:ln w="15875">
            <a:solidFill>
              <a:srgbClr val="C8414C"/>
            </a:solidFill>
            <a:prstDash val="solid"/>
          </a:ln>
        </p:spPr>
      </p:sp>
      <p:sp>
        <p:nvSpPr>
          <p:cNvPr id="76" name="Shape 74"/>
          <p:cNvSpPr/>
          <p:nvPr/>
        </p:nvSpPr>
        <p:spPr>
          <a:xfrm flipV="1">
            <a:off x="2683764" y="3291840"/>
            <a:ext cx="182880" cy="182880"/>
          </a:xfrm>
          <a:prstGeom prst="line">
            <a:avLst/>
          </a:prstGeom>
          <a:noFill/>
          <a:ln w="15875">
            <a:solidFill>
              <a:srgbClr val="C8414C"/>
            </a:solidFill>
            <a:prstDash val="solid"/>
            <a:tailEnd type="triangle"/>
          </a:ln>
        </p:spPr>
      </p:sp>
      <p:sp>
        <p:nvSpPr>
          <p:cNvPr id="77" name="Shape 75"/>
          <p:cNvSpPr/>
          <p:nvPr/>
        </p:nvSpPr>
        <p:spPr>
          <a:xfrm>
            <a:off x="2866644" y="3291840"/>
            <a:ext cx="182880" cy="182880"/>
          </a:xfrm>
          <a:prstGeom prst="line">
            <a:avLst/>
          </a:prstGeom>
          <a:noFill/>
          <a:ln w="15875">
            <a:solidFill>
              <a:srgbClr val="C8414C"/>
            </a:solidFill>
            <a:prstDash val="solid"/>
          </a:ln>
        </p:spPr>
      </p:sp>
      <p:sp>
        <p:nvSpPr>
          <p:cNvPr id="78" name="Shape 76"/>
          <p:cNvSpPr/>
          <p:nvPr/>
        </p:nvSpPr>
        <p:spPr>
          <a:xfrm flipV="1">
            <a:off x="3049524" y="3291840"/>
            <a:ext cx="182880" cy="182880"/>
          </a:xfrm>
          <a:prstGeom prst="line">
            <a:avLst/>
          </a:prstGeom>
          <a:noFill/>
          <a:ln w="15875">
            <a:solidFill>
              <a:srgbClr val="C8414C"/>
            </a:solidFill>
            <a:prstDash val="solid"/>
            <a:tailEnd type="triangle"/>
          </a:ln>
        </p:spPr>
      </p:sp>
      <p:sp>
        <p:nvSpPr>
          <p:cNvPr id="79" name="Shape 77"/>
          <p:cNvSpPr/>
          <p:nvPr/>
        </p:nvSpPr>
        <p:spPr>
          <a:xfrm>
            <a:off x="3232404" y="3291840"/>
            <a:ext cx="182880" cy="182880"/>
          </a:xfrm>
          <a:prstGeom prst="line">
            <a:avLst/>
          </a:prstGeom>
          <a:noFill/>
          <a:ln w="15875">
            <a:solidFill>
              <a:srgbClr val="C8414C"/>
            </a:solidFill>
            <a:prstDash val="solid"/>
          </a:ln>
        </p:spPr>
      </p:sp>
      <p:sp>
        <p:nvSpPr>
          <p:cNvPr id="80" name="Shape 78"/>
          <p:cNvSpPr/>
          <p:nvPr/>
        </p:nvSpPr>
        <p:spPr>
          <a:xfrm flipV="1">
            <a:off x="3415284" y="3291840"/>
            <a:ext cx="182880" cy="182880"/>
          </a:xfrm>
          <a:prstGeom prst="line">
            <a:avLst/>
          </a:prstGeom>
          <a:noFill/>
          <a:ln w="15875">
            <a:solidFill>
              <a:srgbClr val="C8414C"/>
            </a:solidFill>
            <a:prstDash val="solid"/>
            <a:tailEnd type="triangle"/>
          </a:ln>
        </p:spPr>
      </p:sp>
      <p:sp>
        <p:nvSpPr>
          <p:cNvPr id="81" name="Shape 79"/>
          <p:cNvSpPr/>
          <p:nvPr/>
        </p:nvSpPr>
        <p:spPr>
          <a:xfrm>
            <a:off x="3598164" y="3291840"/>
            <a:ext cx="182880" cy="182880"/>
          </a:xfrm>
          <a:prstGeom prst="line">
            <a:avLst/>
          </a:prstGeom>
          <a:noFill/>
          <a:ln w="15875">
            <a:solidFill>
              <a:srgbClr val="C8414C"/>
            </a:solidFill>
            <a:prstDash val="solid"/>
          </a:ln>
        </p:spPr>
      </p:sp>
      <p:sp>
        <p:nvSpPr>
          <p:cNvPr id="82" name="Shape 80"/>
          <p:cNvSpPr/>
          <p:nvPr/>
        </p:nvSpPr>
        <p:spPr>
          <a:xfrm flipV="1">
            <a:off x="3781044" y="3291840"/>
            <a:ext cx="182880" cy="182880"/>
          </a:xfrm>
          <a:prstGeom prst="line">
            <a:avLst/>
          </a:prstGeom>
          <a:noFill/>
          <a:ln w="15875">
            <a:solidFill>
              <a:srgbClr val="C8414C"/>
            </a:solidFill>
            <a:prstDash val="solid"/>
            <a:tailEnd type="triangle"/>
          </a:ln>
        </p:spPr>
      </p:sp>
      <p:sp>
        <p:nvSpPr>
          <p:cNvPr id="83" name="Text 81"/>
          <p:cNvSpPr/>
          <p:nvPr/>
        </p:nvSpPr>
        <p:spPr>
          <a:xfrm>
            <a:off x="685800" y="3511296"/>
            <a:ext cx="38404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point moves 7 places right →  power −7</a:t>
            </a:r>
            <a:endParaRPr lang="en-US" sz="1050" dirty="0"/>
          </a:p>
        </p:txBody>
      </p:sp>
      <p:sp>
        <p:nvSpPr>
          <p:cNvPr id="84" name="Text 82"/>
          <p:cNvSpPr/>
          <p:nvPr/>
        </p:nvSpPr>
        <p:spPr>
          <a:xfrm>
            <a:off x="4434840" y="2907792"/>
            <a:ext cx="1463040" cy="329184"/>
          </a:xfrm>
          <a:prstGeom prst="rect">
            <a:avLst/>
          </a:prstGeom>
          <a:noFill/>
          <a:ln/>
        </p:spPr>
        <p:txBody>
          <a:bodyPr wrap="square" lIns="0" tIns="0" rIns="0" bIns="0" rtlCol="0" anchor="ctr"/>
          <a:lstStyle/>
          <a:p>
            <a:pPr algn="l" indent="0" marL="0">
              <a:buNone/>
            </a:pPr>
            <a:r>
              <a:rPr lang="en-US" sz="1400" b="1" dirty="0">
                <a:solidFill>
                  <a:srgbClr val="2E5BD8"/>
                </a:solidFill>
                <a:latin typeface="Calibri" pitchFamily="34" charset="0"/>
                <a:ea typeface="Calibri" pitchFamily="34" charset="-122"/>
                <a:cs typeface="Calibri" pitchFamily="34" charset="-120"/>
              </a:rPr>
              <a:t>= 5.2 × 10⁻⁷ m</a:t>
            </a:r>
            <a:endParaRPr lang="en-US" sz="1400" dirty="0"/>
          </a:p>
        </p:txBody>
      </p:sp>
      <p:sp>
        <p:nvSpPr>
          <p:cNvPr id="85" name="Shape 83"/>
          <p:cNvSpPr/>
          <p:nvPr/>
        </p:nvSpPr>
        <p:spPr>
          <a:xfrm>
            <a:off x="685800" y="4343400"/>
            <a:ext cx="5029200" cy="868680"/>
          </a:xfrm>
          <a:prstGeom prst="roundRect">
            <a:avLst>
              <a:gd name="adj" fmla="val 6316"/>
            </a:avLst>
          </a:prstGeom>
          <a:solidFill>
            <a:srgbClr val="FFFFFF"/>
          </a:solidFill>
          <a:ln w="12700">
            <a:solidFill>
              <a:srgbClr val="D5DCEB"/>
            </a:solidFill>
            <a:prstDash val="solid"/>
          </a:ln>
        </p:spPr>
      </p:sp>
      <p:sp>
        <p:nvSpPr>
          <p:cNvPr id="86" name="Text 84"/>
          <p:cNvSpPr/>
          <p:nvPr/>
        </p:nvSpPr>
        <p:spPr>
          <a:xfrm>
            <a:off x="822960" y="4389120"/>
            <a:ext cx="4754880" cy="256032"/>
          </a:xfrm>
          <a:prstGeom prst="rect">
            <a:avLst/>
          </a:prstGeom>
          <a:noFill/>
          <a:ln/>
        </p:spPr>
        <p:txBody>
          <a:bodyPr wrap="square" lIns="0" tIns="0" rIns="0" bIns="0" rtlCol="0" anchor="ctr"/>
          <a:lstStyle/>
          <a:p>
            <a:pPr algn="l" indent="0" marL="0">
              <a:buNone/>
            </a:pPr>
            <a:r>
              <a:rPr lang="en-US" sz="1050" b="1" dirty="0">
                <a:solidFill>
                  <a:srgbClr val="6B7385"/>
                </a:solidFill>
                <a:latin typeface="Calibri" pitchFamily="34" charset="0"/>
                <a:ea typeface="Calibri" pitchFamily="34" charset="-122"/>
                <a:cs typeface="Calibri" pitchFamily="34" charset="-120"/>
              </a:rPr>
              <a:t>On a calculator, type 3.0 × 10⁸ as:</a:t>
            </a:r>
            <a:endParaRPr lang="en-US" sz="1050" dirty="0"/>
          </a:p>
        </p:txBody>
      </p:sp>
      <p:sp>
        <p:nvSpPr>
          <p:cNvPr id="87" name="Shape 85"/>
          <p:cNvSpPr/>
          <p:nvPr/>
        </p:nvSpPr>
        <p:spPr>
          <a:xfrm>
            <a:off x="868680" y="4663440"/>
            <a:ext cx="411480" cy="411480"/>
          </a:xfrm>
          <a:prstGeom prst="roundRect">
            <a:avLst>
              <a:gd name="adj" fmla="val 13333"/>
            </a:avLst>
          </a:prstGeom>
          <a:solidFill>
            <a:srgbClr val="E9ECF2"/>
          </a:solidFill>
          <a:ln w="12700">
            <a:solidFill>
              <a:srgbClr val="6B7385"/>
            </a:solidFill>
            <a:prstDash val="solid"/>
          </a:ln>
        </p:spPr>
      </p:sp>
      <p:sp>
        <p:nvSpPr>
          <p:cNvPr id="88" name="Text 86"/>
          <p:cNvSpPr/>
          <p:nvPr/>
        </p:nvSpPr>
        <p:spPr>
          <a:xfrm>
            <a:off x="868680" y="4663440"/>
            <a:ext cx="411480" cy="41148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3</a:t>
            </a:r>
            <a:endParaRPr lang="en-US" sz="1300" dirty="0"/>
          </a:p>
        </p:txBody>
      </p:sp>
      <p:sp>
        <p:nvSpPr>
          <p:cNvPr id="89" name="Shape 87"/>
          <p:cNvSpPr/>
          <p:nvPr/>
        </p:nvSpPr>
        <p:spPr>
          <a:xfrm>
            <a:off x="1371600" y="4663440"/>
            <a:ext cx="411480" cy="411480"/>
          </a:xfrm>
          <a:prstGeom prst="roundRect">
            <a:avLst>
              <a:gd name="adj" fmla="val 13333"/>
            </a:avLst>
          </a:prstGeom>
          <a:solidFill>
            <a:srgbClr val="E9ECF2"/>
          </a:solidFill>
          <a:ln w="12700">
            <a:solidFill>
              <a:srgbClr val="6B7385"/>
            </a:solidFill>
            <a:prstDash val="solid"/>
          </a:ln>
        </p:spPr>
      </p:sp>
      <p:sp>
        <p:nvSpPr>
          <p:cNvPr id="90" name="Text 88"/>
          <p:cNvSpPr/>
          <p:nvPr/>
        </p:nvSpPr>
        <p:spPr>
          <a:xfrm>
            <a:off x="1371600" y="4663440"/>
            <a:ext cx="411480" cy="41148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t>
            </a:r>
            <a:endParaRPr lang="en-US" sz="1300" dirty="0"/>
          </a:p>
        </p:txBody>
      </p:sp>
      <p:sp>
        <p:nvSpPr>
          <p:cNvPr id="91" name="Shape 89"/>
          <p:cNvSpPr/>
          <p:nvPr/>
        </p:nvSpPr>
        <p:spPr>
          <a:xfrm>
            <a:off x="1874520" y="4663440"/>
            <a:ext cx="411480" cy="411480"/>
          </a:xfrm>
          <a:prstGeom prst="roundRect">
            <a:avLst>
              <a:gd name="adj" fmla="val 13333"/>
            </a:avLst>
          </a:prstGeom>
          <a:solidFill>
            <a:srgbClr val="E9ECF2"/>
          </a:solidFill>
          <a:ln w="12700">
            <a:solidFill>
              <a:srgbClr val="6B7385"/>
            </a:solidFill>
            <a:prstDash val="solid"/>
          </a:ln>
        </p:spPr>
      </p:sp>
      <p:sp>
        <p:nvSpPr>
          <p:cNvPr id="92" name="Text 90"/>
          <p:cNvSpPr/>
          <p:nvPr/>
        </p:nvSpPr>
        <p:spPr>
          <a:xfrm>
            <a:off x="1874520" y="4663440"/>
            <a:ext cx="411480" cy="41148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0</a:t>
            </a:r>
            <a:endParaRPr lang="en-US" sz="1300" dirty="0"/>
          </a:p>
        </p:txBody>
      </p:sp>
      <p:sp>
        <p:nvSpPr>
          <p:cNvPr id="93" name="Shape 91"/>
          <p:cNvSpPr/>
          <p:nvPr/>
        </p:nvSpPr>
        <p:spPr>
          <a:xfrm>
            <a:off x="2377440" y="4663440"/>
            <a:ext cx="731520" cy="411480"/>
          </a:xfrm>
          <a:prstGeom prst="roundRect">
            <a:avLst>
              <a:gd name="adj" fmla="val 13333"/>
            </a:avLst>
          </a:prstGeom>
          <a:solidFill>
            <a:srgbClr val="1A2340"/>
          </a:solidFill>
          <a:ln w="12700">
            <a:solidFill>
              <a:srgbClr val="6B7385"/>
            </a:solidFill>
            <a:prstDash val="solid"/>
          </a:ln>
        </p:spPr>
      </p:sp>
      <p:sp>
        <p:nvSpPr>
          <p:cNvPr id="94" name="Text 92"/>
          <p:cNvSpPr/>
          <p:nvPr/>
        </p:nvSpPr>
        <p:spPr>
          <a:xfrm>
            <a:off x="2377440" y="4663440"/>
            <a:ext cx="7315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×10ˣ</a:t>
            </a:r>
            <a:endParaRPr lang="en-US" sz="1300" dirty="0"/>
          </a:p>
        </p:txBody>
      </p:sp>
      <p:sp>
        <p:nvSpPr>
          <p:cNvPr id="95" name="Shape 93"/>
          <p:cNvSpPr/>
          <p:nvPr/>
        </p:nvSpPr>
        <p:spPr>
          <a:xfrm>
            <a:off x="3200400" y="4663440"/>
            <a:ext cx="411480" cy="411480"/>
          </a:xfrm>
          <a:prstGeom prst="roundRect">
            <a:avLst>
              <a:gd name="adj" fmla="val 13333"/>
            </a:avLst>
          </a:prstGeom>
          <a:solidFill>
            <a:srgbClr val="E9ECF2"/>
          </a:solidFill>
          <a:ln w="12700">
            <a:solidFill>
              <a:srgbClr val="6B7385"/>
            </a:solidFill>
            <a:prstDash val="solid"/>
          </a:ln>
        </p:spPr>
      </p:sp>
      <p:sp>
        <p:nvSpPr>
          <p:cNvPr id="96" name="Text 94"/>
          <p:cNvSpPr/>
          <p:nvPr/>
        </p:nvSpPr>
        <p:spPr>
          <a:xfrm>
            <a:off x="3200400" y="4663440"/>
            <a:ext cx="411480" cy="411480"/>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8</a:t>
            </a:r>
            <a:endParaRPr lang="en-US" sz="1300" dirty="0"/>
          </a:p>
        </p:txBody>
      </p:sp>
      <p:sp>
        <p:nvSpPr>
          <p:cNvPr id="97" name="Text 95"/>
          <p:cNvSpPr/>
          <p:nvPr/>
        </p:nvSpPr>
        <p:spPr>
          <a:xfrm>
            <a:off x="3749040" y="4663440"/>
            <a:ext cx="1920240" cy="41148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(EXP on some calculators)</a:t>
            </a:r>
            <a:endParaRPr lang="en-US" sz="1000" dirty="0"/>
          </a:p>
        </p:txBody>
      </p:sp>
      <p:sp>
        <p:nvSpPr>
          <p:cNvPr id="98" name="Shape 96"/>
          <p:cNvSpPr/>
          <p:nvPr/>
        </p:nvSpPr>
        <p:spPr>
          <a:xfrm>
            <a:off x="6217920" y="1188720"/>
            <a:ext cx="5562295" cy="2103120"/>
          </a:xfrm>
          <a:prstGeom prst="roundRect">
            <a:avLst>
              <a:gd name="adj" fmla="val 2609"/>
            </a:avLst>
          </a:prstGeom>
          <a:solidFill>
            <a:srgbClr val="F5F8FE"/>
          </a:solidFill>
          <a:ln w="9525">
            <a:solidFill>
              <a:srgbClr val="D5DCEB"/>
            </a:solidFill>
            <a:prstDash val="solid"/>
          </a:ln>
        </p:spPr>
      </p:sp>
      <p:sp>
        <p:nvSpPr>
          <p:cNvPr id="99" name="Text 9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A × 10ⁿ, where 1 ≤ A &lt; 10</a:t>
            </a:r>
            <a:endParaRPr lang="en-US" sz="1300" dirty="0"/>
          </a:p>
        </p:txBody>
      </p:sp>
      <p:sp>
        <p:nvSpPr>
          <p:cNvPr id="100" name="Text 98"/>
          <p:cNvSpPr/>
          <p:nvPr/>
        </p:nvSpPr>
        <p:spPr>
          <a:xfrm>
            <a:off x="6382512" y="1609344"/>
            <a:ext cx="5233111" cy="16093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Standard form writes a number as </a:t>
            </a:r>
            <a:r>
              <a:rPr lang="en-US" sz="1150" b="1" dirty="0">
                <a:solidFill>
                  <a:srgbClr val="262B3A"/>
                </a:solidFill>
                <a:latin typeface="Calibri" pitchFamily="34" charset="0"/>
                <a:ea typeface="Calibri" pitchFamily="34" charset="-122"/>
                <a:cs typeface="Calibri" pitchFamily="34" charset="-120"/>
              </a:rPr>
              <a:t>A × 10ⁿ</a:t>
            </a:r>
            <a:r>
              <a:rPr lang="en-US" sz="1150" dirty="0">
                <a:solidFill>
                  <a:srgbClr val="262B3A"/>
                </a:solidFill>
                <a:latin typeface="Calibri" pitchFamily="34" charset="0"/>
                <a:ea typeface="Calibri" pitchFamily="34" charset="-122"/>
                <a:cs typeface="Calibri" pitchFamily="34" charset="-120"/>
              </a:rPr>
              <a:t>: A is </a:t>
            </a:r>
            <a:r>
              <a:rPr lang="en-US" sz="1150" b="1" dirty="0">
                <a:solidFill>
                  <a:srgbClr val="262B3A"/>
                </a:solidFill>
                <a:latin typeface="Calibri" pitchFamily="34" charset="0"/>
                <a:ea typeface="Calibri" pitchFamily="34" charset="-122"/>
                <a:cs typeface="Calibri" pitchFamily="34" charset="-120"/>
              </a:rPr>
              <a:t>at least 1 and less than 10</a:t>
            </a:r>
            <a:r>
              <a:rPr lang="en-US" sz="1150" dirty="0">
                <a:solidFill>
                  <a:srgbClr val="262B3A"/>
                </a:solidFill>
                <a:latin typeface="Calibri" pitchFamily="34" charset="0"/>
                <a:ea typeface="Calibri" pitchFamily="34" charset="-122"/>
                <a:cs typeface="Calibri" pitchFamily="34" charset="-120"/>
              </a:rPr>
              <a:t>; n is a </a:t>
            </a:r>
            <a:r>
              <a:rPr lang="en-US" sz="1150" b="1" dirty="0">
                <a:solidFill>
                  <a:srgbClr val="262B3A"/>
                </a:solidFill>
                <a:latin typeface="Calibri" pitchFamily="34" charset="0"/>
                <a:ea typeface="Calibri" pitchFamily="34" charset="-122"/>
                <a:cs typeface="Calibri" pitchFamily="34" charset="-120"/>
              </a:rPr>
              <a:t>whole number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Numbers </a:t>
            </a:r>
            <a:r>
              <a:rPr lang="en-US" sz="1150" b="1" dirty="0">
                <a:solidFill>
                  <a:srgbClr val="262B3A"/>
                </a:solidFill>
                <a:latin typeface="Calibri" pitchFamily="34" charset="0"/>
                <a:ea typeface="Calibri" pitchFamily="34" charset="-122"/>
                <a:cs typeface="Calibri" pitchFamily="34" charset="-120"/>
              </a:rPr>
              <a:t>≥ 10</a:t>
            </a:r>
            <a:r>
              <a:rPr lang="en-US" sz="1150" dirty="0">
                <a:solidFill>
                  <a:srgbClr val="262B3A"/>
                </a:solidFill>
                <a:latin typeface="Calibri" pitchFamily="34" charset="0"/>
                <a:ea typeface="Calibri" pitchFamily="34" charset="-122"/>
                <a:cs typeface="Calibri" pitchFamily="34" charset="-120"/>
              </a:rPr>
              <a:t> have a </a:t>
            </a:r>
            <a:r>
              <a:rPr lang="en-US" sz="1150" b="1" dirty="0">
                <a:solidFill>
                  <a:srgbClr val="262B3A"/>
                </a:solidFill>
                <a:latin typeface="Calibri" pitchFamily="34" charset="0"/>
                <a:ea typeface="Calibri" pitchFamily="34" charset="-122"/>
                <a:cs typeface="Calibri" pitchFamily="34" charset="-120"/>
              </a:rPr>
              <a:t>positive</a:t>
            </a:r>
            <a:r>
              <a:rPr lang="en-US" sz="1150" dirty="0">
                <a:solidFill>
                  <a:srgbClr val="262B3A"/>
                </a:solidFill>
                <a:latin typeface="Calibri" pitchFamily="34" charset="0"/>
                <a:ea typeface="Calibri" pitchFamily="34" charset="-122"/>
                <a:cs typeface="Calibri" pitchFamily="34" charset="-120"/>
              </a:rPr>
              <a:t> power; numbers </a:t>
            </a:r>
            <a:r>
              <a:rPr lang="en-US" sz="1150" b="1" dirty="0">
                <a:solidFill>
                  <a:srgbClr val="262B3A"/>
                </a:solidFill>
                <a:latin typeface="Calibri" pitchFamily="34" charset="0"/>
                <a:ea typeface="Calibri" pitchFamily="34" charset="-122"/>
                <a:cs typeface="Calibri" pitchFamily="34" charset="-120"/>
              </a:rPr>
              <a:t>less than 1</a:t>
            </a:r>
            <a:r>
              <a:rPr lang="en-US" sz="1150" dirty="0">
                <a:solidFill>
                  <a:srgbClr val="262B3A"/>
                </a:solidFill>
                <a:latin typeface="Calibri" pitchFamily="34" charset="0"/>
                <a:ea typeface="Calibri" pitchFamily="34" charset="-122"/>
                <a:cs typeface="Calibri" pitchFamily="34" charset="-120"/>
              </a:rPr>
              <a:t> have a </a:t>
            </a:r>
            <a:r>
              <a:rPr lang="en-US" sz="1150" b="1" dirty="0">
                <a:solidFill>
                  <a:srgbClr val="262B3A"/>
                </a:solidFill>
                <a:latin typeface="Calibri" pitchFamily="34" charset="0"/>
                <a:ea typeface="Calibri" pitchFamily="34" charset="-122"/>
                <a:cs typeface="Calibri" pitchFamily="34" charset="-120"/>
              </a:rPr>
              <a:t>negative</a:t>
            </a:r>
            <a:r>
              <a:rPr lang="en-US" sz="1150" dirty="0">
                <a:solidFill>
                  <a:srgbClr val="262B3A"/>
                </a:solidFill>
                <a:latin typeface="Calibri" pitchFamily="34" charset="0"/>
                <a:ea typeface="Calibri" pitchFamily="34" charset="-122"/>
                <a:cs typeface="Calibri" pitchFamily="34" charset="-120"/>
              </a:rPr>
              <a:t> power.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it for very large or very small values, and to show </a:t>
            </a:r>
            <a:r>
              <a:rPr lang="en-US" sz="1150" b="1" dirty="0">
                <a:solidFill>
                  <a:srgbClr val="262B3A"/>
                </a:solidFill>
                <a:latin typeface="Calibri" pitchFamily="34" charset="0"/>
                <a:ea typeface="Calibri" pitchFamily="34" charset="-122"/>
                <a:cs typeface="Calibri" pitchFamily="34" charset="-120"/>
              </a:rPr>
              <a:t>significant figures</a:t>
            </a:r>
            <a:r>
              <a:rPr lang="en-US" sz="1150" dirty="0">
                <a:solidFill>
                  <a:srgbClr val="262B3A"/>
                </a:solidFill>
                <a:latin typeface="Calibri" pitchFamily="34" charset="0"/>
                <a:ea typeface="Calibri" pitchFamily="34" charset="-122"/>
                <a:cs typeface="Calibri" pitchFamily="34" charset="-120"/>
              </a:rPr>
              <a:t> clearly.</a:t>
            </a:r>
            <a:endParaRPr lang="en-US" sz="1150" dirty="0"/>
          </a:p>
        </p:txBody>
      </p:sp>
      <p:sp>
        <p:nvSpPr>
          <p:cNvPr id="101" name="Shape 99"/>
          <p:cNvSpPr/>
          <p:nvPr/>
        </p:nvSpPr>
        <p:spPr>
          <a:xfrm>
            <a:off x="6217920" y="3429000"/>
            <a:ext cx="5562295" cy="2286000"/>
          </a:xfrm>
          <a:prstGeom prst="roundRect">
            <a:avLst>
              <a:gd name="adj" fmla="val 2400"/>
            </a:avLst>
          </a:prstGeom>
          <a:solidFill>
            <a:srgbClr val="FFF4E0"/>
          </a:solidFill>
          <a:ln w="9525">
            <a:solidFill>
              <a:srgbClr val="F1D9A8"/>
            </a:solidFill>
            <a:prstDash val="solid"/>
          </a:ln>
        </p:spPr>
      </p:sp>
      <p:sp>
        <p:nvSpPr>
          <p:cNvPr id="102" name="Text 100"/>
          <p:cNvSpPr/>
          <p:nvPr/>
        </p:nvSpPr>
        <p:spPr>
          <a:xfrm>
            <a:off x="6382512" y="3502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103" name="Text 101"/>
          <p:cNvSpPr/>
          <p:nvPr/>
        </p:nvSpPr>
        <p:spPr>
          <a:xfrm>
            <a:off x="6382512" y="3813048"/>
            <a:ext cx="5233111" cy="182880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Light travels 1.5 × 10¹¹ m from the Sun to Earth at 3.0 × 10⁸ m/s. Calculate the time taken.</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speed = distance ÷ time (Topic 2, RECALL)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Rearrange   </a:t>
            </a:r>
            <a:r>
              <a:rPr lang="en-US" sz="1100" dirty="0">
                <a:solidFill>
                  <a:srgbClr val="262B3A"/>
                </a:solidFill>
                <a:latin typeface="Calibri" pitchFamily="34" charset="0"/>
                <a:ea typeface="Calibri" pitchFamily="34" charset="-122"/>
                <a:cs typeface="Calibri" pitchFamily="34" charset="-120"/>
              </a:rPr>
              <a:t>time = distance ÷ speed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t = 1.5 × 10¹¹ m ÷ 3.0 × 10⁸ m/s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 = 500 s = 5.0 × 10² s</a:t>
            </a:r>
            <a:endParaRPr lang="en-US" sz="1100" dirty="0"/>
          </a:p>
        </p:txBody>
      </p:sp>
      <p:sp>
        <p:nvSpPr>
          <p:cNvPr id="104" name="Shape 102"/>
          <p:cNvSpPr/>
          <p:nvPr/>
        </p:nvSpPr>
        <p:spPr>
          <a:xfrm>
            <a:off x="411480" y="5833872"/>
            <a:ext cx="11368735" cy="530352"/>
          </a:xfrm>
          <a:prstGeom prst="rect">
            <a:avLst/>
          </a:prstGeom>
          <a:solidFill>
            <a:srgbClr val="FFF4E0"/>
          </a:solidFill>
          <a:ln w="6350">
            <a:solidFill>
              <a:srgbClr val="F1D9A8"/>
            </a:solidFill>
            <a:prstDash val="solid"/>
          </a:ln>
        </p:spPr>
      </p:sp>
      <p:sp>
        <p:nvSpPr>
          <p:cNvPr id="105" name="Shape 103"/>
          <p:cNvSpPr/>
          <p:nvPr/>
        </p:nvSpPr>
        <p:spPr>
          <a:xfrm>
            <a:off x="411480" y="5833872"/>
            <a:ext cx="82296" cy="530352"/>
          </a:xfrm>
          <a:prstGeom prst="rect">
            <a:avLst/>
          </a:prstGeom>
          <a:solidFill>
            <a:srgbClr val="E39A2F"/>
          </a:solidFill>
          <a:ln w="12700">
            <a:solidFill>
              <a:srgbClr val="E39A2F"/>
            </a:solidFill>
            <a:prstDash val="solid"/>
          </a:ln>
        </p:spPr>
      </p:sp>
      <p:sp>
        <p:nvSpPr>
          <p:cNvPr id="106" name="Text 10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Write in standard form: (a) the radius of the Earth, 6 400 000 m (b) 0.000 045 s (c) Write 2.1 × 10⁻³ A as an ordinary number.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1.3, 1.4 • areas, kWh and standard form</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t>
            </a:r>
            <a:r>
              <a:rPr lang="en-US" sz="1250" b="1" dirty="0">
                <a:solidFill>
                  <a:srgbClr val="262B3A"/>
                </a:solidFill>
                <a:latin typeface="Calibri" pitchFamily="34" charset="0"/>
                <a:ea typeface="Calibri" pitchFamily="34" charset="-122"/>
                <a:cs typeface="Calibri" pitchFamily="34" charset="-120"/>
              </a:rPr>
              <a:t>3 600 000 J</a:t>
            </a:r>
            <a:r>
              <a:rPr lang="en-US" sz="1250" dirty="0">
                <a:solidFill>
                  <a:srgbClr val="262B3A"/>
                </a:solidFill>
                <a:latin typeface="Calibri" pitchFamily="34" charset="0"/>
                <a:ea typeface="Calibri" pitchFamily="34" charset="-122"/>
                <a:cs typeface="Calibri" pitchFamily="34" charset="-120"/>
              </a:rPr>
              <a:t> in standard form. Convert an area of </a:t>
            </a:r>
            <a:r>
              <a:rPr lang="en-US" sz="1250" b="1" dirty="0">
                <a:solidFill>
                  <a:srgbClr val="262B3A"/>
                </a:solidFill>
                <a:latin typeface="Calibri" pitchFamily="34" charset="0"/>
                <a:ea typeface="Calibri" pitchFamily="34" charset="-122"/>
                <a:cs typeface="Calibri" pitchFamily="34" charset="-120"/>
              </a:rPr>
              <a:t>15 cm²</a:t>
            </a:r>
            <a:r>
              <a:rPr lang="en-US" sz="1250" dirty="0">
                <a:solidFill>
                  <a:srgbClr val="262B3A"/>
                </a:solidFill>
                <a:latin typeface="Calibri" pitchFamily="34" charset="0"/>
                <a:ea typeface="Calibri" pitchFamily="34" charset="-122"/>
                <a:cs typeface="Calibri" pitchFamily="34" charset="-120"/>
              </a:rPr>
              <a:t> into m², in standard form.</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force of </a:t>
            </a:r>
            <a:r>
              <a:rPr lang="en-US" sz="1250" b="1" dirty="0">
                <a:solidFill>
                  <a:srgbClr val="262B3A"/>
                </a:solidFill>
                <a:latin typeface="Calibri" pitchFamily="34" charset="0"/>
                <a:ea typeface="Calibri" pitchFamily="34" charset="-122"/>
                <a:cs typeface="Calibri" pitchFamily="34" charset="-120"/>
              </a:rPr>
              <a:t>60 N</a:t>
            </a:r>
            <a:r>
              <a:rPr lang="en-US" sz="1250" dirty="0">
                <a:solidFill>
                  <a:srgbClr val="262B3A"/>
                </a:solidFill>
                <a:latin typeface="Calibri" pitchFamily="34" charset="0"/>
                <a:ea typeface="Calibri" pitchFamily="34" charset="-122"/>
                <a:cs typeface="Calibri" pitchFamily="34" charset="-120"/>
              </a:rPr>
              <a:t> acts on an area of </a:t>
            </a:r>
            <a:r>
              <a:rPr lang="en-US" sz="1250" b="1" dirty="0">
                <a:solidFill>
                  <a:srgbClr val="262B3A"/>
                </a:solidFill>
                <a:latin typeface="Calibri" pitchFamily="34" charset="0"/>
                <a:ea typeface="Calibri" pitchFamily="34" charset="-122"/>
                <a:cs typeface="Calibri" pitchFamily="34" charset="-120"/>
              </a:rPr>
              <a:t>20 cm²</a:t>
            </a:r>
            <a:r>
              <a:rPr lang="en-US" sz="1250" dirty="0">
                <a:solidFill>
                  <a:srgbClr val="262B3A"/>
                </a:solidFill>
                <a:latin typeface="Calibri" pitchFamily="34" charset="0"/>
                <a:ea typeface="Calibri" pitchFamily="34" charset="-122"/>
                <a:cs typeface="Calibri" pitchFamily="34" charset="-120"/>
              </a:rPr>
              <a:t>. Calculate the pressure in pascals. Use </a:t>
            </a:r>
            <a:r>
              <a:rPr lang="en-US" sz="1250" b="1" dirty="0">
                <a:solidFill>
                  <a:srgbClr val="262B3A"/>
                </a:solidFill>
                <a:latin typeface="Calibri" pitchFamily="34" charset="0"/>
                <a:ea typeface="Calibri" pitchFamily="34" charset="-122"/>
                <a:cs typeface="Calibri" pitchFamily="34" charset="-120"/>
              </a:rPr>
              <a:t>p = F ÷ A</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television of power </a:t>
            </a:r>
            <a:r>
              <a:rPr lang="en-US" sz="1250" b="1" dirty="0">
                <a:solidFill>
                  <a:srgbClr val="262B3A"/>
                </a:solidFill>
                <a:latin typeface="Calibri" pitchFamily="34" charset="0"/>
                <a:ea typeface="Calibri" pitchFamily="34" charset="-122"/>
                <a:cs typeface="Calibri" pitchFamily="34" charset="-120"/>
              </a:rPr>
              <a:t>150 W</a:t>
            </a:r>
            <a:r>
              <a:rPr lang="en-US" sz="1250" dirty="0">
                <a:solidFill>
                  <a:srgbClr val="262B3A"/>
                </a:solidFill>
                <a:latin typeface="Calibri" pitchFamily="34" charset="0"/>
                <a:ea typeface="Calibri" pitchFamily="34" charset="-122"/>
                <a:cs typeface="Calibri" pitchFamily="34" charset="-120"/>
              </a:rPr>
              <a:t> is switched on for </a:t>
            </a:r>
            <a:r>
              <a:rPr lang="en-US" sz="1250" b="1" dirty="0">
                <a:solidFill>
                  <a:srgbClr val="262B3A"/>
                </a:solidFill>
                <a:latin typeface="Calibri" pitchFamily="34" charset="0"/>
                <a:ea typeface="Calibri" pitchFamily="34" charset="-122"/>
                <a:cs typeface="Calibri" pitchFamily="34" charset="-120"/>
              </a:rPr>
              <a:t>4.0 hours</a:t>
            </a:r>
            <a:r>
              <a:rPr lang="en-US" sz="1250" dirty="0">
                <a:solidFill>
                  <a:srgbClr val="262B3A"/>
                </a:solidFill>
                <a:latin typeface="Calibri" pitchFamily="34" charset="0"/>
                <a:ea typeface="Calibri" pitchFamily="34" charset="-122"/>
                <a:cs typeface="Calibri" pitchFamily="34" charset="-120"/>
              </a:rPr>
              <a:t>. Calculate the energy transferred in </a:t>
            </a:r>
            <a:r>
              <a:rPr lang="en-US" sz="1250" b="1" dirty="0">
                <a:solidFill>
                  <a:srgbClr val="262B3A"/>
                </a:solidFill>
                <a:latin typeface="Calibri" pitchFamily="34" charset="0"/>
                <a:ea typeface="Calibri" pitchFamily="34" charset="-122"/>
                <a:cs typeface="Calibri" pitchFamily="34" charset="-120"/>
              </a:rPr>
              <a:t>kWh</a:t>
            </a:r>
            <a:r>
              <a:rPr lang="en-US" sz="1250" dirty="0">
                <a:solidFill>
                  <a:srgbClr val="262B3A"/>
                </a:solidFill>
                <a:latin typeface="Calibri" pitchFamily="34" charset="0"/>
                <a:ea typeface="Calibri" pitchFamily="34" charset="-122"/>
                <a:cs typeface="Calibri" pitchFamily="34" charset="-120"/>
              </a:rPr>
              <a:t> and in </a:t>
            </a:r>
            <a:r>
              <a:rPr lang="en-US" sz="1250" b="1" dirty="0">
                <a:solidFill>
                  <a:srgbClr val="262B3A"/>
                </a:solidFill>
                <a:latin typeface="Calibri" pitchFamily="34" charset="0"/>
                <a:ea typeface="Calibri" pitchFamily="34" charset="-122"/>
                <a:cs typeface="Calibri" pitchFamily="34" charset="-120"/>
              </a:rPr>
              <a:t>J</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Significant figures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1.4 • round answers to match the data you were given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1.4  |  16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blue = significant figures; grey = place-holder zeros</a:t>
            </a:r>
            <a:endParaRPr lang="en-US" sz="1000" dirty="0"/>
          </a:p>
        </p:txBody>
      </p:sp>
      <p:sp>
        <p:nvSpPr>
          <p:cNvPr id="10" name="Shape 8"/>
          <p:cNvSpPr/>
          <p:nvPr/>
        </p:nvSpPr>
        <p:spPr>
          <a:xfrm>
            <a:off x="685800" y="1371600"/>
            <a:ext cx="320040" cy="384048"/>
          </a:xfrm>
          <a:prstGeom prst="rect">
            <a:avLst/>
          </a:prstGeom>
          <a:solidFill>
            <a:srgbClr val="EEF0F4"/>
          </a:solidFill>
          <a:ln w="9525">
            <a:solidFill>
              <a:srgbClr val="C3C8D3"/>
            </a:solidFill>
            <a:prstDash val="solid"/>
          </a:ln>
        </p:spPr>
      </p:sp>
      <p:sp>
        <p:nvSpPr>
          <p:cNvPr id="11" name="Text 9"/>
          <p:cNvSpPr/>
          <p:nvPr/>
        </p:nvSpPr>
        <p:spPr>
          <a:xfrm>
            <a:off x="685800" y="1371600"/>
            <a:ext cx="320040"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12" name="Shape 10"/>
          <p:cNvSpPr/>
          <p:nvPr/>
        </p:nvSpPr>
        <p:spPr>
          <a:xfrm>
            <a:off x="1033272" y="1371600"/>
            <a:ext cx="320040" cy="384048"/>
          </a:xfrm>
          <a:prstGeom prst="rect">
            <a:avLst/>
          </a:prstGeom>
          <a:solidFill>
            <a:srgbClr val="FFFFFF"/>
          </a:solidFill>
          <a:ln w="9525">
            <a:solidFill>
              <a:srgbClr val="D5DCEB"/>
            </a:solidFill>
            <a:prstDash val="solid"/>
          </a:ln>
        </p:spPr>
      </p:sp>
      <p:sp>
        <p:nvSpPr>
          <p:cNvPr id="13" name="Text 11"/>
          <p:cNvSpPr/>
          <p:nvPr/>
        </p:nvSpPr>
        <p:spPr>
          <a:xfrm>
            <a:off x="1033272" y="1371600"/>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1380744" y="1371600"/>
            <a:ext cx="320040" cy="384048"/>
          </a:xfrm>
          <a:prstGeom prst="rect">
            <a:avLst/>
          </a:prstGeom>
          <a:solidFill>
            <a:srgbClr val="EEF0F4"/>
          </a:solidFill>
          <a:ln w="9525">
            <a:solidFill>
              <a:srgbClr val="C3C8D3"/>
            </a:solidFill>
            <a:prstDash val="solid"/>
          </a:ln>
        </p:spPr>
      </p:sp>
      <p:sp>
        <p:nvSpPr>
          <p:cNvPr id="15" name="Text 13"/>
          <p:cNvSpPr/>
          <p:nvPr/>
        </p:nvSpPr>
        <p:spPr>
          <a:xfrm>
            <a:off x="1380744" y="1371600"/>
            <a:ext cx="320040"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16" name="Shape 14"/>
          <p:cNvSpPr/>
          <p:nvPr/>
        </p:nvSpPr>
        <p:spPr>
          <a:xfrm>
            <a:off x="1728216" y="1371600"/>
            <a:ext cx="320040" cy="384048"/>
          </a:xfrm>
          <a:prstGeom prst="rect">
            <a:avLst/>
          </a:prstGeom>
          <a:solidFill>
            <a:srgbClr val="EEF0F4"/>
          </a:solidFill>
          <a:ln w="9525">
            <a:solidFill>
              <a:srgbClr val="C3C8D3"/>
            </a:solidFill>
            <a:prstDash val="solid"/>
          </a:ln>
        </p:spPr>
      </p:sp>
      <p:sp>
        <p:nvSpPr>
          <p:cNvPr id="17" name="Text 15"/>
          <p:cNvSpPr/>
          <p:nvPr/>
        </p:nvSpPr>
        <p:spPr>
          <a:xfrm>
            <a:off x="1728216" y="1371600"/>
            <a:ext cx="320040"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18" name="Shape 16"/>
          <p:cNvSpPr/>
          <p:nvPr/>
        </p:nvSpPr>
        <p:spPr>
          <a:xfrm>
            <a:off x="2075688" y="1371600"/>
            <a:ext cx="320040" cy="384048"/>
          </a:xfrm>
          <a:prstGeom prst="rect">
            <a:avLst/>
          </a:prstGeom>
          <a:solidFill>
            <a:srgbClr val="DCE6FB"/>
          </a:solidFill>
          <a:ln w="9525">
            <a:solidFill>
              <a:srgbClr val="D5DCEB"/>
            </a:solidFill>
            <a:prstDash val="solid"/>
          </a:ln>
        </p:spPr>
      </p:sp>
      <p:sp>
        <p:nvSpPr>
          <p:cNvPr id="19" name="Text 17"/>
          <p:cNvSpPr/>
          <p:nvPr/>
        </p:nvSpPr>
        <p:spPr>
          <a:xfrm>
            <a:off x="2075688" y="137160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4</a:t>
            </a:r>
            <a:endParaRPr lang="en-US" sz="1600" dirty="0"/>
          </a:p>
        </p:txBody>
      </p:sp>
      <p:sp>
        <p:nvSpPr>
          <p:cNvPr id="20" name="Shape 18"/>
          <p:cNvSpPr/>
          <p:nvPr/>
        </p:nvSpPr>
        <p:spPr>
          <a:xfrm>
            <a:off x="2423160" y="1371600"/>
            <a:ext cx="320040" cy="384048"/>
          </a:xfrm>
          <a:prstGeom prst="rect">
            <a:avLst/>
          </a:prstGeom>
          <a:solidFill>
            <a:srgbClr val="DCE6FB"/>
          </a:solidFill>
          <a:ln w="9525">
            <a:solidFill>
              <a:srgbClr val="D5DCEB"/>
            </a:solidFill>
            <a:prstDash val="solid"/>
          </a:ln>
        </p:spPr>
      </p:sp>
      <p:sp>
        <p:nvSpPr>
          <p:cNvPr id="21" name="Text 19"/>
          <p:cNvSpPr/>
          <p:nvPr/>
        </p:nvSpPr>
        <p:spPr>
          <a:xfrm>
            <a:off x="2423160" y="137160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0</a:t>
            </a:r>
            <a:endParaRPr lang="en-US" sz="1600" dirty="0"/>
          </a:p>
        </p:txBody>
      </p:sp>
      <p:sp>
        <p:nvSpPr>
          <p:cNvPr id="22" name="Shape 20"/>
          <p:cNvSpPr/>
          <p:nvPr/>
        </p:nvSpPr>
        <p:spPr>
          <a:xfrm>
            <a:off x="2770632" y="1371600"/>
            <a:ext cx="320040" cy="384048"/>
          </a:xfrm>
          <a:prstGeom prst="rect">
            <a:avLst/>
          </a:prstGeom>
          <a:solidFill>
            <a:srgbClr val="DCE6FB"/>
          </a:solidFill>
          <a:ln w="9525">
            <a:solidFill>
              <a:srgbClr val="D5DCEB"/>
            </a:solidFill>
            <a:prstDash val="solid"/>
          </a:ln>
        </p:spPr>
      </p:sp>
      <p:sp>
        <p:nvSpPr>
          <p:cNvPr id="23" name="Text 21"/>
          <p:cNvSpPr/>
          <p:nvPr/>
        </p:nvSpPr>
        <p:spPr>
          <a:xfrm>
            <a:off x="2770632" y="137160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5</a:t>
            </a:r>
            <a:endParaRPr lang="en-US" sz="1600" dirty="0"/>
          </a:p>
        </p:txBody>
      </p:sp>
      <p:sp>
        <p:nvSpPr>
          <p:cNvPr id="24" name="Shape 22"/>
          <p:cNvSpPr/>
          <p:nvPr/>
        </p:nvSpPr>
        <p:spPr>
          <a:xfrm>
            <a:off x="3118104" y="1371600"/>
            <a:ext cx="320040" cy="384048"/>
          </a:xfrm>
          <a:prstGeom prst="rect">
            <a:avLst/>
          </a:prstGeom>
          <a:solidFill>
            <a:srgbClr val="DCE6FB"/>
          </a:solidFill>
          <a:ln w="9525">
            <a:solidFill>
              <a:srgbClr val="D5DCEB"/>
            </a:solidFill>
            <a:prstDash val="solid"/>
          </a:ln>
        </p:spPr>
      </p:sp>
      <p:sp>
        <p:nvSpPr>
          <p:cNvPr id="25" name="Text 23"/>
          <p:cNvSpPr/>
          <p:nvPr/>
        </p:nvSpPr>
        <p:spPr>
          <a:xfrm>
            <a:off x="3118104" y="137160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0</a:t>
            </a:r>
            <a:endParaRPr lang="en-US" sz="1600" dirty="0"/>
          </a:p>
        </p:txBody>
      </p:sp>
      <p:sp>
        <p:nvSpPr>
          <p:cNvPr id="26" name="Text 24"/>
          <p:cNvSpPr/>
          <p:nvPr/>
        </p:nvSpPr>
        <p:spPr>
          <a:xfrm>
            <a:off x="3703320" y="1389888"/>
            <a:ext cx="914400" cy="347472"/>
          </a:xfrm>
          <a:prstGeom prst="rect">
            <a:avLst/>
          </a:prstGeom>
          <a:noFill/>
          <a:ln/>
        </p:spPr>
        <p:txBody>
          <a:bodyPr wrap="square" lIns="0" tIns="0" rIns="0" bIns="0" rtlCol="0" anchor="ctr"/>
          <a:lstStyle/>
          <a:p>
            <a:pPr algn="l" indent="0" marL="0">
              <a:buNone/>
            </a:pPr>
            <a:r>
              <a:rPr lang="en-US" sz="1500" b="1" dirty="0">
                <a:solidFill>
                  <a:srgbClr val="C8414C"/>
                </a:solidFill>
                <a:latin typeface="Calibri" pitchFamily="34" charset="0"/>
                <a:ea typeface="Calibri" pitchFamily="34" charset="-122"/>
                <a:cs typeface="Calibri" pitchFamily="34" charset="-120"/>
              </a:rPr>
              <a:t>4 s.f.</a:t>
            </a:r>
            <a:endParaRPr lang="en-US" sz="1500" dirty="0"/>
          </a:p>
        </p:txBody>
      </p:sp>
      <p:sp>
        <p:nvSpPr>
          <p:cNvPr id="27" name="Text 25"/>
          <p:cNvSpPr/>
          <p:nvPr/>
        </p:nvSpPr>
        <p:spPr>
          <a:xfrm>
            <a:off x="685800" y="1783080"/>
            <a:ext cx="50292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leading zeros never count; the final 0 after the 5 does count</a:t>
            </a:r>
            <a:endParaRPr lang="en-US" sz="1050" dirty="0"/>
          </a:p>
        </p:txBody>
      </p:sp>
      <p:sp>
        <p:nvSpPr>
          <p:cNvPr id="28" name="Shape 26"/>
          <p:cNvSpPr/>
          <p:nvPr/>
        </p:nvSpPr>
        <p:spPr>
          <a:xfrm>
            <a:off x="685800" y="2240280"/>
            <a:ext cx="320040" cy="384048"/>
          </a:xfrm>
          <a:prstGeom prst="rect">
            <a:avLst/>
          </a:prstGeom>
          <a:solidFill>
            <a:srgbClr val="DCE6FB"/>
          </a:solidFill>
          <a:ln w="9525">
            <a:solidFill>
              <a:srgbClr val="D5DCEB"/>
            </a:solidFill>
            <a:prstDash val="solid"/>
          </a:ln>
        </p:spPr>
      </p:sp>
      <p:sp>
        <p:nvSpPr>
          <p:cNvPr id="29" name="Text 27"/>
          <p:cNvSpPr/>
          <p:nvPr/>
        </p:nvSpPr>
        <p:spPr>
          <a:xfrm>
            <a:off x="685800" y="224028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2</a:t>
            </a:r>
            <a:endParaRPr lang="en-US" sz="1600" dirty="0"/>
          </a:p>
        </p:txBody>
      </p:sp>
      <p:sp>
        <p:nvSpPr>
          <p:cNvPr id="30" name="Shape 28"/>
          <p:cNvSpPr/>
          <p:nvPr/>
        </p:nvSpPr>
        <p:spPr>
          <a:xfrm>
            <a:off x="1033272" y="2240280"/>
            <a:ext cx="320040" cy="384048"/>
          </a:xfrm>
          <a:prstGeom prst="rect">
            <a:avLst/>
          </a:prstGeom>
          <a:solidFill>
            <a:srgbClr val="FFFFFF"/>
          </a:solidFill>
          <a:ln w="9525">
            <a:solidFill>
              <a:srgbClr val="D5DCEB"/>
            </a:solidFill>
            <a:prstDash val="solid"/>
          </a:ln>
        </p:spPr>
      </p:sp>
      <p:sp>
        <p:nvSpPr>
          <p:cNvPr id="31" name="Text 29"/>
          <p:cNvSpPr/>
          <p:nvPr/>
        </p:nvSpPr>
        <p:spPr>
          <a:xfrm>
            <a:off x="1033272" y="2240280"/>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1380744" y="2240280"/>
            <a:ext cx="320040" cy="384048"/>
          </a:xfrm>
          <a:prstGeom prst="rect">
            <a:avLst/>
          </a:prstGeom>
          <a:solidFill>
            <a:srgbClr val="DCE6FB"/>
          </a:solidFill>
          <a:ln w="9525">
            <a:solidFill>
              <a:srgbClr val="D5DCEB"/>
            </a:solidFill>
            <a:prstDash val="solid"/>
          </a:ln>
        </p:spPr>
      </p:sp>
      <p:sp>
        <p:nvSpPr>
          <p:cNvPr id="33" name="Text 31"/>
          <p:cNvSpPr/>
          <p:nvPr/>
        </p:nvSpPr>
        <p:spPr>
          <a:xfrm>
            <a:off x="1380744" y="224028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3</a:t>
            </a:r>
            <a:endParaRPr lang="en-US" sz="1600" dirty="0"/>
          </a:p>
        </p:txBody>
      </p:sp>
      <p:sp>
        <p:nvSpPr>
          <p:cNvPr id="34" name="Shape 32"/>
          <p:cNvSpPr/>
          <p:nvPr/>
        </p:nvSpPr>
        <p:spPr>
          <a:xfrm>
            <a:off x="1728216" y="2240280"/>
            <a:ext cx="320040" cy="384048"/>
          </a:xfrm>
          <a:prstGeom prst="rect">
            <a:avLst/>
          </a:prstGeom>
          <a:solidFill>
            <a:srgbClr val="DCE6FB"/>
          </a:solidFill>
          <a:ln w="9525">
            <a:solidFill>
              <a:srgbClr val="D5DCEB"/>
            </a:solidFill>
            <a:prstDash val="solid"/>
          </a:ln>
        </p:spPr>
      </p:sp>
      <p:sp>
        <p:nvSpPr>
          <p:cNvPr id="35" name="Text 33"/>
          <p:cNvSpPr/>
          <p:nvPr/>
        </p:nvSpPr>
        <p:spPr>
          <a:xfrm>
            <a:off x="1728216" y="224028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0</a:t>
            </a:r>
            <a:endParaRPr lang="en-US" sz="1600" dirty="0"/>
          </a:p>
        </p:txBody>
      </p:sp>
      <p:sp>
        <p:nvSpPr>
          <p:cNvPr id="36" name="Text 34"/>
          <p:cNvSpPr/>
          <p:nvPr/>
        </p:nvSpPr>
        <p:spPr>
          <a:xfrm>
            <a:off x="3703320" y="2258568"/>
            <a:ext cx="914400" cy="347472"/>
          </a:xfrm>
          <a:prstGeom prst="rect">
            <a:avLst/>
          </a:prstGeom>
          <a:noFill/>
          <a:ln/>
        </p:spPr>
        <p:txBody>
          <a:bodyPr wrap="square" lIns="0" tIns="0" rIns="0" bIns="0" rtlCol="0" anchor="ctr"/>
          <a:lstStyle/>
          <a:p>
            <a:pPr algn="l" indent="0" marL="0">
              <a:buNone/>
            </a:pPr>
            <a:r>
              <a:rPr lang="en-US" sz="1500" b="1" dirty="0">
                <a:solidFill>
                  <a:srgbClr val="C8414C"/>
                </a:solidFill>
                <a:latin typeface="Calibri" pitchFamily="34" charset="0"/>
                <a:ea typeface="Calibri" pitchFamily="34" charset="-122"/>
                <a:cs typeface="Calibri" pitchFamily="34" charset="-120"/>
              </a:rPr>
              <a:t>3 s.f.</a:t>
            </a:r>
            <a:endParaRPr lang="en-US" sz="1500" dirty="0"/>
          </a:p>
        </p:txBody>
      </p:sp>
      <p:sp>
        <p:nvSpPr>
          <p:cNvPr id="37" name="Text 35"/>
          <p:cNvSpPr/>
          <p:nvPr/>
        </p:nvSpPr>
        <p:spPr>
          <a:xfrm>
            <a:off x="685800" y="2651760"/>
            <a:ext cx="50292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a trailing zero after the decimal point counts</a:t>
            </a:r>
            <a:endParaRPr lang="en-US" sz="1050" dirty="0"/>
          </a:p>
        </p:txBody>
      </p:sp>
      <p:sp>
        <p:nvSpPr>
          <p:cNvPr id="38" name="Shape 36"/>
          <p:cNvSpPr/>
          <p:nvPr/>
        </p:nvSpPr>
        <p:spPr>
          <a:xfrm>
            <a:off x="685800" y="3108960"/>
            <a:ext cx="320040" cy="384048"/>
          </a:xfrm>
          <a:prstGeom prst="rect">
            <a:avLst/>
          </a:prstGeom>
          <a:solidFill>
            <a:srgbClr val="DCE6FB"/>
          </a:solidFill>
          <a:ln w="9525">
            <a:solidFill>
              <a:srgbClr val="D5DCEB"/>
            </a:solidFill>
            <a:prstDash val="solid"/>
          </a:ln>
        </p:spPr>
      </p:sp>
      <p:sp>
        <p:nvSpPr>
          <p:cNvPr id="39" name="Text 37"/>
          <p:cNvSpPr/>
          <p:nvPr/>
        </p:nvSpPr>
        <p:spPr>
          <a:xfrm>
            <a:off x="685800" y="310896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1</a:t>
            </a:r>
            <a:endParaRPr lang="en-US" sz="1600" dirty="0"/>
          </a:p>
        </p:txBody>
      </p:sp>
      <p:sp>
        <p:nvSpPr>
          <p:cNvPr id="40" name="Shape 38"/>
          <p:cNvSpPr/>
          <p:nvPr/>
        </p:nvSpPr>
        <p:spPr>
          <a:xfrm>
            <a:off x="1033272" y="3108960"/>
            <a:ext cx="320040" cy="384048"/>
          </a:xfrm>
          <a:prstGeom prst="rect">
            <a:avLst/>
          </a:prstGeom>
          <a:solidFill>
            <a:srgbClr val="DCE6FB"/>
          </a:solidFill>
          <a:ln w="9525">
            <a:solidFill>
              <a:srgbClr val="D5DCEB"/>
            </a:solidFill>
            <a:prstDash val="solid"/>
          </a:ln>
        </p:spPr>
      </p:sp>
      <p:sp>
        <p:nvSpPr>
          <p:cNvPr id="41" name="Text 39"/>
          <p:cNvSpPr/>
          <p:nvPr/>
        </p:nvSpPr>
        <p:spPr>
          <a:xfrm>
            <a:off x="1033272" y="310896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2</a:t>
            </a:r>
            <a:endParaRPr lang="en-US" sz="1600" dirty="0"/>
          </a:p>
        </p:txBody>
      </p:sp>
      <p:sp>
        <p:nvSpPr>
          <p:cNvPr id="42" name="Shape 40"/>
          <p:cNvSpPr/>
          <p:nvPr/>
        </p:nvSpPr>
        <p:spPr>
          <a:xfrm>
            <a:off x="1380744" y="3108960"/>
            <a:ext cx="320040" cy="384048"/>
          </a:xfrm>
          <a:prstGeom prst="rect">
            <a:avLst/>
          </a:prstGeom>
          <a:solidFill>
            <a:srgbClr val="DCE6FB"/>
          </a:solidFill>
          <a:ln w="9525">
            <a:solidFill>
              <a:srgbClr val="D5DCEB"/>
            </a:solidFill>
            <a:prstDash val="solid"/>
          </a:ln>
        </p:spPr>
      </p:sp>
      <p:sp>
        <p:nvSpPr>
          <p:cNvPr id="43" name="Text 41"/>
          <p:cNvSpPr/>
          <p:nvPr/>
        </p:nvSpPr>
        <p:spPr>
          <a:xfrm>
            <a:off x="1380744" y="3108960"/>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6</a:t>
            </a:r>
            <a:endParaRPr lang="en-US" sz="1600" dirty="0"/>
          </a:p>
        </p:txBody>
      </p:sp>
      <p:sp>
        <p:nvSpPr>
          <p:cNvPr id="44" name="Shape 42"/>
          <p:cNvSpPr/>
          <p:nvPr/>
        </p:nvSpPr>
        <p:spPr>
          <a:xfrm>
            <a:off x="1728216" y="3108960"/>
            <a:ext cx="320040" cy="384048"/>
          </a:xfrm>
          <a:prstGeom prst="rect">
            <a:avLst/>
          </a:prstGeom>
          <a:solidFill>
            <a:srgbClr val="EEF0F4"/>
          </a:solidFill>
          <a:ln w="9525">
            <a:solidFill>
              <a:srgbClr val="C3C8D3"/>
            </a:solidFill>
            <a:prstDash val="solid"/>
          </a:ln>
        </p:spPr>
      </p:sp>
      <p:sp>
        <p:nvSpPr>
          <p:cNvPr id="45" name="Text 43"/>
          <p:cNvSpPr/>
          <p:nvPr/>
        </p:nvSpPr>
        <p:spPr>
          <a:xfrm>
            <a:off x="1728216" y="3108960"/>
            <a:ext cx="320040"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46" name="Shape 44"/>
          <p:cNvSpPr/>
          <p:nvPr/>
        </p:nvSpPr>
        <p:spPr>
          <a:xfrm>
            <a:off x="2075688" y="3108960"/>
            <a:ext cx="320040" cy="384048"/>
          </a:xfrm>
          <a:prstGeom prst="rect">
            <a:avLst/>
          </a:prstGeom>
          <a:solidFill>
            <a:srgbClr val="EEF0F4"/>
          </a:solidFill>
          <a:ln w="9525">
            <a:solidFill>
              <a:srgbClr val="C3C8D3"/>
            </a:solidFill>
            <a:prstDash val="solid"/>
          </a:ln>
        </p:spPr>
      </p:sp>
      <p:sp>
        <p:nvSpPr>
          <p:cNvPr id="47" name="Text 45"/>
          <p:cNvSpPr/>
          <p:nvPr/>
        </p:nvSpPr>
        <p:spPr>
          <a:xfrm>
            <a:off x="2075688" y="3108960"/>
            <a:ext cx="320040" cy="384048"/>
          </a:xfrm>
          <a:prstGeom prst="rect">
            <a:avLst/>
          </a:prstGeom>
          <a:noFill/>
          <a:ln/>
        </p:spPr>
        <p:txBody>
          <a:bodyPr wrap="square" lIns="0" tIns="0" rIns="0" bIns="0" rtlCol="0" anchor="ctr"/>
          <a:lstStyle/>
          <a:p>
            <a:pPr algn="ctr" indent="0" marL="0">
              <a:buNone/>
            </a:pPr>
            <a:r>
              <a:rPr lang="en-US" sz="1600" b="1" dirty="0">
                <a:solidFill>
                  <a:srgbClr val="9AA1B0"/>
                </a:solidFill>
                <a:latin typeface="Calibri" pitchFamily="34" charset="0"/>
                <a:ea typeface="Calibri" pitchFamily="34" charset="-122"/>
                <a:cs typeface="Calibri" pitchFamily="34" charset="-120"/>
              </a:rPr>
              <a:t>0</a:t>
            </a:r>
            <a:endParaRPr lang="en-US" sz="1600" dirty="0"/>
          </a:p>
        </p:txBody>
      </p:sp>
      <p:sp>
        <p:nvSpPr>
          <p:cNvPr id="48" name="Text 46"/>
          <p:cNvSpPr/>
          <p:nvPr/>
        </p:nvSpPr>
        <p:spPr>
          <a:xfrm>
            <a:off x="3703320" y="3127248"/>
            <a:ext cx="914400" cy="347472"/>
          </a:xfrm>
          <a:prstGeom prst="rect">
            <a:avLst/>
          </a:prstGeom>
          <a:noFill/>
          <a:ln/>
        </p:spPr>
        <p:txBody>
          <a:bodyPr wrap="square" lIns="0" tIns="0" rIns="0" bIns="0" rtlCol="0" anchor="ctr"/>
          <a:lstStyle/>
          <a:p>
            <a:pPr algn="l" indent="0" marL="0">
              <a:buNone/>
            </a:pPr>
            <a:r>
              <a:rPr lang="en-US" sz="1500" b="1" dirty="0">
                <a:solidFill>
                  <a:srgbClr val="C8414C"/>
                </a:solidFill>
                <a:latin typeface="Calibri" pitchFamily="34" charset="0"/>
                <a:ea typeface="Calibri" pitchFamily="34" charset="-122"/>
                <a:cs typeface="Calibri" pitchFamily="34" charset="-120"/>
              </a:rPr>
              <a:t>3 s.f.?</a:t>
            </a:r>
            <a:endParaRPr lang="en-US" sz="1500" dirty="0"/>
          </a:p>
        </p:txBody>
      </p:sp>
      <p:sp>
        <p:nvSpPr>
          <p:cNvPr id="49" name="Text 47"/>
          <p:cNvSpPr/>
          <p:nvPr/>
        </p:nvSpPr>
        <p:spPr>
          <a:xfrm>
            <a:off x="685800" y="3520440"/>
            <a:ext cx="502920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unclear: write 1.26 × 10⁴ to show 3 s.f.</a:t>
            </a:r>
            <a:endParaRPr lang="en-US" sz="1050" dirty="0"/>
          </a:p>
        </p:txBody>
      </p:sp>
      <p:sp>
        <p:nvSpPr>
          <p:cNvPr id="50" name="Shape 48"/>
          <p:cNvSpPr/>
          <p:nvPr/>
        </p:nvSpPr>
        <p:spPr>
          <a:xfrm>
            <a:off x="685800" y="3977640"/>
            <a:ext cx="5029200" cy="1234440"/>
          </a:xfrm>
          <a:prstGeom prst="roundRect">
            <a:avLst>
              <a:gd name="adj" fmla="val 4444"/>
            </a:avLst>
          </a:prstGeom>
          <a:solidFill>
            <a:srgbClr val="FFFFFF"/>
          </a:solidFill>
          <a:ln w="12700">
            <a:solidFill>
              <a:srgbClr val="D5DCEB"/>
            </a:solidFill>
            <a:prstDash val="solid"/>
          </a:ln>
        </p:spPr>
      </p:sp>
      <p:sp>
        <p:nvSpPr>
          <p:cNvPr id="51" name="Text 49"/>
          <p:cNvSpPr/>
          <p:nvPr/>
        </p:nvSpPr>
        <p:spPr>
          <a:xfrm>
            <a:off x="822960" y="4023360"/>
            <a:ext cx="4754880" cy="256032"/>
          </a:xfrm>
          <a:prstGeom prst="rect">
            <a:avLst/>
          </a:prstGeom>
          <a:noFill/>
          <a:ln/>
        </p:spPr>
        <p:txBody>
          <a:bodyPr wrap="square" lIns="0" tIns="0" rIns="0" bIns="0" rtlCol="0" anchor="ctr"/>
          <a:lstStyle/>
          <a:p>
            <a:pPr algn="l" indent="0" marL="0">
              <a:buNone/>
            </a:pPr>
            <a:r>
              <a:rPr lang="en-US" sz="1100" b="1" dirty="0">
                <a:solidFill>
                  <a:srgbClr val="1A2340"/>
                </a:solidFill>
                <a:latin typeface="Calibri" pitchFamily="34" charset="0"/>
                <a:ea typeface="Calibri" pitchFamily="34" charset="-122"/>
                <a:cs typeface="Calibri" pitchFamily="34" charset="-120"/>
              </a:rPr>
              <a:t>Rounding 34.2857… : look at the NEXT digit</a:t>
            </a:r>
            <a:endParaRPr lang="en-US" sz="1100" dirty="0"/>
          </a:p>
        </p:txBody>
      </p:sp>
      <p:sp>
        <p:nvSpPr>
          <p:cNvPr id="52" name="Shape 50"/>
          <p:cNvSpPr/>
          <p:nvPr/>
        </p:nvSpPr>
        <p:spPr>
          <a:xfrm>
            <a:off x="868680" y="4370832"/>
            <a:ext cx="320040" cy="384048"/>
          </a:xfrm>
          <a:prstGeom prst="rect">
            <a:avLst/>
          </a:prstGeom>
          <a:solidFill>
            <a:srgbClr val="DCE6FB"/>
          </a:solidFill>
          <a:ln w="9525">
            <a:solidFill>
              <a:srgbClr val="D5DCEB"/>
            </a:solidFill>
            <a:prstDash val="solid"/>
          </a:ln>
        </p:spPr>
      </p:sp>
      <p:sp>
        <p:nvSpPr>
          <p:cNvPr id="53" name="Text 51"/>
          <p:cNvSpPr/>
          <p:nvPr/>
        </p:nvSpPr>
        <p:spPr>
          <a:xfrm>
            <a:off x="868680" y="4370832"/>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3</a:t>
            </a:r>
            <a:endParaRPr lang="en-US" sz="1600" dirty="0"/>
          </a:p>
        </p:txBody>
      </p:sp>
      <p:sp>
        <p:nvSpPr>
          <p:cNvPr id="54" name="Shape 52"/>
          <p:cNvSpPr/>
          <p:nvPr/>
        </p:nvSpPr>
        <p:spPr>
          <a:xfrm>
            <a:off x="1216152" y="4370832"/>
            <a:ext cx="320040" cy="384048"/>
          </a:xfrm>
          <a:prstGeom prst="rect">
            <a:avLst/>
          </a:prstGeom>
          <a:solidFill>
            <a:srgbClr val="DCE6FB"/>
          </a:solidFill>
          <a:ln w="9525">
            <a:solidFill>
              <a:srgbClr val="D5DCEB"/>
            </a:solidFill>
            <a:prstDash val="solid"/>
          </a:ln>
        </p:spPr>
      </p:sp>
      <p:sp>
        <p:nvSpPr>
          <p:cNvPr id="55" name="Text 53"/>
          <p:cNvSpPr/>
          <p:nvPr/>
        </p:nvSpPr>
        <p:spPr>
          <a:xfrm>
            <a:off x="1216152" y="4370832"/>
            <a:ext cx="320040" cy="384048"/>
          </a:xfrm>
          <a:prstGeom prst="rect">
            <a:avLst/>
          </a:prstGeom>
          <a:noFill/>
          <a:ln/>
        </p:spPr>
        <p:txBody>
          <a:bodyPr wrap="square" lIns="0" tIns="0" rIns="0" bIns="0" rtlCol="0" anchor="ctr"/>
          <a:lstStyle/>
          <a:p>
            <a:pPr algn="ctr" indent="0" marL="0">
              <a:buNone/>
            </a:pPr>
            <a:r>
              <a:rPr lang="en-US" sz="1600" b="1" dirty="0">
                <a:solidFill>
                  <a:srgbClr val="2E5BD8"/>
                </a:solidFill>
                <a:latin typeface="Calibri" pitchFamily="34" charset="0"/>
                <a:ea typeface="Calibri" pitchFamily="34" charset="-122"/>
                <a:cs typeface="Calibri" pitchFamily="34" charset="-120"/>
              </a:rPr>
              <a:t>4</a:t>
            </a:r>
            <a:endParaRPr lang="en-US" sz="1600" dirty="0"/>
          </a:p>
        </p:txBody>
      </p:sp>
      <p:sp>
        <p:nvSpPr>
          <p:cNvPr id="56" name="Shape 54"/>
          <p:cNvSpPr/>
          <p:nvPr/>
        </p:nvSpPr>
        <p:spPr>
          <a:xfrm>
            <a:off x="1563624" y="4370832"/>
            <a:ext cx="320040" cy="384048"/>
          </a:xfrm>
          <a:prstGeom prst="rect">
            <a:avLst/>
          </a:prstGeom>
          <a:solidFill>
            <a:srgbClr val="FFFFFF"/>
          </a:solidFill>
          <a:ln w="9525">
            <a:solidFill>
              <a:srgbClr val="D5DCEB"/>
            </a:solidFill>
            <a:prstDash val="solid"/>
          </a:ln>
        </p:spPr>
      </p:sp>
      <p:sp>
        <p:nvSpPr>
          <p:cNvPr id="57" name="Text 55"/>
          <p:cNvSpPr/>
          <p:nvPr/>
        </p:nvSpPr>
        <p:spPr>
          <a:xfrm>
            <a:off x="1563624" y="4370832"/>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a:t>
            </a:r>
            <a:endParaRPr lang="en-US" sz="1600" dirty="0"/>
          </a:p>
        </p:txBody>
      </p:sp>
      <p:sp>
        <p:nvSpPr>
          <p:cNvPr id="58" name="Shape 56"/>
          <p:cNvSpPr/>
          <p:nvPr/>
        </p:nvSpPr>
        <p:spPr>
          <a:xfrm>
            <a:off x="1911096" y="4370832"/>
            <a:ext cx="320040" cy="384048"/>
          </a:xfrm>
          <a:prstGeom prst="rect">
            <a:avLst/>
          </a:prstGeom>
          <a:solidFill>
            <a:srgbClr val="FFFFFF"/>
          </a:solidFill>
          <a:ln w="9525">
            <a:solidFill>
              <a:srgbClr val="D5DCEB"/>
            </a:solidFill>
            <a:prstDash val="solid"/>
          </a:ln>
        </p:spPr>
      </p:sp>
      <p:sp>
        <p:nvSpPr>
          <p:cNvPr id="59" name="Text 57"/>
          <p:cNvSpPr/>
          <p:nvPr/>
        </p:nvSpPr>
        <p:spPr>
          <a:xfrm>
            <a:off x="1911096" y="4370832"/>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2</a:t>
            </a:r>
            <a:endParaRPr lang="en-US" sz="1600" dirty="0"/>
          </a:p>
        </p:txBody>
      </p:sp>
      <p:sp>
        <p:nvSpPr>
          <p:cNvPr id="60" name="Shape 58"/>
          <p:cNvSpPr/>
          <p:nvPr/>
        </p:nvSpPr>
        <p:spPr>
          <a:xfrm>
            <a:off x="2258568" y="4370832"/>
            <a:ext cx="320040" cy="384048"/>
          </a:xfrm>
          <a:prstGeom prst="rect">
            <a:avLst/>
          </a:prstGeom>
          <a:solidFill>
            <a:srgbClr val="FFFFFF"/>
          </a:solidFill>
          <a:ln w="9525">
            <a:solidFill>
              <a:srgbClr val="D5DCEB"/>
            </a:solidFill>
            <a:prstDash val="solid"/>
          </a:ln>
        </p:spPr>
      </p:sp>
      <p:sp>
        <p:nvSpPr>
          <p:cNvPr id="61" name="Text 59"/>
          <p:cNvSpPr/>
          <p:nvPr/>
        </p:nvSpPr>
        <p:spPr>
          <a:xfrm>
            <a:off x="2258568" y="4370832"/>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8</a:t>
            </a:r>
            <a:endParaRPr lang="en-US" sz="1600" dirty="0"/>
          </a:p>
        </p:txBody>
      </p:sp>
      <p:sp>
        <p:nvSpPr>
          <p:cNvPr id="62" name="Shape 60"/>
          <p:cNvSpPr/>
          <p:nvPr/>
        </p:nvSpPr>
        <p:spPr>
          <a:xfrm>
            <a:off x="2606040" y="4370832"/>
            <a:ext cx="320040" cy="384048"/>
          </a:xfrm>
          <a:prstGeom prst="rect">
            <a:avLst/>
          </a:prstGeom>
          <a:solidFill>
            <a:srgbClr val="FFFFFF"/>
          </a:solidFill>
          <a:ln w="9525">
            <a:solidFill>
              <a:srgbClr val="D5DCEB"/>
            </a:solidFill>
            <a:prstDash val="solid"/>
          </a:ln>
        </p:spPr>
      </p:sp>
      <p:sp>
        <p:nvSpPr>
          <p:cNvPr id="63" name="Text 61"/>
          <p:cNvSpPr/>
          <p:nvPr/>
        </p:nvSpPr>
        <p:spPr>
          <a:xfrm>
            <a:off x="2606040" y="4370832"/>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5</a:t>
            </a:r>
            <a:endParaRPr lang="en-US" sz="1600" dirty="0"/>
          </a:p>
        </p:txBody>
      </p:sp>
      <p:sp>
        <p:nvSpPr>
          <p:cNvPr id="64" name="Shape 62"/>
          <p:cNvSpPr/>
          <p:nvPr/>
        </p:nvSpPr>
        <p:spPr>
          <a:xfrm>
            <a:off x="2953512" y="4370832"/>
            <a:ext cx="320040" cy="384048"/>
          </a:xfrm>
          <a:prstGeom prst="rect">
            <a:avLst/>
          </a:prstGeom>
          <a:solidFill>
            <a:srgbClr val="FFFFFF"/>
          </a:solidFill>
          <a:ln w="9525">
            <a:solidFill>
              <a:srgbClr val="D5DCEB"/>
            </a:solidFill>
            <a:prstDash val="solid"/>
          </a:ln>
        </p:spPr>
      </p:sp>
      <p:sp>
        <p:nvSpPr>
          <p:cNvPr id="65" name="Text 63"/>
          <p:cNvSpPr/>
          <p:nvPr/>
        </p:nvSpPr>
        <p:spPr>
          <a:xfrm>
            <a:off x="2953512" y="4370832"/>
            <a:ext cx="320040" cy="384048"/>
          </a:xfrm>
          <a:prstGeom prst="rect">
            <a:avLst/>
          </a:prstGeom>
          <a:noFill/>
          <a:ln/>
        </p:spPr>
        <p:txBody>
          <a:bodyPr wrap="square" lIns="0" tIns="0" rIns="0" bIns="0" rtlCol="0" anchor="ctr"/>
          <a:lstStyle/>
          <a:p>
            <a:pPr algn="ctr" indent="0" marL="0">
              <a:buNone/>
            </a:pPr>
            <a:r>
              <a:rPr lang="en-US" sz="1600" b="1" dirty="0">
                <a:solidFill>
                  <a:srgbClr val="1A2340"/>
                </a:solidFill>
                <a:latin typeface="Calibri" pitchFamily="34" charset="0"/>
                <a:ea typeface="Calibri" pitchFamily="34" charset="-122"/>
                <a:cs typeface="Calibri" pitchFamily="34" charset="-120"/>
              </a:rPr>
              <a:t>7</a:t>
            </a:r>
            <a:endParaRPr lang="en-US" sz="1600" dirty="0"/>
          </a:p>
        </p:txBody>
      </p:sp>
      <p:sp>
        <p:nvSpPr>
          <p:cNvPr id="66" name="Shape 64"/>
          <p:cNvSpPr/>
          <p:nvPr/>
        </p:nvSpPr>
        <p:spPr>
          <a:xfrm flipV="1">
            <a:off x="2071116" y="4764024"/>
            <a:ext cx="91" cy="82296"/>
          </a:xfrm>
          <a:prstGeom prst="line">
            <a:avLst/>
          </a:prstGeom>
          <a:noFill/>
          <a:ln w="19050">
            <a:solidFill>
              <a:srgbClr val="C8414C"/>
            </a:solidFill>
            <a:prstDash val="solid"/>
            <a:tailEnd type="triangle"/>
          </a:ln>
        </p:spPr>
      </p:sp>
      <p:sp>
        <p:nvSpPr>
          <p:cNvPr id="67" name="Text 65"/>
          <p:cNvSpPr/>
          <p:nvPr/>
        </p:nvSpPr>
        <p:spPr>
          <a:xfrm>
            <a:off x="1339596" y="4864608"/>
            <a:ext cx="1463040" cy="219456"/>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next digit 2 &lt; 5: round down</a:t>
            </a:r>
            <a:endParaRPr lang="en-US" sz="1000" dirty="0"/>
          </a:p>
        </p:txBody>
      </p:sp>
      <p:sp>
        <p:nvSpPr>
          <p:cNvPr id="68" name="Text 66"/>
          <p:cNvSpPr/>
          <p:nvPr/>
        </p:nvSpPr>
        <p:spPr>
          <a:xfrm>
            <a:off x="3429000" y="4370832"/>
            <a:ext cx="2194560" cy="566928"/>
          </a:xfrm>
          <a:prstGeom prst="rect">
            <a:avLst/>
          </a:prstGeom>
          <a:noFill/>
          <a:ln/>
        </p:spPr>
        <p:txBody>
          <a:bodyPr wrap="square" lIns="0" tIns="0" rIns="0" bIns="0" rtlCol="0" anchor="ctr"/>
          <a:lstStyle/>
          <a:p>
            <a:pPr algn="l" indent="0" marL="0">
              <a:buNone/>
            </a:pPr>
            <a:r>
              <a:rPr lang="en-US" sz="1250" b="1" dirty="0">
                <a:solidFill>
                  <a:srgbClr val="2E5BD8"/>
                </a:solidFill>
                <a:latin typeface="Calibri" pitchFamily="34" charset="0"/>
                <a:ea typeface="Calibri" pitchFamily="34" charset="-122"/>
                <a:cs typeface="Calibri" pitchFamily="34" charset="-120"/>
              </a:rPr>
              <a:t>→ 34 Ω (2 s.f.)</a:t>
            </a:r>
            <a:endParaRPr lang="en-US" sz="1250" dirty="0"/>
          </a:p>
          <a:p>
            <a:pPr algn="l" indent="0" marL="0">
              <a:buNone/>
            </a:pPr>
            <a:r>
              <a:rPr lang="en-US" sz="1250" b="1" dirty="0">
                <a:solidFill>
                  <a:srgbClr val="2E5BD8"/>
                </a:solidFill>
                <a:latin typeface="Calibri" pitchFamily="34" charset="0"/>
                <a:ea typeface="Calibri" pitchFamily="34" charset="-122"/>
                <a:cs typeface="Calibri" pitchFamily="34" charset="-120"/>
              </a:rPr>
              <a:t>→ 34.3 Ω (3 s.f.)</a:t>
            </a:r>
            <a:endParaRPr lang="en-US" sz="1250" dirty="0"/>
          </a:p>
        </p:txBody>
      </p:sp>
      <p:sp>
        <p:nvSpPr>
          <p:cNvPr id="69" name="Shape 67"/>
          <p:cNvSpPr/>
          <p:nvPr/>
        </p:nvSpPr>
        <p:spPr>
          <a:xfrm>
            <a:off x="6217920" y="1188720"/>
            <a:ext cx="5562295" cy="2103120"/>
          </a:xfrm>
          <a:prstGeom prst="roundRect">
            <a:avLst>
              <a:gd name="adj" fmla="val 2609"/>
            </a:avLst>
          </a:prstGeom>
          <a:solidFill>
            <a:srgbClr val="F5F8FE"/>
          </a:solidFill>
          <a:ln w="9525">
            <a:solidFill>
              <a:srgbClr val="D5DCEB"/>
            </a:solidFill>
            <a:prstDash val="solid"/>
          </a:ln>
        </p:spPr>
      </p:sp>
      <p:sp>
        <p:nvSpPr>
          <p:cNvPr id="70" name="Text 6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How many figures should the answer have?</a:t>
            </a:r>
            <a:endParaRPr lang="en-US" sz="1300" dirty="0"/>
          </a:p>
        </p:txBody>
      </p:sp>
      <p:sp>
        <p:nvSpPr>
          <p:cNvPr id="71" name="Text 69"/>
          <p:cNvSpPr/>
          <p:nvPr/>
        </p:nvSpPr>
        <p:spPr>
          <a:xfrm>
            <a:off x="6382512" y="1609344"/>
            <a:ext cx="5233111" cy="16093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Significant figures are the digits that carry meaning, counted from the </a:t>
            </a:r>
            <a:r>
              <a:rPr lang="en-US" sz="1150" b="1" dirty="0">
                <a:solidFill>
                  <a:srgbClr val="262B3A"/>
                </a:solidFill>
                <a:latin typeface="Calibri" pitchFamily="34" charset="0"/>
                <a:ea typeface="Calibri" pitchFamily="34" charset="-122"/>
                <a:cs typeface="Calibri" pitchFamily="34" charset="-120"/>
              </a:rPr>
              <a:t>first non-zero digit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Give the answer to the </a:t>
            </a:r>
            <a:r>
              <a:rPr lang="en-US" sz="1150" b="1" dirty="0">
                <a:solidFill>
                  <a:srgbClr val="262B3A"/>
                </a:solidFill>
                <a:latin typeface="Calibri" pitchFamily="34" charset="0"/>
                <a:ea typeface="Calibri" pitchFamily="34" charset="-122"/>
                <a:cs typeface="Calibri" pitchFamily="34" charset="-120"/>
              </a:rPr>
              <a:t>same number of s.f. as the least precise data</a:t>
            </a:r>
            <a:r>
              <a:rPr lang="en-US" sz="1150" dirty="0">
                <a:solidFill>
                  <a:srgbClr val="262B3A"/>
                </a:solidFill>
                <a:latin typeface="Calibri" pitchFamily="34" charset="0"/>
                <a:ea typeface="Calibri" pitchFamily="34" charset="-122"/>
                <a:cs typeface="Calibri" pitchFamily="34" charset="-120"/>
              </a:rPr>
              <a:t> in the question (usually 2 or 3).</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Do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round in the middle of a calculation: keep the full value until the end.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Significant figures are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decimal places: 0.0045 has 2 s.f. but 4 decimal places.</a:t>
            </a:r>
            <a:endParaRPr lang="en-US" sz="1150" dirty="0"/>
          </a:p>
        </p:txBody>
      </p:sp>
      <p:sp>
        <p:nvSpPr>
          <p:cNvPr id="72" name="Shape 70"/>
          <p:cNvSpPr/>
          <p:nvPr/>
        </p:nvSpPr>
        <p:spPr>
          <a:xfrm>
            <a:off x="6217920" y="3429000"/>
            <a:ext cx="5562295" cy="2286000"/>
          </a:xfrm>
          <a:prstGeom prst="roundRect">
            <a:avLst>
              <a:gd name="adj" fmla="val 2400"/>
            </a:avLst>
          </a:prstGeom>
          <a:solidFill>
            <a:srgbClr val="FFF4E0"/>
          </a:solidFill>
          <a:ln w="9525">
            <a:solidFill>
              <a:srgbClr val="F1D9A8"/>
            </a:solidFill>
            <a:prstDash val="solid"/>
          </a:ln>
        </p:spPr>
      </p:sp>
      <p:sp>
        <p:nvSpPr>
          <p:cNvPr id="73" name="Text 71"/>
          <p:cNvSpPr/>
          <p:nvPr/>
        </p:nvSpPr>
        <p:spPr>
          <a:xfrm>
            <a:off x="6382512" y="3502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74" name="Text 72"/>
          <p:cNvSpPr/>
          <p:nvPr/>
        </p:nvSpPr>
        <p:spPr>
          <a:xfrm>
            <a:off x="6382512" y="3813048"/>
            <a:ext cx="5233111" cy="182880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lamp has 12 V across it and a current of 0.35 A. Calculate its resistance.</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Equation   </a:t>
            </a:r>
            <a:r>
              <a:rPr lang="en-US" sz="1100" dirty="0">
                <a:solidFill>
                  <a:srgbClr val="262B3A"/>
                </a:solidFill>
                <a:latin typeface="Calibri" pitchFamily="34" charset="0"/>
                <a:ea typeface="Calibri" pitchFamily="34" charset="-122"/>
                <a:cs typeface="Calibri" pitchFamily="34" charset="-120"/>
              </a:rPr>
              <a:t>V = I × R (Topic 10, RECALL)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Rearrange   </a:t>
            </a:r>
            <a:r>
              <a:rPr lang="en-US" sz="1100" dirty="0">
                <a:solidFill>
                  <a:srgbClr val="262B3A"/>
                </a:solidFill>
                <a:latin typeface="Calibri" pitchFamily="34" charset="0"/>
                <a:ea typeface="Calibri" pitchFamily="34" charset="-122"/>
                <a:cs typeface="Calibri" pitchFamily="34" charset="-120"/>
              </a:rPr>
              <a:t>R = V ÷ I</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Substitute   </a:t>
            </a:r>
            <a:r>
              <a:rPr lang="en-US" sz="1100" dirty="0">
                <a:solidFill>
                  <a:srgbClr val="262B3A"/>
                </a:solidFill>
                <a:latin typeface="Calibri" pitchFamily="34" charset="0"/>
                <a:ea typeface="Calibri" pitchFamily="34" charset="-122"/>
                <a:cs typeface="Calibri" pitchFamily="34" charset="-120"/>
              </a:rPr>
              <a:t>R = 12 V ÷ 0.35 A = 34.2857… Ω</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R = 34 Ω (2 s.f., like the data)</a:t>
            </a:r>
            <a:endParaRPr lang="en-US" sz="1100" dirty="0"/>
          </a:p>
        </p:txBody>
      </p:sp>
      <p:sp>
        <p:nvSpPr>
          <p:cNvPr id="75" name="Shape 73"/>
          <p:cNvSpPr/>
          <p:nvPr/>
        </p:nvSpPr>
        <p:spPr>
          <a:xfrm>
            <a:off x="411480" y="5833872"/>
            <a:ext cx="11368735" cy="530352"/>
          </a:xfrm>
          <a:prstGeom prst="rect">
            <a:avLst/>
          </a:prstGeom>
          <a:solidFill>
            <a:srgbClr val="FFF4E0"/>
          </a:solidFill>
          <a:ln w="6350">
            <a:solidFill>
              <a:srgbClr val="F1D9A8"/>
            </a:solidFill>
            <a:prstDash val="solid"/>
          </a:ln>
        </p:spPr>
      </p:sp>
      <p:sp>
        <p:nvSpPr>
          <p:cNvPr id="76" name="Shape 74"/>
          <p:cNvSpPr/>
          <p:nvPr/>
        </p:nvSpPr>
        <p:spPr>
          <a:xfrm>
            <a:off x="411480" y="5833872"/>
            <a:ext cx="82296" cy="530352"/>
          </a:xfrm>
          <a:prstGeom prst="rect">
            <a:avLst/>
          </a:prstGeom>
          <a:solidFill>
            <a:srgbClr val="E39A2F"/>
          </a:solidFill>
          <a:ln w="12700">
            <a:solidFill>
              <a:srgbClr val="E39A2F"/>
            </a:solidFill>
            <a:prstDash val="solid"/>
          </a:ln>
        </p:spPr>
      </p:sp>
      <p:sp>
        <p:nvSpPr>
          <p:cNvPr id="77" name="Text 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sprinter runs 100 m in 9.58 s. Calculate the average speed to 3 significant figures and to 2 significant figures.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Estimates and orders of magnitude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Working Scientifically 4c • use prefixes and powers of ten for orders of magnitude (maths skill 2h)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WS 4c  |  17</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drawn on a log scale: each major tick is 1000 times the one before</a:t>
            </a:r>
            <a:endParaRPr lang="en-US" sz="1000" dirty="0"/>
          </a:p>
        </p:txBody>
      </p:sp>
      <p:sp>
        <p:nvSpPr>
          <p:cNvPr id="10" name="Text 8"/>
          <p:cNvSpPr/>
          <p:nvPr/>
        </p:nvSpPr>
        <p:spPr>
          <a:xfrm>
            <a:off x="640080" y="1280160"/>
            <a:ext cx="521208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Sizes in metres, from atomic nuclei to galaxies</a:t>
            </a:r>
            <a:endParaRPr lang="en-US" sz="1150" dirty="0"/>
          </a:p>
        </p:txBody>
      </p:sp>
      <p:sp>
        <p:nvSpPr>
          <p:cNvPr id="11" name="Shape 9"/>
          <p:cNvSpPr/>
          <p:nvPr/>
        </p:nvSpPr>
        <p:spPr>
          <a:xfrm>
            <a:off x="777240" y="3200400"/>
            <a:ext cx="4846320" cy="91440"/>
          </a:xfrm>
          <a:prstGeom prst="rect">
            <a:avLst/>
          </a:prstGeom>
          <a:solidFill>
            <a:srgbClr val="C9D3E6"/>
          </a:solidFill>
          <a:ln/>
        </p:spPr>
      </p:sp>
      <p:sp>
        <p:nvSpPr>
          <p:cNvPr id="12" name="Shape 10"/>
          <p:cNvSpPr/>
          <p:nvPr/>
        </p:nvSpPr>
        <p:spPr>
          <a:xfrm>
            <a:off x="777240" y="3246120"/>
            <a:ext cx="5074920" cy="91"/>
          </a:xfrm>
          <a:prstGeom prst="line">
            <a:avLst/>
          </a:prstGeom>
          <a:noFill/>
          <a:ln w="25400">
            <a:solidFill>
              <a:srgbClr val="1A2340"/>
            </a:solidFill>
            <a:prstDash val="solid"/>
            <a:tailEnd type="triangle"/>
          </a:ln>
        </p:spPr>
      </p:sp>
      <p:sp>
        <p:nvSpPr>
          <p:cNvPr id="13" name="Shape 11"/>
          <p:cNvSpPr/>
          <p:nvPr/>
        </p:nvSpPr>
        <p:spPr>
          <a:xfrm>
            <a:off x="777240" y="3136392"/>
            <a:ext cx="91" cy="219456"/>
          </a:xfrm>
          <a:prstGeom prst="line">
            <a:avLst/>
          </a:prstGeom>
          <a:noFill/>
          <a:ln w="15875">
            <a:solidFill>
              <a:srgbClr val="1A2340"/>
            </a:solidFill>
            <a:prstDash val="solid"/>
          </a:ln>
        </p:spPr>
      </p:sp>
      <p:sp>
        <p:nvSpPr>
          <p:cNvPr id="14" name="Shape 12"/>
          <p:cNvSpPr/>
          <p:nvPr/>
        </p:nvSpPr>
        <p:spPr>
          <a:xfrm>
            <a:off x="911860" y="3200400"/>
            <a:ext cx="91" cy="91440"/>
          </a:xfrm>
          <a:prstGeom prst="line">
            <a:avLst/>
          </a:prstGeom>
          <a:noFill/>
          <a:ln w="6350">
            <a:solidFill>
              <a:srgbClr val="1A2340"/>
            </a:solidFill>
            <a:prstDash val="solid"/>
          </a:ln>
        </p:spPr>
      </p:sp>
      <p:sp>
        <p:nvSpPr>
          <p:cNvPr id="15" name="Shape 13"/>
          <p:cNvSpPr/>
          <p:nvPr/>
        </p:nvSpPr>
        <p:spPr>
          <a:xfrm>
            <a:off x="1046480" y="3200400"/>
            <a:ext cx="91" cy="91440"/>
          </a:xfrm>
          <a:prstGeom prst="line">
            <a:avLst/>
          </a:prstGeom>
          <a:noFill/>
          <a:ln w="6350">
            <a:solidFill>
              <a:srgbClr val="1A2340"/>
            </a:solidFill>
            <a:prstDash val="solid"/>
          </a:ln>
        </p:spPr>
      </p:sp>
      <p:sp>
        <p:nvSpPr>
          <p:cNvPr id="16" name="Shape 14"/>
          <p:cNvSpPr/>
          <p:nvPr/>
        </p:nvSpPr>
        <p:spPr>
          <a:xfrm>
            <a:off x="1181100" y="3136392"/>
            <a:ext cx="91" cy="219456"/>
          </a:xfrm>
          <a:prstGeom prst="line">
            <a:avLst/>
          </a:prstGeom>
          <a:noFill/>
          <a:ln w="15875">
            <a:solidFill>
              <a:srgbClr val="1A2340"/>
            </a:solidFill>
            <a:prstDash val="solid"/>
          </a:ln>
        </p:spPr>
      </p:sp>
      <p:sp>
        <p:nvSpPr>
          <p:cNvPr id="17" name="Shape 15"/>
          <p:cNvSpPr/>
          <p:nvPr/>
        </p:nvSpPr>
        <p:spPr>
          <a:xfrm>
            <a:off x="1315720" y="3200400"/>
            <a:ext cx="91" cy="91440"/>
          </a:xfrm>
          <a:prstGeom prst="line">
            <a:avLst/>
          </a:prstGeom>
          <a:noFill/>
          <a:ln w="6350">
            <a:solidFill>
              <a:srgbClr val="1A2340"/>
            </a:solidFill>
            <a:prstDash val="solid"/>
          </a:ln>
        </p:spPr>
      </p:sp>
      <p:sp>
        <p:nvSpPr>
          <p:cNvPr id="18" name="Shape 16"/>
          <p:cNvSpPr/>
          <p:nvPr/>
        </p:nvSpPr>
        <p:spPr>
          <a:xfrm>
            <a:off x="1450340" y="3200400"/>
            <a:ext cx="91" cy="91440"/>
          </a:xfrm>
          <a:prstGeom prst="line">
            <a:avLst/>
          </a:prstGeom>
          <a:noFill/>
          <a:ln w="6350">
            <a:solidFill>
              <a:srgbClr val="1A2340"/>
            </a:solidFill>
            <a:prstDash val="solid"/>
          </a:ln>
        </p:spPr>
      </p:sp>
      <p:sp>
        <p:nvSpPr>
          <p:cNvPr id="19" name="Shape 17"/>
          <p:cNvSpPr/>
          <p:nvPr/>
        </p:nvSpPr>
        <p:spPr>
          <a:xfrm>
            <a:off x="1584960" y="3136392"/>
            <a:ext cx="91" cy="219456"/>
          </a:xfrm>
          <a:prstGeom prst="line">
            <a:avLst/>
          </a:prstGeom>
          <a:noFill/>
          <a:ln w="15875">
            <a:solidFill>
              <a:srgbClr val="1A2340"/>
            </a:solidFill>
            <a:prstDash val="solid"/>
          </a:ln>
        </p:spPr>
      </p:sp>
      <p:sp>
        <p:nvSpPr>
          <p:cNvPr id="20" name="Shape 18"/>
          <p:cNvSpPr/>
          <p:nvPr/>
        </p:nvSpPr>
        <p:spPr>
          <a:xfrm>
            <a:off x="1719580" y="3200400"/>
            <a:ext cx="91" cy="91440"/>
          </a:xfrm>
          <a:prstGeom prst="line">
            <a:avLst/>
          </a:prstGeom>
          <a:noFill/>
          <a:ln w="6350">
            <a:solidFill>
              <a:srgbClr val="1A2340"/>
            </a:solidFill>
            <a:prstDash val="solid"/>
          </a:ln>
        </p:spPr>
      </p:sp>
      <p:sp>
        <p:nvSpPr>
          <p:cNvPr id="21" name="Shape 19"/>
          <p:cNvSpPr/>
          <p:nvPr/>
        </p:nvSpPr>
        <p:spPr>
          <a:xfrm>
            <a:off x="1854200" y="3200400"/>
            <a:ext cx="91" cy="91440"/>
          </a:xfrm>
          <a:prstGeom prst="line">
            <a:avLst/>
          </a:prstGeom>
          <a:noFill/>
          <a:ln w="6350">
            <a:solidFill>
              <a:srgbClr val="1A2340"/>
            </a:solidFill>
            <a:prstDash val="solid"/>
          </a:ln>
        </p:spPr>
      </p:sp>
      <p:sp>
        <p:nvSpPr>
          <p:cNvPr id="22" name="Shape 20"/>
          <p:cNvSpPr/>
          <p:nvPr/>
        </p:nvSpPr>
        <p:spPr>
          <a:xfrm>
            <a:off x="1988820" y="3136392"/>
            <a:ext cx="91" cy="219456"/>
          </a:xfrm>
          <a:prstGeom prst="line">
            <a:avLst/>
          </a:prstGeom>
          <a:noFill/>
          <a:ln w="15875">
            <a:solidFill>
              <a:srgbClr val="1A2340"/>
            </a:solidFill>
            <a:prstDash val="solid"/>
          </a:ln>
        </p:spPr>
      </p:sp>
      <p:sp>
        <p:nvSpPr>
          <p:cNvPr id="23" name="Shape 21"/>
          <p:cNvSpPr/>
          <p:nvPr/>
        </p:nvSpPr>
        <p:spPr>
          <a:xfrm>
            <a:off x="2123440" y="3200400"/>
            <a:ext cx="91" cy="91440"/>
          </a:xfrm>
          <a:prstGeom prst="line">
            <a:avLst/>
          </a:prstGeom>
          <a:noFill/>
          <a:ln w="6350">
            <a:solidFill>
              <a:srgbClr val="1A2340"/>
            </a:solidFill>
            <a:prstDash val="solid"/>
          </a:ln>
        </p:spPr>
      </p:sp>
      <p:sp>
        <p:nvSpPr>
          <p:cNvPr id="24" name="Shape 22"/>
          <p:cNvSpPr/>
          <p:nvPr/>
        </p:nvSpPr>
        <p:spPr>
          <a:xfrm>
            <a:off x="2258060" y="3200400"/>
            <a:ext cx="91" cy="91440"/>
          </a:xfrm>
          <a:prstGeom prst="line">
            <a:avLst/>
          </a:prstGeom>
          <a:noFill/>
          <a:ln w="6350">
            <a:solidFill>
              <a:srgbClr val="1A2340"/>
            </a:solidFill>
            <a:prstDash val="solid"/>
          </a:ln>
        </p:spPr>
      </p:sp>
      <p:sp>
        <p:nvSpPr>
          <p:cNvPr id="25" name="Shape 23"/>
          <p:cNvSpPr/>
          <p:nvPr/>
        </p:nvSpPr>
        <p:spPr>
          <a:xfrm>
            <a:off x="2392680" y="3136392"/>
            <a:ext cx="91" cy="219456"/>
          </a:xfrm>
          <a:prstGeom prst="line">
            <a:avLst/>
          </a:prstGeom>
          <a:noFill/>
          <a:ln w="15875">
            <a:solidFill>
              <a:srgbClr val="1A2340"/>
            </a:solidFill>
            <a:prstDash val="solid"/>
          </a:ln>
        </p:spPr>
      </p:sp>
      <p:sp>
        <p:nvSpPr>
          <p:cNvPr id="26" name="Shape 24"/>
          <p:cNvSpPr/>
          <p:nvPr/>
        </p:nvSpPr>
        <p:spPr>
          <a:xfrm>
            <a:off x="2527300" y="3200400"/>
            <a:ext cx="91" cy="91440"/>
          </a:xfrm>
          <a:prstGeom prst="line">
            <a:avLst/>
          </a:prstGeom>
          <a:noFill/>
          <a:ln w="6350">
            <a:solidFill>
              <a:srgbClr val="1A2340"/>
            </a:solidFill>
            <a:prstDash val="solid"/>
          </a:ln>
        </p:spPr>
      </p:sp>
      <p:sp>
        <p:nvSpPr>
          <p:cNvPr id="27" name="Shape 25"/>
          <p:cNvSpPr/>
          <p:nvPr/>
        </p:nvSpPr>
        <p:spPr>
          <a:xfrm>
            <a:off x="2661920" y="3200400"/>
            <a:ext cx="91" cy="91440"/>
          </a:xfrm>
          <a:prstGeom prst="line">
            <a:avLst/>
          </a:prstGeom>
          <a:noFill/>
          <a:ln w="6350">
            <a:solidFill>
              <a:srgbClr val="1A2340"/>
            </a:solidFill>
            <a:prstDash val="solid"/>
          </a:ln>
        </p:spPr>
      </p:sp>
      <p:sp>
        <p:nvSpPr>
          <p:cNvPr id="28" name="Shape 26"/>
          <p:cNvSpPr/>
          <p:nvPr/>
        </p:nvSpPr>
        <p:spPr>
          <a:xfrm>
            <a:off x="2796540" y="3136392"/>
            <a:ext cx="91" cy="219456"/>
          </a:xfrm>
          <a:prstGeom prst="line">
            <a:avLst/>
          </a:prstGeom>
          <a:noFill/>
          <a:ln w="15875">
            <a:solidFill>
              <a:srgbClr val="1A2340"/>
            </a:solidFill>
            <a:prstDash val="solid"/>
          </a:ln>
        </p:spPr>
      </p:sp>
      <p:sp>
        <p:nvSpPr>
          <p:cNvPr id="29" name="Shape 27"/>
          <p:cNvSpPr/>
          <p:nvPr/>
        </p:nvSpPr>
        <p:spPr>
          <a:xfrm>
            <a:off x="2931160" y="3200400"/>
            <a:ext cx="91" cy="91440"/>
          </a:xfrm>
          <a:prstGeom prst="line">
            <a:avLst/>
          </a:prstGeom>
          <a:noFill/>
          <a:ln w="6350">
            <a:solidFill>
              <a:srgbClr val="1A2340"/>
            </a:solidFill>
            <a:prstDash val="solid"/>
          </a:ln>
        </p:spPr>
      </p:sp>
      <p:sp>
        <p:nvSpPr>
          <p:cNvPr id="30" name="Shape 28"/>
          <p:cNvSpPr/>
          <p:nvPr/>
        </p:nvSpPr>
        <p:spPr>
          <a:xfrm>
            <a:off x="3065780" y="3200400"/>
            <a:ext cx="91" cy="91440"/>
          </a:xfrm>
          <a:prstGeom prst="line">
            <a:avLst/>
          </a:prstGeom>
          <a:noFill/>
          <a:ln w="6350">
            <a:solidFill>
              <a:srgbClr val="1A2340"/>
            </a:solidFill>
            <a:prstDash val="solid"/>
          </a:ln>
        </p:spPr>
      </p:sp>
      <p:sp>
        <p:nvSpPr>
          <p:cNvPr id="31" name="Shape 29"/>
          <p:cNvSpPr/>
          <p:nvPr/>
        </p:nvSpPr>
        <p:spPr>
          <a:xfrm>
            <a:off x="3200400" y="3136392"/>
            <a:ext cx="91" cy="219456"/>
          </a:xfrm>
          <a:prstGeom prst="line">
            <a:avLst/>
          </a:prstGeom>
          <a:noFill/>
          <a:ln w="15875">
            <a:solidFill>
              <a:srgbClr val="1A2340"/>
            </a:solidFill>
            <a:prstDash val="solid"/>
          </a:ln>
        </p:spPr>
      </p:sp>
      <p:sp>
        <p:nvSpPr>
          <p:cNvPr id="32" name="Shape 30"/>
          <p:cNvSpPr/>
          <p:nvPr/>
        </p:nvSpPr>
        <p:spPr>
          <a:xfrm>
            <a:off x="3335020" y="3200400"/>
            <a:ext cx="91" cy="91440"/>
          </a:xfrm>
          <a:prstGeom prst="line">
            <a:avLst/>
          </a:prstGeom>
          <a:noFill/>
          <a:ln w="6350">
            <a:solidFill>
              <a:srgbClr val="1A2340"/>
            </a:solidFill>
            <a:prstDash val="solid"/>
          </a:ln>
        </p:spPr>
      </p:sp>
      <p:sp>
        <p:nvSpPr>
          <p:cNvPr id="33" name="Shape 31"/>
          <p:cNvSpPr/>
          <p:nvPr/>
        </p:nvSpPr>
        <p:spPr>
          <a:xfrm>
            <a:off x="3469640" y="3200400"/>
            <a:ext cx="91" cy="91440"/>
          </a:xfrm>
          <a:prstGeom prst="line">
            <a:avLst/>
          </a:prstGeom>
          <a:noFill/>
          <a:ln w="6350">
            <a:solidFill>
              <a:srgbClr val="1A2340"/>
            </a:solidFill>
            <a:prstDash val="solid"/>
          </a:ln>
        </p:spPr>
      </p:sp>
      <p:sp>
        <p:nvSpPr>
          <p:cNvPr id="34" name="Shape 32"/>
          <p:cNvSpPr/>
          <p:nvPr/>
        </p:nvSpPr>
        <p:spPr>
          <a:xfrm>
            <a:off x="3604260" y="3136392"/>
            <a:ext cx="91" cy="219456"/>
          </a:xfrm>
          <a:prstGeom prst="line">
            <a:avLst/>
          </a:prstGeom>
          <a:noFill/>
          <a:ln w="15875">
            <a:solidFill>
              <a:srgbClr val="1A2340"/>
            </a:solidFill>
            <a:prstDash val="solid"/>
          </a:ln>
        </p:spPr>
      </p:sp>
      <p:sp>
        <p:nvSpPr>
          <p:cNvPr id="35" name="Shape 33"/>
          <p:cNvSpPr/>
          <p:nvPr/>
        </p:nvSpPr>
        <p:spPr>
          <a:xfrm>
            <a:off x="3738880" y="3200400"/>
            <a:ext cx="91" cy="91440"/>
          </a:xfrm>
          <a:prstGeom prst="line">
            <a:avLst/>
          </a:prstGeom>
          <a:noFill/>
          <a:ln w="6350">
            <a:solidFill>
              <a:srgbClr val="1A2340"/>
            </a:solidFill>
            <a:prstDash val="solid"/>
          </a:ln>
        </p:spPr>
      </p:sp>
      <p:sp>
        <p:nvSpPr>
          <p:cNvPr id="36" name="Shape 34"/>
          <p:cNvSpPr/>
          <p:nvPr/>
        </p:nvSpPr>
        <p:spPr>
          <a:xfrm>
            <a:off x="3873500" y="3200400"/>
            <a:ext cx="91" cy="91440"/>
          </a:xfrm>
          <a:prstGeom prst="line">
            <a:avLst/>
          </a:prstGeom>
          <a:noFill/>
          <a:ln w="6350">
            <a:solidFill>
              <a:srgbClr val="1A2340"/>
            </a:solidFill>
            <a:prstDash val="solid"/>
          </a:ln>
        </p:spPr>
      </p:sp>
      <p:sp>
        <p:nvSpPr>
          <p:cNvPr id="37" name="Shape 35"/>
          <p:cNvSpPr/>
          <p:nvPr/>
        </p:nvSpPr>
        <p:spPr>
          <a:xfrm>
            <a:off x="4008120" y="3136392"/>
            <a:ext cx="91" cy="219456"/>
          </a:xfrm>
          <a:prstGeom prst="line">
            <a:avLst/>
          </a:prstGeom>
          <a:noFill/>
          <a:ln w="15875">
            <a:solidFill>
              <a:srgbClr val="1A2340"/>
            </a:solidFill>
            <a:prstDash val="solid"/>
          </a:ln>
        </p:spPr>
      </p:sp>
      <p:sp>
        <p:nvSpPr>
          <p:cNvPr id="38" name="Shape 36"/>
          <p:cNvSpPr/>
          <p:nvPr/>
        </p:nvSpPr>
        <p:spPr>
          <a:xfrm>
            <a:off x="4142740" y="3200400"/>
            <a:ext cx="91" cy="91440"/>
          </a:xfrm>
          <a:prstGeom prst="line">
            <a:avLst/>
          </a:prstGeom>
          <a:noFill/>
          <a:ln w="6350">
            <a:solidFill>
              <a:srgbClr val="1A2340"/>
            </a:solidFill>
            <a:prstDash val="solid"/>
          </a:ln>
        </p:spPr>
      </p:sp>
      <p:sp>
        <p:nvSpPr>
          <p:cNvPr id="39" name="Shape 37"/>
          <p:cNvSpPr/>
          <p:nvPr/>
        </p:nvSpPr>
        <p:spPr>
          <a:xfrm>
            <a:off x="4277360" y="3200400"/>
            <a:ext cx="91" cy="91440"/>
          </a:xfrm>
          <a:prstGeom prst="line">
            <a:avLst/>
          </a:prstGeom>
          <a:noFill/>
          <a:ln w="6350">
            <a:solidFill>
              <a:srgbClr val="1A2340"/>
            </a:solidFill>
            <a:prstDash val="solid"/>
          </a:ln>
        </p:spPr>
      </p:sp>
      <p:sp>
        <p:nvSpPr>
          <p:cNvPr id="40" name="Shape 38"/>
          <p:cNvSpPr/>
          <p:nvPr/>
        </p:nvSpPr>
        <p:spPr>
          <a:xfrm>
            <a:off x="4411980" y="3136392"/>
            <a:ext cx="91" cy="219456"/>
          </a:xfrm>
          <a:prstGeom prst="line">
            <a:avLst/>
          </a:prstGeom>
          <a:noFill/>
          <a:ln w="15875">
            <a:solidFill>
              <a:srgbClr val="1A2340"/>
            </a:solidFill>
            <a:prstDash val="solid"/>
          </a:ln>
        </p:spPr>
      </p:sp>
      <p:sp>
        <p:nvSpPr>
          <p:cNvPr id="41" name="Shape 39"/>
          <p:cNvSpPr/>
          <p:nvPr/>
        </p:nvSpPr>
        <p:spPr>
          <a:xfrm>
            <a:off x="4546600" y="3200400"/>
            <a:ext cx="91" cy="91440"/>
          </a:xfrm>
          <a:prstGeom prst="line">
            <a:avLst/>
          </a:prstGeom>
          <a:noFill/>
          <a:ln w="6350">
            <a:solidFill>
              <a:srgbClr val="1A2340"/>
            </a:solidFill>
            <a:prstDash val="solid"/>
          </a:ln>
        </p:spPr>
      </p:sp>
      <p:sp>
        <p:nvSpPr>
          <p:cNvPr id="42" name="Shape 40"/>
          <p:cNvSpPr/>
          <p:nvPr/>
        </p:nvSpPr>
        <p:spPr>
          <a:xfrm>
            <a:off x="4681220" y="3200400"/>
            <a:ext cx="91" cy="91440"/>
          </a:xfrm>
          <a:prstGeom prst="line">
            <a:avLst/>
          </a:prstGeom>
          <a:noFill/>
          <a:ln w="6350">
            <a:solidFill>
              <a:srgbClr val="1A2340"/>
            </a:solidFill>
            <a:prstDash val="solid"/>
          </a:ln>
        </p:spPr>
      </p:sp>
      <p:sp>
        <p:nvSpPr>
          <p:cNvPr id="43" name="Shape 41"/>
          <p:cNvSpPr/>
          <p:nvPr/>
        </p:nvSpPr>
        <p:spPr>
          <a:xfrm>
            <a:off x="4815840" y="3136392"/>
            <a:ext cx="91" cy="219456"/>
          </a:xfrm>
          <a:prstGeom prst="line">
            <a:avLst/>
          </a:prstGeom>
          <a:noFill/>
          <a:ln w="15875">
            <a:solidFill>
              <a:srgbClr val="1A2340"/>
            </a:solidFill>
            <a:prstDash val="solid"/>
          </a:ln>
        </p:spPr>
      </p:sp>
      <p:sp>
        <p:nvSpPr>
          <p:cNvPr id="44" name="Shape 42"/>
          <p:cNvSpPr/>
          <p:nvPr/>
        </p:nvSpPr>
        <p:spPr>
          <a:xfrm>
            <a:off x="4950460" y="3200400"/>
            <a:ext cx="91" cy="91440"/>
          </a:xfrm>
          <a:prstGeom prst="line">
            <a:avLst/>
          </a:prstGeom>
          <a:noFill/>
          <a:ln w="6350">
            <a:solidFill>
              <a:srgbClr val="1A2340"/>
            </a:solidFill>
            <a:prstDash val="solid"/>
          </a:ln>
        </p:spPr>
      </p:sp>
      <p:sp>
        <p:nvSpPr>
          <p:cNvPr id="45" name="Shape 43"/>
          <p:cNvSpPr/>
          <p:nvPr/>
        </p:nvSpPr>
        <p:spPr>
          <a:xfrm>
            <a:off x="5085080" y="3200400"/>
            <a:ext cx="91" cy="91440"/>
          </a:xfrm>
          <a:prstGeom prst="line">
            <a:avLst/>
          </a:prstGeom>
          <a:noFill/>
          <a:ln w="6350">
            <a:solidFill>
              <a:srgbClr val="1A2340"/>
            </a:solidFill>
            <a:prstDash val="solid"/>
          </a:ln>
        </p:spPr>
      </p:sp>
      <p:sp>
        <p:nvSpPr>
          <p:cNvPr id="46" name="Shape 44"/>
          <p:cNvSpPr/>
          <p:nvPr/>
        </p:nvSpPr>
        <p:spPr>
          <a:xfrm>
            <a:off x="5219700" y="3136392"/>
            <a:ext cx="91" cy="219456"/>
          </a:xfrm>
          <a:prstGeom prst="line">
            <a:avLst/>
          </a:prstGeom>
          <a:noFill/>
          <a:ln w="15875">
            <a:solidFill>
              <a:srgbClr val="1A2340"/>
            </a:solidFill>
            <a:prstDash val="solid"/>
          </a:ln>
        </p:spPr>
      </p:sp>
      <p:sp>
        <p:nvSpPr>
          <p:cNvPr id="47" name="Shape 45"/>
          <p:cNvSpPr/>
          <p:nvPr/>
        </p:nvSpPr>
        <p:spPr>
          <a:xfrm>
            <a:off x="5354320" y="3200400"/>
            <a:ext cx="91" cy="91440"/>
          </a:xfrm>
          <a:prstGeom prst="line">
            <a:avLst/>
          </a:prstGeom>
          <a:noFill/>
          <a:ln w="6350">
            <a:solidFill>
              <a:srgbClr val="1A2340"/>
            </a:solidFill>
            <a:prstDash val="solid"/>
          </a:ln>
        </p:spPr>
      </p:sp>
      <p:sp>
        <p:nvSpPr>
          <p:cNvPr id="48" name="Shape 46"/>
          <p:cNvSpPr/>
          <p:nvPr/>
        </p:nvSpPr>
        <p:spPr>
          <a:xfrm>
            <a:off x="5488940" y="3200400"/>
            <a:ext cx="91" cy="91440"/>
          </a:xfrm>
          <a:prstGeom prst="line">
            <a:avLst/>
          </a:prstGeom>
          <a:noFill/>
          <a:ln w="6350">
            <a:solidFill>
              <a:srgbClr val="1A2340"/>
            </a:solidFill>
            <a:prstDash val="solid"/>
          </a:ln>
        </p:spPr>
      </p:sp>
      <p:sp>
        <p:nvSpPr>
          <p:cNvPr id="49" name="Shape 47"/>
          <p:cNvSpPr/>
          <p:nvPr/>
        </p:nvSpPr>
        <p:spPr>
          <a:xfrm>
            <a:off x="5623560" y="3136392"/>
            <a:ext cx="91" cy="219456"/>
          </a:xfrm>
          <a:prstGeom prst="line">
            <a:avLst/>
          </a:prstGeom>
          <a:noFill/>
          <a:ln w="15875">
            <a:solidFill>
              <a:srgbClr val="1A2340"/>
            </a:solidFill>
            <a:prstDash val="solid"/>
          </a:ln>
        </p:spPr>
      </p:sp>
      <p:sp>
        <p:nvSpPr>
          <p:cNvPr id="50" name="Text 48"/>
          <p:cNvSpPr/>
          <p:nvPr/>
        </p:nvSpPr>
        <p:spPr>
          <a:xfrm>
            <a:off x="50292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10⁻¹⁵</a:t>
            </a:r>
            <a:endParaRPr lang="en-US" sz="1000" dirty="0"/>
          </a:p>
        </p:txBody>
      </p:sp>
      <p:sp>
        <p:nvSpPr>
          <p:cNvPr id="51" name="Text 49"/>
          <p:cNvSpPr/>
          <p:nvPr/>
        </p:nvSpPr>
        <p:spPr>
          <a:xfrm>
            <a:off x="131064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10⁻⁹</a:t>
            </a:r>
            <a:endParaRPr lang="en-US" sz="1000" dirty="0"/>
          </a:p>
        </p:txBody>
      </p:sp>
      <p:sp>
        <p:nvSpPr>
          <p:cNvPr id="52" name="Text 50"/>
          <p:cNvSpPr/>
          <p:nvPr/>
        </p:nvSpPr>
        <p:spPr>
          <a:xfrm>
            <a:off x="211836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10⁻³</a:t>
            </a:r>
            <a:endParaRPr lang="en-US" sz="1000" dirty="0"/>
          </a:p>
        </p:txBody>
      </p:sp>
      <p:sp>
        <p:nvSpPr>
          <p:cNvPr id="53" name="Text 51"/>
          <p:cNvSpPr/>
          <p:nvPr/>
        </p:nvSpPr>
        <p:spPr>
          <a:xfrm>
            <a:off x="292608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10³</a:t>
            </a:r>
            <a:endParaRPr lang="en-US" sz="1000" dirty="0"/>
          </a:p>
        </p:txBody>
      </p:sp>
      <p:sp>
        <p:nvSpPr>
          <p:cNvPr id="54" name="Text 52"/>
          <p:cNvSpPr/>
          <p:nvPr/>
        </p:nvSpPr>
        <p:spPr>
          <a:xfrm>
            <a:off x="373380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10⁹</a:t>
            </a:r>
            <a:endParaRPr lang="en-US" sz="1000" dirty="0"/>
          </a:p>
        </p:txBody>
      </p:sp>
      <p:sp>
        <p:nvSpPr>
          <p:cNvPr id="55" name="Text 53"/>
          <p:cNvSpPr/>
          <p:nvPr/>
        </p:nvSpPr>
        <p:spPr>
          <a:xfrm>
            <a:off x="454152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10¹⁵</a:t>
            </a:r>
            <a:endParaRPr lang="en-US" sz="1000" dirty="0"/>
          </a:p>
        </p:txBody>
      </p:sp>
      <p:sp>
        <p:nvSpPr>
          <p:cNvPr id="56" name="Text 54"/>
          <p:cNvSpPr/>
          <p:nvPr/>
        </p:nvSpPr>
        <p:spPr>
          <a:xfrm>
            <a:off x="5349240" y="3374136"/>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10²¹</a:t>
            </a:r>
            <a:endParaRPr lang="en-US" sz="1000" dirty="0"/>
          </a:p>
        </p:txBody>
      </p:sp>
      <p:sp>
        <p:nvSpPr>
          <p:cNvPr id="57" name="Text 55"/>
          <p:cNvSpPr/>
          <p:nvPr/>
        </p:nvSpPr>
        <p:spPr>
          <a:xfrm>
            <a:off x="5074920" y="3575304"/>
            <a:ext cx="914400" cy="18288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size / m</a:t>
            </a:r>
            <a:endParaRPr lang="en-US" sz="1000" dirty="0"/>
          </a:p>
        </p:txBody>
      </p:sp>
      <p:sp>
        <p:nvSpPr>
          <p:cNvPr id="58" name="Shape 56"/>
          <p:cNvSpPr/>
          <p:nvPr/>
        </p:nvSpPr>
        <p:spPr>
          <a:xfrm flipV="1">
            <a:off x="804719" y="2606040"/>
            <a:ext cx="91" cy="640080"/>
          </a:xfrm>
          <a:prstGeom prst="line">
            <a:avLst/>
          </a:prstGeom>
          <a:noFill/>
          <a:ln w="12700">
            <a:solidFill>
              <a:srgbClr val="2E5BD8"/>
            </a:solidFill>
            <a:prstDash val="solid"/>
          </a:ln>
        </p:spPr>
      </p:sp>
      <p:sp>
        <p:nvSpPr>
          <p:cNvPr id="59" name="Shape 57"/>
          <p:cNvSpPr/>
          <p:nvPr/>
        </p:nvSpPr>
        <p:spPr>
          <a:xfrm>
            <a:off x="749855" y="3191256"/>
            <a:ext cx="109728" cy="109728"/>
          </a:xfrm>
          <a:prstGeom prst="ellipse">
            <a:avLst/>
          </a:prstGeom>
          <a:solidFill>
            <a:srgbClr val="C8414C"/>
          </a:solidFill>
          <a:ln w="6350">
            <a:solidFill>
              <a:srgbClr val="FFFFFF"/>
            </a:solidFill>
            <a:prstDash val="solid"/>
          </a:ln>
        </p:spPr>
      </p:sp>
      <p:sp>
        <p:nvSpPr>
          <p:cNvPr id="60" name="Text 58"/>
          <p:cNvSpPr/>
          <p:nvPr/>
        </p:nvSpPr>
        <p:spPr>
          <a:xfrm>
            <a:off x="731567" y="2185416"/>
            <a:ext cx="960120" cy="402336"/>
          </a:xfrm>
          <a:prstGeom prst="rect">
            <a:avLst/>
          </a:prstGeom>
          <a:noFill/>
          <a:ln/>
        </p:spPr>
        <p:txBody>
          <a:bodyPr wrap="square" lIns="0" tIns="0" rIns="0" bIns="0" rtlCol="0" anchor="ctr"/>
          <a:lstStyle/>
          <a:p>
            <a:pPr algn="l" indent="0" marL="0">
              <a:buNone/>
            </a:pPr>
            <a:r>
              <a:rPr lang="en-US" sz="1000" b="1" dirty="0">
                <a:solidFill>
                  <a:srgbClr val="1A2340"/>
                </a:solidFill>
                <a:latin typeface="Calibri" pitchFamily="34" charset="0"/>
                <a:ea typeface="Calibri" pitchFamily="34" charset="-122"/>
                <a:cs typeface="Calibri" pitchFamily="34" charset="-120"/>
              </a:rPr>
              <a:t>nucleus</a:t>
            </a:r>
            <a:endParaRPr lang="en-US" sz="1000" dirty="0"/>
          </a:p>
          <a:p>
            <a:pPr algn="l" indent="0" marL="0">
              <a:buNone/>
            </a:pPr>
            <a:r>
              <a:rPr lang="en-US" sz="1000" b="1" dirty="0">
                <a:solidFill>
                  <a:srgbClr val="1A2340"/>
                </a:solidFill>
                <a:latin typeface="Calibri" pitchFamily="34" charset="0"/>
                <a:ea typeface="Calibri" pitchFamily="34" charset="-122"/>
                <a:cs typeface="Calibri" pitchFamily="34" charset="-120"/>
              </a:rPr>
              <a:t>1.6 × 10⁻¹⁵ m</a:t>
            </a:r>
            <a:endParaRPr lang="en-US" sz="1000" dirty="0"/>
          </a:p>
        </p:txBody>
      </p:sp>
      <p:sp>
        <p:nvSpPr>
          <p:cNvPr id="61" name="Shape 59"/>
          <p:cNvSpPr/>
          <p:nvPr/>
        </p:nvSpPr>
        <p:spPr>
          <a:xfrm>
            <a:off x="1450340" y="3246120"/>
            <a:ext cx="91" cy="685800"/>
          </a:xfrm>
          <a:prstGeom prst="line">
            <a:avLst/>
          </a:prstGeom>
          <a:noFill/>
          <a:ln w="12700">
            <a:solidFill>
              <a:srgbClr val="2E5BD8"/>
            </a:solidFill>
            <a:prstDash val="solid"/>
          </a:ln>
        </p:spPr>
      </p:sp>
      <p:sp>
        <p:nvSpPr>
          <p:cNvPr id="62" name="Shape 60"/>
          <p:cNvSpPr/>
          <p:nvPr/>
        </p:nvSpPr>
        <p:spPr>
          <a:xfrm>
            <a:off x="1395476" y="3191256"/>
            <a:ext cx="109728" cy="109728"/>
          </a:xfrm>
          <a:prstGeom prst="ellipse">
            <a:avLst/>
          </a:prstGeom>
          <a:solidFill>
            <a:srgbClr val="C8414C"/>
          </a:solidFill>
          <a:ln w="6350">
            <a:solidFill>
              <a:srgbClr val="FFFFFF"/>
            </a:solidFill>
            <a:prstDash val="solid"/>
          </a:ln>
        </p:spPr>
      </p:sp>
      <p:sp>
        <p:nvSpPr>
          <p:cNvPr id="63" name="Text 61"/>
          <p:cNvSpPr/>
          <p:nvPr/>
        </p:nvSpPr>
        <p:spPr>
          <a:xfrm>
            <a:off x="970280" y="3950208"/>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atom</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10⁻¹⁰ m</a:t>
            </a:r>
            <a:endParaRPr lang="en-US" sz="1000" dirty="0"/>
          </a:p>
        </p:txBody>
      </p:sp>
      <p:sp>
        <p:nvSpPr>
          <p:cNvPr id="64" name="Shape 62"/>
          <p:cNvSpPr/>
          <p:nvPr/>
        </p:nvSpPr>
        <p:spPr>
          <a:xfrm flipV="1">
            <a:off x="1854200" y="2606040"/>
            <a:ext cx="91" cy="640080"/>
          </a:xfrm>
          <a:prstGeom prst="line">
            <a:avLst/>
          </a:prstGeom>
          <a:noFill/>
          <a:ln w="12700">
            <a:solidFill>
              <a:srgbClr val="2E5BD8"/>
            </a:solidFill>
            <a:prstDash val="solid"/>
          </a:ln>
        </p:spPr>
      </p:sp>
      <p:sp>
        <p:nvSpPr>
          <p:cNvPr id="65" name="Shape 63"/>
          <p:cNvSpPr/>
          <p:nvPr/>
        </p:nvSpPr>
        <p:spPr>
          <a:xfrm>
            <a:off x="1799336" y="3191256"/>
            <a:ext cx="109728" cy="109728"/>
          </a:xfrm>
          <a:prstGeom prst="ellipse">
            <a:avLst/>
          </a:prstGeom>
          <a:solidFill>
            <a:srgbClr val="C8414C"/>
          </a:solidFill>
          <a:ln w="6350">
            <a:solidFill>
              <a:srgbClr val="FFFFFF"/>
            </a:solidFill>
            <a:prstDash val="solid"/>
          </a:ln>
        </p:spPr>
      </p:sp>
      <p:sp>
        <p:nvSpPr>
          <p:cNvPr id="66" name="Text 64"/>
          <p:cNvSpPr/>
          <p:nvPr/>
        </p:nvSpPr>
        <p:spPr>
          <a:xfrm>
            <a:off x="1374140" y="2185416"/>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virus</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10⁻⁷ m</a:t>
            </a:r>
            <a:endParaRPr lang="en-US" sz="1000" dirty="0"/>
          </a:p>
        </p:txBody>
      </p:sp>
      <p:sp>
        <p:nvSpPr>
          <p:cNvPr id="67" name="Shape 65"/>
          <p:cNvSpPr/>
          <p:nvPr/>
        </p:nvSpPr>
        <p:spPr>
          <a:xfrm>
            <a:off x="2110394" y="3246120"/>
            <a:ext cx="91" cy="1325880"/>
          </a:xfrm>
          <a:prstGeom prst="line">
            <a:avLst/>
          </a:prstGeom>
          <a:noFill/>
          <a:ln w="12700">
            <a:solidFill>
              <a:srgbClr val="2E5BD8"/>
            </a:solidFill>
            <a:prstDash val="solid"/>
          </a:ln>
        </p:spPr>
      </p:sp>
      <p:sp>
        <p:nvSpPr>
          <p:cNvPr id="68" name="Shape 66"/>
          <p:cNvSpPr/>
          <p:nvPr/>
        </p:nvSpPr>
        <p:spPr>
          <a:xfrm>
            <a:off x="2055530" y="3191256"/>
            <a:ext cx="109728" cy="109728"/>
          </a:xfrm>
          <a:prstGeom prst="ellipse">
            <a:avLst/>
          </a:prstGeom>
          <a:solidFill>
            <a:srgbClr val="C8414C"/>
          </a:solidFill>
          <a:ln w="6350">
            <a:solidFill>
              <a:srgbClr val="FFFFFF"/>
            </a:solidFill>
            <a:prstDash val="solid"/>
          </a:ln>
        </p:spPr>
      </p:sp>
      <p:sp>
        <p:nvSpPr>
          <p:cNvPr id="69" name="Text 67"/>
          <p:cNvSpPr/>
          <p:nvPr/>
        </p:nvSpPr>
        <p:spPr>
          <a:xfrm>
            <a:off x="1630334" y="4590288"/>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red blood cell</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8 × 10⁻⁶ m</a:t>
            </a:r>
            <a:endParaRPr lang="en-US" sz="1000" dirty="0"/>
          </a:p>
        </p:txBody>
      </p:sp>
      <p:sp>
        <p:nvSpPr>
          <p:cNvPr id="70" name="Shape 68"/>
          <p:cNvSpPr/>
          <p:nvPr/>
        </p:nvSpPr>
        <p:spPr>
          <a:xfrm flipV="1">
            <a:off x="2827563" y="2606040"/>
            <a:ext cx="91" cy="640080"/>
          </a:xfrm>
          <a:prstGeom prst="line">
            <a:avLst/>
          </a:prstGeom>
          <a:noFill/>
          <a:ln w="12700">
            <a:solidFill>
              <a:srgbClr val="2E5BD8"/>
            </a:solidFill>
            <a:prstDash val="solid"/>
          </a:ln>
        </p:spPr>
      </p:sp>
      <p:sp>
        <p:nvSpPr>
          <p:cNvPr id="71" name="Shape 69"/>
          <p:cNvSpPr/>
          <p:nvPr/>
        </p:nvSpPr>
        <p:spPr>
          <a:xfrm>
            <a:off x="2772699" y="3191256"/>
            <a:ext cx="109728" cy="109728"/>
          </a:xfrm>
          <a:prstGeom prst="ellipse">
            <a:avLst/>
          </a:prstGeom>
          <a:solidFill>
            <a:srgbClr val="C8414C"/>
          </a:solidFill>
          <a:ln w="6350">
            <a:solidFill>
              <a:srgbClr val="FFFFFF"/>
            </a:solidFill>
            <a:prstDash val="solid"/>
          </a:ln>
        </p:spPr>
      </p:sp>
      <p:sp>
        <p:nvSpPr>
          <p:cNvPr id="72" name="Text 70"/>
          <p:cNvSpPr/>
          <p:nvPr/>
        </p:nvSpPr>
        <p:spPr>
          <a:xfrm>
            <a:off x="2347503" y="2185416"/>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person</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1.7 m</a:t>
            </a:r>
            <a:endParaRPr lang="en-US" sz="1000" dirty="0"/>
          </a:p>
        </p:txBody>
      </p:sp>
      <p:sp>
        <p:nvSpPr>
          <p:cNvPr id="73" name="Shape 71"/>
          <p:cNvSpPr/>
          <p:nvPr/>
        </p:nvSpPr>
        <p:spPr>
          <a:xfrm>
            <a:off x="3327546" y="3246120"/>
            <a:ext cx="91" cy="685800"/>
          </a:xfrm>
          <a:prstGeom prst="line">
            <a:avLst/>
          </a:prstGeom>
          <a:noFill/>
          <a:ln w="12700">
            <a:solidFill>
              <a:srgbClr val="2E5BD8"/>
            </a:solidFill>
            <a:prstDash val="solid"/>
          </a:ln>
        </p:spPr>
      </p:sp>
      <p:sp>
        <p:nvSpPr>
          <p:cNvPr id="74" name="Shape 72"/>
          <p:cNvSpPr/>
          <p:nvPr/>
        </p:nvSpPr>
        <p:spPr>
          <a:xfrm>
            <a:off x="3272682" y="3191256"/>
            <a:ext cx="109728" cy="109728"/>
          </a:xfrm>
          <a:prstGeom prst="ellipse">
            <a:avLst/>
          </a:prstGeom>
          <a:solidFill>
            <a:srgbClr val="C8414C"/>
          </a:solidFill>
          <a:ln w="6350">
            <a:solidFill>
              <a:srgbClr val="FFFFFF"/>
            </a:solidFill>
            <a:prstDash val="solid"/>
          </a:ln>
        </p:spPr>
      </p:sp>
      <p:sp>
        <p:nvSpPr>
          <p:cNvPr id="75" name="Text 73"/>
          <p:cNvSpPr/>
          <p:nvPr/>
        </p:nvSpPr>
        <p:spPr>
          <a:xfrm>
            <a:off x="2847486" y="3950208"/>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Mount Everest</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8.8 × 10³ m</a:t>
            </a:r>
            <a:endParaRPr lang="en-US" sz="1000" dirty="0"/>
          </a:p>
        </p:txBody>
      </p:sp>
      <p:sp>
        <p:nvSpPr>
          <p:cNvPr id="76" name="Shape 74"/>
          <p:cNvSpPr/>
          <p:nvPr/>
        </p:nvSpPr>
        <p:spPr>
          <a:xfrm flipV="1">
            <a:off x="3754219" y="2606040"/>
            <a:ext cx="91" cy="640080"/>
          </a:xfrm>
          <a:prstGeom prst="line">
            <a:avLst/>
          </a:prstGeom>
          <a:noFill/>
          <a:ln w="12700">
            <a:solidFill>
              <a:srgbClr val="2E5BD8"/>
            </a:solidFill>
            <a:prstDash val="solid"/>
          </a:ln>
        </p:spPr>
      </p:sp>
      <p:sp>
        <p:nvSpPr>
          <p:cNvPr id="77" name="Shape 75"/>
          <p:cNvSpPr/>
          <p:nvPr/>
        </p:nvSpPr>
        <p:spPr>
          <a:xfrm>
            <a:off x="3699355" y="3191256"/>
            <a:ext cx="109728" cy="109728"/>
          </a:xfrm>
          <a:prstGeom prst="ellipse">
            <a:avLst/>
          </a:prstGeom>
          <a:solidFill>
            <a:srgbClr val="C8414C"/>
          </a:solidFill>
          <a:ln w="6350">
            <a:solidFill>
              <a:srgbClr val="FFFFFF"/>
            </a:solidFill>
            <a:prstDash val="solid"/>
          </a:ln>
        </p:spPr>
      </p:sp>
      <p:sp>
        <p:nvSpPr>
          <p:cNvPr id="78" name="Text 76"/>
          <p:cNvSpPr/>
          <p:nvPr/>
        </p:nvSpPr>
        <p:spPr>
          <a:xfrm>
            <a:off x="3274159" y="2185416"/>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Earth (diameter)</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1.3 × 10⁷ m</a:t>
            </a:r>
            <a:endParaRPr lang="en-US" sz="1000" dirty="0"/>
          </a:p>
        </p:txBody>
      </p:sp>
      <p:sp>
        <p:nvSpPr>
          <p:cNvPr id="79" name="Shape 77"/>
          <p:cNvSpPr/>
          <p:nvPr/>
        </p:nvSpPr>
        <p:spPr>
          <a:xfrm>
            <a:off x="4301065" y="3246120"/>
            <a:ext cx="91" cy="685800"/>
          </a:xfrm>
          <a:prstGeom prst="line">
            <a:avLst/>
          </a:prstGeom>
          <a:noFill/>
          <a:ln w="12700">
            <a:solidFill>
              <a:srgbClr val="2E5BD8"/>
            </a:solidFill>
            <a:prstDash val="solid"/>
          </a:ln>
        </p:spPr>
      </p:sp>
      <p:sp>
        <p:nvSpPr>
          <p:cNvPr id="80" name="Shape 78"/>
          <p:cNvSpPr/>
          <p:nvPr/>
        </p:nvSpPr>
        <p:spPr>
          <a:xfrm>
            <a:off x="4246201" y="3191256"/>
            <a:ext cx="109728" cy="109728"/>
          </a:xfrm>
          <a:prstGeom prst="ellipse">
            <a:avLst/>
          </a:prstGeom>
          <a:solidFill>
            <a:srgbClr val="C8414C"/>
          </a:solidFill>
          <a:ln w="6350">
            <a:solidFill>
              <a:srgbClr val="FFFFFF"/>
            </a:solidFill>
            <a:prstDash val="solid"/>
          </a:ln>
        </p:spPr>
      </p:sp>
      <p:sp>
        <p:nvSpPr>
          <p:cNvPr id="81" name="Text 79"/>
          <p:cNvSpPr/>
          <p:nvPr/>
        </p:nvSpPr>
        <p:spPr>
          <a:xfrm>
            <a:off x="3821005" y="3950208"/>
            <a:ext cx="960120" cy="402336"/>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Earth to Sun</a:t>
            </a:r>
            <a:endParaRPr lang="en-US" sz="1000" dirty="0"/>
          </a:p>
          <a:p>
            <a:pPr algn="ctr" indent="0" marL="0">
              <a:buNone/>
            </a:pPr>
            <a:r>
              <a:rPr lang="en-US" sz="1000" b="1" dirty="0">
                <a:solidFill>
                  <a:srgbClr val="1A2340"/>
                </a:solidFill>
                <a:latin typeface="Calibri" pitchFamily="34" charset="0"/>
                <a:ea typeface="Calibri" pitchFamily="34" charset="-122"/>
                <a:cs typeface="Calibri" pitchFamily="34" charset="-120"/>
              </a:rPr>
              <a:t>1.5 × 10¹¹ m</a:t>
            </a:r>
            <a:endParaRPr lang="en-US" sz="1000" dirty="0"/>
          </a:p>
        </p:txBody>
      </p:sp>
      <p:sp>
        <p:nvSpPr>
          <p:cNvPr id="82" name="Shape 80"/>
          <p:cNvSpPr/>
          <p:nvPr/>
        </p:nvSpPr>
        <p:spPr>
          <a:xfrm flipV="1">
            <a:off x="5623560" y="2606040"/>
            <a:ext cx="91" cy="640080"/>
          </a:xfrm>
          <a:prstGeom prst="line">
            <a:avLst/>
          </a:prstGeom>
          <a:noFill/>
          <a:ln w="12700">
            <a:solidFill>
              <a:srgbClr val="2E5BD8"/>
            </a:solidFill>
            <a:prstDash val="solid"/>
          </a:ln>
        </p:spPr>
      </p:sp>
      <p:sp>
        <p:nvSpPr>
          <p:cNvPr id="83" name="Shape 81"/>
          <p:cNvSpPr/>
          <p:nvPr/>
        </p:nvSpPr>
        <p:spPr>
          <a:xfrm>
            <a:off x="5568696" y="3191256"/>
            <a:ext cx="109728" cy="109728"/>
          </a:xfrm>
          <a:prstGeom prst="ellipse">
            <a:avLst/>
          </a:prstGeom>
          <a:solidFill>
            <a:srgbClr val="C8414C"/>
          </a:solidFill>
          <a:ln w="6350">
            <a:solidFill>
              <a:srgbClr val="FFFFFF"/>
            </a:solidFill>
            <a:prstDash val="solid"/>
          </a:ln>
        </p:spPr>
      </p:sp>
      <p:sp>
        <p:nvSpPr>
          <p:cNvPr id="84" name="Text 82"/>
          <p:cNvSpPr/>
          <p:nvPr/>
        </p:nvSpPr>
        <p:spPr>
          <a:xfrm>
            <a:off x="4736592" y="2185416"/>
            <a:ext cx="960120" cy="402336"/>
          </a:xfrm>
          <a:prstGeom prst="rect">
            <a:avLst/>
          </a:prstGeom>
          <a:noFill/>
          <a:ln/>
        </p:spPr>
        <p:txBody>
          <a:bodyPr wrap="square" lIns="0" tIns="0" rIns="0" bIns="0" rtlCol="0" anchor="ctr"/>
          <a:lstStyle/>
          <a:p>
            <a:pPr algn="r" indent="0" marL="0">
              <a:buNone/>
            </a:pPr>
            <a:r>
              <a:rPr lang="en-US" sz="1000" b="1" dirty="0">
                <a:solidFill>
                  <a:srgbClr val="1A2340"/>
                </a:solidFill>
                <a:latin typeface="Calibri" pitchFamily="34" charset="0"/>
                <a:ea typeface="Calibri" pitchFamily="34" charset="-122"/>
                <a:cs typeface="Calibri" pitchFamily="34" charset="-120"/>
              </a:rPr>
              <a:t>Milky Way</a:t>
            </a:r>
            <a:endParaRPr lang="en-US" sz="1000" dirty="0"/>
          </a:p>
          <a:p>
            <a:pPr algn="r" indent="0" marL="0">
              <a:buNone/>
            </a:pPr>
            <a:r>
              <a:rPr lang="en-US" sz="1000" b="1" dirty="0">
                <a:solidFill>
                  <a:srgbClr val="1A2340"/>
                </a:solidFill>
                <a:latin typeface="Calibri" pitchFamily="34" charset="0"/>
                <a:ea typeface="Calibri" pitchFamily="34" charset="-122"/>
                <a:cs typeface="Calibri" pitchFamily="34" charset="-120"/>
              </a:rPr>
              <a:t>10²¹ m</a:t>
            </a:r>
            <a:endParaRPr lang="en-US" sz="1000" dirty="0"/>
          </a:p>
        </p:txBody>
      </p:sp>
      <p:sp>
        <p:nvSpPr>
          <p:cNvPr id="85" name="Shape 8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6" name="Text 8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Thinking in powers of ten</a:t>
            </a:r>
            <a:endParaRPr lang="en-US" sz="1300" dirty="0"/>
          </a:p>
        </p:txBody>
      </p:sp>
      <p:sp>
        <p:nvSpPr>
          <p:cNvPr id="87" name="Text 8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order of magnitude</a:t>
            </a:r>
            <a:r>
              <a:rPr lang="en-US" sz="1150" dirty="0">
                <a:solidFill>
                  <a:srgbClr val="262B3A"/>
                </a:solidFill>
                <a:latin typeface="Calibri" pitchFamily="34" charset="0"/>
                <a:ea typeface="Calibri" pitchFamily="34" charset="-122"/>
                <a:cs typeface="Calibri" pitchFamily="34" charset="-120"/>
              </a:rPr>
              <a:t> of a value is its </a:t>
            </a:r>
            <a:r>
              <a:rPr lang="en-US" sz="1150" b="1" dirty="0">
                <a:solidFill>
                  <a:srgbClr val="262B3A"/>
                </a:solidFill>
                <a:latin typeface="Calibri" pitchFamily="34" charset="0"/>
                <a:ea typeface="Calibri" pitchFamily="34" charset="-122"/>
                <a:cs typeface="Calibri" pitchFamily="34" charset="-120"/>
              </a:rPr>
              <a:t>nearest power of ten</a:t>
            </a:r>
            <a:r>
              <a:rPr lang="en-US" sz="1150" dirty="0">
                <a:solidFill>
                  <a:srgbClr val="262B3A"/>
                </a:solidFill>
                <a:latin typeface="Calibri" pitchFamily="34" charset="0"/>
                <a:ea typeface="Calibri" pitchFamily="34" charset="-122"/>
                <a:cs typeface="Calibri" pitchFamily="34" charset="-120"/>
              </a:rPr>
              <a:t>: 1.7 m → 10⁰ m; 8.8 × 10³ m → 10⁴ 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Two values that differ by </a:t>
            </a:r>
            <a:r>
              <a:rPr lang="en-US" sz="1150" b="1" dirty="0">
                <a:solidFill>
                  <a:srgbClr val="262B3A"/>
                </a:solidFill>
                <a:latin typeface="Calibri" pitchFamily="34" charset="0"/>
                <a:ea typeface="Calibri" pitchFamily="34" charset="-122"/>
                <a:cs typeface="Calibri" pitchFamily="34" charset="-120"/>
              </a:rPr>
              <a:t>one order of magnitude</a:t>
            </a:r>
            <a:r>
              <a:rPr lang="en-US" sz="1150" dirty="0">
                <a:solidFill>
                  <a:srgbClr val="262B3A"/>
                </a:solidFill>
                <a:latin typeface="Calibri" pitchFamily="34" charset="0"/>
                <a:ea typeface="Calibri" pitchFamily="34" charset="-122"/>
                <a:cs typeface="Calibri" pitchFamily="34" charset="-120"/>
              </a:rPr>
              <a:t> differ by a factor of about </a:t>
            </a:r>
            <a:r>
              <a:rPr lang="en-US" sz="1150" b="1" dirty="0">
                <a:solidFill>
                  <a:srgbClr val="262B3A"/>
                </a:solidFill>
                <a:latin typeface="Calibri" pitchFamily="34" charset="0"/>
                <a:ea typeface="Calibri" pitchFamily="34" charset="-122"/>
                <a:cs typeface="Calibri" pitchFamily="34" charset="-120"/>
              </a:rPr>
              <a:t>10</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estimate</a:t>
            </a:r>
            <a:r>
              <a:rPr lang="en-US" sz="1150" dirty="0">
                <a:solidFill>
                  <a:srgbClr val="262B3A"/>
                </a:solidFill>
                <a:latin typeface="Calibri" pitchFamily="34" charset="0"/>
                <a:ea typeface="Calibri" pitchFamily="34" charset="-122"/>
                <a:cs typeface="Calibri" pitchFamily="34" charset="-120"/>
              </a:rPr>
              <a:t> uses sensible rounded values to get an answer of the right order of magnitude.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estimates to </a:t>
            </a:r>
            <a:r>
              <a:rPr lang="en-US" sz="1150" b="1" dirty="0">
                <a:solidFill>
                  <a:srgbClr val="262B3A"/>
                </a:solidFill>
                <a:latin typeface="Calibri" pitchFamily="34" charset="0"/>
                <a:ea typeface="Calibri" pitchFamily="34" charset="-122"/>
                <a:cs typeface="Calibri" pitchFamily="34" charset="-120"/>
              </a:rPr>
              <a:t>check</a:t>
            </a:r>
            <a:r>
              <a:rPr lang="en-US" sz="1150" dirty="0">
                <a:solidFill>
                  <a:srgbClr val="262B3A"/>
                </a:solidFill>
                <a:latin typeface="Calibri" pitchFamily="34" charset="0"/>
                <a:ea typeface="Calibri" pitchFamily="34" charset="-122"/>
                <a:cs typeface="Calibri" pitchFamily="34" charset="-120"/>
              </a:rPr>
              <a:t> a calculator answer is sensible.</a:t>
            </a:r>
            <a:endParaRPr lang="en-US" sz="1150" dirty="0"/>
          </a:p>
        </p:txBody>
      </p:sp>
      <p:sp>
        <p:nvSpPr>
          <p:cNvPr id="88" name="Shape 8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9" name="Text 8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90" name="Text 88"/>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Estimate how many atoms fit across a human hair (width about 0.1 mm).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Round   </a:t>
            </a:r>
            <a:r>
              <a:rPr lang="en-US" sz="1100" dirty="0">
                <a:solidFill>
                  <a:srgbClr val="262B3A"/>
                </a:solidFill>
                <a:latin typeface="Calibri" pitchFamily="34" charset="0"/>
                <a:ea typeface="Calibri" pitchFamily="34" charset="-122"/>
                <a:cs typeface="Calibri" pitchFamily="34" charset="-120"/>
              </a:rPr>
              <a:t>hair ≈ 1 × 10⁻⁴ m; atom ≈ 1 × 10⁻¹⁰ 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Divide   </a:t>
            </a:r>
            <a:r>
              <a:rPr lang="en-US" sz="1100" dirty="0">
                <a:solidFill>
                  <a:srgbClr val="262B3A"/>
                </a:solidFill>
                <a:latin typeface="Calibri" pitchFamily="34" charset="0"/>
                <a:ea typeface="Calibri" pitchFamily="34" charset="-122"/>
                <a:cs typeface="Calibri" pitchFamily="34" charset="-120"/>
              </a:rPr>
              <a:t>number = 10⁻⁴ ÷ 10⁻¹⁰: subtract the powers, −4 − (−10) = 6</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about 10⁶ (a million) atoms</a:t>
            </a:r>
            <a:endParaRPr lang="en-US" sz="1100" dirty="0"/>
          </a:p>
        </p:txBody>
      </p:sp>
      <p:sp>
        <p:nvSpPr>
          <p:cNvPr id="91" name="Shape 89"/>
          <p:cNvSpPr/>
          <p:nvPr/>
        </p:nvSpPr>
        <p:spPr>
          <a:xfrm>
            <a:off x="411480" y="5833872"/>
            <a:ext cx="11368735" cy="530352"/>
          </a:xfrm>
          <a:prstGeom prst="rect">
            <a:avLst/>
          </a:prstGeom>
          <a:solidFill>
            <a:srgbClr val="FFF4E0"/>
          </a:solidFill>
          <a:ln w="6350">
            <a:solidFill>
              <a:srgbClr val="F1D9A8"/>
            </a:solidFill>
            <a:prstDash val="solid"/>
          </a:ln>
        </p:spPr>
      </p:sp>
      <p:sp>
        <p:nvSpPr>
          <p:cNvPr id="92" name="Shape 90"/>
          <p:cNvSpPr/>
          <p:nvPr/>
        </p:nvSpPr>
        <p:spPr>
          <a:xfrm>
            <a:off x="411480" y="5833872"/>
            <a:ext cx="82296" cy="530352"/>
          </a:xfrm>
          <a:prstGeom prst="rect">
            <a:avLst/>
          </a:prstGeom>
          <a:solidFill>
            <a:srgbClr val="E39A2F"/>
          </a:solidFill>
          <a:ln w="12700">
            <a:solidFill>
              <a:srgbClr val="E39A2F"/>
            </a:solidFill>
            <a:prstDash val="solid"/>
          </a:ln>
        </p:spPr>
      </p:sp>
      <p:sp>
        <p:nvSpPr>
          <p:cNvPr id="93" name="Text 9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The Earth’s diameter is 1.3 × 10⁷ m and a person is 1.7 m tall. How many orders of magnitude bigger is the Earth?</a:t>
            </a:r>
            <a:endParaRPr lang="en-US" sz="1200" dirty="0"/>
          </a:p>
        </p:txBody>
      </p:sp>
      <p:sp>
        <p:nvSpPr>
          <p:cNvPr id="95" name="Shape 92"/>
          <p:cNvSpPr/>
          <p:nvPr/>
        </p:nvSpPr>
        <p:spPr>
          <a:xfrm>
            <a:off x="9722815" y="292608"/>
            <a:ext cx="2057400" cy="274320"/>
          </a:xfrm>
          <a:prstGeom prst="roundRect">
            <a:avLst>
              <a:gd name="adj" fmla="val 50000"/>
            </a:avLst>
          </a:prstGeom>
          <a:solidFill>
            <a:srgbClr val="2E8B57"/>
          </a:solidFill>
          <a:ln w="12700">
            <a:solidFill>
              <a:srgbClr val="2E8B57"/>
            </a:solidFill>
            <a:prstDash val="solid"/>
          </a:ln>
        </p:spPr>
      </p:sp>
      <p:sp>
        <p:nvSpPr>
          <p:cNvPr id="96" name="Text 93"/>
          <p:cNvSpPr/>
          <p:nvPr/>
        </p:nvSpPr>
        <p:spPr>
          <a:xfrm>
            <a:off x="9722815" y="292608"/>
            <a:ext cx="2057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WORKING SCIENTIFICALLY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1.4, WS 4c • significant figures and orders of magnitude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number of significant figures in </a:t>
            </a:r>
            <a:r>
              <a:rPr lang="en-US" sz="1250" b="1" dirty="0">
                <a:solidFill>
                  <a:srgbClr val="262B3A"/>
                </a:solidFill>
                <a:latin typeface="Calibri" pitchFamily="34" charset="0"/>
                <a:ea typeface="Calibri" pitchFamily="34" charset="-122"/>
                <a:cs typeface="Calibri" pitchFamily="34" charset="-120"/>
              </a:rPr>
              <a:t>0.0250</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potential difference of </a:t>
            </a:r>
            <a:r>
              <a:rPr lang="en-US" sz="1250" b="1" dirty="0">
                <a:solidFill>
                  <a:srgbClr val="262B3A"/>
                </a:solidFill>
                <a:latin typeface="Calibri" pitchFamily="34" charset="0"/>
                <a:ea typeface="Calibri" pitchFamily="34" charset="-122"/>
                <a:cs typeface="Calibri" pitchFamily="34" charset="-120"/>
              </a:rPr>
              <a:t>9.0 V</a:t>
            </a:r>
            <a:r>
              <a:rPr lang="en-US" sz="1250" dirty="0">
                <a:solidFill>
                  <a:srgbClr val="262B3A"/>
                </a:solidFill>
                <a:latin typeface="Calibri" pitchFamily="34" charset="0"/>
                <a:ea typeface="Calibri" pitchFamily="34" charset="-122"/>
                <a:cs typeface="Calibri" pitchFamily="34" charset="-120"/>
              </a:rPr>
              <a:t> gives a current of </a:t>
            </a:r>
            <a:r>
              <a:rPr lang="en-US" sz="1250" b="1" dirty="0">
                <a:solidFill>
                  <a:srgbClr val="262B3A"/>
                </a:solidFill>
                <a:latin typeface="Calibri" pitchFamily="34" charset="0"/>
                <a:ea typeface="Calibri" pitchFamily="34" charset="-122"/>
                <a:cs typeface="Calibri" pitchFamily="34" charset="-120"/>
              </a:rPr>
              <a:t>0.26 A</a:t>
            </a:r>
            <a:r>
              <a:rPr lang="en-US" sz="1250" dirty="0">
                <a:solidFill>
                  <a:srgbClr val="262B3A"/>
                </a:solidFill>
                <a:latin typeface="Calibri" pitchFamily="34" charset="0"/>
                <a:ea typeface="Calibri" pitchFamily="34" charset="-122"/>
                <a:cs typeface="Calibri" pitchFamily="34" charset="-120"/>
              </a:rPr>
              <a:t> in a resistor. Calculate the resistance. Give your answer to </a:t>
            </a:r>
            <a:r>
              <a:rPr lang="en-US" sz="1250" b="1" dirty="0">
                <a:solidFill>
                  <a:srgbClr val="262B3A"/>
                </a:solidFill>
                <a:latin typeface="Calibri" pitchFamily="34" charset="0"/>
                <a:ea typeface="Calibri" pitchFamily="34" charset="-122"/>
                <a:cs typeface="Calibri" pitchFamily="34" charset="-120"/>
              </a:rPr>
              <a:t>2 significant figures</a:t>
            </a:r>
            <a:r>
              <a:rPr lang="en-US" sz="1250" dirty="0">
                <a:solidFill>
                  <a:srgbClr val="262B3A"/>
                </a:solidFill>
                <a:latin typeface="Calibri" pitchFamily="34" charset="0"/>
                <a:ea typeface="Calibri" pitchFamily="34" charset="-122"/>
                <a:cs typeface="Calibri" pitchFamily="34" charset="-120"/>
              </a:rPr>
              <a:t>. Use </a:t>
            </a:r>
            <a:r>
              <a:rPr lang="en-US" sz="1250" b="1" dirty="0">
                <a:solidFill>
                  <a:srgbClr val="262B3A"/>
                </a:solidFill>
                <a:latin typeface="Calibri" pitchFamily="34" charset="0"/>
                <a:ea typeface="Calibri" pitchFamily="34" charset="-122"/>
                <a:cs typeface="Calibri" pitchFamily="34" charset="-120"/>
              </a:rPr>
              <a:t>R = V ÷ I</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human hair is about </a:t>
            </a:r>
            <a:r>
              <a:rPr lang="en-US" sz="1250" b="1" dirty="0">
                <a:solidFill>
                  <a:srgbClr val="262B3A"/>
                </a:solidFill>
                <a:latin typeface="Calibri" pitchFamily="34" charset="0"/>
                <a:ea typeface="Calibri" pitchFamily="34" charset="-122"/>
                <a:cs typeface="Calibri" pitchFamily="34" charset="-120"/>
              </a:rPr>
              <a:t>0.1 mm</a:t>
            </a:r>
            <a:r>
              <a:rPr lang="en-US" sz="1250" dirty="0">
                <a:solidFill>
                  <a:srgbClr val="262B3A"/>
                </a:solidFill>
                <a:latin typeface="Calibri" pitchFamily="34" charset="0"/>
                <a:ea typeface="Calibri" pitchFamily="34" charset="-122"/>
                <a:cs typeface="Calibri" pitchFamily="34" charset="-120"/>
              </a:rPr>
              <a:t> wide. An atom is about </a:t>
            </a:r>
            <a:r>
              <a:rPr lang="en-US" sz="1250" b="1" dirty="0">
                <a:solidFill>
                  <a:srgbClr val="262B3A"/>
                </a:solidFill>
                <a:latin typeface="Calibri" pitchFamily="34" charset="0"/>
                <a:ea typeface="Calibri" pitchFamily="34" charset="-122"/>
                <a:cs typeface="Calibri" pitchFamily="34" charset="-120"/>
              </a:rPr>
              <a:t>0.1 nm</a:t>
            </a:r>
            <a:r>
              <a:rPr lang="en-US" sz="1250" dirty="0">
                <a:solidFill>
                  <a:srgbClr val="262B3A"/>
                </a:solidFill>
                <a:latin typeface="Calibri" pitchFamily="34" charset="0"/>
                <a:ea typeface="Calibri" pitchFamily="34" charset="-122"/>
                <a:cs typeface="Calibri" pitchFamily="34" charset="-120"/>
              </a:rPr>
              <a:t> across. Estimate the number of atoms that would fit across the hair.</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Reading scales and instruments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Working Scientifically 2f • make and record measurements using a range of apparatus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WS 2f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four instruments; read each one to its smallest division</a:t>
            </a:r>
            <a:endParaRPr lang="en-US" sz="1000" dirty="0"/>
          </a:p>
        </p:txBody>
      </p:sp>
      <p:sp>
        <p:nvSpPr>
          <p:cNvPr id="10" name="Text 8"/>
          <p:cNvSpPr/>
          <p:nvPr/>
        </p:nvSpPr>
        <p:spPr>
          <a:xfrm>
            <a:off x="548640" y="1280160"/>
            <a:ext cx="265176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Ruler (cm)</a:t>
            </a:r>
            <a:endParaRPr lang="en-US" sz="1100" dirty="0"/>
          </a:p>
        </p:txBody>
      </p:sp>
      <p:sp>
        <p:nvSpPr>
          <p:cNvPr id="11" name="Shape 9"/>
          <p:cNvSpPr/>
          <p:nvPr/>
        </p:nvSpPr>
        <p:spPr>
          <a:xfrm>
            <a:off x="594360" y="2011680"/>
            <a:ext cx="2487168" cy="384048"/>
          </a:xfrm>
          <a:prstGeom prst="rect">
            <a:avLst/>
          </a:prstGeom>
          <a:solidFill>
            <a:srgbClr val="F6E7B8"/>
          </a:solidFill>
          <a:ln w="9525">
            <a:solidFill>
              <a:srgbClr val="B79B4A"/>
            </a:solidFill>
            <a:prstDash val="solid"/>
          </a:ln>
        </p:spPr>
      </p:sp>
      <p:sp>
        <p:nvSpPr>
          <p:cNvPr id="12" name="Shape 10"/>
          <p:cNvSpPr/>
          <p:nvPr/>
        </p:nvSpPr>
        <p:spPr>
          <a:xfrm>
            <a:off x="685800" y="2011680"/>
            <a:ext cx="91" cy="182880"/>
          </a:xfrm>
          <a:prstGeom prst="line">
            <a:avLst/>
          </a:prstGeom>
          <a:noFill/>
          <a:ln w="6350">
            <a:solidFill>
              <a:srgbClr val="6B5A2A"/>
            </a:solidFill>
            <a:prstDash val="solid"/>
          </a:ln>
        </p:spPr>
      </p:sp>
      <p:sp>
        <p:nvSpPr>
          <p:cNvPr id="13" name="Shape 11"/>
          <p:cNvSpPr/>
          <p:nvPr/>
        </p:nvSpPr>
        <p:spPr>
          <a:xfrm>
            <a:off x="724205" y="2011680"/>
            <a:ext cx="91" cy="73152"/>
          </a:xfrm>
          <a:prstGeom prst="line">
            <a:avLst/>
          </a:prstGeom>
          <a:noFill/>
          <a:ln w="6350">
            <a:solidFill>
              <a:srgbClr val="6B5A2A"/>
            </a:solidFill>
            <a:prstDash val="solid"/>
          </a:ln>
        </p:spPr>
      </p:sp>
      <p:sp>
        <p:nvSpPr>
          <p:cNvPr id="14" name="Shape 12"/>
          <p:cNvSpPr/>
          <p:nvPr/>
        </p:nvSpPr>
        <p:spPr>
          <a:xfrm>
            <a:off x="762610" y="2011680"/>
            <a:ext cx="91" cy="73152"/>
          </a:xfrm>
          <a:prstGeom prst="line">
            <a:avLst/>
          </a:prstGeom>
          <a:noFill/>
          <a:ln w="6350">
            <a:solidFill>
              <a:srgbClr val="6B5A2A"/>
            </a:solidFill>
            <a:prstDash val="solid"/>
          </a:ln>
        </p:spPr>
      </p:sp>
      <p:sp>
        <p:nvSpPr>
          <p:cNvPr id="15" name="Shape 13"/>
          <p:cNvSpPr/>
          <p:nvPr/>
        </p:nvSpPr>
        <p:spPr>
          <a:xfrm>
            <a:off x="801014" y="2011680"/>
            <a:ext cx="91" cy="73152"/>
          </a:xfrm>
          <a:prstGeom prst="line">
            <a:avLst/>
          </a:prstGeom>
          <a:noFill/>
          <a:ln w="6350">
            <a:solidFill>
              <a:srgbClr val="6B5A2A"/>
            </a:solidFill>
            <a:prstDash val="solid"/>
          </a:ln>
        </p:spPr>
      </p:sp>
      <p:sp>
        <p:nvSpPr>
          <p:cNvPr id="16" name="Shape 14"/>
          <p:cNvSpPr/>
          <p:nvPr/>
        </p:nvSpPr>
        <p:spPr>
          <a:xfrm>
            <a:off x="839419" y="2011680"/>
            <a:ext cx="91" cy="73152"/>
          </a:xfrm>
          <a:prstGeom prst="line">
            <a:avLst/>
          </a:prstGeom>
          <a:noFill/>
          <a:ln w="6350">
            <a:solidFill>
              <a:srgbClr val="6B5A2A"/>
            </a:solidFill>
            <a:prstDash val="solid"/>
          </a:ln>
        </p:spPr>
      </p:sp>
      <p:sp>
        <p:nvSpPr>
          <p:cNvPr id="17" name="Shape 15"/>
          <p:cNvSpPr/>
          <p:nvPr/>
        </p:nvSpPr>
        <p:spPr>
          <a:xfrm>
            <a:off x="877824" y="2011680"/>
            <a:ext cx="91" cy="128016"/>
          </a:xfrm>
          <a:prstGeom prst="line">
            <a:avLst/>
          </a:prstGeom>
          <a:noFill/>
          <a:ln w="6350">
            <a:solidFill>
              <a:srgbClr val="6B5A2A"/>
            </a:solidFill>
            <a:prstDash val="solid"/>
          </a:ln>
        </p:spPr>
      </p:sp>
      <p:sp>
        <p:nvSpPr>
          <p:cNvPr id="18" name="Shape 16"/>
          <p:cNvSpPr/>
          <p:nvPr/>
        </p:nvSpPr>
        <p:spPr>
          <a:xfrm>
            <a:off x="916229" y="2011680"/>
            <a:ext cx="91" cy="73152"/>
          </a:xfrm>
          <a:prstGeom prst="line">
            <a:avLst/>
          </a:prstGeom>
          <a:noFill/>
          <a:ln w="6350">
            <a:solidFill>
              <a:srgbClr val="6B5A2A"/>
            </a:solidFill>
            <a:prstDash val="solid"/>
          </a:ln>
        </p:spPr>
      </p:sp>
      <p:sp>
        <p:nvSpPr>
          <p:cNvPr id="19" name="Shape 17"/>
          <p:cNvSpPr/>
          <p:nvPr/>
        </p:nvSpPr>
        <p:spPr>
          <a:xfrm>
            <a:off x="954634" y="2011680"/>
            <a:ext cx="91" cy="73152"/>
          </a:xfrm>
          <a:prstGeom prst="line">
            <a:avLst/>
          </a:prstGeom>
          <a:noFill/>
          <a:ln w="6350">
            <a:solidFill>
              <a:srgbClr val="6B5A2A"/>
            </a:solidFill>
            <a:prstDash val="solid"/>
          </a:ln>
        </p:spPr>
      </p:sp>
      <p:sp>
        <p:nvSpPr>
          <p:cNvPr id="20" name="Shape 18"/>
          <p:cNvSpPr/>
          <p:nvPr/>
        </p:nvSpPr>
        <p:spPr>
          <a:xfrm>
            <a:off x="993038" y="2011680"/>
            <a:ext cx="91" cy="73152"/>
          </a:xfrm>
          <a:prstGeom prst="line">
            <a:avLst/>
          </a:prstGeom>
          <a:noFill/>
          <a:ln w="6350">
            <a:solidFill>
              <a:srgbClr val="6B5A2A"/>
            </a:solidFill>
            <a:prstDash val="solid"/>
          </a:ln>
        </p:spPr>
      </p:sp>
      <p:sp>
        <p:nvSpPr>
          <p:cNvPr id="21" name="Shape 19"/>
          <p:cNvSpPr/>
          <p:nvPr/>
        </p:nvSpPr>
        <p:spPr>
          <a:xfrm>
            <a:off x="1031443" y="2011680"/>
            <a:ext cx="91" cy="73152"/>
          </a:xfrm>
          <a:prstGeom prst="line">
            <a:avLst/>
          </a:prstGeom>
          <a:noFill/>
          <a:ln w="6350">
            <a:solidFill>
              <a:srgbClr val="6B5A2A"/>
            </a:solidFill>
            <a:prstDash val="solid"/>
          </a:ln>
        </p:spPr>
      </p:sp>
      <p:sp>
        <p:nvSpPr>
          <p:cNvPr id="22" name="Shape 20"/>
          <p:cNvSpPr/>
          <p:nvPr/>
        </p:nvSpPr>
        <p:spPr>
          <a:xfrm>
            <a:off x="1069848" y="2011680"/>
            <a:ext cx="91" cy="182880"/>
          </a:xfrm>
          <a:prstGeom prst="line">
            <a:avLst/>
          </a:prstGeom>
          <a:noFill/>
          <a:ln w="6350">
            <a:solidFill>
              <a:srgbClr val="6B5A2A"/>
            </a:solidFill>
            <a:prstDash val="solid"/>
          </a:ln>
        </p:spPr>
      </p:sp>
      <p:sp>
        <p:nvSpPr>
          <p:cNvPr id="23" name="Shape 21"/>
          <p:cNvSpPr/>
          <p:nvPr/>
        </p:nvSpPr>
        <p:spPr>
          <a:xfrm>
            <a:off x="1108253" y="2011680"/>
            <a:ext cx="91" cy="73152"/>
          </a:xfrm>
          <a:prstGeom prst="line">
            <a:avLst/>
          </a:prstGeom>
          <a:noFill/>
          <a:ln w="6350">
            <a:solidFill>
              <a:srgbClr val="6B5A2A"/>
            </a:solidFill>
            <a:prstDash val="solid"/>
          </a:ln>
        </p:spPr>
      </p:sp>
      <p:sp>
        <p:nvSpPr>
          <p:cNvPr id="24" name="Shape 22"/>
          <p:cNvSpPr/>
          <p:nvPr/>
        </p:nvSpPr>
        <p:spPr>
          <a:xfrm>
            <a:off x="1146658" y="2011680"/>
            <a:ext cx="91" cy="73152"/>
          </a:xfrm>
          <a:prstGeom prst="line">
            <a:avLst/>
          </a:prstGeom>
          <a:noFill/>
          <a:ln w="6350">
            <a:solidFill>
              <a:srgbClr val="6B5A2A"/>
            </a:solidFill>
            <a:prstDash val="solid"/>
          </a:ln>
        </p:spPr>
      </p:sp>
      <p:sp>
        <p:nvSpPr>
          <p:cNvPr id="25" name="Shape 23"/>
          <p:cNvSpPr/>
          <p:nvPr/>
        </p:nvSpPr>
        <p:spPr>
          <a:xfrm>
            <a:off x="1185062" y="2011680"/>
            <a:ext cx="91" cy="73152"/>
          </a:xfrm>
          <a:prstGeom prst="line">
            <a:avLst/>
          </a:prstGeom>
          <a:noFill/>
          <a:ln w="6350">
            <a:solidFill>
              <a:srgbClr val="6B5A2A"/>
            </a:solidFill>
            <a:prstDash val="solid"/>
          </a:ln>
        </p:spPr>
      </p:sp>
      <p:sp>
        <p:nvSpPr>
          <p:cNvPr id="26" name="Shape 24"/>
          <p:cNvSpPr/>
          <p:nvPr/>
        </p:nvSpPr>
        <p:spPr>
          <a:xfrm>
            <a:off x="1223467" y="2011680"/>
            <a:ext cx="91" cy="73152"/>
          </a:xfrm>
          <a:prstGeom prst="line">
            <a:avLst/>
          </a:prstGeom>
          <a:noFill/>
          <a:ln w="6350">
            <a:solidFill>
              <a:srgbClr val="6B5A2A"/>
            </a:solidFill>
            <a:prstDash val="solid"/>
          </a:ln>
        </p:spPr>
      </p:sp>
      <p:sp>
        <p:nvSpPr>
          <p:cNvPr id="27" name="Shape 25"/>
          <p:cNvSpPr/>
          <p:nvPr/>
        </p:nvSpPr>
        <p:spPr>
          <a:xfrm>
            <a:off x="1261872" y="2011680"/>
            <a:ext cx="91" cy="128016"/>
          </a:xfrm>
          <a:prstGeom prst="line">
            <a:avLst/>
          </a:prstGeom>
          <a:noFill/>
          <a:ln w="6350">
            <a:solidFill>
              <a:srgbClr val="6B5A2A"/>
            </a:solidFill>
            <a:prstDash val="solid"/>
          </a:ln>
        </p:spPr>
      </p:sp>
      <p:sp>
        <p:nvSpPr>
          <p:cNvPr id="28" name="Shape 26"/>
          <p:cNvSpPr/>
          <p:nvPr/>
        </p:nvSpPr>
        <p:spPr>
          <a:xfrm>
            <a:off x="1300277" y="2011680"/>
            <a:ext cx="91" cy="73152"/>
          </a:xfrm>
          <a:prstGeom prst="line">
            <a:avLst/>
          </a:prstGeom>
          <a:noFill/>
          <a:ln w="6350">
            <a:solidFill>
              <a:srgbClr val="6B5A2A"/>
            </a:solidFill>
            <a:prstDash val="solid"/>
          </a:ln>
        </p:spPr>
      </p:sp>
      <p:sp>
        <p:nvSpPr>
          <p:cNvPr id="29" name="Shape 27"/>
          <p:cNvSpPr/>
          <p:nvPr/>
        </p:nvSpPr>
        <p:spPr>
          <a:xfrm>
            <a:off x="1338682" y="2011680"/>
            <a:ext cx="91" cy="73152"/>
          </a:xfrm>
          <a:prstGeom prst="line">
            <a:avLst/>
          </a:prstGeom>
          <a:noFill/>
          <a:ln w="6350">
            <a:solidFill>
              <a:srgbClr val="6B5A2A"/>
            </a:solidFill>
            <a:prstDash val="solid"/>
          </a:ln>
        </p:spPr>
      </p:sp>
      <p:sp>
        <p:nvSpPr>
          <p:cNvPr id="30" name="Shape 28"/>
          <p:cNvSpPr/>
          <p:nvPr/>
        </p:nvSpPr>
        <p:spPr>
          <a:xfrm>
            <a:off x="1377086" y="2011680"/>
            <a:ext cx="91" cy="73152"/>
          </a:xfrm>
          <a:prstGeom prst="line">
            <a:avLst/>
          </a:prstGeom>
          <a:noFill/>
          <a:ln w="6350">
            <a:solidFill>
              <a:srgbClr val="6B5A2A"/>
            </a:solidFill>
            <a:prstDash val="solid"/>
          </a:ln>
        </p:spPr>
      </p:sp>
      <p:sp>
        <p:nvSpPr>
          <p:cNvPr id="31" name="Shape 29"/>
          <p:cNvSpPr/>
          <p:nvPr/>
        </p:nvSpPr>
        <p:spPr>
          <a:xfrm>
            <a:off x="1415491" y="2011680"/>
            <a:ext cx="91" cy="73152"/>
          </a:xfrm>
          <a:prstGeom prst="line">
            <a:avLst/>
          </a:prstGeom>
          <a:noFill/>
          <a:ln w="6350">
            <a:solidFill>
              <a:srgbClr val="6B5A2A"/>
            </a:solidFill>
            <a:prstDash val="solid"/>
          </a:ln>
        </p:spPr>
      </p:sp>
      <p:sp>
        <p:nvSpPr>
          <p:cNvPr id="32" name="Shape 30"/>
          <p:cNvSpPr/>
          <p:nvPr/>
        </p:nvSpPr>
        <p:spPr>
          <a:xfrm>
            <a:off x="1453896" y="2011680"/>
            <a:ext cx="91" cy="182880"/>
          </a:xfrm>
          <a:prstGeom prst="line">
            <a:avLst/>
          </a:prstGeom>
          <a:noFill/>
          <a:ln w="6350">
            <a:solidFill>
              <a:srgbClr val="6B5A2A"/>
            </a:solidFill>
            <a:prstDash val="solid"/>
          </a:ln>
        </p:spPr>
      </p:sp>
      <p:sp>
        <p:nvSpPr>
          <p:cNvPr id="33" name="Shape 31"/>
          <p:cNvSpPr/>
          <p:nvPr/>
        </p:nvSpPr>
        <p:spPr>
          <a:xfrm>
            <a:off x="1492301" y="2011680"/>
            <a:ext cx="91" cy="73152"/>
          </a:xfrm>
          <a:prstGeom prst="line">
            <a:avLst/>
          </a:prstGeom>
          <a:noFill/>
          <a:ln w="6350">
            <a:solidFill>
              <a:srgbClr val="6B5A2A"/>
            </a:solidFill>
            <a:prstDash val="solid"/>
          </a:ln>
        </p:spPr>
      </p:sp>
      <p:sp>
        <p:nvSpPr>
          <p:cNvPr id="34" name="Shape 32"/>
          <p:cNvSpPr/>
          <p:nvPr/>
        </p:nvSpPr>
        <p:spPr>
          <a:xfrm>
            <a:off x="1530706" y="2011680"/>
            <a:ext cx="91" cy="73152"/>
          </a:xfrm>
          <a:prstGeom prst="line">
            <a:avLst/>
          </a:prstGeom>
          <a:noFill/>
          <a:ln w="6350">
            <a:solidFill>
              <a:srgbClr val="6B5A2A"/>
            </a:solidFill>
            <a:prstDash val="solid"/>
          </a:ln>
        </p:spPr>
      </p:sp>
      <p:sp>
        <p:nvSpPr>
          <p:cNvPr id="35" name="Shape 33"/>
          <p:cNvSpPr/>
          <p:nvPr/>
        </p:nvSpPr>
        <p:spPr>
          <a:xfrm>
            <a:off x="1569110" y="2011680"/>
            <a:ext cx="91" cy="73152"/>
          </a:xfrm>
          <a:prstGeom prst="line">
            <a:avLst/>
          </a:prstGeom>
          <a:noFill/>
          <a:ln w="6350">
            <a:solidFill>
              <a:srgbClr val="6B5A2A"/>
            </a:solidFill>
            <a:prstDash val="solid"/>
          </a:ln>
        </p:spPr>
      </p:sp>
      <p:sp>
        <p:nvSpPr>
          <p:cNvPr id="36" name="Shape 34"/>
          <p:cNvSpPr/>
          <p:nvPr/>
        </p:nvSpPr>
        <p:spPr>
          <a:xfrm>
            <a:off x="1607515" y="2011680"/>
            <a:ext cx="91" cy="73152"/>
          </a:xfrm>
          <a:prstGeom prst="line">
            <a:avLst/>
          </a:prstGeom>
          <a:noFill/>
          <a:ln w="6350">
            <a:solidFill>
              <a:srgbClr val="6B5A2A"/>
            </a:solidFill>
            <a:prstDash val="solid"/>
          </a:ln>
        </p:spPr>
      </p:sp>
      <p:sp>
        <p:nvSpPr>
          <p:cNvPr id="37" name="Shape 35"/>
          <p:cNvSpPr/>
          <p:nvPr/>
        </p:nvSpPr>
        <p:spPr>
          <a:xfrm>
            <a:off x="1645920" y="2011680"/>
            <a:ext cx="91" cy="128016"/>
          </a:xfrm>
          <a:prstGeom prst="line">
            <a:avLst/>
          </a:prstGeom>
          <a:noFill/>
          <a:ln w="6350">
            <a:solidFill>
              <a:srgbClr val="6B5A2A"/>
            </a:solidFill>
            <a:prstDash val="solid"/>
          </a:ln>
        </p:spPr>
      </p:sp>
      <p:sp>
        <p:nvSpPr>
          <p:cNvPr id="38" name="Shape 36"/>
          <p:cNvSpPr/>
          <p:nvPr/>
        </p:nvSpPr>
        <p:spPr>
          <a:xfrm>
            <a:off x="1684325" y="2011680"/>
            <a:ext cx="91" cy="73152"/>
          </a:xfrm>
          <a:prstGeom prst="line">
            <a:avLst/>
          </a:prstGeom>
          <a:noFill/>
          <a:ln w="6350">
            <a:solidFill>
              <a:srgbClr val="6B5A2A"/>
            </a:solidFill>
            <a:prstDash val="solid"/>
          </a:ln>
        </p:spPr>
      </p:sp>
      <p:sp>
        <p:nvSpPr>
          <p:cNvPr id="39" name="Shape 37"/>
          <p:cNvSpPr/>
          <p:nvPr/>
        </p:nvSpPr>
        <p:spPr>
          <a:xfrm>
            <a:off x="1722730" y="2011680"/>
            <a:ext cx="91" cy="73152"/>
          </a:xfrm>
          <a:prstGeom prst="line">
            <a:avLst/>
          </a:prstGeom>
          <a:noFill/>
          <a:ln w="6350">
            <a:solidFill>
              <a:srgbClr val="6B5A2A"/>
            </a:solidFill>
            <a:prstDash val="solid"/>
          </a:ln>
        </p:spPr>
      </p:sp>
      <p:sp>
        <p:nvSpPr>
          <p:cNvPr id="40" name="Shape 38"/>
          <p:cNvSpPr/>
          <p:nvPr/>
        </p:nvSpPr>
        <p:spPr>
          <a:xfrm>
            <a:off x="1761134" y="2011680"/>
            <a:ext cx="91" cy="73152"/>
          </a:xfrm>
          <a:prstGeom prst="line">
            <a:avLst/>
          </a:prstGeom>
          <a:noFill/>
          <a:ln w="6350">
            <a:solidFill>
              <a:srgbClr val="6B5A2A"/>
            </a:solidFill>
            <a:prstDash val="solid"/>
          </a:ln>
        </p:spPr>
      </p:sp>
      <p:sp>
        <p:nvSpPr>
          <p:cNvPr id="41" name="Shape 39"/>
          <p:cNvSpPr/>
          <p:nvPr/>
        </p:nvSpPr>
        <p:spPr>
          <a:xfrm>
            <a:off x="1799539" y="2011680"/>
            <a:ext cx="91" cy="73152"/>
          </a:xfrm>
          <a:prstGeom prst="line">
            <a:avLst/>
          </a:prstGeom>
          <a:noFill/>
          <a:ln w="6350">
            <a:solidFill>
              <a:srgbClr val="6B5A2A"/>
            </a:solidFill>
            <a:prstDash val="solid"/>
          </a:ln>
        </p:spPr>
      </p:sp>
      <p:sp>
        <p:nvSpPr>
          <p:cNvPr id="42" name="Shape 40"/>
          <p:cNvSpPr/>
          <p:nvPr/>
        </p:nvSpPr>
        <p:spPr>
          <a:xfrm>
            <a:off x="1837944" y="2011680"/>
            <a:ext cx="91" cy="182880"/>
          </a:xfrm>
          <a:prstGeom prst="line">
            <a:avLst/>
          </a:prstGeom>
          <a:noFill/>
          <a:ln w="6350">
            <a:solidFill>
              <a:srgbClr val="6B5A2A"/>
            </a:solidFill>
            <a:prstDash val="solid"/>
          </a:ln>
        </p:spPr>
      </p:sp>
      <p:sp>
        <p:nvSpPr>
          <p:cNvPr id="43" name="Shape 41"/>
          <p:cNvSpPr/>
          <p:nvPr/>
        </p:nvSpPr>
        <p:spPr>
          <a:xfrm>
            <a:off x="1876349" y="2011680"/>
            <a:ext cx="91" cy="73152"/>
          </a:xfrm>
          <a:prstGeom prst="line">
            <a:avLst/>
          </a:prstGeom>
          <a:noFill/>
          <a:ln w="6350">
            <a:solidFill>
              <a:srgbClr val="6B5A2A"/>
            </a:solidFill>
            <a:prstDash val="solid"/>
          </a:ln>
        </p:spPr>
      </p:sp>
      <p:sp>
        <p:nvSpPr>
          <p:cNvPr id="44" name="Shape 42"/>
          <p:cNvSpPr/>
          <p:nvPr/>
        </p:nvSpPr>
        <p:spPr>
          <a:xfrm>
            <a:off x="1914754" y="2011680"/>
            <a:ext cx="91" cy="73152"/>
          </a:xfrm>
          <a:prstGeom prst="line">
            <a:avLst/>
          </a:prstGeom>
          <a:noFill/>
          <a:ln w="6350">
            <a:solidFill>
              <a:srgbClr val="6B5A2A"/>
            </a:solidFill>
            <a:prstDash val="solid"/>
          </a:ln>
        </p:spPr>
      </p:sp>
      <p:sp>
        <p:nvSpPr>
          <p:cNvPr id="45" name="Shape 43"/>
          <p:cNvSpPr/>
          <p:nvPr/>
        </p:nvSpPr>
        <p:spPr>
          <a:xfrm>
            <a:off x="1953158" y="2011680"/>
            <a:ext cx="91" cy="73152"/>
          </a:xfrm>
          <a:prstGeom prst="line">
            <a:avLst/>
          </a:prstGeom>
          <a:noFill/>
          <a:ln w="6350">
            <a:solidFill>
              <a:srgbClr val="6B5A2A"/>
            </a:solidFill>
            <a:prstDash val="solid"/>
          </a:ln>
        </p:spPr>
      </p:sp>
      <p:sp>
        <p:nvSpPr>
          <p:cNvPr id="46" name="Shape 44"/>
          <p:cNvSpPr/>
          <p:nvPr/>
        </p:nvSpPr>
        <p:spPr>
          <a:xfrm>
            <a:off x="1991563" y="2011680"/>
            <a:ext cx="91" cy="73152"/>
          </a:xfrm>
          <a:prstGeom prst="line">
            <a:avLst/>
          </a:prstGeom>
          <a:noFill/>
          <a:ln w="6350">
            <a:solidFill>
              <a:srgbClr val="6B5A2A"/>
            </a:solidFill>
            <a:prstDash val="solid"/>
          </a:ln>
        </p:spPr>
      </p:sp>
      <p:sp>
        <p:nvSpPr>
          <p:cNvPr id="47" name="Shape 45"/>
          <p:cNvSpPr/>
          <p:nvPr/>
        </p:nvSpPr>
        <p:spPr>
          <a:xfrm>
            <a:off x="2029968" y="2011680"/>
            <a:ext cx="91" cy="128016"/>
          </a:xfrm>
          <a:prstGeom prst="line">
            <a:avLst/>
          </a:prstGeom>
          <a:noFill/>
          <a:ln w="6350">
            <a:solidFill>
              <a:srgbClr val="6B5A2A"/>
            </a:solidFill>
            <a:prstDash val="solid"/>
          </a:ln>
        </p:spPr>
      </p:sp>
      <p:sp>
        <p:nvSpPr>
          <p:cNvPr id="48" name="Shape 46"/>
          <p:cNvSpPr/>
          <p:nvPr/>
        </p:nvSpPr>
        <p:spPr>
          <a:xfrm>
            <a:off x="2068373" y="2011680"/>
            <a:ext cx="91" cy="73152"/>
          </a:xfrm>
          <a:prstGeom prst="line">
            <a:avLst/>
          </a:prstGeom>
          <a:noFill/>
          <a:ln w="6350">
            <a:solidFill>
              <a:srgbClr val="6B5A2A"/>
            </a:solidFill>
            <a:prstDash val="solid"/>
          </a:ln>
        </p:spPr>
      </p:sp>
      <p:sp>
        <p:nvSpPr>
          <p:cNvPr id="49" name="Shape 47"/>
          <p:cNvSpPr/>
          <p:nvPr/>
        </p:nvSpPr>
        <p:spPr>
          <a:xfrm>
            <a:off x="2106778" y="2011680"/>
            <a:ext cx="91" cy="73152"/>
          </a:xfrm>
          <a:prstGeom prst="line">
            <a:avLst/>
          </a:prstGeom>
          <a:noFill/>
          <a:ln w="6350">
            <a:solidFill>
              <a:srgbClr val="6B5A2A"/>
            </a:solidFill>
            <a:prstDash val="solid"/>
          </a:ln>
        </p:spPr>
      </p:sp>
      <p:sp>
        <p:nvSpPr>
          <p:cNvPr id="50" name="Shape 48"/>
          <p:cNvSpPr/>
          <p:nvPr/>
        </p:nvSpPr>
        <p:spPr>
          <a:xfrm>
            <a:off x="2145182" y="2011680"/>
            <a:ext cx="91" cy="73152"/>
          </a:xfrm>
          <a:prstGeom prst="line">
            <a:avLst/>
          </a:prstGeom>
          <a:noFill/>
          <a:ln w="6350">
            <a:solidFill>
              <a:srgbClr val="6B5A2A"/>
            </a:solidFill>
            <a:prstDash val="solid"/>
          </a:ln>
        </p:spPr>
      </p:sp>
      <p:sp>
        <p:nvSpPr>
          <p:cNvPr id="51" name="Shape 49"/>
          <p:cNvSpPr/>
          <p:nvPr/>
        </p:nvSpPr>
        <p:spPr>
          <a:xfrm>
            <a:off x="2183587" y="2011680"/>
            <a:ext cx="91" cy="73152"/>
          </a:xfrm>
          <a:prstGeom prst="line">
            <a:avLst/>
          </a:prstGeom>
          <a:noFill/>
          <a:ln w="6350">
            <a:solidFill>
              <a:srgbClr val="6B5A2A"/>
            </a:solidFill>
            <a:prstDash val="solid"/>
          </a:ln>
        </p:spPr>
      </p:sp>
      <p:sp>
        <p:nvSpPr>
          <p:cNvPr id="52" name="Shape 50"/>
          <p:cNvSpPr/>
          <p:nvPr/>
        </p:nvSpPr>
        <p:spPr>
          <a:xfrm>
            <a:off x="2221992" y="2011680"/>
            <a:ext cx="91" cy="182880"/>
          </a:xfrm>
          <a:prstGeom prst="line">
            <a:avLst/>
          </a:prstGeom>
          <a:noFill/>
          <a:ln w="6350">
            <a:solidFill>
              <a:srgbClr val="6B5A2A"/>
            </a:solidFill>
            <a:prstDash val="solid"/>
          </a:ln>
        </p:spPr>
      </p:sp>
      <p:sp>
        <p:nvSpPr>
          <p:cNvPr id="53" name="Shape 51"/>
          <p:cNvSpPr/>
          <p:nvPr/>
        </p:nvSpPr>
        <p:spPr>
          <a:xfrm>
            <a:off x="2260397" y="2011680"/>
            <a:ext cx="91" cy="73152"/>
          </a:xfrm>
          <a:prstGeom prst="line">
            <a:avLst/>
          </a:prstGeom>
          <a:noFill/>
          <a:ln w="6350">
            <a:solidFill>
              <a:srgbClr val="6B5A2A"/>
            </a:solidFill>
            <a:prstDash val="solid"/>
          </a:ln>
        </p:spPr>
      </p:sp>
      <p:sp>
        <p:nvSpPr>
          <p:cNvPr id="54" name="Shape 52"/>
          <p:cNvSpPr/>
          <p:nvPr/>
        </p:nvSpPr>
        <p:spPr>
          <a:xfrm>
            <a:off x="2298802" y="2011680"/>
            <a:ext cx="91" cy="73152"/>
          </a:xfrm>
          <a:prstGeom prst="line">
            <a:avLst/>
          </a:prstGeom>
          <a:noFill/>
          <a:ln w="6350">
            <a:solidFill>
              <a:srgbClr val="6B5A2A"/>
            </a:solidFill>
            <a:prstDash val="solid"/>
          </a:ln>
        </p:spPr>
      </p:sp>
      <p:sp>
        <p:nvSpPr>
          <p:cNvPr id="55" name="Shape 53"/>
          <p:cNvSpPr/>
          <p:nvPr/>
        </p:nvSpPr>
        <p:spPr>
          <a:xfrm>
            <a:off x="2337206" y="2011680"/>
            <a:ext cx="91" cy="73152"/>
          </a:xfrm>
          <a:prstGeom prst="line">
            <a:avLst/>
          </a:prstGeom>
          <a:noFill/>
          <a:ln w="6350">
            <a:solidFill>
              <a:srgbClr val="6B5A2A"/>
            </a:solidFill>
            <a:prstDash val="solid"/>
          </a:ln>
        </p:spPr>
      </p:sp>
      <p:sp>
        <p:nvSpPr>
          <p:cNvPr id="56" name="Shape 54"/>
          <p:cNvSpPr/>
          <p:nvPr/>
        </p:nvSpPr>
        <p:spPr>
          <a:xfrm>
            <a:off x="2375611" y="2011680"/>
            <a:ext cx="91" cy="73152"/>
          </a:xfrm>
          <a:prstGeom prst="line">
            <a:avLst/>
          </a:prstGeom>
          <a:noFill/>
          <a:ln w="6350">
            <a:solidFill>
              <a:srgbClr val="6B5A2A"/>
            </a:solidFill>
            <a:prstDash val="solid"/>
          </a:ln>
        </p:spPr>
      </p:sp>
      <p:sp>
        <p:nvSpPr>
          <p:cNvPr id="57" name="Shape 55"/>
          <p:cNvSpPr/>
          <p:nvPr/>
        </p:nvSpPr>
        <p:spPr>
          <a:xfrm>
            <a:off x="2414016" y="2011680"/>
            <a:ext cx="91" cy="128016"/>
          </a:xfrm>
          <a:prstGeom prst="line">
            <a:avLst/>
          </a:prstGeom>
          <a:noFill/>
          <a:ln w="6350">
            <a:solidFill>
              <a:srgbClr val="6B5A2A"/>
            </a:solidFill>
            <a:prstDash val="solid"/>
          </a:ln>
        </p:spPr>
      </p:sp>
      <p:sp>
        <p:nvSpPr>
          <p:cNvPr id="58" name="Shape 56"/>
          <p:cNvSpPr/>
          <p:nvPr/>
        </p:nvSpPr>
        <p:spPr>
          <a:xfrm>
            <a:off x="2452421" y="2011680"/>
            <a:ext cx="91" cy="73152"/>
          </a:xfrm>
          <a:prstGeom prst="line">
            <a:avLst/>
          </a:prstGeom>
          <a:noFill/>
          <a:ln w="6350">
            <a:solidFill>
              <a:srgbClr val="6B5A2A"/>
            </a:solidFill>
            <a:prstDash val="solid"/>
          </a:ln>
        </p:spPr>
      </p:sp>
      <p:sp>
        <p:nvSpPr>
          <p:cNvPr id="59" name="Shape 57"/>
          <p:cNvSpPr/>
          <p:nvPr/>
        </p:nvSpPr>
        <p:spPr>
          <a:xfrm>
            <a:off x="2490826" y="2011680"/>
            <a:ext cx="91" cy="73152"/>
          </a:xfrm>
          <a:prstGeom prst="line">
            <a:avLst/>
          </a:prstGeom>
          <a:noFill/>
          <a:ln w="6350">
            <a:solidFill>
              <a:srgbClr val="6B5A2A"/>
            </a:solidFill>
            <a:prstDash val="solid"/>
          </a:ln>
        </p:spPr>
      </p:sp>
      <p:sp>
        <p:nvSpPr>
          <p:cNvPr id="60" name="Shape 58"/>
          <p:cNvSpPr/>
          <p:nvPr/>
        </p:nvSpPr>
        <p:spPr>
          <a:xfrm>
            <a:off x="2529230" y="2011680"/>
            <a:ext cx="91" cy="73152"/>
          </a:xfrm>
          <a:prstGeom prst="line">
            <a:avLst/>
          </a:prstGeom>
          <a:noFill/>
          <a:ln w="6350">
            <a:solidFill>
              <a:srgbClr val="6B5A2A"/>
            </a:solidFill>
            <a:prstDash val="solid"/>
          </a:ln>
        </p:spPr>
      </p:sp>
      <p:sp>
        <p:nvSpPr>
          <p:cNvPr id="61" name="Shape 59"/>
          <p:cNvSpPr/>
          <p:nvPr/>
        </p:nvSpPr>
        <p:spPr>
          <a:xfrm>
            <a:off x="2567635" y="2011680"/>
            <a:ext cx="91" cy="73152"/>
          </a:xfrm>
          <a:prstGeom prst="line">
            <a:avLst/>
          </a:prstGeom>
          <a:noFill/>
          <a:ln w="6350">
            <a:solidFill>
              <a:srgbClr val="6B5A2A"/>
            </a:solidFill>
            <a:prstDash val="solid"/>
          </a:ln>
        </p:spPr>
      </p:sp>
      <p:sp>
        <p:nvSpPr>
          <p:cNvPr id="62" name="Shape 60"/>
          <p:cNvSpPr/>
          <p:nvPr/>
        </p:nvSpPr>
        <p:spPr>
          <a:xfrm>
            <a:off x="2606040" y="2011680"/>
            <a:ext cx="91" cy="182880"/>
          </a:xfrm>
          <a:prstGeom prst="line">
            <a:avLst/>
          </a:prstGeom>
          <a:noFill/>
          <a:ln w="6350">
            <a:solidFill>
              <a:srgbClr val="6B5A2A"/>
            </a:solidFill>
            <a:prstDash val="solid"/>
          </a:ln>
        </p:spPr>
      </p:sp>
      <p:sp>
        <p:nvSpPr>
          <p:cNvPr id="63" name="Shape 61"/>
          <p:cNvSpPr/>
          <p:nvPr/>
        </p:nvSpPr>
        <p:spPr>
          <a:xfrm>
            <a:off x="2644445" y="2011680"/>
            <a:ext cx="91" cy="73152"/>
          </a:xfrm>
          <a:prstGeom prst="line">
            <a:avLst/>
          </a:prstGeom>
          <a:noFill/>
          <a:ln w="6350">
            <a:solidFill>
              <a:srgbClr val="6B5A2A"/>
            </a:solidFill>
            <a:prstDash val="solid"/>
          </a:ln>
        </p:spPr>
      </p:sp>
      <p:sp>
        <p:nvSpPr>
          <p:cNvPr id="64" name="Shape 62"/>
          <p:cNvSpPr/>
          <p:nvPr/>
        </p:nvSpPr>
        <p:spPr>
          <a:xfrm>
            <a:off x="2682850" y="2011680"/>
            <a:ext cx="91" cy="73152"/>
          </a:xfrm>
          <a:prstGeom prst="line">
            <a:avLst/>
          </a:prstGeom>
          <a:noFill/>
          <a:ln w="6350">
            <a:solidFill>
              <a:srgbClr val="6B5A2A"/>
            </a:solidFill>
            <a:prstDash val="solid"/>
          </a:ln>
        </p:spPr>
      </p:sp>
      <p:sp>
        <p:nvSpPr>
          <p:cNvPr id="65" name="Shape 63"/>
          <p:cNvSpPr/>
          <p:nvPr/>
        </p:nvSpPr>
        <p:spPr>
          <a:xfrm>
            <a:off x="2721254" y="2011680"/>
            <a:ext cx="91" cy="73152"/>
          </a:xfrm>
          <a:prstGeom prst="line">
            <a:avLst/>
          </a:prstGeom>
          <a:noFill/>
          <a:ln w="6350">
            <a:solidFill>
              <a:srgbClr val="6B5A2A"/>
            </a:solidFill>
            <a:prstDash val="solid"/>
          </a:ln>
        </p:spPr>
      </p:sp>
      <p:sp>
        <p:nvSpPr>
          <p:cNvPr id="66" name="Shape 64"/>
          <p:cNvSpPr/>
          <p:nvPr/>
        </p:nvSpPr>
        <p:spPr>
          <a:xfrm>
            <a:off x="2759659" y="2011680"/>
            <a:ext cx="91" cy="73152"/>
          </a:xfrm>
          <a:prstGeom prst="line">
            <a:avLst/>
          </a:prstGeom>
          <a:noFill/>
          <a:ln w="6350">
            <a:solidFill>
              <a:srgbClr val="6B5A2A"/>
            </a:solidFill>
            <a:prstDash val="solid"/>
          </a:ln>
        </p:spPr>
      </p:sp>
      <p:sp>
        <p:nvSpPr>
          <p:cNvPr id="67" name="Shape 65"/>
          <p:cNvSpPr/>
          <p:nvPr/>
        </p:nvSpPr>
        <p:spPr>
          <a:xfrm>
            <a:off x="2798064" y="2011680"/>
            <a:ext cx="91" cy="128016"/>
          </a:xfrm>
          <a:prstGeom prst="line">
            <a:avLst/>
          </a:prstGeom>
          <a:noFill/>
          <a:ln w="6350">
            <a:solidFill>
              <a:srgbClr val="6B5A2A"/>
            </a:solidFill>
            <a:prstDash val="solid"/>
          </a:ln>
        </p:spPr>
      </p:sp>
      <p:sp>
        <p:nvSpPr>
          <p:cNvPr id="68" name="Shape 66"/>
          <p:cNvSpPr/>
          <p:nvPr/>
        </p:nvSpPr>
        <p:spPr>
          <a:xfrm>
            <a:off x="2836469" y="2011680"/>
            <a:ext cx="91" cy="73152"/>
          </a:xfrm>
          <a:prstGeom prst="line">
            <a:avLst/>
          </a:prstGeom>
          <a:noFill/>
          <a:ln w="6350">
            <a:solidFill>
              <a:srgbClr val="6B5A2A"/>
            </a:solidFill>
            <a:prstDash val="solid"/>
          </a:ln>
        </p:spPr>
      </p:sp>
      <p:sp>
        <p:nvSpPr>
          <p:cNvPr id="69" name="Shape 67"/>
          <p:cNvSpPr/>
          <p:nvPr/>
        </p:nvSpPr>
        <p:spPr>
          <a:xfrm>
            <a:off x="2874874" y="2011680"/>
            <a:ext cx="91" cy="73152"/>
          </a:xfrm>
          <a:prstGeom prst="line">
            <a:avLst/>
          </a:prstGeom>
          <a:noFill/>
          <a:ln w="6350">
            <a:solidFill>
              <a:srgbClr val="6B5A2A"/>
            </a:solidFill>
            <a:prstDash val="solid"/>
          </a:ln>
        </p:spPr>
      </p:sp>
      <p:sp>
        <p:nvSpPr>
          <p:cNvPr id="70" name="Shape 68"/>
          <p:cNvSpPr/>
          <p:nvPr/>
        </p:nvSpPr>
        <p:spPr>
          <a:xfrm>
            <a:off x="2913278" y="2011680"/>
            <a:ext cx="91" cy="73152"/>
          </a:xfrm>
          <a:prstGeom prst="line">
            <a:avLst/>
          </a:prstGeom>
          <a:noFill/>
          <a:ln w="6350">
            <a:solidFill>
              <a:srgbClr val="6B5A2A"/>
            </a:solidFill>
            <a:prstDash val="solid"/>
          </a:ln>
        </p:spPr>
      </p:sp>
      <p:sp>
        <p:nvSpPr>
          <p:cNvPr id="71" name="Shape 69"/>
          <p:cNvSpPr/>
          <p:nvPr/>
        </p:nvSpPr>
        <p:spPr>
          <a:xfrm>
            <a:off x="2951683" y="2011680"/>
            <a:ext cx="91" cy="73152"/>
          </a:xfrm>
          <a:prstGeom prst="line">
            <a:avLst/>
          </a:prstGeom>
          <a:noFill/>
          <a:ln w="6350">
            <a:solidFill>
              <a:srgbClr val="6B5A2A"/>
            </a:solidFill>
            <a:prstDash val="solid"/>
          </a:ln>
        </p:spPr>
      </p:sp>
      <p:sp>
        <p:nvSpPr>
          <p:cNvPr id="72" name="Shape 70"/>
          <p:cNvSpPr/>
          <p:nvPr/>
        </p:nvSpPr>
        <p:spPr>
          <a:xfrm>
            <a:off x="2990088" y="2011680"/>
            <a:ext cx="91" cy="182880"/>
          </a:xfrm>
          <a:prstGeom prst="line">
            <a:avLst/>
          </a:prstGeom>
          <a:noFill/>
          <a:ln w="6350">
            <a:solidFill>
              <a:srgbClr val="6B5A2A"/>
            </a:solidFill>
            <a:prstDash val="solid"/>
          </a:ln>
        </p:spPr>
      </p:sp>
      <p:sp>
        <p:nvSpPr>
          <p:cNvPr id="73" name="Text 71"/>
          <p:cNvSpPr/>
          <p:nvPr/>
        </p:nvSpPr>
        <p:spPr>
          <a:xfrm>
            <a:off x="576072"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74" name="Text 72"/>
          <p:cNvSpPr/>
          <p:nvPr/>
        </p:nvSpPr>
        <p:spPr>
          <a:xfrm>
            <a:off x="960120"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75" name="Text 73"/>
          <p:cNvSpPr/>
          <p:nvPr/>
        </p:nvSpPr>
        <p:spPr>
          <a:xfrm>
            <a:off x="1344168"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76" name="Text 74"/>
          <p:cNvSpPr/>
          <p:nvPr/>
        </p:nvSpPr>
        <p:spPr>
          <a:xfrm>
            <a:off x="1728216"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77" name="Text 75"/>
          <p:cNvSpPr/>
          <p:nvPr/>
        </p:nvSpPr>
        <p:spPr>
          <a:xfrm>
            <a:off x="2112264"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78" name="Text 76"/>
          <p:cNvSpPr/>
          <p:nvPr/>
        </p:nvSpPr>
        <p:spPr>
          <a:xfrm>
            <a:off x="2496312"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79" name="Text 77"/>
          <p:cNvSpPr/>
          <p:nvPr/>
        </p:nvSpPr>
        <p:spPr>
          <a:xfrm>
            <a:off x="2880360" y="2194560"/>
            <a:ext cx="219456"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80" name="Shape 78"/>
          <p:cNvSpPr/>
          <p:nvPr/>
        </p:nvSpPr>
        <p:spPr>
          <a:xfrm>
            <a:off x="1069848" y="1737360"/>
            <a:ext cx="1267358" cy="237744"/>
          </a:xfrm>
          <a:prstGeom prst="rect">
            <a:avLst/>
          </a:prstGeom>
          <a:solidFill>
            <a:srgbClr val="2E5BD8"/>
          </a:solidFill>
          <a:ln w="12700">
            <a:solidFill>
              <a:srgbClr val="2B3F7A"/>
            </a:solidFill>
            <a:prstDash val="solid"/>
          </a:ln>
        </p:spPr>
      </p:sp>
      <p:sp>
        <p:nvSpPr>
          <p:cNvPr id="81" name="Shape 79"/>
          <p:cNvSpPr/>
          <p:nvPr/>
        </p:nvSpPr>
        <p:spPr>
          <a:xfrm>
            <a:off x="1069848" y="1682496"/>
            <a:ext cx="91" cy="384048"/>
          </a:xfrm>
          <a:prstGeom prst="line">
            <a:avLst/>
          </a:prstGeom>
          <a:noFill/>
          <a:ln w="12700">
            <a:solidFill>
              <a:srgbClr val="C8414C"/>
            </a:solidFill>
            <a:prstDash val="dash"/>
          </a:ln>
        </p:spPr>
      </p:sp>
      <p:sp>
        <p:nvSpPr>
          <p:cNvPr id="82" name="Shape 80"/>
          <p:cNvSpPr/>
          <p:nvPr/>
        </p:nvSpPr>
        <p:spPr>
          <a:xfrm>
            <a:off x="2337206" y="1682496"/>
            <a:ext cx="91" cy="384048"/>
          </a:xfrm>
          <a:prstGeom prst="line">
            <a:avLst/>
          </a:prstGeom>
          <a:noFill/>
          <a:ln w="12700">
            <a:solidFill>
              <a:srgbClr val="C8414C"/>
            </a:solidFill>
            <a:prstDash val="dash"/>
          </a:ln>
        </p:spPr>
      </p:sp>
      <p:sp>
        <p:nvSpPr>
          <p:cNvPr id="83" name="Text 81"/>
          <p:cNvSpPr/>
          <p:nvPr/>
        </p:nvSpPr>
        <p:spPr>
          <a:xfrm>
            <a:off x="1069848" y="1737360"/>
            <a:ext cx="1267358"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object</a:t>
            </a:r>
            <a:endParaRPr lang="en-US" sz="1000" dirty="0"/>
          </a:p>
        </p:txBody>
      </p:sp>
      <p:sp>
        <p:nvSpPr>
          <p:cNvPr id="84" name="Text 82"/>
          <p:cNvSpPr/>
          <p:nvPr/>
        </p:nvSpPr>
        <p:spPr>
          <a:xfrm>
            <a:off x="548640" y="2514600"/>
            <a:ext cx="265176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A</a:t>
            </a:r>
            <a:endParaRPr lang="en-US" sz="1200" dirty="0"/>
          </a:p>
        </p:txBody>
      </p:sp>
      <p:sp>
        <p:nvSpPr>
          <p:cNvPr id="85" name="Text 83"/>
          <p:cNvSpPr/>
          <p:nvPr/>
        </p:nvSpPr>
        <p:spPr>
          <a:xfrm>
            <a:off x="3246120" y="1280160"/>
            <a:ext cx="265176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Measuring cylinder (cm³)</a:t>
            </a:r>
            <a:endParaRPr lang="en-US" sz="1100" dirty="0"/>
          </a:p>
        </p:txBody>
      </p:sp>
      <p:sp>
        <p:nvSpPr>
          <p:cNvPr id="86" name="Shape 84"/>
          <p:cNvSpPr/>
          <p:nvPr/>
        </p:nvSpPr>
        <p:spPr>
          <a:xfrm>
            <a:off x="4114800" y="2249424"/>
            <a:ext cx="548640" cy="859536"/>
          </a:xfrm>
          <a:prstGeom prst="rect">
            <a:avLst/>
          </a:prstGeom>
          <a:solidFill>
            <a:srgbClr val="BFD9F2"/>
          </a:solidFill>
          <a:ln/>
        </p:spPr>
      </p:sp>
      <p:sp>
        <p:nvSpPr>
          <p:cNvPr id="87" name="Shape 85"/>
          <p:cNvSpPr/>
          <p:nvPr/>
        </p:nvSpPr>
        <p:spPr>
          <a:xfrm flipH="1">
            <a:off x="4114800" y="2157984"/>
            <a:ext cx="128016" cy="91440"/>
          </a:xfrm>
          <a:prstGeom prst="rtTriangle">
            <a:avLst/>
          </a:prstGeom>
          <a:solidFill>
            <a:srgbClr val="BFD9F2"/>
          </a:solidFill>
          <a:ln/>
        </p:spPr>
      </p:sp>
      <p:sp>
        <p:nvSpPr>
          <p:cNvPr id="88" name="Shape 86"/>
          <p:cNvSpPr/>
          <p:nvPr/>
        </p:nvSpPr>
        <p:spPr>
          <a:xfrm>
            <a:off x="4535424" y="2157984"/>
            <a:ext cx="128016" cy="91440"/>
          </a:xfrm>
          <a:prstGeom prst="rtTriangle">
            <a:avLst/>
          </a:prstGeom>
          <a:solidFill>
            <a:srgbClr val="BFD9F2"/>
          </a:solidFill>
          <a:ln/>
        </p:spPr>
      </p:sp>
      <p:sp>
        <p:nvSpPr>
          <p:cNvPr id="89" name="Shape 87"/>
          <p:cNvSpPr/>
          <p:nvPr/>
        </p:nvSpPr>
        <p:spPr>
          <a:xfrm>
            <a:off x="4242816" y="2249424"/>
            <a:ext cx="292608" cy="91"/>
          </a:xfrm>
          <a:prstGeom prst="line">
            <a:avLst/>
          </a:prstGeom>
          <a:noFill/>
          <a:ln w="19050">
            <a:solidFill>
              <a:srgbClr val="5B9BD5"/>
            </a:solidFill>
            <a:prstDash val="solid"/>
          </a:ln>
        </p:spPr>
      </p:sp>
      <p:sp>
        <p:nvSpPr>
          <p:cNvPr id="90" name="Shape 88"/>
          <p:cNvSpPr/>
          <p:nvPr/>
        </p:nvSpPr>
        <p:spPr>
          <a:xfrm>
            <a:off x="4114800" y="2157984"/>
            <a:ext cx="128016" cy="91440"/>
          </a:xfrm>
          <a:prstGeom prst="line">
            <a:avLst/>
          </a:prstGeom>
          <a:noFill/>
          <a:ln w="19050">
            <a:solidFill>
              <a:srgbClr val="5B9BD5"/>
            </a:solidFill>
            <a:prstDash val="solid"/>
          </a:ln>
        </p:spPr>
      </p:sp>
      <p:sp>
        <p:nvSpPr>
          <p:cNvPr id="91" name="Shape 89"/>
          <p:cNvSpPr/>
          <p:nvPr/>
        </p:nvSpPr>
        <p:spPr>
          <a:xfrm flipV="1">
            <a:off x="4535424" y="2157984"/>
            <a:ext cx="128016" cy="91440"/>
          </a:xfrm>
          <a:prstGeom prst="line">
            <a:avLst/>
          </a:prstGeom>
          <a:noFill/>
          <a:ln w="19050">
            <a:solidFill>
              <a:srgbClr val="5B9BD5"/>
            </a:solidFill>
            <a:prstDash val="solid"/>
          </a:ln>
        </p:spPr>
      </p:sp>
      <p:sp>
        <p:nvSpPr>
          <p:cNvPr id="92" name="Shape 90"/>
          <p:cNvSpPr/>
          <p:nvPr/>
        </p:nvSpPr>
        <p:spPr>
          <a:xfrm>
            <a:off x="4114800" y="1600200"/>
            <a:ext cx="91" cy="1508760"/>
          </a:xfrm>
          <a:prstGeom prst="line">
            <a:avLst/>
          </a:prstGeom>
          <a:noFill/>
          <a:ln w="19050">
            <a:solidFill>
              <a:srgbClr val="1A2340"/>
            </a:solidFill>
            <a:prstDash val="solid"/>
          </a:ln>
        </p:spPr>
      </p:sp>
      <p:sp>
        <p:nvSpPr>
          <p:cNvPr id="93" name="Shape 91"/>
          <p:cNvSpPr/>
          <p:nvPr/>
        </p:nvSpPr>
        <p:spPr>
          <a:xfrm>
            <a:off x="4663440" y="1600200"/>
            <a:ext cx="91" cy="1508760"/>
          </a:xfrm>
          <a:prstGeom prst="line">
            <a:avLst/>
          </a:prstGeom>
          <a:noFill/>
          <a:ln w="19050">
            <a:solidFill>
              <a:srgbClr val="1A2340"/>
            </a:solidFill>
            <a:prstDash val="solid"/>
          </a:ln>
        </p:spPr>
      </p:sp>
      <p:sp>
        <p:nvSpPr>
          <p:cNvPr id="94" name="Shape 92"/>
          <p:cNvSpPr/>
          <p:nvPr/>
        </p:nvSpPr>
        <p:spPr>
          <a:xfrm>
            <a:off x="4434840" y="3017520"/>
            <a:ext cx="228600" cy="91"/>
          </a:xfrm>
          <a:prstGeom prst="line">
            <a:avLst/>
          </a:prstGeom>
          <a:noFill/>
          <a:ln w="9525">
            <a:solidFill>
              <a:srgbClr val="1A2340"/>
            </a:solidFill>
            <a:prstDash val="solid"/>
          </a:ln>
        </p:spPr>
      </p:sp>
      <p:sp>
        <p:nvSpPr>
          <p:cNvPr id="95" name="Text 93"/>
          <p:cNvSpPr/>
          <p:nvPr/>
        </p:nvSpPr>
        <p:spPr>
          <a:xfrm>
            <a:off x="4709160" y="2926080"/>
            <a:ext cx="32004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96" name="Shape 94"/>
          <p:cNvSpPr/>
          <p:nvPr/>
        </p:nvSpPr>
        <p:spPr>
          <a:xfrm>
            <a:off x="4535424" y="2889504"/>
            <a:ext cx="128016" cy="91"/>
          </a:xfrm>
          <a:prstGeom prst="line">
            <a:avLst/>
          </a:prstGeom>
          <a:noFill/>
          <a:ln w="9525">
            <a:solidFill>
              <a:srgbClr val="1A2340"/>
            </a:solidFill>
            <a:prstDash val="solid"/>
          </a:ln>
        </p:spPr>
      </p:sp>
      <p:sp>
        <p:nvSpPr>
          <p:cNvPr id="97" name="Shape 95"/>
          <p:cNvSpPr/>
          <p:nvPr/>
        </p:nvSpPr>
        <p:spPr>
          <a:xfrm>
            <a:off x="4535424" y="2761488"/>
            <a:ext cx="128016" cy="91"/>
          </a:xfrm>
          <a:prstGeom prst="line">
            <a:avLst/>
          </a:prstGeom>
          <a:noFill/>
          <a:ln w="9525">
            <a:solidFill>
              <a:srgbClr val="1A2340"/>
            </a:solidFill>
            <a:prstDash val="solid"/>
          </a:ln>
        </p:spPr>
      </p:sp>
      <p:sp>
        <p:nvSpPr>
          <p:cNvPr id="98" name="Shape 96"/>
          <p:cNvSpPr/>
          <p:nvPr/>
        </p:nvSpPr>
        <p:spPr>
          <a:xfrm>
            <a:off x="4535424" y="2633472"/>
            <a:ext cx="128016" cy="91"/>
          </a:xfrm>
          <a:prstGeom prst="line">
            <a:avLst/>
          </a:prstGeom>
          <a:noFill/>
          <a:ln w="9525">
            <a:solidFill>
              <a:srgbClr val="1A2340"/>
            </a:solidFill>
            <a:prstDash val="solid"/>
          </a:ln>
        </p:spPr>
      </p:sp>
      <p:sp>
        <p:nvSpPr>
          <p:cNvPr id="99" name="Shape 97"/>
          <p:cNvSpPr/>
          <p:nvPr/>
        </p:nvSpPr>
        <p:spPr>
          <a:xfrm>
            <a:off x="4535424" y="2505456"/>
            <a:ext cx="128016" cy="91"/>
          </a:xfrm>
          <a:prstGeom prst="line">
            <a:avLst/>
          </a:prstGeom>
          <a:noFill/>
          <a:ln w="9525">
            <a:solidFill>
              <a:srgbClr val="1A2340"/>
            </a:solidFill>
            <a:prstDash val="solid"/>
          </a:ln>
        </p:spPr>
      </p:sp>
      <p:sp>
        <p:nvSpPr>
          <p:cNvPr id="100" name="Shape 98"/>
          <p:cNvSpPr/>
          <p:nvPr/>
        </p:nvSpPr>
        <p:spPr>
          <a:xfrm>
            <a:off x="4434840" y="2377440"/>
            <a:ext cx="228600" cy="91"/>
          </a:xfrm>
          <a:prstGeom prst="line">
            <a:avLst/>
          </a:prstGeom>
          <a:noFill/>
          <a:ln w="9525">
            <a:solidFill>
              <a:srgbClr val="1A2340"/>
            </a:solidFill>
            <a:prstDash val="solid"/>
          </a:ln>
        </p:spPr>
      </p:sp>
      <p:sp>
        <p:nvSpPr>
          <p:cNvPr id="101" name="Text 99"/>
          <p:cNvSpPr/>
          <p:nvPr/>
        </p:nvSpPr>
        <p:spPr>
          <a:xfrm>
            <a:off x="4709160" y="2286000"/>
            <a:ext cx="32004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102" name="Shape 100"/>
          <p:cNvSpPr/>
          <p:nvPr/>
        </p:nvSpPr>
        <p:spPr>
          <a:xfrm>
            <a:off x="4535424" y="2249424"/>
            <a:ext cx="128016" cy="91"/>
          </a:xfrm>
          <a:prstGeom prst="line">
            <a:avLst/>
          </a:prstGeom>
          <a:noFill/>
          <a:ln w="9525">
            <a:solidFill>
              <a:srgbClr val="1A2340"/>
            </a:solidFill>
            <a:prstDash val="solid"/>
          </a:ln>
        </p:spPr>
      </p:sp>
      <p:sp>
        <p:nvSpPr>
          <p:cNvPr id="103" name="Shape 101"/>
          <p:cNvSpPr/>
          <p:nvPr/>
        </p:nvSpPr>
        <p:spPr>
          <a:xfrm>
            <a:off x="4535424" y="2121408"/>
            <a:ext cx="128016" cy="91"/>
          </a:xfrm>
          <a:prstGeom prst="line">
            <a:avLst/>
          </a:prstGeom>
          <a:noFill/>
          <a:ln w="9525">
            <a:solidFill>
              <a:srgbClr val="1A2340"/>
            </a:solidFill>
            <a:prstDash val="solid"/>
          </a:ln>
        </p:spPr>
      </p:sp>
      <p:sp>
        <p:nvSpPr>
          <p:cNvPr id="104" name="Shape 102"/>
          <p:cNvSpPr/>
          <p:nvPr/>
        </p:nvSpPr>
        <p:spPr>
          <a:xfrm>
            <a:off x="4535424" y="1993392"/>
            <a:ext cx="128016" cy="91"/>
          </a:xfrm>
          <a:prstGeom prst="line">
            <a:avLst/>
          </a:prstGeom>
          <a:noFill/>
          <a:ln w="9525">
            <a:solidFill>
              <a:srgbClr val="1A2340"/>
            </a:solidFill>
            <a:prstDash val="solid"/>
          </a:ln>
        </p:spPr>
      </p:sp>
      <p:sp>
        <p:nvSpPr>
          <p:cNvPr id="105" name="Shape 103"/>
          <p:cNvSpPr/>
          <p:nvPr/>
        </p:nvSpPr>
        <p:spPr>
          <a:xfrm>
            <a:off x="4535424" y="1865376"/>
            <a:ext cx="128016" cy="91"/>
          </a:xfrm>
          <a:prstGeom prst="line">
            <a:avLst/>
          </a:prstGeom>
          <a:noFill/>
          <a:ln w="9525">
            <a:solidFill>
              <a:srgbClr val="1A2340"/>
            </a:solidFill>
            <a:prstDash val="solid"/>
          </a:ln>
        </p:spPr>
      </p:sp>
      <p:sp>
        <p:nvSpPr>
          <p:cNvPr id="106" name="Shape 104"/>
          <p:cNvSpPr/>
          <p:nvPr/>
        </p:nvSpPr>
        <p:spPr>
          <a:xfrm>
            <a:off x="4434840" y="1737360"/>
            <a:ext cx="228600" cy="91"/>
          </a:xfrm>
          <a:prstGeom prst="line">
            <a:avLst/>
          </a:prstGeom>
          <a:noFill/>
          <a:ln w="9525">
            <a:solidFill>
              <a:srgbClr val="1A2340"/>
            </a:solidFill>
            <a:prstDash val="solid"/>
          </a:ln>
        </p:spPr>
      </p:sp>
      <p:sp>
        <p:nvSpPr>
          <p:cNvPr id="107" name="Text 105"/>
          <p:cNvSpPr/>
          <p:nvPr/>
        </p:nvSpPr>
        <p:spPr>
          <a:xfrm>
            <a:off x="4709160" y="1645920"/>
            <a:ext cx="320040" cy="1828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108" name="Shape 106"/>
          <p:cNvSpPr/>
          <p:nvPr/>
        </p:nvSpPr>
        <p:spPr>
          <a:xfrm>
            <a:off x="3310128" y="2167128"/>
            <a:ext cx="274320" cy="164592"/>
          </a:xfrm>
          <a:prstGeom prst="ellipse">
            <a:avLst/>
          </a:prstGeom>
          <a:solidFill>
            <a:srgbClr val="FFFFFF"/>
          </a:solidFill>
          <a:ln w="12700">
            <a:solidFill>
              <a:srgbClr val="1A2340"/>
            </a:solidFill>
            <a:prstDash val="solid"/>
          </a:ln>
        </p:spPr>
      </p:sp>
      <p:sp>
        <p:nvSpPr>
          <p:cNvPr id="109" name="Shape 107"/>
          <p:cNvSpPr/>
          <p:nvPr/>
        </p:nvSpPr>
        <p:spPr>
          <a:xfrm>
            <a:off x="3401568" y="2203704"/>
            <a:ext cx="91440" cy="91440"/>
          </a:xfrm>
          <a:prstGeom prst="ellipse">
            <a:avLst/>
          </a:prstGeom>
          <a:solidFill>
            <a:srgbClr val="1A2340"/>
          </a:solidFill>
          <a:ln w="12700">
            <a:solidFill>
              <a:srgbClr val="1A2340"/>
            </a:solidFill>
            <a:prstDash val="solid"/>
          </a:ln>
        </p:spPr>
      </p:sp>
      <p:sp>
        <p:nvSpPr>
          <p:cNvPr id="110" name="Shape 108"/>
          <p:cNvSpPr/>
          <p:nvPr/>
        </p:nvSpPr>
        <p:spPr>
          <a:xfrm>
            <a:off x="3611880" y="2249424"/>
            <a:ext cx="777240" cy="91"/>
          </a:xfrm>
          <a:prstGeom prst="line">
            <a:avLst/>
          </a:prstGeom>
          <a:noFill/>
          <a:ln w="12700">
            <a:solidFill>
              <a:srgbClr val="C8414C"/>
            </a:solidFill>
            <a:prstDash val="dash"/>
          </a:ln>
        </p:spPr>
      </p:sp>
      <p:sp>
        <p:nvSpPr>
          <p:cNvPr id="111" name="Text 109"/>
          <p:cNvSpPr/>
          <p:nvPr/>
        </p:nvSpPr>
        <p:spPr>
          <a:xfrm>
            <a:off x="5029200" y="2295144"/>
            <a:ext cx="914400" cy="566928"/>
          </a:xfrm>
          <a:prstGeom prst="rect">
            <a:avLst/>
          </a:prstGeom>
          <a:noFill/>
          <a:ln/>
        </p:spPr>
        <p:txBody>
          <a:bodyPr wrap="square" lIns="0" tIns="0" rIns="0" bIns="0" rtlCol="0" anchor="ctr"/>
          <a:lstStyle/>
          <a:p>
            <a:pPr algn="l" indent="0" marL="0">
              <a:buNone/>
            </a:pPr>
            <a:r>
              <a:rPr lang="en-US" sz="1000" b="1" dirty="0">
                <a:solidFill>
                  <a:srgbClr val="2E5BD8"/>
                </a:solidFill>
                <a:latin typeface="Calibri" pitchFamily="34" charset="0"/>
                <a:ea typeface="Calibri" pitchFamily="34" charset="-122"/>
                <a:cs typeface="Calibri" pitchFamily="34" charset="-120"/>
              </a:rPr>
              <a:t>read the</a:t>
            </a:r>
            <a:endParaRPr lang="en-US" sz="1000" dirty="0"/>
          </a:p>
          <a:p>
            <a:pPr algn="l" indent="0" marL="0">
              <a:buNone/>
            </a:pPr>
            <a:r>
              <a:rPr lang="en-US" sz="1000" b="1" dirty="0">
                <a:solidFill>
                  <a:srgbClr val="2E5BD8"/>
                </a:solidFill>
                <a:latin typeface="Calibri" pitchFamily="34" charset="0"/>
                <a:ea typeface="Calibri" pitchFamily="34" charset="-122"/>
                <a:cs typeface="Calibri" pitchFamily="34" charset="-120"/>
              </a:rPr>
              <a:t>bottom of the</a:t>
            </a:r>
            <a:endParaRPr lang="en-US" sz="1000" dirty="0"/>
          </a:p>
          <a:p>
            <a:pPr algn="l" indent="0" marL="0">
              <a:buNone/>
            </a:pPr>
            <a:r>
              <a:rPr lang="en-US" sz="1000" b="1" dirty="0">
                <a:solidFill>
                  <a:srgbClr val="2E5BD8"/>
                </a:solidFill>
                <a:latin typeface="Calibri" pitchFamily="34" charset="0"/>
                <a:ea typeface="Calibri" pitchFamily="34" charset="-122"/>
                <a:cs typeface="Calibri" pitchFamily="34" charset="-120"/>
              </a:rPr>
              <a:t>meniscus</a:t>
            </a:r>
            <a:endParaRPr lang="en-US" sz="1000" dirty="0"/>
          </a:p>
        </p:txBody>
      </p:sp>
      <p:sp>
        <p:nvSpPr>
          <p:cNvPr id="112" name="Text 110"/>
          <p:cNvSpPr/>
          <p:nvPr/>
        </p:nvSpPr>
        <p:spPr>
          <a:xfrm>
            <a:off x="3246120" y="2514600"/>
            <a:ext cx="45720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B</a:t>
            </a:r>
            <a:endParaRPr lang="en-US" sz="1200" dirty="0"/>
          </a:p>
        </p:txBody>
      </p:sp>
      <p:sp>
        <p:nvSpPr>
          <p:cNvPr id="113" name="Text 111"/>
          <p:cNvSpPr/>
          <p:nvPr/>
        </p:nvSpPr>
        <p:spPr>
          <a:xfrm>
            <a:off x="548640" y="3291840"/>
            <a:ext cx="265176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Thermometer (°C)</a:t>
            </a:r>
            <a:endParaRPr lang="en-US" sz="1100" dirty="0"/>
          </a:p>
        </p:txBody>
      </p:sp>
      <p:sp>
        <p:nvSpPr>
          <p:cNvPr id="114" name="Shape 112"/>
          <p:cNvSpPr/>
          <p:nvPr/>
        </p:nvSpPr>
        <p:spPr>
          <a:xfrm>
            <a:off x="1005840" y="3950208"/>
            <a:ext cx="2048256" cy="146304"/>
          </a:xfrm>
          <a:prstGeom prst="roundRect">
            <a:avLst>
              <a:gd name="adj" fmla="val 50000"/>
            </a:avLst>
          </a:prstGeom>
          <a:solidFill>
            <a:srgbClr val="FFFFFF"/>
          </a:solidFill>
          <a:ln w="12700">
            <a:solidFill>
              <a:srgbClr val="1A2340"/>
            </a:solidFill>
            <a:prstDash val="solid"/>
          </a:ln>
        </p:spPr>
      </p:sp>
      <p:sp>
        <p:nvSpPr>
          <p:cNvPr id="115" name="Shape 113"/>
          <p:cNvSpPr/>
          <p:nvPr/>
        </p:nvSpPr>
        <p:spPr>
          <a:xfrm>
            <a:off x="795528" y="3877056"/>
            <a:ext cx="292608" cy="292608"/>
          </a:xfrm>
          <a:prstGeom prst="ellipse">
            <a:avLst/>
          </a:prstGeom>
          <a:solidFill>
            <a:srgbClr val="C8414C"/>
          </a:solidFill>
          <a:ln w="12700">
            <a:solidFill>
              <a:srgbClr val="1A2340"/>
            </a:solidFill>
            <a:prstDash val="solid"/>
          </a:ln>
        </p:spPr>
      </p:sp>
      <p:sp>
        <p:nvSpPr>
          <p:cNvPr id="116" name="Shape 114"/>
          <p:cNvSpPr/>
          <p:nvPr/>
        </p:nvSpPr>
        <p:spPr>
          <a:xfrm>
            <a:off x="1005840" y="3991356"/>
            <a:ext cx="899770" cy="64008"/>
          </a:xfrm>
          <a:prstGeom prst="rect">
            <a:avLst/>
          </a:prstGeom>
          <a:solidFill>
            <a:srgbClr val="C8414C"/>
          </a:solidFill>
          <a:ln/>
        </p:spPr>
      </p:sp>
      <p:sp>
        <p:nvSpPr>
          <p:cNvPr id="117" name="Shape 115"/>
          <p:cNvSpPr/>
          <p:nvPr/>
        </p:nvSpPr>
        <p:spPr>
          <a:xfrm flipV="1">
            <a:off x="1097280" y="3785616"/>
            <a:ext cx="91" cy="164592"/>
          </a:xfrm>
          <a:prstGeom prst="line">
            <a:avLst/>
          </a:prstGeom>
          <a:noFill/>
          <a:ln w="6350">
            <a:solidFill>
              <a:srgbClr val="1A2340"/>
            </a:solidFill>
            <a:prstDash val="solid"/>
          </a:ln>
        </p:spPr>
      </p:sp>
      <p:sp>
        <p:nvSpPr>
          <p:cNvPr id="118" name="Shape 116"/>
          <p:cNvSpPr/>
          <p:nvPr/>
        </p:nvSpPr>
        <p:spPr>
          <a:xfrm flipV="1">
            <a:off x="1159459" y="3886200"/>
            <a:ext cx="91" cy="64008"/>
          </a:xfrm>
          <a:prstGeom prst="line">
            <a:avLst/>
          </a:prstGeom>
          <a:noFill/>
          <a:ln w="6350">
            <a:solidFill>
              <a:srgbClr val="1A2340"/>
            </a:solidFill>
            <a:prstDash val="solid"/>
          </a:ln>
        </p:spPr>
      </p:sp>
      <p:sp>
        <p:nvSpPr>
          <p:cNvPr id="119" name="Shape 117"/>
          <p:cNvSpPr/>
          <p:nvPr/>
        </p:nvSpPr>
        <p:spPr>
          <a:xfrm flipV="1">
            <a:off x="1221638" y="3886200"/>
            <a:ext cx="91" cy="64008"/>
          </a:xfrm>
          <a:prstGeom prst="line">
            <a:avLst/>
          </a:prstGeom>
          <a:noFill/>
          <a:ln w="6350">
            <a:solidFill>
              <a:srgbClr val="1A2340"/>
            </a:solidFill>
            <a:prstDash val="solid"/>
          </a:ln>
        </p:spPr>
      </p:sp>
      <p:sp>
        <p:nvSpPr>
          <p:cNvPr id="120" name="Shape 118"/>
          <p:cNvSpPr/>
          <p:nvPr/>
        </p:nvSpPr>
        <p:spPr>
          <a:xfrm flipV="1">
            <a:off x="1283818" y="3886200"/>
            <a:ext cx="91" cy="64008"/>
          </a:xfrm>
          <a:prstGeom prst="line">
            <a:avLst/>
          </a:prstGeom>
          <a:noFill/>
          <a:ln w="6350">
            <a:solidFill>
              <a:srgbClr val="1A2340"/>
            </a:solidFill>
            <a:prstDash val="solid"/>
          </a:ln>
        </p:spPr>
      </p:sp>
      <p:sp>
        <p:nvSpPr>
          <p:cNvPr id="121" name="Shape 119"/>
          <p:cNvSpPr/>
          <p:nvPr/>
        </p:nvSpPr>
        <p:spPr>
          <a:xfrm flipV="1">
            <a:off x="1345997" y="3886200"/>
            <a:ext cx="91" cy="64008"/>
          </a:xfrm>
          <a:prstGeom prst="line">
            <a:avLst/>
          </a:prstGeom>
          <a:noFill/>
          <a:ln w="6350">
            <a:solidFill>
              <a:srgbClr val="1A2340"/>
            </a:solidFill>
            <a:prstDash val="solid"/>
          </a:ln>
        </p:spPr>
      </p:sp>
      <p:sp>
        <p:nvSpPr>
          <p:cNvPr id="122" name="Shape 120"/>
          <p:cNvSpPr/>
          <p:nvPr/>
        </p:nvSpPr>
        <p:spPr>
          <a:xfrm flipV="1">
            <a:off x="1408176" y="3840480"/>
            <a:ext cx="91" cy="109728"/>
          </a:xfrm>
          <a:prstGeom prst="line">
            <a:avLst/>
          </a:prstGeom>
          <a:noFill/>
          <a:ln w="6350">
            <a:solidFill>
              <a:srgbClr val="1A2340"/>
            </a:solidFill>
            <a:prstDash val="solid"/>
          </a:ln>
        </p:spPr>
      </p:sp>
      <p:sp>
        <p:nvSpPr>
          <p:cNvPr id="123" name="Shape 121"/>
          <p:cNvSpPr/>
          <p:nvPr/>
        </p:nvSpPr>
        <p:spPr>
          <a:xfrm flipV="1">
            <a:off x="1470355" y="3886200"/>
            <a:ext cx="91" cy="64008"/>
          </a:xfrm>
          <a:prstGeom prst="line">
            <a:avLst/>
          </a:prstGeom>
          <a:noFill/>
          <a:ln w="6350">
            <a:solidFill>
              <a:srgbClr val="1A2340"/>
            </a:solidFill>
            <a:prstDash val="solid"/>
          </a:ln>
        </p:spPr>
      </p:sp>
      <p:sp>
        <p:nvSpPr>
          <p:cNvPr id="124" name="Shape 122"/>
          <p:cNvSpPr/>
          <p:nvPr/>
        </p:nvSpPr>
        <p:spPr>
          <a:xfrm flipV="1">
            <a:off x="1532534" y="3886200"/>
            <a:ext cx="91" cy="64008"/>
          </a:xfrm>
          <a:prstGeom prst="line">
            <a:avLst/>
          </a:prstGeom>
          <a:noFill/>
          <a:ln w="6350">
            <a:solidFill>
              <a:srgbClr val="1A2340"/>
            </a:solidFill>
            <a:prstDash val="solid"/>
          </a:ln>
        </p:spPr>
      </p:sp>
      <p:sp>
        <p:nvSpPr>
          <p:cNvPr id="125" name="Shape 123"/>
          <p:cNvSpPr/>
          <p:nvPr/>
        </p:nvSpPr>
        <p:spPr>
          <a:xfrm flipV="1">
            <a:off x="1594714" y="3886200"/>
            <a:ext cx="91" cy="64008"/>
          </a:xfrm>
          <a:prstGeom prst="line">
            <a:avLst/>
          </a:prstGeom>
          <a:noFill/>
          <a:ln w="6350">
            <a:solidFill>
              <a:srgbClr val="1A2340"/>
            </a:solidFill>
            <a:prstDash val="solid"/>
          </a:ln>
        </p:spPr>
      </p:sp>
      <p:sp>
        <p:nvSpPr>
          <p:cNvPr id="126" name="Shape 124"/>
          <p:cNvSpPr/>
          <p:nvPr/>
        </p:nvSpPr>
        <p:spPr>
          <a:xfrm flipV="1">
            <a:off x="1656893" y="3886200"/>
            <a:ext cx="91" cy="64008"/>
          </a:xfrm>
          <a:prstGeom prst="line">
            <a:avLst/>
          </a:prstGeom>
          <a:noFill/>
          <a:ln w="6350">
            <a:solidFill>
              <a:srgbClr val="1A2340"/>
            </a:solidFill>
            <a:prstDash val="solid"/>
          </a:ln>
        </p:spPr>
      </p:sp>
      <p:sp>
        <p:nvSpPr>
          <p:cNvPr id="127" name="Shape 125"/>
          <p:cNvSpPr/>
          <p:nvPr/>
        </p:nvSpPr>
        <p:spPr>
          <a:xfrm flipV="1">
            <a:off x="1719072" y="3785616"/>
            <a:ext cx="91" cy="164592"/>
          </a:xfrm>
          <a:prstGeom prst="line">
            <a:avLst/>
          </a:prstGeom>
          <a:noFill/>
          <a:ln w="6350">
            <a:solidFill>
              <a:srgbClr val="1A2340"/>
            </a:solidFill>
            <a:prstDash val="solid"/>
          </a:ln>
        </p:spPr>
      </p:sp>
      <p:sp>
        <p:nvSpPr>
          <p:cNvPr id="128" name="Shape 126"/>
          <p:cNvSpPr/>
          <p:nvPr/>
        </p:nvSpPr>
        <p:spPr>
          <a:xfrm flipV="1">
            <a:off x="1781251" y="3886200"/>
            <a:ext cx="91" cy="64008"/>
          </a:xfrm>
          <a:prstGeom prst="line">
            <a:avLst/>
          </a:prstGeom>
          <a:noFill/>
          <a:ln w="6350">
            <a:solidFill>
              <a:srgbClr val="1A2340"/>
            </a:solidFill>
            <a:prstDash val="solid"/>
          </a:ln>
        </p:spPr>
      </p:sp>
      <p:sp>
        <p:nvSpPr>
          <p:cNvPr id="129" name="Shape 127"/>
          <p:cNvSpPr/>
          <p:nvPr/>
        </p:nvSpPr>
        <p:spPr>
          <a:xfrm flipV="1">
            <a:off x="1843430" y="3886200"/>
            <a:ext cx="91" cy="64008"/>
          </a:xfrm>
          <a:prstGeom prst="line">
            <a:avLst/>
          </a:prstGeom>
          <a:noFill/>
          <a:ln w="6350">
            <a:solidFill>
              <a:srgbClr val="1A2340"/>
            </a:solidFill>
            <a:prstDash val="solid"/>
          </a:ln>
        </p:spPr>
      </p:sp>
      <p:sp>
        <p:nvSpPr>
          <p:cNvPr id="130" name="Shape 128"/>
          <p:cNvSpPr/>
          <p:nvPr/>
        </p:nvSpPr>
        <p:spPr>
          <a:xfrm flipV="1">
            <a:off x="1905610" y="3886200"/>
            <a:ext cx="91" cy="64008"/>
          </a:xfrm>
          <a:prstGeom prst="line">
            <a:avLst/>
          </a:prstGeom>
          <a:noFill/>
          <a:ln w="6350">
            <a:solidFill>
              <a:srgbClr val="1A2340"/>
            </a:solidFill>
            <a:prstDash val="solid"/>
          </a:ln>
        </p:spPr>
      </p:sp>
      <p:sp>
        <p:nvSpPr>
          <p:cNvPr id="131" name="Shape 129"/>
          <p:cNvSpPr/>
          <p:nvPr/>
        </p:nvSpPr>
        <p:spPr>
          <a:xfrm flipV="1">
            <a:off x="1967789" y="3886200"/>
            <a:ext cx="91" cy="64008"/>
          </a:xfrm>
          <a:prstGeom prst="line">
            <a:avLst/>
          </a:prstGeom>
          <a:noFill/>
          <a:ln w="6350">
            <a:solidFill>
              <a:srgbClr val="1A2340"/>
            </a:solidFill>
            <a:prstDash val="solid"/>
          </a:ln>
        </p:spPr>
      </p:sp>
      <p:sp>
        <p:nvSpPr>
          <p:cNvPr id="132" name="Shape 130"/>
          <p:cNvSpPr/>
          <p:nvPr/>
        </p:nvSpPr>
        <p:spPr>
          <a:xfrm flipV="1">
            <a:off x="2029968" y="3840480"/>
            <a:ext cx="91" cy="109728"/>
          </a:xfrm>
          <a:prstGeom prst="line">
            <a:avLst/>
          </a:prstGeom>
          <a:noFill/>
          <a:ln w="6350">
            <a:solidFill>
              <a:srgbClr val="1A2340"/>
            </a:solidFill>
            <a:prstDash val="solid"/>
          </a:ln>
        </p:spPr>
      </p:sp>
      <p:sp>
        <p:nvSpPr>
          <p:cNvPr id="133" name="Shape 131"/>
          <p:cNvSpPr/>
          <p:nvPr/>
        </p:nvSpPr>
        <p:spPr>
          <a:xfrm flipV="1">
            <a:off x="2092147" y="3886200"/>
            <a:ext cx="91" cy="64008"/>
          </a:xfrm>
          <a:prstGeom prst="line">
            <a:avLst/>
          </a:prstGeom>
          <a:noFill/>
          <a:ln w="6350">
            <a:solidFill>
              <a:srgbClr val="1A2340"/>
            </a:solidFill>
            <a:prstDash val="solid"/>
          </a:ln>
        </p:spPr>
      </p:sp>
      <p:sp>
        <p:nvSpPr>
          <p:cNvPr id="134" name="Shape 132"/>
          <p:cNvSpPr/>
          <p:nvPr/>
        </p:nvSpPr>
        <p:spPr>
          <a:xfrm flipV="1">
            <a:off x="2154326" y="3886200"/>
            <a:ext cx="91" cy="64008"/>
          </a:xfrm>
          <a:prstGeom prst="line">
            <a:avLst/>
          </a:prstGeom>
          <a:noFill/>
          <a:ln w="6350">
            <a:solidFill>
              <a:srgbClr val="1A2340"/>
            </a:solidFill>
            <a:prstDash val="solid"/>
          </a:ln>
        </p:spPr>
      </p:sp>
      <p:sp>
        <p:nvSpPr>
          <p:cNvPr id="135" name="Shape 133"/>
          <p:cNvSpPr/>
          <p:nvPr/>
        </p:nvSpPr>
        <p:spPr>
          <a:xfrm flipV="1">
            <a:off x="2216506" y="3886200"/>
            <a:ext cx="91" cy="64008"/>
          </a:xfrm>
          <a:prstGeom prst="line">
            <a:avLst/>
          </a:prstGeom>
          <a:noFill/>
          <a:ln w="6350">
            <a:solidFill>
              <a:srgbClr val="1A2340"/>
            </a:solidFill>
            <a:prstDash val="solid"/>
          </a:ln>
        </p:spPr>
      </p:sp>
      <p:sp>
        <p:nvSpPr>
          <p:cNvPr id="136" name="Shape 134"/>
          <p:cNvSpPr/>
          <p:nvPr/>
        </p:nvSpPr>
        <p:spPr>
          <a:xfrm flipV="1">
            <a:off x="2278685" y="3886200"/>
            <a:ext cx="91" cy="64008"/>
          </a:xfrm>
          <a:prstGeom prst="line">
            <a:avLst/>
          </a:prstGeom>
          <a:noFill/>
          <a:ln w="6350">
            <a:solidFill>
              <a:srgbClr val="1A2340"/>
            </a:solidFill>
            <a:prstDash val="solid"/>
          </a:ln>
        </p:spPr>
      </p:sp>
      <p:sp>
        <p:nvSpPr>
          <p:cNvPr id="137" name="Shape 135"/>
          <p:cNvSpPr/>
          <p:nvPr/>
        </p:nvSpPr>
        <p:spPr>
          <a:xfrm flipV="1">
            <a:off x="2340864" y="3785616"/>
            <a:ext cx="91" cy="164592"/>
          </a:xfrm>
          <a:prstGeom prst="line">
            <a:avLst/>
          </a:prstGeom>
          <a:noFill/>
          <a:ln w="6350">
            <a:solidFill>
              <a:srgbClr val="1A2340"/>
            </a:solidFill>
            <a:prstDash val="solid"/>
          </a:ln>
        </p:spPr>
      </p:sp>
      <p:sp>
        <p:nvSpPr>
          <p:cNvPr id="138" name="Shape 136"/>
          <p:cNvSpPr/>
          <p:nvPr/>
        </p:nvSpPr>
        <p:spPr>
          <a:xfrm flipV="1">
            <a:off x="2403043" y="3886200"/>
            <a:ext cx="91" cy="64008"/>
          </a:xfrm>
          <a:prstGeom prst="line">
            <a:avLst/>
          </a:prstGeom>
          <a:noFill/>
          <a:ln w="6350">
            <a:solidFill>
              <a:srgbClr val="1A2340"/>
            </a:solidFill>
            <a:prstDash val="solid"/>
          </a:ln>
        </p:spPr>
      </p:sp>
      <p:sp>
        <p:nvSpPr>
          <p:cNvPr id="139" name="Shape 137"/>
          <p:cNvSpPr/>
          <p:nvPr/>
        </p:nvSpPr>
        <p:spPr>
          <a:xfrm flipV="1">
            <a:off x="2465222" y="3886200"/>
            <a:ext cx="91" cy="64008"/>
          </a:xfrm>
          <a:prstGeom prst="line">
            <a:avLst/>
          </a:prstGeom>
          <a:noFill/>
          <a:ln w="6350">
            <a:solidFill>
              <a:srgbClr val="1A2340"/>
            </a:solidFill>
            <a:prstDash val="solid"/>
          </a:ln>
        </p:spPr>
      </p:sp>
      <p:sp>
        <p:nvSpPr>
          <p:cNvPr id="140" name="Shape 138"/>
          <p:cNvSpPr/>
          <p:nvPr/>
        </p:nvSpPr>
        <p:spPr>
          <a:xfrm flipV="1">
            <a:off x="2527402" y="3886200"/>
            <a:ext cx="91" cy="64008"/>
          </a:xfrm>
          <a:prstGeom prst="line">
            <a:avLst/>
          </a:prstGeom>
          <a:noFill/>
          <a:ln w="6350">
            <a:solidFill>
              <a:srgbClr val="1A2340"/>
            </a:solidFill>
            <a:prstDash val="solid"/>
          </a:ln>
        </p:spPr>
      </p:sp>
      <p:sp>
        <p:nvSpPr>
          <p:cNvPr id="141" name="Shape 139"/>
          <p:cNvSpPr/>
          <p:nvPr/>
        </p:nvSpPr>
        <p:spPr>
          <a:xfrm flipV="1">
            <a:off x="2589581" y="3886200"/>
            <a:ext cx="91" cy="64008"/>
          </a:xfrm>
          <a:prstGeom prst="line">
            <a:avLst/>
          </a:prstGeom>
          <a:noFill/>
          <a:ln w="6350">
            <a:solidFill>
              <a:srgbClr val="1A2340"/>
            </a:solidFill>
            <a:prstDash val="solid"/>
          </a:ln>
        </p:spPr>
      </p:sp>
      <p:sp>
        <p:nvSpPr>
          <p:cNvPr id="142" name="Shape 140"/>
          <p:cNvSpPr/>
          <p:nvPr/>
        </p:nvSpPr>
        <p:spPr>
          <a:xfrm flipV="1">
            <a:off x="2651760" y="3840480"/>
            <a:ext cx="91" cy="109728"/>
          </a:xfrm>
          <a:prstGeom prst="line">
            <a:avLst/>
          </a:prstGeom>
          <a:noFill/>
          <a:ln w="6350">
            <a:solidFill>
              <a:srgbClr val="1A2340"/>
            </a:solidFill>
            <a:prstDash val="solid"/>
          </a:ln>
        </p:spPr>
      </p:sp>
      <p:sp>
        <p:nvSpPr>
          <p:cNvPr id="143" name="Shape 141"/>
          <p:cNvSpPr/>
          <p:nvPr/>
        </p:nvSpPr>
        <p:spPr>
          <a:xfrm flipV="1">
            <a:off x="2713939" y="3886200"/>
            <a:ext cx="91" cy="64008"/>
          </a:xfrm>
          <a:prstGeom prst="line">
            <a:avLst/>
          </a:prstGeom>
          <a:noFill/>
          <a:ln w="6350">
            <a:solidFill>
              <a:srgbClr val="1A2340"/>
            </a:solidFill>
            <a:prstDash val="solid"/>
          </a:ln>
        </p:spPr>
      </p:sp>
      <p:sp>
        <p:nvSpPr>
          <p:cNvPr id="144" name="Shape 142"/>
          <p:cNvSpPr/>
          <p:nvPr/>
        </p:nvSpPr>
        <p:spPr>
          <a:xfrm flipV="1">
            <a:off x="2776118" y="3886200"/>
            <a:ext cx="91" cy="64008"/>
          </a:xfrm>
          <a:prstGeom prst="line">
            <a:avLst/>
          </a:prstGeom>
          <a:noFill/>
          <a:ln w="6350">
            <a:solidFill>
              <a:srgbClr val="1A2340"/>
            </a:solidFill>
            <a:prstDash val="solid"/>
          </a:ln>
        </p:spPr>
      </p:sp>
      <p:sp>
        <p:nvSpPr>
          <p:cNvPr id="145" name="Shape 143"/>
          <p:cNvSpPr/>
          <p:nvPr/>
        </p:nvSpPr>
        <p:spPr>
          <a:xfrm flipV="1">
            <a:off x="2838298" y="3886200"/>
            <a:ext cx="91" cy="64008"/>
          </a:xfrm>
          <a:prstGeom prst="line">
            <a:avLst/>
          </a:prstGeom>
          <a:noFill/>
          <a:ln w="6350">
            <a:solidFill>
              <a:srgbClr val="1A2340"/>
            </a:solidFill>
            <a:prstDash val="solid"/>
          </a:ln>
        </p:spPr>
      </p:sp>
      <p:sp>
        <p:nvSpPr>
          <p:cNvPr id="146" name="Shape 144"/>
          <p:cNvSpPr/>
          <p:nvPr/>
        </p:nvSpPr>
        <p:spPr>
          <a:xfrm flipV="1">
            <a:off x="2900477" y="3886200"/>
            <a:ext cx="91" cy="64008"/>
          </a:xfrm>
          <a:prstGeom prst="line">
            <a:avLst/>
          </a:prstGeom>
          <a:noFill/>
          <a:ln w="6350">
            <a:solidFill>
              <a:srgbClr val="1A2340"/>
            </a:solidFill>
            <a:prstDash val="solid"/>
          </a:ln>
        </p:spPr>
      </p:sp>
      <p:sp>
        <p:nvSpPr>
          <p:cNvPr id="147" name="Shape 145"/>
          <p:cNvSpPr/>
          <p:nvPr/>
        </p:nvSpPr>
        <p:spPr>
          <a:xfrm flipV="1">
            <a:off x="2962656" y="3785616"/>
            <a:ext cx="91" cy="164592"/>
          </a:xfrm>
          <a:prstGeom prst="line">
            <a:avLst/>
          </a:prstGeom>
          <a:noFill/>
          <a:ln w="6350">
            <a:solidFill>
              <a:srgbClr val="1A2340"/>
            </a:solidFill>
            <a:prstDash val="solid"/>
          </a:ln>
        </p:spPr>
      </p:sp>
      <p:sp>
        <p:nvSpPr>
          <p:cNvPr id="148" name="Text 146"/>
          <p:cNvSpPr/>
          <p:nvPr/>
        </p:nvSpPr>
        <p:spPr>
          <a:xfrm>
            <a:off x="914400" y="3584448"/>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49" name="Text 147"/>
          <p:cNvSpPr/>
          <p:nvPr/>
        </p:nvSpPr>
        <p:spPr>
          <a:xfrm>
            <a:off x="1536192" y="3584448"/>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50" name="Text 148"/>
          <p:cNvSpPr/>
          <p:nvPr/>
        </p:nvSpPr>
        <p:spPr>
          <a:xfrm>
            <a:off x="2157984" y="3584448"/>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151" name="Text 149"/>
          <p:cNvSpPr/>
          <p:nvPr/>
        </p:nvSpPr>
        <p:spPr>
          <a:xfrm>
            <a:off x="2779776" y="3584448"/>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152" name="Text 150"/>
          <p:cNvSpPr/>
          <p:nvPr/>
        </p:nvSpPr>
        <p:spPr>
          <a:xfrm>
            <a:off x="548640" y="4343400"/>
            <a:ext cx="45720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C</a:t>
            </a:r>
            <a:endParaRPr lang="en-US" sz="1200" dirty="0"/>
          </a:p>
        </p:txBody>
      </p:sp>
      <p:sp>
        <p:nvSpPr>
          <p:cNvPr id="153" name="Text 151"/>
          <p:cNvSpPr/>
          <p:nvPr/>
        </p:nvSpPr>
        <p:spPr>
          <a:xfrm>
            <a:off x="3246120" y="3291840"/>
            <a:ext cx="2651760" cy="256032"/>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Ammeter (A)</a:t>
            </a:r>
            <a:endParaRPr lang="en-US" sz="1100" dirty="0"/>
          </a:p>
        </p:txBody>
      </p:sp>
      <p:sp>
        <p:nvSpPr>
          <p:cNvPr id="154" name="Shape 152"/>
          <p:cNvSpPr/>
          <p:nvPr/>
        </p:nvSpPr>
        <p:spPr>
          <a:xfrm>
            <a:off x="3273552" y="3611880"/>
            <a:ext cx="2596896" cy="1481328"/>
          </a:xfrm>
          <a:prstGeom prst="roundRect">
            <a:avLst>
              <a:gd name="adj" fmla="val 4938"/>
            </a:avLst>
          </a:prstGeom>
          <a:solidFill>
            <a:srgbClr val="FFFFFF"/>
          </a:solidFill>
          <a:ln w="12700">
            <a:solidFill>
              <a:srgbClr val="D5DCEB"/>
            </a:solidFill>
            <a:prstDash val="solid"/>
          </a:ln>
        </p:spPr>
      </p:sp>
      <p:sp>
        <p:nvSpPr>
          <p:cNvPr id="155" name="Shape 153"/>
          <p:cNvSpPr/>
          <p:nvPr/>
        </p:nvSpPr>
        <p:spPr>
          <a:xfrm flipH="1" flipV="1">
            <a:off x="5377224" y="4433129"/>
            <a:ext cx="26264" cy="42859"/>
          </a:xfrm>
          <a:prstGeom prst="line">
            <a:avLst/>
          </a:prstGeom>
          <a:noFill/>
          <a:ln w="15875">
            <a:solidFill>
              <a:srgbClr val="1A2340"/>
            </a:solidFill>
            <a:prstDash val="solid"/>
          </a:ln>
        </p:spPr>
      </p:sp>
      <p:sp>
        <p:nvSpPr>
          <p:cNvPr id="156" name="Shape 154"/>
          <p:cNvSpPr/>
          <p:nvPr/>
        </p:nvSpPr>
        <p:spPr>
          <a:xfrm flipH="1" flipV="1">
            <a:off x="5348753" y="4391704"/>
            <a:ext cx="28471" cy="41426"/>
          </a:xfrm>
          <a:prstGeom prst="line">
            <a:avLst/>
          </a:prstGeom>
          <a:noFill/>
          <a:ln w="15875">
            <a:solidFill>
              <a:srgbClr val="1A2340"/>
            </a:solidFill>
            <a:prstDash val="solid"/>
          </a:ln>
        </p:spPr>
      </p:sp>
      <p:sp>
        <p:nvSpPr>
          <p:cNvPr id="157" name="Shape 155"/>
          <p:cNvSpPr/>
          <p:nvPr/>
        </p:nvSpPr>
        <p:spPr>
          <a:xfrm flipH="1" flipV="1">
            <a:off x="5318153" y="4351825"/>
            <a:ext cx="30600" cy="39879"/>
          </a:xfrm>
          <a:prstGeom prst="line">
            <a:avLst/>
          </a:prstGeom>
          <a:noFill/>
          <a:ln w="15875">
            <a:solidFill>
              <a:srgbClr val="1A2340"/>
            </a:solidFill>
            <a:prstDash val="solid"/>
          </a:ln>
        </p:spPr>
      </p:sp>
      <p:sp>
        <p:nvSpPr>
          <p:cNvPr id="158" name="Shape 156"/>
          <p:cNvSpPr/>
          <p:nvPr/>
        </p:nvSpPr>
        <p:spPr>
          <a:xfrm flipH="1" flipV="1">
            <a:off x="5285508" y="4313602"/>
            <a:ext cx="32645" cy="38223"/>
          </a:xfrm>
          <a:prstGeom prst="line">
            <a:avLst/>
          </a:prstGeom>
          <a:noFill/>
          <a:ln w="15875">
            <a:solidFill>
              <a:srgbClr val="1A2340"/>
            </a:solidFill>
            <a:prstDash val="solid"/>
          </a:ln>
        </p:spPr>
      </p:sp>
      <p:sp>
        <p:nvSpPr>
          <p:cNvPr id="159" name="Shape 157"/>
          <p:cNvSpPr/>
          <p:nvPr/>
        </p:nvSpPr>
        <p:spPr>
          <a:xfrm flipH="1" flipV="1">
            <a:off x="5250907" y="4277141"/>
            <a:ext cx="34601" cy="36462"/>
          </a:xfrm>
          <a:prstGeom prst="line">
            <a:avLst/>
          </a:prstGeom>
          <a:noFill/>
          <a:ln w="15875">
            <a:solidFill>
              <a:srgbClr val="1A2340"/>
            </a:solidFill>
            <a:prstDash val="solid"/>
          </a:ln>
        </p:spPr>
      </p:sp>
      <p:sp>
        <p:nvSpPr>
          <p:cNvPr id="160" name="Shape 158"/>
          <p:cNvSpPr/>
          <p:nvPr/>
        </p:nvSpPr>
        <p:spPr>
          <a:xfrm flipH="1" flipV="1">
            <a:off x="5214446" y="4242540"/>
            <a:ext cx="36462" cy="34601"/>
          </a:xfrm>
          <a:prstGeom prst="line">
            <a:avLst/>
          </a:prstGeom>
          <a:noFill/>
          <a:ln w="15875">
            <a:solidFill>
              <a:srgbClr val="1A2340"/>
            </a:solidFill>
            <a:prstDash val="solid"/>
          </a:ln>
        </p:spPr>
      </p:sp>
      <p:sp>
        <p:nvSpPr>
          <p:cNvPr id="161" name="Shape 159"/>
          <p:cNvSpPr/>
          <p:nvPr/>
        </p:nvSpPr>
        <p:spPr>
          <a:xfrm flipH="1" flipV="1">
            <a:off x="5176223" y="4209895"/>
            <a:ext cx="38223" cy="32645"/>
          </a:xfrm>
          <a:prstGeom prst="line">
            <a:avLst/>
          </a:prstGeom>
          <a:noFill/>
          <a:ln w="15875">
            <a:solidFill>
              <a:srgbClr val="1A2340"/>
            </a:solidFill>
            <a:prstDash val="solid"/>
          </a:ln>
        </p:spPr>
      </p:sp>
      <p:sp>
        <p:nvSpPr>
          <p:cNvPr id="162" name="Shape 160"/>
          <p:cNvSpPr/>
          <p:nvPr/>
        </p:nvSpPr>
        <p:spPr>
          <a:xfrm flipH="1" flipV="1">
            <a:off x="5136344" y="4179295"/>
            <a:ext cx="39879" cy="30600"/>
          </a:xfrm>
          <a:prstGeom prst="line">
            <a:avLst/>
          </a:prstGeom>
          <a:noFill/>
          <a:ln w="15875">
            <a:solidFill>
              <a:srgbClr val="1A2340"/>
            </a:solidFill>
            <a:prstDash val="solid"/>
          </a:ln>
        </p:spPr>
      </p:sp>
      <p:sp>
        <p:nvSpPr>
          <p:cNvPr id="163" name="Shape 161"/>
          <p:cNvSpPr/>
          <p:nvPr/>
        </p:nvSpPr>
        <p:spPr>
          <a:xfrm flipH="1" flipV="1">
            <a:off x="5094919" y="4150824"/>
            <a:ext cx="41426" cy="28471"/>
          </a:xfrm>
          <a:prstGeom prst="line">
            <a:avLst/>
          </a:prstGeom>
          <a:noFill/>
          <a:ln w="15875">
            <a:solidFill>
              <a:srgbClr val="1A2340"/>
            </a:solidFill>
            <a:prstDash val="solid"/>
          </a:ln>
        </p:spPr>
      </p:sp>
      <p:sp>
        <p:nvSpPr>
          <p:cNvPr id="164" name="Shape 162"/>
          <p:cNvSpPr/>
          <p:nvPr/>
        </p:nvSpPr>
        <p:spPr>
          <a:xfrm flipH="1" flipV="1">
            <a:off x="5052060" y="4124560"/>
            <a:ext cx="42859" cy="26264"/>
          </a:xfrm>
          <a:prstGeom prst="line">
            <a:avLst/>
          </a:prstGeom>
          <a:noFill/>
          <a:ln w="15875">
            <a:solidFill>
              <a:srgbClr val="1A2340"/>
            </a:solidFill>
            <a:prstDash val="solid"/>
          </a:ln>
        </p:spPr>
      </p:sp>
      <p:sp>
        <p:nvSpPr>
          <p:cNvPr id="165" name="Shape 163"/>
          <p:cNvSpPr/>
          <p:nvPr/>
        </p:nvSpPr>
        <p:spPr>
          <a:xfrm flipH="1" flipV="1">
            <a:off x="5007885" y="4100575"/>
            <a:ext cx="44175" cy="23985"/>
          </a:xfrm>
          <a:prstGeom prst="line">
            <a:avLst/>
          </a:prstGeom>
          <a:noFill/>
          <a:ln w="15875">
            <a:solidFill>
              <a:srgbClr val="1A2340"/>
            </a:solidFill>
            <a:prstDash val="solid"/>
          </a:ln>
        </p:spPr>
      </p:sp>
      <p:sp>
        <p:nvSpPr>
          <p:cNvPr id="166" name="Shape 164"/>
          <p:cNvSpPr/>
          <p:nvPr/>
        </p:nvSpPr>
        <p:spPr>
          <a:xfrm flipH="1" flipV="1">
            <a:off x="4962516" y="4078935"/>
            <a:ext cx="45369" cy="21640"/>
          </a:xfrm>
          <a:prstGeom prst="line">
            <a:avLst/>
          </a:prstGeom>
          <a:noFill/>
          <a:ln w="15875">
            <a:solidFill>
              <a:srgbClr val="1A2340"/>
            </a:solidFill>
            <a:prstDash val="solid"/>
          </a:ln>
        </p:spPr>
      </p:sp>
      <p:sp>
        <p:nvSpPr>
          <p:cNvPr id="167" name="Shape 165"/>
          <p:cNvSpPr/>
          <p:nvPr/>
        </p:nvSpPr>
        <p:spPr>
          <a:xfrm flipH="1" flipV="1">
            <a:off x="4916076" y="4059699"/>
            <a:ext cx="46440" cy="19236"/>
          </a:xfrm>
          <a:prstGeom prst="line">
            <a:avLst/>
          </a:prstGeom>
          <a:noFill/>
          <a:ln w="15875">
            <a:solidFill>
              <a:srgbClr val="1A2340"/>
            </a:solidFill>
            <a:prstDash val="solid"/>
          </a:ln>
        </p:spPr>
      </p:sp>
      <p:sp>
        <p:nvSpPr>
          <p:cNvPr id="168" name="Shape 166"/>
          <p:cNvSpPr/>
          <p:nvPr/>
        </p:nvSpPr>
        <p:spPr>
          <a:xfrm flipH="1" flipV="1">
            <a:off x="4868693" y="4042920"/>
            <a:ext cx="47383" cy="16779"/>
          </a:xfrm>
          <a:prstGeom prst="line">
            <a:avLst/>
          </a:prstGeom>
          <a:noFill/>
          <a:ln w="15875">
            <a:solidFill>
              <a:srgbClr val="1A2340"/>
            </a:solidFill>
            <a:prstDash val="solid"/>
          </a:ln>
        </p:spPr>
      </p:sp>
      <p:sp>
        <p:nvSpPr>
          <p:cNvPr id="169" name="Shape 167"/>
          <p:cNvSpPr/>
          <p:nvPr/>
        </p:nvSpPr>
        <p:spPr>
          <a:xfrm flipH="1" flipV="1">
            <a:off x="4820497" y="4028643"/>
            <a:ext cx="48196" cy="14276"/>
          </a:xfrm>
          <a:prstGeom prst="line">
            <a:avLst/>
          </a:prstGeom>
          <a:noFill/>
          <a:ln w="15875">
            <a:solidFill>
              <a:srgbClr val="1A2340"/>
            </a:solidFill>
            <a:prstDash val="solid"/>
          </a:ln>
        </p:spPr>
      </p:sp>
      <p:sp>
        <p:nvSpPr>
          <p:cNvPr id="170" name="Shape 168"/>
          <p:cNvSpPr/>
          <p:nvPr/>
        </p:nvSpPr>
        <p:spPr>
          <a:xfrm flipH="1" flipV="1">
            <a:off x="4771620" y="4016909"/>
            <a:ext cx="48877" cy="11734"/>
          </a:xfrm>
          <a:prstGeom prst="line">
            <a:avLst/>
          </a:prstGeom>
          <a:noFill/>
          <a:ln w="15875">
            <a:solidFill>
              <a:srgbClr val="1A2340"/>
            </a:solidFill>
            <a:prstDash val="solid"/>
          </a:ln>
        </p:spPr>
      </p:sp>
      <p:sp>
        <p:nvSpPr>
          <p:cNvPr id="171" name="Shape 169"/>
          <p:cNvSpPr/>
          <p:nvPr/>
        </p:nvSpPr>
        <p:spPr>
          <a:xfrm flipH="1" flipV="1">
            <a:off x="4722196" y="4007749"/>
            <a:ext cx="49424" cy="9160"/>
          </a:xfrm>
          <a:prstGeom prst="line">
            <a:avLst/>
          </a:prstGeom>
          <a:noFill/>
          <a:ln w="15875">
            <a:solidFill>
              <a:srgbClr val="1A2340"/>
            </a:solidFill>
            <a:prstDash val="solid"/>
          </a:ln>
        </p:spPr>
      </p:sp>
      <p:sp>
        <p:nvSpPr>
          <p:cNvPr id="172" name="Shape 170"/>
          <p:cNvSpPr/>
          <p:nvPr/>
        </p:nvSpPr>
        <p:spPr>
          <a:xfrm flipH="1" flipV="1">
            <a:off x="4672360" y="4001188"/>
            <a:ext cx="49836" cy="6561"/>
          </a:xfrm>
          <a:prstGeom prst="line">
            <a:avLst/>
          </a:prstGeom>
          <a:noFill/>
          <a:ln w="15875">
            <a:solidFill>
              <a:srgbClr val="1A2340"/>
            </a:solidFill>
            <a:prstDash val="solid"/>
          </a:ln>
        </p:spPr>
      </p:sp>
      <p:sp>
        <p:nvSpPr>
          <p:cNvPr id="173" name="Shape 171"/>
          <p:cNvSpPr/>
          <p:nvPr/>
        </p:nvSpPr>
        <p:spPr>
          <a:xfrm flipH="1" flipV="1">
            <a:off x="4622249" y="3997244"/>
            <a:ext cx="50111" cy="3944"/>
          </a:xfrm>
          <a:prstGeom prst="line">
            <a:avLst/>
          </a:prstGeom>
          <a:noFill/>
          <a:ln w="15875">
            <a:solidFill>
              <a:srgbClr val="1A2340"/>
            </a:solidFill>
            <a:prstDash val="solid"/>
          </a:ln>
        </p:spPr>
      </p:sp>
      <p:sp>
        <p:nvSpPr>
          <p:cNvPr id="174" name="Shape 172"/>
          <p:cNvSpPr/>
          <p:nvPr/>
        </p:nvSpPr>
        <p:spPr>
          <a:xfrm flipH="1" flipV="1">
            <a:off x="4572000" y="3995928"/>
            <a:ext cx="50249" cy="1316"/>
          </a:xfrm>
          <a:prstGeom prst="line">
            <a:avLst/>
          </a:prstGeom>
          <a:noFill/>
          <a:ln w="15875">
            <a:solidFill>
              <a:srgbClr val="1A2340"/>
            </a:solidFill>
            <a:prstDash val="solid"/>
          </a:ln>
        </p:spPr>
      </p:sp>
      <p:sp>
        <p:nvSpPr>
          <p:cNvPr id="175" name="Shape 173"/>
          <p:cNvSpPr/>
          <p:nvPr/>
        </p:nvSpPr>
        <p:spPr>
          <a:xfrm flipH="1">
            <a:off x="4521751" y="3995928"/>
            <a:ext cx="50249" cy="1316"/>
          </a:xfrm>
          <a:prstGeom prst="line">
            <a:avLst/>
          </a:prstGeom>
          <a:noFill/>
          <a:ln w="15875">
            <a:solidFill>
              <a:srgbClr val="1A2340"/>
            </a:solidFill>
            <a:prstDash val="solid"/>
          </a:ln>
        </p:spPr>
      </p:sp>
      <p:sp>
        <p:nvSpPr>
          <p:cNvPr id="176" name="Shape 174"/>
          <p:cNvSpPr/>
          <p:nvPr/>
        </p:nvSpPr>
        <p:spPr>
          <a:xfrm flipH="1">
            <a:off x="4471640" y="3997244"/>
            <a:ext cx="50111" cy="3944"/>
          </a:xfrm>
          <a:prstGeom prst="line">
            <a:avLst/>
          </a:prstGeom>
          <a:noFill/>
          <a:ln w="15875">
            <a:solidFill>
              <a:srgbClr val="1A2340"/>
            </a:solidFill>
            <a:prstDash val="solid"/>
          </a:ln>
        </p:spPr>
      </p:sp>
      <p:sp>
        <p:nvSpPr>
          <p:cNvPr id="177" name="Shape 175"/>
          <p:cNvSpPr/>
          <p:nvPr/>
        </p:nvSpPr>
        <p:spPr>
          <a:xfrm flipH="1">
            <a:off x="4421804" y="4001188"/>
            <a:ext cx="49836" cy="6561"/>
          </a:xfrm>
          <a:prstGeom prst="line">
            <a:avLst/>
          </a:prstGeom>
          <a:noFill/>
          <a:ln w="15875">
            <a:solidFill>
              <a:srgbClr val="1A2340"/>
            </a:solidFill>
            <a:prstDash val="solid"/>
          </a:ln>
        </p:spPr>
      </p:sp>
      <p:sp>
        <p:nvSpPr>
          <p:cNvPr id="178" name="Shape 176"/>
          <p:cNvSpPr/>
          <p:nvPr/>
        </p:nvSpPr>
        <p:spPr>
          <a:xfrm flipH="1">
            <a:off x="4372380" y="4007749"/>
            <a:ext cx="49424" cy="9160"/>
          </a:xfrm>
          <a:prstGeom prst="line">
            <a:avLst/>
          </a:prstGeom>
          <a:noFill/>
          <a:ln w="15875">
            <a:solidFill>
              <a:srgbClr val="1A2340"/>
            </a:solidFill>
            <a:prstDash val="solid"/>
          </a:ln>
        </p:spPr>
      </p:sp>
      <p:sp>
        <p:nvSpPr>
          <p:cNvPr id="179" name="Shape 177"/>
          <p:cNvSpPr/>
          <p:nvPr/>
        </p:nvSpPr>
        <p:spPr>
          <a:xfrm flipH="1">
            <a:off x="4323503" y="4016909"/>
            <a:ext cx="48877" cy="11734"/>
          </a:xfrm>
          <a:prstGeom prst="line">
            <a:avLst/>
          </a:prstGeom>
          <a:noFill/>
          <a:ln w="15875">
            <a:solidFill>
              <a:srgbClr val="1A2340"/>
            </a:solidFill>
            <a:prstDash val="solid"/>
          </a:ln>
        </p:spPr>
      </p:sp>
      <p:sp>
        <p:nvSpPr>
          <p:cNvPr id="180" name="Shape 178"/>
          <p:cNvSpPr/>
          <p:nvPr/>
        </p:nvSpPr>
        <p:spPr>
          <a:xfrm flipH="1">
            <a:off x="4275307" y="4028643"/>
            <a:ext cx="48196" cy="14276"/>
          </a:xfrm>
          <a:prstGeom prst="line">
            <a:avLst/>
          </a:prstGeom>
          <a:noFill/>
          <a:ln w="15875">
            <a:solidFill>
              <a:srgbClr val="1A2340"/>
            </a:solidFill>
            <a:prstDash val="solid"/>
          </a:ln>
        </p:spPr>
      </p:sp>
      <p:sp>
        <p:nvSpPr>
          <p:cNvPr id="181" name="Shape 179"/>
          <p:cNvSpPr/>
          <p:nvPr/>
        </p:nvSpPr>
        <p:spPr>
          <a:xfrm flipH="1">
            <a:off x="4227924" y="4042920"/>
            <a:ext cx="47383" cy="16779"/>
          </a:xfrm>
          <a:prstGeom prst="line">
            <a:avLst/>
          </a:prstGeom>
          <a:noFill/>
          <a:ln w="15875">
            <a:solidFill>
              <a:srgbClr val="1A2340"/>
            </a:solidFill>
            <a:prstDash val="solid"/>
          </a:ln>
        </p:spPr>
      </p:sp>
      <p:sp>
        <p:nvSpPr>
          <p:cNvPr id="182" name="Shape 180"/>
          <p:cNvSpPr/>
          <p:nvPr/>
        </p:nvSpPr>
        <p:spPr>
          <a:xfrm flipH="1">
            <a:off x="4181484" y="4059699"/>
            <a:ext cx="46440" cy="19236"/>
          </a:xfrm>
          <a:prstGeom prst="line">
            <a:avLst/>
          </a:prstGeom>
          <a:noFill/>
          <a:ln w="15875">
            <a:solidFill>
              <a:srgbClr val="1A2340"/>
            </a:solidFill>
            <a:prstDash val="solid"/>
          </a:ln>
        </p:spPr>
      </p:sp>
      <p:sp>
        <p:nvSpPr>
          <p:cNvPr id="183" name="Shape 181"/>
          <p:cNvSpPr/>
          <p:nvPr/>
        </p:nvSpPr>
        <p:spPr>
          <a:xfrm flipH="1">
            <a:off x="4136115" y="4078935"/>
            <a:ext cx="45369" cy="21640"/>
          </a:xfrm>
          <a:prstGeom prst="line">
            <a:avLst/>
          </a:prstGeom>
          <a:noFill/>
          <a:ln w="15875">
            <a:solidFill>
              <a:srgbClr val="1A2340"/>
            </a:solidFill>
            <a:prstDash val="solid"/>
          </a:ln>
        </p:spPr>
      </p:sp>
      <p:sp>
        <p:nvSpPr>
          <p:cNvPr id="184" name="Shape 182"/>
          <p:cNvSpPr/>
          <p:nvPr/>
        </p:nvSpPr>
        <p:spPr>
          <a:xfrm flipH="1">
            <a:off x="4091940" y="4100575"/>
            <a:ext cx="44175" cy="23985"/>
          </a:xfrm>
          <a:prstGeom prst="line">
            <a:avLst/>
          </a:prstGeom>
          <a:noFill/>
          <a:ln w="15875">
            <a:solidFill>
              <a:srgbClr val="1A2340"/>
            </a:solidFill>
            <a:prstDash val="solid"/>
          </a:ln>
        </p:spPr>
      </p:sp>
      <p:sp>
        <p:nvSpPr>
          <p:cNvPr id="185" name="Shape 183"/>
          <p:cNvSpPr/>
          <p:nvPr/>
        </p:nvSpPr>
        <p:spPr>
          <a:xfrm flipH="1">
            <a:off x="4049081" y="4124560"/>
            <a:ext cx="42859" cy="26264"/>
          </a:xfrm>
          <a:prstGeom prst="line">
            <a:avLst/>
          </a:prstGeom>
          <a:noFill/>
          <a:ln w="15875">
            <a:solidFill>
              <a:srgbClr val="1A2340"/>
            </a:solidFill>
            <a:prstDash val="solid"/>
          </a:ln>
        </p:spPr>
      </p:sp>
      <p:sp>
        <p:nvSpPr>
          <p:cNvPr id="186" name="Shape 184"/>
          <p:cNvSpPr/>
          <p:nvPr/>
        </p:nvSpPr>
        <p:spPr>
          <a:xfrm flipH="1">
            <a:off x="4007656" y="4150824"/>
            <a:ext cx="41426" cy="28471"/>
          </a:xfrm>
          <a:prstGeom prst="line">
            <a:avLst/>
          </a:prstGeom>
          <a:noFill/>
          <a:ln w="15875">
            <a:solidFill>
              <a:srgbClr val="1A2340"/>
            </a:solidFill>
            <a:prstDash val="solid"/>
          </a:ln>
        </p:spPr>
      </p:sp>
      <p:sp>
        <p:nvSpPr>
          <p:cNvPr id="187" name="Shape 185"/>
          <p:cNvSpPr/>
          <p:nvPr/>
        </p:nvSpPr>
        <p:spPr>
          <a:xfrm flipH="1">
            <a:off x="3967777" y="4179295"/>
            <a:ext cx="39879" cy="30600"/>
          </a:xfrm>
          <a:prstGeom prst="line">
            <a:avLst/>
          </a:prstGeom>
          <a:noFill/>
          <a:ln w="15875">
            <a:solidFill>
              <a:srgbClr val="1A2340"/>
            </a:solidFill>
            <a:prstDash val="solid"/>
          </a:ln>
        </p:spPr>
      </p:sp>
      <p:sp>
        <p:nvSpPr>
          <p:cNvPr id="188" name="Shape 186"/>
          <p:cNvSpPr/>
          <p:nvPr/>
        </p:nvSpPr>
        <p:spPr>
          <a:xfrm flipH="1">
            <a:off x="3929554" y="4209895"/>
            <a:ext cx="38223" cy="32645"/>
          </a:xfrm>
          <a:prstGeom prst="line">
            <a:avLst/>
          </a:prstGeom>
          <a:noFill/>
          <a:ln w="15875">
            <a:solidFill>
              <a:srgbClr val="1A2340"/>
            </a:solidFill>
            <a:prstDash val="solid"/>
          </a:ln>
        </p:spPr>
      </p:sp>
      <p:sp>
        <p:nvSpPr>
          <p:cNvPr id="189" name="Shape 187"/>
          <p:cNvSpPr/>
          <p:nvPr/>
        </p:nvSpPr>
        <p:spPr>
          <a:xfrm flipH="1">
            <a:off x="3893093" y="4242540"/>
            <a:ext cx="36462" cy="34601"/>
          </a:xfrm>
          <a:prstGeom prst="line">
            <a:avLst/>
          </a:prstGeom>
          <a:noFill/>
          <a:ln w="15875">
            <a:solidFill>
              <a:srgbClr val="1A2340"/>
            </a:solidFill>
            <a:prstDash val="solid"/>
          </a:ln>
        </p:spPr>
      </p:sp>
      <p:sp>
        <p:nvSpPr>
          <p:cNvPr id="190" name="Shape 188"/>
          <p:cNvSpPr/>
          <p:nvPr/>
        </p:nvSpPr>
        <p:spPr>
          <a:xfrm flipH="1">
            <a:off x="3858492" y="4277141"/>
            <a:ext cx="34601" cy="36462"/>
          </a:xfrm>
          <a:prstGeom prst="line">
            <a:avLst/>
          </a:prstGeom>
          <a:noFill/>
          <a:ln w="15875">
            <a:solidFill>
              <a:srgbClr val="1A2340"/>
            </a:solidFill>
            <a:prstDash val="solid"/>
          </a:ln>
        </p:spPr>
      </p:sp>
      <p:sp>
        <p:nvSpPr>
          <p:cNvPr id="191" name="Shape 189"/>
          <p:cNvSpPr/>
          <p:nvPr/>
        </p:nvSpPr>
        <p:spPr>
          <a:xfrm flipH="1">
            <a:off x="3825847" y="4313602"/>
            <a:ext cx="32645" cy="38223"/>
          </a:xfrm>
          <a:prstGeom prst="line">
            <a:avLst/>
          </a:prstGeom>
          <a:noFill/>
          <a:ln w="15875">
            <a:solidFill>
              <a:srgbClr val="1A2340"/>
            </a:solidFill>
            <a:prstDash val="solid"/>
          </a:ln>
        </p:spPr>
      </p:sp>
      <p:sp>
        <p:nvSpPr>
          <p:cNvPr id="192" name="Shape 190"/>
          <p:cNvSpPr/>
          <p:nvPr/>
        </p:nvSpPr>
        <p:spPr>
          <a:xfrm flipH="1">
            <a:off x="3795247" y="4351825"/>
            <a:ext cx="30600" cy="39879"/>
          </a:xfrm>
          <a:prstGeom prst="line">
            <a:avLst/>
          </a:prstGeom>
          <a:noFill/>
          <a:ln w="15875">
            <a:solidFill>
              <a:srgbClr val="1A2340"/>
            </a:solidFill>
            <a:prstDash val="solid"/>
          </a:ln>
        </p:spPr>
      </p:sp>
      <p:sp>
        <p:nvSpPr>
          <p:cNvPr id="193" name="Shape 191"/>
          <p:cNvSpPr/>
          <p:nvPr/>
        </p:nvSpPr>
        <p:spPr>
          <a:xfrm flipH="1">
            <a:off x="3766776" y="4391704"/>
            <a:ext cx="28471" cy="41426"/>
          </a:xfrm>
          <a:prstGeom prst="line">
            <a:avLst/>
          </a:prstGeom>
          <a:noFill/>
          <a:ln w="15875">
            <a:solidFill>
              <a:srgbClr val="1A2340"/>
            </a:solidFill>
            <a:prstDash val="solid"/>
          </a:ln>
        </p:spPr>
      </p:sp>
      <p:sp>
        <p:nvSpPr>
          <p:cNvPr id="194" name="Shape 192"/>
          <p:cNvSpPr/>
          <p:nvPr/>
        </p:nvSpPr>
        <p:spPr>
          <a:xfrm flipH="1">
            <a:off x="3740512" y="4433129"/>
            <a:ext cx="26264" cy="42859"/>
          </a:xfrm>
          <a:prstGeom prst="line">
            <a:avLst/>
          </a:prstGeom>
          <a:noFill/>
          <a:ln w="15875">
            <a:solidFill>
              <a:srgbClr val="1A2340"/>
            </a:solidFill>
            <a:prstDash val="solid"/>
          </a:ln>
        </p:spPr>
      </p:sp>
      <p:sp>
        <p:nvSpPr>
          <p:cNvPr id="195" name="Shape 193"/>
          <p:cNvSpPr/>
          <p:nvPr/>
        </p:nvSpPr>
        <p:spPr>
          <a:xfrm>
            <a:off x="3740512" y="4475988"/>
            <a:ext cx="126703" cy="73152"/>
          </a:xfrm>
          <a:prstGeom prst="line">
            <a:avLst/>
          </a:prstGeom>
          <a:noFill/>
          <a:ln w="9525">
            <a:solidFill>
              <a:srgbClr val="1A2340"/>
            </a:solidFill>
            <a:prstDash val="solid"/>
          </a:ln>
        </p:spPr>
      </p:sp>
      <p:sp>
        <p:nvSpPr>
          <p:cNvPr id="196" name="Text 194"/>
          <p:cNvSpPr/>
          <p:nvPr/>
        </p:nvSpPr>
        <p:spPr>
          <a:xfrm>
            <a:off x="3415091" y="4302252"/>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197" name="Shape 195"/>
          <p:cNvSpPr/>
          <p:nvPr/>
        </p:nvSpPr>
        <p:spPr>
          <a:xfrm>
            <a:off x="3795247" y="4391704"/>
            <a:ext cx="59181" cy="42998"/>
          </a:xfrm>
          <a:prstGeom prst="line">
            <a:avLst/>
          </a:prstGeom>
          <a:noFill/>
          <a:ln w="9525">
            <a:solidFill>
              <a:srgbClr val="1A2340"/>
            </a:solidFill>
            <a:prstDash val="solid"/>
          </a:ln>
        </p:spPr>
      </p:sp>
      <p:sp>
        <p:nvSpPr>
          <p:cNvPr id="198" name="Shape 196"/>
          <p:cNvSpPr/>
          <p:nvPr/>
        </p:nvSpPr>
        <p:spPr>
          <a:xfrm>
            <a:off x="3858492" y="4313602"/>
            <a:ext cx="54363" cy="48948"/>
          </a:xfrm>
          <a:prstGeom prst="line">
            <a:avLst/>
          </a:prstGeom>
          <a:noFill/>
          <a:ln w="9525">
            <a:solidFill>
              <a:srgbClr val="1A2340"/>
            </a:solidFill>
            <a:prstDash val="solid"/>
          </a:ln>
        </p:spPr>
      </p:sp>
      <p:sp>
        <p:nvSpPr>
          <p:cNvPr id="199" name="Shape 197"/>
          <p:cNvSpPr/>
          <p:nvPr/>
        </p:nvSpPr>
        <p:spPr>
          <a:xfrm>
            <a:off x="3929554" y="4242540"/>
            <a:ext cx="48948" cy="54363"/>
          </a:xfrm>
          <a:prstGeom prst="line">
            <a:avLst/>
          </a:prstGeom>
          <a:noFill/>
          <a:ln w="9525">
            <a:solidFill>
              <a:srgbClr val="1A2340"/>
            </a:solidFill>
            <a:prstDash val="solid"/>
          </a:ln>
        </p:spPr>
      </p:sp>
      <p:sp>
        <p:nvSpPr>
          <p:cNvPr id="200" name="Shape 198"/>
          <p:cNvSpPr/>
          <p:nvPr/>
        </p:nvSpPr>
        <p:spPr>
          <a:xfrm>
            <a:off x="4007656" y="4179295"/>
            <a:ext cx="85995" cy="118362"/>
          </a:xfrm>
          <a:prstGeom prst="line">
            <a:avLst/>
          </a:prstGeom>
          <a:noFill/>
          <a:ln w="9525">
            <a:solidFill>
              <a:srgbClr val="1A2340"/>
            </a:solidFill>
            <a:prstDash val="solid"/>
          </a:ln>
        </p:spPr>
      </p:sp>
      <p:sp>
        <p:nvSpPr>
          <p:cNvPr id="201" name="Text 199"/>
          <p:cNvSpPr/>
          <p:nvPr/>
        </p:nvSpPr>
        <p:spPr>
          <a:xfrm>
            <a:off x="3728031" y="3954697"/>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202" name="Shape 200"/>
          <p:cNvSpPr/>
          <p:nvPr/>
        </p:nvSpPr>
        <p:spPr>
          <a:xfrm>
            <a:off x="4091940" y="4124560"/>
            <a:ext cx="36576" cy="63351"/>
          </a:xfrm>
          <a:prstGeom prst="line">
            <a:avLst/>
          </a:prstGeom>
          <a:noFill/>
          <a:ln w="9525">
            <a:solidFill>
              <a:srgbClr val="1A2340"/>
            </a:solidFill>
            <a:prstDash val="solid"/>
          </a:ln>
        </p:spPr>
      </p:sp>
      <p:sp>
        <p:nvSpPr>
          <p:cNvPr id="203" name="Shape 201"/>
          <p:cNvSpPr/>
          <p:nvPr/>
        </p:nvSpPr>
        <p:spPr>
          <a:xfrm>
            <a:off x="4181484" y="4078935"/>
            <a:ext cx="29754" cy="66828"/>
          </a:xfrm>
          <a:prstGeom prst="line">
            <a:avLst/>
          </a:prstGeom>
          <a:noFill/>
          <a:ln w="9525">
            <a:solidFill>
              <a:srgbClr val="1A2340"/>
            </a:solidFill>
            <a:prstDash val="solid"/>
          </a:ln>
        </p:spPr>
      </p:sp>
      <p:sp>
        <p:nvSpPr>
          <p:cNvPr id="204" name="Shape 202"/>
          <p:cNvSpPr/>
          <p:nvPr/>
        </p:nvSpPr>
        <p:spPr>
          <a:xfrm>
            <a:off x="4275307" y="4042920"/>
            <a:ext cx="22605" cy="69572"/>
          </a:xfrm>
          <a:prstGeom prst="line">
            <a:avLst/>
          </a:prstGeom>
          <a:noFill/>
          <a:ln w="9525">
            <a:solidFill>
              <a:srgbClr val="1A2340"/>
            </a:solidFill>
            <a:prstDash val="solid"/>
          </a:ln>
        </p:spPr>
      </p:sp>
      <p:sp>
        <p:nvSpPr>
          <p:cNvPr id="205" name="Shape 203"/>
          <p:cNvSpPr/>
          <p:nvPr/>
        </p:nvSpPr>
        <p:spPr>
          <a:xfrm>
            <a:off x="4372380" y="4016909"/>
            <a:ext cx="30418" cy="143107"/>
          </a:xfrm>
          <a:prstGeom prst="line">
            <a:avLst/>
          </a:prstGeom>
          <a:noFill/>
          <a:ln w="9525">
            <a:solidFill>
              <a:srgbClr val="1A2340"/>
            </a:solidFill>
            <a:prstDash val="solid"/>
          </a:ln>
        </p:spPr>
      </p:sp>
      <p:sp>
        <p:nvSpPr>
          <p:cNvPr id="206" name="Text 204"/>
          <p:cNvSpPr/>
          <p:nvPr/>
        </p:nvSpPr>
        <p:spPr>
          <a:xfrm>
            <a:off x="4155279" y="3764474"/>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207" name="Shape 205"/>
          <p:cNvSpPr/>
          <p:nvPr/>
        </p:nvSpPr>
        <p:spPr>
          <a:xfrm>
            <a:off x="4471640" y="4001188"/>
            <a:ext cx="7646" cy="72751"/>
          </a:xfrm>
          <a:prstGeom prst="line">
            <a:avLst/>
          </a:prstGeom>
          <a:noFill/>
          <a:ln w="9525">
            <a:solidFill>
              <a:srgbClr val="1A2340"/>
            </a:solidFill>
            <a:prstDash val="solid"/>
          </a:ln>
        </p:spPr>
      </p:sp>
      <p:sp>
        <p:nvSpPr>
          <p:cNvPr id="208" name="Shape 206"/>
          <p:cNvSpPr/>
          <p:nvPr/>
        </p:nvSpPr>
        <p:spPr>
          <a:xfrm>
            <a:off x="4572000" y="3995928"/>
            <a:ext cx="91" cy="73152"/>
          </a:xfrm>
          <a:prstGeom prst="line">
            <a:avLst/>
          </a:prstGeom>
          <a:noFill/>
          <a:ln w="9525">
            <a:solidFill>
              <a:srgbClr val="1A2340"/>
            </a:solidFill>
            <a:prstDash val="solid"/>
          </a:ln>
        </p:spPr>
      </p:sp>
      <p:sp>
        <p:nvSpPr>
          <p:cNvPr id="209" name="Shape 207"/>
          <p:cNvSpPr/>
          <p:nvPr/>
        </p:nvSpPr>
        <p:spPr>
          <a:xfrm flipH="1">
            <a:off x="4664713" y="4001188"/>
            <a:ext cx="7646" cy="72751"/>
          </a:xfrm>
          <a:prstGeom prst="line">
            <a:avLst/>
          </a:prstGeom>
          <a:noFill/>
          <a:ln w="9525">
            <a:solidFill>
              <a:srgbClr val="1A2340"/>
            </a:solidFill>
            <a:prstDash val="solid"/>
          </a:ln>
        </p:spPr>
      </p:sp>
      <p:sp>
        <p:nvSpPr>
          <p:cNvPr id="210" name="Shape 208"/>
          <p:cNvSpPr/>
          <p:nvPr/>
        </p:nvSpPr>
        <p:spPr>
          <a:xfrm flipH="1">
            <a:off x="4741202" y="4016909"/>
            <a:ext cx="30418" cy="143107"/>
          </a:xfrm>
          <a:prstGeom prst="line">
            <a:avLst/>
          </a:prstGeom>
          <a:noFill/>
          <a:ln w="9525">
            <a:solidFill>
              <a:srgbClr val="1A2340"/>
            </a:solidFill>
            <a:prstDash val="solid"/>
          </a:ln>
        </p:spPr>
      </p:sp>
      <p:sp>
        <p:nvSpPr>
          <p:cNvPr id="211" name="Text 209"/>
          <p:cNvSpPr/>
          <p:nvPr/>
        </p:nvSpPr>
        <p:spPr>
          <a:xfrm>
            <a:off x="4622961" y="3764474"/>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212" name="Shape 210"/>
          <p:cNvSpPr/>
          <p:nvPr/>
        </p:nvSpPr>
        <p:spPr>
          <a:xfrm flipH="1">
            <a:off x="4846088" y="4042920"/>
            <a:ext cx="22605" cy="69572"/>
          </a:xfrm>
          <a:prstGeom prst="line">
            <a:avLst/>
          </a:prstGeom>
          <a:noFill/>
          <a:ln w="9525">
            <a:solidFill>
              <a:srgbClr val="1A2340"/>
            </a:solidFill>
            <a:prstDash val="solid"/>
          </a:ln>
        </p:spPr>
      </p:sp>
      <p:sp>
        <p:nvSpPr>
          <p:cNvPr id="213" name="Shape 211"/>
          <p:cNvSpPr/>
          <p:nvPr/>
        </p:nvSpPr>
        <p:spPr>
          <a:xfrm flipH="1">
            <a:off x="4932762" y="4078935"/>
            <a:ext cx="29754" cy="66828"/>
          </a:xfrm>
          <a:prstGeom prst="line">
            <a:avLst/>
          </a:prstGeom>
          <a:noFill/>
          <a:ln w="9525">
            <a:solidFill>
              <a:srgbClr val="1A2340"/>
            </a:solidFill>
            <a:prstDash val="solid"/>
          </a:ln>
        </p:spPr>
      </p:sp>
      <p:sp>
        <p:nvSpPr>
          <p:cNvPr id="214" name="Shape 212"/>
          <p:cNvSpPr/>
          <p:nvPr/>
        </p:nvSpPr>
        <p:spPr>
          <a:xfrm flipH="1">
            <a:off x="5015484" y="4124560"/>
            <a:ext cx="36576" cy="63351"/>
          </a:xfrm>
          <a:prstGeom prst="line">
            <a:avLst/>
          </a:prstGeom>
          <a:noFill/>
          <a:ln w="9525">
            <a:solidFill>
              <a:srgbClr val="1A2340"/>
            </a:solidFill>
            <a:prstDash val="solid"/>
          </a:ln>
        </p:spPr>
      </p:sp>
      <p:sp>
        <p:nvSpPr>
          <p:cNvPr id="215" name="Shape 213"/>
          <p:cNvSpPr/>
          <p:nvPr/>
        </p:nvSpPr>
        <p:spPr>
          <a:xfrm flipH="1">
            <a:off x="5050349" y="4179295"/>
            <a:ext cx="85995" cy="118362"/>
          </a:xfrm>
          <a:prstGeom prst="line">
            <a:avLst/>
          </a:prstGeom>
          <a:noFill/>
          <a:ln w="9525">
            <a:solidFill>
              <a:srgbClr val="1A2340"/>
            </a:solidFill>
            <a:prstDash val="solid"/>
          </a:ln>
        </p:spPr>
      </p:sp>
      <p:sp>
        <p:nvSpPr>
          <p:cNvPr id="216" name="Text 214"/>
          <p:cNvSpPr/>
          <p:nvPr/>
        </p:nvSpPr>
        <p:spPr>
          <a:xfrm>
            <a:off x="5050209" y="3954697"/>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217" name="Shape 215"/>
          <p:cNvSpPr/>
          <p:nvPr/>
        </p:nvSpPr>
        <p:spPr>
          <a:xfrm flipH="1">
            <a:off x="5165497" y="4242540"/>
            <a:ext cx="48948" cy="54363"/>
          </a:xfrm>
          <a:prstGeom prst="line">
            <a:avLst/>
          </a:prstGeom>
          <a:noFill/>
          <a:ln w="9525">
            <a:solidFill>
              <a:srgbClr val="1A2340"/>
            </a:solidFill>
            <a:prstDash val="solid"/>
          </a:ln>
        </p:spPr>
      </p:sp>
      <p:sp>
        <p:nvSpPr>
          <p:cNvPr id="218" name="Shape 216"/>
          <p:cNvSpPr/>
          <p:nvPr/>
        </p:nvSpPr>
        <p:spPr>
          <a:xfrm flipH="1">
            <a:off x="5231146" y="4313602"/>
            <a:ext cx="54363" cy="48948"/>
          </a:xfrm>
          <a:prstGeom prst="line">
            <a:avLst/>
          </a:prstGeom>
          <a:noFill/>
          <a:ln w="9525">
            <a:solidFill>
              <a:srgbClr val="1A2340"/>
            </a:solidFill>
            <a:prstDash val="solid"/>
          </a:ln>
        </p:spPr>
      </p:sp>
      <p:sp>
        <p:nvSpPr>
          <p:cNvPr id="219" name="Shape 217"/>
          <p:cNvSpPr/>
          <p:nvPr/>
        </p:nvSpPr>
        <p:spPr>
          <a:xfrm flipH="1">
            <a:off x="5289572" y="4391704"/>
            <a:ext cx="59181" cy="42998"/>
          </a:xfrm>
          <a:prstGeom prst="line">
            <a:avLst/>
          </a:prstGeom>
          <a:noFill/>
          <a:ln w="9525">
            <a:solidFill>
              <a:srgbClr val="1A2340"/>
            </a:solidFill>
            <a:prstDash val="solid"/>
          </a:ln>
        </p:spPr>
      </p:sp>
      <p:sp>
        <p:nvSpPr>
          <p:cNvPr id="220" name="Shape 218"/>
          <p:cNvSpPr/>
          <p:nvPr/>
        </p:nvSpPr>
        <p:spPr>
          <a:xfrm flipH="1">
            <a:off x="5276785" y="4475988"/>
            <a:ext cx="126703" cy="73152"/>
          </a:xfrm>
          <a:prstGeom prst="line">
            <a:avLst/>
          </a:prstGeom>
          <a:noFill/>
          <a:ln w="9525">
            <a:solidFill>
              <a:srgbClr val="1A2340"/>
            </a:solidFill>
            <a:prstDash val="solid"/>
          </a:ln>
        </p:spPr>
      </p:sp>
      <p:sp>
        <p:nvSpPr>
          <p:cNvPr id="221" name="Text 219"/>
          <p:cNvSpPr/>
          <p:nvPr/>
        </p:nvSpPr>
        <p:spPr>
          <a:xfrm>
            <a:off x="5363149" y="4302252"/>
            <a:ext cx="36576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222" name="Shape 220"/>
          <p:cNvSpPr/>
          <p:nvPr/>
        </p:nvSpPr>
        <p:spPr>
          <a:xfrm flipV="1">
            <a:off x="4572000" y="4077705"/>
            <a:ext cx="285391" cy="878343"/>
          </a:xfrm>
          <a:prstGeom prst="line">
            <a:avLst/>
          </a:prstGeom>
          <a:noFill/>
          <a:ln w="25400">
            <a:solidFill>
              <a:srgbClr val="C8414C"/>
            </a:solidFill>
            <a:prstDash val="solid"/>
          </a:ln>
        </p:spPr>
      </p:sp>
      <p:sp>
        <p:nvSpPr>
          <p:cNvPr id="223" name="Shape 221"/>
          <p:cNvSpPr/>
          <p:nvPr/>
        </p:nvSpPr>
        <p:spPr>
          <a:xfrm>
            <a:off x="4507992" y="4892040"/>
            <a:ext cx="128016" cy="128016"/>
          </a:xfrm>
          <a:prstGeom prst="ellipse">
            <a:avLst/>
          </a:prstGeom>
          <a:solidFill>
            <a:srgbClr val="1A2340"/>
          </a:solidFill>
          <a:ln w="12700">
            <a:solidFill>
              <a:srgbClr val="1A2340"/>
            </a:solidFill>
            <a:prstDash val="solid"/>
          </a:ln>
        </p:spPr>
      </p:sp>
      <p:sp>
        <p:nvSpPr>
          <p:cNvPr id="224" name="Text 222"/>
          <p:cNvSpPr/>
          <p:nvPr/>
        </p:nvSpPr>
        <p:spPr>
          <a:xfrm>
            <a:off x="3886200" y="4572000"/>
            <a:ext cx="365760" cy="256032"/>
          </a:xfrm>
          <a:prstGeom prst="rect">
            <a:avLst/>
          </a:prstGeom>
          <a:noFill/>
          <a:ln/>
        </p:spPr>
        <p:txBody>
          <a:bodyPr wrap="square" lIns="0" tIns="0" rIns="0" bIns="0" rtlCol="0" anchor="ctr"/>
          <a:lstStyle/>
          <a:p>
            <a:pPr algn="ctr" indent="0" marL="0">
              <a:buNone/>
            </a:pPr>
            <a:r>
              <a:rPr lang="en-US" sz="1300" b="1" dirty="0">
                <a:solidFill>
                  <a:srgbClr val="1A2340"/>
                </a:solidFill>
                <a:latin typeface="Calibri" pitchFamily="34" charset="0"/>
                <a:ea typeface="Calibri" pitchFamily="34" charset="-122"/>
                <a:cs typeface="Calibri" pitchFamily="34" charset="-120"/>
              </a:rPr>
              <a:t>A</a:t>
            </a:r>
            <a:endParaRPr lang="en-US" sz="1300" dirty="0"/>
          </a:p>
        </p:txBody>
      </p:sp>
      <p:sp>
        <p:nvSpPr>
          <p:cNvPr id="225" name="Text 223"/>
          <p:cNvSpPr/>
          <p:nvPr/>
        </p:nvSpPr>
        <p:spPr>
          <a:xfrm>
            <a:off x="3310128" y="4800600"/>
            <a:ext cx="365760" cy="256032"/>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D</a:t>
            </a:r>
            <a:endParaRPr lang="en-US" sz="1200" dirty="0"/>
          </a:p>
        </p:txBody>
      </p:sp>
      <p:sp>
        <p:nvSpPr>
          <p:cNvPr id="226" name="Shape 22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27" name="Text 22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Good technique</a:t>
            </a:r>
            <a:endParaRPr lang="en-US" sz="1300" dirty="0"/>
          </a:p>
        </p:txBody>
      </p:sp>
      <p:sp>
        <p:nvSpPr>
          <p:cNvPr id="228" name="Text 22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resolution</a:t>
            </a:r>
            <a:r>
              <a:rPr lang="en-US" sz="1150" dirty="0">
                <a:solidFill>
                  <a:srgbClr val="262B3A"/>
                </a:solidFill>
                <a:latin typeface="Calibri" pitchFamily="34" charset="0"/>
                <a:ea typeface="Calibri" pitchFamily="34" charset="-122"/>
                <a:cs typeface="Calibri" pitchFamily="34" charset="-120"/>
              </a:rPr>
              <a:t> of an instrument is the </a:t>
            </a:r>
            <a:r>
              <a:rPr lang="en-US" sz="1150" b="1" dirty="0">
                <a:solidFill>
                  <a:srgbClr val="262B3A"/>
                </a:solidFill>
                <a:latin typeface="Calibri" pitchFamily="34" charset="0"/>
                <a:ea typeface="Calibri" pitchFamily="34" charset="-122"/>
                <a:cs typeface="Calibri" pitchFamily="34" charset="-120"/>
              </a:rPr>
              <a:t>smallest change it can show</a:t>
            </a:r>
            <a:r>
              <a:rPr lang="en-US" sz="1150" dirty="0">
                <a:solidFill>
                  <a:srgbClr val="262B3A"/>
                </a:solidFill>
                <a:latin typeface="Calibri" pitchFamily="34" charset="0"/>
                <a:ea typeface="Calibri" pitchFamily="34" charset="-122"/>
                <a:cs typeface="Calibri" pitchFamily="34" charset="-120"/>
              </a:rPr>
              <a:t> (its smallest division).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Ruler:</a:t>
            </a:r>
            <a:r>
              <a:rPr lang="en-US" sz="1150" dirty="0">
                <a:solidFill>
                  <a:srgbClr val="262B3A"/>
                </a:solidFill>
                <a:latin typeface="Calibri" pitchFamily="34" charset="0"/>
                <a:ea typeface="Calibri" pitchFamily="34" charset="-122"/>
                <a:cs typeface="Calibri" pitchFamily="34" charset="-120"/>
              </a:rPr>
              <a:t> read both ends; subtract the start reading if the object does not start at 0.</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Liquids:</a:t>
            </a:r>
            <a:r>
              <a:rPr lang="en-US" sz="1150" dirty="0">
                <a:solidFill>
                  <a:srgbClr val="262B3A"/>
                </a:solidFill>
                <a:latin typeface="Calibri" pitchFamily="34" charset="0"/>
                <a:ea typeface="Calibri" pitchFamily="34" charset="-122"/>
                <a:cs typeface="Calibri" pitchFamily="34" charset="-120"/>
              </a:rPr>
              <a:t> read the </a:t>
            </a:r>
            <a:r>
              <a:rPr lang="en-US" sz="1150" b="1" dirty="0">
                <a:solidFill>
                  <a:srgbClr val="262B3A"/>
                </a:solidFill>
                <a:latin typeface="Calibri" pitchFamily="34" charset="0"/>
                <a:ea typeface="Calibri" pitchFamily="34" charset="-122"/>
                <a:cs typeface="Calibri" pitchFamily="34" charset="-120"/>
              </a:rPr>
              <a:t>bottom of the meniscus</a:t>
            </a:r>
            <a:r>
              <a:rPr lang="en-US" sz="1150" dirty="0">
                <a:solidFill>
                  <a:srgbClr val="262B3A"/>
                </a:solidFill>
                <a:latin typeface="Calibri" pitchFamily="34" charset="0"/>
                <a:ea typeface="Calibri" pitchFamily="34" charset="-122"/>
                <a:cs typeface="Calibri" pitchFamily="34" charset="-120"/>
              </a:rPr>
              <a:t> with your </a:t>
            </a:r>
            <a:r>
              <a:rPr lang="en-US" sz="1150" b="1" dirty="0">
                <a:solidFill>
                  <a:srgbClr val="262B3A"/>
                </a:solidFill>
                <a:latin typeface="Calibri" pitchFamily="34" charset="0"/>
                <a:ea typeface="Calibri" pitchFamily="34" charset="-122"/>
                <a:cs typeface="Calibri" pitchFamily="34" charset="-120"/>
              </a:rPr>
              <a:t>eye level</a:t>
            </a:r>
            <a:r>
              <a:rPr lang="en-US" sz="1150" dirty="0">
                <a:solidFill>
                  <a:srgbClr val="262B3A"/>
                </a:solidFill>
                <a:latin typeface="Calibri" pitchFamily="34" charset="0"/>
                <a:ea typeface="Calibri" pitchFamily="34" charset="-122"/>
                <a:cs typeface="Calibri" pitchFamily="34" charset="-120"/>
              </a:rPr>
              <a:t> with the surface.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Dials:</a:t>
            </a:r>
            <a:r>
              <a:rPr lang="en-US" sz="1150" dirty="0">
                <a:solidFill>
                  <a:srgbClr val="262B3A"/>
                </a:solidFill>
                <a:latin typeface="Calibri" pitchFamily="34" charset="0"/>
                <a:ea typeface="Calibri" pitchFamily="34" charset="-122"/>
                <a:cs typeface="Calibri" pitchFamily="34" charset="-120"/>
              </a:rPr>
              <a:t> look straight at the pointer to avoid </a:t>
            </a:r>
            <a:r>
              <a:rPr lang="en-US" sz="1150" b="1" dirty="0">
                <a:solidFill>
                  <a:srgbClr val="262B3A"/>
                </a:solidFill>
                <a:latin typeface="Calibri" pitchFamily="34" charset="0"/>
                <a:ea typeface="Calibri" pitchFamily="34" charset="-122"/>
                <a:cs typeface="Calibri" pitchFamily="34" charset="-120"/>
              </a:rPr>
              <a:t>parallax</a:t>
            </a:r>
            <a:r>
              <a:rPr lang="en-US" sz="1150" dirty="0">
                <a:solidFill>
                  <a:srgbClr val="262B3A"/>
                </a:solidFill>
                <a:latin typeface="Calibri" pitchFamily="34" charset="0"/>
                <a:ea typeface="Calibri" pitchFamily="34" charset="-122"/>
                <a:cs typeface="Calibri" pitchFamily="34" charset="-120"/>
              </a:rPr>
              <a:t>; check it reads </a:t>
            </a:r>
            <a:r>
              <a:rPr lang="en-US" sz="1150" b="1" dirty="0">
                <a:solidFill>
                  <a:srgbClr val="262B3A"/>
                </a:solidFill>
                <a:latin typeface="Calibri" pitchFamily="34" charset="0"/>
                <a:ea typeface="Calibri" pitchFamily="34" charset="-122"/>
                <a:cs typeface="Calibri" pitchFamily="34" charset="-120"/>
              </a:rPr>
              <a:t>zero</a:t>
            </a:r>
            <a:r>
              <a:rPr lang="en-US" sz="1150" dirty="0">
                <a:solidFill>
                  <a:srgbClr val="262B3A"/>
                </a:solidFill>
                <a:latin typeface="Calibri" pitchFamily="34" charset="0"/>
                <a:ea typeface="Calibri" pitchFamily="34" charset="-122"/>
                <a:cs typeface="Calibri" pitchFamily="34" charset="-120"/>
              </a:rPr>
              <a:t> before you start.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Record readings to the resolution, e.g. 23 °C, not 23.0 °C, on a 1 °C scale.</a:t>
            </a:r>
            <a:endParaRPr lang="en-US" sz="1150" dirty="0"/>
          </a:p>
        </p:txBody>
      </p:sp>
      <p:sp>
        <p:nvSpPr>
          <p:cNvPr id="229" name="Shape 22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30" name="Text 22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231" name="Text 229"/>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Find the resolution of ammeter D and its reading.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Divisions   </a:t>
            </a:r>
            <a:r>
              <a:rPr lang="en-US" sz="1100" dirty="0">
                <a:solidFill>
                  <a:srgbClr val="262B3A"/>
                </a:solidFill>
                <a:latin typeface="Calibri" pitchFamily="34" charset="0"/>
                <a:ea typeface="Calibri" pitchFamily="34" charset="-122"/>
                <a:cs typeface="Calibri" pitchFamily="34" charset="-120"/>
              </a:rPr>
              <a:t>0.2 A between numbers, split into 4 divisions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Resolution   </a:t>
            </a:r>
            <a:r>
              <a:rPr lang="en-US" sz="1100" dirty="0">
                <a:solidFill>
                  <a:srgbClr val="262B3A"/>
                </a:solidFill>
                <a:latin typeface="Calibri" pitchFamily="34" charset="0"/>
                <a:ea typeface="Calibri" pitchFamily="34" charset="-122"/>
                <a:cs typeface="Calibri" pitchFamily="34" charset="-120"/>
              </a:rPr>
              <a:t>0.2 ÷ 4 = 0.05 A</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reading = 0.65 A</a:t>
            </a:r>
            <a:endParaRPr lang="en-US" sz="1100" dirty="0"/>
          </a:p>
        </p:txBody>
      </p:sp>
      <p:sp>
        <p:nvSpPr>
          <p:cNvPr id="232" name="Shape 230"/>
          <p:cNvSpPr/>
          <p:nvPr/>
        </p:nvSpPr>
        <p:spPr>
          <a:xfrm>
            <a:off x="411480" y="5833872"/>
            <a:ext cx="11368735" cy="530352"/>
          </a:xfrm>
          <a:prstGeom prst="rect">
            <a:avLst/>
          </a:prstGeom>
          <a:solidFill>
            <a:srgbClr val="FFF4E0"/>
          </a:solidFill>
          <a:ln w="6350">
            <a:solidFill>
              <a:srgbClr val="F1D9A8"/>
            </a:solidFill>
            <a:prstDash val="solid"/>
          </a:ln>
        </p:spPr>
      </p:sp>
      <p:sp>
        <p:nvSpPr>
          <p:cNvPr id="233" name="Shape 231"/>
          <p:cNvSpPr/>
          <p:nvPr/>
        </p:nvSpPr>
        <p:spPr>
          <a:xfrm>
            <a:off x="411480" y="5833872"/>
            <a:ext cx="82296" cy="530352"/>
          </a:xfrm>
          <a:prstGeom prst="rect">
            <a:avLst/>
          </a:prstGeom>
          <a:solidFill>
            <a:srgbClr val="E39A2F"/>
          </a:solidFill>
          <a:ln w="12700">
            <a:solidFill>
              <a:srgbClr val="E39A2F"/>
            </a:solidFill>
            <a:prstDash val="solid"/>
          </a:ln>
        </p:spPr>
      </p:sp>
      <p:sp>
        <p:nvSpPr>
          <p:cNvPr id="234" name="Text 23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Read the length of the object on ruler A, the volume in cylinder B and the temperature on thermometer C. State the resolution of each.</a:t>
            </a:r>
            <a:endParaRPr lang="en-US" sz="1200" dirty="0"/>
          </a:p>
        </p:txBody>
      </p:sp>
      <p:sp>
        <p:nvSpPr>
          <p:cNvPr id="236" name="Shape 233"/>
          <p:cNvSpPr/>
          <p:nvPr/>
        </p:nvSpPr>
        <p:spPr>
          <a:xfrm>
            <a:off x="10180015" y="292608"/>
            <a:ext cx="1600200" cy="274320"/>
          </a:xfrm>
          <a:prstGeom prst="roundRect">
            <a:avLst>
              <a:gd name="adj" fmla="val 50000"/>
            </a:avLst>
          </a:prstGeom>
          <a:solidFill>
            <a:srgbClr val="2E8B57"/>
          </a:solidFill>
          <a:ln w="12700">
            <a:solidFill>
              <a:srgbClr val="2E8B57"/>
            </a:solidFill>
            <a:prstDash val="solid"/>
          </a:ln>
        </p:spPr>
      </p:sp>
      <p:sp>
        <p:nvSpPr>
          <p:cNvPr id="237" name="Text 234"/>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 SKILLS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Means, anomalies and uncertainty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Working Scientifically 2f, 3c • maths skill 2b: find arithmetic means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WS 3c  |  20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four timings of a trolley rolling down a ramp (stopwatch resolution 0.01 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5120640" cy="914400"/>
        </p:xfrm>
        <a:graphic>
          <a:graphicData uri="http://schemas.openxmlformats.org/drawingml/2006/table">
            <a:tbl>
              <a:tblPr/>
              <a:tblGrid>
                <a:gridCol w="960120"/>
                <a:gridCol w="822960"/>
                <a:gridCol w="822960"/>
                <a:gridCol w="822960"/>
                <a:gridCol w="822960"/>
                <a:gridCol w="868680"/>
              </a:tblGrid>
              <a:tr h="36576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Trial 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Trial 2</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Trial 3</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Trial 4</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36576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time /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2.31</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2.35</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8414C"/>
                          </a:solidFill>
                          <a:latin typeface="Calibri" pitchFamily="34" charset="0"/>
                          <a:ea typeface="Calibri" pitchFamily="34" charset="-122"/>
                          <a:cs typeface="Calibri" pitchFamily="34" charset="-120"/>
                        </a:rPr>
                        <a:t>2.92</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BE3E5"/>
                    </a:solidFill>
                  </a:tcPr>
                </a:tc>
                <a:tc>
                  <a:txBody>
                    <a:bodyPr/>
                    <a:lstStyle/>
                    <a:p>
                      <a:pPr algn="ctr" indent="0" marL="0">
                        <a:buNone/>
                      </a:pPr>
                      <a:r>
                        <a:rPr lang="en-US" sz="1200" dirty="0">
                          <a:solidFill>
                            <a:srgbClr val="262B3A"/>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5BD8"/>
                          </a:solidFill>
                          <a:latin typeface="Calibri" pitchFamily="34" charset="0"/>
                          <a:ea typeface="Calibri" pitchFamily="34" charset="-122"/>
                          <a:cs typeface="Calibri" pitchFamily="34" charset="-120"/>
                        </a:rPr>
                        <a:t>2.33</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DCE6FB"/>
                    </a:solidFill>
                  </a:tcPr>
                </a:tc>
              </a:tr>
            </a:tbl>
          </a:graphicData>
        </a:graphic>
      </p:graphicFrame>
      <p:sp>
        <p:nvSpPr>
          <p:cNvPr id="11" name="Text 8"/>
          <p:cNvSpPr/>
          <p:nvPr/>
        </p:nvSpPr>
        <p:spPr>
          <a:xfrm>
            <a:off x="640080" y="2331720"/>
            <a:ext cx="512064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The same results on a number line</a:t>
            </a:r>
            <a:endParaRPr lang="en-US" sz="1150" dirty="0"/>
          </a:p>
        </p:txBody>
      </p:sp>
      <p:sp>
        <p:nvSpPr>
          <p:cNvPr id="12" name="Shape 9"/>
          <p:cNvSpPr/>
          <p:nvPr/>
        </p:nvSpPr>
        <p:spPr>
          <a:xfrm>
            <a:off x="777240" y="3931920"/>
            <a:ext cx="4892040" cy="91"/>
          </a:xfrm>
          <a:prstGeom prst="line">
            <a:avLst/>
          </a:prstGeom>
          <a:noFill/>
          <a:ln w="19050">
            <a:solidFill>
              <a:srgbClr val="1A2340"/>
            </a:solidFill>
            <a:prstDash val="solid"/>
            <a:tailEnd type="triangle"/>
          </a:ln>
        </p:spPr>
      </p:sp>
      <p:sp>
        <p:nvSpPr>
          <p:cNvPr id="13" name="Shape 10"/>
          <p:cNvSpPr/>
          <p:nvPr/>
        </p:nvSpPr>
        <p:spPr>
          <a:xfrm>
            <a:off x="868680" y="3931920"/>
            <a:ext cx="91" cy="109728"/>
          </a:xfrm>
          <a:prstGeom prst="line">
            <a:avLst/>
          </a:prstGeom>
          <a:noFill/>
          <a:ln w="9525">
            <a:solidFill>
              <a:srgbClr val="1A2340"/>
            </a:solidFill>
            <a:prstDash val="solid"/>
          </a:ln>
        </p:spPr>
      </p:sp>
      <p:sp>
        <p:nvSpPr>
          <p:cNvPr id="14" name="Text 11"/>
          <p:cNvSpPr/>
          <p:nvPr/>
        </p:nvSpPr>
        <p:spPr>
          <a:xfrm>
            <a:off x="594360" y="405993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15" name="Shape 12"/>
          <p:cNvSpPr/>
          <p:nvPr/>
        </p:nvSpPr>
        <p:spPr>
          <a:xfrm>
            <a:off x="1157287" y="3931920"/>
            <a:ext cx="91" cy="54864"/>
          </a:xfrm>
          <a:prstGeom prst="line">
            <a:avLst/>
          </a:prstGeom>
          <a:noFill/>
          <a:ln w="9525">
            <a:solidFill>
              <a:srgbClr val="1A2340"/>
            </a:solidFill>
            <a:prstDash val="solid"/>
          </a:ln>
        </p:spPr>
      </p:sp>
      <p:sp>
        <p:nvSpPr>
          <p:cNvPr id="16" name="Shape 13"/>
          <p:cNvSpPr/>
          <p:nvPr/>
        </p:nvSpPr>
        <p:spPr>
          <a:xfrm>
            <a:off x="1445895" y="3931920"/>
            <a:ext cx="91" cy="109728"/>
          </a:xfrm>
          <a:prstGeom prst="line">
            <a:avLst/>
          </a:prstGeom>
          <a:noFill/>
          <a:ln w="9525">
            <a:solidFill>
              <a:srgbClr val="1A2340"/>
            </a:solidFill>
            <a:prstDash val="solid"/>
          </a:ln>
        </p:spPr>
      </p:sp>
      <p:sp>
        <p:nvSpPr>
          <p:cNvPr id="17" name="Shape 14"/>
          <p:cNvSpPr/>
          <p:nvPr/>
        </p:nvSpPr>
        <p:spPr>
          <a:xfrm>
            <a:off x="1734502" y="3931920"/>
            <a:ext cx="91" cy="54864"/>
          </a:xfrm>
          <a:prstGeom prst="line">
            <a:avLst/>
          </a:prstGeom>
          <a:noFill/>
          <a:ln w="9525">
            <a:solidFill>
              <a:srgbClr val="1A2340"/>
            </a:solidFill>
            <a:prstDash val="solid"/>
          </a:ln>
        </p:spPr>
      </p:sp>
      <p:sp>
        <p:nvSpPr>
          <p:cNvPr id="18" name="Shape 15"/>
          <p:cNvSpPr/>
          <p:nvPr/>
        </p:nvSpPr>
        <p:spPr>
          <a:xfrm>
            <a:off x="2023110" y="3931920"/>
            <a:ext cx="91" cy="109728"/>
          </a:xfrm>
          <a:prstGeom prst="line">
            <a:avLst/>
          </a:prstGeom>
          <a:noFill/>
          <a:ln w="9525">
            <a:solidFill>
              <a:srgbClr val="1A2340"/>
            </a:solidFill>
            <a:prstDash val="solid"/>
          </a:ln>
        </p:spPr>
      </p:sp>
      <p:sp>
        <p:nvSpPr>
          <p:cNvPr id="19" name="Text 16"/>
          <p:cNvSpPr/>
          <p:nvPr/>
        </p:nvSpPr>
        <p:spPr>
          <a:xfrm>
            <a:off x="1748790" y="405993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20" name="Shape 17"/>
          <p:cNvSpPr/>
          <p:nvPr/>
        </p:nvSpPr>
        <p:spPr>
          <a:xfrm>
            <a:off x="2311718" y="3931920"/>
            <a:ext cx="91" cy="54864"/>
          </a:xfrm>
          <a:prstGeom prst="line">
            <a:avLst/>
          </a:prstGeom>
          <a:noFill/>
          <a:ln w="9525">
            <a:solidFill>
              <a:srgbClr val="1A2340"/>
            </a:solidFill>
            <a:prstDash val="solid"/>
          </a:ln>
        </p:spPr>
      </p:sp>
      <p:sp>
        <p:nvSpPr>
          <p:cNvPr id="21" name="Shape 18"/>
          <p:cNvSpPr/>
          <p:nvPr/>
        </p:nvSpPr>
        <p:spPr>
          <a:xfrm>
            <a:off x="2600325" y="3931920"/>
            <a:ext cx="91" cy="109728"/>
          </a:xfrm>
          <a:prstGeom prst="line">
            <a:avLst/>
          </a:prstGeom>
          <a:noFill/>
          <a:ln w="9525">
            <a:solidFill>
              <a:srgbClr val="1A2340"/>
            </a:solidFill>
            <a:prstDash val="solid"/>
          </a:ln>
        </p:spPr>
      </p:sp>
      <p:sp>
        <p:nvSpPr>
          <p:cNvPr id="22" name="Shape 19"/>
          <p:cNvSpPr/>
          <p:nvPr/>
        </p:nvSpPr>
        <p:spPr>
          <a:xfrm>
            <a:off x="2888933" y="3931920"/>
            <a:ext cx="91" cy="54864"/>
          </a:xfrm>
          <a:prstGeom prst="line">
            <a:avLst/>
          </a:prstGeom>
          <a:noFill/>
          <a:ln w="9525">
            <a:solidFill>
              <a:srgbClr val="1A2340"/>
            </a:solidFill>
            <a:prstDash val="solid"/>
          </a:ln>
        </p:spPr>
      </p:sp>
      <p:sp>
        <p:nvSpPr>
          <p:cNvPr id="23" name="Shape 20"/>
          <p:cNvSpPr/>
          <p:nvPr/>
        </p:nvSpPr>
        <p:spPr>
          <a:xfrm>
            <a:off x="3177540" y="3931920"/>
            <a:ext cx="91" cy="109728"/>
          </a:xfrm>
          <a:prstGeom prst="line">
            <a:avLst/>
          </a:prstGeom>
          <a:noFill/>
          <a:ln w="9525">
            <a:solidFill>
              <a:srgbClr val="1A2340"/>
            </a:solidFill>
            <a:prstDash val="solid"/>
          </a:ln>
        </p:spPr>
      </p:sp>
      <p:sp>
        <p:nvSpPr>
          <p:cNvPr id="24" name="Text 21"/>
          <p:cNvSpPr/>
          <p:nvPr/>
        </p:nvSpPr>
        <p:spPr>
          <a:xfrm>
            <a:off x="2903220" y="405993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25" name="Shape 22"/>
          <p:cNvSpPr/>
          <p:nvPr/>
        </p:nvSpPr>
        <p:spPr>
          <a:xfrm>
            <a:off x="3466148" y="3931920"/>
            <a:ext cx="91" cy="54864"/>
          </a:xfrm>
          <a:prstGeom prst="line">
            <a:avLst/>
          </a:prstGeom>
          <a:noFill/>
          <a:ln w="9525">
            <a:solidFill>
              <a:srgbClr val="1A2340"/>
            </a:solidFill>
            <a:prstDash val="solid"/>
          </a:ln>
        </p:spPr>
      </p:sp>
      <p:sp>
        <p:nvSpPr>
          <p:cNvPr id="26" name="Shape 23"/>
          <p:cNvSpPr/>
          <p:nvPr/>
        </p:nvSpPr>
        <p:spPr>
          <a:xfrm>
            <a:off x="3754755" y="3931920"/>
            <a:ext cx="91" cy="109728"/>
          </a:xfrm>
          <a:prstGeom prst="line">
            <a:avLst/>
          </a:prstGeom>
          <a:noFill/>
          <a:ln w="9525">
            <a:solidFill>
              <a:srgbClr val="1A2340"/>
            </a:solidFill>
            <a:prstDash val="solid"/>
          </a:ln>
        </p:spPr>
      </p:sp>
      <p:sp>
        <p:nvSpPr>
          <p:cNvPr id="27" name="Shape 24"/>
          <p:cNvSpPr/>
          <p:nvPr/>
        </p:nvSpPr>
        <p:spPr>
          <a:xfrm>
            <a:off x="4043362" y="3931920"/>
            <a:ext cx="91" cy="54864"/>
          </a:xfrm>
          <a:prstGeom prst="line">
            <a:avLst/>
          </a:prstGeom>
          <a:noFill/>
          <a:ln w="9525">
            <a:solidFill>
              <a:srgbClr val="1A2340"/>
            </a:solidFill>
            <a:prstDash val="solid"/>
          </a:ln>
        </p:spPr>
      </p:sp>
      <p:sp>
        <p:nvSpPr>
          <p:cNvPr id="28" name="Shape 25"/>
          <p:cNvSpPr/>
          <p:nvPr/>
        </p:nvSpPr>
        <p:spPr>
          <a:xfrm>
            <a:off x="4331970" y="3931920"/>
            <a:ext cx="91" cy="109728"/>
          </a:xfrm>
          <a:prstGeom prst="line">
            <a:avLst/>
          </a:prstGeom>
          <a:noFill/>
          <a:ln w="9525">
            <a:solidFill>
              <a:srgbClr val="1A2340"/>
            </a:solidFill>
            <a:prstDash val="solid"/>
          </a:ln>
        </p:spPr>
      </p:sp>
      <p:sp>
        <p:nvSpPr>
          <p:cNvPr id="29" name="Text 26"/>
          <p:cNvSpPr/>
          <p:nvPr/>
        </p:nvSpPr>
        <p:spPr>
          <a:xfrm>
            <a:off x="4057650" y="405993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30" name="Shape 27"/>
          <p:cNvSpPr/>
          <p:nvPr/>
        </p:nvSpPr>
        <p:spPr>
          <a:xfrm>
            <a:off x="4620578" y="3931920"/>
            <a:ext cx="91" cy="54864"/>
          </a:xfrm>
          <a:prstGeom prst="line">
            <a:avLst/>
          </a:prstGeom>
          <a:noFill/>
          <a:ln w="9525">
            <a:solidFill>
              <a:srgbClr val="1A2340"/>
            </a:solidFill>
            <a:prstDash val="solid"/>
          </a:ln>
        </p:spPr>
      </p:sp>
      <p:sp>
        <p:nvSpPr>
          <p:cNvPr id="31" name="Shape 28"/>
          <p:cNvSpPr/>
          <p:nvPr/>
        </p:nvSpPr>
        <p:spPr>
          <a:xfrm>
            <a:off x="4909185" y="3931920"/>
            <a:ext cx="91" cy="109728"/>
          </a:xfrm>
          <a:prstGeom prst="line">
            <a:avLst/>
          </a:prstGeom>
          <a:noFill/>
          <a:ln w="9525">
            <a:solidFill>
              <a:srgbClr val="1A2340"/>
            </a:solidFill>
            <a:prstDash val="solid"/>
          </a:ln>
        </p:spPr>
      </p:sp>
      <p:sp>
        <p:nvSpPr>
          <p:cNvPr id="32" name="Shape 29"/>
          <p:cNvSpPr/>
          <p:nvPr/>
        </p:nvSpPr>
        <p:spPr>
          <a:xfrm>
            <a:off x="5197793" y="3931920"/>
            <a:ext cx="91" cy="54864"/>
          </a:xfrm>
          <a:prstGeom prst="line">
            <a:avLst/>
          </a:prstGeom>
          <a:noFill/>
          <a:ln w="9525">
            <a:solidFill>
              <a:srgbClr val="1A2340"/>
            </a:solidFill>
            <a:prstDash val="solid"/>
          </a:ln>
        </p:spPr>
      </p:sp>
      <p:sp>
        <p:nvSpPr>
          <p:cNvPr id="33" name="Shape 30"/>
          <p:cNvSpPr/>
          <p:nvPr/>
        </p:nvSpPr>
        <p:spPr>
          <a:xfrm>
            <a:off x="5486400" y="3931920"/>
            <a:ext cx="91" cy="109728"/>
          </a:xfrm>
          <a:prstGeom prst="line">
            <a:avLst/>
          </a:prstGeom>
          <a:noFill/>
          <a:ln w="9525">
            <a:solidFill>
              <a:srgbClr val="1A2340"/>
            </a:solidFill>
            <a:prstDash val="solid"/>
          </a:ln>
        </p:spPr>
      </p:sp>
      <p:sp>
        <p:nvSpPr>
          <p:cNvPr id="34" name="Text 31"/>
          <p:cNvSpPr/>
          <p:nvPr/>
        </p:nvSpPr>
        <p:spPr>
          <a:xfrm>
            <a:off x="5212080" y="405993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35" name="Text 32"/>
          <p:cNvSpPr/>
          <p:nvPr/>
        </p:nvSpPr>
        <p:spPr>
          <a:xfrm>
            <a:off x="5212080" y="4261104"/>
            <a:ext cx="822960" cy="18288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time / s</a:t>
            </a:r>
            <a:endParaRPr lang="en-US" sz="1000" dirty="0"/>
          </a:p>
        </p:txBody>
      </p:sp>
      <p:sp>
        <p:nvSpPr>
          <p:cNvPr id="36" name="Shape 33"/>
          <p:cNvSpPr/>
          <p:nvPr/>
        </p:nvSpPr>
        <p:spPr>
          <a:xfrm>
            <a:off x="1457896" y="3703320"/>
            <a:ext cx="91440" cy="91440"/>
          </a:xfrm>
          <a:prstGeom prst="ellipse">
            <a:avLst/>
          </a:prstGeom>
          <a:solidFill>
            <a:srgbClr val="2E5BD8"/>
          </a:solidFill>
          <a:ln w="6350">
            <a:solidFill>
              <a:srgbClr val="FFFFFF"/>
            </a:solidFill>
            <a:prstDash val="solid"/>
          </a:ln>
        </p:spPr>
      </p:sp>
      <p:sp>
        <p:nvSpPr>
          <p:cNvPr id="37" name="Shape 34"/>
          <p:cNvSpPr/>
          <p:nvPr/>
        </p:nvSpPr>
        <p:spPr>
          <a:xfrm>
            <a:off x="1688782" y="3703320"/>
            <a:ext cx="91440" cy="91440"/>
          </a:xfrm>
          <a:prstGeom prst="ellipse">
            <a:avLst/>
          </a:prstGeom>
          <a:solidFill>
            <a:srgbClr val="2E5BD8"/>
          </a:solidFill>
          <a:ln w="6350">
            <a:solidFill>
              <a:srgbClr val="FFFFFF"/>
            </a:solidFill>
            <a:prstDash val="solid"/>
          </a:ln>
        </p:spPr>
      </p:sp>
      <p:sp>
        <p:nvSpPr>
          <p:cNvPr id="38" name="Shape 35"/>
          <p:cNvSpPr/>
          <p:nvPr/>
        </p:nvSpPr>
        <p:spPr>
          <a:xfrm>
            <a:off x="4978908" y="3703320"/>
            <a:ext cx="91440" cy="91440"/>
          </a:xfrm>
          <a:prstGeom prst="ellipse">
            <a:avLst/>
          </a:prstGeom>
          <a:solidFill>
            <a:srgbClr val="C8414C"/>
          </a:solidFill>
          <a:ln w="6350">
            <a:solidFill>
              <a:srgbClr val="FFFFFF"/>
            </a:solidFill>
            <a:prstDash val="solid"/>
          </a:ln>
        </p:spPr>
      </p:sp>
      <p:sp>
        <p:nvSpPr>
          <p:cNvPr id="39" name="Shape 36"/>
          <p:cNvSpPr/>
          <p:nvPr/>
        </p:nvSpPr>
        <p:spPr>
          <a:xfrm>
            <a:off x="1573339" y="3703320"/>
            <a:ext cx="91440" cy="91440"/>
          </a:xfrm>
          <a:prstGeom prst="ellipse">
            <a:avLst/>
          </a:prstGeom>
          <a:solidFill>
            <a:srgbClr val="2E5BD8"/>
          </a:solidFill>
          <a:ln w="6350">
            <a:solidFill>
              <a:srgbClr val="FFFFFF"/>
            </a:solidFill>
            <a:prstDash val="solid"/>
          </a:ln>
        </p:spPr>
      </p:sp>
      <p:sp>
        <p:nvSpPr>
          <p:cNvPr id="40" name="Shape 37"/>
          <p:cNvSpPr/>
          <p:nvPr/>
        </p:nvSpPr>
        <p:spPr>
          <a:xfrm>
            <a:off x="4805172" y="3511296"/>
            <a:ext cx="438912" cy="438912"/>
          </a:xfrm>
          <a:prstGeom prst="ellipse">
            <a:avLst/>
          </a:prstGeom>
          <a:ln w="22225">
            <a:solidFill>
              <a:srgbClr val="C8414C"/>
            </a:solidFill>
            <a:prstDash val="solid"/>
          </a:ln>
        </p:spPr>
      </p:sp>
      <p:sp>
        <p:nvSpPr>
          <p:cNvPr id="41" name="Text 38"/>
          <p:cNvSpPr/>
          <p:nvPr/>
        </p:nvSpPr>
        <p:spPr>
          <a:xfrm>
            <a:off x="4110228" y="3017520"/>
            <a:ext cx="118872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anomaly: ignore</a:t>
            </a:r>
            <a:endParaRPr lang="en-US" sz="1050" dirty="0"/>
          </a:p>
        </p:txBody>
      </p:sp>
      <p:sp>
        <p:nvSpPr>
          <p:cNvPr id="42" name="Shape 39"/>
          <p:cNvSpPr/>
          <p:nvPr/>
        </p:nvSpPr>
        <p:spPr>
          <a:xfrm>
            <a:off x="1503616" y="3474720"/>
            <a:ext cx="91" cy="109728"/>
          </a:xfrm>
          <a:prstGeom prst="line">
            <a:avLst/>
          </a:prstGeom>
          <a:noFill/>
          <a:ln w="15875">
            <a:solidFill>
              <a:srgbClr val="2E8B57"/>
            </a:solidFill>
            <a:prstDash val="solid"/>
          </a:ln>
        </p:spPr>
      </p:sp>
      <p:sp>
        <p:nvSpPr>
          <p:cNvPr id="43" name="Shape 40"/>
          <p:cNvSpPr/>
          <p:nvPr/>
        </p:nvSpPr>
        <p:spPr>
          <a:xfrm>
            <a:off x="1734502" y="3474720"/>
            <a:ext cx="91" cy="109728"/>
          </a:xfrm>
          <a:prstGeom prst="line">
            <a:avLst/>
          </a:prstGeom>
          <a:noFill/>
          <a:ln w="15875">
            <a:solidFill>
              <a:srgbClr val="2E8B57"/>
            </a:solidFill>
            <a:prstDash val="solid"/>
          </a:ln>
        </p:spPr>
      </p:sp>
      <p:sp>
        <p:nvSpPr>
          <p:cNvPr id="44" name="Shape 41"/>
          <p:cNvSpPr/>
          <p:nvPr/>
        </p:nvSpPr>
        <p:spPr>
          <a:xfrm>
            <a:off x="1503616" y="3474720"/>
            <a:ext cx="230886" cy="91"/>
          </a:xfrm>
          <a:prstGeom prst="line">
            <a:avLst/>
          </a:prstGeom>
          <a:noFill/>
          <a:ln w="15875">
            <a:solidFill>
              <a:srgbClr val="2E8B57"/>
            </a:solidFill>
            <a:prstDash val="solid"/>
          </a:ln>
        </p:spPr>
      </p:sp>
      <p:sp>
        <p:nvSpPr>
          <p:cNvPr id="45" name="Text 42"/>
          <p:cNvSpPr/>
          <p:nvPr/>
        </p:nvSpPr>
        <p:spPr>
          <a:xfrm>
            <a:off x="796099" y="3063240"/>
            <a:ext cx="1645920" cy="219456"/>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range 2.31–2.35 s</a:t>
            </a:r>
            <a:endParaRPr lang="en-US" sz="1050" dirty="0"/>
          </a:p>
        </p:txBody>
      </p:sp>
      <p:sp>
        <p:nvSpPr>
          <p:cNvPr id="46" name="Shape 43"/>
          <p:cNvSpPr/>
          <p:nvPr/>
        </p:nvSpPr>
        <p:spPr>
          <a:xfrm>
            <a:off x="1619059" y="3877056"/>
            <a:ext cx="91" cy="109728"/>
          </a:xfrm>
          <a:prstGeom prst="line">
            <a:avLst/>
          </a:prstGeom>
          <a:noFill/>
          <a:ln w="31750">
            <a:solidFill>
              <a:srgbClr val="2E5BD8"/>
            </a:solidFill>
            <a:prstDash val="solid"/>
          </a:ln>
        </p:spPr>
      </p:sp>
      <p:sp>
        <p:nvSpPr>
          <p:cNvPr id="47" name="Text 44"/>
          <p:cNvSpPr/>
          <p:nvPr/>
        </p:nvSpPr>
        <p:spPr>
          <a:xfrm>
            <a:off x="640080" y="4526280"/>
            <a:ext cx="5120640" cy="365760"/>
          </a:xfrm>
          <a:prstGeom prst="rect">
            <a:avLst/>
          </a:prstGeom>
          <a:noFill/>
          <a:ln/>
        </p:spPr>
        <p:txBody>
          <a:bodyPr wrap="square" lIns="0" tIns="0" rIns="0" bIns="0" rtlCol="0" anchor="ctr"/>
          <a:lstStyle/>
          <a:p>
            <a:pPr algn="ctr" indent="0" marL="0">
              <a:buNone/>
            </a:pPr>
            <a:r>
              <a:rPr lang="en-US" sz="1050" b="1" dirty="0">
                <a:solidFill>
                  <a:srgbClr val="1A2340"/>
                </a:solidFill>
                <a:latin typeface="Calibri" pitchFamily="34" charset="0"/>
                <a:ea typeface="Calibri" pitchFamily="34" charset="-122"/>
                <a:cs typeface="Calibri" pitchFamily="34" charset="-120"/>
              </a:rPr>
              <a:t>mean = (2.31 + 2.35 + 2.33) ÷ 3 = 2.33 s     uncertainty ≈ ± half the range = ± 0.02 s</a:t>
            </a:r>
            <a:endParaRPr lang="en-US" sz="1050" dirty="0"/>
          </a:p>
        </p:txBody>
      </p:sp>
      <p:sp>
        <p:nvSpPr>
          <p:cNvPr id="48" name="Text 45"/>
          <p:cNvSpPr/>
          <p:nvPr/>
        </p:nvSpPr>
        <p:spPr>
          <a:xfrm>
            <a:off x="640080" y="4892040"/>
            <a:ext cx="5120640" cy="274320"/>
          </a:xfrm>
          <a:prstGeom prst="rect">
            <a:avLst/>
          </a:prstGeom>
          <a:noFill/>
          <a:ln/>
        </p:spPr>
        <p:txBody>
          <a:bodyPr wrap="square" lIns="0" tIns="0" rIns="0" bIns="0" rtlCol="0" anchor="ctr"/>
          <a:lstStyle/>
          <a:p>
            <a:pPr algn="ctr" indent="0" marL="0">
              <a:buNone/>
            </a:pPr>
            <a:r>
              <a:rPr lang="en-US" sz="1250" b="1" dirty="0">
                <a:solidFill>
                  <a:srgbClr val="2E5BD8"/>
                </a:solidFill>
                <a:latin typeface="Calibri" pitchFamily="34" charset="0"/>
                <a:ea typeface="Calibri" pitchFamily="34" charset="-122"/>
                <a:cs typeface="Calibri" pitchFamily="34" charset="-120"/>
              </a:rPr>
              <a:t>result: 2.33 ± 0.02 s</a:t>
            </a:r>
            <a:endParaRPr lang="en-US" sz="1250" dirty="0"/>
          </a:p>
        </p:txBody>
      </p:sp>
      <p:sp>
        <p:nvSpPr>
          <p:cNvPr id="49" name="Shape 46"/>
          <p:cNvSpPr/>
          <p:nvPr/>
        </p:nvSpPr>
        <p:spPr>
          <a:xfrm>
            <a:off x="6217920" y="1188720"/>
            <a:ext cx="5562295" cy="2240280"/>
          </a:xfrm>
          <a:prstGeom prst="roundRect">
            <a:avLst>
              <a:gd name="adj" fmla="val 2449"/>
            </a:avLst>
          </a:prstGeom>
          <a:solidFill>
            <a:srgbClr val="F5F8FE"/>
          </a:solidFill>
          <a:ln w="9525">
            <a:solidFill>
              <a:srgbClr val="D5DCEB"/>
            </a:solidFill>
            <a:prstDash val="solid"/>
          </a:ln>
        </p:spPr>
      </p:sp>
      <p:sp>
        <p:nvSpPr>
          <p:cNvPr id="50"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repeat?</a:t>
            </a:r>
            <a:endParaRPr lang="en-US" sz="1300" dirty="0"/>
          </a:p>
        </p:txBody>
      </p:sp>
      <p:sp>
        <p:nvSpPr>
          <p:cNvPr id="51" name="Text 48"/>
          <p:cNvSpPr/>
          <p:nvPr/>
        </p:nvSpPr>
        <p:spPr>
          <a:xfrm>
            <a:off x="6382512" y="1609344"/>
            <a:ext cx="5233111" cy="1746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Repeating readings lets you spot </a:t>
            </a:r>
            <a:r>
              <a:rPr lang="en-US" sz="1150" b="1" dirty="0">
                <a:solidFill>
                  <a:srgbClr val="262B3A"/>
                </a:solidFill>
                <a:latin typeface="Calibri" pitchFamily="34" charset="0"/>
                <a:ea typeface="Calibri" pitchFamily="34" charset="-122"/>
                <a:cs typeface="Calibri" pitchFamily="34" charset="-120"/>
              </a:rPr>
              <a:t>anomalies</a:t>
            </a:r>
            <a:r>
              <a:rPr lang="en-US" sz="1150" dirty="0">
                <a:solidFill>
                  <a:srgbClr val="262B3A"/>
                </a:solidFill>
                <a:latin typeface="Calibri" pitchFamily="34" charset="0"/>
                <a:ea typeface="Calibri" pitchFamily="34" charset="-122"/>
                <a:cs typeface="Calibri" pitchFamily="34" charset="-120"/>
              </a:rPr>
              <a:t> and reduces the effect of </a:t>
            </a:r>
            <a:r>
              <a:rPr lang="en-US" sz="1150" b="1" dirty="0">
                <a:solidFill>
                  <a:srgbClr val="262B3A"/>
                </a:solidFill>
                <a:latin typeface="Calibri" pitchFamily="34" charset="0"/>
                <a:ea typeface="Calibri" pitchFamily="34" charset="-122"/>
                <a:cs typeface="Calibri" pitchFamily="34" charset="-120"/>
              </a:rPr>
              <a:t>random errors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An </a:t>
            </a:r>
            <a:r>
              <a:rPr lang="en-US" sz="1150" b="1" dirty="0">
                <a:solidFill>
                  <a:srgbClr val="262B3A"/>
                </a:solidFill>
                <a:latin typeface="Calibri" pitchFamily="34" charset="0"/>
                <a:ea typeface="Calibri" pitchFamily="34" charset="-122"/>
                <a:cs typeface="Calibri" pitchFamily="34" charset="-120"/>
              </a:rPr>
              <a:t>anomaly</a:t>
            </a:r>
            <a:r>
              <a:rPr lang="en-US" sz="1150" dirty="0">
                <a:solidFill>
                  <a:srgbClr val="262B3A"/>
                </a:solidFill>
                <a:latin typeface="Calibri" pitchFamily="34" charset="0"/>
                <a:ea typeface="Calibri" pitchFamily="34" charset="-122"/>
                <a:cs typeface="Calibri" pitchFamily="34" charset="-120"/>
              </a:rPr>
              <a:t> is a result that does </a:t>
            </a:r>
            <a:r>
              <a:rPr lang="en-US" sz="1150" b="1" dirty="0">
                <a:solidFill>
                  <a:srgbClr val="262B3A"/>
                </a:solidFill>
                <a:latin typeface="Calibri" pitchFamily="34" charset="0"/>
                <a:ea typeface="Calibri" pitchFamily="34" charset="-122"/>
                <a:cs typeface="Calibri" pitchFamily="34" charset="-120"/>
              </a:rPr>
              <a:t>not fit the pattern</a:t>
            </a:r>
            <a:r>
              <a:rPr lang="en-US" sz="1150" dirty="0">
                <a:solidFill>
                  <a:srgbClr val="262B3A"/>
                </a:solidFill>
                <a:latin typeface="Calibri" pitchFamily="34" charset="0"/>
                <a:ea typeface="Calibri" pitchFamily="34" charset="-122"/>
                <a:cs typeface="Calibri" pitchFamily="34" charset="-120"/>
              </a:rPr>
              <a:t> of the others. Check it, then </a:t>
            </a:r>
            <a:r>
              <a:rPr lang="en-US" sz="1150" b="1" dirty="0">
                <a:solidFill>
                  <a:srgbClr val="262B3A"/>
                </a:solidFill>
                <a:latin typeface="Calibri" pitchFamily="34" charset="0"/>
                <a:ea typeface="Calibri" pitchFamily="34" charset="-122"/>
                <a:cs typeface="Calibri" pitchFamily="34" charset="-120"/>
              </a:rPr>
              <a:t>leave it out</a:t>
            </a:r>
            <a:r>
              <a:rPr lang="en-US" sz="1150" dirty="0">
                <a:solidFill>
                  <a:srgbClr val="262B3A"/>
                </a:solidFill>
                <a:latin typeface="Calibri" pitchFamily="34" charset="0"/>
                <a:ea typeface="Calibri" pitchFamily="34" charset="-122"/>
                <a:cs typeface="Calibri" pitchFamily="34" charset="-120"/>
              </a:rPr>
              <a:t> of the mean.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Mean</a:t>
            </a:r>
            <a:r>
              <a:rPr lang="en-US" sz="1150" dirty="0">
                <a:solidFill>
                  <a:srgbClr val="262B3A"/>
                </a:solidFill>
                <a:latin typeface="Calibri" pitchFamily="34" charset="0"/>
                <a:ea typeface="Calibri" pitchFamily="34" charset="-122"/>
                <a:cs typeface="Calibri" pitchFamily="34" charset="-120"/>
              </a:rPr>
              <a:t> = sum of the valid readings ÷ number of valid readings. Give it to the </a:t>
            </a:r>
            <a:r>
              <a:rPr lang="en-US" sz="1150" b="1" dirty="0">
                <a:solidFill>
                  <a:srgbClr val="262B3A"/>
                </a:solidFill>
                <a:latin typeface="Calibri" pitchFamily="34" charset="0"/>
                <a:ea typeface="Calibri" pitchFamily="34" charset="-122"/>
                <a:cs typeface="Calibri" pitchFamily="34" charset="-120"/>
              </a:rPr>
              <a:t>same resolution</a:t>
            </a:r>
            <a:r>
              <a:rPr lang="en-US" sz="1150" dirty="0">
                <a:solidFill>
                  <a:srgbClr val="262B3A"/>
                </a:solidFill>
                <a:latin typeface="Calibri" pitchFamily="34" charset="0"/>
                <a:ea typeface="Calibri" pitchFamily="34" charset="-122"/>
                <a:cs typeface="Calibri" pitchFamily="34" charset="-120"/>
              </a:rPr>
              <a:t> as the readings.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a:t>
            </a:r>
            <a:r>
              <a:rPr lang="en-US" sz="1150" b="1" dirty="0">
                <a:solidFill>
                  <a:srgbClr val="262B3A"/>
                </a:solidFill>
                <a:latin typeface="Calibri" pitchFamily="34" charset="0"/>
                <a:ea typeface="Calibri" pitchFamily="34" charset="-122"/>
                <a:cs typeface="Calibri" pitchFamily="34" charset="-120"/>
              </a:rPr>
              <a:t>range</a:t>
            </a:r>
            <a:r>
              <a:rPr lang="en-US" sz="1150" dirty="0">
                <a:solidFill>
                  <a:srgbClr val="262B3A"/>
                </a:solidFill>
                <a:latin typeface="Calibri" pitchFamily="34" charset="0"/>
                <a:ea typeface="Calibri" pitchFamily="34" charset="-122"/>
                <a:cs typeface="Calibri" pitchFamily="34" charset="-120"/>
              </a:rPr>
              <a:t> shows the spread; </a:t>
            </a:r>
            <a:r>
              <a:rPr lang="en-US" sz="1150" b="1" dirty="0">
                <a:solidFill>
                  <a:srgbClr val="262B3A"/>
                </a:solidFill>
                <a:latin typeface="Calibri" pitchFamily="34" charset="0"/>
                <a:ea typeface="Calibri" pitchFamily="34" charset="-122"/>
                <a:cs typeface="Calibri" pitchFamily="34" charset="-120"/>
              </a:rPr>
              <a:t>half the range</a:t>
            </a:r>
            <a:r>
              <a:rPr lang="en-US" sz="1150" dirty="0">
                <a:solidFill>
                  <a:srgbClr val="262B3A"/>
                </a:solidFill>
                <a:latin typeface="Calibri" pitchFamily="34" charset="0"/>
                <a:ea typeface="Calibri" pitchFamily="34" charset="-122"/>
                <a:cs typeface="Calibri" pitchFamily="34" charset="-120"/>
              </a:rPr>
              <a:t> is a simple estimate of the </a:t>
            </a:r>
            <a:r>
              <a:rPr lang="en-US" sz="1150" b="1" dirty="0">
                <a:solidFill>
                  <a:srgbClr val="262B3A"/>
                </a:solidFill>
                <a:latin typeface="Calibri" pitchFamily="34" charset="0"/>
                <a:ea typeface="Calibri" pitchFamily="34" charset="-122"/>
                <a:cs typeface="Calibri" pitchFamily="34" charset="-120"/>
              </a:rPr>
              <a:t>uncertainty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52" name="Shape 49"/>
          <p:cNvSpPr/>
          <p:nvPr/>
        </p:nvSpPr>
        <p:spPr>
          <a:xfrm>
            <a:off x="6217920" y="3566160"/>
            <a:ext cx="5562295" cy="2148840"/>
          </a:xfrm>
          <a:prstGeom prst="roundRect">
            <a:avLst>
              <a:gd name="adj" fmla="val 2553"/>
            </a:avLst>
          </a:prstGeom>
          <a:solidFill>
            <a:srgbClr val="FFF4E0"/>
          </a:solidFill>
          <a:ln w="9525">
            <a:solidFill>
              <a:srgbClr val="F1D9A8"/>
            </a:solidFill>
            <a:prstDash val="solid"/>
          </a:ln>
        </p:spPr>
      </p:sp>
      <p:sp>
        <p:nvSpPr>
          <p:cNvPr id="53" name="Text 50"/>
          <p:cNvSpPr/>
          <p:nvPr/>
        </p:nvSpPr>
        <p:spPr>
          <a:xfrm>
            <a:off x="6382512" y="36393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4" name="Text 51"/>
          <p:cNvSpPr/>
          <p:nvPr/>
        </p:nvSpPr>
        <p:spPr>
          <a:xfrm>
            <a:off x="6382512" y="3950208"/>
            <a:ext cx="5233111" cy="169164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Find the mean of the valid times and its uncertainty.</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Anomaly   </a:t>
            </a:r>
            <a:r>
              <a:rPr lang="en-US" sz="1100" dirty="0">
                <a:solidFill>
                  <a:srgbClr val="262B3A"/>
                </a:solidFill>
                <a:latin typeface="Calibri" pitchFamily="34" charset="0"/>
                <a:ea typeface="Calibri" pitchFamily="34" charset="-122"/>
                <a:cs typeface="Calibri" pitchFamily="34" charset="-120"/>
              </a:rPr>
              <a:t>2.92 s is far from the others: leave it out</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Mean   </a:t>
            </a:r>
            <a:r>
              <a:rPr lang="en-US" sz="1100" dirty="0">
                <a:solidFill>
                  <a:srgbClr val="262B3A"/>
                </a:solidFill>
                <a:latin typeface="Calibri" pitchFamily="34" charset="0"/>
                <a:ea typeface="Calibri" pitchFamily="34" charset="-122"/>
                <a:cs typeface="Calibri" pitchFamily="34" charset="-120"/>
              </a:rPr>
              <a:t>(2.31 + 2.35 + 2.33) ÷ 3 = 2.33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Uncertainty   </a:t>
            </a:r>
            <a:r>
              <a:rPr lang="en-US" sz="1100" dirty="0">
                <a:solidFill>
                  <a:srgbClr val="262B3A"/>
                </a:solidFill>
                <a:latin typeface="Calibri" pitchFamily="34" charset="0"/>
                <a:ea typeface="Calibri" pitchFamily="34" charset="-122"/>
                <a:cs typeface="Calibri" pitchFamily="34" charset="-120"/>
              </a:rPr>
              <a:t>(2.35 − 2.31) ÷ 2 = 0.02 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 = 2.33 ± 0.02 s</a:t>
            </a:r>
            <a:endParaRPr lang="en-US" sz="1100" dirty="0"/>
          </a:p>
        </p:txBody>
      </p:sp>
      <p:sp>
        <p:nvSpPr>
          <p:cNvPr id="55"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6"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7"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 stopwatch reading of 2.31 s less certain than its 0.01 s resolution suggests? How could the timing be improved?</a:t>
            </a:r>
            <a:endParaRPr lang="en-US" sz="1200" dirty="0"/>
          </a:p>
        </p:txBody>
      </p:sp>
      <p:sp>
        <p:nvSpPr>
          <p:cNvPr id="59" name="Shape 55"/>
          <p:cNvSpPr/>
          <p:nvPr/>
        </p:nvSpPr>
        <p:spPr>
          <a:xfrm>
            <a:off x="10180015" y="292608"/>
            <a:ext cx="1600200" cy="274320"/>
          </a:xfrm>
          <a:prstGeom prst="roundRect">
            <a:avLst>
              <a:gd name="adj" fmla="val 50000"/>
            </a:avLst>
          </a:prstGeom>
          <a:solidFill>
            <a:srgbClr val="2E8B57"/>
          </a:solidFill>
          <a:ln w="12700">
            <a:solidFill>
              <a:srgbClr val="2E8B57"/>
            </a:solidFill>
            <a:prstDash val="solid"/>
          </a:ln>
        </p:spPr>
      </p:sp>
      <p:sp>
        <p:nvSpPr>
          <p:cNvPr id="60" name="Text 56"/>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 SKILLS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Accuracy, precision and errors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Working Scientifically 3g • accuracy, precision, and random and systematic error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WS 3g  |  21</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centre of each target is the true value; dots are repeat readings</a:t>
            </a:r>
            <a:endParaRPr lang="en-US" sz="1000" dirty="0"/>
          </a:p>
        </p:txBody>
      </p:sp>
      <p:sp>
        <p:nvSpPr>
          <p:cNvPr id="10" name="Shape 8"/>
          <p:cNvSpPr/>
          <p:nvPr/>
        </p:nvSpPr>
        <p:spPr>
          <a:xfrm>
            <a:off x="1115568" y="1389888"/>
            <a:ext cx="1426464" cy="1426464"/>
          </a:xfrm>
          <a:prstGeom prst="ellipse">
            <a:avLst/>
          </a:prstGeom>
          <a:solidFill>
            <a:srgbClr val="FFFFFF"/>
          </a:solidFill>
          <a:ln w="12700">
            <a:solidFill>
              <a:srgbClr val="8C96A8"/>
            </a:solidFill>
            <a:prstDash val="solid"/>
          </a:ln>
        </p:spPr>
      </p:sp>
      <p:sp>
        <p:nvSpPr>
          <p:cNvPr id="11" name="Shape 9"/>
          <p:cNvSpPr/>
          <p:nvPr/>
        </p:nvSpPr>
        <p:spPr>
          <a:xfrm>
            <a:off x="1358067" y="1632387"/>
            <a:ext cx="941466" cy="941466"/>
          </a:xfrm>
          <a:prstGeom prst="ellipse">
            <a:avLst/>
          </a:prstGeom>
          <a:solidFill>
            <a:srgbClr val="DCE6FB"/>
          </a:solidFill>
          <a:ln w="12700">
            <a:solidFill>
              <a:srgbClr val="8C96A8"/>
            </a:solidFill>
            <a:prstDash val="solid"/>
          </a:ln>
        </p:spPr>
      </p:sp>
      <p:sp>
        <p:nvSpPr>
          <p:cNvPr id="12" name="Shape 10"/>
          <p:cNvSpPr/>
          <p:nvPr/>
        </p:nvSpPr>
        <p:spPr>
          <a:xfrm>
            <a:off x="1593433" y="1867753"/>
            <a:ext cx="470733" cy="470733"/>
          </a:xfrm>
          <a:prstGeom prst="ellipse">
            <a:avLst/>
          </a:prstGeom>
          <a:solidFill>
            <a:srgbClr val="F6C9CD"/>
          </a:solidFill>
          <a:ln w="12700">
            <a:solidFill>
              <a:srgbClr val="8C96A8"/>
            </a:solidFill>
            <a:prstDash val="solid"/>
          </a:ln>
        </p:spPr>
      </p:sp>
      <p:sp>
        <p:nvSpPr>
          <p:cNvPr id="13" name="Shape 11"/>
          <p:cNvSpPr/>
          <p:nvPr/>
        </p:nvSpPr>
        <p:spPr>
          <a:xfrm>
            <a:off x="1792224" y="2066544"/>
            <a:ext cx="73152" cy="73152"/>
          </a:xfrm>
          <a:prstGeom prst="ellipse">
            <a:avLst/>
          </a:prstGeom>
          <a:solidFill>
            <a:srgbClr val="C8414C"/>
          </a:solidFill>
          <a:ln w="12700">
            <a:solidFill>
              <a:srgbClr val="C8414C"/>
            </a:solidFill>
            <a:prstDash val="solid"/>
          </a:ln>
        </p:spPr>
      </p:sp>
      <p:sp>
        <p:nvSpPr>
          <p:cNvPr id="14" name="Shape 12"/>
          <p:cNvSpPr/>
          <p:nvPr/>
        </p:nvSpPr>
        <p:spPr>
          <a:xfrm>
            <a:off x="1809598" y="1991197"/>
            <a:ext cx="109728" cy="109728"/>
          </a:xfrm>
          <a:prstGeom prst="ellipse">
            <a:avLst/>
          </a:prstGeom>
          <a:solidFill>
            <a:srgbClr val="1A2340"/>
          </a:solidFill>
          <a:ln w="9525">
            <a:solidFill>
              <a:srgbClr val="FFFFFF"/>
            </a:solidFill>
            <a:prstDash val="solid"/>
          </a:ln>
        </p:spPr>
      </p:sp>
      <p:sp>
        <p:nvSpPr>
          <p:cNvPr id="15" name="Shape 13"/>
          <p:cNvSpPr/>
          <p:nvPr/>
        </p:nvSpPr>
        <p:spPr>
          <a:xfrm>
            <a:off x="1702613" y="2083918"/>
            <a:ext cx="109728" cy="109728"/>
          </a:xfrm>
          <a:prstGeom prst="ellipse">
            <a:avLst/>
          </a:prstGeom>
          <a:solidFill>
            <a:srgbClr val="1A2340"/>
          </a:solidFill>
          <a:ln w="9525">
            <a:solidFill>
              <a:srgbClr val="FFFFFF"/>
            </a:solidFill>
            <a:prstDash val="solid"/>
          </a:ln>
        </p:spPr>
      </p:sp>
      <p:sp>
        <p:nvSpPr>
          <p:cNvPr id="16" name="Shape 14"/>
          <p:cNvSpPr/>
          <p:nvPr/>
        </p:nvSpPr>
        <p:spPr>
          <a:xfrm>
            <a:off x="1830995" y="2119579"/>
            <a:ext cx="109728" cy="109728"/>
          </a:xfrm>
          <a:prstGeom prst="ellipse">
            <a:avLst/>
          </a:prstGeom>
          <a:solidFill>
            <a:srgbClr val="1A2340"/>
          </a:solidFill>
          <a:ln w="9525">
            <a:solidFill>
              <a:srgbClr val="FFFFFF"/>
            </a:solidFill>
            <a:prstDash val="solid"/>
          </a:ln>
        </p:spPr>
      </p:sp>
      <p:sp>
        <p:nvSpPr>
          <p:cNvPr id="17" name="Shape 15"/>
          <p:cNvSpPr/>
          <p:nvPr/>
        </p:nvSpPr>
        <p:spPr>
          <a:xfrm>
            <a:off x="1745407" y="1962668"/>
            <a:ext cx="109728" cy="109728"/>
          </a:xfrm>
          <a:prstGeom prst="ellipse">
            <a:avLst/>
          </a:prstGeom>
          <a:solidFill>
            <a:srgbClr val="1A2340"/>
          </a:solidFill>
          <a:ln w="9525">
            <a:solidFill>
              <a:srgbClr val="FFFFFF"/>
            </a:solidFill>
            <a:prstDash val="solid"/>
          </a:ln>
        </p:spPr>
      </p:sp>
      <p:sp>
        <p:nvSpPr>
          <p:cNvPr id="18" name="Shape 16"/>
          <p:cNvSpPr/>
          <p:nvPr/>
        </p:nvSpPr>
        <p:spPr>
          <a:xfrm>
            <a:off x="1859524" y="2048256"/>
            <a:ext cx="109728" cy="109728"/>
          </a:xfrm>
          <a:prstGeom prst="ellipse">
            <a:avLst/>
          </a:prstGeom>
          <a:solidFill>
            <a:srgbClr val="1A2340"/>
          </a:solidFill>
          <a:ln w="9525">
            <a:solidFill>
              <a:srgbClr val="FFFFFF"/>
            </a:solidFill>
            <a:prstDash val="solid"/>
          </a:ln>
        </p:spPr>
      </p:sp>
      <p:sp>
        <p:nvSpPr>
          <p:cNvPr id="19" name="Text 17"/>
          <p:cNvSpPr/>
          <p:nvPr/>
        </p:nvSpPr>
        <p:spPr>
          <a:xfrm>
            <a:off x="548640" y="2852928"/>
            <a:ext cx="256032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accurate and precise</a:t>
            </a:r>
            <a:endParaRPr lang="en-US" sz="1100" dirty="0"/>
          </a:p>
        </p:txBody>
      </p:sp>
      <p:sp>
        <p:nvSpPr>
          <p:cNvPr id="20" name="Shape 18"/>
          <p:cNvSpPr/>
          <p:nvPr/>
        </p:nvSpPr>
        <p:spPr>
          <a:xfrm>
            <a:off x="3858768" y="1389888"/>
            <a:ext cx="1426464" cy="1426464"/>
          </a:xfrm>
          <a:prstGeom prst="ellipse">
            <a:avLst/>
          </a:prstGeom>
          <a:solidFill>
            <a:srgbClr val="FFFFFF"/>
          </a:solidFill>
          <a:ln w="12700">
            <a:solidFill>
              <a:srgbClr val="8C96A8"/>
            </a:solidFill>
            <a:prstDash val="solid"/>
          </a:ln>
        </p:spPr>
      </p:sp>
      <p:sp>
        <p:nvSpPr>
          <p:cNvPr id="21" name="Shape 19"/>
          <p:cNvSpPr/>
          <p:nvPr/>
        </p:nvSpPr>
        <p:spPr>
          <a:xfrm>
            <a:off x="4101267" y="1632387"/>
            <a:ext cx="941466" cy="941466"/>
          </a:xfrm>
          <a:prstGeom prst="ellipse">
            <a:avLst/>
          </a:prstGeom>
          <a:solidFill>
            <a:srgbClr val="DCE6FB"/>
          </a:solidFill>
          <a:ln w="12700">
            <a:solidFill>
              <a:srgbClr val="8C96A8"/>
            </a:solidFill>
            <a:prstDash val="solid"/>
          </a:ln>
        </p:spPr>
      </p:sp>
      <p:sp>
        <p:nvSpPr>
          <p:cNvPr id="22" name="Shape 20"/>
          <p:cNvSpPr/>
          <p:nvPr/>
        </p:nvSpPr>
        <p:spPr>
          <a:xfrm>
            <a:off x="4336633" y="1867753"/>
            <a:ext cx="470733" cy="470733"/>
          </a:xfrm>
          <a:prstGeom prst="ellipse">
            <a:avLst/>
          </a:prstGeom>
          <a:solidFill>
            <a:srgbClr val="F6C9CD"/>
          </a:solidFill>
          <a:ln w="12700">
            <a:solidFill>
              <a:srgbClr val="8C96A8"/>
            </a:solidFill>
            <a:prstDash val="solid"/>
          </a:ln>
        </p:spPr>
      </p:sp>
      <p:sp>
        <p:nvSpPr>
          <p:cNvPr id="23" name="Shape 21"/>
          <p:cNvSpPr/>
          <p:nvPr/>
        </p:nvSpPr>
        <p:spPr>
          <a:xfrm>
            <a:off x="4535424" y="2066544"/>
            <a:ext cx="73152" cy="73152"/>
          </a:xfrm>
          <a:prstGeom prst="ellipse">
            <a:avLst/>
          </a:prstGeom>
          <a:solidFill>
            <a:srgbClr val="C8414C"/>
          </a:solidFill>
          <a:ln w="12700">
            <a:solidFill>
              <a:srgbClr val="C8414C"/>
            </a:solidFill>
            <a:prstDash val="solid"/>
          </a:ln>
        </p:spPr>
      </p:sp>
      <p:sp>
        <p:nvSpPr>
          <p:cNvPr id="24" name="Shape 22"/>
          <p:cNvSpPr/>
          <p:nvPr/>
        </p:nvSpPr>
        <p:spPr>
          <a:xfrm>
            <a:off x="4859487" y="1748699"/>
            <a:ext cx="109728" cy="109728"/>
          </a:xfrm>
          <a:prstGeom prst="ellipse">
            <a:avLst/>
          </a:prstGeom>
          <a:solidFill>
            <a:srgbClr val="1A2340"/>
          </a:solidFill>
          <a:ln w="9525">
            <a:solidFill>
              <a:srgbClr val="FFFFFF"/>
            </a:solidFill>
            <a:prstDash val="solid"/>
          </a:ln>
        </p:spPr>
      </p:sp>
      <p:sp>
        <p:nvSpPr>
          <p:cNvPr id="25" name="Shape 23"/>
          <p:cNvSpPr/>
          <p:nvPr/>
        </p:nvSpPr>
        <p:spPr>
          <a:xfrm>
            <a:off x="4930811" y="1691640"/>
            <a:ext cx="109728" cy="109728"/>
          </a:xfrm>
          <a:prstGeom prst="ellipse">
            <a:avLst/>
          </a:prstGeom>
          <a:solidFill>
            <a:srgbClr val="1A2340"/>
          </a:solidFill>
          <a:ln w="9525">
            <a:solidFill>
              <a:srgbClr val="FFFFFF"/>
            </a:solidFill>
            <a:prstDash val="solid"/>
          </a:ln>
        </p:spPr>
      </p:sp>
      <p:sp>
        <p:nvSpPr>
          <p:cNvPr id="26" name="Shape 24"/>
          <p:cNvSpPr/>
          <p:nvPr/>
        </p:nvSpPr>
        <p:spPr>
          <a:xfrm>
            <a:off x="4888017" y="1812889"/>
            <a:ext cx="109728" cy="109728"/>
          </a:xfrm>
          <a:prstGeom prst="ellipse">
            <a:avLst/>
          </a:prstGeom>
          <a:solidFill>
            <a:srgbClr val="1A2340"/>
          </a:solidFill>
          <a:ln w="9525">
            <a:solidFill>
              <a:srgbClr val="FFFFFF"/>
            </a:solidFill>
            <a:prstDash val="solid"/>
          </a:ln>
        </p:spPr>
      </p:sp>
      <p:sp>
        <p:nvSpPr>
          <p:cNvPr id="27" name="Shape 25"/>
          <p:cNvSpPr/>
          <p:nvPr/>
        </p:nvSpPr>
        <p:spPr>
          <a:xfrm>
            <a:off x="4959340" y="1762963"/>
            <a:ext cx="109728" cy="109728"/>
          </a:xfrm>
          <a:prstGeom prst="ellipse">
            <a:avLst/>
          </a:prstGeom>
          <a:solidFill>
            <a:srgbClr val="1A2340"/>
          </a:solidFill>
          <a:ln w="9525">
            <a:solidFill>
              <a:srgbClr val="FFFFFF"/>
            </a:solidFill>
            <a:prstDash val="solid"/>
          </a:ln>
        </p:spPr>
      </p:sp>
      <p:sp>
        <p:nvSpPr>
          <p:cNvPr id="28" name="Shape 26"/>
          <p:cNvSpPr/>
          <p:nvPr/>
        </p:nvSpPr>
        <p:spPr>
          <a:xfrm>
            <a:off x="4838090" y="1677375"/>
            <a:ext cx="109728" cy="109728"/>
          </a:xfrm>
          <a:prstGeom prst="ellipse">
            <a:avLst/>
          </a:prstGeom>
          <a:solidFill>
            <a:srgbClr val="1A2340"/>
          </a:solidFill>
          <a:ln w="9525">
            <a:solidFill>
              <a:srgbClr val="FFFFFF"/>
            </a:solidFill>
            <a:prstDash val="solid"/>
          </a:ln>
        </p:spPr>
      </p:sp>
      <p:sp>
        <p:nvSpPr>
          <p:cNvPr id="29" name="Text 27"/>
          <p:cNvSpPr/>
          <p:nvPr/>
        </p:nvSpPr>
        <p:spPr>
          <a:xfrm>
            <a:off x="3291840" y="2852928"/>
            <a:ext cx="2560320" cy="274320"/>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precise, not accurate</a:t>
            </a:r>
            <a:endParaRPr lang="en-US" sz="1100" dirty="0"/>
          </a:p>
        </p:txBody>
      </p:sp>
      <p:sp>
        <p:nvSpPr>
          <p:cNvPr id="30" name="Shape 28"/>
          <p:cNvSpPr/>
          <p:nvPr/>
        </p:nvSpPr>
        <p:spPr>
          <a:xfrm>
            <a:off x="1115568" y="3493008"/>
            <a:ext cx="1426464" cy="1426464"/>
          </a:xfrm>
          <a:prstGeom prst="ellipse">
            <a:avLst/>
          </a:prstGeom>
          <a:solidFill>
            <a:srgbClr val="FFFFFF"/>
          </a:solidFill>
          <a:ln w="12700">
            <a:solidFill>
              <a:srgbClr val="8C96A8"/>
            </a:solidFill>
            <a:prstDash val="solid"/>
          </a:ln>
        </p:spPr>
      </p:sp>
      <p:sp>
        <p:nvSpPr>
          <p:cNvPr id="31" name="Shape 29"/>
          <p:cNvSpPr/>
          <p:nvPr/>
        </p:nvSpPr>
        <p:spPr>
          <a:xfrm>
            <a:off x="1358067" y="3735507"/>
            <a:ext cx="941466" cy="941466"/>
          </a:xfrm>
          <a:prstGeom prst="ellipse">
            <a:avLst/>
          </a:prstGeom>
          <a:solidFill>
            <a:srgbClr val="DCE6FB"/>
          </a:solidFill>
          <a:ln w="12700">
            <a:solidFill>
              <a:srgbClr val="8C96A8"/>
            </a:solidFill>
            <a:prstDash val="solid"/>
          </a:ln>
        </p:spPr>
      </p:sp>
      <p:sp>
        <p:nvSpPr>
          <p:cNvPr id="32" name="Shape 30"/>
          <p:cNvSpPr/>
          <p:nvPr/>
        </p:nvSpPr>
        <p:spPr>
          <a:xfrm>
            <a:off x="1593433" y="3970873"/>
            <a:ext cx="470733" cy="470733"/>
          </a:xfrm>
          <a:prstGeom prst="ellipse">
            <a:avLst/>
          </a:prstGeom>
          <a:solidFill>
            <a:srgbClr val="F6C9CD"/>
          </a:solidFill>
          <a:ln w="12700">
            <a:solidFill>
              <a:srgbClr val="8C96A8"/>
            </a:solidFill>
            <a:prstDash val="solid"/>
          </a:ln>
        </p:spPr>
      </p:sp>
      <p:sp>
        <p:nvSpPr>
          <p:cNvPr id="33" name="Shape 31"/>
          <p:cNvSpPr/>
          <p:nvPr/>
        </p:nvSpPr>
        <p:spPr>
          <a:xfrm>
            <a:off x="1792224" y="4169664"/>
            <a:ext cx="73152" cy="73152"/>
          </a:xfrm>
          <a:prstGeom prst="ellipse">
            <a:avLst/>
          </a:prstGeom>
          <a:solidFill>
            <a:srgbClr val="C8414C"/>
          </a:solidFill>
          <a:ln w="12700">
            <a:solidFill>
              <a:srgbClr val="C8414C"/>
            </a:solidFill>
            <a:prstDash val="solid"/>
          </a:ln>
        </p:spPr>
      </p:sp>
      <p:sp>
        <p:nvSpPr>
          <p:cNvPr id="34" name="Shape 32"/>
          <p:cNvSpPr/>
          <p:nvPr/>
        </p:nvSpPr>
        <p:spPr>
          <a:xfrm>
            <a:off x="2166214" y="4294022"/>
            <a:ext cx="109728" cy="109728"/>
          </a:xfrm>
          <a:prstGeom prst="ellipse">
            <a:avLst/>
          </a:prstGeom>
          <a:solidFill>
            <a:srgbClr val="1A2340"/>
          </a:solidFill>
          <a:ln w="9525">
            <a:solidFill>
              <a:srgbClr val="FFFFFF"/>
            </a:solidFill>
            <a:prstDash val="solid"/>
          </a:ln>
        </p:spPr>
      </p:sp>
      <p:sp>
        <p:nvSpPr>
          <p:cNvPr id="35" name="Shape 33"/>
          <p:cNvSpPr/>
          <p:nvPr/>
        </p:nvSpPr>
        <p:spPr>
          <a:xfrm>
            <a:off x="1417320" y="3866083"/>
            <a:ext cx="109728" cy="109728"/>
          </a:xfrm>
          <a:prstGeom prst="ellipse">
            <a:avLst/>
          </a:prstGeom>
          <a:solidFill>
            <a:srgbClr val="1A2340"/>
          </a:solidFill>
          <a:ln w="9525">
            <a:solidFill>
              <a:srgbClr val="FFFFFF"/>
            </a:solidFill>
            <a:prstDash val="solid"/>
          </a:ln>
        </p:spPr>
      </p:sp>
      <p:sp>
        <p:nvSpPr>
          <p:cNvPr id="36" name="Shape 34"/>
          <p:cNvSpPr/>
          <p:nvPr/>
        </p:nvSpPr>
        <p:spPr>
          <a:xfrm>
            <a:off x="1845259" y="4593580"/>
            <a:ext cx="109728" cy="109728"/>
          </a:xfrm>
          <a:prstGeom prst="ellipse">
            <a:avLst/>
          </a:prstGeom>
          <a:solidFill>
            <a:srgbClr val="1A2340"/>
          </a:solidFill>
          <a:ln w="9525">
            <a:solidFill>
              <a:srgbClr val="FFFFFF"/>
            </a:solidFill>
            <a:prstDash val="solid"/>
          </a:ln>
        </p:spPr>
      </p:sp>
      <p:sp>
        <p:nvSpPr>
          <p:cNvPr id="37" name="Shape 35"/>
          <p:cNvSpPr/>
          <p:nvPr/>
        </p:nvSpPr>
        <p:spPr>
          <a:xfrm>
            <a:off x="1524305" y="4472330"/>
            <a:ext cx="109728" cy="109728"/>
          </a:xfrm>
          <a:prstGeom prst="ellipse">
            <a:avLst/>
          </a:prstGeom>
          <a:solidFill>
            <a:srgbClr val="1A2340"/>
          </a:solidFill>
          <a:ln w="9525">
            <a:solidFill>
              <a:srgbClr val="FFFFFF"/>
            </a:solidFill>
            <a:prstDash val="solid"/>
          </a:ln>
        </p:spPr>
      </p:sp>
      <p:sp>
        <p:nvSpPr>
          <p:cNvPr id="38" name="Shape 36"/>
          <p:cNvSpPr/>
          <p:nvPr/>
        </p:nvSpPr>
        <p:spPr>
          <a:xfrm>
            <a:off x="1952244" y="3723437"/>
            <a:ext cx="109728" cy="109728"/>
          </a:xfrm>
          <a:prstGeom prst="ellipse">
            <a:avLst/>
          </a:prstGeom>
          <a:solidFill>
            <a:srgbClr val="1A2340"/>
          </a:solidFill>
          <a:ln w="9525">
            <a:solidFill>
              <a:srgbClr val="FFFFFF"/>
            </a:solidFill>
            <a:prstDash val="solid"/>
          </a:ln>
        </p:spPr>
      </p:sp>
      <p:sp>
        <p:nvSpPr>
          <p:cNvPr id="39" name="Text 37"/>
          <p:cNvSpPr/>
          <p:nvPr/>
        </p:nvSpPr>
        <p:spPr>
          <a:xfrm>
            <a:off x="548640" y="4956048"/>
            <a:ext cx="2560320" cy="274320"/>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accurate, not precise</a:t>
            </a:r>
            <a:endParaRPr lang="en-US" sz="1100" dirty="0"/>
          </a:p>
        </p:txBody>
      </p:sp>
      <p:sp>
        <p:nvSpPr>
          <p:cNvPr id="40" name="Shape 38"/>
          <p:cNvSpPr/>
          <p:nvPr/>
        </p:nvSpPr>
        <p:spPr>
          <a:xfrm>
            <a:off x="3858768" y="3493008"/>
            <a:ext cx="1426464" cy="1426464"/>
          </a:xfrm>
          <a:prstGeom prst="ellipse">
            <a:avLst/>
          </a:prstGeom>
          <a:solidFill>
            <a:srgbClr val="FFFFFF"/>
          </a:solidFill>
          <a:ln w="12700">
            <a:solidFill>
              <a:srgbClr val="8C96A8"/>
            </a:solidFill>
            <a:prstDash val="solid"/>
          </a:ln>
        </p:spPr>
      </p:sp>
      <p:sp>
        <p:nvSpPr>
          <p:cNvPr id="41" name="Shape 39"/>
          <p:cNvSpPr/>
          <p:nvPr/>
        </p:nvSpPr>
        <p:spPr>
          <a:xfrm>
            <a:off x="4101267" y="3735507"/>
            <a:ext cx="941466" cy="941466"/>
          </a:xfrm>
          <a:prstGeom prst="ellipse">
            <a:avLst/>
          </a:prstGeom>
          <a:solidFill>
            <a:srgbClr val="DCE6FB"/>
          </a:solidFill>
          <a:ln w="12700">
            <a:solidFill>
              <a:srgbClr val="8C96A8"/>
            </a:solidFill>
            <a:prstDash val="solid"/>
          </a:ln>
        </p:spPr>
      </p:sp>
      <p:sp>
        <p:nvSpPr>
          <p:cNvPr id="42" name="Shape 40"/>
          <p:cNvSpPr/>
          <p:nvPr/>
        </p:nvSpPr>
        <p:spPr>
          <a:xfrm>
            <a:off x="4336633" y="3970873"/>
            <a:ext cx="470733" cy="470733"/>
          </a:xfrm>
          <a:prstGeom prst="ellipse">
            <a:avLst/>
          </a:prstGeom>
          <a:solidFill>
            <a:srgbClr val="F6C9CD"/>
          </a:solidFill>
          <a:ln w="12700">
            <a:solidFill>
              <a:srgbClr val="8C96A8"/>
            </a:solidFill>
            <a:prstDash val="solid"/>
          </a:ln>
        </p:spPr>
      </p:sp>
      <p:sp>
        <p:nvSpPr>
          <p:cNvPr id="43" name="Shape 41"/>
          <p:cNvSpPr/>
          <p:nvPr/>
        </p:nvSpPr>
        <p:spPr>
          <a:xfrm>
            <a:off x="4535424" y="4169664"/>
            <a:ext cx="73152" cy="73152"/>
          </a:xfrm>
          <a:prstGeom prst="ellipse">
            <a:avLst/>
          </a:prstGeom>
          <a:solidFill>
            <a:srgbClr val="C8414C"/>
          </a:solidFill>
          <a:ln w="12700">
            <a:solidFill>
              <a:srgbClr val="C8414C"/>
            </a:solidFill>
            <a:prstDash val="solid"/>
          </a:ln>
        </p:spPr>
      </p:sp>
      <p:sp>
        <p:nvSpPr>
          <p:cNvPr id="44" name="Shape 42"/>
          <p:cNvSpPr/>
          <p:nvPr/>
        </p:nvSpPr>
        <p:spPr>
          <a:xfrm>
            <a:off x="4089197" y="4080053"/>
            <a:ext cx="109728" cy="109728"/>
          </a:xfrm>
          <a:prstGeom prst="ellipse">
            <a:avLst/>
          </a:prstGeom>
          <a:solidFill>
            <a:srgbClr val="1A2340"/>
          </a:solidFill>
          <a:ln w="9525">
            <a:solidFill>
              <a:srgbClr val="FFFFFF"/>
            </a:solidFill>
            <a:prstDash val="solid"/>
          </a:ln>
        </p:spPr>
      </p:sp>
      <p:sp>
        <p:nvSpPr>
          <p:cNvPr id="45" name="Shape 43"/>
          <p:cNvSpPr/>
          <p:nvPr/>
        </p:nvSpPr>
        <p:spPr>
          <a:xfrm>
            <a:off x="4410151" y="3652114"/>
            <a:ext cx="109728" cy="109728"/>
          </a:xfrm>
          <a:prstGeom prst="ellipse">
            <a:avLst/>
          </a:prstGeom>
          <a:solidFill>
            <a:srgbClr val="1A2340"/>
          </a:solidFill>
          <a:ln w="9525">
            <a:solidFill>
              <a:srgbClr val="FFFFFF"/>
            </a:solidFill>
            <a:prstDash val="solid"/>
          </a:ln>
        </p:spPr>
      </p:sp>
      <p:sp>
        <p:nvSpPr>
          <p:cNvPr id="46" name="Shape 44"/>
          <p:cNvSpPr/>
          <p:nvPr/>
        </p:nvSpPr>
        <p:spPr>
          <a:xfrm>
            <a:off x="4731106" y="4543654"/>
            <a:ext cx="109728" cy="109728"/>
          </a:xfrm>
          <a:prstGeom prst="ellipse">
            <a:avLst/>
          </a:prstGeom>
          <a:solidFill>
            <a:srgbClr val="1A2340"/>
          </a:solidFill>
          <a:ln w="9525">
            <a:solidFill>
              <a:srgbClr val="FFFFFF"/>
            </a:solidFill>
            <a:prstDash val="solid"/>
          </a:ln>
        </p:spPr>
      </p:sp>
      <p:sp>
        <p:nvSpPr>
          <p:cNvPr id="47" name="Shape 45"/>
          <p:cNvSpPr/>
          <p:nvPr/>
        </p:nvSpPr>
        <p:spPr>
          <a:xfrm>
            <a:off x="4124858" y="4472330"/>
            <a:ext cx="109728" cy="109728"/>
          </a:xfrm>
          <a:prstGeom prst="ellipse">
            <a:avLst/>
          </a:prstGeom>
          <a:solidFill>
            <a:srgbClr val="1A2340"/>
          </a:solidFill>
          <a:ln w="9525">
            <a:solidFill>
              <a:srgbClr val="FFFFFF"/>
            </a:solidFill>
            <a:prstDash val="solid"/>
          </a:ln>
        </p:spPr>
      </p:sp>
      <p:sp>
        <p:nvSpPr>
          <p:cNvPr id="48" name="Shape 46"/>
          <p:cNvSpPr/>
          <p:nvPr/>
        </p:nvSpPr>
        <p:spPr>
          <a:xfrm>
            <a:off x="5016398" y="4008730"/>
            <a:ext cx="109728" cy="109728"/>
          </a:xfrm>
          <a:prstGeom prst="ellipse">
            <a:avLst/>
          </a:prstGeom>
          <a:solidFill>
            <a:srgbClr val="1A2340"/>
          </a:solidFill>
          <a:ln w="9525">
            <a:solidFill>
              <a:srgbClr val="FFFFFF"/>
            </a:solidFill>
            <a:prstDash val="solid"/>
          </a:ln>
        </p:spPr>
      </p:sp>
      <p:sp>
        <p:nvSpPr>
          <p:cNvPr id="49" name="Text 47"/>
          <p:cNvSpPr/>
          <p:nvPr/>
        </p:nvSpPr>
        <p:spPr>
          <a:xfrm>
            <a:off x="3291840" y="4956048"/>
            <a:ext cx="2560320" cy="274320"/>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neither</a:t>
            </a:r>
            <a:endParaRPr lang="en-US" sz="1100" dirty="0"/>
          </a:p>
        </p:txBody>
      </p:sp>
      <p:sp>
        <p:nvSpPr>
          <p:cNvPr id="50" name="Text 48"/>
          <p:cNvSpPr/>
          <p:nvPr/>
        </p:nvSpPr>
        <p:spPr>
          <a:xfrm>
            <a:off x="2880360" y="1481328"/>
            <a:ext cx="640080" cy="36576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systematic error →</a:t>
            </a:r>
            <a:endParaRPr lang="en-US" sz="1000" dirty="0"/>
          </a:p>
        </p:txBody>
      </p:sp>
      <p:sp>
        <p:nvSpPr>
          <p:cNvPr id="51" name="Text 49"/>
          <p:cNvSpPr/>
          <p:nvPr/>
        </p:nvSpPr>
        <p:spPr>
          <a:xfrm>
            <a:off x="2606040" y="3977640"/>
            <a:ext cx="118872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 random error</a:t>
            </a:r>
            <a:endParaRPr lang="en-US" sz="1000" dirty="0"/>
          </a:p>
        </p:txBody>
      </p:sp>
      <p:sp>
        <p:nvSpPr>
          <p:cNvPr id="52" name="Shape 50"/>
          <p:cNvSpPr/>
          <p:nvPr/>
        </p:nvSpPr>
        <p:spPr>
          <a:xfrm>
            <a:off x="6217920" y="1188720"/>
            <a:ext cx="5562295" cy="2560320"/>
          </a:xfrm>
          <a:prstGeom prst="roundRect">
            <a:avLst>
              <a:gd name="adj" fmla="val 2143"/>
            </a:avLst>
          </a:prstGeom>
          <a:solidFill>
            <a:srgbClr val="F5F8FE"/>
          </a:solidFill>
          <a:ln w="9525">
            <a:solidFill>
              <a:srgbClr val="D5DCEB"/>
            </a:solidFill>
            <a:prstDash val="solid"/>
          </a:ln>
        </p:spPr>
      </p:sp>
      <p:sp>
        <p:nvSpPr>
          <p:cNvPr id="53" name="Text 5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Four words that are easy to mix up</a:t>
            </a:r>
            <a:endParaRPr lang="en-US" sz="1300" dirty="0"/>
          </a:p>
        </p:txBody>
      </p:sp>
      <p:sp>
        <p:nvSpPr>
          <p:cNvPr id="54" name="Text 52"/>
          <p:cNvSpPr/>
          <p:nvPr/>
        </p:nvSpPr>
        <p:spPr>
          <a:xfrm>
            <a:off x="6382512" y="1609344"/>
            <a:ext cx="5233111" cy="20665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Accurate:</a:t>
            </a:r>
            <a:r>
              <a:rPr lang="en-US" sz="1150" dirty="0">
                <a:solidFill>
                  <a:srgbClr val="262B3A"/>
                </a:solidFill>
                <a:latin typeface="Calibri" pitchFamily="34" charset="0"/>
                <a:ea typeface="Calibri" pitchFamily="34" charset="-122"/>
                <a:cs typeface="Calibri" pitchFamily="34" charset="-120"/>
              </a:rPr>
              <a:t> close to the </a:t>
            </a:r>
            <a:r>
              <a:rPr lang="en-US" sz="1150" b="1" dirty="0">
                <a:solidFill>
                  <a:srgbClr val="262B3A"/>
                </a:solidFill>
                <a:latin typeface="Calibri" pitchFamily="34" charset="0"/>
                <a:ea typeface="Calibri" pitchFamily="34" charset="-122"/>
                <a:cs typeface="Calibri" pitchFamily="34" charset="-120"/>
              </a:rPr>
              <a:t>true value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Precise:</a:t>
            </a:r>
            <a:r>
              <a:rPr lang="en-US" sz="1150" dirty="0">
                <a:solidFill>
                  <a:srgbClr val="262B3A"/>
                </a:solidFill>
                <a:latin typeface="Calibri" pitchFamily="34" charset="0"/>
                <a:ea typeface="Calibri" pitchFamily="34" charset="-122"/>
                <a:cs typeface="Calibri" pitchFamily="34" charset="-120"/>
              </a:rPr>
              <a:t> repeat readings are </a:t>
            </a:r>
            <a:r>
              <a:rPr lang="en-US" sz="1150" b="1" dirty="0">
                <a:solidFill>
                  <a:srgbClr val="262B3A"/>
                </a:solidFill>
                <a:latin typeface="Calibri" pitchFamily="34" charset="0"/>
                <a:ea typeface="Calibri" pitchFamily="34" charset="-122"/>
                <a:cs typeface="Calibri" pitchFamily="34" charset="-120"/>
              </a:rPr>
              <a:t>close to each other</a:t>
            </a:r>
            <a:r>
              <a:rPr lang="en-US" sz="1150" dirty="0">
                <a:solidFill>
                  <a:srgbClr val="262B3A"/>
                </a:solidFill>
                <a:latin typeface="Calibri" pitchFamily="34" charset="0"/>
                <a:ea typeface="Calibri" pitchFamily="34" charset="-122"/>
                <a:cs typeface="Calibri" pitchFamily="34" charset="-120"/>
              </a:rPr>
              <a:t> (small spread).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Random error:</a:t>
            </a:r>
            <a:r>
              <a:rPr lang="en-US" sz="1150" dirty="0">
                <a:solidFill>
                  <a:srgbClr val="262B3A"/>
                </a:solidFill>
                <a:latin typeface="Calibri" pitchFamily="34" charset="0"/>
                <a:ea typeface="Calibri" pitchFamily="34" charset="-122"/>
                <a:cs typeface="Calibri" pitchFamily="34" charset="-120"/>
              </a:rPr>
              <a:t> readings scatter unpredictably either side of the true value. Reduce it by </a:t>
            </a:r>
            <a:r>
              <a:rPr lang="en-US" sz="1150" b="1" dirty="0">
                <a:solidFill>
                  <a:srgbClr val="262B3A"/>
                </a:solidFill>
                <a:latin typeface="Calibri" pitchFamily="34" charset="0"/>
                <a:ea typeface="Calibri" pitchFamily="34" charset="-122"/>
                <a:cs typeface="Calibri" pitchFamily="34" charset="-120"/>
              </a:rPr>
              <a:t>repeating and taking a mean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Systematic error:</a:t>
            </a:r>
            <a:r>
              <a:rPr lang="en-US" sz="1150" dirty="0">
                <a:solidFill>
                  <a:srgbClr val="262B3A"/>
                </a:solidFill>
                <a:latin typeface="Calibri" pitchFamily="34" charset="0"/>
                <a:ea typeface="Calibri" pitchFamily="34" charset="-122"/>
                <a:cs typeface="Calibri" pitchFamily="34" charset="-120"/>
              </a:rPr>
              <a:t> every reading is shifted by the </a:t>
            </a:r>
            <a:r>
              <a:rPr lang="en-US" sz="1150" b="1" dirty="0">
                <a:solidFill>
                  <a:srgbClr val="262B3A"/>
                </a:solidFill>
                <a:latin typeface="Calibri" pitchFamily="34" charset="0"/>
                <a:ea typeface="Calibri" pitchFamily="34" charset="-122"/>
                <a:cs typeface="Calibri" pitchFamily="34" charset="-120"/>
              </a:rPr>
              <a:t>same amount</a:t>
            </a:r>
            <a:r>
              <a:rPr lang="en-US" sz="1150" dirty="0">
                <a:solidFill>
                  <a:srgbClr val="262B3A"/>
                </a:solidFill>
                <a:latin typeface="Calibri" pitchFamily="34" charset="0"/>
                <a:ea typeface="Calibri" pitchFamily="34" charset="-122"/>
                <a:cs typeface="Calibri" pitchFamily="34" charset="-120"/>
              </a:rPr>
              <a:t> in the same direction. Repeating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help; </a:t>
            </a:r>
            <a:r>
              <a:rPr lang="en-US" sz="1150" b="1" dirty="0">
                <a:solidFill>
                  <a:srgbClr val="262B3A"/>
                </a:solidFill>
                <a:latin typeface="Calibri" pitchFamily="34" charset="0"/>
                <a:ea typeface="Calibri" pitchFamily="34" charset="-122"/>
                <a:cs typeface="Calibri" pitchFamily="34" charset="-120"/>
              </a:rPr>
              <a:t>recalibrate</a:t>
            </a:r>
            <a:r>
              <a:rPr lang="en-US" sz="1150" dirty="0">
                <a:solidFill>
                  <a:srgbClr val="262B3A"/>
                </a:solidFill>
                <a:latin typeface="Calibri" pitchFamily="34" charset="0"/>
                <a:ea typeface="Calibri" pitchFamily="34" charset="-122"/>
                <a:cs typeface="Calibri" pitchFamily="34" charset="-120"/>
              </a:rPr>
              <a:t> or correct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zero error</a:t>
            </a:r>
            <a:r>
              <a:rPr lang="en-US" sz="1150" dirty="0">
                <a:solidFill>
                  <a:srgbClr val="262B3A"/>
                </a:solidFill>
                <a:latin typeface="Calibri" pitchFamily="34" charset="0"/>
                <a:ea typeface="Calibri" pitchFamily="34" charset="-122"/>
                <a:cs typeface="Calibri" pitchFamily="34" charset="-120"/>
              </a:rPr>
              <a:t> (e.g. a balance that reads 0.4 g with nothing on it) causes a systematic error.</a:t>
            </a:r>
            <a:endParaRPr lang="en-US" sz="1150" dirty="0"/>
          </a:p>
        </p:txBody>
      </p:sp>
      <p:sp>
        <p:nvSpPr>
          <p:cNvPr id="55" name="Shape 53"/>
          <p:cNvSpPr/>
          <p:nvPr/>
        </p:nvSpPr>
        <p:spPr>
          <a:xfrm>
            <a:off x="6217920" y="3886200"/>
            <a:ext cx="5562295" cy="1828800"/>
          </a:xfrm>
          <a:prstGeom prst="roundRect">
            <a:avLst>
              <a:gd name="adj" fmla="val 3000"/>
            </a:avLst>
          </a:prstGeom>
          <a:solidFill>
            <a:srgbClr val="FFF4E0"/>
          </a:solidFill>
          <a:ln w="9525">
            <a:solidFill>
              <a:srgbClr val="F1D9A8"/>
            </a:solidFill>
            <a:prstDash val="solid"/>
          </a:ln>
        </p:spPr>
      </p:sp>
      <p:sp>
        <p:nvSpPr>
          <p:cNvPr id="56" name="Text 54"/>
          <p:cNvSpPr/>
          <p:nvPr/>
        </p:nvSpPr>
        <p:spPr>
          <a:xfrm>
            <a:off x="6382512" y="39593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57" name="Text 55"/>
          <p:cNvSpPr/>
          <p:nvPr/>
        </p:nvSpPr>
        <p:spPr>
          <a:xfrm>
            <a:off x="6382512" y="4270248"/>
            <a:ext cx="5233111" cy="137160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A balance reads 0.4 g when empty. With a stone on it, it reads 25.6 g. Find the true mass.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Identify   </a:t>
            </a:r>
            <a:r>
              <a:rPr lang="en-US" sz="1100" dirty="0">
                <a:solidFill>
                  <a:srgbClr val="262B3A"/>
                </a:solidFill>
                <a:latin typeface="Calibri" pitchFamily="34" charset="0"/>
                <a:ea typeface="Calibri" pitchFamily="34" charset="-122"/>
                <a:cs typeface="Calibri" pitchFamily="34" charset="-120"/>
              </a:rPr>
              <a:t>zero error of +0.4 g on every reading (systematic)</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Correct   </a:t>
            </a:r>
            <a:r>
              <a:rPr lang="en-US" sz="1100" dirty="0">
                <a:solidFill>
                  <a:srgbClr val="262B3A"/>
                </a:solidFill>
                <a:latin typeface="Calibri" pitchFamily="34" charset="0"/>
                <a:ea typeface="Calibri" pitchFamily="34" charset="-122"/>
                <a:cs typeface="Calibri" pitchFamily="34" charset="-120"/>
              </a:rPr>
              <a:t>true mass = 25.6 g − 0.4 g</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Answer   </a:t>
            </a:r>
            <a:r>
              <a:rPr lang="en-US" sz="1100" b="1" dirty="0">
                <a:solidFill>
                  <a:srgbClr val="C8414C"/>
                </a:solidFill>
                <a:latin typeface="Calibri" pitchFamily="34" charset="0"/>
                <a:ea typeface="Calibri" pitchFamily="34" charset="-122"/>
                <a:cs typeface="Calibri" pitchFamily="34" charset="-120"/>
              </a:rPr>
              <a:t>mass = 25.2 g</a:t>
            </a:r>
            <a:endParaRPr lang="en-US" sz="1100" dirty="0"/>
          </a:p>
        </p:txBody>
      </p:sp>
      <p:sp>
        <p:nvSpPr>
          <p:cNvPr id="58" name="Shape 56"/>
          <p:cNvSpPr/>
          <p:nvPr/>
        </p:nvSpPr>
        <p:spPr>
          <a:xfrm>
            <a:off x="411480" y="5833872"/>
            <a:ext cx="11368735" cy="530352"/>
          </a:xfrm>
          <a:prstGeom prst="rect">
            <a:avLst/>
          </a:prstGeom>
          <a:solidFill>
            <a:srgbClr val="FFF4E0"/>
          </a:solidFill>
          <a:ln w="6350">
            <a:solidFill>
              <a:srgbClr val="F1D9A8"/>
            </a:solidFill>
            <a:prstDash val="solid"/>
          </a:ln>
        </p:spPr>
      </p:sp>
      <p:sp>
        <p:nvSpPr>
          <p:cNvPr id="59" name="Shape 57"/>
          <p:cNvSpPr/>
          <p:nvPr/>
        </p:nvSpPr>
        <p:spPr>
          <a:xfrm>
            <a:off x="411480" y="5833872"/>
            <a:ext cx="82296" cy="530352"/>
          </a:xfrm>
          <a:prstGeom prst="rect">
            <a:avLst/>
          </a:prstGeom>
          <a:solidFill>
            <a:srgbClr val="E39A2F"/>
          </a:solidFill>
          <a:ln w="12700">
            <a:solidFill>
              <a:srgbClr val="E39A2F"/>
            </a:solidFill>
            <a:prstDash val="solid"/>
          </a:ln>
        </p:spPr>
      </p:sp>
      <p:sp>
        <p:nvSpPr>
          <p:cNvPr id="60" name="Text 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thermometer always reads 2 °C too high. Is this a random or a systematic error? Are the readings still precise?</a:t>
            </a:r>
            <a:endParaRPr lang="en-US" sz="1200" dirty="0"/>
          </a:p>
        </p:txBody>
      </p:sp>
      <p:sp>
        <p:nvSpPr>
          <p:cNvPr id="62" name="Shape 59"/>
          <p:cNvSpPr/>
          <p:nvPr/>
        </p:nvSpPr>
        <p:spPr>
          <a:xfrm>
            <a:off x="10180015" y="292608"/>
            <a:ext cx="1600200" cy="274320"/>
          </a:xfrm>
          <a:prstGeom prst="roundRect">
            <a:avLst>
              <a:gd name="adj" fmla="val 50000"/>
            </a:avLst>
          </a:prstGeom>
          <a:solidFill>
            <a:srgbClr val="2E8B57"/>
          </a:solidFill>
          <a:ln w="12700">
            <a:solidFill>
              <a:srgbClr val="2E8B57"/>
            </a:solidFill>
            <a:prstDash val="solid"/>
          </a:ln>
        </p:spPr>
      </p:sp>
      <p:sp>
        <p:nvSpPr>
          <p:cNvPr id="63" name="Text 60"/>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 SKILLS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Working Scientifically • measurement, means, anomalies and errors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22</a:t>
            </a:r>
            <a:endParaRPr lang="en-US" sz="1000" dirty="0"/>
          </a:p>
        </p:txBody>
      </p:sp>
      <p:sp>
        <p:nvSpPr>
          <p:cNvPr id="8" name="Shape 6"/>
          <p:cNvSpPr/>
          <p:nvPr/>
        </p:nvSpPr>
        <p:spPr>
          <a:xfrm>
            <a:off x="411480" y="1207008"/>
            <a:ext cx="11368735" cy="1594104"/>
          </a:xfrm>
          <a:prstGeom prst="roundRect">
            <a:avLst>
              <a:gd name="adj" fmla="val 2868"/>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to read the volume of water in a measuring cylinder accurately.</a:t>
            </a:r>
            <a:endParaRPr lang="en-US" sz="1250" dirty="0"/>
          </a:p>
        </p:txBody>
      </p:sp>
      <p:sp>
        <p:nvSpPr>
          <p:cNvPr id="12" name="Text 10"/>
          <p:cNvSpPr/>
          <p:nvPr/>
        </p:nvSpPr>
        <p:spPr>
          <a:xfrm>
            <a:off x="10317175" y="241706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947416"/>
            <a:ext cx="11368735" cy="1594104"/>
          </a:xfrm>
          <a:prstGeom prst="roundRect">
            <a:avLst>
              <a:gd name="adj" fmla="val 2868"/>
            </a:avLst>
          </a:prstGeom>
          <a:solidFill>
            <a:srgbClr val="FFFFFF"/>
          </a:solidFill>
          <a:ln w="12700">
            <a:solidFill>
              <a:srgbClr val="D5DCEB"/>
            </a:solidFill>
            <a:prstDash val="solid"/>
          </a:ln>
        </p:spPr>
      </p:sp>
      <p:sp>
        <p:nvSpPr>
          <p:cNvPr id="14" name="Shape 12"/>
          <p:cNvSpPr/>
          <p:nvPr/>
        </p:nvSpPr>
        <p:spPr>
          <a:xfrm>
            <a:off x="411480" y="2947416"/>
            <a:ext cx="2103120" cy="292608"/>
          </a:xfrm>
          <a:prstGeom prst="rect">
            <a:avLst/>
          </a:prstGeom>
          <a:solidFill>
            <a:srgbClr val="F5A742"/>
          </a:solidFill>
          <a:ln w="12700">
            <a:solidFill>
              <a:srgbClr val="F5A742"/>
            </a:solidFill>
            <a:prstDash val="solid"/>
          </a:ln>
        </p:spPr>
      </p:sp>
      <p:sp>
        <p:nvSpPr>
          <p:cNvPr id="15" name="Text 13"/>
          <p:cNvSpPr/>
          <p:nvPr/>
        </p:nvSpPr>
        <p:spPr>
          <a:xfrm>
            <a:off x="411480" y="294741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3313176"/>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measures a spring’s extension four times: </a:t>
            </a:r>
            <a:r>
              <a:rPr lang="en-US" sz="1250" b="1" dirty="0">
                <a:solidFill>
                  <a:srgbClr val="262B3A"/>
                </a:solidFill>
                <a:latin typeface="Calibri" pitchFamily="34" charset="0"/>
                <a:ea typeface="Calibri" pitchFamily="34" charset="-122"/>
                <a:cs typeface="Calibri" pitchFamily="34" charset="-120"/>
              </a:rPr>
              <a:t>4.2 cm, 4.4 cm, 5.9 cm, 4.3 cm</a:t>
            </a:r>
            <a:r>
              <a:rPr lang="en-US" sz="1250" dirty="0">
                <a:solidFill>
                  <a:srgbClr val="262B3A"/>
                </a:solidFill>
                <a:latin typeface="Calibri" pitchFamily="34" charset="0"/>
                <a:ea typeface="Calibri" pitchFamily="34" charset="-122"/>
                <a:cs typeface="Calibri" pitchFamily="34" charset="-120"/>
              </a:rPr>
              <a:t>. Identify the anomaly and calculate the mean of the valid results.</a:t>
            </a:r>
            <a:endParaRPr lang="en-US" sz="1250" dirty="0"/>
          </a:p>
        </p:txBody>
      </p:sp>
      <p:sp>
        <p:nvSpPr>
          <p:cNvPr id="17" name="Text 15"/>
          <p:cNvSpPr/>
          <p:nvPr/>
        </p:nvSpPr>
        <p:spPr>
          <a:xfrm>
            <a:off x="10317175" y="415747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4687824"/>
            <a:ext cx="11368735" cy="1594104"/>
          </a:xfrm>
          <a:prstGeom prst="roundRect">
            <a:avLst>
              <a:gd name="adj" fmla="val 2868"/>
            </a:avLst>
          </a:prstGeom>
          <a:solidFill>
            <a:srgbClr val="FFFFFF"/>
          </a:solidFill>
          <a:ln w="12700">
            <a:solidFill>
              <a:srgbClr val="D5DCEB"/>
            </a:solidFill>
            <a:prstDash val="solid"/>
          </a:ln>
        </p:spPr>
      </p:sp>
      <p:sp>
        <p:nvSpPr>
          <p:cNvPr id="19" name="Shape 17"/>
          <p:cNvSpPr/>
          <p:nvPr/>
        </p:nvSpPr>
        <p:spPr>
          <a:xfrm>
            <a:off x="411480" y="4687824"/>
            <a:ext cx="2103120" cy="292608"/>
          </a:xfrm>
          <a:prstGeom prst="rect">
            <a:avLst/>
          </a:prstGeom>
          <a:solidFill>
            <a:srgbClr val="F5A742"/>
          </a:solidFill>
          <a:ln w="12700">
            <a:solidFill>
              <a:srgbClr val="F5A742"/>
            </a:solidFill>
            <a:prstDash val="solid"/>
          </a:ln>
        </p:spPr>
      </p:sp>
      <p:sp>
        <p:nvSpPr>
          <p:cNvPr id="20" name="Text 18"/>
          <p:cNvSpPr/>
          <p:nvPr/>
        </p:nvSpPr>
        <p:spPr>
          <a:xfrm>
            <a:off x="411480" y="468782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5053584"/>
            <a:ext cx="9539935" cy="1155192"/>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 </a:t>
            </a:r>
            <a:r>
              <a:rPr lang="en-US" sz="1250" b="1" dirty="0">
                <a:solidFill>
                  <a:srgbClr val="262B3A"/>
                </a:solidFill>
                <a:latin typeface="Calibri" pitchFamily="34" charset="0"/>
                <a:ea typeface="Calibri" pitchFamily="34" charset="-122"/>
                <a:cs typeface="Calibri" pitchFamily="34" charset="-120"/>
              </a:rPr>
              <a:t>random</a:t>
            </a:r>
            <a:r>
              <a:rPr lang="en-US" sz="1250" dirty="0">
                <a:solidFill>
                  <a:srgbClr val="262B3A"/>
                </a:solidFill>
                <a:latin typeface="Calibri" pitchFamily="34" charset="0"/>
                <a:ea typeface="Calibri" pitchFamily="34" charset="-122"/>
                <a:cs typeface="Calibri" pitchFamily="34" charset="-120"/>
              </a:rPr>
              <a:t> error and a </a:t>
            </a:r>
            <a:r>
              <a:rPr lang="en-US" sz="1250" b="1" dirty="0">
                <a:solidFill>
                  <a:srgbClr val="262B3A"/>
                </a:solidFill>
                <a:latin typeface="Calibri" pitchFamily="34" charset="0"/>
                <a:ea typeface="Calibri" pitchFamily="34" charset="-122"/>
                <a:cs typeface="Calibri" pitchFamily="34" charset="-120"/>
              </a:rPr>
              <a:t>systematic</a:t>
            </a:r>
            <a:r>
              <a:rPr lang="en-US" sz="1250" dirty="0">
                <a:solidFill>
                  <a:srgbClr val="262B3A"/>
                </a:solidFill>
                <a:latin typeface="Calibri" pitchFamily="34" charset="0"/>
                <a:ea typeface="Calibri" pitchFamily="34" charset="-122"/>
                <a:cs typeface="Calibri" pitchFamily="34" charset="-120"/>
              </a:rPr>
              <a:t> error.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each.</a:t>
            </a:r>
            <a:endParaRPr lang="en-US" sz="1250" dirty="0"/>
          </a:p>
        </p:txBody>
      </p:sp>
      <p:sp>
        <p:nvSpPr>
          <p:cNvPr id="22" name="Text 20"/>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Equations used in this deck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1 has no equations of its own • these later-topic equations appear in the worked examples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s = d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average speed (m/s) = distance (m) ÷ time (s)   (Topic 2)</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E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power (W) = energy transferred (J) ÷ time taken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10.29</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V = I × R</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potential difference (V) = current (A) × resistance (Ω)</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10.13</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Q = I × t</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charge (C) = current (A) × time (s)</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ρ = m ÷ V</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density (kg/m³) = mass (kg) ÷ volume (m³)   (Topic 14)</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Topic 14</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566928">
                <a:tc>
                  <a:txBody>
                    <a:bodyPr/>
                    <a:lstStyle/>
                    <a:p>
                      <a:pPr indent="0" marL="0">
                        <a:buNone/>
                      </a:pPr>
                      <a:r>
                        <a:rPr lang="en-US" sz="1400" b="1" dirty="0">
                          <a:solidFill>
                            <a:srgbClr val="1A2340"/>
                          </a:solidFill>
                          <a:latin typeface="Georgia" pitchFamily="34" charset="0"/>
                          <a:ea typeface="Georgia" pitchFamily="34" charset="-122"/>
                          <a:cs typeface="Georgia" pitchFamily="34" charset="-120"/>
                        </a:rPr>
                        <a:t>p = F ÷ A</a:t>
                      </a:r>
                      <a:endParaRPr lang="en-US" sz="1400" dirty="0">
                        <a:latin typeface="Georgia" charset="0"/>
                        <a:ea typeface="Georgia" charset="0"/>
                        <a:cs typeface="Georgia"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pressure (Pa) = force normal to surface (N) ÷ area of surface (m²)   (Topic 15, physics only)</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indent="0" marL="0">
                        <a:buNone/>
                      </a:pPr>
                      <a:r>
                        <a:rPr lang="en-US" sz="1200" b="1" dirty="0">
                          <a:solidFill>
                            <a:srgbClr val="2E5BD8"/>
                          </a:solidFill>
                          <a:latin typeface="Calibri" pitchFamily="34" charset="0"/>
                          <a:ea typeface="Calibri" pitchFamily="34" charset="-122"/>
                          <a:cs typeface="Calibri" pitchFamily="34" charset="-120"/>
                        </a:rPr>
                        <a:t>15.11P</a:t>
                      </a:r>
                      <a:endParaRPr lang="en-US" sz="120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Cover the middle column. For each equation, name every quantity and give its SI unit.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Topic 1 Key concepts of physics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24</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SI unit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International standard unit, e.g. m, kg, s, A, K.</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Base unit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One of the seven SI units all others are built from.</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Derived unit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combination of base units, e.g. N = kg m/s², Pa = N/m².</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Prefix</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multiplier in front of a unit, e.g. k = 10³, μ = 10⁻⁶.</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Standard form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 10ⁿ, where 1 ≤ A &lt; 10 and n is a whole number.</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Significant figures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Meaningful digits, counted from the first non-zero digit.</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Order of magnitude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value rounded to the nearest power of ten.</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Estimate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approximate answer using sensible rounded values.</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Resolution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smallest change an instrument can show.</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Meniscus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Curved liquid surface; read the bottom of it at eye level.</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Mean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Sum of the valid readings ÷ number of valid readings.</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Anomaly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result that does not fit the pattern; leave it out of the mean.</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Accurate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Close to the true value.</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Precise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Repeat readings are close together (small spread).</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Random error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Unpredictable scatter; reduce by repeating and averaging.</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Systematic error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Same shift every time, e.g. a zero error; recalibrate.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1.1–1.4 and Working Scientifically • answer every part • 13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25</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investigates how much energy a </a:t>
            </a:r>
            <a:r>
              <a:rPr lang="en-US" sz="1200" b="1" i="1" dirty="0">
                <a:solidFill>
                  <a:srgbClr val="262B3A"/>
                </a:solidFill>
                <a:latin typeface="Calibri" pitchFamily="34" charset="0"/>
                <a:ea typeface="Calibri" pitchFamily="34" charset="-122"/>
                <a:cs typeface="Calibri" pitchFamily="34" charset="-120"/>
              </a:rPr>
              <a:t>2.0 kW</a:t>
            </a:r>
            <a:r>
              <a:rPr lang="en-US" sz="1200" i="1" dirty="0">
                <a:solidFill>
                  <a:srgbClr val="262B3A"/>
                </a:solidFill>
                <a:latin typeface="Calibri" pitchFamily="34" charset="0"/>
                <a:ea typeface="Calibri" pitchFamily="34" charset="-122"/>
                <a:cs typeface="Calibri" pitchFamily="34" charset="-120"/>
              </a:rPr>
              <a:t> electric kettle transfers when it boils some water. She times the kettle from switching on until it switches off.</a:t>
            </a:r>
            <a:endParaRPr lang="en-US" sz="1200" dirty="0"/>
          </a:p>
        </p:txBody>
      </p:sp>
      <p:sp>
        <p:nvSpPr>
          <p:cNvPr id="9" name="Shape 7"/>
          <p:cNvSpPr/>
          <p:nvPr/>
        </p:nvSpPr>
        <p:spPr>
          <a:xfrm>
            <a:off x="411480" y="1719072"/>
            <a:ext cx="5570068" cy="1373051"/>
          </a:xfrm>
          <a:prstGeom prst="roundRect">
            <a:avLst>
              <a:gd name="adj" fmla="val 3330"/>
            </a:avLst>
          </a:prstGeom>
          <a:solidFill>
            <a:srgbClr val="F5F8FE"/>
          </a:solidFill>
          <a:ln w="9525">
            <a:solidFill>
              <a:srgbClr val="D5DCEB"/>
            </a:solidFill>
            <a:prstDash val="solid"/>
          </a:ln>
        </p:spPr>
      </p:sp>
      <p:sp>
        <p:nvSpPr>
          <p:cNvPr id="10" name="Text 8"/>
          <p:cNvSpPr/>
          <p:nvPr/>
        </p:nvSpPr>
        <p:spPr>
          <a:xfrm>
            <a:off x="548640" y="1792224"/>
            <a:ext cx="5295748" cy="1007291"/>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Give the SI base unit of </a:t>
            </a:r>
            <a:r>
              <a:rPr lang="en-US" sz="1200" b="1" dirty="0">
                <a:solidFill>
                  <a:srgbClr val="262B3A"/>
                </a:solidFill>
                <a:latin typeface="Calibri" pitchFamily="34" charset="0"/>
                <a:ea typeface="Calibri" pitchFamily="34" charset="-122"/>
                <a:cs typeface="Calibri" pitchFamily="34" charset="-120"/>
              </a:rPr>
              <a:t>time</a:t>
            </a:r>
            <a:r>
              <a:rPr lang="en-US" sz="1200" dirty="0">
                <a:solidFill>
                  <a:srgbClr val="262B3A"/>
                </a:solidFill>
                <a:latin typeface="Calibri" pitchFamily="34" charset="0"/>
                <a:ea typeface="Calibri" pitchFamily="34" charset="-122"/>
                <a:cs typeface="Calibri" pitchFamily="34" charset="-120"/>
              </a:rPr>
              <a:t> and the SI unit of </a:t>
            </a:r>
            <a:r>
              <a:rPr lang="en-US" sz="1200" b="1" dirty="0">
                <a:solidFill>
                  <a:srgbClr val="262B3A"/>
                </a:solidFill>
                <a:latin typeface="Calibri" pitchFamily="34" charset="0"/>
                <a:ea typeface="Calibri" pitchFamily="34" charset="-122"/>
                <a:cs typeface="Calibri" pitchFamily="34" charset="-120"/>
              </a:rPr>
              <a:t>power</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4518508" y="2781227"/>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01851"/>
            <a:ext cx="5570068" cy="1373051"/>
          </a:xfrm>
          <a:prstGeom prst="roundRect">
            <a:avLst>
              <a:gd name="adj" fmla="val 3330"/>
            </a:avLst>
          </a:prstGeom>
          <a:solidFill>
            <a:srgbClr val="FFFFFF"/>
          </a:solidFill>
          <a:ln w="9525">
            <a:solidFill>
              <a:srgbClr val="D5DCEB"/>
            </a:solidFill>
            <a:prstDash val="solid"/>
          </a:ln>
        </p:spPr>
      </p:sp>
      <p:sp>
        <p:nvSpPr>
          <p:cNvPr id="13" name="Text 11"/>
          <p:cNvSpPr/>
          <p:nvPr/>
        </p:nvSpPr>
        <p:spPr>
          <a:xfrm>
            <a:off x="548640" y="3275003"/>
            <a:ext cx="5295748" cy="1007291"/>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Write the power of the kettle in watts, in standard form.</a:t>
            </a:r>
            <a:endParaRPr lang="en-US" sz="1200" dirty="0"/>
          </a:p>
        </p:txBody>
      </p:sp>
      <p:sp>
        <p:nvSpPr>
          <p:cNvPr id="14" name="Text 12"/>
          <p:cNvSpPr/>
          <p:nvPr/>
        </p:nvSpPr>
        <p:spPr>
          <a:xfrm>
            <a:off x="4518508" y="4264007"/>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684631"/>
            <a:ext cx="5570068" cy="1579009"/>
          </a:xfrm>
          <a:prstGeom prst="roundRect">
            <a:avLst>
              <a:gd name="adj" fmla="val 2895"/>
            </a:avLst>
          </a:prstGeom>
          <a:solidFill>
            <a:srgbClr val="F5F8FE"/>
          </a:solidFill>
          <a:ln w="9525">
            <a:solidFill>
              <a:srgbClr val="D5DCEB"/>
            </a:solidFill>
            <a:prstDash val="solid"/>
          </a:ln>
        </p:spPr>
      </p:sp>
      <p:sp>
        <p:nvSpPr>
          <p:cNvPr id="16" name="Text 14"/>
          <p:cNvSpPr/>
          <p:nvPr/>
        </p:nvSpPr>
        <p:spPr>
          <a:xfrm>
            <a:off x="548640" y="4757783"/>
            <a:ext cx="5295748" cy="1213249"/>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The kettle is on for </a:t>
            </a:r>
            <a:r>
              <a:rPr lang="en-US" sz="1200" b="1" dirty="0">
                <a:solidFill>
                  <a:srgbClr val="262B3A"/>
                </a:solidFill>
                <a:latin typeface="Calibri" pitchFamily="34" charset="0"/>
                <a:ea typeface="Calibri" pitchFamily="34" charset="-122"/>
                <a:cs typeface="Calibri" pitchFamily="34" charset="-120"/>
              </a:rPr>
              <a:t>2 minutes 30 seconds</a:t>
            </a:r>
            <a:r>
              <a:rPr lang="en-US" sz="1200" dirty="0">
                <a:solidFill>
                  <a:srgbClr val="262B3A"/>
                </a:solidFill>
                <a:latin typeface="Calibri" pitchFamily="34" charset="0"/>
                <a:ea typeface="Calibri" pitchFamily="34" charset="-122"/>
                <a:cs typeface="Calibri" pitchFamily="34" charset="-120"/>
              </a:rPr>
              <a:t>. Calculate the energy transferred in joules. Use </a:t>
            </a:r>
            <a:r>
              <a:rPr lang="en-US" sz="1200" b="1" dirty="0">
                <a:solidFill>
                  <a:srgbClr val="262B3A"/>
                </a:solidFill>
                <a:latin typeface="Calibri" pitchFamily="34" charset="0"/>
                <a:ea typeface="Calibri" pitchFamily="34" charset="-122"/>
                <a:cs typeface="Calibri" pitchFamily="34" charset="-120"/>
              </a:rPr>
              <a:t>E = P × t</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719072"/>
            <a:ext cx="5570068" cy="1330804"/>
          </a:xfrm>
          <a:prstGeom prst="roundRect">
            <a:avLst>
              <a:gd name="adj" fmla="val 3436"/>
            </a:avLst>
          </a:prstGeom>
          <a:solidFill>
            <a:srgbClr val="F5F8FE"/>
          </a:solidFill>
          <a:ln w="9525">
            <a:solidFill>
              <a:srgbClr val="D5DCEB"/>
            </a:solidFill>
            <a:prstDash val="solid"/>
          </a:ln>
        </p:spPr>
      </p:sp>
      <p:sp>
        <p:nvSpPr>
          <p:cNvPr id="19" name="Text 17"/>
          <p:cNvSpPr/>
          <p:nvPr/>
        </p:nvSpPr>
        <p:spPr>
          <a:xfrm>
            <a:off x="6347308" y="1792224"/>
            <a:ext cx="5295748" cy="9650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Convert your answer to (c) into kilowatt-hours. (1 kWh = 3.6 × 10⁶ J)</a:t>
            </a:r>
            <a:endParaRPr lang="en-US" sz="1200" dirty="0"/>
          </a:p>
        </p:txBody>
      </p:sp>
      <p:sp>
        <p:nvSpPr>
          <p:cNvPr id="20" name="Text 18"/>
          <p:cNvSpPr/>
          <p:nvPr/>
        </p:nvSpPr>
        <p:spPr>
          <a:xfrm>
            <a:off x="10317175" y="27389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59604"/>
            <a:ext cx="5570068" cy="1663505"/>
          </a:xfrm>
          <a:prstGeom prst="roundRect">
            <a:avLst>
              <a:gd name="adj" fmla="val 2748"/>
            </a:avLst>
          </a:prstGeom>
          <a:solidFill>
            <a:srgbClr val="FFFFFF"/>
          </a:solidFill>
          <a:ln w="9525">
            <a:solidFill>
              <a:srgbClr val="D5DCEB"/>
            </a:solidFill>
            <a:prstDash val="solid"/>
          </a:ln>
        </p:spPr>
      </p:sp>
      <p:sp>
        <p:nvSpPr>
          <p:cNvPr id="22" name="Text 20"/>
          <p:cNvSpPr/>
          <p:nvPr/>
        </p:nvSpPr>
        <p:spPr>
          <a:xfrm>
            <a:off x="6347308" y="3232756"/>
            <a:ext cx="5295748" cy="1297745"/>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She repeats the timing: </a:t>
            </a:r>
            <a:r>
              <a:rPr lang="en-US" sz="1200" b="1" dirty="0">
                <a:solidFill>
                  <a:srgbClr val="262B3A"/>
                </a:solidFill>
                <a:latin typeface="Calibri" pitchFamily="34" charset="0"/>
                <a:ea typeface="Calibri" pitchFamily="34" charset="-122"/>
                <a:cs typeface="Calibri" pitchFamily="34" charset="-120"/>
              </a:rPr>
              <a:t>152 s, 149 s, 175 s, 151 s</a:t>
            </a:r>
            <a:r>
              <a:rPr lang="en-US" sz="1200" dirty="0">
                <a:solidFill>
                  <a:srgbClr val="262B3A"/>
                </a:solidFill>
                <a:latin typeface="Calibri" pitchFamily="34" charset="0"/>
                <a:ea typeface="Calibri" pitchFamily="34" charset="-122"/>
                <a:cs typeface="Calibri" pitchFamily="34" charset="-120"/>
              </a:rPr>
              <a:t>. Identify the anomaly and calculate the mean time to an appropriate number of significant figures.</a:t>
            </a:r>
            <a:endParaRPr lang="en-US" sz="1200" dirty="0"/>
          </a:p>
        </p:txBody>
      </p:sp>
      <p:sp>
        <p:nvSpPr>
          <p:cNvPr id="23" name="Text 21"/>
          <p:cNvSpPr/>
          <p:nvPr/>
        </p:nvSpPr>
        <p:spPr>
          <a:xfrm>
            <a:off x="10317175" y="45122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932836"/>
            <a:ext cx="5570068" cy="1330804"/>
          </a:xfrm>
          <a:prstGeom prst="roundRect">
            <a:avLst>
              <a:gd name="adj" fmla="val 3436"/>
            </a:avLst>
          </a:prstGeom>
          <a:solidFill>
            <a:srgbClr val="F5F8FE"/>
          </a:solidFill>
          <a:ln w="9525">
            <a:solidFill>
              <a:srgbClr val="D5DCEB"/>
            </a:solidFill>
            <a:prstDash val="solid"/>
          </a:ln>
        </p:spPr>
      </p:sp>
      <p:sp>
        <p:nvSpPr>
          <p:cNvPr id="25" name="Text 23"/>
          <p:cNvSpPr/>
          <p:nvPr/>
        </p:nvSpPr>
        <p:spPr>
          <a:xfrm>
            <a:off x="6347308" y="5005988"/>
            <a:ext cx="5295748" cy="965044"/>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Her thermometer reads </a:t>
            </a:r>
            <a:r>
              <a:rPr lang="en-US" sz="1200" b="1" dirty="0">
                <a:solidFill>
                  <a:srgbClr val="262B3A"/>
                </a:solidFill>
                <a:latin typeface="Calibri" pitchFamily="34" charset="0"/>
                <a:ea typeface="Calibri" pitchFamily="34" charset="-122"/>
                <a:cs typeface="Calibri" pitchFamily="34" charset="-120"/>
              </a:rPr>
              <a:t>1.5 °C too high</a:t>
            </a:r>
            <a:r>
              <a:rPr lang="en-US" sz="1200" dirty="0">
                <a:solidFill>
                  <a:srgbClr val="262B3A"/>
                </a:solidFill>
                <a:latin typeface="Calibri" pitchFamily="34" charset="0"/>
                <a:ea typeface="Calibri" pitchFamily="34" charset="-122"/>
                <a:cs typeface="Calibri" pitchFamily="34" charset="-120"/>
              </a:rPr>
              <a:t> every time. Name this type of error and explain its effect on her results.</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Topic 1 Key concepts of physics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Pearson Edexcel GCSE (9–1) Physics (1PH0) | Topic 1 Key concepts of physics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27</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every question. Show your working and give units for all calculations.</a:t>
            </a:r>
            <a:endParaRPr lang="en-US" sz="1150" dirty="0"/>
          </a:p>
        </p:txBody>
      </p:sp>
      <p:sp>
        <p:nvSpPr>
          <p:cNvPr id="9" name="Shape 7"/>
          <p:cNvSpPr/>
          <p:nvPr/>
        </p:nvSpPr>
        <p:spPr>
          <a:xfrm>
            <a:off x="411480" y="1517904"/>
            <a:ext cx="5570068" cy="1530096"/>
          </a:xfrm>
          <a:prstGeom prst="roundRect">
            <a:avLst>
              <a:gd name="adj" fmla="val 2988"/>
            </a:avLst>
          </a:prstGeom>
          <a:solidFill>
            <a:srgbClr val="F5F8FE"/>
          </a:solidFill>
          <a:ln w="9525">
            <a:solidFill>
              <a:srgbClr val="D5DCEB"/>
            </a:solidFill>
            <a:prstDash val="solid"/>
          </a:ln>
        </p:spPr>
      </p:sp>
      <p:sp>
        <p:nvSpPr>
          <p:cNvPr id="10" name="Text 8"/>
          <p:cNvSpPr/>
          <p:nvPr/>
        </p:nvSpPr>
        <p:spPr>
          <a:xfrm>
            <a:off x="548640" y="1591056"/>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Write in standard form: (i) </a:t>
            </a:r>
            <a:r>
              <a:rPr lang="en-US" sz="1150" b="1" dirty="0">
                <a:solidFill>
                  <a:srgbClr val="262B3A"/>
                </a:solidFill>
                <a:latin typeface="Calibri" pitchFamily="34" charset="0"/>
                <a:ea typeface="Calibri" pitchFamily="34" charset="-122"/>
                <a:cs typeface="Calibri" pitchFamily="34" charset="-120"/>
              </a:rPr>
              <a:t>0.000 52 m</a:t>
            </a:r>
            <a:r>
              <a:rPr lang="en-US" sz="1150" dirty="0">
                <a:solidFill>
                  <a:srgbClr val="262B3A"/>
                </a:solidFill>
                <a:latin typeface="Calibri" pitchFamily="34" charset="0"/>
                <a:ea typeface="Calibri" pitchFamily="34" charset="-122"/>
                <a:cs typeface="Calibri" pitchFamily="34" charset="-120"/>
              </a:rPr>
              <a:t> (ii) </a:t>
            </a:r>
            <a:r>
              <a:rPr lang="en-US" sz="1150" b="1" dirty="0">
                <a:solidFill>
                  <a:srgbClr val="262B3A"/>
                </a:solidFill>
                <a:latin typeface="Calibri" pitchFamily="34" charset="0"/>
                <a:ea typeface="Calibri" pitchFamily="34" charset="-122"/>
                <a:cs typeface="Calibri" pitchFamily="34" charset="-120"/>
              </a:rPr>
              <a:t>4 800 000 W</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75539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157728"/>
            <a:ext cx="5570068" cy="1530096"/>
          </a:xfrm>
          <a:prstGeom prst="roundRect">
            <a:avLst>
              <a:gd name="adj" fmla="val 2988"/>
            </a:avLst>
          </a:prstGeom>
          <a:solidFill>
            <a:srgbClr val="F5F8FE"/>
          </a:solidFill>
          <a:ln w="9525">
            <a:solidFill>
              <a:srgbClr val="D5DCEB"/>
            </a:solidFill>
            <a:prstDash val="solid"/>
          </a:ln>
        </p:spPr>
      </p:sp>
      <p:sp>
        <p:nvSpPr>
          <p:cNvPr id="13" name="Text 11"/>
          <p:cNvSpPr/>
          <p:nvPr/>
        </p:nvSpPr>
        <p:spPr>
          <a:xfrm>
            <a:off x="548640" y="3230880"/>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Convert: (i) </a:t>
            </a:r>
            <a:r>
              <a:rPr lang="en-US" sz="1150" b="1" dirty="0">
                <a:solidFill>
                  <a:srgbClr val="262B3A"/>
                </a:solidFill>
                <a:latin typeface="Calibri" pitchFamily="34" charset="0"/>
                <a:ea typeface="Calibri" pitchFamily="34" charset="-122"/>
                <a:cs typeface="Calibri" pitchFamily="34" charset="-120"/>
              </a:rPr>
              <a:t>36 km/h</a:t>
            </a:r>
            <a:r>
              <a:rPr lang="en-US" sz="1150" dirty="0">
                <a:solidFill>
                  <a:srgbClr val="262B3A"/>
                </a:solidFill>
                <a:latin typeface="Calibri" pitchFamily="34" charset="0"/>
                <a:ea typeface="Calibri" pitchFamily="34" charset="-122"/>
                <a:cs typeface="Calibri" pitchFamily="34" charset="-120"/>
              </a:rPr>
              <a:t> into m/s (ii) </a:t>
            </a:r>
            <a:r>
              <a:rPr lang="en-US" sz="1150" b="1" dirty="0">
                <a:solidFill>
                  <a:srgbClr val="262B3A"/>
                </a:solidFill>
                <a:latin typeface="Calibri" pitchFamily="34" charset="0"/>
                <a:ea typeface="Calibri" pitchFamily="34" charset="-122"/>
                <a:cs typeface="Calibri" pitchFamily="34" charset="-120"/>
              </a:rPr>
              <a:t>0.25 hours</a:t>
            </a:r>
            <a:r>
              <a:rPr lang="en-US" sz="1150" dirty="0">
                <a:solidFill>
                  <a:srgbClr val="262B3A"/>
                </a:solidFill>
                <a:latin typeface="Calibri" pitchFamily="34" charset="0"/>
                <a:ea typeface="Calibri" pitchFamily="34" charset="-122"/>
                <a:cs typeface="Calibri" pitchFamily="34" charset="-120"/>
              </a:rPr>
              <a:t> into seconds.</a:t>
            </a:r>
            <a:endParaRPr lang="en-US" sz="1150" dirty="0"/>
          </a:p>
        </p:txBody>
      </p:sp>
      <p:sp>
        <p:nvSpPr>
          <p:cNvPr id="14" name="Text 12"/>
          <p:cNvSpPr/>
          <p:nvPr/>
        </p:nvSpPr>
        <p:spPr>
          <a:xfrm>
            <a:off x="4518508" y="43952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797552"/>
            <a:ext cx="5570068" cy="1530096"/>
          </a:xfrm>
          <a:prstGeom prst="roundRect">
            <a:avLst>
              <a:gd name="adj" fmla="val 2988"/>
            </a:avLst>
          </a:prstGeom>
          <a:solidFill>
            <a:srgbClr val="F5F8FE"/>
          </a:solidFill>
          <a:ln w="9525">
            <a:solidFill>
              <a:srgbClr val="D5DCEB"/>
            </a:solidFill>
            <a:prstDash val="solid"/>
          </a:ln>
        </p:spPr>
      </p:sp>
      <p:sp>
        <p:nvSpPr>
          <p:cNvPr id="16" name="Text 14"/>
          <p:cNvSpPr/>
          <p:nvPr/>
        </p:nvSpPr>
        <p:spPr>
          <a:xfrm>
            <a:off x="548640" y="4870704"/>
            <a:ext cx="5295748" cy="1182624"/>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A current of </a:t>
            </a:r>
            <a:r>
              <a:rPr lang="en-US" sz="1150" b="1" dirty="0">
                <a:solidFill>
                  <a:srgbClr val="262B3A"/>
                </a:solidFill>
                <a:latin typeface="Calibri" pitchFamily="34" charset="0"/>
                <a:ea typeface="Calibri" pitchFamily="34" charset="-122"/>
                <a:cs typeface="Calibri" pitchFamily="34" charset="-120"/>
              </a:rPr>
              <a:t>120 mA</a:t>
            </a:r>
            <a:r>
              <a:rPr lang="en-US" sz="1150" dirty="0">
                <a:solidFill>
                  <a:srgbClr val="262B3A"/>
                </a:solidFill>
                <a:latin typeface="Calibri" pitchFamily="34" charset="0"/>
                <a:ea typeface="Calibri" pitchFamily="34" charset="-122"/>
                <a:cs typeface="Calibri" pitchFamily="34" charset="-120"/>
              </a:rPr>
              <a:t> flows for </a:t>
            </a:r>
            <a:r>
              <a:rPr lang="en-US" sz="1150" b="1" dirty="0">
                <a:solidFill>
                  <a:srgbClr val="262B3A"/>
                </a:solidFill>
                <a:latin typeface="Calibri" pitchFamily="34" charset="0"/>
                <a:ea typeface="Calibri" pitchFamily="34" charset="-122"/>
                <a:cs typeface="Calibri" pitchFamily="34" charset="-120"/>
              </a:rPr>
              <a:t>5.0 minutes</a:t>
            </a:r>
            <a:r>
              <a:rPr lang="en-US" sz="1150" dirty="0">
                <a:solidFill>
                  <a:srgbClr val="262B3A"/>
                </a:solidFill>
                <a:latin typeface="Calibri" pitchFamily="34" charset="0"/>
                <a:ea typeface="Calibri" pitchFamily="34" charset="-122"/>
                <a:cs typeface="Calibri" pitchFamily="34" charset="-120"/>
              </a:rPr>
              <a:t>. Calculate the charge that flows. Use </a:t>
            </a:r>
            <a:r>
              <a:rPr lang="en-US" sz="1150" b="1" dirty="0">
                <a:solidFill>
                  <a:srgbClr val="262B3A"/>
                </a:solidFill>
                <a:latin typeface="Calibri" pitchFamily="34" charset="0"/>
                <a:ea typeface="Calibri" pitchFamily="34" charset="-122"/>
                <a:cs typeface="Calibri" pitchFamily="34" charset="-120"/>
              </a:rPr>
              <a:t>Q = I × t</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6210148" y="1517904"/>
            <a:ext cx="5570068" cy="1566672"/>
          </a:xfrm>
          <a:prstGeom prst="roundRect">
            <a:avLst>
              <a:gd name="adj" fmla="val 2918"/>
            </a:avLst>
          </a:prstGeom>
          <a:solidFill>
            <a:srgbClr val="F5F8FE"/>
          </a:solidFill>
          <a:ln w="9525">
            <a:solidFill>
              <a:srgbClr val="D5DCEB"/>
            </a:solidFill>
            <a:prstDash val="solid"/>
          </a:ln>
        </p:spPr>
      </p:sp>
      <p:sp>
        <p:nvSpPr>
          <p:cNvPr id="19" name="Text 17"/>
          <p:cNvSpPr/>
          <p:nvPr/>
        </p:nvSpPr>
        <p:spPr>
          <a:xfrm>
            <a:off x="6347308" y="1591056"/>
            <a:ext cx="5295748" cy="1219200"/>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metal block measures </a:t>
            </a:r>
            <a:r>
              <a:rPr lang="en-US" sz="1150" b="1" dirty="0">
                <a:solidFill>
                  <a:srgbClr val="262B3A"/>
                </a:solidFill>
                <a:latin typeface="Calibri" pitchFamily="34" charset="0"/>
                <a:ea typeface="Calibri" pitchFamily="34" charset="-122"/>
                <a:cs typeface="Calibri" pitchFamily="34" charset="-120"/>
              </a:rPr>
              <a:t>4.0 cm × 5.0 cm × 10 cm</a:t>
            </a:r>
            <a:r>
              <a:rPr lang="en-US" sz="1150" dirty="0">
                <a:solidFill>
                  <a:srgbClr val="262B3A"/>
                </a:solidFill>
                <a:latin typeface="Calibri" pitchFamily="34" charset="0"/>
                <a:ea typeface="Calibri" pitchFamily="34" charset="-122"/>
                <a:cs typeface="Calibri" pitchFamily="34" charset="-120"/>
              </a:rPr>
              <a:t> and has a mass of </a:t>
            </a:r>
            <a:r>
              <a:rPr lang="en-US" sz="1150" b="1" dirty="0">
                <a:solidFill>
                  <a:srgbClr val="262B3A"/>
                </a:solidFill>
                <a:latin typeface="Calibri" pitchFamily="34" charset="0"/>
                <a:ea typeface="Calibri" pitchFamily="34" charset="-122"/>
                <a:cs typeface="Calibri" pitchFamily="34" charset="-120"/>
              </a:rPr>
              <a:t>1.6 kg</a:t>
            </a:r>
            <a:r>
              <a:rPr lang="en-US" sz="1150" dirty="0">
                <a:solidFill>
                  <a:srgbClr val="262B3A"/>
                </a:solidFill>
                <a:latin typeface="Calibri" pitchFamily="34" charset="0"/>
                <a:ea typeface="Calibri" pitchFamily="34" charset="-122"/>
                <a:cs typeface="Calibri" pitchFamily="34" charset="-120"/>
              </a:rPr>
              <a:t>. Calculate its density in kg/m³. Use </a:t>
            </a:r>
            <a:r>
              <a:rPr lang="en-US" sz="1150" b="1" dirty="0">
                <a:solidFill>
                  <a:srgbClr val="262B3A"/>
                </a:solidFill>
                <a:latin typeface="Calibri" pitchFamily="34" charset="0"/>
                <a:ea typeface="Calibri" pitchFamily="34" charset="-122"/>
                <a:cs typeface="Calibri" pitchFamily="34" charset="-120"/>
              </a:rPr>
              <a:t>ρ = m ÷ V</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0" name="Text 18"/>
          <p:cNvSpPr/>
          <p:nvPr/>
        </p:nvSpPr>
        <p:spPr>
          <a:xfrm>
            <a:off x="10317175" y="2791968"/>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21" name="Shape 19"/>
          <p:cNvSpPr/>
          <p:nvPr/>
        </p:nvSpPr>
        <p:spPr>
          <a:xfrm>
            <a:off x="6210148" y="3194304"/>
            <a:ext cx="5570068" cy="3133344"/>
          </a:xfrm>
          <a:prstGeom prst="roundRect">
            <a:avLst>
              <a:gd name="adj" fmla="val 1459"/>
            </a:avLst>
          </a:prstGeom>
          <a:solidFill>
            <a:srgbClr val="FFF4E0"/>
          </a:solidFill>
          <a:ln w="9525">
            <a:solidFill>
              <a:srgbClr val="F1D9A8"/>
            </a:solidFill>
            <a:prstDash val="solid"/>
          </a:ln>
        </p:spPr>
      </p:sp>
      <p:sp>
        <p:nvSpPr>
          <p:cNvPr id="22" name="Text 20"/>
          <p:cNvSpPr/>
          <p:nvPr/>
        </p:nvSpPr>
        <p:spPr>
          <a:xfrm>
            <a:off x="6347308" y="3267456"/>
            <a:ext cx="5295748" cy="2785872"/>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student has a 30 cm ruler with a resolution of 1 mm. She wants to find the </a:t>
            </a:r>
            <a:r>
              <a:rPr lang="en-US" sz="1150" b="1" dirty="0">
                <a:solidFill>
                  <a:srgbClr val="262B3A"/>
                </a:solidFill>
                <a:latin typeface="Calibri" pitchFamily="34" charset="0"/>
                <a:ea typeface="Calibri" pitchFamily="34" charset="-122"/>
                <a:cs typeface="Calibri" pitchFamily="34" charset="-120"/>
              </a:rPr>
              <a:t>thickness of one sheet of paper</a:t>
            </a:r>
            <a:r>
              <a:rPr lang="en-US" sz="1150" dirty="0">
                <a:solidFill>
                  <a:srgbClr val="262B3A"/>
                </a:solidFill>
                <a:latin typeface="Calibri" pitchFamily="34" charset="0"/>
                <a:ea typeface="Calibri" pitchFamily="34" charset="-122"/>
                <a:cs typeface="Calibri" pitchFamily="34" charset="-120"/>
              </a:rPr>
              <a:t> from a new pack. Describe how she could do this, and explain how her method makes the result as </a:t>
            </a:r>
            <a:r>
              <a:rPr lang="en-US" sz="1150" b="1" dirty="0">
                <a:solidFill>
                  <a:srgbClr val="262B3A"/>
                </a:solidFill>
                <a:latin typeface="Calibri" pitchFamily="34" charset="0"/>
                <a:ea typeface="Calibri" pitchFamily="34" charset="-122"/>
                <a:cs typeface="Calibri" pitchFamily="34" charset="-120"/>
              </a:rPr>
              <a:t>accurate</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precise</a:t>
            </a:r>
            <a:r>
              <a:rPr lang="en-US" sz="1150" dirty="0">
                <a:solidFill>
                  <a:srgbClr val="262B3A"/>
                </a:solidFill>
                <a:latin typeface="Calibri" pitchFamily="34" charset="0"/>
                <a:ea typeface="Calibri" pitchFamily="34" charset="-122"/>
                <a:cs typeface="Calibri" pitchFamily="34" charset="-120"/>
              </a:rPr>
              <a:t> as possible.</a:t>
            </a:r>
            <a:endParaRPr lang="en-US" sz="1150" dirty="0"/>
          </a:p>
        </p:txBody>
      </p:sp>
      <p:sp>
        <p:nvSpPr>
          <p:cNvPr id="23" name="Text 2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Edexcel 1PH0 Topic 1 Key concepts of physics</dc:title>
  <dc:subject>PptxGenJS Presentation</dc:subject>
  <dc:creator>GCSE Physics</dc:creator>
  <cp:lastModifiedBy>GCSE Physics</cp:lastModifiedBy>
  <cp:revision>1</cp:revision>
  <dcterms:created xsi:type="dcterms:W3CDTF">2026-11-01T23:15:15Z</dcterms:created>
  <dcterms:modified xsi:type="dcterms:W3CDTF">2026-11-01T23:15:15Z</dcterms:modified>
</cp:coreProperties>
</file>