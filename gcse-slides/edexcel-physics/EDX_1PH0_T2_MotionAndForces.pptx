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2 Motion and forces (Paper 1). Every statement 2.1–2.33 appears to be shared with Combined Science 1SC0 (no P statements found). Higher-only (H): 2.20–2.22, 2.24–2.26, 2.33, plus the momentum part of 2.23 and the force-estimate part of 2.31 – see SPEC_T2.md for confidence notes. Vectors, free body diagrams and resolution are taught in full in Topic 9; this deck only recaps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 pills mark objectives that are wholly or partly Higher only: 2.20–2.22, 2.24–2.26 (and the momentum link in 2.23). 2.31 (estimating forces) and 2.33 (braking work and v²) are also Higher – they carry HT pills on their slides. Confidence notes in SPEC_T2.md.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Physics-only statements: none found (medium confidence – the 1SC0 Topic 2 list appears identical). Higher-only (H): 2.20, 2.21, 2.22, 2.24, 2.25, 2.26, 2.33; partly H: 2.23 (relating the third law to conservation of momentum) and 2.31 (estimating the forces). Check the bold H markers in the Pearson spec PDF before publishing; see SPEC_T2.md.
Foundation-only classes can skip slides 21–22 and 30–32, and the HT parts of later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2400 m; 180 s.
2. 3.4 × 10⁵ m; 4.5 × 10⁻² s.
3. 600 ÷ 120 = 5 m/s.
4. 30 N to the right.
5. Mass is the amount of matter (kg) and is the same everywhere; weight is the force of gravity on it (N) and depends on g.
6. a = F ÷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Distance = 400 m; displacement = 0 m (finishes where she started).
Diagram: √(400² + 300²) = 500 m at 37° north of east (checked in node). The angle is not needed at this level; 2.4 lists displacement/distance, velocity/speed, acceleration, force, weight/mass, momentum, energy. Vector diagrams are taught fully in Topic 9 (9.2–9.3).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 = 120 s; d = s × t = 25 × 120 = 3 000 m (3.0 km).
Common error: forgetting to convert minutes to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average speed = total distance ÷ total time = 300 ÷ 50 = 6 m/s. The cyclist spends different times at each speed (and 10 s stopped), so you cannot just average the speeds.
Graph checked in node: A 5 m/s, B 0 m/s, C 10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Scalar has magnitude/size only, vector has magnitude and direction (1); one correct example of each, e.g. speed / velocity (1).
Q2 [3]: speed = distance ÷ time (1); = 450 ÷ 30 (1); = 15 m/s (1, unit needed).
Q3 [2]: Horizontal: object is stationary / not moving (1); steeper straight line: moving at a greater constant speed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 (5 − 25) ÷ 40 = -0.5 m/s². Negative → deceleration of 0.50 m/s².
Diagram positions are illustrative (uniform acceleration from a non-zero starting speed: gaps grow by the same amount each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straight line sloping down to the time axis; gradient = (0 − 20) ÷ 8.0 = -2.5 m/s² (deceleration 2.5 m/s²).
Spec 2.10(b): calculate acceleration from the gradient for uniform acceleration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triangle ½ × 6.0 × 12 = 36 m.
Average speed for the slide journey = 600 ÷ 40 = 15 m/s (checked). Tier: no H marker was found for 2.10(c) in our checks, so it is taught to both tiers – see SPEC_T2.md.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[3]: a = (v − u) ÷ t (1); = (8.0 − 2.0) ÷ 4.0 (1); = 1.5 m/s² (1, unit needed).
Q2 [2]: (i) acceleration (1); (ii) distance travelled (1).
Q3 [2]: area = ½ × 6.0 × 12 (1); = 36 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u = 0, so v² = 2 × a × x = 2 × 10 × 5.0 = 100; v = √100 = 10 m/s.
Common errors: squaring the difference (30 − 10)² instead of 30² − 10²; forgetting the square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0.050 ÷ 0.025 = 2.0 m/s. The time (0.025 s) is far shorter than a human reaction time (about 0.2 s), so a stopwatch reading would have a huge percentage error.
Other methods: ticker timer, video analysis with a scale, speed cameras / trundle wheel outdoors.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 = 1000 ÷ 1.5 ≈ 670 s ≈ 11 minutes. v = u + at = 0 + 10 × 2.0 = 20 m/s (from a = (v − u)/t).
Values are typical values used by Edexcel/revision sources; 2.12 asks students to recall typical speeds for wind, sound, walking, running, cycling and transport. Bar lengths are log10(speed)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[3]: u = 0 so v² = 2 × 10 × 20 (1); v² = 400 (1); v = 20 m/s (1).
Q2 [2]: (i) about 1.5 m/s (accept 1–2 m/s) (1); (ii) about 330 m/s (accept 300–350 m/s) (1).
Q3 [2]: No human reaction time in starting/stopping the timing (1); the time is very short so reaction time would be a large fraction / large percentage error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1500 N backwards – constant velocity means the resultant force is zero, so the forces are balanced (Newton’s first law).
Free body diagrams and resultant forces are taught fully in Topic 9 (9.4–9.5, Higher). Arrows here: 0.0004 in per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 = m × a = 70 × 3.0 = 210 N.
Extension: a 4.0 N resultant force on a 0.50 kg ball gives a = 8.0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 = W ÷ g = 650 ÷ 10 = 65 kg; mass on the Moon is still 65 kg (only the weight changes).
Note: g = 10 N/kg = 10 m/s² (the same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[2]: The resultant force is zero (1); driving force = resistive forces / forces are balanced (1).
Q2 [3]: a = F ÷ m (1); = 1800 ÷ 900 (1); = 2.0 m/s² (1).
Q3 [2]: newtonmeter / spring balance (1); W = 5.0 × 10 = 50 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ball moves off along the tangent (straight line, in the direction of its velocity at that instant – viewed from above), because there is no longer a centripetal force.
HT: 2.20 and 2.21 are Higher only (qualitative only; no F = mv²/r at GCSE). Save My Exams marks this content Higher Tier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full trolley has a greater inertial mass, so for the same force its deceleration is smaller (a = F/m); it takes a larger force or longer time to stop it.
HT: 2.22 is Higher only (medium-high confidence: 1SC0 checklist lists inertial mass as 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water pushes forwards on the swimmer with an equal-sized force (third law), so there is a forward force on her.
Skaters checked: 120/60 = 2 m/s², 120/40 = 3 m/s². Same force, same time → equal and opposite momenta (links to slide 31).
HT: the momentum part of 2.23 is treated as Higher (medium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[2]: Its direction is changing so its velocity is changing (velocity is a vector) (1); acceleration is the rate of change of velocity / there is a resultant (centripetal) force towards the centre (1).
Q2 [2]: m = F ÷ a = 6.0 ÷ 1.5 (1); = 4.0 kg (1).
Q3 [3]: Both forces act on the same object / the book (1); they are different types of force (1); the pair is the gravitational force of the book on the Earth (pulling the Earth up)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slope makes a component of weight balance friction, so the resultant force is the weight of the hanging masses. Moving masses keeps the total mass being accelerated (trolley + hanger) constant, so only the force changes.
Apparatus: dynamics trolley, runway, block, two light gates + data logger (or ticker timer / stopwatch with metre rule), card, bench pulley, string, mass hanger and 100 g / 10 g slotted masses, balance, (sand tray / buffer to catch the masses).
CP numbering: 2.19 in the spec (PMT calls it “CP 1 Newton’s Second Law”; Save My Exams “Core Practical: Investigating Force &amp; Acceleration”).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accelerating force – the hanging mass (its weight) must stay the same while the trolley mass is changed.
The Edexcel wording (“varying the masses added to trolleys”) covers both versions; exam questions use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0.90 × 1.07 = 0.96 N (2 s.f.). Plot a against 1/m – a straight line through the origin with gradient = F.
Sample data: a = 1.0/m − 0.04, rounded to 2 d.p. (asserted in node); each m × a lies within 6% of 1.0 N.
For part 2 (vary F, total mass 1.0 kg) the theory gives a = F: 0.2, 0.4 … 1.0 m/s² – a straight line through the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Systematic (all results shifted the same way). Likely cause: friction not fully compensated (runway not tilted enough), or the hanging mass left out of the total mass.
Ticker-timer alternative: tape with dots at 0.02 s intervals; spacing gives speeds.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7 marks)
Q1 [2]: To compensate for / balance friction (1); so the resultant force on the trolley equals the weight of the hanging masses / trolley moves at constant speed with no pull (1).
Q2 [3]: v = 0.10 ÷ 0.050 = 2.0 m/s (1); a = (2.0 − 0.50) ÷ 0.75 (1); = 2.0 m/s² (1).
Q3 [2]: Keeps the total mass being accelerated constant (1); so only the force changes / it is a fair test of a ∝ 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 = 0.16 × 25 = 4.0 kg m/s.
HT: 2.24 “Define momentum, recall and use p = m × v” is Higher only (1SC0 checklist marks momentum 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total p before = 0; after: 40 × 3.0 = 120 kg m/s, so A has −120 kg m/s: v = 120 ÷ 60 = 2.0 m/s in the opposite direction.
This matches slide 23: a 120 N push for 1.0 s gives 120 kg m/s to each skater.
HT: 2.25 and the momentum part of 2.23 are Higher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 = (0.45 × 20 − 0) ÷ 0.010 = 900 N.
Bars to scale: 18 000/0.05 = 360 000 N; 18 000/0.20 = 90 000 N.
HT: 2.26 is Higher only; “Use” → the equation is GIVEN on the equation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7 (total 8 marks)
Q1 [2]: p = m × v = 0.40 × 5.0 (1); = 2.0 kg m/s (1, unit needed).
Q2 [3]: momentum before = 1500 × 8.0 = 12 000 kg m/s (1); 12 000 = (1500 + 500) × v (1); v = 6.0 m/s (1).
Q3 [3]: Increases the time taken for the driver to stop (1); the change in momentum is the same (1); force = change in momentum ÷ time, so the force is smaller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e.g. the catcher anticipates the drop; fingers not at the same start position; different hand used; tiredness. Improve: random timing of release, same start position and hand, repeat 5+ times and average, discard anomalies.
Conversion table checked in node: d = ½ × 10 × t² (5 cm ↔ 0.10 s, 11 cm ↔ 0.15 s, 20 cm ↔ 0.20 s, 31 cm ↔ 0.25 s). Students do not need this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Reaction time increases, so the thinking distance increases. The braking distance is unchanged (it depends on the car, road and speed, not the driver).
Model used: reaction time 0.70 s, braking deceleration 6.25 m/s² (asserted): at 20 m/s, 14 m + 32 m = 46 m (Highway Code at 40–50 mph: 12–15 m thinking, 24–38 m braking).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72 ÷ 8 = 9 = 3². Braking distance is proportional to speed squared (the kinetic energy to remove is proportional to v²).
Model values asserted in node: thinking = 0.70 v; braking = v² ÷ 12.5. mph conversions ×2.237. Highway Code (UK) typical stopping distances: 20 mph 12 m, 30 mph 23 m, 40 mph 36 m, 50 mph 53 m, 60 mph 73 m, 70 mph 96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 6 ÷ 0.1 = 60 m/s²; F = 80 × 60 ≈ 4800 N (about 5000 N).
Values asserted in node: 20/3.0 ≈ 6.7 m/s² (400 N); 20/0.20 = 100 m/s² (6000 N); 20/0.05 = 400 m/s² (24 000 N).
Tier: a 1SC0 checklist lists “explain the dangers caused by large decelerations” for both tiers and “estimate the forces involved” as HT only, so the slide carries an HT pill for the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KE = ½ × 1000 × 15² = 112 500 J; d = 112 500 ÷ 5000 = 22.5 m.
Curve: d = ½ × 1200 × v² ÷ 6000 = v²/10 (asserted at 20, 30 and 40 m/s).
HT: 2.33 is Higher only (medium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8 (total 8 marks)
Q1 [3]: thinking distance + braking distance (1); thinking: e.g. tiredness / alcohol / drugs / distraction / higher speed (1); braking: e.g. wet or icy road / worn tyres / worn brakes / greater mass / higher speed (1).
Q2 [2]: Partner drops a ruler without warning; person catches it as quickly as possible (1); measure distance fallen and convert to a time using a table / repeat and average (1).
Q3 [3]: KE = ½ × 1000 × 20² = 200 000 J (1); F × d = KE so d = 200 000 ÷ 5000 (1); = 40 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self-check against the table. Recall: average speed = distance ÷ time; a = (v − u)/t; F = ma; W = mg; p = mv (H). Given: v² − u² = 2ax; F = (mv − mu)/t (H). Links used on slide 38: KE = ½ × m × v² (Topic 3, recall) and work done E = F × d (Topic 8, recall). See SPEC_T2.md for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(H) terms are Higher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acceleration = change in velocity ÷ time taken / a = (v − u) ÷ t (1).
(b) [2]: a = (15 − 0) ÷ 6.0 (1); = 2.5 m/s² (1).
(c) [2]: F = m × a = 1200 × 2.5 (1); = 3000 N (1). ECF from (b).
(d) [3]: x = (v² − u²) ÷ 2a (1); = (15² − 0) ÷ (2 × 2.5) (1); = 45 m (1). ECF from (b). Alternative: area under v–t graph = ½ × 6.0 × 15 = 45 m.
(e) [2]: Reaction time increases so thinking distance increases (1); braking distance unchanged, so stopping distance increases (1).
(f) [3]: p = 1200 × 15 = 18 000 kg m/s (1); F = change in momentum ÷ t = 18 000 ÷ 0.30 (1); = 60 000 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[2]: Speed is a scalar / has size only (1); velocity is a vector: speed in a stated direction (1).
2 [3]: d = 3000 m and t = 600 s (1); s = 3000 ÷ 600 (1); = 5.0 m/s (1).
3 [2]: F = m × a = 70 × 4.0 (1); = 280 N (1).
4 [4]: p before = 0.80 × 2.5 = 2.0 kg m/s (1); momentum is conserved (1); 2.0 = (0.80 + 1.2) × v (1); v = 1.0 m/s (1).
5 [6]: Levels-based mark scheme (6 marks). Answers are marked holistically; use the indicative content below.
Level 0 (0 marks): no rewardable material.
Level 1 (1–2 marks): demonstrates elements of physics understanding, some of which is inaccurate; understanding of scientific ideas lacks detail; presents an explanation with some structure and coherence.
Level 2 (3–4 marks): demonstrates physics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physics understanding throughout; understanding of the scientific ideas is detailed and fully developed; presents an explanation that has a well-developed structure which is clear, coherent and logical.
Indicative content:
 • Stopping distance = thinking distance + braking distance.
 • Thinking distance = distance travelled during the reaction time.
 • Driver: tiredness, alcohol, drugs, distractions (phone) increase reaction time → longer thinking distance.
 • Car: worn brakes, worn tyres, greater mass (heavy load) → longer braking distance.
 • Road: wet, icy, oily or loose surfaces reduce friction between tyres and road → longer braking distance.
 • Higher speed → thinking distance increases in proportion to speed.
 • Braking distance increases with speed squared (doubling speed → four times the braking distance).
 • Because kinetic energy ∝ v² and the work done by the brakes (F × d) must equal the kinetic energy.
 • So at high speed braking distance is the larger part of the stopping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PEARSON EDEXCEL GCSE PHYSICS (1PH0)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2  Motion and Forces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Describing motion, Newton’s laws, momentum and stopping distances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Speed  •  Acceleration  •  Motion graphs  •  Newton’s laws  •  Momentum  •  Stopping distance</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2.1–2.33 • Core Practical 2.19 (force, mass and acceleration)</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Higher-only content carries a red HT pill</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2 of 15 • Paper 1</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Pearson Edexcel GCSE (9–1) Physics 1PH0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2.1–2.33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2.1–2.6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scalars and vectors</a:t>
            </a:r>
            <a:r>
              <a:rPr lang="en-US" sz="1200" dirty="0">
                <a:solidFill>
                  <a:srgbClr val="262B3A"/>
                </a:solidFill>
                <a:latin typeface="Calibri" pitchFamily="34" charset="0"/>
                <a:ea typeface="Calibri" pitchFamily="34" charset="-122"/>
                <a:cs typeface="Calibri" pitchFamily="34" charset="-120"/>
              </a:rPr>
              <a:t>; use </a:t>
            </a:r>
            <a:r>
              <a:rPr lang="en-US" sz="1200" b="1" dirty="0">
                <a:solidFill>
                  <a:srgbClr val="262B3A"/>
                </a:solidFill>
                <a:latin typeface="Calibri" pitchFamily="34" charset="0"/>
                <a:ea typeface="Calibri" pitchFamily="34" charset="-122"/>
                <a:cs typeface="Calibri" pitchFamily="34" charset="-120"/>
              </a:rPr>
              <a:t>average speed = distance ÷ time</a:t>
            </a:r>
            <a:r>
              <a:rPr lang="en-US" sz="1200" dirty="0">
                <a:solidFill>
                  <a:srgbClr val="262B3A"/>
                </a:solidFill>
                <a:latin typeface="Calibri" pitchFamily="34" charset="0"/>
                <a:ea typeface="Calibri" pitchFamily="34" charset="-122"/>
                <a:cs typeface="Calibri" pitchFamily="34" charset="-120"/>
              </a:rPr>
              <a:t>; know that velocity is speed in a stated direction.</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2.7–2.10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a = (v − u) ÷ t</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v² − u² = 2ax</a:t>
            </a:r>
            <a:r>
              <a:rPr lang="en-US" sz="1200" dirty="0">
                <a:solidFill>
                  <a:srgbClr val="262B3A"/>
                </a:solidFill>
                <a:latin typeface="Calibri" pitchFamily="34" charset="0"/>
                <a:ea typeface="Calibri" pitchFamily="34" charset="-122"/>
                <a:cs typeface="Calibri" pitchFamily="34" charset="-120"/>
              </a:rPr>
              <a:t>; analyse </a:t>
            </a:r>
            <a:r>
              <a:rPr lang="en-US" sz="1200" b="1" dirty="0">
                <a:solidFill>
                  <a:srgbClr val="262B3A"/>
                </a:solidFill>
                <a:latin typeface="Calibri" pitchFamily="34" charset="0"/>
                <a:ea typeface="Calibri" pitchFamily="34" charset="-122"/>
                <a:cs typeface="Calibri" pitchFamily="34" charset="-120"/>
              </a:rPr>
              <a:t>distance–time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velocity–time</a:t>
            </a:r>
            <a:r>
              <a:rPr lang="en-US" sz="1200" dirty="0">
                <a:solidFill>
                  <a:srgbClr val="262B3A"/>
                </a:solidFill>
                <a:latin typeface="Calibri" pitchFamily="34" charset="0"/>
                <a:ea typeface="Calibri" pitchFamily="34" charset="-122"/>
                <a:cs typeface="Calibri" pitchFamily="34" charset="-120"/>
              </a:rPr>
              <a:t> graphs.</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2.11–2.13   </a:t>
            </a:r>
            <a:r>
              <a:rPr lang="en-US" sz="1200" dirty="0">
                <a:solidFill>
                  <a:srgbClr val="262B3A"/>
                </a:solidFill>
                <a:latin typeface="Calibri" pitchFamily="34" charset="0"/>
                <a:ea typeface="Calibri" pitchFamily="34" charset="-122"/>
                <a:cs typeface="Calibri" pitchFamily="34" charset="-120"/>
              </a:rPr>
              <a:t>Describe how to </a:t>
            </a:r>
            <a:r>
              <a:rPr lang="en-US" sz="1200" b="1" dirty="0">
                <a:solidFill>
                  <a:srgbClr val="262B3A"/>
                </a:solidFill>
                <a:latin typeface="Calibri" pitchFamily="34" charset="0"/>
                <a:ea typeface="Calibri" pitchFamily="34" charset="-122"/>
                <a:cs typeface="Calibri" pitchFamily="34" charset="-120"/>
              </a:rPr>
              <a:t>measure speed</a:t>
            </a:r>
            <a:r>
              <a:rPr lang="en-US" sz="1200" dirty="0">
                <a:solidFill>
                  <a:srgbClr val="262B3A"/>
                </a:solidFill>
                <a:latin typeface="Calibri" pitchFamily="34" charset="0"/>
                <a:ea typeface="Calibri" pitchFamily="34" charset="-122"/>
                <a:cs typeface="Calibri" pitchFamily="34" charset="-120"/>
              </a:rPr>
              <a:t> (light gates); recall </a:t>
            </a:r>
            <a:r>
              <a:rPr lang="en-US" sz="1200" b="1" dirty="0">
                <a:solidFill>
                  <a:srgbClr val="262B3A"/>
                </a:solidFill>
                <a:latin typeface="Calibri" pitchFamily="34" charset="0"/>
                <a:ea typeface="Calibri" pitchFamily="34" charset="-122"/>
                <a:cs typeface="Calibri" pitchFamily="34" charset="-120"/>
              </a:rPr>
              <a:t>typical speeds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g = 10 m/s²</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2.14–2.18   </a:t>
            </a:r>
            <a:r>
              <a:rPr lang="en-US" sz="1200" dirty="0">
                <a:solidFill>
                  <a:srgbClr val="262B3A"/>
                </a:solidFill>
                <a:latin typeface="Calibri" pitchFamily="34" charset="0"/>
                <a:ea typeface="Calibri" pitchFamily="34" charset="-122"/>
                <a:cs typeface="Calibri" pitchFamily="34" charset="-120"/>
              </a:rPr>
              <a:t>Apply </a:t>
            </a:r>
            <a:r>
              <a:rPr lang="en-US" sz="1200" b="1" dirty="0">
                <a:solidFill>
                  <a:srgbClr val="262B3A"/>
                </a:solidFill>
                <a:latin typeface="Calibri" pitchFamily="34" charset="0"/>
                <a:ea typeface="Calibri" pitchFamily="34" charset="-122"/>
                <a:cs typeface="Calibri" pitchFamily="34" charset="-120"/>
              </a:rPr>
              <a:t>Newton’s first and second laws</a:t>
            </a:r>
            <a:r>
              <a:rPr lang="en-US" sz="1200" dirty="0">
                <a:solidFill>
                  <a:srgbClr val="262B3A"/>
                </a:solidFill>
                <a:latin typeface="Calibri" pitchFamily="34" charset="0"/>
                <a:ea typeface="Calibri" pitchFamily="34" charset="-122"/>
                <a:cs typeface="Calibri" pitchFamily="34" charset="-120"/>
              </a:rPr>
              <a:t>; use </a:t>
            </a:r>
            <a:r>
              <a:rPr lang="en-US" sz="1200" b="1" dirty="0">
                <a:solidFill>
                  <a:srgbClr val="262B3A"/>
                </a:solidFill>
                <a:latin typeface="Calibri" pitchFamily="34" charset="0"/>
                <a:ea typeface="Calibri" pitchFamily="34" charset="-122"/>
                <a:cs typeface="Calibri" pitchFamily="34" charset="-120"/>
              </a:rPr>
              <a:t>F = m × a</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W = m × g</a:t>
            </a:r>
            <a:r>
              <a:rPr lang="en-US" sz="1200" dirty="0">
                <a:solidFill>
                  <a:srgbClr val="262B3A"/>
                </a:solidFill>
                <a:latin typeface="Calibri" pitchFamily="34" charset="0"/>
                <a:ea typeface="Calibri" pitchFamily="34" charset="-122"/>
                <a:cs typeface="Calibri" pitchFamily="34" charset="-120"/>
              </a:rPr>
              <a:t>; describe how weight is measured.</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2.19   </a:t>
            </a:r>
            <a:r>
              <a:rPr lang="en-US" sz="1200" b="1" dirty="0">
                <a:solidFill>
                  <a:srgbClr val="262B3A"/>
                </a:solidFill>
                <a:latin typeface="Calibri" pitchFamily="34" charset="0"/>
                <a:ea typeface="Calibri" pitchFamily="34" charset="-122"/>
                <a:cs typeface="Calibri" pitchFamily="34" charset="-120"/>
              </a:rPr>
              <a:t>Core Practical:</a:t>
            </a:r>
            <a:r>
              <a:rPr lang="en-US" sz="1200" dirty="0">
                <a:solidFill>
                  <a:srgbClr val="262B3A"/>
                </a:solidFill>
                <a:latin typeface="Calibri" pitchFamily="34" charset="0"/>
                <a:ea typeface="Calibri" pitchFamily="34" charset="-122"/>
                <a:cs typeface="Calibri" pitchFamily="34" charset="-120"/>
              </a:rPr>
              <a:t> investigate force, mass and acceleration by varying the masses added to trolleys.</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2.20–2.22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circular motion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centripetal force</a:t>
            </a:r>
            <a:r>
              <a:rPr lang="en-US" sz="1200" dirty="0">
                <a:solidFill>
                  <a:srgbClr val="262B3A"/>
                </a:solidFill>
                <a:latin typeface="Calibri" pitchFamily="34" charset="0"/>
                <a:ea typeface="Calibri" pitchFamily="34" charset="-122"/>
                <a:cs typeface="Calibri" pitchFamily="34" charset="-120"/>
              </a:rPr>
              <a:t>; define </a:t>
            </a:r>
            <a:r>
              <a:rPr lang="en-US" sz="1200" b="1" dirty="0">
                <a:solidFill>
                  <a:srgbClr val="262B3A"/>
                </a:solidFill>
                <a:latin typeface="Calibri" pitchFamily="34" charset="0"/>
                <a:ea typeface="Calibri" pitchFamily="34" charset="-122"/>
                <a:cs typeface="Calibri" pitchFamily="34" charset="-120"/>
              </a:rPr>
              <a:t>inertial mass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11018520" y="2633472"/>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01852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Shape 26"/>
          <p:cNvSpPr/>
          <p:nvPr/>
        </p:nvSpPr>
        <p:spPr>
          <a:xfrm>
            <a:off x="6263640" y="3063240"/>
            <a:ext cx="457200" cy="457200"/>
          </a:xfrm>
          <a:prstGeom prst="ellipse">
            <a:avLst/>
          </a:prstGeom>
          <a:solidFill>
            <a:srgbClr val="2E5BD8"/>
          </a:solidFill>
          <a:ln w="12700">
            <a:solidFill>
              <a:srgbClr val="2E5BD8"/>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2.23–2.26   </a:t>
            </a:r>
            <a:r>
              <a:rPr lang="en-US" sz="1200" dirty="0">
                <a:solidFill>
                  <a:srgbClr val="262B3A"/>
                </a:solidFill>
                <a:latin typeface="Calibri" pitchFamily="34" charset="0"/>
                <a:ea typeface="Calibri" pitchFamily="34" charset="-122"/>
                <a:cs typeface="Calibri" pitchFamily="34" charset="-120"/>
              </a:rPr>
              <a:t>Apply </a:t>
            </a:r>
            <a:r>
              <a:rPr lang="en-US" sz="1200" b="1" dirty="0">
                <a:solidFill>
                  <a:srgbClr val="262B3A"/>
                </a:solidFill>
                <a:latin typeface="Calibri" pitchFamily="34" charset="0"/>
                <a:ea typeface="Calibri" pitchFamily="34" charset="-122"/>
                <a:cs typeface="Calibri" pitchFamily="34" charset="-120"/>
              </a:rPr>
              <a:t>Newton’s third law</a:t>
            </a:r>
            <a:r>
              <a:rPr lang="en-US" sz="1200" dirty="0">
                <a:solidFill>
                  <a:srgbClr val="262B3A"/>
                </a:solidFill>
                <a:latin typeface="Calibri" pitchFamily="34" charset="0"/>
                <a:ea typeface="Calibri" pitchFamily="34" charset="-122"/>
                <a:cs typeface="Calibri" pitchFamily="34" charset="-120"/>
              </a:rPr>
              <a:t>; use </a:t>
            </a:r>
            <a:r>
              <a:rPr lang="en-US" sz="1200" b="1" dirty="0">
                <a:solidFill>
                  <a:srgbClr val="262B3A"/>
                </a:solidFill>
                <a:latin typeface="Calibri" pitchFamily="34" charset="0"/>
                <a:ea typeface="Calibri" pitchFamily="34" charset="-122"/>
                <a:cs typeface="Calibri" pitchFamily="34" charset="-120"/>
              </a:rPr>
              <a:t>p = m × v</a:t>
            </a:r>
            <a:r>
              <a:rPr lang="en-US" sz="1200" dirty="0">
                <a:solidFill>
                  <a:srgbClr val="262B3A"/>
                </a:solidFill>
                <a:latin typeface="Calibri" pitchFamily="34" charset="0"/>
                <a:ea typeface="Calibri" pitchFamily="34" charset="-122"/>
                <a:cs typeface="Calibri" pitchFamily="34" charset="-120"/>
              </a:rPr>
              <a:t>, conservation of momentum and </a:t>
            </a:r>
            <a:r>
              <a:rPr lang="en-US" sz="1200" b="1" dirty="0">
                <a:solidFill>
                  <a:srgbClr val="262B3A"/>
                </a:solidFill>
                <a:latin typeface="Calibri" pitchFamily="34" charset="0"/>
                <a:ea typeface="Calibri" pitchFamily="34" charset="-122"/>
                <a:cs typeface="Calibri" pitchFamily="34" charset="-120"/>
              </a:rPr>
              <a:t>F = Δp ÷ t</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11018520" y="3502152"/>
            <a:ext cx="411480" cy="274320"/>
          </a:xfrm>
          <a:prstGeom prst="roundRect">
            <a:avLst>
              <a:gd name="adj" fmla="val 50000"/>
            </a:avLst>
          </a:prstGeom>
          <a:solidFill>
            <a:srgbClr val="C8414C"/>
          </a:solidFill>
          <a:ln w="12700">
            <a:solidFill>
              <a:srgbClr val="C8414C"/>
            </a:solidFill>
            <a:prstDash val="solid"/>
          </a:ln>
        </p:spPr>
      </p:sp>
      <p:sp>
        <p:nvSpPr>
          <p:cNvPr id="32" name="Text 30"/>
          <p:cNvSpPr/>
          <p:nvPr/>
        </p:nvSpPr>
        <p:spPr>
          <a:xfrm>
            <a:off x="1101852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3" name="Shape 31"/>
          <p:cNvSpPr/>
          <p:nvPr/>
        </p:nvSpPr>
        <p:spPr>
          <a:xfrm>
            <a:off x="6263640" y="3931920"/>
            <a:ext cx="457200" cy="457200"/>
          </a:xfrm>
          <a:prstGeom prst="ellipse">
            <a:avLst/>
          </a:prstGeom>
          <a:solidFill>
            <a:srgbClr val="2E5BD8"/>
          </a:solidFill>
          <a:ln w="12700">
            <a:solidFill>
              <a:srgbClr val="2E5BD8"/>
            </a:solidFill>
            <a:prstDash val="solid"/>
          </a:ln>
        </p:spPr>
      </p:sp>
      <p:sp>
        <p:nvSpPr>
          <p:cNvPr id="34" name="Text 32"/>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5" name="Text 33"/>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2.27–2.33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reaction times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stopping distances</a:t>
            </a:r>
            <a:r>
              <a:rPr lang="en-US" sz="1200" dirty="0">
                <a:solidFill>
                  <a:srgbClr val="262B3A"/>
                </a:solidFill>
                <a:latin typeface="Calibri" pitchFamily="34" charset="0"/>
                <a:ea typeface="Calibri" pitchFamily="34" charset="-122"/>
                <a:cs typeface="Calibri" pitchFamily="34" charset="-120"/>
              </a:rPr>
              <a:t>, large decelerations and braking work done.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2.1–2.33 • Topic 2 is assessed on Paper 1</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1A2340"/>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2</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Motion and forces</a:t>
            </a:r>
            <a:endParaRPr lang="en-US" sz="1200" dirty="0"/>
          </a:p>
        </p:txBody>
      </p:sp>
      <p:sp>
        <p:nvSpPr>
          <p:cNvPr id="10" name="Shape 8"/>
          <p:cNvSpPr/>
          <p:nvPr/>
        </p:nvSpPr>
        <p:spPr>
          <a:xfrm>
            <a:off x="914400" y="1828800"/>
            <a:ext cx="91" cy="3785616"/>
          </a:xfrm>
          <a:prstGeom prst="line">
            <a:avLst/>
          </a:prstGeom>
          <a:noFill/>
          <a:ln w="19050">
            <a:solidFill>
              <a:srgbClr val="2E5BD8"/>
            </a:solidFill>
            <a:prstDash val="solid"/>
          </a:ln>
        </p:spPr>
      </p:sp>
      <p:sp>
        <p:nvSpPr>
          <p:cNvPr id="11" name="Shape 9"/>
          <p:cNvSpPr/>
          <p:nvPr/>
        </p:nvSpPr>
        <p:spPr>
          <a:xfrm>
            <a:off x="914400" y="2212848"/>
            <a:ext cx="411480" cy="91"/>
          </a:xfrm>
          <a:prstGeom prst="line">
            <a:avLst/>
          </a:prstGeom>
          <a:noFill/>
          <a:ln w="19050">
            <a:solidFill>
              <a:srgbClr val="2E5BD8"/>
            </a:solidFill>
            <a:prstDash val="solid"/>
          </a:ln>
        </p:spPr>
      </p:sp>
      <p:sp>
        <p:nvSpPr>
          <p:cNvPr id="12" name="Shape 10"/>
          <p:cNvSpPr/>
          <p:nvPr/>
        </p:nvSpPr>
        <p:spPr>
          <a:xfrm>
            <a:off x="1325880" y="1965960"/>
            <a:ext cx="5120640" cy="493776"/>
          </a:xfrm>
          <a:prstGeom prst="roundRect">
            <a:avLst>
              <a:gd name="adj" fmla="val 9259"/>
            </a:avLst>
          </a:prstGeom>
          <a:solidFill>
            <a:srgbClr val="F5F8FE"/>
          </a:solidFill>
          <a:ln w="12700">
            <a:solidFill>
              <a:srgbClr val="D5DCEB"/>
            </a:solidFill>
            <a:prstDash val="solid"/>
          </a:ln>
        </p:spPr>
      </p:sp>
      <p:sp>
        <p:nvSpPr>
          <p:cNvPr id="13" name="Text 11"/>
          <p:cNvSpPr/>
          <p:nvPr/>
        </p:nvSpPr>
        <p:spPr>
          <a:xfrm>
            <a:off x="1463040" y="1965960"/>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2.1–2.7   </a:t>
            </a:r>
            <a:r>
              <a:rPr lang="en-US" sz="1100" dirty="0">
                <a:solidFill>
                  <a:srgbClr val="262B3A"/>
                </a:solidFill>
                <a:latin typeface="Calibri" pitchFamily="34" charset="0"/>
                <a:ea typeface="Calibri" pitchFamily="34" charset="-122"/>
                <a:cs typeface="Calibri" pitchFamily="34" charset="-120"/>
              </a:rPr>
              <a:t>Scalars, vectors, speed, distance–time graphs</a:t>
            </a:r>
            <a:endParaRPr lang="en-US" sz="1100" dirty="0"/>
          </a:p>
        </p:txBody>
      </p:sp>
      <p:sp>
        <p:nvSpPr>
          <p:cNvPr id="14" name="Shape 12"/>
          <p:cNvSpPr/>
          <p:nvPr/>
        </p:nvSpPr>
        <p:spPr>
          <a:xfrm>
            <a:off x="5166360" y="2075688"/>
            <a:ext cx="118872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166360" y="207568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2779776"/>
            <a:ext cx="411480" cy="91"/>
          </a:xfrm>
          <a:prstGeom prst="line">
            <a:avLst/>
          </a:prstGeom>
          <a:noFill/>
          <a:ln w="19050">
            <a:solidFill>
              <a:srgbClr val="2E5BD8"/>
            </a:solidFill>
            <a:prstDash val="solid"/>
          </a:ln>
        </p:spPr>
      </p:sp>
      <p:sp>
        <p:nvSpPr>
          <p:cNvPr id="17" name="Shape 15"/>
          <p:cNvSpPr/>
          <p:nvPr/>
        </p:nvSpPr>
        <p:spPr>
          <a:xfrm>
            <a:off x="1325880" y="2532888"/>
            <a:ext cx="5120640" cy="493776"/>
          </a:xfrm>
          <a:prstGeom prst="roundRect">
            <a:avLst>
              <a:gd name="adj" fmla="val 9259"/>
            </a:avLst>
          </a:prstGeom>
          <a:solidFill>
            <a:srgbClr val="F5F8FE"/>
          </a:solidFill>
          <a:ln w="12700">
            <a:solidFill>
              <a:srgbClr val="D5DCEB"/>
            </a:solidFill>
            <a:prstDash val="solid"/>
          </a:ln>
        </p:spPr>
      </p:sp>
      <p:sp>
        <p:nvSpPr>
          <p:cNvPr id="18" name="Text 16"/>
          <p:cNvSpPr/>
          <p:nvPr/>
        </p:nvSpPr>
        <p:spPr>
          <a:xfrm>
            <a:off x="1463040" y="2532888"/>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2.8–2.13   </a:t>
            </a:r>
            <a:r>
              <a:rPr lang="en-US" sz="1100" dirty="0">
                <a:solidFill>
                  <a:srgbClr val="262B3A"/>
                </a:solidFill>
                <a:latin typeface="Calibri" pitchFamily="34" charset="0"/>
                <a:ea typeface="Calibri" pitchFamily="34" charset="-122"/>
                <a:cs typeface="Calibri" pitchFamily="34" charset="-120"/>
              </a:rPr>
              <a:t>Acceleration, v–t graphs, v² − u² = 2ax, g</a:t>
            </a:r>
            <a:endParaRPr lang="en-US" sz="1100" dirty="0"/>
          </a:p>
        </p:txBody>
      </p:sp>
      <p:sp>
        <p:nvSpPr>
          <p:cNvPr id="19" name="Shape 17"/>
          <p:cNvSpPr/>
          <p:nvPr/>
        </p:nvSpPr>
        <p:spPr>
          <a:xfrm>
            <a:off x="5166360" y="2642616"/>
            <a:ext cx="118872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166360" y="264261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346704"/>
            <a:ext cx="411480" cy="91"/>
          </a:xfrm>
          <a:prstGeom prst="line">
            <a:avLst/>
          </a:prstGeom>
          <a:noFill/>
          <a:ln w="19050">
            <a:solidFill>
              <a:srgbClr val="2E5BD8"/>
            </a:solidFill>
            <a:prstDash val="solid"/>
          </a:ln>
        </p:spPr>
      </p:sp>
      <p:sp>
        <p:nvSpPr>
          <p:cNvPr id="22" name="Shape 20"/>
          <p:cNvSpPr/>
          <p:nvPr/>
        </p:nvSpPr>
        <p:spPr>
          <a:xfrm>
            <a:off x="1325880" y="3099816"/>
            <a:ext cx="5120640" cy="493776"/>
          </a:xfrm>
          <a:prstGeom prst="roundRect">
            <a:avLst>
              <a:gd name="adj" fmla="val 9259"/>
            </a:avLst>
          </a:prstGeom>
          <a:solidFill>
            <a:srgbClr val="F5F8FE"/>
          </a:solidFill>
          <a:ln w="12700">
            <a:solidFill>
              <a:srgbClr val="D5DCEB"/>
            </a:solidFill>
            <a:prstDash val="solid"/>
          </a:ln>
        </p:spPr>
      </p:sp>
      <p:sp>
        <p:nvSpPr>
          <p:cNvPr id="23" name="Text 21"/>
          <p:cNvSpPr/>
          <p:nvPr/>
        </p:nvSpPr>
        <p:spPr>
          <a:xfrm>
            <a:off x="1463040" y="3099816"/>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2.14–2.18   </a:t>
            </a:r>
            <a:r>
              <a:rPr lang="en-US" sz="1100" dirty="0">
                <a:solidFill>
                  <a:srgbClr val="262B3A"/>
                </a:solidFill>
                <a:latin typeface="Calibri" pitchFamily="34" charset="0"/>
                <a:ea typeface="Calibri" pitchFamily="34" charset="-122"/>
                <a:cs typeface="Calibri" pitchFamily="34" charset="-120"/>
              </a:rPr>
              <a:t>Newton’s first and second laws; weight</a:t>
            </a:r>
            <a:endParaRPr lang="en-US" sz="1100" dirty="0"/>
          </a:p>
        </p:txBody>
      </p:sp>
      <p:sp>
        <p:nvSpPr>
          <p:cNvPr id="24" name="Shape 22"/>
          <p:cNvSpPr/>
          <p:nvPr/>
        </p:nvSpPr>
        <p:spPr>
          <a:xfrm>
            <a:off x="5166360" y="3209544"/>
            <a:ext cx="118872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166360" y="3209544"/>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3913632"/>
            <a:ext cx="411480" cy="91"/>
          </a:xfrm>
          <a:prstGeom prst="line">
            <a:avLst/>
          </a:prstGeom>
          <a:noFill/>
          <a:ln w="19050">
            <a:solidFill>
              <a:srgbClr val="2E5BD8"/>
            </a:solidFill>
            <a:prstDash val="solid"/>
          </a:ln>
        </p:spPr>
      </p:sp>
      <p:sp>
        <p:nvSpPr>
          <p:cNvPr id="27" name="Shape 25"/>
          <p:cNvSpPr/>
          <p:nvPr/>
        </p:nvSpPr>
        <p:spPr>
          <a:xfrm>
            <a:off x="1325880" y="3666744"/>
            <a:ext cx="5120640" cy="493776"/>
          </a:xfrm>
          <a:prstGeom prst="roundRect">
            <a:avLst>
              <a:gd name="adj" fmla="val 9259"/>
            </a:avLst>
          </a:prstGeom>
          <a:solidFill>
            <a:srgbClr val="F5F8FE"/>
          </a:solidFill>
          <a:ln w="12700">
            <a:solidFill>
              <a:srgbClr val="D5DCEB"/>
            </a:solidFill>
            <a:prstDash val="solid"/>
          </a:ln>
        </p:spPr>
      </p:sp>
      <p:sp>
        <p:nvSpPr>
          <p:cNvPr id="28" name="Text 26"/>
          <p:cNvSpPr/>
          <p:nvPr/>
        </p:nvSpPr>
        <p:spPr>
          <a:xfrm>
            <a:off x="1463040" y="3666744"/>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2.19   </a:t>
            </a:r>
            <a:r>
              <a:rPr lang="en-US" sz="1100" dirty="0">
                <a:solidFill>
                  <a:srgbClr val="262B3A"/>
                </a:solidFill>
                <a:latin typeface="Calibri" pitchFamily="34" charset="0"/>
                <a:ea typeface="Calibri" pitchFamily="34" charset="-122"/>
                <a:cs typeface="Calibri" pitchFamily="34" charset="-120"/>
              </a:rPr>
              <a:t>Core Practical: force, mass and acceleration</a:t>
            </a:r>
            <a:endParaRPr lang="en-US" sz="1100" dirty="0"/>
          </a:p>
        </p:txBody>
      </p:sp>
      <p:sp>
        <p:nvSpPr>
          <p:cNvPr id="29" name="Shape 27"/>
          <p:cNvSpPr/>
          <p:nvPr/>
        </p:nvSpPr>
        <p:spPr>
          <a:xfrm>
            <a:off x="5166360" y="3776472"/>
            <a:ext cx="1188720"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166360" y="3776472"/>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31" name="Shape 29"/>
          <p:cNvSpPr/>
          <p:nvPr/>
        </p:nvSpPr>
        <p:spPr>
          <a:xfrm>
            <a:off x="914400" y="4480560"/>
            <a:ext cx="411480" cy="91"/>
          </a:xfrm>
          <a:prstGeom prst="line">
            <a:avLst/>
          </a:prstGeom>
          <a:noFill/>
          <a:ln w="19050">
            <a:solidFill>
              <a:srgbClr val="2E5BD8"/>
            </a:solidFill>
            <a:prstDash val="solid"/>
          </a:ln>
        </p:spPr>
      </p:sp>
      <p:sp>
        <p:nvSpPr>
          <p:cNvPr id="32" name="Shape 30"/>
          <p:cNvSpPr/>
          <p:nvPr/>
        </p:nvSpPr>
        <p:spPr>
          <a:xfrm>
            <a:off x="1325880" y="4233672"/>
            <a:ext cx="5120640" cy="493776"/>
          </a:xfrm>
          <a:prstGeom prst="roundRect">
            <a:avLst>
              <a:gd name="adj" fmla="val 9259"/>
            </a:avLst>
          </a:prstGeom>
          <a:solidFill>
            <a:srgbClr val="F5F8FE"/>
          </a:solidFill>
          <a:ln w="12700">
            <a:solidFill>
              <a:srgbClr val="D5DCEB"/>
            </a:solidFill>
            <a:prstDash val="solid"/>
          </a:ln>
        </p:spPr>
      </p:sp>
      <p:sp>
        <p:nvSpPr>
          <p:cNvPr id="33" name="Text 31"/>
          <p:cNvSpPr/>
          <p:nvPr/>
        </p:nvSpPr>
        <p:spPr>
          <a:xfrm>
            <a:off x="1463040" y="4233672"/>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2.20–2.22   </a:t>
            </a:r>
            <a:r>
              <a:rPr lang="en-US" sz="1100" dirty="0">
                <a:solidFill>
                  <a:srgbClr val="262B3A"/>
                </a:solidFill>
                <a:latin typeface="Calibri" pitchFamily="34" charset="0"/>
                <a:ea typeface="Calibri" pitchFamily="34" charset="-122"/>
                <a:cs typeface="Calibri" pitchFamily="34" charset="-120"/>
              </a:rPr>
              <a:t>Circular motion; inertial mass</a:t>
            </a:r>
            <a:endParaRPr lang="en-US" sz="1100" dirty="0"/>
          </a:p>
        </p:txBody>
      </p:sp>
      <p:sp>
        <p:nvSpPr>
          <p:cNvPr id="34" name="Shape 32"/>
          <p:cNvSpPr/>
          <p:nvPr/>
        </p:nvSpPr>
        <p:spPr>
          <a:xfrm>
            <a:off x="5166360" y="4343400"/>
            <a:ext cx="118872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5166360" y="43434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 ONLY</a:t>
            </a:r>
            <a:endParaRPr lang="en-US" sz="1000" dirty="0"/>
          </a:p>
        </p:txBody>
      </p:sp>
      <p:sp>
        <p:nvSpPr>
          <p:cNvPr id="36" name="Shape 34"/>
          <p:cNvSpPr/>
          <p:nvPr/>
        </p:nvSpPr>
        <p:spPr>
          <a:xfrm>
            <a:off x="914400" y="5047488"/>
            <a:ext cx="411480" cy="91"/>
          </a:xfrm>
          <a:prstGeom prst="line">
            <a:avLst/>
          </a:prstGeom>
          <a:noFill/>
          <a:ln w="19050">
            <a:solidFill>
              <a:srgbClr val="2E5BD8"/>
            </a:solidFill>
            <a:prstDash val="solid"/>
          </a:ln>
        </p:spPr>
      </p:sp>
      <p:sp>
        <p:nvSpPr>
          <p:cNvPr id="37" name="Shape 35"/>
          <p:cNvSpPr/>
          <p:nvPr/>
        </p:nvSpPr>
        <p:spPr>
          <a:xfrm>
            <a:off x="1325880" y="4800600"/>
            <a:ext cx="5120640" cy="493776"/>
          </a:xfrm>
          <a:prstGeom prst="roundRect">
            <a:avLst>
              <a:gd name="adj" fmla="val 9259"/>
            </a:avLst>
          </a:prstGeom>
          <a:solidFill>
            <a:srgbClr val="F5F8FE"/>
          </a:solidFill>
          <a:ln w="12700">
            <a:solidFill>
              <a:srgbClr val="D5DCEB"/>
            </a:solidFill>
            <a:prstDash val="solid"/>
          </a:ln>
        </p:spPr>
      </p:sp>
      <p:sp>
        <p:nvSpPr>
          <p:cNvPr id="38" name="Text 36"/>
          <p:cNvSpPr/>
          <p:nvPr/>
        </p:nvSpPr>
        <p:spPr>
          <a:xfrm>
            <a:off x="1463040" y="4800600"/>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2.23–2.26   </a:t>
            </a:r>
            <a:r>
              <a:rPr lang="en-US" sz="1100" dirty="0">
                <a:solidFill>
                  <a:srgbClr val="262B3A"/>
                </a:solidFill>
                <a:latin typeface="Calibri" pitchFamily="34" charset="0"/>
                <a:ea typeface="Calibri" pitchFamily="34" charset="-122"/>
                <a:cs typeface="Calibri" pitchFamily="34" charset="-120"/>
              </a:rPr>
              <a:t>Newton’s third law; momentum</a:t>
            </a:r>
            <a:endParaRPr lang="en-US" sz="1100" dirty="0"/>
          </a:p>
        </p:txBody>
      </p:sp>
      <p:sp>
        <p:nvSpPr>
          <p:cNvPr id="39" name="Shape 37"/>
          <p:cNvSpPr/>
          <p:nvPr/>
        </p:nvSpPr>
        <p:spPr>
          <a:xfrm>
            <a:off x="5166360" y="4910328"/>
            <a:ext cx="118872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166360" y="491032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MOSTLY HT</a:t>
            </a:r>
            <a:endParaRPr lang="en-US" sz="1000" dirty="0"/>
          </a:p>
        </p:txBody>
      </p:sp>
      <p:sp>
        <p:nvSpPr>
          <p:cNvPr id="41" name="Shape 39"/>
          <p:cNvSpPr/>
          <p:nvPr/>
        </p:nvSpPr>
        <p:spPr>
          <a:xfrm>
            <a:off x="914400" y="5614416"/>
            <a:ext cx="411480" cy="91"/>
          </a:xfrm>
          <a:prstGeom prst="line">
            <a:avLst/>
          </a:prstGeom>
          <a:noFill/>
          <a:ln w="19050">
            <a:solidFill>
              <a:srgbClr val="2E5BD8"/>
            </a:solidFill>
            <a:prstDash val="solid"/>
          </a:ln>
        </p:spPr>
      </p:sp>
      <p:sp>
        <p:nvSpPr>
          <p:cNvPr id="42" name="Shape 40"/>
          <p:cNvSpPr/>
          <p:nvPr/>
        </p:nvSpPr>
        <p:spPr>
          <a:xfrm>
            <a:off x="1325880" y="5367528"/>
            <a:ext cx="5120640" cy="493776"/>
          </a:xfrm>
          <a:prstGeom prst="roundRect">
            <a:avLst>
              <a:gd name="adj" fmla="val 9259"/>
            </a:avLst>
          </a:prstGeom>
          <a:solidFill>
            <a:srgbClr val="F5F8FE"/>
          </a:solidFill>
          <a:ln w="12700">
            <a:solidFill>
              <a:srgbClr val="D5DCEB"/>
            </a:solidFill>
            <a:prstDash val="solid"/>
          </a:ln>
        </p:spPr>
      </p:sp>
      <p:sp>
        <p:nvSpPr>
          <p:cNvPr id="43" name="Text 41"/>
          <p:cNvSpPr/>
          <p:nvPr/>
        </p:nvSpPr>
        <p:spPr>
          <a:xfrm>
            <a:off x="1463040" y="5367528"/>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2.27–2.33   </a:t>
            </a:r>
            <a:r>
              <a:rPr lang="en-US" sz="1100" dirty="0">
                <a:solidFill>
                  <a:srgbClr val="262B3A"/>
                </a:solidFill>
                <a:latin typeface="Calibri" pitchFamily="34" charset="0"/>
                <a:ea typeface="Calibri" pitchFamily="34" charset="-122"/>
                <a:cs typeface="Calibri" pitchFamily="34" charset="-120"/>
              </a:rPr>
              <a:t>Reaction time, stopping distance, braking</a:t>
            </a:r>
            <a:endParaRPr lang="en-US" sz="1100" dirty="0"/>
          </a:p>
        </p:txBody>
      </p:sp>
      <p:sp>
        <p:nvSpPr>
          <p:cNvPr id="44" name="Shape 42"/>
          <p:cNvSpPr/>
          <p:nvPr/>
        </p:nvSpPr>
        <p:spPr>
          <a:xfrm>
            <a:off x="5166360" y="5477256"/>
            <a:ext cx="1188720" cy="274320"/>
          </a:xfrm>
          <a:prstGeom prst="roundRect">
            <a:avLst>
              <a:gd name="adj" fmla="val 50000"/>
            </a:avLst>
          </a:prstGeom>
          <a:solidFill>
            <a:srgbClr val="2E5BD8"/>
          </a:solidFill>
          <a:ln w="12700">
            <a:solidFill>
              <a:srgbClr val="2E5BD8"/>
            </a:solidFill>
            <a:prstDash val="solid"/>
          </a:ln>
        </p:spPr>
      </p:sp>
      <p:sp>
        <p:nvSpPr>
          <p:cNvPr id="45" name="Text 43"/>
          <p:cNvSpPr/>
          <p:nvPr/>
        </p:nvSpPr>
        <p:spPr>
          <a:xfrm>
            <a:off x="5166360" y="547725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 SOME HT</a:t>
            </a:r>
            <a:endParaRPr lang="en-US" sz="1000" dirty="0"/>
          </a:p>
        </p:txBody>
      </p:sp>
      <p:sp>
        <p:nvSpPr>
          <p:cNvPr id="46" name="Text 44"/>
          <p:cNvSpPr/>
          <p:nvPr/>
        </p:nvSpPr>
        <p:spPr>
          <a:xfrm>
            <a:off x="411480" y="603504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Links: Topic 1 units • Topic 3 kinetic energy • Topic 8 work done • Topic 9 vectors and free body diagrams</a:t>
            </a:r>
            <a:endParaRPr lang="en-US" sz="1050" dirty="0"/>
          </a:p>
        </p:txBody>
      </p:sp>
      <p:sp>
        <p:nvSpPr>
          <p:cNvPr id="47" name="Shape 45"/>
          <p:cNvSpPr/>
          <p:nvPr/>
        </p:nvSpPr>
        <p:spPr>
          <a:xfrm>
            <a:off x="6720840" y="1188720"/>
            <a:ext cx="5056632" cy="2514600"/>
          </a:xfrm>
          <a:prstGeom prst="roundRect">
            <a:avLst>
              <a:gd name="adj" fmla="val 2182"/>
            </a:avLst>
          </a:prstGeom>
          <a:solidFill>
            <a:srgbClr val="1F2A4A"/>
          </a:solidFill>
          <a:ln/>
        </p:spPr>
      </p:sp>
      <p:sp>
        <p:nvSpPr>
          <p:cNvPr id="48" name="Text 46"/>
          <p:cNvSpPr/>
          <p:nvPr/>
        </p:nvSpPr>
        <p:spPr>
          <a:xfrm>
            <a:off x="6903720" y="128016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1PH0 </a:t>
            </a:r>
            <a:r>
              <a:rPr lang="en-US" sz="1150" b="1" dirty="0">
                <a:solidFill>
                  <a:srgbClr val="E6ECFA"/>
                </a:solidFill>
                <a:latin typeface="Calibri" pitchFamily="34" charset="0"/>
                <a:ea typeface="Calibri" pitchFamily="34" charset="-122"/>
                <a:cs typeface="Calibri" pitchFamily="34" charset="-120"/>
              </a:rPr>
              <a:t>Paper 1</a:t>
            </a:r>
            <a:r>
              <a:rPr lang="en-US" sz="1150" dirty="0">
                <a:solidFill>
                  <a:srgbClr val="E6ECFA"/>
                </a:solidFill>
                <a:latin typeface="Calibri" pitchFamily="34" charset="0"/>
                <a:ea typeface="Calibri" pitchFamily="34" charset="-122"/>
                <a:cs typeface="Calibri" pitchFamily="34" charset="-120"/>
              </a:rPr>
              <a:t> (1F or 1H): 1 h 45 min, 100 marks, Topics 1–7.</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Combined Science 1SC0 </a:t>
            </a:r>
            <a:r>
              <a:rPr lang="en-US" sz="1150" b="1" dirty="0">
                <a:solidFill>
                  <a:srgbClr val="E6ECFA"/>
                </a:solidFill>
                <a:latin typeface="Calibri" pitchFamily="34" charset="0"/>
                <a:ea typeface="Calibri" pitchFamily="34" charset="-122"/>
                <a:cs typeface="Calibri" pitchFamily="34" charset="-120"/>
              </a:rPr>
              <a:t>Paper 5</a:t>
            </a:r>
            <a:r>
              <a:rPr lang="en-US" sz="1150" dirty="0">
                <a:solidFill>
                  <a:srgbClr val="E6ECFA"/>
                </a:solidFill>
                <a:latin typeface="Calibri" pitchFamily="34" charset="0"/>
                <a:ea typeface="Calibri" pitchFamily="34" charset="-122"/>
                <a:cs typeface="Calibri" pitchFamily="34" charset="-120"/>
              </a:rPr>
              <a:t> (Physics 1) tests the same Topic 2 statements.</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Recall</a:t>
            </a:r>
            <a:r>
              <a:rPr lang="en-US" sz="1150" dirty="0">
                <a:solidFill>
                  <a:srgbClr val="E6ECFA"/>
                </a:solidFill>
                <a:latin typeface="Calibri" pitchFamily="34" charset="0"/>
                <a:ea typeface="Calibri" pitchFamily="34" charset="-122"/>
                <a:cs typeface="Calibri" pitchFamily="34" charset="-120"/>
              </a:rPr>
              <a:t> s = d/t, a = (v − u)/t, F = ma, W = mg, p = mv; </a:t>
            </a:r>
            <a:r>
              <a:rPr lang="en-US" sz="1150" b="1" dirty="0">
                <a:solidFill>
                  <a:srgbClr val="E6ECFA"/>
                </a:solidFill>
                <a:latin typeface="Calibri" pitchFamily="34" charset="0"/>
                <a:ea typeface="Calibri" pitchFamily="34" charset="-122"/>
                <a:cs typeface="Calibri" pitchFamily="34" charset="-120"/>
              </a:rPr>
              <a:t>given</a:t>
            </a:r>
            <a:r>
              <a:rPr lang="en-US" sz="1150" dirty="0">
                <a:solidFill>
                  <a:srgbClr val="E6ECFA"/>
                </a:solidFill>
                <a:latin typeface="Calibri" pitchFamily="34" charset="0"/>
                <a:ea typeface="Calibri" pitchFamily="34" charset="-122"/>
                <a:cs typeface="Calibri" pitchFamily="34" charset="-120"/>
              </a:rPr>
              <a:t> v² − u² = 2ax and F = (mv − mu)/t.</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Core Practical 2.19 can be examined in any style.</a:t>
            </a:r>
            <a:endParaRPr lang="en-US" sz="1500" dirty="0"/>
          </a:p>
        </p:txBody>
      </p:sp>
      <p:sp>
        <p:nvSpPr>
          <p:cNvPr id="49" name="Shape 47"/>
          <p:cNvSpPr/>
          <p:nvPr/>
        </p:nvSpPr>
        <p:spPr>
          <a:xfrm>
            <a:off x="6720840" y="3840480"/>
            <a:ext cx="5056632" cy="2423160"/>
          </a:xfrm>
          <a:prstGeom prst="roundRect">
            <a:avLst>
              <a:gd name="adj" fmla="val 2264"/>
            </a:avLst>
          </a:prstGeom>
          <a:solidFill>
            <a:srgbClr val="FFF4E0"/>
          </a:solidFill>
          <a:ln w="12700">
            <a:solidFill>
              <a:srgbClr val="F1D9A8"/>
            </a:solidFill>
            <a:prstDash val="solid"/>
          </a:ln>
        </p:spPr>
      </p:sp>
      <p:sp>
        <p:nvSpPr>
          <p:cNvPr id="50" name="Text 48"/>
          <p:cNvSpPr/>
          <p:nvPr/>
        </p:nvSpPr>
        <p:spPr>
          <a:xfrm>
            <a:off x="6903720" y="3931920"/>
            <a:ext cx="4709160" cy="224028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courses and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Combined (1SC0) classes skip nothing:</a:t>
            </a:r>
            <a:r>
              <a:rPr lang="en-US" sz="1150" dirty="0">
                <a:solidFill>
                  <a:srgbClr val="262B3A"/>
                </a:solidFill>
                <a:latin typeface="Calibri" pitchFamily="34" charset="0"/>
                <a:ea typeface="Calibri" pitchFamily="34" charset="-122"/>
                <a:cs typeface="Calibri" pitchFamily="34" charset="-120"/>
              </a:rPr>
              <a:t> no physics-only (P) statements were found in Topic 2.</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HT pills</a:t>
            </a:r>
            <a:r>
              <a:rPr lang="en-US" sz="1150" dirty="0">
                <a:solidFill>
                  <a:srgbClr val="262B3A"/>
                </a:solidFill>
                <a:latin typeface="Calibri" pitchFamily="34" charset="0"/>
                <a:ea typeface="Calibri" pitchFamily="34" charset="-122"/>
                <a:cs typeface="Calibri" pitchFamily="34" charset="-120"/>
              </a:rPr>
              <a:t> mark Higher-only content: circular motion, inertial mass, momentum, estimating crash forces and braking work.</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Vectors and free body diagrams are </a:t>
            </a:r>
            <a:r>
              <a:rPr lang="en-US" sz="1150" b="1" dirty="0">
                <a:solidFill>
                  <a:srgbClr val="262B3A"/>
                </a:solidFill>
                <a:latin typeface="Calibri" pitchFamily="34" charset="0"/>
                <a:ea typeface="Calibri" pitchFamily="34" charset="-122"/>
                <a:cs typeface="Calibri" pitchFamily="34" charset="-120"/>
              </a:rPr>
              <a:t>recapped</a:t>
            </a:r>
            <a:r>
              <a:rPr lang="en-US" sz="1150" dirty="0">
                <a:solidFill>
                  <a:srgbClr val="262B3A"/>
                </a:solidFill>
                <a:latin typeface="Calibri" pitchFamily="34" charset="0"/>
                <a:ea typeface="Calibri" pitchFamily="34" charset="-122"/>
                <a:cs typeface="Calibri" pitchFamily="34" charset="-120"/>
              </a:rPr>
              <a:t> here and taught fully in Topic 9.</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Topic 1 and Key Stage 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units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2.4 km</a:t>
            </a:r>
            <a:r>
              <a:rPr lang="en-US" sz="1250" dirty="0">
                <a:solidFill>
                  <a:srgbClr val="262B3A"/>
                </a:solidFill>
                <a:latin typeface="Calibri" pitchFamily="34" charset="0"/>
                <a:ea typeface="Calibri" pitchFamily="34" charset="-122"/>
                <a:cs typeface="Calibri" pitchFamily="34" charset="-120"/>
              </a:rPr>
              <a:t> into metres and </a:t>
            </a:r>
            <a:r>
              <a:rPr lang="en-US" sz="1250" b="1" dirty="0">
                <a:solidFill>
                  <a:srgbClr val="262B3A"/>
                </a:solidFill>
                <a:latin typeface="Calibri" pitchFamily="34" charset="0"/>
                <a:ea typeface="Calibri" pitchFamily="34" charset="-122"/>
                <a:cs typeface="Calibri" pitchFamily="34" charset="-120"/>
              </a:rPr>
              <a:t>3 minutes</a:t>
            </a:r>
            <a:r>
              <a:rPr lang="en-US" sz="1250" dirty="0">
                <a:solidFill>
                  <a:srgbClr val="262B3A"/>
                </a:solidFill>
                <a:latin typeface="Calibri" pitchFamily="34" charset="0"/>
                <a:ea typeface="Calibri" pitchFamily="34" charset="-122"/>
                <a:cs typeface="Calibri" pitchFamily="34" charset="-120"/>
              </a:rPr>
              <a:t> into seconds.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standard form</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t>
            </a:r>
            <a:r>
              <a:rPr lang="en-US" sz="1250" b="1" dirty="0">
                <a:solidFill>
                  <a:srgbClr val="262B3A"/>
                </a:solidFill>
                <a:latin typeface="Calibri" pitchFamily="34" charset="0"/>
                <a:ea typeface="Calibri" pitchFamily="34" charset="-122"/>
                <a:cs typeface="Calibri" pitchFamily="34" charset="-120"/>
              </a:rPr>
              <a:t>340 000 m</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0.045 s</a:t>
            </a:r>
            <a:r>
              <a:rPr lang="en-US" sz="1250" dirty="0">
                <a:solidFill>
                  <a:srgbClr val="262B3A"/>
                </a:solidFill>
                <a:latin typeface="Calibri" pitchFamily="34" charset="0"/>
                <a:ea typeface="Calibri" pitchFamily="34" charset="-122"/>
                <a:cs typeface="Calibri" pitchFamily="34" charset="-120"/>
              </a:rPr>
              <a:t> in standard form.</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speed</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cyclist travels </a:t>
            </a:r>
            <a:r>
              <a:rPr lang="en-US" sz="1250" b="1" dirty="0">
                <a:solidFill>
                  <a:srgbClr val="262B3A"/>
                </a:solidFill>
                <a:latin typeface="Calibri" pitchFamily="34" charset="0"/>
                <a:ea typeface="Calibri" pitchFamily="34" charset="-122"/>
                <a:cs typeface="Calibri" pitchFamily="34" charset="-120"/>
              </a:rPr>
              <a:t>600 m</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120 s</a:t>
            </a:r>
            <a:r>
              <a:rPr lang="en-US" sz="1250" dirty="0">
                <a:solidFill>
                  <a:srgbClr val="262B3A"/>
                </a:solidFill>
                <a:latin typeface="Calibri" pitchFamily="34" charset="0"/>
                <a:ea typeface="Calibri" pitchFamily="34" charset="-122"/>
                <a:cs typeface="Calibri" pitchFamily="34" charset="-120"/>
              </a:rPr>
              <a:t>. Calculate the cyclist’s speed.</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forces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box has </a:t>
            </a:r>
            <a:r>
              <a:rPr lang="en-US" sz="1250" b="1" dirty="0">
                <a:solidFill>
                  <a:srgbClr val="262B3A"/>
                </a:solidFill>
                <a:latin typeface="Calibri" pitchFamily="34" charset="0"/>
                <a:ea typeface="Calibri" pitchFamily="34" charset="-122"/>
                <a:cs typeface="Calibri" pitchFamily="34" charset="-120"/>
              </a:rPr>
              <a:t>50 N</a:t>
            </a:r>
            <a:r>
              <a:rPr lang="en-US" sz="1250" dirty="0">
                <a:solidFill>
                  <a:srgbClr val="262B3A"/>
                </a:solidFill>
                <a:latin typeface="Calibri" pitchFamily="34" charset="0"/>
                <a:ea typeface="Calibri" pitchFamily="34" charset="-122"/>
                <a:cs typeface="Calibri" pitchFamily="34" charset="-120"/>
              </a:rPr>
              <a:t> pulling left and </a:t>
            </a:r>
            <a:r>
              <a:rPr lang="en-US" sz="1250" b="1" dirty="0">
                <a:solidFill>
                  <a:srgbClr val="262B3A"/>
                </a:solidFill>
                <a:latin typeface="Calibri" pitchFamily="34" charset="0"/>
                <a:ea typeface="Calibri" pitchFamily="34" charset="-122"/>
                <a:cs typeface="Calibri" pitchFamily="34" charset="-120"/>
              </a:rPr>
              <a:t>80 N</a:t>
            </a:r>
            <a:r>
              <a:rPr lang="en-US" sz="1250" dirty="0">
                <a:solidFill>
                  <a:srgbClr val="262B3A"/>
                </a:solidFill>
                <a:latin typeface="Calibri" pitchFamily="34" charset="0"/>
                <a:ea typeface="Calibri" pitchFamily="34" charset="-122"/>
                <a:cs typeface="Calibri" pitchFamily="34" charset="-120"/>
              </a:rPr>
              <a:t> pulling right. Find the </a:t>
            </a:r>
            <a:r>
              <a:rPr lang="en-US" sz="1250" b="1" dirty="0">
                <a:solidFill>
                  <a:srgbClr val="262B3A"/>
                </a:solidFill>
                <a:latin typeface="Calibri" pitchFamily="34" charset="0"/>
                <a:ea typeface="Calibri" pitchFamily="34" charset="-122"/>
                <a:cs typeface="Calibri" pitchFamily="34" charset="-120"/>
              </a:rPr>
              <a:t>resultant force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mass and weight</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 difference</a:t>
            </a:r>
            <a:r>
              <a:rPr lang="en-US" sz="1250" dirty="0">
                <a:solidFill>
                  <a:srgbClr val="262B3A"/>
                </a:solidFill>
                <a:latin typeface="Calibri" pitchFamily="34" charset="0"/>
                <a:ea typeface="Calibri" pitchFamily="34" charset="-122"/>
                <a:cs typeface="Calibri" pitchFamily="34" charset="-120"/>
              </a:rPr>
              <a:t> between mass and weight, and the </a:t>
            </a:r>
            <a:r>
              <a:rPr lang="en-US" sz="1250" b="1" dirty="0">
                <a:solidFill>
                  <a:srgbClr val="262B3A"/>
                </a:solidFill>
                <a:latin typeface="Calibri" pitchFamily="34" charset="0"/>
                <a:ea typeface="Calibri" pitchFamily="34" charset="-122"/>
                <a:cs typeface="Calibri" pitchFamily="34" charset="-120"/>
              </a:rPr>
              <a:t>unit</a:t>
            </a:r>
            <a:r>
              <a:rPr lang="en-US" sz="1250" dirty="0">
                <a:solidFill>
                  <a:srgbClr val="262B3A"/>
                </a:solidFill>
                <a:latin typeface="Calibri" pitchFamily="34" charset="0"/>
                <a:ea typeface="Calibri" pitchFamily="34" charset="-122"/>
                <a:cs typeface="Calibri" pitchFamily="34" charset="-120"/>
              </a:rPr>
              <a:t> of each.</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rearranging</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Rearrange </a:t>
            </a:r>
            <a:r>
              <a:rPr lang="en-US" sz="1250" b="1" dirty="0">
                <a:solidFill>
                  <a:srgbClr val="262B3A"/>
                </a:solidFill>
                <a:latin typeface="Calibri" pitchFamily="34" charset="0"/>
                <a:ea typeface="Calibri" pitchFamily="34" charset="-122"/>
                <a:cs typeface="Calibri" pitchFamily="34" charset="-120"/>
              </a:rPr>
              <a:t>F = m × a</a:t>
            </a:r>
            <a:r>
              <a:rPr lang="en-US" sz="1250" dirty="0">
                <a:solidFill>
                  <a:srgbClr val="262B3A"/>
                </a:solidFill>
                <a:latin typeface="Calibri" pitchFamily="34" charset="0"/>
                <a:ea typeface="Calibri" pitchFamily="34" charset="-122"/>
                <a:cs typeface="Calibri" pitchFamily="34" charset="-120"/>
              </a:rPr>
              <a:t> to make </a:t>
            </a:r>
            <a:r>
              <a:rPr lang="en-US" sz="1250" b="1" dirty="0">
                <a:solidFill>
                  <a:srgbClr val="262B3A"/>
                </a:solidFill>
                <a:latin typeface="Calibri" pitchFamily="34" charset="0"/>
                <a:ea typeface="Calibri" pitchFamily="34" charset="-122"/>
                <a:cs typeface="Calibri" pitchFamily="34" charset="-120"/>
              </a:rPr>
              <a:t>a</a:t>
            </a:r>
            <a:r>
              <a:rPr lang="en-US" sz="1250" dirty="0">
                <a:solidFill>
                  <a:srgbClr val="262B3A"/>
                </a:solidFill>
                <a:latin typeface="Calibri" pitchFamily="34" charset="0"/>
                <a:ea typeface="Calibri" pitchFamily="34" charset="-122"/>
                <a:cs typeface="Calibri" pitchFamily="34" charset="-120"/>
              </a:rPr>
              <a:t> the subject.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Scalars and vectors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2.1–2.4 • size only, or size and direction (recap of Topic 9.2)</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walk drawn to scale: 1 square = 50 m</a:t>
            </a:r>
            <a:endParaRPr lang="en-US" sz="1000" dirty="0"/>
          </a:p>
        </p:txBody>
      </p:sp>
      <p:sp>
        <p:nvSpPr>
          <p:cNvPr id="10" name="Shape 8"/>
          <p:cNvSpPr/>
          <p:nvPr/>
        </p:nvSpPr>
        <p:spPr>
          <a:xfrm>
            <a:off x="914400" y="1600200"/>
            <a:ext cx="3950208" cy="2962656"/>
          </a:xfrm>
          <a:prstGeom prst="rect">
            <a:avLst/>
          </a:prstGeom>
          <a:solidFill>
            <a:srgbClr val="FFFFFF"/>
          </a:solidFill>
          <a:ln/>
        </p:spPr>
      </p:sp>
      <p:sp>
        <p:nvSpPr>
          <p:cNvPr id="11" name="Shape 9"/>
          <p:cNvSpPr/>
          <p:nvPr/>
        </p:nvSpPr>
        <p:spPr>
          <a:xfrm>
            <a:off x="914400" y="1600200"/>
            <a:ext cx="91" cy="2962656"/>
          </a:xfrm>
          <a:prstGeom prst="line">
            <a:avLst/>
          </a:prstGeom>
          <a:noFill/>
          <a:ln w="6350">
            <a:solidFill>
              <a:srgbClr val="E2E8F2"/>
            </a:solidFill>
            <a:prstDash val="solid"/>
          </a:ln>
        </p:spPr>
      </p:sp>
      <p:sp>
        <p:nvSpPr>
          <p:cNvPr id="12" name="Shape 10"/>
          <p:cNvSpPr/>
          <p:nvPr/>
        </p:nvSpPr>
        <p:spPr>
          <a:xfrm>
            <a:off x="1243584" y="1600200"/>
            <a:ext cx="91" cy="2962656"/>
          </a:xfrm>
          <a:prstGeom prst="line">
            <a:avLst/>
          </a:prstGeom>
          <a:noFill/>
          <a:ln w="6350">
            <a:solidFill>
              <a:srgbClr val="E2E8F2"/>
            </a:solidFill>
            <a:prstDash val="solid"/>
          </a:ln>
        </p:spPr>
      </p:sp>
      <p:sp>
        <p:nvSpPr>
          <p:cNvPr id="13" name="Shape 11"/>
          <p:cNvSpPr/>
          <p:nvPr/>
        </p:nvSpPr>
        <p:spPr>
          <a:xfrm>
            <a:off x="1572768" y="1600200"/>
            <a:ext cx="91" cy="2962656"/>
          </a:xfrm>
          <a:prstGeom prst="line">
            <a:avLst/>
          </a:prstGeom>
          <a:noFill/>
          <a:ln w="6350">
            <a:solidFill>
              <a:srgbClr val="E2E8F2"/>
            </a:solidFill>
            <a:prstDash val="solid"/>
          </a:ln>
        </p:spPr>
      </p:sp>
      <p:sp>
        <p:nvSpPr>
          <p:cNvPr id="14" name="Shape 12"/>
          <p:cNvSpPr/>
          <p:nvPr/>
        </p:nvSpPr>
        <p:spPr>
          <a:xfrm>
            <a:off x="1901952" y="1600200"/>
            <a:ext cx="91" cy="2962656"/>
          </a:xfrm>
          <a:prstGeom prst="line">
            <a:avLst/>
          </a:prstGeom>
          <a:noFill/>
          <a:ln w="6350">
            <a:solidFill>
              <a:srgbClr val="E2E8F2"/>
            </a:solidFill>
            <a:prstDash val="solid"/>
          </a:ln>
        </p:spPr>
      </p:sp>
      <p:sp>
        <p:nvSpPr>
          <p:cNvPr id="15" name="Shape 13"/>
          <p:cNvSpPr/>
          <p:nvPr/>
        </p:nvSpPr>
        <p:spPr>
          <a:xfrm>
            <a:off x="2231136" y="1600200"/>
            <a:ext cx="91" cy="2962656"/>
          </a:xfrm>
          <a:prstGeom prst="line">
            <a:avLst/>
          </a:prstGeom>
          <a:noFill/>
          <a:ln w="6350">
            <a:solidFill>
              <a:srgbClr val="E2E8F2"/>
            </a:solidFill>
            <a:prstDash val="solid"/>
          </a:ln>
        </p:spPr>
      </p:sp>
      <p:sp>
        <p:nvSpPr>
          <p:cNvPr id="16" name="Shape 14"/>
          <p:cNvSpPr/>
          <p:nvPr/>
        </p:nvSpPr>
        <p:spPr>
          <a:xfrm>
            <a:off x="2560320" y="1600200"/>
            <a:ext cx="91" cy="2962656"/>
          </a:xfrm>
          <a:prstGeom prst="line">
            <a:avLst/>
          </a:prstGeom>
          <a:noFill/>
          <a:ln w="6350">
            <a:solidFill>
              <a:srgbClr val="E2E8F2"/>
            </a:solidFill>
            <a:prstDash val="solid"/>
          </a:ln>
        </p:spPr>
      </p:sp>
      <p:sp>
        <p:nvSpPr>
          <p:cNvPr id="17" name="Shape 15"/>
          <p:cNvSpPr/>
          <p:nvPr/>
        </p:nvSpPr>
        <p:spPr>
          <a:xfrm>
            <a:off x="2889504" y="1600200"/>
            <a:ext cx="91" cy="2962656"/>
          </a:xfrm>
          <a:prstGeom prst="line">
            <a:avLst/>
          </a:prstGeom>
          <a:noFill/>
          <a:ln w="6350">
            <a:solidFill>
              <a:srgbClr val="E2E8F2"/>
            </a:solidFill>
            <a:prstDash val="solid"/>
          </a:ln>
        </p:spPr>
      </p:sp>
      <p:sp>
        <p:nvSpPr>
          <p:cNvPr id="18" name="Shape 16"/>
          <p:cNvSpPr/>
          <p:nvPr/>
        </p:nvSpPr>
        <p:spPr>
          <a:xfrm>
            <a:off x="3218688" y="1600200"/>
            <a:ext cx="91" cy="2962656"/>
          </a:xfrm>
          <a:prstGeom prst="line">
            <a:avLst/>
          </a:prstGeom>
          <a:noFill/>
          <a:ln w="6350">
            <a:solidFill>
              <a:srgbClr val="E2E8F2"/>
            </a:solidFill>
            <a:prstDash val="solid"/>
          </a:ln>
        </p:spPr>
      </p:sp>
      <p:sp>
        <p:nvSpPr>
          <p:cNvPr id="19" name="Shape 17"/>
          <p:cNvSpPr/>
          <p:nvPr/>
        </p:nvSpPr>
        <p:spPr>
          <a:xfrm>
            <a:off x="3547872" y="1600200"/>
            <a:ext cx="91" cy="2962656"/>
          </a:xfrm>
          <a:prstGeom prst="line">
            <a:avLst/>
          </a:prstGeom>
          <a:noFill/>
          <a:ln w="6350">
            <a:solidFill>
              <a:srgbClr val="E2E8F2"/>
            </a:solidFill>
            <a:prstDash val="solid"/>
          </a:ln>
        </p:spPr>
      </p:sp>
      <p:sp>
        <p:nvSpPr>
          <p:cNvPr id="20" name="Shape 18"/>
          <p:cNvSpPr/>
          <p:nvPr/>
        </p:nvSpPr>
        <p:spPr>
          <a:xfrm>
            <a:off x="3877056" y="1600200"/>
            <a:ext cx="91" cy="2962656"/>
          </a:xfrm>
          <a:prstGeom prst="line">
            <a:avLst/>
          </a:prstGeom>
          <a:noFill/>
          <a:ln w="6350">
            <a:solidFill>
              <a:srgbClr val="E2E8F2"/>
            </a:solidFill>
            <a:prstDash val="solid"/>
          </a:ln>
        </p:spPr>
      </p:sp>
      <p:sp>
        <p:nvSpPr>
          <p:cNvPr id="21" name="Shape 19"/>
          <p:cNvSpPr/>
          <p:nvPr/>
        </p:nvSpPr>
        <p:spPr>
          <a:xfrm>
            <a:off x="4206240" y="1600200"/>
            <a:ext cx="91" cy="2962656"/>
          </a:xfrm>
          <a:prstGeom prst="line">
            <a:avLst/>
          </a:prstGeom>
          <a:noFill/>
          <a:ln w="6350">
            <a:solidFill>
              <a:srgbClr val="E2E8F2"/>
            </a:solidFill>
            <a:prstDash val="solid"/>
          </a:ln>
        </p:spPr>
      </p:sp>
      <p:sp>
        <p:nvSpPr>
          <p:cNvPr id="22" name="Shape 20"/>
          <p:cNvSpPr/>
          <p:nvPr/>
        </p:nvSpPr>
        <p:spPr>
          <a:xfrm>
            <a:off x="4535424" y="1600200"/>
            <a:ext cx="91" cy="2962656"/>
          </a:xfrm>
          <a:prstGeom prst="line">
            <a:avLst/>
          </a:prstGeom>
          <a:noFill/>
          <a:ln w="6350">
            <a:solidFill>
              <a:srgbClr val="E2E8F2"/>
            </a:solidFill>
            <a:prstDash val="solid"/>
          </a:ln>
        </p:spPr>
      </p:sp>
      <p:sp>
        <p:nvSpPr>
          <p:cNvPr id="23" name="Shape 21"/>
          <p:cNvSpPr/>
          <p:nvPr/>
        </p:nvSpPr>
        <p:spPr>
          <a:xfrm>
            <a:off x="4864608" y="1600200"/>
            <a:ext cx="91" cy="2962656"/>
          </a:xfrm>
          <a:prstGeom prst="line">
            <a:avLst/>
          </a:prstGeom>
          <a:noFill/>
          <a:ln w="6350">
            <a:solidFill>
              <a:srgbClr val="E2E8F2"/>
            </a:solidFill>
            <a:prstDash val="solid"/>
          </a:ln>
        </p:spPr>
      </p:sp>
      <p:sp>
        <p:nvSpPr>
          <p:cNvPr id="24" name="Shape 22"/>
          <p:cNvSpPr/>
          <p:nvPr/>
        </p:nvSpPr>
        <p:spPr>
          <a:xfrm>
            <a:off x="914400" y="1600200"/>
            <a:ext cx="3950208" cy="91"/>
          </a:xfrm>
          <a:prstGeom prst="line">
            <a:avLst/>
          </a:prstGeom>
          <a:noFill/>
          <a:ln w="6350">
            <a:solidFill>
              <a:srgbClr val="E2E8F2"/>
            </a:solidFill>
            <a:prstDash val="solid"/>
          </a:ln>
        </p:spPr>
      </p:sp>
      <p:sp>
        <p:nvSpPr>
          <p:cNvPr id="25" name="Shape 23"/>
          <p:cNvSpPr/>
          <p:nvPr/>
        </p:nvSpPr>
        <p:spPr>
          <a:xfrm>
            <a:off x="914400" y="1929384"/>
            <a:ext cx="3950208" cy="91"/>
          </a:xfrm>
          <a:prstGeom prst="line">
            <a:avLst/>
          </a:prstGeom>
          <a:noFill/>
          <a:ln w="6350">
            <a:solidFill>
              <a:srgbClr val="E2E8F2"/>
            </a:solidFill>
            <a:prstDash val="solid"/>
          </a:ln>
        </p:spPr>
      </p:sp>
      <p:sp>
        <p:nvSpPr>
          <p:cNvPr id="26" name="Shape 24"/>
          <p:cNvSpPr/>
          <p:nvPr/>
        </p:nvSpPr>
        <p:spPr>
          <a:xfrm>
            <a:off x="914400" y="2258568"/>
            <a:ext cx="3950208" cy="91"/>
          </a:xfrm>
          <a:prstGeom prst="line">
            <a:avLst/>
          </a:prstGeom>
          <a:noFill/>
          <a:ln w="6350">
            <a:solidFill>
              <a:srgbClr val="E2E8F2"/>
            </a:solidFill>
            <a:prstDash val="solid"/>
          </a:ln>
        </p:spPr>
      </p:sp>
      <p:sp>
        <p:nvSpPr>
          <p:cNvPr id="27" name="Shape 25"/>
          <p:cNvSpPr/>
          <p:nvPr/>
        </p:nvSpPr>
        <p:spPr>
          <a:xfrm>
            <a:off x="914400" y="2587752"/>
            <a:ext cx="3950208" cy="91"/>
          </a:xfrm>
          <a:prstGeom prst="line">
            <a:avLst/>
          </a:prstGeom>
          <a:noFill/>
          <a:ln w="6350">
            <a:solidFill>
              <a:srgbClr val="E2E8F2"/>
            </a:solidFill>
            <a:prstDash val="solid"/>
          </a:ln>
        </p:spPr>
      </p:sp>
      <p:sp>
        <p:nvSpPr>
          <p:cNvPr id="28" name="Shape 26"/>
          <p:cNvSpPr/>
          <p:nvPr/>
        </p:nvSpPr>
        <p:spPr>
          <a:xfrm>
            <a:off x="914400" y="2916936"/>
            <a:ext cx="3950208" cy="91"/>
          </a:xfrm>
          <a:prstGeom prst="line">
            <a:avLst/>
          </a:prstGeom>
          <a:noFill/>
          <a:ln w="6350">
            <a:solidFill>
              <a:srgbClr val="E2E8F2"/>
            </a:solidFill>
            <a:prstDash val="solid"/>
          </a:ln>
        </p:spPr>
      </p:sp>
      <p:sp>
        <p:nvSpPr>
          <p:cNvPr id="29" name="Shape 27"/>
          <p:cNvSpPr/>
          <p:nvPr/>
        </p:nvSpPr>
        <p:spPr>
          <a:xfrm>
            <a:off x="914400" y="3246120"/>
            <a:ext cx="3950208" cy="91"/>
          </a:xfrm>
          <a:prstGeom prst="line">
            <a:avLst/>
          </a:prstGeom>
          <a:noFill/>
          <a:ln w="6350">
            <a:solidFill>
              <a:srgbClr val="E2E8F2"/>
            </a:solidFill>
            <a:prstDash val="solid"/>
          </a:ln>
        </p:spPr>
      </p:sp>
      <p:sp>
        <p:nvSpPr>
          <p:cNvPr id="30" name="Shape 28"/>
          <p:cNvSpPr/>
          <p:nvPr/>
        </p:nvSpPr>
        <p:spPr>
          <a:xfrm>
            <a:off x="914400" y="3575304"/>
            <a:ext cx="3950208" cy="91"/>
          </a:xfrm>
          <a:prstGeom prst="line">
            <a:avLst/>
          </a:prstGeom>
          <a:noFill/>
          <a:ln w="6350">
            <a:solidFill>
              <a:srgbClr val="E2E8F2"/>
            </a:solidFill>
            <a:prstDash val="solid"/>
          </a:ln>
        </p:spPr>
      </p:sp>
      <p:sp>
        <p:nvSpPr>
          <p:cNvPr id="31" name="Shape 29"/>
          <p:cNvSpPr/>
          <p:nvPr/>
        </p:nvSpPr>
        <p:spPr>
          <a:xfrm>
            <a:off x="914400" y="3904488"/>
            <a:ext cx="3950208" cy="91"/>
          </a:xfrm>
          <a:prstGeom prst="line">
            <a:avLst/>
          </a:prstGeom>
          <a:noFill/>
          <a:ln w="6350">
            <a:solidFill>
              <a:srgbClr val="E2E8F2"/>
            </a:solidFill>
            <a:prstDash val="solid"/>
          </a:ln>
        </p:spPr>
      </p:sp>
      <p:sp>
        <p:nvSpPr>
          <p:cNvPr id="32" name="Shape 30"/>
          <p:cNvSpPr/>
          <p:nvPr/>
        </p:nvSpPr>
        <p:spPr>
          <a:xfrm>
            <a:off x="914400" y="4233672"/>
            <a:ext cx="3950208" cy="91"/>
          </a:xfrm>
          <a:prstGeom prst="line">
            <a:avLst/>
          </a:prstGeom>
          <a:noFill/>
          <a:ln w="6350">
            <a:solidFill>
              <a:srgbClr val="E2E8F2"/>
            </a:solidFill>
            <a:prstDash val="solid"/>
          </a:ln>
        </p:spPr>
      </p:sp>
      <p:sp>
        <p:nvSpPr>
          <p:cNvPr id="33" name="Shape 31"/>
          <p:cNvSpPr/>
          <p:nvPr/>
        </p:nvSpPr>
        <p:spPr>
          <a:xfrm>
            <a:off x="914400" y="4562856"/>
            <a:ext cx="3950208" cy="91"/>
          </a:xfrm>
          <a:prstGeom prst="line">
            <a:avLst/>
          </a:prstGeom>
          <a:noFill/>
          <a:ln w="6350">
            <a:solidFill>
              <a:srgbClr val="E2E8F2"/>
            </a:solidFill>
            <a:prstDash val="solid"/>
          </a:ln>
        </p:spPr>
      </p:sp>
      <p:sp>
        <p:nvSpPr>
          <p:cNvPr id="34" name="Shape 32"/>
          <p:cNvSpPr/>
          <p:nvPr/>
        </p:nvSpPr>
        <p:spPr>
          <a:xfrm>
            <a:off x="1572768" y="4233672"/>
            <a:ext cx="2633472" cy="91"/>
          </a:xfrm>
          <a:prstGeom prst="line">
            <a:avLst/>
          </a:prstGeom>
          <a:noFill/>
          <a:ln w="38100">
            <a:solidFill>
              <a:srgbClr val="2E5BD8"/>
            </a:solidFill>
            <a:prstDash val="solid"/>
            <a:tailEnd type="triangle"/>
          </a:ln>
        </p:spPr>
      </p:sp>
      <p:sp>
        <p:nvSpPr>
          <p:cNvPr id="35" name="Shape 33"/>
          <p:cNvSpPr/>
          <p:nvPr/>
        </p:nvSpPr>
        <p:spPr>
          <a:xfrm flipV="1">
            <a:off x="4206240" y="2258568"/>
            <a:ext cx="91" cy="1975104"/>
          </a:xfrm>
          <a:prstGeom prst="line">
            <a:avLst/>
          </a:prstGeom>
          <a:noFill/>
          <a:ln w="38100">
            <a:solidFill>
              <a:srgbClr val="2E5BD8"/>
            </a:solidFill>
            <a:prstDash val="solid"/>
            <a:tailEnd type="triangle"/>
          </a:ln>
        </p:spPr>
      </p:sp>
      <p:sp>
        <p:nvSpPr>
          <p:cNvPr id="36" name="Shape 34"/>
          <p:cNvSpPr/>
          <p:nvPr/>
        </p:nvSpPr>
        <p:spPr>
          <a:xfrm flipV="1">
            <a:off x="1572768" y="2258568"/>
            <a:ext cx="2633472" cy="1975104"/>
          </a:xfrm>
          <a:prstGeom prst="line">
            <a:avLst/>
          </a:prstGeom>
          <a:noFill/>
          <a:ln w="38100">
            <a:solidFill>
              <a:srgbClr val="C8414C"/>
            </a:solidFill>
            <a:prstDash val="solid"/>
            <a:tailEnd type="triangle"/>
          </a:ln>
        </p:spPr>
      </p:sp>
      <p:sp>
        <p:nvSpPr>
          <p:cNvPr id="37" name="Shape 35"/>
          <p:cNvSpPr/>
          <p:nvPr/>
        </p:nvSpPr>
        <p:spPr>
          <a:xfrm>
            <a:off x="1508760" y="4169664"/>
            <a:ext cx="128016" cy="128016"/>
          </a:xfrm>
          <a:prstGeom prst="ellipse">
            <a:avLst/>
          </a:prstGeom>
          <a:solidFill>
            <a:srgbClr val="1A2340"/>
          </a:solidFill>
          <a:ln w="12700">
            <a:solidFill>
              <a:srgbClr val="1A2340"/>
            </a:solidFill>
            <a:prstDash val="solid"/>
          </a:ln>
        </p:spPr>
      </p:sp>
      <p:sp>
        <p:nvSpPr>
          <p:cNvPr id="38" name="Text 36"/>
          <p:cNvSpPr/>
          <p:nvPr/>
        </p:nvSpPr>
        <p:spPr>
          <a:xfrm>
            <a:off x="1024128" y="4288536"/>
            <a:ext cx="822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start</a:t>
            </a:r>
            <a:endParaRPr lang="en-US" sz="1050" dirty="0"/>
          </a:p>
        </p:txBody>
      </p:sp>
      <p:sp>
        <p:nvSpPr>
          <p:cNvPr id="39" name="Text 37"/>
          <p:cNvSpPr/>
          <p:nvPr/>
        </p:nvSpPr>
        <p:spPr>
          <a:xfrm>
            <a:off x="2121408" y="4270248"/>
            <a:ext cx="182880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400 m east</a:t>
            </a:r>
            <a:endParaRPr lang="en-US" sz="1100" dirty="0"/>
          </a:p>
        </p:txBody>
      </p:sp>
      <p:sp>
        <p:nvSpPr>
          <p:cNvPr id="40" name="Text 38"/>
          <p:cNvSpPr/>
          <p:nvPr/>
        </p:nvSpPr>
        <p:spPr>
          <a:xfrm>
            <a:off x="4279392" y="3118104"/>
            <a:ext cx="109728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300 m north</a:t>
            </a:r>
            <a:endParaRPr lang="en-US" sz="1100" dirty="0"/>
          </a:p>
        </p:txBody>
      </p:sp>
      <p:sp>
        <p:nvSpPr>
          <p:cNvPr id="41" name="Text 39"/>
          <p:cNvSpPr/>
          <p:nvPr/>
        </p:nvSpPr>
        <p:spPr>
          <a:xfrm>
            <a:off x="1709928" y="2768803"/>
            <a:ext cx="1828800" cy="45720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displacement</a:t>
            </a:r>
            <a:endParaRPr lang="en-US" sz="1100" dirty="0"/>
          </a:p>
          <a:p>
            <a:pPr algn="l" indent="0" marL="0">
              <a:buNone/>
            </a:pPr>
            <a:r>
              <a:rPr lang="en-US" sz="1100" b="1" dirty="0">
                <a:solidFill>
                  <a:srgbClr val="C8414C"/>
                </a:solidFill>
                <a:latin typeface="Calibri" pitchFamily="34" charset="0"/>
                <a:ea typeface="Calibri" pitchFamily="34" charset="-122"/>
                <a:cs typeface="Calibri" pitchFamily="34" charset="-120"/>
              </a:rPr>
              <a:t>500 m</a:t>
            </a:r>
            <a:endParaRPr lang="en-US" sz="1100" dirty="0"/>
          </a:p>
        </p:txBody>
      </p:sp>
      <p:sp>
        <p:nvSpPr>
          <p:cNvPr id="42" name="Shape 40"/>
          <p:cNvSpPr/>
          <p:nvPr/>
        </p:nvSpPr>
        <p:spPr>
          <a:xfrm flipV="1">
            <a:off x="1188720" y="1920240"/>
            <a:ext cx="91" cy="685800"/>
          </a:xfrm>
          <a:prstGeom prst="line">
            <a:avLst/>
          </a:prstGeom>
          <a:noFill/>
          <a:ln w="25400">
            <a:solidFill>
              <a:srgbClr val="1A2340"/>
            </a:solidFill>
            <a:prstDash val="solid"/>
            <a:tailEnd type="triangle"/>
          </a:ln>
        </p:spPr>
      </p:sp>
      <p:sp>
        <p:nvSpPr>
          <p:cNvPr id="43" name="Text 41"/>
          <p:cNvSpPr/>
          <p:nvPr/>
        </p:nvSpPr>
        <p:spPr>
          <a:xfrm>
            <a:off x="1051560" y="1691640"/>
            <a:ext cx="274320" cy="25603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N</a:t>
            </a:r>
            <a:endParaRPr lang="en-US" sz="1200" dirty="0"/>
          </a:p>
        </p:txBody>
      </p:sp>
      <p:sp>
        <p:nvSpPr>
          <p:cNvPr id="44" name="Shape 4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5" name="Text 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Size only, or size and direction?</a:t>
            </a:r>
            <a:endParaRPr lang="en-US" sz="1300" dirty="0"/>
          </a:p>
        </p:txBody>
      </p:sp>
      <p:sp>
        <p:nvSpPr>
          <p:cNvPr id="46" name="Text 4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scalar</a:t>
            </a:r>
            <a:r>
              <a:rPr lang="en-US" sz="1150" dirty="0">
                <a:solidFill>
                  <a:srgbClr val="262B3A"/>
                </a:solidFill>
                <a:latin typeface="Calibri" pitchFamily="34" charset="0"/>
                <a:ea typeface="Calibri" pitchFamily="34" charset="-122"/>
                <a:cs typeface="Calibri" pitchFamily="34" charset="-120"/>
              </a:rPr>
              <a:t> has </a:t>
            </a:r>
            <a:r>
              <a:rPr lang="en-US" sz="1150" b="1" dirty="0">
                <a:solidFill>
                  <a:srgbClr val="262B3A"/>
                </a:solidFill>
                <a:latin typeface="Calibri" pitchFamily="34" charset="0"/>
                <a:ea typeface="Calibri" pitchFamily="34" charset="-122"/>
                <a:cs typeface="Calibri" pitchFamily="34" charset="-120"/>
              </a:rPr>
              <a:t>magnitude (size)</a:t>
            </a:r>
            <a:r>
              <a:rPr lang="en-US" sz="1150" dirty="0">
                <a:solidFill>
                  <a:srgbClr val="262B3A"/>
                </a:solidFill>
                <a:latin typeface="Calibri" pitchFamily="34" charset="0"/>
                <a:ea typeface="Calibri" pitchFamily="34" charset="-122"/>
                <a:cs typeface="Calibri" pitchFamily="34" charset="-120"/>
              </a:rPr>
              <a:t> but </a:t>
            </a:r>
            <a:r>
              <a:rPr lang="en-US" sz="1150" b="1" dirty="0">
                <a:solidFill>
                  <a:srgbClr val="262B3A"/>
                </a:solidFill>
                <a:latin typeface="Calibri" pitchFamily="34" charset="0"/>
                <a:ea typeface="Calibri" pitchFamily="34" charset="-122"/>
                <a:cs typeface="Calibri" pitchFamily="34" charset="-120"/>
              </a:rPr>
              <a:t>no direction</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vector</a:t>
            </a:r>
            <a:r>
              <a:rPr lang="en-US" sz="1150" dirty="0">
                <a:solidFill>
                  <a:srgbClr val="262B3A"/>
                </a:solidFill>
                <a:latin typeface="Calibri" pitchFamily="34" charset="0"/>
                <a:ea typeface="Calibri" pitchFamily="34" charset="-122"/>
                <a:cs typeface="Calibri" pitchFamily="34" charset="-120"/>
              </a:rPr>
              <a:t> has </a:t>
            </a:r>
            <a:r>
              <a:rPr lang="en-US" sz="1150" b="1" dirty="0">
                <a:solidFill>
                  <a:srgbClr val="262B3A"/>
                </a:solidFill>
                <a:latin typeface="Calibri" pitchFamily="34" charset="0"/>
                <a:ea typeface="Calibri" pitchFamily="34" charset="-122"/>
                <a:cs typeface="Calibri" pitchFamily="34" charset="-120"/>
              </a:rPr>
              <a:t>magnitude and a direction</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150" b="1" dirty="0">
                <a:solidFill>
                  <a:srgbClr val="262B3A"/>
                </a:solidFill>
                <a:latin typeface="Calibri" pitchFamily="34" charset="0"/>
                <a:ea typeface="Calibri" pitchFamily="34" charset="-122"/>
                <a:cs typeface="Calibri" pitchFamily="34" charset="-120"/>
              </a:rPr>
              <a:t>Scalars:</a:t>
            </a:r>
            <a:r>
              <a:rPr lang="en-US" sz="1150" dirty="0">
                <a:solidFill>
                  <a:srgbClr val="262B3A"/>
                </a:solidFill>
                <a:latin typeface="Calibri" pitchFamily="34" charset="0"/>
                <a:ea typeface="Calibri" pitchFamily="34" charset="-122"/>
                <a:cs typeface="Calibri" pitchFamily="34" charset="-120"/>
              </a:rPr>
              <a:t> distance, speed, mass, energy, time</a:t>
            </a:r>
            <a:endParaRPr lang="en-US" sz="1150" dirty="0"/>
          </a:p>
          <a:p>
            <a:pPr indent="0" marL="0">
              <a:spcAft>
                <a:spcPts val="300"/>
              </a:spcAft>
              <a:buNone/>
            </a:pPr>
            <a:r>
              <a:rPr lang="en-US" sz="1150" b="1" dirty="0">
                <a:solidFill>
                  <a:srgbClr val="262B3A"/>
                </a:solidFill>
                <a:latin typeface="Calibri" pitchFamily="34" charset="0"/>
                <a:ea typeface="Calibri" pitchFamily="34" charset="-122"/>
                <a:cs typeface="Calibri" pitchFamily="34" charset="-120"/>
              </a:rPr>
              <a:t>Vectors:</a:t>
            </a:r>
            <a:r>
              <a:rPr lang="en-US" sz="1150" dirty="0">
                <a:solidFill>
                  <a:srgbClr val="262B3A"/>
                </a:solidFill>
                <a:latin typeface="Calibri" pitchFamily="34" charset="0"/>
                <a:ea typeface="Calibri" pitchFamily="34" charset="-122"/>
                <a:cs typeface="Calibri" pitchFamily="34" charset="-120"/>
              </a:rPr>
              <a:t> displacement, velocity, acceleration, force, weight, momentum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Walk 400 m east then 300 m north: </a:t>
            </a:r>
            <a:r>
              <a:rPr lang="en-US" sz="1150" b="1" dirty="0">
                <a:solidFill>
                  <a:srgbClr val="262B3A"/>
                </a:solidFill>
                <a:latin typeface="Calibri" pitchFamily="34" charset="0"/>
                <a:ea typeface="Calibri" pitchFamily="34" charset="-122"/>
                <a:cs typeface="Calibri" pitchFamily="34" charset="-120"/>
              </a:rPr>
              <a:t>distance = 700 m</a:t>
            </a:r>
            <a:r>
              <a:rPr lang="en-US" sz="1150" dirty="0">
                <a:solidFill>
                  <a:srgbClr val="262B3A"/>
                </a:solidFill>
                <a:latin typeface="Calibri" pitchFamily="34" charset="0"/>
                <a:ea typeface="Calibri" pitchFamily="34" charset="-122"/>
                <a:cs typeface="Calibri" pitchFamily="34" charset="-120"/>
              </a:rPr>
              <a:t> (scalar); </a:t>
            </a:r>
            <a:r>
              <a:rPr lang="en-US" sz="1150" b="1" dirty="0">
                <a:solidFill>
                  <a:srgbClr val="262B3A"/>
                </a:solidFill>
                <a:latin typeface="Calibri" pitchFamily="34" charset="0"/>
                <a:ea typeface="Calibri" pitchFamily="34" charset="-122"/>
                <a:cs typeface="Calibri" pitchFamily="34" charset="-120"/>
              </a:rPr>
              <a:t>displacement = 500 m</a:t>
            </a:r>
            <a:r>
              <a:rPr lang="en-US" sz="1150" dirty="0">
                <a:solidFill>
                  <a:srgbClr val="262B3A"/>
                </a:solidFill>
                <a:latin typeface="Calibri" pitchFamily="34" charset="0"/>
                <a:ea typeface="Calibri" pitchFamily="34" charset="-122"/>
                <a:cs typeface="Calibri" pitchFamily="34" charset="-120"/>
              </a:rPr>
              <a:t> in a straight line north-east of the start (vector).</a:t>
            </a:r>
            <a:endParaRPr lang="en-US" sz="1150" dirty="0"/>
          </a:p>
        </p:txBody>
      </p:sp>
      <p:sp>
        <p:nvSpPr>
          <p:cNvPr id="47" name="Shape 4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8" name="Text 4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Pairs to learn</a:t>
            </a:r>
            <a:endParaRPr lang="en-US" sz="1300" dirty="0"/>
          </a:p>
        </p:txBody>
      </p:sp>
      <p:sp>
        <p:nvSpPr>
          <p:cNvPr id="49" name="Text 4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Each vector has a matching scalar.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distance   </a:t>
            </a:r>
            <a:r>
              <a:rPr lang="en-US" sz="1050" dirty="0">
                <a:solidFill>
                  <a:srgbClr val="262B3A"/>
                </a:solidFill>
                <a:latin typeface="Calibri" pitchFamily="34" charset="0"/>
                <a:ea typeface="Calibri" pitchFamily="34" charset="-122"/>
                <a:cs typeface="Calibri" pitchFamily="34" charset="-120"/>
              </a:rPr>
              <a:t>→ displacement (distance in a stated direction)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speed   </a:t>
            </a:r>
            <a:r>
              <a:rPr lang="en-US" sz="1050" dirty="0">
                <a:solidFill>
                  <a:srgbClr val="262B3A"/>
                </a:solidFill>
                <a:latin typeface="Calibri" pitchFamily="34" charset="0"/>
                <a:ea typeface="Calibri" pitchFamily="34" charset="-122"/>
                <a:cs typeface="Calibri" pitchFamily="34" charset="-120"/>
              </a:rPr>
              <a:t>→ velocity (speed in a stated direction)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mass   </a:t>
            </a:r>
            <a:r>
              <a:rPr lang="en-US" sz="1050" dirty="0">
                <a:solidFill>
                  <a:srgbClr val="262B3A"/>
                </a:solidFill>
                <a:latin typeface="Calibri" pitchFamily="34" charset="0"/>
                <a:ea typeface="Calibri" pitchFamily="34" charset="-122"/>
                <a:cs typeface="Calibri" pitchFamily="34" charset="-120"/>
              </a:rPr>
              <a:t>→ weight is a force, a vector (pulls down)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 vector always needs a direction</a:t>
            </a:r>
            <a:endParaRPr lang="en-US" sz="1050" dirty="0"/>
          </a:p>
        </p:txBody>
      </p:sp>
      <p:sp>
        <p:nvSpPr>
          <p:cNvPr id="50"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runner completes one full lap of a 400 m track. State the distance travelled and the displacement.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Speed and velocity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2.5, 2.6 • average speed = distance ÷ time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2.6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same speed, different velocities: direction matters</a:t>
            </a:r>
            <a:endParaRPr lang="en-US" sz="1000" dirty="0"/>
          </a:p>
        </p:txBody>
      </p:sp>
      <p:sp>
        <p:nvSpPr>
          <p:cNvPr id="10" name="Shape 8"/>
          <p:cNvSpPr/>
          <p:nvPr/>
        </p:nvSpPr>
        <p:spPr>
          <a:xfrm>
            <a:off x="685800" y="1600200"/>
            <a:ext cx="5029200" cy="1417320"/>
          </a:xfrm>
          <a:prstGeom prst="rect">
            <a:avLst/>
          </a:prstGeom>
          <a:solidFill>
            <a:srgbClr val="5A6275"/>
          </a:solidFill>
          <a:ln/>
        </p:spPr>
      </p:sp>
      <p:sp>
        <p:nvSpPr>
          <p:cNvPr id="11" name="Shape 9"/>
          <p:cNvSpPr/>
          <p:nvPr/>
        </p:nvSpPr>
        <p:spPr>
          <a:xfrm>
            <a:off x="685800" y="2304288"/>
            <a:ext cx="5029200" cy="91"/>
          </a:xfrm>
          <a:prstGeom prst="line">
            <a:avLst/>
          </a:prstGeom>
          <a:noFill/>
          <a:ln w="25400">
            <a:solidFill>
              <a:srgbClr val="F5F5F5"/>
            </a:solidFill>
            <a:prstDash val="dash"/>
          </a:ln>
        </p:spPr>
      </p:sp>
      <p:sp>
        <p:nvSpPr>
          <p:cNvPr id="12" name="Shape 10"/>
          <p:cNvSpPr/>
          <p:nvPr/>
        </p:nvSpPr>
        <p:spPr>
          <a:xfrm>
            <a:off x="1367028" y="1522476"/>
            <a:ext cx="754380" cy="233172"/>
          </a:xfrm>
          <a:prstGeom prst="roundRect">
            <a:avLst>
              <a:gd name="adj" fmla="val 31373"/>
            </a:avLst>
          </a:prstGeom>
          <a:solidFill>
            <a:srgbClr val="2E5BD8"/>
          </a:solidFill>
          <a:ln w="12700">
            <a:solidFill>
              <a:srgbClr val="1F2A4A"/>
            </a:solidFill>
            <a:prstDash val="solid"/>
          </a:ln>
        </p:spPr>
      </p:sp>
      <p:sp>
        <p:nvSpPr>
          <p:cNvPr id="13" name="Shape 11"/>
          <p:cNvSpPr/>
          <p:nvPr/>
        </p:nvSpPr>
        <p:spPr>
          <a:xfrm>
            <a:off x="1412748" y="1559052"/>
            <a:ext cx="662940" cy="178308"/>
          </a:xfrm>
          <a:prstGeom prst="roundRect">
            <a:avLst>
              <a:gd name="adj" fmla="val 25641"/>
            </a:avLst>
          </a:prstGeom>
          <a:solidFill>
            <a:srgbClr val="DCE8FA"/>
          </a:solidFill>
          <a:ln/>
        </p:spPr>
      </p:sp>
      <p:sp>
        <p:nvSpPr>
          <p:cNvPr id="14" name="Shape 12"/>
          <p:cNvSpPr/>
          <p:nvPr/>
        </p:nvSpPr>
        <p:spPr>
          <a:xfrm>
            <a:off x="914400" y="1737360"/>
            <a:ext cx="1371600" cy="301752"/>
          </a:xfrm>
          <a:prstGeom prst="roundRect">
            <a:avLst>
              <a:gd name="adj" fmla="val 18182"/>
            </a:avLst>
          </a:prstGeom>
          <a:solidFill>
            <a:srgbClr val="2E5BD8"/>
          </a:solidFill>
          <a:ln w="12700">
            <a:solidFill>
              <a:srgbClr val="1F2A4A"/>
            </a:solidFill>
            <a:prstDash val="solid"/>
          </a:ln>
        </p:spPr>
      </p:sp>
      <p:sp>
        <p:nvSpPr>
          <p:cNvPr id="15" name="Shape 13"/>
          <p:cNvSpPr/>
          <p:nvPr/>
        </p:nvSpPr>
        <p:spPr>
          <a:xfrm>
            <a:off x="1078992" y="1929384"/>
            <a:ext cx="219456" cy="219456"/>
          </a:xfrm>
          <a:prstGeom prst="ellipse">
            <a:avLst/>
          </a:prstGeom>
          <a:solidFill>
            <a:srgbClr val="2A2F3A"/>
          </a:solidFill>
          <a:ln w="9525">
            <a:solidFill>
              <a:srgbClr val="1F2430"/>
            </a:solidFill>
            <a:prstDash val="solid"/>
          </a:ln>
        </p:spPr>
      </p:sp>
      <p:sp>
        <p:nvSpPr>
          <p:cNvPr id="16" name="Shape 14"/>
          <p:cNvSpPr/>
          <p:nvPr/>
        </p:nvSpPr>
        <p:spPr>
          <a:xfrm>
            <a:off x="1901952" y="1929384"/>
            <a:ext cx="219456" cy="219456"/>
          </a:xfrm>
          <a:prstGeom prst="ellipse">
            <a:avLst/>
          </a:prstGeom>
          <a:solidFill>
            <a:srgbClr val="2A2F3A"/>
          </a:solidFill>
          <a:ln w="9525">
            <a:solidFill>
              <a:srgbClr val="1F2430"/>
            </a:solidFill>
            <a:prstDash val="solid"/>
          </a:ln>
        </p:spPr>
      </p:sp>
      <p:sp>
        <p:nvSpPr>
          <p:cNvPr id="17" name="Shape 15"/>
          <p:cNvSpPr/>
          <p:nvPr/>
        </p:nvSpPr>
        <p:spPr>
          <a:xfrm>
            <a:off x="2423160" y="1828800"/>
            <a:ext cx="914400" cy="91"/>
          </a:xfrm>
          <a:prstGeom prst="line">
            <a:avLst/>
          </a:prstGeom>
          <a:noFill/>
          <a:ln w="38100">
            <a:solidFill>
              <a:srgbClr val="FFFFFF"/>
            </a:solidFill>
            <a:prstDash val="solid"/>
            <a:tailEnd type="triangle"/>
          </a:ln>
        </p:spPr>
      </p:sp>
      <p:sp>
        <p:nvSpPr>
          <p:cNvPr id="18" name="Text 16"/>
          <p:cNvSpPr/>
          <p:nvPr/>
        </p:nvSpPr>
        <p:spPr>
          <a:xfrm>
            <a:off x="3383280" y="1700784"/>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+20 m/s (east)</a:t>
            </a:r>
            <a:endParaRPr lang="en-US" sz="1100" dirty="0"/>
          </a:p>
        </p:txBody>
      </p:sp>
      <p:sp>
        <p:nvSpPr>
          <p:cNvPr id="19" name="Shape 17"/>
          <p:cNvSpPr/>
          <p:nvPr/>
        </p:nvSpPr>
        <p:spPr>
          <a:xfrm>
            <a:off x="4279392" y="2235708"/>
            <a:ext cx="754380" cy="233172"/>
          </a:xfrm>
          <a:prstGeom prst="roundRect">
            <a:avLst>
              <a:gd name="adj" fmla="val 31373"/>
            </a:avLst>
          </a:prstGeom>
          <a:solidFill>
            <a:srgbClr val="C8414C"/>
          </a:solidFill>
          <a:ln w="12700">
            <a:solidFill>
              <a:srgbClr val="1F2A4A"/>
            </a:solidFill>
            <a:prstDash val="solid"/>
          </a:ln>
        </p:spPr>
      </p:sp>
      <p:sp>
        <p:nvSpPr>
          <p:cNvPr id="20" name="Shape 18"/>
          <p:cNvSpPr/>
          <p:nvPr/>
        </p:nvSpPr>
        <p:spPr>
          <a:xfrm>
            <a:off x="4325112" y="2272284"/>
            <a:ext cx="662940" cy="178308"/>
          </a:xfrm>
          <a:prstGeom prst="roundRect">
            <a:avLst>
              <a:gd name="adj" fmla="val 25641"/>
            </a:avLst>
          </a:prstGeom>
          <a:solidFill>
            <a:srgbClr val="DCE8FA"/>
          </a:solidFill>
          <a:ln/>
        </p:spPr>
      </p:sp>
      <p:sp>
        <p:nvSpPr>
          <p:cNvPr id="21" name="Shape 19"/>
          <p:cNvSpPr/>
          <p:nvPr/>
        </p:nvSpPr>
        <p:spPr>
          <a:xfrm>
            <a:off x="4114800" y="2450592"/>
            <a:ext cx="1371600" cy="301752"/>
          </a:xfrm>
          <a:prstGeom prst="roundRect">
            <a:avLst>
              <a:gd name="adj" fmla="val 18182"/>
            </a:avLst>
          </a:prstGeom>
          <a:solidFill>
            <a:srgbClr val="C8414C"/>
          </a:solidFill>
          <a:ln w="12700">
            <a:solidFill>
              <a:srgbClr val="1F2A4A"/>
            </a:solidFill>
            <a:prstDash val="solid"/>
          </a:ln>
        </p:spPr>
      </p:sp>
      <p:sp>
        <p:nvSpPr>
          <p:cNvPr id="22" name="Shape 20"/>
          <p:cNvSpPr/>
          <p:nvPr/>
        </p:nvSpPr>
        <p:spPr>
          <a:xfrm>
            <a:off x="4279392" y="2642616"/>
            <a:ext cx="219456" cy="219456"/>
          </a:xfrm>
          <a:prstGeom prst="ellipse">
            <a:avLst/>
          </a:prstGeom>
          <a:solidFill>
            <a:srgbClr val="2A2F3A"/>
          </a:solidFill>
          <a:ln w="9525">
            <a:solidFill>
              <a:srgbClr val="1F2430"/>
            </a:solidFill>
            <a:prstDash val="solid"/>
          </a:ln>
        </p:spPr>
      </p:sp>
      <p:sp>
        <p:nvSpPr>
          <p:cNvPr id="23" name="Shape 21"/>
          <p:cNvSpPr/>
          <p:nvPr/>
        </p:nvSpPr>
        <p:spPr>
          <a:xfrm>
            <a:off x="5102352" y="2642616"/>
            <a:ext cx="219456" cy="219456"/>
          </a:xfrm>
          <a:prstGeom prst="ellipse">
            <a:avLst/>
          </a:prstGeom>
          <a:solidFill>
            <a:srgbClr val="2A2F3A"/>
          </a:solidFill>
          <a:ln w="9525">
            <a:solidFill>
              <a:srgbClr val="1F2430"/>
            </a:solidFill>
            <a:prstDash val="solid"/>
          </a:ln>
        </p:spPr>
      </p:sp>
      <p:sp>
        <p:nvSpPr>
          <p:cNvPr id="24" name="Shape 22"/>
          <p:cNvSpPr/>
          <p:nvPr/>
        </p:nvSpPr>
        <p:spPr>
          <a:xfrm flipH="1">
            <a:off x="3063240" y="2560320"/>
            <a:ext cx="914400" cy="91"/>
          </a:xfrm>
          <a:prstGeom prst="line">
            <a:avLst/>
          </a:prstGeom>
          <a:noFill/>
          <a:ln w="38100">
            <a:solidFill>
              <a:srgbClr val="FFFFFF"/>
            </a:solidFill>
            <a:prstDash val="solid"/>
            <a:tailEnd type="triangle"/>
          </a:ln>
        </p:spPr>
      </p:sp>
      <p:sp>
        <p:nvSpPr>
          <p:cNvPr id="25" name="Text 23"/>
          <p:cNvSpPr/>
          <p:nvPr/>
        </p:nvSpPr>
        <p:spPr>
          <a:xfrm>
            <a:off x="1188720" y="2432304"/>
            <a:ext cx="182880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−20 m/s (west)</a:t>
            </a:r>
            <a:endParaRPr lang="en-US" sz="1100" dirty="0"/>
          </a:p>
        </p:txBody>
      </p:sp>
      <p:sp>
        <p:nvSpPr>
          <p:cNvPr id="26" name="Text 24"/>
          <p:cNvSpPr/>
          <p:nvPr/>
        </p:nvSpPr>
        <p:spPr>
          <a:xfrm>
            <a:off x="685800" y="3063240"/>
            <a:ext cx="502920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both cars: speed 20 m/s • velocities +20 m/s and −20 m/s</a:t>
            </a:r>
            <a:endParaRPr lang="en-US" sz="1050" dirty="0"/>
          </a:p>
        </p:txBody>
      </p:sp>
      <p:sp>
        <p:nvSpPr>
          <p:cNvPr id="27" name="Shape 25"/>
          <p:cNvSpPr/>
          <p:nvPr/>
        </p:nvSpPr>
        <p:spPr>
          <a:xfrm>
            <a:off x="685800" y="3657600"/>
            <a:ext cx="5029200" cy="457200"/>
          </a:xfrm>
          <a:prstGeom prst="rect">
            <a:avLst/>
          </a:prstGeom>
          <a:solidFill>
            <a:srgbClr val="C9774B"/>
          </a:solidFill>
          <a:ln/>
        </p:spPr>
      </p:sp>
      <p:sp>
        <p:nvSpPr>
          <p:cNvPr id="28" name="Shape 26"/>
          <p:cNvSpPr/>
          <p:nvPr/>
        </p:nvSpPr>
        <p:spPr>
          <a:xfrm>
            <a:off x="914400" y="3520440"/>
            <a:ext cx="91" cy="731520"/>
          </a:xfrm>
          <a:prstGeom prst="line">
            <a:avLst/>
          </a:prstGeom>
          <a:noFill/>
          <a:ln w="38100">
            <a:solidFill>
              <a:srgbClr val="FFFFFF"/>
            </a:solidFill>
            <a:prstDash val="solid"/>
          </a:ln>
        </p:spPr>
      </p:sp>
      <p:sp>
        <p:nvSpPr>
          <p:cNvPr id="29" name="Shape 27"/>
          <p:cNvSpPr/>
          <p:nvPr/>
        </p:nvSpPr>
        <p:spPr>
          <a:xfrm>
            <a:off x="5486400" y="3520440"/>
            <a:ext cx="91" cy="731520"/>
          </a:xfrm>
          <a:prstGeom prst="line">
            <a:avLst/>
          </a:prstGeom>
          <a:noFill/>
          <a:ln w="38100">
            <a:solidFill>
              <a:srgbClr val="FFFFFF"/>
            </a:solidFill>
            <a:prstDash val="solid"/>
          </a:ln>
        </p:spPr>
      </p:sp>
      <p:sp>
        <p:nvSpPr>
          <p:cNvPr id="30" name="Shape 28"/>
          <p:cNvSpPr/>
          <p:nvPr/>
        </p:nvSpPr>
        <p:spPr>
          <a:xfrm>
            <a:off x="1118768" y="3108960"/>
            <a:ext cx="139903" cy="139903"/>
          </a:xfrm>
          <a:prstGeom prst="ellipse">
            <a:avLst/>
          </a:prstGeom>
          <a:solidFill>
            <a:srgbClr val="1A2340"/>
          </a:solidFill>
          <a:ln w="12700">
            <a:solidFill>
              <a:srgbClr val="1A2340"/>
            </a:solidFill>
            <a:prstDash val="solid"/>
          </a:ln>
        </p:spPr>
      </p:sp>
      <p:sp>
        <p:nvSpPr>
          <p:cNvPr id="31" name="Shape 29"/>
          <p:cNvSpPr/>
          <p:nvPr/>
        </p:nvSpPr>
        <p:spPr>
          <a:xfrm>
            <a:off x="1188720" y="3248863"/>
            <a:ext cx="91" cy="312725"/>
          </a:xfrm>
          <a:prstGeom prst="line">
            <a:avLst/>
          </a:prstGeom>
          <a:noFill/>
          <a:ln w="38100">
            <a:solidFill>
              <a:srgbClr val="1A2340"/>
            </a:solidFill>
            <a:prstDash val="solid"/>
          </a:ln>
        </p:spPr>
      </p:sp>
      <p:sp>
        <p:nvSpPr>
          <p:cNvPr id="32" name="Shape 30"/>
          <p:cNvSpPr/>
          <p:nvPr/>
        </p:nvSpPr>
        <p:spPr>
          <a:xfrm flipH="1">
            <a:off x="1024128" y="3561588"/>
            <a:ext cx="164592" cy="370332"/>
          </a:xfrm>
          <a:prstGeom prst="line">
            <a:avLst/>
          </a:prstGeom>
          <a:noFill/>
          <a:ln w="38100">
            <a:solidFill>
              <a:srgbClr val="1A2340"/>
            </a:solidFill>
            <a:prstDash val="solid"/>
          </a:ln>
        </p:spPr>
      </p:sp>
      <p:sp>
        <p:nvSpPr>
          <p:cNvPr id="33" name="Shape 31"/>
          <p:cNvSpPr/>
          <p:nvPr/>
        </p:nvSpPr>
        <p:spPr>
          <a:xfrm>
            <a:off x="1188720" y="3561588"/>
            <a:ext cx="164592" cy="370332"/>
          </a:xfrm>
          <a:prstGeom prst="line">
            <a:avLst/>
          </a:prstGeom>
          <a:noFill/>
          <a:ln w="38100">
            <a:solidFill>
              <a:srgbClr val="1A2340"/>
            </a:solidFill>
            <a:prstDash val="solid"/>
          </a:ln>
        </p:spPr>
      </p:sp>
      <p:sp>
        <p:nvSpPr>
          <p:cNvPr id="34" name="Shape 32"/>
          <p:cNvSpPr/>
          <p:nvPr/>
        </p:nvSpPr>
        <p:spPr>
          <a:xfrm>
            <a:off x="1188720" y="3358591"/>
            <a:ext cx="384048" cy="91"/>
          </a:xfrm>
          <a:prstGeom prst="line">
            <a:avLst/>
          </a:prstGeom>
          <a:noFill/>
          <a:ln w="38100">
            <a:solidFill>
              <a:srgbClr val="1A2340"/>
            </a:solidFill>
            <a:prstDash val="solid"/>
          </a:ln>
        </p:spPr>
      </p:sp>
      <p:sp>
        <p:nvSpPr>
          <p:cNvPr id="35" name="Shape 33"/>
          <p:cNvSpPr/>
          <p:nvPr/>
        </p:nvSpPr>
        <p:spPr>
          <a:xfrm>
            <a:off x="1188720" y="3413455"/>
            <a:ext cx="365760" cy="36576"/>
          </a:xfrm>
          <a:prstGeom prst="line">
            <a:avLst/>
          </a:prstGeom>
          <a:noFill/>
          <a:ln w="38100">
            <a:solidFill>
              <a:srgbClr val="1A2340"/>
            </a:solidFill>
            <a:prstDash val="solid"/>
          </a:ln>
        </p:spPr>
      </p:sp>
      <p:sp>
        <p:nvSpPr>
          <p:cNvPr id="36" name="Shape 34"/>
          <p:cNvSpPr/>
          <p:nvPr/>
        </p:nvSpPr>
        <p:spPr>
          <a:xfrm>
            <a:off x="914400" y="4526280"/>
            <a:ext cx="4572000" cy="91"/>
          </a:xfrm>
          <a:prstGeom prst="line">
            <a:avLst/>
          </a:prstGeom>
          <a:noFill/>
          <a:ln w="15875">
            <a:solidFill>
              <a:srgbClr val="2E5BD8"/>
            </a:solidFill>
            <a:prstDash val="solid"/>
            <a:headEnd type="triangle"/>
            <a:tailEnd type="triangle"/>
          </a:ln>
        </p:spPr>
      </p:sp>
      <p:sp>
        <p:nvSpPr>
          <p:cNvPr id="37" name="Text 35"/>
          <p:cNvSpPr/>
          <p:nvPr/>
        </p:nvSpPr>
        <p:spPr>
          <a:xfrm>
            <a:off x="914400" y="4562856"/>
            <a:ext cx="457200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distance = 100 m</a:t>
            </a:r>
            <a:endParaRPr lang="en-US" sz="1050" dirty="0"/>
          </a:p>
        </p:txBody>
      </p:sp>
      <p:sp>
        <p:nvSpPr>
          <p:cNvPr id="38" name="Text 36"/>
          <p:cNvSpPr/>
          <p:nvPr/>
        </p:nvSpPr>
        <p:spPr>
          <a:xfrm>
            <a:off x="3108960" y="4892040"/>
            <a:ext cx="256032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time = 12.5 s</a:t>
            </a:r>
            <a:endParaRPr lang="en-US" sz="1100" dirty="0"/>
          </a:p>
        </p:txBody>
      </p:sp>
      <p:sp>
        <p:nvSpPr>
          <p:cNvPr id="39" name="Shape 3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0" name="Text 3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Speed tells you how fast; velocity adds direction</a:t>
            </a:r>
            <a:endParaRPr lang="en-US" sz="1300" dirty="0"/>
          </a:p>
        </p:txBody>
      </p:sp>
      <p:sp>
        <p:nvSpPr>
          <p:cNvPr id="41" name="Text 3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Velocity</a:t>
            </a:r>
            <a:r>
              <a:rPr lang="en-US" sz="1150" dirty="0">
                <a:solidFill>
                  <a:srgbClr val="262B3A"/>
                </a:solidFill>
                <a:latin typeface="Calibri" pitchFamily="34" charset="0"/>
                <a:ea typeface="Calibri" pitchFamily="34" charset="-122"/>
                <a:cs typeface="Calibri" pitchFamily="34" charset="-120"/>
              </a:rPr>
              <a:t> is </a:t>
            </a:r>
            <a:r>
              <a:rPr lang="en-US" sz="1150" b="1" dirty="0">
                <a:solidFill>
                  <a:srgbClr val="262B3A"/>
                </a:solidFill>
                <a:latin typeface="Calibri" pitchFamily="34" charset="0"/>
                <a:ea typeface="Calibri" pitchFamily="34" charset="-122"/>
                <a:cs typeface="Calibri" pitchFamily="34" charset="-120"/>
              </a:rPr>
              <a:t>speed in a stated direction</a:t>
            </a:r>
            <a:r>
              <a:rPr lang="en-US" sz="1150" dirty="0">
                <a:solidFill>
                  <a:srgbClr val="262B3A"/>
                </a:solidFill>
                <a:latin typeface="Calibri" pitchFamily="34" charset="0"/>
                <a:ea typeface="Calibri" pitchFamily="34" charset="-122"/>
                <a:cs typeface="Calibri" pitchFamily="34" charset="-120"/>
              </a:rPr>
              <a:t>: a vector. Speed is a scalar.</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average speed = distance ÷ time</a:t>
            </a:r>
            <a:r>
              <a:rPr lang="en-US" sz="1150" dirty="0">
                <a:solidFill>
                  <a:srgbClr val="262B3A"/>
                </a:solidFill>
                <a:latin typeface="Calibri" pitchFamily="34" charset="0"/>
                <a:ea typeface="Calibri" pitchFamily="34" charset="-122"/>
                <a:cs typeface="Calibri" pitchFamily="34" charset="-120"/>
              </a:rPr>
              <a:t>   s = d ÷ t   (m/s, m, s)</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distance = average speed × time</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both forms.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object moving in a circle at a steady speed has a </a:t>
            </a:r>
            <a:r>
              <a:rPr lang="en-US" sz="1150" b="1" dirty="0">
                <a:solidFill>
                  <a:srgbClr val="262B3A"/>
                </a:solidFill>
                <a:latin typeface="Calibri" pitchFamily="34" charset="0"/>
                <a:ea typeface="Calibri" pitchFamily="34" charset="-122"/>
                <a:cs typeface="Calibri" pitchFamily="34" charset="-120"/>
              </a:rPr>
              <a:t>changing velocity</a:t>
            </a:r>
            <a:r>
              <a:rPr lang="en-US" sz="1150" dirty="0">
                <a:solidFill>
                  <a:srgbClr val="262B3A"/>
                </a:solidFill>
                <a:latin typeface="Calibri" pitchFamily="34" charset="0"/>
                <a:ea typeface="Calibri" pitchFamily="34" charset="-122"/>
                <a:cs typeface="Calibri" pitchFamily="34" charset="-120"/>
              </a:rPr>
              <a:t>, because its direction changes.</a:t>
            </a:r>
            <a:endParaRPr lang="en-US" sz="1150" dirty="0"/>
          </a:p>
        </p:txBody>
      </p:sp>
      <p:sp>
        <p:nvSpPr>
          <p:cNvPr id="42" name="Shape 4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3" name="Text 4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4" name="Text 42"/>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sprinter runs 100 m in 12.5 s. Calculate her average speed.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average speed = distance ÷ time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s = 100 m ÷ 12.5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about 8 m/s is a sensible sprinting speed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s = 8.0 m/s</a:t>
            </a:r>
            <a:endParaRPr lang="en-US" sz="1100" dirty="0"/>
          </a:p>
        </p:txBody>
      </p:sp>
      <p:sp>
        <p:nvSpPr>
          <p:cNvPr id="45" name="Shape 43"/>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4"/>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car travels at an average speed of 25 m/s for 2.0 minutes. Calculate the distance it travels.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Distance–time graphs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2.7 • speed = gradient of a distance–time graph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2.7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cyclist’s journey, plotted to scale</a:t>
            </a:r>
            <a:endParaRPr lang="en-US" sz="1000" dirty="0"/>
          </a:p>
        </p:txBody>
      </p:sp>
      <p:sp>
        <p:nvSpPr>
          <p:cNvPr id="10" name="Shape 8"/>
          <p:cNvSpPr/>
          <p:nvPr/>
        </p:nvSpPr>
        <p:spPr>
          <a:xfrm>
            <a:off x="1280160" y="1417320"/>
            <a:ext cx="4389120" cy="3383280"/>
          </a:xfrm>
          <a:prstGeom prst="rect">
            <a:avLst/>
          </a:prstGeom>
          <a:solidFill>
            <a:srgbClr val="FFFFFF"/>
          </a:solidFill>
          <a:ln/>
        </p:spPr>
      </p:sp>
      <p:sp>
        <p:nvSpPr>
          <p:cNvPr id="11" name="Shape 9"/>
          <p:cNvSpPr/>
          <p:nvPr/>
        </p:nvSpPr>
        <p:spPr>
          <a:xfrm>
            <a:off x="1280160" y="1417320"/>
            <a:ext cx="91" cy="3383280"/>
          </a:xfrm>
          <a:prstGeom prst="line">
            <a:avLst/>
          </a:prstGeom>
          <a:noFill/>
          <a:ln w="6350">
            <a:solidFill>
              <a:srgbClr val="C9D3E6"/>
            </a:solidFill>
            <a:prstDash val="solid"/>
          </a:ln>
        </p:spPr>
      </p:sp>
      <p:sp>
        <p:nvSpPr>
          <p:cNvPr id="12" name="Shape 10"/>
          <p:cNvSpPr/>
          <p:nvPr/>
        </p:nvSpPr>
        <p:spPr>
          <a:xfrm>
            <a:off x="1719072" y="1417320"/>
            <a:ext cx="91" cy="3383280"/>
          </a:xfrm>
          <a:prstGeom prst="line">
            <a:avLst/>
          </a:prstGeom>
          <a:noFill/>
          <a:ln w="6350">
            <a:solidFill>
              <a:srgbClr val="E6EBF4"/>
            </a:solidFill>
            <a:prstDash val="solid"/>
          </a:ln>
        </p:spPr>
      </p:sp>
      <p:sp>
        <p:nvSpPr>
          <p:cNvPr id="13" name="Shape 11"/>
          <p:cNvSpPr/>
          <p:nvPr/>
        </p:nvSpPr>
        <p:spPr>
          <a:xfrm>
            <a:off x="2157984" y="1417320"/>
            <a:ext cx="91" cy="3383280"/>
          </a:xfrm>
          <a:prstGeom prst="line">
            <a:avLst/>
          </a:prstGeom>
          <a:noFill/>
          <a:ln w="6350">
            <a:solidFill>
              <a:srgbClr val="C9D3E6"/>
            </a:solidFill>
            <a:prstDash val="solid"/>
          </a:ln>
        </p:spPr>
      </p:sp>
      <p:sp>
        <p:nvSpPr>
          <p:cNvPr id="14" name="Shape 12"/>
          <p:cNvSpPr/>
          <p:nvPr/>
        </p:nvSpPr>
        <p:spPr>
          <a:xfrm>
            <a:off x="2596896" y="1417320"/>
            <a:ext cx="91" cy="3383280"/>
          </a:xfrm>
          <a:prstGeom prst="line">
            <a:avLst/>
          </a:prstGeom>
          <a:noFill/>
          <a:ln w="6350">
            <a:solidFill>
              <a:srgbClr val="E6EBF4"/>
            </a:solidFill>
            <a:prstDash val="solid"/>
          </a:ln>
        </p:spPr>
      </p:sp>
      <p:sp>
        <p:nvSpPr>
          <p:cNvPr id="15" name="Shape 13"/>
          <p:cNvSpPr/>
          <p:nvPr/>
        </p:nvSpPr>
        <p:spPr>
          <a:xfrm>
            <a:off x="3035808" y="1417320"/>
            <a:ext cx="91" cy="3383280"/>
          </a:xfrm>
          <a:prstGeom prst="line">
            <a:avLst/>
          </a:prstGeom>
          <a:noFill/>
          <a:ln w="6350">
            <a:solidFill>
              <a:srgbClr val="C9D3E6"/>
            </a:solidFill>
            <a:prstDash val="solid"/>
          </a:ln>
        </p:spPr>
      </p:sp>
      <p:sp>
        <p:nvSpPr>
          <p:cNvPr id="16" name="Shape 14"/>
          <p:cNvSpPr/>
          <p:nvPr/>
        </p:nvSpPr>
        <p:spPr>
          <a:xfrm>
            <a:off x="3474720" y="1417320"/>
            <a:ext cx="91" cy="3383280"/>
          </a:xfrm>
          <a:prstGeom prst="line">
            <a:avLst/>
          </a:prstGeom>
          <a:noFill/>
          <a:ln w="6350">
            <a:solidFill>
              <a:srgbClr val="E6EBF4"/>
            </a:solidFill>
            <a:prstDash val="solid"/>
          </a:ln>
        </p:spPr>
      </p:sp>
      <p:sp>
        <p:nvSpPr>
          <p:cNvPr id="17" name="Shape 15"/>
          <p:cNvSpPr/>
          <p:nvPr/>
        </p:nvSpPr>
        <p:spPr>
          <a:xfrm>
            <a:off x="3913632" y="1417320"/>
            <a:ext cx="91" cy="3383280"/>
          </a:xfrm>
          <a:prstGeom prst="line">
            <a:avLst/>
          </a:prstGeom>
          <a:noFill/>
          <a:ln w="6350">
            <a:solidFill>
              <a:srgbClr val="C9D3E6"/>
            </a:solidFill>
            <a:prstDash val="solid"/>
          </a:ln>
        </p:spPr>
      </p:sp>
      <p:sp>
        <p:nvSpPr>
          <p:cNvPr id="18" name="Shape 16"/>
          <p:cNvSpPr/>
          <p:nvPr/>
        </p:nvSpPr>
        <p:spPr>
          <a:xfrm>
            <a:off x="4352544" y="1417320"/>
            <a:ext cx="91" cy="3383280"/>
          </a:xfrm>
          <a:prstGeom prst="line">
            <a:avLst/>
          </a:prstGeom>
          <a:noFill/>
          <a:ln w="6350">
            <a:solidFill>
              <a:srgbClr val="E6EBF4"/>
            </a:solidFill>
            <a:prstDash val="solid"/>
          </a:ln>
        </p:spPr>
      </p:sp>
      <p:sp>
        <p:nvSpPr>
          <p:cNvPr id="19" name="Shape 17"/>
          <p:cNvSpPr/>
          <p:nvPr/>
        </p:nvSpPr>
        <p:spPr>
          <a:xfrm>
            <a:off x="4791456" y="1417320"/>
            <a:ext cx="91" cy="3383280"/>
          </a:xfrm>
          <a:prstGeom prst="line">
            <a:avLst/>
          </a:prstGeom>
          <a:noFill/>
          <a:ln w="6350">
            <a:solidFill>
              <a:srgbClr val="C9D3E6"/>
            </a:solidFill>
            <a:prstDash val="solid"/>
          </a:ln>
        </p:spPr>
      </p:sp>
      <p:sp>
        <p:nvSpPr>
          <p:cNvPr id="20" name="Shape 18"/>
          <p:cNvSpPr/>
          <p:nvPr/>
        </p:nvSpPr>
        <p:spPr>
          <a:xfrm>
            <a:off x="5230368" y="1417320"/>
            <a:ext cx="91" cy="3383280"/>
          </a:xfrm>
          <a:prstGeom prst="line">
            <a:avLst/>
          </a:prstGeom>
          <a:noFill/>
          <a:ln w="6350">
            <a:solidFill>
              <a:srgbClr val="E6EBF4"/>
            </a:solidFill>
            <a:prstDash val="solid"/>
          </a:ln>
        </p:spPr>
      </p:sp>
      <p:sp>
        <p:nvSpPr>
          <p:cNvPr id="21" name="Shape 19"/>
          <p:cNvSpPr/>
          <p:nvPr/>
        </p:nvSpPr>
        <p:spPr>
          <a:xfrm>
            <a:off x="5669280" y="1417320"/>
            <a:ext cx="91" cy="3383280"/>
          </a:xfrm>
          <a:prstGeom prst="line">
            <a:avLst/>
          </a:prstGeom>
          <a:noFill/>
          <a:ln w="6350">
            <a:solidFill>
              <a:srgbClr val="C9D3E6"/>
            </a:solidFill>
            <a:prstDash val="solid"/>
          </a:ln>
        </p:spPr>
      </p:sp>
      <p:sp>
        <p:nvSpPr>
          <p:cNvPr id="22" name="Shape 20"/>
          <p:cNvSpPr/>
          <p:nvPr/>
        </p:nvSpPr>
        <p:spPr>
          <a:xfrm>
            <a:off x="1280160" y="4800600"/>
            <a:ext cx="4389120" cy="91"/>
          </a:xfrm>
          <a:prstGeom prst="line">
            <a:avLst/>
          </a:prstGeom>
          <a:noFill/>
          <a:ln w="6350">
            <a:solidFill>
              <a:srgbClr val="C9D3E6"/>
            </a:solidFill>
            <a:prstDash val="solid"/>
          </a:ln>
        </p:spPr>
      </p:sp>
      <p:sp>
        <p:nvSpPr>
          <p:cNvPr id="23" name="Shape 21"/>
          <p:cNvSpPr/>
          <p:nvPr/>
        </p:nvSpPr>
        <p:spPr>
          <a:xfrm>
            <a:off x="1280160" y="4518660"/>
            <a:ext cx="4389120" cy="91"/>
          </a:xfrm>
          <a:prstGeom prst="line">
            <a:avLst/>
          </a:prstGeom>
          <a:noFill/>
          <a:ln w="6350">
            <a:solidFill>
              <a:srgbClr val="E6EBF4"/>
            </a:solidFill>
            <a:prstDash val="solid"/>
          </a:ln>
        </p:spPr>
      </p:sp>
      <p:sp>
        <p:nvSpPr>
          <p:cNvPr id="24" name="Shape 22"/>
          <p:cNvSpPr/>
          <p:nvPr/>
        </p:nvSpPr>
        <p:spPr>
          <a:xfrm>
            <a:off x="1280160" y="4236720"/>
            <a:ext cx="4389120" cy="91"/>
          </a:xfrm>
          <a:prstGeom prst="line">
            <a:avLst/>
          </a:prstGeom>
          <a:noFill/>
          <a:ln w="6350">
            <a:solidFill>
              <a:srgbClr val="C9D3E6"/>
            </a:solidFill>
            <a:prstDash val="solid"/>
          </a:ln>
        </p:spPr>
      </p:sp>
      <p:sp>
        <p:nvSpPr>
          <p:cNvPr id="25" name="Shape 23"/>
          <p:cNvSpPr/>
          <p:nvPr/>
        </p:nvSpPr>
        <p:spPr>
          <a:xfrm>
            <a:off x="1280160" y="3954780"/>
            <a:ext cx="4389120" cy="91"/>
          </a:xfrm>
          <a:prstGeom prst="line">
            <a:avLst/>
          </a:prstGeom>
          <a:noFill/>
          <a:ln w="6350">
            <a:solidFill>
              <a:srgbClr val="E6EBF4"/>
            </a:solidFill>
            <a:prstDash val="solid"/>
          </a:ln>
        </p:spPr>
      </p:sp>
      <p:sp>
        <p:nvSpPr>
          <p:cNvPr id="26" name="Shape 24"/>
          <p:cNvSpPr/>
          <p:nvPr/>
        </p:nvSpPr>
        <p:spPr>
          <a:xfrm>
            <a:off x="1280160" y="3672840"/>
            <a:ext cx="4389120" cy="91"/>
          </a:xfrm>
          <a:prstGeom prst="line">
            <a:avLst/>
          </a:prstGeom>
          <a:noFill/>
          <a:ln w="6350">
            <a:solidFill>
              <a:srgbClr val="C9D3E6"/>
            </a:solidFill>
            <a:prstDash val="solid"/>
          </a:ln>
        </p:spPr>
      </p:sp>
      <p:sp>
        <p:nvSpPr>
          <p:cNvPr id="27" name="Shape 25"/>
          <p:cNvSpPr/>
          <p:nvPr/>
        </p:nvSpPr>
        <p:spPr>
          <a:xfrm>
            <a:off x="1280160" y="3390900"/>
            <a:ext cx="4389120" cy="91"/>
          </a:xfrm>
          <a:prstGeom prst="line">
            <a:avLst/>
          </a:prstGeom>
          <a:noFill/>
          <a:ln w="6350">
            <a:solidFill>
              <a:srgbClr val="E6EBF4"/>
            </a:solidFill>
            <a:prstDash val="solid"/>
          </a:ln>
        </p:spPr>
      </p:sp>
      <p:sp>
        <p:nvSpPr>
          <p:cNvPr id="28" name="Shape 26"/>
          <p:cNvSpPr/>
          <p:nvPr/>
        </p:nvSpPr>
        <p:spPr>
          <a:xfrm>
            <a:off x="1280160" y="3108960"/>
            <a:ext cx="4389120" cy="91"/>
          </a:xfrm>
          <a:prstGeom prst="line">
            <a:avLst/>
          </a:prstGeom>
          <a:noFill/>
          <a:ln w="6350">
            <a:solidFill>
              <a:srgbClr val="C9D3E6"/>
            </a:solidFill>
            <a:prstDash val="solid"/>
          </a:ln>
        </p:spPr>
      </p:sp>
      <p:sp>
        <p:nvSpPr>
          <p:cNvPr id="29" name="Shape 27"/>
          <p:cNvSpPr/>
          <p:nvPr/>
        </p:nvSpPr>
        <p:spPr>
          <a:xfrm>
            <a:off x="1280160" y="2827020"/>
            <a:ext cx="4389120" cy="91"/>
          </a:xfrm>
          <a:prstGeom prst="line">
            <a:avLst/>
          </a:prstGeom>
          <a:noFill/>
          <a:ln w="6350">
            <a:solidFill>
              <a:srgbClr val="E6EBF4"/>
            </a:solidFill>
            <a:prstDash val="solid"/>
          </a:ln>
        </p:spPr>
      </p:sp>
      <p:sp>
        <p:nvSpPr>
          <p:cNvPr id="30" name="Shape 28"/>
          <p:cNvSpPr/>
          <p:nvPr/>
        </p:nvSpPr>
        <p:spPr>
          <a:xfrm>
            <a:off x="1280160" y="2545080"/>
            <a:ext cx="4389120" cy="91"/>
          </a:xfrm>
          <a:prstGeom prst="line">
            <a:avLst/>
          </a:prstGeom>
          <a:noFill/>
          <a:ln w="6350">
            <a:solidFill>
              <a:srgbClr val="C9D3E6"/>
            </a:solidFill>
            <a:prstDash val="solid"/>
          </a:ln>
        </p:spPr>
      </p:sp>
      <p:sp>
        <p:nvSpPr>
          <p:cNvPr id="31" name="Shape 29"/>
          <p:cNvSpPr/>
          <p:nvPr/>
        </p:nvSpPr>
        <p:spPr>
          <a:xfrm>
            <a:off x="1280160" y="2263140"/>
            <a:ext cx="4389120" cy="91"/>
          </a:xfrm>
          <a:prstGeom prst="line">
            <a:avLst/>
          </a:prstGeom>
          <a:noFill/>
          <a:ln w="6350">
            <a:solidFill>
              <a:srgbClr val="E6EBF4"/>
            </a:solidFill>
            <a:prstDash val="solid"/>
          </a:ln>
        </p:spPr>
      </p:sp>
      <p:sp>
        <p:nvSpPr>
          <p:cNvPr id="32" name="Shape 30"/>
          <p:cNvSpPr/>
          <p:nvPr/>
        </p:nvSpPr>
        <p:spPr>
          <a:xfrm>
            <a:off x="1280160" y="1981200"/>
            <a:ext cx="4389120" cy="91"/>
          </a:xfrm>
          <a:prstGeom prst="line">
            <a:avLst/>
          </a:prstGeom>
          <a:noFill/>
          <a:ln w="6350">
            <a:solidFill>
              <a:srgbClr val="C9D3E6"/>
            </a:solidFill>
            <a:prstDash val="solid"/>
          </a:ln>
        </p:spPr>
      </p:sp>
      <p:sp>
        <p:nvSpPr>
          <p:cNvPr id="33" name="Shape 31"/>
          <p:cNvSpPr/>
          <p:nvPr/>
        </p:nvSpPr>
        <p:spPr>
          <a:xfrm>
            <a:off x="1280160" y="1699260"/>
            <a:ext cx="4389120" cy="91"/>
          </a:xfrm>
          <a:prstGeom prst="line">
            <a:avLst/>
          </a:prstGeom>
          <a:noFill/>
          <a:ln w="6350">
            <a:solidFill>
              <a:srgbClr val="E6EBF4"/>
            </a:solidFill>
            <a:prstDash val="solid"/>
          </a:ln>
        </p:spPr>
      </p:sp>
      <p:sp>
        <p:nvSpPr>
          <p:cNvPr id="34" name="Shape 32"/>
          <p:cNvSpPr/>
          <p:nvPr/>
        </p:nvSpPr>
        <p:spPr>
          <a:xfrm>
            <a:off x="1280160" y="1417320"/>
            <a:ext cx="4389120" cy="91"/>
          </a:xfrm>
          <a:prstGeom prst="line">
            <a:avLst/>
          </a:prstGeom>
          <a:noFill/>
          <a:ln w="6350">
            <a:solidFill>
              <a:srgbClr val="C9D3E6"/>
            </a:solidFill>
            <a:prstDash val="solid"/>
          </a:ln>
        </p:spPr>
      </p:sp>
      <p:sp>
        <p:nvSpPr>
          <p:cNvPr id="35" name="Shape 33"/>
          <p:cNvSpPr/>
          <p:nvPr/>
        </p:nvSpPr>
        <p:spPr>
          <a:xfrm>
            <a:off x="1280160" y="4800600"/>
            <a:ext cx="4389120" cy="91"/>
          </a:xfrm>
          <a:prstGeom prst="line">
            <a:avLst/>
          </a:prstGeom>
          <a:noFill/>
          <a:ln w="19050">
            <a:solidFill>
              <a:srgbClr val="1A2340"/>
            </a:solidFill>
            <a:prstDash val="solid"/>
          </a:ln>
        </p:spPr>
      </p:sp>
      <p:sp>
        <p:nvSpPr>
          <p:cNvPr id="36" name="Shape 34"/>
          <p:cNvSpPr/>
          <p:nvPr/>
        </p:nvSpPr>
        <p:spPr>
          <a:xfrm flipV="1">
            <a:off x="1280160" y="1417320"/>
            <a:ext cx="91" cy="3383280"/>
          </a:xfrm>
          <a:prstGeom prst="line">
            <a:avLst/>
          </a:prstGeom>
          <a:noFill/>
          <a:ln w="19050">
            <a:solidFill>
              <a:srgbClr val="1A2340"/>
            </a:solidFill>
            <a:prstDash val="solid"/>
          </a:ln>
        </p:spPr>
      </p:sp>
      <p:sp>
        <p:nvSpPr>
          <p:cNvPr id="37" name="Shape 35"/>
          <p:cNvSpPr/>
          <p:nvPr/>
        </p:nvSpPr>
        <p:spPr>
          <a:xfrm>
            <a:off x="1280160" y="4800600"/>
            <a:ext cx="91" cy="54864"/>
          </a:xfrm>
          <a:prstGeom prst="line">
            <a:avLst/>
          </a:prstGeom>
          <a:noFill/>
          <a:ln w="12700">
            <a:solidFill>
              <a:srgbClr val="1A2340"/>
            </a:solidFill>
            <a:prstDash val="solid"/>
          </a:ln>
        </p:spPr>
      </p:sp>
      <p:sp>
        <p:nvSpPr>
          <p:cNvPr id="38" name="Text 36"/>
          <p:cNvSpPr/>
          <p:nvPr/>
        </p:nvSpPr>
        <p:spPr>
          <a:xfrm>
            <a:off x="10058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9" name="Shape 37"/>
          <p:cNvSpPr/>
          <p:nvPr/>
        </p:nvSpPr>
        <p:spPr>
          <a:xfrm>
            <a:off x="2157984" y="4800600"/>
            <a:ext cx="91" cy="54864"/>
          </a:xfrm>
          <a:prstGeom prst="line">
            <a:avLst/>
          </a:prstGeom>
          <a:noFill/>
          <a:ln w="12700">
            <a:solidFill>
              <a:srgbClr val="1A2340"/>
            </a:solidFill>
            <a:prstDash val="solid"/>
          </a:ln>
        </p:spPr>
      </p:sp>
      <p:sp>
        <p:nvSpPr>
          <p:cNvPr id="40" name="Text 38"/>
          <p:cNvSpPr/>
          <p:nvPr/>
        </p:nvSpPr>
        <p:spPr>
          <a:xfrm>
            <a:off x="1883664"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1" name="Shape 39"/>
          <p:cNvSpPr/>
          <p:nvPr/>
        </p:nvSpPr>
        <p:spPr>
          <a:xfrm>
            <a:off x="3035808" y="4800600"/>
            <a:ext cx="91" cy="54864"/>
          </a:xfrm>
          <a:prstGeom prst="line">
            <a:avLst/>
          </a:prstGeom>
          <a:noFill/>
          <a:ln w="12700">
            <a:solidFill>
              <a:srgbClr val="1A2340"/>
            </a:solidFill>
            <a:prstDash val="solid"/>
          </a:ln>
        </p:spPr>
      </p:sp>
      <p:sp>
        <p:nvSpPr>
          <p:cNvPr id="42" name="Text 40"/>
          <p:cNvSpPr/>
          <p:nvPr/>
        </p:nvSpPr>
        <p:spPr>
          <a:xfrm>
            <a:off x="2761488"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3" name="Shape 41"/>
          <p:cNvSpPr/>
          <p:nvPr/>
        </p:nvSpPr>
        <p:spPr>
          <a:xfrm>
            <a:off x="3913632" y="4800600"/>
            <a:ext cx="91" cy="54864"/>
          </a:xfrm>
          <a:prstGeom prst="line">
            <a:avLst/>
          </a:prstGeom>
          <a:noFill/>
          <a:ln w="12700">
            <a:solidFill>
              <a:srgbClr val="1A2340"/>
            </a:solidFill>
            <a:prstDash val="solid"/>
          </a:ln>
        </p:spPr>
      </p:sp>
      <p:sp>
        <p:nvSpPr>
          <p:cNvPr id="44" name="Text 42"/>
          <p:cNvSpPr/>
          <p:nvPr/>
        </p:nvSpPr>
        <p:spPr>
          <a:xfrm>
            <a:off x="3639312"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5" name="Shape 43"/>
          <p:cNvSpPr/>
          <p:nvPr/>
        </p:nvSpPr>
        <p:spPr>
          <a:xfrm>
            <a:off x="4791456" y="4800600"/>
            <a:ext cx="91" cy="54864"/>
          </a:xfrm>
          <a:prstGeom prst="line">
            <a:avLst/>
          </a:prstGeom>
          <a:noFill/>
          <a:ln w="12700">
            <a:solidFill>
              <a:srgbClr val="1A2340"/>
            </a:solidFill>
            <a:prstDash val="solid"/>
          </a:ln>
        </p:spPr>
      </p:sp>
      <p:sp>
        <p:nvSpPr>
          <p:cNvPr id="46" name="Text 44"/>
          <p:cNvSpPr/>
          <p:nvPr/>
        </p:nvSpPr>
        <p:spPr>
          <a:xfrm>
            <a:off x="4517136"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7" name="Shape 45"/>
          <p:cNvSpPr/>
          <p:nvPr/>
        </p:nvSpPr>
        <p:spPr>
          <a:xfrm>
            <a:off x="5669280" y="4800600"/>
            <a:ext cx="91" cy="54864"/>
          </a:xfrm>
          <a:prstGeom prst="line">
            <a:avLst/>
          </a:prstGeom>
          <a:noFill/>
          <a:ln w="12700">
            <a:solidFill>
              <a:srgbClr val="1A2340"/>
            </a:solidFill>
            <a:prstDash val="solid"/>
          </a:ln>
        </p:spPr>
      </p:sp>
      <p:sp>
        <p:nvSpPr>
          <p:cNvPr id="48" name="Text 46"/>
          <p:cNvSpPr/>
          <p:nvPr/>
        </p:nvSpPr>
        <p:spPr>
          <a:xfrm>
            <a:off x="53949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49" name="Shape 47"/>
          <p:cNvSpPr/>
          <p:nvPr/>
        </p:nvSpPr>
        <p:spPr>
          <a:xfrm>
            <a:off x="1225296" y="4800600"/>
            <a:ext cx="54864" cy="91"/>
          </a:xfrm>
          <a:prstGeom prst="line">
            <a:avLst/>
          </a:prstGeom>
          <a:noFill/>
          <a:ln w="12700">
            <a:solidFill>
              <a:srgbClr val="1A2340"/>
            </a:solidFill>
            <a:prstDash val="solid"/>
          </a:ln>
        </p:spPr>
      </p:sp>
      <p:sp>
        <p:nvSpPr>
          <p:cNvPr id="50" name="Text 48"/>
          <p:cNvSpPr/>
          <p:nvPr/>
        </p:nvSpPr>
        <p:spPr>
          <a:xfrm>
            <a:off x="84124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225296" y="4236720"/>
            <a:ext cx="54864" cy="91"/>
          </a:xfrm>
          <a:prstGeom prst="line">
            <a:avLst/>
          </a:prstGeom>
          <a:noFill/>
          <a:ln w="12700">
            <a:solidFill>
              <a:srgbClr val="1A2340"/>
            </a:solidFill>
            <a:prstDash val="solid"/>
          </a:ln>
        </p:spPr>
      </p:sp>
      <p:sp>
        <p:nvSpPr>
          <p:cNvPr id="52" name="Text 50"/>
          <p:cNvSpPr/>
          <p:nvPr/>
        </p:nvSpPr>
        <p:spPr>
          <a:xfrm>
            <a:off x="841248" y="4145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3" name="Shape 51"/>
          <p:cNvSpPr/>
          <p:nvPr/>
        </p:nvSpPr>
        <p:spPr>
          <a:xfrm>
            <a:off x="1225296" y="3672840"/>
            <a:ext cx="54864" cy="91"/>
          </a:xfrm>
          <a:prstGeom prst="line">
            <a:avLst/>
          </a:prstGeom>
          <a:noFill/>
          <a:ln w="12700">
            <a:solidFill>
              <a:srgbClr val="1A2340"/>
            </a:solidFill>
            <a:prstDash val="solid"/>
          </a:ln>
        </p:spPr>
      </p:sp>
      <p:sp>
        <p:nvSpPr>
          <p:cNvPr id="54" name="Text 52"/>
          <p:cNvSpPr/>
          <p:nvPr/>
        </p:nvSpPr>
        <p:spPr>
          <a:xfrm>
            <a:off x="841248" y="3581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5" name="Shape 53"/>
          <p:cNvSpPr/>
          <p:nvPr/>
        </p:nvSpPr>
        <p:spPr>
          <a:xfrm>
            <a:off x="1225296" y="3108960"/>
            <a:ext cx="54864" cy="91"/>
          </a:xfrm>
          <a:prstGeom prst="line">
            <a:avLst/>
          </a:prstGeom>
          <a:noFill/>
          <a:ln w="12700">
            <a:solidFill>
              <a:srgbClr val="1A2340"/>
            </a:solidFill>
            <a:prstDash val="solid"/>
          </a:ln>
        </p:spPr>
      </p:sp>
      <p:sp>
        <p:nvSpPr>
          <p:cNvPr id="56" name="Text 54"/>
          <p:cNvSpPr/>
          <p:nvPr/>
        </p:nvSpPr>
        <p:spPr>
          <a:xfrm>
            <a:off x="841248" y="3017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7" name="Shape 55"/>
          <p:cNvSpPr/>
          <p:nvPr/>
        </p:nvSpPr>
        <p:spPr>
          <a:xfrm>
            <a:off x="1225296" y="2545080"/>
            <a:ext cx="54864" cy="91"/>
          </a:xfrm>
          <a:prstGeom prst="line">
            <a:avLst/>
          </a:prstGeom>
          <a:noFill/>
          <a:ln w="12700">
            <a:solidFill>
              <a:srgbClr val="1A2340"/>
            </a:solidFill>
            <a:prstDash val="solid"/>
          </a:ln>
        </p:spPr>
      </p:sp>
      <p:sp>
        <p:nvSpPr>
          <p:cNvPr id="58" name="Text 56"/>
          <p:cNvSpPr/>
          <p:nvPr/>
        </p:nvSpPr>
        <p:spPr>
          <a:xfrm>
            <a:off x="841248" y="2453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9" name="Shape 57"/>
          <p:cNvSpPr/>
          <p:nvPr/>
        </p:nvSpPr>
        <p:spPr>
          <a:xfrm>
            <a:off x="1225296" y="1981200"/>
            <a:ext cx="54864" cy="91"/>
          </a:xfrm>
          <a:prstGeom prst="line">
            <a:avLst/>
          </a:prstGeom>
          <a:noFill/>
          <a:ln w="12700">
            <a:solidFill>
              <a:srgbClr val="1A2340"/>
            </a:solidFill>
            <a:prstDash val="solid"/>
          </a:ln>
        </p:spPr>
      </p:sp>
      <p:sp>
        <p:nvSpPr>
          <p:cNvPr id="60" name="Text 58"/>
          <p:cNvSpPr/>
          <p:nvPr/>
        </p:nvSpPr>
        <p:spPr>
          <a:xfrm>
            <a:off x="841248" y="1889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61" name="Shape 59"/>
          <p:cNvSpPr/>
          <p:nvPr/>
        </p:nvSpPr>
        <p:spPr>
          <a:xfrm>
            <a:off x="1225296" y="1417320"/>
            <a:ext cx="54864" cy="91"/>
          </a:xfrm>
          <a:prstGeom prst="line">
            <a:avLst/>
          </a:prstGeom>
          <a:noFill/>
          <a:ln w="12700">
            <a:solidFill>
              <a:srgbClr val="1A2340"/>
            </a:solidFill>
            <a:prstDash val="solid"/>
          </a:ln>
        </p:spPr>
      </p:sp>
      <p:sp>
        <p:nvSpPr>
          <p:cNvPr id="62" name="Text 60"/>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63" name="Text 61"/>
          <p:cNvSpPr/>
          <p:nvPr/>
        </p:nvSpPr>
        <p:spPr>
          <a:xfrm>
            <a:off x="1280160" y="504748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64" name="Text 62"/>
          <p:cNvSpPr/>
          <p:nvPr/>
        </p:nvSpPr>
        <p:spPr>
          <a:xfrm rot="16200000">
            <a:off x="-97840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 m</a:t>
            </a:r>
            <a:endParaRPr lang="en-US" sz="1050" dirty="0"/>
          </a:p>
        </p:txBody>
      </p:sp>
      <p:sp>
        <p:nvSpPr>
          <p:cNvPr id="65" name="Shape 63"/>
          <p:cNvSpPr/>
          <p:nvPr/>
        </p:nvSpPr>
        <p:spPr>
          <a:xfrm flipV="1">
            <a:off x="1280160" y="3672840"/>
            <a:ext cx="1755648" cy="1127760"/>
          </a:xfrm>
          <a:prstGeom prst="line">
            <a:avLst/>
          </a:prstGeom>
          <a:noFill/>
          <a:ln w="31750">
            <a:solidFill>
              <a:srgbClr val="2E5BD8"/>
            </a:solidFill>
            <a:prstDash val="solid"/>
          </a:ln>
        </p:spPr>
      </p:sp>
      <p:sp>
        <p:nvSpPr>
          <p:cNvPr id="66" name="Shape 64"/>
          <p:cNvSpPr/>
          <p:nvPr/>
        </p:nvSpPr>
        <p:spPr>
          <a:xfrm>
            <a:off x="3035808" y="3672840"/>
            <a:ext cx="877824" cy="91"/>
          </a:xfrm>
          <a:prstGeom prst="line">
            <a:avLst/>
          </a:prstGeom>
          <a:noFill/>
          <a:ln w="31750">
            <a:solidFill>
              <a:srgbClr val="2E5BD8"/>
            </a:solidFill>
            <a:prstDash val="solid"/>
          </a:ln>
        </p:spPr>
      </p:sp>
      <p:sp>
        <p:nvSpPr>
          <p:cNvPr id="67" name="Shape 65"/>
          <p:cNvSpPr/>
          <p:nvPr/>
        </p:nvSpPr>
        <p:spPr>
          <a:xfrm flipV="1">
            <a:off x="3913632" y="1417320"/>
            <a:ext cx="1755648" cy="2255520"/>
          </a:xfrm>
          <a:prstGeom prst="line">
            <a:avLst/>
          </a:prstGeom>
          <a:noFill/>
          <a:ln w="31750">
            <a:solidFill>
              <a:srgbClr val="2E5BD8"/>
            </a:solidFill>
            <a:prstDash val="solid"/>
          </a:ln>
        </p:spPr>
      </p:sp>
      <p:sp>
        <p:nvSpPr>
          <p:cNvPr id="68" name="Shape 66"/>
          <p:cNvSpPr/>
          <p:nvPr/>
        </p:nvSpPr>
        <p:spPr>
          <a:xfrm>
            <a:off x="3913632" y="3672840"/>
            <a:ext cx="1755648" cy="91"/>
          </a:xfrm>
          <a:prstGeom prst="line">
            <a:avLst/>
          </a:prstGeom>
          <a:noFill/>
          <a:ln w="15875">
            <a:solidFill>
              <a:srgbClr val="C8414C"/>
            </a:solidFill>
            <a:prstDash val="dash"/>
          </a:ln>
        </p:spPr>
      </p:sp>
      <p:sp>
        <p:nvSpPr>
          <p:cNvPr id="69" name="Shape 67"/>
          <p:cNvSpPr/>
          <p:nvPr/>
        </p:nvSpPr>
        <p:spPr>
          <a:xfrm flipV="1">
            <a:off x="5669280" y="1417320"/>
            <a:ext cx="91" cy="2255520"/>
          </a:xfrm>
          <a:prstGeom prst="line">
            <a:avLst/>
          </a:prstGeom>
          <a:noFill/>
          <a:ln w="15875">
            <a:solidFill>
              <a:srgbClr val="C8414C"/>
            </a:solidFill>
            <a:prstDash val="dash"/>
          </a:ln>
        </p:spPr>
      </p:sp>
      <p:sp>
        <p:nvSpPr>
          <p:cNvPr id="70" name="Text 68"/>
          <p:cNvSpPr/>
          <p:nvPr/>
        </p:nvSpPr>
        <p:spPr>
          <a:xfrm>
            <a:off x="3913632" y="3691128"/>
            <a:ext cx="1755648" cy="256032"/>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20 s</a:t>
            </a:r>
            <a:endParaRPr lang="en-US" sz="1000" dirty="0"/>
          </a:p>
        </p:txBody>
      </p:sp>
      <p:sp>
        <p:nvSpPr>
          <p:cNvPr id="71" name="Text 69"/>
          <p:cNvSpPr/>
          <p:nvPr/>
        </p:nvSpPr>
        <p:spPr>
          <a:xfrm>
            <a:off x="5715000" y="2417064"/>
            <a:ext cx="100584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200 m</a:t>
            </a:r>
            <a:endParaRPr lang="en-US" sz="1000" dirty="0"/>
          </a:p>
        </p:txBody>
      </p:sp>
      <p:sp>
        <p:nvSpPr>
          <p:cNvPr id="72" name="Text 70"/>
          <p:cNvSpPr/>
          <p:nvPr/>
        </p:nvSpPr>
        <p:spPr>
          <a:xfrm>
            <a:off x="1543507" y="3447288"/>
            <a:ext cx="914400" cy="256032"/>
          </a:xfrm>
          <a:prstGeom prst="rect">
            <a:avLst/>
          </a:prstGeom>
          <a:noFill/>
          <a:ln/>
        </p:spPr>
        <p:txBody>
          <a:bodyPr wrap="square" lIns="0" tIns="0" rIns="0" bIns="0" rtlCol="0" anchor="ctr"/>
          <a:lstStyle/>
          <a:p>
            <a:pPr algn="ctr" indent="0" marL="0">
              <a:buNone/>
            </a:pPr>
            <a:r>
              <a:rPr lang="en-US" sz="1300" b="1" dirty="0">
                <a:solidFill>
                  <a:srgbClr val="2E5BD8"/>
                </a:solidFill>
                <a:latin typeface="Calibri" pitchFamily="34" charset="0"/>
                <a:ea typeface="Calibri" pitchFamily="34" charset="-122"/>
                <a:cs typeface="Calibri" pitchFamily="34" charset="-120"/>
              </a:rPr>
              <a:t>A</a:t>
            </a:r>
            <a:endParaRPr lang="en-US" sz="1300" dirty="0"/>
          </a:p>
        </p:txBody>
      </p:sp>
      <p:sp>
        <p:nvSpPr>
          <p:cNvPr id="73" name="Text 71"/>
          <p:cNvSpPr/>
          <p:nvPr/>
        </p:nvSpPr>
        <p:spPr>
          <a:xfrm>
            <a:off x="3035808" y="3361944"/>
            <a:ext cx="877824" cy="256032"/>
          </a:xfrm>
          <a:prstGeom prst="rect">
            <a:avLst/>
          </a:prstGeom>
          <a:noFill/>
          <a:ln/>
        </p:spPr>
        <p:txBody>
          <a:bodyPr wrap="square" lIns="0" tIns="0" rIns="0" bIns="0" rtlCol="0" anchor="ctr"/>
          <a:lstStyle/>
          <a:p>
            <a:pPr algn="ctr" indent="0" marL="0">
              <a:buNone/>
            </a:pPr>
            <a:r>
              <a:rPr lang="en-US" sz="1300" b="1" dirty="0">
                <a:solidFill>
                  <a:srgbClr val="2E5BD8"/>
                </a:solidFill>
                <a:latin typeface="Calibri" pitchFamily="34" charset="0"/>
                <a:ea typeface="Calibri" pitchFamily="34" charset="-122"/>
                <a:cs typeface="Calibri" pitchFamily="34" charset="-120"/>
              </a:rPr>
              <a:t>B</a:t>
            </a:r>
            <a:endParaRPr lang="en-US" sz="1300" dirty="0"/>
          </a:p>
        </p:txBody>
      </p:sp>
      <p:sp>
        <p:nvSpPr>
          <p:cNvPr id="74" name="Text 72"/>
          <p:cNvSpPr/>
          <p:nvPr/>
        </p:nvSpPr>
        <p:spPr>
          <a:xfrm>
            <a:off x="4176979" y="2206752"/>
            <a:ext cx="457200" cy="256032"/>
          </a:xfrm>
          <a:prstGeom prst="rect">
            <a:avLst/>
          </a:prstGeom>
          <a:noFill/>
          <a:ln/>
        </p:spPr>
        <p:txBody>
          <a:bodyPr wrap="square" lIns="0" tIns="0" rIns="0" bIns="0" rtlCol="0" anchor="ctr"/>
          <a:lstStyle/>
          <a:p>
            <a:pPr algn="ctr" indent="0" marL="0">
              <a:buNone/>
            </a:pPr>
            <a:r>
              <a:rPr lang="en-US" sz="1300" b="1" dirty="0">
                <a:solidFill>
                  <a:srgbClr val="2E5BD8"/>
                </a:solidFill>
                <a:latin typeface="Calibri" pitchFamily="34" charset="0"/>
                <a:ea typeface="Calibri" pitchFamily="34" charset="-122"/>
                <a:cs typeface="Calibri" pitchFamily="34" charset="-120"/>
              </a:rPr>
              <a:t>C</a:t>
            </a:r>
            <a:endParaRPr lang="en-US" sz="1300" dirty="0"/>
          </a:p>
        </p:txBody>
      </p:sp>
      <p:sp>
        <p:nvSpPr>
          <p:cNvPr id="75" name="Shape 7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76" name="Text 7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Reading a distance–time graph</a:t>
            </a:r>
            <a:endParaRPr lang="en-US" sz="1300" dirty="0"/>
          </a:p>
        </p:txBody>
      </p:sp>
      <p:sp>
        <p:nvSpPr>
          <p:cNvPr id="77" name="Text 7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Gradient = speed.</a:t>
            </a:r>
            <a:r>
              <a:rPr lang="en-US" sz="1150" dirty="0">
                <a:solidFill>
                  <a:srgbClr val="262B3A"/>
                </a:solidFill>
                <a:latin typeface="Calibri" pitchFamily="34" charset="0"/>
                <a:ea typeface="Calibri" pitchFamily="34" charset="-122"/>
                <a:cs typeface="Calibri" pitchFamily="34" charset="-120"/>
              </a:rPr>
              <a:t> Steeper line → faster.</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 straight sloping line → constant speed: 100 m ÷ 20 s = </a:t>
            </a:r>
            <a:r>
              <a:rPr lang="en-US" sz="1150" b="1" dirty="0">
                <a:solidFill>
                  <a:srgbClr val="262B3A"/>
                </a:solidFill>
                <a:latin typeface="Calibri" pitchFamily="34" charset="0"/>
                <a:ea typeface="Calibri" pitchFamily="34" charset="-122"/>
                <a:cs typeface="Calibri" pitchFamily="34" charset="-120"/>
              </a:rPr>
              <a:t>5 m/s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horizontal line → </a:t>
            </a:r>
            <a:r>
              <a:rPr lang="en-US" sz="1150" b="1" dirty="0">
                <a:solidFill>
                  <a:srgbClr val="262B3A"/>
                </a:solidFill>
                <a:latin typeface="Calibri" pitchFamily="34" charset="0"/>
                <a:ea typeface="Calibri" pitchFamily="34" charset="-122"/>
                <a:cs typeface="Calibri" pitchFamily="34" charset="-120"/>
              </a:rPr>
              <a:t>stationary</a:t>
            </a:r>
            <a:r>
              <a:rPr lang="en-US" sz="1150" dirty="0">
                <a:solidFill>
                  <a:srgbClr val="262B3A"/>
                </a:solidFill>
                <a:latin typeface="Calibri" pitchFamily="34" charset="0"/>
                <a:ea typeface="Calibri" pitchFamily="34" charset="-122"/>
                <a:cs typeface="Calibri" pitchFamily="34" charset="-120"/>
              </a:rPr>
              <a:t> (not moving).</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steeper straight line → faster constant speed.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curved</a:t>
            </a:r>
            <a:r>
              <a:rPr lang="en-US" sz="1150" dirty="0">
                <a:solidFill>
                  <a:srgbClr val="262B3A"/>
                </a:solidFill>
                <a:latin typeface="Calibri" pitchFamily="34" charset="0"/>
                <a:ea typeface="Calibri" pitchFamily="34" charset="-122"/>
                <a:cs typeface="Calibri" pitchFamily="34" charset="-120"/>
              </a:rPr>
              <a:t> line means the speed is changing (accelerating).</a:t>
            </a:r>
            <a:endParaRPr lang="en-US" sz="1150" dirty="0"/>
          </a:p>
        </p:txBody>
      </p:sp>
      <p:sp>
        <p:nvSpPr>
          <p:cNvPr id="78" name="Shape 7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9" name="Text 7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80" name="Text 7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speed in section 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speed = gradient = change in distance ÷ change in time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Read off   </a:t>
            </a:r>
            <a:r>
              <a:rPr lang="en-US" sz="1100" dirty="0">
                <a:solidFill>
                  <a:srgbClr val="262B3A"/>
                </a:solidFill>
                <a:latin typeface="Calibri" pitchFamily="34" charset="0"/>
                <a:ea typeface="Calibri" pitchFamily="34" charset="-122"/>
                <a:cs typeface="Calibri" pitchFamily="34" charset="-120"/>
              </a:rPr>
              <a:t>Δd = 300 − 100 = 200 m;  Δt = 50 − 30 = 20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speed = 200 m ÷ 20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speed = 10 m/s</a:t>
            </a:r>
            <a:endParaRPr lang="en-US" sz="1100" dirty="0"/>
          </a:p>
        </p:txBody>
      </p:sp>
      <p:sp>
        <p:nvSpPr>
          <p:cNvPr id="81" name="Shape 79"/>
          <p:cNvSpPr/>
          <p:nvPr/>
        </p:nvSpPr>
        <p:spPr>
          <a:xfrm>
            <a:off x="411480" y="5833872"/>
            <a:ext cx="11368735" cy="530352"/>
          </a:xfrm>
          <a:prstGeom prst="rect">
            <a:avLst/>
          </a:prstGeom>
          <a:solidFill>
            <a:srgbClr val="FFF4E0"/>
          </a:solidFill>
          <a:ln w="6350">
            <a:solidFill>
              <a:srgbClr val="F1D9A8"/>
            </a:solidFill>
            <a:prstDash val="solid"/>
          </a:ln>
        </p:spPr>
      </p:sp>
      <p:sp>
        <p:nvSpPr>
          <p:cNvPr id="82" name="Shape 80"/>
          <p:cNvSpPr/>
          <p:nvPr/>
        </p:nvSpPr>
        <p:spPr>
          <a:xfrm>
            <a:off x="411480" y="5833872"/>
            <a:ext cx="82296" cy="530352"/>
          </a:xfrm>
          <a:prstGeom prst="rect">
            <a:avLst/>
          </a:prstGeom>
          <a:solidFill>
            <a:srgbClr val="E39A2F"/>
          </a:solidFill>
          <a:ln w="12700">
            <a:solidFill>
              <a:srgbClr val="E39A2F"/>
            </a:solidFill>
            <a:prstDash val="solid"/>
          </a:ln>
        </p:spPr>
      </p:sp>
      <p:sp>
        <p:nvSpPr>
          <p:cNvPr id="83" name="Text 8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average speed for the whole 50 s journey. Why is it not the mean of 5 m/s and 10 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2.1–2.7 • scalars, vectors, speed and distance–time graphs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 </a:t>
            </a:r>
            <a:r>
              <a:rPr lang="en-US" sz="1250" b="1" dirty="0">
                <a:solidFill>
                  <a:srgbClr val="262B3A"/>
                </a:solidFill>
                <a:latin typeface="Calibri" pitchFamily="34" charset="0"/>
                <a:ea typeface="Calibri" pitchFamily="34" charset="-122"/>
                <a:cs typeface="Calibri" pitchFamily="34" charset="-120"/>
              </a:rPr>
              <a:t>scalar</a:t>
            </a:r>
            <a:r>
              <a:rPr lang="en-US" sz="1250" dirty="0">
                <a:solidFill>
                  <a:srgbClr val="262B3A"/>
                </a:solidFill>
                <a:latin typeface="Calibri" pitchFamily="34" charset="0"/>
                <a:ea typeface="Calibri" pitchFamily="34" charset="-122"/>
                <a:cs typeface="Calibri" pitchFamily="34" charset="-120"/>
              </a:rPr>
              <a:t> and a </a:t>
            </a:r>
            <a:r>
              <a:rPr lang="en-US" sz="1250" b="1" dirty="0">
                <a:solidFill>
                  <a:srgbClr val="262B3A"/>
                </a:solidFill>
                <a:latin typeface="Calibri" pitchFamily="34" charset="0"/>
                <a:ea typeface="Calibri" pitchFamily="34" charset="-122"/>
                <a:cs typeface="Calibri" pitchFamily="34" charset="-120"/>
              </a:rPr>
              <a:t>vector</a:t>
            </a:r>
            <a:r>
              <a:rPr lang="en-US" sz="1250" dirty="0">
                <a:solidFill>
                  <a:srgbClr val="262B3A"/>
                </a:solidFill>
                <a:latin typeface="Calibri" pitchFamily="34" charset="0"/>
                <a:ea typeface="Calibri" pitchFamily="34" charset="-122"/>
                <a:cs typeface="Calibri" pitchFamily="34" charset="-120"/>
              </a:rPr>
              <a:t> quantity.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each.</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car travels </a:t>
            </a:r>
            <a:r>
              <a:rPr lang="en-US" sz="1250" b="1" dirty="0">
                <a:solidFill>
                  <a:srgbClr val="262B3A"/>
                </a:solidFill>
                <a:latin typeface="Calibri" pitchFamily="34" charset="0"/>
                <a:ea typeface="Calibri" pitchFamily="34" charset="-122"/>
                <a:cs typeface="Calibri" pitchFamily="34" charset="-120"/>
              </a:rPr>
              <a:t>450 m</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30 s</a:t>
            </a:r>
            <a:r>
              <a:rPr lang="en-US" sz="1250" dirty="0">
                <a:solidFill>
                  <a:srgbClr val="262B3A"/>
                </a:solidFill>
                <a:latin typeface="Calibri" pitchFamily="34" charset="0"/>
                <a:ea typeface="Calibri" pitchFamily="34" charset="-122"/>
                <a:cs typeface="Calibri" pitchFamily="34" charset="-120"/>
              </a:rPr>
              <a:t>. Calculate its average speed. Give the unit.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a </a:t>
            </a:r>
            <a:r>
              <a:rPr lang="en-US" sz="1250" b="1" dirty="0">
                <a:solidFill>
                  <a:srgbClr val="262B3A"/>
                </a:solidFill>
                <a:latin typeface="Calibri" pitchFamily="34" charset="0"/>
                <a:ea typeface="Calibri" pitchFamily="34" charset="-122"/>
                <a:cs typeface="Calibri" pitchFamily="34" charset="-120"/>
              </a:rPr>
              <a:t>horizontal</a:t>
            </a:r>
            <a:r>
              <a:rPr lang="en-US" sz="1250" dirty="0">
                <a:solidFill>
                  <a:srgbClr val="262B3A"/>
                </a:solidFill>
                <a:latin typeface="Calibri" pitchFamily="34" charset="0"/>
                <a:ea typeface="Calibri" pitchFamily="34" charset="-122"/>
                <a:cs typeface="Calibri" pitchFamily="34" charset="-120"/>
              </a:rPr>
              <a:t> section and a </a:t>
            </a:r>
            <a:r>
              <a:rPr lang="en-US" sz="1250" b="1" dirty="0">
                <a:solidFill>
                  <a:srgbClr val="262B3A"/>
                </a:solidFill>
                <a:latin typeface="Calibri" pitchFamily="34" charset="0"/>
                <a:ea typeface="Calibri" pitchFamily="34" charset="-122"/>
                <a:cs typeface="Calibri" pitchFamily="34" charset="-120"/>
              </a:rPr>
              <a:t>steeper straight</a:t>
            </a:r>
            <a:r>
              <a:rPr lang="en-US" sz="1250" dirty="0">
                <a:solidFill>
                  <a:srgbClr val="262B3A"/>
                </a:solidFill>
                <a:latin typeface="Calibri" pitchFamily="34" charset="0"/>
                <a:ea typeface="Calibri" pitchFamily="34" charset="-122"/>
                <a:cs typeface="Calibri" pitchFamily="34" charset="-120"/>
              </a:rPr>
              <a:t> section of a distance–time graph each show.</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Acceleration: a = (v − u) ÷ 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2.8 • acceleration is the rate of change of velocity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2.8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car speeding up: positions every 1.0 s are not equally spaced</a:t>
            </a:r>
            <a:endParaRPr lang="en-US" sz="1000" dirty="0"/>
          </a:p>
        </p:txBody>
      </p:sp>
      <p:sp>
        <p:nvSpPr>
          <p:cNvPr id="10" name="Shape 8"/>
          <p:cNvSpPr/>
          <p:nvPr/>
        </p:nvSpPr>
        <p:spPr>
          <a:xfrm>
            <a:off x="685800" y="2606040"/>
            <a:ext cx="5029200" cy="73152"/>
          </a:xfrm>
          <a:prstGeom prst="rect">
            <a:avLst/>
          </a:prstGeom>
          <a:solidFill>
            <a:srgbClr val="5A6275"/>
          </a:solidFill>
          <a:ln/>
        </p:spPr>
      </p:sp>
      <p:sp>
        <p:nvSpPr>
          <p:cNvPr id="11" name="Shape 9"/>
          <p:cNvSpPr/>
          <p:nvPr/>
        </p:nvSpPr>
        <p:spPr>
          <a:xfrm>
            <a:off x="897026" y="2283257"/>
            <a:ext cx="352044" cy="108814"/>
          </a:xfrm>
          <a:prstGeom prst="roundRect">
            <a:avLst>
              <a:gd name="adj" fmla="val 67227"/>
            </a:avLst>
          </a:prstGeom>
          <a:solidFill>
            <a:srgbClr val="A9B8DE"/>
          </a:solidFill>
          <a:ln w="12700">
            <a:solidFill>
              <a:srgbClr val="1F2A4A"/>
            </a:solidFill>
            <a:prstDash val="solid"/>
          </a:ln>
        </p:spPr>
      </p:sp>
      <p:sp>
        <p:nvSpPr>
          <p:cNvPr id="12" name="Shape 10"/>
          <p:cNvSpPr/>
          <p:nvPr/>
        </p:nvSpPr>
        <p:spPr>
          <a:xfrm>
            <a:off x="942746" y="2319833"/>
            <a:ext cx="260604" cy="53950"/>
          </a:xfrm>
          <a:prstGeom prst="roundRect">
            <a:avLst>
              <a:gd name="adj" fmla="val 84745"/>
            </a:avLst>
          </a:prstGeom>
          <a:solidFill>
            <a:srgbClr val="DCE8FA"/>
          </a:solidFill>
          <a:ln/>
        </p:spPr>
      </p:sp>
      <p:sp>
        <p:nvSpPr>
          <p:cNvPr id="13" name="Shape 11"/>
          <p:cNvSpPr/>
          <p:nvPr/>
        </p:nvSpPr>
        <p:spPr>
          <a:xfrm>
            <a:off x="685800" y="2373782"/>
            <a:ext cx="640080" cy="140818"/>
          </a:xfrm>
          <a:prstGeom prst="roundRect">
            <a:avLst>
              <a:gd name="adj" fmla="val 38961"/>
            </a:avLst>
          </a:prstGeom>
          <a:solidFill>
            <a:srgbClr val="A9B8DE"/>
          </a:solidFill>
          <a:ln w="12700">
            <a:solidFill>
              <a:srgbClr val="1F2A4A"/>
            </a:solidFill>
            <a:prstDash val="solid"/>
          </a:ln>
        </p:spPr>
      </p:sp>
      <p:sp>
        <p:nvSpPr>
          <p:cNvPr id="14" name="Shape 12"/>
          <p:cNvSpPr/>
          <p:nvPr/>
        </p:nvSpPr>
        <p:spPr>
          <a:xfrm>
            <a:off x="722376" y="2423160"/>
            <a:ext cx="182880" cy="182880"/>
          </a:xfrm>
          <a:prstGeom prst="ellipse">
            <a:avLst/>
          </a:prstGeom>
          <a:solidFill>
            <a:srgbClr val="2A2F3A"/>
          </a:solidFill>
          <a:ln w="9525">
            <a:solidFill>
              <a:srgbClr val="1F2430"/>
            </a:solidFill>
            <a:prstDash val="solid"/>
          </a:ln>
        </p:spPr>
      </p:sp>
      <p:sp>
        <p:nvSpPr>
          <p:cNvPr id="15" name="Shape 13"/>
          <p:cNvSpPr/>
          <p:nvPr/>
        </p:nvSpPr>
        <p:spPr>
          <a:xfrm>
            <a:off x="1106424" y="2423160"/>
            <a:ext cx="182880" cy="182880"/>
          </a:xfrm>
          <a:prstGeom prst="ellipse">
            <a:avLst/>
          </a:prstGeom>
          <a:solidFill>
            <a:srgbClr val="2A2F3A"/>
          </a:solidFill>
          <a:ln w="9525">
            <a:solidFill>
              <a:srgbClr val="1F2430"/>
            </a:solidFill>
            <a:prstDash val="solid"/>
          </a:ln>
        </p:spPr>
      </p:sp>
      <p:sp>
        <p:nvSpPr>
          <p:cNvPr id="16" name="Text 14"/>
          <p:cNvSpPr/>
          <p:nvPr/>
        </p:nvSpPr>
        <p:spPr>
          <a:xfrm>
            <a:off x="594360" y="2697480"/>
            <a:ext cx="8686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t = 0 s</a:t>
            </a:r>
            <a:endParaRPr lang="en-US" sz="1000" dirty="0"/>
          </a:p>
        </p:txBody>
      </p:sp>
      <p:sp>
        <p:nvSpPr>
          <p:cNvPr id="17" name="Shape 15"/>
          <p:cNvSpPr/>
          <p:nvPr/>
        </p:nvSpPr>
        <p:spPr>
          <a:xfrm>
            <a:off x="1811426" y="2283257"/>
            <a:ext cx="352044" cy="108814"/>
          </a:xfrm>
          <a:prstGeom prst="roundRect">
            <a:avLst>
              <a:gd name="adj" fmla="val 67227"/>
            </a:avLst>
          </a:prstGeom>
          <a:solidFill>
            <a:srgbClr val="A9B8DE"/>
          </a:solidFill>
          <a:ln w="12700">
            <a:solidFill>
              <a:srgbClr val="1F2A4A"/>
            </a:solidFill>
            <a:prstDash val="solid"/>
          </a:ln>
        </p:spPr>
      </p:sp>
      <p:sp>
        <p:nvSpPr>
          <p:cNvPr id="18" name="Shape 16"/>
          <p:cNvSpPr/>
          <p:nvPr/>
        </p:nvSpPr>
        <p:spPr>
          <a:xfrm>
            <a:off x="1857146" y="2319833"/>
            <a:ext cx="260604" cy="53950"/>
          </a:xfrm>
          <a:prstGeom prst="roundRect">
            <a:avLst>
              <a:gd name="adj" fmla="val 84745"/>
            </a:avLst>
          </a:prstGeom>
          <a:solidFill>
            <a:srgbClr val="DCE8FA"/>
          </a:solidFill>
          <a:ln/>
        </p:spPr>
      </p:sp>
      <p:sp>
        <p:nvSpPr>
          <p:cNvPr id="19" name="Shape 17"/>
          <p:cNvSpPr/>
          <p:nvPr/>
        </p:nvSpPr>
        <p:spPr>
          <a:xfrm>
            <a:off x="1600200" y="2373782"/>
            <a:ext cx="640080" cy="140818"/>
          </a:xfrm>
          <a:prstGeom prst="roundRect">
            <a:avLst>
              <a:gd name="adj" fmla="val 38961"/>
            </a:avLst>
          </a:prstGeom>
          <a:solidFill>
            <a:srgbClr val="A9B8DE"/>
          </a:solidFill>
          <a:ln w="12700">
            <a:solidFill>
              <a:srgbClr val="1F2A4A"/>
            </a:solidFill>
            <a:prstDash val="solid"/>
          </a:ln>
        </p:spPr>
      </p:sp>
      <p:sp>
        <p:nvSpPr>
          <p:cNvPr id="20" name="Shape 18"/>
          <p:cNvSpPr/>
          <p:nvPr/>
        </p:nvSpPr>
        <p:spPr>
          <a:xfrm>
            <a:off x="1636776" y="2423160"/>
            <a:ext cx="182880" cy="182880"/>
          </a:xfrm>
          <a:prstGeom prst="ellipse">
            <a:avLst/>
          </a:prstGeom>
          <a:solidFill>
            <a:srgbClr val="2A2F3A"/>
          </a:solidFill>
          <a:ln w="9525">
            <a:solidFill>
              <a:srgbClr val="1F2430"/>
            </a:solidFill>
            <a:prstDash val="solid"/>
          </a:ln>
        </p:spPr>
      </p:sp>
      <p:sp>
        <p:nvSpPr>
          <p:cNvPr id="21" name="Shape 19"/>
          <p:cNvSpPr/>
          <p:nvPr/>
        </p:nvSpPr>
        <p:spPr>
          <a:xfrm>
            <a:off x="2020824" y="2423160"/>
            <a:ext cx="182880" cy="182880"/>
          </a:xfrm>
          <a:prstGeom prst="ellipse">
            <a:avLst/>
          </a:prstGeom>
          <a:solidFill>
            <a:srgbClr val="2A2F3A"/>
          </a:solidFill>
          <a:ln w="9525">
            <a:solidFill>
              <a:srgbClr val="1F2430"/>
            </a:solidFill>
            <a:prstDash val="solid"/>
          </a:ln>
        </p:spPr>
      </p:sp>
      <p:sp>
        <p:nvSpPr>
          <p:cNvPr id="22" name="Text 20"/>
          <p:cNvSpPr/>
          <p:nvPr/>
        </p:nvSpPr>
        <p:spPr>
          <a:xfrm>
            <a:off x="1508760" y="2697480"/>
            <a:ext cx="8686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t = 1 s</a:t>
            </a:r>
            <a:endParaRPr lang="en-US" sz="1000" dirty="0"/>
          </a:p>
        </p:txBody>
      </p:sp>
      <p:sp>
        <p:nvSpPr>
          <p:cNvPr id="23" name="Shape 21"/>
          <p:cNvSpPr/>
          <p:nvPr/>
        </p:nvSpPr>
        <p:spPr>
          <a:xfrm>
            <a:off x="3274466" y="2283257"/>
            <a:ext cx="352044" cy="108814"/>
          </a:xfrm>
          <a:prstGeom prst="roundRect">
            <a:avLst>
              <a:gd name="adj" fmla="val 67227"/>
            </a:avLst>
          </a:prstGeom>
          <a:solidFill>
            <a:srgbClr val="A9B8DE"/>
          </a:solidFill>
          <a:ln w="12700">
            <a:solidFill>
              <a:srgbClr val="1F2A4A"/>
            </a:solidFill>
            <a:prstDash val="solid"/>
          </a:ln>
        </p:spPr>
      </p:sp>
      <p:sp>
        <p:nvSpPr>
          <p:cNvPr id="24" name="Shape 22"/>
          <p:cNvSpPr/>
          <p:nvPr/>
        </p:nvSpPr>
        <p:spPr>
          <a:xfrm>
            <a:off x="3320186" y="2319833"/>
            <a:ext cx="260604" cy="53950"/>
          </a:xfrm>
          <a:prstGeom prst="roundRect">
            <a:avLst>
              <a:gd name="adj" fmla="val 84745"/>
            </a:avLst>
          </a:prstGeom>
          <a:solidFill>
            <a:srgbClr val="DCE8FA"/>
          </a:solidFill>
          <a:ln/>
        </p:spPr>
      </p:sp>
      <p:sp>
        <p:nvSpPr>
          <p:cNvPr id="25" name="Shape 23"/>
          <p:cNvSpPr/>
          <p:nvPr/>
        </p:nvSpPr>
        <p:spPr>
          <a:xfrm>
            <a:off x="3063240" y="2373782"/>
            <a:ext cx="640080" cy="140818"/>
          </a:xfrm>
          <a:prstGeom prst="roundRect">
            <a:avLst>
              <a:gd name="adj" fmla="val 38961"/>
            </a:avLst>
          </a:prstGeom>
          <a:solidFill>
            <a:srgbClr val="A9B8DE"/>
          </a:solidFill>
          <a:ln w="12700">
            <a:solidFill>
              <a:srgbClr val="1F2A4A"/>
            </a:solidFill>
            <a:prstDash val="solid"/>
          </a:ln>
        </p:spPr>
      </p:sp>
      <p:sp>
        <p:nvSpPr>
          <p:cNvPr id="26" name="Shape 24"/>
          <p:cNvSpPr/>
          <p:nvPr/>
        </p:nvSpPr>
        <p:spPr>
          <a:xfrm>
            <a:off x="3099816" y="2423160"/>
            <a:ext cx="182880" cy="182880"/>
          </a:xfrm>
          <a:prstGeom prst="ellipse">
            <a:avLst/>
          </a:prstGeom>
          <a:solidFill>
            <a:srgbClr val="2A2F3A"/>
          </a:solidFill>
          <a:ln w="9525">
            <a:solidFill>
              <a:srgbClr val="1F2430"/>
            </a:solidFill>
            <a:prstDash val="solid"/>
          </a:ln>
        </p:spPr>
      </p:sp>
      <p:sp>
        <p:nvSpPr>
          <p:cNvPr id="27" name="Shape 25"/>
          <p:cNvSpPr/>
          <p:nvPr/>
        </p:nvSpPr>
        <p:spPr>
          <a:xfrm>
            <a:off x="3483864" y="2423160"/>
            <a:ext cx="182880" cy="182880"/>
          </a:xfrm>
          <a:prstGeom prst="ellipse">
            <a:avLst/>
          </a:prstGeom>
          <a:solidFill>
            <a:srgbClr val="2A2F3A"/>
          </a:solidFill>
          <a:ln w="9525">
            <a:solidFill>
              <a:srgbClr val="1F2430"/>
            </a:solidFill>
            <a:prstDash val="solid"/>
          </a:ln>
        </p:spPr>
      </p:sp>
      <p:sp>
        <p:nvSpPr>
          <p:cNvPr id="28" name="Text 26"/>
          <p:cNvSpPr/>
          <p:nvPr/>
        </p:nvSpPr>
        <p:spPr>
          <a:xfrm>
            <a:off x="2971800" y="2697480"/>
            <a:ext cx="8686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t = 2 s</a:t>
            </a:r>
            <a:endParaRPr lang="en-US" sz="1000" dirty="0"/>
          </a:p>
        </p:txBody>
      </p:sp>
      <p:sp>
        <p:nvSpPr>
          <p:cNvPr id="29" name="Shape 27"/>
          <p:cNvSpPr/>
          <p:nvPr/>
        </p:nvSpPr>
        <p:spPr>
          <a:xfrm>
            <a:off x="5286146" y="2283257"/>
            <a:ext cx="352044" cy="108814"/>
          </a:xfrm>
          <a:prstGeom prst="roundRect">
            <a:avLst>
              <a:gd name="adj" fmla="val 67227"/>
            </a:avLst>
          </a:prstGeom>
          <a:solidFill>
            <a:srgbClr val="2E5BD8"/>
          </a:solidFill>
          <a:ln w="12700">
            <a:solidFill>
              <a:srgbClr val="1F2A4A"/>
            </a:solidFill>
            <a:prstDash val="solid"/>
          </a:ln>
        </p:spPr>
      </p:sp>
      <p:sp>
        <p:nvSpPr>
          <p:cNvPr id="30" name="Shape 28"/>
          <p:cNvSpPr/>
          <p:nvPr/>
        </p:nvSpPr>
        <p:spPr>
          <a:xfrm>
            <a:off x="5331866" y="2319833"/>
            <a:ext cx="260604" cy="53950"/>
          </a:xfrm>
          <a:prstGeom prst="roundRect">
            <a:avLst>
              <a:gd name="adj" fmla="val 84745"/>
            </a:avLst>
          </a:prstGeom>
          <a:solidFill>
            <a:srgbClr val="DCE8FA"/>
          </a:solidFill>
          <a:ln/>
        </p:spPr>
      </p:sp>
      <p:sp>
        <p:nvSpPr>
          <p:cNvPr id="31" name="Shape 29"/>
          <p:cNvSpPr/>
          <p:nvPr/>
        </p:nvSpPr>
        <p:spPr>
          <a:xfrm>
            <a:off x="5074920" y="2373782"/>
            <a:ext cx="640080" cy="140818"/>
          </a:xfrm>
          <a:prstGeom prst="roundRect">
            <a:avLst>
              <a:gd name="adj" fmla="val 38961"/>
            </a:avLst>
          </a:prstGeom>
          <a:solidFill>
            <a:srgbClr val="2E5BD8"/>
          </a:solidFill>
          <a:ln w="12700">
            <a:solidFill>
              <a:srgbClr val="1F2A4A"/>
            </a:solidFill>
            <a:prstDash val="solid"/>
          </a:ln>
        </p:spPr>
      </p:sp>
      <p:sp>
        <p:nvSpPr>
          <p:cNvPr id="32" name="Shape 30"/>
          <p:cNvSpPr/>
          <p:nvPr/>
        </p:nvSpPr>
        <p:spPr>
          <a:xfrm>
            <a:off x="5111496" y="2423160"/>
            <a:ext cx="182880" cy="182880"/>
          </a:xfrm>
          <a:prstGeom prst="ellipse">
            <a:avLst/>
          </a:prstGeom>
          <a:solidFill>
            <a:srgbClr val="2A2F3A"/>
          </a:solidFill>
          <a:ln w="9525">
            <a:solidFill>
              <a:srgbClr val="1F2430"/>
            </a:solidFill>
            <a:prstDash val="solid"/>
          </a:ln>
        </p:spPr>
      </p:sp>
      <p:sp>
        <p:nvSpPr>
          <p:cNvPr id="33" name="Shape 31"/>
          <p:cNvSpPr/>
          <p:nvPr/>
        </p:nvSpPr>
        <p:spPr>
          <a:xfrm>
            <a:off x="5495544" y="2423160"/>
            <a:ext cx="182880" cy="182880"/>
          </a:xfrm>
          <a:prstGeom prst="ellipse">
            <a:avLst/>
          </a:prstGeom>
          <a:solidFill>
            <a:srgbClr val="2A2F3A"/>
          </a:solidFill>
          <a:ln w="9525">
            <a:solidFill>
              <a:srgbClr val="1F2430"/>
            </a:solidFill>
            <a:prstDash val="solid"/>
          </a:ln>
        </p:spPr>
      </p:sp>
      <p:sp>
        <p:nvSpPr>
          <p:cNvPr id="34" name="Text 32"/>
          <p:cNvSpPr/>
          <p:nvPr/>
        </p:nvSpPr>
        <p:spPr>
          <a:xfrm>
            <a:off x="4983480" y="2697480"/>
            <a:ext cx="8686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t = 3 s</a:t>
            </a:r>
            <a:endParaRPr lang="en-US" sz="1000" dirty="0"/>
          </a:p>
        </p:txBody>
      </p:sp>
      <p:sp>
        <p:nvSpPr>
          <p:cNvPr id="35" name="Text 33"/>
          <p:cNvSpPr/>
          <p:nvPr/>
        </p:nvSpPr>
        <p:spPr>
          <a:xfrm>
            <a:off x="685800" y="3017520"/>
            <a:ext cx="502920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gaps grow each second → the car is accelerating</a:t>
            </a:r>
            <a:endParaRPr lang="en-US" sz="1050" dirty="0"/>
          </a:p>
        </p:txBody>
      </p:sp>
      <p:sp>
        <p:nvSpPr>
          <p:cNvPr id="36" name="Shape 34"/>
          <p:cNvSpPr/>
          <p:nvPr/>
        </p:nvSpPr>
        <p:spPr>
          <a:xfrm>
            <a:off x="868680" y="3520440"/>
            <a:ext cx="4663440" cy="1691640"/>
          </a:xfrm>
          <a:prstGeom prst="roundRect">
            <a:avLst>
              <a:gd name="adj" fmla="val 2703"/>
            </a:avLst>
          </a:prstGeom>
          <a:solidFill>
            <a:srgbClr val="FFFFFF"/>
          </a:solidFill>
          <a:ln w="12700">
            <a:solidFill>
              <a:srgbClr val="D5DCEB"/>
            </a:solidFill>
            <a:prstDash val="solid"/>
          </a:ln>
        </p:spPr>
      </p:sp>
      <p:sp>
        <p:nvSpPr>
          <p:cNvPr id="37" name="Text 35"/>
          <p:cNvSpPr/>
          <p:nvPr/>
        </p:nvSpPr>
        <p:spPr>
          <a:xfrm>
            <a:off x="868680" y="3611880"/>
            <a:ext cx="4663440" cy="457200"/>
          </a:xfrm>
          <a:prstGeom prst="rect">
            <a:avLst/>
          </a:prstGeom>
          <a:noFill/>
          <a:ln/>
        </p:spPr>
        <p:txBody>
          <a:bodyPr wrap="square" lIns="0" tIns="0" rIns="0" bIns="0" rtlCol="0" anchor="ctr"/>
          <a:lstStyle/>
          <a:p>
            <a:pPr algn="ctr" indent="0" marL="0">
              <a:buNone/>
            </a:pPr>
            <a:r>
              <a:rPr lang="en-US" sz="2200" b="1" dirty="0">
                <a:solidFill>
                  <a:srgbClr val="1A2340"/>
                </a:solidFill>
                <a:latin typeface="Calibri" pitchFamily="34" charset="0"/>
                <a:ea typeface="Calibri" pitchFamily="34" charset="-122"/>
                <a:cs typeface="Calibri" pitchFamily="34" charset="-120"/>
              </a:rPr>
              <a:t>a = (v − u) ÷ t</a:t>
            </a:r>
            <a:endParaRPr lang="en-US" sz="2200" dirty="0"/>
          </a:p>
        </p:txBody>
      </p:sp>
      <p:sp>
        <p:nvSpPr>
          <p:cNvPr id="38" name="Text 36"/>
          <p:cNvSpPr/>
          <p:nvPr/>
        </p:nvSpPr>
        <p:spPr>
          <a:xfrm>
            <a:off x="1005840" y="4114800"/>
            <a:ext cx="4389120" cy="2743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 = acceleration (m/s²)     v = final velocity (m/s)</a:t>
            </a:r>
            <a:endParaRPr lang="en-US" sz="1100" dirty="0"/>
          </a:p>
        </p:txBody>
      </p:sp>
      <p:sp>
        <p:nvSpPr>
          <p:cNvPr id="39" name="Text 37"/>
          <p:cNvSpPr/>
          <p:nvPr/>
        </p:nvSpPr>
        <p:spPr>
          <a:xfrm>
            <a:off x="1005840" y="4407408"/>
            <a:ext cx="4389120" cy="2743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u = initial velocity (m/s)     t = time taken (s)</a:t>
            </a:r>
            <a:endParaRPr lang="en-US" sz="1100" dirty="0"/>
          </a:p>
        </p:txBody>
      </p:sp>
      <p:sp>
        <p:nvSpPr>
          <p:cNvPr id="40" name="Text 38"/>
          <p:cNvSpPr/>
          <p:nvPr/>
        </p:nvSpPr>
        <p:spPr>
          <a:xfrm>
            <a:off x="1005840" y="4754880"/>
            <a:ext cx="43891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negative a = deceleration (slowing down)</a:t>
            </a:r>
            <a:endParaRPr lang="en-US" sz="1100" dirty="0"/>
          </a:p>
        </p:txBody>
      </p:sp>
      <p:sp>
        <p:nvSpPr>
          <p:cNvPr id="41" name="Shape 3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2" name="Text 4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Acceleration</a:t>
            </a:r>
            <a:endParaRPr lang="en-US" sz="1300" dirty="0"/>
          </a:p>
        </p:txBody>
      </p:sp>
      <p:sp>
        <p:nvSpPr>
          <p:cNvPr id="43" name="Text 4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Acceleration</a:t>
            </a:r>
            <a:r>
              <a:rPr lang="en-US" sz="1150" dirty="0">
                <a:solidFill>
                  <a:srgbClr val="262B3A"/>
                </a:solidFill>
                <a:latin typeface="Calibri" pitchFamily="34" charset="0"/>
                <a:ea typeface="Calibri" pitchFamily="34" charset="-122"/>
                <a:cs typeface="Calibri" pitchFamily="34" charset="-120"/>
              </a:rPr>
              <a:t> = change in velocity ÷ time taken. Unit: </a:t>
            </a:r>
            <a:r>
              <a:rPr lang="en-US" sz="1150" b="1" dirty="0">
                <a:solidFill>
                  <a:srgbClr val="262B3A"/>
                </a:solidFill>
                <a:latin typeface="Calibri" pitchFamily="34" charset="0"/>
                <a:ea typeface="Calibri" pitchFamily="34" charset="-122"/>
                <a:cs typeface="Calibri" pitchFamily="34" charset="-120"/>
              </a:rPr>
              <a:t>m/s²</a:t>
            </a:r>
            <a:r>
              <a:rPr lang="en-US" sz="1150" dirty="0">
                <a:solidFill>
                  <a:srgbClr val="262B3A"/>
                </a:solidFill>
                <a:latin typeface="Calibri" pitchFamily="34" charset="0"/>
                <a:ea typeface="Calibri" pitchFamily="34" charset="-122"/>
                <a:cs typeface="Calibri" pitchFamily="34" charset="-120"/>
              </a:rPr>
              <a:t> (metres per second, per second).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acceleration of 3 m/s² means the velocity </a:t>
            </a:r>
            <a:r>
              <a:rPr lang="en-US" sz="1150" b="1" dirty="0">
                <a:solidFill>
                  <a:srgbClr val="262B3A"/>
                </a:solidFill>
                <a:latin typeface="Calibri" pitchFamily="34" charset="0"/>
                <a:ea typeface="Calibri" pitchFamily="34" charset="-122"/>
                <a:cs typeface="Calibri" pitchFamily="34" charset="-120"/>
              </a:rPr>
              <a:t>increases by 3 m/s every second</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a = (v − u) ÷ 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Acceleration is a </a:t>
            </a:r>
            <a:r>
              <a:rPr lang="en-US" sz="1150" b="1" dirty="0">
                <a:solidFill>
                  <a:srgbClr val="262B3A"/>
                </a:solidFill>
                <a:latin typeface="Calibri" pitchFamily="34" charset="0"/>
                <a:ea typeface="Calibri" pitchFamily="34" charset="-122"/>
                <a:cs typeface="Calibri" pitchFamily="34" charset="-120"/>
              </a:rPr>
              <a:t>vector</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deceleration</a:t>
            </a:r>
            <a:r>
              <a:rPr lang="en-US" sz="1150" dirty="0">
                <a:solidFill>
                  <a:srgbClr val="262B3A"/>
                </a:solidFill>
                <a:latin typeface="Calibri" pitchFamily="34" charset="0"/>
                <a:ea typeface="Calibri" pitchFamily="34" charset="-122"/>
                <a:cs typeface="Calibri" pitchFamily="34" charset="-120"/>
              </a:rPr>
              <a:t> is a negative acceleration.</a:t>
            </a:r>
            <a:endParaRPr lang="en-US" sz="1150" dirty="0"/>
          </a:p>
        </p:txBody>
      </p:sp>
      <p:sp>
        <p:nvSpPr>
          <p:cNvPr id="44" name="Shape 4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5" name="Text 4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6" name="Text 44"/>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car speeds up from 12 m/s to 30 m/s in 6.0 s. Calculate its acceleration.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a = (v − u) ÷ 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a = (30 − 12) m/s ÷ 6.0 s = 18 ÷ 6.0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velocity rises by 3 m/s each second ✓</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 = 3.0 m/s²</a:t>
            </a:r>
            <a:endParaRPr lang="en-US" sz="1100" dirty="0"/>
          </a:p>
        </p:txBody>
      </p:sp>
      <p:sp>
        <p:nvSpPr>
          <p:cNvPr id="47" name="Shape 45"/>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6"/>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train slows from 25 m/s to 5 m/s in 40 s. Calculate its acceleration. What does the sign tell you?</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Velocity–time graphs: gradient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2.10 • acceleration = gradient of a velocity–time graph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2.10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cars starting from rest, plotted to scale</a:t>
            </a:r>
            <a:endParaRPr lang="en-US" sz="1000" dirty="0"/>
          </a:p>
        </p:txBody>
      </p:sp>
      <p:sp>
        <p:nvSpPr>
          <p:cNvPr id="10" name="Shape 8"/>
          <p:cNvSpPr/>
          <p:nvPr/>
        </p:nvSpPr>
        <p:spPr>
          <a:xfrm>
            <a:off x="1280160" y="1417320"/>
            <a:ext cx="4389120" cy="3383280"/>
          </a:xfrm>
          <a:prstGeom prst="rect">
            <a:avLst/>
          </a:prstGeom>
          <a:solidFill>
            <a:srgbClr val="FFFFFF"/>
          </a:solidFill>
          <a:ln/>
        </p:spPr>
      </p:sp>
      <p:sp>
        <p:nvSpPr>
          <p:cNvPr id="11" name="Shape 9"/>
          <p:cNvSpPr/>
          <p:nvPr/>
        </p:nvSpPr>
        <p:spPr>
          <a:xfrm>
            <a:off x="1280160" y="1417320"/>
            <a:ext cx="91" cy="3383280"/>
          </a:xfrm>
          <a:prstGeom prst="line">
            <a:avLst/>
          </a:prstGeom>
          <a:noFill/>
          <a:ln w="6350">
            <a:solidFill>
              <a:srgbClr val="C9D3E6"/>
            </a:solidFill>
            <a:prstDash val="solid"/>
          </a:ln>
        </p:spPr>
      </p:sp>
      <p:sp>
        <p:nvSpPr>
          <p:cNvPr id="12" name="Shape 10"/>
          <p:cNvSpPr/>
          <p:nvPr/>
        </p:nvSpPr>
        <p:spPr>
          <a:xfrm>
            <a:off x="1719072" y="1417320"/>
            <a:ext cx="91" cy="3383280"/>
          </a:xfrm>
          <a:prstGeom prst="line">
            <a:avLst/>
          </a:prstGeom>
          <a:noFill/>
          <a:ln w="6350">
            <a:solidFill>
              <a:srgbClr val="E6EBF4"/>
            </a:solidFill>
            <a:prstDash val="solid"/>
          </a:ln>
        </p:spPr>
      </p:sp>
      <p:sp>
        <p:nvSpPr>
          <p:cNvPr id="13" name="Shape 11"/>
          <p:cNvSpPr/>
          <p:nvPr/>
        </p:nvSpPr>
        <p:spPr>
          <a:xfrm>
            <a:off x="2157984" y="1417320"/>
            <a:ext cx="91" cy="3383280"/>
          </a:xfrm>
          <a:prstGeom prst="line">
            <a:avLst/>
          </a:prstGeom>
          <a:noFill/>
          <a:ln w="6350">
            <a:solidFill>
              <a:srgbClr val="C9D3E6"/>
            </a:solidFill>
            <a:prstDash val="solid"/>
          </a:ln>
        </p:spPr>
      </p:sp>
      <p:sp>
        <p:nvSpPr>
          <p:cNvPr id="14" name="Shape 12"/>
          <p:cNvSpPr/>
          <p:nvPr/>
        </p:nvSpPr>
        <p:spPr>
          <a:xfrm>
            <a:off x="2596896" y="1417320"/>
            <a:ext cx="91" cy="3383280"/>
          </a:xfrm>
          <a:prstGeom prst="line">
            <a:avLst/>
          </a:prstGeom>
          <a:noFill/>
          <a:ln w="6350">
            <a:solidFill>
              <a:srgbClr val="E6EBF4"/>
            </a:solidFill>
            <a:prstDash val="solid"/>
          </a:ln>
        </p:spPr>
      </p:sp>
      <p:sp>
        <p:nvSpPr>
          <p:cNvPr id="15" name="Shape 13"/>
          <p:cNvSpPr/>
          <p:nvPr/>
        </p:nvSpPr>
        <p:spPr>
          <a:xfrm>
            <a:off x="3035808" y="1417320"/>
            <a:ext cx="91" cy="3383280"/>
          </a:xfrm>
          <a:prstGeom prst="line">
            <a:avLst/>
          </a:prstGeom>
          <a:noFill/>
          <a:ln w="6350">
            <a:solidFill>
              <a:srgbClr val="C9D3E6"/>
            </a:solidFill>
            <a:prstDash val="solid"/>
          </a:ln>
        </p:spPr>
      </p:sp>
      <p:sp>
        <p:nvSpPr>
          <p:cNvPr id="16" name="Shape 14"/>
          <p:cNvSpPr/>
          <p:nvPr/>
        </p:nvSpPr>
        <p:spPr>
          <a:xfrm>
            <a:off x="3474720" y="1417320"/>
            <a:ext cx="91" cy="3383280"/>
          </a:xfrm>
          <a:prstGeom prst="line">
            <a:avLst/>
          </a:prstGeom>
          <a:noFill/>
          <a:ln w="6350">
            <a:solidFill>
              <a:srgbClr val="E6EBF4"/>
            </a:solidFill>
            <a:prstDash val="solid"/>
          </a:ln>
        </p:spPr>
      </p:sp>
      <p:sp>
        <p:nvSpPr>
          <p:cNvPr id="17" name="Shape 15"/>
          <p:cNvSpPr/>
          <p:nvPr/>
        </p:nvSpPr>
        <p:spPr>
          <a:xfrm>
            <a:off x="3913632" y="1417320"/>
            <a:ext cx="91" cy="3383280"/>
          </a:xfrm>
          <a:prstGeom prst="line">
            <a:avLst/>
          </a:prstGeom>
          <a:noFill/>
          <a:ln w="6350">
            <a:solidFill>
              <a:srgbClr val="C9D3E6"/>
            </a:solidFill>
            <a:prstDash val="solid"/>
          </a:ln>
        </p:spPr>
      </p:sp>
      <p:sp>
        <p:nvSpPr>
          <p:cNvPr id="18" name="Shape 16"/>
          <p:cNvSpPr/>
          <p:nvPr/>
        </p:nvSpPr>
        <p:spPr>
          <a:xfrm>
            <a:off x="4352544" y="1417320"/>
            <a:ext cx="91" cy="3383280"/>
          </a:xfrm>
          <a:prstGeom prst="line">
            <a:avLst/>
          </a:prstGeom>
          <a:noFill/>
          <a:ln w="6350">
            <a:solidFill>
              <a:srgbClr val="E6EBF4"/>
            </a:solidFill>
            <a:prstDash val="solid"/>
          </a:ln>
        </p:spPr>
      </p:sp>
      <p:sp>
        <p:nvSpPr>
          <p:cNvPr id="19" name="Shape 17"/>
          <p:cNvSpPr/>
          <p:nvPr/>
        </p:nvSpPr>
        <p:spPr>
          <a:xfrm>
            <a:off x="4791456" y="1417320"/>
            <a:ext cx="91" cy="3383280"/>
          </a:xfrm>
          <a:prstGeom prst="line">
            <a:avLst/>
          </a:prstGeom>
          <a:noFill/>
          <a:ln w="6350">
            <a:solidFill>
              <a:srgbClr val="C9D3E6"/>
            </a:solidFill>
            <a:prstDash val="solid"/>
          </a:ln>
        </p:spPr>
      </p:sp>
      <p:sp>
        <p:nvSpPr>
          <p:cNvPr id="20" name="Shape 18"/>
          <p:cNvSpPr/>
          <p:nvPr/>
        </p:nvSpPr>
        <p:spPr>
          <a:xfrm>
            <a:off x="5230368" y="1417320"/>
            <a:ext cx="91" cy="3383280"/>
          </a:xfrm>
          <a:prstGeom prst="line">
            <a:avLst/>
          </a:prstGeom>
          <a:noFill/>
          <a:ln w="6350">
            <a:solidFill>
              <a:srgbClr val="E6EBF4"/>
            </a:solidFill>
            <a:prstDash val="solid"/>
          </a:ln>
        </p:spPr>
      </p:sp>
      <p:sp>
        <p:nvSpPr>
          <p:cNvPr id="21" name="Shape 19"/>
          <p:cNvSpPr/>
          <p:nvPr/>
        </p:nvSpPr>
        <p:spPr>
          <a:xfrm>
            <a:off x="5669280" y="1417320"/>
            <a:ext cx="91" cy="3383280"/>
          </a:xfrm>
          <a:prstGeom prst="line">
            <a:avLst/>
          </a:prstGeom>
          <a:noFill/>
          <a:ln w="6350">
            <a:solidFill>
              <a:srgbClr val="C9D3E6"/>
            </a:solidFill>
            <a:prstDash val="solid"/>
          </a:ln>
        </p:spPr>
      </p:sp>
      <p:sp>
        <p:nvSpPr>
          <p:cNvPr id="22" name="Shape 20"/>
          <p:cNvSpPr/>
          <p:nvPr/>
        </p:nvSpPr>
        <p:spPr>
          <a:xfrm>
            <a:off x="1280160" y="4800600"/>
            <a:ext cx="4389120" cy="91"/>
          </a:xfrm>
          <a:prstGeom prst="line">
            <a:avLst/>
          </a:prstGeom>
          <a:noFill/>
          <a:ln w="6350">
            <a:solidFill>
              <a:srgbClr val="C9D3E6"/>
            </a:solidFill>
            <a:prstDash val="solid"/>
          </a:ln>
        </p:spPr>
      </p:sp>
      <p:sp>
        <p:nvSpPr>
          <p:cNvPr id="23" name="Shape 21"/>
          <p:cNvSpPr/>
          <p:nvPr/>
        </p:nvSpPr>
        <p:spPr>
          <a:xfrm>
            <a:off x="1280160" y="4462272"/>
            <a:ext cx="4389120" cy="91"/>
          </a:xfrm>
          <a:prstGeom prst="line">
            <a:avLst/>
          </a:prstGeom>
          <a:noFill/>
          <a:ln w="6350">
            <a:solidFill>
              <a:srgbClr val="E6EBF4"/>
            </a:solidFill>
            <a:prstDash val="solid"/>
          </a:ln>
        </p:spPr>
      </p:sp>
      <p:sp>
        <p:nvSpPr>
          <p:cNvPr id="24" name="Shape 22"/>
          <p:cNvSpPr/>
          <p:nvPr/>
        </p:nvSpPr>
        <p:spPr>
          <a:xfrm>
            <a:off x="1280160" y="4123944"/>
            <a:ext cx="4389120" cy="91"/>
          </a:xfrm>
          <a:prstGeom prst="line">
            <a:avLst/>
          </a:prstGeom>
          <a:noFill/>
          <a:ln w="6350">
            <a:solidFill>
              <a:srgbClr val="C9D3E6"/>
            </a:solidFill>
            <a:prstDash val="solid"/>
          </a:ln>
        </p:spPr>
      </p:sp>
      <p:sp>
        <p:nvSpPr>
          <p:cNvPr id="25" name="Shape 23"/>
          <p:cNvSpPr/>
          <p:nvPr/>
        </p:nvSpPr>
        <p:spPr>
          <a:xfrm>
            <a:off x="1280160" y="3785616"/>
            <a:ext cx="4389120" cy="91"/>
          </a:xfrm>
          <a:prstGeom prst="line">
            <a:avLst/>
          </a:prstGeom>
          <a:noFill/>
          <a:ln w="6350">
            <a:solidFill>
              <a:srgbClr val="E6EBF4"/>
            </a:solidFill>
            <a:prstDash val="solid"/>
          </a:ln>
        </p:spPr>
      </p:sp>
      <p:sp>
        <p:nvSpPr>
          <p:cNvPr id="26" name="Shape 24"/>
          <p:cNvSpPr/>
          <p:nvPr/>
        </p:nvSpPr>
        <p:spPr>
          <a:xfrm>
            <a:off x="1280160" y="3447288"/>
            <a:ext cx="4389120" cy="91"/>
          </a:xfrm>
          <a:prstGeom prst="line">
            <a:avLst/>
          </a:prstGeom>
          <a:noFill/>
          <a:ln w="6350">
            <a:solidFill>
              <a:srgbClr val="C9D3E6"/>
            </a:solidFill>
            <a:prstDash val="solid"/>
          </a:ln>
        </p:spPr>
      </p:sp>
      <p:sp>
        <p:nvSpPr>
          <p:cNvPr id="27" name="Shape 25"/>
          <p:cNvSpPr/>
          <p:nvPr/>
        </p:nvSpPr>
        <p:spPr>
          <a:xfrm>
            <a:off x="1280160" y="3108960"/>
            <a:ext cx="4389120" cy="91"/>
          </a:xfrm>
          <a:prstGeom prst="line">
            <a:avLst/>
          </a:prstGeom>
          <a:noFill/>
          <a:ln w="6350">
            <a:solidFill>
              <a:srgbClr val="E6EBF4"/>
            </a:solidFill>
            <a:prstDash val="solid"/>
          </a:ln>
        </p:spPr>
      </p:sp>
      <p:sp>
        <p:nvSpPr>
          <p:cNvPr id="28" name="Shape 26"/>
          <p:cNvSpPr/>
          <p:nvPr/>
        </p:nvSpPr>
        <p:spPr>
          <a:xfrm>
            <a:off x="1280160" y="2770632"/>
            <a:ext cx="4389120" cy="91"/>
          </a:xfrm>
          <a:prstGeom prst="line">
            <a:avLst/>
          </a:prstGeom>
          <a:noFill/>
          <a:ln w="6350">
            <a:solidFill>
              <a:srgbClr val="C9D3E6"/>
            </a:solidFill>
            <a:prstDash val="solid"/>
          </a:ln>
        </p:spPr>
      </p:sp>
      <p:sp>
        <p:nvSpPr>
          <p:cNvPr id="29" name="Shape 27"/>
          <p:cNvSpPr/>
          <p:nvPr/>
        </p:nvSpPr>
        <p:spPr>
          <a:xfrm>
            <a:off x="1280160" y="2432304"/>
            <a:ext cx="4389120" cy="91"/>
          </a:xfrm>
          <a:prstGeom prst="line">
            <a:avLst/>
          </a:prstGeom>
          <a:noFill/>
          <a:ln w="6350">
            <a:solidFill>
              <a:srgbClr val="E6EBF4"/>
            </a:solidFill>
            <a:prstDash val="solid"/>
          </a:ln>
        </p:spPr>
      </p:sp>
      <p:sp>
        <p:nvSpPr>
          <p:cNvPr id="30" name="Shape 28"/>
          <p:cNvSpPr/>
          <p:nvPr/>
        </p:nvSpPr>
        <p:spPr>
          <a:xfrm>
            <a:off x="1280160" y="2093976"/>
            <a:ext cx="4389120" cy="91"/>
          </a:xfrm>
          <a:prstGeom prst="line">
            <a:avLst/>
          </a:prstGeom>
          <a:noFill/>
          <a:ln w="6350">
            <a:solidFill>
              <a:srgbClr val="C9D3E6"/>
            </a:solidFill>
            <a:prstDash val="solid"/>
          </a:ln>
        </p:spPr>
      </p:sp>
      <p:sp>
        <p:nvSpPr>
          <p:cNvPr id="31" name="Shape 29"/>
          <p:cNvSpPr/>
          <p:nvPr/>
        </p:nvSpPr>
        <p:spPr>
          <a:xfrm>
            <a:off x="1280160" y="1755648"/>
            <a:ext cx="4389120" cy="91"/>
          </a:xfrm>
          <a:prstGeom prst="line">
            <a:avLst/>
          </a:prstGeom>
          <a:noFill/>
          <a:ln w="6350">
            <a:solidFill>
              <a:srgbClr val="E6EBF4"/>
            </a:solidFill>
            <a:prstDash val="solid"/>
          </a:ln>
        </p:spPr>
      </p:sp>
      <p:sp>
        <p:nvSpPr>
          <p:cNvPr id="32" name="Shape 30"/>
          <p:cNvSpPr/>
          <p:nvPr/>
        </p:nvSpPr>
        <p:spPr>
          <a:xfrm>
            <a:off x="1280160" y="1417320"/>
            <a:ext cx="4389120" cy="91"/>
          </a:xfrm>
          <a:prstGeom prst="line">
            <a:avLst/>
          </a:prstGeom>
          <a:noFill/>
          <a:ln w="6350">
            <a:solidFill>
              <a:srgbClr val="C9D3E6"/>
            </a:solidFill>
            <a:prstDash val="solid"/>
          </a:ln>
        </p:spPr>
      </p:sp>
      <p:sp>
        <p:nvSpPr>
          <p:cNvPr id="33" name="Shape 31"/>
          <p:cNvSpPr/>
          <p:nvPr/>
        </p:nvSpPr>
        <p:spPr>
          <a:xfrm>
            <a:off x="1280160" y="4800600"/>
            <a:ext cx="4389120" cy="91"/>
          </a:xfrm>
          <a:prstGeom prst="line">
            <a:avLst/>
          </a:prstGeom>
          <a:noFill/>
          <a:ln w="19050">
            <a:solidFill>
              <a:srgbClr val="1A2340"/>
            </a:solidFill>
            <a:prstDash val="solid"/>
          </a:ln>
        </p:spPr>
      </p:sp>
      <p:sp>
        <p:nvSpPr>
          <p:cNvPr id="34" name="Shape 32"/>
          <p:cNvSpPr/>
          <p:nvPr/>
        </p:nvSpPr>
        <p:spPr>
          <a:xfrm flipV="1">
            <a:off x="1280160" y="1417320"/>
            <a:ext cx="91" cy="3383280"/>
          </a:xfrm>
          <a:prstGeom prst="line">
            <a:avLst/>
          </a:prstGeom>
          <a:noFill/>
          <a:ln w="19050">
            <a:solidFill>
              <a:srgbClr val="1A2340"/>
            </a:solidFill>
            <a:prstDash val="solid"/>
          </a:ln>
        </p:spPr>
      </p:sp>
      <p:sp>
        <p:nvSpPr>
          <p:cNvPr id="35" name="Shape 33"/>
          <p:cNvSpPr/>
          <p:nvPr/>
        </p:nvSpPr>
        <p:spPr>
          <a:xfrm>
            <a:off x="1280160" y="4800600"/>
            <a:ext cx="91" cy="54864"/>
          </a:xfrm>
          <a:prstGeom prst="line">
            <a:avLst/>
          </a:prstGeom>
          <a:noFill/>
          <a:ln w="12700">
            <a:solidFill>
              <a:srgbClr val="1A2340"/>
            </a:solidFill>
            <a:prstDash val="solid"/>
          </a:ln>
        </p:spPr>
      </p:sp>
      <p:sp>
        <p:nvSpPr>
          <p:cNvPr id="36" name="Text 34"/>
          <p:cNvSpPr/>
          <p:nvPr/>
        </p:nvSpPr>
        <p:spPr>
          <a:xfrm>
            <a:off x="10058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7" name="Shape 35"/>
          <p:cNvSpPr/>
          <p:nvPr/>
        </p:nvSpPr>
        <p:spPr>
          <a:xfrm>
            <a:off x="2157984" y="4800600"/>
            <a:ext cx="91" cy="54864"/>
          </a:xfrm>
          <a:prstGeom prst="line">
            <a:avLst/>
          </a:prstGeom>
          <a:noFill/>
          <a:ln w="12700">
            <a:solidFill>
              <a:srgbClr val="1A2340"/>
            </a:solidFill>
            <a:prstDash val="solid"/>
          </a:ln>
        </p:spPr>
      </p:sp>
      <p:sp>
        <p:nvSpPr>
          <p:cNvPr id="38" name="Text 36"/>
          <p:cNvSpPr/>
          <p:nvPr/>
        </p:nvSpPr>
        <p:spPr>
          <a:xfrm>
            <a:off x="1883664"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9" name="Shape 37"/>
          <p:cNvSpPr/>
          <p:nvPr/>
        </p:nvSpPr>
        <p:spPr>
          <a:xfrm>
            <a:off x="3035808" y="4800600"/>
            <a:ext cx="91" cy="54864"/>
          </a:xfrm>
          <a:prstGeom prst="line">
            <a:avLst/>
          </a:prstGeom>
          <a:noFill/>
          <a:ln w="12700">
            <a:solidFill>
              <a:srgbClr val="1A2340"/>
            </a:solidFill>
            <a:prstDash val="solid"/>
          </a:ln>
        </p:spPr>
      </p:sp>
      <p:sp>
        <p:nvSpPr>
          <p:cNvPr id="40" name="Text 38"/>
          <p:cNvSpPr/>
          <p:nvPr/>
        </p:nvSpPr>
        <p:spPr>
          <a:xfrm>
            <a:off x="2761488"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1" name="Shape 39"/>
          <p:cNvSpPr/>
          <p:nvPr/>
        </p:nvSpPr>
        <p:spPr>
          <a:xfrm>
            <a:off x="3913632" y="4800600"/>
            <a:ext cx="91" cy="54864"/>
          </a:xfrm>
          <a:prstGeom prst="line">
            <a:avLst/>
          </a:prstGeom>
          <a:noFill/>
          <a:ln w="12700">
            <a:solidFill>
              <a:srgbClr val="1A2340"/>
            </a:solidFill>
            <a:prstDash val="solid"/>
          </a:ln>
        </p:spPr>
      </p:sp>
      <p:sp>
        <p:nvSpPr>
          <p:cNvPr id="42" name="Text 40"/>
          <p:cNvSpPr/>
          <p:nvPr/>
        </p:nvSpPr>
        <p:spPr>
          <a:xfrm>
            <a:off x="3639312"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3" name="Shape 41"/>
          <p:cNvSpPr/>
          <p:nvPr/>
        </p:nvSpPr>
        <p:spPr>
          <a:xfrm>
            <a:off x="4791456" y="4800600"/>
            <a:ext cx="91" cy="54864"/>
          </a:xfrm>
          <a:prstGeom prst="line">
            <a:avLst/>
          </a:prstGeom>
          <a:noFill/>
          <a:ln w="12700">
            <a:solidFill>
              <a:srgbClr val="1A2340"/>
            </a:solidFill>
            <a:prstDash val="solid"/>
          </a:ln>
        </p:spPr>
      </p:sp>
      <p:sp>
        <p:nvSpPr>
          <p:cNvPr id="44" name="Text 42"/>
          <p:cNvSpPr/>
          <p:nvPr/>
        </p:nvSpPr>
        <p:spPr>
          <a:xfrm>
            <a:off x="4517136"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5" name="Shape 43"/>
          <p:cNvSpPr/>
          <p:nvPr/>
        </p:nvSpPr>
        <p:spPr>
          <a:xfrm>
            <a:off x="5669280" y="4800600"/>
            <a:ext cx="91" cy="54864"/>
          </a:xfrm>
          <a:prstGeom prst="line">
            <a:avLst/>
          </a:prstGeom>
          <a:noFill/>
          <a:ln w="12700">
            <a:solidFill>
              <a:srgbClr val="1A2340"/>
            </a:solidFill>
            <a:prstDash val="solid"/>
          </a:ln>
        </p:spPr>
      </p:sp>
      <p:sp>
        <p:nvSpPr>
          <p:cNvPr id="46" name="Text 44"/>
          <p:cNvSpPr/>
          <p:nvPr/>
        </p:nvSpPr>
        <p:spPr>
          <a:xfrm>
            <a:off x="53949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7" name="Shape 45"/>
          <p:cNvSpPr/>
          <p:nvPr/>
        </p:nvSpPr>
        <p:spPr>
          <a:xfrm>
            <a:off x="1225296" y="4800600"/>
            <a:ext cx="54864" cy="91"/>
          </a:xfrm>
          <a:prstGeom prst="line">
            <a:avLst/>
          </a:prstGeom>
          <a:noFill/>
          <a:ln w="12700">
            <a:solidFill>
              <a:srgbClr val="1A2340"/>
            </a:solidFill>
            <a:prstDash val="solid"/>
          </a:ln>
        </p:spPr>
      </p:sp>
      <p:sp>
        <p:nvSpPr>
          <p:cNvPr id="48" name="Text 46"/>
          <p:cNvSpPr/>
          <p:nvPr/>
        </p:nvSpPr>
        <p:spPr>
          <a:xfrm>
            <a:off x="84124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225296" y="4123944"/>
            <a:ext cx="54864" cy="91"/>
          </a:xfrm>
          <a:prstGeom prst="line">
            <a:avLst/>
          </a:prstGeom>
          <a:noFill/>
          <a:ln w="12700">
            <a:solidFill>
              <a:srgbClr val="1A2340"/>
            </a:solidFill>
            <a:prstDash val="solid"/>
          </a:ln>
        </p:spPr>
      </p:sp>
      <p:sp>
        <p:nvSpPr>
          <p:cNvPr id="50" name="Text 48"/>
          <p:cNvSpPr/>
          <p:nvPr/>
        </p:nvSpPr>
        <p:spPr>
          <a:xfrm>
            <a:off x="841248" y="4032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1" name="Shape 49"/>
          <p:cNvSpPr/>
          <p:nvPr/>
        </p:nvSpPr>
        <p:spPr>
          <a:xfrm>
            <a:off x="1225296" y="3447288"/>
            <a:ext cx="54864" cy="91"/>
          </a:xfrm>
          <a:prstGeom prst="line">
            <a:avLst/>
          </a:prstGeom>
          <a:noFill/>
          <a:ln w="12700">
            <a:solidFill>
              <a:srgbClr val="1A2340"/>
            </a:solidFill>
            <a:prstDash val="solid"/>
          </a:ln>
        </p:spPr>
      </p:sp>
      <p:sp>
        <p:nvSpPr>
          <p:cNvPr id="52" name="Text 50"/>
          <p:cNvSpPr/>
          <p:nvPr/>
        </p:nvSpPr>
        <p:spPr>
          <a:xfrm>
            <a:off x="841248" y="33558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1"/>
          <p:cNvSpPr/>
          <p:nvPr/>
        </p:nvSpPr>
        <p:spPr>
          <a:xfrm>
            <a:off x="1225296" y="2770632"/>
            <a:ext cx="54864" cy="91"/>
          </a:xfrm>
          <a:prstGeom prst="line">
            <a:avLst/>
          </a:prstGeom>
          <a:noFill/>
          <a:ln w="12700">
            <a:solidFill>
              <a:srgbClr val="1A2340"/>
            </a:solidFill>
            <a:prstDash val="solid"/>
          </a:ln>
        </p:spPr>
      </p:sp>
      <p:sp>
        <p:nvSpPr>
          <p:cNvPr id="54" name="Text 52"/>
          <p:cNvSpPr/>
          <p:nvPr/>
        </p:nvSpPr>
        <p:spPr>
          <a:xfrm>
            <a:off x="841248" y="26791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55" name="Shape 53"/>
          <p:cNvSpPr/>
          <p:nvPr/>
        </p:nvSpPr>
        <p:spPr>
          <a:xfrm>
            <a:off x="1225296" y="2093976"/>
            <a:ext cx="54864" cy="91"/>
          </a:xfrm>
          <a:prstGeom prst="line">
            <a:avLst/>
          </a:prstGeom>
          <a:noFill/>
          <a:ln w="12700">
            <a:solidFill>
              <a:srgbClr val="1A2340"/>
            </a:solidFill>
            <a:prstDash val="solid"/>
          </a:ln>
        </p:spPr>
      </p:sp>
      <p:sp>
        <p:nvSpPr>
          <p:cNvPr id="56" name="Text 54"/>
          <p:cNvSpPr/>
          <p:nvPr/>
        </p:nvSpPr>
        <p:spPr>
          <a:xfrm>
            <a:off x="841248" y="20025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7" name="Shape 55"/>
          <p:cNvSpPr/>
          <p:nvPr/>
        </p:nvSpPr>
        <p:spPr>
          <a:xfrm>
            <a:off x="1225296" y="1417320"/>
            <a:ext cx="54864" cy="91"/>
          </a:xfrm>
          <a:prstGeom prst="line">
            <a:avLst/>
          </a:prstGeom>
          <a:noFill/>
          <a:ln w="12700">
            <a:solidFill>
              <a:srgbClr val="1A2340"/>
            </a:solidFill>
            <a:prstDash val="solid"/>
          </a:ln>
        </p:spPr>
      </p:sp>
      <p:sp>
        <p:nvSpPr>
          <p:cNvPr id="58" name="Text 56"/>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59" name="Text 57"/>
          <p:cNvSpPr/>
          <p:nvPr/>
        </p:nvSpPr>
        <p:spPr>
          <a:xfrm>
            <a:off x="1280160" y="504748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60" name="Text 58"/>
          <p:cNvSpPr/>
          <p:nvPr/>
        </p:nvSpPr>
        <p:spPr>
          <a:xfrm rot="16200000">
            <a:off x="-97840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velocity / m/s</a:t>
            </a:r>
            <a:endParaRPr lang="en-US" sz="1050" dirty="0"/>
          </a:p>
        </p:txBody>
      </p:sp>
      <p:sp>
        <p:nvSpPr>
          <p:cNvPr id="61" name="Shape 59"/>
          <p:cNvSpPr/>
          <p:nvPr/>
        </p:nvSpPr>
        <p:spPr>
          <a:xfrm flipV="1">
            <a:off x="1280160" y="2093976"/>
            <a:ext cx="1755648" cy="2706624"/>
          </a:xfrm>
          <a:prstGeom prst="line">
            <a:avLst/>
          </a:prstGeom>
          <a:noFill/>
          <a:ln w="31750">
            <a:solidFill>
              <a:srgbClr val="C8414C"/>
            </a:solidFill>
            <a:prstDash val="solid"/>
          </a:ln>
        </p:spPr>
      </p:sp>
      <p:sp>
        <p:nvSpPr>
          <p:cNvPr id="62" name="Shape 60"/>
          <p:cNvSpPr/>
          <p:nvPr/>
        </p:nvSpPr>
        <p:spPr>
          <a:xfrm>
            <a:off x="3035808" y="2093976"/>
            <a:ext cx="2633472" cy="91"/>
          </a:xfrm>
          <a:prstGeom prst="line">
            <a:avLst/>
          </a:prstGeom>
          <a:noFill/>
          <a:ln w="31750">
            <a:solidFill>
              <a:srgbClr val="C8414C"/>
            </a:solidFill>
            <a:prstDash val="solid"/>
          </a:ln>
        </p:spPr>
      </p:sp>
      <p:sp>
        <p:nvSpPr>
          <p:cNvPr id="63" name="Shape 61"/>
          <p:cNvSpPr/>
          <p:nvPr/>
        </p:nvSpPr>
        <p:spPr>
          <a:xfrm flipV="1">
            <a:off x="1280160" y="2093976"/>
            <a:ext cx="3511296" cy="2706624"/>
          </a:xfrm>
          <a:prstGeom prst="line">
            <a:avLst/>
          </a:prstGeom>
          <a:noFill/>
          <a:ln w="31750">
            <a:solidFill>
              <a:srgbClr val="2E5BD8"/>
            </a:solidFill>
            <a:prstDash val="solid"/>
          </a:ln>
        </p:spPr>
      </p:sp>
      <p:sp>
        <p:nvSpPr>
          <p:cNvPr id="64" name="Shape 62"/>
          <p:cNvSpPr/>
          <p:nvPr/>
        </p:nvSpPr>
        <p:spPr>
          <a:xfrm>
            <a:off x="4791456" y="2093976"/>
            <a:ext cx="877824" cy="91"/>
          </a:xfrm>
          <a:prstGeom prst="line">
            <a:avLst/>
          </a:prstGeom>
          <a:noFill/>
          <a:ln w="31750">
            <a:solidFill>
              <a:srgbClr val="2E5BD8"/>
            </a:solidFill>
            <a:prstDash val="solid"/>
          </a:ln>
        </p:spPr>
      </p:sp>
      <p:sp>
        <p:nvSpPr>
          <p:cNvPr id="65" name="Shape 63"/>
          <p:cNvSpPr/>
          <p:nvPr/>
        </p:nvSpPr>
        <p:spPr>
          <a:xfrm>
            <a:off x="1280160" y="4800600"/>
            <a:ext cx="1755648" cy="91"/>
          </a:xfrm>
          <a:prstGeom prst="line">
            <a:avLst/>
          </a:prstGeom>
          <a:noFill/>
          <a:ln w="15875">
            <a:solidFill>
              <a:srgbClr val="C8414C"/>
            </a:solidFill>
            <a:prstDash val="dash"/>
          </a:ln>
        </p:spPr>
      </p:sp>
      <p:sp>
        <p:nvSpPr>
          <p:cNvPr id="66" name="Shape 64"/>
          <p:cNvSpPr/>
          <p:nvPr/>
        </p:nvSpPr>
        <p:spPr>
          <a:xfrm flipV="1">
            <a:off x="3035808" y="2093976"/>
            <a:ext cx="91" cy="2706624"/>
          </a:xfrm>
          <a:prstGeom prst="line">
            <a:avLst/>
          </a:prstGeom>
          <a:noFill/>
          <a:ln w="15875">
            <a:solidFill>
              <a:srgbClr val="C8414C"/>
            </a:solidFill>
            <a:prstDash val="dash"/>
          </a:ln>
        </p:spPr>
      </p:sp>
      <p:sp>
        <p:nvSpPr>
          <p:cNvPr id="67" name="Text 65"/>
          <p:cNvSpPr/>
          <p:nvPr/>
        </p:nvSpPr>
        <p:spPr>
          <a:xfrm>
            <a:off x="1280160" y="4818888"/>
            <a:ext cx="1755648" cy="256032"/>
          </a:xfrm>
          <a:prstGeom prst="rect">
            <a:avLst/>
          </a:prstGeom>
          <a:noFill/>
          <a:ln/>
        </p:spPr>
        <p:txBody>
          <a:bodyPr wrap="square" lIns="0" tIns="0" rIns="0" bIns="0" rtlCol="0" anchor="ctr"/>
          <a:lstStyle/>
          <a:p>
            <a:pPr algn="ctr" indent="0" marL="0">
              <a:buNone/>
            </a:pPr>
            <a:endParaRPr lang="en-US" sz="1000" dirty="0"/>
          </a:p>
        </p:txBody>
      </p:sp>
      <p:sp>
        <p:nvSpPr>
          <p:cNvPr id="68" name="Text 66"/>
          <p:cNvSpPr/>
          <p:nvPr/>
        </p:nvSpPr>
        <p:spPr>
          <a:xfrm>
            <a:off x="3081528" y="3319272"/>
            <a:ext cx="1005840" cy="256032"/>
          </a:xfrm>
          <a:prstGeom prst="rect">
            <a:avLst/>
          </a:prstGeom>
          <a:noFill/>
          <a:ln/>
        </p:spPr>
        <p:txBody>
          <a:bodyPr wrap="square" lIns="0" tIns="0" rIns="0" bIns="0" rtlCol="0" anchor="ctr"/>
          <a:lstStyle/>
          <a:p>
            <a:pPr algn="l" indent="0" marL="0">
              <a:buNone/>
            </a:pPr>
            <a:endParaRPr lang="en-US" sz="1000" dirty="0"/>
          </a:p>
        </p:txBody>
      </p:sp>
      <p:sp>
        <p:nvSpPr>
          <p:cNvPr id="69" name="Text 67"/>
          <p:cNvSpPr/>
          <p:nvPr/>
        </p:nvSpPr>
        <p:spPr>
          <a:xfrm>
            <a:off x="1455725" y="2229307"/>
            <a:ext cx="118872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car A</a:t>
            </a:r>
            <a:endParaRPr lang="en-US" sz="1100" dirty="0"/>
          </a:p>
        </p:txBody>
      </p:sp>
      <p:sp>
        <p:nvSpPr>
          <p:cNvPr id="70" name="Text 68"/>
          <p:cNvSpPr/>
          <p:nvPr/>
        </p:nvSpPr>
        <p:spPr>
          <a:xfrm>
            <a:off x="3825850" y="3244291"/>
            <a:ext cx="118872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car B</a:t>
            </a:r>
            <a:endParaRPr lang="en-US" sz="1100" dirty="0"/>
          </a:p>
        </p:txBody>
      </p:sp>
      <p:sp>
        <p:nvSpPr>
          <p:cNvPr id="71" name="Text 69"/>
          <p:cNvSpPr/>
          <p:nvPr/>
        </p:nvSpPr>
        <p:spPr>
          <a:xfrm>
            <a:off x="3088477" y="2499970"/>
            <a:ext cx="146304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Δv = 20 m/s</a:t>
            </a:r>
            <a:endParaRPr lang="en-US" sz="1000" dirty="0"/>
          </a:p>
        </p:txBody>
      </p:sp>
      <p:sp>
        <p:nvSpPr>
          <p:cNvPr id="72" name="Text 70"/>
          <p:cNvSpPr/>
          <p:nvPr/>
        </p:nvSpPr>
        <p:spPr>
          <a:xfrm>
            <a:off x="1280160" y="4526280"/>
            <a:ext cx="1755648" cy="256032"/>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Δt = 10 s</a:t>
            </a:r>
            <a:endParaRPr lang="en-US" sz="1000" dirty="0"/>
          </a:p>
        </p:txBody>
      </p:sp>
      <p:sp>
        <p:nvSpPr>
          <p:cNvPr id="73" name="Text 71"/>
          <p:cNvSpPr/>
          <p:nvPr/>
        </p:nvSpPr>
        <p:spPr>
          <a:xfrm>
            <a:off x="4440326" y="1755648"/>
            <a:ext cx="1828800" cy="256032"/>
          </a:xfrm>
          <a:prstGeom prst="rect">
            <a:avLst/>
          </a:prstGeom>
          <a:noFill/>
          <a:ln/>
        </p:spPr>
        <p:txBody>
          <a:bodyPr wrap="square" lIns="0" tIns="0" rIns="0" bIns="0" rtlCol="0" anchor="ctr"/>
          <a:lstStyle/>
          <a:p>
            <a:pPr algn="ctr" indent="0" marL="0">
              <a:buNone/>
            </a:pPr>
            <a:r>
              <a:rPr lang="en-US" sz="1000" i="1" dirty="0">
                <a:solidFill>
                  <a:srgbClr val="1A2340"/>
                </a:solidFill>
                <a:latin typeface="Calibri" pitchFamily="34" charset="0"/>
                <a:ea typeface="Calibri" pitchFamily="34" charset="-122"/>
                <a:cs typeface="Calibri" pitchFamily="34" charset="-120"/>
              </a:rPr>
              <a:t>horizontal = constant velocity</a:t>
            </a:r>
            <a:endParaRPr lang="en-US" sz="1000" dirty="0"/>
          </a:p>
        </p:txBody>
      </p:sp>
      <p:sp>
        <p:nvSpPr>
          <p:cNvPr id="74" name="Shape 7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75" name="Text 7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Reading a velocity–time graph</a:t>
            </a:r>
            <a:endParaRPr lang="en-US" sz="1300" dirty="0"/>
          </a:p>
        </p:txBody>
      </p:sp>
      <p:sp>
        <p:nvSpPr>
          <p:cNvPr id="76" name="Text 7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Gradient = acceleration.</a:t>
            </a:r>
            <a:r>
              <a:rPr lang="en-US" sz="1150" dirty="0">
                <a:solidFill>
                  <a:srgbClr val="262B3A"/>
                </a:solidFill>
                <a:latin typeface="Calibri" pitchFamily="34" charset="0"/>
                <a:ea typeface="Calibri" pitchFamily="34" charset="-122"/>
                <a:cs typeface="Calibri" pitchFamily="34" charset="-120"/>
              </a:rPr>
              <a:t> Steeper line → greater acceleration (compare qualitatively).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Horizontal line → </a:t>
            </a:r>
            <a:r>
              <a:rPr lang="en-US" sz="1150" b="1" dirty="0">
                <a:solidFill>
                  <a:srgbClr val="262B3A"/>
                </a:solidFill>
                <a:latin typeface="Calibri" pitchFamily="34" charset="0"/>
                <a:ea typeface="Calibri" pitchFamily="34" charset="-122"/>
                <a:cs typeface="Calibri" pitchFamily="34" charset="-120"/>
              </a:rPr>
              <a:t>constant velocity</a:t>
            </a:r>
            <a:r>
              <a:rPr lang="en-US" sz="1150" dirty="0">
                <a:solidFill>
                  <a:srgbClr val="262B3A"/>
                </a:solidFill>
                <a:latin typeface="Calibri" pitchFamily="34" charset="0"/>
                <a:ea typeface="Calibri" pitchFamily="34" charset="-122"/>
                <a:cs typeface="Calibri" pitchFamily="34" charset="-120"/>
              </a:rPr>
              <a:t> (a = 0).</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Line sloping </a:t>
            </a:r>
            <a:r>
              <a:rPr lang="en-US" sz="1150" b="1" dirty="0">
                <a:solidFill>
                  <a:srgbClr val="262B3A"/>
                </a:solidFill>
                <a:latin typeface="Calibri" pitchFamily="34" charset="0"/>
                <a:ea typeface="Calibri" pitchFamily="34" charset="-122"/>
                <a:cs typeface="Calibri" pitchFamily="34" charset="-120"/>
              </a:rPr>
              <a:t>down</a:t>
            </a:r>
            <a:r>
              <a:rPr lang="en-US" sz="1150" dirty="0">
                <a:solidFill>
                  <a:srgbClr val="262B3A"/>
                </a:solidFill>
                <a:latin typeface="Calibri" pitchFamily="34" charset="0"/>
                <a:ea typeface="Calibri" pitchFamily="34" charset="-122"/>
                <a:cs typeface="Calibri" pitchFamily="34" charset="-120"/>
              </a:rPr>
              <a:t> → deceleration (negative gradient).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Car A reaches 20 m/s in half the time of car B, so A has </a:t>
            </a:r>
            <a:r>
              <a:rPr lang="en-US" sz="1150" b="1" dirty="0">
                <a:solidFill>
                  <a:srgbClr val="262B3A"/>
                </a:solidFill>
                <a:latin typeface="Calibri" pitchFamily="34" charset="0"/>
                <a:ea typeface="Calibri" pitchFamily="34" charset="-122"/>
                <a:cs typeface="Calibri" pitchFamily="34" charset="-120"/>
              </a:rPr>
              <a:t>twice</a:t>
            </a:r>
            <a:r>
              <a:rPr lang="en-US" sz="1150" dirty="0">
                <a:solidFill>
                  <a:srgbClr val="262B3A"/>
                </a:solidFill>
                <a:latin typeface="Calibri" pitchFamily="34" charset="0"/>
                <a:ea typeface="Calibri" pitchFamily="34" charset="-122"/>
                <a:cs typeface="Calibri" pitchFamily="34" charset="-120"/>
              </a:rPr>
              <a:t> the acceleration.</a:t>
            </a:r>
            <a:endParaRPr lang="en-US" sz="1150" dirty="0"/>
          </a:p>
        </p:txBody>
      </p:sp>
      <p:sp>
        <p:nvSpPr>
          <p:cNvPr id="77" name="Shape 7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8" name="Text 7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79" name="Text 7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acceleration of car A from the gradient.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a = gradient = Δv ÷ Δt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Read off   </a:t>
            </a:r>
            <a:r>
              <a:rPr lang="en-US" sz="1100" dirty="0">
                <a:solidFill>
                  <a:srgbClr val="262B3A"/>
                </a:solidFill>
                <a:latin typeface="Calibri" pitchFamily="34" charset="0"/>
                <a:ea typeface="Calibri" pitchFamily="34" charset="-122"/>
                <a:cs typeface="Calibri" pitchFamily="34" charset="-120"/>
              </a:rPr>
              <a:t>Δv = 20 − 0 = 20 m/s;  Δt = 10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a = 20 m/s ÷ 10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 = 2.0 m/s²  (car B: 20 ÷ 20 = 1.0 m/s²)</a:t>
            </a:r>
            <a:endParaRPr lang="en-US" sz="1100" dirty="0"/>
          </a:p>
        </p:txBody>
      </p:sp>
      <p:sp>
        <p:nvSpPr>
          <p:cNvPr id="80" name="Shape 78"/>
          <p:cNvSpPr/>
          <p:nvPr/>
        </p:nvSpPr>
        <p:spPr>
          <a:xfrm>
            <a:off x="411480" y="5833872"/>
            <a:ext cx="11368735" cy="530352"/>
          </a:xfrm>
          <a:prstGeom prst="rect">
            <a:avLst/>
          </a:prstGeom>
          <a:solidFill>
            <a:srgbClr val="FFF4E0"/>
          </a:solidFill>
          <a:ln w="6350">
            <a:solidFill>
              <a:srgbClr val="F1D9A8"/>
            </a:solidFill>
            <a:prstDash val="solid"/>
          </a:ln>
        </p:spPr>
      </p:sp>
      <p:sp>
        <p:nvSpPr>
          <p:cNvPr id="81" name="Shape 79"/>
          <p:cNvSpPr/>
          <p:nvPr/>
        </p:nvSpPr>
        <p:spPr>
          <a:xfrm>
            <a:off x="411480" y="5833872"/>
            <a:ext cx="82296" cy="530352"/>
          </a:xfrm>
          <a:prstGeom prst="rect">
            <a:avLst/>
          </a:prstGeom>
          <a:solidFill>
            <a:srgbClr val="E39A2F"/>
          </a:solidFill>
          <a:ln w="12700">
            <a:solidFill>
              <a:srgbClr val="E39A2F"/>
            </a:solidFill>
            <a:prstDash val="solid"/>
          </a:ln>
        </p:spPr>
      </p:sp>
      <p:sp>
        <p:nvSpPr>
          <p:cNvPr id="82" name="Text 8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cyclist slows steadily from 20 m/s to rest in 8.0 s. Sketch the line and calculate the gradient.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Velocity–time graphs: area = distance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2.10 • area between the line and the time axis = distance travelled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2.10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40 s journey: split the area into triangles and a rectangle</a:t>
            </a:r>
            <a:endParaRPr lang="en-US" sz="1000" dirty="0"/>
          </a:p>
        </p:txBody>
      </p:sp>
      <p:sp>
        <p:nvSpPr>
          <p:cNvPr id="10" name="Shape 8"/>
          <p:cNvSpPr/>
          <p:nvPr/>
        </p:nvSpPr>
        <p:spPr>
          <a:xfrm>
            <a:off x="1280160" y="1417320"/>
            <a:ext cx="4389120" cy="3383280"/>
          </a:xfrm>
          <a:prstGeom prst="rect">
            <a:avLst/>
          </a:prstGeom>
          <a:solidFill>
            <a:srgbClr val="FFFFFF"/>
          </a:solidFill>
          <a:ln/>
        </p:spPr>
      </p:sp>
      <p:sp>
        <p:nvSpPr>
          <p:cNvPr id="11" name="Shape 9"/>
          <p:cNvSpPr/>
          <p:nvPr/>
        </p:nvSpPr>
        <p:spPr>
          <a:xfrm>
            <a:off x="1280160" y="1417320"/>
            <a:ext cx="91" cy="3383280"/>
          </a:xfrm>
          <a:prstGeom prst="line">
            <a:avLst/>
          </a:prstGeom>
          <a:noFill/>
          <a:ln w="6350">
            <a:solidFill>
              <a:srgbClr val="C9D3E6"/>
            </a:solidFill>
            <a:prstDash val="solid"/>
          </a:ln>
        </p:spPr>
      </p:sp>
      <p:sp>
        <p:nvSpPr>
          <p:cNvPr id="12" name="Shape 10"/>
          <p:cNvSpPr/>
          <p:nvPr/>
        </p:nvSpPr>
        <p:spPr>
          <a:xfrm>
            <a:off x="1554480" y="1417320"/>
            <a:ext cx="91" cy="3383280"/>
          </a:xfrm>
          <a:prstGeom prst="line">
            <a:avLst/>
          </a:prstGeom>
          <a:noFill/>
          <a:ln w="6350">
            <a:solidFill>
              <a:srgbClr val="E6EBF4"/>
            </a:solidFill>
            <a:prstDash val="solid"/>
          </a:ln>
        </p:spPr>
      </p:sp>
      <p:sp>
        <p:nvSpPr>
          <p:cNvPr id="13" name="Shape 11"/>
          <p:cNvSpPr/>
          <p:nvPr/>
        </p:nvSpPr>
        <p:spPr>
          <a:xfrm>
            <a:off x="1828800" y="1417320"/>
            <a:ext cx="91" cy="3383280"/>
          </a:xfrm>
          <a:prstGeom prst="line">
            <a:avLst/>
          </a:prstGeom>
          <a:noFill/>
          <a:ln w="6350">
            <a:solidFill>
              <a:srgbClr val="C9D3E6"/>
            </a:solidFill>
            <a:prstDash val="solid"/>
          </a:ln>
        </p:spPr>
      </p:sp>
      <p:sp>
        <p:nvSpPr>
          <p:cNvPr id="14" name="Shape 12"/>
          <p:cNvSpPr/>
          <p:nvPr/>
        </p:nvSpPr>
        <p:spPr>
          <a:xfrm>
            <a:off x="2103120" y="1417320"/>
            <a:ext cx="91" cy="3383280"/>
          </a:xfrm>
          <a:prstGeom prst="line">
            <a:avLst/>
          </a:prstGeom>
          <a:noFill/>
          <a:ln w="6350">
            <a:solidFill>
              <a:srgbClr val="E6EBF4"/>
            </a:solidFill>
            <a:prstDash val="solid"/>
          </a:ln>
        </p:spPr>
      </p:sp>
      <p:sp>
        <p:nvSpPr>
          <p:cNvPr id="15" name="Shape 13"/>
          <p:cNvSpPr/>
          <p:nvPr/>
        </p:nvSpPr>
        <p:spPr>
          <a:xfrm>
            <a:off x="2377440" y="1417320"/>
            <a:ext cx="91" cy="3383280"/>
          </a:xfrm>
          <a:prstGeom prst="line">
            <a:avLst/>
          </a:prstGeom>
          <a:noFill/>
          <a:ln w="6350">
            <a:solidFill>
              <a:srgbClr val="C9D3E6"/>
            </a:solidFill>
            <a:prstDash val="solid"/>
          </a:ln>
        </p:spPr>
      </p:sp>
      <p:sp>
        <p:nvSpPr>
          <p:cNvPr id="16" name="Shape 14"/>
          <p:cNvSpPr/>
          <p:nvPr/>
        </p:nvSpPr>
        <p:spPr>
          <a:xfrm>
            <a:off x="2651760" y="1417320"/>
            <a:ext cx="91" cy="3383280"/>
          </a:xfrm>
          <a:prstGeom prst="line">
            <a:avLst/>
          </a:prstGeom>
          <a:noFill/>
          <a:ln w="6350">
            <a:solidFill>
              <a:srgbClr val="E6EBF4"/>
            </a:solidFill>
            <a:prstDash val="solid"/>
          </a:ln>
        </p:spPr>
      </p:sp>
      <p:sp>
        <p:nvSpPr>
          <p:cNvPr id="17" name="Shape 15"/>
          <p:cNvSpPr/>
          <p:nvPr/>
        </p:nvSpPr>
        <p:spPr>
          <a:xfrm>
            <a:off x="2926080" y="1417320"/>
            <a:ext cx="91" cy="3383280"/>
          </a:xfrm>
          <a:prstGeom prst="line">
            <a:avLst/>
          </a:prstGeom>
          <a:noFill/>
          <a:ln w="6350">
            <a:solidFill>
              <a:srgbClr val="C9D3E6"/>
            </a:solidFill>
            <a:prstDash val="solid"/>
          </a:ln>
        </p:spPr>
      </p:sp>
      <p:sp>
        <p:nvSpPr>
          <p:cNvPr id="18" name="Shape 16"/>
          <p:cNvSpPr/>
          <p:nvPr/>
        </p:nvSpPr>
        <p:spPr>
          <a:xfrm>
            <a:off x="3200400" y="1417320"/>
            <a:ext cx="91" cy="3383280"/>
          </a:xfrm>
          <a:prstGeom prst="line">
            <a:avLst/>
          </a:prstGeom>
          <a:noFill/>
          <a:ln w="6350">
            <a:solidFill>
              <a:srgbClr val="E6EBF4"/>
            </a:solidFill>
            <a:prstDash val="solid"/>
          </a:ln>
        </p:spPr>
      </p:sp>
      <p:sp>
        <p:nvSpPr>
          <p:cNvPr id="19" name="Shape 17"/>
          <p:cNvSpPr/>
          <p:nvPr/>
        </p:nvSpPr>
        <p:spPr>
          <a:xfrm>
            <a:off x="3474720" y="1417320"/>
            <a:ext cx="91" cy="3383280"/>
          </a:xfrm>
          <a:prstGeom prst="line">
            <a:avLst/>
          </a:prstGeom>
          <a:noFill/>
          <a:ln w="6350">
            <a:solidFill>
              <a:srgbClr val="C9D3E6"/>
            </a:solidFill>
            <a:prstDash val="solid"/>
          </a:ln>
        </p:spPr>
      </p:sp>
      <p:sp>
        <p:nvSpPr>
          <p:cNvPr id="20" name="Shape 18"/>
          <p:cNvSpPr/>
          <p:nvPr/>
        </p:nvSpPr>
        <p:spPr>
          <a:xfrm>
            <a:off x="3749040" y="1417320"/>
            <a:ext cx="91" cy="3383280"/>
          </a:xfrm>
          <a:prstGeom prst="line">
            <a:avLst/>
          </a:prstGeom>
          <a:noFill/>
          <a:ln w="6350">
            <a:solidFill>
              <a:srgbClr val="E6EBF4"/>
            </a:solidFill>
            <a:prstDash val="solid"/>
          </a:ln>
        </p:spPr>
      </p:sp>
      <p:sp>
        <p:nvSpPr>
          <p:cNvPr id="21" name="Shape 19"/>
          <p:cNvSpPr/>
          <p:nvPr/>
        </p:nvSpPr>
        <p:spPr>
          <a:xfrm>
            <a:off x="4023360" y="1417320"/>
            <a:ext cx="91" cy="3383280"/>
          </a:xfrm>
          <a:prstGeom prst="line">
            <a:avLst/>
          </a:prstGeom>
          <a:noFill/>
          <a:ln w="6350">
            <a:solidFill>
              <a:srgbClr val="C9D3E6"/>
            </a:solidFill>
            <a:prstDash val="solid"/>
          </a:ln>
        </p:spPr>
      </p:sp>
      <p:sp>
        <p:nvSpPr>
          <p:cNvPr id="22" name="Shape 20"/>
          <p:cNvSpPr/>
          <p:nvPr/>
        </p:nvSpPr>
        <p:spPr>
          <a:xfrm>
            <a:off x="4297680" y="1417320"/>
            <a:ext cx="91" cy="3383280"/>
          </a:xfrm>
          <a:prstGeom prst="line">
            <a:avLst/>
          </a:prstGeom>
          <a:noFill/>
          <a:ln w="6350">
            <a:solidFill>
              <a:srgbClr val="E6EBF4"/>
            </a:solidFill>
            <a:prstDash val="solid"/>
          </a:ln>
        </p:spPr>
      </p:sp>
      <p:sp>
        <p:nvSpPr>
          <p:cNvPr id="23" name="Shape 21"/>
          <p:cNvSpPr/>
          <p:nvPr/>
        </p:nvSpPr>
        <p:spPr>
          <a:xfrm>
            <a:off x="4572000" y="1417320"/>
            <a:ext cx="91" cy="3383280"/>
          </a:xfrm>
          <a:prstGeom prst="line">
            <a:avLst/>
          </a:prstGeom>
          <a:noFill/>
          <a:ln w="6350">
            <a:solidFill>
              <a:srgbClr val="C9D3E6"/>
            </a:solidFill>
            <a:prstDash val="solid"/>
          </a:ln>
        </p:spPr>
      </p:sp>
      <p:sp>
        <p:nvSpPr>
          <p:cNvPr id="24" name="Shape 22"/>
          <p:cNvSpPr/>
          <p:nvPr/>
        </p:nvSpPr>
        <p:spPr>
          <a:xfrm>
            <a:off x="4846320" y="1417320"/>
            <a:ext cx="91" cy="3383280"/>
          </a:xfrm>
          <a:prstGeom prst="line">
            <a:avLst/>
          </a:prstGeom>
          <a:noFill/>
          <a:ln w="6350">
            <a:solidFill>
              <a:srgbClr val="E6EBF4"/>
            </a:solidFill>
            <a:prstDash val="solid"/>
          </a:ln>
        </p:spPr>
      </p:sp>
      <p:sp>
        <p:nvSpPr>
          <p:cNvPr id="25" name="Shape 23"/>
          <p:cNvSpPr/>
          <p:nvPr/>
        </p:nvSpPr>
        <p:spPr>
          <a:xfrm>
            <a:off x="5120640" y="1417320"/>
            <a:ext cx="91" cy="3383280"/>
          </a:xfrm>
          <a:prstGeom prst="line">
            <a:avLst/>
          </a:prstGeom>
          <a:noFill/>
          <a:ln w="6350">
            <a:solidFill>
              <a:srgbClr val="C9D3E6"/>
            </a:solidFill>
            <a:prstDash val="solid"/>
          </a:ln>
        </p:spPr>
      </p:sp>
      <p:sp>
        <p:nvSpPr>
          <p:cNvPr id="26" name="Shape 24"/>
          <p:cNvSpPr/>
          <p:nvPr/>
        </p:nvSpPr>
        <p:spPr>
          <a:xfrm>
            <a:off x="5394960" y="1417320"/>
            <a:ext cx="91" cy="3383280"/>
          </a:xfrm>
          <a:prstGeom prst="line">
            <a:avLst/>
          </a:prstGeom>
          <a:noFill/>
          <a:ln w="6350">
            <a:solidFill>
              <a:srgbClr val="E6EBF4"/>
            </a:solidFill>
            <a:prstDash val="solid"/>
          </a:ln>
        </p:spPr>
      </p:sp>
      <p:sp>
        <p:nvSpPr>
          <p:cNvPr id="27" name="Shape 25"/>
          <p:cNvSpPr/>
          <p:nvPr/>
        </p:nvSpPr>
        <p:spPr>
          <a:xfrm>
            <a:off x="5669280" y="1417320"/>
            <a:ext cx="91" cy="3383280"/>
          </a:xfrm>
          <a:prstGeom prst="line">
            <a:avLst/>
          </a:prstGeom>
          <a:noFill/>
          <a:ln w="6350">
            <a:solidFill>
              <a:srgbClr val="C9D3E6"/>
            </a:solidFill>
            <a:prstDash val="solid"/>
          </a:ln>
        </p:spPr>
      </p:sp>
      <p:sp>
        <p:nvSpPr>
          <p:cNvPr id="28" name="Shape 26"/>
          <p:cNvSpPr/>
          <p:nvPr/>
        </p:nvSpPr>
        <p:spPr>
          <a:xfrm>
            <a:off x="1280160" y="4800600"/>
            <a:ext cx="4389120" cy="91"/>
          </a:xfrm>
          <a:prstGeom prst="line">
            <a:avLst/>
          </a:prstGeom>
          <a:noFill/>
          <a:ln w="6350">
            <a:solidFill>
              <a:srgbClr val="C9D3E6"/>
            </a:solidFill>
            <a:prstDash val="solid"/>
          </a:ln>
        </p:spPr>
      </p:sp>
      <p:sp>
        <p:nvSpPr>
          <p:cNvPr id="29" name="Shape 27"/>
          <p:cNvSpPr/>
          <p:nvPr/>
        </p:nvSpPr>
        <p:spPr>
          <a:xfrm>
            <a:off x="1280160" y="4462272"/>
            <a:ext cx="4389120" cy="91"/>
          </a:xfrm>
          <a:prstGeom prst="line">
            <a:avLst/>
          </a:prstGeom>
          <a:noFill/>
          <a:ln w="6350">
            <a:solidFill>
              <a:srgbClr val="E6EBF4"/>
            </a:solidFill>
            <a:prstDash val="solid"/>
          </a:ln>
        </p:spPr>
      </p:sp>
      <p:sp>
        <p:nvSpPr>
          <p:cNvPr id="30" name="Shape 28"/>
          <p:cNvSpPr/>
          <p:nvPr/>
        </p:nvSpPr>
        <p:spPr>
          <a:xfrm>
            <a:off x="1280160" y="4123944"/>
            <a:ext cx="4389120" cy="91"/>
          </a:xfrm>
          <a:prstGeom prst="line">
            <a:avLst/>
          </a:prstGeom>
          <a:noFill/>
          <a:ln w="6350">
            <a:solidFill>
              <a:srgbClr val="C9D3E6"/>
            </a:solidFill>
            <a:prstDash val="solid"/>
          </a:ln>
        </p:spPr>
      </p:sp>
      <p:sp>
        <p:nvSpPr>
          <p:cNvPr id="31" name="Shape 29"/>
          <p:cNvSpPr/>
          <p:nvPr/>
        </p:nvSpPr>
        <p:spPr>
          <a:xfrm>
            <a:off x="1280160" y="3785616"/>
            <a:ext cx="4389120" cy="91"/>
          </a:xfrm>
          <a:prstGeom prst="line">
            <a:avLst/>
          </a:prstGeom>
          <a:noFill/>
          <a:ln w="6350">
            <a:solidFill>
              <a:srgbClr val="E6EBF4"/>
            </a:solidFill>
            <a:prstDash val="solid"/>
          </a:ln>
        </p:spPr>
      </p:sp>
      <p:sp>
        <p:nvSpPr>
          <p:cNvPr id="32" name="Shape 30"/>
          <p:cNvSpPr/>
          <p:nvPr/>
        </p:nvSpPr>
        <p:spPr>
          <a:xfrm>
            <a:off x="1280160" y="3447288"/>
            <a:ext cx="4389120" cy="91"/>
          </a:xfrm>
          <a:prstGeom prst="line">
            <a:avLst/>
          </a:prstGeom>
          <a:noFill/>
          <a:ln w="6350">
            <a:solidFill>
              <a:srgbClr val="C9D3E6"/>
            </a:solidFill>
            <a:prstDash val="solid"/>
          </a:ln>
        </p:spPr>
      </p:sp>
      <p:sp>
        <p:nvSpPr>
          <p:cNvPr id="33" name="Shape 31"/>
          <p:cNvSpPr/>
          <p:nvPr/>
        </p:nvSpPr>
        <p:spPr>
          <a:xfrm>
            <a:off x="1280160" y="3108960"/>
            <a:ext cx="4389120" cy="91"/>
          </a:xfrm>
          <a:prstGeom prst="line">
            <a:avLst/>
          </a:prstGeom>
          <a:noFill/>
          <a:ln w="6350">
            <a:solidFill>
              <a:srgbClr val="E6EBF4"/>
            </a:solidFill>
            <a:prstDash val="solid"/>
          </a:ln>
        </p:spPr>
      </p:sp>
      <p:sp>
        <p:nvSpPr>
          <p:cNvPr id="34" name="Shape 32"/>
          <p:cNvSpPr/>
          <p:nvPr/>
        </p:nvSpPr>
        <p:spPr>
          <a:xfrm>
            <a:off x="1280160" y="2770632"/>
            <a:ext cx="4389120" cy="91"/>
          </a:xfrm>
          <a:prstGeom prst="line">
            <a:avLst/>
          </a:prstGeom>
          <a:noFill/>
          <a:ln w="6350">
            <a:solidFill>
              <a:srgbClr val="C9D3E6"/>
            </a:solidFill>
            <a:prstDash val="solid"/>
          </a:ln>
        </p:spPr>
      </p:sp>
      <p:sp>
        <p:nvSpPr>
          <p:cNvPr id="35" name="Shape 33"/>
          <p:cNvSpPr/>
          <p:nvPr/>
        </p:nvSpPr>
        <p:spPr>
          <a:xfrm>
            <a:off x="1280160" y="2432304"/>
            <a:ext cx="4389120" cy="91"/>
          </a:xfrm>
          <a:prstGeom prst="line">
            <a:avLst/>
          </a:prstGeom>
          <a:noFill/>
          <a:ln w="6350">
            <a:solidFill>
              <a:srgbClr val="E6EBF4"/>
            </a:solidFill>
            <a:prstDash val="solid"/>
          </a:ln>
        </p:spPr>
      </p:sp>
      <p:sp>
        <p:nvSpPr>
          <p:cNvPr id="36" name="Shape 34"/>
          <p:cNvSpPr/>
          <p:nvPr/>
        </p:nvSpPr>
        <p:spPr>
          <a:xfrm>
            <a:off x="1280160" y="2093976"/>
            <a:ext cx="4389120" cy="91"/>
          </a:xfrm>
          <a:prstGeom prst="line">
            <a:avLst/>
          </a:prstGeom>
          <a:noFill/>
          <a:ln w="6350">
            <a:solidFill>
              <a:srgbClr val="C9D3E6"/>
            </a:solidFill>
            <a:prstDash val="solid"/>
          </a:ln>
        </p:spPr>
      </p:sp>
      <p:sp>
        <p:nvSpPr>
          <p:cNvPr id="37" name="Shape 35"/>
          <p:cNvSpPr/>
          <p:nvPr/>
        </p:nvSpPr>
        <p:spPr>
          <a:xfrm>
            <a:off x="1280160" y="1755648"/>
            <a:ext cx="4389120" cy="91"/>
          </a:xfrm>
          <a:prstGeom prst="line">
            <a:avLst/>
          </a:prstGeom>
          <a:noFill/>
          <a:ln w="6350">
            <a:solidFill>
              <a:srgbClr val="E6EBF4"/>
            </a:solidFill>
            <a:prstDash val="solid"/>
          </a:ln>
        </p:spPr>
      </p:sp>
      <p:sp>
        <p:nvSpPr>
          <p:cNvPr id="38" name="Shape 36"/>
          <p:cNvSpPr/>
          <p:nvPr/>
        </p:nvSpPr>
        <p:spPr>
          <a:xfrm>
            <a:off x="1280160" y="1417320"/>
            <a:ext cx="4389120" cy="91"/>
          </a:xfrm>
          <a:prstGeom prst="line">
            <a:avLst/>
          </a:prstGeom>
          <a:noFill/>
          <a:ln w="6350">
            <a:solidFill>
              <a:srgbClr val="C9D3E6"/>
            </a:solidFill>
            <a:prstDash val="solid"/>
          </a:ln>
        </p:spPr>
      </p:sp>
      <p:sp>
        <p:nvSpPr>
          <p:cNvPr id="39" name="Shape 37"/>
          <p:cNvSpPr/>
          <p:nvPr/>
        </p:nvSpPr>
        <p:spPr>
          <a:xfrm>
            <a:off x="1280160" y="4800600"/>
            <a:ext cx="4389120" cy="91"/>
          </a:xfrm>
          <a:prstGeom prst="line">
            <a:avLst/>
          </a:prstGeom>
          <a:noFill/>
          <a:ln w="19050">
            <a:solidFill>
              <a:srgbClr val="1A2340"/>
            </a:solidFill>
            <a:prstDash val="solid"/>
          </a:ln>
        </p:spPr>
      </p:sp>
      <p:sp>
        <p:nvSpPr>
          <p:cNvPr id="40" name="Shape 38"/>
          <p:cNvSpPr/>
          <p:nvPr/>
        </p:nvSpPr>
        <p:spPr>
          <a:xfrm flipV="1">
            <a:off x="1280160" y="1417320"/>
            <a:ext cx="91" cy="3383280"/>
          </a:xfrm>
          <a:prstGeom prst="line">
            <a:avLst/>
          </a:prstGeom>
          <a:noFill/>
          <a:ln w="19050">
            <a:solidFill>
              <a:srgbClr val="1A2340"/>
            </a:solidFill>
            <a:prstDash val="solid"/>
          </a:ln>
        </p:spPr>
      </p:sp>
      <p:sp>
        <p:nvSpPr>
          <p:cNvPr id="41" name="Shape 39"/>
          <p:cNvSpPr/>
          <p:nvPr/>
        </p:nvSpPr>
        <p:spPr>
          <a:xfrm>
            <a:off x="1280160" y="4800600"/>
            <a:ext cx="91" cy="54864"/>
          </a:xfrm>
          <a:prstGeom prst="line">
            <a:avLst/>
          </a:prstGeom>
          <a:noFill/>
          <a:ln w="12700">
            <a:solidFill>
              <a:srgbClr val="1A2340"/>
            </a:solidFill>
            <a:prstDash val="solid"/>
          </a:ln>
        </p:spPr>
      </p:sp>
      <p:sp>
        <p:nvSpPr>
          <p:cNvPr id="42" name="Text 40"/>
          <p:cNvSpPr/>
          <p:nvPr/>
        </p:nvSpPr>
        <p:spPr>
          <a:xfrm>
            <a:off x="10058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1828800" y="4800600"/>
            <a:ext cx="91" cy="54864"/>
          </a:xfrm>
          <a:prstGeom prst="line">
            <a:avLst/>
          </a:prstGeom>
          <a:noFill/>
          <a:ln w="12700">
            <a:solidFill>
              <a:srgbClr val="1A2340"/>
            </a:solidFill>
            <a:prstDash val="solid"/>
          </a:ln>
        </p:spPr>
      </p:sp>
      <p:sp>
        <p:nvSpPr>
          <p:cNvPr id="44" name="Text 42"/>
          <p:cNvSpPr/>
          <p:nvPr/>
        </p:nvSpPr>
        <p:spPr>
          <a:xfrm>
            <a:off x="15544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45" name="Shape 43"/>
          <p:cNvSpPr/>
          <p:nvPr/>
        </p:nvSpPr>
        <p:spPr>
          <a:xfrm>
            <a:off x="2377440" y="4800600"/>
            <a:ext cx="91" cy="54864"/>
          </a:xfrm>
          <a:prstGeom prst="line">
            <a:avLst/>
          </a:prstGeom>
          <a:noFill/>
          <a:ln w="12700">
            <a:solidFill>
              <a:srgbClr val="1A2340"/>
            </a:solidFill>
            <a:prstDash val="solid"/>
          </a:ln>
        </p:spPr>
      </p:sp>
      <p:sp>
        <p:nvSpPr>
          <p:cNvPr id="46" name="Text 44"/>
          <p:cNvSpPr/>
          <p:nvPr/>
        </p:nvSpPr>
        <p:spPr>
          <a:xfrm>
            <a:off x="21031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7" name="Shape 45"/>
          <p:cNvSpPr/>
          <p:nvPr/>
        </p:nvSpPr>
        <p:spPr>
          <a:xfrm>
            <a:off x="2926080" y="4800600"/>
            <a:ext cx="91" cy="54864"/>
          </a:xfrm>
          <a:prstGeom prst="line">
            <a:avLst/>
          </a:prstGeom>
          <a:noFill/>
          <a:ln w="12700">
            <a:solidFill>
              <a:srgbClr val="1A2340"/>
            </a:solidFill>
            <a:prstDash val="solid"/>
          </a:ln>
        </p:spPr>
      </p:sp>
      <p:sp>
        <p:nvSpPr>
          <p:cNvPr id="48" name="Text 46"/>
          <p:cNvSpPr/>
          <p:nvPr/>
        </p:nvSpPr>
        <p:spPr>
          <a:xfrm>
            <a:off x="26517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9" name="Shape 47"/>
          <p:cNvSpPr/>
          <p:nvPr/>
        </p:nvSpPr>
        <p:spPr>
          <a:xfrm>
            <a:off x="3474720" y="4800600"/>
            <a:ext cx="91" cy="54864"/>
          </a:xfrm>
          <a:prstGeom prst="line">
            <a:avLst/>
          </a:prstGeom>
          <a:noFill/>
          <a:ln w="12700">
            <a:solidFill>
              <a:srgbClr val="1A2340"/>
            </a:solidFill>
            <a:prstDash val="solid"/>
          </a:ln>
        </p:spPr>
      </p:sp>
      <p:sp>
        <p:nvSpPr>
          <p:cNvPr id="50" name="Text 48"/>
          <p:cNvSpPr/>
          <p:nvPr/>
        </p:nvSpPr>
        <p:spPr>
          <a:xfrm>
            <a:off x="32004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1" name="Shape 49"/>
          <p:cNvSpPr/>
          <p:nvPr/>
        </p:nvSpPr>
        <p:spPr>
          <a:xfrm>
            <a:off x="4023360" y="4800600"/>
            <a:ext cx="91" cy="54864"/>
          </a:xfrm>
          <a:prstGeom prst="line">
            <a:avLst/>
          </a:prstGeom>
          <a:noFill/>
          <a:ln w="12700">
            <a:solidFill>
              <a:srgbClr val="1A2340"/>
            </a:solidFill>
            <a:prstDash val="solid"/>
          </a:ln>
        </p:spPr>
      </p:sp>
      <p:sp>
        <p:nvSpPr>
          <p:cNvPr id="52" name="Text 50"/>
          <p:cNvSpPr/>
          <p:nvPr/>
        </p:nvSpPr>
        <p:spPr>
          <a:xfrm>
            <a:off x="37490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53" name="Shape 51"/>
          <p:cNvSpPr/>
          <p:nvPr/>
        </p:nvSpPr>
        <p:spPr>
          <a:xfrm>
            <a:off x="4572000" y="4800600"/>
            <a:ext cx="91" cy="54864"/>
          </a:xfrm>
          <a:prstGeom prst="line">
            <a:avLst/>
          </a:prstGeom>
          <a:noFill/>
          <a:ln w="12700">
            <a:solidFill>
              <a:srgbClr val="1A2340"/>
            </a:solidFill>
            <a:prstDash val="solid"/>
          </a:ln>
        </p:spPr>
      </p:sp>
      <p:sp>
        <p:nvSpPr>
          <p:cNvPr id="54" name="Text 52"/>
          <p:cNvSpPr/>
          <p:nvPr/>
        </p:nvSpPr>
        <p:spPr>
          <a:xfrm>
            <a:off x="42976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5" name="Shape 53"/>
          <p:cNvSpPr/>
          <p:nvPr/>
        </p:nvSpPr>
        <p:spPr>
          <a:xfrm>
            <a:off x="5120640" y="4800600"/>
            <a:ext cx="91" cy="54864"/>
          </a:xfrm>
          <a:prstGeom prst="line">
            <a:avLst/>
          </a:prstGeom>
          <a:noFill/>
          <a:ln w="12700">
            <a:solidFill>
              <a:srgbClr val="1A2340"/>
            </a:solidFill>
            <a:prstDash val="solid"/>
          </a:ln>
        </p:spPr>
      </p:sp>
      <p:sp>
        <p:nvSpPr>
          <p:cNvPr id="56" name="Text 54"/>
          <p:cNvSpPr/>
          <p:nvPr/>
        </p:nvSpPr>
        <p:spPr>
          <a:xfrm>
            <a:off x="48463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57" name="Shape 55"/>
          <p:cNvSpPr/>
          <p:nvPr/>
        </p:nvSpPr>
        <p:spPr>
          <a:xfrm>
            <a:off x="5669280" y="4800600"/>
            <a:ext cx="91" cy="54864"/>
          </a:xfrm>
          <a:prstGeom prst="line">
            <a:avLst/>
          </a:prstGeom>
          <a:noFill/>
          <a:ln w="12700">
            <a:solidFill>
              <a:srgbClr val="1A2340"/>
            </a:solidFill>
            <a:prstDash val="solid"/>
          </a:ln>
        </p:spPr>
      </p:sp>
      <p:sp>
        <p:nvSpPr>
          <p:cNvPr id="58" name="Text 56"/>
          <p:cNvSpPr/>
          <p:nvPr/>
        </p:nvSpPr>
        <p:spPr>
          <a:xfrm>
            <a:off x="53949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9" name="Shape 57"/>
          <p:cNvSpPr/>
          <p:nvPr/>
        </p:nvSpPr>
        <p:spPr>
          <a:xfrm>
            <a:off x="1225296" y="4800600"/>
            <a:ext cx="54864" cy="91"/>
          </a:xfrm>
          <a:prstGeom prst="line">
            <a:avLst/>
          </a:prstGeom>
          <a:noFill/>
          <a:ln w="12700">
            <a:solidFill>
              <a:srgbClr val="1A2340"/>
            </a:solidFill>
            <a:prstDash val="solid"/>
          </a:ln>
        </p:spPr>
      </p:sp>
      <p:sp>
        <p:nvSpPr>
          <p:cNvPr id="60" name="Text 58"/>
          <p:cNvSpPr/>
          <p:nvPr/>
        </p:nvSpPr>
        <p:spPr>
          <a:xfrm>
            <a:off x="84124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1" name="Shape 59"/>
          <p:cNvSpPr/>
          <p:nvPr/>
        </p:nvSpPr>
        <p:spPr>
          <a:xfrm>
            <a:off x="1225296" y="4123944"/>
            <a:ext cx="54864" cy="91"/>
          </a:xfrm>
          <a:prstGeom prst="line">
            <a:avLst/>
          </a:prstGeom>
          <a:noFill/>
          <a:ln w="12700">
            <a:solidFill>
              <a:srgbClr val="1A2340"/>
            </a:solidFill>
            <a:prstDash val="solid"/>
          </a:ln>
        </p:spPr>
      </p:sp>
      <p:sp>
        <p:nvSpPr>
          <p:cNvPr id="62" name="Text 60"/>
          <p:cNvSpPr/>
          <p:nvPr/>
        </p:nvSpPr>
        <p:spPr>
          <a:xfrm>
            <a:off x="841248" y="4032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63" name="Shape 61"/>
          <p:cNvSpPr/>
          <p:nvPr/>
        </p:nvSpPr>
        <p:spPr>
          <a:xfrm>
            <a:off x="1225296" y="3447288"/>
            <a:ext cx="54864" cy="91"/>
          </a:xfrm>
          <a:prstGeom prst="line">
            <a:avLst/>
          </a:prstGeom>
          <a:noFill/>
          <a:ln w="12700">
            <a:solidFill>
              <a:srgbClr val="1A2340"/>
            </a:solidFill>
            <a:prstDash val="solid"/>
          </a:ln>
        </p:spPr>
      </p:sp>
      <p:sp>
        <p:nvSpPr>
          <p:cNvPr id="64" name="Text 62"/>
          <p:cNvSpPr/>
          <p:nvPr/>
        </p:nvSpPr>
        <p:spPr>
          <a:xfrm>
            <a:off x="841248" y="33558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5" name="Shape 63"/>
          <p:cNvSpPr/>
          <p:nvPr/>
        </p:nvSpPr>
        <p:spPr>
          <a:xfrm>
            <a:off x="1225296" y="2770632"/>
            <a:ext cx="54864" cy="91"/>
          </a:xfrm>
          <a:prstGeom prst="line">
            <a:avLst/>
          </a:prstGeom>
          <a:noFill/>
          <a:ln w="12700">
            <a:solidFill>
              <a:srgbClr val="1A2340"/>
            </a:solidFill>
            <a:prstDash val="solid"/>
          </a:ln>
        </p:spPr>
      </p:sp>
      <p:sp>
        <p:nvSpPr>
          <p:cNvPr id="66" name="Text 64"/>
          <p:cNvSpPr/>
          <p:nvPr/>
        </p:nvSpPr>
        <p:spPr>
          <a:xfrm>
            <a:off x="841248" y="26791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67" name="Shape 65"/>
          <p:cNvSpPr/>
          <p:nvPr/>
        </p:nvSpPr>
        <p:spPr>
          <a:xfrm>
            <a:off x="1225296" y="2093976"/>
            <a:ext cx="54864" cy="91"/>
          </a:xfrm>
          <a:prstGeom prst="line">
            <a:avLst/>
          </a:prstGeom>
          <a:noFill/>
          <a:ln w="12700">
            <a:solidFill>
              <a:srgbClr val="1A2340"/>
            </a:solidFill>
            <a:prstDash val="solid"/>
          </a:ln>
        </p:spPr>
      </p:sp>
      <p:sp>
        <p:nvSpPr>
          <p:cNvPr id="68" name="Text 66"/>
          <p:cNvSpPr/>
          <p:nvPr/>
        </p:nvSpPr>
        <p:spPr>
          <a:xfrm>
            <a:off x="841248" y="20025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9" name="Shape 67"/>
          <p:cNvSpPr/>
          <p:nvPr/>
        </p:nvSpPr>
        <p:spPr>
          <a:xfrm>
            <a:off x="1225296" y="1417320"/>
            <a:ext cx="54864" cy="91"/>
          </a:xfrm>
          <a:prstGeom prst="line">
            <a:avLst/>
          </a:prstGeom>
          <a:noFill/>
          <a:ln w="12700">
            <a:solidFill>
              <a:srgbClr val="1A2340"/>
            </a:solidFill>
            <a:prstDash val="solid"/>
          </a:ln>
        </p:spPr>
      </p:sp>
      <p:sp>
        <p:nvSpPr>
          <p:cNvPr id="70" name="Text 68"/>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71" name="Text 69"/>
          <p:cNvSpPr/>
          <p:nvPr/>
        </p:nvSpPr>
        <p:spPr>
          <a:xfrm>
            <a:off x="1280160" y="504748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72" name="Text 70"/>
          <p:cNvSpPr/>
          <p:nvPr/>
        </p:nvSpPr>
        <p:spPr>
          <a:xfrm rot="16200000">
            <a:off x="-97840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velocity / m/s</a:t>
            </a:r>
            <a:endParaRPr lang="en-US" sz="1050" dirty="0"/>
          </a:p>
        </p:txBody>
      </p:sp>
      <p:sp>
        <p:nvSpPr>
          <p:cNvPr id="73" name="Shape 71"/>
          <p:cNvSpPr/>
          <p:nvPr/>
        </p:nvSpPr>
        <p:spPr>
          <a:xfrm flipH="1">
            <a:off x="1280160" y="2093976"/>
            <a:ext cx="1097280" cy="2706624"/>
          </a:xfrm>
          <a:prstGeom prst="rtTriangle">
            <a:avLst/>
          </a:prstGeom>
          <a:solidFill>
            <a:srgbClr val="F5A742">
              <a:alpha val="45000"/>
            </a:srgbClr>
          </a:solidFill>
          <a:ln/>
        </p:spPr>
      </p:sp>
      <p:sp>
        <p:nvSpPr>
          <p:cNvPr id="74" name="Shape 72"/>
          <p:cNvSpPr/>
          <p:nvPr/>
        </p:nvSpPr>
        <p:spPr>
          <a:xfrm>
            <a:off x="2377440" y="2093976"/>
            <a:ext cx="2194560" cy="2706624"/>
          </a:xfrm>
          <a:prstGeom prst="rect">
            <a:avLst/>
          </a:prstGeom>
          <a:solidFill>
            <a:srgbClr val="5B9BD5">
              <a:alpha val="45000"/>
            </a:srgbClr>
          </a:solidFill>
          <a:ln/>
        </p:spPr>
      </p:sp>
      <p:sp>
        <p:nvSpPr>
          <p:cNvPr id="75" name="Shape 73"/>
          <p:cNvSpPr/>
          <p:nvPr/>
        </p:nvSpPr>
        <p:spPr>
          <a:xfrm>
            <a:off x="4572000" y="2093976"/>
            <a:ext cx="1097280" cy="2706624"/>
          </a:xfrm>
          <a:prstGeom prst="rtTriangle">
            <a:avLst/>
          </a:prstGeom>
          <a:solidFill>
            <a:srgbClr val="2E8B57">
              <a:alpha val="45000"/>
            </a:srgbClr>
          </a:solidFill>
          <a:ln/>
        </p:spPr>
      </p:sp>
      <p:sp>
        <p:nvSpPr>
          <p:cNvPr id="76" name="Shape 74"/>
          <p:cNvSpPr/>
          <p:nvPr/>
        </p:nvSpPr>
        <p:spPr>
          <a:xfrm flipV="1">
            <a:off x="1280160" y="2093976"/>
            <a:ext cx="1097280" cy="2706624"/>
          </a:xfrm>
          <a:prstGeom prst="line">
            <a:avLst/>
          </a:prstGeom>
          <a:noFill/>
          <a:ln w="31750">
            <a:solidFill>
              <a:srgbClr val="1A2340"/>
            </a:solidFill>
            <a:prstDash val="solid"/>
          </a:ln>
        </p:spPr>
      </p:sp>
      <p:sp>
        <p:nvSpPr>
          <p:cNvPr id="77" name="Shape 75"/>
          <p:cNvSpPr/>
          <p:nvPr/>
        </p:nvSpPr>
        <p:spPr>
          <a:xfrm>
            <a:off x="2377440" y="2093976"/>
            <a:ext cx="2194560" cy="91"/>
          </a:xfrm>
          <a:prstGeom prst="line">
            <a:avLst/>
          </a:prstGeom>
          <a:noFill/>
          <a:ln w="31750">
            <a:solidFill>
              <a:srgbClr val="1A2340"/>
            </a:solidFill>
            <a:prstDash val="solid"/>
          </a:ln>
        </p:spPr>
      </p:sp>
      <p:sp>
        <p:nvSpPr>
          <p:cNvPr id="78" name="Shape 76"/>
          <p:cNvSpPr/>
          <p:nvPr/>
        </p:nvSpPr>
        <p:spPr>
          <a:xfrm>
            <a:off x="4572000" y="2093976"/>
            <a:ext cx="1097280" cy="2706624"/>
          </a:xfrm>
          <a:prstGeom prst="line">
            <a:avLst/>
          </a:prstGeom>
          <a:noFill/>
          <a:ln w="31750">
            <a:solidFill>
              <a:srgbClr val="1A2340"/>
            </a:solidFill>
            <a:prstDash val="solid"/>
          </a:ln>
        </p:spPr>
      </p:sp>
      <p:sp>
        <p:nvSpPr>
          <p:cNvPr id="79" name="Text 77"/>
          <p:cNvSpPr/>
          <p:nvPr/>
        </p:nvSpPr>
        <p:spPr>
          <a:xfrm>
            <a:off x="1828800" y="3988613"/>
            <a:ext cx="548640" cy="256032"/>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1</a:t>
            </a:r>
            <a:endParaRPr lang="en-US" sz="1400" dirty="0"/>
          </a:p>
        </p:txBody>
      </p:sp>
      <p:sp>
        <p:nvSpPr>
          <p:cNvPr id="80" name="Text 78"/>
          <p:cNvSpPr/>
          <p:nvPr/>
        </p:nvSpPr>
        <p:spPr>
          <a:xfrm>
            <a:off x="2377440" y="3311957"/>
            <a:ext cx="219456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2  = 20 × 20 = 400 m</a:t>
            </a:r>
            <a:endParaRPr lang="en-US" sz="1100" dirty="0"/>
          </a:p>
        </p:txBody>
      </p:sp>
      <p:sp>
        <p:nvSpPr>
          <p:cNvPr id="81" name="Text 79"/>
          <p:cNvSpPr/>
          <p:nvPr/>
        </p:nvSpPr>
        <p:spPr>
          <a:xfrm>
            <a:off x="4572000" y="3988613"/>
            <a:ext cx="548640" cy="256032"/>
          </a:xfrm>
          <a:prstGeom prst="rect">
            <a:avLst/>
          </a:prstGeom>
          <a:noFill/>
          <a:ln/>
        </p:spPr>
        <p:txBody>
          <a:bodyPr wrap="square" lIns="0" tIns="0" rIns="0" bIns="0" rtlCol="0" anchor="ctr"/>
          <a:lstStyle/>
          <a:p>
            <a:pPr algn="ctr" indent="0" marL="0">
              <a:buNone/>
            </a:pPr>
            <a:r>
              <a:rPr lang="en-US" sz="1400" b="1" dirty="0">
                <a:solidFill>
                  <a:srgbClr val="2E8B57"/>
                </a:solidFill>
                <a:latin typeface="Calibri" pitchFamily="34" charset="0"/>
                <a:ea typeface="Calibri" pitchFamily="34" charset="-122"/>
                <a:cs typeface="Calibri" pitchFamily="34" charset="-120"/>
              </a:rPr>
              <a:t>3</a:t>
            </a:r>
            <a:endParaRPr lang="en-US" sz="1400" dirty="0"/>
          </a:p>
        </p:txBody>
      </p:sp>
      <p:sp>
        <p:nvSpPr>
          <p:cNvPr id="82" name="Shape 8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3" name="Text 8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Finding the distance</a:t>
            </a:r>
            <a:endParaRPr lang="en-US" sz="1300" dirty="0"/>
          </a:p>
        </p:txBody>
      </p:sp>
      <p:sp>
        <p:nvSpPr>
          <p:cNvPr id="84" name="Text 8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area under</a:t>
            </a:r>
            <a:r>
              <a:rPr lang="en-US" sz="1150" dirty="0">
                <a:solidFill>
                  <a:srgbClr val="262B3A"/>
                </a:solidFill>
                <a:latin typeface="Calibri" pitchFamily="34" charset="0"/>
                <a:ea typeface="Calibri" pitchFamily="34" charset="-122"/>
                <a:cs typeface="Calibri" pitchFamily="34" charset="-120"/>
              </a:rPr>
              <a:t> a velocity–time graph = </a:t>
            </a:r>
            <a:r>
              <a:rPr lang="en-US" sz="1150" b="1" dirty="0">
                <a:solidFill>
                  <a:srgbClr val="262B3A"/>
                </a:solidFill>
                <a:latin typeface="Calibri" pitchFamily="34" charset="0"/>
                <a:ea typeface="Calibri" pitchFamily="34" charset="-122"/>
                <a:cs typeface="Calibri" pitchFamily="34" charset="-120"/>
              </a:rPr>
              <a:t>distance travelled</a:t>
            </a:r>
            <a:r>
              <a:rPr lang="en-US" sz="1150" dirty="0">
                <a:solidFill>
                  <a:srgbClr val="262B3A"/>
                </a:solidFill>
                <a:latin typeface="Calibri" pitchFamily="34" charset="0"/>
                <a:ea typeface="Calibri" pitchFamily="34" charset="-122"/>
                <a:cs typeface="Calibri" pitchFamily="34" charset="-120"/>
              </a:rPr>
              <a:t> (uniform acceleration: triangles and rectangles).</a:t>
            </a:r>
            <a:endParaRPr lang="en-US" sz="1150" dirty="0"/>
          </a:p>
          <a:p>
            <a:pPr indent="0" marL="0">
              <a:spcAft>
                <a:spcPts val="300"/>
              </a:spcAft>
              <a:buNone/>
            </a:pPr>
            <a:r>
              <a:rPr lang="en-US" sz="1150" dirty="0">
                <a:solidFill>
                  <a:srgbClr val="262B3A"/>
                </a:solidFill>
                <a:latin typeface="Calibri" pitchFamily="34" charset="0"/>
                <a:ea typeface="Calibri" pitchFamily="34" charset="-122"/>
                <a:cs typeface="Calibri" pitchFamily="34" charset="-120"/>
              </a:rPr>
              <a:t>Triangle: ½ × base × height.   Rectangle: base × height.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Area 1 (speeding up), area 2 (steady 20 m/s), area 3 (slowing down).</a:t>
            </a:r>
            <a:endParaRPr lang="en-US" sz="1150" dirty="0"/>
          </a:p>
        </p:txBody>
      </p:sp>
      <p:sp>
        <p:nvSpPr>
          <p:cNvPr id="85" name="Shape 8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6" name="Text 8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87" name="Text 85"/>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total distance travelled in 40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Area 1   </a:t>
            </a:r>
            <a:r>
              <a:rPr lang="en-US" sz="1100" dirty="0">
                <a:solidFill>
                  <a:srgbClr val="262B3A"/>
                </a:solidFill>
                <a:latin typeface="Calibri" pitchFamily="34" charset="0"/>
                <a:ea typeface="Calibri" pitchFamily="34" charset="-122"/>
                <a:cs typeface="Calibri" pitchFamily="34" charset="-120"/>
              </a:rPr>
              <a:t>½ × 10 s × 20 m/s = 100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Area 2   </a:t>
            </a:r>
            <a:r>
              <a:rPr lang="en-US" sz="1100" dirty="0">
                <a:solidFill>
                  <a:srgbClr val="262B3A"/>
                </a:solidFill>
                <a:latin typeface="Calibri" pitchFamily="34" charset="0"/>
                <a:ea typeface="Calibri" pitchFamily="34" charset="-122"/>
                <a:cs typeface="Calibri" pitchFamily="34" charset="-120"/>
              </a:rPr>
              <a:t>20 s × 20 m/s = 400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Area 3   </a:t>
            </a:r>
            <a:r>
              <a:rPr lang="en-US" sz="1100" dirty="0">
                <a:solidFill>
                  <a:srgbClr val="262B3A"/>
                </a:solidFill>
                <a:latin typeface="Calibri" pitchFamily="34" charset="0"/>
                <a:ea typeface="Calibri" pitchFamily="34" charset="-122"/>
                <a:cs typeface="Calibri" pitchFamily="34" charset="-120"/>
              </a:rPr>
              <a:t>½ × 10 s × 20 m/s = 100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distance = 100 + 400 + 100 = 600 m</a:t>
            </a:r>
            <a:endParaRPr lang="en-US" sz="1100" dirty="0"/>
          </a:p>
        </p:txBody>
      </p:sp>
      <p:sp>
        <p:nvSpPr>
          <p:cNvPr id="88" name="Shape 86"/>
          <p:cNvSpPr/>
          <p:nvPr/>
        </p:nvSpPr>
        <p:spPr>
          <a:xfrm>
            <a:off x="411480" y="5833872"/>
            <a:ext cx="11368735" cy="530352"/>
          </a:xfrm>
          <a:prstGeom prst="rect">
            <a:avLst/>
          </a:prstGeom>
          <a:solidFill>
            <a:srgbClr val="FFF4E0"/>
          </a:solidFill>
          <a:ln w="6350">
            <a:solidFill>
              <a:srgbClr val="F1D9A8"/>
            </a:solidFill>
            <a:prstDash val="solid"/>
          </a:ln>
        </p:spPr>
      </p:sp>
      <p:sp>
        <p:nvSpPr>
          <p:cNvPr id="89" name="Shape 87"/>
          <p:cNvSpPr/>
          <p:nvPr/>
        </p:nvSpPr>
        <p:spPr>
          <a:xfrm>
            <a:off x="411480" y="5833872"/>
            <a:ext cx="82296" cy="530352"/>
          </a:xfrm>
          <a:prstGeom prst="rect">
            <a:avLst/>
          </a:prstGeom>
          <a:solidFill>
            <a:srgbClr val="E39A2F"/>
          </a:solidFill>
          <a:ln w="12700">
            <a:solidFill>
              <a:srgbClr val="E39A2F"/>
            </a:solidFill>
            <a:prstDash val="solid"/>
          </a:ln>
        </p:spPr>
      </p:sp>
      <p:sp>
        <p:nvSpPr>
          <p:cNvPr id="90" name="Text 8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runner accelerates uniformly from rest to 12 m/s in 6.0 s. Use the area under the graph to find the distance.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2.8, 2.10 • acceleration and velocity–time graphs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12</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cyclist speeds up from </a:t>
            </a:r>
            <a:r>
              <a:rPr lang="en-US" sz="1250" b="1" dirty="0">
                <a:solidFill>
                  <a:srgbClr val="262B3A"/>
                </a:solidFill>
                <a:latin typeface="Calibri" pitchFamily="34" charset="0"/>
                <a:ea typeface="Calibri" pitchFamily="34" charset="-122"/>
                <a:cs typeface="Calibri" pitchFamily="34" charset="-120"/>
              </a:rPr>
              <a:t>2.0 m/s</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8.0 m/s</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4.0 s</a:t>
            </a:r>
            <a:r>
              <a:rPr lang="en-US" sz="1250" dirty="0">
                <a:solidFill>
                  <a:srgbClr val="262B3A"/>
                </a:solidFill>
                <a:latin typeface="Calibri" pitchFamily="34" charset="0"/>
                <a:ea typeface="Calibri" pitchFamily="34" charset="-122"/>
                <a:cs typeface="Calibri" pitchFamily="34" charset="-120"/>
              </a:rPr>
              <a:t>. Calculate the acceleration. Give the unit.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is shown by (i) the </a:t>
            </a:r>
            <a:r>
              <a:rPr lang="en-US" sz="1250" b="1" dirty="0">
                <a:solidFill>
                  <a:srgbClr val="262B3A"/>
                </a:solidFill>
                <a:latin typeface="Calibri" pitchFamily="34" charset="0"/>
                <a:ea typeface="Calibri" pitchFamily="34" charset="-122"/>
                <a:cs typeface="Calibri" pitchFamily="34" charset="-120"/>
              </a:rPr>
              <a:t>gradient</a:t>
            </a:r>
            <a:r>
              <a:rPr lang="en-US" sz="1250" dirty="0">
                <a:solidFill>
                  <a:srgbClr val="262B3A"/>
                </a:solidFill>
                <a:latin typeface="Calibri" pitchFamily="34" charset="0"/>
                <a:ea typeface="Calibri" pitchFamily="34" charset="-122"/>
                <a:cs typeface="Calibri" pitchFamily="34" charset="-120"/>
              </a:rPr>
              <a:t> and (ii) the </a:t>
            </a:r>
            <a:r>
              <a:rPr lang="en-US" sz="1250" b="1" dirty="0">
                <a:solidFill>
                  <a:srgbClr val="262B3A"/>
                </a:solidFill>
                <a:latin typeface="Calibri" pitchFamily="34" charset="0"/>
                <a:ea typeface="Calibri" pitchFamily="34" charset="-122"/>
                <a:cs typeface="Calibri" pitchFamily="34" charset="-120"/>
              </a:rPr>
              <a:t>area under the line</a:t>
            </a:r>
            <a:r>
              <a:rPr lang="en-US" sz="1250" dirty="0">
                <a:solidFill>
                  <a:srgbClr val="262B3A"/>
                </a:solidFill>
                <a:latin typeface="Calibri" pitchFamily="34" charset="0"/>
                <a:ea typeface="Calibri" pitchFamily="34" charset="-122"/>
                <a:cs typeface="Calibri" pitchFamily="34" charset="-120"/>
              </a:rPr>
              <a:t> of a velocity–time graph.</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car accelerates uniformly from rest to </a:t>
            </a:r>
            <a:r>
              <a:rPr lang="en-US" sz="1250" b="1" dirty="0">
                <a:solidFill>
                  <a:srgbClr val="262B3A"/>
                </a:solidFill>
                <a:latin typeface="Calibri" pitchFamily="34" charset="0"/>
                <a:ea typeface="Calibri" pitchFamily="34" charset="-122"/>
                <a:cs typeface="Calibri" pitchFamily="34" charset="-120"/>
              </a:rPr>
              <a:t>12 m/s</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6.0 s</a:t>
            </a:r>
            <a:r>
              <a:rPr lang="en-US" sz="1250" dirty="0">
                <a:solidFill>
                  <a:srgbClr val="262B3A"/>
                </a:solidFill>
                <a:latin typeface="Calibri" pitchFamily="34" charset="0"/>
                <a:ea typeface="Calibri" pitchFamily="34" charset="-122"/>
                <a:cs typeface="Calibri" pitchFamily="34" charset="-120"/>
              </a:rPr>
              <a:t>. Use the velocity–time graph idea to calculate the distance travelled.</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Using v² − u² = 2 × a × x</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2.9 • links velocities, acceleration and distance (no time needed)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2.9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car accelerating along a slip road (not to scale)</a:t>
            </a:r>
            <a:endParaRPr lang="en-US" sz="1000" dirty="0"/>
          </a:p>
        </p:txBody>
      </p:sp>
      <p:sp>
        <p:nvSpPr>
          <p:cNvPr id="10" name="Shape 8"/>
          <p:cNvSpPr/>
          <p:nvPr/>
        </p:nvSpPr>
        <p:spPr>
          <a:xfrm>
            <a:off x="685800" y="2514600"/>
            <a:ext cx="5029200" cy="73152"/>
          </a:xfrm>
          <a:prstGeom prst="rect">
            <a:avLst/>
          </a:prstGeom>
          <a:solidFill>
            <a:srgbClr val="5A6275"/>
          </a:solidFill>
          <a:ln/>
        </p:spPr>
      </p:sp>
      <p:sp>
        <p:nvSpPr>
          <p:cNvPr id="11" name="Shape 9"/>
          <p:cNvSpPr/>
          <p:nvPr/>
        </p:nvSpPr>
        <p:spPr>
          <a:xfrm>
            <a:off x="1169518" y="1974190"/>
            <a:ext cx="653796" cy="202082"/>
          </a:xfrm>
          <a:prstGeom prst="roundRect">
            <a:avLst>
              <a:gd name="adj" fmla="val 36199"/>
            </a:avLst>
          </a:prstGeom>
          <a:solidFill>
            <a:srgbClr val="A9B8DE"/>
          </a:solidFill>
          <a:ln w="12700">
            <a:solidFill>
              <a:srgbClr val="1F2A4A"/>
            </a:solidFill>
            <a:prstDash val="solid"/>
          </a:ln>
        </p:spPr>
      </p:sp>
      <p:sp>
        <p:nvSpPr>
          <p:cNvPr id="12" name="Shape 10"/>
          <p:cNvSpPr/>
          <p:nvPr/>
        </p:nvSpPr>
        <p:spPr>
          <a:xfrm>
            <a:off x="1215238" y="2010766"/>
            <a:ext cx="562356" cy="147218"/>
          </a:xfrm>
          <a:prstGeom prst="roundRect">
            <a:avLst>
              <a:gd name="adj" fmla="val 31056"/>
            </a:avLst>
          </a:prstGeom>
          <a:solidFill>
            <a:srgbClr val="DCE8FA"/>
          </a:solidFill>
          <a:ln/>
        </p:spPr>
      </p:sp>
      <p:sp>
        <p:nvSpPr>
          <p:cNvPr id="13" name="Shape 11"/>
          <p:cNvSpPr/>
          <p:nvPr/>
        </p:nvSpPr>
        <p:spPr>
          <a:xfrm>
            <a:off x="777240" y="2157984"/>
            <a:ext cx="1188720" cy="261518"/>
          </a:xfrm>
          <a:prstGeom prst="roundRect">
            <a:avLst>
              <a:gd name="adj" fmla="val 20979"/>
            </a:avLst>
          </a:prstGeom>
          <a:solidFill>
            <a:srgbClr val="A9B8DE"/>
          </a:solidFill>
          <a:ln w="12700">
            <a:solidFill>
              <a:srgbClr val="1F2A4A"/>
            </a:solidFill>
            <a:prstDash val="solid"/>
          </a:ln>
        </p:spPr>
      </p:sp>
      <p:sp>
        <p:nvSpPr>
          <p:cNvPr id="14" name="Shape 12"/>
          <p:cNvSpPr/>
          <p:nvPr/>
        </p:nvSpPr>
        <p:spPr>
          <a:xfrm>
            <a:off x="919886" y="2324405"/>
            <a:ext cx="190195" cy="190195"/>
          </a:xfrm>
          <a:prstGeom prst="ellipse">
            <a:avLst/>
          </a:prstGeom>
          <a:solidFill>
            <a:srgbClr val="2A2F3A"/>
          </a:solidFill>
          <a:ln w="9525">
            <a:solidFill>
              <a:srgbClr val="1F2430"/>
            </a:solidFill>
            <a:prstDash val="solid"/>
          </a:ln>
        </p:spPr>
      </p:sp>
      <p:sp>
        <p:nvSpPr>
          <p:cNvPr id="15" name="Shape 13"/>
          <p:cNvSpPr/>
          <p:nvPr/>
        </p:nvSpPr>
        <p:spPr>
          <a:xfrm>
            <a:off x="1633118" y="2324405"/>
            <a:ext cx="190195" cy="190195"/>
          </a:xfrm>
          <a:prstGeom prst="ellipse">
            <a:avLst/>
          </a:prstGeom>
          <a:solidFill>
            <a:srgbClr val="2A2F3A"/>
          </a:solidFill>
          <a:ln w="9525">
            <a:solidFill>
              <a:srgbClr val="1F2430"/>
            </a:solidFill>
            <a:prstDash val="solid"/>
          </a:ln>
        </p:spPr>
      </p:sp>
      <p:sp>
        <p:nvSpPr>
          <p:cNvPr id="16" name="Shape 14"/>
          <p:cNvSpPr/>
          <p:nvPr/>
        </p:nvSpPr>
        <p:spPr>
          <a:xfrm>
            <a:off x="4735678" y="1974190"/>
            <a:ext cx="653796" cy="202082"/>
          </a:xfrm>
          <a:prstGeom prst="roundRect">
            <a:avLst>
              <a:gd name="adj" fmla="val 36199"/>
            </a:avLst>
          </a:prstGeom>
          <a:solidFill>
            <a:srgbClr val="2E5BD8"/>
          </a:solidFill>
          <a:ln w="12700">
            <a:solidFill>
              <a:srgbClr val="1F2A4A"/>
            </a:solidFill>
            <a:prstDash val="solid"/>
          </a:ln>
        </p:spPr>
      </p:sp>
      <p:sp>
        <p:nvSpPr>
          <p:cNvPr id="17" name="Shape 15"/>
          <p:cNvSpPr/>
          <p:nvPr/>
        </p:nvSpPr>
        <p:spPr>
          <a:xfrm>
            <a:off x="4781398" y="2010766"/>
            <a:ext cx="562356" cy="147218"/>
          </a:xfrm>
          <a:prstGeom prst="roundRect">
            <a:avLst>
              <a:gd name="adj" fmla="val 31056"/>
            </a:avLst>
          </a:prstGeom>
          <a:solidFill>
            <a:srgbClr val="DCE8FA"/>
          </a:solidFill>
          <a:ln/>
        </p:spPr>
      </p:sp>
      <p:sp>
        <p:nvSpPr>
          <p:cNvPr id="18" name="Shape 16"/>
          <p:cNvSpPr/>
          <p:nvPr/>
        </p:nvSpPr>
        <p:spPr>
          <a:xfrm>
            <a:off x="4343400" y="2157984"/>
            <a:ext cx="1188720" cy="261518"/>
          </a:xfrm>
          <a:prstGeom prst="roundRect">
            <a:avLst>
              <a:gd name="adj" fmla="val 20979"/>
            </a:avLst>
          </a:prstGeom>
          <a:solidFill>
            <a:srgbClr val="2E5BD8"/>
          </a:solidFill>
          <a:ln w="12700">
            <a:solidFill>
              <a:srgbClr val="1F2A4A"/>
            </a:solidFill>
            <a:prstDash val="solid"/>
          </a:ln>
        </p:spPr>
      </p:sp>
      <p:sp>
        <p:nvSpPr>
          <p:cNvPr id="19" name="Shape 17"/>
          <p:cNvSpPr/>
          <p:nvPr/>
        </p:nvSpPr>
        <p:spPr>
          <a:xfrm>
            <a:off x="4486046" y="2324405"/>
            <a:ext cx="190195" cy="190195"/>
          </a:xfrm>
          <a:prstGeom prst="ellipse">
            <a:avLst/>
          </a:prstGeom>
          <a:solidFill>
            <a:srgbClr val="2A2F3A"/>
          </a:solidFill>
          <a:ln w="9525">
            <a:solidFill>
              <a:srgbClr val="1F2430"/>
            </a:solidFill>
            <a:prstDash val="solid"/>
          </a:ln>
        </p:spPr>
      </p:sp>
      <p:sp>
        <p:nvSpPr>
          <p:cNvPr id="20" name="Shape 18"/>
          <p:cNvSpPr/>
          <p:nvPr/>
        </p:nvSpPr>
        <p:spPr>
          <a:xfrm>
            <a:off x="5199278" y="2324405"/>
            <a:ext cx="190195" cy="190195"/>
          </a:xfrm>
          <a:prstGeom prst="ellipse">
            <a:avLst/>
          </a:prstGeom>
          <a:solidFill>
            <a:srgbClr val="2A2F3A"/>
          </a:solidFill>
          <a:ln w="9525">
            <a:solidFill>
              <a:srgbClr val="1F2430"/>
            </a:solidFill>
            <a:prstDash val="solid"/>
          </a:ln>
        </p:spPr>
      </p:sp>
      <p:sp>
        <p:nvSpPr>
          <p:cNvPr id="21" name="Shape 19"/>
          <p:cNvSpPr/>
          <p:nvPr/>
        </p:nvSpPr>
        <p:spPr>
          <a:xfrm>
            <a:off x="1234440" y="1600200"/>
            <a:ext cx="914400" cy="91"/>
          </a:xfrm>
          <a:prstGeom prst="line">
            <a:avLst/>
          </a:prstGeom>
          <a:noFill/>
          <a:ln w="31750">
            <a:solidFill>
              <a:srgbClr val="2E8B57"/>
            </a:solidFill>
            <a:prstDash val="solid"/>
            <a:tailEnd type="triangle"/>
          </a:ln>
        </p:spPr>
      </p:sp>
      <p:sp>
        <p:nvSpPr>
          <p:cNvPr id="22" name="Text 20"/>
          <p:cNvSpPr/>
          <p:nvPr/>
        </p:nvSpPr>
        <p:spPr>
          <a:xfrm>
            <a:off x="731520" y="1325880"/>
            <a:ext cx="201168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u = 10 m/s</a:t>
            </a:r>
            <a:endParaRPr lang="en-US" sz="1100" dirty="0"/>
          </a:p>
        </p:txBody>
      </p:sp>
      <p:sp>
        <p:nvSpPr>
          <p:cNvPr id="23" name="Shape 21"/>
          <p:cNvSpPr/>
          <p:nvPr/>
        </p:nvSpPr>
        <p:spPr>
          <a:xfrm>
            <a:off x="4480560" y="1600200"/>
            <a:ext cx="1097280" cy="91"/>
          </a:xfrm>
          <a:prstGeom prst="line">
            <a:avLst/>
          </a:prstGeom>
          <a:noFill/>
          <a:ln w="31750">
            <a:solidFill>
              <a:srgbClr val="C8414C"/>
            </a:solidFill>
            <a:prstDash val="solid"/>
            <a:tailEnd type="triangle"/>
          </a:ln>
        </p:spPr>
      </p:sp>
      <p:sp>
        <p:nvSpPr>
          <p:cNvPr id="24" name="Text 22"/>
          <p:cNvSpPr/>
          <p:nvPr/>
        </p:nvSpPr>
        <p:spPr>
          <a:xfrm>
            <a:off x="4206240" y="1325880"/>
            <a:ext cx="18288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v = 30 m/s</a:t>
            </a:r>
            <a:endParaRPr lang="en-US" sz="1100" dirty="0"/>
          </a:p>
        </p:txBody>
      </p:sp>
      <p:sp>
        <p:nvSpPr>
          <p:cNvPr id="25" name="Shape 23"/>
          <p:cNvSpPr/>
          <p:nvPr/>
        </p:nvSpPr>
        <p:spPr>
          <a:xfrm>
            <a:off x="1371600" y="2880360"/>
            <a:ext cx="3566160" cy="91"/>
          </a:xfrm>
          <a:prstGeom prst="line">
            <a:avLst/>
          </a:prstGeom>
          <a:noFill/>
          <a:ln w="15875">
            <a:solidFill>
              <a:srgbClr val="1A2340"/>
            </a:solidFill>
            <a:prstDash val="solid"/>
            <a:headEnd type="triangle"/>
            <a:tailEnd type="triangle"/>
          </a:ln>
        </p:spPr>
      </p:sp>
      <p:sp>
        <p:nvSpPr>
          <p:cNvPr id="26" name="Text 24"/>
          <p:cNvSpPr/>
          <p:nvPr/>
        </p:nvSpPr>
        <p:spPr>
          <a:xfrm>
            <a:off x="1371600" y="2916936"/>
            <a:ext cx="3566160" cy="256032"/>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x = ? (distance)</a:t>
            </a:r>
            <a:endParaRPr lang="en-US" sz="1050" dirty="0"/>
          </a:p>
        </p:txBody>
      </p:sp>
      <p:sp>
        <p:nvSpPr>
          <p:cNvPr id="27" name="Text 25"/>
          <p:cNvSpPr/>
          <p:nvPr/>
        </p:nvSpPr>
        <p:spPr>
          <a:xfrm>
            <a:off x="2103120" y="1828800"/>
            <a:ext cx="2194560" cy="256032"/>
          </a:xfrm>
          <a:prstGeom prst="rect">
            <a:avLst/>
          </a:prstGeom>
          <a:noFill/>
          <a:ln/>
        </p:spPr>
        <p:txBody>
          <a:bodyPr wrap="square" lIns="0" tIns="0" rIns="0" bIns="0" rtlCol="0" anchor="ctr"/>
          <a:lstStyle/>
          <a:p>
            <a:pPr algn="ctr" indent="0" marL="0">
              <a:buNone/>
            </a:pPr>
            <a:r>
              <a:rPr lang="en-US" sz="1200" b="1" dirty="0">
                <a:solidFill>
                  <a:srgbClr val="2E5BD8"/>
                </a:solidFill>
                <a:latin typeface="Calibri" pitchFamily="34" charset="0"/>
                <a:ea typeface="Calibri" pitchFamily="34" charset="-122"/>
                <a:cs typeface="Calibri" pitchFamily="34" charset="-120"/>
              </a:rPr>
              <a:t>a = 2.0 m/s²</a:t>
            </a:r>
            <a:endParaRPr lang="en-US" sz="1200" dirty="0"/>
          </a:p>
        </p:txBody>
      </p:sp>
      <p:sp>
        <p:nvSpPr>
          <p:cNvPr id="28" name="Shape 26"/>
          <p:cNvSpPr/>
          <p:nvPr/>
        </p:nvSpPr>
        <p:spPr>
          <a:xfrm>
            <a:off x="868680" y="3611880"/>
            <a:ext cx="4663440" cy="1600200"/>
          </a:xfrm>
          <a:prstGeom prst="roundRect">
            <a:avLst>
              <a:gd name="adj" fmla="val 2857"/>
            </a:avLst>
          </a:prstGeom>
          <a:solidFill>
            <a:srgbClr val="FFFFFF"/>
          </a:solidFill>
          <a:ln w="12700">
            <a:solidFill>
              <a:srgbClr val="D5DCEB"/>
            </a:solidFill>
            <a:prstDash val="solid"/>
          </a:ln>
        </p:spPr>
      </p:sp>
      <p:sp>
        <p:nvSpPr>
          <p:cNvPr id="29" name="Text 27"/>
          <p:cNvSpPr/>
          <p:nvPr/>
        </p:nvSpPr>
        <p:spPr>
          <a:xfrm>
            <a:off x="868680" y="3675888"/>
            <a:ext cx="4663440" cy="457200"/>
          </a:xfrm>
          <a:prstGeom prst="rect">
            <a:avLst/>
          </a:prstGeom>
          <a:noFill/>
          <a:ln/>
        </p:spPr>
        <p:txBody>
          <a:bodyPr wrap="square" lIns="0" tIns="0" rIns="0" bIns="0" rtlCol="0" anchor="ctr"/>
          <a:lstStyle/>
          <a:p>
            <a:pPr algn="ctr" indent="0" marL="0">
              <a:buNone/>
            </a:pPr>
            <a:r>
              <a:rPr lang="en-US" sz="2200" b="1" dirty="0">
                <a:solidFill>
                  <a:srgbClr val="1A2340"/>
                </a:solidFill>
                <a:latin typeface="Calibri" pitchFamily="34" charset="0"/>
                <a:ea typeface="Calibri" pitchFamily="34" charset="-122"/>
                <a:cs typeface="Calibri" pitchFamily="34" charset="-120"/>
              </a:rPr>
              <a:t>v² − u² = 2 × a × x</a:t>
            </a:r>
            <a:endParaRPr lang="en-US" sz="2200" dirty="0"/>
          </a:p>
        </p:txBody>
      </p:sp>
      <p:sp>
        <p:nvSpPr>
          <p:cNvPr id="30" name="Text 28"/>
          <p:cNvSpPr/>
          <p:nvPr/>
        </p:nvSpPr>
        <p:spPr>
          <a:xfrm>
            <a:off x="1005840" y="4160520"/>
            <a:ext cx="4389120" cy="2743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v = final velocity (m/s)   u = initial velocity (m/s)</a:t>
            </a:r>
            <a:endParaRPr lang="en-US" sz="1100" dirty="0"/>
          </a:p>
        </p:txBody>
      </p:sp>
      <p:sp>
        <p:nvSpPr>
          <p:cNvPr id="31" name="Text 29"/>
          <p:cNvSpPr/>
          <p:nvPr/>
        </p:nvSpPr>
        <p:spPr>
          <a:xfrm>
            <a:off x="1005840" y="4453128"/>
            <a:ext cx="4389120" cy="2743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 = acceleration (m/s²)   x = distance (m)</a:t>
            </a:r>
            <a:endParaRPr lang="en-US" sz="1100" dirty="0"/>
          </a:p>
        </p:txBody>
      </p:sp>
      <p:sp>
        <p:nvSpPr>
          <p:cNvPr id="32" name="Text 30"/>
          <p:cNvSpPr/>
          <p:nvPr/>
        </p:nvSpPr>
        <p:spPr>
          <a:xfrm>
            <a:off x="1005840" y="4800600"/>
            <a:ext cx="438912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GIVEN on the Physics Equations List</a:t>
            </a:r>
            <a:endParaRPr lang="en-US" sz="1100" dirty="0"/>
          </a:p>
        </p:txBody>
      </p:sp>
      <p:sp>
        <p:nvSpPr>
          <p:cNvPr id="33" name="Shape 3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4" name="Text 3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When to use it</a:t>
            </a:r>
            <a:endParaRPr lang="en-US" sz="1300" dirty="0"/>
          </a:p>
        </p:txBody>
      </p:sp>
      <p:sp>
        <p:nvSpPr>
          <p:cNvPr id="35" name="Text 3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it when the question gives (or asks for) </a:t>
            </a:r>
            <a:r>
              <a:rPr lang="en-US" sz="1150" b="1" dirty="0">
                <a:solidFill>
                  <a:srgbClr val="262B3A"/>
                </a:solidFill>
                <a:latin typeface="Calibri" pitchFamily="34" charset="0"/>
                <a:ea typeface="Calibri" pitchFamily="34" charset="-122"/>
                <a:cs typeface="Calibri" pitchFamily="34" charset="-120"/>
              </a:rPr>
              <a:t>velocities, acceleration and distance</a:t>
            </a:r>
            <a:r>
              <a:rPr lang="en-US" sz="1150" dirty="0">
                <a:solidFill>
                  <a:srgbClr val="262B3A"/>
                </a:solidFill>
                <a:latin typeface="Calibri" pitchFamily="34" charset="0"/>
                <a:ea typeface="Calibri" pitchFamily="34" charset="-122"/>
                <a:cs typeface="Calibri" pitchFamily="34" charset="-120"/>
              </a:rPr>
              <a:t> but </a:t>
            </a:r>
            <a:r>
              <a:rPr lang="en-US" sz="1150" b="1" dirty="0">
                <a:solidFill>
                  <a:srgbClr val="262B3A"/>
                </a:solidFill>
                <a:latin typeface="Calibri" pitchFamily="34" charset="0"/>
                <a:ea typeface="Calibri" pitchFamily="34" charset="-122"/>
                <a:cs typeface="Calibri" pitchFamily="34" charset="-120"/>
              </a:rPr>
              <a:t>no time</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050" b="1" dirty="0">
                <a:solidFill>
                  <a:srgbClr val="2E8B57"/>
                </a:solidFill>
                <a:latin typeface="Calibri" pitchFamily="34" charset="0"/>
                <a:ea typeface="Calibri" pitchFamily="34" charset="-122"/>
                <a:cs typeface="Calibri" pitchFamily="34" charset="-120"/>
              </a:rPr>
              <a:t>GIVEN: on the Physics Equations List. You must be able to select, rearrange and use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Only for </a:t>
            </a:r>
            <a:r>
              <a:rPr lang="en-US" sz="1150" b="1" dirty="0">
                <a:solidFill>
                  <a:srgbClr val="262B3A"/>
                </a:solidFill>
                <a:latin typeface="Calibri" pitchFamily="34" charset="0"/>
                <a:ea typeface="Calibri" pitchFamily="34" charset="-122"/>
                <a:cs typeface="Calibri" pitchFamily="34" charset="-120"/>
              </a:rPr>
              <a:t>uniform</a:t>
            </a:r>
            <a:r>
              <a:rPr lang="en-US" sz="1150" dirty="0">
                <a:solidFill>
                  <a:srgbClr val="262B3A"/>
                </a:solidFill>
                <a:latin typeface="Calibri" pitchFamily="34" charset="0"/>
                <a:ea typeface="Calibri" pitchFamily="34" charset="-122"/>
                <a:cs typeface="Calibri" pitchFamily="34" charset="-120"/>
              </a:rPr>
              <a:t> (constant) acceleration.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Starting from rest: u = 0. Coming to rest: v = 0.</a:t>
            </a:r>
            <a:endParaRPr lang="en-US" sz="1150" dirty="0"/>
          </a:p>
        </p:txBody>
      </p:sp>
      <p:sp>
        <p:nvSpPr>
          <p:cNvPr id="36" name="Shape 3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7" name="Text 3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8" name="Text 3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car accelerates at 2.0 m/s² from 10 m/s to 30 m/s. Calculate the distance travelled.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v² − u² = 2 × a × x</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Rearrange   </a:t>
            </a:r>
            <a:r>
              <a:rPr lang="en-US" sz="1100" dirty="0">
                <a:solidFill>
                  <a:srgbClr val="262B3A"/>
                </a:solidFill>
                <a:latin typeface="Calibri" pitchFamily="34" charset="0"/>
                <a:ea typeface="Calibri" pitchFamily="34" charset="-122"/>
                <a:cs typeface="Calibri" pitchFamily="34" charset="-120"/>
              </a:rPr>
              <a:t>x = (v² − u²) ÷ (2 ×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x = (30² − 10²) ÷ (2 × 2.0) = 800 ÷ 4.0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x = 200 m</a:t>
            </a:r>
            <a:endParaRPr lang="en-US" sz="1100" dirty="0"/>
          </a:p>
        </p:txBody>
      </p:sp>
      <p:sp>
        <p:nvSpPr>
          <p:cNvPr id="39" name="Shape 37"/>
          <p:cNvSpPr/>
          <p:nvPr/>
        </p:nvSpPr>
        <p:spPr>
          <a:xfrm>
            <a:off x="411480" y="5833872"/>
            <a:ext cx="11368735" cy="530352"/>
          </a:xfrm>
          <a:prstGeom prst="rect">
            <a:avLst/>
          </a:prstGeom>
          <a:solidFill>
            <a:srgbClr val="FFF4E0"/>
          </a:solidFill>
          <a:ln w="6350">
            <a:solidFill>
              <a:srgbClr val="F1D9A8"/>
            </a:solidFill>
            <a:prstDash val="solid"/>
          </a:ln>
        </p:spPr>
      </p:sp>
      <p:sp>
        <p:nvSpPr>
          <p:cNvPr id="40" name="Shape 38"/>
          <p:cNvSpPr/>
          <p:nvPr/>
        </p:nvSpPr>
        <p:spPr>
          <a:xfrm>
            <a:off x="411480" y="5833872"/>
            <a:ext cx="82296" cy="530352"/>
          </a:xfrm>
          <a:prstGeom prst="rect">
            <a:avLst/>
          </a:prstGeom>
          <a:solidFill>
            <a:srgbClr val="E39A2F"/>
          </a:solidFill>
          <a:ln w="12700">
            <a:solidFill>
              <a:srgbClr val="E39A2F"/>
            </a:solidFill>
            <a:prstDash val="solid"/>
          </a:ln>
        </p:spPr>
      </p:sp>
      <p:sp>
        <p:nvSpPr>
          <p:cNvPr id="41" name="Text 3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ball is dropped from rest and falls 5.0 m. Calculate its speed just before it lands. (a = g = 10 m/s²)</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Measuring speed in the laboratory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2.11 • methods including light gates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2.11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single light gate times a card of known length</a:t>
            </a:r>
            <a:endParaRPr lang="en-US" sz="1000" dirty="0"/>
          </a:p>
        </p:txBody>
      </p:sp>
      <p:sp>
        <p:nvSpPr>
          <p:cNvPr id="10" name="Shape 8"/>
          <p:cNvSpPr/>
          <p:nvPr/>
        </p:nvSpPr>
        <p:spPr>
          <a:xfrm>
            <a:off x="685800" y="3246120"/>
            <a:ext cx="5029200" cy="91440"/>
          </a:xfrm>
          <a:prstGeom prst="rect">
            <a:avLst/>
          </a:prstGeom>
          <a:solidFill>
            <a:srgbClr val="C99A5B"/>
          </a:solidFill>
          <a:ln w="12700">
            <a:solidFill>
              <a:srgbClr val="8A6A3A"/>
            </a:solidFill>
            <a:prstDash val="solid"/>
          </a:ln>
        </p:spPr>
      </p:sp>
      <p:sp>
        <p:nvSpPr>
          <p:cNvPr id="11" name="Shape 9"/>
          <p:cNvSpPr/>
          <p:nvPr/>
        </p:nvSpPr>
        <p:spPr>
          <a:xfrm>
            <a:off x="2103120" y="2779776"/>
            <a:ext cx="1097280" cy="329184"/>
          </a:xfrm>
          <a:prstGeom prst="roundRect">
            <a:avLst>
              <a:gd name="adj" fmla="val 11111"/>
            </a:avLst>
          </a:prstGeom>
          <a:solidFill>
            <a:srgbClr val="2E5BD8"/>
          </a:solidFill>
          <a:ln w="12700">
            <a:solidFill>
              <a:srgbClr val="2B3F7A"/>
            </a:solidFill>
            <a:prstDash val="solid"/>
          </a:ln>
        </p:spPr>
      </p:sp>
      <p:sp>
        <p:nvSpPr>
          <p:cNvPr id="12" name="Shape 10"/>
          <p:cNvSpPr/>
          <p:nvPr/>
        </p:nvSpPr>
        <p:spPr>
          <a:xfrm>
            <a:off x="2203704" y="3081528"/>
            <a:ext cx="164592" cy="164592"/>
          </a:xfrm>
          <a:prstGeom prst="ellipse">
            <a:avLst/>
          </a:prstGeom>
          <a:solidFill>
            <a:srgbClr val="3B4252"/>
          </a:solidFill>
          <a:ln w="9525">
            <a:solidFill>
              <a:srgbClr val="1F2430"/>
            </a:solidFill>
            <a:prstDash val="solid"/>
          </a:ln>
        </p:spPr>
      </p:sp>
      <p:sp>
        <p:nvSpPr>
          <p:cNvPr id="13" name="Shape 11"/>
          <p:cNvSpPr/>
          <p:nvPr/>
        </p:nvSpPr>
        <p:spPr>
          <a:xfrm>
            <a:off x="2935224" y="3081528"/>
            <a:ext cx="164592" cy="164592"/>
          </a:xfrm>
          <a:prstGeom prst="ellipse">
            <a:avLst/>
          </a:prstGeom>
          <a:solidFill>
            <a:srgbClr val="3B4252"/>
          </a:solidFill>
          <a:ln w="9525">
            <a:solidFill>
              <a:srgbClr val="1F2430"/>
            </a:solidFill>
            <a:prstDash val="solid"/>
          </a:ln>
        </p:spPr>
      </p:sp>
      <p:sp>
        <p:nvSpPr>
          <p:cNvPr id="14" name="Text 12"/>
          <p:cNvSpPr/>
          <p:nvPr/>
        </p:nvSpPr>
        <p:spPr>
          <a:xfrm>
            <a:off x="2103120" y="2779776"/>
            <a:ext cx="109728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trolley</a:t>
            </a:r>
            <a:endParaRPr lang="en-US" sz="1050" dirty="0"/>
          </a:p>
        </p:txBody>
      </p:sp>
      <p:sp>
        <p:nvSpPr>
          <p:cNvPr id="15" name="Shape 13"/>
          <p:cNvSpPr/>
          <p:nvPr/>
        </p:nvSpPr>
        <p:spPr>
          <a:xfrm>
            <a:off x="2606040" y="2276856"/>
            <a:ext cx="54864" cy="502920"/>
          </a:xfrm>
          <a:prstGeom prst="rect">
            <a:avLst/>
          </a:prstGeom>
          <a:solidFill>
            <a:srgbClr val="F5A742"/>
          </a:solidFill>
          <a:ln w="12700">
            <a:solidFill>
              <a:srgbClr val="B8730A"/>
            </a:solidFill>
            <a:prstDash val="solid"/>
          </a:ln>
        </p:spPr>
      </p:sp>
      <p:sp>
        <p:nvSpPr>
          <p:cNvPr id="16" name="Shape 14"/>
          <p:cNvSpPr/>
          <p:nvPr/>
        </p:nvSpPr>
        <p:spPr>
          <a:xfrm>
            <a:off x="2423160" y="2093976"/>
            <a:ext cx="420624" cy="91"/>
          </a:xfrm>
          <a:prstGeom prst="line">
            <a:avLst/>
          </a:prstGeom>
          <a:noFill/>
          <a:ln w="15875">
            <a:solidFill>
              <a:srgbClr val="B8730A"/>
            </a:solidFill>
            <a:prstDash val="solid"/>
            <a:headEnd type="triangle"/>
            <a:tailEnd type="triangle"/>
          </a:ln>
        </p:spPr>
      </p:sp>
      <p:sp>
        <p:nvSpPr>
          <p:cNvPr id="17" name="Text 15"/>
          <p:cNvSpPr/>
          <p:nvPr/>
        </p:nvSpPr>
        <p:spPr>
          <a:xfrm>
            <a:off x="2423160" y="1819656"/>
            <a:ext cx="420624" cy="256032"/>
          </a:xfrm>
          <a:prstGeom prst="rect">
            <a:avLst/>
          </a:prstGeom>
          <a:noFill/>
          <a:ln/>
        </p:spPr>
        <p:txBody>
          <a:bodyPr wrap="square" lIns="0" tIns="0" rIns="0" bIns="0" rtlCol="0" anchor="ctr"/>
          <a:lstStyle/>
          <a:p>
            <a:pPr algn="ctr" indent="0" marL="0">
              <a:buNone/>
            </a:pPr>
            <a:endParaRPr lang="en-US" sz="1050" dirty="0"/>
          </a:p>
        </p:txBody>
      </p:sp>
      <p:sp>
        <p:nvSpPr>
          <p:cNvPr id="18" name="Text 16"/>
          <p:cNvSpPr/>
          <p:nvPr/>
        </p:nvSpPr>
        <p:spPr>
          <a:xfrm>
            <a:off x="1188720" y="1819656"/>
            <a:ext cx="2011680" cy="256032"/>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card length 0.10 m</a:t>
            </a:r>
            <a:endParaRPr lang="en-US" sz="1050" dirty="0"/>
          </a:p>
        </p:txBody>
      </p:sp>
      <p:sp>
        <p:nvSpPr>
          <p:cNvPr id="19" name="Shape 17"/>
          <p:cNvSpPr/>
          <p:nvPr/>
        </p:nvSpPr>
        <p:spPr>
          <a:xfrm>
            <a:off x="3895344" y="2459736"/>
            <a:ext cx="73152" cy="786384"/>
          </a:xfrm>
          <a:prstGeom prst="rect">
            <a:avLst/>
          </a:prstGeom>
          <a:solidFill>
            <a:srgbClr val="8C96A8"/>
          </a:solidFill>
          <a:ln w="6350">
            <a:solidFill>
              <a:srgbClr val="6B7385"/>
            </a:solidFill>
            <a:prstDash val="solid"/>
          </a:ln>
        </p:spPr>
      </p:sp>
      <p:sp>
        <p:nvSpPr>
          <p:cNvPr id="20" name="Shape 18"/>
          <p:cNvSpPr/>
          <p:nvPr/>
        </p:nvSpPr>
        <p:spPr>
          <a:xfrm>
            <a:off x="3785616" y="2258568"/>
            <a:ext cx="292608" cy="219456"/>
          </a:xfrm>
          <a:prstGeom prst="roundRect">
            <a:avLst>
              <a:gd name="adj" fmla="val 16667"/>
            </a:avLst>
          </a:prstGeom>
          <a:solidFill>
            <a:srgbClr val="2F3747"/>
          </a:solidFill>
          <a:ln w="12700">
            <a:solidFill>
              <a:srgbClr val="1F2430"/>
            </a:solidFill>
            <a:prstDash val="solid"/>
          </a:ln>
        </p:spPr>
      </p:sp>
      <p:sp>
        <p:nvSpPr>
          <p:cNvPr id="21" name="Shape 19"/>
          <p:cNvSpPr/>
          <p:nvPr/>
        </p:nvSpPr>
        <p:spPr>
          <a:xfrm>
            <a:off x="3890772" y="2327148"/>
            <a:ext cx="82296" cy="82296"/>
          </a:xfrm>
          <a:prstGeom prst="ellipse">
            <a:avLst/>
          </a:prstGeom>
          <a:solidFill>
            <a:srgbClr val="C8414C"/>
          </a:solidFill>
          <a:ln w="12700">
            <a:solidFill>
              <a:srgbClr val="C8414C"/>
            </a:solidFill>
            <a:prstDash val="solid"/>
          </a:ln>
        </p:spPr>
      </p:sp>
      <p:sp>
        <p:nvSpPr>
          <p:cNvPr id="22" name="Text 20"/>
          <p:cNvSpPr/>
          <p:nvPr/>
        </p:nvSpPr>
        <p:spPr>
          <a:xfrm>
            <a:off x="3383280" y="1984248"/>
            <a:ext cx="10972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light gate</a:t>
            </a:r>
            <a:endParaRPr lang="en-US" sz="1000" dirty="0"/>
          </a:p>
        </p:txBody>
      </p:sp>
      <p:sp>
        <p:nvSpPr>
          <p:cNvPr id="23" name="Shape 21"/>
          <p:cNvSpPr/>
          <p:nvPr/>
        </p:nvSpPr>
        <p:spPr>
          <a:xfrm>
            <a:off x="4078224" y="2368296"/>
            <a:ext cx="1042416" cy="91"/>
          </a:xfrm>
          <a:prstGeom prst="line">
            <a:avLst/>
          </a:prstGeom>
          <a:noFill/>
          <a:ln w="15875">
            <a:solidFill>
              <a:srgbClr val="1A2340"/>
            </a:solidFill>
            <a:prstDash val="solid"/>
          </a:ln>
        </p:spPr>
      </p:sp>
      <p:sp>
        <p:nvSpPr>
          <p:cNvPr id="24" name="Shape 22"/>
          <p:cNvSpPr/>
          <p:nvPr/>
        </p:nvSpPr>
        <p:spPr>
          <a:xfrm flipV="1">
            <a:off x="5120640" y="1911096"/>
            <a:ext cx="91" cy="457200"/>
          </a:xfrm>
          <a:prstGeom prst="line">
            <a:avLst/>
          </a:prstGeom>
          <a:noFill/>
          <a:ln w="15875">
            <a:solidFill>
              <a:srgbClr val="1A2340"/>
            </a:solidFill>
            <a:prstDash val="solid"/>
          </a:ln>
        </p:spPr>
      </p:sp>
      <p:sp>
        <p:nvSpPr>
          <p:cNvPr id="25" name="Shape 23"/>
          <p:cNvSpPr/>
          <p:nvPr/>
        </p:nvSpPr>
        <p:spPr>
          <a:xfrm>
            <a:off x="4663440" y="1499616"/>
            <a:ext cx="914400" cy="411480"/>
          </a:xfrm>
          <a:prstGeom prst="roundRect">
            <a:avLst>
              <a:gd name="adj" fmla="val 11111"/>
            </a:avLst>
          </a:prstGeom>
          <a:solidFill>
            <a:srgbClr val="2F3747"/>
          </a:solidFill>
          <a:ln w="12700">
            <a:solidFill>
              <a:srgbClr val="1F2430"/>
            </a:solidFill>
            <a:prstDash val="solid"/>
          </a:ln>
        </p:spPr>
      </p:sp>
      <p:sp>
        <p:nvSpPr>
          <p:cNvPr id="26" name="Text 24"/>
          <p:cNvSpPr/>
          <p:nvPr/>
        </p:nvSpPr>
        <p:spPr>
          <a:xfrm>
            <a:off x="4663440" y="1499616"/>
            <a:ext cx="914400" cy="411480"/>
          </a:xfrm>
          <a:prstGeom prst="rect">
            <a:avLst/>
          </a:prstGeom>
          <a:noFill/>
          <a:ln/>
        </p:spPr>
        <p:txBody>
          <a:bodyPr wrap="square" lIns="0" tIns="0" rIns="0" bIns="0" rtlCol="0" anchor="ctr"/>
          <a:lstStyle/>
          <a:p>
            <a:pPr algn="ctr" indent="0" marL="0">
              <a:buNone/>
            </a:pPr>
            <a:r>
              <a:rPr lang="en-US" sz="1100" b="1" dirty="0">
                <a:solidFill>
                  <a:srgbClr val="C9E3B5"/>
                </a:solidFill>
                <a:latin typeface="Calibri" pitchFamily="34" charset="0"/>
                <a:ea typeface="Calibri" pitchFamily="34" charset="-122"/>
                <a:cs typeface="Calibri" pitchFamily="34" charset="-120"/>
              </a:rPr>
              <a:t>0.040 s</a:t>
            </a:r>
            <a:endParaRPr lang="en-US" sz="1100" dirty="0"/>
          </a:p>
        </p:txBody>
      </p:sp>
      <p:sp>
        <p:nvSpPr>
          <p:cNvPr id="27" name="Text 25"/>
          <p:cNvSpPr/>
          <p:nvPr/>
        </p:nvSpPr>
        <p:spPr>
          <a:xfrm>
            <a:off x="4572000" y="1243584"/>
            <a:ext cx="10972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data logger</a:t>
            </a:r>
            <a:endParaRPr lang="en-US" sz="1000" dirty="0"/>
          </a:p>
        </p:txBody>
      </p:sp>
      <p:sp>
        <p:nvSpPr>
          <p:cNvPr id="28" name="Shape 26"/>
          <p:cNvSpPr/>
          <p:nvPr/>
        </p:nvSpPr>
        <p:spPr>
          <a:xfrm>
            <a:off x="914400" y="2971800"/>
            <a:ext cx="914400" cy="91"/>
          </a:xfrm>
          <a:prstGeom prst="line">
            <a:avLst/>
          </a:prstGeom>
          <a:noFill/>
          <a:ln w="31750">
            <a:solidFill>
              <a:srgbClr val="C8414C"/>
            </a:solidFill>
            <a:prstDash val="solid"/>
            <a:tailEnd type="triangle"/>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3749040"/>
          <a:ext cx="5029200" cy="914400"/>
        </p:xfrm>
        <a:graphic>
          <a:graphicData uri="http://schemas.openxmlformats.org/drawingml/2006/table">
            <a:tbl>
              <a:tblPr/>
              <a:tblGrid>
                <a:gridCol w="1783080"/>
                <a:gridCol w="2331720"/>
                <a:gridCol w="914400"/>
              </a:tblGrid>
              <a:tr h="32918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metre rule + stopwatch</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distance, time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d ÷ 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one light gate + card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card length, time beam blocked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L ÷ 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two light gates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gap between gates, time between</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d ÷ 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30" name="Shape 2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1" name="Text 2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use light gates?</a:t>
            </a:r>
            <a:endParaRPr lang="en-US" sz="1300" dirty="0"/>
          </a:p>
        </p:txBody>
      </p:sp>
      <p:sp>
        <p:nvSpPr>
          <p:cNvPr id="32" name="Text 2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light gate</a:t>
            </a:r>
            <a:r>
              <a:rPr lang="en-US" sz="1150" dirty="0">
                <a:solidFill>
                  <a:srgbClr val="262B3A"/>
                </a:solidFill>
                <a:latin typeface="Calibri" pitchFamily="34" charset="0"/>
                <a:ea typeface="Calibri" pitchFamily="34" charset="-122"/>
                <a:cs typeface="Calibri" pitchFamily="34" charset="-120"/>
              </a:rPr>
              <a:t> sends a beam across a gap. A data logger times how long the beam is </a:t>
            </a:r>
            <a:r>
              <a:rPr lang="en-US" sz="1150" b="1" dirty="0">
                <a:solidFill>
                  <a:srgbClr val="262B3A"/>
                </a:solidFill>
                <a:latin typeface="Calibri" pitchFamily="34" charset="0"/>
                <a:ea typeface="Calibri" pitchFamily="34" charset="-122"/>
                <a:cs typeface="Calibri" pitchFamily="34" charset="-120"/>
              </a:rPr>
              <a:t>blocked</a:t>
            </a:r>
            <a:r>
              <a:rPr lang="en-US" sz="1150" dirty="0">
                <a:solidFill>
                  <a:srgbClr val="262B3A"/>
                </a:solidFill>
                <a:latin typeface="Calibri" pitchFamily="34" charset="0"/>
                <a:ea typeface="Calibri" pitchFamily="34" charset="-122"/>
                <a:cs typeface="Calibri" pitchFamily="34" charset="-120"/>
              </a:rPr>
              <a:t> by a card.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speed = card length ÷ time blocked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Light gates remove </a:t>
            </a:r>
            <a:r>
              <a:rPr lang="en-US" sz="1150" b="1" dirty="0">
                <a:solidFill>
                  <a:srgbClr val="262B3A"/>
                </a:solidFill>
                <a:latin typeface="Calibri" pitchFamily="34" charset="0"/>
                <a:ea typeface="Calibri" pitchFamily="34" charset="-122"/>
                <a:cs typeface="Calibri" pitchFamily="34" charset="-120"/>
              </a:rPr>
              <a:t>human reaction time</a:t>
            </a:r>
            <a:r>
              <a:rPr lang="en-US" sz="1150" dirty="0">
                <a:solidFill>
                  <a:srgbClr val="262B3A"/>
                </a:solidFill>
                <a:latin typeface="Calibri" pitchFamily="34" charset="0"/>
                <a:ea typeface="Calibri" pitchFamily="34" charset="-122"/>
                <a:cs typeface="Calibri" pitchFamily="34" charset="-120"/>
              </a:rPr>
              <a:t> from the timing, so they are more accurate than a stopwatch for short times.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Two readings of speed (two gates, or a double card) give the </a:t>
            </a:r>
            <a:r>
              <a:rPr lang="en-US" sz="1150" b="1" dirty="0">
                <a:solidFill>
                  <a:srgbClr val="262B3A"/>
                </a:solidFill>
                <a:latin typeface="Calibri" pitchFamily="34" charset="0"/>
                <a:ea typeface="Calibri" pitchFamily="34" charset="-122"/>
                <a:cs typeface="Calibri" pitchFamily="34" charset="-120"/>
              </a:rPr>
              <a:t>acceleration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3" name="Shape 3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4" name="Text 3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5" name="Text 32"/>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0.10 m card blocks the beam for 0.040 s. Calculate the speed of the trolley.</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speed = distance ÷ time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speed = 0.10 m ÷ 0.040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2.5 m/s is reasonable for a trolley</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speed = 2.5 m/s</a:t>
            </a:r>
            <a:endParaRPr lang="en-US" sz="1100" dirty="0"/>
          </a:p>
        </p:txBody>
      </p:sp>
      <p:sp>
        <p:nvSpPr>
          <p:cNvPr id="36"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7"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8"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5.0 cm card blocks a light gate for 0.025 s. Calculate the speed. Why is a stopwatch a poor choice here?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Typical speeds and accelerations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2.12, 2.13 • estimate everyday values; free fall acceleration g = 10 m/s²</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2.12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typical speeds on a logarithmic scale (each grid line ×10)</a:t>
            </a:r>
            <a:endParaRPr lang="en-US" sz="1000" dirty="0"/>
          </a:p>
        </p:txBody>
      </p:sp>
      <p:sp>
        <p:nvSpPr>
          <p:cNvPr id="10" name="Shape 8"/>
          <p:cNvSpPr/>
          <p:nvPr/>
        </p:nvSpPr>
        <p:spPr>
          <a:xfrm>
            <a:off x="2148840" y="1417320"/>
            <a:ext cx="91" cy="3703320"/>
          </a:xfrm>
          <a:prstGeom prst="line">
            <a:avLst/>
          </a:prstGeom>
          <a:noFill/>
          <a:ln w="9525">
            <a:solidFill>
              <a:srgbClr val="C9D3E6"/>
            </a:solidFill>
            <a:prstDash val="solid"/>
          </a:ln>
        </p:spPr>
      </p:sp>
      <p:sp>
        <p:nvSpPr>
          <p:cNvPr id="11" name="Text 9"/>
          <p:cNvSpPr/>
          <p:nvPr/>
        </p:nvSpPr>
        <p:spPr>
          <a:xfrm>
            <a:off x="1828800" y="5138928"/>
            <a:ext cx="64008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12" name="Shape 10"/>
          <p:cNvSpPr/>
          <p:nvPr/>
        </p:nvSpPr>
        <p:spPr>
          <a:xfrm>
            <a:off x="3276600" y="1417320"/>
            <a:ext cx="91" cy="3703320"/>
          </a:xfrm>
          <a:prstGeom prst="line">
            <a:avLst/>
          </a:prstGeom>
          <a:noFill/>
          <a:ln w="9525">
            <a:solidFill>
              <a:srgbClr val="C9D3E6"/>
            </a:solidFill>
            <a:prstDash val="solid"/>
          </a:ln>
        </p:spPr>
      </p:sp>
      <p:sp>
        <p:nvSpPr>
          <p:cNvPr id="13" name="Text 11"/>
          <p:cNvSpPr/>
          <p:nvPr/>
        </p:nvSpPr>
        <p:spPr>
          <a:xfrm>
            <a:off x="2956560" y="5138928"/>
            <a:ext cx="64008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4" name="Shape 12"/>
          <p:cNvSpPr/>
          <p:nvPr/>
        </p:nvSpPr>
        <p:spPr>
          <a:xfrm>
            <a:off x="4404360" y="1417320"/>
            <a:ext cx="91" cy="3703320"/>
          </a:xfrm>
          <a:prstGeom prst="line">
            <a:avLst/>
          </a:prstGeom>
          <a:noFill/>
          <a:ln w="9525">
            <a:solidFill>
              <a:srgbClr val="C9D3E6"/>
            </a:solidFill>
            <a:prstDash val="solid"/>
          </a:ln>
        </p:spPr>
      </p:sp>
      <p:sp>
        <p:nvSpPr>
          <p:cNvPr id="15" name="Text 13"/>
          <p:cNvSpPr/>
          <p:nvPr/>
        </p:nvSpPr>
        <p:spPr>
          <a:xfrm>
            <a:off x="4084320" y="5138928"/>
            <a:ext cx="64008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16" name="Shape 14"/>
          <p:cNvSpPr/>
          <p:nvPr/>
        </p:nvSpPr>
        <p:spPr>
          <a:xfrm>
            <a:off x="5532120" y="1417320"/>
            <a:ext cx="91" cy="3703320"/>
          </a:xfrm>
          <a:prstGeom prst="line">
            <a:avLst/>
          </a:prstGeom>
          <a:noFill/>
          <a:ln w="9525">
            <a:solidFill>
              <a:srgbClr val="C9D3E6"/>
            </a:solidFill>
            <a:prstDash val="solid"/>
          </a:ln>
        </p:spPr>
      </p:sp>
      <p:sp>
        <p:nvSpPr>
          <p:cNvPr id="17" name="Text 15"/>
          <p:cNvSpPr/>
          <p:nvPr/>
        </p:nvSpPr>
        <p:spPr>
          <a:xfrm>
            <a:off x="5212080" y="5138928"/>
            <a:ext cx="64008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1000</a:t>
            </a:r>
            <a:endParaRPr lang="en-US" sz="1000" dirty="0"/>
          </a:p>
        </p:txBody>
      </p:sp>
      <p:sp>
        <p:nvSpPr>
          <p:cNvPr id="18" name="Text 16"/>
          <p:cNvSpPr/>
          <p:nvPr/>
        </p:nvSpPr>
        <p:spPr>
          <a:xfrm>
            <a:off x="2148840" y="5321808"/>
            <a:ext cx="338328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speed / m/s (log scale)</a:t>
            </a:r>
            <a:endParaRPr lang="en-US" sz="1050" dirty="0"/>
          </a:p>
        </p:txBody>
      </p:sp>
      <p:sp>
        <p:nvSpPr>
          <p:cNvPr id="19" name="Text 17"/>
          <p:cNvSpPr/>
          <p:nvPr/>
        </p:nvSpPr>
        <p:spPr>
          <a:xfrm>
            <a:off x="548640" y="1463040"/>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walking</a:t>
            </a:r>
            <a:endParaRPr lang="en-US" sz="1050" dirty="0"/>
          </a:p>
        </p:txBody>
      </p:sp>
      <p:sp>
        <p:nvSpPr>
          <p:cNvPr id="20" name="Shape 18"/>
          <p:cNvSpPr/>
          <p:nvPr/>
        </p:nvSpPr>
        <p:spPr>
          <a:xfrm>
            <a:off x="2148840" y="1499616"/>
            <a:ext cx="198589" cy="237744"/>
          </a:xfrm>
          <a:prstGeom prst="rect">
            <a:avLst/>
          </a:prstGeom>
          <a:solidFill>
            <a:srgbClr val="2E5BD8"/>
          </a:solidFill>
          <a:ln/>
        </p:spPr>
      </p:sp>
      <p:sp>
        <p:nvSpPr>
          <p:cNvPr id="21" name="Text 19"/>
          <p:cNvSpPr/>
          <p:nvPr/>
        </p:nvSpPr>
        <p:spPr>
          <a:xfrm>
            <a:off x="2393149" y="1463040"/>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1.5</a:t>
            </a:r>
            <a:endParaRPr lang="en-US" sz="1050" dirty="0"/>
          </a:p>
        </p:txBody>
      </p:sp>
      <p:sp>
        <p:nvSpPr>
          <p:cNvPr id="22" name="Text 20"/>
          <p:cNvSpPr/>
          <p:nvPr/>
        </p:nvSpPr>
        <p:spPr>
          <a:xfrm>
            <a:off x="548640" y="1865376"/>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running</a:t>
            </a:r>
            <a:endParaRPr lang="en-US" sz="1050" dirty="0"/>
          </a:p>
        </p:txBody>
      </p:sp>
      <p:sp>
        <p:nvSpPr>
          <p:cNvPr id="23" name="Shape 21"/>
          <p:cNvSpPr/>
          <p:nvPr/>
        </p:nvSpPr>
        <p:spPr>
          <a:xfrm>
            <a:off x="2148840" y="1901952"/>
            <a:ext cx="538078" cy="237744"/>
          </a:xfrm>
          <a:prstGeom prst="rect">
            <a:avLst/>
          </a:prstGeom>
          <a:solidFill>
            <a:srgbClr val="2E5BD8"/>
          </a:solidFill>
          <a:ln/>
        </p:spPr>
      </p:sp>
      <p:sp>
        <p:nvSpPr>
          <p:cNvPr id="24" name="Text 22"/>
          <p:cNvSpPr/>
          <p:nvPr/>
        </p:nvSpPr>
        <p:spPr>
          <a:xfrm>
            <a:off x="2732638" y="1865376"/>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3</a:t>
            </a:r>
            <a:endParaRPr lang="en-US" sz="1050" dirty="0"/>
          </a:p>
        </p:txBody>
      </p:sp>
      <p:sp>
        <p:nvSpPr>
          <p:cNvPr id="25" name="Text 23"/>
          <p:cNvSpPr/>
          <p:nvPr/>
        </p:nvSpPr>
        <p:spPr>
          <a:xfrm>
            <a:off x="548640" y="2267712"/>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cycling</a:t>
            </a:r>
            <a:endParaRPr lang="en-US" sz="1050" dirty="0"/>
          </a:p>
        </p:txBody>
      </p:sp>
      <p:sp>
        <p:nvSpPr>
          <p:cNvPr id="26" name="Shape 24"/>
          <p:cNvSpPr/>
          <p:nvPr/>
        </p:nvSpPr>
        <p:spPr>
          <a:xfrm>
            <a:off x="2148840" y="2304288"/>
            <a:ext cx="877568" cy="237744"/>
          </a:xfrm>
          <a:prstGeom prst="rect">
            <a:avLst/>
          </a:prstGeom>
          <a:solidFill>
            <a:srgbClr val="2E5BD8"/>
          </a:solidFill>
          <a:ln/>
        </p:spPr>
      </p:sp>
      <p:sp>
        <p:nvSpPr>
          <p:cNvPr id="27" name="Text 25"/>
          <p:cNvSpPr/>
          <p:nvPr/>
        </p:nvSpPr>
        <p:spPr>
          <a:xfrm>
            <a:off x="3072128" y="2267712"/>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6</a:t>
            </a:r>
            <a:endParaRPr lang="en-US" sz="1050" dirty="0"/>
          </a:p>
        </p:txBody>
      </p:sp>
      <p:sp>
        <p:nvSpPr>
          <p:cNvPr id="28" name="Text 26"/>
          <p:cNvSpPr/>
          <p:nvPr/>
        </p:nvSpPr>
        <p:spPr>
          <a:xfrm>
            <a:off x="548640" y="2670048"/>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wind (breeze)</a:t>
            </a:r>
            <a:endParaRPr lang="en-US" sz="1050" dirty="0"/>
          </a:p>
        </p:txBody>
      </p:sp>
      <p:sp>
        <p:nvSpPr>
          <p:cNvPr id="29" name="Shape 27"/>
          <p:cNvSpPr/>
          <p:nvPr/>
        </p:nvSpPr>
        <p:spPr>
          <a:xfrm>
            <a:off x="2148840" y="2706624"/>
            <a:ext cx="788270" cy="237744"/>
          </a:xfrm>
          <a:prstGeom prst="rect">
            <a:avLst/>
          </a:prstGeom>
          <a:solidFill>
            <a:srgbClr val="2E5BD8"/>
          </a:solidFill>
          <a:ln/>
        </p:spPr>
      </p:sp>
      <p:sp>
        <p:nvSpPr>
          <p:cNvPr id="30" name="Text 28"/>
          <p:cNvSpPr/>
          <p:nvPr/>
        </p:nvSpPr>
        <p:spPr>
          <a:xfrm>
            <a:off x="2982830" y="2670048"/>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5</a:t>
            </a:r>
            <a:endParaRPr lang="en-US" sz="1050" dirty="0"/>
          </a:p>
        </p:txBody>
      </p:sp>
      <p:sp>
        <p:nvSpPr>
          <p:cNvPr id="31" name="Text 29"/>
          <p:cNvSpPr/>
          <p:nvPr/>
        </p:nvSpPr>
        <p:spPr>
          <a:xfrm>
            <a:off x="548640" y="3072384"/>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car in town</a:t>
            </a:r>
            <a:endParaRPr lang="en-US" sz="1050" dirty="0"/>
          </a:p>
        </p:txBody>
      </p:sp>
      <p:sp>
        <p:nvSpPr>
          <p:cNvPr id="32" name="Shape 30"/>
          <p:cNvSpPr/>
          <p:nvPr/>
        </p:nvSpPr>
        <p:spPr>
          <a:xfrm>
            <a:off x="2148840" y="3108960"/>
            <a:ext cx="1256261" cy="237744"/>
          </a:xfrm>
          <a:prstGeom prst="rect">
            <a:avLst/>
          </a:prstGeom>
          <a:solidFill>
            <a:srgbClr val="2E5BD8"/>
          </a:solidFill>
          <a:ln/>
        </p:spPr>
      </p:sp>
      <p:sp>
        <p:nvSpPr>
          <p:cNvPr id="33" name="Text 31"/>
          <p:cNvSpPr/>
          <p:nvPr/>
        </p:nvSpPr>
        <p:spPr>
          <a:xfrm>
            <a:off x="3450821" y="3072384"/>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13</a:t>
            </a:r>
            <a:endParaRPr lang="en-US" sz="1050" dirty="0"/>
          </a:p>
        </p:txBody>
      </p:sp>
      <p:sp>
        <p:nvSpPr>
          <p:cNvPr id="34" name="Text 32"/>
          <p:cNvSpPr/>
          <p:nvPr/>
        </p:nvSpPr>
        <p:spPr>
          <a:xfrm>
            <a:off x="548640" y="3474720"/>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car on motorway</a:t>
            </a:r>
            <a:endParaRPr lang="en-US" sz="1050" dirty="0"/>
          </a:p>
        </p:txBody>
      </p:sp>
      <p:sp>
        <p:nvSpPr>
          <p:cNvPr id="35" name="Shape 33"/>
          <p:cNvSpPr/>
          <p:nvPr/>
        </p:nvSpPr>
        <p:spPr>
          <a:xfrm>
            <a:off x="2148840" y="3511296"/>
            <a:ext cx="1681898" cy="237744"/>
          </a:xfrm>
          <a:prstGeom prst="rect">
            <a:avLst/>
          </a:prstGeom>
          <a:solidFill>
            <a:srgbClr val="2E5BD8"/>
          </a:solidFill>
          <a:ln/>
        </p:spPr>
      </p:sp>
      <p:sp>
        <p:nvSpPr>
          <p:cNvPr id="36" name="Text 34"/>
          <p:cNvSpPr/>
          <p:nvPr/>
        </p:nvSpPr>
        <p:spPr>
          <a:xfrm>
            <a:off x="3876458" y="3474720"/>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31</a:t>
            </a:r>
            <a:endParaRPr lang="en-US" sz="1050" dirty="0"/>
          </a:p>
        </p:txBody>
      </p:sp>
      <p:sp>
        <p:nvSpPr>
          <p:cNvPr id="37" name="Text 35"/>
          <p:cNvSpPr/>
          <p:nvPr/>
        </p:nvSpPr>
        <p:spPr>
          <a:xfrm>
            <a:off x="548640" y="3877056"/>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fast train</a:t>
            </a:r>
            <a:endParaRPr lang="en-US" sz="1050" dirty="0"/>
          </a:p>
        </p:txBody>
      </p:sp>
      <p:sp>
        <p:nvSpPr>
          <p:cNvPr id="38" name="Shape 36"/>
          <p:cNvSpPr/>
          <p:nvPr/>
        </p:nvSpPr>
        <p:spPr>
          <a:xfrm>
            <a:off x="2148840" y="3913632"/>
            <a:ext cx="1962711" cy="237744"/>
          </a:xfrm>
          <a:prstGeom prst="rect">
            <a:avLst/>
          </a:prstGeom>
          <a:solidFill>
            <a:srgbClr val="2E5BD8"/>
          </a:solidFill>
          <a:ln/>
        </p:spPr>
      </p:sp>
      <p:sp>
        <p:nvSpPr>
          <p:cNvPr id="39" name="Text 37"/>
          <p:cNvSpPr/>
          <p:nvPr/>
        </p:nvSpPr>
        <p:spPr>
          <a:xfrm>
            <a:off x="4157271" y="3877056"/>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55</a:t>
            </a:r>
            <a:endParaRPr lang="en-US" sz="1050" dirty="0"/>
          </a:p>
        </p:txBody>
      </p:sp>
      <p:sp>
        <p:nvSpPr>
          <p:cNvPr id="40" name="Text 38"/>
          <p:cNvSpPr/>
          <p:nvPr/>
        </p:nvSpPr>
        <p:spPr>
          <a:xfrm>
            <a:off x="548640" y="4279392"/>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aeroplane</a:t>
            </a:r>
            <a:endParaRPr lang="en-US" sz="1050" dirty="0"/>
          </a:p>
        </p:txBody>
      </p:sp>
      <p:sp>
        <p:nvSpPr>
          <p:cNvPr id="41" name="Shape 39"/>
          <p:cNvSpPr/>
          <p:nvPr/>
        </p:nvSpPr>
        <p:spPr>
          <a:xfrm>
            <a:off x="2148840" y="4315968"/>
            <a:ext cx="2704301" cy="237744"/>
          </a:xfrm>
          <a:prstGeom prst="rect">
            <a:avLst/>
          </a:prstGeom>
          <a:solidFill>
            <a:srgbClr val="2E5BD8"/>
          </a:solidFill>
          <a:ln/>
        </p:spPr>
      </p:sp>
      <p:sp>
        <p:nvSpPr>
          <p:cNvPr id="42" name="Text 40"/>
          <p:cNvSpPr/>
          <p:nvPr/>
        </p:nvSpPr>
        <p:spPr>
          <a:xfrm>
            <a:off x="4898861" y="4279392"/>
            <a:ext cx="5486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250</a:t>
            </a:r>
            <a:endParaRPr lang="en-US" sz="1050" dirty="0"/>
          </a:p>
        </p:txBody>
      </p:sp>
      <p:sp>
        <p:nvSpPr>
          <p:cNvPr id="43" name="Text 41"/>
          <p:cNvSpPr/>
          <p:nvPr/>
        </p:nvSpPr>
        <p:spPr>
          <a:xfrm>
            <a:off x="548640" y="4681728"/>
            <a:ext cx="15544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sound in air</a:t>
            </a:r>
            <a:endParaRPr lang="en-US" sz="1050" dirty="0"/>
          </a:p>
        </p:txBody>
      </p:sp>
      <p:sp>
        <p:nvSpPr>
          <p:cNvPr id="44" name="Shape 42"/>
          <p:cNvSpPr/>
          <p:nvPr/>
        </p:nvSpPr>
        <p:spPr>
          <a:xfrm>
            <a:off x="2148840" y="4718304"/>
            <a:ext cx="2840279" cy="237744"/>
          </a:xfrm>
          <a:prstGeom prst="rect">
            <a:avLst/>
          </a:prstGeom>
          <a:solidFill>
            <a:srgbClr val="C8414C"/>
          </a:solidFill>
          <a:ln/>
        </p:spPr>
      </p:sp>
      <p:sp>
        <p:nvSpPr>
          <p:cNvPr id="45" name="Text 43"/>
          <p:cNvSpPr/>
          <p:nvPr/>
        </p:nvSpPr>
        <p:spPr>
          <a:xfrm>
            <a:off x="5034839" y="4681728"/>
            <a:ext cx="5486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330</a:t>
            </a:r>
            <a:endParaRPr lang="en-US" sz="1050" dirty="0"/>
          </a:p>
        </p:txBody>
      </p:sp>
      <p:sp>
        <p:nvSpPr>
          <p:cNvPr id="46" name="Shape 44"/>
          <p:cNvSpPr/>
          <p:nvPr/>
        </p:nvSpPr>
        <p:spPr>
          <a:xfrm>
            <a:off x="6217920" y="1188720"/>
            <a:ext cx="5559552" cy="2286000"/>
          </a:xfrm>
          <a:prstGeom prst="roundRect">
            <a:avLst>
              <a:gd name="adj" fmla="val 2400"/>
            </a:avLst>
          </a:prstGeom>
          <a:solidFill>
            <a:srgbClr val="F5F8FE"/>
          </a:solidFill>
          <a:ln w="9525">
            <a:solidFill>
              <a:srgbClr val="D5DCEB"/>
            </a:solidFill>
            <a:prstDash val="solid"/>
          </a:ln>
        </p:spPr>
      </p:sp>
      <p:sp>
        <p:nvSpPr>
          <p:cNvPr id="47" name="Text 45"/>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Typical speeds to recall (m/s)</a:t>
            </a:r>
            <a:endParaRPr lang="en-US" sz="1300" dirty="0"/>
          </a:p>
        </p:txBody>
      </p:sp>
      <p:sp>
        <p:nvSpPr>
          <p:cNvPr id="48" name="Text 46"/>
          <p:cNvSpPr/>
          <p:nvPr/>
        </p:nvSpPr>
        <p:spPr>
          <a:xfrm>
            <a:off x="6382512" y="1609344"/>
            <a:ext cx="5230368" cy="17922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walking ≈ </a:t>
            </a:r>
            <a:r>
              <a:rPr lang="en-US" sz="1150" b="1" dirty="0">
                <a:solidFill>
                  <a:srgbClr val="262B3A"/>
                </a:solidFill>
                <a:latin typeface="Calibri" pitchFamily="34" charset="0"/>
                <a:ea typeface="Calibri" pitchFamily="34" charset="-122"/>
                <a:cs typeface="Calibri" pitchFamily="34" charset="-120"/>
              </a:rPr>
              <a:t>1.5</a:t>
            </a:r>
            <a:r>
              <a:rPr lang="en-US" sz="1150" dirty="0">
                <a:solidFill>
                  <a:srgbClr val="262B3A"/>
                </a:solidFill>
                <a:latin typeface="Calibri" pitchFamily="34" charset="0"/>
                <a:ea typeface="Calibri" pitchFamily="34" charset="-122"/>
                <a:cs typeface="Calibri" pitchFamily="34" charset="-120"/>
              </a:rPr>
              <a:t> • running ≈ </a:t>
            </a:r>
            <a:r>
              <a:rPr lang="en-US" sz="1150" b="1" dirty="0">
                <a:solidFill>
                  <a:srgbClr val="262B3A"/>
                </a:solidFill>
                <a:latin typeface="Calibri" pitchFamily="34" charset="0"/>
                <a:ea typeface="Calibri" pitchFamily="34" charset="-122"/>
                <a:cs typeface="Calibri" pitchFamily="34" charset="-120"/>
              </a:rPr>
              <a:t>3</a:t>
            </a:r>
            <a:r>
              <a:rPr lang="en-US" sz="1150" dirty="0">
                <a:solidFill>
                  <a:srgbClr val="262B3A"/>
                </a:solidFill>
                <a:latin typeface="Calibri" pitchFamily="34" charset="0"/>
                <a:ea typeface="Calibri" pitchFamily="34" charset="-122"/>
                <a:cs typeface="Calibri" pitchFamily="34" charset="-120"/>
              </a:rPr>
              <a:t> • cycling ≈ </a:t>
            </a:r>
            <a:r>
              <a:rPr lang="en-US" sz="1150" b="1" dirty="0">
                <a:solidFill>
                  <a:srgbClr val="262B3A"/>
                </a:solidFill>
                <a:latin typeface="Calibri" pitchFamily="34" charset="0"/>
                <a:ea typeface="Calibri" pitchFamily="34" charset="-122"/>
                <a:cs typeface="Calibri" pitchFamily="34" charset="-120"/>
              </a:rPr>
              <a:t>6</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car: town ≈ </a:t>
            </a:r>
            <a:r>
              <a:rPr lang="en-US" sz="1150" b="1" dirty="0">
                <a:solidFill>
                  <a:srgbClr val="262B3A"/>
                </a:solidFill>
                <a:latin typeface="Calibri" pitchFamily="34" charset="0"/>
                <a:ea typeface="Calibri" pitchFamily="34" charset="-122"/>
                <a:cs typeface="Calibri" pitchFamily="34" charset="-120"/>
              </a:rPr>
              <a:t>13</a:t>
            </a:r>
            <a:r>
              <a:rPr lang="en-US" sz="1150" dirty="0">
                <a:solidFill>
                  <a:srgbClr val="262B3A"/>
                </a:solidFill>
                <a:latin typeface="Calibri" pitchFamily="34" charset="0"/>
                <a:ea typeface="Calibri" pitchFamily="34" charset="-122"/>
                <a:cs typeface="Calibri" pitchFamily="34" charset="-120"/>
              </a:rPr>
              <a:t>, motorway ≈ </a:t>
            </a:r>
            <a:r>
              <a:rPr lang="en-US" sz="1150" b="1" dirty="0">
                <a:solidFill>
                  <a:srgbClr val="262B3A"/>
                </a:solidFill>
                <a:latin typeface="Calibri" pitchFamily="34" charset="0"/>
                <a:ea typeface="Calibri" pitchFamily="34" charset="-122"/>
                <a:cs typeface="Calibri" pitchFamily="34" charset="-120"/>
              </a:rPr>
              <a:t>31</a:t>
            </a:r>
            <a:r>
              <a:rPr lang="en-US" sz="1150" dirty="0">
                <a:solidFill>
                  <a:srgbClr val="262B3A"/>
                </a:solidFill>
                <a:latin typeface="Calibri" pitchFamily="34" charset="0"/>
                <a:ea typeface="Calibri" pitchFamily="34" charset="-122"/>
                <a:cs typeface="Calibri" pitchFamily="34" charset="-120"/>
              </a:rPr>
              <a:t> (70 mph) • train up to ≈ </a:t>
            </a:r>
            <a:r>
              <a:rPr lang="en-US" sz="1150" b="1" dirty="0">
                <a:solidFill>
                  <a:srgbClr val="262B3A"/>
                </a:solidFill>
                <a:latin typeface="Calibri" pitchFamily="34" charset="0"/>
                <a:ea typeface="Calibri" pitchFamily="34" charset="-122"/>
                <a:cs typeface="Calibri" pitchFamily="34" charset="-120"/>
              </a:rPr>
              <a:t>55</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wind ≈ </a:t>
            </a:r>
            <a:r>
              <a:rPr lang="en-US" sz="1150" b="1" dirty="0">
                <a:solidFill>
                  <a:srgbClr val="262B3A"/>
                </a:solidFill>
                <a:latin typeface="Calibri" pitchFamily="34" charset="0"/>
                <a:ea typeface="Calibri" pitchFamily="34" charset="-122"/>
                <a:cs typeface="Calibri" pitchFamily="34" charset="-120"/>
              </a:rPr>
              <a:t>5–20</a:t>
            </a:r>
            <a:r>
              <a:rPr lang="en-US" sz="1150" dirty="0">
                <a:solidFill>
                  <a:srgbClr val="262B3A"/>
                </a:solidFill>
                <a:latin typeface="Calibri" pitchFamily="34" charset="0"/>
                <a:ea typeface="Calibri" pitchFamily="34" charset="-122"/>
                <a:cs typeface="Calibri" pitchFamily="34" charset="-120"/>
              </a:rPr>
              <a:t> • aeroplane ≈ </a:t>
            </a:r>
            <a:r>
              <a:rPr lang="en-US" sz="1150" b="1" dirty="0">
                <a:solidFill>
                  <a:srgbClr val="262B3A"/>
                </a:solidFill>
                <a:latin typeface="Calibri" pitchFamily="34" charset="0"/>
                <a:ea typeface="Calibri" pitchFamily="34" charset="-122"/>
                <a:cs typeface="Calibri" pitchFamily="34" charset="-120"/>
              </a:rPr>
              <a:t>250</a:t>
            </a:r>
            <a:r>
              <a:rPr lang="en-US" sz="1150" dirty="0">
                <a:solidFill>
                  <a:srgbClr val="262B3A"/>
                </a:solidFill>
                <a:latin typeface="Calibri" pitchFamily="34" charset="0"/>
                <a:ea typeface="Calibri" pitchFamily="34" charset="-122"/>
                <a:cs typeface="Calibri" pitchFamily="34" charset="-120"/>
              </a:rPr>
              <a:t> • sound in air ≈ </a:t>
            </a:r>
            <a:r>
              <a:rPr lang="en-US" sz="1150" b="1" dirty="0">
                <a:solidFill>
                  <a:srgbClr val="262B3A"/>
                </a:solidFill>
                <a:latin typeface="Calibri" pitchFamily="34" charset="0"/>
                <a:ea typeface="Calibri" pitchFamily="34" charset="-122"/>
                <a:cs typeface="Calibri" pitchFamily="34" charset="-120"/>
              </a:rPr>
              <a:t>330</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Speeds vary: e.g. wind speed and a person’s walking speed change from moment to moment.</a:t>
            </a:r>
            <a:endParaRPr lang="en-US" sz="1150" dirty="0"/>
          </a:p>
        </p:txBody>
      </p:sp>
      <p:sp>
        <p:nvSpPr>
          <p:cNvPr id="49" name="Shape 47"/>
          <p:cNvSpPr/>
          <p:nvPr/>
        </p:nvSpPr>
        <p:spPr>
          <a:xfrm>
            <a:off x="6217920" y="3611880"/>
            <a:ext cx="5559552" cy="2103120"/>
          </a:xfrm>
          <a:prstGeom prst="roundRect">
            <a:avLst>
              <a:gd name="adj" fmla="val 2609"/>
            </a:avLst>
          </a:prstGeom>
          <a:solidFill>
            <a:srgbClr val="FFF4E0"/>
          </a:solidFill>
          <a:ln w="9525">
            <a:solidFill>
              <a:srgbClr val="D5DCEB"/>
            </a:solidFill>
            <a:prstDash val="solid"/>
          </a:ln>
        </p:spPr>
      </p:sp>
      <p:sp>
        <p:nvSpPr>
          <p:cNvPr id="50" name="Text 48"/>
          <p:cNvSpPr/>
          <p:nvPr/>
        </p:nvSpPr>
        <p:spPr>
          <a:xfrm>
            <a:off x="6382512" y="370332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Accelerations to estimate</a:t>
            </a:r>
            <a:endParaRPr lang="en-US" sz="1300" dirty="0"/>
          </a:p>
        </p:txBody>
      </p:sp>
      <p:sp>
        <p:nvSpPr>
          <p:cNvPr id="51" name="Text 49"/>
          <p:cNvSpPr/>
          <p:nvPr/>
        </p:nvSpPr>
        <p:spPr>
          <a:xfrm>
            <a:off x="6382512" y="4032504"/>
            <a:ext cx="5230368" cy="16093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Free fall (no air resistance): </a:t>
            </a:r>
            <a:r>
              <a:rPr lang="en-US" sz="1150" b="1" dirty="0">
                <a:solidFill>
                  <a:srgbClr val="262B3A"/>
                </a:solidFill>
                <a:latin typeface="Calibri" pitchFamily="34" charset="0"/>
                <a:ea typeface="Calibri" pitchFamily="34" charset="-122"/>
                <a:cs typeface="Calibri" pitchFamily="34" charset="-120"/>
              </a:rPr>
              <a:t>g = 10 m/s²</a:t>
            </a:r>
            <a:r>
              <a:rPr lang="en-US" sz="1150" dirty="0">
                <a:solidFill>
                  <a:srgbClr val="262B3A"/>
                </a:solidFill>
                <a:latin typeface="Calibri" pitchFamily="34" charset="0"/>
                <a:ea typeface="Calibri" pitchFamily="34" charset="-122"/>
                <a:cs typeface="Calibri" pitchFamily="34" charset="-120"/>
              </a:rPr>
              <a:t> (RECALL).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car pulling away: about </a:t>
            </a:r>
            <a:r>
              <a:rPr lang="en-US" sz="1150" b="1" dirty="0">
                <a:solidFill>
                  <a:srgbClr val="262B3A"/>
                </a:solidFill>
                <a:latin typeface="Calibri" pitchFamily="34" charset="0"/>
                <a:ea typeface="Calibri" pitchFamily="34" charset="-122"/>
                <a:cs typeface="Calibri" pitchFamily="34" charset="-120"/>
              </a:rPr>
              <a:t>2–3 m/s²</a:t>
            </a:r>
            <a:r>
              <a:rPr lang="en-US" sz="1150" dirty="0">
                <a:solidFill>
                  <a:srgbClr val="262B3A"/>
                </a:solidFill>
                <a:latin typeface="Calibri" pitchFamily="34" charset="0"/>
                <a:ea typeface="Calibri" pitchFamily="34" charset="-122"/>
                <a:cs typeface="Calibri" pitchFamily="34" charset="-120"/>
              </a:rPr>
              <a:t>; a sprinter’s start: about </a:t>
            </a:r>
            <a:r>
              <a:rPr lang="en-US" sz="1150" b="1" dirty="0">
                <a:solidFill>
                  <a:srgbClr val="262B3A"/>
                </a:solidFill>
                <a:latin typeface="Calibri" pitchFamily="34" charset="0"/>
                <a:ea typeface="Calibri" pitchFamily="34" charset="-122"/>
                <a:cs typeface="Calibri" pitchFamily="34" charset="-120"/>
              </a:rPr>
              <a:t>5 m/s²</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Emergency stop in a car: about </a:t>
            </a:r>
            <a:r>
              <a:rPr lang="en-US" sz="1150" b="1" dirty="0">
                <a:solidFill>
                  <a:srgbClr val="262B3A"/>
                </a:solidFill>
                <a:latin typeface="Calibri" pitchFamily="34" charset="0"/>
                <a:ea typeface="Calibri" pitchFamily="34" charset="-122"/>
                <a:cs typeface="Calibri" pitchFamily="34" charset="-120"/>
              </a:rPr>
              <a:t>−7 m/s²</a:t>
            </a:r>
            <a:r>
              <a:rPr lang="en-US" sz="1150" dirty="0">
                <a:solidFill>
                  <a:srgbClr val="262B3A"/>
                </a:solidFill>
                <a:latin typeface="Calibri" pitchFamily="34" charset="0"/>
                <a:ea typeface="Calibri" pitchFamily="34" charset="-122"/>
                <a:cs typeface="Calibri" pitchFamily="34" charset="-120"/>
              </a:rPr>
              <a:t>. A crash: hundreds of m/s².</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a falling object gains about </a:t>
            </a:r>
            <a:r>
              <a:rPr lang="en-US" sz="1150" b="1" dirty="0">
                <a:solidFill>
                  <a:srgbClr val="262B3A"/>
                </a:solidFill>
                <a:latin typeface="Calibri" pitchFamily="34" charset="0"/>
                <a:ea typeface="Calibri" pitchFamily="34" charset="-122"/>
                <a:cs typeface="Calibri" pitchFamily="34" charset="-120"/>
              </a:rPr>
              <a:t>10 m/s every second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Estimate how long it takes to walk 1 km. A stone falls from rest for 2.0 s: estimate its speed (ignore air resistance).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2.9, 2.11–2.13 • v² − u² = 2ax, measuring speed, typical values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stone is dropped from rest and falls </a:t>
            </a:r>
            <a:r>
              <a:rPr lang="en-US" sz="1250" b="1" dirty="0">
                <a:solidFill>
                  <a:srgbClr val="262B3A"/>
                </a:solidFill>
                <a:latin typeface="Calibri" pitchFamily="34" charset="0"/>
                <a:ea typeface="Calibri" pitchFamily="34" charset="-122"/>
                <a:cs typeface="Calibri" pitchFamily="34" charset="-120"/>
              </a:rPr>
              <a:t>20 m</a:t>
            </a:r>
            <a:r>
              <a:rPr lang="en-US" sz="1250" dirty="0">
                <a:solidFill>
                  <a:srgbClr val="262B3A"/>
                </a:solidFill>
                <a:latin typeface="Calibri" pitchFamily="34" charset="0"/>
                <a:ea typeface="Calibri" pitchFamily="34" charset="-122"/>
                <a:cs typeface="Calibri" pitchFamily="34" charset="-120"/>
              </a:rPr>
              <a:t>. Calculate its speed just before it hits the ground. Use v² − u² = 2 × a × x and g = 10 m/s².</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 typical value for the speed of (i) a person walking and (ii) sound in air.</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light gate gives a more accurate time than a stopwatch for a fast-moving trolley.</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Newton’s first law</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2.14 • resultant force zero or not zero (free body diagrams: see Topic 9)</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2.14  |  17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free body diagrams of a car; arrow lengths to scale (1 cm ≈ 1000 N)</a:t>
            </a:r>
            <a:endParaRPr lang="en-US" sz="1000" dirty="0"/>
          </a:p>
        </p:txBody>
      </p:sp>
      <p:sp>
        <p:nvSpPr>
          <p:cNvPr id="10" name="Text 8"/>
          <p:cNvSpPr/>
          <p:nvPr/>
        </p:nvSpPr>
        <p:spPr>
          <a:xfrm>
            <a:off x="594360" y="1298448"/>
            <a:ext cx="5120640" cy="25603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A  Balanced: constant velocity</a:t>
            </a:r>
            <a:endParaRPr lang="en-US" sz="1200" dirty="0"/>
          </a:p>
        </p:txBody>
      </p:sp>
      <p:sp>
        <p:nvSpPr>
          <p:cNvPr id="11" name="Shape 9"/>
          <p:cNvSpPr/>
          <p:nvPr/>
        </p:nvSpPr>
        <p:spPr>
          <a:xfrm>
            <a:off x="2723083" y="2028139"/>
            <a:ext cx="804672" cy="248717"/>
          </a:xfrm>
          <a:prstGeom prst="roundRect">
            <a:avLst>
              <a:gd name="adj" fmla="val 29412"/>
            </a:avLst>
          </a:prstGeom>
          <a:solidFill>
            <a:srgbClr val="2E5BD8"/>
          </a:solidFill>
          <a:ln w="12700">
            <a:solidFill>
              <a:srgbClr val="1F2A4A"/>
            </a:solidFill>
            <a:prstDash val="solid"/>
          </a:ln>
        </p:spPr>
      </p:sp>
      <p:sp>
        <p:nvSpPr>
          <p:cNvPr id="12" name="Shape 10"/>
          <p:cNvSpPr/>
          <p:nvPr/>
        </p:nvSpPr>
        <p:spPr>
          <a:xfrm>
            <a:off x="2768803" y="2064715"/>
            <a:ext cx="713232" cy="193853"/>
          </a:xfrm>
          <a:prstGeom prst="roundRect">
            <a:avLst>
              <a:gd name="adj" fmla="val 23585"/>
            </a:avLst>
          </a:prstGeom>
          <a:solidFill>
            <a:srgbClr val="DCE8FA"/>
          </a:solidFill>
          <a:ln/>
        </p:spPr>
      </p:sp>
      <p:sp>
        <p:nvSpPr>
          <p:cNvPr id="13" name="Shape 11"/>
          <p:cNvSpPr/>
          <p:nvPr/>
        </p:nvSpPr>
        <p:spPr>
          <a:xfrm>
            <a:off x="2240280" y="2258568"/>
            <a:ext cx="1463040" cy="321869"/>
          </a:xfrm>
          <a:prstGeom prst="roundRect">
            <a:avLst>
              <a:gd name="adj" fmla="val 17045"/>
            </a:avLst>
          </a:prstGeom>
          <a:solidFill>
            <a:srgbClr val="2E5BD8"/>
          </a:solidFill>
          <a:ln w="12700">
            <a:solidFill>
              <a:srgbClr val="1F2A4A"/>
            </a:solidFill>
            <a:prstDash val="solid"/>
          </a:ln>
        </p:spPr>
      </p:sp>
      <p:sp>
        <p:nvSpPr>
          <p:cNvPr id="14" name="Shape 12"/>
          <p:cNvSpPr/>
          <p:nvPr/>
        </p:nvSpPr>
        <p:spPr>
          <a:xfrm>
            <a:off x="2415845" y="2463394"/>
            <a:ext cx="234086" cy="234086"/>
          </a:xfrm>
          <a:prstGeom prst="ellipse">
            <a:avLst/>
          </a:prstGeom>
          <a:solidFill>
            <a:srgbClr val="2A2F3A"/>
          </a:solidFill>
          <a:ln w="9525">
            <a:solidFill>
              <a:srgbClr val="1F2430"/>
            </a:solidFill>
            <a:prstDash val="solid"/>
          </a:ln>
        </p:spPr>
      </p:sp>
      <p:sp>
        <p:nvSpPr>
          <p:cNvPr id="15" name="Shape 13"/>
          <p:cNvSpPr/>
          <p:nvPr/>
        </p:nvSpPr>
        <p:spPr>
          <a:xfrm>
            <a:off x="3293669" y="2463394"/>
            <a:ext cx="234086" cy="234086"/>
          </a:xfrm>
          <a:prstGeom prst="ellipse">
            <a:avLst/>
          </a:prstGeom>
          <a:solidFill>
            <a:srgbClr val="2A2F3A"/>
          </a:solidFill>
          <a:ln w="9525">
            <a:solidFill>
              <a:srgbClr val="1F2430"/>
            </a:solidFill>
            <a:prstDash val="solid"/>
          </a:ln>
        </p:spPr>
      </p:sp>
      <p:sp>
        <p:nvSpPr>
          <p:cNvPr id="16" name="Shape 14"/>
          <p:cNvSpPr/>
          <p:nvPr/>
        </p:nvSpPr>
        <p:spPr>
          <a:xfrm>
            <a:off x="3703320" y="2419502"/>
            <a:ext cx="731520" cy="91"/>
          </a:xfrm>
          <a:prstGeom prst="line">
            <a:avLst/>
          </a:prstGeom>
          <a:noFill/>
          <a:ln w="38100">
            <a:solidFill>
              <a:srgbClr val="2E8B57"/>
            </a:solidFill>
            <a:prstDash val="solid"/>
            <a:tailEnd type="triangle"/>
          </a:ln>
        </p:spPr>
      </p:sp>
      <p:sp>
        <p:nvSpPr>
          <p:cNvPr id="17" name="Text 15"/>
          <p:cNvSpPr/>
          <p:nvPr/>
        </p:nvSpPr>
        <p:spPr>
          <a:xfrm>
            <a:off x="4480560" y="2282342"/>
            <a:ext cx="1280160" cy="274320"/>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driving 2000 N</a:t>
            </a:r>
            <a:endParaRPr lang="en-US" sz="1100" dirty="0"/>
          </a:p>
        </p:txBody>
      </p:sp>
      <p:sp>
        <p:nvSpPr>
          <p:cNvPr id="18" name="Shape 16"/>
          <p:cNvSpPr/>
          <p:nvPr/>
        </p:nvSpPr>
        <p:spPr>
          <a:xfrm flipH="1">
            <a:off x="1508760" y="2419502"/>
            <a:ext cx="731520" cy="91"/>
          </a:xfrm>
          <a:prstGeom prst="line">
            <a:avLst/>
          </a:prstGeom>
          <a:noFill/>
          <a:ln w="38100">
            <a:solidFill>
              <a:srgbClr val="C8414C"/>
            </a:solidFill>
            <a:prstDash val="solid"/>
            <a:tailEnd type="triangle"/>
          </a:ln>
        </p:spPr>
      </p:sp>
      <p:sp>
        <p:nvSpPr>
          <p:cNvPr id="19" name="Text 17"/>
          <p:cNvSpPr/>
          <p:nvPr/>
        </p:nvSpPr>
        <p:spPr>
          <a:xfrm>
            <a:off x="0" y="2282342"/>
            <a:ext cx="146304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drag + friction 2000 N</a:t>
            </a:r>
            <a:endParaRPr lang="en-US" sz="1100" dirty="0"/>
          </a:p>
        </p:txBody>
      </p:sp>
      <p:sp>
        <p:nvSpPr>
          <p:cNvPr id="20" name="Text 18"/>
          <p:cNvSpPr/>
          <p:nvPr/>
        </p:nvSpPr>
        <p:spPr>
          <a:xfrm>
            <a:off x="594360" y="3108960"/>
            <a:ext cx="512064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resultant = 0 N → no change in velocity</a:t>
            </a:r>
            <a:endParaRPr lang="en-US" sz="1100" dirty="0"/>
          </a:p>
        </p:txBody>
      </p:sp>
      <p:sp>
        <p:nvSpPr>
          <p:cNvPr id="21" name="Text 19"/>
          <p:cNvSpPr/>
          <p:nvPr/>
        </p:nvSpPr>
        <p:spPr>
          <a:xfrm>
            <a:off x="594360" y="3520440"/>
            <a:ext cx="5120640" cy="256032"/>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B  Unbalanced: accelerating</a:t>
            </a:r>
            <a:endParaRPr lang="en-US" sz="1200" dirty="0"/>
          </a:p>
        </p:txBody>
      </p:sp>
      <p:sp>
        <p:nvSpPr>
          <p:cNvPr id="22" name="Shape 20"/>
          <p:cNvSpPr/>
          <p:nvPr/>
        </p:nvSpPr>
        <p:spPr>
          <a:xfrm>
            <a:off x="2723083" y="4222699"/>
            <a:ext cx="804672" cy="248717"/>
          </a:xfrm>
          <a:prstGeom prst="roundRect">
            <a:avLst>
              <a:gd name="adj" fmla="val 29412"/>
            </a:avLst>
          </a:prstGeom>
          <a:solidFill>
            <a:srgbClr val="2E5BD8"/>
          </a:solidFill>
          <a:ln w="12700">
            <a:solidFill>
              <a:srgbClr val="1F2A4A"/>
            </a:solidFill>
            <a:prstDash val="solid"/>
          </a:ln>
        </p:spPr>
      </p:sp>
      <p:sp>
        <p:nvSpPr>
          <p:cNvPr id="23" name="Shape 21"/>
          <p:cNvSpPr/>
          <p:nvPr/>
        </p:nvSpPr>
        <p:spPr>
          <a:xfrm>
            <a:off x="2768803" y="4259275"/>
            <a:ext cx="713232" cy="193853"/>
          </a:xfrm>
          <a:prstGeom prst="roundRect">
            <a:avLst>
              <a:gd name="adj" fmla="val 23585"/>
            </a:avLst>
          </a:prstGeom>
          <a:solidFill>
            <a:srgbClr val="DCE8FA"/>
          </a:solidFill>
          <a:ln/>
        </p:spPr>
      </p:sp>
      <p:sp>
        <p:nvSpPr>
          <p:cNvPr id="24" name="Shape 22"/>
          <p:cNvSpPr/>
          <p:nvPr/>
        </p:nvSpPr>
        <p:spPr>
          <a:xfrm>
            <a:off x="2240280" y="4453128"/>
            <a:ext cx="1463040" cy="321869"/>
          </a:xfrm>
          <a:prstGeom prst="roundRect">
            <a:avLst>
              <a:gd name="adj" fmla="val 17045"/>
            </a:avLst>
          </a:prstGeom>
          <a:solidFill>
            <a:srgbClr val="2E5BD8"/>
          </a:solidFill>
          <a:ln w="12700">
            <a:solidFill>
              <a:srgbClr val="1F2A4A"/>
            </a:solidFill>
            <a:prstDash val="solid"/>
          </a:ln>
        </p:spPr>
      </p:sp>
      <p:sp>
        <p:nvSpPr>
          <p:cNvPr id="25" name="Shape 23"/>
          <p:cNvSpPr/>
          <p:nvPr/>
        </p:nvSpPr>
        <p:spPr>
          <a:xfrm>
            <a:off x="2415845" y="4657954"/>
            <a:ext cx="234086" cy="234086"/>
          </a:xfrm>
          <a:prstGeom prst="ellipse">
            <a:avLst/>
          </a:prstGeom>
          <a:solidFill>
            <a:srgbClr val="2A2F3A"/>
          </a:solidFill>
          <a:ln w="9525">
            <a:solidFill>
              <a:srgbClr val="1F2430"/>
            </a:solidFill>
            <a:prstDash val="solid"/>
          </a:ln>
        </p:spPr>
      </p:sp>
      <p:sp>
        <p:nvSpPr>
          <p:cNvPr id="26" name="Shape 24"/>
          <p:cNvSpPr/>
          <p:nvPr/>
        </p:nvSpPr>
        <p:spPr>
          <a:xfrm>
            <a:off x="3293669" y="4657954"/>
            <a:ext cx="234086" cy="234086"/>
          </a:xfrm>
          <a:prstGeom prst="ellipse">
            <a:avLst/>
          </a:prstGeom>
          <a:solidFill>
            <a:srgbClr val="2A2F3A"/>
          </a:solidFill>
          <a:ln w="9525">
            <a:solidFill>
              <a:srgbClr val="1F2430"/>
            </a:solidFill>
            <a:prstDash val="solid"/>
          </a:ln>
        </p:spPr>
      </p:sp>
      <p:sp>
        <p:nvSpPr>
          <p:cNvPr id="27" name="Shape 25"/>
          <p:cNvSpPr/>
          <p:nvPr/>
        </p:nvSpPr>
        <p:spPr>
          <a:xfrm>
            <a:off x="3703320" y="4614062"/>
            <a:ext cx="1316736" cy="91"/>
          </a:xfrm>
          <a:prstGeom prst="line">
            <a:avLst/>
          </a:prstGeom>
          <a:noFill/>
          <a:ln w="38100">
            <a:solidFill>
              <a:srgbClr val="2E8B57"/>
            </a:solidFill>
            <a:prstDash val="solid"/>
            <a:tailEnd type="triangle"/>
          </a:ln>
        </p:spPr>
      </p:sp>
      <p:sp>
        <p:nvSpPr>
          <p:cNvPr id="28" name="Text 26"/>
          <p:cNvSpPr/>
          <p:nvPr/>
        </p:nvSpPr>
        <p:spPr>
          <a:xfrm>
            <a:off x="5065776" y="4476902"/>
            <a:ext cx="1280160" cy="274320"/>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driving 3600 N</a:t>
            </a:r>
            <a:endParaRPr lang="en-US" sz="1100" dirty="0"/>
          </a:p>
        </p:txBody>
      </p:sp>
      <p:sp>
        <p:nvSpPr>
          <p:cNvPr id="29" name="Shape 27"/>
          <p:cNvSpPr/>
          <p:nvPr/>
        </p:nvSpPr>
        <p:spPr>
          <a:xfrm flipH="1">
            <a:off x="2020824" y="4614062"/>
            <a:ext cx="219456" cy="91"/>
          </a:xfrm>
          <a:prstGeom prst="line">
            <a:avLst/>
          </a:prstGeom>
          <a:noFill/>
          <a:ln w="38100">
            <a:solidFill>
              <a:srgbClr val="C8414C"/>
            </a:solidFill>
            <a:prstDash val="solid"/>
            <a:tailEnd type="triangle"/>
          </a:ln>
        </p:spPr>
      </p:sp>
      <p:sp>
        <p:nvSpPr>
          <p:cNvPr id="30" name="Text 28"/>
          <p:cNvSpPr/>
          <p:nvPr/>
        </p:nvSpPr>
        <p:spPr>
          <a:xfrm>
            <a:off x="1426464" y="4476902"/>
            <a:ext cx="54864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600 N</a:t>
            </a:r>
            <a:endParaRPr lang="en-US" sz="1100" dirty="0"/>
          </a:p>
        </p:txBody>
      </p:sp>
      <p:sp>
        <p:nvSpPr>
          <p:cNvPr id="31" name="Text 29"/>
          <p:cNvSpPr/>
          <p:nvPr/>
        </p:nvSpPr>
        <p:spPr>
          <a:xfrm>
            <a:off x="594360" y="5074920"/>
            <a:ext cx="512064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resultant = 3000 N forwards → speeds up</a:t>
            </a:r>
            <a:endParaRPr lang="en-US" sz="1100" dirty="0"/>
          </a:p>
        </p:txBody>
      </p:sp>
      <p:sp>
        <p:nvSpPr>
          <p:cNvPr id="32" name="Shape 3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Newton’s first law</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the </a:t>
            </a:r>
            <a:r>
              <a:rPr lang="en-US" sz="1150" b="1" dirty="0">
                <a:solidFill>
                  <a:srgbClr val="262B3A"/>
                </a:solidFill>
                <a:latin typeface="Calibri" pitchFamily="34" charset="0"/>
                <a:ea typeface="Calibri" pitchFamily="34" charset="-122"/>
                <a:cs typeface="Calibri" pitchFamily="34" charset="-120"/>
              </a:rPr>
              <a:t>resultant force is zero</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stationary</a:t>
            </a:r>
            <a:r>
              <a:rPr lang="en-US" sz="1150" dirty="0">
                <a:solidFill>
                  <a:srgbClr val="262B3A"/>
                </a:solidFill>
                <a:latin typeface="Calibri" pitchFamily="34" charset="0"/>
                <a:ea typeface="Calibri" pitchFamily="34" charset="-122"/>
                <a:cs typeface="Calibri" pitchFamily="34" charset="-120"/>
              </a:rPr>
              <a:t> object stays at rest; a </a:t>
            </a:r>
            <a:r>
              <a:rPr lang="en-US" sz="1150" b="1" dirty="0">
                <a:solidFill>
                  <a:srgbClr val="262B3A"/>
                </a:solidFill>
                <a:latin typeface="Calibri" pitchFamily="34" charset="0"/>
                <a:ea typeface="Calibri" pitchFamily="34" charset="-122"/>
                <a:cs typeface="Calibri" pitchFamily="34" charset="-120"/>
              </a:rPr>
              <a:t>moving</a:t>
            </a:r>
            <a:r>
              <a:rPr lang="en-US" sz="1150" dirty="0">
                <a:solidFill>
                  <a:srgbClr val="262B3A"/>
                </a:solidFill>
                <a:latin typeface="Calibri" pitchFamily="34" charset="0"/>
                <a:ea typeface="Calibri" pitchFamily="34" charset="-122"/>
                <a:cs typeface="Calibri" pitchFamily="34" charset="-120"/>
              </a:rPr>
              <a:t> object keeps moving at the </a:t>
            </a:r>
            <a:r>
              <a:rPr lang="en-US" sz="1150" b="1" dirty="0">
                <a:solidFill>
                  <a:srgbClr val="262B3A"/>
                </a:solidFill>
                <a:latin typeface="Calibri" pitchFamily="34" charset="0"/>
                <a:ea typeface="Calibri" pitchFamily="34" charset="-122"/>
                <a:cs typeface="Calibri" pitchFamily="34" charset="-120"/>
              </a:rPr>
              <a:t>same speed in the same direction</a:t>
            </a:r>
            <a:r>
              <a:rPr lang="en-US" sz="1150" dirty="0">
                <a:solidFill>
                  <a:srgbClr val="262B3A"/>
                </a:solidFill>
                <a:latin typeface="Calibri" pitchFamily="34" charset="0"/>
                <a:ea typeface="Calibri" pitchFamily="34" charset="-122"/>
                <a:cs typeface="Calibri" pitchFamily="34" charset="-120"/>
              </a:rPr>
              <a:t> (constant velocity).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the </a:t>
            </a:r>
            <a:r>
              <a:rPr lang="en-US" sz="1150" b="1" dirty="0">
                <a:solidFill>
                  <a:srgbClr val="262B3A"/>
                </a:solidFill>
                <a:latin typeface="Calibri" pitchFamily="34" charset="0"/>
                <a:ea typeface="Calibri" pitchFamily="34" charset="-122"/>
                <a:cs typeface="Calibri" pitchFamily="34" charset="-120"/>
              </a:rPr>
              <a:t>resultant force is not zero</a:t>
            </a:r>
            <a:r>
              <a:rPr lang="en-US" sz="1150" dirty="0">
                <a:solidFill>
                  <a:srgbClr val="262B3A"/>
                </a:solidFill>
                <a:latin typeface="Calibri" pitchFamily="34" charset="0"/>
                <a:ea typeface="Calibri" pitchFamily="34" charset="-122"/>
                <a:cs typeface="Calibri" pitchFamily="34" charset="-120"/>
              </a:rPr>
              <a:t>: the velocity changes – it speeds up, slows down or </a:t>
            </a:r>
            <a:r>
              <a:rPr lang="en-US" sz="1150" b="1" dirty="0">
                <a:solidFill>
                  <a:srgbClr val="262B3A"/>
                </a:solidFill>
                <a:latin typeface="Calibri" pitchFamily="34" charset="0"/>
                <a:ea typeface="Calibri" pitchFamily="34" charset="-122"/>
                <a:cs typeface="Calibri" pitchFamily="34" charset="-120"/>
              </a:rPr>
              <a:t>changes direction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Resultant force: add forces in the same direction, subtract opposite ones (Topic 9).</a:t>
            </a:r>
            <a:endParaRPr lang="en-US" sz="115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Apply the law</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skydiver falls at a steady 55 m/s. Weight = 700 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Velocity   </a:t>
            </a:r>
            <a:r>
              <a:rPr lang="en-US" sz="1050" dirty="0">
                <a:solidFill>
                  <a:srgbClr val="262B3A"/>
                </a:solidFill>
                <a:latin typeface="Calibri" pitchFamily="34" charset="0"/>
                <a:ea typeface="Calibri" pitchFamily="34" charset="-122"/>
                <a:cs typeface="Calibri" pitchFamily="34" charset="-120"/>
              </a:rPr>
              <a:t>constant → acceleration is zero</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First law   </a:t>
            </a:r>
            <a:r>
              <a:rPr lang="en-US" sz="1050" dirty="0">
                <a:solidFill>
                  <a:srgbClr val="262B3A"/>
                </a:solidFill>
                <a:latin typeface="Calibri" pitchFamily="34" charset="0"/>
                <a:ea typeface="Calibri" pitchFamily="34" charset="-122"/>
                <a:cs typeface="Calibri" pitchFamily="34" charset="-120"/>
              </a:rPr>
              <a:t>so the resultant force must be zero</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Forces   </a:t>
            </a:r>
            <a:r>
              <a:rPr lang="en-US" sz="1050" dirty="0">
                <a:solidFill>
                  <a:srgbClr val="262B3A"/>
                </a:solidFill>
                <a:latin typeface="Calibri" pitchFamily="34" charset="0"/>
                <a:ea typeface="Calibri" pitchFamily="34" charset="-122"/>
                <a:cs typeface="Calibri" pitchFamily="34" charset="-120"/>
              </a:rPr>
              <a:t>air resistance = weight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air resistance = 700 N upwards</a:t>
            </a:r>
            <a:endParaRPr lang="en-US" sz="105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car moves at constant velocity. Its driving force is 1500 N. What is the total resistive force? Explain.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Newton’s second law: F = m × 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2.15 • resultant force = mass × acceleration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2.15  |  18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same resultant force, different masses (arrow lengths to scale)</a:t>
            </a:r>
            <a:endParaRPr lang="en-US" sz="1000" dirty="0"/>
          </a:p>
        </p:txBody>
      </p:sp>
      <p:sp>
        <p:nvSpPr>
          <p:cNvPr id="10" name="Shape 8"/>
          <p:cNvSpPr/>
          <p:nvPr/>
        </p:nvSpPr>
        <p:spPr>
          <a:xfrm>
            <a:off x="685800" y="2377440"/>
            <a:ext cx="5029200" cy="73152"/>
          </a:xfrm>
          <a:prstGeom prst="rect">
            <a:avLst/>
          </a:prstGeom>
          <a:solidFill>
            <a:srgbClr val="5A6275"/>
          </a:solidFill>
          <a:ln/>
        </p:spPr>
      </p:sp>
      <p:sp>
        <p:nvSpPr>
          <p:cNvPr id="11" name="Shape 9"/>
          <p:cNvSpPr/>
          <p:nvPr/>
        </p:nvSpPr>
        <p:spPr>
          <a:xfrm>
            <a:off x="914400" y="1911096"/>
            <a:ext cx="914400" cy="329184"/>
          </a:xfrm>
          <a:prstGeom prst="roundRect">
            <a:avLst>
              <a:gd name="adj" fmla="val 11111"/>
            </a:avLst>
          </a:prstGeom>
          <a:solidFill>
            <a:srgbClr val="2E5BD8"/>
          </a:solidFill>
          <a:ln w="12700">
            <a:solidFill>
              <a:srgbClr val="2B3F7A"/>
            </a:solidFill>
            <a:prstDash val="solid"/>
          </a:ln>
        </p:spPr>
      </p:sp>
      <p:sp>
        <p:nvSpPr>
          <p:cNvPr id="12" name="Shape 10"/>
          <p:cNvSpPr/>
          <p:nvPr/>
        </p:nvSpPr>
        <p:spPr>
          <a:xfrm>
            <a:off x="1014984" y="2212848"/>
            <a:ext cx="164592" cy="164592"/>
          </a:xfrm>
          <a:prstGeom prst="ellipse">
            <a:avLst/>
          </a:prstGeom>
          <a:solidFill>
            <a:srgbClr val="3B4252"/>
          </a:solidFill>
          <a:ln w="9525">
            <a:solidFill>
              <a:srgbClr val="1F2430"/>
            </a:solidFill>
            <a:prstDash val="solid"/>
          </a:ln>
        </p:spPr>
      </p:sp>
      <p:sp>
        <p:nvSpPr>
          <p:cNvPr id="13" name="Shape 11"/>
          <p:cNvSpPr/>
          <p:nvPr/>
        </p:nvSpPr>
        <p:spPr>
          <a:xfrm>
            <a:off x="1563624" y="2212848"/>
            <a:ext cx="164592" cy="164592"/>
          </a:xfrm>
          <a:prstGeom prst="ellipse">
            <a:avLst/>
          </a:prstGeom>
          <a:solidFill>
            <a:srgbClr val="3B4252"/>
          </a:solidFill>
          <a:ln w="9525">
            <a:solidFill>
              <a:srgbClr val="1F2430"/>
            </a:solidFill>
            <a:prstDash val="solid"/>
          </a:ln>
        </p:spPr>
      </p:sp>
      <p:sp>
        <p:nvSpPr>
          <p:cNvPr id="14" name="Text 12"/>
          <p:cNvSpPr/>
          <p:nvPr/>
        </p:nvSpPr>
        <p:spPr>
          <a:xfrm>
            <a:off x="914400" y="1911096"/>
            <a:ext cx="9144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 kg</a:t>
            </a:r>
            <a:endParaRPr lang="en-US" sz="1050" dirty="0"/>
          </a:p>
        </p:txBody>
      </p:sp>
      <p:sp>
        <p:nvSpPr>
          <p:cNvPr id="15" name="Shape 13"/>
          <p:cNvSpPr/>
          <p:nvPr/>
        </p:nvSpPr>
        <p:spPr>
          <a:xfrm>
            <a:off x="1828800" y="2075688"/>
            <a:ext cx="914400" cy="91"/>
          </a:xfrm>
          <a:prstGeom prst="line">
            <a:avLst/>
          </a:prstGeom>
          <a:noFill/>
          <a:ln w="38100">
            <a:solidFill>
              <a:srgbClr val="C8414C"/>
            </a:solidFill>
            <a:prstDash val="solid"/>
            <a:tailEnd type="triangle"/>
          </a:ln>
        </p:spPr>
      </p:sp>
      <p:sp>
        <p:nvSpPr>
          <p:cNvPr id="16" name="Text 14"/>
          <p:cNvSpPr/>
          <p:nvPr/>
        </p:nvSpPr>
        <p:spPr>
          <a:xfrm>
            <a:off x="2788920" y="1938528"/>
            <a:ext cx="5486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2.0 N</a:t>
            </a:r>
            <a:endParaRPr lang="en-US" sz="1100" dirty="0"/>
          </a:p>
        </p:txBody>
      </p:sp>
      <p:sp>
        <p:nvSpPr>
          <p:cNvPr id="17" name="Shape 15"/>
          <p:cNvSpPr/>
          <p:nvPr/>
        </p:nvSpPr>
        <p:spPr>
          <a:xfrm>
            <a:off x="914400" y="1508760"/>
            <a:ext cx="1828800" cy="91"/>
          </a:xfrm>
          <a:prstGeom prst="line">
            <a:avLst/>
          </a:prstGeom>
          <a:noFill/>
          <a:ln w="38100">
            <a:solidFill>
              <a:srgbClr val="2E8B57"/>
            </a:solidFill>
            <a:prstDash val="solid"/>
            <a:tailEnd type="triangle"/>
          </a:ln>
        </p:spPr>
      </p:sp>
      <p:sp>
        <p:nvSpPr>
          <p:cNvPr id="18" name="Text 16"/>
          <p:cNvSpPr/>
          <p:nvPr/>
        </p:nvSpPr>
        <p:spPr>
          <a:xfrm>
            <a:off x="2788920" y="1371600"/>
            <a:ext cx="228600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a = 2.0 m/s²</a:t>
            </a:r>
            <a:endParaRPr lang="en-US" sz="1100" dirty="0"/>
          </a:p>
        </p:txBody>
      </p:sp>
      <p:sp>
        <p:nvSpPr>
          <p:cNvPr id="19" name="Shape 17"/>
          <p:cNvSpPr/>
          <p:nvPr/>
        </p:nvSpPr>
        <p:spPr>
          <a:xfrm>
            <a:off x="685800" y="3794760"/>
            <a:ext cx="5029200" cy="73152"/>
          </a:xfrm>
          <a:prstGeom prst="rect">
            <a:avLst/>
          </a:prstGeom>
          <a:solidFill>
            <a:srgbClr val="5A6275"/>
          </a:solidFill>
          <a:ln/>
        </p:spPr>
      </p:sp>
      <p:sp>
        <p:nvSpPr>
          <p:cNvPr id="20" name="Shape 18"/>
          <p:cNvSpPr/>
          <p:nvPr/>
        </p:nvSpPr>
        <p:spPr>
          <a:xfrm>
            <a:off x="914400" y="3200400"/>
            <a:ext cx="1645920" cy="457200"/>
          </a:xfrm>
          <a:prstGeom prst="roundRect">
            <a:avLst>
              <a:gd name="adj" fmla="val 8000"/>
            </a:avLst>
          </a:prstGeom>
          <a:solidFill>
            <a:srgbClr val="3A548A"/>
          </a:solidFill>
          <a:ln w="12700">
            <a:solidFill>
              <a:srgbClr val="2B3F7A"/>
            </a:solidFill>
            <a:prstDash val="solid"/>
          </a:ln>
        </p:spPr>
      </p:sp>
      <p:sp>
        <p:nvSpPr>
          <p:cNvPr id="21" name="Shape 19"/>
          <p:cNvSpPr/>
          <p:nvPr/>
        </p:nvSpPr>
        <p:spPr>
          <a:xfrm>
            <a:off x="1014984" y="3630168"/>
            <a:ext cx="164592" cy="164592"/>
          </a:xfrm>
          <a:prstGeom prst="ellipse">
            <a:avLst/>
          </a:prstGeom>
          <a:solidFill>
            <a:srgbClr val="3B4252"/>
          </a:solidFill>
          <a:ln w="9525">
            <a:solidFill>
              <a:srgbClr val="1F2430"/>
            </a:solidFill>
            <a:prstDash val="solid"/>
          </a:ln>
        </p:spPr>
      </p:sp>
      <p:sp>
        <p:nvSpPr>
          <p:cNvPr id="22" name="Shape 20"/>
          <p:cNvSpPr/>
          <p:nvPr/>
        </p:nvSpPr>
        <p:spPr>
          <a:xfrm>
            <a:off x="2295144" y="3630168"/>
            <a:ext cx="164592" cy="164592"/>
          </a:xfrm>
          <a:prstGeom prst="ellipse">
            <a:avLst/>
          </a:prstGeom>
          <a:solidFill>
            <a:srgbClr val="3B4252"/>
          </a:solidFill>
          <a:ln w="9525">
            <a:solidFill>
              <a:srgbClr val="1F2430"/>
            </a:solidFill>
            <a:prstDash val="solid"/>
          </a:ln>
        </p:spPr>
      </p:sp>
      <p:sp>
        <p:nvSpPr>
          <p:cNvPr id="23" name="Text 21"/>
          <p:cNvSpPr/>
          <p:nvPr/>
        </p:nvSpPr>
        <p:spPr>
          <a:xfrm>
            <a:off x="914400" y="3200400"/>
            <a:ext cx="16459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 kg</a:t>
            </a:r>
            <a:endParaRPr lang="en-US" sz="1050" dirty="0"/>
          </a:p>
        </p:txBody>
      </p:sp>
      <p:sp>
        <p:nvSpPr>
          <p:cNvPr id="24" name="Shape 22"/>
          <p:cNvSpPr/>
          <p:nvPr/>
        </p:nvSpPr>
        <p:spPr>
          <a:xfrm>
            <a:off x="2560320" y="3429000"/>
            <a:ext cx="914400" cy="91"/>
          </a:xfrm>
          <a:prstGeom prst="line">
            <a:avLst/>
          </a:prstGeom>
          <a:noFill/>
          <a:ln w="38100">
            <a:solidFill>
              <a:srgbClr val="C8414C"/>
            </a:solidFill>
            <a:prstDash val="solid"/>
            <a:tailEnd type="triangle"/>
          </a:ln>
        </p:spPr>
      </p:sp>
      <p:sp>
        <p:nvSpPr>
          <p:cNvPr id="25" name="Text 23"/>
          <p:cNvSpPr/>
          <p:nvPr/>
        </p:nvSpPr>
        <p:spPr>
          <a:xfrm>
            <a:off x="3520440" y="3291840"/>
            <a:ext cx="5486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2.0 N</a:t>
            </a:r>
            <a:endParaRPr lang="en-US" sz="1100" dirty="0"/>
          </a:p>
        </p:txBody>
      </p:sp>
      <p:sp>
        <p:nvSpPr>
          <p:cNvPr id="26" name="Shape 24"/>
          <p:cNvSpPr/>
          <p:nvPr/>
        </p:nvSpPr>
        <p:spPr>
          <a:xfrm>
            <a:off x="914400" y="2852928"/>
            <a:ext cx="914400" cy="91"/>
          </a:xfrm>
          <a:prstGeom prst="line">
            <a:avLst/>
          </a:prstGeom>
          <a:noFill/>
          <a:ln w="38100">
            <a:solidFill>
              <a:srgbClr val="2E8B57"/>
            </a:solidFill>
            <a:prstDash val="solid"/>
            <a:tailEnd type="triangle"/>
          </a:ln>
        </p:spPr>
      </p:sp>
      <p:sp>
        <p:nvSpPr>
          <p:cNvPr id="27" name="Text 25"/>
          <p:cNvSpPr/>
          <p:nvPr/>
        </p:nvSpPr>
        <p:spPr>
          <a:xfrm>
            <a:off x="1874520" y="2715768"/>
            <a:ext cx="228600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a = 1.0 m/s²</a:t>
            </a:r>
            <a:endParaRPr lang="en-US" sz="1100" dirty="0"/>
          </a:p>
        </p:txBody>
      </p:sp>
      <p:sp>
        <p:nvSpPr>
          <p:cNvPr id="28" name="Shape 26"/>
          <p:cNvSpPr/>
          <p:nvPr/>
        </p:nvSpPr>
        <p:spPr>
          <a:xfrm>
            <a:off x="868680" y="4114800"/>
            <a:ext cx="4663440" cy="1097280"/>
          </a:xfrm>
          <a:prstGeom prst="roundRect">
            <a:avLst>
              <a:gd name="adj" fmla="val 4167"/>
            </a:avLst>
          </a:prstGeom>
          <a:solidFill>
            <a:srgbClr val="FFFFFF"/>
          </a:solidFill>
          <a:ln w="12700">
            <a:solidFill>
              <a:srgbClr val="D5DCEB"/>
            </a:solidFill>
            <a:prstDash val="solid"/>
          </a:ln>
        </p:spPr>
      </p:sp>
      <p:sp>
        <p:nvSpPr>
          <p:cNvPr id="29" name="Text 27"/>
          <p:cNvSpPr/>
          <p:nvPr/>
        </p:nvSpPr>
        <p:spPr>
          <a:xfrm>
            <a:off x="868680" y="4160520"/>
            <a:ext cx="4663440" cy="457200"/>
          </a:xfrm>
          <a:prstGeom prst="rect">
            <a:avLst/>
          </a:prstGeom>
          <a:noFill/>
          <a:ln/>
        </p:spPr>
        <p:txBody>
          <a:bodyPr wrap="square" lIns="0" tIns="0" rIns="0" bIns="0" rtlCol="0" anchor="ctr"/>
          <a:lstStyle/>
          <a:p>
            <a:pPr algn="ctr" indent="0" marL="0">
              <a:buNone/>
            </a:pPr>
            <a:r>
              <a:rPr lang="en-US" sz="2200" b="1" dirty="0">
                <a:solidFill>
                  <a:srgbClr val="1A2340"/>
                </a:solidFill>
                <a:latin typeface="Calibri" pitchFamily="34" charset="0"/>
                <a:ea typeface="Calibri" pitchFamily="34" charset="-122"/>
                <a:cs typeface="Calibri" pitchFamily="34" charset="-120"/>
              </a:rPr>
              <a:t>F = m × a</a:t>
            </a:r>
            <a:endParaRPr lang="en-US" sz="2200" dirty="0"/>
          </a:p>
        </p:txBody>
      </p:sp>
      <p:sp>
        <p:nvSpPr>
          <p:cNvPr id="30" name="Text 28"/>
          <p:cNvSpPr/>
          <p:nvPr/>
        </p:nvSpPr>
        <p:spPr>
          <a:xfrm>
            <a:off x="914400" y="4663440"/>
            <a:ext cx="4572000" cy="2743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force (N) = mass (kg) × acceleration (m/s²)</a:t>
            </a:r>
            <a:endParaRPr lang="en-US" sz="1100" dirty="0"/>
          </a:p>
        </p:txBody>
      </p:sp>
      <p:sp>
        <p:nvSpPr>
          <p:cNvPr id="31" name="Shape 2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2" name="Text 3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Force, mass and acceleration</a:t>
            </a:r>
            <a:endParaRPr lang="en-US" sz="1300" dirty="0"/>
          </a:p>
        </p:txBody>
      </p:sp>
      <p:sp>
        <p:nvSpPr>
          <p:cNvPr id="33" name="Text 3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acceleration is </a:t>
            </a:r>
            <a:r>
              <a:rPr lang="en-US" sz="1150" b="1" dirty="0">
                <a:solidFill>
                  <a:srgbClr val="262B3A"/>
                </a:solidFill>
                <a:latin typeface="Calibri" pitchFamily="34" charset="0"/>
                <a:ea typeface="Calibri" pitchFamily="34" charset="-122"/>
                <a:cs typeface="Calibri" pitchFamily="34" charset="-120"/>
              </a:rPr>
              <a:t>proportional to the resultant force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inversely proportional to the mass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Double the force → double the acceleration. Double the mass → half the acceleration.</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F = m × a. Use the resultant force.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1 newton is the force that gives 1 kg an acceleration of 1 m/s².</a:t>
            </a:r>
            <a:endParaRPr lang="en-US" sz="1150" dirty="0"/>
          </a:p>
        </p:txBody>
      </p:sp>
      <p:sp>
        <p:nvSpPr>
          <p:cNvPr id="34" name="Shape 3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5" name="Text 3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6" name="Text 34"/>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1200 kg car has a driving force of 3600 N and resistive forces of 600 N. Calculate its acceleration.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Resultant   </a:t>
            </a:r>
            <a:r>
              <a:rPr lang="en-US" sz="1100" dirty="0">
                <a:solidFill>
                  <a:srgbClr val="262B3A"/>
                </a:solidFill>
                <a:latin typeface="Calibri" pitchFamily="34" charset="0"/>
                <a:ea typeface="Calibri" pitchFamily="34" charset="-122"/>
                <a:cs typeface="Calibri" pitchFamily="34" charset="-120"/>
              </a:rPr>
              <a:t>F = 3600 − 600 = 3000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Rearrange   </a:t>
            </a:r>
            <a:r>
              <a:rPr lang="en-US" sz="1100" dirty="0">
                <a:solidFill>
                  <a:srgbClr val="262B3A"/>
                </a:solidFill>
                <a:latin typeface="Calibri" pitchFamily="34" charset="0"/>
                <a:ea typeface="Calibri" pitchFamily="34" charset="-122"/>
                <a:cs typeface="Calibri" pitchFamily="34" charset="-120"/>
              </a:rPr>
              <a:t>a = F ÷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a = 3000 N ÷ 1200 kg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 = 2.5 m/s²</a:t>
            </a:r>
            <a:endParaRPr lang="en-US" sz="1100" dirty="0"/>
          </a:p>
        </p:txBody>
      </p:sp>
      <p:sp>
        <p:nvSpPr>
          <p:cNvPr id="37" name="Shape 35"/>
          <p:cNvSpPr/>
          <p:nvPr/>
        </p:nvSpPr>
        <p:spPr>
          <a:xfrm>
            <a:off x="411480" y="5833872"/>
            <a:ext cx="11368735" cy="530352"/>
          </a:xfrm>
          <a:prstGeom prst="rect">
            <a:avLst/>
          </a:prstGeom>
          <a:solidFill>
            <a:srgbClr val="FFF4E0"/>
          </a:solidFill>
          <a:ln w="6350">
            <a:solidFill>
              <a:srgbClr val="F1D9A8"/>
            </a:solidFill>
            <a:prstDash val="solid"/>
          </a:ln>
        </p:spPr>
      </p:sp>
      <p:sp>
        <p:nvSpPr>
          <p:cNvPr id="38" name="Shape 36"/>
          <p:cNvSpPr/>
          <p:nvPr/>
        </p:nvSpPr>
        <p:spPr>
          <a:xfrm>
            <a:off x="411480" y="5833872"/>
            <a:ext cx="82296" cy="530352"/>
          </a:xfrm>
          <a:prstGeom prst="rect">
            <a:avLst/>
          </a:prstGeom>
          <a:solidFill>
            <a:srgbClr val="E39A2F"/>
          </a:solidFill>
          <a:ln w="12700">
            <a:solidFill>
              <a:srgbClr val="E39A2F"/>
            </a:solidFill>
            <a:prstDash val="solid"/>
          </a:ln>
        </p:spPr>
      </p:sp>
      <p:sp>
        <p:nvSpPr>
          <p:cNvPr id="39" name="Text 3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resultant force needed to accelerate a 70 kg sprinter at 3.0 m/s².</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Weight: W = m × 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2.16–2.18 • weight is a force; measure it with a newtonmeter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2.16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2.0 kg mass weighed on Earth and on the Moon</a:t>
            </a:r>
            <a:endParaRPr lang="en-US" sz="1000" dirty="0"/>
          </a:p>
        </p:txBody>
      </p:sp>
      <p:sp>
        <p:nvSpPr>
          <p:cNvPr id="10" name="Shape 8"/>
          <p:cNvSpPr/>
          <p:nvPr/>
        </p:nvSpPr>
        <p:spPr>
          <a:xfrm>
            <a:off x="1280160" y="1371600"/>
            <a:ext cx="1097280" cy="91440"/>
          </a:xfrm>
          <a:prstGeom prst="rect">
            <a:avLst/>
          </a:prstGeom>
          <a:solidFill>
            <a:srgbClr val="5A6275"/>
          </a:solidFill>
          <a:ln/>
        </p:spPr>
      </p:sp>
      <p:sp>
        <p:nvSpPr>
          <p:cNvPr id="11" name="Shape 9"/>
          <p:cNvSpPr/>
          <p:nvPr/>
        </p:nvSpPr>
        <p:spPr>
          <a:xfrm>
            <a:off x="1828800" y="1463040"/>
            <a:ext cx="91" cy="137160"/>
          </a:xfrm>
          <a:prstGeom prst="line">
            <a:avLst/>
          </a:prstGeom>
          <a:noFill/>
          <a:ln w="19050">
            <a:solidFill>
              <a:srgbClr val="1A2340"/>
            </a:solidFill>
            <a:prstDash val="solid"/>
          </a:ln>
        </p:spPr>
      </p:sp>
      <p:sp>
        <p:nvSpPr>
          <p:cNvPr id="12" name="Shape 10"/>
          <p:cNvSpPr/>
          <p:nvPr/>
        </p:nvSpPr>
        <p:spPr>
          <a:xfrm>
            <a:off x="1664208" y="1600200"/>
            <a:ext cx="329184" cy="1463040"/>
          </a:xfrm>
          <a:prstGeom prst="roundRect">
            <a:avLst>
              <a:gd name="adj" fmla="val 16667"/>
            </a:avLst>
          </a:prstGeom>
          <a:solidFill>
            <a:srgbClr val="E7ECF5"/>
          </a:solidFill>
          <a:ln w="12700">
            <a:solidFill>
              <a:srgbClr val="4A5262"/>
            </a:solidFill>
            <a:prstDash val="solid"/>
          </a:ln>
        </p:spPr>
      </p:sp>
      <p:sp>
        <p:nvSpPr>
          <p:cNvPr id="13" name="Shape 11"/>
          <p:cNvSpPr/>
          <p:nvPr/>
        </p:nvSpPr>
        <p:spPr>
          <a:xfrm>
            <a:off x="1883664" y="1737360"/>
            <a:ext cx="91440" cy="91"/>
          </a:xfrm>
          <a:prstGeom prst="line">
            <a:avLst/>
          </a:prstGeom>
          <a:noFill/>
          <a:ln w="9525">
            <a:solidFill>
              <a:srgbClr val="6B7385"/>
            </a:solidFill>
            <a:prstDash val="solid"/>
          </a:ln>
        </p:spPr>
      </p:sp>
      <p:sp>
        <p:nvSpPr>
          <p:cNvPr id="14" name="Shape 12"/>
          <p:cNvSpPr/>
          <p:nvPr/>
        </p:nvSpPr>
        <p:spPr>
          <a:xfrm>
            <a:off x="1883664" y="1856232"/>
            <a:ext cx="91440" cy="91"/>
          </a:xfrm>
          <a:prstGeom prst="line">
            <a:avLst/>
          </a:prstGeom>
          <a:noFill/>
          <a:ln w="9525">
            <a:solidFill>
              <a:srgbClr val="6B7385"/>
            </a:solidFill>
            <a:prstDash val="solid"/>
          </a:ln>
        </p:spPr>
      </p:sp>
      <p:sp>
        <p:nvSpPr>
          <p:cNvPr id="15" name="Shape 13"/>
          <p:cNvSpPr/>
          <p:nvPr/>
        </p:nvSpPr>
        <p:spPr>
          <a:xfrm>
            <a:off x="1883664" y="1975104"/>
            <a:ext cx="91440" cy="91"/>
          </a:xfrm>
          <a:prstGeom prst="line">
            <a:avLst/>
          </a:prstGeom>
          <a:noFill/>
          <a:ln w="9525">
            <a:solidFill>
              <a:srgbClr val="6B7385"/>
            </a:solidFill>
            <a:prstDash val="solid"/>
          </a:ln>
        </p:spPr>
      </p:sp>
      <p:sp>
        <p:nvSpPr>
          <p:cNvPr id="16" name="Shape 14"/>
          <p:cNvSpPr/>
          <p:nvPr/>
        </p:nvSpPr>
        <p:spPr>
          <a:xfrm>
            <a:off x="1883664" y="2093976"/>
            <a:ext cx="91440" cy="91"/>
          </a:xfrm>
          <a:prstGeom prst="line">
            <a:avLst/>
          </a:prstGeom>
          <a:noFill/>
          <a:ln w="9525">
            <a:solidFill>
              <a:srgbClr val="6B7385"/>
            </a:solidFill>
            <a:prstDash val="solid"/>
          </a:ln>
        </p:spPr>
      </p:sp>
      <p:sp>
        <p:nvSpPr>
          <p:cNvPr id="17" name="Shape 15"/>
          <p:cNvSpPr/>
          <p:nvPr/>
        </p:nvSpPr>
        <p:spPr>
          <a:xfrm>
            <a:off x="1883664" y="2212848"/>
            <a:ext cx="91440" cy="91"/>
          </a:xfrm>
          <a:prstGeom prst="line">
            <a:avLst/>
          </a:prstGeom>
          <a:noFill/>
          <a:ln w="9525">
            <a:solidFill>
              <a:srgbClr val="6B7385"/>
            </a:solidFill>
            <a:prstDash val="solid"/>
          </a:ln>
        </p:spPr>
      </p:sp>
      <p:sp>
        <p:nvSpPr>
          <p:cNvPr id="18" name="Shape 16"/>
          <p:cNvSpPr/>
          <p:nvPr/>
        </p:nvSpPr>
        <p:spPr>
          <a:xfrm>
            <a:off x="1883664" y="2331720"/>
            <a:ext cx="91440" cy="91"/>
          </a:xfrm>
          <a:prstGeom prst="line">
            <a:avLst/>
          </a:prstGeom>
          <a:noFill/>
          <a:ln w="9525">
            <a:solidFill>
              <a:srgbClr val="6B7385"/>
            </a:solidFill>
            <a:prstDash val="solid"/>
          </a:ln>
        </p:spPr>
      </p:sp>
      <p:sp>
        <p:nvSpPr>
          <p:cNvPr id="19" name="Shape 17"/>
          <p:cNvSpPr/>
          <p:nvPr/>
        </p:nvSpPr>
        <p:spPr>
          <a:xfrm>
            <a:off x="1883664" y="2450592"/>
            <a:ext cx="91440" cy="91"/>
          </a:xfrm>
          <a:prstGeom prst="line">
            <a:avLst/>
          </a:prstGeom>
          <a:noFill/>
          <a:ln w="9525">
            <a:solidFill>
              <a:srgbClr val="6B7385"/>
            </a:solidFill>
            <a:prstDash val="solid"/>
          </a:ln>
        </p:spPr>
      </p:sp>
      <p:sp>
        <p:nvSpPr>
          <p:cNvPr id="20" name="Shape 18"/>
          <p:cNvSpPr/>
          <p:nvPr/>
        </p:nvSpPr>
        <p:spPr>
          <a:xfrm>
            <a:off x="1883664" y="2569464"/>
            <a:ext cx="91440" cy="91"/>
          </a:xfrm>
          <a:prstGeom prst="line">
            <a:avLst/>
          </a:prstGeom>
          <a:noFill/>
          <a:ln w="9525">
            <a:solidFill>
              <a:srgbClr val="6B7385"/>
            </a:solidFill>
            <a:prstDash val="solid"/>
          </a:ln>
        </p:spPr>
      </p:sp>
      <p:sp>
        <p:nvSpPr>
          <p:cNvPr id="21" name="Shape 19"/>
          <p:cNvSpPr/>
          <p:nvPr/>
        </p:nvSpPr>
        <p:spPr>
          <a:xfrm>
            <a:off x="1883664" y="2688336"/>
            <a:ext cx="91440" cy="91"/>
          </a:xfrm>
          <a:prstGeom prst="line">
            <a:avLst/>
          </a:prstGeom>
          <a:noFill/>
          <a:ln w="9525">
            <a:solidFill>
              <a:srgbClr val="6B7385"/>
            </a:solidFill>
            <a:prstDash val="solid"/>
          </a:ln>
        </p:spPr>
      </p:sp>
      <p:sp>
        <p:nvSpPr>
          <p:cNvPr id="22" name="Shape 20"/>
          <p:cNvSpPr/>
          <p:nvPr/>
        </p:nvSpPr>
        <p:spPr>
          <a:xfrm>
            <a:off x="1883664" y="2807208"/>
            <a:ext cx="91440" cy="91"/>
          </a:xfrm>
          <a:prstGeom prst="line">
            <a:avLst/>
          </a:prstGeom>
          <a:noFill/>
          <a:ln w="9525">
            <a:solidFill>
              <a:srgbClr val="6B7385"/>
            </a:solidFill>
            <a:prstDash val="solid"/>
          </a:ln>
        </p:spPr>
      </p:sp>
      <p:sp>
        <p:nvSpPr>
          <p:cNvPr id="23" name="Shape 21"/>
          <p:cNvSpPr/>
          <p:nvPr/>
        </p:nvSpPr>
        <p:spPr>
          <a:xfrm>
            <a:off x="1883664" y="2926080"/>
            <a:ext cx="91440" cy="91"/>
          </a:xfrm>
          <a:prstGeom prst="line">
            <a:avLst/>
          </a:prstGeom>
          <a:noFill/>
          <a:ln w="9525">
            <a:solidFill>
              <a:srgbClr val="6B7385"/>
            </a:solidFill>
            <a:prstDash val="solid"/>
          </a:ln>
        </p:spPr>
      </p:sp>
      <p:sp>
        <p:nvSpPr>
          <p:cNvPr id="24" name="Shape 22"/>
          <p:cNvSpPr/>
          <p:nvPr/>
        </p:nvSpPr>
        <p:spPr>
          <a:xfrm>
            <a:off x="1719072" y="2788920"/>
            <a:ext cx="109728" cy="73152"/>
          </a:xfrm>
          <a:prstGeom prst="rect">
            <a:avLst/>
          </a:prstGeom>
          <a:solidFill>
            <a:srgbClr val="C8414C"/>
          </a:solidFill>
          <a:ln/>
        </p:spPr>
      </p:sp>
      <p:sp>
        <p:nvSpPr>
          <p:cNvPr id="25" name="Shape 23"/>
          <p:cNvSpPr/>
          <p:nvPr/>
        </p:nvSpPr>
        <p:spPr>
          <a:xfrm>
            <a:off x="1828800" y="3063240"/>
            <a:ext cx="91" cy="182880"/>
          </a:xfrm>
          <a:prstGeom prst="line">
            <a:avLst/>
          </a:prstGeom>
          <a:noFill/>
          <a:ln w="19050">
            <a:solidFill>
              <a:srgbClr val="1A2340"/>
            </a:solidFill>
            <a:prstDash val="solid"/>
          </a:ln>
        </p:spPr>
      </p:sp>
      <p:sp>
        <p:nvSpPr>
          <p:cNvPr id="26" name="Shape 24"/>
          <p:cNvSpPr/>
          <p:nvPr/>
        </p:nvSpPr>
        <p:spPr>
          <a:xfrm>
            <a:off x="1554480" y="3246120"/>
            <a:ext cx="548640" cy="502920"/>
          </a:xfrm>
          <a:prstGeom prst="rect">
            <a:avLst/>
          </a:prstGeom>
          <a:solidFill>
            <a:srgbClr val="969FB1"/>
          </a:solidFill>
          <a:ln w="12700">
            <a:solidFill>
              <a:srgbClr val="4A5262"/>
            </a:solidFill>
            <a:prstDash val="solid"/>
          </a:ln>
        </p:spPr>
      </p:sp>
      <p:sp>
        <p:nvSpPr>
          <p:cNvPr id="27" name="Text 25"/>
          <p:cNvSpPr/>
          <p:nvPr/>
        </p:nvSpPr>
        <p:spPr>
          <a:xfrm>
            <a:off x="1554480" y="3246120"/>
            <a:ext cx="5486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 kg</a:t>
            </a:r>
            <a:endParaRPr lang="en-US" sz="1000" dirty="0"/>
          </a:p>
        </p:txBody>
      </p:sp>
      <p:sp>
        <p:nvSpPr>
          <p:cNvPr id="28" name="Shape 26"/>
          <p:cNvSpPr/>
          <p:nvPr/>
        </p:nvSpPr>
        <p:spPr>
          <a:xfrm>
            <a:off x="1828800" y="3749040"/>
            <a:ext cx="91" cy="822960"/>
          </a:xfrm>
          <a:prstGeom prst="line">
            <a:avLst/>
          </a:prstGeom>
          <a:noFill/>
          <a:ln w="38100">
            <a:solidFill>
              <a:srgbClr val="C8414C"/>
            </a:solidFill>
            <a:prstDash val="solid"/>
            <a:tailEnd type="triangle"/>
          </a:ln>
        </p:spPr>
      </p:sp>
      <p:sp>
        <p:nvSpPr>
          <p:cNvPr id="29" name="Text 27"/>
          <p:cNvSpPr/>
          <p:nvPr/>
        </p:nvSpPr>
        <p:spPr>
          <a:xfrm>
            <a:off x="1234440" y="4599432"/>
            <a:ext cx="11887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 = 20 N</a:t>
            </a:r>
            <a:endParaRPr lang="en-US" sz="1100" dirty="0"/>
          </a:p>
        </p:txBody>
      </p:sp>
      <p:sp>
        <p:nvSpPr>
          <p:cNvPr id="30" name="Text 28"/>
          <p:cNvSpPr/>
          <p:nvPr/>
        </p:nvSpPr>
        <p:spPr>
          <a:xfrm>
            <a:off x="822960" y="4846320"/>
            <a:ext cx="2011680" cy="411480"/>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Earth</a:t>
            </a:r>
            <a:endParaRPr lang="en-US" sz="1100" dirty="0"/>
          </a:p>
          <a:p>
            <a:pPr algn="ctr" indent="0" marL="0">
              <a:buNone/>
            </a:pPr>
            <a:r>
              <a:rPr lang="en-US" sz="1100" b="1" dirty="0">
                <a:solidFill>
                  <a:srgbClr val="1A2340"/>
                </a:solidFill>
                <a:latin typeface="Calibri" pitchFamily="34" charset="0"/>
                <a:ea typeface="Calibri" pitchFamily="34" charset="-122"/>
                <a:cs typeface="Calibri" pitchFamily="34" charset="-120"/>
              </a:rPr>
              <a:t>g = 10 N/kg</a:t>
            </a:r>
            <a:endParaRPr lang="en-US" sz="1100" dirty="0"/>
          </a:p>
        </p:txBody>
      </p:sp>
      <p:sp>
        <p:nvSpPr>
          <p:cNvPr id="31" name="Shape 29"/>
          <p:cNvSpPr/>
          <p:nvPr/>
        </p:nvSpPr>
        <p:spPr>
          <a:xfrm>
            <a:off x="3931920" y="1371600"/>
            <a:ext cx="1097280" cy="91440"/>
          </a:xfrm>
          <a:prstGeom prst="rect">
            <a:avLst/>
          </a:prstGeom>
          <a:solidFill>
            <a:srgbClr val="5A6275"/>
          </a:solidFill>
          <a:ln/>
        </p:spPr>
      </p:sp>
      <p:sp>
        <p:nvSpPr>
          <p:cNvPr id="32" name="Shape 30"/>
          <p:cNvSpPr/>
          <p:nvPr/>
        </p:nvSpPr>
        <p:spPr>
          <a:xfrm>
            <a:off x="4480560" y="1463040"/>
            <a:ext cx="91" cy="137160"/>
          </a:xfrm>
          <a:prstGeom prst="line">
            <a:avLst/>
          </a:prstGeom>
          <a:noFill/>
          <a:ln w="19050">
            <a:solidFill>
              <a:srgbClr val="1A2340"/>
            </a:solidFill>
            <a:prstDash val="solid"/>
          </a:ln>
        </p:spPr>
      </p:sp>
      <p:sp>
        <p:nvSpPr>
          <p:cNvPr id="33" name="Shape 31"/>
          <p:cNvSpPr/>
          <p:nvPr/>
        </p:nvSpPr>
        <p:spPr>
          <a:xfrm>
            <a:off x="4315968" y="1600200"/>
            <a:ext cx="329184" cy="1463040"/>
          </a:xfrm>
          <a:prstGeom prst="roundRect">
            <a:avLst>
              <a:gd name="adj" fmla="val 16667"/>
            </a:avLst>
          </a:prstGeom>
          <a:solidFill>
            <a:srgbClr val="E7ECF5"/>
          </a:solidFill>
          <a:ln w="12700">
            <a:solidFill>
              <a:srgbClr val="4A5262"/>
            </a:solidFill>
            <a:prstDash val="solid"/>
          </a:ln>
        </p:spPr>
      </p:sp>
      <p:sp>
        <p:nvSpPr>
          <p:cNvPr id="34" name="Shape 32"/>
          <p:cNvSpPr/>
          <p:nvPr/>
        </p:nvSpPr>
        <p:spPr>
          <a:xfrm>
            <a:off x="4535424" y="1737360"/>
            <a:ext cx="91440" cy="91"/>
          </a:xfrm>
          <a:prstGeom prst="line">
            <a:avLst/>
          </a:prstGeom>
          <a:noFill/>
          <a:ln w="9525">
            <a:solidFill>
              <a:srgbClr val="6B7385"/>
            </a:solidFill>
            <a:prstDash val="solid"/>
          </a:ln>
        </p:spPr>
      </p:sp>
      <p:sp>
        <p:nvSpPr>
          <p:cNvPr id="35" name="Shape 33"/>
          <p:cNvSpPr/>
          <p:nvPr/>
        </p:nvSpPr>
        <p:spPr>
          <a:xfrm>
            <a:off x="4535424" y="1856232"/>
            <a:ext cx="91440" cy="91"/>
          </a:xfrm>
          <a:prstGeom prst="line">
            <a:avLst/>
          </a:prstGeom>
          <a:noFill/>
          <a:ln w="9525">
            <a:solidFill>
              <a:srgbClr val="6B7385"/>
            </a:solidFill>
            <a:prstDash val="solid"/>
          </a:ln>
        </p:spPr>
      </p:sp>
      <p:sp>
        <p:nvSpPr>
          <p:cNvPr id="36" name="Shape 34"/>
          <p:cNvSpPr/>
          <p:nvPr/>
        </p:nvSpPr>
        <p:spPr>
          <a:xfrm>
            <a:off x="4535424" y="1975104"/>
            <a:ext cx="91440" cy="91"/>
          </a:xfrm>
          <a:prstGeom prst="line">
            <a:avLst/>
          </a:prstGeom>
          <a:noFill/>
          <a:ln w="9525">
            <a:solidFill>
              <a:srgbClr val="6B7385"/>
            </a:solidFill>
            <a:prstDash val="solid"/>
          </a:ln>
        </p:spPr>
      </p:sp>
      <p:sp>
        <p:nvSpPr>
          <p:cNvPr id="37" name="Shape 35"/>
          <p:cNvSpPr/>
          <p:nvPr/>
        </p:nvSpPr>
        <p:spPr>
          <a:xfrm>
            <a:off x="4535424" y="2093976"/>
            <a:ext cx="91440" cy="91"/>
          </a:xfrm>
          <a:prstGeom prst="line">
            <a:avLst/>
          </a:prstGeom>
          <a:noFill/>
          <a:ln w="9525">
            <a:solidFill>
              <a:srgbClr val="6B7385"/>
            </a:solidFill>
            <a:prstDash val="solid"/>
          </a:ln>
        </p:spPr>
      </p:sp>
      <p:sp>
        <p:nvSpPr>
          <p:cNvPr id="38" name="Shape 36"/>
          <p:cNvSpPr/>
          <p:nvPr/>
        </p:nvSpPr>
        <p:spPr>
          <a:xfrm>
            <a:off x="4535424" y="2212848"/>
            <a:ext cx="91440" cy="91"/>
          </a:xfrm>
          <a:prstGeom prst="line">
            <a:avLst/>
          </a:prstGeom>
          <a:noFill/>
          <a:ln w="9525">
            <a:solidFill>
              <a:srgbClr val="6B7385"/>
            </a:solidFill>
            <a:prstDash val="solid"/>
          </a:ln>
        </p:spPr>
      </p:sp>
      <p:sp>
        <p:nvSpPr>
          <p:cNvPr id="39" name="Shape 37"/>
          <p:cNvSpPr/>
          <p:nvPr/>
        </p:nvSpPr>
        <p:spPr>
          <a:xfrm>
            <a:off x="4535424" y="2331720"/>
            <a:ext cx="91440" cy="91"/>
          </a:xfrm>
          <a:prstGeom prst="line">
            <a:avLst/>
          </a:prstGeom>
          <a:noFill/>
          <a:ln w="9525">
            <a:solidFill>
              <a:srgbClr val="6B7385"/>
            </a:solidFill>
            <a:prstDash val="solid"/>
          </a:ln>
        </p:spPr>
      </p:sp>
      <p:sp>
        <p:nvSpPr>
          <p:cNvPr id="40" name="Shape 38"/>
          <p:cNvSpPr/>
          <p:nvPr/>
        </p:nvSpPr>
        <p:spPr>
          <a:xfrm>
            <a:off x="4535424" y="2450592"/>
            <a:ext cx="91440" cy="91"/>
          </a:xfrm>
          <a:prstGeom prst="line">
            <a:avLst/>
          </a:prstGeom>
          <a:noFill/>
          <a:ln w="9525">
            <a:solidFill>
              <a:srgbClr val="6B7385"/>
            </a:solidFill>
            <a:prstDash val="solid"/>
          </a:ln>
        </p:spPr>
      </p:sp>
      <p:sp>
        <p:nvSpPr>
          <p:cNvPr id="41" name="Shape 39"/>
          <p:cNvSpPr/>
          <p:nvPr/>
        </p:nvSpPr>
        <p:spPr>
          <a:xfrm>
            <a:off x="4535424" y="2569464"/>
            <a:ext cx="91440" cy="91"/>
          </a:xfrm>
          <a:prstGeom prst="line">
            <a:avLst/>
          </a:prstGeom>
          <a:noFill/>
          <a:ln w="9525">
            <a:solidFill>
              <a:srgbClr val="6B7385"/>
            </a:solidFill>
            <a:prstDash val="solid"/>
          </a:ln>
        </p:spPr>
      </p:sp>
      <p:sp>
        <p:nvSpPr>
          <p:cNvPr id="42" name="Shape 40"/>
          <p:cNvSpPr/>
          <p:nvPr/>
        </p:nvSpPr>
        <p:spPr>
          <a:xfrm>
            <a:off x="4535424" y="2688336"/>
            <a:ext cx="91440" cy="91"/>
          </a:xfrm>
          <a:prstGeom prst="line">
            <a:avLst/>
          </a:prstGeom>
          <a:noFill/>
          <a:ln w="9525">
            <a:solidFill>
              <a:srgbClr val="6B7385"/>
            </a:solidFill>
            <a:prstDash val="solid"/>
          </a:ln>
        </p:spPr>
      </p:sp>
      <p:sp>
        <p:nvSpPr>
          <p:cNvPr id="43" name="Shape 41"/>
          <p:cNvSpPr/>
          <p:nvPr/>
        </p:nvSpPr>
        <p:spPr>
          <a:xfrm>
            <a:off x="4535424" y="2807208"/>
            <a:ext cx="91440" cy="91"/>
          </a:xfrm>
          <a:prstGeom prst="line">
            <a:avLst/>
          </a:prstGeom>
          <a:noFill/>
          <a:ln w="9525">
            <a:solidFill>
              <a:srgbClr val="6B7385"/>
            </a:solidFill>
            <a:prstDash val="solid"/>
          </a:ln>
        </p:spPr>
      </p:sp>
      <p:sp>
        <p:nvSpPr>
          <p:cNvPr id="44" name="Shape 42"/>
          <p:cNvSpPr/>
          <p:nvPr/>
        </p:nvSpPr>
        <p:spPr>
          <a:xfrm>
            <a:off x="4535424" y="2926080"/>
            <a:ext cx="91440" cy="91"/>
          </a:xfrm>
          <a:prstGeom prst="line">
            <a:avLst/>
          </a:prstGeom>
          <a:noFill/>
          <a:ln w="9525">
            <a:solidFill>
              <a:srgbClr val="6B7385"/>
            </a:solidFill>
            <a:prstDash val="solid"/>
          </a:ln>
        </p:spPr>
      </p:sp>
      <p:sp>
        <p:nvSpPr>
          <p:cNvPr id="45" name="Shape 43"/>
          <p:cNvSpPr/>
          <p:nvPr/>
        </p:nvSpPr>
        <p:spPr>
          <a:xfrm>
            <a:off x="4370832" y="1874520"/>
            <a:ext cx="109728" cy="73152"/>
          </a:xfrm>
          <a:prstGeom prst="rect">
            <a:avLst/>
          </a:prstGeom>
          <a:solidFill>
            <a:srgbClr val="C8414C"/>
          </a:solidFill>
          <a:ln/>
        </p:spPr>
      </p:sp>
      <p:sp>
        <p:nvSpPr>
          <p:cNvPr id="46" name="Shape 44"/>
          <p:cNvSpPr/>
          <p:nvPr/>
        </p:nvSpPr>
        <p:spPr>
          <a:xfrm>
            <a:off x="4480560" y="3063240"/>
            <a:ext cx="91" cy="182880"/>
          </a:xfrm>
          <a:prstGeom prst="line">
            <a:avLst/>
          </a:prstGeom>
          <a:noFill/>
          <a:ln w="19050">
            <a:solidFill>
              <a:srgbClr val="1A2340"/>
            </a:solidFill>
            <a:prstDash val="solid"/>
          </a:ln>
        </p:spPr>
      </p:sp>
      <p:sp>
        <p:nvSpPr>
          <p:cNvPr id="47" name="Shape 45"/>
          <p:cNvSpPr/>
          <p:nvPr/>
        </p:nvSpPr>
        <p:spPr>
          <a:xfrm>
            <a:off x="4206240" y="3246120"/>
            <a:ext cx="548640" cy="502920"/>
          </a:xfrm>
          <a:prstGeom prst="rect">
            <a:avLst/>
          </a:prstGeom>
          <a:solidFill>
            <a:srgbClr val="969FB1"/>
          </a:solidFill>
          <a:ln w="12700">
            <a:solidFill>
              <a:srgbClr val="4A5262"/>
            </a:solidFill>
            <a:prstDash val="solid"/>
          </a:ln>
        </p:spPr>
      </p:sp>
      <p:sp>
        <p:nvSpPr>
          <p:cNvPr id="48" name="Text 46"/>
          <p:cNvSpPr/>
          <p:nvPr/>
        </p:nvSpPr>
        <p:spPr>
          <a:xfrm>
            <a:off x="4206240" y="3246120"/>
            <a:ext cx="54864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 kg</a:t>
            </a:r>
            <a:endParaRPr lang="en-US" sz="1000" dirty="0"/>
          </a:p>
        </p:txBody>
      </p:sp>
      <p:sp>
        <p:nvSpPr>
          <p:cNvPr id="49" name="Shape 47"/>
          <p:cNvSpPr/>
          <p:nvPr/>
        </p:nvSpPr>
        <p:spPr>
          <a:xfrm>
            <a:off x="4480560" y="3749040"/>
            <a:ext cx="91" cy="131674"/>
          </a:xfrm>
          <a:prstGeom prst="line">
            <a:avLst/>
          </a:prstGeom>
          <a:noFill/>
          <a:ln w="38100">
            <a:solidFill>
              <a:srgbClr val="C8414C"/>
            </a:solidFill>
            <a:prstDash val="solid"/>
            <a:tailEnd type="triangle"/>
          </a:ln>
        </p:spPr>
      </p:sp>
      <p:sp>
        <p:nvSpPr>
          <p:cNvPr id="50" name="Text 48"/>
          <p:cNvSpPr/>
          <p:nvPr/>
        </p:nvSpPr>
        <p:spPr>
          <a:xfrm>
            <a:off x="3886200" y="3908146"/>
            <a:ext cx="11887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 = 3.2 N</a:t>
            </a:r>
            <a:endParaRPr lang="en-US" sz="1100" dirty="0"/>
          </a:p>
        </p:txBody>
      </p:sp>
      <p:sp>
        <p:nvSpPr>
          <p:cNvPr id="51" name="Text 49"/>
          <p:cNvSpPr/>
          <p:nvPr/>
        </p:nvSpPr>
        <p:spPr>
          <a:xfrm>
            <a:off x="3474720" y="4846320"/>
            <a:ext cx="2011680" cy="411480"/>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Moon</a:t>
            </a:r>
            <a:endParaRPr lang="en-US" sz="1100" dirty="0"/>
          </a:p>
          <a:p>
            <a:pPr algn="ctr" indent="0" marL="0">
              <a:buNone/>
            </a:pPr>
            <a:r>
              <a:rPr lang="en-US" sz="1100" b="1" dirty="0">
                <a:solidFill>
                  <a:srgbClr val="1A2340"/>
                </a:solidFill>
                <a:latin typeface="Calibri" pitchFamily="34" charset="0"/>
                <a:ea typeface="Calibri" pitchFamily="34" charset="-122"/>
                <a:cs typeface="Calibri" pitchFamily="34" charset="-120"/>
              </a:rPr>
              <a:t>g = 1.6 N/kg</a:t>
            </a:r>
            <a:endParaRPr lang="en-US" sz="1100" dirty="0"/>
          </a:p>
        </p:txBody>
      </p:sp>
      <p:sp>
        <p:nvSpPr>
          <p:cNvPr id="52" name="Text 50"/>
          <p:cNvSpPr/>
          <p:nvPr/>
        </p:nvSpPr>
        <p:spPr>
          <a:xfrm>
            <a:off x="2148840" y="2103120"/>
            <a:ext cx="1280160" cy="365760"/>
          </a:xfrm>
          <a:prstGeom prst="rect">
            <a:avLst/>
          </a:prstGeom>
          <a:noFill/>
          <a:ln/>
        </p:spPr>
        <p:txBody>
          <a:bodyPr wrap="square" lIns="0" tIns="0" rIns="0" bIns="0" rtlCol="0" anchor="ctr"/>
          <a:lstStyle/>
          <a:p>
            <a:pPr algn="l" indent="0" marL="0">
              <a:buNone/>
            </a:pPr>
            <a:r>
              <a:rPr lang="en-US" sz="1000" i="1" dirty="0">
                <a:solidFill>
                  <a:srgbClr val="262B3A"/>
                </a:solidFill>
                <a:latin typeface="Calibri" pitchFamily="34" charset="0"/>
                <a:ea typeface="Calibri" pitchFamily="34" charset="-122"/>
                <a:cs typeface="Calibri" pitchFamily="34" charset="-120"/>
              </a:rPr>
              <a:t>newtonmeter</a:t>
            </a:r>
            <a:endParaRPr lang="en-US" sz="1000" dirty="0"/>
          </a:p>
          <a:p>
            <a:pPr algn="l" indent="0" marL="0">
              <a:buNone/>
            </a:pPr>
            <a:r>
              <a:rPr lang="en-US" sz="1000" i="1" dirty="0">
                <a:solidFill>
                  <a:srgbClr val="262B3A"/>
                </a:solidFill>
                <a:latin typeface="Calibri" pitchFamily="34" charset="0"/>
                <a:ea typeface="Calibri" pitchFamily="34" charset="-122"/>
                <a:cs typeface="Calibri" pitchFamily="34" charset="-120"/>
              </a:rPr>
              <a:t>(spring balance)</a:t>
            </a:r>
            <a:endParaRPr lang="en-US" sz="1000" dirty="0"/>
          </a:p>
        </p:txBody>
      </p:sp>
      <p:sp>
        <p:nvSpPr>
          <p:cNvPr id="53" name="Shape 5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4" name="Text 5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Mass and weight</a:t>
            </a:r>
            <a:endParaRPr lang="en-US" sz="1300" dirty="0"/>
          </a:p>
        </p:txBody>
      </p:sp>
      <p:sp>
        <p:nvSpPr>
          <p:cNvPr id="55" name="Text 5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Weight</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force</a:t>
            </a:r>
            <a:r>
              <a:rPr lang="en-US" sz="1150" dirty="0">
                <a:solidFill>
                  <a:srgbClr val="262B3A"/>
                </a:solidFill>
                <a:latin typeface="Calibri" pitchFamily="34" charset="0"/>
                <a:ea typeface="Calibri" pitchFamily="34" charset="-122"/>
                <a:cs typeface="Calibri" pitchFamily="34" charset="-120"/>
              </a:rPr>
              <a:t> on an object due to a </a:t>
            </a:r>
            <a:r>
              <a:rPr lang="en-US" sz="1150" b="1" dirty="0">
                <a:solidFill>
                  <a:srgbClr val="262B3A"/>
                </a:solidFill>
                <a:latin typeface="Calibri" pitchFamily="34" charset="0"/>
                <a:ea typeface="Calibri" pitchFamily="34" charset="-122"/>
                <a:cs typeface="Calibri" pitchFamily="34" charset="-120"/>
              </a:rPr>
              <a:t>gravitational field</a:t>
            </a:r>
            <a:r>
              <a:rPr lang="en-US" sz="1150" dirty="0">
                <a:solidFill>
                  <a:srgbClr val="262B3A"/>
                </a:solidFill>
                <a:latin typeface="Calibri" pitchFamily="34" charset="0"/>
                <a:ea typeface="Calibri" pitchFamily="34" charset="-122"/>
                <a:cs typeface="Calibri" pitchFamily="34" charset="-120"/>
              </a:rPr>
              <a:t>. It is measured in </a:t>
            </a:r>
            <a:r>
              <a:rPr lang="en-US" sz="1150" b="1" dirty="0">
                <a:solidFill>
                  <a:srgbClr val="262B3A"/>
                </a:solidFill>
                <a:latin typeface="Calibri" pitchFamily="34" charset="0"/>
                <a:ea typeface="Calibri" pitchFamily="34" charset="-122"/>
                <a:cs typeface="Calibri" pitchFamily="34" charset="-120"/>
              </a:rPr>
              <a:t>newtons (N)</a:t>
            </a:r>
            <a:r>
              <a:rPr lang="en-US" sz="1150" dirty="0">
                <a:solidFill>
                  <a:srgbClr val="262B3A"/>
                </a:solidFill>
                <a:latin typeface="Calibri" pitchFamily="34" charset="0"/>
                <a:ea typeface="Calibri" pitchFamily="34" charset="-122"/>
                <a:cs typeface="Calibri" pitchFamily="34" charset="-120"/>
              </a:rPr>
              <a:t> with a </a:t>
            </a:r>
            <a:r>
              <a:rPr lang="en-US" sz="1150" b="1" dirty="0">
                <a:solidFill>
                  <a:srgbClr val="262B3A"/>
                </a:solidFill>
                <a:latin typeface="Calibri" pitchFamily="34" charset="0"/>
                <a:ea typeface="Calibri" pitchFamily="34" charset="-122"/>
                <a:cs typeface="Calibri" pitchFamily="34" charset="-120"/>
              </a:rPr>
              <a:t>newtonmeter</a:t>
            </a:r>
            <a:r>
              <a:rPr lang="en-US" sz="1150" dirty="0">
                <a:solidFill>
                  <a:srgbClr val="262B3A"/>
                </a:solidFill>
                <a:latin typeface="Calibri" pitchFamily="34" charset="0"/>
                <a:ea typeface="Calibri" pitchFamily="34" charset="-122"/>
                <a:cs typeface="Calibri" pitchFamily="34" charset="-120"/>
              </a:rPr>
              <a:t> (a calibrated spring balance).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(kg) is the amount of matter; it is the </a:t>
            </a:r>
            <a:r>
              <a:rPr lang="en-US" sz="1150" b="1" dirty="0">
                <a:solidFill>
                  <a:srgbClr val="262B3A"/>
                </a:solidFill>
                <a:latin typeface="Calibri" pitchFamily="34" charset="0"/>
                <a:ea typeface="Calibri" pitchFamily="34" charset="-122"/>
                <a:cs typeface="Calibri" pitchFamily="34" charset="-120"/>
              </a:rPr>
              <a:t>same everywhere</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W = m × g</a:t>
            </a:r>
            <a:r>
              <a:rPr lang="en-US" sz="1150" dirty="0">
                <a:solidFill>
                  <a:srgbClr val="262B3A"/>
                </a:solidFill>
                <a:latin typeface="Calibri" pitchFamily="34" charset="0"/>
                <a:ea typeface="Calibri" pitchFamily="34" charset="-122"/>
                <a:cs typeface="Calibri" pitchFamily="34" charset="-120"/>
              </a:rPr>
              <a:t>   weight (N) = mass (kg) × gravitational field strength (N/kg)</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On Earth g = 10 N/kg. Weight is </a:t>
            </a:r>
            <a:r>
              <a:rPr lang="en-US" sz="1050" b="1" dirty="0">
                <a:solidFill>
                  <a:srgbClr val="C8414C"/>
                </a:solidFill>
                <a:latin typeface="Calibri" pitchFamily="34" charset="0"/>
                <a:ea typeface="Calibri" pitchFamily="34" charset="-122"/>
                <a:cs typeface="Calibri" pitchFamily="34" charset="-120"/>
              </a:rPr>
              <a:t>directly proportional</a:t>
            </a:r>
            <a:r>
              <a:rPr lang="en-US" sz="1050" b="1" dirty="0">
                <a:solidFill>
                  <a:srgbClr val="C8414C"/>
                </a:solidFill>
                <a:latin typeface="Calibri" pitchFamily="34" charset="0"/>
                <a:ea typeface="Calibri" pitchFamily="34" charset="-122"/>
                <a:cs typeface="Calibri" pitchFamily="34" charset="-120"/>
              </a:rPr>
              <a:t> to g.</a:t>
            </a:r>
            <a:endParaRPr lang="en-US" sz="1150" dirty="0"/>
          </a:p>
        </p:txBody>
      </p:sp>
      <p:sp>
        <p:nvSpPr>
          <p:cNvPr id="56" name="Shape 5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7" name="Text 5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8" name="Text 5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weight of the 2.0 kg mass on Earth and on the Moon (g = 1.6 N/kg).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W = m × 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Earth   </a:t>
            </a:r>
            <a:r>
              <a:rPr lang="en-US" sz="1100" dirty="0">
                <a:solidFill>
                  <a:srgbClr val="262B3A"/>
                </a:solidFill>
                <a:latin typeface="Calibri" pitchFamily="34" charset="0"/>
                <a:ea typeface="Calibri" pitchFamily="34" charset="-122"/>
                <a:cs typeface="Calibri" pitchFamily="34" charset="-120"/>
              </a:rPr>
              <a:t>W = 2.0 kg × 10 N/kg = 20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Moon   </a:t>
            </a:r>
            <a:r>
              <a:rPr lang="en-US" sz="1100" dirty="0">
                <a:solidFill>
                  <a:srgbClr val="262B3A"/>
                </a:solidFill>
                <a:latin typeface="Calibri" pitchFamily="34" charset="0"/>
                <a:ea typeface="Calibri" pitchFamily="34" charset="-122"/>
                <a:cs typeface="Calibri" pitchFamily="34" charset="-120"/>
              </a:rPr>
              <a:t>W = 2.0 kg × 1.6 N/kg = 3.2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mass stays 2.0 kg; weight falls with g</a:t>
            </a:r>
            <a:endParaRPr lang="en-US" sz="110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person weighs 650 N on Earth. Calculate their mass. What would their mass be on the Moon?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2.14–2.18 • Newton’s first and second laws, weight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20</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lorry travels at a constant velocity on a straight, level road. Use Newton’s first law to explain what this tells you about the forces on the lorry.</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900 kg</a:t>
            </a:r>
            <a:r>
              <a:rPr lang="en-US" sz="1250" dirty="0">
                <a:solidFill>
                  <a:srgbClr val="262B3A"/>
                </a:solidFill>
                <a:latin typeface="Calibri" pitchFamily="34" charset="0"/>
                <a:ea typeface="Calibri" pitchFamily="34" charset="-122"/>
                <a:cs typeface="Calibri" pitchFamily="34" charset="-120"/>
              </a:rPr>
              <a:t> car has a resultant force of </a:t>
            </a:r>
            <a:r>
              <a:rPr lang="en-US" sz="1250" b="1" dirty="0">
                <a:solidFill>
                  <a:srgbClr val="262B3A"/>
                </a:solidFill>
                <a:latin typeface="Calibri" pitchFamily="34" charset="0"/>
                <a:ea typeface="Calibri" pitchFamily="34" charset="-122"/>
                <a:cs typeface="Calibri" pitchFamily="34" charset="-120"/>
              </a:rPr>
              <a:t>1800 N</a:t>
            </a:r>
            <a:r>
              <a:rPr lang="en-US" sz="1250" dirty="0">
                <a:solidFill>
                  <a:srgbClr val="262B3A"/>
                </a:solidFill>
                <a:latin typeface="Calibri" pitchFamily="34" charset="0"/>
                <a:ea typeface="Calibri" pitchFamily="34" charset="-122"/>
                <a:cs typeface="Calibri" pitchFamily="34" charset="-120"/>
              </a:rPr>
              <a:t> on it. Calculate its acceleration.</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instrument used to measure weight, and calculate the weight of a </a:t>
            </a:r>
            <a:r>
              <a:rPr lang="en-US" sz="1250" b="1" dirty="0">
                <a:solidFill>
                  <a:srgbClr val="262B3A"/>
                </a:solidFill>
                <a:latin typeface="Calibri" pitchFamily="34" charset="0"/>
                <a:ea typeface="Calibri" pitchFamily="34" charset="-122"/>
                <a:cs typeface="Calibri" pitchFamily="34" charset="-120"/>
              </a:rPr>
              <a:t>5.0 kg</a:t>
            </a:r>
            <a:r>
              <a:rPr lang="en-US" sz="1250" dirty="0">
                <a:solidFill>
                  <a:srgbClr val="262B3A"/>
                </a:solidFill>
                <a:latin typeface="Calibri" pitchFamily="34" charset="0"/>
                <a:ea typeface="Calibri" pitchFamily="34" charset="-122"/>
                <a:cs typeface="Calibri" pitchFamily="34" charset="-120"/>
              </a:rPr>
              <a:t> bag. g = 10 N/kg.</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Circular motion and centripetal force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2.20, 2.21 • constant speed but changing velocity</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2.20  |  21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satellite in a circular orbit: velocity along the tangent, force towards the centre</a:t>
            </a:r>
            <a:endParaRPr lang="en-US" sz="1000" dirty="0"/>
          </a:p>
        </p:txBody>
      </p:sp>
      <p:sp>
        <p:nvSpPr>
          <p:cNvPr id="12" name="Shape 10"/>
          <p:cNvSpPr/>
          <p:nvPr/>
        </p:nvSpPr>
        <p:spPr>
          <a:xfrm>
            <a:off x="1600200" y="1691640"/>
            <a:ext cx="3200400" cy="3200400"/>
          </a:xfrm>
          <a:prstGeom prst="ellipse">
            <a:avLst/>
          </a:prstGeom>
          <a:ln w="15875">
            <a:solidFill>
              <a:srgbClr val="6B7385"/>
            </a:solidFill>
            <a:prstDash val="dash"/>
          </a:ln>
        </p:spPr>
      </p:sp>
      <p:sp>
        <p:nvSpPr>
          <p:cNvPr id="13" name="Shape 11"/>
          <p:cNvSpPr/>
          <p:nvPr/>
        </p:nvSpPr>
        <p:spPr>
          <a:xfrm>
            <a:off x="2788920" y="2880360"/>
            <a:ext cx="822960" cy="822960"/>
          </a:xfrm>
          <a:prstGeom prst="ellipse">
            <a:avLst/>
          </a:prstGeom>
          <a:solidFill>
            <a:srgbClr val="5B9BD5"/>
          </a:solidFill>
          <a:ln w="12700">
            <a:solidFill>
              <a:srgbClr val="2E5B8A"/>
            </a:solidFill>
            <a:prstDash val="solid"/>
          </a:ln>
        </p:spPr>
      </p:sp>
      <p:sp>
        <p:nvSpPr>
          <p:cNvPr id="14" name="Text 12"/>
          <p:cNvSpPr/>
          <p:nvPr/>
        </p:nvSpPr>
        <p:spPr>
          <a:xfrm>
            <a:off x="2788920" y="3154680"/>
            <a:ext cx="82296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Earth</a:t>
            </a:r>
            <a:endParaRPr lang="en-US" sz="1050" dirty="0"/>
          </a:p>
        </p:txBody>
      </p:sp>
      <p:sp>
        <p:nvSpPr>
          <p:cNvPr id="15" name="Shape 13"/>
          <p:cNvSpPr/>
          <p:nvPr/>
        </p:nvSpPr>
        <p:spPr>
          <a:xfrm flipV="1">
            <a:off x="4800600" y="2468880"/>
            <a:ext cx="91" cy="822960"/>
          </a:xfrm>
          <a:prstGeom prst="line">
            <a:avLst/>
          </a:prstGeom>
          <a:noFill/>
          <a:ln w="31750">
            <a:solidFill>
              <a:srgbClr val="2E5BD8"/>
            </a:solidFill>
            <a:prstDash val="solid"/>
            <a:tailEnd type="triangle"/>
          </a:ln>
        </p:spPr>
      </p:sp>
      <p:sp>
        <p:nvSpPr>
          <p:cNvPr id="16" name="Shape 14"/>
          <p:cNvSpPr/>
          <p:nvPr/>
        </p:nvSpPr>
        <p:spPr>
          <a:xfrm flipH="1">
            <a:off x="4160520" y="3291840"/>
            <a:ext cx="640080" cy="91"/>
          </a:xfrm>
          <a:prstGeom prst="line">
            <a:avLst/>
          </a:prstGeom>
          <a:noFill/>
          <a:ln w="31750">
            <a:solidFill>
              <a:srgbClr val="C8414C"/>
            </a:solidFill>
            <a:prstDash val="solid"/>
            <a:tailEnd type="triangle"/>
          </a:ln>
        </p:spPr>
      </p:sp>
      <p:sp>
        <p:nvSpPr>
          <p:cNvPr id="17" name="Shape 15"/>
          <p:cNvSpPr/>
          <p:nvPr/>
        </p:nvSpPr>
        <p:spPr>
          <a:xfrm>
            <a:off x="4709160" y="3200400"/>
            <a:ext cx="182880" cy="182880"/>
          </a:xfrm>
          <a:prstGeom prst="rect">
            <a:avLst/>
          </a:prstGeom>
          <a:solidFill>
            <a:srgbClr val="1A2340"/>
          </a:solidFill>
          <a:ln/>
        </p:spPr>
      </p:sp>
      <p:sp>
        <p:nvSpPr>
          <p:cNvPr id="18" name="Shape 16"/>
          <p:cNvSpPr/>
          <p:nvPr/>
        </p:nvSpPr>
        <p:spPr>
          <a:xfrm>
            <a:off x="3200400" y="4892040"/>
            <a:ext cx="822960" cy="91"/>
          </a:xfrm>
          <a:prstGeom prst="line">
            <a:avLst/>
          </a:prstGeom>
          <a:noFill/>
          <a:ln w="31750">
            <a:solidFill>
              <a:srgbClr val="2E5BD8"/>
            </a:solidFill>
            <a:prstDash val="solid"/>
            <a:tailEnd type="triangle"/>
          </a:ln>
        </p:spPr>
      </p:sp>
      <p:sp>
        <p:nvSpPr>
          <p:cNvPr id="19" name="Shape 17"/>
          <p:cNvSpPr/>
          <p:nvPr/>
        </p:nvSpPr>
        <p:spPr>
          <a:xfrm flipV="1">
            <a:off x="3200400" y="4251960"/>
            <a:ext cx="91" cy="640080"/>
          </a:xfrm>
          <a:prstGeom prst="line">
            <a:avLst/>
          </a:prstGeom>
          <a:noFill/>
          <a:ln w="31750">
            <a:solidFill>
              <a:srgbClr val="C8414C"/>
            </a:solidFill>
            <a:prstDash val="solid"/>
            <a:tailEnd type="triangle"/>
          </a:ln>
        </p:spPr>
      </p:sp>
      <p:sp>
        <p:nvSpPr>
          <p:cNvPr id="20" name="Shape 18"/>
          <p:cNvSpPr/>
          <p:nvPr/>
        </p:nvSpPr>
        <p:spPr>
          <a:xfrm>
            <a:off x="3108960" y="4800600"/>
            <a:ext cx="182880" cy="182880"/>
          </a:xfrm>
          <a:prstGeom prst="rect">
            <a:avLst/>
          </a:prstGeom>
          <a:solidFill>
            <a:srgbClr val="1A2340"/>
          </a:solidFill>
          <a:ln/>
        </p:spPr>
      </p:sp>
      <p:sp>
        <p:nvSpPr>
          <p:cNvPr id="21" name="Shape 19"/>
          <p:cNvSpPr/>
          <p:nvPr/>
        </p:nvSpPr>
        <p:spPr>
          <a:xfrm>
            <a:off x="1600200" y="3291840"/>
            <a:ext cx="91" cy="822960"/>
          </a:xfrm>
          <a:prstGeom prst="line">
            <a:avLst/>
          </a:prstGeom>
          <a:noFill/>
          <a:ln w="31750">
            <a:solidFill>
              <a:srgbClr val="2E5BD8"/>
            </a:solidFill>
            <a:prstDash val="solid"/>
            <a:tailEnd type="triangle"/>
          </a:ln>
        </p:spPr>
      </p:sp>
      <p:sp>
        <p:nvSpPr>
          <p:cNvPr id="22" name="Shape 20"/>
          <p:cNvSpPr/>
          <p:nvPr/>
        </p:nvSpPr>
        <p:spPr>
          <a:xfrm>
            <a:off x="1600200" y="3291840"/>
            <a:ext cx="640080" cy="91"/>
          </a:xfrm>
          <a:prstGeom prst="line">
            <a:avLst/>
          </a:prstGeom>
          <a:noFill/>
          <a:ln w="31750">
            <a:solidFill>
              <a:srgbClr val="C8414C"/>
            </a:solidFill>
            <a:prstDash val="solid"/>
            <a:tailEnd type="triangle"/>
          </a:ln>
        </p:spPr>
      </p:sp>
      <p:sp>
        <p:nvSpPr>
          <p:cNvPr id="23" name="Shape 21"/>
          <p:cNvSpPr/>
          <p:nvPr/>
        </p:nvSpPr>
        <p:spPr>
          <a:xfrm>
            <a:off x="1508760" y="3200400"/>
            <a:ext cx="182880" cy="182880"/>
          </a:xfrm>
          <a:prstGeom prst="rect">
            <a:avLst/>
          </a:prstGeom>
          <a:solidFill>
            <a:srgbClr val="1A2340"/>
          </a:solidFill>
          <a:ln/>
        </p:spPr>
      </p:sp>
      <p:sp>
        <p:nvSpPr>
          <p:cNvPr id="24" name="Shape 22"/>
          <p:cNvSpPr/>
          <p:nvPr/>
        </p:nvSpPr>
        <p:spPr>
          <a:xfrm flipH="1">
            <a:off x="2377440" y="1691640"/>
            <a:ext cx="822960" cy="0"/>
          </a:xfrm>
          <a:prstGeom prst="line">
            <a:avLst/>
          </a:prstGeom>
          <a:noFill/>
          <a:ln w="31750">
            <a:solidFill>
              <a:srgbClr val="2E5BD8"/>
            </a:solidFill>
            <a:prstDash val="solid"/>
            <a:tailEnd type="triangle"/>
          </a:ln>
        </p:spPr>
      </p:sp>
      <p:sp>
        <p:nvSpPr>
          <p:cNvPr id="25" name="Shape 23"/>
          <p:cNvSpPr/>
          <p:nvPr/>
        </p:nvSpPr>
        <p:spPr>
          <a:xfrm>
            <a:off x="3200400" y="1691640"/>
            <a:ext cx="91" cy="640080"/>
          </a:xfrm>
          <a:prstGeom prst="line">
            <a:avLst/>
          </a:prstGeom>
          <a:noFill/>
          <a:ln w="31750">
            <a:solidFill>
              <a:srgbClr val="C8414C"/>
            </a:solidFill>
            <a:prstDash val="solid"/>
            <a:tailEnd type="triangle"/>
          </a:ln>
        </p:spPr>
      </p:sp>
      <p:sp>
        <p:nvSpPr>
          <p:cNvPr id="26" name="Shape 24"/>
          <p:cNvSpPr/>
          <p:nvPr/>
        </p:nvSpPr>
        <p:spPr>
          <a:xfrm>
            <a:off x="3108960" y="1600200"/>
            <a:ext cx="182880" cy="182880"/>
          </a:xfrm>
          <a:prstGeom prst="rect">
            <a:avLst/>
          </a:prstGeom>
          <a:solidFill>
            <a:srgbClr val="1A2340"/>
          </a:solidFill>
          <a:ln/>
        </p:spPr>
      </p:sp>
      <p:sp>
        <p:nvSpPr>
          <p:cNvPr id="27" name="Text 25"/>
          <p:cNvSpPr/>
          <p:nvPr/>
        </p:nvSpPr>
        <p:spPr>
          <a:xfrm>
            <a:off x="548640" y="1280160"/>
            <a:ext cx="228600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velocity v (tangent)</a:t>
            </a:r>
            <a:endParaRPr lang="en-US" sz="1100" dirty="0"/>
          </a:p>
        </p:txBody>
      </p:sp>
      <p:sp>
        <p:nvSpPr>
          <p:cNvPr id="28" name="Text 26"/>
          <p:cNvSpPr/>
          <p:nvPr/>
        </p:nvSpPr>
        <p:spPr>
          <a:xfrm>
            <a:off x="548640" y="1554480"/>
            <a:ext cx="256032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centripetal force (to centre)</a:t>
            </a:r>
            <a:endParaRPr lang="en-US" sz="1100" dirty="0"/>
          </a:p>
        </p:txBody>
      </p:sp>
      <p:sp>
        <p:nvSpPr>
          <p:cNvPr id="29" name="Shape 2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0" name="Text 2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circular motion needs a force</a:t>
            </a:r>
            <a:endParaRPr lang="en-US" sz="1300" dirty="0"/>
          </a:p>
        </p:txBody>
      </p:sp>
      <p:sp>
        <p:nvSpPr>
          <p:cNvPr id="31" name="Text 2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At constant </a:t>
            </a:r>
            <a:r>
              <a:rPr lang="en-US" sz="1150" b="1" dirty="0">
                <a:solidFill>
                  <a:srgbClr val="262B3A"/>
                </a:solidFill>
                <a:latin typeface="Calibri" pitchFamily="34" charset="0"/>
                <a:ea typeface="Calibri" pitchFamily="34" charset="-122"/>
                <a:cs typeface="Calibri" pitchFamily="34" charset="-120"/>
              </a:rPr>
              <a:t>speed</a:t>
            </a:r>
            <a:r>
              <a:rPr lang="en-US" sz="1150" dirty="0">
                <a:solidFill>
                  <a:srgbClr val="262B3A"/>
                </a:solidFill>
                <a:latin typeface="Calibri" pitchFamily="34" charset="0"/>
                <a:ea typeface="Calibri" pitchFamily="34" charset="-122"/>
                <a:cs typeface="Calibri" pitchFamily="34" charset="-120"/>
              </a:rPr>
              <a:t> in a circle, the </a:t>
            </a:r>
            <a:r>
              <a:rPr lang="en-US" sz="1150" b="1" dirty="0">
                <a:solidFill>
                  <a:srgbClr val="262B3A"/>
                </a:solidFill>
                <a:latin typeface="Calibri" pitchFamily="34" charset="0"/>
                <a:ea typeface="Calibri" pitchFamily="34" charset="-122"/>
                <a:cs typeface="Calibri" pitchFamily="34" charset="-120"/>
              </a:rPr>
              <a:t>direction</a:t>
            </a:r>
            <a:r>
              <a:rPr lang="en-US" sz="1150" dirty="0">
                <a:solidFill>
                  <a:srgbClr val="262B3A"/>
                </a:solidFill>
                <a:latin typeface="Calibri" pitchFamily="34" charset="0"/>
                <a:ea typeface="Calibri" pitchFamily="34" charset="-122"/>
                <a:cs typeface="Calibri" pitchFamily="34" charset="-120"/>
              </a:rPr>
              <a:t> keeps changing, so the </a:t>
            </a:r>
            <a:r>
              <a:rPr lang="en-US" sz="1150" b="1" dirty="0">
                <a:solidFill>
                  <a:srgbClr val="262B3A"/>
                </a:solidFill>
                <a:latin typeface="Calibri" pitchFamily="34" charset="0"/>
                <a:ea typeface="Calibri" pitchFamily="34" charset="-122"/>
                <a:cs typeface="Calibri" pitchFamily="34" charset="-120"/>
              </a:rPr>
              <a:t>velocity changes</a:t>
            </a:r>
            <a:r>
              <a:rPr lang="en-US" sz="1150" dirty="0">
                <a:solidFill>
                  <a:srgbClr val="262B3A"/>
                </a:solidFill>
                <a:latin typeface="Calibri" pitchFamily="34" charset="0"/>
                <a:ea typeface="Calibri" pitchFamily="34" charset="-122"/>
                <a:cs typeface="Calibri" pitchFamily="34" charset="-120"/>
              </a:rPr>
              <a:t> (velocity is a vector).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changing velocity is an </a:t>
            </a:r>
            <a:r>
              <a:rPr lang="en-US" sz="1150" b="1" dirty="0">
                <a:solidFill>
                  <a:srgbClr val="262B3A"/>
                </a:solidFill>
                <a:latin typeface="Calibri" pitchFamily="34" charset="0"/>
                <a:ea typeface="Calibri" pitchFamily="34" charset="-122"/>
                <a:cs typeface="Calibri" pitchFamily="34" charset="-120"/>
              </a:rPr>
              <a:t>acceleration</a:t>
            </a:r>
            <a:r>
              <a:rPr lang="en-US" sz="1150" dirty="0">
                <a:solidFill>
                  <a:srgbClr val="262B3A"/>
                </a:solidFill>
                <a:latin typeface="Calibri" pitchFamily="34" charset="0"/>
                <a:ea typeface="Calibri" pitchFamily="34" charset="-122"/>
                <a:cs typeface="Calibri" pitchFamily="34" charset="-120"/>
              </a:rPr>
              <a:t>, so (first law) there must be a </a:t>
            </a:r>
            <a:r>
              <a:rPr lang="en-US" sz="1150" b="1" dirty="0">
                <a:solidFill>
                  <a:srgbClr val="262B3A"/>
                </a:solidFill>
                <a:latin typeface="Calibri" pitchFamily="34" charset="0"/>
                <a:ea typeface="Calibri" pitchFamily="34" charset="-122"/>
                <a:cs typeface="Calibri" pitchFamily="34" charset="-120"/>
              </a:rPr>
              <a:t>resultant force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resultant force acts </a:t>
            </a:r>
            <a:r>
              <a:rPr lang="en-US" sz="1150" b="1" dirty="0">
                <a:solidFill>
                  <a:srgbClr val="262B3A"/>
                </a:solidFill>
                <a:latin typeface="Calibri" pitchFamily="34" charset="0"/>
                <a:ea typeface="Calibri" pitchFamily="34" charset="-122"/>
                <a:cs typeface="Calibri" pitchFamily="34" charset="-120"/>
              </a:rPr>
              <a:t>towards the centre</a:t>
            </a:r>
            <a:r>
              <a:rPr lang="en-US" sz="1150" dirty="0">
                <a:solidFill>
                  <a:srgbClr val="262B3A"/>
                </a:solidFill>
                <a:latin typeface="Calibri" pitchFamily="34" charset="0"/>
                <a:ea typeface="Calibri" pitchFamily="34" charset="-122"/>
                <a:cs typeface="Calibri" pitchFamily="34" charset="-120"/>
              </a:rPr>
              <a:t> of the circle: the </a:t>
            </a:r>
            <a:r>
              <a:rPr lang="en-US" sz="1150" b="1" dirty="0">
                <a:solidFill>
                  <a:srgbClr val="262B3A"/>
                </a:solidFill>
                <a:latin typeface="Calibri" pitchFamily="34" charset="0"/>
                <a:ea typeface="Calibri" pitchFamily="34" charset="-122"/>
                <a:cs typeface="Calibri" pitchFamily="34" charset="-120"/>
              </a:rPr>
              <a:t>centripetal force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is not a new force – it is provided by another force:</a:t>
            </a:r>
            <a:endParaRPr lang="en-US" sz="1150" dirty="0"/>
          </a:p>
          <a:p>
            <a:pPr indent="0" marL="0">
              <a:spcAft>
                <a:spcPts val="300"/>
              </a:spcAft>
              <a:buNone/>
            </a:pPr>
            <a:r>
              <a:rPr lang="en-US" sz="1150" dirty="0">
                <a:solidFill>
                  <a:srgbClr val="262B3A"/>
                </a:solidFill>
                <a:latin typeface="Calibri" pitchFamily="34" charset="0"/>
                <a:ea typeface="Calibri" pitchFamily="34" charset="-122"/>
                <a:cs typeface="Calibri" pitchFamily="34" charset="-120"/>
              </a:rPr>
              <a:t>satellite → </a:t>
            </a:r>
            <a:r>
              <a:rPr lang="en-US" sz="1150" b="1" dirty="0">
                <a:solidFill>
                  <a:srgbClr val="262B3A"/>
                </a:solidFill>
                <a:latin typeface="Calibri" pitchFamily="34" charset="0"/>
                <a:ea typeface="Calibri" pitchFamily="34" charset="-122"/>
                <a:cs typeface="Calibri" pitchFamily="34" charset="-120"/>
              </a:rPr>
              <a:t>gravity</a:t>
            </a:r>
            <a:r>
              <a:rPr lang="en-US" sz="1150" dirty="0">
                <a:solidFill>
                  <a:srgbClr val="262B3A"/>
                </a:solidFill>
                <a:latin typeface="Calibri" pitchFamily="34" charset="0"/>
                <a:ea typeface="Calibri" pitchFamily="34" charset="-122"/>
                <a:cs typeface="Calibri" pitchFamily="34" charset="-120"/>
              </a:rPr>
              <a:t> • car on a bend → </a:t>
            </a:r>
            <a:r>
              <a:rPr lang="en-US" sz="1150" b="1" dirty="0">
                <a:solidFill>
                  <a:srgbClr val="262B3A"/>
                </a:solidFill>
                <a:latin typeface="Calibri" pitchFamily="34" charset="0"/>
                <a:ea typeface="Calibri" pitchFamily="34" charset="-122"/>
                <a:cs typeface="Calibri" pitchFamily="34" charset="-120"/>
              </a:rPr>
              <a:t>friction</a:t>
            </a:r>
            <a:r>
              <a:rPr lang="en-US" sz="1150" dirty="0">
                <a:solidFill>
                  <a:srgbClr val="262B3A"/>
                </a:solidFill>
                <a:latin typeface="Calibri" pitchFamily="34" charset="0"/>
                <a:ea typeface="Calibri" pitchFamily="34" charset="-122"/>
                <a:cs typeface="Calibri" pitchFamily="34" charset="-120"/>
              </a:rPr>
              <a:t> • ball on a string → </a:t>
            </a:r>
            <a:r>
              <a:rPr lang="en-US" sz="1150" b="1" dirty="0">
                <a:solidFill>
                  <a:srgbClr val="262B3A"/>
                </a:solidFill>
                <a:latin typeface="Calibri" pitchFamily="34" charset="0"/>
                <a:ea typeface="Calibri" pitchFamily="34" charset="-122"/>
                <a:cs typeface="Calibri" pitchFamily="34" charset="-120"/>
              </a:rPr>
              <a:t>tension</a:t>
            </a:r>
            <a:endParaRPr lang="en-US" sz="1150" dirty="0"/>
          </a:p>
        </p:txBody>
      </p:sp>
      <p:sp>
        <p:nvSpPr>
          <p:cNvPr id="32" name="Shape 3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3" name="Text 3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a:t>
            </a:r>
            <a:endParaRPr lang="en-US" sz="1300" dirty="0"/>
          </a:p>
        </p:txBody>
      </p:sp>
      <p:sp>
        <p:nvSpPr>
          <p:cNvPr id="34" name="Text 3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a car on an icy roundabout slide off the bend?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Need   </a:t>
            </a:r>
            <a:r>
              <a:rPr lang="en-US" sz="1050" dirty="0">
                <a:solidFill>
                  <a:srgbClr val="262B3A"/>
                </a:solidFill>
                <a:latin typeface="Calibri" pitchFamily="34" charset="0"/>
                <a:ea typeface="Calibri" pitchFamily="34" charset="-122"/>
                <a:cs typeface="Calibri" pitchFamily="34" charset="-120"/>
              </a:rPr>
              <a:t>a force towards the centre to keep turning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Provided by   </a:t>
            </a:r>
            <a:r>
              <a:rPr lang="en-US" sz="1050" dirty="0">
                <a:solidFill>
                  <a:srgbClr val="262B3A"/>
                </a:solidFill>
                <a:latin typeface="Calibri" pitchFamily="34" charset="0"/>
                <a:ea typeface="Calibri" pitchFamily="34" charset="-122"/>
                <a:cs typeface="Calibri" pitchFamily="34" charset="-120"/>
              </a:rPr>
              <a:t>friction between tyres and road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Ice   </a:t>
            </a:r>
            <a:r>
              <a:rPr lang="en-US" sz="1050" dirty="0">
                <a:solidFill>
                  <a:srgbClr val="262B3A"/>
                </a:solidFill>
                <a:latin typeface="Calibri" pitchFamily="34" charset="0"/>
                <a:ea typeface="Calibri" pitchFamily="34" charset="-122"/>
                <a:cs typeface="Calibri" pitchFamily="34" charset="-120"/>
              </a:rPr>
              <a:t>friction too small → not enough centripetal force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car continues in a straighter line (first law)</a:t>
            </a:r>
            <a:endParaRPr lang="en-US" sz="105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ball is whirled in a horizontal circle on a string. The string snaps. Describe the path of the ball.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Inertial mass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2.22 • how difficult it is to change an object’s velocity</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2.22  |  22</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10 N resultant force on two trolleys (arrows to scale)</a:t>
            </a:r>
            <a:endParaRPr lang="en-US" sz="1000" dirty="0"/>
          </a:p>
        </p:txBody>
      </p:sp>
      <p:sp>
        <p:nvSpPr>
          <p:cNvPr id="12" name="Shape 10"/>
          <p:cNvSpPr/>
          <p:nvPr/>
        </p:nvSpPr>
        <p:spPr>
          <a:xfrm>
            <a:off x="685800" y="2514600"/>
            <a:ext cx="5029200" cy="73152"/>
          </a:xfrm>
          <a:prstGeom prst="rect">
            <a:avLst/>
          </a:prstGeom>
          <a:solidFill>
            <a:srgbClr val="5A6275"/>
          </a:solidFill>
          <a:ln/>
        </p:spPr>
      </p:sp>
      <p:sp>
        <p:nvSpPr>
          <p:cNvPr id="13" name="Shape 11"/>
          <p:cNvSpPr/>
          <p:nvPr/>
        </p:nvSpPr>
        <p:spPr>
          <a:xfrm>
            <a:off x="914400" y="2066544"/>
            <a:ext cx="822960" cy="310896"/>
          </a:xfrm>
          <a:prstGeom prst="roundRect">
            <a:avLst>
              <a:gd name="adj" fmla="val 11765"/>
            </a:avLst>
          </a:prstGeom>
          <a:solidFill>
            <a:srgbClr val="2E5BD8"/>
          </a:solidFill>
          <a:ln w="12700">
            <a:solidFill>
              <a:srgbClr val="2B3F7A"/>
            </a:solidFill>
            <a:prstDash val="solid"/>
          </a:ln>
        </p:spPr>
      </p:sp>
      <p:sp>
        <p:nvSpPr>
          <p:cNvPr id="14" name="Shape 12"/>
          <p:cNvSpPr/>
          <p:nvPr/>
        </p:nvSpPr>
        <p:spPr>
          <a:xfrm>
            <a:off x="1014984" y="2350008"/>
            <a:ext cx="164592" cy="164592"/>
          </a:xfrm>
          <a:prstGeom prst="ellipse">
            <a:avLst/>
          </a:prstGeom>
          <a:solidFill>
            <a:srgbClr val="3B4252"/>
          </a:solidFill>
          <a:ln w="9525">
            <a:solidFill>
              <a:srgbClr val="1F2430"/>
            </a:solidFill>
            <a:prstDash val="solid"/>
          </a:ln>
        </p:spPr>
      </p:sp>
      <p:sp>
        <p:nvSpPr>
          <p:cNvPr id="15" name="Shape 13"/>
          <p:cNvSpPr/>
          <p:nvPr/>
        </p:nvSpPr>
        <p:spPr>
          <a:xfrm>
            <a:off x="1472184" y="2350008"/>
            <a:ext cx="164592" cy="164592"/>
          </a:xfrm>
          <a:prstGeom prst="ellipse">
            <a:avLst/>
          </a:prstGeom>
          <a:solidFill>
            <a:srgbClr val="3B4252"/>
          </a:solidFill>
          <a:ln w="9525">
            <a:solidFill>
              <a:srgbClr val="1F2430"/>
            </a:solidFill>
            <a:prstDash val="solid"/>
          </a:ln>
        </p:spPr>
      </p:sp>
      <p:sp>
        <p:nvSpPr>
          <p:cNvPr id="16" name="Text 14"/>
          <p:cNvSpPr/>
          <p:nvPr/>
        </p:nvSpPr>
        <p:spPr>
          <a:xfrm>
            <a:off x="914400" y="2066544"/>
            <a:ext cx="8229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 kg</a:t>
            </a:r>
            <a:endParaRPr lang="en-US" sz="1050" dirty="0"/>
          </a:p>
        </p:txBody>
      </p:sp>
      <p:sp>
        <p:nvSpPr>
          <p:cNvPr id="17" name="Shape 15"/>
          <p:cNvSpPr/>
          <p:nvPr/>
        </p:nvSpPr>
        <p:spPr>
          <a:xfrm>
            <a:off x="1737360" y="2212848"/>
            <a:ext cx="914400" cy="91"/>
          </a:xfrm>
          <a:prstGeom prst="line">
            <a:avLst/>
          </a:prstGeom>
          <a:noFill/>
          <a:ln w="38100">
            <a:solidFill>
              <a:srgbClr val="C8414C"/>
            </a:solidFill>
            <a:prstDash val="solid"/>
            <a:tailEnd type="triangle"/>
          </a:ln>
        </p:spPr>
      </p:sp>
      <p:sp>
        <p:nvSpPr>
          <p:cNvPr id="18" name="Text 16"/>
          <p:cNvSpPr/>
          <p:nvPr/>
        </p:nvSpPr>
        <p:spPr>
          <a:xfrm>
            <a:off x="2697480" y="2075688"/>
            <a:ext cx="5486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10 N</a:t>
            </a:r>
            <a:endParaRPr lang="en-US" sz="1100" dirty="0"/>
          </a:p>
        </p:txBody>
      </p:sp>
      <p:sp>
        <p:nvSpPr>
          <p:cNvPr id="19" name="Shape 17"/>
          <p:cNvSpPr/>
          <p:nvPr/>
        </p:nvSpPr>
        <p:spPr>
          <a:xfrm>
            <a:off x="914400" y="1600200"/>
            <a:ext cx="2743200" cy="91"/>
          </a:xfrm>
          <a:prstGeom prst="line">
            <a:avLst/>
          </a:prstGeom>
          <a:noFill/>
          <a:ln w="38100">
            <a:solidFill>
              <a:srgbClr val="2E8B57"/>
            </a:solidFill>
            <a:prstDash val="solid"/>
            <a:tailEnd type="triangle"/>
          </a:ln>
        </p:spPr>
      </p:sp>
      <p:sp>
        <p:nvSpPr>
          <p:cNvPr id="20" name="Text 18"/>
          <p:cNvSpPr/>
          <p:nvPr/>
        </p:nvSpPr>
        <p:spPr>
          <a:xfrm>
            <a:off x="3703320" y="1463040"/>
            <a:ext cx="146304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a = 5 m/s²</a:t>
            </a:r>
            <a:endParaRPr lang="en-US" sz="1100" dirty="0"/>
          </a:p>
        </p:txBody>
      </p:sp>
      <p:sp>
        <p:nvSpPr>
          <p:cNvPr id="21" name="Shape 19"/>
          <p:cNvSpPr/>
          <p:nvPr/>
        </p:nvSpPr>
        <p:spPr>
          <a:xfrm>
            <a:off x="685800" y="4160520"/>
            <a:ext cx="5029200" cy="73152"/>
          </a:xfrm>
          <a:prstGeom prst="rect">
            <a:avLst/>
          </a:prstGeom>
          <a:solidFill>
            <a:srgbClr val="5A6275"/>
          </a:solidFill>
          <a:ln/>
        </p:spPr>
      </p:sp>
      <p:sp>
        <p:nvSpPr>
          <p:cNvPr id="22" name="Shape 20"/>
          <p:cNvSpPr/>
          <p:nvPr/>
        </p:nvSpPr>
        <p:spPr>
          <a:xfrm>
            <a:off x="914400" y="3520440"/>
            <a:ext cx="1828800" cy="502920"/>
          </a:xfrm>
          <a:prstGeom prst="roundRect">
            <a:avLst>
              <a:gd name="adj" fmla="val 7273"/>
            </a:avLst>
          </a:prstGeom>
          <a:solidFill>
            <a:srgbClr val="3A548A"/>
          </a:solidFill>
          <a:ln w="12700">
            <a:solidFill>
              <a:srgbClr val="2B3F7A"/>
            </a:solidFill>
            <a:prstDash val="solid"/>
          </a:ln>
        </p:spPr>
      </p:sp>
      <p:sp>
        <p:nvSpPr>
          <p:cNvPr id="23" name="Shape 21"/>
          <p:cNvSpPr/>
          <p:nvPr/>
        </p:nvSpPr>
        <p:spPr>
          <a:xfrm>
            <a:off x="1014984" y="3995928"/>
            <a:ext cx="164592" cy="164592"/>
          </a:xfrm>
          <a:prstGeom prst="ellipse">
            <a:avLst/>
          </a:prstGeom>
          <a:solidFill>
            <a:srgbClr val="3B4252"/>
          </a:solidFill>
          <a:ln w="9525">
            <a:solidFill>
              <a:srgbClr val="1F2430"/>
            </a:solidFill>
            <a:prstDash val="solid"/>
          </a:ln>
        </p:spPr>
      </p:sp>
      <p:sp>
        <p:nvSpPr>
          <p:cNvPr id="24" name="Shape 22"/>
          <p:cNvSpPr/>
          <p:nvPr/>
        </p:nvSpPr>
        <p:spPr>
          <a:xfrm>
            <a:off x="2478024" y="3995928"/>
            <a:ext cx="164592" cy="164592"/>
          </a:xfrm>
          <a:prstGeom prst="ellipse">
            <a:avLst/>
          </a:prstGeom>
          <a:solidFill>
            <a:srgbClr val="3B4252"/>
          </a:solidFill>
          <a:ln w="9525">
            <a:solidFill>
              <a:srgbClr val="1F2430"/>
            </a:solidFill>
            <a:prstDash val="solid"/>
          </a:ln>
        </p:spPr>
      </p:sp>
      <p:sp>
        <p:nvSpPr>
          <p:cNvPr id="25" name="Text 23"/>
          <p:cNvSpPr/>
          <p:nvPr/>
        </p:nvSpPr>
        <p:spPr>
          <a:xfrm>
            <a:off x="914400" y="3520440"/>
            <a:ext cx="182880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5.0 kg</a:t>
            </a:r>
            <a:endParaRPr lang="en-US" sz="1050" dirty="0"/>
          </a:p>
        </p:txBody>
      </p:sp>
      <p:sp>
        <p:nvSpPr>
          <p:cNvPr id="26" name="Shape 24"/>
          <p:cNvSpPr/>
          <p:nvPr/>
        </p:nvSpPr>
        <p:spPr>
          <a:xfrm>
            <a:off x="2743200" y="3749040"/>
            <a:ext cx="914400" cy="91"/>
          </a:xfrm>
          <a:prstGeom prst="line">
            <a:avLst/>
          </a:prstGeom>
          <a:noFill/>
          <a:ln w="38100">
            <a:solidFill>
              <a:srgbClr val="C8414C"/>
            </a:solidFill>
            <a:prstDash val="solid"/>
            <a:tailEnd type="triangle"/>
          </a:ln>
        </p:spPr>
      </p:sp>
      <p:sp>
        <p:nvSpPr>
          <p:cNvPr id="27" name="Text 25"/>
          <p:cNvSpPr/>
          <p:nvPr/>
        </p:nvSpPr>
        <p:spPr>
          <a:xfrm>
            <a:off x="3703320" y="3611880"/>
            <a:ext cx="548640" cy="274320"/>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10 N</a:t>
            </a:r>
            <a:endParaRPr lang="en-US" sz="1100" dirty="0"/>
          </a:p>
        </p:txBody>
      </p:sp>
      <p:sp>
        <p:nvSpPr>
          <p:cNvPr id="28" name="Shape 26"/>
          <p:cNvSpPr/>
          <p:nvPr/>
        </p:nvSpPr>
        <p:spPr>
          <a:xfrm>
            <a:off x="914400" y="3063240"/>
            <a:ext cx="1097280" cy="91"/>
          </a:xfrm>
          <a:prstGeom prst="line">
            <a:avLst/>
          </a:prstGeom>
          <a:noFill/>
          <a:ln w="38100">
            <a:solidFill>
              <a:srgbClr val="2E8B57"/>
            </a:solidFill>
            <a:prstDash val="solid"/>
            <a:tailEnd type="triangle"/>
          </a:ln>
        </p:spPr>
      </p:sp>
      <p:sp>
        <p:nvSpPr>
          <p:cNvPr id="29" name="Text 27"/>
          <p:cNvSpPr/>
          <p:nvPr/>
        </p:nvSpPr>
        <p:spPr>
          <a:xfrm>
            <a:off x="2057400" y="2926080"/>
            <a:ext cx="146304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a = 2 m/s²</a:t>
            </a:r>
            <a:endParaRPr lang="en-US" sz="1100" dirty="0"/>
          </a:p>
        </p:txBody>
      </p:sp>
      <p:sp>
        <p:nvSpPr>
          <p:cNvPr id="30" name="Shape 28"/>
          <p:cNvSpPr/>
          <p:nvPr/>
        </p:nvSpPr>
        <p:spPr>
          <a:xfrm>
            <a:off x="868680" y="4434840"/>
            <a:ext cx="4663440" cy="777240"/>
          </a:xfrm>
          <a:prstGeom prst="roundRect">
            <a:avLst>
              <a:gd name="adj" fmla="val 5882"/>
            </a:avLst>
          </a:prstGeom>
          <a:solidFill>
            <a:srgbClr val="FFFFFF"/>
          </a:solidFill>
          <a:ln w="12700">
            <a:solidFill>
              <a:srgbClr val="D5DCEB"/>
            </a:solidFill>
            <a:prstDash val="solid"/>
          </a:ln>
        </p:spPr>
      </p:sp>
      <p:sp>
        <p:nvSpPr>
          <p:cNvPr id="31" name="Text 29"/>
          <p:cNvSpPr/>
          <p:nvPr/>
        </p:nvSpPr>
        <p:spPr>
          <a:xfrm>
            <a:off x="868680" y="4480560"/>
            <a:ext cx="4663440" cy="411480"/>
          </a:xfrm>
          <a:prstGeom prst="rect">
            <a:avLst/>
          </a:prstGeom>
          <a:noFill/>
          <a:ln/>
        </p:spPr>
        <p:txBody>
          <a:bodyPr wrap="square" lIns="0" tIns="0" rIns="0" bIns="0" rtlCol="0" anchor="ctr"/>
          <a:lstStyle/>
          <a:p>
            <a:pPr algn="ctr" indent="0" marL="0">
              <a:buNone/>
            </a:pPr>
            <a:r>
              <a:rPr lang="en-US" sz="2000" b="1" dirty="0">
                <a:solidFill>
                  <a:srgbClr val="1A2340"/>
                </a:solidFill>
                <a:latin typeface="Calibri" pitchFamily="34" charset="0"/>
                <a:ea typeface="Calibri" pitchFamily="34" charset="-122"/>
                <a:cs typeface="Calibri" pitchFamily="34" charset="-120"/>
              </a:rPr>
              <a:t>inertial mass = F ÷ a</a:t>
            </a:r>
            <a:endParaRPr lang="en-US" sz="2000" dirty="0"/>
          </a:p>
        </p:txBody>
      </p:sp>
      <p:sp>
        <p:nvSpPr>
          <p:cNvPr id="32" name="Text 30"/>
          <p:cNvSpPr/>
          <p:nvPr/>
        </p:nvSpPr>
        <p:spPr>
          <a:xfrm>
            <a:off x="868680" y="4892040"/>
            <a:ext cx="4663440"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larger inertial mass → smaller acceleration</a:t>
            </a:r>
            <a:endParaRPr lang="en-US" sz="1100" dirty="0"/>
          </a:p>
        </p:txBody>
      </p:sp>
      <p:sp>
        <p:nvSpPr>
          <p:cNvPr id="33" name="Shape 3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4" name="Text 3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Inertia and inertial mass</a:t>
            </a:r>
            <a:endParaRPr lang="en-US" sz="1300" dirty="0"/>
          </a:p>
        </p:txBody>
      </p:sp>
      <p:sp>
        <p:nvSpPr>
          <p:cNvPr id="35" name="Text 3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Inertia:</a:t>
            </a:r>
            <a:r>
              <a:rPr lang="en-US" sz="1150" dirty="0">
                <a:solidFill>
                  <a:srgbClr val="262B3A"/>
                </a:solidFill>
                <a:latin typeface="Calibri" pitchFamily="34" charset="0"/>
                <a:ea typeface="Calibri" pitchFamily="34" charset="-122"/>
                <a:cs typeface="Calibri" pitchFamily="34" charset="-120"/>
              </a:rPr>
              <a:t> objects tend to keep their velocity (stay at rest or keep moving) unless a resultant force acts.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Inertial mass</a:t>
            </a:r>
            <a:r>
              <a:rPr lang="en-US" sz="1150" dirty="0">
                <a:solidFill>
                  <a:srgbClr val="262B3A"/>
                </a:solidFill>
                <a:latin typeface="Calibri" pitchFamily="34" charset="0"/>
                <a:ea typeface="Calibri" pitchFamily="34" charset="-122"/>
                <a:cs typeface="Calibri" pitchFamily="34" charset="-120"/>
              </a:rPr>
              <a:t> is a measure of </a:t>
            </a:r>
            <a:r>
              <a:rPr lang="en-US" sz="1150" b="1" dirty="0">
                <a:solidFill>
                  <a:srgbClr val="262B3A"/>
                </a:solidFill>
                <a:latin typeface="Calibri" pitchFamily="34" charset="0"/>
                <a:ea typeface="Calibri" pitchFamily="34" charset="-122"/>
                <a:cs typeface="Calibri" pitchFamily="34" charset="-120"/>
              </a:rPr>
              <a:t>how difficult it is to change the velocity</a:t>
            </a:r>
            <a:r>
              <a:rPr lang="en-US" sz="1150" dirty="0">
                <a:solidFill>
                  <a:srgbClr val="262B3A"/>
                </a:solidFill>
                <a:latin typeface="Calibri" pitchFamily="34" charset="0"/>
                <a:ea typeface="Calibri" pitchFamily="34" charset="-122"/>
                <a:cs typeface="Calibri" pitchFamily="34" charset="-120"/>
              </a:rPr>
              <a:t> of an object (including starting it from rest).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is defined as the </a:t>
            </a:r>
            <a:r>
              <a:rPr lang="en-US" sz="1150" b="1" dirty="0">
                <a:solidFill>
                  <a:srgbClr val="262B3A"/>
                </a:solidFill>
                <a:latin typeface="Calibri" pitchFamily="34" charset="0"/>
                <a:ea typeface="Calibri" pitchFamily="34" charset="-122"/>
                <a:cs typeface="Calibri" pitchFamily="34" charset="-120"/>
              </a:rPr>
              <a:t>ratio of force over acceleration</a:t>
            </a:r>
            <a:r>
              <a:rPr lang="en-US" sz="1150" dirty="0">
                <a:solidFill>
                  <a:srgbClr val="262B3A"/>
                </a:solidFill>
                <a:latin typeface="Calibri" pitchFamily="34" charset="0"/>
                <a:ea typeface="Calibri" pitchFamily="34" charset="-122"/>
                <a:cs typeface="Calibri" pitchFamily="34" charset="-120"/>
              </a:rPr>
              <a:t>: m = F ÷ a.</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loaded lorry is harder to start and to stop than a car: it has a larger inertial mass.</a:t>
            </a:r>
            <a:endParaRPr lang="en-US" sz="1150" dirty="0"/>
          </a:p>
        </p:txBody>
      </p:sp>
      <p:sp>
        <p:nvSpPr>
          <p:cNvPr id="36" name="Shape 3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7" name="Text 3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8" name="Text 3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resultant force of 2.4 N gives a trolley an acceleration of 0.60 m/s². Calculate its inertial mass.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inertial mass = F ÷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m = 2.4 N ÷ 0.60 m/s²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same as rearranging F = m ×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m = 4.0 kg</a:t>
            </a:r>
            <a:endParaRPr lang="en-US" sz="1100" dirty="0"/>
          </a:p>
        </p:txBody>
      </p:sp>
      <p:sp>
        <p:nvSpPr>
          <p:cNvPr id="39" name="Shape 37"/>
          <p:cNvSpPr/>
          <p:nvPr/>
        </p:nvSpPr>
        <p:spPr>
          <a:xfrm>
            <a:off x="411480" y="5833872"/>
            <a:ext cx="11368735" cy="530352"/>
          </a:xfrm>
          <a:prstGeom prst="rect">
            <a:avLst/>
          </a:prstGeom>
          <a:solidFill>
            <a:srgbClr val="FFF4E0"/>
          </a:solidFill>
          <a:ln w="6350">
            <a:solidFill>
              <a:srgbClr val="F1D9A8"/>
            </a:solidFill>
            <a:prstDash val="solid"/>
          </a:ln>
        </p:spPr>
      </p:sp>
      <p:sp>
        <p:nvSpPr>
          <p:cNvPr id="40" name="Shape 38"/>
          <p:cNvSpPr/>
          <p:nvPr/>
        </p:nvSpPr>
        <p:spPr>
          <a:xfrm>
            <a:off x="411480" y="5833872"/>
            <a:ext cx="82296" cy="530352"/>
          </a:xfrm>
          <a:prstGeom prst="rect">
            <a:avLst/>
          </a:prstGeom>
          <a:solidFill>
            <a:srgbClr val="E39A2F"/>
          </a:solidFill>
          <a:ln w="12700">
            <a:solidFill>
              <a:srgbClr val="E39A2F"/>
            </a:solidFill>
            <a:prstDash val="solid"/>
          </a:ln>
        </p:spPr>
      </p:sp>
      <p:sp>
        <p:nvSpPr>
          <p:cNvPr id="41" name="Text 3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it is harder to stop a full supermarket trolley than an empty one moving at the same speed.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Newton’s third law</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2.23 • equal and opposite forces on two different objects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2.23  |  23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skaters push each other: a third law pair (arrows to scale)</a:t>
            </a:r>
            <a:endParaRPr lang="en-US" sz="1000" dirty="0"/>
          </a:p>
        </p:txBody>
      </p:sp>
      <p:sp>
        <p:nvSpPr>
          <p:cNvPr id="10" name="Shape 8"/>
          <p:cNvSpPr/>
          <p:nvPr/>
        </p:nvSpPr>
        <p:spPr>
          <a:xfrm>
            <a:off x="685800" y="3383280"/>
            <a:ext cx="5029200" cy="109728"/>
          </a:xfrm>
          <a:prstGeom prst="rect">
            <a:avLst/>
          </a:prstGeom>
          <a:solidFill>
            <a:srgbClr val="CFE3F5"/>
          </a:solidFill>
          <a:ln w="12700">
            <a:solidFill>
              <a:srgbClr val="9FBEDD"/>
            </a:solidFill>
            <a:prstDash val="solid"/>
          </a:ln>
        </p:spPr>
      </p:sp>
      <p:sp>
        <p:nvSpPr>
          <p:cNvPr id="11" name="Shape 9"/>
          <p:cNvSpPr/>
          <p:nvPr/>
        </p:nvSpPr>
        <p:spPr>
          <a:xfrm>
            <a:off x="2344522" y="1920240"/>
            <a:ext cx="248717" cy="248717"/>
          </a:xfrm>
          <a:prstGeom prst="ellipse">
            <a:avLst/>
          </a:prstGeom>
          <a:solidFill>
            <a:srgbClr val="2E5B8A"/>
          </a:solidFill>
          <a:ln w="12700">
            <a:solidFill>
              <a:srgbClr val="2E5B8A"/>
            </a:solidFill>
            <a:prstDash val="solid"/>
          </a:ln>
        </p:spPr>
      </p:sp>
      <p:sp>
        <p:nvSpPr>
          <p:cNvPr id="12" name="Shape 10"/>
          <p:cNvSpPr/>
          <p:nvPr/>
        </p:nvSpPr>
        <p:spPr>
          <a:xfrm>
            <a:off x="2468880" y="2168957"/>
            <a:ext cx="91" cy="555955"/>
          </a:xfrm>
          <a:prstGeom prst="line">
            <a:avLst/>
          </a:prstGeom>
          <a:noFill/>
          <a:ln w="38100">
            <a:solidFill>
              <a:srgbClr val="2E5B8A"/>
            </a:solidFill>
            <a:prstDash val="solid"/>
          </a:ln>
        </p:spPr>
      </p:sp>
      <p:sp>
        <p:nvSpPr>
          <p:cNvPr id="13" name="Shape 11"/>
          <p:cNvSpPr/>
          <p:nvPr/>
        </p:nvSpPr>
        <p:spPr>
          <a:xfrm flipH="1">
            <a:off x="2304288" y="2724912"/>
            <a:ext cx="164592" cy="658368"/>
          </a:xfrm>
          <a:prstGeom prst="line">
            <a:avLst/>
          </a:prstGeom>
          <a:noFill/>
          <a:ln w="38100">
            <a:solidFill>
              <a:srgbClr val="2E5B8A"/>
            </a:solidFill>
            <a:prstDash val="solid"/>
          </a:ln>
        </p:spPr>
      </p:sp>
      <p:sp>
        <p:nvSpPr>
          <p:cNvPr id="14" name="Shape 12"/>
          <p:cNvSpPr/>
          <p:nvPr/>
        </p:nvSpPr>
        <p:spPr>
          <a:xfrm>
            <a:off x="2468880" y="2724912"/>
            <a:ext cx="164592" cy="658368"/>
          </a:xfrm>
          <a:prstGeom prst="line">
            <a:avLst/>
          </a:prstGeom>
          <a:noFill/>
          <a:ln w="38100">
            <a:solidFill>
              <a:srgbClr val="2E5B8A"/>
            </a:solidFill>
            <a:prstDash val="solid"/>
          </a:ln>
        </p:spPr>
      </p:sp>
      <p:sp>
        <p:nvSpPr>
          <p:cNvPr id="15" name="Shape 13"/>
          <p:cNvSpPr/>
          <p:nvPr/>
        </p:nvSpPr>
        <p:spPr>
          <a:xfrm>
            <a:off x="2468880" y="2278685"/>
            <a:ext cx="384048" cy="91"/>
          </a:xfrm>
          <a:prstGeom prst="line">
            <a:avLst/>
          </a:prstGeom>
          <a:noFill/>
          <a:ln w="38100">
            <a:solidFill>
              <a:srgbClr val="2E5B8A"/>
            </a:solidFill>
            <a:prstDash val="solid"/>
          </a:ln>
        </p:spPr>
      </p:sp>
      <p:sp>
        <p:nvSpPr>
          <p:cNvPr id="16" name="Shape 14"/>
          <p:cNvSpPr/>
          <p:nvPr/>
        </p:nvSpPr>
        <p:spPr>
          <a:xfrm>
            <a:off x="2468880" y="2333549"/>
            <a:ext cx="365760" cy="36576"/>
          </a:xfrm>
          <a:prstGeom prst="line">
            <a:avLst/>
          </a:prstGeom>
          <a:noFill/>
          <a:ln w="38100">
            <a:solidFill>
              <a:srgbClr val="2E5B8A"/>
            </a:solidFill>
            <a:prstDash val="solid"/>
          </a:ln>
        </p:spPr>
      </p:sp>
      <p:sp>
        <p:nvSpPr>
          <p:cNvPr id="17" name="Shape 15"/>
          <p:cNvSpPr/>
          <p:nvPr/>
        </p:nvSpPr>
        <p:spPr>
          <a:xfrm>
            <a:off x="3112618" y="1920240"/>
            <a:ext cx="248717" cy="248717"/>
          </a:xfrm>
          <a:prstGeom prst="ellipse">
            <a:avLst/>
          </a:prstGeom>
          <a:solidFill>
            <a:srgbClr val="C8414C"/>
          </a:solidFill>
          <a:ln w="12700">
            <a:solidFill>
              <a:srgbClr val="C8414C"/>
            </a:solidFill>
            <a:prstDash val="solid"/>
          </a:ln>
        </p:spPr>
      </p:sp>
      <p:sp>
        <p:nvSpPr>
          <p:cNvPr id="18" name="Shape 16"/>
          <p:cNvSpPr/>
          <p:nvPr/>
        </p:nvSpPr>
        <p:spPr>
          <a:xfrm>
            <a:off x="3236976" y="2168957"/>
            <a:ext cx="91" cy="555955"/>
          </a:xfrm>
          <a:prstGeom prst="line">
            <a:avLst/>
          </a:prstGeom>
          <a:noFill/>
          <a:ln w="38100">
            <a:solidFill>
              <a:srgbClr val="C8414C"/>
            </a:solidFill>
            <a:prstDash val="solid"/>
          </a:ln>
        </p:spPr>
      </p:sp>
      <p:sp>
        <p:nvSpPr>
          <p:cNvPr id="19" name="Shape 17"/>
          <p:cNvSpPr/>
          <p:nvPr/>
        </p:nvSpPr>
        <p:spPr>
          <a:xfrm flipH="1">
            <a:off x="3072384" y="2724912"/>
            <a:ext cx="164592" cy="658368"/>
          </a:xfrm>
          <a:prstGeom prst="line">
            <a:avLst/>
          </a:prstGeom>
          <a:noFill/>
          <a:ln w="38100">
            <a:solidFill>
              <a:srgbClr val="C8414C"/>
            </a:solidFill>
            <a:prstDash val="solid"/>
          </a:ln>
        </p:spPr>
      </p:sp>
      <p:sp>
        <p:nvSpPr>
          <p:cNvPr id="20" name="Shape 18"/>
          <p:cNvSpPr/>
          <p:nvPr/>
        </p:nvSpPr>
        <p:spPr>
          <a:xfrm>
            <a:off x="3236976" y="2724912"/>
            <a:ext cx="164592" cy="658368"/>
          </a:xfrm>
          <a:prstGeom prst="line">
            <a:avLst/>
          </a:prstGeom>
          <a:noFill/>
          <a:ln w="38100">
            <a:solidFill>
              <a:srgbClr val="C8414C"/>
            </a:solidFill>
            <a:prstDash val="solid"/>
          </a:ln>
        </p:spPr>
      </p:sp>
      <p:sp>
        <p:nvSpPr>
          <p:cNvPr id="21" name="Shape 19"/>
          <p:cNvSpPr/>
          <p:nvPr/>
        </p:nvSpPr>
        <p:spPr>
          <a:xfrm flipH="1">
            <a:off x="2852928" y="2278685"/>
            <a:ext cx="384048" cy="91"/>
          </a:xfrm>
          <a:prstGeom prst="line">
            <a:avLst/>
          </a:prstGeom>
          <a:noFill/>
          <a:ln w="38100">
            <a:solidFill>
              <a:srgbClr val="C8414C"/>
            </a:solidFill>
            <a:prstDash val="solid"/>
          </a:ln>
        </p:spPr>
      </p:sp>
      <p:sp>
        <p:nvSpPr>
          <p:cNvPr id="22" name="Shape 20"/>
          <p:cNvSpPr/>
          <p:nvPr/>
        </p:nvSpPr>
        <p:spPr>
          <a:xfrm flipH="1">
            <a:off x="2871216" y="2333549"/>
            <a:ext cx="365760" cy="36576"/>
          </a:xfrm>
          <a:prstGeom prst="line">
            <a:avLst/>
          </a:prstGeom>
          <a:noFill/>
          <a:ln w="38100">
            <a:solidFill>
              <a:srgbClr val="C8414C"/>
            </a:solidFill>
            <a:prstDash val="solid"/>
          </a:ln>
        </p:spPr>
      </p:sp>
      <p:sp>
        <p:nvSpPr>
          <p:cNvPr id="23" name="Text 21"/>
          <p:cNvSpPr/>
          <p:nvPr/>
        </p:nvSpPr>
        <p:spPr>
          <a:xfrm>
            <a:off x="1737360" y="3520440"/>
            <a:ext cx="1463040" cy="256032"/>
          </a:xfrm>
          <a:prstGeom prst="rect">
            <a:avLst/>
          </a:prstGeom>
          <a:noFill/>
          <a:ln/>
        </p:spPr>
        <p:txBody>
          <a:bodyPr wrap="square" lIns="0" tIns="0" rIns="0" bIns="0" rtlCol="0" anchor="ctr"/>
          <a:lstStyle/>
          <a:p>
            <a:pPr algn="ctr" indent="0" marL="0">
              <a:buNone/>
            </a:pPr>
            <a:r>
              <a:rPr lang="en-US" sz="1100" b="1" dirty="0">
                <a:solidFill>
                  <a:srgbClr val="2E5B8A"/>
                </a:solidFill>
                <a:latin typeface="Calibri" pitchFamily="34" charset="0"/>
                <a:ea typeface="Calibri" pitchFamily="34" charset="-122"/>
                <a:cs typeface="Calibri" pitchFamily="34" charset="-120"/>
              </a:rPr>
              <a:t>A  60 kg</a:t>
            </a:r>
            <a:endParaRPr lang="en-US" sz="1100" dirty="0"/>
          </a:p>
        </p:txBody>
      </p:sp>
      <p:sp>
        <p:nvSpPr>
          <p:cNvPr id="24" name="Text 22"/>
          <p:cNvSpPr/>
          <p:nvPr/>
        </p:nvSpPr>
        <p:spPr>
          <a:xfrm>
            <a:off x="2697480" y="3520440"/>
            <a:ext cx="146304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B  40 kg</a:t>
            </a:r>
            <a:endParaRPr lang="en-US" sz="1100" dirty="0"/>
          </a:p>
        </p:txBody>
      </p:sp>
      <p:sp>
        <p:nvSpPr>
          <p:cNvPr id="25" name="Shape 23"/>
          <p:cNvSpPr/>
          <p:nvPr/>
        </p:nvSpPr>
        <p:spPr>
          <a:xfrm flipH="1">
            <a:off x="1764792" y="1600200"/>
            <a:ext cx="1097280" cy="91"/>
          </a:xfrm>
          <a:prstGeom prst="line">
            <a:avLst/>
          </a:prstGeom>
          <a:noFill/>
          <a:ln w="44450">
            <a:solidFill>
              <a:srgbClr val="2E5BD8"/>
            </a:solidFill>
            <a:prstDash val="solid"/>
            <a:tailEnd type="triangle"/>
          </a:ln>
        </p:spPr>
      </p:sp>
      <p:sp>
        <p:nvSpPr>
          <p:cNvPr id="26" name="Text 24"/>
          <p:cNvSpPr/>
          <p:nvPr/>
        </p:nvSpPr>
        <p:spPr>
          <a:xfrm>
            <a:off x="640080" y="1280160"/>
            <a:ext cx="256032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force of B on A: 120 N</a:t>
            </a:r>
            <a:endParaRPr lang="en-US" sz="1050" dirty="0"/>
          </a:p>
        </p:txBody>
      </p:sp>
      <p:sp>
        <p:nvSpPr>
          <p:cNvPr id="27" name="Shape 25"/>
          <p:cNvSpPr/>
          <p:nvPr/>
        </p:nvSpPr>
        <p:spPr>
          <a:xfrm>
            <a:off x="2862072" y="1600200"/>
            <a:ext cx="1097280" cy="91"/>
          </a:xfrm>
          <a:prstGeom prst="line">
            <a:avLst/>
          </a:prstGeom>
          <a:noFill/>
          <a:ln w="44450">
            <a:solidFill>
              <a:srgbClr val="C8414C"/>
            </a:solidFill>
            <a:prstDash val="solid"/>
            <a:tailEnd type="triangle"/>
          </a:ln>
        </p:spPr>
      </p:sp>
      <p:sp>
        <p:nvSpPr>
          <p:cNvPr id="28" name="Text 26"/>
          <p:cNvSpPr/>
          <p:nvPr/>
        </p:nvSpPr>
        <p:spPr>
          <a:xfrm>
            <a:off x="3017520" y="1280160"/>
            <a:ext cx="265176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force of A on B: 120 N</a:t>
            </a:r>
            <a:endParaRPr lang="en-US" sz="1050" dirty="0"/>
          </a:p>
        </p:txBody>
      </p:sp>
      <p:sp>
        <p:nvSpPr>
          <p:cNvPr id="29" name="Text 27"/>
          <p:cNvSpPr/>
          <p:nvPr/>
        </p:nvSpPr>
        <p:spPr>
          <a:xfrm>
            <a:off x="685800" y="3931920"/>
            <a:ext cx="502920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A: a = 120 ÷ 60 = 2 m/s² (left)    B: a = 120 ÷ 40 = 3 m/s² (right)</a:t>
            </a:r>
            <a:endParaRPr lang="en-US" sz="1100" dirty="0"/>
          </a:p>
        </p:txBody>
      </p:sp>
      <p:sp>
        <p:nvSpPr>
          <p:cNvPr id="30" name="Shape 28"/>
          <p:cNvSpPr/>
          <p:nvPr/>
        </p:nvSpPr>
        <p:spPr>
          <a:xfrm>
            <a:off x="868680" y="4343400"/>
            <a:ext cx="4663440" cy="868680"/>
          </a:xfrm>
          <a:prstGeom prst="roundRect">
            <a:avLst>
              <a:gd name="adj" fmla="val 5263"/>
            </a:avLst>
          </a:prstGeom>
          <a:solidFill>
            <a:srgbClr val="FFFFFF"/>
          </a:solidFill>
          <a:ln w="12700">
            <a:solidFill>
              <a:srgbClr val="D5DCEB"/>
            </a:solidFill>
            <a:prstDash val="solid"/>
          </a:ln>
        </p:spPr>
      </p:sp>
      <p:sp>
        <p:nvSpPr>
          <p:cNvPr id="31" name="Text 29"/>
          <p:cNvSpPr/>
          <p:nvPr/>
        </p:nvSpPr>
        <p:spPr>
          <a:xfrm>
            <a:off x="960120" y="4389120"/>
            <a:ext cx="4480560" cy="777240"/>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Same size • opposite directions • same type of force •</a:t>
            </a:r>
            <a:endParaRPr lang="en-US" sz="1150" dirty="0"/>
          </a:p>
          <a:p>
            <a:pPr algn="ctr" indent="0" marL="0">
              <a:buNone/>
            </a:pPr>
            <a:r>
              <a:rPr lang="en-US" sz="1150" b="1" dirty="0">
                <a:solidFill>
                  <a:srgbClr val="1A2340"/>
                </a:solidFill>
                <a:latin typeface="Calibri" pitchFamily="34" charset="0"/>
                <a:ea typeface="Calibri" pitchFamily="34" charset="-122"/>
                <a:cs typeface="Calibri" pitchFamily="34" charset="-120"/>
              </a:rPr>
              <a:t>act on DIFFERENT objects</a:t>
            </a:r>
            <a:endParaRPr lang="en-US" sz="1150" dirty="0"/>
          </a:p>
        </p:txBody>
      </p:sp>
      <p:sp>
        <p:nvSpPr>
          <p:cNvPr id="32" name="Shape 3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Newton’s third law</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two objects interact, they exert </a:t>
            </a:r>
            <a:r>
              <a:rPr lang="en-US" sz="1150" b="1" dirty="0">
                <a:solidFill>
                  <a:srgbClr val="262B3A"/>
                </a:solidFill>
                <a:latin typeface="Calibri" pitchFamily="34" charset="0"/>
                <a:ea typeface="Calibri" pitchFamily="34" charset="-122"/>
                <a:cs typeface="Calibri" pitchFamily="34" charset="-120"/>
              </a:rPr>
              <a:t>equal and opposite forces on each other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two forces act on </a:t>
            </a:r>
            <a:r>
              <a:rPr lang="en-US" sz="1150" b="1" dirty="0">
                <a:solidFill>
                  <a:srgbClr val="262B3A"/>
                </a:solidFill>
                <a:latin typeface="Calibri" pitchFamily="34" charset="0"/>
                <a:ea typeface="Calibri" pitchFamily="34" charset="-122"/>
                <a:cs typeface="Calibri" pitchFamily="34" charset="-120"/>
              </a:rPr>
              <a:t>different objects</a:t>
            </a:r>
            <a:r>
              <a:rPr lang="en-US" sz="1150" dirty="0">
                <a:solidFill>
                  <a:srgbClr val="262B3A"/>
                </a:solidFill>
                <a:latin typeface="Calibri" pitchFamily="34" charset="0"/>
                <a:ea typeface="Calibri" pitchFamily="34" charset="-122"/>
                <a:cs typeface="Calibri" pitchFamily="34" charset="-120"/>
              </a:rPr>
              <a:t>, so they </a:t>
            </a:r>
            <a:r>
              <a:rPr lang="en-US" sz="1150" b="1" dirty="0">
                <a:solidFill>
                  <a:srgbClr val="262B3A"/>
                </a:solidFill>
                <a:latin typeface="Calibri" pitchFamily="34" charset="0"/>
                <a:ea typeface="Calibri" pitchFamily="34" charset="-122"/>
                <a:cs typeface="Calibri" pitchFamily="34" charset="-120"/>
              </a:rPr>
              <a:t>never cancel</a:t>
            </a:r>
            <a:r>
              <a:rPr lang="en-US" sz="1150" dirty="0">
                <a:solidFill>
                  <a:srgbClr val="262B3A"/>
                </a:solidFill>
                <a:latin typeface="Calibri" pitchFamily="34" charset="0"/>
                <a:ea typeface="Calibri" pitchFamily="34" charset="-122"/>
                <a:cs typeface="Calibri" pitchFamily="34" charset="-120"/>
              </a:rPr>
              <a:t> each other.</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Equilibrium:</a:t>
            </a:r>
            <a:r>
              <a:rPr lang="en-US" sz="1150" dirty="0">
                <a:solidFill>
                  <a:srgbClr val="262B3A"/>
                </a:solidFill>
                <a:latin typeface="Calibri" pitchFamily="34" charset="0"/>
                <a:ea typeface="Calibri" pitchFamily="34" charset="-122"/>
                <a:cs typeface="Calibri" pitchFamily="34" charset="-120"/>
              </a:rPr>
              <a:t> a book on a table – the book pushes down on the table and the table pushes up on the book. The pair to the book’s </a:t>
            </a:r>
            <a:r>
              <a:rPr lang="en-US" sz="1150" b="1" dirty="0">
                <a:solidFill>
                  <a:srgbClr val="262B3A"/>
                </a:solidFill>
                <a:latin typeface="Calibri" pitchFamily="34" charset="0"/>
                <a:ea typeface="Calibri" pitchFamily="34" charset="-122"/>
                <a:cs typeface="Calibri" pitchFamily="34" charset="-120"/>
              </a:rPr>
              <a:t>weight</a:t>
            </a:r>
            <a:r>
              <a:rPr lang="en-US" sz="1150" dirty="0">
                <a:solidFill>
                  <a:srgbClr val="262B3A"/>
                </a:solidFill>
                <a:latin typeface="Calibri" pitchFamily="34" charset="0"/>
                <a:ea typeface="Calibri" pitchFamily="34" charset="-122"/>
                <a:cs typeface="Calibri" pitchFamily="34" charset="-120"/>
              </a:rPr>
              <a:t> is the book pulling the </a:t>
            </a:r>
            <a:r>
              <a:rPr lang="en-US" sz="1150" b="1" dirty="0">
                <a:solidFill>
                  <a:srgbClr val="262B3A"/>
                </a:solidFill>
                <a:latin typeface="Calibri" pitchFamily="34" charset="0"/>
                <a:ea typeface="Calibri" pitchFamily="34" charset="-122"/>
                <a:cs typeface="Calibri" pitchFamily="34" charset="-120"/>
              </a:rPr>
              <a:t>Earth</a:t>
            </a:r>
            <a:r>
              <a:rPr lang="en-US" sz="1150" dirty="0">
                <a:solidFill>
                  <a:srgbClr val="262B3A"/>
                </a:solidFill>
                <a:latin typeface="Calibri" pitchFamily="34" charset="0"/>
                <a:ea typeface="Calibri" pitchFamily="34" charset="-122"/>
                <a:cs typeface="Calibri" pitchFamily="34" charset="-120"/>
              </a:rPr>
              <a:t> upwards.</a:t>
            </a:r>
            <a:endParaRPr lang="en-US" sz="1150" dirty="0"/>
          </a:p>
          <a:p>
            <a:pPr marL="152400" indent="-152400">
              <a:spcAft>
                <a:spcPts val="300"/>
              </a:spcAft>
              <a:buSzPct val="100000"/>
              <a:buChar char="▪"/>
            </a:pPr>
            <a:r>
              <a:rPr lang="en-US" sz="1150" b="1" dirty="0">
                <a:solidFill>
                  <a:srgbClr val="C8414C"/>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In a collision the forces on the two objects are equal and opposite for the same time, so the momentum one gains equals the momentum the other loses: </a:t>
            </a:r>
            <a:r>
              <a:rPr lang="en-US" sz="1150" b="1" dirty="0">
                <a:solidFill>
                  <a:srgbClr val="262B3A"/>
                </a:solidFill>
                <a:latin typeface="Calibri" pitchFamily="34" charset="0"/>
                <a:ea typeface="Calibri" pitchFamily="34" charset="-122"/>
                <a:cs typeface="Calibri" pitchFamily="34" charset="-120"/>
              </a:rPr>
              <a:t>momentum is conserved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Not a third law pair</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Weight and normal contact force on a book on a table are equal and opposite. Why are they not a third law pair?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Objects   </a:t>
            </a:r>
            <a:r>
              <a:rPr lang="en-US" sz="1050" dirty="0">
                <a:solidFill>
                  <a:srgbClr val="262B3A"/>
                </a:solidFill>
                <a:latin typeface="Calibri" pitchFamily="34" charset="0"/>
                <a:ea typeface="Calibri" pitchFamily="34" charset="-122"/>
                <a:cs typeface="Calibri" pitchFamily="34" charset="-120"/>
              </a:rPr>
              <a:t>both act on the same object (the book)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Types   </a:t>
            </a:r>
            <a:r>
              <a:rPr lang="en-US" sz="1050" dirty="0">
                <a:solidFill>
                  <a:srgbClr val="262B3A"/>
                </a:solidFill>
                <a:latin typeface="Calibri" pitchFamily="34" charset="0"/>
                <a:ea typeface="Calibri" pitchFamily="34" charset="-122"/>
                <a:cs typeface="Calibri" pitchFamily="34" charset="-120"/>
              </a:rPr>
              <a:t>one is gravitational, one is a contact force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First law   </a:t>
            </a:r>
            <a:r>
              <a:rPr lang="en-US" sz="1050" dirty="0">
                <a:solidFill>
                  <a:srgbClr val="262B3A"/>
                </a:solidFill>
                <a:latin typeface="Calibri" pitchFamily="34" charset="0"/>
                <a:ea typeface="Calibri" pitchFamily="34" charset="-122"/>
                <a:cs typeface="Calibri" pitchFamily="34" charset="-120"/>
              </a:rPr>
              <a:t>they are balanced forces (resultant zero)</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 third law pair acts on two different objects</a:t>
            </a:r>
            <a:endParaRPr lang="en-US" sz="105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swimmer pushes backwards on the water. Use Newton’s third law to explain why she moves forwards.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2.20–2.23 • circular motion, inertial mass, Newton’s third law</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24</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car drives round a roundabout at a constant speed. Explain why the car is accelerating.</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Shape 16"/>
          <p:cNvSpPr/>
          <p:nvPr/>
        </p:nvSpPr>
        <p:spPr>
          <a:xfrm>
            <a:off x="2606040" y="2956560"/>
            <a:ext cx="411480" cy="274320"/>
          </a:xfrm>
          <a:prstGeom prst="roundRect">
            <a:avLst>
              <a:gd name="adj" fmla="val 50000"/>
            </a:avLst>
          </a:prstGeom>
          <a:solidFill>
            <a:srgbClr val="C8414C"/>
          </a:solidFill>
          <a:ln w="12700">
            <a:solidFill>
              <a:srgbClr val="C8414C"/>
            </a:solidFill>
            <a:prstDash val="solid"/>
          </a:ln>
        </p:spPr>
      </p:sp>
      <p:sp>
        <p:nvSpPr>
          <p:cNvPr id="19" name="Text 17"/>
          <p:cNvSpPr/>
          <p:nvPr/>
        </p:nvSpPr>
        <p:spPr>
          <a:xfrm>
            <a:off x="2606040" y="295656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0" name="Text 18"/>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resultant force of </a:t>
            </a:r>
            <a:r>
              <a:rPr lang="en-US" sz="1250" b="1" dirty="0">
                <a:solidFill>
                  <a:srgbClr val="262B3A"/>
                </a:solidFill>
                <a:latin typeface="Calibri" pitchFamily="34" charset="0"/>
                <a:ea typeface="Calibri" pitchFamily="34" charset="-122"/>
                <a:cs typeface="Calibri" pitchFamily="34" charset="-120"/>
              </a:rPr>
              <a:t>6.0 N</a:t>
            </a:r>
            <a:r>
              <a:rPr lang="en-US" sz="1250" dirty="0">
                <a:solidFill>
                  <a:srgbClr val="262B3A"/>
                </a:solidFill>
                <a:latin typeface="Calibri" pitchFamily="34" charset="0"/>
                <a:ea typeface="Calibri" pitchFamily="34" charset="-122"/>
                <a:cs typeface="Calibri" pitchFamily="34" charset="-120"/>
              </a:rPr>
              <a:t> gives an object an acceleration of </a:t>
            </a:r>
            <a:r>
              <a:rPr lang="en-US" sz="1250" b="1" dirty="0">
                <a:solidFill>
                  <a:srgbClr val="262B3A"/>
                </a:solidFill>
                <a:latin typeface="Calibri" pitchFamily="34" charset="0"/>
                <a:ea typeface="Calibri" pitchFamily="34" charset="-122"/>
                <a:cs typeface="Calibri" pitchFamily="34" charset="-120"/>
              </a:rPr>
              <a:t>1.5 m/s²</a:t>
            </a:r>
            <a:r>
              <a:rPr lang="en-US" sz="1250" dirty="0">
                <a:solidFill>
                  <a:srgbClr val="262B3A"/>
                </a:solidFill>
                <a:latin typeface="Calibri" pitchFamily="34" charset="0"/>
                <a:ea typeface="Calibri" pitchFamily="34" charset="-122"/>
                <a:cs typeface="Calibri" pitchFamily="34" charset="-120"/>
              </a:rPr>
              <a:t>. Calculate its inertial mass.</a:t>
            </a:r>
            <a:endParaRPr lang="en-US" sz="1250" dirty="0"/>
          </a:p>
        </p:txBody>
      </p:sp>
      <p:sp>
        <p:nvSpPr>
          <p:cNvPr id="21" name="Text 19"/>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2" name="Shape 20"/>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3" name="Shape 21"/>
          <p:cNvSpPr/>
          <p:nvPr/>
        </p:nvSpPr>
        <p:spPr>
          <a:xfrm>
            <a:off x="411480" y="4687824"/>
            <a:ext cx="2103120" cy="292608"/>
          </a:xfrm>
          <a:prstGeom prst="rect">
            <a:avLst/>
          </a:prstGeom>
          <a:solidFill>
            <a:srgbClr val="F5A742"/>
          </a:solidFill>
          <a:ln w="12700">
            <a:solidFill>
              <a:srgbClr val="F5A742"/>
            </a:solidFill>
            <a:prstDash val="solid"/>
          </a:ln>
        </p:spPr>
      </p:sp>
      <p:sp>
        <p:nvSpPr>
          <p:cNvPr id="24" name="Text 22"/>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Text 23"/>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book rests on a table. Its weight and the normal contact force are equal and opposite. Explain why these two forces are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a Newton’s third law pair, and state the force that does pair with the weight.</a:t>
            </a:r>
            <a:endParaRPr lang="en-US" sz="1250" dirty="0"/>
          </a:p>
        </p:txBody>
      </p:sp>
      <p:sp>
        <p:nvSpPr>
          <p:cNvPr id="26" name="Text 24"/>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apparatus and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2.19 • investigate force, mass and acceleration by varying the masses added to trolleys</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2.19  |  25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side view; the runway is tilted slightly to compensate for friction</a:t>
            </a:r>
            <a:endParaRPr lang="en-US" sz="1000" dirty="0"/>
          </a:p>
        </p:txBody>
      </p:sp>
      <p:sp>
        <p:nvSpPr>
          <p:cNvPr id="12" name="Shape 10"/>
          <p:cNvSpPr/>
          <p:nvPr/>
        </p:nvSpPr>
        <p:spPr>
          <a:xfrm>
            <a:off x="594360" y="3429000"/>
            <a:ext cx="4800600" cy="128016"/>
          </a:xfrm>
          <a:prstGeom prst="rect">
            <a:avLst/>
          </a:prstGeom>
          <a:solidFill>
            <a:srgbClr val="C99A5B"/>
          </a:solidFill>
          <a:ln w="12700">
            <a:solidFill>
              <a:srgbClr val="8A6A3A"/>
            </a:solidFill>
            <a:prstDash val="solid"/>
          </a:ln>
        </p:spPr>
      </p:sp>
      <p:sp>
        <p:nvSpPr>
          <p:cNvPr id="13" name="Shape 11"/>
          <p:cNvSpPr/>
          <p:nvPr/>
        </p:nvSpPr>
        <p:spPr>
          <a:xfrm>
            <a:off x="777240" y="3557016"/>
            <a:ext cx="128016" cy="1143000"/>
          </a:xfrm>
          <a:prstGeom prst="rect">
            <a:avLst/>
          </a:prstGeom>
          <a:solidFill>
            <a:srgbClr val="A57E48"/>
          </a:solidFill>
          <a:ln/>
        </p:spPr>
      </p:sp>
      <p:sp>
        <p:nvSpPr>
          <p:cNvPr id="14" name="Shape 12"/>
          <p:cNvSpPr/>
          <p:nvPr/>
        </p:nvSpPr>
        <p:spPr>
          <a:xfrm>
            <a:off x="5074920" y="3557016"/>
            <a:ext cx="128016" cy="1143000"/>
          </a:xfrm>
          <a:prstGeom prst="rect">
            <a:avLst/>
          </a:prstGeom>
          <a:solidFill>
            <a:srgbClr val="A57E48"/>
          </a:solidFill>
          <a:ln/>
        </p:spPr>
      </p:sp>
      <p:sp>
        <p:nvSpPr>
          <p:cNvPr id="15" name="Shape 13"/>
          <p:cNvSpPr/>
          <p:nvPr/>
        </p:nvSpPr>
        <p:spPr>
          <a:xfrm>
            <a:off x="822960" y="3090672"/>
            <a:ext cx="365760" cy="338328"/>
          </a:xfrm>
          <a:prstGeom prst="rect">
            <a:avLst/>
          </a:prstGeom>
          <a:solidFill>
            <a:srgbClr val="8C96A8"/>
          </a:solidFill>
          <a:ln w="12700">
            <a:solidFill>
              <a:srgbClr val="6B7385"/>
            </a:solidFill>
            <a:prstDash val="solid"/>
          </a:ln>
        </p:spPr>
      </p:sp>
      <p:sp>
        <p:nvSpPr>
          <p:cNvPr id="16" name="Text 14"/>
          <p:cNvSpPr/>
          <p:nvPr/>
        </p:nvSpPr>
        <p:spPr>
          <a:xfrm>
            <a:off x="960120" y="3584448"/>
            <a:ext cx="548640" cy="201168"/>
          </a:xfrm>
          <a:prstGeom prst="rect">
            <a:avLst/>
          </a:prstGeom>
          <a:noFill/>
          <a:ln/>
        </p:spPr>
        <p:txBody>
          <a:bodyPr wrap="square" lIns="0" tIns="0" rIns="0" bIns="0" rtlCol="0" anchor="ctr"/>
          <a:lstStyle/>
          <a:p>
            <a:pPr algn="l" indent="0" marL="0">
              <a:buNone/>
            </a:pPr>
            <a:r>
              <a:rPr lang="en-US" sz="1000" b="1" dirty="0">
                <a:solidFill>
                  <a:srgbClr val="1A2340"/>
                </a:solidFill>
                <a:latin typeface="Calibri" pitchFamily="34" charset="0"/>
                <a:ea typeface="Calibri" pitchFamily="34" charset="-122"/>
                <a:cs typeface="Calibri" pitchFamily="34" charset="-120"/>
              </a:rPr>
              <a:t>block</a:t>
            </a:r>
            <a:endParaRPr lang="en-US" sz="1000" dirty="0"/>
          </a:p>
        </p:txBody>
      </p:sp>
      <p:sp>
        <p:nvSpPr>
          <p:cNvPr id="17" name="Shape 15"/>
          <p:cNvSpPr/>
          <p:nvPr/>
        </p:nvSpPr>
        <p:spPr>
          <a:xfrm>
            <a:off x="777240" y="3044952"/>
            <a:ext cx="4069080" cy="329184"/>
          </a:xfrm>
          <a:prstGeom prst="line">
            <a:avLst/>
          </a:prstGeom>
          <a:noFill/>
          <a:ln w="76200">
            <a:solidFill>
              <a:srgbClr val="8A6A3A"/>
            </a:solidFill>
            <a:prstDash val="solid"/>
          </a:ln>
        </p:spPr>
      </p:sp>
      <p:sp>
        <p:nvSpPr>
          <p:cNvPr id="18" name="Shape 16"/>
          <p:cNvSpPr/>
          <p:nvPr/>
        </p:nvSpPr>
        <p:spPr>
          <a:xfrm rot="277506">
            <a:off x="1562884" y="2723976"/>
            <a:ext cx="914400" cy="292608"/>
          </a:xfrm>
          <a:prstGeom prst="rect">
            <a:avLst/>
          </a:prstGeom>
          <a:solidFill>
            <a:srgbClr val="2E5BD8"/>
          </a:solidFill>
          <a:ln w="12700">
            <a:solidFill>
              <a:srgbClr val="2B3F7A"/>
            </a:solidFill>
            <a:prstDash val="solid"/>
          </a:ln>
        </p:spPr>
      </p:sp>
      <p:sp>
        <p:nvSpPr>
          <p:cNvPr id="19" name="Text 17"/>
          <p:cNvSpPr/>
          <p:nvPr/>
        </p:nvSpPr>
        <p:spPr>
          <a:xfrm>
            <a:off x="1562884" y="2723976"/>
            <a:ext cx="9144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trolley</a:t>
            </a:r>
            <a:endParaRPr lang="en-US" sz="1000" dirty="0"/>
          </a:p>
        </p:txBody>
      </p:sp>
      <p:sp>
        <p:nvSpPr>
          <p:cNvPr id="20" name="Shape 18"/>
          <p:cNvSpPr/>
          <p:nvPr/>
        </p:nvSpPr>
        <p:spPr>
          <a:xfrm>
            <a:off x="1639793" y="2964933"/>
            <a:ext cx="146304" cy="146304"/>
          </a:xfrm>
          <a:prstGeom prst="ellipse">
            <a:avLst/>
          </a:prstGeom>
          <a:solidFill>
            <a:srgbClr val="3B4252"/>
          </a:solidFill>
          <a:ln w="12700">
            <a:solidFill>
              <a:srgbClr val="1F2430"/>
            </a:solidFill>
            <a:prstDash val="solid"/>
          </a:ln>
        </p:spPr>
      </p:sp>
      <p:sp>
        <p:nvSpPr>
          <p:cNvPr id="21" name="Shape 19"/>
          <p:cNvSpPr/>
          <p:nvPr/>
        </p:nvSpPr>
        <p:spPr>
          <a:xfrm>
            <a:off x="2223103" y="3012122"/>
            <a:ext cx="146304" cy="146304"/>
          </a:xfrm>
          <a:prstGeom prst="ellipse">
            <a:avLst/>
          </a:prstGeom>
          <a:solidFill>
            <a:srgbClr val="3B4252"/>
          </a:solidFill>
          <a:ln w="12700">
            <a:solidFill>
              <a:srgbClr val="1F2430"/>
            </a:solidFill>
            <a:prstDash val="solid"/>
          </a:ln>
        </p:spPr>
      </p:sp>
      <p:sp>
        <p:nvSpPr>
          <p:cNvPr id="22" name="Shape 20"/>
          <p:cNvSpPr/>
          <p:nvPr/>
        </p:nvSpPr>
        <p:spPr>
          <a:xfrm rot="277506">
            <a:off x="2020670" y="2322772"/>
            <a:ext cx="54864" cy="402336"/>
          </a:xfrm>
          <a:prstGeom prst="rect">
            <a:avLst/>
          </a:prstGeom>
          <a:solidFill>
            <a:srgbClr val="F5A742"/>
          </a:solidFill>
          <a:ln w="12700">
            <a:solidFill>
              <a:srgbClr val="B8730A"/>
            </a:solidFill>
            <a:prstDash val="solid"/>
          </a:ln>
        </p:spPr>
      </p:sp>
      <p:sp>
        <p:nvSpPr>
          <p:cNvPr id="23" name="Text 21"/>
          <p:cNvSpPr/>
          <p:nvPr/>
        </p:nvSpPr>
        <p:spPr>
          <a:xfrm>
            <a:off x="1362302" y="1957012"/>
            <a:ext cx="137160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card</a:t>
            </a:r>
            <a:endParaRPr lang="en-US" sz="1000" dirty="0"/>
          </a:p>
        </p:txBody>
      </p:sp>
      <p:sp>
        <p:nvSpPr>
          <p:cNvPr id="24" name="Shape 22"/>
          <p:cNvSpPr/>
          <p:nvPr/>
        </p:nvSpPr>
        <p:spPr>
          <a:xfrm>
            <a:off x="2978658" y="2432500"/>
            <a:ext cx="73152" cy="793503"/>
          </a:xfrm>
          <a:prstGeom prst="rect">
            <a:avLst/>
          </a:prstGeom>
          <a:solidFill>
            <a:srgbClr val="8C96A8"/>
          </a:solidFill>
          <a:ln w="6350">
            <a:solidFill>
              <a:srgbClr val="6B7385"/>
            </a:solidFill>
            <a:prstDash val="solid"/>
          </a:ln>
        </p:spPr>
      </p:sp>
      <p:sp>
        <p:nvSpPr>
          <p:cNvPr id="25" name="Shape 23"/>
          <p:cNvSpPr/>
          <p:nvPr/>
        </p:nvSpPr>
        <p:spPr>
          <a:xfrm>
            <a:off x="2868930" y="2231332"/>
            <a:ext cx="292608" cy="219456"/>
          </a:xfrm>
          <a:prstGeom prst="roundRect">
            <a:avLst>
              <a:gd name="adj" fmla="val 16667"/>
            </a:avLst>
          </a:prstGeom>
          <a:solidFill>
            <a:srgbClr val="2F3747"/>
          </a:solidFill>
          <a:ln w="12700">
            <a:solidFill>
              <a:srgbClr val="1F2430"/>
            </a:solidFill>
            <a:prstDash val="solid"/>
          </a:ln>
        </p:spPr>
      </p:sp>
      <p:sp>
        <p:nvSpPr>
          <p:cNvPr id="26" name="Shape 24"/>
          <p:cNvSpPr/>
          <p:nvPr/>
        </p:nvSpPr>
        <p:spPr>
          <a:xfrm>
            <a:off x="2974086" y="2299912"/>
            <a:ext cx="82296" cy="82296"/>
          </a:xfrm>
          <a:prstGeom prst="ellipse">
            <a:avLst/>
          </a:prstGeom>
          <a:solidFill>
            <a:srgbClr val="C8414C"/>
          </a:solidFill>
          <a:ln w="12700">
            <a:solidFill>
              <a:srgbClr val="C8414C"/>
            </a:solidFill>
            <a:prstDash val="solid"/>
          </a:ln>
        </p:spPr>
      </p:sp>
      <p:sp>
        <p:nvSpPr>
          <p:cNvPr id="27" name="Text 25"/>
          <p:cNvSpPr/>
          <p:nvPr/>
        </p:nvSpPr>
        <p:spPr>
          <a:xfrm>
            <a:off x="2466594" y="1957012"/>
            <a:ext cx="10972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light gate 1</a:t>
            </a:r>
            <a:endParaRPr lang="en-US" sz="1000" dirty="0"/>
          </a:p>
        </p:txBody>
      </p:sp>
      <p:sp>
        <p:nvSpPr>
          <p:cNvPr id="28" name="Shape 26"/>
          <p:cNvSpPr/>
          <p:nvPr/>
        </p:nvSpPr>
        <p:spPr>
          <a:xfrm>
            <a:off x="4077310" y="2432500"/>
            <a:ext cx="73152" cy="882383"/>
          </a:xfrm>
          <a:prstGeom prst="rect">
            <a:avLst/>
          </a:prstGeom>
          <a:solidFill>
            <a:srgbClr val="8C96A8"/>
          </a:solidFill>
          <a:ln w="6350">
            <a:solidFill>
              <a:srgbClr val="6B7385"/>
            </a:solidFill>
            <a:prstDash val="solid"/>
          </a:ln>
        </p:spPr>
      </p:sp>
      <p:sp>
        <p:nvSpPr>
          <p:cNvPr id="29" name="Shape 27"/>
          <p:cNvSpPr/>
          <p:nvPr/>
        </p:nvSpPr>
        <p:spPr>
          <a:xfrm>
            <a:off x="3967582" y="2231332"/>
            <a:ext cx="292608" cy="219456"/>
          </a:xfrm>
          <a:prstGeom prst="roundRect">
            <a:avLst>
              <a:gd name="adj" fmla="val 16667"/>
            </a:avLst>
          </a:prstGeom>
          <a:solidFill>
            <a:srgbClr val="2F3747"/>
          </a:solidFill>
          <a:ln w="12700">
            <a:solidFill>
              <a:srgbClr val="1F2430"/>
            </a:solidFill>
            <a:prstDash val="solid"/>
          </a:ln>
        </p:spPr>
      </p:sp>
      <p:sp>
        <p:nvSpPr>
          <p:cNvPr id="30" name="Shape 28"/>
          <p:cNvSpPr/>
          <p:nvPr/>
        </p:nvSpPr>
        <p:spPr>
          <a:xfrm>
            <a:off x="4072738" y="2299912"/>
            <a:ext cx="82296" cy="82296"/>
          </a:xfrm>
          <a:prstGeom prst="ellipse">
            <a:avLst/>
          </a:prstGeom>
          <a:solidFill>
            <a:srgbClr val="C8414C"/>
          </a:solidFill>
          <a:ln w="12700">
            <a:solidFill>
              <a:srgbClr val="C8414C"/>
            </a:solidFill>
            <a:prstDash val="solid"/>
          </a:ln>
        </p:spPr>
      </p:sp>
      <p:sp>
        <p:nvSpPr>
          <p:cNvPr id="31" name="Text 29"/>
          <p:cNvSpPr/>
          <p:nvPr/>
        </p:nvSpPr>
        <p:spPr>
          <a:xfrm>
            <a:off x="3565246" y="1957012"/>
            <a:ext cx="1097280" cy="25603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light gate 2</a:t>
            </a:r>
            <a:endParaRPr lang="en-US" sz="1000" dirty="0"/>
          </a:p>
        </p:txBody>
      </p:sp>
      <p:sp>
        <p:nvSpPr>
          <p:cNvPr id="32" name="Shape 30"/>
          <p:cNvSpPr/>
          <p:nvPr/>
        </p:nvSpPr>
        <p:spPr>
          <a:xfrm>
            <a:off x="5047488" y="3236976"/>
            <a:ext cx="54864" cy="292608"/>
          </a:xfrm>
          <a:prstGeom prst="rect">
            <a:avLst/>
          </a:prstGeom>
          <a:solidFill>
            <a:srgbClr val="6B7385"/>
          </a:solidFill>
          <a:ln/>
        </p:spPr>
      </p:sp>
      <p:sp>
        <p:nvSpPr>
          <p:cNvPr id="33" name="Shape 31"/>
          <p:cNvSpPr/>
          <p:nvPr/>
        </p:nvSpPr>
        <p:spPr>
          <a:xfrm>
            <a:off x="4956048" y="3118104"/>
            <a:ext cx="237744" cy="237744"/>
          </a:xfrm>
          <a:prstGeom prst="ellipse">
            <a:avLst/>
          </a:prstGeom>
          <a:solidFill>
            <a:srgbClr val="B0B7C6"/>
          </a:solidFill>
          <a:ln w="15875">
            <a:solidFill>
              <a:srgbClr val="4A5262"/>
            </a:solidFill>
            <a:prstDash val="solid"/>
          </a:ln>
        </p:spPr>
      </p:sp>
      <p:sp>
        <p:nvSpPr>
          <p:cNvPr id="34" name="Shape 32"/>
          <p:cNvSpPr/>
          <p:nvPr/>
        </p:nvSpPr>
        <p:spPr>
          <a:xfrm>
            <a:off x="5047488" y="3209544"/>
            <a:ext cx="54864" cy="54864"/>
          </a:xfrm>
          <a:prstGeom prst="ellipse">
            <a:avLst/>
          </a:prstGeom>
          <a:solidFill>
            <a:srgbClr val="4A5262"/>
          </a:solidFill>
          <a:ln w="12700">
            <a:solidFill>
              <a:srgbClr val="4A5262"/>
            </a:solidFill>
            <a:prstDash val="solid"/>
          </a:ln>
        </p:spPr>
      </p:sp>
      <p:sp>
        <p:nvSpPr>
          <p:cNvPr id="35" name="Shape 33"/>
          <p:cNvSpPr/>
          <p:nvPr/>
        </p:nvSpPr>
        <p:spPr>
          <a:xfrm>
            <a:off x="2475795" y="2907147"/>
            <a:ext cx="2580837" cy="210957"/>
          </a:xfrm>
          <a:prstGeom prst="line">
            <a:avLst/>
          </a:prstGeom>
          <a:noFill/>
          <a:ln w="12700">
            <a:solidFill>
              <a:srgbClr val="1A2340"/>
            </a:solidFill>
            <a:prstDash val="solid"/>
          </a:ln>
        </p:spPr>
      </p:sp>
      <p:sp>
        <p:nvSpPr>
          <p:cNvPr id="36" name="Shape 34"/>
          <p:cNvSpPr/>
          <p:nvPr/>
        </p:nvSpPr>
        <p:spPr>
          <a:xfrm>
            <a:off x="5193792" y="3236976"/>
            <a:ext cx="91" cy="777240"/>
          </a:xfrm>
          <a:prstGeom prst="line">
            <a:avLst/>
          </a:prstGeom>
          <a:noFill/>
          <a:ln w="12700">
            <a:solidFill>
              <a:srgbClr val="1A2340"/>
            </a:solidFill>
            <a:prstDash val="solid"/>
          </a:ln>
        </p:spPr>
      </p:sp>
      <p:sp>
        <p:nvSpPr>
          <p:cNvPr id="37" name="Shape 35"/>
          <p:cNvSpPr/>
          <p:nvPr/>
        </p:nvSpPr>
        <p:spPr>
          <a:xfrm>
            <a:off x="5193792" y="4014216"/>
            <a:ext cx="91" cy="182880"/>
          </a:xfrm>
          <a:prstGeom prst="line">
            <a:avLst/>
          </a:prstGeom>
          <a:noFill/>
          <a:ln w="25400">
            <a:solidFill>
              <a:srgbClr val="5A6275"/>
            </a:solidFill>
            <a:prstDash val="solid"/>
          </a:ln>
        </p:spPr>
      </p:sp>
      <p:sp>
        <p:nvSpPr>
          <p:cNvPr id="38" name="Shape 36"/>
          <p:cNvSpPr/>
          <p:nvPr/>
        </p:nvSpPr>
        <p:spPr>
          <a:xfrm>
            <a:off x="5001768" y="4197096"/>
            <a:ext cx="384048" cy="109728"/>
          </a:xfrm>
          <a:prstGeom prst="rect">
            <a:avLst/>
          </a:prstGeom>
          <a:solidFill>
            <a:srgbClr val="969FB1"/>
          </a:solidFill>
          <a:ln w="6350">
            <a:solidFill>
              <a:srgbClr val="4A5262"/>
            </a:solidFill>
            <a:prstDash val="solid"/>
          </a:ln>
        </p:spPr>
      </p:sp>
      <p:sp>
        <p:nvSpPr>
          <p:cNvPr id="39" name="Shape 37"/>
          <p:cNvSpPr/>
          <p:nvPr/>
        </p:nvSpPr>
        <p:spPr>
          <a:xfrm>
            <a:off x="5001768" y="4306824"/>
            <a:ext cx="384048" cy="109728"/>
          </a:xfrm>
          <a:prstGeom prst="rect">
            <a:avLst/>
          </a:prstGeom>
          <a:solidFill>
            <a:srgbClr val="7C8598"/>
          </a:solidFill>
          <a:ln w="6350">
            <a:solidFill>
              <a:srgbClr val="4A5262"/>
            </a:solidFill>
            <a:prstDash val="solid"/>
          </a:ln>
        </p:spPr>
      </p:sp>
      <p:sp>
        <p:nvSpPr>
          <p:cNvPr id="40" name="Shape 38"/>
          <p:cNvSpPr/>
          <p:nvPr/>
        </p:nvSpPr>
        <p:spPr>
          <a:xfrm>
            <a:off x="5001768" y="4416552"/>
            <a:ext cx="384048" cy="109728"/>
          </a:xfrm>
          <a:prstGeom prst="rect">
            <a:avLst/>
          </a:prstGeom>
          <a:solidFill>
            <a:srgbClr val="969FB1"/>
          </a:solidFill>
          <a:ln w="6350">
            <a:solidFill>
              <a:srgbClr val="4A5262"/>
            </a:solidFill>
            <a:prstDash val="solid"/>
          </a:ln>
        </p:spPr>
      </p:sp>
      <p:sp>
        <p:nvSpPr>
          <p:cNvPr id="41" name="Shape 39"/>
          <p:cNvSpPr/>
          <p:nvPr/>
        </p:nvSpPr>
        <p:spPr>
          <a:xfrm>
            <a:off x="4956048" y="4526280"/>
            <a:ext cx="475488" cy="64008"/>
          </a:xfrm>
          <a:prstGeom prst="rect">
            <a:avLst/>
          </a:prstGeom>
          <a:solidFill>
            <a:srgbClr val="4A5262"/>
          </a:solidFill>
          <a:ln w="12700">
            <a:solidFill>
              <a:srgbClr val="4A5262"/>
            </a:solidFill>
            <a:prstDash val="solid"/>
          </a:ln>
        </p:spPr>
      </p:sp>
      <p:sp>
        <p:nvSpPr>
          <p:cNvPr id="42" name="Text 40"/>
          <p:cNvSpPr/>
          <p:nvPr/>
        </p:nvSpPr>
        <p:spPr>
          <a:xfrm>
            <a:off x="4572000" y="4654296"/>
            <a:ext cx="1325880" cy="411480"/>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hanging mass</a:t>
            </a:r>
            <a:endParaRPr lang="en-US" sz="1000" dirty="0"/>
          </a:p>
          <a:p>
            <a:pPr algn="r" indent="0" marL="0">
              <a:buNone/>
            </a:pPr>
            <a:r>
              <a:rPr lang="en-US" sz="1000" b="1" dirty="0">
                <a:solidFill>
                  <a:srgbClr val="262B3A"/>
                </a:solidFill>
                <a:latin typeface="Calibri" pitchFamily="34" charset="0"/>
                <a:ea typeface="Calibri" pitchFamily="34" charset="-122"/>
                <a:cs typeface="Calibri" pitchFamily="34" charset="-120"/>
              </a:rPr>
              <a:t>(force = weight)</a:t>
            </a:r>
            <a:endParaRPr lang="en-US" sz="1000" dirty="0"/>
          </a:p>
        </p:txBody>
      </p:sp>
      <p:sp>
        <p:nvSpPr>
          <p:cNvPr id="43" name="Text 41"/>
          <p:cNvSpPr/>
          <p:nvPr/>
        </p:nvSpPr>
        <p:spPr>
          <a:xfrm>
            <a:off x="4754880" y="2761488"/>
            <a:ext cx="10972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pulley</a:t>
            </a:r>
            <a:endParaRPr lang="en-US" sz="1000" dirty="0"/>
          </a:p>
        </p:txBody>
      </p:sp>
      <p:sp>
        <p:nvSpPr>
          <p:cNvPr id="44" name="Shape 42"/>
          <p:cNvSpPr/>
          <p:nvPr/>
        </p:nvSpPr>
        <p:spPr>
          <a:xfrm>
            <a:off x="1463040" y="4160520"/>
            <a:ext cx="1463040" cy="548640"/>
          </a:xfrm>
          <a:prstGeom prst="roundRect">
            <a:avLst>
              <a:gd name="adj" fmla="val 8333"/>
            </a:avLst>
          </a:prstGeom>
          <a:solidFill>
            <a:srgbClr val="2F3747"/>
          </a:solidFill>
          <a:ln w="12700">
            <a:solidFill>
              <a:srgbClr val="1F2430"/>
            </a:solidFill>
            <a:prstDash val="solid"/>
          </a:ln>
        </p:spPr>
      </p:sp>
      <p:sp>
        <p:nvSpPr>
          <p:cNvPr id="45" name="Text 43"/>
          <p:cNvSpPr/>
          <p:nvPr/>
        </p:nvSpPr>
        <p:spPr>
          <a:xfrm>
            <a:off x="1463040" y="4160520"/>
            <a:ext cx="1463040" cy="548640"/>
          </a:xfrm>
          <a:prstGeom prst="rect">
            <a:avLst/>
          </a:prstGeom>
          <a:noFill/>
          <a:ln/>
        </p:spPr>
        <p:txBody>
          <a:bodyPr wrap="square" lIns="0" tIns="0" rIns="0" bIns="0" rtlCol="0" anchor="ctr"/>
          <a:lstStyle/>
          <a:p>
            <a:pPr algn="ctr" indent="0" marL="0">
              <a:buNone/>
            </a:pPr>
            <a:r>
              <a:rPr lang="en-US" sz="1050" b="1" dirty="0">
                <a:solidFill>
                  <a:srgbClr val="C9E3B5"/>
                </a:solidFill>
                <a:latin typeface="Calibri" pitchFamily="34" charset="0"/>
                <a:ea typeface="Calibri" pitchFamily="34" charset="-122"/>
                <a:cs typeface="Calibri" pitchFamily="34" charset="-120"/>
              </a:rPr>
              <a:t>data logger</a:t>
            </a:r>
            <a:endParaRPr lang="en-US" sz="1050" dirty="0"/>
          </a:p>
        </p:txBody>
      </p:sp>
      <p:sp>
        <p:nvSpPr>
          <p:cNvPr id="46" name="Shape 44"/>
          <p:cNvSpPr/>
          <p:nvPr/>
        </p:nvSpPr>
        <p:spPr>
          <a:xfrm>
            <a:off x="2926080" y="4434840"/>
            <a:ext cx="868680" cy="91"/>
          </a:xfrm>
          <a:prstGeom prst="line">
            <a:avLst/>
          </a:prstGeom>
          <a:noFill/>
          <a:ln w="12700">
            <a:solidFill>
              <a:srgbClr val="6B7385"/>
            </a:solidFill>
            <a:prstDash val="solid"/>
          </a:ln>
        </p:spPr>
      </p:sp>
      <p:sp>
        <p:nvSpPr>
          <p:cNvPr id="47" name="Shape 45"/>
          <p:cNvSpPr/>
          <p:nvPr/>
        </p:nvSpPr>
        <p:spPr>
          <a:xfrm flipV="1">
            <a:off x="3794760" y="3557016"/>
            <a:ext cx="91" cy="877824"/>
          </a:xfrm>
          <a:prstGeom prst="line">
            <a:avLst/>
          </a:prstGeom>
          <a:noFill/>
          <a:ln w="12700">
            <a:solidFill>
              <a:srgbClr val="6B7385"/>
            </a:solidFill>
            <a:prstDash val="solid"/>
          </a:ln>
        </p:spPr>
      </p:sp>
      <p:sp>
        <p:nvSpPr>
          <p:cNvPr id="48" name="Text 46"/>
          <p:cNvSpPr/>
          <p:nvPr/>
        </p:nvSpPr>
        <p:spPr>
          <a:xfrm>
            <a:off x="685800" y="1298448"/>
            <a:ext cx="5120640" cy="256032"/>
          </a:xfrm>
          <a:prstGeom prst="rect">
            <a:avLst/>
          </a:prstGeom>
          <a:noFill/>
          <a:ln/>
        </p:spPr>
        <p:txBody>
          <a:bodyPr wrap="square" lIns="0" tIns="0" rIns="0" bIns="0" rtlCol="0" anchor="ctr"/>
          <a:lstStyle/>
          <a:p>
            <a:pPr algn="ctr" indent="0" marL="0">
              <a:buNone/>
            </a:pPr>
            <a:r>
              <a:rPr lang="en-US" sz="1050" i="1" dirty="0">
                <a:solidFill>
                  <a:srgbClr val="2E5BD8"/>
                </a:solidFill>
                <a:latin typeface="Calibri" pitchFamily="34" charset="0"/>
                <a:ea typeface="Calibri" pitchFamily="34" charset="-122"/>
                <a:cs typeface="Calibri" pitchFamily="34" charset="-120"/>
              </a:rPr>
              <a:t>masses added to the trolley (vary m) or moved to the hanger (vary F)</a:t>
            </a:r>
            <a:endParaRPr lang="en-US" sz="1050" dirty="0"/>
          </a:p>
        </p:txBody>
      </p:sp>
      <p:sp>
        <p:nvSpPr>
          <p:cNvPr id="49" name="Shape 4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0" name="Text 4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51" name="Text 4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Tilt the runway until the trolley rolls at </a:t>
            </a:r>
            <a:r>
              <a:rPr lang="en-US" sz="1150" b="1" dirty="0">
                <a:solidFill>
                  <a:srgbClr val="262B3A"/>
                </a:solidFill>
                <a:latin typeface="Calibri" pitchFamily="34" charset="0"/>
                <a:ea typeface="Calibri" pitchFamily="34" charset="-122"/>
                <a:cs typeface="Calibri" pitchFamily="34" charset="-120"/>
              </a:rPr>
              <a:t>constant speed</a:t>
            </a:r>
            <a:r>
              <a:rPr lang="en-US" sz="1150" dirty="0">
                <a:solidFill>
                  <a:srgbClr val="262B3A"/>
                </a:solidFill>
                <a:latin typeface="Calibri" pitchFamily="34" charset="0"/>
                <a:ea typeface="Calibri" pitchFamily="34" charset="-122"/>
                <a:cs typeface="Calibri" pitchFamily="34" charset="-120"/>
              </a:rPr>
              <a:t> when pushed (friction compensated).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Attach a card. Two light gates record the speed at each gate and the time between them.</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Vary mass:</a:t>
            </a:r>
            <a:r>
              <a:rPr lang="en-US" sz="1150" dirty="0">
                <a:solidFill>
                  <a:srgbClr val="262B3A"/>
                </a:solidFill>
                <a:latin typeface="Calibri" pitchFamily="34" charset="0"/>
                <a:ea typeface="Calibri" pitchFamily="34" charset="-122"/>
                <a:cs typeface="Calibri" pitchFamily="34" charset="-120"/>
              </a:rPr>
              <a:t> keep the hanging mass (force) the same; </a:t>
            </a:r>
            <a:r>
              <a:rPr lang="en-US" sz="1150" b="1" dirty="0">
                <a:solidFill>
                  <a:srgbClr val="262B3A"/>
                </a:solidFill>
                <a:latin typeface="Calibri" pitchFamily="34" charset="0"/>
                <a:ea typeface="Calibri" pitchFamily="34" charset="-122"/>
                <a:cs typeface="Calibri" pitchFamily="34" charset="-120"/>
              </a:rPr>
              <a:t>add masses to the trolley</a:t>
            </a:r>
            <a:r>
              <a:rPr lang="en-US" sz="1150" dirty="0">
                <a:solidFill>
                  <a:srgbClr val="262B3A"/>
                </a:solidFill>
                <a:latin typeface="Calibri" pitchFamily="34" charset="0"/>
                <a:ea typeface="Calibri" pitchFamily="34" charset="-122"/>
                <a:cs typeface="Calibri" pitchFamily="34" charset="-120"/>
              </a:rPr>
              <a:t>; release from the same point.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Vary force:</a:t>
            </a:r>
            <a:r>
              <a:rPr lang="en-US" sz="1150" dirty="0">
                <a:solidFill>
                  <a:srgbClr val="262B3A"/>
                </a:solidFill>
                <a:latin typeface="Calibri" pitchFamily="34" charset="0"/>
                <a:ea typeface="Calibri" pitchFamily="34" charset="-122"/>
                <a:cs typeface="Calibri" pitchFamily="34" charset="-120"/>
              </a:rPr>
              <a:t> move masses from the trolley to the hanger, so the </a:t>
            </a:r>
            <a:r>
              <a:rPr lang="en-US" sz="1150" b="1" dirty="0">
                <a:solidFill>
                  <a:srgbClr val="262B3A"/>
                </a:solidFill>
                <a:latin typeface="Calibri" pitchFamily="34" charset="0"/>
                <a:ea typeface="Calibri" pitchFamily="34" charset="-122"/>
                <a:cs typeface="Calibri" pitchFamily="34" charset="-120"/>
              </a:rPr>
              <a:t>total mass stays the same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Calculate </a:t>
            </a:r>
            <a:r>
              <a:rPr lang="en-US" sz="1150" b="1" dirty="0">
                <a:solidFill>
                  <a:srgbClr val="262B3A"/>
                </a:solidFill>
                <a:latin typeface="Calibri" pitchFamily="34" charset="0"/>
                <a:ea typeface="Calibri" pitchFamily="34" charset="-122"/>
                <a:cs typeface="Calibri" pitchFamily="34" charset="-120"/>
              </a:rPr>
              <a:t>a = (v − u) ÷ t</a:t>
            </a:r>
            <a:r>
              <a:rPr lang="en-US" sz="1150" dirty="0">
                <a:solidFill>
                  <a:srgbClr val="262B3A"/>
                </a:solidFill>
                <a:latin typeface="Calibri" pitchFamily="34" charset="0"/>
                <a:ea typeface="Calibri" pitchFamily="34" charset="-122"/>
                <a:cs typeface="Calibri" pitchFamily="34" charset="-120"/>
              </a:rPr>
              <a:t> for each run; repeat 3 times and find the mean.</a:t>
            </a:r>
            <a:endParaRPr lang="en-US" sz="1150" dirty="0"/>
          </a:p>
        </p:txBody>
      </p:sp>
      <p:sp>
        <p:nvSpPr>
          <p:cNvPr id="52" name="Shape 5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3" name="Text 5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Light-gate calculation</a:t>
            </a:r>
            <a:endParaRPr lang="en-US" sz="1300" dirty="0"/>
          </a:p>
        </p:txBody>
      </p:sp>
      <p:sp>
        <p:nvSpPr>
          <p:cNvPr id="54" name="Text 5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10 cm card: blocks gate 1 for 0.20 s and gate 2 for 0.050 s; 0.75 s between gates.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Gate 1   </a:t>
            </a:r>
            <a:r>
              <a:rPr lang="en-US" sz="1050" dirty="0">
                <a:solidFill>
                  <a:srgbClr val="262B3A"/>
                </a:solidFill>
                <a:latin typeface="Calibri" pitchFamily="34" charset="0"/>
                <a:ea typeface="Calibri" pitchFamily="34" charset="-122"/>
                <a:cs typeface="Calibri" pitchFamily="34" charset="-120"/>
              </a:rPr>
              <a:t>u = 0.10 ÷ 0.20 = 0.50 m/s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Gate 2   </a:t>
            </a:r>
            <a:r>
              <a:rPr lang="en-US" sz="1050" dirty="0">
                <a:solidFill>
                  <a:srgbClr val="262B3A"/>
                </a:solidFill>
                <a:latin typeface="Calibri" pitchFamily="34" charset="0"/>
                <a:ea typeface="Calibri" pitchFamily="34" charset="-122"/>
                <a:cs typeface="Calibri" pitchFamily="34" charset="-120"/>
              </a:rPr>
              <a:t>v = 0.10 ÷ 0.050 = 2.0 m/s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Acceleration   </a:t>
            </a:r>
            <a:r>
              <a:rPr lang="en-US" sz="1050" dirty="0">
                <a:solidFill>
                  <a:srgbClr val="262B3A"/>
                </a:solidFill>
                <a:latin typeface="Calibri" pitchFamily="34" charset="0"/>
                <a:ea typeface="Calibri" pitchFamily="34" charset="-122"/>
                <a:cs typeface="Calibri" pitchFamily="34" charset="-120"/>
              </a:rPr>
              <a:t>a = (2.0 − 0.50) ÷ 0.75</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 = 2.0 m/s²</a:t>
            </a:r>
            <a:endParaRPr lang="en-US" sz="1050" dirty="0"/>
          </a:p>
        </p:txBody>
      </p:sp>
      <p:sp>
        <p:nvSpPr>
          <p:cNvPr id="55" name="Shape 53"/>
          <p:cNvSpPr/>
          <p:nvPr/>
        </p:nvSpPr>
        <p:spPr>
          <a:xfrm>
            <a:off x="411480" y="5833872"/>
            <a:ext cx="11368735" cy="530352"/>
          </a:xfrm>
          <a:prstGeom prst="rect">
            <a:avLst/>
          </a:prstGeom>
          <a:solidFill>
            <a:srgbClr val="FFF4E0"/>
          </a:solidFill>
          <a:ln w="6350">
            <a:solidFill>
              <a:srgbClr val="F1D9A8"/>
            </a:solidFill>
            <a:prstDash val="solid"/>
          </a:ln>
        </p:spPr>
      </p:sp>
      <p:sp>
        <p:nvSpPr>
          <p:cNvPr id="56" name="Shape 54"/>
          <p:cNvSpPr/>
          <p:nvPr/>
        </p:nvSpPr>
        <p:spPr>
          <a:xfrm>
            <a:off x="411480" y="5833872"/>
            <a:ext cx="82296" cy="530352"/>
          </a:xfrm>
          <a:prstGeom prst="rect">
            <a:avLst/>
          </a:prstGeom>
          <a:solidFill>
            <a:srgbClr val="E39A2F"/>
          </a:solidFill>
          <a:ln w="12700">
            <a:solidFill>
              <a:srgbClr val="E39A2F"/>
            </a:solidFill>
            <a:prstDash val="solid"/>
          </a:ln>
        </p:spPr>
      </p:sp>
      <p:sp>
        <p:nvSpPr>
          <p:cNvPr id="57" name="Text 5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runway tilted slightly? Why do we move masses to the hanger rather than adding new ones when varying the force?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variables and safety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2.19 • two investigations: vary mass, then vary force</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2.19  |  26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what you change, measure and keep the same</a:t>
            </a:r>
            <a:endParaRPr lang="en-US" sz="1000" dirty="0"/>
          </a:p>
        </p:txBody>
      </p:sp>
      <p:sp>
        <p:nvSpPr>
          <p:cNvPr id="12" name="Shape 10"/>
          <p:cNvSpPr/>
          <p:nvPr/>
        </p:nvSpPr>
        <p:spPr>
          <a:xfrm>
            <a:off x="685800" y="1371600"/>
            <a:ext cx="5029200" cy="1051560"/>
          </a:xfrm>
          <a:prstGeom prst="roundRect">
            <a:avLst>
              <a:gd name="adj" fmla="val 5217"/>
            </a:avLst>
          </a:prstGeom>
          <a:solidFill>
            <a:srgbClr val="FFFFFF"/>
          </a:solidFill>
          <a:ln w="19050">
            <a:solidFill>
              <a:srgbClr val="2E5BD8"/>
            </a:solidFill>
            <a:prstDash val="solid"/>
          </a:ln>
        </p:spPr>
      </p:sp>
      <p:sp>
        <p:nvSpPr>
          <p:cNvPr id="13" name="Shape 11"/>
          <p:cNvSpPr/>
          <p:nvPr/>
        </p:nvSpPr>
        <p:spPr>
          <a:xfrm>
            <a:off x="685800" y="1371600"/>
            <a:ext cx="109728" cy="1051560"/>
          </a:xfrm>
          <a:prstGeom prst="rect">
            <a:avLst/>
          </a:prstGeom>
          <a:solidFill>
            <a:srgbClr val="2E5BD8"/>
          </a:solidFill>
          <a:ln/>
        </p:spPr>
      </p:sp>
      <p:sp>
        <p:nvSpPr>
          <p:cNvPr id="14" name="Text 12"/>
          <p:cNvSpPr/>
          <p:nvPr/>
        </p:nvSpPr>
        <p:spPr>
          <a:xfrm>
            <a:off x="914400" y="1426464"/>
            <a:ext cx="4663440" cy="941832"/>
          </a:xfrm>
          <a:prstGeom prst="rect">
            <a:avLst/>
          </a:prstGeom>
          <a:noFill/>
          <a:ln/>
        </p:spPr>
        <p:txBody>
          <a:bodyPr wrap="square" lIns="0" tIns="0" rIns="0" bIns="0" rtlCol="0" anchor="ctr"/>
          <a:lstStyle/>
          <a:p>
            <a:pPr indent="0" marL="0">
              <a:buNone/>
            </a:pPr>
            <a:r>
              <a:rPr lang="en-US" sz="1250" b="1" dirty="0">
                <a:solidFill>
                  <a:srgbClr val="2E5BD8"/>
                </a:solidFill>
                <a:latin typeface="Calibri" pitchFamily="34" charset="0"/>
                <a:ea typeface="Calibri" pitchFamily="34" charset="-122"/>
                <a:cs typeface="Calibri" pitchFamily="34" charset="-120"/>
              </a:rPr>
              <a:t>Independent variable (you change)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of the trolley (part 1) or the </a:t>
            </a:r>
            <a:r>
              <a:rPr lang="en-US" sz="1150" b="1" dirty="0">
                <a:solidFill>
                  <a:srgbClr val="262B3A"/>
                </a:solidFill>
                <a:latin typeface="Calibri" pitchFamily="34" charset="0"/>
                <a:ea typeface="Calibri" pitchFamily="34" charset="-122"/>
                <a:cs typeface="Calibri" pitchFamily="34" charset="-120"/>
              </a:rPr>
              <a:t>force</a:t>
            </a:r>
            <a:r>
              <a:rPr lang="en-US" sz="1150" dirty="0">
                <a:solidFill>
                  <a:srgbClr val="262B3A"/>
                </a:solidFill>
                <a:latin typeface="Calibri" pitchFamily="34" charset="0"/>
                <a:ea typeface="Calibri" pitchFamily="34" charset="-122"/>
                <a:cs typeface="Calibri" pitchFamily="34" charset="-120"/>
              </a:rPr>
              <a:t> = weight of the hanging masses (part 2)</a:t>
            </a:r>
            <a:endParaRPr lang="en-US" sz="1250" dirty="0"/>
          </a:p>
        </p:txBody>
      </p:sp>
      <p:sp>
        <p:nvSpPr>
          <p:cNvPr id="15" name="Shape 13"/>
          <p:cNvSpPr/>
          <p:nvPr/>
        </p:nvSpPr>
        <p:spPr>
          <a:xfrm>
            <a:off x="3200400" y="2441448"/>
            <a:ext cx="91" cy="237744"/>
          </a:xfrm>
          <a:prstGeom prst="line">
            <a:avLst/>
          </a:prstGeom>
          <a:noFill/>
          <a:ln w="25400">
            <a:solidFill>
              <a:srgbClr val="6B7385"/>
            </a:solidFill>
            <a:prstDash val="solid"/>
            <a:tailEnd type="triangle"/>
          </a:ln>
        </p:spPr>
      </p:sp>
      <p:sp>
        <p:nvSpPr>
          <p:cNvPr id="16" name="Shape 14"/>
          <p:cNvSpPr/>
          <p:nvPr/>
        </p:nvSpPr>
        <p:spPr>
          <a:xfrm>
            <a:off x="685800" y="2697480"/>
            <a:ext cx="5029200" cy="1051560"/>
          </a:xfrm>
          <a:prstGeom prst="roundRect">
            <a:avLst>
              <a:gd name="adj" fmla="val 5217"/>
            </a:avLst>
          </a:prstGeom>
          <a:solidFill>
            <a:srgbClr val="FFFFFF"/>
          </a:solidFill>
          <a:ln w="19050">
            <a:solidFill>
              <a:srgbClr val="C8414C"/>
            </a:solidFill>
            <a:prstDash val="solid"/>
          </a:ln>
        </p:spPr>
      </p:sp>
      <p:sp>
        <p:nvSpPr>
          <p:cNvPr id="17" name="Shape 15"/>
          <p:cNvSpPr/>
          <p:nvPr/>
        </p:nvSpPr>
        <p:spPr>
          <a:xfrm>
            <a:off x="685800" y="2697480"/>
            <a:ext cx="109728" cy="1051560"/>
          </a:xfrm>
          <a:prstGeom prst="rect">
            <a:avLst/>
          </a:prstGeom>
          <a:solidFill>
            <a:srgbClr val="C8414C"/>
          </a:solidFill>
          <a:ln/>
        </p:spPr>
      </p:sp>
      <p:sp>
        <p:nvSpPr>
          <p:cNvPr id="18" name="Text 16"/>
          <p:cNvSpPr/>
          <p:nvPr/>
        </p:nvSpPr>
        <p:spPr>
          <a:xfrm>
            <a:off x="914400" y="2752344"/>
            <a:ext cx="4663440" cy="941832"/>
          </a:xfrm>
          <a:prstGeom prst="rect">
            <a:avLst/>
          </a:prstGeom>
          <a:noFill/>
          <a:ln/>
        </p:spPr>
        <p:txBody>
          <a:bodyPr wrap="square" lIns="0" tIns="0" rIns="0" bIns="0" rtlCol="0" anchor="ctr"/>
          <a:lstStyle/>
          <a:p>
            <a:pPr indent="0" marL="0">
              <a:buNone/>
            </a:pPr>
            <a:r>
              <a:rPr lang="en-US" sz="1250" b="1" dirty="0">
                <a:solidFill>
                  <a:srgbClr val="C8414C"/>
                </a:solidFill>
                <a:latin typeface="Calibri" pitchFamily="34" charset="0"/>
                <a:ea typeface="Calibri" pitchFamily="34" charset="-122"/>
                <a:cs typeface="Calibri" pitchFamily="34" charset="-120"/>
              </a:rPr>
              <a:t>Dependent variable (you measure)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acceleration</a:t>
            </a:r>
            <a:r>
              <a:rPr lang="en-US" sz="1150" dirty="0">
                <a:solidFill>
                  <a:srgbClr val="262B3A"/>
                </a:solidFill>
                <a:latin typeface="Calibri" pitchFamily="34" charset="0"/>
                <a:ea typeface="Calibri" pitchFamily="34" charset="-122"/>
                <a:cs typeface="Calibri" pitchFamily="34" charset="-120"/>
              </a:rPr>
              <a:t> of the trolley, from the light-gate speeds and time</a:t>
            </a:r>
            <a:endParaRPr lang="en-US" sz="1250" dirty="0"/>
          </a:p>
        </p:txBody>
      </p:sp>
      <p:sp>
        <p:nvSpPr>
          <p:cNvPr id="19" name="Shape 17"/>
          <p:cNvSpPr/>
          <p:nvPr/>
        </p:nvSpPr>
        <p:spPr>
          <a:xfrm>
            <a:off x="3200400" y="3767328"/>
            <a:ext cx="91" cy="237744"/>
          </a:xfrm>
          <a:prstGeom prst="line">
            <a:avLst/>
          </a:prstGeom>
          <a:noFill/>
          <a:ln w="25400">
            <a:solidFill>
              <a:srgbClr val="6B7385"/>
            </a:solidFill>
            <a:prstDash val="solid"/>
            <a:tailEnd type="triangle"/>
          </a:ln>
        </p:spPr>
      </p:sp>
      <p:sp>
        <p:nvSpPr>
          <p:cNvPr id="20" name="Shape 18"/>
          <p:cNvSpPr/>
          <p:nvPr/>
        </p:nvSpPr>
        <p:spPr>
          <a:xfrm>
            <a:off x="685800" y="4023360"/>
            <a:ext cx="5029200" cy="1051560"/>
          </a:xfrm>
          <a:prstGeom prst="roundRect">
            <a:avLst>
              <a:gd name="adj" fmla="val 5217"/>
            </a:avLst>
          </a:prstGeom>
          <a:solidFill>
            <a:srgbClr val="FFFFFF"/>
          </a:solidFill>
          <a:ln w="19050">
            <a:solidFill>
              <a:srgbClr val="2E8B57"/>
            </a:solidFill>
            <a:prstDash val="solid"/>
          </a:ln>
        </p:spPr>
      </p:sp>
      <p:sp>
        <p:nvSpPr>
          <p:cNvPr id="21" name="Shape 19"/>
          <p:cNvSpPr/>
          <p:nvPr/>
        </p:nvSpPr>
        <p:spPr>
          <a:xfrm>
            <a:off x="685800" y="4023360"/>
            <a:ext cx="109728" cy="1051560"/>
          </a:xfrm>
          <a:prstGeom prst="rect">
            <a:avLst/>
          </a:prstGeom>
          <a:solidFill>
            <a:srgbClr val="2E8B57"/>
          </a:solidFill>
          <a:ln/>
        </p:spPr>
      </p:sp>
      <p:sp>
        <p:nvSpPr>
          <p:cNvPr id="22" name="Text 20"/>
          <p:cNvSpPr/>
          <p:nvPr/>
        </p:nvSpPr>
        <p:spPr>
          <a:xfrm>
            <a:off x="914400" y="4078224"/>
            <a:ext cx="4663440" cy="941832"/>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Control variables (keep the same)</a:t>
            </a:r>
            <a:endParaRPr lang="en-US" sz="1250" dirty="0"/>
          </a:p>
          <a:p>
            <a:pPr indent="0" marL="0">
              <a:buNone/>
            </a:pPr>
            <a:r>
              <a:rPr lang="en-US" sz="1150" dirty="0">
                <a:solidFill>
                  <a:srgbClr val="262B3A"/>
                </a:solidFill>
                <a:latin typeface="Calibri" pitchFamily="34" charset="0"/>
                <a:ea typeface="Calibri" pitchFamily="34" charset="-122"/>
                <a:cs typeface="Calibri" pitchFamily="34" charset="-120"/>
              </a:rPr>
              <a:t>force when varying mass • </a:t>
            </a:r>
            <a:r>
              <a:rPr lang="en-US" sz="1150" b="1" dirty="0">
                <a:solidFill>
                  <a:srgbClr val="262B3A"/>
                </a:solidFill>
                <a:latin typeface="Calibri" pitchFamily="34" charset="0"/>
                <a:ea typeface="Calibri" pitchFamily="34" charset="-122"/>
                <a:cs typeface="Calibri" pitchFamily="34" charset="-120"/>
              </a:rPr>
              <a:t>total mass</a:t>
            </a:r>
            <a:r>
              <a:rPr lang="en-US" sz="1150" dirty="0">
                <a:solidFill>
                  <a:srgbClr val="262B3A"/>
                </a:solidFill>
                <a:latin typeface="Calibri" pitchFamily="34" charset="0"/>
                <a:ea typeface="Calibri" pitchFamily="34" charset="-122"/>
                <a:cs typeface="Calibri" pitchFamily="34" charset="-120"/>
              </a:rPr>
              <a:t> when varying force • slope of runway • start position • card length</a:t>
            </a:r>
            <a:endParaRPr lang="en-US" sz="1250" dirty="0"/>
          </a:p>
        </p:txBody>
      </p:sp>
      <p:sp>
        <p:nvSpPr>
          <p:cNvPr id="23" name="Shape 21"/>
          <p:cNvSpPr/>
          <p:nvPr/>
        </p:nvSpPr>
        <p:spPr>
          <a:xfrm>
            <a:off x="6217920" y="1188720"/>
            <a:ext cx="5562295" cy="2103120"/>
          </a:xfrm>
          <a:prstGeom prst="roundRect">
            <a:avLst>
              <a:gd name="adj" fmla="val 2609"/>
            </a:avLst>
          </a:prstGeom>
          <a:solidFill>
            <a:srgbClr val="F5F8FE"/>
          </a:solidFill>
          <a:ln w="9525">
            <a:solidFill>
              <a:srgbClr val="D5DCEB"/>
            </a:solidFill>
            <a:prstDash val="solid"/>
          </a:ln>
        </p:spPr>
      </p:sp>
      <p:sp>
        <p:nvSpPr>
          <p:cNvPr id="24" name="Text 2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Predictions</a:t>
            </a:r>
            <a:endParaRPr lang="en-US" sz="1300" dirty="0"/>
          </a:p>
        </p:txBody>
      </p:sp>
      <p:sp>
        <p:nvSpPr>
          <p:cNvPr id="25" name="Text 23"/>
          <p:cNvSpPr/>
          <p:nvPr/>
        </p:nvSpPr>
        <p:spPr>
          <a:xfrm>
            <a:off x="6382512" y="1609344"/>
            <a:ext cx="5233111" cy="16093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Vary force</a:t>
            </a:r>
            <a:r>
              <a:rPr lang="en-US" sz="1150" dirty="0">
                <a:solidFill>
                  <a:srgbClr val="262B3A"/>
                </a:solidFill>
                <a:latin typeface="Calibri" pitchFamily="34" charset="0"/>
                <a:ea typeface="Calibri" pitchFamily="34" charset="-122"/>
                <a:cs typeface="Calibri" pitchFamily="34" charset="-120"/>
              </a:rPr>
              <a:t> (mass constant): a ∝ F – a straight line through the origin.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Vary mass</a:t>
            </a:r>
            <a:r>
              <a:rPr lang="en-US" sz="1150" dirty="0">
                <a:solidFill>
                  <a:srgbClr val="262B3A"/>
                </a:solidFill>
                <a:latin typeface="Calibri" pitchFamily="34" charset="0"/>
                <a:ea typeface="Calibri" pitchFamily="34" charset="-122"/>
                <a:cs typeface="Calibri" pitchFamily="34" charset="-120"/>
              </a:rPr>
              <a:t> (force constant): a ∝ 1/m – a curve; doubling the mass halves the acceleration.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Both are tests of </a:t>
            </a:r>
            <a:r>
              <a:rPr lang="en-US" sz="1150" b="1" dirty="0">
                <a:solidFill>
                  <a:srgbClr val="262B3A"/>
                </a:solidFill>
                <a:latin typeface="Calibri" pitchFamily="34" charset="0"/>
                <a:ea typeface="Calibri" pitchFamily="34" charset="-122"/>
                <a:cs typeface="Calibri" pitchFamily="34" charset="-120"/>
              </a:rPr>
              <a:t>Newton’s second law, F = m × a</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6" name="Shape 24"/>
          <p:cNvSpPr/>
          <p:nvPr/>
        </p:nvSpPr>
        <p:spPr>
          <a:xfrm>
            <a:off x="6217920" y="3429000"/>
            <a:ext cx="5562295" cy="2286000"/>
          </a:xfrm>
          <a:prstGeom prst="roundRect">
            <a:avLst>
              <a:gd name="adj" fmla="val 2400"/>
            </a:avLst>
          </a:prstGeom>
          <a:solidFill>
            <a:srgbClr val="FFF4E0"/>
          </a:solidFill>
          <a:ln w="9525">
            <a:solidFill>
              <a:srgbClr val="F1D9A8"/>
            </a:solidFill>
            <a:prstDash val="solid"/>
          </a:ln>
        </p:spPr>
      </p:sp>
      <p:sp>
        <p:nvSpPr>
          <p:cNvPr id="27" name="Text 25"/>
          <p:cNvSpPr/>
          <p:nvPr/>
        </p:nvSpPr>
        <p:spPr>
          <a:xfrm>
            <a:off x="6382512" y="3502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a:t>
            </a:r>
            <a:endParaRPr lang="en-US" sz="1300" dirty="0"/>
          </a:p>
        </p:txBody>
      </p:sp>
      <p:sp>
        <p:nvSpPr>
          <p:cNvPr id="28" name="Text 26"/>
          <p:cNvSpPr/>
          <p:nvPr/>
        </p:nvSpPr>
        <p:spPr>
          <a:xfrm>
            <a:off x="6382512" y="3813048"/>
            <a:ext cx="5233111" cy="1828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Hazard → risk → control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Falling masses   </a:t>
            </a:r>
            <a:r>
              <a:rPr lang="en-US" sz="1050" dirty="0">
                <a:solidFill>
                  <a:srgbClr val="262B3A"/>
                </a:solidFill>
                <a:latin typeface="Calibri" pitchFamily="34" charset="0"/>
                <a:ea typeface="Calibri" pitchFamily="34" charset="-122"/>
                <a:cs typeface="Calibri" pitchFamily="34" charset="-120"/>
              </a:rPr>
              <a:t>injured feet → put a sand tray / soft mat under the hanger; keep feet clear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Moving trolley   </a:t>
            </a:r>
            <a:r>
              <a:rPr lang="en-US" sz="1050" dirty="0">
                <a:solidFill>
                  <a:srgbClr val="262B3A"/>
                </a:solidFill>
                <a:latin typeface="Calibri" pitchFamily="34" charset="0"/>
                <a:ea typeface="Calibri" pitchFamily="34" charset="-122"/>
                <a:cs typeface="Calibri" pitchFamily="34" charset="-120"/>
              </a:rPr>
              <a:t>trolley falls off the bench → use a buffer / stop block at the end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Masses on bench   </a:t>
            </a:r>
            <a:r>
              <a:rPr lang="en-US" sz="1050" dirty="0">
                <a:solidFill>
                  <a:srgbClr val="262B3A"/>
                </a:solidFill>
                <a:latin typeface="Calibri" pitchFamily="34" charset="0"/>
                <a:ea typeface="Calibri" pitchFamily="34" charset="-122"/>
                <a:cs typeface="Calibri" pitchFamily="34" charset="-120"/>
              </a:rPr>
              <a:t>keep the total small; clamp the pulley firmly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never stand under the hanging masses</a:t>
            </a:r>
            <a:endParaRPr lang="en-US" sz="1050" dirty="0"/>
          </a:p>
        </p:txBody>
      </p:sp>
      <p:sp>
        <p:nvSpPr>
          <p:cNvPr id="29" name="Shape 27"/>
          <p:cNvSpPr/>
          <p:nvPr/>
        </p:nvSpPr>
        <p:spPr>
          <a:xfrm>
            <a:off x="411480" y="5833872"/>
            <a:ext cx="11368735" cy="530352"/>
          </a:xfrm>
          <a:prstGeom prst="rect">
            <a:avLst/>
          </a:prstGeom>
          <a:solidFill>
            <a:srgbClr val="FFF4E0"/>
          </a:solidFill>
          <a:ln w="6350">
            <a:solidFill>
              <a:srgbClr val="F1D9A8"/>
            </a:solidFill>
            <a:prstDash val="solid"/>
          </a:ln>
        </p:spPr>
      </p:sp>
      <p:sp>
        <p:nvSpPr>
          <p:cNvPr id="30" name="Shape 28"/>
          <p:cNvSpPr/>
          <p:nvPr/>
        </p:nvSpPr>
        <p:spPr>
          <a:xfrm>
            <a:off x="411480" y="5833872"/>
            <a:ext cx="82296" cy="530352"/>
          </a:xfrm>
          <a:prstGeom prst="rect">
            <a:avLst/>
          </a:prstGeom>
          <a:solidFill>
            <a:srgbClr val="E39A2F"/>
          </a:solidFill>
          <a:ln w="12700">
            <a:solidFill>
              <a:srgbClr val="E39A2F"/>
            </a:solidFill>
            <a:prstDash val="solid"/>
          </a:ln>
        </p:spPr>
      </p:sp>
      <p:sp>
        <p:nvSpPr>
          <p:cNvPr id="31" name="Text 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part 1 (vary mass), name the control variable that tests Newton’s second law most directly.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results and graph</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2.19 • sample results: force = 1.0 N, total mass varied</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2.19  |  27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dashed curve = theory a = F ÷ m</a:t>
            </a:r>
            <a:endParaRPr lang="en-US" sz="1000" dirty="0"/>
          </a:p>
        </p:txBody>
      </p:sp>
      <p:sp>
        <p:nvSpPr>
          <p:cNvPr id="12" name="Shape 10"/>
          <p:cNvSpPr/>
          <p:nvPr/>
        </p:nvSpPr>
        <p:spPr>
          <a:xfrm>
            <a:off x="1280160" y="1417320"/>
            <a:ext cx="4389120" cy="3291840"/>
          </a:xfrm>
          <a:prstGeom prst="rect">
            <a:avLst/>
          </a:prstGeom>
          <a:solidFill>
            <a:srgbClr val="FFFFFF"/>
          </a:solidFill>
          <a:ln/>
        </p:spPr>
      </p:sp>
      <p:sp>
        <p:nvSpPr>
          <p:cNvPr id="13" name="Shape 11"/>
          <p:cNvSpPr/>
          <p:nvPr/>
        </p:nvSpPr>
        <p:spPr>
          <a:xfrm>
            <a:off x="1280160" y="1417320"/>
            <a:ext cx="91" cy="3291840"/>
          </a:xfrm>
          <a:prstGeom prst="line">
            <a:avLst/>
          </a:prstGeom>
          <a:noFill/>
          <a:ln w="6350">
            <a:solidFill>
              <a:srgbClr val="C9D3E6"/>
            </a:solidFill>
            <a:prstDash val="solid"/>
          </a:ln>
        </p:spPr>
      </p:sp>
      <p:sp>
        <p:nvSpPr>
          <p:cNvPr id="14" name="Shape 12"/>
          <p:cNvSpPr/>
          <p:nvPr/>
        </p:nvSpPr>
        <p:spPr>
          <a:xfrm>
            <a:off x="1593669" y="1417320"/>
            <a:ext cx="91" cy="3291840"/>
          </a:xfrm>
          <a:prstGeom prst="line">
            <a:avLst/>
          </a:prstGeom>
          <a:noFill/>
          <a:ln w="6350">
            <a:solidFill>
              <a:srgbClr val="E6EBF4"/>
            </a:solidFill>
            <a:prstDash val="solid"/>
          </a:ln>
        </p:spPr>
      </p:sp>
      <p:sp>
        <p:nvSpPr>
          <p:cNvPr id="15" name="Shape 13"/>
          <p:cNvSpPr/>
          <p:nvPr/>
        </p:nvSpPr>
        <p:spPr>
          <a:xfrm>
            <a:off x="1907177" y="1417320"/>
            <a:ext cx="91" cy="3291840"/>
          </a:xfrm>
          <a:prstGeom prst="line">
            <a:avLst/>
          </a:prstGeom>
          <a:noFill/>
          <a:ln w="6350">
            <a:solidFill>
              <a:srgbClr val="C9D3E6"/>
            </a:solidFill>
            <a:prstDash val="solid"/>
          </a:ln>
        </p:spPr>
      </p:sp>
      <p:sp>
        <p:nvSpPr>
          <p:cNvPr id="16" name="Shape 14"/>
          <p:cNvSpPr/>
          <p:nvPr/>
        </p:nvSpPr>
        <p:spPr>
          <a:xfrm>
            <a:off x="2220686" y="1417320"/>
            <a:ext cx="91" cy="3291840"/>
          </a:xfrm>
          <a:prstGeom prst="line">
            <a:avLst/>
          </a:prstGeom>
          <a:noFill/>
          <a:ln w="6350">
            <a:solidFill>
              <a:srgbClr val="E6EBF4"/>
            </a:solidFill>
            <a:prstDash val="solid"/>
          </a:ln>
        </p:spPr>
      </p:sp>
      <p:sp>
        <p:nvSpPr>
          <p:cNvPr id="17" name="Shape 15"/>
          <p:cNvSpPr/>
          <p:nvPr/>
        </p:nvSpPr>
        <p:spPr>
          <a:xfrm>
            <a:off x="2534194" y="1417320"/>
            <a:ext cx="91" cy="3291840"/>
          </a:xfrm>
          <a:prstGeom prst="line">
            <a:avLst/>
          </a:prstGeom>
          <a:noFill/>
          <a:ln w="6350">
            <a:solidFill>
              <a:srgbClr val="C9D3E6"/>
            </a:solidFill>
            <a:prstDash val="solid"/>
          </a:ln>
        </p:spPr>
      </p:sp>
      <p:sp>
        <p:nvSpPr>
          <p:cNvPr id="18" name="Shape 16"/>
          <p:cNvSpPr/>
          <p:nvPr/>
        </p:nvSpPr>
        <p:spPr>
          <a:xfrm>
            <a:off x="2847703" y="1417320"/>
            <a:ext cx="91" cy="3291840"/>
          </a:xfrm>
          <a:prstGeom prst="line">
            <a:avLst/>
          </a:prstGeom>
          <a:noFill/>
          <a:ln w="6350">
            <a:solidFill>
              <a:srgbClr val="E6EBF4"/>
            </a:solidFill>
            <a:prstDash val="solid"/>
          </a:ln>
        </p:spPr>
      </p:sp>
      <p:sp>
        <p:nvSpPr>
          <p:cNvPr id="19" name="Shape 17"/>
          <p:cNvSpPr/>
          <p:nvPr/>
        </p:nvSpPr>
        <p:spPr>
          <a:xfrm>
            <a:off x="3161211" y="1417320"/>
            <a:ext cx="91" cy="3291840"/>
          </a:xfrm>
          <a:prstGeom prst="line">
            <a:avLst/>
          </a:prstGeom>
          <a:noFill/>
          <a:ln w="6350">
            <a:solidFill>
              <a:srgbClr val="C9D3E6"/>
            </a:solidFill>
            <a:prstDash val="solid"/>
          </a:ln>
        </p:spPr>
      </p:sp>
      <p:sp>
        <p:nvSpPr>
          <p:cNvPr id="20" name="Shape 18"/>
          <p:cNvSpPr/>
          <p:nvPr/>
        </p:nvSpPr>
        <p:spPr>
          <a:xfrm>
            <a:off x="3474720" y="1417320"/>
            <a:ext cx="91" cy="3291840"/>
          </a:xfrm>
          <a:prstGeom prst="line">
            <a:avLst/>
          </a:prstGeom>
          <a:noFill/>
          <a:ln w="6350">
            <a:solidFill>
              <a:srgbClr val="E6EBF4"/>
            </a:solidFill>
            <a:prstDash val="solid"/>
          </a:ln>
        </p:spPr>
      </p:sp>
      <p:sp>
        <p:nvSpPr>
          <p:cNvPr id="21" name="Shape 19"/>
          <p:cNvSpPr/>
          <p:nvPr/>
        </p:nvSpPr>
        <p:spPr>
          <a:xfrm>
            <a:off x="3788229" y="1417320"/>
            <a:ext cx="91" cy="3291840"/>
          </a:xfrm>
          <a:prstGeom prst="line">
            <a:avLst/>
          </a:prstGeom>
          <a:noFill/>
          <a:ln w="6350">
            <a:solidFill>
              <a:srgbClr val="C9D3E6"/>
            </a:solidFill>
            <a:prstDash val="solid"/>
          </a:ln>
        </p:spPr>
      </p:sp>
      <p:sp>
        <p:nvSpPr>
          <p:cNvPr id="22" name="Shape 20"/>
          <p:cNvSpPr/>
          <p:nvPr/>
        </p:nvSpPr>
        <p:spPr>
          <a:xfrm>
            <a:off x="4101737" y="1417320"/>
            <a:ext cx="91" cy="3291840"/>
          </a:xfrm>
          <a:prstGeom prst="line">
            <a:avLst/>
          </a:prstGeom>
          <a:noFill/>
          <a:ln w="6350">
            <a:solidFill>
              <a:srgbClr val="E6EBF4"/>
            </a:solidFill>
            <a:prstDash val="solid"/>
          </a:ln>
        </p:spPr>
      </p:sp>
      <p:sp>
        <p:nvSpPr>
          <p:cNvPr id="23" name="Shape 21"/>
          <p:cNvSpPr/>
          <p:nvPr/>
        </p:nvSpPr>
        <p:spPr>
          <a:xfrm>
            <a:off x="4415246" y="1417320"/>
            <a:ext cx="91" cy="3291840"/>
          </a:xfrm>
          <a:prstGeom prst="line">
            <a:avLst/>
          </a:prstGeom>
          <a:noFill/>
          <a:ln w="6350">
            <a:solidFill>
              <a:srgbClr val="C9D3E6"/>
            </a:solidFill>
            <a:prstDash val="solid"/>
          </a:ln>
        </p:spPr>
      </p:sp>
      <p:sp>
        <p:nvSpPr>
          <p:cNvPr id="24" name="Shape 22"/>
          <p:cNvSpPr/>
          <p:nvPr/>
        </p:nvSpPr>
        <p:spPr>
          <a:xfrm>
            <a:off x="4728754" y="1417320"/>
            <a:ext cx="91" cy="3291840"/>
          </a:xfrm>
          <a:prstGeom prst="line">
            <a:avLst/>
          </a:prstGeom>
          <a:noFill/>
          <a:ln w="6350">
            <a:solidFill>
              <a:srgbClr val="E6EBF4"/>
            </a:solidFill>
            <a:prstDash val="solid"/>
          </a:ln>
        </p:spPr>
      </p:sp>
      <p:sp>
        <p:nvSpPr>
          <p:cNvPr id="25" name="Shape 23"/>
          <p:cNvSpPr/>
          <p:nvPr/>
        </p:nvSpPr>
        <p:spPr>
          <a:xfrm>
            <a:off x="5042263" y="1417320"/>
            <a:ext cx="91" cy="3291840"/>
          </a:xfrm>
          <a:prstGeom prst="line">
            <a:avLst/>
          </a:prstGeom>
          <a:noFill/>
          <a:ln w="6350">
            <a:solidFill>
              <a:srgbClr val="C9D3E6"/>
            </a:solidFill>
            <a:prstDash val="solid"/>
          </a:ln>
        </p:spPr>
      </p:sp>
      <p:sp>
        <p:nvSpPr>
          <p:cNvPr id="26" name="Shape 24"/>
          <p:cNvSpPr/>
          <p:nvPr/>
        </p:nvSpPr>
        <p:spPr>
          <a:xfrm>
            <a:off x="5355771" y="1417320"/>
            <a:ext cx="91" cy="3291840"/>
          </a:xfrm>
          <a:prstGeom prst="line">
            <a:avLst/>
          </a:prstGeom>
          <a:noFill/>
          <a:ln w="6350">
            <a:solidFill>
              <a:srgbClr val="E6EBF4"/>
            </a:solidFill>
            <a:prstDash val="solid"/>
          </a:ln>
        </p:spPr>
      </p:sp>
      <p:sp>
        <p:nvSpPr>
          <p:cNvPr id="27" name="Shape 25"/>
          <p:cNvSpPr/>
          <p:nvPr/>
        </p:nvSpPr>
        <p:spPr>
          <a:xfrm>
            <a:off x="5669280" y="1417320"/>
            <a:ext cx="91" cy="3291840"/>
          </a:xfrm>
          <a:prstGeom prst="line">
            <a:avLst/>
          </a:prstGeom>
          <a:noFill/>
          <a:ln w="6350">
            <a:solidFill>
              <a:srgbClr val="C9D3E6"/>
            </a:solidFill>
            <a:prstDash val="solid"/>
          </a:ln>
        </p:spPr>
      </p:sp>
      <p:sp>
        <p:nvSpPr>
          <p:cNvPr id="28" name="Shape 26"/>
          <p:cNvSpPr/>
          <p:nvPr/>
        </p:nvSpPr>
        <p:spPr>
          <a:xfrm>
            <a:off x="1280160" y="4709160"/>
            <a:ext cx="4389120" cy="91"/>
          </a:xfrm>
          <a:prstGeom prst="line">
            <a:avLst/>
          </a:prstGeom>
          <a:noFill/>
          <a:ln w="6350">
            <a:solidFill>
              <a:srgbClr val="C9D3E6"/>
            </a:solidFill>
            <a:prstDash val="solid"/>
          </a:ln>
        </p:spPr>
      </p:sp>
      <p:sp>
        <p:nvSpPr>
          <p:cNvPr id="29" name="Shape 27"/>
          <p:cNvSpPr/>
          <p:nvPr/>
        </p:nvSpPr>
        <p:spPr>
          <a:xfrm>
            <a:off x="1280160" y="4379976"/>
            <a:ext cx="4389120" cy="91"/>
          </a:xfrm>
          <a:prstGeom prst="line">
            <a:avLst/>
          </a:prstGeom>
          <a:noFill/>
          <a:ln w="6350">
            <a:solidFill>
              <a:srgbClr val="E6EBF4"/>
            </a:solidFill>
            <a:prstDash val="solid"/>
          </a:ln>
        </p:spPr>
      </p:sp>
      <p:sp>
        <p:nvSpPr>
          <p:cNvPr id="30" name="Shape 28"/>
          <p:cNvSpPr/>
          <p:nvPr/>
        </p:nvSpPr>
        <p:spPr>
          <a:xfrm>
            <a:off x="1280160" y="4050792"/>
            <a:ext cx="4389120" cy="91"/>
          </a:xfrm>
          <a:prstGeom prst="line">
            <a:avLst/>
          </a:prstGeom>
          <a:noFill/>
          <a:ln w="6350">
            <a:solidFill>
              <a:srgbClr val="C9D3E6"/>
            </a:solidFill>
            <a:prstDash val="solid"/>
          </a:ln>
        </p:spPr>
      </p:sp>
      <p:sp>
        <p:nvSpPr>
          <p:cNvPr id="31" name="Shape 29"/>
          <p:cNvSpPr/>
          <p:nvPr/>
        </p:nvSpPr>
        <p:spPr>
          <a:xfrm>
            <a:off x="1280160" y="3721608"/>
            <a:ext cx="4389120" cy="91"/>
          </a:xfrm>
          <a:prstGeom prst="line">
            <a:avLst/>
          </a:prstGeom>
          <a:noFill/>
          <a:ln w="6350">
            <a:solidFill>
              <a:srgbClr val="E6EBF4"/>
            </a:solidFill>
            <a:prstDash val="solid"/>
          </a:ln>
        </p:spPr>
      </p:sp>
      <p:sp>
        <p:nvSpPr>
          <p:cNvPr id="32" name="Shape 30"/>
          <p:cNvSpPr/>
          <p:nvPr/>
        </p:nvSpPr>
        <p:spPr>
          <a:xfrm>
            <a:off x="1280160" y="3392424"/>
            <a:ext cx="4389120" cy="91"/>
          </a:xfrm>
          <a:prstGeom prst="line">
            <a:avLst/>
          </a:prstGeom>
          <a:noFill/>
          <a:ln w="6350">
            <a:solidFill>
              <a:srgbClr val="C9D3E6"/>
            </a:solidFill>
            <a:prstDash val="solid"/>
          </a:ln>
        </p:spPr>
      </p:sp>
      <p:sp>
        <p:nvSpPr>
          <p:cNvPr id="33" name="Shape 31"/>
          <p:cNvSpPr/>
          <p:nvPr/>
        </p:nvSpPr>
        <p:spPr>
          <a:xfrm>
            <a:off x="1280160" y="3063240"/>
            <a:ext cx="4389120" cy="91"/>
          </a:xfrm>
          <a:prstGeom prst="line">
            <a:avLst/>
          </a:prstGeom>
          <a:noFill/>
          <a:ln w="6350">
            <a:solidFill>
              <a:srgbClr val="E6EBF4"/>
            </a:solidFill>
            <a:prstDash val="solid"/>
          </a:ln>
        </p:spPr>
      </p:sp>
      <p:sp>
        <p:nvSpPr>
          <p:cNvPr id="34" name="Shape 32"/>
          <p:cNvSpPr/>
          <p:nvPr/>
        </p:nvSpPr>
        <p:spPr>
          <a:xfrm>
            <a:off x="1280160" y="2734056"/>
            <a:ext cx="4389120" cy="91"/>
          </a:xfrm>
          <a:prstGeom prst="line">
            <a:avLst/>
          </a:prstGeom>
          <a:noFill/>
          <a:ln w="6350">
            <a:solidFill>
              <a:srgbClr val="C9D3E6"/>
            </a:solidFill>
            <a:prstDash val="solid"/>
          </a:ln>
        </p:spPr>
      </p:sp>
      <p:sp>
        <p:nvSpPr>
          <p:cNvPr id="35" name="Shape 33"/>
          <p:cNvSpPr/>
          <p:nvPr/>
        </p:nvSpPr>
        <p:spPr>
          <a:xfrm>
            <a:off x="1280160" y="2404872"/>
            <a:ext cx="4389120" cy="91"/>
          </a:xfrm>
          <a:prstGeom prst="line">
            <a:avLst/>
          </a:prstGeom>
          <a:noFill/>
          <a:ln w="6350">
            <a:solidFill>
              <a:srgbClr val="E6EBF4"/>
            </a:solidFill>
            <a:prstDash val="solid"/>
          </a:ln>
        </p:spPr>
      </p:sp>
      <p:sp>
        <p:nvSpPr>
          <p:cNvPr id="36" name="Shape 34"/>
          <p:cNvSpPr/>
          <p:nvPr/>
        </p:nvSpPr>
        <p:spPr>
          <a:xfrm>
            <a:off x="1280160" y="2075688"/>
            <a:ext cx="4389120" cy="91"/>
          </a:xfrm>
          <a:prstGeom prst="line">
            <a:avLst/>
          </a:prstGeom>
          <a:noFill/>
          <a:ln w="6350">
            <a:solidFill>
              <a:srgbClr val="C9D3E6"/>
            </a:solidFill>
            <a:prstDash val="solid"/>
          </a:ln>
        </p:spPr>
      </p:sp>
      <p:sp>
        <p:nvSpPr>
          <p:cNvPr id="37" name="Shape 35"/>
          <p:cNvSpPr/>
          <p:nvPr/>
        </p:nvSpPr>
        <p:spPr>
          <a:xfrm>
            <a:off x="1280160" y="1746504"/>
            <a:ext cx="4389120" cy="91"/>
          </a:xfrm>
          <a:prstGeom prst="line">
            <a:avLst/>
          </a:prstGeom>
          <a:noFill/>
          <a:ln w="6350">
            <a:solidFill>
              <a:srgbClr val="E6EBF4"/>
            </a:solidFill>
            <a:prstDash val="solid"/>
          </a:ln>
        </p:spPr>
      </p:sp>
      <p:sp>
        <p:nvSpPr>
          <p:cNvPr id="38" name="Shape 36"/>
          <p:cNvSpPr/>
          <p:nvPr/>
        </p:nvSpPr>
        <p:spPr>
          <a:xfrm>
            <a:off x="1280160" y="1417320"/>
            <a:ext cx="4389120" cy="91"/>
          </a:xfrm>
          <a:prstGeom prst="line">
            <a:avLst/>
          </a:prstGeom>
          <a:noFill/>
          <a:ln w="6350">
            <a:solidFill>
              <a:srgbClr val="C9D3E6"/>
            </a:solidFill>
            <a:prstDash val="solid"/>
          </a:ln>
        </p:spPr>
      </p:sp>
      <p:sp>
        <p:nvSpPr>
          <p:cNvPr id="39" name="Shape 37"/>
          <p:cNvSpPr/>
          <p:nvPr/>
        </p:nvSpPr>
        <p:spPr>
          <a:xfrm>
            <a:off x="1280160" y="4709160"/>
            <a:ext cx="4389120" cy="91"/>
          </a:xfrm>
          <a:prstGeom prst="line">
            <a:avLst/>
          </a:prstGeom>
          <a:noFill/>
          <a:ln w="19050">
            <a:solidFill>
              <a:srgbClr val="1A2340"/>
            </a:solidFill>
            <a:prstDash val="solid"/>
          </a:ln>
        </p:spPr>
      </p:sp>
      <p:sp>
        <p:nvSpPr>
          <p:cNvPr id="40" name="Shape 38"/>
          <p:cNvSpPr/>
          <p:nvPr/>
        </p:nvSpPr>
        <p:spPr>
          <a:xfrm flipV="1">
            <a:off x="1280160" y="1417320"/>
            <a:ext cx="91" cy="3291840"/>
          </a:xfrm>
          <a:prstGeom prst="line">
            <a:avLst/>
          </a:prstGeom>
          <a:noFill/>
          <a:ln w="19050">
            <a:solidFill>
              <a:srgbClr val="1A2340"/>
            </a:solidFill>
            <a:prstDash val="solid"/>
          </a:ln>
        </p:spPr>
      </p:sp>
      <p:sp>
        <p:nvSpPr>
          <p:cNvPr id="41" name="Shape 39"/>
          <p:cNvSpPr/>
          <p:nvPr/>
        </p:nvSpPr>
        <p:spPr>
          <a:xfrm>
            <a:off x="1280160" y="4709160"/>
            <a:ext cx="91" cy="54864"/>
          </a:xfrm>
          <a:prstGeom prst="line">
            <a:avLst/>
          </a:prstGeom>
          <a:noFill/>
          <a:ln w="12700">
            <a:solidFill>
              <a:srgbClr val="1A2340"/>
            </a:solidFill>
            <a:prstDash val="solid"/>
          </a:ln>
        </p:spPr>
      </p:sp>
      <p:sp>
        <p:nvSpPr>
          <p:cNvPr id="42" name="Text 40"/>
          <p:cNvSpPr/>
          <p:nvPr/>
        </p:nvSpPr>
        <p:spPr>
          <a:xfrm>
            <a:off x="1005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43" name="Shape 41"/>
          <p:cNvSpPr/>
          <p:nvPr/>
        </p:nvSpPr>
        <p:spPr>
          <a:xfrm>
            <a:off x="1907177" y="4709160"/>
            <a:ext cx="91" cy="54864"/>
          </a:xfrm>
          <a:prstGeom prst="line">
            <a:avLst/>
          </a:prstGeom>
          <a:noFill/>
          <a:ln w="12700">
            <a:solidFill>
              <a:srgbClr val="1A2340"/>
            </a:solidFill>
            <a:prstDash val="solid"/>
          </a:ln>
        </p:spPr>
      </p:sp>
      <p:sp>
        <p:nvSpPr>
          <p:cNvPr id="44" name="Text 42"/>
          <p:cNvSpPr/>
          <p:nvPr/>
        </p:nvSpPr>
        <p:spPr>
          <a:xfrm>
            <a:off x="1632857"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45" name="Shape 43"/>
          <p:cNvSpPr/>
          <p:nvPr/>
        </p:nvSpPr>
        <p:spPr>
          <a:xfrm>
            <a:off x="2534194" y="4709160"/>
            <a:ext cx="91" cy="54864"/>
          </a:xfrm>
          <a:prstGeom prst="line">
            <a:avLst/>
          </a:prstGeom>
          <a:noFill/>
          <a:ln w="12700">
            <a:solidFill>
              <a:srgbClr val="1A2340"/>
            </a:solidFill>
            <a:prstDash val="solid"/>
          </a:ln>
        </p:spPr>
      </p:sp>
      <p:sp>
        <p:nvSpPr>
          <p:cNvPr id="46" name="Text 44"/>
          <p:cNvSpPr/>
          <p:nvPr/>
        </p:nvSpPr>
        <p:spPr>
          <a:xfrm>
            <a:off x="2259874"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47" name="Shape 45"/>
          <p:cNvSpPr/>
          <p:nvPr/>
        </p:nvSpPr>
        <p:spPr>
          <a:xfrm>
            <a:off x="3161211" y="4709160"/>
            <a:ext cx="91" cy="54864"/>
          </a:xfrm>
          <a:prstGeom prst="line">
            <a:avLst/>
          </a:prstGeom>
          <a:noFill/>
          <a:ln w="12700">
            <a:solidFill>
              <a:srgbClr val="1A2340"/>
            </a:solidFill>
            <a:prstDash val="solid"/>
          </a:ln>
        </p:spPr>
      </p:sp>
      <p:sp>
        <p:nvSpPr>
          <p:cNvPr id="48" name="Text 46"/>
          <p:cNvSpPr/>
          <p:nvPr/>
        </p:nvSpPr>
        <p:spPr>
          <a:xfrm>
            <a:off x="2886891"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49" name="Shape 47"/>
          <p:cNvSpPr/>
          <p:nvPr/>
        </p:nvSpPr>
        <p:spPr>
          <a:xfrm>
            <a:off x="3788229" y="4709160"/>
            <a:ext cx="91" cy="54864"/>
          </a:xfrm>
          <a:prstGeom prst="line">
            <a:avLst/>
          </a:prstGeom>
          <a:noFill/>
          <a:ln w="12700">
            <a:solidFill>
              <a:srgbClr val="1A2340"/>
            </a:solidFill>
            <a:prstDash val="solid"/>
          </a:ln>
        </p:spPr>
      </p:sp>
      <p:sp>
        <p:nvSpPr>
          <p:cNvPr id="50" name="Text 48"/>
          <p:cNvSpPr/>
          <p:nvPr/>
        </p:nvSpPr>
        <p:spPr>
          <a:xfrm>
            <a:off x="3513909"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51" name="Shape 49"/>
          <p:cNvSpPr/>
          <p:nvPr/>
        </p:nvSpPr>
        <p:spPr>
          <a:xfrm>
            <a:off x="4415246" y="4709160"/>
            <a:ext cx="91" cy="54864"/>
          </a:xfrm>
          <a:prstGeom prst="line">
            <a:avLst/>
          </a:prstGeom>
          <a:noFill/>
          <a:ln w="12700">
            <a:solidFill>
              <a:srgbClr val="1A2340"/>
            </a:solidFill>
            <a:prstDash val="solid"/>
          </a:ln>
        </p:spPr>
      </p:sp>
      <p:sp>
        <p:nvSpPr>
          <p:cNvPr id="52" name="Text 50"/>
          <p:cNvSpPr/>
          <p:nvPr/>
        </p:nvSpPr>
        <p:spPr>
          <a:xfrm>
            <a:off x="4140926"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1"/>
          <p:cNvSpPr/>
          <p:nvPr/>
        </p:nvSpPr>
        <p:spPr>
          <a:xfrm>
            <a:off x="5042263" y="4709160"/>
            <a:ext cx="91" cy="54864"/>
          </a:xfrm>
          <a:prstGeom prst="line">
            <a:avLst/>
          </a:prstGeom>
          <a:noFill/>
          <a:ln w="12700">
            <a:solidFill>
              <a:srgbClr val="1A2340"/>
            </a:solidFill>
            <a:prstDash val="solid"/>
          </a:ln>
        </p:spPr>
      </p:sp>
      <p:sp>
        <p:nvSpPr>
          <p:cNvPr id="54" name="Text 52"/>
          <p:cNvSpPr/>
          <p:nvPr/>
        </p:nvSpPr>
        <p:spPr>
          <a:xfrm>
            <a:off x="4767943"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55" name="Shape 53"/>
          <p:cNvSpPr/>
          <p:nvPr/>
        </p:nvSpPr>
        <p:spPr>
          <a:xfrm>
            <a:off x="5669280" y="4709160"/>
            <a:ext cx="91" cy="54864"/>
          </a:xfrm>
          <a:prstGeom prst="line">
            <a:avLst/>
          </a:prstGeom>
          <a:noFill/>
          <a:ln w="12700">
            <a:solidFill>
              <a:srgbClr val="1A2340"/>
            </a:solidFill>
            <a:prstDash val="solid"/>
          </a:ln>
        </p:spPr>
      </p:sp>
      <p:sp>
        <p:nvSpPr>
          <p:cNvPr id="56" name="Text 54"/>
          <p:cNvSpPr/>
          <p:nvPr/>
        </p:nvSpPr>
        <p:spPr>
          <a:xfrm>
            <a:off x="53949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57" name="Shape 55"/>
          <p:cNvSpPr/>
          <p:nvPr/>
        </p:nvSpPr>
        <p:spPr>
          <a:xfrm>
            <a:off x="1225296" y="4709160"/>
            <a:ext cx="54864" cy="91"/>
          </a:xfrm>
          <a:prstGeom prst="line">
            <a:avLst/>
          </a:prstGeom>
          <a:noFill/>
          <a:ln w="12700">
            <a:solidFill>
              <a:srgbClr val="1A2340"/>
            </a:solidFill>
            <a:prstDash val="solid"/>
          </a:ln>
        </p:spPr>
      </p:sp>
      <p:sp>
        <p:nvSpPr>
          <p:cNvPr id="58" name="Text 56"/>
          <p:cNvSpPr/>
          <p:nvPr/>
        </p:nvSpPr>
        <p:spPr>
          <a:xfrm>
            <a:off x="84124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59" name="Shape 57"/>
          <p:cNvSpPr/>
          <p:nvPr/>
        </p:nvSpPr>
        <p:spPr>
          <a:xfrm>
            <a:off x="1225296" y="4050792"/>
            <a:ext cx="54864" cy="91"/>
          </a:xfrm>
          <a:prstGeom prst="line">
            <a:avLst/>
          </a:prstGeom>
          <a:noFill/>
          <a:ln w="12700">
            <a:solidFill>
              <a:srgbClr val="1A2340"/>
            </a:solidFill>
            <a:prstDash val="solid"/>
          </a:ln>
        </p:spPr>
      </p:sp>
      <p:sp>
        <p:nvSpPr>
          <p:cNvPr id="60" name="Text 58"/>
          <p:cNvSpPr/>
          <p:nvPr/>
        </p:nvSpPr>
        <p:spPr>
          <a:xfrm>
            <a:off x="841248" y="39593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61" name="Shape 59"/>
          <p:cNvSpPr/>
          <p:nvPr/>
        </p:nvSpPr>
        <p:spPr>
          <a:xfrm>
            <a:off x="1225296" y="3392424"/>
            <a:ext cx="54864" cy="91"/>
          </a:xfrm>
          <a:prstGeom prst="line">
            <a:avLst/>
          </a:prstGeom>
          <a:noFill/>
          <a:ln w="12700">
            <a:solidFill>
              <a:srgbClr val="1A2340"/>
            </a:solidFill>
            <a:prstDash val="solid"/>
          </a:ln>
        </p:spPr>
      </p:sp>
      <p:sp>
        <p:nvSpPr>
          <p:cNvPr id="62" name="Text 60"/>
          <p:cNvSpPr/>
          <p:nvPr/>
        </p:nvSpPr>
        <p:spPr>
          <a:xfrm>
            <a:off x="841248" y="33009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3" name="Shape 61"/>
          <p:cNvSpPr/>
          <p:nvPr/>
        </p:nvSpPr>
        <p:spPr>
          <a:xfrm>
            <a:off x="1225296" y="2734056"/>
            <a:ext cx="54864" cy="91"/>
          </a:xfrm>
          <a:prstGeom prst="line">
            <a:avLst/>
          </a:prstGeom>
          <a:noFill/>
          <a:ln w="12700">
            <a:solidFill>
              <a:srgbClr val="1A2340"/>
            </a:solidFill>
            <a:prstDash val="solid"/>
          </a:ln>
        </p:spPr>
      </p:sp>
      <p:sp>
        <p:nvSpPr>
          <p:cNvPr id="64" name="Text 62"/>
          <p:cNvSpPr/>
          <p:nvPr/>
        </p:nvSpPr>
        <p:spPr>
          <a:xfrm>
            <a:off x="841248" y="264261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65" name="Shape 63"/>
          <p:cNvSpPr/>
          <p:nvPr/>
        </p:nvSpPr>
        <p:spPr>
          <a:xfrm>
            <a:off x="1225296" y="2075688"/>
            <a:ext cx="54864" cy="91"/>
          </a:xfrm>
          <a:prstGeom prst="line">
            <a:avLst/>
          </a:prstGeom>
          <a:noFill/>
          <a:ln w="12700">
            <a:solidFill>
              <a:srgbClr val="1A2340"/>
            </a:solidFill>
            <a:prstDash val="solid"/>
          </a:ln>
        </p:spPr>
      </p:sp>
      <p:sp>
        <p:nvSpPr>
          <p:cNvPr id="66" name="Text 64"/>
          <p:cNvSpPr/>
          <p:nvPr/>
        </p:nvSpPr>
        <p:spPr>
          <a:xfrm>
            <a:off x="841248" y="19842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7" name="Shape 65"/>
          <p:cNvSpPr/>
          <p:nvPr/>
        </p:nvSpPr>
        <p:spPr>
          <a:xfrm>
            <a:off x="1225296" y="1417320"/>
            <a:ext cx="54864" cy="91"/>
          </a:xfrm>
          <a:prstGeom prst="line">
            <a:avLst/>
          </a:prstGeom>
          <a:noFill/>
          <a:ln w="12700">
            <a:solidFill>
              <a:srgbClr val="1A2340"/>
            </a:solidFill>
            <a:prstDash val="solid"/>
          </a:ln>
        </p:spPr>
      </p:sp>
      <p:sp>
        <p:nvSpPr>
          <p:cNvPr id="68" name="Text 66"/>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69" name="Text 67"/>
          <p:cNvSpPr/>
          <p:nvPr/>
        </p:nvSpPr>
        <p:spPr>
          <a:xfrm>
            <a:off x="128016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total mass being accelerated, m / kg</a:t>
            </a:r>
            <a:endParaRPr lang="en-US" sz="1050" dirty="0"/>
          </a:p>
        </p:txBody>
      </p:sp>
      <p:sp>
        <p:nvSpPr>
          <p:cNvPr id="70" name="Text 68"/>
          <p:cNvSpPr/>
          <p:nvPr/>
        </p:nvSpPr>
        <p:spPr>
          <a:xfrm rot="16200000">
            <a:off x="-93268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acceleration / m/s²</a:t>
            </a:r>
            <a:endParaRPr lang="en-US" sz="1050" dirty="0"/>
          </a:p>
        </p:txBody>
      </p:sp>
      <p:sp>
        <p:nvSpPr>
          <p:cNvPr id="71" name="Shape 69"/>
          <p:cNvSpPr/>
          <p:nvPr/>
        </p:nvSpPr>
        <p:spPr>
          <a:xfrm>
            <a:off x="2534194" y="1417320"/>
            <a:ext cx="78377" cy="193638"/>
          </a:xfrm>
          <a:prstGeom prst="line">
            <a:avLst/>
          </a:prstGeom>
          <a:noFill/>
          <a:ln w="15875">
            <a:solidFill>
              <a:srgbClr val="6B7385"/>
            </a:solidFill>
            <a:prstDash val="dash"/>
          </a:ln>
        </p:spPr>
      </p:sp>
      <p:sp>
        <p:nvSpPr>
          <p:cNvPr id="72" name="Shape 70"/>
          <p:cNvSpPr/>
          <p:nvPr/>
        </p:nvSpPr>
        <p:spPr>
          <a:xfrm>
            <a:off x="2612571" y="1610958"/>
            <a:ext cx="78377" cy="172122"/>
          </a:xfrm>
          <a:prstGeom prst="line">
            <a:avLst/>
          </a:prstGeom>
          <a:noFill/>
          <a:ln w="15875">
            <a:solidFill>
              <a:srgbClr val="6B7385"/>
            </a:solidFill>
            <a:prstDash val="dash"/>
          </a:ln>
        </p:spPr>
      </p:sp>
      <p:sp>
        <p:nvSpPr>
          <p:cNvPr id="73" name="Shape 71"/>
          <p:cNvSpPr/>
          <p:nvPr/>
        </p:nvSpPr>
        <p:spPr>
          <a:xfrm>
            <a:off x="2690949" y="1783080"/>
            <a:ext cx="78377" cy="154004"/>
          </a:xfrm>
          <a:prstGeom prst="line">
            <a:avLst/>
          </a:prstGeom>
          <a:noFill/>
          <a:ln w="15875">
            <a:solidFill>
              <a:srgbClr val="6B7385"/>
            </a:solidFill>
            <a:prstDash val="dash"/>
          </a:ln>
        </p:spPr>
      </p:sp>
      <p:sp>
        <p:nvSpPr>
          <p:cNvPr id="74" name="Shape 72"/>
          <p:cNvSpPr/>
          <p:nvPr/>
        </p:nvSpPr>
        <p:spPr>
          <a:xfrm>
            <a:off x="2769326" y="1937084"/>
            <a:ext cx="78377" cy="138604"/>
          </a:xfrm>
          <a:prstGeom prst="line">
            <a:avLst/>
          </a:prstGeom>
          <a:noFill/>
          <a:ln w="15875">
            <a:solidFill>
              <a:srgbClr val="6B7385"/>
            </a:solidFill>
            <a:prstDash val="dash"/>
          </a:ln>
        </p:spPr>
      </p:sp>
      <p:sp>
        <p:nvSpPr>
          <p:cNvPr id="75" name="Shape 73"/>
          <p:cNvSpPr/>
          <p:nvPr/>
        </p:nvSpPr>
        <p:spPr>
          <a:xfrm>
            <a:off x="2847703" y="2075688"/>
            <a:ext cx="78377" cy="125403"/>
          </a:xfrm>
          <a:prstGeom prst="line">
            <a:avLst/>
          </a:prstGeom>
          <a:noFill/>
          <a:ln w="15875">
            <a:solidFill>
              <a:srgbClr val="6B7385"/>
            </a:solidFill>
            <a:prstDash val="dash"/>
          </a:ln>
        </p:spPr>
      </p:sp>
      <p:sp>
        <p:nvSpPr>
          <p:cNvPr id="76" name="Shape 74"/>
          <p:cNvSpPr/>
          <p:nvPr/>
        </p:nvSpPr>
        <p:spPr>
          <a:xfrm>
            <a:off x="2926080" y="2201091"/>
            <a:ext cx="78377" cy="114003"/>
          </a:xfrm>
          <a:prstGeom prst="line">
            <a:avLst/>
          </a:prstGeom>
          <a:noFill/>
          <a:ln w="15875">
            <a:solidFill>
              <a:srgbClr val="6B7385"/>
            </a:solidFill>
            <a:prstDash val="dash"/>
          </a:ln>
        </p:spPr>
      </p:sp>
      <p:sp>
        <p:nvSpPr>
          <p:cNvPr id="77" name="Shape 75"/>
          <p:cNvSpPr/>
          <p:nvPr/>
        </p:nvSpPr>
        <p:spPr>
          <a:xfrm>
            <a:off x="3004457" y="2315095"/>
            <a:ext cx="78377" cy="104090"/>
          </a:xfrm>
          <a:prstGeom prst="line">
            <a:avLst/>
          </a:prstGeom>
          <a:noFill/>
          <a:ln w="15875">
            <a:solidFill>
              <a:srgbClr val="6B7385"/>
            </a:solidFill>
            <a:prstDash val="dash"/>
          </a:ln>
        </p:spPr>
      </p:sp>
      <p:sp>
        <p:nvSpPr>
          <p:cNvPr id="78" name="Shape 76"/>
          <p:cNvSpPr/>
          <p:nvPr/>
        </p:nvSpPr>
        <p:spPr>
          <a:xfrm>
            <a:off x="3082834" y="2419184"/>
            <a:ext cx="78377" cy="95416"/>
          </a:xfrm>
          <a:prstGeom prst="line">
            <a:avLst/>
          </a:prstGeom>
          <a:noFill/>
          <a:ln w="15875">
            <a:solidFill>
              <a:srgbClr val="6B7385"/>
            </a:solidFill>
            <a:prstDash val="dash"/>
          </a:ln>
        </p:spPr>
      </p:sp>
      <p:sp>
        <p:nvSpPr>
          <p:cNvPr id="79" name="Shape 77"/>
          <p:cNvSpPr/>
          <p:nvPr/>
        </p:nvSpPr>
        <p:spPr>
          <a:xfrm>
            <a:off x="3161211" y="2514600"/>
            <a:ext cx="78377" cy="87782"/>
          </a:xfrm>
          <a:prstGeom prst="line">
            <a:avLst/>
          </a:prstGeom>
          <a:noFill/>
          <a:ln w="15875">
            <a:solidFill>
              <a:srgbClr val="6B7385"/>
            </a:solidFill>
            <a:prstDash val="dash"/>
          </a:ln>
        </p:spPr>
      </p:sp>
      <p:sp>
        <p:nvSpPr>
          <p:cNvPr id="80" name="Shape 78"/>
          <p:cNvSpPr/>
          <p:nvPr/>
        </p:nvSpPr>
        <p:spPr>
          <a:xfrm>
            <a:off x="3239589" y="2602382"/>
            <a:ext cx="78377" cy="81030"/>
          </a:xfrm>
          <a:prstGeom prst="line">
            <a:avLst/>
          </a:prstGeom>
          <a:noFill/>
          <a:ln w="15875">
            <a:solidFill>
              <a:srgbClr val="6B7385"/>
            </a:solidFill>
            <a:prstDash val="dash"/>
          </a:ln>
        </p:spPr>
      </p:sp>
      <p:sp>
        <p:nvSpPr>
          <p:cNvPr id="81" name="Shape 79"/>
          <p:cNvSpPr/>
          <p:nvPr/>
        </p:nvSpPr>
        <p:spPr>
          <a:xfrm>
            <a:off x="3317966" y="2683412"/>
            <a:ext cx="78377" cy="75028"/>
          </a:xfrm>
          <a:prstGeom prst="line">
            <a:avLst/>
          </a:prstGeom>
          <a:noFill/>
          <a:ln w="15875">
            <a:solidFill>
              <a:srgbClr val="6B7385"/>
            </a:solidFill>
            <a:prstDash val="dash"/>
          </a:ln>
        </p:spPr>
      </p:sp>
      <p:sp>
        <p:nvSpPr>
          <p:cNvPr id="82" name="Shape 80"/>
          <p:cNvSpPr/>
          <p:nvPr/>
        </p:nvSpPr>
        <p:spPr>
          <a:xfrm>
            <a:off x="3396343" y="2758440"/>
            <a:ext cx="78377" cy="69669"/>
          </a:xfrm>
          <a:prstGeom prst="line">
            <a:avLst/>
          </a:prstGeom>
          <a:noFill/>
          <a:ln w="15875">
            <a:solidFill>
              <a:srgbClr val="6B7385"/>
            </a:solidFill>
            <a:prstDash val="dash"/>
          </a:ln>
        </p:spPr>
      </p:sp>
      <p:sp>
        <p:nvSpPr>
          <p:cNvPr id="83" name="Shape 81"/>
          <p:cNvSpPr/>
          <p:nvPr/>
        </p:nvSpPr>
        <p:spPr>
          <a:xfrm>
            <a:off x="3474720" y="2828109"/>
            <a:ext cx="78377" cy="64864"/>
          </a:xfrm>
          <a:prstGeom prst="line">
            <a:avLst/>
          </a:prstGeom>
          <a:noFill/>
          <a:ln w="15875">
            <a:solidFill>
              <a:srgbClr val="6B7385"/>
            </a:solidFill>
            <a:prstDash val="dash"/>
          </a:ln>
        </p:spPr>
      </p:sp>
      <p:sp>
        <p:nvSpPr>
          <p:cNvPr id="84" name="Shape 82"/>
          <p:cNvSpPr/>
          <p:nvPr/>
        </p:nvSpPr>
        <p:spPr>
          <a:xfrm>
            <a:off x="3553097" y="2892972"/>
            <a:ext cx="78377" cy="60540"/>
          </a:xfrm>
          <a:prstGeom prst="line">
            <a:avLst/>
          </a:prstGeom>
          <a:noFill/>
          <a:ln w="15875">
            <a:solidFill>
              <a:srgbClr val="6B7385"/>
            </a:solidFill>
            <a:prstDash val="dash"/>
          </a:ln>
        </p:spPr>
      </p:sp>
      <p:sp>
        <p:nvSpPr>
          <p:cNvPr id="85" name="Shape 83"/>
          <p:cNvSpPr/>
          <p:nvPr/>
        </p:nvSpPr>
        <p:spPr>
          <a:xfrm>
            <a:off x="3631474" y="2953512"/>
            <a:ext cx="78377" cy="56634"/>
          </a:xfrm>
          <a:prstGeom prst="line">
            <a:avLst/>
          </a:prstGeom>
          <a:noFill/>
          <a:ln w="15875">
            <a:solidFill>
              <a:srgbClr val="6B7385"/>
            </a:solidFill>
            <a:prstDash val="dash"/>
          </a:ln>
        </p:spPr>
      </p:sp>
      <p:sp>
        <p:nvSpPr>
          <p:cNvPr id="86" name="Shape 84"/>
          <p:cNvSpPr/>
          <p:nvPr/>
        </p:nvSpPr>
        <p:spPr>
          <a:xfrm>
            <a:off x="3709851" y="3010146"/>
            <a:ext cx="78377" cy="53094"/>
          </a:xfrm>
          <a:prstGeom prst="line">
            <a:avLst/>
          </a:prstGeom>
          <a:noFill/>
          <a:ln w="15875">
            <a:solidFill>
              <a:srgbClr val="6B7385"/>
            </a:solidFill>
            <a:prstDash val="dash"/>
          </a:ln>
        </p:spPr>
      </p:sp>
      <p:sp>
        <p:nvSpPr>
          <p:cNvPr id="87" name="Shape 85"/>
          <p:cNvSpPr/>
          <p:nvPr/>
        </p:nvSpPr>
        <p:spPr>
          <a:xfrm>
            <a:off x="3788229" y="3063240"/>
            <a:ext cx="78377" cy="49876"/>
          </a:xfrm>
          <a:prstGeom prst="line">
            <a:avLst/>
          </a:prstGeom>
          <a:noFill/>
          <a:ln w="15875">
            <a:solidFill>
              <a:srgbClr val="6B7385"/>
            </a:solidFill>
            <a:prstDash val="dash"/>
          </a:ln>
        </p:spPr>
      </p:sp>
      <p:sp>
        <p:nvSpPr>
          <p:cNvPr id="88" name="Shape 86"/>
          <p:cNvSpPr/>
          <p:nvPr/>
        </p:nvSpPr>
        <p:spPr>
          <a:xfrm>
            <a:off x="3866606" y="3113116"/>
            <a:ext cx="78377" cy="46942"/>
          </a:xfrm>
          <a:prstGeom prst="line">
            <a:avLst/>
          </a:prstGeom>
          <a:noFill/>
          <a:ln w="15875">
            <a:solidFill>
              <a:srgbClr val="6B7385"/>
            </a:solidFill>
            <a:prstDash val="dash"/>
          </a:ln>
        </p:spPr>
      </p:sp>
      <p:sp>
        <p:nvSpPr>
          <p:cNvPr id="89" name="Shape 87"/>
          <p:cNvSpPr/>
          <p:nvPr/>
        </p:nvSpPr>
        <p:spPr>
          <a:xfrm>
            <a:off x="3944983" y="3160059"/>
            <a:ext cx="78377" cy="44260"/>
          </a:xfrm>
          <a:prstGeom prst="line">
            <a:avLst/>
          </a:prstGeom>
          <a:noFill/>
          <a:ln w="15875">
            <a:solidFill>
              <a:srgbClr val="6B7385"/>
            </a:solidFill>
            <a:prstDash val="dash"/>
          </a:ln>
        </p:spPr>
      </p:sp>
      <p:sp>
        <p:nvSpPr>
          <p:cNvPr id="90" name="Shape 88"/>
          <p:cNvSpPr/>
          <p:nvPr/>
        </p:nvSpPr>
        <p:spPr>
          <a:xfrm>
            <a:off x="4023360" y="3204319"/>
            <a:ext cx="78377" cy="41801"/>
          </a:xfrm>
          <a:prstGeom prst="line">
            <a:avLst/>
          </a:prstGeom>
          <a:noFill/>
          <a:ln w="15875">
            <a:solidFill>
              <a:srgbClr val="6B7385"/>
            </a:solidFill>
            <a:prstDash val="dash"/>
          </a:ln>
        </p:spPr>
      </p:sp>
      <p:sp>
        <p:nvSpPr>
          <p:cNvPr id="91" name="Shape 89"/>
          <p:cNvSpPr/>
          <p:nvPr/>
        </p:nvSpPr>
        <p:spPr>
          <a:xfrm>
            <a:off x="4101737" y="3246120"/>
            <a:ext cx="78377" cy="39542"/>
          </a:xfrm>
          <a:prstGeom prst="line">
            <a:avLst/>
          </a:prstGeom>
          <a:noFill/>
          <a:ln w="15875">
            <a:solidFill>
              <a:srgbClr val="6B7385"/>
            </a:solidFill>
            <a:prstDash val="dash"/>
          </a:ln>
        </p:spPr>
      </p:sp>
      <p:sp>
        <p:nvSpPr>
          <p:cNvPr id="92" name="Shape 90"/>
          <p:cNvSpPr/>
          <p:nvPr/>
        </p:nvSpPr>
        <p:spPr>
          <a:xfrm>
            <a:off x="4180114" y="3285662"/>
            <a:ext cx="78377" cy="37460"/>
          </a:xfrm>
          <a:prstGeom prst="line">
            <a:avLst/>
          </a:prstGeom>
          <a:noFill/>
          <a:ln w="15875">
            <a:solidFill>
              <a:srgbClr val="6B7385"/>
            </a:solidFill>
            <a:prstDash val="dash"/>
          </a:ln>
        </p:spPr>
      </p:sp>
      <p:sp>
        <p:nvSpPr>
          <p:cNvPr id="93" name="Shape 91"/>
          <p:cNvSpPr/>
          <p:nvPr/>
        </p:nvSpPr>
        <p:spPr>
          <a:xfrm>
            <a:off x="4258491" y="3323122"/>
            <a:ext cx="78377" cy="35539"/>
          </a:xfrm>
          <a:prstGeom prst="line">
            <a:avLst/>
          </a:prstGeom>
          <a:noFill/>
          <a:ln w="15875">
            <a:solidFill>
              <a:srgbClr val="6B7385"/>
            </a:solidFill>
            <a:prstDash val="dash"/>
          </a:ln>
        </p:spPr>
      </p:sp>
      <p:sp>
        <p:nvSpPr>
          <p:cNvPr id="94" name="Shape 92"/>
          <p:cNvSpPr/>
          <p:nvPr/>
        </p:nvSpPr>
        <p:spPr>
          <a:xfrm>
            <a:off x="4336869" y="3358662"/>
            <a:ext cx="78377" cy="33762"/>
          </a:xfrm>
          <a:prstGeom prst="line">
            <a:avLst/>
          </a:prstGeom>
          <a:noFill/>
          <a:ln w="15875">
            <a:solidFill>
              <a:srgbClr val="6B7385"/>
            </a:solidFill>
            <a:prstDash val="dash"/>
          </a:ln>
        </p:spPr>
      </p:sp>
      <p:sp>
        <p:nvSpPr>
          <p:cNvPr id="95" name="Shape 93"/>
          <p:cNvSpPr/>
          <p:nvPr/>
        </p:nvSpPr>
        <p:spPr>
          <a:xfrm>
            <a:off x="4415246" y="3392424"/>
            <a:ext cx="78377" cy="32116"/>
          </a:xfrm>
          <a:prstGeom prst="line">
            <a:avLst/>
          </a:prstGeom>
          <a:noFill/>
          <a:ln w="15875">
            <a:solidFill>
              <a:srgbClr val="6B7385"/>
            </a:solidFill>
            <a:prstDash val="dash"/>
          </a:ln>
        </p:spPr>
      </p:sp>
      <p:sp>
        <p:nvSpPr>
          <p:cNvPr id="96" name="Shape 94"/>
          <p:cNvSpPr/>
          <p:nvPr/>
        </p:nvSpPr>
        <p:spPr>
          <a:xfrm>
            <a:off x="4493623" y="3424540"/>
            <a:ext cx="78377" cy="30586"/>
          </a:xfrm>
          <a:prstGeom prst="line">
            <a:avLst/>
          </a:prstGeom>
          <a:noFill/>
          <a:ln w="15875">
            <a:solidFill>
              <a:srgbClr val="6B7385"/>
            </a:solidFill>
            <a:prstDash val="dash"/>
          </a:ln>
        </p:spPr>
      </p:sp>
      <p:sp>
        <p:nvSpPr>
          <p:cNvPr id="97" name="Shape 95"/>
          <p:cNvSpPr/>
          <p:nvPr/>
        </p:nvSpPr>
        <p:spPr>
          <a:xfrm>
            <a:off x="4572000" y="3455126"/>
            <a:ext cx="78377" cy="29164"/>
          </a:xfrm>
          <a:prstGeom prst="line">
            <a:avLst/>
          </a:prstGeom>
          <a:noFill/>
          <a:ln w="15875">
            <a:solidFill>
              <a:srgbClr val="6B7385"/>
            </a:solidFill>
            <a:prstDash val="dash"/>
          </a:ln>
        </p:spPr>
      </p:sp>
      <p:sp>
        <p:nvSpPr>
          <p:cNvPr id="98" name="Shape 96"/>
          <p:cNvSpPr/>
          <p:nvPr/>
        </p:nvSpPr>
        <p:spPr>
          <a:xfrm>
            <a:off x="4650377" y="3484289"/>
            <a:ext cx="78377" cy="27838"/>
          </a:xfrm>
          <a:prstGeom prst="line">
            <a:avLst/>
          </a:prstGeom>
          <a:noFill/>
          <a:ln w="15875">
            <a:solidFill>
              <a:srgbClr val="6B7385"/>
            </a:solidFill>
            <a:prstDash val="dash"/>
          </a:ln>
        </p:spPr>
      </p:sp>
      <p:sp>
        <p:nvSpPr>
          <p:cNvPr id="99" name="Shape 97"/>
          <p:cNvSpPr/>
          <p:nvPr/>
        </p:nvSpPr>
        <p:spPr>
          <a:xfrm>
            <a:off x="4728754" y="3512127"/>
            <a:ext cx="78377" cy="26601"/>
          </a:xfrm>
          <a:prstGeom prst="line">
            <a:avLst/>
          </a:prstGeom>
          <a:noFill/>
          <a:ln w="15875">
            <a:solidFill>
              <a:srgbClr val="6B7385"/>
            </a:solidFill>
            <a:prstDash val="dash"/>
          </a:ln>
        </p:spPr>
      </p:sp>
      <p:sp>
        <p:nvSpPr>
          <p:cNvPr id="100" name="Shape 98"/>
          <p:cNvSpPr/>
          <p:nvPr/>
        </p:nvSpPr>
        <p:spPr>
          <a:xfrm>
            <a:off x="4807131" y="3538728"/>
            <a:ext cx="78377" cy="25444"/>
          </a:xfrm>
          <a:prstGeom prst="line">
            <a:avLst/>
          </a:prstGeom>
          <a:noFill/>
          <a:ln w="15875">
            <a:solidFill>
              <a:srgbClr val="6B7385"/>
            </a:solidFill>
            <a:prstDash val="dash"/>
          </a:ln>
        </p:spPr>
      </p:sp>
      <p:sp>
        <p:nvSpPr>
          <p:cNvPr id="101" name="Shape 99"/>
          <p:cNvSpPr/>
          <p:nvPr/>
        </p:nvSpPr>
        <p:spPr>
          <a:xfrm>
            <a:off x="4885509" y="3564172"/>
            <a:ext cx="78377" cy="24361"/>
          </a:xfrm>
          <a:prstGeom prst="line">
            <a:avLst/>
          </a:prstGeom>
          <a:noFill/>
          <a:ln w="15875">
            <a:solidFill>
              <a:srgbClr val="6B7385"/>
            </a:solidFill>
            <a:prstDash val="dash"/>
          </a:ln>
        </p:spPr>
      </p:sp>
      <p:sp>
        <p:nvSpPr>
          <p:cNvPr id="102" name="Shape 100"/>
          <p:cNvSpPr/>
          <p:nvPr/>
        </p:nvSpPr>
        <p:spPr>
          <a:xfrm>
            <a:off x="4963886" y="3588534"/>
            <a:ext cx="78377" cy="23346"/>
          </a:xfrm>
          <a:prstGeom prst="line">
            <a:avLst/>
          </a:prstGeom>
          <a:noFill/>
          <a:ln w="15875">
            <a:solidFill>
              <a:srgbClr val="6B7385"/>
            </a:solidFill>
            <a:prstDash val="dash"/>
          </a:ln>
        </p:spPr>
      </p:sp>
      <p:sp>
        <p:nvSpPr>
          <p:cNvPr id="103" name="Shape 101"/>
          <p:cNvSpPr/>
          <p:nvPr/>
        </p:nvSpPr>
        <p:spPr>
          <a:xfrm>
            <a:off x="5042263" y="3611880"/>
            <a:ext cx="78377" cy="22393"/>
          </a:xfrm>
          <a:prstGeom prst="line">
            <a:avLst/>
          </a:prstGeom>
          <a:noFill/>
          <a:ln w="15875">
            <a:solidFill>
              <a:srgbClr val="6B7385"/>
            </a:solidFill>
            <a:prstDash val="dash"/>
          </a:ln>
        </p:spPr>
      </p:sp>
      <p:sp>
        <p:nvSpPr>
          <p:cNvPr id="104" name="Shape 102"/>
          <p:cNvSpPr/>
          <p:nvPr/>
        </p:nvSpPr>
        <p:spPr>
          <a:xfrm>
            <a:off x="5120640" y="3634273"/>
            <a:ext cx="78377" cy="21498"/>
          </a:xfrm>
          <a:prstGeom prst="line">
            <a:avLst/>
          </a:prstGeom>
          <a:noFill/>
          <a:ln w="15875">
            <a:solidFill>
              <a:srgbClr val="6B7385"/>
            </a:solidFill>
            <a:prstDash val="dash"/>
          </a:ln>
        </p:spPr>
      </p:sp>
      <p:sp>
        <p:nvSpPr>
          <p:cNvPr id="105" name="Shape 103"/>
          <p:cNvSpPr/>
          <p:nvPr/>
        </p:nvSpPr>
        <p:spPr>
          <a:xfrm>
            <a:off x="5199017" y="3655771"/>
            <a:ext cx="78377" cy="20655"/>
          </a:xfrm>
          <a:prstGeom prst="line">
            <a:avLst/>
          </a:prstGeom>
          <a:noFill/>
          <a:ln w="15875">
            <a:solidFill>
              <a:srgbClr val="6B7385"/>
            </a:solidFill>
            <a:prstDash val="dash"/>
          </a:ln>
        </p:spPr>
      </p:sp>
      <p:sp>
        <p:nvSpPr>
          <p:cNvPr id="106" name="Shape 104"/>
          <p:cNvSpPr/>
          <p:nvPr/>
        </p:nvSpPr>
        <p:spPr>
          <a:xfrm>
            <a:off x="5277394" y="3676426"/>
            <a:ext cx="78377" cy="19860"/>
          </a:xfrm>
          <a:prstGeom prst="line">
            <a:avLst/>
          </a:prstGeom>
          <a:noFill/>
          <a:ln w="15875">
            <a:solidFill>
              <a:srgbClr val="6B7385"/>
            </a:solidFill>
            <a:prstDash val="dash"/>
          </a:ln>
        </p:spPr>
      </p:sp>
      <p:sp>
        <p:nvSpPr>
          <p:cNvPr id="107" name="Shape 105"/>
          <p:cNvSpPr/>
          <p:nvPr/>
        </p:nvSpPr>
        <p:spPr>
          <a:xfrm>
            <a:off x="5355771" y="3696286"/>
            <a:ext cx="78377" cy="19111"/>
          </a:xfrm>
          <a:prstGeom prst="line">
            <a:avLst/>
          </a:prstGeom>
          <a:noFill/>
          <a:ln w="15875">
            <a:solidFill>
              <a:srgbClr val="6B7385"/>
            </a:solidFill>
            <a:prstDash val="dash"/>
          </a:ln>
        </p:spPr>
      </p:sp>
      <p:sp>
        <p:nvSpPr>
          <p:cNvPr id="108" name="Shape 106"/>
          <p:cNvSpPr/>
          <p:nvPr/>
        </p:nvSpPr>
        <p:spPr>
          <a:xfrm>
            <a:off x="5434149" y="3715397"/>
            <a:ext cx="78377" cy="18403"/>
          </a:xfrm>
          <a:prstGeom prst="line">
            <a:avLst/>
          </a:prstGeom>
          <a:noFill/>
          <a:ln w="15875">
            <a:solidFill>
              <a:srgbClr val="6B7385"/>
            </a:solidFill>
            <a:prstDash val="dash"/>
          </a:ln>
        </p:spPr>
      </p:sp>
      <p:sp>
        <p:nvSpPr>
          <p:cNvPr id="109" name="Shape 107"/>
          <p:cNvSpPr/>
          <p:nvPr/>
        </p:nvSpPr>
        <p:spPr>
          <a:xfrm>
            <a:off x="5512526" y="3733800"/>
            <a:ext cx="78377" cy="17734"/>
          </a:xfrm>
          <a:prstGeom prst="line">
            <a:avLst/>
          </a:prstGeom>
          <a:noFill/>
          <a:ln w="15875">
            <a:solidFill>
              <a:srgbClr val="6B7385"/>
            </a:solidFill>
            <a:prstDash val="dash"/>
          </a:ln>
        </p:spPr>
      </p:sp>
      <p:sp>
        <p:nvSpPr>
          <p:cNvPr id="110" name="Shape 108"/>
          <p:cNvSpPr/>
          <p:nvPr/>
        </p:nvSpPr>
        <p:spPr>
          <a:xfrm>
            <a:off x="5590903" y="3751534"/>
            <a:ext cx="78377" cy="17100"/>
          </a:xfrm>
          <a:prstGeom prst="line">
            <a:avLst/>
          </a:prstGeom>
          <a:noFill/>
          <a:ln w="15875">
            <a:solidFill>
              <a:srgbClr val="6B7385"/>
            </a:solidFill>
            <a:prstDash val="dash"/>
          </a:ln>
        </p:spPr>
      </p:sp>
      <p:sp>
        <p:nvSpPr>
          <p:cNvPr id="111" name="Shape 109"/>
          <p:cNvSpPr/>
          <p:nvPr/>
        </p:nvSpPr>
        <p:spPr>
          <a:xfrm>
            <a:off x="2690949" y="1835749"/>
            <a:ext cx="70539" cy="139337"/>
          </a:xfrm>
          <a:prstGeom prst="line">
            <a:avLst/>
          </a:prstGeom>
          <a:noFill/>
          <a:ln w="25400">
            <a:solidFill>
              <a:srgbClr val="2E5BD8"/>
            </a:solidFill>
            <a:prstDash val="solid"/>
          </a:ln>
        </p:spPr>
      </p:sp>
      <p:sp>
        <p:nvSpPr>
          <p:cNvPr id="112" name="Shape 110"/>
          <p:cNvSpPr/>
          <p:nvPr/>
        </p:nvSpPr>
        <p:spPr>
          <a:xfrm>
            <a:off x="2761488" y="1975087"/>
            <a:ext cx="70539" cy="126670"/>
          </a:xfrm>
          <a:prstGeom prst="line">
            <a:avLst/>
          </a:prstGeom>
          <a:noFill/>
          <a:ln w="25400">
            <a:solidFill>
              <a:srgbClr val="2E5BD8"/>
            </a:solidFill>
            <a:prstDash val="solid"/>
          </a:ln>
        </p:spPr>
      </p:sp>
      <p:sp>
        <p:nvSpPr>
          <p:cNvPr id="113" name="Shape 111"/>
          <p:cNvSpPr/>
          <p:nvPr/>
        </p:nvSpPr>
        <p:spPr>
          <a:xfrm>
            <a:off x="2832027" y="2101757"/>
            <a:ext cx="70539" cy="115655"/>
          </a:xfrm>
          <a:prstGeom prst="line">
            <a:avLst/>
          </a:prstGeom>
          <a:noFill/>
          <a:ln w="25400">
            <a:solidFill>
              <a:srgbClr val="2E5BD8"/>
            </a:solidFill>
            <a:prstDash val="solid"/>
          </a:ln>
        </p:spPr>
      </p:sp>
      <p:sp>
        <p:nvSpPr>
          <p:cNvPr id="114" name="Shape 112"/>
          <p:cNvSpPr/>
          <p:nvPr/>
        </p:nvSpPr>
        <p:spPr>
          <a:xfrm>
            <a:off x="2902567" y="2217412"/>
            <a:ext cx="70539" cy="106017"/>
          </a:xfrm>
          <a:prstGeom prst="line">
            <a:avLst/>
          </a:prstGeom>
          <a:noFill/>
          <a:ln w="25400">
            <a:solidFill>
              <a:srgbClr val="2E5BD8"/>
            </a:solidFill>
            <a:prstDash val="solid"/>
          </a:ln>
        </p:spPr>
      </p:sp>
      <p:sp>
        <p:nvSpPr>
          <p:cNvPr id="115" name="Shape 113"/>
          <p:cNvSpPr/>
          <p:nvPr/>
        </p:nvSpPr>
        <p:spPr>
          <a:xfrm>
            <a:off x="2973106" y="2323429"/>
            <a:ext cx="70539" cy="97536"/>
          </a:xfrm>
          <a:prstGeom prst="line">
            <a:avLst/>
          </a:prstGeom>
          <a:noFill/>
          <a:ln w="25400">
            <a:solidFill>
              <a:srgbClr val="2E5BD8"/>
            </a:solidFill>
            <a:prstDash val="solid"/>
          </a:ln>
        </p:spPr>
      </p:sp>
      <p:sp>
        <p:nvSpPr>
          <p:cNvPr id="116" name="Shape 114"/>
          <p:cNvSpPr/>
          <p:nvPr/>
        </p:nvSpPr>
        <p:spPr>
          <a:xfrm>
            <a:off x="3043646" y="2420965"/>
            <a:ext cx="70539" cy="90033"/>
          </a:xfrm>
          <a:prstGeom prst="line">
            <a:avLst/>
          </a:prstGeom>
          <a:noFill/>
          <a:ln w="25400">
            <a:solidFill>
              <a:srgbClr val="2E5BD8"/>
            </a:solidFill>
            <a:prstDash val="solid"/>
          </a:ln>
        </p:spPr>
      </p:sp>
      <p:sp>
        <p:nvSpPr>
          <p:cNvPr id="117" name="Shape 115"/>
          <p:cNvSpPr/>
          <p:nvPr/>
        </p:nvSpPr>
        <p:spPr>
          <a:xfrm>
            <a:off x="3114185" y="2510999"/>
            <a:ext cx="70539" cy="83364"/>
          </a:xfrm>
          <a:prstGeom prst="line">
            <a:avLst/>
          </a:prstGeom>
          <a:noFill/>
          <a:ln w="25400">
            <a:solidFill>
              <a:srgbClr val="2E5BD8"/>
            </a:solidFill>
            <a:prstDash val="solid"/>
          </a:ln>
        </p:spPr>
      </p:sp>
      <p:sp>
        <p:nvSpPr>
          <p:cNvPr id="118" name="Shape 116"/>
          <p:cNvSpPr/>
          <p:nvPr/>
        </p:nvSpPr>
        <p:spPr>
          <a:xfrm>
            <a:off x="3184725" y="2594363"/>
            <a:ext cx="70539" cy="77410"/>
          </a:xfrm>
          <a:prstGeom prst="line">
            <a:avLst/>
          </a:prstGeom>
          <a:noFill/>
          <a:ln w="25400">
            <a:solidFill>
              <a:srgbClr val="2E5BD8"/>
            </a:solidFill>
            <a:prstDash val="solid"/>
          </a:ln>
        </p:spPr>
      </p:sp>
      <p:sp>
        <p:nvSpPr>
          <p:cNvPr id="119" name="Shape 117"/>
          <p:cNvSpPr/>
          <p:nvPr/>
        </p:nvSpPr>
        <p:spPr>
          <a:xfrm>
            <a:off x="3255264" y="2671772"/>
            <a:ext cx="70539" cy="72071"/>
          </a:xfrm>
          <a:prstGeom prst="line">
            <a:avLst/>
          </a:prstGeom>
          <a:noFill/>
          <a:ln w="25400">
            <a:solidFill>
              <a:srgbClr val="2E5BD8"/>
            </a:solidFill>
            <a:prstDash val="solid"/>
          </a:ln>
        </p:spPr>
      </p:sp>
      <p:sp>
        <p:nvSpPr>
          <p:cNvPr id="120" name="Shape 118"/>
          <p:cNvSpPr/>
          <p:nvPr/>
        </p:nvSpPr>
        <p:spPr>
          <a:xfrm>
            <a:off x="3325803" y="2743843"/>
            <a:ext cx="70539" cy="67266"/>
          </a:xfrm>
          <a:prstGeom prst="line">
            <a:avLst/>
          </a:prstGeom>
          <a:noFill/>
          <a:ln w="25400">
            <a:solidFill>
              <a:srgbClr val="2E5BD8"/>
            </a:solidFill>
            <a:prstDash val="solid"/>
          </a:ln>
        </p:spPr>
      </p:sp>
      <p:sp>
        <p:nvSpPr>
          <p:cNvPr id="121" name="Shape 119"/>
          <p:cNvSpPr/>
          <p:nvPr/>
        </p:nvSpPr>
        <p:spPr>
          <a:xfrm>
            <a:off x="3396343" y="2811109"/>
            <a:ext cx="70539" cy="62926"/>
          </a:xfrm>
          <a:prstGeom prst="line">
            <a:avLst/>
          </a:prstGeom>
          <a:noFill/>
          <a:ln w="25400">
            <a:solidFill>
              <a:srgbClr val="2E5BD8"/>
            </a:solidFill>
            <a:prstDash val="solid"/>
          </a:ln>
        </p:spPr>
      </p:sp>
      <p:sp>
        <p:nvSpPr>
          <p:cNvPr id="122" name="Shape 120"/>
          <p:cNvSpPr/>
          <p:nvPr/>
        </p:nvSpPr>
        <p:spPr>
          <a:xfrm>
            <a:off x="3466882" y="2874036"/>
            <a:ext cx="70539" cy="58994"/>
          </a:xfrm>
          <a:prstGeom prst="line">
            <a:avLst/>
          </a:prstGeom>
          <a:noFill/>
          <a:ln w="25400">
            <a:solidFill>
              <a:srgbClr val="2E5BD8"/>
            </a:solidFill>
            <a:prstDash val="solid"/>
          </a:ln>
        </p:spPr>
      </p:sp>
      <p:sp>
        <p:nvSpPr>
          <p:cNvPr id="123" name="Shape 121"/>
          <p:cNvSpPr/>
          <p:nvPr/>
        </p:nvSpPr>
        <p:spPr>
          <a:xfrm>
            <a:off x="3537422" y="2933029"/>
            <a:ext cx="70539" cy="55418"/>
          </a:xfrm>
          <a:prstGeom prst="line">
            <a:avLst/>
          </a:prstGeom>
          <a:noFill/>
          <a:ln w="25400">
            <a:solidFill>
              <a:srgbClr val="2E5BD8"/>
            </a:solidFill>
            <a:prstDash val="solid"/>
          </a:ln>
        </p:spPr>
      </p:sp>
      <p:sp>
        <p:nvSpPr>
          <p:cNvPr id="124" name="Shape 122"/>
          <p:cNvSpPr/>
          <p:nvPr/>
        </p:nvSpPr>
        <p:spPr>
          <a:xfrm>
            <a:off x="3607961" y="2988448"/>
            <a:ext cx="70539" cy="52158"/>
          </a:xfrm>
          <a:prstGeom prst="line">
            <a:avLst/>
          </a:prstGeom>
          <a:noFill/>
          <a:ln w="25400">
            <a:solidFill>
              <a:srgbClr val="2E5BD8"/>
            </a:solidFill>
            <a:prstDash val="solid"/>
          </a:ln>
        </p:spPr>
      </p:sp>
      <p:sp>
        <p:nvSpPr>
          <p:cNvPr id="125" name="Shape 123"/>
          <p:cNvSpPr/>
          <p:nvPr/>
        </p:nvSpPr>
        <p:spPr>
          <a:xfrm>
            <a:off x="3678501" y="3040606"/>
            <a:ext cx="70539" cy="49178"/>
          </a:xfrm>
          <a:prstGeom prst="line">
            <a:avLst/>
          </a:prstGeom>
          <a:noFill/>
          <a:ln w="25400">
            <a:solidFill>
              <a:srgbClr val="2E5BD8"/>
            </a:solidFill>
            <a:prstDash val="solid"/>
          </a:ln>
        </p:spPr>
      </p:sp>
      <p:sp>
        <p:nvSpPr>
          <p:cNvPr id="126" name="Shape 124"/>
          <p:cNvSpPr/>
          <p:nvPr/>
        </p:nvSpPr>
        <p:spPr>
          <a:xfrm>
            <a:off x="3749040" y="3089784"/>
            <a:ext cx="70539" cy="46446"/>
          </a:xfrm>
          <a:prstGeom prst="line">
            <a:avLst/>
          </a:prstGeom>
          <a:noFill/>
          <a:ln w="25400">
            <a:solidFill>
              <a:srgbClr val="2E5BD8"/>
            </a:solidFill>
            <a:prstDash val="solid"/>
          </a:ln>
        </p:spPr>
      </p:sp>
      <p:sp>
        <p:nvSpPr>
          <p:cNvPr id="127" name="Shape 125"/>
          <p:cNvSpPr/>
          <p:nvPr/>
        </p:nvSpPr>
        <p:spPr>
          <a:xfrm>
            <a:off x="3819579" y="3136229"/>
            <a:ext cx="70539" cy="43935"/>
          </a:xfrm>
          <a:prstGeom prst="line">
            <a:avLst/>
          </a:prstGeom>
          <a:noFill/>
          <a:ln w="25400">
            <a:solidFill>
              <a:srgbClr val="2E5BD8"/>
            </a:solidFill>
            <a:prstDash val="solid"/>
          </a:ln>
        </p:spPr>
      </p:sp>
      <p:sp>
        <p:nvSpPr>
          <p:cNvPr id="128" name="Shape 126"/>
          <p:cNvSpPr/>
          <p:nvPr/>
        </p:nvSpPr>
        <p:spPr>
          <a:xfrm>
            <a:off x="3890119" y="3180165"/>
            <a:ext cx="70539" cy="41623"/>
          </a:xfrm>
          <a:prstGeom prst="line">
            <a:avLst/>
          </a:prstGeom>
          <a:noFill/>
          <a:ln w="25400">
            <a:solidFill>
              <a:srgbClr val="2E5BD8"/>
            </a:solidFill>
            <a:prstDash val="solid"/>
          </a:ln>
        </p:spPr>
      </p:sp>
      <p:sp>
        <p:nvSpPr>
          <p:cNvPr id="129" name="Shape 127"/>
          <p:cNvSpPr/>
          <p:nvPr/>
        </p:nvSpPr>
        <p:spPr>
          <a:xfrm>
            <a:off x="3960658" y="3221787"/>
            <a:ext cx="70539" cy="39488"/>
          </a:xfrm>
          <a:prstGeom prst="line">
            <a:avLst/>
          </a:prstGeom>
          <a:noFill/>
          <a:ln w="25400">
            <a:solidFill>
              <a:srgbClr val="2E5BD8"/>
            </a:solidFill>
            <a:prstDash val="solid"/>
          </a:ln>
        </p:spPr>
      </p:sp>
      <p:sp>
        <p:nvSpPr>
          <p:cNvPr id="130" name="Shape 128"/>
          <p:cNvSpPr/>
          <p:nvPr/>
        </p:nvSpPr>
        <p:spPr>
          <a:xfrm>
            <a:off x="4031198" y="3261276"/>
            <a:ext cx="70539" cy="37514"/>
          </a:xfrm>
          <a:prstGeom prst="line">
            <a:avLst/>
          </a:prstGeom>
          <a:noFill/>
          <a:ln w="25400">
            <a:solidFill>
              <a:srgbClr val="2E5BD8"/>
            </a:solidFill>
            <a:prstDash val="solid"/>
          </a:ln>
        </p:spPr>
      </p:sp>
      <p:sp>
        <p:nvSpPr>
          <p:cNvPr id="131" name="Shape 129"/>
          <p:cNvSpPr/>
          <p:nvPr/>
        </p:nvSpPr>
        <p:spPr>
          <a:xfrm>
            <a:off x="4101737" y="3298789"/>
            <a:ext cx="70539" cy="35684"/>
          </a:xfrm>
          <a:prstGeom prst="line">
            <a:avLst/>
          </a:prstGeom>
          <a:noFill/>
          <a:ln w="25400">
            <a:solidFill>
              <a:srgbClr val="2E5BD8"/>
            </a:solidFill>
            <a:prstDash val="solid"/>
          </a:ln>
        </p:spPr>
      </p:sp>
      <p:sp>
        <p:nvSpPr>
          <p:cNvPr id="132" name="Shape 130"/>
          <p:cNvSpPr/>
          <p:nvPr/>
        </p:nvSpPr>
        <p:spPr>
          <a:xfrm>
            <a:off x="4172277" y="3334473"/>
            <a:ext cx="70539" cy="33985"/>
          </a:xfrm>
          <a:prstGeom prst="line">
            <a:avLst/>
          </a:prstGeom>
          <a:noFill/>
          <a:ln w="25400">
            <a:solidFill>
              <a:srgbClr val="2E5BD8"/>
            </a:solidFill>
            <a:prstDash val="solid"/>
          </a:ln>
        </p:spPr>
      </p:sp>
      <p:sp>
        <p:nvSpPr>
          <p:cNvPr id="133" name="Shape 131"/>
          <p:cNvSpPr/>
          <p:nvPr/>
        </p:nvSpPr>
        <p:spPr>
          <a:xfrm>
            <a:off x="4242816" y="3368458"/>
            <a:ext cx="70539" cy="32404"/>
          </a:xfrm>
          <a:prstGeom prst="line">
            <a:avLst/>
          </a:prstGeom>
          <a:noFill/>
          <a:ln w="25400">
            <a:solidFill>
              <a:srgbClr val="2E5BD8"/>
            </a:solidFill>
            <a:prstDash val="solid"/>
          </a:ln>
        </p:spPr>
      </p:sp>
      <p:sp>
        <p:nvSpPr>
          <p:cNvPr id="134" name="Shape 132"/>
          <p:cNvSpPr/>
          <p:nvPr/>
        </p:nvSpPr>
        <p:spPr>
          <a:xfrm>
            <a:off x="4313355" y="3400862"/>
            <a:ext cx="70539" cy="30931"/>
          </a:xfrm>
          <a:prstGeom prst="line">
            <a:avLst/>
          </a:prstGeom>
          <a:noFill/>
          <a:ln w="25400">
            <a:solidFill>
              <a:srgbClr val="2E5BD8"/>
            </a:solidFill>
            <a:prstDash val="solid"/>
          </a:ln>
        </p:spPr>
      </p:sp>
      <p:sp>
        <p:nvSpPr>
          <p:cNvPr id="135" name="Shape 133"/>
          <p:cNvSpPr/>
          <p:nvPr/>
        </p:nvSpPr>
        <p:spPr>
          <a:xfrm>
            <a:off x="4383895" y="3431793"/>
            <a:ext cx="70539" cy="29556"/>
          </a:xfrm>
          <a:prstGeom prst="line">
            <a:avLst/>
          </a:prstGeom>
          <a:noFill/>
          <a:ln w="25400">
            <a:solidFill>
              <a:srgbClr val="2E5BD8"/>
            </a:solidFill>
            <a:prstDash val="solid"/>
          </a:ln>
        </p:spPr>
      </p:sp>
      <p:sp>
        <p:nvSpPr>
          <p:cNvPr id="136" name="Shape 134"/>
          <p:cNvSpPr/>
          <p:nvPr/>
        </p:nvSpPr>
        <p:spPr>
          <a:xfrm>
            <a:off x="4454434" y="3461349"/>
            <a:ext cx="70539" cy="28271"/>
          </a:xfrm>
          <a:prstGeom prst="line">
            <a:avLst/>
          </a:prstGeom>
          <a:noFill/>
          <a:ln w="25400">
            <a:solidFill>
              <a:srgbClr val="2E5BD8"/>
            </a:solidFill>
            <a:prstDash val="solid"/>
          </a:ln>
        </p:spPr>
      </p:sp>
      <p:sp>
        <p:nvSpPr>
          <p:cNvPr id="137" name="Shape 135"/>
          <p:cNvSpPr/>
          <p:nvPr/>
        </p:nvSpPr>
        <p:spPr>
          <a:xfrm>
            <a:off x="4524974" y="3489621"/>
            <a:ext cx="70539" cy="27068"/>
          </a:xfrm>
          <a:prstGeom prst="line">
            <a:avLst/>
          </a:prstGeom>
          <a:noFill/>
          <a:ln w="25400">
            <a:solidFill>
              <a:srgbClr val="2E5BD8"/>
            </a:solidFill>
            <a:prstDash val="solid"/>
          </a:ln>
        </p:spPr>
      </p:sp>
      <p:sp>
        <p:nvSpPr>
          <p:cNvPr id="138" name="Shape 136"/>
          <p:cNvSpPr/>
          <p:nvPr/>
        </p:nvSpPr>
        <p:spPr>
          <a:xfrm>
            <a:off x="4595513" y="3516689"/>
            <a:ext cx="70539" cy="25940"/>
          </a:xfrm>
          <a:prstGeom prst="line">
            <a:avLst/>
          </a:prstGeom>
          <a:noFill/>
          <a:ln w="25400">
            <a:solidFill>
              <a:srgbClr val="2E5BD8"/>
            </a:solidFill>
            <a:prstDash val="solid"/>
          </a:ln>
        </p:spPr>
      </p:sp>
      <p:sp>
        <p:nvSpPr>
          <p:cNvPr id="139" name="Shape 137"/>
          <p:cNvSpPr/>
          <p:nvPr/>
        </p:nvSpPr>
        <p:spPr>
          <a:xfrm>
            <a:off x="4666053" y="3542629"/>
            <a:ext cx="70539" cy="24882"/>
          </a:xfrm>
          <a:prstGeom prst="line">
            <a:avLst/>
          </a:prstGeom>
          <a:noFill/>
          <a:ln w="25400">
            <a:solidFill>
              <a:srgbClr val="2E5BD8"/>
            </a:solidFill>
            <a:prstDash val="solid"/>
          </a:ln>
        </p:spPr>
      </p:sp>
      <p:sp>
        <p:nvSpPr>
          <p:cNvPr id="140" name="Shape 138"/>
          <p:cNvSpPr/>
          <p:nvPr/>
        </p:nvSpPr>
        <p:spPr>
          <a:xfrm>
            <a:off x="4736592" y="3567511"/>
            <a:ext cx="70539" cy="23886"/>
          </a:xfrm>
          <a:prstGeom prst="line">
            <a:avLst/>
          </a:prstGeom>
          <a:noFill/>
          <a:ln w="25400">
            <a:solidFill>
              <a:srgbClr val="2E5BD8"/>
            </a:solidFill>
            <a:prstDash val="solid"/>
          </a:ln>
        </p:spPr>
      </p:sp>
      <p:sp>
        <p:nvSpPr>
          <p:cNvPr id="141" name="Shape 139"/>
          <p:cNvSpPr/>
          <p:nvPr/>
        </p:nvSpPr>
        <p:spPr>
          <a:xfrm>
            <a:off x="4807131" y="3591397"/>
            <a:ext cx="70539" cy="22950"/>
          </a:xfrm>
          <a:prstGeom prst="line">
            <a:avLst/>
          </a:prstGeom>
          <a:noFill/>
          <a:ln w="25400">
            <a:solidFill>
              <a:srgbClr val="2E5BD8"/>
            </a:solidFill>
            <a:prstDash val="solid"/>
          </a:ln>
        </p:spPr>
      </p:sp>
      <p:sp>
        <p:nvSpPr>
          <p:cNvPr id="142" name="Shape 140"/>
          <p:cNvSpPr/>
          <p:nvPr/>
        </p:nvSpPr>
        <p:spPr>
          <a:xfrm>
            <a:off x="4877671" y="3614347"/>
            <a:ext cx="70539" cy="22067"/>
          </a:xfrm>
          <a:prstGeom prst="line">
            <a:avLst/>
          </a:prstGeom>
          <a:noFill/>
          <a:ln w="25400">
            <a:solidFill>
              <a:srgbClr val="2E5BD8"/>
            </a:solidFill>
            <a:prstDash val="solid"/>
          </a:ln>
        </p:spPr>
      </p:sp>
      <p:sp>
        <p:nvSpPr>
          <p:cNvPr id="143" name="Shape 141"/>
          <p:cNvSpPr/>
          <p:nvPr/>
        </p:nvSpPr>
        <p:spPr>
          <a:xfrm>
            <a:off x="4948210" y="3636414"/>
            <a:ext cx="70539" cy="21234"/>
          </a:xfrm>
          <a:prstGeom prst="line">
            <a:avLst/>
          </a:prstGeom>
          <a:noFill/>
          <a:ln w="25400">
            <a:solidFill>
              <a:srgbClr val="2E5BD8"/>
            </a:solidFill>
            <a:prstDash val="solid"/>
          </a:ln>
        </p:spPr>
      </p:sp>
      <p:sp>
        <p:nvSpPr>
          <p:cNvPr id="144" name="Shape 142"/>
          <p:cNvSpPr/>
          <p:nvPr/>
        </p:nvSpPr>
        <p:spPr>
          <a:xfrm>
            <a:off x="5018750" y="3657648"/>
            <a:ext cx="70539" cy="20448"/>
          </a:xfrm>
          <a:prstGeom prst="line">
            <a:avLst/>
          </a:prstGeom>
          <a:noFill/>
          <a:ln w="25400">
            <a:solidFill>
              <a:srgbClr val="2E5BD8"/>
            </a:solidFill>
            <a:prstDash val="solid"/>
          </a:ln>
        </p:spPr>
      </p:sp>
      <p:sp>
        <p:nvSpPr>
          <p:cNvPr id="145" name="Shape 143"/>
          <p:cNvSpPr/>
          <p:nvPr/>
        </p:nvSpPr>
        <p:spPr>
          <a:xfrm>
            <a:off x="5089289" y="3678096"/>
            <a:ext cx="70539" cy="19704"/>
          </a:xfrm>
          <a:prstGeom prst="line">
            <a:avLst/>
          </a:prstGeom>
          <a:noFill/>
          <a:ln w="25400">
            <a:solidFill>
              <a:srgbClr val="2E5BD8"/>
            </a:solidFill>
            <a:prstDash val="solid"/>
          </a:ln>
        </p:spPr>
      </p:sp>
      <p:sp>
        <p:nvSpPr>
          <p:cNvPr id="146" name="Shape 144"/>
          <p:cNvSpPr/>
          <p:nvPr/>
        </p:nvSpPr>
        <p:spPr>
          <a:xfrm>
            <a:off x="5159829" y="3697800"/>
            <a:ext cx="70539" cy="19001"/>
          </a:xfrm>
          <a:prstGeom prst="line">
            <a:avLst/>
          </a:prstGeom>
          <a:noFill/>
          <a:ln w="25400">
            <a:solidFill>
              <a:srgbClr val="2E5BD8"/>
            </a:solidFill>
            <a:prstDash val="solid"/>
          </a:ln>
        </p:spPr>
      </p:sp>
      <p:sp>
        <p:nvSpPr>
          <p:cNvPr id="147" name="Shape 145"/>
          <p:cNvSpPr/>
          <p:nvPr/>
        </p:nvSpPr>
        <p:spPr>
          <a:xfrm>
            <a:off x="5230368" y="3716801"/>
            <a:ext cx="70539" cy="18334"/>
          </a:xfrm>
          <a:prstGeom prst="line">
            <a:avLst/>
          </a:prstGeom>
          <a:noFill/>
          <a:ln w="25400">
            <a:solidFill>
              <a:srgbClr val="2E5BD8"/>
            </a:solidFill>
            <a:prstDash val="solid"/>
          </a:ln>
        </p:spPr>
      </p:sp>
      <p:sp>
        <p:nvSpPr>
          <p:cNvPr id="148" name="Shape 146"/>
          <p:cNvSpPr/>
          <p:nvPr/>
        </p:nvSpPr>
        <p:spPr>
          <a:xfrm>
            <a:off x="5300907" y="3735135"/>
            <a:ext cx="70539" cy="17702"/>
          </a:xfrm>
          <a:prstGeom prst="line">
            <a:avLst/>
          </a:prstGeom>
          <a:noFill/>
          <a:ln w="25400">
            <a:solidFill>
              <a:srgbClr val="2E5BD8"/>
            </a:solidFill>
            <a:prstDash val="solid"/>
          </a:ln>
        </p:spPr>
      </p:sp>
      <p:sp>
        <p:nvSpPr>
          <p:cNvPr id="149" name="Shape 147"/>
          <p:cNvSpPr/>
          <p:nvPr/>
        </p:nvSpPr>
        <p:spPr>
          <a:xfrm>
            <a:off x="5371447" y="3752836"/>
            <a:ext cx="70539" cy="17102"/>
          </a:xfrm>
          <a:prstGeom prst="line">
            <a:avLst/>
          </a:prstGeom>
          <a:noFill/>
          <a:ln w="25400">
            <a:solidFill>
              <a:srgbClr val="2E5BD8"/>
            </a:solidFill>
            <a:prstDash val="solid"/>
          </a:ln>
        </p:spPr>
      </p:sp>
      <p:sp>
        <p:nvSpPr>
          <p:cNvPr id="150" name="Shape 148"/>
          <p:cNvSpPr/>
          <p:nvPr/>
        </p:nvSpPr>
        <p:spPr>
          <a:xfrm>
            <a:off x="5441986" y="3769938"/>
            <a:ext cx="70539" cy="16532"/>
          </a:xfrm>
          <a:prstGeom prst="line">
            <a:avLst/>
          </a:prstGeom>
          <a:noFill/>
          <a:ln w="25400">
            <a:solidFill>
              <a:srgbClr val="2E5BD8"/>
            </a:solidFill>
            <a:prstDash val="solid"/>
          </a:ln>
        </p:spPr>
      </p:sp>
      <p:sp>
        <p:nvSpPr>
          <p:cNvPr id="151" name="Shape 149"/>
          <p:cNvSpPr/>
          <p:nvPr/>
        </p:nvSpPr>
        <p:spPr>
          <a:xfrm>
            <a:off x="2801983" y="2082637"/>
            <a:ext cx="91440" cy="91440"/>
          </a:xfrm>
          <a:prstGeom prst="line">
            <a:avLst/>
          </a:prstGeom>
          <a:noFill/>
          <a:ln w="15875">
            <a:solidFill>
              <a:srgbClr val="C8414C"/>
            </a:solidFill>
            <a:prstDash val="solid"/>
          </a:ln>
        </p:spPr>
      </p:sp>
      <p:sp>
        <p:nvSpPr>
          <p:cNvPr id="152" name="Shape 150"/>
          <p:cNvSpPr/>
          <p:nvPr/>
        </p:nvSpPr>
        <p:spPr>
          <a:xfrm flipV="1">
            <a:off x="2801983" y="2082637"/>
            <a:ext cx="91440" cy="91440"/>
          </a:xfrm>
          <a:prstGeom prst="line">
            <a:avLst/>
          </a:prstGeom>
          <a:noFill/>
          <a:ln w="15875">
            <a:solidFill>
              <a:srgbClr val="C8414C"/>
            </a:solidFill>
            <a:prstDash val="solid"/>
          </a:ln>
        </p:spPr>
      </p:sp>
      <p:sp>
        <p:nvSpPr>
          <p:cNvPr id="153" name="Shape 151"/>
          <p:cNvSpPr/>
          <p:nvPr/>
        </p:nvSpPr>
        <p:spPr>
          <a:xfrm>
            <a:off x="3429000" y="2833177"/>
            <a:ext cx="91440" cy="91440"/>
          </a:xfrm>
          <a:prstGeom prst="line">
            <a:avLst/>
          </a:prstGeom>
          <a:noFill/>
          <a:ln w="15875">
            <a:solidFill>
              <a:srgbClr val="C8414C"/>
            </a:solidFill>
            <a:prstDash val="solid"/>
          </a:ln>
        </p:spPr>
      </p:sp>
      <p:sp>
        <p:nvSpPr>
          <p:cNvPr id="154" name="Shape 152"/>
          <p:cNvSpPr/>
          <p:nvPr/>
        </p:nvSpPr>
        <p:spPr>
          <a:xfrm flipV="1">
            <a:off x="3429000" y="2833177"/>
            <a:ext cx="91440" cy="91440"/>
          </a:xfrm>
          <a:prstGeom prst="line">
            <a:avLst/>
          </a:prstGeom>
          <a:noFill/>
          <a:ln w="15875">
            <a:solidFill>
              <a:srgbClr val="C8414C"/>
            </a:solidFill>
            <a:prstDash val="solid"/>
          </a:ln>
        </p:spPr>
      </p:sp>
      <p:sp>
        <p:nvSpPr>
          <p:cNvPr id="155" name="Shape 153"/>
          <p:cNvSpPr/>
          <p:nvPr/>
        </p:nvSpPr>
        <p:spPr>
          <a:xfrm>
            <a:off x="4056017" y="3254532"/>
            <a:ext cx="91440" cy="91440"/>
          </a:xfrm>
          <a:prstGeom prst="line">
            <a:avLst/>
          </a:prstGeom>
          <a:noFill/>
          <a:ln w="15875">
            <a:solidFill>
              <a:srgbClr val="C8414C"/>
            </a:solidFill>
            <a:prstDash val="solid"/>
          </a:ln>
        </p:spPr>
      </p:sp>
      <p:sp>
        <p:nvSpPr>
          <p:cNvPr id="156" name="Shape 154"/>
          <p:cNvSpPr/>
          <p:nvPr/>
        </p:nvSpPr>
        <p:spPr>
          <a:xfrm flipV="1">
            <a:off x="4056017" y="3254532"/>
            <a:ext cx="91440" cy="91440"/>
          </a:xfrm>
          <a:prstGeom prst="line">
            <a:avLst/>
          </a:prstGeom>
          <a:noFill/>
          <a:ln w="15875">
            <a:solidFill>
              <a:srgbClr val="C8414C"/>
            </a:solidFill>
            <a:prstDash val="solid"/>
          </a:ln>
        </p:spPr>
      </p:sp>
      <p:sp>
        <p:nvSpPr>
          <p:cNvPr id="157" name="Shape 155"/>
          <p:cNvSpPr/>
          <p:nvPr/>
        </p:nvSpPr>
        <p:spPr>
          <a:xfrm>
            <a:off x="4683034" y="3517880"/>
            <a:ext cx="91440" cy="91440"/>
          </a:xfrm>
          <a:prstGeom prst="line">
            <a:avLst/>
          </a:prstGeom>
          <a:noFill/>
          <a:ln w="15875">
            <a:solidFill>
              <a:srgbClr val="C8414C"/>
            </a:solidFill>
            <a:prstDash val="solid"/>
          </a:ln>
        </p:spPr>
      </p:sp>
      <p:sp>
        <p:nvSpPr>
          <p:cNvPr id="158" name="Shape 156"/>
          <p:cNvSpPr/>
          <p:nvPr/>
        </p:nvSpPr>
        <p:spPr>
          <a:xfrm flipV="1">
            <a:off x="4683034" y="3517880"/>
            <a:ext cx="91440" cy="91440"/>
          </a:xfrm>
          <a:prstGeom prst="line">
            <a:avLst/>
          </a:prstGeom>
          <a:noFill/>
          <a:ln w="15875">
            <a:solidFill>
              <a:srgbClr val="C8414C"/>
            </a:solidFill>
            <a:prstDash val="solid"/>
          </a:ln>
        </p:spPr>
      </p:sp>
      <p:sp>
        <p:nvSpPr>
          <p:cNvPr id="159" name="Shape 157"/>
          <p:cNvSpPr/>
          <p:nvPr/>
        </p:nvSpPr>
        <p:spPr>
          <a:xfrm>
            <a:off x="5310051" y="3702223"/>
            <a:ext cx="91440" cy="91440"/>
          </a:xfrm>
          <a:prstGeom prst="line">
            <a:avLst/>
          </a:prstGeom>
          <a:noFill/>
          <a:ln w="15875">
            <a:solidFill>
              <a:srgbClr val="C8414C"/>
            </a:solidFill>
            <a:prstDash val="solid"/>
          </a:ln>
        </p:spPr>
      </p:sp>
      <p:sp>
        <p:nvSpPr>
          <p:cNvPr id="160" name="Shape 158"/>
          <p:cNvSpPr/>
          <p:nvPr/>
        </p:nvSpPr>
        <p:spPr>
          <a:xfrm flipV="1">
            <a:off x="5310051" y="3702223"/>
            <a:ext cx="91440" cy="91440"/>
          </a:xfrm>
          <a:prstGeom prst="line">
            <a:avLst/>
          </a:prstGeom>
          <a:noFill/>
          <a:ln w="15875">
            <a:solidFill>
              <a:srgbClr val="C8414C"/>
            </a:solidFill>
            <a:prstDash val="solid"/>
          </a:ln>
        </p:spPr>
      </p:sp>
      <p:sp>
        <p:nvSpPr>
          <p:cNvPr id="161" name="Text 159"/>
          <p:cNvSpPr/>
          <p:nvPr/>
        </p:nvSpPr>
        <p:spPr>
          <a:xfrm>
            <a:off x="3788229" y="2602382"/>
            <a:ext cx="182880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curve of best fit</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234440"/>
                <a:gridCol w="1371600"/>
                <a:gridCol w="1463040"/>
                <a:gridCol w="1490472"/>
              </a:tblGrid>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 / kg</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 / m/s²</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 ÷ m / m/s²</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 × a / N</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1.96</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0.98</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0.70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1.39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1.43</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0.97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0.90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1.07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1.11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1.10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0.87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0.909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1.30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0.73</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0.769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0.95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163" name="Shape 160"/>
          <p:cNvSpPr/>
          <p:nvPr/>
        </p:nvSpPr>
        <p:spPr>
          <a:xfrm>
            <a:off x="6217920" y="3337560"/>
            <a:ext cx="5559552" cy="2377440"/>
          </a:xfrm>
          <a:prstGeom prst="roundRect">
            <a:avLst>
              <a:gd name="adj" fmla="val 2308"/>
            </a:avLst>
          </a:prstGeom>
          <a:solidFill>
            <a:srgbClr val="F5F8FE"/>
          </a:solidFill>
          <a:ln w="9525">
            <a:solidFill>
              <a:srgbClr val="D5DCEB"/>
            </a:solidFill>
            <a:prstDash val="solid"/>
          </a:ln>
        </p:spPr>
      </p:sp>
      <p:sp>
        <p:nvSpPr>
          <p:cNvPr id="164" name="Text 161"/>
          <p:cNvSpPr/>
          <p:nvPr/>
        </p:nvSpPr>
        <p:spPr>
          <a:xfrm>
            <a:off x="6382512" y="342900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165" name="Text 162"/>
          <p:cNvSpPr/>
          <p:nvPr/>
        </p:nvSpPr>
        <p:spPr>
          <a:xfrm>
            <a:off x="6382512" y="3758184"/>
            <a:ext cx="5230368" cy="18836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As the mass increases, the acceleration </a:t>
            </a:r>
            <a:r>
              <a:rPr lang="en-US" sz="1100" b="1" dirty="0">
                <a:solidFill>
                  <a:srgbClr val="262B3A"/>
                </a:solidFill>
                <a:latin typeface="Calibri" pitchFamily="34" charset="0"/>
                <a:ea typeface="Calibri" pitchFamily="34" charset="-122"/>
                <a:cs typeface="Calibri" pitchFamily="34" charset="-120"/>
              </a:rPr>
              <a:t>decreases</a:t>
            </a:r>
            <a:r>
              <a:rPr lang="en-US" sz="1100" dirty="0">
                <a:solidFill>
                  <a:srgbClr val="262B3A"/>
                </a:solidFill>
                <a:latin typeface="Calibri" pitchFamily="34" charset="0"/>
                <a:ea typeface="Calibri" pitchFamily="34" charset="-122"/>
                <a:cs typeface="Calibri" pitchFamily="34" charset="-120"/>
              </a:rPr>
              <a:t>; the graph is a curve.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 × a is almost constant (</a:t>
            </a:r>
            <a:r>
              <a:rPr lang="en-US" sz="1100" b="1" dirty="0">
                <a:solidFill>
                  <a:srgbClr val="262B3A"/>
                </a:solidFill>
                <a:latin typeface="Calibri" pitchFamily="34" charset="0"/>
                <a:ea typeface="Calibri" pitchFamily="34" charset="-122"/>
                <a:cs typeface="Calibri" pitchFamily="34" charset="-120"/>
              </a:rPr>
              <a:t>0.95–0.98 N</a:t>
            </a:r>
            <a:r>
              <a:rPr lang="en-US" sz="1100" dirty="0">
                <a:solidFill>
                  <a:srgbClr val="262B3A"/>
                </a:solidFill>
                <a:latin typeface="Calibri" pitchFamily="34" charset="0"/>
                <a:ea typeface="Calibri" pitchFamily="34" charset="-122"/>
                <a:cs typeface="Calibri" pitchFamily="34" charset="-120"/>
              </a:rPr>
              <a:t>), close to the 1.0 N force: </a:t>
            </a:r>
            <a:r>
              <a:rPr lang="en-US" sz="1100" b="1" dirty="0">
                <a:solidFill>
                  <a:srgbClr val="262B3A"/>
                </a:solidFill>
                <a:latin typeface="Calibri" pitchFamily="34" charset="0"/>
                <a:ea typeface="Calibri" pitchFamily="34" charset="-122"/>
                <a:cs typeface="Calibri" pitchFamily="34" charset="-120"/>
              </a:rPr>
              <a:t>a ∝ 1/m</a:t>
            </a:r>
            <a:r>
              <a:rPr lang="en-US" sz="1100" dirty="0">
                <a:solidFill>
                  <a:srgbClr val="262B3A"/>
                </a:solidFill>
                <a:latin typeface="Calibri" pitchFamily="34" charset="0"/>
                <a:ea typeface="Calibri" pitchFamily="34" charset="-122"/>
                <a:cs typeface="Calibri" pitchFamily="34" charset="-120"/>
              </a:rPr>
              <a:t>, as F = m × a predicts.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result is slightly </a:t>
            </a:r>
            <a:r>
              <a:rPr lang="en-US" sz="1100" b="1" dirty="0">
                <a:solidFill>
                  <a:srgbClr val="262B3A"/>
                </a:solidFill>
                <a:latin typeface="Calibri" pitchFamily="34" charset="0"/>
                <a:ea typeface="Calibri" pitchFamily="34" charset="-122"/>
                <a:cs typeface="Calibri" pitchFamily="34" charset="-120"/>
              </a:rPr>
              <a:t>below</a:t>
            </a:r>
            <a:r>
              <a:rPr lang="en-US" sz="1100" dirty="0">
                <a:solidFill>
                  <a:srgbClr val="262B3A"/>
                </a:solidFill>
                <a:latin typeface="Calibri" pitchFamily="34" charset="0"/>
                <a:ea typeface="Calibri" pitchFamily="34" charset="-122"/>
                <a:cs typeface="Calibri" pitchFamily="34" charset="-120"/>
              </a:rPr>
              <a:t> theory: friction is not fully compensated.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Total</a:t>
            </a:r>
            <a:r>
              <a:rPr lang="en-US" sz="1100" dirty="0">
                <a:solidFill>
                  <a:srgbClr val="262B3A"/>
                </a:solidFill>
                <a:latin typeface="Calibri" pitchFamily="34" charset="0"/>
                <a:ea typeface="Calibri" pitchFamily="34" charset="-122"/>
                <a:cs typeface="Calibri" pitchFamily="34" charset="-120"/>
              </a:rPr>
              <a:t> mass = trolley + added masses + hanging mass (all are accelerated).</a:t>
            </a:r>
            <a:endParaRPr lang="en-US" sz="1100" dirty="0"/>
          </a:p>
        </p:txBody>
      </p:sp>
      <p:sp>
        <p:nvSpPr>
          <p:cNvPr id="166" name="Shape 163"/>
          <p:cNvSpPr/>
          <p:nvPr/>
        </p:nvSpPr>
        <p:spPr>
          <a:xfrm>
            <a:off x="411480" y="5833872"/>
            <a:ext cx="11368735" cy="530352"/>
          </a:xfrm>
          <a:prstGeom prst="rect">
            <a:avLst/>
          </a:prstGeom>
          <a:solidFill>
            <a:srgbClr val="FFF4E0"/>
          </a:solidFill>
          <a:ln w="6350">
            <a:solidFill>
              <a:srgbClr val="F1D9A8"/>
            </a:solidFill>
            <a:prstDash val="solid"/>
          </a:ln>
        </p:spPr>
      </p:sp>
      <p:sp>
        <p:nvSpPr>
          <p:cNvPr id="167" name="Shape 164"/>
          <p:cNvSpPr/>
          <p:nvPr/>
        </p:nvSpPr>
        <p:spPr>
          <a:xfrm>
            <a:off x="411480" y="5833872"/>
            <a:ext cx="82296" cy="530352"/>
          </a:xfrm>
          <a:prstGeom prst="rect">
            <a:avLst/>
          </a:prstGeom>
          <a:solidFill>
            <a:srgbClr val="E39A2F"/>
          </a:solidFill>
          <a:ln w="12700">
            <a:solidFill>
              <a:srgbClr val="E39A2F"/>
            </a:solidFill>
            <a:prstDash val="solid"/>
          </a:ln>
        </p:spPr>
      </p:sp>
      <p:sp>
        <p:nvSpPr>
          <p:cNvPr id="168" name="Text 1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row m = 0.90 kg to calculate m × a. Stretch: what graph would give a straight line through the origin?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errors and improvements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2.19 • evaluating the method</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2.19  |  28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why light gates beat a stopwatch, and where friction acts</a:t>
            </a:r>
            <a:endParaRPr lang="en-US" sz="1000" dirty="0"/>
          </a:p>
        </p:txBody>
      </p:sp>
      <p:sp>
        <p:nvSpPr>
          <p:cNvPr id="12" name="Text 10"/>
          <p:cNvSpPr/>
          <p:nvPr/>
        </p:nvSpPr>
        <p:spPr>
          <a:xfrm>
            <a:off x="685800" y="1325880"/>
            <a:ext cx="502920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Typical timing uncertainty (to scale)</a:t>
            </a:r>
            <a:endParaRPr lang="en-US" sz="1150" dirty="0"/>
          </a:p>
        </p:txBody>
      </p:sp>
      <p:sp>
        <p:nvSpPr>
          <p:cNvPr id="13" name="Text 11"/>
          <p:cNvSpPr/>
          <p:nvPr/>
        </p:nvSpPr>
        <p:spPr>
          <a:xfrm>
            <a:off x="685800" y="1691640"/>
            <a:ext cx="20116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stopwatch (reaction time)</a:t>
            </a:r>
            <a:endParaRPr lang="en-US" sz="1050" dirty="0"/>
          </a:p>
        </p:txBody>
      </p:sp>
      <p:sp>
        <p:nvSpPr>
          <p:cNvPr id="14" name="Shape 12"/>
          <p:cNvSpPr/>
          <p:nvPr/>
        </p:nvSpPr>
        <p:spPr>
          <a:xfrm>
            <a:off x="2788920" y="1728216"/>
            <a:ext cx="2743200" cy="219456"/>
          </a:xfrm>
          <a:prstGeom prst="rect">
            <a:avLst/>
          </a:prstGeom>
          <a:solidFill>
            <a:srgbClr val="C8414C"/>
          </a:solidFill>
          <a:ln/>
        </p:spPr>
      </p:sp>
      <p:sp>
        <p:nvSpPr>
          <p:cNvPr id="15" name="Text 13"/>
          <p:cNvSpPr/>
          <p:nvPr/>
        </p:nvSpPr>
        <p:spPr>
          <a:xfrm>
            <a:off x="5577840" y="1691640"/>
            <a:ext cx="10972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0.2 s</a:t>
            </a:r>
            <a:endParaRPr lang="en-US" sz="1050" dirty="0"/>
          </a:p>
        </p:txBody>
      </p:sp>
      <p:sp>
        <p:nvSpPr>
          <p:cNvPr id="16" name="Text 14"/>
          <p:cNvSpPr/>
          <p:nvPr/>
        </p:nvSpPr>
        <p:spPr>
          <a:xfrm>
            <a:off x="685800" y="2194560"/>
            <a:ext cx="201168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light gate + data logger</a:t>
            </a:r>
            <a:endParaRPr lang="en-US" sz="1050" dirty="0"/>
          </a:p>
        </p:txBody>
      </p:sp>
      <p:sp>
        <p:nvSpPr>
          <p:cNvPr id="17" name="Shape 15"/>
          <p:cNvSpPr/>
          <p:nvPr/>
        </p:nvSpPr>
        <p:spPr>
          <a:xfrm>
            <a:off x="2788920" y="2231136"/>
            <a:ext cx="27432" cy="219456"/>
          </a:xfrm>
          <a:prstGeom prst="rect">
            <a:avLst/>
          </a:prstGeom>
          <a:solidFill>
            <a:srgbClr val="2E8B57"/>
          </a:solidFill>
          <a:ln/>
        </p:spPr>
      </p:sp>
      <p:sp>
        <p:nvSpPr>
          <p:cNvPr id="18" name="Text 16"/>
          <p:cNvSpPr/>
          <p:nvPr/>
        </p:nvSpPr>
        <p:spPr>
          <a:xfrm>
            <a:off x="2862072" y="2194560"/>
            <a:ext cx="109728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 0.001 s</a:t>
            </a:r>
            <a:endParaRPr lang="en-US" sz="1050" dirty="0"/>
          </a:p>
        </p:txBody>
      </p:sp>
      <p:sp>
        <p:nvSpPr>
          <p:cNvPr id="19" name="Shape 17"/>
          <p:cNvSpPr/>
          <p:nvPr/>
        </p:nvSpPr>
        <p:spPr>
          <a:xfrm>
            <a:off x="685800" y="4160520"/>
            <a:ext cx="5029200" cy="91440"/>
          </a:xfrm>
          <a:prstGeom prst="rect">
            <a:avLst/>
          </a:prstGeom>
          <a:solidFill>
            <a:srgbClr val="8A6A3A"/>
          </a:solidFill>
          <a:ln/>
        </p:spPr>
      </p:sp>
      <p:sp>
        <p:nvSpPr>
          <p:cNvPr id="20" name="Shape 18"/>
          <p:cNvSpPr/>
          <p:nvPr/>
        </p:nvSpPr>
        <p:spPr>
          <a:xfrm>
            <a:off x="2194560" y="3657600"/>
            <a:ext cx="1188720" cy="365760"/>
          </a:xfrm>
          <a:prstGeom prst="roundRect">
            <a:avLst>
              <a:gd name="adj" fmla="val 10000"/>
            </a:avLst>
          </a:prstGeom>
          <a:solidFill>
            <a:srgbClr val="2E5BD8"/>
          </a:solidFill>
          <a:ln w="12700">
            <a:solidFill>
              <a:srgbClr val="2B3F7A"/>
            </a:solidFill>
            <a:prstDash val="solid"/>
          </a:ln>
        </p:spPr>
      </p:sp>
      <p:sp>
        <p:nvSpPr>
          <p:cNvPr id="21" name="Shape 19"/>
          <p:cNvSpPr/>
          <p:nvPr/>
        </p:nvSpPr>
        <p:spPr>
          <a:xfrm>
            <a:off x="2295144" y="3995928"/>
            <a:ext cx="164592" cy="164592"/>
          </a:xfrm>
          <a:prstGeom prst="ellipse">
            <a:avLst/>
          </a:prstGeom>
          <a:solidFill>
            <a:srgbClr val="3B4252"/>
          </a:solidFill>
          <a:ln w="9525">
            <a:solidFill>
              <a:srgbClr val="1F2430"/>
            </a:solidFill>
            <a:prstDash val="solid"/>
          </a:ln>
        </p:spPr>
      </p:sp>
      <p:sp>
        <p:nvSpPr>
          <p:cNvPr id="22" name="Shape 20"/>
          <p:cNvSpPr/>
          <p:nvPr/>
        </p:nvSpPr>
        <p:spPr>
          <a:xfrm>
            <a:off x="3118104" y="3995928"/>
            <a:ext cx="164592" cy="164592"/>
          </a:xfrm>
          <a:prstGeom prst="ellipse">
            <a:avLst/>
          </a:prstGeom>
          <a:solidFill>
            <a:srgbClr val="3B4252"/>
          </a:solidFill>
          <a:ln w="9525">
            <a:solidFill>
              <a:srgbClr val="1F2430"/>
            </a:solidFill>
            <a:prstDash val="solid"/>
          </a:ln>
        </p:spPr>
      </p:sp>
      <p:sp>
        <p:nvSpPr>
          <p:cNvPr id="23" name="Text 21"/>
          <p:cNvSpPr/>
          <p:nvPr/>
        </p:nvSpPr>
        <p:spPr>
          <a:xfrm>
            <a:off x="2194560" y="3657600"/>
            <a:ext cx="11887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trolley</a:t>
            </a:r>
            <a:endParaRPr lang="en-US" sz="1050" dirty="0"/>
          </a:p>
        </p:txBody>
      </p:sp>
      <p:sp>
        <p:nvSpPr>
          <p:cNvPr id="24" name="Shape 22"/>
          <p:cNvSpPr/>
          <p:nvPr/>
        </p:nvSpPr>
        <p:spPr>
          <a:xfrm>
            <a:off x="3383280" y="3840480"/>
            <a:ext cx="1188720" cy="91"/>
          </a:xfrm>
          <a:prstGeom prst="line">
            <a:avLst/>
          </a:prstGeom>
          <a:noFill/>
          <a:ln w="38100">
            <a:solidFill>
              <a:srgbClr val="2E8B57"/>
            </a:solidFill>
            <a:prstDash val="solid"/>
            <a:tailEnd type="triangle"/>
          </a:ln>
        </p:spPr>
      </p:sp>
      <p:sp>
        <p:nvSpPr>
          <p:cNvPr id="25" name="Text 23"/>
          <p:cNvSpPr/>
          <p:nvPr/>
        </p:nvSpPr>
        <p:spPr>
          <a:xfrm>
            <a:off x="4617720" y="3703320"/>
            <a:ext cx="1280160" cy="274320"/>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pull of string</a:t>
            </a:r>
            <a:endParaRPr lang="en-US" sz="1100" dirty="0"/>
          </a:p>
        </p:txBody>
      </p:sp>
      <p:sp>
        <p:nvSpPr>
          <p:cNvPr id="26" name="Shape 24"/>
          <p:cNvSpPr/>
          <p:nvPr/>
        </p:nvSpPr>
        <p:spPr>
          <a:xfrm flipH="1">
            <a:off x="1737360" y="3840480"/>
            <a:ext cx="457200" cy="91"/>
          </a:xfrm>
          <a:prstGeom prst="line">
            <a:avLst/>
          </a:prstGeom>
          <a:noFill/>
          <a:ln w="38100">
            <a:solidFill>
              <a:srgbClr val="C8414C"/>
            </a:solidFill>
            <a:prstDash val="solid"/>
            <a:tailEnd type="triangle"/>
          </a:ln>
        </p:spPr>
      </p:sp>
      <p:sp>
        <p:nvSpPr>
          <p:cNvPr id="27" name="Text 25"/>
          <p:cNvSpPr/>
          <p:nvPr/>
        </p:nvSpPr>
        <p:spPr>
          <a:xfrm>
            <a:off x="868680" y="3703320"/>
            <a:ext cx="82296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friction</a:t>
            </a:r>
            <a:endParaRPr lang="en-US" sz="1100" dirty="0"/>
          </a:p>
        </p:txBody>
      </p:sp>
      <p:sp>
        <p:nvSpPr>
          <p:cNvPr id="28" name="Text 26"/>
          <p:cNvSpPr/>
          <p:nvPr/>
        </p:nvSpPr>
        <p:spPr>
          <a:xfrm>
            <a:off x="685800" y="4434840"/>
            <a:ext cx="5029200" cy="54864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If friction is not compensated, the resultant force is less than the weight of the hanging mass → a is smaller than F ÷ m.</a:t>
            </a:r>
            <a:endParaRPr lang="en-US" sz="1050" dirty="0"/>
          </a:p>
        </p:txBody>
      </p:sp>
      <p:sp>
        <p:nvSpPr>
          <p:cNvPr id="29" name="Shape 2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0" name="Text 2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Sources of error</a:t>
            </a:r>
            <a:endParaRPr lang="en-US" sz="1300" dirty="0"/>
          </a:p>
        </p:txBody>
      </p:sp>
      <p:sp>
        <p:nvSpPr>
          <p:cNvPr id="31" name="Text 2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Friction</a:t>
            </a:r>
            <a:r>
              <a:rPr lang="en-US" sz="1150" dirty="0">
                <a:solidFill>
                  <a:srgbClr val="262B3A"/>
                </a:solidFill>
                <a:latin typeface="Calibri" pitchFamily="34" charset="0"/>
                <a:ea typeface="Calibri" pitchFamily="34" charset="-122"/>
                <a:cs typeface="Calibri" pitchFamily="34" charset="-120"/>
              </a:rPr>
              <a:t> not fully compensated → systematic error: all accelerations too low.</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Forgetting the hanging mass</a:t>
            </a:r>
            <a:r>
              <a:rPr lang="en-US" sz="1150" dirty="0">
                <a:solidFill>
                  <a:srgbClr val="262B3A"/>
                </a:solidFill>
                <a:latin typeface="Calibri" pitchFamily="34" charset="0"/>
                <a:ea typeface="Calibri" pitchFamily="34" charset="-122"/>
                <a:cs typeface="Calibri" pitchFamily="34" charset="-120"/>
              </a:rPr>
              <a:t> in the total mass → F ÷ m is calculated wrongly.</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Stopwatch timing</a:t>
            </a:r>
            <a:r>
              <a:rPr lang="en-US" sz="1150" dirty="0">
                <a:solidFill>
                  <a:srgbClr val="262B3A"/>
                </a:solidFill>
                <a:latin typeface="Calibri" pitchFamily="34" charset="0"/>
                <a:ea typeface="Calibri" pitchFamily="34" charset="-122"/>
                <a:cs typeface="Calibri" pitchFamily="34" charset="-120"/>
              </a:rPr>
              <a:t> → random error from reaction time (about 0.2 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Card </a:t>
            </a:r>
            <a:r>
              <a:rPr lang="en-US" sz="1150" b="1" dirty="0">
                <a:solidFill>
                  <a:srgbClr val="262B3A"/>
                </a:solidFill>
                <a:latin typeface="Calibri" pitchFamily="34" charset="0"/>
                <a:ea typeface="Calibri" pitchFamily="34" charset="-122"/>
                <a:cs typeface="Calibri" pitchFamily="34" charset="-120"/>
              </a:rPr>
              <a:t>not vertical</a:t>
            </a:r>
            <a:r>
              <a:rPr lang="en-US" sz="1150" dirty="0">
                <a:solidFill>
                  <a:srgbClr val="262B3A"/>
                </a:solidFill>
                <a:latin typeface="Calibri" pitchFamily="34" charset="0"/>
                <a:ea typeface="Calibri" pitchFamily="34" charset="-122"/>
                <a:cs typeface="Calibri" pitchFamily="34" charset="-120"/>
              </a:rPr>
              <a:t> or a different length → wrong speeds.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Trolley </a:t>
            </a:r>
            <a:r>
              <a:rPr lang="en-US" sz="1150" b="1" dirty="0">
                <a:solidFill>
                  <a:srgbClr val="262B3A"/>
                </a:solidFill>
                <a:latin typeface="Calibri" pitchFamily="34" charset="0"/>
                <a:ea typeface="Calibri" pitchFamily="34" charset="-122"/>
                <a:cs typeface="Calibri" pitchFamily="34" charset="-120"/>
              </a:rPr>
              <a:t>released with a push</a:t>
            </a:r>
            <a:r>
              <a:rPr lang="en-US" sz="1150" dirty="0">
                <a:solidFill>
                  <a:srgbClr val="262B3A"/>
                </a:solidFill>
                <a:latin typeface="Calibri" pitchFamily="34" charset="0"/>
                <a:ea typeface="Calibri" pitchFamily="34" charset="-122"/>
                <a:cs typeface="Calibri" pitchFamily="34" charset="-120"/>
              </a:rPr>
              <a:t> or from different positions → speeds vary.</a:t>
            </a:r>
            <a:endParaRPr lang="en-US" sz="1150" dirty="0"/>
          </a:p>
        </p:txBody>
      </p:sp>
      <p:sp>
        <p:nvSpPr>
          <p:cNvPr id="32" name="Shape 3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3" name="Text 3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Improving the investigation</a:t>
            </a:r>
            <a:endParaRPr lang="en-US" sz="1300" dirty="0"/>
          </a:p>
        </p:txBody>
      </p:sp>
      <p:sp>
        <p:nvSpPr>
          <p:cNvPr id="34" name="Text 32"/>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Timing   </a:t>
            </a:r>
            <a:r>
              <a:rPr lang="en-US" sz="1050" dirty="0">
                <a:solidFill>
                  <a:srgbClr val="262B3A"/>
                </a:solidFill>
                <a:latin typeface="Calibri" pitchFamily="34" charset="0"/>
                <a:ea typeface="Calibri" pitchFamily="34" charset="-122"/>
                <a:cs typeface="Calibri" pitchFamily="34" charset="-120"/>
              </a:rPr>
              <a:t>use light gates and a data logger, not a stopwatch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Repeats   </a:t>
            </a:r>
            <a:r>
              <a:rPr lang="en-US" sz="1050" dirty="0">
                <a:solidFill>
                  <a:srgbClr val="262B3A"/>
                </a:solidFill>
                <a:latin typeface="Calibri" pitchFamily="34" charset="0"/>
                <a:ea typeface="Calibri" pitchFamily="34" charset="-122"/>
                <a:cs typeface="Calibri" pitchFamily="34" charset="-120"/>
              </a:rPr>
              <a:t>take 3 runs for each mass and calculate a mean; discard anomalies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Range   </a:t>
            </a:r>
            <a:r>
              <a:rPr lang="en-US" sz="1050" dirty="0">
                <a:solidFill>
                  <a:srgbClr val="262B3A"/>
                </a:solidFill>
                <a:latin typeface="Calibri" pitchFamily="34" charset="0"/>
                <a:ea typeface="Calibri" pitchFamily="34" charset="-122"/>
                <a:cs typeface="Calibri" pitchFamily="34" charset="-120"/>
              </a:rPr>
              <a:t>use at least 5 masses over a wide range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more accurate and more repeatable values of a</a:t>
            </a:r>
            <a:endParaRPr lang="en-US" sz="105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student’s accelerations are all about 5% lower than F ÷ m. Is this a random or a systematic error? Suggest a cause.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2.19 • Core Practical: force, mass and acceleration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29</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runway is tilted slightly before the investigation starts.</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0.10 m</a:t>
            </a:r>
            <a:r>
              <a:rPr lang="en-US" sz="1250" dirty="0">
                <a:solidFill>
                  <a:srgbClr val="262B3A"/>
                </a:solidFill>
                <a:latin typeface="Calibri" pitchFamily="34" charset="0"/>
                <a:ea typeface="Calibri" pitchFamily="34" charset="-122"/>
                <a:cs typeface="Calibri" pitchFamily="34" charset="-120"/>
              </a:rPr>
              <a:t> card passes through a light gate in </a:t>
            </a:r>
            <a:r>
              <a:rPr lang="en-US" sz="1250" b="1" dirty="0">
                <a:solidFill>
                  <a:srgbClr val="262B3A"/>
                </a:solidFill>
                <a:latin typeface="Calibri" pitchFamily="34" charset="0"/>
                <a:ea typeface="Calibri" pitchFamily="34" charset="-122"/>
                <a:cs typeface="Calibri" pitchFamily="34" charset="-120"/>
              </a:rPr>
              <a:t>0.050 s</a:t>
            </a:r>
            <a:r>
              <a:rPr lang="en-US" sz="1250" dirty="0">
                <a:solidFill>
                  <a:srgbClr val="262B3A"/>
                </a:solidFill>
                <a:latin typeface="Calibri" pitchFamily="34" charset="0"/>
                <a:ea typeface="Calibri" pitchFamily="34" charset="-122"/>
                <a:cs typeface="Calibri" pitchFamily="34" charset="-120"/>
              </a:rPr>
              <a:t>. Earlier it passed the first gate at </a:t>
            </a:r>
            <a:r>
              <a:rPr lang="en-US" sz="1250" b="1" dirty="0">
                <a:solidFill>
                  <a:srgbClr val="262B3A"/>
                </a:solidFill>
                <a:latin typeface="Calibri" pitchFamily="34" charset="0"/>
                <a:ea typeface="Calibri" pitchFamily="34" charset="-122"/>
                <a:cs typeface="Calibri" pitchFamily="34" charset="-120"/>
              </a:rPr>
              <a:t>0.50 m/s</a:t>
            </a:r>
            <a:r>
              <a:rPr lang="en-US" sz="1250" dirty="0">
                <a:solidFill>
                  <a:srgbClr val="262B3A"/>
                </a:solidFill>
                <a:latin typeface="Calibri" pitchFamily="34" charset="0"/>
                <a:ea typeface="Calibri" pitchFamily="34" charset="-122"/>
                <a:cs typeface="Calibri" pitchFamily="34" charset="-120"/>
              </a:rPr>
              <a:t>. The time between the gates is </a:t>
            </a:r>
            <a:r>
              <a:rPr lang="en-US" sz="1250" b="1" dirty="0">
                <a:solidFill>
                  <a:srgbClr val="262B3A"/>
                </a:solidFill>
                <a:latin typeface="Calibri" pitchFamily="34" charset="0"/>
                <a:ea typeface="Calibri" pitchFamily="34" charset="-122"/>
                <a:cs typeface="Calibri" pitchFamily="34" charset="-120"/>
              </a:rPr>
              <a:t>0.75 s</a:t>
            </a:r>
            <a:r>
              <a:rPr lang="en-US" sz="1250" dirty="0">
                <a:solidFill>
                  <a:srgbClr val="262B3A"/>
                </a:solidFill>
                <a:latin typeface="Calibri" pitchFamily="34" charset="0"/>
                <a:ea typeface="Calibri" pitchFamily="34" charset="-122"/>
                <a:cs typeface="Calibri" pitchFamily="34" charset="-120"/>
              </a:rPr>
              <a:t>. Calculate the acceleration.</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investigates the effect of </a:t>
            </a:r>
            <a:r>
              <a:rPr lang="en-US" sz="1250" b="1" dirty="0">
                <a:solidFill>
                  <a:srgbClr val="262B3A"/>
                </a:solidFill>
                <a:latin typeface="Calibri" pitchFamily="34" charset="0"/>
                <a:ea typeface="Calibri" pitchFamily="34" charset="-122"/>
                <a:cs typeface="Calibri" pitchFamily="34" charset="-120"/>
              </a:rPr>
              <a:t>force</a:t>
            </a:r>
            <a:r>
              <a:rPr lang="en-US" sz="1250" dirty="0">
                <a:solidFill>
                  <a:srgbClr val="262B3A"/>
                </a:solidFill>
                <a:latin typeface="Calibri" pitchFamily="34" charset="0"/>
                <a:ea typeface="Calibri" pitchFamily="34" charset="-122"/>
                <a:cs typeface="Calibri" pitchFamily="34" charset="-120"/>
              </a:rPr>
              <a:t> on acceleration. Explain why she moves masses from the trolley onto the hanger, instead of adding new masses to the hanger.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Momentum: p = m × v</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2.24 • momentum is mass × velocity, a vector</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2.24  |  30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momentum has a direction: choose right as positive</a:t>
            </a:r>
            <a:endParaRPr lang="en-US" sz="1000" dirty="0"/>
          </a:p>
        </p:txBody>
      </p:sp>
      <p:sp>
        <p:nvSpPr>
          <p:cNvPr id="12" name="Shape 10"/>
          <p:cNvSpPr/>
          <p:nvPr/>
        </p:nvSpPr>
        <p:spPr>
          <a:xfrm>
            <a:off x="685800" y="2377440"/>
            <a:ext cx="5029200" cy="73152"/>
          </a:xfrm>
          <a:prstGeom prst="rect">
            <a:avLst/>
          </a:prstGeom>
          <a:solidFill>
            <a:srgbClr val="5A6275"/>
          </a:solidFill>
          <a:ln/>
        </p:spPr>
      </p:sp>
      <p:sp>
        <p:nvSpPr>
          <p:cNvPr id="13" name="Shape 11"/>
          <p:cNvSpPr/>
          <p:nvPr/>
        </p:nvSpPr>
        <p:spPr>
          <a:xfrm>
            <a:off x="1397203" y="1708099"/>
            <a:ext cx="804672" cy="248717"/>
          </a:xfrm>
          <a:prstGeom prst="roundRect">
            <a:avLst>
              <a:gd name="adj" fmla="val 29412"/>
            </a:avLst>
          </a:prstGeom>
          <a:solidFill>
            <a:srgbClr val="2E5BD8"/>
          </a:solidFill>
          <a:ln w="12700">
            <a:solidFill>
              <a:srgbClr val="1F2A4A"/>
            </a:solidFill>
            <a:prstDash val="solid"/>
          </a:ln>
        </p:spPr>
      </p:sp>
      <p:sp>
        <p:nvSpPr>
          <p:cNvPr id="14" name="Shape 12"/>
          <p:cNvSpPr/>
          <p:nvPr/>
        </p:nvSpPr>
        <p:spPr>
          <a:xfrm>
            <a:off x="1442923" y="1744675"/>
            <a:ext cx="713232" cy="193853"/>
          </a:xfrm>
          <a:prstGeom prst="roundRect">
            <a:avLst>
              <a:gd name="adj" fmla="val 23585"/>
            </a:avLst>
          </a:prstGeom>
          <a:solidFill>
            <a:srgbClr val="DCE8FA"/>
          </a:solidFill>
          <a:ln/>
        </p:spPr>
      </p:sp>
      <p:sp>
        <p:nvSpPr>
          <p:cNvPr id="15" name="Shape 13"/>
          <p:cNvSpPr/>
          <p:nvPr/>
        </p:nvSpPr>
        <p:spPr>
          <a:xfrm>
            <a:off x="914400" y="1938528"/>
            <a:ext cx="1463040" cy="321869"/>
          </a:xfrm>
          <a:prstGeom prst="roundRect">
            <a:avLst>
              <a:gd name="adj" fmla="val 17045"/>
            </a:avLst>
          </a:prstGeom>
          <a:solidFill>
            <a:srgbClr val="2E5BD8"/>
          </a:solidFill>
          <a:ln w="12700">
            <a:solidFill>
              <a:srgbClr val="1F2A4A"/>
            </a:solidFill>
            <a:prstDash val="solid"/>
          </a:ln>
        </p:spPr>
      </p:sp>
      <p:sp>
        <p:nvSpPr>
          <p:cNvPr id="16" name="Shape 14"/>
          <p:cNvSpPr/>
          <p:nvPr/>
        </p:nvSpPr>
        <p:spPr>
          <a:xfrm>
            <a:off x="1089965" y="2143354"/>
            <a:ext cx="234086" cy="234086"/>
          </a:xfrm>
          <a:prstGeom prst="ellipse">
            <a:avLst/>
          </a:prstGeom>
          <a:solidFill>
            <a:srgbClr val="2A2F3A"/>
          </a:solidFill>
          <a:ln w="9525">
            <a:solidFill>
              <a:srgbClr val="1F2430"/>
            </a:solidFill>
            <a:prstDash val="solid"/>
          </a:ln>
        </p:spPr>
      </p:sp>
      <p:sp>
        <p:nvSpPr>
          <p:cNvPr id="17" name="Shape 15"/>
          <p:cNvSpPr/>
          <p:nvPr/>
        </p:nvSpPr>
        <p:spPr>
          <a:xfrm>
            <a:off x="1967789" y="2143354"/>
            <a:ext cx="234086" cy="234086"/>
          </a:xfrm>
          <a:prstGeom prst="ellipse">
            <a:avLst/>
          </a:prstGeom>
          <a:solidFill>
            <a:srgbClr val="2A2F3A"/>
          </a:solidFill>
          <a:ln w="9525">
            <a:solidFill>
              <a:srgbClr val="1F2430"/>
            </a:solidFill>
            <a:prstDash val="solid"/>
          </a:ln>
        </p:spPr>
      </p:sp>
      <p:sp>
        <p:nvSpPr>
          <p:cNvPr id="18" name="Text 16"/>
          <p:cNvSpPr/>
          <p:nvPr/>
        </p:nvSpPr>
        <p:spPr>
          <a:xfrm>
            <a:off x="914400" y="1938528"/>
            <a:ext cx="1463040" cy="32186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1200 kg</a:t>
            </a:r>
            <a:endParaRPr lang="en-US" sz="1000" dirty="0"/>
          </a:p>
        </p:txBody>
      </p:sp>
      <p:sp>
        <p:nvSpPr>
          <p:cNvPr id="19" name="Shape 17"/>
          <p:cNvSpPr/>
          <p:nvPr/>
        </p:nvSpPr>
        <p:spPr>
          <a:xfrm>
            <a:off x="2560320" y="1691640"/>
            <a:ext cx="1371600" cy="91"/>
          </a:xfrm>
          <a:prstGeom prst="line">
            <a:avLst/>
          </a:prstGeom>
          <a:noFill/>
          <a:ln w="38100">
            <a:solidFill>
              <a:srgbClr val="2E8B57"/>
            </a:solidFill>
            <a:prstDash val="solid"/>
            <a:tailEnd type="triangle"/>
          </a:ln>
        </p:spPr>
      </p:sp>
      <p:sp>
        <p:nvSpPr>
          <p:cNvPr id="20" name="Text 18"/>
          <p:cNvSpPr/>
          <p:nvPr/>
        </p:nvSpPr>
        <p:spPr>
          <a:xfrm>
            <a:off x="3977640" y="1554480"/>
            <a:ext cx="1645920" cy="256032"/>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v = +15 m/s</a:t>
            </a:r>
            <a:endParaRPr lang="en-US" sz="1100" dirty="0"/>
          </a:p>
        </p:txBody>
      </p:sp>
      <p:sp>
        <p:nvSpPr>
          <p:cNvPr id="21" name="Text 19"/>
          <p:cNvSpPr/>
          <p:nvPr/>
        </p:nvSpPr>
        <p:spPr>
          <a:xfrm>
            <a:off x="685800" y="2514600"/>
            <a:ext cx="5029200" cy="256032"/>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p = 1200 × 15 = +18 000 kg m/s</a:t>
            </a:r>
            <a:endParaRPr lang="en-US" sz="1200" dirty="0"/>
          </a:p>
        </p:txBody>
      </p:sp>
      <p:sp>
        <p:nvSpPr>
          <p:cNvPr id="22" name="Shape 20"/>
          <p:cNvSpPr/>
          <p:nvPr/>
        </p:nvSpPr>
        <p:spPr>
          <a:xfrm>
            <a:off x="685800" y="3977640"/>
            <a:ext cx="5029200" cy="73152"/>
          </a:xfrm>
          <a:prstGeom prst="rect">
            <a:avLst/>
          </a:prstGeom>
          <a:solidFill>
            <a:srgbClr val="5A6275"/>
          </a:solidFill>
          <a:ln/>
        </p:spPr>
      </p:sp>
      <p:sp>
        <p:nvSpPr>
          <p:cNvPr id="23" name="Shape 21"/>
          <p:cNvSpPr/>
          <p:nvPr/>
        </p:nvSpPr>
        <p:spPr>
          <a:xfrm>
            <a:off x="1280160" y="3511296"/>
            <a:ext cx="914400" cy="329184"/>
          </a:xfrm>
          <a:prstGeom prst="roundRect">
            <a:avLst>
              <a:gd name="adj" fmla="val 11111"/>
            </a:avLst>
          </a:prstGeom>
          <a:solidFill>
            <a:srgbClr val="2E5BD8"/>
          </a:solidFill>
          <a:ln w="12700">
            <a:solidFill>
              <a:srgbClr val="2B3F7A"/>
            </a:solidFill>
            <a:prstDash val="solid"/>
          </a:ln>
        </p:spPr>
      </p:sp>
      <p:sp>
        <p:nvSpPr>
          <p:cNvPr id="24" name="Shape 22"/>
          <p:cNvSpPr/>
          <p:nvPr/>
        </p:nvSpPr>
        <p:spPr>
          <a:xfrm>
            <a:off x="1380744" y="3813048"/>
            <a:ext cx="164592" cy="164592"/>
          </a:xfrm>
          <a:prstGeom prst="ellipse">
            <a:avLst/>
          </a:prstGeom>
          <a:solidFill>
            <a:srgbClr val="3B4252"/>
          </a:solidFill>
          <a:ln w="9525">
            <a:solidFill>
              <a:srgbClr val="1F2430"/>
            </a:solidFill>
            <a:prstDash val="solid"/>
          </a:ln>
        </p:spPr>
      </p:sp>
      <p:sp>
        <p:nvSpPr>
          <p:cNvPr id="25" name="Shape 23"/>
          <p:cNvSpPr/>
          <p:nvPr/>
        </p:nvSpPr>
        <p:spPr>
          <a:xfrm>
            <a:off x="1929384" y="3813048"/>
            <a:ext cx="164592" cy="164592"/>
          </a:xfrm>
          <a:prstGeom prst="ellipse">
            <a:avLst/>
          </a:prstGeom>
          <a:solidFill>
            <a:srgbClr val="3B4252"/>
          </a:solidFill>
          <a:ln w="9525">
            <a:solidFill>
              <a:srgbClr val="1F2430"/>
            </a:solidFill>
            <a:prstDash val="solid"/>
          </a:ln>
        </p:spPr>
      </p:sp>
      <p:sp>
        <p:nvSpPr>
          <p:cNvPr id="26" name="Text 24"/>
          <p:cNvSpPr/>
          <p:nvPr/>
        </p:nvSpPr>
        <p:spPr>
          <a:xfrm>
            <a:off x="1280160" y="3511296"/>
            <a:ext cx="9144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 kg</a:t>
            </a:r>
            <a:endParaRPr lang="en-US" sz="1050" dirty="0"/>
          </a:p>
        </p:txBody>
      </p:sp>
      <p:sp>
        <p:nvSpPr>
          <p:cNvPr id="27" name="Shape 25"/>
          <p:cNvSpPr/>
          <p:nvPr/>
        </p:nvSpPr>
        <p:spPr>
          <a:xfrm>
            <a:off x="3657600" y="3511296"/>
            <a:ext cx="914400" cy="329184"/>
          </a:xfrm>
          <a:prstGeom prst="roundRect">
            <a:avLst>
              <a:gd name="adj" fmla="val 11111"/>
            </a:avLst>
          </a:prstGeom>
          <a:solidFill>
            <a:srgbClr val="C8414C"/>
          </a:solidFill>
          <a:ln w="12700">
            <a:solidFill>
              <a:srgbClr val="2B3F7A"/>
            </a:solidFill>
            <a:prstDash val="solid"/>
          </a:ln>
        </p:spPr>
      </p:sp>
      <p:sp>
        <p:nvSpPr>
          <p:cNvPr id="28" name="Shape 26"/>
          <p:cNvSpPr/>
          <p:nvPr/>
        </p:nvSpPr>
        <p:spPr>
          <a:xfrm>
            <a:off x="3758184" y="3813048"/>
            <a:ext cx="164592" cy="164592"/>
          </a:xfrm>
          <a:prstGeom prst="ellipse">
            <a:avLst/>
          </a:prstGeom>
          <a:solidFill>
            <a:srgbClr val="3B4252"/>
          </a:solidFill>
          <a:ln w="9525">
            <a:solidFill>
              <a:srgbClr val="1F2430"/>
            </a:solidFill>
            <a:prstDash val="solid"/>
          </a:ln>
        </p:spPr>
      </p:sp>
      <p:sp>
        <p:nvSpPr>
          <p:cNvPr id="29" name="Shape 27"/>
          <p:cNvSpPr/>
          <p:nvPr/>
        </p:nvSpPr>
        <p:spPr>
          <a:xfrm>
            <a:off x="4306824" y="3813048"/>
            <a:ext cx="164592" cy="164592"/>
          </a:xfrm>
          <a:prstGeom prst="ellipse">
            <a:avLst/>
          </a:prstGeom>
          <a:solidFill>
            <a:srgbClr val="3B4252"/>
          </a:solidFill>
          <a:ln w="9525">
            <a:solidFill>
              <a:srgbClr val="1F2430"/>
            </a:solidFill>
            <a:prstDash val="solid"/>
          </a:ln>
        </p:spPr>
      </p:sp>
      <p:sp>
        <p:nvSpPr>
          <p:cNvPr id="30" name="Text 28"/>
          <p:cNvSpPr/>
          <p:nvPr/>
        </p:nvSpPr>
        <p:spPr>
          <a:xfrm>
            <a:off x="3657600" y="3511296"/>
            <a:ext cx="9144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 kg</a:t>
            </a:r>
            <a:endParaRPr lang="en-US" sz="1050" dirty="0"/>
          </a:p>
        </p:txBody>
      </p:sp>
      <p:sp>
        <p:nvSpPr>
          <p:cNvPr id="31" name="Shape 29"/>
          <p:cNvSpPr/>
          <p:nvPr/>
        </p:nvSpPr>
        <p:spPr>
          <a:xfrm>
            <a:off x="1280160" y="3291840"/>
            <a:ext cx="914400" cy="91"/>
          </a:xfrm>
          <a:prstGeom prst="line">
            <a:avLst/>
          </a:prstGeom>
          <a:noFill/>
          <a:ln w="38100">
            <a:solidFill>
              <a:srgbClr val="2E8B57"/>
            </a:solidFill>
            <a:prstDash val="solid"/>
            <a:tailEnd type="triangle"/>
          </a:ln>
        </p:spPr>
      </p:sp>
      <p:sp>
        <p:nvSpPr>
          <p:cNvPr id="32" name="Text 30"/>
          <p:cNvSpPr/>
          <p:nvPr/>
        </p:nvSpPr>
        <p:spPr>
          <a:xfrm>
            <a:off x="1097280" y="2971800"/>
            <a:ext cx="146304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+1.0 m/s</a:t>
            </a:r>
            <a:endParaRPr lang="en-US" sz="1100" dirty="0"/>
          </a:p>
        </p:txBody>
      </p:sp>
      <p:sp>
        <p:nvSpPr>
          <p:cNvPr id="33" name="Shape 31"/>
          <p:cNvSpPr/>
          <p:nvPr/>
        </p:nvSpPr>
        <p:spPr>
          <a:xfrm flipH="1">
            <a:off x="3657600" y="3291840"/>
            <a:ext cx="914400" cy="91"/>
          </a:xfrm>
          <a:prstGeom prst="line">
            <a:avLst/>
          </a:prstGeom>
          <a:noFill/>
          <a:ln w="38100">
            <a:solidFill>
              <a:srgbClr val="2E8B57"/>
            </a:solidFill>
            <a:prstDash val="solid"/>
            <a:tailEnd type="triangle"/>
          </a:ln>
        </p:spPr>
      </p:sp>
      <p:sp>
        <p:nvSpPr>
          <p:cNvPr id="34" name="Text 32"/>
          <p:cNvSpPr/>
          <p:nvPr/>
        </p:nvSpPr>
        <p:spPr>
          <a:xfrm>
            <a:off x="3474720" y="2971800"/>
            <a:ext cx="146304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−1.0 m/s</a:t>
            </a:r>
            <a:endParaRPr lang="en-US" sz="1100" dirty="0"/>
          </a:p>
        </p:txBody>
      </p:sp>
      <p:sp>
        <p:nvSpPr>
          <p:cNvPr id="35" name="Text 33"/>
          <p:cNvSpPr/>
          <p:nvPr/>
        </p:nvSpPr>
        <p:spPr>
          <a:xfrm>
            <a:off x="685800" y="4114800"/>
            <a:ext cx="502920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p = +2.0 kg m/s and −2.0 kg m/s</a:t>
            </a:r>
            <a:endParaRPr lang="en-US" sz="1150" dirty="0"/>
          </a:p>
        </p:txBody>
      </p:sp>
      <p:sp>
        <p:nvSpPr>
          <p:cNvPr id="36" name="Text 34"/>
          <p:cNvSpPr/>
          <p:nvPr/>
        </p:nvSpPr>
        <p:spPr>
          <a:xfrm>
            <a:off x="685800" y="4434840"/>
            <a:ext cx="5029200" cy="256032"/>
          </a:xfrm>
          <a:prstGeom prst="rect">
            <a:avLst/>
          </a:prstGeom>
          <a:noFill/>
          <a:ln/>
        </p:spPr>
        <p:txBody>
          <a:bodyPr wrap="square" lIns="0" tIns="0" rIns="0" bIns="0" rtlCol="0" anchor="ctr"/>
          <a:lstStyle/>
          <a:p>
            <a:pPr algn="ctr" indent="0" marL="0">
              <a:buNone/>
            </a:pPr>
            <a:r>
              <a:rPr lang="en-US" sz="1150" b="1" dirty="0">
                <a:solidFill>
                  <a:srgbClr val="C8414C"/>
                </a:solidFill>
                <a:latin typeface="Calibri" pitchFamily="34" charset="0"/>
                <a:ea typeface="Calibri" pitchFamily="34" charset="-122"/>
                <a:cs typeface="Calibri" pitchFamily="34" charset="-120"/>
              </a:rPr>
              <a:t>total momentum = 0 kg m/s</a:t>
            </a:r>
            <a:endParaRPr lang="en-US" sz="1150" dirty="0"/>
          </a:p>
        </p:txBody>
      </p:sp>
      <p:sp>
        <p:nvSpPr>
          <p:cNvPr id="37" name="Shape 3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8" name="Text 3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is momentum?</a:t>
            </a:r>
            <a:endParaRPr lang="en-US" sz="1300" dirty="0"/>
          </a:p>
        </p:txBody>
      </p:sp>
      <p:sp>
        <p:nvSpPr>
          <p:cNvPr id="39" name="Text 3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Momentum</a:t>
            </a:r>
            <a:r>
              <a:rPr lang="en-US" sz="1150" dirty="0">
                <a:solidFill>
                  <a:srgbClr val="262B3A"/>
                </a:solidFill>
                <a:latin typeface="Calibri" pitchFamily="34" charset="0"/>
                <a:ea typeface="Calibri" pitchFamily="34" charset="-122"/>
                <a:cs typeface="Calibri" pitchFamily="34" charset="-120"/>
              </a:rPr>
              <a:t> = mass × velocity. Unit: </a:t>
            </a:r>
            <a:r>
              <a:rPr lang="en-US" sz="1150" b="1" dirty="0">
                <a:solidFill>
                  <a:srgbClr val="262B3A"/>
                </a:solidFill>
                <a:latin typeface="Calibri" pitchFamily="34" charset="0"/>
                <a:ea typeface="Calibri" pitchFamily="34" charset="-122"/>
                <a:cs typeface="Calibri" pitchFamily="34" charset="-120"/>
              </a:rPr>
              <a:t>kg m/s</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p = m × v</a:t>
            </a:r>
            <a:r>
              <a:rPr lang="en-US" sz="1150" dirty="0">
                <a:solidFill>
                  <a:srgbClr val="262B3A"/>
                </a:solidFill>
                <a:latin typeface="Calibri" pitchFamily="34" charset="0"/>
                <a:ea typeface="Calibri" pitchFamily="34" charset="-122"/>
                <a:cs typeface="Calibri" pitchFamily="34" charset="-120"/>
              </a:rPr>
              <a:t>   momentum (kg m/s) = mass (kg) × velocity (m/s)</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 (Higher).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Momentum is a </a:t>
            </a:r>
            <a:r>
              <a:rPr lang="en-US" sz="1150" b="1" dirty="0">
                <a:solidFill>
                  <a:srgbClr val="262B3A"/>
                </a:solidFill>
                <a:latin typeface="Calibri" pitchFamily="34" charset="0"/>
                <a:ea typeface="Calibri" pitchFamily="34" charset="-122"/>
                <a:cs typeface="Calibri" pitchFamily="34" charset="-120"/>
              </a:rPr>
              <a:t>vector</a:t>
            </a:r>
            <a:r>
              <a:rPr lang="en-US" sz="1150" dirty="0">
                <a:solidFill>
                  <a:srgbClr val="262B3A"/>
                </a:solidFill>
                <a:latin typeface="Calibri" pitchFamily="34" charset="0"/>
                <a:ea typeface="Calibri" pitchFamily="34" charset="-122"/>
                <a:cs typeface="Calibri" pitchFamily="34" charset="-120"/>
              </a:rPr>
              <a:t>: it has the same direction as the velocity. Objects moving in opposite directions have momenta of opposite sign.</a:t>
            </a:r>
            <a:endParaRPr lang="en-US" sz="1150" dirty="0"/>
          </a:p>
        </p:txBody>
      </p:sp>
      <p:sp>
        <p:nvSpPr>
          <p:cNvPr id="40" name="Shape 3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1" name="Text 3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2" name="Text 40"/>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the momentum of a 1200 kg car travelling at 15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p = m ×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p = 1200 kg × 15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Unit   </a:t>
            </a:r>
            <a:r>
              <a:rPr lang="en-US" sz="1100" dirty="0">
                <a:solidFill>
                  <a:srgbClr val="262B3A"/>
                </a:solidFill>
                <a:latin typeface="Calibri" pitchFamily="34" charset="0"/>
                <a:ea typeface="Calibri" pitchFamily="34" charset="-122"/>
                <a:cs typeface="Calibri" pitchFamily="34" charset="-120"/>
              </a:rPr>
              <a:t>kg × m/s = kg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p = 18 000 kg m/s (1.8 × 10⁴ kg m/s)</a:t>
            </a:r>
            <a:endParaRPr lang="en-US" sz="1100" dirty="0"/>
          </a:p>
        </p:txBody>
      </p:sp>
      <p:sp>
        <p:nvSpPr>
          <p:cNvPr id="43" name="Shape 41"/>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2"/>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momentum of a 0.16 kg cricket ball moving at 25 m/s.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Conservation of momentum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2.23, 2.25 • total momentum before = total momentum after</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2.25  |  31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collision in which two trolleys stick together (velocities to scale)</a:t>
            </a:r>
            <a:endParaRPr lang="en-US" sz="1000" dirty="0"/>
          </a:p>
        </p:txBody>
      </p:sp>
      <p:sp>
        <p:nvSpPr>
          <p:cNvPr id="12" name="Text 10"/>
          <p:cNvSpPr/>
          <p:nvPr/>
        </p:nvSpPr>
        <p:spPr>
          <a:xfrm>
            <a:off x="594360" y="1298448"/>
            <a:ext cx="18288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BEFORE</a:t>
            </a:r>
            <a:endParaRPr lang="en-US" sz="1200" dirty="0"/>
          </a:p>
        </p:txBody>
      </p:sp>
      <p:sp>
        <p:nvSpPr>
          <p:cNvPr id="13" name="Shape 11"/>
          <p:cNvSpPr/>
          <p:nvPr/>
        </p:nvSpPr>
        <p:spPr>
          <a:xfrm>
            <a:off x="685800" y="2514600"/>
            <a:ext cx="5029200" cy="73152"/>
          </a:xfrm>
          <a:prstGeom prst="rect">
            <a:avLst/>
          </a:prstGeom>
          <a:solidFill>
            <a:srgbClr val="5A6275"/>
          </a:solidFill>
          <a:ln/>
        </p:spPr>
      </p:sp>
      <p:sp>
        <p:nvSpPr>
          <p:cNvPr id="14" name="Shape 12"/>
          <p:cNvSpPr/>
          <p:nvPr/>
        </p:nvSpPr>
        <p:spPr>
          <a:xfrm>
            <a:off x="914400" y="2011680"/>
            <a:ext cx="1097280" cy="365760"/>
          </a:xfrm>
          <a:prstGeom prst="roundRect">
            <a:avLst>
              <a:gd name="adj" fmla="val 10000"/>
            </a:avLst>
          </a:prstGeom>
          <a:solidFill>
            <a:srgbClr val="2E5BD8"/>
          </a:solidFill>
          <a:ln w="12700">
            <a:solidFill>
              <a:srgbClr val="2B3F7A"/>
            </a:solidFill>
            <a:prstDash val="solid"/>
          </a:ln>
        </p:spPr>
      </p:sp>
      <p:sp>
        <p:nvSpPr>
          <p:cNvPr id="15" name="Shape 13"/>
          <p:cNvSpPr/>
          <p:nvPr/>
        </p:nvSpPr>
        <p:spPr>
          <a:xfrm>
            <a:off x="1014984" y="2350008"/>
            <a:ext cx="164592" cy="164592"/>
          </a:xfrm>
          <a:prstGeom prst="ellipse">
            <a:avLst/>
          </a:prstGeom>
          <a:solidFill>
            <a:srgbClr val="3B4252"/>
          </a:solidFill>
          <a:ln w="9525">
            <a:solidFill>
              <a:srgbClr val="1F2430"/>
            </a:solidFill>
            <a:prstDash val="solid"/>
          </a:ln>
        </p:spPr>
      </p:sp>
      <p:sp>
        <p:nvSpPr>
          <p:cNvPr id="16" name="Shape 14"/>
          <p:cNvSpPr/>
          <p:nvPr/>
        </p:nvSpPr>
        <p:spPr>
          <a:xfrm>
            <a:off x="1746504" y="2350008"/>
            <a:ext cx="164592" cy="164592"/>
          </a:xfrm>
          <a:prstGeom prst="ellipse">
            <a:avLst/>
          </a:prstGeom>
          <a:solidFill>
            <a:srgbClr val="3B4252"/>
          </a:solidFill>
          <a:ln w="9525">
            <a:solidFill>
              <a:srgbClr val="1F2430"/>
            </a:solidFill>
            <a:prstDash val="solid"/>
          </a:ln>
        </p:spPr>
      </p:sp>
      <p:sp>
        <p:nvSpPr>
          <p:cNvPr id="17" name="Text 15"/>
          <p:cNvSpPr/>
          <p:nvPr/>
        </p:nvSpPr>
        <p:spPr>
          <a:xfrm>
            <a:off x="914400" y="2011680"/>
            <a:ext cx="109728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 0.80 kg</a:t>
            </a:r>
            <a:endParaRPr lang="en-US" sz="1050" dirty="0"/>
          </a:p>
        </p:txBody>
      </p:sp>
      <p:sp>
        <p:nvSpPr>
          <p:cNvPr id="18" name="Shape 16"/>
          <p:cNvSpPr/>
          <p:nvPr/>
        </p:nvSpPr>
        <p:spPr>
          <a:xfrm>
            <a:off x="3566160" y="2048256"/>
            <a:ext cx="914400" cy="329184"/>
          </a:xfrm>
          <a:prstGeom prst="roundRect">
            <a:avLst>
              <a:gd name="adj" fmla="val 11111"/>
            </a:avLst>
          </a:prstGeom>
          <a:solidFill>
            <a:srgbClr val="C8414C"/>
          </a:solidFill>
          <a:ln w="12700">
            <a:solidFill>
              <a:srgbClr val="2B3F7A"/>
            </a:solidFill>
            <a:prstDash val="solid"/>
          </a:ln>
        </p:spPr>
      </p:sp>
      <p:sp>
        <p:nvSpPr>
          <p:cNvPr id="19" name="Shape 17"/>
          <p:cNvSpPr/>
          <p:nvPr/>
        </p:nvSpPr>
        <p:spPr>
          <a:xfrm>
            <a:off x="3666744" y="2350008"/>
            <a:ext cx="164592" cy="164592"/>
          </a:xfrm>
          <a:prstGeom prst="ellipse">
            <a:avLst/>
          </a:prstGeom>
          <a:solidFill>
            <a:srgbClr val="3B4252"/>
          </a:solidFill>
          <a:ln w="9525">
            <a:solidFill>
              <a:srgbClr val="1F2430"/>
            </a:solidFill>
            <a:prstDash val="solid"/>
          </a:ln>
        </p:spPr>
      </p:sp>
      <p:sp>
        <p:nvSpPr>
          <p:cNvPr id="20" name="Shape 18"/>
          <p:cNvSpPr/>
          <p:nvPr/>
        </p:nvSpPr>
        <p:spPr>
          <a:xfrm>
            <a:off x="4215384" y="2350008"/>
            <a:ext cx="164592" cy="164592"/>
          </a:xfrm>
          <a:prstGeom prst="ellipse">
            <a:avLst/>
          </a:prstGeom>
          <a:solidFill>
            <a:srgbClr val="3B4252"/>
          </a:solidFill>
          <a:ln w="9525">
            <a:solidFill>
              <a:srgbClr val="1F2430"/>
            </a:solidFill>
            <a:prstDash val="solid"/>
          </a:ln>
        </p:spPr>
      </p:sp>
      <p:sp>
        <p:nvSpPr>
          <p:cNvPr id="21" name="Text 19"/>
          <p:cNvSpPr/>
          <p:nvPr/>
        </p:nvSpPr>
        <p:spPr>
          <a:xfrm>
            <a:off x="3566160" y="2048256"/>
            <a:ext cx="9144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 0.40 kg</a:t>
            </a:r>
            <a:endParaRPr lang="en-US" sz="1050" dirty="0"/>
          </a:p>
        </p:txBody>
      </p:sp>
      <p:sp>
        <p:nvSpPr>
          <p:cNvPr id="22" name="Shape 20"/>
          <p:cNvSpPr/>
          <p:nvPr/>
        </p:nvSpPr>
        <p:spPr>
          <a:xfrm>
            <a:off x="2011680" y="1828800"/>
            <a:ext cx="1234440" cy="91"/>
          </a:xfrm>
          <a:prstGeom prst="line">
            <a:avLst/>
          </a:prstGeom>
          <a:noFill/>
          <a:ln w="38100">
            <a:solidFill>
              <a:srgbClr val="2E8B57"/>
            </a:solidFill>
            <a:prstDash val="solid"/>
            <a:tailEnd type="triangle"/>
          </a:ln>
        </p:spPr>
      </p:sp>
      <p:sp>
        <p:nvSpPr>
          <p:cNvPr id="23" name="Text 21"/>
          <p:cNvSpPr/>
          <p:nvPr/>
        </p:nvSpPr>
        <p:spPr>
          <a:xfrm>
            <a:off x="1828800" y="1508760"/>
            <a:ext cx="155448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u = 1.5 m/s</a:t>
            </a:r>
            <a:endParaRPr lang="en-US" sz="1100" dirty="0"/>
          </a:p>
        </p:txBody>
      </p:sp>
      <p:sp>
        <p:nvSpPr>
          <p:cNvPr id="24" name="Text 22"/>
          <p:cNvSpPr/>
          <p:nvPr/>
        </p:nvSpPr>
        <p:spPr>
          <a:xfrm>
            <a:off x="3429000" y="1783080"/>
            <a:ext cx="1188720" cy="256032"/>
          </a:xfrm>
          <a:prstGeom prst="rect">
            <a:avLst/>
          </a:prstGeom>
          <a:noFill/>
          <a:ln/>
        </p:spPr>
        <p:txBody>
          <a:bodyPr wrap="square" lIns="0" tIns="0" rIns="0" bIns="0" rtlCol="0" anchor="ctr"/>
          <a:lstStyle/>
          <a:p>
            <a:pPr algn="ctr" indent="0" marL="0">
              <a:buNone/>
            </a:pPr>
            <a:r>
              <a:rPr lang="en-US" sz="1100" b="1" dirty="0">
                <a:solidFill>
                  <a:srgbClr val="6B7385"/>
                </a:solidFill>
                <a:latin typeface="Calibri" pitchFamily="34" charset="0"/>
                <a:ea typeface="Calibri" pitchFamily="34" charset="-122"/>
                <a:cs typeface="Calibri" pitchFamily="34" charset="-120"/>
              </a:rPr>
              <a:t>at rest</a:t>
            </a:r>
            <a:endParaRPr lang="en-US" sz="1100" dirty="0"/>
          </a:p>
        </p:txBody>
      </p:sp>
      <p:sp>
        <p:nvSpPr>
          <p:cNvPr id="25" name="Text 23"/>
          <p:cNvSpPr/>
          <p:nvPr/>
        </p:nvSpPr>
        <p:spPr>
          <a:xfrm>
            <a:off x="685800" y="2651760"/>
            <a:ext cx="502920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total p = 0.80 × 1.5 + 0 = 1.2 kg m/s</a:t>
            </a:r>
            <a:endParaRPr lang="en-US" sz="1150" dirty="0"/>
          </a:p>
        </p:txBody>
      </p:sp>
      <p:sp>
        <p:nvSpPr>
          <p:cNvPr id="26" name="Shape 24"/>
          <p:cNvSpPr/>
          <p:nvPr/>
        </p:nvSpPr>
        <p:spPr>
          <a:xfrm>
            <a:off x="685800" y="3063240"/>
            <a:ext cx="5029200" cy="91"/>
          </a:xfrm>
          <a:prstGeom prst="line">
            <a:avLst/>
          </a:prstGeom>
          <a:noFill/>
          <a:ln w="12700">
            <a:solidFill>
              <a:srgbClr val="D5DCEB"/>
            </a:solidFill>
            <a:prstDash val="dash"/>
          </a:ln>
        </p:spPr>
      </p:sp>
      <p:sp>
        <p:nvSpPr>
          <p:cNvPr id="27" name="Text 25"/>
          <p:cNvSpPr/>
          <p:nvPr/>
        </p:nvSpPr>
        <p:spPr>
          <a:xfrm>
            <a:off x="594360" y="3154680"/>
            <a:ext cx="18288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AFTER</a:t>
            </a:r>
            <a:endParaRPr lang="en-US" sz="1200" dirty="0"/>
          </a:p>
        </p:txBody>
      </p:sp>
      <p:sp>
        <p:nvSpPr>
          <p:cNvPr id="28" name="Shape 26"/>
          <p:cNvSpPr/>
          <p:nvPr/>
        </p:nvSpPr>
        <p:spPr>
          <a:xfrm>
            <a:off x="685800" y="4343400"/>
            <a:ext cx="5029200" cy="73152"/>
          </a:xfrm>
          <a:prstGeom prst="rect">
            <a:avLst/>
          </a:prstGeom>
          <a:solidFill>
            <a:srgbClr val="5A6275"/>
          </a:solidFill>
          <a:ln/>
        </p:spPr>
      </p:sp>
      <p:sp>
        <p:nvSpPr>
          <p:cNvPr id="29" name="Shape 27"/>
          <p:cNvSpPr/>
          <p:nvPr/>
        </p:nvSpPr>
        <p:spPr>
          <a:xfrm>
            <a:off x="1828800" y="3840480"/>
            <a:ext cx="1097280" cy="365760"/>
          </a:xfrm>
          <a:prstGeom prst="roundRect">
            <a:avLst>
              <a:gd name="adj" fmla="val 10000"/>
            </a:avLst>
          </a:prstGeom>
          <a:solidFill>
            <a:srgbClr val="2E5BD8"/>
          </a:solidFill>
          <a:ln w="12700">
            <a:solidFill>
              <a:srgbClr val="2B3F7A"/>
            </a:solidFill>
            <a:prstDash val="solid"/>
          </a:ln>
        </p:spPr>
      </p:sp>
      <p:sp>
        <p:nvSpPr>
          <p:cNvPr id="30" name="Shape 28"/>
          <p:cNvSpPr/>
          <p:nvPr/>
        </p:nvSpPr>
        <p:spPr>
          <a:xfrm>
            <a:off x="1929384" y="4178808"/>
            <a:ext cx="164592" cy="164592"/>
          </a:xfrm>
          <a:prstGeom prst="ellipse">
            <a:avLst/>
          </a:prstGeom>
          <a:solidFill>
            <a:srgbClr val="3B4252"/>
          </a:solidFill>
          <a:ln w="9525">
            <a:solidFill>
              <a:srgbClr val="1F2430"/>
            </a:solidFill>
            <a:prstDash val="solid"/>
          </a:ln>
        </p:spPr>
      </p:sp>
      <p:sp>
        <p:nvSpPr>
          <p:cNvPr id="31" name="Shape 29"/>
          <p:cNvSpPr/>
          <p:nvPr/>
        </p:nvSpPr>
        <p:spPr>
          <a:xfrm>
            <a:off x="2660904" y="4178808"/>
            <a:ext cx="164592" cy="164592"/>
          </a:xfrm>
          <a:prstGeom prst="ellipse">
            <a:avLst/>
          </a:prstGeom>
          <a:solidFill>
            <a:srgbClr val="3B4252"/>
          </a:solidFill>
          <a:ln w="9525">
            <a:solidFill>
              <a:srgbClr val="1F2430"/>
            </a:solidFill>
            <a:prstDash val="solid"/>
          </a:ln>
        </p:spPr>
      </p:sp>
      <p:sp>
        <p:nvSpPr>
          <p:cNvPr id="32" name="Text 30"/>
          <p:cNvSpPr/>
          <p:nvPr/>
        </p:nvSpPr>
        <p:spPr>
          <a:xfrm>
            <a:off x="1828800" y="3840480"/>
            <a:ext cx="109728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a:t>
            </a:r>
            <a:endParaRPr lang="en-US" sz="1050" dirty="0"/>
          </a:p>
        </p:txBody>
      </p:sp>
      <p:sp>
        <p:nvSpPr>
          <p:cNvPr id="33" name="Shape 31"/>
          <p:cNvSpPr/>
          <p:nvPr/>
        </p:nvSpPr>
        <p:spPr>
          <a:xfrm>
            <a:off x="2926080" y="3877056"/>
            <a:ext cx="914400" cy="329184"/>
          </a:xfrm>
          <a:prstGeom prst="roundRect">
            <a:avLst>
              <a:gd name="adj" fmla="val 11111"/>
            </a:avLst>
          </a:prstGeom>
          <a:solidFill>
            <a:srgbClr val="C8414C"/>
          </a:solidFill>
          <a:ln w="12700">
            <a:solidFill>
              <a:srgbClr val="2B3F7A"/>
            </a:solidFill>
            <a:prstDash val="solid"/>
          </a:ln>
        </p:spPr>
      </p:sp>
      <p:sp>
        <p:nvSpPr>
          <p:cNvPr id="34" name="Shape 32"/>
          <p:cNvSpPr/>
          <p:nvPr/>
        </p:nvSpPr>
        <p:spPr>
          <a:xfrm>
            <a:off x="3026664" y="4178808"/>
            <a:ext cx="164592" cy="164592"/>
          </a:xfrm>
          <a:prstGeom prst="ellipse">
            <a:avLst/>
          </a:prstGeom>
          <a:solidFill>
            <a:srgbClr val="3B4252"/>
          </a:solidFill>
          <a:ln w="9525">
            <a:solidFill>
              <a:srgbClr val="1F2430"/>
            </a:solidFill>
            <a:prstDash val="solid"/>
          </a:ln>
        </p:spPr>
      </p:sp>
      <p:sp>
        <p:nvSpPr>
          <p:cNvPr id="35" name="Shape 33"/>
          <p:cNvSpPr/>
          <p:nvPr/>
        </p:nvSpPr>
        <p:spPr>
          <a:xfrm>
            <a:off x="3575304" y="4178808"/>
            <a:ext cx="164592" cy="164592"/>
          </a:xfrm>
          <a:prstGeom prst="ellipse">
            <a:avLst/>
          </a:prstGeom>
          <a:solidFill>
            <a:srgbClr val="3B4252"/>
          </a:solidFill>
          <a:ln w="9525">
            <a:solidFill>
              <a:srgbClr val="1F2430"/>
            </a:solidFill>
            <a:prstDash val="solid"/>
          </a:ln>
        </p:spPr>
      </p:sp>
      <p:sp>
        <p:nvSpPr>
          <p:cNvPr id="36" name="Text 34"/>
          <p:cNvSpPr/>
          <p:nvPr/>
        </p:nvSpPr>
        <p:spPr>
          <a:xfrm>
            <a:off x="2926080" y="3877056"/>
            <a:ext cx="9144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37" name="Shape 35"/>
          <p:cNvSpPr/>
          <p:nvPr/>
        </p:nvSpPr>
        <p:spPr>
          <a:xfrm>
            <a:off x="3840480" y="3703320"/>
            <a:ext cx="822960" cy="91"/>
          </a:xfrm>
          <a:prstGeom prst="line">
            <a:avLst/>
          </a:prstGeom>
          <a:noFill/>
          <a:ln w="38100">
            <a:solidFill>
              <a:srgbClr val="2E8B57"/>
            </a:solidFill>
            <a:prstDash val="solid"/>
            <a:tailEnd type="triangle"/>
          </a:ln>
        </p:spPr>
      </p:sp>
      <p:sp>
        <p:nvSpPr>
          <p:cNvPr id="38" name="Text 36"/>
          <p:cNvSpPr/>
          <p:nvPr/>
        </p:nvSpPr>
        <p:spPr>
          <a:xfrm>
            <a:off x="3657600" y="3383280"/>
            <a:ext cx="155448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v = 1.0 m/s</a:t>
            </a:r>
            <a:endParaRPr lang="en-US" sz="1100" dirty="0"/>
          </a:p>
        </p:txBody>
      </p:sp>
      <p:sp>
        <p:nvSpPr>
          <p:cNvPr id="39" name="Text 37"/>
          <p:cNvSpPr/>
          <p:nvPr/>
        </p:nvSpPr>
        <p:spPr>
          <a:xfrm>
            <a:off x="685800" y="4480560"/>
            <a:ext cx="502920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total p = (0.80 + 0.40) × v = 1.2 kg m/s</a:t>
            </a:r>
            <a:endParaRPr lang="en-US" sz="1150" dirty="0"/>
          </a:p>
        </p:txBody>
      </p:sp>
      <p:sp>
        <p:nvSpPr>
          <p:cNvPr id="40" name="Shape 3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1" name="Text 3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Collisions and explosions</a:t>
            </a:r>
            <a:endParaRPr lang="en-US" sz="1300" dirty="0"/>
          </a:p>
        </p:txBody>
      </p:sp>
      <p:sp>
        <p:nvSpPr>
          <p:cNvPr id="42" name="Text 4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collision or explosion (no external forces), </a:t>
            </a:r>
            <a:r>
              <a:rPr lang="en-US" sz="1150" b="1" dirty="0">
                <a:solidFill>
                  <a:srgbClr val="262B3A"/>
                </a:solidFill>
                <a:latin typeface="Calibri" pitchFamily="34" charset="0"/>
                <a:ea typeface="Calibri" pitchFamily="34" charset="-122"/>
                <a:cs typeface="Calibri" pitchFamily="34" charset="-120"/>
              </a:rPr>
              <a:t>total momentum before = total momentum after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Why: by Newton’s third law the objects push on each other with </a:t>
            </a:r>
            <a:r>
              <a:rPr lang="en-US" sz="1150" b="1" dirty="0">
                <a:solidFill>
                  <a:srgbClr val="262B3A"/>
                </a:solidFill>
                <a:latin typeface="Calibri" pitchFamily="34" charset="0"/>
                <a:ea typeface="Calibri" pitchFamily="34" charset="-122"/>
                <a:cs typeface="Calibri" pitchFamily="34" charset="-120"/>
              </a:rPr>
              <a:t>equal and opposite forces</a:t>
            </a:r>
            <a:r>
              <a:rPr lang="en-US" sz="1150" dirty="0">
                <a:solidFill>
                  <a:srgbClr val="262B3A"/>
                </a:solidFill>
                <a:latin typeface="Calibri" pitchFamily="34" charset="0"/>
                <a:ea typeface="Calibri" pitchFamily="34" charset="-122"/>
                <a:cs typeface="Calibri" pitchFamily="34" charset="-120"/>
              </a:rPr>
              <a:t> for the </a:t>
            </a:r>
            <a:r>
              <a:rPr lang="en-US" sz="1150" b="1" dirty="0">
                <a:solidFill>
                  <a:srgbClr val="262B3A"/>
                </a:solidFill>
                <a:latin typeface="Calibri" pitchFamily="34" charset="0"/>
                <a:ea typeface="Calibri" pitchFamily="34" charset="-122"/>
                <a:cs typeface="Calibri" pitchFamily="34" charset="-120"/>
              </a:rPr>
              <a:t>same time</a:t>
            </a:r>
            <a:r>
              <a:rPr lang="en-US" sz="1150" dirty="0">
                <a:solidFill>
                  <a:srgbClr val="262B3A"/>
                </a:solidFill>
                <a:latin typeface="Calibri" pitchFamily="34" charset="0"/>
                <a:ea typeface="Calibri" pitchFamily="34" charset="-122"/>
                <a:cs typeface="Calibri" pitchFamily="34" charset="-120"/>
              </a:rPr>
              <a:t>, so their changes in momentum are equal and opposite.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Explosion</a:t>
            </a:r>
            <a:r>
              <a:rPr lang="en-US" sz="1150" dirty="0">
                <a:solidFill>
                  <a:srgbClr val="262B3A"/>
                </a:solidFill>
                <a:latin typeface="Calibri" pitchFamily="34" charset="0"/>
                <a:ea typeface="Calibri" pitchFamily="34" charset="-122"/>
                <a:cs typeface="Calibri" pitchFamily="34" charset="-120"/>
              </a:rPr>
              <a:t> from rest: total momentum is zero before, so the pieces move apart with </a:t>
            </a:r>
            <a:r>
              <a:rPr lang="en-US" sz="1150" b="1" dirty="0">
                <a:solidFill>
                  <a:srgbClr val="262B3A"/>
                </a:solidFill>
                <a:latin typeface="Calibri" pitchFamily="34" charset="0"/>
                <a:ea typeface="Calibri" pitchFamily="34" charset="-122"/>
                <a:cs typeface="Calibri" pitchFamily="34" charset="-120"/>
              </a:rPr>
              <a:t>equal and opposite momenta</a:t>
            </a:r>
            <a:r>
              <a:rPr lang="en-US" sz="1150" dirty="0">
                <a:solidFill>
                  <a:srgbClr val="262B3A"/>
                </a:solidFill>
                <a:latin typeface="Calibri" pitchFamily="34" charset="0"/>
                <a:ea typeface="Calibri" pitchFamily="34" charset="-122"/>
                <a:cs typeface="Calibri" pitchFamily="34" charset="-120"/>
              </a:rPr>
              <a:t> (e.g. a gun recoils).</a:t>
            </a:r>
            <a:endParaRPr lang="en-US" sz="1150" dirty="0"/>
          </a:p>
        </p:txBody>
      </p:sp>
      <p:sp>
        <p:nvSpPr>
          <p:cNvPr id="43" name="Shape 4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4" name="Text 4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5" name="Text 4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Find the velocity of the joined trolleys after the collision.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Before   </a:t>
            </a:r>
            <a:r>
              <a:rPr lang="en-US" sz="1100" dirty="0">
                <a:solidFill>
                  <a:srgbClr val="262B3A"/>
                </a:solidFill>
                <a:latin typeface="Calibri" pitchFamily="34" charset="0"/>
                <a:ea typeface="Calibri" pitchFamily="34" charset="-122"/>
                <a:cs typeface="Calibri" pitchFamily="34" charset="-120"/>
              </a:rPr>
              <a:t>p = 0.80 × 1.5 + 0.40 × 0 = 1.2 kg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After   </a:t>
            </a:r>
            <a:r>
              <a:rPr lang="en-US" sz="1100" dirty="0">
                <a:solidFill>
                  <a:srgbClr val="262B3A"/>
                </a:solidFill>
                <a:latin typeface="Calibri" pitchFamily="34" charset="0"/>
                <a:ea typeface="Calibri" pitchFamily="34" charset="-122"/>
                <a:cs typeface="Calibri" pitchFamily="34" charset="-120"/>
              </a:rPr>
              <a:t>p = (0.80 + 0.40) × v = 1.2 ×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Conserve   </a:t>
            </a:r>
            <a:r>
              <a:rPr lang="en-US" sz="1100" dirty="0">
                <a:solidFill>
                  <a:srgbClr val="262B3A"/>
                </a:solidFill>
                <a:latin typeface="Calibri" pitchFamily="34" charset="0"/>
                <a:ea typeface="Calibri" pitchFamily="34" charset="-122"/>
                <a:cs typeface="Calibri" pitchFamily="34" charset="-120"/>
              </a:rPr>
              <a:t>1.2 × v = 1.2  →  v = 1.2 ÷ 1.2</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v = 1.0 m/s to the right</a:t>
            </a:r>
            <a:endParaRPr lang="en-US" sz="1100" dirty="0"/>
          </a:p>
        </p:txBody>
      </p:sp>
      <p:sp>
        <p:nvSpPr>
          <p:cNvPr id="46"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7"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8"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Skaters A (60 kg) and B (40 kg) stand still, then push apart. B moves off at 3.0 m/s. Calculate A’s velocity.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Force and rate of change of momentum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2.26 • F = (mv − mu) ÷ t, and safety features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2.26  |  32</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1200 kg car stopping from 15 m/s: force for two stopping times (to scale)</a:t>
            </a:r>
            <a:endParaRPr lang="en-US" sz="1000" dirty="0"/>
          </a:p>
        </p:txBody>
      </p:sp>
      <p:sp>
        <p:nvSpPr>
          <p:cNvPr id="12" name="Shape 10"/>
          <p:cNvSpPr/>
          <p:nvPr/>
        </p:nvSpPr>
        <p:spPr>
          <a:xfrm>
            <a:off x="5257800" y="1371600"/>
            <a:ext cx="320040" cy="1325880"/>
          </a:xfrm>
          <a:prstGeom prst="rect">
            <a:avLst/>
          </a:prstGeom>
          <a:solidFill>
            <a:srgbClr val="8C96A8"/>
          </a:solidFill>
          <a:ln w="12700">
            <a:solidFill>
              <a:srgbClr val="6B7385"/>
            </a:solidFill>
            <a:prstDash val="solid"/>
          </a:ln>
        </p:spPr>
      </p:sp>
      <p:sp>
        <p:nvSpPr>
          <p:cNvPr id="13" name="Text 11"/>
          <p:cNvSpPr/>
          <p:nvPr/>
        </p:nvSpPr>
        <p:spPr>
          <a:xfrm>
            <a:off x="4937760" y="2697480"/>
            <a:ext cx="10058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wall</a:t>
            </a:r>
            <a:endParaRPr lang="en-US" sz="1000" dirty="0"/>
          </a:p>
        </p:txBody>
      </p:sp>
      <p:sp>
        <p:nvSpPr>
          <p:cNvPr id="14" name="Shape 12"/>
          <p:cNvSpPr/>
          <p:nvPr/>
        </p:nvSpPr>
        <p:spPr>
          <a:xfrm>
            <a:off x="3566160" y="2697480"/>
            <a:ext cx="1691640" cy="73152"/>
          </a:xfrm>
          <a:prstGeom prst="rect">
            <a:avLst/>
          </a:prstGeom>
          <a:solidFill>
            <a:srgbClr val="5A6275"/>
          </a:solidFill>
          <a:ln/>
        </p:spPr>
      </p:sp>
      <p:sp>
        <p:nvSpPr>
          <p:cNvPr id="15" name="Shape 13"/>
          <p:cNvSpPr/>
          <p:nvPr/>
        </p:nvSpPr>
        <p:spPr>
          <a:xfrm>
            <a:off x="4155034" y="1942186"/>
            <a:ext cx="905256" cy="279806"/>
          </a:xfrm>
          <a:prstGeom prst="roundRect">
            <a:avLst>
              <a:gd name="adj" fmla="val 26144"/>
            </a:avLst>
          </a:prstGeom>
          <a:solidFill>
            <a:srgbClr val="2E5BD8"/>
          </a:solidFill>
          <a:ln w="12700">
            <a:solidFill>
              <a:srgbClr val="1F2A4A"/>
            </a:solidFill>
            <a:prstDash val="solid"/>
          </a:ln>
        </p:spPr>
      </p:sp>
      <p:sp>
        <p:nvSpPr>
          <p:cNvPr id="16" name="Shape 14"/>
          <p:cNvSpPr/>
          <p:nvPr/>
        </p:nvSpPr>
        <p:spPr>
          <a:xfrm>
            <a:off x="4200754" y="1978762"/>
            <a:ext cx="813816" cy="224942"/>
          </a:xfrm>
          <a:prstGeom prst="roundRect">
            <a:avLst>
              <a:gd name="adj" fmla="val 20325"/>
            </a:avLst>
          </a:prstGeom>
          <a:solidFill>
            <a:srgbClr val="DCE8FA"/>
          </a:solidFill>
          <a:ln/>
        </p:spPr>
      </p:sp>
      <p:sp>
        <p:nvSpPr>
          <p:cNvPr id="17" name="Shape 15"/>
          <p:cNvSpPr/>
          <p:nvPr/>
        </p:nvSpPr>
        <p:spPr>
          <a:xfrm>
            <a:off x="3611880" y="2203704"/>
            <a:ext cx="1645920" cy="362102"/>
          </a:xfrm>
          <a:prstGeom prst="roundRect">
            <a:avLst>
              <a:gd name="adj" fmla="val 15152"/>
            </a:avLst>
          </a:prstGeom>
          <a:solidFill>
            <a:srgbClr val="2E5BD8"/>
          </a:solidFill>
          <a:ln w="12700">
            <a:solidFill>
              <a:srgbClr val="1F2A4A"/>
            </a:solidFill>
            <a:prstDash val="solid"/>
          </a:ln>
        </p:spPr>
      </p:sp>
      <p:sp>
        <p:nvSpPr>
          <p:cNvPr id="18" name="Shape 16"/>
          <p:cNvSpPr/>
          <p:nvPr/>
        </p:nvSpPr>
        <p:spPr>
          <a:xfrm>
            <a:off x="3809390" y="2434133"/>
            <a:ext cx="263347" cy="263347"/>
          </a:xfrm>
          <a:prstGeom prst="ellipse">
            <a:avLst/>
          </a:prstGeom>
          <a:solidFill>
            <a:srgbClr val="2A2F3A"/>
          </a:solidFill>
          <a:ln w="9525">
            <a:solidFill>
              <a:srgbClr val="1F2430"/>
            </a:solidFill>
            <a:prstDash val="solid"/>
          </a:ln>
        </p:spPr>
      </p:sp>
      <p:sp>
        <p:nvSpPr>
          <p:cNvPr id="19" name="Shape 17"/>
          <p:cNvSpPr/>
          <p:nvPr/>
        </p:nvSpPr>
        <p:spPr>
          <a:xfrm>
            <a:off x="4796942" y="2434133"/>
            <a:ext cx="263347" cy="263347"/>
          </a:xfrm>
          <a:prstGeom prst="ellipse">
            <a:avLst/>
          </a:prstGeom>
          <a:solidFill>
            <a:srgbClr val="2A2F3A"/>
          </a:solidFill>
          <a:ln w="9525">
            <a:solidFill>
              <a:srgbClr val="1F2430"/>
            </a:solidFill>
            <a:prstDash val="solid"/>
          </a:ln>
        </p:spPr>
      </p:sp>
      <p:sp>
        <p:nvSpPr>
          <p:cNvPr id="20" name="Shape 18"/>
          <p:cNvSpPr/>
          <p:nvPr/>
        </p:nvSpPr>
        <p:spPr>
          <a:xfrm>
            <a:off x="4800600" y="2152498"/>
            <a:ext cx="438912" cy="393192"/>
          </a:xfrm>
          <a:prstGeom prst="rect">
            <a:avLst/>
          </a:prstGeom>
          <a:solidFill>
            <a:srgbClr val="F5A742">
              <a:alpha val="70000"/>
            </a:srgbClr>
          </a:solidFill>
          <a:ln/>
        </p:spPr>
      </p:sp>
      <p:sp>
        <p:nvSpPr>
          <p:cNvPr id="21" name="Shape 19"/>
          <p:cNvSpPr/>
          <p:nvPr/>
        </p:nvSpPr>
        <p:spPr>
          <a:xfrm flipH="1" flipV="1">
            <a:off x="3931920" y="1417320"/>
            <a:ext cx="1051560" cy="780898"/>
          </a:xfrm>
          <a:prstGeom prst="line">
            <a:avLst/>
          </a:prstGeom>
          <a:noFill/>
          <a:ln w="9525">
            <a:solidFill>
              <a:srgbClr val="6B7385"/>
            </a:solidFill>
            <a:prstDash val="solid"/>
          </a:ln>
        </p:spPr>
      </p:sp>
      <p:sp>
        <p:nvSpPr>
          <p:cNvPr id="22" name="Text 20"/>
          <p:cNvSpPr/>
          <p:nvPr/>
        </p:nvSpPr>
        <p:spPr>
          <a:xfrm>
            <a:off x="2606040" y="1289304"/>
            <a:ext cx="128016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crumple zone</a:t>
            </a:r>
            <a:endParaRPr lang="en-US" sz="1050" dirty="0"/>
          </a:p>
        </p:txBody>
      </p:sp>
      <p:sp>
        <p:nvSpPr>
          <p:cNvPr id="23" name="Shape 21"/>
          <p:cNvSpPr/>
          <p:nvPr/>
        </p:nvSpPr>
        <p:spPr>
          <a:xfrm>
            <a:off x="914400" y="2286000"/>
            <a:ext cx="2377440" cy="91"/>
          </a:xfrm>
          <a:prstGeom prst="line">
            <a:avLst/>
          </a:prstGeom>
          <a:noFill/>
          <a:ln w="38100">
            <a:solidFill>
              <a:srgbClr val="2E8B57"/>
            </a:solidFill>
            <a:prstDash val="solid"/>
            <a:tailEnd type="triangle"/>
          </a:ln>
        </p:spPr>
      </p:sp>
      <p:sp>
        <p:nvSpPr>
          <p:cNvPr id="24" name="Text 22"/>
          <p:cNvSpPr/>
          <p:nvPr/>
        </p:nvSpPr>
        <p:spPr>
          <a:xfrm>
            <a:off x="914400" y="1965960"/>
            <a:ext cx="237744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u = 15 m/s → v = 0</a:t>
            </a:r>
            <a:endParaRPr lang="en-US" sz="1100" dirty="0"/>
          </a:p>
        </p:txBody>
      </p:sp>
      <p:sp>
        <p:nvSpPr>
          <p:cNvPr id="25" name="Text 23"/>
          <p:cNvSpPr/>
          <p:nvPr/>
        </p:nvSpPr>
        <p:spPr>
          <a:xfrm>
            <a:off x="685800" y="3063240"/>
            <a:ext cx="502920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Average force on the car</a:t>
            </a:r>
            <a:endParaRPr lang="en-US" sz="1150" dirty="0"/>
          </a:p>
        </p:txBody>
      </p:sp>
      <p:sp>
        <p:nvSpPr>
          <p:cNvPr id="26" name="Text 24"/>
          <p:cNvSpPr/>
          <p:nvPr/>
        </p:nvSpPr>
        <p:spPr>
          <a:xfrm>
            <a:off x="685800" y="3429000"/>
            <a:ext cx="4023360" cy="219456"/>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stops in 0.05 s (rigid)</a:t>
            </a:r>
            <a:endParaRPr lang="en-US" sz="1050" dirty="0"/>
          </a:p>
        </p:txBody>
      </p:sp>
      <p:sp>
        <p:nvSpPr>
          <p:cNvPr id="27" name="Shape 25"/>
          <p:cNvSpPr/>
          <p:nvPr/>
        </p:nvSpPr>
        <p:spPr>
          <a:xfrm>
            <a:off x="685800" y="3675888"/>
            <a:ext cx="3840480" cy="292608"/>
          </a:xfrm>
          <a:prstGeom prst="rect">
            <a:avLst/>
          </a:prstGeom>
          <a:solidFill>
            <a:srgbClr val="C8414C"/>
          </a:solidFill>
          <a:ln/>
        </p:spPr>
      </p:sp>
      <p:sp>
        <p:nvSpPr>
          <p:cNvPr id="28" name="Text 26"/>
          <p:cNvSpPr/>
          <p:nvPr/>
        </p:nvSpPr>
        <p:spPr>
          <a:xfrm>
            <a:off x="4572000" y="3675888"/>
            <a:ext cx="1280160" cy="292608"/>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360 000 N</a:t>
            </a:r>
            <a:endParaRPr lang="en-US" sz="1050" dirty="0"/>
          </a:p>
        </p:txBody>
      </p:sp>
      <p:sp>
        <p:nvSpPr>
          <p:cNvPr id="29" name="Text 27"/>
          <p:cNvSpPr/>
          <p:nvPr/>
        </p:nvSpPr>
        <p:spPr>
          <a:xfrm>
            <a:off x="685800" y="4206240"/>
            <a:ext cx="4023360" cy="219456"/>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stops in 0.20 s (crumple zone)</a:t>
            </a:r>
            <a:endParaRPr lang="en-US" sz="1050" dirty="0"/>
          </a:p>
        </p:txBody>
      </p:sp>
      <p:sp>
        <p:nvSpPr>
          <p:cNvPr id="30" name="Shape 28"/>
          <p:cNvSpPr/>
          <p:nvPr/>
        </p:nvSpPr>
        <p:spPr>
          <a:xfrm>
            <a:off x="685800" y="4453128"/>
            <a:ext cx="960120" cy="292608"/>
          </a:xfrm>
          <a:prstGeom prst="rect">
            <a:avLst/>
          </a:prstGeom>
          <a:solidFill>
            <a:srgbClr val="2E8B57"/>
          </a:solidFill>
          <a:ln/>
        </p:spPr>
      </p:sp>
      <p:sp>
        <p:nvSpPr>
          <p:cNvPr id="31" name="Text 29"/>
          <p:cNvSpPr/>
          <p:nvPr/>
        </p:nvSpPr>
        <p:spPr>
          <a:xfrm>
            <a:off x="1691640" y="4453128"/>
            <a:ext cx="1280160" cy="292608"/>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90 000 N</a:t>
            </a:r>
            <a:endParaRPr lang="en-US" sz="1050" dirty="0"/>
          </a:p>
        </p:txBody>
      </p:sp>
      <p:sp>
        <p:nvSpPr>
          <p:cNvPr id="32" name="Shape 30"/>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Force = change in momentum ÷ time</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F = (mv − mu) ÷ t</a:t>
            </a:r>
            <a:r>
              <a:rPr lang="en-US" sz="1150" dirty="0">
                <a:solidFill>
                  <a:srgbClr val="262B3A"/>
                </a:solidFill>
                <a:latin typeface="Calibri" pitchFamily="34" charset="0"/>
                <a:ea typeface="Calibri" pitchFamily="34" charset="-122"/>
                <a:cs typeface="Calibri" pitchFamily="34" charset="-120"/>
              </a:rPr>
              <a:t>   force (N) = change in momentum (kg m/s) ÷ time (s)</a:t>
            </a:r>
            <a:endParaRPr lang="en-US" sz="1150" dirty="0"/>
          </a:p>
          <a:p>
            <a:pPr indent="0" marL="0">
              <a:spcAft>
                <a:spcPts val="300"/>
              </a:spcAft>
              <a:buNone/>
            </a:pPr>
            <a:r>
              <a:rPr lang="en-US" sz="1050" b="1" dirty="0">
                <a:solidFill>
                  <a:srgbClr val="2E8B57"/>
                </a:solidFill>
                <a:latin typeface="Calibri" pitchFamily="34" charset="0"/>
                <a:ea typeface="Calibri" pitchFamily="34" charset="-122"/>
                <a:cs typeface="Calibri" pitchFamily="34" charset="-120"/>
              </a:rPr>
              <a:t>GIVEN on the Physics Equations List (Higher).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For the same change in momentum, a </a:t>
            </a:r>
            <a:r>
              <a:rPr lang="en-US" sz="1150" b="1" dirty="0">
                <a:solidFill>
                  <a:srgbClr val="262B3A"/>
                </a:solidFill>
                <a:latin typeface="Calibri" pitchFamily="34" charset="0"/>
                <a:ea typeface="Calibri" pitchFamily="34" charset="-122"/>
                <a:cs typeface="Calibri" pitchFamily="34" charset="-120"/>
              </a:rPr>
              <a:t>longer time</a:t>
            </a:r>
            <a:r>
              <a:rPr lang="en-US" sz="1150" dirty="0">
                <a:solidFill>
                  <a:srgbClr val="262B3A"/>
                </a:solidFill>
                <a:latin typeface="Calibri" pitchFamily="34" charset="0"/>
                <a:ea typeface="Calibri" pitchFamily="34" charset="-122"/>
                <a:cs typeface="Calibri" pitchFamily="34" charset="-120"/>
              </a:rPr>
              <a:t> means a </a:t>
            </a:r>
            <a:r>
              <a:rPr lang="en-US" sz="1150" b="1" dirty="0">
                <a:solidFill>
                  <a:srgbClr val="262B3A"/>
                </a:solidFill>
                <a:latin typeface="Calibri" pitchFamily="34" charset="0"/>
                <a:ea typeface="Calibri" pitchFamily="34" charset="-122"/>
                <a:cs typeface="Calibri" pitchFamily="34" charset="-120"/>
              </a:rPr>
              <a:t>smaller force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Crumple zones, airbags, seat belts, cycle helmets, crash mats</a:t>
            </a:r>
            <a:r>
              <a:rPr lang="en-US" sz="1150" dirty="0">
                <a:solidFill>
                  <a:srgbClr val="262B3A"/>
                </a:solidFill>
                <a:latin typeface="Calibri" pitchFamily="34" charset="0"/>
                <a:ea typeface="Calibri" pitchFamily="34" charset="-122"/>
                <a:cs typeface="Calibri" pitchFamily="34" charset="-120"/>
              </a:rPr>
              <a:t> all increase the time of the collision, reducing the force (and deceleration) on the people.</a:t>
            </a:r>
            <a:endParaRPr lang="en-US" sz="115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The 1200 kg car stops from 15 m/s in 0.20 s. Calculate the average force.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F = (mv − mu) ÷ 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Change in p   </a:t>
            </a:r>
            <a:r>
              <a:rPr lang="en-US" sz="1100" dirty="0">
                <a:solidFill>
                  <a:srgbClr val="262B3A"/>
                </a:solidFill>
                <a:latin typeface="Calibri" pitchFamily="34" charset="0"/>
                <a:ea typeface="Calibri" pitchFamily="34" charset="-122"/>
                <a:cs typeface="Calibri" pitchFamily="34" charset="-120"/>
              </a:rPr>
              <a:t>mv − mu = 1200 × 0 − 1200 × 15 = −18 000 kg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F = −18 000 ÷ 0.20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F = −90 000 N (size 9.0 × 10⁴ N, opposing motion)</a:t>
            </a:r>
            <a:endParaRPr lang="en-US" sz="110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footballer kicks a 0.45 kg ball from rest to 20 m/s. The contact time is 0.010 s. Calculate the average force.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7</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2.24–2.26 • momentum (Higher)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7  |  33</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momentum of a </a:t>
            </a:r>
            <a:r>
              <a:rPr lang="en-US" sz="1250" b="1" dirty="0">
                <a:solidFill>
                  <a:srgbClr val="262B3A"/>
                </a:solidFill>
                <a:latin typeface="Calibri" pitchFamily="34" charset="0"/>
                <a:ea typeface="Calibri" pitchFamily="34" charset="-122"/>
                <a:cs typeface="Calibri" pitchFamily="34" charset="-120"/>
              </a:rPr>
              <a:t>0.40 kg</a:t>
            </a:r>
            <a:r>
              <a:rPr lang="en-US" sz="1250" dirty="0">
                <a:solidFill>
                  <a:srgbClr val="262B3A"/>
                </a:solidFill>
                <a:latin typeface="Calibri" pitchFamily="34" charset="0"/>
                <a:ea typeface="Calibri" pitchFamily="34" charset="-122"/>
                <a:cs typeface="Calibri" pitchFamily="34" charset="-120"/>
              </a:rPr>
              <a:t> ball moving at </a:t>
            </a:r>
            <a:r>
              <a:rPr lang="en-US" sz="1250" b="1" dirty="0">
                <a:solidFill>
                  <a:srgbClr val="262B3A"/>
                </a:solidFill>
                <a:latin typeface="Calibri" pitchFamily="34" charset="0"/>
                <a:ea typeface="Calibri" pitchFamily="34" charset="-122"/>
                <a:cs typeface="Calibri" pitchFamily="34" charset="-120"/>
              </a:rPr>
              <a:t>5.0 m/s</a:t>
            </a:r>
            <a:r>
              <a:rPr lang="en-US" sz="1250" dirty="0">
                <a:solidFill>
                  <a:srgbClr val="262B3A"/>
                </a:solidFill>
                <a:latin typeface="Calibri" pitchFamily="34" charset="0"/>
                <a:ea typeface="Calibri" pitchFamily="34" charset="-122"/>
                <a:cs typeface="Calibri" pitchFamily="34" charset="-120"/>
              </a:rPr>
              <a:t>. Give the unit.</a:t>
            </a:r>
            <a:endParaRPr lang="en-US" sz="1250" dirty="0"/>
          </a:p>
        </p:txBody>
      </p:sp>
      <p:sp>
        <p:nvSpPr>
          <p:cNvPr id="14" name="Text 12"/>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6" name="Shape 14"/>
          <p:cNvSpPr/>
          <p:nvPr/>
        </p:nvSpPr>
        <p:spPr>
          <a:xfrm>
            <a:off x="411480" y="2947416"/>
            <a:ext cx="2103120" cy="292608"/>
          </a:xfrm>
          <a:prstGeom prst="rect">
            <a:avLst/>
          </a:prstGeom>
          <a:solidFill>
            <a:srgbClr val="F5A742"/>
          </a:solidFill>
          <a:ln w="12700">
            <a:solidFill>
              <a:srgbClr val="F5A742"/>
            </a:solidFill>
            <a:prstDash val="solid"/>
          </a:ln>
        </p:spPr>
      </p:sp>
      <p:sp>
        <p:nvSpPr>
          <p:cNvPr id="17" name="Text 15"/>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Shape 16"/>
          <p:cNvSpPr/>
          <p:nvPr/>
        </p:nvSpPr>
        <p:spPr>
          <a:xfrm>
            <a:off x="2606040" y="2956560"/>
            <a:ext cx="411480" cy="274320"/>
          </a:xfrm>
          <a:prstGeom prst="roundRect">
            <a:avLst>
              <a:gd name="adj" fmla="val 50000"/>
            </a:avLst>
          </a:prstGeom>
          <a:solidFill>
            <a:srgbClr val="C8414C"/>
          </a:solidFill>
          <a:ln w="12700">
            <a:solidFill>
              <a:srgbClr val="C8414C"/>
            </a:solidFill>
            <a:prstDash val="solid"/>
          </a:ln>
        </p:spPr>
      </p:sp>
      <p:sp>
        <p:nvSpPr>
          <p:cNvPr id="19" name="Text 17"/>
          <p:cNvSpPr/>
          <p:nvPr/>
        </p:nvSpPr>
        <p:spPr>
          <a:xfrm>
            <a:off x="2606040" y="295656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0" name="Text 18"/>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1500 kg</a:t>
            </a:r>
            <a:r>
              <a:rPr lang="en-US" sz="1250" dirty="0">
                <a:solidFill>
                  <a:srgbClr val="262B3A"/>
                </a:solidFill>
                <a:latin typeface="Calibri" pitchFamily="34" charset="0"/>
                <a:ea typeface="Calibri" pitchFamily="34" charset="-122"/>
                <a:cs typeface="Calibri" pitchFamily="34" charset="-120"/>
              </a:rPr>
              <a:t> car moving at </a:t>
            </a:r>
            <a:r>
              <a:rPr lang="en-US" sz="1250" b="1" dirty="0">
                <a:solidFill>
                  <a:srgbClr val="262B3A"/>
                </a:solidFill>
                <a:latin typeface="Calibri" pitchFamily="34" charset="0"/>
                <a:ea typeface="Calibri" pitchFamily="34" charset="-122"/>
                <a:cs typeface="Calibri" pitchFamily="34" charset="-120"/>
              </a:rPr>
              <a:t>8.0 m/s</a:t>
            </a:r>
            <a:r>
              <a:rPr lang="en-US" sz="1250" dirty="0">
                <a:solidFill>
                  <a:srgbClr val="262B3A"/>
                </a:solidFill>
                <a:latin typeface="Calibri" pitchFamily="34" charset="0"/>
                <a:ea typeface="Calibri" pitchFamily="34" charset="-122"/>
                <a:cs typeface="Calibri" pitchFamily="34" charset="-120"/>
              </a:rPr>
              <a:t> hits a stationary </a:t>
            </a:r>
            <a:r>
              <a:rPr lang="en-US" sz="1250" b="1" dirty="0">
                <a:solidFill>
                  <a:srgbClr val="262B3A"/>
                </a:solidFill>
                <a:latin typeface="Calibri" pitchFamily="34" charset="0"/>
                <a:ea typeface="Calibri" pitchFamily="34" charset="-122"/>
                <a:cs typeface="Calibri" pitchFamily="34" charset="-120"/>
              </a:rPr>
              <a:t>500 kg</a:t>
            </a:r>
            <a:r>
              <a:rPr lang="en-US" sz="1250" dirty="0">
                <a:solidFill>
                  <a:srgbClr val="262B3A"/>
                </a:solidFill>
                <a:latin typeface="Calibri" pitchFamily="34" charset="0"/>
                <a:ea typeface="Calibri" pitchFamily="34" charset="-122"/>
                <a:cs typeface="Calibri" pitchFamily="34" charset="-120"/>
              </a:rPr>
              <a:t> car. They move off together. Calculate their velocity just after the collision.</a:t>
            </a:r>
            <a:endParaRPr lang="en-US" sz="1250" dirty="0"/>
          </a:p>
        </p:txBody>
      </p:sp>
      <p:sp>
        <p:nvSpPr>
          <p:cNvPr id="21" name="Text 19"/>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2" name="Shape 20"/>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23" name="Shape 21"/>
          <p:cNvSpPr/>
          <p:nvPr/>
        </p:nvSpPr>
        <p:spPr>
          <a:xfrm>
            <a:off x="411480" y="4687824"/>
            <a:ext cx="2103120" cy="292608"/>
          </a:xfrm>
          <a:prstGeom prst="rect">
            <a:avLst/>
          </a:prstGeom>
          <a:solidFill>
            <a:srgbClr val="F5A742"/>
          </a:solidFill>
          <a:ln w="12700">
            <a:solidFill>
              <a:srgbClr val="F5A742"/>
            </a:solidFill>
            <a:prstDash val="solid"/>
          </a:ln>
        </p:spPr>
      </p:sp>
      <p:sp>
        <p:nvSpPr>
          <p:cNvPr id="24" name="Text 22"/>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Shape 23"/>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an </a:t>
            </a:r>
            <a:r>
              <a:rPr lang="en-US" sz="1250" b="1" dirty="0">
                <a:solidFill>
                  <a:srgbClr val="262B3A"/>
                </a:solidFill>
                <a:latin typeface="Calibri" pitchFamily="34" charset="0"/>
                <a:ea typeface="Calibri" pitchFamily="34" charset="-122"/>
                <a:cs typeface="Calibri" pitchFamily="34" charset="-120"/>
              </a:rPr>
              <a:t>airbag</a:t>
            </a:r>
            <a:r>
              <a:rPr lang="en-US" sz="1250" dirty="0">
                <a:solidFill>
                  <a:srgbClr val="262B3A"/>
                </a:solidFill>
                <a:latin typeface="Calibri" pitchFamily="34" charset="0"/>
                <a:ea typeface="Calibri" pitchFamily="34" charset="-122"/>
                <a:cs typeface="Calibri" pitchFamily="34" charset="-120"/>
              </a:rPr>
              <a:t> reduces the force on a driver in a crash.</a:t>
            </a:r>
            <a:endParaRPr lang="en-US" sz="1250" dirty="0"/>
          </a:p>
        </p:txBody>
      </p:sp>
      <p:sp>
        <p:nvSpPr>
          <p:cNvPr id="28" name="Text 26"/>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Reaction times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2.27, 2.30 • measuring human reaction time; what affects it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2.27  |  34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ruler-drop test: the further the ruler falls, the longer the reaction time</a:t>
            </a:r>
            <a:endParaRPr lang="en-US" sz="1000" dirty="0"/>
          </a:p>
        </p:txBody>
      </p:sp>
      <p:sp>
        <p:nvSpPr>
          <p:cNvPr id="10" name="Shape 8"/>
          <p:cNvSpPr/>
          <p:nvPr/>
        </p:nvSpPr>
        <p:spPr>
          <a:xfrm>
            <a:off x="1463040" y="1371600"/>
            <a:ext cx="347472" cy="3108960"/>
          </a:xfrm>
          <a:prstGeom prst="rect">
            <a:avLst/>
          </a:prstGeom>
          <a:solidFill>
            <a:srgbClr val="F6E7B8"/>
          </a:solidFill>
          <a:ln w="9525">
            <a:solidFill>
              <a:srgbClr val="B79B4A"/>
            </a:solidFill>
            <a:prstDash val="solid"/>
          </a:ln>
        </p:spPr>
      </p:sp>
      <p:sp>
        <p:nvSpPr>
          <p:cNvPr id="11" name="Shape 9"/>
          <p:cNvSpPr/>
          <p:nvPr/>
        </p:nvSpPr>
        <p:spPr>
          <a:xfrm>
            <a:off x="1463040" y="1417320"/>
            <a:ext cx="164592" cy="91"/>
          </a:xfrm>
          <a:prstGeom prst="line">
            <a:avLst/>
          </a:prstGeom>
          <a:noFill/>
          <a:ln w="9525">
            <a:solidFill>
              <a:srgbClr val="6B5A2A"/>
            </a:solidFill>
            <a:prstDash val="solid"/>
          </a:ln>
        </p:spPr>
      </p:sp>
      <p:sp>
        <p:nvSpPr>
          <p:cNvPr id="12" name="Text 10"/>
          <p:cNvSpPr/>
          <p:nvPr/>
        </p:nvSpPr>
        <p:spPr>
          <a:xfrm>
            <a:off x="1600200" y="1325880"/>
            <a:ext cx="20116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13" name="Shape 11"/>
          <p:cNvSpPr/>
          <p:nvPr/>
        </p:nvSpPr>
        <p:spPr>
          <a:xfrm>
            <a:off x="1463040" y="1517904"/>
            <a:ext cx="73152" cy="91"/>
          </a:xfrm>
          <a:prstGeom prst="line">
            <a:avLst/>
          </a:prstGeom>
          <a:noFill/>
          <a:ln w="9525">
            <a:solidFill>
              <a:srgbClr val="6B5A2A"/>
            </a:solidFill>
            <a:prstDash val="solid"/>
          </a:ln>
        </p:spPr>
      </p:sp>
      <p:sp>
        <p:nvSpPr>
          <p:cNvPr id="14" name="Shape 12"/>
          <p:cNvSpPr/>
          <p:nvPr/>
        </p:nvSpPr>
        <p:spPr>
          <a:xfrm>
            <a:off x="1463040" y="1618488"/>
            <a:ext cx="73152" cy="91"/>
          </a:xfrm>
          <a:prstGeom prst="line">
            <a:avLst/>
          </a:prstGeom>
          <a:noFill/>
          <a:ln w="9525">
            <a:solidFill>
              <a:srgbClr val="6B5A2A"/>
            </a:solidFill>
            <a:prstDash val="solid"/>
          </a:ln>
        </p:spPr>
      </p:sp>
      <p:sp>
        <p:nvSpPr>
          <p:cNvPr id="15" name="Shape 13"/>
          <p:cNvSpPr/>
          <p:nvPr/>
        </p:nvSpPr>
        <p:spPr>
          <a:xfrm>
            <a:off x="1463040" y="1719072"/>
            <a:ext cx="73152" cy="91"/>
          </a:xfrm>
          <a:prstGeom prst="line">
            <a:avLst/>
          </a:prstGeom>
          <a:noFill/>
          <a:ln w="9525">
            <a:solidFill>
              <a:srgbClr val="6B5A2A"/>
            </a:solidFill>
            <a:prstDash val="solid"/>
          </a:ln>
        </p:spPr>
      </p:sp>
      <p:sp>
        <p:nvSpPr>
          <p:cNvPr id="16" name="Shape 14"/>
          <p:cNvSpPr/>
          <p:nvPr/>
        </p:nvSpPr>
        <p:spPr>
          <a:xfrm>
            <a:off x="1463040" y="1819656"/>
            <a:ext cx="73152" cy="91"/>
          </a:xfrm>
          <a:prstGeom prst="line">
            <a:avLst/>
          </a:prstGeom>
          <a:noFill/>
          <a:ln w="9525">
            <a:solidFill>
              <a:srgbClr val="6B5A2A"/>
            </a:solidFill>
            <a:prstDash val="solid"/>
          </a:ln>
        </p:spPr>
      </p:sp>
      <p:sp>
        <p:nvSpPr>
          <p:cNvPr id="17" name="Shape 15"/>
          <p:cNvSpPr/>
          <p:nvPr/>
        </p:nvSpPr>
        <p:spPr>
          <a:xfrm>
            <a:off x="1463040" y="1920240"/>
            <a:ext cx="164592" cy="91"/>
          </a:xfrm>
          <a:prstGeom prst="line">
            <a:avLst/>
          </a:prstGeom>
          <a:noFill/>
          <a:ln w="9525">
            <a:solidFill>
              <a:srgbClr val="6B5A2A"/>
            </a:solidFill>
            <a:prstDash val="solid"/>
          </a:ln>
        </p:spPr>
      </p:sp>
      <p:sp>
        <p:nvSpPr>
          <p:cNvPr id="18" name="Shape 16"/>
          <p:cNvSpPr/>
          <p:nvPr/>
        </p:nvSpPr>
        <p:spPr>
          <a:xfrm>
            <a:off x="1463040" y="2020824"/>
            <a:ext cx="73152" cy="91"/>
          </a:xfrm>
          <a:prstGeom prst="line">
            <a:avLst/>
          </a:prstGeom>
          <a:noFill/>
          <a:ln w="9525">
            <a:solidFill>
              <a:srgbClr val="6B5A2A"/>
            </a:solidFill>
            <a:prstDash val="solid"/>
          </a:ln>
        </p:spPr>
      </p:sp>
      <p:sp>
        <p:nvSpPr>
          <p:cNvPr id="19" name="Shape 17"/>
          <p:cNvSpPr/>
          <p:nvPr/>
        </p:nvSpPr>
        <p:spPr>
          <a:xfrm>
            <a:off x="1463040" y="2121408"/>
            <a:ext cx="73152" cy="91"/>
          </a:xfrm>
          <a:prstGeom prst="line">
            <a:avLst/>
          </a:prstGeom>
          <a:noFill/>
          <a:ln w="9525">
            <a:solidFill>
              <a:srgbClr val="6B5A2A"/>
            </a:solidFill>
            <a:prstDash val="solid"/>
          </a:ln>
        </p:spPr>
      </p:sp>
      <p:sp>
        <p:nvSpPr>
          <p:cNvPr id="20" name="Shape 18"/>
          <p:cNvSpPr/>
          <p:nvPr/>
        </p:nvSpPr>
        <p:spPr>
          <a:xfrm>
            <a:off x="1463040" y="2221992"/>
            <a:ext cx="73152" cy="91"/>
          </a:xfrm>
          <a:prstGeom prst="line">
            <a:avLst/>
          </a:prstGeom>
          <a:noFill/>
          <a:ln w="9525">
            <a:solidFill>
              <a:srgbClr val="6B5A2A"/>
            </a:solidFill>
            <a:prstDash val="solid"/>
          </a:ln>
        </p:spPr>
      </p:sp>
      <p:sp>
        <p:nvSpPr>
          <p:cNvPr id="21" name="Shape 19"/>
          <p:cNvSpPr/>
          <p:nvPr/>
        </p:nvSpPr>
        <p:spPr>
          <a:xfrm>
            <a:off x="1463040" y="2322576"/>
            <a:ext cx="73152" cy="91"/>
          </a:xfrm>
          <a:prstGeom prst="line">
            <a:avLst/>
          </a:prstGeom>
          <a:noFill/>
          <a:ln w="9525">
            <a:solidFill>
              <a:srgbClr val="6B5A2A"/>
            </a:solidFill>
            <a:prstDash val="solid"/>
          </a:ln>
        </p:spPr>
      </p:sp>
      <p:sp>
        <p:nvSpPr>
          <p:cNvPr id="22" name="Shape 20"/>
          <p:cNvSpPr/>
          <p:nvPr/>
        </p:nvSpPr>
        <p:spPr>
          <a:xfrm>
            <a:off x="1463040" y="2423160"/>
            <a:ext cx="164592" cy="91"/>
          </a:xfrm>
          <a:prstGeom prst="line">
            <a:avLst/>
          </a:prstGeom>
          <a:noFill/>
          <a:ln w="9525">
            <a:solidFill>
              <a:srgbClr val="6B5A2A"/>
            </a:solidFill>
            <a:prstDash val="solid"/>
          </a:ln>
        </p:spPr>
      </p:sp>
      <p:sp>
        <p:nvSpPr>
          <p:cNvPr id="23" name="Text 21"/>
          <p:cNvSpPr/>
          <p:nvPr/>
        </p:nvSpPr>
        <p:spPr>
          <a:xfrm>
            <a:off x="1600200" y="2331720"/>
            <a:ext cx="20116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4" name="Shape 22"/>
          <p:cNvSpPr/>
          <p:nvPr/>
        </p:nvSpPr>
        <p:spPr>
          <a:xfrm>
            <a:off x="1463040" y="2523744"/>
            <a:ext cx="73152" cy="91"/>
          </a:xfrm>
          <a:prstGeom prst="line">
            <a:avLst/>
          </a:prstGeom>
          <a:noFill/>
          <a:ln w="9525">
            <a:solidFill>
              <a:srgbClr val="6B5A2A"/>
            </a:solidFill>
            <a:prstDash val="solid"/>
          </a:ln>
        </p:spPr>
      </p:sp>
      <p:sp>
        <p:nvSpPr>
          <p:cNvPr id="25" name="Shape 23"/>
          <p:cNvSpPr/>
          <p:nvPr/>
        </p:nvSpPr>
        <p:spPr>
          <a:xfrm>
            <a:off x="1463040" y="2624328"/>
            <a:ext cx="73152" cy="91"/>
          </a:xfrm>
          <a:prstGeom prst="line">
            <a:avLst/>
          </a:prstGeom>
          <a:noFill/>
          <a:ln w="9525">
            <a:solidFill>
              <a:srgbClr val="6B5A2A"/>
            </a:solidFill>
            <a:prstDash val="solid"/>
          </a:ln>
        </p:spPr>
      </p:sp>
      <p:sp>
        <p:nvSpPr>
          <p:cNvPr id="26" name="Shape 24"/>
          <p:cNvSpPr/>
          <p:nvPr/>
        </p:nvSpPr>
        <p:spPr>
          <a:xfrm>
            <a:off x="1463040" y="2724912"/>
            <a:ext cx="73152" cy="91"/>
          </a:xfrm>
          <a:prstGeom prst="line">
            <a:avLst/>
          </a:prstGeom>
          <a:noFill/>
          <a:ln w="9525">
            <a:solidFill>
              <a:srgbClr val="6B5A2A"/>
            </a:solidFill>
            <a:prstDash val="solid"/>
          </a:ln>
        </p:spPr>
      </p:sp>
      <p:sp>
        <p:nvSpPr>
          <p:cNvPr id="27" name="Shape 25"/>
          <p:cNvSpPr/>
          <p:nvPr/>
        </p:nvSpPr>
        <p:spPr>
          <a:xfrm>
            <a:off x="1463040" y="2825496"/>
            <a:ext cx="73152" cy="91"/>
          </a:xfrm>
          <a:prstGeom prst="line">
            <a:avLst/>
          </a:prstGeom>
          <a:noFill/>
          <a:ln w="9525">
            <a:solidFill>
              <a:srgbClr val="6B5A2A"/>
            </a:solidFill>
            <a:prstDash val="solid"/>
          </a:ln>
        </p:spPr>
      </p:sp>
      <p:sp>
        <p:nvSpPr>
          <p:cNvPr id="28" name="Shape 26"/>
          <p:cNvSpPr/>
          <p:nvPr/>
        </p:nvSpPr>
        <p:spPr>
          <a:xfrm>
            <a:off x="1463040" y="2926080"/>
            <a:ext cx="164592" cy="91"/>
          </a:xfrm>
          <a:prstGeom prst="line">
            <a:avLst/>
          </a:prstGeom>
          <a:noFill/>
          <a:ln w="9525">
            <a:solidFill>
              <a:srgbClr val="6B5A2A"/>
            </a:solidFill>
            <a:prstDash val="solid"/>
          </a:ln>
        </p:spPr>
      </p:sp>
      <p:sp>
        <p:nvSpPr>
          <p:cNvPr id="29" name="Shape 27"/>
          <p:cNvSpPr/>
          <p:nvPr/>
        </p:nvSpPr>
        <p:spPr>
          <a:xfrm>
            <a:off x="1463040" y="3026664"/>
            <a:ext cx="73152" cy="91"/>
          </a:xfrm>
          <a:prstGeom prst="line">
            <a:avLst/>
          </a:prstGeom>
          <a:noFill/>
          <a:ln w="9525">
            <a:solidFill>
              <a:srgbClr val="6B5A2A"/>
            </a:solidFill>
            <a:prstDash val="solid"/>
          </a:ln>
        </p:spPr>
      </p:sp>
      <p:sp>
        <p:nvSpPr>
          <p:cNvPr id="30" name="Shape 28"/>
          <p:cNvSpPr/>
          <p:nvPr/>
        </p:nvSpPr>
        <p:spPr>
          <a:xfrm>
            <a:off x="1463040" y="3127248"/>
            <a:ext cx="73152" cy="91"/>
          </a:xfrm>
          <a:prstGeom prst="line">
            <a:avLst/>
          </a:prstGeom>
          <a:noFill/>
          <a:ln w="9525">
            <a:solidFill>
              <a:srgbClr val="6B5A2A"/>
            </a:solidFill>
            <a:prstDash val="solid"/>
          </a:ln>
        </p:spPr>
      </p:sp>
      <p:sp>
        <p:nvSpPr>
          <p:cNvPr id="31" name="Shape 29"/>
          <p:cNvSpPr/>
          <p:nvPr/>
        </p:nvSpPr>
        <p:spPr>
          <a:xfrm>
            <a:off x="1463040" y="3227832"/>
            <a:ext cx="73152" cy="91"/>
          </a:xfrm>
          <a:prstGeom prst="line">
            <a:avLst/>
          </a:prstGeom>
          <a:noFill/>
          <a:ln w="9525">
            <a:solidFill>
              <a:srgbClr val="6B5A2A"/>
            </a:solidFill>
            <a:prstDash val="solid"/>
          </a:ln>
        </p:spPr>
      </p:sp>
      <p:sp>
        <p:nvSpPr>
          <p:cNvPr id="32" name="Shape 30"/>
          <p:cNvSpPr/>
          <p:nvPr/>
        </p:nvSpPr>
        <p:spPr>
          <a:xfrm>
            <a:off x="1463040" y="3328416"/>
            <a:ext cx="73152" cy="91"/>
          </a:xfrm>
          <a:prstGeom prst="line">
            <a:avLst/>
          </a:prstGeom>
          <a:noFill/>
          <a:ln w="9525">
            <a:solidFill>
              <a:srgbClr val="6B5A2A"/>
            </a:solidFill>
            <a:prstDash val="solid"/>
          </a:ln>
        </p:spPr>
      </p:sp>
      <p:sp>
        <p:nvSpPr>
          <p:cNvPr id="33" name="Shape 31"/>
          <p:cNvSpPr/>
          <p:nvPr/>
        </p:nvSpPr>
        <p:spPr>
          <a:xfrm>
            <a:off x="1463040" y="3429000"/>
            <a:ext cx="164592" cy="91"/>
          </a:xfrm>
          <a:prstGeom prst="line">
            <a:avLst/>
          </a:prstGeom>
          <a:noFill/>
          <a:ln w="9525">
            <a:solidFill>
              <a:srgbClr val="6B5A2A"/>
            </a:solidFill>
            <a:prstDash val="solid"/>
          </a:ln>
        </p:spPr>
      </p:sp>
      <p:sp>
        <p:nvSpPr>
          <p:cNvPr id="34" name="Text 32"/>
          <p:cNvSpPr/>
          <p:nvPr/>
        </p:nvSpPr>
        <p:spPr>
          <a:xfrm>
            <a:off x="1600200" y="3337560"/>
            <a:ext cx="20116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5" name="Shape 33"/>
          <p:cNvSpPr/>
          <p:nvPr/>
        </p:nvSpPr>
        <p:spPr>
          <a:xfrm>
            <a:off x="1463040" y="3529584"/>
            <a:ext cx="73152" cy="91"/>
          </a:xfrm>
          <a:prstGeom prst="line">
            <a:avLst/>
          </a:prstGeom>
          <a:noFill/>
          <a:ln w="9525">
            <a:solidFill>
              <a:srgbClr val="6B5A2A"/>
            </a:solidFill>
            <a:prstDash val="solid"/>
          </a:ln>
        </p:spPr>
      </p:sp>
      <p:sp>
        <p:nvSpPr>
          <p:cNvPr id="36" name="Shape 34"/>
          <p:cNvSpPr/>
          <p:nvPr/>
        </p:nvSpPr>
        <p:spPr>
          <a:xfrm>
            <a:off x="1463040" y="3630168"/>
            <a:ext cx="73152" cy="91"/>
          </a:xfrm>
          <a:prstGeom prst="line">
            <a:avLst/>
          </a:prstGeom>
          <a:noFill/>
          <a:ln w="9525">
            <a:solidFill>
              <a:srgbClr val="6B5A2A"/>
            </a:solidFill>
            <a:prstDash val="solid"/>
          </a:ln>
        </p:spPr>
      </p:sp>
      <p:sp>
        <p:nvSpPr>
          <p:cNvPr id="37" name="Shape 35"/>
          <p:cNvSpPr/>
          <p:nvPr/>
        </p:nvSpPr>
        <p:spPr>
          <a:xfrm>
            <a:off x="1463040" y="3730752"/>
            <a:ext cx="73152" cy="91"/>
          </a:xfrm>
          <a:prstGeom prst="line">
            <a:avLst/>
          </a:prstGeom>
          <a:noFill/>
          <a:ln w="9525">
            <a:solidFill>
              <a:srgbClr val="6B5A2A"/>
            </a:solidFill>
            <a:prstDash val="solid"/>
          </a:ln>
        </p:spPr>
      </p:sp>
      <p:sp>
        <p:nvSpPr>
          <p:cNvPr id="38" name="Shape 36"/>
          <p:cNvSpPr/>
          <p:nvPr/>
        </p:nvSpPr>
        <p:spPr>
          <a:xfrm>
            <a:off x="1463040" y="3831336"/>
            <a:ext cx="73152" cy="91"/>
          </a:xfrm>
          <a:prstGeom prst="line">
            <a:avLst/>
          </a:prstGeom>
          <a:noFill/>
          <a:ln w="9525">
            <a:solidFill>
              <a:srgbClr val="6B5A2A"/>
            </a:solidFill>
            <a:prstDash val="solid"/>
          </a:ln>
        </p:spPr>
      </p:sp>
      <p:sp>
        <p:nvSpPr>
          <p:cNvPr id="39" name="Shape 37"/>
          <p:cNvSpPr/>
          <p:nvPr/>
        </p:nvSpPr>
        <p:spPr>
          <a:xfrm>
            <a:off x="1463040" y="3931920"/>
            <a:ext cx="164592" cy="91"/>
          </a:xfrm>
          <a:prstGeom prst="line">
            <a:avLst/>
          </a:prstGeom>
          <a:noFill/>
          <a:ln w="9525">
            <a:solidFill>
              <a:srgbClr val="6B5A2A"/>
            </a:solidFill>
            <a:prstDash val="solid"/>
          </a:ln>
        </p:spPr>
      </p:sp>
      <p:sp>
        <p:nvSpPr>
          <p:cNvPr id="40" name="Shape 38"/>
          <p:cNvSpPr/>
          <p:nvPr/>
        </p:nvSpPr>
        <p:spPr>
          <a:xfrm>
            <a:off x="1463040" y="4032504"/>
            <a:ext cx="73152" cy="91"/>
          </a:xfrm>
          <a:prstGeom prst="line">
            <a:avLst/>
          </a:prstGeom>
          <a:noFill/>
          <a:ln w="9525">
            <a:solidFill>
              <a:srgbClr val="6B5A2A"/>
            </a:solidFill>
            <a:prstDash val="solid"/>
          </a:ln>
        </p:spPr>
      </p:sp>
      <p:sp>
        <p:nvSpPr>
          <p:cNvPr id="41" name="Shape 39"/>
          <p:cNvSpPr/>
          <p:nvPr/>
        </p:nvSpPr>
        <p:spPr>
          <a:xfrm>
            <a:off x="1463040" y="4133088"/>
            <a:ext cx="73152" cy="91"/>
          </a:xfrm>
          <a:prstGeom prst="line">
            <a:avLst/>
          </a:prstGeom>
          <a:noFill/>
          <a:ln w="9525">
            <a:solidFill>
              <a:srgbClr val="6B5A2A"/>
            </a:solidFill>
            <a:prstDash val="solid"/>
          </a:ln>
        </p:spPr>
      </p:sp>
      <p:sp>
        <p:nvSpPr>
          <p:cNvPr id="42" name="Shape 40"/>
          <p:cNvSpPr/>
          <p:nvPr/>
        </p:nvSpPr>
        <p:spPr>
          <a:xfrm>
            <a:off x="1463040" y="4233672"/>
            <a:ext cx="73152" cy="91"/>
          </a:xfrm>
          <a:prstGeom prst="line">
            <a:avLst/>
          </a:prstGeom>
          <a:noFill/>
          <a:ln w="9525">
            <a:solidFill>
              <a:srgbClr val="6B5A2A"/>
            </a:solidFill>
            <a:prstDash val="solid"/>
          </a:ln>
        </p:spPr>
      </p:sp>
      <p:sp>
        <p:nvSpPr>
          <p:cNvPr id="43" name="Shape 41"/>
          <p:cNvSpPr/>
          <p:nvPr/>
        </p:nvSpPr>
        <p:spPr>
          <a:xfrm>
            <a:off x="1463040" y="4334256"/>
            <a:ext cx="73152" cy="91"/>
          </a:xfrm>
          <a:prstGeom prst="line">
            <a:avLst/>
          </a:prstGeom>
          <a:noFill/>
          <a:ln w="9525">
            <a:solidFill>
              <a:srgbClr val="6B5A2A"/>
            </a:solidFill>
            <a:prstDash val="solid"/>
          </a:ln>
        </p:spPr>
      </p:sp>
      <p:sp>
        <p:nvSpPr>
          <p:cNvPr id="44" name="Shape 42"/>
          <p:cNvSpPr/>
          <p:nvPr/>
        </p:nvSpPr>
        <p:spPr>
          <a:xfrm>
            <a:off x="1463040" y="4434840"/>
            <a:ext cx="164592" cy="91"/>
          </a:xfrm>
          <a:prstGeom prst="line">
            <a:avLst/>
          </a:prstGeom>
          <a:noFill/>
          <a:ln w="9525">
            <a:solidFill>
              <a:srgbClr val="6B5A2A"/>
            </a:solidFill>
            <a:prstDash val="solid"/>
          </a:ln>
        </p:spPr>
      </p:sp>
      <p:sp>
        <p:nvSpPr>
          <p:cNvPr id="45" name="Text 43"/>
          <p:cNvSpPr/>
          <p:nvPr/>
        </p:nvSpPr>
        <p:spPr>
          <a:xfrm>
            <a:off x="1600200" y="4343400"/>
            <a:ext cx="20116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6" name="Shape 44"/>
          <p:cNvSpPr/>
          <p:nvPr/>
        </p:nvSpPr>
        <p:spPr>
          <a:xfrm>
            <a:off x="1051560" y="4325112"/>
            <a:ext cx="411480" cy="201168"/>
          </a:xfrm>
          <a:prstGeom prst="roundRect">
            <a:avLst>
              <a:gd name="adj" fmla="val 36364"/>
            </a:avLst>
          </a:prstGeom>
          <a:solidFill>
            <a:srgbClr val="E8B795"/>
          </a:solidFill>
          <a:ln w="12700">
            <a:solidFill>
              <a:srgbClr val="B07A55"/>
            </a:solidFill>
            <a:prstDash val="solid"/>
          </a:ln>
        </p:spPr>
      </p:sp>
      <p:sp>
        <p:nvSpPr>
          <p:cNvPr id="47" name="Shape 45"/>
          <p:cNvSpPr/>
          <p:nvPr/>
        </p:nvSpPr>
        <p:spPr>
          <a:xfrm>
            <a:off x="1810512" y="4325112"/>
            <a:ext cx="411480" cy="201168"/>
          </a:xfrm>
          <a:prstGeom prst="roundRect">
            <a:avLst>
              <a:gd name="adj" fmla="val 36364"/>
            </a:avLst>
          </a:prstGeom>
          <a:solidFill>
            <a:srgbClr val="E8B795"/>
          </a:solidFill>
          <a:ln w="12700">
            <a:solidFill>
              <a:srgbClr val="B07A55"/>
            </a:solidFill>
            <a:prstDash val="solid"/>
          </a:ln>
        </p:spPr>
      </p:sp>
      <p:sp>
        <p:nvSpPr>
          <p:cNvPr id="48" name="Text 46"/>
          <p:cNvSpPr/>
          <p:nvPr/>
        </p:nvSpPr>
        <p:spPr>
          <a:xfrm>
            <a:off x="2286000" y="4270248"/>
            <a:ext cx="146304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fingers ready at 0 cm</a:t>
            </a:r>
            <a:endParaRPr lang="en-US" sz="1000" dirty="0"/>
          </a:p>
          <a:p>
            <a:pPr algn="l" indent="0" marL="0">
              <a:buNone/>
            </a:pPr>
            <a:r>
              <a:rPr lang="en-US" sz="1000" b="1" dirty="0">
                <a:solidFill>
                  <a:srgbClr val="262B3A"/>
                </a:solidFill>
                <a:latin typeface="Calibri" pitchFamily="34" charset="0"/>
                <a:ea typeface="Calibri" pitchFamily="34" charset="-122"/>
                <a:cs typeface="Calibri" pitchFamily="34" charset="-120"/>
              </a:rPr>
              <a:t>(bottom of ruler)</a:t>
            </a:r>
            <a:endParaRPr lang="en-US" sz="1000" dirty="0"/>
          </a:p>
        </p:txBody>
      </p:sp>
      <p:sp>
        <p:nvSpPr>
          <p:cNvPr id="49" name="Shape 47"/>
          <p:cNvSpPr/>
          <p:nvPr/>
        </p:nvSpPr>
        <p:spPr>
          <a:xfrm>
            <a:off x="1005840" y="1828800"/>
            <a:ext cx="91" cy="1463040"/>
          </a:xfrm>
          <a:prstGeom prst="line">
            <a:avLst/>
          </a:prstGeom>
          <a:noFill/>
          <a:ln w="31750">
            <a:solidFill>
              <a:srgbClr val="C8414C"/>
            </a:solidFill>
            <a:prstDash val="solid"/>
            <a:tailEnd type="triangle"/>
          </a:ln>
        </p:spPr>
      </p:sp>
      <p:sp>
        <p:nvSpPr>
          <p:cNvPr id="50" name="Text 48"/>
          <p:cNvSpPr/>
          <p:nvPr/>
        </p:nvSpPr>
        <p:spPr>
          <a:xfrm>
            <a:off x="502920" y="2331720"/>
            <a:ext cx="457200" cy="411480"/>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falls</a:t>
            </a:r>
            <a:endParaRPr lang="en-US" sz="1000" dirty="0"/>
          </a:p>
        </p:txBody>
      </p:sp>
      <p:sp>
        <p:nvSpPr>
          <p:cNvPr id="51" name="Text 49"/>
          <p:cNvSpPr/>
          <p:nvPr/>
        </p:nvSpPr>
        <p:spPr>
          <a:xfrm>
            <a:off x="1965960" y="2240280"/>
            <a:ext cx="1371600" cy="365760"/>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caught at 20 cm</a:t>
            </a:r>
            <a:endParaRPr lang="en-US" sz="1000" dirty="0"/>
          </a:p>
          <a:p>
            <a:pPr algn="l" indent="0" marL="0">
              <a:buNone/>
            </a:pPr>
            <a:r>
              <a:rPr lang="en-US" sz="1000" b="1" dirty="0">
                <a:solidFill>
                  <a:srgbClr val="2E5BD8"/>
                </a:solidFill>
                <a:latin typeface="Calibri" pitchFamily="34" charset="0"/>
                <a:ea typeface="Calibri" pitchFamily="34" charset="-122"/>
                <a:cs typeface="Calibri" pitchFamily="34" charset="-120"/>
              </a:rPr>
              <a:t>from the bottom</a:t>
            </a:r>
            <a:endParaRPr lang="en-US" sz="1000" dirty="0"/>
          </a:p>
        </p:txBody>
      </p:sp>
      <p:sp>
        <p:nvSpPr>
          <p:cNvPr id="52" name="Shape 50"/>
          <p:cNvSpPr/>
          <p:nvPr/>
        </p:nvSpPr>
        <p:spPr>
          <a:xfrm>
            <a:off x="1828800" y="2423160"/>
            <a:ext cx="45720" cy="91"/>
          </a:xfrm>
          <a:prstGeom prst="line">
            <a:avLst/>
          </a:prstGeom>
          <a:noFill/>
          <a:ln w="25400">
            <a:solidFill>
              <a:srgbClr val="2E5BD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429000" y="2331720"/>
          <a:ext cx="2331720" cy="914400"/>
        </p:xfrm>
        <a:graphic>
          <a:graphicData uri="http://schemas.openxmlformats.org/drawingml/2006/table">
            <a:tbl>
              <a:tblPr/>
              <a:tblGrid>
                <a:gridCol w="1234440"/>
                <a:gridCol w="1097280"/>
              </a:tblGrid>
              <a:tr h="32918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distance fallen / cm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reaction time / 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0.20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0.25</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54" name="Text 51"/>
          <p:cNvSpPr/>
          <p:nvPr/>
        </p:nvSpPr>
        <p:spPr>
          <a:xfrm>
            <a:off x="3429000" y="4023360"/>
            <a:ext cx="2331720" cy="36576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table supplied in exams</a:t>
            </a:r>
            <a:endParaRPr lang="en-US" sz="1000" dirty="0"/>
          </a:p>
          <a:p>
            <a:pPr algn="ctr" indent="0" marL="0">
              <a:buNone/>
            </a:pPr>
            <a:r>
              <a:rPr lang="en-US" sz="1000" i="1" dirty="0">
                <a:solidFill>
                  <a:srgbClr val="6B7385"/>
                </a:solidFill>
                <a:latin typeface="Calibri" pitchFamily="34" charset="0"/>
                <a:ea typeface="Calibri" pitchFamily="34" charset="-122"/>
                <a:cs typeface="Calibri" pitchFamily="34" charset="-120"/>
              </a:rPr>
              <a:t>(from d = ½ g t²)</a:t>
            </a:r>
            <a:endParaRPr lang="en-US" sz="1000" dirty="0"/>
          </a:p>
        </p:txBody>
      </p:sp>
      <p:sp>
        <p:nvSpPr>
          <p:cNvPr id="55" name="Shape 5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6" name="Text 5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Measuring reaction time</a:t>
            </a:r>
            <a:endParaRPr lang="en-US" sz="1300" dirty="0"/>
          </a:p>
        </p:txBody>
      </p:sp>
      <p:sp>
        <p:nvSpPr>
          <p:cNvPr id="57" name="Text 5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Ruler drop:</a:t>
            </a:r>
            <a:r>
              <a:rPr lang="en-US" sz="1150" dirty="0">
                <a:solidFill>
                  <a:srgbClr val="262B3A"/>
                </a:solidFill>
                <a:latin typeface="Calibri" pitchFamily="34" charset="0"/>
                <a:ea typeface="Calibri" pitchFamily="34" charset="-122"/>
                <a:cs typeface="Calibri" pitchFamily="34" charset="-120"/>
              </a:rPr>
              <a:t> a partner drops a ruler without warning; you catch it. Read the distance fallen and convert to a time with a table. Repeat and take a mean.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Computer tests: click when the screen changes colour.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Typical reaction time: </a:t>
            </a:r>
            <a:r>
              <a:rPr lang="en-US" sz="1150" b="1" dirty="0">
                <a:solidFill>
                  <a:srgbClr val="262B3A"/>
                </a:solidFill>
                <a:latin typeface="Calibri" pitchFamily="34" charset="0"/>
                <a:ea typeface="Calibri" pitchFamily="34" charset="-122"/>
                <a:cs typeface="Calibri" pitchFamily="34" charset="-120"/>
              </a:rPr>
              <a:t>0.2 s to 0.9 s</a:t>
            </a:r>
            <a:r>
              <a:rPr lang="en-US" sz="1150" dirty="0">
                <a:solidFill>
                  <a:srgbClr val="262B3A"/>
                </a:solidFill>
                <a:latin typeface="Calibri" pitchFamily="34" charset="0"/>
                <a:ea typeface="Calibri" pitchFamily="34" charset="-122"/>
                <a:cs typeface="Calibri" pitchFamily="34" charset="-120"/>
              </a:rPr>
              <a:t> (about </a:t>
            </a:r>
            <a:r>
              <a:rPr lang="en-US" sz="1150" b="1" dirty="0">
                <a:solidFill>
                  <a:srgbClr val="262B3A"/>
                </a:solidFill>
                <a:latin typeface="Calibri" pitchFamily="34" charset="0"/>
                <a:ea typeface="Calibri" pitchFamily="34" charset="-122"/>
                <a:cs typeface="Calibri" pitchFamily="34" charset="-120"/>
              </a:rPr>
              <a:t>0.7 s</a:t>
            </a:r>
            <a:r>
              <a:rPr lang="en-US" sz="1150" dirty="0">
                <a:solidFill>
                  <a:srgbClr val="262B3A"/>
                </a:solidFill>
                <a:latin typeface="Calibri" pitchFamily="34" charset="0"/>
                <a:ea typeface="Calibri" pitchFamily="34" charset="-122"/>
                <a:cs typeface="Calibri" pitchFamily="34" charset="-120"/>
              </a:rPr>
              <a:t> for a driver in a real emergency).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Longer reaction times are caused by </a:t>
            </a:r>
            <a:r>
              <a:rPr lang="en-US" sz="1150" b="1" dirty="0">
                <a:solidFill>
                  <a:srgbClr val="262B3A"/>
                </a:solidFill>
                <a:latin typeface="Calibri" pitchFamily="34" charset="0"/>
                <a:ea typeface="Calibri" pitchFamily="34" charset="-122"/>
                <a:cs typeface="Calibri" pitchFamily="34" charset="-120"/>
              </a:rPr>
              <a:t>tiredness, alcohol, drugs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distractions</a:t>
            </a:r>
            <a:r>
              <a:rPr lang="en-US" sz="1150" dirty="0">
                <a:solidFill>
                  <a:srgbClr val="262B3A"/>
                </a:solidFill>
                <a:latin typeface="Calibri" pitchFamily="34" charset="0"/>
                <a:ea typeface="Calibri" pitchFamily="34" charset="-122"/>
                <a:cs typeface="Calibri" pitchFamily="34" charset="-120"/>
              </a:rPr>
              <a:t> (e.g. using a phone, talking).</a:t>
            </a:r>
            <a:endParaRPr lang="en-US" sz="1150" dirty="0"/>
          </a:p>
        </p:txBody>
      </p:sp>
      <p:sp>
        <p:nvSpPr>
          <p:cNvPr id="58" name="Shape 5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9" name="Text 5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Reaction time and distance</a:t>
            </a:r>
            <a:endParaRPr lang="en-US" sz="1300" dirty="0"/>
          </a:p>
        </p:txBody>
      </p:sp>
      <p:sp>
        <p:nvSpPr>
          <p:cNvPr id="60" name="Text 5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driver with a 0.70 s reaction time is travelling at 20 m/s. How far does the car go before braking starts?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distance = speed × time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d = 20 m/s × 0.70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Name   </a:t>
            </a:r>
            <a:r>
              <a:rPr lang="en-US" sz="1100" dirty="0">
                <a:solidFill>
                  <a:srgbClr val="262B3A"/>
                </a:solidFill>
                <a:latin typeface="Calibri" pitchFamily="34" charset="0"/>
                <a:ea typeface="Calibri" pitchFamily="34" charset="-122"/>
                <a:cs typeface="Calibri" pitchFamily="34" charset="-120"/>
              </a:rPr>
              <a:t>this is the thinking distance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d = 14 m</a:t>
            </a:r>
            <a:endParaRPr lang="en-US" sz="1100" dirty="0"/>
          </a:p>
        </p:txBody>
      </p:sp>
      <p:sp>
        <p:nvSpPr>
          <p:cNvPr id="61"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2"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3"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two reasons why a ruler-drop result might not be repeatable, and how to improve it.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Stopping distance = thinking + braking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2.28–2.30 • the factors that affect each part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2.28  |  35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car at 20 m/s (about 45 mph): distances to scale</a:t>
            </a:r>
            <a:endParaRPr lang="en-US" sz="1000" dirty="0"/>
          </a:p>
        </p:txBody>
      </p:sp>
      <p:sp>
        <p:nvSpPr>
          <p:cNvPr id="10" name="Shape 8"/>
          <p:cNvSpPr/>
          <p:nvPr/>
        </p:nvSpPr>
        <p:spPr>
          <a:xfrm>
            <a:off x="548640" y="2057400"/>
            <a:ext cx="5303520" cy="822960"/>
          </a:xfrm>
          <a:prstGeom prst="rect">
            <a:avLst/>
          </a:prstGeom>
          <a:solidFill>
            <a:srgbClr val="5A6275"/>
          </a:solidFill>
          <a:ln/>
        </p:spPr>
      </p:sp>
      <p:sp>
        <p:nvSpPr>
          <p:cNvPr id="11" name="Shape 9"/>
          <p:cNvSpPr/>
          <p:nvPr/>
        </p:nvSpPr>
        <p:spPr>
          <a:xfrm>
            <a:off x="548640" y="2468880"/>
            <a:ext cx="5303520" cy="91"/>
          </a:xfrm>
          <a:prstGeom prst="line">
            <a:avLst/>
          </a:prstGeom>
          <a:noFill/>
          <a:ln w="19050">
            <a:solidFill>
              <a:srgbClr val="F5F5F5"/>
            </a:solidFill>
            <a:prstDash val="dash"/>
          </a:ln>
        </p:spPr>
      </p:sp>
      <p:sp>
        <p:nvSpPr>
          <p:cNvPr id="12" name="Shape 10"/>
          <p:cNvSpPr/>
          <p:nvPr/>
        </p:nvSpPr>
        <p:spPr>
          <a:xfrm>
            <a:off x="820674" y="2311146"/>
            <a:ext cx="377190" cy="116586"/>
          </a:xfrm>
          <a:prstGeom prst="roundRect">
            <a:avLst>
              <a:gd name="adj" fmla="val 62745"/>
            </a:avLst>
          </a:prstGeom>
          <a:solidFill>
            <a:srgbClr val="2E5BD8"/>
          </a:solidFill>
          <a:ln w="12700">
            <a:solidFill>
              <a:srgbClr val="1F2A4A"/>
            </a:solidFill>
            <a:prstDash val="solid"/>
          </a:ln>
        </p:spPr>
      </p:sp>
      <p:sp>
        <p:nvSpPr>
          <p:cNvPr id="13" name="Shape 11"/>
          <p:cNvSpPr/>
          <p:nvPr/>
        </p:nvSpPr>
        <p:spPr>
          <a:xfrm>
            <a:off x="866394" y="2347722"/>
            <a:ext cx="285750" cy="61722"/>
          </a:xfrm>
          <a:prstGeom prst="roundRect">
            <a:avLst>
              <a:gd name="adj" fmla="val 74074"/>
            </a:avLst>
          </a:prstGeom>
          <a:solidFill>
            <a:srgbClr val="DCE8FA"/>
          </a:solidFill>
          <a:ln/>
        </p:spPr>
      </p:sp>
      <p:sp>
        <p:nvSpPr>
          <p:cNvPr id="14" name="Shape 12"/>
          <p:cNvSpPr/>
          <p:nvPr/>
        </p:nvSpPr>
        <p:spPr>
          <a:xfrm>
            <a:off x="594360" y="2409444"/>
            <a:ext cx="685800" cy="150876"/>
          </a:xfrm>
          <a:prstGeom prst="roundRect">
            <a:avLst>
              <a:gd name="adj" fmla="val 36364"/>
            </a:avLst>
          </a:prstGeom>
          <a:solidFill>
            <a:srgbClr val="2E5BD8"/>
          </a:solidFill>
          <a:ln w="12700">
            <a:solidFill>
              <a:srgbClr val="1F2A4A"/>
            </a:solidFill>
            <a:prstDash val="solid"/>
          </a:ln>
        </p:spPr>
      </p:sp>
      <p:sp>
        <p:nvSpPr>
          <p:cNvPr id="15" name="Shape 13"/>
          <p:cNvSpPr/>
          <p:nvPr/>
        </p:nvSpPr>
        <p:spPr>
          <a:xfrm>
            <a:off x="640080" y="2468880"/>
            <a:ext cx="182880" cy="182880"/>
          </a:xfrm>
          <a:prstGeom prst="ellipse">
            <a:avLst/>
          </a:prstGeom>
          <a:solidFill>
            <a:srgbClr val="2A2F3A"/>
          </a:solidFill>
          <a:ln w="9525">
            <a:solidFill>
              <a:srgbClr val="1F2430"/>
            </a:solidFill>
            <a:prstDash val="solid"/>
          </a:ln>
        </p:spPr>
      </p:sp>
      <p:sp>
        <p:nvSpPr>
          <p:cNvPr id="16" name="Shape 14"/>
          <p:cNvSpPr/>
          <p:nvPr/>
        </p:nvSpPr>
        <p:spPr>
          <a:xfrm>
            <a:off x="1051560" y="2468880"/>
            <a:ext cx="182880" cy="182880"/>
          </a:xfrm>
          <a:prstGeom prst="ellipse">
            <a:avLst/>
          </a:prstGeom>
          <a:solidFill>
            <a:srgbClr val="2A2F3A"/>
          </a:solidFill>
          <a:ln w="9525">
            <a:solidFill>
              <a:srgbClr val="1F2430"/>
            </a:solidFill>
            <a:prstDash val="solid"/>
          </a:ln>
        </p:spPr>
      </p:sp>
      <p:sp>
        <p:nvSpPr>
          <p:cNvPr id="17" name="Shape 15"/>
          <p:cNvSpPr/>
          <p:nvPr/>
        </p:nvSpPr>
        <p:spPr>
          <a:xfrm>
            <a:off x="1280160" y="1536192"/>
            <a:ext cx="91" cy="1344168"/>
          </a:xfrm>
          <a:prstGeom prst="line">
            <a:avLst/>
          </a:prstGeom>
          <a:noFill/>
          <a:ln w="19050">
            <a:solidFill>
              <a:srgbClr val="1A2340"/>
            </a:solidFill>
            <a:prstDash val="dash"/>
          </a:ln>
        </p:spPr>
      </p:sp>
      <p:sp>
        <p:nvSpPr>
          <p:cNvPr id="18" name="Shape 16"/>
          <p:cNvSpPr/>
          <p:nvPr/>
        </p:nvSpPr>
        <p:spPr>
          <a:xfrm>
            <a:off x="2602064" y="1536192"/>
            <a:ext cx="91" cy="1344168"/>
          </a:xfrm>
          <a:prstGeom prst="line">
            <a:avLst/>
          </a:prstGeom>
          <a:noFill/>
          <a:ln w="19050">
            <a:solidFill>
              <a:srgbClr val="1A2340"/>
            </a:solidFill>
            <a:prstDash val="dash"/>
          </a:ln>
        </p:spPr>
      </p:sp>
      <p:sp>
        <p:nvSpPr>
          <p:cNvPr id="19" name="Shape 17"/>
          <p:cNvSpPr/>
          <p:nvPr/>
        </p:nvSpPr>
        <p:spPr>
          <a:xfrm>
            <a:off x="5623560" y="1536192"/>
            <a:ext cx="91" cy="1344168"/>
          </a:xfrm>
          <a:prstGeom prst="line">
            <a:avLst/>
          </a:prstGeom>
          <a:noFill/>
          <a:ln w="19050">
            <a:solidFill>
              <a:srgbClr val="1A2340"/>
            </a:solidFill>
            <a:prstDash val="dash"/>
          </a:ln>
        </p:spPr>
      </p:sp>
      <p:sp>
        <p:nvSpPr>
          <p:cNvPr id="20" name="Text 18"/>
          <p:cNvSpPr/>
          <p:nvPr/>
        </p:nvSpPr>
        <p:spPr>
          <a:xfrm>
            <a:off x="731520" y="1280160"/>
            <a:ext cx="109728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hazard seen</a:t>
            </a:r>
            <a:endParaRPr lang="en-US" sz="1000" dirty="0"/>
          </a:p>
        </p:txBody>
      </p:sp>
      <p:sp>
        <p:nvSpPr>
          <p:cNvPr id="21" name="Text 19"/>
          <p:cNvSpPr/>
          <p:nvPr/>
        </p:nvSpPr>
        <p:spPr>
          <a:xfrm>
            <a:off x="2053424" y="1280160"/>
            <a:ext cx="109728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brakes on</a:t>
            </a:r>
            <a:endParaRPr lang="en-US" sz="1000" dirty="0"/>
          </a:p>
        </p:txBody>
      </p:sp>
      <p:sp>
        <p:nvSpPr>
          <p:cNvPr id="22" name="Text 20"/>
          <p:cNvSpPr/>
          <p:nvPr/>
        </p:nvSpPr>
        <p:spPr>
          <a:xfrm>
            <a:off x="4800600" y="1280160"/>
            <a:ext cx="914400" cy="182880"/>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stops</a:t>
            </a:r>
            <a:endParaRPr lang="en-US" sz="1000" dirty="0"/>
          </a:p>
        </p:txBody>
      </p:sp>
      <p:sp>
        <p:nvSpPr>
          <p:cNvPr id="23" name="Shape 21"/>
          <p:cNvSpPr/>
          <p:nvPr/>
        </p:nvSpPr>
        <p:spPr>
          <a:xfrm>
            <a:off x="1280160" y="2971800"/>
            <a:ext cx="1321904" cy="365760"/>
          </a:xfrm>
          <a:prstGeom prst="rect">
            <a:avLst/>
          </a:prstGeom>
          <a:solidFill>
            <a:srgbClr val="2E5BD8"/>
          </a:solidFill>
          <a:ln/>
        </p:spPr>
      </p:sp>
      <p:sp>
        <p:nvSpPr>
          <p:cNvPr id="24" name="Text 22"/>
          <p:cNvSpPr/>
          <p:nvPr/>
        </p:nvSpPr>
        <p:spPr>
          <a:xfrm>
            <a:off x="1280160" y="2971800"/>
            <a:ext cx="1321904"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thinking 14 m</a:t>
            </a:r>
            <a:endParaRPr lang="en-US" sz="1050" dirty="0"/>
          </a:p>
        </p:txBody>
      </p:sp>
      <p:sp>
        <p:nvSpPr>
          <p:cNvPr id="25" name="Shape 23"/>
          <p:cNvSpPr/>
          <p:nvPr/>
        </p:nvSpPr>
        <p:spPr>
          <a:xfrm>
            <a:off x="2602064" y="2971800"/>
            <a:ext cx="3021496" cy="365760"/>
          </a:xfrm>
          <a:prstGeom prst="rect">
            <a:avLst/>
          </a:prstGeom>
          <a:solidFill>
            <a:srgbClr val="F5A742"/>
          </a:solidFill>
          <a:ln/>
        </p:spPr>
      </p:sp>
      <p:sp>
        <p:nvSpPr>
          <p:cNvPr id="26" name="Text 24"/>
          <p:cNvSpPr/>
          <p:nvPr/>
        </p:nvSpPr>
        <p:spPr>
          <a:xfrm>
            <a:off x="2602064" y="2971800"/>
            <a:ext cx="3021496"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braking 32 m</a:t>
            </a:r>
            <a:endParaRPr lang="en-US" sz="1050" dirty="0"/>
          </a:p>
        </p:txBody>
      </p:sp>
      <p:sp>
        <p:nvSpPr>
          <p:cNvPr id="27" name="Shape 25"/>
          <p:cNvSpPr/>
          <p:nvPr/>
        </p:nvSpPr>
        <p:spPr>
          <a:xfrm>
            <a:off x="1280160" y="3611880"/>
            <a:ext cx="4343400" cy="91"/>
          </a:xfrm>
          <a:prstGeom prst="line">
            <a:avLst/>
          </a:prstGeom>
          <a:noFill/>
          <a:ln w="15875">
            <a:solidFill>
              <a:srgbClr val="1A2340"/>
            </a:solidFill>
            <a:prstDash val="solid"/>
            <a:headEnd type="triangle"/>
            <a:tailEnd type="triangle"/>
          </a:ln>
        </p:spPr>
      </p:sp>
      <p:sp>
        <p:nvSpPr>
          <p:cNvPr id="28" name="Text 26"/>
          <p:cNvSpPr/>
          <p:nvPr/>
        </p:nvSpPr>
        <p:spPr>
          <a:xfrm>
            <a:off x="1280160" y="3648456"/>
            <a:ext cx="4343400" cy="256032"/>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stopping distance = 14 + 32 = 46 m</a:t>
            </a:r>
            <a:endParaRPr lang="en-US" sz="1050" dirty="0"/>
          </a:p>
        </p:txBody>
      </p:sp>
      <p:sp>
        <p:nvSpPr>
          <p:cNvPr id="29" name="Shape 27"/>
          <p:cNvSpPr/>
          <p:nvPr/>
        </p:nvSpPr>
        <p:spPr>
          <a:xfrm>
            <a:off x="685800" y="4114800"/>
            <a:ext cx="2423160" cy="1188720"/>
          </a:xfrm>
          <a:prstGeom prst="roundRect">
            <a:avLst>
              <a:gd name="adj" fmla="val 3846"/>
            </a:avLst>
          </a:prstGeom>
          <a:solidFill>
            <a:srgbClr val="FFFFFF"/>
          </a:solidFill>
          <a:ln w="19050">
            <a:solidFill>
              <a:srgbClr val="2E5BD8"/>
            </a:solidFill>
            <a:prstDash val="solid"/>
          </a:ln>
        </p:spPr>
      </p:sp>
      <p:sp>
        <p:nvSpPr>
          <p:cNvPr id="30" name="Text 28"/>
          <p:cNvSpPr/>
          <p:nvPr/>
        </p:nvSpPr>
        <p:spPr>
          <a:xfrm>
            <a:off x="777240" y="4160520"/>
            <a:ext cx="2240280" cy="1097280"/>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Thinking distance ↑ with</a:t>
            </a:r>
            <a:endParaRPr lang="en-US" sz="1200" dirty="0"/>
          </a:p>
          <a:p>
            <a:pPr indent="0" marL="0">
              <a:buNone/>
            </a:pPr>
            <a:r>
              <a:rPr lang="en-US" sz="1150" b="1" dirty="0">
                <a:solidFill>
                  <a:srgbClr val="262B3A"/>
                </a:solidFill>
                <a:latin typeface="Calibri" pitchFamily="34" charset="0"/>
                <a:ea typeface="Calibri" pitchFamily="34" charset="-122"/>
                <a:cs typeface="Calibri" pitchFamily="34" charset="-120"/>
              </a:rPr>
              <a:t>speed</a:t>
            </a:r>
            <a:r>
              <a:rPr lang="en-US" sz="1150" dirty="0">
                <a:solidFill>
                  <a:srgbClr val="262B3A"/>
                </a:solidFill>
                <a:latin typeface="Calibri" pitchFamily="34" charset="0"/>
                <a:ea typeface="Calibri" pitchFamily="34" charset="-122"/>
                <a:cs typeface="Calibri" pitchFamily="34" charset="-120"/>
              </a:rPr>
              <a:t> • driver’s </a:t>
            </a:r>
            <a:r>
              <a:rPr lang="en-US" sz="1150" b="1" dirty="0">
                <a:solidFill>
                  <a:srgbClr val="262B3A"/>
                </a:solidFill>
                <a:latin typeface="Calibri" pitchFamily="34" charset="0"/>
                <a:ea typeface="Calibri" pitchFamily="34" charset="-122"/>
                <a:cs typeface="Calibri" pitchFamily="34" charset="-120"/>
              </a:rPr>
              <a:t>reaction time</a:t>
            </a:r>
            <a:r>
              <a:rPr lang="en-US" sz="1150" dirty="0">
                <a:solidFill>
                  <a:srgbClr val="262B3A"/>
                </a:solidFill>
                <a:latin typeface="Calibri" pitchFamily="34" charset="0"/>
                <a:ea typeface="Calibri" pitchFamily="34" charset="-122"/>
                <a:cs typeface="Calibri" pitchFamily="34" charset="-120"/>
              </a:rPr>
              <a:t>: tiredness, alcohol, drugs, distractions</a:t>
            </a:r>
            <a:endParaRPr lang="en-US" sz="1200" dirty="0"/>
          </a:p>
        </p:txBody>
      </p:sp>
      <p:sp>
        <p:nvSpPr>
          <p:cNvPr id="31" name="Shape 29"/>
          <p:cNvSpPr/>
          <p:nvPr/>
        </p:nvSpPr>
        <p:spPr>
          <a:xfrm>
            <a:off x="3291840" y="4114800"/>
            <a:ext cx="2423160" cy="1188720"/>
          </a:xfrm>
          <a:prstGeom prst="roundRect">
            <a:avLst>
              <a:gd name="adj" fmla="val 3846"/>
            </a:avLst>
          </a:prstGeom>
          <a:solidFill>
            <a:srgbClr val="FFFFFF"/>
          </a:solidFill>
          <a:ln w="19050">
            <a:solidFill>
              <a:srgbClr val="B8730A"/>
            </a:solidFill>
            <a:prstDash val="solid"/>
          </a:ln>
        </p:spPr>
      </p:sp>
      <p:sp>
        <p:nvSpPr>
          <p:cNvPr id="32" name="Text 30"/>
          <p:cNvSpPr/>
          <p:nvPr/>
        </p:nvSpPr>
        <p:spPr>
          <a:xfrm>
            <a:off x="3383280" y="4160520"/>
            <a:ext cx="2240280" cy="1097280"/>
          </a:xfrm>
          <a:prstGeom prst="rect">
            <a:avLst/>
          </a:prstGeom>
          <a:noFill/>
          <a:ln/>
        </p:spPr>
        <p:txBody>
          <a:bodyPr wrap="square" lIns="0" tIns="0" rIns="0" bIns="0" rtlCol="0" anchor="t"/>
          <a:lstStyle/>
          <a:p>
            <a:pPr indent="0" marL="0">
              <a:buNone/>
            </a:pPr>
            <a:r>
              <a:rPr lang="en-US" sz="1200" b="1" dirty="0">
                <a:solidFill>
                  <a:srgbClr val="B8730A"/>
                </a:solidFill>
                <a:latin typeface="Calibri" pitchFamily="34" charset="0"/>
                <a:ea typeface="Calibri" pitchFamily="34" charset="-122"/>
                <a:cs typeface="Calibri" pitchFamily="34" charset="-120"/>
              </a:rPr>
              <a:t>Braking distance ↑ with</a:t>
            </a:r>
            <a:endParaRPr lang="en-US" sz="1200" dirty="0"/>
          </a:p>
          <a:p>
            <a:pPr indent="0" marL="0">
              <a:buNone/>
            </a:pPr>
            <a:r>
              <a:rPr lang="en-US" sz="1150" b="1" dirty="0">
                <a:solidFill>
                  <a:srgbClr val="262B3A"/>
                </a:solidFill>
                <a:latin typeface="Calibri" pitchFamily="34" charset="0"/>
                <a:ea typeface="Calibri" pitchFamily="34" charset="-122"/>
                <a:cs typeface="Calibri" pitchFamily="34" charset="-120"/>
              </a:rPr>
              <a:t>speed</a:t>
            </a:r>
            <a:r>
              <a:rPr lang="en-US" sz="1150" dirty="0">
                <a:solidFill>
                  <a:srgbClr val="262B3A"/>
                </a:solidFill>
                <a:latin typeface="Calibri" pitchFamily="34" charset="0"/>
                <a:ea typeface="Calibri" pitchFamily="34" charset="-122"/>
                <a:cs typeface="Calibri" pitchFamily="34" charset="-120"/>
              </a:rPr>
              <a:t> •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 worn </a:t>
            </a:r>
            <a:r>
              <a:rPr lang="en-US" sz="1150" b="1" dirty="0">
                <a:solidFill>
                  <a:srgbClr val="262B3A"/>
                </a:solidFill>
                <a:latin typeface="Calibri" pitchFamily="34" charset="0"/>
                <a:ea typeface="Calibri" pitchFamily="34" charset="-122"/>
                <a:cs typeface="Calibri" pitchFamily="34" charset="-120"/>
              </a:rPr>
              <a:t>brakes</a:t>
            </a:r>
            <a:r>
              <a:rPr lang="en-US" sz="1150" dirty="0">
                <a:solidFill>
                  <a:srgbClr val="262B3A"/>
                </a:solidFill>
                <a:latin typeface="Calibri" pitchFamily="34" charset="0"/>
                <a:ea typeface="Calibri" pitchFamily="34" charset="-122"/>
                <a:cs typeface="Calibri" pitchFamily="34" charset="-120"/>
              </a:rPr>
              <a:t> • wet/icy </a:t>
            </a:r>
            <a:r>
              <a:rPr lang="en-US" sz="1150" b="1" dirty="0">
                <a:solidFill>
                  <a:srgbClr val="262B3A"/>
                </a:solidFill>
                <a:latin typeface="Calibri" pitchFamily="34" charset="0"/>
                <a:ea typeface="Calibri" pitchFamily="34" charset="-122"/>
                <a:cs typeface="Calibri" pitchFamily="34" charset="-120"/>
              </a:rPr>
              <a:t>road</a:t>
            </a:r>
            <a:r>
              <a:rPr lang="en-US" sz="1150" dirty="0">
                <a:solidFill>
                  <a:srgbClr val="262B3A"/>
                </a:solidFill>
                <a:latin typeface="Calibri" pitchFamily="34" charset="0"/>
                <a:ea typeface="Calibri" pitchFamily="34" charset="-122"/>
                <a:cs typeface="Calibri" pitchFamily="34" charset="-120"/>
              </a:rPr>
              <a:t> • worn </a:t>
            </a:r>
            <a:r>
              <a:rPr lang="en-US" sz="1150" b="1" dirty="0">
                <a:solidFill>
                  <a:srgbClr val="262B3A"/>
                </a:solidFill>
                <a:latin typeface="Calibri" pitchFamily="34" charset="0"/>
                <a:ea typeface="Calibri" pitchFamily="34" charset="-122"/>
                <a:cs typeface="Calibri" pitchFamily="34" charset="-120"/>
              </a:rPr>
              <a:t>tyres</a:t>
            </a:r>
            <a:r>
              <a:rPr lang="en-US" sz="1150" dirty="0">
                <a:solidFill>
                  <a:srgbClr val="262B3A"/>
                </a:solidFill>
                <a:latin typeface="Calibri" pitchFamily="34" charset="0"/>
                <a:ea typeface="Calibri" pitchFamily="34" charset="-122"/>
                <a:cs typeface="Calibri" pitchFamily="34" charset="-120"/>
              </a:rPr>
              <a:t> (less friction)</a:t>
            </a:r>
            <a:endParaRPr lang="en-US" sz="1200" dirty="0"/>
          </a:p>
        </p:txBody>
      </p:sp>
      <p:sp>
        <p:nvSpPr>
          <p:cNvPr id="33" name="Shape 3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4" name="Text 3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parts to stopping</a:t>
            </a:r>
            <a:endParaRPr lang="en-US" sz="1300" dirty="0"/>
          </a:p>
        </p:txBody>
      </p:sp>
      <p:sp>
        <p:nvSpPr>
          <p:cNvPr id="35" name="Text 3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Thinking distance:</a:t>
            </a:r>
            <a:r>
              <a:rPr lang="en-US" sz="1150" dirty="0">
                <a:solidFill>
                  <a:srgbClr val="262B3A"/>
                </a:solidFill>
                <a:latin typeface="Calibri" pitchFamily="34" charset="0"/>
                <a:ea typeface="Calibri" pitchFamily="34" charset="-122"/>
                <a:cs typeface="Calibri" pitchFamily="34" charset="-120"/>
              </a:rPr>
              <a:t> distance travelled during the driver’s </a:t>
            </a:r>
            <a:r>
              <a:rPr lang="en-US" sz="1150" b="1" dirty="0">
                <a:solidFill>
                  <a:srgbClr val="262B3A"/>
                </a:solidFill>
                <a:latin typeface="Calibri" pitchFamily="34" charset="0"/>
                <a:ea typeface="Calibri" pitchFamily="34" charset="-122"/>
                <a:cs typeface="Calibri" pitchFamily="34" charset="-120"/>
              </a:rPr>
              <a:t>reaction time</a:t>
            </a:r>
            <a:r>
              <a:rPr lang="en-US" sz="1150" dirty="0">
                <a:solidFill>
                  <a:srgbClr val="262B3A"/>
                </a:solidFill>
                <a:latin typeface="Calibri" pitchFamily="34" charset="0"/>
                <a:ea typeface="Calibri" pitchFamily="34" charset="-122"/>
                <a:cs typeface="Calibri" pitchFamily="34" charset="-120"/>
              </a:rPr>
              <a:t> (= speed × reaction time).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Braking distance:</a:t>
            </a:r>
            <a:r>
              <a:rPr lang="en-US" sz="1150" dirty="0">
                <a:solidFill>
                  <a:srgbClr val="262B3A"/>
                </a:solidFill>
                <a:latin typeface="Calibri" pitchFamily="34" charset="0"/>
                <a:ea typeface="Calibri" pitchFamily="34" charset="-122"/>
                <a:cs typeface="Calibri" pitchFamily="34" charset="-120"/>
              </a:rPr>
              <a:t> distance travelled while the </a:t>
            </a:r>
            <a:r>
              <a:rPr lang="en-US" sz="1150" b="1" dirty="0">
                <a:solidFill>
                  <a:srgbClr val="262B3A"/>
                </a:solidFill>
                <a:latin typeface="Calibri" pitchFamily="34" charset="0"/>
                <a:ea typeface="Calibri" pitchFamily="34" charset="-122"/>
                <a:cs typeface="Calibri" pitchFamily="34" charset="-120"/>
              </a:rPr>
              <a:t>brakes</a:t>
            </a:r>
            <a:r>
              <a:rPr lang="en-US" sz="1150" dirty="0">
                <a:solidFill>
                  <a:srgbClr val="262B3A"/>
                </a:solidFill>
                <a:latin typeface="Calibri" pitchFamily="34" charset="0"/>
                <a:ea typeface="Calibri" pitchFamily="34" charset="-122"/>
                <a:cs typeface="Calibri" pitchFamily="34" charset="-120"/>
              </a:rPr>
              <a:t> slow the car to rest.</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stopping distance = thinking distance + braking distance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Factors (2.29):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speed</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reaction time</a:t>
            </a:r>
            <a:r>
              <a:rPr lang="en-US" sz="1150" dirty="0">
                <a:solidFill>
                  <a:srgbClr val="262B3A"/>
                </a:solidFill>
                <a:latin typeface="Calibri" pitchFamily="34" charset="0"/>
                <a:ea typeface="Calibri" pitchFamily="34" charset="-122"/>
                <a:cs typeface="Calibri" pitchFamily="34" charset="-120"/>
              </a:rPr>
              <a:t>, state of the </a:t>
            </a:r>
            <a:r>
              <a:rPr lang="en-US" sz="1150" b="1" dirty="0">
                <a:solidFill>
                  <a:srgbClr val="262B3A"/>
                </a:solidFill>
                <a:latin typeface="Calibri" pitchFamily="34" charset="0"/>
                <a:ea typeface="Calibri" pitchFamily="34" charset="-122"/>
                <a:cs typeface="Calibri" pitchFamily="34" charset="-120"/>
              </a:rPr>
              <a:t>brakes</a:t>
            </a:r>
            <a:r>
              <a:rPr lang="en-US" sz="1150" dirty="0">
                <a:solidFill>
                  <a:srgbClr val="262B3A"/>
                </a:solidFill>
                <a:latin typeface="Calibri" pitchFamily="34" charset="0"/>
                <a:ea typeface="Calibri" pitchFamily="34" charset="-122"/>
                <a:cs typeface="Calibri" pitchFamily="34" charset="-120"/>
              </a:rPr>
              <a:t>, state of the </a:t>
            </a:r>
            <a:r>
              <a:rPr lang="en-US" sz="1150" b="1" dirty="0">
                <a:solidFill>
                  <a:srgbClr val="262B3A"/>
                </a:solidFill>
                <a:latin typeface="Calibri" pitchFamily="34" charset="0"/>
                <a:ea typeface="Calibri" pitchFamily="34" charset="-122"/>
                <a:cs typeface="Calibri" pitchFamily="34" charset="-120"/>
              </a:rPr>
              <a:t>road</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friction</a:t>
            </a:r>
            <a:r>
              <a:rPr lang="en-US" sz="1150" dirty="0">
                <a:solidFill>
                  <a:srgbClr val="262B3A"/>
                </a:solidFill>
                <a:latin typeface="Calibri" pitchFamily="34" charset="0"/>
                <a:ea typeface="Calibri" pitchFamily="34" charset="-122"/>
                <a:cs typeface="Calibri" pitchFamily="34" charset="-120"/>
              </a:rPr>
              <a:t> between tyre and road.</a:t>
            </a:r>
            <a:endParaRPr lang="en-US" sz="1150" dirty="0"/>
          </a:p>
        </p:txBody>
      </p:sp>
      <p:sp>
        <p:nvSpPr>
          <p:cNvPr id="36" name="Shape 3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7" name="Text 3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Which part changes?</a:t>
            </a:r>
            <a:endParaRPr lang="en-US" sz="1300" dirty="0"/>
          </a:p>
        </p:txBody>
      </p:sp>
      <p:sp>
        <p:nvSpPr>
          <p:cNvPr id="38" name="Text 36"/>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Sort each factor into thinking or braking distance.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Mobile phone   </a:t>
            </a:r>
            <a:r>
              <a:rPr lang="en-US" sz="1050" dirty="0">
                <a:solidFill>
                  <a:srgbClr val="262B3A"/>
                </a:solidFill>
                <a:latin typeface="Calibri" pitchFamily="34" charset="0"/>
                <a:ea typeface="Calibri" pitchFamily="34" charset="-122"/>
                <a:cs typeface="Calibri" pitchFamily="34" charset="-120"/>
              </a:rPr>
              <a:t>thinking distance increases (distraction)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Icy road   </a:t>
            </a:r>
            <a:r>
              <a:rPr lang="en-US" sz="1050" dirty="0">
                <a:solidFill>
                  <a:srgbClr val="262B3A"/>
                </a:solidFill>
                <a:latin typeface="Calibri" pitchFamily="34" charset="0"/>
                <a:ea typeface="Calibri" pitchFamily="34" charset="-122"/>
                <a:cs typeface="Calibri" pitchFamily="34" charset="-120"/>
              </a:rPr>
              <a:t>braking distance increases (less friction)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Heavy load   </a:t>
            </a:r>
            <a:r>
              <a:rPr lang="en-US" sz="1050" dirty="0">
                <a:solidFill>
                  <a:srgbClr val="262B3A"/>
                </a:solidFill>
                <a:latin typeface="Calibri" pitchFamily="34" charset="0"/>
                <a:ea typeface="Calibri" pitchFamily="34" charset="-122"/>
                <a:cs typeface="Calibri" pitchFamily="34" charset="-120"/>
              </a:rPr>
              <a:t>braking distance increases (more mass)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speed increases BOTH parts</a:t>
            </a:r>
            <a:endParaRPr lang="en-US" sz="1050" dirty="0"/>
          </a:p>
        </p:txBody>
      </p:sp>
      <p:sp>
        <p:nvSpPr>
          <p:cNvPr id="39" name="Shape 37"/>
          <p:cNvSpPr/>
          <p:nvPr/>
        </p:nvSpPr>
        <p:spPr>
          <a:xfrm>
            <a:off x="411480" y="5833872"/>
            <a:ext cx="11368735" cy="530352"/>
          </a:xfrm>
          <a:prstGeom prst="rect">
            <a:avLst/>
          </a:prstGeom>
          <a:solidFill>
            <a:srgbClr val="FFF4E0"/>
          </a:solidFill>
          <a:ln w="6350">
            <a:solidFill>
              <a:srgbClr val="F1D9A8"/>
            </a:solidFill>
            <a:prstDash val="solid"/>
          </a:ln>
        </p:spPr>
      </p:sp>
      <p:sp>
        <p:nvSpPr>
          <p:cNvPr id="40" name="Shape 38"/>
          <p:cNvSpPr/>
          <p:nvPr/>
        </p:nvSpPr>
        <p:spPr>
          <a:xfrm>
            <a:off x="411480" y="5833872"/>
            <a:ext cx="82296" cy="530352"/>
          </a:xfrm>
          <a:prstGeom prst="rect">
            <a:avLst/>
          </a:prstGeom>
          <a:solidFill>
            <a:srgbClr val="E39A2F"/>
          </a:solidFill>
          <a:ln w="12700">
            <a:solidFill>
              <a:srgbClr val="E39A2F"/>
            </a:solidFill>
            <a:prstDash val="solid"/>
          </a:ln>
        </p:spPr>
      </p:sp>
      <p:sp>
        <p:nvSpPr>
          <p:cNvPr id="41" name="Text 3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driver has drunk alcohol. Explain the effect on the thinking distance and on the braking distance.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Stopping distances at typical speeds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2.32 • estimate how the emergency stopping distance varies with speed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2.32  |  36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model: reaction time 0.70 s, deceleration 6.25 m/s²; stacked bars to scale</a:t>
            </a:r>
            <a:endParaRPr lang="en-US" sz="1000" dirty="0"/>
          </a:p>
        </p:txBody>
      </p:sp>
      <p:sp>
        <p:nvSpPr>
          <p:cNvPr id="10" name="Shape 8"/>
          <p:cNvSpPr/>
          <p:nvPr/>
        </p:nvSpPr>
        <p:spPr>
          <a:xfrm>
            <a:off x="1280160" y="1417320"/>
            <a:ext cx="4389120" cy="3383280"/>
          </a:xfrm>
          <a:prstGeom prst="rect">
            <a:avLst/>
          </a:prstGeom>
          <a:solidFill>
            <a:srgbClr val="FFFFFF"/>
          </a:solidFill>
          <a:ln/>
        </p:spPr>
      </p:sp>
      <p:sp>
        <p:nvSpPr>
          <p:cNvPr id="11" name="Shape 9"/>
          <p:cNvSpPr/>
          <p:nvPr/>
        </p:nvSpPr>
        <p:spPr>
          <a:xfrm>
            <a:off x="1280160" y="1417320"/>
            <a:ext cx="91" cy="3383280"/>
          </a:xfrm>
          <a:prstGeom prst="line">
            <a:avLst/>
          </a:prstGeom>
          <a:noFill/>
          <a:ln w="6350">
            <a:solidFill>
              <a:srgbClr val="C9D3E6"/>
            </a:solidFill>
            <a:prstDash val="solid"/>
          </a:ln>
        </p:spPr>
      </p:sp>
      <p:sp>
        <p:nvSpPr>
          <p:cNvPr id="12" name="Shape 10"/>
          <p:cNvSpPr/>
          <p:nvPr/>
        </p:nvSpPr>
        <p:spPr>
          <a:xfrm>
            <a:off x="1645920" y="1417320"/>
            <a:ext cx="91" cy="3383280"/>
          </a:xfrm>
          <a:prstGeom prst="line">
            <a:avLst/>
          </a:prstGeom>
          <a:noFill/>
          <a:ln w="6350">
            <a:solidFill>
              <a:srgbClr val="E6EBF4"/>
            </a:solidFill>
            <a:prstDash val="solid"/>
          </a:ln>
        </p:spPr>
      </p:sp>
      <p:sp>
        <p:nvSpPr>
          <p:cNvPr id="13" name="Shape 11"/>
          <p:cNvSpPr/>
          <p:nvPr/>
        </p:nvSpPr>
        <p:spPr>
          <a:xfrm>
            <a:off x="2011680" y="1417320"/>
            <a:ext cx="91" cy="3383280"/>
          </a:xfrm>
          <a:prstGeom prst="line">
            <a:avLst/>
          </a:prstGeom>
          <a:noFill/>
          <a:ln w="6350">
            <a:solidFill>
              <a:srgbClr val="C9D3E6"/>
            </a:solidFill>
            <a:prstDash val="solid"/>
          </a:ln>
        </p:spPr>
      </p:sp>
      <p:sp>
        <p:nvSpPr>
          <p:cNvPr id="14" name="Shape 12"/>
          <p:cNvSpPr/>
          <p:nvPr/>
        </p:nvSpPr>
        <p:spPr>
          <a:xfrm>
            <a:off x="2377440" y="1417320"/>
            <a:ext cx="91" cy="3383280"/>
          </a:xfrm>
          <a:prstGeom prst="line">
            <a:avLst/>
          </a:prstGeom>
          <a:noFill/>
          <a:ln w="6350">
            <a:solidFill>
              <a:srgbClr val="E6EBF4"/>
            </a:solidFill>
            <a:prstDash val="solid"/>
          </a:ln>
        </p:spPr>
      </p:sp>
      <p:sp>
        <p:nvSpPr>
          <p:cNvPr id="15" name="Shape 13"/>
          <p:cNvSpPr/>
          <p:nvPr/>
        </p:nvSpPr>
        <p:spPr>
          <a:xfrm>
            <a:off x="2743200" y="1417320"/>
            <a:ext cx="91" cy="3383280"/>
          </a:xfrm>
          <a:prstGeom prst="line">
            <a:avLst/>
          </a:prstGeom>
          <a:noFill/>
          <a:ln w="6350">
            <a:solidFill>
              <a:srgbClr val="C9D3E6"/>
            </a:solidFill>
            <a:prstDash val="solid"/>
          </a:ln>
        </p:spPr>
      </p:sp>
      <p:sp>
        <p:nvSpPr>
          <p:cNvPr id="16" name="Shape 14"/>
          <p:cNvSpPr/>
          <p:nvPr/>
        </p:nvSpPr>
        <p:spPr>
          <a:xfrm>
            <a:off x="3108960" y="1417320"/>
            <a:ext cx="91" cy="3383280"/>
          </a:xfrm>
          <a:prstGeom prst="line">
            <a:avLst/>
          </a:prstGeom>
          <a:noFill/>
          <a:ln w="6350">
            <a:solidFill>
              <a:srgbClr val="E6EBF4"/>
            </a:solidFill>
            <a:prstDash val="solid"/>
          </a:ln>
        </p:spPr>
      </p:sp>
      <p:sp>
        <p:nvSpPr>
          <p:cNvPr id="17" name="Shape 15"/>
          <p:cNvSpPr/>
          <p:nvPr/>
        </p:nvSpPr>
        <p:spPr>
          <a:xfrm>
            <a:off x="3474720" y="1417320"/>
            <a:ext cx="91" cy="3383280"/>
          </a:xfrm>
          <a:prstGeom prst="line">
            <a:avLst/>
          </a:prstGeom>
          <a:noFill/>
          <a:ln w="6350">
            <a:solidFill>
              <a:srgbClr val="C9D3E6"/>
            </a:solidFill>
            <a:prstDash val="solid"/>
          </a:ln>
        </p:spPr>
      </p:sp>
      <p:sp>
        <p:nvSpPr>
          <p:cNvPr id="18" name="Shape 16"/>
          <p:cNvSpPr/>
          <p:nvPr/>
        </p:nvSpPr>
        <p:spPr>
          <a:xfrm>
            <a:off x="3840480" y="1417320"/>
            <a:ext cx="91" cy="3383280"/>
          </a:xfrm>
          <a:prstGeom prst="line">
            <a:avLst/>
          </a:prstGeom>
          <a:noFill/>
          <a:ln w="6350">
            <a:solidFill>
              <a:srgbClr val="E6EBF4"/>
            </a:solidFill>
            <a:prstDash val="solid"/>
          </a:ln>
        </p:spPr>
      </p:sp>
      <p:sp>
        <p:nvSpPr>
          <p:cNvPr id="19" name="Shape 17"/>
          <p:cNvSpPr/>
          <p:nvPr/>
        </p:nvSpPr>
        <p:spPr>
          <a:xfrm>
            <a:off x="4206240" y="1417320"/>
            <a:ext cx="91" cy="3383280"/>
          </a:xfrm>
          <a:prstGeom prst="line">
            <a:avLst/>
          </a:prstGeom>
          <a:noFill/>
          <a:ln w="6350">
            <a:solidFill>
              <a:srgbClr val="C9D3E6"/>
            </a:solidFill>
            <a:prstDash val="solid"/>
          </a:ln>
        </p:spPr>
      </p:sp>
      <p:sp>
        <p:nvSpPr>
          <p:cNvPr id="20" name="Shape 18"/>
          <p:cNvSpPr/>
          <p:nvPr/>
        </p:nvSpPr>
        <p:spPr>
          <a:xfrm>
            <a:off x="4572000" y="1417320"/>
            <a:ext cx="91" cy="3383280"/>
          </a:xfrm>
          <a:prstGeom prst="line">
            <a:avLst/>
          </a:prstGeom>
          <a:noFill/>
          <a:ln w="6350">
            <a:solidFill>
              <a:srgbClr val="E6EBF4"/>
            </a:solidFill>
            <a:prstDash val="solid"/>
          </a:ln>
        </p:spPr>
      </p:sp>
      <p:sp>
        <p:nvSpPr>
          <p:cNvPr id="21" name="Shape 19"/>
          <p:cNvSpPr/>
          <p:nvPr/>
        </p:nvSpPr>
        <p:spPr>
          <a:xfrm>
            <a:off x="4937760" y="1417320"/>
            <a:ext cx="91" cy="3383280"/>
          </a:xfrm>
          <a:prstGeom prst="line">
            <a:avLst/>
          </a:prstGeom>
          <a:noFill/>
          <a:ln w="6350">
            <a:solidFill>
              <a:srgbClr val="C9D3E6"/>
            </a:solidFill>
            <a:prstDash val="solid"/>
          </a:ln>
        </p:spPr>
      </p:sp>
      <p:sp>
        <p:nvSpPr>
          <p:cNvPr id="22" name="Shape 20"/>
          <p:cNvSpPr/>
          <p:nvPr/>
        </p:nvSpPr>
        <p:spPr>
          <a:xfrm>
            <a:off x="5303520" y="1417320"/>
            <a:ext cx="91" cy="3383280"/>
          </a:xfrm>
          <a:prstGeom prst="line">
            <a:avLst/>
          </a:prstGeom>
          <a:noFill/>
          <a:ln w="6350">
            <a:solidFill>
              <a:srgbClr val="E6EBF4"/>
            </a:solidFill>
            <a:prstDash val="solid"/>
          </a:ln>
        </p:spPr>
      </p:sp>
      <p:sp>
        <p:nvSpPr>
          <p:cNvPr id="23" name="Shape 21"/>
          <p:cNvSpPr/>
          <p:nvPr/>
        </p:nvSpPr>
        <p:spPr>
          <a:xfrm>
            <a:off x="5669280" y="1417320"/>
            <a:ext cx="91" cy="3383280"/>
          </a:xfrm>
          <a:prstGeom prst="line">
            <a:avLst/>
          </a:prstGeom>
          <a:noFill/>
          <a:ln w="6350">
            <a:solidFill>
              <a:srgbClr val="C9D3E6"/>
            </a:solidFill>
            <a:prstDash val="solid"/>
          </a:ln>
        </p:spPr>
      </p:sp>
      <p:sp>
        <p:nvSpPr>
          <p:cNvPr id="24" name="Shape 22"/>
          <p:cNvSpPr/>
          <p:nvPr/>
        </p:nvSpPr>
        <p:spPr>
          <a:xfrm>
            <a:off x="1280160" y="4800600"/>
            <a:ext cx="4389120" cy="91"/>
          </a:xfrm>
          <a:prstGeom prst="line">
            <a:avLst/>
          </a:prstGeom>
          <a:noFill/>
          <a:ln w="6350">
            <a:solidFill>
              <a:srgbClr val="C9D3E6"/>
            </a:solidFill>
            <a:prstDash val="solid"/>
          </a:ln>
        </p:spPr>
      </p:sp>
      <p:sp>
        <p:nvSpPr>
          <p:cNvPr id="25" name="Shape 23"/>
          <p:cNvSpPr/>
          <p:nvPr/>
        </p:nvSpPr>
        <p:spPr>
          <a:xfrm>
            <a:off x="1280160" y="4462272"/>
            <a:ext cx="4389120" cy="91"/>
          </a:xfrm>
          <a:prstGeom prst="line">
            <a:avLst/>
          </a:prstGeom>
          <a:noFill/>
          <a:ln w="6350">
            <a:solidFill>
              <a:srgbClr val="E6EBF4"/>
            </a:solidFill>
            <a:prstDash val="solid"/>
          </a:ln>
        </p:spPr>
      </p:sp>
      <p:sp>
        <p:nvSpPr>
          <p:cNvPr id="26" name="Shape 24"/>
          <p:cNvSpPr/>
          <p:nvPr/>
        </p:nvSpPr>
        <p:spPr>
          <a:xfrm>
            <a:off x="1280160" y="4123944"/>
            <a:ext cx="4389120" cy="91"/>
          </a:xfrm>
          <a:prstGeom prst="line">
            <a:avLst/>
          </a:prstGeom>
          <a:noFill/>
          <a:ln w="6350">
            <a:solidFill>
              <a:srgbClr val="C9D3E6"/>
            </a:solidFill>
            <a:prstDash val="solid"/>
          </a:ln>
        </p:spPr>
      </p:sp>
      <p:sp>
        <p:nvSpPr>
          <p:cNvPr id="27" name="Shape 25"/>
          <p:cNvSpPr/>
          <p:nvPr/>
        </p:nvSpPr>
        <p:spPr>
          <a:xfrm>
            <a:off x="1280160" y="3785616"/>
            <a:ext cx="4389120" cy="91"/>
          </a:xfrm>
          <a:prstGeom prst="line">
            <a:avLst/>
          </a:prstGeom>
          <a:noFill/>
          <a:ln w="6350">
            <a:solidFill>
              <a:srgbClr val="E6EBF4"/>
            </a:solidFill>
            <a:prstDash val="solid"/>
          </a:ln>
        </p:spPr>
      </p:sp>
      <p:sp>
        <p:nvSpPr>
          <p:cNvPr id="28" name="Shape 26"/>
          <p:cNvSpPr/>
          <p:nvPr/>
        </p:nvSpPr>
        <p:spPr>
          <a:xfrm>
            <a:off x="1280160" y="3447288"/>
            <a:ext cx="4389120" cy="91"/>
          </a:xfrm>
          <a:prstGeom prst="line">
            <a:avLst/>
          </a:prstGeom>
          <a:noFill/>
          <a:ln w="6350">
            <a:solidFill>
              <a:srgbClr val="C9D3E6"/>
            </a:solidFill>
            <a:prstDash val="solid"/>
          </a:ln>
        </p:spPr>
      </p:sp>
      <p:sp>
        <p:nvSpPr>
          <p:cNvPr id="29" name="Shape 27"/>
          <p:cNvSpPr/>
          <p:nvPr/>
        </p:nvSpPr>
        <p:spPr>
          <a:xfrm>
            <a:off x="1280160" y="3108960"/>
            <a:ext cx="4389120" cy="91"/>
          </a:xfrm>
          <a:prstGeom prst="line">
            <a:avLst/>
          </a:prstGeom>
          <a:noFill/>
          <a:ln w="6350">
            <a:solidFill>
              <a:srgbClr val="E6EBF4"/>
            </a:solidFill>
            <a:prstDash val="solid"/>
          </a:ln>
        </p:spPr>
      </p:sp>
      <p:sp>
        <p:nvSpPr>
          <p:cNvPr id="30" name="Shape 28"/>
          <p:cNvSpPr/>
          <p:nvPr/>
        </p:nvSpPr>
        <p:spPr>
          <a:xfrm>
            <a:off x="1280160" y="2770632"/>
            <a:ext cx="4389120" cy="91"/>
          </a:xfrm>
          <a:prstGeom prst="line">
            <a:avLst/>
          </a:prstGeom>
          <a:noFill/>
          <a:ln w="6350">
            <a:solidFill>
              <a:srgbClr val="C9D3E6"/>
            </a:solidFill>
            <a:prstDash val="solid"/>
          </a:ln>
        </p:spPr>
      </p:sp>
      <p:sp>
        <p:nvSpPr>
          <p:cNvPr id="31" name="Shape 29"/>
          <p:cNvSpPr/>
          <p:nvPr/>
        </p:nvSpPr>
        <p:spPr>
          <a:xfrm>
            <a:off x="1280160" y="2432304"/>
            <a:ext cx="4389120" cy="91"/>
          </a:xfrm>
          <a:prstGeom prst="line">
            <a:avLst/>
          </a:prstGeom>
          <a:noFill/>
          <a:ln w="6350">
            <a:solidFill>
              <a:srgbClr val="E6EBF4"/>
            </a:solidFill>
            <a:prstDash val="solid"/>
          </a:ln>
        </p:spPr>
      </p:sp>
      <p:sp>
        <p:nvSpPr>
          <p:cNvPr id="32" name="Shape 30"/>
          <p:cNvSpPr/>
          <p:nvPr/>
        </p:nvSpPr>
        <p:spPr>
          <a:xfrm>
            <a:off x="1280160" y="2093976"/>
            <a:ext cx="4389120" cy="91"/>
          </a:xfrm>
          <a:prstGeom prst="line">
            <a:avLst/>
          </a:prstGeom>
          <a:noFill/>
          <a:ln w="6350">
            <a:solidFill>
              <a:srgbClr val="C9D3E6"/>
            </a:solidFill>
            <a:prstDash val="solid"/>
          </a:ln>
        </p:spPr>
      </p:sp>
      <p:sp>
        <p:nvSpPr>
          <p:cNvPr id="33" name="Shape 31"/>
          <p:cNvSpPr/>
          <p:nvPr/>
        </p:nvSpPr>
        <p:spPr>
          <a:xfrm>
            <a:off x="1280160" y="1755648"/>
            <a:ext cx="4389120" cy="91"/>
          </a:xfrm>
          <a:prstGeom prst="line">
            <a:avLst/>
          </a:prstGeom>
          <a:noFill/>
          <a:ln w="6350">
            <a:solidFill>
              <a:srgbClr val="E6EBF4"/>
            </a:solidFill>
            <a:prstDash val="solid"/>
          </a:ln>
        </p:spPr>
      </p:sp>
      <p:sp>
        <p:nvSpPr>
          <p:cNvPr id="34" name="Shape 32"/>
          <p:cNvSpPr/>
          <p:nvPr/>
        </p:nvSpPr>
        <p:spPr>
          <a:xfrm>
            <a:off x="1280160" y="1417320"/>
            <a:ext cx="4389120" cy="91"/>
          </a:xfrm>
          <a:prstGeom prst="line">
            <a:avLst/>
          </a:prstGeom>
          <a:noFill/>
          <a:ln w="6350">
            <a:solidFill>
              <a:srgbClr val="C9D3E6"/>
            </a:solidFill>
            <a:prstDash val="solid"/>
          </a:ln>
        </p:spPr>
      </p:sp>
      <p:sp>
        <p:nvSpPr>
          <p:cNvPr id="35" name="Shape 33"/>
          <p:cNvSpPr/>
          <p:nvPr/>
        </p:nvSpPr>
        <p:spPr>
          <a:xfrm>
            <a:off x="1280160" y="4800600"/>
            <a:ext cx="4389120" cy="91"/>
          </a:xfrm>
          <a:prstGeom prst="line">
            <a:avLst/>
          </a:prstGeom>
          <a:noFill/>
          <a:ln w="19050">
            <a:solidFill>
              <a:srgbClr val="1A2340"/>
            </a:solidFill>
            <a:prstDash val="solid"/>
          </a:ln>
        </p:spPr>
      </p:sp>
      <p:sp>
        <p:nvSpPr>
          <p:cNvPr id="36" name="Shape 34"/>
          <p:cNvSpPr/>
          <p:nvPr/>
        </p:nvSpPr>
        <p:spPr>
          <a:xfrm flipV="1">
            <a:off x="1280160" y="1417320"/>
            <a:ext cx="91" cy="3383280"/>
          </a:xfrm>
          <a:prstGeom prst="line">
            <a:avLst/>
          </a:prstGeom>
          <a:noFill/>
          <a:ln w="19050">
            <a:solidFill>
              <a:srgbClr val="1A2340"/>
            </a:solidFill>
            <a:prstDash val="solid"/>
          </a:ln>
        </p:spPr>
      </p:sp>
      <p:sp>
        <p:nvSpPr>
          <p:cNvPr id="37" name="Shape 35"/>
          <p:cNvSpPr/>
          <p:nvPr/>
        </p:nvSpPr>
        <p:spPr>
          <a:xfrm>
            <a:off x="1280160" y="4800600"/>
            <a:ext cx="91" cy="54864"/>
          </a:xfrm>
          <a:prstGeom prst="line">
            <a:avLst/>
          </a:prstGeom>
          <a:noFill/>
          <a:ln w="12700">
            <a:solidFill>
              <a:srgbClr val="1A2340"/>
            </a:solidFill>
            <a:prstDash val="solid"/>
          </a:ln>
        </p:spPr>
      </p:sp>
      <p:sp>
        <p:nvSpPr>
          <p:cNvPr id="38" name="Text 36"/>
          <p:cNvSpPr/>
          <p:nvPr/>
        </p:nvSpPr>
        <p:spPr>
          <a:xfrm>
            <a:off x="10058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9" name="Shape 37"/>
          <p:cNvSpPr/>
          <p:nvPr/>
        </p:nvSpPr>
        <p:spPr>
          <a:xfrm>
            <a:off x="2011680" y="4800600"/>
            <a:ext cx="91" cy="54864"/>
          </a:xfrm>
          <a:prstGeom prst="line">
            <a:avLst/>
          </a:prstGeom>
          <a:noFill/>
          <a:ln w="12700">
            <a:solidFill>
              <a:srgbClr val="1A2340"/>
            </a:solidFill>
            <a:prstDash val="solid"/>
          </a:ln>
        </p:spPr>
      </p:sp>
      <p:sp>
        <p:nvSpPr>
          <p:cNvPr id="40" name="Text 38"/>
          <p:cNvSpPr/>
          <p:nvPr/>
        </p:nvSpPr>
        <p:spPr>
          <a:xfrm>
            <a:off x="17373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1" name="Shape 39"/>
          <p:cNvSpPr/>
          <p:nvPr/>
        </p:nvSpPr>
        <p:spPr>
          <a:xfrm>
            <a:off x="2743200" y="4800600"/>
            <a:ext cx="91" cy="54864"/>
          </a:xfrm>
          <a:prstGeom prst="line">
            <a:avLst/>
          </a:prstGeom>
          <a:noFill/>
          <a:ln w="12700">
            <a:solidFill>
              <a:srgbClr val="1A2340"/>
            </a:solidFill>
            <a:prstDash val="solid"/>
          </a:ln>
        </p:spPr>
      </p:sp>
      <p:sp>
        <p:nvSpPr>
          <p:cNvPr id="42" name="Text 40"/>
          <p:cNvSpPr/>
          <p:nvPr/>
        </p:nvSpPr>
        <p:spPr>
          <a:xfrm>
            <a:off x="24688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3" name="Shape 41"/>
          <p:cNvSpPr/>
          <p:nvPr/>
        </p:nvSpPr>
        <p:spPr>
          <a:xfrm>
            <a:off x="3474720" y="4800600"/>
            <a:ext cx="91" cy="54864"/>
          </a:xfrm>
          <a:prstGeom prst="line">
            <a:avLst/>
          </a:prstGeom>
          <a:noFill/>
          <a:ln w="12700">
            <a:solidFill>
              <a:srgbClr val="1A2340"/>
            </a:solidFill>
            <a:prstDash val="solid"/>
          </a:ln>
        </p:spPr>
      </p:sp>
      <p:sp>
        <p:nvSpPr>
          <p:cNvPr id="44" name="Text 42"/>
          <p:cNvSpPr/>
          <p:nvPr/>
        </p:nvSpPr>
        <p:spPr>
          <a:xfrm>
            <a:off x="32004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5" name="Shape 43"/>
          <p:cNvSpPr/>
          <p:nvPr/>
        </p:nvSpPr>
        <p:spPr>
          <a:xfrm>
            <a:off x="4206240" y="4800600"/>
            <a:ext cx="91" cy="54864"/>
          </a:xfrm>
          <a:prstGeom prst="line">
            <a:avLst/>
          </a:prstGeom>
          <a:noFill/>
          <a:ln w="12700">
            <a:solidFill>
              <a:srgbClr val="1A2340"/>
            </a:solidFill>
            <a:prstDash val="solid"/>
          </a:ln>
        </p:spPr>
      </p:sp>
      <p:sp>
        <p:nvSpPr>
          <p:cNvPr id="46" name="Text 44"/>
          <p:cNvSpPr/>
          <p:nvPr/>
        </p:nvSpPr>
        <p:spPr>
          <a:xfrm>
            <a:off x="39319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7" name="Shape 45"/>
          <p:cNvSpPr/>
          <p:nvPr/>
        </p:nvSpPr>
        <p:spPr>
          <a:xfrm>
            <a:off x="4937760" y="4800600"/>
            <a:ext cx="91" cy="54864"/>
          </a:xfrm>
          <a:prstGeom prst="line">
            <a:avLst/>
          </a:prstGeom>
          <a:noFill/>
          <a:ln w="12700">
            <a:solidFill>
              <a:srgbClr val="1A2340"/>
            </a:solidFill>
            <a:prstDash val="solid"/>
          </a:ln>
        </p:spPr>
      </p:sp>
      <p:sp>
        <p:nvSpPr>
          <p:cNvPr id="48" name="Text 46"/>
          <p:cNvSpPr/>
          <p:nvPr/>
        </p:nvSpPr>
        <p:spPr>
          <a:xfrm>
            <a:off x="46634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9" name="Shape 47"/>
          <p:cNvSpPr/>
          <p:nvPr/>
        </p:nvSpPr>
        <p:spPr>
          <a:xfrm>
            <a:off x="5669280" y="4800600"/>
            <a:ext cx="91" cy="54864"/>
          </a:xfrm>
          <a:prstGeom prst="line">
            <a:avLst/>
          </a:prstGeom>
          <a:noFill/>
          <a:ln w="12700">
            <a:solidFill>
              <a:srgbClr val="1A2340"/>
            </a:solidFill>
            <a:prstDash val="solid"/>
          </a:ln>
        </p:spPr>
      </p:sp>
      <p:sp>
        <p:nvSpPr>
          <p:cNvPr id="50" name="Text 48"/>
          <p:cNvSpPr/>
          <p:nvPr/>
        </p:nvSpPr>
        <p:spPr>
          <a:xfrm>
            <a:off x="53949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51" name="Shape 49"/>
          <p:cNvSpPr/>
          <p:nvPr/>
        </p:nvSpPr>
        <p:spPr>
          <a:xfrm>
            <a:off x="1225296" y="4800600"/>
            <a:ext cx="54864" cy="91"/>
          </a:xfrm>
          <a:prstGeom prst="line">
            <a:avLst/>
          </a:prstGeom>
          <a:noFill/>
          <a:ln w="12700">
            <a:solidFill>
              <a:srgbClr val="1A2340"/>
            </a:solidFill>
            <a:prstDash val="solid"/>
          </a:ln>
        </p:spPr>
      </p:sp>
      <p:sp>
        <p:nvSpPr>
          <p:cNvPr id="52" name="Text 50"/>
          <p:cNvSpPr/>
          <p:nvPr/>
        </p:nvSpPr>
        <p:spPr>
          <a:xfrm>
            <a:off x="84124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3" name="Shape 51"/>
          <p:cNvSpPr/>
          <p:nvPr/>
        </p:nvSpPr>
        <p:spPr>
          <a:xfrm>
            <a:off x="1225296" y="4123944"/>
            <a:ext cx="54864" cy="91"/>
          </a:xfrm>
          <a:prstGeom prst="line">
            <a:avLst/>
          </a:prstGeom>
          <a:noFill/>
          <a:ln w="12700">
            <a:solidFill>
              <a:srgbClr val="1A2340"/>
            </a:solidFill>
            <a:prstDash val="solid"/>
          </a:ln>
        </p:spPr>
      </p:sp>
      <p:sp>
        <p:nvSpPr>
          <p:cNvPr id="54" name="Text 52"/>
          <p:cNvSpPr/>
          <p:nvPr/>
        </p:nvSpPr>
        <p:spPr>
          <a:xfrm>
            <a:off x="841248" y="4032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5" name="Shape 53"/>
          <p:cNvSpPr/>
          <p:nvPr/>
        </p:nvSpPr>
        <p:spPr>
          <a:xfrm>
            <a:off x="1225296" y="3447288"/>
            <a:ext cx="54864" cy="91"/>
          </a:xfrm>
          <a:prstGeom prst="line">
            <a:avLst/>
          </a:prstGeom>
          <a:noFill/>
          <a:ln w="12700">
            <a:solidFill>
              <a:srgbClr val="1A2340"/>
            </a:solidFill>
            <a:prstDash val="solid"/>
          </a:ln>
        </p:spPr>
      </p:sp>
      <p:sp>
        <p:nvSpPr>
          <p:cNvPr id="56" name="Text 54"/>
          <p:cNvSpPr/>
          <p:nvPr/>
        </p:nvSpPr>
        <p:spPr>
          <a:xfrm>
            <a:off x="841248" y="33558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7" name="Shape 55"/>
          <p:cNvSpPr/>
          <p:nvPr/>
        </p:nvSpPr>
        <p:spPr>
          <a:xfrm>
            <a:off x="1225296" y="2770632"/>
            <a:ext cx="54864" cy="91"/>
          </a:xfrm>
          <a:prstGeom prst="line">
            <a:avLst/>
          </a:prstGeom>
          <a:noFill/>
          <a:ln w="12700">
            <a:solidFill>
              <a:srgbClr val="1A2340"/>
            </a:solidFill>
            <a:prstDash val="solid"/>
          </a:ln>
        </p:spPr>
      </p:sp>
      <p:sp>
        <p:nvSpPr>
          <p:cNvPr id="58" name="Text 56"/>
          <p:cNvSpPr/>
          <p:nvPr/>
        </p:nvSpPr>
        <p:spPr>
          <a:xfrm>
            <a:off x="841248" y="26791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9" name="Shape 57"/>
          <p:cNvSpPr/>
          <p:nvPr/>
        </p:nvSpPr>
        <p:spPr>
          <a:xfrm>
            <a:off x="1225296" y="2093976"/>
            <a:ext cx="54864" cy="91"/>
          </a:xfrm>
          <a:prstGeom prst="line">
            <a:avLst/>
          </a:prstGeom>
          <a:noFill/>
          <a:ln w="12700">
            <a:solidFill>
              <a:srgbClr val="1A2340"/>
            </a:solidFill>
            <a:prstDash val="solid"/>
          </a:ln>
        </p:spPr>
      </p:sp>
      <p:sp>
        <p:nvSpPr>
          <p:cNvPr id="60" name="Text 58"/>
          <p:cNvSpPr/>
          <p:nvPr/>
        </p:nvSpPr>
        <p:spPr>
          <a:xfrm>
            <a:off x="841248" y="20025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61" name="Shape 59"/>
          <p:cNvSpPr/>
          <p:nvPr/>
        </p:nvSpPr>
        <p:spPr>
          <a:xfrm>
            <a:off x="1225296" y="1417320"/>
            <a:ext cx="54864" cy="91"/>
          </a:xfrm>
          <a:prstGeom prst="line">
            <a:avLst/>
          </a:prstGeom>
          <a:noFill/>
          <a:ln w="12700">
            <a:solidFill>
              <a:srgbClr val="1A2340"/>
            </a:solidFill>
            <a:prstDash val="solid"/>
          </a:ln>
        </p:spPr>
      </p:sp>
      <p:sp>
        <p:nvSpPr>
          <p:cNvPr id="62" name="Text 60"/>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63" name="Text 61"/>
          <p:cNvSpPr/>
          <p:nvPr/>
        </p:nvSpPr>
        <p:spPr>
          <a:xfrm>
            <a:off x="1280160" y="504748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speed / m/s</a:t>
            </a:r>
            <a:endParaRPr lang="en-US" sz="1050" dirty="0"/>
          </a:p>
        </p:txBody>
      </p:sp>
      <p:sp>
        <p:nvSpPr>
          <p:cNvPr id="64" name="Text 62"/>
          <p:cNvSpPr/>
          <p:nvPr/>
        </p:nvSpPr>
        <p:spPr>
          <a:xfrm rot="16200000">
            <a:off x="-97840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 m</a:t>
            </a:r>
            <a:endParaRPr lang="en-US" sz="1050" dirty="0"/>
          </a:p>
        </p:txBody>
      </p:sp>
      <p:sp>
        <p:nvSpPr>
          <p:cNvPr id="65" name="Shape 63"/>
          <p:cNvSpPr/>
          <p:nvPr/>
        </p:nvSpPr>
        <p:spPr>
          <a:xfrm>
            <a:off x="1777594" y="4563770"/>
            <a:ext cx="468173" cy="236830"/>
          </a:xfrm>
          <a:prstGeom prst="rect">
            <a:avLst/>
          </a:prstGeom>
          <a:solidFill>
            <a:srgbClr val="2E5BD8"/>
          </a:solidFill>
          <a:ln/>
        </p:spPr>
      </p:sp>
      <p:sp>
        <p:nvSpPr>
          <p:cNvPr id="66" name="Shape 64"/>
          <p:cNvSpPr/>
          <p:nvPr/>
        </p:nvSpPr>
        <p:spPr>
          <a:xfrm>
            <a:off x="1777594" y="4293108"/>
            <a:ext cx="468173" cy="270662"/>
          </a:xfrm>
          <a:prstGeom prst="rect">
            <a:avLst/>
          </a:prstGeom>
          <a:solidFill>
            <a:srgbClr val="F5A742"/>
          </a:solidFill>
          <a:ln/>
        </p:spPr>
      </p:sp>
      <p:sp>
        <p:nvSpPr>
          <p:cNvPr id="67" name="Text 65"/>
          <p:cNvSpPr/>
          <p:nvPr/>
        </p:nvSpPr>
        <p:spPr>
          <a:xfrm>
            <a:off x="1594714" y="4073652"/>
            <a:ext cx="833933"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15</a:t>
            </a:r>
            <a:endParaRPr lang="en-US" sz="1000" dirty="0"/>
          </a:p>
        </p:txBody>
      </p:sp>
      <p:sp>
        <p:nvSpPr>
          <p:cNvPr id="68" name="Shape 66"/>
          <p:cNvSpPr/>
          <p:nvPr/>
        </p:nvSpPr>
        <p:spPr>
          <a:xfrm>
            <a:off x="2509114" y="4445356"/>
            <a:ext cx="468173" cy="355244"/>
          </a:xfrm>
          <a:prstGeom prst="rect">
            <a:avLst/>
          </a:prstGeom>
          <a:solidFill>
            <a:srgbClr val="2E5BD8"/>
          </a:solidFill>
          <a:ln/>
        </p:spPr>
      </p:sp>
      <p:sp>
        <p:nvSpPr>
          <p:cNvPr id="69" name="Shape 67"/>
          <p:cNvSpPr/>
          <p:nvPr/>
        </p:nvSpPr>
        <p:spPr>
          <a:xfrm>
            <a:off x="2509114" y="3836365"/>
            <a:ext cx="468173" cy="608990"/>
          </a:xfrm>
          <a:prstGeom prst="rect">
            <a:avLst/>
          </a:prstGeom>
          <a:solidFill>
            <a:srgbClr val="F5A742"/>
          </a:solidFill>
          <a:ln/>
        </p:spPr>
      </p:sp>
      <p:sp>
        <p:nvSpPr>
          <p:cNvPr id="70" name="Text 68"/>
          <p:cNvSpPr/>
          <p:nvPr/>
        </p:nvSpPr>
        <p:spPr>
          <a:xfrm>
            <a:off x="2326234" y="3616909"/>
            <a:ext cx="833933"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28.5</a:t>
            </a:r>
            <a:endParaRPr lang="en-US" sz="1000" dirty="0"/>
          </a:p>
        </p:txBody>
      </p:sp>
      <p:sp>
        <p:nvSpPr>
          <p:cNvPr id="71" name="Shape 69"/>
          <p:cNvSpPr/>
          <p:nvPr/>
        </p:nvSpPr>
        <p:spPr>
          <a:xfrm>
            <a:off x="3240634" y="4326941"/>
            <a:ext cx="468173" cy="473659"/>
          </a:xfrm>
          <a:prstGeom prst="rect">
            <a:avLst/>
          </a:prstGeom>
          <a:solidFill>
            <a:srgbClr val="2E5BD8"/>
          </a:solidFill>
          <a:ln/>
        </p:spPr>
      </p:sp>
      <p:sp>
        <p:nvSpPr>
          <p:cNvPr id="72" name="Shape 70"/>
          <p:cNvSpPr/>
          <p:nvPr/>
        </p:nvSpPr>
        <p:spPr>
          <a:xfrm>
            <a:off x="3240634" y="3244291"/>
            <a:ext cx="468173" cy="1082650"/>
          </a:xfrm>
          <a:prstGeom prst="rect">
            <a:avLst/>
          </a:prstGeom>
          <a:solidFill>
            <a:srgbClr val="F5A742"/>
          </a:solidFill>
          <a:ln/>
        </p:spPr>
      </p:sp>
      <p:sp>
        <p:nvSpPr>
          <p:cNvPr id="73" name="Text 71"/>
          <p:cNvSpPr/>
          <p:nvPr/>
        </p:nvSpPr>
        <p:spPr>
          <a:xfrm>
            <a:off x="3057754" y="3024835"/>
            <a:ext cx="833933"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46</a:t>
            </a:r>
            <a:endParaRPr lang="en-US" sz="1000" dirty="0"/>
          </a:p>
        </p:txBody>
      </p:sp>
      <p:sp>
        <p:nvSpPr>
          <p:cNvPr id="74" name="Shape 72"/>
          <p:cNvSpPr/>
          <p:nvPr/>
        </p:nvSpPr>
        <p:spPr>
          <a:xfrm>
            <a:off x="3972154" y="4208526"/>
            <a:ext cx="468173" cy="592074"/>
          </a:xfrm>
          <a:prstGeom prst="rect">
            <a:avLst/>
          </a:prstGeom>
          <a:solidFill>
            <a:srgbClr val="2E5BD8"/>
          </a:solidFill>
          <a:ln/>
        </p:spPr>
      </p:sp>
      <p:sp>
        <p:nvSpPr>
          <p:cNvPr id="75" name="Shape 73"/>
          <p:cNvSpPr/>
          <p:nvPr/>
        </p:nvSpPr>
        <p:spPr>
          <a:xfrm>
            <a:off x="3972154" y="2516886"/>
            <a:ext cx="468173" cy="1691640"/>
          </a:xfrm>
          <a:prstGeom prst="rect">
            <a:avLst/>
          </a:prstGeom>
          <a:solidFill>
            <a:srgbClr val="F5A742"/>
          </a:solidFill>
          <a:ln/>
        </p:spPr>
      </p:sp>
      <p:sp>
        <p:nvSpPr>
          <p:cNvPr id="76" name="Text 74"/>
          <p:cNvSpPr/>
          <p:nvPr/>
        </p:nvSpPr>
        <p:spPr>
          <a:xfrm>
            <a:off x="3789274" y="2297430"/>
            <a:ext cx="833933"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67.5</a:t>
            </a:r>
            <a:endParaRPr lang="en-US" sz="1000" dirty="0"/>
          </a:p>
        </p:txBody>
      </p:sp>
      <p:sp>
        <p:nvSpPr>
          <p:cNvPr id="77" name="Shape 75"/>
          <p:cNvSpPr/>
          <p:nvPr/>
        </p:nvSpPr>
        <p:spPr>
          <a:xfrm>
            <a:off x="4703674" y="4090111"/>
            <a:ext cx="468173" cy="710489"/>
          </a:xfrm>
          <a:prstGeom prst="rect">
            <a:avLst/>
          </a:prstGeom>
          <a:solidFill>
            <a:srgbClr val="2E5BD8"/>
          </a:solidFill>
          <a:ln/>
        </p:spPr>
      </p:sp>
      <p:sp>
        <p:nvSpPr>
          <p:cNvPr id="78" name="Shape 76"/>
          <p:cNvSpPr/>
          <p:nvPr/>
        </p:nvSpPr>
        <p:spPr>
          <a:xfrm>
            <a:off x="4703674" y="1654150"/>
            <a:ext cx="468173" cy="2435962"/>
          </a:xfrm>
          <a:prstGeom prst="rect">
            <a:avLst/>
          </a:prstGeom>
          <a:solidFill>
            <a:srgbClr val="F5A742"/>
          </a:solidFill>
          <a:ln/>
        </p:spPr>
      </p:sp>
      <p:sp>
        <p:nvSpPr>
          <p:cNvPr id="79" name="Text 77"/>
          <p:cNvSpPr/>
          <p:nvPr/>
        </p:nvSpPr>
        <p:spPr>
          <a:xfrm>
            <a:off x="4520794" y="1434694"/>
            <a:ext cx="833933"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93</a:t>
            </a:r>
            <a:endParaRPr lang="en-US" sz="1000" dirty="0"/>
          </a:p>
        </p:txBody>
      </p:sp>
      <p:sp>
        <p:nvSpPr>
          <p:cNvPr id="80" name="Shape 78"/>
          <p:cNvSpPr/>
          <p:nvPr/>
        </p:nvSpPr>
        <p:spPr>
          <a:xfrm>
            <a:off x="1463040" y="1481328"/>
            <a:ext cx="201168" cy="164592"/>
          </a:xfrm>
          <a:prstGeom prst="rect">
            <a:avLst/>
          </a:prstGeom>
          <a:solidFill>
            <a:srgbClr val="2E5BD8"/>
          </a:solidFill>
          <a:ln/>
        </p:spPr>
      </p:sp>
      <p:sp>
        <p:nvSpPr>
          <p:cNvPr id="81" name="Text 79"/>
          <p:cNvSpPr/>
          <p:nvPr/>
        </p:nvSpPr>
        <p:spPr>
          <a:xfrm>
            <a:off x="1700784" y="1444752"/>
            <a:ext cx="914400" cy="219456"/>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thinking</a:t>
            </a:r>
            <a:endParaRPr lang="en-US" sz="1050" dirty="0"/>
          </a:p>
        </p:txBody>
      </p:sp>
      <p:sp>
        <p:nvSpPr>
          <p:cNvPr id="82" name="Shape 80"/>
          <p:cNvSpPr/>
          <p:nvPr/>
        </p:nvSpPr>
        <p:spPr>
          <a:xfrm>
            <a:off x="1463040" y="1755648"/>
            <a:ext cx="201168" cy="164592"/>
          </a:xfrm>
          <a:prstGeom prst="rect">
            <a:avLst/>
          </a:prstGeom>
          <a:solidFill>
            <a:srgbClr val="F5A742"/>
          </a:solidFill>
          <a:ln/>
        </p:spPr>
      </p:sp>
      <p:sp>
        <p:nvSpPr>
          <p:cNvPr id="83" name="Text 81"/>
          <p:cNvSpPr/>
          <p:nvPr/>
        </p:nvSpPr>
        <p:spPr>
          <a:xfrm>
            <a:off x="1700784" y="1719072"/>
            <a:ext cx="914400" cy="219456"/>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braking</a:t>
            </a:r>
            <a:endParaRPr lang="en-US" sz="10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43000"/>
                <a:gridCol w="868680"/>
                <a:gridCol w="1143000"/>
                <a:gridCol w="1143000"/>
                <a:gridCol w="1261872"/>
              </a:tblGrid>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speed / m/s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 mph</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thinking / m</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braking / m</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stopping / m</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b="1" dirty="0">
                          <a:solidFill>
                            <a:srgbClr val="C8414C"/>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10.5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414C"/>
                          </a:solidFill>
                          <a:latin typeface="Calibri" pitchFamily="34" charset="0"/>
                          <a:ea typeface="Calibri" pitchFamily="34" charset="-122"/>
                          <a:cs typeface="Calibri" pitchFamily="34" charset="-120"/>
                        </a:rPr>
                        <a:t>28.5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b="1" dirty="0">
                          <a:solidFill>
                            <a:srgbClr val="C8414C"/>
                          </a:solidFill>
                          <a:latin typeface="Calibri" pitchFamily="34" charset="0"/>
                          <a:ea typeface="Calibri" pitchFamily="34" charset="-122"/>
                          <a:cs typeface="Calibri" pitchFamily="34" charset="-120"/>
                        </a:rPr>
                        <a:t>46</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17.5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8414C"/>
                          </a:solidFill>
                          <a:latin typeface="Calibri" pitchFamily="34" charset="0"/>
                          <a:ea typeface="Calibri" pitchFamily="34" charset="-122"/>
                          <a:cs typeface="Calibri" pitchFamily="34" charset="-120"/>
                        </a:rPr>
                        <a:t>67.5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67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72</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b="1" dirty="0">
                          <a:solidFill>
                            <a:srgbClr val="C8414C"/>
                          </a:solidFill>
                          <a:latin typeface="Calibri" pitchFamily="34" charset="0"/>
                          <a:ea typeface="Calibri" pitchFamily="34" charset="-122"/>
                          <a:cs typeface="Calibri" pitchFamily="34" charset="-120"/>
                        </a:rPr>
                        <a:t>93</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85" name="Shape 82"/>
          <p:cNvSpPr/>
          <p:nvPr/>
        </p:nvSpPr>
        <p:spPr>
          <a:xfrm>
            <a:off x="6217920" y="3337560"/>
            <a:ext cx="5559552" cy="2377440"/>
          </a:xfrm>
          <a:prstGeom prst="roundRect">
            <a:avLst>
              <a:gd name="adj" fmla="val 2308"/>
            </a:avLst>
          </a:prstGeom>
          <a:solidFill>
            <a:srgbClr val="F5F8FE"/>
          </a:solidFill>
          <a:ln w="9525">
            <a:solidFill>
              <a:srgbClr val="D5DCEB"/>
            </a:solidFill>
            <a:prstDash val="solid"/>
          </a:ln>
        </p:spPr>
      </p:sp>
      <p:sp>
        <p:nvSpPr>
          <p:cNvPr id="86" name="Text 83"/>
          <p:cNvSpPr/>
          <p:nvPr/>
        </p:nvSpPr>
        <p:spPr>
          <a:xfrm>
            <a:off x="6382512" y="342900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Patterns to spot</a:t>
            </a:r>
            <a:endParaRPr lang="en-US" sz="1300" dirty="0"/>
          </a:p>
        </p:txBody>
      </p:sp>
      <p:sp>
        <p:nvSpPr>
          <p:cNvPr id="87" name="Text 84"/>
          <p:cNvSpPr/>
          <p:nvPr/>
        </p:nvSpPr>
        <p:spPr>
          <a:xfrm>
            <a:off x="6382512" y="3758184"/>
            <a:ext cx="5230368" cy="18836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Thinking distance ∝ speed:</a:t>
            </a:r>
            <a:r>
              <a:rPr lang="en-US" sz="1100" dirty="0">
                <a:solidFill>
                  <a:srgbClr val="262B3A"/>
                </a:solidFill>
                <a:latin typeface="Calibri" pitchFamily="34" charset="0"/>
                <a:ea typeface="Calibri" pitchFamily="34" charset="-122"/>
                <a:cs typeface="Calibri" pitchFamily="34" charset="-120"/>
              </a:rPr>
              <a:t> double the speed (10 → 20 m/s) → thinking distance doubles (7 → 14 m).</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Braking distance ∝ speed²:</a:t>
            </a:r>
            <a:r>
              <a:rPr lang="en-US" sz="1100" dirty="0">
                <a:solidFill>
                  <a:srgbClr val="262B3A"/>
                </a:solidFill>
                <a:latin typeface="Calibri" pitchFamily="34" charset="0"/>
                <a:ea typeface="Calibri" pitchFamily="34" charset="-122"/>
                <a:cs typeface="Calibri" pitchFamily="34" charset="-120"/>
              </a:rPr>
              <a:t> double the speed → braking distance </a:t>
            </a:r>
            <a:r>
              <a:rPr lang="en-US" sz="1100" b="1" dirty="0">
                <a:solidFill>
                  <a:srgbClr val="262B3A"/>
                </a:solidFill>
                <a:latin typeface="Calibri" pitchFamily="34" charset="0"/>
                <a:ea typeface="Calibri" pitchFamily="34" charset="-122"/>
                <a:cs typeface="Calibri" pitchFamily="34" charset="-120"/>
              </a:rPr>
              <a:t>× 4</a:t>
            </a:r>
            <a:r>
              <a:rPr lang="en-US" sz="1100" dirty="0">
                <a:solidFill>
                  <a:srgbClr val="262B3A"/>
                </a:solidFill>
                <a:latin typeface="Calibri" pitchFamily="34" charset="0"/>
                <a:ea typeface="Calibri" pitchFamily="34" charset="-122"/>
                <a:cs typeface="Calibri" pitchFamily="34" charset="-120"/>
              </a:rPr>
              <a:t> (8 → 32 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at high speed the </a:t>
            </a:r>
            <a:r>
              <a:rPr lang="en-US" sz="1100" b="1" dirty="0">
                <a:solidFill>
                  <a:srgbClr val="262B3A"/>
                </a:solidFill>
                <a:latin typeface="Calibri" pitchFamily="34" charset="0"/>
                <a:ea typeface="Calibri" pitchFamily="34" charset="-122"/>
                <a:cs typeface="Calibri" pitchFamily="34" charset="-120"/>
              </a:rPr>
              <a:t>braking</a:t>
            </a:r>
            <a:r>
              <a:rPr lang="en-US" sz="1100" dirty="0">
                <a:solidFill>
                  <a:srgbClr val="262B3A"/>
                </a:solidFill>
                <a:latin typeface="Calibri" pitchFamily="34" charset="0"/>
                <a:ea typeface="Calibri" pitchFamily="34" charset="-122"/>
                <a:cs typeface="Calibri" pitchFamily="34" charset="-120"/>
              </a:rPr>
              <a:t> part dominates: at 30 m/s it is 72 m of the 93 m.</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motorway stop at 70 mph is about </a:t>
            </a:r>
            <a:r>
              <a:rPr lang="en-US" sz="1100" b="1" dirty="0">
                <a:solidFill>
                  <a:srgbClr val="262B3A"/>
                </a:solidFill>
                <a:latin typeface="Calibri" pitchFamily="34" charset="0"/>
                <a:ea typeface="Calibri" pitchFamily="34" charset="-122"/>
                <a:cs typeface="Calibri" pitchFamily="34" charset="-120"/>
              </a:rPr>
              <a:t>96 m</a:t>
            </a:r>
            <a:r>
              <a:rPr lang="en-US" sz="1100" dirty="0">
                <a:solidFill>
                  <a:srgbClr val="262B3A"/>
                </a:solidFill>
                <a:latin typeface="Calibri" pitchFamily="34" charset="0"/>
                <a:ea typeface="Calibri" pitchFamily="34" charset="-122"/>
                <a:cs typeface="Calibri" pitchFamily="34" charset="-120"/>
              </a:rPr>
              <a:t> (Highway Code) – about 24 car lengths.</a:t>
            </a:r>
            <a:endParaRPr lang="en-US" sz="1100" dirty="0"/>
          </a:p>
        </p:txBody>
      </p:sp>
      <p:sp>
        <p:nvSpPr>
          <p:cNvPr id="88" name="Shape 85"/>
          <p:cNvSpPr/>
          <p:nvPr/>
        </p:nvSpPr>
        <p:spPr>
          <a:xfrm>
            <a:off x="411480" y="5833872"/>
            <a:ext cx="11368735" cy="530352"/>
          </a:xfrm>
          <a:prstGeom prst="rect">
            <a:avLst/>
          </a:prstGeom>
          <a:solidFill>
            <a:srgbClr val="FFF4E0"/>
          </a:solidFill>
          <a:ln w="6350">
            <a:solidFill>
              <a:srgbClr val="F1D9A8"/>
            </a:solidFill>
            <a:prstDash val="solid"/>
          </a:ln>
        </p:spPr>
      </p:sp>
      <p:sp>
        <p:nvSpPr>
          <p:cNvPr id="89" name="Shape 86"/>
          <p:cNvSpPr/>
          <p:nvPr/>
        </p:nvSpPr>
        <p:spPr>
          <a:xfrm>
            <a:off x="411480" y="5833872"/>
            <a:ext cx="82296" cy="530352"/>
          </a:xfrm>
          <a:prstGeom prst="rect">
            <a:avLst/>
          </a:prstGeom>
          <a:solidFill>
            <a:srgbClr val="E39A2F"/>
          </a:solidFill>
          <a:ln w="12700">
            <a:solidFill>
              <a:srgbClr val="E39A2F"/>
            </a:solidFill>
            <a:prstDash val="solid"/>
          </a:ln>
        </p:spPr>
      </p:sp>
      <p:sp>
        <p:nvSpPr>
          <p:cNvPr id="90" name="Text 8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by what factor does the braking distance increase from 10 m/s to 30 m/s? Explain why.</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Large decelerations: dangers and forces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2.31 • estimate the forces in typical situations on a public road</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2.31  |  37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force on a 60 kg passenger stopping from 20 m/s (bars to scale)</a:t>
            </a:r>
            <a:endParaRPr lang="en-US" sz="1000" dirty="0"/>
          </a:p>
        </p:txBody>
      </p:sp>
      <p:sp>
        <p:nvSpPr>
          <p:cNvPr id="12" name="Text 10"/>
          <p:cNvSpPr/>
          <p:nvPr/>
        </p:nvSpPr>
        <p:spPr>
          <a:xfrm>
            <a:off x="685800" y="1325880"/>
            <a:ext cx="5029200"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Same change in speed (20 m/s → 0), different stopping times</a:t>
            </a:r>
            <a:endParaRPr lang="en-US" sz="1150" dirty="0"/>
          </a:p>
        </p:txBody>
      </p:sp>
      <p:sp>
        <p:nvSpPr>
          <p:cNvPr id="13" name="Text 11"/>
          <p:cNvSpPr/>
          <p:nvPr/>
        </p:nvSpPr>
        <p:spPr>
          <a:xfrm>
            <a:off x="685800" y="1783080"/>
            <a:ext cx="5029200" cy="219456"/>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normal braking, 3.0 s</a:t>
            </a:r>
            <a:endParaRPr lang="en-US" sz="1050" dirty="0"/>
          </a:p>
        </p:txBody>
      </p:sp>
      <p:sp>
        <p:nvSpPr>
          <p:cNvPr id="14" name="Shape 12"/>
          <p:cNvSpPr/>
          <p:nvPr/>
        </p:nvSpPr>
        <p:spPr>
          <a:xfrm>
            <a:off x="685800" y="2057400"/>
            <a:ext cx="64008" cy="329184"/>
          </a:xfrm>
          <a:prstGeom prst="rect">
            <a:avLst/>
          </a:prstGeom>
          <a:solidFill>
            <a:srgbClr val="2E8B57"/>
          </a:solidFill>
          <a:ln/>
        </p:spPr>
      </p:sp>
      <p:sp>
        <p:nvSpPr>
          <p:cNvPr id="15" name="Text 13"/>
          <p:cNvSpPr/>
          <p:nvPr/>
        </p:nvSpPr>
        <p:spPr>
          <a:xfrm>
            <a:off x="841248" y="2057400"/>
            <a:ext cx="1737360" cy="329184"/>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400 N</a:t>
            </a:r>
            <a:endParaRPr lang="en-US" sz="1100" dirty="0"/>
          </a:p>
        </p:txBody>
      </p:sp>
      <p:sp>
        <p:nvSpPr>
          <p:cNvPr id="16" name="Text 14"/>
          <p:cNvSpPr/>
          <p:nvPr/>
        </p:nvSpPr>
        <p:spPr>
          <a:xfrm>
            <a:off x="685800" y="2404872"/>
            <a:ext cx="502920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deceleration ≈ 6.7 m/s² (≈ 0.67 g)</a:t>
            </a:r>
            <a:endParaRPr lang="en-US" sz="1050" dirty="0"/>
          </a:p>
        </p:txBody>
      </p:sp>
      <p:sp>
        <p:nvSpPr>
          <p:cNvPr id="17" name="Text 15"/>
          <p:cNvSpPr/>
          <p:nvPr/>
        </p:nvSpPr>
        <p:spPr>
          <a:xfrm>
            <a:off x="685800" y="2834640"/>
            <a:ext cx="5029200" cy="219456"/>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crash with crumple zone, seat belt, airbag: 0.20 s</a:t>
            </a:r>
            <a:endParaRPr lang="en-US" sz="1050" dirty="0"/>
          </a:p>
        </p:txBody>
      </p:sp>
      <p:sp>
        <p:nvSpPr>
          <p:cNvPr id="18" name="Shape 16"/>
          <p:cNvSpPr/>
          <p:nvPr/>
        </p:nvSpPr>
        <p:spPr>
          <a:xfrm>
            <a:off x="685800" y="3108960"/>
            <a:ext cx="960120" cy="329184"/>
          </a:xfrm>
          <a:prstGeom prst="rect">
            <a:avLst/>
          </a:prstGeom>
          <a:solidFill>
            <a:srgbClr val="B8730A"/>
          </a:solidFill>
          <a:ln/>
        </p:spPr>
      </p:sp>
      <p:sp>
        <p:nvSpPr>
          <p:cNvPr id="19" name="Text 17"/>
          <p:cNvSpPr/>
          <p:nvPr/>
        </p:nvSpPr>
        <p:spPr>
          <a:xfrm>
            <a:off x="1737360" y="3108960"/>
            <a:ext cx="1737360" cy="329184"/>
          </a:xfrm>
          <a:prstGeom prst="rect">
            <a:avLst/>
          </a:prstGeom>
          <a:noFill/>
          <a:ln/>
        </p:spPr>
        <p:txBody>
          <a:bodyPr wrap="square" lIns="0" tIns="0" rIns="0" bIns="0" rtlCol="0" anchor="ctr"/>
          <a:lstStyle/>
          <a:p>
            <a:pPr algn="l" indent="0" marL="0">
              <a:buNone/>
            </a:pPr>
            <a:r>
              <a:rPr lang="en-US" sz="1100" b="1" dirty="0">
                <a:solidFill>
                  <a:srgbClr val="B8730A"/>
                </a:solidFill>
                <a:latin typeface="Calibri" pitchFamily="34" charset="0"/>
                <a:ea typeface="Calibri" pitchFamily="34" charset="-122"/>
                <a:cs typeface="Calibri" pitchFamily="34" charset="-120"/>
              </a:rPr>
              <a:t>6 000 N</a:t>
            </a:r>
            <a:endParaRPr lang="en-US" sz="1100" dirty="0"/>
          </a:p>
        </p:txBody>
      </p:sp>
      <p:sp>
        <p:nvSpPr>
          <p:cNvPr id="20" name="Text 18"/>
          <p:cNvSpPr/>
          <p:nvPr/>
        </p:nvSpPr>
        <p:spPr>
          <a:xfrm>
            <a:off x="685800" y="3456432"/>
            <a:ext cx="502920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deceleration ≈ 100 m/s² (≈ 10 g)</a:t>
            </a:r>
            <a:endParaRPr lang="en-US" sz="1050" dirty="0"/>
          </a:p>
        </p:txBody>
      </p:sp>
      <p:sp>
        <p:nvSpPr>
          <p:cNvPr id="21" name="Text 19"/>
          <p:cNvSpPr/>
          <p:nvPr/>
        </p:nvSpPr>
        <p:spPr>
          <a:xfrm>
            <a:off x="685800" y="3886200"/>
            <a:ext cx="5029200" cy="219456"/>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crash into a rigid wall, no restraint: 0.05 s</a:t>
            </a:r>
            <a:endParaRPr lang="en-US" sz="1050" dirty="0"/>
          </a:p>
        </p:txBody>
      </p:sp>
      <p:sp>
        <p:nvSpPr>
          <p:cNvPr id="22" name="Shape 20"/>
          <p:cNvSpPr/>
          <p:nvPr/>
        </p:nvSpPr>
        <p:spPr>
          <a:xfrm>
            <a:off x="685800" y="4160520"/>
            <a:ext cx="3840480" cy="329184"/>
          </a:xfrm>
          <a:prstGeom prst="rect">
            <a:avLst/>
          </a:prstGeom>
          <a:solidFill>
            <a:srgbClr val="C8414C"/>
          </a:solidFill>
          <a:ln/>
        </p:spPr>
      </p:sp>
      <p:sp>
        <p:nvSpPr>
          <p:cNvPr id="23" name="Text 21"/>
          <p:cNvSpPr/>
          <p:nvPr/>
        </p:nvSpPr>
        <p:spPr>
          <a:xfrm>
            <a:off x="4617720" y="4160520"/>
            <a:ext cx="1737360" cy="329184"/>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24 000 N</a:t>
            </a:r>
            <a:endParaRPr lang="en-US" sz="1100" dirty="0"/>
          </a:p>
        </p:txBody>
      </p:sp>
      <p:sp>
        <p:nvSpPr>
          <p:cNvPr id="24" name="Text 22"/>
          <p:cNvSpPr/>
          <p:nvPr/>
        </p:nvSpPr>
        <p:spPr>
          <a:xfrm>
            <a:off x="685800" y="4507992"/>
            <a:ext cx="502920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deceleration ≈ 400 m/s² (≈ 40 g)</a:t>
            </a:r>
            <a:endParaRPr lang="en-US" sz="1050" dirty="0"/>
          </a:p>
        </p:txBody>
      </p:sp>
      <p:sp>
        <p:nvSpPr>
          <p:cNvPr id="25" name="Shape 2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6" name="Text 2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large decelerations are dangerous</a:t>
            </a:r>
            <a:endParaRPr lang="en-US" sz="1300" dirty="0"/>
          </a:p>
        </p:txBody>
      </p:sp>
      <p:sp>
        <p:nvSpPr>
          <p:cNvPr id="27" name="Text 2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sudden stop means a </a:t>
            </a:r>
            <a:r>
              <a:rPr lang="en-US" sz="1150" b="1" dirty="0">
                <a:solidFill>
                  <a:srgbClr val="262B3A"/>
                </a:solidFill>
                <a:latin typeface="Calibri" pitchFamily="34" charset="0"/>
                <a:ea typeface="Calibri" pitchFamily="34" charset="-122"/>
                <a:cs typeface="Calibri" pitchFamily="34" charset="-120"/>
              </a:rPr>
              <a:t>large deceleration</a:t>
            </a:r>
            <a:r>
              <a:rPr lang="en-US" sz="1150" dirty="0">
                <a:solidFill>
                  <a:srgbClr val="262B3A"/>
                </a:solidFill>
                <a:latin typeface="Calibri" pitchFamily="34" charset="0"/>
                <a:ea typeface="Calibri" pitchFamily="34" charset="-122"/>
                <a:cs typeface="Calibri" pitchFamily="34" charset="-120"/>
              </a:rPr>
              <a:t>, so (F = m × a) a </a:t>
            </a:r>
            <a:r>
              <a:rPr lang="en-US" sz="1150" b="1" dirty="0">
                <a:solidFill>
                  <a:srgbClr val="262B3A"/>
                </a:solidFill>
                <a:latin typeface="Calibri" pitchFamily="34" charset="0"/>
                <a:ea typeface="Calibri" pitchFamily="34" charset="-122"/>
                <a:cs typeface="Calibri" pitchFamily="34" charset="-120"/>
              </a:rPr>
              <a:t>large force</a:t>
            </a:r>
            <a:r>
              <a:rPr lang="en-US" sz="1150" dirty="0">
                <a:solidFill>
                  <a:srgbClr val="262B3A"/>
                </a:solidFill>
                <a:latin typeface="Calibri" pitchFamily="34" charset="0"/>
                <a:ea typeface="Calibri" pitchFamily="34" charset="-122"/>
                <a:cs typeface="Calibri" pitchFamily="34" charset="-120"/>
              </a:rPr>
              <a:t> acts on the people inside.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Large forces cause serious injury: bones break, organs hit the body wall, the neck is whiplashed.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Large decelerations also make </a:t>
            </a:r>
            <a:r>
              <a:rPr lang="en-US" sz="1150" b="1" dirty="0">
                <a:solidFill>
                  <a:srgbClr val="262B3A"/>
                </a:solidFill>
                <a:latin typeface="Calibri" pitchFamily="34" charset="0"/>
                <a:ea typeface="Calibri" pitchFamily="34" charset="-122"/>
                <a:cs typeface="Calibri" pitchFamily="34" charset="-120"/>
              </a:rPr>
              <a:t>brakes overheat</a:t>
            </a:r>
            <a:r>
              <a:rPr lang="en-US" sz="1150" dirty="0">
                <a:solidFill>
                  <a:srgbClr val="262B3A"/>
                </a:solidFill>
                <a:latin typeface="Calibri" pitchFamily="34" charset="0"/>
                <a:ea typeface="Calibri" pitchFamily="34" charset="-122"/>
                <a:cs typeface="Calibri" pitchFamily="34" charset="-120"/>
              </a:rPr>
              <a:t> and tyres skid.</a:t>
            </a:r>
            <a:endParaRPr lang="en-US" sz="1150" dirty="0"/>
          </a:p>
          <a:p>
            <a:pPr marL="152400" indent="-152400">
              <a:spcAft>
                <a:spcPts val="300"/>
              </a:spcAft>
              <a:buSzPct val="100000"/>
              <a:buChar char="▪"/>
            </a:pPr>
            <a:r>
              <a:rPr lang="en-US" sz="1150" b="1" dirty="0">
                <a:solidFill>
                  <a:srgbClr val="C8414C"/>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estimate</a:t>
            </a:r>
            <a:r>
              <a:rPr lang="en-US" sz="1150" dirty="0">
                <a:solidFill>
                  <a:srgbClr val="262B3A"/>
                </a:solidFill>
                <a:latin typeface="Calibri" pitchFamily="34" charset="0"/>
                <a:ea typeface="Calibri" pitchFamily="34" charset="-122"/>
                <a:cs typeface="Calibri" pitchFamily="34" charset="-120"/>
              </a:rPr>
              <a:t> the force: estimate the speed, mass and stopping time, then use a = (v − u) ÷ t and F = m × a.</a:t>
            </a:r>
            <a:endParaRPr lang="en-US" sz="1150" dirty="0"/>
          </a:p>
        </p:txBody>
      </p:sp>
      <p:sp>
        <p:nvSpPr>
          <p:cNvPr id="28" name="Shape 2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9" name="Text 2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Estimate the force (HT)</a:t>
            </a:r>
            <a:endParaRPr lang="en-US" sz="1300" dirty="0"/>
          </a:p>
        </p:txBody>
      </p:sp>
      <p:sp>
        <p:nvSpPr>
          <p:cNvPr id="30" name="Text 2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60 kg passenger stops from 20 m/s in 0.20 s in a crash.</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Deceleration   </a:t>
            </a:r>
            <a:r>
              <a:rPr lang="en-US" sz="1100" dirty="0">
                <a:solidFill>
                  <a:srgbClr val="262B3A"/>
                </a:solidFill>
                <a:latin typeface="Calibri" pitchFamily="34" charset="0"/>
                <a:ea typeface="Calibri" pitchFamily="34" charset="-122"/>
                <a:cs typeface="Calibri" pitchFamily="34" charset="-120"/>
              </a:rPr>
              <a:t>a = (0 − 20) ÷ 0.20 = −100 m/s²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Force   </a:t>
            </a:r>
            <a:r>
              <a:rPr lang="en-US" sz="1100" dirty="0">
                <a:solidFill>
                  <a:srgbClr val="262B3A"/>
                </a:solidFill>
                <a:latin typeface="Calibri" pitchFamily="34" charset="0"/>
                <a:ea typeface="Calibri" pitchFamily="34" charset="-122"/>
                <a:cs typeface="Calibri" pitchFamily="34" charset="-120"/>
              </a:rPr>
              <a:t>F = m × a = 60 × 100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Compare   </a:t>
            </a:r>
            <a:r>
              <a:rPr lang="en-US" sz="1100" dirty="0">
                <a:solidFill>
                  <a:srgbClr val="262B3A"/>
                </a:solidFill>
                <a:latin typeface="Calibri" pitchFamily="34" charset="0"/>
                <a:ea typeface="Calibri" pitchFamily="34" charset="-122"/>
                <a:cs typeface="Calibri" pitchFamily="34" charset="-120"/>
              </a:rPr>
              <a:t>about 10 × the passenger’s weight (600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F ≈ 6000 N</a:t>
            </a:r>
            <a:endParaRPr lang="en-US" sz="1100" dirty="0"/>
          </a:p>
        </p:txBody>
      </p:sp>
      <p:sp>
        <p:nvSpPr>
          <p:cNvPr id="31" name="Shape 29"/>
          <p:cNvSpPr/>
          <p:nvPr/>
        </p:nvSpPr>
        <p:spPr>
          <a:xfrm>
            <a:off x="411480" y="5833872"/>
            <a:ext cx="11368735" cy="530352"/>
          </a:xfrm>
          <a:prstGeom prst="rect">
            <a:avLst/>
          </a:prstGeom>
          <a:solidFill>
            <a:srgbClr val="FFF4E0"/>
          </a:solidFill>
          <a:ln w="6350">
            <a:solidFill>
              <a:srgbClr val="F1D9A8"/>
            </a:solidFill>
            <a:prstDash val="solid"/>
          </a:ln>
        </p:spPr>
      </p:sp>
      <p:sp>
        <p:nvSpPr>
          <p:cNvPr id="32" name="Shape 30"/>
          <p:cNvSpPr/>
          <p:nvPr/>
        </p:nvSpPr>
        <p:spPr>
          <a:xfrm>
            <a:off x="411480" y="5833872"/>
            <a:ext cx="82296" cy="530352"/>
          </a:xfrm>
          <a:prstGeom prst="rect">
            <a:avLst/>
          </a:prstGeom>
          <a:solidFill>
            <a:srgbClr val="E39A2F"/>
          </a:solidFill>
          <a:ln w="12700">
            <a:solidFill>
              <a:srgbClr val="E39A2F"/>
            </a:solidFill>
            <a:prstDash val="solid"/>
          </a:ln>
        </p:spPr>
      </p:sp>
      <p:sp>
        <p:nvSpPr>
          <p:cNvPr id="33" name="Text 3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cyclist (total mass 80 kg) at 6 m/s stops in 0.1 s when hitting a wall. Estimate the force on the cyclist.</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Braking distance and kinetic energy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2.33 • work done by the brakes = initial kinetic energy, so braking distance ∝ v²</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2.33  |  38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1200 kg car, braking force 6000 N: plotted to scale</a:t>
            </a:r>
            <a:endParaRPr lang="en-US" sz="1000" dirty="0"/>
          </a:p>
        </p:txBody>
      </p:sp>
      <p:sp>
        <p:nvSpPr>
          <p:cNvPr id="12" name="Shape 10"/>
          <p:cNvSpPr/>
          <p:nvPr/>
        </p:nvSpPr>
        <p:spPr>
          <a:xfrm>
            <a:off x="1280160" y="1417320"/>
            <a:ext cx="4389120" cy="3108960"/>
          </a:xfrm>
          <a:prstGeom prst="rect">
            <a:avLst/>
          </a:prstGeom>
          <a:solidFill>
            <a:srgbClr val="FFFFFF"/>
          </a:solidFill>
          <a:ln/>
        </p:spPr>
      </p:sp>
      <p:sp>
        <p:nvSpPr>
          <p:cNvPr id="13" name="Shape 11"/>
          <p:cNvSpPr/>
          <p:nvPr/>
        </p:nvSpPr>
        <p:spPr>
          <a:xfrm>
            <a:off x="1280160" y="1417320"/>
            <a:ext cx="91" cy="3108960"/>
          </a:xfrm>
          <a:prstGeom prst="line">
            <a:avLst/>
          </a:prstGeom>
          <a:noFill/>
          <a:ln w="6350">
            <a:solidFill>
              <a:srgbClr val="C9D3E6"/>
            </a:solidFill>
            <a:prstDash val="solid"/>
          </a:ln>
        </p:spPr>
      </p:sp>
      <p:sp>
        <p:nvSpPr>
          <p:cNvPr id="14" name="Shape 12"/>
          <p:cNvSpPr/>
          <p:nvPr/>
        </p:nvSpPr>
        <p:spPr>
          <a:xfrm>
            <a:off x="1828800" y="1417320"/>
            <a:ext cx="91" cy="3108960"/>
          </a:xfrm>
          <a:prstGeom prst="line">
            <a:avLst/>
          </a:prstGeom>
          <a:noFill/>
          <a:ln w="6350">
            <a:solidFill>
              <a:srgbClr val="E6EBF4"/>
            </a:solidFill>
            <a:prstDash val="solid"/>
          </a:ln>
        </p:spPr>
      </p:sp>
      <p:sp>
        <p:nvSpPr>
          <p:cNvPr id="15" name="Shape 13"/>
          <p:cNvSpPr/>
          <p:nvPr/>
        </p:nvSpPr>
        <p:spPr>
          <a:xfrm>
            <a:off x="2377440" y="1417320"/>
            <a:ext cx="91" cy="3108960"/>
          </a:xfrm>
          <a:prstGeom prst="line">
            <a:avLst/>
          </a:prstGeom>
          <a:noFill/>
          <a:ln w="6350">
            <a:solidFill>
              <a:srgbClr val="C9D3E6"/>
            </a:solidFill>
            <a:prstDash val="solid"/>
          </a:ln>
        </p:spPr>
      </p:sp>
      <p:sp>
        <p:nvSpPr>
          <p:cNvPr id="16" name="Shape 14"/>
          <p:cNvSpPr/>
          <p:nvPr/>
        </p:nvSpPr>
        <p:spPr>
          <a:xfrm>
            <a:off x="2926080" y="1417320"/>
            <a:ext cx="91" cy="3108960"/>
          </a:xfrm>
          <a:prstGeom prst="line">
            <a:avLst/>
          </a:prstGeom>
          <a:noFill/>
          <a:ln w="6350">
            <a:solidFill>
              <a:srgbClr val="E6EBF4"/>
            </a:solidFill>
            <a:prstDash val="solid"/>
          </a:ln>
        </p:spPr>
      </p:sp>
      <p:sp>
        <p:nvSpPr>
          <p:cNvPr id="17" name="Shape 15"/>
          <p:cNvSpPr/>
          <p:nvPr/>
        </p:nvSpPr>
        <p:spPr>
          <a:xfrm>
            <a:off x="3474720" y="1417320"/>
            <a:ext cx="91" cy="3108960"/>
          </a:xfrm>
          <a:prstGeom prst="line">
            <a:avLst/>
          </a:prstGeom>
          <a:noFill/>
          <a:ln w="6350">
            <a:solidFill>
              <a:srgbClr val="C9D3E6"/>
            </a:solidFill>
            <a:prstDash val="solid"/>
          </a:ln>
        </p:spPr>
      </p:sp>
      <p:sp>
        <p:nvSpPr>
          <p:cNvPr id="18" name="Shape 16"/>
          <p:cNvSpPr/>
          <p:nvPr/>
        </p:nvSpPr>
        <p:spPr>
          <a:xfrm>
            <a:off x="4023360" y="1417320"/>
            <a:ext cx="91" cy="3108960"/>
          </a:xfrm>
          <a:prstGeom prst="line">
            <a:avLst/>
          </a:prstGeom>
          <a:noFill/>
          <a:ln w="6350">
            <a:solidFill>
              <a:srgbClr val="E6EBF4"/>
            </a:solidFill>
            <a:prstDash val="solid"/>
          </a:ln>
        </p:spPr>
      </p:sp>
      <p:sp>
        <p:nvSpPr>
          <p:cNvPr id="19" name="Shape 17"/>
          <p:cNvSpPr/>
          <p:nvPr/>
        </p:nvSpPr>
        <p:spPr>
          <a:xfrm>
            <a:off x="4572000" y="1417320"/>
            <a:ext cx="91" cy="3108960"/>
          </a:xfrm>
          <a:prstGeom prst="line">
            <a:avLst/>
          </a:prstGeom>
          <a:noFill/>
          <a:ln w="6350">
            <a:solidFill>
              <a:srgbClr val="C9D3E6"/>
            </a:solidFill>
            <a:prstDash val="solid"/>
          </a:ln>
        </p:spPr>
      </p:sp>
      <p:sp>
        <p:nvSpPr>
          <p:cNvPr id="20" name="Shape 18"/>
          <p:cNvSpPr/>
          <p:nvPr/>
        </p:nvSpPr>
        <p:spPr>
          <a:xfrm>
            <a:off x="5120640" y="1417320"/>
            <a:ext cx="91" cy="3108960"/>
          </a:xfrm>
          <a:prstGeom prst="line">
            <a:avLst/>
          </a:prstGeom>
          <a:noFill/>
          <a:ln w="6350">
            <a:solidFill>
              <a:srgbClr val="E6EBF4"/>
            </a:solidFill>
            <a:prstDash val="solid"/>
          </a:ln>
        </p:spPr>
      </p:sp>
      <p:sp>
        <p:nvSpPr>
          <p:cNvPr id="21" name="Shape 19"/>
          <p:cNvSpPr/>
          <p:nvPr/>
        </p:nvSpPr>
        <p:spPr>
          <a:xfrm>
            <a:off x="5669280" y="1417320"/>
            <a:ext cx="91" cy="3108960"/>
          </a:xfrm>
          <a:prstGeom prst="line">
            <a:avLst/>
          </a:prstGeom>
          <a:noFill/>
          <a:ln w="6350">
            <a:solidFill>
              <a:srgbClr val="C9D3E6"/>
            </a:solidFill>
            <a:prstDash val="solid"/>
          </a:ln>
        </p:spPr>
      </p:sp>
      <p:sp>
        <p:nvSpPr>
          <p:cNvPr id="22" name="Shape 20"/>
          <p:cNvSpPr/>
          <p:nvPr/>
        </p:nvSpPr>
        <p:spPr>
          <a:xfrm>
            <a:off x="1280160" y="4526280"/>
            <a:ext cx="4389120" cy="91"/>
          </a:xfrm>
          <a:prstGeom prst="line">
            <a:avLst/>
          </a:prstGeom>
          <a:noFill/>
          <a:ln w="6350">
            <a:solidFill>
              <a:srgbClr val="C9D3E6"/>
            </a:solidFill>
            <a:prstDash val="solid"/>
          </a:ln>
        </p:spPr>
      </p:sp>
      <p:sp>
        <p:nvSpPr>
          <p:cNvPr id="23" name="Shape 21"/>
          <p:cNvSpPr/>
          <p:nvPr/>
        </p:nvSpPr>
        <p:spPr>
          <a:xfrm>
            <a:off x="1280160" y="4137660"/>
            <a:ext cx="4389120" cy="91"/>
          </a:xfrm>
          <a:prstGeom prst="line">
            <a:avLst/>
          </a:prstGeom>
          <a:noFill/>
          <a:ln w="6350">
            <a:solidFill>
              <a:srgbClr val="E6EBF4"/>
            </a:solidFill>
            <a:prstDash val="solid"/>
          </a:ln>
        </p:spPr>
      </p:sp>
      <p:sp>
        <p:nvSpPr>
          <p:cNvPr id="24" name="Shape 22"/>
          <p:cNvSpPr/>
          <p:nvPr/>
        </p:nvSpPr>
        <p:spPr>
          <a:xfrm>
            <a:off x="1280160" y="3749040"/>
            <a:ext cx="4389120" cy="91"/>
          </a:xfrm>
          <a:prstGeom prst="line">
            <a:avLst/>
          </a:prstGeom>
          <a:noFill/>
          <a:ln w="6350">
            <a:solidFill>
              <a:srgbClr val="C9D3E6"/>
            </a:solidFill>
            <a:prstDash val="solid"/>
          </a:ln>
        </p:spPr>
      </p:sp>
      <p:sp>
        <p:nvSpPr>
          <p:cNvPr id="25" name="Shape 23"/>
          <p:cNvSpPr/>
          <p:nvPr/>
        </p:nvSpPr>
        <p:spPr>
          <a:xfrm>
            <a:off x="1280160" y="3360420"/>
            <a:ext cx="4389120" cy="91"/>
          </a:xfrm>
          <a:prstGeom prst="line">
            <a:avLst/>
          </a:prstGeom>
          <a:noFill/>
          <a:ln w="6350">
            <a:solidFill>
              <a:srgbClr val="E6EBF4"/>
            </a:solidFill>
            <a:prstDash val="solid"/>
          </a:ln>
        </p:spPr>
      </p:sp>
      <p:sp>
        <p:nvSpPr>
          <p:cNvPr id="26" name="Shape 24"/>
          <p:cNvSpPr/>
          <p:nvPr/>
        </p:nvSpPr>
        <p:spPr>
          <a:xfrm>
            <a:off x="1280160" y="2971800"/>
            <a:ext cx="4389120" cy="91"/>
          </a:xfrm>
          <a:prstGeom prst="line">
            <a:avLst/>
          </a:prstGeom>
          <a:noFill/>
          <a:ln w="6350">
            <a:solidFill>
              <a:srgbClr val="C9D3E6"/>
            </a:solidFill>
            <a:prstDash val="solid"/>
          </a:ln>
        </p:spPr>
      </p:sp>
      <p:sp>
        <p:nvSpPr>
          <p:cNvPr id="27" name="Shape 25"/>
          <p:cNvSpPr/>
          <p:nvPr/>
        </p:nvSpPr>
        <p:spPr>
          <a:xfrm>
            <a:off x="1280160" y="2583180"/>
            <a:ext cx="4389120" cy="91"/>
          </a:xfrm>
          <a:prstGeom prst="line">
            <a:avLst/>
          </a:prstGeom>
          <a:noFill/>
          <a:ln w="6350">
            <a:solidFill>
              <a:srgbClr val="E6EBF4"/>
            </a:solidFill>
            <a:prstDash val="solid"/>
          </a:ln>
        </p:spPr>
      </p:sp>
      <p:sp>
        <p:nvSpPr>
          <p:cNvPr id="28" name="Shape 26"/>
          <p:cNvSpPr/>
          <p:nvPr/>
        </p:nvSpPr>
        <p:spPr>
          <a:xfrm>
            <a:off x="1280160" y="2194560"/>
            <a:ext cx="4389120" cy="91"/>
          </a:xfrm>
          <a:prstGeom prst="line">
            <a:avLst/>
          </a:prstGeom>
          <a:noFill/>
          <a:ln w="6350">
            <a:solidFill>
              <a:srgbClr val="C9D3E6"/>
            </a:solidFill>
            <a:prstDash val="solid"/>
          </a:ln>
        </p:spPr>
      </p:sp>
      <p:sp>
        <p:nvSpPr>
          <p:cNvPr id="29" name="Shape 27"/>
          <p:cNvSpPr/>
          <p:nvPr/>
        </p:nvSpPr>
        <p:spPr>
          <a:xfrm>
            <a:off x="1280160" y="1805940"/>
            <a:ext cx="4389120" cy="91"/>
          </a:xfrm>
          <a:prstGeom prst="line">
            <a:avLst/>
          </a:prstGeom>
          <a:noFill/>
          <a:ln w="6350">
            <a:solidFill>
              <a:srgbClr val="E6EBF4"/>
            </a:solidFill>
            <a:prstDash val="solid"/>
          </a:ln>
        </p:spPr>
      </p:sp>
      <p:sp>
        <p:nvSpPr>
          <p:cNvPr id="30" name="Shape 28"/>
          <p:cNvSpPr/>
          <p:nvPr/>
        </p:nvSpPr>
        <p:spPr>
          <a:xfrm>
            <a:off x="1280160" y="1417320"/>
            <a:ext cx="4389120" cy="91"/>
          </a:xfrm>
          <a:prstGeom prst="line">
            <a:avLst/>
          </a:prstGeom>
          <a:noFill/>
          <a:ln w="6350">
            <a:solidFill>
              <a:srgbClr val="C9D3E6"/>
            </a:solidFill>
            <a:prstDash val="solid"/>
          </a:ln>
        </p:spPr>
      </p:sp>
      <p:sp>
        <p:nvSpPr>
          <p:cNvPr id="31" name="Shape 29"/>
          <p:cNvSpPr/>
          <p:nvPr/>
        </p:nvSpPr>
        <p:spPr>
          <a:xfrm>
            <a:off x="1280160" y="4526280"/>
            <a:ext cx="4389120" cy="91"/>
          </a:xfrm>
          <a:prstGeom prst="line">
            <a:avLst/>
          </a:prstGeom>
          <a:noFill/>
          <a:ln w="19050">
            <a:solidFill>
              <a:srgbClr val="1A2340"/>
            </a:solidFill>
            <a:prstDash val="solid"/>
          </a:ln>
        </p:spPr>
      </p:sp>
      <p:sp>
        <p:nvSpPr>
          <p:cNvPr id="32" name="Shape 30"/>
          <p:cNvSpPr/>
          <p:nvPr/>
        </p:nvSpPr>
        <p:spPr>
          <a:xfrm flipV="1">
            <a:off x="1280160" y="1417320"/>
            <a:ext cx="91" cy="3108960"/>
          </a:xfrm>
          <a:prstGeom prst="line">
            <a:avLst/>
          </a:prstGeom>
          <a:noFill/>
          <a:ln w="19050">
            <a:solidFill>
              <a:srgbClr val="1A2340"/>
            </a:solidFill>
            <a:prstDash val="solid"/>
          </a:ln>
        </p:spPr>
      </p:sp>
      <p:sp>
        <p:nvSpPr>
          <p:cNvPr id="33" name="Shape 31"/>
          <p:cNvSpPr/>
          <p:nvPr/>
        </p:nvSpPr>
        <p:spPr>
          <a:xfrm>
            <a:off x="1280160" y="4526280"/>
            <a:ext cx="91" cy="54864"/>
          </a:xfrm>
          <a:prstGeom prst="line">
            <a:avLst/>
          </a:prstGeom>
          <a:noFill/>
          <a:ln w="12700">
            <a:solidFill>
              <a:srgbClr val="1A2340"/>
            </a:solidFill>
            <a:prstDash val="solid"/>
          </a:ln>
        </p:spPr>
      </p:sp>
      <p:sp>
        <p:nvSpPr>
          <p:cNvPr id="34" name="Text 32"/>
          <p:cNvSpPr/>
          <p:nvPr/>
        </p:nvSpPr>
        <p:spPr>
          <a:xfrm>
            <a:off x="100584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5" name="Shape 33"/>
          <p:cNvSpPr/>
          <p:nvPr/>
        </p:nvSpPr>
        <p:spPr>
          <a:xfrm>
            <a:off x="2377440" y="4526280"/>
            <a:ext cx="91" cy="54864"/>
          </a:xfrm>
          <a:prstGeom prst="line">
            <a:avLst/>
          </a:prstGeom>
          <a:noFill/>
          <a:ln w="12700">
            <a:solidFill>
              <a:srgbClr val="1A2340"/>
            </a:solidFill>
            <a:prstDash val="solid"/>
          </a:ln>
        </p:spPr>
      </p:sp>
      <p:sp>
        <p:nvSpPr>
          <p:cNvPr id="36" name="Text 34"/>
          <p:cNvSpPr/>
          <p:nvPr/>
        </p:nvSpPr>
        <p:spPr>
          <a:xfrm>
            <a:off x="210312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7" name="Shape 35"/>
          <p:cNvSpPr/>
          <p:nvPr/>
        </p:nvSpPr>
        <p:spPr>
          <a:xfrm>
            <a:off x="3474720" y="4526280"/>
            <a:ext cx="91" cy="54864"/>
          </a:xfrm>
          <a:prstGeom prst="line">
            <a:avLst/>
          </a:prstGeom>
          <a:noFill/>
          <a:ln w="12700">
            <a:solidFill>
              <a:srgbClr val="1A2340"/>
            </a:solidFill>
            <a:prstDash val="solid"/>
          </a:ln>
        </p:spPr>
      </p:sp>
      <p:sp>
        <p:nvSpPr>
          <p:cNvPr id="38" name="Text 36"/>
          <p:cNvSpPr/>
          <p:nvPr/>
        </p:nvSpPr>
        <p:spPr>
          <a:xfrm>
            <a:off x="320040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39" name="Shape 37"/>
          <p:cNvSpPr/>
          <p:nvPr/>
        </p:nvSpPr>
        <p:spPr>
          <a:xfrm>
            <a:off x="4572000" y="4526280"/>
            <a:ext cx="91" cy="54864"/>
          </a:xfrm>
          <a:prstGeom prst="line">
            <a:avLst/>
          </a:prstGeom>
          <a:noFill/>
          <a:ln w="12700">
            <a:solidFill>
              <a:srgbClr val="1A2340"/>
            </a:solidFill>
            <a:prstDash val="solid"/>
          </a:ln>
        </p:spPr>
      </p:sp>
      <p:sp>
        <p:nvSpPr>
          <p:cNvPr id="40" name="Text 38"/>
          <p:cNvSpPr/>
          <p:nvPr/>
        </p:nvSpPr>
        <p:spPr>
          <a:xfrm>
            <a:off x="429768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1" name="Shape 39"/>
          <p:cNvSpPr/>
          <p:nvPr/>
        </p:nvSpPr>
        <p:spPr>
          <a:xfrm>
            <a:off x="5669280" y="4526280"/>
            <a:ext cx="91" cy="54864"/>
          </a:xfrm>
          <a:prstGeom prst="line">
            <a:avLst/>
          </a:prstGeom>
          <a:noFill/>
          <a:ln w="12700">
            <a:solidFill>
              <a:srgbClr val="1A2340"/>
            </a:solidFill>
            <a:prstDash val="solid"/>
          </a:ln>
        </p:spPr>
      </p:sp>
      <p:sp>
        <p:nvSpPr>
          <p:cNvPr id="42" name="Text 40"/>
          <p:cNvSpPr/>
          <p:nvPr/>
        </p:nvSpPr>
        <p:spPr>
          <a:xfrm>
            <a:off x="539496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3" name="Shape 41"/>
          <p:cNvSpPr/>
          <p:nvPr/>
        </p:nvSpPr>
        <p:spPr>
          <a:xfrm>
            <a:off x="1225296" y="4526280"/>
            <a:ext cx="54864" cy="91"/>
          </a:xfrm>
          <a:prstGeom prst="line">
            <a:avLst/>
          </a:prstGeom>
          <a:noFill/>
          <a:ln w="12700">
            <a:solidFill>
              <a:srgbClr val="1A2340"/>
            </a:solidFill>
            <a:prstDash val="solid"/>
          </a:ln>
        </p:spPr>
      </p:sp>
      <p:sp>
        <p:nvSpPr>
          <p:cNvPr id="44" name="Text 42"/>
          <p:cNvSpPr/>
          <p:nvPr/>
        </p:nvSpPr>
        <p:spPr>
          <a:xfrm>
            <a:off x="841248" y="4434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1225296" y="3749040"/>
            <a:ext cx="54864" cy="91"/>
          </a:xfrm>
          <a:prstGeom prst="line">
            <a:avLst/>
          </a:prstGeom>
          <a:noFill/>
          <a:ln w="12700">
            <a:solidFill>
              <a:srgbClr val="1A2340"/>
            </a:solidFill>
            <a:prstDash val="solid"/>
          </a:ln>
        </p:spPr>
      </p:sp>
      <p:sp>
        <p:nvSpPr>
          <p:cNvPr id="46" name="Text 44"/>
          <p:cNvSpPr/>
          <p:nvPr/>
        </p:nvSpPr>
        <p:spPr>
          <a:xfrm>
            <a:off x="841248" y="3657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7" name="Shape 45"/>
          <p:cNvSpPr/>
          <p:nvPr/>
        </p:nvSpPr>
        <p:spPr>
          <a:xfrm>
            <a:off x="1225296" y="2971800"/>
            <a:ext cx="54864" cy="91"/>
          </a:xfrm>
          <a:prstGeom prst="line">
            <a:avLst/>
          </a:prstGeom>
          <a:noFill/>
          <a:ln w="12700">
            <a:solidFill>
              <a:srgbClr val="1A2340"/>
            </a:solidFill>
            <a:prstDash val="solid"/>
          </a:ln>
        </p:spPr>
      </p:sp>
      <p:sp>
        <p:nvSpPr>
          <p:cNvPr id="48" name="Text 46"/>
          <p:cNvSpPr/>
          <p:nvPr/>
        </p:nvSpPr>
        <p:spPr>
          <a:xfrm>
            <a:off x="841248" y="2880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49" name="Shape 47"/>
          <p:cNvSpPr/>
          <p:nvPr/>
        </p:nvSpPr>
        <p:spPr>
          <a:xfrm>
            <a:off x="1225296" y="2194560"/>
            <a:ext cx="54864" cy="91"/>
          </a:xfrm>
          <a:prstGeom prst="line">
            <a:avLst/>
          </a:prstGeom>
          <a:noFill/>
          <a:ln w="12700">
            <a:solidFill>
              <a:srgbClr val="1A2340"/>
            </a:solidFill>
            <a:prstDash val="solid"/>
          </a:ln>
        </p:spPr>
      </p:sp>
      <p:sp>
        <p:nvSpPr>
          <p:cNvPr id="50" name="Text 48"/>
          <p:cNvSpPr/>
          <p:nvPr/>
        </p:nvSpPr>
        <p:spPr>
          <a:xfrm>
            <a:off x="841248" y="21031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51" name="Shape 49"/>
          <p:cNvSpPr/>
          <p:nvPr/>
        </p:nvSpPr>
        <p:spPr>
          <a:xfrm>
            <a:off x="1225296" y="1417320"/>
            <a:ext cx="54864" cy="91"/>
          </a:xfrm>
          <a:prstGeom prst="line">
            <a:avLst/>
          </a:prstGeom>
          <a:noFill/>
          <a:ln w="12700">
            <a:solidFill>
              <a:srgbClr val="1A2340"/>
            </a:solidFill>
            <a:prstDash val="solid"/>
          </a:ln>
        </p:spPr>
      </p:sp>
      <p:sp>
        <p:nvSpPr>
          <p:cNvPr id="52" name="Text 50"/>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p>
        </p:txBody>
      </p:sp>
      <p:sp>
        <p:nvSpPr>
          <p:cNvPr id="53" name="Text 51"/>
          <p:cNvSpPr/>
          <p:nvPr/>
        </p:nvSpPr>
        <p:spPr>
          <a:xfrm>
            <a:off x="1280160" y="477316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initial speed / m/s</a:t>
            </a:r>
            <a:endParaRPr lang="en-US" sz="1050" dirty="0"/>
          </a:p>
        </p:txBody>
      </p:sp>
      <p:sp>
        <p:nvSpPr>
          <p:cNvPr id="54" name="Text 52"/>
          <p:cNvSpPr/>
          <p:nvPr/>
        </p:nvSpPr>
        <p:spPr>
          <a:xfrm rot="16200000">
            <a:off x="-841248" y="284378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braking distance / m</a:t>
            </a:r>
            <a:endParaRPr lang="en-US" sz="1050" dirty="0"/>
          </a:p>
        </p:txBody>
      </p:sp>
      <p:sp>
        <p:nvSpPr>
          <p:cNvPr id="55" name="Shape 53"/>
          <p:cNvSpPr/>
          <p:nvPr/>
        </p:nvSpPr>
        <p:spPr>
          <a:xfrm flipV="1">
            <a:off x="1280160" y="4524337"/>
            <a:ext cx="109728" cy="1943"/>
          </a:xfrm>
          <a:prstGeom prst="line">
            <a:avLst/>
          </a:prstGeom>
          <a:noFill/>
          <a:ln w="31750">
            <a:solidFill>
              <a:srgbClr val="C8414C"/>
            </a:solidFill>
            <a:prstDash val="solid"/>
          </a:ln>
        </p:spPr>
      </p:sp>
      <p:sp>
        <p:nvSpPr>
          <p:cNvPr id="56" name="Shape 54"/>
          <p:cNvSpPr/>
          <p:nvPr/>
        </p:nvSpPr>
        <p:spPr>
          <a:xfrm flipV="1">
            <a:off x="1389888" y="4518508"/>
            <a:ext cx="109728" cy="5829"/>
          </a:xfrm>
          <a:prstGeom prst="line">
            <a:avLst/>
          </a:prstGeom>
          <a:noFill/>
          <a:ln w="31750">
            <a:solidFill>
              <a:srgbClr val="C8414C"/>
            </a:solidFill>
            <a:prstDash val="solid"/>
          </a:ln>
        </p:spPr>
      </p:sp>
      <p:sp>
        <p:nvSpPr>
          <p:cNvPr id="57" name="Shape 55"/>
          <p:cNvSpPr/>
          <p:nvPr/>
        </p:nvSpPr>
        <p:spPr>
          <a:xfrm flipV="1">
            <a:off x="1499616" y="4508792"/>
            <a:ext cx="109728" cy="9716"/>
          </a:xfrm>
          <a:prstGeom prst="line">
            <a:avLst/>
          </a:prstGeom>
          <a:noFill/>
          <a:ln w="31750">
            <a:solidFill>
              <a:srgbClr val="C8414C"/>
            </a:solidFill>
            <a:prstDash val="solid"/>
          </a:ln>
        </p:spPr>
      </p:sp>
      <p:sp>
        <p:nvSpPr>
          <p:cNvPr id="58" name="Shape 56"/>
          <p:cNvSpPr/>
          <p:nvPr/>
        </p:nvSpPr>
        <p:spPr>
          <a:xfrm flipV="1">
            <a:off x="1609344" y="4495190"/>
            <a:ext cx="109728" cy="13602"/>
          </a:xfrm>
          <a:prstGeom prst="line">
            <a:avLst/>
          </a:prstGeom>
          <a:noFill/>
          <a:ln w="31750">
            <a:solidFill>
              <a:srgbClr val="C8414C"/>
            </a:solidFill>
            <a:prstDash val="solid"/>
          </a:ln>
        </p:spPr>
      </p:sp>
      <p:sp>
        <p:nvSpPr>
          <p:cNvPr id="59" name="Shape 57"/>
          <p:cNvSpPr/>
          <p:nvPr/>
        </p:nvSpPr>
        <p:spPr>
          <a:xfrm flipV="1">
            <a:off x="1719072" y="4477703"/>
            <a:ext cx="109728" cy="17488"/>
          </a:xfrm>
          <a:prstGeom prst="line">
            <a:avLst/>
          </a:prstGeom>
          <a:noFill/>
          <a:ln w="31750">
            <a:solidFill>
              <a:srgbClr val="C8414C"/>
            </a:solidFill>
            <a:prstDash val="solid"/>
          </a:ln>
        </p:spPr>
      </p:sp>
      <p:sp>
        <p:nvSpPr>
          <p:cNvPr id="60" name="Shape 58"/>
          <p:cNvSpPr/>
          <p:nvPr/>
        </p:nvSpPr>
        <p:spPr>
          <a:xfrm flipV="1">
            <a:off x="1828800" y="4456328"/>
            <a:ext cx="109728" cy="21374"/>
          </a:xfrm>
          <a:prstGeom prst="line">
            <a:avLst/>
          </a:prstGeom>
          <a:noFill/>
          <a:ln w="31750">
            <a:solidFill>
              <a:srgbClr val="C8414C"/>
            </a:solidFill>
            <a:prstDash val="solid"/>
          </a:ln>
        </p:spPr>
      </p:sp>
      <p:sp>
        <p:nvSpPr>
          <p:cNvPr id="61" name="Shape 59"/>
          <p:cNvSpPr/>
          <p:nvPr/>
        </p:nvSpPr>
        <p:spPr>
          <a:xfrm flipV="1">
            <a:off x="1938528" y="4431068"/>
            <a:ext cx="109728" cy="25260"/>
          </a:xfrm>
          <a:prstGeom prst="line">
            <a:avLst/>
          </a:prstGeom>
          <a:noFill/>
          <a:ln w="31750">
            <a:solidFill>
              <a:srgbClr val="C8414C"/>
            </a:solidFill>
            <a:prstDash val="solid"/>
          </a:ln>
        </p:spPr>
      </p:sp>
      <p:sp>
        <p:nvSpPr>
          <p:cNvPr id="62" name="Shape 60"/>
          <p:cNvSpPr/>
          <p:nvPr/>
        </p:nvSpPr>
        <p:spPr>
          <a:xfrm flipV="1">
            <a:off x="2048256" y="4401922"/>
            <a:ext cx="109728" cy="29147"/>
          </a:xfrm>
          <a:prstGeom prst="line">
            <a:avLst/>
          </a:prstGeom>
          <a:noFill/>
          <a:ln w="31750">
            <a:solidFill>
              <a:srgbClr val="C8414C"/>
            </a:solidFill>
            <a:prstDash val="solid"/>
          </a:ln>
        </p:spPr>
      </p:sp>
      <p:sp>
        <p:nvSpPr>
          <p:cNvPr id="63" name="Shape 61"/>
          <p:cNvSpPr/>
          <p:nvPr/>
        </p:nvSpPr>
        <p:spPr>
          <a:xfrm flipV="1">
            <a:off x="2157984" y="4368889"/>
            <a:ext cx="109728" cy="33033"/>
          </a:xfrm>
          <a:prstGeom prst="line">
            <a:avLst/>
          </a:prstGeom>
          <a:noFill/>
          <a:ln w="31750">
            <a:solidFill>
              <a:srgbClr val="C8414C"/>
            </a:solidFill>
            <a:prstDash val="solid"/>
          </a:ln>
        </p:spPr>
      </p:sp>
      <p:sp>
        <p:nvSpPr>
          <p:cNvPr id="64" name="Shape 62"/>
          <p:cNvSpPr/>
          <p:nvPr/>
        </p:nvSpPr>
        <p:spPr>
          <a:xfrm flipV="1">
            <a:off x="2267712" y="4331970"/>
            <a:ext cx="109728" cy="36919"/>
          </a:xfrm>
          <a:prstGeom prst="line">
            <a:avLst/>
          </a:prstGeom>
          <a:noFill/>
          <a:ln w="31750">
            <a:solidFill>
              <a:srgbClr val="C8414C"/>
            </a:solidFill>
            <a:prstDash val="solid"/>
          </a:ln>
        </p:spPr>
      </p:sp>
      <p:sp>
        <p:nvSpPr>
          <p:cNvPr id="65" name="Shape 63"/>
          <p:cNvSpPr/>
          <p:nvPr/>
        </p:nvSpPr>
        <p:spPr>
          <a:xfrm flipV="1">
            <a:off x="2377440" y="4291165"/>
            <a:ext cx="109728" cy="40805"/>
          </a:xfrm>
          <a:prstGeom prst="line">
            <a:avLst/>
          </a:prstGeom>
          <a:noFill/>
          <a:ln w="31750">
            <a:solidFill>
              <a:srgbClr val="C8414C"/>
            </a:solidFill>
            <a:prstDash val="solid"/>
          </a:ln>
        </p:spPr>
      </p:sp>
      <p:sp>
        <p:nvSpPr>
          <p:cNvPr id="66" name="Shape 64"/>
          <p:cNvSpPr/>
          <p:nvPr/>
        </p:nvSpPr>
        <p:spPr>
          <a:xfrm flipV="1">
            <a:off x="2487168" y="4246474"/>
            <a:ext cx="109728" cy="44691"/>
          </a:xfrm>
          <a:prstGeom prst="line">
            <a:avLst/>
          </a:prstGeom>
          <a:noFill/>
          <a:ln w="31750">
            <a:solidFill>
              <a:srgbClr val="C8414C"/>
            </a:solidFill>
            <a:prstDash val="solid"/>
          </a:ln>
        </p:spPr>
      </p:sp>
      <p:sp>
        <p:nvSpPr>
          <p:cNvPr id="67" name="Shape 65"/>
          <p:cNvSpPr/>
          <p:nvPr/>
        </p:nvSpPr>
        <p:spPr>
          <a:xfrm flipV="1">
            <a:off x="2596896" y="4197896"/>
            <a:ext cx="109728" cy="48577"/>
          </a:xfrm>
          <a:prstGeom prst="line">
            <a:avLst/>
          </a:prstGeom>
          <a:noFill/>
          <a:ln w="31750">
            <a:solidFill>
              <a:srgbClr val="C8414C"/>
            </a:solidFill>
            <a:prstDash val="solid"/>
          </a:ln>
        </p:spPr>
      </p:sp>
      <p:sp>
        <p:nvSpPr>
          <p:cNvPr id="68" name="Shape 66"/>
          <p:cNvSpPr/>
          <p:nvPr/>
        </p:nvSpPr>
        <p:spPr>
          <a:xfrm flipV="1">
            <a:off x="2706624" y="4145432"/>
            <a:ext cx="109728" cy="52464"/>
          </a:xfrm>
          <a:prstGeom prst="line">
            <a:avLst/>
          </a:prstGeom>
          <a:noFill/>
          <a:ln w="31750">
            <a:solidFill>
              <a:srgbClr val="C8414C"/>
            </a:solidFill>
            <a:prstDash val="solid"/>
          </a:ln>
        </p:spPr>
      </p:sp>
      <p:sp>
        <p:nvSpPr>
          <p:cNvPr id="69" name="Shape 67"/>
          <p:cNvSpPr/>
          <p:nvPr/>
        </p:nvSpPr>
        <p:spPr>
          <a:xfrm flipV="1">
            <a:off x="2816352" y="4089083"/>
            <a:ext cx="109728" cy="56350"/>
          </a:xfrm>
          <a:prstGeom prst="line">
            <a:avLst/>
          </a:prstGeom>
          <a:noFill/>
          <a:ln w="31750">
            <a:solidFill>
              <a:srgbClr val="C8414C"/>
            </a:solidFill>
            <a:prstDash val="solid"/>
          </a:ln>
        </p:spPr>
      </p:sp>
      <p:sp>
        <p:nvSpPr>
          <p:cNvPr id="70" name="Shape 68"/>
          <p:cNvSpPr/>
          <p:nvPr/>
        </p:nvSpPr>
        <p:spPr>
          <a:xfrm flipV="1">
            <a:off x="2926080" y="4028846"/>
            <a:ext cx="109728" cy="60236"/>
          </a:xfrm>
          <a:prstGeom prst="line">
            <a:avLst/>
          </a:prstGeom>
          <a:noFill/>
          <a:ln w="31750">
            <a:solidFill>
              <a:srgbClr val="C8414C"/>
            </a:solidFill>
            <a:prstDash val="solid"/>
          </a:ln>
        </p:spPr>
      </p:sp>
      <p:sp>
        <p:nvSpPr>
          <p:cNvPr id="71" name="Shape 69"/>
          <p:cNvSpPr/>
          <p:nvPr/>
        </p:nvSpPr>
        <p:spPr>
          <a:xfrm flipV="1">
            <a:off x="3035808" y="3964724"/>
            <a:ext cx="109728" cy="64122"/>
          </a:xfrm>
          <a:prstGeom prst="line">
            <a:avLst/>
          </a:prstGeom>
          <a:noFill/>
          <a:ln w="31750">
            <a:solidFill>
              <a:srgbClr val="C8414C"/>
            </a:solidFill>
            <a:prstDash val="solid"/>
          </a:ln>
        </p:spPr>
      </p:sp>
      <p:sp>
        <p:nvSpPr>
          <p:cNvPr id="72" name="Shape 70"/>
          <p:cNvSpPr/>
          <p:nvPr/>
        </p:nvSpPr>
        <p:spPr>
          <a:xfrm flipV="1">
            <a:off x="3145536" y="3896716"/>
            <a:ext cx="109728" cy="68009"/>
          </a:xfrm>
          <a:prstGeom prst="line">
            <a:avLst/>
          </a:prstGeom>
          <a:noFill/>
          <a:ln w="31750">
            <a:solidFill>
              <a:srgbClr val="C8414C"/>
            </a:solidFill>
            <a:prstDash val="solid"/>
          </a:ln>
        </p:spPr>
      </p:sp>
      <p:sp>
        <p:nvSpPr>
          <p:cNvPr id="73" name="Shape 71"/>
          <p:cNvSpPr/>
          <p:nvPr/>
        </p:nvSpPr>
        <p:spPr>
          <a:xfrm flipV="1">
            <a:off x="3255264" y="3824821"/>
            <a:ext cx="109728" cy="71895"/>
          </a:xfrm>
          <a:prstGeom prst="line">
            <a:avLst/>
          </a:prstGeom>
          <a:noFill/>
          <a:ln w="31750">
            <a:solidFill>
              <a:srgbClr val="C8414C"/>
            </a:solidFill>
            <a:prstDash val="solid"/>
          </a:ln>
        </p:spPr>
      </p:sp>
      <p:sp>
        <p:nvSpPr>
          <p:cNvPr id="74" name="Shape 72"/>
          <p:cNvSpPr/>
          <p:nvPr/>
        </p:nvSpPr>
        <p:spPr>
          <a:xfrm flipV="1">
            <a:off x="3364992" y="3749040"/>
            <a:ext cx="109728" cy="75781"/>
          </a:xfrm>
          <a:prstGeom prst="line">
            <a:avLst/>
          </a:prstGeom>
          <a:noFill/>
          <a:ln w="31750">
            <a:solidFill>
              <a:srgbClr val="C8414C"/>
            </a:solidFill>
            <a:prstDash val="solid"/>
          </a:ln>
        </p:spPr>
      </p:sp>
      <p:sp>
        <p:nvSpPr>
          <p:cNvPr id="75" name="Shape 73"/>
          <p:cNvSpPr/>
          <p:nvPr/>
        </p:nvSpPr>
        <p:spPr>
          <a:xfrm flipV="1">
            <a:off x="3474720" y="3669373"/>
            <a:ext cx="109728" cy="79667"/>
          </a:xfrm>
          <a:prstGeom prst="line">
            <a:avLst/>
          </a:prstGeom>
          <a:noFill/>
          <a:ln w="31750">
            <a:solidFill>
              <a:srgbClr val="C8414C"/>
            </a:solidFill>
            <a:prstDash val="solid"/>
          </a:ln>
        </p:spPr>
      </p:sp>
      <p:sp>
        <p:nvSpPr>
          <p:cNvPr id="76" name="Shape 74"/>
          <p:cNvSpPr/>
          <p:nvPr/>
        </p:nvSpPr>
        <p:spPr>
          <a:xfrm flipV="1">
            <a:off x="3584448" y="3585820"/>
            <a:ext cx="109728" cy="83553"/>
          </a:xfrm>
          <a:prstGeom prst="line">
            <a:avLst/>
          </a:prstGeom>
          <a:noFill/>
          <a:ln w="31750">
            <a:solidFill>
              <a:srgbClr val="C8414C"/>
            </a:solidFill>
            <a:prstDash val="solid"/>
          </a:ln>
        </p:spPr>
      </p:sp>
      <p:sp>
        <p:nvSpPr>
          <p:cNvPr id="77" name="Shape 75"/>
          <p:cNvSpPr/>
          <p:nvPr/>
        </p:nvSpPr>
        <p:spPr>
          <a:xfrm flipV="1">
            <a:off x="3694176" y="3498380"/>
            <a:ext cx="109728" cy="87440"/>
          </a:xfrm>
          <a:prstGeom prst="line">
            <a:avLst/>
          </a:prstGeom>
          <a:noFill/>
          <a:ln w="31750">
            <a:solidFill>
              <a:srgbClr val="C8414C"/>
            </a:solidFill>
            <a:prstDash val="solid"/>
          </a:ln>
        </p:spPr>
      </p:sp>
      <p:sp>
        <p:nvSpPr>
          <p:cNvPr id="78" name="Shape 76"/>
          <p:cNvSpPr/>
          <p:nvPr/>
        </p:nvSpPr>
        <p:spPr>
          <a:xfrm flipV="1">
            <a:off x="3803904" y="3407054"/>
            <a:ext cx="109728" cy="91326"/>
          </a:xfrm>
          <a:prstGeom prst="line">
            <a:avLst/>
          </a:prstGeom>
          <a:noFill/>
          <a:ln w="31750">
            <a:solidFill>
              <a:srgbClr val="C8414C"/>
            </a:solidFill>
            <a:prstDash val="solid"/>
          </a:ln>
        </p:spPr>
      </p:sp>
      <p:sp>
        <p:nvSpPr>
          <p:cNvPr id="79" name="Shape 77"/>
          <p:cNvSpPr/>
          <p:nvPr/>
        </p:nvSpPr>
        <p:spPr>
          <a:xfrm flipV="1">
            <a:off x="3913632" y="3311843"/>
            <a:ext cx="109728" cy="95212"/>
          </a:xfrm>
          <a:prstGeom prst="line">
            <a:avLst/>
          </a:prstGeom>
          <a:noFill/>
          <a:ln w="31750">
            <a:solidFill>
              <a:srgbClr val="C8414C"/>
            </a:solidFill>
            <a:prstDash val="solid"/>
          </a:ln>
        </p:spPr>
      </p:sp>
      <p:sp>
        <p:nvSpPr>
          <p:cNvPr id="80" name="Shape 78"/>
          <p:cNvSpPr/>
          <p:nvPr/>
        </p:nvSpPr>
        <p:spPr>
          <a:xfrm flipV="1">
            <a:off x="4023360" y="3212744"/>
            <a:ext cx="109728" cy="99098"/>
          </a:xfrm>
          <a:prstGeom prst="line">
            <a:avLst/>
          </a:prstGeom>
          <a:noFill/>
          <a:ln w="31750">
            <a:solidFill>
              <a:srgbClr val="C8414C"/>
            </a:solidFill>
            <a:prstDash val="solid"/>
          </a:ln>
        </p:spPr>
      </p:sp>
      <p:sp>
        <p:nvSpPr>
          <p:cNvPr id="81" name="Shape 79"/>
          <p:cNvSpPr/>
          <p:nvPr/>
        </p:nvSpPr>
        <p:spPr>
          <a:xfrm flipV="1">
            <a:off x="4133088" y="3109760"/>
            <a:ext cx="109728" cy="102984"/>
          </a:xfrm>
          <a:prstGeom prst="line">
            <a:avLst/>
          </a:prstGeom>
          <a:noFill/>
          <a:ln w="31750">
            <a:solidFill>
              <a:srgbClr val="C8414C"/>
            </a:solidFill>
            <a:prstDash val="solid"/>
          </a:ln>
        </p:spPr>
      </p:sp>
      <p:sp>
        <p:nvSpPr>
          <p:cNvPr id="82" name="Shape 80"/>
          <p:cNvSpPr/>
          <p:nvPr/>
        </p:nvSpPr>
        <p:spPr>
          <a:xfrm flipV="1">
            <a:off x="4242816" y="3002890"/>
            <a:ext cx="109728" cy="106871"/>
          </a:xfrm>
          <a:prstGeom prst="line">
            <a:avLst/>
          </a:prstGeom>
          <a:noFill/>
          <a:ln w="31750">
            <a:solidFill>
              <a:srgbClr val="C8414C"/>
            </a:solidFill>
            <a:prstDash val="solid"/>
          </a:ln>
        </p:spPr>
      </p:sp>
      <p:sp>
        <p:nvSpPr>
          <p:cNvPr id="83" name="Shape 81"/>
          <p:cNvSpPr/>
          <p:nvPr/>
        </p:nvSpPr>
        <p:spPr>
          <a:xfrm flipV="1">
            <a:off x="4352544" y="2892133"/>
            <a:ext cx="109728" cy="110757"/>
          </a:xfrm>
          <a:prstGeom prst="line">
            <a:avLst/>
          </a:prstGeom>
          <a:noFill/>
          <a:ln w="31750">
            <a:solidFill>
              <a:srgbClr val="C8414C"/>
            </a:solidFill>
            <a:prstDash val="solid"/>
          </a:ln>
        </p:spPr>
      </p:sp>
      <p:sp>
        <p:nvSpPr>
          <p:cNvPr id="84" name="Shape 82"/>
          <p:cNvSpPr/>
          <p:nvPr/>
        </p:nvSpPr>
        <p:spPr>
          <a:xfrm flipV="1">
            <a:off x="4462272" y="2777490"/>
            <a:ext cx="109728" cy="114643"/>
          </a:xfrm>
          <a:prstGeom prst="line">
            <a:avLst/>
          </a:prstGeom>
          <a:noFill/>
          <a:ln w="31750">
            <a:solidFill>
              <a:srgbClr val="C8414C"/>
            </a:solidFill>
            <a:prstDash val="solid"/>
          </a:ln>
        </p:spPr>
      </p:sp>
      <p:sp>
        <p:nvSpPr>
          <p:cNvPr id="85" name="Shape 83"/>
          <p:cNvSpPr/>
          <p:nvPr/>
        </p:nvSpPr>
        <p:spPr>
          <a:xfrm flipV="1">
            <a:off x="4572000" y="2658961"/>
            <a:ext cx="109728" cy="118529"/>
          </a:xfrm>
          <a:prstGeom prst="line">
            <a:avLst/>
          </a:prstGeom>
          <a:noFill/>
          <a:ln w="31750">
            <a:solidFill>
              <a:srgbClr val="C8414C"/>
            </a:solidFill>
            <a:prstDash val="solid"/>
          </a:ln>
        </p:spPr>
      </p:sp>
      <p:sp>
        <p:nvSpPr>
          <p:cNvPr id="86" name="Shape 84"/>
          <p:cNvSpPr/>
          <p:nvPr/>
        </p:nvSpPr>
        <p:spPr>
          <a:xfrm flipV="1">
            <a:off x="4681728" y="2536546"/>
            <a:ext cx="109728" cy="122415"/>
          </a:xfrm>
          <a:prstGeom prst="line">
            <a:avLst/>
          </a:prstGeom>
          <a:noFill/>
          <a:ln w="31750">
            <a:solidFill>
              <a:srgbClr val="C8414C"/>
            </a:solidFill>
            <a:prstDash val="solid"/>
          </a:ln>
        </p:spPr>
      </p:sp>
      <p:sp>
        <p:nvSpPr>
          <p:cNvPr id="87" name="Shape 85"/>
          <p:cNvSpPr/>
          <p:nvPr/>
        </p:nvSpPr>
        <p:spPr>
          <a:xfrm flipV="1">
            <a:off x="4791456" y="2410244"/>
            <a:ext cx="109728" cy="126302"/>
          </a:xfrm>
          <a:prstGeom prst="line">
            <a:avLst/>
          </a:prstGeom>
          <a:noFill/>
          <a:ln w="31750">
            <a:solidFill>
              <a:srgbClr val="C8414C"/>
            </a:solidFill>
            <a:prstDash val="solid"/>
          </a:ln>
        </p:spPr>
      </p:sp>
      <p:sp>
        <p:nvSpPr>
          <p:cNvPr id="88" name="Shape 86"/>
          <p:cNvSpPr/>
          <p:nvPr/>
        </p:nvSpPr>
        <p:spPr>
          <a:xfrm flipV="1">
            <a:off x="4901184" y="2280056"/>
            <a:ext cx="109728" cy="130188"/>
          </a:xfrm>
          <a:prstGeom prst="line">
            <a:avLst/>
          </a:prstGeom>
          <a:noFill/>
          <a:ln w="31750">
            <a:solidFill>
              <a:srgbClr val="C8414C"/>
            </a:solidFill>
            <a:prstDash val="solid"/>
          </a:ln>
        </p:spPr>
      </p:sp>
      <p:sp>
        <p:nvSpPr>
          <p:cNvPr id="89" name="Shape 87"/>
          <p:cNvSpPr/>
          <p:nvPr/>
        </p:nvSpPr>
        <p:spPr>
          <a:xfrm flipV="1">
            <a:off x="5010912" y="2145983"/>
            <a:ext cx="109728" cy="134074"/>
          </a:xfrm>
          <a:prstGeom prst="line">
            <a:avLst/>
          </a:prstGeom>
          <a:noFill/>
          <a:ln w="31750">
            <a:solidFill>
              <a:srgbClr val="C8414C"/>
            </a:solidFill>
            <a:prstDash val="solid"/>
          </a:ln>
        </p:spPr>
      </p:sp>
      <p:sp>
        <p:nvSpPr>
          <p:cNvPr id="90" name="Shape 88"/>
          <p:cNvSpPr/>
          <p:nvPr/>
        </p:nvSpPr>
        <p:spPr>
          <a:xfrm flipV="1">
            <a:off x="5120640" y="2008022"/>
            <a:ext cx="109728" cy="137960"/>
          </a:xfrm>
          <a:prstGeom prst="line">
            <a:avLst/>
          </a:prstGeom>
          <a:noFill/>
          <a:ln w="31750">
            <a:solidFill>
              <a:srgbClr val="C8414C"/>
            </a:solidFill>
            <a:prstDash val="solid"/>
          </a:ln>
        </p:spPr>
      </p:sp>
      <p:sp>
        <p:nvSpPr>
          <p:cNvPr id="91" name="Shape 89"/>
          <p:cNvSpPr/>
          <p:nvPr/>
        </p:nvSpPr>
        <p:spPr>
          <a:xfrm flipV="1">
            <a:off x="5230368" y="1866176"/>
            <a:ext cx="109728" cy="141846"/>
          </a:xfrm>
          <a:prstGeom prst="line">
            <a:avLst/>
          </a:prstGeom>
          <a:noFill/>
          <a:ln w="31750">
            <a:solidFill>
              <a:srgbClr val="C8414C"/>
            </a:solidFill>
            <a:prstDash val="solid"/>
          </a:ln>
        </p:spPr>
      </p:sp>
      <p:sp>
        <p:nvSpPr>
          <p:cNvPr id="92" name="Shape 90"/>
          <p:cNvSpPr/>
          <p:nvPr/>
        </p:nvSpPr>
        <p:spPr>
          <a:xfrm flipV="1">
            <a:off x="5340096" y="1720444"/>
            <a:ext cx="109728" cy="145732"/>
          </a:xfrm>
          <a:prstGeom prst="line">
            <a:avLst/>
          </a:prstGeom>
          <a:noFill/>
          <a:ln w="31750">
            <a:solidFill>
              <a:srgbClr val="C8414C"/>
            </a:solidFill>
            <a:prstDash val="solid"/>
          </a:ln>
        </p:spPr>
      </p:sp>
      <p:sp>
        <p:nvSpPr>
          <p:cNvPr id="93" name="Shape 91"/>
          <p:cNvSpPr/>
          <p:nvPr/>
        </p:nvSpPr>
        <p:spPr>
          <a:xfrm flipV="1">
            <a:off x="5449824" y="1570825"/>
            <a:ext cx="109728" cy="149619"/>
          </a:xfrm>
          <a:prstGeom prst="line">
            <a:avLst/>
          </a:prstGeom>
          <a:noFill/>
          <a:ln w="31750">
            <a:solidFill>
              <a:srgbClr val="C8414C"/>
            </a:solidFill>
            <a:prstDash val="solid"/>
          </a:ln>
        </p:spPr>
      </p:sp>
      <p:sp>
        <p:nvSpPr>
          <p:cNvPr id="94" name="Shape 92"/>
          <p:cNvSpPr/>
          <p:nvPr/>
        </p:nvSpPr>
        <p:spPr>
          <a:xfrm flipV="1">
            <a:off x="5559552" y="1417320"/>
            <a:ext cx="109728" cy="153505"/>
          </a:xfrm>
          <a:prstGeom prst="line">
            <a:avLst/>
          </a:prstGeom>
          <a:noFill/>
          <a:ln w="31750">
            <a:solidFill>
              <a:srgbClr val="C8414C"/>
            </a:solidFill>
            <a:prstDash val="solid"/>
          </a:ln>
        </p:spPr>
      </p:sp>
      <p:sp>
        <p:nvSpPr>
          <p:cNvPr id="95" name="Shape 93"/>
          <p:cNvSpPr/>
          <p:nvPr/>
        </p:nvSpPr>
        <p:spPr>
          <a:xfrm flipV="1">
            <a:off x="3474720" y="3749040"/>
            <a:ext cx="91" cy="777240"/>
          </a:xfrm>
          <a:prstGeom prst="line">
            <a:avLst/>
          </a:prstGeom>
          <a:noFill/>
          <a:ln w="12700">
            <a:solidFill>
              <a:srgbClr val="2E5BD8"/>
            </a:solidFill>
            <a:prstDash val="dash"/>
          </a:ln>
        </p:spPr>
      </p:sp>
      <p:sp>
        <p:nvSpPr>
          <p:cNvPr id="96" name="Shape 94"/>
          <p:cNvSpPr/>
          <p:nvPr/>
        </p:nvSpPr>
        <p:spPr>
          <a:xfrm>
            <a:off x="1280160" y="3749040"/>
            <a:ext cx="2194560" cy="91"/>
          </a:xfrm>
          <a:prstGeom prst="line">
            <a:avLst/>
          </a:prstGeom>
          <a:noFill/>
          <a:ln w="12700">
            <a:solidFill>
              <a:srgbClr val="2E5BD8"/>
            </a:solidFill>
            <a:prstDash val="dash"/>
          </a:ln>
        </p:spPr>
      </p:sp>
      <p:sp>
        <p:nvSpPr>
          <p:cNvPr id="97" name="Shape 95"/>
          <p:cNvSpPr/>
          <p:nvPr/>
        </p:nvSpPr>
        <p:spPr>
          <a:xfrm>
            <a:off x="3419856" y="3694176"/>
            <a:ext cx="109728" cy="109728"/>
          </a:xfrm>
          <a:prstGeom prst="ellipse">
            <a:avLst/>
          </a:prstGeom>
          <a:solidFill>
            <a:srgbClr val="2E5BD8"/>
          </a:solidFill>
          <a:ln w="12700">
            <a:solidFill>
              <a:srgbClr val="2E5BD8"/>
            </a:solidFill>
            <a:prstDash val="solid"/>
          </a:ln>
        </p:spPr>
      </p:sp>
      <p:sp>
        <p:nvSpPr>
          <p:cNvPr id="98" name="Shape 96"/>
          <p:cNvSpPr/>
          <p:nvPr/>
        </p:nvSpPr>
        <p:spPr>
          <a:xfrm flipV="1">
            <a:off x="5669280" y="1417320"/>
            <a:ext cx="91" cy="3108960"/>
          </a:xfrm>
          <a:prstGeom prst="line">
            <a:avLst/>
          </a:prstGeom>
          <a:noFill/>
          <a:ln w="12700">
            <a:solidFill>
              <a:srgbClr val="2E5BD8"/>
            </a:solidFill>
            <a:prstDash val="dash"/>
          </a:ln>
        </p:spPr>
      </p:sp>
      <p:sp>
        <p:nvSpPr>
          <p:cNvPr id="99" name="Shape 97"/>
          <p:cNvSpPr/>
          <p:nvPr/>
        </p:nvSpPr>
        <p:spPr>
          <a:xfrm>
            <a:off x="1280160" y="1417320"/>
            <a:ext cx="4389120" cy="91"/>
          </a:xfrm>
          <a:prstGeom prst="line">
            <a:avLst/>
          </a:prstGeom>
          <a:noFill/>
          <a:ln w="12700">
            <a:solidFill>
              <a:srgbClr val="2E5BD8"/>
            </a:solidFill>
            <a:prstDash val="dash"/>
          </a:ln>
        </p:spPr>
      </p:sp>
      <p:sp>
        <p:nvSpPr>
          <p:cNvPr id="100" name="Shape 98"/>
          <p:cNvSpPr/>
          <p:nvPr/>
        </p:nvSpPr>
        <p:spPr>
          <a:xfrm>
            <a:off x="5614416" y="1362456"/>
            <a:ext cx="109728" cy="109728"/>
          </a:xfrm>
          <a:prstGeom prst="ellipse">
            <a:avLst/>
          </a:prstGeom>
          <a:solidFill>
            <a:srgbClr val="2E5BD8"/>
          </a:solidFill>
          <a:ln w="12700">
            <a:solidFill>
              <a:srgbClr val="2E5BD8"/>
            </a:solidFill>
            <a:prstDash val="solid"/>
          </a:ln>
        </p:spPr>
      </p:sp>
      <p:sp>
        <p:nvSpPr>
          <p:cNvPr id="101" name="Text 99"/>
          <p:cNvSpPr/>
          <p:nvPr/>
        </p:nvSpPr>
        <p:spPr>
          <a:xfrm>
            <a:off x="3584448" y="3904488"/>
            <a:ext cx="13716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20 m/s → 40 m</a:t>
            </a:r>
            <a:endParaRPr lang="en-US" sz="1050" dirty="0"/>
          </a:p>
        </p:txBody>
      </p:sp>
      <p:sp>
        <p:nvSpPr>
          <p:cNvPr id="102" name="Text 100"/>
          <p:cNvSpPr/>
          <p:nvPr/>
        </p:nvSpPr>
        <p:spPr>
          <a:xfrm>
            <a:off x="3584448" y="1463040"/>
            <a:ext cx="155448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40 m/s → 160 m</a:t>
            </a:r>
            <a:endParaRPr lang="en-US" sz="1050" dirty="0"/>
          </a:p>
        </p:txBody>
      </p:sp>
      <p:sp>
        <p:nvSpPr>
          <p:cNvPr id="103" name="Text 101"/>
          <p:cNvSpPr/>
          <p:nvPr/>
        </p:nvSpPr>
        <p:spPr>
          <a:xfrm>
            <a:off x="1371600" y="5120640"/>
            <a:ext cx="4206240" cy="237744"/>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double the speed → 4 × the braking distance</a:t>
            </a:r>
            <a:endParaRPr lang="en-US" sz="1100" dirty="0"/>
          </a:p>
        </p:txBody>
      </p:sp>
      <p:sp>
        <p:nvSpPr>
          <p:cNvPr id="104" name="Shape 10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05" name="Text 10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Work done by the brakes</a:t>
            </a:r>
            <a:endParaRPr lang="en-US" sz="1300" dirty="0"/>
          </a:p>
        </p:txBody>
      </p:sp>
      <p:sp>
        <p:nvSpPr>
          <p:cNvPr id="106" name="Text 10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Friction in the brakes does </a:t>
            </a:r>
            <a:r>
              <a:rPr lang="en-US" sz="1150" b="1" dirty="0">
                <a:solidFill>
                  <a:srgbClr val="262B3A"/>
                </a:solidFill>
                <a:latin typeface="Calibri" pitchFamily="34" charset="0"/>
                <a:ea typeface="Calibri" pitchFamily="34" charset="-122"/>
                <a:cs typeface="Calibri" pitchFamily="34" charset="-120"/>
              </a:rPr>
              <a:t>work</a:t>
            </a:r>
            <a:r>
              <a:rPr lang="en-US" sz="1150" dirty="0">
                <a:solidFill>
                  <a:srgbClr val="262B3A"/>
                </a:solidFill>
                <a:latin typeface="Calibri" pitchFamily="34" charset="0"/>
                <a:ea typeface="Calibri" pitchFamily="34" charset="-122"/>
                <a:cs typeface="Calibri" pitchFamily="34" charset="-120"/>
              </a:rPr>
              <a:t> on the car: energy is transferred from the </a:t>
            </a:r>
            <a:r>
              <a:rPr lang="en-US" sz="1150" b="1" dirty="0">
                <a:solidFill>
                  <a:srgbClr val="262B3A"/>
                </a:solidFill>
                <a:latin typeface="Calibri" pitchFamily="34" charset="0"/>
                <a:ea typeface="Calibri" pitchFamily="34" charset="-122"/>
                <a:cs typeface="Calibri" pitchFamily="34" charset="-120"/>
              </a:rPr>
              <a:t>kinetic store</a:t>
            </a:r>
            <a:r>
              <a:rPr lang="en-US" sz="1150" dirty="0">
                <a:solidFill>
                  <a:srgbClr val="262B3A"/>
                </a:solidFill>
                <a:latin typeface="Calibri" pitchFamily="34" charset="0"/>
                <a:ea typeface="Calibri" pitchFamily="34" charset="-122"/>
                <a:cs typeface="Calibri" pitchFamily="34" charset="-120"/>
              </a:rPr>
              <a:t> to the </a:t>
            </a:r>
            <a:r>
              <a:rPr lang="en-US" sz="1150" b="1" dirty="0">
                <a:solidFill>
                  <a:srgbClr val="262B3A"/>
                </a:solidFill>
                <a:latin typeface="Calibri" pitchFamily="34" charset="0"/>
                <a:ea typeface="Calibri" pitchFamily="34" charset="-122"/>
                <a:cs typeface="Calibri" pitchFamily="34" charset="-120"/>
              </a:rPr>
              <a:t>thermal store</a:t>
            </a:r>
            <a:r>
              <a:rPr lang="en-US" sz="1150" dirty="0">
                <a:solidFill>
                  <a:srgbClr val="262B3A"/>
                </a:solidFill>
                <a:latin typeface="Calibri" pitchFamily="34" charset="0"/>
                <a:ea typeface="Calibri" pitchFamily="34" charset="-122"/>
                <a:cs typeface="Calibri" pitchFamily="34" charset="-120"/>
              </a:rPr>
              <a:t> of the brakes.</a:t>
            </a:r>
            <a:endParaRPr lang="en-US" sz="1150" dirty="0"/>
          </a:p>
          <a:p>
            <a:pPr indent="0" marL="0">
              <a:spcAft>
                <a:spcPts val="300"/>
              </a:spcAft>
              <a:buNone/>
            </a:pPr>
            <a:r>
              <a:rPr lang="en-US" sz="1150" dirty="0">
                <a:solidFill>
                  <a:srgbClr val="262B3A"/>
                </a:solidFill>
                <a:latin typeface="Calibri" pitchFamily="34" charset="0"/>
                <a:ea typeface="Calibri" pitchFamily="34" charset="-122"/>
                <a:cs typeface="Calibri" pitchFamily="34" charset="-120"/>
              </a:rPr>
              <a:t>work done by brakes = initial kinetic energy:   </a:t>
            </a:r>
            <a:r>
              <a:rPr lang="en-US" sz="1150" b="1" dirty="0">
                <a:solidFill>
                  <a:srgbClr val="2E5BD8"/>
                </a:solidFill>
                <a:latin typeface="Calibri" pitchFamily="34" charset="0"/>
                <a:ea typeface="Calibri" pitchFamily="34" charset="-122"/>
                <a:cs typeface="Calibri" pitchFamily="34" charset="-120"/>
              </a:rPr>
              <a:t>F × d = ½ × m × v²</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E = F × d (Topic 8) and KE = ½ × m × v² (Topic 3).</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For a fixed braking force, </a:t>
            </a:r>
            <a:r>
              <a:rPr lang="en-US" sz="1150" b="1" dirty="0">
                <a:solidFill>
                  <a:srgbClr val="262B3A"/>
                </a:solidFill>
                <a:latin typeface="Calibri" pitchFamily="34" charset="0"/>
                <a:ea typeface="Calibri" pitchFamily="34" charset="-122"/>
                <a:cs typeface="Calibri" pitchFamily="34" charset="-120"/>
              </a:rPr>
              <a:t>d ∝ v²</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07" name="Shape 10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08" name="Text 10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09" name="Text 10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1200 kg car at 20 m/s brakes with a force of 6000 N. Calculate the braking distance.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KE   </a:t>
            </a:r>
            <a:r>
              <a:rPr lang="en-US" sz="1100" dirty="0">
                <a:solidFill>
                  <a:srgbClr val="262B3A"/>
                </a:solidFill>
                <a:latin typeface="Calibri" pitchFamily="34" charset="0"/>
                <a:ea typeface="Calibri" pitchFamily="34" charset="-122"/>
                <a:cs typeface="Calibri" pitchFamily="34" charset="-120"/>
              </a:rPr>
              <a:t>½ × 1200 × 20² = 240 000 J</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F × d = KE, so d = KE ÷ F</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d = 240 000 J ÷ 6000 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d = 40 m</a:t>
            </a:r>
            <a:endParaRPr lang="en-US" sz="1100" dirty="0"/>
          </a:p>
        </p:txBody>
      </p:sp>
      <p:sp>
        <p:nvSpPr>
          <p:cNvPr id="110" name="Shape 108"/>
          <p:cNvSpPr/>
          <p:nvPr/>
        </p:nvSpPr>
        <p:spPr>
          <a:xfrm>
            <a:off x="411480" y="5833872"/>
            <a:ext cx="11368735" cy="530352"/>
          </a:xfrm>
          <a:prstGeom prst="rect">
            <a:avLst/>
          </a:prstGeom>
          <a:solidFill>
            <a:srgbClr val="FFF4E0"/>
          </a:solidFill>
          <a:ln w="6350">
            <a:solidFill>
              <a:srgbClr val="F1D9A8"/>
            </a:solidFill>
            <a:prstDash val="solid"/>
          </a:ln>
        </p:spPr>
      </p:sp>
      <p:sp>
        <p:nvSpPr>
          <p:cNvPr id="111" name="Shape 109"/>
          <p:cNvSpPr/>
          <p:nvPr/>
        </p:nvSpPr>
        <p:spPr>
          <a:xfrm>
            <a:off x="411480" y="5833872"/>
            <a:ext cx="82296" cy="530352"/>
          </a:xfrm>
          <a:prstGeom prst="rect">
            <a:avLst/>
          </a:prstGeom>
          <a:solidFill>
            <a:srgbClr val="E39A2F"/>
          </a:solidFill>
          <a:ln w="12700">
            <a:solidFill>
              <a:srgbClr val="E39A2F"/>
            </a:solidFill>
            <a:prstDash val="solid"/>
          </a:ln>
        </p:spPr>
      </p:sp>
      <p:sp>
        <p:nvSpPr>
          <p:cNvPr id="112" name="Text 11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1000 kg car at 15 m/s brakes with a constant force of 5000 N. Calculate the braking distance.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8</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2.27–2.33 • reaction time and stopping distance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8  |  39</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is meant by the </a:t>
            </a:r>
            <a:r>
              <a:rPr lang="en-US" sz="1250" b="1" dirty="0">
                <a:solidFill>
                  <a:srgbClr val="262B3A"/>
                </a:solidFill>
                <a:latin typeface="Calibri" pitchFamily="34" charset="0"/>
                <a:ea typeface="Calibri" pitchFamily="34" charset="-122"/>
                <a:cs typeface="Calibri" pitchFamily="34" charset="-120"/>
              </a:rPr>
              <a:t>stopping distance</a:t>
            </a:r>
            <a:r>
              <a:rPr lang="en-US" sz="1250" dirty="0">
                <a:solidFill>
                  <a:srgbClr val="262B3A"/>
                </a:solidFill>
                <a:latin typeface="Calibri" pitchFamily="34" charset="0"/>
                <a:ea typeface="Calibri" pitchFamily="34" charset="-122"/>
                <a:cs typeface="Calibri" pitchFamily="34" charset="-120"/>
              </a:rPr>
              <a:t> of a car.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factor that increases the thinking distance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that increases the braking distance.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 ruler-drop test can be used to measure a person’s reaction time.</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1000 kg</a:t>
            </a:r>
            <a:r>
              <a:rPr lang="en-US" sz="1250" dirty="0">
                <a:solidFill>
                  <a:srgbClr val="262B3A"/>
                </a:solidFill>
                <a:latin typeface="Calibri" pitchFamily="34" charset="0"/>
                <a:ea typeface="Calibri" pitchFamily="34" charset="-122"/>
                <a:cs typeface="Calibri" pitchFamily="34" charset="-120"/>
              </a:rPr>
              <a:t> car travelling at </a:t>
            </a:r>
            <a:r>
              <a:rPr lang="en-US" sz="1250" b="1" dirty="0">
                <a:solidFill>
                  <a:srgbClr val="262B3A"/>
                </a:solidFill>
                <a:latin typeface="Calibri" pitchFamily="34" charset="0"/>
                <a:ea typeface="Calibri" pitchFamily="34" charset="-122"/>
                <a:cs typeface="Calibri" pitchFamily="34" charset="-120"/>
              </a:rPr>
              <a:t>20 m/s</a:t>
            </a:r>
            <a:r>
              <a:rPr lang="en-US" sz="1250" dirty="0">
                <a:solidFill>
                  <a:srgbClr val="262B3A"/>
                </a:solidFill>
                <a:latin typeface="Calibri" pitchFamily="34" charset="0"/>
                <a:ea typeface="Calibri" pitchFamily="34" charset="-122"/>
                <a:cs typeface="Calibri" pitchFamily="34" charset="-120"/>
              </a:rPr>
              <a:t> brakes with a constant force of </a:t>
            </a:r>
            <a:r>
              <a:rPr lang="en-US" sz="1250" b="1" dirty="0">
                <a:solidFill>
                  <a:srgbClr val="262B3A"/>
                </a:solidFill>
                <a:latin typeface="Calibri" pitchFamily="34" charset="0"/>
                <a:ea typeface="Calibri" pitchFamily="34" charset="-122"/>
                <a:cs typeface="Calibri" pitchFamily="34" charset="-120"/>
              </a:rPr>
              <a:t>5000 N</a:t>
            </a:r>
            <a:r>
              <a:rPr lang="en-US" sz="1250" dirty="0">
                <a:solidFill>
                  <a:srgbClr val="262B3A"/>
                </a:solidFill>
                <a:latin typeface="Calibri" pitchFamily="34" charset="0"/>
                <a:ea typeface="Calibri" pitchFamily="34" charset="-122"/>
                <a:cs typeface="Calibri" pitchFamily="34" charset="-120"/>
              </a:rPr>
              <a:t>. Calculate the braking distance.</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2 equations • RECALL = learn it; GIVEN = on the Physics Equations List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40</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s = d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average speed (m/s) = distance (m) ÷ time (s); also distance = average speed × time</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a = (v − u)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acceleration (m/s²) = change in velocity (m/s) ÷ time taken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v² − u² = 2 × a × x</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(final velocity (m/s))² − (initial velocity (m/s))² = 2 × acceleration (m/s²) × distance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F = m × a</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force (N) = mass (kg) × acceleration (m/s²)</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2.15</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W = m × g</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weight (N) = mass (kg) × gravitational field strength (N/kg)</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2.16</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m × v</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momentum (kg m/s) = mass (kg) × velocity (m/s)   HT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2.24 (H)</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F = (mv − mu)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force (N) = change in momentum (kg m/s) ÷ time (s)   HT</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2.26 (H)</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Cover the middle column. For each equation, say every quantity and its unit aloud. Also recall: KE = ½mv² and E = F × d.</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2 Motion and forces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41</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Scalar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Has magnitude (size) only, e.g. distance, speed, mass.</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Vector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Has magnitude and direction, e.g. displacement, velocity, force.</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Velocity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Speed in a stated direction (m/s).</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Acceleration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Rate of change of velocity: a = (v − u) ÷ t, in m/s².</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Gradient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d–t graph: speed. v–t graph: acceleration.</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Area under v–t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Distance travelled.</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Resultant force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Single force with the same effect as all the forces acting.</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Newton’s 1st law</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Resultant force zero → velocity stays constant (or at rest).</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Newton’s 2nd law</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 = m × a: resultant force = mass × acceleration.</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Newton’s 3rd law</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Interacting objects exert equal and opposite forces on each other.</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Weight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Force due to gravity: W = m × g, measured with a newtonmeter.</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Inertial mass (H)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hard it is to change velocity: m = F ÷ a.</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Centripetal force (H)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Resultant force towards the centre of a circle.</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Momentum (H)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 = m × v (kg m/s); conserved in collisions.</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Thinking distance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Distance travelled during the driver’s reaction time.</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Braking distance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Distance travelled while the brakes stop the vehicle.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2.8–2.9, 2.15, 2.24–2.30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42</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car of mass </a:t>
            </a:r>
            <a:r>
              <a:rPr lang="en-US" sz="1200" b="1" i="1" dirty="0">
                <a:solidFill>
                  <a:srgbClr val="262B3A"/>
                </a:solidFill>
                <a:latin typeface="Calibri" pitchFamily="34" charset="0"/>
                <a:ea typeface="Calibri" pitchFamily="34" charset="-122"/>
                <a:cs typeface="Calibri" pitchFamily="34" charset="-120"/>
              </a:rPr>
              <a:t>1200 kg</a:t>
            </a:r>
            <a:r>
              <a:rPr lang="en-US" sz="1200" i="1" dirty="0">
                <a:solidFill>
                  <a:srgbClr val="262B3A"/>
                </a:solidFill>
                <a:latin typeface="Calibri" pitchFamily="34" charset="0"/>
                <a:ea typeface="Calibri" pitchFamily="34" charset="-122"/>
                <a:cs typeface="Calibri" pitchFamily="34" charset="-120"/>
              </a:rPr>
              <a:t> accelerates uniformly from rest to </a:t>
            </a:r>
            <a:r>
              <a:rPr lang="en-US" sz="1200" b="1" i="1" dirty="0">
                <a:solidFill>
                  <a:srgbClr val="262B3A"/>
                </a:solidFill>
                <a:latin typeface="Calibri" pitchFamily="34" charset="0"/>
                <a:ea typeface="Calibri" pitchFamily="34" charset="-122"/>
                <a:cs typeface="Calibri" pitchFamily="34" charset="-120"/>
              </a:rPr>
              <a:t>15 m/s</a:t>
            </a:r>
            <a:r>
              <a:rPr lang="en-US" sz="1200" i="1" dirty="0">
                <a:solidFill>
                  <a:srgbClr val="262B3A"/>
                </a:solidFill>
                <a:latin typeface="Calibri" pitchFamily="34" charset="0"/>
                <a:ea typeface="Calibri" pitchFamily="34" charset="-122"/>
                <a:cs typeface="Calibri" pitchFamily="34" charset="-120"/>
              </a:rPr>
              <a:t> in </a:t>
            </a:r>
            <a:r>
              <a:rPr lang="en-US" sz="1200" b="1" i="1" dirty="0">
                <a:solidFill>
                  <a:srgbClr val="262B3A"/>
                </a:solidFill>
                <a:latin typeface="Calibri" pitchFamily="34" charset="0"/>
                <a:ea typeface="Calibri" pitchFamily="34" charset="-122"/>
                <a:cs typeface="Calibri" pitchFamily="34" charset="-120"/>
              </a:rPr>
              <a:t>6.0 s</a:t>
            </a:r>
            <a:r>
              <a:rPr lang="en-US" sz="1200" i="1" dirty="0">
                <a:solidFill>
                  <a:srgbClr val="262B3A"/>
                </a:solidFill>
                <a:latin typeface="Calibri" pitchFamily="34" charset="0"/>
                <a:ea typeface="Calibri" pitchFamily="34" charset="-122"/>
                <a:cs typeface="Calibri" pitchFamily="34" charset="-120"/>
              </a:rPr>
              <a:t> along a straight road. Later, the driver sees a hazard and makes an emergency stop.</a:t>
            </a:r>
            <a:endParaRPr lang="en-US" sz="1200" dirty="0"/>
          </a:p>
        </p:txBody>
      </p:sp>
      <p:sp>
        <p:nvSpPr>
          <p:cNvPr id="9" name="Shape 7"/>
          <p:cNvSpPr/>
          <p:nvPr/>
        </p:nvSpPr>
        <p:spPr>
          <a:xfrm>
            <a:off x="411480" y="1719072"/>
            <a:ext cx="5570068" cy="1441704"/>
          </a:xfrm>
          <a:prstGeom prst="roundRect">
            <a:avLst>
              <a:gd name="adj" fmla="val 3171"/>
            </a:avLst>
          </a:prstGeom>
          <a:solidFill>
            <a:srgbClr val="F5F8FE"/>
          </a:solidFill>
          <a:ln w="9525">
            <a:solidFill>
              <a:srgbClr val="D5DCEB"/>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State the equation that links acceleration, change in velocity and time taken.</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D5DCEB"/>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acceleration of the car.</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5F8FE"/>
          </a:solidFill>
          <a:ln w="9525">
            <a:solidFill>
              <a:srgbClr val="D5DCEB"/>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Calculate the resultant force on the car while it accelerates.</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526510"/>
          </a:xfrm>
          <a:prstGeom prst="roundRect">
            <a:avLst>
              <a:gd name="adj" fmla="val 2995"/>
            </a:avLst>
          </a:prstGeom>
          <a:solidFill>
            <a:srgbClr val="F5F8FE"/>
          </a:solidFill>
          <a:ln w="9525">
            <a:solidFill>
              <a:srgbClr val="D5DCEB"/>
            </a:solidFill>
            <a:prstDash val="solid"/>
          </a:ln>
        </p:spPr>
      </p:sp>
      <p:sp>
        <p:nvSpPr>
          <p:cNvPr id="19" name="Text 17"/>
          <p:cNvSpPr/>
          <p:nvPr/>
        </p:nvSpPr>
        <p:spPr>
          <a:xfrm>
            <a:off x="6347308" y="1792224"/>
            <a:ext cx="5295748" cy="1160750"/>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Use v² − u² = 2 × a × x to calculate the distance the car travels while accelerating.</a:t>
            </a:r>
            <a:endParaRPr lang="en-US" sz="1200" dirty="0"/>
          </a:p>
        </p:txBody>
      </p:sp>
      <p:sp>
        <p:nvSpPr>
          <p:cNvPr id="20" name="Text 18"/>
          <p:cNvSpPr/>
          <p:nvPr/>
        </p:nvSpPr>
        <p:spPr>
          <a:xfrm>
            <a:off x="10317175" y="293468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3355310"/>
            <a:ext cx="5570068" cy="1272092"/>
          </a:xfrm>
          <a:prstGeom prst="roundRect">
            <a:avLst>
              <a:gd name="adj" fmla="val 3594"/>
            </a:avLst>
          </a:prstGeom>
          <a:solidFill>
            <a:srgbClr val="FFFFFF"/>
          </a:solidFill>
          <a:ln w="9525">
            <a:solidFill>
              <a:srgbClr val="D5DCEB"/>
            </a:solidFill>
            <a:prstDash val="solid"/>
          </a:ln>
        </p:spPr>
      </p:sp>
      <p:sp>
        <p:nvSpPr>
          <p:cNvPr id="22" name="Text 20"/>
          <p:cNvSpPr/>
          <p:nvPr/>
        </p:nvSpPr>
        <p:spPr>
          <a:xfrm>
            <a:off x="6347308" y="3428462"/>
            <a:ext cx="5295748" cy="906332"/>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The driver is tired. Explain how this affects the </a:t>
            </a:r>
            <a:r>
              <a:rPr lang="en-US" sz="1200" b="1" dirty="0">
                <a:solidFill>
                  <a:srgbClr val="262B3A"/>
                </a:solidFill>
                <a:latin typeface="Calibri" pitchFamily="34" charset="0"/>
                <a:ea typeface="Calibri" pitchFamily="34" charset="-122"/>
                <a:cs typeface="Calibri" pitchFamily="34" charset="-120"/>
              </a:rPr>
              <a:t>stopping distance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10317175" y="431650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737130"/>
            <a:ext cx="5570068" cy="1526510"/>
          </a:xfrm>
          <a:prstGeom prst="roundRect">
            <a:avLst>
              <a:gd name="adj" fmla="val 2995"/>
            </a:avLst>
          </a:prstGeom>
          <a:solidFill>
            <a:srgbClr val="F5F8FE"/>
          </a:solidFill>
          <a:ln w="9525">
            <a:solidFill>
              <a:srgbClr val="D5DCEB"/>
            </a:solidFill>
            <a:prstDash val="solid"/>
          </a:ln>
        </p:spPr>
      </p:sp>
      <p:sp>
        <p:nvSpPr>
          <p:cNvPr id="25" name="Text 23"/>
          <p:cNvSpPr/>
          <p:nvPr/>
        </p:nvSpPr>
        <p:spPr>
          <a:xfrm>
            <a:off x="6347308" y="4810282"/>
            <a:ext cx="4792828" cy="1160750"/>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In a crash at 15 m/s the car stops in </a:t>
            </a:r>
            <a:r>
              <a:rPr lang="en-US" sz="1200" b="1" dirty="0">
                <a:solidFill>
                  <a:srgbClr val="262B3A"/>
                </a:solidFill>
                <a:latin typeface="Calibri" pitchFamily="34" charset="0"/>
                <a:ea typeface="Calibri" pitchFamily="34" charset="-122"/>
                <a:cs typeface="Calibri" pitchFamily="34" charset="-120"/>
              </a:rPr>
              <a:t>0.30 s</a:t>
            </a:r>
            <a:r>
              <a:rPr lang="en-US" sz="1200" dirty="0">
                <a:solidFill>
                  <a:srgbClr val="262B3A"/>
                </a:solidFill>
                <a:latin typeface="Calibri" pitchFamily="34" charset="0"/>
                <a:ea typeface="Calibri" pitchFamily="34" charset="-122"/>
                <a:cs typeface="Calibri" pitchFamily="34" charset="-120"/>
              </a:rPr>
              <a:t>. Calculate the momentum of the car before the crash and the average force on it.</a:t>
            </a:r>
            <a:endParaRPr lang="en-US" sz="1200" dirty="0"/>
          </a:p>
        </p:txBody>
      </p:sp>
      <p:sp>
        <p:nvSpPr>
          <p:cNvPr id="26" name="Shape 24"/>
          <p:cNvSpPr/>
          <p:nvPr/>
        </p:nvSpPr>
        <p:spPr>
          <a:xfrm>
            <a:off x="11231575" y="4810282"/>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231575" y="481028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Topic 2 Motion and forces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2 Motion and forces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44</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every question. Show your working for calculations. g = 10 N/kg.</a:t>
            </a:r>
            <a:endParaRPr lang="en-US" sz="1150" dirty="0"/>
          </a:p>
        </p:txBody>
      </p:sp>
      <p:sp>
        <p:nvSpPr>
          <p:cNvPr id="9" name="Shape 7"/>
          <p:cNvSpPr/>
          <p:nvPr/>
        </p:nvSpPr>
        <p:spPr>
          <a:xfrm>
            <a:off x="411480" y="1517904"/>
            <a:ext cx="5570068" cy="1530096"/>
          </a:xfrm>
          <a:prstGeom prst="roundRect">
            <a:avLst>
              <a:gd name="adj" fmla="val 2988"/>
            </a:avLst>
          </a:prstGeom>
          <a:solidFill>
            <a:srgbClr val="F5F8FE"/>
          </a:solidFill>
          <a:ln w="9525">
            <a:solidFill>
              <a:srgbClr val="D5DCEB"/>
            </a:solidFill>
            <a:prstDash val="solid"/>
          </a:ln>
        </p:spPr>
      </p:sp>
      <p:sp>
        <p:nvSpPr>
          <p:cNvPr id="10" name="Text 8"/>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Explain the difference between </a:t>
            </a:r>
            <a:r>
              <a:rPr lang="en-US" sz="1150" b="1" dirty="0">
                <a:solidFill>
                  <a:srgbClr val="262B3A"/>
                </a:solidFill>
                <a:latin typeface="Calibri" pitchFamily="34" charset="0"/>
                <a:ea typeface="Calibri" pitchFamily="34" charset="-122"/>
                <a:cs typeface="Calibri" pitchFamily="34" charset="-120"/>
              </a:rPr>
              <a:t>speed</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velocity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57728"/>
            <a:ext cx="5570068" cy="1530096"/>
          </a:xfrm>
          <a:prstGeom prst="roundRect">
            <a:avLst>
              <a:gd name="adj" fmla="val 2988"/>
            </a:avLst>
          </a:prstGeom>
          <a:solidFill>
            <a:srgbClr val="F5F8FE"/>
          </a:solidFill>
          <a:ln w="9525">
            <a:solidFill>
              <a:srgbClr val="D5DCEB"/>
            </a:solidFill>
            <a:prstDash val="solid"/>
          </a:ln>
        </p:spPr>
      </p:sp>
      <p:sp>
        <p:nvSpPr>
          <p:cNvPr id="13" name="Text 11"/>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cyclist travels </a:t>
            </a:r>
            <a:r>
              <a:rPr lang="en-US" sz="1150" b="1" dirty="0">
                <a:solidFill>
                  <a:srgbClr val="262B3A"/>
                </a:solidFill>
                <a:latin typeface="Calibri" pitchFamily="34" charset="0"/>
                <a:ea typeface="Calibri" pitchFamily="34" charset="-122"/>
                <a:cs typeface="Calibri" pitchFamily="34" charset="-120"/>
              </a:rPr>
              <a:t>3.0 km</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10 minutes</a:t>
            </a:r>
            <a:r>
              <a:rPr lang="en-US" sz="1150" dirty="0">
                <a:solidFill>
                  <a:srgbClr val="262B3A"/>
                </a:solidFill>
                <a:latin typeface="Calibri" pitchFamily="34" charset="0"/>
                <a:ea typeface="Calibri" pitchFamily="34" charset="-122"/>
                <a:cs typeface="Calibri" pitchFamily="34" charset="-120"/>
              </a:rPr>
              <a:t>. Calculate the average speed in m/s.</a:t>
            </a:r>
            <a:endParaRPr lang="en-US" sz="1150" dirty="0"/>
          </a:p>
        </p:txBody>
      </p:sp>
      <p:sp>
        <p:nvSpPr>
          <p:cNvPr id="14" name="Text 12"/>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4797552"/>
            <a:ext cx="5570068" cy="1530096"/>
          </a:xfrm>
          <a:prstGeom prst="roundRect">
            <a:avLst>
              <a:gd name="adj" fmla="val 2988"/>
            </a:avLst>
          </a:prstGeom>
          <a:solidFill>
            <a:srgbClr val="F5F8FE"/>
          </a:solidFill>
          <a:ln w="9525">
            <a:solidFill>
              <a:srgbClr val="D5DCEB"/>
            </a:solidFill>
            <a:prstDash val="solid"/>
          </a:ln>
        </p:spPr>
      </p:sp>
      <p:sp>
        <p:nvSpPr>
          <p:cNvPr id="16" name="Text 14"/>
          <p:cNvSpPr/>
          <p:nvPr/>
        </p:nvSpPr>
        <p:spPr>
          <a:xfrm>
            <a:off x="548640" y="4870704"/>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Calculate the resultant force needed to give a </a:t>
            </a:r>
            <a:r>
              <a:rPr lang="en-US" sz="1150" b="1" dirty="0">
                <a:solidFill>
                  <a:srgbClr val="262B3A"/>
                </a:solidFill>
                <a:latin typeface="Calibri" pitchFamily="34" charset="0"/>
                <a:ea typeface="Calibri" pitchFamily="34" charset="-122"/>
                <a:cs typeface="Calibri" pitchFamily="34" charset="-120"/>
              </a:rPr>
              <a:t>70 kg</a:t>
            </a:r>
            <a:r>
              <a:rPr lang="en-US" sz="1150" dirty="0">
                <a:solidFill>
                  <a:srgbClr val="262B3A"/>
                </a:solidFill>
                <a:latin typeface="Calibri" pitchFamily="34" charset="0"/>
                <a:ea typeface="Calibri" pitchFamily="34" charset="-122"/>
                <a:cs typeface="Calibri" pitchFamily="34" charset="-120"/>
              </a:rPr>
              <a:t> sprinter an acceleration of </a:t>
            </a:r>
            <a:r>
              <a:rPr lang="en-US" sz="1150" b="1" dirty="0">
                <a:solidFill>
                  <a:srgbClr val="262B3A"/>
                </a:solidFill>
                <a:latin typeface="Calibri" pitchFamily="34" charset="0"/>
                <a:ea typeface="Calibri" pitchFamily="34" charset="-122"/>
                <a:cs typeface="Calibri" pitchFamily="34" charset="-120"/>
              </a:rPr>
              <a:t>4.0 m/s²</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517904"/>
            <a:ext cx="5570068" cy="1305560"/>
          </a:xfrm>
          <a:prstGeom prst="roundRect">
            <a:avLst>
              <a:gd name="adj" fmla="val 3502"/>
            </a:avLst>
          </a:prstGeom>
          <a:solidFill>
            <a:srgbClr val="F5F8FE"/>
          </a:solidFill>
          <a:ln w="9525">
            <a:solidFill>
              <a:srgbClr val="D5DCEB"/>
            </a:solidFill>
            <a:prstDash val="solid"/>
          </a:ln>
        </p:spPr>
      </p:sp>
      <p:sp>
        <p:nvSpPr>
          <p:cNvPr id="19" name="Text 17"/>
          <p:cNvSpPr/>
          <p:nvPr/>
        </p:nvSpPr>
        <p:spPr>
          <a:xfrm>
            <a:off x="6347308" y="1591056"/>
            <a:ext cx="4792828" cy="95808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0.80 kg</a:t>
            </a:r>
            <a:r>
              <a:rPr lang="en-US" sz="1150" dirty="0">
                <a:solidFill>
                  <a:srgbClr val="262B3A"/>
                </a:solidFill>
                <a:latin typeface="Calibri" pitchFamily="34" charset="0"/>
                <a:ea typeface="Calibri" pitchFamily="34" charset="-122"/>
                <a:cs typeface="Calibri" pitchFamily="34" charset="-120"/>
              </a:rPr>
              <a:t> trolley moving at </a:t>
            </a:r>
            <a:r>
              <a:rPr lang="en-US" sz="1150" b="1" dirty="0">
                <a:solidFill>
                  <a:srgbClr val="262B3A"/>
                </a:solidFill>
                <a:latin typeface="Calibri" pitchFamily="34" charset="0"/>
                <a:ea typeface="Calibri" pitchFamily="34" charset="-122"/>
                <a:cs typeface="Calibri" pitchFamily="34" charset="-120"/>
              </a:rPr>
              <a:t>2.5 m/s</a:t>
            </a:r>
            <a:r>
              <a:rPr lang="en-US" sz="1150" dirty="0">
                <a:solidFill>
                  <a:srgbClr val="262B3A"/>
                </a:solidFill>
                <a:latin typeface="Calibri" pitchFamily="34" charset="0"/>
                <a:ea typeface="Calibri" pitchFamily="34" charset="-122"/>
                <a:cs typeface="Calibri" pitchFamily="34" charset="-120"/>
              </a:rPr>
              <a:t> hits a stationary </a:t>
            </a:r>
            <a:r>
              <a:rPr lang="en-US" sz="1150" b="1" dirty="0">
                <a:solidFill>
                  <a:srgbClr val="262B3A"/>
                </a:solidFill>
                <a:latin typeface="Calibri" pitchFamily="34" charset="0"/>
                <a:ea typeface="Calibri" pitchFamily="34" charset="-122"/>
                <a:cs typeface="Calibri" pitchFamily="34" charset="-120"/>
              </a:rPr>
              <a:t>1.2 kg</a:t>
            </a:r>
            <a:r>
              <a:rPr lang="en-US" sz="1150" dirty="0">
                <a:solidFill>
                  <a:srgbClr val="262B3A"/>
                </a:solidFill>
                <a:latin typeface="Calibri" pitchFamily="34" charset="0"/>
                <a:ea typeface="Calibri" pitchFamily="34" charset="-122"/>
                <a:cs typeface="Calibri" pitchFamily="34" charset="-120"/>
              </a:rPr>
              <a:t> trolley. They stick together. Calculate their velocity just after the collision.</a:t>
            </a:r>
            <a:endParaRPr lang="en-US" sz="1150" dirty="0"/>
          </a:p>
        </p:txBody>
      </p:sp>
      <p:sp>
        <p:nvSpPr>
          <p:cNvPr id="20" name="Shape 18"/>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10317175" y="253085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23" name="Shape 21"/>
          <p:cNvSpPr/>
          <p:nvPr/>
        </p:nvSpPr>
        <p:spPr>
          <a:xfrm>
            <a:off x="6210148" y="2933192"/>
            <a:ext cx="5570068" cy="3394456"/>
          </a:xfrm>
          <a:prstGeom prst="roundRect">
            <a:avLst>
              <a:gd name="adj" fmla="val 1347"/>
            </a:avLst>
          </a:prstGeom>
          <a:solidFill>
            <a:srgbClr val="FFF4E0"/>
          </a:solidFill>
          <a:ln w="9525">
            <a:solidFill>
              <a:srgbClr val="F1D9A8"/>
            </a:solidFill>
            <a:prstDash val="solid"/>
          </a:ln>
        </p:spPr>
      </p:sp>
      <p:sp>
        <p:nvSpPr>
          <p:cNvPr id="24" name="Text 22"/>
          <p:cNvSpPr/>
          <p:nvPr/>
        </p:nvSpPr>
        <p:spPr>
          <a:xfrm>
            <a:off x="6347308" y="3006344"/>
            <a:ext cx="5295748" cy="304698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how the driver, the car and the road affect the stopping distance of a car. Explain why the stopping distance increases so much at high speeds.</a:t>
            </a:r>
            <a:endParaRPr lang="en-US" sz="1150" dirty="0"/>
          </a:p>
        </p:txBody>
      </p:sp>
      <p:sp>
        <p:nvSpPr>
          <p:cNvPr id="25" name="Text 23"/>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1PH0 Topic 2 Motion and forces</dc:title>
  <dc:subject>PptxGenJS Presentation</dc:subject>
  <dc:creator>GCSE Physics</dc:creator>
  <cp:lastModifiedBy>GCSE Physics</cp:lastModifiedBy>
  <cp:revision>1</cp:revision>
  <dcterms:created xsi:type="dcterms:W3CDTF">2026-11-01T15:41:30Z</dcterms:created>
  <dcterms:modified xsi:type="dcterms:W3CDTF">2026-11-01T15:41:30Z</dcterms:modified>
</cp:coreProperties>
</file>