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 Conservation of energy (Paper 1). All statements 3.1–3.14 appear to be shared with Combined Science 1SC0 (no P statements found) and none are marked H (medium confidence; see SPEC_T3.md). There is no Core Practical in Topic 3: the specific heat capacity Core Practical is in Topic 14. The insulation practical here is a suggested practical. Work done (E = F × d) and power are taught in Topic 8; they are only linked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HT pills: no Higher-only statements were found in Topic 3 (medium confidence). Harder rearrangements (e.g. v = √(2gh)) carry a GRADE 7–9 STRETCH pill instead. Confidence notes in SPEC_T3.md.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Physics-only statements: none found (medium confidence – the 1SC0 Topic 3 list appears identical). Higher-only (H): none found (medium confidence). Core Practical: none in Topic 3 (the Edexcel Core Practicals sit in Topics 2, 4, 5, 10, 14 and 15; the nearest thermal one, specific heat capacity, is in Topic 14). One Save My Exams summary lists a "core practical on conservation of energy" for Topic 3; we could not confirm it and treat it as an error, as with its wrong Topic 2 CP. Check the Pearson spec PDF before publishing; see SPEC_T3.md.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W = 5.0 × 10 = 50 N.
2. 2500 J; 0.45 kg.
3. The thermal store of the brakes (and surroundings).
4. Any four of: kinetic, gravitational potential, elastic potential, chemical, thermal, magnetic, electrostatic, nuclear.
5. 120 ÷ 20 = 6 m/s.
6. m = W ÷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Chemical store of the person (from food) empties; gravitational potential store of the person fills (some energy also goes to the thermal store of the body/surroundings).
Stores and pathways are also met in Topic 8 (forces doing work); this slide gives just enough to analyse system changes for 3.3 and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Energy is not used up/destroyed (1); the kinetic store decreases and the thermal store of the car and surroundings increases by the same amount – it is dissipated (1).
Diagram values: 100 J = 70 J + 30 J, asserted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Δh = ΔGPE ÷ (m × g) = 9000 ÷ (60 × 10) = 15 m.
Wording (3.1): “Recall and use the equation to calculate the change in gravitational PE when an object is raised above the ground”. RECALL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[2]: (a) elastic potential store (of the bow) (1); (b) thermal store (of the water) (1).
Q2 [2]: Energy cannot be created or destroyed, only transferred/stored/dissipated (1); in a closed system the total energy does not change / no net change (1).
Q3 [3]: ΔGPE = m × g × Δh (1); = 0.50 × 10 × 4.0 (1); = 20 J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KE = 0.5 × 0.40 × 5.0² = 5 J. Doubling the speed multiplies KE by 4 (to 20 J).
Graph: KE = ½ × 1000 × v², asserted at 10 and 20 m/s (ratio 4). Link: Topic 2.33 used KE = work done by the brakes.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mgh = ½mv² → v² = 2gh → v = √(2gh) (mass cancels). v = √(2 × 10 × 20) = 20 m/s.
Bars: 25 J total at each height; halfway 12.5 J + 12.5 J (asserted). Spec 3.5(a)-type analysis (object projected upwards is the same in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GPE at D = 500 × 10 × 5 = 25 000 J; KE = 100 000 − 25 000 = 75 000 J; v = √(2 × 75 000 ÷ 500) = √300 = 17.3 m/s. Real speed lower: work done against friction and air resistance dissipates energy to the thermal store of the track/air.
All values asserted in node. The same reasoning applies to a pendulum: GPE at the ends of the swing, KE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[3]: KE = ½ × m × v² (1); = 0.5 × 70 × 8.0² (1); = 2240 J (1) (accept 2200 J).
Q2 [3]: KE = 0.5 × 0.20 × 6.0² = 3.6 J (1); GPE gained = 3.6 J so Δh = 3.6 ÷ (0.20 × 10) (1); = 1.8 m (1).
Q3 [2]: Gravitational potential store decreases, kinetic store increases (1); a little energy dissipated to the thermal store of the surroundings / air by air resistance / friction at the pivot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Chemical store of the cyclist decreases (1); transferred mechanically (force on pedals) to the kinetic store of the cyclist and bike (1); some dissipated by heating the cyclist/surroundings and by air resistance (1).
Wording of 3.5 (medium confidence): “Analyse the changes involved in the way energy is stored when a system changes, including: a an object projected upwards or up a slope, b a moving object hitting an obstacle, c an object being accelerated by a constant force, d a vehicle slowing down, e bringing water to a boil in an electric kettle”. Item (e) is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wasted (thermal) = 100 − 15 = 85 J. Widths: input 100 mm, light 15 mm, thermal 85 mm.
The diagram is drawn by the sankey() helper in build_T3.js, which asserts that the outputs add up to the input; widths are 0.01 in per joule.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At each bounce some energy is transferred to the thermal store of the ball, floor and air (and by sound) (1); so less energy is in the kinetic store after the bounce / less GPE at the top (1); the energy is dissipated, not destroyed (1).
Wording (3.7): “Explain that mechanical processes become wasteful when they cause a rise in temperature so dissipating energy in heating the surroundings” (high confidence – matched exactly by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[2]: (a) 500 − 100 = 400 J (1); (b) thermal store of the surroundings / heats the lamp and the room (1).
Q2 [3]: Choose a scale, e.g. 1 mm = 10 J / input arrow width 50 mm (1); useful (light) arrow width 10 mm, going straight on (1); wasted (thermal) arrow 40 mm bending away / widths add up to the input (1).
Q3 [2]: Energy spreads out (into the surroundings) (1); stored in less useful ways / thermal store of surroundings, cannot easily be used again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Oil (lubricant) reduces friction between the chain and the gears (1); so less energy is transferred to the thermal store of the chain/surroundings – more stays useful (kinetic) / less is wasted (1).
Heat-loss shares are illustrative (roof 25%, walls 35%, windows 10%, floor 15%, draughts 15%; sum asserted = 100%). Arrow line widths scale with the share.
Wording (3.9): “Explain ways of reducing unwanted energy transfer including through lubrication and thermal insulation” (medium-high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Wood has a lower thermal conductivity than metal (1); so the rate of energy transfer through the frame is lower and the house cools more slowly (1).
3.10 is qualitative only: “Describe the effects of the thickness and thermal conductivity of the walls of a building on its rate of cooling qualitatively” (high confidence – Issue 4 extract). No conductivity equation is needed. Conductivity values are typical textbook values, 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1800 ÷ 2000 = 0.90 = 90%. Stretch: useful = efficiency × total = 0.25 × 4000 = 1000 J.
Lamp values are illustrative (filament ≈ 10%, LED ≈ 40% of input as light); asserted 0.10 and 0.40. Topic 8 revisits efficiency with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e.g. oil the chain/bearings (reduces friction, less energy to thermal store); pump the tyres up (less energy wasted deforming the tyres); streamlined riding position/clothing (less air resistance). Any two, with one explained.
Wording (3.12): “Explain how efficiency can be increased” (medium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[3]: efficiency = useful ÷ total (1); = 450 ÷ 1500 = 0.30 (1); = 30% (1).
Q2 [3]: House A (1); thinner walls give a higher rate of energy transfer (1); brick has a higher thermal conductivity than foam / foam traps air, a poor conductor (1).
Q3 [2]: Reduces friction between moving parts (1); so less energy is dissipated to the thermal store / less energy wasted, more transferred usefully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These are control variables: a larger volume stores more energy and cools more slowly; a hotter start means a bigger temperature difference and faster cooling – either would make the comparison unfair.
NOT a Core Practical: Topic 3 has none. This is the standard “keeping warm” investigation (Edexcel textbook SP3c/CP3c style) supporting 3.9–3.10. Apparatus: 4 identical beakers, lids, thermometers (or temperature probes and data logger), kettle, measuring cylinder, insulating materials, elastic bands, stopwatch.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To reduce energy transfer from the water surface by evaporation/convection, so that the comparison tests only the wrapping material; the same lid on every beaker keeps it a control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(80 − 53) ÷ 20 = 27 ÷ 20 = 1.35 °C/min (about 1.4 °C/min). The curves level off because the temperature difference between the water and the room gets smaller, so the rate of energy transfer decreases.
Sample data model: T = 20 + 60e^(−kt) with k = 0.06, 0.04, 0.03, 0.02 per minute, rounded to whole degrees (asserted in node). Illustrative, not real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higher starting temperature means a larger temperature difference with the room, so faster cooling at first and a different final temperature (1); compare the temperature drop, or start all beakers at the same temperature (1).
Bar heights: drops 42, 33, 27, 20 °C (asserted), scale 0.075 in per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7 marks)
Q1 [3]: IV: type of insulating material (1); DV: temperature (drop) of the water (1); two controls from: volume of water, starting temperature, thickness of material, beaker size, lid, room temperature (1).
Q2 [2]: (75 − 45) ÷ 15 (1); = 2.0 °C per minute (1).
Q3 [2]: e.g. use temperature probe/data logger (1) – removes reading/timing errors, more accurate (1); or repeat and calculate a mean (1) – reduces effect of random errors/identify anomalies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Advantage: no CO₂/greenhouse gases or SO₂ released when generating / very large energy from small mass of fuel / reliable base load. Disadvantage: radioactive waste that must be stored for a long time / risk of accidents / high building and decommissioning costs / still non-renewable.
Spec 3.13 lists fossil fuels, nuclear fuel, bio-fuel, wind, hydro-electricity, the tides and the Sun (high confidence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Wind and solar are unreliable / depend on the weather and time of day (1); demand must be met at all times, so reliable sources (gas, nuclear, hydro) or energy storage are needed as back-up (1).
Renewable resources in 3.13: bio-fuel, wind, hydro-electricity, tides, the Sun (geothermal and waves are not named in the Edexcel list but can be mentioned).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Renewable and reliable: hydro-electricity or tides (or bio-fuel). Reliable but CO₂: coal, oil, gas (or bio-fuel). Gas: can be switched on quickly to meet changes in demand, backs up wind and solar, existing power stations and supply network.
This summary supports 3.13 “compare the ways in which both renewable and non-renewable sources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43 − 7 = 36 percentage points. Reasons: government targets/laws to reduce CO₂; cheaper wind/solar technology; subsidies; closing coal power stations; public concern about climate change.
DATA: ILLUSTRATIVE, rounded to resemble published UK generation shares (DESNZ/Energy Trends); each year sums to 100% (asserted). Check current figures before using as fact. Fossil share fell from 71% (2000) to 32%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7 marks)
Q1 [2]: Replenished/replaced as quickly as it is used / will not run out (1); e.g. wind, solar, hydro, tides, bio-fuel (1).
Q2 [2]: Any two: unreliable / no electricity when there is no wind (or too much) (1); visual pollution / noise / harm to birds / need many turbines / large areas of land or sea (1).
Q3 [3]: Renewable share increased greatly / by about 47 percentage points (1); any two reasons: targets/laws to reduce CO₂ emissions / climate change; fossil fuels running out; cheaper wind and solar technology; government subsidies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self-check against the table. All three Topic 3 equations are RECALL (none on the Physics Equations List). Links: W = m × g (Topic 2) and work done E = F × d (Topic 8) are also recall. Rearrangements: Δh = ΔGPE ÷ (m g); m = 2KE ÷ v²; v = √(2KE ÷ m); useful = efficiency ×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[1]: ΔGPE = m × g × Δh (1) (words or symbols).
(b) [2]: ΔGPE = 600 × 10 × 30 (1); = 180 000 J (1).
(c) [2]: efficiency = 180 000 ÷ 300 000 (1); = 0.60 or 60% (1). ECF from (b).
(d) [3]: KE at bottom = GPE lost = 180 000 J (1); v² = 2 × 180 000 ÷ 600 = 600 (1); v = 24.5 m/s ≈ 24 m/s (1) (must see a value to more than 2 s.f. or full working).
(e) [3]: KE = 0.5 × 600 × 22² (1); = 145 200 J (1); dissipated = 180 000 − 145 200 = 34 800 J (1). ECF from (b).
(f) [2]: Thermal store of the track/wheels/air (and sound) due to friction and air resistance (1); lubricate the wheels / streamline the car / smoother track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[2]: (a) chemical store (of the battery) (1); (b) kinetic store (of the car) (1).
2 [3]: KE = ½ × m × v² (1); = 0.5 × 0.060 × 40² (1); = 48 J (1).
3 [3]: (a) 60 ÷ 400 (1); = 0.15 or 15% (1); (b) 400 − 60 = 340 J (1).
4 [3]: Thicker walls → slower rate of energy transfer / cools more slowly (1); lower thermal conductivity → slower rate of energy transfer (1); so thick walls of low-conductivity material keep the house warm for longer / need less heating (1).
5 [6]: Levels-based mark scheme (6 marks). Answers are marked holistically; use the indicative content below.
Level 0 (0 marks): no rewardable material.
Level 1 (1–2 marks): demonstrates elements of physics understanding, some of which is inaccurate; understanding of scientific ideas lacks detail; presents an explanation with some structure and coherence.
Level 2 (3–4 marks): demonstrates physics understanding which is mostly relevant but may include some inaccuracies; understanding of scientific ideas is not fully detailed and/or developed; presents an explanation that has a structure which is mostly clear, coherent and logical.
Level 3 (5–6 marks): demonstrates accurate and relevant physics understanding throughout; understanding of the scientific ideas is detailed and fully developed; presents an explanation that has a well-developed structure which is clear, coherent and logical.
Indicative content:
 • Fossil fuels (coal, oil, gas) are non-renewable and will run out; renewables will not.
 • Burning fossil fuels releases CO₂ (greenhouse gas → climate change); coal releases SO₂ (acid rain).
 • Renewables (wind, solar, hydro, tides) release no CO₂ when generating; bio-fuel is (nearly) carbon neutral.
 • Renewables have no fuel costs; fossil fuels must be extracted, transported and often imported.
 • But wind and solar are unreliable: depend on weather/time of day; output cannot be increased on demand.
 • Fossil-fuel (gas) power stations are reliable and can be switched on quickly to meet peaks in demand.
 • So back-up (gas, nuclear, hydro) or energy storage is still needed.
 • Renewables can have environmental impacts: visual/noise (wind), flooding valleys (hydro), habitats (tidal), land use.
 • Building renewable capacity has high initial costs; many sites needed.
Level 3 answers must give advantages AND disadvantages and reach a reasoned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A"/>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B4C9B"/>
          </a:solidFill>
          <a:ln w="12700">
            <a:solidFill>
              <a:srgbClr val="2B4C9B"/>
            </a:solidFill>
            <a:prstDash val="solid"/>
          </a:ln>
        </p:spPr>
      </p:sp>
      <p:sp>
        <p:nvSpPr>
          <p:cNvPr id="3" name="Shape 1"/>
          <p:cNvSpPr/>
          <p:nvPr/>
        </p:nvSpPr>
        <p:spPr>
          <a:xfrm>
            <a:off x="9326880" y="2377440"/>
            <a:ext cx="4937760" cy="4937760"/>
          </a:xfrm>
          <a:prstGeom prst="ellipse">
            <a:avLst/>
          </a:prstGeom>
          <a:solidFill>
            <a:srgbClr val="3A63C9">
              <a:alpha val="85000"/>
            </a:srgbClr>
          </a:solidFill>
          <a:ln w="12700">
            <a:solidFill>
              <a:srgbClr val="3A63C9"/>
            </a:solidFill>
            <a:prstDash val="solid"/>
          </a:ln>
        </p:spPr>
      </p:sp>
      <p:sp>
        <p:nvSpPr>
          <p:cNvPr id="4" name="Shape 2"/>
          <p:cNvSpPr/>
          <p:nvPr/>
        </p:nvSpPr>
        <p:spPr>
          <a:xfrm>
            <a:off x="0" y="0"/>
            <a:ext cx="164592" cy="6858000"/>
          </a:xfrm>
          <a:prstGeom prst="rect">
            <a:avLst/>
          </a:prstGeom>
          <a:solidFill>
            <a:srgbClr val="3A63C9"/>
          </a:solidFill>
          <a:ln w="12700">
            <a:solidFill>
              <a:srgbClr val="3A63C9"/>
            </a:solidFill>
            <a:prstDash val="solid"/>
          </a:ln>
        </p:spPr>
      </p:sp>
      <p:sp>
        <p:nvSpPr>
          <p:cNvPr id="5" name="Text 3"/>
          <p:cNvSpPr/>
          <p:nvPr/>
        </p:nvSpPr>
        <p:spPr>
          <a:xfrm>
            <a:off x="731520" y="822960"/>
            <a:ext cx="7315200" cy="320040"/>
          </a:xfrm>
          <a:prstGeom prst="rect">
            <a:avLst/>
          </a:prstGeom>
          <a:noFill/>
          <a:ln/>
        </p:spPr>
        <p:txBody>
          <a:bodyPr wrap="square" lIns="0" tIns="0" rIns="0" bIns="0" rtlCol="0" anchor="ctr"/>
          <a:lstStyle/>
          <a:p>
            <a:pPr indent="0" marL="0">
              <a:buNone/>
            </a:pPr>
            <a:r>
              <a:rPr lang="en-US" sz="1300" b="1" spc="400" kern="0" dirty="0">
                <a:solidFill>
                  <a:srgbClr val="9FB8F0"/>
                </a:solidFill>
                <a:latin typeface="Calibri" pitchFamily="34" charset="0"/>
                <a:ea typeface="Calibri" pitchFamily="34" charset="-122"/>
                <a:cs typeface="Calibri" pitchFamily="34" charset="-120"/>
              </a:rPr>
              <a:t>PEARSON EDEXCEL GCSE PHYSICS (1PH0)</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Topic 3  Conservation of Energy</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9D5F2"/>
                </a:solidFill>
                <a:latin typeface="Georgia" pitchFamily="34" charset="0"/>
                <a:ea typeface="Georgia" pitchFamily="34" charset="-122"/>
                <a:cs typeface="Georgia" pitchFamily="34" charset="-120"/>
              </a:rPr>
              <a:t>Energy stores, GPE, KE, efficiency and energy resources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E4F7"/>
                </a:solidFill>
                <a:latin typeface="Calibri" pitchFamily="34" charset="0"/>
                <a:ea typeface="Calibri" pitchFamily="34" charset="-122"/>
                <a:cs typeface="Calibri" pitchFamily="34" charset="-120"/>
              </a:rPr>
              <a:t>Energy stores  •  GPE  •  Kinetic energy  •  Sankey diagrams  •  Efficiency  •  Energy resources</a:t>
            </a:r>
            <a:endParaRPr lang="en-US" sz="1300" dirty="0"/>
          </a:p>
        </p:txBody>
      </p:sp>
      <p:sp>
        <p:nvSpPr>
          <p:cNvPr id="10" name="Shape 8"/>
          <p:cNvSpPr/>
          <p:nvPr/>
        </p:nvSpPr>
        <p:spPr>
          <a:xfrm>
            <a:off x="731520" y="3886200"/>
            <a:ext cx="457200" cy="457200"/>
          </a:xfrm>
          <a:prstGeom prst="ellipse">
            <a:avLst/>
          </a:prstGeom>
          <a:solidFill>
            <a:srgbClr val="3A63C9"/>
          </a:solidFill>
          <a:ln w="12700">
            <a:solidFill>
              <a:srgbClr val="9F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3.1–3.14 • suggested practical: thermal insulation (no Core Practical in Topic 3)</a:t>
            </a:r>
            <a:endParaRPr lang="en-US" sz="1400" dirty="0"/>
          </a:p>
        </p:txBody>
      </p:sp>
      <p:sp>
        <p:nvSpPr>
          <p:cNvPr id="13" name="Shape 11"/>
          <p:cNvSpPr/>
          <p:nvPr/>
        </p:nvSpPr>
        <p:spPr>
          <a:xfrm>
            <a:off x="731520" y="4507992"/>
            <a:ext cx="457200" cy="457200"/>
          </a:xfrm>
          <a:prstGeom prst="ellipse">
            <a:avLst/>
          </a:prstGeom>
          <a:solidFill>
            <a:srgbClr val="3A63C9"/>
          </a:solidFill>
          <a:ln w="12700">
            <a:solidFill>
              <a:srgbClr val="9F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statements found in Topic 3</a:t>
            </a:r>
            <a:endParaRPr lang="en-US" sz="1400" dirty="0"/>
          </a:p>
        </p:txBody>
      </p:sp>
      <p:sp>
        <p:nvSpPr>
          <p:cNvPr id="16" name="Shape 14"/>
          <p:cNvSpPr/>
          <p:nvPr/>
        </p:nvSpPr>
        <p:spPr>
          <a:xfrm>
            <a:off x="731520" y="5129784"/>
            <a:ext cx="457200" cy="457200"/>
          </a:xfrm>
          <a:prstGeom prst="ellipse">
            <a:avLst/>
          </a:prstGeom>
          <a:solidFill>
            <a:srgbClr val="3A63C9"/>
          </a:solidFill>
          <a:ln w="12700">
            <a:solidFill>
              <a:srgbClr val="9F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Topic 3 of 15 • Paper 1</a:t>
            </a:r>
            <a:endParaRPr lang="en-US" sz="1400" dirty="0"/>
          </a:p>
        </p:txBody>
      </p:sp>
      <p:sp>
        <p:nvSpPr>
          <p:cNvPr id="19" name="Text 17"/>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B4CF"/>
                </a:solidFill>
                <a:latin typeface="Calibri" pitchFamily="34" charset="0"/>
                <a:ea typeface="Calibri" pitchFamily="34" charset="-122"/>
                <a:cs typeface="Calibri" pitchFamily="34" charset="-120"/>
              </a:rPr>
              <a:t>Pearson Edexcel GCSE (9–1) Physics 1PH0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3.1–3.14 • by the end of this 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E5BD8"/>
          </a:solidFill>
          <a:ln w="12700">
            <a:solidFill>
              <a:srgbClr val="2E5BD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3.1   </a:t>
            </a:r>
            <a:r>
              <a:rPr lang="en-US" sz="1200" dirty="0">
                <a:solidFill>
                  <a:srgbClr val="262B3A"/>
                </a:solidFill>
                <a:latin typeface="Calibri" pitchFamily="34" charset="0"/>
                <a:ea typeface="Calibri" pitchFamily="34" charset="-122"/>
                <a:cs typeface="Calibri" pitchFamily="34" charset="-120"/>
              </a:rPr>
              <a:t>Recall and use </a:t>
            </a:r>
            <a:r>
              <a:rPr lang="en-US" sz="1200" b="1" dirty="0">
                <a:solidFill>
                  <a:srgbClr val="262B3A"/>
                </a:solidFill>
                <a:latin typeface="Calibri" pitchFamily="34" charset="0"/>
                <a:ea typeface="Calibri" pitchFamily="34" charset="-122"/>
                <a:cs typeface="Calibri" pitchFamily="34" charset="-120"/>
              </a:rPr>
              <a:t>ΔGPE = m × g × Δh</a:t>
            </a:r>
            <a:r>
              <a:rPr lang="en-US" sz="1200" dirty="0">
                <a:solidFill>
                  <a:srgbClr val="262B3A"/>
                </a:solidFill>
                <a:latin typeface="Calibri" pitchFamily="34" charset="0"/>
                <a:ea typeface="Calibri" pitchFamily="34" charset="-122"/>
                <a:cs typeface="Calibri" pitchFamily="34" charset="-120"/>
              </a:rPr>
              <a:t> for an object raised above the ground.</a:t>
            </a:r>
            <a:endParaRPr lang="en-US" sz="1100" dirty="0"/>
          </a:p>
        </p:txBody>
      </p:sp>
      <p:sp>
        <p:nvSpPr>
          <p:cNvPr id="11" name="Shape 9"/>
          <p:cNvSpPr/>
          <p:nvPr/>
        </p:nvSpPr>
        <p:spPr>
          <a:xfrm>
            <a:off x="502920" y="2194560"/>
            <a:ext cx="457200" cy="457200"/>
          </a:xfrm>
          <a:prstGeom prst="ellipse">
            <a:avLst/>
          </a:prstGeom>
          <a:solidFill>
            <a:srgbClr val="2E5BD8"/>
          </a:solidFill>
          <a:ln w="12700">
            <a:solidFill>
              <a:srgbClr val="2E5BD8"/>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3.2   </a:t>
            </a:r>
            <a:r>
              <a:rPr lang="en-US" sz="1200" dirty="0">
                <a:solidFill>
                  <a:srgbClr val="262B3A"/>
                </a:solidFill>
                <a:latin typeface="Calibri" pitchFamily="34" charset="0"/>
                <a:ea typeface="Calibri" pitchFamily="34" charset="-122"/>
                <a:cs typeface="Calibri" pitchFamily="34" charset="-120"/>
              </a:rPr>
              <a:t>Recall and use </a:t>
            </a:r>
            <a:r>
              <a:rPr lang="en-US" sz="1200" b="1" dirty="0">
                <a:solidFill>
                  <a:srgbClr val="262B3A"/>
                </a:solidFill>
                <a:latin typeface="Calibri" pitchFamily="34" charset="0"/>
                <a:ea typeface="Calibri" pitchFamily="34" charset="-122"/>
                <a:cs typeface="Calibri" pitchFamily="34" charset="-120"/>
              </a:rPr>
              <a:t>KE = ½ × m × v²</a:t>
            </a:r>
            <a:r>
              <a:rPr lang="en-US" sz="1200" dirty="0">
                <a:solidFill>
                  <a:srgbClr val="262B3A"/>
                </a:solidFill>
                <a:latin typeface="Calibri" pitchFamily="34" charset="0"/>
                <a:ea typeface="Calibri" pitchFamily="34" charset="-122"/>
                <a:cs typeface="Calibri" pitchFamily="34" charset="-120"/>
              </a:rPr>
              <a:t> for a moving object.</a:t>
            </a:r>
            <a:endParaRPr lang="en-US" sz="1100" dirty="0"/>
          </a:p>
        </p:txBody>
      </p:sp>
      <p:sp>
        <p:nvSpPr>
          <p:cNvPr id="14" name="Shape 12"/>
          <p:cNvSpPr/>
          <p:nvPr/>
        </p:nvSpPr>
        <p:spPr>
          <a:xfrm>
            <a:off x="502920" y="3063240"/>
            <a:ext cx="457200" cy="457200"/>
          </a:xfrm>
          <a:prstGeom prst="ellipse">
            <a:avLst/>
          </a:prstGeom>
          <a:solidFill>
            <a:srgbClr val="2E5BD8"/>
          </a:solidFill>
          <a:ln w="12700">
            <a:solidFill>
              <a:srgbClr val="2E5BD8"/>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3.3–3.4   </a:t>
            </a:r>
            <a:r>
              <a:rPr lang="en-US" sz="1200" dirty="0">
                <a:solidFill>
                  <a:srgbClr val="262B3A"/>
                </a:solidFill>
                <a:latin typeface="Calibri" pitchFamily="34" charset="0"/>
                <a:ea typeface="Calibri" pitchFamily="34" charset="-122"/>
                <a:cs typeface="Calibri" pitchFamily="34" charset="-120"/>
              </a:rPr>
              <a:t>Draw and interpret </a:t>
            </a:r>
            <a:r>
              <a:rPr lang="en-US" sz="1200" b="1" dirty="0">
                <a:solidFill>
                  <a:srgbClr val="262B3A"/>
                </a:solidFill>
                <a:latin typeface="Calibri" pitchFamily="34" charset="0"/>
                <a:ea typeface="Calibri" pitchFamily="34" charset="-122"/>
                <a:cs typeface="Calibri" pitchFamily="34" charset="-120"/>
              </a:rPr>
              <a:t>energy transfer diagrams</a:t>
            </a:r>
            <a:r>
              <a:rPr lang="en-US" sz="1200" dirty="0">
                <a:solidFill>
                  <a:srgbClr val="262B3A"/>
                </a:solidFill>
                <a:latin typeface="Calibri" pitchFamily="34" charset="0"/>
                <a:ea typeface="Calibri" pitchFamily="34" charset="-122"/>
                <a:cs typeface="Calibri" pitchFamily="34" charset="-120"/>
              </a:rPr>
              <a:t>; explain </a:t>
            </a:r>
            <a:r>
              <a:rPr lang="en-US" sz="1200" b="1" dirty="0">
                <a:solidFill>
                  <a:srgbClr val="262B3A"/>
                </a:solidFill>
                <a:latin typeface="Calibri" pitchFamily="34" charset="0"/>
                <a:ea typeface="Calibri" pitchFamily="34" charset="-122"/>
                <a:cs typeface="Calibri" pitchFamily="34" charset="-120"/>
              </a:rPr>
              <a:t>conservation of energy</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02920" y="3931920"/>
            <a:ext cx="457200" cy="457200"/>
          </a:xfrm>
          <a:prstGeom prst="ellipse">
            <a:avLst/>
          </a:prstGeom>
          <a:solidFill>
            <a:srgbClr val="2E5BD8"/>
          </a:solidFill>
          <a:ln w="12700">
            <a:solidFill>
              <a:srgbClr val="2E5BD8"/>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3.5–3.6   </a:t>
            </a:r>
            <a:r>
              <a:rPr lang="en-US" sz="1200" dirty="0">
                <a:solidFill>
                  <a:srgbClr val="262B3A"/>
                </a:solidFill>
                <a:latin typeface="Calibri" pitchFamily="34" charset="0"/>
                <a:ea typeface="Calibri" pitchFamily="34" charset="-122"/>
                <a:cs typeface="Calibri" pitchFamily="34" charset="-120"/>
              </a:rPr>
              <a:t>Analyse </a:t>
            </a:r>
            <a:r>
              <a:rPr lang="en-US" sz="1200" b="1" dirty="0">
                <a:solidFill>
                  <a:srgbClr val="262B3A"/>
                </a:solidFill>
                <a:latin typeface="Calibri" pitchFamily="34" charset="0"/>
                <a:ea typeface="Calibri" pitchFamily="34" charset="-122"/>
                <a:cs typeface="Calibri" pitchFamily="34" charset="-120"/>
              </a:rPr>
              <a:t>changes in energy stores</a:t>
            </a:r>
            <a:r>
              <a:rPr lang="en-US" sz="1200" dirty="0">
                <a:solidFill>
                  <a:srgbClr val="262B3A"/>
                </a:solidFill>
                <a:latin typeface="Calibri" pitchFamily="34" charset="0"/>
                <a:ea typeface="Calibri" pitchFamily="34" charset="-122"/>
                <a:cs typeface="Calibri" pitchFamily="34" charset="-120"/>
              </a:rPr>
              <a:t> when a system changes; </a:t>
            </a:r>
            <a:r>
              <a:rPr lang="en-US" sz="1200" b="1" dirty="0">
                <a:solidFill>
                  <a:srgbClr val="262B3A"/>
                </a:solidFill>
                <a:latin typeface="Calibri" pitchFamily="34" charset="0"/>
                <a:ea typeface="Calibri" pitchFamily="34" charset="-122"/>
                <a:cs typeface="Calibri" pitchFamily="34" charset="-120"/>
              </a:rPr>
              <a:t>closed systems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263640" y="1325880"/>
            <a:ext cx="457200" cy="457200"/>
          </a:xfrm>
          <a:prstGeom prst="ellipse">
            <a:avLst/>
          </a:prstGeom>
          <a:solidFill>
            <a:srgbClr val="2E5BD8"/>
          </a:solidFill>
          <a:ln w="12700">
            <a:solidFill>
              <a:srgbClr val="2E5BD8"/>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3.7–3.8   </a:t>
            </a:r>
            <a:r>
              <a:rPr lang="en-US" sz="1200" dirty="0">
                <a:solidFill>
                  <a:srgbClr val="262B3A"/>
                </a:solidFill>
                <a:latin typeface="Calibri" pitchFamily="34" charset="0"/>
                <a:ea typeface="Calibri" pitchFamily="34" charset="-122"/>
                <a:cs typeface="Calibri" pitchFamily="34" charset="-120"/>
              </a:rPr>
              <a:t>Explain how energy is </a:t>
            </a:r>
            <a:r>
              <a:rPr lang="en-US" sz="1200" b="1" dirty="0">
                <a:solidFill>
                  <a:srgbClr val="262B3A"/>
                </a:solidFill>
                <a:latin typeface="Calibri" pitchFamily="34" charset="0"/>
                <a:ea typeface="Calibri" pitchFamily="34" charset="-122"/>
                <a:cs typeface="Calibri" pitchFamily="34" charset="-120"/>
              </a:rPr>
              <a:t>dissipated</a:t>
            </a:r>
            <a:r>
              <a:rPr lang="en-US" sz="1200" dirty="0">
                <a:solidFill>
                  <a:srgbClr val="262B3A"/>
                </a:solidFill>
                <a:latin typeface="Calibri" pitchFamily="34" charset="0"/>
                <a:ea typeface="Calibri" pitchFamily="34" charset="-122"/>
                <a:cs typeface="Calibri" pitchFamily="34" charset="-120"/>
              </a:rPr>
              <a:t> and stored in </a:t>
            </a:r>
            <a:r>
              <a:rPr lang="en-US" sz="1200" b="1" dirty="0">
                <a:solidFill>
                  <a:srgbClr val="262B3A"/>
                </a:solidFill>
                <a:latin typeface="Calibri" pitchFamily="34" charset="0"/>
                <a:ea typeface="Calibri" pitchFamily="34" charset="-122"/>
                <a:cs typeface="Calibri" pitchFamily="34" charset="-120"/>
              </a:rPr>
              <a:t>less useful</a:t>
            </a:r>
            <a:r>
              <a:rPr lang="en-US" sz="1200" dirty="0">
                <a:solidFill>
                  <a:srgbClr val="262B3A"/>
                </a:solidFill>
                <a:latin typeface="Calibri" pitchFamily="34" charset="0"/>
                <a:ea typeface="Calibri" pitchFamily="34" charset="-122"/>
                <a:cs typeface="Calibri" pitchFamily="34" charset="-120"/>
              </a:rPr>
              <a:t> ways.</a:t>
            </a:r>
            <a:endParaRPr lang="en-US" sz="1100" dirty="0"/>
          </a:p>
        </p:txBody>
      </p:sp>
      <p:sp>
        <p:nvSpPr>
          <p:cNvPr id="23" name="Shape 21"/>
          <p:cNvSpPr/>
          <p:nvPr/>
        </p:nvSpPr>
        <p:spPr>
          <a:xfrm>
            <a:off x="6263640" y="2194560"/>
            <a:ext cx="457200" cy="457200"/>
          </a:xfrm>
          <a:prstGeom prst="ellipse">
            <a:avLst/>
          </a:prstGeom>
          <a:solidFill>
            <a:srgbClr val="2E5BD8"/>
          </a:solidFill>
          <a:ln w="12700">
            <a:solidFill>
              <a:srgbClr val="2E5BD8"/>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3.9–3.10   </a:t>
            </a:r>
            <a:r>
              <a:rPr lang="en-US" sz="1200" dirty="0">
                <a:solidFill>
                  <a:srgbClr val="262B3A"/>
                </a:solidFill>
                <a:latin typeface="Calibri" pitchFamily="34" charset="0"/>
                <a:ea typeface="Calibri" pitchFamily="34" charset="-122"/>
                <a:cs typeface="Calibri" pitchFamily="34" charset="-120"/>
              </a:rPr>
              <a:t>Reduce unwanted transfers: </a:t>
            </a:r>
            <a:r>
              <a:rPr lang="en-US" sz="1200" b="1" dirty="0">
                <a:solidFill>
                  <a:srgbClr val="262B3A"/>
                </a:solidFill>
                <a:latin typeface="Calibri" pitchFamily="34" charset="0"/>
                <a:ea typeface="Calibri" pitchFamily="34" charset="-122"/>
                <a:cs typeface="Calibri" pitchFamily="34" charset="-120"/>
              </a:rPr>
              <a:t>lubrication</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thermal insulation</a:t>
            </a:r>
            <a:r>
              <a:rPr lang="en-US" sz="1200" dirty="0">
                <a:solidFill>
                  <a:srgbClr val="262B3A"/>
                </a:solidFill>
                <a:latin typeface="Calibri" pitchFamily="34" charset="0"/>
                <a:ea typeface="Calibri" pitchFamily="34" charset="-122"/>
                <a:cs typeface="Calibri" pitchFamily="34" charset="-120"/>
              </a:rPr>
              <a:t>, wall </a:t>
            </a:r>
            <a:r>
              <a:rPr lang="en-US" sz="1200" b="1" dirty="0">
                <a:solidFill>
                  <a:srgbClr val="262B3A"/>
                </a:solidFill>
                <a:latin typeface="Calibri" pitchFamily="34" charset="0"/>
                <a:ea typeface="Calibri" pitchFamily="34" charset="-122"/>
                <a:cs typeface="Calibri" pitchFamily="34" charset="-120"/>
              </a:rPr>
              <a:t>thickness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thermal conductivity</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6263640" y="3063240"/>
            <a:ext cx="457200" cy="457200"/>
          </a:xfrm>
          <a:prstGeom prst="ellipse">
            <a:avLst/>
          </a:prstGeom>
          <a:solidFill>
            <a:srgbClr val="2E5BD8"/>
          </a:solidFill>
          <a:ln w="12700">
            <a:solidFill>
              <a:srgbClr val="2E5BD8"/>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3.11–3.12   </a:t>
            </a:r>
            <a:r>
              <a:rPr lang="en-US" sz="1200" dirty="0">
                <a:solidFill>
                  <a:srgbClr val="262B3A"/>
                </a:solidFill>
                <a:latin typeface="Calibri" pitchFamily="34" charset="0"/>
                <a:ea typeface="Calibri" pitchFamily="34" charset="-122"/>
                <a:cs typeface="Calibri" pitchFamily="34" charset="-120"/>
              </a:rPr>
              <a:t>Recall and use </a:t>
            </a:r>
            <a:r>
              <a:rPr lang="en-US" sz="1200" b="1" dirty="0">
                <a:solidFill>
                  <a:srgbClr val="262B3A"/>
                </a:solidFill>
                <a:latin typeface="Calibri" pitchFamily="34" charset="0"/>
                <a:ea typeface="Calibri" pitchFamily="34" charset="-122"/>
                <a:cs typeface="Calibri" pitchFamily="34" charset="-120"/>
              </a:rPr>
              <a:t>efficiency = useful ÷ total energy</a:t>
            </a:r>
            <a:r>
              <a:rPr lang="en-US" sz="1200" dirty="0">
                <a:solidFill>
                  <a:srgbClr val="262B3A"/>
                </a:solidFill>
                <a:latin typeface="Calibri" pitchFamily="34" charset="0"/>
                <a:ea typeface="Calibri" pitchFamily="34" charset="-122"/>
                <a:cs typeface="Calibri" pitchFamily="34" charset="-120"/>
              </a:rPr>
              <a:t>; explain how efficiency can be </a:t>
            </a:r>
            <a:r>
              <a:rPr lang="en-US" sz="1200" b="1" dirty="0">
                <a:solidFill>
                  <a:srgbClr val="262B3A"/>
                </a:solidFill>
                <a:latin typeface="Calibri" pitchFamily="34" charset="0"/>
                <a:ea typeface="Calibri" pitchFamily="34" charset="-122"/>
                <a:cs typeface="Calibri" pitchFamily="34" charset="-120"/>
              </a:rPr>
              <a:t>increased</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6263640" y="3931920"/>
            <a:ext cx="457200" cy="457200"/>
          </a:xfrm>
          <a:prstGeom prst="ellipse">
            <a:avLst/>
          </a:prstGeom>
          <a:solidFill>
            <a:srgbClr val="2E5BD8"/>
          </a:solidFill>
          <a:ln w="12700">
            <a:solidFill>
              <a:srgbClr val="2E5BD8"/>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3.13–3.14   </a:t>
            </a:r>
            <a:r>
              <a:rPr lang="en-US" sz="1200" dirty="0">
                <a:solidFill>
                  <a:srgbClr val="262B3A"/>
                </a:solidFill>
                <a:latin typeface="Calibri" pitchFamily="34" charset="0"/>
                <a:ea typeface="Calibri" pitchFamily="34" charset="-122"/>
                <a:cs typeface="Calibri" pitchFamily="34" charset="-120"/>
              </a:rPr>
              <a:t>Compare </a:t>
            </a:r>
            <a:r>
              <a:rPr lang="en-US" sz="1200" b="1" dirty="0">
                <a:solidFill>
                  <a:srgbClr val="262B3A"/>
                </a:solidFill>
                <a:latin typeface="Calibri" pitchFamily="34" charset="0"/>
                <a:ea typeface="Calibri" pitchFamily="34" charset="-122"/>
                <a:cs typeface="Calibri" pitchFamily="34" charset="-120"/>
              </a:rPr>
              <a:t>renewable</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non-renewable</a:t>
            </a:r>
            <a:r>
              <a:rPr lang="en-US" sz="1200" dirty="0">
                <a:solidFill>
                  <a:srgbClr val="262B3A"/>
                </a:solidFill>
                <a:latin typeface="Calibri" pitchFamily="34" charset="0"/>
                <a:ea typeface="Calibri" pitchFamily="34" charset="-122"/>
                <a:cs typeface="Calibri" pitchFamily="34" charset="-120"/>
              </a:rPr>
              <a:t> energy resources; explain </a:t>
            </a:r>
            <a:r>
              <a:rPr lang="en-US" sz="1200" b="1" dirty="0">
                <a:solidFill>
                  <a:srgbClr val="262B3A"/>
                </a:solidFill>
                <a:latin typeface="Calibri" pitchFamily="34" charset="0"/>
                <a:ea typeface="Calibri" pitchFamily="34" charset="-122"/>
                <a:cs typeface="Calibri" pitchFamily="34" charset="-120"/>
              </a:rPr>
              <a:t>trends</a:t>
            </a:r>
            <a:r>
              <a:rPr lang="en-US" sz="1200" dirty="0">
                <a:solidFill>
                  <a:srgbClr val="262B3A"/>
                </a:solidFill>
                <a:latin typeface="Calibri" pitchFamily="34" charset="0"/>
                <a:ea typeface="Calibri" pitchFamily="34" charset="-122"/>
                <a:cs typeface="Calibri" pitchFamily="34" charset="-120"/>
              </a:rPr>
              <a:t> in their use.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3.1–3.14 • Topic 3 is assessed on Paper 1</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188720"/>
            <a:ext cx="2103120" cy="640080"/>
          </a:xfrm>
          <a:prstGeom prst="roundRect">
            <a:avLst>
              <a:gd name="adj" fmla="val 8571"/>
            </a:avLst>
          </a:prstGeom>
          <a:solidFill>
            <a:srgbClr val="1A2340"/>
          </a:solidFill>
          <a:ln/>
        </p:spPr>
      </p:sp>
      <p:sp>
        <p:nvSpPr>
          <p:cNvPr id="9" name="Text 7"/>
          <p:cNvSpPr/>
          <p:nvPr/>
        </p:nvSpPr>
        <p:spPr>
          <a:xfrm>
            <a:off x="411480" y="1188720"/>
            <a:ext cx="21031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Topic 3</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Conservation of energy</a:t>
            </a:r>
            <a:endParaRPr lang="en-US" sz="1200" dirty="0"/>
          </a:p>
        </p:txBody>
      </p:sp>
      <p:sp>
        <p:nvSpPr>
          <p:cNvPr id="10" name="Shape 8"/>
          <p:cNvSpPr/>
          <p:nvPr/>
        </p:nvSpPr>
        <p:spPr>
          <a:xfrm>
            <a:off x="914400" y="1828800"/>
            <a:ext cx="91" cy="3785616"/>
          </a:xfrm>
          <a:prstGeom prst="line">
            <a:avLst/>
          </a:prstGeom>
          <a:noFill/>
          <a:ln w="19050">
            <a:solidFill>
              <a:srgbClr val="2E5BD8"/>
            </a:solidFill>
            <a:prstDash val="solid"/>
          </a:ln>
        </p:spPr>
      </p:sp>
      <p:sp>
        <p:nvSpPr>
          <p:cNvPr id="11" name="Shape 9"/>
          <p:cNvSpPr/>
          <p:nvPr/>
        </p:nvSpPr>
        <p:spPr>
          <a:xfrm>
            <a:off x="914400" y="2212848"/>
            <a:ext cx="411480" cy="91"/>
          </a:xfrm>
          <a:prstGeom prst="line">
            <a:avLst/>
          </a:prstGeom>
          <a:noFill/>
          <a:ln w="19050">
            <a:solidFill>
              <a:srgbClr val="2E5BD8"/>
            </a:solidFill>
            <a:prstDash val="solid"/>
          </a:ln>
        </p:spPr>
      </p:sp>
      <p:sp>
        <p:nvSpPr>
          <p:cNvPr id="12" name="Shape 10"/>
          <p:cNvSpPr/>
          <p:nvPr/>
        </p:nvSpPr>
        <p:spPr>
          <a:xfrm>
            <a:off x="1325880" y="1965960"/>
            <a:ext cx="5120640" cy="493776"/>
          </a:xfrm>
          <a:prstGeom prst="roundRect">
            <a:avLst>
              <a:gd name="adj" fmla="val 9259"/>
            </a:avLst>
          </a:prstGeom>
          <a:solidFill>
            <a:srgbClr val="F5F8FE"/>
          </a:solidFill>
          <a:ln w="12700">
            <a:solidFill>
              <a:srgbClr val="D5DCEB"/>
            </a:solidFill>
            <a:prstDash val="solid"/>
          </a:ln>
        </p:spPr>
      </p:sp>
      <p:sp>
        <p:nvSpPr>
          <p:cNvPr id="13" name="Text 11"/>
          <p:cNvSpPr/>
          <p:nvPr/>
        </p:nvSpPr>
        <p:spPr>
          <a:xfrm>
            <a:off x="1463040" y="1965960"/>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3.1–3.2   </a:t>
            </a:r>
            <a:r>
              <a:rPr lang="en-US" sz="1100" dirty="0">
                <a:solidFill>
                  <a:srgbClr val="262B3A"/>
                </a:solidFill>
                <a:latin typeface="Calibri" pitchFamily="34" charset="0"/>
                <a:ea typeface="Calibri" pitchFamily="34" charset="-122"/>
                <a:cs typeface="Calibri" pitchFamily="34" charset="-120"/>
              </a:rPr>
              <a:t>Gravitational potential and kinetic energy</a:t>
            </a:r>
            <a:endParaRPr lang="en-US" sz="1100" dirty="0"/>
          </a:p>
        </p:txBody>
      </p:sp>
      <p:sp>
        <p:nvSpPr>
          <p:cNvPr id="14" name="Shape 12"/>
          <p:cNvSpPr/>
          <p:nvPr/>
        </p:nvSpPr>
        <p:spPr>
          <a:xfrm>
            <a:off x="5166360" y="2075688"/>
            <a:ext cx="1188720" cy="274320"/>
          </a:xfrm>
          <a:prstGeom prst="roundRect">
            <a:avLst>
              <a:gd name="adj" fmla="val 50000"/>
            </a:avLst>
          </a:prstGeom>
          <a:solidFill>
            <a:srgbClr val="2E5BD8"/>
          </a:solidFill>
          <a:ln w="12700">
            <a:solidFill>
              <a:srgbClr val="2E5BD8"/>
            </a:solidFill>
            <a:prstDash val="solid"/>
          </a:ln>
        </p:spPr>
      </p:sp>
      <p:sp>
        <p:nvSpPr>
          <p:cNvPr id="15" name="Text 13"/>
          <p:cNvSpPr/>
          <p:nvPr/>
        </p:nvSpPr>
        <p:spPr>
          <a:xfrm>
            <a:off x="5166360" y="207568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2779776"/>
            <a:ext cx="411480" cy="91"/>
          </a:xfrm>
          <a:prstGeom prst="line">
            <a:avLst/>
          </a:prstGeom>
          <a:noFill/>
          <a:ln w="19050">
            <a:solidFill>
              <a:srgbClr val="2E5BD8"/>
            </a:solidFill>
            <a:prstDash val="solid"/>
          </a:ln>
        </p:spPr>
      </p:sp>
      <p:sp>
        <p:nvSpPr>
          <p:cNvPr id="17" name="Shape 15"/>
          <p:cNvSpPr/>
          <p:nvPr/>
        </p:nvSpPr>
        <p:spPr>
          <a:xfrm>
            <a:off x="1325880" y="2532888"/>
            <a:ext cx="5120640" cy="493776"/>
          </a:xfrm>
          <a:prstGeom prst="roundRect">
            <a:avLst>
              <a:gd name="adj" fmla="val 9259"/>
            </a:avLst>
          </a:prstGeom>
          <a:solidFill>
            <a:srgbClr val="F5F8FE"/>
          </a:solidFill>
          <a:ln w="12700">
            <a:solidFill>
              <a:srgbClr val="D5DCEB"/>
            </a:solidFill>
            <a:prstDash val="solid"/>
          </a:ln>
        </p:spPr>
      </p:sp>
      <p:sp>
        <p:nvSpPr>
          <p:cNvPr id="18" name="Text 16"/>
          <p:cNvSpPr/>
          <p:nvPr/>
        </p:nvSpPr>
        <p:spPr>
          <a:xfrm>
            <a:off x="1463040" y="2532888"/>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3.3–3.6   </a:t>
            </a:r>
            <a:r>
              <a:rPr lang="en-US" sz="1100" dirty="0">
                <a:solidFill>
                  <a:srgbClr val="262B3A"/>
                </a:solidFill>
                <a:latin typeface="Calibri" pitchFamily="34" charset="0"/>
                <a:ea typeface="Calibri" pitchFamily="34" charset="-122"/>
                <a:cs typeface="Calibri" pitchFamily="34" charset="-120"/>
              </a:rPr>
              <a:t>Energy diagrams, conservation, closed systems</a:t>
            </a:r>
            <a:endParaRPr lang="en-US" sz="1100" dirty="0"/>
          </a:p>
        </p:txBody>
      </p:sp>
      <p:sp>
        <p:nvSpPr>
          <p:cNvPr id="19" name="Shape 17"/>
          <p:cNvSpPr/>
          <p:nvPr/>
        </p:nvSpPr>
        <p:spPr>
          <a:xfrm>
            <a:off x="5166360" y="2642616"/>
            <a:ext cx="1188720" cy="274320"/>
          </a:xfrm>
          <a:prstGeom prst="roundRect">
            <a:avLst>
              <a:gd name="adj" fmla="val 50000"/>
            </a:avLst>
          </a:prstGeom>
          <a:solidFill>
            <a:srgbClr val="2E5BD8"/>
          </a:solidFill>
          <a:ln w="12700">
            <a:solidFill>
              <a:srgbClr val="2E5BD8"/>
            </a:solidFill>
            <a:prstDash val="solid"/>
          </a:ln>
        </p:spPr>
      </p:sp>
      <p:sp>
        <p:nvSpPr>
          <p:cNvPr id="20" name="Text 18"/>
          <p:cNvSpPr/>
          <p:nvPr/>
        </p:nvSpPr>
        <p:spPr>
          <a:xfrm>
            <a:off x="5166360" y="2642616"/>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346704"/>
            <a:ext cx="411480" cy="91"/>
          </a:xfrm>
          <a:prstGeom prst="line">
            <a:avLst/>
          </a:prstGeom>
          <a:noFill/>
          <a:ln w="19050">
            <a:solidFill>
              <a:srgbClr val="2E5BD8"/>
            </a:solidFill>
            <a:prstDash val="solid"/>
          </a:ln>
        </p:spPr>
      </p:sp>
      <p:sp>
        <p:nvSpPr>
          <p:cNvPr id="22" name="Shape 20"/>
          <p:cNvSpPr/>
          <p:nvPr/>
        </p:nvSpPr>
        <p:spPr>
          <a:xfrm>
            <a:off x="1325880" y="3099816"/>
            <a:ext cx="5120640" cy="493776"/>
          </a:xfrm>
          <a:prstGeom prst="roundRect">
            <a:avLst>
              <a:gd name="adj" fmla="val 9259"/>
            </a:avLst>
          </a:prstGeom>
          <a:solidFill>
            <a:srgbClr val="F5F8FE"/>
          </a:solidFill>
          <a:ln w="12700">
            <a:solidFill>
              <a:srgbClr val="D5DCEB"/>
            </a:solidFill>
            <a:prstDash val="solid"/>
          </a:ln>
        </p:spPr>
      </p:sp>
      <p:sp>
        <p:nvSpPr>
          <p:cNvPr id="23" name="Text 21"/>
          <p:cNvSpPr/>
          <p:nvPr/>
        </p:nvSpPr>
        <p:spPr>
          <a:xfrm>
            <a:off x="1463040" y="3099816"/>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3.7–3.8   </a:t>
            </a:r>
            <a:r>
              <a:rPr lang="en-US" sz="1100" dirty="0">
                <a:solidFill>
                  <a:srgbClr val="262B3A"/>
                </a:solidFill>
                <a:latin typeface="Calibri" pitchFamily="34" charset="0"/>
                <a:ea typeface="Calibri" pitchFamily="34" charset="-122"/>
                <a:cs typeface="Calibri" pitchFamily="34" charset="-120"/>
              </a:rPr>
              <a:t>Dissipation and wasted energy</a:t>
            </a:r>
            <a:endParaRPr lang="en-US" sz="1100" dirty="0"/>
          </a:p>
        </p:txBody>
      </p:sp>
      <p:sp>
        <p:nvSpPr>
          <p:cNvPr id="24" name="Shape 22"/>
          <p:cNvSpPr/>
          <p:nvPr/>
        </p:nvSpPr>
        <p:spPr>
          <a:xfrm>
            <a:off x="5166360" y="3209544"/>
            <a:ext cx="1188720" cy="274320"/>
          </a:xfrm>
          <a:prstGeom prst="roundRect">
            <a:avLst>
              <a:gd name="adj" fmla="val 50000"/>
            </a:avLst>
          </a:prstGeom>
          <a:solidFill>
            <a:srgbClr val="2E5BD8"/>
          </a:solidFill>
          <a:ln w="12700">
            <a:solidFill>
              <a:srgbClr val="2E5BD8"/>
            </a:solidFill>
            <a:prstDash val="solid"/>
          </a:ln>
        </p:spPr>
      </p:sp>
      <p:sp>
        <p:nvSpPr>
          <p:cNvPr id="25" name="Text 23"/>
          <p:cNvSpPr/>
          <p:nvPr/>
        </p:nvSpPr>
        <p:spPr>
          <a:xfrm>
            <a:off x="5166360" y="3209544"/>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3913632"/>
            <a:ext cx="411480" cy="91"/>
          </a:xfrm>
          <a:prstGeom prst="line">
            <a:avLst/>
          </a:prstGeom>
          <a:noFill/>
          <a:ln w="19050">
            <a:solidFill>
              <a:srgbClr val="2E5BD8"/>
            </a:solidFill>
            <a:prstDash val="solid"/>
          </a:ln>
        </p:spPr>
      </p:sp>
      <p:sp>
        <p:nvSpPr>
          <p:cNvPr id="27" name="Shape 25"/>
          <p:cNvSpPr/>
          <p:nvPr/>
        </p:nvSpPr>
        <p:spPr>
          <a:xfrm>
            <a:off x="1325880" y="3666744"/>
            <a:ext cx="5120640" cy="493776"/>
          </a:xfrm>
          <a:prstGeom prst="roundRect">
            <a:avLst>
              <a:gd name="adj" fmla="val 9259"/>
            </a:avLst>
          </a:prstGeom>
          <a:solidFill>
            <a:srgbClr val="F5F8FE"/>
          </a:solidFill>
          <a:ln w="12700">
            <a:solidFill>
              <a:srgbClr val="D5DCEB"/>
            </a:solidFill>
            <a:prstDash val="solid"/>
          </a:ln>
        </p:spPr>
      </p:sp>
      <p:sp>
        <p:nvSpPr>
          <p:cNvPr id="28" name="Text 26"/>
          <p:cNvSpPr/>
          <p:nvPr/>
        </p:nvSpPr>
        <p:spPr>
          <a:xfrm>
            <a:off x="1463040" y="3666744"/>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3.9–3.10   </a:t>
            </a:r>
            <a:r>
              <a:rPr lang="en-US" sz="1100" dirty="0">
                <a:solidFill>
                  <a:srgbClr val="262B3A"/>
                </a:solidFill>
                <a:latin typeface="Calibri" pitchFamily="34" charset="0"/>
                <a:ea typeface="Calibri" pitchFamily="34" charset="-122"/>
                <a:cs typeface="Calibri" pitchFamily="34" charset="-120"/>
              </a:rPr>
              <a:t>Lubrication, insulation, conductivity</a:t>
            </a:r>
            <a:endParaRPr lang="en-US" sz="1100" dirty="0"/>
          </a:p>
        </p:txBody>
      </p:sp>
      <p:sp>
        <p:nvSpPr>
          <p:cNvPr id="29" name="Shape 27"/>
          <p:cNvSpPr/>
          <p:nvPr/>
        </p:nvSpPr>
        <p:spPr>
          <a:xfrm>
            <a:off x="5166360" y="3776472"/>
            <a:ext cx="1188720" cy="274320"/>
          </a:xfrm>
          <a:prstGeom prst="roundRect">
            <a:avLst>
              <a:gd name="adj" fmla="val 50000"/>
            </a:avLst>
          </a:prstGeom>
          <a:solidFill>
            <a:srgbClr val="2E5BD8"/>
          </a:solidFill>
          <a:ln w="12700">
            <a:solidFill>
              <a:srgbClr val="2E5BD8"/>
            </a:solidFill>
            <a:prstDash val="solid"/>
          </a:ln>
        </p:spPr>
      </p:sp>
      <p:sp>
        <p:nvSpPr>
          <p:cNvPr id="30" name="Text 28"/>
          <p:cNvSpPr/>
          <p:nvPr/>
        </p:nvSpPr>
        <p:spPr>
          <a:xfrm>
            <a:off x="5166360" y="3776472"/>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4480560"/>
            <a:ext cx="411480" cy="91"/>
          </a:xfrm>
          <a:prstGeom prst="line">
            <a:avLst/>
          </a:prstGeom>
          <a:noFill/>
          <a:ln w="19050">
            <a:solidFill>
              <a:srgbClr val="2E5BD8"/>
            </a:solidFill>
            <a:prstDash val="solid"/>
          </a:ln>
        </p:spPr>
      </p:sp>
      <p:sp>
        <p:nvSpPr>
          <p:cNvPr id="32" name="Shape 30"/>
          <p:cNvSpPr/>
          <p:nvPr/>
        </p:nvSpPr>
        <p:spPr>
          <a:xfrm>
            <a:off x="1325880" y="4233672"/>
            <a:ext cx="5120640" cy="493776"/>
          </a:xfrm>
          <a:prstGeom prst="roundRect">
            <a:avLst>
              <a:gd name="adj" fmla="val 9259"/>
            </a:avLst>
          </a:prstGeom>
          <a:solidFill>
            <a:srgbClr val="F5F8FE"/>
          </a:solidFill>
          <a:ln w="12700">
            <a:solidFill>
              <a:srgbClr val="D5DCEB"/>
            </a:solidFill>
            <a:prstDash val="solid"/>
          </a:ln>
        </p:spPr>
      </p:sp>
      <p:sp>
        <p:nvSpPr>
          <p:cNvPr id="33" name="Text 31"/>
          <p:cNvSpPr/>
          <p:nvPr/>
        </p:nvSpPr>
        <p:spPr>
          <a:xfrm>
            <a:off x="1463040" y="4233672"/>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Suggested: comparing thermal insulators</a:t>
            </a:r>
            <a:endParaRPr lang="en-US" sz="1100" dirty="0"/>
          </a:p>
        </p:txBody>
      </p:sp>
      <p:sp>
        <p:nvSpPr>
          <p:cNvPr id="34" name="Shape 32"/>
          <p:cNvSpPr/>
          <p:nvPr/>
        </p:nvSpPr>
        <p:spPr>
          <a:xfrm>
            <a:off x="5166360" y="4343400"/>
            <a:ext cx="1188720" cy="274320"/>
          </a:xfrm>
          <a:prstGeom prst="roundRect">
            <a:avLst>
              <a:gd name="adj" fmla="val 50000"/>
            </a:avLst>
          </a:prstGeom>
          <a:solidFill>
            <a:srgbClr val="B8730A"/>
          </a:solidFill>
          <a:ln w="12700">
            <a:solidFill>
              <a:srgbClr val="B8730A"/>
            </a:solidFill>
            <a:prstDash val="solid"/>
          </a:ln>
        </p:spPr>
      </p:sp>
      <p:sp>
        <p:nvSpPr>
          <p:cNvPr id="35" name="Text 33"/>
          <p:cNvSpPr/>
          <p:nvPr/>
        </p:nvSpPr>
        <p:spPr>
          <a:xfrm>
            <a:off x="5166360" y="43434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a:t>
            </a:r>
            <a:endParaRPr lang="en-US" sz="1000" dirty="0"/>
          </a:p>
        </p:txBody>
      </p:sp>
      <p:sp>
        <p:nvSpPr>
          <p:cNvPr id="36" name="Shape 34"/>
          <p:cNvSpPr/>
          <p:nvPr/>
        </p:nvSpPr>
        <p:spPr>
          <a:xfrm>
            <a:off x="914400" y="5047488"/>
            <a:ext cx="411480" cy="91"/>
          </a:xfrm>
          <a:prstGeom prst="line">
            <a:avLst/>
          </a:prstGeom>
          <a:noFill/>
          <a:ln w="19050">
            <a:solidFill>
              <a:srgbClr val="2E5BD8"/>
            </a:solidFill>
            <a:prstDash val="solid"/>
          </a:ln>
        </p:spPr>
      </p:sp>
      <p:sp>
        <p:nvSpPr>
          <p:cNvPr id="37" name="Shape 35"/>
          <p:cNvSpPr/>
          <p:nvPr/>
        </p:nvSpPr>
        <p:spPr>
          <a:xfrm>
            <a:off x="1325880" y="4800600"/>
            <a:ext cx="5120640" cy="493776"/>
          </a:xfrm>
          <a:prstGeom prst="roundRect">
            <a:avLst>
              <a:gd name="adj" fmla="val 9259"/>
            </a:avLst>
          </a:prstGeom>
          <a:solidFill>
            <a:srgbClr val="F5F8FE"/>
          </a:solidFill>
          <a:ln w="12700">
            <a:solidFill>
              <a:srgbClr val="D5DCEB"/>
            </a:solidFill>
            <a:prstDash val="solid"/>
          </a:ln>
        </p:spPr>
      </p:sp>
      <p:sp>
        <p:nvSpPr>
          <p:cNvPr id="38" name="Text 36"/>
          <p:cNvSpPr/>
          <p:nvPr/>
        </p:nvSpPr>
        <p:spPr>
          <a:xfrm>
            <a:off x="1463040" y="4800600"/>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3.11–3.12   </a:t>
            </a:r>
            <a:r>
              <a:rPr lang="en-US" sz="1100" dirty="0">
                <a:solidFill>
                  <a:srgbClr val="262B3A"/>
                </a:solidFill>
                <a:latin typeface="Calibri" pitchFamily="34" charset="0"/>
                <a:ea typeface="Calibri" pitchFamily="34" charset="-122"/>
                <a:cs typeface="Calibri" pitchFamily="34" charset="-120"/>
              </a:rPr>
              <a:t>Efficiency and how to increase it</a:t>
            </a:r>
            <a:endParaRPr lang="en-US" sz="1100" dirty="0"/>
          </a:p>
        </p:txBody>
      </p:sp>
      <p:sp>
        <p:nvSpPr>
          <p:cNvPr id="39" name="Shape 37"/>
          <p:cNvSpPr/>
          <p:nvPr/>
        </p:nvSpPr>
        <p:spPr>
          <a:xfrm>
            <a:off x="5166360" y="4910328"/>
            <a:ext cx="1188720" cy="274320"/>
          </a:xfrm>
          <a:prstGeom prst="roundRect">
            <a:avLst>
              <a:gd name="adj" fmla="val 50000"/>
            </a:avLst>
          </a:prstGeom>
          <a:solidFill>
            <a:srgbClr val="2E5BD8"/>
          </a:solidFill>
          <a:ln w="12700">
            <a:solidFill>
              <a:srgbClr val="2E5BD8"/>
            </a:solidFill>
            <a:prstDash val="solid"/>
          </a:ln>
        </p:spPr>
      </p:sp>
      <p:sp>
        <p:nvSpPr>
          <p:cNvPr id="40" name="Text 38"/>
          <p:cNvSpPr/>
          <p:nvPr/>
        </p:nvSpPr>
        <p:spPr>
          <a:xfrm>
            <a:off x="5166360" y="491032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Shape 39"/>
          <p:cNvSpPr/>
          <p:nvPr/>
        </p:nvSpPr>
        <p:spPr>
          <a:xfrm>
            <a:off x="914400" y="5614416"/>
            <a:ext cx="411480" cy="91"/>
          </a:xfrm>
          <a:prstGeom prst="line">
            <a:avLst/>
          </a:prstGeom>
          <a:noFill/>
          <a:ln w="19050">
            <a:solidFill>
              <a:srgbClr val="2E5BD8"/>
            </a:solidFill>
            <a:prstDash val="solid"/>
          </a:ln>
        </p:spPr>
      </p:sp>
      <p:sp>
        <p:nvSpPr>
          <p:cNvPr id="42" name="Shape 40"/>
          <p:cNvSpPr/>
          <p:nvPr/>
        </p:nvSpPr>
        <p:spPr>
          <a:xfrm>
            <a:off x="1325880" y="5367528"/>
            <a:ext cx="5120640" cy="493776"/>
          </a:xfrm>
          <a:prstGeom prst="roundRect">
            <a:avLst>
              <a:gd name="adj" fmla="val 9259"/>
            </a:avLst>
          </a:prstGeom>
          <a:solidFill>
            <a:srgbClr val="F5F8FE"/>
          </a:solidFill>
          <a:ln w="12700">
            <a:solidFill>
              <a:srgbClr val="D5DCEB"/>
            </a:solidFill>
            <a:prstDash val="solid"/>
          </a:ln>
        </p:spPr>
      </p:sp>
      <p:sp>
        <p:nvSpPr>
          <p:cNvPr id="43" name="Text 41"/>
          <p:cNvSpPr/>
          <p:nvPr/>
        </p:nvSpPr>
        <p:spPr>
          <a:xfrm>
            <a:off x="1463040" y="5367528"/>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3.13–3.14   </a:t>
            </a:r>
            <a:r>
              <a:rPr lang="en-US" sz="1100" dirty="0">
                <a:solidFill>
                  <a:srgbClr val="262B3A"/>
                </a:solidFill>
                <a:latin typeface="Calibri" pitchFamily="34" charset="0"/>
                <a:ea typeface="Calibri" pitchFamily="34" charset="-122"/>
                <a:cs typeface="Calibri" pitchFamily="34" charset="-120"/>
              </a:rPr>
              <a:t>Energy resources and trends in use</a:t>
            </a:r>
            <a:endParaRPr lang="en-US" sz="1100" dirty="0"/>
          </a:p>
        </p:txBody>
      </p:sp>
      <p:sp>
        <p:nvSpPr>
          <p:cNvPr id="44" name="Shape 42"/>
          <p:cNvSpPr/>
          <p:nvPr/>
        </p:nvSpPr>
        <p:spPr>
          <a:xfrm>
            <a:off x="5166360" y="5477256"/>
            <a:ext cx="1188720" cy="274320"/>
          </a:xfrm>
          <a:prstGeom prst="roundRect">
            <a:avLst>
              <a:gd name="adj" fmla="val 50000"/>
            </a:avLst>
          </a:prstGeom>
          <a:solidFill>
            <a:srgbClr val="2E5BD8"/>
          </a:solidFill>
          <a:ln w="12700">
            <a:solidFill>
              <a:srgbClr val="2E5BD8"/>
            </a:solidFill>
            <a:prstDash val="solid"/>
          </a:ln>
        </p:spPr>
      </p:sp>
      <p:sp>
        <p:nvSpPr>
          <p:cNvPr id="45" name="Text 43"/>
          <p:cNvSpPr/>
          <p:nvPr/>
        </p:nvSpPr>
        <p:spPr>
          <a:xfrm>
            <a:off x="5166360" y="5477256"/>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6" name="Text 44"/>
          <p:cNvSpPr/>
          <p:nvPr/>
        </p:nvSpPr>
        <p:spPr>
          <a:xfrm>
            <a:off x="411480" y="6035040"/>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Links: Topic 2 braking and KE (2.33) • Topic 8 work done, power, efficiency • Topic 14 specific heat capacity</a:t>
            </a:r>
            <a:endParaRPr lang="en-US" sz="1050" dirty="0"/>
          </a:p>
        </p:txBody>
      </p:sp>
      <p:sp>
        <p:nvSpPr>
          <p:cNvPr id="47" name="Shape 45"/>
          <p:cNvSpPr/>
          <p:nvPr/>
        </p:nvSpPr>
        <p:spPr>
          <a:xfrm>
            <a:off x="6720840" y="1188720"/>
            <a:ext cx="5056632" cy="2514600"/>
          </a:xfrm>
          <a:prstGeom prst="roundRect">
            <a:avLst>
              <a:gd name="adj" fmla="val 2182"/>
            </a:avLst>
          </a:prstGeom>
          <a:solidFill>
            <a:srgbClr val="1F2A4A"/>
          </a:solidFill>
          <a:ln/>
        </p:spPr>
      </p:sp>
      <p:sp>
        <p:nvSpPr>
          <p:cNvPr id="48" name="Text 46"/>
          <p:cNvSpPr/>
          <p:nvPr/>
        </p:nvSpPr>
        <p:spPr>
          <a:xfrm>
            <a:off x="6903720" y="128016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How this is assessed</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1PH0 </a:t>
            </a:r>
            <a:r>
              <a:rPr lang="en-US" sz="1150" b="1" dirty="0">
                <a:solidFill>
                  <a:srgbClr val="E6ECFA"/>
                </a:solidFill>
                <a:latin typeface="Calibri" pitchFamily="34" charset="0"/>
                <a:ea typeface="Calibri" pitchFamily="34" charset="-122"/>
                <a:cs typeface="Calibri" pitchFamily="34" charset="-120"/>
              </a:rPr>
              <a:t>Paper 1</a:t>
            </a:r>
            <a:r>
              <a:rPr lang="en-US" sz="1150" dirty="0">
                <a:solidFill>
                  <a:srgbClr val="E6ECFA"/>
                </a:solidFill>
                <a:latin typeface="Calibri" pitchFamily="34" charset="0"/>
                <a:ea typeface="Calibri" pitchFamily="34" charset="-122"/>
                <a:cs typeface="Calibri" pitchFamily="34" charset="-120"/>
              </a:rPr>
              <a:t> (1F or 1H): 1 h 45 min, 100 marks, Topics 1–7.</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Combined Science 1SC0 </a:t>
            </a:r>
            <a:r>
              <a:rPr lang="en-US" sz="1150" b="1" dirty="0">
                <a:solidFill>
                  <a:srgbClr val="E6ECFA"/>
                </a:solidFill>
                <a:latin typeface="Calibri" pitchFamily="34" charset="0"/>
                <a:ea typeface="Calibri" pitchFamily="34" charset="-122"/>
                <a:cs typeface="Calibri" pitchFamily="34" charset="-120"/>
              </a:rPr>
              <a:t>Paper 5</a:t>
            </a:r>
            <a:r>
              <a:rPr lang="en-US" sz="1150" dirty="0">
                <a:solidFill>
                  <a:srgbClr val="E6ECFA"/>
                </a:solidFill>
                <a:latin typeface="Calibri" pitchFamily="34" charset="0"/>
                <a:ea typeface="Calibri" pitchFamily="34" charset="-122"/>
                <a:cs typeface="Calibri" pitchFamily="34" charset="-120"/>
              </a:rPr>
              <a:t> (Physics 1) tests the same Topic 3 statements.</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Recall</a:t>
            </a:r>
            <a:r>
              <a:rPr lang="en-US" sz="1150" dirty="0">
                <a:solidFill>
                  <a:srgbClr val="E6ECFA"/>
                </a:solidFill>
                <a:latin typeface="Calibri" pitchFamily="34" charset="0"/>
                <a:ea typeface="Calibri" pitchFamily="34" charset="-122"/>
                <a:cs typeface="Calibri" pitchFamily="34" charset="-120"/>
              </a:rPr>
              <a:t> all three Topic 3 equations: ΔGPE = mgΔh, KE = ½mv² and efficiency.</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g = </a:t>
            </a:r>
            <a:r>
              <a:rPr lang="en-US" sz="1150" b="1" dirty="0">
                <a:solidFill>
                  <a:srgbClr val="E6ECFA"/>
                </a:solidFill>
                <a:latin typeface="Calibri" pitchFamily="34" charset="0"/>
                <a:ea typeface="Calibri" pitchFamily="34" charset="-122"/>
                <a:cs typeface="Calibri" pitchFamily="34" charset="-120"/>
              </a:rPr>
              <a:t>10 N/kg</a:t>
            </a:r>
            <a:r>
              <a:rPr lang="en-US" sz="1150" dirty="0">
                <a:solidFill>
                  <a:srgbClr val="E6ECFA"/>
                </a:solidFill>
                <a:latin typeface="Calibri" pitchFamily="34" charset="0"/>
                <a:ea typeface="Calibri" pitchFamily="34" charset="-122"/>
                <a:cs typeface="Calibri" pitchFamily="34" charset="-120"/>
              </a:rPr>
              <a:t> in every calculation.</a:t>
            </a:r>
            <a:endParaRPr lang="en-US" sz="1500" dirty="0"/>
          </a:p>
        </p:txBody>
      </p:sp>
      <p:sp>
        <p:nvSpPr>
          <p:cNvPr id="49" name="Shape 47"/>
          <p:cNvSpPr/>
          <p:nvPr/>
        </p:nvSpPr>
        <p:spPr>
          <a:xfrm>
            <a:off x="6720840" y="3840480"/>
            <a:ext cx="5056632" cy="2423160"/>
          </a:xfrm>
          <a:prstGeom prst="roundRect">
            <a:avLst>
              <a:gd name="adj" fmla="val 2264"/>
            </a:avLst>
          </a:prstGeom>
          <a:solidFill>
            <a:srgbClr val="FFF4E0"/>
          </a:solidFill>
          <a:ln w="12700">
            <a:solidFill>
              <a:srgbClr val="F1D9A8"/>
            </a:solidFill>
            <a:prstDash val="solid"/>
          </a:ln>
        </p:spPr>
      </p:sp>
      <p:sp>
        <p:nvSpPr>
          <p:cNvPr id="50" name="Text 48"/>
          <p:cNvSpPr/>
          <p:nvPr/>
        </p:nvSpPr>
        <p:spPr>
          <a:xfrm>
            <a:off x="6903720" y="3931920"/>
            <a:ext cx="4709160" cy="224028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courses and tiers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Not physics-only:</a:t>
            </a:r>
            <a:r>
              <a:rPr lang="en-US" sz="1150" dirty="0">
                <a:solidFill>
                  <a:srgbClr val="262B3A"/>
                </a:solidFill>
                <a:latin typeface="Calibri" pitchFamily="34" charset="0"/>
                <a:ea typeface="Calibri" pitchFamily="34" charset="-122"/>
                <a:cs typeface="Calibri" pitchFamily="34" charset="-120"/>
              </a:rPr>
              <a:t> no P statements were found, so Combined (1SC0) classes skip nothing.</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No HT statements</a:t>
            </a:r>
            <a:r>
              <a:rPr lang="en-US" sz="1150" dirty="0">
                <a:solidFill>
                  <a:srgbClr val="262B3A"/>
                </a:solidFill>
                <a:latin typeface="Calibri" pitchFamily="34" charset="0"/>
                <a:ea typeface="Calibri" pitchFamily="34" charset="-122"/>
                <a:cs typeface="Calibri" pitchFamily="34" charset="-120"/>
              </a:rPr>
              <a:t> were found in Topic 3: every slide is for both tiers. Stretch pills mark harder maths.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No Core Practical</a:t>
            </a:r>
            <a:r>
              <a:rPr lang="en-US" sz="1150" dirty="0">
                <a:solidFill>
                  <a:srgbClr val="262B3A"/>
                </a:solidFill>
                <a:latin typeface="Calibri" pitchFamily="34" charset="0"/>
                <a:ea typeface="Calibri" pitchFamily="34" charset="-122"/>
                <a:cs typeface="Calibri" pitchFamily="34" charset="-120"/>
              </a:rPr>
              <a:t> in Topic 3; the insulation investigation is a suggested practical.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from Topics 1–2 and Key Stage 3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8FE"/>
          </a:solidFill>
          <a:ln w="9525">
            <a:solidFill>
              <a:srgbClr val="D5DCEB"/>
            </a:solidFill>
            <a:prstDash val="solid"/>
          </a:ln>
        </p:spPr>
      </p:sp>
      <p:sp>
        <p:nvSpPr>
          <p:cNvPr id="9" name="Shape 7"/>
          <p:cNvSpPr/>
          <p:nvPr/>
        </p:nvSpPr>
        <p:spPr>
          <a:xfrm>
            <a:off x="548640" y="1371600"/>
            <a:ext cx="438912" cy="438912"/>
          </a:xfrm>
          <a:prstGeom prst="ellipse">
            <a:avLst/>
          </a:prstGeom>
          <a:solidFill>
            <a:srgbClr val="2E5BD8"/>
          </a:solidFill>
          <a:ln w="12700">
            <a:solidFill>
              <a:srgbClr val="2E5BD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2 • weight</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a:t>
            </a:r>
            <a:r>
              <a:rPr lang="en-US" sz="1250" b="1" dirty="0">
                <a:solidFill>
                  <a:srgbClr val="262B3A"/>
                </a:solidFill>
                <a:latin typeface="Calibri" pitchFamily="34" charset="0"/>
                <a:ea typeface="Calibri" pitchFamily="34" charset="-122"/>
                <a:cs typeface="Calibri" pitchFamily="34" charset="-120"/>
              </a:rPr>
              <a:t>weight</a:t>
            </a:r>
            <a:r>
              <a:rPr lang="en-US" sz="1250" dirty="0">
                <a:solidFill>
                  <a:srgbClr val="262B3A"/>
                </a:solidFill>
                <a:latin typeface="Calibri" pitchFamily="34" charset="0"/>
                <a:ea typeface="Calibri" pitchFamily="34" charset="-122"/>
                <a:cs typeface="Calibri" pitchFamily="34" charset="-120"/>
              </a:rPr>
              <a:t> of a </a:t>
            </a:r>
            <a:r>
              <a:rPr lang="en-US" sz="1250" b="1" dirty="0">
                <a:solidFill>
                  <a:srgbClr val="262B3A"/>
                </a:solidFill>
                <a:latin typeface="Calibri" pitchFamily="34" charset="0"/>
                <a:ea typeface="Calibri" pitchFamily="34" charset="-122"/>
                <a:cs typeface="Calibri" pitchFamily="34" charset="-120"/>
              </a:rPr>
              <a:t>5.0 kg</a:t>
            </a:r>
            <a:r>
              <a:rPr lang="en-US" sz="1250" dirty="0">
                <a:solidFill>
                  <a:srgbClr val="262B3A"/>
                </a:solidFill>
                <a:latin typeface="Calibri" pitchFamily="34" charset="0"/>
                <a:ea typeface="Calibri" pitchFamily="34" charset="-122"/>
                <a:cs typeface="Calibri" pitchFamily="34" charset="-120"/>
              </a:rPr>
              <a:t> mass. g = 10 N/kg.</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8FE"/>
          </a:solidFill>
          <a:ln w="9525">
            <a:solidFill>
              <a:srgbClr val="D5DCEB"/>
            </a:solidFill>
            <a:prstDash val="solid"/>
          </a:ln>
        </p:spPr>
      </p:sp>
      <p:sp>
        <p:nvSpPr>
          <p:cNvPr id="14" name="Shape 12"/>
          <p:cNvSpPr/>
          <p:nvPr/>
        </p:nvSpPr>
        <p:spPr>
          <a:xfrm>
            <a:off x="4389120" y="1371600"/>
            <a:ext cx="438912" cy="438912"/>
          </a:xfrm>
          <a:prstGeom prst="ellipse">
            <a:avLst/>
          </a:prstGeom>
          <a:solidFill>
            <a:srgbClr val="2E5BD8"/>
          </a:solidFill>
          <a:ln w="12700">
            <a:solidFill>
              <a:srgbClr val="2E5BD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1 • units</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Convert </a:t>
            </a:r>
            <a:r>
              <a:rPr lang="en-US" sz="1250" b="1" dirty="0">
                <a:solidFill>
                  <a:srgbClr val="262B3A"/>
                </a:solidFill>
                <a:latin typeface="Calibri" pitchFamily="34" charset="0"/>
                <a:ea typeface="Calibri" pitchFamily="34" charset="-122"/>
                <a:cs typeface="Calibri" pitchFamily="34" charset="-120"/>
              </a:rPr>
              <a:t>2.5 kJ</a:t>
            </a:r>
            <a:r>
              <a:rPr lang="en-US" sz="1250" dirty="0">
                <a:solidFill>
                  <a:srgbClr val="262B3A"/>
                </a:solidFill>
                <a:latin typeface="Calibri" pitchFamily="34" charset="0"/>
                <a:ea typeface="Calibri" pitchFamily="34" charset="-122"/>
                <a:cs typeface="Calibri" pitchFamily="34" charset="-120"/>
              </a:rPr>
              <a:t> into joules and </a:t>
            </a:r>
            <a:r>
              <a:rPr lang="en-US" sz="1250" b="1" dirty="0">
                <a:solidFill>
                  <a:srgbClr val="262B3A"/>
                </a:solidFill>
                <a:latin typeface="Calibri" pitchFamily="34" charset="0"/>
                <a:ea typeface="Calibri" pitchFamily="34" charset="-122"/>
                <a:cs typeface="Calibri" pitchFamily="34" charset="-120"/>
              </a:rPr>
              <a:t>450 g</a:t>
            </a:r>
            <a:r>
              <a:rPr lang="en-US" sz="1250" dirty="0">
                <a:solidFill>
                  <a:srgbClr val="262B3A"/>
                </a:solidFill>
                <a:latin typeface="Calibri" pitchFamily="34" charset="0"/>
                <a:ea typeface="Calibri" pitchFamily="34" charset="-122"/>
                <a:cs typeface="Calibri" pitchFamily="34" charset="-120"/>
              </a:rPr>
              <a:t> into kilograms.</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8FE"/>
          </a:solidFill>
          <a:ln w="9525">
            <a:solidFill>
              <a:srgbClr val="D5DCEB"/>
            </a:solidFill>
            <a:prstDash val="solid"/>
          </a:ln>
        </p:spPr>
      </p:sp>
      <p:sp>
        <p:nvSpPr>
          <p:cNvPr id="19" name="Shape 17"/>
          <p:cNvSpPr/>
          <p:nvPr/>
        </p:nvSpPr>
        <p:spPr>
          <a:xfrm>
            <a:off x="8229600" y="1371600"/>
            <a:ext cx="438912" cy="438912"/>
          </a:xfrm>
          <a:prstGeom prst="ellipse">
            <a:avLst/>
          </a:prstGeom>
          <a:solidFill>
            <a:srgbClr val="2E5BD8"/>
          </a:solidFill>
          <a:ln w="12700">
            <a:solidFill>
              <a:srgbClr val="2E5BD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2 • braking (2.33)</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When a car brakes, work is done by friction. Which </a:t>
            </a:r>
            <a:r>
              <a:rPr lang="en-US" sz="1250" b="1" dirty="0">
                <a:solidFill>
                  <a:srgbClr val="262B3A"/>
                </a:solidFill>
                <a:latin typeface="Calibri" pitchFamily="34" charset="0"/>
                <a:ea typeface="Calibri" pitchFamily="34" charset="-122"/>
                <a:cs typeface="Calibri" pitchFamily="34" charset="-120"/>
              </a:rPr>
              <a:t>energy store</a:t>
            </a:r>
            <a:r>
              <a:rPr lang="en-US" sz="1250" dirty="0">
                <a:solidFill>
                  <a:srgbClr val="262B3A"/>
                </a:solidFill>
                <a:latin typeface="Calibri" pitchFamily="34" charset="0"/>
                <a:ea typeface="Calibri" pitchFamily="34" charset="-122"/>
                <a:cs typeface="Calibri" pitchFamily="34" charset="-120"/>
              </a:rPr>
              <a:t> does the car’s kinetic energy end up in?</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8FE"/>
          </a:solidFill>
          <a:ln w="9525">
            <a:solidFill>
              <a:srgbClr val="D5DCEB"/>
            </a:solidFill>
            <a:prstDash val="solid"/>
          </a:ln>
        </p:spPr>
      </p:sp>
      <p:sp>
        <p:nvSpPr>
          <p:cNvPr id="24" name="Shape 22"/>
          <p:cNvSpPr/>
          <p:nvPr/>
        </p:nvSpPr>
        <p:spPr>
          <a:xfrm>
            <a:off x="548640" y="3566160"/>
            <a:ext cx="438912" cy="438912"/>
          </a:xfrm>
          <a:prstGeom prst="ellipse">
            <a:avLst/>
          </a:prstGeom>
          <a:solidFill>
            <a:srgbClr val="2E5BD8"/>
          </a:solidFill>
          <a:ln w="12700">
            <a:solidFill>
              <a:srgbClr val="2E5BD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energy</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four</a:t>
            </a:r>
            <a:r>
              <a:rPr lang="en-US" sz="1250" dirty="0">
                <a:solidFill>
                  <a:srgbClr val="262B3A"/>
                </a:solidFill>
                <a:latin typeface="Calibri" pitchFamily="34" charset="0"/>
                <a:ea typeface="Calibri" pitchFamily="34" charset="-122"/>
                <a:cs typeface="Calibri" pitchFamily="34" charset="-120"/>
              </a:rPr>
              <a:t> different energy stores.</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8FE"/>
          </a:solidFill>
          <a:ln w="9525">
            <a:solidFill>
              <a:srgbClr val="D5DCEB"/>
            </a:solidFill>
            <a:prstDash val="solid"/>
          </a:ln>
        </p:spPr>
      </p:sp>
      <p:sp>
        <p:nvSpPr>
          <p:cNvPr id="29" name="Shape 27"/>
          <p:cNvSpPr/>
          <p:nvPr/>
        </p:nvSpPr>
        <p:spPr>
          <a:xfrm>
            <a:off x="4389120" y="3566160"/>
            <a:ext cx="438912" cy="438912"/>
          </a:xfrm>
          <a:prstGeom prst="ellipse">
            <a:avLst/>
          </a:prstGeom>
          <a:solidFill>
            <a:srgbClr val="2E5BD8"/>
          </a:solidFill>
          <a:ln w="12700">
            <a:solidFill>
              <a:srgbClr val="2E5BD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2 • speed</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dog runs </a:t>
            </a:r>
            <a:r>
              <a:rPr lang="en-US" sz="1250" b="1" dirty="0">
                <a:solidFill>
                  <a:srgbClr val="262B3A"/>
                </a:solidFill>
                <a:latin typeface="Calibri" pitchFamily="34" charset="0"/>
                <a:ea typeface="Calibri" pitchFamily="34" charset="-122"/>
                <a:cs typeface="Calibri" pitchFamily="34" charset="-120"/>
              </a:rPr>
              <a:t>120 m</a:t>
            </a:r>
            <a:r>
              <a:rPr lang="en-US" sz="1250" dirty="0">
                <a:solidFill>
                  <a:srgbClr val="262B3A"/>
                </a:solidFill>
                <a:latin typeface="Calibri" pitchFamily="34" charset="0"/>
                <a:ea typeface="Calibri" pitchFamily="34" charset="-122"/>
                <a:cs typeface="Calibri" pitchFamily="34" charset="-120"/>
              </a:rPr>
              <a:t> in </a:t>
            </a:r>
            <a:r>
              <a:rPr lang="en-US" sz="1250" b="1" dirty="0">
                <a:solidFill>
                  <a:srgbClr val="262B3A"/>
                </a:solidFill>
                <a:latin typeface="Calibri" pitchFamily="34" charset="0"/>
                <a:ea typeface="Calibri" pitchFamily="34" charset="-122"/>
                <a:cs typeface="Calibri" pitchFamily="34" charset="-120"/>
              </a:rPr>
              <a:t>20 s</a:t>
            </a:r>
            <a:r>
              <a:rPr lang="en-US" sz="1250" dirty="0">
                <a:solidFill>
                  <a:srgbClr val="262B3A"/>
                </a:solidFill>
                <a:latin typeface="Calibri" pitchFamily="34" charset="0"/>
                <a:ea typeface="Calibri" pitchFamily="34" charset="-122"/>
                <a:cs typeface="Calibri" pitchFamily="34" charset="-120"/>
              </a:rPr>
              <a:t>. Calculate its average speed.</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8FE"/>
          </a:solidFill>
          <a:ln w="9525">
            <a:solidFill>
              <a:srgbClr val="D5DCEB"/>
            </a:solidFill>
            <a:prstDash val="solid"/>
          </a:ln>
        </p:spPr>
      </p:sp>
      <p:sp>
        <p:nvSpPr>
          <p:cNvPr id="34" name="Shape 32"/>
          <p:cNvSpPr/>
          <p:nvPr/>
        </p:nvSpPr>
        <p:spPr>
          <a:xfrm>
            <a:off x="8229600" y="3566160"/>
            <a:ext cx="438912" cy="438912"/>
          </a:xfrm>
          <a:prstGeom prst="ellipse">
            <a:avLst/>
          </a:prstGeom>
          <a:solidFill>
            <a:srgbClr val="2E5BD8"/>
          </a:solidFill>
          <a:ln w="12700">
            <a:solidFill>
              <a:srgbClr val="2E5BD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Topic 1 • rearranging</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Rearrange </a:t>
            </a:r>
            <a:r>
              <a:rPr lang="en-US" sz="1250" b="1" dirty="0">
                <a:solidFill>
                  <a:srgbClr val="262B3A"/>
                </a:solidFill>
                <a:latin typeface="Calibri" pitchFamily="34" charset="0"/>
                <a:ea typeface="Calibri" pitchFamily="34" charset="-122"/>
                <a:cs typeface="Calibri" pitchFamily="34" charset="-120"/>
              </a:rPr>
              <a:t>W = m × g</a:t>
            </a:r>
            <a:r>
              <a:rPr lang="en-US" sz="1250" dirty="0">
                <a:solidFill>
                  <a:srgbClr val="262B3A"/>
                </a:solidFill>
                <a:latin typeface="Calibri" pitchFamily="34" charset="0"/>
                <a:ea typeface="Calibri" pitchFamily="34" charset="-122"/>
                <a:cs typeface="Calibri" pitchFamily="34" charset="-120"/>
              </a:rPr>
              <a:t> to make </a:t>
            </a:r>
            <a:r>
              <a:rPr lang="en-US" sz="1250" b="1" dirty="0">
                <a:solidFill>
                  <a:srgbClr val="262B3A"/>
                </a:solidFill>
                <a:latin typeface="Calibri" pitchFamily="34" charset="0"/>
                <a:ea typeface="Calibri" pitchFamily="34" charset="-122"/>
                <a:cs typeface="Calibri" pitchFamily="34" charset="-120"/>
              </a:rPr>
              <a:t>m</a:t>
            </a:r>
            <a:r>
              <a:rPr lang="en-US" sz="1250" dirty="0">
                <a:solidFill>
                  <a:srgbClr val="262B3A"/>
                </a:solidFill>
                <a:latin typeface="Calibri" pitchFamily="34" charset="0"/>
                <a:ea typeface="Calibri" pitchFamily="34" charset="-122"/>
                <a:cs typeface="Calibri" pitchFamily="34" charset="-120"/>
              </a:rPr>
              <a:t> the subject.</a:t>
            </a:r>
            <a:endParaRPr lang="en-US" sz="1250" dirty="0"/>
          </a:p>
        </p:txBody>
      </p:sp>
      <p:sp>
        <p:nvSpPr>
          <p:cNvPr id="38" name="Shape 36"/>
          <p:cNvSpPr/>
          <p:nvPr/>
        </p:nvSpPr>
        <p:spPr>
          <a:xfrm>
            <a:off x="411480" y="5715000"/>
            <a:ext cx="11368735" cy="548640"/>
          </a:xfrm>
          <a:prstGeom prst="rect">
            <a:avLst/>
          </a:prstGeom>
          <a:solidFill>
            <a:srgbClr val="EEF2FA"/>
          </a:solidFill>
          <a:ln w="12700">
            <a:solidFill>
              <a:srgbClr val="D5DCEB"/>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E5BD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Energy stores and transfers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3.3, 3.5 • energy is stored in stores and moved between them by transfers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3.3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stores (boxes) and transfer pathways (arrows): a torch</a:t>
            </a:r>
            <a:endParaRPr lang="en-US" sz="1000" dirty="0"/>
          </a:p>
        </p:txBody>
      </p:sp>
      <p:sp>
        <p:nvSpPr>
          <p:cNvPr id="10" name="Text 8"/>
          <p:cNvSpPr/>
          <p:nvPr/>
        </p:nvSpPr>
        <p:spPr>
          <a:xfrm>
            <a:off x="640080" y="1298448"/>
            <a:ext cx="512064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Energy STORES</a:t>
            </a:r>
            <a:endParaRPr lang="en-US" sz="1200" dirty="0"/>
          </a:p>
        </p:txBody>
      </p:sp>
      <p:sp>
        <p:nvSpPr>
          <p:cNvPr id="11" name="Shape 9"/>
          <p:cNvSpPr/>
          <p:nvPr/>
        </p:nvSpPr>
        <p:spPr>
          <a:xfrm>
            <a:off x="640080" y="1600200"/>
            <a:ext cx="1207008" cy="475488"/>
          </a:xfrm>
          <a:prstGeom prst="roundRect">
            <a:avLst>
              <a:gd name="adj" fmla="val 9615"/>
            </a:avLst>
          </a:prstGeom>
          <a:solidFill>
            <a:srgbClr val="2E8B57"/>
          </a:solidFill>
          <a:ln/>
        </p:spPr>
      </p:sp>
      <p:sp>
        <p:nvSpPr>
          <p:cNvPr id="12" name="Text 10"/>
          <p:cNvSpPr/>
          <p:nvPr/>
        </p:nvSpPr>
        <p:spPr>
          <a:xfrm>
            <a:off x="676656" y="1600200"/>
            <a:ext cx="1133856"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kinetic</a:t>
            </a:r>
            <a:endParaRPr lang="en-US" sz="1050" dirty="0"/>
          </a:p>
        </p:txBody>
      </p:sp>
      <p:sp>
        <p:nvSpPr>
          <p:cNvPr id="13" name="Shape 11"/>
          <p:cNvSpPr/>
          <p:nvPr/>
        </p:nvSpPr>
        <p:spPr>
          <a:xfrm>
            <a:off x="1938528" y="1600200"/>
            <a:ext cx="1207008" cy="475488"/>
          </a:xfrm>
          <a:prstGeom prst="roundRect">
            <a:avLst>
              <a:gd name="adj" fmla="val 9615"/>
            </a:avLst>
          </a:prstGeom>
          <a:solidFill>
            <a:srgbClr val="2E5BD8"/>
          </a:solidFill>
          <a:ln/>
        </p:spPr>
      </p:sp>
      <p:sp>
        <p:nvSpPr>
          <p:cNvPr id="14" name="Text 12"/>
          <p:cNvSpPr/>
          <p:nvPr/>
        </p:nvSpPr>
        <p:spPr>
          <a:xfrm>
            <a:off x="1975104" y="1600200"/>
            <a:ext cx="1133856"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gravitational potential</a:t>
            </a:r>
            <a:endParaRPr lang="en-US" sz="1050" dirty="0"/>
          </a:p>
        </p:txBody>
      </p:sp>
      <p:sp>
        <p:nvSpPr>
          <p:cNvPr id="15" name="Shape 13"/>
          <p:cNvSpPr/>
          <p:nvPr/>
        </p:nvSpPr>
        <p:spPr>
          <a:xfrm>
            <a:off x="3236976" y="1600200"/>
            <a:ext cx="1207008" cy="475488"/>
          </a:xfrm>
          <a:prstGeom prst="roundRect">
            <a:avLst>
              <a:gd name="adj" fmla="val 9615"/>
            </a:avLst>
          </a:prstGeom>
          <a:solidFill>
            <a:srgbClr val="2E8B8B"/>
          </a:solidFill>
          <a:ln/>
        </p:spPr>
      </p:sp>
      <p:sp>
        <p:nvSpPr>
          <p:cNvPr id="16" name="Text 14"/>
          <p:cNvSpPr/>
          <p:nvPr/>
        </p:nvSpPr>
        <p:spPr>
          <a:xfrm>
            <a:off x="3273552" y="1600200"/>
            <a:ext cx="1133856"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elastic potential</a:t>
            </a:r>
            <a:endParaRPr lang="en-US" sz="1050" dirty="0"/>
          </a:p>
        </p:txBody>
      </p:sp>
      <p:sp>
        <p:nvSpPr>
          <p:cNvPr id="17" name="Shape 15"/>
          <p:cNvSpPr/>
          <p:nvPr/>
        </p:nvSpPr>
        <p:spPr>
          <a:xfrm>
            <a:off x="4535424" y="1600200"/>
            <a:ext cx="1207008" cy="475488"/>
          </a:xfrm>
          <a:prstGeom prst="roundRect">
            <a:avLst>
              <a:gd name="adj" fmla="val 9615"/>
            </a:avLst>
          </a:prstGeom>
          <a:solidFill>
            <a:srgbClr val="B8730A"/>
          </a:solidFill>
          <a:ln/>
        </p:spPr>
      </p:sp>
      <p:sp>
        <p:nvSpPr>
          <p:cNvPr id="18" name="Text 16"/>
          <p:cNvSpPr/>
          <p:nvPr/>
        </p:nvSpPr>
        <p:spPr>
          <a:xfrm>
            <a:off x="4572000" y="1600200"/>
            <a:ext cx="1133856"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chemical</a:t>
            </a:r>
            <a:endParaRPr lang="en-US" sz="1050" dirty="0"/>
          </a:p>
        </p:txBody>
      </p:sp>
      <p:sp>
        <p:nvSpPr>
          <p:cNvPr id="19" name="Shape 17"/>
          <p:cNvSpPr/>
          <p:nvPr/>
        </p:nvSpPr>
        <p:spPr>
          <a:xfrm>
            <a:off x="640080" y="2167128"/>
            <a:ext cx="1207008" cy="475488"/>
          </a:xfrm>
          <a:prstGeom prst="roundRect">
            <a:avLst>
              <a:gd name="adj" fmla="val 9615"/>
            </a:avLst>
          </a:prstGeom>
          <a:solidFill>
            <a:srgbClr val="C8414C"/>
          </a:solidFill>
          <a:ln/>
        </p:spPr>
      </p:sp>
      <p:sp>
        <p:nvSpPr>
          <p:cNvPr id="20" name="Text 18"/>
          <p:cNvSpPr/>
          <p:nvPr/>
        </p:nvSpPr>
        <p:spPr>
          <a:xfrm>
            <a:off x="676656" y="2167128"/>
            <a:ext cx="1133856"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thermal</a:t>
            </a:r>
            <a:endParaRPr lang="en-US" sz="1050" dirty="0"/>
          </a:p>
        </p:txBody>
      </p:sp>
      <p:sp>
        <p:nvSpPr>
          <p:cNvPr id="21" name="Shape 19"/>
          <p:cNvSpPr/>
          <p:nvPr/>
        </p:nvSpPr>
        <p:spPr>
          <a:xfrm>
            <a:off x="1938528" y="2167128"/>
            <a:ext cx="1207008" cy="475488"/>
          </a:xfrm>
          <a:prstGeom prst="roundRect">
            <a:avLst>
              <a:gd name="adj" fmla="val 9615"/>
            </a:avLst>
          </a:prstGeom>
          <a:solidFill>
            <a:srgbClr val="5A6275"/>
          </a:solidFill>
          <a:ln/>
        </p:spPr>
      </p:sp>
      <p:sp>
        <p:nvSpPr>
          <p:cNvPr id="22" name="Text 20"/>
          <p:cNvSpPr/>
          <p:nvPr/>
        </p:nvSpPr>
        <p:spPr>
          <a:xfrm>
            <a:off x="1975104" y="2167128"/>
            <a:ext cx="1133856"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magnetic</a:t>
            </a:r>
            <a:endParaRPr lang="en-US" sz="1050" dirty="0"/>
          </a:p>
        </p:txBody>
      </p:sp>
      <p:sp>
        <p:nvSpPr>
          <p:cNvPr id="23" name="Shape 21"/>
          <p:cNvSpPr/>
          <p:nvPr/>
        </p:nvSpPr>
        <p:spPr>
          <a:xfrm>
            <a:off x="3236976" y="2167128"/>
            <a:ext cx="1207008" cy="475488"/>
          </a:xfrm>
          <a:prstGeom prst="roundRect">
            <a:avLst>
              <a:gd name="adj" fmla="val 9615"/>
            </a:avLst>
          </a:prstGeom>
          <a:solidFill>
            <a:srgbClr val="7B4FB8"/>
          </a:solidFill>
          <a:ln/>
        </p:spPr>
      </p:sp>
      <p:sp>
        <p:nvSpPr>
          <p:cNvPr id="24" name="Text 22"/>
          <p:cNvSpPr/>
          <p:nvPr/>
        </p:nvSpPr>
        <p:spPr>
          <a:xfrm>
            <a:off x="3273552" y="2167128"/>
            <a:ext cx="1133856"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electrostatic</a:t>
            </a:r>
            <a:endParaRPr lang="en-US" sz="1050" dirty="0"/>
          </a:p>
        </p:txBody>
      </p:sp>
      <p:sp>
        <p:nvSpPr>
          <p:cNvPr id="25" name="Shape 23"/>
          <p:cNvSpPr/>
          <p:nvPr/>
        </p:nvSpPr>
        <p:spPr>
          <a:xfrm>
            <a:off x="4535424" y="2167128"/>
            <a:ext cx="1207008" cy="475488"/>
          </a:xfrm>
          <a:prstGeom prst="roundRect">
            <a:avLst>
              <a:gd name="adj" fmla="val 9615"/>
            </a:avLst>
          </a:prstGeom>
          <a:solidFill>
            <a:srgbClr val="9C3F6E"/>
          </a:solidFill>
          <a:ln/>
        </p:spPr>
      </p:sp>
      <p:sp>
        <p:nvSpPr>
          <p:cNvPr id="26" name="Text 24"/>
          <p:cNvSpPr/>
          <p:nvPr/>
        </p:nvSpPr>
        <p:spPr>
          <a:xfrm>
            <a:off x="4572000" y="2167128"/>
            <a:ext cx="1133856" cy="4754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nuclear</a:t>
            </a:r>
            <a:endParaRPr lang="en-US" sz="1050" dirty="0"/>
          </a:p>
        </p:txBody>
      </p:sp>
      <p:sp>
        <p:nvSpPr>
          <p:cNvPr id="27" name="Text 25"/>
          <p:cNvSpPr/>
          <p:nvPr/>
        </p:nvSpPr>
        <p:spPr>
          <a:xfrm>
            <a:off x="640080" y="2788920"/>
            <a:ext cx="512064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Transfer PATHWAYS</a:t>
            </a:r>
            <a:endParaRPr lang="en-US" sz="1200" dirty="0"/>
          </a:p>
        </p:txBody>
      </p:sp>
      <p:sp>
        <p:nvSpPr>
          <p:cNvPr id="28" name="Shape 26"/>
          <p:cNvSpPr/>
          <p:nvPr/>
        </p:nvSpPr>
        <p:spPr>
          <a:xfrm>
            <a:off x="640080" y="3090672"/>
            <a:ext cx="1207008" cy="411480"/>
          </a:xfrm>
          <a:prstGeom prst="roundRect">
            <a:avLst>
              <a:gd name="adj" fmla="val 11111"/>
            </a:avLst>
          </a:prstGeom>
          <a:solidFill>
            <a:srgbClr val="FFFFFF"/>
          </a:solidFill>
          <a:ln w="12700">
            <a:solidFill>
              <a:srgbClr val="2E5BD8"/>
            </a:solidFill>
            <a:prstDash val="solid"/>
          </a:ln>
        </p:spPr>
      </p:sp>
      <p:sp>
        <p:nvSpPr>
          <p:cNvPr id="29" name="Text 27"/>
          <p:cNvSpPr/>
          <p:nvPr/>
        </p:nvSpPr>
        <p:spPr>
          <a:xfrm>
            <a:off x="676656" y="3090672"/>
            <a:ext cx="1133856" cy="4114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mechanically (a force)</a:t>
            </a:r>
            <a:endParaRPr lang="en-US" sz="1000" dirty="0"/>
          </a:p>
        </p:txBody>
      </p:sp>
      <p:sp>
        <p:nvSpPr>
          <p:cNvPr id="30" name="Shape 28"/>
          <p:cNvSpPr/>
          <p:nvPr/>
        </p:nvSpPr>
        <p:spPr>
          <a:xfrm>
            <a:off x="1938528" y="3090672"/>
            <a:ext cx="1207008" cy="411480"/>
          </a:xfrm>
          <a:prstGeom prst="roundRect">
            <a:avLst>
              <a:gd name="adj" fmla="val 11111"/>
            </a:avLst>
          </a:prstGeom>
          <a:solidFill>
            <a:srgbClr val="FFFFFF"/>
          </a:solidFill>
          <a:ln w="12700">
            <a:solidFill>
              <a:srgbClr val="2E5BD8"/>
            </a:solidFill>
            <a:prstDash val="solid"/>
          </a:ln>
        </p:spPr>
      </p:sp>
      <p:sp>
        <p:nvSpPr>
          <p:cNvPr id="31" name="Text 29"/>
          <p:cNvSpPr/>
          <p:nvPr/>
        </p:nvSpPr>
        <p:spPr>
          <a:xfrm>
            <a:off x="1975104" y="3090672"/>
            <a:ext cx="1133856" cy="4114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electrically</a:t>
            </a:r>
            <a:endParaRPr lang="en-US" sz="1000" dirty="0"/>
          </a:p>
        </p:txBody>
      </p:sp>
      <p:sp>
        <p:nvSpPr>
          <p:cNvPr id="32" name="Shape 30"/>
          <p:cNvSpPr/>
          <p:nvPr/>
        </p:nvSpPr>
        <p:spPr>
          <a:xfrm>
            <a:off x="3236976" y="3090672"/>
            <a:ext cx="1207008" cy="411480"/>
          </a:xfrm>
          <a:prstGeom prst="roundRect">
            <a:avLst>
              <a:gd name="adj" fmla="val 11111"/>
            </a:avLst>
          </a:prstGeom>
          <a:solidFill>
            <a:srgbClr val="FFFFFF"/>
          </a:solidFill>
          <a:ln w="12700">
            <a:solidFill>
              <a:srgbClr val="2E5BD8"/>
            </a:solidFill>
            <a:prstDash val="solid"/>
          </a:ln>
        </p:spPr>
      </p:sp>
      <p:sp>
        <p:nvSpPr>
          <p:cNvPr id="33" name="Text 31"/>
          <p:cNvSpPr/>
          <p:nvPr/>
        </p:nvSpPr>
        <p:spPr>
          <a:xfrm>
            <a:off x="3273552" y="3090672"/>
            <a:ext cx="1133856" cy="4114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by heating</a:t>
            </a:r>
            <a:endParaRPr lang="en-US" sz="1000" dirty="0"/>
          </a:p>
        </p:txBody>
      </p:sp>
      <p:sp>
        <p:nvSpPr>
          <p:cNvPr id="34" name="Shape 32"/>
          <p:cNvSpPr/>
          <p:nvPr/>
        </p:nvSpPr>
        <p:spPr>
          <a:xfrm>
            <a:off x="4535424" y="3090672"/>
            <a:ext cx="1207008" cy="411480"/>
          </a:xfrm>
          <a:prstGeom prst="roundRect">
            <a:avLst>
              <a:gd name="adj" fmla="val 11111"/>
            </a:avLst>
          </a:prstGeom>
          <a:solidFill>
            <a:srgbClr val="FFFFFF"/>
          </a:solidFill>
          <a:ln w="12700">
            <a:solidFill>
              <a:srgbClr val="2E5BD8"/>
            </a:solidFill>
            <a:prstDash val="solid"/>
          </a:ln>
        </p:spPr>
      </p:sp>
      <p:sp>
        <p:nvSpPr>
          <p:cNvPr id="35" name="Text 33"/>
          <p:cNvSpPr/>
          <p:nvPr/>
        </p:nvSpPr>
        <p:spPr>
          <a:xfrm>
            <a:off x="4572000" y="3090672"/>
            <a:ext cx="1133856" cy="4114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by radiation</a:t>
            </a:r>
            <a:endParaRPr lang="en-US" sz="1000" dirty="0"/>
          </a:p>
        </p:txBody>
      </p:sp>
      <p:sp>
        <p:nvSpPr>
          <p:cNvPr id="36" name="Text 34"/>
          <p:cNvSpPr/>
          <p:nvPr/>
        </p:nvSpPr>
        <p:spPr>
          <a:xfrm>
            <a:off x="640080" y="3703320"/>
            <a:ext cx="512064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Example: a torch</a:t>
            </a:r>
            <a:endParaRPr lang="en-US" sz="1200" dirty="0"/>
          </a:p>
        </p:txBody>
      </p:sp>
      <p:sp>
        <p:nvSpPr>
          <p:cNvPr id="37" name="Shape 35"/>
          <p:cNvSpPr/>
          <p:nvPr/>
        </p:nvSpPr>
        <p:spPr>
          <a:xfrm>
            <a:off x="685800" y="4069080"/>
            <a:ext cx="1371600" cy="731520"/>
          </a:xfrm>
          <a:prstGeom prst="roundRect">
            <a:avLst>
              <a:gd name="adj" fmla="val 6250"/>
            </a:avLst>
          </a:prstGeom>
          <a:solidFill>
            <a:srgbClr val="B8730A"/>
          </a:solidFill>
          <a:ln/>
        </p:spPr>
      </p:sp>
      <p:sp>
        <p:nvSpPr>
          <p:cNvPr id="38" name="Text 36"/>
          <p:cNvSpPr/>
          <p:nvPr/>
        </p:nvSpPr>
        <p:spPr>
          <a:xfrm>
            <a:off x="722376" y="4069080"/>
            <a:ext cx="1298448"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chemical store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of the battery</a:t>
            </a:r>
            <a:endParaRPr lang="en-US" sz="1050" dirty="0"/>
          </a:p>
        </p:txBody>
      </p:sp>
      <p:sp>
        <p:nvSpPr>
          <p:cNvPr id="39" name="Shape 37"/>
          <p:cNvSpPr/>
          <p:nvPr/>
        </p:nvSpPr>
        <p:spPr>
          <a:xfrm>
            <a:off x="2103120" y="4434840"/>
            <a:ext cx="914400" cy="91"/>
          </a:xfrm>
          <a:prstGeom prst="line">
            <a:avLst/>
          </a:prstGeom>
          <a:noFill/>
          <a:ln w="31750">
            <a:solidFill>
              <a:srgbClr val="2E5BD8"/>
            </a:solidFill>
            <a:prstDash val="solid"/>
            <a:tailEnd type="triangle"/>
          </a:ln>
        </p:spPr>
      </p:sp>
      <p:sp>
        <p:nvSpPr>
          <p:cNvPr id="40" name="Text 38"/>
          <p:cNvSpPr/>
          <p:nvPr/>
        </p:nvSpPr>
        <p:spPr>
          <a:xfrm>
            <a:off x="2057400" y="4114800"/>
            <a:ext cx="1005840" cy="256032"/>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electrically</a:t>
            </a:r>
            <a:endParaRPr lang="en-US" sz="1000" dirty="0"/>
          </a:p>
        </p:txBody>
      </p:sp>
      <p:sp>
        <p:nvSpPr>
          <p:cNvPr id="41" name="Shape 39"/>
          <p:cNvSpPr/>
          <p:nvPr/>
        </p:nvSpPr>
        <p:spPr>
          <a:xfrm>
            <a:off x="3063240" y="4160520"/>
            <a:ext cx="731520" cy="548640"/>
          </a:xfrm>
          <a:prstGeom prst="roundRect">
            <a:avLst>
              <a:gd name="adj" fmla="val 8333"/>
            </a:avLst>
          </a:prstGeom>
          <a:solidFill>
            <a:srgbClr val="5A6275"/>
          </a:solidFill>
          <a:ln/>
        </p:spPr>
      </p:sp>
      <p:sp>
        <p:nvSpPr>
          <p:cNvPr id="42" name="Text 40"/>
          <p:cNvSpPr/>
          <p:nvPr/>
        </p:nvSpPr>
        <p:spPr>
          <a:xfrm>
            <a:off x="3099816" y="4160520"/>
            <a:ext cx="65836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lamp</a:t>
            </a:r>
            <a:endParaRPr lang="en-US" sz="1050" dirty="0"/>
          </a:p>
        </p:txBody>
      </p:sp>
      <p:sp>
        <p:nvSpPr>
          <p:cNvPr id="43" name="Shape 41"/>
          <p:cNvSpPr/>
          <p:nvPr/>
        </p:nvSpPr>
        <p:spPr>
          <a:xfrm flipV="1">
            <a:off x="3840480" y="4069080"/>
            <a:ext cx="502920" cy="228600"/>
          </a:xfrm>
          <a:prstGeom prst="line">
            <a:avLst/>
          </a:prstGeom>
          <a:noFill/>
          <a:ln w="25400">
            <a:solidFill>
              <a:srgbClr val="2E5BD8"/>
            </a:solidFill>
            <a:prstDash val="solid"/>
            <a:tailEnd type="triangle"/>
          </a:ln>
        </p:spPr>
      </p:sp>
      <p:sp>
        <p:nvSpPr>
          <p:cNvPr id="44" name="Shape 42"/>
          <p:cNvSpPr/>
          <p:nvPr/>
        </p:nvSpPr>
        <p:spPr>
          <a:xfrm>
            <a:off x="3840480" y="4572000"/>
            <a:ext cx="502920" cy="228600"/>
          </a:xfrm>
          <a:prstGeom prst="line">
            <a:avLst/>
          </a:prstGeom>
          <a:noFill/>
          <a:ln w="25400">
            <a:solidFill>
              <a:srgbClr val="C8414C"/>
            </a:solidFill>
            <a:prstDash val="solid"/>
            <a:tailEnd type="triangle"/>
          </a:ln>
        </p:spPr>
      </p:sp>
      <p:sp>
        <p:nvSpPr>
          <p:cNvPr id="45" name="Text 43"/>
          <p:cNvSpPr/>
          <p:nvPr/>
        </p:nvSpPr>
        <p:spPr>
          <a:xfrm>
            <a:off x="4389120" y="3931920"/>
            <a:ext cx="1463040" cy="256032"/>
          </a:xfrm>
          <a:prstGeom prst="rect">
            <a:avLst/>
          </a:prstGeom>
          <a:noFill/>
          <a:ln/>
        </p:spPr>
        <p:txBody>
          <a:bodyPr wrap="square" lIns="0" tIns="0" rIns="0" bIns="0" rtlCol="0" anchor="ctr"/>
          <a:lstStyle/>
          <a:p>
            <a:pPr algn="l" indent="0" marL="0">
              <a:buNone/>
            </a:pPr>
            <a:r>
              <a:rPr lang="en-US" sz="1000" b="1" dirty="0">
                <a:solidFill>
                  <a:srgbClr val="2E5BD8"/>
                </a:solidFill>
                <a:latin typeface="Calibri" pitchFamily="34" charset="0"/>
                <a:ea typeface="Calibri" pitchFamily="34" charset="-122"/>
                <a:cs typeface="Calibri" pitchFamily="34" charset="-120"/>
              </a:rPr>
              <a:t>by radiation (light)</a:t>
            </a:r>
            <a:endParaRPr lang="en-US" sz="1000" dirty="0"/>
          </a:p>
        </p:txBody>
      </p:sp>
      <p:sp>
        <p:nvSpPr>
          <p:cNvPr id="46" name="Text 44"/>
          <p:cNvSpPr/>
          <p:nvPr/>
        </p:nvSpPr>
        <p:spPr>
          <a:xfrm>
            <a:off x="4389120" y="4709160"/>
            <a:ext cx="146304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by heating</a:t>
            </a:r>
            <a:endParaRPr lang="en-US" sz="1000" dirty="0"/>
          </a:p>
        </p:txBody>
      </p:sp>
      <p:sp>
        <p:nvSpPr>
          <p:cNvPr id="47" name="Text 45"/>
          <p:cNvSpPr/>
          <p:nvPr/>
        </p:nvSpPr>
        <p:spPr>
          <a:xfrm>
            <a:off x="3017520" y="4937760"/>
            <a:ext cx="2834640" cy="256032"/>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 both end in the thermal store of the surroundings</a:t>
            </a:r>
            <a:endParaRPr lang="en-US" sz="1000" dirty="0"/>
          </a:p>
        </p:txBody>
      </p:sp>
      <p:sp>
        <p:nvSpPr>
          <p:cNvPr id="48" name="Shape 4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9" name="Text 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Stores and pathways</a:t>
            </a:r>
            <a:endParaRPr lang="en-US" sz="1300" dirty="0"/>
          </a:p>
        </p:txBody>
      </p:sp>
      <p:sp>
        <p:nvSpPr>
          <p:cNvPr id="50" name="Text 4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system</a:t>
            </a:r>
            <a:r>
              <a:rPr lang="en-US" sz="1150" dirty="0">
                <a:solidFill>
                  <a:srgbClr val="262B3A"/>
                </a:solidFill>
                <a:latin typeface="Calibri" pitchFamily="34" charset="0"/>
                <a:ea typeface="Calibri" pitchFamily="34" charset="-122"/>
                <a:cs typeface="Calibri" pitchFamily="34" charset="-120"/>
              </a:rPr>
              <a:t> is an object or group of objects. Energy is held in </a:t>
            </a:r>
            <a:r>
              <a:rPr lang="en-US" sz="1150" b="1" dirty="0">
                <a:solidFill>
                  <a:srgbClr val="262B3A"/>
                </a:solidFill>
                <a:latin typeface="Calibri" pitchFamily="34" charset="0"/>
                <a:ea typeface="Calibri" pitchFamily="34" charset="-122"/>
                <a:cs typeface="Calibri" pitchFamily="34" charset="-120"/>
              </a:rPr>
              <a:t>stores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Energy moves between stores by </a:t>
            </a:r>
            <a:r>
              <a:rPr lang="en-US" sz="1150" b="1" dirty="0">
                <a:solidFill>
                  <a:srgbClr val="262B3A"/>
                </a:solidFill>
                <a:latin typeface="Calibri" pitchFamily="34" charset="0"/>
                <a:ea typeface="Calibri" pitchFamily="34" charset="-122"/>
                <a:cs typeface="Calibri" pitchFamily="34" charset="-120"/>
              </a:rPr>
              <a:t>transfers</a:t>
            </a:r>
            <a:r>
              <a:rPr lang="en-US" sz="1150" dirty="0">
                <a:solidFill>
                  <a:srgbClr val="262B3A"/>
                </a:solidFill>
                <a:latin typeface="Calibri" pitchFamily="34" charset="0"/>
                <a:ea typeface="Calibri" pitchFamily="34" charset="-122"/>
                <a:cs typeface="Calibri" pitchFamily="34" charset="-120"/>
              </a:rPr>
              <a:t>: mechanically (a force does work), electrically, by heating, or by radiation.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Describe a change as: </a:t>
            </a:r>
            <a:r>
              <a:rPr lang="en-US" sz="1150" b="1" dirty="0">
                <a:solidFill>
                  <a:srgbClr val="262B3A"/>
                </a:solidFill>
                <a:latin typeface="Calibri" pitchFamily="34" charset="0"/>
                <a:ea typeface="Calibri" pitchFamily="34" charset="-122"/>
                <a:cs typeface="Calibri" pitchFamily="34" charset="-120"/>
              </a:rPr>
              <a:t>store → pathway → store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Light and sound are </a:t>
            </a:r>
            <a:r>
              <a:rPr lang="en-US" sz="1150" b="1" dirty="0">
                <a:solidFill>
                  <a:srgbClr val="262B3A"/>
                </a:solidFill>
                <a:latin typeface="Calibri" pitchFamily="34" charset="0"/>
                <a:ea typeface="Calibri" pitchFamily="34" charset="-122"/>
                <a:cs typeface="Calibri" pitchFamily="34" charset="-120"/>
              </a:rPr>
              <a:t>transfers</a:t>
            </a:r>
            <a:r>
              <a:rPr lang="en-US" sz="1150" dirty="0">
                <a:solidFill>
                  <a:srgbClr val="262B3A"/>
                </a:solidFill>
                <a:latin typeface="Calibri" pitchFamily="34" charset="0"/>
                <a:ea typeface="Calibri" pitchFamily="34" charset="-122"/>
                <a:cs typeface="Calibri" pitchFamily="34" charset="-120"/>
              </a:rPr>
              <a:t>, not stores: the energy ends up in a store such as the thermal store of the surroundings.</a:t>
            </a:r>
            <a:endParaRPr lang="en-US" sz="1150" dirty="0"/>
          </a:p>
        </p:txBody>
      </p:sp>
      <p:sp>
        <p:nvSpPr>
          <p:cNvPr id="51" name="Shape 4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2" name="Text 5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3" name="Text 51"/>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Describe the energy transfer when an electric kettle boils water.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Start   </a:t>
            </a:r>
            <a:r>
              <a:rPr lang="en-US" sz="1050" dirty="0">
                <a:solidFill>
                  <a:srgbClr val="262B3A"/>
                </a:solidFill>
                <a:latin typeface="Calibri" pitchFamily="34" charset="0"/>
                <a:ea typeface="Calibri" pitchFamily="34" charset="-122"/>
                <a:cs typeface="Calibri" pitchFamily="34" charset="-120"/>
              </a:rPr>
              <a:t>energy supplied electrically from the mains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Pathway   </a:t>
            </a:r>
            <a:r>
              <a:rPr lang="en-US" sz="1050" dirty="0">
                <a:solidFill>
                  <a:srgbClr val="262B3A"/>
                </a:solidFill>
                <a:latin typeface="Calibri" pitchFamily="34" charset="0"/>
                <a:ea typeface="Calibri" pitchFamily="34" charset="-122"/>
                <a:cs typeface="Calibri" pitchFamily="34" charset="-120"/>
              </a:rPr>
              <a:t>the heating element transfers energy by heating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End   </a:t>
            </a:r>
            <a:r>
              <a:rPr lang="en-US" sz="1050" dirty="0">
                <a:solidFill>
                  <a:srgbClr val="262B3A"/>
                </a:solidFill>
                <a:latin typeface="Calibri" pitchFamily="34" charset="0"/>
                <a:ea typeface="Calibri" pitchFamily="34" charset="-122"/>
                <a:cs typeface="Calibri" pitchFamily="34" charset="-120"/>
              </a:rPr>
              <a:t>thermal store of the water rises (its temperature increases)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electrically → by heating → thermal store of the water (some to the surroundings)</a:t>
            </a:r>
            <a:endParaRPr lang="en-US" sz="105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person climbs a flight of stairs. Name the store that empties and the store that fills.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Conservation of energy and closed systems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3.4, 3.6 • energy cannot be created or destroyed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3.4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wind-up toy as a closed system: bars drawn to scale (1 J = 0.03 in)</a:t>
            </a:r>
            <a:endParaRPr lang="en-US" sz="1000" dirty="0"/>
          </a:p>
        </p:txBody>
      </p:sp>
      <p:sp>
        <p:nvSpPr>
          <p:cNvPr id="10" name="Shape 8"/>
          <p:cNvSpPr/>
          <p:nvPr/>
        </p:nvSpPr>
        <p:spPr>
          <a:xfrm>
            <a:off x="685800" y="1371600"/>
            <a:ext cx="5029200" cy="3886200"/>
          </a:xfrm>
          <a:prstGeom prst="roundRect">
            <a:avLst>
              <a:gd name="adj" fmla="val 1882"/>
            </a:avLst>
          </a:prstGeom>
          <a:ln w="25400">
            <a:solidFill>
              <a:srgbClr val="2E5BD8"/>
            </a:solidFill>
            <a:prstDash val="dash"/>
          </a:ln>
        </p:spPr>
      </p:sp>
      <p:sp>
        <p:nvSpPr>
          <p:cNvPr id="11" name="Text 9"/>
          <p:cNvSpPr/>
          <p:nvPr/>
        </p:nvSpPr>
        <p:spPr>
          <a:xfrm>
            <a:off x="822960" y="1444752"/>
            <a:ext cx="4754880" cy="256032"/>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CLOSED SYSTEM: toy + floor + air (no energy enters or leaves)</a:t>
            </a:r>
            <a:endParaRPr lang="en-US" sz="1050" dirty="0"/>
          </a:p>
        </p:txBody>
      </p:sp>
      <p:sp>
        <p:nvSpPr>
          <p:cNvPr id="12" name="Shape 10"/>
          <p:cNvSpPr/>
          <p:nvPr/>
        </p:nvSpPr>
        <p:spPr>
          <a:xfrm>
            <a:off x="1280160" y="1965960"/>
            <a:ext cx="914400" cy="2743200"/>
          </a:xfrm>
          <a:prstGeom prst="rect">
            <a:avLst/>
          </a:prstGeom>
          <a:solidFill>
            <a:srgbClr val="2E8B8B"/>
          </a:solidFill>
          <a:ln/>
        </p:spPr>
      </p:sp>
      <p:sp>
        <p:nvSpPr>
          <p:cNvPr id="13" name="Text 11"/>
          <p:cNvSpPr/>
          <p:nvPr/>
        </p:nvSpPr>
        <p:spPr>
          <a:xfrm>
            <a:off x="1280160" y="1965960"/>
            <a:ext cx="914400" cy="2743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elastic</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100 J</a:t>
            </a:r>
            <a:endParaRPr lang="en-US" sz="1100" dirty="0"/>
          </a:p>
        </p:txBody>
      </p:sp>
      <p:sp>
        <p:nvSpPr>
          <p:cNvPr id="14" name="Text 12"/>
          <p:cNvSpPr/>
          <p:nvPr/>
        </p:nvSpPr>
        <p:spPr>
          <a:xfrm>
            <a:off x="1005840" y="4754880"/>
            <a:ext cx="1463040" cy="256032"/>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BEFORE: spring wound</a:t>
            </a:r>
            <a:endParaRPr lang="en-US" sz="1050" dirty="0"/>
          </a:p>
        </p:txBody>
      </p:sp>
      <p:sp>
        <p:nvSpPr>
          <p:cNvPr id="15" name="Shape 13"/>
          <p:cNvSpPr/>
          <p:nvPr/>
        </p:nvSpPr>
        <p:spPr>
          <a:xfrm>
            <a:off x="2423160" y="3337560"/>
            <a:ext cx="777240" cy="91"/>
          </a:xfrm>
          <a:prstGeom prst="line">
            <a:avLst/>
          </a:prstGeom>
          <a:noFill/>
          <a:ln w="38100">
            <a:solidFill>
              <a:srgbClr val="6B7385"/>
            </a:solidFill>
            <a:prstDash val="solid"/>
            <a:tailEnd type="triangle"/>
          </a:ln>
        </p:spPr>
      </p:sp>
      <p:sp>
        <p:nvSpPr>
          <p:cNvPr id="16" name="Shape 14"/>
          <p:cNvSpPr/>
          <p:nvPr/>
        </p:nvSpPr>
        <p:spPr>
          <a:xfrm>
            <a:off x="3474720" y="2788920"/>
            <a:ext cx="914400" cy="1920240"/>
          </a:xfrm>
          <a:prstGeom prst="rect">
            <a:avLst/>
          </a:prstGeom>
          <a:solidFill>
            <a:srgbClr val="2E8B57"/>
          </a:solidFill>
          <a:ln/>
        </p:spPr>
      </p:sp>
      <p:sp>
        <p:nvSpPr>
          <p:cNvPr id="17" name="Text 15"/>
          <p:cNvSpPr/>
          <p:nvPr/>
        </p:nvSpPr>
        <p:spPr>
          <a:xfrm>
            <a:off x="3474720" y="2788920"/>
            <a:ext cx="914400" cy="1920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kinetic</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70 J</a:t>
            </a:r>
            <a:endParaRPr lang="en-US" sz="1100" dirty="0"/>
          </a:p>
        </p:txBody>
      </p:sp>
      <p:sp>
        <p:nvSpPr>
          <p:cNvPr id="18" name="Shape 16"/>
          <p:cNvSpPr/>
          <p:nvPr/>
        </p:nvSpPr>
        <p:spPr>
          <a:xfrm>
            <a:off x="3474720" y="1965960"/>
            <a:ext cx="914400" cy="822960"/>
          </a:xfrm>
          <a:prstGeom prst="rect">
            <a:avLst/>
          </a:prstGeom>
          <a:solidFill>
            <a:srgbClr val="C8414C"/>
          </a:solidFill>
          <a:ln/>
        </p:spPr>
      </p:sp>
      <p:sp>
        <p:nvSpPr>
          <p:cNvPr id="19" name="Text 17"/>
          <p:cNvSpPr/>
          <p:nvPr/>
        </p:nvSpPr>
        <p:spPr>
          <a:xfrm>
            <a:off x="3474720" y="1965960"/>
            <a:ext cx="914400" cy="8229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thermal 30 J</a:t>
            </a:r>
            <a:endParaRPr lang="en-US" sz="1000" dirty="0"/>
          </a:p>
        </p:txBody>
      </p:sp>
      <p:sp>
        <p:nvSpPr>
          <p:cNvPr id="20" name="Text 18"/>
          <p:cNvSpPr/>
          <p:nvPr/>
        </p:nvSpPr>
        <p:spPr>
          <a:xfrm>
            <a:off x="3108960" y="4754880"/>
            <a:ext cx="1645920" cy="256032"/>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AFTER: toy moving</a:t>
            </a:r>
            <a:endParaRPr lang="en-US" sz="1050" dirty="0"/>
          </a:p>
        </p:txBody>
      </p:sp>
      <p:sp>
        <p:nvSpPr>
          <p:cNvPr id="21" name="Shape 19"/>
          <p:cNvSpPr/>
          <p:nvPr/>
        </p:nvSpPr>
        <p:spPr>
          <a:xfrm>
            <a:off x="1097280" y="1965960"/>
            <a:ext cx="3657600" cy="91"/>
          </a:xfrm>
          <a:prstGeom prst="line">
            <a:avLst/>
          </a:prstGeom>
          <a:noFill/>
          <a:ln w="12700">
            <a:solidFill>
              <a:srgbClr val="1A2340"/>
            </a:solidFill>
            <a:prstDash val="dash"/>
          </a:ln>
        </p:spPr>
      </p:sp>
      <p:sp>
        <p:nvSpPr>
          <p:cNvPr id="22" name="Text 20"/>
          <p:cNvSpPr/>
          <p:nvPr/>
        </p:nvSpPr>
        <p:spPr>
          <a:xfrm>
            <a:off x="4480560" y="2011680"/>
            <a:ext cx="118872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total = 100 J</a:t>
            </a:r>
            <a:endParaRPr lang="en-US" sz="1050" dirty="0"/>
          </a:p>
        </p:txBody>
      </p:sp>
      <p:sp>
        <p:nvSpPr>
          <p:cNvPr id="23" name="Shape 2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4" name="Text 2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Energy is conserved</a:t>
            </a:r>
            <a:endParaRPr lang="en-US" sz="1300" dirty="0"/>
          </a:p>
        </p:txBody>
      </p:sp>
      <p:sp>
        <p:nvSpPr>
          <p:cNvPr id="25" name="Text 2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Conservation of energy:</a:t>
            </a:r>
            <a:r>
              <a:rPr lang="en-US" sz="1150" dirty="0">
                <a:solidFill>
                  <a:srgbClr val="262B3A"/>
                </a:solidFill>
                <a:latin typeface="Calibri" pitchFamily="34" charset="0"/>
                <a:ea typeface="Calibri" pitchFamily="34" charset="-122"/>
                <a:cs typeface="Calibri" pitchFamily="34" charset="-120"/>
              </a:rPr>
              <a:t> energy can be </a:t>
            </a:r>
            <a:r>
              <a:rPr lang="en-US" sz="1150" b="1" dirty="0">
                <a:solidFill>
                  <a:srgbClr val="262B3A"/>
                </a:solidFill>
                <a:latin typeface="Calibri" pitchFamily="34" charset="0"/>
                <a:ea typeface="Calibri" pitchFamily="34" charset="-122"/>
                <a:cs typeface="Calibri" pitchFamily="34" charset="-120"/>
              </a:rPr>
              <a:t>transferred</a:t>
            </a:r>
            <a:r>
              <a:rPr lang="en-US" sz="1150" dirty="0">
                <a:solidFill>
                  <a:srgbClr val="262B3A"/>
                </a:solidFill>
                <a:latin typeface="Calibri" pitchFamily="34" charset="0"/>
                <a:ea typeface="Calibri" pitchFamily="34" charset="-122"/>
                <a:cs typeface="Calibri" pitchFamily="34" charset="-120"/>
              </a:rPr>
              <a:t> usefully, </a:t>
            </a:r>
            <a:r>
              <a:rPr lang="en-US" sz="1150" b="1" dirty="0">
                <a:solidFill>
                  <a:srgbClr val="262B3A"/>
                </a:solidFill>
                <a:latin typeface="Calibri" pitchFamily="34" charset="0"/>
                <a:ea typeface="Calibri" pitchFamily="34" charset="-122"/>
                <a:cs typeface="Calibri" pitchFamily="34" charset="-120"/>
              </a:rPr>
              <a:t>stored</a:t>
            </a:r>
            <a:r>
              <a:rPr lang="en-US" sz="1150" dirty="0">
                <a:solidFill>
                  <a:srgbClr val="262B3A"/>
                </a:solidFill>
                <a:latin typeface="Calibri" pitchFamily="34" charset="0"/>
                <a:ea typeface="Calibri" pitchFamily="34" charset="-122"/>
                <a:cs typeface="Calibri" pitchFamily="34" charset="-120"/>
              </a:rPr>
              <a:t> or </a:t>
            </a:r>
            <a:r>
              <a:rPr lang="en-US" sz="1150" b="1" dirty="0">
                <a:solidFill>
                  <a:srgbClr val="262B3A"/>
                </a:solidFill>
                <a:latin typeface="Calibri" pitchFamily="34" charset="0"/>
                <a:ea typeface="Calibri" pitchFamily="34" charset="-122"/>
                <a:cs typeface="Calibri" pitchFamily="34" charset="-120"/>
              </a:rPr>
              <a:t>dissipated</a:t>
            </a:r>
            <a:r>
              <a:rPr lang="en-US" sz="1150" dirty="0">
                <a:solidFill>
                  <a:srgbClr val="262B3A"/>
                </a:solidFill>
                <a:latin typeface="Calibri" pitchFamily="34" charset="0"/>
                <a:ea typeface="Calibri" pitchFamily="34" charset="-122"/>
                <a:cs typeface="Calibri" pitchFamily="34" charset="-120"/>
              </a:rPr>
              <a:t>, but it can </a:t>
            </a:r>
            <a:r>
              <a:rPr lang="en-US" sz="1150" b="1" dirty="0">
                <a:solidFill>
                  <a:srgbClr val="262B3A"/>
                </a:solidFill>
                <a:latin typeface="Calibri" pitchFamily="34" charset="0"/>
                <a:ea typeface="Calibri" pitchFamily="34" charset="-122"/>
                <a:cs typeface="Calibri" pitchFamily="34" charset="-120"/>
              </a:rPr>
              <a:t>never be created or destroyed</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closed system</a:t>
            </a:r>
            <a:r>
              <a:rPr lang="en-US" sz="1150" dirty="0">
                <a:solidFill>
                  <a:srgbClr val="262B3A"/>
                </a:solidFill>
                <a:latin typeface="Calibri" pitchFamily="34" charset="0"/>
                <a:ea typeface="Calibri" pitchFamily="34" charset="-122"/>
                <a:cs typeface="Calibri" pitchFamily="34" charset="-120"/>
              </a:rPr>
              <a:t> is one where energy transfers happen only inside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 closed system there is </a:t>
            </a:r>
            <a:r>
              <a:rPr lang="en-US" sz="1150" b="1" dirty="0">
                <a:solidFill>
                  <a:srgbClr val="262B3A"/>
                </a:solidFill>
                <a:latin typeface="Calibri" pitchFamily="34" charset="0"/>
                <a:ea typeface="Calibri" pitchFamily="34" charset="-122"/>
                <a:cs typeface="Calibri" pitchFamily="34" charset="-120"/>
              </a:rPr>
              <a:t>no net change in the total energy</a:t>
            </a:r>
            <a:r>
              <a:rPr lang="en-US" sz="1150" dirty="0">
                <a:solidFill>
                  <a:srgbClr val="262B3A"/>
                </a:solidFill>
                <a:latin typeface="Calibri" pitchFamily="34" charset="0"/>
                <a:ea typeface="Calibri" pitchFamily="34" charset="-122"/>
                <a:cs typeface="Calibri" pitchFamily="34" charset="-120"/>
              </a:rPr>
              <a:t>: what one store loses, other stores gain.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 </a:t>
            </a:r>
            <a:r>
              <a:rPr lang="en-US" sz="1150" b="1" dirty="0">
                <a:solidFill>
                  <a:srgbClr val="262B3A"/>
                </a:solidFill>
                <a:latin typeface="Calibri" pitchFamily="34" charset="0"/>
                <a:ea typeface="Calibri" pitchFamily="34" charset="-122"/>
                <a:cs typeface="Calibri" pitchFamily="34" charset="-120"/>
              </a:rPr>
              <a:t>energy in = useful energy out + wasted energy out</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6" name="Shape 2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7" name="Text 2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28" name="Text 26"/>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motor is supplied with 500 J. It transfers 350 J usefully. How much energy is wasted?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Idea   </a:t>
            </a:r>
            <a:r>
              <a:rPr lang="en-US" sz="1050" dirty="0">
                <a:solidFill>
                  <a:srgbClr val="262B3A"/>
                </a:solidFill>
                <a:latin typeface="Calibri" pitchFamily="34" charset="0"/>
                <a:ea typeface="Calibri" pitchFamily="34" charset="-122"/>
                <a:cs typeface="Calibri" pitchFamily="34" charset="-120"/>
              </a:rPr>
              <a:t>total energy is conserved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Equation   </a:t>
            </a:r>
            <a:r>
              <a:rPr lang="en-US" sz="1050" dirty="0">
                <a:solidFill>
                  <a:srgbClr val="262B3A"/>
                </a:solidFill>
                <a:latin typeface="Calibri" pitchFamily="34" charset="0"/>
                <a:ea typeface="Calibri" pitchFamily="34" charset="-122"/>
                <a:cs typeface="Calibri" pitchFamily="34" charset="-120"/>
              </a:rPr>
              <a:t>wasted = total supplied − useful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wasted = 500 J − 350 J</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wasted = 150 J</a:t>
            </a:r>
            <a:endParaRPr lang="en-US" sz="1050" dirty="0"/>
          </a:p>
        </p:txBody>
      </p:sp>
      <p:sp>
        <p:nvSpPr>
          <p:cNvPr id="29" name="Shape 27"/>
          <p:cNvSpPr/>
          <p:nvPr/>
        </p:nvSpPr>
        <p:spPr>
          <a:xfrm>
            <a:off x="411480" y="5833872"/>
            <a:ext cx="11368735" cy="530352"/>
          </a:xfrm>
          <a:prstGeom prst="rect">
            <a:avLst/>
          </a:prstGeom>
          <a:solidFill>
            <a:srgbClr val="FFF4E0"/>
          </a:solidFill>
          <a:ln w="6350">
            <a:solidFill>
              <a:srgbClr val="F1D9A8"/>
            </a:solidFill>
            <a:prstDash val="solid"/>
          </a:ln>
        </p:spPr>
      </p:sp>
      <p:sp>
        <p:nvSpPr>
          <p:cNvPr id="30" name="Shape 28"/>
          <p:cNvSpPr/>
          <p:nvPr/>
        </p:nvSpPr>
        <p:spPr>
          <a:xfrm>
            <a:off x="411480" y="5833872"/>
            <a:ext cx="82296" cy="530352"/>
          </a:xfrm>
          <a:prstGeom prst="rect">
            <a:avLst/>
          </a:prstGeom>
          <a:solidFill>
            <a:srgbClr val="E39A2F"/>
          </a:solidFill>
          <a:ln w="12700">
            <a:solidFill>
              <a:srgbClr val="E39A2F"/>
            </a:solidFill>
            <a:prstDash val="solid"/>
          </a:ln>
        </p:spPr>
      </p:sp>
      <p:sp>
        <p:nvSpPr>
          <p:cNvPr id="31" name="Text 2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says “energy is used up when a toy car slows down”. Explain why this is wrong.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Gravitational potential energy: ΔGPE = m × g × Δh</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 • energy stored when an object is raised above the ground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  |  7</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only the change in VERTICAL height counts, not the route taken</a:t>
            </a:r>
            <a:endParaRPr lang="en-US" sz="1000" dirty="0"/>
          </a:p>
        </p:txBody>
      </p:sp>
      <p:sp>
        <p:nvSpPr>
          <p:cNvPr id="10" name="Shape 8"/>
          <p:cNvSpPr/>
          <p:nvPr/>
        </p:nvSpPr>
        <p:spPr>
          <a:xfrm>
            <a:off x="640080" y="4892040"/>
            <a:ext cx="5120640" cy="91440"/>
          </a:xfrm>
          <a:prstGeom prst="rect">
            <a:avLst/>
          </a:prstGeom>
          <a:solidFill>
            <a:srgbClr val="8A6A3A"/>
          </a:solidFill>
          <a:ln/>
        </p:spPr>
      </p:sp>
      <p:sp>
        <p:nvSpPr>
          <p:cNvPr id="11" name="Shape 9"/>
          <p:cNvSpPr/>
          <p:nvPr/>
        </p:nvSpPr>
        <p:spPr>
          <a:xfrm>
            <a:off x="3794760" y="2423160"/>
            <a:ext cx="1325880" cy="109728"/>
          </a:xfrm>
          <a:prstGeom prst="rect">
            <a:avLst/>
          </a:prstGeom>
          <a:solidFill>
            <a:srgbClr val="C99A5B"/>
          </a:solidFill>
          <a:ln w="12700">
            <a:solidFill>
              <a:srgbClr val="8A6A3A"/>
            </a:solidFill>
            <a:prstDash val="solid"/>
          </a:ln>
        </p:spPr>
      </p:sp>
      <p:sp>
        <p:nvSpPr>
          <p:cNvPr id="12" name="Shape 10"/>
          <p:cNvSpPr/>
          <p:nvPr/>
        </p:nvSpPr>
        <p:spPr>
          <a:xfrm>
            <a:off x="5047488" y="2423160"/>
            <a:ext cx="73152" cy="2468880"/>
          </a:xfrm>
          <a:prstGeom prst="rect">
            <a:avLst/>
          </a:prstGeom>
          <a:solidFill>
            <a:srgbClr val="A57E48"/>
          </a:solidFill>
          <a:ln/>
        </p:spPr>
      </p:sp>
      <p:sp>
        <p:nvSpPr>
          <p:cNvPr id="13" name="Shape 11"/>
          <p:cNvSpPr/>
          <p:nvPr/>
        </p:nvSpPr>
        <p:spPr>
          <a:xfrm flipV="1">
            <a:off x="914400" y="2478024"/>
            <a:ext cx="2880360" cy="2414016"/>
          </a:xfrm>
          <a:prstGeom prst="line">
            <a:avLst/>
          </a:prstGeom>
          <a:noFill/>
          <a:ln w="63500">
            <a:solidFill>
              <a:srgbClr val="8A6A3A"/>
            </a:solidFill>
            <a:prstDash val="solid"/>
          </a:ln>
        </p:spPr>
      </p:sp>
      <p:sp>
        <p:nvSpPr>
          <p:cNvPr id="14" name="Shape 12"/>
          <p:cNvSpPr/>
          <p:nvPr/>
        </p:nvSpPr>
        <p:spPr>
          <a:xfrm>
            <a:off x="868680" y="4434840"/>
            <a:ext cx="548640" cy="457200"/>
          </a:xfrm>
          <a:prstGeom prst="rect">
            <a:avLst/>
          </a:prstGeom>
          <a:solidFill>
            <a:srgbClr val="FFFFFF"/>
          </a:solidFill>
          <a:ln w="15875">
            <a:solidFill>
              <a:srgbClr val="6B7385"/>
            </a:solidFill>
            <a:prstDash val="solid"/>
          </a:ln>
        </p:spPr>
      </p:sp>
      <p:sp>
        <p:nvSpPr>
          <p:cNvPr id="15" name="Shape 13"/>
          <p:cNvSpPr/>
          <p:nvPr/>
        </p:nvSpPr>
        <p:spPr>
          <a:xfrm>
            <a:off x="868680" y="4434840"/>
            <a:ext cx="548640" cy="457200"/>
          </a:xfrm>
          <a:prstGeom prst="rect">
            <a:avLst/>
          </a:prstGeom>
          <a:ln w="15875">
            <a:solidFill>
              <a:srgbClr val="6B7385"/>
            </a:solidFill>
            <a:prstDash val="dash"/>
          </a:ln>
        </p:spPr>
      </p:sp>
      <p:sp>
        <p:nvSpPr>
          <p:cNvPr id="16" name="Text 14"/>
          <p:cNvSpPr/>
          <p:nvPr/>
        </p:nvSpPr>
        <p:spPr>
          <a:xfrm>
            <a:off x="868680" y="4434840"/>
            <a:ext cx="548640" cy="457200"/>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start</a:t>
            </a:r>
            <a:endParaRPr lang="en-US" sz="1000" dirty="0"/>
          </a:p>
        </p:txBody>
      </p:sp>
      <p:sp>
        <p:nvSpPr>
          <p:cNvPr id="17" name="Shape 15"/>
          <p:cNvSpPr/>
          <p:nvPr/>
        </p:nvSpPr>
        <p:spPr>
          <a:xfrm>
            <a:off x="4160520" y="1965960"/>
            <a:ext cx="548640" cy="457200"/>
          </a:xfrm>
          <a:prstGeom prst="rect">
            <a:avLst/>
          </a:prstGeom>
          <a:solidFill>
            <a:srgbClr val="2E5BD8"/>
          </a:solidFill>
          <a:ln w="12700">
            <a:solidFill>
              <a:srgbClr val="2B3F7A"/>
            </a:solidFill>
            <a:prstDash val="solid"/>
          </a:ln>
        </p:spPr>
      </p:sp>
      <p:sp>
        <p:nvSpPr>
          <p:cNvPr id="18" name="Text 16"/>
          <p:cNvSpPr/>
          <p:nvPr/>
        </p:nvSpPr>
        <p:spPr>
          <a:xfrm>
            <a:off x="4160520" y="1965960"/>
            <a:ext cx="5486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2.0 kg</a:t>
            </a:r>
            <a:endParaRPr lang="en-US" sz="1050" dirty="0"/>
          </a:p>
        </p:txBody>
      </p:sp>
      <p:sp>
        <p:nvSpPr>
          <p:cNvPr id="19" name="Shape 17"/>
          <p:cNvSpPr/>
          <p:nvPr/>
        </p:nvSpPr>
        <p:spPr>
          <a:xfrm flipV="1">
            <a:off x="1463040" y="2194560"/>
            <a:ext cx="2103120" cy="2103120"/>
          </a:xfrm>
          <a:prstGeom prst="line">
            <a:avLst/>
          </a:prstGeom>
          <a:noFill/>
          <a:ln w="19050">
            <a:solidFill>
              <a:srgbClr val="6B7385"/>
            </a:solidFill>
            <a:prstDash val="dash"/>
            <a:tailEnd type="triangle"/>
          </a:ln>
        </p:spPr>
      </p:sp>
      <p:sp>
        <p:nvSpPr>
          <p:cNvPr id="20" name="Text 18"/>
          <p:cNvSpPr/>
          <p:nvPr/>
        </p:nvSpPr>
        <p:spPr>
          <a:xfrm>
            <a:off x="685800" y="3200400"/>
            <a:ext cx="1554480" cy="256032"/>
          </a:xfrm>
          <a:prstGeom prst="rect">
            <a:avLst/>
          </a:prstGeom>
          <a:noFill/>
          <a:ln/>
        </p:spPr>
        <p:txBody>
          <a:bodyPr wrap="square" lIns="0" tIns="0" rIns="0" bIns="0" rtlCol="0" anchor="ctr"/>
          <a:lstStyle/>
          <a:p>
            <a:pPr algn="r" indent="0" marL="0">
              <a:buNone/>
            </a:pPr>
            <a:r>
              <a:rPr lang="en-US" sz="1000" i="1" dirty="0">
                <a:solidFill>
                  <a:srgbClr val="6B7385"/>
                </a:solidFill>
                <a:latin typeface="Calibri" pitchFamily="34" charset="0"/>
                <a:ea typeface="Calibri" pitchFamily="34" charset="-122"/>
                <a:cs typeface="Calibri" pitchFamily="34" charset="-120"/>
              </a:rPr>
              <a:t>route 1: up the ramp</a:t>
            </a:r>
            <a:endParaRPr lang="en-US" sz="1000" dirty="0"/>
          </a:p>
        </p:txBody>
      </p:sp>
      <p:sp>
        <p:nvSpPr>
          <p:cNvPr id="21" name="Shape 19"/>
          <p:cNvSpPr/>
          <p:nvPr/>
        </p:nvSpPr>
        <p:spPr>
          <a:xfrm flipV="1">
            <a:off x="4434840" y="2606040"/>
            <a:ext cx="91" cy="2194560"/>
          </a:xfrm>
          <a:prstGeom prst="line">
            <a:avLst/>
          </a:prstGeom>
          <a:noFill/>
          <a:ln w="19050">
            <a:solidFill>
              <a:srgbClr val="6B7385"/>
            </a:solidFill>
            <a:prstDash val="dash"/>
            <a:tailEnd type="triangle"/>
          </a:ln>
        </p:spPr>
      </p:sp>
      <p:sp>
        <p:nvSpPr>
          <p:cNvPr id="22" name="Text 20"/>
          <p:cNvSpPr/>
          <p:nvPr/>
        </p:nvSpPr>
        <p:spPr>
          <a:xfrm>
            <a:off x="2743200" y="4023360"/>
            <a:ext cx="1600200" cy="256032"/>
          </a:xfrm>
          <a:prstGeom prst="rect">
            <a:avLst/>
          </a:prstGeom>
          <a:noFill/>
          <a:ln/>
        </p:spPr>
        <p:txBody>
          <a:bodyPr wrap="square" lIns="0" tIns="0" rIns="0" bIns="0" rtlCol="0" anchor="ctr"/>
          <a:lstStyle/>
          <a:p>
            <a:pPr algn="r" indent="0" marL="0">
              <a:buNone/>
            </a:pPr>
            <a:r>
              <a:rPr lang="en-US" sz="1000" i="1" dirty="0">
                <a:solidFill>
                  <a:srgbClr val="6B7385"/>
                </a:solidFill>
                <a:latin typeface="Calibri" pitchFamily="34" charset="0"/>
                <a:ea typeface="Calibri" pitchFamily="34" charset="-122"/>
                <a:cs typeface="Calibri" pitchFamily="34" charset="-120"/>
              </a:rPr>
              <a:t>route 2: lift straight up</a:t>
            </a:r>
            <a:endParaRPr lang="en-US" sz="1000" dirty="0"/>
          </a:p>
        </p:txBody>
      </p:sp>
      <p:sp>
        <p:nvSpPr>
          <p:cNvPr id="23" name="Shape 21"/>
          <p:cNvSpPr/>
          <p:nvPr/>
        </p:nvSpPr>
        <p:spPr>
          <a:xfrm flipV="1">
            <a:off x="5779008" y="2423160"/>
            <a:ext cx="91" cy="2468880"/>
          </a:xfrm>
          <a:prstGeom prst="line">
            <a:avLst/>
          </a:prstGeom>
          <a:noFill/>
          <a:ln w="19050">
            <a:solidFill>
              <a:srgbClr val="C8414C"/>
            </a:solidFill>
            <a:prstDash val="solid"/>
            <a:headEnd type="triangle"/>
            <a:tailEnd type="triangle"/>
          </a:ln>
        </p:spPr>
      </p:sp>
      <p:sp>
        <p:nvSpPr>
          <p:cNvPr id="24" name="Text 22"/>
          <p:cNvSpPr/>
          <p:nvPr/>
        </p:nvSpPr>
        <p:spPr>
          <a:xfrm>
            <a:off x="5138928" y="3429000"/>
            <a:ext cx="585216" cy="45720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Δh =</a:t>
            </a:r>
            <a:endParaRPr lang="en-US" sz="1100" dirty="0"/>
          </a:p>
          <a:p>
            <a:pPr algn="ctr" indent="0" marL="0">
              <a:buNone/>
            </a:pPr>
            <a:r>
              <a:rPr lang="en-US" sz="1100" b="1" dirty="0">
                <a:solidFill>
                  <a:srgbClr val="C8414C"/>
                </a:solidFill>
                <a:latin typeface="Calibri" pitchFamily="34" charset="0"/>
                <a:ea typeface="Calibri" pitchFamily="34" charset="-122"/>
                <a:cs typeface="Calibri" pitchFamily="34" charset="-120"/>
              </a:rPr>
              <a:t>1.5 m</a:t>
            </a:r>
            <a:endParaRPr lang="en-US" sz="1100" dirty="0"/>
          </a:p>
        </p:txBody>
      </p:sp>
      <p:sp>
        <p:nvSpPr>
          <p:cNvPr id="25" name="Text 23"/>
          <p:cNvSpPr/>
          <p:nvPr/>
        </p:nvSpPr>
        <p:spPr>
          <a:xfrm>
            <a:off x="685800" y="1371600"/>
            <a:ext cx="5029200" cy="256032"/>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g = 10 N/kg on Earth</a:t>
            </a:r>
            <a:endParaRPr lang="en-US" sz="1100" dirty="0"/>
          </a:p>
        </p:txBody>
      </p:sp>
      <p:sp>
        <p:nvSpPr>
          <p:cNvPr id="26" name="Shape 2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7" name="Text 2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Gravitational potential energy</a:t>
            </a:r>
            <a:endParaRPr lang="en-US" sz="1300" dirty="0"/>
          </a:p>
        </p:txBody>
      </p:sp>
      <p:sp>
        <p:nvSpPr>
          <p:cNvPr id="28" name="Text 2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Raising an object </a:t>
            </a:r>
            <a:r>
              <a:rPr lang="en-US" sz="1150" b="1" dirty="0">
                <a:solidFill>
                  <a:srgbClr val="262B3A"/>
                </a:solidFill>
                <a:latin typeface="Calibri" pitchFamily="34" charset="0"/>
                <a:ea typeface="Calibri" pitchFamily="34" charset="-122"/>
                <a:cs typeface="Calibri" pitchFamily="34" charset="-120"/>
              </a:rPr>
              <a:t>increases</a:t>
            </a:r>
            <a:r>
              <a:rPr lang="en-US" sz="1150" dirty="0">
                <a:solidFill>
                  <a:srgbClr val="262B3A"/>
                </a:solidFill>
                <a:latin typeface="Calibri" pitchFamily="34" charset="0"/>
                <a:ea typeface="Calibri" pitchFamily="34" charset="-122"/>
                <a:cs typeface="Calibri" pitchFamily="34" charset="-120"/>
              </a:rPr>
              <a:t> the energy in its </a:t>
            </a:r>
            <a:r>
              <a:rPr lang="en-US" sz="1150" b="1" dirty="0">
                <a:solidFill>
                  <a:srgbClr val="262B3A"/>
                </a:solidFill>
                <a:latin typeface="Calibri" pitchFamily="34" charset="0"/>
                <a:ea typeface="Calibri" pitchFamily="34" charset="-122"/>
                <a:cs typeface="Calibri" pitchFamily="34" charset="-120"/>
              </a:rPr>
              <a:t>gravitational potential store</a:t>
            </a:r>
            <a:r>
              <a:rPr lang="en-US" sz="1150" dirty="0">
                <a:solidFill>
                  <a:srgbClr val="262B3A"/>
                </a:solidFill>
                <a:latin typeface="Calibri" pitchFamily="34" charset="0"/>
                <a:ea typeface="Calibri" pitchFamily="34" charset="-122"/>
                <a:cs typeface="Calibri" pitchFamily="34" charset="-120"/>
              </a:rPr>
              <a:t>.</a:t>
            </a:r>
            <a:endParaRPr lang="en-US" sz="1150" dirty="0"/>
          </a:p>
          <a:p>
            <a:pPr indent="0" marL="0">
              <a:spcAft>
                <a:spcPts val="300"/>
              </a:spcAft>
              <a:buNone/>
            </a:pPr>
            <a:r>
              <a:rPr lang="en-US" sz="1300" b="1" dirty="0">
                <a:solidFill>
                  <a:srgbClr val="2E5BD8"/>
                </a:solidFill>
                <a:latin typeface="Calibri" pitchFamily="34" charset="0"/>
                <a:ea typeface="Calibri" pitchFamily="34" charset="-122"/>
                <a:cs typeface="Calibri" pitchFamily="34" charset="-120"/>
              </a:rPr>
              <a:t>ΔGPE = m × g × Δh</a:t>
            </a:r>
            <a:endParaRPr lang="en-US" sz="1150" dirty="0"/>
          </a:p>
          <a:p>
            <a:pPr indent="0" marL="0">
              <a:spcAft>
                <a:spcPts val="300"/>
              </a:spcAft>
              <a:buNone/>
            </a:pPr>
            <a:r>
              <a:rPr lang="en-US" sz="1050" dirty="0">
                <a:solidFill>
                  <a:srgbClr val="262B3A"/>
                </a:solidFill>
                <a:latin typeface="Calibri" pitchFamily="34" charset="0"/>
                <a:ea typeface="Calibri" pitchFamily="34" charset="-122"/>
                <a:cs typeface="Calibri" pitchFamily="34" charset="-120"/>
              </a:rPr>
              <a:t>ΔGPE in J • m mass in kg • g in N/kg • Δh change in vertical height in m</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this equation.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Both routes give the </a:t>
            </a:r>
            <a:r>
              <a:rPr lang="en-US" sz="1150" b="1" dirty="0">
                <a:solidFill>
                  <a:srgbClr val="262B3A"/>
                </a:solidFill>
                <a:latin typeface="Calibri" pitchFamily="34" charset="0"/>
                <a:ea typeface="Calibri" pitchFamily="34" charset="-122"/>
                <a:cs typeface="Calibri" pitchFamily="34" charset="-120"/>
              </a:rPr>
              <a:t>same</a:t>
            </a:r>
            <a:r>
              <a:rPr lang="en-US" sz="1150" dirty="0">
                <a:solidFill>
                  <a:srgbClr val="262B3A"/>
                </a:solidFill>
                <a:latin typeface="Calibri" pitchFamily="34" charset="0"/>
                <a:ea typeface="Calibri" pitchFamily="34" charset="-122"/>
                <a:cs typeface="Calibri" pitchFamily="34" charset="-120"/>
              </a:rPr>
              <a:t> ΔGPE: only the vertical height matters.</a:t>
            </a:r>
            <a:endParaRPr lang="en-US" sz="1150" dirty="0"/>
          </a:p>
        </p:txBody>
      </p:sp>
      <p:sp>
        <p:nvSpPr>
          <p:cNvPr id="29" name="Shape 2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0" name="Text 2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1" name="Text 29"/>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2.0 kg box is lifted onto a shelf 1.5 m high. Calculate the gain in GPE.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ΔGPE = m × g × Δh</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Substitute   </a:t>
            </a:r>
            <a:r>
              <a:rPr lang="en-US" sz="1050" dirty="0">
                <a:solidFill>
                  <a:srgbClr val="262B3A"/>
                </a:solidFill>
                <a:latin typeface="Calibri" pitchFamily="34" charset="0"/>
                <a:ea typeface="Calibri" pitchFamily="34" charset="-122"/>
                <a:cs typeface="Calibri" pitchFamily="34" charset="-120"/>
              </a:rPr>
              <a:t>ΔGPE = 2.0 kg × 10 N/kg × 1.5 m</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Check   </a:t>
            </a:r>
            <a:r>
              <a:rPr lang="en-US" sz="1050" dirty="0">
                <a:solidFill>
                  <a:srgbClr val="262B3A"/>
                </a:solidFill>
                <a:latin typeface="Calibri" pitchFamily="34" charset="0"/>
                <a:ea typeface="Calibri" pitchFamily="34" charset="-122"/>
                <a:cs typeface="Calibri" pitchFamily="34" charset="-120"/>
              </a:rPr>
              <a:t>units: kg × N/kg × m = N m = J</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ΔGPE = 30 J</a:t>
            </a:r>
            <a:endParaRPr lang="en-US" sz="1050" dirty="0"/>
          </a:p>
        </p:txBody>
      </p:sp>
      <p:sp>
        <p:nvSpPr>
          <p:cNvPr id="32" name="Shape 30"/>
          <p:cNvSpPr/>
          <p:nvPr/>
        </p:nvSpPr>
        <p:spPr>
          <a:xfrm>
            <a:off x="411480" y="5833872"/>
            <a:ext cx="11368735" cy="530352"/>
          </a:xfrm>
          <a:prstGeom prst="rect">
            <a:avLst/>
          </a:prstGeom>
          <a:solidFill>
            <a:srgbClr val="FFF4E0"/>
          </a:solidFill>
          <a:ln w="6350">
            <a:solidFill>
              <a:srgbClr val="F1D9A8"/>
            </a:solidFill>
            <a:prstDash val="solid"/>
          </a:ln>
        </p:spPr>
      </p:sp>
      <p:sp>
        <p:nvSpPr>
          <p:cNvPr id="33" name="Shape 31"/>
          <p:cNvSpPr/>
          <p:nvPr/>
        </p:nvSpPr>
        <p:spPr>
          <a:xfrm>
            <a:off x="411480" y="5833872"/>
            <a:ext cx="82296" cy="530352"/>
          </a:xfrm>
          <a:prstGeom prst="rect">
            <a:avLst/>
          </a:prstGeom>
          <a:solidFill>
            <a:srgbClr val="E39A2F"/>
          </a:solidFill>
          <a:ln w="12700">
            <a:solidFill>
              <a:srgbClr val="E39A2F"/>
            </a:solidFill>
            <a:prstDash val="solid"/>
          </a:ln>
        </p:spPr>
      </p:sp>
      <p:sp>
        <p:nvSpPr>
          <p:cNvPr id="34" name="Text 3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60 kg climber gains 9000 J of gravitational potential energy. Calculate the height she climbs.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 3.3–3.6 • stores, conservation and GPE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8</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energy store that increases when </a:t>
            </a:r>
            <a:r>
              <a:rPr lang="en-US" sz="1250" b="1" dirty="0">
                <a:solidFill>
                  <a:srgbClr val="262B3A"/>
                </a:solidFill>
                <a:latin typeface="Calibri" pitchFamily="34" charset="0"/>
                <a:ea typeface="Calibri" pitchFamily="34" charset="-122"/>
                <a:cs typeface="Calibri" pitchFamily="34" charset="-120"/>
              </a:rPr>
              <a:t>(a)</a:t>
            </a:r>
            <a:r>
              <a:rPr lang="en-US" sz="1250" dirty="0">
                <a:solidFill>
                  <a:srgbClr val="262B3A"/>
                </a:solidFill>
                <a:latin typeface="Calibri" pitchFamily="34" charset="0"/>
                <a:ea typeface="Calibri" pitchFamily="34" charset="-122"/>
                <a:cs typeface="Calibri" pitchFamily="34" charset="-120"/>
              </a:rPr>
              <a:t> a bow is pulled back and </a:t>
            </a:r>
            <a:r>
              <a:rPr lang="en-US" sz="1250" b="1" dirty="0">
                <a:solidFill>
                  <a:srgbClr val="262B3A"/>
                </a:solidFill>
                <a:latin typeface="Calibri" pitchFamily="34" charset="0"/>
                <a:ea typeface="Calibri" pitchFamily="34" charset="-122"/>
                <a:cs typeface="Calibri" pitchFamily="34" charset="-120"/>
              </a:rPr>
              <a:t>(b)</a:t>
            </a:r>
            <a:r>
              <a:rPr lang="en-US" sz="1250" dirty="0">
                <a:solidFill>
                  <a:srgbClr val="262B3A"/>
                </a:solidFill>
                <a:latin typeface="Calibri" pitchFamily="34" charset="0"/>
                <a:ea typeface="Calibri" pitchFamily="34" charset="-122"/>
                <a:cs typeface="Calibri" pitchFamily="34" charset="-120"/>
              </a:rPr>
              <a:t> water is heated in a kettle.</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the </a:t>
            </a:r>
            <a:r>
              <a:rPr lang="en-US" sz="1250" b="1" dirty="0">
                <a:solidFill>
                  <a:srgbClr val="262B3A"/>
                </a:solidFill>
                <a:latin typeface="Calibri" pitchFamily="34" charset="0"/>
                <a:ea typeface="Calibri" pitchFamily="34" charset="-122"/>
                <a:cs typeface="Calibri" pitchFamily="34" charset="-120"/>
              </a:rPr>
              <a:t>principle of conservation of energy</a:t>
            </a:r>
            <a:r>
              <a:rPr lang="en-US" sz="1250" dirty="0">
                <a:solidFill>
                  <a:srgbClr val="262B3A"/>
                </a:solidFill>
                <a:latin typeface="Calibri" pitchFamily="34" charset="0"/>
                <a:ea typeface="Calibri" pitchFamily="34" charset="-122"/>
                <a:cs typeface="Calibri" pitchFamily="34" charset="-120"/>
              </a:rPr>
              <a:t> and explain what it means for a </a:t>
            </a:r>
            <a:r>
              <a:rPr lang="en-US" sz="1250" b="1" dirty="0">
                <a:solidFill>
                  <a:srgbClr val="262B3A"/>
                </a:solidFill>
                <a:latin typeface="Calibri" pitchFamily="34" charset="0"/>
                <a:ea typeface="Calibri" pitchFamily="34" charset="-122"/>
                <a:cs typeface="Calibri" pitchFamily="34" charset="-120"/>
              </a:rPr>
              <a:t>closed system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0.50 kg</a:t>
            </a:r>
            <a:r>
              <a:rPr lang="en-US" sz="1250" dirty="0">
                <a:solidFill>
                  <a:srgbClr val="262B3A"/>
                </a:solidFill>
                <a:latin typeface="Calibri" pitchFamily="34" charset="0"/>
                <a:ea typeface="Calibri" pitchFamily="34" charset="-122"/>
                <a:cs typeface="Calibri" pitchFamily="34" charset="-120"/>
              </a:rPr>
              <a:t> ball is lifted through a height of </a:t>
            </a:r>
            <a:r>
              <a:rPr lang="en-US" sz="1250" b="1" dirty="0">
                <a:solidFill>
                  <a:srgbClr val="262B3A"/>
                </a:solidFill>
                <a:latin typeface="Calibri" pitchFamily="34" charset="0"/>
                <a:ea typeface="Calibri" pitchFamily="34" charset="-122"/>
                <a:cs typeface="Calibri" pitchFamily="34" charset="-120"/>
              </a:rPr>
              <a:t>4.0 m</a:t>
            </a:r>
            <a:r>
              <a:rPr lang="en-US" sz="1250" dirty="0">
                <a:solidFill>
                  <a:srgbClr val="262B3A"/>
                </a:solidFill>
                <a:latin typeface="Calibri" pitchFamily="34" charset="0"/>
                <a:ea typeface="Calibri" pitchFamily="34" charset="-122"/>
                <a:cs typeface="Calibri" pitchFamily="34" charset="-120"/>
              </a:rPr>
              <a:t>. Calculate the change in its gravitational potential energy. g = 10 N/kg.</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Kinetic energy: KE = ½ × m × v²</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3.2 • the energy in the kinetic store of a moving object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3.2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KE of a 1000 kg car against speed, plotted to scale</a:t>
            </a:r>
            <a:endParaRPr lang="en-US" sz="1000" dirty="0"/>
          </a:p>
        </p:txBody>
      </p:sp>
      <p:sp>
        <p:nvSpPr>
          <p:cNvPr id="10" name="Shape 8"/>
          <p:cNvSpPr/>
          <p:nvPr/>
        </p:nvSpPr>
        <p:spPr>
          <a:xfrm>
            <a:off x="1280160" y="1463040"/>
            <a:ext cx="4389120" cy="3246120"/>
          </a:xfrm>
          <a:prstGeom prst="rect">
            <a:avLst/>
          </a:prstGeom>
          <a:solidFill>
            <a:srgbClr val="FFFFFF"/>
          </a:solidFill>
          <a:ln/>
        </p:spPr>
      </p:sp>
      <p:sp>
        <p:nvSpPr>
          <p:cNvPr id="11" name="Shape 9"/>
          <p:cNvSpPr/>
          <p:nvPr/>
        </p:nvSpPr>
        <p:spPr>
          <a:xfrm>
            <a:off x="1280160" y="1463040"/>
            <a:ext cx="91" cy="3246120"/>
          </a:xfrm>
          <a:prstGeom prst="line">
            <a:avLst/>
          </a:prstGeom>
          <a:noFill/>
          <a:ln w="6350">
            <a:solidFill>
              <a:srgbClr val="C9D3E6"/>
            </a:solidFill>
            <a:prstDash val="solid"/>
          </a:ln>
        </p:spPr>
      </p:sp>
      <p:sp>
        <p:nvSpPr>
          <p:cNvPr id="12" name="Shape 10"/>
          <p:cNvSpPr/>
          <p:nvPr/>
        </p:nvSpPr>
        <p:spPr>
          <a:xfrm>
            <a:off x="1645920" y="1463040"/>
            <a:ext cx="91" cy="3246120"/>
          </a:xfrm>
          <a:prstGeom prst="line">
            <a:avLst/>
          </a:prstGeom>
          <a:noFill/>
          <a:ln w="6350">
            <a:solidFill>
              <a:srgbClr val="E6EBF4"/>
            </a:solidFill>
            <a:prstDash val="solid"/>
          </a:ln>
        </p:spPr>
      </p:sp>
      <p:sp>
        <p:nvSpPr>
          <p:cNvPr id="13" name="Shape 11"/>
          <p:cNvSpPr/>
          <p:nvPr/>
        </p:nvSpPr>
        <p:spPr>
          <a:xfrm>
            <a:off x="2011680" y="1463040"/>
            <a:ext cx="91" cy="3246120"/>
          </a:xfrm>
          <a:prstGeom prst="line">
            <a:avLst/>
          </a:prstGeom>
          <a:noFill/>
          <a:ln w="6350">
            <a:solidFill>
              <a:srgbClr val="C9D3E6"/>
            </a:solidFill>
            <a:prstDash val="solid"/>
          </a:ln>
        </p:spPr>
      </p:sp>
      <p:sp>
        <p:nvSpPr>
          <p:cNvPr id="14" name="Shape 12"/>
          <p:cNvSpPr/>
          <p:nvPr/>
        </p:nvSpPr>
        <p:spPr>
          <a:xfrm>
            <a:off x="2377440" y="1463040"/>
            <a:ext cx="91" cy="3246120"/>
          </a:xfrm>
          <a:prstGeom prst="line">
            <a:avLst/>
          </a:prstGeom>
          <a:noFill/>
          <a:ln w="6350">
            <a:solidFill>
              <a:srgbClr val="E6EBF4"/>
            </a:solidFill>
            <a:prstDash val="solid"/>
          </a:ln>
        </p:spPr>
      </p:sp>
      <p:sp>
        <p:nvSpPr>
          <p:cNvPr id="15" name="Shape 13"/>
          <p:cNvSpPr/>
          <p:nvPr/>
        </p:nvSpPr>
        <p:spPr>
          <a:xfrm>
            <a:off x="2743200" y="1463040"/>
            <a:ext cx="91" cy="3246120"/>
          </a:xfrm>
          <a:prstGeom prst="line">
            <a:avLst/>
          </a:prstGeom>
          <a:noFill/>
          <a:ln w="6350">
            <a:solidFill>
              <a:srgbClr val="C9D3E6"/>
            </a:solidFill>
            <a:prstDash val="solid"/>
          </a:ln>
        </p:spPr>
      </p:sp>
      <p:sp>
        <p:nvSpPr>
          <p:cNvPr id="16" name="Shape 14"/>
          <p:cNvSpPr/>
          <p:nvPr/>
        </p:nvSpPr>
        <p:spPr>
          <a:xfrm>
            <a:off x="3108960" y="1463040"/>
            <a:ext cx="91" cy="3246120"/>
          </a:xfrm>
          <a:prstGeom prst="line">
            <a:avLst/>
          </a:prstGeom>
          <a:noFill/>
          <a:ln w="6350">
            <a:solidFill>
              <a:srgbClr val="E6EBF4"/>
            </a:solidFill>
            <a:prstDash val="solid"/>
          </a:ln>
        </p:spPr>
      </p:sp>
      <p:sp>
        <p:nvSpPr>
          <p:cNvPr id="17" name="Shape 15"/>
          <p:cNvSpPr/>
          <p:nvPr/>
        </p:nvSpPr>
        <p:spPr>
          <a:xfrm>
            <a:off x="3474720" y="1463040"/>
            <a:ext cx="91" cy="3246120"/>
          </a:xfrm>
          <a:prstGeom prst="line">
            <a:avLst/>
          </a:prstGeom>
          <a:noFill/>
          <a:ln w="6350">
            <a:solidFill>
              <a:srgbClr val="C9D3E6"/>
            </a:solidFill>
            <a:prstDash val="solid"/>
          </a:ln>
        </p:spPr>
      </p:sp>
      <p:sp>
        <p:nvSpPr>
          <p:cNvPr id="18" name="Shape 16"/>
          <p:cNvSpPr/>
          <p:nvPr/>
        </p:nvSpPr>
        <p:spPr>
          <a:xfrm>
            <a:off x="3840480" y="1463040"/>
            <a:ext cx="91" cy="3246120"/>
          </a:xfrm>
          <a:prstGeom prst="line">
            <a:avLst/>
          </a:prstGeom>
          <a:noFill/>
          <a:ln w="6350">
            <a:solidFill>
              <a:srgbClr val="E6EBF4"/>
            </a:solidFill>
            <a:prstDash val="solid"/>
          </a:ln>
        </p:spPr>
      </p:sp>
      <p:sp>
        <p:nvSpPr>
          <p:cNvPr id="19" name="Shape 17"/>
          <p:cNvSpPr/>
          <p:nvPr/>
        </p:nvSpPr>
        <p:spPr>
          <a:xfrm>
            <a:off x="4206240" y="1463040"/>
            <a:ext cx="91" cy="3246120"/>
          </a:xfrm>
          <a:prstGeom prst="line">
            <a:avLst/>
          </a:prstGeom>
          <a:noFill/>
          <a:ln w="6350">
            <a:solidFill>
              <a:srgbClr val="C9D3E6"/>
            </a:solidFill>
            <a:prstDash val="solid"/>
          </a:ln>
        </p:spPr>
      </p:sp>
      <p:sp>
        <p:nvSpPr>
          <p:cNvPr id="20" name="Shape 18"/>
          <p:cNvSpPr/>
          <p:nvPr/>
        </p:nvSpPr>
        <p:spPr>
          <a:xfrm>
            <a:off x="4572000" y="1463040"/>
            <a:ext cx="91" cy="3246120"/>
          </a:xfrm>
          <a:prstGeom prst="line">
            <a:avLst/>
          </a:prstGeom>
          <a:noFill/>
          <a:ln w="6350">
            <a:solidFill>
              <a:srgbClr val="E6EBF4"/>
            </a:solidFill>
            <a:prstDash val="solid"/>
          </a:ln>
        </p:spPr>
      </p:sp>
      <p:sp>
        <p:nvSpPr>
          <p:cNvPr id="21" name="Shape 19"/>
          <p:cNvSpPr/>
          <p:nvPr/>
        </p:nvSpPr>
        <p:spPr>
          <a:xfrm>
            <a:off x="4937760" y="1463040"/>
            <a:ext cx="91" cy="3246120"/>
          </a:xfrm>
          <a:prstGeom prst="line">
            <a:avLst/>
          </a:prstGeom>
          <a:noFill/>
          <a:ln w="6350">
            <a:solidFill>
              <a:srgbClr val="C9D3E6"/>
            </a:solidFill>
            <a:prstDash val="solid"/>
          </a:ln>
        </p:spPr>
      </p:sp>
      <p:sp>
        <p:nvSpPr>
          <p:cNvPr id="22" name="Shape 20"/>
          <p:cNvSpPr/>
          <p:nvPr/>
        </p:nvSpPr>
        <p:spPr>
          <a:xfrm>
            <a:off x="5303520" y="1463040"/>
            <a:ext cx="91" cy="3246120"/>
          </a:xfrm>
          <a:prstGeom prst="line">
            <a:avLst/>
          </a:prstGeom>
          <a:noFill/>
          <a:ln w="6350">
            <a:solidFill>
              <a:srgbClr val="E6EBF4"/>
            </a:solidFill>
            <a:prstDash val="solid"/>
          </a:ln>
        </p:spPr>
      </p:sp>
      <p:sp>
        <p:nvSpPr>
          <p:cNvPr id="23" name="Shape 21"/>
          <p:cNvSpPr/>
          <p:nvPr/>
        </p:nvSpPr>
        <p:spPr>
          <a:xfrm>
            <a:off x="5669280" y="1463040"/>
            <a:ext cx="91" cy="3246120"/>
          </a:xfrm>
          <a:prstGeom prst="line">
            <a:avLst/>
          </a:prstGeom>
          <a:noFill/>
          <a:ln w="6350">
            <a:solidFill>
              <a:srgbClr val="C9D3E6"/>
            </a:solidFill>
            <a:prstDash val="solid"/>
          </a:ln>
        </p:spPr>
      </p:sp>
      <p:sp>
        <p:nvSpPr>
          <p:cNvPr id="24" name="Shape 22"/>
          <p:cNvSpPr/>
          <p:nvPr/>
        </p:nvSpPr>
        <p:spPr>
          <a:xfrm>
            <a:off x="1280160" y="4709160"/>
            <a:ext cx="4389120" cy="91"/>
          </a:xfrm>
          <a:prstGeom prst="line">
            <a:avLst/>
          </a:prstGeom>
          <a:noFill/>
          <a:ln w="6350">
            <a:solidFill>
              <a:srgbClr val="C9D3E6"/>
            </a:solidFill>
            <a:prstDash val="solid"/>
          </a:ln>
        </p:spPr>
      </p:sp>
      <p:sp>
        <p:nvSpPr>
          <p:cNvPr id="25" name="Shape 23"/>
          <p:cNvSpPr/>
          <p:nvPr/>
        </p:nvSpPr>
        <p:spPr>
          <a:xfrm>
            <a:off x="1280160" y="4384548"/>
            <a:ext cx="4389120" cy="91"/>
          </a:xfrm>
          <a:prstGeom prst="line">
            <a:avLst/>
          </a:prstGeom>
          <a:noFill/>
          <a:ln w="6350">
            <a:solidFill>
              <a:srgbClr val="E6EBF4"/>
            </a:solidFill>
            <a:prstDash val="solid"/>
          </a:ln>
        </p:spPr>
      </p:sp>
      <p:sp>
        <p:nvSpPr>
          <p:cNvPr id="26" name="Shape 24"/>
          <p:cNvSpPr/>
          <p:nvPr/>
        </p:nvSpPr>
        <p:spPr>
          <a:xfrm>
            <a:off x="1280160" y="4059936"/>
            <a:ext cx="4389120" cy="91"/>
          </a:xfrm>
          <a:prstGeom prst="line">
            <a:avLst/>
          </a:prstGeom>
          <a:noFill/>
          <a:ln w="6350">
            <a:solidFill>
              <a:srgbClr val="C9D3E6"/>
            </a:solidFill>
            <a:prstDash val="solid"/>
          </a:ln>
        </p:spPr>
      </p:sp>
      <p:sp>
        <p:nvSpPr>
          <p:cNvPr id="27" name="Shape 25"/>
          <p:cNvSpPr/>
          <p:nvPr/>
        </p:nvSpPr>
        <p:spPr>
          <a:xfrm>
            <a:off x="1280160" y="3735324"/>
            <a:ext cx="4389120" cy="91"/>
          </a:xfrm>
          <a:prstGeom prst="line">
            <a:avLst/>
          </a:prstGeom>
          <a:noFill/>
          <a:ln w="6350">
            <a:solidFill>
              <a:srgbClr val="E6EBF4"/>
            </a:solidFill>
            <a:prstDash val="solid"/>
          </a:ln>
        </p:spPr>
      </p:sp>
      <p:sp>
        <p:nvSpPr>
          <p:cNvPr id="28" name="Shape 26"/>
          <p:cNvSpPr/>
          <p:nvPr/>
        </p:nvSpPr>
        <p:spPr>
          <a:xfrm>
            <a:off x="1280160" y="3410712"/>
            <a:ext cx="4389120" cy="91"/>
          </a:xfrm>
          <a:prstGeom prst="line">
            <a:avLst/>
          </a:prstGeom>
          <a:noFill/>
          <a:ln w="6350">
            <a:solidFill>
              <a:srgbClr val="C9D3E6"/>
            </a:solidFill>
            <a:prstDash val="solid"/>
          </a:ln>
        </p:spPr>
      </p:sp>
      <p:sp>
        <p:nvSpPr>
          <p:cNvPr id="29" name="Shape 27"/>
          <p:cNvSpPr/>
          <p:nvPr/>
        </p:nvSpPr>
        <p:spPr>
          <a:xfrm>
            <a:off x="1280160" y="3086100"/>
            <a:ext cx="4389120" cy="91"/>
          </a:xfrm>
          <a:prstGeom prst="line">
            <a:avLst/>
          </a:prstGeom>
          <a:noFill/>
          <a:ln w="6350">
            <a:solidFill>
              <a:srgbClr val="E6EBF4"/>
            </a:solidFill>
            <a:prstDash val="solid"/>
          </a:ln>
        </p:spPr>
      </p:sp>
      <p:sp>
        <p:nvSpPr>
          <p:cNvPr id="30" name="Shape 28"/>
          <p:cNvSpPr/>
          <p:nvPr/>
        </p:nvSpPr>
        <p:spPr>
          <a:xfrm>
            <a:off x="1280160" y="2761488"/>
            <a:ext cx="4389120" cy="91"/>
          </a:xfrm>
          <a:prstGeom prst="line">
            <a:avLst/>
          </a:prstGeom>
          <a:noFill/>
          <a:ln w="6350">
            <a:solidFill>
              <a:srgbClr val="C9D3E6"/>
            </a:solidFill>
            <a:prstDash val="solid"/>
          </a:ln>
        </p:spPr>
      </p:sp>
      <p:sp>
        <p:nvSpPr>
          <p:cNvPr id="31" name="Shape 29"/>
          <p:cNvSpPr/>
          <p:nvPr/>
        </p:nvSpPr>
        <p:spPr>
          <a:xfrm>
            <a:off x="1280160" y="2436876"/>
            <a:ext cx="4389120" cy="91"/>
          </a:xfrm>
          <a:prstGeom prst="line">
            <a:avLst/>
          </a:prstGeom>
          <a:noFill/>
          <a:ln w="6350">
            <a:solidFill>
              <a:srgbClr val="E6EBF4"/>
            </a:solidFill>
            <a:prstDash val="solid"/>
          </a:ln>
        </p:spPr>
      </p:sp>
      <p:sp>
        <p:nvSpPr>
          <p:cNvPr id="32" name="Shape 30"/>
          <p:cNvSpPr/>
          <p:nvPr/>
        </p:nvSpPr>
        <p:spPr>
          <a:xfrm>
            <a:off x="1280160" y="2112264"/>
            <a:ext cx="4389120" cy="91"/>
          </a:xfrm>
          <a:prstGeom prst="line">
            <a:avLst/>
          </a:prstGeom>
          <a:noFill/>
          <a:ln w="6350">
            <a:solidFill>
              <a:srgbClr val="C9D3E6"/>
            </a:solidFill>
            <a:prstDash val="solid"/>
          </a:ln>
        </p:spPr>
      </p:sp>
      <p:sp>
        <p:nvSpPr>
          <p:cNvPr id="33" name="Shape 31"/>
          <p:cNvSpPr/>
          <p:nvPr/>
        </p:nvSpPr>
        <p:spPr>
          <a:xfrm>
            <a:off x="1280160" y="1787652"/>
            <a:ext cx="4389120" cy="91"/>
          </a:xfrm>
          <a:prstGeom prst="line">
            <a:avLst/>
          </a:prstGeom>
          <a:noFill/>
          <a:ln w="6350">
            <a:solidFill>
              <a:srgbClr val="E6EBF4"/>
            </a:solidFill>
            <a:prstDash val="solid"/>
          </a:ln>
        </p:spPr>
      </p:sp>
      <p:sp>
        <p:nvSpPr>
          <p:cNvPr id="34" name="Shape 32"/>
          <p:cNvSpPr/>
          <p:nvPr/>
        </p:nvSpPr>
        <p:spPr>
          <a:xfrm>
            <a:off x="1280160" y="1463040"/>
            <a:ext cx="4389120" cy="91"/>
          </a:xfrm>
          <a:prstGeom prst="line">
            <a:avLst/>
          </a:prstGeom>
          <a:noFill/>
          <a:ln w="6350">
            <a:solidFill>
              <a:srgbClr val="C9D3E6"/>
            </a:solidFill>
            <a:prstDash val="solid"/>
          </a:ln>
        </p:spPr>
      </p:sp>
      <p:sp>
        <p:nvSpPr>
          <p:cNvPr id="35" name="Shape 33"/>
          <p:cNvSpPr/>
          <p:nvPr/>
        </p:nvSpPr>
        <p:spPr>
          <a:xfrm>
            <a:off x="1280160" y="4709160"/>
            <a:ext cx="4389120" cy="91"/>
          </a:xfrm>
          <a:prstGeom prst="line">
            <a:avLst/>
          </a:prstGeom>
          <a:noFill/>
          <a:ln w="19050">
            <a:solidFill>
              <a:srgbClr val="1A2340"/>
            </a:solidFill>
            <a:prstDash val="solid"/>
          </a:ln>
        </p:spPr>
      </p:sp>
      <p:sp>
        <p:nvSpPr>
          <p:cNvPr id="36" name="Shape 34"/>
          <p:cNvSpPr/>
          <p:nvPr/>
        </p:nvSpPr>
        <p:spPr>
          <a:xfrm flipV="1">
            <a:off x="1280160" y="1463040"/>
            <a:ext cx="91" cy="3246120"/>
          </a:xfrm>
          <a:prstGeom prst="line">
            <a:avLst/>
          </a:prstGeom>
          <a:noFill/>
          <a:ln w="19050">
            <a:solidFill>
              <a:srgbClr val="1A2340"/>
            </a:solidFill>
            <a:prstDash val="solid"/>
          </a:ln>
        </p:spPr>
      </p:sp>
      <p:sp>
        <p:nvSpPr>
          <p:cNvPr id="37" name="Shape 35"/>
          <p:cNvSpPr/>
          <p:nvPr/>
        </p:nvSpPr>
        <p:spPr>
          <a:xfrm>
            <a:off x="1280160" y="4709160"/>
            <a:ext cx="91" cy="54864"/>
          </a:xfrm>
          <a:prstGeom prst="line">
            <a:avLst/>
          </a:prstGeom>
          <a:noFill/>
          <a:ln w="12700">
            <a:solidFill>
              <a:srgbClr val="1A2340"/>
            </a:solidFill>
            <a:prstDash val="solid"/>
          </a:ln>
        </p:spPr>
      </p:sp>
      <p:sp>
        <p:nvSpPr>
          <p:cNvPr id="38" name="Text 36"/>
          <p:cNvSpPr/>
          <p:nvPr/>
        </p:nvSpPr>
        <p:spPr>
          <a:xfrm>
            <a:off x="10058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9" name="Shape 37"/>
          <p:cNvSpPr/>
          <p:nvPr/>
        </p:nvSpPr>
        <p:spPr>
          <a:xfrm>
            <a:off x="2011680" y="4709160"/>
            <a:ext cx="91" cy="54864"/>
          </a:xfrm>
          <a:prstGeom prst="line">
            <a:avLst/>
          </a:prstGeom>
          <a:noFill/>
          <a:ln w="12700">
            <a:solidFill>
              <a:srgbClr val="1A2340"/>
            </a:solidFill>
            <a:prstDash val="solid"/>
          </a:ln>
        </p:spPr>
      </p:sp>
      <p:sp>
        <p:nvSpPr>
          <p:cNvPr id="40" name="Text 38"/>
          <p:cNvSpPr/>
          <p:nvPr/>
        </p:nvSpPr>
        <p:spPr>
          <a:xfrm>
            <a:off x="17373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41" name="Shape 39"/>
          <p:cNvSpPr/>
          <p:nvPr/>
        </p:nvSpPr>
        <p:spPr>
          <a:xfrm>
            <a:off x="2743200" y="4709160"/>
            <a:ext cx="91" cy="54864"/>
          </a:xfrm>
          <a:prstGeom prst="line">
            <a:avLst/>
          </a:prstGeom>
          <a:noFill/>
          <a:ln w="12700">
            <a:solidFill>
              <a:srgbClr val="1A2340"/>
            </a:solidFill>
            <a:prstDash val="solid"/>
          </a:ln>
        </p:spPr>
      </p:sp>
      <p:sp>
        <p:nvSpPr>
          <p:cNvPr id="42" name="Text 40"/>
          <p:cNvSpPr/>
          <p:nvPr/>
        </p:nvSpPr>
        <p:spPr>
          <a:xfrm>
            <a:off x="24688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43" name="Shape 41"/>
          <p:cNvSpPr/>
          <p:nvPr/>
        </p:nvSpPr>
        <p:spPr>
          <a:xfrm>
            <a:off x="3474720" y="4709160"/>
            <a:ext cx="91" cy="54864"/>
          </a:xfrm>
          <a:prstGeom prst="line">
            <a:avLst/>
          </a:prstGeom>
          <a:noFill/>
          <a:ln w="12700">
            <a:solidFill>
              <a:srgbClr val="1A2340"/>
            </a:solidFill>
            <a:prstDash val="solid"/>
          </a:ln>
        </p:spPr>
      </p:sp>
      <p:sp>
        <p:nvSpPr>
          <p:cNvPr id="44" name="Text 42"/>
          <p:cNvSpPr/>
          <p:nvPr/>
        </p:nvSpPr>
        <p:spPr>
          <a:xfrm>
            <a:off x="32004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45" name="Shape 43"/>
          <p:cNvSpPr/>
          <p:nvPr/>
        </p:nvSpPr>
        <p:spPr>
          <a:xfrm>
            <a:off x="4206240" y="4709160"/>
            <a:ext cx="91" cy="54864"/>
          </a:xfrm>
          <a:prstGeom prst="line">
            <a:avLst/>
          </a:prstGeom>
          <a:noFill/>
          <a:ln w="12700">
            <a:solidFill>
              <a:srgbClr val="1A2340"/>
            </a:solidFill>
            <a:prstDash val="solid"/>
          </a:ln>
        </p:spPr>
      </p:sp>
      <p:sp>
        <p:nvSpPr>
          <p:cNvPr id="46" name="Text 44"/>
          <p:cNvSpPr/>
          <p:nvPr/>
        </p:nvSpPr>
        <p:spPr>
          <a:xfrm>
            <a:off x="39319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7" name="Shape 45"/>
          <p:cNvSpPr/>
          <p:nvPr/>
        </p:nvSpPr>
        <p:spPr>
          <a:xfrm>
            <a:off x="4937760" y="4709160"/>
            <a:ext cx="91" cy="54864"/>
          </a:xfrm>
          <a:prstGeom prst="line">
            <a:avLst/>
          </a:prstGeom>
          <a:noFill/>
          <a:ln w="12700">
            <a:solidFill>
              <a:srgbClr val="1A2340"/>
            </a:solidFill>
            <a:prstDash val="solid"/>
          </a:ln>
        </p:spPr>
      </p:sp>
      <p:sp>
        <p:nvSpPr>
          <p:cNvPr id="48" name="Text 46"/>
          <p:cNvSpPr/>
          <p:nvPr/>
        </p:nvSpPr>
        <p:spPr>
          <a:xfrm>
            <a:off x="46634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49" name="Shape 47"/>
          <p:cNvSpPr/>
          <p:nvPr/>
        </p:nvSpPr>
        <p:spPr>
          <a:xfrm>
            <a:off x="5669280" y="4709160"/>
            <a:ext cx="91" cy="54864"/>
          </a:xfrm>
          <a:prstGeom prst="line">
            <a:avLst/>
          </a:prstGeom>
          <a:noFill/>
          <a:ln w="12700">
            <a:solidFill>
              <a:srgbClr val="1A2340"/>
            </a:solidFill>
            <a:prstDash val="solid"/>
          </a:ln>
        </p:spPr>
      </p:sp>
      <p:sp>
        <p:nvSpPr>
          <p:cNvPr id="50" name="Text 48"/>
          <p:cNvSpPr/>
          <p:nvPr/>
        </p:nvSpPr>
        <p:spPr>
          <a:xfrm>
            <a:off x="53949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51" name="Shape 49"/>
          <p:cNvSpPr/>
          <p:nvPr/>
        </p:nvSpPr>
        <p:spPr>
          <a:xfrm>
            <a:off x="1225296" y="4709160"/>
            <a:ext cx="54864" cy="91"/>
          </a:xfrm>
          <a:prstGeom prst="line">
            <a:avLst/>
          </a:prstGeom>
          <a:noFill/>
          <a:ln w="12700">
            <a:solidFill>
              <a:srgbClr val="1A2340"/>
            </a:solidFill>
            <a:prstDash val="solid"/>
          </a:ln>
        </p:spPr>
      </p:sp>
      <p:sp>
        <p:nvSpPr>
          <p:cNvPr id="52" name="Text 50"/>
          <p:cNvSpPr/>
          <p:nvPr/>
        </p:nvSpPr>
        <p:spPr>
          <a:xfrm>
            <a:off x="84124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3" name="Shape 51"/>
          <p:cNvSpPr/>
          <p:nvPr/>
        </p:nvSpPr>
        <p:spPr>
          <a:xfrm>
            <a:off x="1225296" y="4059936"/>
            <a:ext cx="54864" cy="91"/>
          </a:xfrm>
          <a:prstGeom prst="line">
            <a:avLst/>
          </a:prstGeom>
          <a:noFill/>
          <a:ln w="12700">
            <a:solidFill>
              <a:srgbClr val="1A2340"/>
            </a:solidFill>
            <a:prstDash val="solid"/>
          </a:ln>
        </p:spPr>
      </p:sp>
      <p:sp>
        <p:nvSpPr>
          <p:cNvPr id="54" name="Text 52"/>
          <p:cNvSpPr/>
          <p:nvPr/>
        </p:nvSpPr>
        <p:spPr>
          <a:xfrm>
            <a:off x="841248" y="396849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5" name="Shape 53"/>
          <p:cNvSpPr/>
          <p:nvPr/>
        </p:nvSpPr>
        <p:spPr>
          <a:xfrm>
            <a:off x="1225296" y="3410712"/>
            <a:ext cx="54864" cy="91"/>
          </a:xfrm>
          <a:prstGeom prst="line">
            <a:avLst/>
          </a:prstGeom>
          <a:noFill/>
          <a:ln w="12700">
            <a:solidFill>
              <a:srgbClr val="1A2340"/>
            </a:solidFill>
            <a:prstDash val="solid"/>
          </a:ln>
        </p:spPr>
      </p:sp>
      <p:sp>
        <p:nvSpPr>
          <p:cNvPr id="56" name="Text 54"/>
          <p:cNvSpPr/>
          <p:nvPr/>
        </p:nvSpPr>
        <p:spPr>
          <a:xfrm>
            <a:off x="841248" y="331927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57" name="Shape 55"/>
          <p:cNvSpPr/>
          <p:nvPr/>
        </p:nvSpPr>
        <p:spPr>
          <a:xfrm>
            <a:off x="1225296" y="2761488"/>
            <a:ext cx="54864" cy="91"/>
          </a:xfrm>
          <a:prstGeom prst="line">
            <a:avLst/>
          </a:prstGeom>
          <a:noFill/>
          <a:ln w="12700">
            <a:solidFill>
              <a:srgbClr val="1A2340"/>
            </a:solidFill>
            <a:prstDash val="solid"/>
          </a:ln>
        </p:spPr>
      </p:sp>
      <p:sp>
        <p:nvSpPr>
          <p:cNvPr id="58" name="Text 56"/>
          <p:cNvSpPr/>
          <p:nvPr/>
        </p:nvSpPr>
        <p:spPr>
          <a:xfrm>
            <a:off x="841248" y="267004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59" name="Shape 57"/>
          <p:cNvSpPr/>
          <p:nvPr/>
        </p:nvSpPr>
        <p:spPr>
          <a:xfrm>
            <a:off x="1225296" y="2112264"/>
            <a:ext cx="54864" cy="91"/>
          </a:xfrm>
          <a:prstGeom prst="line">
            <a:avLst/>
          </a:prstGeom>
          <a:noFill/>
          <a:ln w="12700">
            <a:solidFill>
              <a:srgbClr val="1A2340"/>
            </a:solidFill>
            <a:prstDash val="solid"/>
          </a:ln>
        </p:spPr>
      </p:sp>
      <p:sp>
        <p:nvSpPr>
          <p:cNvPr id="60" name="Text 58"/>
          <p:cNvSpPr/>
          <p:nvPr/>
        </p:nvSpPr>
        <p:spPr>
          <a:xfrm>
            <a:off x="841248" y="202082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61" name="Shape 59"/>
          <p:cNvSpPr/>
          <p:nvPr/>
        </p:nvSpPr>
        <p:spPr>
          <a:xfrm>
            <a:off x="1225296" y="1463040"/>
            <a:ext cx="54864" cy="91"/>
          </a:xfrm>
          <a:prstGeom prst="line">
            <a:avLst/>
          </a:prstGeom>
          <a:noFill/>
          <a:ln w="12700">
            <a:solidFill>
              <a:srgbClr val="1A2340"/>
            </a:solidFill>
            <a:prstDash val="solid"/>
          </a:ln>
        </p:spPr>
      </p:sp>
      <p:sp>
        <p:nvSpPr>
          <p:cNvPr id="62" name="Text 60"/>
          <p:cNvSpPr/>
          <p:nvPr/>
        </p:nvSpPr>
        <p:spPr>
          <a:xfrm>
            <a:off x="84124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500</a:t>
            </a:r>
            <a:endParaRPr lang="en-US" sz="1000" dirty="0"/>
          </a:p>
        </p:txBody>
      </p:sp>
      <p:sp>
        <p:nvSpPr>
          <p:cNvPr id="63" name="Text 61"/>
          <p:cNvSpPr/>
          <p:nvPr/>
        </p:nvSpPr>
        <p:spPr>
          <a:xfrm>
            <a:off x="128016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speed / m/s</a:t>
            </a:r>
            <a:endParaRPr lang="en-US" sz="1050" dirty="0"/>
          </a:p>
        </p:txBody>
      </p:sp>
      <p:sp>
        <p:nvSpPr>
          <p:cNvPr id="64" name="Text 62"/>
          <p:cNvSpPr/>
          <p:nvPr/>
        </p:nvSpPr>
        <p:spPr>
          <a:xfrm rot="16200000">
            <a:off x="-909828" y="2958084"/>
            <a:ext cx="3246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kinetic energy / kJ</a:t>
            </a:r>
            <a:endParaRPr lang="en-US" sz="1050" dirty="0"/>
          </a:p>
        </p:txBody>
      </p:sp>
      <p:sp>
        <p:nvSpPr>
          <p:cNvPr id="65" name="Shape 63"/>
          <p:cNvSpPr/>
          <p:nvPr/>
        </p:nvSpPr>
        <p:spPr>
          <a:xfrm flipV="1">
            <a:off x="1280160" y="4707334"/>
            <a:ext cx="109728" cy="1826"/>
          </a:xfrm>
          <a:prstGeom prst="line">
            <a:avLst/>
          </a:prstGeom>
          <a:noFill/>
          <a:ln w="31750">
            <a:solidFill>
              <a:srgbClr val="2E8B57"/>
            </a:solidFill>
            <a:prstDash val="solid"/>
          </a:ln>
        </p:spPr>
      </p:sp>
      <p:sp>
        <p:nvSpPr>
          <p:cNvPr id="66" name="Shape 64"/>
          <p:cNvSpPr/>
          <p:nvPr/>
        </p:nvSpPr>
        <p:spPr>
          <a:xfrm flipV="1">
            <a:off x="1389888" y="4701856"/>
            <a:ext cx="109728" cy="5478"/>
          </a:xfrm>
          <a:prstGeom prst="line">
            <a:avLst/>
          </a:prstGeom>
          <a:noFill/>
          <a:ln w="31750">
            <a:solidFill>
              <a:srgbClr val="2E8B57"/>
            </a:solidFill>
            <a:prstDash val="solid"/>
          </a:ln>
        </p:spPr>
      </p:sp>
      <p:sp>
        <p:nvSpPr>
          <p:cNvPr id="67" name="Shape 65"/>
          <p:cNvSpPr/>
          <p:nvPr/>
        </p:nvSpPr>
        <p:spPr>
          <a:xfrm flipV="1">
            <a:off x="1499616" y="4692727"/>
            <a:ext cx="109728" cy="9130"/>
          </a:xfrm>
          <a:prstGeom prst="line">
            <a:avLst/>
          </a:prstGeom>
          <a:noFill/>
          <a:ln w="31750">
            <a:solidFill>
              <a:srgbClr val="2E8B57"/>
            </a:solidFill>
            <a:prstDash val="solid"/>
          </a:ln>
        </p:spPr>
      </p:sp>
      <p:sp>
        <p:nvSpPr>
          <p:cNvPr id="68" name="Shape 66"/>
          <p:cNvSpPr/>
          <p:nvPr/>
        </p:nvSpPr>
        <p:spPr>
          <a:xfrm flipV="1">
            <a:off x="1609344" y="4679945"/>
            <a:ext cx="109728" cy="12782"/>
          </a:xfrm>
          <a:prstGeom prst="line">
            <a:avLst/>
          </a:prstGeom>
          <a:noFill/>
          <a:ln w="31750">
            <a:solidFill>
              <a:srgbClr val="2E8B57"/>
            </a:solidFill>
            <a:prstDash val="solid"/>
          </a:ln>
        </p:spPr>
      </p:sp>
      <p:sp>
        <p:nvSpPr>
          <p:cNvPr id="69" name="Shape 67"/>
          <p:cNvSpPr/>
          <p:nvPr/>
        </p:nvSpPr>
        <p:spPr>
          <a:xfrm flipV="1">
            <a:off x="1719072" y="4663511"/>
            <a:ext cx="109728" cy="16433"/>
          </a:xfrm>
          <a:prstGeom prst="line">
            <a:avLst/>
          </a:prstGeom>
          <a:noFill/>
          <a:ln w="31750">
            <a:solidFill>
              <a:srgbClr val="2E8B57"/>
            </a:solidFill>
            <a:prstDash val="solid"/>
          </a:ln>
        </p:spPr>
      </p:sp>
      <p:sp>
        <p:nvSpPr>
          <p:cNvPr id="70" name="Shape 68"/>
          <p:cNvSpPr/>
          <p:nvPr/>
        </p:nvSpPr>
        <p:spPr>
          <a:xfrm flipV="1">
            <a:off x="1828800" y="4643426"/>
            <a:ext cx="109728" cy="20085"/>
          </a:xfrm>
          <a:prstGeom prst="line">
            <a:avLst/>
          </a:prstGeom>
          <a:noFill/>
          <a:ln w="31750">
            <a:solidFill>
              <a:srgbClr val="2E8B57"/>
            </a:solidFill>
            <a:prstDash val="solid"/>
          </a:ln>
        </p:spPr>
      </p:sp>
      <p:sp>
        <p:nvSpPr>
          <p:cNvPr id="71" name="Shape 69"/>
          <p:cNvSpPr/>
          <p:nvPr/>
        </p:nvSpPr>
        <p:spPr>
          <a:xfrm flipV="1">
            <a:off x="1938528" y="4619689"/>
            <a:ext cx="109728" cy="23737"/>
          </a:xfrm>
          <a:prstGeom prst="line">
            <a:avLst/>
          </a:prstGeom>
          <a:noFill/>
          <a:ln w="31750">
            <a:solidFill>
              <a:srgbClr val="2E8B57"/>
            </a:solidFill>
            <a:prstDash val="solid"/>
          </a:ln>
        </p:spPr>
      </p:sp>
      <p:sp>
        <p:nvSpPr>
          <p:cNvPr id="72" name="Shape 70"/>
          <p:cNvSpPr/>
          <p:nvPr/>
        </p:nvSpPr>
        <p:spPr>
          <a:xfrm flipV="1">
            <a:off x="2048256" y="4592300"/>
            <a:ext cx="109728" cy="27389"/>
          </a:xfrm>
          <a:prstGeom prst="line">
            <a:avLst/>
          </a:prstGeom>
          <a:noFill/>
          <a:ln w="31750">
            <a:solidFill>
              <a:srgbClr val="2E8B57"/>
            </a:solidFill>
            <a:prstDash val="solid"/>
          </a:ln>
        </p:spPr>
      </p:sp>
      <p:sp>
        <p:nvSpPr>
          <p:cNvPr id="73" name="Shape 71"/>
          <p:cNvSpPr/>
          <p:nvPr/>
        </p:nvSpPr>
        <p:spPr>
          <a:xfrm flipV="1">
            <a:off x="2157984" y="4561259"/>
            <a:ext cx="109728" cy="31041"/>
          </a:xfrm>
          <a:prstGeom prst="line">
            <a:avLst/>
          </a:prstGeom>
          <a:noFill/>
          <a:ln w="31750">
            <a:solidFill>
              <a:srgbClr val="2E8B57"/>
            </a:solidFill>
            <a:prstDash val="solid"/>
          </a:ln>
        </p:spPr>
      </p:sp>
      <p:sp>
        <p:nvSpPr>
          <p:cNvPr id="74" name="Shape 72"/>
          <p:cNvSpPr/>
          <p:nvPr/>
        </p:nvSpPr>
        <p:spPr>
          <a:xfrm flipV="1">
            <a:off x="2267712" y="4526566"/>
            <a:ext cx="109728" cy="34693"/>
          </a:xfrm>
          <a:prstGeom prst="line">
            <a:avLst/>
          </a:prstGeom>
          <a:noFill/>
          <a:ln w="31750">
            <a:solidFill>
              <a:srgbClr val="2E8B57"/>
            </a:solidFill>
            <a:prstDash val="solid"/>
          </a:ln>
        </p:spPr>
      </p:sp>
      <p:sp>
        <p:nvSpPr>
          <p:cNvPr id="75" name="Shape 73"/>
          <p:cNvSpPr/>
          <p:nvPr/>
        </p:nvSpPr>
        <p:spPr>
          <a:xfrm flipV="1">
            <a:off x="2377440" y="4488221"/>
            <a:ext cx="109728" cy="38345"/>
          </a:xfrm>
          <a:prstGeom prst="line">
            <a:avLst/>
          </a:prstGeom>
          <a:noFill/>
          <a:ln w="31750">
            <a:solidFill>
              <a:srgbClr val="2E8B57"/>
            </a:solidFill>
            <a:prstDash val="solid"/>
          </a:ln>
        </p:spPr>
      </p:sp>
      <p:sp>
        <p:nvSpPr>
          <p:cNvPr id="76" name="Shape 74"/>
          <p:cNvSpPr/>
          <p:nvPr/>
        </p:nvSpPr>
        <p:spPr>
          <a:xfrm flipV="1">
            <a:off x="2487168" y="4446224"/>
            <a:ext cx="109728" cy="41997"/>
          </a:xfrm>
          <a:prstGeom prst="line">
            <a:avLst/>
          </a:prstGeom>
          <a:noFill/>
          <a:ln w="31750">
            <a:solidFill>
              <a:srgbClr val="2E8B57"/>
            </a:solidFill>
            <a:prstDash val="solid"/>
          </a:ln>
        </p:spPr>
      </p:sp>
      <p:sp>
        <p:nvSpPr>
          <p:cNvPr id="77" name="Shape 75"/>
          <p:cNvSpPr/>
          <p:nvPr/>
        </p:nvSpPr>
        <p:spPr>
          <a:xfrm flipV="1">
            <a:off x="2596896" y="4400576"/>
            <a:ext cx="109728" cy="45649"/>
          </a:xfrm>
          <a:prstGeom prst="line">
            <a:avLst/>
          </a:prstGeom>
          <a:noFill/>
          <a:ln w="31750">
            <a:solidFill>
              <a:srgbClr val="2E8B57"/>
            </a:solidFill>
            <a:prstDash val="solid"/>
          </a:ln>
        </p:spPr>
      </p:sp>
      <p:sp>
        <p:nvSpPr>
          <p:cNvPr id="78" name="Shape 76"/>
          <p:cNvSpPr/>
          <p:nvPr/>
        </p:nvSpPr>
        <p:spPr>
          <a:xfrm flipV="1">
            <a:off x="2706624" y="4351275"/>
            <a:ext cx="109728" cy="49300"/>
          </a:xfrm>
          <a:prstGeom prst="line">
            <a:avLst/>
          </a:prstGeom>
          <a:noFill/>
          <a:ln w="31750">
            <a:solidFill>
              <a:srgbClr val="2E8B57"/>
            </a:solidFill>
            <a:prstDash val="solid"/>
          </a:ln>
        </p:spPr>
      </p:sp>
      <p:sp>
        <p:nvSpPr>
          <p:cNvPr id="79" name="Shape 77"/>
          <p:cNvSpPr/>
          <p:nvPr/>
        </p:nvSpPr>
        <p:spPr>
          <a:xfrm flipV="1">
            <a:off x="2816352" y="4298323"/>
            <a:ext cx="109728" cy="52952"/>
          </a:xfrm>
          <a:prstGeom prst="line">
            <a:avLst/>
          </a:prstGeom>
          <a:noFill/>
          <a:ln w="31750">
            <a:solidFill>
              <a:srgbClr val="2E8B57"/>
            </a:solidFill>
            <a:prstDash val="solid"/>
          </a:ln>
        </p:spPr>
      </p:sp>
      <p:sp>
        <p:nvSpPr>
          <p:cNvPr id="80" name="Shape 78"/>
          <p:cNvSpPr/>
          <p:nvPr/>
        </p:nvSpPr>
        <p:spPr>
          <a:xfrm flipV="1">
            <a:off x="2926080" y="4241719"/>
            <a:ext cx="109728" cy="56604"/>
          </a:xfrm>
          <a:prstGeom prst="line">
            <a:avLst/>
          </a:prstGeom>
          <a:noFill/>
          <a:ln w="31750">
            <a:solidFill>
              <a:srgbClr val="2E8B57"/>
            </a:solidFill>
            <a:prstDash val="solid"/>
          </a:ln>
        </p:spPr>
      </p:sp>
      <p:sp>
        <p:nvSpPr>
          <p:cNvPr id="81" name="Shape 79"/>
          <p:cNvSpPr/>
          <p:nvPr/>
        </p:nvSpPr>
        <p:spPr>
          <a:xfrm flipV="1">
            <a:off x="3035808" y="4181463"/>
            <a:ext cx="109728" cy="60256"/>
          </a:xfrm>
          <a:prstGeom prst="line">
            <a:avLst/>
          </a:prstGeom>
          <a:noFill/>
          <a:ln w="31750">
            <a:solidFill>
              <a:srgbClr val="2E8B57"/>
            </a:solidFill>
            <a:prstDash val="solid"/>
          </a:ln>
        </p:spPr>
      </p:sp>
      <p:sp>
        <p:nvSpPr>
          <p:cNvPr id="82" name="Shape 80"/>
          <p:cNvSpPr/>
          <p:nvPr/>
        </p:nvSpPr>
        <p:spPr>
          <a:xfrm flipV="1">
            <a:off x="3145536" y="4117555"/>
            <a:ext cx="109728" cy="63908"/>
          </a:xfrm>
          <a:prstGeom prst="line">
            <a:avLst/>
          </a:prstGeom>
          <a:noFill/>
          <a:ln w="31750">
            <a:solidFill>
              <a:srgbClr val="2E8B57"/>
            </a:solidFill>
            <a:prstDash val="solid"/>
          </a:ln>
        </p:spPr>
      </p:sp>
      <p:sp>
        <p:nvSpPr>
          <p:cNvPr id="83" name="Shape 81"/>
          <p:cNvSpPr/>
          <p:nvPr/>
        </p:nvSpPr>
        <p:spPr>
          <a:xfrm flipV="1">
            <a:off x="3255264" y="4049995"/>
            <a:ext cx="109728" cy="67560"/>
          </a:xfrm>
          <a:prstGeom prst="line">
            <a:avLst/>
          </a:prstGeom>
          <a:noFill/>
          <a:ln w="31750">
            <a:solidFill>
              <a:srgbClr val="2E8B57"/>
            </a:solidFill>
            <a:prstDash val="solid"/>
          </a:ln>
        </p:spPr>
      </p:sp>
      <p:sp>
        <p:nvSpPr>
          <p:cNvPr id="84" name="Shape 82"/>
          <p:cNvSpPr/>
          <p:nvPr/>
        </p:nvSpPr>
        <p:spPr>
          <a:xfrm flipV="1">
            <a:off x="3364992" y="3978783"/>
            <a:ext cx="109728" cy="71212"/>
          </a:xfrm>
          <a:prstGeom prst="line">
            <a:avLst/>
          </a:prstGeom>
          <a:noFill/>
          <a:ln w="31750">
            <a:solidFill>
              <a:srgbClr val="2E8B57"/>
            </a:solidFill>
            <a:prstDash val="solid"/>
          </a:ln>
        </p:spPr>
      </p:sp>
      <p:sp>
        <p:nvSpPr>
          <p:cNvPr id="85" name="Shape 83"/>
          <p:cNvSpPr/>
          <p:nvPr/>
        </p:nvSpPr>
        <p:spPr>
          <a:xfrm flipV="1">
            <a:off x="3474720" y="3903919"/>
            <a:ext cx="109728" cy="74864"/>
          </a:xfrm>
          <a:prstGeom prst="line">
            <a:avLst/>
          </a:prstGeom>
          <a:noFill/>
          <a:ln w="31750">
            <a:solidFill>
              <a:srgbClr val="2E8B57"/>
            </a:solidFill>
            <a:prstDash val="solid"/>
          </a:ln>
        </p:spPr>
      </p:sp>
      <p:sp>
        <p:nvSpPr>
          <p:cNvPr id="86" name="Shape 84"/>
          <p:cNvSpPr/>
          <p:nvPr/>
        </p:nvSpPr>
        <p:spPr>
          <a:xfrm flipV="1">
            <a:off x="3584448" y="3825404"/>
            <a:ext cx="109728" cy="78516"/>
          </a:xfrm>
          <a:prstGeom prst="line">
            <a:avLst/>
          </a:prstGeom>
          <a:noFill/>
          <a:ln w="31750">
            <a:solidFill>
              <a:srgbClr val="2E8B57"/>
            </a:solidFill>
            <a:prstDash val="solid"/>
          </a:ln>
        </p:spPr>
      </p:sp>
      <p:sp>
        <p:nvSpPr>
          <p:cNvPr id="87" name="Shape 85"/>
          <p:cNvSpPr/>
          <p:nvPr/>
        </p:nvSpPr>
        <p:spPr>
          <a:xfrm flipV="1">
            <a:off x="3694176" y="3743236"/>
            <a:ext cx="109728" cy="82167"/>
          </a:xfrm>
          <a:prstGeom prst="line">
            <a:avLst/>
          </a:prstGeom>
          <a:noFill/>
          <a:ln w="31750">
            <a:solidFill>
              <a:srgbClr val="2E8B57"/>
            </a:solidFill>
            <a:prstDash val="solid"/>
          </a:ln>
        </p:spPr>
      </p:sp>
      <p:sp>
        <p:nvSpPr>
          <p:cNvPr id="88" name="Shape 86"/>
          <p:cNvSpPr/>
          <p:nvPr/>
        </p:nvSpPr>
        <p:spPr>
          <a:xfrm flipV="1">
            <a:off x="3803904" y="3657417"/>
            <a:ext cx="109728" cy="85819"/>
          </a:xfrm>
          <a:prstGeom prst="line">
            <a:avLst/>
          </a:prstGeom>
          <a:noFill/>
          <a:ln w="31750">
            <a:solidFill>
              <a:srgbClr val="2E8B57"/>
            </a:solidFill>
            <a:prstDash val="solid"/>
          </a:ln>
        </p:spPr>
      </p:sp>
      <p:sp>
        <p:nvSpPr>
          <p:cNvPr id="89" name="Shape 87"/>
          <p:cNvSpPr/>
          <p:nvPr/>
        </p:nvSpPr>
        <p:spPr>
          <a:xfrm flipV="1">
            <a:off x="3913632" y="3567946"/>
            <a:ext cx="109728" cy="89471"/>
          </a:xfrm>
          <a:prstGeom prst="line">
            <a:avLst/>
          </a:prstGeom>
          <a:noFill/>
          <a:ln w="31750">
            <a:solidFill>
              <a:srgbClr val="2E8B57"/>
            </a:solidFill>
            <a:prstDash val="solid"/>
          </a:ln>
        </p:spPr>
      </p:sp>
      <p:sp>
        <p:nvSpPr>
          <p:cNvPr id="90" name="Shape 88"/>
          <p:cNvSpPr/>
          <p:nvPr/>
        </p:nvSpPr>
        <p:spPr>
          <a:xfrm flipV="1">
            <a:off x="4023360" y="3474823"/>
            <a:ext cx="109728" cy="93123"/>
          </a:xfrm>
          <a:prstGeom prst="line">
            <a:avLst/>
          </a:prstGeom>
          <a:noFill/>
          <a:ln w="31750">
            <a:solidFill>
              <a:srgbClr val="2E8B57"/>
            </a:solidFill>
            <a:prstDash val="solid"/>
          </a:ln>
        </p:spPr>
      </p:sp>
      <p:sp>
        <p:nvSpPr>
          <p:cNvPr id="91" name="Shape 89"/>
          <p:cNvSpPr/>
          <p:nvPr/>
        </p:nvSpPr>
        <p:spPr>
          <a:xfrm flipV="1">
            <a:off x="4133088" y="3378048"/>
            <a:ext cx="109728" cy="96775"/>
          </a:xfrm>
          <a:prstGeom prst="line">
            <a:avLst/>
          </a:prstGeom>
          <a:noFill/>
          <a:ln w="31750">
            <a:solidFill>
              <a:srgbClr val="2E8B57"/>
            </a:solidFill>
            <a:prstDash val="solid"/>
          </a:ln>
        </p:spPr>
      </p:sp>
      <p:sp>
        <p:nvSpPr>
          <p:cNvPr id="92" name="Shape 90"/>
          <p:cNvSpPr/>
          <p:nvPr/>
        </p:nvSpPr>
        <p:spPr>
          <a:xfrm flipV="1">
            <a:off x="4242816" y="3277621"/>
            <a:ext cx="109728" cy="100427"/>
          </a:xfrm>
          <a:prstGeom prst="line">
            <a:avLst/>
          </a:prstGeom>
          <a:noFill/>
          <a:ln w="31750">
            <a:solidFill>
              <a:srgbClr val="2E8B57"/>
            </a:solidFill>
            <a:prstDash val="solid"/>
          </a:ln>
        </p:spPr>
      </p:sp>
      <p:sp>
        <p:nvSpPr>
          <p:cNvPr id="93" name="Shape 91"/>
          <p:cNvSpPr/>
          <p:nvPr/>
        </p:nvSpPr>
        <p:spPr>
          <a:xfrm flipV="1">
            <a:off x="4352544" y="3173542"/>
            <a:ext cx="109728" cy="104079"/>
          </a:xfrm>
          <a:prstGeom prst="line">
            <a:avLst/>
          </a:prstGeom>
          <a:noFill/>
          <a:ln w="31750">
            <a:solidFill>
              <a:srgbClr val="2E8B57"/>
            </a:solidFill>
            <a:prstDash val="solid"/>
          </a:ln>
        </p:spPr>
      </p:sp>
      <p:sp>
        <p:nvSpPr>
          <p:cNvPr id="94" name="Shape 92"/>
          <p:cNvSpPr/>
          <p:nvPr/>
        </p:nvSpPr>
        <p:spPr>
          <a:xfrm flipV="1">
            <a:off x="4462272" y="3065812"/>
            <a:ext cx="109728" cy="107731"/>
          </a:xfrm>
          <a:prstGeom prst="line">
            <a:avLst/>
          </a:prstGeom>
          <a:noFill/>
          <a:ln w="31750">
            <a:solidFill>
              <a:srgbClr val="2E8B57"/>
            </a:solidFill>
            <a:prstDash val="solid"/>
          </a:ln>
        </p:spPr>
      </p:sp>
      <p:sp>
        <p:nvSpPr>
          <p:cNvPr id="95" name="Shape 93"/>
          <p:cNvSpPr/>
          <p:nvPr/>
        </p:nvSpPr>
        <p:spPr>
          <a:xfrm flipV="1">
            <a:off x="4572000" y="2954429"/>
            <a:ext cx="109728" cy="111382"/>
          </a:xfrm>
          <a:prstGeom prst="line">
            <a:avLst/>
          </a:prstGeom>
          <a:noFill/>
          <a:ln w="31750">
            <a:solidFill>
              <a:srgbClr val="2E8B57"/>
            </a:solidFill>
            <a:prstDash val="solid"/>
          </a:ln>
        </p:spPr>
      </p:sp>
      <p:sp>
        <p:nvSpPr>
          <p:cNvPr id="96" name="Shape 94"/>
          <p:cNvSpPr/>
          <p:nvPr/>
        </p:nvSpPr>
        <p:spPr>
          <a:xfrm flipV="1">
            <a:off x="4681728" y="2839395"/>
            <a:ext cx="109728" cy="115034"/>
          </a:xfrm>
          <a:prstGeom prst="line">
            <a:avLst/>
          </a:prstGeom>
          <a:noFill/>
          <a:ln w="31750">
            <a:solidFill>
              <a:srgbClr val="2E8B57"/>
            </a:solidFill>
            <a:prstDash val="solid"/>
          </a:ln>
        </p:spPr>
      </p:sp>
      <p:sp>
        <p:nvSpPr>
          <p:cNvPr id="97" name="Shape 95"/>
          <p:cNvSpPr/>
          <p:nvPr/>
        </p:nvSpPr>
        <p:spPr>
          <a:xfrm flipV="1">
            <a:off x="4791456" y="2720709"/>
            <a:ext cx="109728" cy="118686"/>
          </a:xfrm>
          <a:prstGeom prst="line">
            <a:avLst/>
          </a:prstGeom>
          <a:noFill/>
          <a:ln w="31750">
            <a:solidFill>
              <a:srgbClr val="2E8B57"/>
            </a:solidFill>
            <a:prstDash val="solid"/>
          </a:ln>
        </p:spPr>
      </p:sp>
      <p:sp>
        <p:nvSpPr>
          <p:cNvPr id="98" name="Shape 96"/>
          <p:cNvSpPr/>
          <p:nvPr/>
        </p:nvSpPr>
        <p:spPr>
          <a:xfrm flipV="1">
            <a:off x="4901184" y="2598370"/>
            <a:ext cx="109728" cy="122338"/>
          </a:xfrm>
          <a:prstGeom prst="line">
            <a:avLst/>
          </a:prstGeom>
          <a:noFill/>
          <a:ln w="31750">
            <a:solidFill>
              <a:srgbClr val="2E8B57"/>
            </a:solidFill>
            <a:prstDash val="solid"/>
          </a:ln>
        </p:spPr>
      </p:sp>
      <p:sp>
        <p:nvSpPr>
          <p:cNvPr id="99" name="Shape 97"/>
          <p:cNvSpPr/>
          <p:nvPr/>
        </p:nvSpPr>
        <p:spPr>
          <a:xfrm flipV="1">
            <a:off x="5010912" y="2472380"/>
            <a:ext cx="109728" cy="125990"/>
          </a:xfrm>
          <a:prstGeom prst="line">
            <a:avLst/>
          </a:prstGeom>
          <a:noFill/>
          <a:ln w="31750">
            <a:solidFill>
              <a:srgbClr val="2E8B57"/>
            </a:solidFill>
            <a:prstDash val="solid"/>
          </a:ln>
        </p:spPr>
      </p:sp>
      <p:sp>
        <p:nvSpPr>
          <p:cNvPr id="100" name="Shape 98"/>
          <p:cNvSpPr/>
          <p:nvPr/>
        </p:nvSpPr>
        <p:spPr>
          <a:xfrm flipV="1">
            <a:off x="5120640" y="2342739"/>
            <a:ext cx="109728" cy="129642"/>
          </a:xfrm>
          <a:prstGeom prst="line">
            <a:avLst/>
          </a:prstGeom>
          <a:noFill/>
          <a:ln w="31750">
            <a:solidFill>
              <a:srgbClr val="2E8B57"/>
            </a:solidFill>
            <a:prstDash val="solid"/>
          </a:ln>
        </p:spPr>
      </p:sp>
      <p:sp>
        <p:nvSpPr>
          <p:cNvPr id="101" name="Shape 99"/>
          <p:cNvSpPr/>
          <p:nvPr/>
        </p:nvSpPr>
        <p:spPr>
          <a:xfrm flipV="1">
            <a:off x="5230368" y="2209445"/>
            <a:ext cx="109728" cy="133294"/>
          </a:xfrm>
          <a:prstGeom prst="line">
            <a:avLst/>
          </a:prstGeom>
          <a:noFill/>
          <a:ln w="31750">
            <a:solidFill>
              <a:srgbClr val="2E8B57"/>
            </a:solidFill>
            <a:prstDash val="solid"/>
          </a:ln>
        </p:spPr>
      </p:sp>
      <p:sp>
        <p:nvSpPr>
          <p:cNvPr id="102" name="Shape 100"/>
          <p:cNvSpPr/>
          <p:nvPr/>
        </p:nvSpPr>
        <p:spPr>
          <a:xfrm flipV="1">
            <a:off x="5340096" y="2072499"/>
            <a:ext cx="109728" cy="136946"/>
          </a:xfrm>
          <a:prstGeom prst="line">
            <a:avLst/>
          </a:prstGeom>
          <a:noFill/>
          <a:ln w="31750">
            <a:solidFill>
              <a:srgbClr val="2E8B57"/>
            </a:solidFill>
            <a:prstDash val="solid"/>
          </a:ln>
        </p:spPr>
      </p:sp>
      <p:sp>
        <p:nvSpPr>
          <p:cNvPr id="103" name="Shape 101"/>
          <p:cNvSpPr/>
          <p:nvPr/>
        </p:nvSpPr>
        <p:spPr>
          <a:xfrm flipV="1">
            <a:off x="5449824" y="1931901"/>
            <a:ext cx="109728" cy="140598"/>
          </a:xfrm>
          <a:prstGeom prst="line">
            <a:avLst/>
          </a:prstGeom>
          <a:noFill/>
          <a:ln w="31750">
            <a:solidFill>
              <a:srgbClr val="2E8B57"/>
            </a:solidFill>
            <a:prstDash val="solid"/>
          </a:ln>
        </p:spPr>
      </p:sp>
      <p:sp>
        <p:nvSpPr>
          <p:cNvPr id="104" name="Shape 102"/>
          <p:cNvSpPr/>
          <p:nvPr/>
        </p:nvSpPr>
        <p:spPr>
          <a:xfrm flipV="1">
            <a:off x="5559552" y="1787652"/>
            <a:ext cx="109728" cy="144249"/>
          </a:xfrm>
          <a:prstGeom prst="line">
            <a:avLst/>
          </a:prstGeom>
          <a:noFill/>
          <a:ln w="31750">
            <a:solidFill>
              <a:srgbClr val="2E8B57"/>
            </a:solidFill>
            <a:prstDash val="solid"/>
          </a:ln>
        </p:spPr>
      </p:sp>
      <p:sp>
        <p:nvSpPr>
          <p:cNvPr id="105" name="Shape 103"/>
          <p:cNvSpPr/>
          <p:nvPr/>
        </p:nvSpPr>
        <p:spPr>
          <a:xfrm flipV="1">
            <a:off x="2743200" y="4384548"/>
            <a:ext cx="91" cy="324612"/>
          </a:xfrm>
          <a:prstGeom prst="line">
            <a:avLst/>
          </a:prstGeom>
          <a:noFill/>
          <a:ln w="12700">
            <a:solidFill>
              <a:srgbClr val="2E5BD8"/>
            </a:solidFill>
            <a:prstDash val="dash"/>
          </a:ln>
        </p:spPr>
      </p:sp>
      <p:sp>
        <p:nvSpPr>
          <p:cNvPr id="106" name="Shape 104"/>
          <p:cNvSpPr/>
          <p:nvPr/>
        </p:nvSpPr>
        <p:spPr>
          <a:xfrm>
            <a:off x="1280160" y="4384548"/>
            <a:ext cx="1463040" cy="91"/>
          </a:xfrm>
          <a:prstGeom prst="line">
            <a:avLst/>
          </a:prstGeom>
          <a:noFill/>
          <a:ln w="12700">
            <a:solidFill>
              <a:srgbClr val="2E5BD8"/>
            </a:solidFill>
            <a:prstDash val="dash"/>
          </a:ln>
        </p:spPr>
      </p:sp>
      <p:sp>
        <p:nvSpPr>
          <p:cNvPr id="107" name="Shape 105"/>
          <p:cNvSpPr/>
          <p:nvPr/>
        </p:nvSpPr>
        <p:spPr>
          <a:xfrm>
            <a:off x="2688336" y="4329684"/>
            <a:ext cx="109728" cy="109728"/>
          </a:xfrm>
          <a:prstGeom prst="ellipse">
            <a:avLst/>
          </a:prstGeom>
          <a:solidFill>
            <a:srgbClr val="2E5BD8"/>
          </a:solidFill>
          <a:ln w="12700">
            <a:solidFill>
              <a:srgbClr val="2E5BD8"/>
            </a:solidFill>
            <a:prstDash val="solid"/>
          </a:ln>
        </p:spPr>
      </p:sp>
      <p:sp>
        <p:nvSpPr>
          <p:cNvPr id="108" name="Shape 106"/>
          <p:cNvSpPr/>
          <p:nvPr/>
        </p:nvSpPr>
        <p:spPr>
          <a:xfrm flipV="1">
            <a:off x="4206240" y="3410712"/>
            <a:ext cx="91" cy="1298448"/>
          </a:xfrm>
          <a:prstGeom prst="line">
            <a:avLst/>
          </a:prstGeom>
          <a:noFill/>
          <a:ln w="12700">
            <a:solidFill>
              <a:srgbClr val="2E5BD8"/>
            </a:solidFill>
            <a:prstDash val="dash"/>
          </a:ln>
        </p:spPr>
      </p:sp>
      <p:sp>
        <p:nvSpPr>
          <p:cNvPr id="109" name="Shape 107"/>
          <p:cNvSpPr/>
          <p:nvPr/>
        </p:nvSpPr>
        <p:spPr>
          <a:xfrm>
            <a:off x="1280160" y="3410712"/>
            <a:ext cx="2926080" cy="91"/>
          </a:xfrm>
          <a:prstGeom prst="line">
            <a:avLst/>
          </a:prstGeom>
          <a:noFill/>
          <a:ln w="12700">
            <a:solidFill>
              <a:srgbClr val="2E5BD8"/>
            </a:solidFill>
            <a:prstDash val="dash"/>
          </a:ln>
        </p:spPr>
      </p:sp>
      <p:sp>
        <p:nvSpPr>
          <p:cNvPr id="110" name="Shape 108"/>
          <p:cNvSpPr/>
          <p:nvPr/>
        </p:nvSpPr>
        <p:spPr>
          <a:xfrm>
            <a:off x="4151376" y="3355848"/>
            <a:ext cx="109728" cy="109728"/>
          </a:xfrm>
          <a:prstGeom prst="ellipse">
            <a:avLst/>
          </a:prstGeom>
          <a:solidFill>
            <a:srgbClr val="2E5BD8"/>
          </a:solidFill>
          <a:ln w="12700">
            <a:solidFill>
              <a:srgbClr val="2E5BD8"/>
            </a:solidFill>
            <a:prstDash val="solid"/>
          </a:ln>
        </p:spPr>
      </p:sp>
      <p:sp>
        <p:nvSpPr>
          <p:cNvPr id="111" name="Text 109"/>
          <p:cNvSpPr/>
          <p:nvPr/>
        </p:nvSpPr>
        <p:spPr>
          <a:xfrm>
            <a:off x="2816352" y="4110228"/>
            <a:ext cx="14630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10 m/s → 50 kJ</a:t>
            </a:r>
            <a:endParaRPr lang="en-US" sz="1050" dirty="0"/>
          </a:p>
        </p:txBody>
      </p:sp>
      <p:sp>
        <p:nvSpPr>
          <p:cNvPr id="112" name="Text 110"/>
          <p:cNvSpPr/>
          <p:nvPr/>
        </p:nvSpPr>
        <p:spPr>
          <a:xfrm>
            <a:off x="4279392" y="3429000"/>
            <a:ext cx="155448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20 m/s → 200 kJ</a:t>
            </a:r>
            <a:endParaRPr lang="en-US" sz="1050" dirty="0"/>
          </a:p>
        </p:txBody>
      </p:sp>
      <p:sp>
        <p:nvSpPr>
          <p:cNvPr id="113" name="Text 111"/>
          <p:cNvSpPr/>
          <p:nvPr/>
        </p:nvSpPr>
        <p:spPr>
          <a:xfrm>
            <a:off x="1371600" y="5166360"/>
            <a:ext cx="4206240" cy="219456"/>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double the speed → 4 × the kinetic energy</a:t>
            </a:r>
            <a:endParaRPr lang="en-US" sz="1100" dirty="0"/>
          </a:p>
        </p:txBody>
      </p:sp>
      <p:sp>
        <p:nvSpPr>
          <p:cNvPr id="114" name="Shape 11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15" name="Text 11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Kinetic energy</a:t>
            </a:r>
            <a:endParaRPr lang="en-US" sz="1300" dirty="0"/>
          </a:p>
        </p:txBody>
      </p:sp>
      <p:sp>
        <p:nvSpPr>
          <p:cNvPr id="116" name="Text 11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Every moving object has energy in its </a:t>
            </a:r>
            <a:r>
              <a:rPr lang="en-US" sz="1150" b="1" dirty="0">
                <a:solidFill>
                  <a:srgbClr val="262B3A"/>
                </a:solidFill>
                <a:latin typeface="Calibri" pitchFamily="34" charset="0"/>
                <a:ea typeface="Calibri" pitchFamily="34" charset="-122"/>
                <a:cs typeface="Calibri" pitchFamily="34" charset="-120"/>
              </a:rPr>
              <a:t>kinetic store</a:t>
            </a:r>
            <a:r>
              <a:rPr lang="en-US" sz="1150" dirty="0">
                <a:solidFill>
                  <a:srgbClr val="262B3A"/>
                </a:solidFill>
                <a:latin typeface="Calibri" pitchFamily="34" charset="0"/>
                <a:ea typeface="Calibri" pitchFamily="34" charset="-122"/>
                <a:cs typeface="Calibri" pitchFamily="34" charset="-120"/>
              </a:rPr>
              <a:t>.</a:t>
            </a:r>
            <a:endParaRPr lang="en-US" sz="1150" dirty="0"/>
          </a:p>
          <a:p>
            <a:pPr indent="0" marL="0">
              <a:spcAft>
                <a:spcPts val="300"/>
              </a:spcAft>
              <a:buNone/>
            </a:pPr>
            <a:r>
              <a:rPr lang="en-US" sz="1300" b="1" dirty="0">
                <a:solidFill>
                  <a:srgbClr val="2E5BD8"/>
                </a:solidFill>
                <a:latin typeface="Calibri" pitchFamily="34" charset="0"/>
                <a:ea typeface="Calibri" pitchFamily="34" charset="-122"/>
                <a:cs typeface="Calibri" pitchFamily="34" charset="-120"/>
              </a:rPr>
              <a:t>KE = ½ × m × v²</a:t>
            </a:r>
            <a:endParaRPr lang="en-US" sz="1150" dirty="0"/>
          </a:p>
          <a:p>
            <a:pPr indent="0" marL="0">
              <a:spcAft>
                <a:spcPts val="300"/>
              </a:spcAft>
              <a:buNone/>
            </a:pPr>
            <a:r>
              <a:rPr lang="en-US" sz="1050" dirty="0">
                <a:solidFill>
                  <a:srgbClr val="262B3A"/>
                </a:solidFill>
                <a:latin typeface="Calibri" pitchFamily="34" charset="0"/>
                <a:ea typeface="Calibri" pitchFamily="34" charset="-122"/>
                <a:cs typeface="Calibri" pitchFamily="34" charset="-120"/>
              </a:rPr>
              <a:t>KE in J • m mass in kg • v speed in m/s</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this equation.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KE ∝ m, but KE ∝ </a:t>
            </a:r>
            <a:r>
              <a:rPr lang="en-US" sz="1150" b="1" dirty="0">
                <a:solidFill>
                  <a:srgbClr val="262B3A"/>
                </a:solidFill>
                <a:latin typeface="Calibri" pitchFamily="34" charset="0"/>
                <a:ea typeface="Calibri" pitchFamily="34" charset="-122"/>
                <a:cs typeface="Calibri" pitchFamily="34" charset="-120"/>
              </a:rPr>
              <a:t>v²</a:t>
            </a:r>
            <a:r>
              <a:rPr lang="en-US" sz="1150" dirty="0">
                <a:solidFill>
                  <a:srgbClr val="262B3A"/>
                </a:solidFill>
                <a:latin typeface="Calibri" pitchFamily="34" charset="0"/>
                <a:ea typeface="Calibri" pitchFamily="34" charset="-122"/>
                <a:cs typeface="Calibri" pitchFamily="34" charset="-120"/>
              </a:rPr>
              <a:t>: speed matters most. </a:t>
            </a:r>
            <a:r>
              <a:rPr lang="en-US" sz="1150" b="1" dirty="0">
                <a:solidFill>
                  <a:srgbClr val="262B3A"/>
                </a:solidFill>
                <a:latin typeface="Calibri" pitchFamily="34" charset="0"/>
                <a:ea typeface="Calibri" pitchFamily="34" charset="-122"/>
                <a:cs typeface="Calibri" pitchFamily="34" charset="-120"/>
              </a:rPr>
              <a:t>Square the speed first</a:t>
            </a:r>
            <a:r>
              <a:rPr lang="en-US" sz="1150" dirty="0">
                <a:solidFill>
                  <a:srgbClr val="262B3A"/>
                </a:solidFill>
                <a:latin typeface="Calibri" pitchFamily="34" charset="0"/>
                <a:ea typeface="Calibri" pitchFamily="34" charset="-122"/>
                <a:cs typeface="Calibri" pitchFamily="34" charset="-120"/>
              </a:rPr>
              <a:t>, then multiply.</a:t>
            </a:r>
            <a:endParaRPr lang="en-US" sz="1150" dirty="0"/>
          </a:p>
        </p:txBody>
      </p:sp>
      <p:sp>
        <p:nvSpPr>
          <p:cNvPr id="117" name="Shape 11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18" name="Text 11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119" name="Text 117"/>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Calculate the kinetic energy of a 1200 kg car travelling at 15 m/s.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KE = ½ × m × v²</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Substitute   </a:t>
            </a:r>
            <a:r>
              <a:rPr lang="en-US" sz="1050" dirty="0">
                <a:solidFill>
                  <a:srgbClr val="262B3A"/>
                </a:solidFill>
                <a:latin typeface="Calibri" pitchFamily="34" charset="0"/>
                <a:ea typeface="Calibri" pitchFamily="34" charset="-122"/>
                <a:cs typeface="Calibri" pitchFamily="34" charset="-120"/>
              </a:rPr>
              <a:t>KE = 0.5 × 1200 kg × (15 m/s)² = 0.5 × 1200 × 225</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Check   </a:t>
            </a:r>
            <a:r>
              <a:rPr lang="en-US" sz="1050" dirty="0">
                <a:solidFill>
                  <a:srgbClr val="262B3A"/>
                </a:solidFill>
                <a:latin typeface="Calibri" pitchFamily="34" charset="0"/>
                <a:ea typeface="Calibri" pitchFamily="34" charset="-122"/>
                <a:cs typeface="Calibri" pitchFamily="34" charset="-120"/>
              </a:rPr>
              <a:t>square only the speed, not ½ × m</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KE = 135 000 J (135 kJ)</a:t>
            </a:r>
            <a:endParaRPr lang="en-US" sz="1050" dirty="0"/>
          </a:p>
        </p:txBody>
      </p:sp>
      <p:sp>
        <p:nvSpPr>
          <p:cNvPr id="120" name="Shape 118"/>
          <p:cNvSpPr/>
          <p:nvPr/>
        </p:nvSpPr>
        <p:spPr>
          <a:xfrm>
            <a:off x="411480" y="5833872"/>
            <a:ext cx="11368735" cy="530352"/>
          </a:xfrm>
          <a:prstGeom prst="rect">
            <a:avLst/>
          </a:prstGeom>
          <a:solidFill>
            <a:srgbClr val="FFF4E0"/>
          </a:solidFill>
          <a:ln w="6350">
            <a:solidFill>
              <a:srgbClr val="F1D9A8"/>
            </a:solidFill>
            <a:prstDash val="solid"/>
          </a:ln>
        </p:spPr>
      </p:sp>
      <p:sp>
        <p:nvSpPr>
          <p:cNvPr id="121" name="Shape 119"/>
          <p:cNvSpPr/>
          <p:nvPr/>
        </p:nvSpPr>
        <p:spPr>
          <a:xfrm>
            <a:off x="411480" y="5833872"/>
            <a:ext cx="82296" cy="530352"/>
          </a:xfrm>
          <a:prstGeom prst="rect">
            <a:avLst/>
          </a:prstGeom>
          <a:solidFill>
            <a:srgbClr val="E39A2F"/>
          </a:solidFill>
          <a:ln w="12700">
            <a:solidFill>
              <a:srgbClr val="E39A2F"/>
            </a:solidFill>
            <a:prstDash val="solid"/>
          </a:ln>
        </p:spPr>
      </p:sp>
      <p:sp>
        <p:nvSpPr>
          <p:cNvPr id="122" name="Text 12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kinetic energy of a 0.40 kg ball moving at 5.0 m/s. What happens to its KE if its speed doubles?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Falling objects: GPE → KE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 3.2, 3.5 • GPE lost = KE gained (ignoring air resistance)</a:t>
            </a:r>
            <a:endParaRPr lang="en-US" sz="1100" dirty="0"/>
          </a:p>
        </p:txBody>
      </p:sp>
      <p:sp>
        <p:nvSpPr>
          <p:cNvPr id="6" name="Shape 4"/>
          <p:cNvSpPr/>
          <p:nvPr/>
        </p:nvSpPr>
        <p:spPr>
          <a:xfrm>
            <a:off x="10180015" y="292608"/>
            <a:ext cx="1600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0180015" y="292608"/>
            <a:ext cx="1600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GRADE 7–9 STRETCH</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3.5  |  10</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0.50 kg ball dropped from 5.0 m; bars to scale (1 J = 0.1 in)</a:t>
            </a:r>
            <a:endParaRPr lang="en-US" sz="1000" dirty="0"/>
          </a:p>
        </p:txBody>
      </p:sp>
      <p:sp>
        <p:nvSpPr>
          <p:cNvPr id="12" name="Shape 10"/>
          <p:cNvSpPr/>
          <p:nvPr/>
        </p:nvSpPr>
        <p:spPr>
          <a:xfrm>
            <a:off x="640080" y="5001768"/>
            <a:ext cx="1920240" cy="73152"/>
          </a:xfrm>
          <a:prstGeom prst="rect">
            <a:avLst/>
          </a:prstGeom>
          <a:solidFill>
            <a:srgbClr val="8A6A3A"/>
          </a:solidFill>
          <a:ln/>
        </p:spPr>
      </p:sp>
      <p:sp>
        <p:nvSpPr>
          <p:cNvPr id="13" name="Shape 11"/>
          <p:cNvSpPr/>
          <p:nvPr/>
        </p:nvSpPr>
        <p:spPr>
          <a:xfrm>
            <a:off x="914400" y="1783080"/>
            <a:ext cx="91" cy="3218688"/>
          </a:xfrm>
          <a:prstGeom prst="line">
            <a:avLst/>
          </a:prstGeom>
          <a:noFill/>
          <a:ln w="12700">
            <a:solidFill>
              <a:srgbClr val="6B7385"/>
            </a:solidFill>
            <a:prstDash val="solid"/>
          </a:ln>
        </p:spPr>
      </p:sp>
      <p:sp>
        <p:nvSpPr>
          <p:cNvPr id="14" name="Shape 12"/>
          <p:cNvSpPr/>
          <p:nvPr/>
        </p:nvSpPr>
        <p:spPr>
          <a:xfrm>
            <a:off x="1417320" y="1673352"/>
            <a:ext cx="219456" cy="219456"/>
          </a:xfrm>
          <a:prstGeom prst="ellipse">
            <a:avLst/>
          </a:prstGeom>
          <a:solidFill>
            <a:srgbClr val="E06A2C"/>
          </a:solidFill>
          <a:ln w="12700">
            <a:solidFill>
              <a:srgbClr val="9C3F12"/>
            </a:solidFill>
            <a:prstDash val="solid"/>
          </a:ln>
        </p:spPr>
      </p:sp>
      <p:sp>
        <p:nvSpPr>
          <p:cNvPr id="15" name="Shape 13"/>
          <p:cNvSpPr/>
          <p:nvPr/>
        </p:nvSpPr>
        <p:spPr>
          <a:xfrm>
            <a:off x="841248" y="1783080"/>
            <a:ext cx="146304" cy="91"/>
          </a:xfrm>
          <a:prstGeom prst="line">
            <a:avLst/>
          </a:prstGeom>
          <a:noFill/>
          <a:ln w="12700">
            <a:solidFill>
              <a:srgbClr val="1A2340"/>
            </a:solidFill>
            <a:prstDash val="solid"/>
          </a:ln>
        </p:spPr>
      </p:sp>
      <p:sp>
        <p:nvSpPr>
          <p:cNvPr id="16" name="Text 14"/>
          <p:cNvSpPr/>
          <p:nvPr/>
        </p:nvSpPr>
        <p:spPr>
          <a:xfrm>
            <a:off x="274320" y="1673352"/>
            <a:ext cx="548640" cy="219456"/>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5 m</a:t>
            </a:r>
            <a:endParaRPr lang="en-US" sz="1000" dirty="0"/>
          </a:p>
        </p:txBody>
      </p:sp>
      <p:sp>
        <p:nvSpPr>
          <p:cNvPr id="17" name="Text 15"/>
          <p:cNvSpPr/>
          <p:nvPr/>
        </p:nvSpPr>
        <p:spPr>
          <a:xfrm>
            <a:off x="2103120" y="1444752"/>
            <a:ext cx="2743200" cy="182880"/>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top</a:t>
            </a:r>
            <a:endParaRPr lang="en-US" sz="1000" dirty="0"/>
          </a:p>
        </p:txBody>
      </p:sp>
      <p:sp>
        <p:nvSpPr>
          <p:cNvPr id="18" name="Shape 16"/>
          <p:cNvSpPr/>
          <p:nvPr/>
        </p:nvSpPr>
        <p:spPr>
          <a:xfrm>
            <a:off x="2103120" y="1645920"/>
            <a:ext cx="2286000" cy="274320"/>
          </a:xfrm>
          <a:prstGeom prst="rect">
            <a:avLst/>
          </a:prstGeom>
          <a:solidFill>
            <a:srgbClr val="2E5BD8"/>
          </a:solidFill>
          <a:ln/>
        </p:spPr>
      </p:sp>
      <p:sp>
        <p:nvSpPr>
          <p:cNvPr id="19" name="Text 17"/>
          <p:cNvSpPr/>
          <p:nvPr/>
        </p:nvSpPr>
        <p:spPr>
          <a:xfrm>
            <a:off x="2103120" y="1645920"/>
            <a:ext cx="2286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GPE 25 J</a:t>
            </a:r>
            <a:endParaRPr lang="en-US" sz="1000" dirty="0"/>
          </a:p>
        </p:txBody>
      </p:sp>
      <p:sp>
        <p:nvSpPr>
          <p:cNvPr id="20" name="Shape 18"/>
          <p:cNvSpPr/>
          <p:nvPr/>
        </p:nvSpPr>
        <p:spPr>
          <a:xfrm>
            <a:off x="1417320" y="3227832"/>
            <a:ext cx="219456" cy="219456"/>
          </a:xfrm>
          <a:prstGeom prst="ellipse">
            <a:avLst/>
          </a:prstGeom>
          <a:solidFill>
            <a:srgbClr val="E06A2C"/>
          </a:solidFill>
          <a:ln w="12700">
            <a:solidFill>
              <a:srgbClr val="9C3F12"/>
            </a:solidFill>
            <a:prstDash val="solid"/>
          </a:ln>
        </p:spPr>
      </p:sp>
      <p:sp>
        <p:nvSpPr>
          <p:cNvPr id="21" name="Shape 19"/>
          <p:cNvSpPr/>
          <p:nvPr/>
        </p:nvSpPr>
        <p:spPr>
          <a:xfrm>
            <a:off x="841248" y="3337560"/>
            <a:ext cx="146304" cy="91"/>
          </a:xfrm>
          <a:prstGeom prst="line">
            <a:avLst/>
          </a:prstGeom>
          <a:noFill/>
          <a:ln w="12700">
            <a:solidFill>
              <a:srgbClr val="1A2340"/>
            </a:solidFill>
            <a:prstDash val="solid"/>
          </a:ln>
        </p:spPr>
      </p:sp>
      <p:sp>
        <p:nvSpPr>
          <p:cNvPr id="22" name="Text 20"/>
          <p:cNvSpPr/>
          <p:nvPr/>
        </p:nvSpPr>
        <p:spPr>
          <a:xfrm>
            <a:off x="274320" y="3227832"/>
            <a:ext cx="548640" cy="219456"/>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2.5 m</a:t>
            </a:r>
            <a:endParaRPr lang="en-US" sz="1000" dirty="0"/>
          </a:p>
        </p:txBody>
      </p:sp>
      <p:sp>
        <p:nvSpPr>
          <p:cNvPr id="23" name="Text 21"/>
          <p:cNvSpPr/>
          <p:nvPr/>
        </p:nvSpPr>
        <p:spPr>
          <a:xfrm>
            <a:off x="2103120" y="2999232"/>
            <a:ext cx="2743200" cy="182880"/>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halfway</a:t>
            </a:r>
            <a:endParaRPr lang="en-US" sz="1000" dirty="0"/>
          </a:p>
        </p:txBody>
      </p:sp>
      <p:sp>
        <p:nvSpPr>
          <p:cNvPr id="24" name="Shape 22"/>
          <p:cNvSpPr/>
          <p:nvPr/>
        </p:nvSpPr>
        <p:spPr>
          <a:xfrm>
            <a:off x="2103120" y="3200400"/>
            <a:ext cx="1143000" cy="274320"/>
          </a:xfrm>
          <a:prstGeom prst="rect">
            <a:avLst/>
          </a:prstGeom>
          <a:solidFill>
            <a:srgbClr val="2E5BD8"/>
          </a:solidFill>
          <a:ln/>
        </p:spPr>
      </p:sp>
      <p:sp>
        <p:nvSpPr>
          <p:cNvPr id="25" name="Text 23"/>
          <p:cNvSpPr/>
          <p:nvPr/>
        </p:nvSpPr>
        <p:spPr>
          <a:xfrm>
            <a:off x="2103120" y="3200400"/>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GPE 12.5 J</a:t>
            </a:r>
            <a:endParaRPr lang="en-US" sz="1000" dirty="0"/>
          </a:p>
        </p:txBody>
      </p:sp>
      <p:sp>
        <p:nvSpPr>
          <p:cNvPr id="26" name="Shape 24"/>
          <p:cNvSpPr/>
          <p:nvPr/>
        </p:nvSpPr>
        <p:spPr>
          <a:xfrm>
            <a:off x="3246120" y="3200400"/>
            <a:ext cx="1143000" cy="274320"/>
          </a:xfrm>
          <a:prstGeom prst="rect">
            <a:avLst/>
          </a:prstGeom>
          <a:solidFill>
            <a:srgbClr val="2E8B57"/>
          </a:solidFill>
          <a:ln/>
        </p:spPr>
      </p:sp>
      <p:sp>
        <p:nvSpPr>
          <p:cNvPr id="27" name="Text 25"/>
          <p:cNvSpPr/>
          <p:nvPr/>
        </p:nvSpPr>
        <p:spPr>
          <a:xfrm>
            <a:off x="3246120" y="3200400"/>
            <a:ext cx="1143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 12.5 J</a:t>
            </a:r>
            <a:endParaRPr lang="en-US" sz="1000" dirty="0"/>
          </a:p>
        </p:txBody>
      </p:sp>
      <p:sp>
        <p:nvSpPr>
          <p:cNvPr id="28" name="Shape 26"/>
          <p:cNvSpPr/>
          <p:nvPr/>
        </p:nvSpPr>
        <p:spPr>
          <a:xfrm>
            <a:off x="1417320" y="4764024"/>
            <a:ext cx="219456" cy="219456"/>
          </a:xfrm>
          <a:prstGeom prst="ellipse">
            <a:avLst/>
          </a:prstGeom>
          <a:solidFill>
            <a:srgbClr val="E06A2C"/>
          </a:solidFill>
          <a:ln w="12700">
            <a:solidFill>
              <a:srgbClr val="9C3F12"/>
            </a:solidFill>
            <a:prstDash val="solid"/>
          </a:ln>
        </p:spPr>
      </p:sp>
      <p:sp>
        <p:nvSpPr>
          <p:cNvPr id="29" name="Shape 27"/>
          <p:cNvSpPr/>
          <p:nvPr/>
        </p:nvSpPr>
        <p:spPr>
          <a:xfrm>
            <a:off x="841248" y="4892040"/>
            <a:ext cx="146304" cy="91"/>
          </a:xfrm>
          <a:prstGeom prst="line">
            <a:avLst/>
          </a:prstGeom>
          <a:noFill/>
          <a:ln w="12700">
            <a:solidFill>
              <a:srgbClr val="1A2340"/>
            </a:solidFill>
            <a:prstDash val="solid"/>
          </a:ln>
        </p:spPr>
      </p:sp>
      <p:sp>
        <p:nvSpPr>
          <p:cNvPr id="30" name="Text 28"/>
          <p:cNvSpPr/>
          <p:nvPr/>
        </p:nvSpPr>
        <p:spPr>
          <a:xfrm>
            <a:off x="274320" y="4782312"/>
            <a:ext cx="548640" cy="219456"/>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0 m</a:t>
            </a:r>
            <a:endParaRPr lang="en-US" sz="1000" dirty="0"/>
          </a:p>
        </p:txBody>
      </p:sp>
      <p:sp>
        <p:nvSpPr>
          <p:cNvPr id="31" name="Text 29"/>
          <p:cNvSpPr/>
          <p:nvPr/>
        </p:nvSpPr>
        <p:spPr>
          <a:xfrm>
            <a:off x="2103120" y="4553712"/>
            <a:ext cx="2743200" cy="182880"/>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just before the ground</a:t>
            </a:r>
            <a:endParaRPr lang="en-US" sz="1000" dirty="0"/>
          </a:p>
        </p:txBody>
      </p:sp>
      <p:sp>
        <p:nvSpPr>
          <p:cNvPr id="32" name="Shape 30"/>
          <p:cNvSpPr/>
          <p:nvPr/>
        </p:nvSpPr>
        <p:spPr>
          <a:xfrm>
            <a:off x="2103120" y="4754880"/>
            <a:ext cx="2286000" cy="274320"/>
          </a:xfrm>
          <a:prstGeom prst="rect">
            <a:avLst/>
          </a:prstGeom>
          <a:solidFill>
            <a:srgbClr val="2E8B57"/>
          </a:solidFill>
          <a:ln/>
        </p:spPr>
      </p:sp>
      <p:sp>
        <p:nvSpPr>
          <p:cNvPr id="33" name="Text 31"/>
          <p:cNvSpPr/>
          <p:nvPr/>
        </p:nvSpPr>
        <p:spPr>
          <a:xfrm>
            <a:off x="2103120" y="4754880"/>
            <a:ext cx="22860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 25 J</a:t>
            </a:r>
            <a:endParaRPr lang="en-US" sz="1000" dirty="0"/>
          </a:p>
        </p:txBody>
      </p:sp>
      <p:sp>
        <p:nvSpPr>
          <p:cNvPr id="34" name="Shape 32"/>
          <p:cNvSpPr/>
          <p:nvPr/>
        </p:nvSpPr>
        <p:spPr>
          <a:xfrm>
            <a:off x="1527048" y="2057400"/>
            <a:ext cx="91" cy="960120"/>
          </a:xfrm>
          <a:prstGeom prst="line">
            <a:avLst/>
          </a:prstGeom>
          <a:noFill/>
          <a:ln w="25400">
            <a:solidFill>
              <a:srgbClr val="C8414C"/>
            </a:solidFill>
            <a:prstDash val="solid"/>
            <a:tailEnd type="triangle"/>
          </a:ln>
        </p:spPr>
      </p:sp>
      <p:sp>
        <p:nvSpPr>
          <p:cNvPr id="35" name="Text 33"/>
          <p:cNvSpPr/>
          <p:nvPr/>
        </p:nvSpPr>
        <p:spPr>
          <a:xfrm>
            <a:off x="1051560" y="3611880"/>
            <a:ext cx="105156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falls</a:t>
            </a:r>
            <a:endParaRPr lang="en-US" sz="1000" dirty="0"/>
          </a:p>
        </p:txBody>
      </p:sp>
      <p:sp>
        <p:nvSpPr>
          <p:cNvPr id="36" name="Shape 3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7" name="Text 3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Energy changes as an object falls</a:t>
            </a:r>
            <a:endParaRPr lang="en-US" sz="1300" dirty="0"/>
          </a:p>
        </p:txBody>
      </p:sp>
      <p:sp>
        <p:nvSpPr>
          <p:cNvPr id="38" name="Text 3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As an object falls, its </a:t>
            </a:r>
            <a:r>
              <a:rPr lang="en-US" sz="1150" b="1" dirty="0">
                <a:solidFill>
                  <a:srgbClr val="262B3A"/>
                </a:solidFill>
                <a:latin typeface="Calibri" pitchFamily="34" charset="0"/>
                <a:ea typeface="Calibri" pitchFamily="34" charset="-122"/>
                <a:cs typeface="Calibri" pitchFamily="34" charset="-120"/>
              </a:rPr>
              <a:t>gravitational potential store decreases</a:t>
            </a:r>
            <a:r>
              <a:rPr lang="en-US" sz="1150" dirty="0">
                <a:solidFill>
                  <a:srgbClr val="262B3A"/>
                </a:solidFill>
                <a:latin typeface="Calibri" pitchFamily="34" charset="0"/>
                <a:ea typeface="Calibri" pitchFamily="34" charset="-122"/>
                <a:cs typeface="Calibri" pitchFamily="34" charset="-120"/>
              </a:rPr>
              <a:t> and its </a:t>
            </a:r>
            <a:r>
              <a:rPr lang="en-US" sz="1150" b="1" dirty="0">
                <a:solidFill>
                  <a:srgbClr val="262B3A"/>
                </a:solidFill>
                <a:latin typeface="Calibri" pitchFamily="34" charset="0"/>
                <a:ea typeface="Calibri" pitchFamily="34" charset="-122"/>
                <a:cs typeface="Calibri" pitchFamily="34" charset="-120"/>
              </a:rPr>
              <a:t>kinetic store increases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air resistance is negligible: </a:t>
            </a:r>
            <a:r>
              <a:rPr lang="en-US" sz="1150" b="1" dirty="0">
                <a:solidFill>
                  <a:srgbClr val="262B3A"/>
                </a:solidFill>
                <a:latin typeface="Calibri" pitchFamily="34" charset="0"/>
                <a:ea typeface="Calibri" pitchFamily="34" charset="-122"/>
                <a:cs typeface="Calibri" pitchFamily="34" charset="-120"/>
              </a:rPr>
              <a:t>GPE lost = KE gained</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At every height </a:t>
            </a:r>
            <a:r>
              <a:rPr lang="en-US" sz="1150" b="1" dirty="0">
                <a:solidFill>
                  <a:srgbClr val="262B3A"/>
                </a:solidFill>
                <a:latin typeface="Calibri" pitchFamily="34" charset="0"/>
                <a:ea typeface="Calibri" pitchFamily="34" charset="-122"/>
                <a:cs typeface="Calibri" pitchFamily="34" charset="-120"/>
              </a:rPr>
              <a:t>GPE + KE = 25 J</a:t>
            </a:r>
            <a:r>
              <a:rPr lang="en-US" sz="1150" dirty="0">
                <a:solidFill>
                  <a:srgbClr val="262B3A"/>
                </a:solidFill>
                <a:latin typeface="Calibri" pitchFamily="34" charset="0"/>
                <a:ea typeface="Calibri" pitchFamily="34" charset="-122"/>
                <a:cs typeface="Calibri" pitchFamily="34" charset="-120"/>
              </a:rPr>
              <a:t> (the total is conserved).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With air resistance, some energy is </a:t>
            </a:r>
            <a:r>
              <a:rPr lang="en-US" sz="1150" b="1" dirty="0">
                <a:solidFill>
                  <a:srgbClr val="262B3A"/>
                </a:solidFill>
                <a:latin typeface="Calibri" pitchFamily="34" charset="0"/>
                <a:ea typeface="Calibri" pitchFamily="34" charset="-122"/>
                <a:cs typeface="Calibri" pitchFamily="34" charset="-120"/>
              </a:rPr>
              <a:t>dissipated</a:t>
            </a:r>
            <a:r>
              <a:rPr lang="en-US" sz="1150" dirty="0">
                <a:solidFill>
                  <a:srgbClr val="262B3A"/>
                </a:solidFill>
                <a:latin typeface="Calibri" pitchFamily="34" charset="0"/>
                <a:ea typeface="Calibri" pitchFamily="34" charset="-122"/>
                <a:cs typeface="Calibri" pitchFamily="34" charset="-120"/>
              </a:rPr>
              <a:t> to the thermal store of the air: the object lands more slowly.</a:t>
            </a:r>
            <a:endParaRPr lang="en-US" sz="1150" dirty="0"/>
          </a:p>
        </p:txBody>
      </p:sp>
      <p:sp>
        <p:nvSpPr>
          <p:cNvPr id="39" name="Shape 3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0" name="Text 3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(stretch)</a:t>
            </a:r>
            <a:endParaRPr lang="en-US" sz="1300" dirty="0"/>
          </a:p>
        </p:txBody>
      </p:sp>
      <p:sp>
        <p:nvSpPr>
          <p:cNvPr id="41" name="Text 39"/>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Calculate the speed of the ball just before it hits the ground.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GPE lost   </a:t>
            </a:r>
            <a:r>
              <a:rPr lang="en-US" sz="1050" dirty="0">
                <a:solidFill>
                  <a:srgbClr val="262B3A"/>
                </a:solidFill>
                <a:latin typeface="Calibri" pitchFamily="34" charset="0"/>
                <a:ea typeface="Calibri" pitchFamily="34" charset="-122"/>
                <a:cs typeface="Calibri" pitchFamily="34" charset="-120"/>
              </a:rPr>
              <a:t>ΔGPE = 0.50 × 10 × 5.0 = 25 J = KE gained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Equation   </a:t>
            </a:r>
            <a:r>
              <a:rPr lang="en-US" sz="1050" dirty="0">
                <a:solidFill>
                  <a:srgbClr val="262B3A"/>
                </a:solidFill>
                <a:latin typeface="Calibri" pitchFamily="34" charset="0"/>
                <a:ea typeface="Calibri" pitchFamily="34" charset="-122"/>
                <a:cs typeface="Calibri" pitchFamily="34" charset="-120"/>
              </a:rPr>
              <a:t>KE = ½ × m × v², so v = √(2 × KE ÷ m)</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v = √(2 × 25 J ÷ 0.50 kg) = √100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v = 10 m/s</a:t>
            </a:r>
            <a:endParaRPr lang="en-US" sz="1050" dirty="0"/>
          </a:p>
        </p:txBody>
      </p:sp>
      <p:sp>
        <p:nvSpPr>
          <p:cNvPr id="42" name="Shape 40"/>
          <p:cNvSpPr/>
          <p:nvPr/>
        </p:nvSpPr>
        <p:spPr>
          <a:xfrm>
            <a:off x="411480" y="5833872"/>
            <a:ext cx="11368735" cy="530352"/>
          </a:xfrm>
          <a:prstGeom prst="rect">
            <a:avLst/>
          </a:prstGeom>
          <a:solidFill>
            <a:srgbClr val="FFF4E0"/>
          </a:solidFill>
          <a:ln w="6350">
            <a:solidFill>
              <a:srgbClr val="F1D9A8"/>
            </a:solidFill>
            <a:prstDash val="solid"/>
          </a:ln>
        </p:spPr>
      </p:sp>
      <p:sp>
        <p:nvSpPr>
          <p:cNvPr id="43" name="Shape 41"/>
          <p:cNvSpPr/>
          <p:nvPr/>
        </p:nvSpPr>
        <p:spPr>
          <a:xfrm>
            <a:off x="411480" y="5833872"/>
            <a:ext cx="82296" cy="530352"/>
          </a:xfrm>
          <a:prstGeom prst="rect">
            <a:avLst/>
          </a:prstGeom>
          <a:solidFill>
            <a:srgbClr val="E39A2F"/>
          </a:solidFill>
          <a:ln w="12700">
            <a:solidFill>
              <a:srgbClr val="E39A2F"/>
            </a:solidFill>
            <a:prstDash val="solid"/>
          </a:ln>
        </p:spPr>
      </p:sp>
      <p:sp>
        <p:nvSpPr>
          <p:cNvPr id="44" name="Text 4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Stretch: show that the mass cancels, so v = √(2gh). Use it to find the landing speed after a 20 m fall.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Rollercoaster: swapping GPE and KE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3.3–3.5 • a 500 kg car released from rest at A, friction ignored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3.5  |  11</a:t>
            </a:r>
            <a:endParaRPr lang="en-US" sz="1000" dirty="0"/>
          </a:p>
        </p:txBody>
      </p:sp>
      <p:sp>
        <p:nvSpPr>
          <p:cNvPr id="8" name="Shape 6"/>
          <p:cNvSpPr/>
          <p:nvPr/>
        </p:nvSpPr>
        <p:spPr>
          <a:xfrm>
            <a:off x="411480" y="1188720"/>
            <a:ext cx="658368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630936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track height and bars drawn to scale; total energy 100 kJ at every point</a:t>
            </a:r>
            <a:endParaRPr lang="en-US" sz="1000" dirty="0"/>
          </a:p>
        </p:txBody>
      </p:sp>
      <p:sp>
        <p:nvSpPr>
          <p:cNvPr id="10" name="Shape 8"/>
          <p:cNvSpPr/>
          <p:nvPr/>
        </p:nvSpPr>
        <p:spPr>
          <a:xfrm>
            <a:off x="731520" y="1783080"/>
            <a:ext cx="41910" cy="91"/>
          </a:xfrm>
          <a:prstGeom prst="line">
            <a:avLst/>
          </a:prstGeom>
          <a:noFill/>
          <a:ln w="44450">
            <a:solidFill>
              <a:srgbClr val="4A5262"/>
            </a:solidFill>
            <a:prstDash val="solid"/>
          </a:ln>
        </p:spPr>
      </p:sp>
      <p:sp>
        <p:nvSpPr>
          <p:cNvPr id="11" name="Shape 9"/>
          <p:cNvSpPr/>
          <p:nvPr/>
        </p:nvSpPr>
        <p:spPr>
          <a:xfrm>
            <a:off x="773430" y="1783080"/>
            <a:ext cx="41910" cy="91"/>
          </a:xfrm>
          <a:prstGeom prst="line">
            <a:avLst/>
          </a:prstGeom>
          <a:noFill/>
          <a:ln w="44450">
            <a:solidFill>
              <a:srgbClr val="4A5262"/>
            </a:solidFill>
            <a:prstDash val="solid"/>
          </a:ln>
        </p:spPr>
      </p:sp>
      <p:sp>
        <p:nvSpPr>
          <p:cNvPr id="12" name="Shape 10"/>
          <p:cNvSpPr/>
          <p:nvPr/>
        </p:nvSpPr>
        <p:spPr>
          <a:xfrm>
            <a:off x="815340" y="1783080"/>
            <a:ext cx="41910" cy="91"/>
          </a:xfrm>
          <a:prstGeom prst="line">
            <a:avLst/>
          </a:prstGeom>
          <a:noFill/>
          <a:ln w="44450">
            <a:solidFill>
              <a:srgbClr val="4A5262"/>
            </a:solidFill>
            <a:prstDash val="solid"/>
          </a:ln>
        </p:spPr>
      </p:sp>
      <p:sp>
        <p:nvSpPr>
          <p:cNvPr id="13" name="Shape 11"/>
          <p:cNvSpPr/>
          <p:nvPr/>
        </p:nvSpPr>
        <p:spPr>
          <a:xfrm>
            <a:off x="857250" y="1783080"/>
            <a:ext cx="41910" cy="91"/>
          </a:xfrm>
          <a:prstGeom prst="line">
            <a:avLst/>
          </a:prstGeom>
          <a:noFill/>
          <a:ln w="44450">
            <a:solidFill>
              <a:srgbClr val="4A5262"/>
            </a:solidFill>
            <a:prstDash val="solid"/>
          </a:ln>
        </p:spPr>
      </p:sp>
      <p:sp>
        <p:nvSpPr>
          <p:cNvPr id="14" name="Shape 12"/>
          <p:cNvSpPr/>
          <p:nvPr/>
        </p:nvSpPr>
        <p:spPr>
          <a:xfrm>
            <a:off x="899160" y="1783080"/>
            <a:ext cx="41910" cy="91"/>
          </a:xfrm>
          <a:prstGeom prst="line">
            <a:avLst/>
          </a:prstGeom>
          <a:noFill/>
          <a:ln w="44450">
            <a:solidFill>
              <a:srgbClr val="4A5262"/>
            </a:solidFill>
            <a:prstDash val="solid"/>
          </a:ln>
        </p:spPr>
      </p:sp>
      <p:sp>
        <p:nvSpPr>
          <p:cNvPr id="15" name="Shape 13"/>
          <p:cNvSpPr/>
          <p:nvPr/>
        </p:nvSpPr>
        <p:spPr>
          <a:xfrm>
            <a:off x="941070" y="1783080"/>
            <a:ext cx="41910" cy="91"/>
          </a:xfrm>
          <a:prstGeom prst="line">
            <a:avLst/>
          </a:prstGeom>
          <a:noFill/>
          <a:ln w="44450">
            <a:solidFill>
              <a:srgbClr val="4A5262"/>
            </a:solidFill>
            <a:prstDash val="solid"/>
          </a:ln>
        </p:spPr>
      </p:sp>
      <p:sp>
        <p:nvSpPr>
          <p:cNvPr id="16" name="Shape 14"/>
          <p:cNvSpPr/>
          <p:nvPr/>
        </p:nvSpPr>
        <p:spPr>
          <a:xfrm>
            <a:off x="982980" y="1783080"/>
            <a:ext cx="41910" cy="91"/>
          </a:xfrm>
          <a:prstGeom prst="line">
            <a:avLst/>
          </a:prstGeom>
          <a:noFill/>
          <a:ln w="44450">
            <a:solidFill>
              <a:srgbClr val="4A5262"/>
            </a:solidFill>
            <a:prstDash val="solid"/>
          </a:ln>
        </p:spPr>
      </p:sp>
      <p:sp>
        <p:nvSpPr>
          <p:cNvPr id="17" name="Shape 15"/>
          <p:cNvSpPr/>
          <p:nvPr/>
        </p:nvSpPr>
        <p:spPr>
          <a:xfrm>
            <a:off x="1024890" y="1783080"/>
            <a:ext cx="41910" cy="91"/>
          </a:xfrm>
          <a:prstGeom prst="line">
            <a:avLst/>
          </a:prstGeom>
          <a:noFill/>
          <a:ln w="44450">
            <a:solidFill>
              <a:srgbClr val="4A5262"/>
            </a:solidFill>
            <a:prstDash val="solid"/>
          </a:ln>
        </p:spPr>
      </p:sp>
      <p:sp>
        <p:nvSpPr>
          <p:cNvPr id="18" name="Shape 16"/>
          <p:cNvSpPr/>
          <p:nvPr/>
        </p:nvSpPr>
        <p:spPr>
          <a:xfrm>
            <a:off x="1066800" y="1783080"/>
            <a:ext cx="41910" cy="91"/>
          </a:xfrm>
          <a:prstGeom prst="line">
            <a:avLst/>
          </a:prstGeom>
          <a:noFill/>
          <a:ln w="44450">
            <a:solidFill>
              <a:srgbClr val="4A5262"/>
            </a:solidFill>
            <a:prstDash val="solid"/>
          </a:ln>
        </p:spPr>
      </p:sp>
      <p:sp>
        <p:nvSpPr>
          <p:cNvPr id="19" name="Shape 17"/>
          <p:cNvSpPr/>
          <p:nvPr/>
        </p:nvSpPr>
        <p:spPr>
          <a:xfrm>
            <a:off x="1108710" y="1783080"/>
            <a:ext cx="41910" cy="91"/>
          </a:xfrm>
          <a:prstGeom prst="line">
            <a:avLst/>
          </a:prstGeom>
          <a:noFill/>
          <a:ln w="44450">
            <a:solidFill>
              <a:srgbClr val="4A5262"/>
            </a:solidFill>
            <a:prstDash val="solid"/>
          </a:ln>
        </p:spPr>
      </p:sp>
      <p:sp>
        <p:nvSpPr>
          <p:cNvPr id="20" name="Shape 18"/>
          <p:cNvSpPr/>
          <p:nvPr/>
        </p:nvSpPr>
        <p:spPr>
          <a:xfrm>
            <a:off x="1150620" y="1783080"/>
            <a:ext cx="41910" cy="91"/>
          </a:xfrm>
          <a:prstGeom prst="line">
            <a:avLst/>
          </a:prstGeom>
          <a:noFill/>
          <a:ln w="44450">
            <a:solidFill>
              <a:srgbClr val="4A5262"/>
            </a:solidFill>
            <a:prstDash val="solid"/>
          </a:ln>
        </p:spPr>
      </p:sp>
      <p:sp>
        <p:nvSpPr>
          <p:cNvPr id="21" name="Shape 19"/>
          <p:cNvSpPr/>
          <p:nvPr/>
        </p:nvSpPr>
        <p:spPr>
          <a:xfrm>
            <a:off x="1192530" y="1783080"/>
            <a:ext cx="41910" cy="91"/>
          </a:xfrm>
          <a:prstGeom prst="line">
            <a:avLst/>
          </a:prstGeom>
          <a:noFill/>
          <a:ln w="44450">
            <a:solidFill>
              <a:srgbClr val="4A5262"/>
            </a:solidFill>
            <a:prstDash val="solid"/>
          </a:ln>
        </p:spPr>
      </p:sp>
      <p:sp>
        <p:nvSpPr>
          <p:cNvPr id="22" name="Shape 20"/>
          <p:cNvSpPr/>
          <p:nvPr/>
        </p:nvSpPr>
        <p:spPr>
          <a:xfrm>
            <a:off x="1234440" y="1783080"/>
            <a:ext cx="114300" cy="28042"/>
          </a:xfrm>
          <a:prstGeom prst="line">
            <a:avLst/>
          </a:prstGeom>
          <a:noFill/>
          <a:ln w="44450">
            <a:solidFill>
              <a:srgbClr val="4A5262"/>
            </a:solidFill>
            <a:prstDash val="solid"/>
          </a:ln>
        </p:spPr>
      </p:sp>
      <p:sp>
        <p:nvSpPr>
          <p:cNvPr id="23" name="Shape 21"/>
          <p:cNvSpPr/>
          <p:nvPr/>
        </p:nvSpPr>
        <p:spPr>
          <a:xfrm>
            <a:off x="1348740" y="1811122"/>
            <a:ext cx="114300" cy="82214"/>
          </a:xfrm>
          <a:prstGeom prst="line">
            <a:avLst/>
          </a:prstGeom>
          <a:noFill/>
          <a:ln w="44450">
            <a:solidFill>
              <a:srgbClr val="4A5262"/>
            </a:solidFill>
            <a:prstDash val="solid"/>
          </a:ln>
        </p:spPr>
      </p:sp>
      <p:sp>
        <p:nvSpPr>
          <p:cNvPr id="24" name="Shape 22"/>
          <p:cNvSpPr/>
          <p:nvPr/>
        </p:nvSpPr>
        <p:spPr>
          <a:xfrm>
            <a:off x="1463040" y="1893336"/>
            <a:ext cx="114300" cy="130784"/>
          </a:xfrm>
          <a:prstGeom prst="line">
            <a:avLst/>
          </a:prstGeom>
          <a:noFill/>
          <a:ln w="44450">
            <a:solidFill>
              <a:srgbClr val="4A5262"/>
            </a:solidFill>
            <a:prstDash val="solid"/>
          </a:ln>
        </p:spPr>
      </p:sp>
      <p:sp>
        <p:nvSpPr>
          <p:cNvPr id="25" name="Shape 23"/>
          <p:cNvSpPr/>
          <p:nvPr/>
        </p:nvSpPr>
        <p:spPr>
          <a:xfrm>
            <a:off x="1577340" y="2024119"/>
            <a:ext cx="114300" cy="170441"/>
          </a:xfrm>
          <a:prstGeom prst="line">
            <a:avLst/>
          </a:prstGeom>
          <a:noFill/>
          <a:ln w="44450">
            <a:solidFill>
              <a:srgbClr val="4A5262"/>
            </a:solidFill>
            <a:prstDash val="solid"/>
          </a:ln>
        </p:spPr>
      </p:sp>
      <p:sp>
        <p:nvSpPr>
          <p:cNvPr id="26" name="Shape 24"/>
          <p:cNvSpPr/>
          <p:nvPr/>
        </p:nvSpPr>
        <p:spPr>
          <a:xfrm>
            <a:off x="1691640" y="2194560"/>
            <a:ext cx="114300" cy="198482"/>
          </a:xfrm>
          <a:prstGeom prst="line">
            <a:avLst/>
          </a:prstGeom>
          <a:noFill/>
          <a:ln w="44450">
            <a:solidFill>
              <a:srgbClr val="4A5262"/>
            </a:solidFill>
            <a:prstDash val="solid"/>
          </a:ln>
        </p:spPr>
      </p:sp>
      <p:sp>
        <p:nvSpPr>
          <p:cNvPr id="27" name="Shape 25"/>
          <p:cNvSpPr/>
          <p:nvPr/>
        </p:nvSpPr>
        <p:spPr>
          <a:xfrm>
            <a:off x="1805940" y="2393042"/>
            <a:ext cx="114300" cy="212998"/>
          </a:xfrm>
          <a:prstGeom prst="line">
            <a:avLst/>
          </a:prstGeom>
          <a:noFill/>
          <a:ln w="44450">
            <a:solidFill>
              <a:srgbClr val="4A5262"/>
            </a:solidFill>
            <a:prstDash val="solid"/>
          </a:ln>
        </p:spPr>
      </p:sp>
      <p:sp>
        <p:nvSpPr>
          <p:cNvPr id="28" name="Shape 26"/>
          <p:cNvSpPr/>
          <p:nvPr/>
        </p:nvSpPr>
        <p:spPr>
          <a:xfrm>
            <a:off x="1920240" y="2606040"/>
            <a:ext cx="114300" cy="212998"/>
          </a:xfrm>
          <a:prstGeom prst="line">
            <a:avLst/>
          </a:prstGeom>
          <a:noFill/>
          <a:ln w="44450">
            <a:solidFill>
              <a:srgbClr val="4A5262"/>
            </a:solidFill>
            <a:prstDash val="solid"/>
          </a:ln>
        </p:spPr>
      </p:sp>
      <p:sp>
        <p:nvSpPr>
          <p:cNvPr id="29" name="Shape 27"/>
          <p:cNvSpPr/>
          <p:nvPr/>
        </p:nvSpPr>
        <p:spPr>
          <a:xfrm>
            <a:off x="2034540" y="2819038"/>
            <a:ext cx="114300" cy="198482"/>
          </a:xfrm>
          <a:prstGeom prst="line">
            <a:avLst/>
          </a:prstGeom>
          <a:noFill/>
          <a:ln w="44450">
            <a:solidFill>
              <a:srgbClr val="4A5262"/>
            </a:solidFill>
            <a:prstDash val="solid"/>
          </a:ln>
        </p:spPr>
      </p:sp>
      <p:sp>
        <p:nvSpPr>
          <p:cNvPr id="30" name="Shape 28"/>
          <p:cNvSpPr/>
          <p:nvPr/>
        </p:nvSpPr>
        <p:spPr>
          <a:xfrm>
            <a:off x="2148840" y="3017520"/>
            <a:ext cx="114300" cy="170441"/>
          </a:xfrm>
          <a:prstGeom prst="line">
            <a:avLst/>
          </a:prstGeom>
          <a:noFill/>
          <a:ln w="44450">
            <a:solidFill>
              <a:srgbClr val="4A5262"/>
            </a:solidFill>
            <a:prstDash val="solid"/>
          </a:ln>
        </p:spPr>
      </p:sp>
      <p:sp>
        <p:nvSpPr>
          <p:cNvPr id="31" name="Shape 29"/>
          <p:cNvSpPr/>
          <p:nvPr/>
        </p:nvSpPr>
        <p:spPr>
          <a:xfrm>
            <a:off x="2263140" y="3187961"/>
            <a:ext cx="114300" cy="130784"/>
          </a:xfrm>
          <a:prstGeom prst="line">
            <a:avLst/>
          </a:prstGeom>
          <a:noFill/>
          <a:ln w="44450">
            <a:solidFill>
              <a:srgbClr val="4A5262"/>
            </a:solidFill>
            <a:prstDash val="solid"/>
          </a:ln>
        </p:spPr>
      </p:sp>
      <p:sp>
        <p:nvSpPr>
          <p:cNvPr id="32" name="Shape 30"/>
          <p:cNvSpPr/>
          <p:nvPr/>
        </p:nvSpPr>
        <p:spPr>
          <a:xfrm>
            <a:off x="2377440" y="3318744"/>
            <a:ext cx="114300" cy="82214"/>
          </a:xfrm>
          <a:prstGeom prst="line">
            <a:avLst/>
          </a:prstGeom>
          <a:noFill/>
          <a:ln w="44450">
            <a:solidFill>
              <a:srgbClr val="4A5262"/>
            </a:solidFill>
            <a:prstDash val="solid"/>
          </a:ln>
        </p:spPr>
      </p:sp>
      <p:sp>
        <p:nvSpPr>
          <p:cNvPr id="33" name="Shape 31"/>
          <p:cNvSpPr/>
          <p:nvPr/>
        </p:nvSpPr>
        <p:spPr>
          <a:xfrm>
            <a:off x="2491740" y="3400958"/>
            <a:ext cx="114300" cy="28042"/>
          </a:xfrm>
          <a:prstGeom prst="line">
            <a:avLst/>
          </a:prstGeom>
          <a:noFill/>
          <a:ln w="44450">
            <a:solidFill>
              <a:srgbClr val="4A5262"/>
            </a:solidFill>
            <a:prstDash val="solid"/>
          </a:ln>
        </p:spPr>
      </p:sp>
      <p:sp>
        <p:nvSpPr>
          <p:cNvPr id="34" name="Shape 32"/>
          <p:cNvSpPr/>
          <p:nvPr/>
        </p:nvSpPr>
        <p:spPr>
          <a:xfrm flipV="1">
            <a:off x="2606040" y="3412175"/>
            <a:ext cx="129540" cy="16825"/>
          </a:xfrm>
          <a:prstGeom prst="line">
            <a:avLst/>
          </a:prstGeom>
          <a:noFill/>
          <a:ln w="44450">
            <a:solidFill>
              <a:srgbClr val="4A5262"/>
            </a:solidFill>
            <a:prstDash val="solid"/>
          </a:ln>
        </p:spPr>
      </p:sp>
      <p:sp>
        <p:nvSpPr>
          <p:cNvPr id="35" name="Shape 33"/>
          <p:cNvSpPr/>
          <p:nvPr/>
        </p:nvSpPr>
        <p:spPr>
          <a:xfrm flipV="1">
            <a:off x="2735580" y="3362847"/>
            <a:ext cx="129540" cy="49328"/>
          </a:xfrm>
          <a:prstGeom prst="line">
            <a:avLst/>
          </a:prstGeom>
          <a:noFill/>
          <a:ln w="44450">
            <a:solidFill>
              <a:srgbClr val="4A5262"/>
            </a:solidFill>
            <a:prstDash val="solid"/>
          </a:ln>
        </p:spPr>
      </p:sp>
      <p:sp>
        <p:nvSpPr>
          <p:cNvPr id="36" name="Shape 34"/>
          <p:cNvSpPr/>
          <p:nvPr/>
        </p:nvSpPr>
        <p:spPr>
          <a:xfrm flipV="1">
            <a:off x="2865120" y="3284376"/>
            <a:ext cx="129540" cy="78470"/>
          </a:xfrm>
          <a:prstGeom prst="line">
            <a:avLst/>
          </a:prstGeom>
          <a:noFill/>
          <a:ln w="44450">
            <a:solidFill>
              <a:srgbClr val="4A5262"/>
            </a:solidFill>
            <a:prstDash val="solid"/>
          </a:ln>
        </p:spPr>
      </p:sp>
      <p:sp>
        <p:nvSpPr>
          <p:cNvPr id="37" name="Shape 35"/>
          <p:cNvSpPr/>
          <p:nvPr/>
        </p:nvSpPr>
        <p:spPr>
          <a:xfrm flipV="1">
            <a:off x="2994660" y="3182112"/>
            <a:ext cx="129540" cy="102264"/>
          </a:xfrm>
          <a:prstGeom prst="line">
            <a:avLst/>
          </a:prstGeom>
          <a:noFill/>
          <a:ln w="44450">
            <a:solidFill>
              <a:srgbClr val="4A5262"/>
            </a:solidFill>
            <a:prstDash val="solid"/>
          </a:ln>
        </p:spPr>
      </p:sp>
      <p:sp>
        <p:nvSpPr>
          <p:cNvPr id="38" name="Shape 36"/>
          <p:cNvSpPr/>
          <p:nvPr/>
        </p:nvSpPr>
        <p:spPr>
          <a:xfrm flipV="1">
            <a:off x="3124200" y="3063023"/>
            <a:ext cx="129540" cy="119089"/>
          </a:xfrm>
          <a:prstGeom prst="line">
            <a:avLst/>
          </a:prstGeom>
          <a:noFill/>
          <a:ln w="44450">
            <a:solidFill>
              <a:srgbClr val="4A5262"/>
            </a:solidFill>
            <a:prstDash val="solid"/>
          </a:ln>
        </p:spPr>
      </p:sp>
      <p:sp>
        <p:nvSpPr>
          <p:cNvPr id="39" name="Shape 37"/>
          <p:cNvSpPr/>
          <p:nvPr/>
        </p:nvSpPr>
        <p:spPr>
          <a:xfrm flipV="1">
            <a:off x="3253740" y="2935224"/>
            <a:ext cx="129540" cy="127799"/>
          </a:xfrm>
          <a:prstGeom prst="line">
            <a:avLst/>
          </a:prstGeom>
          <a:noFill/>
          <a:ln w="44450">
            <a:solidFill>
              <a:srgbClr val="4A5262"/>
            </a:solidFill>
            <a:prstDash val="solid"/>
          </a:ln>
        </p:spPr>
      </p:sp>
      <p:sp>
        <p:nvSpPr>
          <p:cNvPr id="40" name="Shape 38"/>
          <p:cNvSpPr/>
          <p:nvPr/>
        </p:nvSpPr>
        <p:spPr>
          <a:xfrm flipV="1">
            <a:off x="3383280" y="2807425"/>
            <a:ext cx="129540" cy="127799"/>
          </a:xfrm>
          <a:prstGeom prst="line">
            <a:avLst/>
          </a:prstGeom>
          <a:noFill/>
          <a:ln w="44450">
            <a:solidFill>
              <a:srgbClr val="4A5262"/>
            </a:solidFill>
            <a:prstDash val="solid"/>
          </a:ln>
        </p:spPr>
      </p:sp>
      <p:sp>
        <p:nvSpPr>
          <p:cNvPr id="41" name="Shape 39"/>
          <p:cNvSpPr/>
          <p:nvPr/>
        </p:nvSpPr>
        <p:spPr>
          <a:xfrm flipV="1">
            <a:off x="3512820" y="2688336"/>
            <a:ext cx="129540" cy="119089"/>
          </a:xfrm>
          <a:prstGeom prst="line">
            <a:avLst/>
          </a:prstGeom>
          <a:noFill/>
          <a:ln w="44450">
            <a:solidFill>
              <a:srgbClr val="4A5262"/>
            </a:solidFill>
            <a:prstDash val="solid"/>
          </a:ln>
        </p:spPr>
      </p:sp>
      <p:sp>
        <p:nvSpPr>
          <p:cNvPr id="42" name="Shape 40"/>
          <p:cNvSpPr/>
          <p:nvPr/>
        </p:nvSpPr>
        <p:spPr>
          <a:xfrm flipV="1">
            <a:off x="3642360" y="2586072"/>
            <a:ext cx="129540" cy="102264"/>
          </a:xfrm>
          <a:prstGeom prst="line">
            <a:avLst/>
          </a:prstGeom>
          <a:noFill/>
          <a:ln w="44450">
            <a:solidFill>
              <a:srgbClr val="4A5262"/>
            </a:solidFill>
            <a:prstDash val="solid"/>
          </a:ln>
        </p:spPr>
      </p:sp>
      <p:sp>
        <p:nvSpPr>
          <p:cNvPr id="43" name="Shape 41"/>
          <p:cNvSpPr/>
          <p:nvPr/>
        </p:nvSpPr>
        <p:spPr>
          <a:xfrm flipV="1">
            <a:off x="3771900" y="2507601"/>
            <a:ext cx="129540" cy="78470"/>
          </a:xfrm>
          <a:prstGeom prst="line">
            <a:avLst/>
          </a:prstGeom>
          <a:noFill/>
          <a:ln w="44450">
            <a:solidFill>
              <a:srgbClr val="4A5262"/>
            </a:solidFill>
            <a:prstDash val="solid"/>
          </a:ln>
        </p:spPr>
      </p:sp>
      <p:sp>
        <p:nvSpPr>
          <p:cNvPr id="44" name="Shape 42"/>
          <p:cNvSpPr/>
          <p:nvPr/>
        </p:nvSpPr>
        <p:spPr>
          <a:xfrm flipV="1">
            <a:off x="3901440" y="2458273"/>
            <a:ext cx="129540" cy="49328"/>
          </a:xfrm>
          <a:prstGeom prst="line">
            <a:avLst/>
          </a:prstGeom>
          <a:noFill/>
          <a:ln w="44450">
            <a:solidFill>
              <a:srgbClr val="4A5262"/>
            </a:solidFill>
            <a:prstDash val="solid"/>
          </a:ln>
        </p:spPr>
      </p:sp>
      <p:sp>
        <p:nvSpPr>
          <p:cNvPr id="45" name="Shape 43"/>
          <p:cNvSpPr/>
          <p:nvPr/>
        </p:nvSpPr>
        <p:spPr>
          <a:xfrm flipV="1">
            <a:off x="4030980" y="2441448"/>
            <a:ext cx="129540" cy="16825"/>
          </a:xfrm>
          <a:prstGeom prst="line">
            <a:avLst/>
          </a:prstGeom>
          <a:noFill/>
          <a:ln w="44450">
            <a:solidFill>
              <a:srgbClr val="4A5262"/>
            </a:solidFill>
            <a:prstDash val="solid"/>
          </a:ln>
        </p:spPr>
      </p:sp>
      <p:sp>
        <p:nvSpPr>
          <p:cNvPr id="46" name="Shape 44"/>
          <p:cNvSpPr/>
          <p:nvPr/>
        </p:nvSpPr>
        <p:spPr>
          <a:xfrm>
            <a:off x="4160520" y="2441448"/>
            <a:ext cx="156210" cy="9815"/>
          </a:xfrm>
          <a:prstGeom prst="line">
            <a:avLst/>
          </a:prstGeom>
          <a:noFill/>
          <a:ln w="44450">
            <a:solidFill>
              <a:srgbClr val="4A5262"/>
            </a:solidFill>
            <a:prstDash val="solid"/>
          </a:ln>
        </p:spPr>
      </p:sp>
      <p:sp>
        <p:nvSpPr>
          <p:cNvPr id="47" name="Shape 45"/>
          <p:cNvSpPr/>
          <p:nvPr/>
        </p:nvSpPr>
        <p:spPr>
          <a:xfrm>
            <a:off x="4316730" y="2451263"/>
            <a:ext cx="156210" cy="28775"/>
          </a:xfrm>
          <a:prstGeom prst="line">
            <a:avLst/>
          </a:prstGeom>
          <a:noFill/>
          <a:ln w="44450">
            <a:solidFill>
              <a:srgbClr val="4A5262"/>
            </a:solidFill>
            <a:prstDash val="solid"/>
          </a:ln>
        </p:spPr>
      </p:sp>
      <p:sp>
        <p:nvSpPr>
          <p:cNvPr id="48" name="Shape 46"/>
          <p:cNvSpPr/>
          <p:nvPr/>
        </p:nvSpPr>
        <p:spPr>
          <a:xfrm>
            <a:off x="4472940" y="2480038"/>
            <a:ext cx="156210" cy="45774"/>
          </a:xfrm>
          <a:prstGeom prst="line">
            <a:avLst/>
          </a:prstGeom>
          <a:noFill/>
          <a:ln w="44450">
            <a:solidFill>
              <a:srgbClr val="4A5262"/>
            </a:solidFill>
            <a:prstDash val="solid"/>
          </a:ln>
        </p:spPr>
      </p:sp>
      <p:sp>
        <p:nvSpPr>
          <p:cNvPr id="49" name="Shape 47"/>
          <p:cNvSpPr/>
          <p:nvPr/>
        </p:nvSpPr>
        <p:spPr>
          <a:xfrm>
            <a:off x="4629150" y="2525812"/>
            <a:ext cx="156210" cy="59654"/>
          </a:xfrm>
          <a:prstGeom prst="line">
            <a:avLst/>
          </a:prstGeom>
          <a:noFill/>
          <a:ln w="44450">
            <a:solidFill>
              <a:srgbClr val="4A5262"/>
            </a:solidFill>
            <a:prstDash val="solid"/>
          </a:ln>
        </p:spPr>
      </p:sp>
      <p:sp>
        <p:nvSpPr>
          <p:cNvPr id="50" name="Shape 48"/>
          <p:cNvSpPr/>
          <p:nvPr/>
        </p:nvSpPr>
        <p:spPr>
          <a:xfrm>
            <a:off x="4785360" y="2585466"/>
            <a:ext cx="156210" cy="69469"/>
          </a:xfrm>
          <a:prstGeom prst="line">
            <a:avLst/>
          </a:prstGeom>
          <a:noFill/>
          <a:ln w="44450">
            <a:solidFill>
              <a:srgbClr val="4A5262"/>
            </a:solidFill>
            <a:prstDash val="solid"/>
          </a:ln>
        </p:spPr>
      </p:sp>
      <p:sp>
        <p:nvSpPr>
          <p:cNvPr id="51" name="Shape 49"/>
          <p:cNvSpPr/>
          <p:nvPr/>
        </p:nvSpPr>
        <p:spPr>
          <a:xfrm>
            <a:off x="4941570" y="2654935"/>
            <a:ext cx="156210" cy="74549"/>
          </a:xfrm>
          <a:prstGeom prst="line">
            <a:avLst/>
          </a:prstGeom>
          <a:noFill/>
          <a:ln w="44450">
            <a:solidFill>
              <a:srgbClr val="4A5262"/>
            </a:solidFill>
            <a:prstDash val="solid"/>
          </a:ln>
        </p:spPr>
      </p:sp>
      <p:sp>
        <p:nvSpPr>
          <p:cNvPr id="52" name="Shape 50"/>
          <p:cNvSpPr/>
          <p:nvPr/>
        </p:nvSpPr>
        <p:spPr>
          <a:xfrm>
            <a:off x="5097780" y="2729484"/>
            <a:ext cx="156210" cy="74549"/>
          </a:xfrm>
          <a:prstGeom prst="line">
            <a:avLst/>
          </a:prstGeom>
          <a:noFill/>
          <a:ln w="44450">
            <a:solidFill>
              <a:srgbClr val="4A5262"/>
            </a:solidFill>
            <a:prstDash val="solid"/>
          </a:ln>
        </p:spPr>
      </p:sp>
      <p:sp>
        <p:nvSpPr>
          <p:cNvPr id="53" name="Shape 51"/>
          <p:cNvSpPr/>
          <p:nvPr/>
        </p:nvSpPr>
        <p:spPr>
          <a:xfrm>
            <a:off x="5253990" y="2804033"/>
            <a:ext cx="156210" cy="69469"/>
          </a:xfrm>
          <a:prstGeom prst="line">
            <a:avLst/>
          </a:prstGeom>
          <a:noFill/>
          <a:ln w="44450">
            <a:solidFill>
              <a:srgbClr val="4A5262"/>
            </a:solidFill>
            <a:prstDash val="solid"/>
          </a:ln>
        </p:spPr>
      </p:sp>
      <p:sp>
        <p:nvSpPr>
          <p:cNvPr id="54" name="Shape 52"/>
          <p:cNvSpPr/>
          <p:nvPr/>
        </p:nvSpPr>
        <p:spPr>
          <a:xfrm>
            <a:off x="5410200" y="2873502"/>
            <a:ext cx="156210" cy="59654"/>
          </a:xfrm>
          <a:prstGeom prst="line">
            <a:avLst/>
          </a:prstGeom>
          <a:noFill/>
          <a:ln w="44450">
            <a:solidFill>
              <a:srgbClr val="4A5262"/>
            </a:solidFill>
            <a:prstDash val="solid"/>
          </a:ln>
        </p:spPr>
      </p:sp>
      <p:sp>
        <p:nvSpPr>
          <p:cNvPr id="55" name="Shape 53"/>
          <p:cNvSpPr/>
          <p:nvPr/>
        </p:nvSpPr>
        <p:spPr>
          <a:xfrm>
            <a:off x="5566410" y="2933156"/>
            <a:ext cx="156210" cy="45774"/>
          </a:xfrm>
          <a:prstGeom prst="line">
            <a:avLst/>
          </a:prstGeom>
          <a:noFill/>
          <a:ln w="44450">
            <a:solidFill>
              <a:srgbClr val="4A5262"/>
            </a:solidFill>
            <a:prstDash val="solid"/>
          </a:ln>
        </p:spPr>
      </p:sp>
      <p:sp>
        <p:nvSpPr>
          <p:cNvPr id="56" name="Shape 54"/>
          <p:cNvSpPr/>
          <p:nvPr/>
        </p:nvSpPr>
        <p:spPr>
          <a:xfrm>
            <a:off x="5722620" y="2978930"/>
            <a:ext cx="156210" cy="28775"/>
          </a:xfrm>
          <a:prstGeom prst="line">
            <a:avLst/>
          </a:prstGeom>
          <a:noFill/>
          <a:ln w="44450">
            <a:solidFill>
              <a:srgbClr val="4A5262"/>
            </a:solidFill>
            <a:prstDash val="solid"/>
          </a:ln>
        </p:spPr>
      </p:sp>
      <p:sp>
        <p:nvSpPr>
          <p:cNvPr id="57" name="Shape 55"/>
          <p:cNvSpPr/>
          <p:nvPr/>
        </p:nvSpPr>
        <p:spPr>
          <a:xfrm>
            <a:off x="5878830" y="3007705"/>
            <a:ext cx="156210" cy="9815"/>
          </a:xfrm>
          <a:prstGeom prst="line">
            <a:avLst/>
          </a:prstGeom>
          <a:noFill/>
          <a:ln w="44450">
            <a:solidFill>
              <a:srgbClr val="4A5262"/>
            </a:solidFill>
            <a:prstDash val="solid"/>
          </a:ln>
        </p:spPr>
      </p:sp>
      <p:sp>
        <p:nvSpPr>
          <p:cNvPr id="58" name="Shape 56"/>
          <p:cNvSpPr/>
          <p:nvPr/>
        </p:nvSpPr>
        <p:spPr>
          <a:xfrm>
            <a:off x="6035040" y="3017520"/>
            <a:ext cx="53340" cy="91"/>
          </a:xfrm>
          <a:prstGeom prst="line">
            <a:avLst/>
          </a:prstGeom>
          <a:noFill/>
          <a:ln w="44450">
            <a:solidFill>
              <a:srgbClr val="4A5262"/>
            </a:solidFill>
            <a:prstDash val="solid"/>
          </a:ln>
        </p:spPr>
      </p:sp>
      <p:sp>
        <p:nvSpPr>
          <p:cNvPr id="59" name="Shape 57"/>
          <p:cNvSpPr/>
          <p:nvPr/>
        </p:nvSpPr>
        <p:spPr>
          <a:xfrm>
            <a:off x="6088380" y="3017520"/>
            <a:ext cx="53340" cy="91"/>
          </a:xfrm>
          <a:prstGeom prst="line">
            <a:avLst/>
          </a:prstGeom>
          <a:noFill/>
          <a:ln w="44450">
            <a:solidFill>
              <a:srgbClr val="4A5262"/>
            </a:solidFill>
            <a:prstDash val="solid"/>
          </a:ln>
        </p:spPr>
      </p:sp>
      <p:sp>
        <p:nvSpPr>
          <p:cNvPr id="60" name="Shape 58"/>
          <p:cNvSpPr/>
          <p:nvPr/>
        </p:nvSpPr>
        <p:spPr>
          <a:xfrm>
            <a:off x="6141720" y="3017520"/>
            <a:ext cx="53340" cy="91"/>
          </a:xfrm>
          <a:prstGeom prst="line">
            <a:avLst/>
          </a:prstGeom>
          <a:noFill/>
          <a:ln w="44450">
            <a:solidFill>
              <a:srgbClr val="4A5262"/>
            </a:solidFill>
            <a:prstDash val="solid"/>
          </a:ln>
        </p:spPr>
      </p:sp>
      <p:sp>
        <p:nvSpPr>
          <p:cNvPr id="61" name="Shape 59"/>
          <p:cNvSpPr/>
          <p:nvPr/>
        </p:nvSpPr>
        <p:spPr>
          <a:xfrm>
            <a:off x="6195060" y="3017520"/>
            <a:ext cx="53340" cy="91"/>
          </a:xfrm>
          <a:prstGeom prst="line">
            <a:avLst/>
          </a:prstGeom>
          <a:noFill/>
          <a:ln w="44450">
            <a:solidFill>
              <a:srgbClr val="4A5262"/>
            </a:solidFill>
            <a:prstDash val="solid"/>
          </a:ln>
        </p:spPr>
      </p:sp>
      <p:sp>
        <p:nvSpPr>
          <p:cNvPr id="62" name="Shape 60"/>
          <p:cNvSpPr/>
          <p:nvPr/>
        </p:nvSpPr>
        <p:spPr>
          <a:xfrm>
            <a:off x="6248400" y="3017520"/>
            <a:ext cx="53340" cy="91"/>
          </a:xfrm>
          <a:prstGeom prst="line">
            <a:avLst/>
          </a:prstGeom>
          <a:noFill/>
          <a:ln w="44450">
            <a:solidFill>
              <a:srgbClr val="4A5262"/>
            </a:solidFill>
            <a:prstDash val="solid"/>
          </a:ln>
        </p:spPr>
      </p:sp>
      <p:sp>
        <p:nvSpPr>
          <p:cNvPr id="63" name="Shape 61"/>
          <p:cNvSpPr/>
          <p:nvPr/>
        </p:nvSpPr>
        <p:spPr>
          <a:xfrm>
            <a:off x="6301740" y="3017520"/>
            <a:ext cx="53340" cy="91"/>
          </a:xfrm>
          <a:prstGeom prst="line">
            <a:avLst/>
          </a:prstGeom>
          <a:noFill/>
          <a:ln w="44450">
            <a:solidFill>
              <a:srgbClr val="4A5262"/>
            </a:solidFill>
            <a:prstDash val="solid"/>
          </a:ln>
        </p:spPr>
      </p:sp>
      <p:sp>
        <p:nvSpPr>
          <p:cNvPr id="64" name="Shape 62"/>
          <p:cNvSpPr/>
          <p:nvPr/>
        </p:nvSpPr>
        <p:spPr>
          <a:xfrm>
            <a:off x="6355080" y="3017520"/>
            <a:ext cx="53340" cy="91"/>
          </a:xfrm>
          <a:prstGeom prst="line">
            <a:avLst/>
          </a:prstGeom>
          <a:noFill/>
          <a:ln w="44450">
            <a:solidFill>
              <a:srgbClr val="4A5262"/>
            </a:solidFill>
            <a:prstDash val="solid"/>
          </a:ln>
        </p:spPr>
      </p:sp>
      <p:sp>
        <p:nvSpPr>
          <p:cNvPr id="65" name="Shape 63"/>
          <p:cNvSpPr/>
          <p:nvPr/>
        </p:nvSpPr>
        <p:spPr>
          <a:xfrm>
            <a:off x="6408420" y="3017520"/>
            <a:ext cx="53340" cy="91"/>
          </a:xfrm>
          <a:prstGeom prst="line">
            <a:avLst/>
          </a:prstGeom>
          <a:noFill/>
          <a:ln w="44450">
            <a:solidFill>
              <a:srgbClr val="4A5262"/>
            </a:solidFill>
            <a:prstDash val="solid"/>
          </a:ln>
        </p:spPr>
      </p:sp>
      <p:sp>
        <p:nvSpPr>
          <p:cNvPr id="66" name="Shape 64"/>
          <p:cNvSpPr/>
          <p:nvPr/>
        </p:nvSpPr>
        <p:spPr>
          <a:xfrm>
            <a:off x="6461760" y="3017520"/>
            <a:ext cx="53340" cy="91"/>
          </a:xfrm>
          <a:prstGeom prst="line">
            <a:avLst/>
          </a:prstGeom>
          <a:noFill/>
          <a:ln w="44450">
            <a:solidFill>
              <a:srgbClr val="4A5262"/>
            </a:solidFill>
            <a:prstDash val="solid"/>
          </a:ln>
        </p:spPr>
      </p:sp>
      <p:sp>
        <p:nvSpPr>
          <p:cNvPr id="67" name="Shape 65"/>
          <p:cNvSpPr/>
          <p:nvPr/>
        </p:nvSpPr>
        <p:spPr>
          <a:xfrm>
            <a:off x="6515100" y="3017520"/>
            <a:ext cx="53340" cy="91"/>
          </a:xfrm>
          <a:prstGeom prst="line">
            <a:avLst/>
          </a:prstGeom>
          <a:noFill/>
          <a:ln w="44450">
            <a:solidFill>
              <a:srgbClr val="4A5262"/>
            </a:solidFill>
            <a:prstDash val="solid"/>
          </a:ln>
        </p:spPr>
      </p:sp>
      <p:sp>
        <p:nvSpPr>
          <p:cNvPr id="68" name="Shape 66"/>
          <p:cNvSpPr/>
          <p:nvPr/>
        </p:nvSpPr>
        <p:spPr>
          <a:xfrm>
            <a:off x="6568440" y="3017520"/>
            <a:ext cx="53340" cy="91"/>
          </a:xfrm>
          <a:prstGeom prst="line">
            <a:avLst/>
          </a:prstGeom>
          <a:noFill/>
          <a:ln w="44450">
            <a:solidFill>
              <a:srgbClr val="4A5262"/>
            </a:solidFill>
            <a:prstDash val="solid"/>
          </a:ln>
        </p:spPr>
      </p:sp>
      <p:sp>
        <p:nvSpPr>
          <p:cNvPr id="69" name="Shape 67"/>
          <p:cNvSpPr/>
          <p:nvPr/>
        </p:nvSpPr>
        <p:spPr>
          <a:xfrm>
            <a:off x="6621780" y="3017520"/>
            <a:ext cx="53340" cy="91"/>
          </a:xfrm>
          <a:prstGeom prst="line">
            <a:avLst/>
          </a:prstGeom>
          <a:noFill/>
          <a:ln w="44450">
            <a:solidFill>
              <a:srgbClr val="4A5262"/>
            </a:solidFill>
            <a:prstDash val="solid"/>
          </a:ln>
        </p:spPr>
      </p:sp>
      <p:sp>
        <p:nvSpPr>
          <p:cNvPr id="70" name="Shape 68"/>
          <p:cNvSpPr/>
          <p:nvPr/>
        </p:nvSpPr>
        <p:spPr>
          <a:xfrm>
            <a:off x="594360" y="3465576"/>
            <a:ext cx="6217920" cy="91"/>
          </a:xfrm>
          <a:prstGeom prst="line">
            <a:avLst/>
          </a:prstGeom>
          <a:noFill/>
          <a:ln w="25400">
            <a:solidFill>
              <a:srgbClr val="8A6A3A"/>
            </a:solidFill>
            <a:prstDash val="solid"/>
          </a:ln>
        </p:spPr>
      </p:sp>
      <p:sp>
        <p:nvSpPr>
          <p:cNvPr id="71" name="Shape 69"/>
          <p:cNvSpPr/>
          <p:nvPr/>
        </p:nvSpPr>
        <p:spPr>
          <a:xfrm>
            <a:off x="1234440" y="1828800"/>
            <a:ext cx="91" cy="1600200"/>
          </a:xfrm>
          <a:prstGeom prst="line">
            <a:avLst/>
          </a:prstGeom>
          <a:noFill/>
          <a:ln w="19050">
            <a:solidFill>
              <a:srgbClr val="A9AFBB"/>
            </a:solidFill>
            <a:prstDash val="solid"/>
          </a:ln>
        </p:spPr>
      </p:sp>
      <p:sp>
        <p:nvSpPr>
          <p:cNvPr id="72" name="Shape 70"/>
          <p:cNvSpPr/>
          <p:nvPr/>
        </p:nvSpPr>
        <p:spPr>
          <a:xfrm>
            <a:off x="4160520" y="2487168"/>
            <a:ext cx="91" cy="941832"/>
          </a:xfrm>
          <a:prstGeom prst="line">
            <a:avLst/>
          </a:prstGeom>
          <a:noFill/>
          <a:ln w="19050">
            <a:solidFill>
              <a:srgbClr val="A9AFBB"/>
            </a:solidFill>
            <a:prstDash val="solid"/>
          </a:ln>
        </p:spPr>
      </p:sp>
      <p:sp>
        <p:nvSpPr>
          <p:cNvPr id="73" name="Shape 71"/>
          <p:cNvSpPr/>
          <p:nvPr/>
        </p:nvSpPr>
        <p:spPr>
          <a:xfrm>
            <a:off x="6309360" y="3063240"/>
            <a:ext cx="91" cy="365760"/>
          </a:xfrm>
          <a:prstGeom prst="line">
            <a:avLst/>
          </a:prstGeom>
          <a:noFill/>
          <a:ln w="19050">
            <a:solidFill>
              <a:srgbClr val="A9AFBB"/>
            </a:solidFill>
            <a:prstDash val="solid"/>
          </a:ln>
        </p:spPr>
      </p:sp>
      <p:sp>
        <p:nvSpPr>
          <p:cNvPr id="74" name="Shape 72"/>
          <p:cNvSpPr/>
          <p:nvPr/>
        </p:nvSpPr>
        <p:spPr>
          <a:xfrm>
            <a:off x="1005840" y="1536192"/>
            <a:ext cx="457200" cy="219456"/>
          </a:xfrm>
          <a:prstGeom prst="roundRect">
            <a:avLst>
              <a:gd name="adj" fmla="val 16667"/>
            </a:avLst>
          </a:prstGeom>
          <a:solidFill>
            <a:srgbClr val="C8414C"/>
          </a:solidFill>
          <a:ln w="12700">
            <a:solidFill>
              <a:srgbClr val="8A2A30"/>
            </a:solidFill>
            <a:prstDash val="solid"/>
          </a:ln>
        </p:spPr>
      </p:sp>
      <p:sp>
        <p:nvSpPr>
          <p:cNvPr id="75" name="Text 73"/>
          <p:cNvSpPr/>
          <p:nvPr/>
        </p:nvSpPr>
        <p:spPr>
          <a:xfrm>
            <a:off x="960120" y="1216152"/>
            <a:ext cx="548640" cy="256032"/>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76" name="Text 74"/>
          <p:cNvSpPr/>
          <p:nvPr/>
        </p:nvSpPr>
        <p:spPr>
          <a:xfrm>
            <a:off x="777240" y="3502152"/>
            <a:ext cx="914400" cy="182880"/>
          </a:xfrm>
          <a:prstGeom prst="rect">
            <a:avLst/>
          </a:prstGeom>
          <a:noFill/>
          <a:ln/>
        </p:spPr>
        <p:txBody>
          <a:bodyPr wrap="square" lIns="0" tIns="0" rIns="0" bIns="0" rtlCol="0" anchor="ctr"/>
          <a:lstStyle/>
          <a:p>
            <a:pPr algn="ctr" indent="0" marL="0">
              <a:buNone/>
            </a:pPr>
            <a:r>
              <a:rPr lang="en-US" sz="1000" b="1" dirty="0">
                <a:solidFill>
                  <a:srgbClr val="6B7385"/>
                </a:solidFill>
                <a:latin typeface="Calibri" pitchFamily="34" charset="0"/>
                <a:ea typeface="Calibri" pitchFamily="34" charset="-122"/>
                <a:cs typeface="Calibri" pitchFamily="34" charset="-120"/>
              </a:rPr>
              <a:t>h = 20 m</a:t>
            </a:r>
            <a:endParaRPr lang="en-US" sz="1000" dirty="0"/>
          </a:p>
        </p:txBody>
      </p:sp>
      <p:sp>
        <p:nvSpPr>
          <p:cNvPr id="77" name="Shape 75"/>
          <p:cNvSpPr/>
          <p:nvPr/>
        </p:nvSpPr>
        <p:spPr>
          <a:xfrm>
            <a:off x="905256" y="4114800"/>
            <a:ext cx="274320" cy="960120"/>
          </a:xfrm>
          <a:prstGeom prst="rect">
            <a:avLst/>
          </a:prstGeom>
          <a:solidFill>
            <a:srgbClr val="2E5BD8"/>
          </a:solidFill>
          <a:ln/>
        </p:spPr>
      </p:sp>
      <p:sp>
        <p:nvSpPr>
          <p:cNvPr id="78" name="Text 76"/>
          <p:cNvSpPr/>
          <p:nvPr/>
        </p:nvSpPr>
        <p:spPr>
          <a:xfrm>
            <a:off x="722376" y="3913632"/>
            <a:ext cx="640080" cy="1828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100</a:t>
            </a:r>
            <a:endParaRPr lang="en-US" sz="1000" dirty="0"/>
          </a:p>
        </p:txBody>
      </p:sp>
      <p:sp>
        <p:nvSpPr>
          <p:cNvPr id="79" name="Text 77"/>
          <p:cNvSpPr/>
          <p:nvPr/>
        </p:nvSpPr>
        <p:spPr>
          <a:xfrm>
            <a:off x="813816" y="5093208"/>
            <a:ext cx="457200" cy="1828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GPE</a:t>
            </a:r>
            <a:endParaRPr lang="en-US" sz="1000" dirty="0"/>
          </a:p>
        </p:txBody>
      </p:sp>
      <p:sp>
        <p:nvSpPr>
          <p:cNvPr id="80" name="Text 78"/>
          <p:cNvSpPr/>
          <p:nvPr/>
        </p:nvSpPr>
        <p:spPr>
          <a:xfrm>
            <a:off x="1106424" y="4873752"/>
            <a:ext cx="640080" cy="18288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0</a:t>
            </a:r>
            <a:endParaRPr lang="en-US" sz="1000" dirty="0"/>
          </a:p>
        </p:txBody>
      </p:sp>
      <p:sp>
        <p:nvSpPr>
          <p:cNvPr id="81" name="Text 79"/>
          <p:cNvSpPr/>
          <p:nvPr/>
        </p:nvSpPr>
        <p:spPr>
          <a:xfrm>
            <a:off x="1197864" y="5093208"/>
            <a:ext cx="457200" cy="18288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KE</a:t>
            </a:r>
            <a:endParaRPr lang="en-US" sz="1000" dirty="0"/>
          </a:p>
        </p:txBody>
      </p:sp>
      <p:sp>
        <p:nvSpPr>
          <p:cNvPr id="82" name="Shape 80"/>
          <p:cNvSpPr/>
          <p:nvPr/>
        </p:nvSpPr>
        <p:spPr>
          <a:xfrm>
            <a:off x="859536" y="5074920"/>
            <a:ext cx="749808" cy="91"/>
          </a:xfrm>
          <a:prstGeom prst="line">
            <a:avLst/>
          </a:prstGeom>
          <a:noFill/>
          <a:ln w="12700">
            <a:solidFill>
              <a:srgbClr val="1A2340"/>
            </a:solidFill>
            <a:prstDash val="solid"/>
          </a:ln>
        </p:spPr>
      </p:sp>
      <p:sp>
        <p:nvSpPr>
          <p:cNvPr id="83" name="Text 81"/>
          <p:cNvSpPr/>
          <p:nvPr/>
        </p:nvSpPr>
        <p:spPr>
          <a:xfrm>
            <a:off x="2331720" y="3063240"/>
            <a:ext cx="548640" cy="256032"/>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B</a:t>
            </a:r>
            <a:endParaRPr lang="en-US" sz="1300" dirty="0"/>
          </a:p>
        </p:txBody>
      </p:sp>
      <p:sp>
        <p:nvSpPr>
          <p:cNvPr id="84" name="Shape 82"/>
          <p:cNvSpPr/>
          <p:nvPr/>
        </p:nvSpPr>
        <p:spPr>
          <a:xfrm>
            <a:off x="2560320" y="3383280"/>
            <a:ext cx="91440" cy="91440"/>
          </a:xfrm>
          <a:prstGeom prst="ellipse">
            <a:avLst/>
          </a:prstGeom>
          <a:solidFill>
            <a:srgbClr val="1A2340"/>
          </a:solidFill>
          <a:ln w="12700">
            <a:solidFill>
              <a:srgbClr val="1A2340"/>
            </a:solidFill>
            <a:prstDash val="solid"/>
          </a:ln>
        </p:spPr>
      </p:sp>
      <p:sp>
        <p:nvSpPr>
          <p:cNvPr id="85" name="Text 83"/>
          <p:cNvSpPr/>
          <p:nvPr/>
        </p:nvSpPr>
        <p:spPr>
          <a:xfrm>
            <a:off x="2148840" y="3502152"/>
            <a:ext cx="914400" cy="182880"/>
          </a:xfrm>
          <a:prstGeom prst="rect">
            <a:avLst/>
          </a:prstGeom>
          <a:noFill/>
          <a:ln/>
        </p:spPr>
        <p:txBody>
          <a:bodyPr wrap="square" lIns="0" tIns="0" rIns="0" bIns="0" rtlCol="0" anchor="ctr"/>
          <a:lstStyle/>
          <a:p>
            <a:pPr algn="ctr" indent="0" marL="0">
              <a:buNone/>
            </a:pPr>
            <a:r>
              <a:rPr lang="en-US" sz="1000" b="1" dirty="0">
                <a:solidFill>
                  <a:srgbClr val="6B7385"/>
                </a:solidFill>
                <a:latin typeface="Calibri" pitchFamily="34" charset="0"/>
                <a:ea typeface="Calibri" pitchFamily="34" charset="-122"/>
                <a:cs typeface="Calibri" pitchFamily="34" charset="-120"/>
              </a:rPr>
              <a:t>h = 0 m</a:t>
            </a:r>
            <a:endParaRPr lang="en-US" sz="1000" dirty="0"/>
          </a:p>
        </p:txBody>
      </p:sp>
      <p:sp>
        <p:nvSpPr>
          <p:cNvPr id="86" name="Text 84"/>
          <p:cNvSpPr/>
          <p:nvPr/>
        </p:nvSpPr>
        <p:spPr>
          <a:xfrm>
            <a:off x="2093976" y="4873752"/>
            <a:ext cx="640080" cy="1828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0</a:t>
            </a:r>
            <a:endParaRPr lang="en-US" sz="1000" dirty="0"/>
          </a:p>
        </p:txBody>
      </p:sp>
      <p:sp>
        <p:nvSpPr>
          <p:cNvPr id="87" name="Text 85"/>
          <p:cNvSpPr/>
          <p:nvPr/>
        </p:nvSpPr>
        <p:spPr>
          <a:xfrm>
            <a:off x="2185416" y="5093208"/>
            <a:ext cx="457200" cy="1828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GPE</a:t>
            </a:r>
            <a:endParaRPr lang="en-US" sz="1000" dirty="0"/>
          </a:p>
        </p:txBody>
      </p:sp>
      <p:sp>
        <p:nvSpPr>
          <p:cNvPr id="88" name="Shape 86"/>
          <p:cNvSpPr/>
          <p:nvPr/>
        </p:nvSpPr>
        <p:spPr>
          <a:xfrm>
            <a:off x="2660904" y="4114800"/>
            <a:ext cx="274320" cy="960120"/>
          </a:xfrm>
          <a:prstGeom prst="rect">
            <a:avLst/>
          </a:prstGeom>
          <a:solidFill>
            <a:srgbClr val="2E8B57"/>
          </a:solidFill>
          <a:ln/>
        </p:spPr>
      </p:sp>
      <p:sp>
        <p:nvSpPr>
          <p:cNvPr id="89" name="Text 87"/>
          <p:cNvSpPr/>
          <p:nvPr/>
        </p:nvSpPr>
        <p:spPr>
          <a:xfrm>
            <a:off x="2478024" y="3913632"/>
            <a:ext cx="640080" cy="18288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100</a:t>
            </a:r>
            <a:endParaRPr lang="en-US" sz="1000" dirty="0"/>
          </a:p>
        </p:txBody>
      </p:sp>
      <p:sp>
        <p:nvSpPr>
          <p:cNvPr id="90" name="Text 88"/>
          <p:cNvSpPr/>
          <p:nvPr/>
        </p:nvSpPr>
        <p:spPr>
          <a:xfrm>
            <a:off x="2569464" y="5093208"/>
            <a:ext cx="457200" cy="18288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KE</a:t>
            </a:r>
            <a:endParaRPr lang="en-US" sz="1000" dirty="0"/>
          </a:p>
        </p:txBody>
      </p:sp>
      <p:sp>
        <p:nvSpPr>
          <p:cNvPr id="91" name="Shape 89"/>
          <p:cNvSpPr/>
          <p:nvPr/>
        </p:nvSpPr>
        <p:spPr>
          <a:xfrm>
            <a:off x="2231136" y="5074920"/>
            <a:ext cx="749808" cy="91"/>
          </a:xfrm>
          <a:prstGeom prst="line">
            <a:avLst/>
          </a:prstGeom>
          <a:noFill/>
          <a:ln w="12700">
            <a:solidFill>
              <a:srgbClr val="1A2340"/>
            </a:solidFill>
            <a:prstDash val="solid"/>
          </a:ln>
        </p:spPr>
      </p:sp>
      <p:sp>
        <p:nvSpPr>
          <p:cNvPr id="92" name="Text 90"/>
          <p:cNvSpPr/>
          <p:nvPr/>
        </p:nvSpPr>
        <p:spPr>
          <a:xfrm>
            <a:off x="3886200" y="2075688"/>
            <a:ext cx="548640" cy="256032"/>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C</a:t>
            </a:r>
            <a:endParaRPr lang="en-US" sz="1300" dirty="0"/>
          </a:p>
        </p:txBody>
      </p:sp>
      <p:sp>
        <p:nvSpPr>
          <p:cNvPr id="93" name="Shape 91"/>
          <p:cNvSpPr/>
          <p:nvPr/>
        </p:nvSpPr>
        <p:spPr>
          <a:xfrm>
            <a:off x="4114800" y="2395728"/>
            <a:ext cx="91440" cy="91440"/>
          </a:xfrm>
          <a:prstGeom prst="ellipse">
            <a:avLst/>
          </a:prstGeom>
          <a:solidFill>
            <a:srgbClr val="1A2340"/>
          </a:solidFill>
          <a:ln w="12700">
            <a:solidFill>
              <a:srgbClr val="1A2340"/>
            </a:solidFill>
            <a:prstDash val="solid"/>
          </a:ln>
        </p:spPr>
      </p:sp>
      <p:sp>
        <p:nvSpPr>
          <p:cNvPr id="94" name="Text 92"/>
          <p:cNvSpPr/>
          <p:nvPr/>
        </p:nvSpPr>
        <p:spPr>
          <a:xfrm>
            <a:off x="3703320" y="3502152"/>
            <a:ext cx="914400" cy="182880"/>
          </a:xfrm>
          <a:prstGeom prst="rect">
            <a:avLst/>
          </a:prstGeom>
          <a:noFill/>
          <a:ln/>
        </p:spPr>
        <p:txBody>
          <a:bodyPr wrap="square" lIns="0" tIns="0" rIns="0" bIns="0" rtlCol="0" anchor="ctr"/>
          <a:lstStyle/>
          <a:p>
            <a:pPr algn="ctr" indent="0" marL="0">
              <a:buNone/>
            </a:pPr>
            <a:r>
              <a:rPr lang="en-US" sz="1000" b="1" dirty="0">
                <a:solidFill>
                  <a:srgbClr val="6B7385"/>
                </a:solidFill>
                <a:latin typeface="Calibri" pitchFamily="34" charset="0"/>
                <a:ea typeface="Calibri" pitchFamily="34" charset="-122"/>
                <a:cs typeface="Calibri" pitchFamily="34" charset="-120"/>
              </a:rPr>
              <a:t>h = 12 m</a:t>
            </a:r>
            <a:endParaRPr lang="en-US" sz="1000" dirty="0"/>
          </a:p>
        </p:txBody>
      </p:sp>
      <p:sp>
        <p:nvSpPr>
          <p:cNvPr id="95" name="Shape 93"/>
          <p:cNvSpPr/>
          <p:nvPr/>
        </p:nvSpPr>
        <p:spPr>
          <a:xfrm>
            <a:off x="3831336" y="4498848"/>
            <a:ext cx="274320" cy="576072"/>
          </a:xfrm>
          <a:prstGeom prst="rect">
            <a:avLst/>
          </a:prstGeom>
          <a:solidFill>
            <a:srgbClr val="2E5BD8"/>
          </a:solidFill>
          <a:ln/>
        </p:spPr>
      </p:sp>
      <p:sp>
        <p:nvSpPr>
          <p:cNvPr id="96" name="Text 94"/>
          <p:cNvSpPr/>
          <p:nvPr/>
        </p:nvSpPr>
        <p:spPr>
          <a:xfrm>
            <a:off x="3648456" y="4297680"/>
            <a:ext cx="640080" cy="1828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60</a:t>
            </a:r>
            <a:endParaRPr lang="en-US" sz="1000" dirty="0"/>
          </a:p>
        </p:txBody>
      </p:sp>
      <p:sp>
        <p:nvSpPr>
          <p:cNvPr id="97" name="Text 95"/>
          <p:cNvSpPr/>
          <p:nvPr/>
        </p:nvSpPr>
        <p:spPr>
          <a:xfrm>
            <a:off x="3739896" y="5093208"/>
            <a:ext cx="457200" cy="1828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GPE</a:t>
            </a:r>
            <a:endParaRPr lang="en-US" sz="1000" dirty="0"/>
          </a:p>
        </p:txBody>
      </p:sp>
      <p:sp>
        <p:nvSpPr>
          <p:cNvPr id="98" name="Shape 96"/>
          <p:cNvSpPr/>
          <p:nvPr/>
        </p:nvSpPr>
        <p:spPr>
          <a:xfrm>
            <a:off x="4215384" y="4690872"/>
            <a:ext cx="274320" cy="384048"/>
          </a:xfrm>
          <a:prstGeom prst="rect">
            <a:avLst/>
          </a:prstGeom>
          <a:solidFill>
            <a:srgbClr val="2E8B57"/>
          </a:solidFill>
          <a:ln/>
        </p:spPr>
      </p:sp>
      <p:sp>
        <p:nvSpPr>
          <p:cNvPr id="99" name="Text 97"/>
          <p:cNvSpPr/>
          <p:nvPr/>
        </p:nvSpPr>
        <p:spPr>
          <a:xfrm>
            <a:off x="4032504" y="4489704"/>
            <a:ext cx="640080" cy="18288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40</a:t>
            </a:r>
            <a:endParaRPr lang="en-US" sz="1000" dirty="0"/>
          </a:p>
        </p:txBody>
      </p:sp>
      <p:sp>
        <p:nvSpPr>
          <p:cNvPr id="100" name="Text 98"/>
          <p:cNvSpPr/>
          <p:nvPr/>
        </p:nvSpPr>
        <p:spPr>
          <a:xfrm>
            <a:off x="4123944" y="5093208"/>
            <a:ext cx="457200" cy="18288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KE</a:t>
            </a:r>
            <a:endParaRPr lang="en-US" sz="1000" dirty="0"/>
          </a:p>
        </p:txBody>
      </p:sp>
      <p:sp>
        <p:nvSpPr>
          <p:cNvPr id="101" name="Shape 99"/>
          <p:cNvSpPr/>
          <p:nvPr/>
        </p:nvSpPr>
        <p:spPr>
          <a:xfrm>
            <a:off x="3785616" y="5074920"/>
            <a:ext cx="749808" cy="91"/>
          </a:xfrm>
          <a:prstGeom prst="line">
            <a:avLst/>
          </a:prstGeom>
          <a:noFill/>
          <a:ln w="12700">
            <a:solidFill>
              <a:srgbClr val="1A2340"/>
            </a:solidFill>
            <a:prstDash val="solid"/>
          </a:ln>
        </p:spPr>
      </p:sp>
      <p:sp>
        <p:nvSpPr>
          <p:cNvPr id="102" name="Text 100"/>
          <p:cNvSpPr/>
          <p:nvPr/>
        </p:nvSpPr>
        <p:spPr>
          <a:xfrm>
            <a:off x="5760720" y="2651760"/>
            <a:ext cx="548640" cy="256032"/>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D</a:t>
            </a:r>
            <a:endParaRPr lang="en-US" sz="1300" dirty="0"/>
          </a:p>
        </p:txBody>
      </p:sp>
      <p:sp>
        <p:nvSpPr>
          <p:cNvPr id="103" name="Shape 101"/>
          <p:cNvSpPr/>
          <p:nvPr/>
        </p:nvSpPr>
        <p:spPr>
          <a:xfrm>
            <a:off x="5989320" y="2971800"/>
            <a:ext cx="91440" cy="91440"/>
          </a:xfrm>
          <a:prstGeom prst="ellipse">
            <a:avLst/>
          </a:prstGeom>
          <a:solidFill>
            <a:srgbClr val="1A2340"/>
          </a:solidFill>
          <a:ln w="12700">
            <a:solidFill>
              <a:srgbClr val="1A2340"/>
            </a:solidFill>
            <a:prstDash val="solid"/>
          </a:ln>
        </p:spPr>
      </p:sp>
      <p:sp>
        <p:nvSpPr>
          <p:cNvPr id="104" name="Text 102"/>
          <p:cNvSpPr/>
          <p:nvPr/>
        </p:nvSpPr>
        <p:spPr>
          <a:xfrm>
            <a:off x="5577840" y="3502152"/>
            <a:ext cx="914400" cy="182880"/>
          </a:xfrm>
          <a:prstGeom prst="rect">
            <a:avLst/>
          </a:prstGeom>
          <a:noFill/>
          <a:ln/>
        </p:spPr>
        <p:txBody>
          <a:bodyPr wrap="square" lIns="0" tIns="0" rIns="0" bIns="0" rtlCol="0" anchor="ctr"/>
          <a:lstStyle/>
          <a:p>
            <a:pPr algn="ctr" indent="0" marL="0">
              <a:buNone/>
            </a:pPr>
            <a:r>
              <a:rPr lang="en-US" sz="1000" b="1" dirty="0">
                <a:solidFill>
                  <a:srgbClr val="6B7385"/>
                </a:solidFill>
                <a:latin typeface="Calibri" pitchFamily="34" charset="0"/>
                <a:ea typeface="Calibri" pitchFamily="34" charset="-122"/>
                <a:cs typeface="Calibri" pitchFamily="34" charset="-120"/>
              </a:rPr>
              <a:t>h = 5 m</a:t>
            </a:r>
            <a:endParaRPr lang="en-US" sz="1000" dirty="0"/>
          </a:p>
        </p:txBody>
      </p:sp>
      <p:sp>
        <p:nvSpPr>
          <p:cNvPr id="105" name="Shape 103"/>
          <p:cNvSpPr/>
          <p:nvPr/>
        </p:nvSpPr>
        <p:spPr>
          <a:xfrm>
            <a:off x="5705856" y="4834890"/>
            <a:ext cx="274320" cy="240030"/>
          </a:xfrm>
          <a:prstGeom prst="rect">
            <a:avLst/>
          </a:prstGeom>
          <a:solidFill>
            <a:srgbClr val="2E5BD8"/>
          </a:solidFill>
          <a:ln/>
        </p:spPr>
      </p:sp>
      <p:sp>
        <p:nvSpPr>
          <p:cNvPr id="106" name="Text 104"/>
          <p:cNvSpPr/>
          <p:nvPr/>
        </p:nvSpPr>
        <p:spPr>
          <a:xfrm>
            <a:off x="5522976" y="4633722"/>
            <a:ext cx="640080" cy="1828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25</a:t>
            </a:r>
            <a:endParaRPr lang="en-US" sz="1000" dirty="0"/>
          </a:p>
        </p:txBody>
      </p:sp>
      <p:sp>
        <p:nvSpPr>
          <p:cNvPr id="107" name="Text 105"/>
          <p:cNvSpPr/>
          <p:nvPr/>
        </p:nvSpPr>
        <p:spPr>
          <a:xfrm>
            <a:off x="5614416" y="5093208"/>
            <a:ext cx="457200" cy="182880"/>
          </a:xfrm>
          <a:prstGeom prst="rect">
            <a:avLst/>
          </a:prstGeom>
          <a:noFill/>
          <a:ln/>
        </p:spPr>
        <p:txBody>
          <a:bodyPr wrap="square" lIns="0" tIns="0" rIns="0" bIns="0" rtlCol="0" anchor="ctr"/>
          <a:lstStyle/>
          <a:p>
            <a:pPr algn="ctr" indent="0" marL="0">
              <a:buNone/>
            </a:pPr>
            <a:r>
              <a:rPr lang="en-US" sz="1000" b="1" dirty="0">
                <a:solidFill>
                  <a:srgbClr val="2E5BD8"/>
                </a:solidFill>
                <a:latin typeface="Calibri" pitchFamily="34" charset="0"/>
                <a:ea typeface="Calibri" pitchFamily="34" charset="-122"/>
                <a:cs typeface="Calibri" pitchFamily="34" charset="-120"/>
              </a:rPr>
              <a:t>GPE</a:t>
            </a:r>
            <a:endParaRPr lang="en-US" sz="1000" dirty="0"/>
          </a:p>
        </p:txBody>
      </p:sp>
      <p:sp>
        <p:nvSpPr>
          <p:cNvPr id="108" name="Shape 106"/>
          <p:cNvSpPr/>
          <p:nvPr/>
        </p:nvSpPr>
        <p:spPr>
          <a:xfrm>
            <a:off x="6089904" y="4354830"/>
            <a:ext cx="274320" cy="720090"/>
          </a:xfrm>
          <a:prstGeom prst="rect">
            <a:avLst/>
          </a:prstGeom>
          <a:solidFill>
            <a:srgbClr val="2E8B57"/>
          </a:solidFill>
          <a:ln/>
        </p:spPr>
      </p:sp>
      <p:sp>
        <p:nvSpPr>
          <p:cNvPr id="109" name="Text 107"/>
          <p:cNvSpPr/>
          <p:nvPr/>
        </p:nvSpPr>
        <p:spPr>
          <a:xfrm>
            <a:off x="5907024" y="4153662"/>
            <a:ext cx="640080" cy="18288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75</a:t>
            </a:r>
            <a:endParaRPr lang="en-US" sz="1000" dirty="0"/>
          </a:p>
        </p:txBody>
      </p:sp>
      <p:sp>
        <p:nvSpPr>
          <p:cNvPr id="110" name="Text 108"/>
          <p:cNvSpPr/>
          <p:nvPr/>
        </p:nvSpPr>
        <p:spPr>
          <a:xfrm>
            <a:off x="5998464" y="5093208"/>
            <a:ext cx="457200" cy="18288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KE</a:t>
            </a:r>
            <a:endParaRPr lang="en-US" sz="1000" dirty="0"/>
          </a:p>
        </p:txBody>
      </p:sp>
      <p:sp>
        <p:nvSpPr>
          <p:cNvPr id="111" name="Shape 109"/>
          <p:cNvSpPr/>
          <p:nvPr/>
        </p:nvSpPr>
        <p:spPr>
          <a:xfrm>
            <a:off x="5660136" y="5074920"/>
            <a:ext cx="749808" cy="91"/>
          </a:xfrm>
          <a:prstGeom prst="line">
            <a:avLst/>
          </a:prstGeom>
          <a:noFill/>
          <a:ln w="12700">
            <a:solidFill>
              <a:srgbClr val="1A2340"/>
            </a:solidFill>
            <a:prstDash val="solid"/>
          </a:ln>
        </p:spPr>
      </p:sp>
      <p:sp>
        <p:nvSpPr>
          <p:cNvPr id="112" name="Text 110"/>
          <p:cNvSpPr/>
          <p:nvPr/>
        </p:nvSpPr>
        <p:spPr>
          <a:xfrm>
            <a:off x="6400800" y="4114800"/>
            <a:ext cx="548640" cy="365760"/>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energy</a:t>
            </a:r>
            <a:endParaRPr lang="en-US" sz="1000" dirty="0"/>
          </a:p>
          <a:p>
            <a:pPr algn="ctr" indent="0" marL="0">
              <a:buNone/>
            </a:pPr>
            <a:r>
              <a:rPr lang="en-US" sz="1000" b="1" dirty="0">
                <a:solidFill>
                  <a:srgbClr val="1A2340"/>
                </a:solidFill>
                <a:latin typeface="Calibri" pitchFamily="34" charset="0"/>
                <a:ea typeface="Calibri" pitchFamily="34" charset="-122"/>
                <a:cs typeface="Calibri" pitchFamily="34" charset="-120"/>
              </a:rPr>
              <a:t>/ kJ</a:t>
            </a:r>
            <a:endParaRPr lang="en-US" sz="1000" dirty="0"/>
          </a:p>
        </p:txBody>
      </p:sp>
      <p:sp>
        <p:nvSpPr>
          <p:cNvPr id="113" name="Shape 111"/>
          <p:cNvSpPr/>
          <p:nvPr/>
        </p:nvSpPr>
        <p:spPr>
          <a:xfrm>
            <a:off x="7223760" y="1188720"/>
            <a:ext cx="4553712" cy="2331720"/>
          </a:xfrm>
          <a:prstGeom prst="roundRect">
            <a:avLst>
              <a:gd name="adj" fmla="val 2353"/>
            </a:avLst>
          </a:prstGeom>
          <a:solidFill>
            <a:srgbClr val="F5F8FE"/>
          </a:solidFill>
          <a:ln w="9525">
            <a:solidFill>
              <a:srgbClr val="D5DCEB"/>
            </a:solidFill>
            <a:prstDash val="solid"/>
          </a:ln>
        </p:spPr>
      </p:sp>
      <p:sp>
        <p:nvSpPr>
          <p:cNvPr id="114" name="Text 112"/>
          <p:cNvSpPr/>
          <p:nvPr/>
        </p:nvSpPr>
        <p:spPr>
          <a:xfrm>
            <a:off x="7388352" y="1280160"/>
            <a:ext cx="422452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Energy at each point</a:t>
            </a:r>
            <a:endParaRPr lang="en-US" sz="1300" dirty="0"/>
          </a:p>
        </p:txBody>
      </p:sp>
      <p:sp>
        <p:nvSpPr>
          <p:cNvPr id="115" name="Text 113"/>
          <p:cNvSpPr/>
          <p:nvPr/>
        </p:nvSpPr>
        <p:spPr>
          <a:xfrm>
            <a:off x="7388352" y="1609344"/>
            <a:ext cx="4224528" cy="183794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a:t>
            </a:r>
            <a:r>
              <a:rPr lang="en-US" sz="1100" dirty="0">
                <a:solidFill>
                  <a:srgbClr val="262B3A"/>
                </a:solidFill>
                <a:latin typeface="Calibri" pitchFamily="34" charset="0"/>
                <a:ea typeface="Calibri" pitchFamily="34" charset="-122"/>
                <a:cs typeface="Calibri" pitchFamily="34" charset="-120"/>
              </a:rPr>
              <a:t> all GPE: 500 × 10 × 20 = </a:t>
            </a:r>
            <a:r>
              <a:rPr lang="en-US" sz="1100" b="1" dirty="0">
                <a:solidFill>
                  <a:srgbClr val="262B3A"/>
                </a:solidFill>
                <a:latin typeface="Calibri" pitchFamily="34" charset="0"/>
                <a:ea typeface="Calibri" pitchFamily="34" charset="-122"/>
                <a:cs typeface="Calibri" pitchFamily="34" charset="-120"/>
              </a:rPr>
              <a:t>100 kJ</a:t>
            </a:r>
            <a:r>
              <a:rPr lang="en-US" sz="1100" dirty="0">
                <a:solidFill>
                  <a:srgbClr val="262B3A"/>
                </a:solidFill>
                <a:latin typeface="Calibri" pitchFamily="34" charset="0"/>
                <a:ea typeface="Calibri" pitchFamily="34" charset="-122"/>
                <a:cs typeface="Calibri" pitchFamily="34" charset="-120"/>
              </a:rPr>
              <a:t>; KE = 0.</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B</a:t>
            </a:r>
            <a:r>
              <a:rPr lang="en-US" sz="1100" dirty="0">
                <a:solidFill>
                  <a:srgbClr val="262B3A"/>
                </a:solidFill>
                <a:latin typeface="Calibri" pitchFamily="34" charset="0"/>
                <a:ea typeface="Calibri" pitchFamily="34" charset="-122"/>
                <a:cs typeface="Calibri" pitchFamily="34" charset="-120"/>
              </a:rPr>
              <a:t> (lowest): all KE = 100 kJ → </a:t>
            </a:r>
            <a:r>
              <a:rPr lang="en-US" sz="1100" b="1" dirty="0">
                <a:solidFill>
                  <a:srgbClr val="262B3A"/>
                </a:solidFill>
                <a:latin typeface="Calibri" pitchFamily="34" charset="0"/>
                <a:ea typeface="Calibri" pitchFamily="34" charset="-122"/>
                <a:cs typeface="Calibri" pitchFamily="34" charset="-120"/>
              </a:rPr>
              <a:t>fastest</a:t>
            </a:r>
            <a:r>
              <a:rPr lang="en-US" sz="1100" dirty="0">
                <a:solidFill>
                  <a:srgbClr val="262B3A"/>
                </a:solidFill>
                <a:latin typeface="Calibri" pitchFamily="34" charset="0"/>
                <a:ea typeface="Calibri" pitchFamily="34" charset="-122"/>
                <a:cs typeface="Calibri" pitchFamily="34" charset="-120"/>
              </a:rPr>
              <a:t> (20 m/s).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a:t>
            </a:r>
            <a:r>
              <a:rPr lang="en-US" sz="1100" dirty="0">
                <a:solidFill>
                  <a:srgbClr val="262B3A"/>
                </a:solidFill>
                <a:latin typeface="Calibri" pitchFamily="34" charset="0"/>
                <a:ea typeface="Calibri" pitchFamily="34" charset="-122"/>
                <a:cs typeface="Calibri" pitchFamily="34" charset="-120"/>
              </a:rPr>
              <a:t> GPE = 60 kJ, so KE = 100 − 60 = </a:t>
            </a:r>
            <a:r>
              <a:rPr lang="en-US" sz="1100" b="1" dirty="0">
                <a:solidFill>
                  <a:srgbClr val="262B3A"/>
                </a:solidFill>
                <a:latin typeface="Calibri" pitchFamily="34" charset="0"/>
                <a:ea typeface="Calibri" pitchFamily="34" charset="-122"/>
                <a:cs typeface="Calibri" pitchFamily="34" charset="-120"/>
              </a:rPr>
              <a:t>40 kJ</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GPE + KE is the </a:t>
            </a:r>
            <a:r>
              <a:rPr lang="en-US" sz="1100" b="1" dirty="0">
                <a:solidFill>
                  <a:srgbClr val="262B3A"/>
                </a:solidFill>
                <a:latin typeface="Calibri" pitchFamily="34" charset="0"/>
                <a:ea typeface="Calibri" pitchFamily="34" charset="-122"/>
                <a:cs typeface="Calibri" pitchFamily="34" charset="-120"/>
              </a:rPr>
              <a:t>same at every point</a:t>
            </a:r>
            <a:r>
              <a:rPr lang="en-US" sz="1100" dirty="0">
                <a:solidFill>
                  <a:srgbClr val="262B3A"/>
                </a:solidFill>
                <a:latin typeface="Calibri" pitchFamily="34" charset="0"/>
                <a:ea typeface="Calibri" pitchFamily="34" charset="-122"/>
                <a:cs typeface="Calibri" pitchFamily="34" charset="-120"/>
              </a:rPr>
              <a:t>. Real cars lose some energy to friction and air resistance.</a:t>
            </a:r>
            <a:endParaRPr lang="en-US" sz="1100" dirty="0"/>
          </a:p>
        </p:txBody>
      </p:sp>
      <p:sp>
        <p:nvSpPr>
          <p:cNvPr id="116" name="Shape 114"/>
          <p:cNvSpPr/>
          <p:nvPr/>
        </p:nvSpPr>
        <p:spPr>
          <a:xfrm>
            <a:off x="7223760" y="3657600"/>
            <a:ext cx="4553712" cy="2057400"/>
          </a:xfrm>
          <a:prstGeom prst="roundRect">
            <a:avLst>
              <a:gd name="adj" fmla="val 2667"/>
            </a:avLst>
          </a:prstGeom>
          <a:solidFill>
            <a:srgbClr val="FFF4E0"/>
          </a:solidFill>
          <a:ln w="9525">
            <a:solidFill>
              <a:srgbClr val="F1D9A8"/>
            </a:solidFill>
            <a:prstDash val="solid"/>
          </a:ln>
        </p:spPr>
      </p:sp>
      <p:sp>
        <p:nvSpPr>
          <p:cNvPr id="117" name="Text 115"/>
          <p:cNvSpPr/>
          <p:nvPr/>
        </p:nvSpPr>
        <p:spPr>
          <a:xfrm>
            <a:off x="7388352" y="3730752"/>
            <a:ext cx="422452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118" name="Text 116"/>
          <p:cNvSpPr/>
          <p:nvPr/>
        </p:nvSpPr>
        <p:spPr>
          <a:xfrm>
            <a:off x="7388352" y="4041648"/>
            <a:ext cx="4224528" cy="16002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Calculate the speed of the car at C.</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KE at C   </a:t>
            </a:r>
            <a:r>
              <a:rPr lang="en-US" sz="1050" dirty="0">
                <a:solidFill>
                  <a:srgbClr val="262B3A"/>
                </a:solidFill>
                <a:latin typeface="Calibri" pitchFamily="34" charset="0"/>
                <a:ea typeface="Calibri" pitchFamily="34" charset="-122"/>
                <a:cs typeface="Calibri" pitchFamily="34" charset="-120"/>
              </a:rPr>
              <a:t>KE = 100 000 − 60 000 = 40 000 J</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Equation   </a:t>
            </a:r>
            <a:r>
              <a:rPr lang="en-US" sz="1050" dirty="0">
                <a:solidFill>
                  <a:srgbClr val="262B3A"/>
                </a:solidFill>
                <a:latin typeface="Calibri" pitchFamily="34" charset="0"/>
                <a:ea typeface="Calibri" pitchFamily="34" charset="-122"/>
                <a:cs typeface="Calibri" pitchFamily="34" charset="-120"/>
              </a:rPr>
              <a:t>v = √(2 × KE ÷ m)</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v = √(2 × 40 000 ÷ 500) = √160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v = 12.6 m/s (3 s.f.)</a:t>
            </a:r>
            <a:endParaRPr lang="en-US" sz="1050" dirty="0"/>
          </a:p>
        </p:txBody>
      </p:sp>
      <p:sp>
        <p:nvSpPr>
          <p:cNvPr id="119" name="Shape 117"/>
          <p:cNvSpPr/>
          <p:nvPr/>
        </p:nvSpPr>
        <p:spPr>
          <a:xfrm>
            <a:off x="411480" y="5833872"/>
            <a:ext cx="11368735" cy="530352"/>
          </a:xfrm>
          <a:prstGeom prst="rect">
            <a:avLst/>
          </a:prstGeom>
          <a:solidFill>
            <a:srgbClr val="FFF4E0"/>
          </a:solidFill>
          <a:ln w="6350">
            <a:solidFill>
              <a:srgbClr val="F1D9A8"/>
            </a:solidFill>
            <a:prstDash val="solid"/>
          </a:ln>
        </p:spPr>
      </p:sp>
      <p:sp>
        <p:nvSpPr>
          <p:cNvPr id="120" name="Shape 118"/>
          <p:cNvSpPr/>
          <p:nvPr/>
        </p:nvSpPr>
        <p:spPr>
          <a:xfrm>
            <a:off x="411480" y="5833872"/>
            <a:ext cx="82296" cy="530352"/>
          </a:xfrm>
          <a:prstGeom prst="rect">
            <a:avLst/>
          </a:prstGeom>
          <a:solidFill>
            <a:srgbClr val="E39A2F"/>
          </a:solidFill>
          <a:ln w="12700">
            <a:solidFill>
              <a:srgbClr val="E39A2F"/>
            </a:solidFill>
            <a:prstDash val="solid"/>
          </a:ln>
        </p:spPr>
      </p:sp>
      <p:sp>
        <p:nvSpPr>
          <p:cNvPr id="121" name="Text 11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kinetic energy and the speed of the car at D (h = 5 m). Why would the real speed be lower?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 3.2, 3.5 • GPE, KE and energy changes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12</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70 kg</a:t>
            </a:r>
            <a:r>
              <a:rPr lang="en-US" sz="1250" dirty="0">
                <a:solidFill>
                  <a:srgbClr val="262B3A"/>
                </a:solidFill>
                <a:latin typeface="Calibri" pitchFamily="34" charset="0"/>
                <a:ea typeface="Calibri" pitchFamily="34" charset="-122"/>
                <a:cs typeface="Calibri" pitchFamily="34" charset="-120"/>
              </a:rPr>
              <a:t> sprinter runs at </a:t>
            </a:r>
            <a:r>
              <a:rPr lang="en-US" sz="1250" b="1" dirty="0">
                <a:solidFill>
                  <a:srgbClr val="262B3A"/>
                </a:solidFill>
                <a:latin typeface="Calibri" pitchFamily="34" charset="0"/>
                <a:ea typeface="Calibri" pitchFamily="34" charset="-122"/>
                <a:cs typeface="Calibri" pitchFamily="34" charset="-120"/>
              </a:rPr>
              <a:t>8.0 m/s</a:t>
            </a:r>
            <a:r>
              <a:rPr lang="en-US" sz="1250" dirty="0">
                <a:solidFill>
                  <a:srgbClr val="262B3A"/>
                </a:solidFill>
                <a:latin typeface="Calibri" pitchFamily="34" charset="0"/>
                <a:ea typeface="Calibri" pitchFamily="34" charset="-122"/>
                <a:cs typeface="Calibri" pitchFamily="34" charset="-120"/>
              </a:rPr>
              <a:t>. Calculate her kinetic energy.</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a:t>
            </a:r>
            <a:r>
              <a:rPr lang="en-US" sz="1250" b="1" dirty="0">
                <a:solidFill>
                  <a:srgbClr val="262B3A"/>
                </a:solidFill>
                <a:latin typeface="Calibri" pitchFamily="34" charset="0"/>
                <a:ea typeface="Calibri" pitchFamily="34" charset="-122"/>
                <a:cs typeface="Calibri" pitchFamily="34" charset="-120"/>
              </a:rPr>
              <a:t>0.20 kg</a:t>
            </a:r>
            <a:r>
              <a:rPr lang="en-US" sz="1250" dirty="0">
                <a:solidFill>
                  <a:srgbClr val="262B3A"/>
                </a:solidFill>
                <a:latin typeface="Calibri" pitchFamily="34" charset="0"/>
                <a:ea typeface="Calibri" pitchFamily="34" charset="-122"/>
                <a:cs typeface="Calibri" pitchFamily="34" charset="-120"/>
              </a:rPr>
              <a:t> ball is thrown straight up at </a:t>
            </a:r>
            <a:r>
              <a:rPr lang="en-US" sz="1250" b="1" dirty="0">
                <a:solidFill>
                  <a:srgbClr val="262B3A"/>
                </a:solidFill>
                <a:latin typeface="Calibri" pitchFamily="34" charset="0"/>
                <a:ea typeface="Calibri" pitchFamily="34" charset="-122"/>
                <a:cs typeface="Calibri" pitchFamily="34" charset="-120"/>
              </a:rPr>
              <a:t>6.0 m/s</a:t>
            </a:r>
            <a:r>
              <a:rPr lang="en-US" sz="1250" dirty="0">
                <a:solidFill>
                  <a:srgbClr val="262B3A"/>
                </a:solidFill>
                <a:latin typeface="Calibri" pitchFamily="34" charset="0"/>
                <a:ea typeface="Calibri" pitchFamily="34" charset="-122"/>
                <a:cs typeface="Calibri" pitchFamily="34" charset="-120"/>
              </a:rPr>
              <a:t>. Ignoring air resistance, calculate the maximum height it reaches. g = 10 N/kg.</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energy changes as a pendulum swings from one end of its swing to the lowest point.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Analysing changes in a system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3.5 • which store empties, which fills, and how?</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3.5  |  13</a:t>
            </a:r>
            <a:endParaRPr lang="en-US" sz="1000" dirty="0"/>
          </a:p>
        </p:txBody>
      </p:sp>
      <p:sp>
        <p:nvSpPr>
          <p:cNvPr id="8" name="Shape 6"/>
          <p:cNvSpPr/>
          <p:nvPr/>
        </p:nvSpPr>
        <p:spPr>
          <a:xfrm>
            <a:off x="411480" y="1188720"/>
            <a:ext cx="69494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66751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five situations named in the specification</a:t>
            </a:r>
            <a:endParaRPr lang="en-US" sz="1000" dirty="0"/>
          </a:p>
        </p:txBody>
      </p:sp>
      <p:sp>
        <p:nvSpPr>
          <p:cNvPr id="10" name="Text 8"/>
          <p:cNvSpPr/>
          <p:nvPr/>
        </p:nvSpPr>
        <p:spPr>
          <a:xfrm>
            <a:off x="640080" y="1280160"/>
            <a:ext cx="2377440" cy="256032"/>
          </a:xfrm>
          <a:prstGeom prst="rect">
            <a:avLst/>
          </a:prstGeom>
          <a:noFill/>
          <a:ln/>
        </p:spPr>
        <p:txBody>
          <a:bodyPr wrap="square" lIns="0" tIns="0" rIns="0" bIns="0" rtlCol="0" anchor="ctr"/>
          <a:lstStyle/>
          <a:p>
            <a:pPr algn="l" indent="0" marL="0">
              <a:buNone/>
            </a:pPr>
            <a:r>
              <a:rPr lang="en-US" sz="1100" b="1" dirty="0">
                <a:solidFill>
                  <a:srgbClr val="1A2340"/>
                </a:solidFill>
                <a:latin typeface="Calibri" pitchFamily="34" charset="0"/>
                <a:ea typeface="Calibri" pitchFamily="34" charset="-122"/>
                <a:cs typeface="Calibri" pitchFamily="34" charset="-120"/>
              </a:rPr>
              <a:t>Situation</a:t>
            </a:r>
            <a:endParaRPr lang="en-US" sz="1100" dirty="0"/>
          </a:p>
        </p:txBody>
      </p:sp>
      <p:sp>
        <p:nvSpPr>
          <p:cNvPr id="11" name="Text 9"/>
          <p:cNvSpPr/>
          <p:nvPr/>
        </p:nvSpPr>
        <p:spPr>
          <a:xfrm>
            <a:off x="3063240" y="1280160"/>
            <a:ext cx="137160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Store empties</a:t>
            </a:r>
            <a:endParaRPr lang="en-US" sz="1100" dirty="0"/>
          </a:p>
        </p:txBody>
      </p:sp>
      <p:sp>
        <p:nvSpPr>
          <p:cNvPr id="12" name="Text 10"/>
          <p:cNvSpPr/>
          <p:nvPr/>
        </p:nvSpPr>
        <p:spPr>
          <a:xfrm>
            <a:off x="4572000" y="1280160"/>
            <a:ext cx="100584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Pathway</a:t>
            </a:r>
            <a:endParaRPr lang="en-US" sz="1100" dirty="0"/>
          </a:p>
        </p:txBody>
      </p:sp>
      <p:sp>
        <p:nvSpPr>
          <p:cNvPr id="13" name="Text 11"/>
          <p:cNvSpPr/>
          <p:nvPr/>
        </p:nvSpPr>
        <p:spPr>
          <a:xfrm>
            <a:off x="5715000" y="1280160"/>
            <a:ext cx="146304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Store fills</a:t>
            </a:r>
            <a:endParaRPr lang="en-US" sz="1100" dirty="0"/>
          </a:p>
        </p:txBody>
      </p:sp>
      <p:sp>
        <p:nvSpPr>
          <p:cNvPr id="14" name="Shape 12"/>
          <p:cNvSpPr/>
          <p:nvPr/>
        </p:nvSpPr>
        <p:spPr>
          <a:xfrm>
            <a:off x="594360" y="1627632"/>
            <a:ext cx="6583680" cy="621792"/>
          </a:xfrm>
          <a:prstGeom prst="roundRect">
            <a:avLst>
              <a:gd name="adj" fmla="val 5882"/>
            </a:avLst>
          </a:prstGeom>
          <a:solidFill>
            <a:srgbClr val="F5F8FE"/>
          </a:solidFill>
          <a:ln w="6350">
            <a:solidFill>
              <a:srgbClr val="D5DCEB"/>
            </a:solidFill>
            <a:prstDash val="solid"/>
          </a:ln>
        </p:spPr>
      </p:sp>
      <p:sp>
        <p:nvSpPr>
          <p:cNvPr id="15" name="Text 13"/>
          <p:cNvSpPr/>
          <p:nvPr/>
        </p:nvSpPr>
        <p:spPr>
          <a:xfrm>
            <a:off x="685800" y="1627632"/>
            <a:ext cx="2331720" cy="62179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(a) ball projected upwards / up a slope</a:t>
            </a:r>
            <a:endParaRPr lang="en-US" sz="1050" dirty="0"/>
          </a:p>
        </p:txBody>
      </p:sp>
      <p:sp>
        <p:nvSpPr>
          <p:cNvPr id="16" name="Shape 14"/>
          <p:cNvSpPr/>
          <p:nvPr/>
        </p:nvSpPr>
        <p:spPr>
          <a:xfrm>
            <a:off x="3063240" y="1737360"/>
            <a:ext cx="1371600" cy="402336"/>
          </a:xfrm>
          <a:prstGeom prst="roundRect">
            <a:avLst>
              <a:gd name="adj" fmla="val 11364"/>
            </a:avLst>
          </a:prstGeom>
          <a:solidFill>
            <a:srgbClr val="2E8B57"/>
          </a:solidFill>
          <a:ln/>
        </p:spPr>
      </p:sp>
      <p:sp>
        <p:nvSpPr>
          <p:cNvPr id="17" name="Text 15"/>
          <p:cNvSpPr/>
          <p:nvPr/>
        </p:nvSpPr>
        <p:spPr>
          <a:xfrm>
            <a:off x="3099816" y="1737360"/>
            <a:ext cx="129844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kinetic</a:t>
            </a:r>
            <a:endParaRPr lang="en-US" sz="1000" dirty="0"/>
          </a:p>
        </p:txBody>
      </p:sp>
      <p:sp>
        <p:nvSpPr>
          <p:cNvPr id="18" name="Shape 16"/>
          <p:cNvSpPr/>
          <p:nvPr/>
        </p:nvSpPr>
        <p:spPr>
          <a:xfrm>
            <a:off x="4480560" y="1938528"/>
            <a:ext cx="1188720" cy="91"/>
          </a:xfrm>
          <a:prstGeom prst="line">
            <a:avLst/>
          </a:prstGeom>
          <a:noFill/>
          <a:ln w="25400">
            <a:solidFill>
              <a:srgbClr val="2E5BD8"/>
            </a:solidFill>
            <a:prstDash val="solid"/>
            <a:tailEnd type="triangle"/>
          </a:ln>
        </p:spPr>
      </p:sp>
      <p:sp>
        <p:nvSpPr>
          <p:cNvPr id="19" name="Text 17"/>
          <p:cNvSpPr/>
          <p:nvPr/>
        </p:nvSpPr>
        <p:spPr>
          <a:xfrm>
            <a:off x="4480560" y="1664208"/>
            <a:ext cx="1188720" cy="237744"/>
          </a:xfrm>
          <a:prstGeom prst="rect">
            <a:avLst/>
          </a:prstGeom>
          <a:noFill/>
          <a:ln/>
        </p:spPr>
        <p:txBody>
          <a:bodyPr wrap="square" lIns="0" tIns="0" rIns="0" bIns="0" rtlCol="0" anchor="ctr"/>
          <a:lstStyle/>
          <a:p>
            <a:pPr algn="ctr" indent="0" marL="0">
              <a:buNone/>
            </a:pPr>
            <a:r>
              <a:rPr lang="en-US" sz="1000" i="1" dirty="0">
                <a:solidFill>
                  <a:srgbClr val="2E5BD8"/>
                </a:solidFill>
                <a:latin typeface="Calibri" pitchFamily="34" charset="0"/>
                <a:ea typeface="Calibri" pitchFamily="34" charset="-122"/>
                <a:cs typeface="Calibri" pitchFamily="34" charset="-120"/>
              </a:rPr>
              <a:t>mechanically</a:t>
            </a:r>
            <a:endParaRPr lang="en-US" sz="1000" dirty="0"/>
          </a:p>
        </p:txBody>
      </p:sp>
      <p:sp>
        <p:nvSpPr>
          <p:cNvPr id="20" name="Shape 18"/>
          <p:cNvSpPr/>
          <p:nvPr/>
        </p:nvSpPr>
        <p:spPr>
          <a:xfrm>
            <a:off x="5715000" y="1737360"/>
            <a:ext cx="1371600" cy="402336"/>
          </a:xfrm>
          <a:prstGeom prst="roundRect">
            <a:avLst>
              <a:gd name="adj" fmla="val 11364"/>
            </a:avLst>
          </a:prstGeom>
          <a:solidFill>
            <a:srgbClr val="2E5BD8"/>
          </a:solidFill>
          <a:ln/>
        </p:spPr>
      </p:sp>
      <p:sp>
        <p:nvSpPr>
          <p:cNvPr id="21" name="Text 19"/>
          <p:cNvSpPr/>
          <p:nvPr/>
        </p:nvSpPr>
        <p:spPr>
          <a:xfrm>
            <a:off x="5751576" y="1737360"/>
            <a:ext cx="129844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grav. potential</a:t>
            </a:r>
            <a:endParaRPr lang="en-US" sz="1000" dirty="0"/>
          </a:p>
        </p:txBody>
      </p:sp>
      <p:sp>
        <p:nvSpPr>
          <p:cNvPr id="22" name="Shape 20"/>
          <p:cNvSpPr/>
          <p:nvPr/>
        </p:nvSpPr>
        <p:spPr>
          <a:xfrm>
            <a:off x="594360" y="2359152"/>
            <a:ext cx="6583680" cy="621792"/>
          </a:xfrm>
          <a:prstGeom prst="roundRect">
            <a:avLst>
              <a:gd name="adj" fmla="val 5882"/>
            </a:avLst>
          </a:prstGeom>
          <a:solidFill>
            <a:srgbClr val="FFFFFF"/>
          </a:solidFill>
          <a:ln w="6350">
            <a:solidFill>
              <a:srgbClr val="D5DCEB"/>
            </a:solidFill>
            <a:prstDash val="solid"/>
          </a:ln>
        </p:spPr>
      </p:sp>
      <p:sp>
        <p:nvSpPr>
          <p:cNvPr id="23" name="Text 21"/>
          <p:cNvSpPr/>
          <p:nvPr/>
        </p:nvSpPr>
        <p:spPr>
          <a:xfrm>
            <a:off x="685800" y="2359152"/>
            <a:ext cx="2331720" cy="62179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(b) moving object hits an obstacle</a:t>
            </a:r>
            <a:endParaRPr lang="en-US" sz="1050" dirty="0"/>
          </a:p>
        </p:txBody>
      </p:sp>
      <p:sp>
        <p:nvSpPr>
          <p:cNvPr id="24" name="Shape 22"/>
          <p:cNvSpPr/>
          <p:nvPr/>
        </p:nvSpPr>
        <p:spPr>
          <a:xfrm>
            <a:off x="3063240" y="2468880"/>
            <a:ext cx="1371600" cy="402336"/>
          </a:xfrm>
          <a:prstGeom prst="roundRect">
            <a:avLst>
              <a:gd name="adj" fmla="val 11364"/>
            </a:avLst>
          </a:prstGeom>
          <a:solidFill>
            <a:srgbClr val="2E8B57"/>
          </a:solidFill>
          <a:ln/>
        </p:spPr>
      </p:sp>
      <p:sp>
        <p:nvSpPr>
          <p:cNvPr id="25" name="Text 23"/>
          <p:cNvSpPr/>
          <p:nvPr/>
        </p:nvSpPr>
        <p:spPr>
          <a:xfrm>
            <a:off x="3099816" y="2468880"/>
            <a:ext cx="129844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kinetic</a:t>
            </a:r>
            <a:endParaRPr lang="en-US" sz="1000" dirty="0"/>
          </a:p>
        </p:txBody>
      </p:sp>
      <p:sp>
        <p:nvSpPr>
          <p:cNvPr id="26" name="Shape 24"/>
          <p:cNvSpPr/>
          <p:nvPr/>
        </p:nvSpPr>
        <p:spPr>
          <a:xfrm>
            <a:off x="4480560" y="2670048"/>
            <a:ext cx="1188720" cy="91"/>
          </a:xfrm>
          <a:prstGeom prst="line">
            <a:avLst/>
          </a:prstGeom>
          <a:noFill/>
          <a:ln w="25400">
            <a:solidFill>
              <a:srgbClr val="2E5BD8"/>
            </a:solidFill>
            <a:prstDash val="solid"/>
            <a:tailEnd type="triangle"/>
          </a:ln>
        </p:spPr>
      </p:sp>
      <p:sp>
        <p:nvSpPr>
          <p:cNvPr id="27" name="Text 25"/>
          <p:cNvSpPr/>
          <p:nvPr/>
        </p:nvSpPr>
        <p:spPr>
          <a:xfrm>
            <a:off x="4480560" y="2395728"/>
            <a:ext cx="1188720" cy="237744"/>
          </a:xfrm>
          <a:prstGeom prst="rect">
            <a:avLst/>
          </a:prstGeom>
          <a:noFill/>
          <a:ln/>
        </p:spPr>
        <p:txBody>
          <a:bodyPr wrap="square" lIns="0" tIns="0" rIns="0" bIns="0" rtlCol="0" anchor="ctr"/>
          <a:lstStyle/>
          <a:p>
            <a:pPr algn="ctr" indent="0" marL="0">
              <a:buNone/>
            </a:pPr>
            <a:r>
              <a:rPr lang="en-US" sz="1000" i="1" dirty="0">
                <a:solidFill>
                  <a:srgbClr val="2E5BD8"/>
                </a:solidFill>
                <a:latin typeface="Calibri" pitchFamily="34" charset="0"/>
                <a:ea typeface="Calibri" pitchFamily="34" charset="-122"/>
                <a:cs typeface="Calibri" pitchFamily="34" charset="-120"/>
              </a:rPr>
              <a:t>mechanically</a:t>
            </a:r>
            <a:endParaRPr lang="en-US" sz="1000" dirty="0"/>
          </a:p>
        </p:txBody>
      </p:sp>
      <p:sp>
        <p:nvSpPr>
          <p:cNvPr id="28" name="Shape 26"/>
          <p:cNvSpPr/>
          <p:nvPr/>
        </p:nvSpPr>
        <p:spPr>
          <a:xfrm>
            <a:off x="5715000" y="2468880"/>
            <a:ext cx="1371600" cy="402336"/>
          </a:xfrm>
          <a:prstGeom prst="roundRect">
            <a:avLst>
              <a:gd name="adj" fmla="val 11364"/>
            </a:avLst>
          </a:prstGeom>
          <a:solidFill>
            <a:srgbClr val="C8414C"/>
          </a:solidFill>
          <a:ln/>
        </p:spPr>
      </p:sp>
      <p:sp>
        <p:nvSpPr>
          <p:cNvPr id="29" name="Text 27"/>
          <p:cNvSpPr/>
          <p:nvPr/>
        </p:nvSpPr>
        <p:spPr>
          <a:xfrm>
            <a:off x="5751576" y="2468880"/>
            <a:ext cx="129844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thermal (+ sound)</a:t>
            </a:r>
            <a:endParaRPr lang="en-US" sz="1000" dirty="0"/>
          </a:p>
        </p:txBody>
      </p:sp>
      <p:sp>
        <p:nvSpPr>
          <p:cNvPr id="30" name="Shape 28"/>
          <p:cNvSpPr/>
          <p:nvPr/>
        </p:nvSpPr>
        <p:spPr>
          <a:xfrm>
            <a:off x="594360" y="3090672"/>
            <a:ext cx="6583680" cy="621792"/>
          </a:xfrm>
          <a:prstGeom prst="roundRect">
            <a:avLst>
              <a:gd name="adj" fmla="val 5882"/>
            </a:avLst>
          </a:prstGeom>
          <a:solidFill>
            <a:srgbClr val="F5F8FE"/>
          </a:solidFill>
          <a:ln w="6350">
            <a:solidFill>
              <a:srgbClr val="D5DCEB"/>
            </a:solidFill>
            <a:prstDash val="solid"/>
          </a:ln>
        </p:spPr>
      </p:sp>
      <p:sp>
        <p:nvSpPr>
          <p:cNvPr id="31" name="Text 29"/>
          <p:cNvSpPr/>
          <p:nvPr/>
        </p:nvSpPr>
        <p:spPr>
          <a:xfrm>
            <a:off x="685800" y="3090672"/>
            <a:ext cx="2331720" cy="62179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(c) object accelerated by a constant force</a:t>
            </a:r>
            <a:endParaRPr lang="en-US" sz="1050" dirty="0"/>
          </a:p>
        </p:txBody>
      </p:sp>
      <p:sp>
        <p:nvSpPr>
          <p:cNvPr id="32" name="Shape 30"/>
          <p:cNvSpPr/>
          <p:nvPr/>
        </p:nvSpPr>
        <p:spPr>
          <a:xfrm>
            <a:off x="3063240" y="3200400"/>
            <a:ext cx="1371600" cy="402336"/>
          </a:xfrm>
          <a:prstGeom prst="roundRect">
            <a:avLst>
              <a:gd name="adj" fmla="val 11364"/>
            </a:avLst>
          </a:prstGeom>
          <a:solidFill>
            <a:srgbClr val="B8730A"/>
          </a:solidFill>
          <a:ln/>
        </p:spPr>
      </p:sp>
      <p:sp>
        <p:nvSpPr>
          <p:cNvPr id="33" name="Text 31"/>
          <p:cNvSpPr/>
          <p:nvPr/>
        </p:nvSpPr>
        <p:spPr>
          <a:xfrm>
            <a:off x="3099816" y="3200400"/>
            <a:ext cx="129844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chemical (person)</a:t>
            </a:r>
            <a:endParaRPr lang="en-US" sz="1000" dirty="0"/>
          </a:p>
        </p:txBody>
      </p:sp>
      <p:sp>
        <p:nvSpPr>
          <p:cNvPr id="34" name="Shape 32"/>
          <p:cNvSpPr/>
          <p:nvPr/>
        </p:nvSpPr>
        <p:spPr>
          <a:xfrm>
            <a:off x="4480560" y="3401568"/>
            <a:ext cx="1188720" cy="91"/>
          </a:xfrm>
          <a:prstGeom prst="line">
            <a:avLst/>
          </a:prstGeom>
          <a:noFill/>
          <a:ln w="25400">
            <a:solidFill>
              <a:srgbClr val="2E5BD8"/>
            </a:solidFill>
            <a:prstDash val="solid"/>
            <a:tailEnd type="triangle"/>
          </a:ln>
        </p:spPr>
      </p:sp>
      <p:sp>
        <p:nvSpPr>
          <p:cNvPr id="35" name="Text 33"/>
          <p:cNvSpPr/>
          <p:nvPr/>
        </p:nvSpPr>
        <p:spPr>
          <a:xfrm>
            <a:off x="4480560" y="3127248"/>
            <a:ext cx="1188720" cy="237744"/>
          </a:xfrm>
          <a:prstGeom prst="rect">
            <a:avLst/>
          </a:prstGeom>
          <a:noFill/>
          <a:ln/>
        </p:spPr>
        <p:txBody>
          <a:bodyPr wrap="square" lIns="0" tIns="0" rIns="0" bIns="0" rtlCol="0" anchor="ctr"/>
          <a:lstStyle/>
          <a:p>
            <a:pPr algn="ctr" indent="0" marL="0">
              <a:buNone/>
            </a:pPr>
            <a:r>
              <a:rPr lang="en-US" sz="1000" i="1" dirty="0">
                <a:solidFill>
                  <a:srgbClr val="2E5BD8"/>
                </a:solidFill>
                <a:latin typeface="Calibri" pitchFamily="34" charset="0"/>
                <a:ea typeface="Calibri" pitchFamily="34" charset="-122"/>
                <a:cs typeface="Calibri" pitchFamily="34" charset="-120"/>
              </a:rPr>
              <a:t>mechanically</a:t>
            </a:r>
            <a:endParaRPr lang="en-US" sz="1000" dirty="0"/>
          </a:p>
        </p:txBody>
      </p:sp>
      <p:sp>
        <p:nvSpPr>
          <p:cNvPr id="36" name="Shape 34"/>
          <p:cNvSpPr/>
          <p:nvPr/>
        </p:nvSpPr>
        <p:spPr>
          <a:xfrm>
            <a:off x="5715000" y="3200400"/>
            <a:ext cx="1371600" cy="402336"/>
          </a:xfrm>
          <a:prstGeom prst="roundRect">
            <a:avLst>
              <a:gd name="adj" fmla="val 11364"/>
            </a:avLst>
          </a:prstGeom>
          <a:solidFill>
            <a:srgbClr val="2E8B57"/>
          </a:solidFill>
          <a:ln/>
        </p:spPr>
      </p:sp>
      <p:sp>
        <p:nvSpPr>
          <p:cNvPr id="37" name="Text 35"/>
          <p:cNvSpPr/>
          <p:nvPr/>
        </p:nvSpPr>
        <p:spPr>
          <a:xfrm>
            <a:off x="5751576" y="3200400"/>
            <a:ext cx="129844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kinetic</a:t>
            </a:r>
            <a:endParaRPr lang="en-US" sz="1000" dirty="0"/>
          </a:p>
        </p:txBody>
      </p:sp>
      <p:sp>
        <p:nvSpPr>
          <p:cNvPr id="38" name="Shape 36"/>
          <p:cNvSpPr/>
          <p:nvPr/>
        </p:nvSpPr>
        <p:spPr>
          <a:xfrm>
            <a:off x="594360" y="3822192"/>
            <a:ext cx="6583680" cy="621792"/>
          </a:xfrm>
          <a:prstGeom prst="roundRect">
            <a:avLst>
              <a:gd name="adj" fmla="val 5882"/>
            </a:avLst>
          </a:prstGeom>
          <a:solidFill>
            <a:srgbClr val="FFFFFF"/>
          </a:solidFill>
          <a:ln w="6350">
            <a:solidFill>
              <a:srgbClr val="D5DCEB"/>
            </a:solidFill>
            <a:prstDash val="solid"/>
          </a:ln>
        </p:spPr>
      </p:sp>
      <p:sp>
        <p:nvSpPr>
          <p:cNvPr id="39" name="Text 37"/>
          <p:cNvSpPr/>
          <p:nvPr/>
        </p:nvSpPr>
        <p:spPr>
          <a:xfrm>
            <a:off x="685800" y="3822192"/>
            <a:ext cx="2331720" cy="62179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(d) vehicle slowing down (braking)</a:t>
            </a:r>
            <a:endParaRPr lang="en-US" sz="1050" dirty="0"/>
          </a:p>
        </p:txBody>
      </p:sp>
      <p:sp>
        <p:nvSpPr>
          <p:cNvPr id="40" name="Shape 38"/>
          <p:cNvSpPr/>
          <p:nvPr/>
        </p:nvSpPr>
        <p:spPr>
          <a:xfrm>
            <a:off x="3063240" y="3931920"/>
            <a:ext cx="1371600" cy="402336"/>
          </a:xfrm>
          <a:prstGeom prst="roundRect">
            <a:avLst>
              <a:gd name="adj" fmla="val 11364"/>
            </a:avLst>
          </a:prstGeom>
          <a:solidFill>
            <a:srgbClr val="2E8B57"/>
          </a:solidFill>
          <a:ln/>
        </p:spPr>
      </p:sp>
      <p:sp>
        <p:nvSpPr>
          <p:cNvPr id="41" name="Text 39"/>
          <p:cNvSpPr/>
          <p:nvPr/>
        </p:nvSpPr>
        <p:spPr>
          <a:xfrm>
            <a:off x="3099816" y="3931920"/>
            <a:ext cx="129844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kinetic</a:t>
            </a:r>
            <a:endParaRPr lang="en-US" sz="1000" dirty="0"/>
          </a:p>
        </p:txBody>
      </p:sp>
      <p:sp>
        <p:nvSpPr>
          <p:cNvPr id="42" name="Shape 40"/>
          <p:cNvSpPr/>
          <p:nvPr/>
        </p:nvSpPr>
        <p:spPr>
          <a:xfrm>
            <a:off x="4480560" y="4133088"/>
            <a:ext cx="1188720" cy="91"/>
          </a:xfrm>
          <a:prstGeom prst="line">
            <a:avLst/>
          </a:prstGeom>
          <a:noFill/>
          <a:ln w="25400">
            <a:solidFill>
              <a:srgbClr val="2E5BD8"/>
            </a:solidFill>
            <a:prstDash val="solid"/>
            <a:tailEnd type="triangle"/>
          </a:ln>
        </p:spPr>
      </p:sp>
      <p:sp>
        <p:nvSpPr>
          <p:cNvPr id="43" name="Text 41"/>
          <p:cNvSpPr/>
          <p:nvPr/>
        </p:nvSpPr>
        <p:spPr>
          <a:xfrm>
            <a:off x="4480560" y="3858768"/>
            <a:ext cx="1188720" cy="237744"/>
          </a:xfrm>
          <a:prstGeom prst="rect">
            <a:avLst/>
          </a:prstGeom>
          <a:noFill/>
          <a:ln/>
        </p:spPr>
        <p:txBody>
          <a:bodyPr wrap="square" lIns="0" tIns="0" rIns="0" bIns="0" rtlCol="0" anchor="ctr"/>
          <a:lstStyle/>
          <a:p>
            <a:pPr algn="ctr" indent="0" marL="0">
              <a:buNone/>
            </a:pPr>
            <a:r>
              <a:rPr lang="en-US" sz="1000" i="1" dirty="0">
                <a:solidFill>
                  <a:srgbClr val="2E5BD8"/>
                </a:solidFill>
                <a:latin typeface="Calibri" pitchFamily="34" charset="0"/>
                <a:ea typeface="Calibri" pitchFamily="34" charset="-122"/>
                <a:cs typeface="Calibri" pitchFamily="34" charset="-120"/>
              </a:rPr>
              <a:t>by friction</a:t>
            </a:r>
            <a:endParaRPr lang="en-US" sz="1000" dirty="0"/>
          </a:p>
        </p:txBody>
      </p:sp>
      <p:sp>
        <p:nvSpPr>
          <p:cNvPr id="44" name="Shape 42"/>
          <p:cNvSpPr/>
          <p:nvPr/>
        </p:nvSpPr>
        <p:spPr>
          <a:xfrm>
            <a:off x="5715000" y="3931920"/>
            <a:ext cx="1371600" cy="402336"/>
          </a:xfrm>
          <a:prstGeom prst="roundRect">
            <a:avLst>
              <a:gd name="adj" fmla="val 11364"/>
            </a:avLst>
          </a:prstGeom>
          <a:solidFill>
            <a:srgbClr val="C8414C"/>
          </a:solidFill>
          <a:ln/>
        </p:spPr>
      </p:sp>
      <p:sp>
        <p:nvSpPr>
          <p:cNvPr id="45" name="Text 43"/>
          <p:cNvSpPr/>
          <p:nvPr/>
        </p:nvSpPr>
        <p:spPr>
          <a:xfrm>
            <a:off x="5751576" y="3931920"/>
            <a:ext cx="129844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thermal (brakes)</a:t>
            </a:r>
            <a:endParaRPr lang="en-US" sz="1000" dirty="0"/>
          </a:p>
        </p:txBody>
      </p:sp>
      <p:sp>
        <p:nvSpPr>
          <p:cNvPr id="46" name="Shape 44"/>
          <p:cNvSpPr/>
          <p:nvPr/>
        </p:nvSpPr>
        <p:spPr>
          <a:xfrm>
            <a:off x="594360" y="4553712"/>
            <a:ext cx="6583680" cy="621792"/>
          </a:xfrm>
          <a:prstGeom prst="roundRect">
            <a:avLst>
              <a:gd name="adj" fmla="val 5882"/>
            </a:avLst>
          </a:prstGeom>
          <a:solidFill>
            <a:srgbClr val="F5F8FE"/>
          </a:solidFill>
          <a:ln w="6350">
            <a:solidFill>
              <a:srgbClr val="D5DCEB"/>
            </a:solidFill>
            <a:prstDash val="solid"/>
          </a:ln>
        </p:spPr>
      </p:sp>
      <p:sp>
        <p:nvSpPr>
          <p:cNvPr id="47" name="Text 45"/>
          <p:cNvSpPr/>
          <p:nvPr/>
        </p:nvSpPr>
        <p:spPr>
          <a:xfrm>
            <a:off x="685800" y="4553712"/>
            <a:ext cx="2331720" cy="62179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(e) water boiled in an electric kettle</a:t>
            </a:r>
            <a:endParaRPr lang="en-US" sz="1050" dirty="0"/>
          </a:p>
        </p:txBody>
      </p:sp>
      <p:sp>
        <p:nvSpPr>
          <p:cNvPr id="48" name="Shape 46"/>
          <p:cNvSpPr/>
          <p:nvPr/>
        </p:nvSpPr>
        <p:spPr>
          <a:xfrm>
            <a:off x="3063240" y="4663440"/>
            <a:ext cx="1371600" cy="402336"/>
          </a:xfrm>
          <a:prstGeom prst="roundRect">
            <a:avLst>
              <a:gd name="adj" fmla="val 11364"/>
            </a:avLst>
          </a:prstGeom>
          <a:solidFill>
            <a:srgbClr val="7B4FB8"/>
          </a:solidFill>
          <a:ln/>
        </p:spPr>
      </p:sp>
      <p:sp>
        <p:nvSpPr>
          <p:cNvPr id="49" name="Text 47"/>
          <p:cNvSpPr/>
          <p:nvPr/>
        </p:nvSpPr>
        <p:spPr>
          <a:xfrm>
            <a:off x="3099816" y="4663440"/>
            <a:ext cx="129844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mains supply</a:t>
            </a:r>
            <a:endParaRPr lang="en-US" sz="1000" dirty="0"/>
          </a:p>
        </p:txBody>
      </p:sp>
      <p:sp>
        <p:nvSpPr>
          <p:cNvPr id="50" name="Shape 48"/>
          <p:cNvSpPr/>
          <p:nvPr/>
        </p:nvSpPr>
        <p:spPr>
          <a:xfrm>
            <a:off x="4480560" y="4864608"/>
            <a:ext cx="1188720" cy="91"/>
          </a:xfrm>
          <a:prstGeom prst="line">
            <a:avLst/>
          </a:prstGeom>
          <a:noFill/>
          <a:ln w="25400">
            <a:solidFill>
              <a:srgbClr val="2E5BD8"/>
            </a:solidFill>
            <a:prstDash val="solid"/>
            <a:tailEnd type="triangle"/>
          </a:ln>
        </p:spPr>
      </p:sp>
      <p:sp>
        <p:nvSpPr>
          <p:cNvPr id="51" name="Text 49"/>
          <p:cNvSpPr/>
          <p:nvPr/>
        </p:nvSpPr>
        <p:spPr>
          <a:xfrm>
            <a:off x="4480560" y="4590288"/>
            <a:ext cx="1188720" cy="237744"/>
          </a:xfrm>
          <a:prstGeom prst="rect">
            <a:avLst/>
          </a:prstGeom>
          <a:noFill/>
          <a:ln/>
        </p:spPr>
        <p:txBody>
          <a:bodyPr wrap="square" lIns="0" tIns="0" rIns="0" bIns="0" rtlCol="0" anchor="ctr"/>
          <a:lstStyle/>
          <a:p>
            <a:pPr algn="ctr" indent="0" marL="0">
              <a:buNone/>
            </a:pPr>
            <a:r>
              <a:rPr lang="en-US" sz="1000" i="1" dirty="0">
                <a:solidFill>
                  <a:srgbClr val="2E5BD8"/>
                </a:solidFill>
                <a:latin typeface="Calibri" pitchFamily="34" charset="0"/>
                <a:ea typeface="Calibri" pitchFamily="34" charset="-122"/>
                <a:cs typeface="Calibri" pitchFamily="34" charset="-120"/>
              </a:rPr>
              <a:t>electrically, heating</a:t>
            </a:r>
            <a:endParaRPr lang="en-US" sz="1000" dirty="0"/>
          </a:p>
        </p:txBody>
      </p:sp>
      <p:sp>
        <p:nvSpPr>
          <p:cNvPr id="52" name="Shape 50"/>
          <p:cNvSpPr/>
          <p:nvPr/>
        </p:nvSpPr>
        <p:spPr>
          <a:xfrm>
            <a:off x="5715000" y="4663440"/>
            <a:ext cx="1371600" cy="402336"/>
          </a:xfrm>
          <a:prstGeom prst="roundRect">
            <a:avLst>
              <a:gd name="adj" fmla="val 11364"/>
            </a:avLst>
          </a:prstGeom>
          <a:solidFill>
            <a:srgbClr val="C8414C"/>
          </a:solidFill>
          <a:ln/>
        </p:spPr>
      </p:sp>
      <p:sp>
        <p:nvSpPr>
          <p:cNvPr id="53" name="Text 51"/>
          <p:cNvSpPr/>
          <p:nvPr/>
        </p:nvSpPr>
        <p:spPr>
          <a:xfrm>
            <a:off x="5751576" y="4663440"/>
            <a:ext cx="1298448"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thermal (water)</a:t>
            </a:r>
            <a:endParaRPr lang="en-US" sz="1000" dirty="0"/>
          </a:p>
        </p:txBody>
      </p:sp>
      <p:sp>
        <p:nvSpPr>
          <p:cNvPr id="54" name="Shape 52"/>
          <p:cNvSpPr/>
          <p:nvPr/>
        </p:nvSpPr>
        <p:spPr>
          <a:xfrm>
            <a:off x="7589520" y="1188720"/>
            <a:ext cx="4187952" cy="2514600"/>
          </a:xfrm>
          <a:prstGeom prst="roundRect">
            <a:avLst>
              <a:gd name="adj" fmla="val 2182"/>
            </a:avLst>
          </a:prstGeom>
          <a:solidFill>
            <a:srgbClr val="F5F8FE"/>
          </a:solidFill>
          <a:ln w="9525">
            <a:solidFill>
              <a:srgbClr val="D5DCEB"/>
            </a:solidFill>
            <a:prstDash val="solid"/>
          </a:ln>
        </p:spPr>
      </p:sp>
      <p:sp>
        <p:nvSpPr>
          <p:cNvPr id="55" name="Text 53"/>
          <p:cNvSpPr/>
          <p:nvPr/>
        </p:nvSpPr>
        <p:spPr>
          <a:xfrm>
            <a:off x="7754112" y="1280160"/>
            <a:ext cx="38587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How to answer</a:t>
            </a:r>
            <a:endParaRPr lang="en-US" sz="1300" dirty="0"/>
          </a:p>
        </p:txBody>
      </p:sp>
      <p:sp>
        <p:nvSpPr>
          <p:cNvPr id="56" name="Text 54"/>
          <p:cNvSpPr/>
          <p:nvPr/>
        </p:nvSpPr>
        <p:spPr>
          <a:xfrm>
            <a:off x="7754112" y="1609344"/>
            <a:ext cx="3858768" cy="20208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Name the </a:t>
            </a:r>
            <a:r>
              <a:rPr lang="en-US" sz="1100" b="1" dirty="0">
                <a:solidFill>
                  <a:srgbClr val="262B3A"/>
                </a:solidFill>
                <a:latin typeface="Calibri" pitchFamily="34" charset="0"/>
                <a:ea typeface="Calibri" pitchFamily="34" charset="-122"/>
                <a:cs typeface="Calibri" pitchFamily="34" charset="-120"/>
              </a:rPr>
              <a:t>store that decreases</a:t>
            </a:r>
            <a:r>
              <a:rPr lang="en-US" sz="1100" dirty="0">
                <a:solidFill>
                  <a:srgbClr val="262B3A"/>
                </a:solidFill>
                <a:latin typeface="Calibri" pitchFamily="34" charset="0"/>
                <a:ea typeface="Calibri" pitchFamily="34" charset="-122"/>
                <a:cs typeface="Calibri" pitchFamily="34" charset="-120"/>
              </a:rPr>
              <a:t> and the </a:t>
            </a:r>
            <a:r>
              <a:rPr lang="en-US" sz="1100" b="1" dirty="0">
                <a:solidFill>
                  <a:srgbClr val="262B3A"/>
                </a:solidFill>
                <a:latin typeface="Calibri" pitchFamily="34" charset="0"/>
                <a:ea typeface="Calibri" pitchFamily="34" charset="-122"/>
                <a:cs typeface="Calibri" pitchFamily="34" charset="-120"/>
              </a:rPr>
              <a:t>store that increases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Say </a:t>
            </a:r>
            <a:r>
              <a:rPr lang="en-US" sz="1100" b="1" dirty="0">
                <a:solidFill>
                  <a:srgbClr val="262B3A"/>
                </a:solidFill>
                <a:latin typeface="Calibri" pitchFamily="34" charset="0"/>
                <a:ea typeface="Calibri" pitchFamily="34" charset="-122"/>
                <a:cs typeface="Calibri" pitchFamily="34" charset="-120"/>
              </a:rPr>
              <a:t>how</a:t>
            </a:r>
            <a:r>
              <a:rPr lang="en-US" sz="1100" dirty="0">
                <a:solidFill>
                  <a:srgbClr val="262B3A"/>
                </a:solidFill>
                <a:latin typeface="Calibri" pitchFamily="34" charset="0"/>
                <a:ea typeface="Calibri" pitchFamily="34" charset="-122"/>
                <a:cs typeface="Calibri" pitchFamily="34" charset="-120"/>
              </a:rPr>
              <a:t> the energy is transferred: mechanically, electrically, by heating, by radiation.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Mention the </a:t>
            </a:r>
            <a:r>
              <a:rPr lang="en-US" sz="1100" b="1" dirty="0">
                <a:solidFill>
                  <a:srgbClr val="262B3A"/>
                </a:solidFill>
                <a:latin typeface="Calibri" pitchFamily="34" charset="0"/>
                <a:ea typeface="Calibri" pitchFamily="34" charset="-122"/>
                <a:cs typeface="Calibri" pitchFamily="34" charset="-120"/>
              </a:rPr>
              <a:t>wasted</a:t>
            </a:r>
            <a:r>
              <a:rPr lang="en-US" sz="1100" dirty="0">
                <a:solidFill>
                  <a:srgbClr val="262B3A"/>
                </a:solidFill>
                <a:latin typeface="Calibri" pitchFamily="34" charset="0"/>
                <a:ea typeface="Calibri" pitchFamily="34" charset="-122"/>
                <a:cs typeface="Calibri" pitchFamily="34" charset="-120"/>
              </a:rPr>
              <a:t> energy: usually the </a:t>
            </a:r>
            <a:r>
              <a:rPr lang="en-US" sz="1100" b="1" dirty="0">
                <a:solidFill>
                  <a:srgbClr val="262B3A"/>
                </a:solidFill>
                <a:latin typeface="Calibri" pitchFamily="34" charset="0"/>
                <a:ea typeface="Calibri" pitchFamily="34" charset="-122"/>
                <a:cs typeface="Calibri" pitchFamily="34" charset="-120"/>
              </a:rPr>
              <a:t>thermal store of the surroundings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Use the word </a:t>
            </a:r>
            <a:r>
              <a:rPr lang="en-US" sz="1100" b="1" dirty="0">
                <a:solidFill>
                  <a:srgbClr val="262B3A"/>
                </a:solidFill>
                <a:latin typeface="Calibri" pitchFamily="34" charset="0"/>
                <a:ea typeface="Calibri" pitchFamily="34" charset="-122"/>
                <a:cs typeface="Calibri" pitchFamily="34" charset="-120"/>
              </a:rPr>
              <a:t>store</a:t>
            </a:r>
            <a:r>
              <a:rPr lang="en-US" sz="1100" dirty="0">
                <a:solidFill>
                  <a:srgbClr val="262B3A"/>
                </a:solidFill>
                <a:latin typeface="Calibri" pitchFamily="34" charset="0"/>
                <a:ea typeface="Calibri" pitchFamily="34" charset="-122"/>
                <a:cs typeface="Calibri" pitchFamily="34" charset="-120"/>
              </a:rPr>
              <a:t>, not “energy type”.</a:t>
            </a:r>
            <a:endParaRPr lang="en-US" sz="1100" dirty="0"/>
          </a:p>
        </p:txBody>
      </p:sp>
      <p:sp>
        <p:nvSpPr>
          <p:cNvPr id="57" name="Shape 55"/>
          <p:cNvSpPr/>
          <p:nvPr/>
        </p:nvSpPr>
        <p:spPr>
          <a:xfrm>
            <a:off x="7589520" y="3840480"/>
            <a:ext cx="4187952" cy="1874520"/>
          </a:xfrm>
          <a:prstGeom prst="roundRect">
            <a:avLst>
              <a:gd name="adj" fmla="val 2927"/>
            </a:avLst>
          </a:prstGeom>
          <a:solidFill>
            <a:srgbClr val="FFF4E0"/>
          </a:solidFill>
          <a:ln w="9525">
            <a:solidFill>
              <a:srgbClr val="F1D9A8"/>
            </a:solidFill>
            <a:prstDash val="solid"/>
          </a:ln>
        </p:spPr>
      </p:sp>
      <p:sp>
        <p:nvSpPr>
          <p:cNvPr id="58" name="Text 56"/>
          <p:cNvSpPr/>
          <p:nvPr/>
        </p:nvSpPr>
        <p:spPr>
          <a:xfrm>
            <a:off x="7754112" y="3913632"/>
            <a:ext cx="38587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Model answer: (b) car hits a wall</a:t>
            </a:r>
            <a:endParaRPr lang="en-US" sz="1300" dirty="0"/>
          </a:p>
        </p:txBody>
      </p:sp>
      <p:sp>
        <p:nvSpPr>
          <p:cNvPr id="59" name="Text 57"/>
          <p:cNvSpPr/>
          <p:nvPr/>
        </p:nvSpPr>
        <p:spPr>
          <a:xfrm>
            <a:off x="7754112" y="4224528"/>
            <a:ext cx="3858768" cy="141732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Before   </a:t>
            </a:r>
            <a:r>
              <a:rPr lang="en-US" sz="1050" dirty="0">
                <a:solidFill>
                  <a:srgbClr val="262B3A"/>
                </a:solidFill>
                <a:latin typeface="Calibri" pitchFamily="34" charset="0"/>
                <a:ea typeface="Calibri" pitchFamily="34" charset="-122"/>
                <a:cs typeface="Calibri" pitchFamily="34" charset="-120"/>
              </a:rPr>
              <a:t>energy is in the kinetic store of the car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Transfer   </a:t>
            </a:r>
            <a:r>
              <a:rPr lang="en-US" sz="1050" dirty="0">
                <a:solidFill>
                  <a:srgbClr val="262B3A"/>
                </a:solidFill>
                <a:latin typeface="Calibri" pitchFamily="34" charset="0"/>
                <a:ea typeface="Calibri" pitchFamily="34" charset="-122"/>
                <a:cs typeface="Calibri" pitchFamily="34" charset="-120"/>
              </a:rPr>
              <a:t>forces do work, deforming the car and wall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After   </a:t>
            </a:r>
            <a:r>
              <a:rPr lang="en-US" sz="1050" dirty="0">
                <a:solidFill>
                  <a:srgbClr val="262B3A"/>
                </a:solidFill>
                <a:latin typeface="Calibri" pitchFamily="34" charset="0"/>
                <a:ea typeface="Calibri" pitchFamily="34" charset="-122"/>
                <a:cs typeface="Calibri" pitchFamily="34" charset="-120"/>
              </a:rPr>
              <a:t>thermal store of car, wall and air rises; some by sound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kinetic store → (mechanically) → thermal stores</a:t>
            </a:r>
            <a:endParaRPr lang="en-US" sz="1050" dirty="0"/>
          </a:p>
        </p:txBody>
      </p:sp>
      <p:sp>
        <p:nvSpPr>
          <p:cNvPr id="60" name="Shape 58"/>
          <p:cNvSpPr/>
          <p:nvPr/>
        </p:nvSpPr>
        <p:spPr>
          <a:xfrm>
            <a:off x="411480" y="5833872"/>
            <a:ext cx="11368735" cy="530352"/>
          </a:xfrm>
          <a:prstGeom prst="rect">
            <a:avLst/>
          </a:prstGeom>
          <a:solidFill>
            <a:srgbClr val="FFF4E0"/>
          </a:solidFill>
          <a:ln w="6350">
            <a:solidFill>
              <a:srgbClr val="F1D9A8"/>
            </a:solidFill>
            <a:prstDash val="solid"/>
          </a:ln>
        </p:spPr>
      </p:sp>
      <p:sp>
        <p:nvSpPr>
          <p:cNvPr id="61" name="Shape 59"/>
          <p:cNvSpPr/>
          <p:nvPr/>
        </p:nvSpPr>
        <p:spPr>
          <a:xfrm>
            <a:off x="411480" y="5833872"/>
            <a:ext cx="82296" cy="530352"/>
          </a:xfrm>
          <a:prstGeom prst="rect">
            <a:avLst/>
          </a:prstGeom>
          <a:solidFill>
            <a:srgbClr val="E39A2F"/>
          </a:solidFill>
          <a:ln w="12700">
            <a:solidFill>
              <a:srgbClr val="E39A2F"/>
            </a:solidFill>
            <a:prstDash val="solid"/>
          </a:ln>
        </p:spPr>
      </p:sp>
      <p:sp>
        <p:nvSpPr>
          <p:cNvPr id="62" name="Text 6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cyclist pedals to accelerate from rest. Describe the changes in energy stores, including any wasted energy.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Energy transfer diagrams: Sankey diagrams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3.3 • arrow widths are drawn to scale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3.3  |  14</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an electric motor: 200 J supplied, drawn to scale (100 J = 1.0 in)</a:t>
            </a:r>
            <a:endParaRPr lang="en-US" sz="1000" dirty="0"/>
          </a:p>
        </p:txBody>
      </p:sp>
      <p:sp>
        <p:nvSpPr>
          <p:cNvPr id="10" name="Shape 8"/>
          <p:cNvSpPr/>
          <p:nvPr/>
        </p:nvSpPr>
        <p:spPr>
          <a:xfrm>
            <a:off x="640080" y="1600200"/>
            <a:ext cx="1463040" cy="1828800"/>
          </a:xfrm>
          <a:prstGeom prst="rect">
            <a:avLst/>
          </a:prstGeom>
          <a:solidFill>
            <a:srgbClr val="7C8AA8"/>
          </a:solidFill>
          <a:ln/>
        </p:spPr>
      </p:sp>
      <p:sp>
        <p:nvSpPr>
          <p:cNvPr id="11" name="Text 9"/>
          <p:cNvSpPr/>
          <p:nvPr/>
        </p:nvSpPr>
        <p:spPr>
          <a:xfrm>
            <a:off x="685800" y="1600200"/>
            <a:ext cx="1371600" cy="18288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electrical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200 J</a:t>
            </a:r>
            <a:endParaRPr lang="en-US" sz="1050" dirty="0"/>
          </a:p>
        </p:txBody>
      </p:sp>
      <p:sp>
        <p:nvSpPr>
          <p:cNvPr id="12" name="Shape 10"/>
          <p:cNvSpPr/>
          <p:nvPr/>
        </p:nvSpPr>
        <p:spPr>
          <a:xfrm>
            <a:off x="2103120" y="1600200"/>
            <a:ext cx="1554480" cy="1097280"/>
          </a:xfrm>
          <a:prstGeom prst="rect">
            <a:avLst/>
          </a:prstGeom>
          <a:solidFill>
            <a:srgbClr val="2E8B57"/>
          </a:solidFill>
          <a:ln/>
        </p:spPr>
      </p:sp>
      <p:sp>
        <p:nvSpPr>
          <p:cNvPr id="13" name="Shape 11"/>
          <p:cNvSpPr/>
          <p:nvPr/>
        </p:nvSpPr>
        <p:spPr>
          <a:xfrm rot="5400000">
            <a:off x="3145536" y="2002536"/>
            <a:ext cx="1316736" cy="292608"/>
          </a:xfrm>
          <a:prstGeom prst="triangle">
            <a:avLst/>
          </a:prstGeom>
          <a:solidFill>
            <a:srgbClr val="2E8B57"/>
          </a:solidFill>
          <a:ln w="6350">
            <a:solidFill>
              <a:srgbClr val="2E8B57"/>
            </a:solidFill>
            <a:prstDash val="solid"/>
          </a:ln>
        </p:spPr>
      </p:sp>
      <p:sp>
        <p:nvSpPr>
          <p:cNvPr id="14" name="Text 12"/>
          <p:cNvSpPr/>
          <p:nvPr/>
        </p:nvSpPr>
        <p:spPr>
          <a:xfrm>
            <a:off x="4005072" y="1920240"/>
            <a:ext cx="1188720" cy="457200"/>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kinetic (useful)</a:t>
            </a:r>
            <a:endParaRPr lang="en-US" sz="1050" dirty="0"/>
          </a:p>
          <a:p>
            <a:pPr algn="l" indent="0" marL="0">
              <a:buNone/>
            </a:pPr>
            <a:r>
              <a:rPr lang="en-US" sz="1050" b="1" dirty="0">
                <a:solidFill>
                  <a:srgbClr val="2E8B57"/>
                </a:solidFill>
                <a:latin typeface="Calibri" pitchFamily="34" charset="0"/>
                <a:ea typeface="Calibri" pitchFamily="34" charset="-122"/>
                <a:cs typeface="Calibri" pitchFamily="34" charset="-120"/>
              </a:rPr>
              <a:t>120 J</a:t>
            </a:r>
            <a:endParaRPr lang="en-US" sz="1050" dirty="0"/>
          </a:p>
        </p:txBody>
      </p:sp>
      <p:sp>
        <p:nvSpPr>
          <p:cNvPr id="15" name="Shape 13"/>
          <p:cNvSpPr/>
          <p:nvPr/>
        </p:nvSpPr>
        <p:spPr>
          <a:xfrm>
            <a:off x="2103120" y="3246120"/>
            <a:ext cx="182880" cy="182880"/>
          </a:xfrm>
          <a:prstGeom prst="rect">
            <a:avLst/>
          </a:prstGeom>
          <a:solidFill>
            <a:srgbClr val="C77D3A"/>
          </a:solidFill>
          <a:ln/>
        </p:spPr>
      </p:sp>
      <p:sp>
        <p:nvSpPr>
          <p:cNvPr id="16" name="Shape 14"/>
          <p:cNvSpPr/>
          <p:nvPr/>
        </p:nvSpPr>
        <p:spPr>
          <a:xfrm>
            <a:off x="2103120" y="3246120"/>
            <a:ext cx="182880" cy="914400"/>
          </a:xfrm>
          <a:prstGeom prst="rect">
            <a:avLst/>
          </a:prstGeom>
          <a:solidFill>
            <a:srgbClr val="C77D3A"/>
          </a:solidFill>
          <a:ln/>
        </p:spPr>
      </p:sp>
      <p:sp>
        <p:nvSpPr>
          <p:cNvPr id="17" name="Shape 15"/>
          <p:cNvSpPr/>
          <p:nvPr/>
        </p:nvSpPr>
        <p:spPr>
          <a:xfrm flipV="1">
            <a:off x="2002536" y="4160520"/>
            <a:ext cx="384048" cy="274320"/>
          </a:xfrm>
          <a:prstGeom prst="triangle">
            <a:avLst/>
          </a:prstGeom>
          <a:solidFill>
            <a:srgbClr val="C77D3A"/>
          </a:solidFill>
          <a:ln w="6350">
            <a:solidFill>
              <a:srgbClr val="C77D3A"/>
            </a:solidFill>
            <a:prstDash val="solid"/>
          </a:ln>
        </p:spPr>
      </p:sp>
      <p:sp>
        <p:nvSpPr>
          <p:cNvPr id="18" name="Text 16"/>
          <p:cNvSpPr/>
          <p:nvPr/>
        </p:nvSpPr>
        <p:spPr>
          <a:xfrm>
            <a:off x="1600200" y="4453128"/>
            <a:ext cx="1188720" cy="420624"/>
          </a:xfrm>
          <a:prstGeom prst="rect">
            <a:avLst/>
          </a:prstGeom>
          <a:noFill/>
          <a:ln/>
        </p:spPr>
        <p:txBody>
          <a:bodyPr wrap="square" lIns="0" tIns="0" rIns="0" bIns="0" rtlCol="0" anchor="ctr"/>
          <a:lstStyle/>
          <a:p>
            <a:pPr algn="ctr" indent="0" marL="0">
              <a:buNone/>
            </a:pPr>
            <a:r>
              <a:rPr lang="en-US" sz="1050" b="1" dirty="0">
                <a:solidFill>
                  <a:srgbClr val="C77D3A"/>
                </a:solidFill>
                <a:latin typeface="Calibri" pitchFamily="34" charset="0"/>
                <a:ea typeface="Calibri" pitchFamily="34" charset="-122"/>
                <a:cs typeface="Calibri" pitchFamily="34" charset="-120"/>
              </a:rPr>
              <a:t>sound</a:t>
            </a:r>
            <a:endParaRPr lang="en-US" sz="1050" dirty="0"/>
          </a:p>
          <a:p>
            <a:pPr algn="ctr" indent="0" marL="0">
              <a:buNone/>
            </a:pPr>
            <a:r>
              <a:rPr lang="en-US" sz="1050" b="1" dirty="0">
                <a:solidFill>
                  <a:srgbClr val="C77D3A"/>
                </a:solidFill>
                <a:latin typeface="Calibri" pitchFamily="34" charset="0"/>
                <a:ea typeface="Calibri" pitchFamily="34" charset="-122"/>
                <a:cs typeface="Calibri" pitchFamily="34" charset="-120"/>
              </a:rPr>
              <a:t>20 J</a:t>
            </a:r>
            <a:endParaRPr lang="en-US" sz="1050" dirty="0"/>
          </a:p>
        </p:txBody>
      </p:sp>
      <p:sp>
        <p:nvSpPr>
          <p:cNvPr id="19" name="Shape 17"/>
          <p:cNvSpPr/>
          <p:nvPr/>
        </p:nvSpPr>
        <p:spPr>
          <a:xfrm>
            <a:off x="2103120" y="2697480"/>
            <a:ext cx="1143000" cy="548640"/>
          </a:xfrm>
          <a:prstGeom prst="rect">
            <a:avLst/>
          </a:prstGeom>
          <a:solidFill>
            <a:srgbClr val="C8414C"/>
          </a:solidFill>
          <a:ln/>
        </p:spPr>
      </p:sp>
      <p:sp>
        <p:nvSpPr>
          <p:cNvPr id="20" name="Shape 18"/>
          <p:cNvSpPr/>
          <p:nvPr/>
        </p:nvSpPr>
        <p:spPr>
          <a:xfrm>
            <a:off x="2697480" y="2697480"/>
            <a:ext cx="548640" cy="1463040"/>
          </a:xfrm>
          <a:prstGeom prst="rect">
            <a:avLst/>
          </a:prstGeom>
          <a:solidFill>
            <a:srgbClr val="C8414C"/>
          </a:solidFill>
          <a:ln/>
        </p:spPr>
      </p:sp>
      <p:sp>
        <p:nvSpPr>
          <p:cNvPr id="21" name="Shape 19"/>
          <p:cNvSpPr/>
          <p:nvPr/>
        </p:nvSpPr>
        <p:spPr>
          <a:xfrm flipV="1">
            <a:off x="2596896" y="4160520"/>
            <a:ext cx="749808" cy="274320"/>
          </a:xfrm>
          <a:prstGeom prst="triangle">
            <a:avLst/>
          </a:prstGeom>
          <a:solidFill>
            <a:srgbClr val="C8414C"/>
          </a:solidFill>
          <a:ln w="6350">
            <a:solidFill>
              <a:srgbClr val="C8414C"/>
            </a:solidFill>
            <a:prstDash val="solid"/>
          </a:ln>
        </p:spPr>
      </p:sp>
      <p:sp>
        <p:nvSpPr>
          <p:cNvPr id="22" name="Text 20"/>
          <p:cNvSpPr/>
          <p:nvPr/>
        </p:nvSpPr>
        <p:spPr>
          <a:xfrm>
            <a:off x="2377440" y="4453128"/>
            <a:ext cx="1188720" cy="420624"/>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thermal</a:t>
            </a:r>
            <a:endParaRPr lang="en-US" sz="1050" dirty="0"/>
          </a:p>
          <a:p>
            <a:pPr algn="ctr" indent="0" marL="0">
              <a:buNone/>
            </a:pPr>
            <a:r>
              <a:rPr lang="en-US" sz="1050" b="1" dirty="0">
                <a:solidFill>
                  <a:srgbClr val="C8414C"/>
                </a:solidFill>
                <a:latin typeface="Calibri" pitchFamily="34" charset="0"/>
                <a:ea typeface="Calibri" pitchFamily="34" charset="-122"/>
                <a:cs typeface="Calibri" pitchFamily="34" charset="-120"/>
              </a:rPr>
              <a:t>60 J</a:t>
            </a:r>
            <a:endParaRPr lang="en-US" sz="1050" dirty="0"/>
          </a:p>
        </p:txBody>
      </p:sp>
      <p:sp>
        <p:nvSpPr>
          <p:cNvPr id="23" name="Shape 21"/>
          <p:cNvSpPr/>
          <p:nvPr/>
        </p:nvSpPr>
        <p:spPr>
          <a:xfrm>
            <a:off x="5120640" y="4206240"/>
            <a:ext cx="228600" cy="914400"/>
          </a:xfrm>
          <a:prstGeom prst="rect">
            <a:avLst/>
          </a:prstGeom>
          <a:solidFill>
            <a:srgbClr val="7C8AA8"/>
          </a:solidFill>
          <a:ln/>
        </p:spPr>
      </p:sp>
      <p:sp>
        <p:nvSpPr>
          <p:cNvPr id="24" name="Text 22"/>
          <p:cNvSpPr/>
          <p:nvPr/>
        </p:nvSpPr>
        <p:spPr>
          <a:xfrm>
            <a:off x="4297680" y="4526280"/>
            <a:ext cx="777240" cy="256032"/>
          </a:xfrm>
          <a:prstGeom prst="rect">
            <a:avLst/>
          </a:prstGeom>
          <a:noFill/>
          <a:ln/>
        </p:spPr>
        <p:txBody>
          <a:bodyPr wrap="square" lIns="0" tIns="0" rIns="0" bIns="0" rtlCol="0" anchor="ctr"/>
          <a:lstStyle/>
          <a:p>
            <a:pPr algn="r" indent="0" marL="0">
              <a:buNone/>
            </a:pPr>
            <a:r>
              <a:rPr lang="en-US" sz="1000" b="1" dirty="0">
                <a:solidFill>
                  <a:srgbClr val="1A2340"/>
                </a:solidFill>
                <a:latin typeface="Calibri" pitchFamily="34" charset="0"/>
                <a:ea typeface="Calibri" pitchFamily="34" charset="-122"/>
                <a:cs typeface="Calibri" pitchFamily="34" charset="-120"/>
              </a:rPr>
              <a:t>100 J</a:t>
            </a:r>
            <a:endParaRPr lang="en-US" sz="1000" dirty="0"/>
          </a:p>
        </p:txBody>
      </p:sp>
      <p:sp>
        <p:nvSpPr>
          <p:cNvPr id="25" name="Text 23"/>
          <p:cNvSpPr/>
          <p:nvPr/>
        </p:nvSpPr>
        <p:spPr>
          <a:xfrm>
            <a:off x="4069080" y="5120640"/>
            <a:ext cx="173736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scale bar</a:t>
            </a:r>
            <a:endParaRPr lang="en-US" sz="1000" dirty="0"/>
          </a:p>
        </p:txBody>
      </p:sp>
      <p:sp>
        <p:nvSpPr>
          <p:cNvPr id="26" name="Shape 2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7" name="Text 2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Drawing a Sankey diagram</a:t>
            </a:r>
            <a:endParaRPr lang="en-US" sz="1300" dirty="0"/>
          </a:p>
        </p:txBody>
      </p:sp>
      <p:sp>
        <p:nvSpPr>
          <p:cNvPr id="28" name="Text 2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width</a:t>
            </a:r>
            <a:r>
              <a:rPr lang="en-US" sz="1150" dirty="0">
                <a:solidFill>
                  <a:srgbClr val="262B3A"/>
                </a:solidFill>
                <a:latin typeface="Calibri" pitchFamily="34" charset="0"/>
                <a:ea typeface="Calibri" pitchFamily="34" charset="-122"/>
                <a:cs typeface="Calibri" pitchFamily="34" charset="-120"/>
              </a:rPr>
              <a:t> of each arrow is </a:t>
            </a:r>
            <a:r>
              <a:rPr lang="en-US" sz="1150" b="1" dirty="0">
                <a:solidFill>
                  <a:srgbClr val="262B3A"/>
                </a:solidFill>
                <a:latin typeface="Calibri" pitchFamily="34" charset="0"/>
                <a:ea typeface="Calibri" pitchFamily="34" charset="-122"/>
                <a:cs typeface="Calibri" pitchFamily="34" charset="-120"/>
              </a:rPr>
              <a:t>proportional</a:t>
            </a:r>
            <a:r>
              <a:rPr lang="en-US" sz="1150" dirty="0">
                <a:solidFill>
                  <a:srgbClr val="262B3A"/>
                </a:solidFill>
                <a:latin typeface="Calibri" pitchFamily="34" charset="0"/>
                <a:ea typeface="Calibri" pitchFamily="34" charset="-122"/>
                <a:cs typeface="Calibri" pitchFamily="34" charset="-120"/>
              </a:rPr>
              <a:t> to the energy it represents.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Input</a:t>
            </a:r>
            <a:r>
              <a:rPr lang="en-US" sz="1150" dirty="0">
                <a:solidFill>
                  <a:srgbClr val="262B3A"/>
                </a:solidFill>
                <a:latin typeface="Calibri" pitchFamily="34" charset="0"/>
                <a:ea typeface="Calibri" pitchFamily="34" charset="-122"/>
                <a:cs typeface="Calibri" pitchFamily="34" charset="-120"/>
              </a:rPr>
              <a:t> on the left; </a:t>
            </a:r>
            <a:r>
              <a:rPr lang="en-US" sz="1150" b="1" dirty="0">
                <a:solidFill>
                  <a:srgbClr val="262B3A"/>
                </a:solidFill>
                <a:latin typeface="Calibri" pitchFamily="34" charset="0"/>
                <a:ea typeface="Calibri" pitchFamily="34" charset="-122"/>
                <a:cs typeface="Calibri" pitchFamily="34" charset="-120"/>
              </a:rPr>
              <a:t>useful</a:t>
            </a:r>
            <a:r>
              <a:rPr lang="en-US" sz="1150" dirty="0">
                <a:solidFill>
                  <a:srgbClr val="262B3A"/>
                </a:solidFill>
                <a:latin typeface="Calibri" pitchFamily="34" charset="0"/>
                <a:ea typeface="Calibri" pitchFamily="34" charset="-122"/>
                <a:cs typeface="Calibri" pitchFamily="34" charset="-120"/>
              </a:rPr>
              <a:t> energy goes straight on; </a:t>
            </a:r>
            <a:r>
              <a:rPr lang="en-US" sz="1150" b="1" dirty="0">
                <a:solidFill>
                  <a:srgbClr val="262B3A"/>
                </a:solidFill>
                <a:latin typeface="Calibri" pitchFamily="34" charset="0"/>
                <a:ea typeface="Calibri" pitchFamily="34" charset="-122"/>
                <a:cs typeface="Calibri" pitchFamily="34" charset="-120"/>
              </a:rPr>
              <a:t>wasted</a:t>
            </a:r>
            <a:r>
              <a:rPr lang="en-US" sz="1150" dirty="0">
                <a:solidFill>
                  <a:srgbClr val="262B3A"/>
                </a:solidFill>
                <a:latin typeface="Calibri" pitchFamily="34" charset="0"/>
                <a:ea typeface="Calibri" pitchFamily="34" charset="-122"/>
                <a:cs typeface="Calibri" pitchFamily="34" charset="-120"/>
              </a:rPr>
              <a:t> energy bends away (down).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Energy is conserved: </a:t>
            </a:r>
            <a:r>
              <a:rPr lang="en-US" sz="1150" b="1" dirty="0">
                <a:solidFill>
                  <a:srgbClr val="262B3A"/>
                </a:solidFill>
                <a:latin typeface="Calibri" pitchFamily="34" charset="0"/>
                <a:ea typeface="Calibri" pitchFamily="34" charset="-122"/>
                <a:cs typeface="Calibri" pitchFamily="34" charset="-120"/>
              </a:rPr>
              <a:t>input = sum of all outputs</a:t>
            </a:r>
            <a:r>
              <a:rPr lang="en-US" sz="1150" dirty="0">
                <a:solidFill>
                  <a:srgbClr val="262B3A"/>
                </a:solidFill>
                <a:latin typeface="Calibri" pitchFamily="34" charset="0"/>
                <a:ea typeface="Calibri" pitchFamily="34" charset="-122"/>
                <a:cs typeface="Calibri" pitchFamily="34" charset="-120"/>
              </a:rPr>
              <a:t> (200 = 120 + 60 + 20).</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You may be asked to </a:t>
            </a:r>
            <a:r>
              <a:rPr lang="en-US" sz="1150" b="1" dirty="0">
                <a:solidFill>
                  <a:srgbClr val="262B3A"/>
                </a:solidFill>
                <a:latin typeface="Calibri" pitchFamily="34" charset="0"/>
                <a:ea typeface="Calibri" pitchFamily="34" charset="-122"/>
                <a:cs typeface="Calibri" pitchFamily="34" charset="-120"/>
              </a:rPr>
              <a:t>draw</a:t>
            </a:r>
            <a:r>
              <a:rPr lang="en-US" sz="1150" dirty="0">
                <a:solidFill>
                  <a:srgbClr val="262B3A"/>
                </a:solidFill>
                <a:latin typeface="Calibri" pitchFamily="34" charset="0"/>
                <a:ea typeface="Calibri" pitchFamily="34" charset="-122"/>
                <a:cs typeface="Calibri" pitchFamily="34" charset="-120"/>
              </a:rPr>
              <a:t> one to scale on squared paper, or to </a:t>
            </a:r>
            <a:r>
              <a:rPr lang="en-US" sz="1150" b="1" dirty="0">
                <a:solidFill>
                  <a:srgbClr val="262B3A"/>
                </a:solidFill>
                <a:latin typeface="Calibri" pitchFamily="34" charset="0"/>
                <a:ea typeface="Calibri" pitchFamily="34" charset="-122"/>
                <a:cs typeface="Calibri" pitchFamily="34" charset="-120"/>
              </a:rPr>
              <a:t>read</a:t>
            </a:r>
            <a:r>
              <a:rPr lang="en-US" sz="1150" dirty="0">
                <a:solidFill>
                  <a:srgbClr val="262B3A"/>
                </a:solidFill>
                <a:latin typeface="Calibri" pitchFamily="34" charset="0"/>
                <a:ea typeface="Calibri" pitchFamily="34" charset="-122"/>
                <a:cs typeface="Calibri" pitchFamily="34" charset="-120"/>
              </a:rPr>
              <a:t> values from one.</a:t>
            </a:r>
            <a:endParaRPr lang="en-US" sz="1150" dirty="0"/>
          </a:p>
        </p:txBody>
      </p:sp>
      <p:sp>
        <p:nvSpPr>
          <p:cNvPr id="29" name="Shape 2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0" name="Text 2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1" name="Text 29"/>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Sankey diagram to find the total energy wasted by the motor.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Idea   </a:t>
            </a:r>
            <a:r>
              <a:rPr lang="en-US" sz="1050" dirty="0">
                <a:solidFill>
                  <a:srgbClr val="262B3A"/>
                </a:solidFill>
                <a:latin typeface="Calibri" pitchFamily="34" charset="0"/>
                <a:ea typeface="Calibri" pitchFamily="34" charset="-122"/>
                <a:cs typeface="Calibri" pitchFamily="34" charset="-120"/>
              </a:rPr>
              <a:t>wasted = everything that is not useful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Read off   </a:t>
            </a:r>
            <a:r>
              <a:rPr lang="en-US" sz="1050" dirty="0">
                <a:solidFill>
                  <a:srgbClr val="262B3A"/>
                </a:solidFill>
                <a:latin typeface="Calibri" pitchFamily="34" charset="0"/>
                <a:ea typeface="Calibri" pitchFamily="34" charset="-122"/>
                <a:cs typeface="Calibri" pitchFamily="34" charset="-120"/>
              </a:rPr>
              <a:t>thermal 60 J and sound 20 J</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Check   </a:t>
            </a:r>
            <a:r>
              <a:rPr lang="en-US" sz="1050" dirty="0">
                <a:solidFill>
                  <a:srgbClr val="262B3A"/>
                </a:solidFill>
                <a:latin typeface="Calibri" pitchFamily="34" charset="0"/>
                <a:ea typeface="Calibri" pitchFamily="34" charset="-122"/>
                <a:cs typeface="Calibri" pitchFamily="34" charset="-120"/>
              </a:rPr>
              <a:t>120 + 60 + 20 = 200 J ✓</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wasted energy = 80 J</a:t>
            </a:r>
            <a:endParaRPr lang="en-US" sz="1050" dirty="0"/>
          </a:p>
        </p:txBody>
      </p:sp>
      <p:sp>
        <p:nvSpPr>
          <p:cNvPr id="32" name="Shape 30"/>
          <p:cNvSpPr/>
          <p:nvPr/>
        </p:nvSpPr>
        <p:spPr>
          <a:xfrm>
            <a:off x="411480" y="5833872"/>
            <a:ext cx="11368735" cy="530352"/>
          </a:xfrm>
          <a:prstGeom prst="rect">
            <a:avLst/>
          </a:prstGeom>
          <a:solidFill>
            <a:srgbClr val="FFF4E0"/>
          </a:solidFill>
          <a:ln w="6350">
            <a:solidFill>
              <a:srgbClr val="F1D9A8"/>
            </a:solidFill>
            <a:prstDash val="solid"/>
          </a:ln>
        </p:spPr>
      </p:sp>
      <p:sp>
        <p:nvSpPr>
          <p:cNvPr id="33" name="Shape 31"/>
          <p:cNvSpPr/>
          <p:nvPr/>
        </p:nvSpPr>
        <p:spPr>
          <a:xfrm>
            <a:off x="411480" y="5833872"/>
            <a:ext cx="82296" cy="530352"/>
          </a:xfrm>
          <a:prstGeom prst="rect">
            <a:avLst/>
          </a:prstGeom>
          <a:solidFill>
            <a:srgbClr val="E39A2F"/>
          </a:solidFill>
          <a:ln w="12700">
            <a:solidFill>
              <a:srgbClr val="E39A2F"/>
            </a:solidFill>
            <a:prstDash val="solid"/>
          </a:ln>
        </p:spPr>
      </p:sp>
      <p:sp>
        <p:nvSpPr>
          <p:cNvPr id="34" name="Text 3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lamp is supplied with 100 J and gives out 15 J of light. Calculate the energy wasted, and the widths at a scale of 1 mm per joule.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Dissipation: wasted energy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3.7, 3.8 • energy spreads out and is stored in less useful ways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3.7  |  15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friction heats moving parts; the energy spreads into the surroundings</a:t>
            </a:r>
            <a:endParaRPr lang="en-US" sz="1000" dirty="0"/>
          </a:p>
        </p:txBody>
      </p:sp>
      <p:sp>
        <p:nvSpPr>
          <p:cNvPr id="10" name="Text 8"/>
          <p:cNvSpPr/>
          <p:nvPr/>
        </p:nvSpPr>
        <p:spPr>
          <a:xfrm>
            <a:off x="640080" y="1325880"/>
            <a:ext cx="512064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A box slides across a rough floor</a:t>
            </a:r>
            <a:endParaRPr lang="en-US" sz="1150" dirty="0"/>
          </a:p>
        </p:txBody>
      </p:sp>
      <p:sp>
        <p:nvSpPr>
          <p:cNvPr id="11" name="Shape 9"/>
          <p:cNvSpPr/>
          <p:nvPr/>
        </p:nvSpPr>
        <p:spPr>
          <a:xfrm>
            <a:off x="685800" y="2788920"/>
            <a:ext cx="5029200" cy="109728"/>
          </a:xfrm>
          <a:prstGeom prst="rect">
            <a:avLst/>
          </a:prstGeom>
          <a:solidFill>
            <a:srgbClr val="8A6A3A"/>
          </a:solidFill>
          <a:ln/>
        </p:spPr>
      </p:sp>
      <p:sp>
        <p:nvSpPr>
          <p:cNvPr id="12" name="Shape 10"/>
          <p:cNvSpPr/>
          <p:nvPr/>
        </p:nvSpPr>
        <p:spPr>
          <a:xfrm>
            <a:off x="2286000" y="2148840"/>
            <a:ext cx="1280160" cy="640080"/>
          </a:xfrm>
          <a:prstGeom prst="rect">
            <a:avLst/>
          </a:prstGeom>
          <a:solidFill>
            <a:srgbClr val="2E5BD8"/>
          </a:solidFill>
          <a:ln w="12700">
            <a:solidFill>
              <a:srgbClr val="2B3F7A"/>
            </a:solidFill>
            <a:prstDash val="solid"/>
          </a:ln>
        </p:spPr>
      </p:sp>
      <p:sp>
        <p:nvSpPr>
          <p:cNvPr id="13" name="Text 11"/>
          <p:cNvSpPr/>
          <p:nvPr/>
        </p:nvSpPr>
        <p:spPr>
          <a:xfrm>
            <a:off x="2286000" y="2148840"/>
            <a:ext cx="128016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box</a:t>
            </a:r>
            <a:endParaRPr lang="en-US" sz="1100" dirty="0"/>
          </a:p>
        </p:txBody>
      </p:sp>
      <p:sp>
        <p:nvSpPr>
          <p:cNvPr id="14" name="Shape 12"/>
          <p:cNvSpPr/>
          <p:nvPr/>
        </p:nvSpPr>
        <p:spPr>
          <a:xfrm>
            <a:off x="3566160" y="2331720"/>
            <a:ext cx="914400" cy="91"/>
          </a:xfrm>
          <a:prstGeom prst="line">
            <a:avLst/>
          </a:prstGeom>
          <a:noFill/>
          <a:ln w="38100">
            <a:solidFill>
              <a:srgbClr val="2E8B57"/>
            </a:solidFill>
            <a:prstDash val="solid"/>
            <a:tailEnd type="triangle"/>
          </a:ln>
        </p:spPr>
      </p:sp>
      <p:sp>
        <p:nvSpPr>
          <p:cNvPr id="15" name="Text 13"/>
          <p:cNvSpPr/>
          <p:nvPr/>
        </p:nvSpPr>
        <p:spPr>
          <a:xfrm>
            <a:off x="4526280" y="2194560"/>
            <a:ext cx="914400" cy="274320"/>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velocity</a:t>
            </a:r>
            <a:endParaRPr lang="en-US" sz="1100" dirty="0"/>
          </a:p>
        </p:txBody>
      </p:sp>
      <p:sp>
        <p:nvSpPr>
          <p:cNvPr id="16" name="Shape 14"/>
          <p:cNvSpPr/>
          <p:nvPr/>
        </p:nvSpPr>
        <p:spPr>
          <a:xfrm flipH="1">
            <a:off x="1463040" y="2697480"/>
            <a:ext cx="822960" cy="91"/>
          </a:xfrm>
          <a:prstGeom prst="line">
            <a:avLst/>
          </a:prstGeom>
          <a:noFill/>
          <a:ln w="38100">
            <a:solidFill>
              <a:srgbClr val="C8414C"/>
            </a:solidFill>
            <a:prstDash val="solid"/>
            <a:tailEnd type="triangle"/>
          </a:ln>
        </p:spPr>
      </p:sp>
      <p:sp>
        <p:nvSpPr>
          <p:cNvPr id="17" name="Text 15"/>
          <p:cNvSpPr/>
          <p:nvPr/>
        </p:nvSpPr>
        <p:spPr>
          <a:xfrm>
            <a:off x="594360" y="2560320"/>
            <a:ext cx="822960" cy="274320"/>
          </a:xfrm>
          <a:prstGeom prst="rect">
            <a:avLst/>
          </a:prstGeom>
          <a:noFill/>
          <a:ln/>
        </p:spPr>
        <p:txBody>
          <a:bodyPr wrap="square" lIns="0" tIns="0" rIns="0" bIns="0" rtlCol="0" anchor="ctr"/>
          <a:lstStyle/>
          <a:p>
            <a:pPr algn="r" indent="0" marL="0">
              <a:buNone/>
            </a:pPr>
            <a:r>
              <a:rPr lang="en-US" sz="1100" b="1" dirty="0">
                <a:solidFill>
                  <a:srgbClr val="C8414C"/>
                </a:solidFill>
                <a:latin typeface="Calibri" pitchFamily="34" charset="0"/>
                <a:ea typeface="Calibri" pitchFamily="34" charset="-122"/>
                <a:cs typeface="Calibri" pitchFamily="34" charset="-120"/>
              </a:rPr>
              <a:t>friction</a:t>
            </a:r>
            <a:endParaRPr lang="en-US" sz="1100" dirty="0"/>
          </a:p>
        </p:txBody>
      </p:sp>
      <p:sp>
        <p:nvSpPr>
          <p:cNvPr id="18" name="Shape 16"/>
          <p:cNvSpPr/>
          <p:nvPr/>
        </p:nvSpPr>
        <p:spPr>
          <a:xfrm>
            <a:off x="2395728" y="2926080"/>
            <a:ext cx="146304" cy="274320"/>
          </a:xfrm>
          <a:prstGeom prst="arc">
            <a:avLst>
              <a:gd name="adj1" fmla="val 16200000"/>
              <a:gd name="adj2" fmla="val 5400000"/>
            </a:avLst>
          </a:prstGeom>
          <a:ln w="25400">
            <a:solidFill>
              <a:srgbClr val="E39A2F"/>
            </a:solidFill>
            <a:prstDash val="solid"/>
          </a:ln>
        </p:spPr>
      </p:sp>
      <p:sp>
        <p:nvSpPr>
          <p:cNvPr id="19" name="Shape 17"/>
          <p:cNvSpPr/>
          <p:nvPr/>
        </p:nvSpPr>
        <p:spPr>
          <a:xfrm>
            <a:off x="2852928" y="2926080"/>
            <a:ext cx="146304" cy="274320"/>
          </a:xfrm>
          <a:prstGeom prst="arc">
            <a:avLst>
              <a:gd name="adj1" fmla="val 16200000"/>
              <a:gd name="adj2" fmla="val 5400000"/>
            </a:avLst>
          </a:prstGeom>
          <a:ln w="25400">
            <a:solidFill>
              <a:srgbClr val="E39A2F"/>
            </a:solidFill>
            <a:prstDash val="solid"/>
          </a:ln>
        </p:spPr>
      </p:sp>
      <p:sp>
        <p:nvSpPr>
          <p:cNvPr id="20" name="Shape 18"/>
          <p:cNvSpPr/>
          <p:nvPr/>
        </p:nvSpPr>
        <p:spPr>
          <a:xfrm>
            <a:off x="3310128" y="2926080"/>
            <a:ext cx="146304" cy="274320"/>
          </a:xfrm>
          <a:prstGeom prst="arc">
            <a:avLst>
              <a:gd name="adj1" fmla="val 16200000"/>
              <a:gd name="adj2" fmla="val 5400000"/>
            </a:avLst>
          </a:prstGeom>
          <a:ln w="25400">
            <a:solidFill>
              <a:srgbClr val="E39A2F"/>
            </a:solidFill>
            <a:prstDash val="solid"/>
          </a:ln>
        </p:spPr>
      </p:sp>
      <p:sp>
        <p:nvSpPr>
          <p:cNvPr id="21" name="Text 19"/>
          <p:cNvSpPr/>
          <p:nvPr/>
        </p:nvSpPr>
        <p:spPr>
          <a:xfrm>
            <a:off x="685800" y="3246120"/>
            <a:ext cx="5029200" cy="256032"/>
          </a:xfrm>
          <a:prstGeom prst="rect">
            <a:avLst/>
          </a:prstGeom>
          <a:noFill/>
          <a:ln/>
        </p:spPr>
        <p:txBody>
          <a:bodyPr wrap="square" lIns="0" tIns="0" rIns="0" bIns="0" rtlCol="0" anchor="ctr"/>
          <a:lstStyle/>
          <a:p>
            <a:pPr algn="ctr" indent="0" marL="0">
              <a:buNone/>
            </a:pPr>
            <a:r>
              <a:rPr lang="en-US" sz="1050" i="1" dirty="0">
                <a:solidFill>
                  <a:srgbClr val="C8414C"/>
                </a:solidFill>
                <a:latin typeface="Calibri" pitchFamily="34" charset="0"/>
                <a:ea typeface="Calibri" pitchFamily="34" charset="-122"/>
                <a:cs typeface="Calibri" pitchFamily="34" charset="-120"/>
              </a:rPr>
              <a:t>surfaces warm up: kinetic store → thermal store of box and floor</a:t>
            </a:r>
            <a:endParaRPr lang="en-US" sz="1050" dirty="0"/>
          </a:p>
        </p:txBody>
      </p:sp>
      <p:sp>
        <p:nvSpPr>
          <p:cNvPr id="22" name="Text 20"/>
          <p:cNvSpPr/>
          <p:nvPr/>
        </p:nvSpPr>
        <p:spPr>
          <a:xfrm>
            <a:off x="640080" y="3657600"/>
            <a:ext cx="512064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The thermal energy then spreads out</a:t>
            </a:r>
            <a:endParaRPr lang="en-US" sz="1150" dirty="0"/>
          </a:p>
        </p:txBody>
      </p:sp>
      <p:sp>
        <p:nvSpPr>
          <p:cNvPr id="23" name="Shape 21"/>
          <p:cNvSpPr/>
          <p:nvPr/>
        </p:nvSpPr>
        <p:spPr>
          <a:xfrm>
            <a:off x="1097280" y="4160520"/>
            <a:ext cx="640080" cy="685800"/>
          </a:xfrm>
          <a:prstGeom prst="roundRect">
            <a:avLst>
              <a:gd name="adj" fmla="val 8571"/>
            </a:avLst>
          </a:prstGeom>
          <a:solidFill>
            <a:srgbClr val="D86A3A"/>
          </a:solidFill>
          <a:ln w="12700">
            <a:solidFill>
              <a:srgbClr val="9C3F12"/>
            </a:solidFill>
            <a:prstDash val="solid"/>
          </a:ln>
        </p:spPr>
      </p:sp>
      <p:sp>
        <p:nvSpPr>
          <p:cNvPr id="24" name="Text 22"/>
          <p:cNvSpPr/>
          <p:nvPr/>
        </p:nvSpPr>
        <p:spPr>
          <a:xfrm>
            <a:off x="1097280" y="4160520"/>
            <a:ext cx="640080"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hot</a:t>
            </a:r>
            <a:endParaRPr lang="en-US" sz="1050" dirty="0"/>
          </a:p>
        </p:txBody>
      </p:sp>
      <p:sp>
        <p:nvSpPr>
          <p:cNvPr id="25" name="Shape 23"/>
          <p:cNvSpPr/>
          <p:nvPr/>
        </p:nvSpPr>
        <p:spPr>
          <a:xfrm flipV="1">
            <a:off x="1783080" y="4013065"/>
            <a:ext cx="260331" cy="485783"/>
          </a:xfrm>
          <a:prstGeom prst="line">
            <a:avLst/>
          </a:prstGeom>
          <a:noFill/>
          <a:ln w="19050">
            <a:solidFill>
              <a:srgbClr val="E39A2F"/>
            </a:solidFill>
            <a:prstDash val="solid"/>
            <a:tailEnd type="triangle"/>
          </a:ln>
        </p:spPr>
      </p:sp>
      <p:sp>
        <p:nvSpPr>
          <p:cNvPr id="26" name="Shape 24"/>
          <p:cNvSpPr/>
          <p:nvPr/>
        </p:nvSpPr>
        <p:spPr>
          <a:xfrm flipV="1">
            <a:off x="1783080" y="4113589"/>
            <a:ext cx="646541" cy="385259"/>
          </a:xfrm>
          <a:prstGeom prst="line">
            <a:avLst/>
          </a:prstGeom>
          <a:noFill/>
          <a:ln w="19050">
            <a:solidFill>
              <a:srgbClr val="E39A2F"/>
            </a:solidFill>
            <a:prstDash val="solid"/>
            <a:tailEnd type="triangle"/>
          </a:ln>
        </p:spPr>
      </p:sp>
      <p:sp>
        <p:nvSpPr>
          <p:cNvPr id="27" name="Shape 25"/>
          <p:cNvSpPr/>
          <p:nvPr/>
        </p:nvSpPr>
        <p:spPr>
          <a:xfrm flipV="1">
            <a:off x="1783080" y="4286305"/>
            <a:ext cx="911601" cy="212543"/>
          </a:xfrm>
          <a:prstGeom prst="line">
            <a:avLst/>
          </a:prstGeom>
          <a:noFill/>
          <a:ln w="19050">
            <a:solidFill>
              <a:srgbClr val="E39A2F"/>
            </a:solidFill>
            <a:prstDash val="solid"/>
            <a:tailEnd type="triangle"/>
          </a:ln>
        </p:spPr>
      </p:sp>
      <p:sp>
        <p:nvSpPr>
          <p:cNvPr id="28" name="Shape 26"/>
          <p:cNvSpPr/>
          <p:nvPr/>
        </p:nvSpPr>
        <p:spPr>
          <a:xfrm>
            <a:off x="1783080" y="4498848"/>
            <a:ext cx="1005840" cy="91"/>
          </a:xfrm>
          <a:prstGeom prst="line">
            <a:avLst/>
          </a:prstGeom>
          <a:noFill/>
          <a:ln w="19050">
            <a:solidFill>
              <a:srgbClr val="E39A2F"/>
            </a:solidFill>
            <a:prstDash val="solid"/>
            <a:tailEnd type="triangle"/>
          </a:ln>
        </p:spPr>
      </p:sp>
      <p:sp>
        <p:nvSpPr>
          <p:cNvPr id="29" name="Shape 27"/>
          <p:cNvSpPr/>
          <p:nvPr/>
        </p:nvSpPr>
        <p:spPr>
          <a:xfrm>
            <a:off x="1783080" y="4498848"/>
            <a:ext cx="911601" cy="212543"/>
          </a:xfrm>
          <a:prstGeom prst="line">
            <a:avLst/>
          </a:prstGeom>
          <a:noFill/>
          <a:ln w="19050">
            <a:solidFill>
              <a:srgbClr val="E39A2F"/>
            </a:solidFill>
            <a:prstDash val="solid"/>
            <a:tailEnd type="triangle"/>
          </a:ln>
        </p:spPr>
      </p:sp>
      <p:sp>
        <p:nvSpPr>
          <p:cNvPr id="30" name="Shape 28"/>
          <p:cNvSpPr/>
          <p:nvPr/>
        </p:nvSpPr>
        <p:spPr>
          <a:xfrm>
            <a:off x="1783080" y="4498848"/>
            <a:ext cx="646541" cy="385259"/>
          </a:xfrm>
          <a:prstGeom prst="line">
            <a:avLst/>
          </a:prstGeom>
          <a:noFill/>
          <a:ln w="19050">
            <a:solidFill>
              <a:srgbClr val="E39A2F"/>
            </a:solidFill>
            <a:prstDash val="solid"/>
            <a:tailEnd type="triangle"/>
          </a:ln>
        </p:spPr>
      </p:sp>
      <p:sp>
        <p:nvSpPr>
          <p:cNvPr id="31" name="Shape 29"/>
          <p:cNvSpPr/>
          <p:nvPr/>
        </p:nvSpPr>
        <p:spPr>
          <a:xfrm>
            <a:off x="1783080" y="4498848"/>
            <a:ext cx="260331" cy="485783"/>
          </a:xfrm>
          <a:prstGeom prst="line">
            <a:avLst/>
          </a:prstGeom>
          <a:noFill/>
          <a:ln w="19050">
            <a:solidFill>
              <a:srgbClr val="E39A2F"/>
            </a:solidFill>
            <a:prstDash val="solid"/>
            <a:tailEnd type="triangle"/>
          </a:ln>
        </p:spPr>
      </p:sp>
      <p:sp>
        <p:nvSpPr>
          <p:cNvPr id="32" name="Shape 30"/>
          <p:cNvSpPr/>
          <p:nvPr/>
        </p:nvSpPr>
        <p:spPr>
          <a:xfrm>
            <a:off x="3108960" y="4114800"/>
            <a:ext cx="109728" cy="109728"/>
          </a:xfrm>
          <a:prstGeom prst="ellipse">
            <a:avLst/>
          </a:prstGeom>
          <a:solidFill>
            <a:srgbClr val="F5A742"/>
          </a:solidFill>
          <a:ln w="12700">
            <a:solidFill>
              <a:srgbClr val="E39A2F"/>
            </a:solidFill>
            <a:prstDash val="solid"/>
          </a:ln>
        </p:spPr>
      </p:sp>
      <p:sp>
        <p:nvSpPr>
          <p:cNvPr id="33" name="Shape 31"/>
          <p:cNvSpPr/>
          <p:nvPr/>
        </p:nvSpPr>
        <p:spPr>
          <a:xfrm>
            <a:off x="3611880" y="4224528"/>
            <a:ext cx="109728" cy="109728"/>
          </a:xfrm>
          <a:prstGeom prst="ellipse">
            <a:avLst/>
          </a:prstGeom>
          <a:solidFill>
            <a:srgbClr val="F5A742"/>
          </a:solidFill>
          <a:ln w="12700">
            <a:solidFill>
              <a:srgbClr val="E39A2F"/>
            </a:solidFill>
            <a:prstDash val="solid"/>
          </a:ln>
        </p:spPr>
      </p:sp>
      <p:sp>
        <p:nvSpPr>
          <p:cNvPr id="34" name="Shape 32"/>
          <p:cNvSpPr/>
          <p:nvPr/>
        </p:nvSpPr>
        <p:spPr>
          <a:xfrm>
            <a:off x="4114800" y="4114800"/>
            <a:ext cx="109728" cy="109728"/>
          </a:xfrm>
          <a:prstGeom prst="ellipse">
            <a:avLst/>
          </a:prstGeom>
          <a:solidFill>
            <a:srgbClr val="F5A742"/>
          </a:solidFill>
          <a:ln w="12700">
            <a:solidFill>
              <a:srgbClr val="E39A2F"/>
            </a:solidFill>
            <a:prstDash val="solid"/>
          </a:ln>
        </p:spPr>
      </p:sp>
      <p:sp>
        <p:nvSpPr>
          <p:cNvPr id="35" name="Shape 33"/>
          <p:cNvSpPr/>
          <p:nvPr/>
        </p:nvSpPr>
        <p:spPr>
          <a:xfrm>
            <a:off x="4617720" y="4224528"/>
            <a:ext cx="109728" cy="109728"/>
          </a:xfrm>
          <a:prstGeom prst="ellipse">
            <a:avLst/>
          </a:prstGeom>
          <a:solidFill>
            <a:srgbClr val="F5A742"/>
          </a:solidFill>
          <a:ln w="12700">
            <a:solidFill>
              <a:srgbClr val="E39A2F"/>
            </a:solidFill>
            <a:prstDash val="solid"/>
          </a:ln>
        </p:spPr>
      </p:sp>
      <p:sp>
        <p:nvSpPr>
          <p:cNvPr id="36" name="Shape 34"/>
          <p:cNvSpPr/>
          <p:nvPr/>
        </p:nvSpPr>
        <p:spPr>
          <a:xfrm>
            <a:off x="5120640" y="4114800"/>
            <a:ext cx="109728" cy="109728"/>
          </a:xfrm>
          <a:prstGeom prst="ellipse">
            <a:avLst/>
          </a:prstGeom>
          <a:solidFill>
            <a:srgbClr val="F5A742"/>
          </a:solidFill>
          <a:ln w="12700">
            <a:solidFill>
              <a:srgbClr val="E39A2F"/>
            </a:solidFill>
            <a:prstDash val="solid"/>
          </a:ln>
        </p:spPr>
      </p:sp>
      <p:sp>
        <p:nvSpPr>
          <p:cNvPr id="37" name="Shape 35"/>
          <p:cNvSpPr/>
          <p:nvPr/>
        </p:nvSpPr>
        <p:spPr>
          <a:xfrm>
            <a:off x="3108960" y="4727448"/>
            <a:ext cx="109728" cy="109728"/>
          </a:xfrm>
          <a:prstGeom prst="ellipse">
            <a:avLst/>
          </a:prstGeom>
          <a:solidFill>
            <a:srgbClr val="F5A742"/>
          </a:solidFill>
          <a:ln w="12700">
            <a:solidFill>
              <a:srgbClr val="E39A2F"/>
            </a:solidFill>
            <a:prstDash val="solid"/>
          </a:ln>
        </p:spPr>
      </p:sp>
      <p:sp>
        <p:nvSpPr>
          <p:cNvPr id="38" name="Shape 36"/>
          <p:cNvSpPr/>
          <p:nvPr/>
        </p:nvSpPr>
        <p:spPr>
          <a:xfrm>
            <a:off x="3611880" y="4617720"/>
            <a:ext cx="109728" cy="109728"/>
          </a:xfrm>
          <a:prstGeom prst="ellipse">
            <a:avLst/>
          </a:prstGeom>
          <a:solidFill>
            <a:srgbClr val="F5A742"/>
          </a:solidFill>
          <a:ln w="12700">
            <a:solidFill>
              <a:srgbClr val="E39A2F"/>
            </a:solidFill>
            <a:prstDash val="solid"/>
          </a:ln>
        </p:spPr>
      </p:sp>
      <p:sp>
        <p:nvSpPr>
          <p:cNvPr id="39" name="Shape 37"/>
          <p:cNvSpPr/>
          <p:nvPr/>
        </p:nvSpPr>
        <p:spPr>
          <a:xfrm>
            <a:off x="4114800" y="4727448"/>
            <a:ext cx="109728" cy="109728"/>
          </a:xfrm>
          <a:prstGeom prst="ellipse">
            <a:avLst/>
          </a:prstGeom>
          <a:solidFill>
            <a:srgbClr val="F5A742"/>
          </a:solidFill>
          <a:ln w="12700">
            <a:solidFill>
              <a:srgbClr val="E39A2F"/>
            </a:solidFill>
            <a:prstDash val="solid"/>
          </a:ln>
        </p:spPr>
      </p:sp>
      <p:sp>
        <p:nvSpPr>
          <p:cNvPr id="40" name="Shape 38"/>
          <p:cNvSpPr/>
          <p:nvPr/>
        </p:nvSpPr>
        <p:spPr>
          <a:xfrm>
            <a:off x="4617720" y="4617720"/>
            <a:ext cx="109728" cy="109728"/>
          </a:xfrm>
          <a:prstGeom prst="ellipse">
            <a:avLst/>
          </a:prstGeom>
          <a:solidFill>
            <a:srgbClr val="F5A742"/>
          </a:solidFill>
          <a:ln w="12700">
            <a:solidFill>
              <a:srgbClr val="E39A2F"/>
            </a:solidFill>
            <a:prstDash val="solid"/>
          </a:ln>
        </p:spPr>
      </p:sp>
      <p:sp>
        <p:nvSpPr>
          <p:cNvPr id="41" name="Shape 39"/>
          <p:cNvSpPr/>
          <p:nvPr/>
        </p:nvSpPr>
        <p:spPr>
          <a:xfrm>
            <a:off x="5120640" y="4727448"/>
            <a:ext cx="109728" cy="109728"/>
          </a:xfrm>
          <a:prstGeom prst="ellipse">
            <a:avLst/>
          </a:prstGeom>
          <a:solidFill>
            <a:srgbClr val="F5A742"/>
          </a:solidFill>
          <a:ln w="12700">
            <a:solidFill>
              <a:srgbClr val="E39A2F"/>
            </a:solidFill>
            <a:prstDash val="solid"/>
          </a:ln>
        </p:spPr>
      </p:sp>
      <p:sp>
        <p:nvSpPr>
          <p:cNvPr id="42" name="Text 40"/>
          <p:cNvSpPr/>
          <p:nvPr/>
        </p:nvSpPr>
        <p:spPr>
          <a:xfrm>
            <a:off x="2926080" y="5074920"/>
            <a:ext cx="274320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warm air particles: tiny temperature rise</a:t>
            </a:r>
            <a:endParaRPr lang="en-US" sz="1000" dirty="0"/>
          </a:p>
        </p:txBody>
      </p:sp>
      <p:sp>
        <p:nvSpPr>
          <p:cNvPr id="43" name="Shape 4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4" name="Text 4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energy is wasted</a:t>
            </a:r>
            <a:endParaRPr lang="en-US" sz="1300" dirty="0"/>
          </a:p>
        </p:txBody>
      </p:sp>
      <p:sp>
        <p:nvSpPr>
          <p:cNvPr id="45" name="Text 4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Mechanical processes become </a:t>
            </a:r>
            <a:r>
              <a:rPr lang="en-US" sz="1150" b="1" dirty="0">
                <a:solidFill>
                  <a:srgbClr val="262B3A"/>
                </a:solidFill>
                <a:latin typeface="Calibri" pitchFamily="34" charset="0"/>
                <a:ea typeface="Calibri" pitchFamily="34" charset="-122"/>
                <a:cs typeface="Calibri" pitchFamily="34" charset="-120"/>
              </a:rPr>
              <a:t>wasteful</a:t>
            </a:r>
            <a:r>
              <a:rPr lang="en-US" sz="1150" dirty="0">
                <a:solidFill>
                  <a:srgbClr val="262B3A"/>
                </a:solidFill>
                <a:latin typeface="Calibri" pitchFamily="34" charset="0"/>
                <a:ea typeface="Calibri" pitchFamily="34" charset="-122"/>
                <a:cs typeface="Calibri" pitchFamily="34" charset="-120"/>
              </a:rPr>
              <a:t> when they cause a </a:t>
            </a:r>
            <a:r>
              <a:rPr lang="en-US" sz="1150" b="1" dirty="0">
                <a:solidFill>
                  <a:srgbClr val="262B3A"/>
                </a:solidFill>
                <a:latin typeface="Calibri" pitchFamily="34" charset="0"/>
                <a:ea typeface="Calibri" pitchFamily="34" charset="-122"/>
                <a:cs typeface="Calibri" pitchFamily="34" charset="-120"/>
              </a:rPr>
              <a:t>rise in temperature</a:t>
            </a:r>
            <a:r>
              <a:rPr lang="en-US" sz="1150" dirty="0">
                <a:solidFill>
                  <a:srgbClr val="262B3A"/>
                </a:solidFill>
                <a:latin typeface="Calibri" pitchFamily="34" charset="0"/>
                <a:ea typeface="Calibri" pitchFamily="34" charset="-122"/>
                <a:cs typeface="Calibri" pitchFamily="34" charset="-120"/>
              </a:rPr>
              <a:t> (e.g. friction, air resistance).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energy goes into the </a:t>
            </a:r>
            <a:r>
              <a:rPr lang="en-US" sz="1150" b="1" dirty="0">
                <a:solidFill>
                  <a:srgbClr val="262B3A"/>
                </a:solidFill>
                <a:latin typeface="Calibri" pitchFamily="34" charset="0"/>
                <a:ea typeface="Calibri" pitchFamily="34" charset="-122"/>
                <a:cs typeface="Calibri" pitchFamily="34" charset="-120"/>
              </a:rPr>
              <a:t>thermal store of the surroundings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spreads out</a:t>
            </a:r>
            <a:r>
              <a:rPr lang="en-US" sz="1150" dirty="0">
                <a:solidFill>
                  <a:srgbClr val="262B3A"/>
                </a:solidFill>
                <a:latin typeface="Calibri" pitchFamily="34" charset="0"/>
                <a:ea typeface="Calibri" pitchFamily="34" charset="-122"/>
                <a:cs typeface="Calibri" pitchFamily="34" charset="-120"/>
              </a:rPr>
              <a:t>: it is </a:t>
            </a:r>
            <a:r>
              <a:rPr lang="en-US" sz="1150" b="1" dirty="0">
                <a:solidFill>
                  <a:srgbClr val="262B3A"/>
                </a:solidFill>
                <a:latin typeface="Calibri" pitchFamily="34" charset="0"/>
                <a:ea typeface="Calibri" pitchFamily="34" charset="-122"/>
                <a:cs typeface="Calibri" pitchFamily="34" charset="-120"/>
              </a:rPr>
              <a:t>dissipated</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Dissipated energy is stored in a </a:t>
            </a:r>
            <a:r>
              <a:rPr lang="en-US" sz="1150" b="1" dirty="0">
                <a:solidFill>
                  <a:srgbClr val="262B3A"/>
                </a:solidFill>
                <a:latin typeface="Calibri" pitchFamily="34" charset="0"/>
                <a:ea typeface="Calibri" pitchFamily="34" charset="-122"/>
                <a:cs typeface="Calibri" pitchFamily="34" charset="-120"/>
              </a:rPr>
              <a:t>less useful</a:t>
            </a:r>
            <a:r>
              <a:rPr lang="en-US" sz="1150" dirty="0">
                <a:solidFill>
                  <a:srgbClr val="262B3A"/>
                </a:solidFill>
                <a:latin typeface="Calibri" pitchFamily="34" charset="0"/>
                <a:ea typeface="Calibri" pitchFamily="34" charset="-122"/>
                <a:cs typeface="Calibri" pitchFamily="34" charset="-120"/>
              </a:rPr>
              <a:t> way: it is very hard to collect and use again.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t>
            </a:r>
            <a:r>
              <a:rPr lang="en-US" sz="1150" b="1" dirty="0">
                <a:solidFill>
                  <a:srgbClr val="262B3A"/>
                </a:solidFill>
                <a:latin typeface="Calibri" pitchFamily="34" charset="0"/>
                <a:ea typeface="Calibri" pitchFamily="34" charset="-122"/>
                <a:cs typeface="Calibri" pitchFamily="34" charset="-120"/>
              </a:rPr>
              <a:t>all</a:t>
            </a:r>
            <a:r>
              <a:rPr lang="en-US" sz="1150" dirty="0">
                <a:solidFill>
                  <a:srgbClr val="262B3A"/>
                </a:solidFill>
                <a:latin typeface="Calibri" pitchFamily="34" charset="0"/>
                <a:ea typeface="Calibri" pitchFamily="34" charset="-122"/>
                <a:cs typeface="Calibri" pitchFamily="34" charset="-120"/>
              </a:rPr>
              <a:t> system changes, some energy is dissipated. Never say energy is “lost” or “used up”: it is </a:t>
            </a:r>
            <a:r>
              <a:rPr lang="en-US" sz="1150" b="1" dirty="0">
                <a:solidFill>
                  <a:srgbClr val="262B3A"/>
                </a:solidFill>
                <a:latin typeface="Calibri" pitchFamily="34" charset="0"/>
                <a:ea typeface="Calibri" pitchFamily="34" charset="-122"/>
                <a:cs typeface="Calibri" pitchFamily="34" charset="-120"/>
              </a:rPr>
              <a:t>conserved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46" name="Shape 4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7" name="Text 4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Examples of dissipation</a:t>
            </a:r>
            <a:endParaRPr lang="en-US" sz="1300" dirty="0"/>
          </a:p>
        </p:txBody>
      </p:sp>
      <p:sp>
        <p:nvSpPr>
          <p:cNvPr id="48" name="Text 46"/>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Car engine   </a:t>
            </a:r>
            <a:r>
              <a:rPr lang="en-US" sz="1050" dirty="0">
                <a:solidFill>
                  <a:srgbClr val="262B3A"/>
                </a:solidFill>
                <a:latin typeface="Calibri" pitchFamily="34" charset="0"/>
                <a:ea typeface="Calibri" pitchFamily="34" charset="-122"/>
                <a:cs typeface="Calibri" pitchFamily="34" charset="-120"/>
              </a:rPr>
              <a:t>friction in moving parts heats the engine and the air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Phone charger   </a:t>
            </a:r>
            <a:r>
              <a:rPr lang="en-US" sz="1050" dirty="0">
                <a:solidFill>
                  <a:srgbClr val="262B3A"/>
                </a:solidFill>
                <a:latin typeface="Calibri" pitchFamily="34" charset="0"/>
                <a:ea typeface="Calibri" pitchFamily="34" charset="-122"/>
                <a:cs typeface="Calibri" pitchFamily="34" charset="-120"/>
              </a:rPr>
              <a:t>current heats the wires and the charger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Bouncing ball   </a:t>
            </a:r>
            <a:r>
              <a:rPr lang="en-US" sz="1050" dirty="0">
                <a:solidFill>
                  <a:srgbClr val="262B3A"/>
                </a:solidFill>
                <a:latin typeface="Calibri" pitchFamily="34" charset="0"/>
                <a:ea typeface="Calibri" pitchFamily="34" charset="-122"/>
                <a:cs typeface="Calibri" pitchFamily="34" charset="-120"/>
              </a:rPr>
              <a:t>each bounce heats the ball and floor, so it rises less high</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all end up in the thermal store of the surroundings</a:t>
            </a:r>
            <a:endParaRPr lang="en-US" sz="1050" dirty="0"/>
          </a:p>
        </p:txBody>
      </p:sp>
      <p:sp>
        <p:nvSpPr>
          <p:cNvPr id="49" name="Shape 47"/>
          <p:cNvSpPr/>
          <p:nvPr/>
        </p:nvSpPr>
        <p:spPr>
          <a:xfrm>
            <a:off x="411480" y="5833872"/>
            <a:ext cx="11368735" cy="530352"/>
          </a:xfrm>
          <a:prstGeom prst="rect">
            <a:avLst/>
          </a:prstGeom>
          <a:solidFill>
            <a:srgbClr val="FFF4E0"/>
          </a:solidFill>
          <a:ln w="6350">
            <a:solidFill>
              <a:srgbClr val="F1D9A8"/>
            </a:solidFill>
            <a:prstDash val="solid"/>
          </a:ln>
        </p:spPr>
      </p:sp>
      <p:sp>
        <p:nvSpPr>
          <p:cNvPr id="50" name="Shape 48"/>
          <p:cNvSpPr/>
          <p:nvPr/>
        </p:nvSpPr>
        <p:spPr>
          <a:xfrm>
            <a:off x="411480" y="5833872"/>
            <a:ext cx="82296" cy="530352"/>
          </a:xfrm>
          <a:prstGeom prst="rect">
            <a:avLst/>
          </a:prstGeom>
          <a:solidFill>
            <a:srgbClr val="E39A2F"/>
          </a:solidFill>
          <a:ln w="12700">
            <a:solidFill>
              <a:srgbClr val="E39A2F"/>
            </a:solidFill>
            <a:prstDash val="solid"/>
          </a:ln>
        </p:spPr>
      </p:sp>
      <p:sp>
        <p:nvSpPr>
          <p:cNvPr id="51" name="Text 4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bouncing ball rises less high after each bounce. Explain why, using the idea of dissipation.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3.3, 3.5, 3.7, 3.8 • Sankey diagrams and dissipation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16</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filament lamp is supplied with </a:t>
            </a:r>
            <a:r>
              <a:rPr lang="en-US" sz="1250" b="1" dirty="0">
                <a:solidFill>
                  <a:srgbClr val="262B3A"/>
                </a:solidFill>
                <a:latin typeface="Calibri" pitchFamily="34" charset="0"/>
                <a:ea typeface="Calibri" pitchFamily="34" charset="-122"/>
                <a:cs typeface="Calibri" pitchFamily="34" charset="-120"/>
              </a:rPr>
              <a:t>500 J</a:t>
            </a:r>
            <a:r>
              <a:rPr lang="en-US" sz="1250" dirty="0">
                <a:solidFill>
                  <a:srgbClr val="262B3A"/>
                </a:solidFill>
                <a:latin typeface="Calibri" pitchFamily="34" charset="0"/>
                <a:ea typeface="Calibri" pitchFamily="34" charset="-122"/>
                <a:cs typeface="Calibri" pitchFamily="34" charset="-120"/>
              </a:rPr>
              <a:t> of energy. It transfers </a:t>
            </a:r>
            <a:r>
              <a:rPr lang="en-US" sz="1250" b="1" dirty="0">
                <a:solidFill>
                  <a:srgbClr val="262B3A"/>
                </a:solidFill>
                <a:latin typeface="Calibri" pitchFamily="34" charset="0"/>
                <a:ea typeface="Calibri" pitchFamily="34" charset="-122"/>
                <a:cs typeface="Calibri" pitchFamily="34" charset="-120"/>
              </a:rPr>
              <a:t>100 J</a:t>
            </a:r>
            <a:r>
              <a:rPr lang="en-US" sz="1250" dirty="0">
                <a:solidFill>
                  <a:srgbClr val="262B3A"/>
                </a:solidFill>
                <a:latin typeface="Calibri" pitchFamily="34" charset="0"/>
                <a:ea typeface="Calibri" pitchFamily="34" charset="-122"/>
                <a:cs typeface="Calibri" pitchFamily="34" charset="-120"/>
              </a:rPr>
              <a:t> by light. </a:t>
            </a:r>
            <a:r>
              <a:rPr lang="en-US" sz="1250" b="1" dirty="0">
                <a:solidFill>
                  <a:srgbClr val="262B3A"/>
                </a:solidFill>
                <a:latin typeface="Calibri" pitchFamily="34" charset="0"/>
                <a:ea typeface="Calibri" pitchFamily="34" charset="-122"/>
                <a:cs typeface="Calibri" pitchFamily="34" charset="-120"/>
              </a:rPr>
              <a:t>(a)</a:t>
            </a:r>
            <a:r>
              <a:rPr lang="en-US" sz="1250" dirty="0">
                <a:solidFill>
                  <a:srgbClr val="262B3A"/>
                </a:solidFill>
                <a:latin typeface="Calibri" pitchFamily="34" charset="0"/>
                <a:ea typeface="Calibri" pitchFamily="34" charset="-122"/>
                <a:cs typeface="Calibri" pitchFamily="34" charset="-120"/>
              </a:rPr>
              <a:t> Calculate the energy wasted. </a:t>
            </a:r>
            <a:r>
              <a:rPr lang="en-US" sz="1250" b="1" dirty="0">
                <a:solidFill>
                  <a:srgbClr val="262B3A"/>
                </a:solidFill>
                <a:latin typeface="Calibri" pitchFamily="34" charset="0"/>
                <a:ea typeface="Calibri" pitchFamily="34" charset="-122"/>
                <a:cs typeface="Calibri" pitchFamily="34" charset="-120"/>
              </a:rPr>
              <a:t>(b)</a:t>
            </a:r>
            <a:r>
              <a:rPr lang="en-US" sz="1250" dirty="0">
                <a:solidFill>
                  <a:srgbClr val="262B3A"/>
                </a:solidFill>
                <a:latin typeface="Calibri" pitchFamily="34" charset="0"/>
                <a:ea typeface="Calibri" pitchFamily="34" charset="-122"/>
                <a:cs typeface="Calibri" pitchFamily="34" charset="-120"/>
              </a:rPr>
              <a:t> State where the wasted energy goes.</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you would draw a </a:t>
            </a:r>
            <a:r>
              <a:rPr lang="en-US" sz="1250" b="1" dirty="0">
                <a:solidFill>
                  <a:srgbClr val="262B3A"/>
                </a:solidFill>
                <a:latin typeface="Calibri" pitchFamily="34" charset="0"/>
                <a:ea typeface="Calibri" pitchFamily="34" charset="-122"/>
                <a:cs typeface="Calibri" pitchFamily="34" charset="-120"/>
              </a:rPr>
              <a:t>Sankey diagram</a:t>
            </a:r>
            <a:r>
              <a:rPr lang="en-US" sz="1250" dirty="0">
                <a:solidFill>
                  <a:srgbClr val="262B3A"/>
                </a:solidFill>
                <a:latin typeface="Calibri" pitchFamily="34" charset="0"/>
                <a:ea typeface="Calibri" pitchFamily="34" charset="-122"/>
                <a:cs typeface="Calibri" pitchFamily="34" charset="-120"/>
              </a:rPr>
              <a:t> for the lamp to scale.</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what is meant by </a:t>
            </a:r>
            <a:r>
              <a:rPr lang="en-US" sz="1250" b="1" dirty="0">
                <a:solidFill>
                  <a:srgbClr val="262B3A"/>
                </a:solidFill>
                <a:latin typeface="Calibri" pitchFamily="34" charset="0"/>
                <a:ea typeface="Calibri" pitchFamily="34" charset="-122"/>
                <a:cs typeface="Calibri" pitchFamily="34" charset="-120"/>
              </a:rPr>
              <a:t>energy being dissipated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Reducing unwanted energy transfers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3.9 • lubrication and thermal insulation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3.9  |  17</a:t>
            </a:r>
            <a:endParaRPr lang="en-US" sz="1000" dirty="0"/>
          </a:p>
        </p:txBody>
      </p:sp>
      <p:sp>
        <p:nvSpPr>
          <p:cNvPr id="8" name="Shape 6"/>
          <p:cNvSpPr/>
          <p:nvPr/>
        </p:nvSpPr>
        <p:spPr>
          <a:xfrm>
            <a:off x="411480" y="1188720"/>
            <a:ext cx="658368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630936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heat-loss routes from a house (illustrative shares) and how to reduce them</a:t>
            </a:r>
            <a:endParaRPr lang="en-US" sz="1000" dirty="0"/>
          </a:p>
        </p:txBody>
      </p:sp>
      <p:sp>
        <p:nvSpPr>
          <p:cNvPr id="10" name="Shape 8"/>
          <p:cNvSpPr/>
          <p:nvPr/>
        </p:nvSpPr>
        <p:spPr>
          <a:xfrm>
            <a:off x="1600200" y="1600200"/>
            <a:ext cx="3474720" cy="1005840"/>
          </a:xfrm>
          <a:prstGeom prst="triangle">
            <a:avLst/>
          </a:prstGeom>
          <a:solidFill>
            <a:srgbClr val="B5523B"/>
          </a:solidFill>
          <a:ln w="12700">
            <a:solidFill>
              <a:srgbClr val="7A2F20"/>
            </a:solidFill>
            <a:prstDash val="solid"/>
          </a:ln>
        </p:spPr>
      </p:sp>
      <p:sp>
        <p:nvSpPr>
          <p:cNvPr id="11" name="Shape 9"/>
          <p:cNvSpPr/>
          <p:nvPr/>
        </p:nvSpPr>
        <p:spPr>
          <a:xfrm>
            <a:off x="1828800" y="2606040"/>
            <a:ext cx="3017520" cy="2331720"/>
          </a:xfrm>
          <a:prstGeom prst="rect">
            <a:avLst/>
          </a:prstGeom>
          <a:solidFill>
            <a:srgbClr val="E8D2B0"/>
          </a:solidFill>
          <a:ln w="15875">
            <a:solidFill>
              <a:srgbClr val="8A6A3A"/>
            </a:solidFill>
            <a:prstDash val="solid"/>
          </a:ln>
        </p:spPr>
      </p:sp>
      <p:sp>
        <p:nvSpPr>
          <p:cNvPr id="12" name="Shape 10"/>
          <p:cNvSpPr/>
          <p:nvPr/>
        </p:nvSpPr>
        <p:spPr>
          <a:xfrm>
            <a:off x="1901952" y="2606040"/>
            <a:ext cx="2871216" cy="128016"/>
          </a:xfrm>
          <a:prstGeom prst="rect">
            <a:avLst/>
          </a:prstGeom>
          <a:solidFill>
            <a:srgbClr val="F5D76E"/>
          </a:solidFill>
          <a:ln/>
        </p:spPr>
      </p:sp>
      <p:sp>
        <p:nvSpPr>
          <p:cNvPr id="13" name="Shape 11"/>
          <p:cNvSpPr/>
          <p:nvPr/>
        </p:nvSpPr>
        <p:spPr>
          <a:xfrm>
            <a:off x="1828800" y="2606040"/>
            <a:ext cx="201168" cy="2331720"/>
          </a:xfrm>
          <a:prstGeom prst="rect">
            <a:avLst/>
          </a:prstGeom>
          <a:solidFill>
            <a:srgbClr val="C2764B"/>
          </a:solidFill>
          <a:ln w="6350">
            <a:solidFill>
              <a:srgbClr val="8A6A3A"/>
            </a:solidFill>
            <a:prstDash val="solid"/>
          </a:ln>
        </p:spPr>
      </p:sp>
      <p:sp>
        <p:nvSpPr>
          <p:cNvPr id="14" name="Shape 12"/>
          <p:cNvSpPr/>
          <p:nvPr/>
        </p:nvSpPr>
        <p:spPr>
          <a:xfrm>
            <a:off x="1892808" y="2743200"/>
            <a:ext cx="73152" cy="2148840"/>
          </a:xfrm>
          <a:prstGeom prst="rect">
            <a:avLst/>
          </a:prstGeom>
          <a:solidFill>
            <a:srgbClr val="F5D76E"/>
          </a:solidFill>
          <a:ln/>
        </p:spPr>
      </p:sp>
      <p:sp>
        <p:nvSpPr>
          <p:cNvPr id="15" name="Shape 13"/>
          <p:cNvSpPr/>
          <p:nvPr/>
        </p:nvSpPr>
        <p:spPr>
          <a:xfrm>
            <a:off x="4645152" y="2606040"/>
            <a:ext cx="201168" cy="2331720"/>
          </a:xfrm>
          <a:prstGeom prst="rect">
            <a:avLst/>
          </a:prstGeom>
          <a:solidFill>
            <a:srgbClr val="C2764B"/>
          </a:solidFill>
          <a:ln w="6350">
            <a:solidFill>
              <a:srgbClr val="8A6A3A"/>
            </a:solidFill>
            <a:prstDash val="solid"/>
          </a:ln>
        </p:spPr>
      </p:sp>
      <p:sp>
        <p:nvSpPr>
          <p:cNvPr id="16" name="Shape 14"/>
          <p:cNvSpPr/>
          <p:nvPr/>
        </p:nvSpPr>
        <p:spPr>
          <a:xfrm>
            <a:off x="4709160" y="2743200"/>
            <a:ext cx="73152" cy="2148840"/>
          </a:xfrm>
          <a:prstGeom prst="rect">
            <a:avLst/>
          </a:prstGeom>
          <a:solidFill>
            <a:srgbClr val="F5D76E"/>
          </a:solidFill>
          <a:ln/>
        </p:spPr>
      </p:sp>
      <p:sp>
        <p:nvSpPr>
          <p:cNvPr id="17" name="Shape 15"/>
          <p:cNvSpPr/>
          <p:nvPr/>
        </p:nvSpPr>
        <p:spPr>
          <a:xfrm>
            <a:off x="2286000" y="2971800"/>
            <a:ext cx="685800" cy="548640"/>
          </a:xfrm>
          <a:prstGeom prst="rect">
            <a:avLst/>
          </a:prstGeom>
          <a:solidFill>
            <a:srgbClr val="DCEBFA"/>
          </a:solidFill>
          <a:ln w="12700">
            <a:solidFill>
              <a:srgbClr val="4A5262"/>
            </a:solidFill>
            <a:prstDash val="solid"/>
          </a:ln>
        </p:spPr>
      </p:sp>
      <p:sp>
        <p:nvSpPr>
          <p:cNvPr id="18" name="Shape 16"/>
          <p:cNvSpPr/>
          <p:nvPr/>
        </p:nvSpPr>
        <p:spPr>
          <a:xfrm>
            <a:off x="2340864" y="3008376"/>
            <a:ext cx="91" cy="475488"/>
          </a:xfrm>
          <a:prstGeom prst="line">
            <a:avLst/>
          </a:prstGeom>
          <a:noFill/>
          <a:ln w="9525">
            <a:solidFill>
              <a:srgbClr val="4A5262"/>
            </a:solidFill>
            <a:prstDash val="solid"/>
          </a:ln>
        </p:spPr>
      </p:sp>
      <p:sp>
        <p:nvSpPr>
          <p:cNvPr id="19" name="Shape 17"/>
          <p:cNvSpPr/>
          <p:nvPr/>
        </p:nvSpPr>
        <p:spPr>
          <a:xfrm>
            <a:off x="2916936" y="3008376"/>
            <a:ext cx="91" cy="475488"/>
          </a:xfrm>
          <a:prstGeom prst="line">
            <a:avLst/>
          </a:prstGeom>
          <a:noFill/>
          <a:ln w="9525">
            <a:solidFill>
              <a:srgbClr val="4A5262"/>
            </a:solidFill>
            <a:prstDash val="solid"/>
          </a:ln>
        </p:spPr>
      </p:sp>
      <p:sp>
        <p:nvSpPr>
          <p:cNvPr id="20" name="Shape 18"/>
          <p:cNvSpPr/>
          <p:nvPr/>
        </p:nvSpPr>
        <p:spPr>
          <a:xfrm>
            <a:off x="3703320" y="2971800"/>
            <a:ext cx="685800" cy="548640"/>
          </a:xfrm>
          <a:prstGeom prst="rect">
            <a:avLst/>
          </a:prstGeom>
          <a:solidFill>
            <a:srgbClr val="DCEBFA"/>
          </a:solidFill>
          <a:ln w="12700">
            <a:solidFill>
              <a:srgbClr val="4A5262"/>
            </a:solidFill>
            <a:prstDash val="solid"/>
          </a:ln>
        </p:spPr>
      </p:sp>
      <p:sp>
        <p:nvSpPr>
          <p:cNvPr id="21" name="Shape 19"/>
          <p:cNvSpPr/>
          <p:nvPr/>
        </p:nvSpPr>
        <p:spPr>
          <a:xfrm>
            <a:off x="3758184" y="3008376"/>
            <a:ext cx="91" cy="475488"/>
          </a:xfrm>
          <a:prstGeom prst="line">
            <a:avLst/>
          </a:prstGeom>
          <a:noFill/>
          <a:ln w="9525">
            <a:solidFill>
              <a:srgbClr val="4A5262"/>
            </a:solidFill>
            <a:prstDash val="solid"/>
          </a:ln>
        </p:spPr>
      </p:sp>
      <p:sp>
        <p:nvSpPr>
          <p:cNvPr id="22" name="Shape 20"/>
          <p:cNvSpPr/>
          <p:nvPr/>
        </p:nvSpPr>
        <p:spPr>
          <a:xfrm>
            <a:off x="4334256" y="3008376"/>
            <a:ext cx="91" cy="475488"/>
          </a:xfrm>
          <a:prstGeom prst="line">
            <a:avLst/>
          </a:prstGeom>
          <a:noFill/>
          <a:ln w="9525">
            <a:solidFill>
              <a:srgbClr val="4A5262"/>
            </a:solidFill>
            <a:prstDash val="solid"/>
          </a:ln>
        </p:spPr>
      </p:sp>
      <p:sp>
        <p:nvSpPr>
          <p:cNvPr id="23" name="Shape 21"/>
          <p:cNvSpPr/>
          <p:nvPr/>
        </p:nvSpPr>
        <p:spPr>
          <a:xfrm>
            <a:off x="3063240" y="3977640"/>
            <a:ext cx="548640" cy="960120"/>
          </a:xfrm>
          <a:prstGeom prst="rect">
            <a:avLst/>
          </a:prstGeom>
          <a:solidFill>
            <a:srgbClr val="7A5230"/>
          </a:solidFill>
          <a:ln w="12700">
            <a:solidFill>
              <a:srgbClr val="4A3018"/>
            </a:solidFill>
            <a:prstDash val="solid"/>
          </a:ln>
        </p:spPr>
      </p:sp>
      <p:sp>
        <p:nvSpPr>
          <p:cNvPr id="24" name="Shape 22"/>
          <p:cNvSpPr/>
          <p:nvPr/>
        </p:nvSpPr>
        <p:spPr>
          <a:xfrm>
            <a:off x="3017520" y="4846320"/>
            <a:ext cx="640080" cy="91440"/>
          </a:xfrm>
          <a:prstGeom prst="rect">
            <a:avLst/>
          </a:prstGeom>
          <a:solidFill>
            <a:srgbClr val="5FA35F"/>
          </a:solidFill>
          <a:ln/>
        </p:spPr>
      </p:sp>
      <p:sp>
        <p:nvSpPr>
          <p:cNvPr id="25" name="Shape 23"/>
          <p:cNvSpPr/>
          <p:nvPr/>
        </p:nvSpPr>
        <p:spPr>
          <a:xfrm>
            <a:off x="2029968" y="4864608"/>
            <a:ext cx="2615184" cy="73152"/>
          </a:xfrm>
          <a:prstGeom prst="rect">
            <a:avLst/>
          </a:prstGeom>
          <a:solidFill>
            <a:srgbClr val="9C3F6E"/>
          </a:solidFill>
          <a:ln/>
        </p:spPr>
      </p:sp>
      <p:sp>
        <p:nvSpPr>
          <p:cNvPr id="26" name="Shape 24"/>
          <p:cNvSpPr/>
          <p:nvPr/>
        </p:nvSpPr>
        <p:spPr>
          <a:xfrm>
            <a:off x="548640" y="4937760"/>
            <a:ext cx="6309360" cy="91"/>
          </a:xfrm>
          <a:prstGeom prst="line">
            <a:avLst/>
          </a:prstGeom>
          <a:noFill/>
          <a:ln w="25400">
            <a:solidFill>
              <a:srgbClr val="6B5A2A"/>
            </a:solidFill>
            <a:prstDash val="solid"/>
          </a:ln>
        </p:spPr>
      </p:sp>
      <p:sp>
        <p:nvSpPr>
          <p:cNvPr id="27" name="Shape 25"/>
          <p:cNvSpPr/>
          <p:nvPr/>
        </p:nvSpPr>
        <p:spPr>
          <a:xfrm flipV="1">
            <a:off x="3337560" y="1325880"/>
            <a:ext cx="91" cy="365760"/>
          </a:xfrm>
          <a:prstGeom prst="line">
            <a:avLst/>
          </a:prstGeom>
          <a:noFill/>
          <a:ln w="69850">
            <a:solidFill>
              <a:srgbClr val="C8414C"/>
            </a:solidFill>
            <a:prstDash val="solid"/>
            <a:tailEnd type="triangle"/>
          </a:ln>
        </p:spPr>
      </p:sp>
      <p:sp>
        <p:nvSpPr>
          <p:cNvPr id="28" name="Text 26"/>
          <p:cNvSpPr/>
          <p:nvPr/>
        </p:nvSpPr>
        <p:spPr>
          <a:xfrm>
            <a:off x="3474720" y="1280160"/>
            <a:ext cx="10972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roof 25%</a:t>
            </a:r>
            <a:endParaRPr lang="en-US" sz="1050" dirty="0"/>
          </a:p>
        </p:txBody>
      </p:sp>
      <p:sp>
        <p:nvSpPr>
          <p:cNvPr id="29" name="Shape 27"/>
          <p:cNvSpPr/>
          <p:nvPr/>
        </p:nvSpPr>
        <p:spPr>
          <a:xfrm flipH="1">
            <a:off x="1188720" y="3931920"/>
            <a:ext cx="621792" cy="91"/>
          </a:xfrm>
          <a:prstGeom prst="line">
            <a:avLst/>
          </a:prstGeom>
          <a:noFill/>
          <a:ln w="92710">
            <a:solidFill>
              <a:srgbClr val="C8414C"/>
            </a:solidFill>
            <a:prstDash val="solid"/>
            <a:tailEnd type="triangle"/>
          </a:ln>
        </p:spPr>
      </p:sp>
      <p:sp>
        <p:nvSpPr>
          <p:cNvPr id="30" name="Text 28"/>
          <p:cNvSpPr/>
          <p:nvPr/>
        </p:nvSpPr>
        <p:spPr>
          <a:xfrm>
            <a:off x="502920" y="3611880"/>
            <a:ext cx="9144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walls 35%</a:t>
            </a:r>
            <a:endParaRPr lang="en-US" sz="1050" dirty="0"/>
          </a:p>
        </p:txBody>
      </p:sp>
      <p:sp>
        <p:nvSpPr>
          <p:cNvPr id="31" name="Shape 29"/>
          <p:cNvSpPr/>
          <p:nvPr/>
        </p:nvSpPr>
        <p:spPr>
          <a:xfrm>
            <a:off x="4864608" y="3246120"/>
            <a:ext cx="484632" cy="91"/>
          </a:xfrm>
          <a:prstGeom prst="line">
            <a:avLst/>
          </a:prstGeom>
          <a:noFill/>
          <a:ln w="35560">
            <a:solidFill>
              <a:srgbClr val="C8414C"/>
            </a:solidFill>
            <a:prstDash val="solid"/>
            <a:tailEnd type="triangle"/>
          </a:ln>
        </p:spPr>
      </p:sp>
      <p:sp>
        <p:nvSpPr>
          <p:cNvPr id="32" name="Text 30"/>
          <p:cNvSpPr/>
          <p:nvPr/>
        </p:nvSpPr>
        <p:spPr>
          <a:xfrm>
            <a:off x="5394960" y="3108960"/>
            <a:ext cx="128016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windows 10%</a:t>
            </a:r>
            <a:endParaRPr lang="en-US" sz="1050" dirty="0"/>
          </a:p>
        </p:txBody>
      </p:sp>
      <p:sp>
        <p:nvSpPr>
          <p:cNvPr id="33" name="Shape 31"/>
          <p:cNvSpPr/>
          <p:nvPr/>
        </p:nvSpPr>
        <p:spPr>
          <a:xfrm>
            <a:off x="4206240" y="4956048"/>
            <a:ext cx="91" cy="347472"/>
          </a:xfrm>
          <a:prstGeom prst="line">
            <a:avLst/>
          </a:prstGeom>
          <a:noFill/>
          <a:ln w="46990">
            <a:solidFill>
              <a:srgbClr val="C8414C"/>
            </a:solidFill>
            <a:prstDash val="solid"/>
            <a:tailEnd type="triangle"/>
          </a:ln>
        </p:spPr>
      </p:sp>
      <p:sp>
        <p:nvSpPr>
          <p:cNvPr id="34" name="Text 32"/>
          <p:cNvSpPr/>
          <p:nvPr/>
        </p:nvSpPr>
        <p:spPr>
          <a:xfrm>
            <a:off x="4343400" y="5029200"/>
            <a:ext cx="10972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floor 15%</a:t>
            </a:r>
            <a:endParaRPr lang="en-US" sz="1050" dirty="0"/>
          </a:p>
        </p:txBody>
      </p:sp>
      <p:sp>
        <p:nvSpPr>
          <p:cNvPr id="35" name="Shape 33"/>
          <p:cNvSpPr/>
          <p:nvPr/>
        </p:nvSpPr>
        <p:spPr>
          <a:xfrm>
            <a:off x="4864608" y="4526280"/>
            <a:ext cx="484632" cy="91"/>
          </a:xfrm>
          <a:prstGeom prst="line">
            <a:avLst/>
          </a:prstGeom>
          <a:noFill/>
          <a:ln w="46990">
            <a:solidFill>
              <a:srgbClr val="C8414C"/>
            </a:solidFill>
            <a:prstDash val="solid"/>
            <a:tailEnd type="triangle"/>
          </a:ln>
        </p:spPr>
      </p:sp>
      <p:sp>
        <p:nvSpPr>
          <p:cNvPr id="36" name="Text 34"/>
          <p:cNvSpPr/>
          <p:nvPr/>
        </p:nvSpPr>
        <p:spPr>
          <a:xfrm>
            <a:off x="5394960" y="4389120"/>
            <a:ext cx="146304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draughts (gaps) 15%</a:t>
            </a:r>
            <a:endParaRPr lang="en-US" sz="1050" dirty="0"/>
          </a:p>
        </p:txBody>
      </p:sp>
      <p:sp>
        <p:nvSpPr>
          <p:cNvPr id="37" name="Shape 35"/>
          <p:cNvSpPr/>
          <p:nvPr/>
        </p:nvSpPr>
        <p:spPr>
          <a:xfrm>
            <a:off x="548640" y="1371600"/>
            <a:ext cx="182880" cy="164592"/>
          </a:xfrm>
          <a:prstGeom prst="rect">
            <a:avLst/>
          </a:prstGeom>
          <a:solidFill>
            <a:srgbClr val="F5D76E"/>
          </a:solidFill>
          <a:ln w="6350">
            <a:solidFill>
              <a:srgbClr val="6B7385"/>
            </a:solidFill>
            <a:prstDash val="solid"/>
          </a:ln>
        </p:spPr>
      </p:sp>
      <p:sp>
        <p:nvSpPr>
          <p:cNvPr id="38" name="Text 36"/>
          <p:cNvSpPr/>
          <p:nvPr/>
        </p:nvSpPr>
        <p:spPr>
          <a:xfrm>
            <a:off x="777240" y="1325880"/>
            <a:ext cx="1005840" cy="256032"/>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loft insulation</a:t>
            </a:r>
            <a:endParaRPr lang="en-US" sz="1000" dirty="0"/>
          </a:p>
        </p:txBody>
      </p:sp>
      <p:sp>
        <p:nvSpPr>
          <p:cNvPr id="39" name="Shape 37"/>
          <p:cNvSpPr/>
          <p:nvPr/>
        </p:nvSpPr>
        <p:spPr>
          <a:xfrm>
            <a:off x="548640" y="1645920"/>
            <a:ext cx="182880" cy="164592"/>
          </a:xfrm>
          <a:prstGeom prst="rect">
            <a:avLst/>
          </a:prstGeom>
          <a:solidFill>
            <a:srgbClr val="F5D76E"/>
          </a:solidFill>
          <a:ln w="6350">
            <a:solidFill>
              <a:srgbClr val="6B7385"/>
            </a:solidFill>
            <a:prstDash val="solid"/>
          </a:ln>
        </p:spPr>
      </p:sp>
      <p:sp>
        <p:nvSpPr>
          <p:cNvPr id="40" name="Text 38"/>
          <p:cNvSpPr/>
          <p:nvPr/>
        </p:nvSpPr>
        <p:spPr>
          <a:xfrm>
            <a:off x="777240" y="1600200"/>
            <a:ext cx="1005840" cy="256032"/>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cavity wall insulation</a:t>
            </a:r>
            <a:endParaRPr lang="en-US" sz="1000" dirty="0"/>
          </a:p>
        </p:txBody>
      </p:sp>
      <p:sp>
        <p:nvSpPr>
          <p:cNvPr id="41" name="Shape 39"/>
          <p:cNvSpPr/>
          <p:nvPr/>
        </p:nvSpPr>
        <p:spPr>
          <a:xfrm>
            <a:off x="548640" y="1920240"/>
            <a:ext cx="182880" cy="164592"/>
          </a:xfrm>
          <a:prstGeom prst="rect">
            <a:avLst/>
          </a:prstGeom>
          <a:solidFill>
            <a:srgbClr val="DCEBFA"/>
          </a:solidFill>
          <a:ln w="6350">
            <a:solidFill>
              <a:srgbClr val="6B7385"/>
            </a:solidFill>
            <a:prstDash val="solid"/>
          </a:ln>
        </p:spPr>
      </p:sp>
      <p:sp>
        <p:nvSpPr>
          <p:cNvPr id="42" name="Text 40"/>
          <p:cNvSpPr/>
          <p:nvPr/>
        </p:nvSpPr>
        <p:spPr>
          <a:xfrm>
            <a:off x="777240" y="1874520"/>
            <a:ext cx="1005840" cy="256032"/>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double glazing</a:t>
            </a:r>
            <a:endParaRPr lang="en-US" sz="1000" dirty="0"/>
          </a:p>
        </p:txBody>
      </p:sp>
      <p:sp>
        <p:nvSpPr>
          <p:cNvPr id="43" name="Shape 41"/>
          <p:cNvSpPr/>
          <p:nvPr/>
        </p:nvSpPr>
        <p:spPr>
          <a:xfrm>
            <a:off x="548640" y="2194560"/>
            <a:ext cx="182880" cy="164592"/>
          </a:xfrm>
          <a:prstGeom prst="rect">
            <a:avLst/>
          </a:prstGeom>
          <a:solidFill>
            <a:srgbClr val="5FA35F"/>
          </a:solidFill>
          <a:ln w="6350">
            <a:solidFill>
              <a:srgbClr val="6B7385"/>
            </a:solidFill>
            <a:prstDash val="solid"/>
          </a:ln>
        </p:spPr>
      </p:sp>
      <p:sp>
        <p:nvSpPr>
          <p:cNvPr id="44" name="Text 42"/>
          <p:cNvSpPr/>
          <p:nvPr/>
        </p:nvSpPr>
        <p:spPr>
          <a:xfrm>
            <a:off x="777240" y="2148840"/>
            <a:ext cx="1005840" cy="256032"/>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draught excluder</a:t>
            </a:r>
            <a:endParaRPr lang="en-US" sz="1000" dirty="0"/>
          </a:p>
        </p:txBody>
      </p:sp>
      <p:sp>
        <p:nvSpPr>
          <p:cNvPr id="45" name="Shape 43"/>
          <p:cNvSpPr/>
          <p:nvPr/>
        </p:nvSpPr>
        <p:spPr>
          <a:xfrm>
            <a:off x="548640" y="2468880"/>
            <a:ext cx="182880" cy="164592"/>
          </a:xfrm>
          <a:prstGeom prst="rect">
            <a:avLst/>
          </a:prstGeom>
          <a:solidFill>
            <a:srgbClr val="9C3F6E"/>
          </a:solidFill>
          <a:ln w="6350">
            <a:solidFill>
              <a:srgbClr val="6B7385"/>
            </a:solidFill>
            <a:prstDash val="solid"/>
          </a:ln>
        </p:spPr>
      </p:sp>
      <p:sp>
        <p:nvSpPr>
          <p:cNvPr id="46" name="Text 44"/>
          <p:cNvSpPr/>
          <p:nvPr/>
        </p:nvSpPr>
        <p:spPr>
          <a:xfrm>
            <a:off x="777240" y="2423160"/>
            <a:ext cx="1005840" cy="256032"/>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carpet / floor insulation</a:t>
            </a:r>
            <a:endParaRPr lang="en-US" sz="1000" dirty="0"/>
          </a:p>
        </p:txBody>
      </p:sp>
      <p:sp>
        <p:nvSpPr>
          <p:cNvPr id="47" name="Shape 45"/>
          <p:cNvSpPr/>
          <p:nvPr/>
        </p:nvSpPr>
        <p:spPr>
          <a:xfrm>
            <a:off x="7223760" y="1188720"/>
            <a:ext cx="4553712" cy="2514600"/>
          </a:xfrm>
          <a:prstGeom prst="roundRect">
            <a:avLst>
              <a:gd name="adj" fmla="val 2182"/>
            </a:avLst>
          </a:prstGeom>
          <a:solidFill>
            <a:srgbClr val="F5F8FE"/>
          </a:solidFill>
          <a:ln w="9525">
            <a:solidFill>
              <a:srgbClr val="D5DCEB"/>
            </a:solidFill>
            <a:prstDash val="solid"/>
          </a:ln>
        </p:spPr>
      </p:sp>
      <p:sp>
        <p:nvSpPr>
          <p:cNvPr id="48" name="Text 46"/>
          <p:cNvSpPr/>
          <p:nvPr/>
        </p:nvSpPr>
        <p:spPr>
          <a:xfrm>
            <a:off x="7388352" y="1280160"/>
            <a:ext cx="422452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Two main methods</a:t>
            </a:r>
            <a:endParaRPr lang="en-US" sz="1300" dirty="0"/>
          </a:p>
        </p:txBody>
      </p:sp>
      <p:sp>
        <p:nvSpPr>
          <p:cNvPr id="49" name="Text 47"/>
          <p:cNvSpPr/>
          <p:nvPr/>
        </p:nvSpPr>
        <p:spPr>
          <a:xfrm>
            <a:off x="7388352" y="1609344"/>
            <a:ext cx="4224528" cy="202082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Lubrication:</a:t>
            </a:r>
            <a:r>
              <a:rPr lang="en-US" sz="1100" dirty="0">
                <a:solidFill>
                  <a:srgbClr val="262B3A"/>
                </a:solidFill>
                <a:latin typeface="Calibri" pitchFamily="34" charset="0"/>
                <a:ea typeface="Calibri" pitchFamily="34" charset="-122"/>
                <a:cs typeface="Calibri" pitchFamily="34" charset="-120"/>
              </a:rPr>
              <a:t> oil or grease between moving parts reduces </a:t>
            </a:r>
            <a:r>
              <a:rPr lang="en-US" sz="1100" b="1" dirty="0">
                <a:solidFill>
                  <a:srgbClr val="262B3A"/>
                </a:solidFill>
                <a:latin typeface="Calibri" pitchFamily="34" charset="0"/>
                <a:ea typeface="Calibri" pitchFamily="34" charset="-122"/>
                <a:cs typeface="Calibri" pitchFamily="34" charset="-120"/>
              </a:rPr>
              <a:t>friction</a:t>
            </a:r>
            <a:r>
              <a:rPr lang="en-US" sz="1100" dirty="0">
                <a:solidFill>
                  <a:srgbClr val="262B3A"/>
                </a:solidFill>
                <a:latin typeface="Calibri" pitchFamily="34" charset="0"/>
                <a:ea typeface="Calibri" pitchFamily="34" charset="-122"/>
                <a:cs typeface="Calibri" pitchFamily="34" charset="-120"/>
              </a:rPr>
              <a:t>, so less energy is transferred to the thermal store.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Thermal insulation:</a:t>
            </a:r>
            <a:r>
              <a:rPr lang="en-US" sz="1100" dirty="0">
                <a:solidFill>
                  <a:srgbClr val="262B3A"/>
                </a:solidFill>
                <a:latin typeface="Calibri" pitchFamily="34" charset="0"/>
                <a:ea typeface="Calibri" pitchFamily="34" charset="-122"/>
                <a:cs typeface="Calibri" pitchFamily="34" charset="-120"/>
              </a:rPr>
              <a:t> materials that </a:t>
            </a:r>
            <a:r>
              <a:rPr lang="en-US" sz="1100" b="1" dirty="0">
                <a:solidFill>
                  <a:srgbClr val="262B3A"/>
                </a:solidFill>
                <a:latin typeface="Calibri" pitchFamily="34" charset="0"/>
                <a:ea typeface="Calibri" pitchFamily="34" charset="-122"/>
                <a:cs typeface="Calibri" pitchFamily="34" charset="-120"/>
              </a:rPr>
              <a:t>trap air</a:t>
            </a:r>
            <a:r>
              <a:rPr lang="en-US" sz="1100" dirty="0">
                <a:solidFill>
                  <a:srgbClr val="262B3A"/>
                </a:solidFill>
                <a:latin typeface="Calibri" pitchFamily="34" charset="0"/>
                <a:ea typeface="Calibri" pitchFamily="34" charset="-122"/>
                <a:cs typeface="Calibri" pitchFamily="34" charset="-120"/>
              </a:rPr>
              <a:t> (a poor conductor) reduce the rate of energy transfer by heating.</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Insulating a house keeps its thermal store higher for longer, so </a:t>
            </a:r>
            <a:r>
              <a:rPr lang="en-US" sz="1100" b="1" dirty="0">
                <a:solidFill>
                  <a:srgbClr val="262B3A"/>
                </a:solidFill>
                <a:latin typeface="Calibri" pitchFamily="34" charset="0"/>
                <a:ea typeface="Calibri" pitchFamily="34" charset="-122"/>
                <a:cs typeface="Calibri" pitchFamily="34" charset="-120"/>
              </a:rPr>
              <a:t>less fuel</a:t>
            </a:r>
            <a:r>
              <a:rPr lang="en-US" sz="1100" dirty="0">
                <a:solidFill>
                  <a:srgbClr val="262B3A"/>
                </a:solidFill>
                <a:latin typeface="Calibri" pitchFamily="34" charset="0"/>
                <a:ea typeface="Calibri" pitchFamily="34" charset="-122"/>
                <a:cs typeface="Calibri" pitchFamily="34" charset="-120"/>
              </a:rPr>
              <a:t> is needed.</a:t>
            </a:r>
            <a:endParaRPr lang="en-US" sz="1100" dirty="0"/>
          </a:p>
        </p:txBody>
      </p:sp>
      <p:sp>
        <p:nvSpPr>
          <p:cNvPr id="50" name="Shape 48"/>
          <p:cNvSpPr/>
          <p:nvPr/>
        </p:nvSpPr>
        <p:spPr>
          <a:xfrm>
            <a:off x="7223760" y="3840480"/>
            <a:ext cx="4553712" cy="1874520"/>
          </a:xfrm>
          <a:prstGeom prst="roundRect">
            <a:avLst>
              <a:gd name="adj" fmla="val 2927"/>
            </a:avLst>
          </a:prstGeom>
          <a:solidFill>
            <a:srgbClr val="FFF4E0"/>
          </a:solidFill>
          <a:ln w="9525">
            <a:solidFill>
              <a:srgbClr val="F1D9A8"/>
            </a:solidFill>
            <a:prstDash val="solid"/>
          </a:ln>
        </p:spPr>
      </p:sp>
      <p:sp>
        <p:nvSpPr>
          <p:cNvPr id="51" name="Text 49"/>
          <p:cNvSpPr/>
          <p:nvPr/>
        </p:nvSpPr>
        <p:spPr>
          <a:xfrm>
            <a:off x="7388352" y="3913632"/>
            <a:ext cx="422452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it</a:t>
            </a:r>
            <a:endParaRPr lang="en-US" sz="1300" dirty="0"/>
          </a:p>
        </p:txBody>
      </p:sp>
      <p:sp>
        <p:nvSpPr>
          <p:cNvPr id="52" name="Text 50"/>
          <p:cNvSpPr/>
          <p:nvPr/>
        </p:nvSpPr>
        <p:spPr>
          <a:xfrm>
            <a:off x="7388352" y="4224528"/>
            <a:ext cx="4224528"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Why does loft insulation reduce heating bills?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Material   </a:t>
            </a:r>
            <a:r>
              <a:rPr lang="en-US" sz="1050" dirty="0">
                <a:solidFill>
                  <a:srgbClr val="262B3A"/>
                </a:solidFill>
                <a:latin typeface="Calibri" pitchFamily="34" charset="0"/>
                <a:ea typeface="Calibri" pitchFamily="34" charset="-122"/>
                <a:cs typeface="Calibri" pitchFamily="34" charset="-120"/>
              </a:rPr>
              <a:t>fibreglass / mineral wool traps pockets of air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Physics   </a:t>
            </a:r>
            <a:r>
              <a:rPr lang="en-US" sz="1050" dirty="0">
                <a:solidFill>
                  <a:srgbClr val="262B3A"/>
                </a:solidFill>
                <a:latin typeface="Calibri" pitchFamily="34" charset="0"/>
                <a:ea typeface="Calibri" pitchFamily="34" charset="-122"/>
                <a:cs typeface="Calibri" pitchFamily="34" charset="-120"/>
              </a:rPr>
              <a:t>air is a poor thermal conductor, so the rate of energy transfer through the roof falls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Effect   </a:t>
            </a:r>
            <a:r>
              <a:rPr lang="en-US" sz="1050" dirty="0">
                <a:solidFill>
                  <a:srgbClr val="262B3A"/>
                </a:solidFill>
                <a:latin typeface="Calibri" pitchFamily="34" charset="0"/>
                <a:ea typeface="Calibri" pitchFamily="34" charset="-122"/>
                <a:cs typeface="Calibri" pitchFamily="34" charset="-120"/>
              </a:rPr>
              <a:t>the house cools more slowly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less energy (fuel) needed to keep it warm</a:t>
            </a:r>
            <a:endParaRPr lang="en-US" sz="1050" dirty="0"/>
          </a:p>
        </p:txBody>
      </p:sp>
      <p:sp>
        <p:nvSpPr>
          <p:cNvPr id="53" name="Shape 51"/>
          <p:cNvSpPr/>
          <p:nvPr/>
        </p:nvSpPr>
        <p:spPr>
          <a:xfrm>
            <a:off x="411480" y="5833872"/>
            <a:ext cx="11368735" cy="530352"/>
          </a:xfrm>
          <a:prstGeom prst="rect">
            <a:avLst/>
          </a:prstGeom>
          <a:solidFill>
            <a:srgbClr val="FFF4E0"/>
          </a:solidFill>
          <a:ln w="6350">
            <a:solidFill>
              <a:srgbClr val="F1D9A8"/>
            </a:solidFill>
            <a:prstDash val="solid"/>
          </a:ln>
        </p:spPr>
      </p:sp>
      <p:sp>
        <p:nvSpPr>
          <p:cNvPr id="54" name="Shape 52"/>
          <p:cNvSpPr/>
          <p:nvPr/>
        </p:nvSpPr>
        <p:spPr>
          <a:xfrm>
            <a:off x="411480" y="5833872"/>
            <a:ext cx="82296" cy="530352"/>
          </a:xfrm>
          <a:prstGeom prst="rect">
            <a:avLst/>
          </a:prstGeom>
          <a:solidFill>
            <a:srgbClr val="E39A2F"/>
          </a:solidFill>
          <a:ln w="12700">
            <a:solidFill>
              <a:srgbClr val="E39A2F"/>
            </a:solidFill>
            <a:prstDash val="solid"/>
          </a:ln>
        </p:spPr>
      </p:sp>
      <p:sp>
        <p:nvSpPr>
          <p:cNvPr id="55" name="Text 5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 cyclist oils the bicycle chain. Use the words friction and thermal store.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Walls: thickness and thermal conductivity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3.10 • what affects how quickly a building cools (qualitative)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3.10  |  18</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arrow widths show the rate of energy transfer; conductivities are typical values</a:t>
            </a:r>
            <a:endParaRPr lang="en-US" sz="1000" dirty="0"/>
          </a:p>
        </p:txBody>
      </p:sp>
      <p:sp>
        <p:nvSpPr>
          <p:cNvPr id="10" name="Text 8"/>
          <p:cNvSpPr/>
          <p:nvPr/>
        </p:nvSpPr>
        <p:spPr>
          <a:xfrm>
            <a:off x="640080" y="1280160"/>
            <a:ext cx="228600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INSIDE 20 °C</a:t>
            </a:r>
            <a:endParaRPr lang="en-US" sz="1000" dirty="0"/>
          </a:p>
        </p:txBody>
      </p:sp>
      <p:sp>
        <p:nvSpPr>
          <p:cNvPr id="11" name="Text 9"/>
          <p:cNvSpPr/>
          <p:nvPr/>
        </p:nvSpPr>
        <p:spPr>
          <a:xfrm>
            <a:off x="3657600" y="1280160"/>
            <a:ext cx="2103120" cy="256032"/>
          </a:xfrm>
          <a:prstGeom prst="rect">
            <a:avLst/>
          </a:prstGeom>
          <a:noFill/>
          <a:ln/>
        </p:spPr>
        <p:txBody>
          <a:bodyPr wrap="square" lIns="0" tIns="0" rIns="0" bIns="0" rtlCol="0" anchor="ctr"/>
          <a:lstStyle/>
          <a:p>
            <a:pPr algn="r" indent="0" marL="0">
              <a:buNone/>
            </a:pPr>
            <a:r>
              <a:rPr lang="en-US" sz="1000" b="1" dirty="0">
                <a:solidFill>
                  <a:srgbClr val="2E5BD8"/>
                </a:solidFill>
                <a:latin typeface="Calibri" pitchFamily="34" charset="0"/>
                <a:ea typeface="Calibri" pitchFamily="34" charset="-122"/>
                <a:cs typeface="Calibri" pitchFamily="34" charset="-120"/>
              </a:rPr>
              <a:t>OUTSIDE 5 °C</a:t>
            </a:r>
            <a:endParaRPr lang="en-US" sz="1000" dirty="0"/>
          </a:p>
        </p:txBody>
      </p:sp>
      <p:sp>
        <p:nvSpPr>
          <p:cNvPr id="12" name="Shape 10"/>
          <p:cNvSpPr/>
          <p:nvPr/>
        </p:nvSpPr>
        <p:spPr>
          <a:xfrm>
            <a:off x="1234440" y="1554480"/>
            <a:ext cx="274320" cy="1463040"/>
          </a:xfrm>
          <a:prstGeom prst="rect">
            <a:avLst/>
          </a:prstGeom>
          <a:solidFill>
            <a:srgbClr val="C2764B"/>
          </a:solidFill>
          <a:ln w="12700">
            <a:solidFill>
              <a:srgbClr val="6B5A2A"/>
            </a:solidFill>
            <a:prstDash val="solid"/>
          </a:ln>
        </p:spPr>
      </p:sp>
      <p:sp>
        <p:nvSpPr>
          <p:cNvPr id="13" name="Text 11"/>
          <p:cNvSpPr/>
          <p:nvPr/>
        </p:nvSpPr>
        <p:spPr>
          <a:xfrm>
            <a:off x="868680" y="3063240"/>
            <a:ext cx="1005840" cy="365760"/>
          </a:xfrm>
          <a:prstGeom prst="rect">
            <a:avLst/>
          </a:prstGeom>
          <a:noFill/>
          <a:ln/>
        </p:spPr>
        <p:txBody>
          <a:bodyPr wrap="square" lIns="0" tIns="0" rIns="0" bIns="0" rtlCol="0" anchor="t"/>
          <a:lstStyle/>
          <a:p>
            <a:pPr algn="ctr" indent="0" marL="0">
              <a:buNone/>
            </a:pPr>
            <a:r>
              <a:rPr lang="en-US" sz="1000" b="1" dirty="0">
                <a:solidFill>
                  <a:srgbClr val="1A2340"/>
                </a:solidFill>
                <a:latin typeface="Calibri" pitchFamily="34" charset="0"/>
                <a:ea typeface="Calibri" pitchFamily="34" charset="-122"/>
                <a:cs typeface="Calibri" pitchFamily="34" charset="-120"/>
              </a:rPr>
              <a:t>thin brick</a:t>
            </a:r>
            <a:endParaRPr lang="en-US" sz="1000" dirty="0"/>
          </a:p>
        </p:txBody>
      </p:sp>
      <p:sp>
        <p:nvSpPr>
          <p:cNvPr id="14" name="Shape 12"/>
          <p:cNvSpPr/>
          <p:nvPr/>
        </p:nvSpPr>
        <p:spPr>
          <a:xfrm>
            <a:off x="731520" y="2286000"/>
            <a:ext cx="1280160" cy="91"/>
          </a:xfrm>
          <a:prstGeom prst="line">
            <a:avLst/>
          </a:prstGeom>
          <a:noFill/>
          <a:ln w="114300">
            <a:solidFill>
              <a:srgbClr val="C8414C"/>
            </a:solidFill>
            <a:prstDash val="solid"/>
            <a:tailEnd type="triangle"/>
          </a:ln>
        </p:spPr>
      </p:sp>
      <p:sp>
        <p:nvSpPr>
          <p:cNvPr id="15" name="Shape 13"/>
          <p:cNvSpPr/>
          <p:nvPr/>
        </p:nvSpPr>
        <p:spPr>
          <a:xfrm>
            <a:off x="2926080" y="1554480"/>
            <a:ext cx="731520" cy="1463040"/>
          </a:xfrm>
          <a:prstGeom prst="rect">
            <a:avLst/>
          </a:prstGeom>
          <a:solidFill>
            <a:srgbClr val="C2764B"/>
          </a:solidFill>
          <a:ln w="12700">
            <a:solidFill>
              <a:srgbClr val="6B5A2A"/>
            </a:solidFill>
            <a:prstDash val="solid"/>
          </a:ln>
        </p:spPr>
      </p:sp>
      <p:sp>
        <p:nvSpPr>
          <p:cNvPr id="16" name="Text 14"/>
          <p:cNvSpPr/>
          <p:nvPr/>
        </p:nvSpPr>
        <p:spPr>
          <a:xfrm>
            <a:off x="2560320" y="3063240"/>
            <a:ext cx="1463040" cy="365760"/>
          </a:xfrm>
          <a:prstGeom prst="rect">
            <a:avLst/>
          </a:prstGeom>
          <a:noFill/>
          <a:ln/>
        </p:spPr>
        <p:txBody>
          <a:bodyPr wrap="square" lIns="0" tIns="0" rIns="0" bIns="0" rtlCol="0" anchor="t"/>
          <a:lstStyle/>
          <a:p>
            <a:pPr algn="ctr" indent="0" marL="0">
              <a:buNone/>
            </a:pPr>
            <a:r>
              <a:rPr lang="en-US" sz="1000" b="1" dirty="0">
                <a:solidFill>
                  <a:srgbClr val="1A2340"/>
                </a:solidFill>
                <a:latin typeface="Calibri" pitchFamily="34" charset="0"/>
                <a:ea typeface="Calibri" pitchFamily="34" charset="-122"/>
                <a:cs typeface="Calibri" pitchFamily="34" charset="-120"/>
              </a:rPr>
              <a:t>thick brick</a:t>
            </a:r>
            <a:endParaRPr lang="en-US" sz="1000" dirty="0"/>
          </a:p>
        </p:txBody>
      </p:sp>
      <p:sp>
        <p:nvSpPr>
          <p:cNvPr id="17" name="Shape 15"/>
          <p:cNvSpPr/>
          <p:nvPr/>
        </p:nvSpPr>
        <p:spPr>
          <a:xfrm>
            <a:off x="2423160" y="2286000"/>
            <a:ext cx="1737360" cy="91"/>
          </a:xfrm>
          <a:prstGeom prst="line">
            <a:avLst/>
          </a:prstGeom>
          <a:noFill/>
          <a:ln w="50800">
            <a:solidFill>
              <a:srgbClr val="C8414C"/>
            </a:solidFill>
            <a:prstDash val="solid"/>
            <a:tailEnd type="triangle"/>
          </a:ln>
        </p:spPr>
      </p:sp>
      <p:sp>
        <p:nvSpPr>
          <p:cNvPr id="18" name="Shape 16"/>
          <p:cNvSpPr/>
          <p:nvPr/>
        </p:nvSpPr>
        <p:spPr>
          <a:xfrm>
            <a:off x="4709160" y="1554480"/>
            <a:ext cx="548640" cy="1463040"/>
          </a:xfrm>
          <a:prstGeom prst="rect">
            <a:avLst/>
          </a:prstGeom>
          <a:solidFill>
            <a:srgbClr val="F5D76E"/>
          </a:solidFill>
          <a:ln w="12700">
            <a:solidFill>
              <a:srgbClr val="6B5A2A"/>
            </a:solidFill>
            <a:prstDash val="solid"/>
          </a:ln>
        </p:spPr>
      </p:sp>
      <p:sp>
        <p:nvSpPr>
          <p:cNvPr id="19" name="Text 17"/>
          <p:cNvSpPr/>
          <p:nvPr/>
        </p:nvSpPr>
        <p:spPr>
          <a:xfrm>
            <a:off x="4343400" y="3063240"/>
            <a:ext cx="1280160" cy="365760"/>
          </a:xfrm>
          <a:prstGeom prst="rect">
            <a:avLst/>
          </a:prstGeom>
          <a:noFill/>
          <a:ln/>
        </p:spPr>
        <p:txBody>
          <a:bodyPr wrap="square" lIns="0" tIns="0" rIns="0" bIns="0" rtlCol="0" anchor="t"/>
          <a:lstStyle/>
          <a:p>
            <a:pPr algn="ctr" indent="0" marL="0">
              <a:buNone/>
            </a:pPr>
            <a:r>
              <a:rPr lang="en-US" sz="1000" b="1" dirty="0">
                <a:solidFill>
                  <a:srgbClr val="1A2340"/>
                </a:solidFill>
                <a:latin typeface="Calibri" pitchFamily="34" charset="0"/>
                <a:ea typeface="Calibri" pitchFamily="34" charset="-122"/>
                <a:cs typeface="Calibri" pitchFamily="34" charset="-120"/>
              </a:rPr>
              <a:t>foam insulation</a:t>
            </a:r>
            <a:endParaRPr lang="en-US" sz="1000" dirty="0"/>
          </a:p>
        </p:txBody>
      </p:sp>
      <p:sp>
        <p:nvSpPr>
          <p:cNvPr id="20" name="Shape 18"/>
          <p:cNvSpPr/>
          <p:nvPr/>
        </p:nvSpPr>
        <p:spPr>
          <a:xfrm>
            <a:off x="4206240" y="2286000"/>
            <a:ext cx="1554480" cy="91"/>
          </a:xfrm>
          <a:prstGeom prst="line">
            <a:avLst/>
          </a:prstGeom>
          <a:noFill/>
          <a:ln w="19050">
            <a:solidFill>
              <a:srgbClr val="C8414C"/>
            </a:solidFill>
            <a:prstDash val="solid"/>
            <a:tailEnd type="triangle"/>
          </a:ln>
        </p:spPr>
      </p:sp>
      <p:sp>
        <p:nvSpPr>
          <p:cNvPr id="21" name="Text 19"/>
          <p:cNvSpPr/>
          <p:nvPr/>
        </p:nvSpPr>
        <p:spPr>
          <a:xfrm>
            <a:off x="640080" y="3566160"/>
            <a:ext cx="512064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Thermal conductivity / W/(m K) (typical values, to scale)</a:t>
            </a:r>
            <a:endParaRPr lang="en-US" sz="1050" dirty="0"/>
          </a:p>
        </p:txBody>
      </p:sp>
      <p:sp>
        <p:nvSpPr>
          <p:cNvPr id="22" name="Text 20"/>
          <p:cNvSpPr/>
          <p:nvPr/>
        </p:nvSpPr>
        <p:spPr>
          <a:xfrm>
            <a:off x="640080" y="3886200"/>
            <a:ext cx="1097280" cy="237744"/>
          </a:xfrm>
          <a:prstGeom prst="rect">
            <a:avLst/>
          </a:prstGeom>
          <a:noFill/>
          <a:ln/>
        </p:spPr>
        <p:txBody>
          <a:bodyPr wrap="square" lIns="0" tIns="0" rIns="0" bIns="0" rtlCol="0" anchor="ctr"/>
          <a:lstStyle/>
          <a:p>
            <a:pPr algn="r" indent="0" marL="0">
              <a:buNone/>
            </a:pPr>
            <a:r>
              <a:rPr lang="en-US" sz="1000" b="1" dirty="0">
                <a:solidFill>
                  <a:srgbClr val="1A2340"/>
                </a:solidFill>
                <a:latin typeface="Calibri" pitchFamily="34" charset="0"/>
                <a:ea typeface="Calibri" pitchFamily="34" charset="-122"/>
                <a:cs typeface="Calibri" pitchFamily="34" charset="-120"/>
              </a:rPr>
              <a:t>glass</a:t>
            </a:r>
            <a:endParaRPr lang="en-US" sz="1000" dirty="0"/>
          </a:p>
        </p:txBody>
      </p:sp>
      <p:sp>
        <p:nvSpPr>
          <p:cNvPr id="23" name="Shape 21"/>
          <p:cNvSpPr/>
          <p:nvPr/>
        </p:nvSpPr>
        <p:spPr>
          <a:xfrm>
            <a:off x="1828800" y="3922776"/>
            <a:ext cx="3291840" cy="182880"/>
          </a:xfrm>
          <a:prstGeom prst="rect">
            <a:avLst/>
          </a:prstGeom>
          <a:solidFill>
            <a:srgbClr val="C8414C"/>
          </a:solidFill>
          <a:ln/>
        </p:spPr>
      </p:sp>
      <p:sp>
        <p:nvSpPr>
          <p:cNvPr id="24" name="Text 22"/>
          <p:cNvSpPr/>
          <p:nvPr/>
        </p:nvSpPr>
        <p:spPr>
          <a:xfrm>
            <a:off x="5166360" y="3886200"/>
            <a:ext cx="548640" cy="237744"/>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1</a:t>
            </a:r>
            <a:endParaRPr lang="en-US" sz="1000" dirty="0"/>
          </a:p>
        </p:txBody>
      </p:sp>
      <p:sp>
        <p:nvSpPr>
          <p:cNvPr id="25" name="Text 23"/>
          <p:cNvSpPr/>
          <p:nvPr/>
        </p:nvSpPr>
        <p:spPr>
          <a:xfrm>
            <a:off x="640080" y="4160520"/>
            <a:ext cx="1097280" cy="237744"/>
          </a:xfrm>
          <a:prstGeom prst="rect">
            <a:avLst/>
          </a:prstGeom>
          <a:noFill/>
          <a:ln/>
        </p:spPr>
        <p:txBody>
          <a:bodyPr wrap="square" lIns="0" tIns="0" rIns="0" bIns="0" rtlCol="0" anchor="ctr"/>
          <a:lstStyle/>
          <a:p>
            <a:pPr algn="r" indent="0" marL="0">
              <a:buNone/>
            </a:pPr>
            <a:r>
              <a:rPr lang="en-US" sz="1000" b="1" dirty="0">
                <a:solidFill>
                  <a:srgbClr val="1A2340"/>
                </a:solidFill>
                <a:latin typeface="Calibri" pitchFamily="34" charset="0"/>
                <a:ea typeface="Calibri" pitchFamily="34" charset="-122"/>
                <a:cs typeface="Calibri" pitchFamily="34" charset="-120"/>
              </a:rPr>
              <a:t>brick</a:t>
            </a:r>
            <a:endParaRPr lang="en-US" sz="1000" dirty="0"/>
          </a:p>
        </p:txBody>
      </p:sp>
      <p:sp>
        <p:nvSpPr>
          <p:cNvPr id="26" name="Shape 24"/>
          <p:cNvSpPr/>
          <p:nvPr/>
        </p:nvSpPr>
        <p:spPr>
          <a:xfrm>
            <a:off x="1828800" y="4197096"/>
            <a:ext cx="2304288" cy="182880"/>
          </a:xfrm>
          <a:prstGeom prst="rect">
            <a:avLst/>
          </a:prstGeom>
          <a:solidFill>
            <a:srgbClr val="C8414C"/>
          </a:solidFill>
          <a:ln/>
        </p:spPr>
      </p:sp>
      <p:sp>
        <p:nvSpPr>
          <p:cNvPr id="27" name="Text 25"/>
          <p:cNvSpPr/>
          <p:nvPr/>
        </p:nvSpPr>
        <p:spPr>
          <a:xfrm>
            <a:off x="4178808" y="4160520"/>
            <a:ext cx="548640" cy="237744"/>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0.7</a:t>
            </a:r>
            <a:endParaRPr lang="en-US" sz="1000" dirty="0"/>
          </a:p>
        </p:txBody>
      </p:sp>
      <p:sp>
        <p:nvSpPr>
          <p:cNvPr id="28" name="Text 26"/>
          <p:cNvSpPr/>
          <p:nvPr/>
        </p:nvSpPr>
        <p:spPr>
          <a:xfrm>
            <a:off x="640080" y="4434840"/>
            <a:ext cx="1097280" cy="237744"/>
          </a:xfrm>
          <a:prstGeom prst="rect">
            <a:avLst/>
          </a:prstGeom>
          <a:noFill/>
          <a:ln/>
        </p:spPr>
        <p:txBody>
          <a:bodyPr wrap="square" lIns="0" tIns="0" rIns="0" bIns="0" rtlCol="0" anchor="ctr"/>
          <a:lstStyle/>
          <a:p>
            <a:pPr algn="r" indent="0" marL="0">
              <a:buNone/>
            </a:pPr>
            <a:r>
              <a:rPr lang="en-US" sz="1000" b="1" dirty="0">
                <a:solidFill>
                  <a:srgbClr val="1A2340"/>
                </a:solidFill>
                <a:latin typeface="Calibri" pitchFamily="34" charset="0"/>
                <a:ea typeface="Calibri" pitchFamily="34" charset="-122"/>
                <a:cs typeface="Calibri" pitchFamily="34" charset="-120"/>
              </a:rPr>
              <a:t>wood</a:t>
            </a:r>
            <a:endParaRPr lang="en-US" sz="1000" dirty="0"/>
          </a:p>
        </p:txBody>
      </p:sp>
      <p:sp>
        <p:nvSpPr>
          <p:cNvPr id="29" name="Shape 27"/>
          <p:cNvSpPr/>
          <p:nvPr/>
        </p:nvSpPr>
        <p:spPr>
          <a:xfrm>
            <a:off x="1828800" y="4471416"/>
            <a:ext cx="493776" cy="182880"/>
          </a:xfrm>
          <a:prstGeom prst="rect">
            <a:avLst/>
          </a:prstGeom>
          <a:solidFill>
            <a:srgbClr val="E39A2F"/>
          </a:solidFill>
          <a:ln/>
        </p:spPr>
      </p:sp>
      <p:sp>
        <p:nvSpPr>
          <p:cNvPr id="30" name="Text 28"/>
          <p:cNvSpPr/>
          <p:nvPr/>
        </p:nvSpPr>
        <p:spPr>
          <a:xfrm>
            <a:off x="2368296" y="4434840"/>
            <a:ext cx="548640" cy="237744"/>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0.15</a:t>
            </a:r>
            <a:endParaRPr lang="en-US" sz="1000" dirty="0"/>
          </a:p>
        </p:txBody>
      </p:sp>
      <p:sp>
        <p:nvSpPr>
          <p:cNvPr id="31" name="Text 29"/>
          <p:cNvSpPr/>
          <p:nvPr/>
        </p:nvSpPr>
        <p:spPr>
          <a:xfrm>
            <a:off x="640080" y="4709160"/>
            <a:ext cx="1097280" cy="237744"/>
          </a:xfrm>
          <a:prstGeom prst="rect">
            <a:avLst/>
          </a:prstGeom>
          <a:noFill/>
          <a:ln/>
        </p:spPr>
        <p:txBody>
          <a:bodyPr wrap="square" lIns="0" tIns="0" rIns="0" bIns="0" rtlCol="0" anchor="ctr"/>
          <a:lstStyle/>
          <a:p>
            <a:pPr algn="r" indent="0" marL="0">
              <a:buNone/>
            </a:pPr>
            <a:r>
              <a:rPr lang="en-US" sz="1000" b="1" dirty="0">
                <a:solidFill>
                  <a:srgbClr val="1A2340"/>
                </a:solidFill>
                <a:latin typeface="Calibri" pitchFamily="34" charset="0"/>
                <a:ea typeface="Calibri" pitchFamily="34" charset="-122"/>
                <a:cs typeface="Calibri" pitchFamily="34" charset="-120"/>
              </a:rPr>
              <a:t>fibreglass</a:t>
            </a:r>
            <a:endParaRPr lang="en-US" sz="1000" dirty="0"/>
          </a:p>
        </p:txBody>
      </p:sp>
      <p:sp>
        <p:nvSpPr>
          <p:cNvPr id="32" name="Shape 30"/>
          <p:cNvSpPr/>
          <p:nvPr/>
        </p:nvSpPr>
        <p:spPr>
          <a:xfrm>
            <a:off x="1828800" y="4745736"/>
            <a:ext cx="131674" cy="182880"/>
          </a:xfrm>
          <a:prstGeom prst="rect">
            <a:avLst/>
          </a:prstGeom>
          <a:solidFill>
            <a:srgbClr val="2E8B57"/>
          </a:solidFill>
          <a:ln/>
        </p:spPr>
      </p:sp>
      <p:sp>
        <p:nvSpPr>
          <p:cNvPr id="33" name="Text 31"/>
          <p:cNvSpPr/>
          <p:nvPr/>
        </p:nvSpPr>
        <p:spPr>
          <a:xfrm>
            <a:off x="2006194" y="4709160"/>
            <a:ext cx="548640" cy="237744"/>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0.04</a:t>
            </a:r>
            <a:endParaRPr lang="en-US" sz="1000" dirty="0"/>
          </a:p>
        </p:txBody>
      </p:sp>
      <p:sp>
        <p:nvSpPr>
          <p:cNvPr id="34" name="Text 32"/>
          <p:cNvSpPr/>
          <p:nvPr/>
        </p:nvSpPr>
        <p:spPr>
          <a:xfrm>
            <a:off x="640080" y="4983480"/>
            <a:ext cx="1097280" cy="237744"/>
          </a:xfrm>
          <a:prstGeom prst="rect">
            <a:avLst/>
          </a:prstGeom>
          <a:noFill/>
          <a:ln/>
        </p:spPr>
        <p:txBody>
          <a:bodyPr wrap="square" lIns="0" tIns="0" rIns="0" bIns="0" rtlCol="0" anchor="ctr"/>
          <a:lstStyle/>
          <a:p>
            <a:pPr algn="r" indent="0" marL="0">
              <a:buNone/>
            </a:pPr>
            <a:r>
              <a:rPr lang="en-US" sz="1000" b="1" dirty="0">
                <a:solidFill>
                  <a:srgbClr val="1A2340"/>
                </a:solidFill>
                <a:latin typeface="Calibri" pitchFamily="34" charset="0"/>
                <a:ea typeface="Calibri" pitchFamily="34" charset="-122"/>
                <a:cs typeface="Calibri" pitchFamily="34" charset="-120"/>
              </a:rPr>
              <a:t>polystyrene</a:t>
            </a:r>
            <a:endParaRPr lang="en-US" sz="1000" dirty="0"/>
          </a:p>
        </p:txBody>
      </p:sp>
      <p:sp>
        <p:nvSpPr>
          <p:cNvPr id="35" name="Shape 33"/>
          <p:cNvSpPr/>
          <p:nvPr/>
        </p:nvSpPr>
        <p:spPr>
          <a:xfrm>
            <a:off x="1828800" y="5020056"/>
            <a:ext cx="98755" cy="182880"/>
          </a:xfrm>
          <a:prstGeom prst="rect">
            <a:avLst/>
          </a:prstGeom>
          <a:solidFill>
            <a:srgbClr val="2E8B57"/>
          </a:solidFill>
          <a:ln/>
        </p:spPr>
      </p:sp>
      <p:sp>
        <p:nvSpPr>
          <p:cNvPr id="36" name="Text 34"/>
          <p:cNvSpPr/>
          <p:nvPr/>
        </p:nvSpPr>
        <p:spPr>
          <a:xfrm>
            <a:off x="1973275" y="4983480"/>
            <a:ext cx="548640" cy="237744"/>
          </a:xfrm>
          <a:prstGeom prst="rect">
            <a:avLst/>
          </a:prstGeom>
          <a:noFill/>
          <a:ln/>
        </p:spPr>
        <p:txBody>
          <a:bodyPr wrap="square" lIns="0" tIns="0" rIns="0" bIns="0" rtlCol="0" anchor="ctr"/>
          <a:lstStyle/>
          <a:p>
            <a:pPr algn="l" indent="0" marL="0">
              <a:buNone/>
            </a:pPr>
            <a:r>
              <a:rPr lang="en-US" sz="1000" dirty="0">
                <a:solidFill>
                  <a:srgbClr val="1A2340"/>
                </a:solidFill>
                <a:latin typeface="Calibri" pitchFamily="34" charset="0"/>
                <a:ea typeface="Calibri" pitchFamily="34" charset="-122"/>
                <a:cs typeface="Calibri" pitchFamily="34" charset="-120"/>
              </a:rPr>
              <a:t>0.03</a:t>
            </a:r>
            <a:endParaRPr lang="en-US" sz="1000" dirty="0"/>
          </a:p>
        </p:txBody>
      </p:sp>
      <p:sp>
        <p:nvSpPr>
          <p:cNvPr id="37" name="Shape 35"/>
          <p:cNvSpPr/>
          <p:nvPr/>
        </p:nvSpPr>
        <p:spPr>
          <a:xfrm>
            <a:off x="6217920" y="1188720"/>
            <a:ext cx="5559552" cy="2514600"/>
          </a:xfrm>
          <a:prstGeom prst="roundRect">
            <a:avLst>
              <a:gd name="adj" fmla="val 2182"/>
            </a:avLst>
          </a:prstGeom>
          <a:solidFill>
            <a:srgbClr val="F5F8FE"/>
          </a:solidFill>
          <a:ln w="9525">
            <a:solidFill>
              <a:srgbClr val="D5DCEB"/>
            </a:solidFill>
            <a:prstDash val="solid"/>
          </a:ln>
        </p:spPr>
      </p:sp>
      <p:sp>
        <p:nvSpPr>
          <p:cNvPr id="38" name="Text 36"/>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Rate of cooling</a:t>
            </a:r>
            <a:endParaRPr lang="en-US" sz="1300" dirty="0"/>
          </a:p>
        </p:txBody>
      </p:sp>
      <p:sp>
        <p:nvSpPr>
          <p:cNvPr id="39" name="Text 37"/>
          <p:cNvSpPr/>
          <p:nvPr/>
        </p:nvSpPr>
        <p:spPr>
          <a:xfrm>
            <a:off x="6382512" y="1609344"/>
            <a:ext cx="5230368" cy="202082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Thermal conductivity</a:t>
            </a:r>
            <a:r>
              <a:rPr lang="en-US" sz="1100" dirty="0">
                <a:solidFill>
                  <a:srgbClr val="262B3A"/>
                </a:solidFill>
                <a:latin typeface="Calibri" pitchFamily="34" charset="0"/>
                <a:ea typeface="Calibri" pitchFamily="34" charset="-122"/>
                <a:cs typeface="Calibri" pitchFamily="34" charset="-120"/>
              </a:rPr>
              <a:t> is how well a material transfers energy by conduction.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Higher</a:t>
            </a:r>
            <a:r>
              <a:rPr lang="en-US" sz="1100" dirty="0">
                <a:solidFill>
                  <a:srgbClr val="262B3A"/>
                </a:solidFill>
                <a:latin typeface="Calibri" pitchFamily="34" charset="0"/>
                <a:ea typeface="Calibri" pitchFamily="34" charset="-122"/>
                <a:cs typeface="Calibri" pitchFamily="34" charset="-120"/>
              </a:rPr>
              <a:t> thermal conductivity → </a:t>
            </a:r>
            <a:r>
              <a:rPr lang="en-US" sz="1100" b="1" dirty="0">
                <a:solidFill>
                  <a:srgbClr val="262B3A"/>
                </a:solidFill>
                <a:latin typeface="Calibri" pitchFamily="34" charset="0"/>
                <a:ea typeface="Calibri" pitchFamily="34" charset="-122"/>
                <a:cs typeface="Calibri" pitchFamily="34" charset="-120"/>
              </a:rPr>
              <a:t>faster</a:t>
            </a:r>
            <a:r>
              <a:rPr lang="en-US" sz="1100" dirty="0">
                <a:solidFill>
                  <a:srgbClr val="262B3A"/>
                </a:solidFill>
                <a:latin typeface="Calibri" pitchFamily="34" charset="0"/>
                <a:ea typeface="Calibri" pitchFamily="34" charset="-122"/>
                <a:cs typeface="Calibri" pitchFamily="34" charset="-120"/>
              </a:rPr>
              <a:t> energy transfer → the building </a:t>
            </a:r>
            <a:r>
              <a:rPr lang="en-US" sz="1100" b="1" dirty="0">
                <a:solidFill>
                  <a:srgbClr val="262B3A"/>
                </a:solidFill>
                <a:latin typeface="Calibri" pitchFamily="34" charset="0"/>
                <a:ea typeface="Calibri" pitchFamily="34" charset="-122"/>
                <a:cs typeface="Calibri" pitchFamily="34" charset="-120"/>
              </a:rPr>
              <a:t>cools faster</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Thicker</a:t>
            </a:r>
            <a:r>
              <a:rPr lang="en-US" sz="1100" dirty="0">
                <a:solidFill>
                  <a:srgbClr val="262B3A"/>
                </a:solidFill>
                <a:latin typeface="Calibri" pitchFamily="34" charset="0"/>
                <a:ea typeface="Calibri" pitchFamily="34" charset="-122"/>
                <a:cs typeface="Calibri" pitchFamily="34" charset="-120"/>
              </a:rPr>
              <a:t> walls → </a:t>
            </a:r>
            <a:r>
              <a:rPr lang="en-US" sz="1100" b="1" dirty="0">
                <a:solidFill>
                  <a:srgbClr val="262B3A"/>
                </a:solidFill>
                <a:latin typeface="Calibri" pitchFamily="34" charset="0"/>
                <a:ea typeface="Calibri" pitchFamily="34" charset="-122"/>
                <a:cs typeface="Calibri" pitchFamily="34" charset="-120"/>
              </a:rPr>
              <a:t>slower</a:t>
            </a:r>
            <a:r>
              <a:rPr lang="en-US" sz="1100" dirty="0">
                <a:solidFill>
                  <a:srgbClr val="262B3A"/>
                </a:solidFill>
                <a:latin typeface="Calibri" pitchFamily="34" charset="0"/>
                <a:ea typeface="Calibri" pitchFamily="34" charset="-122"/>
                <a:cs typeface="Calibri" pitchFamily="34" charset="-120"/>
              </a:rPr>
              <a:t> energy transfer → the building cools more slowly.</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bigger temperature difference between inside and outside also makes it cool faster.</a:t>
            </a:r>
            <a:endParaRPr lang="en-US" sz="1100" dirty="0"/>
          </a:p>
        </p:txBody>
      </p:sp>
      <p:sp>
        <p:nvSpPr>
          <p:cNvPr id="40" name="Shape 38"/>
          <p:cNvSpPr/>
          <p:nvPr/>
        </p:nvSpPr>
        <p:spPr>
          <a:xfrm>
            <a:off x="6217920" y="3840480"/>
            <a:ext cx="5559552" cy="1874520"/>
          </a:xfrm>
          <a:prstGeom prst="roundRect">
            <a:avLst>
              <a:gd name="adj" fmla="val 2927"/>
            </a:avLst>
          </a:prstGeom>
          <a:solidFill>
            <a:srgbClr val="FFF4E0"/>
          </a:solidFill>
          <a:ln w="9525">
            <a:solidFill>
              <a:srgbClr val="F1D9A8"/>
            </a:solidFill>
            <a:prstDash val="solid"/>
          </a:ln>
        </p:spPr>
      </p:sp>
      <p:sp>
        <p:nvSpPr>
          <p:cNvPr id="41" name="Text 39"/>
          <p:cNvSpPr/>
          <p:nvPr/>
        </p:nvSpPr>
        <p:spPr>
          <a:xfrm>
            <a:off x="6382512" y="391363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Explain it</a:t>
            </a:r>
            <a:endParaRPr lang="en-US" sz="1300" dirty="0"/>
          </a:p>
        </p:txBody>
      </p:sp>
      <p:sp>
        <p:nvSpPr>
          <p:cNvPr id="42" name="Text 40"/>
          <p:cNvSpPr/>
          <p:nvPr/>
        </p:nvSpPr>
        <p:spPr>
          <a:xfrm>
            <a:off x="6382512" y="4224528"/>
            <a:ext cx="5230368"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House A has thin brick walls. House B has thick walls filled with foam. Which cools faster?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Thickness   </a:t>
            </a:r>
            <a:r>
              <a:rPr lang="en-US" sz="1050" dirty="0">
                <a:solidFill>
                  <a:srgbClr val="262B3A"/>
                </a:solidFill>
                <a:latin typeface="Calibri" pitchFamily="34" charset="0"/>
                <a:ea typeface="Calibri" pitchFamily="34" charset="-122"/>
                <a:cs typeface="Calibri" pitchFamily="34" charset="-120"/>
              </a:rPr>
              <a:t>A’s walls are thinner, so energy is transferred through them faster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Conductivity   </a:t>
            </a:r>
            <a:r>
              <a:rPr lang="en-US" sz="1050" dirty="0">
                <a:solidFill>
                  <a:srgbClr val="262B3A"/>
                </a:solidFill>
                <a:latin typeface="Calibri" pitchFamily="34" charset="0"/>
                <a:ea typeface="Calibri" pitchFamily="34" charset="-122"/>
                <a:cs typeface="Calibri" pitchFamily="34" charset="-120"/>
              </a:rPr>
              <a:t>brick conducts better than foam (B’s cavity is filled with a low-conductivity material)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House A cools faster, so it needs more heating</a:t>
            </a:r>
            <a:endParaRPr lang="en-US" sz="1050" dirty="0"/>
          </a:p>
        </p:txBody>
      </p:sp>
      <p:sp>
        <p:nvSpPr>
          <p:cNvPr id="43" name="Shape 41"/>
          <p:cNvSpPr/>
          <p:nvPr/>
        </p:nvSpPr>
        <p:spPr>
          <a:xfrm>
            <a:off x="411480" y="5833872"/>
            <a:ext cx="11368735" cy="530352"/>
          </a:xfrm>
          <a:prstGeom prst="rect">
            <a:avLst/>
          </a:prstGeom>
          <a:solidFill>
            <a:srgbClr val="FFF4E0"/>
          </a:solidFill>
          <a:ln w="6350">
            <a:solidFill>
              <a:srgbClr val="F1D9A8"/>
            </a:solidFill>
            <a:prstDash val="solid"/>
          </a:ln>
        </p:spPr>
      </p:sp>
      <p:sp>
        <p:nvSpPr>
          <p:cNvPr id="44" name="Shape 42"/>
          <p:cNvSpPr/>
          <p:nvPr/>
        </p:nvSpPr>
        <p:spPr>
          <a:xfrm>
            <a:off x="411480" y="5833872"/>
            <a:ext cx="82296" cy="530352"/>
          </a:xfrm>
          <a:prstGeom prst="rect">
            <a:avLst/>
          </a:prstGeom>
          <a:solidFill>
            <a:srgbClr val="E39A2F"/>
          </a:solidFill>
          <a:ln w="12700">
            <a:solidFill>
              <a:srgbClr val="E39A2F"/>
            </a:solidFill>
            <a:prstDash val="solid"/>
          </a:ln>
        </p:spPr>
      </p:sp>
      <p:sp>
        <p:nvSpPr>
          <p:cNvPr id="45" name="Text 4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window frames made of wood keep a house warmer than metal frames of the same thickness.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Efficiency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3.11 • the fraction of the energy supplied that is transferred usefully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3.11  |  19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lamps, 100 J each; to scale, 100 J = 1.0 in (illustrative)</a:t>
            </a:r>
            <a:endParaRPr lang="en-US" sz="1000" dirty="0"/>
          </a:p>
        </p:txBody>
      </p:sp>
      <p:sp>
        <p:nvSpPr>
          <p:cNvPr id="10" name="Text 8"/>
          <p:cNvSpPr/>
          <p:nvPr/>
        </p:nvSpPr>
        <p:spPr>
          <a:xfrm>
            <a:off x="640080" y="1280160"/>
            <a:ext cx="256032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Filament lamp</a:t>
            </a:r>
            <a:endParaRPr lang="en-US" sz="1150" dirty="0"/>
          </a:p>
        </p:txBody>
      </p:sp>
      <p:sp>
        <p:nvSpPr>
          <p:cNvPr id="11" name="Shape 9"/>
          <p:cNvSpPr/>
          <p:nvPr/>
        </p:nvSpPr>
        <p:spPr>
          <a:xfrm>
            <a:off x="640080" y="1600200"/>
            <a:ext cx="502920" cy="914400"/>
          </a:xfrm>
          <a:prstGeom prst="rect">
            <a:avLst/>
          </a:prstGeom>
          <a:solidFill>
            <a:srgbClr val="7C8AA8"/>
          </a:solidFill>
          <a:ln/>
        </p:spPr>
      </p:sp>
      <p:sp>
        <p:nvSpPr>
          <p:cNvPr id="12" name="Text 10"/>
          <p:cNvSpPr/>
          <p:nvPr/>
        </p:nvSpPr>
        <p:spPr>
          <a:xfrm>
            <a:off x="685800" y="1600200"/>
            <a:ext cx="411480" cy="9144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100 J</a:t>
            </a:r>
            <a:endParaRPr lang="en-US" sz="1050" dirty="0"/>
          </a:p>
        </p:txBody>
      </p:sp>
      <p:sp>
        <p:nvSpPr>
          <p:cNvPr id="13" name="Shape 11"/>
          <p:cNvSpPr/>
          <p:nvPr/>
        </p:nvSpPr>
        <p:spPr>
          <a:xfrm>
            <a:off x="1143000" y="1600200"/>
            <a:ext cx="960120" cy="91440"/>
          </a:xfrm>
          <a:prstGeom prst="rect">
            <a:avLst/>
          </a:prstGeom>
          <a:solidFill>
            <a:srgbClr val="2E8B57"/>
          </a:solidFill>
          <a:ln/>
        </p:spPr>
      </p:sp>
      <p:sp>
        <p:nvSpPr>
          <p:cNvPr id="14" name="Shape 12"/>
          <p:cNvSpPr/>
          <p:nvPr/>
        </p:nvSpPr>
        <p:spPr>
          <a:xfrm rot="5400000">
            <a:off x="2093976" y="1499616"/>
            <a:ext cx="310896" cy="292608"/>
          </a:xfrm>
          <a:prstGeom prst="triangle">
            <a:avLst/>
          </a:prstGeom>
          <a:solidFill>
            <a:srgbClr val="2E8B57"/>
          </a:solidFill>
          <a:ln w="6350">
            <a:solidFill>
              <a:srgbClr val="2E8B57"/>
            </a:solidFill>
            <a:prstDash val="solid"/>
          </a:ln>
        </p:spPr>
      </p:sp>
      <p:sp>
        <p:nvSpPr>
          <p:cNvPr id="15" name="Text 13"/>
          <p:cNvSpPr/>
          <p:nvPr/>
        </p:nvSpPr>
        <p:spPr>
          <a:xfrm>
            <a:off x="2450592" y="1417320"/>
            <a:ext cx="731520" cy="457200"/>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light</a:t>
            </a:r>
            <a:endParaRPr lang="en-US" sz="1050" dirty="0"/>
          </a:p>
          <a:p>
            <a:pPr algn="l" indent="0" marL="0">
              <a:buNone/>
            </a:pPr>
            <a:r>
              <a:rPr lang="en-US" sz="1050" b="1" dirty="0">
                <a:solidFill>
                  <a:srgbClr val="2E8B57"/>
                </a:solidFill>
                <a:latin typeface="Calibri" pitchFamily="34" charset="0"/>
                <a:ea typeface="Calibri" pitchFamily="34" charset="-122"/>
                <a:cs typeface="Calibri" pitchFamily="34" charset="-120"/>
              </a:rPr>
              <a:t>10 J</a:t>
            </a:r>
            <a:endParaRPr lang="en-US" sz="1050" dirty="0"/>
          </a:p>
        </p:txBody>
      </p:sp>
      <p:sp>
        <p:nvSpPr>
          <p:cNvPr id="16" name="Shape 14"/>
          <p:cNvSpPr/>
          <p:nvPr/>
        </p:nvSpPr>
        <p:spPr>
          <a:xfrm>
            <a:off x="1143000" y="1691640"/>
            <a:ext cx="822960" cy="822960"/>
          </a:xfrm>
          <a:prstGeom prst="rect">
            <a:avLst/>
          </a:prstGeom>
          <a:solidFill>
            <a:srgbClr val="C8414C"/>
          </a:solidFill>
          <a:ln/>
        </p:spPr>
      </p:sp>
      <p:sp>
        <p:nvSpPr>
          <p:cNvPr id="17" name="Shape 15"/>
          <p:cNvSpPr/>
          <p:nvPr/>
        </p:nvSpPr>
        <p:spPr>
          <a:xfrm>
            <a:off x="1143000" y="1691640"/>
            <a:ext cx="822960" cy="1417320"/>
          </a:xfrm>
          <a:prstGeom prst="rect">
            <a:avLst/>
          </a:prstGeom>
          <a:solidFill>
            <a:srgbClr val="C8414C"/>
          </a:solidFill>
          <a:ln/>
        </p:spPr>
      </p:sp>
      <p:sp>
        <p:nvSpPr>
          <p:cNvPr id="18" name="Shape 16"/>
          <p:cNvSpPr/>
          <p:nvPr/>
        </p:nvSpPr>
        <p:spPr>
          <a:xfrm flipV="1">
            <a:off x="1042416" y="3108960"/>
            <a:ext cx="1024128" cy="274320"/>
          </a:xfrm>
          <a:prstGeom prst="triangle">
            <a:avLst/>
          </a:prstGeom>
          <a:solidFill>
            <a:srgbClr val="C8414C"/>
          </a:solidFill>
          <a:ln w="6350">
            <a:solidFill>
              <a:srgbClr val="C8414C"/>
            </a:solidFill>
            <a:prstDash val="solid"/>
          </a:ln>
        </p:spPr>
      </p:sp>
      <p:sp>
        <p:nvSpPr>
          <p:cNvPr id="19" name="Text 17"/>
          <p:cNvSpPr/>
          <p:nvPr/>
        </p:nvSpPr>
        <p:spPr>
          <a:xfrm>
            <a:off x="960120" y="3401568"/>
            <a:ext cx="1188720" cy="420624"/>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thermal 90 J</a:t>
            </a:r>
            <a:endParaRPr lang="en-US" sz="1050" dirty="0"/>
          </a:p>
        </p:txBody>
      </p:sp>
      <p:sp>
        <p:nvSpPr>
          <p:cNvPr id="20" name="Text 18"/>
          <p:cNvSpPr/>
          <p:nvPr/>
        </p:nvSpPr>
        <p:spPr>
          <a:xfrm>
            <a:off x="640080" y="4069080"/>
            <a:ext cx="256032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efficiency = 10 ÷ 100 = 0.10 (10%)</a:t>
            </a:r>
            <a:endParaRPr lang="en-US" sz="1050" dirty="0"/>
          </a:p>
        </p:txBody>
      </p:sp>
      <p:sp>
        <p:nvSpPr>
          <p:cNvPr id="21" name="Text 19"/>
          <p:cNvSpPr/>
          <p:nvPr/>
        </p:nvSpPr>
        <p:spPr>
          <a:xfrm>
            <a:off x="3291840" y="1280160"/>
            <a:ext cx="256032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LED lamp</a:t>
            </a:r>
            <a:endParaRPr lang="en-US" sz="1150" dirty="0"/>
          </a:p>
        </p:txBody>
      </p:sp>
      <p:sp>
        <p:nvSpPr>
          <p:cNvPr id="22" name="Shape 20"/>
          <p:cNvSpPr/>
          <p:nvPr/>
        </p:nvSpPr>
        <p:spPr>
          <a:xfrm>
            <a:off x="3291840" y="1600200"/>
            <a:ext cx="502920" cy="914400"/>
          </a:xfrm>
          <a:prstGeom prst="rect">
            <a:avLst/>
          </a:prstGeom>
          <a:solidFill>
            <a:srgbClr val="7C8AA8"/>
          </a:solidFill>
          <a:ln/>
        </p:spPr>
      </p:sp>
      <p:sp>
        <p:nvSpPr>
          <p:cNvPr id="23" name="Text 21"/>
          <p:cNvSpPr/>
          <p:nvPr/>
        </p:nvSpPr>
        <p:spPr>
          <a:xfrm>
            <a:off x="3337560" y="1600200"/>
            <a:ext cx="411480" cy="9144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100 J</a:t>
            </a:r>
            <a:endParaRPr lang="en-US" sz="1050" dirty="0"/>
          </a:p>
        </p:txBody>
      </p:sp>
      <p:sp>
        <p:nvSpPr>
          <p:cNvPr id="24" name="Shape 22"/>
          <p:cNvSpPr/>
          <p:nvPr/>
        </p:nvSpPr>
        <p:spPr>
          <a:xfrm>
            <a:off x="3794760" y="1600200"/>
            <a:ext cx="960120" cy="365760"/>
          </a:xfrm>
          <a:prstGeom prst="rect">
            <a:avLst/>
          </a:prstGeom>
          <a:solidFill>
            <a:srgbClr val="2E8B57"/>
          </a:solidFill>
          <a:ln/>
        </p:spPr>
      </p:sp>
      <p:sp>
        <p:nvSpPr>
          <p:cNvPr id="25" name="Shape 23"/>
          <p:cNvSpPr/>
          <p:nvPr/>
        </p:nvSpPr>
        <p:spPr>
          <a:xfrm rot="5400000">
            <a:off x="4608576" y="1636776"/>
            <a:ext cx="585216" cy="292608"/>
          </a:xfrm>
          <a:prstGeom prst="triangle">
            <a:avLst/>
          </a:prstGeom>
          <a:solidFill>
            <a:srgbClr val="2E8B57"/>
          </a:solidFill>
          <a:ln w="6350">
            <a:solidFill>
              <a:srgbClr val="2E8B57"/>
            </a:solidFill>
            <a:prstDash val="solid"/>
          </a:ln>
        </p:spPr>
      </p:sp>
      <p:sp>
        <p:nvSpPr>
          <p:cNvPr id="26" name="Text 24"/>
          <p:cNvSpPr/>
          <p:nvPr/>
        </p:nvSpPr>
        <p:spPr>
          <a:xfrm>
            <a:off x="5102352" y="1554480"/>
            <a:ext cx="731520" cy="457200"/>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light</a:t>
            </a:r>
            <a:endParaRPr lang="en-US" sz="1050" dirty="0"/>
          </a:p>
          <a:p>
            <a:pPr algn="l" indent="0" marL="0">
              <a:buNone/>
            </a:pPr>
            <a:r>
              <a:rPr lang="en-US" sz="1050" b="1" dirty="0">
                <a:solidFill>
                  <a:srgbClr val="2E8B57"/>
                </a:solidFill>
                <a:latin typeface="Calibri" pitchFamily="34" charset="0"/>
                <a:ea typeface="Calibri" pitchFamily="34" charset="-122"/>
                <a:cs typeface="Calibri" pitchFamily="34" charset="-120"/>
              </a:rPr>
              <a:t>40 J</a:t>
            </a:r>
            <a:endParaRPr lang="en-US" sz="1050" dirty="0"/>
          </a:p>
        </p:txBody>
      </p:sp>
      <p:sp>
        <p:nvSpPr>
          <p:cNvPr id="27" name="Shape 25"/>
          <p:cNvSpPr/>
          <p:nvPr/>
        </p:nvSpPr>
        <p:spPr>
          <a:xfrm>
            <a:off x="3794760" y="1965960"/>
            <a:ext cx="548640" cy="548640"/>
          </a:xfrm>
          <a:prstGeom prst="rect">
            <a:avLst/>
          </a:prstGeom>
          <a:solidFill>
            <a:srgbClr val="C8414C"/>
          </a:solidFill>
          <a:ln/>
        </p:spPr>
      </p:sp>
      <p:sp>
        <p:nvSpPr>
          <p:cNvPr id="28" name="Shape 26"/>
          <p:cNvSpPr/>
          <p:nvPr/>
        </p:nvSpPr>
        <p:spPr>
          <a:xfrm>
            <a:off x="3794760" y="1965960"/>
            <a:ext cx="548640" cy="1143000"/>
          </a:xfrm>
          <a:prstGeom prst="rect">
            <a:avLst/>
          </a:prstGeom>
          <a:solidFill>
            <a:srgbClr val="C8414C"/>
          </a:solidFill>
          <a:ln/>
        </p:spPr>
      </p:sp>
      <p:sp>
        <p:nvSpPr>
          <p:cNvPr id="29" name="Shape 27"/>
          <p:cNvSpPr/>
          <p:nvPr/>
        </p:nvSpPr>
        <p:spPr>
          <a:xfrm flipV="1">
            <a:off x="3694176" y="3108960"/>
            <a:ext cx="749808" cy="274320"/>
          </a:xfrm>
          <a:prstGeom prst="triangle">
            <a:avLst/>
          </a:prstGeom>
          <a:solidFill>
            <a:srgbClr val="C8414C"/>
          </a:solidFill>
          <a:ln w="6350">
            <a:solidFill>
              <a:srgbClr val="C8414C"/>
            </a:solidFill>
            <a:prstDash val="solid"/>
          </a:ln>
        </p:spPr>
      </p:sp>
      <p:sp>
        <p:nvSpPr>
          <p:cNvPr id="30" name="Text 28"/>
          <p:cNvSpPr/>
          <p:nvPr/>
        </p:nvSpPr>
        <p:spPr>
          <a:xfrm>
            <a:off x="3474720" y="3401568"/>
            <a:ext cx="1188720" cy="420624"/>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thermal 60 J</a:t>
            </a:r>
            <a:endParaRPr lang="en-US" sz="1050" dirty="0"/>
          </a:p>
        </p:txBody>
      </p:sp>
      <p:sp>
        <p:nvSpPr>
          <p:cNvPr id="31" name="Text 29"/>
          <p:cNvSpPr/>
          <p:nvPr/>
        </p:nvSpPr>
        <p:spPr>
          <a:xfrm>
            <a:off x="3291840" y="4069080"/>
            <a:ext cx="256032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efficiency = 40 ÷ 100 = 0.40 (40%)</a:t>
            </a:r>
            <a:endParaRPr lang="en-US" sz="1050" dirty="0"/>
          </a:p>
        </p:txBody>
      </p:sp>
      <p:sp>
        <p:nvSpPr>
          <p:cNvPr id="32" name="Text 30"/>
          <p:cNvSpPr/>
          <p:nvPr/>
        </p:nvSpPr>
        <p:spPr>
          <a:xfrm>
            <a:off x="640080" y="4526280"/>
            <a:ext cx="5120640" cy="256032"/>
          </a:xfrm>
          <a:prstGeom prst="rect">
            <a:avLst/>
          </a:prstGeom>
          <a:noFill/>
          <a:ln/>
        </p:spPr>
        <p:txBody>
          <a:bodyPr wrap="square" lIns="0" tIns="0" rIns="0" bIns="0" rtlCol="0" anchor="ctr"/>
          <a:lstStyle/>
          <a:p>
            <a:pPr algn="l" indent="0" marL="0">
              <a:buNone/>
            </a:pPr>
            <a:r>
              <a:rPr lang="en-US" sz="1100" i="1" dirty="0">
                <a:solidFill>
                  <a:srgbClr val="1A2340"/>
                </a:solidFill>
                <a:latin typeface="Calibri" pitchFamily="34" charset="0"/>
                <a:ea typeface="Calibri" pitchFamily="34" charset="-122"/>
                <a:cs typeface="Calibri" pitchFamily="34" charset="-120"/>
              </a:rPr>
              <a:t>The LED wastes less energy, so it is more efficient.</a:t>
            </a:r>
            <a:endParaRPr lang="en-US" sz="1100" dirty="0"/>
          </a:p>
        </p:txBody>
      </p:sp>
      <p:sp>
        <p:nvSpPr>
          <p:cNvPr id="33" name="Shape 3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4" name="Text 3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Calculating efficiency</a:t>
            </a:r>
            <a:endParaRPr lang="en-US" sz="1300" dirty="0"/>
          </a:p>
        </p:txBody>
      </p:sp>
      <p:sp>
        <p:nvSpPr>
          <p:cNvPr id="35" name="Text 33"/>
          <p:cNvSpPr/>
          <p:nvPr/>
        </p:nvSpPr>
        <p:spPr>
          <a:xfrm>
            <a:off x="6382512" y="1609344"/>
            <a:ext cx="5233111" cy="1929384"/>
          </a:xfrm>
          <a:prstGeom prst="rect">
            <a:avLst/>
          </a:prstGeom>
          <a:noFill/>
          <a:ln/>
        </p:spPr>
        <p:txBody>
          <a:bodyPr wrap="square" lIns="0" tIns="0" rIns="0" bIns="0" rtlCol="0" anchor="t"/>
          <a:lstStyle/>
          <a:p>
            <a:pPr indent="0" marL="0">
              <a:spcAft>
                <a:spcPts val="300"/>
              </a:spcAft>
              <a:buNone/>
            </a:pPr>
            <a:r>
              <a:rPr lang="en-US" sz="1150" b="1" dirty="0">
                <a:solidFill>
                  <a:srgbClr val="2E5BD8"/>
                </a:solidFill>
                <a:latin typeface="Calibri" pitchFamily="34" charset="0"/>
                <a:ea typeface="Calibri" pitchFamily="34" charset="-122"/>
                <a:cs typeface="Calibri" pitchFamily="34" charset="-120"/>
              </a:rPr>
              <a:t>efficiency = useful energy transferred by the device ÷ total energy supplied to the device</a:t>
            </a:r>
            <a:endParaRPr lang="en-US" sz="1150" dirty="0"/>
          </a:p>
          <a:p>
            <a:pPr indent="0" marL="0">
              <a:spcAft>
                <a:spcPts val="300"/>
              </a:spcAft>
              <a:buNone/>
            </a:pPr>
            <a:r>
              <a:rPr lang="en-US" sz="1050" b="1" dirty="0">
                <a:solidFill>
                  <a:srgbClr val="C8414C"/>
                </a:solidFill>
                <a:latin typeface="Calibri" pitchFamily="34" charset="0"/>
                <a:ea typeface="Calibri" pitchFamily="34" charset="-122"/>
                <a:cs typeface="Calibri" pitchFamily="34" charset="-120"/>
              </a:rPr>
              <a:t>RECALL: you must learn this equation.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Efficiency has </a:t>
            </a:r>
            <a:r>
              <a:rPr lang="en-US" sz="1150" b="1" dirty="0">
                <a:solidFill>
                  <a:srgbClr val="262B3A"/>
                </a:solidFill>
                <a:latin typeface="Calibri" pitchFamily="34" charset="0"/>
                <a:ea typeface="Calibri" pitchFamily="34" charset="-122"/>
                <a:cs typeface="Calibri" pitchFamily="34" charset="-120"/>
              </a:rPr>
              <a:t>no unit</a:t>
            </a:r>
            <a:r>
              <a:rPr lang="en-US" sz="1150" dirty="0">
                <a:solidFill>
                  <a:srgbClr val="262B3A"/>
                </a:solidFill>
                <a:latin typeface="Calibri" pitchFamily="34" charset="0"/>
                <a:ea typeface="Calibri" pitchFamily="34" charset="-122"/>
                <a:cs typeface="Calibri" pitchFamily="34" charset="-120"/>
              </a:rPr>
              <a:t>. Multiply by 100 for a </a:t>
            </a:r>
            <a:r>
              <a:rPr lang="en-US" sz="1150" b="1" dirty="0">
                <a:solidFill>
                  <a:srgbClr val="262B3A"/>
                </a:solidFill>
                <a:latin typeface="Calibri" pitchFamily="34" charset="0"/>
                <a:ea typeface="Calibri" pitchFamily="34" charset="-122"/>
                <a:cs typeface="Calibri" pitchFamily="34" charset="-120"/>
              </a:rPr>
              <a:t>percentage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No device can be more than </a:t>
            </a:r>
            <a:r>
              <a:rPr lang="en-US" sz="1150" b="1" dirty="0">
                <a:solidFill>
                  <a:srgbClr val="262B3A"/>
                </a:solidFill>
                <a:latin typeface="Calibri" pitchFamily="34" charset="0"/>
                <a:ea typeface="Calibri" pitchFamily="34" charset="-122"/>
                <a:cs typeface="Calibri" pitchFamily="34" charset="-120"/>
              </a:rPr>
              <a:t>100%</a:t>
            </a:r>
            <a:r>
              <a:rPr lang="en-US" sz="1150" dirty="0">
                <a:solidFill>
                  <a:srgbClr val="262B3A"/>
                </a:solidFill>
                <a:latin typeface="Calibri" pitchFamily="34" charset="0"/>
                <a:ea typeface="Calibri" pitchFamily="34" charset="-122"/>
                <a:cs typeface="Calibri" pitchFamily="34" charset="-120"/>
              </a:rPr>
              <a:t> efficient (energy is conserved), and real devices are always less.</a:t>
            </a:r>
            <a:endParaRPr lang="en-US" sz="1150" dirty="0"/>
          </a:p>
        </p:txBody>
      </p:sp>
      <p:sp>
        <p:nvSpPr>
          <p:cNvPr id="36" name="Shape 3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7" name="Text 3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8" name="Text 36"/>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motor is supplied with 200 J and transfers 120 J to its kinetic store. Calculate its efficiency.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Equation   </a:t>
            </a:r>
            <a:r>
              <a:rPr lang="en-US" sz="1050" dirty="0">
                <a:solidFill>
                  <a:srgbClr val="262B3A"/>
                </a:solidFill>
                <a:latin typeface="Calibri" pitchFamily="34" charset="0"/>
                <a:ea typeface="Calibri" pitchFamily="34" charset="-122"/>
                <a:cs typeface="Calibri" pitchFamily="34" charset="-120"/>
              </a:rPr>
              <a:t>efficiency = useful energy ÷ total energy supplied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Substitute   </a:t>
            </a:r>
            <a:r>
              <a:rPr lang="en-US" sz="1050" dirty="0">
                <a:solidFill>
                  <a:srgbClr val="262B3A"/>
                </a:solidFill>
                <a:latin typeface="Calibri" pitchFamily="34" charset="0"/>
                <a:ea typeface="Calibri" pitchFamily="34" charset="-122"/>
                <a:cs typeface="Calibri" pitchFamily="34" charset="-120"/>
              </a:rPr>
              <a:t>efficiency = 120 J ÷ 200 J</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Percentage   </a:t>
            </a:r>
            <a:r>
              <a:rPr lang="en-US" sz="1050" dirty="0">
                <a:solidFill>
                  <a:srgbClr val="262B3A"/>
                </a:solidFill>
                <a:latin typeface="Calibri" pitchFamily="34" charset="0"/>
                <a:ea typeface="Calibri" pitchFamily="34" charset="-122"/>
                <a:cs typeface="Calibri" pitchFamily="34" charset="-120"/>
              </a:rPr>
              <a:t>0.6 × 100 = 60%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efficiency = 0.60 (or 60%)</a:t>
            </a:r>
            <a:endParaRPr lang="en-US" sz="1050" dirty="0"/>
          </a:p>
        </p:txBody>
      </p:sp>
      <p:sp>
        <p:nvSpPr>
          <p:cNvPr id="39" name="Shape 37"/>
          <p:cNvSpPr/>
          <p:nvPr/>
        </p:nvSpPr>
        <p:spPr>
          <a:xfrm>
            <a:off x="411480" y="5833872"/>
            <a:ext cx="11368735" cy="530352"/>
          </a:xfrm>
          <a:prstGeom prst="rect">
            <a:avLst/>
          </a:prstGeom>
          <a:solidFill>
            <a:srgbClr val="FFF4E0"/>
          </a:solidFill>
          <a:ln w="6350">
            <a:solidFill>
              <a:srgbClr val="F1D9A8"/>
            </a:solidFill>
            <a:prstDash val="solid"/>
          </a:ln>
        </p:spPr>
      </p:sp>
      <p:sp>
        <p:nvSpPr>
          <p:cNvPr id="40" name="Shape 38"/>
          <p:cNvSpPr/>
          <p:nvPr/>
        </p:nvSpPr>
        <p:spPr>
          <a:xfrm>
            <a:off x="411480" y="5833872"/>
            <a:ext cx="82296" cy="530352"/>
          </a:xfrm>
          <a:prstGeom prst="rect">
            <a:avLst/>
          </a:prstGeom>
          <a:solidFill>
            <a:srgbClr val="E39A2F"/>
          </a:solidFill>
          <a:ln w="12700">
            <a:solidFill>
              <a:srgbClr val="E39A2F"/>
            </a:solidFill>
            <a:prstDash val="solid"/>
          </a:ln>
        </p:spPr>
      </p:sp>
      <p:sp>
        <p:nvSpPr>
          <p:cNvPr id="41" name="Text 3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kettle is supplied with 2000 J; 1800 J goes to the water. Calculate the efficiency. Stretch: a 25% efficient engine is supplied with 4000 J: find the useful output.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Increasing efficiency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3.12 • reduce the wasted energy transfers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3.12  |  20</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identify the wasted transfer, then reduce it</a:t>
            </a:r>
            <a:endParaRPr lang="en-US" sz="1000" dirty="0"/>
          </a:p>
        </p:txBody>
      </p:sp>
      <p:sp>
        <p:nvSpPr>
          <p:cNvPr id="10" name="Text 8"/>
          <p:cNvSpPr/>
          <p:nvPr/>
        </p:nvSpPr>
        <p:spPr>
          <a:xfrm>
            <a:off x="640080" y="1298448"/>
            <a:ext cx="137160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Device</a:t>
            </a:r>
            <a:endParaRPr lang="en-US" sz="1100" dirty="0"/>
          </a:p>
        </p:txBody>
      </p:sp>
      <p:sp>
        <p:nvSpPr>
          <p:cNvPr id="11" name="Text 9"/>
          <p:cNvSpPr/>
          <p:nvPr/>
        </p:nvSpPr>
        <p:spPr>
          <a:xfrm>
            <a:off x="2240280" y="1298448"/>
            <a:ext cx="160020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Wasted transfer</a:t>
            </a:r>
            <a:endParaRPr lang="en-US" sz="1100" dirty="0"/>
          </a:p>
        </p:txBody>
      </p:sp>
      <p:sp>
        <p:nvSpPr>
          <p:cNvPr id="12" name="Text 10"/>
          <p:cNvSpPr/>
          <p:nvPr/>
        </p:nvSpPr>
        <p:spPr>
          <a:xfrm>
            <a:off x="4069080" y="1298448"/>
            <a:ext cx="169164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How to reduce it</a:t>
            </a:r>
            <a:endParaRPr lang="en-US" sz="1100" dirty="0"/>
          </a:p>
        </p:txBody>
      </p:sp>
      <p:sp>
        <p:nvSpPr>
          <p:cNvPr id="13" name="Shape 11"/>
          <p:cNvSpPr/>
          <p:nvPr/>
        </p:nvSpPr>
        <p:spPr>
          <a:xfrm>
            <a:off x="640080" y="1645920"/>
            <a:ext cx="1371600" cy="566928"/>
          </a:xfrm>
          <a:prstGeom prst="roundRect">
            <a:avLst>
              <a:gd name="adj" fmla="val 8065"/>
            </a:avLst>
          </a:prstGeom>
          <a:solidFill>
            <a:srgbClr val="1A2340"/>
          </a:solidFill>
          <a:ln/>
        </p:spPr>
      </p:sp>
      <p:sp>
        <p:nvSpPr>
          <p:cNvPr id="14" name="Text 12"/>
          <p:cNvSpPr/>
          <p:nvPr/>
        </p:nvSpPr>
        <p:spPr>
          <a:xfrm>
            <a:off x="676656" y="1645920"/>
            <a:ext cx="1298448"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electric motor</a:t>
            </a:r>
            <a:endParaRPr lang="en-US" sz="1050" dirty="0"/>
          </a:p>
        </p:txBody>
      </p:sp>
      <p:sp>
        <p:nvSpPr>
          <p:cNvPr id="15" name="Shape 13"/>
          <p:cNvSpPr/>
          <p:nvPr/>
        </p:nvSpPr>
        <p:spPr>
          <a:xfrm>
            <a:off x="2029968" y="1929384"/>
            <a:ext cx="192024" cy="91"/>
          </a:xfrm>
          <a:prstGeom prst="line">
            <a:avLst/>
          </a:prstGeom>
          <a:noFill/>
          <a:ln w="19050">
            <a:solidFill>
              <a:srgbClr val="6B7385"/>
            </a:solidFill>
            <a:prstDash val="solid"/>
            <a:tailEnd type="triangle"/>
          </a:ln>
        </p:spPr>
      </p:sp>
      <p:sp>
        <p:nvSpPr>
          <p:cNvPr id="16" name="Shape 14"/>
          <p:cNvSpPr/>
          <p:nvPr/>
        </p:nvSpPr>
        <p:spPr>
          <a:xfrm>
            <a:off x="2240280" y="1645920"/>
            <a:ext cx="1600200" cy="566928"/>
          </a:xfrm>
          <a:prstGeom prst="roundRect">
            <a:avLst>
              <a:gd name="adj" fmla="val 8065"/>
            </a:avLst>
          </a:prstGeom>
          <a:solidFill>
            <a:srgbClr val="FBE3E5"/>
          </a:solidFill>
          <a:ln w="12700">
            <a:solidFill>
              <a:srgbClr val="C8414C"/>
            </a:solidFill>
            <a:prstDash val="solid"/>
          </a:ln>
        </p:spPr>
      </p:sp>
      <p:sp>
        <p:nvSpPr>
          <p:cNvPr id="17" name="Text 15"/>
          <p:cNvSpPr/>
          <p:nvPr/>
        </p:nvSpPr>
        <p:spPr>
          <a:xfrm>
            <a:off x="2276856" y="1645920"/>
            <a:ext cx="1527048" cy="56692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friction heats moving parts</a:t>
            </a:r>
            <a:endParaRPr lang="en-US" sz="1000" dirty="0"/>
          </a:p>
        </p:txBody>
      </p:sp>
      <p:sp>
        <p:nvSpPr>
          <p:cNvPr id="18" name="Shape 16"/>
          <p:cNvSpPr/>
          <p:nvPr/>
        </p:nvSpPr>
        <p:spPr>
          <a:xfrm>
            <a:off x="3858768" y="1929384"/>
            <a:ext cx="192024" cy="91"/>
          </a:xfrm>
          <a:prstGeom prst="line">
            <a:avLst/>
          </a:prstGeom>
          <a:noFill/>
          <a:ln w="19050">
            <a:solidFill>
              <a:srgbClr val="6B7385"/>
            </a:solidFill>
            <a:prstDash val="solid"/>
            <a:tailEnd type="triangle"/>
          </a:ln>
        </p:spPr>
      </p:sp>
      <p:sp>
        <p:nvSpPr>
          <p:cNvPr id="19" name="Shape 17"/>
          <p:cNvSpPr/>
          <p:nvPr/>
        </p:nvSpPr>
        <p:spPr>
          <a:xfrm>
            <a:off x="4069080" y="1645920"/>
            <a:ext cx="1691640" cy="566928"/>
          </a:xfrm>
          <a:prstGeom prst="roundRect">
            <a:avLst>
              <a:gd name="adj" fmla="val 8065"/>
            </a:avLst>
          </a:prstGeom>
          <a:solidFill>
            <a:srgbClr val="E3F3EA"/>
          </a:solidFill>
          <a:ln w="12700">
            <a:solidFill>
              <a:srgbClr val="2E8B57"/>
            </a:solidFill>
            <a:prstDash val="solid"/>
          </a:ln>
        </p:spPr>
      </p:sp>
      <p:sp>
        <p:nvSpPr>
          <p:cNvPr id="20" name="Text 18"/>
          <p:cNvSpPr/>
          <p:nvPr/>
        </p:nvSpPr>
        <p:spPr>
          <a:xfrm>
            <a:off x="4105656" y="1645920"/>
            <a:ext cx="1618488" cy="566928"/>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lubricate the bearings</a:t>
            </a:r>
            <a:endParaRPr lang="en-US" sz="1000" dirty="0"/>
          </a:p>
        </p:txBody>
      </p:sp>
      <p:sp>
        <p:nvSpPr>
          <p:cNvPr id="21" name="Shape 19"/>
          <p:cNvSpPr/>
          <p:nvPr/>
        </p:nvSpPr>
        <p:spPr>
          <a:xfrm>
            <a:off x="640080" y="2377440"/>
            <a:ext cx="1371600" cy="566928"/>
          </a:xfrm>
          <a:prstGeom prst="roundRect">
            <a:avLst>
              <a:gd name="adj" fmla="val 8065"/>
            </a:avLst>
          </a:prstGeom>
          <a:solidFill>
            <a:srgbClr val="1A2340"/>
          </a:solidFill>
          <a:ln/>
        </p:spPr>
      </p:sp>
      <p:sp>
        <p:nvSpPr>
          <p:cNvPr id="22" name="Text 20"/>
          <p:cNvSpPr/>
          <p:nvPr/>
        </p:nvSpPr>
        <p:spPr>
          <a:xfrm>
            <a:off x="676656" y="2377440"/>
            <a:ext cx="1298448"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car</a:t>
            </a:r>
            <a:endParaRPr lang="en-US" sz="1050" dirty="0"/>
          </a:p>
        </p:txBody>
      </p:sp>
      <p:sp>
        <p:nvSpPr>
          <p:cNvPr id="23" name="Shape 21"/>
          <p:cNvSpPr/>
          <p:nvPr/>
        </p:nvSpPr>
        <p:spPr>
          <a:xfrm>
            <a:off x="2029968" y="2660904"/>
            <a:ext cx="192024" cy="91"/>
          </a:xfrm>
          <a:prstGeom prst="line">
            <a:avLst/>
          </a:prstGeom>
          <a:noFill/>
          <a:ln w="19050">
            <a:solidFill>
              <a:srgbClr val="6B7385"/>
            </a:solidFill>
            <a:prstDash val="solid"/>
            <a:tailEnd type="triangle"/>
          </a:ln>
        </p:spPr>
      </p:sp>
      <p:sp>
        <p:nvSpPr>
          <p:cNvPr id="24" name="Shape 22"/>
          <p:cNvSpPr/>
          <p:nvPr/>
        </p:nvSpPr>
        <p:spPr>
          <a:xfrm>
            <a:off x="2240280" y="2377440"/>
            <a:ext cx="1600200" cy="566928"/>
          </a:xfrm>
          <a:prstGeom prst="roundRect">
            <a:avLst>
              <a:gd name="adj" fmla="val 8065"/>
            </a:avLst>
          </a:prstGeom>
          <a:solidFill>
            <a:srgbClr val="FBE3E5"/>
          </a:solidFill>
          <a:ln w="12700">
            <a:solidFill>
              <a:srgbClr val="C8414C"/>
            </a:solidFill>
            <a:prstDash val="solid"/>
          </a:ln>
        </p:spPr>
      </p:sp>
      <p:sp>
        <p:nvSpPr>
          <p:cNvPr id="25" name="Text 23"/>
          <p:cNvSpPr/>
          <p:nvPr/>
        </p:nvSpPr>
        <p:spPr>
          <a:xfrm>
            <a:off x="2276856" y="2377440"/>
            <a:ext cx="1527048" cy="56692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air resistance and engine heating</a:t>
            </a:r>
            <a:endParaRPr lang="en-US" sz="1000" dirty="0"/>
          </a:p>
        </p:txBody>
      </p:sp>
      <p:sp>
        <p:nvSpPr>
          <p:cNvPr id="26" name="Shape 24"/>
          <p:cNvSpPr/>
          <p:nvPr/>
        </p:nvSpPr>
        <p:spPr>
          <a:xfrm>
            <a:off x="3858768" y="2660904"/>
            <a:ext cx="192024" cy="91"/>
          </a:xfrm>
          <a:prstGeom prst="line">
            <a:avLst/>
          </a:prstGeom>
          <a:noFill/>
          <a:ln w="19050">
            <a:solidFill>
              <a:srgbClr val="6B7385"/>
            </a:solidFill>
            <a:prstDash val="solid"/>
            <a:tailEnd type="triangle"/>
          </a:ln>
        </p:spPr>
      </p:sp>
      <p:sp>
        <p:nvSpPr>
          <p:cNvPr id="27" name="Shape 25"/>
          <p:cNvSpPr/>
          <p:nvPr/>
        </p:nvSpPr>
        <p:spPr>
          <a:xfrm>
            <a:off x="4069080" y="2377440"/>
            <a:ext cx="1691640" cy="566928"/>
          </a:xfrm>
          <a:prstGeom prst="roundRect">
            <a:avLst>
              <a:gd name="adj" fmla="val 8065"/>
            </a:avLst>
          </a:prstGeom>
          <a:solidFill>
            <a:srgbClr val="E3F3EA"/>
          </a:solidFill>
          <a:ln w="12700">
            <a:solidFill>
              <a:srgbClr val="2E8B57"/>
            </a:solidFill>
            <a:prstDash val="solid"/>
          </a:ln>
        </p:spPr>
      </p:sp>
      <p:sp>
        <p:nvSpPr>
          <p:cNvPr id="28" name="Text 26"/>
          <p:cNvSpPr/>
          <p:nvPr/>
        </p:nvSpPr>
        <p:spPr>
          <a:xfrm>
            <a:off x="4105656" y="2377440"/>
            <a:ext cx="1618488" cy="566928"/>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streamline the body; tune the engine</a:t>
            </a:r>
            <a:endParaRPr lang="en-US" sz="1000" dirty="0"/>
          </a:p>
        </p:txBody>
      </p:sp>
      <p:sp>
        <p:nvSpPr>
          <p:cNvPr id="29" name="Shape 27"/>
          <p:cNvSpPr/>
          <p:nvPr/>
        </p:nvSpPr>
        <p:spPr>
          <a:xfrm>
            <a:off x="640080" y="3108960"/>
            <a:ext cx="1371600" cy="566928"/>
          </a:xfrm>
          <a:prstGeom prst="roundRect">
            <a:avLst>
              <a:gd name="adj" fmla="val 8065"/>
            </a:avLst>
          </a:prstGeom>
          <a:solidFill>
            <a:srgbClr val="1A2340"/>
          </a:solidFill>
          <a:ln/>
        </p:spPr>
      </p:sp>
      <p:sp>
        <p:nvSpPr>
          <p:cNvPr id="30" name="Text 28"/>
          <p:cNvSpPr/>
          <p:nvPr/>
        </p:nvSpPr>
        <p:spPr>
          <a:xfrm>
            <a:off x="676656" y="3108960"/>
            <a:ext cx="1298448"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kettle</a:t>
            </a:r>
            <a:endParaRPr lang="en-US" sz="1050" dirty="0"/>
          </a:p>
        </p:txBody>
      </p:sp>
      <p:sp>
        <p:nvSpPr>
          <p:cNvPr id="31" name="Shape 29"/>
          <p:cNvSpPr/>
          <p:nvPr/>
        </p:nvSpPr>
        <p:spPr>
          <a:xfrm>
            <a:off x="2029968" y="3392424"/>
            <a:ext cx="192024" cy="91"/>
          </a:xfrm>
          <a:prstGeom prst="line">
            <a:avLst/>
          </a:prstGeom>
          <a:noFill/>
          <a:ln w="19050">
            <a:solidFill>
              <a:srgbClr val="6B7385"/>
            </a:solidFill>
            <a:prstDash val="solid"/>
            <a:tailEnd type="triangle"/>
          </a:ln>
        </p:spPr>
      </p:sp>
      <p:sp>
        <p:nvSpPr>
          <p:cNvPr id="32" name="Shape 30"/>
          <p:cNvSpPr/>
          <p:nvPr/>
        </p:nvSpPr>
        <p:spPr>
          <a:xfrm>
            <a:off x="2240280" y="3108960"/>
            <a:ext cx="1600200" cy="566928"/>
          </a:xfrm>
          <a:prstGeom prst="roundRect">
            <a:avLst>
              <a:gd name="adj" fmla="val 8065"/>
            </a:avLst>
          </a:prstGeom>
          <a:solidFill>
            <a:srgbClr val="FBE3E5"/>
          </a:solidFill>
          <a:ln w="12700">
            <a:solidFill>
              <a:srgbClr val="C8414C"/>
            </a:solidFill>
            <a:prstDash val="solid"/>
          </a:ln>
        </p:spPr>
      </p:sp>
      <p:sp>
        <p:nvSpPr>
          <p:cNvPr id="33" name="Text 31"/>
          <p:cNvSpPr/>
          <p:nvPr/>
        </p:nvSpPr>
        <p:spPr>
          <a:xfrm>
            <a:off x="2276856" y="3108960"/>
            <a:ext cx="1527048" cy="56692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heating the kettle body and air</a:t>
            </a:r>
            <a:endParaRPr lang="en-US" sz="1000" dirty="0"/>
          </a:p>
        </p:txBody>
      </p:sp>
      <p:sp>
        <p:nvSpPr>
          <p:cNvPr id="34" name="Shape 32"/>
          <p:cNvSpPr/>
          <p:nvPr/>
        </p:nvSpPr>
        <p:spPr>
          <a:xfrm>
            <a:off x="3858768" y="3392424"/>
            <a:ext cx="192024" cy="91"/>
          </a:xfrm>
          <a:prstGeom prst="line">
            <a:avLst/>
          </a:prstGeom>
          <a:noFill/>
          <a:ln w="19050">
            <a:solidFill>
              <a:srgbClr val="6B7385"/>
            </a:solidFill>
            <a:prstDash val="solid"/>
            <a:tailEnd type="triangle"/>
          </a:ln>
        </p:spPr>
      </p:sp>
      <p:sp>
        <p:nvSpPr>
          <p:cNvPr id="35" name="Shape 33"/>
          <p:cNvSpPr/>
          <p:nvPr/>
        </p:nvSpPr>
        <p:spPr>
          <a:xfrm>
            <a:off x="4069080" y="3108960"/>
            <a:ext cx="1691640" cy="566928"/>
          </a:xfrm>
          <a:prstGeom prst="roundRect">
            <a:avLst>
              <a:gd name="adj" fmla="val 8065"/>
            </a:avLst>
          </a:prstGeom>
          <a:solidFill>
            <a:srgbClr val="E3F3EA"/>
          </a:solidFill>
          <a:ln w="12700">
            <a:solidFill>
              <a:srgbClr val="2E8B57"/>
            </a:solidFill>
            <a:prstDash val="solid"/>
          </a:ln>
        </p:spPr>
      </p:sp>
      <p:sp>
        <p:nvSpPr>
          <p:cNvPr id="36" name="Text 34"/>
          <p:cNvSpPr/>
          <p:nvPr/>
        </p:nvSpPr>
        <p:spPr>
          <a:xfrm>
            <a:off x="4105656" y="3108960"/>
            <a:ext cx="1618488" cy="566928"/>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insulate the kettle walls</a:t>
            </a:r>
            <a:endParaRPr lang="en-US" sz="1000" dirty="0"/>
          </a:p>
        </p:txBody>
      </p:sp>
      <p:sp>
        <p:nvSpPr>
          <p:cNvPr id="37" name="Shape 35"/>
          <p:cNvSpPr/>
          <p:nvPr/>
        </p:nvSpPr>
        <p:spPr>
          <a:xfrm>
            <a:off x="640080" y="3840480"/>
            <a:ext cx="1371600" cy="566928"/>
          </a:xfrm>
          <a:prstGeom prst="roundRect">
            <a:avLst>
              <a:gd name="adj" fmla="val 8065"/>
            </a:avLst>
          </a:prstGeom>
          <a:solidFill>
            <a:srgbClr val="1A2340"/>
          </a:solidFill>
          <a:ln/>
        </p:spPr>
      </p:sp>
      <p:sp>
        <p:nvSpPr>
          <p:cNvPr id="38" name="Text 36"/>
          <p:cNvSpPr/>
          <p:nvPr/>
        </p:nvSpPr>
        <p:spPr>
          <a:xfrm>
            <a:off x="676656" y="3840480"/>
            <a:ext cx="1298448"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lighting</a:t>
            </a:r>
            <a:endParaRPr lang="en-US" sz="1050" dirty="0"/>
          </a:p>
        </p:txBody>
      </p:sp>
      <p:sp>
        <p:nvSpPr>
          <p:cNvPr id="39" name="Shape 37"/>
          <p:cNvSpPr/>
          <p:nvPr/>
        </p:nvSpPr>
        <p:spPr>
          <a:xfrm>
            <a:off x="2029968" y="4123944"/>
            <a:ext cx="192024" cy="91"/>
          </a:xfrm>
          <a:prstGeom prst="line">
            <a:avLst/>
          </a:prstGeom>
          <a:noFill/>
          <a:ln w="19050">
            <a:solidFill>
              <a:srgbClr val="6B7385"/>
            </a:solidFill>
            <a:prstDash val="solid"/>
            <a:tailEnd type="triangle"/>
          </a:ln>
        </p:spPr>
      </p:sp>
      <p:sp>
        <p:nvSpPr>
          <p:cNvPr id="40" name="Shape 38"/>
          <p:cNvSpPr/>
          <p:nvPr/>
        </p:nvSpPr>
        <p:spPr>
          <a:xfrm>
            <a:off x="2240280" y="3840480"/>
            <a:ext cx="1600200" cy="566928"/>
          </a:xfrm>
          <a:prstGeom prst="roundRect">
            <a:avLst>
              <a:gd name="adj" fmla="val 8065"/>
            </a:avLst>
          </a:prstGeom>
          <a:solidFill>
            <a:srgbClr val="FBE3E5"/>
          </a:solidFill>
          <a:ln w="12700">
            <a:solidFill>
              <a:srgbClr val="C8414C"/>
            </a:solidFill>
            <a:prstDash val="solid"/>
          </a:ln>
        </p:spPr>
      </p:sp>
      <p:sp>
        <p:nvSpPr>
          <p:cNvPr id="41" name="Text 39"/>
          <p:cNvSpPr/>
          <p:nvPr/>
        </p:nvSpPr>
        <p:spPr>
          <a:xfrm>
            <a:off x="2276856" y="3840480"/>
            <a:ext cx="1527048" cy="56692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filament lamp heats the room</a:t>
            </a:r>
            <a:endParaRPr lang="en-US" sz="1000" dirty="0"/>
          </a:p>
        </p:txBody>
      </p:sp>
      <p:sp>
        <p:nvSpPr>
          <p:cNvPr id="42" name="Shape 40"/>
          <p:cNvSpPr/>
          <p:nvPr/>
        </p:nvSpPr>
        <p:spPr>
          <a:xfrm>
            <a:off x="3858768" y="4123944"/>
            <a:ext cx="192024" cy="91"/>
          </a:xfrm>
          <a:prstGeom prst="line">
            <a:avLst/>
          </a:prstGeom>
          <a:noFill/>
          <a:ln w="19050">
            <a:solidFill>
              <a:srgbClr val="6B7385"/>
            </a:solidFill>
            <a:prstDash val="solid"/>
            <a:tailEnd type="triangle"/>
          </a:ln>
        </p:spPr>
      </p:sp>
      <p:sp>
        <p:nvSpPr>
          <p:cNvPr id="43" name="Shape 41"/>
          <p:cNvSpPr/>
          <p:nvPr/>
        </p:nvSpPr>
        <p:spPr>
          <a:xfrm>
            <a:off x="4069080" y="3840480"/>
            <a:ext cx="1691640" cy="566928"/>
          </a:xfrm>
          <a:prstGeom prst="roundRect">
            <a:avLst>
              <a:gd name="adj" fmla="val 8065"/>
            </a:avLst>
          </a:prstGeom>
          <a:solidFill>
            <a:srgbClr val="E3F3EA"/>
          </a:solidFill>
          <a:ln w="12700">
            <a:solidFill>
              <a:srgbClr val="2E8B57"/>
            </a:solidFill>
            <a:prstDash val="solid"/>
          </a:ln>
        </p:spPr>
      </p:sp>
      <p:sp>
        <p:nvSpPr>
          <p:cNvPr id="44" name="Text 42"/>
          <p:cNvSpPr/>
          <p:nvPr/>
        </p:nvSpPr>
        <p:spPr>
          <a:xfrm>
            <a:off x="4105656" y="3840480"/>
            <a:ext cx="1618488" cy="566928"/>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replace with LED lamps</a:t>
            </a:r>
            <a:endParaRPr lang="en-US" sz="1000" dirty="0"/>
          </a:p>
        </p:txBody>
      </p:sp>
      <p:sp>
        <p:nvSpPr>
          <p:cNvPr id="45" name="Shape 43"/>
          <p:cNvSpPr/>
          <p:nvPr/>
        </p:nvSpPr>
        <p:spPr>
          <a:xfrm>
            <a:off x="640080" y="4572000"/>
            <a:ext cx="1371600" cy="566928"/>
          </a:xfrm>
          <a:prstGeom prst="roundRect">
            <a:avLst>
              <a:gd name="adj" fmla="val 8065"/>
            </a:avLst>
          </a:prstGeom>
          <a:solidFill>
            <a:srgbClr val="1A2340"/>
          </a:solidFill>
          <a:ln/>
        </p:spPr>
      </p:sp>
      <p:sp>
        <p:nvSpPr>
          <p:cNvPr id="46" name="Text 44"/>
          <p:cNvSpPr/>
          <p:nvPr/>
        </p:nvSpPr>
        <p:spPr>
          <a:xfrm>
            <a:off x="676656" y="4572000"/>
            <a:ext cx="1298448"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electric cables</a:t>
            </a:r>
            <a:endParaRPr lang="en-US" sz="1050" dirty="0"/>
          </a:p>
        </p:txBody>
      </p:sp>
      <p:sp>
        <p:nvSpPr>
          <p:cNvPr id="47" name="Shape 45"/>
          <p:cNvSpPr/>
          <p:nvPr/>
        </p:nvSpPr>
        <p:spPr>
          <a:xfrm>
            <a:off x="2029968" y="4855464"/>
            <a:ext cx="192024" cy="91"/>
          </a:xfrm>
          <a:prstGeom prst="line">
            <a:avLst/>
          </a:prstGeom>
          <a:noFill/>
          <a:ln w="19050">
            <a:solidFill>
              <a:srgbClr val="6B7385"/>
            </a:solidFill>
            <a:prstDash val="solid"/>
            <a:tailEnd type="triangle"/>
          </a:ln>
        </p:spPr>
      </p:sp>
      <p:sp>
        <p:nvSpPr>
          <p:cNvPr id="48" name="Shape 46"/>
          <p:cNvSpPr/>
          <p:nvPr/>
        </p:nvSpPr>
        <p:spPr>
          <a:xfrm>
            <a:off x="2240280" y="4572000"/>
            <a:ext cx="1600200" cy="566928"/>
          </a:xfrm>
          <a:prstGeom prst="roundRect">
            <a:avLst>
              <a:gd name="adj" fmla="val 8065"/>
            </a:avLst>
          </a:prstGeom>
          <a:solidFill>
            <a:srgbClr val="FBE3E5"/>
          </a:solidFill>
          <a:ln w="12700">
            <a:solidFill>
              <a:srgbClr val="C8414C"/>
            </a:solidFill>
            <a:prstDash val="solid"/>
          </a:ln>
        </p:spPr>
      </p:sp>
      <p:sp>
        <p:nvSpPr>
          <p:cNvPr id="49" name="Text 47"/>
          <p:cNvSpPr/>
          <p:nvPr/>
        </p:nvSpPr>
        <p:spPr>
          <a:xfrm>
            <a:off x="2276856" y="4572000"/>
            <a:ext cx="1527048" cy="56692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current heats the wires</a:t>
            </a:r>
            <a:endParaRPr lang="en-US" sz="1000" dirty="0"/>
          </a:p>
        </p:txBody>
      </p:sp>
      <p:sp>
        <p:nvSpPr>
          <p:cNvPr id="50" name="Shape 48"/>
          <p:cNvSpPr/>
          <p:nvPr/>
        </p:nvSpPr>
        <p:spPr>
          <a:xfrm>
            <a:off x="3858768" y="4855464"/>
            <a:ext cx="192024" cy="91"/>
          </a:xfrm>
          <a:prstGeom prst="line">
            <a:avLst/>
          </a:prstGeom>
          <a:noFill/>
          <a:ln w="19050">
            <a:solidFill>
              <a:srgbClr val="6B7385"/>
            </a:solidFill>
            <a:prstDash val="solid"/>
            <a:tailEnd type="triangle"/>
          </a:ln>
        </p:spPr>
      </p:sp>
      <p:sp>
        <p:nvSpPr>
          <p:cNvPr id="51" name="Shape 49"/>
          <p:cNvSpPr/>
          <p:nvPr/>
        </p:nvSpPr>
        <p:spPr>
          <a:xfrm>
            <a:off x="4069080" y="4572000"/>
            <a:ext cx="1691640" cy="566928"/>
          </a:xfrm>
          <a:prstGeom prst="roundRect">
            <a:avLst>
              <a:gd name="adj" fmla="val 8065"/>
            </a:avLst>
          </a:prstGeom>
          <a:solidFill>
            <a:srgbClr val="E3F3EA"/>
          </a:solidFill>
          <a:ln w="12700">
            <a:solidFill>
              <a:srgbClr val="2E8B57"/>
            </a:solidFill>
            <a:prstDash val="solid"/>
          </a:ln>
        </p:spPr>
      </p:sp>
      <p:sp>
        <p:nvSpPr>
          <p:cNvPr id="52" name="Text 50"/>
          <p:cNvSpPr/>
          <p:nvPr/>
        </p:nvSpPr>
        <p:spPr>
          <a:xfrm>
            <a:off x="4105656" y="4572000"/>
            <a:ext cx="1618488" cy="566928"/>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use thicker, low-resistance wires</a:t>
            </a:r>
            <a:endParaRPr lang="en-US" sz="1000" dirty="0"/>
          </a:p>
        </p:txBody>
      </p:sp>
      <p:sp>
        <p:nvSpPr>
          <p:cNvPr id="53" name="Shape 51"/>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4" name="Text 5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Making devices more efficient</a:t>
            </a:r>
            <a:endParaRPr lang="en-US" sz="1300" dirty="0"/>
          </a:p>
        </p:txBody>
      </p:sp>
      <p:sp>
        <p:nvSpPr>
          <p:cNvPr id="55" name="Text 53"/>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Efficiency increases when </a:t>
            </a:r>
            <a:r>
              <a:rPr lang="en-US" sz="1150" b="1" dirty="0">
                <a:solidFill>
                  <a:srgbClr val="262B3A"/>
                </a:solidFill>
                <a:latin typeface="Calibri" pitchFamily="34" charset="0"/>
                <a:ea typeface="Calibri" pitchFamily="34" charset="-122"/>
                <a:cs typeface="Calibri" pitchFamily="34" charset="-120"/>
              </a:rPr>
              <a:t>less energy is wasted</a:t>
            </a:r>
            <a:r>
              <a:rPr lang="en-US" sz="1150" dirty="0">
                <a:solidFill>
                  <a:srgbClr val="262B3A"/>
                </a:solidFill>
                <a:latin typeface="Calibri" pitchFamily="34" charset="0"/>
                <a:ea typeface="Calibri" pitchFamily="34" charset="-122"/>
                <a:cs typeface="Calibri" pitchFamily="34" charset="-120"/>
              </a:rPr>
              <a:t>, so more of the input is transferred usefully.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First identify </a:t>
            </a:r>
            <a:r>
              <a:rPr lang="en-US" sz="1150" b="1" dirty="0">
                <a:solidFill>
                  <a:srgbClr val="262B3A"/>
                </a:solidFill>
                <a:latin typeface="Calibri" pitchFamily="34" charset="0"/>
                <a:ea typeface="Calibri" pitchFamily="34" charset="-122"/>
                <a:cs typeface="Calibri" pitchFamily="34" charset="-120"/>
              </a:rPr>
              <a:t>where</a:t>
            </a:r>
            <a:r>
              <a:rPr lang="en-US" sz="1150" dirty="0">
                <a:solidFill>
                  <a:srgbClr val="262B3A"/>
                </a:solidFill>
                <a:latin typeface="Calibri" pitchFamily="34" charset="0"/>
                <a:ea typeface="Calibri" pitchFamily="34" charset="-122"/>
                <a:cs typeface="Calibri" pitchFamily="34" charset="-120"/>
              </a:rPr>
              <a:t> energy is dissipated, then reduce that transfer: lubrication, insulation, streamlining, lower-resistance wires.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Some energy is </a:t>
            </a:r>
            <a:r>
              <a:rPr lang="en-US" sz="1150" b="1" dirty="0">
                <a:solidFill>
                  <a:srgbClr val="262B3A"/>
                </a:solidFill>
                <a:latin typeface="Calibri" pitchFamily="34" charset="0"/>
                <a:ea typeface="Calibri" pitchFamily="34" charset="-122"/>
                <a:cs typeface="Calibri" pitchFamily="34" charset="-120"/>
              </a:rPr>
              <a:t>always</a:t>
            </a:r>
            <a:r>
              <a:rPr lang="en-US" sz="1150" dirty="0">
                <a:solidFill>
                  <a:srgbClr val="262B3A"/>
                </a:solidFill>
                <a:latin typeface="Calibri" pitchFamily="34" charset="0"/>
                <a:ea typeface="Calibri" pitchFamily="34" charset="-122"/>
                <a:cs typeface="Calibri" pitchFamily="34" charset="-120"/>
              </a:rPr>
              <a:t> wasted, so efficiency is always less than 100%.</a:t>
            </a:r>
            <a:endParaRPr lang="en-US" sz="1150" dirty="0"/>
          </a:p>
        </p:txBody>
      </p:sp>
      <p:sp>
        <p:nvSpPr>
          <p:cNvPr id="56" name="Shape 54"/>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7" name="Text 55"/>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8" name="Text 56"/>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Streamlining raises a car’s efficiency from 25% to 30%. How much more useful energy is obtained from 100 kJ of fuel?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Before   </a:t>
            </a:r>
            <a:r>
              <a:rPr lang="en-US" sz="1050" dirty="0">
                <a:solidFill>
                  <a:srgbClr val="262B3A"/>
                </a:solidFill>
                <a:latin typeface="Calibri" pitchFamily="34" charset="0"/>
                <a:ea typeface="Calibri" pitchFamily="34" charset="-122"/>
                <a:cs typeface="Calibri" pitchFamily="34" charset="-120"/>
              </a:rPr>
              <a:t>useful = 0.25 × 100 kJ = 25 kJ</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After   </a:t>
            </a:r>
            <a:r>
              <a:rPr lang="en-US" sz="1050" dirty="0">
                <a:solidFill>
                  <a:srgbClr val="262B3A"/>
                </a:solidFill>
                <a:latin typeface="Calibri" pitchFamily="34" charset="0"/>
                <a:ea typeface="Calibri" pitchFamily="34" charset="-122"/>
                <a:cs typeface="Calibri" pitchFamily="34" charset="-120"/>
              </a:rPr>
              <a:t>useful = 0.30 × 100 kJ = 30 kJ</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Compare   </a:t>
            </a:r>
            <a:r>
              <a:rPr lang="en-US" sz="1050" dirty="0">
                <a:solidFill>
                  <a:srgbClr val="262B3A"/>
                </a:solidFill>
                <a:latin typeface="Calibri" pitchFamily="34" charset="0"/>
                <a:ea typeface="Calibri" pitchFamily="34" charset="-122"/>
                <a:cs typeface="Calibri" pitchFamily="34" charset="-120"/>
              </a:rPr>
              <a:t>30 kJ − 25 kJ</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5 kJ more useful energy (less fuel needed per journey)</a:t>
            </a:r>
            <a:endParaRPr lang="en-US" sz="1050" dirty="0"/>
          </a:p>
        </p:txBody>
      </p:sp>
      <p:sp>
        <p:nvSpPr>
          <p:cNvPr id="59" name="Shape 57"/>
          <p:cNvSpPr/>
          <p:nvPr/>
        </p:nvSpPr>
        <p:spPr>
          <a:xfrm>
            <a:off x="411480" y="5833872"/>
            <a:ext cx="11368735" cy="530352"/>
          </a:xfrm>
          <a:prstGeom prst="rect">
            <a:avLst/>
          </a:prstGeom>
          <a:solidFill>
            <a:srgbClr val="FFF4E0"/>
          </a:solidFill>
          <a:ln w="6350">
            <a:solidFill>
              <a:srgbClr val="F1D9A8"/>
            </a:solidFill>
            <a:prstDash val="solid"/>
          </a:ln>
        </p:spPr>
      </p:sp>
      <p:sp>
        <p:nvSpPr>
          <p:cNvPr id="60" name="Shape 58"/>
          <p:cNvSpPr/>
          <p:nvPr/>
        </p:nvSpPr>
        <p:spPr>
          <a:xfrm>
            <a:off x="411480" y="5833872"/>
            <a:ext cx="82296" cy="530352"/>
          </a:xfrm>
          <a:prstGeom prst="rect">
            <a:avLst/>
          </a:prstGeom>
          <a:solidFill>
            <a:srgbClr val="E39A2F"/>
          </a:solidFill>
          <a:ln w="12700">
            <a:solidFill>
              <a:srgbClr val="E39A2F"/>
            </a:solidFill>
            <a:prstDash val="solid"/>
          </a:ln>
        </p:spPr>
      </p:sp>
      <p:sp>
        <p:nvSpPr>
          <p:cNvPr id="61" name="Text 5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Suggest two ways of increasing the efficiency of a bicycle, and explain one of them.</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3.9–3.12 • insulation, conductivity and efficiency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21</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An electric motor is supplied with </a:t>
            </a:r>
            <a:r>
              <a:rPr lang="en-US" sz="1250" b="1" dirty="0">
                <a:solidFill>
                  <a:srgbClr val="262B3A"/>
                </a:solidFill>
                <a:latin typeface="Calibri" pitchFamily="34" charset="0"/>
                <a:ea typeface="Calibri" pitchFamily="34" charset="-122"/>
                <a:cs typeface="Calibri" pitchFamily="34" charset="-120"/>
              </a:rPr>
              <a:t>1500 J</a:t>
            </a:r>
            <a:r>
              <a:rPr lang="en-US" sz="1250" dirty="0">
                <a:solidFill>
                  <a:srgbClr val="262B3A"/>
                </a:solidFill>
                <a:latin typeface="Calibri" pitchFamily="34" charset="0"/>
                <a:ea typeface="Calibri" pitchFamily="34" charset="-122"/>
                <a:cs typeface="Calibri" pitchFamily="34" charset="-120"/>
              </a:rPr>
              <a:t>. It transfers </a:t>
            </a:r>
            <a:r>
              <a:rPr lang="en-US" sz="1250" b="1" dirty="0">
                <a:solidFill>
                  <a:srgbClr val="262B3A"/>
                </a:solidFill>
                <a:latin typeface="Calibri" pitchFamily="34" charset="0"/>
                <a:ea typeface="Calibri" pitchFamily="34" charset="-122"/>
                <a:cs typeface="Calibri" pitchFamily="34" charset="-120"/>
              </a:rPr>
              <a:t>450 J</a:t>
            </a:r>
            <a:r>
              <a:rPr lang="en-US" sz="1250" dirty="0">
                <a:solidFill>
                  <a:srgbClr val="262B3A"/>
                </a:solidFill>
                <a:latin typeface="Calibri" pitchFamily="34" charset="0"/>
                <a:ea typeface="Calibri" pitchFamily="34" charset="-122"/>
                <a:cs typeface="Calibri" pitchFamily="34" charset="-120"/>
              </a:rPr>
              <a:t> usefully. Calculate its efficiency as a </a:t>
            </a:r>
            <a:r>
              <a:rPr lang="en-US" sz="1250" b="1" dirty="0">
                <a:solidFill>
                  <a:srgbClr val="262B3A"/>
                </a:solidFill>
                <a:latin typeface="Calibri" pitchFamily="34" charset="0"/>
                <a:ea typeface="Calibri" pitchFamily="34" charset="-122"/>
                <a:cs typeface="Calibri" pitchFamily="34" charset="-120"/>
              </a:rPr>
              <a:t>percentage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House A has walls of </a:t>
            </a:r>
            <a:r>
              <a:rPr lang="en-US" sz="1250" b="1" dirty="0">
                <a:solidFill>
                  <a:srgbClr val="262B3A"/>
                </a:solidFill>
                <a:latin typeface="Calibri" pitchFamily="34" charset="0"/>
                <a:ea typeface="Calibri" pitchFamily="34" charset="-122"/>
                <a:cs typeface="Calibri" pitchFamily="34" charset="-120"/>
              </a:rPr>
              <a:t>thin brick</a:t>
            </a:r>
            <a:r>
              <a:rPr lang="en-US" sz="1250" dirty="0">
                <a:solidFill>
                  <a:srgbClr val="262B3A"/>
                </a:solidFill>
                <a:latin typeface="Calibri" pitchFamily="34" charset="0"/>
                <a:ea typeface="Calibri" pitchFamily="34" charset="-122"/>
                <a:cs typeface="Calibri" pitchFamily="34" charset="-120"/>
              </a:rPr>
              <a:t>. House B has </a:t>
            </a:r>
            <a:r>
              <a:rPr lang="en-US" sz="1250" b="1" dirty="0">
                <a:solidFill>
                  <a:srgbClr val="262B3A"/>
                </a:solidFill>
                <a:latin typeface="Calibri" pitchFamily="34" charset="0"/>
                <a:ea typeface="Calibri" pitchFamily="34" charset="-122"/>
                <a:cs typeface="Calibri" pitchFamily="34" charset="-120"/>
              </a:rPr>
              <a:t>thick</a:t>
            </a:r>
            <a:r>
              <a:rPr lang="en-US" sz="1250" dirty="0">
                <a:solidFill>
                  <a:srgbClr val="262B3A"/>
                </a:solidFill>
                <a:latin typeface="Calibri" pitchFamily="34" charset="0"/>
                <a:ea typeface="Calibri" pitchFamily="34" charset="-122"/>
                <a:cs typeface="Calibri" pitchFamily="34" charset="-120"/>
              </a:rPr>
              <a:t> walls with </a:t>
            </a:r>
            <a:r>
              <a:rPr lang="en-US" sz="1250" b="1" dirty="0">
                <a:solidFill>
                  <a:srgbClr val="262B3A"/>
                </a:solidFill>
                <a:latin typeface="Calibri" pitchFamily="34" charset="0"/>
                <a:ea typeface="Calibri" pitchFamily="34" charset="-122"/>
                <a:cs typeface="Calibri" pitchFamily="34" charset="-120"/>
              </a:rPr>
              <a:t>foam</a:t>
            </a:r>
            <a:r>
              <a:rPr lang="en-US" sz="1250" dirty="0">
                <a:solidFill>
                  <a:srgbClr val="262B3A"/>
                </a:solidFill>
                <a:latin typeface="Calibri" pitchFamily="34" charset="0"/>
                <a:ea typeface="Calibri" pitchFamily="34" charset="-122"/>
                <a:cs typeface="Calibri" pitchFamily="34" charset="-120"/>
              </a:rPr>
              <a:t> in the cavity. Explain which house cools more quickly.</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t>
            </a:r>
            <a:r>
              <a:rPr lang="en-US" sz="1250" b="1" dirty="0">
                <a:solidFill>
                  <a:srgbClr val="262B3A"/>
                </a:solidFill>
                <a:latin typeface="Calibri" pitchFamily="34" charset="0"/>
                <a:ea typeface="Calibri" pitchFamily="34" charset="-122"/>
                <a:cs typeface="Calibri" pitchFamily="34" charset="-120"/>
              </a:rPr>
              <a:t>lubrication</a:t>
            </a:r>
            <a:r>
              <a:rPr lang="en-US" sz="1250" dirty="0">
                <a:solidFill>
                  <a:srgbClr val="262B3A"/>
                </a:solidFill>
                <a:latin typeface="Calibri" pitchFamily="34" charset="0"/>
                <a:ea typeface="Calibri" pitchFamily="34" charset="-122"/>
                <a:cs typeface="Calibri" pitchFamily="34" charset="-120"/>
              </a:rPr>
              <a:t> increases the efficiency of a machine.</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Practical: comparing thermal insulators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3.9, 3.10 • suggested practical (Topic 3 has no Core Practical)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22</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identical beakers of hot water, one wrapped in each material</a:t>
            </a:r>
            <a:endParaRPr lang="en-US" sz="1000" dirty="0"/>
          </a:p>
        </p:txBody>
      </p:sp>
      <p:sp>
        <p:nvSpPr>
          <p:cNvPr id="10" name="Shape 8"/>
          <p:cNvSpPr/>
          <p:nvPr/>
        </p:nvSpPr>
        <p:spPr>
          <a:xfrm>
            <a:off x="594360" y="4480560"/>
            <a:ext cx="5212080" cy="109728"/>
          </a:xfrm>
          <a:prstGeom prst="rect">
            <a:avLst/>
          </a:prstGeom>
          <a:solidFill>
            <a:srgbClr val="C99A5B"/>
          </a:solidFill>
          <a:ln w="12700">
            <a:solidFill>
              <a:srgbClr val="8A6A3A"/>
            </a:solidFill>
            <a:prstDash val="solid"/>
          </a:ln>
        </p:spPr>
      </p:sp>
      <p:sp>
        <p:nvSpPr>
          <p:cNvPr id="11" name="Shape 9"/>
          <p:cNvSpPr/>
          <p:nvPr/>
        </p:nvSpPr>
        <p:spPr>
          <a:xfrm>
            <a:off x="813816" y="3525926"/>
            <a:ext cx="704088" cy="927202"/>
          </a:xfrm>
          <a:prstGeom prst="rect">
            <a:avLst/>
          </a:prstGeom>
          <a:solidFill>
            <a:srgbClr val="BFD9F2"/>
          </a:solidFill>
          <a:ln/>
        </p:spPr>
      </p:sp>
      <p:sp>
        <p:nvSpPr>
          <p:cNvPr id="12" name="Shape 10"/>
          <p:cNvSpPr/>
          <p:nvPr/>
        </p:nvSpPr>
        <p:spPr>
          <a:xfrm>
            <a:off x="777240" y="3154680"/>
            <a:ext cx="91" cy="1325880"/>
          </a:xfrm>
          <a:prstGeom prst="line">
            <a:avLst/>
          </a:prstGeom>
          <a:noFill/>
          <a:ln w="25400">
            <a:solidFill>
              <a:srgbClr val="1A2340"/>
            </a:solidFill>
            <a:prstDash val="solid"/>
          </a:ln>
        </p:spPr>
      </p:sp>
      <p:sp>
        <p:nvSpPr>
          <p:cNvPr id="13" name="Shape 11"/>
          <p:cNvSpPr/>
          <p:nvPr/>
        </p:nvSpPr>
        <p:spPr>
          <a:xfrm>
            <a:off x="1554480" y="3154680"/>
            <a:ext cx="91" cy="1325880"/>
          </a:xfrm>
          <a:prstGeom prst="line">
            <a:avLst/>
          </a:prstGeom>
          <a:noFill/>
          <a:ln w="25400">
            <a:solidFill>
              <a:srgbClr val="1A2340"/>
            </a:solidFill>
            <a:prstDash val="solid"/>
          </a:ln>
        </p:spPr>
      </p:sp>
      <p:sp>
        <p:nvSpPr>
          <p:cNvPr id="14" name="Shape 12"/>
          <p:cNvSpPr/>
          <p:nvPr/>
        </p:nvSpPr>
        <p:spPr>
          <a:xfrm>
            <a:off x="777240" y="4480560"/>
            <a:ext cx="777240" cy="91"/>
          </a:xfrm>
          <a:prstGeom prst="line">
            <a:avLst/>
          </a:prstGeom>
          <a:noFill/>
          <a:ln w="25400">
            <a:solidFill>
              <a:srgbClr val="1A2340"/>
            </a:solidFill>
            <a:prstDash val="solid"/>
          </a:ln>
        </p:spPr>
      </p:sp>
      <p:sp>
        <p:nvSpPr>
          <p:cNvPr id="15" name="Shape 13"/>
          <p:cNvSpPr/>
          <p:nvPr/>
        </p:nvSpPr>
        <p:spPr>
          <a:xfrm>
            <a:off x="722376" y="3063240"/>
            <a:ext cx="886968" cy="91440"/>
          </a:xfrm>
          <a:prstGeom prst="rect">
            <a:avLst/>
          </a:prstGeom>
          <a:solidFill>
            <a:srgbClr val="4A5262"/>
          </a:solidFill>
          <a:ln/>
        </p:spPr>
      </p:sp>
      <p:sp>
        <p:nvSpPr>
          <p:cNvPr id="16" name="Shape 14"/>
          <p:cNvSpPr/>
          <p:nvPr/>
        </p:nvSpPr>
        <p:spPr>
          <a:xfrm>
            <a:off x="1133856" y="2468880"/>
            <a:ext cx="64008" cy="1828800"/>
          </a:xfrm>
          <a:prstGeom prst="rect">
            <a:avLst/>
          </a:prstGeom>
          <a:solidFill>
            <a:srgbClr val="F4F6FA"/>
          </a:solidFill>
          <a:ln w="6350">
            <a:solidFill>
              <a:srgbClr val="6B7385"/>
            </a:solidFill>
            <a:prstDash val="solid"/>
          </a:ln>
        </p:spPr>
      </p:sp>
      <p:sp>
        <p:nvSpPr>
          <p:cNvPr id="17" name="Shape 15"/>
          <p:cNvSpPr/>
          <p:nvPr/>
        </p:nvSpPr>
        <p:spPr>
          <a:xfrm>
            <a:off x="1152144" y="3685032"/>
            <a:ext cx="27432" cy="596646"/>
          </a:xfrm>
          <a:prstGeom prst="rect">
            <a:avLst/>
          </a:prstGeom>
          <a:solidFill>
            <a:srgbClr val="C8414C"/>
          </a:solidFill>
          <a:ln/>
        </p:spPr>
      </p:sp>
      <p:sp>
        <p:nvSpPr>
          <p:cNvPr id="18" name="Shape 16"/>
          <p:cNvSpPr/>
          <p:nvPr/>
        </p:nvSpPr>
        <p:spPr>
          <a:xfrm>
            <a:off x="1110996" y="4251960"/>
            <a:ext cx="109728" cy="109728"/>
          </a:xfrm>
          <a:prstGeom prst="ellipse">
            <a:avLst/>
          </a:prstGeom>
          <a:solidFill>
            <a:srgbClr val="C8414C"/>
          </a:solidFill>
          <a:ln w="12700">
            <a:solidFill>
              <a:srgbClr val="C8414C"/>
            </a:solidFill>
            <a:prstDash val="solid"/>
          </a:ln>
        </p:spPr>
      </p:sp>
      <p:sp>
        <p:nvSpPr>
          <p:cNvPr id="19" name="Text 17"/>
          <p:cNvSpPr/>
          <p:nvPr/>
        </p:nvSpPr>
        <p:spPr>
          <a:xfrm>
            <a:off x="502920" y="4535424"/>
            <a:ext cx="1325880" cy="365760"/>
          </a:xfrm>
          <a:prstGeom prst="rect">
            <a:avLst/>
          </a:prstGeom>
          <a:noFill/>
          <a:ln/>
        </p:spPr>
        <p:txBody>
          <a:bodyPr wrap="square" lIns="0" tIns="0" rIns="0" bIns="0" rtlCol="0" anchor="t"/>
          <a:lstStyle/>
          <a:p>
            <a:pPr algn="ctr" indent="0" marL="0">
              <a:buNone/>
            </a:pPr>
            <a:r>
              <a:rPr lang="en-US" sz="1000" b="1" dirty="0">
                <a:solidFill>
                  <a:srgbClr val="1A2340"/>
                </a:solidFill>
                <a:latin typeface="Calibri" pitchFamily="34" charset="0"/>
                <a:ea typeface="Calibri" pitchFamily="34" charset="-122"/>
                <a:cs typeface="Calibri" pitchFamily="34" charset="-120"/>
              </a:rPr>
              <a:t>no insulation</a:t>
            </a:r>
            <a:endParaRPr lang="en-US" sz="1000" dirty="0"/>
          </a:p>
          <a:p>
            <a:pPr algn="ctr" indent="0" marL="0">
              <a:buNone/>
            </a:pPr>
            <a:r>
              <a:rPr lang="en-US" sz="1000" b="1" dirty="0">
                <a:solidFill>
                  <a:srgbClr val="1A2340"/>
                </a:solidFill>
                <a:latin typeface="Calibri" pitchFamily="34" charset="0"/>
                <a:ea typeface="Calibri" pitchFamily="34" charset="-122"/>
                <a:cs typeface="Calibri" pitchFamily="34" charset="-120"/>
              </a:rPr>
              <a:t>(control)</a:t>
            </a:r>
            <a:endParaRPr lang="en-US" sz="1000" dirty="0"/>
          </a:p>
        </p:txBody>
      </p:sp>
      <p:sp>
        <p:nvSpPr>
          <p:cNvPr id="20" name="Shape 18"/>
          <p:cNvSpPr/>
          <p:nvPr/>
        </p:nvSpPr>
        <p:spPr>
          <a:xfrm>
            <a:off x="1965960" y="3200400"/>
            <a:ext cx="960120" cy="1280160"/>
          </a:xfrm>
          <a:prstGeom prst="rect">
            <a:avLst/>
          </a:prstGeom>
          <a:solidFill>
            <a:srgbClr val="C9B79C">
              <a:alpha val="90000"/>
            </a:srgbClr>
          </a:solidFill>
          <a:ln w="9525">
            <a:solidFill>
              <a:srgbClr val="8A6A3A"/>
            </a:solidFill>
            <a:prstDash val="solid"/>
          </a:ln>
        </p:spPr>
      </p:sp>
      <p:sp>
        <p:nvSpPr>
          <p:cNvPr id="21" name="Shape 19"/>
          <p:cNvSpPr/>
          <p:nvPr/>
        </p:nvSpPr>
        <p:spPr>
          <a:xfrm>
            <a:off x="1965960" y="3413760"/>
            <a:ext cx="960120" cy="91"/>
          </a:xfrm>
          <a:prstGeom prst="line">
            <a:avLst/>
          </a:prstGeom>
          <a:noFill/>
          <a:ln w="9525">
            <a:solidFill>
              <a:srgbClr val="FFFFFF"/>
            </a:solidFill>
            <a:prstDash val="dash"/>
          </a:ln>
        </p:spPr>
      </p:sp>
      <p:sp>
        <p:nvSpPr>
          <p:cNvPr id="22" name="Shape 20"/>
          <p:cNvSpPr/>
          <p:nvPr/>
        </p:nvSpPr>
        <p:spPr>
          <a:xfrm>
            <a:off x="1965960" y="3627120"/>
            <a:ext cx="960120" cy="91"/>
          </a:xfrm>
          <a:prstGeom prst="line">
            <a:avLst/>
          </a:prstGeom>
          <a:noFill/>
          <a:ln w="9525">
            <a:solidFill>
              <a:srgbClr val="FFFFFF"/>
            </a:solidFill>
            <a:prstDash val="dash"/>
          </a:ln>
        </p:spPr>
      </p:sp>
      <p:sp>
        <p:nvSpPr>
          <p:cNvPr id="23" name="Shape 21"/>
          <p:cNvSpPr/>
          <p:nvPr/>
        </p:nvSpPr>
        <p:spPr>
          <a:xfrm>
            <a:off x="1965960" y="3840480"/>
            <a:ext cx="960120" cy="91"/>
          </a:xfrm>
          <a:prstGeom prst="line">
            <a:avLst/>
          </a:prstGeom>
          <a:noFill/>
          <a:ln w="9525">
            <a:solidFill>
              <a:srgbClr val="FFFFFF"/>
            </a:solidFill>
            <a:prstDash val="dash"/>
          </a:ln>
        </p:spPr>
      </p:sp>
      <p:sp>
        <p:nvSpPr>
          <p:cNvPr id="24" name="Shape 22"/>
          <p:cNvSpPr/>
          <p:nvPr/>
        </p:nvSpPr>
        <p:spPr>
          <a:xfrm>
            <a:off x="1965960" y="4053840"/>
            <a:ext cx="960120" cy="91"/>
          </a:xfrm>
          <a:prstGeom prst="line">
            <a:avLst/>
          </a:prstGeom>
          <a:noFill/>
          <a:ln w="9525">
            <a:solidFill>
              <a:srgbClr val="FFFFFF"/>
            </a:solidFill>
            <a:prstDash val="dash"/>
          </a:ln>
        </p:spPr>
      </p:sp>
      <p:sp>
        <p:nvSpPr>
          <p:cNvPr id="25" name="Shape 23"/>
          <p:cNvSpPr/>
          <p:nvPr/>
        </p:nvSpPr>
        <p:spPr>
          <a:xfrm>
            <a:off x="1965960" y="4267200"/>
            <a:ext cx="960120" cy="91"/>
          </a:xfrm>
          <a:prstGeom prst="line">
            <a:avLst/>
          </a:prstGeom>
          <a:noFill/>
          <a:ln w="9525">
            <a:solidFill>
              <a:srgbClr val="FFFFFF"/>
            </a:solidFill>
            <a:prstDash val="dash"/>
          </a:ln>
        </p:spPr>
      </p:sp>
      <p:sp>
        <p:nvSpPr>
          <p:cNvPr id="26" name="Shape 24"/>
          <p:cNvSpPr/>
          <p:nvPr/>
        </p:nvSpPr>
        <p:spPr>
          <a:xfrm>
            <a:off x="2093976" y="3525926"/>
            <a:ext cx="704088" cy="927202"/>
          </a:xfrm>
          <a:prstGeom prst="rect">
            <a:avLst/>
          </a:prstGeom>
          <a:solidFill>
            <a:srgbClr val="BFD9F2"/>
          </a:solidFill>
          <a:ln/>
        </p:spPr>
      </p:sp>
      <p:sp>
        <p:nvSpPr>
          <p:cNvPr id="27" name="Shape 25"/>
          <p:cNvSpPr/>
          <p:nvPr/>
        </p:nvSpPr>
        <p:spPr>
          <a:xfrm>
            <a:off x="2057400" y="3154680"/>
            <a:ext cx="91" cy="1325880"/>
          </a:xfrm>
          <a:prstGeom prst="line">
            <a:avLst/>
          </a:prstGeom>
          <a:noFill/>
          <a:ln w="25400">
            <a:solidFill>
              <a:srgbClr val="1A2340"/>
            </a:solidFill>
            <a:prstDash val="solid"/>
          </a:ln>
        </p:spPr>
      </p:sp>
      <p:sp>
        <p:nvSpPr>
          <p:cNvPr id="28" name="Shape 26"/>
          <p:cNvSpPr/>
          <p:nvPr/>
        </p:nvSpPr>
        <p:spPr>
          <a:xfrm>
            <a:off x="2834640" y="3154680"/>
            <a:ext cx="91" cy="1325880"/>
          </a:xfrm>
          <a:prstGeom prst="line">
            <a:avLst/>
          </a:prstGeom>
          <a:noFill/>
          <a:ln w="25400">
            <a:solidFill>
              <a:srgbClr val="1A2340"/>
            </a:solidFill>
            <a:prstDash val="solid"/>
          </a:ln>
        </p:spPr>
      </p:sp>
      <p:sp>
        <p:nvSpPr>
          <p:cNvPr id="29" name="Shape 27"/>
          <p:cNvSpPr/>
          <p:nvPr/>
        </p:nvSpPr>
        <p:spPr>
          <a:xfrm>
            <a:off x="2057400" y="4480560"/>
            <a:ext cx="777240" cy="91"/>
          </a:xfrm>
          <a:prstGeom prst="line">
            <a:avLst/>
          </a:prstGeom>
          <a:noFill/>
          <a:ln w="25400">
            <a:solidFill>
              <a:srgbClr val="1A2340"/>
            </a:solidFill>
            <a:prstDash val="solid"/>
          </a:ln>
        </p:spPr>
      </p:sp>
      <p:sp>
        <p:nvSpPr>
          <p:cNvPr id="30" name="Shape 28"/>
          <p:cNvSpPr/>
          <p:nvPr/>
        </p:nvSpPr>
        <p:spPr>
          <a:xfrm>
            <a:off x="2002536" y="3063240"/>
            <a:ext cx="886968" cy="91440"/>
          </a:xfrm>
          <a:prstGeom prst="rect">
            <a:avLst/>
          </a:prstGeom>
          <a:solidFill>
            <a:srgbClr val="4A5262"/>
          </a:solidFill>
          <a:ln/>
        </p:spPr>
      </p:sp>
      <p:sp>
        <p:nvSpPr>
          <p:cNvPr id="31" name="Shape 29"/>
          <p:cNvSpPr/>
          <p:nvPr/>
        </p:nvSpPr>
        <p:spPr>
          <a:xfrm>
            <a:off x="2414016" y="2468880"/>
            <a:ext cx="64008" cy="1828800"/>
          </a:xfrm>
          <a:prstGeom prst="rect">
            <a:avLst/>
          </a:prstGeom>
          <a:solidFill>
            <a:srgbClr val="F4F6FA"/>
          </a:solidFill>
          <a:ln w="6350">
            <a:solidFill>
              <a:srgbClr val="6B7385"/>
            </a:solidFill>
            <a:prstDash val="solid"/>
          </a:ln>
        </p:spPr>
      </p:sp>
      <p:sp>
        <p:nvSpPr>
          <p:cNvPr id="32" name="Shape 30"/>
          <p:cNvSpPr/>
          <p:nvPr/>
        </p:nvSpPr>
        <p:spPr>
          <a:xfrm>
            <a:off x="2432304" y="3685032"/>
            <a:ext cx="27432" cy="596646"/>
          </a:xfrm>
          <a:prstGeom prst="rect">
            <a:avLst/>
          </a:prstGeom>
          <a:solidFill>
            <a:srgbClr val="C8414C"/>
          </a:solidFill>
          <a:ln/>
        </p:spPr>
      </p:sp>
      <p:sp>
        <p:nvSpPr>
          <p:cNvPr id="33" name="Shape 31"/>
          <p:cNvSpPr/>
          <p:nvPr/>
        </p:nvSpPr>
        <p:spPr>
          <a:xfrm>
            <a:off x="2391156" y="4251960"/>
            <a:ext cx="109728" cy="109728"/>
          </a:xfrm>
          <a:prstGeom prst="ellipse">
            <a:avLst/>
          </a:prstGeom>
          <a:solidFill>
            <a:srgbClr val="C8414C"/>
          </a:solidFill>
          <a:ln w="12700">
            <a:solidFill>
              <a:srgbClr val="C8414C"/>
            </a:solidFill>
            <a:prstDash val="solid"/>
          </a:ln>
        </p:spPr>
      </p:sp>
      <p:sp>
        <p:nvSpPr>
          <p:cNvPr id="34" name="Text 32"/>
          <p:cNvSpPr/>
          <p:nvPr/>
        </p:nvSpPr>
        <p:spPr>
          <a:xfrm>
            <a:off x="1783080" y="4535424"/>
            <a:ext cx="1325880" cy="365760"/>
          </a:xfrm>
          <a:prstGeom prst="rect">
            <a:avLst/>
          </a:prstGeom>
          <a:noFill/>
          <a:ln/>
        </p:spPr>
        <p:txBody>
          <a:bodyPr wrap="square" lIns="0" tIns="0" rIns="0" bIns="0" rtlCol="0" anchor="t"/>
          <a:lstStyle/>
          <a:p>
            <a:pPr algn="ctr" indent="0" marL="0">
              <a:buNone/>
            </a:pPr>
            <a:r>
              <a:rPr lang="en-US" sz="1000" b="1" dirty="0">
                <a:solidFill>
                  <a:srgbClr val="1A2340"/>
                </a:solidFill>
                <a:latin typeface="Calibri" pitchFamily="34" charset="0"/>
                <a:ea typeface="Calibri" pitchFamily="34" charset="-122"/>
                <a:cs typeface="Calibri" pitchFamily="34" charset="-120"/>
              </a:rPr>
              <a:t>newspaper</a:t>
            </a:r>
            <a:endParaRPr lang="en-US" sz="1000" dirty="0"/>
          </a:p>
        </p:txBody>
      </p:sp>
      <p:sp>
        <p:nvSpPr>
          <p:cNvPr id="35" name="Shape 33"/>
          <p:cNvSpPr/>
          <p:nvPr/>
        </p:nvSpPr>
        <p:spPr>
          <a:xfrm>
            <a:off x="3246120" y="3200400"/>
            <a:ext cx="960120" cy="1280160"/>
          </a:xfrm>
          <a:prstGeom prst="rect">
            <a:avLst/>
          </a:prstGeom>
          <a:solidFill>
            <a:srgbClr val="BFD9F2">
              <a:alpha val="90000"/>
            </a:srgbClr>
          </a:solidFill>
          <a:ln w="9525">
            <a:solidFill>
              <a:srgbClr val="8A6A3A"/>
            </a:solidFill>
            <a:prstDash val="solid"/>
          </a:ln>
        </p:spPr>
      </p:sp>
      <p:sp>
        <p:nvSpPr>
          <p:cNvPr id="36" name="Shape 34"/>
          <p:cNvSpPr/>
          <p:nvPr/>
        </p:nvSpPr>
        <p:spPr>
          <a:xfrm>
            <a:off x="3246120" y="3413760"/>
            <a:ext cx="960120" cy="91"/>
          </a:xfrm>
          <a:prstGeom prst="line">
            <a:avLst/>
          </a:prstGeom>
          <a:noFill/>
          <a:ln w="9525">
            <a:solidFill>
              <a:srgbClr val="FFFFFF"/>
            </a:solidFill>
            <a:prstDash val="dash"/>
          </a:ln>
        </p:spPr>
      </p:sp>
      <p:sp>
        <p:nvSpPr>
          <p:cNvPr id="37" name="Shape 35"/>
          <p:cNvSpPr/>
          <p:nvPr/>
        </p:nvSpPr>
        <p:spPr>
          <a:xfrm>
            <a:off x="3246120" y="3627120"/>
            <a:ext cx="960120" cy="91"/>
          </a:xfrm>
          <a:prstGeom prst="line">
            <a:avLst/>
          </a:prstGeom>
          <a:noFill/>
          <a:ln w="9525">
            <a:solidFill>
              <a:srgbClr val="FFFFFF"/>
            </a:solidFill>
            <a:prstDash val="dash"/>
          </a:ln>
        </p:spPr>
      </p:sp>
      <p:sp>
        <p:nvSpPr>
          <p:cNvPr id="38" name="Shape 36"/>
          <p:cNvSpPr/>
          <p:nvPr/>
        </p:nvSpPr>
        <p:spPr>
          <a:xfrm>
            <a:off x="3246120" y="3840480"/>
            <a:ext cx="960120" cy="91"/>
          </a:xfrm>
          <a:prstGeom prst="line">
            <a:avLst/>
          </a:prstGeom>
          <a:noFill/>
          <a:ln w="9525">
            <a:solidFill>
              <a:srgbClr val="FFFFFF"/>
            </a:solidFill>
            <a:prstDash val="dash"/>
          </a:ln>
        </p:spPr>
      </p:sp>
      <p:sp>
        <p:nvSpPr>
          <p:cNvPr id="39" name="Shape 37"/>
          <p:cNvSpPr/>
          <p:nvPr/>
        </p:nvSpPr>
        <p:spPr>
          <a:xfrm>
            <a:off x="3246120" y="4053840"/>
            <a:ext cx="960120" cy="91"/>
          </a:xfrm>
          <a:prstGeom prst="line">
            <a:avLst/>
          </a:prstGeom>
          <a:noFill/>
          <a:ln w="9525">
            <a:solidFill>
              <a:srgbClr val="FFFFFF"/>
            </a:solidFill>
            <a:prstDash val="dash"/>
          </a:ln>
        </p:spPr>
      </p:sp>
      <p:sp>
        <p:nvSpPr>
          <p:cNvPr id="40" name="Shape 38"/>
          <p:cNvSpPr/>
          <p:nvPr/>
        </p:nvSpPr>
        <p:spPr>
          <a:xfrm>
            <a:off x="3246120" y="4267200"/>
            <a:ext cx="960120" cy="91"/>
          </a:xfrm>
          <a:prstGeom prst="line">
            <a:avLst/>
          </a:prstGeom>
          <a:noFill/>
          <a:ln w="9525">
            <a:solidFill>
              <a:srgbClr val="FFFFFF"/>
            </a:solidFill>
            <a:prstDash val="dash"/>
          </a:ln>
        </p:spPr>
      </p:sp>
      <p:sp>
        <p:nvSpPr>
          <p:cNvPr id="41" name="Shape 39"/>
          <p:cNvSpPr/>
          <p:nvPr/>
        </p:nvSpPr>
        <p:spPr>
          <a:xfrm>
            <a:off x="3374136" y="3525926"/>
            <a:ext cx="704088" cy="927202"/>
          </a:xfrm>
          <a:prstGeom prst="rect">
            <a:avLst/>
          </a:prstGeom>
          <a:solidFill>
            <a:srgbClr val="BFD9F2"/>
          </a:solidFill>
          <a:ln/>
        </p:spPr>
      </p:sp>
      <p:sp>
        <p:nvSpPr>
          <p:cNvPr id="42" name="Shape 40"/>
          <p:cNvSpPr/>
          <p:nvPr/>
        </p:nvSpPr>
        <p:spPr>
          <a:xfrm>
            <a:off x="3337560" y="3154680"/>
            <a:ext cx="91" cy="1325880"/>
          </a:xfrm>
          <a:prstGeom prst="line">
            <a:avLst/>
          </a:prstGeom>
          <a:noFill/>
          <a:ln w="25400">
            <a:solidFill>
              <a:srgbClr val="1A2340"/>
            </a:solidFill>
            <a:prstDash val="solid"/>
          </a:ln>
        </p:spPr>
      </p:sp>
      <p:sp>
        <p:nvSpPr>
          <p:cNvPr id="43" name="Shape 41"/>
          <p:cNvSpPr/>
          <p:nvPr/>
        </p:nvSpPr>
        <p:spPr>
          <a:xfrm>
            <a:off x="4114800" y="3154680"/>
            <a:ext cx="91" cy="1325880"/>
          </a:xfrm>
          <a:prstGeom prst="line">
            <a:avLst/>
          </a:prstGeom>
          <a:noFill/>
          <a:ln w="25400">
            <a:solidFill>
              <a:srgbClr val="1A2340"/>
            </a:solidFill>
            <a:prstDash val="solid"/>
          </a:ln>
        </p:spPr>
      </p:sp>
      <p:sp>
        <p:nvSpPr>
          <p:cNvPr id="44" name="Shape 42"/>
          <p:cNvSpPr/>
          <p:nvPr/>
        </p:nvSpPr>
        <p:spPr>
          <a:xfrm>
            <a:off x="3337560" y="4480560"/>
            <a:ext cx="777240" cy="91"/>
          </a:xfrm>
          <a:prstGeom prst="line">
            <a:avLst/>
          </a:prstGeom>
          <a:noFill/>
          <a:ln w="25400">
            <a:solidFill>
              <a:srgbClr val="1A2340"/>
            </a:solidFill>
            <a:prstDash val="solid"/>
          </a:ln>
        </p:spPr>
      </p:sp>
      <p:sp>
        <p:nvSpPr>
          <p:cNvPr id="45" name="Shape 43"/>
          <p:cNvSpPr/>
          <p:nvPr/>
        </p:nvSpPr>
        <p:spPr>
          <a:xfrm>
            <a:off x="3282696" y="3063240"/>
            <a:ext cx="886968" cy="91440"/>
          </a:xfrm>
          <a:prstGeom prst="rect">
            <a:avLst/>
          </a:prstGeom>
          <a:solidFill>
            <a:srgbClr val="4A5262"/>
          </a:solidFill>
          <a:ln/>
        </p:spPr>
      </p:sp>
      <p:sp>
        <p:nvSpPr>
          <p:cNvPr id="46" name="Shape 44"/>
          <p:cNvSpPr/>
          <p:nvPr/>
        </p:nvSpPr>
        <p:spPr>
          <a:xfrm>
            <a:off x="3694176" y="2468880"/>
            <a:ext cx="64008" cy="1828800"/>
          </a:xfrm>
          <a:prstGeom prst="rect">
            <a:avLst/>
          </a:prstGeom>
          <a:solidFill>
            <a:srgbClr val="F4F6FA"/>
          </a:solidFill>
          <a:ln w="6350">
            <a:solidFill>
              <a:srgbClr val="6B7385"/>
            </a:solidFill>
            <a:prstDash val="solid"/>
          </a:ln>
        </p:spPr>
      </p:sp>
      <p:sp>
        <p:nvSpPr>
          <p:cNvPr id="47" name="Shape 45"/>
          <p:cNvSpPr/>
          <p:nvPr/>
        </p:nvSpPr>
        <p:spPr>
          <a:xfrm>
            <a:off x="3712464" y="3685032"/>
            <a:ext cx="27432" cy="596646"/>
          </a:xfrm>
          <a:prstGeom prst="rect">
            <a:avLst/>
          </a:prstGeom>
          <a:solidFill>
            <a:srgbClr val="C8414C"/>
          </a:solidFill>
          <a:ln/>
        </p:spPr>
      </p:sp>
      <p:sp>
        <p:nvSpPr>
          <p:cNvPr id="48" name="Shape 46"/>
          <p:cNvSpPr/>
          <p:nvPr/>
        </p:nvSpPr>
        <p:spPr>
          <a:xfrm>
            <a:off x="3671316" y="4251960"/>
            <a:ext cx="109728" cy="109728"/>
          </a:xfrm>
          <a:prstGeom prst="ellipse">
            <a:avLst/>
          </a:prstGeom>
          <a:solidFill>
            <a:srgbClr val="C8414C"/>
          </a:solidFill>
          <a:ln w="12700">
            <a:solidFill>
              <a:srgbClr val="C8414C"/>
            </a:solidFill>
            <a:prstDash val="solid"/>
          </a:ln>
        </p:spPr>
      </p:sp>
      <p:sp>
        <p:nvSpPr>
          <p:cNvPr id="49" name="Text 47"/>
          <p:cNvSpPr/>
          <p:nvPr/>
        </p:nvSpPr>
        <p:spPr>
          <a:xfrm>
            <a:off x="3063240" y="4535424"/>
            <a:ext cx="1325880" cy="365760"/>
          </a:xfrm>
          <a:prstGeom prst="rect">
            <a:avLst/>
          </a:prstGeom>
          <a:noFill/>
          <a:ln/>
        </p:spPr>
        <p:txBody>
          <a:bodyPr wrap="square" lIns="0" tIns="0" rIns="0" bIns="0" rtlCol="0" anchor="t"/>
          <a:lstStyle/>
          <a:p>
            <a:pPr algn="ctr" indent="0" marL="0">
              <a:buNone/>
            </a:pPr>
            <a:r>
              <a:rPr lang="en-US" sz="1000" b="1" dirty="0">
                <a:solidFill>
                  <a:srgbClr val="1A2340"/>
                </a:solidFill>
                <a:latin typeface="Calibri" pitchFamily="34" charset="0"/>
                <a:ea typeface="Calibri" pitchFamily="34" charset="-122"/>
                <a:cs typeface="Calibri" pitchFamily="34" charset="-120"/>
              </a:rPr>
              <a:t>bubble wrap</a:t>
            </a:r>
            <a:endParaRPr lang="en-US" sz="1000" dirty="0"/>
          </a:p>
        </p:txBody>
      </p:sp>
      <p:sp>
        <p:nvSpPr>
          <p:cNvPr id="50" name="Shape 48"/>
          <p:cNvSpPr/>
          <p:nvPr/>
        </p:nvSpPr>
        <p:spPr>
          <a:xfrm>
            <a:off x="4526280" y="3200400"/>
            <a:ext cx="960120" cy="1280160"/>
          </a:xfrm>
          <a:prstGeom prst="rect">
            <a:avLst/>
          </a:prstGeom>
          <a:solidFill>
            <a:srgbClr val="F4F1EA">
              <a:alpha val="90000"/>
            </a:srgbClr>
          </a:solidFill>
          <a:ln w="9525">
            <a:solidFill>
              <a:srgbClr val="8A6A3A"/>
            </a:solidFill>
            <a:prstDash val="solid"/>
          </a:ln>
        </p:spPr>
      </p:sp>
      <p:sp>
        <p:nvSpPr>
          <p:cNvPr id="51" name="Shape 49"/>
          <p:cNvSpPr/>
          <p:nvPr/>
        </p:nvSpPr>
        <p:spPr>
          <a:xfrm>
            <a:off x="4526280" y="3413760"/>
            <a:ext cx="960120" cy="91"/>
          </a:xfrm>
          <a:prstGeom prst="line">
            <a:avLst/>
          </a:prstGeom>
          <a:noFill/>
          <a:ln w="9525">
            <a:solidFill>
              <a:srgbClr val="FFFFFF"/>
            </a:solidFill>
            <a:prstDash val="dash"/>
          </a:ln>
        </p:spPr>
      </p:sp>
      <p:sp>
        <p:nvSpPr>
          <p:cNvPr id="52" name="Shape 50"/>
          <p:cNvSpPr/>
          <p:nvPr/>
        </p:nvSpPr>
        <p:spPr>
          <a:xfrm>
            <a:off x="4526280" y="3627120"/>
            <a:ext cx="960120" cy="91"/>
          </a:xfrm>
          <a:prstGeom prst="line">
            <a:avLst/>
          </a:prstGeom>
          <a:noFill/>
          <a:ln w="9525">
            <a:solidFill>
              <a:srgbClr val="FFFFFF"/>
            </a:solidFill>
            <a:prstDash val="dash"/>
          </a:ln>
        </p:spPr>
      </p:sp>
      <p:sp>
        <p:nvSpPr>
          <p:cNvPr id="53" name="Shape 51"/>
          <p:cNvSpPr/>
          <p:nvPr/>
        </p:nvSpPr>
        <p:spPr>
          <a:xfrm>
            <a:off x="4526280" y="3840480"/>
            <a:ext cx="960120" cy="91"/>
          </a:xfrm>
          <a:prstGeom prst="line">
            <a:avLst/>
          </a:prstGeom>
          <a:noFill/>
          <a:ln w="9525">
            <a:solidFill>
              <a:srgbClr val="FFFFFF"/>
            </a:solidFill>
            <a:prstDash val="dash"/>
          </a:ln>
        </p:spPr>
      </p:sp>
      <p:sp>
        <p:nvSpPr>
          <p:cNvPr id="54" name="Shape 52"/>
          <p:cNvSpPr/>
          <p:nvPr/>
        </p:nvSpPr>
        <p:spPr>
          <a:xfrm>
            <a:off x="4526280" y="4053840"/>
            <a:ext cx="960120" cy="91"/>
          </a:xfrm>
          <a:prstGeom prst="line">
            <a:avLst/>
          </a:prstGeom>
          <a:noFill/>
          <a:ln w="9525">
            <a:solidFill>
              <a:srgbClr val="FFFFFF"/>
            </a:solidFill>
            <a:prstDash val="dash"/>
          </a:ln>
        </p:spPr>
      </p:sp>
      <p:sp>
        <p:nvSpPr>
          <p:cNvPr id="55" name="Shape 53"/>
          <p:cNvSpPr/>
          <p:nvPr/>
        </p:nvSpPr>
        <p:spPr>
          <a:xfrm>
            <a:off x="4526280" y="4267200"/>
            <a:ext cx="960120" cy="91"/>
          </a:xfrm>
          <a:prstGeom prst="line">
            <a:avLst/>
          </a:prstGeom>
          <a:noFill/>
          <a:ln w="9525">
            <a:solidFill>
              <a:srgbClr val="FFFFFF"/>
            </a:solidFill>
            <a:prstDash val="dash"/>
          </a:ln>
        </p:spPr>
      </p:sp>
      <p:sp>
        <p:nvSpPr>
          <p:cNvPr id="56" name="Shape 54"/>
          <p:cNvSpPr/>
          <p:nvPr/>
        </p:nvSpPr>
        <p:spPr>
          <a:xfrm>
            <a:off x="4654296" y="3525926"/>
            <a:ext cx="704088" cy="927202"/>
          </a:xfrm>
          <a:prstGeom prst="rect">
            <a:avLst/>
          </a:prstGeom>
          <a:solidFill>
            <a:srgbClr val="BFD9F2"/>
          </a:solidFill>
          <a:ln/>
        </p:spPr>
      </p:sp>
      <p:sp>
        <p:nvSpPr>
          <p:cNvPr id="57" name="Shape 55"/>
          <p:cNvSpPr/>
          <p:nvPr/>
        </p:nvSpPr>
        <p:spPr>
          <a:xfrm>
            <a:off x="4617720" y="3154680"/>
            <a:ext cx="91" cy="1325880"/>
          </a:xfrm>
          <a:prstGeom prst="line">
            <a:avLst/>
          </a:prstGeom>
          <a:noFill/>
          <a:ln w="25400">
            <a:solidFill>
              <a:srgbClr val="1A2340"/>
            </a:solidFill>
            <a:prstDash val="solid"/>
          </a:ln>
        </p:spPr>
      </p:sp>
      <p:sp>
        <p:nvSpPr>
          <p:cNvPr id="58" name="Shape 56"/>
          <p:cNvSpPr/>
          <p:nvPr/>
        </p:nvSpPr>
        <p:spPr>
          <a:xfrm>
            <a:off x="5394960" y="3154680"/>
            <a:ext cx="91" cy="1325880"/>
          </a:xfrm>
          <a:prstGeom prst="line">
            <a:avLst/>
          </a:prstGeom>
          <a:noFill/>
          <a:ln w="25400">
            <a:solidFill>
              <a:srgbClr val="1A2340"/>
            </a:solidFill>
            <a:prstDash val="solid"/>
          </a:ln>
        </p:spPr>
      </p:sp>
      <p:sp>
        <p:nvSpPr>
          <p:cNvPr id="59" name="Shape 57"/>
          <p:cNvSpPr/>
          <p:nvPr/>
        </p:nvSpPr>
        <p:spPr>
          <a:xfrm>
            <a:off x="4617720" y="4480560"/>
            <a:ext cx="777240" cy="91"/>
          </a:xfrm>
          <a:prstGeom prst="line">
            <a:avLst/>
          </a:prstGeom>
          <a:noFill/>
          <a:ln w="25400">
            <a:solidFill>
              <a:srgbClr val="1A2340"/>
            </a:solidFill>
            <a:prstDash val="solid"/>
          </a:ln>
        </p:spPr>
      </p:sp>
      <p:sp>
        <p:nvSpPr>
          <p:cNvPr id="60" name="Shape 58"/>
          <p:cNvSpPr/>
          <p:nvPr/>
        </p:nvSpPr>
        <p:spPr>
          <a:xfrm>
            <a:off x="4562856" y="3063240"/>
            <a:ext cx="886968" cy="91440"/>
          </a:xfrm>
          <a:prstGeom prst="rect">
            <a:avLst/>
          </a:prstGeom>
          <a:solidFill>
            <a:srgbClr val="4A5262"/>
          </a:solidFill>
          <a:ln/>
        </p:spPr>
      </p:sp>
      <p:sp>
        <p:nvSpPr>
          <p:cNvPr id="61" name="Shape 59"/>
          <p:cNvSpPr/>
          <p:nvPr/>
        </p:nvSpPr>
        <p:spPr>
          <a:xfrm>
            <a:off x="4974336" y="2468880"/>
            <a:ext cx="64008" cy="1828800"/>
          </a:xfrm>
          <a:prstGeom prst="rect">
            <a:avLst/>
          </a:prstGeom>
          <a:solidFill>
            <a:srgbClr val="F4F6FA"/>
          </a:solidFill>
          <a:ln w="6350">
            <a:solidFill>
              <a:srgbClr val="6B7385"/>
            </a:solidFill>
            <a:prstDash val="solid"/>
          </a:ln>
        </p:spPr>
      </p:sp>
      <p:sp>
        <p:nvSpPr>
          <p:cNvPr id="62" name="Shape 60"/>
          <p:cNvSpPr/>
          <p:nvPr/>
        </p:nvSpPr>
        <p:spPr>
          <a:xfrm>
            <a:off x="4992624" y="3685032"/>
            <a:ext cx="27432" cy="596646"/>
          </a:xfrm>
          <a:prstGeom prst="rect">
            <a:avLst/>
          </a:prstGeom>
          <a:solidFill>
            <a:srgbClr val="C8414C"/>
          </a:solidFill>
          <a:ln/>
        </p:spPr>
      </p:sp>
      <p:sp>
        <p:nvSpPr>
          <p:cNvPr id="63" name="Shape 61"/>
          <p:cNvSpPr/>
          <p:nvPr/>
        </p:nvSpPr>
        <p:spPr>
          <a:xfrm>
            <a:off x="4951476" y="4251960"/>
            <a:ext cx="109728" cy="109728"/>
          </a:xfrm>
          <a:prstGeom prst="ellipse">
            <a:avLst/>
          </a:prstGeom>
          <a:solidFill>
            <a:srgbClr val="C8414C"/>
          </a:solidFill>
          <a:ln w="12700">
            <a:solidFill>
              <a:srgbClr val="C8414C"/>
            </a:solidFill>
            <a:prstDash val="solid"/>
          </a:ln>
        </p:spPr>
      </p:sp>
      <p:sp>
        <p:nvSpPr>
          <p:cNvPr id="64" name="Text 62"/>
          <p:cNvSpPr/>
          <p:nvPr/>
        </p:nvSpPr>
        <p:spPr>
          <a:xfrm>
            <a:off x="4343400" y="4535424"/>
            <a:ext cx="1325880" cy="365760"/>
          </a:xfrm>
          <a:prstGeom prst="rect">
            <a:avLst/>
          </a:prstGeom>
          <a:noFill/>
          <a:ln/>
        </p:spPr>
        <p:txBody>
          <a:bodyPr wrap="square" lIns="0" tIns="0" rIns="0" bIns="0" rtlCol="0" anchor="t"/>
          <a:lstStyle/>
          <a:p>
            <a:pPr algn="ctr" indent="0" marL="0">
              <a:buNone/>
            </a:pPr>
            <a:r>
              <a:rPr lang="en-US" sz="1000" b="1" dirty="0">
                <a:solidFill>
                  <a:srgbClr val="1A2340"/>
                </a:solidFill>
                <a:latin typeface="Calibri" pitchFamily="34" charset="0"/>
                <a:ea typeface="Calibri" pitchFamily="34" charset="-122"/>
                <a:cs typeface="Calibri" pitchFamily="34" charset="-120"/>
              </a:rPr>
              <a:t>cotton wool</a:t>
            </a:r>
            <a:endParaRPr lang="en-US" sz="1000" dirty="0"/>
          </a:p>
        </p:txBody>
      </p:sp>
      <p:sp>
        <p:nvSpPr>
          <p:cNvPr id="65" name="Text 63"/>
          <p:cNvSpPr/>
          <p:nvPr/>
        </p:nvSpPr>
        <p:spPr>
          <a:xfrm>
            <a:off x="640080" y="1371600"/>
            <a:ext cx="5120640" cy="256032"/>
          </a:xfrm>
          <a:prstGeom prst="rect">
            <a:avLst/>
          </a:prstGeom>
          <a:noFill/>
          <a:ln/>
        </p:spPr>
        <p:txBody>
          <a:bodyPr wrap="square" lIns="0" tIns="0" rIns="0" bIns="0" rtlCol="0" anchor="ctr"/>
          <a:lstStyle/>
          <a:p>
            <a:pPr algn="ctr" indent="0" marL="0">
              <a:buNone/>
            </a:pPr>
            <a:r>
              <a:rPr lang="en-US" sz="1050" i="1" dirty="0">
                <a:solidFill>
                  <a:srgbClr val="2E5BD8"/>
                </a:solidFill>
                <a:latin typeface="Calibri" pitchFamily="34" charset="0"/>
                <a:ea typeface="Calibri" pitchFamily="34" charset="-122"/>
                <a:cs typeface="Calibri" pitchFamily="34" charset="-120"/>
              </a:rPr>
              <a:t>thermometer through each lid</a:t>
            </a:r>
            <a:endParaRPr lang="en-US" sz="1050" dirty="0"/>
          </a:p>
        </p:txBody>
      </p:sp>
      <p:sp>
        <p:nvSpPr>
          <p:cNvPr id="66" name="Shape 64"/>
          <p:cNvSpPr/>
          <p:nvPr/>
        </p:nvSpPr>
        <p:spPr>
          <a:xfrm flipV="1">
            <a:off x="1170432" y="1828800"/>
            <a:ext cx="566928" cy="685800"/>
          </a:xfrm>
          <a:prstGeom prst="line">
            <a:avLst/>
          </a:prstGeom>
          <a:noFill/>
          <a:ln w="9525">
            <a:solidFill>
              <a:srgbClr val="6B7385"/>
            </a:solidFill>
            <a:prstDash val="solid"/>
          </a:ln>
        </p:spPr>
      </p:sp>
      <p:sp>
        <p:nvSpPr>
          <p:cNvPr id="67" name="Text 65"/>
          <p:cNvSpPr/>
          <p:nvPr/>
        </p:nvSpPr>
        <p:spPr>
          <a:xfrm>
            <a:off x="1783080" y="1700784"/>
            <a:ext cx="118872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thermometer</a:t>
            </a:r>
            <a:endParaRPr lang="en-US" sz="1050" dirty="0"/>
          </a:p>
        </p:txBody>
      </p:sp>
      <p:sp>
        <p:nvSpPr>
          <p:cNvPr id="68" name="Shape 66"/>
          <p:cNvSpPr/>
          <p:nvPr/>
        </p:nvSpPr>
        <p:spPr>
          <a:xfrm flipV="1">
            <a:off x="4937760" y="2743200"/>
            <a:ext cx="457200" cy="457200"/>
          </a:xfrm>
          <a:prstGeom prst="line">
            <a:avLst/>
          </a:prstGeom>
          <a:noFill/>
          <a:ln w="9525">
            <a:solidFill>
              <a:srgbClr val="6B7385"/>
            </a:solidFill>
            <a:prstDash val="solid"/>
          </a:ln>
        </p:spPr>
      </p:sp>
      <p:sp>
        <p:nvSpPr>
          <p:cNvPr id="69" name="Text 67"/>
          <p:cNvSpPr/>
          <p:nvPr/>
        </p:nvSpPr>
        <p:spPr>
          <a:xfrm>
            <a:off x="5440680" y="2615184"/>
            <a:ext cx="45720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lid</a:t>
            </a:r>
            <a:endParaRPr lang="en-US" sz="1050" dirty="0"/>
          </a:p>
        </p:txBody>
      </p:sp>
      <p:sp>
        <p:nvSpPr>
          <p:cNvPr id="70" name="Shape 68"/>
          <p:cNvSpPr/>
          <p:nvPr/>
        </p:nvSpPr>
        <p:spPr>
          <a:xfrm>
            <a:off x="5120640" y="4800600"/>
            <a:ext cx="457200" cy="457200"/>
          </a:xfrm>
          <a:prstGeom prst="ellipse">
            <a:avLst/>
          </a:prstGeom>
          <a:solidFill>
            <a:srgbClr val="FFFFFF"/>
          </a:solidFill>
          <a:ln w="19050">
            <a:solidFill>
              <a:srgbClr val="1A2340"/>
            </a:solidFill>
            <a:prstDash val="solid"/>
          </a:ln>
        </p:spPr>
      </p:sp>
      <p:sp>
        <p:nvSpPr>
          <p:cNvPr id="71" name="Shape 69"/>
          <p:cNvSpPr/>
          <p:nvPr/>
        </p:nvSpPr>
        <p:spPr>
          <a:xfrm>
            <a:off x="5312664" y="4709160"/>
            <a:ext cx="73152" cy="91440"/>
          </a:xfrm>
          <a:prstGeom prst="rect">
            <a:avLst/>
          </a:prstGeom>
          <a:solidFill>
            <a:srgbClr val="1A2340"/>
          </a:solidFill>
          <a:ln/>
        </p:spPr>
      </p:sp>
      <p:sp>
        <p:nvSpPr>
          <p:cNvPr id="72" name="Shape 70"/>
          <p:cNvSpPr/>
          <p:nvPr/>
        </p:nvSpPr>
        <p:spPr>
          <a:xfrm flipV="1">
            <a:off x="5349240" y="4864608"/>
            <a:ext cx="91" cy="164592"/>
          </a:xfrm>
          <a:prstGeom prst="line">
            <a:avLst/>
          </a:prstGeom>
          <a:noFill/>
          <a:ln w="19050">
            <a:solidFill>
              <a:srgbClr val="C8414C"/>
            </a:solidFill>
            <a:prstDash val="solid"/>
          </a:ln>
        </p:spPr>
      </p:sp>
      <p:sp>
        <p:nvSpPr>
          <p:cNvPr id="73" name="Text 71"/>
          <p:cNvSpPr/>
          <p:nvPr/>
        </p:nvSpPr>
        <p:spPr>
          <a:xfrm>
            <a:off x="3931920" y="4892040"/>
            <a:ext cx="1143000" cy="256032"/>
          </a:xfrm>
          <a:prstGeom prst="rect">
            <a:avLst/>
          </a:prstGeom>
          <a:noFill/>
          <a:ln/>
        </p:spPr>
        <p:txBody>
          <a:bodyPr wrap="square" lIns="0" tIns="0" rIns="0" bIns="0" rtlCol="0" anchor="ctr"/>
          <a:lstStyle/>
          <a:p>
            <a:pPr algn="r" indent="0" marL="0">
              <a:buNone/>
            </a:pPr>
            <a:r>
              <a:rPr lang="en-US" sz="1000" b="1" dirty="0">
                <a:solidFill>
                  <a:srgbClr val="262B3A"/>
                </a:solidFill>
                <a:latin typeface="Calibri" pitchFamily="34" charset="0"/>
                <a:ea typeface="Calibri" pitchFamily="34" charset="-122"/>
                <a:cs typeface="Calibri" pitchFamily="34" charset="-120"/>
              </a:rPr>
              <a:t>stopwatch</a:t>
            </a:r>
            <a:endParaRPr lang="en-US" sz="1000" dirty="0"/>
          </a:p>
        </p:txBody>
      </p:sp>
      <p:sp>
        <p:nvSpPr>
          <p:cNvPr id="74" name="Text 72"/>
          <p:cNvSpPr/>
          <p:nvPr/>
        </p:nvSpPr>
        <p:spPr>
          <a:xfrm>
            <a:off x="640080" y="4892040"/>
            <a:ext cx="3108960" cy="256032"/>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hot water from a kettle, about 80 °C</a:t>
            </a:r>
            <a:endParaRPr lang="en-US" sz="1000" dirty="0"/>
          </a:p>
        </p:txBody>
      </p:sp>
      <p:sp>
        <p:nvSpPr>
          <p:cNvPr id="75" name="Shape 7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76" name="Text 7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a:t>
            </a:r>
            <a:endParaRPr lang="en-US" sz="1300" dirty="0"/>
          </a:p>
        </p:txBody>
      </p:sp>
      <p:sp>
        <p:nvSpPr>
          <p:cNvPr id="77" name="Text 7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Wrap identical beakers in </a:t>
            </a:r>
            <a:r>
              <a:rPr lang="en-US" sz="1150" b="1" dirty="0">
                <a:solidFill>
                  <a:srgbClr val="262B3A"/>
                </a:solidFill>
                <a:latin typeface="Calibri" pitchFamily="34" charset="0"/>
                <a:ea typeface="Calibri" pitchFamily="34" charset="-122"/>
                <a:cs typeface="Calibri" pitchFamily="34" charset="-120"/>
              </a:rPr>
              <a:t>the same thickness</a:t>
            </a:r>
            <a:r>
              <a:rPr lang="en-US" sz="1150" dirty="0">
                <a:solidFill>
                  <a:srgbClr val="262B3A"/>
                </a:solidFill>
                <a:latin typeface="Calibri" pitchFamily="34" charset="0"/>
                <a:ea typeface="Calibri" pitchFamily="34" charset="-122"/>
                <a:cs typeface="Calibri" pitchFamily="34" charset="-120"/>
              </a:rPr>
              <a:t> of each material; leave one bare as a </a:t>
            </a:r>
            <a:r>
              <a:rPr lang="en-US" sz="1150" b="1" dirty="0">
                <a:solidFill>
                  <a:srgbClr val="262B3A"/>
                </a:solidFill>
                <a:latin typeface="Calibri" pitchFamily="34" charset="0"/>
                <a:ea typeface="Calibri" pitchFamily="34" charset="-122"/>
                <a:cs typeface="Calibri" pitchFamily="34" charset="-120"/>
              </a:rPr>
              <a:t>control</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Pour the </a:t>
            </a:r>
            <a:r>
              <a:rPr lang="en-US" sz="1150" b="1" dirty="0">
                <a:solidFill>
                  <a:srgbClr val="262B3A"/>
                </a:solidFill>
                <a:latin typeface="Calibri" pitchFamily="34" charset="0"/>
                <a:ea typeface="Calibri" pitchFamily="34" charset="-122"/>
                <a:cs typeface="Calibri" pitchFamily="34" charset="-120"/>
              </a:rPr>
              <a:t>same volume</a:t>
            </a:r>
            <a:r>
              <a:rPr lang="en-US" sz="1150" dirty="0">
                <a:solidFill>
                  <a:srgbClr val="262B3A"/>
                </a:solidFill>
                <a:latin typeface="Calibri" pitchFamily="34" charset="0"/>
                <a:ea typeface="Calibri" pitchFamily="34" charset="-122"/>
                <a:cs typeface="Calibri" pitchFamily="34" charset="-120"/>
              </a:rPr>
              <a:t> (e.g. 200 cm³) of hot water into each; fit a lid and thermometer.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Record the </a:t>
            </a:r>
            <a:r>
              <a:rPr lang="en-US" sz="1150" b="1" dirty="0">
                <a:solidFill>
                  <a:srgbClr val="262B3A"/>
                </a:solidFill>
                <a:latin typeface="Calibri" pitchFamily="34" charset="0"/>
                <a:ea typeface="Calibri" pitchFamily="34" charset="-122"/>
                <a:cs typeface="Calibri" pitchFamily="34" charset="-120"/>
              </a:rPr>
              <a:t>starting temperature</a:t>
            </a:r>
            <a:r>
              <a:rPr lang="en-US" sz="1150" dirty="0">
                <a:solidFill>
                  <a:srgbClr val="262B3A"/>
                </a:solidFill>
                <a:latin typeface="Calibri" pitchFamily="34" charset="0"/>
                <a:ea typeface="Calibri" pitchFamily="34" charset="-122"/>
                <a:cs typeface="Calibri" pitchFamily="34" charset="-120"/>
              </a:rPr>
              <a:t>, then the temperature every </a:t>
            </a:r>
            <a:r>
              <a:rPr lang="en-US" sz="1150" b="1" dirty="0">
                <a:solidFill>
                  <a:srgbClr val="262B3A"/>
                </a:solidFill>
                <a:latin typeface="Calibri" pitchFamily="34" charset="0"/>
                <a:ea typeface="Calibri" pitchFamily="34" charset="-122"/>
                <a:cs typeface="Calibri" pitchFamily="34" charset="-120"/>
              </a:rPr>
              <a:t>2 minutes</a:t>
            </a:r>
            <a:r>
              <a:rPr lang="en-US" sz="1150" dirty="0">
                <a:solidFill>
                  <a:srgbClr val="262B3A"/>
                </a:solidFill>
                <a:latin typeface="Calibri" pitchFamily="34" charset="0"/>
                <a:ea typeface="Calibri" pitchFamily="34" charset="-122"/>
                <a:cs typeface="Calibri" pitchFamily="34" charset="-120"/>
              </a:rPr>
              <a:t> for 20 minutes.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Calculate the </a:t>
            </a:r>
            <a:r>
              <a:rPr lang="en-US" sz="1150" b="1" dirty="0">
                <a:solidFill>
                  <a:srgbClr val="262B3A"/>
                </a:solidFill>
                <a:latin typeface="Calibri" pitchFamily="34" charset="0"/>
                <a:ea typeface="Calibri" pitchFamily="34" charset="-122"/>
                <a:cs typeface="Calibri" pitchFamily="34" charset="-120"/>
              </a:rPr>
              <a:t>temperature drop</a:t>
            </a:r>
            <a:r>
              <a:rPr lang="en-US" sz="1150" dirty="0">
                <a:solidFill>
                  <a:srgbClr val="262B3A"/>
                </a:solidFill>
                <a:latin typeface="Calibri" pitchFamily="34" charset="0"/>
                <a:ea typeface="Calibri" pitchFamily="34" charset="-122"/>
                <a:cs typeface="Calibri" pitchFamily="34" charset="-120"/>
              </a:rPr>
              <a:t>. The best insulator has the </a:t>
            </a:r>
            <a:r>
              <a:rPr lang="en-US" sz="1150" b="1" dirty="0">
                <a:solidFill>
                  <a:srgbClr val="262B3A"/>
                </a:solidFill>
                <a:latin typeface="Calibri" pitchFamily="34" charset="0"/>
                <a:ea typeface="Calibri" pitchFamily="34" charset="-122"/>
                <a:cs typeface="Calibri" pitchFamily="34" charset="-120"/>
              </a:rPr>
              <a:t>smallest drop</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Plot </a:t>
            </a:r>
            <a:r>
              <a:rPr lang="en-US" sz="1150" b="1" dirty="0">
                <a:solidFill>
                  <a:srgbClr val="262B3A"/>
                </a:solidFill>
                <a:latin typeface="Calibri" pitchFamily="34" charset="0"/>
                <a:ea typeface="Calibri" pitchFamily="34" charset="-122"/>
                <a:cs typeface="Calibri" pitchFamily="34" charset="-120"/>
              </a:rPr>
              <a:t>cooling curves</a:t>
            </a:r>
            <a:r>
              <a:rPr lang="en-US" sz="1150" dirty="0">
                <a:solidFill>
                  <a:srgbClr val="262B3A"/>
                </a:solidFill>
                <a:latin typeface="Calibri" pitchFamily="34" charset="0"/>
                <a:ea typeface="Calibri" pitchFamily="34" charset="-122"/>
                <a:cs typeface="Calibri" pitchFamily="34" charset="-120"/>
              </a:rPr>
              <a:t>: temperature against time.</a:t>
            </a:r>
            <a:endParaRPr lang="en-US" sz="1150" dirty="0"/>
          </a:p>
        </p:txBody>
      </p:sp>
      <p:sp>
        <p:nvSpPr>
          <p:cNvPr id="78" name="Shape 7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9" name="Text 7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Rate of cooling</a:t>
            </a:r>
            <a:endParaRPr lang="en-US" sz="1300" dirty="0"/>
          </a:p>
        </p:txBody>
      </p:sp>
      <p:sp>
        <p:nvSpPr>
          <p:cNvPr id="80" name="Text 78"/>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bare beaker cools from 80 °C to 38 °C in 20 minutes.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Drop   </a:t>
            </a:r>
            <a:r>
              <a:rPr lang="en-US" sz="1050" dirty="0">
                <a:solidFill>
                  <a:srgbClr val="262B3A"/>
                </a:solidFill>
                <a:latin typeface="Calibri" pitchFamily="34" charset="0"/>
                <a:ea typeface="Calibri" pitchFamily="34" charset="-122"/>
                <a:cs typeface="Calibri" pitchFamily="34" charset="-120"/>
              </a:rPr>
              <a:t>80 − 38 = 42 °C</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Equation   </a:t>
            </a:r>
            <a:r>
              <a:rPr lang="en-US" sz="1050" dirty="0">
                <a:solidFill>
                  <a:srgbClr val="262B3A"/>
                </a:solidFill>
                <a:latin typeface="Calibri" pitchFamily="34" charset="0"/>
                <a:ea typeface="Calibri" pitchFamily="34" charset="-122"/>
                <a:cs typeface="Calibri" pitchFamily="34" charset="-120"/>
              </a:rPr>
              <a:t>mean rate of cooling = drop ÷ time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Substitute   </a:t>
            </a:r>
            <a:r>
              <a:rPr lang="en-US" sz="1050" dirty="0">
                <a:solidFill>
                  <a:srgbClr val="262B3A"/>
                </a:solidFill>
                <a:latin typeface="Calibri" pitchFamily="34" charset="0"/>
                <a:ea typeface="Calibri" pitchFamily="34" charset="-122"/>
                <a:cs typeface="Calibri" pitchFamily="34" charset="-120"/>
              </a:rPr>
              <a:t>42 °C ÷ 20 min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mean rate = 2.1 °C per minute</a:t>
            </a:r>
            <a:endParaRPr lang="en-US" sz="1050" dirty="0"/>
          </a:p>
        </p:txBody>
      </p:sp>
      <p:sp>
        <p:nvSpPr>
          <p:cNvPr id="81" name="Shape 79"/>
          <p:cNvSpPr/>
          <p:nvPr/>
        </p:nvSpPr>
        <p:spPr>
          <a:xfrm>
            <a:off x="411480" y="5833872"/>
            <a:ext cx="11368735" cy="530352"/>
          </a:xfrm>
          <a:prstGeom prst="rect">
            <a:avLst/>
          </a:prstGeom>
          <a:solidFill>
            <a:srgbClr val="FFF4E0"/>
          </a:solidFill>
          <a:ln w="6350">
            <a:solidFill>
              <a:srgbClr val="F1D9A8"/>
            </a:solidFill>
            <a:prstDash val="solid"/>
          </a:ln>
        </p:spPr>
      </p:sp>
      <p:sp>
        <p:nvSpPr>
          <p:cNvPr id="82" name="Shape 80"/>
          <p:cNvSpPr/>
          <p:nvPr/>
        </p:nvSpPr>
        <p:spPr>
          <a:xfrm>
            <a:off x="411480" y="5833872"/>
            <a:ext cx="82296" cy="530352"/>
          </a:xfrm>
          <a:prstGeom prst="rect">
            <a:avLst/>
          </a:prstGeom>
          <a:solidFill>
            <a:srgbClr val="E39A2F"/>
          </a:solidFill>
          <a:ln w="12700">
            <a:solidFill>
              <a:srgbClr val="E39A2F"/>
            </a:solidFill>
            <a:prstDash val="solid"/>
          </a:ln>
        </p:spPr>
      </p:sp>
      <p:sp>
        <p:nvSpPr>
          <p:cNvPr id="83" name="Text 8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every beaker start with the same volume and the same starting temperature of water?</a:t>
            </a:r>
            <a:endParaRPr lang="en-US" sz="1200" dirty="0"/>
          </a:p>
        </p:txBody>
      </p:sp>
      <p:sp>
        <p:nvSpPr>
          <p:cNvPr id="85" name="Shape 82"/>
          <p:cNvSpPr/>
          <p:nvPr/>
        </p:nvSpPr>
        <p:spPr>
          <a:xfrm>
            <a:off x="9859975" y="292608"/>
            <a:ext cx="1920240" cy="274320"/>
          </a:xfrm>
          <a:prstGeom prst="roundRect">
            <a:avLst>
              <a:gd name="adj" fmla="val 50000"/>
            </a:avLst>
          </a:prstGeom>
          <a:solidFill>
            <a:srgbClr val="B8730A"/>
          </a:solidFill>
          <a:ln w="12700">
            <a:solidFill>
              <a:srgbClr val="B8730A"/>
            </a:solidFill>
            <a:prstDash val="solid"/>
          </a:ln>
        </p:spPr>
      </p:sp>
      <p:sp>
        <p:nvSpPr>
          <p:cNvPr id="86" name="Text 83"/>
          <p:cNvSpPr/>
          <p:nvPr/>
        </p:nvSpPr>
        <p:spPr>
          <a:xfrm>
            <a:off x="9859975" y="292608"/>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Practical: variables and safety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3.9, 3.10 • make it a fair test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23</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what you change, measure and keep the same</a:t>
            </a:r>
            <a:endParaRPr lang="en-US" sz="1000" dirty="0"/>
          </a:p>
        </p:txBody>
      </p:sp>
      <p:sp>
        <p:nvSpPr>
          <p:cNvPr id="10" name="Shape 8"/>
          <p:cNvSpPr/>
          <p:nvPr/>
        </p:nvSpPr>
        <p:spPr>
          <a:xfrm>
            <a:off x="685800" y="1371600"/>
            <a:ext cx="5029200" cy="1051560"/>
          </a:xfrm>
          <a:prstGeom prst="roundRect">
            <a:avLst>
              <a:gd name="adj" fmla="val 5217"/>
            </a:avLst>
          </a:prstGeom>
          <a:solidFill>
            <a:srgbClr val="FFFFFF"/>
          </a:solidFill>
          <a:ln w="19050">
            <a:solidFill>
              <a:srgbClr val="2E5BD8"/>
            </a:solidFill>
            <a:prstDash val="solid"/>
          </a:ln>
        </p:spPr>
      </p:sp>
      <p:sp>
        <p:nvSpPr>
          <p:cNvPr id="11" name="Shape 9"/>
          <p:cNvSpPr/>
          <p:nvPr/>
        </p:nvSpPr>
        <p:spPr>
          <a:xfrm>
            <a:off x="685800" y="1371600"/>
            <a:ext cx="109728" cy="1051560"/>
          </a:xfrm>
          <a:prstGeom prst="rect">
            <a:avLst/>
          </a:prstGeom>
          <a:solidFill>
            <a:srgbClr val="2E5BD8"/>
          </a:solidFill>
          <a:ln/>
        </p:spPr>
      </p:sp>
      <p:sp>
        <p:nvSpPr>
          <p:cNvPr id="12" name="Text 10"/>
          <p:cNvSpPr/>
          <p:nvPr/>
        </p:nvSpPr>
        <p:spPr>
          <a:xfrm>
            <a:off x="914400" y="1426464"/>
            <a:ext cx="4663440" cy="941832"/>
          </a:xfrm>
          <a:prstGeom prst="rect">
            <a:avLst/>
          </a:prstGeom>
          <a:noFill/>
          <a:ln/>
        </p:spPr>
        <p:txBody>
          <a:bodyPr wrap="square" lIns="0" tIns="0" rIns="0" bIns="0" rtlCol="0" anchor="ctr"/>
          <a:lstStyle/>
          <a:p>
            <a:pPr indent="0" marL="0">
              <a:buNone/>
            </a:pPr>
            <a:r>
              <a:rPr lang="en-US" sz="1250" b="1" dirty="0">
                <a:solidFill>
                  <a:srgbClr val="2E5BD8"/>
                </a:solidFill>
                <a:latin typeface="Calibri" pitchFamily="34" charset="0"/>
                <a:ea typeface="Calibri" pitchFamily="34" charset="-122"/>
                <a:cs typeface="Calibri" pitchFamily="34" charset="-120"/>
              </a:rPr>
              <a:t>Independent variable (you change)</a:t>
            </a:r>
            <a:endParaRPr lang="en-US" sz="1250" dirty="0"/>
          </a:p>
          <a:p>
            <a:pPr indent="0" marL="0">
              <a:buNone/>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insulating material</a:t>
            </a:r>
            <a:r>
              <a:rPr lang="en-US" sz="1150" dirty="0">
                <a:solidFill>
                  <a:srgbClr val="262B3A"/>
                </a:solidFill>
                <a:latin typeface="Calibri" pitchFamily="34" charset="0"/>
                <a:ea typeface="Calibri" pitchFamily="34" charset="-122"/>
                <a:cs typeface="Calibri" pitchFamily="34" charset="-120"/>
              </a:rPr>
              <a:t> wrapped around the beaker</a:t>
            </a:r>
            <a:endParaRPr lang="en-US" sz="1250" dirty="0"/>
          </a:p>
        </p:txBody>
      </p:sp>
      <p:sp>
        <p:nvSpPr>
          <p:cNvPr id="13" name="Shape 11"/>
          <p:cNvSpPr/>
          <p:nvPr/>
        </p:nvSpPr>
        <p:spPr>
          <a:xfrm>
            <a:off x="3200400" y="2441448"/>
            <a:ext cx="91" cy="237744"/>
          </a:xfrm>
          <a:prstGeom prst="line">
            <a:avLst/>
          </a:prstGeom>
          <a:noFill/>
          <a:ln w="25400">
            <a:solidFill>
              <a:srgbClr val="6B7385"/>
            </a:solidFill>
            <a:prstDash val="solid"/>
            <a:tailEnd type="triangle"/>
          </a:ln>
        </p:spPr>
      </p:sp>
      <p:sp>
        <p:nvSpPr>
          <p:cNvPr id="14" name="Shape 12"/>
          <p:cNvSpPr/>
          <p:nvPr/>
        </p:nvSpPr>
        <p:spPr>
          <a:xfrm>
            <a:off x="685800" y="2697480"/>
            <a:ext cx="5029200" cy="1051560"/>
          </a:xfrm>
          <a:prstGeom prst="roundRect">
            <a:avLst>
              <a:gd name="adj" fmla="val 5217"/>
            </a:avLst>
          </a:prstGeom>
          <a:solidFill>
            <a:srgbClr val="FFFFFF"/>
          </a:solidFill>
          <a:ln w="19050">
            <a:solidFill>
              <a:srgbClr val="C8414C"/>
            </a:solidFill>
            <a:prstDash val="solid"/>
          </a:ln>
        </p:spPr>
      </p:sp>
      <p:sp>
        <p:nvSpPr>
          <p:cNvPr id="15" name="Shape 13"/>
          <p:cNvSpPr/>
          <p:nvPr/>
        </p:nvSpPr>
        <p:spPr>
          <a:xfrm>
            <a:off x="685800" y="2697480"/>
            <a:ext cx="109728" cy="1051560"/>
          </a:xfrm>
          <a:prstGeom prst="rect">
            <a:avLst/>
          </a:prstGeom>
          <a:solidFill>
            <a:srgbClr val="C8414C"/>
          </a:solidFill>
          <a:ln/>
        </p:spPr>
      </p:sp>
      <p:sp>
        <p:nvSpPr>
          <p:cNvPr id="16" name="Text 14"/>
          <p:cNvSpPr/>
          <p:nvPr/>
        </p:nvSpPr>
        <p:spPr>
          <a:xfrm>
            <a:off x="914400" y="2752344"/>
            <a:ext cx="4663440" cy="941832"/>
          </a:xfrm>
          <a:prstGeom prst="rect">
            <a:avLst/>
          </a:prstGeom>
          <a:noFill/>
          <a:ln/>
        </p:spPr>
        <p:txBody>
          <a:bodyPr wrap="square" lIns="0" tIns="0" rIns="0" bIns="0" rtlCol="0" anchor="ctr"/>
          <a:lstStyle/>
          <a:p>
            <a:pPr indent="0" marL="0">
              <a:buNone/>
            </a:pPr>
            <a:r>
              <a:rPr lang="en-US" sz="1250" b="1" dirty="0">
                <a:solidFill>
                  <a:srgbClr val="C8414C"/>
                </a:solidFill>
                <a:latin typeface="Calibri" pitchFamily="34" charset="0"/>
                <a:ea typeface="Calibri" pitchFamily="34" charset="-122"/>
                <a:cs typeface="Calibri" pitchFamily="34" charset="-120"/>
              </a:rPr>
              <a:t>Dependent variable (you measure)</a:t>
            </a:r>
            <a:endParaRPr lang="en-US" sz="1250" dirty="0"/>
          </a:p>
          <a:p>
            <a:pPr indent="0" marL="0">
              <a:buNone/>
            </a:pPr>
            <a:r>
              <a:rPr lang="en-US" sz="1150" b="1" dirty="0">
                <a:solidFill>
                  <a:srgbClr val="262B3A"/>
                </a:solidFill>
                <a:latin typeface="Calibri" pitchFamily="34" charset="0"/>
                <a:ea typeface="Calibri" pitchFamily="34" charset="-122"/>
                <a:cs typeface="Calibri" pitchFamily="34" charset="-120"/>
              </a:rPr>
              <a:t>temperature</a:t>
            </a:r>
            <a:r>
              <a:rPr lang="en-US" sz="1150" dirty="0">
                <a:solidFill>
                  <a:srgbClr val="262B3A"/>
                </a:solidFill>
                <a:latin typeface="Calibri" pitchFamily="34" charset="0"/>
                <a:ea typeface="Calibri" pitchFamily="34" charset="-122"/>
                <a:cs typeface="Calibri" pitchFamily="34" charset="-120"/>
              </a:rPr>
              <a:t> of the water at each time → the </a:t>
            </a:r>
            <a:r>
              <a:rPr lang="en-US" sz="1150" b="1" dirty="0">
                <a:solidFill>
                  <a:srgbClr val="262B3A"/>
                </a:solidFill>
                <a:latin typeface="Calibri" pitchFamily="34" charset="0"/>
                <a:ea typeface="Calibri" pitchFamily="34" charset="-122"/>
                <a:cs typeface="Calibri" pitchFamily="34" charset="-120"/>
              </a:rPr>
              <a:t>temperature drop</a:t>
            </a:r>
            <a:r>
              <a:rPr lang="en-US" sz="1150" dirty="0">
                <a:solidFill>
                  <a:srgbClr val="262B3A"/>
                </a:solidFill>
                <a:latin typeface="Calibri" pitchFamily="34" charset="0"/>
                <a:ea typeface="Calibri" pitchFamily="34" charset="-122"/>
                <a:cs typeface="Calibri" pitchFamily="34" charset="-120"/>
              </a:rPr>
              <a:t> in 20 minutes</a:t>
            </a:r>
            <a:endParaRPr lang="en-US" sz="1250" dirty="0"/>
          </a:p>
        </p:txBody>
      </p:sp>
      <p:sp>
        <p:nvSpPr>
          <p:cNvPr id="17" name="Shape 15"/>
          <p:cNvSpPr/>
          <p:nvPr/>
        </p:nvSpPr>
        <p:spPr>
          <a:xfrm>
            <a:off x="3200400" y="3767328"/>
            <a:ext cx="91" cy="237744"/>
          </a:xfrm>
          <a:prstGeom prst="line">
            <a:avLst/>
          </a:prstGeom>
          <a:noFill/>
          <a:ln w="25400">
            <a:solidFill>
              <a:srgbClr val="6B7385"/>
            </a:solidFill>
            <a:prstDash val="solid"/>
            <a:tailEnd type="triangle"/>
          </a:ln>
        </p:spPr>
      </p:sp>
      <p:sp>
        <p:nvSpPr>
          <p:cNvPr id="18" name="Shape 16"/>
          <p:cNvSpPr/>
          <p:nvPr/>
        </p:nvSpPr>
        <p:spPr>
          <a:xfrm>
            <a:off x="685800" y="4023360"/>
            <a:ext cx="5029200" cy="1051560"/>
          </a:xfrm>
          <a:prstGeom prst="roundRect">
            <a:avLst>
              <a:gd name="adj" fmla="val 5217"/>
            </a:avLst>
          </a:prstGeom>
          <a:solidFill>
            <a:srgbClr val="FFFFFF"/>
          </a:solidFill>
          <a:ln w="19050">
            <a:solidFill>
              <a:srgbClr val="2E8B57"/>
            </a:solidFill>
            <a:prstDash val="solid"/>
          </a:ln>
        </p:spPr>
      </p:sp>
      <p:sp>
        <p:nvSpPr>
          <p:cNvPr id="19" name="Shape 17"/>
          <p:cNvSpPr/>
          <p:nvPr/>
        </p:nvSpPr>
        <p:spPr>
          <a:xfrm>
            <a:off x="685800" y="4023360"/>
            <a:ext cx="109728" cy="1051560"/>
          </a:xfrm>
          <a:prstGeom prst="rect">
            <a:avLst/>
          </a:prstGeom>
          <a:solidFill>
            <a:srgbClr val="2E8B57"/>
          </a:solidFill>
          <a:ln/>
        </p:spPr>
      </p:sp>
      <p:sp>
        <p:nvSpPr>
          <p:cNvPr id="20" name="Text 18"/>
          <p:cNvSpPr/>
          <p:nvPr/>
        </p:nvSpPr>
        <p:spPr>
          <a:xfrm>
            <a:off x="914400" y="4078224"/>
            <a:ext cx="4663440" cy="941832"/>
          </a:xfrm>
          <a:prstGeom prst="rect">
            <a:avLst/>
          </a:prstGeom>
          <a:noFill/>
          <a:ln/>
        </p:spPr>
        <p:txBody>
          <a:bodyPr wrap="square" lIns="0" tIns="0" rIns="0" bIns="0" rtlCol="0" anchor="ctr"/>
          <a:lstStyle/>
          <a:p>
            <a:pPr indent="0" marL="0">
              <a:buNone/>
            </a:pPr>
            <a:r>
              <a:rPr lang="en-US" sz="1250" b="1" dirty="0">
                <a:solidFill>
                  <a:srgbClr val="2E8B57"/>
                </a:solidFill>
                <a:latin typeface="Calibri" pitchFamily="34" charset="0"/>
                <a:ea typeface="Calibri" pitchFamily="34" charset="-122"/>
                <a:cs typeface="Calibri" pitchFamily="34" charset="-120"/>
              </a:rPr>
              <a:t>Control variables (keep the same)</a:t>
            </a:r>
            <a:endParaRPr lang="en-US" sz="1250" dirty="0"/>
          </a:p>
          <a:p>
            <a:pPr indent="0" marL="0">
              <a:buNone/>
            </a:pPr>
            <a:r>
              <a:rPr lang="en-US" sz="1150" dirty="0">
                <a:solidFill>
                  <a:srgbClr val="262B3A"/>
                </a:solidFill>
                <a:latin typeface="Calibri" pitchFamily="34" charset="0"/>
                <a:ea typeface="Calibri" pitchFamily="34" charset="-122"/>
                <a:cs typeface="Calibri" pitchFamily="34" charset="-120"/>
              </a:rPr>
              <a:t>volume of water • starting temperature • </a:t>
            </a:r>
            <a:r>
              <a:rPr lang="en-US" sz="1150" b="1" dirty="0">
                <a:solidFill>
                  <a:srgbClr val="262B3A"/>
                </a:solidFill>
                <a:latin typeface="Calibri" pitchFamily="34" charset="0"/>
                <a:ea typeface="Calibri" pitchFamily="34" charset="-122"/>
                <a:cs typeface="Calibri" pitchFamily="34" charset="-120"/>
              </a:rPr>
              <a:t>thickness</a:t>
            </a:r>
            <a:r>
              <a:rPr lang="en-US" sz="1150" dirty="0">
                <a:solidFill>
                  <a:srgbClr val="262B3A"/>
                </a:solidFill>
                <a:latin typeface="Calibri" pitchFamily="34" charset="0"/>
                <a:ea typeface="Calibri" pitchFamily="34" charset="-122"/>
                <a:cs typeface="Calibri" pitchFamily="34" charset="-120"/>
              </a:rPr>
              <a:t> of material • beaker size • lid • room temperature</a:t>
            </a:r>
            <a:endParaRPr lang="en-US" sz="1250" dirty="0"/>
          </a:p>
        </p:txBody>
      </p:sp>
      <p:sp>
        <p:nvSpPr>
          <p:cNvPr id="21" name="Shape 19"/>
          <p:cNvSpPr/>
          <p:nvPr/>
        </p:nvSpPr>
        <p:spPr>
          <a:xfrm>
            <a:off x="6217920" y="1188720"/>
            <a:ext cx="5562295" cy="2103120"/>
          </a:xfrm>
          <a:prstGeom prst="roundRect">
            <a:avLst>
              <a:gd name="adj" fmla="val 2609"/>
            </a:avLst>
          </a:prstGeom>
          <a:solidFill>
            <a:srgbClr val="F5F8FE"/>
          </a:solidFill>
          <a:ln w="9525">
            <a:solidFill>
              <a:srgbClr val="D5DCEB"/>
            </a:solidFill>
            <a:prstDash val="solid"/>
          </a:ln>
        </p:spPr>
      </p:sp>
      <p:sp>
        <p:nvSpPr>
          <p:cNvPr id="22" name="Text 2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Prediction</a:t>
            </a:r>
            <a:endParaRPr lang="en-US" sz="1300" dirty="0"/>
          </a:p>
        </p:txBody>
      </p:sp>
      <p:sp>
        <p:nvSpPr>
          <p:cNvPr id="23" name="Text 21"/>
          <p:cNvSpPr/>
          <p:nvPr/>
        </p:nvSpPr>
        <p:spPr>
          <a:xfrm>
            <a:off x="6382512" y="1609344"/>
            <a:ext cx="5233111" cy="16093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Materials that </a:t>
            </a:r>
            <a:r>
              <a:rPr lang="en-US" sz="1150" b="1" dirty="0">
                <a:solidFill>
                  <a:srgbClr val="262B3A"/>
                </a:solidFill>
                <a:latin typeface="Calibri" pitchFamily="34" charset="0"/>
                <a:ea typeface="Calibri" pitchFamily="34" charset="-122"/>
                <a:cs typeface="Calibri" pitchFamily="34" charset="-120"/>
              </a:rPr>
              <a:t>trap air</a:t>
            </a:r>
            <a:r>
              <a:rPr lang="en-US" sz="1150" dirty="0">
                <a:solidFill>
                  <a:srgbClr val="262B3A"/>
                </a:solidFill>
                <a:latin typeface="Calibri" pitchFamily="34" charset="0"/>
                <a:ea typeface="Calibri" pitchFamily="34" charset="-122"/>
                <a:cs typeface="Calibri" pitchFamily="34" charset="-120"/>
              </a:rPr>
              <a:t> (cotton wool, bubble wrap) have a low thermal conductivity, so the water should </a:t>
            </a:r>
            <a:r>
              <a:rPr lang="en-US" sz="1150" b="1" dirty="0">
                <a:solidFill>
                  <a:srgbClr val="262B3A"/>
                </a:solidFill>
                <a:latin typeface="Calibri" pitchFamily="34" charset="0"/>
                <a:ea typeface="Calibri" pitchFamily="34" charset="-122"/>
                <a:cs typeface="Calibri" pitchFamily="34" charset="-120"/>
              </a:rPr>
              <a:t>cool most slowly</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control</a:t>
            </a:r>
            <a:r>
              <a:rPr lang="en-US" sz="1150" dirty="0">
                <a:solidFill>
                  <a:srgbClr val="262B3A"/>
                </a:solidFill>
                <a:latin typeface="Calibri" pitchFamily="34" charset="0"/>
                <a:ea typeface="Calibri" pitchFamily="34" charset="-122"/>
                <a:cs typeface="Calibri" pitchFamily="34" charset="-120"/>
              </a:rPr>
              <a:t> (no insulation) should cool fastest.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Extension: vary the </a:t>
            </a:r>
            <a:r>
              <a:rPr lang="en-US" sz="1150" b="1" dirty="0">
                <a:solidFill>
                  <a:srgbClr val="262B3A"/>
                </a:solidFill>
                <a:latin typeface="Calibri" pitchFamily="34" charset="0"/>
                <a:ea typeface="Calibri" pitchFamily="34" charset="-122"/>
                <a:cs typeface="Calibri" pitchFamily="34" charset="-120"/>
              </a:rPr>
              <a:t>number of layers</a:t>
            </a:r>
            <a:r>
              <a:rPr lang="en-US" sz="1150" dirty="0">
                <a:solidFill>
                  <a:srgbClr val="262B3A"/>
                </a:solidFill>
                <a:latin typeface="Calibri" pitchFamily="34" charset="0"/>
                <a:ea typeface="Calibri" pitchFamily="34" charset="-122"/>
                <a:cs typeface="Calibri" pitchFamily="34" charset="-120"/>
              </a:rPr>
              <a:t> of one material to test the effect of </a:t>
            </a:r>
            <a:r>
              <a:rPr lang="en-US" sz="1150" b="1" dirty="0">
                <a:solidFill>
                  <a:srgbClr val="262B3A"/>
                </a:solidFill>
                <a:latin typeface="Calibri" pitchFamily="34" charset="0"/>
                <a:ea typeface="Calibri" pitchFamily="34" charset="-122"/>
                <a:cs typeface="Calibri" pitchFamily="34" charset="-120"/>
              </a:rPr>
              <a:t>thickness</a:t>
            </a:r>
            <a:r>
              <a:rPr lang="en-US" sz="1150" dirty="0">
                <a:solidFill>
                  <a:srgbClr val="262B3A"/>
                </a:solidFill>
                <a:latin typeface="Calibri" pitchFamily="34" charset="0"/>
                <a:ea typeface="Calibri" pitchFamily="34" charset="-122"/>
                <a:cs typeface="Calibri" pitchFamily="34" charset="-120"/>
              </a:rPr>
              <a:t> (3.10).</a:t>
            </a:r>
            <a:endParaRPr lang="en-US" sz="1150" dirty="0"/>
          </a:p>
        </p:txBody>
      </p:sp>
      <p:sp>
        <p:nvSpPr>
          <p:cNvPr id="24" name="Shape 22"/>
          <p:cNvSpPr/>
          <p:nvPr/>
        </p:nvSpPr>
        <p:spPr>
          <a:xfrm>
            <a:off x="6217920" y="3429000"/>
            <a:ext cx="5562295" cy="2286000"/>
          </a:xfrm>
          <a:prstGeom prst="roundRect">
            <a:avLst>
              <a:gd name="adj" fmla="val 2400"/>
            </a:avLst>
          </a:prstGeom>
          <a:solidFill>
            <a:srgbClr val="FFF4E0"/>
          </a:solidFill>
          <a:ln w="9525">
            <a:solidFill>
              <a:srgbClr val="F1D9A8"/>
            </a:solidFill>
            <a:prstDash val="solid"/>
          </a:ln>
        </p:spPr>
      </p:sp>
      <p:sp>
        <p:nvSpPr>
          <p:cNvPr id="25" name="Text 23"/>
          <p:cNvSpPr/>
          <p:nvPr/>
        </p:nvSpPr>
        <p:spPr>
          <a:xfrm>
            <a:off x="6382512" y="35021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Safety</a:t>
            </a:r>
            <a:endParaRPr lang="en-US" sz="1300" dirty="0"/>
          </a:p>
        </p:txBody>
      </p:sp>
      <p:sp>
        <p:nvSpPr>
          <p:cNvPr id="26" name="Text 24"/>
          <p:cNvSpPr/>
          <p:nvPr/>
        </p:nvSpPr>
        <p:spPr>
          <a:xfrm>
            <a:off x="6382512" y="3813048"/>
            <a:ext cx="5233111" cy="18288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Hazard → risk → control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Hot water   </a:t>
            </a:r>
            <a:r>
              <a:rPr lang="en-US" sz="1050" dirty="0">
                <a:solidFill>
                  <a:srgbClr val="262B3A"/>
                </a:solidFill>
                <a:latin typeface="Calibri" pitchFamily="34" charset="0"/>
                <a:ea typeface="Calibri" pitchFamily="34" charset="-122"/>
                <a:cs typeface="Calibri" pitchFamily="34" charset="-120"/>
              </a:rPr>
              <a:t>scalds → fill beakers with care, stand up, use a jug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Kettle   </a:t>
            </a:r>
            <a:r>
              <a:rPr lang="en-US" sz="1050" dirty="0">
                <a:solidFill>
                  <a:srgbClr val="262B3A"/>
                </a:solidFill>
                <a:latin typeface="Calibri" pitchFamily="34" charset="0"/>
                <a:ea typeface="Calibri" pitchFamily="34" charset="-122"/>
                <a:cs typeface="Calibri" pitchFamily="34" charset="-120"/>
              </a:rPr>
              <a:t>burns from steam → let the teacher pour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Glass   </a:t>
            </a:r>
            <a:r>
              <a:rPr lang="en-US" sz="1050" dirty="0">
                <a:solidFill>
                  <a:srgbClr val="262B3A"/>
                </a:solidFill>
                <a:latin typeface="Calibri" pitchFamily="34" charset="0"/>
                <a:ea typeface="Calibri" pitchFamily="34" charset="-122"/>
                <a:cs typeface="Calibri" pitchFamily="34" charset="-120"/>
              </a:rPr>
              <a:t>broken thermometer/beaker → report, do not pick up glass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keep beakers away from the bench edge</a:t>
            </a:r>
            <a:endParaRPr lang="en-US" sz="1050" dirty="0"/>
          </a:p>
        </p:txBody>
      </p:sp>
      <p:sp>
        <p:nvSpPr>
          <p:cNvPr id="27" name="Shape 25"/>
          <p:cNvSpPr/>
          <p:nvPr/>
        </p:nvSpPr>
        <p:spPr>
          <a:xfrm>
            <a:off x="411480" y="5833872"/>
            <a:ext cx="11368735" cy="530352"/>
          </a:xfrm>
          <a:prstGeom prst="rect">
            <a:avLst/>
          </a:prstGeom>
          <a:solidFill>
            <a:srgbClr val="FFF4E0"/>
          </a:solidFill>
          <a:ln w="6350">
            <a:solidFill>
              <a:srgbClr val="F1D9A8"/>
            </a:solidFill>
            <a:prstDash val="solid"/>
          </a:ln>
        </p:spPr>
      </p:sp>
      <p:sp>
        <p:nvSpPr>
          <p:cNvPr id="28" name="Shape 26"/>
          <p:cNvSpPr/>
          <p:nvPr/>
        </p:nvSpPr>
        <p:spPr>
          <a:xfrm>
            <a:off x="411480" y="5833872"/>
            <a:ext cx="82296" cy="530352"/>
          </a:xfrm>
          <a:prstGeom prst="rect">
            <a:avLst/>
          </a:prstGeom>
          <a:solidFill>
            <a:srgbClr val="E39A2F"/>
          </a:solidFill>
          <a:ln w="12700">
            <a:solidFill>
              <a:srgbClr val="E39A2F"/>
            </a:solidFill>
            <a:prstDash val="solid"/>
          </a:ln>
        </p:spPr>
      </p:sp>
      <p:sp>
        <p:nvSpPr>
          <p:cNvPr id="29" name="Text 2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Suggest why a lid is put on every beaker, including the control.</a:t>
            </a:r>
            <a:endParaRPr lang="en-US" sz="1200" dirty="0"/>
          </a:p>
        </p:txBody>
      </p:sp>
      <p:sp>
        <p:nvSpPr>
          <p:cNvPr id="31" name="Shape 28"/>
          <p:cNvSpPr/>
          <p:nvPr/>
        </p:nvSpPr>
        <p:spPr>
          <a:xfrm>
            <a:off x="9859975" y="292608"/>
            <a:ext cx="1920240" cy="274320"/>
          </a:xfrm>
          <a:prstGeom prst="roundRect">
            <a:avLst>
              <a:gd name="adj" fmla="val 50000"/>
            </a:avLst>
          </a:prstGeom>
          <a:solidFill>
            <a:srgbClr val="B8730A"/>
          </a:solidFill>
          <a:ln w="12700">
            <a:solidFill>
              <a:srgbClr val="B8730A"/>
            </a:solidFill>
            <a:prstDash val="solid"/>
          </a:ln>
        </p:spPr>
      </p:sp>
      <p:sp>
        <p:nvSpPr>
          <p:cNvPr id="32" name="Text 29"/>
          <p:cNvSpPr/>
          <p:nvPr/>
        </p:nvSpPr>
        <p:spPr>
          <a:xfrm>
            <a:off x="9859975" y="292608"/>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Practical: results and cooling curves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3.9, 3.10 • sample results; room temperature 20 °C</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24</a:t>
            </a:r>
            <a:endParaRPr lang="en-US" sz="1000" dirty="0"/>
          </a:p>
        </p:txBody>
      </p:sp>
      <p:sp>
        <p:nvSpPr>
          <p:cNvPr id="8" name="Shape 6"/>
          <p:cNvSpPr/>
          <p:nvPr/>
        </p:nvSpPr>
        <p:spPr>
          <a:xfrm>
            <a:off x="9859975" y="292608"/>
            <a:ext cx="1920240" cy="274320"/>
          </a:xfrm>
          <a:prstGeom prst="roundRect">
            <a:avLst>
              <a:gd name="adj" fmla="val 50000"/>
            </a:avLst>
          </a:prstGeom>
          <a:solidFill>
            <a:srgbClr val="B8730A"/>
          </a:solidFill>
          <a:ln w="12700">
            <a:solidFill>
              <a:srgbClr val="B8730A"/>
            </a:solidFill>
            <a:prstDash val="solid"/>
          </a:ln>
        </p:spPr>
      </p:sp>
      <p:sp>
        <p:nvSpPr>
          <p:cNvPr id="9" name="Text 7"/>
          <p:cNvSpPr/>
          <p:nvPr/>
        </p:nvSpPr>
        <p:spPr>
          <a:xfrm>
            <a:off x="9859975" y="292608"/>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sample data plotted to scale with curves of best fit</a:t>
            </a:r>
            <a:endParaRPr lang="en-US" sz="1000" dirty="0"/>
          </a:p>
        </p:txBody>
      </p:sp>
      <p:sp>
        <p:nvSpPr>
          <p:cNvPr id="12" name="Shape 10"/>
          <p:cNvSpPr/>
          <p:nvPr/>
        </p:nvSpPr>
        <p:spPr>
          <a:xfrm>
            <a:off x="1280160" y="1417320"/>
            <a:ext cx="4389120" cy="3291840"/>
          </a:xfrm>
          <a:prstGeom prst="rect">
            <a:avLst/>
          </a:prstGeom>
          <a:solidFill>
            <a:srgbClr val="FFFFFF"/>
          </a:solidFill>
          <a:ln/>
        </p:spPr>
      </p:sp>
      <p:sp>
        <p:nvSpPr>
          <p:cNvPr id="13" name="Shape 11"/>
          <p:cNvSpPr/>
          <p:nvPr/>
        </p:nvSpPr>
        <p:spPr>
          <a:xfrm>
            <a:off x="1280160" y="1417320"/>
            <a:ext cx="91" cy="3291840"/>
          </a:xfrm>
          <a:prstGeom prst="line">
            <a:avLst/>
          </a:prstGeom>
          <a:noFill/>
          <a:ln w="6350">
            <a:solidFill>
              <a:srgbClr val="C9D3E6"/>
            </a:solidFill>
            <a:prstDash val="solid"/>
          </a:ln>
        </p:spPr>
      </p:sp>
      <p:sp>
        <p:nvSpPr>
          <p:cNvPr id="14" name="Shape 12"/>
          <p:cNvSpPr/>
          <p:nvPr/>
        </p:nvSpPr>
        <p:spPr>
          <a:xfrm>
            <a:off x="1719072" y="1417320"/>
            <a:ext cx="91" cy="3291840"/>
          </a:xfrm>
          <a:prstGeom prst="line">
            <a:avLst/>
          </a:prstGeom>
          <a:noFill/>
          <a:ln w="6350">
            <a:solidFill>
              <a:srgbClr val="E6EBF4"/>
            </a:solidFill>
            <a:prstDash val="solid"/>
          </a:ln>
        </p:spPr>
      </p:sp>
      <p:sp>
        <p:nvSpPr>
          <p:cNvPr id="15" name="Shape 13"/>
          <p:cNvSpPr/>
          <p:nvPr/>
        </p:nvSpPr>
        <p:spPr>
          <a:xfrm>
            <a:off x="2157984" y="1417320"/>
            <a:ext cx="91" cy="3291840"/>
          </a:xfrm>
          <a:prstGeom prst="line">
            <a:avLst/>
          </a:prstGeom>
          <a:noFill/>
          <a:ln w="6350">
            <a:solidFill>
              <a:srgbClr val="C9D3E6"/>
            </a:solidFill>
            <a:prstDash val="solid"/>
          </a:ln>
        </p:spPr>
      </p:sp>
      <p:sp>
        <p:nvSpPr>
          <p:cNvPr id="16" name="Shape 14"/>
          <p:cNvSpPr/>
          <p:nvPr/>
        </p:nvSpPr>
        <p:spPr>
          <a:xfrm>
            <a:off x="2596896" y="1417320"/>
            <a:ext cx="91" cy="3291840"/>
          </a:xfrm>
          <a:prstGeom prst="line">
            <a:avLst/>
          </a:prstGeom>
          <a:noFill/>
          <a:ln w="6350">
            <a:solidFill>
              <a:srgbClr val="E6EBF4"/>
            </a:solidFill>
            <a:prstDash val="solid"/>
          </a:ln>
        </p:spPr>
      </p:sp>
      <p:sp>
        <p:nvSpPr>
          <p:cNvPr id="17" name="Shape 15"/>
          <p:cNvSpPr/>
          <p:nvPr/>
        </p:nvSpPr>
        <p:spPr>
          <a:xfrm>
            <a:off x="3035808" y="1417320"/>
            <a:ext cx="91" cy="3291840"/>
          </a:xfrm>
          <a:prstGeom prst="line">
            <a:avLst/>
          </a:prstGeom>
          <a:noFill/>
          <a:ln w="6350">
            <a:solidFill>
              <a:srgbClr val="C9D3E6"/>
            </a:solidFill>
            <a:prstDash val="solid"/>
          </a:ln>
        </p:spPr>
      </p:sp>
      <p:sp>
        <p:nvSpPr>
          <p:cNvPr id="18" name="Shape 16"/>
          <p:cNvSpPr/>
          <p:nvPr/>
        </p:nvSpPr>
        <p:spPr>
          <a:xfrm>
            <a:off x="3474720" y="1417320"/>
            <a:ext cx="91" cy="3291840"/>
          </a:xfrm>
          <a:prstGeom prst="line">
            <a:avLst/>
          </a:prstGeom>
          <a:noFill/>
          <a:ln w="6350">
            <a:solidFill>
              <a:srgbClr val="E6EBF4"/>
            </a:solidFill>
            <a:prstDash val="solid"/>
          </a:ln>
        </p:spPr>
      </p:sp>
      <p:sp>
        <p:nvSpPr>
          <p:cNvPr id="19" name="Shape 17"/>
          <p:cNvSpPr/>
          <p:nvPr/>
        </p:nvSpPr>
        <p:spPr>
          <a:xfrm>
            <a:off x="3913632" y="1417320"/>
            <a:ext cx="91" cy="3291840"/>
          </a:xfrm>
          <a:prstGeom prst="line">
            <a:avLst/>
          </a:prstGeom>
          <a:noFill/>
          <a:ln w="6350">
            <a:solidFill>
              <a:srgbClr val="C9D3E6"/>
            </a:solidFill>
            <a:prstDash val="solid"/>
          </a:ln>
        </p:spPr>
      </p:sp>
      <p:sp>
        <p:nvSpPr>
          <p:cNvPr id="20" name="Shape 18"/>
          <p:cNvSpPr/>
          <p:nvPr/>
        </p:nvSpPr>
        <p:spPr>
          <a:xfrm>
            <a:off x="4352544" y="1417320"/>
            <a:ext cx="91" cy="3291840"/>
          </a:xfrm>
          <a:prstGeom prst="line">
            <a:avLst/>
          </a:prstGeom>
          <a:noFill/>
          <a:ln w="6350">
            <a:solidFill>
              <a:srgbClr val="E6EBF4"/>
            </a:solidFill>
            <a:prstDash val="solid"/>
          </a:ln>
        </p:spPr>
      </p:sp>
      <p:sp>
        <p:nvSpPr>
          <p:cNvPr id="21" name="Shape 19"/>
          <p:cNvSpPr/>
          <p:nvPr/>
        </p:nvSpPr>
        <p:spPr>
          <a:xfrm>
            <a:off x="4791456" y="1417320"/>
            <a:ext cx="91" cy="3291840"/>
          </a:xfrm>
          <a:prstGeom prst="line">
            <a:avLst/>
          </a:prstGeom>
          <a:noFill/>
          <a:ln w="6350">
            <a:solidFill>
              <a:srgbClr val="C9D3E6"/>
            </a:solidFill>
            <a:prstDash val="solid"/>
          </a:ln>
        </p:spPr>
      </p:sp>
      <p:sp>
        <p:nvSpPr>
          <p:cNvPr id="22" name="Shape 20"/>
          <p:cNvSpPr/>
          <p:nvPr/>
        </p:nvSpPr>
        <p:spPr>
          <a:xfrm>
            <a:off x="5230368" y="1417320"/>
            <a:ext cx="91" cy="3291840"/>
          </a:xfrm>
          <a:prstGeom prst="line">
            <a:avLst/>
          </a:prstGeom>
          <a:noFill/>
          <a:ln w="6350">
            <a:solidFill>
              <a:srgbClr val="E6EBF4"/>
            </a:solidFill>
            <a:prstDash val="solid"/>
          </a:ln>
        </p:spPr>
      </p:sp>
      <p:sp>
        <p:nvSpPr>
          <p:cNvPr id="23" name="Shape 21"/>
          <p:cNvSpPr/>
          <p:nvPr/>
        </p:nvSpPr>
        <p:spPr>
          <a:xfrm>
            <a:off x="5669280" y="1417320"/>
            <a:ext cx="91" cy="3291840"/>
          </a:xfrm>
          <a:prstGeom prst="line">
            <a:avLst/>
          </a:prstGeom>
          <a:noFill/>
          <a:ln w="6350">
            <a:solidFill>
              <a:srgbClr val="C9D3E6"/>
            </a:solidFill>
            <a:prstDash val="solid"/>
          </a:ln>
        </p:spPr>
      </p:sp>
      <p:sp>
        <p:nvSpPr>
          <p:cNvPr id="24" name="Shape 22"/>
          <p:cNvSpPr/>
          <p:nvPr/>
        </p:nvSpPr>
        <p:spPr>
          <a:xfrm>
            <a:off x="1280160" y="4709160"/>
            <a:ext cx="4389120" cy="91"/>
          </a:xfrm>
          <a:prstGeom prst="line">
            <a:avLst/>
          </a:prstGeom>
          <a:noFill/>
          <a:ln w="6350">
            <a:solidFill>
              <a:srgbClr val="C9D3E6"/>
            </a:solidFill>
            <a:prstDash val="solid"/>
          </a:ln>
        </p:spPr>
      </p:sp>
      <p:sp>
        <p:nvSpPr>
          <p:cNvPr id="25" name="Shape 23"/>
          <p:cNvSpPr/>
          <p:nvPr/>
        </p:nvSpPr>
        <p:spPr>
          <a:xfrm>
            <a:off x="1280160" y="4474029"/>
            <a:ext cx="4389120" cy="91"/>
          </a:xfrm>
          <a:prstGeom prst="line">
            <a:avLst/>
          </a:prstGeom>
          <a:noFill/>
          <a:ln w="6350">
            <a:solidFill>
              <a:srgbClr val="E6EBF4"/>
            </a:solidFill>
            <a:prstDash val="solid"/>
          </a:ln>
        </p:spPr>
      </p:sp>
      <p:sp>
        <p:nvSpPr>
          <p:cNvPr id="26" name="Shape 24"/>
          <p:cNvSpPr/>
          <p:nvPr/>
        </p:nvSpPr>
        <p:spPr>
          <a:xfrm>
            <a:off x="1280160" y="4238897"/>
            <a:ext cx="4389120" cy="91"/>
          </a:xfrm>
          <a:prstGeom prst="line">
            <a:avLst/>
          </a:prstGeom>
          <a:noFill/>
          <a:ln w="6350">
            <a:solidFill>
              <a:srgbClr val="C9D3E6"/>
            </a:solidFill>
            <a:prstDash val="solid"/>
          </a:ln>
        </p:spPr>
      </p:sp>
      <p:sp>
        <p:nvSpPr>
          <p:cNvPr id="27" name="Shape 25"/>
          <p:cNvSpPr/>
          <p:nvPr/>
        </p:nvSpPr>
        <p:spPr>
          <a:xfrm>
            <a:off x="1280160" y="4003766"/>
            <a:ext cx="4389120" cy="91"/>
          </a:xfrm>
          <a:prstGeom prst="line">
            <a:avLst/>
          </a:prstGeom>
          <a:noFill/>
          <a:ln w="6350">
            <a:solidFill>
              <a:srgbClr val="E6EBF4"/>
            </a:solidFill>
            <a:prstDash val="solid"/>
          </a:ln>
        </p:spPr>
      </p:sp>
      <p:sp>
        <p:nvSpPr>
          <p:cNvPr id="28" name="Shape 26"/>
          <p:cNvSpPr/>
          <p:nvPr/>
        </p:nvSpPr>
        <p:spPr>
          <a:xfrm>
            <a:off x="1280160" y="3768634"/>
            <a:ext cx="4389120" cy="91"/>
          </a:xfrm>
          <a:prstGeom prst="line">
            <a:avLst/>
          </a:prstGeom>
          <a:noFill/>
          <a:ln w="6350">
            <a:solidFill>
              <a:srgbClr val="C9D3E6"/>
            </a:solidFill>
            <a:prstDash val="solid"/>
          </a:ln>
        </p:spPr>
      </p:sp>
      <p:sp>
        <p:nvSpPr>
          <p:cNvPr id="29" name="Shape 27"/>
          <p:cNvSpPr/>
          <p:nvPr/>
        </p:nvSpPr>
        <p:spPr>
          <a:xfrm>
            <a:off x="1280160" y="3533503"/>
            <a:ext cx="4389120" cy="91"/>
          </a:xfrm>
          <a:prstGeom prst="line">
            <a:avLst/>
          </a:prstGeom>
          <a:noFill/>
          <a:ln w="6350">
            <a:solidFill>
              <a:srgbClr val="E6EBF4"/>
            </a:solidFill>
            <a:prstDash val="solid"/>
          </a:ln>
        </p:spPr>
      </p:sp>
      <p:sp>
        <p:nvSpPr>
          <p:cNvPr id="30" name="Shape 28"/>
          <p:cNvSpPr/>
          <p:nvPr/>
        </p:nvSpPr>
        <p:spPr>
          <a:xfrm>
            <a:off x="1280160" y="3298371"/>
            <a:ext cx="4389120" cy="91"/>
          </a:xfrm>
          <a:prstGeom prst="line">
            <a:avLst/>
          </a:prstGeom>
          <a:noFill/>
          <a:ln w="6350">
            <a:solidFill>
              <a:srgbClr val="C9D3E6"/>
            </a:solidFill>
            <a:prstDash val="solid"/>
          </a:ln>
        </p:spPr>
      </p:sp>
      <p:sp>
        <p:nvSpPr>
          <p:cNvPr id="31" name="Shape 29"/>
          <p:cNvSpPr/>
          <p:nvPr/>
        </p:nvSpPr>
        <p:spPr>
          <a:xfrm>
            <a:off x="1280160" y="3063240"/>
            <a:ext cx="4389120" cy="91"/>
          </a:xfrm>
          <a:prstGeom prst="line">
            <a:avLst/>
          </a:prstGeom>
          <a:noFill/>
          <a:ln w="6350">
            <a:solidFill>
              <a:srgbClr val="E6EBF4"/>
            </a:solidFill>
            <a:prstDash val="solid"/>
          </a:ln>
        </p:spPr>
      </p:sp>
      <p:sp>
        <p:nvSpPr>
          <p:cNvPr id="32" name="Shape 30"/>
          <p:cNvSpPr/>
          <p:nvPr/>
        </p:nvSpPr>
        <p:spPr>
          <a:xfrm>
            <a:off x="1280160" y="2828109"/>
            <a:ext cx="4389120" cy="91"/>
          </a:xfrm>
          <a:prstGeom prst="line">
            <a:avLst/>
          </a:prstGeom>
          <a:noFill/>
          <a:ln w="6350">
            <a:solidFill>
              <a:srgbClr val="C9D3E6"/>
            </a:solidFill>
            <a:prstDash val="solid"/>
          </a:ln>
        </p:spPr>
      </p:sp>
      <p:sp>
        <p:nvSpPr>
          <p:cNvPr id="33" name="Shape 31"/>
          <p:cNvSpPr/>
          <p:nvPr/>
        </p:nvSpPr>
        <p:spPr>
          <a:xfrm>
            <a:off x="1280160" y="2592977"/>
            <a:ext cx="4389120" cy="91"/>
          </a:xfrm>
          <a:prstGeom prst="line">
            <a:avLst/>
          </a:prstGeom>
          <a:noFill/>
          <a:ln w="6350">
            <a:solidFill>
              <a:srgbClr val="E6EBF4"/>
            </a:solidFill>
            <a:prstDash val="solid"/>
          </a:ln>
        </p:spPr>
      </p:sp>
      <p:sp>
        <p:nvSpPr>
          <p:cNvPr id="34" name="Shape 32"/>
          <p:cNvSpPr/>
          <p:nvPr/>
        </p:nvSpPr>
        <p:spPr>
          <a:xfrm>
            <a:off x="1280160" y="2357846"/>
            <a:ext cx="4389120" cy="91"/>
          </a:xfrm>
          <a:prstGeom prst="line">
            <a:avLst/>
          </a:prstGeom>
          <a:noFill/>
          <a:ln w="6350">
            <a:solidFill>
              <a:srgbClr val="C9D3E6"/>
            </a:solidFill>
            <a:prstDash val="solid"/>
          </a:ln>
        </p:spPr>
      </p:sp>
      <p:sp>
        <p:nvSpPr>
          <p:cNvPr id="35" name="Shape 33"/>
          <p:cNvSpPr/>
          <p:nvPr/>
        </p:nvSpPr>
        <p:spPr>
          <a:xfrm>
            <a:off x="1280160" y="2122714"/>
            <a:ext cx="4389120" cy="91"/>
          </a:xfrm>
          <a:prstGeom prst="line">
            <a:avLst/>
          </a:prstGeom>
          <a:noFill/>
          <a:ln w="6350">
            <a:solidFill>
              <a:srgbClr val="E6EBF4"/>
            </a:solidFill>
            <a:prstDash val="solid"/>
          </a:ln>
        </p:spPr>
      </p:sp>
      <p:sp>
        <p:nvSpPr>
          <p:cNvPr id="36" name="Shape 34"/>
          <p:cNvSpPr/>
          <p:nvPr/>
        </p:nvSpPr>
        <p:spPr>
          <a:xfrm>
            <a:off x="1280160" y="1887583"/>
            <a:ext cx="4389120" cy="91"/>
          </a:xfrm>
          <a:prstGeom prst="line">
            <a:avLst/>
          </a:prstGeom>
          <a:noFill/>
          <a:ln w="6350">
            <a:solidFill>
              <a:srgbClr val="C9D3E6"/>
            </a:solidFill>
            <a:prstDash val="solid"/>
          </a:ln>
        </p:spPr>
      </p:sp>
      <p:sp>
        <p:nvSpPr>
          <p:cNvPr id="37" name="Shape 35"/>
          <p:cNvSpPr/>
          <p:nvPr/>
        </p:nvSpPr>
        <p:spPr>
          <a:xfrm>
            <a:off x="1280160" y="1652451"/>
            <a:ext cx="4389120" cy="91"/>
          </a:xfrm>
          <a:prstGeom prst="line">
            <a:avLst/>
          </a:prstGeom>
          <a:noFill/>
          <a:ln w="6350">
            <a:solidFill>
              <a:srgbClr val="E6EBF4"/>
            </a:solidFill>
            <a:prstDash val="solid"/>
          </a:ln>
        </p:spPr>
      </p:sp>
      <p:sp>
        <p:nvSpPr>
          <p:cNvPr id="38" name="Shape 36"/>
          <p:cNvSpPr/>
          <p:nvPr/>
        </p:nvSpPr>
        <p:spPr>
          <a:xfrm>
            <a:off x="1280160" y="1417320"/>
            <a:ext cx="4389120" cy="91"/>
          </a:xfrm>
          <a:prstGeom prst="line">
            <a:avLst/>
          </a:prstGeom>
          <a:noFill/>
          <a:ln w="6350">
            <a:solidFill>
              <a:srgbClr val="C9D3E6"/>
            </a:solidFill>
            <a:prstDash val="solid"/>
          </a:ln>
        </p:spPr>
      </p:sp>
      <p:sp>
        <p:nvSpPr>
          <p:cNvPr id="39" name="Shape 37"/>
          <p:cNvSpPr/>
          <p:nvPr/>
        </p:nvSpPr>
        <p:spPr>
          <a:xfrm>
            <a:off x="1280160" y="4709160"/>
            <a:ext cx="4389120" cy="91"/>
          </a:xfrm>
          <a:prstGeom prst="line">
            <a:avLst/>
          </a:prstGeom>
          <a:noFill/>
          <a:ln w="19050">
            <a:solidFill>
              <a:srgbClr val="1A2340"/>
            </a:solidFill>
            <a:prstDash val="solid"/>
          </a:ln>
        </p:spPr>
      </p:sp>
      <p:sp>
        <p:nvSpPr>
          <p:cNvPr id="40" name="Shape 38"/>
          <p:cNvSpPr/>
          <p:nvPr/>
        </p:nvSpPr>
        <p:spPr>
          <a:xfrm flipV="1">
            <a:off x="1280160" y="1417320"/>
            <a:ext cx="91" cy="3291840"/>
          </a:xfrm>
          <a:prstGeom prst="line">
            <a:avLst/>
          </a:prstGeom>
          <a:noFill/>
          <a:ln w="19050">
            <a:solidFill>
              <a:srgbClr val="1A2340"/>
            </a:solidFill>
            <a:prstDash val="solid"/>
          </a:ln>
        </p:spPr>
      </p:sp>
      <p:sp>
        <p:nvSpPr>
          <p:cNvPr id="41" name="Shape 39"/>
          <p:cNvSpPr/>
          <p:nvPr/>
        </p:nvSpPr>
        <p:spPr>
          <a:xfrm>
            <a:off x="1280160" y="4709160"/>
            <a:ext cx="91" cy="54864"/>
          </a:xfrm>
          <a:prstGeom prst="line">
            <a:avLst/>
          </a:prstGeom>
          <a:noFill/>
          <a:ln w="12700">
            <a:solidFill>
              <a:srgbClr val="1A2340"/>
            </a:solidFill>
            <a:prstDash val="solid"/>
          </a:ln>
        </p:spPr>
      </p:sp>
      <p:sp>
        <p:nvSpPr>
          <p:cNvPr id="42" name="Text 40"/>
          <p:cNvSpPr/>
          <p:nvPr/>
        </p:nvSpPr>
        <p:spPr>
          <a:xfrm>
            <a:off x="10058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3" name="Shape 41"/>
          <p:cNvSpPr/>
          <p:nvPr/>
        </p:nvSpPr>
        <p:spPr>
          <a:xfrm>
            <a:off x="2157984" y="4709160"/>
            <a:ext cx="91" cy="54864"/>
          </a:xfrm>
          <a:prstGeom prst="line">
            <a:avLst/>
          </a:prstGeom>
          <a:noFill/>
          <a:ln w="12700">
            <a:solidFill>
              <a:srgbClr val="1A2340"/>
            </a:solidFill>
            <a:prstDash val="solid"/>
          </a:ln>
        </p:spPr>
      </p:sp>
      <p:sp>
        <p:nvSpPr>
          <p:cNvPr id="44" name="Text 42"/>
          <p:cNvSpPr/>
          <p:nvPr/>
        </p:nvSpPr>
        <p:spPr>
          <a:xfrm>
            <a:off x="1883664"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5" name="Shape 43"/>
          <p:cNvSpPr/>
          <p:nvPr/>
        </p:nvSpPr>
        <p:spPr>
          <a:xfrm>
            <a:off x="3035808" y="4709160"/>
            <a:ext cx="91" cy="54864"/>
          </a:xfrm>
          <a:prstGeom prst="line">
            <a:avLst/>
          </a:prstGeom>
          <a:noFill/>
          <a:ln w="12700">
            <a:solidFill>
              <a:srgbClr val="1A2340"/>
            </a:solidFill>
            <a:prstDash val="solid"/>
          </a:ln>
        </p:spPr>
      </p:sp>
      <p:sp>
        <p:nvSpPr>
          <p:cNvPr id="46" name="Text 44"/>
          <p:cNvSpPr/>
          <p:nvPr/>
        </p:nvSpPr>
        <p:spPr>
          <a:xfrm>
            <a:off x="2761488"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47" name="Shape 45"/>
          <p:cNvSpPr/>
          <p:nvPr/>
        </p:nvSpPr>
        <p:spPr>
          <a:xfrm>
            <a:off x="3913632" y="4709160"/>
            <a:ext cx="91" cy="54864"/>
          </a:xfrm>
          <a:prstGeom prst="line">
            <a:avLst/>
          </a:prstGeom>
          <a:noFill/>
          <a:ln w="12700">
            <a:solidFill>
              <a:srgbClr val="1A2340"/>
            </a:solidFill>
            <a:prstDash val="solid"/>
          </a:ln>
        </p:spPr>
      </p:sp>
      <p:sp>
        <p:nvSpPr>
          <p:cNvPr id="48" name="Text 46"/>
          <p:cNvSpPr/>
          <p:nvPr/>
        </p:nvSpPr>
        <p:spPr>
          <a:xfrm>
            <a:off x="3639312"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49" name="Shape 47"/>
          <p:cNvSpPr/>
          <p:nvPr/>
        </p:nvSpPr>
        <p:spPr>
          <a:xfrm>
            <a:off x="4791456" y="4709160"/>
            <a:ext cx="91" cy="54864"/>
          </a:xfrm>
          <a:prstGeom prst="line">
            <a:avLst/>
          </a:prstGeom>
          <a:noFill/>
          <a:ln w="12700">
            <a:solidFill>
              <a:srgbClr val="1A2340"/>
            </a:solidFill>
            <a:prstDash val="solid"/>
          </a:ln>
        </p:spPr>
      </p:sp>
      <p:sp>
        <p:nvSpPr>
          <p:cNvPr id="50" name="Text 48"/>
          <p:cNvSpPr/>
          <p:nvPr/>
        </p:nvSpPr>
        <p:spPr>
          <a:xfrm>
            <a:off x="4517136"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51" name="Shape 49"/>
          <p:cNvSpPr/>
          <p:nvPr/>
        </p:nvSpPr>
        <p:spPr>
          <a:xfrm>
            <a:off x="5669280" y="4709160"/>
            <a:ext cx="91" cy="54864"/>
          </a:xfrm>
          <a:prstGeom prst="line">
            <a:avLst/>
          </a:prstGeom>
          <a:noFill/>
          <a:ln w="12700">
            <a:solidFill>
              <a:srgbClr val="1A2340"/>
            </a:solidFill>
            <a:prstDash val="solid"/>
          </a:ln>
        </p:spPr>
      </p:sp>
      <p:sp>
        <p:nvSpPr>
          <p:cNvPr id="52" name="Text 50"/>
          <p:cNvSpPr/>
          <p:nvPr/>
        </p:nvSpPr>
        <p:spPr>
          <a:xfrm>
            <a:off x="53949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3" name="Shape 51"/>
          <p:cNvSpPr/>
          <p:nvPr/>
        </p:nvSpPr>
        <p:spPr>
          <a:xfrm>
            <a:off x="1225296" y="4709160"/>
            <a:ext cx="54864" cy="91"/>
          </a:xfrm>
          <a:prstGeom prst="line">
            <a:avLst/>
          </a:prstGeom>
          <a:noFill/>
          <a:ln w="12700">
            <a:solidFill>
              <a:srgbClr val="1A2340"/>
            </a:solidFill>
            <a:prstDash val="solid"/>
          </a:ln>
        </p:spPr>
      </p:sp>
      <p:sp>
        <p:nvSpPr>
          <p:cNvPr id="54" name="Text 52"/>
          <p:cNvSpPr/>
          <p:nvPr/>
        </p:nvSpPr>
        <p:spPr>
          <a:xfrm>
            <a:off x="84124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5" name="Shape 53"/>
          <p:cNvSpPr/>
          <p:nvPr/>
        </p:nvSpPr>
        <p:spPr>
          <a:xfrm>
            <a:off x="1225296" y="4238897"/>
            <a:ext cx="54864" cy="91"/>
          </a:xfrm>
          <a:prstGeom prst="line">
            <a:avLst/>
          </a:prstGeom>
          <a:noFill/>
          <a:ln w="12700">
            <a:solidFill>
              <a:srgbClr val="1A2340"/>
            </a:solidFill>
            <a:prstDash val="solid"/>
          </a:ln>
        </p:spPr>
      </p:sp>
      <p:sp>
        <p:nvSpPr>
          <p:cNvPr id="56" name="Text 54"/>
          <p:cNvSpPr/>
          <p:nvPr/>
        </p:nvSpPr>
        <p:spPr>
          <a:xfrm>
            <a:off x="841248" y="41474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57" name="Shape 55"/>
          <p:cNvSpPr/>
          <p:nvPr/>
        </p:nvSpPr>
        <p:spPr>
          <a:xfrm>
            <a:off x="1225296" y="3768634"/>
            <a:ext cx="54864" cy="91"/>
          </a:xfrm>
          <a:prstGeom prst="line">
            <a:avLst/>
          </a:prstGeom>
          <a:noFill/>
          <a:ln w="12700">
            <a:solidFill>
              <a:srgbClr val="1A2340"/>
            </a:solidFill>
            <a:prstDash val="solid"/>
          </a:ln>
        </p:spPr>
      </p:sp>
      <p:sp>
        <p:nvSpPr>
          <p:cNvPr id="58" name="Text 56"/>
          <p:cNvSpPr/>
          <p:nvPr/>
        </p:nvSpPr>
        <p:spPr>
          <a:xfrm>
            <a:off x="841248" y="367719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9" name="Shape 57"/>
          <p:cNvSpPr/>
          <p:nvPr/>
        </p:nvSpPr>
        <p:spPr>
          <a:xfrm>
            <a:off x="1225296" y="3298371"/>
            <a:ext cx="54864" cy="91"/>
          </a:xfrm>
          <a:prstGeom prst="line">
            <a:avLst/>
          </a:prstGeom>
          <a:noFill/>
          <a:ln w="12700">
            <a:solidFill>
              <a:srgbClr val="1A2340"/>
            </a:solidFill>
            <a:prstDash val="solid"/>
          </a:ln>
        </p:spPr>
      </p:sp>
      <p:sp>
        <p:nvSpPr>
          <p:cNvPr id="60" name="Text 58"/>
          <p:cNvSpPr/>
          <p:nvPr/>
        </p:nvSpPr>
        <p:spPr>
          <a:xfrm>
            <a:off x="841248" y="320693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61" name="Shape 59"/>
          <p:cNvSpPr/>
          <p:nvPr/>
        </p:nvSpPr>
        <p:spPr>
          <a:xfrm>
            <a:off x="1225296" y="2828109"/>
            <a:ext cx="54864" cy="91"/>
          </a:xfrm>
          <a:prstGeom prst="line">
            <a:avLst/>
          </a:prstGeom>
          <a:noFill/>
          <a:ln w="12700">
            <a:solidFill>
              <a:srgbClr val="1A2340"/>
            </a:solidFill>
            <a:prstDash val="solid"/>
          </a:ln>
        </p:spPr>
      </p:sp>
      <p:sp>
        <p:nvSpPr>
          <p:cNvPr id="62" name="Text 60"/>
          <p:cNvSpPr/>
          <p:nvPr/>
        </p:nvSpPr>
        <p:spPr>
          <a:xfrm>
            <a:off x="841248" y="273666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3" name="Shape 61"/>
          <p:cNvSpPr/>
          <p:nvPr/>
        </p:nvSpPr>
        <p:spPr>
          <a:xfrm>
            <a:off x="1225296" y="2357846"/>
            <a:ext cx="54864" cy="91"/>
          </a:xfrm>
          <a:prstGeom prst="line">
            <a:avLst/>
          </a:prstGeom>
          <a:noFill/>
          <a:ln w="12700">
            <a:solidFill>
              <a:srgbClr val="1A2340"/>
            </a:solidFill>
            <a:prstDash val="solid"/>
          </a:ln>
        </p:spPr>
      </p:sp>
      <p:sp>
        <p:nvSpPr>
          <p:cNvPr id="64" name="Text 62"/>
          <p:cNvSpPr/>
          <p:nvPr/>
        </p:nvSpPr>
        <p:spPr>
          <a:xfrm>
            <a:off x="841248" y="226640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p>
        </p:txBody>
      </p:sp>
      <p:sp>
        <p:nvSpPr>
          <p:cNvPr id="65" name="Shape 63"/>
          <p:cNvSpPr/>
          <p:nvPr/>
        </p:nvSpPr>
        <p:spPr>
          <a:xfrm>
            <a:off x="1225296" y="1887583"/>
            <a:ext cx="54864" cy="91"/>
          </a:xfrm>
          <a:prstGeom prst="line">
            <a:avLst/>
          </a:prstGeom>
          <a:noFill/>
          <a:ln w="12700">
            <a:solidFill>
              <a:srgbClr val="1A2340"/>
            </a:solidFill>
            <a:prstDash val="solid"/>
          </a:ln>
        </p:spPr>
      </p:sp>
      <p:sp>
        <p:nvSpPr>
          <p:cNvPr id="66" name="Text 64"/>
          <p:cNvSpPr/>
          <p:nvPr/>
        </p:nvSpPr>
        <p:spPr>
          <a:xfrm>
            <a:off x="841248" y="179614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67" name="Shape 65"/>
          <p:cNvSpPr/>
          <p:nvPr/>
        </p:nvSpPr>
        <p:spPr>
          <a:xfrm>
            <a:off x="1225296" y="1417320"/>
            <a:ext cx="54864" cy="91"/>
          </a:xfrm>
          <a:prstGeom prst="line">
            <a:avLst/>
          </a:prstGeom>
          <a:noFill/>
          <a:ln w="12700">
            <a:solidFill>
              <a:srgbClr val="1A2340"/>
            </a:solidFill>
            <a:prstDash val="solid"/>
          </a:ln>
        </p:spPr>
      </p:sp>
      <p:sp>
        <p:nvSpPr>
          <p:cNvPr id="68" name="Text 66"/>
          <p:cNvSpPr/>
          <p:nvPr/>
        </p:nvSpPr>
        <p:spPr>
          <a:xfrm>
            <a:off x="84124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p>
        </p:txBody>
      </p:sp>
      <p:sp>
        <p:nvSpPr>
          <p:cNvPr id="69" name="Text 67"/>
          <p:cNvSpPr/>
          <p:nvPr/>
        </p:nvSpPr>
        <p:spPr>
          <a:xfrm>
            <a:off x="1280160" y="4956048"/>
            <a:ext cx="4389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min</a:t>
            </a:r>
            <a:endParaRPr lang="en-US" sz="1050" dirty="0"/>
          </a:p>
        </p:txBody>
      </p:sp>
      <p:sp>
        <p:nvSpPr>
          <p:cNvPr id="70" name="Text 68"/>
          <p:cNvSpPr/>
          <p:nvPr/>
        </p:nvSpPr>
        <p:spPr>
          <a:xfrm rot="16200000">
            <a:off x="-93268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temperature / °C</a:t>
            </a:r>
            <a:endParaRPr lang="en-US" sz="1050" dirty="0"/>
          </a:p>
        </p:txBody>
      </p:sp>
      <p:sp>
        <p:nvSpPr>
          <p:cNvPr id="71" name="Shape 69"/>
          <p:cNvSpPr/>
          <p:nvPr/>
        </p:nvSpPr>
        <p:spPr>
          <a:xfrm>
            <a:off x="1280160" y="1887583"/>
            <a:ext cx="109728" cy="83390"/>
          </a:xfrm>
          <a:prstGeom prst="line">
            <a:avLst/>
          </a:prstGeom>
          <a:noFill/>
          <a:ln w="25400">
            <a:solidFill>
              <a:srgbClr val="C8414C"/>
            </a:solidFill>
            <a:prstDash val="solid"/>
          </a:ln>
        </p:spPr>
      </p:sp>
      <p:sp>
        <p:nvSpPr>
          <p:cNvPr id="72" name="Shape 70"/>
          <p:cNvSpPr/>
          <p:nvPr/>
        </p:nvSpPr>
        <p:spPr>
          <a:xfrm>
            <a:off x="1389888" y="1970973"/>
            <a:ext cx="109728" cy="80926"/>
          </a:xfrm>
          <a:prstGeom prst="line">
            <a:avLst/>
          </a:prstGeom>
          <a:noFill/>
          <a:ln w="25400">
            <a:solidFill>
              <a:srgbClr val="C8414C"/>
            </a:solidFill>
            <a:prstDash val="solid"/>
          </a:ln>
        </p:spPr>
      </p:sp>
      <p:sp>
        <p:nvSpPr>
          <p:cNvPr id="73" name="Shape 71"/>
          <p:cNvSpPr/>
          <p:nvPr/>
        </p:nvSpPr>
        <p:spPr>
          <a:xfrm>
            <a:off x="1499616" y="2051899"/>
            <a:ext cx="109728" cy="78534"/>
          </a:xfrm>
          <a:prstGeom prst="line">
            <a:avLst/>
          </a:prstGeom>
          <a:noFill/>
          <a:ln w="25400">
            <a:solidFill>
              <a:srgbClr val="C8414C"/>
            </a:solidFill>
            <a:prstDash val="solid"/>
          </a:ln>
        </p:spPr>
      </p:sp>
      <p:sp>
        <p:nvSpPr>
          <p:cNvPr id="74" name="Shape 72"/>
          <p:cNvSpPr/>
          <p:nvPr/>
        </p:nvSpPr>
        <p:spPr>
          <a:xfrm>
            <a:off x="1609344" y="2130433"/>
            <a:ext cx="109728" cy="76213"/>
          </a:xfrm>
          <a:prstGeom prst="line">
            <a:avLst/>
          </a:prstGeom>
          <a:noFill/>
          <a:ln w="25400">
            <a:solidFill>
              <a:srgbClr val="C8414C"/>
            </a:solidFill>
            <a:prstDash val="solid"/>
          </a:ln>
        </p:spPr>
      </p:sp>
      <p:sp>
        <p:nvSpPr>
          <p:cNvPr id="75" name="Shape 73"/>
          <p:cNvSpPr/>
          <p:nvPr/>
        </p:nvSpPr>
        <p:spPr>
          <a:xfrm>
            <a:off x="1719072" y="2206646"/>
            <a:ext cx="109728" cy="73960"/>
          </a:xfrm>
          <a:prstGeom prst="line">
            <a:avLst/>
          </a:prstGeom>
          <a:noFill/>
          <a:ln w="25400">
            <a:solidFill>
              <a:srgbClr val="C8414C"/>
            </a:solidFill>
            <a:prstDash val="solid"/>
          </a:ln>
        </p:spPr>
      </p:sp>
      <p:sp>
        <p:nvSpPr>
          <p:cNvPr id="76" name="Shape 74"/>
          <p:cNvSpPr/>
          <p:nvPr/>
        </p:nvSpPr>
        <p:spPr>
          <a:xfrm>
            <a:off x="1828800" y="2280606"/>
            <a:ext cx="109728" cy="71775"/>
          </a:xfrm>
          <a:prstGeom prst="line">
            <a:avLst/>
          </a:prstGeom>
          <a:noFill/>
          <a:ln w="25400">
            <a:solidFill>
              <a:srgbClr val="C8414C"/>
            </a:solidFill>
            <a:prstDash val="solid"/>
          </a:ln>
        </p:spPr>
      </p:sp>
      <p:sp>
        <p:nvSpPr>
          <p:cNvPr id="77" name="Shape 75"/>
          <p:cNvSpPr/>
          <p:nvPr/>
        </p:nvSpPr>
        <p:spPr>
          <a:xfrm>
            <a:off x="1938528" y="2352381"/>
            <a:ext cx="109728" cy="69653"/>
          </a:xfrm>
          <a:prstGeom prst="line">
            <a:avLst/>
          </a:prstGeom>
          <a:noFill/>
          <a:ln w="25400">
            <a:solidFill>
              <a:srgbClr val="C8414C"/>
            </a:solidFill>
            <a:prstDash val="solid"/>
          </a:ln>
        </p:spPr>
      </p:sp>
      <p:sp>
        <p:nvSpPr>
          <p:cNvPr id="78" name="Shape 76"/>
          <p:cNvSpPr/>
          <p:nvPr/>
        </p:nvSpPr>
        <p:spPr>
          <a:xfrm>
            <a:off x="2048256" y="2422034"/>
            <a:ext cx="109728" cy="67595"/>
          </a:xfrm>
          <a:prstGeom prst="line">
            <a:avLst/>
          </a:prstGeom>
          <a:noFill/>
          <a:ln w="25400">
            <a:solidFill>
              <a:srgbClr val="C8414C"/>
            </a:solidFill>
            <a:prstDash val="solid"/>
          </a:ln>
        </p:spPr>
      </p:sp>
      <p:sp>
        <p:nvSpPr>
          <p:cNvPr id="79" name="Shape 77"/>
          <p:cNvSpPr/>
          <p:nvPr/>
        </p:nvSpPr>
        <p:spPr>
          <a:xfrm>
            <a:off x="2157984" y="2489629"/>
            <a:ext cx="109728" cy="65597"/>
          </a:xfrm>
          <a:prstGeom prst="line">
            <a:avLst/>
          </a:prstGeom>
          <a:noFill/>
          <a:ln w="25400">
            <a:solidFill>
              <a:srgbClr val="C8414C"/>
            </a:solidFill>
            <a:prstDash val="solid"/>
          </a:ln>
        </p:spPr>
      </p:sp>
      <p:sp>
        <p:nvSpPr>
          <p:cNvPr id="80" name="Shape 78"/>
          <p:cNvSpPr/>
          <p:nvPr/>
        </p:nvSpPr>
        <p:spPr>
          <a:xfrm>
            <a:off x="2267712" y="2555226"/>
            <a:ext cx="109728" cy="63658"/>
          </a:xfrm>
          <a:prstGeom prst="line">
            <a:avLst/>
          </a:prstGeom>
          <a:noFill/>
          <a:ln w="25400">
            <a:solidFill>
              <a:srgbClr val="C8414C"/>
            </a:solidFill>
            <a:prstDash val="solid"/>
          </a:ln>
        </p:spPr>
      </p:sp>
      <p:sp>
        <p:nvSpPr>
          <p:cNvPr id="81" name="Shape 79"/>
          <p:cNvSpPr/>
          <p:nvPr/>
        </p:nvSpPr>
        <p:spPr>
          <a:xfrm>
            <a:off x="2377440" y="2618884"/>
            <a:ext cx="109728" cy="61777"/>
          </a:xfrm>
          <a:prstGeom prst="line">
            <a:avLst/>
          </a:prstGeom>
          <a:noFill/>
          <a:ln w="25400">
            <a:solidFill>
              <a:srgbClr val="C8414C"/>
            </a:solidFill>
            <a:prstDash val="solid"/>
          </a:ln>
        </p:spPr>
      </p:sp>
      <p:sp>
        <p:nvSpPr>
          <p:cNvPr id="82" name="Shape 80"/>
          <p:cNvSpPr/>
          <p:nvPr/>
        </p:nvSpPr>
        <p:spPr>
          <a:xfrm>
            <a:off x="2487168" y="2680661"/>
            <a:ext cx="109728" cy="59951"/>
          </a:xfrm>
          <a:prstGeom prst="line">
            <a:avLst/>
          </a:prstGeom>
          <a:noFill/>
          <a:ln w="25400">
            <a:solidFill>
              <a:srgbClr val="C8414C"/>
            </a:solidFill>
            <a:prstDash val="solid"/>
          </a:ln>
        </p:spPr>
      </p:sp>
      <p:sp>
        <p:nvSpPr>
          <p:cNvPr id="83" name="Shape 81"/>
          <p:cNvSpPr/>
          <p:nvPr/>
        </p:nvSpPr>
        <p:spPr>
          <a:xfrm>
            <a:off x="2596896" y="2740612"/>
            <a:ext cx="109728" cy="58179"/>
          </a:xfrm>
          <a:prstGeom prst="line">
            <a:avLst/>
          </a:prstGeom>
          <a:noFill/>
          <a:ln w="25400">
            <a:solidFill>
              <a:srgbClr val="C8414C"/>
            </a:solidFill>
            <a:prstDash val="solid"/>
          </a:ln>
        </p:spPr>
      </p:sp>
      <p:sp>
        <p:nvSpPr>
          <p:cNvPr id="84" name="Shape 82"/>
          <p:cNvSpPr/>
          <p:nvPr/>
        </p:nvSpPr>
        <p:spPr>
          <a:xfrm>
            <a:off x="2706624" y="2798792"/>
            <a:ext cx="109728" cy="56460"/>
          </a:xfrm>
          <a:prstGeom prst="line">
            <a:avLst/>
          </a:prstGeom>
          <a:noFill/>
          <a:ln w="25400">
            <a:solidFill>
              <a:srgbClr val="C8414C"/>
            </a:solidFill>
            <a:prstDash val="solid"/>
          </a:ln>
        </p:spPr>
      </p:sp>
      <p:sp>
        <p:nvSpPr>
          <p:cNvPr id="85" name="Shape 83"/>
          <p:cNvSpPr/>
          <p:nvPr/>
        </p:nvSpPr>
        <p:spPr>
          <a:xfrm>
            <a:off x="2816352" y="2855252"/>
            <a:ext cx="109728" cy="54791"/>
          </a:xfrm>
          <a:prstGeom prst="line">
            <a:avLst/>
          </a:prstGeom>
          <a:noFill/>
          <a:ln w="25400">
            <a:solidFill>
              <a:srgbClr val="C8414C"/>
            </a:solidFill>
            <a:prstDash val="solid"/>
          </a:ln>
        </p:spPr>
      </p:sp>
      <p:sp>
        <p:nvSpPr>
          <p:cNvPr id="86" name="Shape 84"/>
          <p:cNvSpPr/>
          <p:nvPr/>
        </p:nvSpPr>
        <p:spPr>
          <a:xfrm>
            <a:off x="2926080" y="2910043"/>
            <a:ext cx="109728" cy="53172"/>
          </a:xfrm>
          <a:prstGeom prst="line">
            <a:avLst/>
          </a:prstGeom>
          <a:noFill/>
          <a:ln w="25400">
            <a:solidFill>
              <a:srgbClr val="C8414C"/>
            </a:solidFill>
            <a:prstDash val="solid"/>
          </a:ln>
        </p:spPr>
      </p:sp>
      <p:sp>
        <p:nvSpPr>
          <p:cNvPr id="87" name="Shape 85"/>
          <p:cNvSpPr/>
          <p:nvPr/>
        </p:nvSpPr>
        <p:spPr>
          <a:xfrm>
            <a:off x="3035808" y="2963215"/>
            <a:ext cx="109728" cy="51600"/>
          </a:xfrm>
          <a:prstGeom prst="line">
            <a:avLst/>
          </a:prstGeom>
          <a:noFill/>
          <a:ln w="25400">
            <a:solidFill>
              <a:srgbClr val="C8414C"/>
            </a:solidFill>
            <a:prstDash val="solid"/>
          </a:ln>
        </p:spPr>
      </p:sp>
      <p:sp>
        <p:nvSpPr>
          <p:cNvPr id="88" name="Shape 86"/>
          <p:cNvSpPr/>
          <p:nvPr/>
        </p:nvSpPr>
        <p:spPr>
          <a:xfrm>
            <a:off x="3145536" y="3014815"/>
            <a:ext cx="109728" cy="50075"/>
          </a:xfrm>
          <a:prstGeom prst="line">
            <a:avLst/>
          </a:prstGeom>
          <a:noFill/>
          <a:ln w="25400">
            <a:solidFill>
              <a:srgbClr val="C8414C"/>
            </a:solidFill>
            <a:prstDash val="solid"/>
          </a:ln>
        </p:spPr>
      </p:sp>
      <p:sp>
        <p:nvSpPr>
          <p:cNvPr id="89" name="Shape 87"/>
          <p:cNvSpPr/>
          <p:nvPr/>
        </p:nvSpPr>
        <p:spPr>
          <a:xfrm>
            <a:off x="3255264" y="3064891"/>
            <a:ext cx="109728" cy="48595"/>
          </a:xfrm>
          <a:prstGeom prst="line">
            <a:avLst/>
          </a:prstGeom>
          <a:noFill/>
          <a:ln w="25400">
            <a:solidFill>
              <a:srgbClr val="C8414C"/>
            </a:solidFill>
            <a:prstDash val="solid"/>
          </a:ln>
        </p:spPr>
      </p:sp>
      <p:sp>
        <p:nvSpPr>
          <p:cNvPr id="90" name="Shape 88"/>
          <p:cNvSpPr/>
          <p:nvPr/>
        </p:nvSpPr>
        <p:spPr>
          <a:xfrm>
            <a:off x="3364992" y="3113486"/>
            <a:ext cx="109728" cy="47159"/>
          </a:xfrm>
          <a:prstGeom prst="line">
            <a:avLst/>
          </a:prstGeom>
          <a:noFill/>
          <a:ln w="25400">
            <a:solidFill>
              <a:srgbClr val="C8414C"/>
            </a:solidFill>
            <a:prstDash val="solid"/>
          </a:ln>
        </p:spPr>
      </p:sp>
      <p:sp>
        <p:nvSpPr>
          <p:cNvPr id="91" name="Shape 89"/>
          <p:cNvSpPr/>
          <p:nvPr/>
        </p:nvSpPr>
        <p:spPr>
          <a:xfrm>
            <a:off x="3474720" y="3160646"/>
            <a:ext cx="109728" cy="45766"/>
          </a:xfrm>
          <a:prstGeom prst="line">
            <a:avLst/>
          </a:prstGeom>
          <a:noFill/>
          <a:ln w="25400">
            <a:solidFill>
              <a:srgbClr val="C8414C"/>
            </a:solidFill>
            <a:prstDash val="solid"/>
          </a:ln>
        </p:spPr>
      </p:sp>
      <p:sp>
        <p:nvSpPr>
          <p:cNvPr id="92" name="Shape 90"/>
          <p:cNvSpPr/>
          <p:nvPr/>
        </p:nvSpPr>
        <p:spPr>
          <a:xfrm>
            <a:off x="3584448" y="3206411"/>
            <a:ext cx="109728" cy="44413"/>
          </a:xfrm>
          <a:prstGeom prst="line">
            <a:avLst/>
          </a:prstGeom>
          <a:noFill/>
          <a:ln w="25400">
            <a:solidFill>
              <a:srgbClr val="C8414C"/>
            </a:solidFill>
            <a:prstDash val="solid"/>
          </a:ln>
        </p:spPr>
      </p:sp>
      <p:sp>
        <p:nvSpPr>
          <p:cNvPr id="93" name="Shape 91"/>
          <p:cNvSpPr/>
          <p:nvPr/>
        </p:nvSpPr>
        <p:spPr>
          <a:xfrm>
            <a:off x="3694176" y="3250824"/>
            <a:ext cx="109728" cy="43100"/>
          </a:xfrm>
          <a:prstGeom prst="line">
            <a:avLst/>
          </a:prstGeom>
          <a:noFill/>
          <a:ln w="25400">
            <a:solidFill>
              <a:srgbClr val="C8414C"/>
            </a:solidFill>
            <a:prstDash val="solid"/>
          </a:ln>
        </p:spPr>
      </p:sp>
      <p:sp>
        <p:nvSpPr>
          <p:cNvPr id="94" name="Shape 92"/>
          <p:cNvSpPr/>
          <p:nvPr/>
        </p:nvSpPr>
        <p:spPr>
          <a:xfrm>
            <a:off x="3803904" y="3293924"/>
            <a:ext cx="109728" cy="41827"/>
          </a:xfrm>
          <a:prstGeom prst="line">
            <a:avLst/>
          </a:prstGeom>
          <a:noFill/>
          <a:ln w="25400">
            <a:solidFill>
              <a:srgbClr val="C8414C"/>
            </a:solidFill>
            <a:prstDash val="solid"/>
          </a:ln>
        </p:spPr>
      </p:sp>
      <p:sp>
        <p:nvSpPr>
          <p:cNvPr id="95" name="Shape 93"/>
          <p:cNvSpPr/>
          <p:nvPr/>
        </p:nvSpPr>
        <p:spPr>
          <a:xfrm>
            <a:off x="3913632" y="3335751"/>
            <a:ext cx="109728" cy="40590"/>
          </a:xfrm>
          <a:prstGeom prst="line">
            <a:avLst/>
          </a:prstGeom>
          <a:noFill/>
          <a:ln w="25400">
            <a:solidFill>
              <a:srgbClr val="C8414C"/>
            </a:solidFill>
            <a:prstDash val="solid"/>
          </a:ln>
        </p:spPr>
      </p:sp>
      <p:sp>
        <p:nvSpPr>
          <p:cNvPr id="96" name="Shape 94"/>
          <p:cNvSpPr/>
          <p:nvPr/>
        </p:nvSpPr>
        <p:spPr>
          <a:xfrm>
            <a:off x="4023360" y="3376341"/>
            <a:ext cx="109728" cy="39391"/>
          </a:xfrm>
          <a:prstGeom prst="line">
            <a:avLst/>
          </a:prstGeom>
          <a:noFill/>
          <a:ln w="25400">
            <a:solidFill>
              <a:srgbClr val="C8414C"/>
            </a:solidFill>
            <a:prstDash val="solid"/>
          </a:ln>
        </p:spPr>
      </p:sp>
      <p:sp>
        <p:nvSpPr>
          <p:cNvPr id="97" name="Shape 95"/>
          <p:cNvSpPr/>
          <p:nvPr/>
        </p:nvSpPr>
        <p:spPr>
          <a:xfrm>
            <a:off x="4133088" y="3415732"/>
            <a:ext cx="109728" cy="38227"/>
          </a:xfrm>
          <a:prstGeom prst="line">
            <a:avLst/>
          </a:prstGeom>
          <a:noFill/>
          <a:ln w="25400">
            <a:solidFill>
              <a:srgbClr val="C8414C"/>
            </a:solidFill>
            <a:prstDash val="solid"/>
          </a:ln>
        </p:spPr>
      </p:sp>
      <p:sp>
        <p:nvSpPr>
          <p:cNvPr id="98" name="Shape 96"/>
          <p:cNvSpPr/>
          <p:nvPr/>
        </p:nvSpPr>
        <p:spPr>
          <a:xfrm>
            <a:off x="4242816" y="3453959"/>
            <a:ext cx="109728" cy="37097"/>
          </a:xfrm>
          <a:prstGeom prst="line">
            <a:avLst/>
          </a:prstGeom>
          <a:noFill/>
          <a:ln w="25400">
            <a:solidFill>
              <a:srgbClr val="C8414C"/>
            </a:solidFill>
            <a:prstDash val="solid"/>
          </a:ln>
        </p:spPr>
      </p:sp>
      <p:sp>
        <p:nvSpPr>
          <p:cNvPr id="99" name="Shape 97"/>
          <p:cNvSpPr/>
          <p:nvPr/>
        </p:nvSpPr>
        <p:spPr>
          <a:xfrm>
            <a:off x="4352544" y="3491055"/>
            <a:ext cx="109728" cy="36000"/>
          </a:xfrm>
          <a:prstGeom prst="line">
            <a:avLst/>
          </a:prstGeom>
          <a:noFill/>
          <a:ln w="25400">
            <a:solidFill>
              <a:srgbClr val="C8414C"/>
            </a:solidFill>
            <a:prstDash val="solid"/>
          </a:ln>
        </p:spPr>
      </p:sp>
      <p:sp>
        <p:nvSpPr>
          <p:cNvPr id="100" name="Shape 98"/>
          <p:cNvSpPr/>
          <p:nvPr/>
        </p:nvSpPr>
        <p:spPr>
          <a:xfrm>
            <a:off x="4462272" y="3527056"/>
            <a:ext cx="109728" cy="34936"/>
          </a:xfrm>
          <a:prstGeom prst="line">
            <a:avLst/>
          </a:prstGeom>
          <a:noFill/>
          <a:ln w="25400">
            <a:solidFill>
              <a:srgbClr val="C8414C"/>
            </a:solidFill>
            <a:prstDash val="solid"/>
          </a:ln>
        </p:spPr>
      </p:sp>
      <p:sp>
        <p:nvSpPr>
          <p:cNvPr id="101" name="Shape 99"/>
          <p:cNvSpPr/>
          <p:nvPr/>
        </p:nvSpPr>
        <p:spPr>
          <a:xfrm>
            <a:off x="4572000" y="3561992"/>
            <a:ext cx="109728" cy="33904"/>
          </a:xfrm>
          <a:prstGeom prst="line">
            <a:avLst/>
          </a:prstGeom>
          <a:noFill/>
          <a:ln w="25400">
            <a:solidFill>
              <a:srgbClr val="C8414C"/>
            </a:solidFill>
            <a:prstDash val="solid"/>
          </a:ln>
        </p:spPr>
      </p:sp>
      <p:sp>
        <p:nvSpPr>
          <p:cNvPr id="102" name="Shape 100"/>
          <p:cNvSpPr/>
          <p:nvPr/>
        </p:nvSpPr>
        <p:spPr>
          <a:xfrm>
            <a:off x="4681728" y="3595896"/>
            <a:ext cx="109728" cy="32902"/>
          </a:xfrm>
          <a:prstGeom prst="line">
            <a:avLst/>
          </a:prstGeom>
          <a:noFill/>
          <a:ln w="25400">
            <a:solidFill>
              <a:srgbClr val="C8414C"/>
            </a:solidFill>
            <a:prstDash val="solid"/>
          </a:ln>
        </p:spPr>
      </p:sp>
      <p:sp>
        <p:nvSpPr>
          <p:cNvPr id="103" name="Shape 101"/>
          <p:cNvSpPr/>
          <p:nvPr/>
        </p:nvSpPr>
        <p:spPr>
          <a:xfrm>
            <a:off x="4791456" y="3628798"/>
            <a:ext cx="109728" cy="31930"/>
          </a:xfrm>
          <a:prstGeom prst="line">
            <a:avLst/>
          </a:prstGeom>
          <a:noFill/>
          <a:ln w="25400">
            <a:solidFill>
              <a:srgbClr val="C8414C"/>
            </a:solidFill>
            <a:prstDash val="solid"/>
          </a:ln>
        </p:spPr>
      </p:sp>
      <p:sp>
        <p:nvSpPr>
          <p:cNvPr id="104" name="Shape 102"/>
          <p:cNvSpPr/>
          <p:nvPr/>
        </p:nvSpPr>
        <p:spPr>
          <a:xfrm>
            <a:off x="4901184" y="3660728"/>
            <a:ext cx="109728" cy="30986"/>
          </a:xfrm>
          <a:prstGeom prst="line">
            <a:avLst/>
          </a:prstGeom>
          <a:noFill/>
          <a:ln w="25400">
            <a:solidFill>
              <a:srgbClr val="C8414C"/>
            </a:solidFill>
            <a:prstDash val="solid"/>
          </a:ln>
        </p:spPr>
      </p:sp>
      <p:sp>
        <p:nvSpPr>
          <p:cNvPr id="105" name="Shape 103"/>
          <p:cNvSpPr/>
          <p:nvPr/>
        </p:nvSpPr>
        <p:spPr>
          <a:xfrm>
            <a:off x="5010912" y="3691714"/>
            <a:ext cx="109728" cy="30070"/>
          </a:xfrm>
          <a:prstGeom prst="line">
            <a:avLst/>
          </a:prstGeom>
          <a:noFill/>
          <a:ln w="25400">
            <a:solidFill>
              <a:srgbClr val="C8414C"/>
            </a:solidFill>
            <a:prstDash val="solid"/>
          </a:ln>
        </p:spPr>
      </p:sp>
      <p:sp>
        <p:nvSpPr>
          <p:cNvPr id="106" name="Shape 104"/>
          <p:cNvSpPr/>
          <p:nvPr/>
        </p:nvSpPr>
        <p:spPr>
          <a:xfrm>
            <a:off x="5120640" y="3721784"/>
            <a:ext cx="109728" cy="29181"/>
          </a:xfrm>
          <a:prstGeom prst="line">
            <a:avLst/>
          </a:prstGeom>
          <a:noFill/>
          <a:ln w="25400">
            <a:solidFill>
              <a:srgbClr val="C8414C"/>
            </a:solidFill>
            <a:prstDash val="solid"/>
          </a:ln>
        </p:spPr>
      </p:sp>
      <p:sp>
        <p:nvSpPr>
          <p:cNvPr id="107" name="Shape 105"/>
          <p:cNvSpPr/>
          <p:nvPr/>
        </p:nvSpPr>
        <p:spPr>
          <a:xfrm>
            <a:off x="5230368" y="3750965"/>
            <a:ext cx="109728" cy="28319"/>
          </a:xfrm>
          <a:prstGeom prst="line">
            <a:avLst/>
          </a:prstGeom>
          <a:noFill/>
          <a:ln w="25400">
            <a:solidFill>
              <a:srgbClr val="C8414C"/>
            </a:solidFill>
            <a:prstDash val="solid"/>
          </a:ln>
        </p:spPr>
      </p:sp>
      <p:sp>
        <p:nvSpPr>
          <p:cNvPr id="108" name="Shape 106"/>
          <p:cNvSpPr/>
          <p:nvPr/>
        </p:nvSpPr>
        <p:spPr>
          <a:xfrm>
            <a:off x="5340096" y="3779284"/>
            <a:ext cx="109728" cy="27482"/>
          </a:xfrm>
          <a:prstGeom prst="line">
            <a:avLst/>
          </a:prstGeom>
          <a:noFill/>
          <a:ln w="25400">
            <a:solidFill>
              <a:srgbClr val="C8414C"/>
            </a:solidFill>
            <a:prstDash val="solid"/>
          </a:ln>
        </p:spPr>
      </p:sp>
      <p:sp>
        <p:nvSpPr>
          <p:cNvPr id="109" name="Shape 107"/>
          <p:cNvSpPr/>
          <p:nvPr/>
        </p:nvSpPr>
        <p:spPr>
          <a:xfrm>
            <a:off x="5449824" y="3806766"/>
            <a:ext cx="109728" cy="26670"/>
          </a:xfrm>
          <a:prstGeom prst="line">
            <a:avLst/>
          </a:prstGeom>
          <a:noFill/>
          <a:ln w="25400">
            <a:solidFill>
              <a:srgbClr val="C8414C"/>
            </a:solidFill>
            <a:prstDash val="solid"/>
          </a:ln>
        </p:spPr>
      </p:sp>
      <p:sp>
        <p:nvSpPr>
          <p:cNvPr id="110" name="Shape 108"/>
          <p:cNvSpPr/>
          <p:nvPr/>
        </p:nvSpPr>
        <p:spPr>
          <a:xfrm>
            <a:off x="5559552" y="3833436"/>
            <a:ext cx="109728" cy="25882"/>
          </a:xfrm>
          <a:prstGeom prst="line">
            <a:avLst/>
          </a:prstGeom>
          <a:noFill/>
          <a:ln w="25400">
            <a:solidFill>
              <a:srgbClr val="C8414C"/>
            </a:solidFill>
            <a:prstDash val="solid"/>
          </a:ln>
        </p:spPr>
      </p:sp>
      <p:sp>
        <p:nvSpPr>
          <p:cNvPr id="111" name="Shape 109"/>
          <p:cNvSpPr/>
          <p:nvPr/>
        </p:nvSpPr>
        <p:spPr>
          <a:xfrm>
            <a:off x="1234440" y="1841863"/>
            <a:ext cx="91440" cy="91440"/>
          </a:xfrm>
          <a:prstGeom prst="line">
            <a:avLst/>
          </a:prstGeom>
          <a:noFill/>
          <a:ln w="15875">
            <a:solidFill>
              <a:srgbClr val="C8414C"/>
            </a:solidFill>
            <a:prstDash val="solid"/>
          </a:ln>
        </p:spPr>
      </p:sp>
      <p:sp>
        <p:nvSpPr>
          <p:cNvPr id="112" name="Shape 110"/>
          <p:cNvSpPr/>
          <p:nvPr/>
        </p:nvSpPr>
        <p:spPr>
          <a:xfrm flipV="1">
            <a:off x="1234440" y="1841863"/>
            <a:ext cx="91440" cy="91440"/>
          </a:xfrm>
          <a:prstGeom prst="line">
            <a:avLst/>
          </a:prstGeom>
          <a:noFill/>
          <a:ln w="15875">
            <a:solidFill>
              <a:srgbClr val="C8414C"/>
            </a:solidFill>
            <a:prstDash val="solid"/>
          </a:ln>
        </p:spPr>
      </p:sp>
      <p:sp>
        <p:nvSpPr>
          <p:cNvPr id="113" name="Shape 111"/>
          <p:cNvSpPr/>
          <p:nvPr/>
        </p:nvSpPr>
        <p:spPr>
          <a:xfrm>
            <a:off x="2112264" y="2453205"/>
            <a:ext cx="91440" cy="91440"/>
          </a:xfrm>
          <a:prstGeom prst="line">
            <a:avLst/>
          </a:prstGeom>
          <a:noFill/>
          <a:ln w="15875">
            <a:solidFill>
              <a:srgbClr val="C8414C"/>
            </a:solidFill>
            <a:prstDash val="solid"/>
          </a:ln>
        </p:spPr>
      </p:sp>
      <p:sp>
        <p:nvSpPr>
          <p:cNvPr id="114" name="Shape 112"/>
          <p:cNvSpPr/>
          <p:nvPr/>
        </p:nvSpPr>
        <p:spPr>
          <a:xfrm flipV="1">
            <a:off x="2112264" y="2453205"/>
            <a:ext cx="91440" cy="91440"/>
          </a:xfrm>
          <a:prstGeom prst="line">
            <a:avLst/>
          </a:prstGeom>
          <a:noFill/>
          <a:ln w="15875">
            <a:solidFill>
              <a:srgbClr val="C8414C"/>
            </a:solidFill>
            <a:prstDash val="solid"/>
          </a:ln>
        </p:spPr>
      </p:sp>
      <p:sp>
        <p:nvSpPr>
          <p:cNvPr id="115" name="Shape 113"/>
          <p:cNvSpPr/>
          <p:nvPr/>
        </p:nvSpPr>
        <p:spPr>
          <a:xfrm>
            <a:off x="2990088" y="2923467"/>
            <a:ext cx="91440" cy="91440"/>
          </a:xfrm>
          <a:prstGeom prst="line">
            <a:avLst/>
          </a:prstGeom>
          <a:noFill/>
          <a:ln w="15875">
            <a:solidFill>
              <a:srgbClr val="C8414C"/>
            </a:solidFill>
            <a:prstDash val="solid"/>
          </a:ln>
        </p:spPr>
      </p:sp>
      <p:sp>
        <p:nvSpPr>
          <p:cNvPr id="116" name="Shape 114"/>
          <p:cNvSpPr/>
          <p:nvPr/>
        </p:nvSpPr>
        <p:spPr>
          <a:xfrm flipV="1">
            <a:off x="2990088" y="2923467"/>
            <a:ext cx="91440" cy="91440"/>
          </a:xfrm>
          <a:prstGeom prst="line">
            <a:avLst/>
          </a:prstGeom>
          <a:noFill/>
          <a:ln w="15875">
            <a:solidFill>
              <a:srgbClr val="C8414C"/>
            </a:solidFill>
            <a:prstDash val="solid"/>
          </a:ln>
        </p:spPr>
      </p:sp>
      <p:sp>
        <p:nvSpPr>
          <p:cNvPr id="117" name="Shape 115"/>
          <p:cNvSpPr/>
          <p:nvPr/>
        </p:nvSpPr>
        <p:spPr>
          <a:xfrm>
            <a:off x="3867912" y="3299678"/>
            <a:ext cx="91440" cy="91440"/>
          </a:xfrm>
          <a:prstGeom prst="line">
            <a:avLst/>
          </a:prstGeom>
          <a:noFill/>
          <a:ln w="15875">
            <a:solidFill>
              <a:srgbClr val="C8414C"/>
            </a:solidFill>
            <a:prstDash val="solid"/>
          </a:ln>
        </p:spPr>
      </p:sp>
      <p:sp>
        <p:nvSpPr>
          <p:cNvPr id="118" name="Shape 116"/>
          <p:cNvSpPr/>
          <p:nvPr/>
        </p:nvSpPr>
        <p:spPr>
          <a:xfrm flipV="1">
            <a:off x="3867912" y="3299678"/>
            <a:ext cx="91440" cy="91440"/>
          </a:xfrm>
          <a:prstGeom prst="line">
            <a:avLst/>
          </a:prstGeom>
          <a:noFill/>
          <a:ln w="15875">
            <a:solidFill>
              <a:srgbClr val="C8414C"/>
            </a:solidFill>
            <a:prstDash val="solid"/>
          </a:ln>
        </p:spPr>
      </p:sp>
      <p:sp>
        <p:nvSpPr>
          <p:cNvPr id="119" name="Shape 117"/>
          <p:cNvSpPr/>
          <p:nvPr/>
        </p:nvSpPr>
        <p:spPr>
          <a:xfrm>
            <a:off x="4745736" y="3581835"/>
            <a:ext cx="91440" cy="91440"/>
          </a:xfrm>
          <a:prstGeom prst="line">
            <a:avLst/>
          </a:prstGeom>
          <a:noFill/>
          <a:ln w="15875">
            <a:solidFill>
              <a:srgbClr val="C8414C"/>
            </a:solidFill>
            <a:prstDash val="solid"/>
          </a:ln>
        </p:spPr>
      </p:sp>
      <p:sp>
        <p:nvSpPr>
          <p:cNvPr id="120" name="Shape 118"/>
          <p:cNvSpPr/>
          <p:nvPr/>
        </p:nvSpPr>
        <p:spPr>
          <a:xfrm flipV="1">
            <a:off x="4745736" y="3581835"/>
            <a:ext cx="91440" cy="91440"/>
          </a:xfrm>
          <a:prstGeom prst="line">
            <a:avLst/>
          </a:prstGeom>
          <a:noFill/>
          <a:ln w="15875">
            <a:solidFill>
              <a:srgbClr val="C8414C"/>
            </a:solidFill>
            <a:prstDash val="solid"/>
          </a:ln>
        </p:spPr>
      </p:sp>
      <p:sp>
        <p:nvSpPr>
          <p:cNvPr id="121" name="Shape 119"/>
          <p:cNvSpPr/>
          <p:nvPr/>
        </p:nvSpPr>
        <p:spPr>
          <a:xfrm>
            <a:off x="5623560" y="3816967"/>
            <a:ext cx="91440" cy="91440"/>
          </a:xfrm>
          <a:prstGeom prst="line">
            <a:avLst/>
          </a:prstGeom>
          <a:noFill/>
          <a:ln w="15875">
            <a:solidFill>
              <a:srgbClr val="C8414C"/>
            </a:solidFill>
            <a:prstDash val="solid"/>
          </a:ln>
        </p:spPr>
      </p:sp>
      <p:sp>
        <p:nvSpPr>
          <p:cNvPr id="122" name="Shape 120"/>
          <p:cNvSpPr/>
          <p:nvPr/>
        </p:nvSpPr>
        <p:spPr>
          <a:xfrm flipV="1">
            <a:off x="5623560" y="3816967"/>
            <a:ext cx="91440" cy="91440"/>
          </a:xfrm>
          <a:prstGeom prst="line">
            <a:avLst/>
          </a:prstGeom>
          <a:noFill/>
          <a:ln w="15875">
            <a:solidFill>
              <a:srgbClr val="C8414C"/>
            </a:solidFill>
            <a:prstDash val="solid"/>
          </a:ln>
        </p:spPr>
      </p:sp>
      <p:sp>
        <p:nvSpPr>
          <p:cNvPr id="123" name="Shape 121"/>
          <p:cNvSpPr/>
          <p:nvPr/>
        </p:nvSpPr>
        <p:spPr>
          <a:xfrm>
            <a:off x="3979469" y="1611957"/>
            <a:ext cx="285293" cy="91"/>
          </a:xfrm>
          <a:prstGeom prst="line">
            <a:avLst/>
          </a:prstGeom>
          <a:noFill/>
          <a:ln w="31750">
            <a:solidFill>
              <a:srgbClr val="C8414C"/>
            </a:solidFill>
            <a:prstDash val="solid"/>
          </a:ln>
        </p:spPr>
      </p:sp>
      <p:sp>
        <p:nvSpPr>
          <p:cNvPr id="124" name="Text 122"/>
          <p:cNvSpPr/>
          <p:nvPr/>
        </p:nvSpPr>
        <p:spPr>
          <a:xfrm>
            <a:off x="4308653" y="1511373"/>
            <a:ext cx="109728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none</a:t>
            </a:r>
            <a:endParaRPr lang="en-US" sz="1000" dirty="0"/>
          </a:p>
        </p:txBody>
      </p:sp>
      <p:sp>
        <p:nvSpPr>
          <p:cNvPr id="125" name="Shape 123"/>
          <p:cNvSpPr/>
          <p:nvPr/>
        </p:nvSpPr>
        <p:spPr>
          <a:xfrm>
            <a:off x="1280160" y="1887583"/>
            <a:ext cx="109728" cy="55871"/>
          </a:xfrm>
          <a:prstGeom prst="line">
            <a:avLst/>
          </a:prstGeom>
          <a:noFill/>
          <a:ln w="25400">
            <a:solidFill>
              <a:srgbClr val="B8730A"/>
            </a:solidFill>
            <a:prstDash val="solid"/>
          </a:ln>
        </p:spPr>
      </p:sp>
      <p:sp>
        <p:nvSpPr>
          <p:cNvPr id="126" name="Shape 124"/>
          <p:cNvSpPr/>
          <p:nvPr/>
        </p:nvSpPr>
        <p:spPr>
          <a:xfrm>
            <a:off x="1389888" y="1943454"/>
            <a:ext cx="109728" cy="54765"/>
          </a:xfrm>
          <a:prstGeom prst="line">
            <a:avLst/>
          </a:prstGeom>
          <a:noFill/>
          <a:ln w="25400">
            <a:solidFill>
              <a:srgbClr val="B8730A"/>
            </a:solidFill>
            <a:prstDash val="solid"/>
          </a:ln>
        </p:spPr>
      </p:sp>
      <p:sp>
        <p:nvSpPr>
          <p:cNvPr id="127" name="Shape 125"/>
          <p:cNvSpPr/>
          <p:nvPr/>
        </p:nvSpPr>
        <p:spPr>
          <a:xfrm>
            <a:off x="1499616" y="1998218"/>
            <a:ext cx="109728" cy="53680"/>
          </a:xfrm>
          <a:prstGeom prst="line">
            <a:avLst/>
          </a:prstGeom>
          <a:noFill/>
          <a:ln w="25400">
            <a:solidFill>
              <a:srgbClr val="B8730A"/>
            </a:solidFill>
            <a:prstDash val="solid"/>
          </a:ln>
        </p:spPr>
      </p:sp>
      <p:sp>
        <p:nvSpPr>
          <p:cNvPr id="128" name="Shape 126"/>
          <p:cNvSpPr/>
          <p:nvPr/>
        </p:nvSpPr>
        <p:spPr>
          <a:xfrm>
            <a:off x="1609344" y="2051899"/>
            <a:ext cx="109728" cy="52617"/>
          </a:xfrm>
          <a:prstGeom prst="line">
            <a:avLst/>
          </a:prstGeom>
          <a:noFill/>
          <a:ln w="25400">
            <a:solidFill>
              <a:srgbClr val="B8730A"/>
            </a:solidFill>
            <a:prstDash val="solid"/>
          </a:ln>
        </p:spPr>
      </p:sp>
      <p:sp>
        <p:nvSpPr>
          <p:cNvPr id="129" name="Shape 127"/>
          <p:cNvSpPr/>
          <p:nvPr/>
        </p:nvSpPr>
        <p:spPr>
          <a:xfrm>
            <a:off x="1719072" y="2104516"/>
            <a:ext cx="109728" cy="51575"/>
          </a:xfrm>
          <a:prstGeom prst="line">
            <a:avLst/>
          </a:prstGeom>
          <a:noFill/>
          <a:ln w="25400">
            <a:solidFill>
              <a:srgbClr val="B8730A"/>
            </a:solidFill>
            <a:prstDash val="solid"/>
          </a:ln>
        </p:spPr>
      </p:sp>
      <p:sp>
        <p:nvSpPr>
          <p:cNvPr id="130" name="Shape 128"/>
          <p:cNvSpPr/>
          <p:nvPr/>
        </p:nvSpPr>
        <p:spPr>
          <a:xfrm>
            <a:off x="1828800" y="2156091"/>
            <a:ext cx="109728" cy="50554"/>
          </a:xfrm>
          <a:prstGeom prst="line">
            <a:avLst/>
          </a:prstGeom>
          <a:noFill/>
          <a:ln w="25400">
            <a:solidFill>
              <a:srgbClr val="B8730A"/>
            </a:solidFill>
            <a:prstDash val="solid"/>
          </a:ln>
        </p:spPr>
      </p:sp>
      <p:sp>
        <p:nvSpPr>
          <p:cNvPr id="131" name="Shape 129"/>
          <p:cNvSpPr/>
          <p:nvPr/>
        </p:nvSpPr>
        <p:spPr>
          <a:xfrm>
            <a:off x="1938528" y="2206646"/>
            <a:ext cx="109728" cy="49553"/>
          </a:xfrm>
          <a:prstGeom prst="line">
            <a:avLst/>
          </a:prstGeom>
          <a:noFill/>
          <a:ln w="25400">
            <a:solidFill>
              <a:srgbClr val="B8730A"/>
            </a:solidFill>
            <a:prstDash val="solid"/>
          </a:ln>
        </p:spPr>
      </p:sp>
      <p:sp>
        <p:nvSpPr>
          <p:cNvPr id="132" name="Shape 130"/>
          <p:cNvSpPr/>
          <p:nvPr/>
        </p:nvSpPr>
        <p:spPr>
          <a:xfrm>
            <a:off x="2048256" y="2256199"/>
            <a:ext cx="109728" cy="48572"/>
          </a:xfrm>
          <a:prstGeom prst="line">
            <a:avLst/>
          </a:prstGeom>
          <a:noFill/>
          <a:ln w="25400">
            <a:solidFill>
              <a:srgbClr val="B8730A"/>
            </a:solidFill>
            <a:prstDash val="solid"/>
          </a:ln>
        </p:spPr>
      </p:sp>
      <p:sp>
        <p:nvSpPr>
          <p:cNvPr id="133" name="Shape 131"/>
          <p:cNvSpPr/>
          <p:nvPr/>
        </p:nvSpPr>
        <p:spPr>
          <a:xfrm>
            <a:off x="2157984" y="2304771"/>
            <a:ext cx="109728" cy="47610"/>
          </a:xfrm>
          <a:prstGeom prst="line">
            <a:avLst/>
          </a:prstGeom>
          <a:noFill/>
          <a:ln w="25400">
            <a:solidFill>
              <a:srgbClr val="B8730A"/>
            </a:solidFill>
            <a:prstDash val="solid"/>
          </a:ln>
        </p:spPr>
      </p:sp>
      <p:sp>
        <p:nvSpPr>
          <p:cNvPr id="134" name="Shape 132"/>
          <p:cNvSpPr/>
          <p:nvPr/>
        </p:nvSpPr>
        <p:spPr>
          <a:xfrm>
            <a:off x="2267712" y="2352381"/>
            <a:ext cx="109728" cy="46667"/>
          </a:xfrm>
          <a:prstGeom prst="line">
            <a:avLst/>
          </a:prstGeom>
          <a:noFill/>
          <a:ln w="25400">
            <a:solidFill>
              <a:srgbClr val="B8730A"/>
            </a:solidFill>
            <a:prstDash val="solid"/>
          </a:ln>
        </p:spPr>
      </p:sp>
      <p:sp>
        <p:nvSpPr>
          <p:cNvPr id="135" name="Shape 133"/>
          <p:cNvSpPr/>
          <p:nvPr/>
        </p:nvSpPr>
        <p:spPr>
          <a:xfrm>
            <a:off x="2377440" y="2399048"/>
            <a:ext cx="109728" cy="45743"/>
          </a:xfrm>
          <a:prstGeom prst="line">
            <a:avLst/>
          </a:prstGeom>
          <a:noFill/>
          <a:ln w="25400">
            <a:solidFill>
              <a:srgbClr val="B8730A"/>
            </a:solidFill>
            <a:prstDash val="solid"/>
          </a:ln>
        </p:spPr>
      </p:sp>
      <p:sp>
        <p:nvSpPr>
          <p:cNvPr id="136" name="Shape 134"/>
          <p:cNvSpPr/>
          <p:nvPr/>
        </p:nvSpPr>
        <p:spPr>
          <a:xfrm>
            <a:off x="2487168" y="2444791"/>
            <a:ext cx="109728" cy="44838"/>
          </a:xfrm>
          <a:prstGeom prst="line">
            <a:avLst/>
          </a:prstGeom>
          <a:noFill/>
          <a:ln w="25400">
            <a:solidFill>
              <a:srgbClr val="B8730A"/>
            </a:solidFill>
            <a:prstDash val="solid"/>
          </a:ln>
        </p:spPr>
      </p:sp>
      <p:sp>
        <p:nvSpPr>
          <p:cNvPr id="137" name="Shape 135"/>
          <p:cNvSpPr/>
          <p:nvPr/>
        </p:nvSpPr>
        <p:spPr>
          <a:xfrm>
            <a:off x="2596896" y="2489629"/>
            <a:ext cx="109728" cy="43950"/>
          </a:xfrm>
          <a:prstGeom prst="line">
            <a:avLst/>
          </a:prstGeom>
          <a:noFill/>
          <a:ln w="25400">
            <a:solidFill>
              <a:srgbClr val="B8730A"/>
            </a:solidFill>
            <a:prstDash val="solid"/>
          </a:ln>
        </p:spPr>
      </p:sp>
      <p:sp>
        <p:nvSpPr>
          <p:cNvPr id="138" name="Shape 136"/>
          <p:cNvSpPr/>
          <p:nvPr/>
        </p:nvSpPr>
        <p:spPr>
          <a:xfrm>
            <a:off x="2706624" y="2533578"/>
            <a:ext cx="109728" cy="43079"/>
          </a:xfrm>
          <a:prstGeom prst="line">
            <a:avLst/>
          </a:prstGeom>
          <a:noFill/>
          <a:ln w="25400">
            <a:solidFill>
              <a:srgbClr val="B8730A"/>
            </a:solidFill>
            <a:prstDash val="solid"/>
          </a:ln>
        </p:spPr>
      </p:sp>
      <p:sp>
        <p:nvSpPr>
          <p:cNvPr id="139" name="Shape 137"/>
          <p:cNvSpPr/>
          <p:nvPr/>
        </p:nvSpPr>
        <p:spPr>
          <a:xfrm>
            <a:off x="2816352" y="2576658"/>
            <a:ext cx="109728" cy="42226"/>
          </a:xfrm>
          <a:prstGeom prst="line">
            <a:avLst/>
          </a:prstGeom>
          <a:noFill/>
          <a:ln w="25400">
            <a:solidFill>
              <a:srgbClr val="B8730A"/>
            </a:solidFill>
            <a:prstDash val="solid"/>
          </a:ln>
        </p:spPr>
      </p:sp>
      <p:sp>
        <p:nvSpPr>
          <p:cNvPr id="140" name="Shape 138"/>
          <p:cNvSpPr/>
          <p:nvPr/>
        </p:nvSpPr>
        <p:spPr>
          <a:xfrm>
            <a:off x="2926080" y="2618884"/>
            <a:ext cx="109728" cy="41390"/>
          </a:xfrm>
          <a:prstGeom prst="line">
            <a:avLst/>
          </a:prstGeom>
          <a:noFill/>
          <a:ln w="25400">
            <a:solidFill>
              <a:srgbClr val="B8730A"/>
            </a:solidFill>
            <a:prstDash val="solid"/>
          </a:ln>
        </p:spPr>
      </p:sp>
      <p:sp>
        <p:nvSpPr>
          <p:cNvPr id="141" name="Shape 139"/>
          <p:cNvSpPr/>
          <p:nvPr/>
        </p:nvSpPr>
        <p:spPr>
          <a:xfrm>
            <a:off x="3035808" y="2660274"/>
            <a:ext cx="109728" cy="40571"/>
          </a:xfrm>
          <a:prstGeom prst="line">
            <a:avLst/>
          </a:prstGeom>
          <a:noFill/>
          <a:ln w="25400">
            <a:solidFill>
              <a:srgbClr val="B8730A"/>
            </a:solidFill>
            <a:prstDash val="solid"/>
          </a:ln>
        </p:spPr>
      </p:sp>
      <p:sp>
        <p:nvSpPr>
          <p:cNvPr id="142" name="Shape 140"/>
          <p:cNvSpPr/>
          <p:nvPr/>
        </p:nvSpPr>
        <p:spPr>
          <a:xfrm>
            <a:off x="3145536" y="2700845"/>
            <a:ext cx="109728" cy="39767"/>
          </a:xfrm>
          <a:prstGeom prst="line">
            <a:avLst/>
          </a:prstGeom>
          <a:noFill/>
          <a:ln w="25400">
            <a:solidFill>
              <a:srgbClr val="B8730A"/>
            </a:solidFill>
            <a:prstDash val="solid"/>
          </a:ln>
        </p:spPr>
      </p:sp>
      <p:sp>
        <p:nvSpPr>
          <p:cNvPr id="143" name="Shape 141"/>
          <p:cNvSpPr/>
          <p:nvPr/>
        </p:nvSpPr>
        <p:spPr>
          <a:xfrm>
            <a:off x="3255264" y="2740612"/>
            <a:ext cx="109728" cy="38980"/>
          </a:xfrm>
          <a:prstGeom prst="line">
            <a:avLst/>
          </a:prstGeom>
          <a:noFill/>
          <a:ln w="25400">
            <a:solidFill>
              <a:srgbClr val="B8730A"/>
            </a:solidFill>
            <a:prstDash val="solid"/>
          </a:ln>
        </p:spPr>
      </p:sp>
      <p:sp>
        <p:nvSpPr>
          <p:cNvPr id="144" name="Shape 142"/>
          <p:cNvSpPr/>
          <p:nvPr/>
        </p:nvSpPr>
        <p:spPr>
          <a:xfrm>
            <a:off x="3364992" y="2779592"/>
            <a:ext cx="109728" cy="38208"/>
          </a:xfrm>
          <a:prstGeom prst="line">
            <a:avLst/>
          </a:prstGeom>
          <a:noFill/>
          <a:ln w="25400">
            <a:solidFill>
              <a:srgbClr val="B8730A"/>
            </a:solidFill>
            <a:prstDash val="solid"/>
          </a:ln>
        </p:spPr>
      </p:sp>
      <p:sp>
        <p:nvSpPr>
          <p:cNvPr id="145" name="Shape 143"/>
          <p:cNvSpPr/>
          <p:nvPr/>
        </p:nvSpPr>
        <p:spPr>
          <a:xfrm>
            <a:off x="3474720" y="2817800"/>
            <a:ext cx="109728" cy="37451"/>
          </a:xfrm>
          <a:prstGeom prst="line">
            <a:avLst/>
          </a:prstGeom>
          <a:noFill/>
          <a:ln w="25400">
            <a:solidFill>
              <a:srgbClr val="B8730A"/>
            </a:solidFill>
            <a:prstDash val="solid"/>
          </a:ln>
        </p:spPr>
      </p:sp>
      <p:sp>
        <p:nvSpPr>
          <p:cNvPr id="146" name="Shape 144"/>
          <p:cNvSpPr/>
          <p:nvPr/>
        </p:nvSpPr>
        <p:spPr>
          <a:xfrm>
            <a:off x="3584448" y="2855252"/>
            <a:ext cx="109728" cy="36710"/>
          </a:xfrm>
          <a:prstGeom prst="line">
            <a:avLst/>
          </a:prstGeom>
          <a:noFill/>
          <a:ln w="25400">
            <a:solidFill>
              <a:srgbClr val="B8730A"/>
            </a:solidFill>
            <a:prstDash val="solid"/>
          </a:ln>
        </p:spPr>
      </p:sp>
      <p:sp>
        <p:nvSpPr>
          <p:cNvPr id="147" name="Shape 145"/>
          <p:cNvSpPr/>
          <p:nvPr/>
        </p:nvSpPr>
        <p:spPr>
          <a:xfrm>
            <a:off x="3694176" y="2891962"/>
            <a:ext cx="109728" cy="35983"/>
          </a:xfrm>
          <a:prstGeom prst="line">
            <a:avLst/>
          </a:prstGeom>
          <a:noFill/>
          <a:ln w="25400">
            <a:solidFill>
              <a:srgbClr val="B8730A"/>
            </a:solidFill>
            <a:prstDash val="solid"/>
          </a:ln>
        </p:spPr>
      </p:sp>
      <p:sp>
        <p:nvSpPr>
          <p:cNvPr id="148" name="Shape 146"/>
          <p:cNvSpPr/>
          <p:nvPr/>
        </p:nvSpPr>
        <p:spPr>
          <a:xfrm>
            <a:off x="3803904" y="2927944"/>
            <a:ext cx="109728" cy="35270"/>
          </a:xfrm>
          <a:prstGeom prst="line">
            <a:avLst/>
          </a:prstGeom>
          <a:noFill/>
          <a:ln w="25400">
            <a:solidFill>
              <a:srgbClr val="B8730A"/>
            </a:solidFill>
            <a:prstDash val="solid"/>
          </a:ln>
        </p:spPr>
      </p:sp>
      <p:sp>
        <p:nvSpPr>
          <p:cNvPr id="149" name="Shape 147"/>
          <p:cNvSpPr/>
          <p:nvPr/>
        </p:nvSpPr>
        <p:spPr>
          <a:xfrm>
            <a:off x="3913632" y="2963215"/>
            <a:ext cx="109728" cy="34572"/>
          </a:xfrm>
          <a:prstGeom prst="line">
            <a:avLst/>
          </a:prstGeom>
          <a:noFill/>
          <a:ln w="25400">
            <a:solidFill>
              <a:srgbClr val="B8730A"/>
            </a:solidFill>
            <a:prstDash val="solid"/>
          </a:ln>
        </p:spPr>
      </p:sp>
      <p:sp>
        <p:nvSpPr>
          <p:cNvPr id="150" name="Shape 148"/>
          <p:cNvSpPr/>
          <p:nvPr/>
        </p:nvSpPr>
        <p:spPr>
          <a:xfrm>
            <a:off x="4023360" y="2997787"/>
            <a:ext cx="109728" cy="33887"/>
          </a:xfrm>
          <a:prstGeom prst="line">
            <a:avLst/>
          </a:prstGeom>
          <a:noFill/>
          <a:ln w="25400">
            <a:solidFill>
              <a:srgbClr val="B8730A"/>
            </a:solidFill>
            <a:prstDash val="solid"/>
          </a:ln>
        </p:spPr>
      </p:sp>
      <p:sp>
        <p:nvSpPr>
          <p:cNvPr id="151" name="Shape 149"/>
          <p:cNvSpPr/>
          <p:nvPr/>
        </p:nvSpPr>
        <p:spPr>
          <a:xfrm>
            <a:off x="4133088" y="3031674"/>
            <a:ext cx="109728" cy="33216"/>
          </a:xfrm>
          <a:prstGeom prst="line">
            <a:avLst/>
          </a:prstGeom>
          <a:noFill/>
          <a:ln w="25400">
            <a:solidFill>
              <a:srgbClr val="B8730A"/>
            </a:solidFill>
            <a:prstDash val="solid"/>
          </a:ln>
        </p:spPr>
      </p:sp>
      <p:sp>
        <p:nvSpPr>
          <p:cNvPr id="152" name="Shape 150"/>
          <p:cNvSpPr/>
          <p:nvPr/>
        </p:nvSpPr>
        <p:spPr>
          <a:xfrm>
            <a:off x="4242816" y="3064891"/>
            <a:ext cx="109728" cy="32559"/>
          </a:xfrm>
          <a:prstGeom prst="line">
            <a:avLst/>
          </a:prstGeom>
          <a:noFill/>
          <a:ln w="25400">
            <a:solidFill>
              <a:srgbClr val="B8730A"/>
            </a:solidFill>
            <a:prstDash val="solid"/>
          </a:ln>
        </p:spPr>
      </p:sp>
      <p:sp>
        <p:nvSpPr>
          <p:cNvPr id="153" name="Shape 151"/>
          <p:cNvSpPr/>
          <p:nvPr/>
        </p:nvSpPr>
        <p:spPr>
          <a:xfrm>
            <a:off x="4352544" y="3097450"/>
            <a:ext cx="109728" cy="31914"/>
          </a:xfrm>
          <a:prstGeom prst="line">
            <a:avLst/>
          </a:prstGeom>
          <a:noFill/>
          <a:ln w="25400">
            <a:solidFill>
              <a:srgbClr val="B8730A"/>
            </a:solidFill>
            <a:prstDash val="solid"/>
          </a:ln>
        </p:spPr>
      </p:sp>
      <p:sp>
        <p:nvSpPr>
          <p:cNvPr id="154" name="Shape 152"/>
          <p:cNvSpPr/>
          <p:nvPr/>
        </p:nvSpPr>
        <p:spPr>
          <a:xfrm>
            <a:off x="4462272" y="3129364"/>
            <a:ext cx="109728" cy="31282"/>
          </a:xfrm>
          <a:prstGeom prst="line">
            <a:avLst/>
          </a:prstGeom>
          <a:noFill/>
          <a:ln w="25400">
            <a:solidFill>
              <a:srgbClr val="B8730A"/>
            </a:solidFill>
            <a:prstDash val="solid"/>
          </a:ln>
        </p:spPr>
      </p:sp>
      <p:sp>
        <p:nvSpPr>
          <p:cNvPr id="155" name="Shape 153"/>
          <p:cNvSpPr/>
          <p:nvPr/>
        </p:nvSpPr>
        <p:spPr>
          <a:xfrm>
            <a:off x="4572000" y="3160646"/>
            <a:ext cx="109728" cy="30663"/>
          </a:xfrm>
          <a:prstGeom prst="line">
            <a:avLst/>
          </a:prstGeom>
          <a:noFill/>
          <a:ln w="25400">
            <a:solidFill>
              <a:srgbClr val="B8730A"/>
            </a:solidFill>
            <a:prstDash val="solid"/>
          </a:ln>
        </p:spPr>
      </p:sp>
      <p:sp>
        <p:nvSpPr>
          <p:cNvPr id="156" name="Shape 154"/>
          <p:cNvSpPr/>
          <p:nvPr/>
        </p:nvSpPr>
        <p:spPr>
          <a:xfrm>
            <a:off x="4681728" y="3191308"/>
            <a:ext cx="109728" cy="30055"/>
          </a:xfrm>
          <a:prstGeom prst="line">
            <a:avLst/>
          </a:prstGeom>
          <a:noFill/>
          <a:ln w="25400">
            <a:solidFill>
              <a:srgbClr val="B8730A"/>
            </a:solidFill>
            <a:prstDash val="solid"/>
          </a:ln>
        </p:spPr>
      </p:sp>
      <p:sp>
        <p:nvSpPr>
          <p:cNvPr id="157" name="Shape 155"/>
          <p:cNvSpPr/>
          <p:nvPr/>
        </p:nvSpPr>
        <p:spPr>
          <a:xfrm>
            <a:off x="4791456" y="3221364"/>
            <a:ext cx="109728" cy="29460"/>
          </a:xfrm>
          <a:prstGeom prst="line">
            <a:avLst/>
          </a:prstGeom>
          <a:noFill/>
          <a:ln w="25400">
            <a:solidFill>
              <a:srgbClr val="B8730A"/>
            </a:solidFill>
            <a:prstDash val="solid"/>
          </a:ln>
        </p:spPr>
      </p:sp>
      <p:sp>
        <p:nvSpPr>
          <p:cNvPr id="158" name="Shape 156"/>
          <p:cNvSpPr/>
          <p:nvPr/>
        </p:nvSpPr>
        <p:spPr>
          <a:xfrm>
            <a:off x="4901184" y="3250824"/>
            <a:ext cx="109728" cy="28877"/>
          </a:xfrm>
          <a:prstGeom prst="line">
            <a:avLst/>
          </a:prstGeom>
          <a:noFill/>
          <a:ln w="25400">
            <a:solidFill>
              <a:srgbClr val="B8730A"/>
            </a:solidFill>
            <a:prstDash val="solid"/>
          </a:ln>
        </p:spPr>
      </p:sp>
      <p:sp>
        <p:nvSpPr>
          <p:cNvPr id="159" name="Shape 157"/>
          <p:cNvSpPr/>
          <p:nvPr/>
        </p:nvSpPr>
        <p:spPr>
          <a:xfrm>
            <a:off x="5010912" y="3279701"/>
            <a:ext cx="109728" cy="28305"/>
          </a:xfrm>
          <a:prstGeom prst="line">
            <a:avLst/>
          </a:prstGeom>
          <a:noFill/>
          <a:ln w="25400">
            <a:solidFill>
              <a:srgbClr val="B8730A"/>
            </a:solidFill>
            <a:prstDash val="solid"/>
          </a:ln>
        </p:spPr>
      </p:sp>
      <p:sp>
        <p:nvSpPr>
          <p:cNvPr id="160" name="Shape 158"/>
          <p:cNvSpPr/>
          <p:nvPr/>
        </p:nvSpPr>
        <p:spPr>
          <a:xfrm>
            <a:off x="5120640" y="3308006"/>
            <a:ext cx="109728" cy="27745"/>
          </a:xfrm>
          <a:prstGeom prst="line">
            <a:avLst/>
          </a:prstGeom>
          <a:noFill/>
          <a:ln w="25400">
            <a:solidFill>
              <a:srgbClr val="B8730A"/>
            </a:solidFill>
            <a:prstDash val="solid"/>
          </a:ln>
        </p:spPr>
      </p:sp>
      <p:sp>
        <p:nvSpPr>
          <p:cNvPr id="161" name="Shape 159"/>
          <p:cNvSpPr/>
          <p:nvPr/>
        </p:nvSpPr>
        <p:spPr>
          <a:xfrm>
            <a:off x="5230368" y="3335751"/>
            <a:ext cx="109728" cy="27195"/>
          </a:xfrm>
          <a:prstGeom prst="line">
            <a:avLst/>
          </a:prstGeom>
          <a:noFill/>
          <a:ln w="25400">
            <a:solidFill>
              <a:srgbClr val="B8730A"/>
            </a:solidFill>
            <a:prstDash val="solid"/>
          </a:ln>
        </p:spPr>
      </p:sp>
      <p:sp>
        <p:nvSpPr>
          <p:cNvPr id="162" name="Shape 160"/>
          <p:cNvSpPr/>
          <p:nvPr/>
        </p:nvSpPr>
        <p:spPr>
          <a:xfrm>
            <a:off x="5340096" y="3362946"/>
            <a:ext cx="109728" cy="26657"/>
          </a:xfrm>
          <a:prstGeom prst="line">
            <a:avLst/>
          </a:prstGeom>
          <a:noFill/>
          <a:ln w="25400">
            <a:solidFill>
              <a:srgbClr val="B8730A"/>
            </a:solidFill>
            <a:prstDash val="solid"/>
          </a:ln>
        </p:spPr>
      </p:sp>
      <p:sp>
        <p:nvSpPr>
          <p:cNvPr id="163" name="Shape 161"/>
          <p:cNvSpPr/>
          <p:nvPr/>
        </p:nvSpPr>
        <p:spPr>
          <a:xfrm>
            <a:off x="5449824" y="3389603"/>
            <a:ext cx="109728" cy="26129"/>
          </a:xfrm>
          <a:prstGeom prst="line">
            <a:avLst/>
          </a:prstGeom>
          <a:noFill/>
          <a:ln w="25400">
            <a:solidFill>
              <a:srgbClr val="B8730A"/>
            </a:solidFill>
            <a:prstDash val="solid"/>
          </a:ln>
        </p:spPr>
      </p:sp>
      <p:sp>
        <p:nvSpPr>
          <p:cNvPr id="164" name="Shape 162"/>
          <p:cNvSpPr/>
          <p:nvPr/>
        </p:nvSpPr>
        <p:spPr>
          <a:xfrm>
            <a:off x="5559552" y="3415732"/>
            <a:ext cx="109728" cy="25612"/>
          </a:xfrm>
          <a:prstGeom prst="line">
            <a:avLst/>
          </a:prstGeom>
          <a:noFill/>
          <a:ln w="25400">
            <a:solidFill>
              <a:srgbClr val="B8730A"/>
            </a:solidFill>
            <a:prstDash val="solid"/>
          </a:ln>
        </p:spPr>
      </p:sp>
      <p:sp>
        <p:nvSpPr>
          <p:cNvPr id="165" name="Shape 163"/>
          <p:cNvSpPr/>
          <p:nvPr/>
        </p:nvSpPr>
        <p:spPr>
          <a:xfrm>
            <a:off x="1234440" y="1841863"/>
            <a:ext cx="91440" cy="91440"/>
          </a:xfrm>
          <a:prstGeom prst="line">
            <a:avLst/>
          </a:prstGeom>
          <a:noFill/>
          <a:ln w="15875">
            <a:solidFill>
              <a:srgbClr val="B8730A"/>
            </a:solidFill>
            <a:prstDash val="solid"/>
          </a:ln>
        </p:spPr>
      </p:sp>
      <p:sp>
        <p:nvSpPr>
          <p:cNvPr id="166" name="Shape 164"/>
          <p:cNvSpPr/>
          <p:nvPr/>
        </p:nvSpPr>
        <p:spPr>
          <a:xfrm flipV="1">
            <a:off x="1234440" y="1841863"/>
            <a:ext cx="91440" cy="91440"/>
          </a:xfrm>
          <a:prstGeom prst="line">
            <a:avLst/>
          </a:prstGeom>
          <a:noFill/>
          <a:ln w="15875">
            <a:solidFill>
              <a:srgbClr val="B8730A"/>
            </a:solidFill>
            <a:prstDash val="solid"/>
          </a:ln>
        </p:spPr>
      </p:sp>
      <p:sp>
        <p:nvSpPr>
          <p:cNvPr id="167" name="Shape 165"/>
          <p:cNvSpPr/>
          <p:nvPr/>
        </p:nvSpPr>
        <p:spPr>
          <a:xfrm>
            <a:off x="2112264" y="2265099"/>
            <a:ext cx="91440" cy="91440"/>
          </a:xfrm>
          <a:prstGeom prst="line">
            <a:avLst/>
          </a:prstGeom>
          <a:noFill/>
          <a:ln w="15875">
            <a:solidFill>
              <a:srgbClr val="B8730A"/>
            </a:solidFill>
            <a:prstDash val="solid"/>
          </a:ln>
        </p:spPr>
      </p:sp>
      <p:sp>
        <p:nvSpPr>
          <p:cNvPr id="168" name="Shape 166"/>
          <p:cNvSpPr/>
          <p:nvPr/>
        </p:nvSpPr>
        <p:spPr>
          <a:xfrm flipV="1">
            <a:off x="2112264" y="2265099"/>
            <a:ext cx="91440" cy="91440"/>
          </a:xfrm>
          <a:prstGeom prst="line">
            <a:avLst/>
          </a:prstGeom>
          <a:noFill/>
          <a:ln w="15875">
            <a:solidFill>
              <a:srgbClr val="B8730A"/>
            </a:solidFill>
            <a:prstDash val="solid"/>
          </a:ln>
        </p:spPr>
      </p:sp>
      <p:sp>
        <p:nvSpPr>
          <p:cNvPr id="169" name="Shape 167"/>
          <p:cNvSpPr/>
          <p:nvPr/>
        </p:nvSpPr>
        <p:spPr>
          <a:xfrm>
            <a:off x="2990088" y="2594283"/>
            <a:ext cx="91440" cy="91440"/>
          </a:xfrm>
          <a:prstGeom prst="line">
            <a:avLst/>
          </a:prstGeom>
          <a:noFill/>
          <a:ln w="15875">
            <a:solidFill>
              <a:srgbClr val="B8730A"/>
            </a:solidFill>
            <a:prstDash val="solid"/>
          </a:ln>
        </p:spPr>
      </p:sp>
      <p:sp>
        <p:nvSpPr>
          <p:cNvPr id="170" name="Shape 168"/>
          <p:cNvSpPr/>
          <p:nvPr/>
        </p:nvSpPr>
        <p:spPr>
          <a:xfrm flipV="1">
            <a:off x="2990088" y="2594283"/>
            <a:ext cx="91440" cy="91440"/>
          </a:xfrm>
          <a:prstGeom prst="line">
            <a:avLst/>
          </a:prstGeom>
          <a:noFill/>
          <a:ln w="15875">
            <a:solidFill>
              <a:srgbClr val="B8730A"/>
            </a:solidFill>
            <a:prstDash val="solid"/>
          </a:ln>
        </p:spPr>
      </p:sp>
      <p:sp>
        <p:nvSpPr>
          <p:cNvPr id="171" name="Shape 169"/>
          <p:cNvSpPr/>
          <p:nvPr/>
        </p:nvSpPr>
        <p:spPr>
          <a:xfrm>
            <a:off x="3867912" y="2923467"/>
            <a:ext cx="91440" cy="91440"/>
          </a:xfrm>
          <a:prstGeom prst="line">
            <a:avLst/>
          </a:prstGeom>
          <a:noFill/>
          <a:ln w="15875">
            <a:solidFill>
              <a:srgbClr val="B8730A"/>
            </a:solidFill>
            <a:prstDash val="solid"/>
          </a:ln>
        </p:spPr>
      </p:sp>
      <p:sp>
        <p:nvSpPr>
          <p:cNvPr id="172" name="Shape 170"/>
          <p:cNvSpPr/>
          <p:nvPr/>
        </p:nvSpPr>
        <p:spPr>
          <a:xfrm flipV="1">
            <a:off x="3867912" y="2923467"/>
            <a:ext cx="91440" cy="91440"/>
          </a:xfrm>
          <a:prstGeom prst="line">
            <a:avLst/>
          </a:prstGeom>
          <a:noFill/>
          <a:ln w="15875">
            <a:solidFill>
              <a:srgbClr val="B8730A"/>
            </a:solidFill>
            <a:prstDash val="solid"/>
          </a:ln>
        </p:spPr>
      </p:sp>
      <p:sp>
        <p:nvSpPr>
          <p:cNvPr id="173" name="Shape 171"/>
          <p:cNvSpPr/>
          <p:nvPr/>
        </p:nvSpPr>
        <p:spPr>
          <a:xfrm>
            <a:off x="4745736" y="3158599"/>
            <a:ext cx="91440" cy="91440"/>
          </a:xfrm>
          <a:prstGeom prst="line">
            <a:avLst/>
          </a:prstGeom>
          <a:noFill/>
          <a:ln w="15875">
            <a:solidFill>
              <a:srgbClr val="B8730A"/>
            </a:solidFill>
            <a:prstDash val="solid"/>
          </a:ln>
        </p:spPr>
      </p:sp>
      <p:sp>
        <p:nvSpPr>
          <p:cNvPr id="174" name="Shape 172"/>
          <p:cNvSpPr/>
          <p:nvPr/>
        </p:nvSpPr>
        <p:spPr>
          <a:xfrm flipV="1">
            <a:off x="4745736" y="3158599"/>
            <a:ext cx="91440" cy="91440"/>
          </a:xfrm>
          <a:prstGeom prst="line">
            <a:avLst/>
          </a:prstGeom>
          <a:noFill/>
          <a:ln w="15875">
            <a:solidFill>
              <a:srgbClr val="B8730A"/>
            </a:solidFill>
            <a:prstDash val="solid"/>
          </a:ln>
        </p:spPr>
      </p:sp>
      <p:sp>
        <p:nvSpPr>
          <p:cNvPr id="175" name="Shape 173"/>
          <p:cNvSpPr/>
          <p:nvPr/>
        </p:nvSpPr>
        <p:spPr>
          <a:xfrm>
            <a:off x="5623560" y="3393730"/>
            <a:ext cx="91440" cy="91440"/>
          </a:xfrm>
          <a:prstGeom prst="line">
            <a:avLst/>
          </a:prstGeom>
          <a:noFill/>
          <a:ln w="15875">
            <a:solidFill>
              <a:srgbClr val="B8730A"/>
            </a:solidFill>
            <a:prstDash val="solid"/>
          </a:ln>
        </p:spPr>
      </p:sp>
      <p:sp>
        <p:nvSpPr>
          <p:cNvPr id="176" name="Shape 174"/>
          <p:cNvSpPr/>
          <p:nvPr/>
        </p:nvSpPr>
        <p:spPr>
          <a:xfrm flipV="1">
            <a:off x="5623560" y="3393730"/>
            <a:ext cx="91440" cy="91440"/>
          </a:xfrm>
          <a:prstGeom prst="line">
            <a:avLst/>
          </a:prstGeom>
          <a:noFill/>
          <a:ln w="15875">
            <a:solidFill>
              <a:srgbClr val="B8730A"/>
            </a:solidFill>
            <a:prstDash val="solid"/>
          </a:ln>
        </p:spPr>
      </p:sp>
      <p:sp>
        <p:nvSpPr>
          <p:cNvPr id="177" name="Shape 175"/>
          <p:cNvSpPr/>
          <p:nvPr/>
        </p:nvSpPr>
        <p:spPr>
          <a:xfrm>
            <a:off x="3979469" y="1831413"/>
            <a:ext cx="285293" cy="91"/>
          </a:xfrm>
          <a:prstGeom prst="line">
            <a:avLst/>
          </a:prstGeom>
          <a:noFill/>
          <a:ln w="31750">
            <a:solidFill>
              <a:srgbClr val="B8730A"/>
            </a:solidFill>
            <a:prstDash val="solid"/>
          </a:ln>
        </p:spPr>
      </p:sp>
      <p:sp>
        <p:nvSpPr>
          <p:cNvPr id="178" name="Text 176"/>
          <p:cNvSpPr/>
          <p:nvPr/>
        </p:nvSpPr>
        <p:spPr>
          <a:xfrm>
            <a:off x="4308653" y="1730829"/>
            <a:ext cx="1097280" cy="201168"/>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newspaper</a:t>
            </a:r>
            <a:endParaRPr lang="en-US" sz="1000" dirty="0"/>
          </a:p>
        </p:txBody>
      </p:sp>
      <p:sp>
        <p:nvSpPr>
          <p:cNvPr id="179" name="Shape 177"/>
          <p:cNvSpPr/>
          <p:nvPr/>
        </p:nvSpPr>
        <p:spPr>
          <a:xfrm>
            <a:off x="1280160" y="1887583"/>
            <a:ext cx="109728" cy="42008"/>
          </a:xfrm>
          <a:prstGeom prst="line">
            <a:avLst/>
          </a:prstGeom>
          <a:noFill/>
          <a:ln w="25400">
            <a:solidFill>
              <a:srgbClr val="2E5BD8"/>
            </a:solidFill>
            <a:prstDash val="solid"/>
          </a:ln>
        </p:spPr>
      </p:sp>
      <p:sp>
        <p:nvSpPr>
          <p:cNvPr id="180" name="Shape 178"/>
          <p:cNvSpPr/>
          <p:nvPr/>
        </p:nvSpPr>
        <p:spPr>
          <a:xfrm>
            <a:off x="1389888" y="1929591"/>
            <a:ext cx="109728" cy="41382"/>
          </a:xfrm>
          <a:prstGeom prst="line">
            <a:avLst/>
          </a:prstGeom>
          <a:noFill/>
          <a:ln w="25400">
            <a:solidFill>
              <a:srgbClr val="2E5BD8"/>
            </a:solidFill>
            <a:prstDash val="solid"/>
          </a:ln>
        </p:spPr>
      </p:sp>
      <p:sp>
        <p:nvSpPr>
          <p:cNvPr id="181" name="Shape 179"/>
          <p:cNvSpPr/>
          <p:nvPr/>
        </p:nvSpPr>
        <p:spPr>
          <a:xfrm>
            <a:off x="1499616" y="1970973"/>
            <a:ext cx="109728" cy="40766"/>
          </a:xfrm>
          <a:prstGeom prst="line">
            <a:avLst/>
          </a:prstGeom>
          <a:noFill/>
          <a:ln w="25400">
            <a:solidFill>
              <a:srgbClr val="2E5BD8"/>
            </a:solidFill>
            <a:prstDash val="solid"/>
          </a:ln>
        </p:spPr>
      </p:sp>
      <p:sp>
        <p:nvSpPr>
          <p:cNvPr id="182" name="Shape 180"/>
          <p:cNvSpPr/>
          <p:nvPr/>
        </p:nvSpPr>
        <p:spPr>
          <a:xfrm>
            <a:off x="1609344" y="2011739"/>
            <a:ext cx="109728" cy="40159"/>
          </a:xfrm>
          <a:prstGeom prst="line">
            <a:avLst/>
          </a:prstGeom>
          <a:noFill/>
          <a:ln w="25400">
            <a:solidFill>
              <a:srgbClr val="2E5BD8"/>
            </a:solidFill>
            <a:prstDash val="solid"/>
          </a:ln>
        </p:spPr>
      </p:sp>
      <p:sp>
        <p:nvSpPr>
          <p:cNvPr id="183" name="Shape 181"/>
          <p:cNvSpPr/>
          <p:nvPr/>
        </p:nvSpPr>
        <p:spPr>
          <a:xfrm>
            <a:off x="1719072" y="2051899"/>
            <a:ext cx="109728" cy="39561"/>
          </a:xfrm>
          <a:prstGeom prst="line">
            <a:avLst/>
          </a:prstGeom>
          <a:noFill/>
          <a:ln w="25400">
            <a:solidFill>
              <a:srgbClr val="2E5BD8"/>
            </a:solidFill>
            <a:prstDash val="solid"/>
          </a:ln>
        </p:spPr>
      </p:sp>
      <p:sp>
        <p:nvSpPr>
          <p:cNvPr id="184" name="Shape 182"/>
          <p:cNvSpPr/>
          <p:nvPr/>
        </p:nvSpPr>
        <p:spPr>
          <a:xfrm>
            <a:off x="1828800" y="2091460"/>
            <a:ext cx="109728" cy="38972"/>
          </a:xfrm>
          <a:prstGeom prst="line">
            <a:avLst/>
          </a:prstGeom>
          <a:noFill/>
          <a:ln w="25400">
            <a:solidFill>
              <a:srgbClr val="2E5BD8"/>
            </a:solidFill>
            <a:prstDash val="solid"/>
          </a:ln>
        </p:spPr>
      </p:sp>
      <p:sp>
        <p:nvSpPr>
          <p:cNvPr id="185" name="Shape 183"/>
          <p:cNvSpPr/>
          <p:nvPr/>
        </p:nvSpPr>
        <p:spPr>
          <a:xfrm>
            <a:off x="1938528" y="2130433"/>
            <a:ext cx="109728" cy="38392"/>
          </a:xfrm>
          <a:prstGeom prst="line">
            <a:avLst/>
          </a:prstGeom>
          <a:noFill/>
          <a:ln w="25400">
            <a:solidFill>
              <a:srgbClr val="2E5BD8"/>
            </a:solidFill>
            <a:prstDash val="solid"/>
          </a:ln>
        </p:spPr>
      </p:sp>
      <p:sp>
        <p:nvSpPr>
          <p:cNvPr id="186" name="Shape 184"/>
          <p:cNvSpPr/>
          <p:nvPr/>
        </p:nvSpPr>
        <p:spPr>
          <a:xfrm>
            <a:off x="2048256" y="2168825"/>
            <a:ext cx="109728" cy="37821"/>
          </a:xfrm>
          <a:prstGeom prst="line">
            <a:avLst/>
          </a:prstGeom>
          <a:noFill/>
          <a:ln w="25400">
            <a:solidFill>
              <a:srgbClr val="2E5BD8"/>
            </a:solidFill>
            <a:prstDash val="solid"/>
          </a:ln>
        </p:spPr>
      </p:sp>
      <p:sp>
        <p:nvSpPr>
          <p:cNvPr id="187" name="Shape 185"/>
          <p:cNvSpPr/>
          <p:nvPr/>
        </p:nvSpPr>
        <p:spPr>
          <a:xfrm>
            <a:off x="2157984" y="2206646"/>
            <a:ext cx="109728" cy="37258"/>
          </a:xfrm>
          <a:prstGeom prst="line">
            <a:avLst/>
          </a:prstGeom>
          <a:noFill/>
          <a:ln w="25400">
            <a:solidFill>
              <a:srgbClr val="2E5BD8"/>
            </a:solidFill>
            <a:prstDash val="solid"/>
          </a:ln>
        </p:spPr>
      </p:sp>
      <p:sp>
        <p:nvSpPr>
          <p:cNvPr id="188" name="Shape 186"/>
          <p:cNvSpPr/>
          <p:nvPr/>
        </p:nvSpPr>
        <p:spPr>
          <a:xfrm>
            <a:off x="2267712" y="2243903"/>
            <a:ext cx="109728" cy="36703"/>
          </a:xfrm>
          <a:prstGeom prst="line">
            <a:avLst/>
          </a:prstGeom>
          <a:noFill/>
          <a:ln w="25400">
            <a:solidFill>
              <a:srgbClr val="2E5BD8"/>
            </a:solidFill>
            <a:prstDash val="solid"/>
          </a:ln>
        </p:spPr>
      </p:sp>
      <p:sp>
        <p:nvSpPr>
          <p:cNvPr id="189" name="Shape 187"/>
          <p:cNvSpPr/>
          <p:nvPr/>
        </p:nvSpPr>
        <p:spPr>
          <a:xfrm>
            <a:off x="2377440" y="2280606"/>
            <a:ext cx="109728" cy="36156"/>
          </a:xfrm>
          <a:prstGeom prst="line">
            <a:avLst/>
          </a:prstGeom>
          <a:noFill/>
          <a:ln w="25400">
            <a:solidFill>
              <a:srgbClr val="2E5BD8"/>
            </a:solidFill>
            <a:prstDash val="solid"/>
          </a:ln>
        </p:spPr>
      </p:sp>
      <p:sp>
        <p:nvSpPr>
          <p:cNvPr id="190" name="Shape 188"/>
          <p:cNvSpPr/>
          <p:nvPr/>
        </p:nvSpPr>
        <p:spPr>
          <a:xfrm>
            <a:off x="2487168" y="2316763"/>
            <a:ext cx="109728" cy="35618"/>
          </a:xfrm>
          <a:prstGeom prst="line">
            <a:avLst/>
          </a:prstGeom>
          <a:noFill/>
          <a:ln w="25400">
            <a:solidFill>
              <a:srgbClr val="2E5BD8"/>
            </a:solidFill>
            <a:prstDash val="solid"/>
          </a:ln>
        </p:spPr>
      </p:sp>
      <p:sp>
        <p:nvSpPr>
          <p:cNvPr id="191" name="Shape 189"/>
          <p:cNvSpPr/>
          <p:nvPr/>
        </p:nvSpPr>
        <p:spPr>
          <a:xfrm>
            <a:off x="2596896" y="2352381"/>
            <a:ext cx="109728" cy="35088"/>
          </a:xfrm>
          <a:prstGeom prst="line">
            <a:avLst/>
          </a:prstGeom>
          <a:noFill/>
          <a:ln w="25400">
            <a:solidFill>
              <a:srgbClr val="2E5BD8"/>
            </a:solidFill>
            <a:prstDash val="solid"/>
          </a:ln>
        </p:spPr>
      </p:sp>
      <p:sp>
        <p:nvSpPr>
          <p:cNvPr id="192" name="Shape 190"/>
          <p:cNvSpPr/>
          <p:nvPr/>
        </p:nvSpPr>
        <p:spPr>
          <a:xfrm>
            <a:off x="2706624" y="2387469"/>
            <a:ext cx="109728" cy="34565"/>
          </a:xfrm>
          <a:prstGeom prst="line">
            <a:avLst/>
          </a:prstGeom>
          <a:noFill/>
          <a:ln w="25400">
            <a:solidFill>
              <a:srgbClr val="2E5BD8"/>
            </a:solidFill>
            <a:prstDash val="solid"/>
          </a:ln>
        </p:spPr>
      </p:sp>
      <p:sp>
        <p:nvSpPr>
          <p:cNvPr id="193" name="Shape 191"/>
          <p:cNvSpPr/>
          <p:nvPr/>
        </p:nvSpPr>
        <p:spPr>
          <a:xfrm>
            <a:off x="2816352" y="2422034"/>
            <a:ext cx="109728" cy="34051"/>
          </a:xfrm>
          <a:prstGeom prst="line">
            <a:avLst/>
          </a:prstGeom>
          <a:noFill/>
          <a:ln w="25400">
            <a:solidFill>
              <a:srgbClr val="2E5BD8"/>
            </a:solidFill>
            <a:prstDash val="solid"/>
          </a:ln>
        </p:spPr>
      </p:sp>
      <p:sp>
        <p:nvSpPr>
          <p:cNvPr id="194" name="Shape 192"/>
          <p:cNvSpPr/>
          <p:nvPr/>
        </p:nvSpPr>
        <p:spPr>
          <a:xfrm>
            <a:off x="2926080" y="2456085"/>
            <a:ext cx="109728" cy="33544"/>
          </a:xfrm>
          <a:prstGeom prst="line">
            <a:avLst/>
          </a:prstGeom>
          <a:noFill/>
          <a:ln w="25400">
            <a:solidFill>
              <a:srgbClr val="2E5BD8"/>
            </a:solidFill>
            <a:prstDash val="solid"/>
          </a:ln>
        </p:spPr>
      </p:sp>
      <p:sp>
        <p:nvSpPr>
          <p:cNvPr id="195" name="Shape 193"/>
          <p:cNvSpPr/>
          <p:nvPr/>
        </p:nvSpPr>
        <p:spPr>
          <a:xfrm>
            <a:off x="3035808" y="2489629"/>
            <a:ext cx="109728" cy="33045"/>
          </a:xfrm>
          <a:prstGeom prst="line">
            <a:avLst/>
          </a:prstGeom>
          <a:noFill/>
          <a:ln w="25400">
            <a:solidFill>
              <a:srgbClr val="2E5BD8"/>
            </a:solidFill>
            <a:prstDash val="solid"/>
          </a:ln>
        </p:spPr>
      </p:sp>
      <p:sp>
        <p:nvSpPr>
          <p:cNvPr id="196" name="Shape 194"/>
          <p:cNvSpPr/>
          <p:nvPr/>
        </p:nvSpPr>
        <p:spPr>
          <a:xfrm>
            <a:off x="3145536" y="2522673"/>
            <a:ext cx="109728" cy="32553"/>
          </a:xfrm>
          <a:prstGeom prst="line">
            <a:avLst/>
          </a:prstGeom>
          <a:noFill/>
          <a:ln w="25400">
            <a:solidFill>
              <a:srgbClr val="2E5BD8"/>
            </a:solidFill>
            <a:prstDash val="solid"/>
          </a:ln>
        </p:spPr>
      </p:sp>
      <p:sp>
        <p:nvSpPr>
          <p:cNvPr id="197" name="Shape 195"/>
          <p:cNvSpPr/>
          <p:nvPr/>
        </p:nvSpPr>
        <p:spPr>
          <a:xfrm>
            <a:off x="3255264" y="2555226"/>
            <a:ext cx="109728" cy="32068"/>
          </a:xfrm>
          <a:prstGeom prst="line">
            <a:avLst/>
          </a:prstGeom>
          <a:noFill/>
          <a:ln w="25400">
            <a:solidFill>
              <a:srgbClr val="2E5BD8"/>
            </a:solidFill>
            <a:prstDash val="solid"/>
          </a:ln>
        </p:spPr>
      </p:sp>
      <p:sp>
        <p:nvSpPr>
          <p:cNvPr id="198" name="Shape 196"/>
          <p:cNvSpPr/>
          <p:nvPr/>
        </p:nvSpPr>
        <p:spPr>
          <a:xfrm>
            <a:off x="3364992" y="2587294"/>
            <a:ext cx="109728" cy="31590"/>
          </a:xfrm>
          <a:prstGeom prst="line">
            <a:avLst/>
          </a:prstGeom>
          <a:noFill/>
          <a:ln w="25400">
            <a:solidFill>
              <a:srgbClr val="2E5BD8"/>
            </a:solidFill>
            <a:prstDash val="solid"/>
          </a:ln>
        </p:spPr>
      </p:sp>
      <p:sp>
        <p:nvSpPr>
          <p:cNvPr id="199" name="Shape 197"/>
          <p:cNvSpPr/>
          <p:nvPr/>
        </p:nvSpPr>
        <p:spPr>
          <a:xfrm>
            <a:off x="3474720" y="2618884"/>
            <a:ext cx="109728" cy="31120"/>
          </a:xfrm>
          <a:prstGeom prst="line">
            <a:avLst/>
          </a:prstGeom>
          <a:noFill/>
          <a:ln w="25400">
            <a:solidFill>
              <a:srgbClr val="2E5BD8"/>
            </a:solidFill>
            <a:prstDash val="solid"/>
          </a:ln>
        </p:spPr>
      </p:sp>
      <p:sp>
        <p:nvSpPr>
          <p:cNvPr id="200" name="Shape 198"/>
          <p:cNvSpPr/>
          <p:nvPr/>
        </p:nvSpPr>
        <p:spPr>
          <a:xfrm>
            <a:off x="3584448" y="2650004"/>
            <a:ext cx="109728" cy="30657"/>
          </a:xfrm>
          <a:prstGeom prst="line">
            <a:avLst/>
          </a:prstGeom>
          <a:noFill/>
          <a:ln w="25400">
            <a:solidFill>
              <a:srgbClr val="2E5BD8"/>
            </a:solidFill>
            <a:prstDash val="solid"/>
          </a:ln>
        </p:spPr>
      </p:sp>
      <p:sp>
        <p:nvSpPr>
          <p:cNvPr id="201" name="Shape 199"/>
          <p:cNvSpPr/>
          <p:nvPr/>
        </p:nvSpPr>
        <p:spPr>
          <a:xfrm>
            <a:off x="3694176" y="2680661"/>
            <a:ext cx="109728" cy="30200"/>
          </a:xfrm>
          <a:prstGeom prst="line">
            <a:avLst/>
          </a:prstGeom>
          <a:noFill/>
          <a:ln w="25400">
            <a:solidFill>
              <a:srgbClr val="2E5BD8"/>
            </a:solidFill>
            <a:prstDash val="solid"/>
          </a:ln>
        </p:spPr>
      </p:sp>
      <p:sp>
        <p:nvSpPr>
          <p:cNvPr id="202" name="Shape 200"/>
          <p:cNvSpPr/>
          <p:nvPr/>
        </p:nvSpPr>
        <p:spPr>
          <a:xfrm>
            <a:off x="3803904" y="2710862"/>
            <a:ext cx="109728" cy="29751"/>
          </a:xfrm>
          <a:prstGeom prst="line">
            <a:avLst/>
          </a:prstGeom>
          <a:noFill/>
          <a:ln w="25400">
            <a:solidFill>
              <a:srgbClr val="2E5BD8"/>
            </a:solidFill>
            <a:prstDash val="solid"/>
          </a:ln>
        </p:spPr>
      </p:sp>
      <p:sp>
        <p:nvSpPr>
          <p:cNvPr id="203" name="Shape 201"/>
          <p:cNvSpPr/>
          <p:nvPr/>
        </p:nvSpPr>
        <p:spPr>
          <a:xfrm>
            <a:off x="3913632" y="2740612"/>
            <a:ext cx="109728" cy="29308"/>
          </a:xfrm>
          <a:prstGeom prst="line">
            <a:avLst/>
          </a:prstGeom>
          <a:noFill/>
          <a:ln w="25400">
            <a:solidFill>
              <a:srgbClr val="2E5BD8"/>
            </a:solidFill>
            <a:prstDash val="solid"/>
          </a:ln>
        </p:spPr>
      </p:sp>
      <p:sp>
        <p:nvSpPr>
          <p:cNvPr id="204" name="Shape 202"/>
          <p:cNvSpPr/>
          <p:nvPr/>
        </p:nvSpPr>
        <p:spPr>
          <a:xfrm>
            <a:off x="4023360" y="2769920"/>
            <a:ext cx="109728" cy="28872"/>
          </a:xfrm>
          <a:prstGeom prst="line">
            <a:avLst/>
          </a:prstGeom>
          <a:noFill/>
          <a:ln w="25400">
            <a:solidFill>
              <a:srgbClr val="2E5BD8"/>
            </a:solidFill>
            <a:prstDash val="solid"/>
          </a:ln>
        </p:spPr>
      </p:sp>
      <p:sp>
        <p:nvSpPr>
          <p:cNvPr id="205" name="Shape 203"/>
          <p:cNvSpPr/>
          <p:nvPr/>
        </p:nvSpPr>
        <p:spPr>
          <a:xfrm>
            <a:off x="4133088" y="2798792"/>
            <a:ext cx="109728" cy="28442"/>
          </a:xfrm>
          <a:prstGeom prst="line">
            <a:avLst/>
          </a:prstGeom>
          <a:noFill/>
          <a:ln w="25400">
            <a:solidFill>
              <a:srgbClr val="2E5BD8"/>
            </a:solidFill>
            <a:prstDash val="solid"/>
          </a:ln>
        </p:spPr>
      </p:sp>
      <p:sp>
        <p:nvSpPr>
          <p:cNvPr id="206" name="Shape 204"/>
          <p:cNvSpPr/>
          <p:nvPr/>
        </p:nvSpPr>
        <p:spPr>
          <a:xfrm>
            <a:off x="4242816" y="2827233"/>
            <a:ext cx="109728" cy="28018"/>
          </a:xfrm>
          <a:prstGeom prst="line">
            <a:avLst/>
          </a:prstGeom>
          <a:noFill/>
          <a:ln w="25400">
            <a:solidFill>
              <a:srgbClr val="2E5BD8"/>
            </a:solidFill>
            <a:prstDash val="solid"/>
          </a:ln>
        </p:spPr>
      </p:sp>
      <p:sp>
        <p:nvSpPr>
          <p:cNvPr id="207" name="Shape 205"/>
          <p:cNvSpPr/>
          <p:nvPr/>
        </p:nvSpPr>
        <p:spPr>
          <a:xfrm>
            <a:off x="4352544" y="2855252"/>
            <a:ext cx="109728" cy="27601"/>
          </a:xfrm>
          <a:prstGeom prst="line">
            <a:avLst/>
          </a:prstGeom>
          <a:noFill/>
          <a:ln w="25400">
            <a:solidFill>
              <a:srgbClr val="2E5BD8"/>
            </a:solidFill>
            <a:prstDash val="solid"/>
          </a:ln>
        </p:spPr>
      </p:sp>
      <p:sp>
        <p:nvSpPr>
          <p:cNvPr id="208" name="Shape 206"/>
          <p:cNvSpPr/>
          <p:nvPr/>
        </p:nvSpPr>
        <p:spPr>
          <a:xfrm>
            <a:off x="4462272" y="2882853"/>
            <a:ext cx="109728" cy="27190"/>
          </a:xfrm>
          <a:prstGeom prst="line">
            <a:avLst/>
          </a:prstGeom>
          <a:noFill/>
          <a:ln w="25400">
            <a:solidFill>
              <a:srgbClr val="2E5BD8"/>
            </a:solidFill>
            <a:prstDash val="solid"/>
          </a:ln>
        </p:spPr>
      </p:sp>
      <p:sp>
        <p:nvSpPr>
          <p:cNvPr id="209" name="Shape 207"/>
          <p:cNvSpPr/>
          <p:nvPr/>
        </p:nvSpPr>
        <p:spPr>
          <a:xfrm>
            <a:off x="4572000" y="2910043"/>
            <a:ext cx="109728" cy="26785"/>
          </a:xfrm>
          <a:prstGeom prst="line">
            <a:avLst/>
          </a:prstGeom>
          <a:noFill/>
          <a:ln w="25400">
            <a:solidFill>
              <a:srgbClr val="2E5BD8"/>
            </a:solidFill>
            <a:prstDash val="solid"/>
          </a:ln>
        </p:spPr>
      </p:sp>
      <p:sp>
        <p:nvSpPr>
          <p:cNvPr id="210" name="Shape 208"/>
          <p:cNvSpPr/>
          <p:nvPr/>
        </p:nvSpPr>
        <p:spPr>
          <a:xfrm>
            <a:off x="4681728" y="2936828"/>
            <a:ext cx="109728" cy="26387"/>
          </a:xfrm>
          <a:prstGeom prst="line">
            <a:avLst/>
          </a:prstGeom>
          <a:noFill/>
          <a:ln w="25400">
            <a:solidFill>
              <a:srgbClr val="2E5BD8"/>
            </a:solidFill>
            <a:prstDash val="solid"/>
          </a:ln>
        </p:spPr>
      </p:sp>
      <p:sp>
        <p:nvSpPr>
          <p:cNvPr id="211" name="Shape 209"/>
          <p:cNvSpPr/>
          <p:nvPr/>
        </p:nvSpPr>
        <p:spPr>
          <a:xfrm>
            <a:off x="4791456" y="2963215"/>
            <a:ext cx="109728" cy="25994"/>
          </a:xfrm>
          <a:prstGeom prst="line">
            <a:avLst/>
          </a:prstGeom>
          <a:noFill/>
          <a:ln w="25400">
            <a:solidFill>
              <a:srgbClr val="2E5BD8"/>
            </a:solidFill>
            <a:prstDash val="solid"/>
          </a:ln>
        </p:spPr>
      </p:sp>
      <p:sp>
        <p:nvSpPr>
          <p:cNvPr id="212" name="Shape 210"/>
          <p:cNvSpPr/>
          <p:nvPr/>
        </p:nvSpPr>
        <p:spPr>
          <a:xfrm>
            <a:off x="4901184" y="2989209"/>
            <a:ext cx="109728" cy="25607"/>
          </a:xfrm>
          <a:prstGeom prst="line">
            <a:avLst/>
          </a:prstGeom>
          <a:noFill/>
          <a:ln w="25400">
            <a:solidFill>
              <a:srgbClr val="2E5BD8"/>
            </a:solidFill>
            <a:prstDash val="solid"/>
          </a:ln>
        </p:spPr>
      </p:sp>
      <p:sp>
        <p:nvSpPr>
          <p:cNvPr id="213" name="Shape 211"/>
          <p:cNvSpPr/>
          <p:nvPr/>
        </p:nvSpPr>
        <p:spPr>
          <a:xfrm>
            <a:off x="5010912" y="3014815"/>
            <a:ext cx="109728" cy="25226"/>
          </a:xfrm>
          <a:prstGeom prst="line">
            <a:avLst/>
          </a:prstGeom>
          <a:noFill/>
          <a:ln w="25400">
            <a:solidFill>
              <a:srgbClr val="2E5BD8"/>
            </a:solidFill>
            <a:prstDash val="solid"/>
          </a:ln>
        </p:spPr>
      </p:sp>
      <p:sp>
        <p:nvSpPr>
          <p:cNvPr id="214" name="Shape 212"/>
          <p:cNvSpPr/>
          <p:nvPr/>
        </p:nvSpPr>
        <p:spPr>
          <a:xfrm>
            <a:off x="5120640" y="3040041"/>
            <a:ext cx="109728" cy="24850"/>
          </a:xfrm>
          <a:prstGeom prst="line">
            <a:avLst/>
          </a:prstGeom>
          <a:noFill/>
          <a:ln w="25400">
            <a:solidFill>
              <a:srgbClr val="2E5BD8"/>
            </a:solidFill>
            <a:prstDash val="solid"/>
          </a:ln>
        </p:spPr>
      </p:sp>
      <p:sp>
        <p:nvSpPr>
          <p:cNvPr id="215" name="Shape 213"/>
          <p:cNvSpPr/>
          <p:nvPr/>
        </p:nvSpPr>
        <p:spPr>
          <a:xfrm>
            <a:off x="5230368" y="3064891"/>
            <a:ext cx="109728" cy="24480"/>
          </a:xfrm>
          <a:prstGeom prst="line">
            <a:avLst/>
          </a:prstGeom>
          <a:noFill/>
          <a:ln w="25400">
            <a:solidFill>
              <a:srgbClr val="2E5BD8"/>
            </a:solidFill>
            <a:prstDash val="solid"/>
          </a:ln>
        </p:spPr>
      </p:sp>
      <p:sp>
        <p:nvSpPr>
          <p:cNvPr id="216" name="Shape 214"/>
          <p:cNvSpPr/>
          <p:nvPr/>
        </p:nvSpPr>
        <p:spPr>
          <a:xfrm>
            <a:off x="5340096" y="3089371"/>
            <a:ext cx="109728" cy="24116"/>
          </a:xfrm>
          <a:prstGeom prst="line">
            <a:avLst/>
          </a:prstGeom>
          <a:noFill/>
          <a:ln w="25400">
            <a:solidFill>
              <a:srgbClr val="2E5BD8"/>
            </a:solidFill>
            <a:prstDash val="solid"/>
          </a:ln>
        </p:spPr>
      </p:sp>
      <p:sp>
        <p:nvSpPr>
          <p:cNvPr id="217" name="Shape 215"/>
          <p:cNvSpPr/>
          <p:nvPr/>
        </p:nvSpPr>
        <p:spPr>
          <a:xfrm>
            <a:off x="5449824" y="3113486"/>
            <a:ext cx="109728" cy="23756"/>
          </a:xfrm>
          <a:prstGeom prst="line">
            <a:avLst/>
          </a:prstGeom>
          <a:noFill/>
          <a:ln w="25400">
            <a:solidFill>
              <a:srgbClr val="2E5BD8"/>
            </a:solidFill>
            <a:prstDash val="solid"/>
          </a:ln>
        </p:spPr>
      </p:sp>
      <p:sp>
        <p:nvSpPr>
          <p:cNvPr id="218" name="Shape 216"/>
          <p:cNvSpPr/>
          <p:nvPr/>
        </p:nvSpPr>
        <p:spPr>
          <a:xfrm>
            <a:off x="5559552" y="3137243"/>
            <a:ext cx="109728" cy="23403"/>
          </a:xfrm>
          <a:prstGeom prst="line">
            <a:avLst/>
          </a:prstGeom>
          <a:noFill/>
          <a:ln w="25400">
            <a:solidFill>
              <a:srgbClr val="2E5BD8"/>
            </a:solidFill>
            <a:prstDash val="solid"/>
          </a:ln>
        </p:spPr>
      </p:sp>
      <p:sp>
        <p:nvSpPr>
          <p:cNvPr id="219" name="Shape 217"/>
          <p:cNvSpPr/>
          <p:nvPr/>
        </p:nvSpPr>
        <p:spPr>
          <a:xfrm>
            <a:off x="1234440" y="1841863"/>
            <a:ext cx="91440" cy="91440"/>
          </a:xfrm>
          <a:prstGeom prst="line">
            <a:avLst/>
          </a:prstGeom>
          <a:noFill/>
          <a:ln w="15875">
            <a:solidFill>
              <a:srgbClr val="2E5BD8"/>
            </a:solidFill>
            <a:prstDash val="solid"/>
          </a:ln>
        </p:spPr>
      </p:sp>
      <p:sp>
        <p:nvSpPr>
          <p:cNvPr id="220" name="Shape 218"/>
          <p:cNvSpPr/>
          <p:nvPr/>
        </p:nvSpPr>
        <p:spPr>
          <a:xfrm flipV="1">
            <a:off x="1234440" y="1841863"/>
            <a:ext cx="91440" cy="91440"/>
          </a:xfrm>
          <a:prstGeom prst="line">
            <a:avLst/>
          </a:prstGeom>
          <a:noFill/>
          <a:ln w="15875">
            <a:solidFill>
              <a:srgbClr val="2E5BD8"/>
            </a:solidFill>
            <a:prstDash val="solid"/>
          </a:ln>
        </p:spPr>
      </p:sp>
      <p:sp>
        <p:nvSpPr>
          <p:cNvPr id="221" name="Shape 219"/>
          <p:cNvSpPr/>
          <p:nvPr/>
        </p:nvSpPr>
        <p:spPr>
          <a:xfrm>
            <a:off x="2112264" y="2171047"/>
            <a:ext cx="91440" cy="91440"/>
          </a:xfrm>
          <a:prstGeom prst="line">
            <a:avLst/>
          </a:prstGeom>
          <a:noFill/>
          <a:ln w="15875">
            <a:solidFill>
              <a:srgbClr val="2E5BD8"/>
            </a:solidFill>
            <a:prstDash val="solid"/>
          </a:ln>
        </p:spPr>
      </p:sp>
      <p:sp>
        <p:nvSpPr>
          <p:cNvPr id="222" name="Shape 220"/>
          <p:cNvSpPr/>
          <p:nvPr/>
        </p:nvSpPr>
        <p:spPr>
          <a:xfrm flipV="1">
            <a:off x="2112264" y="2171047"/>
            <a:ext cx="91440" cy="91440"/>
          </a:xfrm>
          <a:prstGeom prst="line">
            <a:avLst/>
          </a:prstGeom>
          <a:noFill/>
          <a:ln w="15875">
            <a:solidFill>
              <a:srgbClr val="2E5BD8"/>
            </a:solidFill>
            <a:prstDash val="solid"/>
          </a:ln>
        </p:spPr>
      </p:sp>
      <p:sp>
        <p:nvSpPr>
          <p:cNvPr id="223" name="Shape 221"/>
          <p:cNvSpPr/>
          <p:nvPr/>
        </p:nvSpPr>
        <p:spPr>
          <a:xfrm>
            <a:off x="2990088" y="2453205"/>
            <a:ext cx="91440" cy="91440"/>
          </a:xfrm>
          <a:prstGeom prst="line">
            <a:avLst/>
          </a:prstGeom>
          <a:noFill/>
          <a:ln w="15875">
            <a:solidFill>
              <a:srgbClr val="2E5BD8"/>
            </a:solidFill>
            <a:prstDash val="solid"/>
          </a:ln>
        </p:spPr>
      </p:sp>
      <p:sp>
        <p:nvSpPr>
          <p:cNvPr id="224" name="Shape 222"/>
          <p:cNvSpPr/>
          <p:nvPr/>
        </p:nvSpPr>
        <p:spPr>
          <a:xfrm flipV="1">
            <a:off x="2990088" y="2453205"/>
            <a:ext cx="91440" cy="91440"/>
          </a:xfrm>
          <a:prstGeom prst="line">
            <a:avLst/>
          </a:prstGeom>
          <a:noFill/>
          <a:ln w="15875">
            <a:solidFill>
              <a:srgbClr val="2E5BD8"/>
            </a:solidFill>
            <a:prstDash val="solid"/>
          </a:ln>
        </p:spPr>
      </p:sp>
      <p:sp>
        <p:nvSpPr>
          <p:cNvPr id="225" name="Shape 223"/>
          <p:cNvSpPr/>
          <p:nvPr/>
        </p:nvSpPr>
        <p:spPr>
          <a:xfrm>
            <a:off x="3867912" y="2688336"/>
            <a:ext cx="91440" cy="91440"/>
          </a:xfrm>
          <a:prstGeom prst="line">
            <a:avLst/>
          </a:prstGeom>
          <a:noFill/>
          <a:ln w="15875">
            <a:solidFill>
              <a:srgbClr val="2E5BD8"/>
            </a:solidFill>
            <a:prstDash val="solid"/>
          </a:ln>
        </p:spPr>
      </p:sp>
      <p:sp>
        <p:nvSpPr>
          <p:cNvPr id="226" name="Shape 224"/>
          <p:cNvSpPr/>
          <p:nvPr/>
        </p:nvSpPr>
        <p:spPr>
          <a:xfrm flipV="1">
            <a:off x="3867912" y="2688336"/>
            <a:ext cx="91440" cy="91440"/>
          </a:xfrm>
          <a:prstGeom prst="line">
            <a:avLst/>
          </a:prstGeom>
          <a:noFill/>
          <a:ln w="15875">
            <a:solidFill>
              <a:srgbClr val="2E5BD8"/>
            </a:solidFill>
            <a:prstDash val="solid"/>
          </a:ln>
        </p:spPr>
      </p:sp>
      <p:sp>
        <p:nvSpPr>
          <p:cNvPr id="227" name="Shape 225"/>
          <p:cNvSpPr/>
          <p:nvPr/>
        </p:nvSpPr>
        <p:spPr>
          <a:xfrm>
            <a:off x="4745736" y="2923467"/>
            <a:ext cx="91440" cy="91440"/>
          </a:xfrm>
          <a:prstGeom prst="line">
            <a:avLst/>
          </a:prstGeom>
          <a:noFill/>
          <a:ln w="15875">
            <a:solidFill>
              <a:srgbClr val="2E5BD8"/>
            </a:solidFill>
            <a:prstDash val="solid"/>
          </a:ln>
        </p:spPr>
      </p:sp>
      <p:sp>
        <p:nvSpPr>
          <p:cNvPr id="228" name="Shape 226"/>
          <p:cNvSpPr/>
          <p:nvPr/>
        </p:nvSpPr>
        <p:spPr>
          <a:xfrm flipV="1">
            <a:off x="4745736" y="2923467"/>
            <a:ext cx="91440" cy="91440"/>
          </a:xfrm>
          <a:prstGeom prst="line">
            <a:avLst/>
          </a:prstGeom>
          <a:noFill/>
          <a:ln w="15875">
            <a:solidFill>
              <a:srgbClr val="2E5BD8"/>
            </a:solidFill>
            <a:prstDash val="solid"/>
          </a:ln>
        </p:spPr>
      </p:sp>
      <p:sp>
        <p:nvSpPr>
          <p:cNvPr id="229" name="Shape 227"/>
          <p:cNvSpPr/>
          <p:nvPr/>
        </p:nvSpPr>
        <p:spPr>
          <a:xfrm>
            <a:off x="5623560" y="3111573"/>
            <a:ext cx="91440" cy="91440"/>
          </a:xfrm>
          <a:prstGeom prst="line">
            <a:avLst/>
          </a:prstGeom>
          <a:noFill/>
          <a:ln w="15875">
            <a:solidFill>
              <a:srgbClr val="2E5BD8"/>
            </a:solidFill>
            <a:prstDash val="solid"/>
          </a:ln>
        </p:spPr>
      </p:sp>
      <p:sp>
        <p:nvSpPr>
          <p:cNvPr id="230" name="Shape 228"/>
          <p:cNvSpPr/>
          <p:nvPr/>
        </p:nvSpPr>
        <p:spPr>
          <a:xfrm flipV="1">
            <a:off x="5623560" y="3111573"/>
            <a:ext cx="91440" cy="91440"/>
          </a:xfrm>
          <a:prstGeom prst="line">
            <a:avLst/>
          </a:prstGeom>
          <a:noFill/>
          <a:ln w="15875">
            <a:solidFill>
              <a:srgbClr val="2E5BD8"/>
            </a:solidFill>
            <a:prstDash val="solid"/>
          </a:ln>
        </p:spPr>
      </p:sp>
      <p:sp>
        <p:nvSpPr>
          <p:cNvPr id="231" name="Shape 229"/>
          <p:cNvSpPr/>
          <p:nvPr/>
        </p:nvSpPr>
        <p:spPr>
          <a:xfrm>
            <a:off x="3979469" y="2050869"/>
            <a:ext cx="285293" cy="91"/>
          </a:xfrm>
          <a:prstGeom prst="line">
            <a:avLst/>
          </a:prstGeom>
          <a:noFill/>
          <a:ln w="31750">
            <a:solidFill>
              <a:srgbClr val="2E5BD8"/>
            </a:solidFill>
            <a:prstDash val="solid"/>
          </a:ln>
        </p:spPr>
      </p:sp>
      <p:sp>
        <p:nvSpPr>
          <p:cNvPr id="232" name="Text 230"/>
          <p:cNvSpPr/>
          <p:nvPr/>
        </p:nvSpPr>
        <p:spPr>
          <a:xfrm>
            <a:off x="4308653" y="1950285"/>
            <a:ext cx="1097280" cy="201168"/>
          </a:xfrm>
          <a:prstGeom prst="rect">
            <a:avLst/>
          </a:prstGeom>
          <a:noFill/>
          <a:ln/>
        </p:spPr>
        <p:txBody>
          <a:bodyPr wrap="square" lIns="0" tIns="0" rIns="0" bIns="0" rtlCol="0" anchor="ctr"/>
          <a:lstStyle/>
          <a:p>
            <a:pPr algn="l" indent="0" marL="0">
              <a:buNone/>
            </a:pPr>
            <a:r>
              <a:rPr lang="en-US" sz="1000" b="1" dirty="0">
                <a:solidFill>
                  <a:srgbClr val="2E5BD8"/>
                </a:solidFill>
                <a:latin typeface="Calibri" pitchFamily="34" charset="0"/>
                <a:ea typeface="Calibri" pitchFamily="34" charset="-122"/>
                <a:cs typeface="Calibri" pitchFamily="34" charset="-120"/>
              </a:rPr>
              <a:t>bubble wrap</a:t>
            </a:r>
            <a:endParaRPr lang="en-US" sz="1000" dirty="0"/>
          </a:p>
        </p:txBody>
      </p:sp>
      <p:sp>
        <p:nvSpPr>
          <p:cNvPr id="233" name="Shape 231"/>
          <p:cNvSpPr/>
          <p:nvPr/>
        </p:nvSpPr>
        <p:spPr>
          <a:xfrm>
            <a:off x="1280160" y="1887583"/>
            <a:ext cx="109728" cy="28075"/>
          </a:xfrm>
          <a:prstGeom prst="line">
            <a:avLst/>
          </a:prstGeom>
          <a:noFill/>
          <a:ln w="25400">
            <a:solidFill>
              <a:srgbClr val="2E8B57"/>
            </a:solidFill>
            <a:prstDash val="solid"/>
          </a:ln>
        </p:spPr>
      </p:sp>
      <p:sp>
        <p:nvSpPr>
          <p:cNvPr id="234" name="Shape 232"/>
          <p:cNvSpPr/>
          <p:nvPr/>
        </p:nvSpPr>
        <p:spPr>
          <a:xfrm>
            <a:off x="1389888" y="1915658"/>
            <a:ext cx="109728" cy="27796"/>
          </a:xfrm>
          <a:prstGeom prst="line">
            <a:avLst/>
          </a:prstGeom>
          <a:noFill/>
          <a:ln w="25400">
            <a:solidFill>
              <a:srgbClr val="2E8B57"/>
            </a:solidFill>
            <a:prstDash val="solid"/>
          </a:ln>
        </p:spPr>
      </p:sp>
      <p:sp>
        <p:nvSpPr>
          <p:cNvPr id="235" name="Shape 233"/>
          <p:cNvSpPr/>
          <p:nvPr/>
        </p:nvSpPr>
        <p:spPr>
          <a:xfrm>
            <a:off x="1499616" y="1943454"/>
            <a:ext cx="109728" cy="27519"/>
          </a:xfrm>
          <a:prstGeom prst="line">
            <a:avLst/>
          </a:prstGeom>
          <a:noFill/>
          <a:ln w="25400">
            <a:solidFill>
              <a:srgbClr val="2E8B57"/>
            </a:solidFill>
            <a:prstDash val="solid"/>
          </a:ln>
        </p:spPr>
      </p:sp>
      <p:sp>
        <p:nvSpPr>
          <p:cNvPr id="236" name="Shape 234"/>
          <p:cNvSpPr/>
          <p:nvPr/>
        </p:nvSpPr>
        <p:spPr>
          <a:xfrm>
            <a:off x="1609344" y="1970973"/>
            <a:ext cx="109728" cy="27245"/>
          </a:xfrm>
          <a:prstGeom prst="line">
            <a:avLst/>
          </a:prstGeom>
          <a:noFill/>
          <a:ln w="25400">
            <a:solidFill>
              <a:srgbClr val="2E8B57"/>
            </a:solidFill>
            <a:prstDash val="solid"/>
          </a:ln>
        </p:spPr>
      </p:sp>
      <p:sp>
        <p:nvSpPr>
          <p:cNvPr id="237" name="Shape 235"/>
          <p:cNvSpPr/>
          <p:nvPr/>
        </p:nvSpPr>
        <p:spPr>
          <a:xfrm>
            <a:off x="1719072" y="1998218"/>
            <a:ext cx="109728" cy="26974"/>
          </a:xfrm>
          <a:prstGeom prst="line">
            <a:avLst/>
          </a:prstGeom>
          <a:noFill/>
          <a:ln w="25400">
            <a:solidFill>
              <a:srgbClr val="2E8B57"/>
            </a:solidFill>
            <a:prstDash val="solid"/>
          </a:ln>
        </p:spPr>
      </p:sp>
      <p:sp>
        <p:nvSpPr>
          <p:cNvPr id="238" name="Shape 236"/>
          <p:cNvSpPr/>
          <p:nvPr/>
        </p:nvSpPr>
        <p:spPr>
          <a:xfrm>
            <a:off x="1828800" y="2025193"/>
            <a:ext cx="109728" cy="26706"/>
          </a:xfrm>
          <a:prstGeom prst="line">
            <a:avLst/>
          </a:prstGeom>
          <a:noFill/>
          <a:ln w="25400">
            <a:solidFill>
              <a:srgbClr val="2E8B57"/>
            </a:solidFill>
            <a:prstDash val="solid"/>
          </a:ln>
        </p:spPr>
      </p:sp>
      <p:sp>
        <p:nvSpPr>
          <p:cNvPr id="239" name="Shape 237"/>
          <p:cNvSpPr/>
          <p:nvPr/>
        </p:nvSpPr>
        <p:spPr>
          <a:xfrm>
            <a:off x="1938528" y="2051899"/>
            <a:ext cx="109728" cy="26440"/>
          </a:xfrm>
          <a:prstGeom prst="line">
            <a:avLst/>
          </a:prstGeom>
          <a:noFill/>
          <a:ln w="25400">
            <a:solidFill>
              <a:srgbClr val="2E8B57"/>
            </a:solidFill>
            <a:prstDash val="solid"/>
          </a:ln>
        </p:spPr>
      </p:sp>
      <p:sp>
        <p:nvSpPr>
          <p:cNvPr id="240" name="Shape 238"/>
          <p:cNvSpPr/>
          <p:nvPr/>
        </p:nvSpPr>
        <p:spPr>
          <a:xfrm>
            <a:off x="2048256" y="2078339"/>
            <a:ext cx="109728" cy="26177"/>
          </a:xfrm>
          <a:prstGeom prst="line">
            <a:avLst/>
          </a:prstGeom>
          <a:noFill/>
          <a:ln w="25400">
            <a:solidFill>
              <a:srgbClr val="2E8B57"/>
            </a:solidFill>
            <a:prstDash val="solid"/>
          </a:ln>
        </p:spPr>
      </p:sp>
      <p:sp>
        <p:nvSpPr>
          <p:cNvPr id="241" name="Shape 239"/>
          <p:cNvSpPr/>
          <p:nvPr/>
        </p:nvSpPr>
        <p:spPr>
          <a:xfrm>
            <a:off x="2157984" y="2104516"/>
            <a:ext cx="109728" cy="25917"/>
          </a:xfrm>
          <a:prstGeom prst="line">
            <a:avLst/>
          </a:prstGeom>
          <a:noFill/>
          <a:ln w="25400">
            <a:solidFill>
              <a:srgbClr val="2E8B57"/>
            </a:solidFill>
            <a:prstDash val="solid"/>
          </a:ln>
        </p:spPr>
      </p:sp>
      <p:sp>
        <p:nvSpPr>
          <p:cNvPr id="242" name="Shape 240"/>
          <p:cNvSpPr/>
          <p:nvPr/>
        </p:nvSpPr>
        <p:spPr>
          <a:xfrm>
            <a:off x="2267712" y="2130433"/>
            <a:ext cx="109728" cy="25659"/>
          </a:xfrm>
          <a:prstGeom prst="line">
            <a:avLst/>
          </a:prstGeom>
          <a:noFill/>
          <a:ln w="25400">
            <a:solidFill>
              <a:srgbClr val="2E8B57"/>
            </a:solidFill>
            <a:prstDash val="solid"/>
          </a:ln>
        </p:spPr>
      </p:sp>
      <p:sp>
        <p:nvSpPr>
          <p:cNvPr id="243" name="Shape 241"/>
          <p:cNvSpPr/>
          <p:nvPr/>
        </p:nvSpPr>
        <p:spPr>
          <a:xfrm>
            <a:off x="2377440" y="2156091"/>
            <a:ext cx="109728" cy="25403"/>
          </a:xfrm>
          <a:prstGeom prst="line">
            <a:avLst/>
          </a:prstGeom>
          <a:noFill/>
          <a:ln w="25400">
            <a:solidFill>
              <a:srgbClr val="2E8B57"/>
            </a:solidFill>
            <a:prstDash val="solid"/>
          </a:ln>
        </p:spPr>
      </p:sp>
      <p:sp>
        <p:nvSpPr>
          <p:cNvPr id="244" name="Shape 242"/>
          <p:cNvSpPr/>
          <p:nvPr/>
        </p:nvSpPr>
        <p:spPr>
          <a:xfrm>
            <a:off x="2487168" y="2181495"/>
            <a:ext cx="109728" cy="25151"/>
          </a:xfrm>
          <a:prstGeom prst="line">
            <a:avLst/>
          </a:prstGeom>
          <a:noFill/>
          <a:ln w="25400">
            <a:solidFill>
              <a:srgbClr val="2E8B57"/>
            </a:solidFill>
            <a:prstDash val="solid"/>
          </a:ln>
        </p:spPr>
      </p:sp>
      <p:sp>
        <p:nvSpPr>
          <p:cNvPr id="245" name="Shape 243"/>
          <p:cNvSpPr/>
          <p:nvPr/>
        </p:nvSpPr>
        <p:spPr>
          <a:xfrm>
            <a:off x="2596896" y="2206646"/>
            <a:ext cx="109728" cy="24900"/>
          </a:xfrm>
          <a:prstGeom prst="line">
            <a:avLst/>
          </a:prstGeom>
          <a:noFill/>
          <a:ln w="25400">
            <a:solidFill>
              <a:srgbClr val="2E8B57"/>
            </a:solidFill>
            <a:prstDash val="solid"/>
          </a:ln>
        </p:spPr>
      </p:sp>
      <p:sp>
        <p:nvSpPr>
          <p:cNvPr id="246" name="Shape 244"/>
          <p:cNvSpPr/>
          <p:nvPr/>
        </p:nvSpPr>
        <p:spPr>
          <a:xfrm>
            <a:off x="2706624" y="2231546"/>
            <a:ext cx="109728" cy="24653"/>
          </a:xfrm>
          <a:prstGeom prst="line">
            <a:avLst/>
          </a:prstGeom>
          <a:noFill/>
          <a:ln w="25400">
            <a:solidFill>
              <a:srgbClr val="2E8B57"/>
            </a:solidFill>
            <a:prstDash val="solid"/>
          </a:ln>
        </p:spPr>
      </p:sp>
      <p:sp>
        <p:nvSpPr>
          <p:cNvPr id="247" name="Shape 245"/>
          <p:cNvSpPr/>
          <p:nvPr/>
        </p:nvSpPr>
        <p:spPr>
          <a:xfrm>
            <a:off x="2816352" y="2256199"/>
            <a:ext cx="109728" cy="24407"/>
          </a:xfrm>
          <a:prstGeom prst="line">
            <a:avLst/>
          </a:prstGeom>
          <a:noFill/>
          <a:ln w="25400">
            <a:solidFill>
              <a:srgbClr val="2E8B57"/>
            </a:solidFill>
            <a:prstDash val="solid"/>
          </a:ln>
        </p:spPr>
      </p:sp>
      <p:sp>
        <p:nvSpPr>
          <p:cNvPr id="248" name="Shape 246"/>
          <p:cNvSpPr/>
          <p:nvPr/>
        </p:nvSpPr>
        <p:spPr>
          <a:xfrm>
            <a:off x="2926080" y="2280606"/>
            <a:ext cx="109728" cy="24165"/>
          </a:xfrm>
          <a:prstGeom prst="line">
            <a:avLst/>
          </a:prstGeom>
          <a:noFill/>
          <a:ln w="25400">
            <a:solidFill>
              <a:srgbClr val="2E8B57"/>
            </a:solidFill>
            <a:prstDash val="solid"/>
          </a:ln>
        </p:spPr>
      </p:sp>
      <p:sp>
        <p:nvSpPr>
          <p:cNvPr id="249" name="Shape 247"/>
          <p:cNvSpPr/>
          <p:nvPr/>
        </p:nvSpPr>
        <p:spPr>
          <a:xfrm>
            <a:off x="3035808" y="2304771"/>
            <a:ext cx="109728" cy="23924"/>
          </a:xfrm>
          <a:prstGeom prst="line">
            <a:avLst/>
          </a:prstGeom>
          <a:noFill/>
          <a:ln w="25400">
            <a:solidFill>
              <a:srgbClr val="2E8B57"/>
            </a:solidFill>
            <a:prstDash val="solid"/>
          </a:ln>
        </p:spPr>
      </p:sp>
      <p:sp>
        <p:nvSpPr>
          <p:cNvPr id="250" name="Shape 248"/>
          <p:cNvSpPr/>
          <p:nvPr/>
        </p:nvSpPr>
        <p:spPr>
          <a:xfrm>
            <a:off x="3145536" y="2328695"/>
            <a:ext cx="109728" cy="23686"/>
          </a:xfrm>
          <a:prstGeom prst="line">
            <a:avLst/>
          </a:prstGeom>
          <a:noFill/>
          <a:ln w="25400">
            <a:solidFill>
              <a:srgbClr val="2E8B57"/>
            </a:solidFill>
            <a:prstDash val="solid"/>
          </a:ln>
        </p:spPr>
      </p:sp>
      <p:sp>
        <p:nvSpPr>
          <p:cNvPr id="251" name="Shape 249"/>
          <p:cNvSpPr/>
          <p:nvPr/>
        </p:nvSpPr>
        <p:spPr>
          <a:xfrm>
            <a:off x="3255264" y="2352381"/>
            <a:ext cx="109728" cy="23450"/>
          </a:xfrm>
          <a:prstGeom prst="line">
            <a:avLst/>
          </a:prstGeom>
          <a:noFill/>
          <a:ln w="25400">
            <a:solidFill>
              <a:srgbClr val="2E8B57"/>
            </a:solidFill>
            <a:prstDash val="solid"/>
          </a:ln>
        </p:spPr>
      </p:sp>
      <p:sp>
        <p:nvSpPr>
          <p:cNvPr id="252" name="Shape 250"/>
          <p:cNvSpPr/>
          <p:nvPr/>
        </p:nvSpPr>
        <p:spPr>
          <a:xfrm>
            <a:off x="3364992" y="2375831"/>
            <a:ext cx="109728" cy="23217"/>
          </a:xfrm>
          <a:prstGeom prst="line">
            <a:avLst/>
          </a:prstGeom>
          <a:noFill/>
          <a:ln w="25400">
            <a:solidFill>
              <a:srgbClr val="2E8B57"/>
            </a:solidFill>
            <a:prstDash val="solid"/>
          </a:ln>
        </p:spPr>
      </p:sp>
      <p:sp>
        <p:nvSpPr>
          <p:cNvPr id="253" name="Shape 251"/>
          <p:cNvSpPr/>
          <p:nvPr/>
        </p:nvSpPr>
        <p:spPr>
          <a:xfrm>
            <a:off x="3474720" y="2399048"/>
            <a:ext cx="109728" cy="22986"/>
          </a:xfrm>
          <a:prstGeom prst="line">
            <a:avLst/>
          </a:prstGeom>
          <a:noFill/>
          <a:ln w="25400">
            <a:solidFill>
              <a:srgbClr val="2E8B57"/>
            </a:solidFill>
            <a:prstDash val="solid"/>
          </a:ln>
        </p:spPr>
      </p:sp>
      <p:sp>
        <p:nvSpPr>
          <p:cNvPr id="254" name="Shape 252"/>
          <p:cNvSpPr/>
          <p:nvPr/>
        </p:nvSpPr>
        <p:spPr>
          <a:xfrm>
            <a:off x="3584448" y="2422034"/>
            <a:ext cx="109728" cy="22757"/>
          </a:xfrm>
          <a:prstGeom prst="line">
            <a:avLst/>
          </a:prstGeom>
          <a:noFill/>
          <a:ln w="25400">
            <a:solidFill>
              <a:srgbClr val="2E8B57"/>
            </a:solidFill>
            <a:prstDash val="solid"/>
          </a:ln>
        </p:spPr>
      </p:sp>
      <p:sp>
        <p:nvSpPr>
          <p:cNvPr id="255" name="Shape 253"/>
          <p:cNvSpPr/>
          <p:nvPr/>
        </p:nvSpPr>
        <p:spPr>
          <a:xfrm>
            <a:off x="3694176" y="2444791"/>
            <a:ext cx="109728" cy="22531"/>
          </a:xfrm>
          <a:prstGeom prst="line">
            <a:avLst/>
          </a:prstGeom>
          <a:noFill/>
          <a:ln w="25400">
            <a:solidFill>
              <a:srgbClr val="2E8B57"/>
            </a:solidFill>
            <a:prstDash val="solid"/>
          </a:ln>
        </p:spPr>
      </p:sp>
      <p:sp>
        <p:nvSpPr>
          <p:cNvPr id="256" name="Shape 254"/>
          <p:cNvSpPr/>
          <p:nvPr/>
        </p:nvSpPr>
        <p:spPr>
          <a:xfrm>
            <a:off x="3803904" y="2467322"/>
            <a:ext cx="109728" cy="22307"/>
          </a:xfrm>
          <a:prstGeom prst="line">
            <a:avLst/>
          </a:prstGeom>
          <a:noFill/>
          <a:ln w="25400">
            <a:solidFill>
              <a:srgbClr val="2E8B57"/>
            </a:solidFill>
            <a:prstDash val="solid"/>
          </a:ln>
        </p:spPr>
      </p:sp>
      <p:sp>
        <p:nvSpPr>
          <p:cNvPr id="257" name="Shape 255"/>
          <p:cNvSpPr/>
          <p:nvPr/>
        </p:nvSpPr>
        <p:spPr>
          <a:xfrm>
            <a:off x="3913632" y="2489629"/>
            <a:ext cx="109728" cy="22085"/>
          </a:xfrm>
          <a:prstGeom prst="line">
            <a:avLst/>
          </a:prstGeom>
          <a:noFill/>
          <a:ln w="25400">
            <a:solidFill>
              <a:srgbClr val="2E8B57"/>
            </a:solidFill>
            <a:prstDash val="solid"/>
          </a:ln>
        </p:spPr>
      </p:sp>
      <p:sp>
        <p:nvSpPr>
          <p:cNvPr id="258" name="Shape 256"/>
          <p:cNvSpPr/>
          <p:nvPr/>
        </p:nvSpPr>
        <p:spPr>
          <a:xfrm>
            <a:off x="4023360" y="2511714"/>
            <a:ext cx="109728" cy="21865"/>
          </a:xfrm>
          <a:prstGeom prst="line">
            <a:avLst/>
          </a:prstGeom>
          <a:noFill/>
          <a:ln w="25400">
            <a:solidFill>
              <a:srgbClr val="2E8B57"/>
            </a:solidFill>
            <a:prstDash val="solid"/>
          </a:ln>
        </p:spPr>
      </p:sp>
      <p:sp>
        <p:nvSpPr>
          <p:cNvPr id="259" name="Shape 257"/>
          <p:cNvSpPr/>
          <p:nvPr/>
        </p:nvSpPr>
        <p:spPr>
          <a:xfrm>
            <a:off x="4133088" y="2533578"/>
            <a:ext cx="109728" cy="21647"/>
          </a:xfrm>
          <a:prstGeom prst="line">
            <a:avLst/>
          </a:prstGeom>
          <a:noFill/>
          <a:ln w="25400">
            <a:solidFill>
              <a:srgbClr val="2E8B57"/>
            </a:solidFill>
            <a:prstDash val="solid"/>
          </a:ln>
        </p:spPr>
      </p:sp>
      <p:sp>
        <p:nvSpPr>
          <p:cNvPr id="260" name="Shape 258"/>
          <p:cNvSpPr/>
          <p:nvPr/>
        </p:nvSpPr>
        <p:spPr>
          <a:xfrm>
            <a:off x="4242816" y="2555226"/>
            <a:ext cx="109728" cy="21432"/>
          </a:xfrm>
          <a:prstGeom prst="line">
            <a:avLst/>
          </a:prstGeom>
          <a:noFill/>
          <a:ln w="25400">
            <a:solidFill>
              <a:srgbClr val="2E8B57"/>
            </a:solidFill>
            <a:prstDash val="solid"/>
          </a:ln>
        </p:spPr>
      </p:sp>
      <p:sp>
        <p:nvSpPr>
          <p:cNvPr id="261" name="Shape 259"/>
          <p:cNvSpPr/>
          <p:nvPr/>
        </p:nvSpPr>
        <p:spPr>
          <a:xfrm>
            <a:off x="4352544" y="2576658"/>
            <a:ext cx="109728" cy="21219"/>
          </a:xfrm>
          <a:prstGeom prst="line">
            <a:avLst/>
          </a:prstGeom>
          <a:noFill/>
          <a:ln w="25400">
            <a:solidFill>
              <a:srgbClr val="2E8B57"/>
            </a:solidFill>
            <a:prstDash val="solid"/>
          </a:ln>
        </p:spPr>
      </p:sp>
      <p:sp>
        <p:nvSpPr>
          <p:cNvPr id="262" name="Shape 260"/>
          <p:cNvSpPr/>
          <p:nvPr/>
        </p:nvSpPr>
        <p:spPr>
          <a:xfrm>
            <a:off x="4462272" y="2597877"/>
            <a:ext cx="109728" cy="21008"/>
          </a:xfrm>
          <a:prstGeom prst="line">
            <a:avLst/>
          </a:prstGeom>
          <a:noFill/>
          <a:ln w="25400">
            <a:solidFill>
              <a:srgbClr val="2E8B57"/>
            </a:solidFill>
            <a:prstDash val="solid"/>
          </a:ln>
        </p:spPr>
      </p:sp>
      <p:sp>
        <p:nvSpPr>
          <p:cNvPr id="263" name="Shape 261"/>
          <p:cNvSpPr/>
          <p:nvPr/>
        </p:nvSpPr>
        <p:spPr>
          <a:xfrm>
            <a:off x="4572000" y="2618884"/>
            <a:ext cx="109728" cy="20799"/>
          </a:xfrm>
          <a:prstGeom prst="line">
            <a:avLst/>
          </a:prstGeom>
          <a:noFill/>
          <a:ln w="25400">
            <a:solidFill>
              <a:srgbClr val="2E8B57"/>
            </a:solidFill>
            <a:prstDash val="solid"/>
          </a:ln>
        </p:spPr>
      </p:sp>
      <p:sp>
        <p:nvSpPr>
          <p:cNvPr id="264" name="Shape 262"/>
          <p:cNvSpPr/>
          <p:nvPr/>
        </p:nvSpPr>
        <p:spPr>
          <a:xfrm>
            <a:off x="4681728" y="2639683"/>
            <a:ext cx="109728" cy="20592"/>
          </a:xfrm>
          <a:prstGeom prst="line">
            <a:avLst/>
          </a:prstGeom>
          <a:noFill/>
          <a:ln w="25400">
            <a:solidFill>
              <a:srgbClr val="2E8B57"/>
            </a:solidFill>
            <a:prstDash val="solid"/>
          </a:ln>
        </p:spPr>
      </p:sp>
      <p:sp>
        <p:nvSpPr>
          <p:cNvPr id="265" name="Shape 263"/>
          <p:cNvSpPr/>
          <p:nvPr/>
        </p:nvSpPr>
        <p:spPr>
          <a:xfrm>
            <a:off x="4791456" y="2660274"/>
            <a:ext cx="109728" cy="20387"/>
          </a:xfrm>
          <a:prstGeom prst="line">
            <a:avLst/>
          </a:prstGeom>
          <a:noFill/>
          <a:ln w="25400">
            <a:solidFill>
              <a:srgbClr val="2E8B57"/>
            </a:solidFill>
            <a:prstDash val="solid"/>
          </a:ln>
        </p:spPr>
      </p:sp>
      <p:sp>
        <p:nvSpPr>
          <p:cNvPr id="266" name="Shape 264"/>
          <p:cNvSpPr/>
          <p:nvPr/>
        </p:nvSpPr>
        <p:spPr>
          <a:xfrm>
            <a:off x="4901184" y="2680661"/>
            <a:ext cx="109728" cy="20184"/>
          </a:xfrm>
          <a:prstGeom prst="line">
            <a:avLst/>
          </a:prstGeom>
          <a:noFill/>
          <a:ln w="25400">
            <a:solidFill>
              <a:srgbClr val="2E8B57"/>
            </a:solidFill>
            <a:prstDash val="solid"/>
          </a:ln>
        </p:spPr>
      </p:sp>
      <p:sp>
        <p:nvSpPr>
          <p:cNvPr id="267" name="Shape 265"/>
          <p:cNvSpPr/>
          <p:nvPr/>
        </p:nvSpPr>
        <p:spPr>
          <a:xfrm>
            <a:off x="5010912" y="2700845"/>
            <a:ext cx="109728" cy="19983"/>
          </a:xfrm>
          <a:prstGeom prst="line">
            <a:avLst/>
          </a:prstGeom>
          <a:noFill/>
          <a:ln w="25400">
            <a:solidFill>
              <a:srgbClr val="2E8B57"/>
            </a:solidFill>
            <a:prstDash val="solid"/>
          </a:ln>
        </p:spPr>
      </p:sp>
      <p:sp>
        <p:nvSpPr>
          <p:cNvPr id="268" name="Shape 266"/>
          <p:cNvSpPr/>
          <p:nvPr/>
        </p:nvSpPr>
        <p:spPr>
          <a:xfrm>
            <a:off x="5120640" y="2720828"/>
            <a:ext cx="109728" cy="19784"/>
          </a:xfrm>
          <a:prstGeom prst="line">
            <a:avLst/>
          </a:prstGeom>
          <a:noFill/>
          <a:ln w="25400">
            <a:solidFill>
              <a:srgbClr val="2E8B57"/>
            </a:solidFill>
            <a:prstDash val="solid"/>
          </a:ln>
        </p:spPr>
      </p:sp>
      <p:sp>
        <p:nvSpPr>
          <p:cNvPr id="269" name="Shape 267"/>
          <p:cNvSpPr/>
          <p:nvPr/>
        </p:nvSpPr>
        <p:spPr>
          <a:xfrm>
            <a:off x="5230368" y="2740612"/>
            <a:ext cx="109728" cy="19587"/>
          </a:xfrm>
          <a:prstGeom prst="line">
            <a:avLst/>
          </a:prstGeom>
          <a:noFill/>
          <a:ln w="25400">
            <a:solidFill>
              <a:srgbClr val="2E8B57"/>
            </a:solidFill>
            <a:prstDash val="solid"/>
          </a:ln>
        </p:spPr>
      </p:sp>
      <p:sp>
        <p:nvSpPr>
          <p:cNvPr id="270" name="Shape 268"/>
          <p:cNvSpPr/>
          <p:nvPr/>
        </p:nvSpPr>
        <p:spPr>
          <a:xfrm>
            <a:off x="5340096" y="2760200"/>
            <a:ext cx="109728" cy="19392"/>
          </a:xfrm>
          <a:prstGeom prst="line">
            <a:avLst/>
          </a:prstGeom>
          <a:noFill/>
          <a:ln w="25400">
            <a:solidFill>
              <a:srgbClr val="2E8B57"/>
            </a:solidFill>
            <a:prstDash val="solid"/>
          </a:ln>
        </p:spPr>
      </p:sp>
      <p:sp>
        <p:nvSpPr>
          <p:cNvPr id="271" name="Shape 269"/>
          <p:cNvSpPr/>
          <p:nvPr/>
        </p:nvSpPr>
        <p:spPr>
          <a:xfrm>
            <a:off x="5449824" y="2779592"/>
            <a:ext cx="109728" cy="19200"/>
          </a:xfrm>
          <a:prstGeom prst="line">
            <a:avLst/>
          </a:prstGeom>
          <a:noFill/>
          <a:ln w="25400">
            <a:solidFill>
              <a:srgbClr val="2E8B57"/>
            </a:solidFill>
            <a:prstDash val="solid"/>
          </a:ln>
        </p:spPr>
      </p:sp>
      <p:sp>
        <p:nvSpPr>
          <p:cNvPr id="272" name="Shape 270"/>
          <p:cNvSpPr/>
          <p:nvPr/>
        </p:nvSpPr>
        <p:spPr>
          <a:xfrm>
            <a:off x="5559552" y="2798792"/>
            <a:ext cx="109728" cy="19008"/>
          </a:xfrm>
          <a:prstGeom prst="line">
            <a:avLst/>
          </a:prstGeom>
          <a:noFill/>
          <a:ln w="25400">
            <a:solidFill>
              <a:srgbClr val="2E8B57"/>
            </a:solidFill>
            <a:prstDash val="solid"/>
          </a:ln>
        </p:spPr>
      </p:sp>
      <p:sp>
        <p:nvSpPr>
          <p:cNvPr id="273" name="Shape 271"/>
          <p:cNvSpPr/>
          <p:nvPr/>
        </p:nvSpPr>
        <p:spPr>
          <a:xfrm>
            <a:off x="1234440" y="1841863"/>
            <a:ext cx="91440" cy="91440"/>
          </a:xfrm>
          <a:prstGeom prst="line">
            <a:avLst/>
          </a:prstGeom>
          <a:noFill/>
          <a:ln w="15875">
            <a:solidFill>
              <a:srgbClr val="2E8B57"/>
            </a:solidFill>
            <a:prstDash val="solid"/>
          </a:ln>
        </p:spPr>
      </p:sp>
      <p:sp>
        <p:nvSpPr>
          <p:cNvPr id="274" name="Shape 272"/>
          <p:cNvSpPr/>
          <p:nvPr/>
        </p:nvSpPr>
        <p:spPr>
          <a:xfrm flipV="1">
            <a:off x="1234440" y="1841863"/>
            <a:ext cx="91440" cy="91440"/>
          </a:xfrm>
          <a:prstGeom prst="line">
            <a:avLst/>
          </a:prstGeom>
          <a:noFill/>
          <a:ln w="15875">
            <a:solidFill>
              <a:srgbClr val="2E8B57"/>
            </a:solidFill>
            <a:prstDash val="solid"/>
          </a:ln>
        </p:spPr>
      </p:sp>
      <p:sp>
        <p:nvSpPr>
          <p:cNvPr id="275" name="Shape 273"/>
          <p:cNvSpPr/>
          <p:nvPr/>
        </p:nvSpPr>
        <p:spPr>
          <a:xfrm>
            <a:off x="2112264" y="2076994"/>
            <a:ext cx="91440" cy="91440"/>
          </a:xfrm>
          <a:prstGeom prst="line">
            <a:avLst/>
          </a:prstGeom>
          <a:noFill/>
          <a:ln w="15875">
            <a:solidFill>
              <a:srgbClr val="2E8B57"/>
            </a:solidFill>
            <a:prstDash val="solid"/>
          </a:ln>
        </p:spPr>
      </p:sp>
      <p:sp>
        <p:nvSpPr>
          <p:cNvPr id="276" name="Shape 274"/>
          <p:cNvSpPr/>
          <p:nvPr/>
        </p:nvSpPr>
        <p:spPr>
          <a:xfrm flipV="1">
            <a:off x="2112264" y="2076994"/>
            <a:ext cx="91440" cy="91440"/>
          </a:xfrm>
          <a:prstGeom prst="line">
            <a:avLst/>
          </a:prstGeom>
          <a:noFill/>
          <a:ln w="15875">
            <a:solidFill>
              <a:srgbClr val="2E8B57"/>
            </a:solidFill>
            <a:prstDash val="solid"/>
          </a:ln>
        </p:spPr>
      </p:sp>
      <p:sp>
        <p:nvSpPr>
          <p:cNvPr id="277" name="Shape 275"/>
          <p:cNvSpPr/>
          <p:nvPr/>
        </p:nvSpPr>
        <p:spPr>
          <a:xfrm>
            <a:off x="2990088" y="2265099"/>
            <a:ext cx="91440" cy="91440"/>
          </a:xfrm>
          <a:prstGeom prst="line">
            <a:avLst/>
          </a:prstGeom>
          <a:noFill/>
          <a:ln w="15875">
            <a:solidFill>
              <a:srgbClr val="2E8B57"/>
            </a:solidFill>
            <a:prstDash val="solid"/>
          </a:ln>
        </p:spPr>
      </p:sp>
      <p:sp>
        <p:nvSpPr>
          <p:cNvPr id="278" name="Shape 276"/>
          <p:cNvSpPr/>
          <p:nvPr/>
        </p:nvSpPr>
        <p:spPr>
          <a:xfrm flipV="1">
            <a:off x="2990088" y="2265099"/>
            <a:ext cx="91440" cy="91440"/>
          </a:xfrm>
          <a:prstGeom prst="line">
            <a:avLst/>
          </a:prstGeom>
          <a:noFill/>
          <a:ln w="15875">
            <a:solidFill>
              <a:srgbClr val="2E8B57"/>
            </a:solidFill>
            <a:prstDash val="solid"/>
          </a:ln>
        </p:spPr>
      </p:sp>
      <p:sp>
        <p:nvSpPr>
          <p:cNvPr id="279" name="Shape 277"/>
          <p:cNvSpPr/>
          <p:nvPr/>
        </p:nvSpPr>
        <p:spPr>
          <a:xfrm>
            <a:off x="3867912" y="2453205"/>
            <a:ext cx="91440" cy="91440"/>
          </a:xfrm>
          <a:prstGeom prst="line">
            <a:avLst/>
          </a:prstGeom>
          <a:noFill/>
          <a:ln w="15875">
            <a:solidFill>
              <a:srgbClr val="2E8B57"/>
            </a:solidFill>
            <a:prstDash val="solid"/>
          </a:ln>
        </p:spPr>
      </p:sp>
      <p:sp>
        <p:nvSpPr>
          <p:cNvPr id="280" name="Shape 278"/>
          <p:cNvSpPr/>
          <p:nvPr/>
        </p:nvSpPr>
        <p:spPr>
          <a:xfrm flipV="1">
            <a:off x="3867912" y="2453205"/>
            <a:ext cx="91440" cy="91440"/>
          </a:xfrm>
          <a:prstGeom prst="line">
            <a:avLst/>
          </a:prstGeom>
          <a:noFill/>
          <a:ln w="15875">
            <a:solidFill>
              <a:srgbClr val="2E8B57"/>
            </a:solidFill>
            <a:prstDash val="solid"/>
          </a:ln>
        </p:spPr>
      </p:sp>
      <p:sp>
        <p:nvSpPr>
          <p:cNvPr id="281" name="Shape 279"/>
          <p:cNvSpPr/>
          <p:nvPr/>
        </p:nvSpPr>
        <p:spPr>
          <a:xfrm>
            <a:off x="4745736" y="2594283"/>
            <a:ext cx="91440" cy="91440"/>
          </a:xfrm>
          <a:prstGeom prst="line">
            <a:avLst/>
          </a:prstGeom>
          <a:noFill/>
          <a:ln w="15875">
            <a:solidFill>
              <a:srgbClr val="2E8B57"/>
            </a:solidFill>
            <a:prstDash val="solid"/>
          </a:ln>
        </p:spPr>
      </p:sp>
      <p:sp>
        <p:nvSpPr>
          <p:cNvPr id="282" name="Shape 280"/>
          <p:cNvSpPr/>
          <p:nvPr/>
        </p:nvSpPr>
        <p:spPr>
          <a:xfrm flipV="1">
            <a:off x="4745736" y="2594283"/>
            <a:ext cx="91440" cy="91440"/>
          </a:xfrm>
          <a:prstGeom prst="line">
            <a:avLst/>
          </a:prstGeom>
          <a:noFill/>
          <a:ln w="15875">
            <a:solidFill>
              <a:srgbClr val="2E8B57"/>
            </a:solidFill>
            <a:prstDash val="solid"/>
          </a:ln>
        </p:spPr>
      </p:sp>
      <p:sp>
        <p:nvSpPr>
          <p:cNvPr id="283" name="Shape 281"/>
          <p:cNvSpPr/>
          <p:nvPr/>
        </p:nvSpPr>
        <p:spPr>
          <a:xfrm>
            <a:off x="5623560" y="2782389"/>
            <a:ext cx="91440" cy="91440"/>
          </a:xfrm>
          <a:prstGeom prst="line">
            <a:avLst/>
          </a:prstGeom>
          <a:noFill/>
          <a:ln w="15875">
            <a:solidFill>
              <a:srgbClr val="2E8B57"/>
            </a:solidFill>
            <a:prstDash val="solid"/>
          </a:ln>
        </p:spPr>
      </p:sp>
      <p:sp>
        <p:nvSpPr>
          <p:cNvPr id="284" name="Shape 282"/>
          <p:cNvSpPr/>
          <p:nvPr/>
        </p:nvSpPr>
        <p:spPr>
          <a:xfrm flipV="1">
            <a:off x="5623560" y="2782389"/>
            <a:ext cx="91440" cy="91440"/>
          </a:xfrm>
          <a:prstGeom prst="line">
            <a:avLst/>
          </a:prstGeom>
          <a:noFill/>
          <a:ln w="15875">
            <a:solidFill>
              <a:srgbClr val="2E8B57"/>
            </a:solidFill>
            <a:prstDash val="solid"/>
          </a:ln>
        </p:spPr>
      </p:sp>
      <p:sp>
        <p:nvSpPr>
          <p:cNvPr id="285" name="Shape 283"/>
          <p:cNvSpPr/>
          <p:nvPr/>
        </p:nvSpPr>
        <p:spPr>
          <a:xfrm>
            <a:off x="3979469" y="2270325"/>
            <a:ext cx="285293" cy="91"/>
          </a:xfrm>
          <a:prstGeom prst="line">
            <a:avLst/>
          </a:prstGeom>
          <a:noFill/>
          <a:ln w="31750">
            <a:solidFill>
              <a:srgbClr val="2E8B57"/>
            </a:solidFill>
            <a:prstDash val="solid"/>
          </a:ln>
        </p:spPr>
      </p:sp>
      <p:sp>
        <p:nvSpPr>
          <p:cNvPr id="286" name="Text 284"/>
          <p:cNvSpPr/>
          <p:nvPr/>
        </p:nvSpPr>
        <p:spPr>
          <a:xfrm>
            <a:off x="4308653" y="2169741"/>
            <a:ext cx="1097280" cy="201168"/>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cotton wool</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987552"/>
                <a:gridCol w="914400"/>
                <a:gridCol w="1188720"/>
                <a:gridCol w="1234440"/>
                <a:gridCol w="1234440"/>
              </a:tblGrid>
              <a:tr h="2743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 / min</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newspaper</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bubble wrap</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cotton wool</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7432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7432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7432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62</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74320">
                <a:tc>
                  <a:txBody>
                    <a:bodyPr/>
                    <a:lstStyle/>
                    <a:p>
                      <a:pPr algn="ctr" indent="0" marL="0">
                        <a:buNone/>
                      </a:pPr>
                      <a:r>
                        <a:rPr lang="en-US" sz="1100" b="1" dirty="0">
                          <a:solidFill>
                            <a:srgbClr val="000000"/>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drop / °C</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4E0"/>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4E0"/>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4E0"/>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4E0"/>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4E0"/>
                    </a:solidFill>
                  </a:tcPr>
                </a:tc>
              </a:tr>
            </a:tbl>
          </a:graphicData>
        </a:graphic>
      </p:graphicFrame>
      <p:sp>
        <p:nvSpPr>
          <p:cNvPr id="288" name="Shape 285"/>
          <p:cNvSpPr/>
          <p:nvPr/>
        </p:nvSpPr>
        <p:spPr>
          <a:xfrm>
            <a:off x="6217920" y="3794760"/>
            <a:ext cx="5559552" cy="1920240"/>
          </a:xfrm>
          <a:prstGeom prst="roundRect">
            <a:avLst>
              <a:gd name="adj" fmla="val 2857"/>
            </a:avLst>
          </a:prstGeom>
          <a:solidFill>
            <a:srgbClr val="F5F8FE"/>
          </a:solidFill>
          <a:ln w="9525">
            <a:solidFill>
              <a:srgbClr val="D5DCEB"/>
            </a:solidFill>
            <a:prstDash val="solid"/>
          </a:ln>
        </p:spPr>
      </p:sp>
      <p:sp>
        <p:nvSpPr>
          <p:cNvPr id="289" name="Text 286"/>
          <p:cNvSpPr/>
          <p:nvPr/>
        </p:nvSpPr>
        <p:spPr>
          <a:xfrm>
            <a:off x="6382512" y="3886200"/>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What the results show</a:t>
            </a:r>
            <a:endParaRPr lang="en-US" sz="1300" dirty="0"/>
          </a:p>
        </p:txBody>
      </p:sp>
      <p:sp>
        <p:nvSpPr>
          <p:cNvPr id="290" name="Text 287"/>
          <p:cNvSpPr/>
          <p:nvPr/>
        </p:nvSpPr>
        <p:spPr>
          <a:xfrm>
            <a:off x="6382512" y="4215384"/>
            <a:ext cx="5230368" cy="142646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Cotton wool</a:t>
            </a:r>
            <a:r>
              <a:rPr lang="en-US" sz="1100" dirty="0">
                <a:solidFill>
                  <a:srgbClr val="262B3A"/>
                </a:solidFill>
                <a:latin typeface="Calibri" pitchFamily="34" charset="0"/>
                <a:ea typeface="Calibri" pitchFamily="34" charset="-122"/>
                <a:cs typeface="Calibri" pitchFamily="34" charset="-120"/>
              </a:rPr>
              <a:t> gave the smallest drop (20 °C): the </a:t>
            </a:r>
            <a:r>
              <a:rPr lang="en-US" sz="1100" b="1" dirty="0">
                <a:solidFill>
                  <a:srgbClr val="262B3A"/>
                </a:solidFill>
                <a:latin typeface="Calibri" pitchFamily="34" charset="0"/>
                <a:ea typeface="Calibri" pitchFamily="34" charset="-122"/>
                <a:cs typeface="Calibri" pitchFamily="34" charset="-120"/>
              </a:rPr>
              <a:t>best insulator</a:t>
            </a:r>
            <a:r>
              <a:rPr lang="en-US" sz="1100" dirty="0">
                <a:solidFill>
                  <a:srgbClr val="262B3A"/>
                </a:solidFill>
                <a:latin typeface="Calibri" pitchFamily="34" charset="0"/>
                <a:ea typeface="Calibri" pitchFamily="34" charset="-122"/>
                <a:cs typeface="Calibri" pitchFamily="34" charset="-120"/>
              </a:rPr>
              <a:t> tested.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Every curve gets </a:t>
            </a:r>
            <a:r>
              <a:rPr lang="en-US" sz="1100" b="1" dirty="0">
                <a:solidFill>
                  <a:srgbClr val="262B3A"/>
                </a:solidFill>
                <a:latin typeface="Calibri" pitchFamily="34" charset="0"/>
                <a:ea typeface="Calibri" pitchFamily="34" charset="-122"/>
                <a:cs typeface="Calibri" pitchFamily="34" charset="-120"/>
              </a:rPr>
              <a:t>less steep</a:t>
            </a:r>
            <a:r>
              <a:rPr lang="en-US" sz="1100" dirty="0">
                <a:solidFill>
                  <a:srgbClr val="262B3A"/>
                </a:solidFill>
                <a:latin typeface="Calibri" pitchFamily="34" charset="0"/>
                <a:ea typeface="Calibri" pitchFamily="34" charset="-122"/>
                <a:cs typeface="Calibri" pitchFamily="34" charset="-120"/>
              </a:rPr>
              <a:t> with time: cooling slows as the water gets closer to room temperature.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Unwrapped water cooled about </a:t>
            </a:r>
            <a:r>
              <a:rPr lang="en-US" sz="1100" b="1" dirty="0">
                <a:solidFill>
                  <a:srgbClr val="262B3A"/>
                </a:solidFill>
                <a:latin typeface="Calibri" pitchFamily="34" charset="0"/>
                <a:ea typeface="Calibri" pitchFamily="34" charset="-122"/>
                <a:cs typeface="Calibri" pitchFamily="34" charset="-120"/>
              </a:rPr>
              <a:t>twice as fast</a:t>
            </a:r>
            <a:r>
              <a:rPr lang="en-US" sz="1100" dirty="0">
                <a:solidFill>
                  <a:srgbClr val="262B3A"/>
                </a:solidFill>
                <a:latin typeface="Calibri" pitchFamily="34" charset="0"/>
                <a:ea typeface="Calibri" pitchFamily="34" charset="-122"/>
                <a:cs typeface="Calibri" pitchFamily="34" charset="-120"/>
              </a:rPr>
              <a:t> as water in cotton wool.</a:t>
            </a:r>
            <a:endParaRPr lang="en-US" sz="1100" dirty="0"/>
          </a:p>
        </p:txBody>
      </p:sp>
      <p:sp>
        <p:nvSpPr>
          <p:cNvPr id="291" name="Shape 288"/>
          <p:cNvSpPr/>
          <p:nvPr/>
        </p:nvSpPr>
        <p:spPr>
          <a:xfrm>
            <a:off x="411480" y="5833872"/>
            <a:ext cx="11368735" cy="530352"/>
          </a:xfrm>
          <a:prstGeom prst="rect">
            <a:avLst/>
          </a:prstGeom>
          <a:solidFill>
            <a:srgbClr val="FFF4E0"/>
          </a:solidFill>
          <a:ln w="6350">
            <a:solidFill>
              <a:srgbClr val="F1D9A8"/>
            </a:solidFill>
            <a:prstDash val="solid"/>
          </a:ln>
        </p:spPr>
      </p:sp>
      <p:sp>
        <p:nvSpPr>
          <p:cNvPr id="292" name="Shape 289"/>
          <p:cNvSpPr/>
          <p:nvPr/>
        </p:nvSpPr>
        <p:spPr>
          <a:xfrm>
            <a:off x="411480" y="5833872"/>
            <a:ext cx="82296" cy="530352"/>
          </a:xfrm>
          <a:prstGeom prst="rect">
            <a:avLst/>
          </a:prstGeom>
          <a:solidFill>
            <a:srgbClr val="E39A2F"/>
          </a:solidFill>
          <a:ln w="12700">
            <a:solidFill>
              <a:srgbClr val="E39A2F"/>
            </a:solidFill>
            <a:prstDash val="solid"/>
          </a:ln>
        </p:spPr>
      </p:sp>
      <p:sp>
        <p:nvSpPr>
          <p:cNvPr id="293" name="Text 29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table to calculate the mean rate of cooling for bubble wrap over 20 minutes. Why do the curves level off?</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Practical: analysis, errors and improvements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3.9, 3.10 • evaluating the method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25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temperature drop in 20 minutes for each material, to scale</a:t>
            </a:r>
            <a:endParaRPr lang="en-US" sz="1000" dirty="0"/>
          </a:p>
        </p:txBody>
      </p:sp>
      <p:sp>
        <p:nvSpPr>
          <p:cNvPr id="10" name="Text 8"/>
          <p:cNvSpPr/>
          <p:nvPr/>
        </p:nvSpPr>
        <p:spPr>
          <a:xfrm>
            <a:off x="640080" y="1325880"/>
            <a:ext cx="5120640" cy="256032"/>
          </a:xfrm>
          <a:prstGeom prst="rect">
            <a:avLst/>
          </a:prstGeom>
          <a:noFill/>
          <a:ln/>
        </p:spPr>
        <p:txBody>
          <a:bodyPr wrap="square" lIns="0" tIns="0" rIns="0" bIns="0" rtlCol="0" anchor="ctr"/>
          <a:lstStyle/>
          <a:p>
            <a:pPr algn="l" indent="0" marL="0">
              <a:buNone/>
            </a:pPr>
            <a:r>
              <a:rPr lang="en-US" sz="1100" b="1" dirty="0">
                <a:solidFill>
                  <a:srgbClr val="1A2340"/>
                </a:solidFill>
                <a:latin typeface="Calibri" pitchFamily="34" charset="0"/>
                <a:ea typeface="Calibri" pitchFamily="34" charset="-122"/>
                <a:cs typeface="Calibri" pitchFamily="34" charset="-120"/>
              </a:rPr>
              <a:t>Temperature drop in 20 min / °C (smaller = better insulator)</a:t>
            </a:r>
            <a:endParaRPr lang="en-US" sz="1100" dirty="0"/>
          </a:p>
        </p:txBody>
      </p:sp>
      <p:sp>
        <p:nvSpPr>
          <p:cNvPr id="11" name="Shape 9"/>
          <p:cNvSpPr/>
          <p:nvPr/>
        </p:nvSpPr>
        <p:spPr>
          <a:xfrm>
            <a:off x="914400" y="4663440"/>
            <a:ext cx="4663440" cy="91"/>
          </a:xfrm>
          <a:prstGeom prst="line">
            <a:avLst/>
          </a:prstGeom>
          <a:noFill/>
          <a:ln w="19050">
            <a:solidFill>
              <a:srgbClr val="1A2340"/>
            </a:solidFill>
            <a:prstDash val="solid"/>
          </a:ln>
        </p:spPr>
      </p:sp>
      <p:sp>
        <p:nvSpPr>
          <p:cNvPr id="12" name="Shape 10"/>
          <p:cNvSpPr/>
          <p:nvPr/>
        </p:nvSpPr>
        <p:spPr>
          <a:xfrm flipV="1">
            <a:off x="914400" y="1577340"/>
            <a:ext cx="91" cy="3086100"/>
          </a:xfrm>
          <a:prstGeom prst="line">
            <a:avLst/>
          </a:prstGeom>
          <a:noFill/>
          <a:ln w="19050">
            <a:solidFill>
              <a:srgbClr val="1A2340"/>
            </a:solidFill>
            <a:prstDash val="solid"/>
          </a:ln>
        </p:spPr>
      </p:sp>
      <p:sp>
        <p:nvSpPr>
          <p:cNvPr id="13" name="Shape 11"/>
          <p:cNvSpPr/>
          <p:nvPr/>
        </p:nvSpPr>
        <p:spPr>
          <a:xfrm>
            <a:off x="859536" y="4663440"/>
            <a:ext cx="54864" cy="91"/>
          </a:xfrm>
          <a:prstGeom prst="line">
            <a:avLst/>
          </a:prstGeom>
          <a:noFill/>
          <a:ln w="12700">
            <a:solidFill>
              <a:srgbClr val="1A2340"/>
            </a:solidFill>
            <a:prstDash val="solid"/>
          </a:ln>
        </p:spPr>
      </p:sp>
      <p:sp>
        <p:nvSpPr>
          <p:cNvPr id="14" name="Text 12"/>
          <p:cNvSpPr/>
          <p:nvPr/>
        </p:nvSpPr>
        <p:spPr>
          <a:xfrm>
            <a:off x="457200" y="4572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5" name="Shape 13"/>
          <p:cNvSpPr/>
          <p:nvPr/>
        </p:nvSpPr>
        <p:spPr>
          <a:xfrm>
            <a:off x="914400" y="4663440"/>
            <a:ext cx="4663440" cy="91"/>
          </a:xfrm>
          <a:prstGeom prst="line">
            <a:avLst/>
          </a:prstGeom>
          <a:noFill/>
          <a:ln w="6350">
            <a:solidFill>
              <a:srgbClr val="E6EBF4"/>
            </a:solidFill>
            <a:prstDash val="solid"/>
          </a:ln>
        </p:spPr>
      </p:sp>
      <p:sp>
        <p:nvSpPr>
          <p:cNvPr id="16" name="Shape 14"/>
          <p:cNvSpPr/>
          <p:nvPr/>
        </p:nvSpPr>
        <p:spPr>
          <a:xfrm>
            <a:off x="859536" y="3977640"/>
            <a:ext cx="54864" cy="91"/>
          </a:xfrm>
          <a:prstGeom prst="line">
            <a:avLst/>
          </a:prstGeom>
          <a:noFill/>
          <a:ln w="12700">
            <a:solidFill>
              <a:srgbClr val="1A2340"/>
            </a:solidFill>
            <a:prstDash val="solid"/>
          </a:ln>
        </p:spPr>
      </p:sp>
      <p:sp>
        <p:nvSpPr>
          <p:cNvPr id="17" name="Text 15"/>
          <p:cNvSpPr/>
          <p:nvPr/>
        </p:nvSpPr>
        <p:spPr>
          <a:xfrm>
            <a:off x="457200" y="3886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8" name="Shape 16"/>
          <p:cNvSpPr/>
          <p:nvPr/>
        </p:nvSpPr>
        <p:spPr>
          <a:xfrm>
            <a:off x="914400" y="3977640"/>
            <a:ext cx="4663440" cy="91"/>
          </a:xfrm>
          <a:prstGeom prst="line">
            <a:avLst/>
          </a:prstGeom>
          <a:noFill/>
          <a:ln w="6350">
            <a:solidFill>
              <a:srgbClr val="E6EBF4"/>
            </a:solidFill>
            <a:prstDash val="solid"/>
          </a:ln>
        </p:spPr>
      </p:sp>
      <p:sp>
        <p:nvSpPr>
          <p:cNvPr id="19" name="Shape 17"/>
          <p:cNvSpPr/>
          <p:nvPr/>
        </p:nvSpPr>
        <p:spPr>
          <a:xfrm>
            <a:off x="859536" y="3291840"/>
            <a:ext cx="54864" cy="91"/>
          </a:xfrm>
          <a:prstGeom prst="line">
            <a:avLst/>
          </a:prstGeom>
          <a:noFill/>
          <a:ln w="12700">
            <a:solidFill>
              <a:srgbClr val="1A2340"/>
            </a:solidFill>
            <a:prstDash val="solid"/>
          </a:ln>
        </p:spPr>
      </p:sp>
      <p:sp>
        <p:nvSpPr>
          <p:cNvPr id="20" name="Text 18"/>
          <p:cNvSpPr/>
          <p:nvPr/>
        </p:nvSpPr>
        <p:spPr>
          <a:xfrm>
            <a:off x="457200" y="3200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21" name="Shape 19"/>
          <p:cNvSpPr/>
          <p:nvPr/>
        </p:nvSpPr>
        <p:spPr>
          <a:xfrm>
            <a:off x="914400" y="3291840"/>
            <a:ext cx="4663440" cy="91"/>
          </a:xfrm>
          <a:prstGeom prst="line">
            <a:avLst/>
          </a:prstGeom>
          <a:noFill/>
          <a:ln w="6350">
            <a:solidFill>
              <a:srgbClr val="E6EBF4"/>
            </a:solidFill>
            <a:prstDash val="solid"/>
          </a:ln>
        </p:spPr>
      </p:sp>
      <p:sp>
        <p:nvSpPr>
          <p:cNvPr id="22" name="Shape 20"/>
          <p:cNvSpPr/>
          <p:nvPr/>
        </p:nvSpPr>
        <p:spPr>
          <a:xfrm>
            <a:off x="859536" y="2606040"/>
            <a:ext cx="54864" cy="91"/>
          </a:xfrm>
          <a:prstGeom prst="line">
            <a:avLst/>
          </a:prstGeom>
          <a:noFill/>
          <a:ln w="12700">
            <a:solidFill>
              <a:srgbClr val="1A2340"/>
            </a:solidFill>
            <a:prstDash val="solid"/>
          </a:ln>
        </p:spPr>
      </p:sp>
      <p:sp>
        <p:nvSpPr>
          <p:cNvPr id="23" name="Text 21"/>
          <p:cNvSpPr/>
          <p:nvPr/>
        </p:nvSpPr>
        <p:spPr>
          <a:xfrm>
            <a:off x="457200" y="2514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24" name="Shape 22"/>
          <p:cNvSpPr/>
          <p:nvPr/>
        </p:nvSpPr>
        <p:spPr>
          <a:xfrm>
            <a:off x="914400" y="2606040"/>
            <a:ext cx="4663440" cy="91"/>
          </a:xfrm>
          <a:prstGeom prst="line">
            <a:avLst/>
          </a:prstGeom>
          <a:noFill/>
          <a:ln w="6350">
            <a:solidFill>
              <a:srgbClr val="E6EBF4"/>
            </a:solidFill>
            <a:prstDash val="solid"/>
          </a:ln>
        </p:spPr>
      </p:sp>
      <p:sp>
        <p:nvSpPr>
          <p:cNvPr id="25" name="Shape 23"/>
          <p:cNvSpPr/>
          <p:nvPr/>
        </p:nvSpPr>
        <p:spPr>
          <a:xfrm>
            <a:off x="859536" y="1920240"/>
            <a:ext cx="54864" cy="91"/>
          </a:xfrm>
          <a:prstGeom prst="line">
            <a:avLst/>
          </a:prstGeom>
          <a:noFill/>
          <a:ln w="12700">
            <a:solidFill>
              <a:srgbClr val="1A2340"/>
            </a:solidFill>
            <a:prstDash val="solid"/>
          </a:ln>
        </p:spPr>
      </p:sp>
      <p:sp>
        <p:nvSpPr>
          <p:cNvPr id="26" name="Text 24"/>
          <p:cNvSpPr/>
          <p:nvPr/>
        </p:nvSpPr>
        <p:spPr>
          <a:xfrm>
            <a:off x="457200" y="1828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27" name="Shape 25"/>
          <p:cNvSpPr/>
          <p:nvPr/>
        </p:nvSpPr>
        <p:spPr>
          <a:xfrm>
            <a:off x="914400" y="1920240"/>
            <a:ext cx="4663440" cy="91"/>
          </a:xfrm>
          <a:prstGeom prst="line">
            <a:avLst/>
          </a:prstGeom>
          <a:noFill/>
          <a:ln w="6350">
            <a:solidFill>
              <a:srgbClr val="E6EBF4"/>
            </a:solidFill>
            <a:prstDash val="solid"/>
          </a:ln>
        </p:spPr>
      </p:sp>
      <p:sp>
        <p:nvSpPr>
          <p:cNvPr id="28" name="Shape 26"/>
          <p:cNvSpPr/>
          <p:nvPr/>
        </p:nvSpPr>
        <p:spPr>
          <a:xfrm>
            <a:off x="1188720" y="1783080"/>
            <a:ext cx="731520" cy="2880360"/>
          </a:xfrm>
          <a:prstGeom prst="rect">
            <a:avLst/>
          </a:prstGeom>
          <a:solidFill>
            <a:srgbClr val="C8414C"/>
          </a:solidFill>
          <a:ln/>
        </p:spPr>
      </p:sp>
      <p:sp>
        <p:nvSpPr>
          <p:cNvPr id="29" name="Text 27"/>
          <p:cNvSpPr/>
          <p:nvPr/>
        </p:nvSpPr>
        <p:spPr>
          <a:xfrm>
            <a:off x="1097280" y="1545336"/>
            <a:ext cx="914400" cy="219456"/>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42</a:t>
            </a:r>
            <a:endParaRPr lang="en-US" sz="1050" dirty="0"/>
          </a:p>
        </p:txBody>
      </p:sp>
      <p:sp>
        <p:nvSpPr>
          <p:cNvPr id="30" name="Text 28"/>
          <p:cNvSpPr/>
          <p:nvPr/>
        </p:nvSpPr>
        <p:spPr>
          <a:xfrm>
            <a:off x="1005840" y="4709160"/>
            <a:ext cx="1097280" cy="21945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none</a:t>
            </a:r>
            <a:endParaRPr lang="en-US" sz="1000" dirty="0"/>
          </a:p>
        </p:txBody>
      </p:sp>
      <p:sp>
        <p:nvSpPr>
          <p:cNvPr id="31" name="Shape 29"/>
          <p:cNvSpPr/>
          <p:nvPr/>
        </p:nvSpPr>
        <p:spPr>
          <a:xfrm>
            <a:off x="2286000" y="2400300"/>
            <a:ext cx="731520" cy="2263140"/>
          </a:xfrm>
          <a:prstGeom prst="rect">
            <a:avLst/>
          </a:prstGeom>
          <a:solidFill>
            <a:srgbClr val="B8730A"/>
          </a:solidFill>
          <a:ln/>
        </p:spPr>
      </p:sp>
      <p:sp>
        <p:nvSpPr>
          <p:cNvPr id="32" name="Text 30"/>
          <p:cNvSpPr/>
          <p:nvPr/>
        </p:nvSpPr>
        <p:spPr>
          <a:xfrm>
            <a:off x="2194560" y="2162556"/>
            <a:ext cx="914400" cy="219456"/>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33</a:t>
            </a:r>
            <a:endParaRPr lang="en-US" sz="1050" dirty="0"/>
          </a:p>
        </p:txBody>
      </p:sp>
      <p:sp>
        <p:nvSpPr>
          <p:cNvPr id="33" name="Text 31"/>
          <p:cNvSpPr/>
          <p:nvPr/>
        </p:nvSpPr>
        <p:spPr>
          <a:xfrm>
            <a:off x="2103120" y="4709160"/>
            <a:ext cx="1097280" cy="21945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newspaper</a:t>
            </a:r>
            <a:endParaRPr lang="en-US" sz="1000" dirty="0"/>
          </a:p>
        </p:txBody>
      </p:sp>
      <p:sp>
        <p:nvSpPr>
          <p:cNvPr id="34" name="Shape 32"/>
          <p:cNvSpPr/>
          <p:nvPr/>
        </p:nvSpPr>
        <p:spPr>
          <a:xfrm>
            <a:off x="3383280" y="2811780"/>
            <a:ext cx="731520" cy="1851660"/>
          </a:xfrm>
          <a:prstGeom prst="rect">
            <a:avLst/>
          </a:prstGeom>
          <a:solidFill>
            <a:srgbClr val="2E5BD8"/>
          </a:solidFill>
          <a:ln/>
        </p:spPr>
      </p:sp>
      <p:sp>
        <p:nvSpPr>
          <p:cNvPr id="35" name="Text 33"/>
          <p:cNvSpPr/>
          <p:nvPr/>
        </p:nvSpPr>
        <p:spPr>
          <a:xfrm>
            <a:off x="3291840" y="2574036"/>
            <a:ext cx="914400" cy="219456"/>
          </a:xfrm>
          <a:prstGeom prst="rect">
            <a:avLst/>
          </a:prstGeom>
          <a:noFill/>
          <a:ln/>
        </p:spPr>
        <p:txBody>
          <a:bodyPr wrap="square" lIns="0" tIns="0" rIns="0" bIns="0" rtlCol="0" anchor="ctr"/>
          <a:lstStyle/>
          <a:p>
            <a:pPr algn="ctr" indent="0" marL="0">
              <a:buNone/>
            </a:pPr>
            <a:r>
              <a:rPr lang="en-US" sz="1050" b="1" dirty="0">
                <a:solidFill>
                  <a:srgbClr val="2E5BD8"/>
                </a:solidFill>
                <a:latin typeface="Calibri" pitchFamily="34" charset="0"/>
                <a:ea typeface="Calibri" pitchFamily="34" charset="-122"/>
                <a:cs typeface="Calibri" pitchFamily="34" charset="-120"/>
              </a:rPr>
              <a:t>27</a:t>
            </a:r>
            <a:endParaRPr lang="en-US" sz="1050" dirty="0"/>
          </a:p>
        </p:txBody>
      </p:sp>
      <p:sp>
        <p:nvSpPr>
          <p:cNvPr id="36" name="Text 34"/>
          <p:cNvSpPr/>
          <p:nvPr/>
        </p:nvSpPr>
        <p:spPr>
          <a:xfrm>
            <a:off x="3200400" y="4709160"/>
            <a:ext cx="1097280" cy="21945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bubble wrap</a:t>
            </a:r>
            <a:endParaRPr lang="en-US" sz="1000" dirty="0"/>
          </a:p>
        </p:txBody>
      </p:sp>
      <p:sp>
        <p:nvSpPr>
          <p:cNvPr id="37" name="Shape 35"/>
          <p:cNvSpPr/>
          <p:nvPr/>
        </p:nvSpPr>
        <p:spPr>
          <a:xfrm>
            <a:off x="4480560" y="3291840"/>
            <a:ext cx="731520" cy="1371600"/>
          </a:xfrm>
          <a:prstGeom prst="rect">
            <a:avLst/>
          </a:prstGeom>
          <a:solidFill>
            <a:srgbClr val="2E8B57"/>
          </a:solidFill>
          <a:ln/>
        </p:spPr>
      </p:sp>
      <p:sp>
        <p:nvSpPr>
          <p:cNvPr id="38" name="Text 36"/>
          <p:cNvSpPr/>
          <p:nvPr/>
        </p:nvSpPr>
        <p:spPr>
          <a:xfrm>
            <a:off x="4389120" y="3054096"/>
            <a:ext cx="914400" cy="219456"/>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20</a:t>
            </a:r>
            <a:endParaRPr lang="en-US" sz="1050" dirty="0"/>
          </a:p>
        </p:txBody>
      </p:sp>
      <p:sp>
        <p:nvSpPr>
          <p:cNvPr id="39" name="Text 37"/>
          <p:cNvSpPr/>
          <p:nvPr/>
        </p:nvSpPr>
        <p:spPr>
          <a:xfrm>
            <a:off x="4297680" y="4709160"/>
            <a:ext cx="1097280" cy="21945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cotton wool</a:t>
            </a:r>
            <a:endParaRPr lang="en-US" sz="1000" dirty="0"/>
          </a:p>
        </p:txBody>
      </p:sp>
      <p:sp>
        <p:nvSpPr>
          <p:cNvPr id="40" name="Shape 3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1" name="Text 3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Sources of error</a:t>
            </a:r>
            <a:endParaRPr lang="en-US" sz="1300" dirty="0"/>
          </a:p>
        </p:txBody>
      </p:sp>
      <p:sp>
        <p:nvSpPr>
          <p:cNvPr id="42" name="Text 4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Different thicknesses</a:t>
            </a:r>
            <a:r>
              <a:rPr lang="en-US" sz="1150" dirty="0">
                <a:solidFill>
                  <a:srgbClr val="262B3A"/>
                </a:solidFill>
                <a:latin typeface="Calibri" pitchFamily="34" charset="0"/>
                <a:ea typeface="Calibri" pitchFamily="34" charset="-122"/>
                <a:cs typeface="Calibri" pitchFamily="34" charset="-120"/>
              </a:rPr>
              <a:t> of material → unfair test (a systematic difference).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Reading the thermometer</a:t>
            </a:r>
            <a:r>
              <a:rPr lang="en-US" sz="1150" dirty="0">
                <a:solidFill>
                  <a:srgbClr val="262B3A"/>
                </a:solidFill>
                <a:latin typeface="Calibri" pitchFamily="34" charset="0"/>
                <a:ea typeface="Calibri" pitchFamily="34" charset="-122"/>
                <a:cs typeface="Calibri" pitchFamily="34" charset="-120"/>
              </a:rPr>
              <a:t> at slightly wrong times or with parallax error → random error.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Water </a:t>
            </a:r>
            <a:r>
              <a:rPr lang="en-US" sz="1150" b="1" dirty="0">
                <a:solidFill>
                  <a:srgbClr val="262B3A"/>
                </a:solidFill>
                <a:latin typeface="Calibri" pitchFamily="34" charset="0"/>
                <a:ea typeface="Calibri" pitchFamily="34" charset="-122"/>
                <a:cs typeface="Calibri" pitchFamily="34" charset="-120"/>
              </a:rPr>
              <a:t>not stirred</a:t>
            </a:r>
            <a:r>
              <a:rPr lang="en-US" sz="1150" dirty="0">
                <a:solidFill>
                  <a:srgbClr val="262B3A"/>
                </a:solidFill>
                <a:latin typeface="Calibri" pitchFamily="34" charset="0"/>
                <a:ea typeface="Calibri" pitchFamily="34" charset="-122"/>
                <a:cs typeface="Calibri" pitchFamily="34" charset="-120"/>
              </a:rPr>
              <a:t> → temperature not the same throughout.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Starting temperatures</a:t>
            </a:r>
            <a:r>
              <a:rPr lang="en-US" sz="1150" dirty="0">
                <a:solidFill>
                  <a:srgbClr val="262B3A"/>
                </a:solidFill>
                <a:latin typeface="Calibri" pitchFamily="34" charset="0"/>
                <a:ea typeface="Calibri" pitchFamily="34" charset="-122"/>
                <a:cs typeface="Calibri" pitchFamily="34" charset="-120"/>
              </a:rPr>
              <a:t> differ slightly → compare temperature drops, not final temperatures.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Draughts or a heater nearby change the rate of cooling of some beakers.</a:t>
            </a:r>
            <a:endParaRPr lang="en-US" sz="1150" dirty="0"/>
          </a:p>
        </p:txBody>
      </p:sp>
      <p:sp>
        <p:nvSpPr>
          <p:cNvPr id="43" name="Shape 4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4" name="Text 4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Improvements</a:t>
            </a:r>
            <a:endParaRPr lang="en-US" sz="1300" dirty="0"/>
          </a:p>
        </p:txBody>
      </p:sp>
      <p:sp>
        <p:nvSpPr>
          <p:cNvPr id="45" name="Text 43"/>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Sensors   </a:t>
            </a:r>
            <a:r>
              <a:rPr lang="en-US" sz="1050" dirty="0">
                <a:solidFill>
                  <a:srgbClr val="262B3A"/>
                </a:solidFill>
                <a:latin typeface="Calibri" pitchFamily="34" charset="0"/>
                <a:ea typeface="Calibri" pitchFamily="34" charset="-122"/>
                <a:cs typeface="Calibri" pitchFamily="34" charset="-120"/>
              </a:rPr>
              <a:t>use temperature probes and a data logger to record automatically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Repeats   </a:t>
            </a:r>
            <a:r>
              <a:rPr lang="en-US" sz="1050" dirty="0">
                <a:solidFill>
                  <a:srgbClr val="262B3A"/>
                </a:solidFill>
                <a:latin typeface="Calibri" pitchFamily="34" charset="0"/>
                <a:ea typeface="Calibri" pitchFamily="34" charset="-122"/>
                <a:cs typeface="Calibri" pitchFamily="34" charset="-120"/>
              </a:rPr>
              <a:t>repeat each material 3 times and calculate a mean drop</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Fair test   </a:t>
            </a:r>
            <a:r>
              <a:rPr lang="en-US" sz="1050" dirty="0">
                <a:solidFill>
                  <a:srgbClr val="262B3A"/>
                </a:solidFill>
                <a:latin typeface="Calibri" pitchFamily="34" charset="0"/>
                <a:ea typeface="Calibri" pitchFamily="34" charset="-122"/>
                <a:cs typeface="Calibri" pitchFamily="34" charset="-120"/>
              </a:rPr>
              <a:t>same number of layers; same place in the room</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more accurate, more repeatable results</a:t>
            </a:r>
            <a:endParaRPr lang="en-US" sz="1050" dirty="0"/>
          </a:p>
        </p:txBody>
      </p:sp>
      <p:sp>
        <p:nvSpPr>
          <p:cNvPr id="46" name="Shape 44"/>
          <p:cNvSpPr/>
          <p:nvPr/>
        </p:nvSpPr>
        <p:spPr>
          <a:xfrm>
            <a:off x="411480" y="5833872"/>
            <a:ext cx="11368735" cy="530352"/>
          </a:xfrm>
          <a:prstGeom prst="rect">
            <a:avLst/>
          </a:prstGeom>
          <a:solidFill>
            <a:srgbClr val="FFF4E0"/>
          </a:solidFill>
          <a:ln w="6350">
            <a:solidFill>
              <a:srgbClr val="F1D9A8"/>
            </a:solidFill>
            <a:prstDash val="solid"/>
          </a:ln>
        </p:spPr>
      </p:sp>
      <p:sp>
        <p:nvSpPr>
          <p:cNvPr id="47" name="Shape 45"/>
          <p:cNvSpPr/>
          <p:nvPr/>
        </p:nvSpPr>
        <p:spPr>
          <a:xfrm>
            <a:off x="411480" y="5833872"/>
            <a:ext cx="82296" cy="530352"/>
          </a:xfrm>
          <a:prstGeom prst="rect">
            <a:avLst/>
          </a:prstGeom>
          <a:solidFill>
            <a:srgbClr val="E39A2F"/>
          </a:solidFill>
          <a:ln w="12700">
            <a:solidFill>
              <a:srgbClr val="E39A2F"/>
            </a:solidFill>
            <a:prstDash val="solid"/>
          </a:ln>
        </p:spPr>
      </p:sp>
      <p:sp>
        <p:nvSpPr>
          <p:cNvPr id="48" name="Text 4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student’s cotton-wool beaker started at 85 °C, the others at 80 °C. Explain why comparing final temperatures would be unfair.</a:t>
            </a:r>
            <a:endParaRPr lang="en-US" sz="1200" dirty="0"/>
          </a:p>
        </p:txBody>
      </p:sp>
      <p:sp>
        <p:nvSpPr>
          <p:cNvPr id="50" name="Shape 47"/>
          <p:cNvSpPr/>
          <p:nvPr/>
        </p:nvSpPr>
        <p:spPr>
          <a:xfrm>
            <a:off x="9859975" y="292608"/>
            <a:ext cx="1920240" cy="274320"/>
          </a:xfrm>
          <a:prstGeom prst="roundRect">
            <a:avLst>
              <a:gd name="adj" fmla="val 50000"/>
            </a:avLst>
          </a:prstGeom>
          <a:solidFill>
            <a:srgbClr val="B8730A"/>
          </a:solidFill>
          <a:ln w="12700">
            <a:solidFill>
              <a:srgbClr val="B8730A"/>
            </a:solidFill>
            <a:prstDash val="solid"/>
          </a:ln>
        </p:spPr>
      </p:sp>
      <p:sp>
        <p:nvSpPr>
          <p:cNvPr id="51" name="Text 48"/>
          <p:cNvSpPr/>
          <p:nvPr/>
        </p:nvSpPr>
        <p:spPr>
          <a:xfrm>
            <a:off x="9859975" y="292608"/>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Suggested practical • comparing thermal insulators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26</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independent</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dependent</a:t>
            </a:r>
            <a:r>
              <a:rPr lang="en-US" sz="1250" dirty="0">
                <a:solidFill>
                  <a:srgbClr val="262B3A"/>
                </a:solidFill>
                <a:latin typeface="Calibri" pitchFamily="34" charset="0"/>
                <a:ea typeface="Calibri" pitchFamily="34" charset="-122"/>
                <a:cs typeface="Calibri" pitchFamily="34" charset="-120"/>
              </a:rPr>
              <a:t> variables in the insulation investigation, and give </a:t>
            </a:r>
            <a:r>
              <a:rPr lang="en-US" sz="1250" b="1" dirty="0">
                <a:solidFill>
                  <a:srgbClr val="262B3A"/>
                </a:solidFill>
                <a:latin typeface="Calibri" pitchFamily="34" charset="0"/>
                <a:ea typeface="Calibri" pitchFamily="34" charset="-122"/>
                <a:cs typeface="Calibri" pitchFamily="34" charset="-120"/>
              </a:rPr>
              <a:t>two control variables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Water in a beaker wrapped in felt cools from </a:t>
            </a:r>
            <a:r>
              <a:rPr lang="en-US" sz="1250" b="1" dirty="0">
                <a:solidFill>
                  <a:srgbClr val="262B3A"/>
                </a:solidFill>
                <a:latin typeface="Calibri" pitchFamily="34" charset="0"/>
                <a:ea typeface="Calibri" pitchFamily="34" charset="-122"/>
                <a:cs typeface="Calibri" pitchFamily="34" charset="-120"/>
              </a:rPr>
              <a:t>75 °C</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45 °C</a:t>
            </a:r>
            <a:r>
              <a:rPr lang="en-US" sz="1250" dirty="0">
                <a:solidFill>
                  <a:srgbClr val="262B3A"/>
                </a:solidFill>
                <a:latin typeface="Calibri" pitchFamily="34" charset="0"/>
                <a:ea typeface="Calibri" pitchFamily="34" charset="-122"/>
                <a:cs typeface="Calibri" pitchFamily="34" charset="-120"/>
              </a:rPr>
              <a:t> in </a:t>
            </a:r>
            <a:r>
              <a:rPr lang="en-US" sz="1250" b="1" dirty="0">
                <a:solidFill>
                  <a:srgbClr val="262B3A"/>
                </a:solidFill>
                <a:latin typeface="Calibri" pitchFamily="34" charset="0"/>
                <a:ea typeface="Calibri" pitchFamily="34" charset="-122"/>
                <a:cs typeface="Calibri" pitchFamily="34" charset="-120"/>
              </a:rPr>
              <a:t>15 minutes</a:t>
            </a:r>
            <a:r>
              <a:rPr lang="en-US" sz="1250" dirty="0">
                <a:solidFill>
                  <a:srgbClr val="262B3A"/>
                </a:solidFill>
                <a:latin typeface="Calibri" pitchFamily="34" charset="0"/>
                <a:ea typeface="Calibri" pitchFamily="34" charset="-122"/>
                <a:cs typeface="Calibri" pitchFamily="34" charset="-120"/>
              </a:rPr>
              <a:t>. Calculate the mean rate of cooling.</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a:t>
            </a:r>
            <a:r>
              <a:rPr lang="en-US" sz="1250" b="1" dirty="0">
                <a:solidFill>
                  <a:srgbClr val="262B3A"/>
                </a:solidFill>
                <a:latin typeface="Calibri" pitchFamily="34" charset="0"/>
                <a:ea typeface="Calibri" pitchFamily="34" charset="-122"/>
                <a:cs typeface="Calibri" pitchFamily="34" charset="-120"/>
              </a:rPr>
              <a:t>one improvement</a:t>
            </a:r>
            <a:r>
              <a:rPr lang="en-US" sz="1250" dirty="0">
                <a:solidFill>
                  <a:srgbClr val="262B3A"/>
                </a:solidFill>
                <a:latin typeface="Calibri" pitchFamily="34" charset="0"/>
                <a:ea typeface="Calibri" pitchFamily="34" charset="-122"/>
                <a:cs typeface="Calibri" pitchFamily="34" charset="-120"/>
              </a:rPr>
              <a:t> to the method and explain how it improves the results.</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Non-renewable energy resources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3.13 • fossil fuels and nuclear fuel will run out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3.13  |  27</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thermal power station: the energy stores at each stage</a:t>
            </a:r>
            <a:endParaRPr lang="en-US" sz="1000" dirty="0"/>
          </a:p>
        </p:txBody>
      </p:sp>
      <p:sp>
        <p:nvSpPr>
          <p:cNvPr id="10" name="Shape 8"/>
          <p:cNvSpPr/>
          <p:nvPr/>
        </p:nvSpPr>
        <p:spPr>
          <a:xfrm>
            <a:off x="685800" y="1371600"/>
            <a:ext cx="2743200" cy="548640"/>
          </a:xfrm>
          <a:prstGeom prst="roundRect">
            <a:avLst>
              <a:gd name="adj" fmla="val 8333"/>
            </a:avLst>
          </a:prstGeom>
          <a:solidFill>
            <a:srgbClr val="B8730A"/>
          </a:solidFill>
          <a:ln/>
        </p:spPr>
      </p:sp>
      <p:sp>
        <p:nvSpPr>
          <p:cNvPr id="11" name="Text 9"/>
          <p:cNvSpPr/>
          <p:nvPr/>
        </p:nvSpPr>
        <p:spPr>
          <a:xfrm>
            <a:off x="722376" y="1371600"/>
            <a:ext cx="267004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fuel: coal, oil, gas or nuclear fuel</a:t>
            </a:r>
            <a:endParaRPr lang="en-US" sz="1050" dirty="0"/>
          </a:p>
        </p:txBody>
      </p:sp>
      <p:sp>
        <p:nvSpPr>
          <p:cNvPr id="12" name="Text 10"/>
          <p:cNvSpPr/>
          <p:nvPr/>
        </p:nvSpPr>
        <p:spPr>
          <a:xfrm>
            <a:off x="3566160" y="1371600"/>
            <a:ext cx="1417320" cy="548640"/>
          </a:xfrm>
          <a:prstGeom prst="rect">
            <a:avLst/>
          </a:prstGeom>
          <a:noFill/>
          <a:ln/>
        </p:spPr>
        <p:txBody>
          <a:bodyPr wrap="square" lIns="0" tIns="0" rIns="0" bIns="0" rtlCol="0" anchor="ctr"/>
          <a:lstStyle/>
          <a:p>
            <a:pPr algn="l" indent="0" marL="0">
              <a:buNone/>
            </a:pPr>
            <a:r>
              <a:rPr lang="en-US" sz="1050" b="1" i="1" dirty="0">
                <a:solidFill>
                  <a:srgbClr val="B8730A"/>
                </a:solidFill>
                <a:latin typeface="Calibri" pitchFamily="34" charset="0"/>
                <a:ea typeface="Calibri" pitchFamily="34" charset="-122"/>
                <a:cs typeface="Calibri" pitchFamily="34" charset="-120"/>
              </a:rPr>
              <a:t>chemical or nuclear store</a:t>
            </a:r>
            <a:endParaRPr lang="en-US" sz="1050" dirty="0"/>
          </a:p>
        </p:txBody>
      </p:sp>
      <p:sp>
        <p:nvSpPr>
          <p:cNvPr id="13" name="Shape 11"/>
          <p:cNvSpPr/>
          <p:nvPr/>
        </p:nvSpPr>
        <p:spPr>
          <a:xfrm>
            <a:off x="2057400" y="1938528"/>
            <a:ext cx="91" cy="201168"/>
          </a:xfrm>
          <a:prstGeom prst="line">
            <a:avLst/>
          </a:prstGeom>
          <a:noFill/>
          <a:ln w="25400">
            <a:solidFill>
              <a:srgbClr val="6B7385"/>
            </a:solidFill>
            <a:prstDash val="solid"/>
            <a:tailEnd type="triangle"/>
          </a:ln>
        </p:spPr>
      </p:sp>
      <p:sp>
        <p:nvSpPr>
          <p:cNvPr id="14" name="Shape 12"/>
          <p:cNvSpPr/>
          <p:nvPr/>
        </p:nvSpPr>
        <p:spPr>
          <a:xfrm>
            <a:off x="685800" y="2157984"/>
            <a:ext cx="2743200" cy="548640"/>
          </a:xfrm>
          <a:prstGeom prst="roundRect">
            <a:avLst>
              <a:gd name="adj" fmla="val 8333"/>
            </a:avLst>
          </a:prstGeom>
          <a:solidFill>
            <a:srgbClr val="C8414C"/>
          </a:solidFill>
          <a:ln/>
        </p:spPr>
      </p:sp>
      <p:sp>
        <p:nvSpPr>
          <p:cNvPr id="15" name="Text 13"/>
          <p:cNvSpPr/>
          <p:nvPr/>
        </p:nvSpPr>
        <p:spPr>
          <a:xfrm>
            <a:off x="722376" y="2157984"/>
            <a:ext cx="267004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boiler: water heated to steam</a:t>
            </a:r>
            <a:endParaRPr lang="en-US" sz="1050" dirty="0"/>
          </a:p>
        </p:txBody>
      </p:sp>
      <p:sp>
        <p:nvSpPr>
          <p:cNvPr id="16" name="Text 14"/>
          <p:cNvSpPr/>
          <p:nvPr/>
        </p:nvSpPr>
        <p:spPr>
          <a:xfrm>
            <a:off x="3566160" y="2157984"/>
            <a:ext cx="1417320" cy="548640"/>
          </a:xfrm>
          <a:prstGeom prst="rect">
            <a:avLst/>
          </a:prstGeom>
          <a:noFill/>
          <a:ln/>
        </p:spPr>
        <p:txBody>
          <a:bodyPr wrap="square" lIns="0" tIns="0" rIns="0" bIns="0" rtlCol="0" anchor="ctr"/>
          <a:lstStyle/>
          <a:p>
            <a:pPr algn="l" indent="0" marL="0">
              <a:buNone/>
            </a:pPr>
            <a:r>
              <a:rPr lang="en-US" sz="1050" b="1" i="1" dirty="0">
                <a:solidFill>
                  <a:srgbClr val="C8414C"/>
                </a:solidFill>
                <a:latin typeface="Calibri" pitchFamily="34" charset="0"/>
                <a:ea typeface="Calibri" pitchFamily="34" charset="-122"/>
                <a:cs typeface="Calibri" pitchFamily="34" charset="-120"/>
              </a:rPr>
              <a:t>thermal store of the steam</a:t>
            </a:r>
            <a:endParaRPr lang="en-US" sz="1050" dirty="0"/>
          </a:p>
        </p:txBody>
      </p:sp>
      <p:sp>
        <p:nvSpPr>
          <p:cNvPr id="17" name="Shape 15"/>
          <p:cNvSpPr/>
          <p:nvPr/>
        </p:nvSpPr>
        <p:spPr>
          <a:xfrm>
            <a:off x="2057400" y="2724912"/>
            <a:ext cx="91" cy="201168"/>
          </a:xfrm>
          <a:prstGeom prst="line">
            <a:avLst/>
          </a:prstGeom>
          <a:noFill/>
          <a:ln w="25400">
            <a:solidFill>
              <a:srgbClr val="6B7385"/>
            </a:solidFill>
            <a:prstDash val="solid"/>
            <a:tailEnd type="triangle"/>
          </a:ln>
        </p:spPr>
      </p:sp>
      <p:sp>
        <p:nvSpPr>
          <p:cNvPr id="18" name="Shape 16"/>
          <p:cNvSpPr/>
          <p:nvPr/>
        </p:nvSpPr>
        <p:spPr>
          <a:xfrm>
            <a:off x="685800" y="2944368"/>
            <a:ext cx="2743200" cy="548640"/>
          </a:xfrm>
          <a:prstGeom prst="roundRect">
            <a:avLst>
              <a:gd name="adj" fmla="val 8333"/>
            </a:avLst>
          </a:prstGeom>
          <a:solidFill>
            <a:srgbClr val="2E8B57"/>
          </a:solidFill>
          <a:ln/>
        </p:spPr>
      </p:sp>
      <p:sp>
        <p:nvSpPr>
          <p:cNvPr id="19" name="Text 17"/>
          <p:cNvSpPr/>
          <p:nvPr/>
        </p:nvSpPr>
        <p:spPr>
          <a:xfrm>
            <a:off x="722376" y="2944368"/>
            <a:ext cx="267004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turbine: steam turns the blades</a:t>
            </a:r>
            <a:endParaRPr lang="en-US" sz="1050" dirty="0"/>
          </a:p>
        </p:txBody>
      </p:sp>
      <p:sp>
        <p:nvSpPr>
          <p:cNvPr id="20" name="Text 18"/>
          <p:cNvSpPr/>
          <p:nvPr/>
        </p:nvSpPr>
        <p:spPr>
          <a:xfrm>
            <a:off x="3566160" y="2944368"/>
            <a:ext cx="1417320" cy="548640"/>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kinetic store of the turbine</a:t>
            </a:r>
            <a:endParaRPr lang="en-US" sz="1050" dirty="0"/>
          </a:p>
        </p:txBody>
      </p:sp>
      <p:sp>
        <p:nvSpPr>
          <p:cNvPr id="21" name="Shape 19"/>
          <p:cNvSpPr/>
          <p:nvPr/>
        </p:nvSpPr>
        <p:spPr>
          <a:xfrm>
            <a:off x="2057400" y="3511296"/>
            <a:ext cx="91" cy="201168"/>
          </a:xfrm>
          <a:prstGeom prst="line">
            <a:avLst/>
          </a:prstGeom>
          <a:noFill/>
          <a:ln w="25400">
            <a:solidFill>
              <a:srgbClr val="6B7385"/>
            </a:solidFill>
            <a:prstDash val="solid"/>
            <a:tailEnd type="triangle"/>
          </a:ln>
        </p:spPr>
      </p:sp>
      <p:sp>
        <p:nvSpPr>
          <p:cNvPr id="22" name="Shape 20"/>
          <p:cNvSpPr/>
          <p:nvPr/>
        </p:nvSpPr>
        <p:spPr>
          <a:xfrm>
            <a:off x="685800" y="3730752"/>
            <a:ext cx="2743200" cy="548640"/>
          </a:xfrm>
          <a:prstGeom prst="roundRect">
            <a:avLst>
              <a:gd name="adj" fmla="val 8333"/>
            </a:avLst>
          </a:prstGeom>
          <a:solidFill>
            <a:srgbClr val="7B4FB8"/>
          </a:solidFill>
          <a:ln/>
        </p:spPr>
      </p:sp>
      <p:sp>
        <p:nvSpPr>
          <p:cNvPr id="23" name="Text 21"/>
          <p:cNvSpPr/>
          <p:nvPr/>
        </p:nvSpPr>
        <p:spPr>
          <a:xfrm>
            <a:off x="722376" y="3730752"/>
            <a:ext cx="267004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generator: magnet spins in coils</a:t>
            </a:r>
            <a:endParaRPr lang="en-US" sz="1050" dirty="0"/>
          </a:p>
        </p:txBody>
      </p:sp>
      <p:sp>
        <p:nvSpPr>
          <p:cNvPr id="24" name="Text 22"/>
          <p:cNvSpPr/>
          <p:nvPr/>
        </p:nvSpPr>
        <p:spPr>
          <a:xfrm>
            <a:off x="3566160" y="3730752"/>
            <a:ext cx="1417320" cy="548640"/>
          </a:xfrm>
          <a:prstGeom prst="rect">
            <a:avLst/>
          </a:prstGeom>
          <a:noFill/>
          <a:ln/>
        </p:spPr>
        <p:txBody>
          <a:bodyPr wrap="square" lIns="0" tIns="0" rIns="0" bIns="0" rtlCol="0" anchor="ctr"/>
          <a:lstStyle/>
          <a:p>
            <a:pPr algn="l" indent="0" marL="0">
              <a:buNone/>
            </a:pPr>
            <a:r>
              <a:rPr lang="en-US" sz="1050" b="1" i="1" dirty="0">
                <a:solidFill>
                  <a:srgbClr val="7B4FB8"/>
                </a:solidFill>
                <a:latin typeface="Calibri" pitchFamily="34" charset="0"/>
                <a:ea typeface="Calibri" pitchFamily="34" charset="-122"/>
                <a:cs typeface="Calibri" pitchFamily="34" charset="-120"/>
              </a:rPr>
              <a:t>transferred electrically</a:t>
            </a:r>
            <a:endParaRPr lang="en-US" sz="1050" dirty="0"/>
          </a:p>
        </p:txBody>
      </p:sp>
      <p:sp>
        <p:nvSpPr>
          <p:cNvPr id="25" name="Shape 23"/>
          <p:cNvSpPr/>
          <p:nvPr/>
        </p:nvSpPr>
        <p:spPr>
          <a:xfrm>
            <a:off x="2057400" y="4297680"/>
            <a:ext cx="91" cy="201168"/>
          </a:xfrm>
          <a:prstGeom prst="line">
            <a:avLst/>
          </a:prstGeom>
          <a:noFill/>
          <a:ln w="25400">
            <a:solidFill>
              <a:srgbClr val="6B7385"/>
            </a:solidFill>
            <a:prstDash val="solid"/>
            <a:tailEnd type="triangle"/>
          </a:ln>
        </p:spPr>
      </p:sp>
      <p:sp>
        <p:nvSpPr>
          <p:cNvPr id="26" name="Shape 24"/>
          <p:cNvSpPr/>
          <p:nvPr/>
        </p:nvSpPr>
        <p:spPr>
          <a:xfrm>
            <a:off x="685800" y="4517136"/>
            <a:ext cx="2743200" cy="548640"/>
          </a:xfrm>
          <a:prstGeom prst="roundRect">
            <a:avLst>
              <a:gd name="adj" fmla="val 8333"/>
            </a:avLst>
          </a:prstGeom>
          <a:solidFill>
            <a:srgbClr val="1A2340"/>
          </a:solidFill>
          <a:ln/>
        </p:spPr>
      </p:sp>
      <p:sp>
        <p:nvSpPr>
          <p:cNvPr id="27" name="Text 25"/>
          <p:cNvSpPr/>
          <p:nvPr/>
        </p:nvSpPr>
        <p:spPr>
          <a:xfrm>
            <a:off x="722376" y="4517136"/>
            <a:ext cx="2670048"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National Grid → homes and industry</a:t>
            </a:r>
            <a:endParaRPr lang="en-US" sz="1050" dirty="0"/>
          </a:p>
        </p:txBody>
      </p:sp>
      <p:sp>
        <p:nvSpPr>
          <p:cNvPr id="28" name="Text 26"/>
          <p:cNvSpPr/>
          <p:nvPr/>
        </p:nvSpPr>
        <p:spPr>
          <a:xfrm>
            <a:off x="3566160" y="4517136"/>
            <a:ext cx="1417320" cy="548640"/>
          </a:xfrm>
          <a:prstGeom prst="rect">
            <a:avLst/>
          </a:prstGeom>
          <a:noFill/>
          <a:ln/>
        </p:spPr>
        <p:txBody>
          <a:bodyPr wrap="square" lIns="0" tIns="0" rIns="0" bIns="0" rtlCol="0" anchor="ctr"/>
          <a:lstStyle/>
          <a:p>
            <a:pPr algn="l" indent="0" marL="0">
              <a:buNone/>
            </a:pPr>
            <a:r>
              <a:rPr lang="en-US" sz="1050" b="1" i="1" dirty="0">
                <a:solidFill>
                  <a:srgbClr val="1A2340"/>
                </a:solidFill>
                <a:latin typeface="Calibri" pitchFamily="34" charset="0"/>
                <a:ea typeface="Calibri" pitchFamily="34" charset="-122"/>
                <a:cs typeface="Calibri" pitchFamily="34" charset="-120"/>
              </a:rPr>
              <a:t>electricity supply</a:t>
            </a:r>
            <a:endParaRPr lang="en-US" sz="1050" dirty="0"/>
          </a:p>
        </p:txBody>
      </p:sp>
      <p:sp>
        <p:nvSpPr>
          <p:cNvPr id="29" name="Shape 27"/>
          <p:cNvSpPr/>
          <p:nvPr/>
        </p:nvSpPr>
        <p:spPr>
          <a:xfrm>
            <a:off x="5074920" y="2244852"/>
            <a:ext cx="731520" cy="452628"/>
          </a:xfrm>
          <a:prstGeom prst="rect">
            <a:avLst/>
          </a:prstGeom>
          <a:solidFill>
            <a:srgbClr val="8C96A8"/>
          </a:solidFill>
          <a:ln w="9525">
            <a:solidFill>
              <a:srgbClr val="4A5262"/>
            </a:solidFill>
            <a:prstDash val="solid"/>
          </a:ln>
        </p:spPr>
      </p:sp>
      <p:sp>
        <p:nvSpPr>
          <p:cNvPr id="30" name="Shape 28"/>
          <p:cNvSpPr/>
          <p:nvPr/>
        </p:nvSpPr>
        <p:spPr>
          <a:xfrm>
            <a:off x="5550408" y="1691640"/>
            <a:ext cx="131674" cy="553212"/>
          </a:xfrm>
          <a:prstGeom prst="rect">
            <a:avLst/>
          </a:prstGeom>
          <a:solidFill>
            <a:srgbClr val="6B7385"/>
          </a:solidFill>
          <a:ln w="9525">
            <a:solidFill>
              <a:srgbClr val="4A5262"/>
            </a:solidFill>
            <a:prstDash val="solid"/>
          </a:ln>
        </p:spPr>
      </p:sp>
      <p:sp>
        <p:nvSpPr>
          <p:cNvPr id="31" name="Shape 29"/>
          <p:cNvSpPr/>
          <p:nvPr/>
        </p:nvSpPr>
        <p:spPr>
          <a:xfrm>
            <a:off x="5528462" y="1527048"/>
            <a:ext cx="182880" cy="146304"/>
          </a:xfrm>
          <a:prstGeom prst="ellipse">
            <a:avLst/>
          </a:prstGeom>
          <a:solidFill>
            <a:srgbClr val="C9CED8"/>
          </a:solidFill>
          <a:ln w="6350">
            <a:solidFill>
              <a:srgbClr val="A9AFBB"/>
            </a:solidFill>
            <a:prstDash val="solid"/>
          </a:ln>
        </p:spPr>
      </p:sp>
      <p:sp>
        <p:nvSpPr>
          <p:cNvPr id="32" name="Shape 30"/>
          <p:cNvSpPr/>
          <p:nvPr/>
        </p:nvSpPr>
        <p:spPr>
          <a:xfrm>
            <a:off x="5638190" y="1417320"/>
            <a:ext cx="182880" cy="146304"/>
          </a:xfrm>
          <a:prstGeom prst="ellipse">
            <a:avLst/>
          </a:prstGeom>
          <a:solidFill>
            <a:srgbClr val="C9CED8"/>
          </a:solidFill>
          <a:ln w="6350">
            <a:solidFill>
              <a:srgbClr val="A9AFBB"/>
            </a:solidFill>
            <a:prstDash val="solid"/>
          </a:ln>
        </p:spPr>
      </p:sp>
      <p:sp>
        <p:nvSpPr>
          <p:cNvPr id="33" name="Shape 31"/>
          <p:cNvSpPr/>
          <p:nvPr/>
        </p:nvSpPr>
        <p:spPr>
          <a:xfrm>
            <a:off x="5747918" y="1307592"/>
            <a:ext cx="182880" cy="146304"/>
          </a:xfrm>
          <a:prstGeom prst="ellipse">
            <a:avLst/>
          </a:prstGeom>
          <a:solidFill>
            <a:srgbClr val="C9CED8"/>
          </a:solidFill>
          <a:ln w="6350">
            <a:solidFill>
              <a:srgbClr val="A9AFBB"/>
            </a:solidFill>
            <a:prstDash val="solid"/>
          </a:ln>
        </p:spPr>
      </p:sp>
      <p:sp>
        <p:nvSpPr>
          <p:cNvPr id="34" name="Text 32"/>
          <p:cNvSpPr/>
          <p:nvPr/>
        </p:nvSpPr>
        <p:spPr>
          <a:xfrm>
            <a:off x="4937760" y="2743200"/>
            <a:ext cx="1005840" cy="201168"/>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fossil fuel</a:t>
            </a:r>
            <a:endParaRPr lang="en-US" sz="1000" dirty="0"/>
          </a:p>
        </p:txBody>
      </p:sp>
      <p:sp>
        <p:nvSpPr>
          <p:cNvPr id="35" name="Shape 33"/>
          <p:cNvSpPr/>
          <p:nvPr/>
        </p:nvSpPr>
        <p:spPr>
          <a:xfrm>
            <a:off x="5148072" y="3500689"/>
            <a:ext cx="585216" cy="222382"/>
          </a:xfrm>
          <a:prstGeom prst="ellipse">
            <a:avLst/>
          </a:prstGeom>
          <a:ln w="19050">
            <a:solidFill>
              <a:srgbClr val="7B4FB8"/>
            </a:solidFill>
            <a:prstDash val="solid"/>
          </a:ln>
        </p:spPr>
      </p:sp>
      <p:sp>
        <p:nvSpPr>
          <p:cNvPr id="36" name="Shape 34"/>
          <p:cNvSpPr/>
          <p:nvPr/>
        </p:nvSpPr>
        <p:spPr>
          <a:xfrm rot="3600000">
            <a:off x="5148072" y="3500689"/>
            <a:ext cx="585216" cy="222382"/>
          </a:xfrm>
          <a:prstGeom prst="ellipse">
            <a:avLst/>
          </a:prstGeom>
          <a:ln w="19050">
            <a:solidFill>
              <a:srgbClr val="7B4FB8"/>
            </a:solidFill>
            <a:prstDash val="solid"/>
          </a:ln>
        </p:spPr>
      </p:sp>
      <p:sp>
        <p:nvSpPr>
          <p:cNvPr id="37" name="Shape 35"/>
          <p:cNvSpPr/>
          <p:nvPr/>
        </p:nvSpPr>
        <p:spPr>
          <a:xfrm rot="7200000">
            <a:off x="5148072" y="3500689"/>
            <a:ext cx="585216" cy="222382"/>
          </a:xfrm>
          <a:prstGeom prst="ellipse">
            <a:avLst/>
          </a:prstGeom>
          <a:ln w="19050">
            <a:solidFill>
              <a:srgbClr val="7B4FB8"/>
            </a:solidFill>
            <a:prstDash val="solid"/>
          </a:ln>
        </p:spPr>
      </p:sp>
      <p:sp>
        <p:nvSpPr>
          <p:cNvPr id="38" name="Shape 36"/>
          <p:cNvSpPr/>
          <p:nvPr/>
        </p:nvSpPr>
        <p:spPr>
          <a:xfrm>
            <a:off x="5376672" y="3547872"/>
            <a:ext cx="128016" cy="128016"/>
          </a:xfrm>
          <a:prstGeom prst="ellipse">
            <a:avLst/>
          </a:prstGeom>
          <a:solidFill>
            <a:srgbClr val="C8414C"/>
          </a:solidFill>
          <a:ln w="12700">
            <a:solidFill>
              <a:srgbClr val="C8414C"/>
            </a:solidFill>
            <a:prstDash val="solid"/>
          </a:ln>
        </p:spPr>
      </p:sp>
      <p:sp>
        <p:nvSpPr>
          <p:cNvPr id="39" name="Text 37"/>
          <p:cNvSpPr/>
          <p:nvPr/>
        </p:nvSpPr>
        <p:spPr>
          <a:xfrm>
            <a:off x="4937760" y="3977640"/>
            <a:ext cx="1005840" cy="201168"/>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nuclear</a:t>
            </a:r>
            <a:endParaRPr lang="en-US" sz="1000" dirty="0"/>
          </a:p>
        </p:txBody>
      </p:sp>
      <p:sp>
        <p:nvSpPr>
          <p:cNvPr id="40" name="Text 38"/>
          <p:cNvSpPr/>
          <p:nvPr/>
        </p:nvSpPr>
        <p:spPr>
          <a:xfrm>
            <a:off x="3566160" y="5257800"/>
            <a:ext cx="2194560" cy="182880"/>
          </a:xfrm>
          <a:prstGeom prst="rect">
            <a:avLst/>
          </a:prstGeom>
          <a:noFill/>
          <a:ln/>
        </p:spPr>
        <p:txBody>
          <a:bodyPr wrap="square" lIns="0" tIns="0" rIns="0" bIns="0" rtlCol="0" anchor="ctr"/>
          <a:lstStyle/>
          <a:p>
            <a:pPr algn="l" indent="0" marL="0">
              <a:buNone/>
            </a:pPr>
            <a:r>
              <a:rPr lang="en-US" sz="1000" i="1" dirty="0">
                <a:solidFill>
                  <a:srgbClr val="C8414C"/>
                </a:solidFill>
                <a:latin typeface="Calibri" pitchFamily="34" charset="0"/>
                <a:ea typeface="Calibri" pitchFamily="34" charset="-122"/>
                <a:cs typeface="Calibri" pitchFamily="34" charset="-120"/>
              </a:rPr>
              <a:t>about 2/3 of the energy is wasted</a:t>
            </a:r>
            <a:endParaRPr lang="en-US" sz="1000" dirty="0"/>
          </a:p>
        </p:txBody>
      </p:sp>
      <p:sp>
        <p:nvSpPr>
          <p:cNvPr id="41" name="Shape 3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2" name="Text 4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Fossil fuels and nuclear fuel</a:t>
            </a:r>
            <a:endParaRPr lang="en-US" sz="1300" dirty="0"/>
          </a:p>
        </p:txBody>
      </p:sp>
      <p:sp>
        <p:nvSpPr>
          <p:cNvPr id="43" name="Text 4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Non-renewable:</a:t>
            </a:r>
            <a:r>
              <a:rPr lang="en-US" sz="1150" dirty="0">
                <a:solidFill>
                  <a:srgbClr val="262B3A"/>
                </a:solidFill>
                <a:latin typeface="Calibri" pitchFamily="34" charset="0"/>
                <a:ea typeface="Calibri" pitchFamily="34" charset="-122"/>
                <a:cs typeface="Calibri" pitchFamily="34" charset="-120"/>
              </a:rPr>
              <a:t> will run out; cannot be replaced as fast as we use them.</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Fossil fuels</a:t>
            </a:r>
            <a:r>
              <a:rPr lang="en-US" sz="1150" dirty="0">
                <a:solidFill>
                  <a:srgbClr val="262B3A"/>
                </a:solidFill>
                <a:latin typeface="Calibri" pitchFamily="34" charset="0"/>
                <a:ea typeface="Calibri" pitchFamily="34" charset="-122"/>
                <a:cs typeface="Calibri" pitchFamily="34" charset="-120"/>
              </a:rPr>
              <a:t> (coal, oil, natural gas): electricity, heating, </a:t>
            </a:r>
            <a:r>
              <a:rPr lang="en-US" sz="1150" b="1" dirty="0">
                <a:solidFill>
                  <a:srgbClr val="262B3A"/>
                </a:solidFill>
                <a:latin typeface="Calibri" pitchFamily="34" charset="0"/>
                <a:ea typeface="Calibri" pitchFamily="34" charset="-122"/>
                <a:cs typeface="Calibri" pitchFamily="34" charset="-120"/>
              </a:rPr>
              <a:t>transport</a:t>
            </a:r>
            <a:r>
              <a:rPr lang="en-US" sz="1150" dirty="0">
                <a:solidFill>
                  <a:srgbClr val="262B3A"/>
                </a:solidFill>
                <a:latin typeface="Calibri" pitchFamily="34" charset="0"/>
                <a:ea typeface="Calibri" pitchFamily="34" charset="-122"/>
                <a:cs typeface="Calibri" pitchFamily="34" charset="-120"/>
              </a:rPr>
              <a:t>. Reliable, on demand; but burning releases </a:t>
            </a:r>
            <a:r>
              <a:rPr lang="en-US" sz="1150" b="1" dirty="0">
                <a:solidFill>
                  <a:srgbClr val="262B3A"/>
                </a:solidFill>
                <a:latin typeface="Calibri" pitchFamily="34" charset="0"/>
                <a:ea typeface="Calibri" pitchFamily="34" charset="-122"/>
                <a:cs typeface="Calibri" pitchFamily="34" charset="-120"/>
              </a:rPr>
              <a:t>CO₂</a:t>
            </a:r>
            <a:r>
              <a:rPr lang="en-US" sz="1150" dirty="0">
                <a:solidFill>
                  <a:srgbClr val="262B3A"/>
                </a:solidFill>
                <a:latin typeface="Calibri" pitchFamily="34" charset="0"/>
                <a:ea typeface="Calibri" pitchFamily="34" charset="-122"/>
                <a:cs typeface="Calibri" pitchFamily="34" charset="-120"/>
              </a:rPr>
              <a:t> (climate change) and coal releases </a:t>
            </a:r>
            <a:r>
              <a:rPr lang="en-US" sz="1150" b="1" dirty="0">
                <a:solidFill>
                  <a:srgbClr val="262B3A"/>
                </a:solidFill>
                <a:latin typeface="Calibri" pitchFamily="34" charset="0"/>
                <a:ea typeface="Calibri" pitchFamily="34" charset="-122"/>
                <a:cs typeface="Calibri" pitchFamily="34" charset="-120"/>
              </a:rPr>
              <a:t>SO₂</a:t>
            </a:r>
            <a:r>
              <a:rPr lang="en-US" sz="1150" dirty="0">
                <a:solidFill>
                  <a:srgbClr val="262B3A"/>
                </a:solidFill>
                <a:latin typeface="Calibri" pitchFamily="34" charset="0"/>
                <a:ea typeface="Calibri" pitchFamily="34" charset="-122"/>
                <a:cs typeface="Calibri" pitchFamily="34" charset="-120"/>
              </a:rPr>
              <a:t> (acid rain).</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Nuclear fuel</a:t>
            </a:r>
            <a:r>
              <a:rPr lang="en-US" sz="1150" dirty="0">
                <a:solidFill>
                  <a:srgbClr val="262B3A"/>
                </a:solidFill>
                <a:latin typeface="Calibri" pitchFamily="34" charset="0"/>
                <a:ea typeface="Calibri" pitchFamily="34" charset="-122"/>
                <a:cs typeface="Calibri" pitchFamily="34" charset="-120"/>
              </a:rPr>
              <a:t> (uranium): no CO₂ when generating, lots of energy from a little fuel; but </a:t>
            </a:r>
            <a:r>
              <a:rPr lang="en-US" sz="1150" b="1" dirty="0">
                <a:solidFill>
                  <a:srgbClr val="262B3A"/>
                </a:solidFill>
                <a:latin typeface="Calibri" pitchFamily="34" charset="0"/>
                <a:ea typeface="Calibri" pitchFamily="34" charset="-122"/>
                <a:cs typeface="Calibri" pitchFamily="34" charset="-120"/>
              </a:rPr>
              <a:t>radioactive waste</a:t>
            </a:r>
            <a:r>
              <a:rPr lang="en-US" sz="1150" dirty="0">
                <a:solidFill>
                  <a:srgbClr val="262B3A"/>
                </a:solidFill>
                <a:latin typeface="Calibri" pitchFamily="34" charset="0"/>
                <a:ea typeface="Calibri" pitchFamily="34" charset="-122"/>
                <a:cs typeface="Calibri" pitchFamily="34" charset="-120"/>
              </a:rPr>
              <a:t>, high costs and risk of accidents.</a:t>
            </a:r>
            <a:endParaRPr lang="en-US" sz="1150" dirty="0"/>
          </a:p>
        </p:txBody>
      </p:sp>
      <p:sp>
        <p:nvSpPr>
          <p:cNvPr id="44" name="Shape 4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45" name="Text 4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Describe it</a:t>
            </a:r>
            <a:endParaRPr lang="en-US" sz="1300" dirty="0"/>
          </a:p>
        </p:txBody>
      </p:sp>
      <p:sp>
        <p:nvSpPr>
          <p:cNvPr id="46" name="Text 44"/>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Describe how a gas-fired power station generates electricity.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Burn   </a:t>
            </a:r>
            <a:r>
              <a:rPr lang="en-US" sz="1050" dirty="0">
                <a:solidFill>
                  <a:srgbClr val="262B3A"/>
                </a:solidFill>
                <a:latin typeface="Calibri" pitchFamily="34" charset="0"/>
                <a:ea typeface="Calibri" pitchFamily="34" charset="-122"/>
                <a:cs typeface="Calibri" pitchFamily="34" charset="-120"/>
              </a:rPr>
              <a:t>gas burns: chemical store → thermal store of water/steam</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Turbine   </a:t>
            </a:r>
            <a:r>
              <a:rPr lang="en-US" sz="1050" dirty="0">
                <a:solidFill>
                  <a:srgbClr val="262B3A"/>
                </a:solidFill>
                <a:latin typeface="Calibri" pitchFamily="34" charset="0"/>
                <a:ea typeface="Calibri" pitchFamily="34" charset="-122"/>
                <a:cs typeface="Calibri" pitchFamily="34" charset="-120"/>
              </a:rPr>
              <a:t>high-pressure steam turns a turbine (kinetic store)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Generator   </a:t>
            </a:r>
            <a:r>
              <a:rPr lang="en-US" sz="1050" dirty="0">
                <a:solidFill>
                  <a:srgbClr val="262B3A"/>
                </a:solidFill>
                <a:latin typeface="Calibri" pitchFamily="34" charset="0"/>
                <a:ea typeface="Calibri" pitchFamily="34" charset="-122"/>
                <a:cs typeface="Calibri" pitchFamily="34" charset="-120"/>
              </a:rPr>
              <a:t>the turbine turns a generator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energy transferred electrically to the National Grid</a:t>
            </a:r>
            <a:endParaRPr lang="en-US" sz="1050" dirty="0"/>
          </a:p>
        </p:txBody>
      </p:sp>
      <p:sp>
        <p:nvSpPr>
          <p:cNvPr id="47" name="Shape 45"/>
          <p:cNvSpPr/>
          <p:nvPr/>
        </p:nvSpPr>
        <p:spPr>
          <a:xfrm>
            <a:off x="411480" y="5833872"/>
            <a:ext cx="11368735" cy="530352"/>
          </a:xfrm>
          <a:prstGeom prst="rect">
            <a:avLst/>
          </a:prstGeom>
          <a:solidFill>
            <a:srgbClr val="FFF4E0"/>
          </a:solidFill>
          <a:ln w="6350">
            <a:solidFill>
              <a:srgbClr val="F1D9A8"/>
            </a:solidFill>
            <a:prstDash val="solid"/>
          </a:ln>
        </p:spPr>
      </p:sp>
      <p:sp>
        <p:nvSpPr>
          <p:cNvPr id="48" name="Shape 46"/>
          <p:cNvSpPr/>
          <p:nvPr/>
        </p:nvSpPr>
        <p:spPr>
          <a:xfrm>
            <a:off x="411480" y="5833872"/>
            <a:ext cx="82296" cy="530352"/>
          </a:xfrm>
          <a:prstGeom prst="rect">
            <a:avLst/>
          </a:prstGeom>
          <a:solidFill>
            <a:srgbClr val="E39A2F"/>
          </a:solidFill>
          <a:ln w="12700">
            <a:solidFill>
              <a:srgbClr val="E39A2F"/>
            </a:solidFill>
            <a:prstDash val="solid"/>
          </a:ln>
        </p:spPr>
      </p:sp>
      <p:sp>
        <p:nvSpPr>
          <p:cNvPr id="49" name="Text 4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one advantage and one disadvantage of using nuclear fuel instead of coal to generate electricity.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Renewable energy resources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3.13 • resources that are replaced as fast as we use them</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3.13  |  28</a:t>
            </a:r>
            <a:endParaRPr lang="en-US" sz="1000" dirty="0"/>
          </a:p>
        </p:txBody>
      </p:sp>
      <p:sp>
        <p:nvSpPr>
          <p:cNvPr id="8" name="Shape 6"/>
          <p:cNvSpPr/>
          <p:nvPr/>
        </p:nvSpPr>
        <p:spPr>
          <a:xfrm>
            <a:off x="411480" y="1188720"/>
            <a:ext cx="3657600" cy="2103120"/>
          </a:xfrm>
          <a:prstGeom prst="roundRect">
            <a:avLst>
              <a:gd name="adj" fmla="val 2609"/>
            </a:avLst>
          </a:prstGeom>
          <a:solidFill>
            <a:srgbClr val="F5F8FE"/>
          </a:solidFill>
          <a:ln w="9525">
            <a:solidFill>
              <a:srgbClr val="D5DCEB"/>
            </a:solidFill>
            <a:prstDash val="solid"/>
          </a:ln>
        </p:spPr>
      </p:sp>
      <p:sp>
        <p:nvSpPr>
          <p:cNvPr id="9" name="Shape 7"/>
          <p:cNvSpPr/>
          <p:nvPr/>
        </p:nvSpPr>
        <p:spPr>
          <a:xfrm>
            <a:off x="521208" y="1298448"/>
            <a:ext cx="914400" cy="914400"/>
          </a:xfrm>
          <a:prstGeom prst="roundRect">
            <a:avLst>
              <a:gd name="adj" fmla="val 6000"/>
            </a:avLst>
          </a:prstGeom>
          <a:solidFill>
            <a:srgbClr val="FFFFFF"/>
          </a:solidFill>
          <a:ln w="6350">
            <a:solidFill>
              <a:srgbClr val="D5DCEB"/>
            </a:solidFill>
            <a:prstDash val="solid"/>
          </a:ln>
        </p:spPr>
      </p:sp>
      <p:sp>
        <p:nvSpPr>
          <p:cNvPr id="10" name="Shape 8"/>
          <p:cNvSpPr/>
          <p:nvPr/>
        </p:nvSpPr>
        <p:spPr>
          <a:xfrm>
            <a:off x="941832" y="1481328"/>
            <a:ext cx="73152" cy="548640"/>
          </a:xfrm>
          <a:prstGeom prst="rect">
            <a:avLst/>
          </a:prstGeom>
          <a:solidFill>
            <a:srgbClr val="B0B7C6"/>
          </a:solidFill>
          <a:ln w="6350">
            <a:solidFill>
              <a:srgbClr val="6B7385"/>
            </a:solidFill>
            <a:prstDash val="solid"/>
          </a:ln>
        </p:spPr>
      </p:sp>
      <p:sp>
        <p:nvSpPr>
          <p:cNvPr id="11" name="Shape 9"/>
          <p:cNvSpPr/>
          <p:nvPr/>
        </p:nvSpPr>
        <p:spPr>
          <a:xfrm flipV="1">
            <a:off x="978408" y="1179576"/>
            <a:ext cx="91" cy="301752"/>
          </a:xfrm>
          <a:prstGeom prst="line">
            <a:avLst/>
          </a:prstGeom>
          <a:noFill/>
          <a:ln w="44450">
            <a:solidFill>
              <a:srgbClr val="6B7385"/>
            </a:solidFill>
            <a:prstDash val="solid"/>
          </a:ln>
        </p:spPr>
      </p:sp>
      <p:sp>
        <p:nvSpPr>
          <p:cNvPr id="12" name="Shape 10"/>
          <p:cNvSpPr/>
          <p:nvPr/>
        </p:nvSpPr>
        <p:spPr>
          <a:xfrm flipH="1">
            <a:off x="717083" y="1481328"/>
            <a:ext cx="261325" cy="150876"/>
          </a:xfrm>
          <a:prstGeom prst="line">
            <a:avLst/>
          </a:prstGeom>
          <a:noFill/>
          <a:ln w="44450">
            <a:solidFill>
              <a:srgbClr val="6B7385"/>
            </a:solidFill>
            <a:prstDash val="solid"/>
          </a:ln>
        </p:spPr>
      </p:sp>
      <p:sp>
        <p:nvSpPr>
          <p:cNvPr id="13" name="Shape 11"/>
          <p:cNvSpPr/>
          <p:nvPr/>
        </p:nvSpPr>
        <p:spPr>
          <a:xfrm>
            <a:off x="978408" y="1481328"/>
            <a:ext cx="261325" cy="150876"/>
          </a:xfrm>
          <a:prstGeom prst="line">
            <a:avLst/>
          </a:prstGeom>
          <a:noFill/>
          <a:ln w="44450">
            <a:solidFill>
              <a:srgbClr val="6B7385"/>
            </a:solidFill>
            <a:prstDash val="solid"/>
          </a:ln>
        </p:spPr>
      </p:sp>
      <p:sp>
        <p:nvSpPr>
          <p:cNvPr id="14" name="Shape 12"/>
          <p:cNvSpPr/>
          <p:nvPr/>
        </p:nvSpPr>
        <p:spPr>
          <a:xfrm>
            <a:off x="923544" y="1426464"/>
            <a:ext cx="109728" cy="109728"/>
          </a:xfrm>
          <a:prstGeom prst="ellipse">
            <a:avLst/>
          </a:prstGeom>
          <a:solidFill>
            <a:srgbClr val="4A5262"/>
          </a:solidFill>
          <a:ln w="12700">
            <a:solidFill>
              <a:srgbClr val="4A5262"/>
            </a:solidFill>
            <a:prstDash val="solid"/>
          </a:ln>
        </p:spPr>
      </p:sp>
      <p:sp>
        <p:nvSpPr>
          <p:cNvPr id="15" name="Text 13"/>
          <p:cNvSpPr/>
          <p:nvPr/>
        </p:nvSpPr>
        <p:spPr>
          <a:xfrm>
            <a:off x="1554480" y="1298448"/>
            <a:ext cx="2423160" cy="292608"/>
          </a:xfrm>
          <a:prstGeom prst="rect">
            <a:avLst/>
          </a:prstGeom>
          <a:noFill/>
          <a:ln/>
        </p:spPr>
        <p:txBody>
          <a:bodyPr wrap="square" lIns="0" tIns="0" rIns="0" bIns="0" rtlCol="0" anchor="ctr"/>
          <a:lstStyle/>
          <a:p>
            <a:pPr algn="l" indent="0" marL="0">
              <a:buNone/>
            </a:pPr>
            <a:r>
              <a:rPr lang="en-US" sz="1300" b="1" dirty="0">
                <a:solidFill>
                  <a:srgbClr val="1A2340"/>
                </a:solidFill>
                <a:latin typeface="Calibri" pitchFamily="34" charset="0"/>
                <a:ea typeface="Calibri" pitchFamily="34" charset="-122"/>
                <a:cs typeface="Calibri" pitchFamily="34" charset="-120"/>
              </a:rPr>
              <a:t>Wind</a:t>
            </a:r>
            <a:endParaRPr lang="en-US" sz="1300" dirty="0"/>
          </a:p>
        </p:txBody>
      </p:sp>
      <p:sp>
        <p:nvSpPr>
          <p:cNvPr id="16" name="Text 14"/>
          <p:cNvSpPr/>
          <p:nvPr/>
        </p:nvSpPr>
        <p:spPr>
          <a:xfrm>
            <a:off x="1554480" y="1600200"/>
            <a:ext cx="2377440" cy="685800"/>
          </a:xfrm>
          <a:prstGeom prst="rect">
            <a:avLst/>
          </a:prstGeom>
          <a:noFill/>
          <a:ln/>
        </p:spPr>
        <p:txBody>
          <a:bodyPr wrap="square" lIns="0" tIns="0" rIns="0" bIns="0" rtlCol="0" anchor="t"/>
          <a:lstStyle/>
          <a:p>
            <a:pPr indent="0" marL="0">
              <a:buNone/>
            </a:pPr>
            <a:r>
              <a:rPr lang="en-US" sz="1100" dirty="0">
                <a:solidFill>
                  <a:srgbClr val="262B3A"/>
                </a:solidFill>
                <a:latin typeface="Calibri" pitchFamily="34" charset="0"/>
                <a:ea typeface="Calibri" pitchFamily="34" charset="-122"/>
                <a:cs typeface="Calibri" pitchFamily="34" charset="-120"/>
              </a:rPr>
              <a:t>Moving air turns a turbine and generator.</a:t>
            </a:r>
            <a:endParaRPr lang="en-US" sz="1100" dirty="0"/>
          </a:p>
        </p:txBody>
      </p:sp>
      <p:sp>
        <p:nvSpPr>
          <p:cNvPr id="17" name="Text 15"/>
          <p:cNvSpPr/>
          <p:nvPr/>
        </p:nvSpPr>
        <p:spPr>
          <a:xfrm>
            <a:off x="548640" y="2331720"/>
            <a:ext cx="3383280"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No fuel cost, no CO₂ • unreliable: no wind, no power; visual and noise impact</a:t>
            </a:r>
            <a:endParaRPr lang="en-US" sz="1050" dirty="0"/>
          </a:p>
        </p:txBody>
      </p:sp>
      <p:sp>
        <p:nvSpPr>
          <p:cNvPr id="18" name="Shape 16"/>
          <p:cNvSpPr/>
          <p:nvPr/>
        </p:nvSpPr>
        <p:spPr>
          <a:xfrm>
            <a:off x="4251960" y="1188720"/>
            <a:ext cx="3657600" cy="2103120"/>
          </a:xfrm>
          <a:prstGeom prst="roundRect">
            <a:avLst>
              <a:gd name="adj" fmla="val 2609"/>
            </a:avLst>
          </a:prstGeom>
          <a:solidFill>
            <a:srgbClr val="F5F8FE"/>
          </a:solidFill>
          <a:ln w="9525">
            <a:solidFill>
              <a:srgbClr val="D5DCEB"/>
            </a:solidFill>
            <a:prstDash val="solid"/>
          </a:ln>
        </p:spPr>
      </p:sp>
      <p:sp>
        <p:nvSpPr>
          <p:cNvPr id="19" name="Shape 17"/>
          <p:cNvSpPr/>
          <p:nvPr/>
        </p:nvSpPr>
        <p:spPr>
          <a:xfrm>
            <a:off x="4361688" y="1298448"/>
            <a:ext cx="914400" cy="914400"/>
          </a:xfrm>
          <a:prstGeom prst="roundRect">
            <a:avLst>
              <a:gd name="adj" fmla="val 6000"/>
            </a:avLst>
          </a:prstGeom>
          <a:solidFill>
            <a:srgbClr val="FFFFFF"/>
          </a:solidFill>
          <a:ln w="6350">
            <a:solidFill>
              <a:srgbClr val="D5DCEB"/>
            </a:solidFill>
            <a:prstDash val="solid"/>
          </a:ln>
        </p:spPr>
      </p:sp>
      <p:sp>
        <p:nvSpPr>
          <p:cNvPr id="20" name="Shape 18"/>
          <p:cNvSpPr/>
          <p:nvPr/>
        </p:nvSpPr>
        <p:spPr>
          <a:xfrm>
            <a:off x="5016398" y="1664208"/>
            <a:ext cx="82296" cy="91"/>
          </a:xfrm>
          <a:prstGeom prst="line">
            <a:avLst/>
          </a:prstGeom>
          <a:noFill/>
          <a:ln w="31750">
            <a:solidFill>
              <a:srgbClr val="E39A2F"/>
            </a:solidFill>
            <a:prstDash val="solid"/>
          </a:ln>
        </p:spPr>
      </p:sp>
      <p:sp>
        <p:nvSpPr>
          <p:cNvPr id="21" name="Shape 19"/>
          <p:cNvSpPr/>
          <p:nvPr/>
        </p:nvSpPr>
        <p:spPr>
          <a:xfrm>
            <a:off x="4958549" y="1803869"/>
            <a:ext cx="58192" cy="58192"/>
          </a:xfrm>
          <a:prstGeom prst="line">
            <a:avLst/>
          </a:prstGeom>
          <a:noFill/>
          <a:ln w="31750">
            <a:solidFill>
              <a:srgbClr val="E39A2F"/>
            </a:solidFill>
            <a:prstDash val="solid"/>
          </a:ln>
        </p:spPr>
      </p:sp>
      <p:sp>
        <p:nvSpPr>
          <p:cNvPr id="22" name="Shape 20"/>
          <p:cNvSpPr/>
          <p:nvPr/>
        </p:nvSpPr>
        <p:spPr>
          <a:xfrm>
            <a:off x="4818888" y="1861718"/>
            <a:ext cx="91" cy="82296"/>
          </a:xfrm>
          <a:prstGeom prst="line">
            <a:avLst/>
          </a:prstGeom>
          <a:noFill/>
          <a:ln w="31750">
            <a:solidFill>
              <a:srgbClr val="E39A2F"/>
            </a:solidFill>
            <a:prstDash val="solid"/>
          </a:ln>
        </p:spPr>
      </p:sp>
      <p:sp>
        <p:nvSpPr>
          <p:cNvPr id="23" name="Shape 21"/>
          <p:cNvSpPr/>
          <p:nvPr/>
        </p:nvSpPr>
        <p:spPr>
          <a:xfrm flipH="1">
            <a:off x="4621035" y="1803869"/>
            <a:ext cx="58192" cy="58192"/>
          </a:xfrm>
          <a:prstGeom prst="line">
            <a:avLst/>
          </a:prstGeom>
          <a:noFill/>
          <a:ln w="31750">
            <a:solidFill>
              <a:srgbClr val="E39A2F"/>
            </a:solidFill>
            <a:prstDash val="solid"/>
          </a:ln>
        </p:spPr>
      </p:sp>
      <p:sp>
        <p:nvSpPr>
          <p:cNvPr id="24" name="Shape 22"/>
          <p:cNvSpPr/>
          <p:nvPr/>
        </p:nvSpPr>
        <p:spPr>
          <a:xfrm flipH="1">
            <a:off x="4539082" y="1664208"/>
            <a:ext cx="82296" cy="91"/>
          </a:xfrm>
          <a:prstGeom prst="line">
            <a:avLst/>
          </a:prstGeom>
          <a:noFill/>
          <a:ln w="31750">
            <a:solidFill>
              <a:srgbClr val="E39A2F"/>
            </a:solidFill>
            <a:prstDash val="solid"/>
          </a:ln>
        </p:spPr>
      </p:sp>
      <p:sp>
        <p:nvSpPr>
          <p:cNvPr id="25" name="Shape 23"/>
          <p:cNvSpPr/>
          <p:nvPr/>
        </p:nvSpPr>
        <p:spPr>
          <a:xfrm flipH="1" flipV="1">
            <a:off x="4621035" y="1466355"/>
            <a:ext cx="58192" cy="58192"/>
          </a:xfrm>
          <a:prstGeom prst="line">
            <a:avLst/>
          </a:prstGeom>
          <a:noFill/>
          <a:ln w="31750">
            <a:solidFill>
              <a:srgbClr val="E39A2F"/>
            </a:solidFill>
            <a:prstDash val="solid"/>
          </a:ln>
        </p:spPr>
      </p:sp>
      <p:sp>
        <p:nvSpPr>
          <p:cNvPr id="26" name="Shape 24"/>
          <p:cNvSpPr/>
          <p:nvPr/>
        </p:nvSpPr>
        <p:spPr>
          <a:xfrm flipV="1">
            <a:off x="4818888" y="1384402"/>
            <a:ext cx="91" cy="82296"/>
          </a:xfrm>
          <a:prstGeom prst="line">
            <a:avLst/>
          </a:prstGeom>
          <a:noFill/>
          <a:ln w="31750">
            <a:solidFill>
              <a:srgbClr val="E39A2F"/>
            </a:solidFill>
            <a:prstDash val="solid"/>
          </a:ln>
        </p:spPr>
      </p:sp>
      <p:sp>
        <p:nvSpPr>
          <p:cNvPr id="27" name="Shape 25"/>
          <p:cNvSpPr/>
          <p:nvPr/>
        </p:nvSpPr>
        <p:spPr>
          <a:xfrm flipV="1">
            <a:off x="4958549" y="1466355"/>
            <a:ext cx="58192" cy="58192"/>
          </a:xfrm>
          <a:prstGeom prst="line">
            <a:avLst/>
          </a:prstGeom>
          <a:noFill/>
          <a:ln w="31750">
            <a:solidFill>
              <a:srgbClr val="E39A2F"/>
            </a:solidFill>
            <a:prstDash val="solid"/>
          </a:ln>
        </p:spPr>
      </p:sp>
      <p:sp>
        <p:nvSpPr>
          <p:cNvPr id="28" name="Shape 26"/>
          <p:cNvSpPr/>
          <p:nvPr/>
        </p:nvSpPr>
        <p:spPr>
          <a:xfrm>
            <a:off x="4654296" y="1499616"/>
            <a:ext cx="329184" cy="329184"/>
          </a:xfrm>
          <a:prstGeom prst="ellipse">
            <a:avLst/>
          </a:prstGeom>
          <a:solidFill>
            <a:srgbClr val="F5C342"/>
          </a:solidFill>
          <a:ln w="12700">
            <a:solidFill>
              <a:srgbClr val="E39A2F"/>
            </a:solidFill>
            <a:prstDash val="solid"/>
          </a:ln>
        </p:spPr>
      </p:sp>
      <p:sp>
        <p:nvSpPr>
          <p:cNvPr id="29" name="Text 27"/>
          <p:cNvSpPr/>
          <p:nvPr/>
        </p:nvSpPr>
        <p:spPr>
          <a:xfrm>
            <a:off x="5394960" y="1298448"/>
            <a:ext cx="2423160" cy="292608"/>
          </a:xfrm>
          <a:prstGeom prst="rect">
            <a:avLst/>
          </a:prstGeom>
          <a:noFill/>
          <a:ln/>
        </p:spPr>
        <p:txBody>
          <a:bodyPr wrap="square" lIns="0" tIns="0" rIns="0" bIns="0" rtlCol="0" anchor="ctr"/>
          <a:lstStyle/>
          <a:p>
            <a:pPr algn="l" indent="0" marL="0">
              <a:buNone/>
            </a:pPr>
            <a:r>
              <a:rPr lang="en-US" sz="1300" b="1" dirty="0">
                <a:solidFill>
                  <a:srgbClr val="1A2340"/>
                </a:solidFill>
                <a:latin typeface="Calibri" pitchFamily="34" charset="0"/>
                <a:ea typeface="Calibri" pitchFamily="34" charset="-122"/>
                <a:cs typeface="Calibri" pitchFamily="34" charset="-120"/>
              </a:rPr>
              <a:t>Solar (the Sun)</a:t>
            </a:r>
            <a:endParaRPr lang="en-US" sz="1300" dirty="0"/>
          </a:p>
        </p:txBody>
      </p:sp>
      <p:sp>
        <p:nvSpPr>
          <p:cNvPr id="30" name="Text 28"/>
          <p:cNvSpPr/>
          <p:nvPr/>
        </p:nvSpPr>
        <p:spPr>
          <a:xfrm>
            <a:off x="5394960" y="1600200"/>
            <a:ext cx="2377440" cy="685800"/>
          </a:xfrm>
          <a:prstGeom prst="rect">
            <a:avLst/>
          </a:prstGeom>
          <a:noFill/>
          <a:ln/>
        </p:spPr>
        <p:txBody>
          <a:bodyPr wrap="square" lIns="0" tIns="0" rIns="0" bIns="0" rtlCol="0" anchor="t"/>
          <a:lstStyle/>
          <a:p>
            <a:pPr indent="0" marL="0">
              <a:buNone/>
            </a:pPr>
            <a:r>
              <a:rPr lang="en-US" sz="1100" dirty="0">
                <a:solidFill>
                  <a:srgbClr val="262B3A"/>
                </a:solidFill>
                <a:latin typeface="Calibri" pitchFamily="34" charset="0"/>
                <a:ea typeface="Calibri" pitchFamily="34" charset="-122"/>
                <a:cs typeface="Calibri" pitchFamily="34" charset="-120"/>
              </a:rPr>
              <a:t>Solar cells transfer light energy electrically; solar panels heat water.</a:t>
            </a:r>
            <a:endParaRPr lang="en-US" sz="1100" dirty="0"/>
          </a:p>
        </p:txBody>
      </p:sp>
      <p:sp>
        <p:nvSpPr>
          <p:cNvPr id="31" name="Text 29"/>
          <p:cNvSpPr/>
          <p:nvPr/>
        </p:nvSpPr>
        <p:spPr>
          <a:xfrm>
            <a:off x="4389120" y="2331720"/>
            <a:ext cx="3383280"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No CO₂ • none at night, less in winter or when cloudy</a:t>
            </a:r>
            <a:endParaRPr lang="en-US" sz="1050" dirty="0"/>
          </a:p>
        </p:txBody>
      </p:sp>
      <p:sp>
        <p:nvSpPr>
          <p:cNvPr id="32" name="Shape 30"/>
          <p:cNvSpPr/>
          <p:nvPr/>
        </p:nvSpPr>
        <p:spPr>
          <a:xfrm>
            <a:off x="8092440" y="1188720"/>
            <a:ext cx="3657600" cy="2103120"/>
          </a:xfrm>
          <a:prstGeom prst="roundRect">
            <a:avLst>
              <a:gd name="adj" fmla="val 2609"/>
            </a:avLst>
          </a:prstGeom>
          <a:solidFill>
            <a:srgbClr val="F5F8FE"/>
          </a:solidFill>
          <a:ln w="9525">
            <a:solidFill>
              <a:srgbClr val="D5DCEB"/>
            </a:solidFill>
            <a:prstDash val="solid"/>
          </a:ln>
        </p:spPr>
      </p:sp>
      <p:sp>
        <p:nvSpPr>
          <p:cNvPr id="33" name="Shape 31"/>
          <p:cNvSpPr/>
          <p:nvPr/>
        </p:nvSpPr>
        <p:spPr>
          <a:xfrm>
            <a:off x="8202168" y="1298448"/>
            <a:ext cx="914400" cy="914400"/>
          </a:xfrm>
          <a:prstGeom prst="roundRect">
            <a:avLst>
              <a:gd name="adj" fmla="val 6000"/>
            </a:avLst>
          </a:prstGeom>
          <a:solidFill>
            <a:srgbClr val="FFFFFF"/>
          </a:solidFill>
          <a:ln w="6350">
            <a:solidFill>
              <a:srgbClr val="D5DCEB"/>
            </a:solidFill>
            <a:prstDash val="solid"/>
          </a:ln>
        </p:spPr>
      </p:sp>
      <p:sp>
        <p:nvSpPr>
          <p:cNvPr id="34" name="Shape 32"/>
          <p:cNvSpPr/>
          <p:nvPr/>
        </p:nvSpPr>
        <p:spPr>
          <a:xfrm>
            <a:off x="8293608" y="1563624"/>
            <a:ext cx="329184" cy="466344"/>
          </a:xfrm>
          <a:prstGeom prst="rect">
            <a:avLst/>
          </a:prstGeom>
          <a:solidFill>
            <a:srgbClr val="BFD9F2"/>
          </a:solidFill>
          <a:ln/>
        </p:spPr>
      </p:sp>
      <p:sp>
        <p:nvSpPr>
          <p:cNvPr id="35" name="Shape 33"/>
          <p:cNvSpPr/>
          <p:nvPr/>
        </p:nvSpPr>
        <p:spPr>
          <a:xfrm>
            <a:off x="8600846" y="1481328"/>
            <a:ext cx="219456" cy="548640"/>
          </a:xfrm>
          <a:prstGeom prst="trapezoid">
            <a:avLst/>
          </a:prstGeom>
          <a:solidFill>
            <a:srgbClr val="A9AFBB"/>
          </a:solidFill>
          <a:ln w="12700">
            <a:solidFill>
              <a:srgbClr val="6B7385"/>
            </a:solidFill>
            <a:prstDash val="solid"/>
          </a:ln>
        </p:spPr>
      </p:sp>
      <p:sp>
        <p:nvSpPr>
          <p:cNvPr id="36" name="Shape 34"/>
          <p:cNvSpPr/>
          <p:nvPr/>
        </p:nvSpPr>
        <p:spPr>
          <a:xfrm>
            <a:off x="8820302" y="1892808"/>
            <a:ext cx="204826" cy="137160"/>
          </a:xfrm>
          <a:prstGeom prst="rect">
            <a:avLst/>
          </a:prstGeom>
          <a:solidFill>
            <a:srgbClr val="BFD9F2"/>
          </a:solidFill>
          <a:ln/>
        </p:spPr>
      </p:sp>
      <p:sp>
        <p:nvSpPr>
          <p:cNvPr id="37" name="Text 35"/>
          <p:cNvSpPr/>
          <p:nvPr/>
        </p:nvSpPr>
        <p:spPr>
          <a:xfrm>
            <a:off x="9235440" y="1298448"/>
            <a:ext cx="2423160" cy="292608"/>
          </a:xfrm>
          <a:prstGeom prst="rect">
            <a:avLst/>
          </a:prstGeom>
          <a:noFill/>
          <a:ln/>
        </p:spPr>
        <p:txBody>
          <a:bodyPr wrap="square" lIns="0" tIns="0" rIns="0" bIns="0" rtlCol="0" anchor="ctr"/>
          <a:lstStyle/>
          <a:p>
            <a:pPr algn="l" indent="0" marL="0">
              <a:buNone/>
            </a:pPr>
            <a:r>
              <a:rPr lang="en-US" sz="1300" b="1" dirty="0">
                <a:solidFill>
                  <a:srgbClr val="1A2340"/>
                </a:solidFill>
                <a:latin typeface="Calibri" pitchFamily="34" charset="0"/>
                <a:ea typeface="Calibri" pitchFamily="34" charset="-122"/>
                <a:cs typeface="Calibri" pitchFamily="34" charset="-120"/>
              </a:rPr>
              <a:t>Hydro-electricity</a:t>
            </a:r>
            <a:endParaRPr lang="en-US" sz="1300" dirty="0"/>
          </a:p>
        </p:txBody>
      </p:sp>
      <p:sp>
        <p:nvSpPr>
          <p:cNvPr id="38" name="Text 36"/>
          <p:cNvSpPr/>
          <p:nvPr/>
        </p:nvSpPr>
        <p:spPr>
          <a:xfrm>
            <a:off x="9235440" y="1600200"/>
            <a:ext cx="2377440" cy="685800"/>
          </a:xfrm>
          <a:prstGeom prst="rect">
            <a:avLst/>
          </a:prstGeom>
          <a:noFill/>
          <a:ln/>
        </p:spPr>
        <p:txBody>
          <a:bodyPr wrap="square" lIns="0" tIns="0" rIns="0" bIns="0" rtlCol="0" anchor="t"/>
          <a:lstStyle/>
          <a:p>
            <a:pPr indent="0" marL="0">
              <a:buNone/>
            </a:pPr>
            <a:r>
              <a:rPr lang="en-US" sz="1100" dirty="0">
                <a:solidFill>
                  <a:srgbClr val="262B3A"/>
                </a:solidFill>
                <a:latin typeface="Calibri" pitchFamily="34" charset="0"/>
                <a:ea typeface="Calibri" pitchFamily="34" charset="-122"/>
                <a:cs typeface="Calibri" pitchFamily="34" charset="-120"/>
              </a:rPr>
              <a:t>Water stored behind a dam falls through turbines.</a:t>
            </a:r>
            <a:endParaRPr lang="en-US" sz="1100" dirty="0"/>
          </a:p>
        </p:txBody>
      </p:sp>
      <p:sp>
        <p:nvSpPr>
          <p:cNvPr id="39" name="Text 37"/>
          <p:cNvSpPr/>
          <p:nvPr/>
        </p:nvSpPr>
        <p:spPr>
          <a:xfrm>
            <a:off x="8229600" y="2331720"/>
            <a:ext cx="3383280"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Reliable, on demand • floods valleys, destroys habitats</a:t>
            </a:r>
            <a:endParaRPr lang="en-US" sz="1050" dirty="0"/>
          </a:p>
        </p:txBody>
      </p:sp>
      <p:sp>
        <p:nvSpPr>
          <p:cNvPr id="40" name="Shape 38"/>
          <p:cNvSpPr/>
          <p:nvPr/>
        </p:nvSpPr>
        <p:spPr>
          <a:xfrm>
            <a:off x="411480" y="3429000"/>
            <a:ext cx="3657600" cy="2103120"/>
          </a:xfrm>
          <a:prstGeom prst="roundRect">
            <a:avLst>
              <a:gd name="adj" fmla="val 2609"/>
            </a:avLst>
          </a:prstGeom>
          <a:solidFill>
            <a:srgbClr val="F5F8FE"/>
          </a:solidFill>
          <a:ln w="9525">
            <a:solidFill>
              <a:srgbClr val="D5DCEB"/>
            </a:solidFill>
            <a:prstDash val="solid"/>
          </a:ln>
        </p:spPr>
      </p:sp>
      <p:sp>
        <p:nvSpPr>
          <p:cNvPr id="41" name="Shape 39"/>
          <p:cNvSpPr/>
          <p:nvPr/>
        </p:nvSpPr>
        <p:spPr>
          <a:xfrm>
            <a:off x="521208" y="3538728"/>
            <a:ext cx="914400" cy="914400"/>
          </a:xfrm>
          <a:prstGeom prst="roundRect">
            <a:avLst>
              <a:gd name="adj" fmla="val 6000"/>
            </a:avLst>
          </a:prstGeom>
          <a:solidFill>
            <a:srgbClr val="FFFFFF"/>
          </a:solidFill>
          <a:ln w="6350">
            <a:solidFill>
              <a:srgbClr val="D5DCEB"/>
            </a:solidFill>
            <a:prstDash val="solid"/>
          </a:ln>
        </p:spPr>
      </p:sp>
      <p:sp>
        <p:nvSpPr>
          <p:cNvPr id="42" name="Shape 40"/>
          <p:cNvSpPr/>
          <p:nvPr/>
        </p:nvSpPr>
        <p:spPr>
          <a:xfrm>
            <a:off x="612648" y="3858768"/>
            <a:ext cx="182880" cy="182880"/>
          </a:xfrm>
          <a:prstGeom prst="arc">
            <a:avLst>
              <a:gd name="adj1" fmla="val 10800000"/>
              <a:gd name="adj2" fmla="val 21600000"/>
            </a:avLst>
          </a:prstGeom>
          <a:ln w="25400">
            <a:solidFill>
              <a:srgbClr val="5B9BD5"/>
            </a:solidFill>
            <a:prstDash val="solid"/>
          </a:ln>
        </p:spPr>
      </p:sp>
      <p:sp>
        <p:nvSpPr>
          <p:cNvPr id="43" name="Shape 41"/>
          <p:cNvSpPr/>
          <p:nvPr/>
        </p:nvSpPr>
        <p:spPr>
          <a:xfrm>
            <a:off x="795528" y="3858768"/>
            <a:ext cx="182880" cy="182880"/>
          </a:xfrm>
          <a:prstGeom prst="arc">
            <a:avLst>
              <a:gd name="adj1" fmla="val 10800000"/>
              <a:gd name="adj2" fmla="val 21600000"/>
            </a:avLst>
          </a:prstGeom>
          <a:ln w="25400">
            <a:solidFill>
              <a:srgbClr val="5B9BD5"/>
            </a:solidFill>
            <a:prstDash val="solid"/>
          </a:ln>
        </p:spPr>
      </p:sp>
      <p:sp>
        <p:nvSpPr>
          <p:cNvPr id="44" name="Shape 42"/>
          <p:cNvSpPr/>
          <p:nvPr/>
        </p:nvSpPr>
        <p:spPr>
          <a:xfrm>
            <a:off x="978408" y="3858768"/>
            <a:ext cx="182880" cy="182880"/>
          </a:xfrm>
          <a:prstGeom prst="arc">
            <a:avLst>
              <a:gd name="adj1" fmla="val 10800000"/>
              <a:gd name="adj2" fmla="val 21600000"/>
            </a:avLst>
          </a:prstGeom>
          <a:ln w="25400">
            <a:solidFill>
              <a:srgbClr val="5B9BD5"/>
            </a:solidFill>
            <a:prstDash val="solid"/>
          </a:ln>
        </p:spPr>
      </p:sp>
      <p:sp>
        <p:nvSpPr>
          <p:cNvPr id="45" name="Shape 43"/>
          <p:cNvSpPr/>
          <p:nvPr/>
        </p:nvSpPr>
        <p:spPr>
          <a:xfrm>
            <a:off x="1161288" y="3858768"/>
            <a:ext cx="182880" cy="182880"/>
          </a:xfrm>
          <a:prstGeom prst="arc">
            <a:avLst>
              <a:gd name="adj1" fmla="val 10800000"/>
              <a:gd name="adj2" fmla="val 21600000"/>
            </a:avLst>
          </a:prstGeom>
          <a:ln w="25400">
            <a:solidFill>
              <a:srgbClr val="5B9BD5"/>
            </a:solidFill>
            <a:prstDash val="solid"/>
          </a:ln>
        </p:spPr>
      </p:sp>
      <p:sp>
        <p:nvSpPr>
          <p:cNvPr id="46" name="Shape 44"/>
          <p:cNvSpPr/>
          <p:nvPr/>
        </p:nvSpPr>
        <p:spPr>
          <a:xfrm>
            <a:off x="612648" y="4023360"/>
            <a:ext cx="182880" cy="182880"/>
          </a:xfrm>
          <a:prstGeom prst="arc">
            <a:avLst>
              <a:gd name="adj1" fmla="val 10800000"/>
              <a:gd name="adj2" fmla="val 21600000"/>
            </a:avLst>
          </a:prstGeom>
          <a:ln w="25400">
            <a:solidFill>
              <a:srgbClr val="5B9BD5"/>
            </a:solidFill>
            <a:prstDash val="solid"/>
          </a:ln>
        </p:spPr>
      </p:sp>
      <p:sp>
        <p:nvSpPr>
          <p:cNvPr id="47" name="Shape 45"/>
          <p:cNvSpPr/>
          <p:nvPr/>
        </p:nvSpPr>
        <p:spPr>
          <a:xfrm>
            <a:off x="795528" y="4023360"/>
            <a:ext cx="182880" cy="182880"/>
          </a:xfrm>
          <a:prstGeom prst="arc">
            <a:avLst>
              <a:gd name="adj1" fmla="val 10800000"/>
              <a:gd name="adj2" fmla="val 21600000"/>
            </a:avLst>
          </a:prstGeom>
          <a:ln w="25400">
            <a:solidFill>
              <a:srgbClr val="5B9BD5"/>
            </a:solidFill>
            <a:prstDash val="solid"/>
          </a:ln>
        </p:spPr>
      </p:sp>
      <p:sp>
        <p:nvSpPr>
          <p:cNvPr id="48" name="Shape 46"/>
          <p:cNvSpPr/>
          <p:nvPr/>
        </p:nvSpPr>
        <p:spPr>
          <a:xfrm>
            <a:off x="978408" y="4023360"/>
            <a:ext cx="182880" cy="182880"/>
          </a:xfrm>
          <a:prstGeom prst="arc">
            <a:avLst>
              <a:gd name="adj1" fmla="val 10800000"/>
              <a:gd name="adj2" fmla="val 21600000"/>
            </a:avLst>
          </a:prstGeom>
          <a:ln w="25400">
            <a:solidFill>
              <a:srgbClr val="5B9BD5"/>
            </a:solidFill>
            <a:prstDash val="solid"/>
          </a:ln>
        </p:spPr>
      </p:sp>
      <p:sp>
        <p:nvSpPr>
          <p:cNvPr id="49" name="Shape 47"/>
          <p:cNvSpPr/>
          <p:nvPr/>
        </p:nvSpPr>
        <p:spPr>
          <a:xfrm>
            <a:off x="1161288" y="4023360"/>
            <a:ext cx="182880" cy="182880"/>
          </a:xfrm>
          <a:prstGeom prst="arc">
            <a:avLst>
              <a:gd name="adj1" fmla="val 10800000"/>
              <a:gd name="adj2" fmla="val 21600000"/>
            </a:avLst>
          </a:prstGeom>
          <a:ln w="25400">
            <a:solidFill>
              <a:srgbClr val="5B9BD5"/>
            </a:solidFill>
            <a:prstDash val="solid"/>
          </a:ln>
        </p:spPr>
      </p:sp>
      <p:sp>
        <p:nvSpPr>
          <p:cNvPr id="50" name="Text 48"/>
          <p:cNvSpPr/>
          <p:nvPr/>
        </p:nvSpPr>
        <p:spPr>
          <a:xfrm>
            <a:off x="1554480" y="3538728"/>
            <a:ext cx="2423160" cy="292608"/>
          </a:xfrm>
          <a:prstGeom prst="rect">
            <a:avLst/>
          </a:prstGeom>
          <a:noFill/>
          <a:ln/>
        </p:spPr>
        <p:txBody>
          <a:bodyPr wrap="square" lIns="0" tIns="0" rIns="0" bIns="0" rtlCol="0" anchor="ctr"/>
          <a:lstStyle/>
          <a:p>
            <a:pPr algn="l" indent="0" marL="0">
              <a:buNone/>
            </a:pPr>
            <a:r>
              <a:rPr lang="en-US" sz="1300" b="1" dirty="0">
                <a:solidFill>
                  <a:srgbClr val="1A2340"/>
                </a:solidFill>
                <a:latin typeface="Calibri" pitchFamily="34" charset="0"/>
                <a:ea typeface="Calibri" pitchFamily="34" charset="-122"/>
                <a:cs typeface="Calibri" pitchFamily="34" charset="-120"/>
              </a:rPr>
              <a:t>Tides</a:t>
            </a:r>
            <a:endParaRPr lang="en-US" sz="1300" dirty="0"/>
          </a:p>
        </p:txBody>
      </p:sp>
      <p:sp>
        <p:nvSpPr>
          <p:cNvPr id="51" name="Text 49"/>
          <p:cNvSpPr/>
          <p:nvPr/>
        </p:nvSpPr>
        <p:spPr>
          <a:xfrm>
            <a:off x="1554480" y="3840480"/>
            <a:ext cx="2377440" cy="685800"/>
          </a:xfrm>
          <a:prstGeom prst="rect">
            <a:avLst/>
          </a:prstGeom>
          <a:noFill/>
          <a:ln/>
        </p:spPr>
        <p:txBody>
          <a:bodyPr wrap="square" lIns="0" tIns="0" rIns="0" bIns="0" rtlCol="0" anchor="t"/>
          <a:lstStyle/>
          <a:p>
            <a:pPr indent="0" marL="0">
              <a:buNone/>
            </a:pPr>
            <a:r>
              <a:rPr lang="en-US" sz="1100" dirty="0">
                <a:solidFill>
                  <a:srgbClr val="262B3A"/>
                </a:solidFill>
                <a:latin typeface="Calibri" pitchFamily="34" charset="0"/>
                <a:ea typeface="Calibri" pitchFamily="34" charset="-122"/>
                <a:cs typeface="Calibri" pitchFamily="34" charset="-120"/>
              </a:rPr>
              <a:t>Tidal barrage traps water at high tide, releases it through turbines.</a:t>
            </a:r>
            <a:endParaRPr lang="en-US" sz="1100" dirty="0"/>
          </a:p>
        </p:txBody>
      </p:sp>
      <p:sp>
        <p:nvSpPr>
          <p:cNvPr id="52" name="Text 50"/>
          <p:cNvSpPr/>
          <p:nvPr/>
        </p:nvSpPr>
        <p:spPr>
          <a:xfrm>
            <a:off x="548640" y="4572000"/>
            <a:ext cx="3383280"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Predictable • few suitable sites; affects estuary wildlife</a:t>
            </a:r>
            <a:endParaRPr lang="en-US" sz="1050" dirty="0"/>
          </a:p>
        </p:txBody>
      </p:sp>
      <p:sp>
        <p:nvSpPr>
          <p:cNvPr id="53" name="Shape 51"/>
          <p:cNvSpPr/>
          <p:nvPr/>
        </p:nvSpPr>
        <p:spPr>
          <a:xfrm>
            <a:off x="4251960" y="3429000"/>
            <a:ext cx="3657600" cy="2103120"/>
          </a:xfrm>
          <a:prstGeom prst="roundRect">
            <a:avLst>
              <a:gd name="adj" fmla="val 2609"/>
            </a:avLst>
          </a:prstGeom>
          <a:solidFill>
            <a:srgbClr val="F5F8FE"/>
          </a:solidFill>
          <a:ln w="9525">
            <a:solidFill>
              <a:srgbClr val="D5DCEB"/>
            </a:solidFill>
            <a:prstDash val="solid"/>
          </a:ln>
        </p:spPr>
      </p:sp>
      <p:sp>
        <p:nvSpPr>
          <p:cNvPr id="54" name="Shape 52"/>
          <p:cNvSpPr/>
          <p:nvPr/>
        </p:nvSpPr>
        <p:spPr>
          <a:xfrm>
            <a:off x="4361688" y="3538728"/>
            <a:ext cx="914400" cy="914400"/>
          </a:xfrm>
          <a:prstGeom prst="roundRect">
            <a:avLst>
              <a:gd name="adj" fmla="val 6000"/>
            </a:avLst>
          </a:prstGeom>
          <a:solidFill>
            <a:srgbClr val="FFFFFF"/>
          </a:solidFill>
          <a:ln w="6350">
            <a:solidFill>
              <a:srgbClr val="D5DCEB"/>
            </a:solidFill>
            <a:prstDash val="solid"/>
          </a:ln>
        </p:spPr>
      </p:sp>
      <p:sp>
        <p:nvSpPr>
          <p:cNvPr id="55" name="Shape 53"/>
          <p:cNvSpPr/>
          <p:nvPr/>
        </p:nvSpPr>
        <p:spPr>
          <a:xfrm rot="-2100000">
            <a:off x="4567428" y="3824478"/>
            <a:ext cx="502920" cy="251460"/>
          </a:xfrm>
          <a:prstGeom prst="ellipse">
            <a:avLst/>
          </a:prstGeom>
          <a:solidFill>
            <a:srgbClr val="5FA35F"/>
          </a:solidFill>
          <a:ln w="12700">
            <a:solidFill>
              <a:srgbClr val="2E7D32"/>
            </a:solidFill>
            <a:prstDash val="solid"/>
          </a:ln>
        </p:spPr>
      </p:sp>
      <p:sp>
        <p:nvSpPr>
          <p:cNvPr id="56" name="Shape 54"/>
          <p:cNvSpPr/>
          <p:nvPr/>
        </p:nvSpPr>
        <p:spPr>
          <a:xfrm flipV="1">
            <a:off x="4567428" y="3824478"/>
            <a:ext cx="427482" cy="293370"/>
          </a:xfrm>
          <a:prstGeom prst="line">
            <a:avLst/>
          </a:prstGeom>
          <a:noFill/>
          <a:ln w="19050">
            <a:solidFill>
              <a:srgbClr val="2E7D32"/>
            </a:solidFill>
            <a:prstDash val="solid"/>
          </a:ln>
        </p:spPr>
      </p:sp>
      <p:sp>
        <p:nvSpPr>
          <p:cNvPr id="57" name="Text 55"/>
          <p:cNvSpPr/>
          <p:nvPr/>
        </p:nvSpPr>
        <p:spPr>
          <a:xfrm>
            <a:off x="5394960" y="3538728"/>
            <a:ext cx="2423160" cy="292608"/>
          </a:xfrm>
          <a:prstGeom prst="rect">
            <a:avLst/>
          </a:prstGeom>
          <a:noFill/>
          <a:ln/>
        </p:spPr>
        <p:txBody>
          <a:bodyPr wrap="square" lIns="0" tIns="0" rIns="0" bIns="0" rtlCol="0" anchor="ctr"/>
          <a:lstStyle/>
          <a:p>
            <a:pPr algn="l" indent="0" marL="0">
              <a:buNone/>
            </a:pPr>
            <a:r>
              <a:rPr lang="en-US" sz="1300" b="1" dirty="0">
                <a:solidFill>
                  <a:srgbClr val="1A2340"/>
                </a:solidFill>
                <a:latin typeface="Calibri" pitchFamily="34" charset="0"/>
                <a:ea typeface="Calibri" pitchFamily="34" charset="-122"/>
                <a:cs typeface="Calibri" pitchFamily="34" charset="-120"/>
              </a:rPr>
              <a:t>Bio-fuel</a:t>
            </a:r>
            <a:endParaRPr lang="en-US" sz="1300" dirty="0"/>
          </a:p>
        </p:txBody>
      </p:sp>
      <p:sp>
        <p:nvSpPr>
          <p:cNvPr id="58" name="Text 56"/>
          <p:cNvSpPr/>
          <p:nvPr/>
        </p:nvSpPr>
        <p:spPr>
          <a:xfrm>
            <a:off x="5394960" y="3840480"/>
            <a:ext cx="2377440" cy="685800"/>
          </a:xfrm>
          <a:prstGeom prst="rect">
            <a:avLst/>
          </a:prstGeom>
          <a:noFill/>
          <a:ln/>
        </p:spPr>
        <p:txBody>
          <a:bodyPr wrap="square" lIns="0" tIns="0" rIns="0" bIns="0" rtlCol="0" anchor="t"/>
          <a:lstStyle/>
          <a:p>
            <a:pPr indent="0" marL="0">
              <a:buNone/>
            </a:pPr>
            <a:r>
              <a:rPr lang="en-US" sz="1100" dirty="0">
                <a:solidFill>
                  <a:srgbClr val="262B3A"/>
                </a:solidFill>
                <a:latin typeface="Calibri" pitchFamily="34" charset="0"/>
                <a:ea typeface="Calibri" pitchFamily="34" charset="-122"/>
                <a:cs typeface="Calibri" pitchFamily="34" charset="-120"/>
              </a:rPr>
              <a:t>Fuel from plants or waste, burned like a fossil fuel.</a:t>
            </a:r>
            <a:endParaRPr lang="en-US" sz="1100" dirty="0"/>
          </a:p>
        </p:txBody>
      </p:sp>
      <p:sp>
        <p:nvSpPr>
          <p:cNvPr id="59" name="Text 57"/>
          <p:cNvSpPr/>
          <p:nvPr/>
        </p:nvSpPr>
        <p:spPr>
          <a:xfrm>
            <a:off x="4389120" y="4572000"/>
            <a:ext cx="3383280"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“Carbon neutral”: plants absorb CO₂ as they grow • uses farmland</a:t>
            </a:r>
            <a:endParaRPr lang="en-US" sz="1050" dirty="0"/>
          </a:p>
        </p:txBody>
      </p:sp>
      <p:sp>
        <p:nvSpPr>
          <p:cNvPr id="60" name="Shape 58"/>
          <p:cNvSpPr/>
          <p:nvPr/>
        </p:nvSpPr>
        <p:spPr>
          <a:xfrm>
            <a:off x="8092440" y="3429000"/>
            <a:ext cx="3657600" cy="2103120"/>
          </a:xfrm>
          <a:prstGeom prst="roundRect">
            <a:avLst>
              <a:gd name="adj" fmla="val 2609"/>
            </a:avLst>
          </a:prstGeom>
          <a:solidFill>
            <a:srgbClr val="FFF4E0"/>
          </a:solidFill>
          <a:ln w="9525">
            <a:solidFill>
              <a:srgbClr val="F1D9A8"/>
            </a:solidFill>
            <a:prstDash val="solid"/>
          </a:ln>
        </p:spPr>
      </p:sp>
      <p:sp>
        <p:nvSpPr>
          <p:cNvPr id="61" name="Shape 59"/>
          <p:cNvSpPr/>
          <p:nvPr/>
        </p:nvSpPr>
        <p:spPr>
          <a:xfrm>
            <a:off x="8202168" y="3538728"/>
            <a:ext cx="914400" cy="914400"/>
          </a:xfrm>
          <a:prstGeom prst="roundRect">
            <a:avLst>
              <a:gd name="adj" fmla="val 6000"/>
            </a:avLst>
          </a:prstGeom>
          <a:solidFill>
            <a:srgbClr val="FFFFFF"/>
          </a:solidFill>
          <a:ln w="6350">
            <a:solidFill>
              <a:srgbClr val="D5DCEB"/>
            </a:solidFill>
            <a:prstDash val="solid"/>
          </a:ln>
        </p:spPr>
      </p:sp>
      <p:sp>
        <p:nvSpPr>
          <p:cNvPr id="62" name="Shape 60"/>
          <p:cNvSpPr/>
          <p:nvPr/>
        </p:nvSpPr>
        <p:spPr>
          <a:xfrm>
            <a:off x="8339328" y="3767328"/>
            <a:ext cx="640080" cy="384048"/>
          </a:xfrm>
          <a:prstGeom prst="roundRect">
            <a:avLst>
              <a:gd name="adj" fmla="val 11905"/>
            </a:avLst>
          </a:prstGeom>
          <a:solidFill>
            <a:srgbClr val="1A2340"/>
          </a:solidFill>
          <a:ln/>
        </p:spPr>
      </p:sp>
      <p:sp>
        <p:nvSpPr>
          <p:cNvPr id="63" name="Text 61"/>
          <p:cNvSpPr/>
          <p:nvPr/>
        </p:nvSpPr>
        <p:spPr>
          <a:xfrm>
            <a:off x="8375904" y="3767328"/>
            <a:ext cx="566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UK</a:t>
            </a:r>
            <a:endParaRPr lang="en-US" sz="1100" dirty="0"/>
          </a:p>
        </p:txBody>
      </p:sp>
      <p:sp>
        <p:nvSpPr>
          <p:cNvPr id="64" name="Text 62"/>
          <p:cNvSpPr/>
          <p:nvPr/>
        </p:nvSpPr>
        <p:spPr>
          <a:xfrm>
            <a:off x="9235440" y="3538728"/>
            <a:ext cx="2423160" cy="292608"/>
          </a:xfrm>
          <a:prstGeom prst="rect">
            <a:avLst/>
          </a:prstGeom>
          <a:noFill/>
          <a:ln/>
        </p:spPr>
        <p:txBody>
          <a:bodyPr wrap="square" lIns="0" tIns="0" rIns="0" bIns="0" rtlCol="0" anchor="ctr"/>
          <a:lstStyle/>
          <a:p>
            <a:pPr algn="l" indent="0" marL="0">
              <a:buNone/>
            </a:pPr>
            <a:r>
              <a:rPr lang="en-US" sz="1300" b="1" dirty="0">
                <a:solidFill>
                  <a:srgbClr val="1A2340"/>
                </a:solidFill>
                <a:latin typeface="Calibri" pitchFamily="34" charset="0"/>
                <a:ea typeface="Calibri" pitchFamily="34" charset="-122"/>
                <a:cs typeface="Calibri" pitchFamily="34" charset="-120"/>
              </a:rPr>
              <a:t>Uses</a:t>
            </a:r>
            <a:endParaRPr lang="en-US" sz="1300" dirty="0"/>
          </a:p>
        </p:txBody>
      </p:sp>
      <p:sp>
        <p:nvSpPr>
          <p:cNvPr id="65" name="Text 63"/>
          <p:cNvSpPr/>
          <p:nvPr/>
        </p:nvSpPr>
        <p:spPr>
          <a:xfrm>
            <a:off x="9235440" y="3840480"/>
            <a:ext cx="2377440" cy="685800"/>
          </a:xfrm>
          <a:prstGeom prst="rect">
            <a:avLst/>
          </a:prstGeom>
          <a:noFill/>
          <a:ln/>
        </p:spPr>
        <p:txBody>
          <a:bodyPr wrap="square" lIns="0" tIns="0" rIns="0" bIns="0" rtlCol="0" anchor="t"/>
          <a:lstStyle/>
          <a:p>
            <a:pPr indent="0" marL="0">
              <a:buNone/>
            </a:pPr>
            <a:r>
              <a:rPr lang="en-US" sz="1100" dirty="0">
                <a:solidFill>
                  <a:srgbClr val="262B3A"/>
                </a:solidFill>
                <a:latin typeface="Calibri" pitchFamily="34" charset="0"/>
                <a:ea typeface="Calibri" pitchFamily="34" charset="-122"/>
                <a:cs typeface="Calibri" pitchFamily="34" charset="-120"/>
              </a:rPr>
              <a:t>Mostly to generate </a:t>
            </a:r>
            <a:r>
              <a:rPr lang="en-US" sz="1100" b="1" dirty="0">
                <a:solidFill>
                  <a:srgbClr val="262B3A"/>
                </a:solidFill>
                <a:latin typeface="Calibri" pitchFamily="34" charset="0"/>
                <a:ea typeface="Calibri" pitchFamily="34" charset="-122"/>
                <a:cs typeface="Calibri" pitchFamily="34" charset="-120"/>
              </a:rPr>
              <a:t>electricity</a:t>
            </a:r>
            <a:r>
              <a:rPr lang="en-US" sz="1100" dirty="0">
                <a:solidFill>
                  <a:srgbClr val="262B3A"/>
                </a:solidFill>
                <a:latin typeface="Calibri" pitchFamily="34" charset="0"/>
                <a:ea typeface="Calibri" pitchFamily="34" charset="-122"/>
                <a:cs typeface="Calibri" pitchFamily="34" charset="-120"/>
              </a:rPr>
              <a:t>; bio-fuels also for </a:t>
            </a:r>
            <a:r>
              <a:rPr lang="en-US" sz="1100" b="1" dirty="0">
                <a:solidFill>
                  <a:srgbClr val="262B3A"/>
                </a:solidFill>
                <a:latin typeface="Calibri" pitchFamily="34" charset="0"/>
                <a:ea typeface="Calibri" pitchFamily="34" charset="-122"/>
                <a:cs typeface="Calibri" pitchFamily="34" charset="-120"/>
              </a:rPr>
              <a:t>transport</a:t>
            </a:r>
            <a:r>
              <a:rPr lang="en-US" sz="1100" dirty="0">
                <a:solidFill>
                  <a:srgbClr val="262B3A"/>
                </a:solidFill>
                <a:latin typeface="Calibri" pitchFamily="34" charset="0"/>
                <a:ea typeface="Calibri" pitchFamily="34" charset="-122"/>
                <a:cs typeface="Calibri" pitchFamily="34" charset="-120"/>
              </a:rPr>
              <a:t>; solar for </a:t>
            </a:r>
            <a:r>
              <a:rPr lang="en-US" sz="1100" b="1" dirty="0">
                <a:solidFill>
                  <a:srgbClr val="262B3A"/>
                </a:solidFill>
                <a:latin typeface="Calibri" pitchFamily="34" charset="0"/>
                <a:ea typeface="Calibri" pitchFamily="34" charset="-122"/>
                <a:cs typeface="Calibri" pitchFamily="34" charset="-120"/>
              </a:rPr>
              <a:t>heating</a:t>
            </a:r>
            <a:r>
              <a:rPr lang="en-US" sz="1100" dirty="0">
                <a:solidFill>
                  <a:srgbClr val="262B3A"/>
                </a:solidFill>
                <a:latin typeface="Calibri" pitchFamily="34" charset="0"/>
                <a:ea typeface="Calibri" pitchFamily="34" charset="-122"/>
                <a:cs typeface="Calibri" pitchFamily="34" charset="-120"/>
              </a:rPr>
              <a:t> water.</a:t>
            </a:r>
            <a:endParaRPr lang="en-US" sz="1100" dirty="0"/>
          </a:p>
        </p:txBody>
      </p:sp>
      <p:sp>
        <p:nvSpPr>
          <p:cNvPr id="66" name="Text 64"/>
          <p:cNvSpPr/>
          <p:nvPr/>
        </p:nvSpPr>
        <p:spPr>
          <a:xfrm>
            <a:off x="8229600" y="4572000"/>
            <a:ext cx="3383280"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Renewables cannot yet meet all demand at every moment</a:t>
            </a:r>
            <a:endParaRPr lang="en-US" sz="1050" dirty="0"/>
          </a:p>
        </p:txBody>
      </p:sp>
      <p:sp>
        <p:nvSpPr>
          <p:cNvPr id="67" name="Shape 65"/>
          <p:cNvSpPr/>
          <p:nvPr/>
        </p:nvSpPr>
        <p:spPr>
          <a:xfrm>
            <a:off x="411480" y="5833872"/>
            <a:ext cx="11368735" cy="530352"/>
          </a:xfrm>
          <a:prstGeom prst="rect">
            <a:avLst/>
          </a:prstGeom>
          <a:solidFill>
            <a:srgbClr val="FFF4E0"/>
          </a:solidFill>
          <a:ln w="6350">
            <a:solidFill>
              <a:srgbClr val="F1D9A8"/>
            </a:solidFill>
            <a:prstDash val="solid"/>
          </a:ln>
        </p:spPr>
      </p:sp>
      <p:sp>
        <p:nvSpPr>
          <p:cNvPr id="68" name="Shape 66"/>
          <p:cNvSpPr/>
          <p:nvPr/>
        </p:nvSpPr>
        <p:spPr>
          <a:xfrm>
            <a:off x="411480" y="5833872"/>
            <a:ext cx="82296" cy="530352"/>
          </a:xfrm>
          <a:prstGeom prst="rect">
            <a:avLst/>
          </a:prstGeom>
          <a:solidFill>
            <a:srgbClr val="E39A2F"/>
          </a:solidFill>
          <a:ln w="12700">
            <a:solidFill>
              <a:srgbClr val="E39A2F"/>
            </a:solidFill>
            <a:prstDash val="solid"/>
          </a:ln>
        </p:spPr>
      </p:sp>
      <p:sp>
        <p:nvSpPr>
          <p:cNvPr id="69" name="Text 6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 country cannot rely only on wind and solar power to generate its electricity.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Comparing energy resources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3.13 • reliability, environmental impact and use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3.13  |  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11368735" cy="914400"/>
        </p:xfrm>
        <a:graphic>
          <a:graphicData uri="http://schemas.openxmlformats.org/drawingml/2006/table">
            <a:tbl>
              <a:tblPr/>
              <a:tblGrid>
                <a:gridCol w="1737360"/>
                <a:gridCol w="1188720"/>
                <a:gridCol w="1417320"/>
                <a:gridCol w="1783080"/>
                <a:gridCol w="3383280"/>
                <a:gridCol w="1858975"/>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Resource</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Renewable?</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Reliable?</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CO₂ when generating?</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Main environmental issue</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Main uses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512064">
                <a:tc>
                  <a:txBody>
                    <a:bodyPr/>
                    <a:lstStyle/>
                    <a:p>
                      <a:pPr indent="0" marL="0">
                        <a:buNone/>
                      </a:pPr>
                      <a:r>
                        <a:rPr lang="en-US" sz="1150" b="1" dirty="0">
                          <a:solidFill>
                            <a:srgbClr val="1A2340"/>
                          </a:solidFill>
                          <a:latin typeface="Calibri" pitchFamily="34" charset="0"/>
                          <a:ea typeface="Calibri" pitchFamily="34" charset="-122"/>
                          <a:cs typeface="Calibri" pitchFamily="34" charset="-120"/>
                        </a:rPr>
                        <a:t>Coal, oil, gas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C8414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C8414C"/>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CO₂ → climate change; SO₂ → acid rain; oil spills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Electricity, heating, transport</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12064">
                <a:tc>
                  <a:txBody>
                    <a:bodyPr/>
                    <a:lstStyle/>
                    <a:p>
                      <a:pPr indent="0" marL="0">
                        <a:buNone/>
                      </a:pPr>
                      <a:r>
                        <a:rPr lang="en-US" sz="1150" b="1" dirty="0">
                          <a:solidFill>
                            <a:srgbClr val="1A2340"/>
                          </a:solidFill>
                          <a:latin typeface="Calibri" pitchFamily="34" charset="0"/>
                          <a:ea typeface="Calibri" pitchFamily="34" charset="-122"/>
                          <a:cs typeface="Calibri" pitchFamily="34" charset="-120"/>
                        </a:rPr>
                        <a:t>Nuclear fuel</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b="1" dirty="0">
                          <a:solidFill>
                            <a:srgbClr val="C8414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Long-lived radioactive waste; accident risk</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Electricity</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rgbClr val="1A2340"/>
                          </a:solidFill>
                          <a:latin typeface="Calibri" pitchFamily="34" charset="0"/>
                          <a:ea typeface="Calibri" pitchFamily="34" charset="-122"/>
                          <a:cs typeface="Calibri" pitchFamily="34" charset="-120"/>
                        </a:rPr>
                        <a:t>Bio-fuel</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C8414C"/>
                          </a:solidFill>
                          <a:latin typeface="Calibri" pitchFamily="34" charset="0"/>
                          <a:ea typeface="Calibri" pitchFamily="34" charset="-122"/>
                          <a:cs typeface="Calibri" pitchFamily="34" charset="-120"/>
                        </a:rPr>
                        <a:t>Yes (but absorbed in growth)</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Land for crops, forests cleared</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Transport, electricity</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12064">
                <a:tc>
                  <a:txBody>
                    <a:bodyPr/>
                    <a:lstStyle/>
                    <a:p>
                      <a:pPr indent="0" marL="0">
                        <a:buNone/>
                      </a:pPr>
                      <a:r>
                        <a:rPr lang="en-US" sz="1150" b="1" dirty="0">
                          <a:solidFill>
                            <a:srgbClr val="1A2340"/>
                          </a:solidFill>
                          <a:latin typeface="Calibri" pitchFamily="34" charset="0"/>
                          <a:ea typeface="Calibri" pitchFamily="34" charset="-122"/>
                          <a:cs typeface="Calibri" pitchFamily="34" charset="-120"/>
                        </a:rPr>
                        <a:t>Wind</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b="1" dirty="0">
                          <a:solidFill>
                            <a:srgbClr val="C8414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Visual and noise impact; birds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Electricity</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rgbClr val="1A2340"/>
                          </a:solidFill>
                          <a:latin typeface="Calibri" pitchFamily="34" charset="0"/>
                          <a:ea typeface="Calibri" pitchFamily="34" charset="-122"/>
                          <a:cs typeface="Calibri" pitchFamily="34" charset="-120"/>
                        </a:rPr>
                        <a:t>Solar</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C8414C"/>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Land use for solar farms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Electricity, heating water</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12064">
                <a:tc>
                  <a:txBody>
                    <a:bodyPr/>
                    <a:lstStyle/>
                    <a:p>
                      <a:pPr indent="0" marL="0">
                        <a:buNone/>
                      </a:pPr>
                      <a:r>
                        <a:rPr lang="en-US" sz="1150" b="1" dirty="0">
                          <a:solidFill>
                            <a:srgbClr val="1A2340"/>
                          </a:solidFill>
                          <a:latin typeface="Calibri" pitchFamily="34" charset="0"/>
                          <a:ea typeface="Calibri" pitchFamily="34" charset="-122"/>
                          <a:cs typeface="Calibri" pitchFamily="34" charset="-120"/>
                        </a:rPr>
                        <a:t>Hydro-electricity</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Flooded valleys; habitats lost</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Electricity</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rgbClr val="1A2340"/>
                          </a:solidFill>
                          <a:latin typeface="Calibri" pitchFamily="34" charset="0"/>
                          <a:ea typeface="Calibri" pitchFamily="34" charset="-122"/>
                          <a:cs typeface="Calibri" pitchFamily="34" charset="-120"/>
                        </a:rPr>
                        <a:t>Tides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Yes (predictable)</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b="1" dirty="0">
                          <a:solidFill>
                            <a:srgbClr val="2E8B57"/>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Estuary habitats changed</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150" dirty="0">
                          <a:solidFill>
                            <a:srgbClr val="262B3A"/>
                          </a:solidFill>
                          <a:latin typeface="Calibri" pitchFamily="34" charset="0"/>
                          <a:ea typeface="Calibri" pitchFamily="34" charset="-122"/>
                          <a:cs typeface="Calibri" pitchFamily="34" charset="-120"/>
                        </a:rPr>
                        <a:t>Electricity</a:t>
                      </a:r>
                      <a:endParaRPr lang="en-US" sz="11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table: name one resource that is renewable AND reliable, and one that is reliable but releases CO₂. Suggest why the UK still uses gas.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Patterns and trends in energy use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3.14 • how the UK generates its electricity has changed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3.14  |  30</a:t>
            </a:r>
            <a:endParaRPr lang="en-US" sz="1000" dirty="0"/>
          </a:p>
        </p:txBody>
      </p:sp>
      <p:sp>
        <p:nvSpPr>
          <p:cNvPr id="8" name="Shape 6"/>
          <p:cNvSpPr/>
          <p:nvPr/>
        </p:nvSpPr>
        <p:spPr>
          <a:xfrm>
            <a:off x="411480" y="1188720"/>
            <a:ext cx="60350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ILLUSTRATIVE approximate data, rounded: share of UK electricity generation</a:t>
            </a:r>
            <a:endParaRPr lang="en-US" sz="1000" dirty="0"/>
          </a:p>
        </p:txBody>
      </p:sp>
      <p:sp>
        <p:nvSpPr>
          <p:cNvPr id="10" name="Shape 8"/>
          <p:cNvSpPr/>
          <p:nvPr/>
        </p:nvSpPr>
        <p:spPr>
          <a:xfrm>
            <a:off x="1133856" y="4709160"/>
            <a:ext cx="4005072" cy="91"/>
          </a:xfrm>
          <a:prstGeom prst="line">
            <a:avLst/>
          </a:prstGeom>
          <a:noFill/>
          <a:ln w="19050">
            <a:solidFill>
              <a:srgbClr val="1A2340"/>
            </a:solidFill>
            <a:prstDash val="solid"/>
          </a:ln>
        </p:spPr>
      </p:sp>
      <p:sp>
        <p:nvSpPr>
          <p:cNvPr id="11" name="Text 9"/>
          <p:cNvSpPr/>
          <p:nvPr/>
        </p:nvSpPr>
        <p:spPr>
          <a:xfrm>
            <a:off x="731520"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2" name="Shape 10"/>
          <p:cNvSpPr/>
          <p:nvPr/>
        </p:nvSpPr>
        <p:spPr>
          <a:xfrm>
            <a:off x="1133856" y="4087368"/>
            <a:ext cx="4005072" cy="91"/>
          </a:xfrm>
          <a:prstGeom prst="line">
            <a:avLst/>
          </a:prstGeom>
          <a:noFill/>
          <a:ln w="6350">
            <a:solidFill>
              <a:srgbClr val="E6EBF4"/>
            </a:solidFill>
            <a:prstDash val="solid"/>
          </a:ln>
        </p:spPr>
      </p:sp>
      <p:sp>
        <p:nvSpPr>
          <p:cNvPr id="13" name="Text 11"/>
          <p:cNvSpPr/>
          <p:nvPr/>
        </p:nvSpPr>
        <p:spPr>
          <a:xfrm>
            <a:off x="731520" y="399592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14" name="Shape 12"/>
          <p:cNvSpPr/>
          <p:nvPr/>
        </p:nvSpPr>
        <p:spPr>
          <a:xfrm>
            <a:off x="1133856" y="3465576"/>
            <a:ext cx="4005072" cy="91"/>
          </a:xfrm>
          <a:prstGeom prst="line">
            <a:avLst/>
          </a:prstGeom>
          <a:noFill/>
          <a:ln w="6350">
            <a:solidFill>
              <a:srgbClr val="E6EBF4"/>
            </a:solidFill>
            <a:prstDash val="solid"/>
          </a:ln>
        </p:spPr>
      </p:sp>
      <p:sp>
        <p:nvSpPr>
          <p:cNvPr id="15" name="Text 13"/>
          <p:cNvSpPr/>
          <p:nvPr/>
        </p:nvSpPr>
        <p:spPr>
          <a:xfrm>
            <a:off x="731520" y="337413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16" name="Shape 14"/>
          <p:cNvSpPr/>
          <p:nvPr/>
        </p:nvSpPr>
        <p:spPr>
          <a:xfrm>
            <a:off x="1133856" y="2843784"/>
            <a:ext cx="4005072" cy="91"/>
          </a:xfrm>
          <a:prstGeom prst="line">
            <a:avLst/>
          </a:prstGeom>
          <a:noFill/>
          <a:ln w="6350">
            <a:solidFill>
              <a:srgbClr val="E6EBF4"/>
            </a:solidFill>
            <a:prstDash val="solid"/>
          </a:ln>
        </p:spPr>
      </p:sp>
      <p:sp>
        <p:nvSpPr>
          <p:cNvPr id="17" name="Text 15"/>
          <p:cNvSpPr/>
          <p:nvPr/>
        </p:nvSpPr>
        <p:spPr>
          <a:xfrm>
            <a:off x="731520" y="275234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18" name="Shape 16"/>
          <p:cNvSpPr/>
          <p:nvPr/>
        </p:nvSpPr>
        <p:spPr>
          <a:xfrm>
            <a:off x="1133856" y="2221992"/>
            <a:ext cx="4005072" cy="91"/>
          </a:xfrm>
          <a:prstGeom prst="line">
            <a:avLst/>
          </a:prstGeom>
          <a:noFill/>
          <a:ln w="6350">
            <a:solidFill>
              <a:srgbClr val="E6EBF4"/>
            </a:solidFill>
            <a:prstDash val="solid"/>
          </a:ln>
        </p:spPr>
      </p:sp>
      <p:sp>
        <p:nvSpPr>
          <p:cNvPr id="19" name="Text 17"/>
          <p:cNvSpPr/>
          <p:nvPr/>
        </p:nvSpPr>
        <p:spPr>
          <a:xfrm>
            <a:off x="731520" y="213055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20" name="Shape 18"/>
          <p:cNvSpPr/>
          <p:nvPr/>
        </p:nvSpPr>
        <p:spPr>
          <a:xfrm>
            <a:off x="1133856" y="1600200"/>
            <a:ext cx="4005072" cy="91"/>
          </a:xfrm>
          <a:prstGeom prst="line">
            <a:avLst/>
          </a:prstGeom>
          <a:noFill/>
          <a:ln w="6350">
            <a:solidFill>
              <a:srgbClr val="E6EBF4"/>
            </a:solidFill>
            <a:prstDash val="solid"/>
          </a:ln>
        </p:spPr>
      </p:sp>
      <p:sp>
        <p:nvSpPr>
          <p:cNvPr id="21" name="Text 19"/>
          <p:cNvSpPr/>
          <p:nvPr/>
        </p:nvSpPr>
        <p:spPr>
          <a:xfrm>
            <a:off x="731520" y="1508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22" name="Shape 20"/>
          <p:cNvSpPr/>
          <p:nvPr/>
        </p:nvSpPr>
        <p:spPr>
          <a:xfrm flipV="1">
            <a:off x="1188720" y="1600200"/>
            <a:ext cx="91" cy="3108960"/>
          </a:xfrm>
          <a:prstGeom prst="line">
            <a:avLst/>
          </a:prstGeom>
          <a:noFill/>
          <a:ln w="19050">
            <a:solidFill>
              <a:srgbClr val="1A2340"/>
            </a:solidFill>
            <a:prstDash val="solid"/>
          </a:ln>
        </p:spPr>
      </p:sp>
      <p:sp>
        <p:nvSpPr>
          <p:cNvPr id="23" name="Text 21"/>
          <p:cNvSpPr/>
          <p:nvPr/>
        </p:nvSpPr>
        <p:spPr>
          <a:xfrm rot="16200000">
            <a:off x="-896112" y="3026664"/>
            <a:ext cx="3108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share of electricity / %</a:t>
            </a:r>
            <a:endParaRPr lang="en-US" sz="1050" dirty="0"/>
          </a:p>
        </p:txBody>
      </p:sp>
      <p:sp>
        <p:nvSpPr>
          <p:cNvPr id="24" name="Shape 22"/>
          <p:cNvSpPr/>
          <p:nvPr/>
        </p:nvSpPr>
        <p:spPr>
          <a:xfrm>
            <a:off x="1325880" y="3714293"/>
            <a:ext cx="457200" cy="994867"/>
          </a:xfrm>
          <a:prstGeom prst="rect">
            <a:avLst/>
          </a:prstGeom>
          <a:solidFill>
            <a:srgbClr val="4A4A4A"/>
          </a:solidFill>
          <a:ln w="6350">
            <a:solidFill>
              <a:srgbClr val="FFFFFF"/>
            </a:solidFill>
            <a:prstDash val="solid"/>
          </a:ln>
        </p:spPr>
      </p:sp>
      <p:sp>
        <p:nvSpPr>
          <p:cNvPr id="25" name="Text 23"/>
          <p:cNvSpPr/>
          <p:nvPr/>
        </p:nvSpPr>
        <p:spPr>
          <a:xfrm>
            <a:off x="1325880" y="3714293"/>
            <a:ext cx="457200" cy="99486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32</a:t>
            </a:r>
            <a:endParaRPr lang="en-US" sz="1000" dirty="0"/>
          </a:p>
        </p:txBody>
      </p:sp>
      <p:sp>
        <p:nvSpPr>
          <p:cNvPr id="26" name="Shape 24"/>
          <p:cNvSpPr/>
          <p:nvPr/>
        </p:nvSpPr>
        <p:spPr>
          <a:xfrm>
            <a:off x="1325880" y="2501798"/>
            <a:ext cx="457200" cy="1212494"/>
          </a:xfrm>
          <a:prstGeom prst="rect">
            <a:avLst/>
          </a:prstGeom>
          <a:solidFill>
            <a:srgbClr val="E39A2F"/>
          </a:solidFill>
          <a:ln w="6350">
            <a:solidFill>
              <a:srgbClr val="FFFFFF"/>
            </a:solidFill>
            <a:prstDash val="solid"/>
          </a:ln>
        </p:spPr>
      </p:sp>
      <p:sp>
        <p:nvSpPr>
          <p:cNvPr id="27" name="Text 25"/>
          <p:cNvSpPr/>
          <p:nvPr/>
        </p:nvSpPr>
        <p:spPr>
          <a:xfrm>
            <a:off x="1325880" y="2501798"/>
            <a:ext cx="457200" cy="121249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39</a:t>
            </a:r>
            <a:endParaRPr lang="en-US" sz="1000" dirty="0"/>
          </a:p>
        </p:txBody>
      </p:sp>
      <p:sp>
        <p:nvSpPr>
          <p:cNvPr id="28" name="Shape 26"/>
          <p:cNvSpPr/>
          <p:nvPr/>
        </p:nvSpPr>
        <p:spPr>
          <a:xfrm>
            <a:off x="1325880" y="1786738"/>
            <a:ext cx="457200" cy="715061"/>
          </a:xfrm>
          <a:prstGeom prst="rect">
            <a:avLst/>
          </a:prstGeom>
          <a:solidFill>
            <a:srgbClr val="7B4FB8"/>
          </a:solidFill>
          <a:ln w="6350">
            <a:solidFill>
              <a:srgbClr val="FFFFFF"/>
            </a:solidFill>
            <a:prstDash val="solid"/>
          </a:ln>
        </p:spPr>
      </p:sp>
      <p:sp>
        <p:nvSpPr>
          <p:cNvPr id="29" name="Text 27"/>
          <p:cNvSpPr/>
          <p:nvPr/>
        </p:nvSpPr>
        <p:spPr>
          <a:xfrm>
            <a:off x="1325880" y="1786738"/>
            <a:ext cx="457200" cy="715061"/>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23</a:t>
            </a:r>
            <a:endParaRPr lang="en-US" sz="1000" dirty="0"/>
          </a:p>
        </p:txBody>
      </p:sp>
      <p:sp>
        <p:nvSpPr>
          <p:cNvPr id="30" name="Shape 28"/>
          <p:cNvSpPr/>
          <p:nvPr/>
        </p:nvSpPr>
        <p:spPr>
          <a:xfrm>
            <a:off x="1325880" y="1693469"/>
            <a:ext cx="457200" cy="93269"/>
          </a:xfrm>
          <a:prstGeom prst="rect">
            <a:avLst/>
          </a:prstGeom>
          <a:solidFill>
            <a:srgbClr val="2E8B57"/>
          </a:solidFill>
          <a:ln w="6350">
            <a:solidFill>
              <a:srgbClr val="FFFFFF"/>
            </a:solidFill>
            <a:prstDash val="solid"/>
          </a:ln>
        </p:spPr>
      </p:sp>
      <p:sp>
        <p:nvSpPr>
          <p:cNvPr id="31" name="Shape 29"/>
          <p:cNvSpPr/>
          <p:nvPr/>
        </p:nvSpPr>
        <p:spPr>
          <a:xfrm>
            <a:off x="1325880" y="1600200"/>
            <a:ext cx="457200" cy="93269"/>
          </a:xfrm>
          <a:prstGeom prst="rect">
            <a:avLst/>
          </a:prstGeom>
          <a:solidFill>
            <a:srgbClr val="A9AFBB"/>
          </a:solidFill>
          <a:ln w="6350">
            <a:solidFill>
              <a:srgbClr val="FFFFFF"/>
            </a:solidFill>
            <a:prstDash val="solid"/>
          </a:ln>
        </p:spPr>
      </p:sp>
      <p:sp>
        <p:nvSpPr>
          <p:cNvPr id="32" name="Text 30"/>
          <p:cNvSpPr/>
          <p:nvPr/>
        </p:nvSpPr>
        <p:spPr>
          <a:xfrm>
            <a:off x="1234440" y="4754880"/>
            <a:ext cx="64008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2000</a:t>
            </a:r>
            <a:endParaRPr lang="en-US" sz="1000" dirty="0"/>
          </a:p>
        </p:txBody>
      </p:sp>
      <p:sp>
        <p:nvSpPr>
          <p:cNvPr id="33" name="Shape 31"/>
          <p:cNvSpPr/>
          <p:nvPr/>
        </p:nvSpPr>
        <p:spPr>
          <a:xfrm>
            <a:off x="1984248" y="3652114"/>
            <a:ext cx="457200" cy="1057046"/>
          </a:xfrm>
          <a:prstGeom prst="rect">
            <a:avLst/>
          </a:prstGeom>
          <a:solidFill>
            <a:srgbClr val="4A4A4A"/>
          </a:solidFill>
          <a:ln w="6350">
            <a:solidFill>
              <a:srgbClr val="FFFFFF"/>
            </a:solidFill>
            <a:prstDash val="solid"/>
          </a:ln>
        </p:spPr>
      </p:sp>
      <p:sp>
        <p:nvSpPr>
          <p:cNvPr id="34" name="Text 32"/>
          <p:cNvSpPr/>
          <p:nvPr/>
        </p:nvSpPr>
        <p:spPr>
          <a:xfrm>
            <a:off x="1984248" y="3652114"/>
            <a:ext cx="457200" cy="105704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34</a:t>
            </a:r>
            <a:endParaRPr lang="en-US" sz="1000" dirty="0"/>
          </a:p>
        </p:txBody>
      </p:sp>
      <p:sp>
        <p:nvSpPr>
          <p:cNvPr id="35" name="Shape 33"/>
          <p:cNvSpPr/>
          <p:nvPr/>
        </p:nvSpPr>
        <p:spPr>
          <a:xfrm>
            <a:off x="1984248" y="2470709"/>
            <a:ext cx="457200" cy="1181405"/>
          </a:xfrm>
          <a:prstGeom prst="rect">
            <a:avLst/>
          </a:prstGeom>
          <a:solidFill>
            <a:srgbClr val="E39A2F"/>
          </a:solidFill>
          <a:ln w="6350">
            <a:solidFill>
              <a:srgbClr val="FFFFFF"/>
            </a:solidFill>
            <a:prstDash val="solid"/>
          </a:ln>
        </p:spPr>
      </p:sp>
      <p:sp>
        <p:nvSpPr>
          <p:cNvPr id="36" name="Text 34"/>
          <p:cNvSpPr/>
          <p:nvPr/>
        </p:nvSpPr>
        <p:spPr>
          <a:xfrm>
            <a:off x="1984248" y="2470709"/>
            <a:ext cx="457200" cy="1181405"/>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38</a:t>
            </a:r>
            <a:endParaRPr lang="en-US" sz="1000" dirty="0"/>
          </a:p>
        </p:txBody>
      </p:sp>
      <p:sp>
        <p:nvSpPr>
          <p:cNvPr id="37" name="Shape 35"/>
          <p:cNvSpPr/>
          <p:nvPr/>
        </p:nvSpPr>
        <p:spPr>
          <a:xfrm>
            <a:off x="1984248" y="1848917"/>
            <a:ext cx="457200" cy="621792"/>
          </a:xfrm>
          <a:prstGeom prst="rect">
            <a:avLst/>
          </a:prstGeom>
          <a:solidFill>
            <a:srgbClr val="7B4FB8"/>
          </a:solidFill>
          <a:ln w="6350">
            <a:solidFill>
              <a:srgbClr val="FFFFFF"/>
            </a:solidFill>
            <a:prstDash val="solid"/>
          </a:ln>
        </p:spPr>
      </p:sp>
      <p:sp>
        <p:nvSpPr>
          <p:cNvPr id="38" name="Text 36"/>
          <p:cNvSpPr/>
          <p:nvPr/>
        </p:nvSpPr>
        <p:spPr>
          <a:xfrm>
            <a:off x="1984248" y="1848917"/>
            <a:ext cx="457200" cy="62179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a:t>
            </a:r>
            <a:endParaRPr lang="en-US" sz="1000" dirty="0"/>
          </a:p>
        </p:txBody>
      </p:sp>
      <p:sp>
        <p:nvSpPr>
          <p:cNvPr id="39" name="Shape 37"/>
          <p:cNvSpPr/>
          <p:nvPr/>
        </p:nvSpPr>
        <p:spPr>
          <a:xfrm>
            <a:off x="1984248" y="1724558"/>
            <a:ext cx="457200" cy="124358"/>
          </a:xfrm>
          <a:prstGeom prst="rect">
            <a:avLst/>
          </a:prstGeom>
          <a:solidFill>
            <a:srgbClr val="2E8B57"/>
          </a:solidFill>
          <a:ln w="6350">
            <a:solidFill>
              <a:srgbClr val="FFFFFF"/>
            </a:solidFill>
            <a:prstDash val="solid"/>
          </a:ln>
        </p:spPr>
      </p:sp>
      <p:sp>
        <p:nvSpPr>
          <p:cNvPr id="40" name="Shape 38"/>
          <p:cNvSpPr/>
          <p:nvPr/>
        </p:nvSpPr>
        <p:spPr>
          <a:xfrm>
            <a:off x="1984248" y="1600200"/>
            <a:ext cx="457200" cy="124358"/>
          </a:xfrm>
          <a:prstGeom prst="rect">
            <a:avLst/>
          </a:prstGeom>
          <a:solidFill>
            <a:srgbClr val="A9AFBB"/>
          </a:solidFill>
          <a:ln w="6350">
            <a:solidFill>
              <a:srgbClr val="FFFFFF"/>
            </a:solidFill>
            <a:prstDash val="solid"/>
          </a:ln>
        </p:spPr>
      </p:sp>
      <p:sp>
        <p:nvSpPr>
          <p:cNvPr id="41" name="Text 39"/>
          <p:cNvSpPr/>
          <p:nvPr/>
        </p:nvSpPr>
        <p:spPr>
          <a:xfrm>
            <a:off x="1892808" y="4754880"/>
            <a:ext cx="64008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2005</a:t>
            </a:r>
            <a:endParaRPr lang="en-US" sz="1000" dirty="0"/>
          </a:p>
        </p:txBody>
      </p:sp>
      <p:sp>
        <p:nvSpPr>
          <p:cNvPr id="42" name="Shape 40"/>
          <p:cNvSpPr/>
          <p:nvPr/>
        </p:nvSpPr>
        <p:spPr>
          <a:xfrm>
            <a:off x="2642616" y="3838651"/>
            <a:ext cx="457200" cy="870509"/>
          </a:xfrm>
          <a:prstGeom prst="rect">
            <a:avLst/>
          </a:prstGeom>
          <a:solidFill>
            <a:srgbClr val="4A4A4A"/>
          </a:solidFill>
          <a:ln w="6350">
            <a:solidFill>
              <a:srgbClr val="FFFFFF"/>
            </a:solidFill>
            <a:prstDash val="solid"/>
          </a:ln>
        </p:spPr>
      </p:sp>
      <p:sp>
        <p:nvSpPr>
          <p:cNvPr id="43" name="Text 41"/>
          <p:cNvSpPr/>
          <p:nvPr/>
        </p:nvSpPr>
        <p:spPr>
          <a:xfrm>
            <a:off x="2642616" y="3838651"/>
            <a:ext cx="457200" cy="870509"/>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28</a:t>
            </a:r>
            <a:endParaRPr lang="en-US" sz="1000" dirty="0"/>
          </a:p>
        </p:txBody>
      </p:sp>
      <p:sp>
        <p:nvSpPr>
          <p:cNvPr id="44" name="Shape 42"/>
          <p:cNvSpPr/>
          <p:nvPr/>
        </p:nvSpPr>
        <p:spPr>
          <a:xfrm>
            <a:off x="2642616" y="2408530"/>
            <a:ext cx="457200" cy="1430122"/>
          </a:xfrm>
          <a:prstGeom prst="rect">
            <a:avLst/>
          </a:prstGeom>
          <a:solidFill>
            <a:srgbClr val="E39A2F"/>
          </a:solidFill>
          <a:ln w="6350">
            <a:solidFill>
              <a:srgbClr val="FFFFFF"/>
            </a:solidFill>
            <a:prstDash val="solid"/>
          </a:ln>
        </p:spPr>
      </p:sp>
      <p:sp>
        <p:nvSpPr>
          <p:cNvPr id="45" name="Text 43"/>
          <p:cNvSpPr/>
          <p:nvPr/>
        </p:nvSpPr>
        <p:spPr>
          <a:xfrm>
            <a:off x="2642616" y="2408530"/>
            <a:ext cx="457200" cy="143012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46</a:t>
            </a:r>
            <a:endParaRPr lang="en-US" sz="1000" dirty="0"/>
          </a:p>
        </p:txBody>
      </p:sp>
      <p:sp>
        <p:nvSpPr>
          <p:cNvPr id="46" name="Shape 44"/>
          <p:cNvSpPr/>
          <p:nvPr/>
        </p:nvSpPr>
        <p:spPr>
          <a:xfrm>
            <a:off x="2642616" y="1911096"/>
            <a:ext cx="457200" cy="497434"/>
          </a:xfrm>
          <a:prstGeom prst="rect">
            <a:avLst/>
          </a:prstGeom>
          <a:solidFill>
            <a:srgbClr val="7B4FB8"/>
          </a:solidFill>
          <a:ln w="6350">
            <a:solidFill>
              <a:srgbClr val="FFFFFF"/>
            </a:solidFill>
            <a:prstDash val="solid"/>
          </a:ln>
        </p:spPr>
      </p:sp>
      <p:sp>
        <p:nvSpPr>
          <p:cNvPr id="47" name="Text 45"/>
          <p:cNvSpPr/>
          <p:nvPr/>
        </p:nvSpPr>
        <p:spPr>
          <a:xfrm>
            <a:off x="2642616" y="1911096"/>
            <a:ext cx="457200" cy="49743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48" name="Shape 46"/>
          <p:cNvSpPr/>
          <p:nvPr/>
        </p:nvSpPr>
        <p:spPr>
          <a:xfrm>
            <a:off x="2642616" y="1693469"/>
            <a:ext cx="457200" cy="217627"/>
          </a:xfrm>
          <a:prstGeom prst="rect">
            <a:avLst/>
          </a:prstGeom>
          <a:solidFill>
            <a:srgbClr val="2E8B57"/>
          </a:solidFill>
          <a:ln w="6350">
            <a:solidFill>
              <a:srgbClr val="FFFFFF"/>
            </a:solidFill>
            <a:prstDash val="solid"/>
          </a:ln>
        </p:spPr>
      </p:sp>
      <p:sp>
        <p:nvSpPr>
          <p:cNvPr id="49" name="Shape 47"/>
          <p:cNvSpPr/>
          <p:nvPr/>
        </p:nvSpPr>
        <p:spPr>
          <a:xfrm>
            <a:off x="2642616" y="1600200"/>
            <a:ext cx="457200" cy="93269"/>
          </a:xfrm>
          <a:prstGeom prst="rect">
            <a:avLst/>
          </a:prstGeom>
          <a:solidFill>
            <a:srgbClr val="A9AFBB"/>
          </a:solidFill>
          <a:ln w="6350">
            <a:solidFill>
              <a:srgbClr val="FFFFFF"/>
            </a:solidFill>
            <a:prstDash val="solid"/>
          </a:ln>
        </p:spPr>
      </p:sp>
      <p:sp>
        <p:nvSpPr>
          <p:cNvPr id="50" name="Text 48"/>
          <p:cNvSpPr/>
          <p:nvPr/>
        </p:nvSpPr>
        <p:spPr>
          <a:xfrm>
            <a:off x="2551176" y="4754880"/>
            <a:ext cx="64008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2010</a:t>
            </a:r>
            <a:endParaRPr lang="en-US" sz="1000" dirty="0"/>
          </a:p>
        </p:txBody>
      </p:sp>
      <p:sp>
        <p:nvSpPr>
          <p:cNvPr id="51" name="Shape 49"/>
          <p:cNvSpPr/>
          <p:nvPr/>
        </p:nvSpPr>
        <p:spPr>
          <a:xfrm>
            <a:off x="3300984" y="4025189"/>
            <a:ext cx="457200" cy="683971"/>
          </a:xfrm>
          <a:prstGeom prst="rect">
            <a:avLst/>
          </a:prstGeom>
          <a:solidFill>
            <a:srgbClr val="4A4A4A"/>
          </a:solidFill>
          <a:ln w="6350">
            <a:solidFill>
              <a:srgbClr val="FFFFFF"/>
            </a:solidFill>
            <a:prstDash val="solid"/>
          </a:ln>
        </p:spPr>
      </p:sp>
      <p:sp>
        <p:nvSpPr>
          <p:cNvPr id="52" name="Text 50"/>
          <p:cNvSpPr/>
          <p:nvPr/>
        </p:nvSpPr>
        <p:spPr>
          <a:xfrm>
            <a:off x="3300984" y="4025189"/>
            <a:ext cx="457200" cy="683971"/>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22</a:t>
            </a:r>
            <a:endParaRPr lang="en-US" sz="1000" dirty="0"/>
          </a:p>
        </p:txBody>
      </p:sp>
      <p:sp>
        <p:nvSpPr>
          <p:cNvPr id="53" name="Shape 51"/>
          <p:cNvSpPr/>
          <p:nvPr/>
        </p:nvSpPr>
        <p:spPr>
          <a:xfrm>
            <a:off x="3300984" y="3092501"/>
            <a:ext cx="457200" cy="932688"/>
          </a:xfrm>
          <a:prstGeom prst="rect">
            <a:avLst/>
          </a:prstGeom>
          <a:solidFill>
            <a:srgbClr val="E39A2F"/>
          </a:solidFill>
          <a:ln w="6350">
            <a:solidFill>
              <a:srgbClr val="FFFFFF"/>
            </a:solidFill>
            <a:prstDash val="solid"/>
          </a:ln>
        </p:spPr>
      </p:sp>
      <p:sp>
        <p:nvSpPr>
          <p:cNvPr id="54" name="Text 52"/>
          <p:cNvSpPr/>
          <p:nvPr/>
        </p:nvSpPr>
        <p:spPr>
          <a:xfrm>
            <a:off x="3300984" y="3092501"/>
            <a:ext cx="457200" cy="9326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30</a:t>
            </a:r>
            <a:endParaRPr lang="en-US" sz="1000" dirty="0"/>
          </a:p>
        </p:txBody>
      </p:sp>
      <p:sp>
        <p:nvSpPr>
          <p:cNvPr id="55" name="Shape 53"/>
          <p:cNvSpPr/>
          <p:nvPr/>
        </p:nvSpPr>
        <p:spPr>
          <a:xfrm>
            <a:off x="3300984" y="2439619"/>
            <a:ext cx="457200" cy="652882"/>
          </a:xfrm>
          <a:prstGeom prst="rect">
            <a:avLst/>
          </a:prstGeom>
          <a:solidFill>
            <a:srgbClr val="7B4FB8"/>
          </a:solidFill>
          <a:ln w="6350">
            <a:solidFill>
              <a:srgbClr val="FFFFFF"/>
            </a:solidFill>
            <a:prstDash val="solid"/>
          </a:ln>
        </p:spPr>
      </p:sp>
      <p:sp>
        <p:nvSpPr>
          <p:cNvPr id="56" name="Text 54"/>
          <p:cNvSpPr/>
          <p:nvPr/>
        </p:nvSpPr>
        <p:spPr>
          <a:xfrm>
            <a:off x="3300984" y="2439619"/>
            <a:ext cx="457200" cy="65288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21</a:t>
            </a:r>
            <a:endParaRPr lang="en-US" sz="1000" dirty="0"/>
          </a:p>
        </p:txBody>
      </p:sp>
      <p:sp>
        <p:nvSpPr>
          <p:cNvPr id="57" name="Shape 55"/>
          <p:cNvSpPr/>
          <p:nvPr/>
        </p:nvSpPr>
        <p:spPr>
          <a:xfrm>
            <a:off x="3300984" y="1662379"/>
            <a:ext cx="457200" cy="777240"/>
          </a:xfrm>
          <a:prstGeom prst="rect">
            <a:avLst/>
          </a:prstGeom>
          <a:solidFill>
            <a:srgbClr val="2E8B57"/>
          </a:solidFill>
          <a:ln w="6350">
            <a:solidFill>
              <a:srgbClr val="FFFFFF"/>
            </a:solidFill>
            <a:prstDash val="solid"/>
          </a:ln>
        </p:spPr>
      </p:sp>
      <p:sp>
        <p:nvSpPr>
          <p:cNvPr id="58" name="Text 56"/>
          <p:cNvSpPr/>
          <p:nvPr/>
        </p:nvSpPr>
        <p:spPr>
          <a:xfrm>
            <a:off x="3300984" y="1662379"/>
            <a:ext cx="45720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25</a:t>
            </a:r>
            <a:endParaRPr lang="en-US" sz="1000" dirty="0"/>
          </a:p>
        </p:txBody>
      </p:sp>
      <p:sp>
        <p:nvSpPr>
          <p:cNvPr id="59" name="Shape 57"/>
          <p:cNvSpPr/>
          <p:nvPr/>
        </p:nvSpPr>
        <p:spPr>
          <a:xfrm>
            <a:off x="3300984" y="1600200"/>
            <a:ext cx="457200" cy="62179"/>
          </a:xfrm>
          <a:prstGeom prst="rect">
            <a:avLst/>
          </a:prstGeom>
          <a:solidFill>
            <a:srgbClr val="A9AFBB"/>
          </a:solidFill>
          <a:ln w="6350">
            <a:solidFill>
              <a:srgbClr val="FFFFFF"/>
            </a:solidFill>
            <a:prstDash val="solid"/>
          </a:ln>
        </p:spPr>
      </p:sp>
      <p:sp>
        <p:nvSpPr>
          <p:cNvPr id="60" name="Text 58"/>
          <p:cNvSpPr/>
          <p:nvPr/>
        </p:nvSpPr>
        <p:spPr>
          <a:xfrm>
            <a:off x="3209544" y="4754880"/>
            <a:ext cx="64008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2015</a:t>
            </a:r>
            <a:endParaRPr lang="en-US" sz="1000" dirty="0"/>
          </a:p>
        </p:txBody>
      </p:sp>
      <p:sp>
        <p:nvSpPr>
          <p:cNvPr id="61" name="Shape 59"/>
          <p:cNvSpPr/>
          <p:nvPr/>
        </p:nvSpPr>
        <p:spPr>
          <a:xfrm>
            <a:off x="3959352" y="4646981"/>
            <a:ext cx="457200" cy="62179"/>
          </a:xfrm>
          <a:prstGeom prst="rect">
            <a:avLst/>
          </a:prstGeom>
          <a:solidFill>
            <a:srgbClr val="4A4A4A"/>
          </a:solidFill>
          <a:ln w="6350">
            <a:solidFill>
              <a:srgbClr val="FFFFFF"/>
            </a:solidFill>
            <a:prstDash val="solid"/>
          </a:ln>
        </p:spPr>
      </p:sp>
      <p:sp>
        <p:nvSpPr>
          <p:cNvPr id="62" name="Shape 60"/>
          <p:cNvSpPr/>
          <p:nvPr/>
        </p:nvSpPr>
        <p:spPr>
          <a:xfrm>
            <a:off x="3959352" y="3527755"/>
            <a:ext cx="457200" cy="1119226"/>
          </a:xfrm>
          <a:prstGeom prst="rect">
            <a:avLst/>
          </a:prstGeom>
          <a:solidFill>
            <a:srgbClr val="E39A2F"/>
          </a:solidFill>
          <a:ln w="6350">
            <a:solidFill>
              <a:srgbClr val="FFFFFF"/>
            </a:solidFill>
            <a:prstDash val="solid"/>
          </a:ln>
        </p:spPr>
      </p:sp>
      <p:sp>
        <p:nvSpPr>
          <p:cNvPr id="63" name="Text 61"/>
          <p:cNvSpPr/>
          <p:nvPr/>
        </p:nvSpPr>
        <p:spPr>
          <a:xfrm>
            <a:off x="3959352" y="3527755"/>
            <a:ext cx="457200" cy="11192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36</a:t>
            </a:r>
            <a:endParaRPr lang="en-US" sz="1000" dirty="0"/>
          </a:p>
        </p:txBody>
      </p:sp>
      <p:sp>
        <p:nvSpPr>
          <p:cNvPr id="64" name="Shape 62"/>
          <p:cNvSpPr/>
          <p:nvPr/>
        </p:nvSpPr>
        <p:spPr>
          <a:xfrm>
            <a:off x="3959352" y="3030322"/>
            <a:ext cx="457200" cy="497434"/>
          </a:xfrm>
          <a:prstGeom prst="rect">
            <a:avLst/>
          </a:prstGeom>
          <a:solidFill>
            <a:srgbClr val="7B4FB8"/>
          </a:solidFill>
          <a:ln w="6350">
            <a:solidFill>
              <a:srgbClr val="FFFFFF"/>
            </a:solidFill>
            <a:prstDash val="solid"/>
          </a:ln>
        </p:spPr>
      </p:sp>
      <p:sp>
        <p:nvSpPr>
          <p:cNvPr id="65" name="Text 63"/>
          <p:cNvSpPr/>
          <p:nvPr/>
        </p:nvSpPr>
        <p:spPr>
          <a:xfrm>
            <a:off x="3959352" y="3030322"/>
            <a:ext cx="457200" cy="49743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66" name="Shape 64"/>
          <p:cNvSpPr/>
          <p:nvPr/>
        </p:nvSpPr>
        <p:spPr>
          <a:xfrm>
            <a:off x="3959352" y="1693469"/>
            <a:ext cx="457200" cy="1336853"/>
          </a:xfrm>
          <a:prstGeom prst="rect">
            <a:avLst/>
          </a:prstGeom>
          <a:solidFill>
            <a:srgbClr val="2E8B57"/>
          </a:solidFill>
          <a:ln w="6350">
            <a:solidFill>
              <a:srgbClr val="FFFFFF"/>
            </a:solidFill>
            <a:prstDash val="solid"/>
          </a:ln>
        </p:spPr>
      </p:sp>
      <p:sp>
        <p:nvSpPr>
          <p:cNvPr id="67" name="Text 65"/>
          <p:cNvSpPr/>
          <p:nvPr/>
        </p:nvSpPr>
        <p:spPr>
          <a:xfrm>
            <a:off x="3959352" y="1693469"/>
            <a:ext cx="457200" cy="1336853"/>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43</a:t>
            </a:r>
            <a:endParaRPr lang="en-US" sz="1000" dirty="0"/>
          </a:p>
        </p:txBody>
      </p:sp>
      <p:sp>
        <p:nvSpPr>
          <p:cNvPr id="68" name="Shape 66"/>
          <p:cNvSpPr/>
          <p:nvPr/>
        </p:nvSpPr>
        <p:spPr>
          <a:xfrm>
            <a:off x="3959352" y="1600200"/>
            <a:ext cx="457200" cy="93269"/>
          </a:xfrm>
          <a:prstGeom prst="rect">
            <a:avLst/>
          </a:prstGeom>
          <a:solidFill>
            <a:srgbClr val="A9AFBB"/>
          </a:solidFill>
          <a:ln w="6350">
            <a:solidFill>
              <a:srgbClr val="FFFFFF"/>
            </a:solidFill>
            <a:prstDash val="solid"/>
          </a:ln>
        </p:spPr>
      </p:sp>
      <p:sp>
        <p:nvSpPr>
          <p:cNvPr id="69" name="Text 67"/>
          <p:cNvSpPr/>
          <p:nvPr/>
        </p:nvSpPr>
        <p:spPr>
          <a:xfrm>
            <a:off x="3867912" y="4754880"/>
            <a:ext cx="64008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2020</a:t>
            </a:r>
            <a:endParaRPr lang="en-US" sz="1000" dirty="0"/>
          </a:p>
        </p:txBody>
      </p:sp>
      <p:sp>
        <p:nvSpPr>
          <p:cNvPr id="70" name="Shape 68"/>
          <p:cNvSpPr/>
          <p:nvPr/>
        </p:nvSpPr>
        <p:spPr>
          <a:xfrm>
            <a:off x="4617720" y="3714293"/>
            <a:ext cx="457200" cy="994867"/>
          </a:xfrm>
          <a:prstGeom prst="rect">
            <a:avLst/>
          </a:prstGeom>
          <a:solidFill>
            <a:srgbClr val="E39A2F"/>
          </a:solidFill>
          <a:ln w="6350">
            <a:solidFill>
              <a:srgbClr val="FFFFFF"/>
            </a:solidFill>
            <a:prstDash val="solid"/>
          </a:ln>
        </p:spPr>
      </p:sp>
      <p:sp>
        <p:nvSpPr>
          <p:cNvPr id="71" name="Text 69"/>
          <p:cNvSpPr/>
          <p:nvPr/>
        </p:nvSpPr>
        <p:spPr>
          <a:xfrm>
            <a:off x="4617720" y="3714293"/>
            <a:ext cx="457200" cy="99486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32</a:t>
            </a:r>
            <a:endParaRPr lang="en-US" sz="1000" dirty="0"/>
          </a:p>
        </p:txBody>
      </p:sp>
      <p:sp>
        <p:nvSpPr>
          <p:cNvPr id="72" name="Shape 70"/>
          <p:cNvSpPr/>
          <p:nvPr/>
        </p:nvSpPr>
        <p:spPr>
          <a:xfrm>
            <a:off x="4617720" y="3279038"/>
            <a:ext cx="457200" cy="435254"/>
          </a:xfrm>
          <a:prstGeom prst="rect">
            <a:avLst/>
          </a:prstGeom>
          <a:solidFill>
            <a:srgbClr val="7B4FB8"/>
          </a:solidFill>
          <a:ln w="6350">
            <a:solidFill>
              <a:srgbClr val="FFFFFF"/>
            </a:solidFill>
            <a:prstDash val="solid"/>
          </a:ln>
        </p:spPr>
      </p:sp>
      <p:sp>
        <p:nvSpPr>
          <p:cNvPr id="73" name="Text 71"/>
          <p:cNvSpPr/>
          <p:nvPr/>
        </p:nvSpPr>
        <p:spPr>
          <a:xfrm>
            <a:off x="4617720" y="3279038"/>
            <a:ext cx="457200" cy="43525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74" name="Shape 72"/>
          <p:cNvSpPr/>
          <p:nvPr/>
        </p:nvSpPr>
        <p:spPr>
          <a:xfrm>
            <a:off x="4617720" y="1724558"/>
            <a:ext cx="457200" cy="1554480"/>
          </a:xfrm>
          <a:prstGeom prst="rect">
            <a:avLst/>
          </a:prstGeom>
          <a:solidFill>
            <a:srgbClr val="2E8B57"/>
          </a:solidFill>
          <a:ln w="6350">
            <a:solidFill>
              <a:srgbClr val="FFFFFF"/>
            </a:solidFill>
            <a:prstDash val="solid"/>
          </a:ln>
        </p:spPr>
      </p:sp>
      <p:sp>
        <p:nvSpPr>
          <p:cNvPr id="75" name="Text 73"/>
          <p:cNvSpPr/>
          <p:nvPr/>
        </p:nvSpPr>
        <p:spPr>
          <a:xfrm>
            <a:off x="4617720" y="1724558"/>
            <a:ext cx="457200" cy="1554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50</a:t>
            </a:r>
            <a:endParaRPr lang="en-US" sz="1000" dirty="0"/>
          </a:p>
        </p:txBody>
      </p:sp>
      <p:sp>
        <p:nvSpPr>
          <p:cNvPr id="76" name="Shape 74"/>
          <p:cNvSpPr/>
          <p:nvPr/>
        </p:nvSpPr>
        <p:spPr>
          <a:xfrm>
            <a:off x="4617720" y="1600200"/>
            <a:ext cx="457200" cy="124358"/>
          </a:xfrm>
          <a:prstGeom prst="rect">
            <a:avLst/>
          </a:prstGeom>
          <a:solidFill>
            <a:srgbClr val="A9AFBB"/>
          </a:solidFill>
          <a:ln w="6350">
            <a:solidFill>
              <a:srgbClr val="FFFFFF"/>
            </a:solidFill>
            <a:prstDash val="solid"/>
          </a:ln>
        </p:spPr>
      </p:sp>
      <p:sp>
        <p:nvSpPr>
          <p:cNvPr id="77" name="Text 75"/>
          <p:cNvSpPr/>
          <p:nvPr/>
        </p:nvSpPr>
        <p:spPr>
          <a:xfrm>
            <a:off x="4526280" y="4754880"/>
            <a:ext cx="64008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2024</a:t>
            </a:r>
            <a:endParaRPr lang="en-US" sz="1000" dirty="0"/>
          </a:p>
        </p:txBody>
      </p:sp>
      <p:sp>
        <p:nvSpPr>
          <p:cNvPr id="78" name="Text 76"/>
          <p:cNvSpPr/>
          <p:nvPr/>
        </p:nvSpPr>
        <p:spPr>
          <a:xfrm>
            <a:off x="1188720" y="4983480"/>
            <a:ext cx="3950208" cy="20116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year</a:t>
            </a:r>
            <a:endParaRPr lang="en-US" sz="1050" dirty="0"/>
          </a:p>
        </p:txBody>
      </p:sp>
      <p:sp>
        <p:nvSpPr>
          <p:cNvPr id="79" name="Shape 77"/>
          <p:cNvSpPr/>
          <p:nvPr/>
        </p:nvSpPr>
        <p:spPr>
          <a:xfrm>
            <a:off x="5440680" y="1645920"/>
            <a:ext cx="201168" cy="182880"/>
          </a:xfrm>
          <a:prstGeom prst="rect">
            <a:avLst/>
          </a:prstGeom>
          <a:solidFill>
            <a:srgbClr val="4A4A4A"/>
          </a:solidFill>
          <a:ln/>
        </p:spPr>
      </p:sp>
      <p:sp>
        <p:nvSpPr>
          <p:cNvPr id="80" name="Text 78"/>
          <p:cNvSpPr/>
          <p:nvPr/>
        </p:nvSpPr>
        <p:spPr>
          <a:xfrm>
            <a:off x="5687568" y="1600200"/>
            <a:ext cx="731520" cy="27432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coal</a:t>
            </a:r>
            <a:endParaRPr lang="en-US" sz="1000" dirty="0"/>
          </a:p>
        </p:txBody>
      </p:sp>
      <p:sp>
        <p:nvSpPr>
          <p:cNvPr id="81" name="Shape 79"/>
          <p:cNvSpPr/>
          <p:nvPr/>
        </p:nvSpPr>
        <p:spPr>
          <a:xfrm>
            <a:off x="5440680" y="1956816"/>
            <a:ext cx="201168" cy="182880"/>
          </a:xfrm>
          <a:prstGeom prst="rect">
            <a:avLst/>
          </a:prstGeom>
          <a:solidFill>
            <a:srgbClr val="E39A2F"/>
          </a:solidFill>
          <a:ln/>
        </p:spPr>
      </p:sp>
      <p:sp>
        <p:nvSpPr>
          <p:cNvPr id="82" name="Text 80"/>
          <p:cNvSpPr/>
          <p:nvPr/>
        </p:nvSpPr>
        <p:spPr>
          <a:xfrm>
            <a:off x="5687568" y="1911096"/>
            <a:ext cx="731520" cy="27432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gas</a:t>
            </a:r>
            <a:endParaRPr lang="en-US" sz="1000" dirty="0"/>
          </a:p>
        </p:txBody>
      </p:sp>
      <p:sp>
        <p:nvSpPr>
          <p:cNvPr id="83" name="Shape 81"/>
          <p:cNvSpPr/>
          <p:nvPr/>
        </p:nvSpPr>
        <p:spPr>
          <a:xfrm>
            <a:off x="5440680" y="2267712"/>
            <a:ext cx="201168" cy="182880"/>
          </a:xfrm>
          <a:prstGeom prst="rect">
            <a:avLst/>
          </a:prstGeom>
          <a:solidFill>
            <a:srgbClr val="7B4FB8"/>
          </a:solidFill>
          <a:ln/>
        </p:spPr>
      </p:sp>
      <p:sp>
        <p:nvSpPr>
          <p:cNvPr id="84" name="Text 82"/>
          <p:cNvSpPr/>
          <p:nvPr/>
        </p:nvSpPr>
        <p:spPr>
          <a:xfrm>
            <a:off x="5687568" y="2221992"/>
            <a:ext cx="731520" cy="27432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nuclear</a:t>
            </a:r>
            <a:endParaRPr lang="en-US" sz="1000" dirty="0"/>
          </a:p>
        </p:txBody>
      </p:sp>
      <p:sp>
        <p:nvSpPr>
          <p:cNvPr id="85" name="Shape 83"/>
          <p:cNvSpPr/>
          <p:nvPr/>
        </p:nvSpPr>
        <p:spPr>
          <a:xfrm>
            <a:off x="5440680" y="2578608"/>
            <a:ext cx="201168" cy="182880"/>
          </a:xfrm>
          <a:prstGeom prst="rect">
            <a:avLst/>
          </a:prstGeom>
          <a:solidFill>
            <a:srgbClr val="2E8B57"/>
          </a:solidFill>
          <a:ln/>
        </p:spPr>
      </p:sp>
      <p:sp>
        <p:nvSpPr>
          <p:cNvPr id="86" name="Text 84"/>
          <p:cNvSpPr/>
          <p:nvPr/>
        </p:nvSpPr>
        <p:spPr>
          <a:xfrm>
            <a:off x="5687568" y="2532888"/>
            <a:ext cx="731520" cy="27432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renewables</a:t>
            </a:r>
            <a:endParaRPr lang="en-US" sz="1000" dirty="0"/>
          </a:p>
        </p:txBody>
      </p:sp>
      <p:sp>
        <p:nvSpPr>
          <p:cNvPr id="87" name="Shape 85"/>
          <p:cNvSpPr/>
          <p:nvPr/>
        </p:nvSpPr>
        <p:spPr>
          <a:xfrm>
            <a:off x="5440680" y="2889504"/>
            <a:ext cx="201168" cy="182880"/>
          </a:xfrm>
          <a:prstGeom prst="rect">
            <a:avLst/>
          </a:prstGeom>
          <a:solidFill>
            <a:srgbClr val="A9AFBB"/>
          </a:solidFill>
          <a:ln/>
        </p:spPr>
      </p:sp>
      <p:sp>
        <p:nvSpPr>
          <p:cNvPr id="88" name="Text 86"/>
          <p:cNvSpPr/>
          <p:nvPr/>
        </p:nvSpPr>
        <p:spPr>
          <a:xfrm>
            <a:off x="5687568" y="2843784"/>
            <a:ext cx="731520" cy="27432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other</a:t>
            </a:r>
            <a:endParaRPr lang="en-US" sz="1000" dirty="0"/>
          </a:p>
        </p:txBody>
      </p:sp>
      <p:sp>
        <p:nvSpPr>
          <p:cNvPr id="89" name="Shape 87"/>
          <p:cNvSpPr/>
          <p:nvPr/>
        </p:nvSpPr>
        <p:spPr>
          <a:xfrm>
            <a:off x="6675120" y="1188720"/>
            <a:ext cx="5102352" cy="2651760"/>
          </a:xfrm>
          <a:prstGeom prst="roundRect">
            <a:avLst>
              <a:gd name="adj" fmla="val 2069"/>
            </a:avLst>
          </a:prstGeom>
          <a:solidFill>
            <a:srgbClr val="F5F8FE"/>
          </a:solidFill>
          <a:ln w="9525">
            <a:solidFill>
              <a:srgbClr val="D5DCEB"/>
            </a:solidFill>
            <a:prstDash val="solid"/>
          </a:ln>
        </p:spPr>
      </p:sp>
      <p:sp>
        <p:nvSpPr>
          <p:cNvPr id="90" name="Text 88"/>
          <p:cNvSpPr/>
          <p:nvPr/>
        </p:nvSpPr>
        <p:spPr>
          <a:xfrm>
            <a:off x="6839712" y="1280160"/>
            <a:ext cx="47731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Patterns and trends</a:t>
            </a:r>
            <a:endParaRPr lang="en-US" sz="1300" dirty="0"/>
          </a:p>
        </p:txBody>
      </p:sp>
      <p:sp>
        <p:nvSpPr>
          <p:cNvPr id="91" name="Text 89"/>
          <p:cNvSpPr/>
          <p:nvPr/>
        </p:nvSpPr>
        <p:spPr>
          <a:xfrm>
            <a:off x="6839712" y="1609344"/>
            <a:ext cx="4773168" cy="215798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Coal</a:t>
            </a:r>
            <a:r>
              <a:rPr lang="en-US" sz="1100" dirty="0">
                <a:solidFill>
                  <a:srgbClr val="262B3A"/>
                </a:solidFill>
                <a:latin typeface="Calibri" pitchFamily="34" charset="0"/>
                <a:ea typeface="Calibri" pitchFamily="34" charset="-122"/>
                <a:cs typeface="Calibri" pitchFamily="34" charset="-120"/>
              </a:rPr>
              <a:t> fell from about a third to </a:t>
            </a:r>
            <a:r>
              <a:rPr lang="en-US" sz="1100" b="1" dirty="0">
                <a:solidFill>
                  <a:srgbClr val="262B3A"/>
                </a:solidFill>
                <a:latin typeface="Calibri" pitchFamily="34" charset="0"/>
                <a:ea typeface="Calibri" pitchFamily="34" charset="-122"/>
                <a:cs typeface="Calibri" pitchFamily="34" charset="-120"/>
              </a:rPr>
              <a:t>zero</a:t>
            </a:r>
            <a:r>
              <a:rPr lang="en-US" sz="1100" dirty="0">
                <a:solidFill>
                  <a:srgbClr val="262B3A"/>
                </a:solidFill>
                <a:latin typeface="Calibri" pitchFamily="34" charset="0"/>
                <a:ea typeface="Calibri" pitchFamily="34" charset="-122"/>
                <a:cs typeface="Calibri" pitchFamily="34" charset="-120"/>
              </a:rPr>
              <a:t> (the last UK coal power station closed in 2024).</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Renewables</a:t>
            </a:r>
            <a:r>
              <a:rPr lang="en-US" sz="1100" dirty="0">
                <a:solidFill>
                  <a:srgbClr val="262B3A"/>
                </a:solidFill>
                <a:latin typeface="Calibri" pitchFamily="34" charset="0"/>
                <a:ea typeface="Calibri" pitchFamily="34" charset="-122"/>
                <a:cs typeface="Calibri" pitchFamily="34" charset="-120"/>
              </a:rPr>
              <a:t> (mainly wind) rose from about </a:t>
            </a:r>
            <a:r>
              <a:rPr lang="en-US" sz="1100" b="1" dirty="0">
                <a:solidFill>
                  <a:srgbClr val="262B3A"/>
                </a:solidFill>
                <a:latin typeface="Calibri" pitchFamily="34" charset="0"/>
                <a:ea typeface="Calibri" pitchFamily="34" charset="-122"/>
                <a:cs typeface="Calibri" pitchFamily="34" charset="-120"/>
              </a:rPr>
              <a:t>3% to about 50%</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Gas</a:t>
            </a:r>
            <a:r>
              <a:rPr lang="en-US" sz="1100" dirty="0">
                <a:solidFill>
                  <a:srgbClr val="262B3A"/>
                </a:solidFill>
                <a:latin typeface="Calibri" pitchFamily="34" charset="0"/>
                <a:ea typeface="Calibri" pitchFamily="34" charset="-122"/>
                <a:cs typeface="Calibri" pitchFamily="34" charset="-120"/>
              </a:rPr>
              <a:t> is still important: it can be switched on quickly when demand rises or the wind drops.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Nuclear</a:t>
            </a:r>
            <a:r>
              <a:rPr lang="en-US" sz="1100" dirty="0">
                <a:solidFill>
                  <a:srgbClr val="262B3A"/>
                </a:solidFill>
                <a:latin typeface="Calibri" pitchFamily="34" charset="0"/>
                <a:ea typeface="Calibri" pitchFamily="34" charset="-122"/>
                <a:cs typeface="Calibri" pitchFamily="34" charset="-120"/>
              </a:rPr>
              <a:t> is falling slowly as old power stations close.</a:t>
            </a:r>
            <a:endParaRPr lang="en-US" sz="1100" dirty="0"/>
          </a:p>
        </p:txBody>
      </p:sp>
      <p:sp>
        <p:nvSpPr>
          <p:cNvPr id="92" name="Shape 90"/>
          <p:cNvSpPr/>
          <p:nvPr/>
        </p:nvSpPr>
        <p:spPr>
          <a:xfrm>
            <a:off x="6675120" y="3977640"/>
            <a:ext cx="5102352" cy="1737360"/>
          </a:xfrm>
          <a:prstGeom prst="roundRect">
            <a:avLst>
              <a:gd name="adj" fmla="val 3158"/>
            </a:avLst>
          </a:prstGeom>
          <a:solidFill>
            <a:srgbClr val="F5F8FE"/>
          </a:solidFill>
          <a:ln w="9525">
            <a:solidFill>
              <a:srgbClr val="D5DCEB"/>
            </a:solidFill>
            <a:prstDash val="solid"/>
          </a:ln>
        </p:spPr>
      </p:sp>
      <p:sp>
        <p:nvSpPr>
          <p:cNvPr id="93" name="Text 91"/>
          <p:cNvSpPr/>
          <p:nvPr/>
        </p:nvSpPr>
        <p:spPr>
          <a:xfrm>
            <a:off x="6839712" y="4069080"/>
            <a:ext cx="47731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Reasons for the trends</a:t>
            </a:r>
            <a:endParaRPr lang="en-US" sz="1300" dirty="0"/>
          </a:p>
        </p:txBody>
      </p:sp>
      <p:sp>
        <p:nvSpPr>
          <p:cNvPr id="94" name="Text 92"/>
          <p:cNvSpPr/>
          <p:nvPr/>
        </p:nvSpPr>
        <p:spPr>
          <a:xfrm>
            <a:off x="6839712" y="4398264"/>
            <a:ext cx="4773168" cy="12435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Laws and targets to </a:t>
            </a:r>
            <a:r>
              <a:rPr lang="en-US" sz="1100" b="1" dirty="0">
                <a:solidFill>
                  <a:srgbClr val="262B3A"/>
                </a:solidFill>
                <a:latin typeface="Calibri" pitchFamily="34" charset="0"/>
                <a:ea typeface="Calibri" pitchFamily="34" charset="-122"/>
                <a:cs typeface="Calibri" pitchFamily="34" charset="-120"/>
              </a:rPr>
              <a:t>cut CO₂</a:t>
            </a:r>
            <a:r>
              <a:rPr lang="en-US" sz="1100" dirty="0">
                <a:solidFill>
                  <a:srgbClr val="262B3A"/>
                </a:solidFill>
                <a:latin typeface="Calibri" pitchFamily="34" charset="0"/>
                <a:ea typeface="Calibri" pitchFamily="34" charset="-122"/>
                <a:cs typeface="Calibri" pitchFamily="34" charset="-120"/>
              </a:rPr>
              <a:t> emissions (climate change).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Falling cost of </a:t>
            </a:r>
            <a:r>
              <a:rPr lang="en-US" sz="1100" b="1" dirty="0">
                <a:solidFill>
                  <a:srgbClr val="262B3A"/>
                </a:solidFill>
                <a:latin typeface="Calibri" pitchFamily="34" charset="0"/>
                <a:ea typeface="Calibri" pitchFamily="34" charset="-122"/>
                <a:cs typeface="Calibri" pitchFamily="34" charset="-120"/>
              </a:rPr>
              <a:t>wind turbines and solar panels</a:t>
            </a:r>
            <a:r>
              <a:rPr lang="en-US" sz="1100" dirty="0">
                <a:solidFill>
                  <a:srgbClr val="262B3A"/>
                </a:solidFill>
                <a:latin typeface="Calibri" pitchFamily="34" charset="0"/>
                <a:ea typeface="Calibri" pitchFamily="34" charset="-122"/>
                <a:cs typeface="Calibri" pitchFamily="34" charset="-120"/>
              </a:rPr>
              <a:t>; fossil fuels running out.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Rising world population and use of electricity (e.g. electric cars) increase </a:t>
            </a:r>
            <a:r>
              <a:rPr lang="en-US" sz="1100" b="1" dirty="0">
                <a:solidFill>
                  <a:srgbClr val="262B3A"/>
                </a:solidFill>
                <a:latin typeface="Calibri" pitchFamily="34" charset="0"/>
                <a:ea typeface="Calibri" pitchFamily="34" charset="-122"/>
                <a:cs typeface="Calibri" pitchFamily="34" charset="-120"/>
              </a:rPr>
              <a:t>demand</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95" name="Shape 93"/>
          <p:cNvSpPr/>
          <p:nvPr/>
        </p:nvSpPr>
        <p:spPr>
          <a:xfrm>
            <a:off x="411480" y="5833872"/>
            <a:ext cx="11368735" cy="530352"/>
          </a:xfrm>
          <a:prstGeom prst="rect">
            <a:avLst/>
          </a:prstGeom>
          <a:solidFill>
            <a:srgbClr val="FFF4E0"/>
          </a:solidFill>
          <a:ln w="6350">
            <a:solidFill>
              <a:srgbClr val="F1D9A8"/>
            </a:solidFill>
            <a:prstDash val="solid"/>
          </a:ln>
        </p:spPr>
      </p:sp>
      <p:sp>
        <p:nvSpPr>
          <p:cNvPr id="96" name="Shape 94"/>
          <p:cNvSpPr/>
          <p:nvPr/>
        </p:nvSpPr>
        <p:spPr>
          <a:xfrm>
            <a:off x="411480" y="5833872"/>
            <a:ext cx="82296" cy="530352"/>
          </a:xfrm>
          <a:prstGeom prst="rect">
            <a:avLst/>
          </a:prstGeom>
          <a:solidFill>
            <a:srgbClr val="E39A2F"/>
          </a:solidFill>
          <a:ln w="12700">
            <a:solidFill>
              <a:srgbClr val="E39A2F"/>
            </a:solidFill>
            <a:prstDash val="solid"/>
          </a:ln>
        </p:spPr>
      </p:sp>
      <p:sp>
        <p:nvSpPr>
          <p:cNvPr id="97" name="Text 9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chart: by how many percentage points did the renewable share rise from 2010 to 2020? Suggest two reasons.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3.13, 3.14 • energy resources and trends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31</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what is meant by a </a:t>
            </a:r>
            <a:r>
              <a:rPr lang="en-US" sz="1250" b="1" dirty="0">
                <a:solidFill>
                  <a:srgbClr val="262B3A"/>
                </a:solidFill>
                <a:latin typeface="Calibri" pitchFamily="34" charset="0"/>
                <a:ea typeface="Calibri" pitchFamily="34" charset="-122"/>
                <a:cs typeface="Calibri" pitchFamily="34" charset="-120"/>
              </a:rPr>
              <a:t>renewable</a:t>
            </a:r>
            <a:r>
              <a:rPr lang="en-US" sz="1250" dirty="0">
                <a:solidFill>
                  <a:srgbClr val="262B3A"/>
                </a:solidFill>
                <a:latin typeface="Calibri" pitchFamily="34" charset="0"/>
                <a:ea typeface="Calibri" pitchFamily="34" charset="-122"/>
                <a:cs typeface="Calibri" pitchFamily="34" charset="-120"/>
              </a:rPr>
              <a:t> energy resource.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disadvantages of using </a:t>
            </a:r>
            <a:r>
              <a:rPr lang="en-US" sz="1250" b="1" dirty="0">
                <a:solidFill>
                  <a:srgbClr val="262B3A"/>
                </a:solidFill>
                <a:latin typeface="Calibri" pitchFamily="34" charset="0"/>
                <a:ea typeface="Calibri" pitchFamily="34" charset="-122"/>
                <a:cs typeface="Calibri" pitchFamily="34" charset="-120"/>
              </a:rPr>
              <a:t>wind turbines</a:t>
            </a:r>
            <a:r>
              <a:rPr lang="en-US" sz="1250" dirty="0">
                <a:solidFill>
                  <a:srgbClr val="262B3A"/>
                </a:solidFill>
                <a:latin typeface="Calibri" pitchFamily="34" charset="0"/>
                <a:ea typeface="Calibri" pitchFamily="34" charset="-122"/>
                <a:cs typeface="Calibri" pitchFamily="34" charset="-120"/>
              </a:rPr>
              <a:t> to generate electricity.</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2000 about </a:t>
            </a:r>
            <a:r>
              <a:rPr lang="en-US" sz="1250" b="1" dirty="0">
                <a:solidFill>
                  <a:srgbClr val="262B3A"/>
                </a:solidFill>
                <a:latin typeface="Calibri" pitchFamily="34" charset="0"/>
                <a:ea typeface="Calibri" pitchFamily="34" charset="-122"/>
                <a:cs typeface="Calibri" pitchFamily="34" charset="-120"/>
              </a:rPr>
              <a:t>3%</a:t>
            </a:r>
            <a:r>
              <a:rPr lang="en-US" sz="1250" dirty="0">
                <a:solidFill>
                  <a:srgbClr val="262B3A"/>
                </a:solidFill>
                <a:latin typeface="Calibri" pitchFamily="34" charset="0"/>
                <a:ea typeface="Calibri" pitchFamily="34" charset="-122"/>
                <a:cs typeface="Calibri" pitchFamily="34" charset="-120"/>
              </a:rPr>
              <a:t> of UK electricity came from renewable resources. In 2024 it was about </a:t>
            </a:r>
            <a:r>
              <a:rPr lang="en-US" sz="1250" b="1" dirty="0">
                <a:solidFill>
                  <a:srgbClr val="262B3A"/>
                </a:solidFill>
                <a:latin typeface="Calibri" pitchFamily="34" charset="0"/>
                <a:ea typeface="Calibri" pitchFamily="34" charset="-122"/>
                <a:cs typeface="Calibri" pitchFamily="34" charset="-120"/>
              </a:rPr>
              <a:t>50%</a:t>
            </a:r>
            <a:r>
              <a:rPr lang="en-US" sz="1250" dirty="0">
                <a:solidFill>
                  <a:srgbClr val="262B3A"/>
                </a:solidFill>
                <a:latin typeface="Calibri" pitchFamily="34" charset="0"/>
                <a:ea typeface="Calibri" pitchFamily="34" charset="-122"/>
                <a:cs typeface="Calibri" pitchFamily="34" charset="-120"/>
              </a:rPr>
              <a:t>. Describe this trend and suggest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reasons for it.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Topic 3 equations • RECALL = learn it; GIVEN = on the Physics Equations List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Equations  |  32</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68735" cy="914400"/>
        </p:xfrm>
        <a:graphic>
          <a:graphicData uri="http://schemas.openxmlformats.org/drawingml/2006/table">
            <a:tbl>
              <a:tblPr/>
              <a:tblGrid>
                <a:gridCol w="2377440"/>
                <a:gridCol w="6172200"/>
                <a:gridCol w="1463040"/>
                <a:gridCol w="1356055"/>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words (units)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or 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ΔGPE = m × g × Δh</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change in gravitational potential energy (J) = mass (kg) × gravitational field strength (N/kg) × change in vertical height (m)</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KE = ½ × m × v²</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kinetic energy (J) = ½ × mass (kg) × (speed (m/s))²</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efficiency = useful ÷ total</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efficiency = useful energy transferred by the device (J) ÷ total energy supplied to the device (J); × 100 for a percentage</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3.11</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W = m × g</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weight (N) = mass (kg) × gravitational field strength (N/kg)</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2.16 (link)</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E = F × d</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work done (J) = force (N) × distance moved in the direction of the force (m)</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Topic 8 (link)</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Cover the middle column. For each equation, say every quantity and its unit aloud. Then rearrange each one for a different subject.</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Topic 3 Conservation of energy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33</a:t>
            </a:r>
            <a:endParaRPr lang="en-US" sz="1000" dirty="0"/>
          </a:p>
        </p:txBody>
      </p:sp>
      <p:sp>
        <p:nvSpPr>
          <p:cNvPr id="8" name="Shape 6"/>
          <p:cNvSpPr/>
          <p:nvPr/>
        </p:nvSpPr>
        <p:spPr>
          <a:xfrm>
            <a:off x="411480" y="1188720"/>
            <a:ext cx="2739314" cy="1143000"/>
          </a:xfrm>
          <a:prstGeom prst="rect">
            <a:avLst/>
          </a:prstGeom>
          <a:solidFill>
            <a:srgbClr val="F5F8FE"/>
          </a:solidFill>
          <a:ln w="9525">
            <a:solidFill>
              <a:srgbClr val="D5DCEB"/>
            </a:solidFill>
            <a:prstDash val="solid"/>
          </a:ln>
        </p:spPr>
      </p:sp>
      <p:sp>
        <p:nvSpPr>
          <p:cNvPr id="9" name="Shape 7"/>
          <p:cNvSpPr/>
          <p:nvPr/>
        </p:nvSpPr>
        <p:spPr>
          <a:xfrm>
            <a:off x="411480" y="1188720"/>
            <a:ext cx="73152" cy="1143000"/>
          </a:xfrm>
          <a:prstGeom prst="rect">
            <a:avLst/>
          </a:prstGeom>
          <a:solidFill>
            <a:srgbClr val="2E5BD8"/>
          </a:solidFill>
          <a:ln w="12700">
            <a:solidFill>
              <a:srgbClr val="2E5BD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Energy store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Where energy is held: kinetic, gravitational, elastic, thermal, chemical…</a:t>
            </a:r>
            <a:endParaRPr lang="en-US" sz="1200" dirty="0"/>
          </a:p>
        </p:txBody>
      </p:sp>
      <p:sp>
        <p:nvSpPr>
          <p:cNvPr id="11" name="Shape 9"/>
          <p:cNvSpPr/>
          <p:nvPr/>
        </p:nvSpPr>
        <p:spPr>
          <a:xfrm>
            <a:off x="3287954" y="1188720"/>
            <a:ext cx="2739314" cy="1143000"/>
          </a:xfrm>
          <a:prstGeom prst="rect">
            <a:avLst/>
          </a:prstGeom>
          <a:solidFill>
            <a:srgbClr val="F5F8FE"/>
          </a:solidFill>
          <a:ln w="9525">
            <a:solidFill>
              <a:srgbClr val="D5DCEB"/>
            </a:solidFill>
            <a:prstDash val="solid"/>
          </a:ln>
        </p:spPr>
      </p:sp>
      <p:sp>
        <p:nvSpPr>
          <p:cNvPr id="12" name="Shape 10"/>
          <p:cNvSpPr/>
          <p:nvPr/>
        </p:nvSpPr>
        <p:spPr>
          <a:xfrm>
            <a:off x="3287954" y="1188720"/>
            <a:ext cx="73152" cy="1143000"/>
          </a:xfrm>
          <a:prstGeom prst="rect">
            <a:avLst/>
          </a:prstGeom>
          <a:solidFill>
            <a:srgbClr val="2E5BD8"/>
          </a:solidFill>
          <a:ln w="12700">
            <a:solidFill>
              <a:srgbClr val="2E5BD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Energy transfer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moving between stores: mechanically, electrically, by heating, by radiation.</a:t>
            </a:r>
            <a:endParaRPr lang="en-US" sz="1200" dirty="0"/>
          </a:p>
        </p:txBody>
      </p:sp>
      <p:sp>
        <p:nvSpPr>
          <p:cNvPr id="14" name="Shape 12"/>
          <p:cNvSpPr/>
          <p:nvPr/>
        </p:nvSpPr>
        <p:spPr>
          <a:xfrm>
            <a:off x="6164428" y="1188720"/>
            <a:ext cx="2739314" cy="1143000"/>
          </a:xfrm>
          <a:prstGeom prst="rect">
            <a:avLst/>
          </a:prstGeom>
          <a:solidFill>
            <a:srgbClr val="F5F8FE"/>
          </a:solidFill>
          <a:ln w="9525">
            <a:solidFill>
              <a:srgbClr val="D5DCEB"/>
            </a:solidFill>
            <a:prstDash val="solid"/>
          </a:ln>
        </p:spPr>
      </p:sp>
      <p:sp>
        <p:nvSpPr>
          <p:cNvPr id="15" name="Shape 13"/>
          <p:cNvSpPr/>
          <p:nvPr/>
        </p:nvSpPr>
        <p:spPr>
          <a:xfrm>
            <a:off x="6164428" y="1188720"/>
            <a:ext cx="73152" cy="1143000"/>
          </a:xfrm>
          <a:prstGeom prst="rect">
            <a:avLst/>
          </a:prstGeom>
          <a:solidFill>
            <a:srgbClr val="2E5BD8"/>
          </a:solidFill>
          <a:ln w="12700">
            <a:solidFill>
              <a:srgbClr val="2E5BD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System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An object or group of objects being studied.</a:t>
            </a:r>
            <a:endParaRPr lang="en-US" sz="1200" dirty="0"/>
          </a:p>
        </p:txBody>
      </p:sp>
      <p:sp>
        <p:nvSpPr>
          <p:cNvPr id="17" name="Shape 15"/>
          <p:cNvSpPr/>
          <p:nvPr/>
        </p:nvSpPr>
        <p:spPr>
          <a:xfrm>
            <a:off x="9040901" y="1188720"/>
            <a:ext cx="2739314" cy="1143000"/>
          </a:xfrm>
          <a:prstGeom prst="rect">
            <a:avLst/>
          </a:prstGeom>
          <a:solidFill>
            <a:srgbClr val="F5F8FE"/>
          </a:solidFill>
          <a:ln w="9525">
            <a:solidFill>
              <a:srgbClr val="D5DCEB"/>
            </a:solidFill>
            <a:prstDash val="solid"/>
          </a:ln>
        </p:spPr>
      </p:sp>
      <p:sp>
        <p:nvSpPr>
          <p:cNvPr id="18" name="Shape 16"/>
          <p:cNvSpPr/>
          <p:nvPr/>
        </p:nvSpPr>
        <p:spPr>
          <a:xfrm>
            <a:off x="9040901" y="1188720"/>
            <a:ext cx="73152" cy="1143000"/>
          </a:xfrm>
          <a:prstGeom prst="rect">
            <a:avLst/>
          </a:prstGeom>
          <a:solidFill>
            <a:srgbClr val="2E5BD8"/>
          </a:solidFill>
          <a:ln w="12700">
            <a:solidFill>
              <a:srgbClr val="2E5BD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Closed system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No net change in the total energy: transfers happen only inside it.</a:t>
            </a:r>
            <a:endParaRPr lang="en-US" sz="1200" dirty="0"/>
          </a:p>
        </p:txBody>
      </p:sp>
      <p:sp>
        <p:nvSpPr>
          <p:cNvPr id="20" name="Shape 18"/>
          <p:cNvSpPr/>
          <p:nvPr/>
        </p:nvSpPr>
        <p:spPr>
          <a:xfrm>
            <a:off x="411480" y="2441448"/>
            <a:ext cx="2739314" cy="1143000"/>
          </a:xfrm>
          <a:prstGeom prst="rect">
            <a:avLst/>
          </a:prstGeom>
          <a:solidFill>
            <a:srgbClr val="F5F8FE"/>
          </a:solidFill>
          <a:ln w="9525">
            <a:solidFill>
              <a:srgbClr val="D5DCEB"/>
            </a:solidFill>
            <a:prstDash val="solid"/>
          </a:ln>
        </p:spPr>
      </p:sp>
      <p:sp>
        <p:nvSpPr>
          <p:cNvPr id="21" name="Shape 19"/>
          <p:cNvSpPr/>
          <p:nvPr/>
        </p:nvSpPr>
        <p:spPr>
          <a:xfrm>
            <a:off x="411480" y="2441448"/>
            <a:ext cx="73152" cy="1143000"/>
          </a:xfrm>
          <a:prstGeom prst="rect">
            <a:avLst/>
          </a:prstGeom>
          <a:solidFill>
            <a:srgbClr val="2E5BD8"/>
          </a:solidFill>
          <a:ln w="12700">
            <a:solidFill>
              <a:srgbClr val="2E5BD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Conservation of energy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cannot be created or destroyed, only transferred, stored or dissipated.</a:t>
            </a:r>
            <a:endParaRPr lang="en-US" sz="1200" dirty="0"/>
          </a:p>
        </p:txBody>
      </p:sp>
      <p:sp>
        <p:nvSpPr>
          <p:cNvPr id="23" name="Shape 21"/>
          <p:cNvSpPr/>
          <p:nvPr/>
        </p:nvSpPr>
        <p:spPr>
          <a:xfrm>
            <a:off x="3287954" y="2441448"/>
            <a:ext cx="2739314" cy="1143000"/>
          </a:xfrm>
          <a:prstGeom prst="rect">
            <a:avLst/>
          </a:prstGeom>
          <a:solidFill>
            <a:srgbClr val="F5F8FE"/>
          </a:solidFill>
          <a:ln w="9525">
            <a:solidFill>
              <a:srgbClr val="D5DCEB"/>
            </a:solidFill>
            <a:prstDash val="solid"/>
          </a:ln>
        </p:spPr>
      </p:sp>
      <p:sp>
        <p:nvSpPr>
          <p:cNvPr id="24" name="Shape 22"/>
          <p:cNvSpPr/>
          <p:nvPr/>
        </p:nvSpPr>
        <p:spPr>
          <a:xfrm>
            <a:off x="3287954" y="2441448"/>
            <a:ext cx="73152" cy="1143000"/>
          </a:xfrm>
          <a:prstGeom prst="rect">
            <a:avLst/>
          </a:prstGeom>
          <a:solidFill>
            <a:srgbClr val="2E5BD8"/>
          </a:solidFill>
          <a:ln w="12700">
            <a:solidFill>
              <a:srgbClr val="2E5BD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Gravitational PE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stored by height: ΔGPE = m × g × Δh.</a:t>
            </a:r>
            <a:endParaRPr lang="en-US" sz="1200" dirty="0"/>
          </a:p>
        </p:txBody>
      </p:sp>
      <p:sp>
        <p:nvSpPr>
          <p:cNvPr id="26" name="Shape 24"/>
          <p:cNvSpPr/>
          <p:nvPr/>
        </p:nvSpPr>
        <p:spPr>
          <a:xfrm>
            <a:off x="6164428" y="2441448"/>
            <a:ext cx="2739314" cy="1143000"/>
          </a:xfrm>
          <a:prstGeom prst="rect">
            <a:avLst/>
          </a:prstGeom>
          <a:solidFill>
            <a:srgbClr val="F5F8FE"/>
          </a:solidFill>
          <a:ln w="9525">
            <a:solidFill>
              <a:srgbClr val="D5DCEB"/>
            </a:solidFill>
            <a:prstDash val="solid"/>
          </a:ln>
        </p:spPr>
      </p:sp>
      <p:sp>
        <p:nvSpPr>
          <p:cNvPr id="27" name="Shape 25"/>
          <p:cNvSpPr/>
          <p:nvPr/>
        </p:nvSpPr>
        <p:spPr>
          <a:xfrm>
            <a:off x="6164428" y="2441448"/>
            <a:ext cx="73152" cy="1143000"/>
          </a:xfrm>
          <a:prstGeom prst="rect">
            <a:avLst/>
          </a:prstGeom>
          <a:solidFill>
            <a:srgbClr val="2E5BD8"/>
          </a:solidFill>
          <a:ln w="12700">
            <a:solidFill>
              <a:srgbClr val="2E5BD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Kinetic energy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of a moving object: KE = ½ × m × v².</a:t>
            </a:r>
            <a:endParaRPr lang="en-US" sz="1200" dirty="0"/>
          </a:p>
        </p:txBody>
      </p:sp>
      <p:sp>
        <p:nvSpPr>
          <p:cNvPr id="29" name="Shape 27"/>
          <p:cNvSpPr/>
          <p:nvPr/>
        </p:nvSpPr>
        <p:spPr>
          <a:xfrm>
            <a:off x="9040901" y="2441448"/>
            <a:ext cx="2739314" cy="1143000"/>
          </a:xfrm>
          <a:prstGeom prst="rect">
            <a:avLst/>
          </a:prstGeom>
          <a:solidFill>
            <a:srgbClr val="F5F8FE"/>
          </a:solidFill>
          <a:ln w="9525">
            <a:solidFill>
              <a:srgbClr val="D5DCEB"/>
            </a:solidFill>
            <a:prstDash val="solid"/>
          </a:ln>
        </p:spPr>
      </p:sp>
      <p:sp>
        <p:nvSpPr>
          <p:cNvPr id="30" name="Shape 28"/>
          <p:cNvSpPr/>
          <p:nvPr/>
        </p:nvSpPr>
        <p:spPr>
          <a:xfrm>
            <a:off x="9040901" y="2441448"/>
            <a:ext cx="73152" cy="1143000"/>
          </a:xfrm>
          <a:prstGeom prst="rect">
            <a:avLst/>
          </a:prstGeom>
          <a:solidFill>
            <a:srgbClr val="2E5BD8"/>
          </a:solidFill>
          <a:ln w="12700">
            <a:solidFill>
              <a:srgbClr val="2E5BD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Dissipated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Spread out into the surroundings and stored in less useful ways.</a:t>
            </a:r>
            <a:endParaRPr lang="en-US" sz="1200" dirty="0"/>
          </a:p>
        </p:txBody>
      </p:sp>
      <p:sp>
        <p:nvSpPr>
          <p:cNvPr id="32" name="Shape 30"/>
          <p:cNvSpPr/>
          <p:nvPr/>
        </p:nvSpPr>
        <p:spPr>
          <a:xfrm>
            <a:off x="411480" y="3694176"/>
            <a:ext cx="2739314" cy="1143000"/>
          </a:xfrm>
          <a:prstGeom prst="rect">
            <a:avLst/>
          </a:prstGeom>
          <a:solidFill>
            <a:srgbClr val="F5F8FE"/>
          </a:solidFill>
          <a:ln w="9525">
            <a:solidFill>
              <a:srgbClr val="D5DCEB"/>
            </a:solidFill>
            <a:prstDash val="solid"/>
          </a:ln>
        </p:spPr>
      </p:sp>
      <p:sp>
        <p:nvSpPr>
          <p:cNvPr id="33" name="Shape 31"/>
          <p:cNvSpPr/>
          <p:nvPr/>
        </p:nvSpPr>
        <p:spPr>
          <a:xfrm>
            <a:off x="411480" y="3694176"/>
            <a:ext cx="73152" cy="1143000"/>
          </a:xfrm>
          <a:prstGeom prst="rect">
            <a:avLst/>
          </a:prstGeom>
          <a:solidFill>
            <a:srgbClr val="2E5BD8"/>
          </a:solidFill>
          <a:ln w="12700">
            <a:solidFill>
              <a:srgbClr val="2E5BD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Wasted energy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not transferred usefully, usually to thermal stores.</a:t>
            </a:r>
            <a:endParaRPr lang="en-US" sz="1200" dirty="0"/>
          </a:p>
        </p:txBody>
      </p:sp>
      <p:sp>
        <p:nvSpPr>
          <p:cNvPr id="35" name="Shape 33"/>
          <p:cNvSpPr/>
          <p:nvPr/>
        </p:nvSpPr>
        <p:spPr>
          <a:xfrm>
            <a:off x="3287954" y="3694176"/>
            <a:ext cx="2739314" cy="1143000"/>
          </a:xfrm>
          <a:prstGeom prst="rect">
            <a:avLst/>
          </a:prstGeom>
          <a:solidFill>
            <a:srgbClr val="F5F8FE"/>
          </a:solidFill>
          <a:ln w="9525">
            <a:solidFill>
              <a:srgbClr val="D5DCEB"/>
            </a:solidFill>
            <a:prstDash val="solid"/>
          </a:ln>
        </p:spPr>
      </p:sp>
      <p:sp>
        <p:nvSpPr>
          <p:cNvPr id="36" name="Shape 34"/>
          <p:cNvSpPr/>
          <p:nvPr/>
        </p:nvSpPr>
        <p:spPr>
          <a:xfrm>
            <a:off x="3287954" y="3694176"/>
            <a:ext cx="73152" cy="1143000"/>
          </a:xfrm>
          <a:prstGeom prst="rect">
            <a:avLst/>
          </a:prstGeom>
          <a:solidFill>
            <a:srgbClr val="2E5BD8"/>
          </a:solidFill>
          <a:ln w="12700">
            <a:solidFill>
              <a:srgbClr val="2E5BD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Sankey diagram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Energy transfer diagram with arrow widths drawn to scale.</a:t>
            </a:r>
            <a:endParaRPr lang="en-US" sz="1200" dirty="0"/>
          </a:p>
        </p:txBody>
      </p:sp>
      <p:sp>
        <p:nvSpPr>
          <p:cNvPr id="38" name="Shape 36"/>
          <p:cNvSpPr/>
          <p:nvPr/>
        </p:nvSpPr>
        <p:spPr>
          <a:xfrm>
            <a:off x="6164428" y="3694176"/>
            <a:ext cx="2739314" cy="1143000"/>
          </a:xfrm>
          <a:prstGeom prst="rect">
            <a:avLst/>
          </a:prstGeom>
          <a:solidFill>
            <a:srgbClr val="F5F8FE"/>
          </a:solidFill>
          <a:ln w="9525">
            <a:solidFill>
              <a:srgbClr val="D5DCEB"/>
            </a:solidFill>
            <a:prstDash val="solid"/>
          </a:ln>
        </p:spPr>
      </p:sp>
      <p:sp>
        <p:nvSpPr>
          <p:cNvPr id="39" name="Shape 37"/>
          <p:cNvSpPr/>
          <p:nvPr/>
        </p:nvSpPr>
        <p:spPr>
          <a:xfrm>
            <a:off x="6164428" y="3694176"/>
            <a:ext cx="73152" cy="1143000"/>
          </a:xfrm>
          <a:prstGeom prst="rect">
            <a:avLst/>
          </a:prstGeom>
          <a:solidFill>
            <a:srgbClr val="2E5BD8"/>
          </a:solidFill>
          <a:ln w="12700">
            <a:solidFill>
              <a:srgbClr val="2E5BD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Lubrication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Oil or grease that reduces friction between moving parts.</a:t>
            </a:r>
            <a:endParaRPr lang="en-US" sz="1200" dirty="0"/>
          </a:p>
        </p:txBody>
      </p:sp>
      <p:sp>
        <p:nvSpPr>
          <p:cNvPr id="41" name="Shape 39"/>
          <p:cNvSpPr/>
          <p:nvPr/>
        </p:nvSpPr>
        <p:spPr>
          <a:xfrm>
            <a:off x="9040901" y="3694176"/>
            <a:ext cx="2739314" cy="1143000"/>
          </a:xfrm>
          <a:prstGeom prst="rect">
            <a:avLst/>
          </a:prstGeom>
          <a:solidFill>
            <a:srgbClr val="F5F8FE"/>
          </a:solidFill>
          <a:ln w="9525">
            <a:solidFill>
              <a:srgbClr val="D5DCEB"/>
            </a:solidFill>
            <a:prstDash val="solid"/>
          </a:ln>
        </p:spPr>
      </p:sp>
      <p:sp>
        <p:nvSpPr>
          <p:cNvPr id="42" name="Shape 40"/>
          <p:cNvSpPr/>
          <p:nvPr/>
        </p:nvSpPr>
        <p:spPr>
          <a:xfrm>
            <a:off x="9040901" y="3694176"/>
            <a:ext cx="73152" cy="1143000"/>
          </a:xfrm>
          <a:prstGeom prst="rect">
            <a:avLst/>
          </a:prstGeom>
          <a:solidFill>
            <a:srgbClr val="2E5BD8"/>
          </a:solidFill>
          <a:ln w="12700">
            <a:solidFill>
              <a:srgbClr val="2E5BD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Thermal insulation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Material that reduces the rate of energy transfer by heating.</a:t>
            </a:r>
            <a:endParaRPr lang="en-US" sz="1200" dirty="0"/>
          </a:p>
        </p:txBody>
      </p:sp>
      <p:sp>
        <p:nvSpPr>
          <p:cNvPr id="44" name="Shape 42"/>
          <p:cNvSpPr/>
          <p:nvPr/>
        </p:nvSpPr>
        <p:spPr>
          <a:xfrm>
            <a:off x="411480" y="4946904"/>
            <a:ext cx="2739314" cy="1143000"/>
          </a:xfrm>
          <a:prstGeom prst="rect">
            <a:avLst/>
          </a:prstGeom>
          <a:solidFill>
            <a:srgbClr val="F5F8FE"/>
          </a:solidFill>
          <a:ln w="9525">
            <a:solidFill>
              <a:srgbClr val="D5DCEB"/>
            </a:solidFill>
            <a:prstDash val="solid"/>
          </a:ln>
        </p:spPr>
      </p:sp>
      <p:sp>
        <p:nvSpPr>
          <p:cNvPr id="45" name="Shape 43"/>
          <p:cNvSpPr/>
          <p:nvPr/>
        </p:nvSpPr>
        <p:spPr>
          <a:xfrm>
            <a:off x="411480" y="4946904"/>
            <a:ext cx="73152" cy="1143000"/>
          </a:xfrm>
          <a:prstGeom prst="rect">
            <a:avLst/>
          </a:prstGeom>
          <a:solidFill>
            <a:srgbClr val="2E5BD8"/>
          </a:solidFill>
          <a:ln w="12700">
            <a:solidFill>
              <a:srgbClr val="2E5BD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Thermal conductivity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well a material transfers energy by conduction.</a:t>
            </a:r>
            <a:endParaRPr lang="en-US" sz="1200" dirty="0"/>
          </a:p>
        </p:txBody>
      </p:sp>
      <p:sp>
        <p:nvSpPr>
          <p:cNvPr id="47" name="Shape 45"/>
          <p:cNvSpPr/>
          <p:nvPr/>
        </p:nvSpPr>
        <p:spPr>
          <a:xfrm>
            <a:off x="3287954" y="4946904"/>
            <a:ext cx="2739314" cy="1143000"/>
          </a:xfrm>
          <a:prstGeom prst="rect">
            <a:avLst/>
          </a:prstGeom>
          <a:solidFill>
            <a:srgbClr val="F5F8FE"/>
          </a:solidFill>
          <a:ln w="9525">
            <a:solidFill>
              <a:srgbClr val="D5DCEB"/>
            </a:solidFill>
            <a:prstDash val="solid"/>
          </a:ln>
        </p:spPr>
      </p:sp>
      <p:sp>
        <p:nvSpPr>
          <p:cNvPr id="48" name="Shape 46"/>
          <p:cNvSpPr/>
          <p:nvPr/>
        </p:nvSpPr>
        <p:spPr>
          <a:xfrm>
            <a:off x="3287954" y="4946904"/>
            <a:ext cx="73152" cy="1143000"/>
          </a:xfrm>
          <a:prstGeom prst="rect">
            <a:avLst/>
          </a:prstGeom>
          <a:solidFill>
            <a:srgbClr val="2E5BD8"/>
          </a:solidFill>
          <a:ln w="12700">
            <a:solidFill>
              <a:srgbClr val="2E5BD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Efficiency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Useful energy transferred ÷ total energy supplied.</a:t>
            </a:r>
            <a:endParaRPr lang="en-US" sz="1200" dirty="0"/>
          </a:p>
        </p:txBody>
      </p:sp>
      <p:sp>
        <p:nvSpPr>
          <p:cNvPr id="50" name="Shape 48"/>
          <p:cNvSpPr/>
          <p:nvPr/>
        </p:nvSpPr>
        <p:spPr>
          <a:xfrm>
            <a:off x="6164428" y="4946904"/>
            <a:ext cx="2739314" cy="1143000"/>
          </a:xfrm>
          <a:prstGeom prst="rect">
            <a:avLst/>
          </a:prstGeom>
          <a:solidFill>
            <a:srgbClr val="F5F8FE"/>
          </a:solidFill>
          <a:ln w="9525">
            <a:solidFill>
              <a:srgbClr val="D5DCEB"/>
            </a:solidFill>
            <a:prstDash val="solid"/>
          </a:ln>
        </p:spPr>
      </p:sp>
      <p:sp>
        <p:nvSpPr>
          <p:cNvPr id="51" name="Shape 49"/>
          <p:cNvSpPr/>
          <p:nvPr/>
        </p:nvSpPr>
        <p:spPr>
          <a:xfrm>
            <a:off x="6164428" y="4946904"/>
            <a:ext cx="73152" cy="1143000"/>
          </a:xfrm>
          <a:prstGeom prst="rect">
            <a:avLst/>
          </a:prstGeom>
          <a:solidFill>
            <a:srgbClr val="2E5BD8"/>
          </a:solidFill>
          <a:ln w="12700">
            <a:solidFill>
              <a:srgbClr val="2E5BD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Renewable resource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Replaced as fast as it is used: wind, solar, hydro, tides, bio-fuel.</a:t>
            </a:r>
            <a:endParaRPr lang="en-US" sz="1200" dirty="0"/>
          </a:p>
        </p:txBody>
      </p:sp>
      <p:sp>
        <p:nvSpPr>
          <p:cNvPr id="53" name="Shape 51"/>
          <p:cNvSpPr/>
          <p:nvPr/>
        </p:nvSpPr>
        <p:spPr>
          <a:xfrm>
            <a:off x="9040901" y="4946904"/>
            <a:ext cx="2739314" cy="1143000"/>
          </a:xfrm>
          <a:prstGeom prst="rect">
            <a:avLst/>
          </a:prstGeom>
          <a:solidFill>
            <a:srgbClr val="F5F8FE"/>
          </a:solidFill>
          <a:ln w="9525">
            <a:solidFill>
              <a:srgbClr val="D5DCEB"/>
            </a:solidFill>
            <a:prstDash val="solid"/>
          </a:ln>
        </p:spPr>
      </p:sp>
      <p:sp>
        <p:nvSpPr>
          <p:cNvPr id="54" name="Shape 52"/>
          <p:cNvSpPr/>
          <p:nvPr/>
        </p:nvSpPr>
        <p:spPr>
          <a:xfrm>
            <a:off x="9040901" y="4946904"/>
            <a:ext cx="73152" cy="1143000"/>
          </a:xfrm>
          <a:prstGeom prst="rect">
            <a:avLst/>
          </a:prstGeom>
          <a:solidFill>
            <a:srgbClr val="2E5BD8"/>
          </a:solidFill>
          <a:ln w="12700">
            <a:solidFill>
              <a:srgbClr val="2E5BD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Non-renewable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Will run out: coal, oil, gas, nuclear fuel.</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3.1, 3.2, 3.5, 3.7–3.12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34</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rollercoaster car of mass </a:t>
            </a:r>
            <a:r>
              <a:rPr lang="en-US" sz="1200" b="1" i="1" dirty="0">
                <a:solidFill>
                  <a:srgbClr val="262B3A"/>
                </a:solidFill>
                <a:latin typeface="Calibri" pitchFamily="34" charset="0"/>
                <a:ea typeface="Calibri" pitchFamily="34" charset="-122"/>
                <a:cs typeface="Calibri" pitchFamily="34" charset="-120"/>
              </a:rPr>
              <a:t>600 kg</a:t>
            </a:r>
            <a:r>
              <a:rPr lang="en-US" sz="1200" i="1" dirty="0">
                <a:solidFill>
                  <a:srgbClr val="262B3A"/>
                </a:solidFill>
                <a:latin typeface="Calibri" pitchFamily="34" charset="0"/>
                <a:ea typeface="Calibri" pitchFamily="34" charset="-122"/>
                <a:cs typeface="Calibri" pitchFamily="34" charset="-120"/>
              </a:rPr>
              <a:t> is pulled to the top of a ride, </a:t>
            </a:r>
            <a:r>
              <a:rPr lang="en-US" sz="1200" b="1" i="1" dirty="0">
                <a:solidFill>
                  <a:srgbClr val="262B3A"/>
                </a:solidFill>
                <a:latin typeface="Calibri" pitchFamily="34" charset="0"/>
                <a:ea typeface="Calibri" pitchFamily="34" charset="-122"/>
                <a:cs typeface="Calibri" pitchFamily="34" charset="-120"/>
              </a:rPr>
              <a:t>30 m</a:t>
            </a:r>
            <a:r>
              <a:rPr lang="en-US" sz="1200" i="1" dirty="0">
                <a:solidFill>
                  <a:srgbClr val="262B3A"/>
                </a:solidFill>
                <a:latin typeface="Calibri" pitchFamily="34" charset="0"/>
                <a:ea typeface="Calibri" pitchFamily="34" charset="-122"/>
                <a:cs typeface="Calibri" pitchFamily="34" charset="-120"/>
              </a:rPr>
              <a:t> above the ground, by an electric motor. It is then released and runs down the track. g = 10 N/kg.</a:t>
            </a:r>
            <a:endParaRPr lang="en-US" sz="1200" dirty="0"/>
          </a:p>
        </p:txBody>
      </p:sp>
      <p:sp>
        <p:nvSpPr>
          <p:cNvPr id="9" name="Shape 7"/>
          <p:cNvSpPr/>
          <p:nvPr/>
        </p:nvSpPr>
        <p:spPr>
          <a:xfrm>
            <a:off x="411480" y="1719072"/>
            <a:ext cx="5570068" cy="1441704"/>
          </a:xfrm>
          <a:prstGeom prst="roundRect">
            <a:avLst>
              <a:gd name="adj" fmla="val 3171"/>
            </a:avLst>
          </a:prstGeom>
          <a:solidFill>
            <a:srgbClr val="F5F8FE"/>
          </a:solidFill>
          <a:ln w="9525">
            <a:solidFill>
              <a:srgbClr val="D5DCEB"/>
            </a:solidFill>
            <a:prstDash val="solid"/>
          </a:ln>
        </p:spPr>
      </p:sp>
      <p:sp>
        <p:nvSpPr>
          <p:cNvPr id="10" name="Text 8"/>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State the equation linking change in gravitational potential energy, mass, gravitational field strength and change in vertical height.</a:t>
            </a:r>
            <a:endParaRPr lang="en-US" sz="1200" dirty="0"/>
          </a:p>
        </p:txBody>
      </p:sp>
      <p:sp>
        <p:nvSpPr>
          <p:cNvPr id="11" name="Text 9"/>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3270504"/>
            <a:ext cx="5570068" cy="1441704"/>
          </a:xfrm>
          <a:prstGeom prst="roundRect">
            <a:avLst>
              <a:gd name="adj" fmla="val 3171"/>
            </a:avLst>
          </a:prstGeom>
          <a:solidFill>
            <a:srgbClr val="FFFFFF"/>
          </a:solidFill>
          <a:ln w="9525">
            <a:solidFill>
              <a:srgbClr val="D5DCEB"/>
            </a:solidFill>
            <a:prstDash val="solid"/>
          </a:ln>
        </p:spPr>
      </p:sp>
      <p:sp>
        <p:nvSpPr>
          <p:cNvPr id="13" name="Text 11"/>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Calculate the gravitational potential energy gained by the car.</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21936"/>
            <a:ext cx="5570068" cy="1441704"/>
          </a:xfrm>
          <a:prstGeom prst="roundRect">
            <a:avLst>
              <a:gd name="adj" fmla="val 3171"/>
            </a:avLst>
          </a:prstGeom>
          <a:solidFill>
            <a:srgbClr val="F5F8FE"/>
          </a:solidFill>
          <a:ln w="9525">
            <a:solidFill>
              <a:srgbClr val="D5DCEB"/>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The motor is supplied with </a:t>
            </a:r>
            <a:r>
              <a:rPr lang="en-US" sz="1200" b="1" dirty="0">
                <a:solidFill>
                  <a:srgbClr val="262B3A"/>
                </a:solidFill>
                <a:latin typeface="Calibri" pitchFamily="34" charset="0"/>
                <a:ea typeface="Calibri" pitchFamily="34" charset="-122"/>
                <a:cs typeface="Calibri" pitchFamily="34" charset="-120"/>
              </a:rPr>
              <a:t>300 000 J</a:t>
            </a:r>
            <a:r>
              <a:rPr lang="en-US" sz="1200" dirty="0">
                <a:solidFill>
                  <a:srgbClr val="262B3A"/>
                </a:solidFill>
                <a:latin typeface="Calibri" pitchFamily="34" charset="0"/>
                <a:ea typeface="Calibri" pitchFamily="34" charset="-122"/>
                <a:cs typeface="Calibri" pitchFamily="34" charset="-120"/>
              </a:rPr>
              <a:t> while lifting the car. Calculate the efficiency of the motor.</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526510"/>
          </a:xfrm>
          <a:prstGeom prst="roundRect">
            <a:avLst>
              <a:gd name="adj" fmla="val 2995"/>
            </a:avLst>
          </a:prstGeom>
          <a:solidFill>
            <a:srgbClr val="F5F8FE"/>
          </a:solidFill>
          <a:ln w="9525">
            <a:solidFill>
              <a:srgbClr val="D5DCEB"/>
            </a:solidFill>
            <a:prstDash val="solid"/>
          </a:ln>
        </p:spPr>
      </p:sp>
      <p:sp>
        <p:nvSpPr>
          <p:cNvPr id="19" name="Text 17"/>
          <p:cNvSpPr/>
          <p:nvPr/>
        </p:nvSpPr>
        <p:spPr>
          <a:xfrm>
            <a:off x="6347308" y="1792224"/>
            <a:ext cx="5295748" cy="1160750"/>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Assume no energy is dissipated. Show that the speed of the car at the bottom of the ride would be about </a:t>
            </a:r>
            <a:r>
              <a:rPr lang="en-US" sz="1200" b="1" dirty="0">
                <a:solidFill>
                  <a:srgbClr val="262B3A"/>
                </a:solidFill>
                <a:latin typeface="Calibri" pitchFamily="34" charset="0"/>
                <a:ea typeface="Calibri" pitchFamily="34" charset="-122"/>
                <a:cs typeface="Calibri" pitchFamily="34" charset="-120"/>
              </a:rPr>
              <a:t>24 m/s</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10317175" y="2934686"/>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1" name="Shape 19"/>
          <p:cNvSpPr/>
          <p:nvPr/>
        </p:nvSpPr>
        <p:spPr>
          <a:xfrm>
            <a:off x="6210148" y="3355310"/>
            <a:ext cx="5570068" cy="1526510"/>
          </a:xfrm>
          <a:prstGeom prst="roundRect">
            <a:avLst>
              <a:gd name="adj" fmla="val 2995"/>
            </a:avLst>
          </a:prstGeom>
          <a:solidFill>
            <a:srgbClr val="FFFFFF"/>
          </a:solidFill>
          <a:ln w="9525">
            <a:solidFill>
              <a:srgbClr val="D5DCEB"/>
            </a:solidFill>
            <a:prstDash val="solid"/>
          </a:ln>
        </p:spPr>
      </p:sp>
      <p:sp>
        <p:nvSpPr>
          <p:cNvPr id="22" name="Text 20"/>
          <p:cNvSpPr/>
          <p:nvPr/>
        </p:nvSpPr>
        <p:spPr>
          <a:xfrm>
            <a:off x="6347308" y="3428462"/>
            <a:ext cx="5295748" cy="1160750"/>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The actual speed at the bottom is </a:t>
            </a:r>
            <a:r>
              <a:rPr lang="en-US" sz="1200" b="1" dirty="0">
                <a:solidFill>
                  <a:srgbClr val="262B3A"/>
                </a:solidFill>
                <a:latin typeface="Calibri" pitchFamily="34" charset="0"/>
                <a:ea typeface="Calibri" pitchFamily="34" charset="-122"/>
                <a:cs typeface="Calibri" pitchFamily="34" charset="-120"/>
              </a:rPr>
              <a:t>22 m/s</a:t>
            </a:r>
            <a:r>
              <a:rPr lang="en-US" sz="1200" dirty="0">
                <a:solidFill>
                  <a:srgbClr val="262B3A"/>
                </a:solidFill>
                <a:latin typeface="Calibri" pitchFamily="34" charset="0"/>
                <a:ea typeface="Calibri" pitchFamily="34" charset="-122"/>
                <a:cs typeface="Calibri" pitchFamily="34" charset="-120"/>
              </a:rPr>
              <a:t>. Calculate the kinetic energy of the car and the energy dissipated.</a:t>
            </a:r>
            <a:endParaRPr lang="en-US" sz="1200" dirty="0"/>
          </a:p>
        </p:txBody>
      </p:sp>
      <p:sp>
        <p:nvSpPr>
          <p:cNvPr id="23" name="Text 21"/>
          <p:cNvSpPr/>
          <p:nvPr/>
        </p:nvSpPr>
        <p:spPr>
          <a:xfrm>
            <a:off x="10317175" y="457092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Shape 22"/>
          <p:cNvSpPr/>
          <p:nvPr/>
        </p:nvSpPr>
        <p:spPr>
          <a:xfrm>
            <a:off x="6210148" y="4991548"/>
            <a:ext cx="5570068" cy="1272092"/>
          </a:xfrm>
          <a:prstGeom prst="roundRect">
            <a:avLst>
              <a:gd name="adj" fmla="val 3594"/>
            </a:avLst>
          </a:prstGeom>
          <a:solidFill>
            <a:srgbClr val="F5F8FE"/>
          </a:solidFill>
          <a:ln w="9525">
            <a:solidFill>
              <a:srgbClr val="D5DCEB"/>
            </a:solidFill>
            <a:prstDash val="solid"/>
          </a:ln>
        </p:spPr>
      </p:sp>
      <p:sp>
        <p:nvSpPr>
          <p:cNvPr id="25" name="Text 23"/>
          <p:cNvSpPr/>
          <p:nvPr/>
        </p:nvSpPr>
        <p:spPr>
          <a:xfrm>
            <a:off x="6347308" y="5064700"/>
            <a:ext cx="5295748" cy="906332"/>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Explain where the dissipated energy goes, and suggest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way to reduce it.</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3A63C9"/>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B4C9B"/>
          </a:solidFill>
          <a:ln w="12700">
            <a:solidFill>
              <a:srgbClr val="2B4C9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3A63C9"/>
          </a:solidFill>
          <a:ln w="12700">
            <a:solidFill>
              <a:srgbClr val="3A63C9"/>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E8FA"/>
                </a:solidFill>
                <a:latin typeface="Calibri" pitchFamily="34" charset="0"/>
                <a:ea typeface="Calibri" pitchFamily="34" charset="-122"/>
                <a:cs typeface="Calibri" pitchFamily="34" charset="-120"/>
              </a:rPr>
              <a:t>Topic 3 Conservation of energy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B4CF"/>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B4CF"/>
                </a:solidFill>
                <a:latin typeface="Calibri" pitchFamily="34" charset="0"/>
                <a:ea typeface="Calibri" pitchFamily="34" charset="-122"/>
                <a:cs typeface="Calibri" pitchFamily="34" charset="-120"/>
              </a:rPr>
              <a:t>Homework  |  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3 Conservation of energy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36</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every question. Show your working for calculations. g = 10 N/kg.</a:t>
            </a:r>
            <a:endParaRPr lang="en-US" sz="1150" dirty="0"/>
          </a:p>
        </p:txBody>
      </p:sp>
      <p:sp>
        <p:nvSpPr>
          <p:cNvPr id="9" name="Shape 7"/>
          <p:cNvSpPr/>
          <p:nvPr/>
        </p:nvSpPr>
        <p:spPr>
          <a:xfrm>
            <a:off x="411480" y="1517904"/>
            <a:ext cx="5570068" cy="1530096"/>
          </a:xfrm>
          <a:prstGeom prst="roundRect">
            <a:avLst>
              <a:gd name="adj" fmla="val 2988"/>
            </a:avLst>
          </a:prstGeom>
          <a:solidFill>
            <a:srgbClr val="F5F8FE"/>
          </a:solidFill>
          <a:ln w="9525">
            <a:solidFill>
              <a:srgbClr val="D5DCEB"/>
            </a:solidFill>
            <a:prstDash val="solid"/>
          </a:ln>
        </p:spPr>
      </p:sp>
      <p:sp>
        <p:nvSpPr>
          <p:cNvPr id="10" name="Text 8"/>
          <p:cNvSpPr/>
          <p:nvPr/>
        </p:nvSpPr>
        <p:spPr>
          <a:xfrm>
            <a:off x="548640" y="1591056"/>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energy store that </a:t>
            </a:r>
            <a:r>
              <a:rPr lang="en-US" sz="1150" b="1" dirty="0">
                <a:solidFill>
                  <a:srgbClr val="262B3A"/>
                </a:solidFill>
                <a:latin typeface="Calibri" pitchFamily="34" charset="0"/>
                <a:ea typeface="Calibri" pitchFamily="34" charset="-122"/>
                <a:cs typeface="Calibri" pitchFamily="34" charset="-120"/>
              </a:rPr>
              <a:t>decreases</a:t>
            </a:r>
            <a:r>
              <a:rPr lang="en-US" sz="1150" dirty="0">
                <a:solidFill>
                  <a:srgbClr val="262B3A"/>
                </a:solidFill>
                <a:latin typeface="Calibri" pitchFamily="34" charset="0"/>
                <a:ea typeface="Calibri" pitchFamily="34" charset="-122"/>
                <a:cs typeface="Calibri" pitchFamily="34" charset="-120"/>
              </a:rPr>
              <a:t> in each case: </a:t>
            </a:r>
            <a:r>
              <a:rPr lang="en-US" sz="1150" b="1" dirty="0">
                <a:solidFill>
                  <a:srgbClr val="262B3A"/>
                </a:solidFill>
                <a:latin typeface="Calibri" pitchFamily="34" charset="0"/>
                <a:ea typeface="Calibri" pitchFamily="34" charset="-122"/>
                <a:cs typeface="Calibri" pitchFamily="34" charset="-120"/>
              </a:rPr>
              <a:t>(a)</a:t>
            </a:r>
            <a:r>
              <a:rPr lang="en-US" sz="1150" dirty="0">
                <a:solidFill>
                  <a:srgbClr val="262B3A"/>
                </a:solidFill>
                <a:latin typeface="Calibri" pitchFamily="34" charset="0"/>
                <a:ea typeface="Calibri" pitchFamily="34" charset="-122"/>
                <a:cs typeface="Calibri" pitchFamily="34" charset="-120"/>
              </a:rPr>
              <a:t> a battery-powered torch is switched on; </a:t>
            </a: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a car brakes to a stop.</a:t>
            </a:r>
            <a:endParaRPr lang="en-US" sz="1150" dirty="0"/>
          </a:p>
        </p:txBody>
      </p:sp>
      <p:sp>
        <p:nvSpPr>
          <p:cNvPr id="11" name="Text 9"/>
          <p:cNvSpPr/>
          <p:nvPr/>
        </p:nvSpPr>
        <p:spPr>
          <a:xfrm>
            <a:off x="4518508" y="275539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157728"/>
            <a:ext cx="5570068" cy="1530096"/>
          </a:xfrm>
          <a:prstGeom prst="roundRect">
            <a:avLst>
              <a:gd name="adj" fmla="val 2988"/>
            </a:avLst>
          </a:prstGeom>
          <a:solidFill>
            <a:srgbClr val="F5F8FE"/>
          </a:solidFill>
          <a:ln w="9525">
            <a:solidFill>
              <a:srgbClr val="D5DCEB"/>
            </a:solidFill>
            <a:prstDash val="solid"/>
          </a:ln>
        </p:spPr>
      </p:sp>
      <p:sp>
        <p:nvSpPr>
          <p:cNvPr id="13" name="Text 11"/>
          <p:cNvSpPr/>
          <p:nvPr/>
        </p:nvSpPr>
        <p:spPr>
          <a:xfrm>
            <a:off x="548640" y="3230880"/>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0.060 kg</a:t>
            </a:r>
            <a:r>
              <a:rPr lang="en-US" sz="1150" dirty="0">
                <a:solidFill>
                  <a:srgbClr val="262B3A"/>
                </a:solidFill>
                <a:latin typeface="Calibri" pitchFamily="34" charset="0"/>
                <a:ea typeface="Calibri" pitchFamily="34" charset="-122"/>
                <a:cs typeface="Calibri" pitchFamily="34" charset="-120"/>
              </a:rPr>
              <a:t> tennis ball is served at </a:t>
            </a:r>
            <a:r>
              <a:rPr lang="en-US" sz="1150" b="1" dirty="0">
                <a:solidFill>
                  <a:srgbClr val="262B3A"/>
                </a:solidFill>
                <a:latin typeface="Calibri" pitchFamily="34" charset="0"/>
                <a:ea typeface="Calibri" pitchFamily="34" charset="-122"/>
                <a:cs typeface="Calibri" pitchFamily="34" charset="-120"/>
              </a:rPr>
              <a:t>40 m/s</a:t>
            </a:r>
            <a:r>
              <a:rPr lang="en-US" sz="1150" dirty="0">
                <a:solidFill>
                  <a:srgbClr val="262B3A"/>
                </a:solidFill>
                <a:latin typeface="Calibri" pitchFamily="34" charset="0"/>
                <a:ea typeface="Calibri" pitchFamily="34" charset="-122"/>
                <a:cs typeface="Calibri" pitchFamily="34" charset="-120"/>
              </a:rPr>
              <a:t>. Calculate its kinetic energy.</a:t>
            </a:r>
            <a:endParaRPr lang="en-US" sz="1150" dirty="0"/>
          </a:p>
        </p:txBody>
      </p:sp>
      <p:sp>
        <p:nvSpPr>
          <p:cNvPr id="14" name="Text 12"/>
          <p:cNvSpPr/>
          <p:nvPr/>
        </p:nvSpPr>
        <p:spPr>
          <a:xfrm>
            <a:off x="4518508" y="439521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5" name="Shape 13"/>
          <p:cNvSpPr/>
          <p:nvPr/>
        </p:nvSpPr>
        <p:spPr>
          <a:xfrm>
            <a:off x="411480" y="4797552"/>
            <a:ext cx="5570068" cy="1530096"/>
          </a:xfrm>
          <a:prstGeom prst="roundRect">
            <a:avLst>
              <a:gd name="adj" fmla="val 2988"/>
            </a:avLst>
          </a:prstGeom>
          <a:solidFill>
            <a:srgbClr val="F5F8FE"/>
          </a:solidFill>
          <a:ln w="9525">
            <a:solidFill>
              <a:srgbClr val="D5DCEB"/>
            </a:solidFill>
            <a:prstDash val="solid"/>
          </a:ln>
        </p:spPr>
      </p:sp>
      <p:sp>
        <p:nvSpPr>
          <p:cNvPr id="16" name="Text 14"/>
          <p:cNvSpPr/>
          <p:nvPr/>
        </p:nvSpPr>
        <p:spPr>
          <a:xfrm>
            <a:off x="548640" y="4870704"/>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A lamp is supplied with </a:t>
            </a:r>
            <a:r>
              <a:rPr lang="en-US" sz="1150" b="1" dirty="0">
                <a:solidFill>
                  <a:srgbClr val="262B3A"/>
                </a:solidFill>
                <a:latin typeface="Calibri" pitchFamily="34" charset="0"/>
                <a:ea typeface="Calibri" pitchFamily="34" charset="-122"/>
                <a:cs typeface="Calibri" pitchFamily="34" charset="-120"/>
              </a:rPr>
              <a:t>400 J</a:t>
            </a:r>
            <a:r>
              <a:rPr lang="en-US" sz="1150" dirty="0">
                <a:solidFill>
                  <a:srgbClr val="262B3A"/>
                </a:solidFill>
                <a:latin typeface="Calibri" pitchFamily="34" charset="0"/>
                <a:ea typeface="Calibri" pitchFamily="34" charset="-122"/>
                <a:cs typeface="Calibri" pitchFamily="34" charset="-120"/>
              </a:rPr>
              <a:t>. It transfers </a:t>
            </a:r>
            <a:r>
              <a:rPr lang="en-US" sz="1150" b="1" dirty="0">
                <a:solidFill>
                  <a:srgbClr val="262B3A"/>
                </a:solidFill>
                <a:latin typeface="Calibri" pitchFamily="34" charset="0"/>
                <a:ea typeface="Calibri" pitchFamily="34" charset="-122"/>
                <a:cs typeface="Calibri" pitchFamily="34" charset="-120"/>
              </a:rPr>
              <a:t>60 J</a:t>
            </a:r>
            <a:r>
              <a:rPr lang="en-US" sz="1150" dirty="0">
                <a:solidFill>
                  <a:srgbClr val="262B3A"/>
                </a:solidFill>
                <a:latin typeface="Calibri" pitchFamily="34" charset="0"/>
                <a:ea typeface="Calibri" pitchFamily="34" charset="-122"/>
                <a:cs typeface="Calibri" pitchFamily="34" charset="-120"/>
              </a:rPr>
              <a:t> by light. Calculate </a:t>
            </a:r>
            <a:r>
              <a:rPr lang="en-US" sz="1150" b="1" dirty="0">
                <a:solidFill>
                  <a:srgbClr val="262B3A"/>
                </a:solidFill>
                <a:latin typeface="Calibri" pitchFamily="34" charset="0"/>
                <a:ea typeface="Calibri" pitchFamily="34" charset="-122"/>
                <a:cs typeface="Calibri" pitchFamily="34" charset="-120"/>
              </a:rPr>
              <a:t>(a)</a:t>
            </a:r>
            <a:r>
              <a:rPr lang="en-US" sz="1150" dirty="0">
                <a:solidFill>
                  <a:srgbClr val="262B3A"/>
                </a:solidFill>
                <a:latin typeface="Calibri" pitchFamily="34" charset="0"/>
                <a:ea typeface="Calibri" pitchFamily="34" charset="-122"/>
                <a:cs typeface="Calibri" pitchFamily="34" charset="-120"/>
              </a:rPr>
              <a:t> its efficiency and </a:t>
            </a: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the energy wasted.</a:t>
            </a:r>
            <a:endParaRPr lang="en-US" sz="1150" dirty="0"/>
          </a:p>
        </p:txBody>
      </p:sp>
      <p:sp>
        <p:nvSpPr>
          <p:cNvPr id="17" name="Text 15"/>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6210148" y="1517904"/>
            <a:ext cx="5570068" cy="1305560"/>
          </a:xfrm>
          <a:prstGeom prst="roundRect">
            <a:avLst>
              <a:gd name="adj" fmla="val 3502"/>
            </a:avLst>
          </a:prstGeom>
          <a:solidFill>
            <a:srgbClr val="F5F8FE"/>
          </a:solidFill>
          <a:ln w="9525">
            <a:solidFill>
              <a:srgbClr val="D5DCEB"/>
            </a:solidFill>
            <a:prstDash val="solid"/>
          </a:ln>
        </p:spPr>
      </p:sp>
      <p:sp>
        <p:nvSpPr>
          <p:cNvPr id="19" name="Text 17"/>
          <p:cNvSpPr/>
          <p:nvPr/>
        </p:nvSpPr>
        <p:spPr>
          <a:xfrm>
            <a:off x="6347308" y="1591056"/>
            <a:ext cx="5295748" cy="95808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Explain how the </a:t>
            </a:r>
            <a:r>
              <a:rPr lang="en-US" sz="1150" b="1" dirty="0">
                <a:solidFill>
                  <a:srgbClr val="262B3A"/>
                </a:solidFill>
                <a:latin typeface="Calibri" pitchFamily="34" charset="0"/>
                <a:ea typeface="Calibri" pitchFamily="34" charset="-122"/>
                <a:cs typeface="Calibri" pitchFamily="34" charset="-120"/>
              </a:rPr>
              <a:t>thickness</a:t>
            </a:r>
            <a:r>
              <a:rPr lang="en-US" sz="1150" dirty="0">
                <a:solidFill>
                  <a:srgbClr val="262B3A"/>
                </a:solidFill>
                <a:latin typeface="Calibri" pitchFamily="34" charset="0"/>
                <a:ea typeface="Calibri" pitchFamily="34" charset="-122"/>
                <a:cs typeface="Calibri" pitchFamily="34" charset="-120"/>
              </a:rPr>
              <a:t> and the </a:t>
            </a:r>
            <a:r>
              <a:rPr lang="en-US" sz="1150" b="1" dirty="0">
                <a:solidFill>
                  <a:srgbClr val="262B3A"/>
                </a:solidFill>
                <a:latin typeface="Calibri" pitchFamily="34" charset="0"/>
                <a:ea typeface="Calibri" pitchFamily="34" charset="-122"/>
                <a:cs typeface="Calibri" pitchFamily="34" charset="-120"/>
              </a:rPr>
              <a:t>thermal conductivity</a:t>
            </a:r>
            <a:r>
              <a:rPr lang="en-US" sz="1150" dirty="0">
                <a:solidFill>
                  <a:srgbClr val="262B3A"/>
                </a:solidFill>
                <a:latin typeface="Calibri" pitchFamily="34" charset="0"/>
                <a:ea typeface="Calibri" pitchFamily="34" charset="-122"/>
                <a:cs typeface="Calibri" pitchFamily="34" charset="-120"/>
              </a:rPr>
              <a:t> of a house’s walls affect how quickly the house cools.</a:t>
            </a:r>
            <a:endParaRPr lang="en-US" sz="1150" dirty="0"/>
          </a:p>
        </p:txBody>
      </p:sp>
      <p:sp>
        <p:nvSpPr>
          <p:cNvPr id="20" name="Text 18"/>
          <p:cNvSpPr/>
          <p:nvPr/>
        </p:nvSpPr>
        <p:spPr>
          <a:xfrm>
            <a:off x="10317175" y="253085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1" name="Shape 19"/>
          <p:cNvSpPr/>
          <p:nvPr/>
        </p:nvSpPr>
        <p:spPr>
          <a:xfrm>
            <a:off x="6210148" y="2933192"/>
            <a:ext cx="5570068" cy="3394456"/>
          </a:xfrm>
          <a:prstGeom prst="roundRect">
            <a:avLst>
              <a:gd name="adj" fmla="val 1347"/>
            </a:avLst>
          </a:prstGeom>
          <a:solidFill>
            <a:srgbClr val="FFF4E0"/>
          </a:solidFill>
          <a:ln w="9525">
            <a:solidFill>
              <a:srgbClr val="F1D9A8"/>
            </a:solidFill>
            <a:prstDash val="solid"/>
          </a:ln>
        </p:spPr>
      </p:sp>
      <p:sp>
        <p:nvSpPr>
          <p:cNvPr id="22" name="Text 20"/>
          <p:cNvSpPr/>
          <p:nvPr/>
        </p:nvSpPr>
        <p:spPr>
          <a:xfrm>
            <a:off x="6347308" y="3006344"/>
            <a:ext cx="5295748" cy="304698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The UK now generates much less electricity from fossil fuels and much more from renewable resources than in 2000. Discuss the advantages and disadvantages of this change.</a:t>
            </a:r>
            <a:endParaRPr lang="en-US" sz="1150" dirty="0"/>
          </a:p>
        </p:txBody>
      </p:sp>
      <p:sp>
        <p:nvSpPr>
          <p:cNvPr id="23" name="Text 2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Edexcel 1PH0 Topic 3 Conservation of energy</dc:title>
  <dc:subject>PptxGenJS Presentation</dc:subject>
  <dc:creator>GCSE Physics</dc:creator>
  <cp:lastModifiedBy>GCSE Physics</cp:lastModifiedBy>
  <cp:revision>1</cp:revision>
  <dcterms:created xsi:type="dcterms:W3CDTF">2026-11-01T23:53:45Z</dcterms:created>
  <dcterms:modified xsi:type="dcterms:W3CDTF">2026-11-01T23:53:45Z</dcterms:modified>
</cp:coreProperties>
</file>